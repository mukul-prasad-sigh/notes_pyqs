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19"/>
  </p:notesMasterIdLst>
  <p:sldIdLst>
    <p:sldId id="409" r:id="rId2"/>
    <p:sldId id="535" r:id="rId3"/>
    <p:sldId id="547" r:id="rId4"/>
    <p:sldId id="551" r:id="rId5"/>
    <p:sldId id="552" r:id="rId6"/>
    <p:sldId id="548" r:id="rId7"/>
    <p:sldId id="538" r:id="rId8"/>
    <p:sldId id="543" r:id="rId9"/>
    <p:sldId id="549" r:id="rId10"/>
    <p:sldId id="539" r:id="rId11"/>
    <p:sldId id="544" r:id="rId12"/>
    <p:sldId id="550" r:id="rId13"/>
    <p:sldId id="541" r:id="rId14"/>
    <p:sldId id="545" r:id="rId15"/>
    <p:sldId id="542" r:id="rId16"/>
    <p:sldId id="546" r:id="rId17"/>
    <p:sldId id="50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5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43F0-1FB2-41E4-961B-8CAB2AED1024}" type="datetimeFigureOut">
              <a:rPr lang="en-IN" smtClean="0"/>
              <a:pPr/>
              <a:t>14-01-2022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0133-9643-4EF8-94CA-FEF99B36DC3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00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2214A8-A6B6-4731-B78B-B055CBF7F158}" type="slidenum">
              <a:rPr lang="en-CA" sz="1200" i="0">
                <a:latin typeface="Tahoma" panose="020B0604030504040204" pitchFamily="34" charset="0"/>
              </a:rPr>
              <a:pPr eaLnBrk="1" hangingPunct="1"/>
              <a:t>2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2358295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EEC4D81-4A66-493F-891A-F05F4A87FF91}" type="slidenum">
              <a:rPr lang="en-CA" sz="1200" i="0">
                <a:latin typeface="Tahoma" panose="020B0604030504040204" pitchFamily="34" charset="0"/>
              </a:rPr>
              <a:pPr eaLnBrk="1" hangingPunct="1"/>
              <a:t>3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93683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0AD881-5DF4-4588-8D56-58FB4E9047C3}" type="slidenum">
              <a:rPr lang="en-CA" sz="1200" i="0">
                <a:latin typeface="Tahoma" panose="020B0604030504040204" pitchFamily="34" charset="0"/>
              </a:rPr>
              <a:pPr eaLnBrk="1" hangingPunct="1"/>
              <a:t>7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3515676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4E2E01-DD1F-446B-A006-07658FA6B1BB}" type="slidenum">
              <a:rPr lang="en-CA" sz="1200" i="0">
                <a:latin typeface="Tahoma" panose="020B0604030504040204" pitchFamily="34" charset="0"/>
              </a:rPr>
              <a:pPr eaLnBrk="1" hangingPunct="1"/>
              <a:t>10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2983285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01FD22-FB46-4E78-AD3F-342DD66A595E}" type="slidenum">
              <a:rPr lang="en-CA" sz="1200" i="0">
                <a:latin typeface="Tahoma" panose="020B0604030504040204" pitchFamily="34" charset="0"/>
              </a:rPr>
              <a:pPr eaLnBrk="1" hangingPunct="1"/>
              <a:t>13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177611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0B7A63-B117-4491-8564-AB4B6A68726C}" type="slidenum">
              <a:rPr lang="en-CA" sz="1200" i="0">
                <a:latin typeface="Tahoma" panose="020B0604030504040204" pitchFamily="34" charset="0"/>
              </a:rPr>
              <a:pPr eaLnBrk="1" hangingPunct="1"/>
              <a:t>15</a:t>
            </a:fld>
            <a:endParaRPr lang="en-CA" sz="1200" i="0">
              <a:latin typeface="Tahoma" panose="020B060403050404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  <p:extLst>
      <p:ext uri="{BB962C8B-B14F-4D97-AF65-F5344CB8AC3E}">
        <p14:creationId xmlns:p14="http://schemas.microsoft.com/office/powerpoint/2010/main" val="2762558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CD6D-5F12-476E-8453-3D311B450A4E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="" xmlns:a16="http://schemas.microsoft.com/office/drawing/2014/main" id="{C728CEA0-BA7F-4BA3-B201-6B7A8B3DF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62028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8052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="" xmlns:a16="http://schemas.microsoft.com/office/drawing/2014/main" id="{5E2C67C7-C385-4A44-A78F-D95F8B325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575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2C8A-CD12-4DFD-ABE8-8CF3B1F53511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="" xmlns:a16="http://schemas.microsoft.com/office/drawing/2014/main" id="{6E4AAF7F-3876-4F6B-8901-E7673BBF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4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79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554-EC08-4A9A-B955-1CE402443775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="" xmlns:a16="http://schemas.microsoft.com/office/drawing/2014/main" id="{EF3C39C1-9BAB-4C45-A144-CF8BF2E72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9189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34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B3C8-7270-4E63-BAFF-F61146C872A9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="" xmlns:a16="http://schemas.microsoft.com/office/drawing/2014/main" id="{1B300F68-EEC8-479F-89B4-B66DB0F4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13" y="12104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10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E7326-4BB3-4EF7-A825-D7B8443422EC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2" descr="C:\Users\Srinidhi\Desktop\logo.png">
            <a:extLst>
              <a:ext uri="{FF2B5EF4-FFF2-40B4-BE49-F238E27FC236}">
                <a16:creationId xmlns="" xmlns:a16="http://schemas.microsoft.com/office/drawing/2014/main" id="{6720B71A-9CF9-4970-96CA-352F2D5F33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415" y="34776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49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CBBB-99BF-46C2-A597-705C3E515BE3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="" xmlns:a16="http://schemas.microsoft.com/office/drawing/2014/main" id="{7393EDB9-65C6-42AA-B582-C92413F0D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867" y="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4742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F2DF96F-D195-4D32-A22A-EB824CFB176E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="" xmlns:a16="http://schemas.microsoft.com/office/drawing/2014/main" id="{6BF8E43F-406B-489A-A07B-CBBB6CD8B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29" y="-48825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3316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0D-FF02-4389-90FD-819CA8976B9B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="" xmlns:a16="http://schemas.microsoft.com/office/drawing/2014/main" id="{8D7279E7-0A06-4D9D-B018-700B7F4A3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377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8DE7-22DF-4C71-8810-45CE4D417C2D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="" xmlns:a16="http://schemas.microsoft.com/office/drawing/2014/main" id="{2BFF8954-070D-4352-AC3E-DD7D500D0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8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7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C541-F4E6-4488-B462-EF7A047E4C61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0" name="Picture 2" descr="C:\Users\Srinidhi\Desktop\logo.png">
            <a:extLst>
              <a:ext uri="{FF2B5EF4-FFF2-40B4-BE49-F238E27FC236}">
                <a16:creationId xmlns="" xmlns:a16="http://schemas.microsoft.com/office/drawing/2014/main" id="{F8681246-1AFA-47C1-8723-E212F3BD6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8927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8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7FF271-DAE5-45E4-9C4D-A89BEE8B6E22}" type="datetime8">
              <a:rPr lang="en-IN" smtClean="0"/>
              <a:t>14-01-2022 14:20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1" y="3515325"/>
            <a:ext cx="10848974" cy="111943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/>
              <a:t/>
            </a:r>
            <a:br>
              <a:rPr lang="en-IN" sz="2800" b="1" dirty="0"/>
            </a:br>
            <a:r>
              <a:rPr lang="en-IN" sz="3200" b="1" dirty="0" smtClean="0"/>
              <a:t>Course </a:t>
            </a:r>
            <a:r>
              <a:rPr lang="en-IN" sz="3200" b="1" dirty="0"/>
              <a:t>Name: </a:t>
            </a:r>
            <a:r>
              <a:rPr lang="en-IN" sz="3200" b="1" dirty="0" smtClean="0"/>
              <a:t>Database Systems</a:t>
            </a: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 smtClean="0"/>
              <a:t>Course </a:t>
            </a:r>
            <a:r>
              <a:rPr lang="en-IN" sz="3200" b="1" dirty="0"/>
              <a:t>Code: </a:t>
            </a:r>
            <a:r>
              <a:rPr lang="en-IN" sz="3200" b="1" dirty="0" smtClean="0"/>
              <a:t>CS52</a:t>
            </a: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/>
              <a:t>Credits: </a:t>
            </a:r>
            <a:r>
              <a:rPr lang="en-IN" sz="3200" b="1" dirty="0" smtClean="0"/>
              <a:t>3:1:0</a:t>
            </a:r>
            <a:br>
              <a:rPr lang="en-IN" sz="3200" b="1" dirty="0" smtClean="0"/>
            </a:br>
            <a:r>
              <a:rPr lang="en-IN" sz="3200" b="1" dirty="0" smtClean="0"/>
              <a:t>UNIT 4</a:t>
            </a: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/>
              <a:t/>
            </a:r>
            <a:br>
              <a:rPr lang="en-IN" sz="3200" b="1" dirty="0"/>
            </a:br>
            <a:r>
              <a:rPr lang="en-IN" sz="3200" b="1" dirty="0"/>
              <a:t>Term: </a:t>
            </a:r>
            <a:r>
              <a:rPr lang="en-IN" sz="3200" b="1" dirty="0" smtClean="0"/>
              <a:t>Oct 2021 </a:t>
            </a:r>
            <a:r>
              <a:rPr lang="en-IN" sz="3200" b="1" dirty="0"/>
              <a:t>– </a:t>
            </a:r>
            <a:r>
              <a:rPr lang="en-IN" sz="3200" b="1" dirty="0" smtClean="0"/>
              <a:t>Feb 2022</a:t>
            </a:r>
            <a:r>
              <a:rPr lang="en-IN" sz="2000" dirty="0"/>
              <a:t/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866900" y="31414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000" b="1" dirty="0">
                <a:latin typeface="+mj-lt"/>
              </a:rPr>
              <a:t>M.S. Ramaiah Institute of Technology</a:t>
            </a:r>
            <a:endParaRPr lang="en-IN" sz="2000" dirty="0">
              <a:latin typeface="+mj-lt"/>
            </a:endParaRPr>
          </a:p>
          <a:p>
            <a:pPr algn="ctr"/>
            <a:r>
              <a:rPr lang="en-US" sz="2000" b="1" dirty="0">
                <a:latin typeface="+mj-lt"/>
              </a:rPr>
              <a:t>(Autonomous Institute, Affiliated to VTU)</a:t>
            </a:r>
            <a:endParaRPr lang="en-IN" sz="2000" dirty="0">
              <a:latin typeface="+mj-lt"/>
            </a:endParaRPr>
          </a:p>
          <a:p>
            <a:pPr algn="ctr"/>
            <a:r>
              <a:rPr lang="en-US" sz="2000" b="1" dirty="0">
                <a:latin typeface="+mj-lt"/>
              </a:rPr>
              <a:t>Department of Computer Science and Engineering</a:t>
            </a:r>
            <a:endParaRPr lang="en-IN" sz="2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8644609" y="4772025"/>
            <a:ext cx="299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Faculty:</a:t>
            </a:r>
          </a:p>
          <a:p>
            <a:r>
              <a:rPr lang="en-IN" dirty="0" smtClean="0"/>
              <a:t>Sini Anna Alex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91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Inference Rules for FDs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Given a set of FDs F, we can </a:t>
            </a:r>
            <a:r>
              <a:rPr lang="en-US" sz="2400" b="1" dirty="0"/>
              <a:t>infer</a:t>
            </a:r>
            <a:r>
              <a:rPr lang="en-US" sz="2400" dirty="0"/>
              <a:t> additional FDs that hold whenever the FDs in F hold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Armstrong's inference rules: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/>
              <a:t>IR1. (</a:t>
            </a:r>
            <a:r>
              <a:rPr lang="en-US" sz="2800" b="1" dirty="0"/>
              <a:t>Reflexive</a:t>
            </a:r>
            <a:r>
              <a:rPr lang="en-US" sz="2800" dirty="0"/>
              <a:t>) If Y </a:t>
            </a:r>
            <a:r>
              <a:rPr lang="en-US" sz="2800" i="1" dirty="0"/>
              <a:t>subset-of</a:t>
            </a:r>
            <a:r>
              <a:rPr lang="en-US" sz="2800" dirty="0"/>
              <a:t> X, then X -&gt; 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/>
              <a:t>IR2. (</a:t>
            </a:r>
            <a:r>
              <a:rPr lang="en-US" sz="2800" b="1" dirty="0"/>
              <a:t>Augmentation</a:t>
            </a:r>
            <a:r>
              <a:rPr lang="en-US" sz="2800" dirty="0"/>
              <a:t>) If X -&gt; Y, then XZ -&gt; YZ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 dirty="0"/>
              <a:t>(Notation: XZ stands for X U Z)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/>
              <a:t>IR3. (</a:t>
            </a:r>
            <a:r>
              <a:rPr lang="en-US" sz="2800" b="1" dirty="0"/>
              <a:t>Transitive</a:t>
            </a:r>
            <a:r>
              <a:rPr lang="en-US" sz="2800" dirty="0"/>
              <a:t>) If X -&gt; Y and Y -&gt; Z, then X -&gt; Z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IR1, IR2, IR3 form a </a:t>
            </a:r>
            <a:r>
              <a:rPr lang="en-US" sz="2400" b="1" dirty="0"/>
              <a:t>sound</a:t>
            </a:r>
            <a:r>
              <a:rPr lang="en-US" sz="2400" dirty="0"/>
              <a:t> and </a:t>
            </a:r>
            <a:r>
              <a:rPr lang="en-US" sz="2400" b="1" dirty="0"/>
              <a:t>complete</a:t>
            </a:r>
            <a:r>
              <a:rPr lang="en-US" sz="2400" dirty="0"/>
              <a:t> set of inference 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/>
              <a:t>These are rules hold and all other rules that hold can be deduced from these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4AF0-4FF8-4629-997B-86937D3E7DB3}" type="datetime8">
              <a:rPr lang="en-IN" smtClean="0"/>
              <a:t>14-01-2022 14:20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20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400" i="0">
                <a:solidFill>
                  <a:srgbClr val="990033"/>
                </a:solidFill>
              </a:rPr>
              <a:t>Slide 10- </a:t>
            </a:r>
            <a:fld id="{23C9DADD-1D1B-4FC3-A221-45BF673853E9}" type="slidenum">
              <a:rPr lang="en-US" sz="1400" i="0">
                <a:solidFill>
                  <a:srgbClr val="990033"/>
                </a:solidFill>
              </a:rPr>
              <a:pPr eaLnBrk="1" hangingPunct="1"/>
              <a:t>3</a:t>
            </a:fld>
            <a:endParaRPr lang="en-CA" sz="1400" i="0">
              <a:solidFill>
                <a:srgbClr val="990033"/>
              </a:solidFill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Inference Rules for FDs</a:t>
            </a:r>
          </a:p>
        </p:txBody>
      </p:sp>
      <p:sp>
        <p:nvSpPr>
          <p:cNvPr id="2970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3395967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 smtClean="0"/>
              <a:t>Some additional inference rules that are useful: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3200" b="1" dirty="0" smtClean="0"/>
              <a:t>Decomposition:</a:t>
            </a:r>
            <a:r>
              <a:rPr lang="en-US" sz="3200" dirty="0" smtClean="0"/>
              <a:t> If X -&gt; YZ, then X -&gt; Y and X -&gt; Z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3200" b="1" dirty="0" smtClean="0"/>
              <a:t>Union:</a:t>
            </a:r>
            <a:r>
              <a:rPr lang="en-US" sz="3200" dirty="0" smtClean="0"/>
              <a:t> If X -&gt; Y and X -&gt; Z, then X -&gt; YZ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3200" b="1" dirty="0" err="1" smtClean="0"/>
              <a:t>Psuedotransitivity</a:t>
            </a:r>
            <a:r>
              <a:rPr lang="en-US" sz="3200" b="1" dirty="0" smtClean="0"/>
              <a:t>:</a:t>
            </a:r>
            <a:r>
              <a:rPr lang="en-US" sz="3200" dirty="0" smtClean="0"/>
              <a:t> If X -&gt; Y and WY -&gt; Z, then WX -&gt; Z</a:t>
            </a:r>
          </a:p>
          <a:p>
            <a:pPr algn="just" eaLnBrk="1" hangingPunct="1">
              <a:lnSpc>
                <a:spcPct val="90000"/>
              </a:lnSpc>
            </a:pPr>
            <a:endParaRPr lang="en-US" sz="2400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sz="2400" dirty="0" smtClean="0"/>
              <a:t>The last three inference rules, as well as any other inference rules, can be deduced from IR1, IR2, and IR3 (completeness property) </a:t>
            </a:r>
          </a:p>
        </p:txBody>
      </p:sp>
    </p:spTree>
    <p:extLst>
      <p:ext uri="{BB962C8B-B14F-4D97-AF65-F5344CB8AC3E}">
        <p14:creationId xmlns:p14="http://schemas.microsoft.com/office/powerpoint/2010/main" val="388001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of Inference Rules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721" y="1827512"/>
            <a:ext cx="8208148" cy="405813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14-01-2022 14:23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20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Inference Rules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166" y="1896578"/>
            <a:ext cx="6336406" cy="465349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14-01-2022 14:24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3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9139"/>
          </a:xfrm>
        </p:spPr>
        <p:txBody>
          <a:bodyPr/>
          <a:lstStyle/>
          <a:p>
            <a:r>
              <a:rPr lang="en-US" b="1" dirty="0" smtClean="0"/>
              <a:t>Problem on Inference Rules: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14-01-2022 14:20</a:t>
            </a:fld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335742"/>
            <a:ext cx="10058401" cy="49630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154" y="4008616"/>
            <a:ext cx="33147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6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Closure</a:t>
            </a:r>
            <a:r>
              <a:rPr lang="en-US" dirty="0"/>
              <a:t> of a set F of FDs</a:t>
            </a:r>
            <a:endParaRPr lang="en-US" dirty="0" smtClean="0"/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0761" y="1845734"/>
            <a:ext cx="11741239" cy="445370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b="1" dirty="0" smtClean="0"/>
              <a:t>Closure</a:t>
            </a:r>
            <a:r>
              <a:rPr lang="en-US" sz="2400" dirty="0" smtClean="0"/>
              <a:t> of a set F of FDs is the set F</a:t>
            </a:r>
            <a:r>
              <a:rPr lang="en-US" sz="2400" baseline="30000" dirty="0" smtClean="0"/>
              <a:t>+</a:t>
            </a:r>
            <a:r>
              <a:rPr lang="en-US" sz="2400" dirty="0" smtClean="0"/>
              <a:t> of all FDs that can be inferred from F.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b="1" dirty="0" smtClean="0"/>
              <a:t>Closure</a:t>
            </a:r>
            <a:r>
              <a:rPr lang="en-US" sz="2400" dirty="0" smtClean="0"/>
              <a:t> of a set of attributes X with respect to F is the set X</a:t>
            </a:r>
            <a:r>
              <a:rPr lang="en-US" sz="2400" baseline="30000" dirty="0" smtClean="0"/>
              <a:t>+</a:t>
            </a:r>
            <a:r>
              <a:rPr lang="en-US" sz="2400" dirty="0" smtClean="0"/>
              <a:t> of all attributes that are functionally determined by X. X</a:t>
            </a:r>
            <a:r>
              <a:rPr lang="en-US" sz="2400" baseline="30000" dirty="0" smtClean="0"/>
              <a:t>+</a:t>
            </a:r>
            <a:r>
              <a:rPr lang="en-US" sz="2400" dirty="0" smtClean="0"/>
              <a:t> can be calculated by repeatedly applying IR1, IR2, IR3 using the FDs in F.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A6F4-BA83-4178-B7C3-863375CC26E1}" type="datetime8">
              <a:rPr lang="en-IN" smtClean="0"/>
              <a:t>14-01-2022 14:20</a:t>
            </a:fld>
            <a:endParaRPr lang="en-IN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716" y="3335628"/>
            <a:ext cx="8232812" cy="296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54495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following </a:t>
            </a:r>
            <a:r>
              <a:rPr lang="en-US" dirty="0"/>
              <a:t>set F of functional dependencies that should hold on EMP_PROJ;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255C-0F33-4C7A-BD19-22F14384ACB3}" type="datetime8">
              <a:rPr lang="en-IN" smtClean="0"/>
              <a:t>14-01-2022 14:20</a:t>
            </a:fld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1970504"/>
            <a:ext cx="5314596" cy="15686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57486"/>
            <a:ext cx="10318341" cy="15316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53985" y="3591672"/>
            <a:ext cx="65983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u="sng" dirty="0">
                <a:latin typeface="Times New Roman" panose="02020603050405020304" pitchFamily="18" charset="0"/>
              </a:rPr>
              <a:t>we calculate the following closure sets with respect to F;</a:t>
            </a:r>
            <a:endParaRPr 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390918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Problem: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336" y="1784538"/>
            <a:ext cx="9824373" cy="242685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14-01-2022 14:20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593" y="4517177"/>
            <a:ext cx="5921942" cy="16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5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6"/>
          <p:cNvSpPr>
            <a:spLocks noGrp="1" noChangeArrowheads="1"/>
          </p:cNvSpPr>
          <p:nvPr>
            <p:ph type="title"/>
          </p:nvPr>
        </p:nvSpPr>
        <p:spPr>
          <a:xfrm>
            <a:off x="1097280" y="708338"/>
            <a:ext cx="11094720" cy="1029022"/>
          </a:xfrm>
        </p:spPr>
        <p:txBody>
          <a:bodyPr>
            <a:normAutofit/>
          </a:bodyPr>
          <a:lstStyle/>
          <a:p>
            <a:r>
              <a:rPr lang="en-US" sz="4400" b="1" dirty="0"/>
              <a:t>Equivalence of Sets of Functional Dependencies</a:t>
            </a:r>
            <a:endParaRPr lang="en-US" sz="4400" dirty="0" smtClean="0"/>
          </a:p>
        </p:txBody>
      </p:sp>
      <p:sp>
        <p:nvSpPr>
          <p:cNvPr id="3174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Two sets of FDs F and G are </a:t>
            </a:r>
            <a:r>
              <a:rPr lang="en-US" sz="2400" b="1" dirty="0"/>
              <a:t>equivalent</a:t>
            </a:r>
            <a:r>
              <a:rPr lang="en-US" sz="2400" dirty="0"/>
              <a:t> if:</a:t>
            </a:r>
          </a:p>
          <a:p>
            <a:pPr lvl="1" eaLnBrk="1" hangingPunct="1"/>
            <a:r>
              <a:rPr lang="en-US" sz="2200" dirty="0"/>
              <a:t>Every FD in F can be inferred from G, and</a:t>
            </a:r>
          </a:p>
          <a:p>
            <a:pPr lvl="1" eaLnBrk="1" hangingPunct="1"/>
            <a:r>
              <a:rPr lang="en-US" sz="2200" dirty="0"/>
              <a:t>Every FD in G can be inferred from F</a:t>
            </a:r>
          </a:p>
          <a:p>
            <a:pPr lvl="1" eaLnBrk="1" hangingPunct="1"/>
            <a:r>
              <a:rPr lang="en-US" sz="2200" dirty="0"/>
              <a:t>Hence, F and G are equivalent if F</a:t>
            </a:r>
            <a:r>
              <a:rPr lang="en-US" sz="2200" baseline="30000" dirty="0"/>
              <a:t>+</a:t>
            </a:r>
            <a:r>
              <a:rPr lang="en-US" sz="2200" dirty="0"/>
              <a:t> =G</a:t>
            </a:r>
            <a:r>
              <a:rPr lang="en-US" sz="2200" baseline="30000" dirty="0"/>
              <a:t>+</a:t>
            </a:r>
          </a:p>
          <a:p>
            <a:pPr eaLnBrk="1" hangingPunct="1"/>
            <a:r>
              <a:rPr lang="en-US" sz="2400" dirty="0"/>
              <a:t>Definition (</a:t>
            </a:r>
            <a:r>
              <a:rPr lang="en-US" sz="2400" b="1" dirty="0"/>
              <a:t>Covers</a:t>
            </a:r>
            <a:r>
              <a:rPr lang="en-US" sz="2400" dirty="0"/>
              <a:t>):</a:t>
            </a:r>
          </a:p>
          <a:p>
            <a:pPr lvl="1" eaLnBrk="1" hangingPunct="1"/>
            <a:r>
              <a:rPr lang="en-US" sz="2200" dirty="0"/>
              <a:t>F </a:t>
            </a:r>
            <a:r>
              <a:rPr lang="en-US" sz="2200" b="1" dirty="0"/>
              <a:t>covers</a:t>
            </a:r>
            <a:r>
              <a:rPr lang="en-US" sz="2200" dirty="0"/>
              <a:t> G if every FD in G can be inferred from F</a:t>
            </a:r>
          </a:p>
          <a:p>
            <a:pPr lvl="2" eaLnBrk="1" hangingPunct="1"/>
            <a:r>
              <a:rPr lang="en-US" sz="2000" dirty="0"/>
              <a:t>(i.e., if G</a:t>
            </a:r>
            <a:r>
              <a:rPr lang="en-US" sz="2000" baseline="30000" dirty="0"/>
              <a:t>+</a:t>
            </a:r>
            <a:r>
              <a:rPr lang="en-US" sz="2000" dirty="0"/>
              <a:t> </a:t>
            </a:r>
            <a:r>
              <a:rPr lang="en-US" sz="2000" i="1" dirty="0"/>
              <a:t>subset-of</a:t>
            </a:r>
            <a:r>
              <a:rPr lang="en-US" sz="2000" dirty="0"/>
              <a:t> F</a:t>
            </a:r>
            <a:r>
              <a:rPr lang="en-US" sz="2000" baseline="30000" dirty="0"/>
              <a:t>+</a:t>
            </a:r>
            <a:r>
              <a:rPr lang="en-US" sz="2000" dirty="0"/>
              <a:t>)</a:t>
            </a:r>
          </a:p>
          <a:p>
            <a:pPr eaLnBrk="1" hangingPunct="1"/>
            <a:r>
              <a:rPr lang="en-US" sz="2400" dirty="0"/>
              <a:t>F and G are equivalent if F covers G and G covers </a:t>
            </a:r>
            <a:r>
              <a:rPr lang="en-US" sz="2400" dirty="0" smtClean="0"/>
              <a:t>F.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CE58-F8A6-4E3F-8BD0-C705CEA914F8}" type="datetime8">
              <a:rPr lang="en-IN" smtClean="0"/>
              <a:t>14-01-2022 14:20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08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en-US" sz="4400" b="1" dirty="0"/>
              <a:t>Equivalence of Sets of Functional Dependencies</a:t>
            </a:r>
            <a:endParaRPr lang="en-US" sz="44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861" y="2343955"/>
            <a:ext cx="9683831" cy="258999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FED3-A9CE-4D7B-88E4-F9A64D4D8A16}" type="datetime8">
              <a:rPr lang="en-IN" smtClean="0"/>
              <a:t>14-01-2022 14:20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6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761" y="182875"/>
            <a:ext cx="10058400" cy="1450757"/>
          </a:xfrm>
        </p:spPr>
        <p:txBody>
          <a:bodyPr/>
          <a:lstStyle/>
          <a:p>
            <a:r>
              <a:rPr lang="en-US" dirty="0" smtClean="0"/>
              <a:t>Examples: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724" y="1568732"/>
            <a:ext cx="4325139" cy="1636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14-01-2022 14:20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30" y="3517996"/>
            <a:ext cx="3501128" cy="2814860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30" y="352371"/>
            <a:ext cx="6923254" cy="203479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357" y="2389148"/>
            <a:ext cx="3785363" cy="4070637"/>
          </a:xfrm>
          <a:prstGeom prst="rect">
            <a:avLst/>
          </a:prstGeom>
          <a:ln>
            <a:solidFill>
              <a:srgbClr val="92D050"/>
            </a:solidFill>
          </a:ln>
        </p:spPr>
      </p:pic>
    </p:spTree>
    <p:extLst>
      <p:ext uri="{BB962C8B-B14F-4D97-AF65-F5344CB8AC3E}">
        <p14:creationId xmlns:p14="http://schemas.microsoft.com/office/powerpoint/2010/main" val="284560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Minimal Sets of FDs 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97279" y="1845733"/>
            <a:ext cx="10570979" cy="4181579"/>
          </a:xfrm>
        </p:spPr>
        <p:txBody>
          <a:bodyPr>
            <a:normAutofit/>
          </a:bodyPr>
          <a:lstStyle/>
          <a:p>
            <a:pPr marL="533400" indent="-533400"/>
            <a:r>
              <a:rPr lang="en-US" sz="2800" dirty="0" smtClean="0"/>
              <a:t>A set of FDs is </a:t>
            </a:r>
            <a:r>
              <a:rPr lang="en-US" sz="2800" b="1" dirty="0" smtClean="0"/>
              <a:t>minimal</a:t>
            </a:r>
            <a:r>
              <a:rPr lang="en-US" sz="2800" dirty="0" smtClean="0"/>
              <a:t> if it satisfies the following conditions:</a:t>
            </a:r>
          </a:p>
          <a:p>
            <a:pPr marL="952500" lvl="1" indent="-495300">
              <a:buFont typeface="Wingdings" panose="05000000000000000000" pitchFamily="2" charset="2"/>
              <a:buAutoNum type="arabicPeriod"/>
            </a:pPr>
            <a:r>
              <a:rPr lang="en-US" sz="2800" dirty="0" smtClean="0"/>
              <a:t>Every dependency in F has a single attribute for its RHS.</a:t>
            </a:r>
          </a:p>
          <a:p>
            <a:pPr marL="952500" lvl="1" indent="-495300" algn="just">
              <a:buFont typeface="Wingdings" panose="05000000000000000000" pitchFamily="2" charset="2"/>
              <a:buAutoNum type="arabicPeriod"/>
            </a:pPr>
            <a:r>
              <a:rPr lang="en-US" sz="2800" dirty="0" smtClean="0"/>
              <a:t>We cannot replace any dependency X -&gt; A in F with a dependency Y -&gt; A, where Y proper-subset-of X ( Y subset-of X) and still have a set of dependencies that is equivalent to F.</a:t>
            </a:r>
          </a:p>
          <a:p>
            <a:pPr marL="952500" lvl="1" indent="-495300">
              <a:buFont typeface="Wingdings" panose="05000000000000000000" pitchFamily="2" charset="2"/>
              <a:buAutoNum type="arabicPeriod"/>
            </a:pPr>
            <a:r>
              <a:rPr lang="en-US" sz="2800" dirty="0"/>
              <a:t>We cannot remove any dependency from F and have a set of dependencies that is equivalent to F.</a:t>
            </a:r>
          </a:p>
          <a:p>
            <a:pPr marL="457200" lvl="1" indent="0">
              <a:buNone/>
            </a:pPr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F20AA-BDBB-4641-90F8-D88147CE3756}" type="datetime8">
              <a:rPr lang="en-IN" smtClean="0"/>
              <a:t>14-01-2022 14:20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790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Minimal Sets of Functional Dependencies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1C42-999A-4A93-8B79-47AB1578E2F1}" type="datetime8">
              <a:rPr lang="en-IN" smtClean="0"/>
              <a:t>14-01-2022 14:20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986" y="3536103"/>
            <a:ext cx="7991475" cy="2619375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0411" y="1802553"/>
            <a:ext cx="76390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2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Minimal Sets of FDs</a:t>
            </a:r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535161" y="1910128"/>
            <a:ext cx="9180062" cy="40233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 smtClean="0"/>
              <a:t>Every set of FDs has an equivalent minimal set.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 smtClean="0"/>
              <a:t>There can be several equivalent minimal sets.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 smtClean="0"/>
              <a:t>There is no simple algorithm for computing a minimal set of FDs that is equivalent to a set F of FDs.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 smtClean="0"/>
              <a:t>To synthesize a set of relations, we assume that we start with a set of dependencies that is a minimal set.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0B4A-4992-4031-B62C-D7B79767817D}" type="datetime8">
              <a:rPr lang="en-IN" smtClean="0"/>
              <a:t>14-01-2022 14:20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57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5" y="721216"/>
            <a:ext cx="11578107" cy="552503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500" b="1" dirty="0" smtClean="0"/>
              <a:t>Find Minimal Cover/ Canonical Cover of E</a:t>
            </a:r>
            <a:endParaRPr lang="en-US" sz="3500" b="1" dirty="0"/>
          </a:p>
          <a:p>
            <a:pPr algn="just"/>
            <a:r>
              <a:rPr lang="en-US" dirty="0" smtClean="0"/>
              <a:t>Let </a:t>
            </a:r>
            <a:r>
              <a:rPr lang="en-US" dirty="0"/>
              <a:t>the given set of FDs be E : {B → A, D → A, AB → D</a:t>
            </a:r>
            <a:r>
              <a:rPr lang="en-US" dirty="0" smtClean="0"/>
              <a:t>}.We </a:t>
            </a:r>
            <a:r>
              <a:rPr lang="en-US" dirty="0"/>
              <a:t>have to find the minimum cover of E. </a:t>
            </a:r>
            <a:endParaRPr lang="en-US" dirty="0" smtClean="0"/>
          </a:p>
          <a:p>
            <a:pPr algn="just"/>
            <a:r>
              <a:rPr lang="en-US" dirty="0" smtClean="0"/>
              <a:t>■ </a:t>
            </a:r>
            <a:r>
              <a:rPr lang="en-US" dirty="0"/>
              <a:t>All above dependencies are in canonical form; so we have completed step 1 of Algorithm 10.2 and can proceed to step 2.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step 2 we need to determine if AB → D has any redundant attribute on the left-hand side; that is, can it be replaced by B → D or A → D? </a:t>
            </a:r>
            <a:endParaRPr lang="en-US" dirty="0" smtClean="0"/>
          </a:p>
          <a:p>
            <a:pPr algn="just"/>
            <a:r>
              <a:rPr lang="en-US" dirty="0" smtClean="0"/>
              <a:t>■ </a:t>
            </a:r>
            <a:r>
              <a:rPr lang="en-US" dirty="0"/>
              <a:t>Since B → A, by augmenting with B on both sides (IR2), we have BB → AB, or B → </a:t>
            </a:r>
            <a:r>
              <a:rPr lang="en-US" dirty="0" smtClean="0"/>
              <a:t>AB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). However, AB → D as given (ii). </a:t>
            </a:r>
            <a:endParaRPr lang="en-US" dirty="0" smtClean="0"/>
          </a:p>
          <a:p>
            <a:pPr algn="just"/>
            <a:r>
              <a:rPr lang="en-US" dirty="0" smtClean="0"/>
              <a:t>■ </a:t>
            </a:r>
            <a:r>
              <a:rPr lang="en-US" dirty="0"/>
              <a:t>Hence by the transitive rule (IR3), we get from (</a:t>
            </a:r>
            <a:r>
              <a:rPr lang="en-US" dirty="0" err="1"/>
              <a:t>i</a:t>
            </a:r>
            <a:r>
              <a:rPr lang="en-US" dirty="0"/>
              <a:t>) and (ii), B → D. Hence AB → D may be replaced by B → D. </a:t>
            </a:r>
            <a:endParaRPr lang="en-US" dirty="0" smtClean="0"/>
          </a:p>
          <a:p>
            <a:pPr algn="just"/>
            <a:r>
              <a:rPr lang="en-US" dirty="0" smtClean="0"/>
              <a:t>■ </a:t>
            </a:r>
            <a:r>
              <a:rPr lang="en-US" dirty="0"/>
              <a:t>We now have a set equivalent to original E , say E′ : {B → A, D → A, B → D}. No further reduction is possible in step 2 since all FDs have a single attribute on the left-hand side. </a:t>
            </a:r>
            <a:endParaRPr lang="en-US" dirty="0" smtClean="0"/>
          </a:p>
          <a:p>
            <a:pPr algn="just"/>
            <a:r>
              <a:rPr lang="en-US" dirty="0" smtClean="0"/>
              <a:t>■ </a:t>
            </a:r>
            <a:r>
              <a:rPr lang="en-US" dirty="0"/>
              <a:t>In step 3 we look for a redundant FD in E′. By using the transitive rule on B → D and D → A, we derive B → A. Hence B → A is redundant in E’ and can be eliminated. </a:t>
            </a:r>
            <a:endParaRPr lang="en-US" dirty="0" smtClean="0"/>
          </a:p>
          <a:p>
            <a:pPr algn="just"/>
            <a:r>
              <a:rPr lang="en-US" b="1" dirty="0" smtClean="0"/>
              <a:t>■ </a:t>
            </a:r>
            <a:r>
              <a:rPr lang="en-US" b="1" dirty="0"/>
              <a:t>Hence the minimum cover of E is {B → D, D → A}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C1AC4-0DF0-47C2-9C78-FD57FC6A196E}" type="datetime8">
              <a:rPr lang="en-IN" smtClean="0"/>
              <a:t>14-01-2022 14:20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691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2A03D13D-0AF5-4B48-8187-B9955F4F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96403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A23F-1258-4CDD-B0AE-D7AA4C94D112}" type="datetime8">
              <a:rPr lang="en-IN" smtClean="0"/>
              <a:t>14-01-2022 14:20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37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1528</TotalTime>
  <Words>907</Words>
  <Application>Microsoft Office PowerPoint</Application>
  <PresentationFormat>Widescreen</PresentationFormat>
  <Paragraphs>87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Tahoma</vt:lpstr>
      <vt:lpstr>Times New Roman</vt:lpstr>
      <vt:lpstr>Wingdings</vt:lpstr>
      <vt:lpstr>Retrospect</vt:lpstr>
      <vt:lpstr> Course Name: Database Systems Course Code: CS52 Credits: 3:1:0 UNIT 4  Term: Oct 2021 – Feb 2022 </vt:lpstr>
      <vt:lpstr>Inference Rules for FDs</vt:lpstr>
      <vt:lpstr>Inference Rules for FDs</vt:lpstr>
      <vt:lpstr>Proof of Inference Rules</vt:lpstr>
      <vt:lpstr>Proof of Inference Rules</vt:lpstr>
      <vt:lpstr>Problem on Inference Rules:</vt:lpstr>
      <vt:lpstr>Closure of a set F of FDs</vt:lpstr>
      <vt:lpstr>The following set F of functional dependencies that should hold on EMP_PROJ;</vt:lpstr>
      <vt:lpstr>Problem:</vt:lpstr>
      <vt:lpstr>Equivalence of Sets of Functional Dependencies</vt:lpstr>
      <vt:lpstr>Equivalence of Sets of Functional Dependencies</vt:lpstr>
      <vt:lpstr>Examples:</vt:lpstr>
      <vt:lpstr>Minimal Sets of FDs </vt:lpstr>
      <vt:lpstr>Minimal Sets of Functional Dependencies</vt:lpstr>
      <vt:lpstr>Minimal Sets of FDs</vt:lpstr>
      <vt:lpstr>PowerPoint Presentation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Sanjeetha R</dc:creator>
  <cp:lastModifiedBy>CSE-PG</cp:lastModifiedBy>
  <cp:revision>266</cp:revision>
  <dcterms:created xsi:type="dcterms:W3CDTF">2020-08-26T05:56:20Z</dcterms:created>
  <dcterms:modified xsi:type="dcterms:W3CDTF">2022-01-14T08:55:12Z</dcterms:modified>
</cp:coreProperties>
</file>