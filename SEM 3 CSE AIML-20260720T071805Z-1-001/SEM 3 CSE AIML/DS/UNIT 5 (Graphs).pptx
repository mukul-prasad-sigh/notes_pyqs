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9144000"/>
  <p:notesSz cx="6669075" cy="9820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hzwJ1gmv0GJrhd0e4FijFp8D6b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customschemas.google.com/relationships/presentationmetadata" Target="meta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889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79837" y="0"/>
            <a:ext cx="2889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29737"/>
            <a:ext cx="2889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79837" y="9329737"/>
            <a:ext cx="28893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879475" y="736600"/>
            <a:ext cx="4910138" cy="368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15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18:notes"/>
          <p:cNvSpPr/>
          <p:nvPr>
            <p:ph idx="2" type="sldImg"/>
          </p:nvPr>
        </p:nvSpPr>
        <p:spPr>
          <a:xfrm>
            <a:off x="879475" y="736600"/>
            <a:ext cx="4910138" cy="368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9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p20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1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21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2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2" name="Google Shape;582;p22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3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23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p24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5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3" name="Google Shape;853;p25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6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1" name="Google Shape;881;p26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27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6" name="Google Shape;956;p27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8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1" name="Google Shape;971;p28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9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3" name="Google Shape;1053;p29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0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8" name="Google Shape;1068;p30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31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p31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2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p32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33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7" name="Google Shape;1097;p33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4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5" name="Google Shape;1105;p34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5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5" name="Google Shape;1115;p35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6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2" name="Google Shape;1122;p36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37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2" name="Google Shape;1132;p37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38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0" name="Google Shape;1140;p38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39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0" name="Google Shape;1180;p39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0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8" name="Google Shape;1188;p40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41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7" name="Google Shape;1247;p41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42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3" name="Google Shape;1273;p42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43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2" name="Google Shape;1352;p43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44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7" name="Google Shape;1417;p44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45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3" name="Google Shape;1483;p45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46:notes"/>
          <p:cNvSpPr txBox="1"/>
          <p:nvPr>
            <p:ph idx="1" type="body"/>
          </p:nvPr>
        </p:nvSpPr>
        <p:spPr>
          <a:xfrm>
            <a:off x="889000" y="4664075"/>
            <a:ext cx="48912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1" name="Google Shape;1491;p46:notes"/>
          <p:cNvSpPr/>
          <p:nvPr>
            <p:ph idx="2" type="sldImg"/>
          </p:nvPr>
        </p:nvSpPr>
        <p:spPr>
          <a:xfrm>
            <a:off x="879475" y="736600"/>
            <a:ext cx="4910100" cy="3683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354012" y="183038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/>
          <p:nvPr>
            <p:ph type="title"/>
          </p:nvPr>
        </p:nvSpPr>
        <p:spPr>
          <a:xfrm>
            <a:off x="354013" y="3063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" type="body"/>
          </p:nvPr>
        </p:nvSpPr>
        <p:spPr>
          <a:xfrm>
            <a:off x="354013" y="1830388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1"/>
          <p:cNvSpPr txBox="1"/>
          <p:nvPr>
            <p:ph idx="2" type="body"/>
          </p:nvPr>
        </p:nvSpPr>
        <p:spPr>
          <a:xfrm>
            <a:off x="354013" y="3963988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Media Clip and Text" type="mediaAndTx">
  <p:cSld name="MEDIA_AND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2"/>
          <p:cNvSpPr txBox="1"/>
          <p:nvPr>
            <p:ph type="title"/>
          </p:nvPr>
        </p:nvSpPr>
        <p:spPr>
          <a:xfrm>
            <a:off x="354013" y="3063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2"/>
          <p:cNvSpPr/>
          <p:nvPr>
            <p:ph idx="2" type="media"/>
          </p:nvPr>
        </p:nvSpPr>
        <p:spPr>
          <a:xfrm>
            <a:off x="354013" y="1830388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52"/>
          <p:cNvSpPr txBox="1"/>
          <p:nvPr>
            <p:ph idx="1" type="body"/>
          </p:nvPr>
        </p:nvSpPr>
        <p:spPr>
          <a:xfrm>
            <a:off x="4316413" y="1830388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3"/>
          <p:cNvSpPr txBox="1"/>
          <p:nvPr>
            <p:ph type="title"/>
          </p:nvPr>
        </p:nvSpPr>
        <p:spPr>
          <a:xfrm rot="5400000">
            <a:off x="4335463" y="2154238"/>
            <a:ext cx="56388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" type="body"/>
          </p:nvPr>
        </p:nvSpPr>
        <p:spPr>
          <a:xfrm rot="5400000">
            <a:off x="373063" y="287338"/>
            <a:ext cx="56388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4"/>
          <p:cNvSpPr txBox="1"/>
          <p:nvPr>
            <p:ph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" type="body"/>
          </p:nvPr>
        </p:nvSpPr>
        <p:spPr>
          <a:xfrm rot="5400000">
            <a:off x="2182812" y="1587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5"/>
          <p:cNvSpPr txBox="1"/>
          <p:nvPr>
            <p:ph type="title"/>
          </p:nvPr>
        </p:nvSpPr>
        <p:spPr>
          <a:xfrm>
            <a:off x="630238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5"/>
          <p:cNvSpPr/>
          <p:nvPr>
            <p:ph idx="2" type="pic"/>
          </p:nvPr>
        </p:nvSpPr>
        <p:spPr>
          <a:xfrm>
            <a:off x="3887788" y="987425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55"/>
          <p:cNvSpPr txBox="1"/>
          <p:nvPr>
            <p:ph idx="1" type="body"/>
          </p:nvPr>
        </p:nvSpPr>
        <p:spPr>
          <a:xfrm>
            <a:off x="630238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55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5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5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6"/>
          <p:cNvSpPr txBox="1"/>
          <p:nvPr>
            <p:ph type="title"/>
          </p:nvPr>
        </p:nvSpPr>
        <p:spPr>
          <a:xfrm>
            <a:off x="630238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6"/>
          <p:cNvSpPr txBox="1"/>
          <p:nvPr>
            <p:ph idx="1" type="body"/>
          </p:nvPr>
        </p:nvSpPr>
        <p:spPr>
          <a:xfrm>
            <a:off x="3887788" y="987425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56"/>
          <p:cNvSpPr txBox="1"/>
          <p:nvPr>
            <p:ph idx="2" type="body"/>
          </p:nvPr>
        </p:nvSpPr>
        <p:spPr>
          <a:xfrm>
            <a:off x="630238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56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6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6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7"/>
          <p:cNvSpPr txBox="1"/>
          <p:nvPr>
            <p:ph type="title"/>
          </p:nvPr>
        </p:nvSpPr>
        <p:spPr>
          <a:xfrm>
            <a:off x="630238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7"/>
          <p:cNvSpPr txBox="1"/>
          <p:nvPr>
            <p:ph idx="1" type="body"/>
          </p:nvPr>
        </p:nvSpPr>
        <p:spPr>
          <a:xfrm>
            <a:off x="630238" y="1681163"/>
            <a:ext cx="38688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57"/>
          <p:cNvSpPr txBox="1"/>
          <p:nvPr>
            <p:ph idx="2" type="body"/>
          </p:nvPr>
        </p:nvSpPr>
        <p:spPr>
          <a:xfrm>
            <a:off x="630238" y="2505075"/>
            <a:ext cx="38688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3" type="body"/>
          </p:nvPr>
        </p:nvSpPr>
        <p:spPr>
          <a:xfrm>
            <a:off x="4629150" y="1681163"/>
            <a:ext cx="38877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5" name="Google Shape;75;p57"/>
          <p:cNvSpPr txBox="1"/>
          <p:nvPr>
            <p:ph idx="4" type="body"/>
          </p:nvPr>
        </p:nvSpPr>
        <p:spPr>
          <a:xfrm>
            <a:off x="4629150" y="2505075"/>
            <a:ext cx="38877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8"/>
          <p:cNvSpPr txBox="1"/>
          <p:nvPr>
            <p:ph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8"/>
          <p:cNvSpPr txBox="1"/>
          <p:nvPr>
            <p:ph idx="1" type="body"/>
          </p:nvPr>
        </p:nvSpPr>
        <p:spPr>
          <a:xfrm>
            <a:off x="354013" y="1830388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8"/>
          <p:cNvSpPr txBox="1"/>
          <p:nvPr>
            <p:ph idx="2" type="body"/>
          </p:nvPr>
        </p:nvSpPr>
        <p:spPr>
          <a:xfrm>
            <a:off x="4316413" y="1830388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8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8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8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9"/>
          <p:cNvSpPr txBox="1"/>
          <p:nvPr>
            <p:ph type="title"/>
          </p:nvPr>
        </p:nvSpPr>
        <p:spPr>
          <a:xfrm>
            <a:off x="623888" y="1709738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9"/>
          <p:cNvSpPr txBox="1"/>
          <p:nvPr>
            <p:ph idx="1" type="body"/>
          </p:nvPr>
        </p:nvSpPr>
        <p:spPr>
          <a:xfrm>
            <a:off x="623888" y="4589463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59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9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9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1"/>
          <p:cNvSpPr txBox="1"/>
          <p:nvPr>
            <p:ph type="ctrTitle"/>
          </p:nvPr>
        </p:nvSpPr>
        <p:spPr>
          <a:xfrm>
            <a:off x="1173163" y="13414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1"/>
          <p:cNvSpPr txBox="1"/>
          <p:nvPr>
            <p:ph idx="1" type="subTitle"/>
          </p:nvPr>
        </p:nvSpPr>
        <p:spPr>
          <a:xfrm>
            <a:off x="1166813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1"/>
          <p:cNvSpPr txBox="1"/>
          <p:nvPr>
            <p:ph idx="10" type="dt"/>
          </p:nvPr>
        </p:nvSpPr>
        <p:spPr>
          <a:xfrm>
            <a:off x="1166812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1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354012" y="183038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354012" y="61150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60"/>
          <p:cNvGrpSpPr/>
          <p:nvPr/>
        </p:nvGrpSpPr>
        <p:grpSpPr>
          <a:xfrm>
            <a:off x="-4762" y="2438400"/>
            <a:ext cx="9148762" cy="1063625"/>
            <a:chOff x="-3" y="1536"/>
            <a:chExt cx="5763" cy="670"/>
          </a:xfrm>
        </p:grpSpPr>
        <p:grpSp>
          <p:nvGrpSpPr>
            <p:cNvPr id="94" name="Google Shape;94;p60"/>
            <p:cNvGrpSpPr/>
            <p:nvPr/>
          </p:nvGrpSpPr>
          <p:grpSpPr>
            <a:xfrm flipH="1">
              <a:off x="-3" y="1562"/>
              <a:ext cx="5763" cy="638"/>
              <a:chOff x="-3" y="1562"/>
              <a:chExt cx="5763" cy="638"/>
            </a:xfrm>
          </p:grpSpPr>
          <p:sp>
            <p:nvSpPr>
              <p:cNvPr id="95" name="Google Shape;95;p60"/>
              <p:cNvSpPr/>
              <p:nvPr/>
            </p:nvSpPr>
            <p:spPr>
              <a:xfrm rot="-5400000">
                <a:off x="2558" y="-993"/>
                <a:ext cx="625" cy="5746"/>
              </a:xfrm>
              <a:custGeom>
                <a:rect b="b" l="l" r="r" t="t"/>
                <a:pathLst>
                  <a:path extrusionOk="0" h="720" w="100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60"/>
              <p:cNvSpPr/>
              <p:nvPr/>
            </p:nvSpPr>
            <p:spPr>
              <a:xfrm rot="-5400000">
                <a:off x="1322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60"/>
              <p:cNvSpPr/>
              <p:nvPr/>
            </p:nvSpPr>
            <p:spPr>
              <a:xfrm rot="-5400000">
                <a:off x="982" y="1669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60"/>
              <p:cNvSpPr/>
              <p:nvPr/>
            </p:nvSpPr>
            <p:spPr>
              <a:xfrm rot="-5400000">
                <a:off x="-57" y="1752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60"/>
              <p:cNvSpPr/>
              <p:nvPr/>
            </p:nvSpPr>
            <p:spPr>
              <a:xfrm rot="-5400000">
                <a:off x="664" y="1733"/>
                <a:ext cx="624" cy="294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60"/>
              <p:cNvSpPr/>
              <p:nvPr/>
            </p:nvSpPr>
            <p:spPr>
              <a:xfrm rot="-5400000">
                <a:off x="442" y="1699"/>
                <a:ext cx="624" cy="362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60"/>
              <p:cNvSpPr/>
              <p:nvPr/>
            </p:nvSpPr>
            <p:spPr>
              <a:xfrm rot="-5400000">
                <a:off x="155" y="1726"/>
                <a:ext cx="632" cy="315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60"/>
              <p:cNvSpPr/>
              <p:nvPr/>
            </p:nvSpPr>
            <p:spPr>
              <a:xfrm rot="-5400000">
                <a:off x="3210" y="1664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60"/>
              <p:cNvSpPr/>
              <p:nvPr/>
            </p:nvSpPr>
            <p:spPr>
              <a:xfrm rot="-5400000">
                <a:off x="2870" y="1664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60"/>
              <p:cNvSpPr/>
              <p:nvPr/>
            </p:nvSpPr>
            <p:spPr>
              <a:xfrm rot="-5400000">
                <a:off x="1829" y="1747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60"/>
              <p:cNvSpPr/>
              <p:nvPr/>
            </p:nvSpPr>
            <p:spPr>
              <a:xfrm rot="-5400000">
                <a:off x="2551" y="1728"/>
                <a:ext cx="624" cy="294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60"/>
              <p:cNvSpPr/>
              <p:nvPr/>
            </p:nvSpPr>
            <p:spPr>
              <a:xfrm rot="-5400000">
                <a:off x="2329" y="1694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60"/>
              <p:cNvSpPr/>
              <p:nvPr/>
            </p:nvSpPr>
            <p:spPr>
              <a:xfrm rot="-5400000">
                <a:off x="2043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60"/>
              <p:cNvSpPr/>
              <p:nvPr/>
            </p:nvSpPr>
            <p:spPr>
              <a:xfrm rot="-5400000">
                <a:off x="4076" y="1669"/>
                <a:ext cx="624" cy="421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60"/>
              <p:cNvSpPr/>
              <p:nvPr/>
            </p:nvSpPr>
            <p:spPr>
              <a:xfrm rot="-5400000">
                <a:off x="3736" y="1669"/>
                <a:ext cx="624" cy="422"/>
              </a:xfrm>
              <a:custGeom>
                <a:rect b="b" l="l" r="r" t="t"/>
                <a:pathLst>
                  <a:path extrusionOk="0" h="317" w="624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60"/>
              <p:cNvSpPr/>
              <p:nvPr/>
            </p:nvSpPr>
            <p:spPr>
              <a:xfrm rot="-5400000">
                <a:off x="4583" y="1747"/>
                <a:ext cx="624" cy="255"/>
              </a:xfrm>
              <a:custGeom>
                <a:rect b="b" l="l" r="r" t="t"/>
                <a:pathLst>
                  <a:path extrusionOk="0" h="370" w="624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60"/>
              <p:cNvSpPr/>
              <p:nvPr/>
            </p:nvSpPr>
            <p:spPr>
              <a:xfrm>
                <a:off x="5469" y="1562"/>
                <a:ext cx="291" cy="625"/>
              </a:xfrm>
              <a:custGeom>
                <a:rect b="b" l="l" r="r" t="t"/>
                <a:pathLst>
                  <a:path extrusionOk="0" h="625" w="291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60"/>
              <p:cNvSpPr/>
              <p:nvPr/>
            </p:nvSpPr>
            <p:spPr>
              <a:xfrm rot="-5400000">
                <a:off x="5083" y="1694"/>
                <a:ext cx="624" cy="361"/>
              </a:xfrm>
              <a:custGeom>
                <a:rect b="b" l="l" r="r" t="t"/>
                <a:pathLst>
                  <a:path extrusionOk="0" h="272" w="624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60"/>
              <p:cNvSpPr/>
              <p:nvPr/>
            </p:nvSpPr>
            <p:spPr>
              <a:xfrm rot="-5400000">
                <a:off x="4797" y="1721"/>
                <a:ext cx="632" cy="316"/>
              </a:xfrm>
              <a:custGeom>
                <a:rect b="b" l="l" r="r" t="t"/>
                <a:pathLst>
                  <a:path extrusionOk="0" h="362" w="63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14" name="Google Shape;114;p60"/>
            <p:cNvSpPr/>
            <p:nvPr/>
          </p:nvSpPr>
          <p:spPr>
            <a:xfrm flipH="1">
              <a:off x="-2" y="1536"/>
              <a:ext cx="5762" cy="412"/>
            </a:xfrm>
            <a:custGeom>
              <a:rect b="b" l="l" r="r" t="t"/>
              <a:pathLst>
                <a:path extrusionOk="0" h="385" w="5762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76767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60"/>
            <p:cNvSpPr/>
            <p:nvPr/>
          </p:nvSpPr>
          <p:spPr>
            <a:xfrm flipH="1">
              <a:off x="-2" y="2017"/>
              <a:ext cx="5761" cy="189"/>
            </a:xfrm>
            <a:custGeom>
              <a:rect b="b" l="l" r="r" t="t"/>
              <a:pathLst>
                <a:path extrusionOk="0" h="189" w="5761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>
              <a:gsLst>
                <a:gs pos="0">
                  <a:srgbClr val="767676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6" name="Google Shape;116;p60"/>
          <p:cNvSpPr txBox="1"/>
          <p:nvPr>
            <p:ph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7" name="Google Shape;117;p60"/>
          <p:cNvSpPr txBox="1"/>
          <p:nvPr>
            <p:ph idx="1" type="body"/>
          </p:nvPr>
        </p:nvSpPr>
        <p:spPr>
          <a:xfrm>
            <a:off x="354012" y="183038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60"/>
          <p:cNvSpPr txBox="1"/>
          <p:nvPr>
            <p:ph idx="10" type="dt"/>
          </p:nvPr>
        </p:nvSpPr>
        <p:spPr>
          <a:xfrm>
            <a:off x="1166812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9" name="Google Shape;119;p60"/>
          <p:cNvSpPr txBox="1"/>
          <p:nvPr>
            <p:ph idx="11" type="ftr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0" name="Google Shape;120;p60"/>
          <p:cNvSpPr txBox="1"/>
          <p:nvPr>
            <p:ph idx="12" type="sldNum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>
            <p:ph type="title"/>
          </p:nvPr>
        </p:nvSpPr>
        <p:spPr>
          <a:xfrm>
            <a:off x="895350" y="628650"/>
            <a:ext cx="8001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br>
              <a:rPr b="0" i="0" lang="en-US" sz="28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r>
              <a:rPr b="0" i="0" lang="en-US" sz="3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br>
              <a:rPr b="0" i="0" lang="en-US" sz="3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3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GRAPHS</a:t>
            </a:r>
            <a:r>
              <a:rPr b="1" i="0" lang="en-US" sz="3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i="0" lang="en-US" sz="3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0" i="0" lang="en-US" sz="36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895350" y="4564062"/>
            <a:ext cx="68199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programs in this file are selected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Ellis Horowitz, Sartaj Sahni, and Susan Anderson-Freed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“Fundamentals of Data Structures in C”,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Computer Science Press, 1992.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923925" y="239712"/>
            <a:ext cx="82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958850" y="1312862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 consists of two 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finite, nonempty set of vertices V(G)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finite, possible empty set of edges E(G)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G(V,E) represents a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 in which the pair of vertices in a edge is unordered,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one in which each edge is a directed pair of vertices, &lt;v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!= &lt;v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2"/>
          <p:cNvCxnSpPr/>
          <p:nvPr/>
        </p:nvCxnSpPr>
        <p:spPr>
          <a:xfrm>
            <a:off x="5468937" y="5978525"/>
            <a:ext cx="217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4" name="Google Shape;144;p2"/>
          <p:cNvSpPr txBox="1"/>
          <p:nvPr/>
        </p:nvSpPr>
        <p:spPr>
          <a:xfrm>
            <a:off x="5168900" y="5573712"/>
            <a:ext cx="57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7207250" y="5591175"/>
            <a:ext cx="75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693737" y="0"/>
            <a:ext cx="845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1744662" y="10477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1058862" y="18097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2430462" y="18097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1744662" y="24193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3"/>
          <p:cNvCxnSpPr/>
          <p:nvPr/>
        </p:nvCxnSpPr>
        <p:spPr>
          <a:xfrm>
            <a:off x="1966912" y="14986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8" name="Google Shape;158;p3"/>
          <p:cNvCxnSpPr/>
          <p:nvPr/>
        </p:nvCxnSpPr>
        <p:spPr>
          <a:xfrm>
            <a:off x="1509712" y="20320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3"/>
          <p:cNvCxnSpPr/>
          <p:nvPr/>
        </p:nvCxnSpPr>
        <p:spPr>
          <a:xfrm flipH="1">
            <a:off x="1398574" y="142240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0" name="Google Shape;160;p3"/>
          <p:cNvCxnSpPr/>
          <p:nvPr/>
        </p:nvCxnSpPr>
        <p:spPr>
          <a:xfrm>
            <a:off x="2119312" y="142240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1" name="Google Shape;161;p3"/>
          <p:cNvCxnSpPr/>
          <p:nvPr/>
        </p:nvCxnSpPr>
        <p:spPr>
          <a:xfrm>
            <a:off x="1384300" y="2238375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3"/>
          <p:cNvCxnSpPr/>
          <p:nvPr/>
        </p:nvCxnSpPr>
        <p:spPr>
          <a:xfrm flipH="1">
            <a:off x="2173312" y="2211387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3"/>
          <p:cNvSpPr/>
          <p:nvPr/>
        </p:nvSpPr>
        <p:spPr>
          <a:xfrm>
            <a:off x="8440737" y="101917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8439150" y="21224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8455025" y="31416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3"/>
          <p:cNvCxnSpPr/>
          <p:nvPr/>
        </p:nvCxnSpPr>
        <p:spPr>
          <a:xfrm>
            <a:off x="8677275" y="2578100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7" name="Google Shape;167;p3"/>
          <p:cNvCxnSpPr/>
          <p:nvPr/>
        </p:nvCxnSpPr>
        <p:spPr>
          <a:xfrm>
            <a:off x="8855075" y="1408237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8" name="Google Shape;168;p3"/>
          <p:cNvCxnSpPr/>
          <p:nvPr/>
        </p:nvCxnSpPr>
        <p:spPr>
          <a:xfrm>
            <a:off x="8486775" y="1435100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9" name="Google Shape;169;p3"/>
          <p:cNvSpPr/>
          <p:nvPr/>
        </p:nvSpPr>
        <p:spPr>
          <a:xfrm>
            <a:off x="5191125" y="10922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505325" y="18542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5876925" y="18542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3"/>
          <p:cNvCxnSpPr/>
          <p:nvPr/>
        </p:nvCxnSpPr>
        <p:spPr>
          <a:xfrm flipH="1">
            <a:off x="4845037" y="146685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3"/>
          <p:cNvCxnSpPr/>
          <p:nvPr/>
        </p:nvCxnSpPr>
        <p:spPr>
          <a:xfrm>
            <a:off x="5565775" y="146685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3"/>
          <p:cNvSpPr/>
          <p:nvPr/>
        </p:nvSpPr>
        <p:spPr>
          <a:xfrm>
            <a:off x="4122737" y="27511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4883150" y="27638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3"/>
          <p:cNvCxnSpPr/>
          <p:nvPr/>
        </p:nvCxnSpPr>
        <p:spPr>
          <a:xfrm flipH="1">
            <a:off x="4349875" y="2295525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3"/>
          <p:cNvCxnSpPr/>
          <p:nvPr/>
        </p:nvCxnSpPr>
        <p:spPr>
          <a:xfrm>
            <a:off x="4800600" y="2309812"/>
            <a:ext cx="298500" cy="45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3"/>
          <p:cNvSpPr/>
          <p:nvPr/>
        </p:nvSpPr>
        <p:spPr>
          <a:xfrm>
            <a:off x="5527675" y="27527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6272212" y="27511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3"/>
          <p:cNvCxnSpPr/>
          <p:nvPr/>
        </p:nvCxnSpPr>
        <p:spPr>
          <a:xfrm flipH="1">
            <a:off x="5724575" y="2279650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3"/>
          <p:cNvCxnSpPr/>
          <p:nvPr/>
        </p:nvCxnSpPr>
        <p:spPr>
          <a:xfrm>
            <a:off x="6200775" y="2292350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" name="Google Shape;182;p3"/>
          <p:cNvSpPr txBox="1"/>
          <p:nvPr/>
        </p:nvSpPr>
        <p:spPr>
          <a:xfrm>
            <a:off x="1671637" y="3063875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5143500" y="3325812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8491537" y="3624262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708025" y="4167187"/>
            <a:ext cx="84360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)={0,1,2,3}               E(G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)={(0,1),(0,2),(0,3),(1,2),(1,3),(2,3)}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)={0,1,2,3,4,5,6}      E(G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)={(0,1),(0,2),(1,3),(1,4),(2,5),(2,6)}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V(G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)={0,1,2}                  E(G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)={&lt;0,1&gt;,&lt;1,0&gt;,&lt;1,2&gt;}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860425" y="5408612"/>
            <a:ext cx="53577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undirected graph: n(n-1)/2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directed graph: n(n-1)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1000125" y="3581400"/>
            <a:ext cx="206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5911850" y="3616325"/>
            <a:ext cx="230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534987" y="592137"/>
            <a:ext cx="836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782637" y="1981200"/>
            <a:ext cx="8361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complete graph is a graph that has the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number of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n vertices, the maximum number of edges is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n(n-1)/2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n vertices, the maximum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edges is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n(n-1)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G1 is a complete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1152525" y="573087"/>
            <a:ext cx="799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and Incident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1152525" y="1944687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an edge in an undirected graph,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edge (v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incident on vertices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&lt;v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is an edge in a 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adjacent from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edge &lt;v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is incident on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371600" y="2286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590800" y="2286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981200" y="3505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6"/>
          <p:cNvCxnSpPr/>
          <p:nvPr/>
        </p:nvCxnSpPr>
        <p:spPr>
          <a:xfrm rot="10800000">
            <a:off x="1676400" y="2971800"/>
            <a:ext cx="381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5" name="Google Shape;215;p6"/>
          <p:cNvCxnSpPr/>
          <p:nvPr/>
        </p:nvCxnSpPr>
        <p:spPr>
          <a:xfrm flipH="1">
            <a:off x="2590800" y="2971800"/>
            <a:ext cx="3048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6" name="Google Shape;216;p6"/>
          <p:cNvSpPr/>
          <p:nvPr/>
        </p:nvSpPr>
        <p:spPr>
          <a:xfrm>
            <a:off x="1238250" y="2000250"/>
            <a:ext cx="400050" cy="400050"/>
          </a:xfrm>
          <a:custGeom>
            <a:rect b="b" l="l" r="r" t="t"/>
            <a:pathLst>
              <a:path extrusionOk="0" h="252" w="252">
                <a:moveTo>
                  <a:pt x="132" y="252"/>
                </a:moveTo>
                <a:cubicBezTo>
                  <a:pt x="112" y="248"/>
                  <a:pt x="91" y="247"/>
                  <a:pt x="72" y="240"/>
                </a:cubicBezTo>
                <a:cubicBezTo>
                  <a:pt x="28" y="224"/>
                  <a:pt x="24" y="180"/>
                  <a:pt x="0" y="144"/>
                </a:cubicBezTo>
                <a:cubicBezTo>
                  <a:pt x="4" y="112"/>
                  <a:pt x="0" y="78"/>
                  <a:pt x="12" y="48"/>
                </a:cubicBezTo>
                <a:cubicBezTo>
                  <a:pt x="27" y="11"/>
                  <a:pt x="120" y="0"/>
                  <a:pt x="120" y="0"/>
                </a:cubicBezTo>
                <a:cubicBezTo>
                  <a:pt x="200" y="16"/>
                  <a:pt x="252" y="40"/>
                  <a:pt x="252" y="13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828800" y="2133600"/>
            <a:ext cx="914400" cy="228600"/>
          </a:xfrm>
          <a:custGeom>
            <a:rect b="b" l="l" r="r" t="t"/>
            <a:pathLst>
              <a:path extrusionOk="0" h="248" w="576">
                <a:moveTo>
                  <a:pt x="576" y="200"/>
                </a:moveTo>
                <a:cubicBezTo>
                  <a:pt x="480" y="100"/>
                  <a:pt x="384" y="0"/>
                  <a:pt x="288" y="8"/>
                </a:cubicBezTo>
                <a:cubicBezTo>
                  <a:pt x="192" y="16"/>
                  <a:pt x="96" y="132"/>
                  <a:pt x="0" y="2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6"/>
          <p:cNvSpPr/>
          <p:nvPr/>
        </p:nvSpPr>
        <p:spPr>
          <a:xfrm rot="10800000">
            <a:off x="1828800" y="2819400"/>
            <a:ext cx="914400" cy="304800"/>
          </a:xfrm>
          <a:custGeom>
            <a:rect b="b" l="l" r="r" t="t"/>
            <a:pathLst>
              <a:path extrusionOk="0" h="248" w="576">
                <a:moveTo>
                  <a:pt x="576" y="200"/>
                </a:moveTo>
                <a:cubicBezTo>
                  <a:pt x="480" y="100"/>
                  <a:pt x="384" y="0"/>
                  <a:pt x="288" y="8"/>
                </a:cubicBezTo>
                <a:cubicBezTo>
                  <a:pt x="192" y="16"/>
                  <a:pt x="96" y="132"/>
                  <a:pt x="0" y="2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2133600" y="4419600"/>
            <a:ext cx="52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257800" y="36576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257800" y="2362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257800" y="11430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705600" y="2362200"/>
            <a:ext cx="609600" cy="609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6"/>
          <p:cNvCxnSpPr/>
          <p:nvPr/>
        </p:nvCxnSpPr>
        <p:spPr>
          <a:xfrm>
            <a:off x="5562600" y="1752600"/>
            <a:ext cx="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6"/>
          <p:cNvCxnSpPr/>
          <p:nvPr/>
        </p:nvCxnSpPr>
        <p:spPr>
          <a:xfrm>
            <a:off x="5562600" y="2971800"/>
            <a:ext cx="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6" name="Google Shape;226;p6"/>
          <p:cNvSpPr/>
          <p:nvPr/>
        </p:nvSpPr>
        <p:spPr>
          <a:xfrm>
            <a:off x="5867400" y="2362200"/>
            <a:ext cx="914400" cy="152400"/>
          </a:xfrm>
          <a:custGeom>
            <a:rect b="b" l="l" r="r" t="t"/>
            <a:pathLst>
              <a:path extrusionOk="0" h="96" w="576">
                <a:moveTo>
                  <a:pt x="0" y="96"/>
                </a:moveTo>
                <a:cubicBezTo>
                  <a:pt x="96" y="48"/>
                  <a:pt x="192" y="0"/>
                  <a:pt x="288" y="0"/>
                </a:cubicBezTo>
                <a:cubicBezTo>
                  <a:pt x="384" y="0"/>
                  <a:pt x="528" y="80"/>
                  <a:pt x="576" y="9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6"/>
          <p:cNvSpPr/>
          <p:nvPr/>
        </p:nvSpPr>
        <p:spPr>
          <a:xfrm rot="10800000">
            <a:off x="5791200" y="2819400"/>
            <a:ext cx="914400" cy="152400"/>
          </a:xfrm>
          <a:custGeom>
            <a:rect b="b" l="l" r="r" t="t"/>
            <a:pathLst>
              <a:path extrusionOk="0" h="96" w="576">
                <a:moveTo>
                  <a:pt x="0" y="96"/>
                </a:moveTo>
                <a:cubicBezTo>
                  <a:pt x="96" y="48"/>
                  <a:pt x="192" y="0"/>
                  <a:pt x="288" y="0"/>
                </a:cubicBezTo>
                <a:cubicBezTo>
                  <a:pt x="384" y="0"/>
                  <a:pt x="528" y="80"/>
                  <a:pt x="576" y="9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867400" y="2971800"/>
            <a:ext cx="1066800" cy="927100"/>
          </a:xfrm>
          <a:custGeom>
            <a:rect b="b" l="l" r="r" t="t"/>
            <a:pathLst>
              <a:path extrusionOk="0" h="584" w="672">
                <a:moveTo>
                  <a:pt x="672" y="0"/>
                </a:moveTo>
                <a:cubicBezTo>
                  <a:pt x="660" y="108"/>
                  <a:pt x="648" y="216"/>
                  <a:pt x="624" y="288"/>
                </a:cubicBezTo>
                <a:cubicBezTo>
                  <a:pt x="600" y="360"/>
                  <a:pt x="576" y="392"/>
                  <a:pt x="528" y="432"/>
                </a:cubicBezTo>
                <a:cubicBezTo>
                  <a:pt x="480" y="472"/>
                  <a:pt x="400" y="504"/>
                  <a:pt x="336" y="528"/>
                </a:cubicBezTo>
                <a:cubicBezTo>
                  <a:pt x="272" y="552"/>
                  <a:pt x="200" y="568"/>
                  <a:pt x="144" y="576"/>
                </a:cubicBezTo>
                <a:cubicBezTo>
                  <a:pt x="88" y="584"/>
                  <a:pt x="24" y="576"/>
                  <a:pt x="0" y="57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867400" y="2971800"/>
            <a:ext cx="1143000" cy="990600"/>
          </a:xfrm>
          <a:custGeom>
            <a:rect b="b" l="l" r="r" t="t"/>
            <a:pathLst>
              <a:path extrusionOk="0" h="584" w="672">
                <a:moveTo>
                  <a:pt x="672" y="0"/>
                </a:moveTo>
                <a:cubicBezTo>
                  <a:pt x="660" y="108"/>
                  <a:pt x="648" y="216"/>
                  <a:pt x="624" y="288"/>
                </a:cubicBezTo>
                <a:cubicBezTo>
                  <a:pt x="600" y="360"/>
                  <a:pt x="576" y="392"/>
                  <a:pt x="528" y="432"/>
                </a:cubicBezTo>
                <a:cubicBezTo>
                  <a:pt x="480" y="472"/>
                  <a:pt x="400" y="504"/>
                  <a:pt x="336" y="528"/>
                </a:cubicBezTo>
                <a:cubicBezTo>
                  <a:pt x="272" y="552"/>
                  <a:pt x="200" y="568"/>
                  <a:pt x="144" y="576"/>
                </a:cubicBezTo>
                <a:cubicBezTo>
                  <a:pt x="88" y="584"/>
                  <a:pt x="24" y="576"/>
                  <a:pt x="0" y="57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867400" y="2971800"/>
            <a:ext cx="1219200" cy="1066800"/>
          </a:xfrm>
          <a:custGeom>
            <a:rect b="b" l="l" r="r" t="t"/>
            <a:pathLst>
              <a:path extrusionOk="0" h="584" w="672">
                <a:moveTo>
                  <a:pt x="672" y="0"/>
                </a:moveTo>
                <a:cubicBezTo>
                  <a:pt x="660" y="108"/>
                  <a:pt x="648" y="216"/>
                  <a:pt x="624" y="288"/>
                </a:cubicBezTo>
                <a:cubicBezTo>
                  <a:pt x="600" y="360"/>
                  <a:pt x="576" y="392"/>
                  <a:pt x="528" y="432"/>
                </a:cubicBezTo>
                <a:cubicBezTo>
                  <a:pt x="480" y="472"/>
                  <a:pt x="400" y="504"/>
                  <a:pt x="336" y="528"/>
                </a:cubicBezTo>
                <a:cubicBezTo>
                  <a:pt x="272" y="552"/>
                  <a:pt x="200" y="568"/>
                  <a:pt x="144" y="576"/>
                </a:cubicBezTo>
                <a:cubicBezTo>
                  <a:pt x="88" y="584"/>
                  <a:pt x="24" y="576"/>
                  <a:pt x="0" y="57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241925" y="4384675"/>
            <a:ext cx="61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1081087" y="414337"/>
            <a:ext cx="6812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6.3:</a:t>
            </a: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a graph with feedback loops and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multigraph (p.260)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 rot="10800000">
            <a:off x="2089150" y="4014787"/>
            <a:ext cx="438150" cy="357187"/>
          </a:xfrm>
          <a:custGeom>
            <a:rect b="b" l="l" r="r" t="t"/>
            <a:pathLst>
              <a:path extrusionOk="0" h="248" w="576">
                <a:moveTo>
                  <a:pt x="576" y="200"/>
                </a:moveTo>
                <a:cubicBezTo>
                  <a:pt x="480" y="100"/>
                  <a:pt x="384" y="0"/>
                  <a:pt x="288" y="8"/>
                </a:cubicBezTo>
                <a:cubicBezTo>
                  <a:pt x="192" y="16"/>
                  <a:pt x="96" y="132"/>
                  <a:pt x="0" y="2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2624137" y="4110037"/>
            <a:ext cx="127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6167437" y="4046537"/>
            <a:ext cx="27273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multigraph: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occurrences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same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>
            <p:ph idx="4294967295" type="title"/>
          </p:nvPr>
        </p:nvSpPr>
        <p:spPr>
          <a:xfrm>
            <a:off x="382587" y="5207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6.3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804862" y="1539875"/>
            <a:ext cx="8339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G is a graph G’ such that V(G’)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subset of V(G) and E(G’) is a subset of E(G)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vertex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vertex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graph G,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sequence of vertices,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...,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...,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are edges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undirected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of a path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number of edges on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 txBox="1"/>
          <p:nvPr>
            <p:ph idx="4294967295"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Subgraph and Path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8"/>
          <p:cNvGrpSpPr/>
          <p:nvPr/>
        </p:nvGrpSpPr>
        <p:grpSpPr>
          <a:xfrm>
            <a:off x="2651125" y="609600"/>
            <a:ext cx="6213475" cy="1924050"/>
            <a:chOff x="828" y="564"/>
            <a:chExt cx="3914" cy="1212"/>
          </a:xfrm>
        </p:grpSpPr>
        <p:sp>
          <p:nvSpPr>
            <p:cNvPr id="252" name="Google Shape;252;p8"/>
            <p:cNvSpPr/>
            <p:nvPr/>
          </p:nvSpPr>
          <p:spPr>
            <a:xfrm>
              <a:off x="828" y="56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" name="Google Shape;253;p8"/>
            <p:cNvGrpSpPr/>
            <p:nvPr/>
          </p:nvGrpSpPr>
          <p:grpSpPr>
            <a:xfrm>
              <a:off x="1422" y="564"/>
              <a:ext cx="904" cy="780"/>
              <a:chOff x="1008" y="720"/>
              <a:chExt cx="876" cy="780"/>
            </a:xfrm>
          </p:grpSpPr>
          <p:sp>
            <p:nvSpPr>
              <p:cNvPr id="254" name="Google Shape;254;p8"/>
              <p:cNvSpPr/>
              <p:nvPr/>
            </p:nvSpPr>
            <p:spPr>
              <a:xfrm>
                <a:off x="1296" y="720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1008" y="1200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1584" y="1200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7" name="Google Shape;257;p8"/>
              <p:cNvCxnSpPr/>
              <p:nvPr/>
            </p:nvCxnSpPr>
            <p:spPr>
              <a:xfrm>
                <a:off x="1344" y="1008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8"/>
              <p:cNvCxnSpPr/>
              <p:nvPr/>
            </p:nvCxnSpPr>
            <p:spPr>
              <a:xfrm>
                <a:off x="1584" y="1008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59" name="Google Shape;259;p8"/>
            <p:cNvSpPr/>
            <p:nvPr/>
          </p:nvSpPr>
          <p:spPr>
            <a:xfrm>
              <a:off x="2858" y="104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2561" y="56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3155" y="56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" name="Google Shape;262;p8"/>
            <p:cNvCxnSpPr/>
            <p:nvPr/>
          </p:nvCxnSpPr>
          <p:spPr>
            <a:xfrm>
              <a:off x="2907" y="79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8"/>
            <p:cNvCxnSpPr/>
            <p:nvPr/>
          </p:nvCxnSpPr>
          <p:spPr>
            <a:xfrm>
              <a:off x="3155" y="79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4" name="Google Shape;264;p8"/>
            <p:cNvSpPr/>
            <p:nvPr/>
          </p:nvSpPr>
          <p:spPr>
            <a:xfrm>
              <a:off x="4145" y="56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3848" y="104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4442" y="1044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4145" y="1476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8" name="Google Shape;268;p8"/>
            <p:cNvCxnSpPr/>
            <p:nvPr/>
          </p:nvCxnSpPr>
          <p:spPr>
            <a:xfrm>
              <a:off x="4194" y="118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8"/>
            <p:cNvCxnSpPr/>
            <p:nvPr/>
          </p:nvCxnSpPr>
          <p:spPr>
            <a:xfrm>
              <a:off x="4305" y="900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8"/>
            <p:cNvCxnSpPr/>
            <p:nvPr/>
          </p:nvCxnSpPr>
          <p:spPr>
            <a:xfrm>
              <a:off x="4553" y="1368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1" name="Google Shape;271;p8"/>
          <p:cNvSpPr txBox="1"/>
          <p:nvPr/>
        </p:nvSpPr>
        <p:spPr>
          <a:xfrm>
            <a:off x="2551112" y="2479675"/>
            <a:ext cx="599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                   (ii)                       (iii)                           (iv)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(a) Some of the subgraph of G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8"/>
          <p:cNvGrpSpPr/>
          <p:nvPr/>
        </p:nvGrpSpPr>
        <p:grpSpPr>
          <a:xfrm>
            <a:off x="2822575" y="3238500"/>
            <a:ext cx="5981700" cy="2190750"/>
            <a:chOff x="924" y="2400"/>
            <a:chExt cx="3768" cy="1380"/>
          </a:xfrm>
        </p:grpSpPr>
        <p:sp>
          <p:nvSpPr>
            <p:cNvPr id="273" name="Google Shape;273;p8"/>
            <p:cNvSpPr/>
            <p:nvPr/>
          </p:nvSpPr>
          <p:spPr>
            <a:xfrm>
              <a:off x="924" y="2448"/>
              <a:ext cx="300" cy="3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" name="Google Shape;274;p8"/>
            <p:cNvGrpSpPr/>
            <p:nvPr/>
          </p:nvGrpSpPr>
          <p:grpSpPr>
            <a:xfrm>
              <a:off x="1848" y="2436"/>
              <a:ext cx="300" cy="828"/>
              <a:chOff x="1692" y="2568"/>
              <a:chExt cx="300" cy="828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1692" y="2568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1692" y="3096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>
              <a:off x="2952" y="2400"/>
              <a:ext cx="300" cy="1380"/>
              <a:chOff x="2940" y="2544"/>
              <a:chExt cx="300" cy="1380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2940" y="2544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2940" y="3072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2940" y="3624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p8"/>
            <p:cNvGrpSpPr/>
            <p:nvPr/>
          </p:nvGrpSpPr>
          <p:grpSpPr>
            <a:xfrm>
              <a:off x="4176" y="2400"/>
              <a:ext cx="300" cy="1380"/>
              <a:chOff x="2940" y="2544"/>
              <a:chExt cx="300" cy="1380"/>
            </a:xfrm>
          </p:grpSpPr>
          <p:sp>
            <p:nvSpPr>
              <p:cNvPr id="282" name="Google Shape;282;p8"/>
              <p:cNvSpPr/>
              <p:nvPr/>
            </p:nvSpPr>
            <p:spPr>
              <a:xfrm>
                <a:off x="2940" y="2544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8"/>
              <p:cNvSpPr/>
              <p:nvPr/>
            </p:nvSpPr>
            <p:spPr>
              <a:xfrm>
                <a:off x="2940" y="3072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2940" y="3624"/>
                <a:ext cx="300" cy="3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85" name="Google Shape;285;p8"/>
            <p:cNvCxnSpPr/>
            <p:nvPr/>
          </p:nvCxnSpPr>
          <p:spPr>
            <a:xfrm>
              <a:off x="2016" y="2772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86" name="Google Shape;286;p8"/>
            <p:cNvCxnSpPr/>
            <p:nvPr/>
          </p:nvCxnSpPr>
          <p:spPr>
            <a:xfrm>
              <a:off x="3132" y="2736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87" name="Google Shape;287;p8"/>
            <p:cNvCxnSpPr/>
            <p:nvPr/>
          </p:nvCxnSpPr>
          <p:spPr>
            <a:xfrm>
              <a:off x="3132" y="326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88" name="Google Shape;288;p8"/>
            <p:cNvSpPr/>
            <p:nvPr/>
          </p:nvSpPr>
          <p:spPr>
            <a:xfrm>
              <a:off x="4016" y="2664"/>
              <a:ext cx="184" cy="360"/>
            </a:xfrm>
            <a:custGeom>
              <a:rect b="b" l="l" r="r" t="t"/>
              <a:pathLst>
                <a:path extrusionOk="0" h="432" w="124">
                  <a:moveTo>
                    <a:pt x="124" y="0"/>
                  </a:moveTo>
                  <a:cubicBezTo>
                    <a:pt x="85" y="36"/>
                    <a:pt x="46" y="72"/>
                    <a:pt x="28" y="120"/>
                  </a:cubicBezTo>
                  <a:cubicBezTo>
                    <a:pt x="10" y="168"/>
                    <a:pt x="0" y="236"/>
                    <a:pt x="16" y="288"/>
                  </a:cubicBezTo>
                  <a:cubicBezTo>
                    <a:pt x="32" y="340"/>
                    <a:pt x="106" y="408"/>
                    <a:pt x="124" y="43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 flipH="1">
              <a:off x="4508" y="2664"/>
              <a:ext cx="184" cy="360"/>
            </a:xfrm>
            <a:custGeom>
              <a:rect b="b" l="l" r="r" t="t"/>
              <a:pathLst>
                <a:path extrusionOk="0" h="432" w="124">
                  <a:moveTo>
                    <a:pt x="124" y="0"/>
                  </a:moveTo>
                  <a:cubicBezTo>
                    <a:pt x="85" y="36"/>
                    <a:pt x="46" y="72"/>
                    <a:pt x="28" y="120"/>
                  </a:cubicBezTo>
                  <a:cubicBezTo>
                    <a:pt x="10" y="168"/>
                    <a:pt x="0" y="236"/>
                    <a:pt x="16" y="288"/>
                  </a:cubicBezTo>
                  <a:cubicBezTo>
                    <a:pt x="32" y="340"/>
                    <a:pt x="106" y="408"/>
                    <a:pt x="124" y="43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0" name="Google Shape;290;p8"/>
          <p:cNvSpPr txBox="1"/>
          <p:nvPr/>
        </p:nvSpPr>
        <p:spPr>
          <a:xfrm>
            <a:off x="2797175" y="5478462"/>
            <a:ext cx="59181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                   (ii)                       (iii)                           (iv)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(b) Some of the subgraph of G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8350250" y="4586287"/>
            <a:ext cx="79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2705100" y="4057650"/>
            <a:ext cx="79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427162" y="501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41362" y="1263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2112962" y="1263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1427162" y="18732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8"/>
          <p:cNvCxnSpPr/>
          <p:nvPr/>
        </p:nvCxnSpPr>
        <p:spPr>
          <a:xfrm>
            <a:off x="1649412" y="9525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8" name="Google Shape;298;p8"/>
          <p:cNvCxnSpPr/>
          <p:nvPr/>
        </p:nvCxnSpPr>
        <p:spPr>
          <a:xfrm>
            <a:off x="1192212" y="14859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8"/>
          <p:cNvCxnSpPr/>
          <p:nvPr/>
        </p:nvCxnSpPr>
        <p:spPr>
          <a:xfrm flipH="1">
            <a:off x="1081074" y="87630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8"/>
          <p:cNvCxnSpPr/>
          <p:nvPr/>
        </p:nvCxnSpPr>
        <p:spPr>
          <a:xfrm>
            <a:off x="1801812" y="87630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8"/>
          <p:cNvCxnSpPr/>
          <p:nvPr/>
        </p:nvCxnSpPr>
        <p:spPr>
          <a:xfrm>
            <a:off x="1066800" y="1692275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2" name="Google Shape;302;p8"/>
          <p:cNvCxnSpPr/>
          <p:nvPr/>
        </p:nvCxnSpPr>
        <p:spPr>
          <a:xfrm flipH="1">
            <a:off x="1855812" y="1665287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8"/>
          <p:cNvSpPr txBox="1"/>
          <p:nvPr/>
        </p:nvSpPr>
        <p:spPr>
          <a:xfrm>
            <a:off x="1354137" y="2517775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419225" y="34877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417637" y="45910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433512" y="56102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8"/>
          <p:cNvCxnSpPr/>
          <p:nvPr/>
        </p:nvCxnSpPr>
        <p:spPr>
          <a:xfrm>
            <a:off x="1655762" y="5046662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08" name="Google Shape;308;p8"/>
          <p:cNvCxnSpPr/>
          <p:nvPr/>
        </p:nvCxnSpPr>
        <p:spPr>
          <a:xfrm>
            <a:off x="1833562" y="3876800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09" name="Google Shape;309;p8"/>
          <p:cNvCxnSpPr/>
          <p:nvPr/>
        </p:nvCxnSpPr>
        <p:spPr>
          <a:xfrm>
            <a:off x="1465262" y="3903662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10" name="Google Shape;310;p8"/>
          <p:cNvSpPr txBox="1"/>
          <p:nvPr/>
        </p:nvSpPr>
        <p:spPr>
          <a:xfrm>
            <a:off x="1330325" y="6329362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 txBox="1"/>
          <p:nvPr>
            <p:ph idx="4294967295" type="title"/>
          </p:nvPr>
        </p:nvSpPr>
        <p:spPr>
          <a:xfrm>
            <a:off x="1614487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6.4: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subgraphs of 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(p.261)</a:t>
            </a:r>
            <a:b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800100" y="1381125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path in which all vertices,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 possibly the first and the last, are distinct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simple path in which the first and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last vertices are the same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an undirected graph G, two </a:t>
            </a:r>
            <a:r>
              <a:rPr b="0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are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is a path in G from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undirected </a:t>
            </a:r>
            <a:r>
              <a:rPr b="0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if, for every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 of distinct vertices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there is a path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 txBox="1"/>
          <p:nvPr>
            <p:ph idx="4294967295" type="title"/>
          </p:nvPr>
        </p:nvSpPr>
        <p:spPr>
          <a:xfrm>
            <a:off x="354012" y="30638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Path and Style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2732087" y="18589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2046287" y="26209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417887" y="26209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732087" y="32305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0"/>
          <p:cNvCxnSpPr/>
          <p:nvPr/>
        </p:nvCxnSpPr>
        <p:spPr>
          <a:xfrm>
            <a:off x="2954337" y="2309812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1" name="Google Shape;331;p10"/>
          <p:cNvCxnSpPr/>
          <p:nvPr/>
        </p:nvCxnSpPr>
        <p:spPr>
          <a:xfrm>
            <a:off x="2497137" y="2843212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2" name="Google Shape;332;p10"/>
          <p:cNvCxnSpPr/>
          <p:nvPr/>
        </p:nvCxnSpPr>
        <p:spPr>
          <a:xfrm flipH="1">
            <a:off x="2385999" y="2233612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3" name="Google Shape;333;p10"/>
          <p:cNvCxnSpPr/>
          <p:nvPr/>
        </p:nvCxnSpPr>
        <p:spPr>
          <a:xfrm>
            <a:off x="3106737" y="2233612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4" name="Google Shape;334;p10"/>
          <p:cNvCxnSpPr/>
          <p:nvPr/>
        </p:nvCxnSpPr>
        <p:spPr>
          <a:xfrm>
            <a:off x="2371725" y="3049587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5" name="Google Shape;335;p10"/>
          <p:cNvCxnSpPr/>
          <p:nvPr/>
        </p:nvCxnSpPr>
        <p:spPr>
          <a:xfrm flipH="1">
            <a:off x="3160737" y="3022600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6" name="Google Shape;336;p10"/>
          <p:cNvSpPr/>
          <p:nvPr/>
        </p:nvSpPr>
        <p:spPr>
          <a:xfrm>
            <a:off x="6178550" y="19034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492750" y="26654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864350" y="26654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0"/>
          <p:cNvCxnSpPr/>
          <p:nvPr/>
        </p:nvCxnSpPr>
        <p:spPr>
          <a:xfrm flipH="1">
            <a:off x="5832462" y="2278062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0" name="Google Shape;340;p10"/>
          <p:cNvCxnSpPr/>
          <p:nvPr/>
        </p:nvCxnSpPr>
        <p:spPr>
          <a:xfrm>
            <a:off x="6553200" y="2278062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p10"/>
          <p:cNvSpPr/>
          <p:nvPr/>
        </p:nvSpPr>
        <p:spPr>
          <a:xfrm>
            <a:off x="5110162" y="35623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870575" y="35750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10"/>
          <p:cNvCxnSpPr/>
          <p:nvPr/>
        </p:nvCxnSpPr>
        <p:spPr>
          <a:xfrm flipH="1">
            <a:off x="5337300" y="3106737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10"/>
          <p:cNvCxnSpPr/>
          <p:nvPr/>
        </p:nvCxnSpPr>
        <p:spPr>
          <a:xfrm>
            <a:off x="5788025" y="3121025"/>
            <a:ext cx="298500" cy="45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5" name="Google Shape;345;p10"/>
          <p:cNvSpPr/>
          <p:nvPr/>
        </p:nvSpPr>
        <p:spPr>
          <a:xfrm>
            <a:off x="6515100" y="35639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7259637" y="35623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10"/>
          <p:cNvCxnSpPr/>
          <p:nvPr/>
        </p:nvCxnSpPr>
        <p:spPr>
          <a:xfrm flipH="1">
            <a:off x="6712000" y="3090862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8" name="Google Shape;348;p10"/>
          <p:cNvCxnSpPr/>
          <p:nvPr/>
        </p:nvCxnSpPr>
        <p:spPr>
          <a:xfrm>
            <a:off x="7188200" y="3103562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9" name="Google Shape;349;p10"/>
          <p:cNvSpPr txBox="1"/>
          <p:nvPr/>
        </p:nvSpPr>
        <p:spPr>
          <a:xfrm>
            <a:off x="2659062" y="3875087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6130925" y="4137025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094162" y="1093787"/>
            <a:ext cx="14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5172075" y="4762500"/>
            <a:ext cx="254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(acyclic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893762" y="1981200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an undirected graph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maximal connected subgraph.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graph that is connected and acyclic.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graph is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there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directed path from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also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maximal subgraph that is strongly connected.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 txBox="1"/>
          <p:nvPr>
            <p:ph idx="4294967295" type="title"/>
          </p:nvPr>
        </p:nvSpPr>
        <p:spPr>
          <a:xfrm>
            <a:off x="654050" y="6635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909637" y="0"/>
            <a:ext cx="779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6.5: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graph with two connected components (p.262)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2"/>
          <p:cNvGrpSpPr/>
          <p:nvPr/>
        </p:nvGrpSpPr>
        <p:grpSpPr>
          <a:xfrm>
            <a:off x="1685925" y="1216025"/>
            <a:ext cx="5045075" cy="5048250"/>
            <a:chOff x="578" y="576"/>
            <a:chExt cx="3178" cy="3180"/>
          </a:xfrm>
        </p:grpSpPr>
        <p:sp>
          <p:nvSpPr>
            <p:cNvPr id="369" name="Google Shape;369;p12"/>
            <p:cNvSpPr/>
            <p:nvPr/>
          </p:nvSpPr>
          <p:spPr>
            <a:xfrm>
              <a:off x="1920" y="1332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0" name="Google Shape;370;p12"/>
            <p:cNvCxnSpPr/>
            <p:nvPr/>
          </p:nvCxnSpPr>
          <p:spPr>
            <a:xfrm>
              <a:off x="1728" y="948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1" name="Google Shape;371;p12"/>
            <p:cNvCxnSpPr/>
            <p:nvPr/>
          </p:nvCxnSpPr>
          <p:spPr>
            <a:xfrm flipH="1">
              <a:off x="1716" y="1704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72" name="Google Shape;372;p12"/>
            <p:cNvGrpSpPr/>
            <p:nvPr/>
          </p:nvGrpSpPr>
          <p:grpSpPr>
            <a:xfrm>
              <a:off x="864" y="612"/>
              <a:ext cx="840" cy="1716"/>
              <a:chOff x="852" y="1116"/>
              <a:chExt cx="840" cy="1716"/>
            </a:xfrm>
          </p:grpSpPr>
          <p:sp>
            <p:nvSpPr>
              <p:cNvPr id="373" name="Google Shape;373;p12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2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2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6" name="Google Shape;376;p12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12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78" name="Google Shape;378;p12"/>
            <p:cNvGrpSpPr/>
            <p:nvPr/>
          </p:nvGrpSpPr>
          <p:grpSpPr>
            <a:xfrm>
              <a:off x="2916" y="576"/>
              <a:ext cx="840" cy="1716"/>
              <a:chOff x="852" y="1116"/>
              <a:chExt cx="840" cy="1716"/>
            </a:xfrm>
          </p:grpSpPr>
          <p:sp>
            <p:nvSpPr>
              <p:cNvPr id="379" name="Google Shape;379;p12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2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2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2" name="Google Shape;382;p12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12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84" name="Google Shape;384;p12"/>
            <p:cNvSpPr/>
            <p:nvPr/>
          </p:nvSpPr>
          <p:spPr>
            <a:xfrm>
              <a:off x="2988" y="2940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5" name="Google Shape;385;p12"/>
            <p:cNvCxnSpPr/>
            <p:nvPr/>
          </p:nvCxnSpPr>
          <p:spPr>
            <a:xfrm flipH="1">
              <a:off x="3264" y="2388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6" name="Google Shape;386;p12"/>
            <p:cNvSpPr txBox="1"/>
            <p:nvPr/>
          </p:nvSpPr>
          <p:spPr>
            <a:xfrm>
              <a:off x="578" y="636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="1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2"/>
            <p:cNvSpPr txBox="1"/>
            <p:nvPr/>
          </p:nvSpPr>
          <p:spPr>
            <a:xfrm>
              <a:off x="2668" y="62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b="1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2"/>
            <p:cNvSpPr txBox="1"/>
            <p:nvPr/>
          </p:nvSpPr>
          <p:spPr>
            <a:xfrm>
              <a:off x="1844" y="345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b="1" baseline="-2500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r>
                <a:rPr b="0" i="0" lang="en-US" sz="2400" u="none" cap="none" strike="noStrike">
                  <a:solidFill>
                    <a:srgbClr val="CC33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(not connected)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89" name="Google Shape;389;p12"/>
          <p:cNvCxnSpPr/>
          <p:nvPr/>
        </p:nvCxnSpPr>
        <p:spPr>
          <a:xfrm flipH="1">
            <a:off x="3492612" y="846137"/>
            <a:ext cx="671400" cy="3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0" name="Google Shape;390;p12"/>
          <p:cNvCxnSpPr/>
          <p:nvPr/>
        </p:nvCxnSpPr>
        <p:spPr>
          <a:xfrm>
            <a:off x="5380037" y="828675"/>
            <a:ext cx="565200" cy="24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1" name="Google Shape;391;p12"/>
          <p:cNvSpPr txBox="1"/>
          <p:nvPr/>
        </p:nvSpPr>
        <p:spPr>
          <a:xfrm>
            <a:off x="1576387" y="441325"/>
            <a:ext cx="669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(maximal connected subgraph)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952500" y="285750"/>
            <a:ext cx="740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6.6: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components of 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(p.262)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5106987" y="2319337"/>
            <a:ext cx="685800" cy="66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5106987" y="3843337"/>
            <a:ext cx="685800" cy="66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7183437" y="2300287"/>
            <a:ext cx="685800" cy="666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746750" y="2725737"/>
            <a:ext cx="487371" cy="1257336"/>
          </a:xfrm>
          <a:custGeom>
            <a:rect b="b" l="l" r="r" t="t"/>
            <a:pathLst>
              <a:path extrusionOk="0" fill="none" h="43200" w="23751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</a:path>
              <a:path extrusionOk="0" h="43200" w="23751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  <a:lnTo>
                  <a:pt x="2151" y="21600"/>
                </a:lnTo>
                <a:lnTo>
                  <a:pt x="2150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13"/>
          <p:cNvSpPr/>
          <p:nvPr/>
        </p:nvSpPr>
        <p:spPr>
          <a:xfrm flipH="1">
            <a:off x="4660891" y="2744787"/>
            <a:ext cx="487371" cy="1257336"/>
          </a:xfrm>
          <a:custGeom>
            <a:rect b="b" l="l" r="r" t="t"/>
            <a:pathLst>
              <a:path extrusionOk="0" fill="none" h="43200" w="23751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</a:path>
              <a:path extrusionOk="0" h="43200" w="23751">
                <a:moveTo>
                  <a:pt x="2150" y="0"/>
                </a:moveTo>
                <a:cubicBezTo>
                  <a:pt x="14080" y="0"/>
                  <a:pt x="23751" y="9670"/>
                  <a:pt x="23751" y="21600"/>
                </a:cubicBezTo>
                <a:cubicBezTo>
                  <a:pt x="23751" y="33529"/>
                  <a:pt x="14080" y="43200"/>
                  <a:pt x="2151" y="43200"/>
                </a:cubicBezTo>
                <a:cubicBezTo>
                  <a:pt x="1432" y="43200"/>
                  <a:pt x="714" y="43164"/>
                  <a:pt x="0" y="43092"/>
                </a:cubicBezTo>
                <a:lnTo>
                  <a:pt x="2151" y="21600"/>
                </a:lnTo>
                <a:lnTo>
                  <a:pt x="2150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2073275" y="20066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2071687" y="31099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2087562" y="4129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13"/>
          <p:cNvCxnSpPr/>
          <p:nvPr/>
        </p:nvCxnSpPr>
        <p:spPr>
          <a:xfrm>
            <a:off x="2309812" y="3565525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408" name="Google Shape;408;p13"/>
          <p:cNvCxnSpPr/>
          <p:nvPr/>
        </p:nvCxnSpPr>
        <p:spPr>
          <a:xfrm>
            <a:off x="2487612" y="2395662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409" name="Google Shape;409;p13"/>
          <p:cNvCxnSpPr/>
          <p:nvPr/>
        </p:nvCxnSpPr>
        <p:spPr>
          <a:xfrm>
            <a:off x="2119312" y="2422525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410" name="Google Shape;410;p13"/>
          <p:cNvSpPr txBox="1"/>
          <p:nvPr/>
        </p:nvSpPr>
        <p:spPr>
          <a:xfrm>
            <a:off x="1965325" y="4646612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1087437" y="1270000"/>
            <a:ext cx="29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strongly connected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13"/>
          <p:cNvCxnSpPr/>
          <p:nvPr/>
        </p:nvCxnSpPr>
        <p:spPr>
          <a:xfrm flipH="1">
            <a:off x="5521450" y="1693862"/>
            <a:ext cx="530100" cy="40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3" name="Google Shape;413;p13"/>
          <p:cNvCxnSpPr/>
          <p:nvPr/>
        </p:nvCxnSpPr>
        <p:spPr>
          <a:xfrm>
            <a:off x="6897687" y="1657350"/>
            <a:ext cx="493800" cy="4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4" name="Google Shape;414;p13"/>
          <p:cNvSpPr txBox="1"/>
          <p:nvPr/>
        </p:nvSpPr>
        <p:spPr>
          <a:xfrm>
            <a:off x="4114800" y="876300"/>
            <a:ext cx="5029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connected component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(maximal strongly connected subgraph)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4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974725" y="414337"/>
            <a:ext cx="816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974725" y="1704975"/>
            <a:ext cx="8169300" cy="43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is the number of edges incident to that vertex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directed graph,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number of edges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have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 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number of edges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have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the tail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degree of a vertex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graph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edges, the number of edges 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0537" y="5262562"/>
            <a:ext cx="2446337" cy="1004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 txBox="1"/>
          <p:nvPr/>
        </p:nvSpPr>
        <p:spPr>
          <a:xfrm>
            <a:off x="1423987" y="0"/>
            <a:ext cx="2238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1441450" y="563562"/>
            <a:ext cx="9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6159500" y="827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473700" y="1589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6845300" y="1589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15"/>
          <p:cNvCxnSpPr/>
          <p:nvPr/>
        </p:nvCxnSpPr>
        <p:spPr>
          <a:xfrm flipH="1">
            <a:off x="5813412" y="1201737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15"/>
          <p:cNvCxnSpPr/>
          <p:nvPr/>
        </p:nvCxnSpPr>
        <p:spPr>
          <a:xfrm>
            <a:off x="6534150" y="1201737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7" name="Google Shape;437;p15"/>
          <p:cNvSpPr/>
          <p:nvPr/>
        </p:nvSpPr>
        <p:spPr>
          <a:xfrm>
            <a:off x="5091112" y="24860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5851525" y="24987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15"/>
          <p:cNvCxnSpPr/>
          <p:nvPr/>
        </p:nvCxnSpPr>
        <p:spPr>
          <a:xfrm flipH="1">
            <a:off x="5318250" y="2030412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0" name="Google Shape;440;p15"/>
          <p:cNvCxnSpPr/>
          <p:nvPr/>
        </p:nvCxnSpPr>
        <p:spPr>
          <a:xfrm>
            <a:off x="5768975" y="2044700"/>
            <a:ext cx="298500" cy="45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1" name="Google Shape;441;p15"/>
          <p:cNvSpPr/>
          <p:nvPr/>
        </p:nvSpPr>
        <p:spPr>
          <a:xfrm>
            <a:off x="6496050" y="24876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7240587" y="24860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15"/>
          <p:cNvCxnSpPr/>
          <p:nvPr/>
        </p:nvCxnSpPr>
        <p:spPr>
          <a:xfrm flipH="1">
            <a:off x="6692950" y="2014537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15"/>
          <p:cNvCxnSpPr/>
          <p:nvPr/>
        </p:nvCxnSpPr>
        <p:spPr>
          <a:xfrm>
            <a:off x="7169150" y="2027237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p15"/>
          <p:cNvSpPr txBox="1"/>
          <p:nvPr/>
        </p:nvSpPr>
        <p:spPr>
          <a:xfrm>
            <a:off x="2587625" y="3017837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6111875" y="3060700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2689225" y="83343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 txBox="1"/>
          <p:nvPr/>
        </p:nvSpPr>
        <p:spPr>
          <a:xfrm>
            <a:off x="6234112" y="135890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5510212" y="208121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 txBox="1"/>
          <p:nvPr/>
        </p:nvSpPr>
        <p:spPr>
          <a:xfrm>
            <a:off x="6886575" y="208121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5122862" y="29987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5864225" y="30511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 txBox="1"/>
          <p:nvPr/>
        </p:nvSpPr>
        <p:spPr>
          <a:xfrm>
            <a:off x="6569075" y="303371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 txBox="1"/>
          <p:nvPr/>
        </p:nvSpPr>
        <p:spPr>
          <a:xfrm>
            <a:off x="7362825" y="308610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1400175" y="3854450"/>
            <a:ext cx="193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 txBox="1"/>
          <p:nvPr/>
        </p:nvSpPr>
        <p:spPr>
          <a:xfrm>
            <a:off x="1411287" y="4252912"/>
            <a:ext cx="14859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3908425" y="347027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3906837" y="45735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3922712" y="55927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15"/>
          <p:cNvCxnSpPr/>
          <p:nvPr/>
        </p:nvCxnSpPr>
        <p:spPr>
          <a:xfrm>
            <a:off x="4144962" y="5029200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461" name="Google Shape;461;p15"/>
          <p:cNvCxnSpPr/>
          <p:nvPr/>
        </p:nvCxnSpPr>
        <p:spPr>
          <a:xfrm>
            <a:off x="4322762" y="3859337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462" name="Google Shape;462;p15"/>
          <p:cNvCxnSpPr/>
          <p:nvPr/>
        </p:nvCxnSpPr>
        <p:spPr>
          <a:xfrm>
            <a:off x="3954462" y="3886200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463" name="Google Shape;463;p15"/>
          <p:cNvSpPr txBox="1"/>
          <p:nvPr/>
        </p:nvSpPr>
        <p:spPr>
          <a:xfrm>
            <a:off x="3800475" y="6110287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4652962" y="3492500"/>
            <a:ext cx="151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in:1, out: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5"/>
          <p:cNvSpPr txBox="1"/>
          <p:nvPr/>
        </p:nvSpPr>
        <p:spPr>
          <a:xfrm>
            <a:off x="4670425" y="4568825"/>
            <a:ext cx="158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1, out: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4705350" y="5573712"/>
            <a:ext cx="158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in: 1, out: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2608262" y="12954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1922462" y="20574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3294062" y="20574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2608262" y="26670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15"/>
          <p:cNvCxnSpPr/>
          <p:nvPr/>
        </p:nvCxnSpPr>
        <p:spPr>
          <a:xfrm>
            <a:off x="2830512" y="174625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2" name="Google Shape;472;p15"/>
          <p:cNvCxnSpPr/>
          <p:nvPr/>
        </p:nvCxnSpPr>
        <p:spPr>
          <a:xfrm>
            <a:off x="2373312" y="227965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3" name="Google Shape;473;p15"/>
          <p:cNvCxnSpPr/>
          <p:nvPr/>
        </p:nvCxnSpPr>
        <p:spPr>
          <a:xfrm flipH="1">
            <a:off x="2262174" y="167005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4" name="Google Shape;474;p15"/>
          <p:cNvCxnSpPr/>
          <p:nvPr/>
        </p:nvCxnSpPr>
        <p:spPr>
          <a:xfrm>
            <a:off x="2982912" y="167005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5" name="Google Shape;475;p15"/>
          <p:cNvCxnSpPr/>
          <p:nvPr/>
        </p:nvCxnSpPr>
        <p:spPr>
          <a:xfrm>
            <a:off x="2247900" y="2486025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6" name="Google Shape;476;p15"/>
          <p:cNvCxnSpPr/>
          <p:nvPr/>
        </p:nvCxnSpPr>
        <p:spPr>
          <a:xfrm flipH="1">
            <a:off x="3036912" y="2459037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7" name="Google Shape;477;p15"/>
          <p:cNvSpPr txBox="1"/>
          <p:nvPr/>
        </p:nvSpPr>
        <p:spPr>
          <a:xfrm>
            <a:off x="3659187" y="21351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5"/>
          <p:cNvSpPr txBox="1"/>
          <p:nvPr/>
        </p:nvSpPr>
        <p:spPr>
          <a:xfrm>
            <a:off x="1593850" y="208121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 txBox="1"/>
          <p:nvPr/>
        </p:nvSpPr>
        <p:spPr>
          <a:xfrm>
            <a:off x="2954337" y="29114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 txBox="1"/>
          <p:nvPr/>
        </p:nvSpPr>
        <p:spPr>
          <a:xfrm>
            <a:off x="1246187" y="0"/>
            <a:ext cx="7897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 for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 txBox="1"/>
          <p:nvPr/>
        </p:nvSpPr>
        <p:spPr>
          <a:xfrm>
            <a:off x="987425" y="1054100"/>
            <a:ext cx="815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Graph 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objects: a nonempty set of vertices and a set of undirected edges, where each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is a pair of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functions: for all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∈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Create()::=return an empty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InsertVertex(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)::= return a graph with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inserted.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no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incident 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InsertEdge(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)::= return a graph with new edge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between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DeleteVertex(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)::= return a graph in which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edges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incident to it are removed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DeleteEdge(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)::=return a graph in which the edge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1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is removed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IsEmpty(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)::= if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==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return TRUE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else return 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Adjacent(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)::= return a list of all vertices that are adjacent to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7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 txBox="1"/>
          <p:nvPr/>
        </p:nvSpPr>
        <p:spPr>
          <a:xfrm>
            <a:off x="1292225" y="646112"/>
            <a:ext cx="78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Representations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"/>
          <p:cNvSpPr txBox="1"/>
          <p:nvPr/>
        </p:nvSpPr>
        <p:spPr>
          <a:xfrm>
            <a:off x="1292225" y="2017712"/>
            <a:ext cx="7851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Multilists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8"/>
          <p:cNvSpPr txBox="1"/>
          <p:nvPr/>
        </p:nvSpPr>
        <p:spPr>
          <a:xfrm>
            <a:off x="887412" y="557978"/>
            <a:ext cx="81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 txBox="1"/>
          <p:nvPr/>
        </p:nvSpPr>
        <p:spPr>
          <a:xfrm>
            <a:off x="574896" y="1928122"/>
            <a:ext cx="8991600" cy="4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G=(V,E) be a graph with n vertices.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G is a two-dimensional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by n array, say adj_mat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edge (v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in E(G), adj_mat[i][j]=1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such edge in E(G), adj_mat[i][j]=0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adjacency matrix for an undirected graph is symmetric; the adjacency matrix for a digraph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not be symmetric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9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 txBox="1"/>
          <p:nvPr/>
        </p:nvSpPr>
        <p:spPr>
          <a:xfrm>
            <a:off x="674687" y="0"/>
            <a:ext cx="84693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for Adjacency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562" y="2157412"/>
            <a:ext cx="1709737" cy="176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912" y="2236787"/>
            <a:ext cx="1225550" cy="12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0587" y="2827337"/>
            <a:ext cx="3173412" cy="331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9"/>
          <p:cNvSpPr txBox="1"/>
          <p:nvPr/>
        </p:nvSpPr>
        <p:spPr>
          <a:xfrm>
            <a:off x="1514475" y="3841750"/>
            <a:ext cx="543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9"/>
          <p:cNvSpPr txBox="1"/>
          <p:nvPr/>
        </p:nvSpPr>
        <p:spPr>
          <a:xfrm>
            <a:off x="4002087" y="3629025"/>
            <a:ext cx="543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9"/>
          <p:cNvSpPr txBox="1"/>
          <p:nvPr/>
        </p:nvSpPr>
        <p:spPr>
          <a:xfrm>
            <a:off x="7337425" y="6338887"/>
            <a:ext cx="543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1427162" y="501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741362" y="1263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2112962" y="1263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1427162" y="18732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1" name="Google Shape;521;p19"/>
          <p:cNvCxnSpPr/>
          <p:nvPr/>
        </p:nvCxnSpPr>
        <p:spPr>
          <a:xfrm>
            <a:off x="1649412" y="9525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2" name="Google Shape;522;p19"/>
          <p:cNvCxnSpPr/>
          <p:nvPr/>
        </p:nvCxnSpPr>
        <p:spPr>
          <a:xfrm>
            <a:off x="1192212" y="14859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3" name="Google Shape;523;p19"/>
          <p:cNvCxnSpPr/>
          <p:nvPr/>
        </p:nvCxnSpPr>
        <p:spPr>
          <a:xfrm flipH="1">
            <a:off x="1081074" y="87630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4" name="Google Shape;524;p19"/>
          <p:cNvCxnSpPr/>
          <p:nvPr/>
        </p:nvCxnSpPr>
        <p:spPr>
          <a:xfrm>
            <a:off x="1801812" y="87630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5" name="Google Shape;525;p19"/>
          <p:cNvCxnSpPr/>
          <p:nvPr/>
        </p:nvCxnSpPr>
        <p:spPr>
          <a:xfrm>
            <a:off x="1066800" y="1692275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19"/>
          <p:cNvCxnSpPr/>
          <p:nvPr/>
        </p:nvCxnSpPr>
        <p:spPr>
          <a:xfrm flipH="1">
            <a:off x="1855812" y="1665287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7" name="Google Shape;527;p19"/>
          <p:cNvSpPr/>
          <p:nvPr/>
        </p:nvSpPr>
        <p:spPr>
          <a:xfrm>
            <a:off x="3041650" y="7715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3040062" y="18748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3055937" y="28940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p19"/>
          <p:cNvCxnSpPr/>
          <p:nvPr/>
        </p:nvCxnSpPr>
        <p:spPr>
          <a:xfrm>
            <a:off x="3278187" y="2330450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31" name="Google Shape;531;p19"/>
          <p:cNvCxnSpPr/>
          <p:nvPr/>
        </p:nvCxnSpPr>
        <p:spPr>
          <a:xfrm>
            <a:off x="3455987" y="1160587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32" name="Google Shape;532;p19"/>
          <p:cNvCxnSpPr/>
          <p:nvPr/>
        </p:nvCxnSpPr>
        <p:spPr>
          <a:xfrm>
            <a:off x="3087687" y="1187450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533" name="Google Shape;533;p19"/>
          <p:cNvGrpSpPr/>
          <p:nvPr/>
        </p:nvGrpSpPr>
        <p:grpSpPr>
          <a:xfrm>
            <a:off x="5946775" y="393700"/>
            <a:ext cx="2763831" cy="2780894"/>
            <a:chOff x="638" y="517"/>
            <a:chExt cx="3118" cy="3188"/>
          </a:xfrm>
        </p:grpSpPr>
        <p:sp>
          <p:nvSpPr>
            <p:cNvPr id="534" name="Google Shape;534;p19"/>
            <p:cNvSpPr/>
            <p:nvPr/>
          </p:nvSpPr>
          <p:spPr>
            <a:xfrm>
              <a:off x="1920" y="1332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5" name="Google Shape;535;p19"/>
            <p:cNvCxnSpPr/>
            <p:nvPr/>
          </p:nvCxnSpPr>
          <p:spPr>
            <a:xfrm>
              <a:off x="1728" y="948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6" name="Google Shape;536;p19"/>
            <p:cNvCxnSpPr/>
            <p:nvPr/>
          </p:nvCxnSpPr>
          <p:spPr>
            <a:xfrm flipH="1">
              <a:off x="1716" y="1704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37" name="Google Shape;537;p19"/>
            <p:cNvGrpSpPr/>
            <p:nvPr/>
          </p:nvGrpSpPr>
          <p:grpSpPr>
            <a:xfrm>
              <a:off x="864" y="612"/>
              <a:ext cx="840" cy="1716"/>
              <a:chOff x="852" y="1116"/>
              <a:chExt cx="840" cy="1716"/>
            </a:xfrm>
          </p:grpSpPr>
          <p:sp>
            <p:nvSpPr>
              <p:cNvPr id="538" name="Google Shape;538;p19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19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9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1" name="Google Shape;541;p19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19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543" name="Google Shape;543;p19"/>
            <p:cNvGrpSpPr/>
            <p:nvPr/>
          </p:nvGrpSpPr>
          <p:grpSpPr>
            <a:xfrm>
              <a:off x="2916" y="576"/>
              <a:ext cx="840" cy="1716"/>
              <a:chOff x="852" y="1116"/>
              <a:chExt cx="840" cy="1716"/>
            </a:xfrm>
          </p:grpSpPr>
          <p:sp>
            <p:nvSpPr>
              <p:cNvPr id="544" name="Google Shape;544;p19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9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19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7" name="Google Shape;547;p19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19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49" name="Google Shape;549;p19"/>
            <p:cNvSpPr/>
            <p:nvPr/>
          </p:nvSpPr>
          <p:spPr>
            <a:xfrm>
              <a:off x="2988" y="2940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0" name="Google Shape;550;p19"/>
            <p:cNvCxnSpPr/>
            <p:nvPr/>
          </p:nvCxnSpPr>
          <p:spPr>
            <a:xfrm flipH="1">
              <a:off x="3264" y="2388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1" name="Google Shape;551;p19"/>
            <p:cNvSpPr txBox="1"/>
            <p:nvPr/>
          </p:nvSpPr>
          <p:spPr>
            <a:xfrm>
              <a:off x="638" y="517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2" name="Google Shape;552;p19"/>
            <p:cNvSpPr txBox="1"/>
            <p:nvPr/>
          </p:nvSpPr>
          <p:spPr>
            <a:xfrm>
              <a:off x="2728" y="57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3" name="Google Shape;553;p19"/>
            <p:cNvSpPr txBox="1"/>
            <p:nvPr/>
          </p:nvSpPr>
          <p:spPr>
            <a:xfrm>
              <a:off x="2526" y="34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54" name="Google Shape;554;p19"/>
          <p:cNvCxnSpPr/>
          <p:nvPr/>
        </p:nvCxnSpPr>
        <p:spPr>
          <a:xfrm rot="10800000">
            <a:off x="2152512" y="4127387"/>
            <a:ext cx="563700" cy="100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55" name="Google Shape;555;p19"/>
          <p:cNvCxnSpPr/>
          <p:nvPr/>
        </p:nvCxnSpPr>
        <p:spPr>
          <a:xfrm flipH="1" rot="10800000">
            <a:off x="4886325" y="3933750"/>
            <a:ext cx="935100" cy="130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6" name="Google Shape;556;p19"/>
          <p:cNvSpPr txBox="1"/>
          <p:nvPr/>
        </p:nvSpPr>
        <p:spPr>
          <a:xfrm>
            <a:off x="3028950" y="5168900"/>
            <a:ext cx="146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1125537" y="5780087"/>
            <a:ext cx="2119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undirected: n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directed: n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992187" y="627062"/>
            <a:ext cx="81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Merits of Adjacency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 txBox="1"/>
          <p:nvPr/>
        </p:nvSpPr>
        <p:spPr>
          <a:xfrm>
            <a:off x="992187" y="1998662"/>
            <a:ext cx="8151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adjacency matrix, to determine the connection of vertices is easy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degree of a vertex 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digraph, the row sum is the out_degree, while the column sum is the in_degree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6" name="Google Shape;5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4025" y="2895600"/>
            <a:ext cx="2181225" cy="96361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0"/>
          <p:cNvSpPr txBox="1"/>
          <p:nvPr/>
        </p:nvSpPr>
        <p:spPr>
          <a:xfrm>
            <a:off x="1460500" y="4992687"/>
            <a:ext cx="1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8" name="Google Shape;5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5100" y="4846637"/>
            <a:ext cx="2959101" cy="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0"/>
          <p:cNvSpPr txBox="1"/>
          <p:nvPr/>
        </p:nvSpPr>
        <p:spPr>
          <a:xfrm>
            <a:off x="4865687" y="5097462"/>
            <a:ext cx="1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0" name="Google Shape;5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3137" y="4846637"/>
            <a:ext cx="3175001" cy="9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1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744537" y="309562"/>
            <a:ext cx="8399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for Adjacency 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1"/>
          <p:cNvSpPr txBox="1"/>
          <p:nvPr/>
        </p:nvSpPr>
        <p:spPr>
          <a:xfrm>
            <a:off x="744537" y="2298700"/>
            <a:ext cx="8851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#define MAX_VERTICES 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node *node_pointer;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node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vertex;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struct node *link;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node_pointer graph[MAX_VERTICES];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n=0; /* vertices currently in use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984250" y="1517650"/>
            <a:ext cx="80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row in adjacency matrix is represented as an adjacency list.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2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2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1317625" y="19812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7" name="Google Shape;587;p22"/>
          <p:cNvGrpSpPr/>
          <p:nvPr/>
        </p:nvGrpSpPr>
        <p:grpSpPr>
          <a:xfrm>
            <a:off x="2079625" y="1981200"/>
            <a:ext cx="476250" cy="498475"/>
            <a:chOff x="947" y="1282"/>
            <a:chExt cx="300" cy="314"/>
          </a:xfrm>
        </p:grpSpPr>
        <p:sp>
          <p:nvSpPr>
            <p:cNvPr id="588" name="Google Shape;588;p22"/>
            <p:cNvSpPr txBox="1"/>
            <p:nvPr/>
          </p:nvSpPr>
          <p:spPr>
            <a:xfrm>
              <a:off x="947" y="128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9" name="Google Shape;589;p22"/>
            <p:cNvCxnSpPr/>
            <p:nvPr/>
          </p:nvCxnSpPr>
          <p:spPr>
            <a:xfrm>
              <a:off x="1200" y="129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90" name="Google Shape;590;p22"/>
          <p:cNvGrpSpPr/>
          <p:nvPr/>
        </p:nvGrpSpPr>
        <p:grpSpPr>
          <a:xfrm>
            <a:off x="3070225" y="1981200"/>
            <a:ext cx="476250" cy="498475"/>
            <a:chOff x="1571" y="1282"/>
            <a:chExt cx="300" cy="314"/>
          </a:xfrm>
        </p:grpSpPr>
        <p:sp>
          <p:nvSpPr>
            <p:cNvPr id="591" name="Google Shape;591;p22"/>
            <p:cNvSpPr txBox="1"/>
            <p:nvPr/>
          </p:nvSpPr>
          <p:spPr>
            <a:xfrm>
              <a:off x="1571" y="128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92" name="Google Shape;592;p22"/>
            <p:cNvCxnSpPr/>
            <p:nvPr/>
          </p:nvCxnSpPr>
          <p:spPr>
            <a:xfrm>
              <a:off x="1824" y="129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93" name="Google Shape;593;p22"/>
          <p:cNvGrpSpPr/>
          <p:nvPr/>
        </p:nvGrpSpPr>
        <p:grpSpPr>
          <a:xfrm>
            <a:off x="4060825" y="1981200"/>
            <a:ext cx="476250" cy="498475"/>
            <a:chOff x="2195" y="1282"/>
            <a:chExt cx="300" cy="314"/>
          </a:xfrm>
        </p:grpSpPr>
        <p:sp>
          <p:nvSpPr>
            <p:cNvPr id="594" name="Google Shape;594;p22"/>
            <p:cNvSpPr txBox="1"/>
            <p:nvPr/>
          </p:nvSpPr>
          <p:spPr>
            <a:xfrm>
              <a:off x="2195" y="128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95" name="Google Shape;595;p22"/>
            <p:cNvCxnSpPr/>
            <p:nvPr/>
          </p:nvCxnSpPr>
          <p:spPr>
            <a:xfrm>
              <a:off x="2448" y="129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596" name="Google Shape;596;p22"/>
          <p:cNvCxnSpPr/>
          <p:nvPr/>
        </p:nvCxnSpPr>
        <p:spPr>
          <a:xfrm>
            <a:off x="1566862" y="2155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97" name="Google Shape;597;p22"/>
          <p:cNvCxnSpPr/>
          <p:nvPr/>
        </p:nvCxnSpPr>
        <p:spPr>
          <a:xfrm>
            <a:off x="2557462" y="2155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98" name="Google Shape;598;p22"/>
          <p:cNvCxnSpPr/>
          <p:nvPr/>
        </p:nvCxnSpPr>
        <p:spPr>
          <a:xfrm>
            <a:off x="3548062" y="2155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99" name="Google Shape;599;p22"/>
          <p:cNvCxnSpPr/>
          <p:nvPr/>
        </p:nvCxnSpPr>
        <p:spPr>
          <a:xfrm>
            <a:off x="4462462" y="20034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0" name="Google Shape;600;p22"/>
          <p:cNvSpPr txBox="1"/>
          <p:nvPr/>
        </p:nvSpPr>
        <p:spPr>
          <a:xfrm>
            <a:off x="1317625" y="24384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01" name="Google Shape;601;p22"/>
          <p:cNvGrpSpPr/>
          <p:nvPr/>
        </p:nvGrpSpPr>
        <p:grpSpPr>
          <a:xfrm>
            <a:off x="2079625" y="2438400"/>
            <a:ext cx="476250" cy="498475"/>
            <a:chOff x="947" y="1570"/>
            <a:chExt cx="300" cy="314"/>
          </a:xfrm>
        </p:grpSpPr>
        <p:sp>
          <p:nvSpPr>
            <p:cNvPr id="602" name="Google Shape;602;p22"/>
            <p:cNvSpPr txBox="1"/>
            <p:nvPr/>
          </p:nvSpPr>
          <p:spPr>
            <a:xfrm>
              <a:off x="947" y="157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3" name="Google Shape;603;p22"/>
            <p:cNvCxnSpPr/>
            <p:nvPr/>
          </p:nvCxnSpPr>
          <p:spPr>
            <a:xfrm>
              <a:off x="1200" y="15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04" name="Google Shape;604;p22"/>
          <p:cNvGrpSpPr/>
          <p:nvPr/>
        </p:nvGrpSpPr>
        <p:grpSpPr>
          <a:xfrm>
            <a:off x="3070225" y="2438400"/>
            <a:ext cx="476250" cy="498475"/>
            <a:chOff x="1571" y="1570"/>
            <a:chExt cx="300" cy="314"/>
          </a:xfrm>
        </p:grpSpPr>
        <p:sp>
          <p:nvSpPr>
            <p:cNvPr id="605" name="Google Shape;605;p22"/>
            <p:cNvSpPr txBox="1"/>
            <p:nvPr/>
          </p:nvSpPr>
          <p:spPr>
            <a:xfrm>
              <a:off x="1571" y="157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6" name="Google Shape;606;p22"/>
            <p:cNvCxnSpPr/>
            <p:nvPr/>
          </p:nvCxnSpPr>
          <p:spPr>
            <a:xfrm>
              <a:off x="1824" y="15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07" name="Google Shape;607;p22"/>
          <p:cNvGrpSpPr/>
          <p:nvPr/>
        </p:nvGrpSpPr>
        <p:grpSpPr>
          <a:xfrm>
            <a:off x="4060825" y="2438400"/>
            <a:ext cx="476250" cy="498475"/>
            <a:chOff x="2195" y="1570"/>
            <a:chExt cx="300" cy="314"/>
          </a:xfrm>
        </p:grpSpPr>
        <p:sp>
          <p:nvSpPr>
            <p:cNvPr id="608" name="Google Shape;608;p22"/>
            <p:cNvSpPr txBox="1"/>
            <p:nvPr/>
          </p:nvSpPr>
          <p:spPr>
            <a:xfrm>
              <a:off x="2195" y="157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9" name="Google Shape;609;p22"/>
            <p:cNvCxnSpPr/>
            <p:nvPr/>
          </p:nvCxnSpPr>
          <p:spPr>
            <a:xfrm>
              <a:off x="2448" y="15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10" name="Google Shape;610;p22"/>
          <p:cNvCxnSpPr/>
          <p:nvPr/>
        </p:nvCxnSpPr>
        <p:spPr>
          <a:xfrm>
            <a:off x="1566862" y="2613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11" name="Google Shape;611;p22"/>
          <p:cNvCxnSpPr/>
          <p:nvPr/>
        </p:nvCxnSpPr>
        <p:spPr>
          <a:xfrm>
            <a:off x="2557462" y="2613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12" name="Google Shape;612;p22"/>
          <p:cNvCxnSpPr/>
          <p:nvPr/>
        </p:nvCxnSpPr>
        <p:spPr>
          <a:xfrm>
            <a:off x="3548062" y="2613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13" name="Google Shape;613;p22"/>
          <p:cNvCxnSpPr/>
          <p:nvPr/>
        </p:nvCxnSpPr>
        <p:spPr>
          <a:xfrm>
            <a:off x="4462462" y="24606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4" name="Google Shape;614;p22"/>
          <p:cNvSpPr txBox="1"/>
          <p:nvPr/>
        </p:nvSpPr>
        <p:spPr>
          <a:xfrm>
            <a:off x="1317625" y="28956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15" name="Google Shape;615;p22"/>
          <p:cNvGrpSpPr/>
          <p:nvPr/>
        </p:nvGrpSpPr>
        <p:grpSpPr>
          <a:xfrm>
            <a:off x="2079625" y="2895600"/>
            <a:ext cx="476250" cy="498475"/>
            <a:chOff x="947" y="1858"/>
            <a:chExt cx="300" cy="314"/>
          </a:xfrm>
        </p:grpSpPr>
        <p:sp>
          <p:nvSpPr>
            <p:cNvPr id="616" name="Google Shape;616;p22"/>
            <p:cNvSpPr txBox="1"/>
            <p:nvPr/>
          </p:nvSpPr>
          <p:spPr>
            <a:xfrm>
              <a:off x="947" y="1858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17" name="Google Shape;617;p22"/>
            <p:cNvCxnSpPr/>
            <p:nvPr/>
          </p:nvCxnSpPr>
          <p:spPr>
            <a:xfrm>
              <a:off x="1200" y="187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18" name="Google Shape;618;p22"/>
          <p:cNvGrpSpPr/>
          <p:nvPr/>
        </p:nvGrpSpPr>
        <p:grpSpPr>
          <a:xfrm>
            <a:off x="3070225" y="2895600"/>
            <a:ext cx="476250" cy="498475"/>
            <a:chOff x="1571" y="1858"/>
            <a:chExt cx="300" cy="314"/>
          </a:xfrm>
        </p:grpSpPr>
        <p:sp>
          <p:nvSpPr>
            <p:cNvPr id="619" name="Google Shape;619;p22"/>
            <p:cNvSpPr txBox="1"/>
            <p:nvPr/>
          </p:nvSpPr>
          <p:spPr>
            <a:xfrm>
              <a:off x="1571" y="1858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0" name="Google Shape;620;p22"/>
            <p:cNvCxnSpPr/>
            <p:nvPr/>
          </p:nvCxnSpPr>
          <p:spPr>
            <a:xfrm>
              <a:off x="1824" y="187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21" name="Google Shape;621;p22"/>
          <p:cNvGrpSpPr/>
          <p:nvPr/>
        </p:nvGrpSpPr>
        <p:grpSpPr>
          <a:xfrm>
            <a:off x="4060825" y="2895600"/>
            <a:ext cx="476250" cy="498475"/>
            <a:chOff x="2195" y="1858"/>
            <a:chExt cx="300" cy="314"/>
          </a:xfrm>
        </p:grpSpPr>
        <p:sp>
          <p:nvSpPr>
            <p:cNvPr id="622" name="Google Shape;622;p22"/>
            <p:cNvSpPr txBox="1"/>
            <p:nvPr/>
          </p:nvSpPr>
          <p:spPr>
            <a:xfrm>
              <a:off x="2195" y="1858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3" name="Google Shape;623;p22"/>
            <p:cNvCxnSpPr/>
            <p:nvPr/>
          </p:nvCxnSpPr>
          <p:spPr>
            <a:xfrm>
              <a:off x="2448" y="187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24" name="Google Shape;624;p22"/>
          <p:cNvCxnSpPr/>
          <p:nvPr/>
        </p:nvCxnSpPr>
        <p:spPr>
          <a:xfrm>
            <a:off x="1566862" y="30702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25" name="Google Shape;625;p22"/>
          <p:cNvCxnSpPr/>
          <p:nvPr/>
        </p:nvCxnSpPr>
        <p:spPr>
          <a:xfrm>
            <a:off x="2557462" y="30702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26" name="Google Shape;626;p22"/>
          <p:cNvCxnSpPr/>
          <p:nvPr/>
        </p:nvCxnSpPr>
        <p:spPr>
          <a:xfrm>
            <a:off x="3548062" y="30702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27" name="Google Shape;627;p22"/>
          <p:cNvCxnSpPr/>
          <p:nvPr/>
        </p:nvCxnSpPr>
        <p:spPr>
          <a:xfrm>
            <a:off x="4462462" y="29178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8" name="Google Shape;628;p22"/>
          <p:cNvSpPr txBox="1"/>
          <p:nvPr/>
        </p:nvSpPr>
        <p:spPr>
          <a:xfrm>
            <a:off x="1317625" y="33528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29" name="Google Shape;629;p22"/>
          <p:cNvGrpSpPr/>
          <p:nvPr/>
        </p:nvGrpSpPr>
        <p:grpSpPr>
          <a:xfrm>
            <a:off x="2079625" y="3352800"/>
            <a:ext cx="476250" cy="498475"/>
            <a:chOff x="947" y="2146"/>
            <a:chExt cx="300" cy="314"/>
          </a:xfrm>
        </p:grpSpPr>
        <p:sp>
          <p:nvSpPr>
            <p:cNvPr id="630" name="Google Shape;630;p22"/>
            <p:cNvSpPr txBox="1"/>
            <p:nvPr/>
          </p:nvSpPr>
          <p:spPr>
            <a:xfrm>
              <a:off x="947" y="2146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1" name="Google Shape;631;p22"/>
            <p:cNvCxnSpPr/>
            <p:nvPr/>
          </p:nvCxnSpPr>
          <p:spPr>
            <a:xfrm>
              <a:off x="1200" y="216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32" name="Google Shape;632;p22"/>
          <p:cNvGrpSpPr/>
          <p:nvPr/>
        </p:nvGrpSpPr>
        <p:grpSpPr>
          <a:xfrm>
            <a:off x="3070225" y="3352800"/>
            <a:ext cx="476250" cy="498475"/>
            <a:chOff x="1571" y="2146"/>
            <a:chExt cx="300" cy="314"/>
          </a:xfrm>
        </p:grpSpPr>
        <p:sp>
          <p:nvSpPr>
            <p:cNvPr id="633" name="Google Shape;633;p22"/>
            <p:cNvSpPr txBox="1"/>
            <p:nvPr/>
          </p:nvSpPr>
          <p:spPr>
            <a:xfrm>
              <a:off x="1571" y="2146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4" name="Google Shape;634;p22"/>
            <p:cNvCxnSpPr/>
            <p:nvPr/>
          </p:nvCxnSpPr>
          <p:spPr>
            <a:xfrm>
              <a:off x="1824" y="216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35" name="Google Shape;635;p22"/>
          <p:cNvGrpSpPr/>
          <p:nvPr/>
        </p:nvGrpSpPr>
        <p:grpSpPr>
          <a:xfrm>
            <a:off x="4060825" y="3352800"/>
            <a:ext cx="476250" cy="498475"/>
            <a:chOff x="2195" y="2146"/>
            <a:chExt cx="300" cy="314"/>
          </a:xfrm>
        </p:grpSpPr>
        <p:sp>
          <p:nvSpPr>
            <p:cNvPr id="636" name="Google Shape;636;p22"/>
            <p:cNvSpPr txBox="1"/>
            <p:nvPr/>
          </p:nvSpPr>
          <p:spPr>
            <a:xfrm>
              <a:off x="2195" y="2146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37" name="Google Shape;637;p22"/>
            <p:cNvCxnSpPr/>
            <p:nvPr/>
          </p:nvCxnSpPr>
          <p:spPr>
            <a:xfrm>
              <a:off x="2448" y="216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38" name="Google Shape;638;p22"/>
          <p:cNvCxnSpPr/>
          <p:nvPr/>
        </p:nvCxnSpPr>
        <p:spPr>
          <a:xfrm>
            <a:off x="1566862" y="35274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39" name="Google Shape;639;p22"/>
          <p:cNvCxnSpPr/>
          <p:nvPr/>
        </p:nvCxnSpPr>
        <p:spPr>
          <a:xfrm>
            <a:off x="2557462" y="35274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40" name="Google Shape;640;p22"/>
          <p:cNvCxnSpPr/>
          <p:nvPr/>
        </p:nvCxnSpPr>
        <p:spPr>
          <a:xfrm>
            <a:off x="3548062" y="35274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41" name="Google Shape;641;p22"/>
          <p:cNvCxnSpPr/>
          <p:nvPr/>
        </p:nvCxnSpPr>
        <p:spPr>
          <a:xfrm>
            <a:off x="4462462" y="33750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2" name="Google Shape;642;p22"/>
          <p:cNvSpPr txBox="1"/>
          <p:nvPr/>
        </p:nvSpPr>
        <p:spPr>
          <a:xfrm>
            <a:off x="1317625" y="45720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43" name="Google Shape;643;p22"/>
          <p:cNvGrpSpPr/>
          <p:nvPr/>
        </p:nvGrpSpPr>
        <p:grpSpPr>
          <a:xfrm>
            <a:off x="2079625" y="4572000"/>
            <a:ext cx="476250" cy="498475"/>
            <a:chOff x="947" y="2914"/>
            <a:chExt cx="300" cy="314"/>
          </a:xfrm>
        </p:grpSpPr>
        <p:sp>
          <p:nvSpPr>
            <p:cNvPr id="644" name="Google Shape;644;p22"/>
            <p:cNvSpPr txBox="1"/>
            <p:nvPr/>
          </p:nvSpPr>
          <p:spPr>
            <a:xfrm>
              <a:off x="947" y="2914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45" name="Google Shape;645;p22"/>
            <p:cNvCxnSpPr/>
            <p:nvPr/>
          </p:nvCxnSpPr>
          <p:spPr>
            <a:xfrm>
              <a:off x="1200" y="292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46" name="Google Shape;646;p22"/>
          <p:cNvCxnSpPr/>
          <p:nvPr/>
        </p:nvCxnSpPr>
        <p:spPr>
          <a:xfrm>
            <a:off x="1566862" y="47466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47" name="Google Shape;647;p22"/>
          <p:cNvSpPr txBox="1"/>
          <p:nvPr/>
        </p:nvSpPr>
        <p:spPr>
          <a:xfrm>
            <a:off x="1317625" y="50292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48" name="Google Shape;648;p22"/>
          <p:cNvGrpSpPr/>
          <p:nvPr/>
        </p:nvGrpSpPr>
        <p:grpSpPr>
          <a:xfrm>
            <a:off x="2079625" y="5029200"/>
            <a:ext cx="476250" cy="498475"/>
            <a:chOff x="947" y="3202"/>
            <a:chExt cx="300" cy="314"/>
          </a:xfrm>
        </p:grpSpPr>
        <p:sp>
          <p:nvSpPr>
            <p:cNvPr id="649" name="Google Shape;649;p22"/>
            <p:cNvSpPr txBox="1"/>
            <p:nvPr/>
          </p:nvSpPr>
          <p:spPr>
            <a:xfrm>
              <a:off x="947" y="320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0" name="Google Shape;650;p22"/>
            <p:cNvCxnSpPr/>
            <p:nvPr/>
          </p:nvCxnSpPr>
          <p:spPr>
            <a:xfrm>
              <a:off x="1200" y="321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51" name="Google Shape;651;p22"/>
          <p:cNvGrpSpPr/>
          <p:nvPr/>
        </p:nvGrpSpPr>
        <p:grpSpPr>
          <a:xfrm>
            <a:off x="3070225" y="5029200"/>
            <a:ext cx="476250" cy="498475"/>
            <a:chOff x="1571" y="3202"/>
            <a:chExt cx="300" cy="314"/>
          </a:xfrm>
        </p:grpSpPr>
        <p:sp>
          <p:nvSpPr>
            <p:cNvPr id="652" name="Google Shape;652;p22"/>
            <p:cNvSpPr txBox="1"/>
            <p:nvPr/>
          </p:nvSpPr>
          <p:spPr>
            <a:xfrm>
              <a:off x="1571" y="320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3" name="Google Shape;653;p22"/>
            <p:cNvCxnSpPr/>
            <p:nvPr/>
          </p:nvCxnSpPr>
          <p:spPr>
            <a:xfrm>
              <a:off x="1824" y="321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54" name="Google Shape;654;p22"/>
          <p:cNvCxnSpPr/>
          <p:nvPr/>
        </p:nvCxnSpPr>
        <p:spPr>
          <a:xfrm>
            <a:off x="1566862" y="5203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55" name="Google Shape;655;p22"/>
          <p:cNvCxnSpPr/>
          <p:nvPr/>
        </p:nvCxnSpPr>
        <p:spPr>
          <a:xfrm>
            <a:off x="2557462" y="5203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656" name="Google Shape;656;p22"/>
          <p:cNvSpPr txBox="1"/>
          <p:nvPr/>
        </p:nvSpPr>
        <p:spPr>
          <a:xfrm>
            <a:off x="1317625" y="54864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7" name="Google Shape;657;p22"/>
          <p:cNvCxnSpPr/>
          <p:nvPr/>
        </p:nvCxnSpPr>
        <p:spPr>
          <a:xfrm>
            <a:off x="3471862" y="50514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22"/>
          <p:cNvCxnSpPr/>
          <p:nvPr/>
        </p:nvCxnSpPr>
        <p:spPr>
          <a:xfrm>
            <a:off x="1338262" y="5508625"/>
            <a:ext cx="4572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22"/>
          <p:cNvCxnSpPr/>
          <p:nvPr/>
        </p:nvCxnSpPr>
        <p:spPr>
          <a:xfrm>
            <a:off x="2481262" y="45942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22"/>
          <p:cNvSpPr txBox="1"/>
          <p:nvPr/>
        </p:nvSpPr>
        <p:spPr>
          <a:xfrm>
            <a:off x="5889625" y="19812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61" name="Google Shape;661;p22"/>
          <p:cNvGrpSpPr/>
          <p:nvPr/>
        </p:nvGrpSpPr>
        <p:grpSpPr>
          <a:xfrm>
            <a:off x="6651625" y="1981200"/>
            <a:ext cx="476250" cy="498475"/>
            <a:chOff x="3827" y="1282"/>
            <a:chExt cx="300" cy="314"/>
          </a:xfrm>
        </p:grpSpPr>
        <p:sp>
          <p:nvSpPr>
            <p:cNvPr id="662" name="Google Shape;662;p22"/>
            <p:cNvSpPr txBox="1"/>
            <p:nvPr/>
          </p:nvSpPr>
          <p:spPr>
            <a:xfrm>
              <a:off x="3827" y="128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3" name="Google Shape;663;p22"/>
            <p:cNvCxnSpPr/>
            <p:nvPr/>
          </p:nvCxnSpPr>
          <p:spPr>
            <a:xfrm>
              <a:off x="4080" y="129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64" name="Google Shape;664;p22"/>
          <p:cNvGrpSpPr/>
          <p:nvPr/>
        </p:nvGrpSpPr>
        <p:grpSpPr>
          <a:xfrm>
            <a:off x="7718425" y="1981200"/>
            <a:ext cx="476250" cy="498475"/>
            <a:chOff x="4499" y="1282"/>
            <a:chExt cx="300" cy="314"/>
          </a:xfrm>
        </p:grpSpPr>
        <p:sp>
          <p:nvSpPr>
            <p:cNvPr id="665" name="Google Shape;665;p22"/>
            <p:cNvSpPr txBox="1"/>
            <p:nvPr/>
          </p:nvSpPr>
          <p:spPr>
            <a:xfrm>
              <a:off x="4499" y="128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6" name="Google Shape;666;p22"/>
            <p:cNvCxnSpPr/>
            <p:nvPr/>
          </p:nvCxnSpPr>
          <p:spPr>
            <a:xfrm>
              <a:off x="4752" y="129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67" name="Google Shape;667;p22"/>
          <p:cNvCxnSpPr/>
          <p:nvPr/>
        </p:nvCxnSpPr>
        <p:spPr>
          <a:xfrm>
            <a:off x="6138862" y="2155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68" name="Google Shape;668;p22"/>
          <p:cNvCxnSpPr/>
          <p:nvPr/>
        </p:nvCxnSpPr>
        <p:spPr>
          <a:xfrm>
            <a:off x="7129462" y="2155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69" name="Google Shape;669;p22"/>
          <p:cNvCxnSpPr/>
          <p:nvPr/>
        </p:nvCxnSpPr>
        <p:spPr>
          <a:xfrm>
            <a:off x="8120062" y="20034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0" name="Google Shape;670;p22"/>
          <p:cNvSpPr txBox="1"/>
          <p:nvPr/>
        </p:nvSpPr>
        <p:spPr>
          <a:xfrm>
            <a:off x="5889625" y="24384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71" name="Google Shape;671;p22"/>
          <p:cNvGrpSpPr/>
          <p:nvPr/>
        </p:nvGrpSpPr>
        <p:grpSpPr>
          <a:xfrm>
            <a:off x="6651625" y="2438400"/>
            <a:ext cx="476250" cy="498475"/>
            <a:chOff x="3827" y="1570"/>
            <a:chExt cx="300" cy="314"/>
          </a:xfrm>
        </p:grpSpPr>
        <p:sp>
          <p:nvSpPr>
            <p:cNvPr id="672" name="Google Shape;672;p22"/>
            <p:cNvSpPr txBox="1"/>
            <p:nvPr/>
          </p:nvSpPr>
          <p:spPr>
            <a:xfrm>
              <a:off x="3827" y="157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3" name="Google Shape;673;p22"/>
            <p:cNvCxnSpPr/>
            <p:nvPr/>
          </p:nvCxnSpPr>
          <p:spPr>
            <a:xfrm>
              <a:off x="4080" y="15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74" name="Google Shape;674;p22"/>
          <p:cNvGrpSpPr/>
          <p:nvPr/>
        </p:nvGrpSpPr>
        <p:grpSpPr>
          <a:xfrm>
            <a:off x="7718425" y="2438400"/>
            <a:ext cx="476250" cy="498475"/>
            <a:chOff x="4499" y="1570"/>
            <a:chExt cx="300" cy="314"/>
          </a:xfrm>
        </p:grpSpPr>
        <p:sp>
          <p:nvSpPr>
            <p:cNvPr id="675" name="Google Shape;675;p22"/>
            <p:cNvSpPr txBox="1"/>
            <p:nvPr/>
          </p:nvSpPr>
          <p:spPr>
            <a:xfrm>
              <a:off x="4499" y="157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6" name="Google Shape;676;p22"/>
            <p:cNvCxnSpPr/>
            <p:nvPr/>
          </p:nvCxnSpPr>
          <p:spPr>
            <a:xfrm>
              <a:off x="4752" y="158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77" name="Google Shape;677;p22"/>
          <p:cNvCxnSpPr/>
          <p:nvPr/>
        </p:nvCxnSpPr>
        <p:spPr>
          <a:xfrm>
            <a:off x="6138862" y="2613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78" name="Google Shape;678;p22"/>
          <p:cNvCxnSpPr/>
          <p:nvPr/>
        </p:nvCxnSpPr>
        <p:spPr>
          <a:xfrm>
            <a:off x="7129462" y="2613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79" name="Google Shape;679;p22"/>
          <p:cNvCxnSpPr/>
          <p:nvPr/>
        </p:nvCxnSpPr>
        <p:spPr>
          <a:xfrm>
            <a:off x="8120062" y="24606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0" name="Google Shape;680;p22"/>
          <p:cNvSpPr txBox="1"/>
          <p:nvPr/>
        </p:nvSpPr>
        <p:spPr>
          <a:xfrm>
            <a:off x="5889625" y="28956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81" name="Google Shape;681;p22"/>
          <p:cNvGrpSpPr/>
          <p:nvPr/>
        </p:nvGrpSpPr>
        <p:grpSpPr>
          <a:xfrm>
            <a:off x="6651625" y="2895600"/>
            <a:ext cx="476250" cy="498475"/>
            <a:chOff x="3827" y="1858"/>
            <a:chExt cx="300" cy="314"/>
          </a:xfrm>
        </p:grpSpPr>
        <p:sp>
          <p:nvSpPr>
            <p:cNvPr id="682" name="Google Shape;682;p22"/>
            <p:cNvSpPr txBox="1"/>
            <p:nvPr/>
          </p:nvSpPr>
          <p:spPr>
            <a:xfrm>
              <a:off x="3827" y="1858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3" name="Google Shape;683;p22"/>
            <p:cNvCxnSpPr/>
            <p:nvPr/>
          </p:nvCxnSpPr>
          <p:spPr>
            <a:xfrm>
              <a:off x="4080" y="187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84" name="Google Shape;684;p22"/>
          <p:cNvGrpSpPr/>
          <p:nvPr/>
        </p:nvGrpSpPr>
        <p:grpSpPr>
          <a:xfrm>
            <a:off x="7718425" y="2895600"/>
            <a:ext cx="476250" cy="498475"/>
            <a:chOff x="4499" y="1858"/>
            <a:chExt cx="300" cy="314"/>
          </a:xfrm>
        </p:grpSpPr>
        <p:sp>
          <p:nvSpPr>
            <p:cNvPr id="685" name="Google Shape;685;p22"/>
            <p:cNvSpPr txBox="1"/>
            <p:nvPr/>
          </p:nvSpPr>
          <p:spPr>
            <a:xfrm>
              <a:off x="4499" y="1858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86" name="Google Shape;686;p22"/>
            <p:cNvCxnSpPr/>
            <p:nvPr/>
          </p:nvCxnSpPr>
          <p:spPr>
            <a:xfrm>
              <a:off x="4752" y="187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87" name="Google Shape;687;p22"/>
          <p:cNvCxnSpPr/>
          <p:nvPr/>
        </p:nvCxnSpPr>
        <p:spPr>
          <a:xfrm>
            <a:off x="6138862" y="30702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88" name="Google Shape;688;p22"/>
          <p:cNvCxnSpPr/>
          <p:nvPr/>
        </p:nvCxnSpPr>
        <p:spPr>
          <a:xfrm>
            <a:off x="7129462" y="30702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89" name="Google Shape;689;p22"/>
          <p:cNvCxnSpPr/>
          <p:nvPr/>
        </p:nvCxnSpPr>
        <p:spPr>
          <a:xfrm>
            <a:off x="8120062" y="29178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0" name="Google Shape;690;p22"/>
          <p:cNvSpPr txBox="1"/>
          <p:nvPr/>
        </p:nvSpPr>
        <p:spPr>
          <a:xfrm>
            <a:off x="5889625" y="33528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91" name="Google Shape;691;p22"/>
          <p:cNvGrpSpPr/>
          <p:nvPr/>
        </p:nvGrpSpPr>
        <p:grpSpPr>
          <a:xfrm>
            <a:off x="6651625" y="3352800"/>
            <a:ext cx="476250" cy="498475"/>
            <a:chOff x="3827" y="2146"/>
            <a:chExt cx="300" cy="314"/>
          </a:xfrm>
        </p:grpSpPr>
        <p:sp>
          <p:nvSpPr>
            <p:cNvPr id="692" name="Google Shape;692;p22"/>
            <p:cNvSpPr txBox="1"/>
            <p:nvPr/>
          </p:nvSpPr>
          <p:spPr>
            <a:xfrm>
              <a:off x="3827" y="2146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3" name="Google Shape;693;p22"/>
            <p:cNvCxnSpPr/>
            <p:nvPr/>
          </p:nvCxnSpPr>
          <p:spPr>
            <a:xfrm>
              <a:off x="4080" y="216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94" name="Google Shape;694;p22"/>
          <p:cNvGrpSpPr/>
          <p:nvPr/>
        </p:nvGrpSpPr>
        <p:grpSpPr>
          <a:xfrm>
            <a:off x="7718425" y="3352800"/>
            <a:ext cx="476250" cy="498475"/>
            <a:chOff x="4499" y="2146"/>
            <a:chExt cx="300" cy="314"/>
          </a:xfrm>
        </p:grpSpPr>
        <p:sp>
          <p:nvSpPr>
            <p:cNvPr id="695" name="Google Shape;695;p22"/>
            <p:cNvSpPr txBox="1"/>
            <p:nvPr/>
          </p:nvSpPr>
          <p:spPr>
            <a:xfrm>
              <a:off x="4499" y="2146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6" name="Google Shape;696;p22"/>
            <p:cNvCxnSpPr/>
            <p:nvPr/>
          </p:nvCxnSpPr>
          <p:spPr>
            <a:xfrm>
              <a:off x="4752" y="2160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97" name="Google Shape;697;p22"/>
          <p:cNvCxnSpPr/>
          <p:nvPr/>
        </p:nvCxnSpPr>
        <p:spPr>
          <a:xfrm>
            <a:off x="6138862" y="35274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98" name="Google Shape;698;p22"/>
          <p:cNvCxnSpPr/>
          <p:nvPr/>
        </p:nvCxnSpPr>
        <p:spPr>
          <a:xfrm>
            <a:off x="7129462" y="35274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699" name="Google Shape;699;p22"/>
          <p:cNvCxnSpPr/>
          <p:nvPr/>
        </p:nvCxnSpPr>
        <p:spPr>
          <a:xfrm>
            <a:off x="8120062" y="33750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0" name="Google Shape;700;p22"/>
          <p:cNvSpPr txBox="1"/>
          <p:nvPr/>
        </p:nvSpPr>
        <p:spPr>
          <a:xfrm>
            <a:off x="5889625" y="38100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01" name="Google Shape;701;p22"/>
          <p:cNvGrpSpPr/>
          <p:nvPr/>
        </p:nvGrpSpPr>
        <p:grpSpPr>
          <a:xfrm>
            <a:off x="6651625" y="3810000"/>
            <a:ext cx="476250" cy="498475"/>
            <a:chOff x="3827" y="2434"/>
            <a:chExt cx="300" cy="314"/>
          </a:xfrm>
        </p:grpSpPr>
        <p:sp>
          <p:nvSpPr>
            <p:cNvPr id="702" name="Google Shape;702;p22"/>
            <p:cNvSpPr txBox="1"/>
            <p:nvPr/>
          </p:nvSpPr>
          <p:spPr>
            <a:xfrm>
              <a:off x="3827" y="2434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3" name="Google Shape;703;p22"/>
            <p:cNvCxnSpPr/>
            <p:nvPr/>
          </p:nvCxnSpPr>
          <p:spPr>
            <a:xfrm>
              <a:off x="4080" y="244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04" name="Google Shape;704;p22"/>
          <p:cNvCxnSpPr/>
          <p:nvPr/>
        </p:nvCxnSpPr>
        <p:spPr>
          <a:xfrm>
            <a:off x="6138862" y="39846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05" name="Google Shape;705;p22"/>
          <p:cNvCxnSpPr/>
          <p:nvPr/>
        </p:nvCxnSpPr>
        <p:spPr>
          <a:xfrm>
            <a:off x="7053262" y="38322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6" name="Google Shape;706;p22"/>
          <p:cNvSpPr txBox="1"/>
          <p:nvPr/>
        </p:nvSpPr>
        <p:spPr>
          <a:xfrm>
            <a:off x="5889625" y="42672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07" name="Google Shape;707;p22"/>
          <p:cNvGrpSpPr/>
          <p:nvPr/>
        </p:nvGrpSpPr>
        <p:grpSpPr>
          <a:xfrm>
            <a:off x="6651625" y="4267200"/>
            <a:ext cx="476250" cy="498475"/>
            <a:chOff x="3827" y="2722"/>
            <a:chExt cx="300" cy="314"/>
          </a:xfrm>
        </p:grpSpPr>
        <p:sp>
          <p:nvSpPr>
            <p:cNvPr id="708" name="Google Shape;708;p22"/>
            <p:cNvSpPr txBox="1"/>
            <p:nvPr/>
          </p:nvSpPr>
          <p:spPr>
            <a:xfrm>
              <a:off x="3827" y="272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09" name="Google Shape;709;p22"/>
            <p:cNvCxnSpPr/>
            <p:nvPr/>
          </p:nvCxnSpPr>
          <p:spPr>
            <a:xfrm>
              <a:off x="4080" y="273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0" name="Google Shape;710;p22"/>
          <p:cNvGrpSpPr/>
          <p:nvPr/>
        </p:nvGrpSpPr>
        <p:grpSpPr>
          <a:xfrm>
            <a:off x="7718425" y="4267200"/>
            <a:ext cx="476250" cy="498475"/>
            <a:chOff x="4499" y="2722"/>
            <a:chExt cx="300" cy="314"/>
          </a:xfrm>
        </p:grpSpPr>
        <p:sp>
          <p:nvSpPr>
            <p:cNvPr id="711" name="Google Shape;711;p22"/>
            <p:cNvSpPr txBox="1"/>
            <p:nvPr/>
          </p:nvSpPr>
          <p:spPr>
            <a:xfrm>
              <a:off x="4499" y="2722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2" name="Google Shape;712;p22"/>
            <p:cNvCxnSpPr/>
            <p:nvPr/>
          </p:nvCxnSpPr>
          <p:spPr>
            <a:xfrm>
              <a:off x="4752" y="2736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13" name="Google Shape;713;p22"/>
          <p:cNvCxnSpPr/>
          <p:nvPr/>
        </p:nvCxnSpPr>
        <p:spPr>
          <a:xfrm>
            <a:off x="6138862" y="4441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14" name="Google Shape;714;p22"/>
          <p:cNvCxnSpPr/>
          <p:nvPr/>
        </p:nvCxnSpPr>
        <p:spPr>
          <a:xfrm>
            <a:off x="7129462" y="44418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15" name="Google Shape;715;p22"/>
          <p:cNvCxnSpPr/>
          <p:nvPr/>
        </p:nvCxnSpPr>
        <p:spPr>
          <a:xfrm>
            <a:off x="8120062" y="42894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6" name="Google Shape;716;p22"/>
          <p:cNvSpPr txBox="1"/>
          <p:nvPr/>
        </p:nvSpPr>
        <p:spPr>
          <a:xfrm>
            <a:off x="5889625" y="47244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17" name="Google Shape;717;p22"/>
          <p:cNvGrpSpPr/>
          <p:nvPr/>
        </p:nvGrpSpPr>
        <p:grpSpPr>
          <a:xfrm>
            <a:off x="6651625" y="4724400"/>
            <a:ext cx="476250" cy="498475"/>
            <a:chOff x="3827" y="3010"/>
            <a:chExt cx="300" cy="314"/>
          </a:xfrm>
        </p:grpSpPr>
        <p:sp>
          <p:nvSpPr>
            <p:cNvPr id="718" name="Google Shape;718;p22"/>
            <p:cNvSpPr txBox="1"/>
            <p:nvPr/>
          </p:nvSpPr>
          <p:spPr>
            <a:xfrm>
              <a:off x="3827" y="301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19" name="Google Shape;719;p22"/>
            <p:cNvCxnSpPr/>
            <p:nvPr/>
          </p:nvCxnSpPr>
          <p:spPr>
            <a:xfrm>
              <a:off x="4080" y="302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0" name="Google Shape;720;p22"/>
          <p:cNvGrpSpPr/>
          <p:nvPr/>
        </p:nvGrpSpPr>
        <p:grpSpPr>
          <a:xfrm>
            <a:off x="7718425" y="4724400"/>
            <a:ext cx="476250" cy="498475"/>
            <a:chOff x="4499" y="3010"/>
            <a:chExt cx="300" cy="314"/>
          </a:xfrm>
        </p:grpSpPr>
        <p:sp>
          <p:nvSpPr>
            <p:cNvPr id="721" name="Google Shape;721;p22"/>
            <p:cNvSpPr txBox="1"/>
            <p:nvPr/>
          </p:nvSpPr>
          <p:spPr>
            <a:xfrm>
              <a:off x="4499" y="3010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2" name="Google Shape;722;p22"/>
            <p:cNvCxnSpPr/>
            <p:nvPr/>
          </p:nvCxnSpPr>
          <p:spPr>
            <a:xfrm>
              <a:off x="4752" y="3024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23" name="Google Shape;723;p22"/>
          <p:cNvCxnSpPr/>
          <p:nvPr/>
        </p:nvCxnSpPr>
        <p:spPr>
          <a:xfrm>
            <a:off x="6138862" y="4899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24" name="Google Shape;724;p22"/>
          <p:cNvCxnSpPr/>
          <p:nvPr/>
        </p:nvCxnSpPr>
        <p:spPr>
          <a:xfrm>
            <a:off x="7129462" y="48990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25" name="Google Shape;725;p22"/>
          <p:cNvCxnSpPr/>
          <p:nvPr/>
        </p:nvCxnSpPr>
        <p:spPr>
          <a:xfrm>
            <a:off x="8120062" y="47466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6" name="Google Shape;726;p22"/>
          <p:cNvSpPr txBox="1"/>
          <p:nvPr/>
        </p:nvSpPr>
        <p:spPr>
          <a:xfrm>
            <a:off x="5889625" y="5181600"/>
            <a:ext cx="471600" cy="3207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7" name="Google Shape;727;p22"/>
          <p:cNvGrpSpPr/>
          <p:nvPr/>
        </p:nvGrpSpPr>
        <p:grpSpPr>
          <a:xfrm>
            <a:off x="6651625" y="5181600"/>
            <a:ext cx="476250" cy="498475"/>
            <a:chOff x="3827" y="3298"/>
            <a:chExt cx="300" cy="314"/>
          </a:xfrm>
        </p:grpSpPr>
        <p:sp>
          <p:nvSpPr>
            <p:cNvPr id="728" name="Google Shape;728;p22"/>
            <p:cNvSpPr txBox="1"/>
            <p:nvPr/>
          </p:nvSpPr>
          <p:spPr>
            <a:xfrm>
              <a:off x="3827" y="3298"/>
              <a:ext cx="3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29" name="Google Shape;729;p22"/>
            <p:cNvCxnSpPr/>
            <p:nvPr/>
          </p:nvCxnSpPr>
          <p:spPr>
            <a:xfrm>
              <a:off x="4080" y="3312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30" name="Google Shape;730;p22"/>
          <p:cNvCxnSpPr/>
          <p:nvPr/>
        </p:nvCxnSpPr>
        <p:spPr>
          <a:xfrm>
            <a:off x="6138862" y="5356225"/>
            <a:ext cx="53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31" name="Google Shape;731;p22"/>
          <p:cNvCxnSpPr/>
          <p:nvPr/>
        </p:nvCxnSpPr>
        <p:spPr>
          <a:xfrm>
            <a:off x="7053262" y="5203825"/>
            <a:ext cx="304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2" name="Google Shape;732;p22"/>
          <p:cNvSpPr txBox="1"/>
          <p:nvPr/>
        </p:nvSpPr>
        <p:spPr>
          <a:xfrm>
            <a:off x="865187" y="1887537"/>
            <a:ext cx="361800" cy="18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2"/>
          <p:cNvSpPr txBox="1"/>
          <p:nvPr/>
        </p:nvSpPr>
        <p:spPr>
          <a:xfrm>
            <a:off x="865187" y="4478337"/>
            <a:ext cx="3618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2"/>
          <p:cNvSpPr txBox="1"/>
          <p:nvPr/>
        </p:nvSpPr>
        <p:spPr>
          <a:xfrm>
            <a:off x="5360987" y="1955800"/>
            <a:ext cx="3618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2"/>
          <p:cNvSpPr txBox="1"/>
          <p:nvPr/>
        </p:nvSpPr>
        <p:spPr>
          <a:xfrm>
            <a:off x="2076450" y="193040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2"/>
          <p:cNvSpPr txBox="1"/>
          <p:nvPr/>
        </p:nvSpPr>
        <p:spPr>
          <a:xfrm>
            <a:off x="3100387" y="193357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2"/>
          <p:cNvSpPr txBox="1"/>
          <p:nvPr/>
        </p:nvSpPr>
        <p:spPr>
          <a:xfrm>
            <a:off x="4106862" y="193357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2"/>
          <p:cNvSpPr txBox="1"/>
          <p:nvPr/>
        </p:nvSpPr>
        <p:spPr>
          <a:xfrm>
            <a:off x="2092325" y="238125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2"/>
          <p:cNvSpPr txBox="1"/>
          <p:nvPr/>
        </p:nvSpPr>
        <p:spPr>
          <a:xfrm>
            <a:off x="3100387" y="2381250"/>
            <a:ext cx="401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2"/>
          <p:cNvSpPr txBox="1"/>
          <p:nvPr/>
        </p:nvSpPr>
        <p:spPr>
          <a:xfrm>
            <a:off x="4092575" y="238125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2"/>
          <p:cNvSpPr txBox="1"/>
          <p:nvPr/>
        </p:nvSpPr>
        <p:spPr>
          <a:xfrm>
            <a:off x="2092325" y="283051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2"/>
          <p:cNvSpPr txBox="1"/>
          <p:nvPr/>
        </p:nvSpPr>
        <p:spPr>
          <a:xfrm>
            <a:off x="3087687" y="283051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2"/>
          <p:cNvSpPr txBox="1"/>
          <p:nvPr/>
        </p:nvSpPr>
        <p:spPr>
          <a:xfrm>
            <a:off x="4092575" y="283051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2"/>
          <p:cNvSpPr txBox="1"/>
          <p:nvPr/>
        </p:nvSpPr>
        <p:spPr>
          <a:xfrm>
            <a:off x="2092325" y="330676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2"/>
          <p:cNvSpPr txBox="1"/>
          <p:nvPr/>
        </p:nvSpPr>
        <p:spPr>
          <a:xfrm>
            <a:off x="3086100" y="327977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2"/>
          <p:cNvSpPr txBox="1"/>
          <p:nvPr/>
        </p:nvSpPr>
        <p:spPr>
          <a:xfrm>
            <a:off x="4106862" y="327977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2"/>
          <p:cNvSpPr txBox="1"/>
          <p:nvPr/>
        </p:nvSpPr>
        <p:spPr>
          <a:xfrm>
            <a:off x="2743200" y="3819525"/>
            <a:ext cx="543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2"/>
          <p:cNvSpPr txBox="1"/>
          <p:nvPr/>
        </p:nvSpPr>
        <p:spPr>
          <a:xfrm>
            <a:off x="2092325" y="453072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2"/>
          <p:cNvSpPr txBox="1"/>
          <p:nvPr/>
        </p:nvSpPr>
        <p:spPr>
          <a:xfrm>
            <a:off x="2092325" y="496570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2"/>
          <p:cNvSpPr txBox="1"/>
          <p:nvPr/>
        </p:nvSpPr>
        <p:spPr>
          <a:xfrm>
            <a:off x="3098800" y="4967287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2"/>
          <p:cNvSpPr txBox="1"/>
          <p:nvPr/>
        </p:nvSpPr>
        <p:spPr>
          <a:xfrm>
            <a:off x="2306637" y="5724525"/>
            <a:ext cx="543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2"/>
          <p:cNvSpPr txBox="1"/>
          <p:nvPr/>
        </p:nvSpPr>
        <p:spPr>
          <a:xfrm>
            <a:off x="6678612" y="1919287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2"/>
          <p:cNvSpPr txBox="1"/>
          <p:nvPr/>
        </p:nvSpPr>
        <p:spPr>
          <a:xfrm>
            <a:off x="7740650" y="193357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2"/>
          <p:cNvSpPr txBox="1"/>
          <p:nvPr/>
        </p:nvSpPr>
        <p:spPr>
          <a:xfrm>
            <a:off x="6692900" y="238125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2"/>
          <p:cNvSpPr txBox="1"/>
          <p:nvPr/>
        </p:nvSpPr>
        <p:spPr>
          <a:xfrm>
            <a:off x="7739062" y="2382837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2"/>
          <p:cNvSpPr txBox="1"/>
          <p:nvPr/>
        </p:nvSpPr>
        <p:spPr>
          <a:xfrm>
            <a:off x="6680200" y="284321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2"/>
          <p:cNvSpPr txBox="1"/>
          <p:nvPr/>
        </p:nvSpPr>
        <p:spPr>
          <a:xfrm>
            <a:off x="7726362" y="284480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2"/>
          <p:cNvSpPr txBox="1"/>
          <p:nvPr/>
        </p:nvSpPr>
        <p:spPr>
          <a:xfrm>
            <a:off x="6664325" y="329406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2"/>
          <p:cNvSpPr txBox="1"/>
          <p:nvPr/>
        </p:nvSpPr>
        <p:spPr>
          <a:xfrm>
            <a:off x="7753350" y="3294062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2"/>
          <p:cNvSpPr txBox="1"/>
          <p:nvPr/>
        </p:nvSpPr>
        <p:spPr>
          <a:xfrm>
            <a:off x="6678612" y="375602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2"/>
          <p:cNvSpPr txBox="1"/>
          <p:nvPr/>
        </p:nvSpPr>
        <p:spPr>
          <a:xfrm>
            <a:off x="6665912" y="4232275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2"/>
          <p:cNvSpPr txBox="1"/>
          <p:nvPr/>
        </p:nvSpPr>
        <p:spPr>
          <a:xfrm>
            <a:off x="7727950" y="4205287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2"/>
          <p:cNvSpPr txBox="1"/>
          <p:nvPr/>
        </p:nvSpPr>
        <p:spPr>
          <a:xfrm>
            <a:off x="6680200" y="466725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2"/>
          <p:cNvSpPr txBox="1"/>
          <p:nvPr/>
        </p:nvSpPr>
        <p:spPr>
          <a:xfrm>
            <a:off x="7753350" y="4667250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2"/>
          <p:cNvSpPr txBox="1"/>
          <p:nvPr/>
        </p:nvSpPr>
        <p:spPr>
          <a:xfrm>
            <a:off x="6675437" y="5138737"/>
            <a:ext cx="361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2"/>
          <p:cNvSpPr txBox="1"/>
          <p:nvPr/>
        </p:nvSpPr>
        <p:spPr>
          <a:xfrm>
            <a:off x="6702425" y="5629275"/>
            <a:ext cx="543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2"/>
          <p:cNvSpPr/>
          <p:nvPr/>
        </p:nvSpPr>
        <p:spPr>
          <a:xfrm>
            <a:off x="2538412" y="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2"/>
          <p:cNvSpPr/>
          <p:nvPr/>
        </p:nvSpPr>
        <p:spPr>
          <a:xfrm>
            <a:off x="1852612" y="7620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2"/>
          <p:cNvSpPr/>
          <p:nvPr/>
        </p:nvSpPr>
        <p:spPr>
          <a:xfrm>
            <a:off x="3224212" y="7620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2"/>
          <p:cNvSpPr/>
          <p:nvPr/>
        </p:nvSpPr>
        <p:spPr>
          <a:xfrm>
            <a:off x="2538412" y="13716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1" name="Google Shape;771;p22"/>
          <p:cNvCxnSpPr/>
          <p:nvPr/>
        </p:nvCxnSpPr>
        <p:spPr>
          <a:xfrm>
            <a:off x="2760662" y="45085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2" name="Google Shape;772;p22"/>
          <p:cNvCxnSpPr/>
          <p:nvPr/>
        </p:nvCxnSpPr>
        <p:spPr>
          <a:xfrm>
            <a:off x="2303462" y="98425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3" name="Google Shape;773;p22"/>
          <p:cNvCxnSpPr/>
          <p:nvPr/>
        </p:nvCxnSpPr>
        <p:spPr>
          <a:xfrm flipH="1">
            <a:off x="2192324" y="37465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4" name="Google Shape;774;p22"/>
          <p:cNvCxnSpPr/>
          <p:nvPr/>
        </p:nvCxnSpPr>
        <p:spPr>
          <a:xfrm>
            <a:off x="2913062" y="37465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5" name="Google Shape;775;p22"/>
          <p:cNvCxnSpPr/>
          <p:nvPr/>
        </p:nvCxnSpPr>
        <p:spPr>
          <a:xfrm>
            <a:off x="2178050" y="1190625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22"/>
          <p:cNvCxnSpPr/>
          <p:nvPr/>
        </p:nvCxnSpPr>
        <p:spPr>
          <a:xfrm flipH="1">
            <a:off x="2967062" y="1163637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7" name="Google Shape;777;p22"/>
          <p:cNvSpPr/>
          <p:nvPr/>
        </p:nvSpPr>
        <p:spPr>
          <a:xfrm>
            <a:off x="4311650" y="38227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2"/>
          <p:cNvSpPr/>
          <p:nvPr/>
        </p:nvSpPr>
        <p:spPr>
          <a:xfrm>
            <a:off x="4310062" y="49260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4325937" y="59451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22"/>
          <p:cNvCxnSpPr/>
          <p:nvPr/>
        </p:nvCxnSpPr>
        <p:spPr>
          <a:xfrm>
            <a:off x="4548187" y="5381625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81" name="Google Shape;781;p22"/>
          <p:cNvCxnSpPr/>
          <p:nvPr/>
        </p:nvCxnSpPr>
        <p:spPr>
          <a:xfrm>
            <a:off x="4725987" y="4211762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782" name="Google Shape;782;p22"/>
          <p:cNvCxnSpPr/>
          <p:nvPr/>
        </p:nvCxnSpPr>
        <p:spPr>
          <a:xfrm>
            <a:off x="4357687" y="4238625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grpSp>
        <p:nvGrpSpPr>
          <p:cNvPr id="783" name="Google Shape;783;p22"/>
          <p:cNvGrpSpPr/>
          <p:nvPr/>
        </p:nvGrpSpPr>
        <p:grpSpPr>
          <a:xfrm>
            <a:off x="5521325" y="0"/>
            <a:ext cx="2748609" cy="2178421"/>
            <a:chOff x="636" y="409"/>
            <a:chExt cx="3120" cy="3518"/>
          </a:xfrm>
        </p:grpSpPr>
        <p:sp>
          <p:nvSpPr>
            <p:cNvPr id="784" name="Google Shape;784;p22"/>
            <p:cNvSpPr/>
            <p:nvPr/>
          </p:nvSpPr>
          <p:spPr>
            <a:xfrm>
              <a:off x="1920" y="1332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5" name="Google Shape;785;p22"/>
            <p:cNvCxnSpPr/>
            <p:nvPr/>
          </p:nvCxnSpPr>
          <p:spPr>
            <a:xfrm>
              <a:off x="1728" y="948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6" name="Google Shape;786;p22"/>
            <p:cNvCxnSpPr/>
            <p:nvPr/>
          </p:nvCxnSpPr>
          <p:spPr>
            <a:xfrm flipH="1">
              <a:off x="1716" y="1704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87" name="Google Shape;787;p22"/>
            <p:cNvGrpSpPr/>
            <p:nvPr/>
          </p:nvGrpSpPr>
          <p:grpSpPr>
            <a:xfrm>
              <a:off x="864" y="612"/>
              <a:ext cx="840" cy="1716"/>
              <a:chOff x="852" y="1116"/>
              <a:chExt cx="840" cy="1716"/>
            </a:xfrm>
          </p:grpSpPr>
          <p:sp>
            <p:nvSpPr>
              <p:cNvPr id="788" name="Google Shape;788;p22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1" name="Google Shape;791;p22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22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93" name="Google Shape;793;p22"/>
            <p:cNvGrpSpPr/>
            <p:nvPr/>
          </p:nvGrpSpPr>
          <p:grpSpPr>
            <a:xfrm>
              <a:off x="2916" y="576"/>
              <a:ext cx="840" cy="1716"/>
              <a:chOff x="852" y="1116"/>
              <a:chExt cx="840" cy="1716"/>
            </a:xfrm>
          </p:grpSpPr>
          <p:sp>
            <p:nvSpPr>
              <p:cNvPr id="794" name="Google Shape;794;p22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2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2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7" name="Google Shape;797;p22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22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99" name="Google Shape;799;p22"/>
            <p:cNvSpPr/>
            <p:nvPr/>
          </p:nvSpPr>
          <p:spPr>
            <a:xfrm>
              <a:off x="2988" y="2940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0" name="Google Shape;800;p22"/>
            <p:cNvCxnSpPr/>
            <p:nvPr/>
          </p:nvCxnSpPr>
          <p:spPr>
            <a:xfrm flipH="1">
              <a:off x="3264" y="2388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01" name="Google Shape;801;p22"/>
            <p:cNvSpPr txBox="1"/>
            <p:nvPr/>
          </p:nvSpPr>
          <p:spPr>
            <a:xfrm>
              <a:off x="636" y="409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2" name="Google Shape;802;p22"/>
            <p:cNvSpPr txBox="1"/>
            <p:nvPr/>
          </p:nvSpPr>
          <p:spPr>
            <a:xfrm>
              <a:off x="2726" y="494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3" name="Google Shape;803;p22"/>
            <p:cNvSpPr txBox="1"/>
            <p:nvPr/>
          </p:nvSpPr>
          <p:spPr>
            <a:xfrm>
              <a:off x="2525" y="3327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04" name="Google Shape;804;p22"/>
          <p:cNvSpPr txBox="1"/>
          <p:nvPr/>
        </p:nvSpPr>
        <p:spPr>
          <a:xfrm>
            <a:off x="428625" y="6461125"/>
            <a:ext cx="8715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undirected graph with 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and 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 ==&gt;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head nodes and </a:t>
            </a: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23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3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3"/>
          <p:cNvSpPr txBox="1"/>
          <p:nvPr>
            <p:ph type="title"/>
          </p:nvPr>
        </p:nvSpPr>
        <p:spPr>
          <a:xfrm>
            <a:off x="728662" y="27146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Interesting Operations</a:t>
            </a:r>
            <a:endParaRPr/>
          </a:p>
        </p:txBody>
      </p:sp>
      <p:sp>
        <p:nvSpPr>
          <p:cNvPr id="812" name="Google Shape;812;p23"/>
          <p:cNvSpPr txBox="1"/>
          <p:nvPr/>
        </p:nvSpPr>
        <p:spPr>
          <a:xfrm>
            <a:off x="1085850" y="1457325"/>
            <a:ext cx="80580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22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of a vertex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an undirected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nodes in adjacency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24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edges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determined in O(n+e)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24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out-degree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in a 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of nodes in its adjacency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24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in-degree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vertex in a 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traverse the whole data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4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4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" name="Google Shape;8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575" y="2895600"/>
            <a:ext cx="6738937" cy="36623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0" name="Google Shape;820;p24"/>
          <p:cNvGrpSpPr/>
          <p:nvPr/>
        </p:nvGrpSpPr>
        <p:grpSpPr>
          <a:xfrm>
            <a:off x="777875" y="954087"/>
            <a:ext cx="2748609" cy="2178421"/>
            <a:chOff x="636" y="409"/>
            <a:chExt cx="3120" cy="3518"/>
          </a:xfrm>
        </p:grpSpPr>
        <p:sp>
          <p:nvSpPr>
            <p:cNvPr id="821" name="Google Shape;821;p24"/>
            <p:cNvSpPr/>
            <p:nvPr/>
          </p:nvSpPr>
          <p:spPr>
            <a:xfrm>
              <a:off x="1920" y="1332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2" name="Google Shape;822;p24"/>
            <p:cNvCxnSpPr/>
            <p:nvPr/>
          </p:nvCxnSpPr>
          <p:spPr>
            <a:xfrm>
              <a:off x="1728" y="948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3" name="Google Shape;823;p24"/>
            <p:cNvCxnSpPr/>
            <p:nvPr/>
          </p:nvCxnSpPr>
          <p:spPr>
            <a:xfrm flipH="1">
              <a:off x="1716" y="1704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24" name="Google Shape;824;p24"/>
            <p:cNvGrpSpPr/>
            <p:nvPr/>
          </p:nvGrpSpPr>
          <p:grpSpPr>
            <a:xfrm>
              <a:off x="864" y="612"/>
              <a:ext cx="840" cy="1716"/>
              <a:chOff x="852" y="1116"/>
              <a:chExt cx="840" cy="1716"/>
            </a:xfrm>
          </p:grpSpPr>
          <p:sp>
            <p:nvSpPr>
              <p:cNvPr id="825" name="Google Shape;825;p24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24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24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28" name="Google Shape;828;p24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9" name="Google Shape;829;p24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30" name="Google Shape;830;p24"/>
            <p:cNvGrpSpPr/>
            <p:nvPr/>
          </p:nvGrpSpPr>
          <p:grpSpPr>
            <a:xfrm>
              <a:off x="2916" y="576"/>
              <a:ext cx="840" cy="1716"/>
              <a:chOff x="852" y="1116"/>
              <a:chExt cx="840" cy="1716"/>
            </a:xfrm>
          </p:grpSpPr>
          <p:sp>
            <p:nvSpPr>
              <p:cNvPr id="831" name="Google Shape;831;p24"/>
              <p:cNvSpPr/>
              <p:nvPr/>
            </p:nvSpPr>
            <p:spPr>
              <a:xfrm>
                <a:off x="1356" y="1116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24"/>
              <p:cNvSpPr/>
              <p:nvPr/>
            </p:nvSpPr>
            <p:spPr>
              <a:xfrm>
                <a:off x="852" y="184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24"/>
              <p:cNvSpPr/>
              <p:nvPr/>
            </p:nvSpPr>
            <p:spPr>
              <a:xfrm>
                <a:off x="1392" y="2532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34" name="Google Shape;834;p24"/>
              <p:cNvCxnSpPr/>
              <p:nvPr/>
            </p:nvCxnSpPr>
            <p:spPr>
              <a:xfrm flipH="1">
                <a:off x="1116" y="147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5" name="Google Shape;835;p24"/>
              <p:cNvCxnSpPr/>
              <p:nvPr/>
            </p:nvCxnSpPr>
            <p:spPr>
              <a:xfrm>
                <a:off x="1176" y="2220"/>
                <a:ext cx="3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36" name="Google Shape;836;p24"/>
            <p:cNvSpPr/>
            <p:nvPr/>
          </p:nvSpPr>
          <p:spPr>
            <a:xfrm>
              <a:off x="2988" y="2940"/>
              <a:ext cx="300" cy="3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7" name="Google Shape;837;p24"/>
            <p:cNvCxnSpPr/>
            <p:nvPr/>
          </p:nvCxnSpPr>
          <p:spPr>
            <a:xfrm flipH="1">
              <a:off x="3264" y="2388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8" name="Google Shape;838;p24"/>
            <p:cNvSpPr txBox="1"/>
            <p:nvPr/>
          </p:nvSpPr>
          <p:spPr>
            <a:xfrm>
              <a:off x="636" y="409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39" name="Google Shape;839;p24"/>
            <p:cNvSpPr txBox="1"/>
            <p:nvPr/>
          </p:nvSpPr>
          <p:spPr>
            <a:xfrm>
              <a:off x="2726" y="494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0" name="Google Shape;840;p24"/>
            <p:cNvSpPr txBox="1"/>
            <p:nvPr/>
          </p:nvSpPr>
          <p:spPr>
            <a:xfrm>
              <a:off x="2525" y="3327"/>
              <a:ext cx="3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41" name="Google Shape;841;p24"/>
          <p:cNvSpPr txBox="1"/>
          <p:nvPr/>
        </p:nvSpPr>
        <p:spPr>
          <a:xfrm>
            <a:off x="3146425" y="330517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4"/>
          <p:cNvSpPr txBox="1"/>
          <p:nvPr/>
        </p:nvSpPr>
        <p:spPr>
          <a:xfrm>
            <a:off x="3146425" y="413226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4"/>
          <p:cNvSpPr txBox="1"/>
          <p:nvPr/>
        </p:nvSpPr>
        <p:spPr>
          <a:xfrm>
            <a:off x="3148012" y="491013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4"/>
          <p:cNvSpPr txBox="1"/>
          <p:nvPr/>
        </p:nvSpPr>
        <p:spPr>
          <a:xfrm>
            <a:off x="3111500" y="57038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4"/>
          <p:cNvSpPr txBox="1"/>
          <p:nvPr/>
        </p:nvSpPr>
        <p:spPr>
          <a:xfrm>
            <a:off x="5370512" y="32702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4"/>
          <p:cNvSpPr txBox="1"/>
          <p:nvPr/>
        </p:nvSpPr>
        <p:spPr>
          <a:xfrm>
            <a:off x="5370512" y="367506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4"/>
          <p:cNvSpPr txBox="1"/>
          <p:nvPr/>
        </p:nvSpPr>
        <p:spPr>
          <a:xfrm>
            <a:off x="5387975" y="44513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4"/>
          <p:cNvSpPr txBox="1"/>
          <p:nvPr/>
        </p:nvSpPr>
        <p:spPr>
          <a:xfrm>
            <a:off x="5387975" y="526256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4"/>
          <p:cNvSpPr txBox="1"/>
          <p:nvPr/>
        </p:nvSpPr>
        <p:spPr>
          <a:xfrm>
            <a:off x="3857625" y="1296987"/>
            <a:ext cx="5040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node[0] … node[n-1]: starting point for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node[n]: n+2e+1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node[n+1] … node[n+2e]: head node of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4"/>
          <p:cNvSpPr txBox="1"/>
          <p:nvPr>
            <p:ph idx="4294967295" type="title"/>
          </p:nvPr>
        </p:nvSpPr>
        <p:spPr>
          <a:xfrm>
            <a:off x="568325" y="185737"/>
            <a:ext cx="77724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Compact Representation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5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5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5"/>
          <p:cNvSpPr txBox="1"/>
          <p:nvPr/>
        </p:nvSpPr>
        <p:spPr>
          <a:xfrm>
            <a:off x="3081337" y="2363787"/>
            <a:ext cx="762000" cy="17334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8" name="Google Shape;858;p25"/>
          <p:cNvCxnSpPr/>
          <p:nvPr/>
        </p:nvCxnSpPr>
        <p:spPr>
          <a:xfrm>
            <a:off x="3081337" y="2935287"/>
            <a:ext cx="7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9" name="Google Shape;859;p25"/>
          <p:cNvCxnSpPr/>
          <p:nvPr/>
        </p:nvCxnSpPr>
        <p:spPr>
          <a:xfrm>
            <a:off x="3081337" y="3525837"/>
            <a:ext cx="78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0" name="Google Shape;860;p25"/>
          <p:cNvCxnSpPr/>
          <p:nvPr/>
        </p:nvCxnSpPr>
        <p:spPr>
          <a:xfrm>
            <a:off x="3462337" y="2592387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1" name="Google Shape;861;p25"/>
          <p:cNvCxnSpPr/>
          <p:nvPr/>
        </p:nvCxnSpPr>
        <p:spPr>
          <a:xfrm>
            <a:off x="3481387" y="3221037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2" name="Google Shape;862;p25"/>
          <p:cNvCxnSpPr/>
          <p:nvPr/>
        </p:nvCxnSpPr>
        <p:spPr>
          <a:xfrm>
            <a:off x="3481387" y="3811587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3" name="Google Shape;863;p25"/>
          <p:cNvSpPr txBox="1"/>
          <p:nvPr/>
        </p:nvSpPr>
        <p:spPr>
          <a:xfrm>
            <a:off x="2532062" y="2478087"/>
            <a:ext cx="355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5"/>
          <p:cNvSpPr txBox="1"/>
          <p:nvPr/>
        </p:nvSpPr>
        <p:spPr>
          <a:xfrm>
            <a:off x="2646362" y="2470150"/>
            <a:ext cx="311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5"/>
          <p:cNvSpPr txBox="1"/>
          <p:nvPr/>
        </p:nvSpPr>
        <p:spPr>
          <a:xfrm>
            <a:off x="4376737" y="2363787"/>
            <a:ext cx="1809600" cy="47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    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6" name="Google Shape;866;p25"/>
          <p:cNvCxnSpPr/>
          <p:nvPr/>
        </p:nvCxnSpPr>
        <p:spPr>
          <a:xfrm>
            <a:off x="4948237" y="2363787"/>
            <a:ext cx="0" cy="4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7" name="Google Shape;867;p25"/>
          <p:cNvSpPr txBox="1"/>
          <p:nvPr/>
        </p:nvSpPr>
        <p:spPr>
          <a:xfrm>
            <a:off x="4376737" y="3011487"/>
            <a:ext cx="1809600" cy="47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     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5"/>
          <p:cNvSpPr txBox="1"/>
          <p:nvPr/>
        </p:nvSpPr>
        <p:spPr>
          <a:xfrm>
            <a:off x="4357687" y="3621087"/>
            <a:ext cx="1809600" cy="476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    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9" name="Google Shape;869;p25"/>
          <p:cNvCxnSpPr/>
          <p:nvPr/>
        </p:nvCxnSpPr>
        <p:spPr>
          <a:xfrm>
            <a:off x="4948237" y="3621087"/>
            <a:ext cx="0" cy="4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p25"/>
          <p:cNvCxnSpPr/>
          <p:nvPr/>
        </p:nvCxnSpPr>
        <p:spPr>
          <a:xfrm>
            <a:off x="4948237" y="3011487"/>
            <a:ext cx="0" cy="4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1" name="Google Shape;871;p25"/>
          <p:cNvSpPr/>
          <p:nvPr/>
        </p:nvSpPr>
        <p:spPr>
          <a:xfrm>
            <a:off x="1541462" y="19367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5"/>
          <p:cNvSpPr/>
          <p:nvPr/>
        </p:nvSpPr>
        <p:spPr>
          <a:xfrm>
            <a:off x="1539875" y="30400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5"/>
          <p:cNvSpPr/>
          <p:nvPr/>
        </p:nvSpPr>
        <p:spPr>
          <a:xfrm>
            <a:off x="1555750" y="40592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4" name="Google Shape;874;p25"/>
          <p:cNvCxnSpPr/>
          <p:nvPr/>
        </p:nvCxnSpPr>
        <p:spPr>
          <a:xfrm>
            <a:off x="1778000" y="3495675"/>
            <a:ext cx="0" cy="5589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75" name="Google Shape;875;p25"/>
          <p:cNvCxnSpPr/>
          <p:nvPr/>
        </p:nvCxnSpPr>
        <p:spPr>
          <a:xfrm>
            <a:off x="1955800" y="2325812"/>
            <a:ext cx="0" cy="720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76" name="Google Shape;876;p25"/>
          <p:cNvCxnSpPr/>
          <p:nvPr/>
        </p:nvCxnSpPr>
        <p:spPr>
          <a:xfrm>
            <a:off x="1587500" y="2352675"/>
            <a:ext cx="0" cy="7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877" name="Google Shape;877;p25"/>
          <p:cNvSpPr txBox="1"/>
          <p:nvPr/>
        </p:nvSpPr>
        <p:spPr>
          <a:xfrm>
            <a:off x="1806575" y="5010150"/>
            <a:ext cx="577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in-degree of a vertex in a fast way.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5"/>
          <p:cNvSpPr txBox="1"/>
          <p:nvPr>
            <p:ph idx="4294967295" type="title"/>
          </p:nvPr>
        </p:nvSpPr>
        <p:spPr>
          <a:xfrm>
            <a:off x="354012" y="306387"/>
            <a:ext cx="77724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6.10: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Inverse adjacency list for 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6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6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5" name="Google Shape;885;p26"/>
          <p:cNvGrpSpPr/>
          <p:nvPr/>
        </p:nvGrpSpPr>
        <p:grpSpPr>
          <a:xfrm>
            <a:off x="1106487" y="1890712"/>
            <a:ext cx="6226175" cy="514350"/>
            <a:chOff x="266" y="1020"/>
            <a:chExt cx="3922" cy="324"/>
          </a:xfrm>
        </p:grpSpPr>
        <p:sp>
          <p:nvSpPr>
            <p:cNvPr id="886" name="Google Shape;886;p26"/>
            <p:cNvSpPr txBox="1"/>
            <p:nvPr/>
          </p:nvSpPr>
          <p:spPr>
            <a:xfrm>
              <a:off x="516" y="1020"/>
              <a:ext cx="600" cy="300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7" name="Google Shape;887;p26"/>
            <p:cNvCxnSpPr/>
            <p:nvPr/>
          </p:nvCxnSpPr>
          <p:spPr>
            <a:xfrm>
              <a:off x="900" y="118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888" name="Google Shape;888;p26"/>
            <p:cNvGrpSpPr/>
            <p:nvPr/>
          </p:nvGrpSpPr>
          <p:grpSpPr>
            <a:xfrm>
              <a:off x="1344" y="1032"/>
              <a:ext cx="1176" cy="300"/>
              <a:chOff x="1344" y="1032"/>
              <a:chExt cx="1176" cy="300"/>
            </a:xfrm>
          </p:grpSpPr>
          <p:sp>
            <p:nvSpPr>
              <p:cNvPr id="889" name="Google Shape;889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3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90" name="Google Shape;890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1" name="Google Shape;891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92" name="Google Shape;892;p26"/>
            <p:cNvSpPr txBox="1"/>
            <p:nvPr/>
          </p:nvSpPr>
          <p:spPr>
            <a:xfrm>
              <a:off x="3588" y="1044"/>
              <a:ext cx="6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3" name="Google Shape;893;p26"/>
            <p:cNvCxnSpPr/>
            <p:nvPr/>
          </p:nvCxnSpPr>
          <p:spPr>
            <a:xfrm>
              <a:off x="3900" y="104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94" name="Google Shape;894;p26"/>
            <p:cNvGrpSpPr/>
            <p:nvPr/>
          </p:nvGrpSpPr>
          <p:grpSpPr>
            <a:xfrm>
              <a:off x="2460" y="1032"/>
              <a:ext cx="1176" cy="300"/>
              <a:chOff x="1344" y="1032"/>
              <a:chExt cx="1176" cy="300"/>
            </a:xfrm>
          </p:grpSpPr>
          <p:sp>
            <p:nvSpPr>
              <p:cNvPr id="895" name="Google Shape;895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1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96" name="Google Shape;896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7" name="Google Shape;897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98" name="Google Shape;898;p26"/>
            <p:cNvSpPr txBox="1"/>
            <p:nvPr/>
          </p:nvSpPr>
          <p:spPr>
            <a:xfrm>
              <a:off x="266" y="10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26"/>
          <p:cNvGrpSpPr/>
          <p:nvPr/>
        </p:nvGrpSpPr>
        <p:grpSpPr>
          <a:xfrm>
            <a:off x="1106487" y="2652712"/>
            <a:ext cx="6226175" cy="514350"/>
            <a:chOff x="266" y="1020"/>
            <a:chExt cx="3922" cy="324"/>
          </a:xfrm>
        </p:grpSpPr>
        <p:sp>
          <p:nvSpPr>
            <p:cNvPr id="900" name="Google Shape;900;p26"/>
            <p:cNvSpPr txBox="1"/>
            <p:nvPr/>
          </p:nvSpPr>
          <p:spPr>
            <a:xfrm>
              <a:off x="516" y="1020"/>
              <a:ext cx="600" cy="300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1" name="Google Shape;901;p26"/>
            <p:cNvCxnSpPr/>
            <p:nvPr/>
          </p:nvCxnSpPr>
          <p:spPr>
            <a:xfrm>
              <a:off x="900" y="118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02" name="Google Shape;902;p26"/>
            <p:cNvGrpSpPr/>
            <p:nvPr/>
          </p:nvGrpSpPr>
          <p:grpSpPr>
            <a:xfrm>
              <a:off x="1344" y="1032"/>
              <a:ext cx="1176" cy="300"/>
              <a:chOff x="1344" y="1032"/>
              <a:chExt cx="1176" cy="300"/>
            </a:xfrm>
          </p:grpSpPr>
          <p:sp>
            <p:nvSpPr>
              <p:cNvPr id="903" name="Google Shape;903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2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4" name="Google Shape;904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5" name="Google Shape;905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06" name="Google Shape;906;p26"/>
            <p:cNvSpPr txBox="1"/>
            <p:nvPr/>
          </p:nvSpPr>
          <p:spPr>
            <a:xfrm>
              <a:off x="3588" y="1044"/>
              <a:ext cx="6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3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7" name="Google Shape;907;p26"/>
            <p:cNvCxnSpPr/>
            <p:nvPr/>
          </p:nvCxnSpPr>
          <p:spPr>
            <a:xfrm>
              <a:off x="3900" y="104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08" name="Google Shape;908;p26"/>
            <p:cNvGrpSpPr/>
            <p:nvPr/>
          </p:nvGrpSpPr>
          <p:grpSpPr>
            <a:xfrm>
              <a:off x="2460" y="1032"/>
              <a:ext cx="1176" cy="300"/>
              <a:chOff x="1344" y="1032"/>
              <a:chExt cx="1176" cy="300"/>
            </a:xfrm>
          </p:grpSpPr>
          <p:sp>
            <p:nvSpPr>
              <p:cNvPr id="909" name="Google Shape;909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0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0" name="Google Shape;910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1" name="Google Shape;911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12" name="Google Shape;912;p26"/>
            <p:cNvSpPr txBox="1"/>
            <p:nvPr/>
          </p:nvSpPr>
          <p:spPr>
            <a:xfrm>
              <a:off x="266" y="10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" name="Google Shape;913;p26"/>
          <p:cNvGrpSpPr/>
          <p:nvPr/>
        </p:nvGrpSpPr>
        <p:grpSpPr>
          <a:xfrm>
            <a:off x="1125537" y="3433762"/>
            <a:ext cx="6226175" cy="514350"/>
            <a:chOff x="266" y="1020"/>
            <a:chExt cx="3922" cy="324"/>
          </a:xfrm>
        </p:grpSpPr>
        <p:sp>
          <p:nvSpPr>
            <p:cNvPr id="914" name="Google Shape;914;p26"/>
            <p:cNvSpPr txBox="1"/>
            <p:nvPr/>
          </p:nvSpPr>
          <p:spPr>
            <a:xfrm>
              <a:off x="516" y="1020"/>
              <a:ext cx="600" cy="300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5" name="Google Shape;915;p26"/>
            <p:cNvCxnSpPr/>
            <p:nvPr/>
          </p:nvCxnSpPr>
          <p:spPr>
            <a:xfrm>
              <a:off x="900" y="118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16" name="Google Shape;916;p26"/>
            <p:cNvGrpSpPr/>
            <p:nvPr/>
          </p:nvGrpSpPr>
          <p:grpSpPr>
            <a:xfrm>
              <a:off x="1344" y="1032"/>
              <a:ext cx="1176" cy="300"/>
              <a:chOff x="1344" y="1032"/>
              <a:chExt cx="1176" cy="300"/>
            </a:xfrm>
          </p:grpSpPr>
          <p:sp>
            <p:nvSpPr>
              <p:cNvPr id="917" name="Google Shape;917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3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18" name="Google Shape;918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9" name="Google Shape;919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20" name="Google Shape;920;p26"/>
            <p:cNvSpPr txBox="1"/>
            <p:nvPr/>
          </p:nvSpPr>
          <p:spPr>
            <a:xfrm>
              <a:off x="3588" y="1044"/>
              <a:ext cx="6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1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1" name="Google Shape;921;p26"/>
            <p:cNvCxnSpPr/>
            <p:nvPr/>
          </p:nvCxnSpPr>
          <p:spPr>
            <a:xfrm>
              <a:off x="3900" y="104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22" name="Google Shape;922;p26"/>
            <p:cNvGrpSpPr/>
            <p:nvPr/>
          </p:nvGrpSpPr>
          <p:grpSpPr>
            <a:xfrm>
              <a:off x="2460" y="1032"/>
              <a:ext cx="1176" cy="300"/>
              <a:chOff x="1344" y="1032"/>
              <a:chExt cx="1176" cy="300"/>
            </a:xfrm>
          </p:grpSpPr>
          <p:sp>
            <p:nvSpPr>
              <p:cNvPr id="923" name="Google Shape;923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0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4" name="Google Shape;924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5" name="Google Shape;925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26" name="Google Shape;926;p26"/>
            <p:cNvSpPr txBox="1"/>
            <p:nvPr/>
          </p:nvSpPr>
          <p:spPr>
            <a:xfrm>
              <a:off x="266" y="10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7" name="Google Shape;927;p26"/>
          <p:cNvGrpSpPr/>
          <p:nvPr/>
        </p:nvGrpSpPr>
        <p:grpSpPr>
          <a:xfrm>
            <a:off x="1125537" y="4176712"/>
            <a:ext cx="6226175" cy="514350"/>
            <a:chOff x="266" y="1020"/>
            <a:chExt cx="3922" cy="324"/>
          </a:xfrm>
        </p:grpSpPr>
        <p:sp>
          <p:nvSpPr>
            <p:cNvPr id="928" name="Google Shape;928;p26"/>
            <p:cNvSpPr txBox="1"/>
            <p:nvPr/>
          </p:nvSpPr>
          <p:spPr>
            <a:xfrm>
              <a:off x="516" y="1020"/>
              <a:ext cx="600" cy="300"/>
            </a:xfrm>
            <a:prstGeom prst="rect">
              <a:avLst/>
            </a:prstGeom>
            <a:solidFill>
              <a:srgbClr val="33C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•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9" name="Google Shape;929;p26"/>
            <p:cNvCxnSpPr/>
            <p:nvPr/>
          </p:nvCxnSpPr>
          <p:spPr>
            <a:xfrm>
              <a:off x="900" y="1188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30" name="Google Shape;930;p26"/>
            <p:cNvGrpSpPr/>
            <p:nvPr/>
          </p:nvGrpSpPr>
          <p:grpSpPr>
            <a:xfrm>
              <a:off x="1344" y="1032"/>
              <a:ext cx="1176" cy="300"/>
              <a:chOff x="1344" y="1032"/>
              <a:chExt cx="1176" cy="300"/>
            </a:xfrm>
          </p:grpSpPr>
          <p:sp>
            <p:nvSpPr>
              <p:cNvPr id="931" name="Google Shape;931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2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2" name="Google Shape;932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3" name="Google Shape;933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34" name="Google Shape;934;p26"/>
            <p:cNvSpPr txBox="1"/>
            <p:nvPr/>
          </p:nvSpPr>
          <p:spPr>
            <a:xfrm>
              <a:off x="3588" y="1044"/>
              <a:ext cx="6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0  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NULL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1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5" name="Google Shape;935;p26"/>
            <p:cNvCxnSpPr/>
            <p:nvPr/>
          </p:nvCxnSpPr>
          <p:spPr>
            <a:xfrm>
              <a:off x="3900" y="1044"/>
              <a:ext cx="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36" name="Google Shape;936;p26"/>
            <p:cNvGrpSpPr/>
            <p:nvPr/>
          </p:nvGrpSpPr>
          <p:grpSpPr>
            <a:xfrm>
              <a:off x="2460" y="1032"/>
              <a:ext cx="1176" cy="300"/>
              <a:chOff x="1344" y="1032"/>
              <a:chExt cx="1176" cy="300"/>
            </a:xfrm>
          </p:grpSpPr>
          <p:sp>
            <p:nvSpPr>
              <p:cNvPr id="937" name="Google Shape;937;p26"/>
              <p:cNvSpPr txBox="1"/>
              <p:nvPr/>
            </p:nvSpPr>
            <p:spPr>
              <a:xfrm>
                <a:off x="1344" y="1032"/>
                <a:ext cx="600" cy="3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Times New Roman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1       •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8" name="Google Shape;938;p26"/>
              <p:cNvCxnSpPr/>
              <p:nvPr/>
            </p:nvCxnSpPr>
            <p:spPr>
              <a:xfrm>
                <a:off x="1656" y="1032"/>
                <a:ext cx="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9" name="Google Shape;939;p26"/>
              <p:cNvCxnSpPr/>
              <p:nvPr/>
            </p:nvCxnSpPr>
            <p:spPr>
              <a:xfrm>
                <a:off x="1920" y="1164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40" name="Google Shape;940;p26"/>
            <p:cNvSpPr txBox="1"/>
            <p:nvPr/>
          </p:nvSpPr>
          <p:spPr>
            <a:xfrm>
              <a:off x="266" y="104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" name="Google Shape;941;p26"/>
          <p:cNvSpPr txBox="1"/>
          <p:nvPr/>
        </p:nvSpPr>
        <p:spPr>
          <a:xfrm>
            <a:off x="1411287" y="1463675"/>
            <a:ext cx="2600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headnodes    vertax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6"/>
          <p:cNvSpPr txBox="1"/>
          <p:nvPr/>
        </p:nvSpPr>
        <p:spPr>
          <a:xfrm>
            <a:off x="1465262" y="954087"/>
            <a:ext cx="350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is of no significance.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6"/>
          <p:cNvSpPr/>
          <p:nvPr/>
        </p:nvSpPr>
        <p:spPr>
          <a:xfrm>
            <a:off x="2803525" y="48148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6"/>
          <p:cNvSpPr/>
          <p:nvPr/>
        </p:nvSpPr>
        <p:spPr>
          <a:xfrm>
            <a:off x="2117725" y="55768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6"/>
          <p:cNvSpPr/>
          <p:nvPr/>
        </p:nvSpPr>
        <p:spPr>
          <a:xfrm>
            <a:off x="3489325" y="55768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6"/>
          <p:cNvSpPr/>
          <p:nvPr/>
        </p:nvSpPr>
        <p:spPr>
          <a:xfrm>
            <a:off x="2803525" y="61864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p26"/>
          <p:cNvCxnSpPr/>
          <p:nvPr/>
        </p:nvCxnSpPr>
        <p:spPr>
          <a:xfrm>
            <a:off x="3025775" y="5265737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8" name="Google Shape;948;p26"/>
          <p:cNvCxnSpPr/>
          <p:nvPr/>
        </p:nvCxnSpPr>
        <p:spPr>
          <a:xfrm>
            <a:off x="2568575" y="5799137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26"/>
          <p:cNvCxnSpPr/>
          <p:nvPr/>
        </p:nvCxnSpPr>
        <p:spPr>
          <a:xfrm flipH="1">
            <a:off x="2457437" y="5189537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0" name="Google Shape;950;p26"/>
          <p:cNvCxnSpPr/>
          <p:nvPr/>
        </p:nvCxnSpPr>
        <p:spPr>
          <a:xfrm>
            <a:off x="3178175" y="5189537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1" name="Google Shape;951;p26"/>
          <p:cNvCxnSpPr/>
          <p:nvPr/>
        </p:nvCxnSpPr>
        <p:spPr>
          <a:xfrm>
            <a:off x="2443162" y="6005512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2" name="Google Shape;952;p26"/>
          <p:cNvCxnSpPr/>
          <p:nvPr/>
        </p:nvCxnSpPr>
        <p:spPr>
          <a:xfrm flipH="1">
            <a:off x="3232175" y="5978525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3" name="Google Shape;953;p26"/>
          <p:cNvSpPr txBox="1"/>
          <p:nvPr>
            <p:ph idx="4294967295" type="title"/>
          </p:nvPr>
        </p:nvSpPr>
        <p:spPr>
          <a:xfrm>
            <a:off x="754062" y="292100"/>
            <a:ext cx="77724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6.13: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Alternate order adjacency list for 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(p.268)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7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7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7"/>
          <p:cNvSpPr txBox="1"/>
          <p:nvPr>
            <p:ph type="title"/>
          </p:nvPr>
        </p:nvSpPr>
        <p:spPr>
          <a:xfrm>
            <a:off x="11557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Multilists</a:t>
            </a:r>
            <a:endParaRPr/>
          </a:p>
        </p:txBody>
      </p:sp>
      <p:grpSp>
        <p:nvGrpSpPr>
          <p:cNvPr id="961" name="Google Shape;961;p27"/>
          <p:cNvGrpSpPr/>
          <p:nvPr/>
        </p:nvGrpSpPr>
        <p:grpSpPr>
          <a:xfrm>
            <a:off x="2273300" y="4941887"/>
            <a:ext cx="4765675" cy="503237"/>
            <a:chOff x="910" y="3368"/>
            <a:chExt cx="3002" cy="317"/>
          </a:xfrm>
        </p:grpSpPr>
        <p:sp>
          <p:nvSpPr>
            <p:cNvPr id="962" name="Google Shape;962;p27"/>
            <p:cNvSpPr txBox="1"/>
            <p:nvPr/>
          </p:nvSpPr>
          <p:spPr>
            <a:xfrm>
              <a:off x="912" y="3372"/>
              <a:ext cx="30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63" name="Google Shape;963;p27"/>
            <p:cNvCxnSpPr/>
            <p:nvPr/>
          </p:nvCxnSpPr>
          <p:spPr>
            <a:xfrm>
              <a:off x="1517" y="337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4" name="Google Shape;964;p27"/>
            <p:cNvCxnSpPr/>
            <p:nvPr/>
          </p:nvCxnSpPr>
          <p:spPr>
            <a:xfrm>
              <a:off x="2168" y="337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5" name="Google Shape;965;p27"/>
            <p:cNvCxnSpPr/>
            <p:nvPr/>
          </p:nvCxnSpPr>
          <p:spPr>
            <a:xfrm>
              <a:off x="2785" y="336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6" name="Google Shape;966;p27"/>
            <p:cNvCxnSpPr/>
            <p:nvPr/>
          </p:nvCxnSpPr>
          <p:spPr>
            <a:xfrm>
              <a:off x="3437" y="337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67" name="Google Shape;967;p27"/>
            <p:cNvSpPr txBox="1"/>
            <p:nvPr/>
          </p:nvSpPr>
          <p:spPr>
            <a:xfrm>
              <a:off x="910" y="3385"/>
              <a:ext cx="30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marked    vertex1    vertex2      path1       path2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8" name="Google Shape;968;p27"/>
          <p:cNvSpPr txBox="1"/>
          <p:nvPr/>
        </p:nvSpPr>
        <p:spPr>
          <a:xfrm>
            <a:off x="1157287" y="1143000"/>
            <a:ext cx="7586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22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edge in an undirected graph is represented by two nodes in adjacency list representation.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224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Multilists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lists in which nodes may be shared among several lists. 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(an edge is shared by two different paths)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8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8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8"/>
          <p:cNvSpPr txBox="1"/>
          <p:nvPr/>
        </p:nvSpPr>
        <p:spPr>
          <a:xfrm>
            <a:off x="1274762" y="2238375"/>
            <a:ext cx="1606500" cy="1470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76" name="Google Shape;976;p28"/>
          <p:cNvCxnSpPr/>
          <p:nvPr/>
        </p:nvCxnSpPr>
        <p:spPr>
          <a:xfrm>
            <a:off x="1268412" y="2967037"/>
            <a:ext cx="160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7" name="Google Shape;977;p28"/>
          <p:cNvCxnSpPr/>
          <p:nvPr/>
        </p:nvCxnSpPr>
        <p:spPr>
          <a:xfrm>
            <a:off x="1268412" y="2627312"/>
            <a:ext cx="160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8" name="Google Shape;978;p28"/>
          <p:cNvCxnSpPr/>
          <p:nvPr/>
        </p:nvCxnSpPr>
        <p:spPr>
          <a:xfrm>
            <a:off x="1268412" y="3333750"/>
            <a:ext cx="160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9" name="Google Shape;979;p28"/>
          <p:cNvSpPr txBox="1"/>
          <p:nvPr/>
        </p:nvSpPr>
        <p:spPr>
          <a:xfrm>
            <a:off x="4799012" y="2197100"/>
            <a:ext cx="2341500" cy="395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0" name="Google Shape;980;p28"/>
          <p:cNvCxnSpPr/>
          <p:nvPr/>
        </p:nvCxnSpPr>
        <p:spPr>
          <a:xfrm>
            <a:off x="5119687" y="2205037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1" name="Google Shape;981;p28"/>
          <p:cNvSpPr txBox="1"/>
          <p:nvPr/>
        </p:nvSpPr>
        <p:spPr>
          <a:xfrm>
            <a:off x="5068887" y="2146300"/>
            <a:ext cx="2121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 1   N2  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2" name="Google Shape;982;p28"/>
          <p:cNvCxnSpPr/>
          <p:nvPr/>
        </p:nvCxnSpPr>
        <p:spPr>
          <a:xfrm>
            <a:off x="5527675" y="2190750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3" name="Google Shape;983;p28"/>
          <p:cNvCxnSpPr/>
          <p:nvPr/>
        </p:nvCxnSpPr>
        <p:spPr>
          <a:xfrm>
            <a:off x="5908675" y="2190750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4" name="Google Shape;984;p28"/>
          <p:cNvCxnSpPr/>
          <p:nvPr/>
        </p:nvCxnSpPr>
        <p:spPr>
          <a:xfrm>
            <a:off x="6562725" y="2205037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5" name="Google Shape;985;p28"/>
          <p:cNvCxnSpPr/>
          <p:nvPr/>
        </p:nvCxnSpPr>
        <p:spPr>
          <a:xfrm>
            <a:off x="4806950" y="2190750"/>
            <a:ext cx="298500" cy="4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6" name="Google Shape;986;p28"/>
          <p:cNvCxnSpPr/>
          <p:nvPr/>
        </p:nvCxnSpPr>
        <p:spPr>
          <a:xfrm flipH="1">
            <a:off x="4792799" y="2205037"/>
            <a:ext cx="3126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7" name="Google Shape;987;p28"/>
          <p:cNvSpPr txBox="1"/>
          <p:nvPr/>
        </p:nvSpPr>
        <p:spPr>
          <a:xfrm>
            <a:off x="4787900" y="2825750"/>
            <a:ext cx="2341500" cy="395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8" name="Google Shape;988;p28"/>
          <p:cNvCxnSpPr/>
          <p:nvPr/>
        </p:nvCxnSpPr>
        <p:spPr>
          <a:xfrm>
            <a:off x="5108575" y="2833687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9" name="Google Shape;989;p28"/>
          <p:cNvSpPr txBox="1"/>
          <p:nvPr/>
        </p:nvSpPr>
        <p:spPr>
          <a:xfrm>
            <a:off x="5057775" y="2774950"/>
            <a:ext cx="2121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 2   N3  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0" name="Google Shape;990;p28"/>
          <p:cNvCxnSpPr/>
          <p:nvPr/>
        </p:nvCxnSpPr>
        <p:spPr>
          <a:xfrm>
            <a:off x="5516562" y="2819400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1" name="Google Shape;991;p28"/>
          <p:cNvCxnSpPr/>
          <p:nvPr/>
        </p:nvCxnSpPr>
        <p:spPr>
          <a:xfrm>
            <a:off x="5897562" y="2819400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2" name="Google Shape;992;p28"/>
          <p:cNvCxnSpPr/>
          <p:nvPr/>
        </p:nvCxnSpPr>
        <p:spPr>
          <a:xfrm>
            <a:off x="6551612" y="2833687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3" name="Google Shape;993;p28"/>
          <p:cNvCxnSpPr/>
          <p:nvPr/>
        </p:nvCxnSpPr>
        <p:spPr>
          <a:xfrm>
            <a:off x="4795837" y="2819400"/>
            <a:ext cx="298500" cy="4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4" name="Google Shape;994;p28"/>
          <p:cNvCxnSpPr/>
          <p:nvPr/>
        </p:nvCxnSpPr>
        <p:spPr>
          <a:xfrm flipH="1">
            <a:off x="4781687" y="2833687"/>
            <a:ext cx="3126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5" name="Google Shape;995;p28"/>
          <p:cNvSpPr txBox="1"/>
          <p:nvPr/>
        </p:nvSpPr>
        <p:spPr>
          <a:xfrm>
            <a:off x="4786312" y="3436937"/>
            <a:ext cx="2341500" cy="395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6" name="Google Shape;996;p28"/>
          <p:cNvCxnSpPr/>
          <p:nvPr/>
        </p:nvCxnSpPr>
        <p:spPr>
          <a:xfrm>
            <a:off x="5106987" y="3444875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7" name="Google Shape;997;p28"/>
          <p:cNvSpPr txBox="1"/>
          <p:nvPr/>
        </p:nvSpPr>
        <p:spPr>
          <a:xfrm>
            <a:off x="5056187" y="3386137"/>
            <a:ext cx="2130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 3          N5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8" name="Google Shape;998;p28"/>
          <p:cNvCxnSpPr/>
          <p:nvPr/>
        </p:nvCxnSpPr>
        <p:spPr>
          <a:xfrm>
            <a:off x="5514975" y="3430587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9" name="Google Shape;999;p28"/>
          <p:cNvCxnSpPr/>
          <p:nvPr/>
        </p:nvCxnSpPr>
        <p:spPr>
          <a:xfrm>
            <a:off x="5895975" y="3430587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0" name="Google Shape;1000;p28"/>
          <p:cNvCxnSpPr/>
          <p:nvPr/>
        </p:nvCxnSpPr>
        <p:spPr>
          <a:xfrm>
            <a:off x="6550025" y="3444875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1" name="Google Shape;1001;p28"/>
          <p:cNvCxnSpPr/>
          <p:nvPr/>
        </p:nvCxnSpPr>
        <p:spPr>
          <a:xfrm>
            <a:off x="4794250" y="3430587"/>
            <a:ext cx="298500" cy="4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2" name="Google Shape;1002;p28"/>
          <p:cNvCxnSpPr/>
          <p:nvPr/>
        </p:nvCxnSpPr>
        <p:spPr>
          <a:xfrm flipH="1">
            <a:off x="4780099" y="3444875"/>
            <a:ext cx="3126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3" name="Google Shape;1003;p28"/>
          <p:cNvCxnSpPr/>
          <p:nvPr/>
        </p:nvCxnSpPr>
        <p:spPr>
          <a:xfrm rot="10800000">
            <a:off x="5894437" y="3443387"/>
            <a:ext cx="654000" cy="39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4" name="Google Shape;1004;p28"/>
          <p:cNvSpPr txBox="1"/>
          <p:nvPr/>
        </p:nvSpPr>
        <p:spPr>
          <a:xfrm>
            <a:off x="4789487" y="4103687"/>
            <a:ext cx="2341500" cy="395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5" name="Google Shape;1005;p28"/>
          <p:cNvCxnSpPr/>
          <p:nvPr/>
        </p:nvCxnSpPr>
        <p:spPr>
          <a:xfrm>
            <a:off x="5110162" y="4111625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6" name="Google Shape;1006;p28"/>
          <p:cNvSpPr txBox="1"/>
          <p:nvPr/>
        </p:nvSpPr>
        <p:spPr>
          <a:xfrm>
            <a:off x="5059362" y="4052887"/>
            <a:ext cx="2121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2   N5  N6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7" name="Google Shape;1007;p28"/>
          <p:cNvCxnSpPr/>
          <p:nvPr/>
        </p:nvCxnSpPr>
        <p:spPr>
          <a:xfrm>
            <a:off x="5518150" y="4097337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8" name="Google Shape;1008;p28"/>
          <p:cNvCxnSpPr/>
          <p:nvPr/>
        </p:nvCxnSpPr>
        <p:spPr>
          <a:xfrm>
            <a:off x="5899150" y="4097337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9" name="Google Shape;1009;p28"/>
          <p:cNvCxnSpPr/>
          <p:nvPr/>
        </p:nvCxnSpPr>
        <p:spPr>
          <a:xfrm>
            <a:off x="6553200" y="4111625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0" name="Google Shape;1010;p28"/>
          <p:cNvCxnSpPr/>
          <p:nvPr/>
        </p:nvCxnSpPr>
        <p:spPr>
          <a:xfrm>
            <a:off x="4797425" y="4097337"/>
            <a:ext cx="298500" cy="4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1" name="Google Shape;1011;p28"/>
          <p:cNvCxnSpPr/>
          <p:nvPr/>
        </p:nvCxnSpPr>
        <p:spPr>
          <a:xfrm flipH="1">
            <a:off x="4783274" y="4111625"/>
            <a:ext cx="3126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2" name="Google Shape;1012;p28"/>
          <p:cNvSpPr txBox="1"/>
          <p:nvPr/>
        </p:nvSpPr>
        <p:spPr>
          <a:xfrm>
            <a:off x="4787900" y="4716462"/>
            <a:ext cx="2341500" cy="395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3" name="Google Shape;1013;p28"/>
          <p:cNvCxnSpPr/>
          <p:nvPr/>
        </p:nvCxnSpPr>
        <p:spPr>
          <a:xfrm>
            <a:off x="5108575" y="47244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4" name="Google Shape;1014;p28"/>
          <p:cNvSpPr txBox="1"/>
          <p:nvPr/>
        </p:nvSpPr>
        <p:spPr>
          <a:xfrm>
            <a:off x="5057775" y="4665662"/>
            <a:ext cx="2130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3          N6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5" name="Google Shape;1015;p28"/>
          <p:cNvCxnSpPr/>
          <p:nvPr/>
        </p:nvCxnSpPr>
        <p:spPr>
          <a:xfrm>
            <a:off x="5516562" y="4710112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6" name="Google Shape;1016;p28"/>
          <p:cNvCxnSpPr/>
          <p:nvPr/>
        </p:nvCxnSpPr>
        <p:spPr>
          <a:xfrm>
            <a:off x="5897562" y="4710112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7" name="Google Shape;1017;p28"/>
          <p:cNvCxnSpPr/>
          <p:nvPr/>
        </p:nvCxnSpPr>
        <p:spPr>
          <a:xfrm>
            <a:off x="6551612" y="47244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8" name="Google Shape;1018;p28"/>
          <p:cNvCxnSpPr/>
          <p:nvPr/>
        </p:nvCxnSpPr>
        <p:spPr>
          <a:xfrm>
            <a:off x="4795837" y="4710112"/>
            <a:ext cx="298500" cy="4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9" name="Google Shape;1019;p28"/>
          <p:cNvCxnSpPr/>
          <p:nvPr/>
        </p:nvCxnSpPr>
        <p:spPr>
          <a:xfrm flipH="1">
            <a:off x="4781687" y="4724400"/>
            <a:ext cx="3126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0" name="Google Shape;1020;p28"/>
          <p:cNvCxnSpPr/>
          <p:nvPr/>
        </p:nvCxnSpPr>
        <p:spPr>
          <a:xfrm>
            <a:off x="5894387" y="4706937"/>
            <a:ext cx="65400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1" name="Google Shape;1021;p28"/>
          <p:cNvSpPr txBox="1"/>
          <p:nvPr/>
        </p:nvSpPr>
        <p:spPr>
          <a:xfrm>
            <a:off x="4787900" y="5341937"/>
            <a:ext cx="2341500" cy="3954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2" name="Google Shape;1022;p28"/>
          <p:cNvCxnSpPr/>
          <p:nvPr/>
        </p:nvCxnSpPr>
        <p:spPr>
          <a:xfrm>
            <a:off x="5108575" y="5349875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3" name="Google Shape;1023;p28"/>
          <p:cNvSpPr txBox="1"/>
          <p:nvPr/>
        </p:nvSpPr>
        <p:spPr>
          <a:xfrm>
            <a:off x="5057775" y="5291137"/>
            <a:ext cx="80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4" name="Google Shape;1024;p28"/>
          <p:cNvCxnSpPr/>
          <p:nvPr/>
        </p:nvCxnSpPr>
        <p:spPr>
          <a:xfrm>
            <a:off x="5516562" y="5335587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5" name="Google Shape;1025;p28"/>
          <p:cNvCxnSpPr/>
          <p:nvPr/>
        </p:nvCxnSpPr>
        <p:spPr>
          <a:xfrm>
            <a:off x="5897562" y="5335587"/>
            <a:ext cx="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6" name="Google Shape;1026;p28"/>
          <p:cNvCxnSpPr/>
          <p:nvPr/>
        </p:nvCxnSpPr>
        <p:spPr>
          <a:xfrm>
            <a:off x="6551612" y="5349875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7" name="Google Shape;1027;p28"/>
          <p:cNvCxnSpPr/>
          <p:nvPr/>
        </p:nvCxnSpPr>
        <p:spPr>
          <a:xfrm>
            <a:off x="4795837" y="5335587"/>
            <a:ext cx="298500" cy="40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8" name="Google Shape;1028;p28"/>
          <p:cNvCxnSpPr/>
          <p:nvPr/>
        </p:nvCxnSpPr>
        <p:spPr>
          <a:xfrm flipH="1">
            <a:off x="4781687" y="5349875"/>
            <a:ext cx="312600" cy="381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9" name="Google Shape;1029;p28"/>
          <p:cNvCxnSpPr/>
          <p:nvPr/>
        </p:nvCxnSpPr>
        <p:spPr>
          <a:xfrm>
            <a:off x="5908675" y="5346700"/>
            <a:ext cx="639900" cy="3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0" name="Google Shape;1030;p28"/>
          <p:cNvCxnSpPr/>
          <p:nvPr/>
        </p:nvCxnSpPr>
        <p:spPr>
          <a:xfrm>
            <a:off x="6548437" y="5334000"/>
            <a:ext cx="585900" cy="393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1" name="Google Shape;1031;p28"/>
          <p:cNvSpPr txBox="1"/>
          <p:nvPr/>
        </p:nvSpPr>
        <p:spPr>
          <a:xfrm>
            <a:off x="4033837" y="2065337"/>
            <a:ext cx="619200" cy="3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8"/>
          <p:cNvSpPr txBox="1"/>
          <p:nvPr/>
        </p:nvSpPr>
        <p:spPr>
          <a:xfrm>
            <a:off x="822325" y="2176462"/>
            <a:ext cx="3618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28"/>
          <p:cNvCxnSpPr/>
          <p:nvPr/>
        </p:nvCxnSpPr>
        <p:spPr>
          <a:xfrm>
            <a:off x="2301875" y="2422525"/>
            <a:ext cx="177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034" name="Google Shape;1034;p28"/>
          <p:cNvCxnSpPr/>
          <p:nvPr/>
        </p:nvCxnSpPr>
        <p:spPr>
          <a:xfrm flipH="1" rot="10800000">
            <a:off x="2316162" y="2559012"/>
            <a:ext cx="1768500" cy="271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035" name="Google Shape;1035;p28"/>
          <p:cNvCxnSpPr/>
          <p:nvPr/>
        </p:nvCxnSpPr>
        <p:spPr>
          <a:xfrm flipH="1" rot="10800000">
            <a:off x="2330450" y="3048037"/>
            <a:ext cx="1741500" cy="109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036" name="Google Shape;1036;p28"/>
          <p:cNvCxnSpPr/>
          <p:nvPr/>
        </p:nvCxnSpPr>
        <p:spPr>
          <a:xfrm>
            <a:off x="2357437" y="3538537"/>
            <a:ext cx="1714500" cy="12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037" name="Google Shape;1037;p28"/>
          <p:cNvSpPr txBox="1"/>
          <p:nvPr/>
        </p:nvSpPr>
        <p:spPr>
          <a:xfrm>
            <a:off x="7396162" y="2055812"/>
            <a:ext cx="1625700" cy="3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(0,1)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(0,2)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(0,3)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(1,2)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(1,3)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(2,3)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8"/>
          <p:cNvSpPr/>
          <p:nvPr/>
        </p:nvSpPr>
        <p:spPr>
          <a:xfrm>
            <a:off x="2116137" y="423227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8"/>
          <p:cNvSpPr/>
          <p:nvPr/>
        </p:nvSpPr>
        <p:spPr>
          <a:xfrm>
            <a:off x="1430337" y="499427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8"/>
          <p:cNvSpPr/>
          <p:nvPr/>
        </p:nvSpPr>
        <p:spPr>
          <a:xfrm>
            <a:off x="2801937" y="499427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8"/>
          <p:cNvSpPr/>
          <p:nvPr/>
        </p:nvSpPr>
        <p:spPr>
          <a:xfrm>
            <a:off x="2116137" y="560387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2" name="Google Shape;1042;p28"/>
          <p:cNvCxnSpPr/>
          <p:nvPr/>
        </p:nvCxnSpPr>
        <p:spPr>
          <a:xfrm>
            <a:off x="2338387" y="4683125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" name="Google Shape;1043;p28"/>
          <p:cNvCxnSpPr/>
          <p:nvPr/>
        </p:nvCxnSpPr>
        <p:spPr>
          <a:xfrm>
            <a:off x="1881187" y="5216525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4" name="Google Shape;1044;p28"/>
          <p:cNvCxnSpPr/>
          <p:nvPr/>
        </p:nvCxnSpPr>
        <p:spPr>
          <a:xfrm flipH="1">
            <a:off x="1770049" y="4606925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5" name="Google Shape;1045;p28"/>
          <p:cNvCxnSpPr/>
          <p:nvPr/>
        </p:nvCxnSpPr>
        <p:spPr>
          <a:xfrm>
            <a:off x="2490787" y="4606925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6" name="Google Shape;1046;p28"/>
          <p:cNvCxnSpPr/>
          <p:nvPr/>
        </p:nvCxnSpPr>
        <p:spPr>
          <a:xfrm>
            <a:off x="1755775" y="5422900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7" name="Google Shape;1047;p28"/>
          <p:cNvCxnSpPr/>
          <p:nvPr/>
        </p:nvCxnSpPr>
        <p:spPr>
          <a:xfrm flipH="1">
            <a:off x="2544787" y="5395912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8" name="Google Shape;1048;p28"/>
          <p:cNvSpPr txBox="1"/>
          <p:nvPr/>
        </p:nvSpPr>
        <p:spPr>
          <a:xfrm>
            <a:off x="7539037" y="5938837"/>
            <a:ext cx="1120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six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8"/>
          <p:cNvSpPr txBox="1"/>
          <p:nvPr/>
        </p:nvSpPr>
        <p:spPr>
          <a:xfrm>
            <a:off x="1249362" y="1060450"/>
            <a:ext cx="58833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Lists: vertex 0: M1-&gt;M2-&gt;M3, vertex 1: M1-&gt;M4-&gt;M5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vertex 2: M2-&gt;M4-&gt;M6, vertex 3: M3-&gt;M5-&gt;M6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28"/>
          <p:cNvSpPr txBox="1"/>
          <p:nvPr>
            <p:ph idx="4294967295" type="title"/>
          </p:nvPr>
        </p:nvSpPr>
        <p:spPr>
          <a:xfrm>
            <a:off x="8255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for Adjacency Multlists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29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29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9"/>
          <p:cNvSpPr txBox="1"/>
          <p:nvPr/>
        </p:nvSpPr>
        <p:spPr>
          <a:xfrm>
            <a:off x="1327150" y="1981200"/>
            <a:ext cx="89916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edge *edge_pointer;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edge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short int marked;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vertex1, vertex2;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edge_pointer path1, path2;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edge_pointer graph[MAX_VERTICES];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8" name="Google Shape;1058;p29"/>
          <p:cNvGrpSpPr/>
          <p:nvPr/>
        </p:nvGrpSpPr>
        <p:grpSpPr>
          <a:xfrm>
            <a:off x="2314575" y="5346700"/>
            <a:ext cx="4765675" cy="503237"/>
            <a:chOff x="910" y="3368"/>
            <a:chExt cx="3002" cy="317"/>
          </a:xfrm>
        </p:grpSpPr>
        <p:sp>
          <p:nvSpPr>
            <p:cNvPr id="1059" name="Google Shape;1059;p29"/>
            <p:cNvSpPr txBox="1"/>
            <p:nvPr/>
          </p:nvSpPr>
          <p:spPr>
            <a:xfrm>
              <a:off x="912" y="3372"/>
              <a:ext cx="3000" cy="3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60" name="Google Shape;1060;p29"/>
            <p:cNvCxnSpPr/>
            <p:nvPr/>
          </p:nvCxnSpPr>
          <p:spPr>
            <a:xfrm>
              <a:off x="1517" y="337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1" name="Google Shape;1061;p29"/>
            <p:cNvCxnSpPr/>
            <p:nvPr/>
          </p:nvCxnSpPr>
          <p:spPr>
            <a:xfrm>
              <a:off x="2168" y="337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2" name="Google Shape;1062;p29"/>
            <p:cNvCxnSpPr/>
            <p:nvPr/>
          </p:nvCxnSpPr>
          <p:spPr>
            <a:xfrm>
              <a:off x="2785" y="3368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3" name="Google Shape;1063;p29"/>
            <p:cNvCxnSpPr/>
            <p:nvPr/>
          </p:nvCxnSpPr>
          <p:spPr>
            <a:xfrm>
              <a:off x="3437" y="3377"/>
              <a:ext cx="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4" name="Google Shape;1064;p29"/>
            <p:cNvSpPr txBox="1"/>
            <p:nvPr/>
          </p:nvSpPr>
          <p:spPr>
            <a:xfrm>
              <a:off x="910" y="3385"/>
              <a:ext cx="30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marked    vertex1    vertex2      path1       path2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5" name="Google Shape;1065;p29"/>
          <p:cNvSpPr txBox="1"/>
          <p:nvPr>
            <p:ph idx="4294967295" type="title"/>
          </p:nvPr>
        </p:nvSpPr>
        <p:spPr>
          <a:xfrm>
            <a:off x="754062" y="2921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Multilists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0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30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30"/>
          <p:cNvSpPr txBox="1"/>
          <p:nvPr/>
        </p:nvSpPr>
        <p:spPr>
          <a:xfrm>
            <a:off x="1098550" y="388937"/>
            <a:ext cx="804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Graph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0"/>
          <p:cNvSpPr txBox="1"/>
          <p:nvPr/>
        </p:nvSpPr>
        <p:spPr>
          <a:xfrm>
            <a:off x="1098550" y="1608137"/>
            <a:ext cx="8045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Traversal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G=(V,E) and vertex v, find all w∈V, </a:t>
            </a:r>
            <a:br>
              <a:rPr b="0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w connects v.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Search (DFS)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 tree traversal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Search (BFS)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order tree traversal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1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31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1"/>
          <p:cNvSpPr txBox="1"/>
          <p:nvPr/>
        </p:nvSpPr>
        <p:spPr>
          <a:xfrm>
            <a:off x="974725" y="266700"/>
            <a:ext cx="667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6.19: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</a:t>
            </a:r>
            <a:r>
              <a:rPr b="0" i="1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its adjacency lists (p.274)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WINDOWS\TEMP\twu51A2.bmp" id="1081" name="Google Shape;10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1295400"/>
            <a:ext cx="6442076" cy="459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31"/>
          <p:cNvSpPr txBox="1"/>
          <p:nvPr/>
        </p:nvSpPr>
        <p:spPr>
          <a:xfrm>
            <a:off x="1847850" y="847725"/>
            <a:ext cx="594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search: 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v0, v1, v3, v7, v4, v5, v2, v6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1"/>
          <p:cNvSpPr txBox="1"/>
          <p:nvPr/>
        </p:nvSpPr>
        <p:spPr>
          <a:xfrm>
            <a:off x="1906587" y="5829300"/>
            <a:ext cx="618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search: 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v0, v1, v2, v3, v4, v5, v6, v7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32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2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2"/>
          <p:cNvSpPr txBox="1"/>
          <p:nvPr/>
        </p:nvSpPr>
        <p:spPr>
          <a:xfrm>
            <a:off x="1057275" y="0"/>
            <a:ext cx="8086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2"/>
          <p:cNvSpPr txBox="1"/>
          <p:nvPr/>
        </p:nvSpPr>
        <p:spPr>
          <a:xfrm>
            <a:off x="827087" y="1643062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dfs(int 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node_pointer 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visited[v]= TRUE;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printf(“%5d”, 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(w=graph[v]; w; w=w-&gt;link)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(!visited[w-&gt;vertex])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dfs(w-&gt;vertex);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2"/>
          <p:cNvSpPr txBox="1"/>
          <p:nvPr/>
        </p:nvSpPr>
        <p:spPr>
          <a:xfrm>
            <a:off x="2894012" y="746125"/>
            <a:ext cx="6039000" cy="981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#define FALSE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#define TRUE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short int visited[MAX_VERTICES];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 txBox="1"/>
          <p:nvPr/>
        </p:nvSpPr>
        <p:spPr>
          <a:xfrm>
            <a:off x="5470525" y="4935537"/>
            <a:ext cx="35988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list: O(e)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matrix: O(n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2"/>
          <p:cNvSpPr txBox="1"/>
          <p:nvPr/>
        </p:nvSpPr>
        <p:spPr>
          <a:xfrm>
            <a:off x="5486400" y="5021262"/>
            <a:ext cx="3657600" cy="1219200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33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3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33"/>
          <p:cNvSpPr txBox="1"/>
          <p:nvPr/>
        </p:nvSpPr>
        <p:spPr>
          <a:xfrm>
            <a:off x="146050" y="609600"/>
            <a:ext cx="899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33"/>
          <p:cNvSpPr txBox="1"/>
          <p:nvPr/>
        </p:nvSpPr>
        <p:spPr>
          <a:xfrm>
            <a:off x="869950" y="1963737"/>
            <a:ext cx="827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queue *queue_pointer;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 queue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vertex;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queue_pointer link;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addq(queue_pointer *, </a:t>
            </a:r>
            <a:b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queue_pointer *, int);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deleteq(queue_pointer *);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34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4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4"/>
          <p:cNvSpPr txBox="1"/>
          <p:nvPr/>
        </p:nvSpPr>
        <p:spPr>
          <a:xfrm>
            <a:off x="973137" y="539750"/>
            <a:ext cx="817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Search 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</a:t>
            </a: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4"/>
          <p:cNvSpPr txBox="1"/>
          <p:nvPr/>
        </p:nvSpPr>
        <p:spPr>
          <a:xfrm>
            <a:off x="973137" y="1911350"/>
            <a:ext cx="8170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bfs(int 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node_pointer 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queue_pointer front, rear;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front = rear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printf(“%5d”, 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visited[v] = TRUE;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addq(&amp;front, &amp;rear, 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4"/>
          <p:cNvSpPr txBox="1"/>
          <p:nvPr/>
        </p:nvSpPr>
        <p:spPr>
          <a:xfrm>
            <a:off x="6172200" y="4022725"/>
            <a:ext cx="2617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list: O(e)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matrix: O(n</a:t>
            </a:r>
            <a:r>
              <a:rPr b="0" baseline="3000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4"/>
          <p:cNvSpPr txBox="1"/>
          <p:nvPr/>
        </p:nvSpPr>
        <p:spPr>
          <a:xfrm>
            <a:off x="6105525" y="4003675"/>
            <a:ext cx="2775000" cy="75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35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5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5"/>
          <p:cNvSpPr txBox="1"/>
          <p:nvPr/>
        </p:nvSpPr>
        <p:spPr>
          <a:xfrm>
            <a:off x="585787" y="1822450"/>
            <a:ext cx="8991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(front)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v= deleteq(&amp;front);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(w=graph[v]; w; w=w-&gt;link)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(!visited[w-&gt;vertex])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printf(“%5d”, w-&gt;vertex);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addq(&amp;front, &amp;rear, w-&gt;vertex);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visited[w-&gt;vertex] = TRUE;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6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6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6"/>
          <p:cNvSpPr txBox="1"/>
          <p:nvPr/>
        </p:nvSpPr>
        <p:spPr>
          <a:xfrm>
            <a:off x="1081087" y="609600"/>
            <a:ext cx="806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6"/>
          <p:cNvSpPr txBox="1"/>
          <p:nvPr/>
        </p:nvSpPr>
        <p:spPr>
          <a:xfrm>
            <a:off x="1081087" y="1981200"/>
            <a:ext cx="8062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connected(void)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(!visited[i])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dfs(i);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printf(“\n”);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6"/>
          <p:cNvSpPr txBox="1"/>
          <p:nvPr/>
        </p:nvSpPr>
        <p:spPr>
          <a:xfrm>
            <a:off x="5043487" y="5116512"/>
            <a:ext cx="26178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list: O(n+e)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adjacency matrix: O(n</a:t>
            </a:r>
            <a:r>
              <a:rPr b="0" baseline="3000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6"/>
          <p:cNvSpPr txBox="1"/>
          <p:nvPr/>
        </p:nvSpPr>
        <p:spPr>
          <a:xfrm>
            <a:off x="4976812" y="5097462"/>
            <a:ext cx="2775000" cy="75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7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7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7"/>
          <p:cNvSpPr txBox="1"/>
          <p:nvPr/>
        </p:nvSpPr>
        <p:spPr>
          <a:xfrm>
            <a:off x="938212" y="412750"/>
            <a:ext cx="8205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7"/>
          <p:cNvSpPr txBox="1"/>
          <p:nvPr/>
        </p:nvSpPr>
        <p:spPr>
          <a:xfrm>
            <a:off x="938212" y="1677987"/>
            <a:ext cx="8205900" cy="26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graph G is connected, a depth first or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search starting at any vertex will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 all vertices in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32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any tree that consists solely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edges in G and that includes all the vertices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E(G): T (</a:t>
            </a:r>
            <a:r>
              <a:rPr b="0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N (</a:t>
            </a:r>
            <a:r>
              <a:rPr b="0" i="0" lang="en-US" sz="32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nontree edges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	T: set of edges used during search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N: set of remaining edges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8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8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8"/>
          <p:cNvSpPr txBox="1"/>
          <p:nvPr/>
        </p:nvSpPr>
        <p:spPr>
          <a:xfrm>
            <a:off x="641350" y="592137"/>
            <a:ext cx="8502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8"/>
          <p:cNvSpPr/>
          <p:nvPr/>
        </p:nvSpPr>
        <p:spPr>
          <a:xfrm>
            <a:off x="1576387" y="26860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8"/>
          <p:cNvSpPr/>
          <p:nvPr/>
        </p:nvSpPr>
        <p:spPr>
          <a:xfrm>
            <a:off x="890587" y="34480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8"/>
          <p:cNvSpPr/>
          <p:nvPr/>
        </p:nvSpPr>
        <p:spPr>
          <a:xfrm>
            <a:off x="2262187" y="34480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8"/>
          <p:cNvSpPr/>
          <p:nvPr/>
        </p:nvSpPr>
        <p:spPr>
          <a:xfrm>
            <a:off x="1576387" y="40576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9" name="Google Shape;1149;p38"/>
          <p:cNvCxnSpPr/>
          <p:nvPr/>
        </p:nvCxnSpPr>
        <p:spPr>
          <a:xfrm>
            <a:off x="1798637" y="3136900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0" name="Google Shape;1150;p38"/>
          <p:cNvCxnSpPr/>
          <p:nvPr/>
        </p:nvCxnSpPr>
        <p:spPr>
          <a:xfrm>
            <a:off x="1341437" y="3670300"/>
            <a:ext cx="914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1" name="Google Shape;1151;p38"/>
          <p:cNvCxnSpPr/>
          <p:nvPr/>
        </p:nvCxnSpPr>
        <p:spPr>
          <a:xfrm flipH="1">
            <a:off x="1230299" y="3060700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2" name="Google Shape;1152;p38"/>
          <p:cNvCxnSpPr/>
          <p:nvPr/>
        </p:nvCxnSpPr>
        <p:spPr>
          <a:xfrm>
            <a:off x="1951037" y="3060700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3" name="Google Shape;1153;p38"/>
          <p:cNvCxnSpPr/>
          <p:nvPr/>
        </p:nvCxnSpPr>
        <p:spPr>
          <a:xfrm>
            <a:off x="1216025" y="3876675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4" name="Google Shape;1154;p38"/>
          <p:cNvCxnSpPr/>
          <p:nvPr/>
        </p:nvCxnSpPr>
        <p:spPr>
          <a:xfrm flipH="1">
            <a:off x="2005037" y="3849687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5" name="Google Shape;1155;p38"/>
          <p:cNvSpPr/>
          <p:nvPr/>
        </p:nvSpPr>
        <p:spPr>
          <a:xfrm>
            <a:off x="3719512" y="26892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8"/>
          <p:cNvSpPr/>
          <p:nvPr/>
        </p:nvSpPr>
        <p:spPr>
          <a:xfrm>
            <a:off x="3033712" y="34512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8"/>
          <p:cNvSpPr/>
          <p:nvPr/>
        </p:nvSpPr>
        <p:spPr>
          <a:xfrm>
            <a:off x="4405312" y="34512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8"/>
          <p:cNvSpPr/>
          <p:nvPr/>
        </p:nvSpPr>
        <p:spPr>
          <a:xfrm>
            <a:off x="3719512" y="40608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9" name="Google Shape;1159;p38"/>
          <p:cNvCxnSpPr/>
          <p:nvPr/>
        </p:nvCxnSpPr>
        <p:spPr>
          <a:xfrm flipH="1">
            <a:off x="3373424" y="3063875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0" name="Google Shape;1160;p38"/>
          <p:cNvCxnSpPr/>
          <p:nvPr/>
        </p:nvCxnSpPr>
        <p:spPr>
          <a:xfrm>
            <a:off x="4094162" y="3063875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1" name="Google Shape;1161;p38"/>
          <p:cNvCxnSpPr/>
          <p:nvPr/>
        </p:nvCxnSpPr>
        <p:spPr>
          <a:xfrm>
            <a:off x="3359150" y="3879850"/>
            <a:ext cx="354000" cy="312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2" name="Google Shape;1162;p38"/>
          <p:cNvSpPr/>
          <p:nvPr/>
        </p:nvSpPr>
        <p:spPr>
          <a:xfrm>
            <a:off x="5845175" y="26876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8"/>
          <p:cNvSpPr/>
          <p:nvPr/>
        </p:nvSpPr>
        <p:spPr>
          <a:xfrm>
            <a:off x="5159375" y="34496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8"/>
          <p:cNvSpPr/>
          <p:nvPr/>
        </p:nvSpPr>
        <p:spPr>
          <a:xfrm>
            <a:off x="6530975" y="34496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8"/>
          <p:cNvSpPr/>
          <p:nvPr/>
        </p:nvSpPr>
        <p:spPr>
          <a:xfrm>
            <a:off x="5845175" y="40592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6" name="Google Shape;1166;p38"/>
          <p:cNvCxnSpPr/>
          <p:nvPr/>
        </p:nvCxnSpPr>
        <p:spPr>
          <a:xfrm>
            <a:off x="6067425" y="3138487"/>
            <a:ext cx="0" cy="914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7" name="Google Shape;1167;p38"/>
          <p:cNvCxnSpPr/>
          <p:nvPr/>
        </p:nvCxnSpPr>
        <p:spPr>
          <a:xfrm flipH="1">
            <a:off x="5499087" y="3062287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8" name="Google Shape;1168;p38"/>
          <p:cNvCxnSpPr/>
          <p:nvPr/>
        </p:nvCxnSpPr>
        <p:spPr>
          <a:xfrm>
            <a:off x="6219825" y="3062287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9" name="Google Shape;1169;p38"/>
          <p:cNvSpPr/>
          <p:nvPr/>
        </p:nvSpPr>
        <p:spPr>
          <a:xfrm>
            <a:off x="7988300" y="26527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8"/>
          <p:cNvSpPr/>
          <p:nvPr/>
        </p:nvSpPr>
        <p:spPr>
          <a:xfrm>
            <a:off x="7302500" y="34147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8"/>
          <p:cNvSpPr/>
          <p:nvPr/>
        </p:nvSpPr>
        <p:spPr>
          <a:xfrm>
            <a:off x="8674100" y="34147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8"/>
          <p:cNvSpPr/>
          <p:nvPr/>
        </p:nvSpPr>
        <p:spPr>
          <a:xfrm>
            <a:off x="7988300" y="40243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3" name="Google Shape;1173;p38"/>
          <p:cNvCxnSpPr/>
          <p:nvPr/>
        </p:nvCxnSpPr>
        <p:spPr>
          <a:xfrm flipH="1">
            <a:off x="7642212" y="3027362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4" name="Google Shape;1174;p38"/>
          <p:cNvCxnSpPr/>
          <p:nvPr/>
        </p:nvCxnSpPr>
        <p:spPr>
          <a:xfrm>
            <a:off x="8362950" y="3027362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5" name="Google Shape;1175;p38"/>
          <p:cNvCxnSpPr/>
          <p:nvPr/>
        </p:nvCxnSpPr>
        <p:spPr>
          <a:xfrm flipH="1">
            <a:off x="8416950" y="3816350"/>
            <a:ext cx="327000" cy="33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6" name="Google Shape;1176;p38"/>
          <p:cNvSpPr txBox="1"/>
          <p:nvPr/>
        </p:nvSpPr>
        <p:spPr>
          <a:xfrm>
            <a:off x="1506537" y="4751387"/>
            <a:ext cx="555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8"/>
          <p:cNvSpPr txBox="1"/>
          <p:nvPr/>
        </p:nvSpPr>
        <p:spPr>
          <a:xfrm>
            <a:off x="4160837" y="4683125"/>
            <a:ext cx="34989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spanning trees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9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9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9"/>
          <p:cNvSpPr txBox="1"/>
          <p:nvPr/>
        </p:nvSpPr>
        <p:spPr>
          <a:xfrm>
            <a:off x="835025" y="573087"/>
            <a:ext cx="8309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9"/>
          <p:cNvSpPr txBox="1"/>
          <p:nvPr/>
        </p:nvSpPr>
        <p:spPr>
          <a:xfrm>
            <a:off x="835025" y="1944687"/>
            <a:ext cx="8550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 dfs or bfs can be used to create a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dfs is used, the resulting spanning tree is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 as a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bfs is used, the resulting spanning tree is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 as a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breadth first spanning tree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adding a nontree edge into any spanning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tree, this will create a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40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40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40"/>
          <p:cNvSpPr txBox="1"/>
          <p:nvPr/>
        </p:nvSpPr>
        <p:spPr>
          <a:xfrm>
            <a:off x="974725" y="539750"/>
            <a:ext cx="816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VS BFS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40"/>
          <p:cNvSpPr/>
          <p:nvPr/>
        </p:nvSpPr>
        <p:spPr>
          <a:xfrm>
            <a:off x="4598987" y="2097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40"/>
          <p:cNvSpPr/>
          <p:nvPr/>
        </p:nvSpPr>
        <p:spPr>
          <a:xfrm>
            <a:off x="3913187" y="2859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0"/>
          <p:cNvSpPr/>
          <p:nvPr/>
        </p:nvSpPr>
        <p:spPr>
          <a:xfrm>
            <a:off x="5284787" y="28590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p40"/>
          <p:cNvCxnSpPr/>
          <p:nvPr/>
        </p:nvCxnSpPr>
        <p:spPr>
          <a:xfrm flipH="1">
            <a:off x="4252899" y="2471737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7" name="Google Shape;1197;p40"/>
          <p:cNvSpPr/>
          <p:nvPr/>
        </p:nvSpPr>
        <p:spPr>
          <a:xfrm>
            <a:off x="3530600" y="37560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40"/>
          <p:cNvSpPr/>
          <p:nvPr/>
        </p:nvSpPr>
        <p:spPr>
          <a:xfrm>
            <a:off x="4291012" y="37687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p40"/>
          <p:cNvCxnSpPr/>
          <p:nvPr/>
        </p:nvCxnSpPr>
        <p:spPr>
          <a:xfrm flipH="1">
            <a:off x="3757737" y="3300412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0" name="Google Shape;1200;p40"/>
          <p:cNvSpPr/>
          <p:nvPr/>
        </p:nvSpPr>
        <p:spPr>
          <a:xfrm>
            <a:off x="4935537" y="37576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40"/>
          <p:cNvSpPr/>
          <p:nvPr/>
        </p:nvSpPr>
        <p:spPr>
          <a:xfrm>
            <a:off x="5680075" y="37560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2" name="Google Shape;1202;p40"/>
          <p:cNvCxnSpPr/>
          <p:nvPr/>
        </p:nvCxnSpPr>
        <p:spPr>
          <a:xfrm flipH="1">
            <a:off x="5132437" y="3284537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03" name="Google Shape;1203;p40"/>
          <p:cNvCxnSpPr/>
          <p:nvPr/>
        </p:nvCxnSpPr>
        <p:spPr>
          <a:xfrm>
            <a:off x="5608637" y="3297237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4" name="Google Shape;1204;p40"/>
          <p:cNvSpPr/>
          <p:nvPr/>
        </p:nvSpPr>
        <p:spPr>
          <a:xfrm>
            <a:off x="3879850" y="46069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5" name="Google Shape;1205;p40"/>
          <p:cNvCxnSpPr/>
          <p:nvPr/>
        </p:nvCxnSpPr>
        <p:spPr>
          <a:xfrm>
            <a:off x="3743325" y="4205287"/>
            <a:ext cx="374700" cy="39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6" name="Google Shape;1206;p40"/>
          <p:cNvSpPr/>
          <p:nvPr/>
        </p:nvSpPr>
        <p:spPr>
          <a:xfrm>
            <a:off x="7243762" y="21002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40"/>
          <p:cNvSpPr/>
          <p:nvPr/>
        </p:nvSpPr>
        <p:spPr>
          <a:xfrm>
            <a:off x="6557962" y="28622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40"/>
          <p:cNvSpPr/>
          <p:nvPr/>
        </p:nvSpPr>
        <p:spPr>
          <a:xfrm>
            <a:off x="7929562" y="286226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9" name="Google Shape;1209;p40"/>
          <p:cNvCxnSpPr/>
          <p:nvPr/>
        </p:nvCxnSpPr>
        <p:spPr>
          <a:xfrm flipH="1">
            <a:off x="6897674" y="2474912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0" name="Google Shape;1210;p40"/>
          <p:cNvCxnSpPr/>
          <p:nvPr/>
        </p:nvCxnSpPr>
        <p:spPr>
          <a:xfrm>
            <a:off x="7618412" y="2474912"/>
            <a:ext cx="4224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1" name="Google Shape;1211;p40"/>
          <p:cNvSpPr/>
          <p:nvPr/>
        </p:nvSpPr>
        <p:spPr>
          <a:xfrm>
            <a:off x="6175375" y="37592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0"/>
          <p:cNvSpPr/>
          <p:nvPr/>
        </p:nvSpPr>
        <p:spPr>
          <a:xfrm>
            <a:off x="6935787" y="37719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3" name="Google Shape;1213;p40"/>
          <p:cNvCxnSpPr/>
          <p:nvPr/>
        </p:nvCxnSpPr>
        <p:spPr>
          <a:xfrm flipH="1">
            <a:off x="6402512" y="3303587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4" name="Google Shape;1214;p40"/>
          <p:cNvCxnSpPr/>
          <p:nvPr/>
        </p:nvCxnSpPr>
        <p:spPr>
          <a:xfrm>
            <a:off x="6853237" y="3317875"/>
            <a:ext cx="298500" cy="458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5" name="Google Shape;1215;p40"/>
          <p:cNvSpPr/>
          <p:nvPr/>
        </p:nvSpPr>
        <p:spPr>
          <a:xfrm>
            <a:off x="7580312" y="37607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40"/>
          <p:cNvSpPr/>
          <p:nvPr/>
        </p:nvSpPr>
        <p:spPr>
          <a:xfrm>
            <a:off x="8324850" y="37592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7" name="Google Shape;1217;p40"/>
          <p:cNvCxnSpPr/>
          <p:nvPr/>
        </p:nvCxnSpPr>
        <p:spPr>
          <a:xfrm flipH="1">
            <a:off x="7777212" y="3287712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18" name="Google Shape;1218;p40"/>
          <p:cNvCxnSpPr/>
          <p:nvPr/>
        </p:nvCxnSpPr>
        <p:spPr>
          <a:xfrm>
            <a:off x="8253412" y="3300412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9" name="Google Shape;1219;p40"/>
          <p:cNvSpPr/>
          <p:nvPr/>
        </p:nvSpPr>
        <p:spPr>
          <a:xfrm>
            <a:off x="6524625" y="461010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0" name="Google Shape;1220;p40"/>
          <p:cNvCxnSpPr/>
          <p:nvPr/>
        </p:nvCxnSpPr>
        <p:spPr>
          <a:xfrm>
            <a:off x="6388100" y="4208462"/>
            <a:ext cx="374700" cy="39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1" name="Google Shape;1221;p40"/>
          <p:cNvCxnSpPr/>
          <p:nvPr/>
        </p:nvCxnSpPr>
        <p:spPr>
          <a:xfrm flipH="1" rot="10800000">
            <a:off x="4117975" y="4222637"/>
            <a:ext cx="37320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2" name="Google Shape;1222;p40"/>
          <p:cNvCxnSpPr/>
          <p:nvPr/>
        </p:nvCxnSpPr>
        <p:spPr>
          <a:xfrm flipH="1" rot="10800000">
            <a:off x="4133850" y="4222637"/>
            <a:ext cx="100500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3" name="Google Shape;1223;p40"/>
          <p:cNvSpPr txBox="1"/>
          <p:nvPr/>
        </p:nvSpPr>
        <p:spPr>
          <a:xfrm>
            <a:off x="3703637" y="5238750"/>
            <a:ext cx="2270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Spanning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0"/>
          <p:cNvSpPr txBox="1"/>
          <p:nvPr/>
        </p:nvSpPr>
        <p:spPr>
          <a:xfrm>
            <a:off x="6399212" y="5275262"/>
            <a:ext cx="2249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BFS Spanning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40"/>
          <p:cNvSpPr/>
          <p:nvPr/>
        </p:nvSpPr>
        <p:spPr>
          <a:xfrm>
            <a:off x="1946275" y="20589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40"/>
          <p:cNvSpPr/>
          <p:nvPr/>
        </p:nvSpPr>
        <p:spPr>
          <a:xfrm>
            <a:off x="1260475" y="28209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40"/>
          <p:cNvSpPr/>
          <p:nvPr/>
        </p:nvSpPr>
        <p:spPr>
          <a:xfrm>
            <a:off x="2632075" y="282098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8" name="Google Shape;1228;p40"/>
          <p:cNvCxnSpPr/>
          <p:nvPr/>
        </p:nvCxnSpPr>
        <p:spPr>
          <a:xfrm flipH="1">
            <a:off x="1600187" y="2433637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9" name="Google Shape;1229;p40"/>
          <p:cNvSpPr/>
          <p:nvPr/>
        </p:nvSpPr>
        <p:spPr>
          <a:xfrm>
            <a:off x="877887" y="37179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0"/>
          <p:cNvSpPr/>
          <p:nvPr/>
        </p:nvSpPr>
        <p:spPr>
          <a:xfrm>
            <a:off x="1638300" y="37306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1" name="Google Shape;1231;p40"/>
          <p:cNvCxnSpPr/>
          <p:nvPr/>
        </p:nvCxnSpPr>
        <p:spPr>
          <a:xfrm flipH="1">
            <a:off x="1105025" y="3262312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2" name="Google Shape;1232;p40"/>
          <p:cNvSpPr/>
          <p:nvPr/>
        </p:nvSpPr>
        <p:spPr>
          <a:xfrm>
            <a:off x="2282825" y="37195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0"/>
          <p:cNvSpPr/>
          <p:nvPr/>
        </p:nvSpPr>
        <p:spPr>
          <a:xfrm>
            <a:off x="3027362" y="37179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4" name="Google Shape;1234;p40"/>
          <p:cNvCxnSpPr/>
          <p:nvPr/>
        </p:nvCxnSpPr>
        <p:spPr>
          <a:xfrm flipH="1">
            <a:off x="2479725" y="3246437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5" name="Google Shape;1235;p40"/>
          <p:cNvCxnSpPr/>
          <p:nvPr/>
        </p:nvCxnSpPr>
        <p:spPr>
          <a:xfrm>
            <a:off x="2955925" y="3259137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6" name="Google Shape;1236;p40"/>
          <p:cNvSpPr/>
          <p:nvPr/>
        </p:nvSpPr>
        <p:spPr>
          <a:xfrm>
            <a:off x="1227137" y="4568825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7" name="Google Shape;1237;p40"/>
          <p:cNvCxnSpPr/>
          <p:nvPr/>
        </p:nvCxnSpPr>
        <p:spPr>
          <a:xfrm>
            <a:off x="1090612" y="4167187"/>
            <a:ext cx="374700" cy="39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8" name="Google Shape;1238;p40"/>
          <p:cNvCxnSpPr/>
          <p:nvPr/>
        </p:nvCxnSpPr>
        <p:spPr>
          <a:xfrm flipH="1" rot="10800000">
            <a:off x="1465262" y="4184537"/>
            <a:ext cx="37320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9" name="Google Shape;1239;p40"/>
          <p:cNvCxnSpPr/>
          <p:nvPr/>
        </p:nvCxnSpPr>
        <p:spPr>
          <a:xfrm flipH="1" rot="10800000">
            <a:off x="1481137" y="4184537"/>
            <a:ext cx="100500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0" name="Google Shape;1240;p40"/>
          <p:cNvCxnSpPr/>
          <p:nvPr/>
        </p:nvCxnSpPr>
        <p:spPr>
          <a:xfrm>
            <a:off x="2328862" y="2468562"/>
            <a:ext cx="387300" cy="3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1" name="Google Shape;1241;p40"/>
          <p:cNvCxnSpPr/>
          <p:nvPr/>
        </p:nvCxnSpPr>
        <p:spPr>
          <a:xfrm>
            <a:off x="1604962" y="3244850"/>
            <a:ext cx="247500" cy="5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2" name="Google Shape;1242;p40"/>
          <p:cNvCxnSpPr/>
          <p:nvPr/>
        </p:nvCxnSpPr>
        <p:spPr>
          <a:xfrm flipH="1" rot="10800000">
            <a:off x="1535112" y="4110062"/>
            <a:ext cx="1516200" cy="4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3" name="Google Shape;1243;p40"/>
          <p:cNvCxnSpPr/>
          <p:nvPr/>
        </p:nvCxnSpPr>
        <p:spPr>
          <a:xfrm flipH="1" rot="10800000">
            <a:off x="4303712" y="4145112"/>
            <a:ext cx="1465200" cy="704700"/>
          </a:xfrm>
          <a:prstGeom prst="straightConnector1">
            <a:avLst/>
          </a:prstGeom>
          <a:noFill/>
          <a:ln cap="flat" cmpd="sng" w="9525">
            <a:solidFill>
              <a:srgbClr val="CC33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4" name="Google Shape;1244;p40"/>
          <p:cNvSpPr txBox="1"/>
          <p:nvPr/>
        </p:nvSpPr>
        <p:spPr>
          <a:xfrm>
            <a:off x="4692650" y="4622800"/>
            <a:ext cx="14874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nontree 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1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41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41"/>
          <p:cNvSpPr txBox="1"/>
          <p:nvPr/>
        </p:nvSpPr>
        <p:spPr>
          <a:xfrm>
            <a:off x="1195387" y="350837"/>
            <a:ext cx="73230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spanning tree is a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subgraph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G’, of 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V(G’)=V(G) and G’ is connected.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connected graph with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vertices must have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least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biconnected graph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connected graph that 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</a:t>
            </a:r>
            <a:r>
              <a:rPr b="0" i="0" lang="en-US" sz="28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articulation points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41"/>
          <p:cNvSpPr/>
          <p:nvPr/>
        </p:nvSpPr>
        <p:spPr>
          <a:xfrm>
            <a:off x="6056312" y="33639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41"/>
          <p:cNvSpPr/>
          <p:nvPr/>
        </p:nvSpPr>
        <p:spPr>
          <a:xfrm>
            <a:off x="5370512" y="41259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1"/>
          <p:cNvSpPr/>
          <p:nvPr/>
        </p:nvSpPr>
        <p:spPr>
          <a:xfrm>
            <a:off x="6742112" y="4125912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5" name="Google Shape;1255;p41"/>
          <p:cNvCxnSpPr/>
          <p:nvPr/>
        </p:nvCxnSpPr>
        <p:spPr>
          <a:xfrm flipH="1">
            <a:off x="5710224" y="3738562"/>
            <a:ext cx="408000" cy="4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6" name="Google Shape;1256;p41"/>
          <p:cNvSpPr/>
          <p:nvPr/>
        </p:nvSpPr>
        <p:spPr>
          <a:xfrm>
            <a:off x="4987925" y="50228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1"/>
          <p:cNvSpPr/>
          <p:nvPr/>
        </p:nvSpPr>
        <p:spPr>
          <a:xfrm>
            <a:off x="5748337" y="50355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8" name="Google Shape;1258;p41"/>
          <p:cNvCxnSpPr/>
          <p:nvPr/>
        </p:nvCxnSpPr>
        <p:spPr>
          <a:xfrm flipH="1">
            <a:off x="5215062" y="4567237"/>
            <a:ext cx="263400" cy="460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9" name="Google Shape;1259;p41"/>
          <p:cNvSpPr/>
          <p:nvPr/>
        </p:nvSpPr>
        <p:spPr>
          <a:xfrm>
            <a:off x="6392862" y="5024437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41"/>
          <p:cNvSpPr/>
          <p:nvPr/>
        </p:nvSpPr>
        <p:spPr>
          <a:xfrm>
            <a:off x="7137400" y="50228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1" name="Google Shape;1261;p41"/>
          <p:cNvCxnSpPr/>
          <p:nvPr/>
        </p:nvCxnSpPr>
        <p:spPr>
          <a:xfrm flipH="1">
            <a:off x="6589762" y="4551362"/>
            <a:ext cx="273000" cy="4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2" name="Google Shape;1262;p41"/>
          <p:cNvCxnSpPr/>
          <p:nvPr/>
        </p:nvCxnSpPr>
        <p:spPr>
          <a:xfrm>
            <a:off x="7065962" y="4564062"/>
            <a:ext cx="273000" cy="449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3" name="Google Shape;1263;p41"/>
          <p:cNvSpPr/>
          <p:nvPr/>
        </p:nvSpPr>
        <p:spPr>
          <a:xfrm>
            <a:off x="5337175" y="5873750"/>
            <a:ext cx="444600" cy="4446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4" name="Google Shape;1264;p41"/>
          <p:cNvCxnSpPr/>
          <p:nvPr/>
        </p:nvCxnSpPr>
        <p:spPr>
          <a:xfrm>
            <a:off x="5200650" y="5472112"/>
            <a:ext cx="374700" cy="39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5" name="Google Shape;1265;p41"/>
          <p:cNvCxnSpPr/>
          <p:nvPr/>
        </p:nvCxnSpPr>
        <p:spPr>
          <a:xfrm flipH="1" rot="10800000">
            <a:off x="5575300" y="5489462"/>
            <a:ext cx="37320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6" name="Google Shape;1266;p41"/>
          <p:cNvCxnSpPr/>
          <p:nvPr/>
        </p:nvCxnSpPr>
        <p:spPr>
          <a:xfrm flipH="1" rot="10800000">
            <a:off x="5591175" y="5489462"/>
            <a:ext cx="1005000" cy="357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7" name="Google Shape;1267;p41"/>
          <p:cNvCxnSpPr/>
          <p:nvPr/>
        </p:nvCxnSpPr>
        <p:spPr>
          <a:xfrm>
            <a:off x="6438900" y="3773487"/>
            <a:ext cx="387300" cy="37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8" name="Google Shape;1268;p41"/>
          <p:cNvCxnSpPr/>
          <p:nvPr/>
        </p:nvCxnSpPr>
        <p:spPr>
          <a:xfrm>
            <a:off x="5715000" y="4549775"/>
            <a:ext cx="247500" cy="53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9" name="Google Shape;1269;p41"/>
          <p:cNvCxnSpPr/>
          <p:nvPr/>
        </p:nvCxnSpPr>
        <p:spPr>
          <a:xfrm flipH="1" rot="10800000">
            <a:off x="5645150" y="5414987"/>
            <a:ext cx="1516200" cy="4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0" name="Google Shape;1270;p41"/>
          <p:cNvSpPr txBox="1"/>
          <p:nvPr/>
        </p:nvSpPr>
        <p:spPr>
          <a:xfrm>
            <a:off x="1739900" y="4657725"/>
            <a:ext cx="242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biconnected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42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42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7" name="Google Shape;1277;p42"/>
          <p:cNvCxnSpPr/>
          <p:nvPr/>
        </p:nvCxnSpPr>
        <p:spPr>
          <a:xfrm>
            <a:off x="3622675" y="349250"/>
            <a:ext cx="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8" name="Google Shape;1278;p42"/>
          <p:cNvCxnSpPr/>
          <p:nvPr/>
        </p:nvCxnSpPr>
        <p:spPr>
          <a:xfrm flipH="1">
            <a:off x="3175075" y="1223962"/>
            <a:ext cx="447600" cy="7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9" name="Google Shape;1279;p42"/>
          <p:cNvCxnSpPr/>
          <p:nvPr/>
        </p:nvCxnSpPr>
        <p:spPr>
          <a:xfrm>
            <a:off x="3175000" y="1973262"/>
            <a:ext cx="523800" cy="9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0" name="Google Shape;1280;p42"/>
          <p:cNvCxnSpPr/>
          <p:nvPr/>
        </p:nvCxnSpPr>
        <p:spPr>
          <a:xfrm flipH="1" rot="10800000">
            <a:off x="3698875" y="1898675"/>
            <a:ext cx="422400" cy="97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1" name="Google Shape;1281;p42"/>
          <p:cNvCxnSpPr/>
          <p:nvPr/>
        </p:nvCxnSpPr>
        <p:spPr>
          <a:xfrm>
            <a:off x="4146550" y="1924050"/>
            <a:ext cx="5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2" name="Google Shape;1282;p42"/>
          <p:cNvCxnSpPr/>
          <p:nvPr/>
        </p:nvCxnSpPr>
        <p:spPr>
          <a:xfrm>
            <a:off x="4668837" y="1924050"/>
            <a:ext cx="5238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3" name="Google Shape;1283;p42"/>
          <p:cNvCxnSpPr/>
          <p:nvPr/>
        </p:nvCxnSpPr>
        <p:spPr>
          <a:xfrm>
            <a:off x="5167312" y="174562"/>
            <a:ext cx="0" cy="257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4" name="Google Shape;1284;p42"/>
          <p:cNvCxnSpPr/>
          <p:nvPr/>
        </p:nvCxnSpPr>
        <p:spPr>
          <a:xfrm flipH="1" rot="10800000">
            <a:off x="5167312" y="299949"/>
            <a:ext cx="671400" cy="7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5" name="Google Shape;1285;p42"/>
          <p:cNvSpPr/>
          <p:nvPr/>
        </p:nvSpPr>
        <p:spPr>
          <a:xfrm>
            <a:off x="3375025" y="1000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42"/>
          <p:cNvSpPr/>
          <p:nvPr/>
        </p:nvSpPr>
        <p:spPr>
          <a:xfrm>
            <a:off x="3417887" y="1023937"/>
            <a:ext cx="453900" cy="450900"/>
          </a:xfrm>
          <a:prstGeom prst="ellipse">
            <a:avLst/>
          </a:prstGeom>
          <a:solidFill>
            <a:srgbClr val="CC3300">
              <a:alpha val="4901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2"/>
          <p:cNvSpPr/>
          <p:nvPr/>
        </p:nvSpPr>
        <p:spPr>
          <a:xfrm>
            <a:off x="2951162" y="174942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42"/>
          <p:cNvSpPr/>
          <p:nvPr/>
        </p:nvSpPr>
        <p:spPr>
          <a:xfrm>
            <a:off x="3424237" y="2617787"/>
            <a:ext cx="453900" cy="46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42"/>
          <p:cNvSpPr/>
          <p:nvPr/>
        </p:nvSpPr>
        <p:spPr>
          <a:xfrm>
            <a:off x="3822700" y="1698625"/>
            <a:ext cx="473100" cy="449400"/>
          </a:xfrm>
          <a:prstGeom prst="ellipse">
            <a:avLst/>
          </a:prstGeom>
          <a:solidFill>
            <a:srgbClr val="CC3300">
              <a:alpha val="4901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2"/>
          <p:cNvSpPr/>
          <p:nvPr/>
        </p:nvSpPr>
        <p:spPr>
          <a:xfrm>
            <a:off x="4445000" y="1673225"/>
            <a:ext cx="473100" cy="450900"/>
          </a:xfrm>
          <a:prstGeom prst="ellipse">
            <a:avLst/>
          </a:prstGeom>
          <a:solidFill>
            <a:srgbClr val="CC3300">
              <a:alpha val="4901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2"/>
          <p:cNvSpPr/>
          <p:nvPr/>
        </p:nvSpPr>
        <p:spPr>
          <a:xfrm>
            <a:off x="4918075" y="261937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2"/>
          <p:cNvSpPr/>
          <p:nvPr/>
        </p:nvSpPr>
        <p:spPr>
          <a:xfrm>
            <a:off x="4918075" y="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42"/>
          <p:cNvSpPr/>
          <p:nvPr/>
        </p:nvSpPr>
        <p:spPr>
          <a:xfrm>
            <a:off x="5640387" y="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42"/>
          <p:cNvSpPr/>
          <p:nvPr/>
        </p:nvSpPr>
        <p:spPr>
          <a:xfrm>
            <a:off x="4943475" y="8747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42"/>
          <p:cNvSpPr txBox="1"/>
          <p:nvPr/>
        </p:nvSpPr>
        <p:spPr>
          <a:xfrm>
            <a:off x="3444875" y="95250"/>
            <a:ext cx="2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42"/>
          <p:cNvSpPr txBox="1"/>
          <p:nvPr/>
        </p:nvSpPr>
        <p:spPr>
          <a:xfrm>
            <a:off x="4999037" y="3175"/>
            <a:ext cx="10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8        9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42"/>
          <p:cNvSpPr txBox="1"/>
          <p:nvPr/>
        </p:nvSpPr>
        <p:spPr>
          <a:xfrm>
            <a:off x="4897437" y="876300"/>
            <a:ext cx="489000" cy="457200"/>
          </a:xfrm>
          <a:prstGeom prst="rect">
            <a:avLst/>
          </a:prstGeom>
          <a:solidFill>
            <a:srgbClr val="CC3300">
              <a:alpha val="4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2"/>
          <p:cNvSpPr txBox="1"/>
          <p:nvPr/>
        </p:nvSpPr>
        <p:spPr>
          <a:xfrm>
            <a:off x="3051175" y="1366837"/>
            <a:ext cx="206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2"/>
          <p:cNvSpPr txBox="1"/>
          <p:nvPr/>
        </p:nvSpPr>
        <p:spPr>
          <a:xfrm>
            <a:off x="3465512" y="2633662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p42"/>
          <p:cNvCxnSpPr/>
          <p:nvPr/>
        </p:nvCxnSpPr>
        <p:spPr>
          <a:xfrm>
            <a:off x="3775075" y="1450975"/>
            <a:ext cx="230100" cy="26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1" name="Google Shape;1301;p42"/>
          <p:cNvCxnSpPr/>
          <p:nvPr/>
        </p:nvCxnSpPr>
        <p:spPr>
          <a:xfrm flipH="1" rot="10800000">
            <a:off x="4781550" y="1274724"/>
            <a:ext cx="2811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2" name="Google Shape;1302;p42"/>
          <p:cNvSpPr txBox="1"/>
          <p:nvPr/>
        </p:nvSpPr>
        <p:spPr>
          <a:xfrm>
            <a:off x="5870575" y="1624012"/>
            <a:ext cx="218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42"/>
          <p:cNvCxnSpPr/>
          <p:nvPr/>
        </p:nvCxnSpPr>
        <p:spPr>
          <a:xfrm>
            <a:off x="1746250" y="3870325"/>
            <a:ext cx="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4" name="Google Shape;1304;p42"/>
          <p:cNvCxnSpPr/>
          <p:nvPr/>
        </p:nvCxnSpPr>
        <p:spPr>
          <a:xfrm flipH="1">
            <a:off x="1298650" y="4745037"/>
            <a:ext cx="447600" cy="7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5" name="Google Shape;1305;p42"/>
          <p:cNvCxnSpPr/>
          <p:nvPr/>
        </p:nvCxnSpPr>
        <p:spPr>
          <a:xfrm>
            <a:off x="1298575" y="5494337"/>
            <a:ext cx="523800" cy="9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6" name="Google Shape;1306;p42"/>
          <p:cNvCxnSpPr/>
          <p:nvPr/>
        </p:nvCxnSpPr>
        <p:spPr>
          <a:xfrm>
            <a:off x="2792412" y="5445125"/>
            <a:ext cx="5238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7" name="Google Shape;1307;p42"/>
          <p:cNvCxnSpPr/>
          <p:nvPr/>
        </p:nvCxnSpPr>
        <p:spPr>
          <a:xfrm>
            <a:off x="3290887" y="3695637"/>
            <a:ext cx="0" cy="257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8" name="Google Shape;1308;p42"/>
          <p:cNvCxnSpPr/>
          <p:nvPr/>
        </p:nvCxnSpPr>
        <p:spPr>
          <a:xfrm flipH="1" rot="10800000">
            <a:off x="3290887" y="3821024"/>
            <a:ext cx="671400" cy="7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9" name="Google Shape;1309;p42"/>
          <p:cNvSpPr/>
          <p:nvPr/>
        </p:nvSpPr>
        <p:spPr>
          <a:xfrm>
            <a:off x="1498600" y="36210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0" name="Google Shape;1310;p42"/>
          <p:cNvSpPr/>
          <p:nvPr/>
        </p:nvSpPr>
        <p:spPr>
          <a:xfrm>
            <a:off x="1541462" y="4545012"/>
            <a:ext cx="4539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2"/>
          <p:cNvSpPr/>
          <p:nvPr/>
        </p:nvSpPr>
        <p:spPr>
          <a:xfrm>
            <a:off x="1074737" y="52705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2" name="Google Shape;1312;p42"/>
          <p:cNvSpPr/>
          <p:nvPr/>
        </p:nvSpPr>
        <p:spPr>
          <a:xfrm>
            <a:off x="1547812" y="6138862"/>
            <a:ext cx="453900" cy="46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3" name="Google Shape;1313;p42"/>
          <p:cNvSpPr/>
          <p:nvPr/>
        </p:nvSpPr>
        <p:spPr>
          <a:xfrm>
            <a:off x="1946275" y="52197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2"/>
          <p:cNvSpPr/>
          <p:nvPr/>
        </p:nvSpPr>
        <p:spPr>
          <a:xfrm>
            <a:off x="2568575" y="5194300"/>
            <a:ext cx="4731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2"/>
          <p:cNvSpPr/>
          <p:nvPr/>
        </p:nvSpPr>
        <p:spPr>
          <a:xfrm>
            <a:off x="3041650" y="614045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42"/>
          <p:cNvSpPr/>
          <p:nvPr/>
        </p:nvSpPr>
        <p:spPr>
          <a:xfrm>
            <a:off x="3041650" y="352107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7" name="Google Shape;1317;p42"/>
          <p:cNvSpPr/>
          <p:nvPr/>
        </p:nvSpPr>
        <p:spPr>
          <a:xfrm>
            <a:off x="3763962" y="352107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8" name="Google Shape;1318;p42"/>
          <p:cNvSpPr/>
          <p:nvPr/>
        </p:nvSpPr>
        <p:spPr>
          <a:xfrm>
            <a:off x="3067050" y="43957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9" name="Google Shape;1319;p42"/>
          <p:cNvSpPr txBox="1"/>
          <p:nvPr/>
        </p:nvSpPr>
        <p:spPr>
          <a:xfrm>
            <a:off x="1568450" y="3616325"/>
            <a:ext cx="2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42"/>
          <p:cNvSpPr txBox="1"/>
          <p:nvPr/>
        </p:nvSpPr>
        <p:spPr>
          <a:xfrm>
            <a:off x="3122612" y="3524250"/>
            <a:ext cx="10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8        9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42"/>
          <p:cNvSpPr txBox="1"/>
          <p:nvPr/>
        </p:nvSpPr>
        <p:spPr>
          <a:xfrm>
            <a:off x="3021012" y="4397375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42"/>
          <p:cNvSpPr txBox="1"/>
          <p:nvPr/>
        </p:nvSpPr>
        <p:spPr>
          <a:xfrm>
            <a:off x="1174750" y="4887912"/>
            <a:ext cx="206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42"/>
          <p:cNvSpPr txBox="1"/>
          <p:nvPr/>
        </p:nvSpPr>
        <p:spPr>
          <a:xfrm>
            <a:off x="1589087" y="615473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4" name="Google Shape;1324;p42"/>
          <p:cNvCxnSpPr/>
          <p:nvPr/>
        </p:nvCxnSpPr>
        <p:spPr>
          <a:xfrm flipH="1" rot="10800000">
            <a:off x="2905125" y="4795799"/>
            <a:ext cx="2811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5" name="Google Shape;1325;p42"/>
          <p:cNvCxnSpPr/>
          <p:nvPr/>
        </p:nvCxnSpPr>
        <p:spPr>
          <a:xfrm>
            <a:off x="6297612" y="3817937"/>
            <a:ext cx="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6" name="Google Shape;1326;p42"/>
          <p:cNvCxnSpPr/>
          <p:nvPr/>
        </p:nvCxnSpPr>
        <p:spPr>
          <a:xfrm flipH="1" rot="10800000">
            <a:off x="6373812" y="5367362"/>
            <a:ext cx="422400" cy="97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7" name="Google Shape;1327;p42"/>
          <p:cNvCxnSpPr/>
          <p:nvPr/>
        </p:nvCxnSpPr>
        <p:spPr>
          <a:xfrm>
            <a:off x="6821487" y="5392737"/>
            <a:ext cx="5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8" name="Google Shape;1328;p42"/>
          <p:cNvCxnSpPr/>
          <p:nvPr/>
        </p:nvCxnSpPr>
        <p:spPr>
          <a:xfrm>
            <a:off x="7343775" y="5392737"/>
            <a:ext cx="5238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9" name="Google Shape;1329;p42"/>
          <p:cNvCxnSpPr/>
          <p:nvPr/>
        </p:nvCxnSpPr>
        <p:spPr>
          <a:xfrm>
            <a:off x="7842250" y="3643249"/>
            <a:ext cx="0" cy="257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0" name="Google Shape;1330;p42"/>
          <p:cNvCxnSpPr/>
          <p:nvPr/>
        </p:nvCxnSpPr>
        <p:spPr>
          <a:xfrm flipH="1" rot="10800000">
            <a:off x="7842250" y="3768637"/>
            <a:ext cx="671400" cy="7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1" name="Google Shape;1331;p42"/>
          <p:cNvSpPr/>
          <p:nvPr/>
        </p:nvSpPr>
        <p:spPr>
          <a:xfrm>
            <a:off x="6049962" y="35687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2" name="Google Shape;1332;p42"/>
          <p:cNvSpPr/>
          <p:nvPr/>
        </p:nvSpPr>
        <p:spPr>
          <a:xfrm>
            <a:off x="6092825" y="4492625"/>
            <a:ext cx="4539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42"/>
          <p:cNvSpPr/>
          <p:nvPr/>
        </p:nvSpPr>
        <p:spPr>
          <a:xfrm>
            <a:off x="5626100" y="52181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42"/>
          <p:cNvSpPr/>
          <p:nvPr/>
        </p:nvSpPr>
        <p:spPr>
          <a:xfrm>
            <a:off x="6099175" y="6086475"/>
            <a:ext cx="453900" cy="46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42"/>
          <p:cNvSpPr/>
          <p:nvPr/>
        </p:nvSpPr>
        <p:spPr>
          <a:xfrm>
            <a:off x="6497637" y="51673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42"/>
          <p:cNvSpPr/>
          <p:nvPr/>
        </p:nvSpPr>
        <p:spPr>
          <a:xfrm>
            <a:off x="7119937" y="5141912"/>
            <a:ext cx="4731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2"/>
          <p:cNvSpPr/>
          <p:nvPr/>
        </p:nvSpPr>
        <p:spPr>
          <a:xfrm>
            <a:off x="7593012" y="608806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2"/>
          <p:cNvSpPr/>
          <p:nvPr/>
        </p:nvSpPr>
        <p:spPr>
          <a:xfrm>
            <a:off x="7593012" y="34686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42"/>
          <p:cNvSpPr/>
          <p:nvPr/>
        </p:nvSpPr>
        <p:spPr>
          <a:xfrm>
            <a:off x="8315325" y="34686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0" name="Google Shape;1340;p42"/>
          <p:cNvSpPr/>
          <p:nvPr/>
        </p:nvSpPr>
        <p:spPr>
          <a:xfrm>
            <a:off x="7618412" y="43434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42"/>
          <p:cNvSpPr txBox="1"/>
          <p:nvPr/>
        </p:nvSpPr>
        <p:spPr>
          <a:xfrm>
            <a:off x="6119812" y="3563937"/>
            <a:ext cx="2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2"/>
          <p:cNvSpPr txBox="1"/>
          <p:nvPr/>
        </p:nvSpPr>
        <p:spPr>
          <a:xfrm>
            <a:off x="7673975" y="3471862"/>
            <a:ext cx="10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8        9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42"/>
          <p:cNvSpPr txBox="1"/>
          <p:nvPr/>
        </p:nvSpPr>
        <p:spPr>
          <a:xfrm>
            <a:off x="7572375" y="4344987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42"/>
          <p:cNvSpPr txBox="1"/>
          <p:nvPr/>
        </p:nvSpPr>
        <p:spPr>
          <a:xfrm>
            <a:off x="5726112" y="4835525"/>
            <a:ext cx="206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42"/>
          <p:cNvSpPr txBox="1"/>
          <p:nvPr/>
        </p:nvSpPr>
        <p:spPr>
          <a:xfrm>
            <a:off x="6140450" y="61023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6" name="Google Shape;1346;p42"/>
          <p:cNvCxnSpPr/>
          <p:nvPr/>
        </p:nvCxnSpPr>
        <p:spPr>
          <a:xfrm>
            <a:off x="6450012" y="4919662"/>
            <a:ext cx="230100" cy="26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7" name="Google Shape;1347;p42"/>
          <p:cNvCxnSpPr/>
          <p:nvPr/>
        </p:nvCxnSpPr>
        <p:spPr>
          <a:xfrm flipH="1" rot="10800000">
            <a:off x="7456487" y="4743412"/>
            <a:ext cx="2811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8" name="Google Shape;1348;p42"/>
          <p:cNvSpPr txBox="1"/>
          <p:nvPr/>
        </p:nvSpPr>
        <p:spPr>
          <a:xfrm>
            <a:off x="1154112" y="3086100"/>
            <a:ext cx="349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connected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2"/>
          <p:cNvSpPr txBox="1"/>
          <p:nvPr/>
        </p:nvSpPr>
        <p:spPr>
          <a:xfrm>
            <a:off x="6175375" y="2955925"/>
            <a:ext cx="270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connected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3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3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43"/>
          <p:cNvSpPr txBox="1"/>
          <p:nvPr/>
        </p:nvSpPr>
        <p:spPr>
          <a:xfrm>
            <a:off x="1001712" y="717550"/>
            <a:ext cx="78723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biconnected component: a maximal connected subgraph H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subgraph that is both biconnected and properly contains 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7" name="Google Shape;1357;p43"/>
          <p:cNvCxnSpPr/>
          <p:nvPr/>
        </p:nvCxnSpPr>
        <p:spPr>
          <a:xfrm>
            <a:off x="1905000" y="2636837"/>
            <a:ext cx="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8" name="Google Shape;1358;p43"/>
          <p:cNvCxnSpPr/>
          <p:nvPr/>
        </p:nvCxnSpPr>
        <p:spPr>
          <a:xfrm flipH="1" rot="10800000">
            <a:off x="1981200" y="4186262"/>
            <a:ext cx="422400" cy="97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9" name="Google Shape;1359;p43"/>
          <p:cNvCxnSpPr/>
          <p:nvPr/>
        </p:nvCxnSpPr>
        <p:spPr>
          <a:xfrm>
            <a:off x="2428875" y="4211637"/>
            <a:ext cx="5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0" name="Google Shape;1360;p43"/>
          <p:cNvCxnSpPr/>
          <p:nvPr/>
        </p:nvCxnSpPr>
        <p:spPr>
          <a:xfrm>
            <a:off x="2951162" y="4211637"/>
            <a:ext cx="5238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1" name="Google Shape;1361;p43"/>
          <p:cNvCxnSpPr/>
          <p:nvPr/>
        </p:nvCxnSpPr>
        <p:spPr>
          <a:xfrm>
            <a:off x="3449637" y="2462149"/>
            <a:ext cx="0" cy="257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2" name="Google Shape;1362;p43"/>
          <p:cNvCxnSpPr/>
          <p:nvPr/>
        </p:nvCxnSpPr>
        <p:spPr>
          <a:xfrm flipH="1" rot="10800000">
            <a:off x="3449637" y="2587537"/>
            <a:ext cx="671400" cy="7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3" name="Google Shape;1363;p43"/>
          <p:cNvSpPr/>
          <p:nvPr/>
        </p:nvSpPr>
        <p:spPr>
          <a:xfrm>
            <a:off x="1657350" y="23876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4" name="Google Shape;1364;p43"/>
          <p:cNvSpPr/>
          <p:nvPr/>
        </p:nvSpPr>
        <p:spPr>
          <a:xfrm>
            <a:off x="1700212" y="3311525"/>
            <a:ext cx="4539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43"/>
          <p:cNvSpPr/>
          <p:nvPr/>
        </p:nvSpPr>
        <p:spPr>
          <a:xfrm>
            <a:off x="1233487" y="40370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6" name="Google Shape;1366;p43"/>
          <p:cNvSpPr/>
          <p:nvPr/>
        </p:nvSpPr>
        <p:spPr>
          <a:xfrm>
            <a:off x="1706562" y="4905375"/>
            <a:ext cx="453900" cy="46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43"/>
          <p:cNvSpPr/>
          <p:nvPr/>
        </p:nvSpPr>
        <p:spPr>
          <a:xfrm>
            <a:off x="2105025" y="39862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43"/>
          <p:cNvSpPr/>
          <p:nvPr/>
        </p:nvSpPr>
        <p:spPr>
          <a:xfrm>
            <a:off x="2727325" y="3960812"/>
            <a:ext cx="4731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43"/>
          <p:cNvSpPr/>
          <p:nvPr/>
        </p:nvSpPr>
        <p:spPr>
          <a:xfrm>
            <a:off x="3200400" y="490696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43"/>
          <p:cNvSpPr/>
          <p:nvPr/>
        </p:nvSpPr>
        <p:spPr>
          <a:xfrm>
            <a:off x="3200400" y="22875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1" name="Google Shape;1371;p43"/>
          <p:cNvSpPr/>
          <p:nvPr/>
        </p:nvSpPr>
        <p:spPr>
          <a:xfrm>
            <a:off x="3922712" y="22875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43"/>
          <p:cNvSpPr/>
          <p:nvPr/>
        </p:nvSpPr>
        <p:spPr>
          <a:xfrm>
            <a:off x="3225800" y="31623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43"/>
          <p:cNvSpPr txBox="1"/>
          <p:nvPr/>
        </p:nvSpPr>
        <p:spPr>
          <a:xfrm>
            <a:off x="1727200" y="2382837"/>
            <a:ext cx="2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3"/>
          <p:cNvSpPr txBox="1"/>
          <p:nvPr/>
        </p:nvSpPr>
        <p:spPr>
          <a:xfrm>
            <a:off x="3281362" y="2290762"/>
            <a:ext cx="10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8        9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43"/>
          <p:cNvSpPr txBox="1"/>
          <p:nvPr/>
        </p:nvSpPr>
        <p:spPr>
          <a:xfrm>
            <a:off x="3179762" y="3163887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43"/>
          <p:cNvSpPr txBox="1"/>
          <p:nvPr/>
        </p:nvSpPr>
        <p:spPr>
          <a:xfrm>
            <a:off x="1333500" y="3654425"/>
            <a:ext cx="206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43"/>
          <p:cNvSpPr txBox="1"/>
          <p:nvPr/>
        </p:nvSpPr>
        <p:spPr>
          <a:xfrm>
            <a:off x="1747837" y="492125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8" name="Google Shape;1378;p43"/>
          <p:cNvCxnSpPr/>
          <p:nvPr/>
        </p:nvCxnSpPr>
        <p:spPr>
          <a:xfrm>
            <a:off x="2057400" y="3738562"/>
            <a:ext cx="230100" cy="26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9" name="Google Shape;1379;p43"/>
          <p:cNvCxnSpPr/>
          <p:nvPr/>
        </p:nvCxnSpPr>
        <p:spPr>
          <a:xfrm flipH="1" rot="10800000">
            <a:off x="3063875" y="3562312"/>
            <a:ext cx="2811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0" name="Google Shape;1380;p43"/>
          <p:cNvCxnSpPr/>
          <p:nvPr/>
        </p:nvCxnSpPr>
        <p:spPr>
          <a:xfrm flipH="1">
            <a:off x="1535087" y="3721100"/>
            <a:ext cx="28260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1" name="Google Shape;1381;p43"/>
          <p:cNvCxnSpPr/>
          <p:nvPr/>
        </p:nvCxnSpPr>
        <p:spPr>
          <a:xfrm>
            <a:off x="1552575" y="4462462"/>
            <a:ext cx="265200" cy="4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2" name="Google Shape;1382;p43"/>
          <p:cNvCxnSpPr/>
          <p:nvPr/>
        </p:nvCxnSpPr>
        <p:spPr>
          <a:xfrm>
            <a:off x="5480050" y="2012950"/>
            <a:ext cx="15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3" name="Google Shape;1383;p43"/>
          <p:cNvSpPr/>
          <p:nvPr/>
        </p:nvSpPr>
        <p:spPr>
          <a:xfrm>
            <a:off x="5232400" y="17637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43"/>
          <p:cNvSpPr/>
          <p:nvPr/>
        </p:nvSpPr>
        <p:spPr>
          <a:xfrm>
            <a:off x="5275262" y="2687637"/>
            <a:ext cx="4539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43"/>
          <p:cNvSpPr txBox="1"/>
          <p:nvPr/>
        </p:nvSpPr>
        <p:spPr>
          <a:xfrm>
            <a:off x="5302250" y="1758950"/>
            <a:ext cx="2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6" name="Google Shape;1386;p43"/>
          <p:cNvCxnSpPr/>
          <p:nvPr/>
        </p:nvCxnSpPr>
        <p:spPr>
          <a:xfrm flipH="1" rot="10800000">
            <a:off x="5503862" y="4392637"/>
            <a:ext cx="422400" cy="97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7" name="Google Shape;1387;p43"/>
          <p:cNvSpPr/>
          <p:nvPr/>
        </p:nvSpPr>
        <p:spPr>
          <a:xfrm>
            <a:off x="5222875" y="3517900"/>
            <a:ext cx="4539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3"/>
          <p:cNvSpPr/>
          <p:nvPr/>
        </p:nvSpPr>
        <p:spPr>
          <a:xfrm>
            <a:off x="4756150" y="42433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43"/>
          <p:cNvSpPr/>
          <p:nvPr/>
        </p:nvSpPr>
        <p:spPr>
          <a:xfrm>
            <a:off x="5229225" y="5111750"/>
            <a:ext cx="453900" cy="46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0" name="Google Shape;1390;p43"/>
          <p:cNvSpPr/>
          <p:nvPr/>
        </p:nvSpPr>
        <p:spPr>
          <a:xfrm>
            <a:off x="5627687" y="41925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43"/>
          <p:cNvSpPr txBox="1"/>
          <p:nvPr/>
        </p:nvSpPr>
        <p:spPr>
          <a:xfrm>
            <a:off x="4856162" y="3860800"/>
            <a:ext cx="206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3"/>
          <p:cNvSpPr txBox="1"/>
          <p:nvPr/>
        </p:nvSpPr>
        <p:spPr>
          <a:xfrm>
            <a:off x="5270500" y="5127625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3" name="Google Shape;1393;p43"/>
          <p:cNvCxnSpPr/>
          <p:nvPr/>
        </p:nvCxnSpPr>
        <p:spPr>
          <a:xfrm>
            <a:off x="5580062" y="3944937"/>
            <a:ext cx="230100" cy="26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4" name="Google Shape;1394;p43"/>
          <p:cNvCxnSpPr/>
          <p:nvPr/>
        </p:nvCxnSpPr>
        <p:spPr>
          <a:xfrm flipH="1">
            <a:off x="5057750" y="3927475"/>
            <a:ext cx="282600" cy="33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5" name="Google Shape;1395;p43"/>
          <p:cNvCxnSpPr/>
          <p:nvPr/>
        </p:nvCxnSpPr>
        <p:spPr>
          <a:xfrm>
            <a:off x="5075237" y="4668837"/>
            <a:ext cx="265200" cy="47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6" name="Google Shape;1396;p43"/>
          <p:cNvCxnSpPr/>
          <p:nvPr/>
        </p:nvCxnSpPr>
        <p:spPr>
          <a:xfrm>
            <a:off x="6673850" y="4470400"/>
            <a:ext cx="5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7" name="Google Shape;1397;p43"/>
          <p:cNvSpPr/>
          <p:nvPr/>
        </p:nvSpPr>
        <p:spPr>
          <a:xfrm>
            <a:off x="6350000" y="424497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43"/>
          <p:cNvSpPr/>
          <p:nvPr/>
        </p:nvSpPr>
        <p:spPr>
          <a:xfrm>
            <a:off x="6972300" y="4219575"/>
            <a:ext cx="4731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3"/>
          <p:cNvSpPr/>
          <p:nvPr/>
        </p:nvSpPr>
        <p:spPr>
          <a:xfrm>
            <a:off x="6316662" y="17526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3"/>
          <p:cNvSpPr/>
          <p:nvPr/>
        </p:nvSpPr>
        <p:spPr>
          <a:xfrm>
            <a:off x="6342062" y="26273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1" name="Google Shape;1401;p43"/>
          <p:cNvSpPr txBox="1"/>
          <p:nvPr/>
        </p:nvSpPr>
        <p:spPr>
          <a:xfrm>
            <a:off x="6296025" y="2628900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2" name="Google Shape;1402;p43"/>
          <p:cNvCxnSpPr/>
          <p:nvPr/>
        </p:nvCxnSpPr>
        <p:spPr>
          <a:xfrm>
            <a:off x="6562725" y="2222500"/>
            <a:ext cx="0" cy="40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3" name="Google Shape;1403;p43"/>
          <p:cNvCxnSpPr/>
          <p:nvPr/>
        </p:nvCxnSpPr>
        <p:spPr>
          <a:xfrm flipH="1" rot="10800000">
            <a:off x="7783512" y="2033499"/>
            <a:ext cx="671400" cy="7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4" name="Google Shape;1404;p43"/>
          <p:cNvSpPr/>
          <p:nvPr/>
        </p:nvSpPr>
        <p:spPr>
          <a:xfrm>
            <a:off x="8256587" y="173355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43"/>
          <p:cNvSpPr/>
          <p:nvPr/>
        </p:nvSpPr>
        <p:spPr>
          <a:xfrm>
            <a:off x="7559675" y="260826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43"/>
          <p:cNvSpPr txBox="1"/>
          <p:nvPr/>
        </p:nvSpPr>
        <p:spPr>
          <a:xfrm>
            <a:off x="8351837" y="1754187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43"/>
          <p:cNvSpPr txBox="1"/>
          <p:nvPr/>
        </p:nvSpPr>
        <p:spPr>
          <a:xfrm>
            <a:off x="7513637" y="2609850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8" name="Google Shape;1408;p43"/>
          <p:cNvCxnSpPr/>
          <p:nvPr/>
        </p:nvCxnSpPr>
        <p:spPr>
          <a:xfrm>
            <a:off x="7813675" y="4416425"/>
            <a:ext cx="5238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9" name="Google Shape;1409;p43"/>
          <p:cNvSpPr/>
          <p:nvPr/>
        </p:nvSpPr>
        <p:spPr>
          <a:xfrm>
            <a:off x="7589837" y="4165600"/>
            <a:ext cx="4731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43"/>
          <p:cNvSpPr/>
          <p:nvPr/>
        </p:nvSpPr>
        <p:spPr>
          <a:xfrm>
            <a:off x="8062912" y="511175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3"/>
          <p:cNvSpPr/>
          <p:nvPr/>
        </p:nvSpPr>
        <p:spPr>
          <a:xfrm>
            <a:off x="8088312" y="3367087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43"/>
          <p:cNvSpPr txBox="1"/>
          <p:nvPr/>
        </p:nvSpPr>
        <p:spPr>
          <a:xfrm>
            <a:off x="8042275" y="3368675"/>
            <a:ext cx="4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3" name="Google Shape;1413;p43"/>
          <p:cNvCxnSpPr/>
          <p:nvPr/>
        </p:nvCxnSpPr>
        <p:spPr>
          <a:xfrm flipH="1" rot="10800000">
            <a:off x="7926387" y="3767099"/>
            <a:ext cx="2811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4" name="Google Shape;1414;p43"/>
          <p:cNvSpPr txBox="1"/>
          <p:nvPr/>
        </p:nvSpPr>
        <p:spPr>
          <a:xfrm>
            <a:off x="5111750" y="5803900"/>
            <a:ext cx="320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biconnected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4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44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44"/>
          <p:cNvSpPr txBox="1"/>
          <p:nvPr/>
        </p:nvSpPr>
        <p:spPr>
          <a:xfrm>
            <a:off x="781050" y="84137"/>
            <a:ext cx="82185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biconnected component of a connected undirected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b="1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first spanning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44"/>
          <p:cNvSpPr txBox="1"/>
          <p:nvPr/>
        </p:nvSpPr>
        <p:spPr>
          <a:xfrm>
            <a:off x="7165975" y="4057650"/>
            <a:ext cx="18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8          9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3" name="Google Shape;1423;p44"/>
          <p:cNvCxnSpPr/>
          <p:nvPr/>
        </p:nvCxnSpPr>
        <p:spPr>
          <a:xfrm flipH="1">
            <a:off x="7715250" y="3086100"/>
            <a:ext cx="685800" cy="8001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4" name="Google Shape;1424;p44"/>
          <p:cNvCxnSpPr/>
          <p:nvPr/>
        </p:nvCxnSpPr>
        <p:spPr>
          <a:xfrm>
            <a:off x="7753350" y="2381250"/>
            <a:ext cx="647700" cy="685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5" name="Google Shape;1425;p44"/>
          <p:cNvCxnSpPr/>
          <p:nvPr/>
        </p:nvCxnSpPr>
        <p:spPr>
          <a:xfrm>
            <a:off x="4914900" y="1543050"/>
            <a:ext cx="18477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6" name="Google Shape;1426;p44"/>
          <p:cNvCxnSpPr/>
          <p:nvPr/>
        </p:nvCxnSpPr>
        <p:spPr>
          <a:xfrm>
            <a:off x="1928812" y="1949450"/>
            <a:ext cx="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7" name="Google Shape;1427;p44"/>
          <p:cNvCxnSpPr/>
          <p:nvPr/>
        </p:nvCxnSpPr>
        <p:spPr>
          <a:xfrm flipH="1">
            <a:off x="1481212" y="2824162"/>
            <a:ext cx="447600" cy="74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8" name="Google Shape;1428;p44"/>
          <p:cNvCxnSpPr/>
          <p:nvPr/>
        </p:nvCxnSpPr>
        <p:spPr>
          <a:xfrm>
            <a:off x="1481137" y="3573462"/>
            <a:ext cx="523800" cy="92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9" name="Google Shape;1429;p44"/>
          <p:cNvCxnSpPr/>
          <p:nvPr/>
        </p:nvCxnSpPr>
        <p:spPr>
          <a:xfrm flipH="1" rot="10800000">
            <a:off x="2005012" y="3498875"/>
            <a:ext cx="422400" cy="97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0" name="Google Shape;1430;p44"/>
          <p:cNvCxnSpPr/>
          <p:nvPr/>
        </p:nvCxnSpPr>
        <p:spPr>
          <a:xfrm>
            <a:off x="2452687" y="3524250"/>
            <a:ext cx="5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1" name="Google Shape;1431;p44"/>
          <p:cNvCxnSpPr/>
          <p:nvPr/>
        </p:nvCxnSpPr>
        <p:spPr>
          <a:xfrm>
            <a:off x="2974975" y="3524250"/>
            <a:ext cx="523800" cy="87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2" name="Google Shape;1432;p44"/>
          <p:cNvCxnSpPr/>
          <p:nvPr/>
        </p:nvCxnSpPr>
        <p:spPr>
          <a:xfrm>
            <a:off x="3473450" y="1774762"/>
            <a:ext cx="0" cy="257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3" name="Google Shape;1433;p44"/>
          <p:cNvCxnSpPr/>
          <p:nvPr/>
        </p:nvCxnSpPr>
        <p:spPr>
          <a:xfrm flipH="1" rot="10800000">
            <a:off x="3473450" y="1900149"/>
            <a:ext cx="671400" cy="79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4" name="Google Shape;1434;p44"/>
          <p:cNvSpPr/>
          <p:nvPr/>
        </p:nvSpPr>
        <p:spPr>
          <a:xfrm>
            <a:off x="1681162" y="17002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44"/>
          <p:cNvSpPr/>
          <p:nvPr/>
        </p:nvSpPr>
        <p:spPr>
          <a:xfrm>
            <a:off x="1724025" y="2624137"/>
            <a:ext cx="4539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44"/>
          <p:cNvSpPr/>
          <p:nvPr/>
        </p:nvSpPr>
        <p:spPr>
          <a:xfrm>
            <a:off x="1257300" y="334962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44"/>
          <p:cNvSpPr/>
          <p:nvPr/>
        </p:nvSpPr>
        <p:spPr>
          <a:xfrm>
            <a:off x="1730375" y="4217987"/>
            <a:ext cx="453900" cy="468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8" name="Google Shape;1438;p44"/>
          <p:cNvSpPr/>
          <p:nvPr/>
        </p:nvSpPr>
        <p:spPr>
          <a:xfrm>
            <a:off x="2128837" y="329882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9" name="Google Shape;1439;p44"/>
          <p:cNvSpPr/>
          <p:nvPr/>
        </p:nvSpPr>
        <p:spPr>
          <a:xfrm>
            <a:off x="2751137" y="3273425"/>
            <a:ext cx="473100" cy="450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0" name="Google Shape;1440;p44"/>
          <p:cNvSpPr/>
          <p:nvPr/>
        </p:nvSpPr>
        <p:spPr>
          <a:xfrm>
            <a:off x="3224212" y="4219575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1" name="Google Shape;1441;p44"/>
          <p:cNvSpPr/>
          <p:nvPr/>
        </p:nvSpPr>
        <p:spPr>
          <a:xfrm>
            <a:off x="3224212" y="16002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2" name="Google Shape;1442;p44"/>
          <p:cNvSpPr/>
          <p:nvPr/>
        </p:nvSpPr>
        <p:spPr>
          <a:xfrm>
            <a:off x="3946525" y="1600200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3" name="Google Shape;1443;p44"/>
          <p:cNvSpPr/>
          <p:nvPr/>
        </p:nvSpPr>
        <p:spPr>
          <a:xfrm>
            <a:off x="3249612" y="2474912"/>
            <a:ext cx="473100" cy="449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4" name="Google Shape;1444;p44"/>
          <p:cNvSpPr txBox="1"/>
          <p:nvPr/>
        </p:nvSpPr>
        <p:spPr>
          <a:xfrm>
            <a:off x="1203325" y="1695450"/>
            <a:ext cx="87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4    0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44"/>
          <p:cNvSpPr txBox="1"/>
          <p:nvPr/>
        </p:nvSpPr>
        <p:spPr>
          <a:xfrm>
            <a:off x="1203325" y="262890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6" name="Google Shape;1446;p44"/>
          <p:cNvSpPr txBox="1"/>
          <p:nvPr/>
        </p:nvSpPr>
        <p:spPr>
          <a:xfrm>
            <a:off x="2155825" y="2922587"/>
            <a:ext cx="10224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0      5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3      5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44"/>
          <p:cNvSpPr txBox="1"/>
          <p:nvPr/>
        </p:nvSpPr>
        <p:spPr>
          <a:xfrm>
            <a:off x="1793875" y="4237037"/>
            <a:ext cx="18606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4                  6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1                  6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44"/>
          <p:cNvSpPr txBox="1"/>
          <p:nvPr/>
        </p:nvSpPr>
        <p:spPr>
          <a:xfrm>
            <a:off x="2898775" y="1619250"/>
            <a:ext cx="193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9   8        9   8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4"/>
          <p:cNvSpPr txBox="1"/>
          <p:nvPr/>
        </p:nvSpPr>
        <p:spPr>
          <a:xfrm>
            <a:off x="3203575" y="2476500"/>
            <a:ext cx="79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7  7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44"/>
          <p:cNvCxnSpPr/>
          <p:nvPr/>
        </p:nvCxnSpPr>
        <p:spPr>
          <a:xfrm>
            <a:off x="5791200" y="2409825"/>
            <a:ext cx="0" cy="240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1" name="Google Shape;1451;p44"/>
          <p:cNvCxnSpPr/>
          <p:nvPr/>
        </p:nvCxnSpPr>
        <p:spPr>
          <a:xfrm>
            <a:off x="7742237" y="2438400"/>
            <a:ext cx="0" cy="232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2" name="Google Shape;1452;p44"/>
          <p:cNvCxnSpPr/>
          <p:nvPr/>
        </p:nvCxnSpPr>
        <p:spPr>
          <a:xfrm>
            <a:off x="7742237" y="3895725"/>
            <a:ext cx="887400" cy="83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3" name="Google Shape;1453;p44"/>
          <p:cNvCxnSpPr/>
          <p:nvPr/>
        </p:nvCxnSpPr>
        <p:spPr>
          <a:xfrm>
            <a:off x="5791200" y="2400300"/>
            <a:ext cx="194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4" name="Google Shape;1454;p44"/>
          <p:cNvSpPr/>
          <p:nvPr/>
        </p:nvSpPr>
        <p:spPr>
          <a:xfrm>
            <a:off x="6496050" y="13525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4"/>
          <p:cNvSpPr/>
          <p:nvPr/>
        </p:nvSpPr>
        <p:spPr>
          <a:xfrm>
            <a:off x="5562600" y="21717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4"/>
          <p:cNvSpPr/>
          <p:nvPr/>
        </p:nvSpPr>
        <p:spPr>
          <a:xfrm>
            <a:off x="7505700" y="21907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4"/>
          <p:cNvSpPr/>
          <p:nvPr/>
        </p:nvSpPr>
        <p:spPr>
          <a:xfrm>
            <a:off x="7543800" y="36195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4"/>
          <p:cNvSpPr/>
          <p:nvPr/>
        </p:nvSpPr>
        <p:spPr>
          <a:xfrm>
            <a:off x="7543800" y="28956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44"/>
          <p:cNvSpPr/>
          <p:nvPr/>
        </p:nvSpPr>
        <p:spPr>
          <a:xfrm>
            <a:off x="7505700" y="44005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44"/>
          <p:cNvSpPr/>
          <p:nvPr/>
        </p:nvSpPr>
        <p:spPr>
          <a:xfrm>
            <a:off x="8401050" y="44005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44"/>
          <p:cNvSpPr/>
          <p:nvPr/>
        </p:nvSpPr>
        <p:spPr>
          <a:xfrm>
            <a:off x="5524500" y="29146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44"/>
          <p:cNvSpPr/>
          <p:nvPr/>
        </p:nvSpPr>
        <p:spPr>
          <a:xfrm>
            <a:off x="5581650" y="44577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3" name="Google Shape;1463;p44"/>
          <p:cNvCxnSpPr/>
          <p:nvPr/>
        </p:nvCxnSpPr>
        <p:spPr>
          <a:xfrm>
            <a:off x="4914900" y="1543050"/>
            <a:ext cx="0" cy="23622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4" name="Google Shape;1464;p44"/>
          <p:cNvCxnSpPr/>
          <p:nvPr/>
        </p:nvCxnSpPr>
        <p:spPr>
          <a:xfrm>
            <a:off x="4914900" y="3905250"/>
            <a:ext cx="8763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5" name="Google Shape;1465;p44"/>
          <p:cNvSpPr/>
          <p:nvPr/>
        </p:nvSpPr>
        <p:spPr>
          <a:xfrm>
            <a:off x="5562600" y="36576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44"/>
          <p:cNvSpPr txBox="1"/>
          <p:nvPr/>
        </p:nvSpPr>
        <p:spPr>
          <a:xfrm>
            <a:off x="6575425" y="91440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44"/>
          <p:cNvSpPr txBox="1"/>
          <p:nvPr/>
        </p:nvSpPr>
        <p:spPr>
          <a:xfrm>
            <a:off x="7127875" y="2882900"/>
            <a:ext cx="4128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44"/>
          <p:cNvSpPr txBox="1"/>
          <p:nvPr/>
        </p:nvSpPr>
        <p:spPr>
          <a:xfrm>
            <a:off x="5813425" y="1752600"/>
            <a:ext cx="20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1                    5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44"/>
          <p:cNvSpPr txBox="1"/>
          <p:nvPr/>
        </p:nvSpPr>
        <p:spPr>
          <a:xfrm>
            <a:off x="5203825" y="3013075"/>
            <a:ext cx="3747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4"/>
          <p:cNvSpPr txBox="1"/>
          <p:nvPr/>
        </p:nvSpPr>
        <p:spPr>
          <a:xfrm>
            <a:off x="5851525" y="3295650"/>
            <a:ext cx="27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4"/>
          <p:cNvSpPr txBox="1"/>
          <p:nvPr/>
        </p:nvSpPr>
        <p:spPr>
          <a:xfrm>
            <a:off x="1016000" y="5238750"/>
            <a:ext cx="611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 depth first spanning tree                             (b)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44"/>
          <p:cNvSpPr txBox="1"/>
          <p:nvPr/>
        </p:nvSpPr>
        <p:spPr>
          <a:xfrm>
            <a:off x="685800" y="3333750"/>
            <a:ext cx="9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2    2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44"/>
          <p:cNvCxnSpPr/>
          <p:nvPr/>
        </p:nvCxnSpPr>
        <p:spPr>
          <a:xfrm flipH="1">
            <a:off x="5945149" y="1833562"/>
            <a:ext cx="6525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4" name="Google Shape;1474;p44"/>
          <p:cNvCxnSpPr/>
          <p:nvPr/>
        </p:nvCxnSpPr>
        <p:spPr>
          <a:xfrm>
            <a:off x="6897687" y="1816100"/>
            <a:ext cx="687300" cy="4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5" name="Google Shape;1475;p44"/>
          <p:cNvSpPr/>
          <p:nvPr/>
        </p:nvSpPr>
        <p:spPr>
          <a:xfrm>
            <a:off x="2133600" y="3298825"/>
            <a:ext cx="476400" cy="439800"/>
          </a:xfrm>
          <a:prstGeom prst="ellipse">
            <a:avLst/>
          </a:prstGeom>
          <a:solidFill>
            <a:srgbClr val="CC3300">
              <a:alpha val="49019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44"/>
          <p:cNvSpPr txBox="1"/>
          <p:nvPr/>
        </p:nvSpPr>
        <p:spPr>
          <a:xfrm>
            <a:off x="2090737" y="3790950"/>
            <a:ext cx="11145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44"/>
          <p:cNvSpPr txBox="1"/>
          <p:nvPr/>
        </p:nvSpPr>
        <p:spPr>
          <a:xfrm>
            <a:off x="3729037" y="2141537"/>
            <a:ext cx="16128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(back edge)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44"/>
          <p:cNvSpPr txBox="1"/>
          <p:nvPr/>
        </p:nvSpPr>
        <p:spPr>
          <a:xfrm>
            <a:off x="7531100" y="682625"/>
            <a:ext cx="16128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(back edge)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44"/>
          <p:cNvSpPr txBox="1"/>
          <p:nvPr/>
        </p:nvSpPr>
        <p:spPr>
          <a:xfrm>
            <a:off x="4956175" y="4975225"/>
            <a:ext cx="39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cross edge impossible?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44"/>
          <p:cNvSpPr txBox="1"/>
          <p:nvPr/>
        </p:nvSpPr>
        <p:spPr>
          <a:xfrm>
            <a:off x="2159000" y="5767387"/>
            <a:ext cx="550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u is an ancestor of v then dfn(u) &lt; dfn(v).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5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5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45"/>
          <p:cNvSpPr txBox="1"/>
          <p:nvPr/>
        </p:nvSpPr>
        <p:spPr>
          <a:xfrm>
            <a:off x="742950" y="261937"/>
            <a:ext cx="9144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*Figure 6.24</a:t>
            </a: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1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dfn</a:t>
            </a: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1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values for </a:t>
            </a:r>
            <a:r>
              <a:rPr b="0" i="1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dfs </a:t>
            </a: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spanning tree with</a:t>
            </a:r>
            <a:r>
              <a:rPr b="0" i="1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root</a:t>
            </a:r>
            <a:r>
              <a:rPr b="0" i="0" lang="en-US" sz="22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=3(p.281)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8" name="Google Shape;148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00" y="1728787"/>
            <a:ext cx="6650037" cy="26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6"/>
          <p:cNvSpPr txBox="1"/>
          <p:nvPr/>
        </p:nvSpPr>
        <p:spPr>
          <a:xfrm>
            <a:off x="2762250" y="609758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46"/>
          <p:cNvSpPr txBox="1"/>
          <p:nvPr/>
        </p:nvSpPr>
        <p:spPr>
          <a:xfrm>
            <a:off x="6191250" y="609758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46"/>
          <p:cNvSpPr txBox="1"/>
          <p:nvPr/>
        </p:nvSpPr>
        <p:spPr>
          <a:xfrm>
            <a:off x="3197225" y="3143250"/>
            <a:ext cx="18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8          9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6" name="Google Shape;1496;p46"/>
          <p:cNvCxnSpPr/>
          <p:nvPr/>
        </p:nvCxnSpPr>
        <p:spPr>
          <a:xfrm flipH="1">
            <a:off x="3746500" y="2171700"/>
            <a:ext cx="685800" cy="8001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46"/>
          <p:cNvCxnSpPr/>
          <p:nvPr/>
        </p:nvCxnSpPr>
        <p:spPr>
          <a:xfrm>
            <a:off x="3784600" y="1466850"/>
            <a:ext cx="647700" cy="685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8" name="Google Shape;1498;p46"/>
          <p:cNvCxnSpPr/>
          <p:nvPr/>
        </p:nvCxnSpPr>
        <p:spPr>
          <a:xfrm>
            <a:off x="946150" y="628650"/>
            <a:ext cx="18477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9" name="Google Shape;1499;p46"/>
          <p:cNvCxnSpPr/>
          <p:nvPr/>
        </p:nvCxnSpPr>
        <p:spPr>
          <a:xfrm>
            <a:off x="1822450" y="1495425"/>
            <a:ext cx="0" cy="240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0" name="Google Shape;1500;p46"/>
          <p:cNvCxnSpPr/>
          <p:nvPr/>
        </p:nvCxnSpPr>
        <p:spPr>
          <a:xfrm>
            <a:off x="3773487" y="1524000"/>
            <a:ext cx="0" cy="232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1" name="Google Shape;1501;p46"/>
          <p:cNvCxnSpPr/>
          <p:nvPr/>
        </p:nvCxnSpPr>
        <p:spPr>
          <a:xfrm>
            <a:off x="3773487" y="2981325"/>
            <a:ext cx="887400" cy="83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2" name="Google Shape;1502;p46"/>
          <p:cNvCxnSpPr/>
          <p:nvPr/>
        </p:nvCxnSpPr>
        <p:spPr>
          <a:xfrm>
            <a:off x="1822450" y="1485900"/>
            <a:ext cx="194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3" name="Google Shape;1503;p46"/>
          <p:cNvSpPr/>
          <p:nvPr/>
        </p:nvSpPr>
        <p:spPr>
          <a:xfrm>
            <a:off x="2527300" y="4381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46"/>
          <p:cNvSpPr/>
          <p:nvPr/>
        </p:nvSpPr>
        <p:spPr>
          <a:xfrm>
            <a:off x="1593850" y="12573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46"/>
          <p:cNvSpPr/>
          <p:nvPr/>
        </p:nvSpPr>
        <p:spPr>
          <a:xfrm>
            <a:off x="3536950" y="12763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46"/>
          <p:cNvSpPr/>
          <p:nvPr/>
        </p:nvSpPr>
        <p:spPr>
          <a:xfrm>
            <a:off x="3575050" y="27051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46"/>
          <p:cNvSpPr/>
          <p:nvPr/>
        </p:nvSpPr>
        <p:spPr>
          <a:xfrm>
            <a:off x="3575050" y="19812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46"/>
          <p:cNvSpPr/>
          <p:nvPr/>
        </p:nvSpPr>
        <p:spPr>
          <a:xfrm>
            <a:off x="3536950" y="34861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46"/>
          <p:cNvSpPr/>
          <p:nvPr/>
        </p:nvSpPr>
        <p:spPr>
          <a:xfrm>
            <a:off x="4432300" y="34861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46"/>
          <p:cNvSpPr/>
          <p:nvPr/>
        </p:nvSpPr>
        <p:spPr>
          <a:xfrm>
            <a:off x="1555750" y="200025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46"/>
          <p:cNvSpPr/>
          <p:nvPr/>
        </p:nvSpPr>
        <p:spPr>
          <a:xfrm>
            <a:off x="1612900" y="35433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2" name="Google Shape;1512;p46"/>
          <p:cNvCxnSpPr/>
          <p:nvPr/>
        </p:nvCxnSpPr>
        <p:spPr>
          <a:xfrm>
            <a:off x="946150" y="628650"/>
            <a:ext cx="0" cy="23622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3" name="Google Shape;1513;p46"/>
          <p:cNvCxnSpPr/>
          <p:nvPr/>
        </p:nvCxnSpPr>
        <p:spPr>
          <a:xfrm>
            <a:off x="946150" y="2990850"/>
            <a:ext cx="8763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4" name="Google Shape;1514;p46"/>
          <p:cNvSpPr/>
          <p:nvPr/>
        </p:nvSpPr>
        <p:spPr>
          <a:xfrm>
            <a:off x="1593850" y="2743200"/>
            <a:ext cx="495300" cy="476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46"/>
          <p:cNvSpPr txBox="1"/>
          <p:nvPr/>
        </p:nvSpPr>
        <p:spPr>
          <a:xfrm>
            <a:off x="2606675" y="0"/>
            <a:ext cx="33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46"/>
          <p:cNvSpPr txBox="1"/>
          <p:nvPr/>
        </p:nvSpPr>
        <p:spPr>
          <a:xfrm>
            <a:off x="3159125" y="1968500"/>
            <a:ext cx="4128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46"/>
          <p:cNvSpPr txBox="1"/>
          <p:nvPr/>
        </p:nvSpPr>
        <p:spPr>
          <a:xfrm>
            <a:off x="1844675" y="838200"/>
            <a:ext cx="205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1                    5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46"/>
          <p:cNvSpPr txBox="1"/>
          <p:nvPr/>
        </p:nvSpPr>
        <p:spPr>
          <a:xfrm>
            <a:off x="1235075" y="2098675"/>
            <a:ext cx="3747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rgbClr val="CC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46"/>
          <p:cNvSpPr txBox="1"/>
          <p:nvPr/>
        </p:nvSpPr>
        <p:spPr>
          <a:xfrm>
            <a:off x="1882775" y="2381250"/>
            <a:ext cx="27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0" name="Google Shape;1520;p46"/>
          <p:cNvCxnSpPr/>
          <p:nvPr/>
        </p:nvCxnSpPr>
        <p:spPr>
          <a:xfrm flipH="1">
            <a:off x="1976399" y="919162"/>
            <a:ext cx="652500" cy="4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1" name="Google Shape;1521;p46"/>
          <p:cNvCxnSpPr/>
          <p:nvPr/>
        </p:nvCxnSpPr>
        <p:spPr>
          <a:xfrm>
            <a:off x="2928937" y="901700"/>
            <a:ext cx="687300" cy="44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2" name="Google Shape;1522;p46"/>
          <p:cNvSpPr txBox="1"/>
          <p:nvPr/>
        </p:nvSpPr>
        <p:spPr>
          <a:xfrm>
            <a:off x="877887" y="4097337"/>
            <a:ext cx="4284600" cy="22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low(u)=min{dfn(u),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min{low(w)|w is a child of u},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min{dfn(w)|(u,w) is a back edge}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u: articulation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low(child) ≥ dfn(u)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46"/>
          <p:cNvSpPr txBox="1"/>
          <p:nvPr/>
        </p:nvSpPr>
        <p:spPr>
          <a:xfrm>
            <a:off x="4395787" y="452437"/>
            <a:ext cx="44133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*The root of a depth first spanning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is an articulation point iff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at least two children.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46"/>
          <p:cNvSpPr txBox="1"/>
          <p:nvPr/>
        </p:nvSpPr>
        <p:spPr>
          <a:xfrm>
            <a:off x="4360862" y="1998662"/>
            <a:ext cx="47832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*Any other vertex u is an articulation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iff it has at least one child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such that we cannot reach an ancestor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u using a path that consists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only w (2) descendants of w (3)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back 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