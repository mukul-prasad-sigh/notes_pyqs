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960" r:id="rId2"/>
    <p:sldId id="956" r:id="rId3"/>
    <p:sldId id="964" r:id="rId4"/>
    <p:sldId id="1041" r:id="rId5"/>
    <p:sldId id="1207" r:id="rId6"/>
    <p:sldId id="1155" r:id="rId7"/>
    <p:sldId id="1050" r:id="rId8"/>
    <p:sldId id="1051" r:id="rId9"/>
    <p:sldId id="1052" r:id="rId10"/>
    <p:sldId id="1053" r:id="rId11"/>
    <p:sldId id="1054" r:id="rId12"/>
    <p:sldId id="1204" r:id="rId13"/>
    <p:sldId id="1205" r:id="rId14"/>
    <p:sldId id="1206" r:id="rId15"/>
    <p:sldId id="1055" r:id="rId16"/>
    <p:sldId id="1160" r:id="rId17"/>
    <p:sldId id="1042" r:id="rId18"/>
    <p:sldId id="1161" r:id="rId19"/>
    <p:sldId id="1162" r:id="rId20"/>
    <p:sldId id="1164" r:id="rId21"/>
    <p:sldId id="1165" r:id="rId22"/>
    <p:sldId id="1166" r:id="rId23"/>
    <p:sldId id="1167" r:id="rId24"/>
    <p:sldId id="1058" r:id="rId25"/>
    <p:sldId id="1168" r:id="rId26"/>
    <p:sldId id="1169" r:id="rId27"/>
    <p:sldId id="1170" r:id="rId28"/>
    <p:sldId id="1208" r:id="rId29"/>
    <p:sldId id="1171" r:id="rId30"/>
    <p:sldId id="1044" r:id="rId31"/>
    <p:sldId id="1096" r:id="rId32"/>
    <p:sldId id="1203" r:id="rId33"/>
    <p:sldId id="1098" r:id="rId34"/>
    <p:sldId id="1099" r:id="rId35"/>
    <p:sldId id="1100" r:id="rId36"/>
    <p:sldId id="1101" r:id="rId37"/>
    <p:sldId id="1102" r:id="rId38"/>
    <p:sldId id="1104" r:id="rId39"/>
    <p:sldId id="1108" r:id="rId40"/>
    <p:sldId id="1106" r:id="rId41"/>
    <p:sldId id="1107" r:id="rId42"/>
    <p:sldId id="1110" r:id="rId43"/>
    <p:sldId id="1111" r:id="rId44"/>
    <p:sldId id="1112" r:id="rId45"/>
    <p:sldId id="1215" r:id="rId46"/>
    <p:sldId id="1214" r:id="rId47"/>
    <p:sldId id="1210" r:id="rId48"/>
    <p:sldId id="1211" r:id="rId49"/>
    <p:sldId id="1212" r:id="rId50"/>
    <p:sldId id="1213" r:id="rId51"/>
    <p:sldId id="1119" r:id="rId52"/>
    <p:sldId id="1046" r:id="rId53"/>
    <p:sldId id="1193" r:id="rId54"/>
    <p:sldId id="1194" r:id="rId55"/>
    <p:sldId id="1132" r:id="rId56"/>
    <p:sldId id="1133" r:id="rId57"/>
    <p:sldId id="1134" r:id="rId58"/>
    <p:sldId id="113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06" autoAdjust="0"/>
    <p:restoredTop sz="90729"/>
  </p:normalViewPr>
  <p:slideViewPr>
    <p:cSldViewPr snapToGrid="0" snapToObjects="1">
      <p:cViewPr varScale="1">
        <p:scale>
          <a:sx n="87" d="100"/>
          <a:sy n="87" d="100"/>
        </p:scale>
        <p:origin x="324" y="84"/>
      </p:cViewPr>
      <p:guideLst>
        <p:guide orient="horz" pos="2160"/>
        <p:guide pos="3840"/>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pPr/>
              <a:t>6/7/2023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pPr/>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(April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added new  8</a:t>
            </a:r>
            <a:r>
              <a:rPr lang="en-US" baseline="30000" dirty="0"/>
              <a:t>th</a:t>
            </a:r>
            <a:r>
              <a:rPr lang="en-US" dirty="0"/>
              <a:t> edition material on QUIC, CUBIC, delay-based congestion control</a:t>
            </a:r>
          </a:p>
          <a:p>
            <a:pPr marL="171450" indent="-171450">
              <a:buFont typeface="Arial" panose="020B0604020202020204" pitchFamily="34" charset="0"/>
              <a:buChar char="•"/>
            </a:pPr>
            <a:r>
              <a:rPr lang="en-US" dirty="0"/>
              <a:t>lighter header font</a:t>
            </a:r>
          </a:p>
        </p:txBody>
      </p:sp>
      <p:sp>
        <p:nvSpPr>
          <p:cNvPr id="4" name="Slide Number Placeholder 3"/>
          <p:cNvSpPr>
            <a:spLocks noGrp="1"/>
          </p:cNvSpPr>
          <p:nvPr>
            <p:ph type="sldNum" sz="quarter" idx="5"/>
          </p:nvPr>
        </p:nvSpPr>
        <p:spPr/>
        <p:txBody>
          <a:bodyPr/>
          <a:lstStyle/>
          <a:p>
            <a:fld id="{3D91EEAC-CFEF-9647-876F-EABC6B8338D7}" type="slidenum">
              <a:rPr lang="en-US" smtClean="0"/>
              <a:pPr/>
              <a:t>1</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pPr/>
              <a:t>2</a:t>
            </a:fld>
            <a:endParaRPr lang="en-US"/>
          </a:p>
        </p:txBody>
      </p:sp>
    </p:spTree>
    <p:extLst>
      <p:ext uri="{BB962C8B-B14F-4D97-AF65-F5344CB8AC3E}">
        <p14:creationId xmlns:p14="http://schemas.microsoft.com/office/powerpoint/2010/main" val="2616235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pPr/>
              <a:t>3</a:t>
            </a:fld>
            <a:endParaRPr lang="en-US"/>
          </a:p>
        </p:txBody>
      </p:sp>
    </p:spTree>
    <p:extLst>
      <p:ext uri="{BB962C8B-B14F-4D97-AF65-F5344CB8AC3E}">
        <p14:creationId xmlns:p14="http://schemas.microsoft.com/office/powerpoint/2010/main" val="1624932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pPr/>
              <a:t>4</a:t>
            </a:fld>
            <a:endParaRPr lang="en-US"/>
          </a:p>
        </p:txBody>
      </p:sp>
    </p:spTree>
    <p:extLst>
      <p:ext uri="{BB962C8B-B14F-4D97-AF65-F5344CB8AC3E}">
        <p14:creationId xmlns:p14="http://schemas.microsoft.com/office/powerpoint/2010/main" val="116768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513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282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333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1462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143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59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94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5341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pPr/>
              <a:t>17</a:t>
            </a:fld>
            <a:endParaRPr lang="en-US"/>
          </a:p>
        </p:txBody>
      </p:sp>
    </p:spTree>
    <p:extLst>
      <p:ext uri="{BB962C8B-B14F-4D97-AF65-F5344CB8AC3E}">
        <p14:creationId xmlns:p14="http://schemas.microsoft.com/office/powerpoint/2010/main" val="3390898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369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25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3869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922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057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4069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381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24433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0769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338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1965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pPr/>
              <a:t>30</a:t>
            </a:fld>
            <a:endParaRPr lang="en-US"/>
          </a:p>
        </p:txBody>
      </p:sp>
    </p:spTree>
    <p:extLst>
      <p:ext uri="{BB962C8B-B14F-4D97-AF65-F5344CB8AC3E}">
        <p14:creationId xmlns:p14="http://schemas.microsoft.com/office/powerpoint/2010/main" val="3882601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MSS is 1460 bytes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584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94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878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a:t>
            </a:r>
            <a:r>
              <a:rPr lang="en-US" dirty="0" err="1"/>
              <a:t>toB</a:t>
            </a:r>
            <a:r>
              <a:rPr lang="en-US" dirty="0"/>
              <a:t>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a:t>
            </a:r>
            <a:r>
              <a:rPr lang="en-US"/>
              <a:t>last A-to-B </a:t>
            </a:r>
            <a:r>
              <a:rPr lang="en-US" dirty="0"/>
              <a:t>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82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36266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is how TCP re-computes the estimated RTT each time a new </a:t>
            </a:r>
            <a:r>
              <a:rPr lang="en-US" dirty="0" err="1"/>
              <a:t>SampleRTT</a:t>
            </a:r>
            <a:r>
              <a:rPr lang="en-US" dirty="0"/>
              <a:t> is taken.</a:t>
            </a:r>
          </a:p>
          <a:p>
            <a:r>
              <a:rPr lang="en-US" dirty="0"/>
              <a:t>The process is knows as an </a:t>
            </a:r>
            <a:r>
              <a:rPr lang="en-US" dirty="0" err="1"/>
              <a:t>exponeitally</a:t>
            </a:r>
            <a:r>
              <a:rPr lang="en-US" dirty="0"/>
              <a:t> weighted moving average, shown by the equation here.</a:t>
            </a:r>
          </a:p>
          <a:p>
            <a:r>
              <a:rPr lang="en-US" dirty="0"/>
              <a:t>&lt;say it&gt;</a:t>
            </a:r>
          </a:p>
          <a:p>
            <a:r>
              <a:rPr lang="en-US" dirty="0"/>
              <a:t>Where alpha reflects the influence of the most recent measurements on the estimated RTT; a typical value of alpha used in </a:t>
            </a:r>
            <a:r>
              <a:rPr lang="en-US" dirty="0" err="1"/>
              <a:t>implementaitons</a:t>
            </a:r>
            <a:r>
              <a:rPr lang="en-US" dirty="0"/>
              <a:t> is .125</a:t>
            </a:r>
          </a:p>
          <a:p>
            <a:endParaRPr lang="en-US" dirty="0"/>
          </a:p>
          <a:p>
            <a:r>
              <a:rPr lang="en-US" dirty="0"/>
              <a:t>The graph at the bottom show measured RTTs </a:t>
            </a:r>
            <a:r>
              <a:rPr lang="en-US" dirty="0" err="1"/>
              <a:t>beween</a:t>
            </a:r>
            <a:r>
              <a:rPr lang="en-US" dirty="0"/>
              <a:t> a host in the Massachusetts and a host in France, as well as the estimated, “smoothed”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4356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this value of the estimated RTT, TCP computes the timeout interval to be the estimated RTT plus a “safety margin”</a:t>
            </a:r>
          </a:p>
          <a:p>
            <a:r>
              <a:rPr lang="en-US" dirty="0"/>
              <a:t> </a:t>
            </a:r>
          </a:p>
          <a:p>
            <a:r>
              <a:rPr lang="en-US" dirty="0"/>
              <a:t>And the intuition is that if we are seeing a large variation in SAMPLERTT – the RTT estimates are fluctuating a lot - then we’ll want a larger </a:t>
            </a:r>
            <a:r>
              <a:rPr lang="en-US" dirty="0" err="1"/>
              <a:t>savety</a:t>
            </a:r>
            <a:r>
              <a:rPr lang="en-US" dirty="0"/>
              <a:t> margin</a:t>
            </a:r>
          </a:p>
          <a:p>
            <a:endParaRPr lang="en-US" dirty="0"/>
          </a:p>
          <a:p>
            <a:r>
              <a:rPr lang="en-US" dirty="0"/>
              <a:t>So TCP computes the Timeout interval to be the Estimated RTT plus 4 times a measure of deviation in the RTT.</a:t>
            </a:r>
          </a:p>
          <a:p>
            <a:endParaRPr lang="en-US" dirty="0"/>
          </a:p>
          <a:p>
            <a:r>
              <a:rPr lang="en-US" dirty="0"/>
              <a:t>The deviation in the RTT is computed as the </a:t>
            </a:r>
            <a:r>
              <a:rPr lang="en-US" dirty="0" err="1"/>
              <a:t>eWMA</a:t>
            </a:r>
            <a:r>
              <a:rPr lang="en-US" dirty="0"/>
              <a:t> of the difference between the most recently measured </a:t>
            </a:r>
            <a:r>
              <a:rPr lang="en-US" dirty="0" err="1"/>
              <a:t>SampleRTT</a:t>
            </a:r>
            <a:r>
              <a:rPr lang="en-US" dirty="0"/>
              <a:t> from the Estimated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0075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89377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t>
            </a:r>
            <a:r>
              <a:rPr lang="en-US" dirty="0" err="1"/>
              <a:t>ACKnowledig</a:t>
            </a:r>
            <a:r>
              <a:rPr lang="en-US" dirty="0"/>
              <a:t>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57111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a:t>
            </a:r>
            <a:r>
              <a:rPr lang="en-US" dirty="0" err="1"/>
              <a:t>transmited</a:t>
            </a:r>
            <a:r>
              <a:rPr lang="en-US" dirty="0"/>
              <a:t> and the ACK is lost, and the TCP timeout mechanism results in another copy of being transmitted and then re-</a:t>
            </a:r>
            <a:r>
              <a:rPr lang="en-US" dirty="0" err="1"/>
              <a:t>ACKed</a:t>
            </a:r>
            <a:r>
              <a:rPr lang="en-US" dirty="0"/>
              <a:t> a the sender</a:t>
            </a:r>
          </a:p>
          <a:p>
            <a:endParaRPr lang="en-US" dirty="0"/>
          </a:p>
          <a:p>
            <a:r>
              <a:rPr lang="en-US" dirty="0"/>
              <a:t>In the second example two segments are sent and acknowledged, but there is a premature timeout e for the first segment, which is retransmitted.  </a:t>
            </a:r>
            <a:r>
              <a:rPr lang="en-US" dirty="0" err="1"/>
              <a:t>Notet</a:t>
            </a:r>
            <a:r>
              <a:rPr lang="en-US" dirty="0"/>
              <a:t>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70587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3433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a:t>
            </a:r>
            <a:r>
              <a:rPr lang="en-US" dirty="0" err="1"/>
              <a:t>unACKed</a:t>
            </a:r>
            <a:r>
              <a:rPr lang="en-US" dirty="0"/>
              <a:t>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pPr/>
              <a:t>43</a:t>
            </a:fld>
            <a:endParaRPr lang="en-US"/>
          </a:p>
        </p:txBody>
      </p:sp>
    </p:spTree>
    <p:extLst>
      <p:ext uri="{BB962C8B-B14F-4D97-AF65-F5344CB8AC3E}">
        <p14:creationId xmlns:p14="http://schemas.microsoft.com/office/powerpoint/2010/main" val="31177788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377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18581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pPr/>
              <a:t>52</a:t>
            </a:fld>
            <a:endParaRPr lang="en-US"/>
          </a:p>
        </p:txBody>
      </p:sp>
    </p:spTree>
    <p:extLst>
      <p:ext uri="{BB962C8B-B14F-4D97-AF65-F5344CB8AC3E}">
        <p14:creationId xmlns:p14="http://schemas.microsoft.com/office/powerpoint/2010/main" val="21385487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7696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42905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77316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18482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69560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216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5" y="561975"/>
            <a:ext cx="505261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3</a:t>
            </a:r>
            <a:br>
              <a:rPr lang="en-US" altLang="en-US" sz="6000" b="1" dirty="0">
                <a:solidFill>
                  <a:srgbClr val="000099"/>
                </a:solidFill>
                <a:latin typeface="+mj-lt"/>
              </a:rPr>
            </a:br>
            <a:r>
              <a:rPr lang="en-US" altLang="en-US" sz="5400" b="1" dirty="0">
                <a:solidFill>
                  <a:srgbClr val="000099"/>
                </a:solidFill>
                <a:latin typeface="+mj-lt"/>
              </a:rPr>
              <a:t>Transport Layer</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1996-2020</a:t>
            </a:r>
          </a:p>
          <a:p>
            <a:pPr>
              <a:lnSpc>
                <a:spcPct val="85000"/>
              </a:lnSpc>
            </a:pPr>
            <a:r>
              <a:rPr lang="en-US" altLang="en-US" sz="1400" dirty="0">
                <a:latin typeface="+mn-lt"/>
              </a:rPr>
              <a:t>     J.F Kurose and K.W. Ross, All Rights Reserved</a:t>
            </a:r>
            <a:endParaRPr lang="en-US" altLang="en-US" sz="1200" dirty="0">
              <a:latin typeface="+mn-lt"/>
            </a:endParaRPr>
          </a:p>
        </p:txBody>
      </p:sp>
      <p:sp>
        <p:nvSpPr>
          <p:cNvPr id="2" name="Slide Number Placeholder 1">
            <a:extLst>
              <a:ext uri="{FF2B5EF4-FFF2-40B4-BE49-F238E27FC236}">
                <a16:creationId xmlns:a16="http://schemas.microsoft.com/office/drawing/2014/main" id="{B46B45F3-5B52-354C-801C-007B1F52150F}"/>
              </a:ext>
            </a:extLst>
          </p:cNvPr>
          <p:cNvSpPr>
            <a:spLocks noGrp="1"/>
          </p:cNvSpPr>
          <p:nvPr>
            <p:ph type="sldNum" sz="quarter" idx="4"/>
          </p:nvPr>
        </p:nvSpPr>
        <p:spPr/>
        <p:txBody>
          <a:bodyPr/>
          <a:lstStyle/>
          <a:p>
            <a:r>
              <a:rPr lang="en-US"/>
              <a:t>Transport Layer: 3-</a:t>
            </a:r>
            <a:fld id="{C4204591-24BD-A542-B9D5-F8D8A88D2FEE}" type="slidenum">
              <a:rPr lang="en-US" smtClean="0"/>
              <a:pPr/>
              <a:t>1</a:t>
            </a:fld>
            <a:endParaRPr lang="en-US" dirty="0"/>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8135257" y="887185"/>
            <a:ext cx="3040743" cy="3800929"/>
          </a:xfrm>
          <a:prstGeom prst="rect">
            <a:avLst/>
          </a:prstGeom>
        </p:spPr>
      </p:pic>
    </p:spTree>
    <p:extLst>
      <p:ext uri="{BB962C8B-B14F-4D97-AF65-F5344CB8AC3E}">
        <p14:creationId xmlns:p14="http://schemas.microsoft.com/office/powerpoint/2010/main" val="2314825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overview</a:t>
            </a:r>
            <a:endParaRPr lang="en-US" sz="4400" dirty="0"/>
          </a:p>
        </p:txBody>
      </p:sp>
      <p:sp>
        <p:nvSpPr>
          <p:cNvPr id="4" name="Content Placeholder 3">
            <a:extLst>
              <a:ext uri="{FF2B5EF4-FFF2-40B4-BE49-F238E27FC236}">
                <a16:creationId xmlns:a16="http://schemas.microsoft.com/office/drawing/2014/main" id="{F6E2ACD2-5E28-0840-A1E8-F9AB901FE8BC}"/>
              </a:ext>
            </a:extLst>
          </p:cNvPr>
          <p:cNvSpPr>
            <a:spLocks noGrp="1"/>
          </p:cNvSpPr>
          <p:nvPr>
            <p:ph sz="half" idx="1"/>
          </p:nvPr>
        </p:nvSpPr>
        <p:spPr>
          <a:xfrm>
            <a:off x="781763" y="1253331"/>
            <a:ext cx="4842088" cy="4351338"/>
          </a:xfrm>
        </p:spPr>
        <p:txBody>
          <a:bodyPr>
            <a:noAutofit/>
          </a:bodyPr>
          <a:lstStyle/>
          <a:p>
            <a:pPr marL="11113" indent="0">
              <a:buNone/>
            </a:pPr>
            <a:r>
              <a:rPr lang="en-US" altLang="en-US" sz="3200" i="1" dirty="0">
                <a:solidFill>
                  <a:srgbClr val="CC0000"/>
                </a:solidFill>
                <a:latin typeface="Calibri" panose="020F0502020204030204" pitchFamily="34" charset="0"/>
                <a:cs typeface="Calibri" panose="020F0502020204030204" pitchFamily="34" charset="0"/>
              </a:rPr>
              <a:t>Our goal:</a:t>
            </a:r>
            <a:r>
              <a:rPr lang="en-US" altLang="en-US" sz="3200" i="1" dirty="0">
                <a:latin typeface="Calibri" panose="020F0502020204030204" pitchFamily="34" charset="0"/>
                <a:cs typeface="Calibri" panose="020F0502020204030204" pitchFamily="34" charset="0"/>
              </a:rPr>
              <a:t> </a:t>
            </a:r>
          </a:p>
          <a:p>
            <a:pPr marL="400050" indent="-285750">
              <a:buFont typeface="Wingdings" charset="2"/>
              <a:buChar char="§"/>
              <a:defRPr/>
            </a:pPr>
            <a:r>
              <a:rPr lang="en-US" sz="3200" dirty="0"/>
              <a:t>understand principles behind transport layer services:</a:t>
            </a:r>
          </a:p>
          <a:p>
            <a:pPr lvl="1">
              <a:buFont typeface="Arial"/>
              <a:buChar char="•"/>
              <a:defRPr/>
            </a:pPr>
            <a:r>
              <a:rPr lang="en-US" sz="2800" dirty="0"/>
              <a:t>multiplexing, demultiplexing</a:t>
            </a:r>
          </a:p>
          <a:p>
            <a:pPr lvl="1">
              <a:buFont typeface="Arial"/>
              <a:buChar char="•"/>
              <a:defRPr/>
            </a:pPr>
            <a:r>
              <a:rPr lang="en-US" sz="2800" dirty="0"/>
              <a:t>reliable data transfer</a:t>
            </a:r>
          </a:p>
          <a:p>
            <a:pPr lvl="1">
              <a:buFont typeface="Arial"/>
              <a:buChar char="•"/>
              <a:defRPr/>
            </a:pPr>
            <a:r>
              <a:rPr lang="en-US" sz="2800" dirty="0"/>
              <a:t>flow control</a:t>
            </a:r>
          </a:p>
          <a:p>
            <a:pPr lvl="1">
              <a:buFont typeface="Arial"/>
              <a:buChar char="•"/>
              <a:defRPr/>
            </a:pPr>
            <a:r>
              <a:rPr lang="en-US" sz="2800" dirty="0"/>
              <a:t>congestion control</a:t>
            </a:r>
            <a:endParaRPr lang="en-US" sz="3200" dirty="0"/>
          </a:p>
          <a:p>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968416" y="1815962"/>
            <a:ext cx="5994400" cy="4799013"/>
          </a:xfrm>
        </p:spPr>
        <p:txBody>
          <a:bodyPr>
            <a:normAutofit/>
          </a:bodyPr>
          <a:lstStyle/>
          <a:p>
            <a:pPr marL="457200" indent="-285750">
              <a:buFont typeface="Wingdings" charset="2"/>
              <a:buChar char="§"/>
              <a:defRPr/>
            </a:pPr>
            <a:r>
              <a:rPr lang="en-US" sz="3200" dirty="0"/>
              <a:t>learn about Internet transport layer protocols:</a:t>
            </a:r>
          </a:p>
          <a:p>
            <a:pPr lvl="1">
              <a:buFont typeface="Arial"/>
              <a:buChar char="•"/>
              <a:defRPr/>
            </a:pPr>
            <a:r>
              <a:rPr lang="en-US" sz="2800" dirty="0"/>
              <a:t>UDP: connectionless transport</a:t>
            </a:r>
          </a:p>
          <a:p>
            <a:pPr lvl="1">
              <a:buFont typeface="Arial"/>
              <a:buChar char="•"/>
              <a:defRPr/>
            </a:pPr>
            <a:r>
              <a:rPr lang="en-US" sz="2800" dirty="0"/>
              <a:t>TCP: connection-oriented reliable transport</a:t>
            </a:r>
          </a:p>
          <a:p>
            <a:pPr lvl="1">
              <a:buFont typeface="Arial"/>
              <a:buChar char="•"/>
              <a:defRPr/>
            </a:pPr>
            <a:r>
              <a:rPr lang="en-US" sz="2800" dirty="0"/>
              <a:t>TCP congestion control</a:t>
            </a:r>
            <a:endParaRPr lang="en-US" dirty="0"/>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11084F46-D79C-3048-9B21-CEBC66650819}"/>
              </a:ext>
            </a:extLst>
          </p:cNvPr>
          <p:cNvSpPr>
            <a:spLocks noGrp="1"/>
          </p:cNvSpPr>
          <p:nvPr>
            <p:ph type="sldNum" sz="quarter" idx="4"/>
          </p:nvPr>
        </p:nvSpPr>
        <p:spPr>
          <a:xfrm>
            <a:off x="9219616" y="6454664"/>
            <a:ext cx="2743200" cy="365125"/>
          </a:xfrm>
        </p:spPr>
        <p:txBody>
          <a:bodyPr/>
          <a:lstStyle/>
          <a:p>
            <a:r>
              <a:rPr lang="en-US" dirty="0"/>
              <a:t>Transport Layer: 3-</a:t>
            </a:r>
            <a:fld id="{C4204591-24BD-A542-B9D5-F8D8A88D2FEE}" type="slidenum">
              <a:rPr lang="en-US" smtClean="0"/>
              <a:pPr/>
              <a:t>2</a:t>
            </a:fld>
            <a:endParaRPr lang="en-US" dirty="0"/>
          </a:p>
        </p:txBody>
      </p:sp>
    </p:spTree>
    <p:extLst>
      <p:ext uri="{BB962C8B-B14F-4D97-AF65-F5344CB8AC3E}">
        <p14:creationId xmlns:p14="http://schemas.microsoft.com/office/powerpoint/2010/main" val="421519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fontScale="85000" lnSpcReduction="20000"/>
          </a:bodyPr>
          <a:lstStyle/>
          <a:p>
            <a:pPr marL="403225" indent="-285750">
              <a:spcBef>
                <a:spcPts val="800"/>
              </a:spcBef>
            </a:pPr>
            <a:r>
              <a:rPr lang="en-US" altLang="en-US" sz="3200" dirty="0">
                <a:cs typeface="Calibri" panose="020F0502020204030204" pitchFamily="34" charset="0"/>
              </a:rPr>
              <a:t>Multiplexing and </a:t>
            </a:r>
            <a:r>
              <a:rPr lang="en-US" altLang="en-US" sz="3200" dirty="0" err="1">
                <a:cs typeface="Calibri" panose="020F0502020204030204" pitchFamily="34" charset="0"/>
              </a:rPr>
              <a:t>demultiplexing</a:t>
            </a:r>
            <a:r>
              <a:rPr lang="en-US" altLang="en-US" sz="3200" dirty="0">
                <a:cs typeface="Calibri" panose="020F0502020204030204" pitchFamily="34" charset="0"/>
              </a:rPr>
              <a:t> (3.2)</a:t>
            </a:r>
          </a:p>
          <a:p>
            <a:pPr marL="403225" indent="-285750">
              <a:spcBef>
                <a:spcPts val="800"/>
              </a:spcBef>
            </a:pPr>
            <a:r>
              <a:rPr lang="en-US" altLang="en-US" sz="3200" dirty="0">
                <a:cs typeface="Calibri" panose="020F0502020204030204" pitchFamily="34" charset="0"/>
              </a:rPr>
              <a:t>Connectionless transport: UDP (3.3) </a:t>
            </a:r>
          </a:p>
          <a:p>
            <a:pPr marL="746125" lvl="1" indent="-285750">
              <a:spcBef>
                <a:spcPts val="800"/>
              </a:spcBef>
            </a:pPr>
            <a:r>
              <a:rPr lang="en-US" altLang="en-US" dirty="0">
                <a:cs typeface="Calibri" panose="020F0502020204030204" pitchFamily="34" charset="0"/>
              </a:rPr>
              <a:t>UDP segment structure (3.3.1)</a:t>
            </a:r>
          </a:p>
          <a:p>
            <a:pPr marL="746125" lvl="1" indent="-285750">
              <a:spcBef>
                <a:spcPts val="800"/>
              </a:spcBef>
            </a:pPr>
            <a:r>
              <a:rPr lang="en-US" altLang="en-US" dirty="0">
                <a:cs typeface="Calibri" panose="020F0502020204030204" pitchFamily="34" charset="0"/>
              </a:rPr>
              <a:t>UDP checksum (3.3.2)</a:t>
            </a:r>
            <a:endParaRPr lang="en-US" sz="3200" dirty="0"/>
          </a:p>
          <a:p>
            <a:pPr marL="403225" indent="-285750">
              <a:spcBef>
                <a:spcPts val="800"/>
              </a:spcBef>
            </a:pPr>
            <a:r>
              <a:rPr lang="en-US" sz="3200" dirty="0"/>
              <a:t>Go back N (3.4.3)</a:t>
            </a:r>
          </a:p>
          <a:p>
            <a:pPr marL="403225" indent="-285750">
              <a:spcBef>
                <a:spcPts val="800"/>
              </a:spcBef>
            </a:pPr>
            <a:r>
              <a:rPr lang="en-US" sz="3200" dirty="0"/>
              <a:t>Selective Repeat (3.4.4) </a:t>
            </a:r>
          </a:p>
          <a:p>
            <a:pPr marL="403225" indent="-285750">
              <a:spcBef>
                <a:spcPts val="800"/>
              </a:spcBef>
            </a:pPr>
            <a:r>
              <a:rPr lang="en-US" sz="3200" dirty="0"/>
              <a:t>Connection-oriented transport: TCP (3.5)</a:t>
            </a:r>
          </a:p>
          <a:p>
            <a:pPr marL="746125" lvl="1" indent="-285750">
              <a:spcBef>
                <a:spcPts val="800"/>
              </a:spcBef>
            </a:pPr>
            <a:r>
              <a:rPr lang="en-US" dirty="0"/>
              <a:t>TCP connection (3.5.1)</a:t>
            </a:r>
          </a:p>
          <a:p>
            <a:pPr marL="746125" lvl="1" indent="-285750">
              <a:spcBef>
                <a:spcPts val="800"/>
              </a:spcBef>
            </a:pPr>
            <a:r>
              <a:rPr lang="en-US" dirty="0"/>
              <a:t>TCP Segment structure (3.5.2 )</a:t>
            </a:r>
          </a:p>
          <a:p>
            <a:pPr marL="746125" lvl="1" indent="-285750">
              <a:spcBef>
                <a:spcPts val="800"/>
              </a:spcBef>
            </a:pPr>
            <a:r>
              <a:rPr lang="en-US" dirty="0"/>
              <a:t>Rotund trip time estimation and timeout (3.5.3)</a:t>
            </a:r>
          </a:p>
          <a:p>
            <a:pPr marL="746125" lvl="1" indent="-285750">
              <a:spcBef>
                <a:spcPts val="800"/>
              </a:spcBef>
            </a:pPr>
            <a:r>
              <a:rPr lang="en-US" dirty="0"/>
              <a:t>Reliable data transfer (3.5.4)</a:t>
            </a:r>
          </a:p>
          <a:p>
            <a:pPr marL="746125" lvl="1" indent="-285750">
              <a:spcBef>
                <a:spcPts val="800"/>
              </a:spcBef>
            </a:pPr>
            <a:r>
              <a:rPr lang="en-US" dirty="0"/>
              <a:t>Flow control (3.5.5)</a:t>
            </a:r>
          </a:p>
          <a:p>
            <a:pPr marL="746125" lvl="1" indent="-285750">
              <a:spcBef>
                <a:spcPts val="800"/>
              </a:spcBef>
            </a:pPr>
            <a:r>
              <a:rPr lang="en-US" dirty="0"/>
              <a:t>TCP connection management (3.5.6)</a:t>
            </a:r>
          </a:p>
          <a:p>
            <a:pPr marL="403225" indent="-285750">
              <a:spcBef>
                <a:spcPts val="800"/>
              </a:spcBef>
            </a:pPr>
            <a:r>
              <a:rPr lang="en-US" sz="3200" dirty="0"/>
              <a:t>TCP congestion control (3.7)</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807E4337-A925-084B-B48F-23146A4A73A1}"/>
              </a:ext>
            </a:extLst>
          </p:cNvPr>
          <p:cNvSpPr>
            <a:spLocks noGrp="1"/>
          </p:cNvSpPr>
          <p:nvPr>
            <p:ph type="sldNum" sz="quarter" idx="4"/>
          </p:nvPr>
        </p:nvSpPr>
        <p:spPr/>
        <p:txBody>
          <a:bodyPr/>
          <a:lstStyle/>
          <a:p>
            <a:r>
              <a:rPr lang="en-US"/>
              <a:t>Transport Layer: 3-</a:t>
            </a:r>
            <a:fld id="{C4204591-24BD-A542-B9D5-F8D8A88D2FEE}" type="slidenum">
              <a:rPr lang="en-US" smtClean="0"/>
              <a:pPr/>
              <a:t>3</a:t>
            </a:fld>
            <a:endParaRPr lang="en-US" dirty="0"/>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2933442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rgbClr val="010086"/>
              </a:buClr>
            </a:pPr>
            <a:r>
              <a:rPr lang="en-US" altLang="en-US" sz="3200" dirty="0">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(Go-back-N and Selective Repeat)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endParaRPr lang="en-US" sz="3200" dirty="0">
              <a:solidFill>
                <a:schemeClr val="bg1">
                  <a:lumMod val="75000"/>
                </a:schemeClr>
              </a:solidFill>
            </a:endParaRP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F220B21A-FE22-1F4F-81B8-C7DE0CD9911F}"/>
              </a:ext>
            </a:extLst>
          </p:cNvPr>
          <p:cNvSpPr>
            <a:spLocks noGrp="1"/>
          </p:cNvSpPr>
          <p:nvPr>
            <p:ph type="sldNum" sz="quarter" idx="4"/>
          </p:nvPr>
        </p:nvSpPr>
        <p:spPr/>
        <p:txBody>
          <a:bodyPr/>
          <a:lstStyle/>
          <a:p>
            <a:r>
              <a:rPr lang="en-US"/>
              <a:t>Transport Layer: 3-</a:t>
            </a:r>
            <a:fld id="{C4204591-24BD-A542-B9D5-F8D8A88D2FEE}" type="slidenum">
              <a:rPr lang="en-US" smtClean="0"/>
              <a:pPr/>
              <a:t>4</a:t>
            </a:fld>
            <a:endParaRPr lang="en-US" dirty="0"/>
          </a:p>
        </p:txBody>
      </p:sp>
      <p:pic>
        <p:nvPicPr>
          <p:cNvPr id="6" name="Picture 5">
            <a:extLst>
              <a:ext uri="{FF2B5EF4-FFF2-40B4-BE49-F238E27FC236}">
                <a16:creationId xmlns:a16="http://schemas.microsoft.com/office/drawing/2014/main" id="{E9956B19-18BF-2345-8627-5E54E4C0AD20}"/>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1148175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33CF58-AA8E-4575-95CE-9CD99D3B44F7}"/>
              </a:ext>
            </a:extLst>
          </p:cNvPr>
          <p:cNvSpPr>
            <a:spLocks noGrp="1"/>
          </p:cNvSpPr>
          <p:nvPr>
            <p:ph sz="half" idx="1"/>
          </p:nvPr>
        </p:nvSpPr>
        <p:spPr/>
        <p:txBody>
          <a:bodyPr>
            <a:normAutofit fontScale="77500" lnSpcReduction="20000"/>
          </a:bodyPr>
          <a:lstStyle/>
          <a:p>
            <a:r>
              <a:rPr lang="en-US" dirty="0"/>
              <a:t>At the destination host, the transport layer receives segments from the network layer just below. </a:t>
            </a:r>
          </a:p>
          <a:p>
            <a:r>
              <a:rPr lang="en-US" dirty="0"/>
              <a:t>The transport layer has the responsibility of delivering the data in these segments to the appropriate application process running in the host.</a:t>
            </a:r>
          </a:p>
          <a:p>
            <a:r>
              <a:rPr lang="en-US" dirty="0"/>
              <a:t>process (as part of a network application) can have one or more </a:t>
            </a:r>
            <a:r>
              <a:rPr lang="en-US" b="1" dirty="0"/>
              <a:t>sockets</a:t>
            </a:r>
            <a:r>
              <a:rPr lang="en-US" dirty="0"/>
              <a:t>, doors through which data passes from the network to the process and through which data passes from the process to the network.</a:t>
            </a:r>
            <a:endParaRPr lang="en-IN" dirty="0"/>
          </a:p>
        </p:txBody>
      </p:sp>
      <p:sp>
        <p:nvSpPr>
          <p:cNvPr id="4" name="Content Placeholder 3">
            <a:extLst>
              <a:ext uri="{FF2B5EF4-FFF2-40B4-BE49-F238E27FC236}">
                <a16:creationId xmlns:a16="http://schemas.microsoft.com/office/drawing/2014/main" id="{A3056459-ABDC-4917-A12B-0927AD84D677}"/>
              </a:ext>
            </a:extLst>
          </p:cNvPr>
          <p:cNvSpPr>
            <a:spLocks noGrp="1"/>
          </p:cNvSpPr>
          <p:nvPr>
            <p:ph sz="half" idx="2"/>
          </p:nvPr>
        </p:nvSpPr>
        <p:spPr/>
        <p:txBody>
          <a:bodyPr>
            <a:normAutofit fontScale="77500" lnSpcReduction="20000"/>
          </a:bodyPr>
          <a:lstStyle/>
          <a:p>
            <a:r>
              <a:rPr lang="en-US" dirty="0"/>
              <a:t>the transport layer in the receiving host does not actually deliver data directly to a process, but instead to an intermediary socket. </a:t>
            </a:r>
          </a:p>
          <a:p>
            <a:r>
              <a:rPr lang="en-US" dirty="0"/>
              <a:t>Because at any given time there can be more than one socket in the receiving host, each socket </a:t>
            </a:r>
            <a:r>
              <a:rPr lang="en-IN" dirty="0"/>
              <a:t>has a unique identifier.</a:t>
            </a:r>
          </a:p>
          <a:p>
            <a:r>
              <a:rPr lang="en-US" dirty="0"/>
              <a:t>Job of delivering the data in a transport-layer segment to the correct socket is called </a:t>
            </a:r>
            <a:r>
              <a:rPr lang="en-US" b="1" dirty="0"/>
              <a:t>demultiplexing</a:t>
            </a:r>
            <a:r>
              <a:rPr lang="en-US" dirty="0"/>
              <a:t>. </a:t>
            </a:r>
          </a:p>
          <a:p>
            <a:r>
              <a:rPr lang="en-US" dirty="0"/>
              <a:t>The job of gathering data chunks at the source host from different sockets, encapsulating each data chunk with header information to create segments, and passing the segments to the network layer is called </a:t>
            </a:r>
            <a:r>
              <a:rPr lang="en-US" b="1" dirty="0"/>
              <a:t>multiplexing</a:t>
            </a:r>
            <a:r>
              <a:rPr lang="en-US" dirty="0"/>
              <a:t>.</a:t>
            </a:r>
            <a:endParaRPr lang="en-IN" dirty="0"/>
          </a:p>
        </p:txBody>
      </p:sp>
      <p:sp>
        <p:nvSpPr>
          <p:cNvPr id="5" name="Slide Number Placeholder 4">
            <a:extLst>
              <a:ext uri="{FF2B5EF4-FFF2-40B4-BE49-F238E27FC236}">
                <a16:creationId xmlns:a16="http://schemas.microsoft.com/office/drawing/2014/main" id="{C08C0CFE-D294-4FA9-91DE-E1BD8E617469}"/>
              </a:ext>
            </a:extLst>
          </p:cNvPr>
          <p:cNvSpPr>
            <a:spLocks noGrp="1"/>
          </p:cNvSpPr>
          <p:nvPr>
            <p:ph type="sldNum" sz="quarter" idx="4"/>
          </p:nvPr>
        </p:nvSpPr>
        <p:spPr/>
        <p:txBody>
          <a:bodyPr/>
          <a:lstStyle/>
          <a:p>
            <a:r>
              <a:rPr lang="en-US"/>
              <a:t>Transport Layer: 3-</a:t>
            </a:r>
            <a:fld id="{C4204591-24BD-A542-B9D5-F8D8A88D2FEE}" type="slidenum">
              <a:rPr lang="en-US" smtClean="0"/>
              <a:pPr/>
              <a:t>5</a:t>
            </a:fld>
            <a:endParaRPr lang="en-US" dirty="0"/>
          </a:p>
        </p:txBody>
      </p:sp>
      <p:sp>
        <p:nvSpPr>
          <p:cNvPr id="6" name="Rectangle 5">
            <a:extLst>
              <a:ext uri="{FF2B5EF4-FFF2-40B4-BE49-F238E27FC236}">
                <a16:creationId xmlns:a16="http://schemas.microsoft.com/office/drawing/2014/main" id="{529DC9BF-3B08-47E0-80A8-2A92763B5C26}"/>
              </a:ext>
            </a:extLst>
          </p:cNvPr>
          <p:cNvSpPr/>
          <p:nvPr/>
        </p:nvSpPr>
        <p:spPr>
          <a:xfrm>
            <a:off x="3562179" y="496371"/>
            <a:ext cx="3304944" cy="369332"/>
          </a:xfrm>
          <a:prstGeom prst="rect">
            <a:avLst/>
          </a:prstGeom>
        </p:spPr>
        <p:txBody>
          <a:bodyPr wrap="none">
            <a:spAutoFit/>
          </a:bodyPr>
          <a:lstStyle/>
          <a:p>
            <a:r>
              <a:rPr lang="en-IN" b="1" dirty="0">
                <a:solidFill>
                  <a:srgbClr val="008DC0"/>
                </a:solidFill>
                <a:latin typeface="BerkeleyPro-Bold"/>
              </a:rPr>
              <a:t>Multiplexing and Demultiplexing</a:t>
            </a:r>
            <a:endParaRPr lang="en-IN" dirty="0"/>
          </a:p>
        </p:txBody>
      </p:sp>
    </p:spTree>
    <p:extLst>
      <p:ext uri="{BB962C8B-B14F-4D97-AF65-F5344CB8AC3E}">
        <p14:creationId xmlns:p14="http://schemas.microsoft.com/office/powerpoint/2010/main" val="4166308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0B763411-5AC0-48C5-AF6F-57E9C23290ED}"/>
              </a:ext>
            </a:extLst>
          </p:cNvPr>
          <p:cNvPicPr>
            <a:picLocks noChangeAspect="1"/>
          </p:cNvPicPr>
          <p:nvPr/>
        </p:nvPicPr>
        <p:blipFill>
          <a:blip r:embed="rId3"/>
          <a:stretch>
            <a:fillRect/>
          </a:stretch>
        </p:blipFill>
        <p:spPr>
          <a:xfrm>
            <a:off x="291856" y="1543667"/>
            <a:ext cx="5381625" cy="2957070"/>
          </a:xfrm>
          <a:prstGeom prst="rect">
            <a:avLst/>
          </a:prstGeom>
        </p:spPr>
      </p:pic>
      <p:pic>
        <p:nvPicPr>
          <p:cNvPr id="3" name="Picture 2">
            <a:extLst>
              <a:ext uri="{FF2B5EF4-FFF2-40B4-BE49-F238E27FC236}">
                <a16:creationId xmlns:a16="http://schemas.microsoft.com/office/drawing/2014/main" id="{A9B6F416-6277-46B7-AC66-0B9ABDF86C20}"/>
              </a:ext>
            </a:extLst>
          </p:cNvPr>
          <p:cNvPicPr>
            <a:picLocks noChangeAspect="1"/>
          </p:cNvPicPr>
          <p:nvPr/>
        </p:nvPicPr>
        <p:blipFill>
          <a:blip r:embed="rId4"/>
          <a:stretch>
            <a:fillRect/>
          </a:stretch>
        </p:blipFill>
        <p:spPr>
          <a:xfrm>
            <a:off x="5673481" y="1206059"/>
            <a:ext cx="5743575" cy="3581400"/>
          </a:xfrm>
          <a:prstGeom prst="rect">
            <a:avLst/>
          </a:prstGeom>
        </p:spPr>
      </p:pic>
      <p:sp>
        <p:nvSpPr>
          <p:cNvPr id="4" name="Rectangle 3">
            <a:extLst>
              <a:ext uri="{FF2B5EF4-FFF2-40B4-BE49-F238E27FC236}">
                <a16:creationId xmlns:a16="http://schemas.microsoft.com/office/drawing/2014/main" id="{0162E2A9-C0C2-4763-9FB3-AA03A83D93C2}"/>
              </a:ext>
            </a:extLst>
          </p:cNvPr>
          <p:cNvSpPr/>
          <p:nvPr/>
        </p:nvSpPr>
        <p:spPr>
          <a:xfrm>
            <a:off x="5450958" y="4718203"/>
            <a:ext cx="6096000" cy="646331"/>
          </a:xfrm>
          <a:prstGeom prst="rect">
            <a:avLst/>
          </a:prstGeom>
        </p:spPr>
        <p:txBody>
          <a:bodyPr>
            <a:spAutoFit/>
          </a:bodyPr>
          <a:lstStyle/>
          <a:p>
            <a:r>
              <a:rPr lang="en-US" dirty="0"/>
              <a:t>Two clients, using the same destination port number (80) to communicate with the same Web server application</a:t>
            </a:r>
            <a:endParaRPr lang="en-IN" dirty="0"/>
          </a:p>
        </p:txBody>
      </p:sp>
      <p:sp>
        <p:nvSpPr>
          <p:cNvPr id="5" name="Rectangle 4">
            <a:extLst>
              <a:ext uri="{FF2B5EF4-FFF2-40B4-BE49-F238E27FC236}">
                <a16:creationId xmlns:a16="http://schemas.microsoft.com/office/drawing/2014/main" id="{D66E7964-43BC-41D3-A792-8E00000CB661}"/>
              </a:ext>
            </a:extLst>
          </p:cNvPr>
          <p:cNvSpPr/>
          <p:nvPr/>
        </p:nvSpPr>
        <p:spPr>
          <a:xfrm>
            <a:off x="645042" y="4856703"/>
            <a:ext cx="4675254" cy="369332"/>
          </a:xfrm>
          <a:prstGeom prst="rect">
            <a:avLst/>
          </a:prstGeom>
        </p:spPr>
        <p:txBody>
          <a:bodyPr wrap="none">
            <a:spAutoFit/>
          </a:bodyPr>
          <a:lstStyle/>
          <a:p>
            <a:r>
              <a:rPr lang="en-IN" dirty="0"/>
              <a:t>Transport-layer multiplexing and demultiplexing</a:t>
            </a:r>
          </a:p>
        </p:txBody>
      </p:sp>
      <p:sp>
        <p:nvSpPr>
          <p:cNvPr id="6" name="Rectangle 5">
            <a:extLst>
              <a:ext uri="{FF2B5EF4-FFF2-40B4-BE49-F238E27FC236}">
                <a16:creationId xmlns:a16="http://schemas.microsoft.com/office/drawing/2014/main" id="{B0DA19A3-8ABE-4C6A-A680-6CAE40D4D45E}"/>
              </a:ext>
            </a:extLst>
          </p:cNvPr>
          <p:cNvSpPr/>
          <p:nvPr/>
        </p:nvSpPr>
        <p:spPr>
          <a:xfrm>
            <a:off x="3041350" y="658744"/>
            <a:ext cx="5264262" cy="369332"/>
          </a:xfrm>
          <a:prstGeom prst="rect">
            <a:avLst/>
          </a:prstGeom>
        </p:spPr>
        <p:txBody>
          <a:bodyPr wrap="none">
            <a:spAutoFit/>
          </a:bodyPr>
          <a:lstStyle/>
          <a:p>
            <a:r>
              <a:rPr lang="en-IN" dirty="0"/>
              <a:t>Connection-Oriented Multiplexing and Demultiplexing</a:t>
            </a:r>
          </a:p>
        </p:txBody>
      </p:sp>
    </p:spTree>
    <p:extLst>
      <p:ext uri="{BB962C8B-B14F-4D97-AF65-F5344CB8AC3E}">
        <p14:creationId xmlns:p14="http://schemas.microsoft.com/office/powerpoint/2010/main" val="3140532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Multiplexing/demultiplexing</a:t>
            </a:r>
          </a:p>
        </p:txBody>
      </p:sp>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37">
            <a:extLst>
              <a:ext uri="{FF2B5EF4-FFF2-40B4-BE49-F238E27FC236}">
                <a16:creationId xmlns:a16="http://schemas.microsoft.com/office/drawing/2014/main" id="{4EEECEF7-BD4D-FD41-9A84-F2FC20AA2A09}"/>
              </a:ext>
            </a:extLst>
          </p:cNvPr>
          <p:cNvSpPr txBox="1">
            <a:spLocks noChangeArrowheads="1"/>
          </p:cNvSpPr>
          <p:nvPr/>
        </p:nvSpPr>
        <p:spPr bwMode="auto">
          <a:xfrm>
            <a:off x="10348768" y="4498257"/>
            <a:ext cx="895350"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charset="0"/>
                <a:ea typeface="ＭＳ Ｐゴシック" charset="0"/>
                <a:cs typeface="+mn-cs"/>
              </a:rPr>
              <a:t>process</a:t>
            </a:r>
          </a:p>
        </p:txBody>
      </p:sp>
      <p:sp>
        <p:nvSpPr>
          <p:cNvPr id="134" name="Text Box 38">
            <a:extLst>
              <a:ext uri="{FF2B5EF4-FFF2-40B4-BE49-F238E27FC236}">
                <a16:creationId xmlns:a16="http://schemas.microsoft.com/office/drawing/2014/main" id="{FC061EBE-026B-F943-BBD5-748F965BF879}"/>
              </a:ext>
            </a:extLst>
          </p:cNvPr>
          <p:cNvSpPr txBox="1">
            <a:spLocks noChangeArrowheads="1"/>
          </p:cNvSpPr>
          <p:nvPr/>
        </p:nvSpPr>
        <p:spPr bwMode="auto">
          <a:xfrm>
            <a:off x="10323368" y="4096619"/>
            <a:ext cx="755650"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socket</a:t>
            </a:r>
          </a:p>
        </p:txBody>
      </p:sp>
      <p:grpSp>
        <p:nvGrpSpPr>
          <p:cNvPr id="5" name="Group 4">
            <a:extLst>
              <a:ext uri="{FF2B5EF4-FFF2-40B4-BE49-F238E27FC236}">
                <a16:creationId xmlns:a16="http://schemas.microsoft.com/office/drawing/2014/main" id="{D5AFC3DE-B7EF-9945-9B42-A8FE2028B2CF}"/>
              </a:ext>
            </a:extLst>
          </p:cNvPr>
          <p:cNvGrpSpPr/>
          <p:nvPr/>
        </p:nvGrpSpPr>
        <p:grpSpPr>
          <a:xfrm>
            <a:off x="7016607" y="1655043"/>
            <a:ext cx="4836313" cy="1639889"/>
            <a:chOff x="7016607" y="1655043"/>
            <a:chExt cx="4836313" cy="1639889"/>
          </a:xfrm>
        </p:grpSpPr>
        <p:sp>
          <p:nvSpPr>
            <p:cNvPr id="4" name="Rectangle 3">
              <a:extLst>
                <a:ext uri="{FF2B5EF4-FFF2-40B4-BE49-F238E27FC236}">
                  <a16:creationId xmlns:a16="http://schemas.microsoft.com/office/drawing/2014/main" id="{25BAE722-1B29-F74D-B90E-AAE0C7FE9C2E}"/>
                </a:ext>
              </a:extLst>
            </p:cNvPr>
            <p:cNvSpPr/>
            <p:nvPr/>
          </p:nvSpPr>
          <p:spPr>
            <a:xfrm>
              <a:off x="7016607" y="1945555"/>
              <a:ext cx="4508220" cy="1251692"/>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5" name="Group 177">
              <a:extLst>
                <a:ext uri="{FF2B5EF4-FFF2-40B4-BE49-F238E27FC236}">
                  <a16:creationId xmlns:a16="http://schemas.microsoft.com/office/drawing/2014/main" id="{0626849A-4E21-EE42-AD9A-55F4D52F11FC}"/>
                </a:ext>
              </a:extLst>
            </p:cNvPr>
            <p:cNvGrpSpPr>
              <a:grpSpLocks/>
            </p:cNvGrpSpPr>
            <p:nvPr/>
          </p:nvGrpSpPr>
          <p:grpSpPr bwMode="auto">
            <a:xfrm>
              <a:off x="7172970" y="1655043"/>
              <a:ext cx="4679950" cy="1639889"/>
              <a:chOff x="2899" y="903"/>
              <a:chExt cx="2948" cy="1033"/>
            </a:xfrm>
          </p:grpSpPr>
          <p:sp>
            <p:nvSpPr>
              <p:cNvPr id="136" name="Rectangle 41">
                <a:extLst>
                  <a:ext uri="{FF2B5EF4-FFF2-40B4-BE49-F238E27FC236}">
                    <a16:creationId xmlns:a16="http://schemas.microsoft.com/office/drawing/2014/main" id="{1C592E58-CF36-1C40-A0FA-08F6B84985C4}"/>
                  </a:ext>
                </a:extLst>
              </p:cNvPr>
              <p:cNvSpPr>
                <a:spLocks noChangeArrowheads="1"/>
              </p:cNvSpPr>
              <p:nvPr/>
            </p:nvSpPr>
            <p:spPr bwMode="auto">
              <a:xfrm>
                <a:off x="2955" y="1148"/>
                <a:ext cx="2892" cy="788"/>
              </a:xfrm>
              <a:prstGeom prst="rect">
                <a:avLst/>
              </a:prstGeom>
              <a:noFill/>
              <a:ln w="19050">
                <a:no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use header info to deliver</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received segments to correct </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socket</a:t>
                </a:r>
              </a:p>
            </p:txBody>
          </p:sp>
          <p:grpSp>
            <p:nvGrpSpPr>
              <p:cNvPr id="137" name="Group 42">
                <a:extLst>
                  <a:ext uri="{FF2B5EF4-FFF2-40B4-BE49-F238E27FC236}">
                    <a16:creationId xmlns:a16="http://schemas.microsoft.com/office/drawing/2014/main" id="{4D9CEE39-3F97-1346-9C27-5F6F930F2A8E}"/>
                  </a:ext>
                </a:extLst>
              </p:cNvPr>
              <p:cNvGrpSpPr>
                <a:grpSpLocks/>
              </p:cNvGrpSpPr>
              <p:nvPr/>
            </p:nvGrpSpPr>
            <p:grpSpPr bwMode="auto">
              <a:xfrm>
                <a:off x="2899" y="903"/>
                <a:ext cx="2553" cy="348"/>
                <a:chOff x="905" y="3594"/>
                <a:chExt cx="2049" cy="348"/>
              </a:xfrm>
            </p:grpSpPr>
            <p:sp>
              <p:nvSpPr>
                <p:cNvPr id="138" name="Rectangle 43">
                  <a:extLst>
                    <a:ext uri="{FF2B5EF4-FFF2-40B4-BE49-F238E27FC236}">
                      <a16:creationId xmlns:a16="http://schemas.microsoft.com/office/drawing/2014/main" id="{8DE7A6B0-1014-184E-9108-23C65807C202}"/>
                    </a:ext>
                  </a:extLst>
                </p:cNvPr>
                <p:cNvSpPr>
                  <a:spLocks noChangeArrowheads="1"/>
                </p:cNvSpPr>
                <p:nvPr/>
              </p:nvSpPr>
              <p:spPr bwMode="auto">
                <a:xfrm>
                  <a:off x="1422" y="3732"/>
                  <a:ext cx="1002" cy="21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39" name="Text Box 44">
                  <a:extLst>
                    <a:ext uri="{FF2B5EF4-FFF2-40B4-BE49-F238E27FC236}">
                      <a16:creationId xmlns:a16="http://schemas.microsoft.com/office/drawing/2014/main" id="{88457A8D-2DB2-C848-9B52-93F5252D0E1B}"/>
                    </a:ext>
                  </a:extLst>
                </p:cNvPr>
                <p:cNvSpPr txBox="1">
                  <a:spLocks noChangeArrowheads="1"/>
                </p:cNvSpPr>
                <p:nvPr/>
              </p:nvSpPr>
              <p:spPr bwMode="auto">
                <a:xfrm>
                  <a:off x="905" y="3594"/>
                  <a:ext cx="2049" cy="33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demultiplexing at receiver:</a:t>
                  </a:r>
                </a:p>
              </p:txBody>
            </p:sp>
          </p:grpSp>
        </p:grpSp>
      </p:grpSp>
      <p:grpSp>
        <p:nvGrpSpPr>
          <p:cNvPr id="140" name="Group 57">
            <a:extLst>
              <a:ext uri="{FF2B5EF4-FFF2-40B4-BE49-F238E27FC236}">
                <a16:creationId xmlns:a16="http://schemas.microsoft.com/office/drawing/2014/main" id="{AE84E6CF-C8B6-044E-92D9-9754C3253112}"/>
              </a:ext>
            </a:extLst>
          </p:cNvPr>
          <p:cNvGrpSpPr>
            <a:grpSpLocks/>
          </p:cNvGrpSpPr>
          <p:nvPr/>
        </p:nvGrpSpPr>
        <p:grpSpPr bwMode="auto">
          <a:xfrm>
            <a:off x="9823306" y="4171232"/>
            <a:ext cx="533400" cy="206375"/>
            <a:chOff x="344" y="1846"/>
            <a:chExt cx="336" cy="130"/>
          </a:xfrm>
        </p:grpSpPr>
        <p:sp>
          <p:nvSpPr>
            <p:cNvPr id="141" name="Rectangle 35">
              <a:extLst>
                <a:ext uri="{FF2B5EF4-FFF2-40B4-BE49-F238E27FC236}">
                  <a16:creationId xmlns:a16="http://schemas.microsoft.com/office/drawing/2014/main" id="{7D4B092F-0804-EE4A-94E0-8271C5100190}"/>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Rectangle 54">
              <a:extLst>
                <a:ext uri="{FF2B5EF4-FFF2-40B4-BE49-F238E27FC236}">
                  <a16:creationId xmlns:a16="http://schemas.microsoft.com/office/drawing/2014/main" id="{8FBA6612-C2CB-7A4A-BDE1-C5A9430DFE88}"/>
                </a:ext>
              </a:extLst>
            </p:cNvPr>
            <p:cNvSpPr>
              <a:spLocks noChangeArrowheads="1"/>
            </p:cNvSpPr>
            <p:nvPr/>
          </p:nvSpPr>
          <p:spPr bwMode="auto">
            <a:xfrm>
              <a:off x="454" y="186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Rectangle 55">
              <a:extLst>
                <a:ext uri="{FF2B5EF4-FFF2-40B4-BE49-F238E27FC236}">
                  <a16:creationId xmlns:a16="http://schemas.microsoft.com/office/drawing/2014/main" id="{CB6C4329-1870-6D47-94B8-AB8D08DC0029}"/>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Rectangle 56">
              <a:extLst>
                <a:ext uri="{FF2B5EF4-FFF2-40B4-BE49-F238E27FC236}">
                  <a16:creationId xmlns:a16="http://schemas.microsoft.com/office/drawing/2014/main" id="{7506EAD6-B400-9A41-8C08-BA08298518AB}"/>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2999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0" name="Text Box 26">
            <a:extLst>
              <a:ext uri="{FF2B5EF4-FFF2-40B4-BE49-F238E27FC236}">
                <a16:creationId xmlns:a16="http://schemas.microsoft.com/office/drawing/2014/main" id="{975D136A-FEFB-9E40-BA33-B33E91228F15}"/>
              </a:ext>
            </a:extLst>
          </p:cNvPr>
          <p:cNvSpPr txBox="1">
            <a:spLocks noChangeArrowheads="1"/>
          </p:cNvSpPr>
          <p:nvPr/>
        </p:nvSpPr>
        <p:spPr bwMode="auto">
          <a:xfrm>
            <a:off x="5695806" y="36441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348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491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506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4" name="Oval 120">
            <a:extLst>
              <a:ext uri="{FF2B5EF4-FFF2-40B4-BE49-F238E27FC236}">
                <a16:creationId xmlns:a16="http://schemas.microsoft.com/office/drawing/2014/main" id="{A77294DB-DD97-F741-82FD-F8B94839A458}"/>
              </a:ext>
            </a:extLst>
          </p:cNvPr>
          <p:cNvSpPr>
            <a:spLocks noChangeArrowheads="1"/>
          </p:cNvSpPr>
          <p:nvPr/>
        </p:nvSpPr>
        <p:spPr bwMode="auto">
          <a:xfrm>
            <a:off x="6392718" y="40188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P2</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Oval 128">
            <a:extLst>
              <a:ext uri="{FF2B5EF4-FFF2-40B4-BE49-F238E27FC236}">
                <a16:creationId xmlns:a16="http://schemas.microsoft.com/office/drawing/2014/main" id="{AAD00A20-9526-2F4E-9C87-C3B249C8E909}"/>
              </a:ext>
            </a:extLst>
          </p:cNvPr>
          <p:cNvSpPr>
            <a:spLocks noChangeArrowheads="1"/>
          </p:cNvSpPr>
          <p:nvPr/>
        </p:nvSpPr>
        <p:spPr bwMode="auto">
          <a:xfrm>
            <a:off x="5687868" y="40188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P1</a:t>
            </a:r>
          </a:p>
        </p:txBody>
      </p:sp>
      <p:grpSp>
        <p:nvGrpSpPr>
          <p:cNvPr id="158" name="Group 134">
            <a:extLst>
              <a:ext uri="{FF2B5EF4-FFF2-40B4-BE49-F238E27FC236}">
                <a16:creationId xmlns:a16="http://schemas.microsoft.com/office/drawing/2014/main" id="{015BC705-D8E3-EA41-A198-6A8DDB031BE2}"/>
              </a:ext>
            </a:extLst>
          </p:cNvPr>
          <p:cNvGrpSpPr>
            <a:grpSpLocks/>
          </p:cNvGrpSpPr>
          <p:nvPr/>
        </p:nvGrpSpPr>
        <p:grpSpPr bwMode="auto">
          <a:xfrm>
            <a:off x="6468918" y="4377607"/>
            <a:ext cx="412750" cy="158750"/>
            <a:chOff x="1383" y="2620"/>
            <a:chExt cx="260" cy="100"/>
          </a:xfrm>
        </p:grpSpPr>
        <p:sp>
          <p:nvSpPr>
            <p:cNvPr id="159" name="Rectangle 130">
              <a:extLst>
                <a:ext uri="{FF2B5EF4-FFF2-40B4-BE49-F238E27FC236}">
                  <a16:creationId xmlns:a16="http://schemas.microsoft.com/office/drawing/2014/main" id="{617E09BE-67A7-E846-8718-4C5F4E894E09}"/>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Rectangle 131">
              <a:extLst>
                <a:ext uri="{FF2B5EF4-FFF2-40B4-BE49-F238E27FC236}">
                  <a16:creationId xmlns:a16="http://schemas.microsoft.com/office/drawing/2014/main" id="{DAEC0345-B8B5-6942-9E07-837C51C11EAA}"/>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1" name="Rectangle 132">
              <a:extLst>
                <a:ext uri="{FF2B5EF4-FFF2-40B4-BE49-F238E27FC236}">
                  <a16:creationId xmlns:a16="http://schemas.microsoft.com/office/drawing/2014/main" id="{CBC575E8-9188-C944-A373-1BE60CEDE448}"/>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2" name="Rectangle 133">
              <a:extLst>
                <a:ext uri="{FF2B5EF4-FFF2-40B4-BE49-F238E27FC236}">
                  <a16:creationId xmlns:a16="http://schemas.microsoft.com/office/drawing/2014/main" id="{5CBAC889-4624-214B-8DD0-1C5D2121C35A}"/>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3" name="Group 135">
            <a:extLst>
              <a:ext uri="{FF2B5EF4-FFF2-40B4-BE49-F238E27FC236}">
                <a16:creationId xmlns:a16="http://schemas.microsoft.com/office/drawing/2014/main" id="{E0C06B10-B8DE-5649-9DA7-1C38410338CA}"/>
              </a:ext>
            </a:extLst>
          </p:cNvPr>
          <p:cNvGrpSpPr>
            <a:grpSpLocks/>
          </p:cNvGrpSpPr>
          <p:nvPr/>
        </p:nvGrpSpPr>
        <p:grpSpPr bwMode="auto">
          <a:xfrm>
            <a:off x="5767243" y="4369669"/>
            <a:ext cx="412750" cy="158750"/>
            <a:chOff x="1383" y="2620"/>
            <a:chExt cx="260" cy="100"/>
          </a:xfrm>
        </p:grpSpPr>
        <p:sp>
          <p:nvSpPr>
            <p:cNvPr id="164" name="Rectangle 136">
              <a:extLst>
                <a:ext uri="{FF2B5EF4-FFF2-40B4-BE49-F238E27FC236}">
                  <a16:creationId xmlns:a16="http://schemas.microsoft.com/office/drawing/2014/main" id="{90DDD937-6604-0E4A-BC22-D3086933313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5" name="Rectangle 137">
              <a:extLst>
                <a:ext uri="{FF2B5EF4-FFF2-40B4-BE49-F238E27FC236}">
                  <a16:creationId xmlns:a16="http://schemas.microsoft.com/office/drawing/2014/main" id="{12ACDF7C-B3D8-9B4A-BD4A-D8CF4A028253}"/>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6" name="Rectangle 138">
              <a:extLst>
                <a:ext uri="{FF2B5EF4-FFF2-40B4-BE49-F238E27FC236}">
                  <a16:creationId xmlns:a16="http://schemas.microsoft.com/office/drawing/2014/main" id="{BBABF61C-A52E-5440-86D9-57F0C4530FF0}"/>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7" name="Rectangle 139">
              <a:extLst>
                <a:ext uri="{FF2B5EF4-FFF2-40B4-BE49-F238E27FC236}">
                  <a16:creationId xmlns:a16="http://schemas.microsoft.com/office/drawing/2014/main" id="{32461327-4600-6E4F-AB44-FD06E8C35B24}"/>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79035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69523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56393" y="54094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1420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1" name="Oval 101">
            <a:extLst>
              <a:ext uri="{FF2B5EF4-FFF2-40B4-BE49-F238E27FC236}">
                <a16:creationId xmlns:a16="http://schemas.microsoft.com/office/drawing/2014/main" id="{092F802C-72A1-EE41-9CEB-72883AD3F29F}"/>
              </a:ext>
            </a:extLst>
          </p:cNvPr>
          <p:cNvSpPr>
            <a:spLocks noChangeArrowheads="1"/>
          </p:cNvSpPr>
          <p:nvPr/>
        </p:nvSpPr>
        <p:spPr bwMode="auto">
          <a:xfrm>
            <a:off x="8216756" y="4379194"/>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P4</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79829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031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174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2214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95" name="Oval 23">
            <a:extLst>
              <a:ext uri="{FF2B5EF4-FFF2-40B4-BE49-F238E27FC236}">
                <a16:creationId xmlns:a16="http://schemas.microsoft.com/office/drawing/2014/main" id="{34D7692A-81D8-4D48-8FE7-F92A1F47470B}"/>
              </a:ext>
            </a:extLst>
          </p:cNvPr>
          <p:cNvSpPr>
            <a:spLocks noChangeArrowheads="1"/>
          </p:cNvSpPr>
          <p:nvPr/>
        </p:nvSpPr>
        <p:spPr bwMode="auto">
          <a:xfrm>
            <a:off x="3871768" y="43871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P3</a:t>
            </a:r>
          </a:p>
        </p:txBody>
      </p:sp>
      <p:grpSp>
        <p:nvGrpSpPr>
          <p:cNvPr id="196" name="Group 149">
            <a:extLst>
              <a:ext uri="{FF2B5EF4-FFF2-40B4-BE49-F238E27FC236}">
                <a16:creationId xmlns:a16="http://schemas.microsoft.com/office/drawing/2014/main" id="{21881EDC-E749-4F46-8C1C-B44DD21BA9AD}"/>
              </a:ext>
            </a:extLst>
          </p:cNvPr>
          <p:cNvGrpSpPr>
            <a:grpSpLocks/>
          </p:cNvGrpSpPr>
          <p:nvPr/>
        </p:nvGrpSpPr>
        <p:grpSpPr bwMode="auto">
          <a:xfrm>
            <a:off x="3962256" y="4725269"/>
            <a:ext cx="412750" cy="158750"/>
            <a:chOff x="1287" y="2524"/>
            <a:chExt cx="260" cy="100"/>
          </a:xfrm>
        </p:grpSpPr>
        <p:sp>
          <p:nvSpPr>
            <p:cNvPr id="197" name="Rectangle 73">
              <a:extLst>
                <a:ext uri="{FF2B5EF4-FFF2-40B4-BE49-F238E27FC236}">
                  <a16:creationId xmlns:a16="http://schemas.microsoft.com/office/drawing/2014/main" id="{F3D0248D-63A0-3447-AD45-C92BA38B99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Rectangle 74">
              <a:extLst>
                <a:ext uri="{FF2B5EF4-FFF2-40B4-BE49-F238E27FC236}">
                  <a16:creationId xmlns:a16="http://schemas.microsoft.com/office/drawing/2014/main" id="{A8C44BD4-B473-EA48-B1D2-4212120DE72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9" name="Rectangle 75">
              <a:extLst>
                <a:ext uri="{FF2B5EF4-FFF2-40B4-BE49-F238E27FC236}">
                  <a16:creationId xmlns:a16="http://schemas.microsoft.com/office/drawing/2014/main" id="{08B6F9A7-9AD7-B040-B431-D7898B46726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129">
              <a:extLst>
                <a:ext uri="{FF2B5EF4-FFF2-40B4-BE49-F238E27FC236}">
                  <a16:creationId xmlns:a16="http://schemas.microsoft.com/office/drawing/2014/main" id="{310C322C-F672-7946-BD16-DA4CE50EE1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01" name="Group 150">
            <a:extLst>
              <a:ext uri="{FF2B5EF4-FFF2-40B4-BE49-F238E27FC236}">
                <a16:creationId xmlns:a16="http://schemas.microsoft.com/office/drawing/2014/main" id="{C5660C67-80CE-084B-8B8D-F5CCCDA73638}"/>
              </a:ext>
            </a:extLst>
          </p:cNvPr>
          <p:cNvGrpSpPr>
            <a:grpSpLocks/>
          </p:cNvGrpSpPr>
          <p:nvPr/>
        </p:nvGrpSpPr>
        <p:grpSpPr bwMode="auto">
          <a:xfrm>
            <a:off x="8302481" y="4723682"/>
            <a:ext cx="412750" cy="158750"/>
            <a:chOff x="1287" y="2524"/>
            <a:chExt cx="260" cy="100"/>
          </a:xfrm>
        </p:grpSpPr>
        <p:sp>
          <p:nvSpPr>
            <p:cNvPr id="202" name="Rectangle 151">
              <a:extLst>
                <a:ext uri="{FF2B5EF4-FFF2-40B4-BE49-F238E27FC236}">
                  <a16:creationId xmlns:a16="http://schemas.microsoft.com/office/drawing/2014/main" id="{E39443DC-01F4-7A42-BC3B-BD48B19524D4}"/>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3" name="Rectangle 152">
              <a:extLst>
                <a:ext uri="{FF2B5EF4-FFF2-40B4-BE49-F238E27FC236}">
                  <a16:creationId xmlns:a16="http://schemas.microsoft.com/office/drawing/2014/main" id="{810BA023-C5B8-434B-9FF4-507BAFBB255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53">
              <a:extLst>
                <a:ext uri="{FF2B5EF4-FFF2-40B4-BE49-F238E27FC236}">
                  <a16:creationId xmlns:a16="http://schemas.microsoft.com/office/drawing/2014/main" id="{48739CB2-AA1C-8B4E-8D0B-CFBBB2A4F3F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5" name="Rectangle 154">
              <a:extLst>
                <a:ext uri="{FF2B5EF4-FFF2-40B4-BE49-F238E27FC236}">
                  <a16:creationId xmlns:a16="http://schemas.microsoft.com/office/drawing/2014/main" id="{435BB581-5D52-C345-BA75-358EC9A4374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06" name="Freeform 146">
            <a:extLst>
              <a:ext uri="{FF2B5EF4-FFF2-40B4-BE49-F238E27FC236}">
                <a16:creationId xmlns:a16="http://schemas.microsoft.com/office/drawing/2014/main" id="{8EB20ED3-9276-204C-BA00-A485E0531DD2}"/>
              </a:ext>
            </a:extLst>
          </p:cNvPr>
          <p:cNvSpPr>
            <a:spLocks/>
          </p:cNvSpPr>
          <p:nvPr/>
        </p:nvSpPr>
        <p:spPr bwMode="auto">
          <a:xfrm>
            <a:off x="6349856" y="4425232"/>
            <a:ext cx="2173287" cy="1989137"/>
          </a:xfrm>
          <a:custGeom>
            <a:avLst/>
            <a:gdLst>
              <a:gd name="T0" fmla="*/ 2147483647 w 1369"/>
              <a:gd name="T1" fmla="*/ 2147483647 h 1253"/>
              <a:gd name="T2" fmla="*/ 2147483647 w 1369"/>
              <a:gd name="T3" fmla="*/ 2147483647 h 1253"/>
              <a:gd name="T4" fmla="*/ 2147483647 w 1369"/>
              <a:gd name="T5" fmla="*/ 2147483647 h 1253"/>
              <a:gd name="T6" fmla="*/ 0 w 1369"/>
              <a:gd name="T7" fmla="*/ 2147483647 h 1253"/>
              <a:gd name="T8" fmla="*/ 2147483647 w 1369"/>
              <a:gd name="T9" fmla="*/ 0 h 1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9" h="1253">
                <a:moveTo>
                  <a:pt x="1369" y="216"/>
                </a:moveTo>
                <a:lnTo>
                  <a:pt x="1362" y="1252"/>
                </a:lnTo>
                <a:lnTo>
                  <a:pt x="16" y="1253"/>
                </a:lnTo>
                <a:lnTo>
                  <a:pt x="0" y="121"/>
                </a:lnTo>
                <a:lnTo>
                  <a:pt x="191"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7" name="Freeform 147">
            <a:extLst>
              <a:ext uri="{FF2B5EF4-FFF2-40B4-BE49-F238E27FC236}">
                <a16:creationId xmlns:a16="http://schemas.microsoft.com/office/drawing/2014/main" id="{911482D4-C931-F64A-A760-F208DA9E7FB6}"/>
              </a:ext>
            </a:extLst>
          </p:cNvPr>
          <p:cNvSpPr>
            <a:spLocks/>
          </p:cNvSpPr>
          <p:nvPr/>
        </p:nvSpPr>
        <p:spPr bwMode="auto">
          <a:xfrm>
            <a:off x="6468918" y="4456982"/>
            <a:ext cx="1984375" cy="1876425"/>
          </a:xfrm>
          <a:custGeom>
            <a:avLst/>
            <a:gdLst>
              <a:gd name="T0" fmla="*/ 2147483647 w 1250"/>
              <a:gd name="T1" fmla="*/ 2147483647 h 1182"/>
              <a:gd name="T2" fmla="*/ 2147483647 w 1250"/>
              <a:gd name="T3" fmla="*/ 2147483647 h 1182"/>
              <a:gd name="T4" fmla="*/ 2147483647 w 1250"/>
              <a:gd name="T5" fmla="*/ 2147483647 h 1182"/>
              <a:gd name="T6" fmla="*/ 0 w 1250"/>
              <a:gd name="T7" fmla="*/ 2147483647 h 1182"/>
              <a:gd name="T8" fmla="*/ 2147483647 w 1250"/>
              <a:gd name="T9" fmla="*/ 0 h 1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0" h="1182">
                <a:moveTo>
                  <a:pt x="1250" y="190"/>
                </a:moveTo>
                <a:lnTo>
                  <a:pt x="1244" y="1182"/>
                </a:lnTo>
                <a:lnTo>
                  <a:pt x="19" y="1181"/>
                </a:lnTo>
                <a:lnTo>
                  <a:pt x="0" y="155"/>
                </a:lnTo>
                <a:lnTo>
                  <a:pt x="171"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8" name="Oval 36">
            <a:extLst>
              <a:ext uri="{FF2B5EF4-FFF2-40B4-BE49-F238E27FC236}">
                <a16:creationId xmlns:a16="http://schemas.microsoft.com/office/drawing/2014/main" id="{6C459D77-5631-504A-9CB0-A48BD9C61B3E}"/>
              </a:ext>
            </a:extLst>
          </p:cNvPr>
          <p:cNvSpPr>
            <a:spLocks noChangeArrowheads="1"/>
          </p:cNvSpPr>
          <p:nvPr/>
        </p:nvSpPr>
        <p:spPr bwMode="auto">
          <a:xfrm>
            <a:off x="9809018" y="453635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omic Sans MS" charset="0"/>
              <a:ea typeface="ＭＳ Ｐゴシック" charset="0"/>
              <a:cs typeface="+mn-cs"/>
            </a:endParaRPr>
          </a:p>
        </p:txBody>
      </p:sp>
      <p:grpSp>
        <p:nvGrpSpPr>
          <p:cNvPr id="8" name="Group 7"/>
          <p:cNvGrpSpPr/>
          <p:nvPr/>
        </p:nvGrpSpPr>
        <p:grpSpPr>
          <a:xfrm>
            <a:off x="6060931" y="4663331"/>
            <a:ext cx="555332" cy="71510"/>
            <a:chOff x="1420065" y="5012608"/>
            <a:chExt cx="555332" cy="71510"/>
          </a:xfrm>
        </p:grpSpPr>
        <p:sp>
          <p:nvSpPr>
            <p:cNvPr id="210" name="Oval 166">
              <a:extLst>
                <a:ext uri="{FF2B5EF4-FFF2-40B4-BE49-F238E27FC236}">
                  <a16:creationId xmlns:a16="http://schemas.microsoft.com/office/drawing/2014/main" id="{ADD1825C-C7DB-6844-A3DF-BCF2BA1F0533}"/>
                </a:ext>
              </a:extLst>
            </p:cNvPr>
            <p:cNvSpPr>
              <a:spLocks noChangeArrowheads="1"/>
            </p:cNvSpPr>
            <p:nvPr/>
          </p:nvSpPr>
          <p:spPr bwMode="auto">
            <a:xfrm>
              <a:off x="1420065" y="501260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1" name="Oval 167">
              <a:extLst>
                <a:ext uri="{FF2B5EF4-FFF2-40B4-BE49-F238E27FC236}">
                  <a16:creationId xmlns:a16="http://schemas.microsoft.com/office/drawing/2014/main" id="{0600B33C-3B3C-0646-85DB-B042B7A87603}"/>
                </a:ext>
              </a:extLst>
            </p:cNvPr>
            <p:cNvSpPr>
              <a:spLocks noChangeArrowheads="1"/>
            </p:cNvSpPr>
            <p:nvPr/>
          </p:nvSpPr>
          <p:spPr bwMode="auto">
            <a:xfrm>
              <a:off x="1778547" y="501426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12" name="Freeform 168">
            <a:extLst>
              <a:ext uri="{FF2B5EF4-FFF2-40B4-BE49-F238E27FC236}">
                <a16:creationId xmlns:a16="http://schemas.microsoft.com/office/drawing/2014/main" id="{202E5E96-F7A0-1448-90F0-6A79F4073978}"/>
              </a:ext>
            </a:extLst>
          </p:cNvPr>
          <p:cNvSpPr>
            <a:spLocks/>
          </p:cNvSpPr>
          <p:nvPr/>
        </p:nvSpPr>
        <p:spPr bwMode="auto">
          <a:xfrm>
            <a:off x="5311630" y="3275882"/>
            <a:ext cx="688975" cy="1435100"/>
          </a:xfrm>
          <a:custGeom>
            <a:avLst/>
            <a:gdLst>
              <a:gd name="T0" fmla="*/ 434 w 434"/>
              <a:gd name="T1" fmla="*/ 904 h 904"/>
              <a:gd name="T2" fmla="*/ 2 w 434"/>
              <a:gd name="T3" fmla="*/ 902 h 904"/>
              <a:gd name="T4" fmla="*/ 0 w 434"/>
              <a:gd name="T5" fmla="*/ 0 h 904"/>
              <a:gd name="T6" fmla="*/ 0 60000 65536"/>
              <a:gd name="T7" fmla="*/ 0 60000 65536"/>
              <a:gd name="T8" fmla="*/ 0 60000 65536"/>
            </a:gdLst>
            <a:ahLst/>
            <a:cxnLst>
              <a:cxn ang="T6">
                <a:pos x="T0" y="T1"/>
              </a:cxn>
              <a:cxn ang="T7">
                <a:pos x="T2" y="T3"/>
              </a:cxn>
              <a:cxn ang="T8">
                <a:pos x="T4" y="T5"/>
              </a:cxn>
            </a:cxnLst>
            <a:rect l="0" t="0" r="r" b="b"/>
            <a:pathLst>
              <a:path w="434" h="904">
                <a:moveTo>
                  <a:pt x="434" y="904"/>
                </a:moveTo>
                <a:lnTo>
                  <a:pt x="2" y="902"/>
                </a:lnTo>
                <a:lnTo>
                  <a:pt x="0" y="0"/>
                </a:lnTo>
              </a:path>
            </a:pathLst>
          </a:custGeom>
          <a:noFill/>
          <a:ln w="1905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13" name="Group 172">
            <a:extLst>
              <a:ext uri="{FF2B5EF4-FFF2-40B4-BE49-F238E27FC236}">
                <a16:creationId xmlns:a16="http://schemas.microsoft.com/office/drawing/2014/main" id="{A2D29F5F-484F-7547-9B9A-8974E37BD10F}"/>
              </a:ext>
            </a:extLst>
          </p:cNvPr>
          <p:cNvGrpSpPr>
            <a:grpSpLocks/>
          </p:cNvGrpSpPr>
          <p:nvPr/>
        </p:nvGrpSpPr>
        <p:grpSpPr bwMode="auto">
          <a:xfrm>
            <a:off x="6211743" y="3239369"/>
            <a:ext cx="1047750" cy="1441450"/>
            <a:chOff x="2432" y="1758"/>
            <a:chExt cx="660" cy="908"/>
          </a:xfrm>
        </p:grpSpPr>
        <p:sp>
          <p:nvSpPr>
            <p:cNvPr id="214" name="Oval 170">
              <a:extLst>
                <a:ext uri="{FF2B5EF4-FFF2-40B4-BE49-F238E27FC236}">
                  <a16:creationId xmlns:a16="http://schemas.microsoft.com/office/drawing/2014/main" id="{E03C7F13-7247-C24D-85C2-723A1405F160}"/>
                </a:ext>
              </a:extLst>
            </p:cNvPr>
            <p:cNvSpPr>
              <a:spLocks noChangeArrowheads="1"/>
            </p:cNvSpPr>
            <p:nvPr/>
          </p:nvSpPr>
          <p:spPr bwMode="auto">
            <a:xfrm>
              <a:off x="2432" y="2564"/>
              <a:ext cx="144" cy="102"/>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5" name="Freeform 171">
              <a:extLst>
                <a:ext uri="{FF2B5EF4-FFF2-40B4-BE49-F238E27FC236}">
                  <a16:creationId xmlns:a16="http://schemas.microsoft.com/office/drawing/2014/main" id="{9BC6BA8A-16A3-F446-97F4-76774828464D}"/>
                </a:ext>
              </a:extLst>
            </p:cNvPr>
            <p:cNvSpPr>
              <a:spLocks/>
            </p:cNvSpPr>
            <p:nvPr/>
          </p:nvSpPr>
          <p:spPr bwMode="auto">
            <a:xfrm>
              <a:off x="2506" y="1758"/>
              <a:ext cx="586" cy="810"/>
            </a:xfrm>
            <a:custGeom>
              <a:avLst/>
              <a:gdLst>
                <a:gd name="T0" fmla="*/ 0 w 586"/>
                <a:gd name="T1" fmla="*/ 810 h 810"/>
                <a:gd name="T2" fmla="*/ 2 w 586"/>
                <a:gd name="T3" fmla="*/ 808 h 810"/>
                <a:gd name="T4" fmla="*/ 2 w 586"/>
                <a:gd name="T5" fmla="*/ 170 h 810"/>
                <a:gd name="T6" fmla="*/ 586 w 586"/>
                <a:gd name="T7" fmla="*/ 0 h 8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6" h="810">
                  <a:moveTo>
                    <a:pt x="0" y="810"/>
                  </a:moveTo>
                  <a:lnTo>
                    <a:pt x="2" y="808"/>
                  </a:lnTo>
                  <a:lnTo>
                    <a:pt x="2" y="170"/>
                  </a:lnTo>
                  <a:lnTo>
                    <a:pt x="586" y="0"/>
                  </a:lnTo>
                </a:path>
              </a:pathLst>
            </a:custGeom>
            <a:noFill/>
            <a:ln w="1270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55" name="Group 176">
            <a:extLst>
              <a:ext uri="{FF2B5EF4-FFF2-40B4-BE49-F238E27FC236}">
                <a16:creationId xmlns:a16="http://schemas.microsoft.com/office/drawing/2014/main" id="{A688A9DA-2CE4-9245-B0CF-12C3AB6DA03D}"/>
              </a:ext>
            </a:extLst>
          </p:cNvPr>
          <p:cNvGrpSpPr>
            <a:grpSpLocks/>
          </p:cNvGrpSpPr>
          <p:nvPr/>
        </p:nvGrpSpPr>
        <p:grpSpPr bwMode="auto">
          <a:xfrm>
            <a:off x="1183088" y="1563001"/>
            <a:ext cx="4826032" cy="1719654"/>
            <a:chOff x="5" y="727"/>
            <a:chExt cx="2460" cy="1047"/>
          </a:xfrm>
        </p:grpSpPr>
        <p:sp>
          <p:nvSpPr>
            <p:cNvPr id="256" name="Text Box 45">
              <a:extLst>
                <a:ext uri="{FF2B5EF4-FFF2-40B4-BE49-F238E27FC236}">
                  <a16:creationId xmlns:a16="http://schemas.microsoft.com/office/drawing/2014/main" id="{08227C49-D6DA-834A-88D1-4F61E7C3A2C1}"/>
                </a:ext>
              </a:extLst>
            </p:cNvPr>
            <p:cNvSpPr txBox="1">
              <a:spLocks noChangeArrowheads="1"/>
            </p:cNvSpPr>
            <p:nvPr/>
          </p:nvSpPr>
          <p:spPr bwMode="auto">
            <a:xfrm>
              <a:off x="133" y="1101"/>
              <a:ext cx="2332" cy="62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handle data from multiple</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sockets, add transport header (later used for demultiplexing)</a:t>
              </a:r>
            </a:p>
          </p:txBody>
        </p:sp>
        <p:sp>
          <p:nvSpPr>
            <p:cNvPr id="257" name="Rectangle 46">
              <a:extLst>
                <a:ext uri="{FF2B5EF4-FFF2-40B4-BE49-F238E27FC236}">
                  <a16:creationId xmlns:a16="http://schemas.microsoft.com/office/drawing/2014/main" id="{3B2C1C25-63A3-9D42-A34A-56DE5B3AC226}"/>
                </a:ext>
              </a:extLst>
            </p:cNvPr>
            <p:cNvSpPr>
              <a:spLocks noChangeArrowheads="1"/>
            </p:cNvSpPr>
            <p:nvPr/>
          </p:nvSpPr>
          <p:spPr bwMode="auto">
            <a:xfrm>
              <a:off x="5" y="901"/>
              <a:ext cx="2298" cy="873"/>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nvGrpSpPr>
            <p:cNvPr id="258" name="Group 47">
              <a:extLst>
                <a:ext uri="{FF2B5EF4-FFF2-40B4-BE49-F238E27FC236}">
                  <a16:creationId xmlns:a16="http://schemas.microsoft.com/office/drawing/2014/main" id="{9141C6D7-5B52-C14E-B286-0BE1FAEACCB8}"/>
                </a:ext>
              </a:extLst>
            </p:cNvPr>
            <p:cNvGrpSpPr>
              <a:grpSpLocks/>
            </p:cNvGrpSpPr>
            <p:nvPr/>
          </p:nvGrpSpPr>
          <p:grpSpPr bwMode="auto">
            <a:xfrm>
              <a:off x="91" y="727"/>
              <a:ext cx="1854" cy="375"/>
              <a:chOff x="869" y="3567"/>
              <a:chExt cx="1780" cy="375"/>
            </a:xfrm>
          </p:grpSpPr>
          <p:sp>
            <p:nvSpPr>
              <p:cNvPr id="259" name="Rectangle 48">
                <a:extLst>
                  <a:ext uri="{FF2B5EF4-FFF2-40B4-BE49-F238E27FC236}">
                    <a16:creationId xmlns:a16="http://schemas.microsoft.com/office/drawing/2014/main" id="{9B8AF1CA-3C6F-F243-9464-0DF4CA71C4FF}"/>
                  </a:ext>
                </a:extLst>
              </p:cNvPr>
              <p:cNvSpPr>
                <a:spLocks noChangeArrowheads="1"/>
              </p:cNvSpPr>
              <p:nvPr/>
            </p:nvSpPr>
            <p:spPr bwMode="auto">
              <a:xfrm>
                <a:off x="1422" y="3732"/>
                <a:ext cx="1006" cy="21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260" name="Text Box 49">
                <a:extLst>
                  <a:ext uri="{FF2B5EF4-FFF2-40B4-BE49-F238E27FC236}">
                    <a16:creationId xmlns:a16="http://schemas.microsoft.com/office/drawing/2014/main" id="{70A5AF43-DDA0-2A40-9B92-B39F358268CD}"/>
                  </a:ext>
                </a:extLst>
              </p:cNvPr>
              <p:cNvSpPr txBox="1">
                <a:spLocks noChangeArrowheads="1"/>
              </p:cNvSpPr>
              <p:nvPr/>
            </p:nvSpPr>
            <p:spPr bwMode="auto">
              <a:xfrm>
                <a:off x="869" y="3567"/>
                <a:ext cx="1780" cy="33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multiplexing at sender:</a:t>
                </a:r>
              </a:p>
            </p:txBody>
          </p:sp>
        </p:grpSp>
      </p:grpSp>
      <p:sp>
        <p:nvSpPr>
          <p:cNvPr id="169" name="Freeform 142">
            <a:extLst>
              <a:ext uri="{FF2B5EF4-FFF2-40B4-BE49-F238E27FC236}">
                <a16:creationId xmlns:a16="http://schemas.microsoft.com/office/drawing/2014/main" id="{9633E13F-8D02-CA4B-A3EB-E64D4EB42802}"/>
              </a:ext>
            </a:extLst>
          </p:cNvPr>
          <p:cNvSpPr>
            <a:spLocks/>
          </p:cNvSpPr>
          <p:nvPr/>
        </p:nvSpPr>
        <p:spPr bwMode="auto">
          <a:xfrm>
            <a:off x="4198793" y="4458569"/>
            <a:ext cx="1962150" cy="1897063"/>
          </a:xfrm>
          <a:custGeom>
            <a:avLst/>
            <a:gdLst>
              <a:gd name="T0" fmla="*/ 0 w 1236"/>
              <a:gd name="T1" fmla="*/ 2147483647 h 1195"/>
              <a:gd name="T2" fmla="*/ 2147483647 w 1236"/>
              <a:gd name="T3" fmla="*/ 2147483647 h 1195"/>
              <a:gd name="T4" fmla="*/ 2147483647 w 1236"/>
              <a:gd name="T5" fmla="*/ 2147483647 h 1195"/>
              <a:gd name="T6" fmla="*/ 2147483647 w 1236"/>
              <a:gd name="T7" fmla="*/ 2147483647 h 1195"/>
              <a:gd name="T8" fmla="*/ 2147483647 w 1236"/>
              <a:gd name="T9" fmla="*/ 0 h 1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6" h="1195">
                <a:moveTo>
                  <a:pt x="0" y="202"/>
                </a:moveTo>
                <a:lnTo>
                  <a:pt x="6" y="1194"/>
                </a:lnTo>
                <a:lnTo>
                  <a:pt x="1236" y="1195"/>
                </a:lnTo>
                <a:lnTo>
                  <a:pt x="1227" y="150"/>
                </a:lnTo>
                <a:lnTo>
                  <a:pt x="1069"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Freeform 141">
            <a:extLst>
              <a:ext uri="{FF2B5EF4-FFF2-40B4-BE49-F238E27FC236}">
                <a16:creationId xmlns:a16="http://schemas.microsoft.com/office/drawing/2014/main" id="{68E70704-F4BA-164C-AD06-3859E25D67E2}"/>
              </a:ext>
            </a:extLst>
          </p:cNvPr>
          <p:cNvSpPr>
            <a:spLocks/>
          </p:cNvSpPr>
          <p:nvPr/>
        </p:nvSpPr>
        <p:spPr bwMode="auto">
          <a:xfrm>
            <a:off x="4135293" y="4433169"/>
            <a:ext cx="2160588" cy="1989138"/>
          </a:xfrm>
          <a:custGeom>
            <a:avLst/>
            <a:gdLst>
              <a:gd name="T0" fmla="*/ 0 w 1361"/>
              <a:gd name="T1" fmla="*/ 2147483647 h 1253"/>
              <a:gd name="T2" fmla="*/ 2147483647 w 1361"/>
              <a:gd name="T3" fmla="*/ 2147483647 h 1253"/>
              <a:gd name="T4" fmla="*/ 2147483647 w 1361"/>
              <a:gd name="T5" fmla="*/ 2147483647 h 1253"/>
              <a:gd name="T6" fmla="*/ 2147483647 w 1361"/>
              <a:gd name="T7" fmla="*/ 2147483647 h 1253"/>
              <a:gd name="T8" fmla="*/ 2147483647 w 1361"/>
              <a:gd name="T9" fmla="*/ 2147483647 h 1253"/>
              <a:gd name="T10" fmla="*/ 2147483647 w 1361"/>
              <a:gd name="T11" fmla="*/ 0 h 1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61" h="1253">
                <a:moveTo>
                  <a:pt x="0" y="216"/>
                </a:moveTo>
                <a:lnTo>
                  <a:pt x="7" y="1252"/>
                </a:lnTo>
                <a:lnTo>
                  <a:pt x="1320" y="1253"/>
                </a:lnTo>
                <a:lnTo>
                  <a:pt x="1361" y="1252"/>
                </a:lnTo>
                <a:lnTo>
                  <a:pt x="1353" y="114"/>
                </a:lnTo>
                <a:lnTo>
                  <a:pt x="1178"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 name="Group 6"/>
          <p:cNvGrpSpPr/>
          <p:nvPr/>
        </p:nvGrpSpPr>
        <p:grpSpPr>
          <a:xfrm>
            <a:off x="4450940" y="4321755"/>
            <a:ext cx="3748969" cy="114880"/>
            <a:chOff x="4450940" y="4321755"/>
            <a:chExt cx="3748969" cy="114880"/>
          </a:xfrm>
        </p:grpSpPr>
        <p:sp>
          <p:nvSpPr>
            <p:cNvPr id="6" name="Left-Right Arrow 5"/>
            <p:cNvSpPr/>
            <p:nvPr/>
          </p:nvSpPr>
          <p:spPr>
            <a:xfrm rot="20821812">
              <a:off x="4450940" y="4321755"/>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1" name="Left-Right Arrow 260"/>
            <p:cNvSpPr/>
            <p:nvPr/>
          </p:nvSpPr>
          <p:spPr>
            <a:xfrm rot="778188" flipV="1">
              <a:off x="6983757" y="4337631"/>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09" name="Slide Number Placeholder 2">
            <a:extLst>
              <a:ext uri="{FF2B5EF4-FFF2-40B4-BE49-F238E27FC236}">
                <a16:creationId xmlns:a16="http://schemas.microsoft.com/office/drawing/2014/main" id="{1BB112E7-9179-7C48-99F0-38E45F5BCFE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297240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dissolve">
                                      <p:cBhvr>
                                        <p:cTn id="15" dur="500"/>
                                        <p:tgtEl>
                                          <p:spTgt spid="25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12"/>
                                        </p:tgtEl>
                                        <p:attrNameLst>
                                          <p:attrName>style.visibility</p:attrName>
                                        </p:attrNameLst>
                                      </p:cBhvr>
                                      <p:to>
                                        <p:strVal val="visible"/>
                                      </p:to>
                                    </p:set>
                                    <p:animEffect transition="in" filter="dissolve">
                                      <p:cBhvr>
                                        <p:cTn id="18" dur="500"/>
                                        <p:tgtEl>
                                          <p:spTgt spid="212"/>
                                        </p:tgtEl>
                                      </p:cBhvr>
                                    </p:animEffect>
                                  </p:childTnLst>
                                </p:cTn>
                              </p:par>
                              <p:par>
                                <p:cTn id="19" presetID="9"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3"/>
                                        </p:tgtEl>
                                        <p:attrNameLst>
                                          <p:attrName>style.visibility</p:attrName>
                                        </p:attrNameLst>
                                      </p:cBhvr>
                                      <p:to>
                                        <p:strVal val="visible"/>
                                      </p:to>
                                    </p:set>
                                  </p:childTnLst>
                                </p:cTn>
                              </p:par>
                              <p:par>
                                <p:cTn id="26" presetID="9"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68"/>
                                        </p:tgtEl>
                                        <p:attrNameLst>
                                          <p:attrName>style.visibility</p:attrName>
                                        </p:attrNameLst>
                                      </p:cBhvr>
                                      <p:to>
                                        <p:strVal val="visible"/>
                                      </p:to>
                                    </p:set>
                                    <p:animEffect transition="in" filter="dissolve">
                                      <p:cBhvr>
                                        <p:cTn id="31" dur="500"/>
                                        <p:tgtEl>
                                          <p:spTgt spid="16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06"/>
                                        </p:tgtEl>
                                        <p:attrNameLst>
                                          <p:attrName>style.visibility</p:attrName>
                                        </p:attrNameLst>
                                      </p:cBhvr>
                                      <p:to>
                                        <p:strVal val="visible"/>
                                      </p:to>
                                    </p:set>
                                    <p:animEffect transition="in" filter="dissolve">
                                      <p:cBhvr>
                                        <p:cTn id="34" dur="500"/>
                                        <p:tgtEl>
                                          <p:spTgt spid="206"/>
                                        </p:tgtEl>
                                      </p:cBhvr>
                                    </p:animEffect>
                                  </p:childTnLst>
                                </p:cTn>
                              </p:par>
                              <p:par>
                                <p:cTn id="35" presetID="9" presetClass="exit" presetSubtype="0" fill="hold" grpId="0" nodeType="withEffect">
                                  <p:stCondLst>
                                    <p:cond delay="0"/>
                                  </p:stCondLst>
                                  <p:childTnLst>
                                    <p:animEffect transition="out" filter="dissolve">
                                      <p:cBhvr>
                                        <p:cTn id="36" dur="500"/>
                                        <p:tgtEl>
                                          <p:spTgt spid="169"/>
                                        </p:tgtEl>
                                      </p:cBhvr>
                                    </p:animEffect>
                                    <p:set>
                                      <p:cBhvr>
                                        <p:cTn id="37" dur="1" fill="hold">
                                          <p:stCondLst>
                                            <p:cond delay="499"/>
                                          </p:stCondLst>
                                        </p:cTn>
                                        <p:tgtEl>
                                          <p:spTgt spid="169"/>
                                        </p:tgtEl>
                                        <p:attrNameLst>
                                          <p:attrName>style.visibility</p:attrName>
                                        </p:attrNameLst>
                                      </p:cBhvr>
                                      <p:to>
                                        <p:strVal val="hidden"/>
                                      </p:to>
                                    </p:set>
                                  </p:childTnLst>
                                </p:cTn>
                              </p:par>
                              <p:par>
                                <p:cTn id="38" presetID="9" presetClass="exit" presetSubtype="0" fill="hold" nodeType="withEffect">
                                  <p:stCondLst>
                                    <p:cond delay="0"/>
                                  </p:stCondLst>
                                  <p:childTnLst>
                                    <p:animEffect transition="out" filter="dissolv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9" presetClass="exit" presetSubtype="0" fill="hold" grpId="1" nodeType="withEffect">
                                  <p:stCondLst>
                                    <p:cond delay="0"/>
                                  </p:stCondLst>
                                  <p:childTnLst>
                                    <p:animEffect transition="out" filter="dissolve">
                                      <p:cBhvr>
                                        <p:cTn id="42" dur="500"/>
                                        <p:tgtEl>
                                          <p:spTgt spid="212"/>
                                        </p:tgtEl>
                                      </p:cBhvr>
                                    </p:animEffect>
                                    <p:set>
                                      <p:cBhvr>
                                        <p:cTn id="43" dur="1" fill="hold">
                                          <p:stCondLst>
                                            <p:cond delay="499"/>
                                          </p:stCondLst>
                                        </p:cTn>
                                        <p:tgtEl>
                                          <p:spTgt spid="212"/>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255"/>
                                        </p:tgtEl>
                                      </p:cBhvr>
                                    </p:animEffect>
                                    <p:set>
                                      <p:cBhvr>
                                        <p:cTn id="46" dur="1" fill="hold">
                                          <p:stCondLst>
                                            <p:cond delay="499"/>
                                          </p:stCondLst>
                                        </p:cTn>
                                        <p:tgtEl>
                                          <p:spTgt spid="255"/>
                                        </p:tgtEl>
                                        <p:attrNameLst>
                                          <p:attrName>style.visibility</p:attrName>
                                        </p:attrNameLst>
                                      </p:cBhvr>
                                      <p:to>
                                        <p:strVal val="hidden"/>
                                      </p:to>
                                    </p:set>
                                  </p:childTnLst>
                                </p:cTn>
                              </p:par>
                              <p:par>
                                <p:cTn id="47" presetID="9" presetClass="exit" presetSubtype="0" fill="hold" grpId="0" nodeType="withEffect">
                                  <p:stCondLst>
                                    <p:cond delay="0"/>
                                  </p:stCondLst>
                                  <p:childTnLst>
                                    <p:animEffect transition="out" filter="dissolve">
                                      <p:cBhvr>
                                        <p:cTn id="48" dur="500"/>
                                        <p:tgtEl>
                                          <p:spTgt spid="207"/>
                                        </p:tgtEl>
                                      </p:cBhvr>
                                    </p:animEffect>
                                    <p:set>
                                      <p:cBhvr>
                                        <p:cTn id="49" dur="1" fill="hold">
                                          <p:stCondLst>
                                            <p:cond delay="499"/>
                                          </p:stCondLst>
                                        </p:cTn>
                                        <p:tgtEl>
                                          <p:spTgt spid="2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2" grpId="0" animBg="1"/>
      <p:bldP spid="212" grpId="1" animBg="1"/>
      <p:bldP spid="169" grpId="0" animBg="1"/>
      <p:bldP spid="16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How demultiplexing </a:t>
            </a:r>
            <a:r>
              <a:rPr lang="en-US" dirty="0"/>
              <a:t>w</a:t>
            </a:r>
            <a:r>
              <a:rPr lang="en-US" sz="4400" dirty="0"/>
              <a:t>orks</a:t>
            </a:r>
          </a:p>
        </p:txBody>
      </p:sp>
      <p:sp>
        <p:nvSpPr>
          <p:cNvPr id="277" name="Rectangle 23">
            <a:extLst>
              <a:ext uri="{FF2B5EF4-FFF2-40B4-BE49-F238E27FC236}">
                <a16:creationId xmlns:a16="http://schemas.microsoft.com/office/drawing/2014/main" id="{0F916DA5-15D2-0A42-8C9B-01DCE4B192B4}"/>
              </a:ext>
            </a:extLst>
          </p:cNvPr>
          <p:cNvSpPr txBox="1">
            <a:spLocks noChangeArrowheads="1"/>
          </p:cNvSpPr>
          <p:nvPr/>
        </p:nvSpPr>
        <p:spPr bwMode="auto">
          <a:xfrm>
            <a:off x="812799" y="1565761"/>
            <a:ext cx="5703304" cy="2790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receives IP datagrams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has source IP address, destination IP address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carries one transport-layer segment</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segment has source, destination port number </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uses </a:t>
            </a:r>
            <a:r>
              <a:rPr kumimoji="0" lang="en-US" sz="32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IP addresses &amp; port numbers</a:t>
            </a: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to direct segment to appropriate socket</a:t>
            </a:r>
          </a:p>
        </p:txBody>
      </p:sp>
      <p:grpSp>
        <p:nvGrpSpPr>
          <p:cNvPr id="5" name="Group 4"/>
          <p:cNvGrpSpPr/>
          <p:nvPr/>
        </p:nvGrpSpPr>
        <p:grpSpPr>
          <a:xfrm>
            <a:off x="7543216" y="1704452"/>
            <a:ext cx="3414712" cy="4121150"/>
            <a:chOff x="7543216" y="1704452"/>
            <a:chExt cx="3414712" cy="4121150"/>
          </a:xfrm>
        </p:grpSpPr>
        <p:sp>
          <p:nvSpPr>
            <p:cNvPr id="275" name="Rectangle 75">
              <a:extLst>
                <a:ext uri="{FF2B5EF4-FFF2-40B4-BE49-F238E27FC236}">
                  <a16:creationId xmlns:a16="http://schemas.microsoft.com/office/drawing/2014/main" id="{FCCA66F1-5923-DC45-83A7-1942BA80E808}"/>
                </a:ext>
              </a:extLst>
            </p:cNvPr>
            <p:cNvSpPr>
              <a:spLocks noChangeArrowheads="1"/>
            </p:cNvSpPr>
            <p:nvPr/>
          </p:nvSpPr>
          <p:spPr bwMode="auto">
            <a:xfrm>
              <a:off x="7633703" y="2048939"/>
              <a:ext cx="3324225" cy="3200400"/>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6" name="Rectangle 65">
              <a:extLst>
                <a:ext uri="{FF2B5EF4-FFF2-40B4-BE49-F238E27FC236}">
                  <a16:creationId xmlns:a16="http://schemas.microsoft.com/office/drawing/2014/main" id="{325B2818-1D14-0544-87D5-B34939698E97}"/>
                </a:ext>
              </a:extLst>
            </p:cNvPr>
            <p:cNvSpPr>
              <a:spLocks noChangeArrowheads="1"/>
            </p:cNvSpPr>
            <p:nvPr/>
          </p:nvSpPr>
          <p:spPr bwMode="auto">
            <a:xfrm>
              <a:off x="7557503" y="2144189"/>
              <a:ext cx="3324225" cy="3200400"/>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Text Box 63">
              <a:extLst>
                <a:ext uri="{FF2B5EF4-FFF2-40B4-BE49-F238E27FC236}">
                  <a16:creationId xmlns:a16="http://schemas.microsoft.com/office/drawing/2014/main" id="{0308811F-F83C-684C-9A70-7056E7030121}"/>
                </a:ext>
              </a:extLst>
            </p:cNvPr>
            <p:cNvSpPr txBox="1">
              <a:spLocks noChangeArrowheads="1"/>
            </p:cNvSpPr>
            <p:nvPr/>
          </p:nvSpPr>
          <p:spPr bwMode="auto">
            <a:xfrm>
              <a:off x="7597191" y="2156889"/>
              <a:ext cx="1563687"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source port #</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79" name="Text Box 64">
              <a:extLst>
                <a:ext uri="{FF2B5EF4-FFF2-40B4-BE49-F238E27FC236}">
                  <a16:creationId xmlns:a16="http://schemas.microsoft.com/office/drawing/2014/main" id="{DFDB1254-258A-D74F-9312-2F08048EE0A6}"/>
                </a:ext>
              </a:extLst>
            </p:cNvPr>
            <p:cNvSpPr txBox="1">
              <a:spLocks noChangeArrowheads="1"/>
            </p:cNvSpPr>
            <p:nvPr/>
          </p:nvSpPr>
          <p:spPr bwMode="auto">
            <a:xfrm>
              <a:off x="9383128" y="2156889"/>
              <a:ext cx="1328738"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dest port #</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80" name="Line 66">
              <a:extLst>
                <a:ext uri="{FF2B5EF4-FFF2-40B4-BE49-F238E27FC236}">
                  <a16:creationId xmlns:a16="http://schemas.microsoft.com/office/drawing/2014/main" id="{7758F487-6FB2-F34B-84F0-976833827475}"/>
                </a:ext>
              </a:extLst>
            </p:cNvPr>
            <p:cNvSpPr>
              <a:spLocks noChangeShapeType="1"/>
            </p:cNvSpPr>
            <p:nvPr/>
          </p:nvSpPr>
          <p:spPr bwMode="auto">
            <a:xfrm flipV="1">
              <a:off x="7547978" y="2544239"/>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1" name="Line 68">
              <a:extLst>
                <a:ext uri="{FF2B5EF4-FFF2-40B4-BE49-F238E27FC236}">
                  <a16:creationId xmlns:a16="http://schemas.microsoft.com/office/drawing/2014/main" id="{A9895192-7D02-2F4C-B006-EAE3FEF5F7A4}"/>
                </a:ext>
              </a:extLst>
            </p:cNvPr>
            <p:cNvSpPr>
              <a:spLocks noChangeShapeType="1"/>
            </p:cNvSpPr>
            <p:nvPr/>
          </p:nvSpPr>
          <p:spPr bwMode="auto">
            <a:xfrm flipV="1">
              <a:off x="7557503" y="3534839"/>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Line 69">
              <a:extLst>
                <a:ext uri="{FF2B5EF4-FFF2-40B4-BE49-F238E27FC236}">
                  <a16:creationId xmlns:a16="http://schemas.microsoft.com/office/drawing/2014/main" id="{7ABA37B1-9C1B-8F43-9F10-44126FAB2D3C}"/>
                </a:ext>
              </a:extLst>
            </p:cNvPr>
            <p:cNvSpPr>
              <a:spLocks noChangeShapeType="1"/>
            </p:cNvSpPr>
            <p:nvPr/>
          </p:nvSpPr>
          <p:spPr bwMode="auto">
            <a:xfrm flipV="1">
              <a:off x="9195803" y="2144189"/>
              <a:ext cx="0" cy="395288"/>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Text Box 70">
              <a:extLst>
                <a:ext uri="{FF2B5EF4-FFF2-40B4-BE49-F238E27FC236}">
                  <a16:creationId xmlns:a16="http://schemas.microsoft.com/office/drawing/2014/main" id="{B3C9350B-DCA6-5E4A-91AA-5C2AD14EC263}"/>
                </a:ext>
              </a:extLst>
            </p:cNvPr>
            <p:cNvSpPr txBox="1">
              <a:spLocks noChangeArrowheads="1"/>
            </p:cNvSpPr>
            <p:nvPr/>
          </p:nvSpPr>
          <p:spPr bwMode="auto">
            <a:xfrm>
              <a:off x="8740191" y="1704452"/>
              <a:ext cx="86360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32 bits</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Line 71">
              <a:extLst>
                <a:ext uri="{FF2B5EF4-FFF2-40B4-BE49-F238E27FC236}">
                  <a16:creationId xmlns:a16="http://schemas.microsoft.com/office/drawing/2014/main" id="{D16D54C4-5717-9E46-AA93-1E6BB3430444}"/>
                </a:ext>
              </a:extLst>
            </p:cNvPr>
            <p:cNvSpPr>
              <a:spLocks noChangeShapeType="1"/>
            </p:cNvSpPr>
            <p:nvPr/>
          </p:nvSpPr>
          <p:spPr bwMode="auto">
            <a:xfrm>
              <a:off x="9653003" y="1910827"/>
              <a:ext cx="1200150" cy="476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5" name="Line 72">
              <a:extLst>
                <a:ext uri="{FF2B5EF4-FFF2-40B4-BE49-F238E27FC236}">
                  <a16:creationId xmlns:a16="http://schemas.microsoft.com/office/drawing/2014/main" id="{332269D9-54A4-6446-BBAD-BD3F06A73E96}"/>
                </a:ext>
              </a:extLst>
            </p:cNvPr>
            <p:cNvSpPr>
              <a:spLocks noChangeShapeType="1"/>
            </p:cNvSpPr>
            <p:nvPr/>
          </p:nvSpPr>
          <p:spPr bwMode="auto">
            <a:xfrm rot="10800000">
              <a:off x="7543216" y="1920352"/>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6" name="Text Box 73">
              <a:extLst>
                <a:ext uri="{FF2B5EF4-FFF2-40B4-BE49-F238E27FC236}">
                  <a16:creationId xmlns:a16="http://schemas.microsoft.com/office/drawing/2014/main" id="{8F7D97AE-E89E-684A-9571-5959DA8E3347}"/>
                </a:ext>
              </a:extLst>
            </p:cNvPr>
            <p:cNvSpPr txBox="1">
              <a:spLocks noChangeArrowheads="1"/>
            </p:cNvSpPr>
            <p:nvPr/>
          </p:nvSpPr>
          <p:spPr bwMode="auto">
            <a:xfrm>
              <a:off x="8451266" y="3865039"/>
              <a:ext cx="1389062"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7" name="Text Box 74">
              <a:extLst>
                <a:ext uri="{FF2B5EF4-FFF2-40B4-BE49-F238E27FC236}">
                  <a16:creationId xmlns:a16="http://schemas.microsoft.com/office/drawing/2014/main" id="{A5362E3E-8643-6A43-A4FE-BD56FF4F0BD3}"/>
                </a:ext>
              </a:extLst>
            </p:cNvPr>
            <p:cNvSpPr txBox="1">
              <a:spLocks noChangeArrowheads="1"/>
            </p:cNvSpPr>
            <p:nvPr/>
          </p:nvSpPr>
          <p:spPr bwMode="auto">
            <a:xfrm>
              <a:off x="8067091" y="2898252"/>
              <a:ext cx="2290762"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other header fields</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8" name="Text Box 76">
              <a:extLst>
                <a:ext uri="{FF2B5EF4-FFF2-40B4-BE49-F238E27FC236}">
                  <a16:creationId xmlns:a16="http://schemas.microsoft.com/office/drawing/2014/main" id="{2FE71CF3-191A-C44F-839C-1CF4D7DFFAA5}"/>
                </a:ext>
              </a:extLst>
            </p:cNvPr>
            <p:cNvSpPr txBox="1">
              <a:spLocks noChangeArrowheads="1"/>
            </p:cNvSpPr>
            <p:nvPr/>
          </p:nvSpPr>
          <p:spPr bwMode="auto">
            <a:xfrm>
              <a:off x="7770228" y="5428727"/>
              <a:ext cx="306070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TCP/UDP segment format</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 name="Oval 3"/>
          <p:cNvSpPr/>
          <p:nvPr/>
        </p:nvSpPr>
        <p:spPr>
          <a:xfrm>
            <a:off x="7299923" y="1976355"/>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p:cNvSpPr/>
          <p:nvPr/>
        </p:nvSpPr>
        <p:spPr>
          <a:xfrm>
            <a:off x="9014727" y="1985006"/>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Slide Number Placeholder 2">
            <a:extLst>
              <a:ext uri="{FF2B5EF4-FFF2-40B4-BE49-F238E27FC236}">
                <a16:creationId xmlns:a16="http://schemas.microsoft.com/office/drawing/2014/main" id="{CB301DF9-007E-7F42-9982-6FB05291D92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385054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Connectionless demultiplexing</a:t>
            </a:r>
          </a:p>
        </p:txBody>
      </p:sp>
      <p:sp>
        <p:nvSpPr>
          <p:cNvPr id="18" name="Rectangle 3">
            <a:extLst>
              <a:ext uri="{FF2B5EF4-FFF2-40B4-BE49-F238E27FC236}">
                <a16:creationId xmlns:a16="http://schemas.microsoft.com/office/drawing/2014/main" id="{5E258CE6-39AA-994E-A005-93DEFB62A33E}"/>
              </a:ext>
            </a:extLst>
          </p:cNvPr>
          <p:cNvSpPr txBox="1">
            <a:spLocks noChangeArrowheads="1"/>
          </p:cNvSpPr>
          <p:nvPr/>
        </p:nvSpPr>
        <p:spPr>
          <a:xfrm>
            <a:off x="798689" y="1523600"/>
            <a:ext cx="5254159" cy="2808970"/>
          </a:xfrm>
          <a:prstGeom prst="rect">
            <a:avLst/>
          </a:prstGeom>
        </p:spPr>
        <p:txBody>
          <a:bodyPr vert="horz" lIns="91440" tIns="45720" rIns="91440" bIns="45720" rtlCol="0">
            <a:normAutofit fontScale="250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7400" dirty="0" err="1">
                <a:solidFill>
                  <a:prstClr val="black"/>
                </a:solidFill>
                <a:latin typeface="Calibri" panose="020F0502020204030204"/>
                <a:ea typeface="ＭＳ Ｐゴシック" charset="0"/>
              </a:rPr>
              <a:t>clientSocket</a:t>
            </a:r>
            <a:r>
              <a:rPr lang="en-IN" sz="7400" dirty="0">
                <a:solidFill>
                  <a:prstClr val="black"/>
                </a:solidFill>
                <a:latin typeface="Calibri" panose="020F0502020204030204"/>
                <a:ea typeface="ＭＳ Ｐゴシック" charset="0"/>
              </a:rPr>
              <a:t> = socket(AF_INET, SOCK_DGRAM)</a:t>
            </a:r>
            <a:endParaRPr lang="en-US" sz="7400" dirty="0">
              <a:solidFill>
                <a:prstClr val="black"/>
              </a:solidFill>
              <a:latin typeface="Calibri" panose="020F0502020204030204"/>
              <a:ea typeface="ＭＳ Ｐゴシック" charset="0"/>
            </a:endParaRPr>
          </a:p>
          <a:p>
            <a:pPr marL="239713" lvl="1" indent="-239713" algn="just">
              <a:lnSpc>
                <a:spcPct val="105000"/>
              </a:lnSpc>
              <a:spcBef>
                <a:spcPct val="20000"/>
              </a:spcBef>
              <a:buClr>
                <a:srgbClr val="000099"/>
              </a:buClr>
              <a:buFont typeface="Arial"/>
              <a:buChar char="•"/>
              <a:defRPr/>
            </a:pPr>
            <a:endParaRPr lang="en-IN" sz="6200" dirty="0">
              <a:solidFill>
                <a:prstClr val="black"/>
              </a:solidFill>
              <a:latin typeface="Calibri" panose="020F0502020204030204"/>
              <a:ea typeface="ＭＳ Ｐゴシック" charset="0"/>
            </a:endParaRPr>
          </a:p>
          <a:p>
            <a:pPr marL="0" lvl="1" indent="0" algn="just">
              <a:lnSpc>
                <a:spcPct val="105000"/>
              </a:lnSpc>
              <a:spcBef>
                <a:spcPct val="20000"/>
              </a:spcBef>
              <a:buClr>
                <a:srgbClr val="000099"/>
              </a:buClr>
              <a:buNone/>
              <a:defRPr/>
            </a:pPr>
            <a:r>
              <a:rPr lang="en-IN" sz="6200" dirty="0">
                <a:solidFill>
                  <a:prstClr val="black"/>
                </a:solidFill>
                <a:latin typeface="Calibri" panose="020F0502020204030204"/>
                <a:ea typeface="ＭＳ Ｐゴシック" charset="0"/>
              </a:rPr>
              <a:t>The transport layer automatically </a:t>
            </a:r>
            <a:r>
              <a:rPr lang="en-US" sz="6200" dirty="0">
                <a:solidFill>
                  <a:prstClr val="black"/>
                </a:solidFill>
                <a:latin typeface="Calibri" panose="020F0502020204030204"/>
                <a:ea typeface="ＭＳ Ｐゴシック" charset="0"/>
              </a:rPr>
              <a:t>assigns a port number to the socket. In particular, the transport layer assigns a port number in the range 1024 to 65535 that is currently not being used by any other UDP port in the host. Alternatively, we can add a line into our Python program after we create the socket to associate a specific port number (say, 19157) to this UDP socket via the socket bind() method:</a:t>
            </a:r>
          </a:p>
          <a:p>
            <a:pPr marL="0" lvl="1" indent="0">
              <a:lnSpc>
                <a:spcPct val="105000"/>
              </a:lnSpc>
              <a:spcBef>
                <a:spcPct val="20000"/>
              </a:spcBef>
              <a:buClr>
                <a:srgbClr val="000099"/>
              </a:buClr>
              <a:buNone/>
              <a:defRPr/>
            </a:pPr>
            <a:r>
              <a:rPr lang="en-US" sz="6200" dirty="0">
                <a:solidFill>
                  <a:prstClr val="black"/>
                </a:solidFill>
                <a:latin typeface="Calibri" panose="020F0502020204030204"/>
                <a:ea typeface="ＭＳ Ｐゴシック" charset="0"/>
              </a:rPr>
              <a:t> </a:t>
            </a:r>
          </a:p>
          <a:p>
            <a:pPr marL="0" lvl="1" indent="0" algn="ctr">
              <a:lnSpc>
                <a:spcPct val="105000"/>
              </a:lnSpc>
              <a:spcBef>
                <a:spcPct val="20000"/>
              </a:spcBef>
              <a:buClr>
                <a:srgbClr val="000099"/>
              </a:buClr>
              <a:buNone/>
              <a:defRPr/>
            </a:pPr>
            <a:r>
              <a:rPr lang="en-IN" sz="6200" dirty="0" err="1">
                <a:solidFill>
                  <a:prstClr val="black"/>
                </a:solidFill>
                <a:latin typeface="Calibri" panose="020F0502020204030204"/>
                <a:ea typeface="ＭＳ Ｐゴシック" charset="0"/>
              </a:rPr>
              <a:t>clientSocket.bind</a:t>
            </a:r>
            <a:r>
              <a:rPr lang="en-IN" sz="6200" dirty="0">
                <a:solidFill>
                  <a:prstClr val="black"/>
                </a:solidFill>
                <a:latin typeface="Calibri" panose="020F0502020204030204"/>
                <a:ea typeface="ＭＳ Ｐゴシック" charset="0"/>
              </a:rPr>
              <a:t>((’’, 19157))</a:t>
            </a:r>
            <a:endParaRPr lang="en-US" sz="6200" dirty="0">
              <a:solidFill>
                <a:prstClr val="black"/>
              </a:solidFill>
              <a:latin typeface="Calibri" panose="020F0502020204030204"/>
              <a:ea typeface="ＭＳ Ｐゴシック" charset="0"/>
            </a:endParaRPr>
          </a:p>
        </p:txBody>
      </p:sp>
      <p:sp>
        <p:nvSpPr>
          <p:cNvPr id="19" name="Rectangle 105">
            <a:extLst>
              <a:ext uri="{FF2B5EF4-FFF2-40B4-BE49-F238E27FC236}">
                <a16:creationId xmlns:a16="http://schemas.microsoft.com/office/drawing/2014/main" id="{86EE0BD4-F2E4-AA4C-ABE7-69DA3D493545}"/>
              </a:ext>
            </a:extLst>
          </p:cNvPr>
          <p:cNvSpPr txBox="1">
            <a:spLocks noChangeArrowheads="1"/>
          </p:cNvSpPr>
          <p:nvPr/>
        </p:nvSpPr>
        <p:spPr>
          <a:xfrm>
            <a:off x="6774662" y="1514612"/>
            <a:ext cx="4894407" cy="2368550"/>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receiving host receives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UDP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 destination port # in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directs UDP segment to socket with that port #</a:t>
            </a:r>
          </a:p>
        </p:txBody>
      </p:sp>
      <p:sp>
        <p:nvSpPr>
          <p:cNvPr id="20" name="Rectangle 108">
            <a:extLst>
              <a:ext uri="{FF2B5EF4-FFF2-40B4-BE49-F238E27FC236}">
                <a16:creationId xmlns:a16="http://schemas.microsoft.com/office/drawing/2014/main" id="{D64D1D76-B139-F94A-A00F-C768B6656938}"/>
              </a:ext>
            </a:extLst>
          </p:cNvPr>
          <p:cNvSpPr>
            <a:spLocks noChangeArrowheads="1"/>
          </p:cNvSpPr>
          <p:nvPr/>
        </p:nvSpPr>
        <p:spPr bwMode="auto">
          <a:xfrm>
            <a:off x="883807" y="4164376"/>
            <a:ext cx="5227637" cy="19159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7663" marR="0" lvl="0" indent="-290513"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when creating datagram to send into UDP socket, must specify</a:t>
            </a:r>
          </a:p>
          <a:p>
            <a:pPr marL="858838" marR="0" lvl="1" indent="-239713" algn="l" defTabSz="914400" rtl="0" eaLnBrk="1" fontAlgn="auto" latinLnBrk="0" hangingPunct="1">
              <a:lnSpc>
                <a:spcPct val="85000"/>
              </a:lnSpc>
              <a:spcBef>
                <a:spcPct val="20000"/>
              </a:spcBef>
              <a:spcAft>
                <a:spcPts val="0"/>
              </a:spcAft>
              <a:buClr>
                <a:srgbClr val="000099"/>
              </a:buClr>
              <a:buSzTx/>
              <a:buFont typeface="Arial"/>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destination IP address</a:t>
            </a:r>
          </a:p>
          <a:p>
            <a:pPr marL="858838" marR="0" lvl="1" indent="-239713" algn="l" defTabSz="914400" rtl="0" eaLnBrk="1" fontAlgn="auto" latinLnBrk="0" hangingPunct="1">
              <a:lnSpc>
                <a:spcPct val="85000"/>
              </a:lnSpc>
              <a:spcBef>
                <a:spcPct val="20000"/>
              </a:spcBef>
              <a:spcAft>
                <a:spcPts val="0"/>
              </a:spcAft>
              <a:buClr>
                <a:srgbClr val="000099"/>
              </a:buClr>
              <a:buSzTx/>
              <a:buFont typeface="Arial"/>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destination port #</a:t>
            </a:r>
          </a:p>
        </p:txBody>
      </p:sp>
      <p:sp>
        <p:nvSpPr>
          <p:cNvPr id="21" name="Rectangle 111">
            <a:extLst>
              <a:ext uri="{FF2B5EF4-FFF2-40B4-BE49-F238E27FC236}">
                <a16:creationId xmlns:a16="http://schemas.microsoft.com/office/drawing/2014/main" id="{1D23ED05-24C1-E24F-9A5D-E84D26B5270D}"/>
              </a:ext>
            </a:extLst>
          </p:cNvPr>
          <p:cNvSpPr>
            <a:spLocks noChangeArrowheads="1"/>
          </p:cNvSpPr>
          <p:nvPr/>
        </p:nvSpPr>
        <p:spPr bwMode="auto">
          <a:xfrm>
            <a:off x="6349002" y="4420787"/>
            <a:ext cx="5188153" cy="23368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auto" latinLnBrk="0" hangingPunct="1">
              <a:lnSpc>
                <a:spcPct val="90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IP/UDP datagrams with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same </a:t>
            </a:r>
            <a:r>
              <a:rPr kumimoji="0" lang="en-US" sz="2800" b="0" i="1" u="none" strike="noStrike" kern="1200" cap="none" spc="0" normalizeH="0" baseline="0" noProof="0" dirty="0" err="1">
                <a:ln>
                  <a:noFill/>
                </a:ln>
                <a:solidFill>
                  <a:srgbClr val="CC0000"/>
                </a:solidFill>
                <a:effectLst/>
                <a:uLnTx/>
                <a:uFillTx/>
                <a:latin typeface="Calibri" panose="020F0502020204030204"/>
                <a:ea typeface="ＭＳ Ｐゴシック" charset="0"/>
                <a:cs typeface="+mn-cs"/>
              </a:rPr>
              <a:t>dest</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port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but different source IP addresses and/or source port numbers will be directed to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same socket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receiving host</a:t>
            </a:r>
          </a:p>
        </p:txBody>
      </p:sp>
      <p:sp>
        <p:nvSpPr>
          <p:cNvPr id="23" name="AutoShape 113">
            <a:extLst>
              <a:ext uri="{FF2B5EF4-FFF2-40B4-BE49-F238E27FC236}">
                <a16:creationId xmlns:a16="http://schemas.microsoft.com/office/drawing/2014/main" id="{AE0FE900-8538-8F4F-BD27-2C9A09F232E9}"/>
              </a:ext>
            </a:extLst>
          </p:cNvPr>
          <p:cNvSpPr>
            <a:spLocks noChangeArrowheads="1"/>
          </p:cNvSpPr>
          <p:nvPr/>
        </p:nvSpPr>
        <p:spPr bwMode="auto">
          <a:xfrm rot="5400000">
            <a:off x="8662884" y="3896801"/>
            <a:ext cx="560388" cy="311150"/>
          </a:xfrm>
          <a:prstGeom prst="rightArrow">
            <a:avLst>
              <a:gd name="adj1" fmla="val 50000"/>
              <a:gd name="adj2" fmla="val 45026"/>
            </a:avLst>
          </a:prstGeom>
          <a:solidFill>
            <a:srgbClr val="CC0000"/>
          </a:solidFill>
          <a:ln w="9525">
            <a:solidFill>
              <a:srgbClr val="CC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9" name="Slide Number Placeholder 2">
            <a:extLst>
              <a:ext uri="{FF2B5EF4-FFF2-40B4-BE49-F238E27FC236}">
                <a16:creationId xmlns:a16="http://schemas.microsoft.com/office/drawing/2014/main" id="{86F80CC4-FDCF-FF42-8BB3-8A9B1A2B5D6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153893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dissolve">
                                      <p:cBhvr>
                                        <p:cTn id="2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Connectionless demultiplexing: an example</a:t>
            </a:r>
          </a:p>
        </p:txBody>
      </p:sp>
      <p:sp>
        <p:nvSpPr>
          <p:cNvPr id="138" name="Rectangle 44">
            <a:extLst>
              <a:ext uri="{FF2B5EF4-FFF2-40B4-BE49-F238E27FC236}">
                <a16:creationId xmlns:a16="http://schemas.microsoft.com/office/drawing/2014/main" id="{E4FB09F6-4D90-9944-956D-25B59CB77E40}"/>
              </a:ext>
            </a:extLst>
          </p:cNvPr>
          <p:cNvSpPr txBox="1">
            <a:spLocks noChangeArrowheads="1"/>
          </p:cNvSpPr>
          <p:nvPr/>
        </p:nvSpPr>
        <p:spPr bwMode="auto">
          <a:xfrm>
            <a:off x="4598987" y="1387147"/>
            <a:ext cx="4217987" cy="7254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32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173038" marR="0" lvl="0" indent="-173038"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000" b="1" i="0" u="none" strike="noStrike" kern="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 </a:t>
            </a:r>
            <a:r>
              <a:rPr kumimoji="0" lang="en-US" sz="2000" b="1" i="0" u="none" strike="noStrike" kern="0" cap="none" spc="0" normalizeH="0" baseline="0" noProof="0" dirty="0" err="1">
                <a:ln>
                  <a:noFill/>
                </a:ln>
                <a:solidFill>
                  <a:srgbClr val="000000"/>
                </a:solidFill>
                <a:effectLst/>
                <a:uLnTx/>
                <a:uFillTx/>
                <a:latin typeface="Courier New" charset="0"/>
                <a:ea typeface="ＭＳ Ｐゴシック" charset="0"/>
                <a:cs typeface="+mn-cs"/>
              </a:rPr>
              <a:t>serverSocket</a:t>
            </a: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 = new </a:t>
            </a:r>
            <a:r>
              <a:rPr kumimoji="0" lang="en-US" sz="2000" b="1" i="0" u="none" strike="noStrike" kern="0" cap="none" spc="0" normalizeH="0" baseline="0" noProof="0" dirty="0" err="1">
                <a:ln>
                  <a:noFill/>
                </a:ln>
                <a:solidFill>
                  <a:srgbClr val="000000"/>
                </a:solidFill>
                <a:effectLst/>
                <a:uLnTx/>
                <a:uFillTx/>
                <a:latin typeface="Courier New" charset="0"/>
                <a:ea typeface="ＭＳ Ｐゴシック" charset="0"/>
                <a:cs typeface="+mn-cs"/>
              </a:rPr>
              <a:t>DatagramSocket</a:t>
            </a:r>
            <a:endPar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endParaRPr>
          </a:p>
          <a:p>
            <a:pPr marL="173038" marR="0" lvl="0" indent="-173038"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 (</a:t>
            </a:r>
            <a:r>
              <a:rPr kumimoji="0" lang="en-US" sz="2000" b="1" i="0" u="none" strike="noStrike" kern="0" cap="none" spc="0" normalizeH="0" baseline="0" noProof="0" dirty="0">
                <a:ln>
                  <a:noFill/>
                </a:ln>
                <a:solidFill>
                  <a:srgbClr val="CC0000"/>
                </a:solidFill>
                <a:effectLst/>
                <a:uLnTx/>
                <a:uFillTx/>
                <a:latin typeface="Courier New" charset="0"/>
                <a:ea typeface="ＭＳ Ｐゴシック" charset="0"/>
                <a:cs typeface="+mn-cs"/>
              </a:rPr>
              <a:t>6428</a:t>
            </a: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a:t>
            </a:r>
          </a:p>
          <a:p>
            <a:pPr marL="173038" marR="0" lvl="0" indent="-173038"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40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sp>
        <p:nvSpPr>
          <p:cNvPr id="139" name="Freeform 89">
            <a:extLst>
              <a:ext uri="{FF2B5EF4-FFF2-40B4-BE49-F238E27FC236}">
                <a16:creationId xmlns:a16="http://schemas.microsoft.com/office/drawing/2014/main" id="{28FDDD2F-FD14-B643-A369-43EE4030BEDB}"/>
              </a:ext>
            </a:extLst>
          </p:cNvPr>
          <p:cNvSpPr>
            <a:spLocks/>
          </p:cNvSpPr>
          <p:nvPr/>
        </p:nvSpPr>
        <p:spPr bwMode="auto">
          <a:xfrm>
            <a:off x="4799806" y="250291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Freeform 97">
            <a:extLst>
              <a:ext uri="{FF2B5EF4-FFF2-40B4-BE49-F238E27FC236}">
                <a16:creationId xmlns:a16="http://schemas.microsoft.com/office/drawing/2014/main" id="{64DF8D3E-75B9-8F40-BCD6-78530C047B4F}"/>
              </a:ext>
            </a:extLst>
          </p:cNvPr>
          <p:cNvSpPr>
            <a:spLocks/>
          </p:cNvSpPr>
          <p:nvPr/>
        </p:nvSpPr>
        <p:spPr bwMode="auto">
          <a:xfrm>
            <a:off x="2015331" y="2807714"/>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1" name="Rectangle 23">
            <a:extLst>
              <a:ext uri="{FF2B5EF4-FFF2-40B4-BE49-F238E27FC236}">
                <a16:creationId xmlns:a16="http://schemas.microsoft.com/office/drawing/2014/main" id="{17E6F561-D2E2-784F-818C-D83319DE8316}"/>
              </a:ext>
            </a:extLst>
          </p:cNvPr>
          <p:cNvSpPr>
            <a:spLocks noChangeArrowheads="1"/>
          </p:cNvSpPr>
          <p:nvPr/>
        </p:nvSpPr>
        <p:spPr bwMode="auto">
          <a:xfrm>
            <a:off x="2520156" y="2774376"/>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2" name="Rectangle 24">
            <a:extLst>
              <a:ext uri="{FF2B5EF4-FFF2-40B4-BE49-F238E27FC236}">
                <a16:creationId xmlns:a16="http://schemas.microsoft.com/office/drawing/2014/main" id="{F331F96E-BFA3-B949-B96F-DCA5E9AF3F44}"/>
              </a:ext>
            </a:extLst>
          </p:cNvPr>
          <p:cNvSpPr>
            <a:spLocks noChangeArrowheads="1"/>
          </p:cNvSpPr>
          <p:nvPr/>
        </p:nvSpPr>
        <p:spPr bwMode="auto">
          <a:xfrm>
            <a:off x="2482056" y="2828351"/>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3" name="Line 25">
            <a:extLst>
              <a:ext uri="{FF2B5EF4-FFF2-40B4-BE49-F238E27FC236}">
                <a16:creationId xmlns:a16="http://schemas.microsoft.com/office/drawing/2014/main" id="{2EFF90D8-8133-E042-BB15-B540A8DAEE38}"/>
              </a:ext>
            </a:extLst>
          </p:cNvPr>
          <p:cNvSpPr>
            <a:spLocks noChangeShapeType="1"/>
          </p:cNvSpPr>
          <p:nvPr/>
        </p:nvSpPr>
        <p:spPr bwMode="auto">
          <a:xfrm>
            <a:off x="2491581" y="358876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4" name="Text Box 26">
            <a:extLst>
              <a:ext uri="{FF2B5EF4-FFF2-40B4-BE49-F238E27FC236}">
                <a16:creationId xmlns:a16="http://schemas.microsoft.com/office/drawing/2014/main" id="{53A1C5C8-02A4-B440-B555-BBEB69595759}"/>
              </a:ext>
            </a:extLst>
          </p:cNvPr>
          <p:cNvSpPr txBox="1">
            <a:spLocks noChangeArrowheads="1"/>
          </p:cNvSpPr>
          <p:nvPr/>
        </p:nvSpPr>
        <p:spPr bwMode="auto">
          <a:xfrm>
            <a:off x="2448718" y="3571301"/>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5" name="Line 27">
            <a:extLst>
              <a:ext uri="{FF2B5EF4-FFF2-40B4-BE49-F238E27FC236}">
                <a16:creationId xmlns:a16="http://schemas.microsoft.com/office/drawing/2014/main" id="{E1E8AAE6-A7CD-924F-8779-9257D875BE82}"/>
              </a:ext>
            </a:extLst>
          </p:cNvPr>
          <p:cNvSpPr>
            <a:spLocks noChangeShapeType="1"/>
          </p:cNvSpPr>
          <p:nvPr/>
        </p:nvSpPr>
        <p:spPr bwMode="auto">
          <a:xfrm>
            <a:off x="2499518" y="390943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6" name="Line 28">
            <a:extLst>
              <a:ext uri="{FF2B5EF4-FFF2-40B4-BE49-F238E27FC236}">
                <a16:creationId xmlns:a16="http://schemas.microsoft.com/office/drawing/2014/main" id="{CA7EEA54-B56E-2B48-9F82-BCDEC7D39BF8}"/>
              </a:ext>
            </a:extLst>
          </p:cNvPr>
          <p:cNvSpPr>
            <a:spLocks noChangeShapeType="1"/>
          </p:cNvSpPr>
          <p:nvPr/>
        </p:nvSpPr>
        <p:spPr bwMode="auto">
          <a:xfrm>
            <a:off x="2485231" y="4219001"/>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7" name="Line 29">
            <a:extLst>
              <a:ext uri="{FF2B5EF4-FFF2-40B4-BE49-F238E27FC236}">
                <a16:creationId xmlns:a16="http://schemas.microsoft.com/office/drawing/2014/main" id="{73328B79-CBD4-B041-B159-E3286EADBC62}"/>
              </a:ext>
            </a:extLst>
          </p:cNvPr>
          <p:cNvSpPr>
            <a:spLocks noChangeShapeType="1"/>
          </p:cNvSpPr>
          <p:nvPr/>
        </p:nvSpPr>
        <p:spPr bwMode="auto">
          <a:xfrm>
            <a:off x="2485231" y="4504751"/>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3062900D-4135-244C-9B1F-EE7CC03B0254}"/>
              </a:ext>
            </a:extLst>
          </p:cNvPr>
          <p:cNvSpPr txBox="1">
            <a:spLocks noChangeArrowheads="1"/>
          </p:cNvSpPr>
          <p:nvPr/>
        </p:nvSpPr>
        <p:spPr bwMode="auto">
          <a:xfrm>
            <a:off x="2483643" y="2818826"/>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49" name="Text Box 26">
            <a:extLst>
              <a:ext uri="{FF2B5EF4-FFF2-40B4-BE49-F238E27FC236}">
                <a16:creationId xmlns:a16="http://schemas.microsoft.com/office/drawing/2014/main" id="{F09CC3DB-2FE1-524D-8CDC-16023843D213}"/>
              </a:ext>
            </a:extLst>
          </p:cNvPr>
          <p:cNvSpPr txBox="1">
            <a:spLocks noChangeArrowheads="1"/>
          </p:cNvSpPr>
          <p:nvPr/>
        </p:nvSpPr>
        <p:spPr bwMode="auto">
          <a:xfrm>
            <a:off x="2439193" y="4476176"/>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0" name="Text Box 26">
            <a:extLst>
              <a:ext uri="{FF2B5EF4-FFF2-40B4-BE49-F238E27FC236}">
                <a16:creationId xmlns:a16="http://schemas.microsoft.com/office/drawing/2014/main" id="{11BEC4C2-90AF-3642-B6AA-A63B2A81DFAF}"/>
              </a:ext>
            </a:extLst>
          </p:cNvPr>
          <p:cNvSpPr txBox="1">
            <a:spLocks noChangeArrowheads="1"/>
          </p:cNvSpPr>
          <p:nvPr/>
        </p:nvSpPr>
        <p:spPr bwMode="auto">
          <a:xfrm>
            <a:off x="2458243" y="4190426"/>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1" name="Text Box 26">
            <a:extLst>
              <a:ext uri="{FF2B5EF4-FFF2-40B4-BE49-F238E27FC236}">
                <a16:creationId xmlns:a16="http://schemas.microsoft.com/office/drawing/2014/main" id="{0727B177-EE8F-9E43-B808-DF3EFBDC0328}"/>
              </a:ext>
            </a:extLst>
          </p:cNvPr>
          <p:cNvSpPr txBox="1">
            <a:spLocks noChangeArrowheads="1"/>
          </p:cNvSpPr>
          <p:nvPr/>
        </p:nvSpPr>
        <p:spPr bwMode="auto">
          <a:xfrm>
            <a:off x="2448718" y="3895151"/>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2" name="Oval 110">
            <a:extLst>
              <a:ext uri="{FF2B5EF4-FFF2-40B4-BE49-F238E27FC236}">
                <a16:creationId xmlns:a16="http://schemas.microsoft.com/office/drawing/2014/main" id="{4FA9CEB5-639E-E640-8612-6A0B009F2759}"/>
              </a:ext>
            </a:extLst>
          </p:cNvPr>
          <p:cNvSpPr>
            <a:spLocks noChangeArrowheads="1"/>
          </p:cNvSpPr>
          <p:nvPr/>
        </p:nvSpPr>
        <p:spPr bwMode="auto">
          <a:xfrm>
            <a:off x="2818606" y="3104576"/>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P3</a:t>
            </a:r>
          </a:p>
        </p:txBody>
      </p:sp>
      <p:grpSp>
        <p:nvGrpSpPr>
          <p:cNvPr id="153" name="Group 111">
            <a:extLst>
              <a:ext uri="{FF2B5EF4-FFF2-40B4-BE49-F238E27FC236}">
                <a16:creationId xmlns:a16="http://schemas.microsoft.com/office/drawing/2014/main" id="{2D14C00E-16C9-D747-9CCE-229E757B8227}"/>
              </a:ext>
            </a:extLst>
          </p:cNvPr>
          <p:cNvGrpSpPr>
            <a:grpSpLocks/>
          </p:cNvGrpSpPr>
          <p:nvPr/>
        </p:nvGrpSpPr>
        <p:grpSpPr bwMode="auto">
          <a:xfrm>
            <a:off x="2786856" y="3428426"/>
            <a:ext cx="620712" cy="228600"/>
            <a:chOff x="1287" y="2524"/>
            <a:chExt cx="260" cy="100"/>
          </a:xfrm>
        </p:grpSpPr>
        <p:sp>
          <p:nvSpPr>
            <p:cNvPr id="154" name="Rectangle 112">
              <a:extLst>
                <a:ext uri="{FF2B5EF4-FFF2-40B4-BE49-F238E27FC236}">
                  <a16:creationId xmlns:a16="http://schemas.microsoft.com/office/drawing/2014/main" id="{3540F8E1-1FDC-E24A-98FB-7869060F66B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5" name="Rectangle 113">
              <a:extLst>
                <a:ext uri="{FF2B5EF4-FFF2-40B4-BE49-F238E27FC236}">
                  <a16:creationId xmlns:a16="http://schemas.microsoft.com/office/drawing/2014/main" id="{054ED091-B9B7-3540-A7FD-87F3C3C14D7F}"/>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6" name="Rectangle 114">
              <a:extLst>
                <a:ext uri="{FF2B5EF4-FFF2-40B4-BE49-F238E27FC236}">
                  <a16:creationId xmlns:a16="http://schemas.microsoft.com/office/drawing/2014/main" id="{380957E5-07F4-134E-B56E-1EC9D1C841A1}"/>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7" name="Rectangle 115">
              <a:extLst>
                <a:ext uri="{FF2B5EF4-FFF2-40B4-BE49-F238E27FC236}">
                  <a16:creationId xmlns:a16="http://schemas.microsoft.com/office/drawing/2014/main" id="{35B79E71-94E3-544D-ADB2-B31B6EA8EC3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58" name="Rectangle 23">
            <a:extLst>
              <a:ext uri="{FF2B5EF4-FFF2-40B4-BE49-F238E27FC236}">
                <a16:creationId xmlns:a16="http://schemas.microsoft.com/office/drawing/2014/main" id="{4CF23822-9D9B-0E42-93CC-6BA8EA8935C9}"/>
              </a:ext>
            </a:extLst>
          </p:cNvPr>
          <p:cNvSpPr>
            <a:spLocks noChangeArrowheads="1"/>
          </p:cNvSpPr>
          <p:nvPr/>
        </p:nvSpPr>
        <p:spPr bwMode="auto">
          <a:xfrm>
            <a:off x="5347493" y="254101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9" name="Rectangle 24">
            <a:extLst>
              <a:ext uri="{FF2B5EF4-FFF2-40B4-BE49-F238E27FC236}">
                <a16:creationId xmlns:a16="http://schemas.microsoft.com/office/drawing/2014/main" id="{043A00F1-55AA-3943-A4DB-B6F911EC93DC}"/>
              </a:ext>
            </a:extLst>
          </p:cNvPr>
          <p:cNvSpPr>
            <a:spLocks noChangeArrowheads="1"/>
          </p:cNvSpPr>
          <p:nvPr/>
        </p:nvSpPr>
        <p:spPr bwMode="auto">
          <a:xfrm>
            <a:off x="5312568" y="2594989"/>
            <a:ext cx="1473200"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0" name="Line 25">
            <a:extLst>
              <a:ext uri="{FF2B5EF4-FFF2-40B4-BE49-F238E27FC236}">
                <a16:creationId xmlns:a16="http://schemas.microsoft.com/office/drawing/2014/main" id="{97882FBC-8DAC-564D-B4C8-8B618C94ED21}"/>
              </a:ext>
            </a:extLst>
          </p:cNvPr>
          <p:cNvSpPr>
            <a:spLocks noChangeShapeType="1"/>
          </p:cNvSpPr>
          <p:nvPr/>
        </p:nvSpPr>
        <p:spPr bwMode="auto">
          <a:xfrm>
            <a:off x="5318918" y="3364926"/>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Text Box 26">
            <a:extLst>
              <a:ext uri="{FF2B5EF4-FFF2-40B4-BE49-F238E27FC236}">
                <a16:creationId xmlns:a16="http://schemas.microsoft.com/office/drawing/2014/main" id="{6533FADA-08A6-274F-99DA-B76CD13186B6}"/>
              </a:ext>
            </a:extLst>
          </p:cNvPr>
          <p:cNvSpPr txBox="1">
            <a:spLocks noChangeArrowheads="1"/>
          </p:cNvSpPr>
          <p:nvPr/>
        </p:nvSpPr>
        <p:spPr bwMode="auto">
          <a:xfrm>
            <a:off x="5390356" y="3347464"/>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62" name="Line 27">
            <a:extLst>
              <a:ext uri="{FF2B5EF4-FFF2-40B4-BE49-F238E27FC236}">
                <a16:creationId xmlns:a16="http://schemas.microsoft.com/office/drawing/2014/main" id="{59739078-AC3B-BB43-A01C-5156C6AC1069}"/>
              </a:ext>
            </a:extLst>
          </p:cNvPr>
          <p:cNvSpPr>
            <a:spLocks noChangeShapeType="1"/>
          </p:cNvSpPr>
          <p:nvPr/>
        </p:nvSpPr>
        <p:spPr bwMode="auto">
          <a:xfrm>
            <a:off x="5320506" y="3682426"/>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3" name="Text Box 26">
            <a:extLst>
              <a:ext uri="{FF2B5EF4-FFF2-40B4-BE49-F238E27FC236}">
                <a16:creationId xmlns:a16="http://schemas.microsoft.com/office/drawing/2014/main" id="{78720604-E3E1-AA4C-8564-8B884DC18870}"/>
              </a:ext>
            </a:extLst>
          </p:cNvPr>
          <p:cNvSpPr txBox="1">
            <a:spLocks noChangeArrowheads="1"/>
          </p:cNvSpPr>
          <p:nvPr/>
        </p:nvSpPr>
        <p:spPr bwMode="auto">
          <a:xfrm>
            <a:off x="5387181" y="2561651"/>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64" name="Text Box 26">
            <a:extLst>
              <a:ext uri="{FF2B5EF4-FFF2-40B4-BE49-F238E27FC236}">
                <a16:creationId xmlns:a16="http://schemas.microsoft.com/office/drawing/2014/main" id="{0FE55F8B-E56B-8B4C-8A35-D5894CB5AA54}"/>
              </a:ext>
            </a:extLst>
          </p:cNvPr>
          <p:cNvSpPr txBox="1">
            <a:spLocks noChangeArrowheads="1"/>
          </p:cNvSpPr>
          <p:nvPr/>
        </p:nvSpPr>
        <p:spPr bwMode="auto">
          <a:xfrm>
            <a:off x="5384006" y="425233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65" name="Text Box 26">
            <a:extLst>
              <a:ext uri="{FF2B5EF4-FFF2-40B4-BE49-F238E27FC236}">
                <a16:creationId xmlns:a16="http://schemas.microsoft.com/office/drawing/2014/main" id="{3CBEC5FD-FC48-0B44-A978-2775A463A9BB}"/>
              </a:ext>
            </a:extLst>
          </p:cNvPr>
          <p:cNvSpPr txBox="1">
            <a:spLocks noChangeArrowheads="1"/>
          </p:cNvSpPr>
          <p:nvPr/>
        </p:nvSpPr>
        <p:spPr bwMode="auto">
          <a:xfrm>
            <a:off x="5384006" y="396658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66" name="Text Box 26">
            <a:extLst>
              <a:ext uri="{FF2B5EF4-FFF2-40B4-BE49-F238E27FC236}">
                <a16:creationId xmlns:a16="http://schemas.microsoft.com/office/drawing/2014/main" id="{36939330-E1D8-DD43-8326-8E30CD151A67}"/>
              </a:ext>
            </a:extLst>
          </p:cNvPr>
          <p:cNvSpPr txBox="1">
            <a:spLocks noChangeArrowheads="1"/>
          </p:cNvSpPr>
          <p:nvPr/>
        </p:nvSpPr>
        <p:spPr bwMode="auto">
          <a:xfrm>
            <a:off x="5384006" y="366813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67" name="Line 27">
            <a:extLst>
              <a:ext uri="{FF2B5EF4-FFF2-40B4-BE49-F238E27FC236}">
                <a16:creationId xmlns:a16="http://schemas.microsoft.com/office/drawing/2014/main" id="{8F676BB3-CB93-FC44-95E3-71A593E11393}"/>
              </a:ext>
            </a:extLst>
          </p:cNvPr>
          <p:cNvSpPr>
            <a:spLocks noChangeShapeType="1"/>
          </p:cNvSpPr>
          <p:nvPr/>
        </p:nvSpPr>
        <p:spPr bwMode="auto">
          <a:xfrm>
            <a:off x="5317331" y="3993576"/>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Line 27">
            <a:extLst>
              <a:ext uri="{FF2B5EF4-FFF2-40B4-BE49-F238E27FC236}">
                <a16:creationId xmlns:a16="http://schemas.microsoft.com/office/drawing/2014/main" id="{3257C166-E64A-3645-B552-FD16B4D71AEB}"/>
              </a:ext>
            </a:extLst>
          </p:cNvPr>
          <p:cNvSpPr>
            <a:spLocks noChangeShapeType="1"/>
          </p:cNvSpPr>
          <p:nvPr/>
        </p:nvSpPr>
        <p:spPr bwMode="auto">
          <a:xfrm>
            <a:off x="5314156" y="4292026"/>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Oval 128">
            <a:extLst>
              <a:ext uri="{FF2B5EF4-FFF2-40B4-BE49-F238E27FC236}">
                <a16:creationId xmlns:a16="http://schemas.microsoft.com/office/drawing/2014/main" id="{65AB5E7C-E09E-3141-92D4-FB563873BAA1}"/>
              </a:ext>
            </a:extLst>
          </p:cNvPr>
          <p:cNvSpPr>
            <a:spLocks noChangeArrowheads="1"/>
          </p:cNvSpPr>
          <p:nvPr/>
        </p:nvSpPr>
        <p:spPr bwMode="auto">
          <a:xfrm>
            <a:off x="5731668" y="2901376"/>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P1</a:t>
            </a:r>
          </a:p>
        </p:txBody>
      </p:sp>
      <p:grpSp>
        <p:nvGrpSpPr>
          <p:cNvPr id="170" name="Group 134">
            <a:extLst>
              <a:ext uri="{FF2B5EF4-FFF2-40B4-BE49-F238E27FC236}">
                <a16:creationId xmlns:a16="http://schemas.microsoft.com/office/drawing/2014/main" id="{00BF5763-3E40-E147-ACE8-5ED526226DDB}"/>
              </a:ext>
            </a:extLst>
          </p:cNvPr>
          <p:cNvGrpSpPr>
            <a:grpSpLocks/>
          </p:cNvGrpSpPr>
          <p:nvPr/>
        </p:nvGrpSpPr>
        <p:grpSpPr bwMode="auto">
          <a:xfrm>
            <a:off x="5603081" y="3217289"/>
            <a:ext cx="887412" cy="228600"/>
            <a:chOff x="1383" y="2620"/>
            <a:chExt cx="260" cy="100"/>
          </a:xfrm>
        </p:grpSpPr>
        <p:sp>
          <p:nvSpPr>
            <p:cNvPr id="171" name="Rectangle 135">
              <a:extLst>
                <a:ext uri="{FF2B5EF4-FFF2-40B4-BE49-F238E27FC236}">
                  <a16:creationId xmlns:a16="http://schemas.microsoft.com/office/drawing/2014/main" id="{CDC340F8-E46E-7E41-8E35-64383D0A17F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2" name="Rectangle 136">
              <a:extLst>
                <a:ext uri="{FF2B5EF4-FFF2-40B4-BE49-F238E27FC236}">
                  <a16:creationId xmlns:a16="http://schemas.microsoft.com/office/drawing/2014/main" id="{CEB2486C-9B9D-0C40-80F1-0DB2CBB3DFB8}"/>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3" name="Rectangle 137">
              <a:extLst>
                <a:ext uri="{FF2B5EF4-FFF2-40B4-BE49-F238E27FC236}">
                  <a16:creationId xmlns:a16="http://schemas.microsoft.com/office/drawing/2014/main" id="{1376AAC2-B46A-1E4A-9BBE-A4B572F451E5}"/>
                </a:ext>
              </a:extLst>
            </p:cNvPr>
            <p:cNvSpPr>
              <a:spLocks noChangeArrowheads="1"/>
            </p:cNvSpPr>
            <p:nvPr/>
          </p:nvSpPr>
          <p:spPr bwMode="auto">
            <a:xfrm>
              <a:off x="1599" y="2678"/>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4" name="Rectangle 138">
              <a:extLst>
                <a:ext uri="{FF2B5EF4-FFF2-40B4-BE49-F238E27FC236}">
                  <a16:creationId xmlns:a16="http://schemas.microsoft.com/office/drawing/2014/main" id="{D0F29441-9D82-0744-927B-FB9235C641D8}"/>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5" name="Rectangle 23">
            <a:extLst>
              <a:ext uri="{FF2B5EF4-FFF2-40B4-BE49-F238E27FC236}">
                <a16:creationId xmlns:a16="http://schemas.microsoft.com/office/drawing/2014/main" id="{5DBC5F7E-FBFE-9545-9C61-2B1EE876BE58}"/>
              </a:ext>
            </a:extLst>
          </p:cNvPr>
          <p:cNvSpPr>
            <a:spLocks noChangeArrowheads="1"/>
          </p:cNvSpPr>
          <p:nvPr/>
        </p:nvSpPr>
        <p:spPr bwMode="auto">
          <a:xfrm>
            <a:off x="8354218" y="276643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6" name="Rectangle 24">
            <a:extLst>
              <a:ext uri="{FF2B5EF4-FFF2-40B4-BE49-F238E27FC236}">
                <a16:creationId xmlns:a16="http://schemas.microsoft.com/office/drawing/2014/main" id="{7B52E473-BC4F-2546-8F23-4292A3FB8917}"/>
              </a:ext>
            </a:extLst>
          </p:cNvPr>
          <p:cNvSpPr>
            <a:spLocks noChangeArrowheads="1"/>
          </p:cNvSpPr>
          <p:nvPr/>
        </p:nvSpPr>
        <p:spPr bwMode="auto">
          <a:xfrm>
            <a:off x="8316118" y="2820414"/>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7" name="Line 25">
            <a:extLst>
              <a:ext uri="{FF2B5EF4-FFF2-40B4-BE49-F238E27FC236}">
                <a16:creationId xmlns:a16="http://schemas.microsoft.com/office/drawing/2014/main" id="{803956DE-2FA5-4140-9507-22E455660033}"/>
              </a:ext>
            </a:extLst>
          </p:cNvPr>
          <p:cNvSpPr>
            <a:spLocks noChangeShapeType="1"/>
          </p:cNvSpPr>
          <p:nvPr/>
        </p:nvSpPr>
        <p:spPr bwMode="auto">
          <a:xfrm>
            <a:off x="8325643" y="3580826"/>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Text Box 26">
            <a:extLst>
              <a:ext uri="{FF2B5EF4-FFF2-40B4-BE49-F238E27FC236}">
                <a16:creationId xmlns:a16="http://schemas.microsoft.com/office/drawing/2014/main" id="{47E3A0E5-1B3A-834F-8B2A-507EC67A3628}"/>
              </a:ext>
            </a:extLst>
          </p:cNvPr>
          <p:cNvSpPr txBox="1">
            <a:spLocks noChangeArrowheads="1"/>
          </p:cNvSpPr>
          <p:nvPr/>
        </p:nvSpPr>
        <p:spPr bwMode="auto">
          <a:xfrm>
            <a:off x="8282781" y="3563364"/>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9" name="Line 27">
            <a:extLst>
              <a:ext uri="{FF2B5EF4-FFF2-40B4-BE49-F238E27FC236}">
                <a16:creationId xmlns:a16="http://schemas.microsoft.com/office/drawing/2014/main" id="{24C8311A-F267-2B40-8506-DF30931D127F}"/>
              </a:ext>
            </a:extLst>
          </p:cNvPr>
          <p:cNvSpPr>
            <a:spLocks noChangeShapeType="1"/>
          </p:cNvSpPr>
          <p:nvPr/>
        </p:nvSpPr>
        <p:spPr bwMode="auto">
          <a:xfrm>
            <a:off x="8333581" y="3901501"/>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28">
            <a:extLst>
              <a:ext uri="{FF2B5EF4-FFF2-40B4-BE49-F238E27FC236}">
                <a16:creationId xmlns:a16="http://schemas.microsoft.com/office/drawing/2014/main" id="{90B576E6-B5C3-E047-92FE-7535DC86865B}"/>
              </a:ext>
            </a:extLst>
          </p:cNvPr>
          <p:cNvSpPr>
            <a:spLocks noChangeShapeType="1"/>
          </p:cNvSpPr>
          <p:nvPr/>
        </p:nvSpPr>
        <p:spPr bwMode="auto">
          <a:xfrm>
            <a:off x="8319293" y="421106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29">
            <a:extLst>
              <a:ext uri="{FF2B5EF4-FFF2-40B4-BE49-F238E27FC236}">
                <a16:creationId xmlns:a16="http://schemas.microsoft.com/office/drawing/2014/main" id="{DE510BC2-1C0A-3D45-B7F0-09B9A2AFDE5D}"/>
              </a:ext>
            </a:extLst>
          </p:cNvPr>
          <p:cNvSpPr>
            <a:spLocks noChangeShapeType="1"/>
          </p:cNvSpPr>
          <p:nvPr/>
        </p:nvSpPr>
        <p:spPr bwMode="auto">
          <a:xfrm>
            <a:off x="8319293" y="449681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DDAE1A42-ED4F-654B-87D0-169CF6BB1331}"/>
              </a:ext>
            </a:extLst>
          </p:cNvPr>
          <p:cNvSpPr txBox="1">
            <a:spLocks noChangeArrowheads="1"/>
          </p:cNvSpPr>
          <p:nvPr/>
        </p:nvSpPr>
        <p:spPr bwMode="auto">
          <a:xfrm>
            <a:off x="8317706" y="281088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83" name="Text Box 26">
            <a:extLst>
              <a:ext uri="{FF2B5EF4-FFF2-40B4-BE49-F238E27FC236}">
                <a16:creationId xmlns:a16="http://schemas.microsoft.com/office/drawing/2014/main" id="{7A014FEE-D35D-4D4E-A6F2-B759C9BE8A46}"/>
              </a:ext>
            </a:extLst>
          </p:cNvPr>
          <p:cNvSpPr txBox="1">
            <a:spLocks noChangeArrowheads="1"/>
          </p:cNvSpPr>
          <p:nvPr/>
        </p:nvSpPr>
        <p:spPr bwMode="auto">
          <a:xfrm>
            <a:off x="8273256" y="446823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84" name="Text Box 26">
            <a:extLst>
              <a:ext uri="{FF2B5EF4-FFF2-40B4-BE49-F238E27FC236}">
                <a16:creationId xmlns:a16="http://schemas.microsoft.com/office/drawing/2014/main" id="{7B48DF71-7962-E445-ACB0-EE3318149C71}"/>
              </a:ext>
            </a:extLst>
          </p:cNvPr>
          <p:cNvSpPr txBox="1">
            <a:spLocks noChangeArrowheads="1"/>
          </p:cNvSpPr>
          <p:nvPr/>
        </p:nvSpPr>
        <p:spPr bwMode="auto">
          <a:xfrm>
            <a:off x="8292306" y="418248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5" name="Text Box 26">
            <a:extLst>
              <a:ext uri="{FF2B5EF4-FFF2-40B4-BE49-F238E27FC236}">
                <a16:creationId xmlns:a16="http://schemas.microsoft.com/office/drawing/2014/main" id="{35F89933-4707-5D4A-921A-EC7B51E40D15}"/>
              </a:ext>
            </a:extLst>
          </p:cNvPr>
          <p:cNvSpPr txBox="1">
            <a:spLocks noChangeArrowheads="1"/>
          </p:cNvSpPr>
          <p:nvPr/>
        </p:nvSpPr>
        <p:spPr bwMode="auto">
          <a:xfrm>
            <a:off x="8282781" y="3887214"/>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6" name="Oval 153">
            <a:extLst>
              <a:ext uri="{FF2B5EF4-FFF2-40B4-BE49-F238E27FC236}">
                <a16:creationId xmlns:a16="http://schemas.microsoft.com/office/drawing/2014/main" id="{215E7B91-C0B7-B74C-B6E7-B5818A2553F2}"/>
              </a:ext>
            </a:extLst>
          </p:cNvPr>
          <p:cNvSpPr>
            <a:spLocks noChangeArrowheads="1"/>
          </p:cNvSpPr>
          <p:nvPr/>
        </p:nvSpPr>
        <p:spPr bwMode="auto">
          <a:xfrm>
            <a:off x="8652668" y="3118864"/>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P4</a:t>
            </a:r>
          </a:p>
        </p:txBody>
      </p:sp>
      <p:sp>
        <p:nvSpPr>
          <p:cNvPr id="187" name="Freeform 154">
            <a:extLst>
              <a:ext uri="{FF2B5EF4-FFF2-40B4-BE49-F238E27FC236}">
                <a16:creationId xmlns:a16="http://schemas.microsoft.com/office/drawing/2014/main" id="{3380745A-BF26-D24C-8ACE-76BF4A51F666}"/>
              </a:ext>
            </a:extLst>
          </p:cNvPr>
          <p:cNvSpPr>
            <a:spLocks/>
          </p:cNvSpPr>
          <p:nvPr/>
        </p:nvSpPr>
        <p:spPr bwMode="auto">
          <a:xfrm>
            <a:off x="9613106" y="2787076"/>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8" name="Group 156">
            <a:extLst>
              <a:ext uri="{FF2B5EF4-FFF2-40B4-BE49-F238E27FC236}">
                <a16:creationId xmlns:a16="http://schemas.microsoft.com/office/drawing/2014/main" id="{4260C82D-FA4B-EA40-B99D-03E56D50D1BA}"/>
              </a:ext>
            </a:extLst>
          </p:cNvPr>
          <p:cNvGrpSpPr>
            <a:grpSpLocks/>
          </p:cNvGrpSpPr>
          <p:nvPr/>
        </p:nvGrpSpPr>
        <p:grpSpPr bwMode="auto">
          <a:xfrm>
            <a:off x="8646318" y="3450651"/>
            <a:ext cx="620713" cy="204788"/>
            <a:chOff x="1287" y="2524"/>
            <a:chExt cx="260" cy="100"/>
          </a:xfrm>
        </p:grpSpPr>
        <p:sp>
          <p:nvSpPr>
            <p:cNvPr id="189" name="Rectangle 157">
              <a:extLst>
                <a:ext uri="{FF2B5EF4-FFF2-40B4-BE49-F238E27FC236}">
                  <a16:creationId xmlns:a16="http://schemas.microsoft.com/office/drawing/2014/main" id="{3C55969E-575D-4843-85A0-C9288C89A71A}"/>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58">
              <a:extLst>
                <a:ext uri="{FF2B5EF4-FFF2-40B4-BE49-F238E27FC236}">
                  <a16:creationId xmlns:a16="http://schemas.microsoft.com/office/drawing/2014/main" id="{1D81D694-BFCE-CD4C-8B46-411E3E05EFA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1" name="Rectangle 159">
              <a:extLst>
                <a:ext uri="{FF2B5EF4-FFF2-40B4-BE49-F238E27FC236}">
                  <a16:creationId xmlns:a16="http://schemas.microsoft.com/office/drawing/2014/main" id="{1E24AC3B-00C1-CD43-B2CA-0A3FFEF53694}"/>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2" name="Rectangle 160">
              <a:extLst>
                <a:ext uri="{FF2B5EF4-FFF2-40B4-BE49-F238E27FC236}">
                  <a16:creationId xmlns:a16="http://schemas.microsoft.com/office/drawing/2014/main" id="{9B3524D6-8B31-5B45-AE62-56D9DEC06C91}"/>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3" name="Rectangle 173">
            <a:extLst>
              <a:ext uri="{FF2B5EF4-FFF2-40B4-BE49-F238E27FC236}">
                <a16:creationId xmlns:a16="http://schemas.microsoft.com/office/drawing/2014/main" id="{ACF402A0-C6AF-8D4B-9459-C028398F8678}"/>
              </a:ext>
            </a:extLst>
          </p:cNvPr>
          <p:cNvSpPr>
            <a:spLocks noChangeArrowheads="1"/>
          </p:cNvSpPr>
          <p:nvPr/>
        </p:nvSpPr>
        <p:spPr bwMode="auto">
          <a:xfrm>
            <a:off x="7968800" y="2094763"/>
            <a:ext cx="4189623" cy="655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mySocket1 = new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a:t>
            </a:r>
            <a:r>
              <a:rPr kumimoji="0" lang="en-US" sz="1800" b="1" i="0" u="none" strike="noStrike" kern="1200" cap="none" spc="0" normalizeH="0" baseline="0" noProof="0" dirty="0">
                <a:ln>
                  <a:noFill/>
                </a:ln>
                <a:solidFill>
                  <a:srgbClr val="CC0000"/>
                </a:solidFill>
                <a:effectLst/>
                <a:uLnTx/>
                <a:uFillTx/>
                <a:latin typeface="Courier New" charset="0"/>
                <a:ea typeface="ＭＳ Ｐゴシック" charset="0"/>
                <a:cs typeface="+mn-cs"/>
              </a:rPr>
              <a:t>5775</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endParaRPr kumimoji="0" lang="en-US" sz="18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194" name="Rectangle 174">
            <a:extLst>
              <a:ext uri="{FF2B5EF4-FFF2-40B4-BE49-F238E27FC236}">
                <a16:creationId xmlns:a16="http://schemas.microsoft.com/office/drawing/2014/main" id="{4C60141B-5E00-944A-9D60-A427659E8698}"/>
              </a:ext>
            </a:extLst>
          </p:cNvPr>
          <p:cNvSpPr>
            <a:spLocks noChangeArrowheads="1"/>
          </p:cNvSpPr>
          <p:nvPr/>
        </p:nvSpPr>
        <p:spPr bwMode="auto">
          <a:xfrm>
            <a:off x="496329" y="2088579"/>
            <a:ext cx="3755375" cy="655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mySocket2 = new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endPar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a:t>
            </a:r>
            <a:r>
              <a:rPr kumimoji="0" lang="en-US" sz="1800" b="1" i="0" u="none" strike="noStrike" kern="1200" cap="none" spc="0" normalizeH="0" baseline="0" noProof="0" dirty="0">
                <a:ln>
                  <a:noFill/>
                </a:ln>
                <a:solidFill>
                  <a:srgbClr val="CC0000"/>
                </a:solidFill>
                <a:effectLst/>
                <a:uLnTx/>
                <a:uFillTx/>
                <a:latin typeface="Courier New" charset="0"/>
                <a:ea typeface="ＭＳ Ｐゴシック" charset="0"/>
                <a:cs typeface="+mn-cs"/>
              </a:rPr>
              <a:t>9157</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195" name="Line 177">
            <a:extLst>
              <a:ext uri="{FF2B5EF4-FFF2-40B4-BE49-F238E27FC236}">
                <a16:creationId xmlns:a16="http://schemas.microsoft.com/office/drawing/2014/main" id="{3415A4E4-A8D6-0A45-87D5-0E83D0C0F914}"/>
              </a:ext>
            </a:extLst>
          </p:cNvPr>
          <p:cNvSpPr>
            <a:spLocks noChangeShapeType="1"/>
          </p:cNvSpPr>
          <p:nvPr/>
        </p:nvSpPr>
        <p:spPr bwMode="auto">
          <a:xfrm>
            <a:off x="3023393" y="3531614"/>
            <a:ext cx="0" cy="217646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6" name="Line 178">
            <a:extLst>
              <a:ext uri="{FF2B5EF4-FFF2-40B4-BE49-F238E27FC236}">
                <a16:creationId xmlns:a16="http://schemas.microsoft.com/office/drawing/2014/main" id="{A9D1D210-F533-114F-8A39-1FAA948B33D4}"/>
              </a:ext>
            </a:extLst>
          </p:cNvPr>
          <p:cNvSpPr>
            <a:spLocks noChangeShapeType="1"/>
          </p:cNvSpPr>
          <p:nvPr/>
        </p:nvSpPr>
        <p:spPr bwMode="auto">
          <a:xfrm>
            <a:off x="5953918" y="3290314"/>
            <a:ext cx="12700" cy="2408237"/>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7" name="Line 180">
            <a:extLst>
              <a:ext uri="{FF2B5EF4-FFF2-40B4-BE49-F238E27FC236}">
                <a16:creationId xmlns:a16="http://schemas.microsoft.com/office/drawing/2014/main" id="{6B5344BE-1CCC-B340-996D-3B09BDFBBE3A}"/>
              </a:ext>
            </a:extLst>
          </p:cNvPr>
          <p:cNvSpPr>
            <a:spLocks noChangeShapeType="1"/>
          </p:cNvSpPr>
          <p:nvPr/>
        </p:nvSpPr>
        <p:spPr bwMode="auto">
          <a:xfrm>
            <a:off x="3023393" y="5690614"/>
            <a:ext cx="2936875" cy="0"/>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8" name="Line 181">
            <a:extLst>
              <a:ext uri="{FF2B5EF4-FFF2-40B4-BE49-F238E27FC236}">
                <a16:creationId xmlns:a16="http://schemas.microsoft.com/office/drawing/2014/main" id="{75872309-2BFC-8644-8732-E37B001E22A7}"/>
              </a:ext>
            </a:extLst>
          </p:cNvPr>
          <p:cNvSpPr>
            <a:spLocks noChangeShapeType="1"/>
          </p:cNvSpPr>
          <p:nvPr/>
        </p:nvSpPr>
        <p:spPr bwMode="auto">
          <a:xfrm>
            <a:off x="5830093" y="3303014"/>
            <a:ext cx="0" cy="224631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9" name="Line 182">
            <a:extLst>
              <a:ext uri="{FF2B5EF4-FFF2-40B4-BE49-F238E27FC236}">
                <a16:creationId xmlns:a16="http://schemas.microsoft.com/office/drawing/2014/main" id="{ED8FED43-69D8-CD40-86EB-26FB24C6EABD}"/>
              </a:ext>
            </a:extLst>
          </p:cNvPr>
          <p:cNvSpPr>
            <a:spLocks noChangeShapeType="1"/>
          </p:cNvSpPr>
          <p:nvPr/>
        </p:nvSpPr>
        <p:spPr bwMode="auto">
          <a:xfrm>
            <a:off x="3131343" y="5531864"/>
            <a:ext cx="2740025" cy="0"/>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0" name="Line 183">
            <a:extLst>
              <a:ext uri="{FF2B5EF4-FFF2-40B4-BE49-F238E27FC236}">
                <a16:creationId xmlns:a16="http://schemas.microsoft.com/office/drawing/2014/main" id="{4E77B951-325F-9646-965F-1E9415527950}"/>
              </a:ext>
            </a:extLst>
          </p:cNvPr>
          <p:cNvSpPr>
            <a:spLocks noChangeShapeType="1"/>
          </p:cNvSpPr>
          <p:nvPr/>
        </p:nvSpPr>
        <p:spPr bwMode="auto">
          <a:xfrm>
            <a:off x="3124993" y="3518914"/>
            <a:ext cx="12700" cy="2017712"/>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1" name="Line 184">
            <a:extLst>
              <a:ext uri="{FF2B5EF4-FFF2-40B4-BE49-F238E27FC236}">
                <a16:creationId xmlns:a16="http://schemas.microsoft.com/office/drawing/2014/main" id="{DE96BAA3-92F8-8647-B475-DC04328C350D}"/>
              </a:ext>
            </a:extLst>
          </p:cNvPr>
          <p:cNvSpPr>
            <a:spLocks noChangeShapeType="1"/>
          </p:cNvSpPr>
          <p:nvPr/>
        </p:nvSpPr>
        <p:spPr bwMode="auto">
          <a:xfrm>
            <a:off x="9033668" y="3569714"/>
            <a:ext cx="0" cy="217646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2" name="Line 185">
            <a:extLst>
              <a:ext uri="{FF2B5EF4-FFF2-40B4-BE49-F238E27FC236}">
                <a16:creationId xmlns:a16="http://schemas.microsoft.com/office/drawing/2014/main" id="{98C53D0E-36E0-9746-B2E0-7A179BBFF854}"/>
              </a:ext>
            </a:extLst>
          </p:cNvPr>
          <p:cNvSpPr>
            <a:spLocks noChangeShapeType="1"/>
          </p:cNvSpPr>
          <p:nvPr/>
        </p:nvSpPr>
        <p:spPr bwMode="auto">
          <a:xfrm>
            <a:off x="8916193" y="3537964"/>
            <a:ext cx="12700" cy="2017712"/>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3" name="Line 186">
            <a:extLst>
              <a:ext uri="{FF2B5EF4-FFF2-40B4-BE49-F238E27FC236}">
                <a16:creationId xmlns:a16="http://schemas.microsoft.com/office/drawing/2014/main" id="{5CF7BEF4-FCF9-5245-97E3-9295F72ABEAF}"/>
              </a:ext>
            </a:extLst>
          </p:cNvPr>
          <p:cNvSpPr>
            <a:spLocks noChangeShapeType="1"/>
          </p:cNvSpPr>
          <p:nvPr/>
        </p:nvSpPr>
        <p:spPr bwMode="auto">
          <a:xfrm>
            <a:off x="6096793" y="3309364"/>
            <a:ext cx="12700" cy="2408237"/>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4" name="Line 187">
            <a:extLst>
              <a:ext uri="{FF2B5EF4-FFF2-40B4-BE49-F238E27FC236}">
                <a16:creationId xmlns:a16="http://schemas.microsoft.com/office/drawing/2014/main" id="{2FEDDAA8-4D5A-F644-8D9D-D75448B5AB9C}"/>
              </a:ext>
            </a:extLst>
          </p:cNvPr>
          <p:cNvSpPr>
            <a:spLocks noChangeShapeType="1"/>
          </p:cNvSpPr>
          <p:nvPr/>
        </p:nvSpPr>
        <p:spPr bwMode="auto">
          <a:xfrm>
            <a:off x="6230143" y="3322064"/>
            <a:ext cx="0" cy="224631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5" name="Line 188">
            <a:extLst>
              <a:ext uri="{FF2B5EF4-FFF2-40B4-BE49-F238E27FC236}">
                <a16:creationId xmlns:a16="http://schemas.microsoft.com/office/drawing/2014/main" id="{785832B0-11E2-7D42-892F-39130A9455CB}"/>
              </a:ext>
            </a:extLst>
          </p:cNvPr>
          <p:cNvSpPr>
            <a:spLocks noChangeShapeType="1"/>
          </p:cNvSpPr>
          <p:nvPr/>
        </p:nvSpPr>
        <p:spPr bwMode="auto">
          <a:xfrm>
            <a:off x="6119018" y="5709664"/>
            <a:ext cx="2936875" cy="0"/>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6" name="Line 189">
            <a:extLst>
              <a:ext uri="{FF2B5EF4-FFF2-40B4-BE49-F238E27FC236}">
                <a16:creationId xmlns:a16="http://schemas.microsoft.com/office/drawing/2014/main" id="{CB7F98CB-6143-EE46-9171-A611901AA528}"/>
              </a:ext>
            </a:extLst>
          </p:cNvPr>
          <p:cNvSpPr>
            <a:spLocks noChangeShapeType="1"/>
          </p:cNvSpPr>
          <p:nvPr/>
        </p:nvSpPr>
        <p:spPr bwMode="auto">
          <a:xfrm>
            <a:off x="6204743" y="5541389"/>
            <a:ext cx="2740025" cy="0"/>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207" name="Group 196">
            <a:extLst>
              <a:ext uri="{FF2B5EF4-FFF2-40B4-BE49-F238E27FC236}">
                <a16:creationId xmlns:a16="http://schemas.microsoft.com/office/drawing/2014/main" id="{3B303B9E-D7B6-B44F-B2C6-EAF4FBBE0075}"/>
              </a:ext>
            </a:extLst>
          </p:cNvPr>
          <p:cNvGrpSpPr>
            <a:grpSpLocks/>
          </p:cNvGrpSpPr>
          <p:nvPr/>
        </p:nvGrpSpPr>
        <p:grpSpPr bwMode="auto">
          <a:xfrm>
            <a:off x="2740818" y="5790626"/>
            <a:ext cx="1644650" cy="652463"/>
            <a:chOff x="1318" y="3697"/>
            <a:chExt cx="1036" cy="411"/>
          </a:xfrm>
        </p:grpSpPr>
        <p:sp>
          <p:nvSpPr>
            <p:cNvPr id="208" name="Rectangle 193">
              <a:extLst>
                <a:ext uri="{FF2B5EF4-FFF2-40B4-BE49-F238E27FC236}">
                  <a16:creationId xmlns:a16="http://schemas.microsoft.com/office/drawing/2014/main" id="{5E867730-FF86-E94C-84E9-3C3B7F8650AF}"/>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9" name="Line 194">
              <a:extLst>
                <a:ext uri="{FF2B5EF4-FFF2-40B4-BE49-F238E27FC236}">
                  <a16:creationId xmlns:a16="http://schemas.microsoft.com/office/drawing/2014/main" id="{DCB14944-9918-094E-A124-FFAF2CCC01E8}"/>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Text Box 195">
              <a:extLst>
                <a:ext uri="{FF2B5EF4-FFF2-40B4-BE49-F238E27FC236}">
                  <a16:creationId xmlns:a16="http://schemas.microsoft.com/office/drawing/2014/main" id="{7F105679-9AE1-A34E-A646-23B52D1B8449}"/>
                </a:ext>
              </a:extLst>
            </p:cNvPr>
            <p:cNvSpPr txBox="1">
              <a:spLocks noChangeArrowheads="1"/>
            </p:cNvSpPr>
            <p:nvPr/>
          </p:nvSpPr>
          <p:spPr bwMode="auto">
            <a:xfrm>
              <a:off x="1318" y="3822"/>
              <a:ext cx="994"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9157</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6428</a:t>
              </a:r>
            </a:p>
          </p:txBody>
        </p:sp>
      </p:grpSp>
      <p:grpSp>
        <p:nvGrpSpPr>
          <p:cNvPr id="211" name="Group 201">
            <a:extLst>
              <a:ext uri="{FF2B5EF4-FFF2-40B4-BE49-F238E27FC236}">
                <a16:creationId xmlns:a16="http://schemas.microsoft.com/office/drawing/2014/main" id="{C26B3BDC-40D0-554B-BF75-79BA0C664254}"/>
              </a:ext>
            </a:extLst>
          </p:cNvPr>
          <p:cNvGrpSpPr>
            <a:grpSpLocks/>
          </p:cNvGrpSpPr>
          <p:nvPr/>
        </p:nvGrpSpPr>
        <p:grpSpPr bwMode="auto">
          <a:xfrm>
            <a:off x="4039393" y="4914326"/>
            <a:ext cx="1692275" cy="652463"/>
            <a:chOff x="2741" y="3750"/>
            <a:chExt cx="1066" cy="411"/>
          </a:xfrm>
        </p:grpSpPr>
        <p:sp>
          <p:nvSpPr>
            <p:cNvPr id="212" name="Rectangle 198">
              <a:extLst>
                <a:ext uri="{FF2B5EF4-FFF2-40B4-BE49-F238E27FC236}">
                  <a16:creationId xmlns:a16="http://schemas.microsoft.com/office/drawing/2014/main" id="{2AEC7827-74B2-8F4D-A5B2-46F174C8BC7A}"/>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3" name="Line 199">
              <a:extLst>
                <a:ext uri="{FF2B5EF4-FFF2-40B4-BE49-F238E27FC236}">
                  <a16:creationId xmlns:a16="http://schemas.microsoft.com/office/drawing/2014/main" id="{51BE463B-088F-174F-AFA2-906D7DEE343D}"/>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4" name="Text Box 200">
              <a:extLst>
                <a:ext uri="{FF2B5EF4-FFF2-40B4-BE49-F238E27FC236}">
                  <a16:creationId xmlns:a16="http://schemas.microsoft.com/office/drawing/2014/main" id="{0F6793CB-ABA9-534D-B627-3241E60849A0}"/>
                </a:ext>
              </a:extLst>
            </p:cNvPr>
            <p:cNvSpPr txBox="1">
              <a:spLocks noChangeArrowheads="1"/>
            </p:cNvSpPr>
            <p:nvPr/>
          </p:nvSpPr>
          <p:spPr bwMode="auto">
            <a:xfrm>
              <a:off x="2813" y="3875"/>
              <a:ext cx="994"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6428</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9157</a:t>
              </a:r>
            </a:p>
          </p:txBody>
        </p:sp>
      </p:grpSp>
      <p:grpSp>
        <p:nvGrpSpPr>
          <p:cNvPr id="215" name="Group 202">
            <a:extLst>
              <a:ext uri="{FF2B5EF4-FFF2-40B4-BE49-F238E27FC236}">
                <a16:creationId xmlns:a16="http://schemas.microsoft.com/office/drawing/2014/main" id="{2BA0D7D3-1E9F-874D-9578-106CF426BDAB}"/>
              </a:ext>
            </a:extLst>
          </p:cNvPr>
          <p:cNvGrpSpPr>
            <a:grpSpLocks/>
          </p:cNvGrpSpPr>
          <p:nvPr/>
        </p:nvGrpSpPr>
        <p:grpSpPr bwMode="auto">
          <a:xfrm>
            <a:off x="7063581" y="4914326"/>
            <a:ext cx="1341437" cy="652463"/>
            <a:chOff x="1509" y="3697"/>
            <a:chExt cx="845" cy="411"/>
          </a:xfrm>
        </p:grpSpPr>
        <p:sp>
          <p:nvSpPr>
            <p:cNvPr id="216" name="Rectangle 203">
              <a:extLst>
                <a:ext uri="{FF2B5EF4-FFF2-40B4-BE49-F238E27FC236}">
                  <a16:creationId xmlns:a16="http://schemas.microsoft.com/office/drawing/2014/main" id="{B2A9891A-642F-6D49-A890-0C106C26FAD8}"/>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7" name="Line 204">
              <a:extLst>
                <a:ext uri="{FF2B5EF4-FFF2-40B4-BE49-F238E27FC236}">
                  <a16:creationId xmlns:a16="http://schemas.microsoft.com/office/drawing/2014/main" id="{521F25C6-A7B0-BD43-AB39-10E85195A07C}"/>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8" name="Text Box 205">
              <a:extLst>
                <a:ext uri="{FF2B5EF4-FFF2-40B4-BE49-F238E27FC236}">
                  <a16:creationId xmlns:a16="http://schemas.microsoft.com/office/drawing/2014/main" id="{A375B067-6627-F24A-ADAA-564841EB89F9}"/>
                </a:ext>
              </a:extLst>
            </p:cNvPr>
            <p:cNvSpPr txBox="1">
              <a:spLocks noChangeArrowheads="1"/>
            </p:cNvSpPr>
            <p:nvPr/>
          </p:nvSpPr>
          <p:spPr bwMode="auto">
            <a:xfrm>
              <a:off x="1509" y="3822"/>
              <a:ext cx="80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a:t>
              </a:r>
            </a:p>
          </p:txBody>
        </p:sp>
      </p:grpSp>
      <p:grpSp>
        <p:nvGrpSpPr>
          <p:cNvPr id="219" name="Group 206">
            <a:extLst>
              <a:ext uri="{FF2B5EF4-FFF2-40B4-BE49-F238E27FC236}">
                <a16:creationId xmlns:a16="http://schemas.microsoft.com/office/drawing/2014/main" id="{B5181A21-D7E7-3E42-9344-472D54222757}"/>
              </a:ext>
            </a:extLst>
          </p:cNvPr>
          <p:cNvGrpSpPr>
            <a:grpSpLocks/>
          </p:cNvGrpSpPr>
          <p:nvPr/>
        </p:nvGrpSpPr>
        <p:grpSpPr bwMode="auto">
          <a:xfrm>
            <a:off x="6304756" y="5768401"/>
            <a:ext cx="1389062" cy="652463"/>
            <a:chOff x="2741" y="3750"/>
            <a:chExt cx="875" cy="411"/>
          </a:xfrm>
        </p:grpSpPr>
        <p:sp>
          <p:nvSpPr>
            <p:cNvPr id="220" name="Rectangle 207">
              <a:extLst>
                <a:ext uri="{FF2B5EF4-FFF2-40B4-BE49-F238E27FC236}">
                  <a16:creationId xmlns:a16="http://schemas.microsoft.com/office/drawing/2014/main" id="{92ECB27B-35D3-E94B-A9F9-6AB2E4D0E9A5}"/>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Line 208">
              <a:extLst>
                <a:ext uri="{FF2B5EF4-FFF2-40B4-BE49-F238E27FC236}">
                  <a16:creationId xmlns:a16="http://schemas.microsoft.com/office/drawing/2014/main" id="{7683B80C-70E1-9C44-94AD-C7C88A9E0CA6}"/>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2" name="Text Box 209">
              <a:extLst>
                <a:ext uri="{FF2B5EF4-FFF2-40B4-BE49-F238E27FC236}">
                  <a16:creationId xmlns:a16="http://schemas.microsoft.com/office/drawing/2014/main" id="{A346B1BA-6406-6F45-9B45-BAB032C59481}"/>
                </a:ext>
              </a:extLst>
            </p:cNvPr>
            <p:cNvSpPr txBox="1">
              <a:spLocks noChangeArrowheads="1"/>
            </p:cNvSpPr>
            <p:nvPr/>
          </p:nvSpPr>
          <p:spPr bwMode="auto">
            <a:xfrm>
              <a:off x="2813" y="3875"/>
              <a:ext cx="80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a:t>
              </a:r>
            </a:p>
          </p:txBody>
        </p:sp>
      </p:grpSp>
      <p:grpSp>
        <p:nvGrpSpPr>
          <p:cNvPr id="223" name="Group 214">
            <a:extLst>
              <a:ext uri="{FF2B5EF4-FFF2-40B4-BE49-F238E27FC236}">
                <a16:creationId xmlns:a16="http://schemas.microsoft.com/office/drawing/2014/main" id="{E39C7ED5-8B2C-DE4F-80CB-990D1AA7B49F}"/>
              </a:ext>
            </a:extLst>
          </p:cNvPr>
          <p:cNvGrpSpPr>
            <a:grpSpLocks/>
          </p:cNvGrpSpPr>
          <p:nvPr/>
        </p:nvGrpSpPr>
        <p:grpSpPr bwMode="auto">
          <a:xfrm>
            <a:off x="1610518" y="4406326"/>
            <a:ext cx="711200" cy="669925"/>
            <a:chOff x="-44" y="1473"/>
            <a:chExt cx="981" cy="1105"/>
          </a:xfrm>
        </p:grpSpPr>
        <p:pic>
          <p:nvPicPr>
            <p:cNvPr id="224" name="Picture 215" descr="desktop_computer_stylized_medium">
              <a:extLst>
                <a:ext uri="{FF2B5EF4-FFF2-40B4-BE49-F238E27FC236}">
                  <a16:creationId xmlns:a16="http://schemas.microsoft.com/office/drawing/2014/main" id="{E6F7AF8C-6139-A44A-B799-9DB1A4938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5" name="Freeform 216">
              <a:extLst>
                <a:ext uri="{FF2B5EF4-FFF2-40B4-BE49-F238E27FC236}">
                  <a16:creationId xmlns:a16="http://schemas.microsoft.com/office/drawing/2014/main" id="{E7BE33D7-3BA9-1847-9AD9-95F7E1DEA0D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6" name="Group 217">
            <a:extLst>
              <a:ext uri="{FF2B5EF4-FFF2-40B4-BE49-F238E27FC236}">
                <a16:creationId xmlns:a16="http://schemas.microsoft.com/office/drawing/2014/main" id="{ECE9DF28-DF72-7544-9229-870F2565D5F7}"/>
              </a:ext>
            </a:extLst>
          </p:cNvPr>
          <p:cNvGrpSpPr>
            <a:grpSpLocks/>
          </p:cNvGrpSpPr>
          <p:nvPr/>
        </p:nvGrpSpPr>
        <p:grpSpPr bwMode="auto">
          <a:xfrm flipH="1">
            <a:off x="9879806" y="4530151"/>
            <a:ext cx="711200" cy="669925"/>
            <a:chOff x="-44" y="1473"/>
            <a:chExt cx="981" cy="1105"/>
          </a:xfrm>
        </p:grpSpPr>
        <p:pic>
          <p:nvPicPr>
            <p:cNvPr id="227" name="Picture 218" descr="desktop_computer_stylized_medium">
              <a:extLst>
                <a:ext uri="{FF2B5EF4-FFF2-40B4-BE49-F238E27FC236}">
                  <a16:creationId xmlns:a16="http://schemas.microsoft.com/office/drawing/2014/main" id="{AAE1CD7B-71E4-DA44-B3BA-A6BCDDB83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8" name="Freeform 219">
              <a:extLst>
                <a:ext uri="{FF2B5EF4-FFF2-40B4-BE49-F238E27FC236}">
                  <a16:creationId xmlns:a16="http://schemas.microsoft.com/office/drawing/2014/main" id="{E273E05C-F934-1B44-AA55-C146C99BC60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9" name="Group 220">
            <a:extLst>
              <a:ext uri="{FF2B5EF4-FFF2-40B4-BE49-F238E27FC236}">
                <a16:creationId xmlns:a16="http://schemas.microsoft.com/office/drawing/2014/main" id="{4338C4B1-DA10-CF42-9E12-96B6998CDA7B}"/>
              </a:ext>
            </a:extLst>
          </p:cNvPr>
          <p:cNvGrpSpPr>
            <a:grpSpLocks/>
          </p:cNvGrpSpPr>
          <p:nvPr/>
        </p:nvGrpSpPr>
        <p:grpSpPr bwMode="auto">
          <a:xfrm>
            <a:off x="4702968" y="3928489"/>
            <a:ext cx="358775" cy="704850"/>
            <a:chOff x="4140" y="429"/>
            <a:chExt cx="1425" cy="2396"/>
          </a:xfrm>
        </p:grpSpPr>
        <p:sp>
          <p:nvSpPr>
            <p:cNvPr id="230" name="Freeform 221">
              <a:extLst>
                <a:ext uri="{FF2B5EF4-FFF2-40B4-BE49-F238E27FC236}">
                  <a16:creationId xmlns:a16="http://schemas.microsoft.com/office/drawing/2014/main" id="{72E2375B-D2CD-524D-99CC-9AA1332B0E2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1" name="Rectangle 222">
              <a:extLst>
                <a:ext uri="{FF2B5EF4-FFF2-40B4-BE49-F238E27FC236}">
                  <a16:creationId xmlns:a16="http://schemas.microsoft.com/office/drawing/2014/main" id="{9A46A85F-576F-5549-8CE1-4D6375E6E22B}"/>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Freeform 223">
              <a:extLst>
                <a:ext uri="{FF2B5EF4-FFF2-40B4-BE49-F238E27FC236}">
                  <a16:creationId xmlns:a16="http://schemas.microsoft.com/office/drawing/2014/main" id="{2AC2D8E6-5479-B547-832A-A4D633663DE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3" name="Freeform 224">
              <a:extLst>
                <a:ext uri="{FF2B5EF4-FFF2-40B4-BE49-F238E27FC236}">
                  <a16:creationId xmlns:a16="http://schemas.microsoft.com/office/drawing/2014/main" id="{F5154C64-E9B4-9B4B-ADCB-BF7CEFAA6ED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4" name="Rectangle 225">
              <a:extLst>
                <a:ext uri="{FF2B5EF4-FFF2-40B4-BE49-F238E27FC236}">
                  <a16:creationId xmlns:a16="http://schemas.microsoft.com/office/drawing/2014/main" id="{20BD3C08-A36B-8C47-A9E1-98E61BCD2361}"/>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5" name="Group 226">
              <a:extLst>
                <a:ext uri="{FF2B5EF4-FFF2-40B4-BE49-F238E27FC236}">
                  <a16:creationId xmlns:a16="http://schemas.microsoft.com/office/drawing/2014/main" id="{BA9CB11E-6522-2A4E-B926-6BB8F2D61B29}"/>
                </a:ext>
              </a:extLst>
            </p:cNvPr>
            <p:cNvGrpSpPr>
              <a:grpSpLocks/>
            </p:cNvGrpSpPr>
            <p:nvPr/>
          </p:nvGrpSpPr>
          <p:grpSpPr bwMode="auto">
            <a:xfrm>
              <a:off x="4749" y="668"/>
              <a:ext cx="581" cy="145"/>
              <a:chOff x="614" y="2568"/>
              <a:chExt cx="725" cy="139"/>
            </a:xfrm>
          </p:grpSpPr>
          <p:sp>
            <p:nvSpPr>
              <p:cNvPr id="260" name="AutoShape 227">
                <a:extLst>
                  <a:ext uri="{FF2B5EF4-FFF2-40B4-BE49-F238E27FC236}">
                    <a16:creationId xmlns:a16="http://schemas.microsoft.com/office/drawing/2014/main" id="{A66F61C7-D146-2444-9233-EEEFDA6DB534}"/>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1" name="AutoShape 228">
                <a:extLst>
                  <a:ext uri="{FF2B5EF4-FFF2-40B4-BE49-F238E27FC236}">
                    <a16:creationId xmlns:a16="http://schemas.microsoft.com/office/drawing/2014/main" id="{C237943C-1D9E-C340-92B4-E279FE5EB9A1}"/>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29">
              <a:extLst>
                <a:ext uri="{FF2B5EF4-FFF2-40B4-BE49-F238E27FC236}">
                  <a16:creationId xmlns:a16="http://schemas.microsoft.com/office/drawing/2014/main" id="{C81D6CA2-B425-4946-AE7A-8E40C0836516}"/>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7" name="Group 230">
              <a:extLst>
                <a:ext uri="{FF2B5EF4-FFF2-40B4-BE49-F238E27FC236}">
                  <a16:creationId xmlns:a16="http://schemas.microsoft.com/office/drawing/2014/main" id="{E1CF8BC0-EDFE-2A4B-A9FD-D7352BEF920B}"/>
                </a:ext>
              </a:extLst>
            </p:cNvPr>
            <p:cNvGrpSpPr>
              <a:grpSpLocks/>
            </p:cNvGrpSpPr>
            <p:nvPr/>
          </p:nvGrpSpPr>
          <p:grpSpPr bwMode="auto">
            <a:xfrm>
              <a:off x="4747" y="994"/>
              <a:ext cx="581" cy="134"/>
              <a:chOff x="614" y="2568"/>
              <a:chExt cx="725" cy="139"/>
            </a:xfrm>
          </p:grpSpPr>
          <p:sp>
            <p:nvSpPr>
              <p:cNvPr id="258" name="AutoShape 231">
                <a:extLst>
                  <a:ext uri="{FF2B5EF4-FFF2-40B4-BE49-F238E27FC236}">
                    <a16:creationId xmlns:a16="http://schemas.microsoft.com/office/drawing/2014/main" id="{0A9026E3-01D2-A044-85D9-3C22E36B944E}"/>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9" name="AutoShape 232">
                <a:extLst>
                  <a:ext uri="{FF2B5EF4-FFF2-40B4-BE49-F238E27FC236}">
                    <a16:creationId xmlns:a16="http://schemas.microsoft.com/office/drawing/2014/main" id="{89380DF0-55D0-544B-ABE2-D6ADD8851B2B}"/>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8" name="Rectangle 233">
              <a:extLst>
                <a:ext uri="{FF2B5EF4-FFF2-40B4-BE49-F238E27FC236}">
                  <a16:creationId xmlns:a16="http://schemas.microsoft.com/office/drawing/2014/main" id="{DF34371F-6EF2-844A-9475-6B8ECC1E25C3}"/>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Rectangle 234">
              <a:extLst>
                <a:ext uri="{FF2B5EF4-FFF2-40B4-BE49-F238E27FC236}">
                  <a16:creationId xmlns:a16="http://schemas.microsoft.com/office/drawing/2014/main" id="{7BF59601-B231-7F4D-B6B7-74CA58AE9412}"/>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40" name="Group 235">
              <a:extLst>
                <a:ext uri="{FF2B5EF4-FFF2-40B4-BE49-F238E27FC236}">
                  <a16:creationId xmlns:a16="http://schemas.microsoft.com/office/drawing/2014/main" id="{653CAD17-3E1A-0A44-BF50-DB027FAD871F}"/>
                </a:ext>
              </a:extLst>
            </p:cNvPr>
            <p:cNvGrpSpPr>
              <a:grpSpLocks/>
            </p:cNvGrpSpPr>
            <p:nvPr/>
          </p:nvGrpSpPr>
          <p:grpSpPr bwMode="auto">
            <a:xfrm>
              <a:off x="4735" y="1627"/>
              <a:ext cx="582" cy="151"/>
              <a:chOff x="614" y="2568"/>
              <a:chExt cx="725" cy="139"/>
            </a:xfrm>
          </p:grpSpPr>
          <p:sp>
            <p:nvSpPr>
              <p:cNvPr id="256" name="AutoShape 236">
                <a:extLst>
                  <a:ext uri="{FF2B5EF4-FFF2-40B4-BE49-F238E27FC236}">
                    <a16:creationId xmlns:a16="http://schemas.microsoft.com/office/drawing/2014/main" id="{2AB347AE-B389-704D-8A3A-F1B0478B7030}"/>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7" name="AutoShape 237">
                <a:extLst>
                  <a:ext uri="{FF2B5EF4-FFF2-40B4-BE49-F238E27FC236}">
                    <a16:creationId xmlns:a16="http://schemas.microsoft.com/office/drawing/2014/main" id="{F96FEA1E-5620-D24E-93C8-5E69D78BD082}"/>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1" name="Freeform 238">
              <a:extLst>
                <a:ext uri="{FF2B5EF4-FFF2-40B4-BE49-F238E27FC236}">
                  <a16:creationId xmlns:a16="http://schemas.microsoft.com/office/drawing/2014/main" id="{84910C8E-8844-DE49-A1A3-762F8BB12AF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2" name="Group 239">
              <a:extLst>
                <a:ext uri="{FF2B5EF4-FFF2-40B4-BE49-F238E27FC236}">
                  <a16:creationId xmlns:a16="http://schemas.microsoft.com/office/drawing/2014/main" id="{BBBD2321-95AE-9C40-B018-8ECE1F278C87}"/>
                </a:ext>
              </a:extLst>
            </p:cNvPr>
            <p:cNvGrpSpPr>
              <a:grpSpLocks/>
            </p:cNvGrpSpPr>
            <p:nvPr/>
          </p:nvGrpSpPr>
          <p:grpSpPr bwMode="auto">
            <a:xfrm>
              <a:off x="4739" y="1327"/>
              <a:ext cx="582" cy="139"/>
              <a:chOff x="614" y="2568"/>
              <a:chExt cx="725" cy="139"/>
            </a:xfrm>
          </p:grpSpPr>
          <p:sp>
            <p:nvSpPr>
              <p:cNvPr id="254" name="AutoShape 240">
                <a:extLst>
                  <a:ext uri="{FF2B5EF4-FFF2-40B4-BE49-F238E27FC236}">
                    <a16:creationId xmlns:a16="http://schemas.microsoft.com/office/drawing/2014/main" id="{5F0A8B0F-BFF3-D645-8BC2-E03084A7359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5" name="AutoShape 241">
                <a:extLst>
                  <a:ext uri="{FF2B5EF4-FFF2-40B4-BE49-F238E27FC236}">
                    <a16:creationId xmlns:a16="http://schemas.microsoft.com/office/drawing/2014/main" id="{F04409C4-53CF-1E47-924D-AAE899D78D5A}"/>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3" name="Rectangle 242">
              <a:extLst>
                <a:ext uri="{FF2B5EF4-FFF2-40B4-BE49-F238E27FC236}">
                  <a16:creationId xmlns:a16="http://schemas.microsoft.com/office/drawing/2014/main" id="{B79FB686-7827-8648-B573-39D9BD56AEA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Freeform 243">
              <a:extLst>
                <a:ext uri="{FF2B5EF4-FFF2-40B4-BE49-F238E27FC236}">
                  <a16:creationId xmlns:a16="http://schemas.microsoft.com/office/drawing/2014/main" id="{FDD2EBD5-F1D6-1A40-89DB-A8C30D93187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5" name="Freeform 244">
              <a:extLst>
                <a:ext uri="{FF2B5EF4-FFF2-40B4-BE49-F238E27FC236}">
                  <a16:creationId xmlns:a16="http://schemas.microsoft.com/office/drawing/2014/main" id="{CE0C4D67-AE5D-BA4D-8695-DB491DDD2F0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6" name="Oval 245">
              <a:extLst>
                <a:ext uri="{FF2B5EF4-FFF2-40B4-BE49-F238E27FC236}">
                  <a16:creationId xmlns:a16="http://schemas.microsoft.com/office/drawing/2014/main" id="{F37BD5E1-82F5-4442-A0E8-832E39193FEE}"/>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7" name="Freeform 246">
              <a:extLst>
                <a:ext uri="{FF2B5EF4-FFF2-40B4-BE49-F238E27FC236}">
                  <a16:creationId xmlns:a16="http://schemas.microsoft.com/office/drawing/2014/main" id="{65CB1E0E-0881-3D44-874F-DFDC02FDDF7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8" name="AutoShape 247">
              <a:extLst>
                <a:ext uri="{FF2B5EF4-FFF2-40B4-BE49-F238E27FC236}">
                  <a16:creationId xmlns:a16="http://schemas.microsoft.com/office/drawing/2014/main" id="{6DADA001-6CFD-B446-972E-A78724803E36}"/>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9" name="AutoShape 248">
              <a:extLst>
                <a:ext uri="{FF2B5EF4-FFF2-40B4-BE49-F238E27FC236}">
                  <a16:creationId xmlns:a16="http://schemas.microsoft.com/office/drawing/2014/main" id="{3A9F1280-193F-A148-B533-A4E2BCD4EE1D}"/>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Oval 249">
              <a:extLst>
                <a:ext uri="{FF2B5EF4-FFF2-40B4-BE49-F238E27FC236}">
                  <a16:creationId xmlns:a16="http://schemas.microsoft.com/office/drawing/2014/main" id="{64151D18-1A99-BB43-8662-5409F09FC64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1" name="Oval 250">
              <a:extLst>
                <a:ext uri="{FF2B5EF4-FFF2-40B4-BE49-F238E27FC236}">
                  <a16:creationId xmlns:a16="http://schemas.microsoft.com/office/drawing/2014/main" id="{86E3B505-373D-FA41-AC57-224E553E6727}"/>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52" name="Oval 251">
              <a:extLst>
                <a:ext uri="{FF2B5EF4-FFF2-40B4-BE49-F238E27FC236}">
                  <a16:creationId xmlns:a16="http://schemas.microsoft.com/office/drawing/2014/main" id="{3E492A9C-D2EF-444F-9F40-D87F1FF8E812}"/>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3" name="Rectangle 252">
              <a:extLst>
                <a:ext uri="{FF2B5EF4-FFF2-40B4-BE49-F238E27FC236}">
                  <a16:creationId xmlns:a16="http://schemas.microsoft.com/office/drawing/2014/main" id="{B30ABD37-057E-DC41-B1A5-29A2C423603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7" name="Slide Number Placeholder 2">
            <a:extLst>
              <a:ext uri="{FF2B5EF4-FFF2-40B4-BE49-F238E27FC236}">
                <a16:creationId xmlns:a16="http://schemas.microsoft.com/office/drawing/2014/main" id="{7A20C98F-8CB3-904A-A136-78573229D8F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271510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dissolve">
                                      <p:cBhvr>
                                        <p:cTn id="7" dur="500"/>
                                        <p:tgtEl>
                                          <p:spTgt spid="15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4"/>
                                        </p:tgtEl>
                                        <p:attrNameLst>
                                          <p:attrName>style.visibility</p:attrName>
                                        </p:attrNameLst>
                                      </p:cBhvr>
                                      <p:to>
                                        <p:strVal val="visible"/>
                                      </p:to>
                                    </p:set>
                                    <p:animEffect transition="in" filter="dissolve">
                                      <p:cBhvr>
                                        <p:cTn id="10" dur="500"/>
                                        <p:tgtEl>
                                          <p:spTgt spid="19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88"/>
                                        </p:tgtEl>
                                        <p:attrNameLst>
                                          <p:attrName>style.visibility</p:attrName>
                                        </p:attrNameLst>
                                      </p:cBhvr>
                                      <p:to>
                                        <p:strVal val="visible"/>
                                      </p:to>
                                    </p:set>
                                    <p:animEffect transition="in" filter="dissolve">
                                      <p:cBhvr>
                                        <p:cTn id="15" dur="500"/>
                                        <p:tgtEl>
                                          <p:spTgt spid="188"/>
                                        </p:tgtEl>
                                      </p:cBhvr>
                                    </p:animEffect>
                                  </p:childTnLst>
                                </p:cTn>
                              </p:par>
                              <p:par>
                                <p:cTn id="16" presetID="9" presetClass="entr" presetSubtype="0" fill="hold" nodeType="withEffect">
                                  <p:stCondLst>
                                    <p:cond delay="0"/>
                                  </p:stCondLst>
                                  <p:childTnLst>
                                    <p:set>
                                      <p:cBhvr>
                                        <p:cTn id="17" dur="1" fill="hold">
                                          <p:stCondLst>
                                            <p:cond delay="0"/>
                                          </p:stCondLst>
                                        </p:cTn>
                                        <p:tgtEl>
                                          <p:spTgt spid="193">
                                            <p:txEl>
                                              <p:pRg st="0" end="0"/>
                                            </p:txEl>
                                          </p:spTgt>
                                        </p:tgtEl>
                                        <p:attrNameLst>
                                          <p:attrName>style.visibility</p:attrName>
                                        </p:attrNameLst>
                                      </p:cBhvr>
                                      <p:to>
                                        <p:strVal val="visible"/>
                                      </p:to>
                                    </p:set>
                                    <p:animEffect transition="in" filter="dissolve">
                                      <p:cBhvr>
                                        <p:cTn id="18" dur="500"/>
                                        <p:tgtEl>
                                          <p:spTgt spid="19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70"/>
                                        </p:tgtEl>
                                        <p:attrNameLst>
                                          <p:attrName>style.visibility</p:attrName>
                                        </p:attrNameLst>
                                      </p:cBhvr>
                                      <p:to>
                                        <p:strVal val="visible"/>
                                      </p:to>
                                    </p:set>
                                    <p:animEffect transition="in" filter="dissolve">
                                      <p:cBhvr>
                                        <p:cTn id="23" dur="500"/>
                                        <p:tgtEl>
                                          <p:spTgt spid="170"/>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38">
                                            <p:txEl>
                                              <p:pRg st="0" end="0"/>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95"/>
                                        </p:tgtEl>
                                        <p:attrNameLst>
                                          <p:attrName>style.visibility</p:attrName>
                                        </p:attrNameLst>
                                      </p:cBhvr>
                                      <p:to>
                                        <p:strVal val="visible"/>
                                      </p:to>
                                    </p:set>
                                    <p:animEffect transition="in" filter="wipe(up)">
                                      <p:cBhvr>
                                        <p:cTn id="32" dur="500"/>
                                        <p:tgtEl>
                                          <p:spTgt spid="195"/>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97"/>
                                        </p:tgtEl>
                                        <p:attrNameLst>
                                          <p:attrName>style.visibility</p:attrName>
                                        </p:attrNameLst>
                                      </p:cBhvr>
                                      <p:to>
                                        <p:strVal val="visible"/>
                                      </p:to>
                                    </p:set>
                                    <p:animEffect transition="in" filter="wipe(left)">
                                      <p:cBhvr>
                                        <p:cTn id="36" dur="500"/>
                                        <p:tgtEl>
                                          <p:spTgt spid="197"/>
                                        </p:tgtEl>
                                      </p:cBhvr>
                                    </p:animEffect>
                                  </p:childTnLst>
                                </p:cTn>
                              </p:par>
                              <p:par>
                                <p:cTn id="37" presetID="22" presetClass="entr" presetSubtype="8" fill="hold" nodeType="withEffect">
                                  <p:stCondLst>
                                    <p:cond delay="0"/>
                                  </p:stCondLst>
                                  <p:childTnLst>
                                    <p:set>
                                      <p:cBhvr>
                                        <p:cTn id="38" dur="1" fill="hold">
                                          <p:stCondLst>
                                            <p:cond delay="0"/>
                                          </p:stCondLst>
                                        </p:cTn>
                                        <p:tgtEl>
                                          <p:spTgt spid="207"/>
                                        </p:tgtEl>
                                        <p:attrNameLst>
                                          <p:attrName>style.visibility</p:attrName>
                                        </p:attrNameLst>
                                      </p:cBhvr>
                                      <p:to>
                                        <p:strVal val="visible"/>
                                      </p:to>
                                    </p:set>
                                    <p:animEffect transition="in" filter="wipe(left)">
                                      <p:cBhvr>
                                        <p:cTn id="39" dur="500"/>
                                        <p:tgtEl>
                                          <p:spTgt spid="207"/>
                                        </p:tgtEl>
                                      </p:cBhvr>
                                    </p:animEffect>
                                  </p:childTnLst>
                                </p:cTn>
                              </p:par>
                            </p:childTnLst>
                          </p:cTn>
                        </p:par>
                        <p:par>
                          <p:cTn id="40" fill="hold">
                            <p:stCondLst>
                              <p:cond delay="1000"/>
                            </p:stCondLst>
                            <p:childTnLst>
                              <p:par>
                                <p:cTn id="41" presetID="22" presetClass="entr" presetSubtype="4" fill="hold" nodeType="afterEffect">
                                  <p:stCondLst>
                                    <p:cond delay="0"/>
                                  </p:stCondLst>
                                  <p:childTnLst>
                                    <p:set>
                                      <p:cBhvr>
                                        <p:cTn id="42" dur="1" fill="hold">
                                          <p:stCondLst>
                                            <p:cond delay="0"/>
                                          </p:stCondLst>
                                        </p:cTn>
                                        <p:tgtEl>
                                          <p:spTgt spid="196"/>
                                        </p:tgtEl>
                                        <p:attrNameLst>
                                          <p:attrName>style.visibility</p:attrName>
                                        </p:attrNameLst>
                                      </p:cBhvr>
                                      <p:to>
                                        <p:strVal val="visible"/>
                                      </p:to>
                                    </p:set>
                                    <p:animEffect transition="in" filter="wipe(down)">
                                      <p:cBhvr>
                                        <p:cTn id="43" dur="500"/>
                                        <p:tgtEl>
                                          <p:spTgt spid="19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98"/>
                                        </p:tgtEl>
                                        <p:attrNameLst>
                                          <p:attrName>style.visibility</p:attrName>
                                        </p:attrNameLst>
                                      </p:cBhvr>
                                      <p:to>
                                        <p:strVal val="visible"/>
                                      </p:to>
                                    </p:set>
                                    <p:animEffect transition="in" filter="wipe(up)">
                                      <p:cBhvr>
                                        <p:cTn id="48" dur="500"/>
                                        <p:tgtEl>
                                          <p:spTgt spid="198"/>
                                        </p:tgtEl>
                                      </p:cBhvr>
                                    </p:animEffect>
                                  </p:childTnLst>
                                </p:cTn>
                              </p:par>
                            </p:childTnLst>
                          </p:cTn>
                        </p:par>
                        <p:par>
                          <p:cTn id="49" fill="hold">
                            <p:stCondLst>
                              <p:cond delay="500"/>
                            </p:stCondLst>
                            <p:childTnLst>
                              <p:par>
                                <p:cTn id="50" presetID="22" presetClass="entr" presetSubtype="2" fill="hold" nodeType="afterEffect">
                                  <p:stCondLst>
                                    <p:cond delay="0"/>
                                  </p:stCondLst>
                                  <p:childTnLst>
                                    <p:set>
                                      <p:cBhvr>
                                        <p:cTn id="51" dur="1" fill="hold">
                                          <p:stCondLst>
                                            <p:cond delay="0"/>
                                          </p:stCondLst>
                                        </p:cTn>
                                        <p:tgtEl>
                                          <p:spTgt spid="199"/>
                                        </p:tgtEl>
                                        <p:attrNameLst>
                                          <p:attrName>style.visibility</p:attrName>
                                        </p:attrNameLst>
                                      </p:cBhvr>
                                      <p:to>
                                        <p:strVal val="visible"/>
                                      </p:to>
                                    </p:set>
                                    <p:animEffect transition="in" filter="wipe(right)">
                                      <p:cBhvr>
                                        <p:cTn id="52" dur="500"/>
                                        <p:tgtEl>
                                          <p:spTgt spid="199"/>
                                        </p:tgtEl>
                                      </p:cBhvr>
                                    </p:animEffect>
                                  </p:childTnLst>
                                </p:cTn>
                              </p:par>
                              <p:par>
                                <p:cTn id="53" presetID="22" presetClass="entr" presetSubtype="2" fill="hold" nodeType="withEffect">
                                  <p:stCondLst>
                                    <p:cond delay="0"/>
                                  </p:stCondLst>
                                  <p:childTnLst>
                                    <p:set>
                                      <p:cBhvr>
                                        <p:cTn id="54" dur="1" fill="hold">
                                          <p:stCondLst>
                                            <p:cond delay="0"/>
                                          </p:stCondLst>
                                        </p:cTn>
                                        <p:tgtEl>
                                          <p:spTgt spid="211"/>
                                        </p:tgtEl>
                                        <p:attrNameLst>
                                          <p:attrName>style.visibility</p:attrName>
                                        </p:attrNameLst>
                                      </p:cBhvr>
                                      <p:to>
                                        <p:strVal val="visible"/>
                                      </p:to>
                                    </p:set>
                                    <p:animEffect transition="in" filter="wipe(right)">
                                      <p:cBhvr>
                                        <p:cTn id="55" dur="500"/>
                                        <p:tgtEl>
                                          <p:spTgt spid="211"/>
                                        </p:tgtEl>
                                      </p:cBhvr>
                                    </p:animEffect>
                                  </p:childTnLst>
                                </p:cTn>
                              </p:par>
                            </p:childTnLst>
                          </p:cTn>
                        </p:par>
                        <p:par>
                          <p:cTn id="56" fill="hold">
                            <p:stCondLst>
                              <p:cond delay="1000"/>
                            </p:stCondLst>
                            <p:childTnLst>
                              <p:par>
                                <p:cTn id="57" presetID="22" presetClass="entr" presetSubtype="4" fill="hold" nodeType="afterEffect">
                                  <p:stCondLst>
                                    <p:cond delay="0"/>
                                  </p:stCondLst>
                                  <p:childTnLst>
                                    <p:set>
                                      <p:cBhvr>
                                        <p:cTn id="58" dur="1" fill="hold">
                                          <p:stCondLst>
                                            <p:cond delay="0"/>
                                          </p:stCondLst>
                                        </p:cTn>
                                        <p:tgtEl>
                                          <p:spTgt spid="200"/>
                                        </p:tgtEl>
                                        <p:attrNameLst>
                                          <p:attrName>style.visibility</p:attrName>
                                        </p:attrNameLst>
                                      </p:cBhvr>
                                      <p:to>
                                        <p:strVal val="visible"/>
                                      </p:to>
                                    </p:set>
                                    <p:animEffect transition="in" filter="wipe(down)">
                                      <p:cBhvr>
                                        <p:cTn id="59" dur="500"/>
                                        <p:tgtEl>
                                          <p:spTgt spid="20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204"/>
                                        </p:tgtEl>
                                        <p:attrNameLst>
                                          <p:attrName>style.visibility</p:attrName>
                                        </p:attrNameLst>
                                      </p:cBhvr>
                                      <p:to>
                                        <p:strVal val="visible"/>
                                      </p:to>
                                    </p:set>
                                    <p:animEffect transition="in" filter="wipe(up)">
                                      <p:cBhvr>
                                        <p:cTn id="64" dur="500"/>
                                        <p:tgtEl>
                                          <p:spTgt spid="204"/>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206"/>
                                        </p:tgtEl>
                                        <p:attrNameLst>
                                          <p:attrName>style.visibility</p:attrName>
                                        </p:attrNameLst>
                                      </p:cBhvr>
                                      <p:to>
                                        <p:strVal val="visible"/>
                                      </p:to>
                                    </p:set>
                                    <p:animEffect transition="in" filter="wipe(left)">
                                      <p:cBhvr>
                                        <p:cTn id="68" dur="500"/>
                                        <p:tgtEl>
                                          <p:spTgt spid="206"/>
                                        </p:tgtEl>
                                      </p:cBhvr>
                                    </p:animEffect>
                                  </p:childTnLst>
                                </p:cTn>
                              </p:par>
                              <p:par>
                                <p:cTn id="69" presetID="22" presetClass="entr" presetSubtype="8" fill="hold" nodeType="withEffect">
                                  <p:stCondLst>
                                    <p:cond delay="0"/>
                                  </p:stCondLst>
                                  <p:childTnLst>
                                    <p:set>
                                      <p:cBhvr>
                                        <p:cTn id="70" dur="1" fill="hold">
                                          <p:stCondLst>
                                            <p:cond delay="0"/>
                                          </p:stCondLst>
                                        </p:cTn>
                                        <p:tgtEl>
                                          <p:spTgt spid="215"/>
                                        </p:tgtEl>
                                        <p:attrNameLst>
                                          <p:attrName>style.visibility</p:attrName>
                                        </p:attrNameLst>
                                      </p:cBhvr>
                                      <p:to>
                                        <p:strVal val="visible"/>
                                      </p:to>
                                    </p:set>
                                    <p:animEffect transition="in" filter="wipe(left)">
                                      <p:cBhvr>
                                        <p:cTn id="71" dur="500"/>
                                        <p:tgtEl>
                                          <p:spTgt spid="215"/>
                                        </p:tgtEl>
                                      </p:cBhvr>
                                    </p:animEffect>
                                  </p:childTnLst>
                                </p:cTn>
                              </p:par>
                            </p:childTnLst>
                          </p:cTn>
                        </p:par>
                        <p:par>
                          <p:cTn id="72" fill="hold">
                            <p:stCondLst>
                              <p:cond delay="1000"/>
                            </p:stCondLst>
                            <p:childTnLst>
                              <p:par>
                                <p:cTn id="73" presetID="22" presetClass="entr" presetSubtype="4" fill="hold" nodeType="afterEffect">
                                  <p:stCondLst>
                                    <p:cond delay="0"/>
                                  </p:stCondLst>
                                  <p:childTnLst>
                                    <p:set>
                                      <p:cBhvr>
                                        <p:cTn id="74" dur="1" fill="hold">
                                          <p:stCondLst>
                                            <p:cond delay="0"/>
                                          </p:stCondLst>
                                        </p:cTn>
                                        <p:tgtEl>
                                          <p:spTgt spid="202"/>
                                        </p:tgtEl>
                                        <p:attrNameLst>
                                          <p:attrName>style.visibility</p:attrName>
                                        </p:attrNameLst>
                                      </p:cBhvr>
                                      <p:to>
                                        <p:strVal val="visible"/>
                                      </p:to>
                                    </p:set>
                                    <p:animEffect transition="in" filter="wipe(down)">
                                      <p:cBhvr>
                                        <p:cTn id="75" dur="500"/>
                                        <p:tgtEl>
                                          <p:spTgt spid="202"/>
                                        </p:tgtEl>
                                      </p:cBhvr>
                                    </p:animEffect>
                                  </p:childTnLst>
                                </p:cTn>
                              </p:par>
                            </p:childTnLst>
                          </p:cTn>
                        </p:par>
                        <p:par>
                          <p:cTn id="76" fill="hold">
                            <p:stCondLst>
                              <p:cond delay="1500"/>
                            </p:stCondLst>
                            <p:childTnLst>
                              <p:par>
                                <p:cTn id="77" presetID="22" presetClass="entr" presetSubtype="1" fill="hold" nodeType="afterEffect">
                                  <p:stCondLst>
                                    <p:cond delay="0"/>
                                  </p:stCondLst>
                                  <p:childTnLst>
                                    <p:set>
                                      <p:cBhvr>
                                        <p:cTn id="78" dur="1" fill="hold">
                                          <p:stCondLst>
                                            <p:cond delay="0"/>
                                          </p:stCondLst>
                                        </p:cTn>
                                        <p:tgtEl>
                                          <p:spTgt spid="201"/>
                                        </p:tgtEl>
                                        <p:attrNameLst>
                                          <p:attrName>style.visibility</p:attrName>
                                        </p:attrNameLst>
                                      </p:cBhvr>
                                      <p:to>
                                        <p:strVal val="visible"/>
                                      </p:to>
                                    </p:set>
                                    <p:animEffect transition="in" filter="wipe(up)">
                                      <p:cBhvr>
                                        <p:cTn id="79" dur="500"/>
                                        <p:tgtEl>
                                          <p:spTgt spid="201"/>
                                        </p:tgtEl>
                                      </p:cBhvr>
                                    </p:animEffect>
                                  </p:childTnLst>
                                </p:cTn>
                              </p:par>
                            </p:childTnLst>
                          </p:cTn>
                        </p:par>
                        <p:par>
                          <p:cTn id="80" fill="hold">
                            <p:stCondLst>
                              <p:cond delay="2000"/>
                            </p:stCondLst>
                            <p:childTnLst>
                              <p:par>
                                <p:cTn id="81" presetID="22" presetClass="entr" presetSubtype="2" fill="hold" nodeType="afterEffect">
                                  <p:stCondLst>
                                    <p:cond delay="0"/>
                                  </p:stCondLst>
                                  <p:childTnLst>
                                    <p:set>
                                      <p:cBhvr>
                                        <p:cTn id="82" dur="1" fill="hold">
                                          <p:stCondLst>
                                            <p:cond delay="0"/>
                                          </p:stCondLst>
                                        </p:cTn>
                                        <p:tgtEl>
                                          <p:spTgt spid="205"/>
                                        </p:tgtEl>
                                        <p:attrNameLst>
                                          <p:attrName>style.visibility</p:attrName>
                                        </p:attrNameLst>
                                      </p:cBhvr>
                                      <p:to>
                                        <p:strVal val="visible"/>
                                      </p:to>
                                    </p:set>
                                    <p:animEffect transition="in" filter="wipe(right)">
                                      <p:cBhvr>
                                        <p:cTn id="83" dur="500"/>
                                        <p:tgtEl>
                                          <p:spTgt spid="205"/>
                                        </p:tgtEl>
                                      </p:cBhvr>
                                    </p:animEffect>
                                  </p:childTnLst>
                                </p:cTn>
                              </p:par>
                              <p:par>
                                <p:cTn id="84" presetID="22" presetClass="entr" presetSubtype="2" fill="hold" nodeType="withEffect">
                                  <p:stCondLst>
                                    <p:cond delay="0"/>
                                  </p:stCondLst>
                                  <p:childTnLst>
                                    <p:set>
                                      <p:cBhvr>
                                        <p:cTn id="85" dur="1" fill="hold">
                                          <p:stCondLst>
                                            <p:cond delay="0"/>
                                          </p:stCondLst>
                                        </p:cTn>
                                        <p:tgtEl>
                                          <p:spTgt spid="219"/>
                                        </p:tgtEl>
                                        <p:attrNameLst>
                                          <p:attrName>style.visibility</p:attrName>
                                        </p:attrNameLst>
                                      </p:cBhvr>
                                      <p:to>
                                        <p:strVal val="visible"/>
                                      </p:to>
                                    </p:set>
                                    <p:animEffect transition="in" filter="wipe(right)">
                                      <p:cBhvr>
                                        <p:cTn id="86" dur="500"/>
                                        <p:tgtEl>
                                          <p:spTgt spid="219"/>
                                        </p:tgtEl>
                                      </p:cBhvr>
                                    </p:animEffect>
                                  </p:childTnLst>
                                </p:cTn>
                              </p:par>
                            </p:childTnLst>
                          </p:cTn>
                        </p:par>
                        <p:par>
                          <p:cTn id="87" fill="hold">
                            <p:stCondLst>
                              <p:cond delay="2500"/>
                            </p:stCondLst>
                            <p:childTnLst>
                              <p:par>
                                <p:cTn id="88" presetID="22" presetClass="entr" presetSubtype="4" fill="hold" nodeType="afterEffect">
                                  <p:stCondLst>
                                    <p:cond delay="0"/>
                                  </p:stCondLst>
                                  <p:childTnLst>
                                    <p:set>
                                      <p:cBhvr>
                                        <p:cTn id="89" dur="1" fill="hold">
                                          <p:stCondLst>
                                            <p:cond delay="0"/>
                                          </p:stCondLst>
                                        </p:cTn>
                                        <p:tgtEl>
                                          <p:spTgt spid="203"/>
                                        </p:tgtEl>
                                        <p:attrNameLst>
                                          <p:attrName>style.visibility</p:attrName>
                                        </p:attrNameLst>
                                      </p:cBhvr>
                                      <p:to>
                                        <p:strVal val="visible"/>
                                      </p:to>
                                    </p:set>
                                    <p:animEffect transition="in" filter="wipe(down)">
                                      <p:cBhvr>
                                        <p:cTn id="90"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build="p"/>
      <p:bldP spid="19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Connection-oriented demultiplexing</a:t>
            </a:r>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798689" y="1495768"/>
            <a:ext cx="4770837" cy="294261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marR="0" lvl="0" indent="-2762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TCP socket identified by </a:t>
            </a: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4-</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tuple: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source IP address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source port number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dest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IP address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dest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port number</a:t>
            </a:r>
          </a:p>
        </p:txBody>
      </p:sp>
      <p:sp>
        <p:nvSpPr>
          <p:cNvPr id="129" name="Rectangle 4">
            <a:extLst>
              <a:ext uri="{FF2B5EF4-FFF2-40B4-BE49-F238E27FC236}">
                <a16:creationId xmlns:a16="http://schemas.microsoft.com/office/drawing/2014/main" id="{C6672EA0-BD4C-AA4C-B327-560672E6A24F}"/>
              </a:ext>
            </a:extLst>
          </p:cNvPr>
          <p:cNvSpPr txBox="1">
            <a:spLocks noChangeArrowheads="1"/>
          </p:cNvSpPr>
          <p:nvPr/>
        </p:nvSpPr>
        <p:spPr>
          <a:xfrm>
            <a:off x="6476415" y="1510775"/>
            <a:ext cx="5036711" cy="497477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8313" marR="0" lvl="0" indent="-2889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server may support many simultaneous TCP sockets: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socket identified by its own 4-tuple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socket associated with a different connecting client</a:t>
            </a:r>
          </a:p>
        </p:txBody>
      </p:sp>
      <p:sp>
        <p:nvSpPr>
          <p:cNvPr id="6" name="Rectangle 3">
            <a:extLst>
              <a:ext uri="{FF2B5EF4-FFF2-40B4-BE49-F238E27FC236}">
                <a16:creationId xmlns:a16="http://schemas.microsoft.com/office/drawing/2014/main" id="{2C2F9B28-FDD9-B047-936F-1DE26AECFD6E}"/>
              </a:ext>
            </a:extLst>
          </p:cNvPr>
          <p:cNvSpPr txBox="1">
            <a:spLocks noChangeArrowheads="1"/>
          </p:cNvSpPr>
          <p:nvPr/>
        </p:nvSpPr>
        <p:spPr>
          <a:xfrm>
            <a:off x="784324" y="4284442"/>
            <a:ext cx="4770837" cy="222857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marR="0" lvl="0" indent="-26987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demux: receiver uses </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all four values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(4-tuple)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to direct segment to appropriate socket</a:t>
            </a:r>
          </a:p>
        </p:txBody>
      </p:sp>
      <p:sp>
        <p:nvSpPr>
          <p:cNvPr id="7" name="Slide Number Placeholder 2">
            <a:extLst>
              <a:ext uri="{FF2B5EF4-FFF2-40B4-BE49-F238E27FC236}">
                <a16:creationId xmlns:a16="http://schemas.microsoft.com/office/drawing/2014/main" id="{AE4D1361-EDC2-E64C-B2A5-339968681A4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134549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dissolve">
                                      <p:cBhvr>
                                        <p:cTn id="12"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2C414-E851-40E1-BD18-D520C42F54A9}"/>
              </a:ext>
            </a:extLst>
          </p:cNvPr>
          <p:cNvSpPr>
            <a:spLocks noGrp="1"/>
          </p:cNvSpPr>
          <p:nvPr>
            <p:ph type="title"/>
          </p:nvPr>
        </p:nvSpPr>
        <p:spPr/>
        <p:txBody>
          <a:bodyPr/>
          <a:lstStyle/>
          <a:p>
            <a:r>
              <a:rPr lang="en-US" dirty="0"/>
              <a:t>Connection-oriented demultiplexing</a:t>
            </a:r>
            <a:endParaRPr lang="en-IN" dirty="0"/>
          </a:p>
        </p:txBody>
      </p:sp>
      <p:pic>
        <p:nvPicPr>
          <p:cNvPr id="6" name="Content Placeholder 5">
            <a:extLst>
              <a:ext uri="{FF2B5EF4-FFF2-40B4-BE49-F238E27FC236}">
                <a16:creationId xmlns:a16="http://schemas.microsoft.com/office/drawing/2014/main" id="{033263EC-AED2-4483-9C08-48100A6B9CFF}"/>
              </a:ext>
            </a:extLst>
          </p:cNvPr>
          <p:cNvPicPr>
            <a:picLocks noGrp="1" noChangeAspect="1"/>
          </p:cNvPicPr>
          <p:nvPr>
            <p:ph sz="half" idx="1"/>
          </p:nvPr>
        </p:nvPicPr>
        <p:blipFill>
          <a:blip r:embed="rId2"/>
          <a:stretch>
            <a:fillRect/>
          </a:stretch>
        </p:blipFill>
        <p:spPr>
          <a:xfrm>
            <a:off x="2381808" y="1473084"/>
            <a:ext cx="7656828" cy="4784497"/>
          </a:xfrm>
          <a:prstGeom prst="rect">
            <a:avLst/>
          </a:prstGeom>
        </p:spPr>
      </p:pic>
      <p:sp>
        <p:nvSpPr>
          <p:cNvPr id="5" name="Slide Number Placeholder 4">
            <a:extLst>
              <a:ext uri="{FF2B5EF4-FFF2-40B4-BE49-F238E27FC236}">
                <a16:creationId xmlns:a16="http://schemas.microsoft.com/office/drawing/2014/main" id="{D66E29A5-E2FD-413C-AEFE-EAFA241EFAB1}"/>
              </a:ext>
            </a:extLst>
          </p:cNvPr>
          <p:cNvSpPr>
            <a:spLocks noGrp="1"/>
          </p:cNvSpPr>
          <p:nvPr>
            <p:ph type="sldNum" sz="quarter" idx="4"/>
          </p:nvPr>
        </p:nvSpPr>
        <p:spPr/>
        <p:txBody>
          <a:bodyPr/>
          <a:lstStyle/>
          <a:p>
            <a:r>
              <a:rPr lang="en-US"/>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3538604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C74B-14C2-41B8-9F0F-59D96AD30999}"/>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9FE46D94-6388-4365-8E04-184B2F7CEEC2}"/>
              </a:ext>
            </a:extLst>
          </p:cNvPr>
          <p:cNvPicPr>
            <a:picLocks noGrp="1" noChangeAspect="1"/>
          </p:cNvPicPr>
          <p:nvPr>
            <p:ph sz="half" idx="1"/>
          </p:nvPr>
        </p:nvPicPr>
        <p:blipFill>
          <a:blip r:embed="rId2"/>
          <a:stretch>
            <a:fillRect/>
          </a:stretch>
        </p:blipFill>
        <p:spPr>
          <a:xfrm>
            <a:off x="838200" y="1721317"/>
            <a:ext cx="9297417" cy="2584022"/>
          </a:xfrm>
          <a:prstGeom prst="rect">
            <a:avLst/>
          </a:prstGeom>
        </p:spPr>
      </p:pic>
      <p:sp>
        <p:nvSpPr>
          <p:cNvPr id="5" name="Slide Number Placeholder 4">
            <a:extLst>
              <a:ext uri="{FF2B5EF4-FFF2-40B4-BE49-F238E27FC236}">
                <a16:creationId xmlns:a16="http://schemas.microsoft.com/office/drawing/2014/main" id="{FB13293E-87AA-4A8C-9110-D2D266E294B5}"/>
              </a:ext>
            </a:extLst>
          </p:cNvPr>
          <p:cNvSpPr>
            <a:spLocks noGrp="1"/>
          </p:cNvSpPr>
          <p:nvPr>
            <p:ph type="sldNum" sz="quarter" idx="4"/>
          </p:nvPr>
        </p:nvSpPr>
        <p:spPr/>
        <p:txBody>
          <a:bodyPr/>
          <a:lstStyle/>
          <a:p>
            <a:r>
              <a:rPr lang="en-US"/>
              <a:t>Transport Layer: 3-</a:t>
            </a:r>
            <a:fld id="{C4204591-24BD-A542-B9D5-F8D8A88D2FEE}" type="slidenum">
              <a:rPr lang="en-US" smtClean="0"/>
              <a:pPr/>
              <a:t>13</a:t>
            </a:fld>
            <a:endParaRPr lang="en-US" dirty="0"/>
          </a:p>
        </p:txBody>
      </p:sp>
    </p:spTree>
    <p:extLst>
      <p:ext uri="{BB962C8B-B14F-4D97-AF65-F5344CB8AC3E}">
        <p14:creationId xmlns:p14="http://schemas.microsoft.com/office/powerpoint/2010/main" val="3815275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6218-CEB4-42AC-8B53-688CA54E9B03}"/>
              </a:ext>
            </a:extLst>
          </p:cNvPr>
          <p:cNvSpPr>
            <a:spLocks noGrp="1"/>
          </p:cNvSpPr>
          <p:nvPr>
            <p:ph type="title"/>
          </p:nvPr>
        </p:nvSpPr>
        <p:spPr/>
        <p:txBody>
          <a:bodyPr>
            <a:noAutofit/>
          </a:bodyPr>
          <a:lstStyle/>
          <a:p>
            <a:pPr algn="ctr"/>
            <a:r>
              <a:rPr lang="en-US" sz="3200" b="0" dirty="0"/>
              <a:t>Two clients, using the same destination port number (80) to communicate with the same Web server application</a:t>
            </a:r>
            <a:endParaRPr lang="en-IN" sz="3200" dirty="0"/>
          </a:p>
        </p:txBody>
      </p:sp>
      <p:pic>
        <p:nvPicPr>
          <p:cNvPr id="6" name="Content Placeholder 5">
            <a:extLst>
              <a:ext uri="{FF2B5EF4-FFF2-40B4-BE49-F238E27FC236}">
                <a16:creationId xmlns:a16="http://schemas.microsoft.com/office/drawing/2014/main" id="{1585FAF5-598E-42FB-8026-D5393EC836F1}"/>
              </a:ext>
            </a:extLst>
          </p:cNvPr>
          <p:cNvPicPr>
            <a:picLocks noGrp="1" noChangeAspect="1"/>
          </p:cNvPicPr>
          <p:nvPr>
            <p:ph sz="half" idx="1"/>
          </p:nvPr>
        </p:nvPicPr>
        <p:blipFill>
          <a:blip r:embed="rId2"/>
          <a:stretch>
            <a:fillRect/>
          </a:stretch>
        </p:blipFill>
        <p:spPr>
          <a:xfrm>
            <a:off x="2182939" y="1564395"/>
            <a:ext cx="8194950" cy="4383968"/>
          </a:xfrm>
          <a:prstGeom prst="rect">
            <a:avLst/>
          </a:prstGeom>
        </p:spPr>
      </p:pic>
      <p:sp>
        <p:nvSpPr>
          <p:cNvPr id="5" name="Slide Number Placeholder 4">
            <a:extLst>
              <a:ext uri="{FF2B5EF4-FFF2-40B4-BE49-F238E27FC236}">
                <a16:creationId xmlns:a16="http://schemas.microsoft.com/office/drawing/2014/main" id="{D2A5EEA6-58A0-4492-A3EF-AF0B6E23E132}"/>
              </a:ext>
            </a:extLst>
          </p:cNvPr>
          <p:cNvSpPr>
            <a:spLocks noGrp="1"/>
          </p:cNvSpPr>
          <p:nvPr>
            <p:ph type="sldNum" sz="quarter" idx="4"/>
          </p:nvPr>
        </p:nvSpPr>
        <p:spPr/>
        <p:txBody>
          <a:bodyPr/>
          <a:lstStyle/>
          <a:p>
            <a:r>
              <a:rPr lang="en-US"/>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123921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Connection-oriented demultiplexing: example</a:t>
            </a:r>
          </a:p>
        </p:txBody>
      </p:sp>
      <p:sp>
        <p:nvSpPr>
          <p:cNvPr id="525" name="Freeform 5">
            <a:extLst>
              <a:ext uri="{FF2B5EF4-FFF2-40B4-BE49-F238E27FC236}">
                <a16:creationId xmlns:a16="http://schemas.microsoft.com/office/drawing/2014/main" id="{7563D6BB-009E-434A-9515-A6EAB0387E14}"/>
              </a:ext>
            </a:extLst>
          </p:cNvPr>
          <p:cNvSpPr>
            <a:spLocks/>
          </p:cNvSpPr>
          <p:nvPr/>
        </p:nvSpPr>
        <p:spPr bwMode="auto">
          <a:xfrm>
            <a:off x="4454236" y="1478017"/>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6" name="Freeform 6">
            <a:extLst>
              <a:ext uri="{FF2B5EF4-FFF2-40B4-BE49-F238E27FC236}">
                <a16:creationId xmlns:a16="http://schemas.microsoft.com/office/drawing/2014/main" id="{C4ABCFDA-E140-9C42-81C9-A5B5F6C446B3}"/>
              </a:ext>
            </a:extLst>
          </p:cNvPr>
          <p:cNvSpPr>
            <a:spLocks/>
          </p:cNvSpPr>
          <p:nvPr/>
        </p:nvSpPr>
        <p:spPr bwMode="auto">
          <a:xfrm>
            <a:off x="2052349" y="1657405"/>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7" name="Rectangle 23">
            <a:extLst>
              <a:ext uri="{FF2B5EF4-FFF2-40B4-BE49-F238E27FC236}">
                <a16:creationId xmlns:a16="http://schemas.microsoft.com/office/drawing/2014/main" id="{614F9B0E-1109-CC4B-8E75-55A6C74E6801}"/>
              </a:ext>
            </a:extLst>
          </p:cNvPr>
          <p:cNvSpPr>
            <a:spLocks noChangeArrowheads="1"/>
          </p:cNvSpPr>
          <p:nvPr/>
        </p:nvSpPr>
        <p:spPr bwMode="auto">
          <a:xfrm>
            <a:off x="2568286" y="1624067"/>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28" name="Rectangle 24">
            <a:extLst>
              <a:ext uri="{FF2B5EF4-FFF2-40B4-BE49-F238E27FC236}">
                <a16:creationId xmlns:a16="http://schemas.microsoft.com/office/drawing/2014/main" id="{CBD89C10-5030-2D42-A25D-BFEC970A8F20}"/>
              </a:ext>
            </a:extLst>
          </p:cNvPr>
          <p:cNvSpPr>
            <a:spLocks noChangeArrowheads="1"/>
          </p:cNvSpPr>
          <p:nvPr/>
        </p:nvSpPr>
        <p:spPr bwMode="auto">
          <a:xfrm>
            <a:off x="2530186" y="1678042"/>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29" name="Line 25">
            <a:extLst>
              <a:ext uri="{FF2B5EF4-FFF2-40B4-BE49-F238E27FC236}">
                <a16:creationId xmlns:a16="http://schemas.microsoft.com/office/drawing/2014/main" id="{8D7EF085-D57A-E243-98DA-BEAC54BDE621}"/>
              </a:ext>
            </a:extLst>
          </p:cNvPr>
          <p:cNvSpPr>
            <a:spLocks noChangeShapeType="1"/>
          </p:cNvSpPr>
          <p:nvPr/>
        </p:nvSpPr>
        <p:spPr bwMode="auto">
          <a:xfrm>
            <a:off x="2539711" y="2438455"/>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0" name="Text Box 26">
            <a:extLst>
              <a:ext uri="{FF2B5EF4-FFF2-40B4-BE49-F238E27FC236}">
                <a16:creationId xmlns:a16="http://schemas.microsoft.com/office/drawing/2014/main" id="{0ED9175A-7497-DD4F-9C18-ACF0B19F7B51}"/>
              </a:ext>
            </a:extLst>
          </p:cNvPr>
          <p:cNvSpPr txBox="1">
            <a:spLocks noChangeArrowheads="1"/>
          </p:cNvSpPr>
          <p:nvPr/>
        </p:nvSpPr>
        <p:spPr bwMode="auto">
          <a:xfrm>
            <a:off x="2496849" y="2420992"/>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531" name="Line 27">
            <a:extLst>
              <a:ext uri="{FF2B5EF4-FFF2-40B4-BE49-F238E27FC236}">
                <a16:creationId xmlns:a16="http://schemas.microsoft.com/office/drawing/2014/main" id="{FD58D124-018E-3848-9BB8-DBD51A4D851F}"/>
              </a:ext>
            </a:extLst>
          </p:cNvPr>
          <p:cNvSpPr>
            <a:spLocks noChangeShapeType="1"/>
          </p:cNvSpPr>
          <p:nvPr/>
        </p:nvSpPr>
        <p:spPr bwMode="auto">
          <a:xfrm>
            <a:off x="2547649" y="2759130"/>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2" name="Line 28">
            <a:extLst>
              <a:ext uri="{FF2B5EF4-FFF2-40B4-BE49-F238E27FC236}">
                <a16:creationId xmlns:a16="http://schemas.microsoft.com/office/drawing/2014/main" id="{15074162-585A-BC41-91A3-96670F676188}"/>
              </a:ext>
            </a:extLst>
          </p:cNvPr>
          <p:cNvSpPr>
            <a:spLocks noChangeShapeType="1"/>
          </p:cNvSpPr>
          <p:nvPr/>
        </p:nvSpPr>
        <p:spPr bwMode="auto">
          <a:xfrm>
            <a:off x="2533361" y="306869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3" name="Line 29">
            <a:extLst>
              <a:ext uri="{FF2B5EF4-FFF2-40B4-BE49-F238E27FC236}">
                <a16:creationId xmlns:a16="http://schemas.microsoft.com/office/drawing/2014/main" id="{23B1C83D-9CD1-7141-80E9-B23AF1A120DD}"/>
              </a:ext>
            </a:extLst>
          </p:cNvPr>
          <p:cNvSpPr>
            <a:spLocks noChangeShapeType="1"/>
          </p:cNvSpPr>
          <p:nvPr/>
        </p:nvSpPr>
        <p:spPr bwMode="auto">
          <a:xfrm>
            <a:off x="2533361" y="335444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4" name="Text Box 26">
            <a:extLst>
              <a:ext uri="{FF2B5EF4-FFF2-40B4-BE49-F238E27FC236}">
                <a16:creationId xmlns:a16="http://schemas.microsoft.com/office/drawing/2014/main" id="{18FD1BAC-22E0-E743-8D85-AD83603D9B8E}"/>
              </a:ext>
            </a:extLst>
          </p:cNvPr>
          <p:cNvSpPr txBox="1">
            <a:spLocks noChangeArrowheads="1"/>
          </p:cNvSpPr>
          <p:nvPr/>
        </p:nvSpPr>
        <p:spPr bwMode="auto">
          <a:xfrm>
            <a:off x="2531774" y="166851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535" name="Text Box 26">
            <a:extLst>
              <a:ext uri="{FF2B5EF4-FFF2-40B4-BE49-F238E27FC236}">
                <a16:creationId xmlns:a16="http://schemas.microsoft.com/office/drawing/2014/main" id="{FA894B51-006F-1749-B20E-08F2DE8012E4}"/>
              </a:ext>
            </a:extLst>
          </p:cNvPr>
          <p:cNvSpPr txBox="1">
            <a:spLocks noChangeArrowheads="1"/>
          </p:cNvSpPr>
          <p:nvPr/>
        </p:nvSpPr>
        <p:spPr bwMode="auto">
          <a:xfrm>
            <a:off x="2487324" y="332586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536" name="Text Box 26">
            <a:extLst>
              <a:ext uri="{FF2B5EF4-FFF2-40B4-BE49-F238E27FC236}">
                <a16:creationId xmlns:a16="http://schemas.microsoft.com/office/drawing/2014/main" id="{986C06D0-2FCC-3C4A-8B26-E47FEACB6A76}"/>
              </a:ext>
            </a:extLst>
          </p:cNvPr>
          <p:cNvSpPr txBox="1">
            <a:spLocks noChangeArrowheads="1"/>
          </p:cNvSpPr>
          <p:nvPr/>
        </p:nvSpPr>
        <p:spPr bwMode="auto">
          <a:xfrm>
            <a:off x="2506374" y="304011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537" name="Text Box 26">
            <a:extLst>
              <a:ext uri="{FF2B5EF4-FFF2-40B4-BE49-F238E27FC236}">
                <a16:creationId xmlns:a16="http://schemas.microsoft.com/office/drawing/2014/main" id="{D076C0F4-C178-3E40-A5A0-D9949817A0D5}"/>
              </a:ext>
            </a:extLst>
          </p:cNvPr>
          <p:cNvSpPr txBox="1">
            <a:spLocks noChangeArrowheads="1"/>
          </p:cNvSpPr>
          <p:nvPr/>
        </p:nvSpPr>
        <p:spPr bwMode="auto">
          <a:xfrm>
            <a:off x="2496849" y="2744842"/>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538" name="Oval 19">
            <a:extLst>
              <a:ext uri="{FF2B5EF4-FFF2-40B4-BE49-F238E27FC236}">
                <a16:creationId xmlns:a16="http://schemas.microsoft.com/office/drawing/2014/main" id="{2A71094C-18F7-1C46-8C86-7D8D2BCF2A4A}"/>
              </a:ext>
            </a:extLst>
          </p:cNvPr>
          <p:cNvSpPr>
            <a:spLocks noChangeArrowheads="1"/>
          </p:cNvSpPr>
          <p:nvPr/>
        </p:nvSpPr>
        <p:spPr bwMode="auto">
          <a:xfrm>
            <a:off x="2866736" y="195426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P1</a:t>
            </a: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539" name="Group 20">
            <a:extLst>
              <a:ext uri="{FF2B5EF4-FFF2-40B4-BE49-F238E27FC236}">
                <a16:creationId xmlns:a16="http://schemas.microsoft.com/office/drawing/2014/main" id="{554821E9-E611-EF4C-B4ED-D5A7C0CB1055}"/>
              </a:ext>
            </a:extLst>
          </p:cNvPr>
          <p:cNvGrpSpPr>
            <a:grpSpLocks/>
          </p:cNvGrpSpPr>
          <p:nvPr/>
        </p:nvGrpSpPr>
        <p:grpSpPr bwMode="auto">
          <a:xfrm>
            <a:off x="2834986" y="2278117"/>
            <a:ext cx="620713" cy="228600"/>
            <a:chOff x="1287" y="2524"/>
            <a:chExt cx="260" cy="100"/>
          </a:xfrm>
        </p:grpSpPr>
        <p:sp>
          <p:nvSpPr>
            <p:cNvPr id="540" name="Rectangle 21">
              <a:extLst>
                <a:ext uri="{FF2B5EF4-FFF2-40B4-BE49-F238E27FC236}">
                  <a16:creationId xmlns:a16="http://schemas.microsoft.com/office/drawing/2014/main" id="{BEBEC012-39DF-A541-830E-6FF13ADAE416}"/>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41" name="Rectangle 22">
              <a:extLst>
                <a:ext uri="{FF2B5EF4-FFF2-40B4-BE49-F238E27FC236}">
                  <a16:creationId xmlns:a16="http://schemas.microsoft.com/office/drawing/2014/main" id="{C54558CA-8722-654B-8BA0-93D5C1A67599}"/>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42" name="Rectangle 23">
              <a:extLst>
                <a:ext uri="{FF2B5EF4-FFF2-40B4-BE49-F238E27FC236}">
                  <a16:creationId xmlns:a16="http://schemas.microsoft.com/office/drawing/2014/main" id="{4ECE78D1-C229-D44C-8946-E5D845D77BF2}"/>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43" name="Rectangle 24">
              <a:extLst>
                <a:ext uri="{FF2B5EF4-FFF2-40B4-BE49-F238E27FC236}">
                  <a16:creationId xmlns:a16="http://schemas.microsoft.com/office/drawing/2014/main" id="{5E3A5BD1-1D56-EA42-9427-8F0D4DE4565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544" name="Rectangle 23">
            <a:extLst>
              <a:ext uri="{FF2B5EF4-FFF2-40B4-BE49-F238E27FC236}">
                <a16:creationId xmlns:a16="http://schemas.microsoft.com/office/drawing/2014/main" id="{9E1F493A-E899-D74E-919F-F4A60AE16A91}"/>
              </a:ext>
            </a:extLst>
          </p:cNvPr>
          <p:cNvSpPr>
            <a:spLocks noChangeArrowheads="1"/>
          </p:cNvSpPr>
          <p:nvPr/>
        </p:nvSpPr>
        <p:spPr bwMode="auto">
          <a:xfrm>
            <a:off x="5067011" y="1390705"/>
            <a:ext cx="2254250"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45" name="Rectangle 24">
            <a:extLst>
              <a:ext uri="{FF2B5EF4-FFF2-40B4-BE49-F238E27FC236}">
                <a16:creationId xmlns:a16="http://schemas.microsoft.com/office/drawing/2014/main" id="{49A0180F-5303-6E4C-99BF-19A56AAC7C47}"/>
              </a:ext>
            </a:extLst>
          </p:cNvPr>
          <p:cNvSpPr>
            <a:spLocks noChangeArrowheads="1"/>
          </p:cNvSpPr>
          <p:nvPr/>
        </p:nvSpPr>
        <p:spPr bwMode="auto">
          <a:xfrm>
            <a:off x="5013036" y="1468492"/>
            <a:ext cx="22256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46" name="Text Box 26">
            <a:extLst>
              <a:ext uri="{FF2B5EF4-FFF2-40B4-BE49-F238E27FC236}">
                <a16:creationId xmlns:a16="http://schemas.microsoft.com/office/drawing/2014/main" id="{23645F4E-01B1-3349-9A7F-2F24FC4C20C1}"/>
              </a:ext>
            </a:extLst>
          </p:cNvPr>
          <p:cNvSpPr txBox="1">
            <a:spLocks noChangeArrowheads="1"/>
          </p:cNvSpPr>
          <p:nvPr/>
        </p:nvSpPr>
        <p:spPr bwMode="auto">
          <a:xfrm>
            <a:off x="5438486" y="219715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547" name="Text Box 26">
            <a:extLst>
              <a:ext uri="{FF2B5EF4-FFF2-40B4-BE49-F238E27FC236}">
                <a16:creationId xmlns:a16="http://schemas.microsoft.com/office/drawing/2014/main" id="{9BED65C6-B309-8B4D-A068-E19EDFD116B4}"/>
              </a:ext>
            </a:extLst>
          </p:cNvPr>
          <p:cNvSpPr txBox="1">
            <a:spLocks noChangeArrowheads="1"/>
          </p:cNvSpPr>
          <p:nvPr/>
        </p:nvSpPr>
        <p:spPr bwMode="auto">
          <a:xfrm>
            <a:off x="5492461" y="142086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548" name="Text Box 26">
            <a:extLst>
              <a:ext uri="{FF2B5EF4-FFF2-40B4-BE49-F238E27FC236}">
                <a16:creationId xmlns:a16="http://schemas.microsoft.com/office/drawing/2014/main" id="{3CB9E7E9-E087-BE49-8C38-35C7E48BA8C9}"/>
              </a:ext>
            </a:extLst>
          </p:cNvPr>
          <p:cNvSpPr txBox="1">
            <a:spLocks noChangeArrowheads="1"/>
          </p:cNvSpPr>
          <p:nvPr/>
        </p:nvSpPr>
        <p:spPr bwMode="auto">
          <a:xfrm>
            <a:off x="5432136" y="310203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549" name="Text Box 26">
            <a:extLst>
              <a:ext uri="{FF2B5EF4-FFF2-40B4-BE49-F238E27FC236}">
                <a16:creationId xmlns:a16="http://schemas.microsoft.com/office/drawing/2014/main" id="{75F58D18-0976-1447-9AE8-E0B265BD816E}"/>
              </a:ext>
            </a:extLst>
          </p:cNvPr>
          <p:cNvSpPr txBox="1">
            <a:spLocks noChangeArrowheads="1"/>
          </p:cNvSpPr>
          <p:nvPr/>
        </p:nvSpPr>
        <p:spPr bwMode="auto">
          <a:xfrm>
            <a:off x="5432136" y="281628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550" name="Oval 36">
            <a:extLst>
              <a:ext uri="{FF2B5EF4-FFF2-40B4-BE49-F238E27FC236}">
                <a16:creationId xmlns:a16="http://schemas.microsoft.com/office/drawing/2014/main" id="{2A7F5798-BB67-5141-90FB-F51D589E31C6}"/>
              </a:ext>
            </a:extLst>
          </p:cNvPr>
          <p:cNvSpPr>
            <a:spLocks noChangeArrowheads="1"/>
          </p:cNvSpPr>
          <p:nvPr/>
        </p:nvSpPr>
        <p:spPr bwMode="auto">
          <a:xfrm>
            <a:off x="5132099" y="1727255"/>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P4</a:t>
            </a:r>
          </a:p>
        </p:txBody>
      </p:sp>
      <p:sp>
        <p:nvSpPr>
          <p:cNvPr id="551" name="Rectangle 23">
            <a:extLst>
              <a:ext uri="{FF2B5EF4-FFF2-40B4-BE49-F238E27FC236}">
                <a16:creationId xmlns:a16="http://schemas.microsoft.com/office/drawing/2014/main" id="{32D4A7B1-DBDA-2B47-8511-4BF8176AC42D}"/>
              </a:ext>
            </a:extLst>
          </p:cNvPr>
          <p:cNvSpPr>
            <a:spLocks noChangeArrowheads="1"/>
          </p:cNvSpPr>
          <p:nvPr/>
        </p:nvSpPr>
        <p:spPr bwMode="auto">
          <a:xfrm>
            <a:off x="8202324" y="1616130"/>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2" name="Rectangle 24">
            <a:extLst>
              <a:ext uri="{FF2B5EF4-FFF2-40B4-BE49-F238E27FC236}">
                <a16:creationId xmlns:a16="http://schemas.microsoft.com/office/drawing/2014/main" id="{DAED2C2D-612B-9147-A573-0082B49107C3}"/>
              </a:ext>
            </a:extLst>
          </p:cNvPr>
          <p:cNvSpPr>
            <a:spLocks noChangeArrowheads="1"/>
          </p:cNvSpPr>
          <p:nvPr/>
        </p:nvSpPr>
        <p:spPr bwMode="auto">
          <a:xfrm>
            <a:off x="8005474" y="1657405"/>
            <a:ext cx="1631950"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3" name="Text Box 26">
            <a:extLst>
              <a:ext uri="{FF2B5EF4-FFF2-40B4-BE49-F238E27FC236}">
                <a16:creationId xmlns:a16="http://schemas.microsoft.com/office/drawing/2014/main" id="{892F681F-FE7B-A849-886C-3DB4B71509FA}"/>
              </a:ext>
            </a:extLst>
          </p:cNvPr>
          <p:cNvSpPr txBox="1">
            <a:spLocks noChangeArrowheads="1"/>
          </p:cNvSpPr>
          <p:nvPr/>
        </p:nvSpPr>
        <p:spPr bwMode="auto">
          <a:xfrm>
            <a:off x="8130886" y="241305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554" name="Text Box 26">
            <a:extLst>
              <a:ext uri="{FF2B5EF4-FFF2-40B4-BE49-F238E27FC236}">
                <a16:creationId xmlns:a16="http://schemas.microsoft.com/office/drawing/2014/main" id="{5491EDD3-2B63-BB4B-87FA-02E376F65B7B}"/>
              </a:ext>
            </a:extLst>
          </p:cNvPr>
          <p:cNvSpPr txBox="1">
            <a:spLocks noChangeArrowheads="1"/>
          </p:cNvSpPr>
          <p:nvPr/>
        </p:nvSpPr>
        <p:spPr bwMode="auto">
          <a:xfrm>
            <a:off x="8165811" y="166058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555" name="Text Box 26">
            <a:extLst>
              <a:ext uri="{FF2B5EF4-FFF2-40B4-BE49-F238E27FC236}">
                <a16:creationId xmlns:a16="http://schemas.microsoft.com/office/drawing/2014/main" id="{0FB3A86D-FFE9-EE49-AD2D-1E57E4F89BB1}"/>
              </a:ext>
            </a:extLst>
          </p:cNvPr>
          <p:cNvSpPr txBox="1">
            <a:spLocks noChangeArrowheads="1"/>
          </p:cNvSpPr>
          <p:nvPr/>
        </p:nvSpPr>
        <p:spPr bwMode="auto">
          <a:xfrm>
            <a:off x="8173749" y="331793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556" name="Text Box 26">
            <a:extLst>
              <a:ext uri="{FF2B5EF4-FFF2-40B4-BE49-F238E27FC236}">
                <a16:creationId xmlns:a16="http://schemas.microsoft.com/office/drawing/2014/main" id="{9835580D-BB7F-E64A-B442-691428929F13}"/>
              </a:ext>
            </a:extLst>
          </p:cNvPr>
          <p:cNvSpPr txBox="1">
            <a:spLocks noChangeArrowheads="1"/>
          </p:cNvSpPr>
          <p:nvPr/>
        </p:nvSpPr>
        <p:spPr bwMode="auto">
          <a:xfrm>
            <a:off x="8140411" y="303218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557" name="Text Box 26">
            <a:extLst>
              <a:ext uri="{FF2B5EF4-FFF2-40B4-BE49-F238E27FC236}">
                <a16:creationId xmlns:a16="http://schemas.microsoft.com/office/drawing/2014/main" id="{31A0CB7D-BCCB-D34A-A890-C07347817887}"/>
              </a:ext>
            </a:extLst>
          </p:cNvPr>
          <p:cNvSpPr txBox="1">
            <a:spLocks noChangeArrowheads="1"/>
          </p:cNvSpPr>
          <p:nvPr/>
        </p:nvSpPr>
        <p:spPr bwMode="auto">
          <a:xfrm>
            <a:off x="8130886" y="273690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558" name="Oval 53">
            <a:extLst>
              <a:ext uri="{FF2B5EF4-FFF2-40B4-BE49-F238E27FC236}">
                <a16:creationId xmlns:a16="http://schemas.microsoft.com/office/drawing/2014/main" id="{F992062B-7A21-DE43-9A4C-83CB3E9CB13F}"/>
              </a:ext>
            </a:extLst>
          </p:cNvPr>
          <p:cNvSpPr>
            <a:spLocks noChangeArrowheads="1"/>
          </p:cNvSpPr>
          <p:nvPr/>
        </p:nvSpPr>
        <p:spPr bwMode="auto">
          <a:xfrm>
            <a:off x="8086436" y="195426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P2</a:t>
            </a:r>
          </a:p>
        </p:txBody>
      </p:sp>
      <p:sp>
        <p:nvSpPr>
          <p:cNvPr id="559" name="Freeform 54">
            <a:extLst>
              <a:ext uri="{FF2B5EF4-FFF2-40B4-BE49-F238E27FC236}">
                <a16:creationId xmlns:a16="http://schemas.microsoft.com/office/drawing/2014/main" id="{AC38FC98-798D-384B-B25B-E64D646DDFC5}"/>
              </a:ext>
            </a:extLst>
          </p:cNvPr>
          <p:cNvSpPr>
            <a:spLocks/>
          </p:cNvSpPr>
          <p:nvPr/>
        </p:nvSpPr>
        <p:spPr bwMode="auto">
          <a:xfrm>
            <a:off x="9661236" y="1636767"/>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8" name="Text Box 93">
            <a:extLst>
              <a:ext uri="{FF2B5EF4-FFF2-40B4-BE49-F238E27FC236}">
                <a16:creationId xmlns:a16="http://schemas.microsoft.com/office/drawing/2014/main" id="{28913095-A052-0A42-8972-4D75538256AD}"/>
              </a:ext>
            </a:extLst>
          </p:cNvPr>
          <p:cNvSpPr txBox="1">
            <a:spLocks noChangeArrowheads="1"/>
          </p:cNvSpPr>
          <p:nvPr/>
        </p:nvSpPr>
        <p:spPr bwMode="auto">
          <a:xfrm flipH="1">
            <a:off x="1723736" y="4418067"/>
            <a:ext cx="1147763" cy="5302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ill Sans MT" charset="0"/>
                <a:ea typeface="ＭＳ Ｐゴシック" charset="0"/>
                <a:cs typeface="+mn-cs"/>
              </a:rPr>
              <a:t>host: IP address A</a:t>
            </a:r>
          </a:p>
        </p:txBody>
      </p:sp>
      <p:sp>
        <p:nvSpPr>
          <p:cNvPr id="569" name="Text Box 94">
            <a:extLst>
              <a:ext uri="{FF2B5EF4-FFF2-40B4-BE49-F238E27FC236}">
                <a16:creationId xmlns:a16="http://schemas.microsoft.com/office/drawing/2014/main" id="{E982CF1A-0928-6A45-8462-D083EBC09BA7}"/>
              </a:ext>
            </a:extLst>
          </p:cNvPr>
          <p:cNvSpPr txBox="1">
            <a:spLocks noChangeArrowheads="1"/>
          </p:cNvSpPr>
          <p:nvPr/>
        </p:nvSpPr>
        <p:spPr bwMode="auto">
          <a:xfrm flipH="1">
            <a:off x="9480261" y="4314880"/>
            <a:ext cx="1147763" cy="5302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ill Sans MT" charset="0"/>
                <a:ea typeface="ＭＳ Ｐゴシック" charset="0"/>
                <a:cs typeface="+mn-cs"/>
              </a:rPr>
              <a:t>host: IP address C</a:t>
            </a:r>
          </a:p>
        </p:txBody>
      </p:sp>
      <p:sp>
        <p:nvSpPr>
          <p:cNvPr id="570" name="Line 96">
            <a:extLst>
              <a:ext uri="{FF2B5EF4-FFF2-40B4-BE49-F238E27FC236}">
                <a16:creationId xmlns:a16="http://schemas.microsoft.com/office/drawing/2014/main" id="{2EEED614-F433-E440-B256-A6E56708BB1E}"/>
              </a:ext>
            </a:extLst>
          </p:cNvPr>
          <p:cNvSpPr>
            <a:spLocks noChangeShapeType="1"/>
          </p:cNvSpPr>
          <p:nvPr/>
        </p:nvSpPr>
        <p:spPr bwMode="auto">
          <a:xfrm>
            <a:off x="4989224" y="3144892"/>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1" name="Line 97">
            <a:extLst>
              <a:ext uri="{FF2B5EF4-FFF2-40B4-BE49-F238E27FC236}">
                <a16:creationId xmlns:a16="http://schemas.microsoft.com/office/drawing/2014/main" id="{098FD8B8-DDC2-8146-812C-346AC97FA30A}"/>
              </a:ext>
            </a:extLst>
          </p:cNvPr>
          <p:cNvSpPr>
            <a:spLocks noChangeShapeType="1"/>
          </p:cNvSpPr>
          <p:nvPr/>
        </p:nvSpPr>
        <p:spPr bwMode="auto">
          <a:xfrm>
            <a:off x="5005099" y="2843267"/>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2" name="Text Box 26">
            <a:extLst>
              <a:ext uri="{FF2B5EF4-FFF2-40B4-BE49-F238E27FC236}">
                <a16:creationId xmlns:a16="http://schemas.microsoft.com/office/drawing/2014/main" id="{8BEC305F-DB39-A945-9B16-8D9FBE53F071}"/>
              </a:ext>
            </a:extLst>
          </p:cNvPr>
          <p:cNvSpPr txBox="1">
            <a:spLocks noChangeArrowheads="1"/>
          </p:cNvSpPr>
          <p:nvPr/>
        </p:nvSpPr>
        <p:spPr bwMode="auto">
          <a:xfrm>
            <a:off x="5392449" y="250830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573" name="Line 99">
            <a:extLst>
              <a:ext uri="{FF2B5EF4-FFF2-40B4-BE49-F238E27FC236}">
                <a16:creationId xmlns:a16="http://schemas.microsoft.com/office/drawing/2014/main" id="{7CB610F0-F0BE-7D49-8D7A-0F03DEB1C350}"/>
              </a:ext>
            </a:extLst>
          </p:cNvPr>
          <p:cNvSpPr>
            <a:spLocks noChangeShapeType="1"/>
          </p:cNvSpPr>
          <p:nvPr/>
        </p:nvSpPr>
        <p:spPr bwMode="auto">
          <a:xfrm>
            <a:off x="5008274" y="2521005"/>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4" name="Line 100">
            <a:extLst>
              <a:ext uri="{FF2B5EF4-FFF2-40B4-BE49-F238E27FC236}">
                <a16:creationId xmlns:a16="http://schemas.microsoft.com/office/drawing/2014/main" id="{1D31CBE9-4A8E-BC4A-A036-BA509B6CF5EA}"/>
              </a:ext>
            </a:extLst>
          </p:cNvPr>
          <p:cNvSpPr>
            <a:spLocks noChangeShapeType="1"/>
          </p:cNvSpPr>
          <p:nvPr/>
        </p:nvSpPr>
        <p:spPr bwMode="auto">
          <a:xfrm>
            <a:off x="5011449" y="2198742"/>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575" name="Group 101">
            <a:extLst>
              <a:ext uri="{FF2B5EF4-FFF2-40B4-BE49-F238E27FC236}">
                <a16:creationId xmlns:a16="http://schemas.microsoft.com/office/drawing/2014/main" id="{91441727-AAD7-1140-AF05-A3D324B8DC6B}"/>
              </a:ext>
            </a:extLst>
          </p:cNvPr>
          <p:cNvGrpSpPr>
            <a:grpSpLocks/>
          </p:cNvGrpSpPr>
          <p:nvPr/>
        </p:nvGrpSpPr>
        <p:grpSpPr bwMode="auto">
          <a:xfrm>
            <a:off x="5187661" y="2060630"/>
            <a:ext cx="473075" cy="228600"/>
            <a:chOff x="1287" y="2524"/>
            <a:chExt cx="260" cy="100"/>
          </a:xfrm>
        </p:grpSpPr>
        <p:sp>
          <p:nvSpPr>
            <p:cNvPr id="576" name="Rectangle 102">
              <a:extLst>
                <a:ext uri="{FF2B5EF4-FFF2-40B4-BE49-F238E27FC236}">
                  <a16:creationId xmlns:a16="http://schemas.microsoft.com/office/drawing/2014/main" id="{70206F36-B050-C844-A36F-47D4A71EE355}"/>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7" name="Rectangle 103">
              <a:extLst>
                <a:ext uri="{FF2B5EF4-FFF2-40B4-BE49-F238E27FC236}">
                  <a16:creationId xmlns:a16="http://schemas.microsoft.com/office/drawing/2014/main" id="{5F70B84F-C600-BF41-9794-BB79AB85B4E5}"/>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8" name="Rectangle 104">
              <a:extLst>
                <a:ext uri="{FF2B5EF4-FFF2-40B4-BE49-F238E27FC236}">
                  <a16:creationId xmlns:a16="http://schemas.microsoft.com/office/drawing/2014/main" id="{9352E66B-31B1-0244-9A00-013E38F02047}"/>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9" name="Rectangle 105">
              <a:extLst>
                <a:ext uri="{FF2B5EF4-FFF2-40B4-BE49-F238E27FC236}">
                  <a16:creationId xmlns:a16="http://schemas.microsoft.com/office/drawing/2014/main" id="{A72F3B32-D2F7-184C-B710-25A136D5D06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580" name="Oval 106">
            <a:extLst>
              <a:ext uri="{FF2B5EF4-FFF2-40B4-BE49-F238E27FC236}">
                <a16:creationId xmlns:a16="http://schemas.microsoft.com/office/drawing/2014/main" id="{775F6544-1FEC-F148-8D8D-09EF67871450}"/>
              </a:ext>
            </a:extLst>
          </p:cNvPr>
          <p:cNvSpPr>
            <a:spLocks noChangeArrowheads="1"/>
          </p:cNvSpPr>
          <p:nvPr/>
        </p:nvSpPr>
        <p:spPr bwMode="auto">
          <a:xfrm>
            <a:off x="6498936" y="173201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P6</a:t>
            </a:r>
          </a:p>
        </p:txBody>
      </p:sp>
      <p:sp>
        <p:nvSpPr>
          <p:cNvPr id="581" name="Oval 112">
            <a:extLst>
              <a:ext uri="{FF2B5EF4-FFF2-40B4-BE49-F238E27FC236}">
                <a16:creationId xmlns:a16="http://schemas.microsoft.com/office/drawing/2014/main" id="{1A7AFB65-C131-864D-BB01-D752C9A2B6C2}"/>
              </a:ext>
            </a:extLst>
          </p:cNvPr>
          <p:cNvSpPr>
            <a:spLocks noChangeArrowheads="1"/>
          </p:cNvSpPr>
          <p:nvPr/>
        </p:nvSpPr>
        <p:spPr bwMode="auto">
          <a:xfrm>
            <a:off x="5827424" y="1730430"/>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P5</a:t>
            </a:r>
          </a:p>
        </p:txBody>
      </p:sp>
      <p:grpSp>
        <p:nvGrpSpPr>
          <p:cNvPr id="582" name="Group 118">
            <a:extLst>
              <a:ext uri="{FF2B5EF4-FFF2-40B4-BE49-F238E27FC236}">
                <a16:creationId xmlns:a16="http://schemas.microsoft.com/office/drawing/2014/main" id="{72BEDA86-D9D6-634C-B8D0-F4A3A594F27F}"/>
              </a:ext>
            </a:extLst>
          </p:cNvPr>
          <p:cNvGrpSpPr>
            <a:grpSpLocks/>
          </p:cNvGrpSpPr>
          <p:nvPr/>
        </p:nvGrpSpPr>
        <p:grpSpPr bwMode="auto">
          <a:xfrm>
            <a:off x="5892511" y="2065392"/>
            <a:ext cx="473075" cy="228600"/>
            <a:chOff x="1287" y="2524"/>
            <a:chExt cx="260" cy="100"/>
          </a:xfrm>
        </p:grpSpPr>
        <p:sp>
          <p:nvSpPr>
            <p:cNvPr id="583" name="Rectangle 119">
              <a:extLst>
                <a:ext uri="{FF2B5EF4-FFF2-40B4-BE49-F238E27FC236}">
                  <a16:creationId xmlns:a16="http://schemas.microsoft.com/office/drawing/2014/main" id="{967F16BC-79F0-D947-BF48-B3D4DFC37607}"/>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4" name="Rectangle 120">
              <a:extLst>
                <a:ext uri="{FF2B5EF4-FFF2-40B4-BE49-F238E27FC236}">
                  <a16:creationId xmlns:a16="http://schemas.microsoft.com/office/drawing/2014/main" id="{E857091F-6411-DE41-A408-86F1597775F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5" name="Rectangle 121">
              <a:extLst>
                <a:ext uri="{FF2B5EF4-FFF2-40B4-BE49-F238E27FC236}">
                  <a16:creationId xmlns:a16="http://schemas.microsoft.com/office/drawing/2014/main" id="{10EEFABE-8406-A849-8F8B-3E87430B80EE}"/>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6" name="Rectangle 122">
              <a:extLst>
                <a:ext uri="{FF2B5EF4-FFF2-40B4-BE49-F238E27FC236}">
                  <a16:creationId xmlns:a16="http://schemas.microsoft.com/office/drawing/2014/main" id="{65CA8326-C8A6-0740-8CBC-12905C529885}"/>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587" name="Group 123">
            <a:extLst>
              <a:ext uri="{FF2B5EF4-FFF2-40B4-BE49-F238E27FC236}">
                <a16:creationId xmlns:a16="http://schemas.microsoft.com/office/drawing/2014/main" id="{997E9D96-904C-5A46-A87E-C65B0FD83028}"/>
              </a:ext>
            </a:extLst>
          </p:cNvPr>
          <p:cNvGrpSpPr>
            <a:grpSpLocks/>
          </p:cNvGrpSpPr>
          <p:nvPr/>
        </p:nvGrpSpPr>
        <p:grpSpPr bwMode="auto">
          <a:xfrm>
            <a:off x="6564024" y="2070155"/>
            <a:ext cx="473075" cy="228600"/>
            <a:chOff x="1287" y="2524"/>
            <a:chExt cx="260" cy="100"/>
          </a:xfrm>
        </p:grpSpPr>
        <p:sp>
          <p:nvSpPr>
            <p:cNvPr id="588" name="Rectangle 124">
              <a:extLst>
                <a:ext uri="{FF2B5EF4-FFF2-40B4-BE49-F238E27FC236}">
                  <a16:creationId xmlns:a16="http://schemas.microsoft.com/office/drawing/2014/main" id="{83A5305C-938A-3540-92FC-D9E6B3AA52E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9" name="Rectangle 125">
              <a:extLst>
                <a:ext uri="{FF2B5EF4-FFF2-40B4-BE49-F238E27FC236}">
                  <a16:creationId xmlns:a16="http://schemas.microsoft.com/office/drawing/2014/main" id="{5B51F3FA-BED2-9741-B674-7BC7A9E263F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0" name="Rectangle 126">
              <a:extLst>
                <a:ext uri="{FF2B5EF4-FFF2-40B4-BE49-F238E27FC236}">
                  <a16:creationId xmlns:a16="http://schemas.microsoft.com/office/drawing/2014/main" id="{79C8DFFC-9ECB-D741-B85F-80F0EF7532BF}"/>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1" name="Rectangle 127">
              <a:extLst>
                <a:ext uri="{FF2B5EF4-FFF2-40B4-BE49-F238E27FC236}">
                  <a16:creationId xmlns:a16="http://schemas.microsoft.com/office/drawing/2014/main" id="{978D323D-4AE7-9141-B532-67630F4025D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592" name="Line 133">
            <a:extLst>
              <a:ext uri="{FF2B5EF4-FFF2-40B4-BE49-F238E27FC236}">
                <a16:creationId xmlns:a16="http://schemas.microsoft.com/office/drawing/2014/main" id="{B3924FC9-2487-424F-B323-57225BB1F6F0}"/>
              </a:ext>
            </a:extLst>
          </p:cNvPr>
          <p:cNvSpPr>
            <a:spLocks noChangeShapeType="1"/>
          </p:cNvSpPr>
          <p:nvPr/>
        </p:nvSpPr>
        <p:spPr bwMode="auto">
          <a:xfrm>
            <a:off x="7997536" y="3360792"/>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3" name="Line 134">
            <a:extLst>
              <a:ext uri="{FF2B5EF4-FFF2-40B4-BE49-F238E27FC236}">
                <a16:creationId xmlns:a16="http://schemas.microsoft.com/office/drawing/2014/main" id="{8C5E5D9B-06EC-8040-963A-0448FFE65135}"/>
              </a:ext>
            </a:extLst>
          </p:cNvPr>
          <p:cNvSpPr>
            <a:spLocks noChangeShapeType="1"/>
          </p:cNvSpPr>
          <p:nvPr/>
        </p:nvSpPr>
        <p:spPr bwMode="auto">
          <a:xfrm>
            <a:off x="7988011" y="3065517"/>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4" name="Line 135">
            <a:extLst>
              <a:ext uri="{FF2B5EF4-FFF2-40B4-BE49-F238E27FC236}">
                <a16:creationId xmlns:a16="http://schemas.microsoft.com/office/drawing/2014/main" id="{B6E44884-802F-C140-8F4F-ECCAD20C64C2}"/>
              </a:ext>
            </a:extLst>
          </p:cNvPr>
          <p:cNvSpPr>
            <a:spLocks noChangeShapeType="1"/>
          </p:cNvSpPr>
          <p:nvPr/>
        </p:nvSpPr>
        <p:spPr bwMode="auto">
          <a:xfrm>
            <a:off x="7988011" y="2770242"/>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5" name="Line 136">
            <a:extLst>
              <a:ext uri="{FF2B5EF4-FFF2-40B4-BE49-F238E27FC236}">
                <a16:creationId xmlns:a16="http://schemas.microsoft.com/office/drawing/2014/main" id="{267911A5-63F3-4640-87F3-C5B06264CB37}"/>
              </a:ext>
            </a:extLst>
          </p:cNvPr>
          <p:cNvSpPr>
            <a:spLocks noChangeShapeType="1"/>
          </p:cNvSpPr>
          <p:nvPr/>
        </p:nvSpPr>
        <p:spPr bwMode="auto">
          <a:xfrm>
            <a:off x="7988011" y="2465442"/>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596" name="Group 128">
            <a:extLst>
              <a:ext uri="{FF2B5EF4-FFF2-40B4-BE49-F238E27FC236}">
                <a16:creationId xmlns:a16="http://schemas.microsoft.com/office/drawing/2014/main" id="{7EE1E98D-B6C0-2C4E-AD21-6D19C0FB7F86}"/>
              </a:ext>
            </a:extLst>
          </p:cNvPr>
          <p:cNvGrpSpPr>
            <a:grpSpLocks/>
          </p:cNvGrpSpPr>
          <p:nvPr/>
        </p:nvGrpSpPr>
        <p:grpSpPr bwMode="auto">
          <a:xfrm>
            <a:off x="8140411" y="2292405"/>
            <a:ext cx="473075" cy="228600"/>
            <a:chOff x="1287" y="2524"/>
            <a:chExt cx="260" cy="100"/>
          </a:xfrm>
        </p:grpSpPr>
        <p:sp>
          <p:nvSpPr>
            <p:cNvPr id="597" name="Rectangle 129">
              <a:extLst>
                <a:ext uri="{FF2B5EF4-FFF2-40B4-BE49-F238E27FC236}">
                  <a16:creationId xmlns:a16="http://schemas.microsoft.com/office/drawing/2014/main" id="{61B34E55-D106-A049-9E71-650BFC4F134B}"/>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8" name="Rectangle 130">
              <a:extLst>
                <a:ext uri="{FF2B5EF4-FFF2-40B4-BE49-F238E27FC236}">
                  <a16:creationId xmlns:a16="http://schemas.microsoft.com/office/drawing/2014/main" id="{11316511-2186-B14B-B2A0-0967B623A5F9}"/>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9" name="Rectangle 131">
              <a:extLst>
                <a:ext uri="{FF2B5EF4-FFF2-40B4-BE49-F238E27FC236}">
                  <a16:creationId xmlns:a16="http://schemas.microsoft.com/office/drawing/2014/main" id="{7A116F04-A632-B845-B528-4E4C72A94792}"/>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0" name="Rectangle 132">
              <a:extLst>
                <a:ext uri="{FF2B5EF4-FFF2-40B4-BE49-F238E27FC236}">
                  <a16:creationId xmlns:a16="http://schemas.microsoft.com/office/drawing/2014/main" id="{4A85FADB-4AF1-F94D-8774-770D5D087635}"/>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01" name="Group 137">
            <a:extLst>
              <a:ext uri="{FF2B5EF4-FFF2-40B4-BE49-F238E27FC236}">
                <a16:creationId xmlns:a16="http://schemas.microsoft.com/office/drawing/2014/main" id="{9F60C830-B1B4-8D40-9EFA-BCF609F3183A}"/>
              </a:ext>
            </a:extLst>
          </p:cNvPr>
          <p:cNvGrpSpPr>
            <a:grpSpLocks/>
          </p:cNvGrpSpPr>
          <p:nvPr/>
        </p:nvGrpSpPr>
        <p:grpSpPr bwMode="auto">
          <a:xfrm>
            <a:off x="8935749" y="2282880"/>
            <a:ext cx="473075" cy="228600"/>
            <a:chOff x="1287" y="2524"/>
            <a:chExt cx="260" cy="100"/>
          </a:xfrm>
        </p:grpSpPr>
        <p:sp>
          <p:nvSpPr>
            <p:cNvPr id="602" name="Rectangle 138">
              <a:extLst>
                <a:ext uri="{FF2B5EF4-FFF2-40B4-BE49-F238E27FC236}">
                  <a16:creationId xmlns:a16="http://schemas.microsoft.com/office/drawing/2014/main" id="{6EF6EEDA-22BF-6241-8415-4BAB32D12862}"/>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3" name="Rectangle 139">
              <a:extLst>
                <a:ext uri="{FF2B5EF4-FFF2-40B4-BE49-F238E27FC236}">
                  <a16:creationId xmlns:a16="http://schemas.microsoft.com/office/drawing/2014/main" id="{3DD5FE6D-6228-3940-8146-E91BBCD9F57B}"/>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4" name="Rectangle 140">
              <a:extLst>
                <a:ext uri="{FF2B5EF4-FFF2-40B4-BE49-F238E27FC236}">
                  <a16:creationId xmlns:a16="http://schemas.microsoft.com/office/drawing/2014/main" id="{15547CDB-C790-C348-AE10-9B28B2C54F9B}"/>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5" name="Rectangle 141">
              <a:extLst>
                <a:ext uri="{FF2B5EF4-FFF2-40B4-BE49-F238E27FC236}">
                  <a16:creationId xmlns:a16="http://schemas.microsoft.com/office/drawing/2014/main" id="{59BAD7A1-391C-F44A-8C97-BB2749F44B10}"/>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06" name="Oval 143">
            <a:extLst>
              <a:ext uri="{FF2B5EF4-FFF2-40B4-BE49-F238E27FC236}">
                <a16:creationId xmlns:a16="http://schemas.microsoft.com/office/drawing/2014/main" id="{714C3193-ABA3-E549-9000-1B9EA94280C7}"/>
              </a:ext>
            </a:extLst>
          </p:cNvPr>
          <p:cNvSpPr>
            <a:spLocks noChangeArrowheads="1"/>
          </p:cNvSpPr>
          <p:nvPr/>
        </p:nvSpPr>
        <p:spPr bwMode="auto">
          <a:xfrm>
            <a:off x="8877011" y="1949505"/>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P3</a:t>
            </a:r>
          </a:p>
        </p:txBody>
      </p:sp>
      <p:grpSp>
        <p:nvGrpSpPr>
          <p:cNvPr id="5" name="Group 4"/>
          <p:cNvGrpSpPr/>
          <p:nvPr/>
        </p:nvGrpSpPr>
        <p:grpSpPr>
          <a:xfrm>
            <a:off x="3128674" y="2152705"/>
            <a:ext cx="2695575" cy="3382962"/>
            <a:chOff x="3128674" y="2152705"/>
            <a:chExt cx="2695575" cy="3382962"/>
          </a:xfrm>
        </p:grpSpPr>
        <p:grpSp>
          <p:nvGrpSpPr>
            <p:cNvPr id="4" name="Group 3"/>
            <p:cNvGrpSpPr/>
            <p:nvPr/>
          </p:nvGrpSpPr>
          <p:grpSpPr>
            <a:xfrm>
              <a:off x="3301711" y="4192642"/>
              <a:ext cx="2173288" cy="1343025"/>
              <a:chOff x="3301711" y="4192642"/>
              <a:chExt cx="2173288" cy="1343025"/>
            </a:xfrm>
          </p:grpSpPr>
          <p:grpSp>
            <p:nvGrpSpPr>
              <p:cNvPr id="560" name="Group 76">
                <a:extLst>
                  <a:ext uri="{FF2B5EF4-FFF2-40B4-BE49-F238E27FC236}">
                    <a16:creationId xmlns:a16="http://schemas.microsoft.com/office/drawing/2014/main" id="{54B1DF71-9399-154E-A326-E57B31715B46}"/>
                  </a:ext>
                </a:extLst>
              </p:cNvPr>
              <p:cNvGrpSpPr>
                <a:grpSpLocks/>
              </p:cNvGrpSpPr>
              <p:nvPr/>
            </p:nvGrpSpPr>
            <p:grpSpPr bwMode="auto">
              <a:xfrm>
                <a:off x="3450936" y="4883205"/>
                <a:ext cx="2024063" cy="652462"/>
                <a:chOff x="1079" y="3697"/>
                <a:chExt cx="1275" cy="411"/>
              </a:xfrm>
            </p:grpSpPr>
            <p:sp>
              <p:nvSpPr>
                <p:cNvPr id="561" name="Rectangle 77">
                  <a:extLst>
                    <a:ext uri="{FF2B5EF4-FFF2-40B4-BE49-F238E27FC236}">
                      <a16:creationId xmlns:a16="http://schemas.microsoft.com/office/drawing/2014/main" id="{126F8F0C-1620-8242-B2D8-31D60CE3B0C0}"/>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62" name="Line 78">
                  <a:extLst>
                    <a:ext uri="{FF2B5EF4-FFF2-40B4-BE49-F238E27FC236}">
                      <a16:creationId xmlns:a16="http://schemas.microsoft.com/office/drawing/2014/main" id="{B4AFF46B-1913-5749-A0C2-475F8713C47B}"/>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63" name="Text Box 79">
                  <a:extLst>
                    <a:ext uri="{FF2B5EF4-FFF2-40B4-BE49-F238E27FC236}">
                      <a16:creationId xmlns:a16="http://schemas.microsoft.com/office/drawing/2014/main" id="{CE607ED2-10F4-764C-A00E-207E57A6B5CE}"/>
                    </a:ext>
                  </a:extLst>
                </p:cNvPr>
                <p:cNvSpPr txBox="1">
                  <a:spLocks noChangeArrowheads="1"/>
                </p:cNvSpPr>
                <p:nvPr/>
              </p:nvSpPr>
              <p:spPr bwMode="auto">
                <a:xfrm>
                  <a:off x="1079" y="3822"/>
                  <a:ext cx="123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a:t>
                  </a: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IP,port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A,9157</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dest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IP, port: B,80</a:t>
                  </a:r>
                </a:p>
              </p:txBody>
            </p:sp>
          </p:grpSp>
          <p:grpSp>
            <p:nvGrpSpPr>
              <p:cNvPr id="564" name="Group 80">
                <a:extLst>
                  <a:ext uri="{FF2B5EF4-FFF2-40B4-BE49-F238E27FC236}">
                    <a16:creationId xmlns:a16="http://schemas.microsoft.com/office/drawing/2014/main" id="{BE97DD4B-C63C-784B-AC3B-62C82E3DEAE1}"/>
                  </a:ext>
                </a:extLst>
              </p:cNvPr>
              <p:cNvGrpSpPr>
                <a:grpSpLocks/>
              </p:cNvGrpSpPr>
              <p:nvPr/>
            </p:nvGrpSpPr>
            <p:grpSpPr bwMode="auto">
              <a:xfrm>
                <a:off x="3301711" y="4192642"/>
                <a:ext cx="1887538" cy="652463"/>
                <a:chOff x="2741" y="3750"/>
                <a:chExt cx="1189" cy="411"/>
              </a:xfrm>
            </p:grpSpPr>
            <p:sp>
              <p:nvSpPr>
                <p:cNvPr id="565" name="Rectangle 81">
                  <a:extLst>
                    <a:ext uri="{FF2B5EF4-FFF2-40B4-BE49-F238E27FC236}">
                      <a16:creationId xmlns:a16="http://schemas.microsoft.com/office/drawing/2014/main" id="{4CBF1123-14B9-314E-90DC-C336B1E56772}"/>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66" name="Line 82">
                  <a:extLst>
                    <a:ext uri="{FF2B5EF4-FFF2-40B4-BE49-F238E27FC236}">
                      <a16:creationId xmlns:a16="http://schemas.microsoft.com/office/drawing/2014/main" id="{C63CC2F7-6C69-D341-8C27-77AE238CB115}"/>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67" name="Text Box 83">
                  <a:extLst>
                    <a:ext uri="{FF2B5EF4-FFF2-40B4-BE49-F238E27FC236}">
                      <a16:creationId xmlns:a16="http://schemas.microsoft.com/office/drawing/2014/main" id="{FEC19C07-3FF2-1243-80F2-5776AC478D33}"/>
                    </a:ext>
                  </a:extLst>
                </p:cNvPr>
                <p:cNvSpPr txBox="1">
                  <a:spLocks noChangeArrowheads="1"/>
                </p:cNvSpPr>
                <p:nvPr/>
              </p:nvSpPr>
              <p:spPr bwMode="auto">
                <a:xfrm>
                  <a:off x="2813" y="3875"/>
                  <a:ext cx="1117"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IP,port: B,80</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IP,port: A,9157</a:t>
                  </a:r>
                </a:p>
              </p:txBody>
            </p:sp>
          </p:grpSp>
        </p:grpSp>
        <p:sp>
          <p:nvSpPr>
            <p:cNvPr id="607" name="Freeform 144">
              <a:extLst>
                <a:ext uri="{FF2B5EF4-FFF2-40B4-BE49-F238E27FC236}">
                  <a16:creationId xmlns:a16="http://schemas.microsoft.com/office/drawing/2014/main" id="{C20C0751-24F4-5540-AE77-1F150DE44DAE}"/>
                </a:ext>
              </a:extLst>
            </p:cNvPr>
            <p:cNvSpPr>
              <a:spLocks/>
            </p:cNvSpPr>
            <p:nvPr/>
          </p:nvSpPr>
          <p:spPr bwMode="auto">
            <a:xfrm>
              <a:off x="3128674" y="2152705"/>
              <a:ext cx="2695575" cy="2695575"/>
            </a:xfrm>
            <a:custGeom>
              <a:avLst/>
              <a:gdLst>
                <a:gd name="T0" fmla="*/ 0 w 1698"/>
                <a:gd name="T1" fmla="*/ 2147483647 h 1698"/>
                <a:gd name="T2" fmla="*/ 0 w 1698"/>
                <a:gd name="T3" fmla="*/ 2147483647 h 1698"/>
                <a:gd name="T4" fmla="*/ 2147483647 w 1698"/>
                <a:gd name="T5" fmla="*/ 2147483647 h 1698"/>
                <a:gd name="T6" fmla="*/ 2147483647 w 1698"/>
                <a:gd name="T7" fmla="*/ 2147483647 h 1698"/>
                <a:gd name="T8" fmla="*/ 2147483647 w 1698"/>
                <a:gd name="T9" fmla="*/ 0 h 16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8" h="1698">
                  <a:moveTo>
                    <a:pt x="0" y="131"/>
                  </a:moveTo>
                  <a:lnTo>
                    <a:pt x="0" y="1698"/>
                  </a:lnTo>
                  <a:lnTo>
                    <a:pt x="1698" y="1690"/>
                  </a:lnTo>
                  <a:lnTo>
                    <a:pt x="1691" y="148"/>
                  </a:lnTo>
                  <a:lnTo>
                    <a:pt x="1443" y="0"/>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608" name="Freeform 145">
            <a:extLst>
              <a:ext uri="{FF2B5EF4-FFF2-40B4-BE49-F238E27FC236}">
                <a16:creationId xmlns:a16="http://schemas.microsoft.com/office/drawing/2014/main" id="{29302AA3-50A5-1244-9A33-D38F93F145D5}"/>
              </a:ext>
            </a:extLst>
          </p:cNvPr>
          <p:cNvSpPr>
            <a:spLocks/>
          </p:cNvSpPr>
          <p:nvPr/>
        </p:nvSpPr>
        <p:spPr bwMode="auto">
          <a:xfrm>
            <a:off x="6114761" y="2184455"/>
            <a:ext cx="3089275" cy="3252787"/>
          </a:xfrm>
          <a:custGeom>
            <a:avLst/>
            <a:gdLst>
              <a:gd name="T0" fmla="*/ 0 w 1946"/>
              <a:gd name="T1" fmla="*/ 0 h 1801"/>
              <a:gd name="T2" fmla="*/ 0 w 1946"/>
              <a:gd name="T3" fmla="*/ 2147483647 h 1801"/>
              <a:gd name="T4" fmla="*/ 2147483647 w 1946"/>
              <a:gd name="T5" fmla="*/ 2147483647 h 1801"/>
              <a:gd name="T6" fmla="*/ 2147483647 w 1946"/>
              <a:gd name="T7" fmla="*/ 2147483647 h 18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6" h="1801">
                <a:moveTo>
                  <a:pt x="0" y="0"/>
                </a:moveTo>
                <a:lnTo>
                  <a:pt x="0" y="1801"/>
                </a:lnTo>
                <a:lnTo>
                  <a:pt x="1946" y="1794"/>
                </a:lnTo>
                <a:lnTo>
                  <a:pt x="1925" y="132"/>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 name="Group 6"/>
          <p:cNvGrpSpPr/>
          <p:nvPr/>
        </p:nvGrpSpPr>
        <p:grpSpPr>
          <a:xfrm>
            <a:off x="6773574" y="2173342"/>
            <a:ext cx="2170112" cy="2876550"/>
            <a:chOff x="6773574" y="2173342"/>
            <a:chExt cx="2170112" cy="2876550"/>
          </a:xfrm>
        </p:grpSpPr>
        <p:sp>
          <p:nvSpPr>
            <p:cNvPr id="609" name="Freeform 146">
              <a:extLst>
                <a:ext uri="{FF2B5EF4-FFF2-40B4-BE49-F238E27FC236}">
                  <a16:creationId xmlns:a16="http://schemas.microsoft.com/office/drawing/2014/main" id="{6BB33F5D-182F-DB4B-A83A-42910CF0B783}"/>
                </a:ext>
              </a:extLst>
            </p:cNvPr>
            <p:cNvSpPr>
              <a:spLocks/>
            </p:cNvSpPr>
            <p:nvPr/>
          </p:nvSpPr>
          <p:spPr bwMode="auto">
            <a:xfrm>
              <a:off x="6773574" y="2173342"/>
              <a:ext cx="1609725" cy="2465388"/>
            </a:xfrm>
            <a:custGeom>
              <a:avLst/>
              <a:gdLst>
                <a:gd name="T0" fmla="*/ 0 w 1014"/>
                <a:gd name="T1" fmla="*/ 0 h 1480"/>
                <a:gd name="T2" fmla="*/ 0 w 1014"/>
                <a:gd name="T3" fmla="*/ 2147483647 h 1480"/>
                <a:gd name="T4" fmla="*/ 2147483647 w 1014"/>
                <a:gd name="T5" fmla="*/ 2147483647 h 1480"/>
                <a:gd name="T6" fmla="*/ 2147483647 w 1014"/>
                <a:gd name="T7" fmla="*/ 2147483647 h 1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4" h="1480">
                  <a:moveTo>
                    <a:pt x="0" y="0"/>
                  </a:moveTo>
                  <a:lnTo>
                    <a:pt x="0" y="1480"/>
                  </a:lnTo>
                  <a:lnTo>
                    <a:pt x="1014" y="1480"/>
                  </a:lnTo>
                  <a:lnTo>
                    <a:pt x="1014" y="146"/>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10" name="Group 147">
              <a:extLst>
                <a:ext uri="{FF2B5EF4-FFF2-40B4-BE49-F238E27FC236}">
                  <a16:creationId xmlns:a16="http://schemas.microsoft.com/office/drawing/2014/main" id="{8F2EC129-42A1-CA45-9C29-F66369B61163}"/>
                </a:ext>
              </a:extLst>
            </p:cNvPr>
            <p:cNvGrpSpPr>
              <a:grpSpLocks/>
            </p:cNvGrpSpPr>
            <p:nvPr/>
          </p:nvGrpSpPr>
          <p:grpSpPr bwMode="auto">
            <a:xfrm>
              <a:off x="6871999" y="4397430"/>
              <a:ext cx="2071687" cy="652462"/>
              <a:chOff x="2741" y="3750"/>
              <a:chExt cx="1305" cy="411"/>
            </a:xfrm>
          </p:grpSpPr>
          <p:sp>
            <p:nvSpPr>
              <p:cNvPr id="611" name="Rectangle 148">
                <a:extLst>
                  <a:ext uri="{FF2B5EF4-FFF2-40B4-BE49-F238E27FC236}">
                    <a16:creationId xmlns:a16="http://schemas.microsoft.com/office/drawing/2014/main" id="{5531015F-C493-CC46-9820-D16FD2137132}"/>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2" name="Line 149">
                <a:extLst>
                  <a:ext uri="{FF2B5EF4-FFF2-40B4-BE49-F238E27FC236}">
                    <a16:creationId xmlns:a16="http://schemas.microsoft.com/office/drawing/2014/main" id="{2E6849E0-3812-A84C-9E80-84DB1D6B09BE}"/>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3" name="Text Box 150">
                <a:extLst>
                  <a:ext uri="{FF2B5EF4-FFF2-40B4-BE49-F238E27FC236}">
                    <a16:creationId xmlns:a16="http://schemas.microsoft.com/office/drawing/2014/main" id="{EC838B59-7BC3-3F46-8B4A-83CBD6DB573B}"/>
                  </a:ext>
                </a:extLst>
              </p:cNvPr>
              <p:cNvSpPr txBox="1">
                <a:spLocks noChangeArrowheads="1"/>
              </p:cNvSpPr>
              <p:nvPr/>
            </p:nvSpPr>
            <p:spPr bwMode="auto">
              <a:xfrm>
                <a:off x="2813" y="3875"/>
                <a:ext cx="123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IP,port: C,5775</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IP,port: B,80</a:t>
                </a:r>
              </a:p>
            </p:txBody>
          </p:sp>
        </p:grpSp>
      </p:grpSp>
      <p:grpSp>
        <p:nvGrpSpPr>
          <p:cNvPr id="614" name="Group 151">
            <a:extLst>
              <a:ext uri="{FF2B5EF4-FFF2-40B4-BE49-F238E27FC236}">
                <a16:creationId xmlns:a16="http://schemas.microsoft.com/office/drawing/2014/main" id="{69105778-FE71-EB4F-B01B-3760910DFB08}"/>
              </a:ext>
            </a:extLst>
          </p:cNvPr>
          <p:cNvGrpSpPr>
            <a:grpSpLocks/>
          </p:cNvGrpSpPr>
          <p:nvPr/>
        </p:nvGrpSpPr>
        <p:grpSpPr bwMode="auto">
          <a:xfrm>
            <a:off x="6941849" y="5186417"/>
            <a:ext cx="2063750" cy="661988"/>
            <a:chOff x="2741" y="3750"/>
            <a:chExt cx="1300" cy="417"/>
          </a:xfrm>
        </p:grpSpPr>
        <p:sp>
          <p:nvSpPr>
            <p:cNvPr id="615" name="Rectangle 152">
              <a:extLst>
                <a:ext uri="{FF2B5EF4-FFF2-40B4-BE49-F238E27FC236}">
                  <a16:creationId xmlns:a16="http://schemas.microsoft.com/office/drawing/2014/main" id="{885FFA84-ACB8-0744-B24C-9A28B05875F1}"/>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6" name="Line 153">
              <a:extLst>
                <a:ext uri="{FF2B5EF4-FFF2-40B4-BE49-F238E27FC236}">
                  <a16:creationId xmlns:a16="http://schemas.microsoft.com/office/drawing/2014/main" id="{0B2DDB46-0A9D-004F-9F24-788225385A0B}"/>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7" name="Text Box 154">
              <a:extLst>
                <a:ext uri="{FF2B5EF4-FFF2-40B4-BE49-F238E27FC236}">
                  <a16:creationId xmlns:a16="http://schemas.microsoft.com/office/drawing/2014/main" id="{33813E80-F8C8-1546-93E7-7005B836EEC5}"/>
                </a:ext>
              </a:extLst>
            </p:cNvPr>
            <p:cNvSpPr txBox="1">
              <a:spLocks noChangeArrowheads="1"/>
            </p:cNvSpPr>
            <p:nvPr/>
          </p:nvSpPr>
          <p:spPr bwMode="auto">
            <a:xfrm>
              <a:off x="2813" y="3875"/>
              <a:ext cx="1228"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a:t>
              </a: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IP,port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C,9157</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dest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a: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IP,port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B,80</a:t>
              </a:r>
            </a:p>
          </p:txBody>
        </p:sp>
      </p:grpSp>
      <p:sp>
        <p:nvSpPr>
          <p:cNvPr id="621" name="Text Box 160">
            <a:extLst>
              <a:ext uri="{FF2B5EF4-FFF2-40B4-BE49-F238E27FC236}">
                <a16:creationId xmlns:a16="http://schemas.microsoft.com/office/drawing/2014/main" id="{49EFE28C-CCBF-994C-948D-5E439252E1FF}"/>
              </a:ext>
            </a:extLst>
          </p:cNvPr>
          <p:cNvSpPr txBox="1">
            <a:spLocks noChangeArrowheads="1"/>
          </p:cNvSpPr>
          <p:nvPr/>
        </p:nvSpPr>
        <p:spPr bwMode="auto">
          <a:xfrm flipH="1">
            <a:off x="6681499" y="3414767"/>
            <a:ext cx="1147762" cy="5302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ill Sans MT" charset="0"/>
                <a:ea typeface="ＭＳ Ｐゴシック" charset="0"/>
                <a:cs typeface="+mn-cs"/>
              </a:rPr>
              <a:t>server: IP address B</a:t>
            </a:r>
          </a:p>
        </p:txBody>
      </p:sp>
      <p:grpSp>
        <p:nvGrpSpPr>
          <p:cNvPr id="622" name="Group 161">
            <a:extLst>
              <a:ext uri="{FF2B5EF4-FFF2-40B4-BE49-F238E27FC236}">
                <a16:creationId xmlns:a16="http://schemas.microsoft.com/office/drawing/2014/main" id="{F577BA28-7CF9-6040-97DF-D64452645ABD}"/>
              </a:ext>
            </a:extLst>
          </p:cNvPr>
          <p:cNvGrpSpPr>
            <a:grpSpLocks/>
          </p:cNvGrpSpPr>
          <p:nvPr/>
        </p:nvGrpSpPr>
        <p:grpSpPr bwMode="auto">
          <a:xfrm>
            <a:off x="4455824" y="2905180"/>
            <a:ext cx="358775" cy="704850"/>
            <a:chOff x="4140" y="429"/>
            <a:chExt cx="1425" cy="2396"/>
          </a:xfrm>
        </p:grpSpPr>
        <p:sp>
          <p:nvSpPr>
            <p:cNvPr id="623" name="Freeform 162">
              <a:extLst>
                <a:ext uri="{FF2B5EF4-FFF2-40B4-BE49-F238E27FC236}">
                  <a16:creationId xmlns:a16="http://schemas.microsoft.com/office/drawing/2014/main" id="{933B9AE8-1AB5-0247-896A-09244B6616F9}"/>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4" name="Rectangle 163">
              <a:extLst>
                <a:ext uri="{FF2B5EF4-FFF2-40B4-BE49-F238E27FC236}">
                  <a16:creationId xmlns:a16="http://schemas.microsoft.com/office/drawing/2014/main" id="{69892481-5981-1C41-BD9D-4791FA8BA07F}"/>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25" name="Freeform 164">
              <a:extLst>
                <a:ext uri="{FF2B5EF4-FFF2-40B4-BE49-F238E27FC236}">
                  <a16:creationId xmlns:a16="http://schemas.microsoft.com/office/drawing/2014/main" id="{354758CC-97E4-CA41-BF22-FC3AA11AB13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6" name="Freeform 165">
              <a:extLst>
                <a:ext uri="{FF2B5EF4-FFF2-40B4-BE49-F238E27FC236}">
                  <a16:creationId xmlns:a16="http://schemas.microsoft.com/office/drawing/2014/main" id="{452D8B73-C85C-AF42-85A5-B7F8AAB96935}"/>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7" name="Rectangle 166">
              <a:extLst>
                <a:ext uri="{FF2B5EF4-FFF2-40B4-BE49-F238E27FC236}">
                  <a16:creationId xmlns:a16="http://schemas.microsoft.com/office/drawing/2014/main" id="{4CB417AA-005D-CD44-9481-C2F20963092B}"/>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28" name="Group 167">
              <a:extLst>
                <a:ext uri="{FF2B5EF4-FFF2-40B4-BE49-F238E27FC236}">
                  <a16:creationId xmlns:a16="http://schemas.microsoft.com/office/drawing/2014/main" id="{54399D05-60E0-3447-A0B8-793547A7FDFA}"/>
                </a:ext>
              </a:extLst>
            </p:cNvPr>
            <p:cNvGrpSpPr>
              <a:grpSpLocks/>
            </p:cNvGrpSpPr>
            <p:nvPr/>
          </p:nvGrpSpPr>
          <p:grpSpPr bwMode="auto">
            <a:xfrm>
              <a:off x="4749" y="668"/>
              <a:ext cx="581" cy="145"/>
              <a:chOff x="614" y="2568"/>
              <a:chExt cx="725" cy="139"/>
            </a:xfrm>
          </p:grpSpPr>
          <p:sp>
            <p:nvSpPr>
              <p:cNvPr id="653" name="AutoShape 168">
                <a:extLst>
                  <a:ext uri="{FF2B5EF4-FFF2-40B4-BE49-F238E27FC236}">
                    <a16:creationId xmlns:a16="http://schemas.microsoft.com/office/drawing/2014/main" id="{0E8C1976-030F-F746-864E-A99490854668}"/>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4" name="AutoShape 169">
                <a:extLst>
                  <a:ext uri="{FF2B5EF4-FFF2-40B4-BE49-F238E27FC236}">
                    <a16:creationId xmlns:a16="http://schemas.microsoft.com/office/drawing/2014/main" id="{C0F343F2-B11A-FB40-AC3A-93CAC1E9A9F0}"/>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29" name="Rectangle 170">
              <a:extLst>
                <a:ext uri="{FF2B5EF4-FFF2-40B4-BE49-F238E27FC236}">
                  <a16:creationId xmlns:a16="http://schemas.microsoft.com/office/drawing/2014/main" id="{72257BB6-BE40-C84A-9F2C-7D75F5B3408A}"/>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30" name="Group 171">
              <a:extLst>
                <a:ext uri="{FF2B5EF4-FFF2-40B4-BE49-F238E27FC236}">
                  <a16:creationId xmlns:a16="http://schemas.microsoft.com/office/drawing/2014/main" id="{249FAA90-2012-A843-9B2F-CC46D38944BE}"/>
                </a:ext>
              </a:extLst>
            </p:cNvPr>
            <p:cNvGrpSpPr>
              <a:grpSpLocks/>
            </p:cNvGrpSpPr>
            <p:nvPr/>
          </p:nvGrpSpPr>
          <p:grpSpPr bwMode="auto">
            <a:xfrm>
              <a:off x="4747" y="994"/>
              <a:ext cx="581" cy="134"/>
              <a:chOff x="614" y="2568"/>
              <a:chExt cx="725" cy="139"/>
            </a:xfrm>
          </p:grpSpPr>
          <p:sp>
            <p:nvSpPr>
              <p:cNvPr id="651" name="AutoShape 172">
                <a:extLst>
                  <a:ext uri="{FF2B5EF4-FFF2-40B4-BE49-F238E27FC236}">
                    <a16:creationId xmlns:a16="http://schemas.microsoft.com/office/drawing/2014/main" id="{1EEEC70E-1D82-B143-BDE1-8B59092C041E}"/>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2" name="AutoShape 173">
                <a:extLst>
                  <a:ext uri="{FF2B5EF4-FFF2-40B4-BE49-F238E27FC236}">
                    <a16:creationId xmlns:a16="http://schemas.microsoft.com/office/drawing/2014/main" id="{EAE13528-3255-7344-B721-B6980B90F5D4}"/>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31" name="Rectangle 174">
              <a:extLst>
                <a:ext uri="{FF2B5EF4-FFF2-40B4-BE49-F238E27FC236}">
                  <a16:creationId xmlns:a16="http://schemas.microsoft.com/office/drawing/2014/main" id="{7188C30C-A22A-5D45-91C2-1ACAE8C1CB9F}"/>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2" name="Rectangle 175">
              <a:extLst>
                <a:ext uri="{FF2B5EF4-FFF2-40B4-BE49-F238E27FC236}">
                  <a16:creationId xmlns:a16="http://schemas.microsoft.com/office/drawing/2014/main" id="{F5086B84-99D0-6841-BE96-8395BC0620D5}"/>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33" name="Group 176">
              <a:extLst>
                <a:ext uri="{FF2B5EF4-FFF2-40B4-BE49-F238E27FC236}">
                  <a16:creationId xmlns:a16="http://schemas.microsoft.com/office/drawing/2014/main" id="{962F32CB-2CBA-0D4F-B8E2-EFFEF093D1AA}"/>
                </a:ext>
              </a:extLst>
            </p:cNvPr>
            <p:cNvGrpSpPr>
              <a:grpSpLocks/>
            </p:cNvGrpSpPr>
            <p:nvPr/>
          </p:nvGrpSpPr>
          <p:grpSpPr bwMode="auto">
            <a:xfrm>
              <a:off x="4735" y="1627"/>
              <a:ext cx="582" cy="151"/>
              <a:chOff x="614" y="2568"/>
              <a:chExt cx="725" cy="139"/>
            </a:xfrm>
          </p:grpSpPr>
          <p:sp>
            <p:nvSpPr>
              <p:cNvPr id="649" name="AutoShape 177">
                <a:extLst>
                  <a:ext uri="{FF2B5EF4-FFF2-40B4-BE49-F238E27FC236}">
                    <a16:creationId xmlns:a16="http://schemas.microsoft.com/office/drawing/2014/main" id="{EE96D227-3E09-6043-A826-C244873EE1DF}"/>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0" name="AutoShape 178">
                <a:extLst>
                  <a:ext uri="{FF2B5EF4-FFF2-40B4-BE49-F238E27FC236}">
                    <a16:creationId xmlns:a16="http://schemas.microsoft.com/office/drawing/2014/main" id="{EE37F51B-AE5B-774A-9400-F6B84CC895AF}"/>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34" name="Freeform 179">
              <a:extLst>
                <a:ext uri="{FF2B5EF4-FFF2-40B4-BE49-F238E27FC236}">
                  <a16:creationId xmlns:a16="http://schemas.microsoft.com/office/drawing/2014/main" id="{BB4E54F7-0208-D144-94CD-AE16252B07BE}"/>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35" name="Group 180">
              <a:extLst>
                <a:ext uri="{FF2B5EF4-FFF2-40B4-BE49-F238E27FC236}">
                  <a16:creationId xmlns:a16="http://schemas.microsoft.com/office/drawing/2014/main" id="{CDDF1C6E-720C-1C4E-97D6-FEEA034A422E}"/>
                </a:ext>
              </a:extLst>
            </p:cNvPr>
            <p:cNvGrpSpPr>
              <a:grpSpLocks/>
            </p:cNvGrpSpPr>
            <p:nvPr/>
          </p:nvGrpSpPr>
          <p:grpSpPr bwMode="auto">
            <a:xfrm>
              <a:off x="4739" y="1327"/>
              <a:ext cx="582" cy="139"/>
              <a:chOff x="614" y="2568"/>
              <a:chExt cx="725" cy="139"/>
            </a:xfrm>
          </p:grpSpPr>
          <p:sp>
            <p:nvSpPr>
              <p:cNvPr id="647" name="AutoShape 181">
                <a:extLst>
                  <a:ext uri="{FF2B5EF4-FFF2-40B4-BE49-F238E27FC236}">
                    <a16:creationId xmlns:a16="http://schemas.microsoft.com/office/drawing/2014/main" id="{FCE1B24C-C6D5-A74E-BCC9-1790A44777C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8" name="AutoShape 182">
                <a:extLst>
                  <a:ext uri="{FF2B5EF4-FFF2-40B4-BE49-F238E27FC236}">
                    <a16:creationId xmlns:a16="http://schemas.microsoft.com/office/drawing/2014/main" id="{ECD7FAA8-997C-6741-B542-8F6CB8A79865}"/>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36" name="Rectangle 183">
              <a:extLst>
                <a:ext uri="{FF2B5EF4-FFF2-40B4-BE49-F238E27FC236}">
                  <a16:creationId xmlns:a16="http://schemas.microsoft.com/office/drawing/2014/main" id="{FABC00AC-70CA-7043-A832-BD8E42059D3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7" name="Freeform 184">
              <a:extLst>
                <a:ext uri="{FF2B5EF4-FFF2-40B4-BE49-F238E27FC236}">
                  <a16:creationId xmlns:a16="http://schemas.microsoft.com/office/drawing/2014/main" id="{113F4917-6305-434E-A2A6-9F8FC8CD2073}"/>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8" name="Freeform 185">
              <a:extLst>
                <a:ext uri="{FF2B5EF4-FFF2-40B4-BE49-F238E27FC236}">
                  <a16:creationId xmlns:a16="http://schemas.microsoft.com/office/drawing/2014/main" id="{14DDB482-D40B-9E4B-B569-8524D8E8FF9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9" name="Oval 186">
              <a:extLst>
                <a:ext uri="{FF2B5EF4-FFF2-40B4-BE49-F238E27FC236}">
                  <a16:creationId xmlns:a16="http://schemas.microsoft.com/office/drawing/2014/main" id="{44EB568A-9CE3-C54A-9206-BDCE5E179782}"/>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0" name="Freeform 187">
              <a:extLst>
                <a:ext uri="{FF2B5EF4-FFF2-40B4-BE49-F238E27FC236}">
                  <a16:creationId xmlns:a16="http://schemas.microsoft.com/office/drawing/2014/main" id="{47334A5D-96E6-664D-926C-2595FA58305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1" name="AutoShape 188">
              <a:extLst>
                <a:ext uri="{FF2B5EF4-FFF2-40B4-BE49-F238E27FC236}">
                  <a16:creationId xmlns:a16="http://schemas.microsoft.com/office/drawing/2014/main" id="{013B8477-EEF2-7747-8060-985EE5C53AC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2" name="AutoShape 189">
              <a:extLst>
                <a:ext uri="{FF2B5EF4-FFF2-40B4-BE49-F238E27FC236}">
                  <a16:creationId xmlns:a16="http://schemas.microsoft.com/office/drawing/2014/main" id="{8385C752-6DAC-4A48-9BB5-AEA57D6A9BF6}"/>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3" name="Oval 190">
              <a:extLst>
                <a:ext uri="{FF2B5EF4-FFF2-40B4-BE49-F238E27FC236}">
                  <a16:creationId xmlns:a16="http://schemas.microsoft.com/office/drawing/2014/main" id="{0B04B216-03CD-F645-ACA2-BD47FCE98AD8}"/>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4" name="Oval 191">
              <a:extLst>
                <a:ext uri="{FF2B5EF4-FFF2-40B4-BE49-F238E27FC236}">
                  <a16:creationId xmlns:a16="http://schemas.microsoft.com/office/drawing/2014/main" id="{268FC658-A568-D546-9053-FA503C84E7FB}"/>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645" name="Oval 192">
              <a:extLst>
                <a:ext uri="{FF2B5EF4-FFF2-40B4-BE49-F238E27FC236}">
                  <a16:creationId xmlns:a16="http://schemas.microsoft.com/office/drawing/2014/main" id="{E3521055-5803-D44C-B1AC-A56EE246B7A9}"/>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6" name="Rectangle 193">
              <a:extLst>
                <a:ext uri="{FF2B5EF4-FFF2-40B4-BE49-F238E27FC236}">
                  <a16:creationId xmlns:a16="http://schemas.microsoft.com/office/drawing/2014/main" id="{B01113D0-7A5F-2845-BBE5-E5DEE7D3C216}"/>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55" name="Group 194">
            <a:extLst>
              <a:ext uri="{FF2B5EF4-FFF2-40B4-BE49-F238E27FC236}">
                <a16:creationId xmlns:a16="http://schemas.microsoft.com/office/drawing/2014/main" id="{AE6C24AF-B399-914A-BD00-8F2930D965CE}"/>
              </a:ext>
            </a:extLst>
          </p:cNvPr>
          <p:cNvGrpSpPr>
            <a:grpSpLocks/>
          </p:cNvGrpSpPr>
          <p:nvPr/>
        </p:nvGrpSpPr>
        <p:grpSpPr bwMode="auto">
          <a:xfrm>
            <a:off x="1590386" y="3325867"/>
            <a:ext cx="711200" cy="669925"/>
            <a:chOff x="-44" y="1473"/>
            <a:chExt cx="981" cy="1105"/>
          </a:xfrm>
        </p:grpSpPr>
        <p:pic>
          <p:nvPicPr>
            <p:cNvPr id="656" name="Picture 195" descr="desktop_computer_stylized_medium">
              <a:extLst>
                <a:ext uri="{FF2B5EF4-FFF2-40B4-BE49-F238E27FC236}">
                  <a16:creationId xmlns:a16="http://schemas.microsoft.com/office/drawing/2014/main" id="{449668ED-5F76-8646-97D9-D6F2A29D0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57" name="Freeform 196">
              <a:extLst>
                <a:ext uri="{FF2B5EF4-FFF2-40B4-BE49-F238E27FC236}">
                  <a16:creationId xmlns:a16="http://schemas.microsoft.com/office/drawing/2014/main" id="{AF9581BE-4372-754E-A062-1EE3EABE6AD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658" name="Group 197">
            <a:extLst>
              <a:ext uri="{FF2B5EF4-FFF2-40B4-BE49-F238E27FC236}">
                <a16:creationId xmlns:a16="http://schemas.microsoft.com/office/drawing/2014/main" id="{30AD3BDA-F1F4-4640-8F27-22736C618AA1}"/>
              </a:ext>
            </a:extLst>
          </p:cNvPr>
          <p:cNvGrpSpPr>
            <a:grpSpLocks/>
          </p:cNvGrpSpPr>
          <p:nvPr/>
        </p:nvGrpSpPr>
        <p:grpSpPr bwMode="auto">
          <a:xfrm flipH="1">
            <a:off x="9893011" y="3241730"/>
            <a:ext cx="711200" cy="669925"/>
            <a:chOff x="-44" y="1473"/>
            <a:chExt cx="981" cy="1105"/>
          </a:xfrm>
        </p:grpSpPr>
        <p:pic>
          <p:nvPicPr>
            <p:cNvPr id="659" name="Picture 198" descr="desktop_computer_stylized_medium">
              <a:extLst>
                <a:ext uri="{FF2B5EF4-FFF2-40B4-BE49-F238E27FC236}">
                  <a16:creationId xmlns:a16="http://schemas.microsoft.com/office/drawing/2014/main" id="{C3C56932-EC72-5E4B-9CCA-7833A8B91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0" name="Freeform 199">
              <a:extLst>
                <a:ext uri="{FF2B5EF4-FFF2-40B4-BE49-F238E27FC236}">
                  <a16:creationId xmlns:a16="http://schemas.microsoft.com/office/drawing/2014/main" id="{6742962E-DBDD-4F4E-8296-B71CC5A6A68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661" name="Text Box 155">
            <a:extLst>
              <a:ext uri="{FF2B5EF4-FFF2-40B4-BE49-F238E27FC236}">
                <a16:creationId xmlns:a16="http://schemas.microsoft.com/office/drawing/2014/main" id="{05C5CCE5-0F17-B045-BA74-C5A452C2E19A}"/>
              </a:ext>
            </a:extLst>
          </p:cNvPr>
          <p:cNvSpPr txBox="1">
            <a:spLocks noChangeArrowheads="1"/>
          </p:cNvSpPr>
          <p:nvPr/>
        </p:nvSpPr>
        <p:spPr bwMode="auto">
          <a:xfrm>
            <a:off x="822086" y="5737235"/>
            <a:ext cx="6642844"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Three segments, all destined to IP address: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dest</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port: 80 are demultiplexed to </a:t>
            </a:r>
            <a:r>
              <a:rPr kumimoji="0" lang="en-US" sz="24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different</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sockets</a:t>
            </a:r>
          </a:p>
        </p:txBody>
      </p:sp>
      <p:sp>
        <p:nvSpPr>
          <p:cNvPr id="6" name="Oval 5"/>
          <p:cNvSpPr/>
          <p:nvPr/>
        </p:nvSpPr>
        <p:spPr>
          <a:xfrm>
            <a:off x="4454237" y="5186417"/>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5" name="Oval 144"/>
          <p:cNvSpPr/>
          <p:nvPr/>
        </p:nvSpPr>
        <p:spPr>
          <a:xfrm>
            <a:off x="7577600" y="4694310"/>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6" name="Oval 145"/>
          <p:cNvSpPr/>
          <p:nvPr/>
        </p:nvSpPr>
        <p:spPr>
          <a:xfrm>
            <a:off x="7631575" y="5530882"/>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47"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2538" y="1073700"/>
            <a:ext cx="1474756" cy="644858"/>
          </a:xfrm>
          <a:prstGeom prst="rect">
            <a:avLst/>
          </a:prstGeom>
          <a:noFill/>
          <a:extLst>
            <a:ext uri="{909E8E84-426E-40dd-AFC4-6F175D3DCCD1}">
              <a14:hiddenFill xmlns="" xmlns:a14="http://schemas.microsoft.com/office/drawing/2010/main">
                <a:solidFill>
                  <a:srgbClr val="FFFFFF"/>
                </a:solidFill>
              </a14:hiddenFill>
            </a:ext>
          </a:extLst>
        </p:spPr>
      </p:pic>
      <p:sp>
        <p:nvSpPr>
          <p:cNvPr id="144" name="Slide Number Placeholder 2">
            <a:extLst>
              <a:ext uri="{FF2B5EF4-FFF2-40B4-BE49-F238E27FC236}">
                <a16:creationId xmlns:a16="http://schemas.microsoft.com/office/drawing/2014/main" id="{AAD45FF3-B333-6B47-9ECE-46B770CFE6C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202231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8"/>
                                        </p:tgtEl>
                                        <p:attrNameLst>
                                          <p:attrName>style.visibility</p:attrName>
                                        </p:attrNameLst>
                                      </p:cBhvr>
                                      <p:to>
                                        <p:strVal val="visible"/>
                                      </p:to>
                                    </p:set>
                                    <p:animEffect transition="in" filter="dissolve">
                                      <p:cBhvr>
                                        <p:cTn id="17" dur="500"/>
                                        <p:tgtEl>
                                          <p:spTgt spid="608"/>
                                        </p:tgtEl>
                                      </p:cBhvr>
                                    </p:animEffect>
                                  </p:childTnLst>
                                </p:cTn>
                              </p:par>
                              <p:par>
                                <p:cTn id="18" presetID="9" presetClass="entr" presetSubtype="0" fill="hold" nodeType="withEffect">
                                  <p:stCondLst>
                                    <p:cond delay="0"/>
                                  </p:stCondLst>
                                  <p:childTnLst>
                                    <p:set>
                                      <p:cBhvr>
                                        <p:cTn id="19" dur="1" fill="hold">
                                          <p:stCondLst>
                                            <p:cond delay="0"/>
                                          </p:stCondLst>
                                        </p:cTn>
                                        <p:tgtEl>
                                          <p:spTgt spid="614"/>
                                        </p:tgtEl>
                                        <p:attrNameLst>
                                          <p:attrName>style.visibility</p:attrName>
                                        </p:attrNameLst>
                                      </p:cBhvr>
                                      <p:to>
                                        <p:strVal val="visible"/>
                                      </p:to>
                                    </p:set>
                                    <p:animEffect transition="in" filter="dissolve">
                                      <p:cBhvr>
                                        <p:cTn id="20" dur="500"/>
                                        <p:tgtEl>
                                          <p:spTgt spid="61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45"/>
                                        </p:tgtEl>
                                        <p:attrNameLst>
                                          <p:attrName>style.visibility</p:attrName>
                                        </p:attrNameLst>
                                      </p:cBhvr>
                                      <p:to>
                                        <p:strVal val="visible"/>
                                      </p:to>
                                    </p:set>
                                    <p:animEffect transition="in" filter="dissolve">
                                      <p:cBhvr>
                                        <p:cTn id="28" dur="500"/>
                                        <p:tgtEl>
                                          <p:spTgt spid="14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46"/>
                                        </p:tgtEl>
                                        <p:attrNameLst>
                                          <p:attrName>style.visibility</p:attrName>
                                        </p:attrNameLst>
                                      </p:cBhvr>
                                      <p:to>
                                        <p:strVal val="visible"/>
                                      </p:to>
                                    </p:set>
                                    <p:animEffect transition="in" filter="dissolve">
                                      <p:cBhvr>
                                        <p:cTn id="31" dur="500"/>
                                        <p:tgtEl>
                                          <p:spTgt spid="14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661"/>
                                        </p:tgtEl>
                                        <p:attrNameLst>
                                          <p:attrName>style.visibility</p:attrName>
                                        </p:attrNameLst>
                                      </p:cBhvr>
                                      <p:to>
                                        <p:strVal val="visible"/>
                                      </p:to>
                                    </p:set>
                                    <p:animEffect transition="in" filter="dissolve">
                                      <p:cBhvr>
                                        <p:cTn id="34" dur="500"/>
                                        <p:tgtEl>
                                          <p:spTgt spid="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 grpId="0" animBg="1"/>
      <p:bldP spid="661" grpId="0"/>
      <p:bldP spid="6" grpId="0" animBg="1"/>
      <p:bldP spid="145" grpId="0" animBg="1"/>
      <p:bldP spid="14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1206442"/>
          </a:xfrm>
        </p:spPr>
        <p:txBody>
          <a:bodyPr>
            <a:normAutofit/>
          </a:bodyPr>
          <a:lstStyle/>
          <a:p>
            <a:r>
              <a:rPr lang="en-US" sz="5400" dirty="0"/>
              <a:t>Summary</a:t>
            </a:r>
            <a:endParaRPr lang="en-US" sz="6000" dirty="0"/>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798690" y="1610067"/>
            <a:ext cx="11100625" cy="524793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Multiplexing, demultiplexing: based on segment, datagram header field values</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1" i="0" u="none" strike="noStrike" kern="1200" cap="none" spc="0" normalizeH="0" baseline="0" noProof="0" dirty="0">
                <a:ln>
                  <a:noFill/>
                </a:ln>
                <a:solidFill>
                  <a:srgbClr val="C00000"/>
                </a:solidFill>
                <a:effectLst/>
                <a:uLnTx/>
                <a:uFillTx/>
                <a:latin typeface="Calibri"/>
                <a:ea typeface="+mn-ea"/>
                <a:cs typeface="+mn-cs"/>
              </a:rPr>
              <a:t>UDP: </a:t>
            </a:r>
            <a:r>
              <a:rPr kumimoji="0" lang="en-US" sz="3200" b="0" i="0" u="none" strike="noStrike" kern="1200" cap="none" spc="0" normalizeH="0" baseline="0" noProof="0" dirty="0">
                <a:ln>
                  <a:noFill/>
                </a:ln>
                <a:solidFill>
                  <a:prstClr val="black"/>
                </a:solidFill>
                <a:effectLst/>
                <a:uLnTx/>
                <a:uFillTx/>
                <a:latin typeface="Calibri"/>
                <a:ea typeface="+mn-ea"/>
                <a:cs typeface="+mn-cs"/>
              </a:rPr>
              <a:t>demultiplexing using destination port number (only)</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600" b="1" i="0" u="none" strike="noStrike" kern="1200" cap="none" spc="0" normalizeH="0" baseline="0" noProof="0" dirty="0">
                <a:ln>
                  <a:noFill/>
                </a:ln>
                <a:solidFill>
                  <a:srgbClr val="C00000"/>
                </a:solidFill>
                <a:effectLst/>
                <a:uLnTx/>
                <a:uFillTx/>
                <a:latin typeface="Calibri"/>
                <a:ea typeface="+mn-ea"/>
                <a:cs typeface="+mn-cs"/>
              </a:rPr>
              <a:t>TCP: </a:t>
            </a:r>
            <a:r>
              <a:rPr kumimoji="0" lang="en-US" sz="3200" b="0" i="0" u="none" strike="noStrike" kern="1200" cap="none" spc="0" normalizeH="0" baseline="0" noProof="0" dirty="0">
                <a:ln>
                  <a:noFill/>
                </a:ln>
                <a:solidFill>
                  <a:prstClr val="black"/>
                </a:solidFill>
                <a:effectLst/>
                <a:uLnTx/>
                <a:uFillTx/>
                <a:latin typeface="Calibri"/>
                <a:ea typeface="+mn-ea"/>
                <a:cs typeface="+mn-cs"/>
              </a:rPr>
              <a:t>demultiplexing using 4-tuple: source and destination IP addresses, and port numbers</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Multiplexing/demultiplexing happen at </a:t>
            </a:r>
            <a:r>
              <a:rPr kumimoji="0" lang="en-US" sz="3200" b="0" i="1" u="none" strike="noStrike" kern="1200" cap="none" spc="0" normalizeH="0" baseline="0" noProof="0" dirty="0">
                <a:ln>
                  <a:noFill/>
                </a:ln>
                <a:solidFill>
                  <a:prstClr val="black"/>
                </a:solidFill>
                <a:effectLst/>
                <a:uLnTx/>
                <a:uFillTx/>
                <a:latin typeface="Calibri"/>
                <a:ea typeface="+mn-ea"/>
                <a:cs typeface="+mn-cs"/>
              </a:rPr>
              <a:t>all</a:t>
            </a:r>
            <a:r>
              <a:rPr kumimoji="0" lang="en-US" sz="3200" b="0" i="0" u="none" strike="noStrike" kern="1200" cap="none" spc="0" normalizeH="0" baseline="0" noProof="0" dirty="0">
                <a:ln>
                  <a:noFill/>
                </a:ln>
                <a:solidFill>
                  <a:prstClr val="black"/>
                </a:solidFill>
                <a:effectLst/>
                <a:uLnTx/>
                <a:uFillTx/>
                <a:latin typeface="Calibri"/>
                <a:ea typeface="+mn-ea"/>
                <a:cs typeface="+mn-cs"/>
              </a:rPr>
              <a:t> layers</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2">
            <a:extLst>
              <a:ext uri="{FF2B5EF4-FFF2-40B4-BE49-F238E27FC236}">
                <a16:creationId xmlns:a16="http://schemas.microsoft.com/office/drawing/2014/main" id="{81F71E3E-46C8-564B-892B-6C69AC246E5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328910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8">
                                            <p:txEl>
                                              <p:pRg st="1" end="1"/>
                                            </p:txEl>
                                          </p:spTgt>
                                        </p:tgtEl>
                                        <p:attrNameLst>
                                          <p:attrName>style.visibility</p:attrName>
                                        </p:attrNameLst>
                                      </p:cBhvr>
                                      <p:to>
                                        <p:strVal val="visible"/>
                                      </p:to>
                                    </p:set>
                                    <p:animEffect transition="in" filter="dissolve">
                                      <p:cBhvr>
                                        <p:cTn id="7" dur="500"/>
                                        <p:tgtEl>
                                          <p:spTgt spid="12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8">
                                            <p:txEl>
                                              <p:pRg st="2" end="2"/>
                                            </p:txEl>
                                          </p:spTgt>
                                        </p:tgtEl>
                                        <p:attrNameLst>
                                          <p:attrName>style.visibility</p:attrName>
                                        </p:attrNameLst>
                                      </p:cBhvr>
                                      <p:to>
                                        <p:strVal val="visible"/>
                                      </p:to>
                                    </p:set>
                                    <p:animEffect transition="in" filter="dissolve">
                                      <p:cBhvr>
                                        <p:cTn id="12" dur="500"/>
                                        <p:tgtEl>
                                          <p:spTgt spid="12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8">
                                            <p:txEl>
                                              <p:pRg st="3" end="3"/>
                                            </p:txEl>
                                          </p:spTgt>
                                        </p:tgtEl>
                                        <p:attrNameLst>
                                          <p:attrName>style.visibility</p:attrName>
                                        </p:attrNameLst>
                                      </p:cBhvr>
                                      <p:to>
                                        <p:strVal val="visible"/>
                                      </p:to>
                                    </p:set>
                                    <p:animEffect transition="in" filter="dissolve">
                                      <p:cBhvr>
                                        <p:cTn id="17" dur="500"/>
                                        <p:tgtEl>
                                          <p:spTgt spid="1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pPr>
            <a:r>
              <a:rPr lang="en-US" altLang="en-US" sz="3200" dirty="0">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(Go-back-N and Selective Repeat)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117475" indent="0">
              <a:spcBef>
                <a:spcPts val="800"/>
              </a:spcBef>
              <a:buClr>
                <a:schemeClr val="bg1">
                  <a:lumMod val="75000"/>
                </a:schemeClr>
              </a:buClr>
              <a:buNone/>
            </a:pPr>
            <a:endParaRPr lang="en-US" sz="3200" dirty="0">
              <a:solidFill>
                <a:schemeClr val="bg1">
                  <a:lumMod val="75000"/>
                </a:schemeClr>
              </a:solidFill>
            </a:endParaRP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15CF63D-A871-3249-B853-1FF5A26EE5FD}"/>
              </a:ext>
            </a:extLst>
          </p:cNvPr>
          <p:cNvSpPr>
            <a:spLocks noGrp="1"/>
          </p:cNvSpPr>
          <p:nvPr>
            <p:ph type="sldNum" sz="quarter" idx="4"/>
          </p:nvPr>
        </p:nvSpPr>
        <p:spPr/>
        <p:txBody>
          <a:bodyPr/>
          <a:lstStyle/>
          <a:p>
            <a:r>
              <a:rPr lang="en-US"/>
              <a:t>Transport Layer: 3-</a:t>
            </a:r>
            <a:fld id="{C4204591-24BD-A542-B9D5-F8D8A88D2FEE}" type="slidenum">
              <a:rPr lang="en-US" smtClean="0"/>
              <a:pPr/>
              <a:t>17</a:t>
            </a:fld>
            <a:endParaRPr lang="en-US" dirty="0"/>
          </a:p>
        </p:txBody>
      </p:sp>
      <p:pic>
        <p:nvPicPr>
          <p:cNvPr id="6" name="Picture 5">
            <a:extLst>
              <a:ext uri="{FF2B5EF4-FFF2-40B4-BE49-F238E27FC236}">
                <a16:creationId xmlns:a16="http://schemas.microsoft.com/office/drawing/2014/main" id="{1BA4839A-73B6-AB4F-BAAF-2F0309156AE9}"/>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894079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a:t>
            </a:r>
          </a:p>
        </p:txBody>
      </p:sp>
      <p:sp>
        <p:nvSpPr>
          <p:cNvPr id="6" name="Rectangle 3">
            <a:extLst>
              <a:ext uri="{FF2B5EF4-FFF2-40B4-BE49-F238E27FC236}">
                <a16:creationId xmlns:a16="http://schemas.microsoft.com/office/drawing/2014/main" id="{C770DED9-87F6-FB46-A967-6223B68A3E96}"/>
              </a:ext>
            </a:extLst>
          </p:cNvPr>
          <p:cNvSpPr txBox="1">
            <a:spLocks noChangeArrowheads="1"/>
          </p:cNvSpPr>
          <p:nvPr/>
        </p:nvSpPr>
        <p:spPr>
          <a:xfrm>
            <a:off x="618385" y="1528553"/>
            <a:ext cx="5550595" cy="29275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“best effort” service, UDP segments may be:</a:t>
            </a:r>
          </a:p>
          <a:p>
            <a:pPr marL="808038"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lost</a:t>
            </a:r>
          </a:p>
          <a:p>
            <a:pPr marL="808038"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delivered out-of-order to app</a:t>
            </a:r>
          </a:p>
        </p:txBody>
      </p:sp>
      <p:grpSp>
        <p:nvGrpSpPr>
          <p:cNvPr id="8" name="Group 7">
            <a:extLst>
              <a:ext uri="{FF2B5EF4-FFF2-40B4-BE49-F238E27FC236}">
                <a16:creationId xmlns:a16="http://schemas.microsoft.com/office/drawing/2014/main" id="{82E8D3DA-F7E2-3144-9365-F468AE5A3F1F}"/>
              </a:ext>
            </a:extLst>
          </p:cNvPr>
          <p:cNvGrpSpPr/>
          <p:nvPr/>
        </p:nvGrpSpPr>
        <p:grpSpPr>
          <a:xfrm>
            <a:off x="6568225" y="1335368"/>
            <a:ext cx="5029004" cy="5014363"/>
            <a:chOff x="4979987" y="2821302"/>
            <a:chExt cx="6630121" cy="3829830"/>
          </a:xfrm>
        </p:grpSpPr>
        <p:sp>
          <p:nvSpPr>
            <p:cNvPr id="9" name="Rectangle 26">
              <a:extLst>
                <a:ext uri="{FF2B5EF4-FFF2-40B4-BE49-F238E27FC236}">
                  <a16:creationId xmlns:a16="http://schemas.microsoft.com/office/drawing/2014/main" id="{F9D9BC33-5F55-F54A-B992-1DDB07422224}"/>
                </a:ext>
              </a:extLst>
            </p:cNvPr>
            <p:cNvSpPr txBox="1">
              <a:spLocks noChangeArrowheads="1"/>
            </p:cNvSpPr>
            <p:nvPr/>
          </p:nvSpPr>
          <p:spPr bwMode="auto">
            <a:xfrm>
              <a:off x="5218112" y="3235273"/>
              <a:ext cx="6059488" cy="3044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 connection establishment (which can add RTT delay)</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simple: no connection state at sender, receiver</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small header size</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 congestion control</a:t>
              </a:r>
            </a:p>
            <a:p>
              <a:pPr marL="687388" marR="0" lvl="1"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UDP can blast away as fast as desired!</a:t>
              </a:r>
            </a:p>
            <a:p>
              <a:pPr marL="687388" marR="0" lvl="1"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can function in the face of congestion</a:t>
              </a:r>
            </a:p>
          </p:txBody>
        </p:sp>
        <p:sp>
          <p:nvSpPr>
            <p:cNvPr id="10" name="Rectangle 27">
              <a:extLst>
                <a:ext uri="{FF2B5EF4-FFF2-40B4-BE49-F238E27FC236}">
                  <a16:creationId xmlns:a16="http://schemas.microsoft.com/office/drawing/2014/main" id="{E3B96135-5F05-0D44-B7B9-9BD478D4E907}"/>
                </a:ext>
              </a:extLst>
            </p:cNvPr>
            <p:cNvSpPr>
              <a:spLocks noChangeArrowheads="1"/>
            </p:cNvSpPr>
            <p:nvPr/>
          </p:nvSpPr>
          <p:spPr bwMode="auto">
            <a:xfrm>
              <a:off x="4979987" y="2988017"/>
              <a:ext cx="6630121" cy="3663115"/>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1" name="Text Box 28">
              <a:extLst>
                <a:ext uri="{FF2B5EF4-FFF2-40B4-BE49-F238E27FC236}">
                  <a16:creationId xmlns:a16="http://schemas.microsoft.com/office/drawing/2014/main" id="{3BFEAB49-E79F-FF40-AAAE-C9820F50289A}"/>
                </a:ext>
              </a:extLst>
            </p:cNvPr>
            <p:cNvSpPr txBox="1">
              <a:spLocks noChangeArrowheads="1"/>
            </p:cNvSpPr>
            <p:nvPr/>
          </p:nvSpPr>
          <p:spPr bwMode="auto">
            <a:xfrm>
              <a:off x="5124449" y="2821302"/>
              <a:ext cx="5102112" cy="3789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20000"/>
                </a:spcBef>
                <a:spcAft>
                  <a:spcPct val="0"/>
                </a:spcAft>
                <a:buClr>
                  <a:srgbClr val="000099"/>
                </a:buClr>
                <a:buSzPct val="65000"/>
                <a:buFont typeface="Wingdings" charset="0"/>
                <a:buNone/>
                <a:tabLst/>
                <a:defRPr/>
              </a:pPr>
              <a:r>
                <a:rPr kumimoji="0" lang="en-US" sz="32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W</a:t>
              </a:r>
              <a:r>
                <a:rPr kumimoji="0" lang="en-US" sz="3200" b="0" i="0" u="none" strike="noStrike" kern="0" cap="none" spc="0" normalizeH="0" baseline="0" noProof="0" dirty="0" err="1">
                  <a:ln>
                    <a:noFill/>
                  </a:ln>
                  <a:solidFill>
                    <a:srgbClr val="CC0000"/>
                  </a:solidFill>
                  <a:effectLst/>
                  <a:uLnTx/>
                  <a:uFillTx/>
                  <a:latin typeface="Calibri" panose="020F0502020204030204"/>
                  <a:ea typeface="ＭＳ Ｐゴシック" charset="0"/>
                  <a:cs typeface="+mn-cs"/>
                </a:rPr>
                <a:t>hy</a:t>
              </a:r>
              <a:r>
                <a:rPr kumimoji="0" lang="en-US" sz="32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 is there a UDP?</a:t>
              </a: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2" name="Rectangle 3">
            <a:extLst>
              <a:ext uri="{FF2B5EF4-FFF2-40B4-BE49-F238E27FC236}">
                <a16:creationId xmlns:a16="http://schemas.microsoft.com/office/drawing/2014/main" id="{B958CE44-F1A4-924D-8CEA-640B52DBA4DF}"/>
              </a:ext>
            </a:extLst>
          </p:cNvPr>
          <p:cNvSpPr txBox="1">
            <a:spLocks noChangeArrowheads="1"/>
          </p:cNvSpPr>
          <p:nvPr/>
        </p:nvSpPr>
        <p:spPr>
          <a:xfrm>
            <a:off x="641997" y="4404835"/>
            <a:ext cx="5550595" cy="2060359"/>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33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connectionless:</a:t>
            </a:r>
            <a:endParaRPr kumimoji="0" lang="en-US" altLang="en-US" sz="36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handshaking between UDP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each UDP segment handled independently of others</a:t>
            </a:r>
          </a:p>
        </p:txBody>
      </p:sp>
      <p:sp>
        <p:nvSpPr>
          <p:cNvPr id="13" name="Slide Number Placeholder 2">
            <a:extLst>
              <a:ext uri="{FF2B5EF4-FFF2-40B4-BE49-F238E27FC236}">
                <a16:creationId xmlns:a16="http://schemas.microsoft.com/office/drawing/2014/main" id="{469890C8-B9BA-F74B-84CA-6B1BAB0F6B31}"/>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18</a:t>
            </a:fld>
            <a:endParaRPr lang="en-US" dirty="0"/>
          </a:p>
        </p:txBody>
      </p:sp>
    </p:spTree>
    <p:extLst>
      <p:ext uri="{BB962C8B-B14F-4D97-AF65-F5344CB8AC3E}">
        <p14:creationId xmlns:p14="http://schemas.microsoft.com/office/powerpoint/2010/main" val="3799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a:t>
            </a:r>
          </a:p>
        </p:txBody>
      </p:sp>
      <p:sp>
        <p:nvSpPr>
          <p:cNvPr id="7" name="Rectangle 9">
            <a:extLst>
              <a:ext uri="{FF2B5EF4-FFF2-40B4-BE49-F238E27FC236}">
                <a16:creationId xmlns:a16="http://schemas.microsoft.com/office/drawing/2014/main" id="{0EFE9DD4-40BF-D54C-B457-743C8EAA5EAF}"/>
              </a:ext>
            </a:extLst>
          </p:cNvPr>
          <p:cNvSpPr>
            <a:spLocks noChangeArrowheads="1"/>
          </p:cNvSpPr>
          <p:nvPr/>
        </p:nvSpPr>
        <p:spPr bwMode="auto">
          <a:xfrm>
            <a:off x="798690" y="1543058"/>
            <a:ext cx="11100625" cy="48887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UDP use:</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streaming multimedia apps (loss tolerant, rate sensitive)</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DNS</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SNMP</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HTTP/3</a:t>
            </a: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if reliable transfer needed over UDP (e.g., HTTP/3): </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needed reliability at application layer</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congestion control at application layer</a:t>
            </a:r>
          </a:p>
        </p:txBody>
      </p:sp>
      <p:sp>
        <p:nvSpPr>
          <p:cNvPr id="4" name="Slide Number Placeholder 2">
            <a:extLst>
              <a:ext uri="{FF2B5EF4-FFF2-40B4-BE49-F238E27FC236}">
                <a16:creationId xmlns:a16="http://schemas.microsoft.com/office/drawing/2014/main" id="{B160F1B7-DEB2-9342-B89A-69E5B6639506}"/>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19</a:t>
            </a:fld>
            <a:endParaRPr lang="en-US" dirty="0"/>
          </a:p>
        </p:txBody>
      </p:sp>
    </p:spTree>
    <p:extLst>
      <p:ext uri="{BB962C8B-B14F-4D97-AF65-F5344CB8AC3E}">
        <p14:creationId xmlns:p14="http://schemas.microsoft.com/office/powerpoint/2010/main" val="166435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cxnSp>
        <p:nvCxnSpPr>
          <p:cNvPr id="10" name="Straight Connector 9">
            <a:extLst>
              <a:ext uri="{FF2B5EF4-FFF2-40B4-BE49-F238E27FC236}">
                <a16:creationId xmlns:a16="http://schemas.microsoft.com/office/drawing/2014/main" id="{19E97DC1-5C01-E843-A657-ADC5FEA14075}"/>
              </a:ext>
            </a:extLst>
          </p:cNvPr>
          <p:cNvCxnSpPr>
            <a:cxnSpLocks/>
            <a:stCxn id="151" idx="2"/>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C57AC1A-9B60-DC47-A97D-E9C39D845828}"/>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63" name="Freeform 70">
            <a:extLst>
              <a:ext uri="{FF2B5EF4-FFF2-40B4-BE49-F238E27FC236}">
                <a16:creationId xmlns:a16="http://schemas.microsoft.com/office/drawing/2014/main" id="{93CF945F-B7C1-9B4F-9438-D2DF7708E687}"/>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AA415DCF-A2D2-344B-9A45-F3F58006C5EE}"/>
              </a:ext>
            </a:extLst>
          </p:cNvPr>
          <p:cNvGrpSpPr/>
          <p:nvPr/>
        </p:nvGrpSpPr>
        <p:grpSpPr>
          <a:xfrm>
            <a:off x="1687770" y="2167472"/>
            <a:ext cx="2131701" cy="2912558"/>
            <a:chOff x="8091785" y="2078288"/>
            <a:chExt cx="2364905" cy="2912558"/>
          </a:xfrm>
        </p:grpSpPr>
        <p:sp>
          <p:nvSpPr>
            <p:cNvPr id="165" name="Rectangle 23">
              <a:extLst>
                <a:ext uri="{FF2B5EF4-FFF2-40B4-BE49-F238E27FC236}">
                  <a16:creationId xmlns:a16="http://schemas.microsoft.com/office/drawing/2014/main" id="{20790EF2-7EC4-BF46-AE61-5F193F0894CD}"/>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Rectangle 24">
              <a:extLst>
                <a:ext uri="{FF2B5EF4-FFF2-40B4-BE49-F238E27FC236}">
                  <a16:creationId xmlns:a16="http://schemas.microsoft.com/office/drawing/2014/main" id="{DF6E9285-B785-804B-BB24-0405637B9911}"/>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 name="Line 25">
              <a:extLst>
                <a:ext uri="{FF2B5EF4-FFF2-40B4-BE49-F238E27FC236}">
                  <a16:creationId xmlns:a16="http://schemas.microsoft.com/office/drawing/2014/main" id="{C2F7FFF2-43B5-A648-8DB9-1244002B1EED}"/>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Text Box 26">
              <a:extLst>
                <a:ext uri="{FF2B5EF4-FFF2-40B4-BE49-F238E27FC236}">
                  <a16:creationId xmlns:a16="http://schemas.microsoft.com/office/drawing/2014/main" id="{38AC5752-2E10-AE4C-AE2E-F2F12589ABF6}"/>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69" name="Line 27">
              <a:extLst>
                <a:ext uri="{FF2B5EF4-FFF2-40B4-BE49-F238E27FC236}">
                  <a16:creationId xmlns:a16="http://schemas.microsoft.com/office/drawing/2014/main" id="{E6411346-D908-6048-94E9-4C9C6A9C97BF}"/>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26">
              <a:extLst>
                <a:ext uri="{FF2B5EF4-FFF2-40B4-BE49-F238E27FC236}">
                  <a16:creationId xmlns:a16="http://schemas.microsoft.com/office/drawing/2014/main" id="{2BD45E5F-4032-7A44-91A7-D2ED37DE30B7}"/>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1" name="Text Box 26">
              <a:extLst>
                <a:ext uri="{FF2B5EF4-FFF2-40B4-BE49-F238E27FC236}">
                  <a16:creationId xmlns:a16="http://schemas.microsoft.com/office/drawing/2014/main" id="{067129BD-4E72-804E-9941-0CFB2ABB0A6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72" name="Text Box 26">
              <a:extLst>
                <a:ext uri="{FF2B5EF4-FFF2-40B4-BE49-F238E27FC236}">
                  <a16:creationId xmlns:a16="http://schemas.microsoft.com/office/drawing/2014/main" id="{586097BE-C9CD-2B44-A610-13D1A1572A56}"/>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73" name="Line 27">
              <a:extLst>
                <a:ext uri="{FF2B5EF4-FFF2-40B4-BE49-F238E27FC236}">
                  <a16:creationId xmlns:a16="http://schemas.microsoft.com/office/drawing/2014/main" id="{9A1DE5DC-7E6A-4747-9541-02B87C77AC36}"/>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4" name="Line 27">
              <a:extLst>
                <a:ext uri="{FF2B5EF4-FFF2-40B4-BE49-F238E27FC236}">
                  <a16:creationId xmlns:a16="http://schemas.microsoft.com/office/drawing/2014/main" id="{9B2D570F-120B-6D41-8FE2-002A2DC1204D}"/>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Text Box 26">
              <a:extLst>
                <a:ext uri="{FF2B5EF4-FFF2-40B4-BE49-F238E27FC236}">
                  <a16:creationId xmlns:a16="http://schemas.microsoft.com/office/drawing/2014/main" id="{3C035217-7FD4-6C48-AB72-7561321B3669}"/>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176" name="Group 175">
            <a:extLst>
              <a:ext uri="{FF2B5EF4-FFF2-40B4-BE49-F238E27FC236}">
                <a16:creationId xmlns:a16="http://schemas.microsoft.com/office/drawing/2014/main" id="{7C64A43A-1B07-3348-A5EB-9B76F69646C0}"/>
              </a:ext>
            </a:extLst>
          </p:cNvPr>
          <p:cNvGrpSpPr/>
          <p:nvPr/>
        </p:nvGrpSpPr>
        <p:grpSpPr>
          <a:xfrm>
            <a:off x="500734" y="4943580"/>
            <a:ext cx="1026523" cy="597153"/>
            <a:chOff x="7493876" y="2774731"/>
            <a:chExt cx="1481958" cy="894622"/>
          </a:xfrm>
        </p:grpSpPr>
        <p:sp>
          <p:nvSpPr>
            <p:cNvPr id="177" name="Freeform 176">
              <a:extLst>
                <a:ext uri="{FF2B5EF4-FFF2-40B4-BE49-F238E27FC236}">
                  <a16:creationId xmlns:a16="http://schemas.microsoft.com/office/drawing/2014/main" id="{0DB8B5ED-7F25-B645-878C-116DE6CD5EA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78" name="Oval 177">
              <a:extLst>
                <a:ext uri="{FF2B5EF4-FFF2-40B4-BE49-F238E27FC236}">
                  <a16:creationId xmlns:a16="http://schemas.microsoft.com/office/drawing/2014/main" id="{AFB4D1D4-1D5D-7C46-A31B-48B19CA0A81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79" name="Group 178">
              <a:extLst>
                <a:ext uri="{FF2B5EF4-FFF2-40B4-BE49-F238E27FC236}">
                  <a16:creationId xmlns:a16="http://schemas.microsoft.com/office/drawing/2014/main" id="{8D1FB4E3-A216-1446-87E1-A06F139F800A}"/>
                </a:ext>
              </a:extLst>
            </p:cNvPr>
            <p:cNvGrpSpPr/>
            <p:nvPr/>
          </p:nvGrpSpPr>
          <p:grpSpPr>
            <a:xfrm>
              <a:off x="7713663" y="2848339"/>
              <a:ext cx="1042107" cy="425543"/>
              <a:chOff x="7786941" y="2884917"/>
              <a:chExt cx="897649" cy="353919"/>
            </a:xfrm>
          </p:grpSpPr>
          <p:sp>
            <p:nvSpPr>
              <p:cNvPr id="180" name="Freeform 179">
                <a:extLst>
                  <a:ext uri="{FF2B5EF4-FFF2-40B4-BE49-F238E27FC236}">
                    <a16:creationId xmlns:a16="http://schemas.microsoft.com/office/drawing/2014/main" id="{2B930530-1BA2-8049-A625-480A1F84B91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1" name="Freeform 180">
                <a:extLst>
                  <a:ext uri="{FF2B5EF4-FFF2-40B4-BE49-F238E27FC236}">
                    <a16:creationId xmlns:a16="http://schemas.microsoft.com/office/drawing/2014/main" id="{C5B65EDD-F107-4D4D-8254-28F27CB3355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5" name="Freeform 194">
                <a:extLst>
                  <a:ext uri="{FF2B5EF4-FFF2-40B4-BE49-F238E27FC236}">
                    <a16:creationId xmlns:a16="http://schemas.microsoft.com/office/drawing/2014/main" id="{052D8468-97DE-CD48-9220-0D7B5D1582B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6" name="Freeform 195">
                <a:extLst>
                  <a:ext uri="{FF2B5EF4-FFF2-40B4-BE49-F238E27FC236}">
                    <a16:creationId xmlns:a16="http://schemas.microsoft.com/office/drawing/2014/main" id="{CD0FBE04-ADDE-184C-8DFE-2575EA709AD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grpSp>
        <p:nvGrpSpPr>
          <p:cNvPr id="197" name="Group 149">
            <a:extLst>
              <a:ext uri="{FF2B5EF4-FFF2-40B4-BE49-F238E27FC236}">
                <a16:creationId xmlns:a16="http://schemas.microsoft.com/office/drawing/2014/main" id="{1F890155-D0B7-364C-891D-EC128001048E}"/>
              </a:ext>
            </a:extLst>
          </p:cNvPr>
          <p:cNvGrpSpPr>
            <a:grpSpLocks/>
          </p:cNvGrpSpPr>
          <p:nvPr/>
        </p:nvGrpSpPr>
        <p:grpSpPr bwMode="auto">
          <a:xfrm>
            <a:off x="2462207" y="2756023"/>
            <a:ext cx="412750" cy="158750"/>
            <a:chOff x="1287" y="2524"/>
            <a:chExt cx="260" cy="100"/>
          </a:xfrm>
        </p:grpSpPr>
        <p:sp>
          <p:nvSpPr>
            <p:cNvPr id="198" name="Rectangle 73">
              <a:extLst>
                <a:ext uri="{FF2B5EF4-FFF2-40B4-BE49-F238E27FC236}">
                  <a16:creationId xmlns:a16="http://schemas.microsoft.com/office/drawing/2014/main" id="{590049C7-843C-1B4A-89F9-80D6028F7F02}"/>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9" name="Rectangle 74">
              <a:extLst>
                <a:ext uri="{FF2B5EF4-FFF2-40B4-BE49-F238E27FC236}">
                  <a16:creationId xmlns:a16="http://schemas.microsoft.com/office/drawing/2014/main" id="{060ED392-F3E2-5445-9D40-5D86C1A7E8FA}"/>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75">
              <a:extLst>
                <a:ext uri="{FF2B5EF4-FFF2-40B4-BE49-F238E27FC236}">
                  <a16:creationId xmlns:a16="http://schemas.microsoft.com/office/drawing/2014/main" id="{33BE5C08-8C7C-7149-875A-3BD200DF748C}"/>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Rectangle 129">
              <a:extLst>
                <a:ext uri="{FF2B5EF4-FFF2-40B4-BE49-F238E27FC236}">
                  <a16:creationId xmlns:a16="http://schemas.microsoft.com/office/drawing/2014/main" id="{0140B062-405E-0A48-ABA2-65AE09DF9CCF}"/>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85" name="Group 149">
            <a:extLst>
              <a:ext uri="{FF2B5EF4-FFF2-40B4-BE49-F238E27FC236}">
                <a16:creationId xmlns:a16="http://schemas.microsoft.com/office/drawing/2014/main" id="{2BE2291A-54C4-114A-8062-D743A8CDF9EC}"/>
              </a:ext>
            </a:extLst>
          </p:cNvPr>
          <p:cNvGrpSpPr>
            <a:grpSpLocks/>
          </p:cNvGrpSpPr>
          <p:nvPr/>
        </p:nvGrpSpPr>
        <p:grpSpPr bwMode="auto">
          <a:xfrm>
            <a:off x="9681144" y="2673610"/>
            <a:ext cx="412750" cy="158750"/>
            <a:chOff x="1287" y="2524"/>
            <a:chExt cx="260" cy="100"/>
          </a:xfrm>
        </p:grpSpPr>
        <p:sp>
          <p:nvSpPr>
            <p:cNvPr id="86" name="Rectangle 73">
              <a:extLst>
                <a:ext uri="{FF2B5EF4-FFF2-40B4-BE49-F238E27FC236}">
                  <a16:creationId xmlns:a16="http://schemas.microsoft.com/office/drawing/2014/main" id="{A98E76A7-87AD-8242-988E-0E4DFC2782A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Rectangle 74">
              <a:extLst>
                <a:ext uri="{FF2B5EF4-FFF2-40B4-BE49-F238E27FC236}">
                  <a16:creationId xmlns:a16="http://schemas.microsoft.com/office/drawing/2014/main" id="{05A0AED4-CB55-8B44-A573-91C3CC5195FE}"/>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8" name="Rectangle 75">
              <a:extLst>
                <a:ext uri="{FF2B5EF4-FFF2-40B4-BE49-F238E27FC236}">
                  <a16:creationId xmlns:a16="http://schemas.microsoft.com/office/drawing/2014/main" id="{E473A3B0-4DB9-E148-95E3-5518DB468C96}"/>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9" name="Rectangle 129">
              <a:extLst>
                <a:ext uri="{FF2B5EF4-FFF2-40B4-BE49-F238E27FC236}">
                  <a16:creationId xmlns:a16="http://schemas.microsoft.com/office/drawing/2014/main" id="{E9ED0EE1-76D9-D04D-8893-5E36E5A75578}"/>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90" name="Slide Number Placeholder 2">
            <a:extLst>
              <a:ext uri="{FF2B5EF4-FFF2-40B4-BE49-F238E27FC236}">
                <a16:creationId xmlns:a16="http://schemas.microsoft.com/office/drawing/2014/main" id="{1B520EE5-2EFC-4746-B182-97170136E2D8}"/>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20</a:t>
            </a:fld>
            <a:endParaRPr lang="en-US" dirty="0"/>
          </a:p>
        </p:txBody>
      </p:sp>
    </p:spTree>
    <p:extLst>
      <p:ext uri="{BB962C8B-B14F-4D97-AF65-F5344CB8AC3E}">
        <p14:creationId xmlns:p14="http://schemas.microsoft.com/office/powerpoint/2010/main" val="2593454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93" name="Group 92">
            <a:extLst>
              <a:ext uri="{FF2B5EF4-FFF2-40B4-BE49-F238E27FC236}">
                <a16:creationId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sender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8502120" y="2078245"/>
            <a:ext cx="1986815"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9130164" y="2303106"/>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391544" y="2325099"/>
            <a:ext cx="3825456" cy="103688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is passed an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388186" y="2990916"/>
            <a:ext cx="3825456" cy="103688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UDP segment header fields values</a:t>
            </a:r>
          </a:p>
        </p:txBody>
      </p:sp>
      <p:sp>
        <p:nvSpPr>
          <p:cNvPr id="95" name="TextBox 94">
            <a:extLst>
              <a:ext uri="{FF2B5EF4-FFF2-40B4-BE49-F238E27FC236}">
                <a16:creationId xmlns:a16="http://schemas.microsoft.com/office/drawing/2014/main" id="{BFD6C411-175C-8D4E-9A66-3E03AAA9F0F9}"/>
              </a:ext>
            </a:extLst>
          </p:cNvPr>
          <p:cNvSpPr txBox="1"/>
          <p:nvPr/>
        </p:nvSpPr>
        <p:spPr>
          <a:xfrm>
            <a:off x="4376692" y="35928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UDP segment</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381369" y="40251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IP</a:t>
            </a:r>
          </a:p>
        </p:txBody>
      </p:sp>
      <p:sp>
        <p:nvSpPr>
          <p:cNvPr id="98" name="Rectangle 97">
            <a:extLst>
              <a:ext uri="{FF2B5EF4-FFF2-40B4-BE49-F238E27FC236}">
                <a16:creationId xmlns:a16="http://schemas.microsoft.com/office/drawing/2014/main" id="{EB709716-FAB0-AB45-BCAE-75F8CF2AEC09}"/>
              </a:ext>
            </a:extLst>
          </p:cNvPr>
          <p:cNvSpPr/>
          <p:nvPr/>
        </p:nvSpPr>
        <p:spPr>
          <a:xfrm>
            <a:off x="169333" y="1343378"/>
            <a:ext cx="3723445" cy="4402666"/>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6" name="Group 105">
            <a:extLst>
              <a:ext uri="{FF2B5EF4-FFF2-40B4-BE49-F238E27FC236}">
                <a16:creationId xmlns:a16="http://schemas.microsoft.com/office/drawing/2014/main" id="{73FB16D4-A4BA-C046-940D-43D50465EB6F}"/>
              </a:ext>
            </a:extLst>
          </p:cNvPr>
          <p:cNvGrpSpPr/>
          <p:nvPr/>
        </p:nvGrpSpPr>
        <p:grpSpPr>
          <a:xfrm>
            <a:off x="8473556" y="2992506"/>
            <a:ext cx="1259074" cy="338554"/>
            <a:chOff x="8964789" y="2639236"/>
            <a:chExt cx="1259074" cy="338554"/>
          </a:xfrm>
        </p:grpSpPr>
        <p:sp>
          <p:nvSpPr>
            <p:cNvPr id="125" name="Rectangle 124">
              <a:extLst>
                <a:ext uri="{FF2B5EF4-FFF2-40B4-BE49-F238E27FC236}">
                  <a16:creationId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25">
              <a:extLst>
                <a:ext uri="{FF2B5EF4-FFF2-40B4-BE49-F238E27FC236}">
                  <a16:creationId xmlns:a16="http://schemas.microsoft.com/office/drawing/2014/main"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5" name="Group 4">
            <a:extLst>
              <a:ext uri="{FF2B5EF4-FFF2-40B4-BE49-F238E27FC236}">
                <a16:creationId xmlns:a16="http://schemas.microsoft.com/office/drawing/2014/main" id="{E73E5E98-A439-0647-8DF1-844937CD72A0}"/>
              </a:ext>
            </a:extLst>
          </p:cNvPr>
          <p:cNvGrpSpPr/>
          <p:nvPr/>
        </p:nvGrpSpPr>
        <p:grpSpPr>
          <a:xfrm>
            <a:off x="8545052" y="3003638"/>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grpSp>
      <p:sp>
        <p:nvSpPr>
          <p:cNvPr id="129" name="Slide Number Placeholder 2">
            <a:extLst>
              <a:ext uri="{FF2B5EF4-FFF2-40B4-BE49-F238E27FC236}">
                <a16:creationId xmlns:a16="http://schemas.microsoft.com/office/drawing/2014/main" id="{D1B0B0FD-EB4E-1D48-A59A-E323764428E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221610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500"/>
                                        <p:tgtEl>
                                          <p:spTgt spid="88"/>
                                        </p:tgtEl>
                                      </p:cBhvr>
                                    </p:animEffect>
                                  </p:childTnLst>
                                </p:cTn>
                              </p:par>
                              <p:par>
                                <p:cTn id="8" presetID="0" presetClass="path" presetSubtype="0" accel="50000" decel="50000" fill="hold" nodeType="withEffect">
                                  <p:stCondLst>
                                    <p:cond delay="0"/>
                                  </p:stCondLst>
                                  <p:childTnLst>
                                    <p:animMotion origin="layout" path="M -6.25E-7 -1.48148E-6 L 0.00065 0.10139 " pathEditMode="relative" rAng="0" ptsTypes="AA">
                                      <p:cBhvr>
                                        <p:cTn id="9" dur="2000" fill="hold"/>
                                        <p:tgtEl>
                                          <p:spTgt spid="88"/>
                                        </p:tgtEl>
                                        <p:attrNameLst>
                                          <p:attrName>ppt_x</p:attrName>
                                          <p:attrName>ppt_y</p:attrName>
                                        </p:attrNameLst>
                                      </p:cBhvr>
                                      <p:rCtr x="26" y="5069"/>
                                    </p:animMotion>
                                  </p:childTnLst>
                                </p:cTn>
                              </p:par>
                              <p:par>
                                <p:cTn id="10" presetID="9" presetClass="entr" presetSubtype="0" fill="hold" grpId="0" nodeType="with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dissolve">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dissolve">
                                      <p:cBhvr>
                                        <p:cTn id="17" dur="500"/>
                                        <p:tgtEl>
                                          <p:spTgt spid="10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dissolve">
                                      <p:cBhvr>
                                        <p:cTn id="20" dur="500"/>
                                        <p:tgtEl>
                                          <p:spTgt spid="9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106"/>
                                        </p:tgtEl>
                                      </p:cBhvr>
                                    </p:animEffect>
                                    <p:set>
                                      <p:cBhvr>
                                        <p:cTn id="25" dur="1" fill="hold">
                                          <p:stCondLst>
                                            <p:cond delay="499"/>
                                          </p:stCondLst>
                                        </p:cTn>
                                        <p:tgtEl>
                                          <p:spTgt spid="106"/>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88"/>
                                        </p:tgtEl>
                                      </p:cBhvr>
                                    </p:animEffect>
                                    <p:set>
                                      <p:cBhvr>
                                        <p:cTn id="28" dur="1" fill="hold">
                                          <p:stCondLst>
                                            <p:cond delay="499"/>
                                          </p:stCondLst>
                                        </p:cTn>
                                        <p:tgtEl>
                                          <p:spTgt spid="88"/>
                                        </p:tgtEl>
                                        <p:attrNameLst>
                                          <p:attrName>style.visibility</p:attrName>
                                        </p:attrNameLst>
                                      </p:cBhvr>
                                      <p:to>
                                        <p:strVal val="hidden"/>
                                      </p:to>
                                    </p:se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animEffect transition="in" filter="dissolve">
                                      <p:cBhvr>
                                        <p:cTn id="35" dur="500"/>
                                        <p:tgtEl>
                                          <p:spTgt spid="95"/>
                                        </p:tgtEl>
                                      </p:cBhvr>
                                    </p:animEffec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6.25E-7 -4.81481E-6 L 0.00052 0.09306 " pathEditMode="relative" rAng="0" ptsTypes="AA">
                                      <p:cBhvr>
                                        <p:cTn id="39" dur="2000" fill="hold"/>
                                        <p:tgtEl>
                                          <p:spTgt spid="5"/>
                                        </p:tgtEl>
                                        <p:attrNameLst>
                                          <p:attrName>ppt_x</p:attrName>
                                          <p:attrName>ppt_y</p:attrName>
                                        </p:attrNameLst>
                                      </p:cBhvr>
                                      <p:rCtr x="26" y="4653"/>
                                    </p:animMotion>
                                  </p:childTnLst>
                                </p:cTn>
                              </p:par>
                              <p:par>
                                <p:cTn id="40" presetID="9" presetClass="entr" presetSubtype="0" fill="hold" grpId="0" nodeType="with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dissolve">
                                      <p:cBhvr>
                                        <p:cTn id="42" dur="500"/>
                                        <p:tgtEl>
                                          <p:spTgt spid="97"/>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6.25E-7 0.09098 L -0.00221 0.25996 L -0.11419 0.32385 L -0.4332 0.31806 L -0.55885 0.275 L -0.55885 0.275 " pathEditMode="relative" ptsTypes="AAAAAA">
                                      <p:cBhvr>
                                        <p:cTn id="4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5" grpId="0"/>
      <p:bldP spid="9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93" name="Group 92">
            <a:extLst>
              <a:ext uri="{FF2B5EF4-FFF2-40B4-BE49-F238E27FC236}">
                <a16:creationId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receiver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1655121" y="2160335"/>
            <a:ext cx="2199790"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2355694" y="3088859"/>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380155" y="3324883"/>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378217" y="2693557"/>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UDP checksum header value</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388103" y="2278130"/>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5" name="Group 4">
            <a:extLst>
              <a:ext uri="{FF2B5EF4-FFF2-40B4-BE49-F238E27FC236}">
                <a16:creationId xmlns:a16="http://schemas.microsoft.com/office/drawing/2014/main" id="{E73E5E98-A439-0647-8DF1-844937CD72A0}"/>
              </a:ext>
            </a:extLst>
          </p:cNvPr>
          <p:cNvGrpSpPr/>
          <p:nvPr/>
        </p:nvGrpSpPr>
        <p:grpSpPr>
          <a:xfrm>
            <a:off x="1795827" y="3762839"/>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grpSp>
      <p:sp>
        <p:nvSpPr>
          <p:cNvPr id="127" name="TextBox 126">
            <a:extLst>
              <a:ext uri="{FF2B5EF4-FFF2-40B4-BE49-F238E27FC236}">
                <a16:creationId xmlns:a16="http://schemas.microsoft.com/office/drawing/2014/main" id="{5F6FF1BE-CC44-0642-B5BA-79CC246557BD}"/>
              </a:ext>
            </a:extLst>
          </p:cNvPr>
          <p:cNvSpPr txBox="1"/>
          <p:nvPr/>
        </p:nvSpPr>
        <p:spPr>
          <a:xfrm>
            <a:off x="4379533" y="3932414"/>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demultiplexes message up to application via socket</a:t>
            </a:r>
          </a:p>
        </p:txBody>
      </p:sp>
      <p:sp>
        <p:nvSpPr>
          <p:cNvPr id="128" name="Rectangle 127">
            <a:extLst>
              <a:ext uri="{FF2B5EF4-FFF2-40B4-BE49-F238E27FC236}">
                <a16:creationId xmlns:a16="http://schemas.microsoft.com/office/drawing/2014/main" id="{279B4C12-D49E-4A40-9C38-F2E92ECDF43A}"/>
              </a:ext>
            </a:extLst>
          </p:cNvPr>
          <p:cNvSpPr/>
          <p:nvPr/>
        </p:nvSpPr>
        <p:spPr>
          <a:xfrm>
            <a:off x="8348341" y="2027305"/>
            <a:ext cx="3416536" cy="330284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Oval 3">
            <a:extLst>
              <a:ext uri="{FF2B5EF4-FFF2-40B4-BE49-F238E27FC236}">
                <a16:creationId xmlns:a16="http://schemas.microsoft.com/office/drawing/2014/main" id="{C0F72514-945E-EB40-9BEE-202BF670272C}"/>
              </a:ext>
            </a:extLst>
          </p:cNvPr>
          <p:cNvSpPr/>
          <p:nvPr/>
        </p:nvSpPr>
        <p:spPr>
          <a:xfrm>
            <a:off x="1741367" y="2989161"/>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9" name="Straight Connector 128">
            <a:extLst>
              <a:ext uri="{FF2B5EF4-FFF2-40B4-BE49-F238E27FC236}">
                <a16:creationId xmlns:a16="http://schemas.microsoft.com/office/drawing/2014/main" id="{55A91E20-BDA5-C441-B395-6979D211F34E}"/>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F8285317-4714-1541-BC02-BED132E59B2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06" name="Slide Number Placeholder 2">
            <a:extLst>
              <a:ext uri="{FF2B5EF4-FFF2-40B4-BE49-F238E27FC236}">
                <a16:creationId xmlns:a16="http://schemas.microsoft.com/office/drawing/2014/main" id="{427E91C8-0248-584A-817F-DE7D57562F2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22</a:t>
            </a:fld>
            <a:endParaRPr lang="en-US" dirty="0"/>
          </a:p>
        </p:txBody>
      </p:sp>
    </p:spTree>
    <p:extLst>
      <p:ext uri="{BB962C8B-B14F-4D97-AF65-F5344CB8AC3E}">
        <p14:creationId xmlns:p14="http://schemas.microsoft.com/office/powerpoint/2010/main" val="333164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14 -0.00208 L 0.00014 -0.09676 " pathEditMode="relative" rAng="0" ptsTypes="AA">
                                      <p:cBhvr>
                                        <p:cTn id="11" dur="2000" fill="hold"/>
                                        <p:tgtEl>
                                          <p:spTgt spid="5"/>
                                        </p:tgtEl>
                                        <p:attrNameLst>
                                          <p:attrName>ppt_x</p:attrName>
                                          <p:attrName>ppt_y</p:attrName>
                                        </p:attrNameLst>
                                      </p:cBhvr>
                                      <p:rCtr x="0" y="-4745"/>
                                    </p:animMotion>
                                  </p:childTnLst>
                                </p:cTn>
                              </p:par>
                              <p:par>
                                <p:cTn id="12" presetID="9" presetClass="entr" presetSubtype="0" fill="hold" grpId="0" nodeType="withEffect">
                                  <p:stCondLst>
                                    <p:cond delay="0"/>
                                  </p:stCondLst>
                                  <p:childTnLst>
                                    <p:set>
                                      <p:cBhvr>
                                        <p:cTn id="13" dur="1" fill="hold">
                                          <p:stCondLst>
                                            <p:cond delay="0"/>
                                          </p:stCondLst>
                                        </p:cTn>
                                        <p:tgtEl>
                                          <p:spTgt spid="97"/>
                                        </p:tgtEl>
                                        <p:attrNameLst>
                                          <p:attrName>style.visibility</p:attrName>
                                        </p:attrNameLst>
                                      </p:cBhvr>
                                      <p:to>
                                        <p:strVal val="visible"/>
                                      </p:to>
                                    </p:set>
                                    <p:animEffect transition="in" filter="dissolve">
                                      <p:cBhvr>
                                        <p:cTn id="14" dur="500"/>
                                        <p:tgtEl>
                                          <p:spTgt spid="9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dissolve">
                                      <p:cBhvr>
                                        <p:cTn id="22" dur="500"/>
                                        <p:tgtEl>
                                          <p:spTgt spid="9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par>
                                <p:cTn id="28" presetID="9" presetClass="exit" presetSubtype="0" fill="hold" grpId="1" nodeType="withEffect">
                                  <p:stCondLst>
                                    <p:cond delay="0"/>
                                  </p:stCondLst>
                                  <p:childTnLst>
                                    <p:animEffect transition="out" filter="dissolv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dissolve">
                                      <p:cBhvr>
                                        <p:cTn id="33" dur="500"/>
                                        <p:tgtEl>
                                          <p:spTgt spid="8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animEffect transition="in" filter="dissolve">
                                      <p:cBhvr>
                                        <p:cTn id="36" dur="500"/>
                                        <p:tgtEl>
                                          <p:spTgt spid="91"/>
                                        </p:tgtEl>
                                      </p:cBhvr>
                                    </p:animEffec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1.66667E-6 -4.81481E-6 L 0.00013 -0.10763 " pathEditMode="relative" rAng="0" ptsTypes="AA">
                                      <p:cBhvr>
                                        <p:cTn id="40" dur="2000" fill="hold"/>
                                        <p:tgtEl>
                                          <p:spTgt spid="88"/>
                                        </p:tgtEl>
                                        <p:attrNameLst>
                                          <p:attrName>ppt_x</p:attrName>
                                          <p:attrName>ppt_y</p:attrName>
                                        </p:attrNameLst>
                                      </p:cBhvr>
                                      <p:rCtr x="0" y="-5394"/>
                                    </p:animMotion>
                                  </p:childTnLst>
                                </p:cTn>
                              </p:par>
                              <p:par>
                                <p:cTn id="41" presetID="9" presetClass="entr" presetSubtype="0" fill="hold" grpId="0" nodeType="withEffect">
                                  <p:stCondLst>
                                    <p:cond delay="0"/>
                                  </p:stCondLst>
                                  <p:childTnLst>
                                    <p:set>
                                      <p:cBhvr>
                                        <p:cTn id="42" dur="1" fill="hold">
                                          <p:stCondLst>
                                            <p:cond delay="0"/>
                                          </p:stCondLst>
                                        </p:cTn>
                                        <p:tgtEl>
                                          <p:spTgt spid="127"/>
                                        </p:tgtEl>
                                        <p:attrNameLst>
                                          <p:attrName>style.visibility</p:attrName>
                                        </p:attrNameLst>
                                      </p:cBhvr>
                                      <p:to>
                                        <p:strVal val="visible"/>
                                      </p:to>
                                    </p:set>
                                    <p:animEffect transition="in" filter="dissolve">
                                      <p:cBhvr>
                                        <p:cTn id="43"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7" grpId="0"/>
      <p:bldP spid="127" grpId="0"/>
      <p:bldP spid="4" grpId="0" animBg="1"/>
      <p:bldP spid="4"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segment </a:t>
            </a:r>
            <a:r>
              <a:rPr lang="en-US" dirty="0"/>
              <a:t>Structure</a:t>
            </a:r>
            <a:endParaRPr lang="en-US" sz="4400" dirty="0"/>
          </a:p>
        </p:txBody>
      </p:sp>
      <p:sp>
        <p:nvSpPr>
          <p:cNvPr id="29" name="Rectangle 8">
            <a:extLst>
              <a:ext uri="{FF2B5EF4-FFF2-40B4-BE49-F238E27FC236}">
                <a16:creationId xmlns:a16="http://schemas.microsoft.com/office/drawing/2014/main" id="{F52AC6CB-EA5F-E34E-A84B-F6174293B55F}"/>
              </a:ext>
            </a:extLst>
          </p:cNvPr>
          <p:cNvSpPr>
            <a:spLocks noChangeArrowheads="1"/>
          </p:cNvSpPr>
          <p:nvPr/>
        </p:nvSpPr>
        <p:spPr bwMode="auto">
          <a:xfrm>
            <a:off x="3902299" y="2017713"/>
            <a:ext cx="3324225" cy="3200400"/>
          </a:xfrm>
          <a:prstGeom prst="rect">
            <a:avLst/>
          </a:prstGeom>
          <a:solidFill>
            <a:srgbClr val="FFFFFF"/>
          </a:solidFill>
          <a:ln w="349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mn-cs"/>
            </a:endParaRPr>
          </a:p>
        </p:txBody>
      </p:sp>
      <p:sp>
        <p:nvSpPr>
          <p:cNvPr id="30" name="Text Box 9">
            <a:extLst>
              <a:ext uri="{FF2B5EF4-FFF2-40B4-BE49-F238E27FC236}">
                <a16:creationId xmlns:a16="http://schemas.microsoft.com/office/drawing/2014/main" id="{C8E7AF66-85A4-6B43-AFFD-45ABC0217297}"/>
              </a:ext>
            </a:extLst>
          </p:cNvPr>
          <p:cNvSpPr txBox="1">
            <a:spLocks noChangeArrowheads="1"/>
          </p:cNvSpPr>
          <p:nvPr/>
        </p:nvSpPr>
        <p:spPr bwMode="auto">
          <a:xfrm>
            <a:off x="3941987" y="2030413"/>
            <a:ext cx="15636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source port #</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 name="Text Box 10">
            <a:extLst>
              <a:ext uri="{FF2B5EF4-FFF2-40B4-BE49-F238E27FC236}">
                <a16:creationId xmlns:a16="http://schemas.microsoft.com/office/drawing/2014/main" id="{2F2912E8-AD40-5541-9C73-5856C97AF53A}"/>
              </a:ext>
            </a:extLst>
          </p:cNvPr>
          <p:cNvSpPr txBox="1">
            <a:spLocks noChangeArrowheads="1"/>
          </p:cNvSpPr>
          <p:nvPr/>
        </p:nvSpPr>
        <p:spPr bwMode="auto">
          <a:xfrm>
            <a:off x="5727924" y="2030413"/>
            <a:ext cx="1328738"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dest port #</a:t>
            </a:r>
          </a:p>
        </p:txBody>
      </p:sp>
      <p:sp>
        <p:nvSpPr>
          <p:cNvPr id="32" name="Line 11">
            <a:extLst>
              <a:ext uri="{FF2B5EF4-FFF2-40B4-BE49-F238E27FC236}">
                <a16:creationId xmlns:a16="http://schemas.microsoft.com/office/drawing/2014/main" id="{D9BFD291-F38C-E245-812B-D4A7B44A296C}"/>
              </a:ext>
            </a:extLst>
          </p:cNvPr>
          <p:cNvSpPr>
            <a:spLocks noChangeShapeType="1"/>
          </p:cNvSpPr>
          <p:nvPr/>
        </p:nvSpPr>
        <p:spPr bwMode="auto">
          <a:xfrm flipV="1">
            <a:off x="3892774" y="2417763"/>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3" name="Line 12">
            <a:extLst>
              <a:ext uri="{FF2B5EF4-FFF2-40B4-BE49-F238E27FC236}">
                <a16:creationId xmlns:a16="http://schemas.microsoft.com/office/drawing/2014/main" id="{3CE7F4CE-E33B-FD4E-B07F-F5A9DE98853E}"/>
              </a:ext>
            </a:extLst>
          </p:cNvPr>
          <p:cNvSpPr>
            <a:spLocks noChangeShapeType="1"/>
          </p:cNvSpPr>
          <p:nvPr/>
        </p:nvSpPr>
        <p:spPr bwMode="auto">
          <a:xfrm flipV="1">
            <a:off x="3883249" y="2817813"/>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 name="Line 13">
            <a:extLst>
              <a:ext uri="{FF2B5EF4-FFF2-40B4-BE49-F238E27FC236}">
                <a16:creationId xmlns:a16="http://schemas.microsoft.com/office/drawing/2014/main" id="{F55DFF34-EECA-F046-9F88-B6CF84CB8E0C}"/>
              </a:ext>
            </a:extLst>
          </p:cNvPr>
          <p:cNvSpPr>
            <a:spLocks noChangeShapeType="1"/>
          </p:cNvSpPr>
          <p:nvPr/>
        </p:nvSpPr>
        <p:spPr bwMode="auto">
          <a:xfrm flipV="1">
            <a:off x="5540599" y="2017713"/>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 name="Text Box 14">
            <a:extLst>
              <a:ext uri="{FF2B5EF4-FFF2-40B4-BE49-F238E27FC236}">
                <a16:creationId xmlns:a16="http://schemas.microsoft.com/office/drawing/2014/main" id="{99267DCE-8159-FC45-B743-B474F3D4558D}"/>
              </a:ext>
            </a:extLst>
          </p:cNvPr>
          <p:cNvSpPr txBox="1">
            <a:spLocks noChangeArrowheads="1"/>
          </p:cNvSpPr>
          <p:nvPr/>
        </p:nvSpPr>
        <p:spPr bwMode="auto">
          <a:xfrm>
            <a:off x="5048474" y="1552575"/>
            <a:ext cx="9366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32 bits</a:t>
            </a:r>
          </a:p>
        </p:txBody>
      </p:sp>
      <p:sp>
        <p:nvSpPr>
          <p:cNvPr id="36" name="Line 15">
            <a:extLst>
              <a:ext uri="{FF2B5EF4-FFF2-40B4-BE49-F238E27FC236}">
                <a16:creationId xmlns:a16="http://schemas.microsoft.com/office/drawing/2014/main" id="{8D62C2C2-8FA0-A54C-8811-9A937D96CD04}"/>
              </a:ext>
            </a:extLst>
          </p:cNvPr>
          <p:cNvSpPr>
            <a:spLocks noChangeShapeType="1"/>
          </p:cNvSpPr>
          <p:nvPr/>
        </p:nvSpPr>
        <p:spPr bwMode="auto">
          <a:xfrm>
            <a:off x="5997799" y="1784350"/>
            <a:ext cx="1200150" cy="4763"/>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 name="Line 16">
            <a:extLst>
              <a:ext uri="{FF2B5EF4-FFF2-40B4-BE49-F238E27FC236}">
                <a16:creationId xmlns:a16="http://schemas.microsoft.com/office/drawing/2014/main" id="{DE702B00-23E1-474A-9072-DDEE50F76714}"/>
              </a:ext>
            </a:extLst>
          </p:cNvPr>
          <p:cNvSpPr>
            <a:spLocks noChangeShapeType="1"/>
          </p:cNvSpPr>
          <p:nvPr/>
        </p:nvSpPr>
        <p:spPr bwMode="auto">
          <a:xfrm rot="10800000">
            <a:off x="3888012" y="1793875"/>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 name="Text Box 17">
            <a:extLst>
              <a:ext uri="{FF2B5EF4-FFF2-40B4-BE49-F238E27FC236}">
                <a16:creationId xmlns:a16="http://schemas.microsoft.com/office/drawing/2014/main" id="{7A899027-0169-0E41-A632-97B068C6DCF8}"/>
              </a:ext>
            </a:extLst>
          </p:cNvPr>
          <p:cNvSpPr txBox="1">
            <a:spLocks noChangeArrowheads="1"/>
          </p:cNvSpPr>
          <p:nvPr/>
        </p:nvSpPr>
        <p:spPr bwMode="auto">
          <a:xfrm>
            <a:off x="4745262" y="3376613"/>
            <a:ext cx="1389062"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 name="Text Box 19">
            <a:extLst>
              <a:ext uri="{FF2B5EF4-FFF2-40B4-BE49-F238E27FC236}">
                <a16:creationId xmlns:a16="http://schemas.microsoft.com/office/drawing/2014/main" id="{CD850B08-5706-0344-961A-224002B37BA6}"/>
              </a:ext>
            </a:extLst>
          </p:cNvPr>
          <p:cNvSpPr txBox="1">
            <a:spLocks noChangeArrowheads="1"/>
          </p:cNvSpPr>
          <p:nvPr/>
        </p:nvSpPr>
        <p:spPr bwMode="auto">
          <a:xfrm>
            <a:off x="4338862" y="5292725"/>
            <a:ext cx="25241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UDP segment format</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 name="Line 20">
            <a:extLst>
              <a:ext uri="{FF2B5EF4-FFF2-40B4-BE49-F238E27FC236}">
                <a16:creationId xmlns:a16="http://schemas.microsoft.com/office/drawing/2014/main" id="{23E18502-A4AB-B441-8247-C60D9AD14D77}"/>
              </a:ext>
            </a:extLst>
          </p:cNvPr>
          <p:cNvSpPr>
            <a:spLocks noChangeShapeType="1"/>
          </p:cNvSpPr>
          <p:nvPr/>
        </p:nvSpPr>
        <p:spPr bwMode="auto">
          <a:xfrm flipV="1">
            <a:off x="5540599" y="2427288"/>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 name="Text Box 22">
            <a:extLst>
              <a:ext uri="{FF2B5EF4-FFF2-40B4-BE49-F238E27FC236}">
                <a16:creationId xmlns:a16="http://schemas.microsoft.com/office/drawing/2014/main" id="{7C44E6B5-339B-1741-B9C3-A1E3E37268B0}"/>
              </a:ext>
            </a:extLst>
          </p:cNvPr>
          <p:cNvSpPr txBox="1">
            <a:spLocks noChangeArrowheads="1"/>
          </p:cNvSpPr>
          <p:nvPr/>
        </p:nvSpPr>
        <p:spPr bwMode="auto">
          <a:xfrm>
            <a:off x="4284887" y="2420938"/>
            <a:ext cx="8143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length</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 name="Text Box 23">
            <a:extLst>
              <a:ext uri="{FF2B5EF4-FFF2-40B4-BE49-F238E27FC236}">
                <a16:creationId xmlns:a16="http://schemas.microsoft.com/office/drawing/2014/main" id="{47FFCC22-7372-6744-AEF8-0A8B78529255}"/>
              </a:ext>
            </a:extLst>
          </p:cNvPr>
          <p:cNvSpPr txBox="1">
            <a:spLocks noChangeArrowheads="1"/>
          </p:cNvSpPr>
          <p:nvPr/>
        </p:nvSpPr>
        <p:spPr bwMode="auto">
          <a:xfrm>
            <a:off x="5831112" y="2411413"/>
            <a:ext cx="117633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checksum</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 name="Text Box 24">
            <a:extLst>
              <a:ext uri="{FF2B5EF4-FFF2-40B4-BE49-F238E27FC236}">
                <a16:creationId xmlns:a16="http://schemas.microsoft.com/office/drawing/2014/main" id="{485622D4-EF6A-C34A-A27B-A6B8F83BC672}"/>
              </a:ext>
            </a:extLst>
          </p:cNvPr>
          <p:cNvSpPr txBox="1">
            <a:spLocks noChangeArrowheads="1"/>
          </p:cNvSpPr>
          <p:nvPr/>
        </p:nvSpPr>
        <p:spPr bwMode="auto">
          <a:xfrm>
            <a:off x="7623398" y="3421856"/>
            <a:ext cx="2406650" cy="9159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length, in bytes of UDP segment, including header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1D6A5808-0448-DB49-AF97-08E63607B4AB}"/>
              </a:ext>
            </a:extLst>
          </p:cNvPr>
          <p:cNvSpPr>
            <a:spLocks noChangeShapeType="1"/>
          </p:cNvSpPr>
          <p:nvPr/>
        </p:nvSpPr>
        <p:spPr bwMode="auto">
          <a:xfrm flipH="1" flipV="1">
            <a:off x="5142136" y="2597149"/>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 name="Oval 4">
            <a:extLst>
              <a:ext uri="{FF2B5EF4-FFF2-40B4-BE49-F238E27FC236}">
                <a16:creationId xmlns:a16="http://schemas.microsoft.com/office/drawing/2014/main" id="{2155F1E7-7CEF-EC4F-9C9D-C612D6BAA462}"/>
              </a:ext>
            </a:extLst>
          </p:cNvPr>
          <p:cNvSpPr/>
          <p:nvPr/>
        </p:nvSpPr>
        <p:spPr>
          <a:xfrm>
            <a:off x="3695142" y="1957213"/>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val 25">
            <a:extLst>
              <a:ext uri="{FF2B5EF4-FFF2-40B4-BE49-F238E27FC236}">
                <a16:creationId xmlns:a16="http://schemas.microsoft.com/office/drawing/2014/main" id="{BE69DAA7-4CE3-5A48-B429-6D40B6035291}"/>
              </a:ext>
            </a:extLst>
          </p:cNvPr>
          <p:cNvSpPr/>
          <p:nvPr/>
        </p:nvSpPr>
        <p:spPr>
          <a:xfrm>
            <a:off x="5331049" y="1955208"/>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Oval 26">
            <a:extLst>
              <a:ext uri="{FF2B5EF4-FFF2-40B4-BE49-F238E27FC236}">
                <a16:creationId xmlns:a16="http://schemas.microsoft.com/office/drawing/2014/main" id="{AF8B7A60-8E66-CD4B-B67F-657454C69C5D}"/>
              </a:ext>
            </a:extLst>
          </p:cNvPr>
          <p:cNvSpPr/>
          <p:nvPr/>
        </p:nvSpPr>
        <p:spPr>
          <a:xfrm>
            <a:off x="3657042" y="2362801"/>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Oval 47">
            <a:extLst>
              <a:ext uri="{FF2B5EF4-FFF2-40B4-BE49-F238E27FC236}">
                <a16:creationId xmlns:a16="http://schemas.microsoft.com/office/drawing/2014/main" id="{AE79E99F-83A4-EE4E-9BAB-1946BFD0A4A1}"/>
              </a:ext>
            </a:extLst>
          </p:cNvPr>
          <p:cNvSpPr/>
          <p:nvPr/>
        </p:nvSpPr>
        <p:spPr>
          <a:xfrm>
            <a:off x="5290176" y="2341229"/>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Oval 48">
            <a:extLst>
              <a:ext uri="{FF2B5EF4-FFF2-40B4-BE49-F238E27FC236}">
                <a16:creationId xmlns:a16="http://schemas.microsoft.com/office/drawing/2014/main" id="{2AA4BE2E-C7FD-E34F-9626-C89B0B4F43FB}"/>
              </a:ext>
            </a:extLst>
          </p:cNvPr>
          <p:cNvSpPr/>
          <p:nvPr/>
        </p:nvSpPr>
        <p:spPr>
          <a:xfrm>
            <a:off x="4386800" y="3148706"/>
            <a:ext cx="2097870" cy="1560711"/>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Line 25">
            <a:extLst>
              <a:ext uri="{FF2B5EF4-FFF2-40B4-BE49-F238E27FC236}">
                <a16:creationId xmlns:a16="http://schemas.microsoft.com/office/drawing/2014/main" id="{F10F9304-7E0A-6542-A023-9D119B25A076}"/>
              </a:ext>
            </a:extLst>
          </p:cNvPr>
          <p:cNvSpPr>
            <a:spLocks noChangeShapeType="1"/>
          </p:cNvSpPr>
          <p:nvPr/>
        </p:nvSpPr>
        <p:spPr bwMode="auto">
          <a:xfrm flipH="1" flipV="1">
            <a:off x="5915202" y="3972404"/>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1" name="Text Box 24">
            <a:extLst>
              <a:ext uri="{FF2B5EF4-FFF2-40B4-BE49-F238E27FC236}">
                <a16:creationId xmlns:a16="http://schemas.microsoft.com/office/drawing/2014/main" id="{E81BCD01-79B1-A943-81E4-83B20B558C90}"/>
              </a:ext>
            </a:extLst>
          </p:cNvPr>
          <p:cNvSpPr txBox="1">
            <a:spLocks noChangeArrowheads="1"/>
          </p:cNvSpPr>
          <p:nvPr/>
        </p:nvSpPr>
        <p:spPr bwMode="auto">
          <a:xfrm>
            <a:off x="8032927" y="4969559"/>
            <a:ext cx="2406650"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data to/from application layer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 name="Slide Number Placeholder 2">
            <a:extLst>
              <a:ext uri="{FF2B5EF4-FFF2-40B4-BE49-F238E27FC236}">
                <a16:creationId xmlns:a16="http://schemas.microsoft.com/office/drawing/2014/main" id="{43CF0894-FFF1-6D45-9D05-752E85B0BFC5}"/>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23</a:t>
            </a:fld>
            <a:endParaRPr lang="en-US" dirty="0"/>
          </a:p>
        </p:txBody>
      </p:sp>
    </p:spTree>
    <p:extLst>
      <p:ext uri="{BB962C8B-B14F-4D97-AF65-F5344CB8AC3E}">
        <p14:creationId xmlns:p14="http://schemas.microsoft.com/office/powerpoint/2010/main" val="428285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ssolve">
                                      <p:cBhvr>
                                        <p:cTn id="15" dur="500"/>
                                        <p:tgtEl>
                                          <p:spTgt spid="2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dissolv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dissolve">
                                      <p:cBhvr>
                                        <p:cTn id="26" dur="500"/>
                                        <p:tgtEl>
                                          <p:spTgt spid="4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dissolv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5" grpId="0" animBg="1"/>
      <p:bldP spid="26" grpId="0" animBg="1"/>
      <p:bldP spid="27" grpId="0" animBg="1"/>
      <p:bldP spid="48" grpId="0" animBg="1"/>
      <p:bldP spid="49" grpId="0" animBg="1"/>
      <p:bldP spid="50" grpId="0" animBg="1"/>
      <p:bldP spid="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a:t>
            </a: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1270863" y="2652793"/>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Transmitted:            5               6                11</a:t>
            </a: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detect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6" name="Rectangle 4">
            <a:extLst>
              <a:ext uri="{FF2B5EF4-FFF2-40B4-BE49-F238E27FC236}">
                <a16:creationId xmlns:a16="http://schemas.microsoft.com/office/drawing/2014/main" id="{E6366BE9-1119-E949-B583-83377BE7B2FA}"/>
              </a:ext>
            </a:extLst>
          </p:cNvPr>
          <p:cNvSpPr txBox="1">
            <a:spLocks noChangeArrowheads="1"/>
          </p:cNvSpPr>
          <p:nvPr/>
        </p:nvSpPr>
        <p:spPr>
          <a:xfrm>
            <a:off x="1717730" y="4429929"/>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Received:            4               6                11</a:t>
            </a:r>
          </a:p>
        </p:txBody>
      </p:sp>
      <p:grpSp>
        <p:nvGrpSpPr>
          <p:cNvPr id="18" name="Group 17">
            <a:extLst>
              <a:ext uri="{FF2B5EF4-FFF2-40B4-BE49-F238E27FC236}">
                <a16:creationId xmlns:a16="http://schemas.microsoft.com/office/drawing/2014/main" id="{E83263DD-30EB-3A47-BB43-1008E7B8EB3B}"/>
              </a:ext>
            </a:extLst>
          </p:cNvPr>
          <p:cNvGrpSpPr/>
          <p:nvPr/>
        </p:nvGrpSpPr>
        <p:grpSpPr>
          <a:xfrm>
            <a:off x="3781587" y="2118101"/>
            <a:ext cx="3789990" cy="374499"/>
            <a:chOff x="3781587" y="2118101"/>
            <a:chExt cx="3789990" cy="374499"/>
          </a:xfrm>
        </p:grpSpPr>
        <p:sp>
          <p:nvSpPr>
            <p:cNvPr id="3" name="TextBox 2">
              <a:extLst>
                <a:ext uri="{FF2B5EF4-FFF2-40B4-BE49-F238E27FC236}">
                  <a16:creationId xmlns:a16="http://schemas.microsoft.com/office/drawing/2014/main" id="{875CCDE0-7CCA-374E-AAE6-7714B8510863}"/>
                </a:ext>
              </a:extLst>
            </p:cNvPr>
            <p:cNvSpPr txBox="1"/>
            <p:nvPr/>
          </p:nvSpPr>
          <p:spPr>
            <a:xfrm>
              <a:off x="3781587" y="2123268"/>
              <a:ext cx="12104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a:t>
              </a:r>
              <a:r>
                <a:rPr kumimoji="0" lang="en-US" sz="1800" b="0" i="0" u="none" strike="noStrike" kern="1200" cap="none" spc="0" normalizeH="0" baseline="30000" noProof="0" dirty="0">
                  <a:ln>
                    <a:noFill/>
                  </a:ln>
                  <a:solidFill>
                    <a:prstClr val="black"/>
                  </a:solidFill>
                  <a:effectLst/>
                  <a:uLnTx/>
                  <a:uFillTx/>
                  <a:latin typeface="Calibri"/>
                  <a:ea typeface="+mn-ea"/>
                  <a:cs typeface="+mn-cs"/>
                </a:rPr>
                <a:t>st</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8" name="TextBox 7">
              <a:extLst>
                <a:ext uri="{FF2B5EF4-FFF2-40B4-BE49-F238E27FC236}">
                  <a16:creationId xmlns:a16="http://schemas.microsoft.com/office/drawing/2014/main" id="{AC036BB1-E12C-9F45-B7AC-A46C43550AB8}"/>
                </a:ext>
              </a:extLst>
            </p:cNvPr>
            <p:cNvSpPr txBox="1"/>
            <p:nvPr/>
          </p:nvSpPr>
          <p:spPr>
            <a:xfrm>
              <a:off x="5173851" y="2120685"/>
              <a:ext cx="1260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a:t>
              </a:r>
              <a:r>
                <a:rPr kumimoji="0" lang="en-US" sz="1800" b="0" i="0" u="none" strike="noStrike" kern="1200" cap="none" spc="0" normalizeH="0" baseline="30000" noProof="0" dirty="0">
                  <a:ln>
                    <a:noFill/>
                  </a:ln>
                  <a:solidFill>
                    <a:prstClr val="black"/>
                  </a:solidFill>
                  <a:effectLst/>
                  <a:uLnTx/>
                  <a:uFillTx/>
                  <a:latin typeface="Calibri"/>
                  <a:ea typeface="+mn-ea"/>
                  <a:cs typeface="+mn-cs"/>
                </a:rPr>
                <a:t>nd</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9" name="TextBox 8">
              <a:extLst>
                <a:ext uri="{FF2B5EF4-FFF2-40B4-BE49-F238E27FC236}">
                  <a16:creationId xmlns:a16="http://schemas.microsoft.com/office/drawing/2014/main" id="{0EF766B9-0BC5-B243-8C87-21D6B656B474}"/>
                </a:ext>
              </a:extLst>
            </p:cNvPr>
            <p:cNvSpPr txBox="1"/>
            <p:nvPr/>
          </p:nvSpPr>
          <p:spPr>
            <a:xfrm>
              <a:off x="6938070" y="2118101"/>
              <a:ext cx="6335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sum</a:t>
              </a:r>
            </a:p>
          </p:txBody>
        </p:sp>
      </p:grpSp>
      <p:sp>
        <p:nvSpPr>
          <p:cNvPr id="5" name="Down Arrow 4">
            <a:extLst>
              <a:ext uri="{FF2B5EF4-FFF2-40B4-BE49-F238E27FC236}">
                <a16:creationId xmlns:a16="http://schemas.microsoft.com/office/drawing/2014/main" id="{25D45AF0-1848-CC41-9B94-776A4F00467D}"/>
              </a:ext>
            </a:extLst>
          </p:cNvPr>
          <p:cNvSpPr/>
          <p:nvPr/>
        </p:nvSpPr>
        <p:spPr>
          <a:xfrm>
            <a:off x="5269424" y="3316637"/>
            <a:ext cx="1131376" cy="978408"/>
          </a:xfrm>
          <a:prstGeom prst="downArrow">
            <a:avLst/>
          </a:prstGeom>
          <a:gradFill>
            <a:gsLst>
              <a:gs pos="0">
                <a:schemeClr val="accent1">
                  <a:lumMod val="5000"/>
                  <a:lumOff val="95000"/>
                </a:schemeClr>
              </a:gs>
              <a:gs pos="55000">
                <a:srgbClr val="E47E9F"/>
              </a:gs>
              <a:gs pos="83000">
                <a:srgbClr val="CD0004"/>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1" name="Group 10">
            <a:extLst>
              <a:ext uri="{FF2B5EF4-FFF2-40B4-BE49-F238E27FC236}">
                <a16:creationId xmlns:a16="http://schemas.microsoft.com/office/drawing/2014/main" id="{AED0B8C6-3F4F-D744-B0D5-012F7CCC8026}"/>
              </a:ext>
            </a:extLst>
          </p:cNvPr>
          <p:cNvGrpSpPr/>
          <p:nvPr/>
        </p:nvGrpSpPr>
        <p:grpSpPr>
          <a:xfrm>
            <a:off x="4005390" y="4866468"/>
            <a:ext cx="2218236" cy="1079841"/>
            <a:chOff x="4005390" y="4866468"/>
            <a:chExt cx="2218236" cy="1079841"/>
          </a:xfrm>
        </p:grpSpPr>
        <p:sp>
          <p:nvSpPr>
            <p:cNvPr id="4" name="TextBox 3">
              <a:extLst>
                <a:ext uri="{FF2B5EF4-FFF2-40B4-BE49-F238E27FC236}">
                  <a16:creationId xmlns:a16="http://schemas.microsoft.com/office/drawing/2014/main" id="{80290089-A408-1F4D-AD89-57B6FA475BD4}"/>
                </a:ext>
              </a:extLst>
            </p:cNvPr>
            <p:cNvSpPr txBox="1"/>
            <p:nvPr/>
          </p:nvSpPr>
          <p:spPr>
            <a:xfrm>
              <a:off x="4005390" y="5238423"/>
              <a:ext cx="2218236" cy="70788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receiver-computed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a:t>
              </a:r>
            </a:p>
          </p:txBody>
        </p:sp>
        <p:sp>
          <p:nvSpPr>
            <p:cNvPr id="7" name="Right Brace 6">
              <a:extLst>
                <a:ext uri="{FF2B5EF4-FFF2-40B4-BE49-F238E27FC236}">
                  <a16:creationId xmlns:a16="http://schemas.microsoft.com/office/drawing/2014/main" id="{70805D62-6F2B-1F49-A297-2C93A181F097}"/>
                </a:ext>
              </a:extLst>
            </p:cNvPr>
            <p:cNvSpPr/>
            <p:nvPr/>
          </p:nvSpPr>
          <p:spPr>
            <a:xfrm rot="5400000">
              <a:off x="5005953" y="4107051"/>
              <a:ext cx="302449" cy="1821283"/>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5499C2F8-4129-1B44-8C70-BBDF08BD1536}"/>
              </a:ext>
            </a:extLst>
          </p:cNvPr>
          <p:cNvGrpSpPr/>
          <p:nvPr/>
        </p:nvGrpSpPr>
        <p:grpSpPr>
          <a:xfrm>
            <a:off x="6880470" y="4879385"/>
            <a:ext cx="2604945" cy="1064342"/>
            <a:chOff x="6880470" y="4879385"/>
            <a:chExt cx="2604945" cy="1064342"/>
          </a:xfrm>
        </p:grpSpPr>
        <p:sp>
          <p:nvSpPr>
            <p:cNvPr id="12" name="TextBox 11">
              <a:extLst>
                <a:ext uri="{FF2B5EF4-FFF2-40B4-BE49-F238E27FC236}">
                  <a16:creationId xmlns:a16="http://schemas.microsoft.com/office/drawing/2014/main" id="{D9DCA310-B7D2-5B47-90B9-563B10E091FB}"/>
                </a:ext>
              </a:extLst>
            </p:cNvPr>
            <p:cNvSpPr txBox="1"/>
            <p:nvPr/>
          </p:nvSpPr>
          <p:spPr>
            <a:xfrm>
              <a:off x="6880470" y="5235841"/>
              <a:ext cx="260494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sender-computed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 (as received)</a:t>
              </a:r>
            </a:p>
          </p:txBody>
        </p:sp>
        <p:sp>
          <p:nvSpPr>
            <p:cNvPr id="15" name="Right Brace 14">
              <a:extLst>
                <a:ext uri="{FF2B5EF4-FFF2-40B4-BE49-F238E27FC236}">
                  <a16:creationId xmlns:a16="http://schemas.microsoft.com/office/drawing/2014/main" id="{DA615DF0-68E8-EC4F-807E-D486A3197601}"/>
                </a:ext>
              </a:extLst>
            </p:cNvPr>
            <p:cNvSpPr/>
            <p:nvPr/>
          </p:nvSpPr>
          <p:spPr>
            <a:xfrm rot="5400000">
              <a:off x="7219627" y="4631412"/>
              <a:ext cx="266054" cy="761999"/>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6">
            <a:extLst>
              <a:ext uri="{FF2B5EF4-FFF2-40B4-BE49-F238E27FC236}">
                <a16:creationId xmlns:a16="http://schemas.microsoft.com/office/drawing/2014/main" id="{5F01925F-F602-844A-BEF4-A6395DF560AD}"/>
              </a:ext>
            </a:extLst>
          </p:cNvPr>
          <p:cNvGrpSpPr/>
          <p:nvPr/>
        </p:nvGrpSpPr>
        <p:grpSpPr>
          <a:xfrm>
            <a:off x="6121831" y="5201334"/>
            <a:ext cx="821411" cy="1346699"/>
            <a:chOff x="6121831" y="5201334"/>
            <a:chExt cx="821411" cy="1346699"/>
          </a:xfrm>
        </p:grpSpPr>
        <p:pic>
          <p:nvPicPr>
            <p:cNvPr id="1026" name="Picture 2" descr="Image result for error">
              <a:extLst>
                <a:ext uri="{FF2B5EF4-FFF2-40B4-BE49-F238E27FC236}">
                  <a16:creationId xmlns:a16="http://schemas.microsoft.com/office/drawing/2014/main" id="{0F8C0CDD-8B63-9A4B-B799-33D82D530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1831" y="5782776"/>
              <a:ext cx="821411" cy="7652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0916598-558E-9245-AD24-594E54348A33}"/>
                </a:ext>
              </a:extLst>
            </p:cNvPr>
            <p:cNvSpPr txBox="1"/>
            <p:nvPr/>
          </p:nvSpPr>
          <p:spPr>
            <a:xfrm>
              <a:off x="6307811" y="5201334"/>
              <a:ext cx="4138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D0004"/>
                  </a:solidFill>
                  <a:effectLst/>
                  <a:uLnTx/>
                  <a:uFillTx/>
                  <a:latin typeface="Calibri"/>
                  <a:ea typeface="+mn-ea"/>
                  <a:cs typeface="+mn-cs"/>
                </a:rPr>
                <a:t>=</a:t>
              </a:r>
            </a:p>
          </p:txBody>
        </p:sp>
        <p:cxnSp>
          <p:nvCxnSpPr>
            <p:cNvPr id="16" name="Straight Connector 15">
              <a:extLst>
                <a:ext uri="{FF2B5EF4-FFF2-40B4-BE49-F238E27FC236}">
                  <a16:creationId xmlns:a16="http://schemas.microsoft.com/office/drawing/2014/main" id="{33E17EE6-50CC-C042-BC48-5E6E3B972272}"/>
                </a:ext>
              </a:extLst>
            </p:cNvPr>
            <p:cNvCxnSpPr/>
            <p:nvPr/>
          </p:nvCxnSpPr>
          <p:spPr>
            <a:xfrm flipH="1">
              <a:off x="6460174" y="5418195"/>
              <a:ext cx="108488" cy="247973"/>
            </a:xfrm>
            <a:prstGeom prst="line">
              <a:avLst/>
            </a:prstGeom>
            <a:ln w="31750">
              <a:solidFill>
                <a:srgbClr val="CD0004"/>
              </a:solidFill>
            </a:ln>
          </p:spPr>
          <p:style>
            <a:lnRef idx="1">
              <a:schemeClr val="accent1"/>
            </a:lnRef>
            <a:fillRef idx="0">
              <a:schemeClr val="accent1"/>
            </a:fillRef>
            <a:effectRef idx="0">
              <a:schemeClr val="accent1"/>
            </a:effectRef>
            <a:fontRef idx="minor">
              <a:schemeClr val="tx1"/>
            </a:fontRef>
          </p:style>
        </p:cxnSp>
      </p:grpSp>
      <p:sp>
        <p:nvSpPr>
          <p:cNvPr id="21" name="Slide Number Placeholder 2">
            <a:extLst>
              <a:ext uri="{FF2B5EF4-FFF2-40B4-BE49-F238E27FC236}">
                <a16:creationId xmlns:a16="http://schemas.microsoft.com/office/drawing/2014/main" id="{D5723390-FF65-C242-9B32-1814D9E35B6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24</a:t>
            </a:fld>
            <a:endParaRPr lang="en-US" dirty="0"/>
          </a:p>
        </p:txBody>
      </p:sp>
    </p:spTree>
    <p:extLst>
      <p:ext uri="{BB962C8B-B14F-4D97-AF65-F5344CB8AC3E}">
        <p14:creationId xmlns:p14="http://schemas.microsoft.com/office/powerpoint/2010/main" val="16949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dissolv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1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10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6" grpId="0"/>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a:t>
            </a:r>
          </a:p>
        </p:txBody>
      </p:sp>
      <p:sp>
        <p:nvSpPr>
          <p:cNvPr id="27" name="Rectangle 3">
            <a:extLst>
              <a:ext uri="{FF2B5EF4-FFF2-40B4-BE49-F238E27FC236}">
                <a16:creationId xmlns:a16="http://schemas.microsoft.com/office/drawing/2014/main" id="{31698387-9861-714A-B5A0-B2C8BE36CD3A}"/>
              </a:ext>
            </a:extLst>
          </p:cNvPr>
          <p:cNvSpPr txBox="1">
            <a:spLocks noChangeArrowheads="1"/>
          </p:cNvSpPr>
          <p:nvPr/>
        </p:nvSpPr>
        <p:spPr>
          <a:xfrm>
            <a:off x="990599" y="2218943"/>
            <a:ext cx="4662055" cy="447806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sender:</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treat contents of UDP segment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(including UDP header fields and IP addresses)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as sequence of 16-bit integers</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checksum: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addition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complement sum)</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of segment content</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checksum value put into UDP checksum field</a:t>
            </a: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Char char="§"/>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5767820" y="2132890"/>
            <a:ext cx="5728855" cy="408247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receiver</a:t>
            </a:r>
            <a:r>
              <a:rPr kumimoji="0" lang="en-US" altLang="en-US" sz="35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compute checksum of received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 if computed checksum equals checksum field value: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 equal - error detected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Equal - no error detected.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maybe errors nonetheless?</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More later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detect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6" name="Slide Number Placeholder 2">
            <a:extLst>
              <a:ext uri="{FF2B5EF4-FFF2-40B4-BE49-F238E27FC236}">
                <a16:creationId xmlns:a16="http://schemas.microsoft.com/office/drawing/2014/main" id="{D9262EE8-BA51-1D4E-A36D-BDC09C45FA07}"/>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25</a:t>
            </a:fld>
            <a:endParaRPr lang="en-US" dirty="0"/>
          </a:p>
        </p:txBody>
      </p:sp>
    </p:spTree>
    <p:extLst>
      <p:ext uri="{BB962C8B-B14F-4D97-AF65-F5344CB8AC3E}">
        <p14:creationId xmlns:p14="http://schemas.microsoft.com/office/powerpoint/2010/main" val="121197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 an example</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1215441" y="1452111"/>
            <a:ext cx="7772400" cy="2743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13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2466391" y="3069774"/>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777296" y="3862762"/>
            <a:ext cx="63658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1192843" y="4300504"/>
            <a:ext cx="1221040"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checksum</a:t>
            </a:r>
          </a:p>
        </p:txBody>
      </p:sp>
      <p:sp>
        <p:nvSpPr>
          <p:cNvPr id="16" name="Text Box 15">
            <a:extLst>
              <a:ext uri="{FF2B5EF4-FFF2-40B4-BE49-F238E27FC236}">
                <a16:creationId xmlns:a16="http://schemas.microsoft.com/office/drawing/2014/main" id="{228BD91C-645B-7B49-B807-EF571877C7E5}"/>
              </a:ext>
            </a:extLst>
          </p:cNvPr>
          <p:cNvSpPr txBox="1">
            <a:spLocks noChangeArrowheads="1"/>
          </p:cNvSpPr>
          <p:nvPr/>
        </p:nvSpPr>
        <p:spPr bwMode="auto">
          <a:xfrm>
            <a:off x="798690" y="5071610"/>
            <a:ext cx="10367961" cy="1079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Note:</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when adding numbers, a carryout from the most significant bit needs to be added to the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7" name="TextBox 1">
            <a:extLst>
              <a:ext uri="{FF2B5EF4-FFF2-40B4-BE49-F238E27FC236}">
                <a16:creationId xmlns:a16="http://schemas.microsoft.com/office/drawing/2014/main" id="{898A9607-38BF-9544-B70F-067CC64A39AE}"/>
              </a:ext>
            </a:extLst>
          </p:cNvPr>
          <p:cNvSpPr txBox="1">
            <a:spLocks noChangeArrowheads="1"/>
          </p:cNvSpPr>
          <p:nvPr/>
        </p:nvSpPr>
        <p:spPr bwMode="auto">
          <a:xfrm>
            <a:off x="850466" y="6260898"/>
            <a:ext cx="98572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gaia.cs.umass.edu</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kurose_ross</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/interactive/</a:t>
            </a:r>
          </a:p>
        </p:txBody>
      </p:sp>
      <p:sp>
        <p:nvSpPr>
          <p:cNvPr id="4" name="TextBox 3">
            <a:extLst>
              <a:ext uri="{FF2B5EF4-FFF2-40B4-BE49-F238E27FC236}">
                <a16:creationId xmlns:a16="http://schemas.microsoft.com/office/drawing/2014/main" id="{55CFACF2-9C75-D845-963C-B6B5F2FFE843}"/>
              </a:ext>
            </a:extLst>
          </p:cNvPr>
          <p:cNvSpPr txBox="1"/>
          <p:nvPr/>
        </p:nvSpPr>
        <p:spPr>
          <a:xfrm>
            <a:off x="2863959" y="2205031"/>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868710" y="2580910"/>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2501968" y="3194702"/>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1 1 0 1 1 1 0 1 1 1 0 1 1 1 0 1 1</a:t>
            </a:r>
          </a:p>
        </p:txBody>
      </p:sp>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2516833" y="3264149"/>
            <a:ext cx="304800"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916633" y="3201536"/>
            <a:ext cx="1457707"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wraparound</a:t>
            </a: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2440633" y="3788911"/>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669233" y="3576532"/>
            <a:ext cx="5795540" cy="95077"/>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2475478" y="3863610"/>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1 0 1 1 1 0 1 1 1 0 1 1 1 1 0 0</a:t>
            </a:r>
          </a:p>
        </p:txBody>
      </p:sp>
      <p:sp>
        <p:nvSpPr>
          <p:cNvPr id="22" name="TextBox 21">
            <a:extLst>
              <a:ext uri="{FF2B5EF4-FFF2-40B4-BE49-F238E27FC236}">
                <a16:creationId xmlns:a16="http://schemas.microsoft.com/office/drawing/2014/main" id="{6DDD65BC-0FF7-354F-9157-61D155DA77EA}"/>
              </a:ext>
            </a:extLst>
          </p:cNvPr>
          <p:cNvSpPr txBox="1"/>
          <p:nvPr/>
        </p:nvSpPr>
        <p:spPr>
          <a:xfrm>
            <a:off x="2505831" y="4287924"/>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0 1 0 0 0 1 0 0 0 1 0 0 0 0 1 1</a:t>
            </a:r>
          </a:p>
        </p:txBody>
      </p:sp>
      <p:sp>
        <p:nvSpPr>
          <p:cNvPr id="18" name="Slide Number Placeholder 2">
            <a:extLst>
              <a:ext uri="{FF2B5EF4-FFF2-40B4-BE49-F238E27FC236}">
                <a16:creationId xmlns:a16="http://schemas.microsoft.com/office/drawing/2014/main" id="{27145B4A-DA47-BA4F-95DB-F98A913F0982}"/>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26</a:t>
            </a:fld>
            <a:endParaRPr lang="en-US" dirty="0"/>
          </a:p>
        </p:txBody>
      </p:sp>
    </p:spTree>
    <p:extLst>
      <p:ext uri="{BB962C8B-B14F-4D97-AF65-F5344CB8AC3E}">
        <p14:creationId xmlns:p14="http://schemas.microsoft.com/office/powerpoint/2010/main" val="222797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par>
                          <p:cTn id="16" fill="hold">
                            <p:stCondLst>
                              <p:cond delay="500"/>
                            </p:stCondLst>
                            <p:childTnLst>
                              <p:par>
                                <p:cTn id="17" presetID="22" presetClass="entr" presetSubtype="8" fill="hold" grpId="0" nodeType="afterEffect">
                                  <p:stCondLst>
                                    <p:cond delay="50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1500"/>
                            </p:stCondLst>
                            <p:childTnLst>
                              <p:par>
                                <p:cTn id="21" presetID="9" presetClass="entr" presetSubtype="0" fill="hold" grpId="0" nodeType="afterEffect">
                                  <p:stCondLst>
                                    <p:cond delay="500"/>
                                  </p:stCondLst>
                                  <p:childTnLst>
                                    <p:set>
                                      <p:cBhvr>
                                        <p:cTn id="22" dur="1" fill="hold">
                                          <p:stCondLst>
                                            <p:cond delay="0"/>
                                          </p:stCondLst>
                                        </p:cTn>
                                        <p:tgtEl>
                                          <p:spTgt spid="14"/>
                                        </p:tgtEl>
                                        <p:attrNameLst>
                                          <p:attrName>style.visibility</p:attrName>
                                        </p:attrNameLst>
                                      </p:cBhvr>
                                      <p:to>
                                        <p:strVal val="visible"/>
                                      </p:to>
                                    </p:set>
                                    <p:animEffect transition="in" filter="dissolve">
                                      <p:cBhvr>
                                        <p:cTn id="23" dur="500"/>
                                        <p:tgtEl>
                                          <p:spTgt spid="1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20" grpId="0"/>
      <p:bldP spid="10" grpId="0" animBg="1"/>
      <p:bldP spid="11" grpId="0"/>
      <p:bldP spid="14" grpId="0" animBg="1"/>
      <p:bldP spid="15" grpId="0" animBg="1"/>
      <p:bldP spid="21"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 weak protection!</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1215441" y="1452111"/>
            <a:ext cx="7772400" cy="2743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13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2466391" y="3069774"/>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777296" y="3862762"/>
            <a:ext cx="63658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1192843" y="4300504"/>
            <a:ext cx="1221040"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checksum</a:t>
            </a:r>
          </a:p>
        </p:txBody>
      </p:sp>
      <p:sp>
        <p:nvSpPr>
          <p:cNvPr id="4" name="TextBox 3">
            <a:extLst>
              <a:ext uri="{FF2B5EF4-FFF2-40B4-BE49-F238E27FC236}">
                <a16:creationId xmlns:a16="http://schemas.microsoft.com/office/drawing/2014/main" id="{55CFACF2-9C75-D845-963C-B6B5F2FFE843}"/>
              </a:ext>
            </a:extLst>
          </p:cNvPr>
          <p:cNvSpPr txBox="1"/>
          <p:nvPr/>
        </p:nvSpPr>
        <p:spPr>
          <a:xfrm>
            <a:off x="2863959" y="2205031"/>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868710" y="2580910"/>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2501968" y="3194702"/>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1 1 0 1 1 1 0 1 1 1 0 1 1 1 0 1 1</a:t>
            </a:r>
          </a:p>
        </p:txBody>
      </p:sp>
      <p:grpSp>
        <p:nvGrpSpPr>
          <p:cNvPr id="5" name="Group 4">
            <a:extLst>
              <a:ext uri="{FF2B5EF4-FFF2-40B4-BE49-F238E27FC236}">
                <a16:creationId xmlns:a16="http://schemas.microsoft.com/office/drawing/2014/main" id="{5970902B-ACCE-A04E-88F8-76E3A68380F6}"/>
              </a:ext>
            </a:extLst>
          </p:cNvPr>
          <p:cNvGrpSpPr/>
          <p:nvPr/>
        </p:nvGrpSpPr>
        <p:grpSpPr>
          <a:xfrm>
            <a:off x="942391" y="3201536"/>
            <a:ext cx="8001000" cy="1123739"/>
            <a:chOff x="942391" y="3201536"/>
            <a:chExt cx="8001000" cy="1123739"/>
          </a:xfrm>
        </p:grpSpPr>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2542591" y="3264149"/>
              <a:ext cx="304800"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942391" y="3201536"/>
              <a:ext cx="1457707"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wraparound</a:t>
              </a: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2466391" y="3788911"/>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694991" y="3576532"/>
              <a:ext cx="5795540" cy="95077"/>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2501236" y="3863610"/>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1 0 1 1 1 0 1 1 1 0 1 1 1 1 0 0</a:t>
              </a:r>
            </a:p>
          </p:txBody>
        </p:sp>
      </p:grpSp>
      <p:sp>
        <p:nvSpPr>
          <p:cNvPr id="22" name="TextBox 21">
            <a:extLst>
              <a:ext uri="{FF2B5EF4-FFF2-40B4-BE49-F238E27FC236}">
                <a16:creationId xmlns:a16="http://schemas.microsoft.com/office/drawing/2014/main" id="{6DDD65BC-0FF7-354F-9157-61D155DA77EA}"/>
              </a:ext>
            </a:extLst>
          </p:cNvPr>
          <p:cNvSpPr txBox="1"/>
          <p:nvPr/>
        </p:nvSpPr>
        <p:spPr>
          <a:xfrm>
            <a:off x="2505831" y="4287924"/>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0 1 0 0 0 1 0 0 0 1 0 0 0 0 1 1</a:t>
            </a:r>
          </a:p>
        </p:txBody>
      </p:sp>
      <p:grpSp>
        <p:nvGrpSpPr>
          <p:cNvPr id="25" name="Group 24">
            <a:extLst>
              <a:ext uri="{FF2B5EF4-FFF2-40B4-BE49-F238E27FC236}">
                <a16:creationId xmlns:a16="http://schemas.microsoft.com/office/drawing/2014/main" id="{68762320-BD6D-C948-B1B7-DB283C97C3F4}"/>
              </a:ext>
            </a:extLst>
          </p:cNvPr>
          <p:cNvGrpSpPr/>
          <p:nvPr/>
        </p:nvGrpSpPr>
        <p:grpSpPr>
          <a:xfrm>
            <a:off x="7895417" y="1927511"/>
            <a:ext cx="2249559" cy="712515"/>
            <a:chOff x="9436187" y="4862446"/>
            <a:chExt cx="2249559" cy="712515"/>
          </a:xfrm>
        </p:grpSpPr>
        <p:sp>
          <p:nvSpPr>
            <p:cNvPr id="6" name="Oval 5">
              <a:extLst>
                <a:ext uri="{FF2B5EF4-FFF2-40B4-BE49-F238E27FC236}">
                  <a16:creationId xmlns:a16="http://schemas.microsoft.com/office/drawing/2014/main" id="{284FB029-4B65-2048-954A-3FF0EC7EB970}"/>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8" name="Straight Arrow Connector 17">
              <a:extLst>
                <a:ext uri="{FF2B5EF4-FFF2-40B4-BE49-F238E27FC236}">
                  <a16:creationId xmlns:a16="http://schemas.microsoft.com/office/drawing/2014/main" id="{776E060C-7039-6D4E-922A-B4F2B25FA505}"/>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EDC7E60-52B8-E24C-AD91-442CF1A81D58}"/>
                </a:ext>
              </a:extLst>
            </p:cNvPr>
            <p:cNvSpPr txBox="1"/>
            <p:nvPr/>
          </p:nvSpPr>
          <p:spPr>
            <a:xfrm>
              <a:off x="10395008" y="4862446"/>
              <a:ext cx="129073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a:t>
              </a:r>
            </a:p>
          </p:txBody>
        </p:sp>
      </p:grpSp>
      <p:grpSp>
        <p:nvGrpSpPr>
          <p:cNvPr id="26" name="Group 25">
            <a:extLst>
              <a:ext uri="{FF2B5EF4-FFF2-40B4-BE49-F238E27FC236}">
                <a16:creationId xmlns:a16="http://schemas.microsoft.com/office/drawing/2014/main" id="{F267688F-D990-804C-9C00-CC1C467BE801}"/>
              </a:ext>
            </a:extLst>
          </p:cNvPr>
          <p:cNvGrpSpPr/>
          <p:nvPr/>
        </p:nvGrpSpPr>
        <p:grpSpPr>
          <a:xfrm>
            <a:off x="7910407" y="2289202"/>
            <a:ext cx="2249559" cy="712515"/>
            <a:chOff x="9436187" y="4862446"/>
            <a:chExt cx="2249559" cy="712515"/>
          </a:xfrm>
        </p:grpSpPr>
        <p:sp>
          <p:nvSpPr>
            <p:cNvPr id="27" name="Oval 26">
              <a:extLst>
                <a:ext uri="{FF2B5EF4-FFF2-40B4-BE49-F238E27FC236}">
                  <a16:creationId xmlns:a16="http://schemas.microsoft.com/office/drawing/2014/main" id="{7C22365B-07EC-4545-B454-E8C0FAD379FA}"/>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8" name="Straight Arrow Connector 27">
              <a:extLst>
                <a:ext uri="{FF2B5EF4-FFF2-40B4-BE49-F238E27FC236}">
                  <a16:creationId xmlns:a16="http://schemas.microsoft.com/office/drawing/2014/main" id="{3D4A8702-0D2D-8243-9C39-DC082DD83FD6}"/>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E21CCB-6730-9040-AA0C-B91C9765D0AC}"/>
                </a:ext>
              </a:extLst>
            </p:cNvPr>
            <p:cNvSpPr txBox="1"/>
            <p:nvPr/>
          </p:nvSpPr>
          <p:spPr>
            <a:xfrm>
              <a:off x="10395008" y="4862446"/>
              <a:ext cx="129073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a:t>
              </a:r>
            </a:p>
          </p:txBody>
        </p:sp>
      </p:grpSp>
      <p:grpSp>
        <p:nvGrpSpPr>
          <p:cNvPr id="33" name="Group 32">
            <a:extLst>
              <a:ext uri="{FF2B5EF4-FFF2-40B4-BE49-F238E27FC236}">
                <a16:creationId xmlns:a16="http://schemas.microsoft.com/office/drawing/2014/main" id="{99699F57-48BE-454E-800A-4CC5A118241E}"/>
              </a:ext>
            </a:extLst>
          </p:cNvPr>
          <p:cNvGrpSpPr/>
          <p:nvPr/>
        </p:nvGrpSpPr>
        <p:grpSpPr>
          <a:xfrm>
            <a:off x="8933167" y="3121843"/>
            <a:ext cx="2729496" cy="1754326"/>
            <a:chOff x="8933167" y="3121843"/>
            <a:chExt cx="2729496" cy="1754326"/>
          </a:xfrm>
        </p:grpSpPr>
        <p:sp>
          <p:nvSpPr>
            <p:cNvPr id="31" name="Right Brace 30">
              <a:extLst>
                <a:ext uri="{FF2B5EF4-FFF2-40B4-BE49-F238E27FC236}">
                  <a16:creationId xmlns:a16="http://schemas.microsoft.com/office/drawing/2014/main" id="{BC6D80E3-4974-474B-9338-024650CB8A51}"/>
                </a:ext>
              </a:extLst>
            </p:cNvPr>
            <p:cNvSpPr/>
            <p:nvPr/>
          </p:nvSpPr>
          <p:spPr>
            <a:xfrm>
              <a:off x="8933167" y="3244723"/>
              <a:ext cx="247697" cy="1504855"/>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3F87D51E-FE73-0B41-A199-876E1DAEB87D}"/>
                </a:ext>
              </a:extLst>
            </p:cNvPr>
            <p:cNvSpPr txBox="1"/>
            <p:nvPr/>
          </p:nvSpPr>
          <p:spPr>
            <a:xfrm>
              <a:off x="9259241" y="3121843"/>
              <a:ext cx="2403422" cy="1754326"/>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Even though numbers have changed (bit flips), </a:t>
              </a:r>
              <a:r>
                <a:rPr kumimoji="0" lang="en-US" sz="2400" b="0" i="1" u="none" strike="noStrike" kern="1200" cap="none" spc="0" normalizeH="0" baseline="0" noProof="0" dirty="0">
                  <a:ln>
                    <a:noFill/>
                  </a:ln>
                  <a:solidFill>
                    <a:srgbClr val="C00000"/>
                  </a:solidFill>
                  <a:effectLst/>
                  <a:uLnTx/>
                  <a:uFillTx/>
                  <a:latin typeface="Calibri"/>
                  <a:ea typeface="+mn-ea"/>
                  <a:cs typeface="+mn-cs"/>
                </a:rPr>
                <a:t>no</a:t>
              </a:r>
              <a:r>
                <a:rPr kumimoji="0" lang="en-US" sz="2400" b="0" i="0" u="none" strike="noStrike" kern="1200" cap="none" spc="0" normalizeH="0" baseline="0" noProof="0" dirty="0">
                  <a:ln>
                    <a:noFill/>
                  </a:ln>
                  <a:solidFill>
                    <a:prstClr val="black"/>
                  </a:solidFill>
                  <a:effectLst/>
                  <a:uLnTx/>
                  <a:uFillTx/>
                  <a:latin typeface="Calibri"/>
                  <a:ea typeface="+mn-ea"/>
                  <a:cs typeface="+mn-cs"/>
                </a:rPr>
                <a:t> change in checksum!</a:t>
              </a:r>
            </a:p>
          </p:txBody>
        </p:sp>
      </p:grpSp>
      <p:sp>
        <p:nvSpPr>
          <p:cNvPr id="30" name="Slide Number Placeholder 2">
            <a:extLst>
              <a:ext uri="{FF2B5EF4-FFF2-40B4-BE49-F238E27FC236}">
                <a16:creationId xmlns:a16="http://schemas.microsoft.com/office/drawing/2014/main" id="{D233B24E-8C39-314A-B31B-073F993E5C5B}"/>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27</a:t>
            </a:fld>
            <a:endParaRPr lang="en-US" dirty="0"/>
          </a:p>
        </p:txBody>
      </p:sp>
    </p:spTree>
    <p:extLst>
      <p:ext uri="{BB962C8B-B14F-4D97-AF65-F5344CB8AC3E}">
        <p14:creationId xmlns:p14="http://schemas.microsoft.com/office/powerpoint/2010/main" val="119538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7F93F-43AA-4E7C-B651-8A76AD0ED7AD}"/>
              </a:ext>
            </a:extLst>
          </p:cNvPr>
          <p:cNvSpPr>
            <a:spLocks noGrp="1"/>
          </p:cNvSpPr>
          <p:nvPr>
            <p:ph type="title"/>
          </p:nvPr>
        </p:nvSpPr>
        <p:spPr/>
        <p:txBody>
          <a:bodyPr>
            <a:noAutofit/>
          </a:bodyPr>
          <a:lstStyle/>
          <a:p>
            <a:r>
              <a:rPr lang="en-US" sz="2800" b="0" dirty="0"/>
              <a:t>Now you might be wondering why an application developer would ever choose to build an application over UDP rather than over TCP.</a:t>
            </a:r>
            <a:endParaRPr lang="en-IN" sz="2800" dirty="0"/>
          </a:p>
        </p:txBody>
      </p:sp>
      <p:sp>
        <p:nvSpPr>
          <p:cNvPr id="3" name="Content Placeholder 2">
            <a:extLst>
              <a:ext uri="{FF2B5EF4-FFF2-40B4-BE49-F238E27FC236}">
                <a16:creationId xmlns:a16="http://schemas.microsoft.com/office/drawing/2014/main" id="{4D2D2C67-C6BD-4F98-9A8A-2F37ED1DB988}"/>
              </a:ext>
            </a:extLst>
          </p:cNvPr>
          <p:cNvSpPr>
            <a:spLocks noGrp="1"/>
          </p:cNvSpPr>
          <p:nvPr>
            <p:ph sz="half" idx="1"/>
          </p:nvPr>
        </p:nvSpPr>
        <p:spPr/>
        <p:txBody>
          <a:bodyPr>
            <a:normAutofit fontScale="85000" lnSpcReduction="10000"/>
          </a:bodyPr>
          <a:lstStyle/>
          <a:p>
            <a:pPr algn="just"/>
            <a:r>
              <a:rPr lang="en-US" i="1" dirty="0"/>
              <a:t>Finer application-level control over what data is sent, and when: </a:t>
            </a:r>
            <a:r>
              <a:rPr lang="en-IN" dirty="0"/>
              <a:t>Under UDP, as </a:t>
            </a:r>
            <a:r>
              <a:rPr lang="en-US" dirty="0"/>
              <a:t>soon as an application process passes data to UDP, UDP will package the data inside a UDP segment and immediately pass the segment to the network layer.</a:t>
            </a:r>
            <a:endParaRPr lang="en-US" i="1" dirty="0"/>
          </a:p>
          <a:p>
            <a:pPr algn="just"/>
            <a:r>
              <a:rPr lang="en-IN" i="1" dirty="0"/>
              <a:t>No connection establishment: </a:t>
            </a:r>
            <a:r>
              <a:rPr lang="en-US" dirty="0"/>
              <a:t>TCP uses a three-way handshake before it starts to transfer data. UDP just blasts away without any formal preliminaries. Thus UDP does not introduce any delay to  establish a connection.</a:t>
            </a:r>
            <a:endParaRPr lang="en-IN" i="1" dirty="0"/>
          </a:p>
        </p:txBody>
      </p:sp>
      <p:sp>
        <p:nvSpPr>
          <p:cNvPr id="4" name="Content Placeholder 3">
            <a:extLst>
              <a:ext uri="{FF2B5EF4-FFF2-40B4-BE49-F238E27FC236}">
                <a16:creationId xmlns:a16="http://schemas.microsoft.com/office/drawing/2014/main" id="{1C7C4297-D5AF-4EBE-B980-57CC56CE33A7}"/>
              </a:ext>
            </a:extLst>
          </p:cNvPr>
          <p:cNvSpPr>
            <a:spLocks noGrp="1"/>
          </p:cNvSpPr>
          <p:nvPr>
            <p:ph sz="half" idx="2"/>
          </p:nvPr>
        </p:nvSpPr>
        <p:spPr/>
        <p:txBody>
          <a:bodyPr>
            <a:normAutofit fontScale="85000" lnSpcReduction="10000"/>
          </a:bodyPr>
          <a:lstStyle/>
          <a:p>
            <a:pPr algn="just"/>
            <a:r>
              <a:rPr lang="en-IN" i="1" dirty="0"/>
              <a:t>No connection state:</a:t>
            </a:r>
            <a:r>
              <a:rPr lang="en-US" dirty="0"/>
              <a:t>TCP maintains connection state in the end systems. This connection state includes receive and send buffers, congestion-control parameters, and sequence and acknowledgment number parameters.</a:t>
            </a:r>
            <a:endParaRPr lang="en-IN" i="1" dirty="0"/>
          </a:p>
          <a:p>
            <a:pPr algn="just"/>
            <a:r>
              <a:rPr lang="en-IN" i="1" dirty="0"/>
              <a:t>Small packet header overhead:</a:t>
            </a:r>
            <a:r>
              <a:rPr lang="en-US" dirty="0"/>
              <a:t>The TCP segment has 20 bytes of header overhead in every segment, whereas UDP has only 8 bytes of overhead.</a:t>
            </a:r>
            <a:endParaRPr lang="en-IN" dirty="0"/>
          </a:p>
          <a:p>
            <a:endParaRPr lang="en-IN" dirty="0"/>
          </a:p>
        </p:txBody>
      </p:sp>
      <p:sp>
        <p:nvSpPr>
          <p:cNvPr id="5" name="Slide Number Placeholder 4">
            <a:extLst>
              <a:ext uri="{FF2B5EF4-FFF2-40B4-BE49-F238E27FC236}">
                <a16:creationId xmlns:a16="http://schemas.microsoft.com/office/drawing/2014/main" id="{318C12C2-AFE1-4C66-B357-D356A620AF18}"/>
              </a:ext>
            </a:extLst>
          </p:cNvPr>
          <p:cNvSpPr>
            <a:spLocks noGrp="1"/>
          </p:cNvSpPr>
          <p:nvPr>
            <p:ph type="sldNum" sz="quarter" idx="4"/>
          </p:nvPr>
        </p:nvSpPr>
        <p:spPr/>
        <p:txBody>
          <a:bodyPr/>
          <a:lstStyle/>
          <a:p>
            <a:r>
              <a:rPr lang="en-US"/>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2594048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62184" y="196879"/>
            <a:ext cx="11100625" cy="1206442"/>
          </a:xfrm>
        </p:spPr>
        <p:txBody>
          <a:bodyPr>
            <a:normAutofit/>
          </a:bodyPr>
          <a:lstStyle/>
          <a:p>
            <a:r>
              <a:rPr lang="en-US" sz="5400" b="0" dirty="0"/>
              <a:t>Summary</a:t>
            </a:r>
            <a:r>
              <a:rPr lang="en-US" sz="4800" b="0" dirty="0"/>
              <a:t>: UDP</a:t>
            </a:r>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525681" y="1403321"/>
            <a:ext cx="11373633" cy="5247933"/>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“no frills” protocol: </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segments may be lost, delivered out of order</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best effort service: “send and hope for the best”</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UDP has its plusses:</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no setup/handshaking needed (no RTT incurred)</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can function when network service is compromised</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helps with reliability (checksum)</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build additional functionality on top of UDP in application layer (e.g., HTTP/3)</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8024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animEffect transition="in" filter="dissolve">
                                      <p:cBhvr>
                                        <p:cTn id="7" dur="500"/>
                                        <p:tgtEl>
                                          <p:spTgt spid="128">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28">
                                            <p:txEl>
                                              <p:pRg st="1" end="1"/>
                                            </p:txEl>
                                          </p:spTgt>
                                        </p:tgtEl>
                                        <p:attrNameLst>
                                          <p:attrName>style.visibility</p:attrName>
                                        </p:attrNameLst>
                                      </p:cBhvr>
                                      <p:to>
                                        <p:strVal val="visible"/>
                                      </p:to>
                                    </p:set>
                                    <p:animEffect transition="in" filter="dissolve">
                                      <p:cBhvr>
                                        <p:cTn id="10" dur="500"/>
                                        <p:tgtEl>
                                          <p:spTgt spid="128">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28">
                                            <p:txEl>
                                              <p:pRg st="2" end="2"/>
                                            </p:txEl>
                                          </p:spTgt>
                                        </p:tgtEl>
                                        <p:attrNameLst>
                                          <p:attrName>style.visibility</p:attrName>
                                        </p:attrNameLst>
                                      </p:cBhvr>
                                      <p:to>
                                        <p:strVal val="visible"/>
                                      </p:to>
                                    </p:set>
                                    <p:animEffect transition="in" filter="dissolve">
                                      <p:cBhvr>
                                        <p:cTn id="13" dur="500"/>
                                        <p:tgtEl>
                                          <p:spTgt spid="12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28">
                                            <p:txEl>
                                              <p:pRg st="3" end="3"/>
                                            </p:txEl>
                                          </p:spTgt>
                                        </p:tgtEl>
                                        <p:attrNameLst>
                                          <p:attrName>style.visibility</p:attrName>
                                        </p:attrNameLst>
                                      </p:cBhvr>
                                      <p:to>
                                        <p:strVal val="visible"/>
                                      </p:to>
                                    </p:set>
                                    <p:animEffect transition="in" filter="dissolve">
                                      <p:cBhvr>
                                        <p:cTn id="18" dur="500"/>
                                        <p:tgtEl>
                                          <p:spTgt spid="128">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28">
                                            <p:txEl>
                                              <p:pRg st="4" end="4"/>
                                            </p:txEl>
                                          </p:spTgt>
                                        </p:tgtEl>
                                        <p:attrNameLst>
                                          <p:attrName>style.visibility</p:attrName>
                                        </p:attrNameLst>
                                      </p:cBhvr>
                                      <p:to>
                                        <p:strVal val="visible"/>
                                      </p:to>
                                    </p:set>
                                    <p:animEffect transition="in" filter="dissolve">
                                      <p:cBhvr>
                                        <p:cTn id="21" dur="500"/>
                                        <p:tgtEl>
                                          <p:spTgt spid="128">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28">
                                            <p:txEl>
                                              <p:pRg st="5" end="5"/>
                                            </p:txEl>
                                          </p:spTgt>
                                        </p:tgtEl>
                                        <p:attrNameLst>
                                          <p:attrName>style.visibility</p:attrName>
                                        </p:attrNameLst>
                                      </p:cBhvr>
                                      <p:to>
                                        <p:strVal val="visible"/>
                                      </p:to>
                                    </p:set>
                                    <p:animEffect transition="in" filter="dissolve">
                                      <p:cBhvr>
                                        <p:cTn id="24" dur="500"/>
                                        <p:tgtEl>
                                          <p:spTgt spid="128">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28">
                                            <p:txEl>
                                              <p:pRg st="6" end="6"/>
                                            </p:txEl>
                                          </p:spTgt>
                                        </p:tgtEl>
                                        <p:attrNameLst>
                                          <p:attrName>style.visibility</p:attrName>
                                        </p:attrNameLst>
                                      </p:cBhvr>
                                      <p:to>
                                        <p:strVal val="visible"/>
                                      </p:to>
                                    </p:set>
                                    <p:animEffect transition="in" filter="dissolve">
                                      <p:cBhvr>
                                        <p:cTn id="27" dur="500"/>
                                        <p:tgtEl>
                                          <p:spTgt spid="12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8">
                                            <p:txEl>
                                              <p:pRg st="7" end="7"/>
                                            </p:txEl>
                                          </p:spTgt>
                                        </p:tgtEl>
                                        <p:attrNameLst>
                                          <p:attrName>style.visibility</p:attrName>
                                        </p:attrNameLst>
                                      </p:cBhvr>
                                      <p:to>
                                        <p:strVal val="visible"/>
                                      </p:to>
                                    </p:set>
                                    <p:animEffect transition="in" filter="dissolve">
                                      <p:cBhvr>
                                        <p:cTn id="32" dur="500"/>
                                        <p:tgtEl>
                                          <p:spTgt spid="12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rgbClr val="010086"/>
              </a:buClr>
            </a:pPr>
            <a:r>
              <a:rPr lang="en-US" altLang="en-US" sz="3200" dirty="0">
                <a:cs typeface="Calibri" panose="020F0502020204030204" pitchFamily="34" charset="0"/>
              </a:rPr>
              <a:t>Multiplexing and </a:t>
            </a:r>
            <a:r>
              <a:rPr lang="en-US" altLang="en-US" sz="3200" dirty="0" err="1">
                <a:cs typeface="Calibri" panose="020F0502020204030204" pitchFamily="34" charset="0"/>
              </a:rPr>
              <a:t>demultiplexing</a:t>
            </a:r>
            <a:endParaRPr lang="en-US" altLang="en-US" sz="3200" dirty="0">
              <a:cs typeface="Calibri" panose="020F0502020204030204" pitchFamily="34" charset="0"/>
            </a:endParaRP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(Go-back-N and Selective Repeat) </a:t>
            </a:r>
          </a:p>
          <a:p>
            <a:pPr marL="403225" indent="-285750">
              <a:spcBef>
                <a:spcPts val="800"/>
              </a:spcBef>
            </a:pPr>
            <a:r>
              <a:rPr lang="en-US" sz="3200" dirty="0"/>
              <a:t>Connection-oriented transport: TCP</a:t>
            </a:r>
          </a:p>
          <a:p>
            <a:pPr marL="746125" lvl="1" indent="-288925">
              <a:buFont typeface="Arial"/>
              <a:buChar char="•"/>
              <a:defRPr/>
            </a:pPr>
            <a:r>
              <a:rPr lang="en-US" dirty="0"/>
              <a:t>segment structure</a:t>
            </a:r>
          </a:p>
          <a:p>
            <a:pPr marL="746125" lvl="1" indent="-288925">
              <a:buFont typeface="Arial"/>
              <a:buChar char="•"/>
              <a:defRPr/>
            </a:pPr>
            <a:r>
              <a:rPr lang="en-US" dirty="0"/>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06FDDC9-958A-FA4C-8403-56ABF73A6F8E}"/>
              </a:ext>
            </a:extLst>
          </p:cNvPr>
          <p:cNvSpPr>
            <a:spLocks noGrp="1"/>
          </p:cNvSpPr>
          <p:nvPr>
            <p:ph type="sldNum" sz="quarter" idx="4"/>
          </p:nvPr>
        </p:nvSpPr>
        <p:spPr/>
        <p:txBody>
          <a:bodyPr/>
          <a:lstStyle/>
          <a:p>
            <a:r>
              <a:rPr lang="en-US"/>
              <a:t>Transport Layer: 3-</a:t>
            </a:r>
            <a:fld id="{C4204591-24BD-A542-B9D5-F8D8A88D2FEE}" type="slidenum">
              <a:rPr lang="en-US" smtClean="0"/>
              <a:pPr/>
              <a:t>30</a:t>
            </a:fld>
            <a:endParaRPr lang="en-US" dirty="0"/>
          </a:p>
        </p:txBody>
      </p:sp>
      <p:pic>
        <p:nvPicPr>
          <p:cNvPr id="6" name="Picture 5">
            <a:extLst>
              <a:ext uri="{FF2B5EF4-FFF2-40B4-BE49-F238E27FC236}">
                <a16:creationId xmlns:a16="http://schemas.microsoft.com/office/drawing/2014/main" id="{BC34935B-A6B2-0C48-9638-656FA430E71C}"/>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1327162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overview  </a:t>
            </a:r>
            <a:r>
              <a:rPr lang="en-US" sz="3200" b="0" dirty="0"/>
              <a:t>RFCs: 793,1122, 2018, 5681, 7323</a:t>
            </a:r>
            <a:endParaRPr lang="en-US" sz="4400" b="0" dirty="0"/>
          </a:p>
        </p:txBody>
      </p:sp>
      <p:sp>
        <p:nvSpPr>
          <p:cNvPr id="70" name="Rectangle 3">
            <a:extLst>
              <a:ext uri="{FF2B5EF4-FFF2-40B4-BE49-F238E27FC236}">
                <a16:creationId xmlns:a16="http://schemas.microsoft.com/office/drawing/2014/main" id="{BE7365D6-3297-0A41-9B2B-91B801F95815}"/>
              </a:ext>
            </a:extLst>
          </p:cNvPr>
          <p:cNvSpPr txBox="1">
            <a:spLocks noChangeArrowheads="1"/>
          </p:cNvSpPr>
          <p:nvPr/>
        </p:nvSpPr>
        <p:spPr>
          <a:xfrm>
            <a:off x="5949863" y="1322613"/>
            <a:ext cx="6012953" cy="55353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cumulative ACKs</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pipelining:</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congestion and flow control set window size</a:t>
            </a:r>
            <a:endPar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connection-oriented: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handshaking (exchange of control messages) initializes sender, receiver state before data exchange</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controlled:</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will not overwhelm receiver</a:t>
            </a:r>
          </a:p>
        </p:txBody>
      </p:sp>
      <p:sp>
        <p:nvSpPr>
          <p:cNvPr id="71" name="Rectangle 4">
            <a:extLst>
              <a:ext uri="{FF2B5EF4-FFF2-40B4-BE49-F238E27FC236}">
                <a16:creationId xmlns:a16="http://schemas.microsoft.com/office/drawing/2014/main" id="{B36C086D-3E3E-F04F-BB50-EE7FE6F1A87A}"/>
              </a:ext>
            </a:extLst>
          </p:cNvPr>
          <p:cNvSpPr txBox="1">
            <a:spLocks noChangeArrowheads="1"/>
          </p:cNvSpPr>
          <p:nvPr/>
        </p:nvSpPr>
        <p:spPr>
          <a:xfrm>
            <a:off x="687960" y="1322613"/>
            <a:ext cx="538298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point-to-point</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 sender, one receiver</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reliable, in-order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byte steam:</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message boundaries"</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full duplex data:</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bi-directional data flow in same connection</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MSS: maximum segment size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D9F10C56-26D5-5C45-B097-EE8A46539976}"/>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155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segment structure</a:t>
            </a:r>
            <a:endParaRPr lang="en-US" sz="4400" b="0" dirty="0"/>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4495573" y="1661303"/>
            <a:ext cx="3450544" cy="401997"/>
            <a:chOff x="4495573" y="1661303"/>
            <a:chExt cx="3450544" cy="401997"/>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95573" y="1661303"/>
              <a:ext cx="166370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source port #</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564992" y="1666425"/>
              <a:ext cx="13811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mn-cs"/>
                </a:rPr>
                <a:t>dest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 port #</a:t>
              </a: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4324123" y="1145724"/>
            <a:ext cx="3935412" cy="366713"/>
            <a:chOff x="4324123" y="1145724"/>
            <a:chExt cx="3935412" cy="366713"/>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832248" y="1145724"/>
              <a:ext cx="8572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32 bits</a:t>
              </a:r>
              <a:endParaRPr kumimoji="0" lang="en-US" sz="24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5668735" y="2814187"/>
            <a:ext cx="0" cy="392112"/>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5514748"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5355998" y="2818949"/>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4636966" y="2822952"/>
            <a:ext cx="482824" cy="40767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not</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used</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4713766"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6405335" y="2817362"/>
            <a:ext cx="5252586" cy="731484"/>
            <a:chOff x="6405335" y="2817362"/>
            <a:chExt cx="5252586" cy="731484"/>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405335" y="2817362"/>
              <a:ext cx="174625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900" y="2847115"/>
              <a:ext cx="2933021" cy="7017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4979760" y="1674436"/>
            <a:ext cx="7040433" cy="1034129"/>
            <a:chOff x="4979760" y="1674436"/>
            <a:chExt cx="7040433" cy="1034129"/>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sequence number</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295293" cy="103412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segment seq  #: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counting bytes of data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into </a:t>
              </a:r>
              <a:r>
                <a:rPr kumimoji="0" lang="en-US" sz="2000" b="0" i="0" u="none" strike="noStrike" kern="1200" cap="none" spc="0" normalizeH="0" baseline="0" noProof="0" dirty="0" err="1">
                  <a:ln>
                    <a:noFill/>
                  </a:ln>
                  <a:solidFill>
                    <a:srgbClr val="000000"/>
                  </a:solidFill>
                  <a:effectLst/>
                  <a:uLnTx/>
                  <a:uFillTx/>
                  <a:latin typeface="Calibri" panose="020F0502020204030204"/>
                  <a:ea typeface="ＭＳ Ｐゴシック" charset="0"/>
                  <a:cs typeface="+mn-cs"/>
                </a:rPr>
                <a:t>bytestream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(not segments!)</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5398860" y="4614412"/>
            <a:ext cx="5770816" cy="1113459"/>
            <a:chOff x="5398860" y="4614412"/>
            <a:chExt cx="5770816" cy="1113459"/>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398860" y="4614412"/>
              <a:ext cx="2005013"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2"/>
              <a:ext cx="2189391" cy="1089529"/>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230393" y="1952743"/>
            <a:ext cx="7771793" cy="1241280"/>
            <a:chOff x="230393" y="1952743"/>
            <a:chExt cx="7771793" cy="1241280"/>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47297" y="2855469"/>
              <a:ext cx="303288"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A</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10" y="2430012"/>
                <a:ext cx="340995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217867" y="1965269"/>
                <a:ext cx="3287333" cy="7017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 # of next expected byte; A bit: this is an ACK</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1895418" y="3659802"/>
            <a:ext cx="5828956" cy="1090980"/>
            <a:chOff x="1895418" y="3659802"/>
            <a:chExt cx="5828956" cy="1090980"/>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61" y="3659802"/>
              <a:ext cx="2894013"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options (variable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895418" y="4326050"/>
              <a:ext cx="1688926"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options</a:t>
              </a: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4" y="3859857"/>
              <a:ext cx="1246017" cy="6785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318075" y="2819126"/>
            <a:ext cx="4456458" cy="424732"/>
            <a:chOff x="318075" y="2819126"/>
            <a:chExt cx="4456458" cy="424732"/>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78884" y="2826980"/>
              <a:ext cx="495649" cy="40767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head</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Calibri"/>
                  <a:ea typeface="ＭＳ Ｐゴシック" charset="0"/>
                  <a:cs typeface="+mn-cs"/>
                </a:rPr>
                <a:t>len</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length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24878" y="3174115"/>
            <a:ext cx="6031751" cy="424732"/>
            <a:chOff x="-24878" y="3174115"/>
            <a:chExt cx="6031751" cy="424732"/>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94023" y="3203124"/>
              <a:ext cx="12128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5"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Internet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7" y="3386481"/>
              <a:ext cx="122340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6150711" y="2804662"/>
            <a:ext cx="0" cy="392112"/>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5992924"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5830374"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72543" y="2863949"/>
            <a:ext cx="6190466" cy="2660551"/>
            <a:chOff x="172543" y="2863949"/>
            <a:chExt cx="6190466" cy="2660551"/>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017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RST, SYN, FIN: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connection management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75299" y="2863949"/>
              <a:ext cx="587710" cy="339181"/>
              <a:chOff x="5775299" y="2863949"/>
              <a:chExt cx="587710" cy="339181"/>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83766" y="2864576"/>
                <a:ext cx="279243"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F</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939184" y="2863949"/>
                <a:ext cx="279243"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S</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75299" y="2863950"/>
                <a:ext cx="29687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R</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5277007" y="2859957"/>
            <a:ext cx="2976178" cy="719405"/>
            <a:chOff x="5277007" y="2859957"/>
            <a:chExt cx="2976178" cy="719405"/>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430735" y="3212649"/>
              <a:ext cx="18224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prstClr val="white">
                      <a:lumMod val="75000"/>
                    </a:prstClr>
                  </a:solidFill>
                  <a:effectLst/>
                  <a:uLnTx/>
                  <a:uFillTx/>
                  <a:latin typeface="Arial" charset="0"/>
                  <a:ea typeface="ＭＳ Ｐゴシック" charset="0"/>
                  <a:cs typeface="+mn-cs"/>
                </a:rPr>
                <a:t>Urg</a:t>
              </a:r>
              <a:r>
                <a:rPr kumimoji="0" lang="en-US" sz="1800" b="0" i="0" u="none" strike="noStrike" kern="1200" cap="none" spc="0" normalizeH="0" baseline="0" noProof="0" dirty="0">
                  <a:ln>
                    <a:noFill/>
                  </a:ln>
                  <a:solidFill>
                    <a:prstClr val="white">
                      <a:lumMod val="75000"/>
                    </a:prstClr>
                  </a:solidFill>
                  <a:effectLst/>
                  <a:uLnTx/>
                  <a:uFillTx/>
                  <a:latin typeface="Arial" charset="0"/>
                  <a:ea typeface="ＭＳ Ｐゴシック" charset="0"/>
                  <a:cs typeface="+mn-cs"/>
                </a:rPr>
                <a:t>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77007" y="2859957"/>
              <a:ext cx="627836" cy="345695"/>
              <a:chOff x="5527528" y="3067992"/>
              <a:chExt cx="627836" cy="345695"/>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64900" y="3067992"/>
                <a:ext cx="290464"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P</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527528" y="3075133"/>
                <a:ext cx="316112"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U</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5038305" y="2821148"/>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5198693" y="2812182"/>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82880" y="2863950"/>
            <a:ext cx="5235245" cy="1390074"/>
            <a:chOff x="182880" y="2863950"/>
            <a:chExt cx="5235245" cy="1390074"/>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62499" y="2863950"/>
              <a:ext cx="455626" cy="338554"/>
              <a:chOff x="4962499" y="2863950"/>
              <a:chExt cx="455626" cy="338554"/>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62499" y="2863950"/>
                <a:ext cx="29687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C</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121249" y="2863950"/>
                <a:ext cx="29687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E</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82880" y="3829292"/>
              <a:ext cx="3384479"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 E: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congestion notification</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4" name="Slide Number Placeholder 2">
            <a:extLst>
              <a:ext uri="{FF2B5EF4-FFF2-40B4-BE49-F238E27FC236}">
                <a16:creationId xmlns:a16="http://schemas.microsoft.com/office/drawing/2014/main" id="{A3EE5CD7-E8F0-2F4B-B766-7EC8F235C30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32</a:t>
            </a:fld>
            <a:endParaRPr lang="en-US" dirty="0"/>
          </a:p>
        </p:txBody>
      </p:sp>
    </p:spTree>
    <p:extLst>
      <p:ext uri="{BB962C8B-B14F-4D97-AF65-F5344CB8AC3E}">
        <p14:creationId xmlns:p14="http://schemas.microsoft.com/office/powerpoint/2010/main" val="176151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223" name="Rectangle 5">
            <a:extLst>
              <a:ext uri="{FF2B5EF4-FFF2-40B4-BE49-F238E27FC236}">
                <a16:creationId xmlns:a16="http://schemas.microsoft.com/office/drawing/2014/main" id="{D2976065-03BB-9A44-9CEB-93BE9CAA88A6}"/>
              </a:ext>
            </a:extLst>
          </p:cNvPr>
          <p:cNvSpPr txBox="1">
            <a:spLocks noChangeArrowheads="1"/>
          </p:cNvSpPr>
          <p:nvPr/>
        </p:nvSpPr>
        <p:spPr bwMode="auto">
          <a:xfrm>
            <a:off x="715171" y="1355712"/>
            <a:ext cx="5096669" cy="1311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Sequence numbers:</a:t>
            </a:r>
          </a:p>
          <a:p>
            <a:pPr marL="635000" marR="0" lvl="1" indent="-277813"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byte stream “</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number” of first byte in segment’s data</a:t>
            </a:r>
            <a:endPar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24" name="Group 192">
            <a:extLst>
              <a:ext uri="{FF2B5EF4-FFF2-40B4-BE49-F238E27FC236}">
                <a16:creationId xmlns:a16="http://schemas.microsoft.com/office/drawing/2014/main" id="{9FCDCC73-BB43-8046-8E2C-1100B11E1F9D}"/>
              </a:ext>
            </a:extLst>
          </p:cNvPr>
          <p:cNvGrpSpPr>
            <a:grpSpLocks/>
          </p:cNvGrpSpPr>
          <p:nvPr/>
        </p:nvGrpSpPr>
        <p:grpSpPr bwMode="auto">
          <a:xfrm>
            <a:off x="7783528" y="3989281"/>
            <a:ext cx="3086106" cy="2541588"/>
            <a:chOff x="3520" y="2404"/>
            <a:chExt cx="1944" cy="1601"/>
          </a:xfrm>
        </p:grpSpPr>
        <p:sp>
          <p:nvSpPr>
            <p:cNvPr id="225" name="Rectangle 167">
              <a:extLst>
                <a:ext uri="{FF2B5EF4-FFF2-40B4-BE49-F238E27FC236}">
                  <a16:creationId xmlns:a16="http://schemas.microsoft.com/office/drawing/2014/main"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6" name="Group 148">
              <a:extLst>
                <a:ext uri="{FF2B5EF4-FFF2-40B4-BE49-F238E27FC236}">
                  <a16:creationId xmlns:a16="http://schemas.microsoft.com/office/drawing/2014/main" id="{841F4166-2762-C948-9842-0D47AF0FC7F8}"/>
                </a:ext>
              </a:extLst>
            </p:cNvPr>
            <p:cNvGrpSpPr>
              <a:grpSpLocks/>
            </p:cNvGrpSpPr>
            <p:nvPr/>
          </p:nvGrpSpPr>
          <p:grpSpPr bwMode="auto">
            <a:xfrm>
              <a:off x="3731" y="3291"/>
              <a:ext cx="1252" cy="714"/>
              <a:chOff x="1974" y="2984"/>
              <a:chExt cx="1252" cy="714"/>
            </a:xfrm>
          </p:grpSpPr>
          <p:sp>
            <p:nvSpPr>
              <p:cNvPr id="229" name="Rectangle 149">
                <a:extLst>
                  <a:ext uri="{FF2B5EF4-FFF2-40B4-BE49-F238E27FC236}">
                    <a16:creationId xmlns:a16="http://schemas.microsoft.com/office/drawing/2014/main"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0" name="Text Box 150">
                <a:extLst>
                  <a:ext uri="{FF2B5EF4-FFF2-40B4-BE49-F238E27FC236}">
                    <a16:creationId xmlns:a16="http://schemas.microsoft.com/office/drawing/2014/main" id="{62697352-4BED-A64F-8830-504FE043B5D0}"/>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231" name="Text Box 151">
                <a:extLst>
                  <a:ext uri="{FF2B5EF4-FFF2-40B4-BE49-F238E27FC236}">
                    <a16:creationId xmlns:a16="http://schemas.microsoft.com/office/drawing/2014/main" id="{2C0BFF63-7DCB-6D4D-AF9A-56894AAAD824}"/>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232" name="Text Box 152">
                <a:extLst>
                  <a:ext uri="{FF2B5EF4-FFF2-40B4-BE49-F238E27FC236}">
                    <a16:creationId xmlns:a16="http://schemas.microsoft.com/office/drawing/2014/main" id="{69698EB5-AC5E-124A-AB12-0B1B72742F02}"/>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sequence number</a:t>
                </a:r>
              </a:p>
            </p:txBody>
          </p:sp>
          <p:sp>
            <p:nvSpPr>
              <p:cNvPr id="233" name="Text Box 153">
                <a:extLst>
                  <a:ext uri="{FF2B5EF4-FFF2-40B4-BE49-F238E27FC236}">
                    <a16:creationId xmlns:a16="http://schemas.microsoft.com/office/drawing/2014/main" id="{697ADB2B-E096-7A41-ACDA-9E058B2EFF5D}"/>
                  </a:ext>
                </a:extLst>
              </p:cNvPr>
              <p:cNvSpPr txBox="1">
                <a:spLocks noChangeArrowheads="1"/>
              </p:cNvSpPr>
              <p:nvPr/>
            </p:nvSpPr>
            <p:spPr bwMode="auto">
              <a:xfrm>
                <a:off x="1974" y="3257"/>
                <a:ext cx="125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acknowledgement number</a:t>
                </a:r>
              </a:p>
            </p:txBody>
          </p:sp>
          <p:sp>
            <p:nvSpPr>
              <p:cNvPr id="234" name="Text Box 154">
                <a:extLst>
                  <a:ext uri="{FF2B5EF4-FFF2-40B4-BE49-F238E27FC236}">
                    <a16:creationId xmlns:a16="http://schemas.microsoft.com/office/drawing/2014/main" id="{FD66858C-8D5E-8443-9F2A-57EB759D3EFB}"/>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235" name="Line 155">
                <a:extLst>
                  <a:ext uri="{FF2B5EF4-FFF2-40B4-BE49-F238E27FC236}">
                    <a16:creationId xmlns:a16="http://schemas.microsoft.com/office/drawing/2014/main"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6" name="Line 156">
                <a:extLst>
                  <a:ext uri="{FF2B5EF4-FFF2-40B4-BE49-F238E27FC236}">
                    <a16:creationId xmlns:a16="http://schemas.microsoft.com/office/drawing/2014/main"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Line 157">
                <a:extLst>
                  <a:ext uri="{FF2B5EF4-FFF2-40B4-BE49-F238E27FC236}">
                    <a16:creationId xmlns:a16="http://schemas.microsoft.com/office/drawing/2014/main"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8" name="Line 158">
                <a:extLst>
                  <a:ext uri="{FF2B5EF4-FFF2-40B4-BE49-F238E27FC236}">
                    <a16:creationId xmlns:a16="http://schemas.microsoft.com/office/drawing/2014/main"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Line 159">
                <a:extLst>
                  <a:ext uri="{FF2B5EF4-FFF2-40B4-BE49-F238E27FC236}">
                    <a16:creationId xmlns:a16="http://schemas.microsoft.com/office/drawing/2014/main"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Line 160">
                <a:extLst>
                  <a:ext uri="{FF2B5EF4-FFF2-40B4-BE49-F238E27FC236}">
                    <a16:creationId xmlns:a16="http://schemas.microsoft.com/office/drawing/2014/main"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1" name="Text Box 161">
                <a:extLst>
                  <a:ext uri="{FF2B5EF4-FFF2-40B4-BE49-F238E27FC236}">
                    <a16:creationId xmlns:a16="http://schemas.microsoft.com/office/drawing/2014/main" id="{B0718275-925B-4143-80DA-87B335709565}"/>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242" name="Text Box 162">
                <a:extLst>
                  <a:ext uri="{FF2B5EF4-FFF2-40B4-BE49-F238E27FC236}">
                    <a16:creationId xmlns:a16="http://schemas.microsoft.com/office/drawing/2014/main" id="{539F6CE1-CE5E-234B-9AFA-A6F230193072}"/>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243" name="Line 163">
                <a:extLst>
                  <a:ext uri="{FF2B5EF4-FFF2-40B4-BE49-F238E27FC236}">
                    <a16:creationId xmlns:a16="http://schemas.microsoft.com/office/drawing/2014/main"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Line 164">
                <a:extLst>
                  <a:ext uri="{FF2B5EF4-FFF2-40B4-BE49-F238E27FC236}">
                    <a16:creationId xmlns:a16="http://schemas.microsoft.com/office/drawing/2014/main"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7" name="Text Box 166">
              <a:extLst>
                <a:ext uri="{FF2B5EF4-FFF2-40B4-BE49-F238E27FC236}">
                  <a16:creationId xmlns:a16="http://schemas.microsoft.com/office/drawing/2014/main" id="{A11A42A2-3DE7-8749-BEFC-4B12DFD4E911}"/>
                </a:ext>
              </a:extLst>
            </p:cNvPr>
            <p:cNvSpPr txBox="1">
              <a:spLocks noChangeArrowheads="1"/>
            </p:cNvSpPr>
            <p:nvPr/>
          </p:nvSpPr>
          <p:spPr bwMode="auto">
            <a:xfrm>
              <a:off x="3520" y="3092"/>
              <a:ext cx="194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receiver</a:t>
              </a:r>
            </a:p>
          </p:txBody>
        </p:sp>
        <p:sp>
          <p:nvSpPr>
            <p:cNvPr id="228" name="Freeform 168">
              <a:extLst>
                <a:ext uri="{FF2B5EF4-FFF2-40B4-BE49-F238E27FC236}">
                  <a16:creationId xmlns:a16="http://schemas.microsoft.com/office/drawing/2014/main"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5" name="Group 195">
            <a:extLst>
              <a:ext uri="{FF2B5EF4-FFF2-40B4-BE49-F238E27FC236}">
                <a16:creationId xmlns:a16="http://schemas.microsoft.com/office/drawing/2014/main" id="{B37D7216-C212-C843-A667-53A7C0B847CF}"/>
              </a:ext>
            </a:extLst>
          </p:cNvPr>
          <p:cNvGrpSpPr>
            <a:grpSpLocks/>
          </p:cNvGrpSpPr>
          <p:nvPr/>
        </p:nvGrpSpPr>
        <p:grpSpPr bwMode="auto">
          <a:xfrm>
            <a:off x="8685214" y="6022869"/>
            <a:ext cx="358775" cy="304800"/>
            <a:chOff x="5144" y="3677"/>
            <a:chExt cx="226" cy="192"/>
          </a:xfrm>
        </p:grpSpPr>
        <p:sp>
          <p:nvSpPr>
            <p:cNvPr id="246" name="Rectangle 194">
              <a:extLst>
                <a:ext uri="{FF2B5EF4-FFF2-40B4-BE49-F238E27FC236}">
                  <a16:creationId xmlns:a16="http://schemas.microsoft.com/office/drawing/2014/main"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7" name="Text Box 193">
              <a:extLst>
                <a:ext uri="{FF2B5EF4-FFF2-40B4-BE49-F238E27FC236}">
                  <a16:creationId xmlns:a16="http://schemas.microsoft.com/office/drawing/2014/main" id="{BF6FCEAE-49B5-A041-A298-4CB690E54688}"/>
                </a:ext>
              </a:extLst>
            </p:cNvPr>
            <p:cNvSpPr txBox="1">
              <a:spLocks noChangeArrowheads="1"/>
            </p:cNvSpPr>
            <p:nvPr/>
          </p:nvSpPr>
          <p:spPr bwMode="auto">
            <a:xfrm>
              <a:off x="5144" y="3677"/>
              <a:ext cx="226"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charset="0"/>
                  <a:ea typeface="ＭＳ Ｐゴシック" charset="0"/>
                  <a:cs typeface="+mn-cs"/>
                </a:rPr>
                <a:t>A</a:t>
              </a:r>
            </a:p>
          </p:txBody>
        </p:sp>
      </p:grpSp>
      <p:sp>
        <p:nvSpPr>
          <p:cNvPr id="248" name="Rectangle 37">
            <a:extLst>
              <a:ext uri="{FF2B5EF4-FFF2-40B4-BE49-F238E27FC236}">
                <a16:creationId xmlns:a16="http://schemas.microsoft.com/office/drawing/2014/main" id="{A8678432-C6E0-9045-9DFE-9E95FBC24301}"/>
              </a:ext>
            </a:extLst>
          </p:cNvPr>
          <p:cNvSpPr>
            <a:spLocks noChangeArrowheads="1"/>
          </p:cNvSpPr>
          <p:nvPr/>
        </p:nvSpPr>
        <p:spPr bwMode="auto">
          <a:xfrm>
            <a:off x="6835777" y="3123626"/>
            <a:ext cx="65087" cy="622300"/>
          </a:xfrm>
          <a:prstGeom prst="rect">
            <a:avLst/>
          </a:prstGeom>
          <a:gradFill rotWithShape="1">
            <a:gsLst>
              <a:gs pos="0">
                <a:srgbClr val="FFFFFF"/>
              </a:gs>
              <a:gs pos="100000">
                <a:srgbClr val="33CC33"/>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9" name="Rectangle 39">
            <a:extLst>
              <a:ext uri="{FF2B5EF4-FFF2-40B4-BE49-F238E27FC236}">
                <a16:creationId xmlns:a16="http://schemas.microsoft.com/office/drawing/2014/main" id="{92ADD221-F1C3-B645-92EB-9D1C9315A58A}"/>
              </a:ext>
            </a:extLst>
          </p:cNvPr>
          <p:cNvSpPr>
            <a:spLocks noChangeArrowheads="1"/>
          </p:cNvSpPr>
          <p:nvPr/>
        </p:nvSpPr>
        <p:spPr bwMode="auto">
          <a:xfrm>
            <a:off x="6932614" y="3125214"/>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0" name="Rectangle 40">
            <a:extLst>
              <a:ext uri="{FF2B5EF4-FFF2-40B4-BE49-F238E27FC236}">
                <a16:creationId xmlns:a16="http://schemas.microsoft.com/office/drawing/2014/main" id="{BB8D0EB3-2337-2A41-9EFC-CC44292E23D6}"/>
              </a:ext>
            </a:extLst>
          </p:cNvPr>
          <p:cNvSpPr>
            <a:spLocks noChangeArrowheads="1"/>
          </p:cNvSpPr>
          <p:nvPr/>
        </p:nvSpPr>
        <p:spPr bwMode="auto">
          <a:xfrm>
            <a:off x="703103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1" name="Rectangle 41">
            <a:extLst>
              <a:ext uri="{FF2B5EF4-FFF2-40B4-BE49-F238E27FC236}">
                <a16:creationId xmlns:a16="http://schemas.microsoft.com/office/drawing/2014/main" id="{08B40AAE-C4F3-B24B-A758-0CBE422C11F5}"/>
              </a:ext>
            </a:extLst>
          </p:cNvPr>
          <p:cNvSpPr>
            <a:spLocks noChangeArrowheads="1"/>
          </p:cNvSpPr>
          <p:nvPr/>
        </p:nvSpPr>
        <p:spPr bwMode="auto">
          <a:xfrm>
            <a:off x="7127877" y="3123626"/>
            <a:ext cx="65087"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2" name="Rectangle 42">
            <a:extLst>
              <a:ext uri="{FF2B5EF4-FFF2-40B4-BE49-F238E27FC236}">
                <a16:creationId xmlns:a16="http://schemas.microsoft.com/office/drawing/2014/main" id="{1B696D21-4399-C041-91DC-701FB61A0E4C}"/>
              </a:ext>
            </a:extLst>
          </p:cNvPr>
          <p:cNvSpPr>
            <a:spLocks noChangeArrowheads="1"/>
          </p:cNvSpPr>
          <p:nvPr/>
        </p:nvSpPr>
        <p:spPr bwMode="auto">
          <a:xfrm>
            <a:off x="7223127" y="3123626"/>
            <a:ext cx="65087"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3" name="Rectangle 43">
            <a:extLst>
              <a:ext uri="{FF2B5EF4-FFF2-40B4-BE49-F238E27FC236}">
                <a16:creationId xmlns:a16="http://schemas.microsoft.com/office/drawing/2014/main" id="{2CEBC228-9E7F-7E48-9C85-63629AFC09AA}"/>
              </a:ext>
            </a:extLst>
          </p:cNvPr>
          <p:cNvSpPr>
            <a:spLocks noChangeArrowheads="1"/>
          </p:cNvSpPr>
          <p:nvPr/>
        </p:nvSpPr>
        <p:spPr bwMode="auto">
          <a:xfrm>
            <a:off x="7319964"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4" name="Rectangle 45">
            <a:extLst>
              <a:ext uri="{FF2B5EF4-FFF2-40B4-BE49-F238E27FC236}">
                <a16:creationId xmlns:a16="http://schemas.microsoft.com/office/drawing/2014/main" id="{499D6101-0E72-764D-90A9-65FA5E9288DF}"/>
              </a:ext>
            </a:extLst>
          </p:cNvPr>
          <p:cNvSpPr>
            <a:spLocks noChangeArrowheads="1"/>
          </p:cNvSpPr>
          <p:nvPr/>
        </p:nvSpPr>
        <p:spPr bwMode="auto">
          <a:xfrm>
            <a:off x="741203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46">
            <a:extLst>
              <a:ext uri="{FF2B5EF4-FFF2-40B4-BE49-F238E27FC236}">
                <a16:creationId xmlns:a16="http://schemas.microsoft.com/office/drawing/2014/main" id="{69025D46-11EA-C34F-8D0D-7B789A5DBC95}"/>
              </a:ext>
            </a:extLst>
          </p:cNvPr>
          <p:cNvSpPr>
            <a:spLocks noChangeArrowheads="1"/>
          </p:cNvSpPr>
          <p:nvPr/>
        </p:nvSpPr>
        <p:spPr bwMode="auto">
          <a:xfrm>
            <a:off x="750728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6" name="Rectangle 47">
            <a:extLst>
              <a:ext uri="{FF2B5EF4-FFF2-40B4-BE49-F238E27FC236}">
                <a16:creationId xmlns:a16="http://schemas.microsoft.com/office/drawing/2014/main" id="{097282D2-CB09-6743-BD88-978413D66230}"/>
              </a:ext>
            </a:extLst>
          </p:cNvPr>
          <p:cNvSpPr>
            <a:spLocks noChangeArrowheads="1"/>
          </p:cNvSpPr>
          <p:nvPr/>
        </p:nvSpPr>
        <p:spPr bwMode="auto">
          <a:xfrm>
            <a:off x="760253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7" name="Rectangle 50">
            <a:extLst>
              <a:ext uri="{FF2B5EF4-FFF2-40B4-BE49-F238E27FC236}">
                <a16:creationId xmlns:a16="http://schemas.microsoft.com/office/drawing/2014/main" id="{C44BBA4A-C75F-6344-A7C0-80FA59F967B5}"/>
              </a:ext>
            </a:extLst>
          </p:cNvPr>
          <p:cNvSpPr>
            <a:spLocks noChangeArrowheads="1"/>
          </p:cNvSpPr>
          <p:nvPr/>
        </p:nvSpPr>
        <p:spPr bwMode="auto">
          <a:xfrm>
            <a:off x="7708902" y="3123626"/>
            <a:ext cx="65087"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8" name="Rectangle 51">
            <a:extLst>
              <a:ext uri="{FF2B5EF4-FFF2-40B4-BE49-F238E27FC236}">
                <a16:creationId xmlns:a16="http://schemas.microsoft.com/office/drawing/2014/main" id="{660EEC78-FF50-7445-8190-34F20263528D}"/>
              </a:ext>
            </a:extLst>
          </p:cNvPr>
          <p:cNvSpPr>
            <a:spLocks noChangeArrowheads="1"/>
          </p:cNvSpPr>
          <p:nvPr/>
        </p:nvSpPr>
        <p:spPr bwMode="auto">
          <a:xfrm>
            <a:off x="7807327" y="3125214"/>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Rectangle 52">
            <a:extLst>
              <a:ext uri="{FF2B5EF4-FFF2-40B4-BE49-F238E27FC236}">
                <a16:creationId xmlns:a16="http://schemas.microsoft.com/office/drawing/2014/main" id="{BF1D4EAF-3E48-E64D-A9F0-800C14DE416B}"/>
              </a:ext>
            </a:extLst>
          </p:cNvPr>
          <p:cNvSpPr>
            <a:spLocks noChangeArrowheads="1"/>
          </p:cNvSpPr>
          <p:nvPr/>
        </p:nvSpPr>
        <p:spPr bwMode="auto">
          <a:xfrm>
            <a:off x="7904164"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0" name="Rectangle 53">
            <a:extLst>
              <a:ext uri="{FF2B5EF4-FFF2-40B4-BE49-F238E27FC236}">
                <a16:creationId xmlns:a16="http://schemas.microsoft.com/office/drawing/2014/main" id="{7F7F3BD0-061B-0346-BC6C-7C752F28EF13}"/>
              </a:ext>
            </a:extLst>
          </p:cNvPr>
          <p:cNvSpPr>
            <a:spLocks noChangeArrowheads="1"/>
          </p:cNvSpPr>
          <p:nvPr/>
        </p:nvSpPr>
        <p:spPr bwMode="auto">
          <a:xfrm>
            <a:off x="800100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1" name="Rectangle 54">
            <a:extLst>
              <a:ext uri="{FF2B5EF4-FFF2-40B4-BE49-F238E27FC236}">
                <a16:creationId xmlns:a16="http://schemas.microsoft.com/office/drawing/2014/main" id="{1419AB61-44E3-7B43-ADE9-9DF5C9E18D93}"/>
              </a:ext>
            </a:extLst>
          </p:cNvPr>
          <p:cNvSpPr>
            <a:spLocks noChangeArrowheads="1"/>
          </p:cNvSpPr>
          <p:nvPr/>
        </p:nvSpPr>
        <p:spPr bwMode="auto">
          <a:xfrm>
            <a:off x="8097839"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2" name="Rectangle 55">
            <a:extLst>
              <a:ext uri="{FF2B5EF4-FFF2-40B4-BE49-F238E27FC236}">
                <a16:creationId xmlns:a16="http://schemas.microsoft.com/office/drawing/2014/main" id="{FA07924E-D97C-9E4F-9629-377D86F65D54}"/>
              </a:ext>
            </a:extLst>
          </p:cNvPr>
          <p:cNvSpPr>
            <a:spLocks noChangeArrowheads="1"/>
          </p:cNvSpPr>
          <p:nvPr/>
        </p:nvSpPr>
        <p:spPr bwMode="auto">
          <a:xfrm>
            <a:off x="8193089"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3" name="Rectangle 56">
            <a:extLst>
              <a:ext uri="{FF2B5EF4-FFF2-40B4-BE49-F238E27FC236}">
                <a16:creationId xmlns:a16="http://schemas.microsoft.com/office/drawing/2014/main" id="{78BBA4C2-77BF-7140-8522-72AA5C9FF7DA}"/>
              </a:ext>
            </a:extLst>
          </p:cNvPr>
          <p:cNvSpPr>
            <a:spLocks noChangeArrowheads="1"/>
          </p:cNvSpPr>
          <p:nvPr/>
        </p:nvSpPr>
        <p:spPr bwMode="auto">
          <a:xfrm>
            <a:off x="8285164"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4" name="Rectangle 57">
            <a:extLst>
              <a:ext uri="{FF2B5EF4-FFF2-40B4-BE49-F238E27FC236}">
                <a16:creationId xmlns:a16="http://schemas.microsoft.com/office/drawing/2014/main" id="{8C781153-D0D1-4F49-A7D5-E9E0E02C7481}"/>
              </a:ext>
            </a:extLst>
          </p:cNvPr>
          <p:cNvSpPr>
            <a:spLocks noChangeArrowheads="1"/>
          </p:cNvSpPr>
          <p:nvPr/>
        </p:nvSpPr>
        <p:spPr bwMode="auto">
          <a:xfrm>
            <a:off x="8380414"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5" name="Rectangle 58">
            <a:extLst>
              <a:ext uri="{FF2B5EF4-FFF2-40B4-BE49-F238E27FC236}">
                <a16:creationId xmlns:a16="http://schemas.microsoft.com/office/drawing/2014/main" id="{1252424B-0051-8B4E-8014-7CDFA89980FC}"/>
              </a:ext>
            </a:extLst>
          </p:cNvPr>
          <p:cNvSpPr>
            <a:spLocks noChangeArrowheads="1"/>
          </p:cNvSpPr>
          <p:nvPr/>
        </p:nvSpPr>
        <p:spPr bwMode="auto">
          <a:xfrm>
            <a:off x="847725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6" name="Rectangle 59">
            <a:extLst>
              <a:ext uri="{FF2B5EF4-FFF2-40B4-BE49-F238E27FC236}">
                <a16:creationId xmlns:a16="http://schemas.microsoft.com/office/drawing/2014/main" id="{FA783663-FBFD-1D4F-94E0-8E07864896AD}"/>
              </a:ext>
            </a:extLst>
          </p:cNvPr>
          <p:cNvSpPr>
            <a:spLocks noChangeArrowheads="1"/>
          </p:cNvSpPr>
          <p:nvPr/>
        </p:nvSpPr>
        <p:spPr bwMode="auto">
          <a:xfrm>
            <a:off x="856615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7" name="Rectangle 60">
            <a:extLst>
              <a:ext uri="{FF2B5EF4-FFF2-40B4-BE49-F238E27FC236}">
                <a16:creationId xmlns:a16="http://schemas.microsoft.com/office/drawing/2014/main" id="{9A20FCBA-A9E2-494E-8A95-747703BA2FAA}"/>
              </a:ext>
            </a:extLst>
          </p:cNvPr>
          <p:cNvSpPr>
            <a:spLocks noChangeArrowheads="1"/>
          </p:cNvSpPr>
          <p:nvPr/>
        </p:nvSpPr>
        <p:spPr bwMode="auto">
          <a:xfrm>
            <a:off x="866140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8" name="Rectangle 61">
            <a:extLst>
              <a:ext uri="{FF2B5EF4-FFF2-40B4-BE49-F238E27FC236}">
                <a16:creationId xmlns:a16="http://schemas.microsoft.com/office/drawing/2014/main" id="{BD15B2FA-70B2-F44B-A21B-EE69A9B05DC8}"/>
              </a:ext>
            </a:extLst>
          </p:cNvPr>
          <p:cNvSpPr>
            <a:spLocks noChangeArrowheads="1"/>
          </p:cNvSpPr>
          <p:nvPr/>
        </p:nvSpPr>
        <p:spPr bwMode="auto">
          <a:xfrm>
            <a:off x="8755064" y="3122039"/>
            <a:ext cx="65088"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9" name="Rectangle 62">
            <a:extLst>
              <a:ext uri="{FF2B5EF4-FFF2-40B4-BE49-F238E27FC236}">
                <a16:creationId xmlns:a16="http://schemas.microsoft.com/office/drawing/2014/main" id="{FCC59CFB-2A58-CB44-B886-3040D9E44C77}"/>
              </a:ext>
            </a:extLst>
          </p:cNvPr>
          <p:cNvSpPr>
            <a:spLocks noChangeArrowheads="1"/>
          </p:cNvSpPr>
          <p:nvPr/>
        </p:nvSpPr>
        <p:spPr bwMode="auto">
          <a:xfrm>
            <a:off x="8847139" y="3122039"/>
            <a:ext cx="65088"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0" name="Rectangle 63">
            <a:extLst>
              <a:ext uri="{FF2B5EF4-FFF2-40B4-BE49-F238E27FC236}">
                <a16:creationId xmlns:a16="http://schemas.microsoft.com/office/drawing/2014/main" id="{C2CEED62-895E-984B-A8A4-247D41CE7E93}"/>
              </a:ext>
            </a:extLst>
          </p:cNvPr>
          <p:cNvSpPr>
            <a:spLocks noChangeArrowheads="1"/>
          </p:cNvSpPr>
          <p:nvPr/>
        </p:nvSpPr>
        <p:spPr bwMode="auto">
          <a:xfrm>
            <a:off x="894397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1" name="Rectangle 64">
            <a:extLst>
              <a:ext uri="{FF2B5EF4-FFF2-40B4-BE49-F238E27FC236}">
                <a16:creationId xmlns:a16="http://schemas.microsoft.com/office/drawing/2014/main" id="{A927D859-82EA-9A4A-9764-093C53E03753}"/>
              </a:ext>
            </a:extLst>
          </p:cNvPr>
          <p:cNvSpPr>
            <a:spLocks noChangeArrowheads="1"/>
          </p:cNvSpPr>
          <p:nvPr/>
        </p:nvSpPr>
        <p:spPr bwMode="auto">
          <a:xfrm>
            <a:off x="903922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2" name="Rectangle 65">
            <a:extLst>
              <a:ext uri="{FF2B5EF4-FFF2-40B4-BE49-F238E27FC236}">
                <a16:creationId xmlns:a16="http://schemas.microsoft.com/office/drawing/2014/main" id="{F473CF44-260A-E04B-8696-E13EFF7EE281}"/>
              </a:ext>
            </a:extLst>
          </p:cNvPr>
          <p:cNvSpPr>
            <a:spLocks noChangeArrowheads="1"/>
          </p:cNvSpPr>
          <p:nvPr/>
        </p:nvSpPr>
        <p:spPr bwMode="auto">
          <a:xfrm>
            <a:off x="912812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3" name="Rectangle 66">
            <a:extLst>
              <a:ext uri="{FF2B5EF4-FFF2-40B4-BE49-F238E27FC236}">
                <a16:creationId xmlns:a16="http://schemas.microsoft.com/office/drawing/2014/main" id="{489A018C-E3FF-AC42-A61C-40BC11AD79CE}"/>
              </a:ext>
            </a:extLst>
          </p:cNvPr>
          <p:cNvSpPr>
            <a:spLocks noChangeArrowheads="1"/>
          </p:cNvSpPr>
          <p:nvPr/>
        </p:nvSpPr>
        <p:spPr bwMode="auto">
          <a:xfrm>
            <a:off x="922337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4" name="Rectangle 68">
            <a:extLst>
              <a:ext uri="{FF2B5EF4-FFF2-40B4-BE49-F238E27FC236}">
                <a16:creationId xmlns:a16="http://schemas.microsoft.com/office/drawing/2014/main" id="{15DBA7E3-2A55-A347-8398-5FF2E190C152}"/>
              </a:ext>
            </a:extLst>
          </p:cNvPr>
          <p:cNvSpPr>
            <a:spLocks noChangeArrowheads="1"/>
          </p:cNvSpPr>
          <p:nvPr/>
        </p:nvSpPr>
        <p:spPr bwMode="auto">
          <a:xfrm>
            <a:off x="932021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5" name="Rectangle 69">
            <a:extLst>
              <a:ext uri="{FF2B5EF4-FFF2-40B4-BE49-F238E27FC236}">
                <a16:creationId xmlns:a16="http://schemas.microsoft.com/office/drawing/2014/main" id="{C41C2999-2C3A-6B42-BFD4-461D81F336F2}"/>
              </a:ext>
            </a:extLst>
          </p:cNvPr>
          <p:cNvSpPr>
            <a:spLocks noChangeArrowheads="1"/>
          </p:cNvSpPr>
          <p:nvPr/>
        </p:nvSpPr>
        <p:spPr bwMode="auto">
          <a:xfrm>
            <a:off x="9417052" y="3125214"/>
            <a:ext cx="65087"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6" name="Rectangle 70">
            <a:extLst>
              <a:ext uri="{FF2B5EF4-FFF2-40B4-BE49-F238E27FC236}">
                <a16:creationId xmlns:a16="http://schemas.microsoft.com/office/drawing/2014/main" id="{C31E0892-5A99-CC4B-9267-B95157619AAA}"/>
              </a:ext>
            </a:extLst>
          </p:cNvPr>
          <p:cNvSpPr>
            <a:spLocks noChangeArrowheads="1"/>
          </p:cNvSpPr>
          <p:nvPr/>
        </p:nvSpPr>
        <p:spPr bwMode="auto">
          <a:xfrm>
            <a:off x="9513889"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7" name="Rectangle 71">
            <a:extLst>
              <a:ext uri="{FF2B5EF4-FFF2-40B4-BE49-F238E27FC236}">
                <a16:creationId xmlns:a16="http://schemas.microsoft.com/office/drawing/2014/main" id="{F4A34BCF-97FE-9043-BC3E-A64DDF0FE4E2}"/>
              </a:ext>
            </a:extLst>
          </p:cNvPr>
          <p:cNvSpPr>
            <a:spLocks noChangeArrowheads="1"/>
          </p:cNvSpPr>
          <p:nvPr/>
        </p:nvSpPr>
        <p:spPr bwMode="auto">
          <a:xfrm>
            <a:off x="961231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Rectangle 72">
            <a:extLst>
              <a:ext uri="{FF2B5EF4-FFF2-40B4-BE49-F238E27FC236}">
                <a16:creationId xmlns:a16="http://schemas.microsoft.com/office/drawing/2014/main" id="{AF39E66A-9553-3344-9AD6-6EDA216F2880}"/>
              </a:ext>
            </a:extLst>
          </p:cNvPr>
          <p:cNvSpPr>
            <a:spLocks noChangeArrowheads="1"/>
          </p:cNvSpPr>
          <p:nvPr/>
        </p:nvSpPr>
        <p:spPr bwMode="auto">
          <a:xfrm>
            <a:off x="970756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9" name="Rectangle 73">
            <a:extLst>
              <a:ext uri="{FF2B5EF4-FFF2-40B4-BE49-F238E27FC236}">
                <a16:creationId xmlns:a16="http://schemas.microsoft.com/office/drawing/2014/main" id="{ECFAFFA1-A372-CF41-884A-8A8C27CFE0C1}"/>
              </a:ext>
            </a:extLst>
          </p:cNvPr>
          <p:cNvSpPr>
            <a:spLocks noChangeArrowheads="1"/>
          </p:cNvSpPr>
          <p:nvPr/>
        </p:nvSpPr>
        <p:spPr bwMode="auto">
          <a:xfrm>
            <a:off x="980281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0" name="Rectangle 74">
            <a:extLst>
              <a:ext uri="{FF2B5EF4-FFF2-40B4-BE49-F238E27FC236}">
                <a16:creationId xmlns:a16="http://schemas.microsoft.com/office/drawing/2014/main" id="{3C3828F5-F0A3-9B49-AB1D-346F1948CC97}"/>
              </a:ext>
            </a:extLst>
          </p:cNvPr>
          <p:cNvSpPr>
            <a:spLocks noChangeArrowheads="1"/>
          </p:cNvSpPr>
          <p:nvPr/>
        </p:nvSpPr>
        <p:spPr bwMode="auto">
          <a:xfrm>
            <a:off x="9894889"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1" name="Rectangle 75">
            <a:extLst>
              <a:ext uri="{FF2B5EF4-FFF2-40B4-BE49-F238E27FC236}">
                <a16:creationId xmlns:a16="http://schemas.microsoft.com/office/drawing/2014/main" id="{E047C25C-F28E-9A40-9394-4DFA7C5CF236}"/>
              </a:ext>
            </a:extLst>
          </p:cNvPr>
          <p:cNvSpPr>
            <a:spLocks noChangeArrowheads="1"/>
          </p:cNvSpPr>
          <p:nvPr/>
        </p:nvSpPr>
        <p:spPr bwMode="auto">
          <a:xfrm>
            <a:off x="9991727" y="3123626"/>
            <a:ext cx="65087"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Rectangle 76">
            <a:extLst>
              <a:ext uri="{FF2B5EF4-FFF2-40B4-BE49-F238E27FC236}">
                <a16:creationId xmlns:a16="http://schemas.microsoft.com/office/drawing/2014/main" id="{95AB1F8C-60E0-6E4E-BBC9-6AFCA871BF9F}"/>
              </a:ext>
            </a:extLst>
          </p:cNvPr>
          <p:cNvSpPr>
            <a:spLocks noChangeArrowheads="1"/>
          </p:cNvSpPr>
          <p:nvPr/>
        </p:nvSpPr>
        <p:spPr bwMode="auto">
          <a:xfrm>
            <a:off x="10086977" y="3123626"/>
            <a:ext cx="65087" cy="622300"/>
          </a:xfrm>
          <a:prstGeom prst="rect">
            <a:avLst/>
          </a:prstGeom>
          <a:gradFill rotWithShape="1">
            <a:gsLst>
              <a:gs pos="0">
                <a:srgbClr val="B2B2B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Rectangle 78">
            <a:extLst>
              <a:ext uri="{FF2B5EF4-FFF2-40B4-BE49-F238E27FC236}">
                <a16:creationId xmlns:a16="http://schemas.microsoft.com/office/drawing/2014/main" id="{4C4E8CF6-C760-5B4C-9C8B-724BC7EC9D27}"/>
              </a:ext>
            </a:extLst>
          </p:cNvPr>
          <p:cNvSpPr>
            <a:spLocks noChangeArrowheads="1"/>
          </p:cNvSpPr>
          <p:nvPr/>
        </p:nvSpPr>
        <p:spPr bwMode="auto">
          <a:xfrm>
            <a:off x="6792914" y="3861814"/>
            <a:ext cx="3408363" cy="889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Rectangle 79">
            <a:extLst>
              <a:ext uri="{FF2B5EF4-FFF2-40B4-BE49-F238E27FC236}">
                <a16:creationId xmlns:a16="http://schemas.microsoft.com/office/drawing/2014/main" id="{19F096B9-3111-7D40-B5B1-AE181A6D6D1D}"/>
              </a:ext>
            </a:extLst>
          </p:cNvPr>
          <p:cNvSpPr>
            <a:spLocks noChangeArrowheads="1"/>
          </p:cNvSpPr>
          <p:nvPr/>
        </p:nvSpPr>
        <p:spPr bwMode="auto">
          <a:xfrm>
            <a:off x="6878639" y="3014089"/>
            <a:ext cx="3408363" cy="889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5" name="Line 80">
            <a:extLst>
              <a:ext uri="{FF2B5EF4-FFF2-40B4-BE49-F238E27FC236}">
                <a16:creationId xmlns:a16="http://schemas.microsoft.com/office/drawing/2014/main" id="{E753CF95-7893-FD4E-BE3D-215F410E8408}"/>
              </a:ext>
            </a:extLst>
          </p:cNvPr>
          <p:cNvSpPr>
            <a:spLocks noChangeShapeType="1"/>
          </p:cNvSpPr>
          <p:nvPr/>
        </p:nvSpPr>
        <p:spPr bwMode="auto">
          <a:xfrm>
            <a:off x="6900864" y="3976114"/>
            <a:ext cx="868363"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6" name="Line 82">
            <a:extLst>
              <a:ext uri="{FF2B5EF4-FFF2-40B4-BE49-F238E27FC236}">
                <a16:creationId xmlns:a16="http://schemas.microsoft.com/office/drawing/2014/main" id="{A84B4DF1-EC9A-7F46-AA18-AD952AC6BF0E}"/>
              </a:ext>
            </a:extLst>
          </p:cNvPr>
          <p:cNvSpPr>
            <a:spLocks noChangeShapeType="1"/>
          </p:cNvSpPr>
          <p:nvPr/>
        </p:nvSpPr>
        <p:spPr bwMode="auto">
          <a:xfrm>
            <a:off x="7835902" y="3977701"/>
            <a:ext cx="868362"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7" name="Line 83">
            <a:extLst>
              <a:ext uri="{FF2B5EF4-FFF2-40B4-BE49-F238E27FC236}">
                <a16:creationId xmlns:a16="http://schemas.microsoft.com/office/drawing/2014/main" id="{F05D6B54-06E8-3340-AF49-E2A2D7CDBC38}"/>
              </a:ext>
            </a:extLst>
          </p:cNvPr>
          <p:cNvSpPr>
            <a:spLocks noChangeShapeType="1"/>
          </p:cNvSpPr>
          <p:nvPr/>
        </p:nvSpPr>
        <p:spPr bwMode="auto">
          <a:xfrm>
            <a:off x="9329739" y="3976114"/>
            <a:ext cx="801688"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8" name="Line 84">
            <a:extLst>
              <a:ext uri="{FF2B5EF4-FFF2-40B4-BE49-F238E27FC236}">
                <a16:creationId xmlns:a16="http://schemas.microsoft.com/office/drawing/2014/main" id="{B41A428C-2E0E-ED49-9C7F-ADDB6951A77B}"/>
              </a:ext>
            </a:extLst>
          </p:cNvPr>
          <p:cNvSpPr>
            <a:spLocks noChangeShapeType="1"/>
          </p:cNvSpPr>
          <p:nvPr/>
        </p:nvSpPr>
        <p:spPr bwMode="auto">
          <a:xfrm>
            <a:off x="8759827" y="3977701"/>
            <a:ext cx="528637"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9" name="Line 87">
            <a:extLst>
              <a:ext uri="{FF2B5EF4-FFF2-40B4-BE49-F238E27FC236}">
                <a16:creationId xmlns:a16="http://schemas.microsoft.com/office/drawing/2014/main" id="{F10E82D1-86EA-0A43-A26B-826B8C65625C}"/>
              </a:ext>
            </a:extLst>
          </p:cNvPr>
          <p:cNvSpPr>
            <a:spLocks noChangeShapeType="1"/>
          </p:cNvSpPr>
          <p:nvPr/>
        </p:nvSpPr>
        <p:spPr bwMode="auto">
          <a:xfrm>
            <a:off x="6992939" y="3999926"/>
            <a:ext cx="0" cy="233363"/>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0" name="Line 88">
            <a:extLst>
              <a:ext uri="{FF2B5EF4-FFF2-40B4-BE49-F238E27FC236}">
                <a16:creationId xmlns:a16="http://schemas.microsoft.com/office/drawing/2014/main" id="{849D7775-1F0E-F446-AFC3-AB4363FCD990}"/>
              </a:ext>
            </a:extLst>
          </p:cNvPr>
          <p:cNvSpPr>
            <a:spLocks noChangeShapeType="1"/>
          </p:cNvSpPr>
          <p:nvPr/>
        </p:nvSpPr>
        <p:spPr bwMode="auto">
          <a:xfrm>
            <a:off x="8221664" y="3995164"/>
            <a:ext cx="0" cy="23336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1" name="Line 89">
            <a:extLst>
              <a:ext uri="{FF2B5EF4-FFF2-40B4-BE49-F238E27FC236}">
                <a16:creationId xmlns:a16="http://schemas.microsoft.com/office/drawing/2014/main" id="{0E0B871C-6367-774B-BA58-EF11B16FA4E2}"/>
              </a:ext>
            </a:extLst>
          </p:cNvPr>
          <p:cNvSpPr>
            <a:spLocks noChangeShapeType="1"/>
          </p:cNvSpPr>
          <p:nvPr/>
        </p:nvSpPr>
        <p:spPr bwMode="auto">
          <a:xfrm>
            <a:off x="9040814" y="3995164"/>
            <a:ext cx="0" cy="23336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2" name="Line 90">
            <a:extLst>
              <a:ext uri="{FF2B5EF4-FFF2-40B4-BE49-F238E27FC236}">
                <a16:creationId xmlns:a16="http://schemas.microsoft.com/office/drawing/2014/main" id="{C09F078D-04FC-E640-8A03-2400CC0F0B8A}"/>
              </a:ext>
            </a:extLst>
          </p:cNvPr>
          <p:cNvSpPr>
            <a:spLocks noChangeShapeType="1"/>
          </p:cNvSpPr>
          <p:nvPr/>
        </p:nvSpPr>
        <p:spPr bwMode="auto">
          <a:xfrm>
            <a:off x="9698039" y="3995164"/>
            <a:ext cx="0" cy="23336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3" name="Text Box 91">
            <a:extLst>
              <a:ext uri="{FF2B5EF4-FFF2-40B4-BE49-F238E27FC236}">
                <a16:creationId xmlns:a16="http://schemas.microsoft.com/office/drawing/2014/main" id="{39A723B2-B4B0-634D-AE9D-8AC58218E734}"/>
              </a:ext>
            </a:extLst>
          </p:cNvPr>
          <p:cNvSpPr txBox="1">
            <a:spLocks noChangeArrowheads="1"/>
          </p:cNvSpPr>
          <p:nvPr/>
        </p:nvSpPr>
        <p:spPr bwMode="auto">
          <a:xfrm>
            <a:off x="6869114" y="4223764"/>
            <a:ext cx="693738"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sent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ACKed</a:t>
            </a:r>
          </a:p>
        </p:txBody>
      </p:sp>
      <p:sp>
        <p:nvSpPr>
          <p:cNvPr id="294" name="Text Box 92">
            <a:extLst>
              <a:ext uri="{FF2B5EF4-FFF2-40B4-BE49-F238E27FC236}">
                <a16:creationId xmlns:a16="http://schemas.microsoft.com/office/drawing/2014/main" id="{3B367685-832F-A24C-8E10-9208FC23187F}"/>
              </a:ext>
            </a:extLst>
          </p:cNvPr>
          <p:cNvSpPr txBox="1">
            <a:spLocks noChangeArrowheads="1"/>
          </p:cNvSpPr>
          <p:nvPr/>
        </p:nvSpPr>
        <p:spPr bwMode="auto">
          <a:xfrm>
            <a:off x="7850188" y="4230114"/>
            <a:ext cx="1139821" cy="68480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sent, not-yet </a:t>
            </a:r>
            <a:r>
              <a:rPr kumimoji="0" lang="en-US" altLang="en-US" sz="1400" b="0" i="0" u="none" strike="noStrike" kern="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ACKed</a:t>
            </a:r>
            <a:endPar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0" fontAlgn="base" latinLnBrk="0" hangingPunct="0">
              <a:lnSpc>
                <a:spcPct val="90000"/>
              </a:lnSpc>
              <a:spcBef>
                <a:spcPts val="30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ja-JP"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in-flight”)</a:t>
            </a:r>
            <a:endPar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Text Box 93">
            <a:extLst>
              <a:ext uri="{FF2B5EF4-FFF2-40B4-BE49-F238E27FC236}">
                <a16:creationId xmlns:a16="http://schemas.microsoft.com/office/drawing/2014/main" id="{81CC0B14-ECA5-7042-90A8-A3D1691D8277}"/>
              </a:ext>
            </a:extLst>
          </p:cNvPr>
          <p:cNvSpPr txBox="1">
            <a:spLocks noChangeArrowheads="1"/>
          </p:cNvSpPr>
          <p:nvPr/>
        </p:nvSpPr>
        <p:spPr bwMode="auto">
          <a:xfrm>
            <a:off x="8829677" y="4225351"/>
            <a:ext cx="1066800" cy="6683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but 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yet sent</a:t>
            </a:r>
          </a:p>
        </p:txBody>
      </p:sp>
      <p:sp>
        <p:nvSpPr>
          <p:cNvPr id="296" name="Text Box 94">
            <a:extLst>
              <a:ext uri="{FF2B5EF4-FFF2-40B4-BE49-F238E27FC236}">
                <a16:creationId xmlns:a16="http://schemas.microsoft.com/office/drawing/2014/main" id="{AA04402D-D3B0-AD47-B91F-3AC1C3E2066A}"/>
              </a:ext>
            </a:extLst>
          </p:cNvPr>
          <p:cNvSpPr txBox="1">
            <a:spLocks noChangeArrowheads="1"/>
          </p:cNvSpPr>
          <p:nvPr/>
        </p:nvSpPr>
        <p:spPr bwMode="auto">
          <a:xfrm>
            <a:off x="9586914" y="4230114"/>
            <a:ext cx="81915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p:txBody>
      </p:sp>
      <p:sp>
        <p:nvSpPr>
          <p:cNvPr id="297" name="Text Box 96">
            <a:extLst>
              <a:ext uri="{FF2B5EF4-FFF2-40B4-BE49-F238E27FC236}">
                <a16:creationId xmlns:a16="http://schemas.microsoft.com/office/drawing/2014/main" id="{7BC9AF2B-9067-6D40-8AD6-38C8B0980442}"/>
              </a:ext>
            </a:extLst>
          </p:cNvPr>
          <p:cNvSpPr txBox="1">
            <a:spLocks noChangeArrowheads="1"/>
          </p:cNvSpPr>
          <p:nvPr/>
        </p:nvSpPr>
        <p:spPr bwMode="auto">
          <a:xfrm>
            <a:off x="7929564" y="2658489"/>
            <a:ext cx="1131888"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window size</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 N</a:t>
            </a:r>
          </a:p>
        </p:txBody>
      </p:sp>
      <p:grpSp>
        <p:nvGrpSpPr>
          <p:cNvPr id="298" name="Group 99">
            <a:extLst>
              <a:ext uri="{FF2B5EF4-FFF2-40B4-BE49-F238E27FC236}">
                <a16:creationId xmlns:a16="http://schemas.microsoft.com/office/drawing/2014/main" id="{24BD0429-57C9-5949-A0FA-36C1FBC99776}"/>
              </a:ext>
            </a:extLst>
          </p:cNvPr>
          <p:cNvGrpSpPr>
            <a:grpSpLocks/>
          </p:cNvGrpSpPr>
          <p:nvPr/>
        </p:nvGrpSpPr>
        <p:grpSpPr bwMode="auto">
          <a:xfrm>
            <a:off x="8696327" y="2882326"/>
            <a:ext cx="593725" cy="136525"/>
            <a:chOff x="4250" y="1692"/>
            <a:chExt cx="374" cy="86"/>
          </a:xfrm>
        </p:grpSpPr>
        <p:sp>
          <p:nvSpPr>
            <p:cNvPr id="299" name="Line 97">
              <a:extLst>
                <a:ext uri="{FF2B5EF4-FFF2-40B4-BE49-F238E27FC236}">
                  <a16:creationId xmlns:a16="http://schemas.microsoft.com/office/drawing/2014/main"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0" name="Line 98">
              <a:extLst>
                <a:ext uri="{FF2B5EF4-FFF2-40B4-BE49-F238E27FC236}">
                  <a16:creationId xmlns:a16="http://schemas.microsoft.com/office/drawing/2014/main"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01" name="Group 100">
            <a:extLst>
              <a:ext uri="{FF2B5EF4-FFF2-40B4-BE49-F238E27FC236}">
                <a16:creationId xmlns:a16="http://schemas.microsoft.com/office/drawing/2014/main" id="{953BBB09-1247-E749-B041-4AB4BC053F15}"/>
              </a:ext>
            </a:extLst>
          </p:cNvPr>
          <p:cNvGrpSpPr>
            <a:grpSpLocks/>
          </p:cNvGrpSpPr>
          <p:nvPr/>
        </p:nvGrpSpPr>
        <p:grpSpPr bwMode="auto">
          <a:xfrm rot="10800000">
            <a:off x="7804152" y="2907726"/>
            <a:ext cx="593725" cy="136525"/>
            <a:chOff x="4250" y="1692"/>
            <a:chExt cx="374" cy="86"/>
          </a:xfrm>
        </p:grpSpPr>
        <p:sp>
          <p:nvSpPr>
            <p:cNvPr id="302" name="Line 101">
              <a:extLst>
                <a:ext uri="{FF2B5EF4-FFF2-40B4-BE49-F238E27FC236}">
                  <a16:creationId xmlns:a16="http://schemas.microsoft.com/office/drawing/2014/main"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3" name="Line 102">
              <a:extLst>
                <a:ext uri="{FF2B5EF4-FFF2-40B4-BE49-F238E27FC236}">
                  <a16:creationId xmlns:a16="http://schemas.microsoft.com/office/drawing/2014/main"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304" name="Text Box 196">
            <a:extLst>
              <a:ext uri="{FF2B5EF4-FFF2-40B4-BE49-F238E27FC236}">
                <a16:creationId xmlns:a16="http://schemas.microsoft.com/office/drawing/2014/main" id="{8A4318F8-8B4B-BA46-9E7C-C771B9AFC315}"/>
              </a:ext>
            </a:extLst>
          </p:cNvPr>
          <p:cNvSpPr txBox="1">
            <a:spLocks noChangeArrowheads="1"/>
          </p:cNvSpPr>
          <p:nvPr/>
        </p:nvSpPr>
        <p:spPr bwMode="auto">
          <a:xfrm>
            <a:off x="7085014" y="3677664"/>
            <a:ext cx="3178175"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1" indent="0" algn="ctr"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sender sequence number space </a:t>
            </a:r>
          </a:p>
        </p:txBody>
      </p:sp>
      <p:grpSp>
        <p:nvGrpSpPr>
          <p:cNvPr id="305" name="Group 199">
            <a:extLst>
              <a:ext uri="{FF2B5EF4-FFF2-40B4-BE49-F238E27FC236}">
                <a16:creationId xmlns:a16="http://schemas.microsoft.com/office/drawing/2014/main" id="{17C79495-9E5E-D743-8F6F-313B7597C3E0}"/>
              </a:ext>
            </a:extLst>
          </p:cNvPr>
          <p:cNvGrpSpPr>
            <a:grpSpLocks/>
          </p:cNvGrpSpPr>
          <p:nvPr/>
        </p:nvGrpSpPr>
        <p:grpSpPr bwMode="auto">
          <a:xfrm>
            <a:off x="6321427" y="1140839"/>
            <a:ext cx="2952750" cy="1966912"/>
            <a:chOff x="2600" y="665"/>
            <a:chExt cx="1860" cy="1239"/>
          </a:xfrm>
        </p:grpSpPr>
        <p:sp>
          <p:nvSpPr>
            <p:cNvPr id="306" name="Rectangle 171">
              <a:extLst>
                <a:ext uri="{FF2B5EF4-FFF2-40B4-BE49-F238E27FC236}">
                  <a16:creationId xmlns:a16="http://schemas.microsoft.com/office/drawing/2014/main"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07" name="Group 172">
              <a:extLst>
                <a:ext uri="{FF2B5EF4-FFF2-40B4-BE49-F238E27FC236}">
                  <a16:creationId xmlns:a16="http://schemas.microsoft.com/office/drawing/2014/main" id="{DEE85BA8-BC48-F24A-B3C5-A13DD502AF23}"/>
                </a:ext>
              </a:extLst>
            </p:cNvPr>
            <p:cNvGrpSpPr>
              <a:grpSpLocks/>
            </p:cNvGrpSpPr>
            <p:nvPr/>
          </p:nvGrpSpPr>
          <p:grpSpPr bwMode="auto">
            <a:xfrm>
              <a:off x="2820" y="872"/>
              <a:ext cx="1252" cy="714"/>
              <a:chOff x="1976" y="2984"/>
              <a:chExt cx="1252" cy="714"/>
            </a:xfrm>
          </p:grpSpPr>
          <p:sp>
            <p:nvSpPr>
              <p:cNvPr id="310" name="Rectangle 173">
                <a:extLst>
                  <a:ext uri="{FF2B5EF4-FFF2-40B4-BE49-F238E27FC236}">
                    <a16:creationId xmlns:a16="http://schemas.microsoft.com/office/drawing/2014/main"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1" name="Text Box 174">
                <a:extLst>
                  <a:ext uri="{FF2B5EF4-FFF2-40B4-BE49-F238E27FC236}">
                    <a16:creationId xmlns:a16="http://schemas.microsoft.com/office/drawing/2014/main" id="{D1A37C4D-C221-B944-960D-5E1AC157A7DE}"/>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312" name="Text Box 175">
                <a:extLst>
                  <a:ext uri="{FF2B5EF4-FFF2-40B4-BE49-F238E27FC236}">
                    <a16:creationId xmlns:a16="http://schemas.microsoft.com/office/drawing/2014/main" id="{DC506D04-4DCA-2A42-8A11-92D274739497}"/>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313" name="Text Box 176">
                <a:extLst>
                  <a:ext uri="{FF2B5EF4-FFF2-40B4-BE49-F238E27FC236}">
                    <a16:creationId xmlns:a16="http://schemas.microsoft.com/office/drawing/2014/main" id="{E9E72ACF-7C4B-3247-896D-D6CDE3C1CEE4}"/>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charset="0"/>
                    <a:ea typeface="ＭＳ Ｐゴシック" charset="0"/>
                    <a:cs typeface="+mn-cs"/>
                  </a:rPr>
                  <a:t>sequence number</a:t>
                </a:r>
              </a:p>
            </p:txBody>
          </p:sp>
          <p:sp>
            <p:nvSpPr>
              <p:cNvPr id="314" name="Text Box 177">
                <a:extLst>
                  <a:ext uri="{FF2B5EF4-FFF2-40B4-BE49-F238E27FC236}">
                    <a16:creationId xmlns:a16="http://schemas.microsoft.com/office/drawing/2014/main" id="{4A1EA7EA-E261-2540-A61F-14F1D3C62770}"/>
                  </a:ext>
                </a:extLst>
              </p:cNvPr>
              <p:cNvSpPr txBox="1">
                <a:spLocks noChangeArrowheads="1"/>
              </p:cNvSpPr>
              <p:nvPr/>
            </p:nvSpPr>
            <p:spPr bwMode="auto">
              <a:xfrm>
                <a:off x="1976" y="3257"/>
                <a:ext cx="125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acknowledgement number</a:t>
                </a:r>
              </a:p>
            </p:txBody>
          </p:sp>
          <p:sp>
            <p:nvSpPr>
              <p:cNvPr id="315" name="Text Box 178">
                <a:extLst>
                  <a:ext uri="{FF2B5EF4-FFF2-40B4-BE49-F238E27FC236}">
                    <a16:creationId xmlns:a16="http://schemas.microsoft.com/office/drawing/2014/main" id="{14D444FC-B976-4B43-AF8C-651999F1EAD7}"/>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316" name="Line 179">
                <a:extLst>
                  <a:ext uri="{FF2B5EF4-FFF2-40B4-BE49-F238E27FC236}">
                    <a16:creationId xmlns:a16="http://schemas.microsoft.com/office/drawing/2014/main"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7" name="Line 180">
                <a:extLst>
                  <a:ext uri="{FF2B5EF4-FFF2-40B4-BE49-F238E27FC236}">
                    <a16:creationId xmlns:a16="http://schemas.microsoft.com/office/drawing/2014/main"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8" name="Line 181">
                <a:extLst>
                  <a:ext uri="{FF2B5EF4-FFF2-40B4-BE49-F238E27FC236}">
                    <a16:creationId xmlns:a16="http://schemas.microsoft.com/office/drawing/2014/main"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9" name="Line 182">
                <a:extLst>
                  <a:ext uri="{FF2B5EF4-FFF2-40B4-BE49-F238E27FC236}">
                    <a16:creationId xmlns:a16="http://schemas.microsoft.com/office/drawing/2014/main"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0" name="Line 183">
                <a:extLst>
                  <a:ext uri="{FF2B5EF4-FFF2-40B4-BE49-F238E27FC236}">
                    <a16:creationId xmlns:a16="http://schemas.microsoft.com/office/drawing/2014/main"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1" name="Line 184">
                <a:extLst>
                  <a:ext uri="{FF2B5EF4-FFF2-40B4-BE49-F238E27FC236}">
                    <a16:creationId xmlns:a16="http://schemas.microsoft.com/office/drawing/2014/main"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2" name="Text Box 185">
                <a:extLst>
                  <a:ext uri="{FF2B5EF4-FFF2-40B4-BE49-F238E27FC236}">
                    <a16:creationId xmlns:a16="http://schemas.microsoft.com/office/drawing/2014/main" id="{8F8508CA-EE38-AF4E-A97C-1BE94735E56E}"/>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323" name="Text Box 186">
                <a:extLst>
                  <a:ext uri="{FF2B5EF4-FFF2-40B4-BE49-F238E27FC236}">
                    <a16:creationId xmlns:a16="http://schemas.microsoft.com/office/drawing/2014/main" id="{88BEC28D-C62B-B54E-A090-DF6809C9E835}"/>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324" name="Line 187">
                <a:extLst>
                  <a:ext uri="{FF2B5EF4-FFF2-40B4-BE49-F238E27FC236}">
                    <a16:creationId xmlns:a16="http://schemas.microsoft.com/office/drawing/2014/main"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5" name="Line 188">
                <a:extLst>
                  <a:ext uri="{FF2B5EF4-FFF2-40B4-BE49-F238E27FC236}">
                    <a16:creationId xmlns:a16="http://schemas.microsoft.com/office/drawing/2014/main"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08" name="Text Box 189">
              <a:extLst>
                <a:ext uri="{FF2B5EF4-FFF2-40B4-BE49-F238E27FC236}">
                  <a16:creationId xmlns:a16="http://schemas.microsoft.com/office/drawing/2014/main" id="{961ADE6B-9EA8-FA44-92C6-6941117B3BDE}"/>
                </a:ext>
              </a:extLst>
            </p:cNvPr>
            <p:cNvSpPr txBox="1">
              <a:spLocks noChangeArrowheads="1"/>
            </p:cNvSpPr>
            <p:nvPr/>
          </p:nvSpPr>
          <p:spPr bwMode="auto">
            <a:xfrm>
              <a:off x="2600" y="665"/>
              <a:ext cx="186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sender</a:t>
              </a:r>
            </a:p>
          </p:txBody>
        </p:sp>
        <p:sp>
          <p:nvSpPr>
            <p:cNvPr id="309" name="Freeform 190">
              <a:extLst>
                <a:ext uri="{FF2B5EF4-FFF2-40B4-BE49-F238E27FC236}">
                  <a16:creationId xmlns:a16="http://schemas.microsoft.com/office/drawing/2014/main"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07" name="Rectangle 5">
            <a:extLst>
              <a:ext uri="{FF2B5EF4-FFF2-40B4-BE49-F238E27FC236}">
                <a16:creationId xmlns:a16="http://schemas.microsoft.com/office/drawing/2014/main" id="{6C3FDCE7-5731-3B49-B3F0-A28BEE20C1DD}"/>
              </a:ext>
            </a:extLst>
          </p:cNvPr>
          <p:cNvSpPr txBox="1">
            <a:spLocks noChangeArrowheads="1"/>
          </p:cNvSpPr>
          <p:nvPr/>
        </p:nvSpPr>
        <p:spPr bwMode="auto">
          <a:xfrm>
            <a:off x="740571" y="2803512"/>
            <a:ext cx="5096669" cy="17684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Acknowledgements</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endPar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endParaRP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of next byte expected from other side</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cumulative ACK</a:t>
            </a:r>
          </a:p>
        </p:txBody>
      </p:sp>
      <p:sp>
        <p:nvSpPr>
          <p:cNvPr id="108" name="Rectangle 5">
            <a:extLst>
              <a:ext uri="{FF2B5EF4-FFF2-40B4-BE49-F238E27FC236}">
                <a16:creationId xmlns:a16="http://schemas.microsoft.com/office/drawing/2014/main" id="{845D3A7B-C2B2-5F46-AC88-0FE1A562E0B2}"/>
              </a:ext>
            </a:extLst>
          </p:cNvPr>
          <p:cNvSpPr txBox="1">
            <a:spLocks noChangeArrowheads="1"/>
          </p:cNvSpPr>
          <p:nvPr/>
        </p:nvSpPr>
        <p:spPr bwMode="auto">
          <a:xfrm>
            <a:off x="651671" y="4633906"/>
            <a:ext cx="5096669" cy="1730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ts val="1900"/>
              </a:spcBef>
              <a:spcAft>
                <a:spcPct val="0"/>
              </a:spcAft>
              <a:buClr>
                <a:srgbClr val="000099"/>
              </a:buClr>
              <a:buSzPct val="100000"/>
              <a:buFont typeface="Wingdings" pitchFamily="2" charset="2"/>
              <a:buNone/>
              <a:tabLst/>
              <a:defRPr/>
            </a:pPr>
            <a:r>
              <a:rPr kumimoji="0" lang="en-US" altLang="en-US" sz="28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how receiver handles out-of-order segments</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1" u="sng"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 </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spec doesn</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say, - up to implementor</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9" name="Slide Number Placeholder 2">
            <a:extLst>
              <a:ext uri="{FF2B5EF4-FFF2-40B4-BE49-F238E27FC236}">
                <a16:creationId xmlns:a16="http://schemas.microsoft.com/office/drawing/2014/main" id="{471D7C94-F1DF-F240-884F-FBFDCBF8355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165580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133" name="Text Box 8">
            <a:extLst>
              <a:ext uri="{FF2B5EF4-FFF2-40B4-BE49-F238E27FC236}">
                <a16:creationId xmlns:a16="http://schemas.microsoft.com/office/drawing/2014/main" id="{4BFA7F94-ECDC-4F4E-BAAE-2F377F89AF1C}"/>
              </a:ext>
            </a:extLst>
          </p:cNvPr>
          <p:cNvSpPr txBox="1">
            <a:spLocks noChangeArrowheads="1"/>
          </p:cNvSpPr>
          <p:nvPr/>
        </p:nvSpPr>
        <p:spPr bwMode="auto">
          <a:xfrm>
            <a:off x="1661117" y="4011734"/>
            <a:ext cx="2519185" cy="75713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 echoed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4" name="Text Box 9">
            <a:extLst>
              <a:ext uri="{FF2B5EF4-FFF2-40B4-BE49-F238E27FC236}">
                <a16:creationId xmlns:a16="http://schemas.microsoft.com/office/drawing/2014/main" id="{6F6C270A-95D4-3B45-95CD-2E7A27820BF0}"/>
              </a:ext>
            </a:extLst>
          </p:cNvPr>
          <p:cNvSpPr txBox="1">
            <a:spLocks noChangeArrowheads="1"/>
          </p:cNvSpPr>
          <p:nvPr/>
        </p:nvSpPr>
        <p:spPr bwMode="auto">
          <a:xfrm>
            <a:off x="7229477" y="3001865"/>
            <a:ext cx="3187212" cy="83099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echoes </a:t>
            </a: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back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6" name="Text Box 11">
            <a:extLst>
              <a:ext uri="{FF2B5EF4-FFF2-40B4-BE49-F238E27FC236}">
                <a16:creationId xmlns:a16="http://schemas.microsoft.com/office/drawing/2014/main" id="{7AB83FEF-E6C5-3C4E-8F11-410822AB937A}"/>
              </a:ext>
            </a:extLst>
          </p:cNvPr>
          <p:cNvSpPr txBox="1">
            <a:spLocks noChangeArrowheads="1"/>
          </p:cNvSpPr>
          <p:nvPr/>
        </p:nvSpPr>
        <p:spPr bwMode="auto">
          <a:xfrm>
            <a:off x="3961011" y="5644479"/>
            <a:ext cx="3401893"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rPr>
              <a:t>simple telnet scenario</a:t>
            </a:r>
            <a:endParaRPr kumimoji="0" lang="en-US" sz="12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endParaRPr>
          </a:p>
        </p:txBody>
      </p:sp>
      <p:sp>
        <p:nvSpPr>
          <p:cNvPr id="137" name="Text Box 13">
            <a:extLst>
              <a:ext uri="{FF2B5EF4-FFF2-40B4-BE49-F238E27FC236}">
                <a16:creationId xmlns:a16="http://schemas.microsoft.com/office/drawing/2014/main" id="{0851DEB2-88A4-C849-8DEA-02D53E9ABCBD}"/>
              </a:ext>
            </a:extLst>
          </p:cNvPr>
          <p:cNvSpPr txBox="1">
            <a:spLocks noChangeArrowheads="1"/>
          </p:cNvSpPr>
          <p:nvPr/>
        </p:nvSpPr>
        <p:spPr bwMode="auto">
          <a:xfrm>
            <a:off x="7129672" y="1492971"/>
            <a:ext cx="997389"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B</a:t>
            </a:r>
          </a:p>
        </p:txBody>
      </p:sp>
      <p:sp>
        <p:nvSpPr>
          <p:cNvPr id="138" name="Text Box 17">
            <a:extLst>
              <a:ext uri="{FF2B5EF4-FFF2-40B4-BE49-F238E27FC236}">
                <a16:creationId xmlns:a16="http://schemas.microsoft.com/office/drawing/2014/main" id="{847A8C2E-C7AE-5B45-9FFE-DE39BC581384}"/>
              </a:ext>
            </a:extLst>
          </p:cNvPr>
          <p:cNvSpPr txBox="1">
            <a:spLocks noChangeArrowheads="1"/>
          </p:cNvSpPr>
          <p:nvPr/>
        </p:nvSpPr>
        <p:spPr bwMode="auto">
          <a:xfrm>
            <a:off x="3204390" y="1459336"/>
            <a:ext cx="1008610"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A</a:t>
            </a:r>
          </a:p>
        </p:txBody>
      </p:sp>
      <p:grpSp>
        <p:nvGrpSpPr>
          <p:cNvPr id="4" name="Group 3">
            <a:extLst>
              <a:ext uri="{FF2B5EF4-FFF2-40B4-BE49-F238E27FC236}">
                <a16:creationId xmlns:a16="http://schemas.microsoft.com/office/drawing/2014/main" id="{89152BC9-BFE2-2C4F-B7CF-DD705BF09468}"/>
              </a:ext>
            </a:extLst>
          </p:cNvPr>
          <p:cNvGrpSpPr/>
          <p:nvPr/>
        </p:nvGrpSpPr>
        <p:grpSpPr>
          <a:xfrm>
            <a:off x="1499000" y="2541021"/>
            <a:ext cx="5581275" cy="780392"/>
            <a:chOff x="1499000" y="2541021"/>
            <a:chExt cx="5581275" cy="780392"/>
          </a:xfrm>
        </p:grpSpPr>
        <p:sp>
          <p:nvSpPr>
            <p:cNvPr id="131" name="Line 4">
              <a:extLst>
                <a:ext uri="{FF2B5EF4-FFF2-40B4-BE49-F238E27FC236}">
                  <a16:creationId xmlns:a16="http://schemas.microsoft.com/office/drawing/2014/main"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32" name="Text Box 7">
              <a:extLst>
                <a:ext uri="{FF2B5EF4-FFF2-40B4-BE49-F238E27FC236}">
                  <a16:creationId xmlns:a16="http://schemas.microsoft.com/office/drawing/2014/main" id="{B9E9C219-DA90-8A41-A18D-4DF67A2B1B94}"/>
                </a:ext>
              </a:extLst>
            </p:cNvPr>
            <p:cNvSpPr txBox="1">
              <a:spLocks noChangeArrowheads="1"/>
            </p:cNvSpPr>
            <p:nvPr/>
          </p:nvSpPr>
          <p:spPr bwMode="auto">
            <a:xfrm>
              <a:off x="1499000" y="2541021"/>
              <a:ext cx="2725007"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types</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9" name="Rectangle 18">
              <a:extLst>
                <a:ext uri="{FF2B5EF4-FFF2-40B4-BE49-F238E27FC236}">
                  <a16:creationId xmlns:a16="http://schemas.microsoft.com/office/drawing/2014/main"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0" name="Text Box 19">
              <a:extLst>
                <a:ext uri="{FF2B5EF4-FFF2-40B4-BE49-F238E27FC236}">
                  <a16:creationId xmlns:a16="http://schemas.microsoft.com/office/drawing/2014/main" id="{880D64B6-5AB7-0245-B925-5A511DDE93D7}"/>
                </a:ext>
              </a:extLst>
            </p:cNvPr>
            <p:cNvSpPr txBox="1">
              <a:spLocks noChangeArrowheads="1"/>
            </p:cNvSpPr>
            <p:nvPr/>
          </p:nvSpPr>
          <p:spPr bwMode="auto">
            <a:xfrm>
              <a:off x="4260272" y="2854620"/>
              <a:ext cx="2820003"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Seq=42, ACK=79, data =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30581A9F-48A7-D546-AB16-5A259024E309}"/>
              </a:ext>
            </a:extLst>
          </p:cNvPr>
          <p:cNvGrpSpPr/>
          <p:nvPr/>
        </p:nvGrpSpPr>
        <p:grpSpPr>
          <a:xfrm>
            <a:off x="4264368" y="3523026"/>
            <a:ext cx="2813399" cy="800100"/>
            <a:chOff x="4264368" y="3523026"/>
            <a:chExt cx="2813399" cy="800100"/>
          </a:xfrm>
        </p:grpSpPr>
        <p:sp>
          <p:nvSpPr>
            <p:cNvPr id="135" name="Line 10">
              <a:extLst>
                <a:ext uri="{FF2B5EF4-FFF2-40B4-BE49-F238E27FC236}">
                  <a16:creationId xmlns:a16="http://schemas.microsoft.com/office/drawing/2014/main"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1" name="Rectangle 20">
              <a:extLst>
                <a:ext uri="{FF2B5EF4-FFF2-40B4-BE49-F238E27FC236}">
                  <a16:creationId xmlns:a16="http://schemas.microsoft.com/office/drawing/2014/main"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2" name="Text Box 21">
              <a:extLst>
                <a:ext uri="{FF2B5EF4-FFF2-40B4-BE49-F238E27FC236}">
                  <a16:creationId xmlns:a16="http://schemas.microsoft.com/office/drawing/2014/main" id="{18709FF4-595B-2F4F-9697-F2C14F760728}"/>
                </a:ext>
              </a:extLst>
            </p:cNvPr>
            <p:cNvSpPr txBox="1">
              <a:spLocks noChangeArrowheads="1"/>
            </p:cNvSpPr>
            <p:nvPr/>
          </p:nvSpPr>
          <p:spPr bwMode="auto">
            <a:xfrm>
              <a:off x="4264368" y="3736718"/>
              <a:ext cx="2813399"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Seq=79, ACK=43, data = </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1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A6C1350-9453-1E48-8790-F100F9587769}"/>
              </a:ext>
            </a:extLst>
          </p:cNvPr>
          <p:cNvGrpSpPr/>
          <p:nvPr/>
        </p:nvGrpSpPr>
        <p:grpSpPr>
          <a:xfrm>
            <a:off x="4339949" y="4518388"/>
            <a:ext cx="2590800" cy="506413"/>
            <a:chOff x="4339949" y="4518388"/>
            <a:chExt cx="2590800" cy="506413"/>
          </a:xfrm>
        </p:grpSpPr>
        <p:sp>
          <p:nvSpPr>
            <p:cNvPr id="130" name="Line 3">
              <a:extLst>
                <a:ext uri="{FF2B5EF4-FFF2-40B4-BE49-F238E27FC236}">
                  <a16:creationId xmlns:a16="http://schemas.microsoft.com/office/drawing/2014/main"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3" name="Rectangle 22">
              <a:extLst>
                <a:ext uri="{FF2B5EF4-FFF2-40B4-BE49-F238E27FC236}">
                  <a16:creationId xmlns:a16="http://schemas.microsoft.com/office/drawing/2014/main"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4" name="Text Box 23">
              <a:extLst>
                <a:ext uri="{FF2B5EF4-FFF2-40B4-BE49-F238E27FC236}">
                  <a16:creationId xmlns:a16="http://schemas.microsoft.com/office/drawing/2014/main" id="{2C94660D-0BE1-434B-85A6-BB22849908C7}"/>
                </a:ext>
              </a:extLst>
            </p:cNvPr>
            <p:cNvSpPr txBox="1">
              <a:spLocks noChangeArrowheads="1"/>
            </p:cNvSpPr>
            <p:nvPr/>
          </p:nvSpPr>
          <p:spPr bwMode="auto">
            <a:xfrm>
              <a:off x="4934710" y="4609843"/>
              <a:ext cx="1712264"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Seq=43, ACK=80</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45" name="Line 24">
            <a:extLst>
              <a:ext uri="{FF2B5EF4-FFF2-40B4-BE49-F238E27FC236}">
                <a16:creationId xmlns:a16="http://schemas.microsoft.com/office/drawing/2014/main" id="{4198420A-33F5-1542-B39F-616C0F629FE7}"/>
              </a:ext>
            </a:extLst>
          </p:cNvPr>
          <p:cNvSpPr>
            <a:spLocks noChangeShapeType="1"/>
          </p:cNvSpPr>
          <p:nvPr/>
        </p:nvSpPr>
        <p:spPr bwMode="auto">
          <a:xfrm>
            <a:off x="4332012" y="2508613"/>
            <a:ext cx="0" cy="2587625"/>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6" name="Line 25">
            <a:extLst>
              <a:ext uri="{FF2B5EF4-FFF2-40B4-BE49-F238E27FC236}">
                <a16:creationId xmlns:a16="http://schemas.microsoft.com/office/drawing/2014/main" id="{C59AD6B4-1F7E-D046-AE58-B0A2143452E4}"/>
              </a:ext>
            </a:extLst>
          </p:cNvPr>
          <p:cNvSpPr>
            <a:spLocks noChangeShapeType="1"/>
          </p:cNvSpPr>
          <p:nvPr/>
        </p:nvSpPr>
        <p:spPr bwMode="auto">
          <a:xfrm>
            <a:off x="6994249" y="2561001"/>
            <a:ext cx="0" cy="2587625"/>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147" name="Group 27">
            <a:extLst>
              <a:ext uri="{FF2B5EF4-FFF2-40B4-BE49-F238E27FC236}">
                <a16:creationId xmlns:a16="http://schemas.microsoft.com/office/drawing/2014/main" id="{78A4C821-5D3D-F049-95FB-64A6C2EFC29B}"/>
              </a:ext>
            </a:extLst>
          </p:cNvPr>
          <p:cNvGrpSpPr>
            <a:grpSpLocks/>
          </p:cNvGrpSpPr>
          <p:nvPr/>
        </p:nvGrpSpPr>
        <p:grpSpPr bwMode="auto">
          <a:xfrm>
            <a:off x="3824012" y="1687876"/>
            <a:ext cx="755650" cy="782637"/>
            <a:chOff x="-44" y="1473"/>
            <a:chExt cx="981" cy="1105"/>
          </a:xfrm>
        </p:grpSpPr>
        <p:pic>
          <p:nvPicPr>
            <p:cNvPr id="148" name="Picture 28" descr="desktop_computer_stylized_medium">
              <a:extLst>
                <a:ext uri="{FF2B5EF4-FFF2-40B4-BE49-F238E27FC236}">
                  <a16:creationId xmlns:a16="http://schemas.microsoft.com/office/drawing/2014/main" id="{37E197D2-A990-E643-BBEF-3FDB8B30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50" name="Group 30">
            <a:extLst>
              <a:ext uri="{FF2B5EF4-FFF2-40B4-BE49-F238E27FC236}">
                <a16:creationId xmlns:a16="http://schemas.microsoft.com/office/drawing/2014/main" id="{AEA67504-808C-2C43-80AA-6BED564C9A22}"/>
              </a:ext>
            </a:extLst>
          </p:cNvPr>
          <p:cNvGrpSpPr>
            <a:grpSpLocks/>
          </p:cNvGrpSpPr>
          <p:nvPr/>
        </p:nvGrpSpPr>
        <p:grpSpPr bwMode="auto">
          <a:xfrm flipH="1">
            <a:off x="6686274" y="1727563"/>
            <a:ext cx="788988" cy="862013"/>
            <a:chOff x="-44" y="1473"/>
            <a:chExt cx="981" cy="1105"/>
          </a:xfrm>
        </p:grpSpPr>
        <p:pic>
          <p:nvPicPr>
            <p:cNvPr id="151" name="Picture 31" descr="desktop_computer_stylized_medium">
              <a:extLst>
                <a:ext uri="{FF2B5EF4-FFF2-40B4-BE49-F238E27FC236}">
                  <a16:creationId xmlns:a16="http://schemas.microsoft.com/office/drawing/2014/main" id="{0B37A6B2-9E4A-114B-85F9-5E3DF620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178778AE-4599-7841-B71E-D835F9A5393E}"/>
              </a:ext>
            </a:extLst>
          </p:cNvPr>
          <p:cNvGrpSpPr/>
          <p:nvPr/>
        </p:nvGrpSpPr>
        <p:grpSpPr>
          <a:xfrm>
            <a:off x="4692316" y="2815389"/>
            <a:ext cx="1388485" cy="1371600"/>
            <a:chOff x="4692316" y="2815389"/>
            <a:chExt cx="1388485" cy="1371600"/>
          </a:xfrm>
        </p:grpSpPr>
        <p:sp>
          <p:nvSpPr>
            <p:cNvPr id="3" name="Oval 2">
              <a:extLst>
                <a:ext uri="{FF2B5EF4-FFF2-40B4-BE49-F238E27FC236}">
                  <a16:creationId xmlns:a16="http://schemas.microsoft.com/office/drawing/2014/main"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45AF06C-D673-CA4F-A51B-93240818CB9A}"/>
              </a:ext>
            </a:extLst>
          </p:cNvPr>
          <p:cNvGrpSpPr/>
          <p:nvPr/>
        </p:nvGrpSpPr>
        <p:grpSpPr>
          <a:xfrm>
            <a:off x="4684295" y="3737810"/>
            <a:ext cx="1982043" cy="1307432"/>
            <a:chOff x="4692316" y="2815389"/>
            <a:chExt cx="1982043" cy="1307432"/>
          </a:xfrm>
        </p:grpSpPr>
        <p:sp>
          <p:nvSpPr>
            <p:cNvPr id="36" name="Oval 35">
              <a:extLst>
                <a:ext uri="{FF2B5EF4-FFF2-40B4-BE49-F238E27FC236}">
                  <a16:creationId xmlns:a16="http://schemas.microsoft.com/office/drawing/2014/main"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 name="Straight Arrow Connector 37">
              <a:extLst>
                <a:ext uri="{FF2B5EF4-FFF2-40B4-BE49-F238E27FC236}">
                  <a16:creationId xmlns:a16="http://schemas.microsoft.com/office/drawing/2014/main"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id="{951C5C48-402B-A744-B23C-9DA42D7A6E17}"/>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267750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9" name="Rectangle 1027">
            <a:extLst>
              <a:ext uri="{FF2B5EF4-FFF2-40B4-BE49-F238E27FC236}">
                <a16:creationId xmlns:a16="http://schemas.microsoft.com/office/drawing/2014/main" id="{E2121436-377D-9943-817E-B014539AAB14}"/>
              </a:ext>
            </a:extLst>
          </p:cNvPr>
          <p:cNvSpPr txBox="1">
            <a:spLocks noChangeArrowheads="1"/>
          </p:cNvSpPr>
          <p:nvPr/>
        </p:nvSpPr>
        <p:spPr>
          <a:xfrm>
            <a:off x="673789" y="1393136"/>
            <a:ext cx="521344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1" u="sng" strike="noStrike" kern="1200" cap="none" spc="0" normalizeH="0" baseline="0" noProof="0" dirty="0">
                <a:ln>
                  <a:noFill/>
                </a:ln>
                <a:solidFill>
                  <a:srgbClr val="C00000"/>
                </a:solidFill>
                <a:effectLst/>
                <a:uLnTx/>
                <a:uFillTx/>
                <a:latin typeface="Calibri" panose="020F0502020204030204"/>
                <a:ea typeface="+mn-ea"/>
                <a:cs typeface="+mn-cs"/>
              </a:rPr>
              <a:t>Q:</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to set TCP timeout value?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longer than RTT, but RTT varies!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short:</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premature timeout, unnecessary retransmissions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long:</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slow reaction to segment loss</a:t>
            </a:r>
          </a:p>
        </p:txBody>
      </p:sp>
      <p:sp>
        <p:nvSpPr>
          <p:cNvPr id="30" name="Rectangle 1028">
            <a:extLst>
              <a:ext uri="{FF2B5EF4-FFF2-40B4-BE49-F238E27FC236}">
                <a16:creationId xmlns:a16="http://schemas.microsoft.com/office/drawing/2014/main" id="{EBDCCB72-DE33-3D44-BBEA-E4C6F08C3D8E}"/>
              </a:ext>
            </a:extLst>
          </p:cNvPr>
          <p:cNvSpPr txBox="1">
            <a:spLocks noChangeArrowheads="1"/>
          </p:cNvSpPr>
          <p:nvPr/>
        </p:nvSpPr>
        <p:spPr>
          <a:xfrm>
            <a:off x="6258838" y="1393136"/>
            <a:ext cx="5565913"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Q</a:t>
            </a:r>
            <a:r>
              <a:rPr kumimoji="0" lang="en-US" altLang="en-US" sz="3200" b="0" i="0"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t>
            </a: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how to estimate RTT?</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err="1">
                <a:ln>
                  <a:noFill/>
                </a:ln>
                <a:solidFill>
                  <a:srgbClr val="000099"/>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measured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time from segment transmission until ACK receipt</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ignore retransmissions</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err="1">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srgbClr val="0000A8"/>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will vary, want estimated RTT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smoother</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endPar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average several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recent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measurements, not just current </a:t>
            </a:r>
            <a:r>
              <a:rPr kumimoji="0" lang="en-US" altLang="en-US" sz="2400" b="0" i="0" u="none" strike="noStrike" kern="1200" cap="none" spc="0" normalizeH="0" baseline="0" noProof="0" dirty="0" err="1">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endParaRPr kumimoji="0" lang="en-US" altLang="en-US" sz="24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endParaRPr>
          </a:p>
        </p:txBody>
      </p:sp>
      <p:sp>
        <p:nvSpPr>
          <p:cNvPr id="5" name="Slide Number Placeholder 2">
            <a:extLst>
              <a:ext uri="{FF2B5EF4-FFF2-40B4-BE49-F238E27FC236}">
                <a16:creationId xmlns:a16="http://schemas.microsoft.com/office/drawing/2014/main" id="{969C69A2-4389-474B-8FF4-E0D66DDE428E}"/>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35</a:t>
            </a:fld>
            <a:endParaRPr lang="en-US" dirty="0"/>
          </a:p>
        </p:txBody>
      </p:sp>
    </p:spTree>
    <p:extLst>
      <p:ext uri="{BB962C8B-B14F-4D97-AF65-F5344CB8AC3E}">
        <p14:creationId xmlns:p14="http://schemas.microsoft.com/office/powerpoint/2010/main" val="414990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3F844AE2-7CBB-B241-ABD8-7F7D48828D4B}"/>
              </a:ext>
            </a:extLst>
          </p:cNvPr>
          <p:cNvSpPr/>
          <p:nvPr/>
        </p:nvSpPr>
        <p:spPr>
          <a:xfrm>
            <a:off x="876300" y="1261543"/>
            <a:ext cx="8974869"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8" name="Text Box 3">
            <a:extLst>
              <a:ext uri="{FF2B5EF4-FFF2-40B4-BE49-F238E27FC236}">
                <a16:creationId xmlns:a16="http://schemas.microsoft.com/office/drawing/2014/main" id="{6466E19A-B1DF-1A42-B002-F49CA04A4C03}"/>
              </a:ext>
            </a:extLst>
          </p:cNvPr>
          <p:cNvSpPr txBox="1">
            <a:spLocks noChangeArrowheads="1"/>
          </p:cNvSpPr>
          <p:nvPr/>
        </p:nvSpPr>
        <p:spPr bwMode="auto">
          <a:xfrm>
            <a:off x="876300" y="1246817"/>
            <a:ext cx="9052479"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EstimatedRTT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 = (1-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EstimatedRTT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 +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SampleRTT</a:t>
            </a:r>
            <a:endPar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31" name="Rectangle 4">
            <a:extLst>
              <a:ext uri="{FF2B5EF4-FFF2-40B4-BE49-F238E27FC236}">
                <a16:creationId xmlns:a16="http://schemas.microsoft.com/office/drawing/2014/main" id="{4A4474B4-4EC5-0C4B-8B43-3433BA1CD706}"/>
              </a:ext>
            </a:extLst>
          </p:cNvPr>
          <p:cNvSpPr>
            <a:spLocks noChangeArrowheads="1"/>
          </p:cNvSpPr>
          <p:nvPr/>
        </p:nvSpPr>
        <p:spPr bwMode="auto">
          <a:xfrm>
            <a:off x="951602" y="1857328"/>
            <a:ext cx="7067550" cy="14244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e</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xponential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w</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eighted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oving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verage (EWMA)</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influence of past sample decreases exponentially fast</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typical value: </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 </a:t>
            </a:r>
            <a:r>
              <a:rPr kumimoji="0" lang="en-US" sz="2400" b="1"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0.125</a:t>
            </a:r>
          </a:p>
        </p:txBody>
      </p:sp>
      <p:grpSp>
        <p:nvGrpSpPr>
          <p:cNvPr id="5" name="Group 4">
            <a:extLst>
              <a:ext uri="{FF2B5EF4-FFF2-40B4-BE49-F238E27FC236}">
                <a16:creationId xmlns:a16="http://schemas.microsoft.com/office/drawing/2014/main" id="{F081A723-2F83-4149-BCD6-BF02F3F3BE24}"/>
              </a:ext>
            </a:extLst>
          </p:cNvPr>
          <p:cNvGrpSpPr/>
          <p:nvPr/>
        </p:nvGrpSpPr>
        <p:grpSpPr>
          <a:xfrm>
            <a:off x="4673229" y="2443135"/>
            <a:ext cx="6448425" cy="4292600"/>
            <a:chOff x="1531938" y="2565400"/>
            <a:chExt cx="6448425" cy="4292600"/>
          </a:xfrm>
        </p:grpSpPr>
        <p:grpSp>
          <p:nvGrpSpPr>
            <p:cNvPr id="25" name="Group 14">
              <a:extLst>
                <a:ext uri="{FF2B5EF4-FFF2-40B4-BE49-F238E27FC236}">
                  <a16:creationId xmlns:a16="http://schemas.microsoft.com/office/drawing/2014/main" id="{B47CB747-71BF-F246-8D51-35EDB4E56B20}"/>
                </a:ext>
              </a:extLst>
            </p:cNvPr>
            <p:cNvGrpSpPr>
              <a:grpSpLocks/>
            </p:cNvGrpSpPr>
            <p:nvPr/>
          </p:nvGrpSpPr>
          <p:grpSpPr bwMode="auto">
            <a:xfrm>
              <a:off x="1708150" y="2565400"/>
              <a:ext cx="6272213" cy="4292600"/>
              <a:chOff x="782" y="1865"/>
              <a:chExt cx="3951" cy="2704"/>
            </a:xfrm>
          </p:grpSpPr>
          <p:pic>
            <p:nvPicPr>
              <p:cNvPr id="26" name="Picture 12">
                <a:extLst>
                  <a:ext uri="{FF2B5EF4-FFF2-40B4-BE49-F238E27FC236}">
                    <a16:creationId xmlns:a16="http://schemas.microsoft.com/office/drawing/2014/main" id="{1B79C964-96AD-AA4A-B4CF-C6377C29E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13">
                <a:extLst>
                  <a:ext uri="{FF2B5EF4-FFF2-40B4-BE49-F238E27FC236}">
                    <a16:creationId xmlns:a16="http://schemas.microsoft.com/office/drawing/2014/main" id="{92FABEFD-E51C-0A49-A008-5D94B930D232}"/>
                  </a:ext>
                </a:extLst>
              </p:cNvPr>
              <p:cNvSpPr>
                <a:spLocks noChangeArrowheads="1"/>
              </p:cNvSpPr>
              <p:nvPr/>
            </p:nvSpPr>
            <p:spPr bwMode="auto">
              <a:xfrm>
                <a:off x="2070" y="1926"/>
                <a:ext cx="1404" cy="16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2" name="Text Box 18">
              <a:extLst>
                <a:ext uri="{FF2B5EF4-FFF2-40B4-BE49-F238E27FC236}">
                  <a16:creationId xmlns:a16="http://schemas.microsoft.com/office/drawing/2014/main" id="{F9CA757D-88CC-BF41-8C8F-6A16BC6C043B}"/>
                </a:ext>
              </a:extLst>
            </p:cNvPr>
            <p:cNvSpPr txBox="1">
              <a:spLocks noChangeArrowheads="1"/>
            </p:cNvSpPr>
            <p:nvPr/>
          </p:nvSpPr>
          <p:spPr bwMode="auto">
            <a:xfrm rot="10800000">
              <a:off x="1531938" y="3535363"/>
              <a:ext cx="428625" cy="17478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RTT (milliseconds)</a:t>
              </a:r>
            </a:p>
          </p:txBody>
        </p:sp>
        <p:sp>
          <p:nvSpPr>
            <p:cNvPr id="33" name="Text Box 19">
              <a:extLst>
                <a:ext uri="{FF2B5EF4-FFF2-40B4-BE49-F238E27FC236}">
                  <a16:creationId xmlns:a16="http://schemas.microsoft.com/office/drawing/2014/main" id="{5783915F-0896-D04A-9D0B-BE930F53923F}"/>
                </a:ext>
              </a:extLst>
            </p:cNvPr>
            <p:cNvSpPr txBox="1">
              <a:spLocks noChangeArrowheads="1"/>
            </p:cNvSpPr>
            <p:nvPr/>
          </p:nvSpPr>
          <p:spPr bwMode="auto">
            <a:xfrm>
              <a:off x="2265363" y="3168650"/>
              <a:ext cx="386715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RTT:</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gaia.cs.umass.edu</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to</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fantasia.eurecom.fr</a:t>
              </a:r>
            </a:p>
          </p:txBody>
        </p:sp>
        <p:sp>
          <p:nvSpPr>
            <p:cNvPr id="34" name="Text Box 20">
              <a:extLst>
                <a:ext uri="{FF2B5EF4-FFF2-40B4-BE49-F238E27FC236}">
                  <a16:creationId xmlns:a16="http://schemas.microsoft.com/office/drawing/2014/main" id="{FDF3CC5E-05FF-9348-AFEA-B37BF0709D00}"/>
                </a:ext>
              </a:extLst>
            </p:cNvPr>
            <p:cNvSpPr txBox="1">
              <a:spLocks noChangeArrowheads="1"/>
            </p:cNvSpPr>
            <p:nvPr/>
          </p:nvSpPr>
          <p:spPr bwMode="auto">
            <a:xfrm>
              <a:off x="6221413" y="5230813"/>
              <a:ext cx="11811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sampleRTT</a:t>
              </a:r>
            </a:p>
          </p:txBody>
        </p:sp>
        <p:sp>
          <p:nvSpPr>
            <p:cNvPr id="35" name="Text Box 21">
              <a:extLst>
                <a:ext uri="{FF2B5EF4-FFF2-40B4-BE49-F238E27FC236}">
                  <a16:creationId xmlns:a16="http://schemas.microsoft.com/office/drawing/2014/main" id="{F17B9932-059C-5C46-AFDC-5141617F4B50}"/>
                </a:ext>
              </a:extLst>
            </p:cNvPr>
            <p:cNvSpPr txBox="1">
              <a:spLocks noChangeArrowheads="1"/>
            </p:cNvSpPr>
            <p:nvPr/>
          </p:nvSpPr>
          <p:spPr bwMode="auto">
            <a:xfrm>
              <a:off x="6215063" y="5548313"/>
              <a:ext cx="1431925"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EstimatedRTT</a:t>
              </a:r>
            </a:p>
          </p:txBody>
        </p:sp>
        <p:sp>
          <p:nvSpPr>
            <p:cNvPr id="36" name="AutoShape 22">
              <a:extLst>
                <a:ext uri="{FF2B5EF4-FFF2-40B4-BE49-F238E27FC236}">
                  <a16:creationId xmlns:a16="http://schemas.microsoft.com/office/drawing/2014/main" id="{5C984DD6-69E3-6841-B32A-69B38C890B14}"/>
                </a:ext>
              </a:extLst>
            </p:cNvPr>
            <p:cNvSpPr>
              <a:spLocks noChangeArrowheads="1"/>
            </p:cNvSpPr>
            <p:nvPr/>
          </p:nvSpPr>
          <p:spPr bwMode="auto">
            <a:xfrm>
              <a:off x="6005513" y="5343525"/>
              <a:ext cx="147637" cy="142875"/>
            </a:xfrm>
            <a:prstGeom prst="diamond">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7" name="AutoShape 23">
              <a:extLst>
                <a:ext uri="{FF2B5EF4-FFF2-40B4-BE49-F238E27FC236}">
                  <a16:creationId xmlns:a16="http://schemas.microsoft.com/office/drawing/2014/main" id="{949FCF6B-A257-E540-8887-09B596633DCF}"/>
                </a:ext>
              </a:extLst>
            </p:cNvPr>
            <p:cNvSpPr>
              <a:spLocks noChangeArrowheads="1"/>
            </p:cNvSpPr>
            <p:nvPr/>
          </p:nvSpPr>
          <p:spPr bwMode="auto">
            <a:xfrm rot="2776382">
              <a:off x="6011069" y="5633244"/>
              <a:ext cx="147637" cy="142875"/>
            </a:xfrm>
            <a:prstGeom prst="diamond">
              <a:avLst/>
            </a:prstGeom>
            <a:solidFill>
              <a:srgbClr val="FF66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8" name="Rectangle 24">
              <a:extLst>
                <a:ext uri="{FF2B5EF4-FFF2-40B4-BE49-F238E27FC236}">
                  <a16:creationId xmlns:a16="http://schemas.microsoft.com/office/drawing/2014/main" id="{1C4D877B-9F3D-6342-9DFB-B8DAC5F2E1C6}"/>
                </a:ext>
              </a:extLst>
            </p:cNvPr>
            <p:cNvSpPr>
              <a:spLocks noChangeArrowheads="1"/>
            </p:cNvSpPr>
            <p:nvPr/>
          </p:nvSpPr>
          <p:spPr bwMode="auto">
            <a:xfrm>
              <a:off x="4108450" y="6389688"/>
              <a:ext cx="1863725" cy="46831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9" name="Group 15">
              <a:extLst>
                <a:ext uri="{FF2B5EF4-FFF2-40B4-BE49-F238E27FC236}">
                  <a16:creationId xmlns:a16="http://schemas.microsoft.com/office/drawing/2014/main" id="{46A7C35C-F55E-D448-9F19-A868DE731AA0}"/>
                </a:ext>
              </a:extLst>
            </p:cNvPr>
            <p:cNvGrpSpPr>
              <a:grpSpLocks/>
            </p:cNvGrpSpPr>
            <p:nvPr/>
          </p:nvGrpSpPr>
          <p:grpSpPr bwMode="auto">
            <a:xfrm>
              <a:off x="4041775" y="6386513"/>
              <a:ext cx="1512888" cy="336550"/>
              <a:chOff x="2343" y="3645"/>
              <a:chExt cx="953" cy="212"/>
            </a:xfrm>
          </p:grpSpPr>
          <p:sp>
            <p:nvSpPr>
              <p:cNvPr id="40" name="Rectangle 16">
                <a:extLst>
                  <a:ext uri="{FF2B5EF4-FFF2-40B4-BE49-F238E27FC236}">
                    <a16:creationId xmlns:a16="http://schemas.microsoft.com/office/drawing/2014/main" id="{76A5B688-5F66-A646-903E-26608C06EFAA}"/>
                  </a:ext>
                </a:extLst>
              </p:cNvPr>
              <p:cNvSpPr>
                <a:spLocks noChangeArrowheads="1"/>
              </p:cNvSpPr>
              <p:nvPr/>
            </p:nvSpPr>
            <p:spPr bwMode="auto">
              <a:xfrm>
                <a:off x="2592" y="3695"/>
                <a:ext cx="527" cy="9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 name="Text Box 17">
                <a:extLst>
                  <a:ext uri="{FF2B5EF4-FFF2-40B4-BE49-F238E27FC236}">
                    <a16:creationId xmlns:a16="http://schemas.microsoft.com/office/drawing/2014/main" id="{9530FDC0-AF61-1C41-8AC4-6B29BC1A8D3C}"/>
                  </a:ext>
                </a:extLst>
              </p:cNvPr>
              <p:cNvSpPr txBox="1">
                <a:spLocks noChangeArrowheads="1"/>
              </p:cNvSpPr>
              <p:nvPr/>
            </p:nvSpPr>
            <p:spPr bwMode="auto">
              <a:xfrm>
                <a:off x="2343" y="3645"/>
                <a:ext cx="953" cy="2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time (seconds)</a:t>
                </a:r>
              </a:p>
            </p:txBody>
          </p:sp>
        </p:grpSp>
      </p:grpSp>
      <p:sp>
        <p:nvSpPr>
          <p:cNvPr id="20" name="Slide Number Placeholder 2">
            <a:extLst>
              <a:ext uri="{FF2B5EF4-FFF2-40B4-BE49-F238E27FC236}">
                <a16:creationId xmlns:a16="http://schemas.microsoft.com/office/drawing/2014/main" id="{80D2031C-D174-0C4C-B2D2-3D6ED624031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36</a:t>
            </a:fld>
            <a:endParaRPr lang="en-US" dirty="0"/>
          </a:p>
        </p:txBody>
      </p:sp>
    </p:spTree>
    <p:extLst>
      <p:ext uri="{BB962C8B-B14F-4D97-AF65-F5344CB8AC3E}">
        <p14:creationId xmlns:p14="http://schemas.microsoft.com/office/powerpoint/2010/main" val="388983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59" name="Rectangle 5">
            <a:extLst>
              <a:ext uri="{FF2B5EF4-FFF2-40B4-BE49-F238E27FC236}">
                <a16:creationId xmlns:a16="http://schemas.microsoft.com/office/drawing/2014/main" id="{818E497C-5ADD-8648-BF4A-762A1B89120F}"/>
              </a:ext>
            </a:extLst>
          </p:cNvPr>
          <p:cNvSpPr txBox="1">
            <a:spLocks noChangeArrowheads="1"/>
          </p:cNvSpPr>
          <p:nvPr/>
        </p:nvSpPr>
        <p:spPr>
          <a:xfrm>
            <a:off x="635138" y="1537841"/>
            <a:ext cx="11327678" cy="11291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 interval:</a:t>
            </a:r>
            <a:r>
              <a:rPr kumimoji="0" lang="en-US" altLang="en-US" sz="2800" b="1"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plus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safety margin”</a:t>
            </a:r>
          </a:p>
          <a:p>
            <a:pPr marL="695325" marR="0" lvl="1" indent="-231775" algn="l" defTabSz="914400" rtl="0" eaLnBrk="1" fontAlgn="auto" latinLnBrk="0" hangingPunct="1">
              <a:lnSpc>
                <a:spcPct val="90000"/>
              </a:lnSpc>
              <a:spcBef>
                <a:spcPts val="10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large variation in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 a larger safety margin</a:t>
            </a:r>
          </a:p>
        </p:txBody>
      </p:sp>
      <p:grpSp>
        <p:nvGrpSpPr>
          <p:cNvPr id="5" name="Group 4">
            <a:extLst>
              <a:ext uri="{FF2B5EF4-FFF2-40B4-BE49-F238E27FC236}">
                <a16:creationId xmlns:a16="http://schemas.microsoft.com/office/drawing/2014/main" id="{98DFD149-D3B6-7049-8FD3-A4E0D481C064}"/>
              </a:ext>
            </a:extLst>
          </p:cNvPr>
          <p:cNvGrpSpPr/>
          <p:nvPr/>
        </p:nvGrpSpPr>
        <p:grpSpPr>
          <a:xfrm>
            <a:off x="1061454" y="2679700"/>
            <a:ext cx="9532485" cy="1193800"/>
            <a:chOff x="858254" y="2667000"/>
            <a:chExt cx="9532485" cy="1193800"/>
          </a:xfrm>
        </p:grpSpPr>
        <p:sp>
          <p:nvSpPr>
            <p:cNvPr id="70" name="Rectangle 69">
              <a:extLst>
                <a:ext uri="{FF2B5EF4-FFF2-40B4-BE49-F238E27FC236}">
                  <a16:creationId xmlns:a16="http://schemas.microsoft.com/office/drawing/2014/main" id="{6D78BD41-D638-4D4B-B561-317912C0037E}"/>
                </a:ext>
              </a:extLst>
            </p:cNvPr>
            <p:cNvSpPr/>
            <p:nvPr/>
          </p:nvSpPr>
          <p:spPr>
            <a:xfrm>
              <a:off x="858254" y="2667000"/>
              <a:ext cx="9532485"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13">
              <a:extLst>
                <a:ext uri="{FF2B5EF4-FFF2-40B4-BE49-F238E27FC236}">
                  <a16:creationId xmlns:a16="http://schemas.microsoft.com/office/drawing/2014/main" id="{13338CC9-61FA-4847-87D5-4B4830DB87F4}"/>
                </a:ext>
              </a:extLst>
            </p:cNvPr>
            <p:cNvSpPr>
              <a:spLocks noChangeArrowheads="1"/>
            </p:cNvSpPr>
            <p:nvPr/>
          </p:nvSpPr>
          <p:spPr bwMode="auto">
            <a:xfrm>
              <a:off x="859979" y="2701243"/>
              <a:ext cx="7918450" cy="692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TimeoutInterval</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 = </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EstimatedRTT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 + 4*</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DevRTT</a:t>
              </a:r>
              <a:endPar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endParaRPr>
            </a:p>
          </p:txBody>
        </p:sp>
        <p:sp>
          <p:nvSpPr>
            <p:cNvPr id="63" name="Text Box 14">
              <a:extLst>
                <a:ext uri="{FF2B5EF4-FFF2-40B4-BE49-F238E27FC236}">
                  <a16:creationId xmlns:a16="http://schemas.microsoft.com/office/drawing/2014/main" id="{29ECD817-A810-F04B-85CA-8D6E49B8D6DC}"/>
                </a:ext>
              </a:extLst>
            </p:cNvPr>
            <p:cNvSpPr txBox="1">
              <a:spLocks noChangeArrowheads="1"/>
            </p:cNvSpPr>
            <p:nvPr/>
          </p:nvSpPr>
          <p:spPr bwMode="auto">
            <a:xfrm>
              <a:off x="4304854" y="3442606"/>
              <a:ext cx="18113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99"/>
                  </a:solidFill>
                  <a:effectLst/>
                  <a:uLnTx/>
                  <a:uFillTx/>
                  <a:latin typeface="Tahoma" charset="0"/>
                  <a:ea typeface="ＭＳ Ｐゴシック" charset="0"/>
                  <a:cs typeface="+mn-cs"/>
                </a:rPr>
                <a:t>estimated RTT</a:t>
              </a:r>
            </a:p>
          </p:txBody>
        </p:sp>
        <p:sp>
          <p:nvSpPr>
            <p:cNvPr id="64" name="Text Box 16">
              <a:extLst>
                <a:ext uri="{FF2B5EF4-FFF2-40B4-BE49-F238E27FC236}">
                  <a16:creationId xmlns:a16="http://schemas.microsoft.com/office/drawing/2014/main" id="{B6E79AC7-559E-CA4D-B400-169E15D6448A}"/>
                </a:ext>
              </a:extLst>
            </p:cNvPr>
            <p:cNvSpPr txBox="1">
              <a:spLocks noChangeArrowheads="1"/>
            </p:cNvSpPr>
            <p:nvPr/>
          </p:nvSpPr>
          <p:spPr bwMode="auto">
            <a:xfrm>
              <a:off x="6736904" y="3461656"/>
              <a:ext cx="19177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65" name="Line 17">
              <a:extLst>
                <a:ext uri="{FF2B5EF4-FFF2-40B4-BE49-F238E27FC236}">
                  <a16:creationId xmlns:a16="http://schemas.microsoft.com/office/drawing/2014/main" id="{FF049043-4FEA-C546-ADC2-E314E7D23CA5}"/>
                </a:ext>
              </a:extLst>
            </p:cNvPr>
            <p:cNvSpPr>
              <a:spLocks noChangeShapeType="1"/>
            </p:cNvSpPr>
            <p:nvPr/>
          </p:nvSpPr>
          <p:spPr bwMode="auto">
            <a:xfrm flipV="1">
              <a:off x="5101779" y="3082243"/>
              <a:ext cx="0" cy="44608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66" name="Line 19">
              <a:extLst>
                <a:ext uri="{FF2B5EF4-FFF2-40B4-BE49-F238E27FC236}">
                  <a16:creationId xmlns:a16="http://schemas.microsoft.com/office/drawing/2014/main" id="{F55903EC-FD0A-654A-913F-52F13FFBE690}"/>
                </a:ext>
              </a:extLst>
            </p:cNvPr>
            <p:cNvSpPr>
              <a:spLocks noChangeShapeType="1"/>
            </p:cNvSpPr>
            <p:nvPr/>
          </p:nvSpPr>
          <p:spPr bwMode="auto">
            <a:xfrm flipV="1">
              <a:off x="7673529" y="3088593"/>
              <a:ext cx="0" cy="44608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pic>
          <p:nvPicPr>
            <p:cNvPr id="67" name="Picture 20" descr="alarm_clock_ringing">
              <a:extLst>
                <a:ext uri="{FF2B5EF4-FFF2-40B4-BE49-F238E27FC236}">
                  <a16:creationId xmlns:a16="http://schemas.microsoft.com/office/drawing/2014/main" id="{DF906935-706B-2B43-B876-CAD3FE51C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043" y="3238052"/>
              <a:ext cx="646558" cy="62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8" name="TextBox 1">
            <a:extLst>
              <a:ext uri="{FF2B5EF4-FFF2-40B4-BE49-F238E27FC236}">
                <a16:creationId xmlns:a16="http://schemas.microsoft.com/office/drawing/2014/main" id="{04CEDEED-587A-DF46-A338-0F70AC9A28A9}"/>
              </a:ext>
            </a:extLst>
          </p:cNvPr>
          <p:cNvSpPr txBox="1">
            <a:spLocks noChangeArrowheads="1"/>
          </p:cNvSpPr>
          <p:nvPr/>
        </p:nvSpPr>
        <p:spPr bwMode="auto">
          <a:xfrm>
            <a:off x="876300" y="6343507"/>
            <a:ext cx="100186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gaia.cs.umass.edu</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kurose_ross</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/interactive/</a:t>
            </a:r>
          </a:p>
        </p:txBody>
      </p:sp>
      <p:grpSp>
        <p:nvGrpSpPr>
          <p:cNvPr id="4" name="Group 3">
            <a:extLst>
              <a:ext uri="{FF2B5EF4-FFF2-40B4-BE49-F238E27FC236}">
                <a16:creationId xmlns:a16="http://schemas.microsoft.com/office/drawing/2014/main" id="{32E77073-7604-A04F-8597-12BF5941CCE7}"/>
              </a:ext>
            </a:extLst>
          </p:cNvPr>
          <p:cNvGrpSpPr/>
          <p:nvPr/>
        </p:nvGrpSpPr>
        <p:grpSpPr>
          <a:xfrm>
            <a:off x="1304479" y="4827690"/>
            <a:ext cx="10446405" cy="940044"/>
            <a:chOff x="1837879" y="3151290"/>
            <a:chExt cx="10446405" cy="940044"/>
          </a:xfrm>
        </p:grpSpPr>
        <p:sp>
          <p:nvSpPr>
            <p:cNvPr id="69" name="Rectangle 68">
              <a:extLst>
                <a:ext uri="{FF2B5EF4-FFF2-40B4-BE49-F238E27FC236}">
                  <a16:creationId xmlns:a16="http://schemas.microsoft.com/office/drawing/2014/main" id="{6D88E7C6-ABA1-FA45-A2D5-10F964EB5DB8}"/>
                </a:ext>
              </a:extLst>
            </p:cNvPr>
            <p:cNvSpPr/>
            <p:nvPr/>
          </p:nvSpPr>
          <p:spPr>
            <a:xfrm>
              <a:off x="1837879" y="3151290"/>
              <a:ext cx="9532486" cy="5222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Text Box 7">
              <a:extLst>
                <a:ext uri="{FF2B5EF4-FFF2-40B4-BE49-F238E27FC236}">
                  <a16:creationId xmlns:a16="http://schemas.microsoft.com/office/drawing/2014/main" id="{2F6AE672-95B4-DF44-B435-567781B49E2D}"/>
                </a:ext>
              </a:extLst>
            </p:cNvPr>
            <p:cNvSpPr txBox="1">
              <a:spLocks noChangeArrowheads="1"/>
            </p:cNvSpPr>
            <p:nvPr/>
          </p:nvSpPr>
          <p:spPr bwMode="auto">
            <a:xfrm>
              <a:off x="1837879" y="3151831"/>
              <a:ext cx="10018644"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DevRTT</a:t>
              </a:r>
              <a:r>
                <a:rPr kumimoji="0" lang="en-US" sz="2400" b="1"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(1-</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DevRTT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SampleRTT-EstimatedRTT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p>
          </p:txBody>
        </p:sp>
        <p:sp>
          <p:nvSpPr>
            <p:cNvPr id="61" name="Text Box 12">
              <a:extLst>
                <a:ext uri="{FF2B5EF4-FFF2-40B4-BE49-F238E27FC236}">
                  <a16:creationId xmlns:a16="http://schemas.microsoft.com/office/drawing/2014/main" id="{D33A459F-5B30-B942-A281-437341BBF16B}"/>
                </a:ext>
              </a:extLst>
            </p:cNvPr>
            <p:cNvSpPr txBox="1">
              <a:spLocks noChangeArrowheads="1"/>
            </p:cNvSpPr>
            <p:nvPr/>
          </p:nvSpPr>
          <p:spPr bwMode="auto">
            <a:xfrm>
              <a:off x="8898147" y="3694459"/>
              <a:ext cx="338613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(typically, </a:t>
              </a:r>
              <a:r>
                <a:rPr kumimoji="0" lang="en-US" sz="2000" b="0"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0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sym typeface="Symbol" charset="0"/>
                </a:rPr>
                <a:t>= 0.25)</a:t>
              </a:r>
            </a:p>
          </p:txBody>
        </p:sp>
      </p:grpSp>
      <p:sp>
        <p:nvSpPr>
          <p:cNvPr id="16" name="Rectangle 5">
            <a:extLst>
              <a:ext uri="{FF2B5EF4-FFF2-40B4-BE49-F238E27FC236}">
                <a16:creationId xmlns:a16="http://schemas.microsoft.com/office/drawing/2014/main" id="{4DBD9BE8-0206-984D-9734-DB015980BF63}"/>
              </a:ext>
            </a:extLst>
          </p:cNvPr>
          <p:cNvSpPr txBox="1">
            <a:spLocks noChangeArrowheads="1"/>
          </p:cNvSpPr>
          <p:nvPr/>
        </p:nvSpPr>
        <p:spPr>
          <a:xfrm>
            <a:off x="660538" y="4192141"/>
            <a:ext cx="11327678" cy="5449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DevRTT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EWMA of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SampleRTT</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deviation from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p:txBody>
      </p:sp>
      <p:sp>
        <p:nvSpPr>
          <p:cNvPr id="18" name="Slide Number Placeholder 2">
            <a:extLst>
              <a:ext uri="{FF2B5EF4-FFF2-40B4-BE49-F238E27FC236}">
                <a16:creationId xmlns:a16="http://schemas.microsoft.com/office/drawing/2014/main" id="{0FC6F86E-C16B-C949-B055-1DD32A860108}"/>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139230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Sender </a:t>
            </a:r>
            <a:r>
              <a:rPr lang="en-US" sz="3600" dirty="0"/>
              <a:t>(simplified)</a:t>
            </a:r>
            <a:endParaRPr lang="en-US" sz="4400" b="0" dirty="0"/>
          </a:p>
        </p:txBody>
      </p:sp>
      <p:sp>
        <p:nvSpPr>
          <p:cNvPr id="6" name="Rectangle 3">
            <a:extLst>
              <a:ext uri="{FF2B5EF4-FFF2-40B4-BE49-F238E27FC236}">
                <a16:creationId xmlns:a16="http://schemas.microsoft.com/office/drawing/2014/main" id="{93E50F9F-34A2-434D-9CCF-7D058EEE958D}"/>
              </a:ext>
            </a:extLst>
          </p:cNvPr>
          <p:cNvSpPr txBox="1">
            <a:spLocks noChangeArrowheads="1"/>
          </p:cNvSpPr>
          <p:nvPr/>
        </p:nvSpPr>
        <p:spPr>
          <a:xfrm>
            <a:off x="798690" y="1384386"/>
            <a:ext cx="495300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event: data received from application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create segment with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seq # is byte-stream number of first data byte in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start timer if not already running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think of timer as for oldest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expiration interval: </a:t>
            </a:r>
            <a:r>
              <a:rPr kumimoji="0" lang="en-US" sz="2400" b="1" i="0" u="none" strike="noStrike" kern="1200" cap="none" spc="0" normalizeH="0" baseline="0" noProof="0" dirty="0" err="1">
                <a:ln>
                  <a:noFill/>
                </a:ln>
                <a:solidFill>
                  <a:prstClr val="black"/>
                </a:solidFill>
                <a:effectLst/>
                <a:uLnTx/>
                <a:uFillTx/>
                <a:latin typeface="Courier New" charset="0"/>
                <a:ea typeface="+mn-ea"/>
                <a:cs typeface="+mn-cs"/>
              </a:rPr>
              <a:t>TimeOutInterval</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DA35D0F5-641B-DD43-98AE-2CF2FD980706}"/>
              </a:ext>
            </a:extLst>
          </p:cNvPr>
          <p:cNvSpPr txBox="1">
            <a:spLocks noChangeArrowheads="1"/>
          </p:cNvSpPr>
          <p:nvPr/>
        </p:nvSpPr>
        <p:spPr>
          <a:xfrm>
            <a:off x="6728208" y="1446144"/>
            <a:ext cx="3810000" cy="1943100"/>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1" u="none" strike="noStrike" kern="1200" cap="none" spc="0" normalizeH="0" baseline="0" noProof="0" dirty="0">
                <a:ln>
                  <a:noFill/>
                </a:ln>
                <a:solidFill>
                  <a:srgbClr val="CC0000"/>
                </a:solidFill>
                <a:effectLst/>
                <a:uLnTx/>
                <a:uFillTx/>
                <a:latin typeface="Calibri" panose="020F0502020204030204"/>
                <a:ea typeface="+mn-ea"/>
                <a:cs typeface="+mn-cs"/>
              </a:rPr>
              <a:t>event: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retransmit segment that caused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4">
            <a:extLst>
              <a:ext uri="{FF2B5EF4-FFF2-40B4-BE49-F238E27FC236}">
                <a16:creationId xmlns:a16="http://schemas.microsoft.com/office/drawing/2014/main" id="{7626FEA2-2ED1-6640-83D4-E13C73302CE0}"/>
              </a:ext>
            </a:extLst>
          </p:cNvPr>
          <p:cNvSpPr txBox="1">
            <a:spLocks noChangeArrowheads="1"/>
          </p:cNvSpPr>
          <p:nvPr/>
        </p:nvSpPr>
        <p:spPr>
          <a:xfrm>
            <a:off x="6728208" y="3392552"/>
            <a:ext cx="4920453" cy="3193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event: ACK received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ACK acknowledges previously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update what is known to be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start timer if there are  still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lide Number Placeholder 2">
            <a:extLst>
              <a:ext uri="{FF2B5EF4-FFF2-40B4-BE49-F238E27FC236}">
                <a16:creationId xmlns:a16="http://schemas.microsoft.com/office/drawing/2014/main" id="{F7A5BD9A-E49F-7E4D-A1AC-729448A7B15E}"/>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38</a:t>
            </a:fld>
            <a:endParaRPr lang="en-US" dirty="0"/>
          </a:p>
        </p:txBody>
      </p:sp>
    </p:spTree>
    <p:extLst>
      <p:ext uri="{BB962C8B-B14F-4D97-AF65-F5344CB8AC3E}">
        <p14:creationId xmlns:p14="http://schemas.microsoft.com/office/powerpoint/2010/main" val="42207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Receiver: ACK generation </a:t>
            </a:r>
            <a:r>
              <a:rPr lang="en-US" sz="2400" b="0" dirty="0"/>
              <a:t>[RFC 5681]</a:t>
            </a:r>
            <a:endParaRPr lang="en-US" sz="4400" b="0" dirty="0"/>
          </a:p>
        </p:txBody>
      </p:sp>
      <p:sp>
        <p:nvSpPr>
          <p:cNvPr id="43" name="Text Box 3">
            <a:extLst>
              <a:ext uri="{FF2B5EF4-FFF2-40B4-BE49-F238E27FC236}">
                <a16:creationId xmlns:a16="http://schemas.microsoft.com/office/drawing/2014/main" id="{0C54E9E4-D2A0-C64E-B652-DCC0E63DDD71}"/>
              </a:ext>
            </a:extLst>
          </p:cNvPr>
          <p:cNvSpPr txBox="1">
            <a:spLocks noChangeArrowheads="1"/>
          </p:cNvSpPr>
          <p:nvPr/>
        </p:nvSpPr>
        <p:spPr bwMode="auto">
          <a:xfrm>
            <a:off x="2143953" y="1439289"/>
            <a:ext cx="3496406"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Event at receiver</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All data up to</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already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ACKed</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One other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has ACK pending</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out-of-order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higher-than-expect seq. #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Gap detected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segment that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partially or completely fills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4" name="Text Box 4">
            <a:extLst>
              <a:ext uri="{FF2B5EF4-FFF2-40B4-BE49-F238E27FC236}">
                <a16:creationId xmlns:a16="http://schemas.microsoft.com/office/drawing/2014/main" id="{7D1A8937-7497-E947-B481-036DB6905786}"/>
              </a:ext>
            </a:extLst>
          </p:cNvPr>
          <p:cNvSpPr txBox="1">
            <a:spLocks noChangeArrowheads="1"/>
          </p:cNvSpPr>
          <p:nvPr/>
        </p:nvSpPr>
        <p:spPr bwMode="auto">
          <a:xfrm>
            <a:off x="5906328" y="1429764"/>
            <a:ext cx="4189545"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TCP receiver action</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delayed ACK. Wait up to 500ms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next segment. If no next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single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ACKing</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both in-order segments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a:t>
            </a: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 ACK</a:t>
            </a:r>
            <a:r>
              <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indicating seq. # of next expected byte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 send ACK, provided that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starts at lower end of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5" name="Line 9">
            <a:extLst>
              <a:ext uri="{FF2B5EF4-FFF2-40B4-BE49-F238E27FC236}">
                <a16:creationId xmlns:a16="http://schemas.microsoft.com/office/drawing/2014/main" id="{B5C333E2-4347-8B41-A67B-31280E7B23CD}"/>
              </a:ext>
            </a:extLst>
          </p:cNvPr>
          <p:cNvSpPr>
            <a:spLocks noChangeShapeType="1"/>
          </p:cNvSpPr>
          <p:nvPr/>
        </p:nvSpPr>
        <p:spPr bwMode="auto">
          <a:xfrm>
            <a:off x="5715828" y="1590101"/>
            <a:ext cx="0" cy="4352925"/>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6" name="Line 11">
            <a:extLst>
              <a:ext uri="{FF2B5EF4-FFF2-40B4-BE49-F238E27FC236}">
                <a16:creationId xmlns:a16="http://schemas.microsoft.com/office/drawing/2014/main" id="{A3C87D27-55A1-0740-A388-14FABFDCAECD}"/>
              </a:ext>
            </a:extLst>
          </p:cNvPr>
          <p:cNvSpPr>
            <a:spLocks noChangeShapeType="1"/>
          </p:cNvSpPr>
          <p:nvPr/>
        </p:nvSpPr>
        <p:spPr bwMode="auto">
          <a:xfrm>
            <a:off x="2159828" y="20298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7" name="Line 12">
            <a:extLst>
              <a:ext uri="{FF2B5EF4-FFF2-40B4-BE49-F238E27FC236}">
                <a16:creationId xmlns:a16="http://schemas.microsoft.com/office/drawing/2014/main" id="{BAEE28BF-45B4-7B4F-8643-BEFCF1817DB3}"/>
              </a:ext>
            </a:extLst>
          </p:cNvPr>
          <p:cNvSpPr>
            <a:spLocks noChangeShapeType="1"/>
          </p:cNvSpPr>
          <p:nvPr/>
        </p:nvSpPr>
        <p:spPr bwMode="auto">
          <a:xfrm>
            <a:off x="2143953" y="30839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8" name="Line 13">
            <a:extLst>
              <a:ext uri="{FF2B5EF4-FFF2-40B4-BE49-F238E27FC236}">
                <a16:creationId xmlns:a16="http://schemas.microsoft.com/office/drawing/2014/main" id="{497F621D-E3C3-D549-BCDE-B1C658BA2FF8}"/>
              </a:ext>
            </a:extLst>
          </p:cNvPr>
          <p:cNvSpPr>
            <a:spLocks noChangeShapeType="1"/>
          </p:cNvSpPr>
          <p:nvPr/>
        </p:nvSpPr>
        <p:spPr bwMode="auto">
          <a:xfrm>
            <a:off x="2161416" y="4182489"/>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9" name="Line 14">
            <a:extLst>
              <a:ext uri="{FF2B5EF4-FFF2-40B4-BE49-F238E27FC236}">
                <a16:creationId xmlns:a16="http://schemas.microsoft.com/office/drawing/2014/main" id="{B5CA7B9A-CEFE-9440-989C-72777EDC3F97}"/>
              </a:ext>
            </a:extLst>
          </p:cNvPr>
          <p:cNvSpPr>
            <a:spLocks noChangeShapeType="1"/>
          </p:cNvSpPr>
          <p:nvPr/>
        </p:nvSpPr>
        <p:spPr bwMode="auto">
          <a:xfrm>
            <a:off x="2155066" y="5271514"/>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 name="Rectangle 3">
            <a:extLst>
              <a:ext uri="{FF2B5EF4-FFF2-40B4-BE49-F238E27FC236}">
                <a16:creationId xmlns:a16="http://schemas.microsoft.com/office/drawing/2014/main" id="{446007AE-16BF-5641-9533-FDFCED5467B7}"/>
              </a:ext>
            </a:extLst>
          </p:cNvPr>
          <p:cNvSpPr/>
          <p:nvPr/>
        </p:nvSpPr>
        <p:spPr>
          <a:xfrm>
            <a:off x="2141951" y="2079321"/>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4788DE70-9425-C941-B687-5CDA29AFB818}"/>
              </a:ext>
            </a:extLst>
          </p:cNvPr>
          <p:cNvSpPr/>
          <p:nvPr/>
        </p:nvSpPr>
        <p:spPr>
          <a:xfrm>
            <a:off x="2006253" y="3158647"/>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A265DF2-3FEE-3D4C-9E18-1D8A86817D23}"/>
              </a:ext>
            </a:extLst>
          </p:cNvPr>
          <p:cNvSpPr/>
          <p:nvPr/>
        </p:nvSpPr>
        <p:spPr>
          <a:xfrm>
            <a:off x="2196231" y="4237973"/>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03861685-9E67-3541-901D-AC152EC9F9C7}"/>
              </a:ext>
            </a:extLst>
          </p:cNvPr>
          <p:cNvSpPr/>
          <p:nvPr/>
        </p:nvSpPr>
        <p:spPr>
          <a:xfrm>
            <a:off x="2246335" y="5340264"/>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a16="http://schemas.microsoft.com/office/drawing/2014/main" id="{340791B0-4154-D14E-9DBD-0157764BBAE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39</a:t>
            </a:fld>
            <a:endParaRPr lang="en-US" dirty="0"/>
          </a:p>
        </p:txBody>
      </p:sp>
    </p:spTree>
    <p:extLst>
      <p:ext uri="{BB962C8B-B14F-4D97-AF65-F5344CB8AC3E}">
        <p14:creationId xmlns:p14="http://schemas.microsoft.com/office/powerpoint/2010/main" val="177131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69" name="Text Box 105">
            <a:extLst>
              <a:ext uri="{FF2B5EF4-FFF2-40B4-BE49-F238E27FC236}">
                <a16:creationId xmlns:a16="http://schemas.microsoft.com/office/drawing/2014/main" id="{BFF25F7B-7978-5140-B991-E71AA865A711}"/>
              </a:ext>
            </a:extLst>
          </p:cNvPr>
          <p:cNvSpPr txBox="1">
            <a:spLocks noChangeArrowheads="1"/>
          </p:cNvSpPr>
          <p:nvPr/>
        </p:nvSpPr>
        <p:spPr bwMode="auto">
          <a:xfrm>
            <a:off x="2236856" y="5873422"/>
            <a:ext cx="1922463"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lost ACK scenario</a:t>
            </a:r>
            <a:endParaRPr kumimoji="0" lang="en-US" sz="10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3"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3970406" y="1183947"/>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74"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1636781" y="1201410"/>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4" name="Group 3">
            <a:extLst>
              <a:ext uri="{FF2B5EF4-FFF2-40B4-BE49-F238E27FC236}">
                <a16:creationId xmlns:a16="http://schemas.microsoft.com/office/drawing/2014/main" id="{47AB30F9-BD3F-264E-8DF5-3B4B9CA352A7}"/>
              </a:ext>
            </a:extLst>
          </p:cNvPr>
          <p:cNvGrpSpPr/>
          <p:nvPr/>
        </p:nvGrpSpPr>
        <p:grpSpPr>
          <a:xfrm>
            <a:off x="2032069" y="2342822"/>
            <a:ext cx="2346325" cy="571500"/>
            <a:chOff x="2032069" y="2342822"/>
            <a:chExt cx="2346325" cy="571500"/>
          </a:xfrm>
        </p:grpSpPr>
        <p:sp>
          <p:nvSpPr>
            <p:cNvPr id="171" name="Line 100">
              <a:extLst>
                <a:ext uri="{FF2B5EF4-FFF2-40B4-BE49-F238E27FC236}">
                  <a16:creationId xmlns:a16="http://schemas.microsoft.com/office/drawing/2014/main"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5" name="Rectangle 112">
              <a:extLst>
                <a:ext uri="{FF2B5EF4-FFF2-40B4-BE49-F238E27FC236}">
                  <a16:creationId xmlns:a16="http://schemas.microsoft.com/office/drawing/2014/main"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6" name="Text Box 113">
              <a:extLst>
                <a:ext uri="{FF2B5EF4-FFF2-40B4-BE49-F238E27FC236}">
                  <a16:creationId xmlns:a16="http://schemas.microsoft.com/office/drawing/2014/main" id="{08010453-6652-E348-AC57-7E9E8D356969}"/>
                </a:ext>
              </a:extLst>
            </p:cNvPr>
            <p:cNvSpPr txBox="1">
              <a:spLocks noChangeArrowheads="1"/>
            </p:cNvSpPr>
            <p:nvPr/>
          </p:nvSpPr>
          <p:spPr bwMode="auto">
            <a:xfrm>
              <a:off x="2176531" y="2476172"/>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sp>
        <p:nvSpPr>
          <p:cNvPr id="179" name="Line 118">
            <a:extLst>
              <a:ext uri="{FF2B5EF4-FFF2-40B4-BE49-F238E27FC236}">
                <a16:creationId xmlns:a16="http://schemas.microsoft.com/office/drawing/2014/main" id="{5429E427-16E3-344A-A034-DAE0253AB97D}"/>
              </a:ext>
            </a:extLst>
          </p:cNvPr>
          <p:cNvSpPr>
            <a:spLocks noChangeShapeType="1"/>
          </p:cNvSpPr>
          <p:nvPr/>
        </p:nvSpPr>
        <p:spPr bwMode="auto">
          <a:xfrm>
            <a:off x="2011431" y="2101522"/>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0" name="Line 119">
            <a:extLst>
              <a:ext uri="{FF2B5EF4-FFF2-40B4-BE49-F238E27FC236}">
                <a16:creationId xmlns:a16="http://schemas.microsoft.com/office/drawing/2014/main" id="{B685EEAE-4766-CE43-A2A6-32288A3FE5E9}"/>
              </a:ext>
            </a:extLst>
          </p:cNvPr>
          <p:cNvSpPr>
            <a:spLocks noChangeShapeType="1"/>
          </p:cNvSpPr>
          <p:nvPr/>
        </p:nvSpPr>
        <p:spPr bwMode="auto">
          <a:xfrm>
            <a:off x="4438719" y="2096760"/>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8" name="Group 7">
            <a:extLst>
              <a:ext uri="{FF2B5EF4-FFF2-40B4-BE49-F238E27FC236}">
                <a16:creationId xmlns:a16="http://schemas.microsoft.com/office/drawing/2014/main" id="{F2169BDB-26D4-794C-AF29-1EBFE13D6C8F}"/>
              </a:ext>
            </a:extLst>
          </p:cNvPr>
          <p:cNvGrpSpPr/>
          <p:nvPr/>
        </p:nvGrpSpPr>
        <p:grpSpPr>
          <a:xfrm>
            <a:off x="2019369" y="4104947"/>
            <a:ext cx="2351087" cy="512763"/>
            <a:chOff x="2019369" y="4104947"/>
            <a:chExt cx="2351087" cy="512763"/>
          </a:xfrm>
        </p:grpSpPr>
        <p:sp>
          <p:nvSpPr>
            <p:cNvPr id="170" name="Line 99">
              <a:extLst>
                <a:ext uri="{FF2B5EF4-FFF2-40B4-BE49-F238E27FC236}">
                  <a16:creationId xmlns:a16="http://schemas.microsoft.com/office/drawing/2014/main"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1" name="Rectangle 122">
              <a:extLst>
                <a:ext uri="{FF2B5EF4-FFF2-40B4-BE49-F238E27FC236}">
                  <a16:creationId xmlns:a16="http://schemas.microsoft.com/office/drawing/2014/main"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2" name="Text Box 123">
              <a:extLst>
                <a:ext uri="{FF2B5EF4-FFF2-40B4-BE49-F238E27FC236}">
                  <a16:creationId xmlns:a16="http://schemas.microsoft.com/office/drawing/2014/main" id="{FB31845A-BC05-2942-A23F-7101518E3BF6}"/>
                </a:ext>
              </a:extLst>
            </p:cNvPr>
            <p:cNvSpPr txBox="1">
              <a:spLocks noChangeArrowheads="1"/>
            </p:cNvSpPr>
            <p:nvPr/>
          </p:nvSpPr>
          <p:spPr bwMode="auto">
            <a:xfrm>
              <a:off x="2165419" y="4185910"/>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Seq=92, 8 bytes of data</a:t>
              </a:r>
            </a:p>
          </p:txBody>
        </p:sp>
      </p:grpSp>
      <p:grpSp>
        <p:nvGrpSpPr>
          <p:cNvPr id="6" name="Group 5">
            <a:extLst>
              <a:ext uri="{FF2B5EF4-FFF2-40B4-BE49-F238E27FC236}">
                <a16:creationId xmlns:a16="http://schemas.microsoft.com/office/drawing/2014/main" id="{BDFBEB0F-AD33-9841-96A8-08332FBAA960}"/>
              </a:ext>
            </a:extLst>
          </p:cNvPr>
          <p:cNvGrpSpPr/>
          <p:nvPr/>
        </p:nvGrpSpPr>
        <p:grpSpPr>
          <a:xfrm>
            <a:off x="2857569" y="3004810"/>
            <a:ext cx="1484312" cy="628650"/>
            <a:chOff x="2857569" y="3004810"/>
            <a:chExt cx="1484312" cy="628650"/>
          </a:xfrm>
        </p:grpSpPr>
        <p:sp>
          <p:nvSpPr>
            <p:cNvPr id="172" name="Line 104">
              <a:extLst>
                <a:ext uri="{FF2B5EF4-FFF2-40B4-BE49-F238E27FC236}">
                  <a16:creationId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7" name="Rectangle 114">
              <a:extLst>
                <a:ext uri="{FF2B5EF4-FFF2-40B4-BE49-F238E27FC236}">
                  <a16:creationId xmlns:a16="http://schemas.microsoft.com/office/drawing/2014/main"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8" name="Text Box 115">
              <a:extLst>
                <a:ext uri="{FF2B5EF4-FFF2-40B4-BE49-F238E27FC236}">
                  <a16:creationId xmlns:a16="http://schemas.microsoft.com/office/drawing/2014/main" id="{F3EC555B-6627-3C46-9C43-7AB97835B780}"/>
                </a:ext>
              </a:extLst>
            </p:cNvPr>
            <p:cNvSpPr txBox="1">
              <a:spLocks noChangeArrowheads="1"/>
            </p:cNvSpPr>
            <p:nvPr/>
          </p:nvSpPr>
          <p:spPr bwMode="auto">
            <a:xfrm>
              <a:off x="3224281" y="3046085"/>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183"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grpSp>
      <p:grpSp>
        <p:nvGrpSpPr>
          <p:cNvPr id="9" name="Group 8">
            <a:extLst>
              <a:ext uri="{FF2B5EF4-FFF2-40B4-BE49-F238E27FC236}">
                <a16:creationId xmlns:a16="http://schemas.microsoft.com/office/drawing/2014/main" id="{CA465D82-8FEB-3440-B371-2468D04E80CF}"/>
              </a:ext>
            </a:extLst>
          </p:cNvPr>
          <p:cNvGrpSpPr/>
          <p:nvPr/>
        </p:nvGrpSpPr>
        <p:grpSpPr>
          <a:xfrm>
            <a:off x="2008256" y="4703435"/>
            <a:ext cx="2338388" cy="782637"/>
            <a:chOff x="2008256" y="4703435"/>
            <a:chExt cx="2338388" cy="782637"/>
          </a:xfrm>
        </p:grpSpPr>
        <p:sp>
          <p:nvSpPr>
            <p:cNvPr id="185" name="Line 127">
              <a:extLst>
                <a:ext uri="{FF2B5EF4-FFF2-40B4-BE49-F238E27FC236}">
                  <a16:creationId xmlns:a16="http://schemas.microsoft.com/office/drawing/2014/main"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6" name="Rectangle 128">
              <a:extLst>
                <a:ext uri="{FF2B5EF4-FFF2-40B4-BE49-F238E27FC236}">
                  <a16:creationId xmlns:a16="http://schemas.microsoft.com/office/drawing/2014/main"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7" name="Text Box 129">
              <a:extLst>
                <a:ext uri="{FF2B5EF4-FFF2-40B4-BE49-F238E27FC236}">
                  <a16:creationId xmlns:a16="http://schemas.microsoft.com/office/drawing/2014/main" id="{06DE42B2-117E-D241-8A87-B070A56CDFEA}"/>
                </a:ext>
              </a:extLst>
            </p:cNvPr>
            <p:cNvSpPr txBox="1">
              <a:spLocks noChangeArrowheads="1"/>
            </p:cNvSpPr>
            <p:nvPr/>
          </p:nvSpPr>
          <p:spPr bwMode="auto">
            <a:xfrm>
              <a:off x="2762319" y="4916160"/>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grpSp>
      <p:grpSp>
        <p:nvGrpSpPr>
          <p:cNvPr id="7" name="Group 6">
            <a:extLst>
              <a:ext uri="{FF2B5EF4-FFF2-40B4-BE49-F238E27FC236}">
                <a16:creationId xmlns:a16="http://schemas.microsoft.com/office/drawing/2014/main" id="{9218D318-345A-1343-9E16-E2157D9EC9CA}"/>
              </a:ext>
            </a:extLst>
          </p:cNvPr>
          <p:cNvGrpSpPr/>
          <p:nvPr/>
        </p:nvGrpSpPr>
        <p:grpSpPr>
          <a:xfrm>
            <a:off x="1638369" y="2347585"/>
            <a:ext cx="396875" cy="1751012"/>
            <a:chOff x="1638369" y="2347585"/>
            <a:chExt cx="396875" cy="1751012"/>
          </a:xfrm>
        </p:grpSpPr>
        <p:sp>
          <p:nvSpPr>
            <p:cNvPr id="184"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8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91"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3"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sp>
        <p:nvSpPr>
          <p:cNvPr id="194" name="Text Box 172">
            <a:extLst>
              <a:ext uri="{FF2B5EF4-FFF2-40B4-BE49-F238E27FC236}">
                <a16:creationId xmlns:a16="http://schemas.microsoft.com/office/drawing/2014/main" id="{5B3CEA4D-B0D0-D04E-ADE8-909B1EDA7441}"/>
              </a:ext>
            </a:extLst>
          </p:cNvPr>
          <p:cNvSpPr txBox="1">
            <a:spLocks noChangeArrowheads="1"/>
          </p:cNvSpPr>
          <p:nvPr/>
        </p:nvSpPr>
        <p:spPr bwMode="auto">
          <a:xfrm>
            <a:off x="7759116" y="5873422"/>
            <a:ext cx="2073275"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premature timeout</a:t>
            </a:r>
            <a:endParaRPr kumimoji="0" lang="en-US" sz="10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Text Box 177">
            <a:extLst>
              <a:ext uri="{FF2B5EF4-FFF2-40B4-BE49-F238E27FC236}">
                <a16:creationId xmlns:a16="http://schemas.microsoft.com/office/drawing/2014/main" id="{970D57D0-6509-F14E-A7FF-FFA09672DA95}"/>
              </a:ext>
            </a:extLst>
          </p:cNvPr>
          <p:cNvSpPr txBox="1">
            <a:spLocks noChangeArrowheads="1"/>
          </p:cNvSpPr>
          <p:nvPr/>
        </p:nvSpPr>
        <p:spPr bwMode="auto">
          <a:xfrm>
            <a:off x="9567278" y="1183947"/>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99" name="Text Box 181">
            <a:extLst>
              <a:ext uri="{FF2B5EF4-FFF2-40B4-BE49-F238E27FC236}">
                <a16:creationId xmlns:a16="http://schemas.microsoft.com/office/drawing/2014/main" id="{5C9181D9-76B4-1547-B4C6-C03AC2F11CD9}"/>
              </a:ext>
            </a:extLst>
          </p:cNvPr>
          <p:cNvSpPr txBox="1">
            <a:spLocks noChangeArrowheads="1"/>
          </p:cNvSpPr>
          <p:nvPr/>
        </p:nvSpPr>
        <p:spPr bwMode="auto">
          <a:xfrm>
            <a:off x="7233653" y="1201410"/>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sp>
        <p:nvSpPr>
          <p:cNvPr id="205" name="Line 186">
            <a:extLst>
              <a:ext uri="{FF2B5EF4-FFF2-40B4-BE49-F238E27FC236}">
                <a16:creationId xmlns:a16="http://schemas.microsoft.com/office/drawing/2014/main" id="{DCFF6781-2E36-E241-A5F5-C0B04BC7CABB}"/>
              </a:ext>
            </a:extLst>
          </p:cNvPr>
          <p:cNvSpPr>
            <a:spLocks noChangeShapeType="1"/>
          </p:cNvSpPr>
          <p:nvPr/>
        </p:nvSpPr>
        <p:spPr bwMode="auto">
          <a:xfrm>
            <a:off x="7608303" y="2101522"/>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Line 187">
            <a:extLst>
              <a:ext uri="{FF2B5EF4-FFF2-40B4-BE49-F238E27FC236}">
                <a16:creationId xmlns:a16="http://schemas.microsoft.com/office/drawing/2014/main" id="{9C6DC5B3-2960-3047-BC8D-684B3D849A13}"/>
              </a:ext>
            </a:extLst>
          </p:cNvPr>
          <p:cNvSpPr>
            <a:spLocks noChangeShapeType="1"/>
          </p:cNvSpPr>
          <p:nvPr/>
        </p:nvSpPr>
        <p:spPr bwMode="auto">
          <a:xfrm>
            <a:off x="10013366" y="2096760"/>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7" name="Rectangle 188">
            <a:extLst>
              <a:ext uri="{FF2B5EF4-FFF2-40B4-BE49-F238E27FC236}">
                <a16:creationId xmlns:a16="http://schemas.microsoft.com/office/drawing/2014/main" id="{C15D63E4-15E1-BA4A-9606-42B07BDE7490}"/>
              </a:ext>
            </a:extLst>
          </p:cNvPr>
          <p:cNvSpPr>
            <a:spLocks noChangeArrowheads="1"/>
          </p:cNvSpPr>
          <p:nvPr/>
        </p:nvSpPr>
        <p:spPr bwMode="auto">
          <a:xfrm>
            <a:off x="8621128" y="4228772"/>
            <a:ext cx="1057275"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3" name="Group 12">
            <a:extLst>
              <a:ext uri="{FF2B5EF4-FFF2-40B4-BE49-F238E27FC236}">
                <a16:creationId xmlns:a16="http://schemas.microsoft.com/office/drawing/2014/main" id="{B716CABB-9429-2844-BE7D-347FDDC00473}"/>
              </a:ext>
            </a:extLst>
          </p:cNvPr>
          <p:cNvGrpSpPr/>
          <p:nvPr/>
        </p:nvGrpSpPr>
        <p:grpSpPr>
          <a:xfrm>
            <a:off x="7595603" y="4111297"/>
            <a:ext cx="2441575" cy="668338"/>
            <a:chOff x="7595603" y="4111297"/>
            <a:chExt cx="2441575" cy="668338"/>
          </a:xfrm>
        </p:grpSpPr>
        <p:sp>
          <p:nvSpPr>
            <p:cNvPr id="195" name="Line 173">
              <a:extLst>
                <a:ext uri="{FF2B5EF4-FFF2-40B4-BE49-F238E27FC236}">
                  <a16:creationId xmlns:a16="http://schemas.microsoft.com/office/drawing/2014/main"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Text Box 189">
              <a:extLst>
                <a:ext uri="{FF2B5EF4-FFF2-40B4-BE49-F238E27FC236}">
                  <a16:creationId xmlns:a16="http://schemas.microsoft.com/office/drawing/2014/main" id="{3EE494A8-6A2C-9F45-AA30-D5C659A717EE}"/>
                </a:ext>
              </a:extLst>
            </p:cNvPr>
            <p:cNvSpPr txBox="1">
              <a:spLocks noChangeArrowheads="1"/>
            </p:cNvSpPr>
            <p:nvPr/>
          </p:nvSpPr>
          <p:spPr bwMode="auto">
            <a:xfrm>
              <a:off x="8541753" y="4262110"/>
              <a:ext cx="1212850" cy="5175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bytes of data</a:t>
              </a:r>
            </a:p>
          </p:txBody>
        </p:sp>
      </p:grpSp>
      <p:sp>
        <p:nvSpPr>
          <p:cNvPr id="211" name="Rectangle 193">
            <a:extLst>
              <a:ext uri="{FF2B5EF4-FFF2-40B4-BE49-F238E27FC236}">
                <a16:creationId xmlns:a16="http://schemas.microsoft.com/office/drawing/2014/main" id="{1BAF70E7-D466-2441-88C5-22FFEB1CAF5E}"/>
              </a:ext>
            </a:extLst>
          </p:cNvPr>
          <p:cNvSpPr>
            <a:spLocks noChangeArrowheads="1"/>
          </p:cNvSpPr>
          <p:nvPr/>
        </p:nvSpPr>
        <p:spPr bwMode="auto">
          <a:xfrm>
            <a:off x="8460791" y="5071735"/>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5" name="Group 14">
            <a:extLst>
              <a:ext uri="{FF2B5EF4-FFF2-40B4-BE49-F238E27FC236}">
                <a16:creationId xmlns:a16="http://schemas.microsoft.com/office/drawing/2014/main" id="{9E6A0178-9B0F-8A48-942B-60D872AAAD83}"/>
              </a:ext>
            </a:extLst>
          </p:cNvPr>
          <p:cNvGrpSpPr/>
          <p:nvPr/>
        </p:nvGrpSpPr>
        <p:grpSpPr>
          <a:xfrm>
            <a:off x="7627353" y="4814560"/>
            <a:ext cx="2338388" cy="782637"/>
            <a:chOff x="7627353" y="4814560"/>
            <a:chExt cx="2338388" cy="782637"/>
          </a:xfrm>
        </p:grpSpPr>
        <p:sp>
          <p:nvSpPr>
            <p:cNvPr id="210" name="Line 192">
              <a:extLst>
                <a:ext uri="{FF2B5EF4-FFF2-40B4-BE49-F238E27FC236}">
                  <a16:creationId xmlns:a16="http://schemas.microsoft.com/office/drawing/2014/main"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Text Box 194">
              <a:extLst>
                <a:ext uri="{FF2B5EF4-FFF2-40B4-BE49-F238E27FC236}">
                  <a16:creationId xmlns:a16="http://schemas.microsoft.com/office/drawing/2014/main" id="{7D3D6198-BDB0-DC4C-B2A5-2DBD9359B868}"/>
                </a:ext>
              </a:extLst>
            </p:cNvPr>
            <p:cNvSpPr txBox="1">
              <a:spLocks noChangeArrowheads="1"/>
            </p:cNvSpPr>
            <p:nvPr/>
          </p:nvSpPr>
          <p:spPr bwMode="auto">
            <a:xfrm>
              <a:off x="8381416" y="5027285"/>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0" name="Group 9">
            <a:extLst>
              <a:ext uri="{FF2B5EF4-FFF2-40B4-BE49-F238E27FC236}">
                <a16:creationId xmlns:a16="http://schemas.microsoft.com/office/drawing/2014/main" id="{31CBCB81-D9E2-8D44-8B58-3A8203D0290F}"/>
              </a:ext>
            </a:extLst>
          </p:cNvPr>
          <p:cNvGrpSpPr/>
          <p:nvPr/>
        </p:nvGrpSpPr>
        <p:grpSpPr>
          <a:xfrm>
            <a:off x="7235241" y="2347585"/>
            <a:ext cx="396875" cy="1751012"/>
            <a:chOff x="7235241" y="2347585"/>
            <a:chExt cx="396875" cy="1751012"/>
          </a:xfrm>
        </p:grpSpPr>
        <p:sp>
          <p:nvSpPr>
            <p:cNvPr id="209" name="Text Box 191">
              <a:extLst>
                <a:ext uri="{FF2B5EF4-FFF2-40B4-BE49-F238E27FC236}">
                  <a16:creationId xmlns:a16="http://schemas.microsoft.com/office/drawing/2014/main" id="{D65DE059-0ADE-BA43-86FA-261D968382D9}"/>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timeout</a:t>
              </a:r>
            </a:p>
          </p:txBody>
        </p:sp>
        <p:grpSp>
          <p:nvGrpSpPr>
            <p:cNvPr id="213" name="Group 195">
              <a:extLst>
                <a:ext uri="{FF2B5EF4-FFF2-40B4-BE49-F238E27FC236}">
                  <a16:creationId xmlns:a16="http://schemas.microsoft.com/office/drawing/2014/main"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a16="http://schemas.microsoft.com/office/drawing/2014/main"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5" name="Line 197">
                <a:extLst>
                  <a:ext uri="{FF2B5EF4-FFF2-40B4-BE49-F238E27FC236}">
                    <a16:creationId xmlns:a16="http://schemas.microsoft.com/office/drawing/2014/main"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16" name="Group 198">
              <a:extLst>
                <a:ext uri="{FF2B5EF4-FFF2-40B4-BE49-F238E27FC236}">
                  <a16:creationId xmlns:a16="http://schemas.microsoft.com/office/drawing/2014/main"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a16="http://schemas.microsoft.com/office/drawing/2014/main"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8" name="Line 200">
                <a:extLst>
                  <a:ext uri="{FF2B5EF4-FFF2-40B4-BE49-F238E27FC236}">
                    <a16:creationId xmlns:a16="http://schemas.microsoft.com/office/drawing/2014/main"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2" name="Group 11">
            <a:extLst>
              <a:ext uri="{FF2B5EF4-FFF2-40B4-BE49-F238E27FC236}">
                <a16:creationId xmlns:a16="http://schemas.microsoft.com/office/drawing/2014/main" id="{A4259714-F109-3243-BC51-888D64DBCE91}"/>
              </a:ext>
            </a:extLst>
          </p:cNvPr>
          <p:cNvGrpSpPr/>
          <p:nvPr/>
        </p:nvGrpSpPr>
        <p:grpSpPr>
          <a:xfrm>
            <a:off x="7603541" y="3004810"/>
            <a:ext cx="2339975" cy="1944687"/>
            <a:chOff x="7603541" y="3004810"/>
            <a:chExt cx="2339975" cy="1944687"/>
          </a:xfrm>
        </p:grpSpPr>
        <p:sp>
          <p:nvSpPr>
            <p:cNvPr id="197" name="Line 175">
              <a:extLst>
                <a:ext uri="{FF2B5EF4-FFF2-40B4-BE49-F238E27FC236}">
                  <a16:creationId xmlns:a16="http://schemas.microsoft.com/office/drawing/2014/main"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02" name="Group 202">
              <a:extLst>
                <a:ext uri="{FF2B5EF4-FFF2-40B4-BE49-F238E27FC236}">
                  <a16:creationId xmlns:a16="http://schemas.microsoft.com/office/drawing/2014/main" id="{D30CD59C-C944-CF4F-B17A-64886A573C0F}"/>
                </a:ext>
              </a:extLst>
            </p:cNvPr>
            <p:cNvGrpSpPr>
              <a:grpSpLocks/>
            </p:cNvGrpSpPr>
            <p:nvPr/>
          </p:nvGrpSpPr>
          <p:grpSpPr bwMode="auto">
            <a:xfrm>
              <a:off x="8505241" y="3496935"/>
              <a:ext cx="949325" cy="304800"/>
              <a:chOff x="4215" y="2253"/>
              <a:chExt cx="598" cy="192"/>
            </a:xfrm>
          </p:grpSpPr>
          <p:sp>
            <p:nvSpPr>
              <p:cNvPr id="203" name="Rectangle 184">
                <a:extLst>
                  <a:ext uri="{FF2B5EF4-FFF2-40B4-BE49-F238E27FC236}">
                    <a16:creationId xmlns:a16="http://schemas.microsoft.com/office/drawing/2014/main"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Text Box 185">
                <a:extLst>
                  <a:ext uri="{FF2B5EF4-FFF2-40B4-BE49-F238E27FC236}">
                    <a16:creationId xmlns:a16="http://schemas.microsoft.com/office/drawing/2014/main" id="{7BF7DF1E-2F02-9D41-B7BC-991A51E982F6}"/>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23" name="Line 207">
              <a:extLst>
                <a:ext uri="{FF2B5EF4-FFF2-40B4-BE49-F238E27FC236}">
                  <a16:creationId xmlns:a16="http://schemas.microsoft.com/office/drawing/2014/main"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4" name="Group 208">
              <a:extLst>
                <a:ext uri="{FF2B5EF4-FFF2-40B4-BE49-F238E27FC236}">
                  <a16:creationId xmlns:a16="http://schemas.microsoft.com/office/drawing/2014/main" id="{6EE49A40-BE68-654E-AAC3-24E6E2BB625A}"/>
                </a:ext>
              </a:extLst>
            </p:cNvPr>
            <p:cNvGrpSpPr>
              <a:grpSpLocks/>
            </p:cNvGrpSpPr>
            <p:nvPr/>
          </p:nvGrpSpPr>
          <p:grpSpPr bwMode="auto">
            <a:xfrm>
              <a:off x="8744953" y="3773160"/>
              <a:ext cx="949325" cy="304800"/>
              <a:chOff x="4215" y="2253"/>
              <a:chExt cx="598" cy="192"/>
            </a:xfrm>
          </p:grpSpPr>
          <p:sp>
            <p:nvSpPr>
              <p:cNvPr id="225" name="Rectangle 209">
                <a:extLst>
                  <a:ext uri="{FF2B5EF4-FFF2-40B4-BE49-F238E27FC236}">
                    <a16:creationId xmlns:a16="http://schemas.microsoft.com/office/drawing/2014/main"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6" name="Text Box 210">
                <a:extLst>
                  <a:ext uri="{FF2B5EF4-FFF2-40B4-BE49-F238E27FC236}">
                    <a16:creationId xmlns:a16="http://schemas.microsoft.com/office/drawing/2014/main" id="{8918B79C-3FE7-FC4C-B606-5C7CA33715A9}"/>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a:ln>
                    <a:noFill/>
                  </a:ln>
                  <a:solidFill>
                    <a:srgbClr val="000000"/>
                  </a:solidFill>
                  <a:effectLst/>
                  <a:uLnTx/>
                  <a:uFillTx/>
                  <a:latin typeface="Times New Roman" charset="0"/>
                  <a:ea typeface="ＭＳ Ｐゴシック" charset="0"/>
                  <a:cs typeface="+mn-cs"/>
                </a:endParaRPr>
              </a:p>
            </p:txBody>
          </p:sp>
        </p:grpSp>
      </p:grpSp>
      <p:grpSp>
        <p:nvGrpSpPr>
          <p:cNvPr id="14" name="Group 13">
            <a:extLst>
              <a:ext uri="{FF2B5EF4-FFF2-40B4-BE49-F238E27FC236}">
                <a16:creationId xmlns:a16="http://schemas.microsoft.com/office/drawing/2014/main" id="{CD914285-EBDF-1947-9C97-6E8CD760020F}"/>
              </a:ext>
            </a:extLst>
          </p:cNvPr>
          <p:cNvGrpSpPr/>
          <p:nvPr/>
        </p:nvGrpSpPr>
        <p:grpSpPr>
          <a:xfrm>
            <a:off x="6241466" y="4416097"/>
            <a:ext cx="1382712" cy="646113"/>
            <a:chOff x="6241466" y="4416097"/>
            <a:chExt cx="1382712" cy="646113"/>
          </a:xfrm>
        </p:grpSpPr>
        <p:sp>
          <p:nvSpPr>
            <p:cNvPr id="227" name="Text Box 211">
              <a:extLst>
                <a:ext uri="{FF2B5EF4-FFF2-40B4-BE49-F238E27FC236}">
                  <a16:creationId xmlns:a16="http://schemas.microsoft.com/office/drawing/2014/main" id="{1E82E105-7918-0E47-A934-825752F52D6B}"/>
                </a:ext>
              </a:extLst>
            </p:cNvPr>
            <p:cNvSpPr txBox="1">
              <a:spLocks noChangeArrowheads="1"/>
            </p:cNvSpPr>
            <p:nvPr/>
          </p:nvSpPr>
          <p:spPr bwMode="auto">
            <a:xfrm>
              <a:off x="6241466" y="4416097"/>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=100</a:t>
              </a:r>
            </a:p>
          </p:txBody>
        </p:sp>
        <p:sp>
          <p:nvSpPr>
            <p:cNvPr id="228" name="Text Box 212">
              <a:extLst>
                <a:ext uri="{FF2B5EF4-FFF2-40B4-BE49-F238E27FC236}">
                  <a16:creationId xmlns:a16="http://schemas.microsoft.com/office/drawing/2014/main" id="{387E9E87-069A-FA4A-9F20-9DB5B471A427}"/>
                </a:ext>
              </a:extLst>
            </p:cNvPr>
            <p:cNvSpPr txBox="1">
              <a:spLocks noChangeArrowheads="1"/>
            </p:cNvSpPr>
            <p:nvPr/>
          </p:nvSpPr>
          <p:spPr bwMode="auto">
            <a:xfrm>
              <a:off x="6260516" y="4757410"/>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=120</a:t>
              </a:r>
            </a:p>
          </p:txBody>
        </p:sp>
      </p:grpSp>
      <p:sp>
        <p:nvSpPr>
          <p:cNvPr id="229" name="Text Box 213">
            <a:extLst>
              <a:ext uri="{FF2B5EF4-FFF2-40B4-BE49-F238E27FC236}">
                <a16:creationId xmlns:a16="http://schemas.microsoft.com/office/drawing/2014/main" id="{31AD8D03-5F21-0F49-8D71-B6031900CD41}"/>
              </a:ext>
            </a:extLst>
          </p:cNvPr>
          <p:cNvSpPr txBox="1">
            <a:spLocks noChangeArrowheads="1"/>
          </p:cNvSpPr>
          <p:nvPr/>
        </p:nvSpPr>
        <p:spPr bwMode="auto">
          <a:xfrm>
            <a:off x="6279566" y="5432097"/>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=120</a:t>
            </a:r>
          </a:p>
        </p:txBody>
      </p:sp>
      <p:grpSp>
        <p:nvGrpSpPr>
          <p:cNvPr id="11" name="Group 10">
            <a:extLst>
              <a:ext uri="{FF2B5EF4-FFF2-40B4-BE49-F238E27FC236}">
                <a16:creationId xmlns:a16="http://schemas.microsoft.com/office/drawing/2014/main" id="{5474E6BB-CCA6-CC47-8617-346673F363BD}"/>
              </a:ext>
            </a:extLst>
          </p:cNvPr>
          <p:cNvGrpSpPr/>
          <p:nvPr/>
        </p:nvGrpSpPr>
        <p:grpSpPr>
          <a:xfrm>
            <a:off x="6306553" y="2187247"/>
            <a:ext cx="3668713" cy="1112838"/>
            <a:chOff x="6306553" y="2187247"/>
            <a:chExt cx="3668713" cy="1112838"/>
          </a:xfrm>
        </p:grpSpPr>
        <p:sp>
          <p:nvSpPr>
            <p:cNvPr id="196" name="Line 174">
              <a:extLst>
                <a:ext uri="{FF2B5EF4-FFF2-40B4-BE49-F238E27FC236}">
                  <a16:creationId xmlns:a16="http://schemas.microsoft.com/office/drawing/2014/main"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182">
              <a:extLst>
                <a:ext uri="{FF2B5EF4-FFF2-40B4-BE49-F238E27FC236}">
                  <a16:creationId xmlns:a16="http://schemas.microsoft.com/office/drawing/2014/main"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Text Box 183">
              <a:extLst>
                <a:ext uri="{FF2B5EF4-FFF2-40B4-BE49-F238E27FC236}">
                  <a16:creationId xmlns:a16="http://schemas.microsoft.com/office/drawing/2014/main" id="{B8140015-E345-EE4A-90B6-3552DAC43E5C}"/>
                </a:ext>
              </a:extLst>
            </p:cNvPr>
            <p:cNvSpPr txBox="1">
              <a:spLocks noChangeArrowheads="1"/>
            </p:cNvSpPr>
            <p:nvPr/>
          </p:nvSpPr>
          <p:spPr bwMode="auto">
            <a:xfrm>
              <a:off x="7773403" y="2476172"/>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nvGrpSpPr>
            <p:cNvPr id="219" name="Group 206">
              <a:extLst>
                <a:ext uri="{FF2B5EF4-FFF2-40B4-BE49-F238E27FC236}">
                  <a16:creationId xmlns:a16="http://schemas.microsoft.com/office/drawing/2014/main" id="{C3DB656C-371F-854E-81A2-904083BC4AF6}"/>
                </a:ext>
              </a:extLst>
            </p:cNvPr>
            <p:cNvGrpSpPr>
              <a:grpSpLocks/>
            </p:cNvGrpSpPr>
            <p:nvPr/>
          </p:nvGrpSpPr>
          <p:grpSpPr bwMode="auto">
            <a:xfrm>
              <a:off x="7614653" y="2728585"/>
              <a:ext cx="2346325" cy="571500"/>
              <a:chOff x="3759" y="1622"/>
              <a:chExt cx="1478" cy="360"/>
            </a:xfrm>
          </p:grpSpPr>
          <p:sp>
            <p:nvSpPr>
              <p:cNvPr id="220" name="Line 203">
                <a:extLst>
                  <a:ext uri="{FF2B5EF4-FFF2-40B4-BE49-F238E27FC236}">
                    <a16:creationId xmlns:a16="http://schemas.microsoft.com/office/drawing/2014/main"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1" name="Rectangle 204">
                <a:extLst>
                  <a:ext uri="{FF2B5EF4-FFF2-40B4-BE49-F238E27FC236}">
                    <a16:creationId xmlns:a16="http://schemas.microsoft.com/office/drawing/2014/main"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2" name="Text Box 205">
                <a:extLst>
                  <a:ext uri="{FF2B5EF4-FFF2-40B4-BE49-F238E27FC236}">
                    <a16:creationId xmlns:a16="http://schemas.microsoft.com/office/drawing/2014/main" id="{1863CB88-8ADD-294C-BE46-8D80EEB9E9FE}"/>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Seq=100, 20 bytes of data</a:t>
                </a:r>
              </a:p>
            </p:txBody>
          </p:sp>
        </p:grpSp>
        <p:sp>
          <p:nvSpPr>
            <p:cNvPr id="230" name="Text Box 214">
              <a:extLst>
                <a:ext uri="{FF2B5EF4-FFF2-40B4-BE49-F238E27FC236}">
                  <a16:creationId xmlns:a16="http://schemas.microsoft.com/office/drawing/2014/main" id="{8333BF3A-4F52-4F44-921F-4BAD57A4119A}"/>
                </a:ext>
              </a:extLst>
            </p:cNvPr>
            <p:cNvSpPr txBox="1">
              <a:spLocks noChangeArrowheads="1"/>
            </p:cNvSpPr>
            <p:nvPr/>
          </p:nvSpPr>
          <p:spPr bwMode="auto">
            <a:xfrm>
              <a:off x="6306553" y="2187247"/>
              <a:ext cx="1266825" cy="3048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=92</a:t>
              </a:r>
            </a:p>
          </p:txBody>
        </p:sp>
      </p:grpSp>
      <p:grpSp>
        <p:nvGrpSpPr>
          <p:cNvPr id="231" name="Group 219">
            <a:extLst>
              <a:ext uri="{FF2B5EF4-FFF2-40B4-BE49-F238E27FC236}">
                <a16:creationId xmlns:a16="http://schemas.microsoft.com/office/drawing/2014/main" id="{2259D372-4B08-6D4E-A450-9719B81C5E51}"/>
              </a:ext>
            </a:extLst>
          </p:cNvPr>
          <p:cNvGrpSpPr>
            <a:grpSpLocks/>
          </p:cNvGrpSpPr>
          <p:nvPr/>
        </p:nvGrpSpPr>
        <p:grpSpPr bwMode="auto">
          <a:xfrm>
            <a:off x="7186028" y="1463347"/>
            <a:ext cx="630238" cy="533400"/>
            <a:chOff x="-44" y="1473"/>
            <a:chExt cx="981" cy="1105"/>
          </a:xfrm>
        </p:grpSpPr>
        <p:pic>
          <p:nvPicPr>
            <p:cNvPr id="232" name="Picture 220" descr="desktop_computer_stylized_medium">
              <a:extLst>
                <a:ext uri="{FF2B5EF4-FFF2-40B4-BE49-F238E27FC236}">
                  <a16:creationId xmlns:a16="http://schemas.microsoft.com/office/drawing/2014/main" id="{2D27C27D-9556-884F-AE7C-167179E6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a16="http://schemas.microsoft.com/office/drawing/2014/main"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4" name="Group 225">
            <a:extLst>
              <a:ext uri="{FF2B5EF4-FFF2-40B4-BE49-F238E27FC236}">
                <a16:creationId xmlns:a16="http://schemas.microsoft.com/office/drawing/2014/main" id="{E20B8076-92C2-A04F-B618-A3527994FF6A}"/>
              </a:ext>
            </a:extLst>
          </p:cNvPr>
          <p:cNvGrpSpPr>
            <a:grpSpLocks/>
          </p:cNvGrpSpPr>
          <p:nvPr/>
        </p:nvGrpSpPr>
        <p:grpSpPr bwMode="auto">
          <a:xfrm flipH="1">
            <a:off x="9753016" y="1469697"/>
            <a:ext cx="631825" cy="622300"/>
            <a:chOff x="-44" y="1473"/>
            <a:chExt cx="981" cy="1105"/>
          </a:xfrm>
        </p:grpSpPr>
        <p:pic>
          <p:nvPicPr>
            <p:cNvPr id="235" name="Picture 226" descr="desktop_computer_stylized_medium">
              <a:extLst>
                <a:ext uri="{FF2B5EF4-FFF2-40B4-BE49-F238E27FC236}">
                  <a16:creationId xmlns:a16="http://schemas.microsoft.com/office/drawing/2014/main" id="{892509C8-70E3-9344-BECE-67F22233D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a16="http://schemas.microsoft.com/office/drawing/2014/main"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7" name="Group 228">
            <a:extLst>
              <a:ext uri="{FF2B5EF4-FFF2-40B4-BE49-F238E27FC236}">
                <a16:creationId xmlns:a16="http://schemas.microsoft.com/office/drawing/2014/main" id="{F8939732-2442-144E-A5BB-23D63EE09D71}"/>
              </a:ext>
            </a:extLst>
          </p:cNvPr>
          <p:cNvGrpSpPr>
            <a:grpSpLocks/>
          </p:cNvGrpSpPr>
          <p:nvPr/>
        </p:nvGrpSpPr>
        <p:grpSpPr bwMode="auto">
          <a:xfrm>
            <a:off x="1601856" y="1474460"/>
            <a:ext cx="630238" cy="533400"/>
            <a:chOff x="-44" y="1473"/>
            <a:chExt cx="981" cy="1105"/>
          </a:xfrm>
        </p:grpSpPr>
        <p:pic>
          <p:nvPicPr>
            <p:cNvPr id="238"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0" name="Group 231">
            <a:extLst>
              <a:ext uri="{FF2B5EF4-FFF2-40B4-BE49-F238E27FC236}">
                <a16:creationId xmlns:a16="http://schemas.microsoft.com/office/drawing/2014/main" id="{E145A84A-1570-9C46-A817-B68A25E966D9}"/>
              </a:ext>
            </a:extLst>
          </p:cNvPr>
          <p:cNvGrpSpPr>
            <a:grpSpLocks/>
          </p:cNvGrpSpPr>
          <p:nvPr/>
        </p:nvGrpSpPr>
        <p:grpSpPr bwMode="auto">
          <a:xfrm flipH="1">
            <a:off x="4179956" y="1458585"/>
            <a:ext cx="709613" cy="600075"/>
            <a:chOff x="-44" y="1473"/>
            <a:chExt cx="981" cy="1105"/>
          </a:xfrm>
        </p:grpSpPr>
        <p:pic>
          <p:nvPicPr>
            <p:cNvPr id="241"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9" name="TextBox 18">
            <a:extLst>
              <a:ext uri="{FF2B5EF4-FFF2-40B4-BE49-F238E27FC236}">
                <a16:creationId xmlns:a16="http://schemas.microsoft.com/office/drawing/2014/main" id="{8C70D25B-261A-724E-991C-E91D345300FB}"/>
              </a:ext>
            </a:extLst>
          </p:cNvPr>
          <p:cNvSpPr txBox="1"/>
          <p:nvPr/>
        </p:nvSpPr>
        <p:spPr>
          <a:xfrm>
            <a:off x="9973410" y="4508500"/>
            <a:ext cx="1591398" cy="5355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send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ACK for 120</a:t>
            </a:r>
          </a:p>
        </p:txBody>
      </p:sp>
      <p:sp>
        <p:nvSpPr>
          <p:cNvPr id="89" name="Slide Number Placeholder 2">
            <a:extLst>
              <a:ext uri="{FF2B5EF4-FFF2-40B4-BE49-F238E27FC236}">
                <a16:creationId xmlns:a16="http://schemas.microsoft.com/office/drawing/2014/main" id="{9219ABA9-4F40-D04C-A34A-87A2AE31AF28}"/>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40</a:t>
            </a:fld>
            <a:endParaRPr lang="en-US" dirty="0"/>
          </a:p>
        </p:txBody>
      </p:sp>
    </p:spTree>
    <p:extLst>
      <p:ext uri="{BB962C8B-B14F-4D97-AF65-F5344CB8AC3E}">
        <p14:creationId xmlns:p14="http://schemas.microsoft.com/office/powerpoint/2010/main" val="42388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19" name="Text Box 34">
            <a:extLst>
              <a:ext uri="{FF2B5EF4-FFF2-40B4-BE49-F238E27FC236}">
                <a16:creationId xmlns:a16="http://schemas.microsoft.com/office/drawing/2014/main" id="{ADFB94EB-2205-5C4D-A60C-0BE52074D9EF}"/>
              </a:ext>
            </a:extLst>
          </p:cNvPr>
          <p:cNvSpPr txBox="1">
            <a:spLocks noChangeArrowheads="1"/>
          </p:cNvSpPr>
          <p:nvPr/>
        </p:nvSpPr>
        <p:spPr bwMode="auto">
          <a:xfrm>
            <a:off x="1902139" y="5486400"/>
            <a:ext cx="2542862"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cumulative ACK covers for earlier lost ACK</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Line 36">
            <a:extLst>
              <a:ext uri="{FF2B5EF4-FFF2-40B4-BE49-F238E27FC236}">
                <a16:creationId xmlns:a16="http://schemas.microsoft.com/office/drawing/2014/main" id="{CCBE06AD-8A86-F04F-8691-D7894B915278}"/>
              </a:ext>
            </a:extLst>
          </p:cNvPr>
          <p:cNvSpPr>
            <a:spLocks noChangeShapeType="1"/>
          </p:cNvSpPr>
          <p:nvPr/>
        </p:nvSpPr>
        <p:spPr bwMode="auto">
          <a:xfrm>
            <a:off x="2039800" y="2349049"/>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Text Box 39">
            <a:extLst>
              <a:ext uri="{FF2B5EF4-FFF2-40B4-BE49-F238E27FC236}">
                <a16:creationId xmlns:a16="http://schemas.microsoft.com/office/drawing/2014/main" id="{97669ECF-79A1-4D41-8748-0027E9432529}"/>
              </a:ext>
            </a:extLst>
          </p:cNvPr>
          <p:cNvSpPr txBox="1">
            <a:spLocks noChangeArrowheads="1"/>
          </p:cNvSpPr>
          <p:nvPr/>
        </p:nvSpPr>
        <p:spPr bwMode="auto">
          <a:xfrm>
            <a:off x="3965437" y="1177474"/>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24" name="Text Box 43">
            <a:extLst>
              <a:ext uri="{FF2B5EF4-FFF2-40B4-BE49-F238E27FC236}">
                <a16:creationId xmlns:a16="http://schemas.microsoft.com/office/drawing/2014/main" id="{0992C83B-4206-984D-AB17-6BDBF1D64593}"/>
              </a:ext>
            </a:extLst>
          </p:cNvPr>
          <p:cNvSpPr txBox="1">
            <a:spLocks noChangeArrowheads="1"/>
          </p:cNvSpPr>
          <p:nvPr/>
        </p:nvSpPr>
        <p:spPr bwMode="auto">
          <a:xfrm>
            <a:off x="1644512" y="1207637"/>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sp>
        <p:nvSpPr>
          <p:cNvPr id="125" name="Rectangle 44">
            <a:extLst>
              <a:ext uri="{FF2B5EF4-FFF2-40B4-BE49-F238E27FC236}">
                <a16:creationId xmlns:a16="http://schemas.microsoft.com/office/drawing/2014/main" id="{831F8853-027A-294B-AA6D-ACCABA945CDE}"/>
              </a:ext>
            </a:extLst>
          </p:cNvPr>
          <p:cNvSpPr>
            <a:spLocks noChangeArrowheads="1"/>
          </p:cNvSpPr>
          <p:nvPr/>
        </p:nvSpPr>
        <p:spPr bwMode="auto">
          <a:xfrm>
            <a:off x="2743062" y="2430012"/>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Text Box 45">
            <a:extLst>
              <a:ext uri="{FF2B5EF4-FFF2-40B4-BE49-F238E27FC236}">
                <a16:creationId xmlns:a16="http://schemas.microsoft.com/office/drawing/2014/main" id="{8D027E41-059B-A348-B661-6F2DD0666670}"/>
              </a:ext>
            </a:extLst>
          </p:cNvPr>
          <p:cNvSpPr txBox="1">
            <a:spLocks noChangeArrowheads="1"/>
          </p:cNvSpPr>
          <p:nvPr/>
        </p:nvSpPr>
        <p:spPr bwMode="auto">
          <a:xfrm>
            <a:off x="2184262" y="2482399"/>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Seq=92, 8 bytes of data</a:t>
            </a:r>
          </a:p>
        </p:txBody>
      </p:sp>
      <p:sp>
        <p:nvSpPr>
          <p:cNvPr id="130" name="Line 49">
            <a:extLst>
              <a:ext uri="{FF2B5EF4-FFF2-40B4-BE49-F238E27FC236}">
                <a16:creationId xmlns:a16="http://schemas.microsoft.com/office/drawing/2014/main" id="{7554A1BA-7B17-9947-9957-0D23896F869A}"/>
              </a:ext>
            </a:extLst>
          </p:cNvPr>
          <p:cNvSpPr>
            <a:spLocks noChangeShapeType="1"/>
          </p:cNvSpPr>
          <p:nvPr/>
        </p:nvSpPr>
        <p:spPr bwMode="auto">
          <a:xfrm>
            <a:off x="2019162" y="2107749"/>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50">
            <a:extLst>
              <a:ext uri="{FF2B5EF4-FFF2-40B4-BE49-F238E27FC236}">
                <a16:creationId xmlns:a16="http://schemas.microsoft.com/office/drawing/2014/main" id="{CBDA8AA8-732F-A344-BAE1-68752D7E6D4A}"/>
              </a:ext>
            </a:extLst>
          </p:cNvPr>
          <p:cNvSpPr>
            <a:spLocks noChangeShapeType="1"/>
          </p:cNvSpPr>
          <p:nvPr/>
        </p:nvSpPr>
        <p:spPr bwMode="auto">
          <a:xfrm>
            <a:off x="4424225" y="2102987"/>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15CBAF7E-F641-074E-A960-6453A9AD2BBF}"/>
              </a:ext>
            </a:extLst>
          </p:cNvPr>
          <p:cNvGrpSpPr/>
          <p:nvPr/>
        </p:nvGrpSpPr>
        <p:grpSpPr>
          <a:xfrm>
            <a:off x="2009637" y="4431849"/>
            <a:ext cx="2652713" cy="879475"/>
            <a:chOff x="2035037" y="4444549"/>
            <a:chExt cx="2652713" cy="879475"/>
          </a:xfrm>
        </p:grpSpPr>
        <p:sp>
          <p:nvSpPr>
            <p:cNvPr id="120"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2" name="Rectangle 51">
              <a:extLst>
                <a:ext uri="{FF2B5EF4-FFF2-40B4-BE49-F238E27FC236}">
                  <a16:creationId xmlns:a16="http://schemas.microsoft.com/office/drawing/2014/main" id="{5452ECDA-B3E0-374F-AC96-350658E75BBD}"/>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3" name="Text Box 52">
              <a:extLst>
                <a:ext uri="{FF2B5EF4-FFF2-40B4-BE49-F238E27FC236}">
                  <a16:creationId xmlns:a16="http://schemas.microsoft.com/office/drawing/2014/main" id="{CE55EEB5-1B37-394C-A536-E0960B386C84}"/>
                </a:ext>
              </a:extLst>
            </p:cNvPr>
            <p:cNvSpPr txBox="1">
              <a:spLocks noChangeArrowheads="1"/>
            </p:cNvSpPr>
            <p:nvPr/>
          </p:nvSpPr>
          <p:spPr bwMode="auto">
            <a:xfrm>
              <a:off x="2035037" y="4604887"/>
              <a:ext cx="2652713"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Seq=120,  15 bytes of data</a:t>
              </a:r>
            </a:p>
          </p:txBody>
        </p:sp>
        <p:sp>
          <p:nvSpPr>
            <p:cNvPr id="134"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43" name="Group 63">
            <a:extLst>
              <a:ext uri="{FF2B5EF4-FFF2-40B4-BE49-F238E27FC236}">
                <a16:creationId xmlns:a16="http://schemas.microsoft.com/office/drawing/2014/main" id="{C3C010AE-BE43-6F47-963B-D6CB3155D42B}"/>
              </a:ext>
            </a:extLst>
          </p:cNvPr>
          <p:cNvGrpSpPr>
            <a:grpSpLocks/>
          </p:cNvGrpSpPr>
          <p:nvPr/>
        </p:nvGrpSpPr>
        <p:grpSpPr bwMode="auto">
          <a:xfrm>
            <a:off x="2025512" y="2734812"/>
            <a:ext cx="2346325" cy="571500"/>
            <a:chOff x="3759" y="1622"/>
            <a:chExt cx="1478" cy="360"/>
          </a:xfrm>
        </p:grpSpPr>
        <p:sp>
          <p:nvSpPr>
            <p:cNvPr id="144" name="Line 64">
              <a:extLst>
                <a:ext uri="{FF2B5EF4-FFF2-40B4-BE49-F238E27FC236}">
                  <a16:creationId xmlns:a16="http://schemas.microsoft.com/office/drawing/2014/main" id="{1530CC4E-B289-DB44-8685-B440E2B60DE1}"/>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5" name="Rectangle 65">
              <a:extLst>
                <a:ext uri="{FF2B5EF4-FFF2-40B4-BE49-F238E27FC236}">
                  <a16:creationId xmlns:a16="http://schemas.microsoft.com/office/drawing/2014/main" id="{FE817F64-FB48-EB47-B984-31AC87976FF4}"/>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6">
              <a:extLst>
                <a:ext uri="{FF2B5EF4-FFF2-40B4-BE49-F238E27FC236}">
                  <a16:creationId xmlns:a16="http://schemas.microsoft.com/office/drawing/2014/main" id="{F1525CD3-6EAD-8B46-AE7B-D63A2D957330}"/>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Seq=100, 20 bytes of data</a:t>
              </a:r>
            </a:p>
          </p:txBody>
        </p:sp>
      </p:grpSp>
      <p:grpSp>
        <p:nvGrpSpPr>
          <p:cNvPr id="4" name="Group 3">
            <a:extLst>
              <a:ext uri="{FF2B5EF4-FFF2-40B4-BE49-F238E27FC236}">
                <a16:creationId xmlns:a16="http://schemas.microsoft.com/office/drawing/2014/main" id="{AEA8CEC7-4316-034E-9A10-D1758AB5C1E8}"/>
              </a:ext>
            </a:extLst>
          </p:cNvPr>
          <p:cNvGrpSpPr/>
          <p:nvPr/>
        </p:nvGrpSpPr>
        <p:grpSpPr>
          <a:xfrm>
            <a:off x="2030275" y="3011037"/>
            <a:ext cx="2324100" cy="1381125"/>
            <a:chOff x="2030275" y="3011037"/>
            <a:chExt cx="2324100" cy="1381125"/>
          </a:xfrm>
        </p:grpSpPr>
        <p:sp>
          <p:nvSpPr>
            <p:cNvPr id="118" name="Text Box 22">
              <a:extLst>
                <a:ext uri="{FF2B5EF4-FFF2-40B4-BE49-F238E27FC236}">
                  <a16:creationId xmlns:a16="http://schemas.microsoft.com/office/drawing/2014/main" id="{26DC4EAE-1D60-F74E-A59A-4591BEF7DB8A}"/>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2" name="Line 37">
              <a:extLst>
                <a:ext uri="{FF2B5EF4-FFF2-40B4-BE49-F238E27FC236}">
                  <a16:creationId xmlns:a16="http://schemas.microsoft.com/office/drawing/2014/main"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46">
              <a:extLst>
                <a:ext uri="{FF2B5EF4-FFF2-40B4-BE49-F238E27FC236}">
                  <a16:creationId xmlns:a16="http://schemas.microsoft.com/office/drawing/2014/main" id="{324855DF-61E7-B748-8BCC-0D83D44C7E23}"/>
                </a:ext>
              </a:extLst>
            </p:cNvPr>
            <p:cNvGrpSpPr>
              <a:grpSpLocks/>
            </p:cNvGrpSpPr>
            <p:nvPr/>
          </p:nvGrpSpPr>
          <p:grpSpPr bwMode="auto">
            <a:xfrm>
              <a:off x="2939912" y="3211062"/>
              <a:ext cx="949325" cy="304800"/>
              <a:chOff x="4215" y="2253"/>
              <a:chExt cx="598" cy="192"/>
            </a:xfrm>
          </p:grpSpPr>
          <p:sp>
            <p:nvSpPr>
              <p:cNvPr id="128" name="Rectangle 47">
                <a:extLst>
                  <a:ext uri="{FF2B5EF4-FFF2-40B4-BE49-F238E27FC236}">
                    <a16:creationId xmlns:a16="http://schemas.microsoft.com/office/drawing/2014/main" id="{9FB09B08-6C10-9344-B5F2-19059A82D4D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9" name="Text Box 48">
                <a:extLst>
                  <a:ext uri="{FF2B5EF4-FFF2-40B4-BE49-F238E27FC236}">
                    <a16:creationId xmlns:a16="http://schemas.microsoft.com/office/drawing/2014/main" id="{53E02B34-B365-F741-81B4-3CC6B76EE9BD}"/>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147" name="Line 67">
              <a:extLst>
                <a:ext uri="{FF2B5EF4-FFF2-40B4-BE49-F238E27FC236}">
                  <a16:creationId xmlns:a16="http://schemas.microsoft.com/office/drawing/2014/main" id="{3A9C7800-3C25-D246-B475-A10782D1A42F}"/>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48" name="Group 68">
              <a:extLst>
                <a:ext uri="{FF2B5EF4-FFF2-40B4-BE49-F238E27FC236}">
                  <a16:creationId xmlns:a16="http://schemas.microsoft.com/office/drawing/2014/main" id="{17041CF4-B3BE-AC4C-8F4D-F6EFAD312E20}"/>
                </a:ext>
              </a:extLst>
            </p:cNvPr>
            <p:cNvGrpSpPr>
              <a:grpSpLocks/>
            </p:cNvGrpSpPr>
            <p:nvPr/>
          </p:nvGrpSpPr>
          <p:grpSpPr bwMode="auto">
            <a:xfrm>
              <a:off x="2673212" y="3768274"/>
              <a:ext cx="949325" cy="304800"/>
              <a:chOff x="4215" y="2253"/>
              <a:chExt cx="598" cy="192"/>
            </a:xfrm>
          </p:grpSpPr>
          <p:sp>
            <p:nvSpPr>
              <p:cNvPr id="149" name="Rectangle 69">
                <a:extLst>
                  <a:ext uri="{FF2B5EF4-FFF2-40B4-BE49-F238E27FC236}">
                    <a16:creationId xmlns:a16="http://schemas.microsoft.com/office/drawing/2014/main" id="{3AAC76A6-2B0F-6244-8FEC-36E70DA156C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0" name="Text Box 70">
                <a:extLst>
                  <a:ext uri="{FF2B5EF4-FFF2-40B4-BE49-F238E27FC236}">
                    <a16:creationId xmlns:a16="http://schemas.microsoft.com/office/drawing/2014/main" id="{821F7D19-F8C8-AE45-80AF-5153ED6D8304}"/>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a:ln>
                    <a:noFill/>
                  </a:ln>
                  <a:solidFill>
                    <a:srgbClr val="000000"/>
                  </a:solidFill>
                  <a:effectLst/>
                  <a:uLnTx/>
                  <a:uFillTx/>
                  <a:latin typeface="Times New Roman" charset="0"/>
                  <a:ea typeface="ＭＳ Ｐゴシック" charset="0"/>
                  <a:cs typeface="+mn-cs"/>
                </a:endParaRPr>
              </a:p>
            </p:txBody>
          </p:sp>
        </p:grpSp>
      </p:grpSp>
      <p:grpSp>
        <p:nvGrpSpPr>
          <p:cNvPr id="151" name="Group 84">
            <a:extLst>
              <a:ext uri="{FF2B5EF4-FFF2-40B4-BE49-F238E27FC236}">
                <a16:creationId xmlns:a16="http://schemas.microsoft.com/office/drawing/2014/main" id="{A513F213-614E-9644-8CDB-349CE9C0E465}"/>
              </a:ext>
            </a:extLst>
          </p:cNvPr>
          <p:cNvGrpSpPr>
            <a:grpSpLocks/>
          </p:cNvGrpSpPr>
          <p:nvPr/>
        </p:nvGrpSpPr>
        <p:grpSpPr bwMode="auto">
          <a:xfrm>
            <a:off x="1598475" y="1469574"/>
            <a:ext cx="630237" cy="533400"/>
            <a:chOff x="-44" y="1473"/>
            <a:chExt cx="981" cy="1105"/>
          </a:xfrm>
        </p:grpSpPr>
        <p:pic>
          <p:nvPicPr>
            <p:cNvPr id="152" name="Picture 85" descr="desktop_computer_stylized_medium">
              <a:extLst>
                <a:ext uri="{FF2B5EF4-FFF2-40B4-BE49-F238E27FC236}">
                  <a16:creationId xmlns:a16="http://schemas.microsoft.com/office/drawing/2014/main" id="{9BBAD69B-B04A-1542-BCB4-1BBB280A5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86">
              <a:extLst>
                <a:ext uri="{FF2B5EF4-FFF2-40B4-BE49-F238E27FC236}">
                  <a16:creationId xmlns:a16="http://schemas.microsoft.com/office/drawing/2014/main"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54" name="Group 87">
            <a:extLst>
              <a:ext uri="{FF2B5EF4-FFF2-40B4-BE49-F238E27FC236}">
                <a16:creationId xmlns:a16="http://schemas.microsoft.com/office/drawing/2014/main" id="{C16FC996-18F5-D44A-B06A-968A8827AE39}"/>
              </a:ext>
            </a:extLst>
          </p:cNvPr>
          <p:cNvGrpSpPr>
            <a:grpSpLocks/>
          </p:cNvGrpSpPr>
          <p:nvPr/>
        </p:nvGrpSpPr>
        <p:grpSpPr bwMode="auto">
          <a:xfrm flipH="1">
            <a:off x="4176575" y="1464812"/>
            <a:ext cx="674687" cy="590550"/>
            <a:chOff x="-44" y="1473"/>
            <a:chExt cx="981" cy="1105"/>
          </a:xfrm>
        </p:grpSpPr>
        <p:pic>
          <p:nvPicPr>
            <p:cNvPr id="155" name="Picture 88" descr="desktop_computer_stylized_medium">
              <a:extLst>
                <a:ext uri="{FF2B5EF4-FFF2-40B4-BE49-F238E27FC236}">
                  <a16:creationId xmlns:a16="http://schemas.microsoft.com/office/drawing/2014/main" id="{DD8C1025-5742-124A-A45D-17C092AE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Freeform 89">
              <a:extLst>
                <a:ext uri="{FF2B5EF4-FFF2-40B4-BE49-F238E27FC236}">
                  <a16:creationId xmlns:a16="http://schemas.microsoft.com/office/drawing/2014/main"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6" name="Slide Number Placeholder 2">
            <a:extLst>
              <a:ext uri="{FF2B5EF4-FFF2-40B4-BE49-F238E27FC236}">
                <a16:creationId xmlns:a16="http://schemas.microsoft.com/office/drawing/2014/main" id="{F42F4D6B-59A3-9047-BAC8-F69D80AB687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41</a:t>
            </a:fld>
            <a:endParaRPr lang="en-US" dirty="0"/>
          </a:p>
        </p:txBody>
      </p:sp>
    </p:spTree>
    <p:extLst>
      <p:ext uri="{BB962C8B-B14F-4D97-AF65-F5344CB8AC3E}">
        <p14:creationId xmlns:p14="http://schemas.microsoft.com/office/powerpoint/2010/main" val="314396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wipe(left)">
                                      <p:cBhvr>
                                        <p:cTn id="10" dur="500"/>
                                        <p:tgtEl>
                                          <p:spTgt spid="1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left)">
                                      <p:cBhvr>
                                        <p:cTn id="13" dur="500"/>
                                        <p:tgtEl>
                                          <p:spTgt spid="126"/>
                                        </p:tgtEl>
                                      </p:cBhvr>
                                    </p:animEffect>
                                  </p:childTnLst>
                                </p:cTn>
                              </p:par>
                              <p:par>
                                <p:cTn id="14" presetID="22" presetClass="entr" presetSubtype="8" fill="hold" nodeType="with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animBg="1"/>
      <p:bldP spid="12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a:t>
              </a:r>
              <a:r>
                <a:rPr kumimoji="0" lang="en-US" altLang="ja-JP"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a:t>
              </a:r>
              <a:r>
                <a:rPr kumimoji="0" lang="en-US" altLang="en-US" sz="24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42</a:t>
            </a:fld>
            <a:endParaRPr lang="en-US" dirty="0"/>
          </a:p>
        </p:txBody>
      </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pPr>
            <a:r>
              <a:rPr lang="en-US" sz="3200" dirty="0"/>
              <a:t>Connection-oriented transport: TCP</a:t>
            </a:r>
          </a:p>
          <a:p>
            <a:pPr marL="746125" lvl="1" indent="-288925">
              <a:buClr>
                <a:schemeClr val="bg1">
                  <a:lumMod val="75000"/>
                </a:schemeClr>
              </a:buClr>
              <a:buFont typeface="Arial"/>
              <a:buChar char="•"/>
              <a:defRPr/>
            </a:pPr>
            <a:r>
              <a:rPr lang="en-US" dirty="0">
                <a:solidFill>
                  <a:schemeClr val="bg1">
                    <a:lumMod val="75000"/>
                  </a:schemeClr>
                </a:solidFill>
              </a:rPr>
              <a:t>segment structure</a:t>
            </a:r>
          </a:p>
          <a:p>
            <a:pPr marL="746125" lvl="1" indent="-288925">
              <a:buClr>
                <a:schemeClr val="bg1">
                  <a:lumMod val="75000"/>
                </a:schemeClr>
              </a:buClr>
              <a:buFont typeface="Arial"/>
              <a:buChar char="•"/>
              <a:defRPr/>
            </a:pPr>
            <a:r>
              <a:rPr lang="en-US" dirty="0">
                <a:solidFill>
                  <a:schemeClr val="bg1">
                    <a:lumMod val="75000"/>
                  </a:schemeClr>
                </a:solidFill>
              </a:rPr>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06FDDC9-958A-FA4C-8403-56ABF73A6F8E}"/>
              </a:ext>
            </a:extLst>
          </p:cNvPr>
          <p:cNvSpPr>
            <a:spLocks noGrp="1"/>
          </p:cNvSpPr>
          <p:nvPr>
            <p:ph type="sldNum" sz="quarter" idx="4"/>
          </p:nvPr>
        </p:nvSpPr>
        <p:spPr/>
        <p:txBody>
          <a:bodyPr/>
          <a:lstStyle/>
          <a:p>
            <a:r>
              <a:rPr lang="en-US" dirty="0"/>
              <a:t>Transport Layer: 3-</a:t>
            </a:r>
            <a:fld id="{C4204591-24BD-A542-B9D5-F8D8A88D2FEE}" type="slidenum">
              <a:rPr lang="en-US" smtClean="0"/>
              <a:pPr/>
              <a:t>43</a:t>
            </a:fld>
            <a:endParaRPr lang="en-US" dirty="0"/>
          </a:p>
        </p:txBody>
      </p:sp>
      <p:pic>
        <p:nvPicPr>
          <p:cNvPr id="6" name="Picture 5">
            <a:extLst>
              <a:ext uri="{FF2B5EF4-FFF2-40B4-BE49-F238E27FC236}">
                <a16:creationId xmlns:a16="http://schemas.microsoft.com/office/drawing/2014/main" id="{B5FB4D37-2E98-204A-ACC1-DA60FB18605B}"/>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3193579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sp>
        <p:nvSpPr>
          <p:cNvPr id="48" name="Slide Number Placeholder 2">
            <a:extLst>
              <a:ext uri="{FF2B5EF4-FFF2-40B4-BE49-F238E27FC236}">
                <a16:creationId xmlns:a16="http://schemas.microsoft.com/office/drawing/2014/main" id="{70507C61-599D-8346-AECE-C0A356026ED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44</a:t>
            </a:fld>
            <a:endParaRPr lang="en-US" dirty="0"/>
          </a:p>
        </p:txBody>
      </p:sp>
      <p:sp>
        <p:nvSpPr>
          <p:cNvPr id="3" name="Rectangle 2">
            <a:extLst>
              <a:ext uri="{FF2B5EF4-FFF2-40B4-BE49-F238E27FC236}">
                <a16:creationId xmlns:a16="http://schemas.microsoft.com/office/drawing/2014/main" id="{4D257090-FCD3-43A8-98E8-07F341229E66}"/>
              </a:ext>
            </a:extLst>
          </p:cNvPr>
          <p:cNvSpPr/>
          <p:nvPr/>
        </p:nvSpPr>
        <p:spPr>
          <a:xfrm>
            <a:off x="412124" y="3389654"/>
            <a:ext cx="4842456" cy="2031325"/>
          </a:xfrm>
          <a:prstGeom prst="rect">
            <a:avLst/>
          </a:prstGeom>
        </p:spPr>
        <p:txBody>
          <a:bodyPr wrap="square">
            <a:spAutoFit/>
          </a:bodyPr>
          <a:lstStyle/>
          <a:p>
            <a:pPr algn="just"/>
            <a:r>
              <a:rPr lang="en-US" dirty="0">
                <a:latin typeface="TimesLTPro-Roman"/>
              </a:rPr>
              <a:t>TCP provides a </a:t>
            </a:r>
            <a:r>
              <a:rPr lang="en-US" b="1" dirty="0">
                <a:latin typeface="TimesLTPro-Bold"/>
              </a:rPr>
              <a:t>flow-control service </a:t>
            </a:r>
            <a:r>
              <a:rPr lang="en-US" dirty="0">
                <a:latin typeface="TimesLTPro-Roman"/>
              </a:rPr>
              <a:t>to its applications to eliminate the possibility of the sender overflowing the receiver’s buffer. Flow control is thus a </a:t>
            </a:r>
            <a:r>
              <a:rPr lang="en-US" dirty="0" err="1">
                <a:latin typeface="TimesLTPro-Roman"/>
              </a:rPr>
              <a:t>speedmatching</a:t>
            </a:r>
            <a:r>
              <a:rPr lang="en-US" dirty="0">
                <a:latin typeface="TimesLTPro-Roman"/>
              </a:rPr>
              <a:t> service—matching the rate at which the sender is sending against the rate at which the receiving application is reading</a:t>
            </a:r>
            <a:endParaRPr lang="en-IN" dirty="0"/>
          </a:p>
        </p:txBody>
      </p:sp>
      <p:sp>
        <p:nvSpPr>
          <p:cNvPr id="4" name="Rectangle 3">
            <a:extLst>
              <a:ext uri="{FF2B5EF4-FFF2-40B4-BE49-F238E27FC236}">
                <a16:creationId xmlns:a16="http://schemas.microsoft.com/office/drawing/2014/main" id="{012BDC2D-6EDC-4C4D-A587-0AABF2B99E10}"/>
              </a:ext>
            </a:extLst>
          </p:cNvPr>
          <p:cNvSpPr/>
          <p:nvPr/>
        </p:nvSpPr>
        <p:spPr>
          <a:xfrm>
            <a:off x="5866816" y="1442925"/>
            <a:ext cx="6096000" cy="1754326"/>
          </a:xfrm>
          <a:prstGeom prst="rect">
            <a:avLst/>
          </a:prstGeom>
        </p:spPr>
        <p:txBody>
          <a:bodyPr>
            <a:spAutoFit/>
          </a:bodyPr>
          <a:lstStyle/>
          <a:p>
            <a:pPr algn="just"/>
            <a:r>
              <a:rPr lang="en-US" dirty="0">
                <a:latin typeface="TimesLTPro-Roman"/>
              </a:rPr>
              <a:t>TCP provides flow control by having the </a:t>
            </a:r>
            <a:r>
              <a:rPr lang="en-US" i="1" dirty="0">
                <a:latin typeface="TimesLTPro-Italic"/>
              </a:rPr>
              <a:t>sender </a:t>
            </a:r>
            <a:r>
              <a:rPr lang="en-US" dirty="0">
                <a:latin typeface="TimesLTPro-Roman"/>
              </a:rPr>
              <a:t>maintain a variable called the </a:t>
            </a:r>
            <a:r>
              <a:rPr lang="en-US" b="1" dirty="0">
                <a:latin typeface="TimesLTPro-Bold"/>
              </a:rPr>
              <a:t>receive window</a:t>
            </a:r>
            <a:r>
              <a:rPr lang="en-US" dirty="0">
                <a:latin typeface="TimesLTPro-Roman"/>
              </a:rPr>
              <a:t>. Informally, the receive window is used to give the sender an idea of how much free buffer space is available at the receiver. Because TCP is full-duplex, the sender at each side of the connection maintains a distinct receive </a:t>
            </a:r>
            <a:r>
              <a:rPr lang="en-IN" dirty="0">
                <a:latin typeface="TimesLTPro-Roman"/>
              </a:rPr>
              <a:t>window.</a:t>
            </a:r>
            <a:endParaRPr lang="en-IN" dirty="0"/>
          </a:p>
        </p:txBody>
      </p:sp>
      <p:sp>
        <p:nvSpPr>
          <p:cNvPr id="10" name="Rectangle 9">
            <a:extLst>
              <a:ext uri="{FF2B5EF4-FFF2-40B4-BE49-F238E27FC236}">
                <a16:creationId xmlns:a16="http://schemas.microsoft.com/office/drawing/2014/main" id="{89C029E6-70B3-4516-AEA8-46E60C76AA30}"/>
              </a:ext>
            </a:extLst>
          </p:cNvPr>
          <p:cNvSpPr/>
          <p:nvPr/>
        </p:nvSpPr>
        <p:spPr>
          <a:xfrm>
            <a:off x="5798273" y="3389654"/>
            <a:ext cx="6096000" cy="2862322"/>
          </a:xfrm>
          <a:prstGeom prst="rect">
            <a:avLst/>
          </a:prstGeom>
        </p:spPr>
        <p:txBody>
          <a:bodyPr>
            <a:spAutoFit/>
          </a:bodyPr>
          <a:lstStyle/>
          <a:p>
            <a:r>
              <a:rPr lang="en-IN" dirty="0">
                <a:solidFill>
                  <a:srgbClr val="000000"/>
                </a:solidFill>
                <a:latin typeface="TimesLTPro-Roman"/>
              </a:rPr>
              <a:t>Suppose </a:t>
            </a:r>
            <a:r>
              <a:rPr lang="en-US" dirty="0">
                <a:solidFill>
                  <a:srgbClr val="000000"/>
                </a:solidFill>
                <a:latin typeface="TimesLTPro-Roman"/>
              </a:rPr>
              <a:t>that Host A is sending a large file to Host B over a TCP connection. Host B allocates a receive buffer to this connection; denote its size by </a:t>
            </a:r>
            <a:r>
              <a:rPr lang="en-US" dirty="0" err="1">
                <a:solidFill>
                  <a:srgbClr val="000000"/>
                </a:solidFill>
                <a:latin typeface="CourierPSPro-Regular"/>
              </a:rPr>
              <a:t>RcvBuffer</a:t>
            </a:r>
            <a:r>
              <a:rPr lang="en-US" dirty="0">
                <a:solidFill>
                  <a:srgbClr val="000000"/>
                </a:solidFill>
                <a:latin typeface="TimesLTPro-Roman"/>
              </a:rPr>
              <a:t>. From time to time, the  application process in Host B reads from the buffer. Define the</a:t>
            </a:r>
          </a:p>
          <a:p>
            <a:r>
              <a:rPr lang="en-IN" dirty="0">
                <a:solidFill>
                  <a:srgbClr val="000000"/>
                </a:solidFill>
                <a:latin typeface="TimesLTPro-Roman"/>
              </a:rPr>
              <a:t>following variables:</a:t>
            </a:r>
          </a:p>
          <a:p>
            <a:r>
              <a:rPr lang="en-US" dirty="0">
                <a:solidFill>
                  <a:srgbClr val="008DC0"/>
                </a:solidFill>
                <a:latin typeface="TimesLTPro-Roman"/>
              </a:rPr>
              <a:t>• </a:t>
            </a:r>
            <a:r>
              <a:rPr lang="en-US" dirty="0" err="1">
                <a:solidFill>
                  <a:srgbClr val="000000"/>
                </a:solidFill>
                <a:latin typeface="CourierPSPro-Regular"/>
              </a:rPr>
              <a:t>LastByteRead</a:t>
            </a:r>
            <a:r>
              <a:rPr lang="en-US" dirty="0">
                <a:solidFill>
                  <a:srgbClr val="000000"/>
                </a:solidFill>
                <a:latin typeface="TimesLTPro-Roman"/>
              </a:rPr>
              <a:t>: the number of the last byte in the data stream read from the buffer by the application process in B</a:t>
            </a:r>
          </a:p>
          <a:p>
            <a:r>
              <a:rPr lang="en-US" dirty="0">
                <a:solidFill>
                  <a:srgbClr val="008DC0"/>
                </a:solidFill>
                <a:latin typeface="TimesLTPro-Roman"/>
              </a:rPr>
              <a:t>• </a:t>
            </a:r>
            <a:r>
              <a:rPr lang="en-US" dirty="0" err="1">
                <a:solidFill>
                  <a:srgbClr val="000000"/>
                </a:solidFill>
                <a:latin typeface="CourierPSPro-Regular"/>
              </a:rPr>
              <a:t>LastByteRcvd</a:t>
            </a:r>
            <a:r>
              <a:rPr lang="en-US" dirty="0">
                <a:solidFill>
                  <a:srgbClr val="000000"/>
                </a:solidFill>
                <a:latin typeface="TimesLTPro-Roman"/>
              </a:rPr>
              <a:t>: the number of the last byte in the data stream that has arrived from the network and has been placed in the receive buffer at B</a:t>
            </a:r>
            <a:endParaRPr lang="en-IN" dirty="0"/>
          </a:p>
        </p:txBody>
      </p:sp>
    </p:spTree>
    <p:extLst>
      <p:ext uri="{BB962C8B-B14F-4D97-AF65-F5344CB8AC3E}">
        <p14:creationId xmlns:p14="http://schemas.microsoft.com/office/powerpoint/2010/main" val="144763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E31C9-D7C6-4EBA-93A5-7C1407B29BB5}"/>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1771B3A7-9739-4969-9DD7-08C54E7E8729}"/>
              </a:ext>
            </a:extLst>
          </p:cNvPr>
          <p:cNvPicPr>
            <a:picLocks noGrp="1" noChangeAspect="1"/>
          </p:cNvPicPr>
          <p:nvPr>
            <p:ph sz="half" idx="1"/>
          </p:nvPr>
        </p:nvPicPr>
        <p:blipFill>
          <a:blip r:embed="rId2"/>
          <a:stretch>
            <a:fillRect/>
          </a:stretch>
        </p:blipFill>
        <p:spPr>
          <a:xfrm>
            <a:off x="1480735" y="615796"/>
            <a:ext cx="8371603" cy="2614029"/>
          </a:xfrm>
          <a:prstGeom prst="rect">
            <a:avLst/>
          </a:prstGeom>
        </p:spPr>
      </p:pic>
      <p:sp>
        <p:nvSpPr>
          <p:cNvPr id="5" name="Slide Number Placeholder 4">
            <a:extLst>
              <a:ext uri="{FF2B5EF4-FFF2-40B4-BE49-F238E27FC236}">
                <a16:creationId xmlns:a16="http://schemas.microsoft.com/office/drawing/2014/main" id="{7605508D-CD71-4D14-9304-F0FB41B9E605}"/>
              </a:ext>
            </a:extLst>
          </p:cNvPr>
          <p:cNvSpPr>
            <a:spLocks noGrp="1"/>
          </p:cNvSpPr>
          <p:nvPr>
            <p:ph type="sldNum" sz="quarter" idx="4"/>
          </p:nvPr>
        </p:nvSpPr>
        <p:spPr/>
        <p:txBody>
          <a:bodyPr/>
          <a:lstStyle/>
          <a:p>
            <a:r>
              <a:rPr lang="en-US"/>
              <a:t>Transport Layer: 3-</a:t>
            </a:r>
            <a:fld id="{C4204591-24BD-A542-B9D5-F8D8A88D2FEE}" type="slidenum">
              <a:rPr lang="en-US" smtClean="0"/>
              <a:pPr/>
              <a:t>45</a:t>
            </a:fld>
            <a:endParaRPr lang="en-US" dirty="0"/>
          </a:p>
        </p:txBody>
      </p:sp>
      <p:pic>
        <p:nvPicPr>
          <p:cNvPr id="3" name="Picture 2">
            <a:extLst>
              <a:ext uri="{FF2B5EF4-FFF2-40B4-BE49-F238E27FC236}">
                <a16:creationId xmlns:a16="http://schemas.microsoft.com/office/drawing/2014/main" id="{65833D0F-FC03-4CF2-838B-9BC5D21E2FA6}"/>
              </a:ext>
            </a:extLst>
          </p:cNvPr>
          <p:cNvPicPr>
            <a:picLocks noChangeAspect="1"/>
          </p:cNvPicPr>
          <p:nvPr/>
        </p:nvPicPr>
        <p:blipFill>
          <a:blip r:embed="rId3"/>
          <a:stretch>
            <a:fillRect/>
          </a:stretch>
        </p:blipFill>
        <p:spPr>
          <a:xfrm>
            <a:off x="1480735" y="3442771"/>
            <a:ext cx="5438775" cy="2828925"/>
          </a:xfrm>
          <a:prstGeom prst="rect">
            <a:avLst/>
          </a:prstGeom>
        </p:spPr>
      </p:pic>
      <p:sp>
        <p:nvSpPr>
          <p:cNvPr id="4" name="Rectangle 3">
            <a:extLst>
              <a:ext uri="{FF2B5EF4-FFF2-40B4-BE49-F238E27FC236}">
                <a16:creationId xmlns:a16="http://schemas.microsoft.com/office/drawing/2014/main" id="{A57080EC-E50D-4664-8E75-75A8D8BBC248}"/>
              </a:ext>
            </a:extLst>
          </p:cNvPr>
          <p:cNvSpPr/>
          <p:nvPr/>
        </p:nvSpPr>
        <p:spPr>
          <a:xfrm>
            <a:off x="6096000" y="4173716"/>
            <a:ext cx="5009705" cy="369332"/>
          </a:xfrm>
          <a:prstGeom prst="rect">
            <a:avLst/>
          </a:prstGeom>
        </p:spPr>
        <p:txBody>
          <a:bodyPr wrap="none">
            <a:spAutoFit/>
          </a:bodyPr>
          <a:lstStyle/>
          <a:p>
            <a:r>
              <a:rPr lang="en-IN" dirty="0" err="1">
                <a:latin typeface="CourierPSPro-Regular"/>
              </a:rPr>
              <a:t>LastByteSent</a:t>
            </a:r>
            <a:r>
              <a:rPr lang="en-IN" dirty="0">
                <a:latin typeface="CourierPSPro-Regular"/>
              </a:rPr>
              <a:t> – </a:t>
            </a:r>
            <a:r>
              <a:rPr lang="en-IN" dirty="0" err="1">
                <a:latin typeface="CourierPSPro-Regular"/>
              </a:rPr>
              <a:t>LastByteAcked</a:t>
            </a:r>
            <a:r>
              <a:rPr lang="en-IN" dirty="0">
                <a:latin typeface="CourierPSPro-Regular"/>
              </a:rPr>
              <a:t> &lt;=</a:t>
            </a:r>
            <a:r>
              <a:rPr lang="en-IN" dirty="0" err="1">
                <a:latin typeface="CourierPSPro-Regular"/>
              </a:rPr>
              <a:t>rwnd</a:t>
            </a:r>
            <a:endParaRPr lang="en-IN" dirty="0"/>
          </a:p>
        </p:txBody>
      </p:sp>
    </p:spTree>
    <p:extLst>
      <p:ext uri="{BB962C8B-B14F-4D97-AF65-F5344CB8AC3E}">
        <p14:creationId xmlns:p14="http://schemas.microsoft.com/office/powerpoint/2010/main" val="41472318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28036-9AC3-48BB-9C6B-76660F8F5C79}"/>
              </a:ext>
            </a:extLst>
          </p:cNvPr>
          <p:cNvSpPr>
            <a:spLocks noGrp="1"/>
          </p:cNvSpPr>
          <p:nvPr>
            <p:ph type="title"/>
          </p:nvPr>
        </p:nvSpPr>
        <p:spPr>
          <a:xfrm>
            <a:off x="838200" y="165253"/>
            <a:ext cx="10515600" cy="1181190"/>
          </a:xfrm>
        </p:spPr>
        <p:txBody>
          <a:bodyPr>
            <a:noAutofit/>
          </a:bodyPr>
          <a:lstStyle/>
          <a:p>
            <a:pPr algn="ctr"/>
            <a:r>
              <a:rPr lang="en-IN" dirty="0"/>
              <a:t>TCP Connection Management</a:t>
            </a:r>
            <a:br>
              <a:rPr lang="en-US" sz="2400" b="0" dirty="0"/>
            </a:br>
            <a:r>
              <a:rPr lang="en-US" sz="2400" b="0" dirty="0"/>
              <a:t>The TCP in the client then proceeds</a:t>
            </a:r>
            <a:br>
              <a:rPr lang="en-US" sz="2400" b="0" dirty="0"/>
            </a:br>
            <a:r>
              <a:rPr lang="en-US" sz="2400" b="0" dirty="0"/>
              <a:t>to establish a TCP connection with the TCP in the server in the following manner:</a:t>
            </a:r>
            <a:endParaRPr lang="en-IN" sz="2400" dirty="0"/>
          </a:p>
        </p:txBody>
      </p:sp>
      <p:sp>
        <p:nvSpPr>
          <p:cNvPr id="5" name="Slide Number Placeholder 4">
            <a:extLst>
              <a:ext uri="{FF2B5EF4-FFF2-40B4-BE49-F238E27FC236}">
                <a16:creationId xmlns:a16="http://schemas.microsoft.com/office/drawing/2014/main" id="{7D954522-4545-4B65-8BC2-C88F5A4D9064}"/>
              </a:ext>
            </a:extLst>
          </p:cNvPr>
          <p:cNvSpPr>
            <a:spLocks noGrp="1"/>
          </p:cNvSpPr>
          <p:nvPr>
            <p:ph type="sldNum" sz="quarter" idx="4"/>
          </p:nvPr>
        </p:nvSpPr>
        <p:spPr/>
        <p:txBody>
          <a:bodyPr/>
          <a:lstStyle/>
          <a:p>
            <a:r>
              <a:rPr lang="en-US"/>
              <a:t>Transport Layer: 3-</a:t>
            </a:r>
            <a:fld id="{C4204591-24BD-A542-B9D5-F8D8A88D2FEE}" type="slidenum">
              <a:rPr lang="en-US" smtClean="0"/>
              <a:pPr/>
              <a:t>46</a:t>
            </a:fld>
            <a:endParaRPr lang="en-US" dirty="0"/>
          </a:p>
        </p:txBody>
      </p:sp>
      <p:sp>
        <p:nvSpPr>
          <p:cNvPr id="7" name="Content Placeholder 6">
            <a:extLst>
              <a:ext uri="{FF2B5EF4-FFF2-40B4-BE49-F238E27FC236}">
                <a16:creationId xmlns:a16="http://schemas.microsoft.com/office/drawing/2014/main" id="{18AF73E2-4B4A-4E7B-AF0C-790360B059E4}"/>
              </a:ext>
            </a:extLst>
          </p:cNvPr>
          <p:cNvSpPr>
            <a:spLocks noGrp="1"/>
          </p:cNvSpPr>
          <p:nvPr>
            <p:ph sz="half" idx="1"/>
          </p:nvPr>
        </p:nvSpPr>
        <p:spPr>
          <a:xfrm>
            <a:off x="838199" y="1825625"/>
            <a:ext cx="10623997" cy="4351338"/>
          </a:xfrm>
        </p:spPr>
        <p:txBody>
          <a:bodyPr>
            <a:normAutofit/>
          </a:bodyPr>
          <a:lstStyle/>
          <a:p>
            <a:pPr algn="just"/>
            <a:r>
              <a:rPr lang="en-US" sz="1600" i="1" dirty="0">
                <a:latin typeface="Times New Roman" panose="02020603050405020304" pitchFamily="18" charset="0"/>
                <a:cs typeface="Times New Roman" panose="02020603050405020304" pitchFamily="18" charset="0"/>
              </a:rPr>
              <a:t>Step 1. </a:t>
            </a:r>
            <a:r>
              <a:rPr lang="en-US" sz="1600" dirty="0">
                <a:latin typeface="Times New Roman" panose="02020603050405020304" pitchFamily="18" charset="0"/>
                <a:cs typeface="Times New Roman" panose="02020603050405020304" pitchFamily="18" charset="0"/>
              </a:rPr>
              <a:t>The client-side TCP first sends a special TCP segment to the server-side TCP. This special segment contains no application-layer data. But one of the flag bits in the segment’s header, the SYN bit, is set to 1. For this reason, this special segment is referred to as a SYN segment. In addition, the client randomly chooses an initial sequence number (</a:t>
            </a:r>
            <a:r>
              <a:rPr lang="en-US" sz="1600" dirty="0" err="1">
                <a:latin typeface="Times New Roman" panose="02020603050405020304" pitchFamily="18" charset="0"/>
                <a:cs typeface="Times New Roman" panose="02020603050405020304" pitchFamily="18" charset="0"/>
              </a:rPr>
              <a:t>client_isn</a:t>
            </a:r>
            <a:r>
              <a:rPr lang="en-US" sz="1600" dirty="0">
                <a:latin typeface="Times New Roman" panose="02020603050405020304" pitchFamily="18" charset="0"/>
                <a:cs typeface="Times New Roman" panose="02020603050405020304" pitchFamily="18" charset="0"/>
              </a:rPr>
              <a:t>) and puts this number in the sequence number field of the initial TCP SYN segment.</a:t>
            </a:r>
          </a:p>
          <a:p>
            <a:pPr algn="just"/>
            <a:r>
              <a:rPr lang="en-US" sz="1600" i="1" dirty="0">
                <a:latin typeface="Times New Roman" panose="02020603050405020304" pitchFamily="18" charset="0"/>
                <a:cs typeface="Times New Roman" panose="02020603050405020304" pitchFamily="18" charset="0"/>
              </a:rPr>
              <a:t>Step 2. </a:t>
            </a:r>
            <a:r>
              <a:rPr lang="en-US" sz="1600" dirty="0">
                <a:latin typeface="Times New Roman" panose="02020603050405020304" pitchFamily="18" charset="0"/>
                <a:cs typeface="Times New Roman" panose="02020603050405020304" pitchFamily="18" charset="0"/>
              </a:rPr>
              <a:t>Once the IP datagram containing the TCP SYN segment arrives at the server host (assuming it does arrive!), the server extracts the TCP SYN segment from the datagram, allocates the TCP buffers and variables to the connection, and sends a connection-granted segment to the client TCP. (We’ll see in Chapter 8 that the allocation of these buffers and variables before completing the third step of the three-way handshake makes TCP vulnerable to a denial-of-service attack known as SYN flooding.) This connection-granted segment also contains no application-layer data. However, it does contain three important pieces of information in the segment header. First, the SYN bit is set to 1. Second, the acknowledgment field of the TCP segment header is set to client_isn+1. Finally, the server chooses its own initial sequence number (</a:t>
            </a:r>
            <a:r>
              <a:rPr lang="en-US" sz="1600" dirty="0" err="1">
                <a:latin typeface="Times New Roman" panose="02020603050405020304" pitchFamily="18" charset="0"/>
                <a:cs typeface="Times New Roman" panose="02020603050405020304" pitchFamily="18" charset="0"/>
              </a:rPr>
              <a:t>server_isn</a:t>
            </a:r>
            <a:r>
              <a:rPr lang="en-US" sz="1600" dirty="0">
                <a:latin typeface="Times New Roman" panose="02020603050405020304" pitchFamily="18" charset="0"/>
                <a:cs typeface="Times New Roman" panose="02020603050405020304" pitchFamily="18" charset="0"/>
              </a:rPr>
              <a:t>) and puts this value in the sequence number field of the TCP segment header</a:t>
            </a:r>
          </a:p>
          <a:p>
            <a:pPr algn="just"/>
            <a:r>
              <a:rPr lang="en-US" sz="1600" i="1" dirty="0">
                <a:latin typeface="Times New Roman" panose="02020603050405020304" pitchFamily="18" charset="0"/>
                <a:cs typeface="Times New Roman" panose="02020603050405020304" pitchFamily="18" charset="0"/>
              </a:rPr>
              <a:t>Step 3. </a:t>
            </a:r>
            <a:r>
              <a:rPr lang="en-US" sz="1600" dirty="0">
                <a:latin typeface="Times New Roman" panose="02020603050405020304" pitchFamily="18" charset="0"/>
                <a:cs typeface="Times New Roman" panose="02020603050405020304" pitchFamily="18" charset="0"/>
              </a:rPr>
              <a:t>Upon receiving the SYNACK segment, the client also allocates buffers and variables to the connection. The client host then sends the server yet another segment; this last segment acknowledges the server’s connection-granted segment (the client does so by putting the value server_isn+1 in the acknowledgment The SYN bit is set to zero, since the connection is established. This third stage of the three-way handshake may carry client-to-server data in the segment payload.</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76638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03040-54D7-4AF2-84AB-8E311C4BB986}"/>
              </a:ext>
            </a:extLst>
          </p:cNvPr>
          <p:cNvSpPr>
            <a:spLocks noGrp="1"/>
          </p:cNvSpPr>
          <p:nvPr>
            <p:ph type="title"/>
          </p:nvPr>
        </p:nvSpPr>
        <p:spPr/>
        <p:txBody>
          <a:bodyPr/>
          <a:lstStyle/>
          <a:p>
            <a:r>
              <a:rPr lang="en-US" b="0" dirty="0"/>
              <a:t>TCP three-way handshake: segment exchange</a:t>
            </a:r>
            <a:endParaRPr lang="en-IN" dirty="0"/>
          </a:p>
        </p:txBody>
      </p:sp>
      <p:pic>
        <p:nvPicPr>
          <p:cNvPr id="6" name="Content Placeholder 5">
            <a:extLst>
              <a:ext uri="{FF2B5EF4-FFF2-40B4-BE49-F238E27FC236}">
                <a16:creationId xmlns:a16="http://schemas.microsoft.com/office/drawing/2014/main" id="{4201D211-777C-4E4F-B531-F1769C3C1274}"/>
              </a:ext>
            </a:extLst>
          </p:cNvPr>
          <p:cNvPicPr>
            <a:picLocks noGrp="1" noChangeAspect="1"/>
          </p:cNvPicPr>
          <p:nvPr>
            <p:ph sz="half" idx="1"/>
          </p:nvPr>
        </p:nvPicPr>
        <p:blipFill>
          <a:blip r:embed="rId2"/>
          <a:stretch>
            <a:fillRect/>
          </a:stretch>
        </p:blipFill>
        <p:spPr>
          <a:xfrm>
            <a:off x="478527" y="1346443"/>
            <a:ext cx="6463185" cy="5551451"/>
          </a:xfrm>
          <a:prstGeom prst="rect">
            <a:avLst/>
          </a:prstGeom>
        </p:spPr>
      </p:pic>
      <p:sp>
        <p:nvSpPr>
          <p:cNvPr id="5" name="Slide Number Placeholder 4">
            <a:extLst>
              <a:ext uri="{FF2B5EF4-FFF2-40B4-BE49-F238E27FC236}">
                <a16:creationId xmlns:a16="http://schemas.microsoft.com/office/drawing/2014/main" id="{9E951D4F-6813-4DF9-B1CD-C20A19D4AB5B}"/>
              </a:ext>
            </a:extLst>
          </p:cNvPr>
          <p:cNvSpPr>
            <a:spLocks noGrp="1"/>
          </p:cNvSpPr>
          <p:nvPr>
            <p:ph type="sldNum" sz="quarter" idx="4"/>
          </p:nvPr>
        </p:nvSpPr>
        <p:spPr/>
        <p:txBody>
          <a:bodyPr/>
          <a:lstStyle/>
          <a:p>
            <a:r>
              <a:rPr lang="en-US"/>
              <a:t>Transport Layer: 3-</a:t>
            </a:r>
            <a:fld id="{C4204591-24BD-A542-B9D5-F8D8A88D2FEE}" type="slidenum">
              <a:rPr lang="en-US" smtClean="0"/>
              <a:pPr/>
              <a:t>47</a:t>
            </a:fld>
            <a:endParaRPr lang="en-US" dirty="0"/>
          </a:p>
        </p:txBody>
      </p:sp>
    </p:spTree>
    <p:extLst>
      <p:ext uri="{BB962C8B-B14F-4D97-AF65-F5344CB8AC3E}">
        <p14:creationId xmlns:p14="http://schemas.microsoft.com/office/powerpoint/2010/main" val="1230516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5A310-D512-49DA-9A00-0E2CDE235798}"/>
              </a:ext>
            </a:extLst>
          </p:cNvPr>
          <p:cNvSpPr>
            <a:spLocks noGrp="1"/>
          </p:cNvSpPr>
          <p:nvPr>
            <p:ph type="title"/>
          </p:nvPr>
        </p:nvSpPr>
        <p:spPr/>
        <p:txBody>
          <a:bodyPr/>
          <a:lstStyle/>
          <a:p>
            <a:r>
              <a:rPr lang="en-IN" b="0" dirty="0"/>
              <a:t>Closing a TCP connection</a:t>
            </a:r>
            <a:endParaRPr lang="en-IN" dirty="0"/>
          </a:p>
        </p:txBody>
      </p:sp>
      <p:pic>
        <p:nvPicPr>
          <p:cNvPr id="6" name="Content Placeholder 5">
            <a:extLst>
              <a:ext uri="{FF2B5EF4-FFF2-40B4-BE49-F238E27FC236}">
                <a16:creationId xmlns:a16="http://schemas.microsoft.com/office/drawing/2014/main" id="{DC9CEE96-FEAA-4FC5-8896-719F5EA3F7C2}"/>
              </a:ext>
            </a:extLst>
          </p:cNvPr>
          <p:cNvPicPr>
            <a:picLocks noGrp="1" noChangeAspect="1"/>
          </p:cNvPicPr>
          <p:nvPr>
            <p:ph sz="half" idx="1"/>
          </p:nvPr>
        </p:nvPicPr>
        <p:blipFill>
          <a:blip r:embed="rId2"/>
          <a:stretch>
            <a:fillRect/>
          </a:stretch>
        </p:blipFill>
        <p:spPr>
          <a:xfrm>
            <a:off x="229184" y="1198606"/>
            <a:ext cx="5104018" cy="5238421"/>
          </a:xfrm>
          <a:prstGeom prst="rect">
            <a:avLst/>
          </a:prstGeom>
        </p:spPr>
      </p:pic>
      <p:sp>
        <p:nvSpPr>
          <p:cNvPr id="5" name="Slide Number Placeholder 4">
            <a:extLst>
              <a:ext uri="{FF2B5EF4-FFF2-40B4-BE49-F238E27FC236}">
                <a16:creationId xmlns:a16="http://schemas.microsoft.com/office/drawing/2014/main" id="{1B52B07E-B75B-4A8B-9BCE-0BCF7ACDAFC1}"/>
              </a:ext>
            </a:extLst>
          </p:cNvPr>
          <p:cNvSpPr>
            <a:spLocks noGrp="1"/>
          </p:cNvSpPr>
          <p:nvPr>
            <p:ph type="sldNum" sz="quarter" idx="4"/>
          </p:nvPr>
        </p:nvSpPr>
        <p:spPr/>
        <p:txBody>
          <a:bodyPr/>
          <a:lstStyle/>
          <a:p>
            <a:r>
              <a:rPr lang="en-US"/>
              <a:t>Transport Layer: 3-</a:t>
            </a:r>
            <a:fld id="{C4204591-24BD-A542-B9D5-F8D8A88D2FEE}" type="slidenum">
              <a:rPr lang="en-US" smtClean="0"/>
              <a:pPr/>
              <a:t>48</a:t>
            </a:fld>
            <a:endParaRPr lang="en-US" dirty="0"/>
          </a:p>
        </p:txBody>
      </p:sp>
      <p:pic>
        <p:nvPicPr>
          <p:cNvPr id="7" name="Picture 6">
            <a:extLst>
              <a:ext uri="{FF2B5EF4-FFF2-40B4-BE49-F238E27FC236}">
                <a16:creationId xmlns:a16="http://schemas.microsoft.com/office/drawing/2014/main" id="{C6141113-94A8-4649-99C4-3DBA2753D337}"/>
              </a:ext>
            </a:extLst>
          </p:cNvPr>
          <p:cNvPicPr>
            <a:picLocks noChangeAspect="1"/>
          </p:cNvPicPr>
          <p:nvPr/>
        </p:nvPicPr>
        <p:blipFill>
          <a:blip r:embed="rId3"/>
          <a:stretch>
            <a:fillRect/>
          </a:stretch>
        </p:blipFill>
        <p:spPr>
          <a:xfrm>
            <a:off x="5552491" y="1198606"/>
            <a:ext cx="6410325" cy="4692606"/>
          </a:xfrm>
          <a:prstGeom prst="rect">
            <a:avLst/>
          </a:prstGeom>
        </p:spPr>
      </p:pic>
      <p:sp>
        <p:nvSpPr>
          <p:cNvPr id="8" name="Rectangle 7">
            <a:extLst>
              <a:ext uri="{FF2B5EF4-FFF2-40B4-BE49-F238E27FC236}">
                <a16:creationId xmlns:a16="http://schemas.microsoft.com/office/drawing/2014/main" id="{9989B92C-0719-43FC-B9E7-D74849B1E9CE}"/>
              </a:ext>
            </a:extLst>
          </p:cNvPr>
          <p:cNvSpPr/>
          <p:nvPr/>
        </p:nvSpPr>
        <p:spPr>
          <a:xfrm>
            <a:off x="5386066" y="6211669"/>
            <a:ext cx="6096000" cy="646331"/>
          </a:xfrm>
          <a:prstGeom prst="rect">
            <a:avLst/>
          </a:prstGeom>
        </p:spPr>
        <p:txBody>
          <a:bodyPr>
            <a:spAutoFit/>
          </a:bodyPr>
          <a:lstStyle/>
          <a:p>
            <a:r>
              <a:rPr lang="en-US" dirty="0">
                <a:latin typeface="FuturaLTPro-Book"/>
              </a:rPr>
              <a:t>A typical sequence of TCP states visited by a client TCP</a:t>
            </a:r>
            <a:endParaRPr lang="en-IN" dirty="0"/>
          </a:p>
        </p:txBody>
      </p:sp>
    </p:spTree>
    <p:extLst>
      <p:ext uri="{BB962C8B-B14F-4D97-AF65-F5344CB8AC3E}">
        <p14:creationId xmlns:p14="http://schemas.microsoft.com/office/powerpoint/2010/main" val="35018590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F1FD-DFC3-47CF-BE35-A8BB868FB4BB}"/>
              </a:ext>
            </a:extLst>
          </p:cNvPr>
          <p:cNvSpPr>
            <a:spLocks noGrp="1"/>
          </p:cNvSpPr>
          <p:nvPr>
            <p:ph type="title"/>
          </p:nvPr>
        </p:nvSpPr>
        <p:spPr/>
        <p:txBody>
          <a:bodyPr>
            <a:normAutofit fontScale="90000"/>
          </a:bodyPr>
          <a:lstStyle/>
          <a:p>
            <a:r>
              <a:rPr lang="en-US" b="0" dirty="0"/>
              <a:t>A typical sequence of TCP states visited by a server-side TCP</a:t>
            </a:r>
            <a:endParaRPr lang="en-IN" dirty="0"/>
          </a:p>
        </p:txBody>
      </p:sp>
      <p:pic>
        <p:nvPicPr>
          <p:cNvPr id="6" name="Content Placeholder 5">
            <a:extLst>
              <a:ext uri="{FF2B5EF4-FFF2-40B4-BE49-F238E27FC236}">
                <a16:creationId xmlns:a16="http://schemas.microsoft.com/office/drawing/2014/main" id="{A1AF1C54-74EC-4906-BD9B-DE5D6742B2DC}"/>
              </a:ext>
            </a:extLst>
          </p:cNvPr>
          <p:cNvPicPr>
            <a:picLocks noGrp="1" noChangeAspect="1"/>
          </p:cNvPicPr>
          <p:nvPr>
            <p:ph sz="half" idx="1"/>
          </p:nvPr>
        </p:nvPicPr>
        <p:blipFill>
          <a:blip r:embed="rId2"/>
          <a:stretch>
            <a:fillRect/>
          </a:stretch>
        </p:blipFill>
        <p:spPr>
          <a:xfrm>
            <a:off x="2345066" y="1660915"/>
            <a:ext cx="6874550" cy="4745264"/>
          </a:xfrm>
          <a:prstGeom prst="rect">
            <a:avLst/>
          </a:prstGeom>
        </p:spPr>
      </p:pic>
      <p:sp>
        <p:nvSpPr>
          <p:cNvPr id="5" name="Slide Number Placeholder 4">
            <a:extLst>
              <a:ext uri="{FF2B5EF4-FFF2-40B4-BE49-F238E27FC236}">
                <a16:creationId xmlns:a16="http://schemas.microsoft.com/office/drawing/2014/main" id="{978D5BC8-2ECE-4390-97CB-F0877F0F3C0E}"/>
              </a:ext>
            </a:extLst>
          </p:cNvPr>
          <p:cNvSpPr>
            <a:spLocks noGrp="1"/>
          </p:cNvSpPr>
          <p:nvPr>
            <p:ph type="sldNum" sz="quarter" idx="4"/>
          </p:nvPr>
        </p:nvSpPr>
        <p:spPr/>
        <p:txBody>
          <a:bodyPr/>
          <a:lstStyle/>
          <a:p>
            <a:r>
              <a:rPr lang="en-US"/>
              <a:t>Transport Layer: 3-</a:t>
            </a:r>
            <a:fld id="{C4204591-24BD-A542-B9D5-F8D8A88D2FEE}" type="slidenum">
              <a:rPr lang="en-US" smtClean="0"/>
              <a:pPr/>
              <a:t>49</a:t>
            </a:fld>
            <a:endParaRPr lang="en-US" dirty="0"/>
          </a:p>
        </p:txBody>
      </p:sp>
    </p:spTree>
    <p:extLst>
      <p:ext uri="{BB962C8B-B14F-4D97-AF65-F5344CB8AC3E}">
        <p14:creationId xmlns:p14="http://schemas.microsoft.com/office/powerpoint/2010/main" val="218314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1FED5-D41F-45B2-8703-E14B6383D175}"/>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441BCEB7-65DF-40CD-9D61-C76A604F56C7}"/>
              </a:ext>
            </a:extLst>
          </p:cNvPr>
          <p:cNvPicPr>
            <a:picLocks noGrp="1" noChangeAspect="1"/>
          </p:cNvPicPr>
          <p:nvPr>
            <p:ph sz="half" idx="1"/>
          </p:nvPr>
        </p:nvPicPr>
        <p:blipFill>
          <a:blip r:embed="rId2"/>
          <a:stretch>
            <a:fillRect/>
          </a:stretch>
        </p:blipFill>
        <p:spPr>
          <a:xfrm>
            <a:off x="838199" y="1119086"/>
            <a:ext cx="10327783" cy="2309914"/>
          </a:xfrm>
          <a:prstGeom prst="rect">
            <a:avLst/>
          </a:prstGeom>
        </p:spPr>
      </p:pic>
      <p:sp>
        <p:nvSpPr>
          <p:cNvPr id="5" name="Slide Number Placeholder 4">
            <a:extLst>
              <a:ext uri="{FF2B5EF4-FFF2-40B4-BE49-F238E27FC236}">
                <a16:creationId xmlns:a16="http://schemas.microsoft.com/office/drawing/2014/main" id="{74B56B5E-8AE5-4331-AC61-2E42A112CACE}"/>
              </a:ext>
            </a:extLst>
          </p:cNvPr>
          <p:cNvSpPr>
            <a:spLocks noGrp="1"/>
          </p:cNvSpPr>
          <p:nvPr>
            <p:ph type="sldNum" sz="quarter" idx="4"/>
          </p:nvPr>
        </p:nvSpPr>
        <p:spPr/>
        <p:txBody>
          <a:bodyPr/>
          <a:lstStyle/>
          <a:p>
            <a:r>
              <a:rPr lang="en-US"/>
              <a:t>Transport Layer: 3-</a:t>
            </a:r>
            <a:fld id="{C4204591-24BD-A542-B9D5-F8D8A88D2FEE}" type="slidenum">
              <a:rPr lang="en-US" smtClean="0"/>
              <a:pPr/>
              <a:t>50</a:t>
            </a:fld>
            <a:endParaRPr lang="en-US" dirty="0"/>
          </a:p>
        </p:txBody>
      </p:sp>
      <p:pic>
        <p:nvPicPr>
          <p:cNvPr id="7" name="Picture 6">
            <a:extLst>
              <a:ext uri="{FF2B5EF4-FFF2-40B4-BE49-F238E27FC236}">
                <a16:creationId xmlns:a16="http://schemas.microsoft.com/office/drawing/2014/main" id="{4E976A9B-CAA8-49E2-87BA-7540B132C903}"/>
              </a:ext>
            </a:extLst>
          </p:cNvPr>
          <p:cNvPicPr>
            <a:picLocks noChangeAspect="1"/>
          </p:cNvPicPr>
          <p:nvPr/>
        </p:nvPicPr>
        <p:blipFill>
          <a:blip r:embed="rId3"/>
          <a:stretch>
            <a:fillRect/>
          </a:stretch>
        </p:blipFill>
        <p:spPr>
          <a:xfrm>
            <a:off x="1026018" y="3429000"/>
            <a:ext cx="10458315" cy="2785106"/>
          </a:xfrm>
          <a:prstGeom prst="rect">
            <a:avLst/>
          </a:prstGeom>
        </p:spPr>
      </p:pic>
    </p:spTree>
    <p:extLst>
      <p:ext uri="{BB962C8B-B14F-4D97-AF65-F5344CB8AC3E}">
        <p14:creationId xmlns:p14="http://schemas.microsoft.com/office/powerpoint/2010/main" val="2235263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Closing a TCP connection</a:t>
            </a:r>
            <a:endParaRPr lang="en-US" sz="4400" b="0" dirty="0"/>
          </a:p>
        </p:txBody>
      </p:sp>
      <p:sp>
        <p:nvSpPr>
          <p:cNvPr id="47" name="Rectangle 47">
            <a:extLst>
              <a:ext uri="{FF2B5EF4-FFF2-40B4-BE49-F238E27FC236}">
                <a16:creationId xmlns:a16="http://schemas.microsoft.com/office/drawing/2014/main" id="{B20BADCC-1032-9A48-BC43-B4E1275E4EDF}"/>
              </a:ext>
            </a:extLst>
          </p:cNvPr>
          <p:cNvSpPr txBox="1">
            <a:spLocks noChangeArrowheads="1"/>
          </p:cNvSpPr>
          <p:nvPr/>
        </p:nvSpPr>
        <p:spPr>
          <a:xfrm>
            <a:off x="798690" y="1441263"/>
            <a:ext cx="9698318" cy="41862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client, server each close their side of connection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 TCP segment with FIN bit = 1</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respond to received FIN with ACK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receiving FIN, ACK can be combined with own FIN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simultaneous FIN exchanges can be handled</a:t>
            </a:r>
          </a:p>
        </p:txBody>
      </p:sp>
      <p:sp>
        <p:nvSpPr>
          <p:cNvPr id="4" name="Slide Number Placeholder 2">
            <a:extLst>
              <a:ext uri="{FF2B5EF4-FFF2-40B4-BE49-F238E27FC236}">
                <a16:creationId xmlns:a16="http://schemas.microsoft.com/office/drawing/2014/main" id="{E5549B3B-271C-C14B-9302-4D2CE7B4105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51</a:t>
            </a:fld>
            <a:endParaRPr lang="en-US" dirty="0"/>
          </a:p>
        </p:txBody>
      </p:sp>
    </p:spTree>
    <p:extLst>
      <p:ext uri="{BB962C8B-B14F-4D97-AF65-F5344CB8AC3E}">
        <p14:creationId xmlns:p14="http://schemas.microsoft.com/office/powerpoint/2010/main" val="2657671931"/>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a:t>
            </a:r>
            <a:r>
              <a:rPr lang="en-US" altLang="en-US" sz="3200" dirty="0" err="1">
                <a:solidFill>
                  <a:schemeClr val="bg1">
                    <a:lumMod val="75000"/>
                  </a:schemeClr>
                </a:solidFill>
                <a:cs typeface="Calibri" panose="020F0502020204030204" pitchFamily="34" charset="0"/>
              </a:rPr>
              <a:t>demultiplexing</a:t>
            </a:r>
            <a:endParaRPr lang="en-US" altLang="en-US" sz="3200" dirty="0">
              <a:solidFill>
                <a:schemeClr val="bg1">
                  <a:lumMod val="75000"/>
                </a:schemeClr>
              </a:solidFill>
              <a:cs typeface="Calibri" panose="020F0502020204030204" pitchFamily="34" charset="0"/>
            </a:endParaRP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(Go-back-N and Selective Repeat)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pPr>
            <a:r>
              <a:rPr lang="en-US" sz="3200" dirty="0"/>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7ED4EED6-AA2C-5A44-91DA-4CFB7A4AA241}"/>
              </a:ext>
            </a:extLst>
          </p:cNvPr>
          <p:cNvSpPr>
            <a:spLocks noGrp="1"/>
          </p:cNvSpPr>
          <p:nvPr>
            <p:ph type="sldNum" sz="quarter" idx="4"/>
          </p:nvPr>
        </p:nvSpPr>
        <p:spPr/>
        <p:txBody>
          <a:bodyPr/>
          <a:lstStyle/>
          <a:p>
            <a:r>
              <a:rPr lang="en-US" dirty="0"/>
              <a:t>Transport Layer: 3-</a:t>
            </a:r>
            <a:fld id="{C4204591-24BD-A542-B9D5-F8D8A88D2FEE}" type="slidenum">
              <a:rPr lang="en-US" smtClean="0"/>
              <a:pPr/>
              <a:t>52</a:t>
            </a:fld>
            <a:endParaRPr lang="en-US" dirty="0"/>
          </a:p>
        </p:txBody>
      </p:sp>
      <p:pic>
        <p:nvPicPr>
          <p:cNvPr id="6" name="Picture 5">
            <a:extLst>
              <a:ext uri="{FF2B5EF4-FFF2-40B4-BE49-F238E27FC236}">
                <a16:creationId xmlns:a16="http://schemas.microsoft.com/office/drawing/2014/main" id="{853F12A5-E6F0-8F46-A507-3CB3CDD11A7B}"/>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23524287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dirty="0"/>
              <a:t>TCP congestion control: AIMD</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168400"/>
            <a:ext cx="10274300" cy="144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approach: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senders can</a:t>
            </a:r>
            <a:r>
              <a:rPr kumimoji="0" lang="en-US" sz="2800" b="0" i="1"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increase sending rate until packet loss (congestion) occurs, then decrease sending rate on loss event</a:t>
            </a: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141" name="Text Box 13">
            <a:extLst>
              <a:ext uri="{FF2B5EF4-FFF2-40B4-BE49-F238E27FC236}">
                <a16:creationId xmlns:a16="http://schemas.microsoft.com/office/drawing/2014/main" id="{2FD36304-869C-CE42-8550-F12B5FFE2394}"/>
              </a:ext>
            </a:extLst>
          </p:cNvPr>
          <p:cNvSpPr txBox="1">
            <a:spLocks noChangeArrowheads="1"/>
          </p:cNvSpPr>
          <p:nvPr/>
        </p:nvSpPr>
        <p:spPr bwMode="auto">
          <a:xfrm>
            <a:off x="8688708" y="4380805"/>
            <a:ext cx="2769156" cy="15081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AIMD</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sawtooth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behavior: </a:t>
            </a:r>
            <a:r>
              <a:rPr kumimoji="0" lang="en-US" sz="2800" b="0" i="1"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probing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bandwidth</a:t>
            </a:r>
          </a:p>
        </p:txBody>
      </p:sp>
      <p:sp>
        <p:nvSpPr>
          <p:cNvPr id="35" name="Rectangle 11">
            <a:extLst>
              <a:ext uri="{FF2B5EF4-FFF2-40B4-BE49-F238E27FC236}">
                <a16:creationId xmlns:a16="http://schemas.microsoft.com/office/drawing/2014/main" id="{F39215FA-39B5-484D-8395-F0F1A1C5D622}"/>
              </a:ext>
            </a:extLst>
          </p:cNvPr>
          <p:cNvSpPr>
            <a:spLocks noChangeArrowheads="1"/>
          </p:cNvSpPr>
          <p:nvPr/>
        </p:nvSpPr>
        <p:spPr bwMode="auto">
          <a:xfrm>
            <a:off x="4717339" y="3774454"/>
            <a:ext cx="6858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 name="Line 19">
            <a:extLst>
              <a:ext uri="{FF2B5EF4-FFF2-40B4-BE49-F238E27FC236}">
                <a16:creationId xmlns:a16="http://schemas.microsoft.com/office/drawing/2014/main" id="{D3F6ABF2-92A9-2C40-8D08-91E54606260B}"/>
              </a:ext>
            </a:extLst>
          </p:cNvPr>
          <p:cNvSpPr>
            <a:spLocks noChangeShapeType="1"/>
          </p:cNvSpPr>
          <p:nvPr/>
        </p:nvSpPr>
        <p:spPr bwMode="auto">
          <a:xfrm flipV="1">
            <a:off x="3898189" y="5196854"/>
            <a:ext cx="169863" cy="169862"/>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 name="Line 20">
            <a:extLst>
              <a:ext uri="{FF2B5EF4-FFF2-40B4-BE49-F238E27FC236}">
                <a16:creationId xmlns:a16="http://schemas.microsoft.com/office/drawing/2014/main" id="{38434DE2-13CB-044F-991F-ED186F200404}"/>
              </a:ext>
            </a:extLst>
          </p:cNvPr>
          <p:cNvSpPr>
            <a:spLocks noChangeShapeType="1"/>
          </p:cNvSpPr>
          <p:nvPr/>
        </p:nvSpPr>
        <p:spPr bwMode="auto">
          <a:xfrm>
            <a:off x="4079164" y="5185741"/>
            <a:ext cx="0" cy="6429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8" name="Line 21">
            <a:extLst>
              <a:ext uri="{FF2B5EF4-FFF2-40B4-BE49-F238E27FC236}">
                <a16:creationId xmlns:a16="http://schemas.microsoft.com/office/drawing/2014/main" id="{1937BB13-75B0-4947-8F7E-C69526352422}"/>
              </a:ext>
            </a:extLst>
          </p:cNvPr>
          <p:cNvSpPr>
            <a:spLocks noChangeShapeType="1"/>
          </p:cNvSpPr>
          <p:nvPr/>
        </p:nvSpPr>
        <p:spPr bwMode="auto">
          <a:xfrm flipV="1">
            <a:off x="4068052" y="4869829"/>
            <a:ext cx="982662" cy="9810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9" name="Line 22">
            <a:extLst>
              <a:ext uri="{FF2B5EF4-FFF2-40B4-BE49-F238E27FC236}">
                <a16:creationId xmlns:a16="http://schemas.microsoft.com/office/drawing/2014/main" id="{D3110501-FE57-9545-B9AC-7B103AF98E40}"/>
              </a:ext>
            </a:extLst>
          </p:cNvPr>
          <p:cNvSpPr>
            <a:spLocks noChangeShapeType="1"/>
          </p:cNvSpPr>
          <p:nvPr/>
        </p:nvSpPr>
        <p:spPr bwMode="auto">
          <a:xfrm>
            <a:off x="5039602" y="4871416"/>
            <a:ext cx="0" cy="80168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41" name="Line 23">
            <a:extLst>
              <a:ext uri="{FF2B5EF4-FFF2-40B4-BE49-F238E27FC236}">
                <a16:creationId xmlns:a16="http://schemas.microsoft.com/office/drawing/2014/main" id="{AAAA55BA-D404-204C-AECA-45F566AECF40}"/>
              </a:ext>
            </a:extLst>
          </p:cNvPr>
          <p:cNvSpPr>
            <a:spLocks noChangeShapeType="1"/>
          </p:cNvSpPr>
          <p:nvPr/>
        </p:nvSpPr>
        <p:spPr bwMode="auto">
          <a:xfrm flipV="1">
            <a:off x="5031664" y="5168279"/>
            <a:ext cx="525463" cy="5238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43" name="Line 24">
            <a:extLst>
              <a:ext uri="{FF2B5EF4-FFF2-40B4-BE49-F238E27FC236}">
                <a16:creationId xmlns:a16="http://schemas.microsoft.com/office/drawing/2014/main" id="{43AEBE7F-F2BB-5943-A7EA-ACC4591C9E55}"/>
              </a:ext>
            </a:extLst>
          </p:cNvPr>
          <p:cNvSpPr>
            <a:spLocks noChangeShapeType="1"/>
          </p:cNvSpPr>
          <p:nvPr/>
        </p:nvSpPr>
        <p:spPr bwMode="auto">
          <a:xfrm>
            <a:off x="5557127" y="5163516"/>
            <a:ext cx="0" cy="6889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6F7F0A4B-818C-8448-8543-A37DAD19EABE}"/>
              </a:ext>
            </a:extLst>
          </p:cNvPr>
          <p:cNvSpPr>
            <a:spLocks noChangeShapeType="1"/>
          </p:cNvSpPr>
          <p:nvPr/>
        </p:nvSpPr>
        <p:spPr bwMode="auto">
          <a:xfrm flipV="1">
            <a:off x="5568240" y="4849191"/>
            <a:ext cx="969963" cy="9810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45" name="Line 26">
            <a:extLst>
              <a:ext uri="{FF2B5EF4-FFF2-40B4-BE49-F238E27FC236}">
                <a16:creationId xmlns:a16="http://schemas.microsoft.com/office/drawing/2014/main" id="{19538173-60A5-BC46-A9E4-749776021102}"/>
              </a:ext>
            </a:extLst>
          </p:cNvPr>
          <p:cNvSpPr>
            <a:spLocks noChangeShapeType="1"/>
          </p:cNvSpPr>
          <p:nvPr/>
        </p:nvSpPr>
        <p:spPr bwMode="auto">
          <a:xfrm>
            <a:off x="6533440" y="4849191"/>
            <a:ext cx="11113" cy="83502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46" name="Line 29">
            <a:extLst>
              <a:ext uri="{FF2B5EF4-FFF2-40B4-BE49-F238E27FC236}">
                <a16:creationId xmlns:a16="http://schemas.microsoft.com/office/drawing/2014/main" id="{30FAE305-421D-C042-8E51-7C7D81EEF5FE}"/>
              </a:ext>
            </a:extLst>
          </p:cNvPr>
          <p:cNvSpPr>
            <a:spLocks noChangeShapeType="1"/>
          </p:cNvSpPr>
          <p:nvPr/>
        </p:nvSpPr>
        <p:spPr bwMode="auto">
          <a:xfrm flipV="1">
            <a:off x="6538202" y="5012704"/>
            <a:ext cx="666750" cy="66675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47" name="Line 30">
            <a:extLst>
              <a:ext uri="{FF2B5EF4-FFF2-40B4-BE49-F238E27FC236}">
                <a16:creationId xmlns:a16="http://schemas.microsoft.com/office/drawing/2014/main" id="{031213C2-BAEE-5346-905B-3F89E1716013}"/>
              </a:ext>
            </a:extLst>
          </p:cNvPr>
          <p:cNvSpPr>
            <a:spLocks noChangeShapeType="1"/>
          </p:cNvSpPr>
          <p:nvPr/>
        </p:nvSpPr>
        <p:spPr bwMode="auto">
          <a:xfrm>
            <a:off x="7204952" y="4998416"/>
            <a:ext cx="0" cy="747712"/>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48" name="Line 31">
            <a:extLst>
              <a:ext uri="{FF2B5EF4-FFF2-40B4-BE49-F238E27FC236}">
                <a16:creationId xmlns:a16="http://schemas.microsoft.com/office/drawing/2014/main" id="{AEA390E0-709D-FA45-91DE-52C0460D608A}"/>
              </a:ext>
            </a:extLst>
          </p:cNvPr>
          <p:cNvSpPr>
            <a:spLocks noChangeShapeType="1"/>
          </p:cNvSpPr>
          <p:nvPr/>
        </p:nvSpPr>
        <p:spPr bwMode="auto">
          <a:xfrm flipV="1">
            <a:off x="7195427" y="4746004"/>
            <a:ext cx="876300" cy="1014412"/>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53" name="Group 52">
            <a:extLst>
              <a:ext uri="{FF2B5EF4-FFF2-40B4-BE49-F238E27FC236}">
                <a16:creationId xmlns:a16="http://schemas.microsoft.com/office/drawing/2014/main" id="{82C492E2-E058-BD40-8FFC-FCED8F0093C0}"/>
              </a:ext>
            </a:extLst>
          </p:cNvPr>
          <p:cNvGrpSpPr/>
          <p:nvPr/>
        </p:nvGrpSpPr>
        <p:grpSpPr>
          <a:xfrm>
            <a:off x="3439503" y="4254500"/>
            <a:ext cx="4602061" cy="2566366"/>
            <a:chOff x="4099903" y="3937000"/>
            <a:chExt cx="4602061" cy="2566366"/>
          </a:xfrm>
        </p:grpSpPr>
        <p:sp>
          <p:nvSpPr>
            <p:cNvPr id="54" name="Text Box 12">
              <a:extLst>
                <a:ext uri="{FF2B5EF4-FFF2-40B4-BE49-F238E27FC236}">
                  <a16:creationId xmlns:a16="http://schemas.microsoft.com/office/drawing/2014/main" id="{18CC901F-184A-1147-B991-15E650618DC6}"/>
                </a:ext>
              </a:extLst>
            </p:cNvPr>
            <p:cNvSpPr txBox="1">
              <a:spLocks noChangeArrowheads="1"/>
            </p:cNvSpPr>
            <p:nvPr/>
          </p:nvSpPr>
          <p:spPr bwMode="auto">
            <a:xfrm rot="16200000">
              <a:off x="3117142" y="4919761"/>
              <a:ext cx="2273300" cy="307777"/>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TCP sender  Sending rate</a:t>
              </a:r>
            </a:p>
          </p:txBody>
        </p:sp>
        <p:sp>
          <p:nvSpPr>
            <p:cNvPr id="55" name="Line 17">
              <a:extLst>
                <a:ext uri="{FF2B5EF4-FFF2-40B4-BE49-F238E27FC236}">
                  <a16:creationId xmlns:a16="http://schemas.microsoft.com/office/drawing/2014/main" id="{EF2F6AD0-B3EF-0B4C-88EA-BCCC113FD5FC}"/>
                </a:ext>
              </a:extLst>
            </p:cNvPr>
            <p:cNvSpPr>
              <a:spLocks noChangeShapeType="1"/>
            </p:cNvSpPr>
            <p:nvPr/>
          </p:nvSpPr>
          <p:spPr bwMode="auto">
            <a:xfrm>
              <a:off x="4558589" y="6176341"/>
              <a:ext cx="4143375"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56" name="Line 18">
              <a:extLst>
                <a:ext uri="{FF2B5EF4-FFF2-40B4-BE49-F238E27FC236}">
                  <a16:creationId xmlns:a16="http://schemas.microsoft.com/office/drawing/2014/main" id="{11B2DFEF-102F-D74F-9B47-304A5DF4E68F}"/>
                </a:ext>
              </a:extLst>
            </p:cNvPr>
            <p:cNvSpPr>
              <a:spLocks noChangeShapeType="1"/>
            </p:cNvSpPr>
            <p:nvPr/>
          </p:nvSpPr>
          <p:spPr bwMode="auto">
            <a:xfrm>
              <a:off x="4546600" y="4203700"/>
              <a:ext cx="877" cy="1974229"/>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8" name="Text Box 40">
              <a:extLst>
                <a:ext uri="{FF2B5EF4-FFF2-40B4-BE49-F238E27FC236}">
                  <a16:creationId xmlns:a16="http://schemas.microsoft.com/office/drawing/2014/main" id="{27E5BB5F-DA02-D949-9477-C50B724C7125}"/>
                </a:ext>
              </a:extLst>
            </p:cNvPr>
            <p:cNvSpPr txBox="1">
              <a:spLocks noChangeArrowheads="1"/>
            </p:cNvSpPr>
            <p:nvPr/>
          </p:nvSpPr>
          <p:spPr bwMode="auto">
            <a:xfrm>
              <a:off x="6125452" y="6166816"/>
              <a:ext cx="5762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ＭＳ Ｐゴシック" charset="0"/>
                  <a:cs typeface="+mn-cs"/>
                </a:rPr>
                <a:t>time</a:t>
              </a:r>
            </a:p>
          </p:txBody>
        </p:sp>
      </p:grpSp>
      <p:grpSp>
        <p:nvGrpSpPr>
          <p:cNvPr id="9" name="Group 8">
            <a:extLst>
              <a:ext uri="{FF2B5EF4-FFF2-40B4-BE49-F238E27FC236}">
                <a16:creationId xmlns:a16="http://schemas.microsoft.com/office/drawing/2014/main" id="{CE38AC8E-A4ED-7042-8221-EEFB417FF7BA}"/>
              </a:ext>
            </a:extLst>
          </p:cNvPr>
          <p:cNvGrpSpPr/>
          <p:nvPr/>
        </p:nvGrpSpPr>
        <p:grpSpPr>
          <a:xfrm>
            <a:off x="965200" y="2146300"/>
            <a:ext cx="5054600" cy="1905000"/>
            <a:chOff x="0" y="4533900"/>
            <a:chExt cx="4762500" cy="1905000"/>
          </a:xfrm>
        </p:grpSpPr>
        <p:sp>
          <p:nvSpPr>
            <p:cNvPr id="3" name="Rectangle 2">
              <a:extLst>
                <a:ext uri="{FF2B5EF4-FFF2-40B4-BE49-F238E27FC236}">
                  <a16:creationId xmlns:a16="http://schemas.microsoft.com/office/drawing/2014/main" id="{EA9A0FF2-0607-BD44-8404-E086F64972BE}"/>
                </a:ext>
              </a:extLst>
            </p:cNvPr>
            <p:cNvSpPr/>
            <p:nvPr/>
          </p:nvSpPr>
          <p:spPr>
            <a:xfrm>
              <a:off x="406846" y="4737100"/>
              <a:ext cx="4334880" cy="1435100"/>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Rectangle 8">
              <a:extLst>
                <a:ext uri="{FF2B5EF4-FFF2-40B4-BE49-F238E27FC236}">
                  <a16:creationId xmlns:a16="http://schemas.microsoft.com/office/drawing/2014/main" id="{83C5ED77-5FA7-AC4C-AB2A-245D62DB4EB6}"/>
                </a:ext>
              </a:extLst>
            </p:cNvPr>
            <p:cNvSpPr>
              <a:spLocks noChangeArrowheads="1"/>
            </p:cNvSpPr>
            <p:nvPr/>
          </p:nvSpPr>
          <p:spPr bwMode="auto">
            <a:xfrm>
              <a:off x="0" y="4991100"/>
              <a:ext cx="4762500" cy="144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a:ea typeface="ＭＳ Ｐゴシック" charset="0"/>
                  <a:cs typeface="+mn-cs"/>
                </a:rPr>
                <a:t>increase sending rate </a:t>
              </a:r>
              <a:r>
                <a:rPr kumimoji="0" lang="en-US" sz="2600" b="0" i="0" u="none" strike="noStrike" kern="1200" cap="none" spc="0" normalizeH="0" baseline="0" noProof="0" dirty="0">
                  <a:ln>
                    <a:noFill/>
                  </a:ln>
                  <a:solidFill>
                    <a:prstClr val="black"/>
                  </a:solidFill>
                  <a:effectLst/>
                  <a:uLnTx/>
                  <a:uFillTx/>
                  <a:latin typeface="Gill Sans MT" charset="0"/>
                  <a:ea typeface="ＭＳ Ｐゴシック" charset="0"/>
                  <a:cs typeface="+mn-cs"/>
                </a:rPr>
                <a:t>by </a:t>
              </a: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 maximum segment size every RTT until loss detected</a:t>
              </a:r>
              <a:endParaRPr kumimoji="0" lang="en-US" sz="26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36" name="Rectangle 8">
              <a:extLst>
                <a:ext uri="{FF2B5EF4-FFF2-40B4-BE49-F238E27FC236}">
                  <a16:creationId xmlns:a16="http://schemas.microsoft.com/office/drawing/2014/main" id="{91ECB6E6-4418-7243-B13D-E7E4DAE72D34}"/>
                </a:ext>
              </a:extLst>
            </p:cNvPr>
            <p:cNvSpPr>
              <a:spLocks noChangeArrowheads="1"/>
            </p:cNvSpPr>
            <p:nvPr/>
          </p:nvSpPr>
          <p:spPr bwMode="auto">
            <a:xfrm>
              <a:off x="508000" y="4533900"/>
              <a:ext cx="2667000"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A</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dditive </a:t>
              </a: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I</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ncrease</a:t>
              </a:r>
              <a:endParaRPr kumimoji="0" lang="en-US" sz="2800" b="0" i="0" u="none" strike="noStrike" kern="1200" cap="none" spc="0" normalizeH="0" baseline="0" noProof="0" dirty="0">
                <a:ln>
                  <a:noFill/>
                </a:ln>
                <a:solidFill>
                  <a:srgbClr val="00B050"/>
                </a:solidFill>
                <a:effectLst/>
                <a:uLnTx/>
                <a:uFillTx/>
                <a:latin typeface="Gill Sans MT" charset="0"/>
                <a:ea typeface="ＭＳ Ｐゴシック" charset="0"/>
                <a:cs typeface="+mn-cs"/>
              </a:endParaRPr>
            </a:p>
          </p:txBody>
        </p:sp>
      </p:grpSp>
      <p:grpSp>
        <p:nvGrpSpPr>
          <p:cNvPr id="63" name="Group 62">
            <a:extLst>
              <a:ext uri="{FF2B5EF4-FFF2-40B4-BE49-F238E27FC236}">
                <a16:creationId xmlns:a16="http://schemas.microsoft.com/office/drawing/2014/main" id="{29F4C833-80E3-E14A-98F5-D02EBF4C0AC6}"/>
              </a:ext>
            </a:extLst>
          </p:cNvPr>
          <p:cNvGrpSpPr/>
          <p:nvPr/>
        </p:nvGrpSpPr>
        <p:grpSpPr>
          <a:xfrm>
            <a:off x="6007100" y="2197100"/>
            <a:ext cx="4749800" cy="1422400"/>
            <a:chOff x="38100" y="4533900"/>
            <a:chExt cx="4749800" cy="1422400"/>
          </a:xfrm>
        </p:grpSpPr>
        <p:sp>
          <p:nvSpPr>
            <p:cNvPr id="64" name="Rectangle 63">
              <a:extLst>
                <a:ext uri="{FF2B5EF4-FFF2-40B4-BE49-F238E27FC236}">
                  <a16:creationId xmlns:a16="http://schemas.microsoft.com/office/drawing/2014/main" id="{7ED9889A-D576-6948-99EB-B6AAAAF94FF1}"/>
                </a:ext>
              </a:extLst>
            </p:cNvPr>
            <p:cNvSpPr/>
            <p:nvPr/>
          </p:nvSpPr>
          <p:spPr>
            <a:xfrm>
              <a:off x="342900" y="4686300"/>
              <a:ext cx="4267200" cy="12700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Rectangle 8">
              <a:extLst>
                <a:ext uri="{FF2B5EF4-FFF2-40B4-BE49-F238E27FC236}">
                  <a16:creationId xmlns:a16="http://schemas.microsoft.com/office/drawing/2014/main" id="{12492D08-6387-3C44-BE8F-DFB7A535E296}"/>
                </a:ext>
              </a:extLst>
            </p:cNvPr>
            <p:cNvSpPr>
              <a:spLocks noChangeArrowheads="1"/>
            </p:cNvSpPr>
            <p:nvPr/>
          </p:nvSpPr>
          <p:spPr bwMode="auto">
            <a:xfrm>
              <a:off x="38100" y="4991100"/>
              <a:ext cx="4749800" cy="825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sending rate in half at each loss event</a:t>
              </a:r>
              <a:endParaRPr kumimoji="0" lang="en-US" sz="2600" b="0" i="1" u="none" strike="noStrike" kern="1200" cap="none" spc="0" normalizeH="0" baseline="0" noProof="0" dirty="0">
                <a:ln>
                  <a:noFill/>
                </a:ln>
                <a:solidFill>
                  <a:prstClr val="black"/>
                </a:solidFill>
                <a:effectLst/>
                <a:uLnTx/>
                <a:uFillTx/>
                <a:latin typeface="Calibri"/>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66" name="Rectangle 8">
              <a:extLst>
                <a:ext uri="{FF2B5EF4-FFF2-40B4-BE49-F238E27FC236}">
                  <a16:creationId xmlns:a16="http://schemas.microsoft.com/office/drawing/2014/main" id="{4FA342B4-82DA-FE44-A283-F18BBA2F6E1B}"/>
                </a:ext>
              </a:extLst>
            </p:cNvPr>
            <p:cNvSpPr>
              <a:spLocks noChangeArrowheads="1"/>
            </p:cNvSpPr>
            <p:nvPr/>
          </p:nvSpPr>
          <p:spPr bwMode="auto">
            <a:xfrm>
              <a:off x="508000" y="4533900"/>
              <a:ext cx="3746500"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ultiplicative </a:t>
              </a: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D</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ecrease</a:t>
              </a:r>
              <a:endParaRPr kumimoji="0" lang="en-US" sz="2800" b="0" i="0" u="none" strike="noStrike" kern="1200" cap="none" spc="0" normalizeH="0" baseline="0" noProof="0" dirty="0">
                <a:ln>
                  <a:noFill/>
                </a:ln>
                <a:solidFill>
                  <a:srgbClr val="C00000"/>
                </a:solidFill>
                <a:effectLst/>
                <a:uLnTx/>
                <a:uFillTx/>
                <a:latin typeface="Gill Sans MT" charset="0"/>
                <a:ea typeface="ＭＳ Ｐゴシック" charset="0"/>
                <a:cs typeface="+mn-cs"/>
              </a:endParaRPr>
            </a:p>
          </p:txBody>
        </p:sp>
      </p:grpSp>
      <p:grpSp>
        <p:nvGrpSpPr>
          <p:cNvPr id="33" name="Group 32">
            <a:extLst>
              <a:ext uri="{FF2B5EF4-FFF2-40B4-BE49-F238E27FC236}">
                <a16:creationId xmlns:a16="http://schemas.microsoft.com/office/drawing/2014/main" id="{08B9E571-5EFE-DF45-ABEE-F217088B731C}"/>
              </a:ext>
            </a:extLst>
          </p:cNvPr>
          <p:cNvGrpSpPr/>
          <p:nvPr/>
        </p:nvGrpSpPr>
        <p:grpSpPr>
          <a:xfrm>
            <a:off x="3952943" y="3784600"/>
            <a:ext cx="3599234" cy="1591283"/>
            <a:chOff x="3965643" y="3797300"/>
            <a:chExt cx="3599234" cy="1591283"/>
          </a:xfrm>
        </p:grpSpPr>
        <p:grpSp>
          <p:nvGrpSpPr>
            <p:cNvPr id="32" name="Group 31">
              <a:extLst>
                <a:ext uri="{FF2B5EF4-FFF2-40B4-BE49-F238E27FC236}">
                  <a16:creationId xmlns:a16="http://schemas.microsoft.com/office/drawing/2014/main" id="{B98081F5-35B5-A849-A6DC-D92ECEF0752A}"/>
                </a:ext>
              </a:extLst>
            </p:cNvPr>
            <p:cNvGrpSpPr/>
            <p:nvPr/>
          </p:nvGrpSpPr>
          <p:grpSpPr>
            <a:xfrm>
              <a:off x="3965643" y="4159386"/>
              <a:ext cx="3599234" cy="1229197"/>
              <a:chOff x="3965643" y="4159386"/>
              <a:chExt cx="3599234" cy="1229197"/>
            </a:xfrm>
          </p:grpSpPr>
          <p:cxnSp>
            <p:nvCxnSpPr>
              <p:cNvPr id="11" name="Straight Arrow Connector 10">
                <a:extLst>
                  <a:ext uri="{FF2B5EF4-FFF2-40B4-BE49-F238E27FC236}">
                    <a16:creationId xmlns:a16="http://schemas.microsoft.com/office/drawing/2014/main" id="{01079667-0DAA-D94E-A312-DB3C9977FD14}"/>
                  </a:ext>
                </a:extLst>
              </p:cNvPr>
              <p:cNvCxnSpPr>
                <a:cxnSpLocks/>
              </p:cNvCxnSpPr>
              <p:nvPr/>
            </p:nvCxnSpPr>
            <p:spPr>
              <a:xfrm>
                <a:off x="3972128" y="4163438"/>
                <a:ext cx="0" cy="10562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4E7717F-1A0D-FF4E-812D-3FD618E53878}"/>
                  </a:ext>
                </a:extLst>
              </p:cNvPr>
              <p:cNvCxnSpPr>
                <a:cxnSpLocks/>
              </p:cNvCxnSpPr>
              <p:nvPr/>
            </p:nvCxnSpPr>
            <p:spPr>
              <a:xfrm>
                <a:off x="4480128" y="4163438"/>
                <a:ext cx="0" cy="12213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D125F63-AD27-6B45-AE19-4ABD9BFAAB03}"/>
                  </a:ext>
                </a:extLst>
              </p:cNvPr>
              <p:cNvCxnSpPr>
                <a:cxnSpLocks/>
              </p:cNvCxnSpPr>
              <p:nvPr/>
            </p:nvCxnSpPr>
            <p:spPr>
              <a:xfrm>
                <a:off x="5295630" y="4163438"/>
                <a:ext cx="0" cy="122514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72EFC86-C803-E843-B374-808FCECBC349}"/>
                  </a:ext>
                </a:extLst>
              </p:cNvPr>
              <p:cNvCxnSpPr>
                <a:cxnSpLocks/>
              </p:cNvCxnSpPr>
              <p:nvPr/>
            </p:nvCxnSpPr>
            <p:spPr>
              <a:xfrm>
                <a:off x="5964941" y="4171542"/>
                <a:ext cx="0" cy="120433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19D5D13-5D07-4C47-B49B-8AC41BCDCFBB}"/>
                  </a:ext>
                </a:extLst>
              </p:cNvPr>
              <p:cNvCxnSpPr>
                <a:cxnSpLocks/>
              </p:cNvCxnSpPr>
              <p:nvPr/>
            </p:nvCxnSpPr>
            <p:spPr>
              <a:xfrm>
                <a:off x="6794500" y="4165056"/>
                <a:ext cx="0" cy="11938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49C30FB-E09A-8645-AF59-0F93ED23D5ED}"/>
                  </a:ext>
                </a:extLst>
              </p:cNvPr>
              <p:cNvCxnSpPr>
                <a:cxnSpLocks/>
              </p:cNvCxnSpPr>
              <p:nvPr/>
            </p:nvCxnSpPr>
            <p:spPr>
              <a:xfrm>
                <a:off x="7559743" y="4159386"/>
                <a:ext cx="0" cy="110652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E80244-8AE8-9244-8BD7-F7A494EF70AA}"/>
                  </a:ext>
                </a:extLst>
              </p:cNvPr>
              <p:cNvCxnSpPr>
                <a:cxnSpLocks/>
              </p:cNvCxnSpPr>
              <p:nvPr/>
            </p:nvCxnSpPr>
            <p:spPr>
              <a:xfrm>
                <a:off x="3965643" y="4162357"/>
                <a:ext cx="3599234"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CA3311EB-6DA1-BE40-8300-E0A7E76CCC9C}"/>
                </a:ext>
              </a:extLst>
            </p:cNvPr>
            <p:cNvCxnSpPr/>
            <p:nvPr/>
          </p:nvCxnSpPr>
          <p:spPr>
            <a:xfrm>
              <a:off x="5651500" y="3797300"/>
              <a:ext cx="0" cy="3810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46745885-D0C9-5C4A-8189-6C1C08532D61}"/>
              </a:ext>
            </a:extLst>
          </p:cNvPr>
          <p:cNvGrpSpPr/>
          <p:nvPr/>
        </p:nvGrpSpPr>
        <p:grpSpPr>
          <a:xfrm>
            <a:off x="4108450" y="3622675"/>
            <a:ext cx="3819526" cy="1695450"/>
            <a:chOff x="4108450" y="3622675"/>
            <a:chExt cx="3819526" cy="1695450"/>
          </a:xfrm>
        </p:grpSpPr>
        <p:grpSp>
          <p:nvGrpSpPr>
            <p:cNvPr id="85" name="Group 84">
              <a:extLst>
                <a:ext uri="{FF2B5EF4-FFF2-40B4-BE49-F238E27FC236}">
                  <a16:creationId xmlns:a16="http://schemas.microsoft.com/office/drawing/2014/main" id="{CE8174FE-3375-6647-833E-1BBA1779B8E0}"/>
                </a:ext>
              </a:extLst>
            </p:cNvPr>
            <p:cNvGrpSpPr/>
            <p:nvPr/>
          </p:nvGrpSpPr>
          <p:grpSpPr>
            <a:xfrm>
              <a:off x="4108450" y="3975100"/>
              <a:ext cx="3819526" cy="1343025"/>
              <a:chOff x="4108450" y="3975100"/>
              <a:chExt cx="3819526" cy="1343025"/>
            </a:xfrm>
          </p:grpSpPr>
          <p:cxnSp>
            <p:nvCxnSpPr>
              <p:cNvPr id="61" name="Straight Arrow Connector 60">
                <a:extLst>
                  <a:ext uri="{FF2B5EF4-FFF2-40B4-BE49-F238E27FC236}">
                    <a16:creationId xmlns:a16="http://schemas.microsoft.com/office/drawing/2014/main" id="{D9182BCB-9C63-4F4E-9BFE-C6ED53E7206A}"/>
                  </a:ext>
                </a:extLst>
              </p:cNvPr>
              <p:cNvCxnSpPr>
                <a:cxnSpLocks/>
              </p:cNvCxnSpPr>
              <p:nvPr/>
            </p:nvCxnSpPr>
            <p:spPr>
              <a:xfrm flipH="1">
                <a:off x="7245350" y="3981450"/>
                <a:ext cx="679450" cy="125412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3A530988-F896-F240-A4FD-4D4D80C11F42}"/>
                  </a:ext>
                </a:extLst>
              </p:cNvPr>
              <p:cNvCxnSpPr>
                <a:cxnSpLocks/>
              </p:cNvCxnSpPr>
              <p:nvPr/>
            </p:nvCxnSpPr>
            <p:spPr>
              <a:xfrm flipH="1">
                <a:off x="4108450" y="3975100"/>
                <a:ext cx="3816350" cy="13398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6D2A9933-F916-0E46-A509-25FD8F001806}"/>
                  </a:ext>
                </a:extLst>
              </p:cNvPr>
              <p:cNvCxnSpPr>
                <a:cxnSpLocks/>
              </p:cNvCxnSpPr>
              <p:nvPr/>
            </p:nvCxnSpPr>
            <p:spPr>
              <a:xfrm flipH="1">
                <a:off x="5070475" y="3978275"/>
                <a:ext cx="2854325" cy="129857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BDE4AE1E-DD47-A648-8E75-B628D3E56B38}"/>
                  </a:ext>
                </a:extLst>
              </p:cNvPr>
              <p:cNvCxnSpPr>
                <a:cxnSpLocks/>
              </p:cNvCxnSpPr>
              <p:nvPr/>
            </p:nvCxnSpPr>
            <p:spPr>
              <a:xfrm flipH="1">
                <a:off x="5607050" y="3984625"/>
                <a:ext cx="2320926" cy="13335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2C801921-8F99-4345-AADF-C79B5379ABCC}"/>
                  </a:ext>
                </a:extLst>
              </p:cNvPr>
              <p:cNvCxnSpPr>
                <a:cxnSpLocks/>
              </p:cNvCxnSpPr>
              <p:nvPr/>
            </p:nvCxnSpPr>
            <p:spPr>
              <a:xfrm flipH="1">
                <a:off x="6565900" y="3984625"/>
                <a:ext cx="1358900" cy="11938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id="{E7A7E738-8F7C-B641-98A4-26125EAB1AA9}"/>
                </a:ext>
              </a:extLst>
            </p:cNvPr>
            <p:cNvCxnSpPr/>
            <p:nvPr/>
          </p:nvCxnSpPr>
          <p:spPr>
            <a:xfrm flipV="1">
              <a:off x="7921625" y="3622675"/>
              <a:ext cx="0" cy="35877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9" name="Slide Number Placeholder 2">
            <a:extLst>
              <a:ext uri="{FF2B5EF4-FFF2-40B4-BE49-F238E27FC236}">
                <a16:creationId xmlns:a16="http://schemas.microsoft.com/office/drawing/2014/main" id="{F67FBF66-1006-C849-9ABA-320AB4C17D7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53</a:t>
            </a:fld>
            <a:endParaRPr lang="en-US" dirty="0"/>
          </a:p>
        </p:txBody>
      </p:sp>
    </p:spTree>
    <p:extLst>
      <p:ext uri="{BB962C8B-B14F-4D97-AF65-F5344CB8AC3E}">
        <p14:creationId xmlns:p14="http://schemas.microsoft.com/office/powerpoint/2010/main" val="9389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up)">
                                      <p:cBhvr>
                                        <p:cTn id="24" dur="500"/>
                                        <p:tgtEl>
                                          <p:spTgt spid="3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up)">
                                      <p:cBhvr>
                                        <p:cTn id="32" dur="500"/>
                                        <p:tgtEl>
                                          <p:spTgt spid="43"/>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par>
                          <p:cTn id="58" fill="hold">
                            <p:stCondLst>
                              <p:cond delay="500"/>
                            </p:stCondLst>
                            <p:childTnLst>
                              <p:par>
                                <p:cTn id="59" presetID="22" presetClass="entr" presetSubtype="1" fill="hold" nodeType="afterEffect">
                                  <p:stCondLst>
                                    <p:cond delay="100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dissolve">
                                      <p:cBhvr>
                                        <p:cTn id="66" dur="500"/>
                                        <p:tgtEl>
                                          <p:spTgt spid="63"/>
                                        </p:tgtEl>
                                      </p:cBhvr>
                                    </p:animEffect>
                                  </p:childTnLst>
                                </p:cTn>
                              </p:par>
                              <p:par>
                                <p:cTn id="67" presetID="9" presetClass="exit" presetSubtype="0" fill="hold" nodeType="withEffect">
                                  <p:stCondLst>
                                    <p:cond delay="0"/>
                                  </p:stCondLst>
                                  <p:childTnLst>
                                    <p:animEffect transition="out" filter="dissolv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88"/>
                                        </p:tgtEl>
                                        <p:attrNameLst>
                                          <p:attrName>style.visibility</p:attrName>
                                        </p:attrNameLst>
                                      </p:cBhvr>
                                      <p:to>
                                        <p:strVal val="visible"/>
                                      </p:to>
                                    </p:set>
                                    <p:animEffect transition="in" filter="wipe(up)">
                                      <p:cBhvr>
                                        <p:cTn id="73" dur="50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dissolve">
                                      <p:cBhvr>
                                        <p:cTn id="78" dur="500"/>
                                        <p:tgtEl>
                                          <p:spTgt spid="141"/>
                                        </p:tgtEl>
                                      </p:cBhvr>
                                    </p:animEffect>
                                  </p:childTnLst>
                                </p:cTn>
                              </p:par>
                              <p:par>
                                <p:cTn id="79" presetID="9" presetClass="exit" presetSubtype="0" fill="hold" nodeType="withEffect">
                                  <p:stCondLst>
                                    <p:cond delay="0"/>
                                  </p:stCondLst>
                                  <p:childTnLst>
                                    <p:animEffect transition="out" filter="dissolve">
                                      <p:cBhvr>
                                        <p:cTn id="80" dur="500"/>
                                        <p:tgtEl>
                                          <p:spTgt spid="88"/>
                                        </p:tgtEl>
                                      </p:cBhvr>
                                    </p:animEffect>
                                    <p:set>
                                      <p:cBhvr>
                                        <p:cTn id="81" dur="1" fill="hold">
                                          <p:stCondLst>
                                            <p:cond delay="4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36" grpId="0" animBg="1"/>
      <p:bldP spid="37" grpId="0" animBg="1"/>
      <p:bldP spid="38" grpId="0" animBg="1"/>
      <p:bldP spid="39" grpId="0" animBg="1"/>
      <p:bldP spid="41" grpId="0" animBg="1"/>
      <p:bldP spid="43" grpId="0" animBg="1"/>
      <p:bldP spid="44" grpId="0" animBg="1"/>
      <p:bldP spid="45" grpId="0" animBg="1"/>
      <p:bldP spid="46" grpId="0" animBg="1"/>
      <p:bldP spid="47" grpId="0" animBg="1"/>
      <p:bldP spid="4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b="0" dirty="0"/>
              <a:t>TCP AIMD: more</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361440"/>
            <a:ext cx="9847580" cy="17678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Multiplicative decrease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detail:  sending rate is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in half on loss detected by triple duplicate ACK (TCP Reno)</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to 1 MSS (maximum segment size) when loss detected by timeout (TCP Tahoe)</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49" name="Rectangle 8">
            <a:extLst>
              <a:ext uri="{FF2B5EF4-FFF2-40B4-BE49-F238E27FC236}">
                <a16:creationId xmlns:a16="http://schemas.microsoft.com/office/drawing/2014/main" id="{FEB15F8D-408A-A649-8405-2EA6EA738400}"/>
              </a:ext>
            </a:extLst>
          </p:cNvPr>
          <p:cNvSpPr>
            <a:spLocks noChangeArrowheads="1"/>
          </p:cNvSpPr>
          <p:nvPr/>
        </p:nvSpPr>
        <p:spPr bwMode="auto">
          <a:xfrm>
            <a:off x="861060" y="3362960"/>
            <a:ext cx="9847580" cy="17678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Why</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A</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a:t>
            </a:r>
            <a:r>
              <a:rPr kumimoji="0" lang="en-US" sz="2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AIMD – a distributed, asynchronous algorithm – has been shown to:</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optimize congested flow rates network wide!</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have desirable stability properties</a:t>
            </a:r>
          </a:p>
          <a:p>
            <a:pPr marL="10160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5" name="Slide Number Placeholder 2">
            <a:extLst>
              <a:ext uri="{FF2B5EF4-FFF2-40B4-BE49-F238E27FC236}">
                <a16:creationId xmlns:a16="http://schemas.microsoft.com/office/drawing/2014/main" id="{1DCE9A74-28EC-4B49-833C-3052DE20980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54</a:t>
            </a:fld>
            <a:endParaRPr lang="en-US" dirty="0"/>
          </a:p>
        </p:txBody>
      </p:sp>
    </p:spTree>
    <p:extLst>
      <p:ext uri="{BB962C8B-B14F-4D97-AF65-F5344CB8AC3E}">
        <p14:creationId xmlns:p14="http://schemas.microsoft.com/office/powerpoint/2010/main" val="213091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59443"/>
            <a:ext cx="11393310" cy="894622"/>
          </a:xfrm>
        </p:spPr>
        <p:txBody>
          <a:bodyPr>
            <a:normAutofit/>
          </a:bodyPr>
          <a:lstStyle/>
          <a:p>
            <a:r>
              <a:rPr lang="en-US" sz="4800" dirty="0"/>
              <a:t>TCP congestion control: details</a:t>
            </a:r>
            <a:endParaRPr lang="en-US" sz="4400" b="0" dirty="0"/>
          </a:p>
        </p:txBody>
      </p:sp>
      <p:grpSp>
        <p:nvGrpSpPr>
          <p:cNvPr id="6" name="Group 5">
            <a:extLst>
              <a:ext uri="{FF2B5EF4-FFF2-40B4-BE49-F238E27FC236}">
                <a16:creationId xmlns:a16="http://schemas.microsoft.com/office/drawing/2014/main" id="{E52FB642-7743-D04C-959D-0819117703FA}"/>
              </a:ext>
            </a:extLst>
          </p:cNvPr>
          <p:cNvGrpSpPr/>
          <p:nvPr/>
        </p:nvGrpSpPr>
        <p:grpSpPr>
          <a:xfrm>
            <a:off x="1116489" y="4838128"/>
            <a:ext cx="10034111" cy="1695450"/>
            <a:chOff x="1116489" y="4838128"/>
            <a:chExt cx="10034111" cy="1695450"/>
          </a:xfrm>
        </p:grpSpPr>
        <p:sp>
          <p:nvSpPr>
            <p:cNvPr id="17" name="Rectangle 16">
              <a:extLst>
                <a:ext uri="{FF2B5EF4-FFF2-40B4-BE49-F238E27FC236}">
                  <a16:creationId xmlns:a16="http://schemas.microsoft.com/office/drawing/2014/main" id="{0C3AD1E1-01ED-504A-8B9E-72DE11AF70D1}"/>
                </a:ext>
              </a:extLst>
            </p:cNvPr>
            <p:cNvSpPr/>
            <p:nvPr/>
          </p:nvSpPr>
          <p:spPr>
            <a:xfrm>
              <a:off x="5989208" y="4895568"/>
              <a:ext cx="5161392" cy="3651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3">
              <a:extLst>
                <a:ext uri="{FF2B5EF4-FFF2-40B4-BE49-F238E27FC236}">
                  <a16:creationId xmlns:a16="http://schemas.microsoft.com/office/drawing/2014/main" id="{A0DE5D89-38AB-C14E-891D-428C6A0ADF69}"/>
                </a:ext>
              </a:extLst>
            </p:cNvPr>
            <p:cNvSpPr txBox="1">
              <a:spLocks noChangeArrowheads="1"/>
            </p:cNvSpPr>
            <p:nvPr/>
          </p:nvSpPr>
          <p:spPr bwMode="auto">
            <a:xfrm>
              <a:off x="1116489" y="4838128"/>
              <a:ext cx="9628822" cy="1695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sender limits transmission:</a:t>
              </a:r>
            </a:p>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err="1">
                  <a:ln>
                    <a:noFill/>
                  </a:ln>
                  <a:solidFill>
                    <a:srgbClr val="000000"/>
                  </a:solidFill>
                  <a:effectLst/>
                  <a:uLnTx/>
                  <a:uFillTx/>
                  <a:latin typeface="Courier" pitchFamily="2" charset="0"/>
                  <a:ea typeface="ＭＳ Ｐゴシック" charset="0"/>
                  <a:cs typeface="+mn-cs"/>
                </a:rPr>
                <a:t>cwnd</a:t>
              </a:r>
              <a:r>
                <a:rPr kumimoji="0" lang="en-US" sz="28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 </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is dynamically adjusted in response to observed network congestion (implementing TCP congestion control)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grpSp>
          <p:nvGrpSpPr>
            <p:cNvPr id="16" name="Group 15">
              <a:extLst>
                <a:ext uri="{FF2B5EF4-FFF2-40B4-BE49-F238E27FC236}">
                  <a16:creationId xmlns:a16="http://schemas.microsoft.com/office/drawing/2014/main" id="{33A34342-F85F-A641-8C18-F113159FACD0}"/>
                </a:ext>
              </a:extLst>
            </p:cNvPr>
            <p:cNvGrpSpPr/>
            <p:nvPr/>
          </p:nvGrpSpPr>
          <p:grpSpPr>
            <a:xfrm>
              <a:off x="6040008" y="4887177"/>
              <a:ext cx="4888123" cy="397144"/>
              <a:chOff x="5614194" y="4809655"/>
              <a:chExt cx="4888123" cy="397144"/>
            </a:xfrm>
          </p:grpSpPr>
          <p:sp>
            <p:nvSpPr>
              <p:cNvPr id="181" name="Text Box 71">
                <a:extLst>
                  <a:ext uri="{FF2B5EF4-FFF2-40B4-BE49-F238E27FC236}">
                    <a16:creationId xmlns:a16="http://schemas.microsoft.com/office/drawing/2014/main" id="{77C08B5B-9AE1-D240-830E-26ECD6D1665B}"/>
                  </a:ext>
                </a:extLst>
              </p:cNvPr>
              <p:cNvSpPr txBox="1">
                <a:spLocks noChangeArrowheads="1"/>
              </p:cNvSpPr>
              <p:nvPr/>
            </p:nvSpPr>
            <p:spPr bwMode="auto">
              <a:xfrm>
                <a:off x="5614194" y="4868630"/>
                <a:ext cx="4395788" cy="3381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25425" marR="0" lvl="0" indent="-225425"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LastByteSent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LastByteAcked</a:t>
                </a:r>
                <a:endParaRPr kumimoji="0" lang="en-US" sz="18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nvGrpSpPr>
              <p:cNvPr id="15" name="Group 14">
                <a:extLst>
                  <a:ext uri="{FF2B5EF4-FFF2-40B4-BE49-F238E27FC236}">
                    <a16:creationId xmlns:a16="http://schemas.microsoft.com/office/drawing/2014/main" id="{FED586FE-6CBA-AA48-85C7-A1A11BDABF7D}"/>
                  </a:ext>
                </a:extLst>
              </p:cNvPr>
              <p:cNvGrpSpPr/>
              <p:nvPr/>
            </p:nvGrpSpPr>
            <p:grpSpPr>
              <a:xfrm>
                <a:off x="9416467" y="4809655"/>
                <a:ext cx="1085850" cy="366713"/>
                <a:chOff x="7709188" y="4768381"/>
                <a:chExt cx="1085850" cy="366713"/>
              </a:xfrm>
            </p:grpSpPr>
            <p:grpSp>
              <p:nvGrpSpPr>
                <p:cNvPr id="182" name="Group 74">
                  <a:extLst>
                    <a:ext uri="{FF2B5EF4-FFF2-40B4-BE49-F238E27FC236}">
                      <a16:creationId xmlns:a16="http://schemas.microsoft.com/office/drawing/2014/main" id="{059D1AF2-00E8-024F-B782-BBF97100FEB7}"/>
                    </a:ext>
                  </a:extLst>
                </p:cNvPr>
                <p:cNvGrpSpPr>
                  <a:grpSpLocks/>
                </p:cNvGrpSpPr>
                <p:nvPr/>
              </p:nvGrpSpPr>
              <p:grpSpPr bwMode="auto">
                <a:xfrm>
                  <a:off x="7709188" y="4789019"/>
                  <a:ext cx="350837" cy="336550"/>
                  <a:chOff x="2059" y="2097"/>
                  <a:chExt cx="221" cy="212"/>
                </a:xfrm>
              </p:grpSpPr>
              <p:sp>
                <p:nvSpPr>
                  <p:cNvPr id="183" name="Text Box 72">
                    <a:extLst>
                      <a:ext uri="{FF2B5EF4-FFF2-40B4-BE49-F238E27FC236}">
                        <a16:creationId xmlns:a16="http://schemas.microsoft.com/office/drawing/2014/main" id="{50EA1644-3183-7A41-97FA-03AEA0F526B2}"/>
                      </a:ext>
                    </a:extLst>
                  </p:cNvPr>
                  <p:cNvSpPr txBox="1">
                    <a:spLocks noChangeArrowheads="1"/>
                  </p:cNvSpPr>
                  <p:nvPr/>
                </p:nvSpPr>
                <p:spPr bwMode="auto">
                  <a:xfrm>
                    <a:off x="2059" y="2097"/>
                    <a:ext cx="221"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Tahoma" charset="0"/>
                        <a:ea typeface="ＭＳ Ｐゴシック" charset="0"/>
                        <a:cs typeface="+mn-cs"/>
                      </a:rPr>
                      <a:t>&lt;</a:t>
                    </a:r>
                  </a:p>
                </p:txBody>
              </p:sp>
              <p:sp>
                <p:nvSpPr>
                  <p:cNvPr id="184" name="Line 73">
                    <a:extLst>
                      <a:ext uri="{FF2B5EF4-FFF2-40B4-BE49-F238E27FC236}">
                        <a16:creationId xmlns:a16="http://schemas.microsoft.com/office/drawing/2014/main" id="{B966005D-C4C4-C547-86E3-65FDA3A33E10}"/>
                      </a:ext>
                    </a:extLst>
                  </p:cNvPr>
                  <p:cNvSpPr>
                    <a:spLocks noChangeShapeType="1"/>
                  </p:cNvSpPr>
                  <p:nvPr/>
                </p:nvSpPr>
                <p:spPr bwMode="auto">
                  <a:xfrm>
                    <a:off x="2133" y="2269"/>
                    <a:ext cx="8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5" name="Text Box 75">
                  <a:extLst>
                    <a:ext uri="{FF2B5EF4-FFF2-40B4-BE49-F238E27FC236}">
                      <a16:creationId xmlns:a16="http://schemas.microsoft.com/office/drawing/2014/main" id="{4F80A37A-B578-A447-95BD-D5D7AC31E664}"/>
                    </a:ext>
                  </a:extLst>
                </p:cNvPr>
                <p:cNvSpPr txBox="1">
                  <a:spLocks noChangeArrowheads="1"/>
                </p:cNvSpPr>
                <p:nvPr/>
              </p:nvSpPr>
              <p:spPr bwMode="auto">
                <a:xfrm>
                  <a:off x="8064788" y="4768381"/>
                  <a:ext cx="7302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cwnd</a:t>
                  </a:r>
                  <a:endPar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grpSp>
      </p:grpSp>
      <p:sp>
        <p:nvSpPr>
          <p:cNvPr id="165" name="Rectangle 47">
            <a:extLst>
              <a:ext uri="{FF2B5EF4-FFF2-40B4-BE49-F238E27FC236}">
                <a16:creationId xmlns:a16="http://schemas.microsoft.com/office/drawing/2014/main" id="{DE6B816E-28FD-F042-BAC6-6005321F7326}"/>
              </a:ext>
            </a:extLst>
          </p:cNvPr>
          <p:cNvSpPr>
            <a:spLocks noChangeArrowheads="1"/>
          </p:cNvSpPr>
          <p:nvPr/>
        </p:nvSpPr>
        <p:spPr bwMode="auto">
          <a:xfrm>
            <a:off x="1314221" y="2927773"/>
            <a:ext cx="4503412" cy="10754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1" name="Group 10">
            <a:extLst>
              <a:ext uri="{FF2B5EF4-FFF2-40B4-BE49-F238E27FC236}">
                <a16:creationId xmlns:a16="http://schemas.microsoft.com/office/drawing/2014/main" id="{C2EB66EB-894C-A043-A360-C60A865F68A4}"/>
              </a:ext>
            </a:extLst>
          </p:cNvPr>
          <p:cNvGrpSpPr/>
          <p:nvPr/>
        </p:nvGrpSpPr>
        <p:grpSpPr>
          <a:xfrm>
            <a:off x="1289051" y="2849038"/>
            <a:ext cx="1267801" cy="861704"/>
            <a:chOff x="1289051" y="2849038"/>
            <a:chExt cx="1267801" cy="861704"/>
          </a:xfrm>
        </p:grpSpPr>
        <p:sp>
          <p:nvSpPr>
            <p:cNvPr id="168" name="Freeform 53">
              <a:extLst>
                <a:ext uri="{FF2B5EF4-FFF2-40B4-BE49-F238E27FC236}">
                  <a16:creationId xmlns:a16="http://schemas.microsoft.com/office/drawing/2014/main" id="{E3EEFD92-7050-9249-80C1-240C22D52535}"/>
                </a:ext>
              </a:extLst>
            </p:cNvPr>
            <p:cNvSpPr>
              <a:spLocks/>
            </p:cNvSpPr>
            <p:nvPr/>
          </p:nvSpPr>
          <p:spPr bwMode="auto">
            <a:xfrm>
              <a:off x="2369283" y="2849038"/>
              <a:ext cx="187569" cy="464732"/>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Lst>
              <a:ahLst/>
              <a:cxnLst>
                <a:cxn ang="T6">
                  <a:pos x="T0" y="T1"/>
                </a:cxn>
                <a:cxn ang="T7">
                  <a:pos x="T2" y="T3"/>
                </a:cxn>
                <a:cxn ang="T8">
                  <a:pos x="T4" y="T5"/>
                </a:cxn>
              </a:cxnLst>
              <a:rect l="0" t="0" r="r" b="b"/>
              <a:pathLst>
                <a:path w="91" h="242">
                  <a:moveTo>
                    <a:pt x="91" y="0"/>
                  </a:moveTo>
                  <a:lnTo>
                    <a:pt x="88" y="242"/>
                  </a:lnTo>
                  <a:lnTo>
                    <a:pt x="0" y="242"/>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57">
              <a:extLst>
                <a:ext uri="{FF2B5EF4-FFF2-40B4-BE49-F238E27FC236}">
                  <a16:creationId xmlns:a16="http://schemas.microsoft.com/office/drawing/2014/main" id="{4DCFBA68-55DB-2E45-83BC-59D80627D5D3}"/>
                </a:ext>
              </a:extLst>
            </p:cNvPr>
            <p:cNvSpPr txBox="1">
              <a:spLocks noChangeArrowheads="1"/>
            </p:cNvSpPr>
            <p:nvPr/>
          </p:nvSpPr>
          <p:spPr bwMode="auto">
            <a:xfrm>
              <a:off x="1289051" y="3119811"/>
              <a:ext cx="986168" cy="5909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Calibri" panose="020F0502020204030204"/>
                  <a:ea typeface="ＭＳ Ｐゴシック" charset="0"/>
                  <a:cs typeface="+mn-cs"/>
                </a:rPr>
                <a:t>ACKed</a:t>
              </a: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grpSp>
        <p:nvGrpSpPr>
          <p:cNvPr id="13" name="Group 12">
            <a:extLst>
              <a:ext uri="{FF2B5EF4-FFF2-40B4-BE49-F238E27FC236}">
                <a16:creationId xmlns:a16="http://schemas.microsoft.com/office/drawing/2014/main" id="{A8C3752B-025F-E94F-8654-13F54E9C670F}"/>
              </a:ext>
            </a:extLst>
          </p:cNvPr>
          <p:cNvGrpSpPr/>
          <p:nvPr/>
        </p:nvGrpSpPr>
        <p:grpSpPr>
          <a:xfrm>
            <a:off x="3824084" y="2948877"/>
            <a:ext cx="1759290" cy="1283237"/>
            <a:chOff x="3824084" y="2948877"/>
            <a:chExt cx="1759290" cy="1283237"/>
          </a:xfrm>
        </p:grpSpPr>
        <p:sp>
          <p:nvSpPr>
            <p:cNvPr id="172" name="Text Box 59">
              <a:extLst>
                <a:ext uri="{FF2B5EF4-FFF2-40B4-BE49-F238E27FC236}">
                  <a16:creationId xmlns:a16="http://schemas.microsoft.com/office/drawing/2014/main" id="{44BFDC0C-7E1F-194B-B1D5-936A1056896B}"/>
                </a:ext>
              </a:extLst>
            </p:cNvPr>
            <p:cNvSpPr txBox="1">
              <a:spLocks noChangeArrowheads="1"/>
            </p:cNvSpPr>
            <p:nvPr/>
          </p:nvSpPr>
          <p:spPr bwMode="auto">
            <a:xfrm>
              <a:off x="3979525" y="3890482"/>
              <a:ext cx="1603849" cy="3416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 sent</a:t>
              </a:r>
            </a:p>
          </p:txBody>
        </p:sp>
        <p:sp>
          <p:nvSpPr>
            <p:cNvPr id="180" name="Freeform 69">
              <a:extLst>
                <a:ext uri="{FF2B5EF4-FFF2-40B4-BE49-F238E27FC236}">
                  <a16:creationId xmlns:a16="http://schemas.microsoft.com/office/drawing/2014/main" id="{33A90F9A-C7CE-C44A-B81F-BFED1356069E}"/>
                </a:ext>
              </a:extLst>
            </p:cNvPr>
            <p:cNvSpPr>
              <a:spLocks/>
            </p:cNvSpPr>
            <p:nvPr/>
          </p:nvSpPr>
          <p:spPr bwMode="auto">
            <a:xfrm flipH="1">
              <a:off x="3824084" y="2948877"/>
              <a:ext cx="190240" cy="1102896"/>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id="{42CF5997-36CB-D147-BC28-3AEB4C853BEA}"/>
              </a:ext>
            </a:extLst>
          </p:cNvPr>
          <p:cNvGrpSpPr/>
          <p:nvPr/>
        </p:nvGrpSpPr>
        <p:grpSpPr>
          <a:xfrm>
            <a:off x="1289051" y="1292332"/>
            <a:ext cx="4641849" cy="1497173"/>
            <a:chOff x="1289051" y="1292332"/>
            <a:chExt cx="4641849" cy="1497173"/>
          </a:xfrm>
        </p:grpSpPr>
        <p:sp>
          <p:nvSpPr>
            <p:cNvPr id="104" name="Rectangle 12">
              <a:extLst>
                <a:ext uri="{FF2B5EF4-FFF2-40B4-BE49-F238E27FC236}">
                  <a16:creationId xmlns:a16="http://schemas.microsoft.com/office/drawing/2014/main" id="{04993FEE-920A-A241-8D22-76E5FD7EE6A9}"/>
                </a:ext>
              </a:extLst>
            </p:cNvPr>
            <p:cNvSpPr>
              <a:spLocks noChangeArrowheads="1"/>
            </p:cNvSpPr>
            <p:nvPr/>
          </p:nvSpPr>
          <p:spPr bwMode="auto">
            <a:xfrm>
              <a:off x="1370854" y="2034797"/>
              <a:ext cx="86000" cy="752789"/>
            </a:xfrm>
            <a:prstGeom prst="rect">
              <a:avLst/>
            </a:prstGeom>
            <a:gradFill rotWithShape="1">
              <a:gsLst>
                <a:gs pos="0">
                  <a:srgbClr val="FFFFFF"/>
                </a:gs>
                <a:gs pos="100000">
                  <a:srgbClr val="33CC33"/>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5" name="Rectangle 13">
              <a:extLst>
                <a:ext uri="{FF2B5EF4-FFF2-40B4-BE49-F238E27FC236}">
                  <a16:creationId xmlns:a16="http://schemas.microsoft.com/office/drawing/2014/main" id="{18E83275-ACB2-EC4C-B6DC-CBDA17C3A868}"/>
                </a:ext>
              </a:extLst>
            </p:cNvPr>
            <p:cNvSpPr>
              <a:spLocks noChangeArrowheads="1"/>
            </p:cNvSpPr>
            <p:nvPr/>
          </p:nvSpPr>
          <p:spPr bwMode="auto">
            <a:xfrm>
              <a:off x="1498805" y="2036716"/>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06" name="Rectangle 14">
              <a:extLst>
                <a:ext uri="{FF2B5EF4-FFF2-40B4-BE49-F238E27FC236}">
                  <a16:creationId xmlns:a16="http://schemas.microsoft.com/office/drawing/2014/main" id="{DAC860B7-5379-0C49-8B6D-4F42EEEC890F}"/>
                </a:ext>
              </a:extLst>
            </p:cNvPr>
            <p:cNvSpPr>
              <a:spLocks noChangeArrowheads="1"/>
            </p:cNvSpPr>
            <p:nvPr/>
          </p:nvSpPr>
          <p:spPr bwMode="auto">
            <a:xfrm>
              <a:off x="1628852"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07" name="Rectangle 15">
              <a:extLst>
                <a:ext uri="{FF2B5EF4-FFF2-40B4-BE49-F238E27FC236}">
                  <a16:creationId xmlns:a16="http://schemas.microsoft.com/office/drawing/2014/main" id="{850E3686-28F1-ED45-BCA0-8626CD94C24A}"/>
                </a:ext>
              </a:extLst>
            </p:cNvPr>
            <p:cNvSpPr>
              <a:spLocks noChangeArrowheads="1"/>
            </p:cNvSpPr>
            <p:nvPr/>
          </p:nvSpPr>
          <p:spPr bwMode="auto">
            <a:xfrm>
              <a:off x="1756801"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08" name="Rectangle 16">
              <a:extLst>
                <a:ext uri="{FF2B5EF4-FFF2-40B4-BE49-F238E27FC236}">
                  <a16:creationId xmlns:a16="http://schemas.microsoft.com/office/drawing/2014/main" id="{2B67993F-458E-AA4F-8BDA-DD554E74E999}"/>
                </a:ext>
              </a:extLst>
            </p:cNvPr>
            <p:cNvSpPr>
              <a:spLocks noChangeArrowheads="1"/>
            </p:cNvSpPr>
            <p:nvPr/>
          </p:nvSpPr>
          <p:spPr bwMode="auto">
            <a:xfrm>
              <a:off x="1882653"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09" name="Rectangle 17">
              <a:extLst>
                <a:ext uri="{FF2B5EF4-FFF2-40B4-BE49-F238E27FC236}">
                  <a16:creationId xmlns:a16="http://schemas.microsoft.com/office/drawing/2014/main" id="{0FAD288D-252F-5745-BF73-6A260AA674C3}"/>
                </a:ext>
              </a:extLst>
            </p:cNvPr>
            <p:cNvSpPr>
              <a:spLocks noChangeArrowheads="1"/>
            </p:cNvSpPr>
            <p:nvPr/>
          </p:nvSpPr>
          <p:spPr bwMode="auto">
            <a:xfrm>
              <a:off x="2010604"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0" name="Rectangle 18">
              <a:extLst>
                <a:ext uri="{FF2B5EF4-FFF2-40B4-BE49-F238E27FC236}">
                  <a16:creationId xmlns:a16="http://schemas.microsoft.com/office/drawing/2014/main" id="{F50804B5-A9B0-B741-A2CB-DC3CFBF3864F}"/>
                </a:ext>
              </a:extLst>
            </p:cNvPr>
            <p:cNvSpPr>
              <a:spLocks noChangeArrowheads="1"/>
            </p:cNvSpPr>
            <p:nvPr/>
          </p:nvSpPr>
          <p:spPr bwMode="auto">
            <a:xfrm>
              <a:off x="2132261"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1" name="Rectangle 19">
              <a:extLst>
                <a:ext uri="{FF2B5EF4-FFF2-40B4-BE49-F238E27FC236}">
                  <a16:creationId xmlns:a16="http://schemas.microsoft.com/office/drawing/2014/main" id="{E9319E92-5123-8943-BEB7-081DA31ABF1D}"/>
                </a:ext>
              </a:extLst>
            </p:cNvPr>
            <p:cNvSpPr>
              <a:spLocks noChangeArrowheads="1"/>
            </p:cNvSpPr>
            <p:nvPr/>
          </p:nvSpPr>
          <p:spPr bwMode="auto">
            <a:xfrm>
              <a:off x="2258113"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2" name="Rectangle 20">
              <a:extLst>
                <a:ext uri="{FF2B5EF4-FFF2-40B4-BE49-F238E27FC236}">
                  <a16:creationId xmlns:a16="http://schemas.microsoft.com/office/drawing/2014/main" id="{C56329EF-B8DA-E848-8471-F7AB6A81A0AD}"/>
                </a:ext>
              </a:extLst>
            </p:cNvPr>
            <p:cNvSpPr>
              <a:spLocks noChangeArrowheads="1"/>
            </p:cNvSpPr>
            <p:nvPr/>
          </p:nvSpPr>
          <p:spPr bwMode="auto">
            <a:xfrm>
              <a:off x="2383965"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3" name="Rectangle 21">
              <a:extLst>
                <a:ext uri="{FF2B5EF4-FFF2-40B4-BE49-F238E27FC236}">
                  <a16:creationId xmlns:a16="http://schemas.microsoft.com/office/drawing/2014/main" id="{B6EA82BD-4235-744C-8CC2-3D0E84463334}"/>
                </a:ext>
              </a:extLst>
            </p:cNvPr>
            <p:cNvSpPr>
              <a:spLocks noChangeArrowheads="1"/>
            </p:cNvSpPr>
            <p:nvPr/>
          </p:nvSpPr>
          <p:spPr bwMode="auto">
            <a:xfrm>
              <a:off x="2524500"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4" name="Rectangle 22">
              <a:extLst>
                <a:ext uri="{FF2B5EF4-FFF2-40B4-BE49-F238E27FC236}">
                  <a16:creationId xmlns:a16="http://schemas.microsoft.com/office/drawing/2014/main" id="{3AB484C5-F544-AD4F-AC56-F33B38DBB98F}"/>
                </a:ext>
              </a:extLst>
            </p:cNvPr>
            <p:cNvSpPr>
              <a:spLocks noChangeArrowheads="1"/>
            </p:cNvSpPr>
            <p:nvPr/>
          </p:nvSpPr>
          <p:spPr bwMode="auto">
            <a:xfrm>
              <a:off x="2654547" y="2036716"/>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5" name="Rectangle 23">
              <a:extLst>
                <a:ext uri="{FF2B5EF4-FFF2-40B4-BE49-F238E27FC236}">
                  <a16:creationId xmlns:a16="http://schemas.microsoft.com/office/drawing/2014/main" id="{1DD6947E-4A84-9D4E-B2FC-3A5E7F6D1E34}"/>
                </a:ext>
              </a:extLst>
            </p:cNvPr>
            <p:cNvSpPr>
              <a:spLocks noChangeArrowheads="1"/>
            </p:cNvSpPr>
            <p:nvPr/>
          </p:nvSpPr>
          <p:spPr bwMode="auto">
            <a:xfrm>
              <a:off x="2782498"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6" name="Rectangle 24">
              <a:extLst>
                <a:ext uri="{FF2B5EF4-FFF2-40B4-BE49-F238E27FC236}">
                  <a16:creationId xmlns:a16="http://schemas.microsoft.com/office/drawing/2014/main" id="{2A55A81B-B032-0840-A48D-1D5352A231AA}"/>
                </a:ext>
              </a:extLst>
            </p:cNvPr>
            <p:cNvSpPr>
              <a:spLocks noChangeArrowheads="1"/>
            </p:cNvSpPr>
            <p:nvPr/>
          </p:nvSpPr>
          <p:spPr bwMode="auto">
            <a:xfrm>
              <a:off x="2910447"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25">
              <a:extLst>
                <a:ext uri="{FF2B5EF4-FFF2-40B4-BE49-F238E27FC236}">
                  <a16:creationId xmlns:a16="http://schemas.microsoft.com/office/drawing/2014/main" id="{EBC4122E-0CCF-1548-9A66-7DCD08E748CD}"/>
                </a:ext>
              </a:extLst>
            </p:cNvPr>
            <p:cNvSpPr>
              <a:spLocks noChangeArrowheads="1"/>
            </p:cNvSpPr>
            <p:nvPr/>
          </p:nvSpPr>
          <p:spPr bwMode="auto">
            <a:xfrm>
              <a:off x="303839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26">
              <a:extLst>
                <a:ext uri="{FF2B5EF4-FFF2-40B4-BE49-F238E27FC236}">
                  <a16:creationId xmlns:a16="http://schemas.microsoft.com/office/drawing/2014/main" id="{DB7235A0-624C-DB45-8BCC-3CE6B91647F3}"/>
                </a:ext>
              </a:extLst>
            </p:cNvPr>
            <p:cNvSpPr>
              <a:spLocks noChangeArrowheads="1"/>
            </p:cNvSpPr>
            <p:nvPr/>
          </p:nvSpPr>
          <p:spPr bwMode="auto">
            <a:xfrm>
              <a:off x="316424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27">
              <a:extLst>
                <a:ext uri="{FF2B5EF4-FFF2-40B4-BE49-F238E27FC236}">
                  <a16:creationId xmlns:a16="http://schemas.microsoft.com/office/drawing/2014/main" id="{345917A5-9719-BB4F-9C0B-ACD89A8BB0F4}"/>
                </a:ext>
              </a:extLst>
            </p:cNvPr>
            <p:cNvSpPr>
              <a:spLocks noChangeArrowheads="1"/>
            </p:cNvSpPr>
            <p:nvPr/>
          </p:nvSpPr>
          <p:spPr bwMode="auto">
            <a:xfrm>
              <a:off x="328590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0" name="Rectangle 28">
              <a:extLst>
                <a:ext uri="{FF2B5EF4-FFF2-40B4-BE49-F238E27FC236}">
                  <a16:creationId xmlns:a16="http://schemas.microsoft.com/office/drawing/2014/main" id="{4C1474B9-991E-6847-8B01-DE0C95138525}"/>
                </a:ext>
              </a:extLst>
            </p:cNvPr>
            <p:cNvSpPr>
              <a:spLocks noChangeArrowheads="1"/>
            </p:cNvSpPr>
            <p:nvPr/>
          </p:nvSpPr>
          <p:spPr bwMode="auto">
            <a:xfrm>
              <a:off x="341175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1" name="Rectangle 29">
              <a:extLst>
                <a:ext uri="{FF2B5EF4-FFF2-40B4-BE49-F238E27FC236}">
                  <a16:creationId xmlns:a16="http://schemas.microsoft.com/office/drawing/2014/main" id="{1FEE069D-BAD8-8A43-9829-68BF4DBC5019}"/>
                </a:ext>
              </a:extLst>
            </p:cNvPr>
            <p:cNvSpPr>
              <a:spLocks noChangeArrowheads="1"/>
            </p:cNvSpPr>
            <p:nvPr/>
          </p:nvSpPr>
          <p:spPr bwMode="auto">
            <a:xfrm>
              <a:off x="3539708"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30">
              <a:extLst>
                <a:ext uri="{FF2B5EF4-FFF2-40B4-BE49-F238E27FC236}">
                  <a16:creationId xmlns:a16="http://schemas.microsoft.com/office/drawing/2014/main" id="{F6A54E32-B859-A84C-B9EB-275C556CD8B7}"/>
                </a:ext>
              </a:extLst>
            </p:cNvPr>
            <p:cNvSpPr>
              <a:spLocks noChangeArrowheads="1"/>
            </p:cNvSpPr>
            <p:nvPr/>
          </p:nvSpPr>
          <p:spPr bwMode="auto">
            <a:xfrm>
              <a:off x="3657170"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31">
              <a:extLst>
                <a:ext uri="{FF2B5EF4-FFF2-40B4-BE49-F238E27FC236}">
                  <a16:creationId xmlns:a16="http://schemas.microsoft.com/office/drawing/2014/main" id="{F693AF70-5D12-874C-A1FE-39895AB51D68}"/>
                </a:ext>
              </a:extLst>
            </p:cNvPr>
            <p:cNvSpPr>
              <a:spLocks noChangeArrowheads="1"/>
            </p:cNvSpPr>
            <p:nvPr/>
          </p:nvSpPr>
          <p:spPr bwMode="auto">
            <a:xfrm>
              <a:off x="3783022"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32">
              <a:extLst>
                <a:ext uri="{FF2B5EF4-FFF2-40B4-BE49-F238E27FC236}">
                  <a16:creationId xmlns:a16="http://schemas.microsoft.com/office/drawing/2014/main" id="{8AF2AC6B-DBDA-9B44-8499-2FA57D21931E}"/>
                </a:ext>
              </a:extLst>
            </p:cNvPr>
            <p:cNvSpPr>
              <a:spLocks noChangeArrowheads="1"/>
            </p:cNvSpPr>
            <p:nvPr/>
          </p:nvSpPr>
          <p:spPr bwMode="auto">
            <a:xfrm>
              <a:off x="3906778"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5" name="Rectangle 33">
              <a:extLst>
                <a:ext uri="{FF2B5EF4-FFF2-40B4-BE49-F238E27FC236}">
                  <a16:creationId xmlns:a16="http://schemas.microsoft.com/office/drawing/2014/main" id="{3C5EC589-0EEE-AA43-956D-7E1A6B8E7BEA}"/>
                </a:ext>
              </a:extLst>
            </p:cNvPr>
            <p:cNvSpPr>
              <a:spLocks noChangeArrowheads="1"/>
            </p:cNvSpPr>
            <p:nvPr/>
          </p:nvSpPr>
          <p:spPr bwMode="auto">
            <a:xfrm>
              <a:off x="4028435"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34">
              <a:extLst>
                <a:ext uri="{FF2B5EF4-FFF2-40B4-BE49-F238E27FC236}">
                  <a16:creationId xmlns:a16="http://schemas.microsoft.com/office/drawing/2014/main" id="{00489FD8-0BA0-844E-AA41-BDE801D2E271}"/>
                </a:ext>
              </a:extLst>
            </p:cNvPr>
            <p:cNvSpPr>
              <a:spLocks noChangeArrowheads="1"/>
            </p:cNvSpPr>
            <p:nvPr/>
          </p:nvSpPr>
          <p:spPr bwMode="auto">
            <a:xfrm>
              <a:off x="4156384"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7" name="Rectangle 35">
              <a:extLst>
                <a:ext uri="{FF2B5EF4-FFF2-40B4-BE49-F238E27FC236}">
                  <a16:creationId xmlns:a16="http://schemas.microsoft.com/office/drawing/2014/main" id="{7CDE0EFB-7CC4-304D-AD89-8FC08C1FBD45}"/>
                </a:ext>
              </a:extLst>
            </p:cNvPr>
            <p:cNvSpPr>
              <a:spLocks noChangeArrowheads="1"/>
            </p:cNvSpPr>
            <p:nvPr/>
          </p:nvSpPr>
          <p:spPr bwMode="auto">
            <a:xfrm>
              <a:off x="4282236"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8" name="Rectangle 36">
              <a:extLst>
                <a:ext uri="{FF2B5EF4-FFF2-40B4-BE49-F238E27FC236}">
                  <a16:creationId xmlns:a16="http://schemas.microsoft.com/office/drawing/2014/main" id="{6EECC216-B56D-D043-93ED-F50164EF4E4A}"/>
                </a:ext>
              </a:extLst>
            </p:cNvPr>
            <p:cNvSpPr>
              <a:spLocks noChangeArrowheads="1"/>
            </p:cNvSpPr>
            <p:nvPr/>
          </p:nvSpPr>
          <p:spPr bwMode="auto">
            <a:xfrm>
              <a:off x="4399698"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9" name="Rectangle 37">
              <a:extLst>
                <a:ext uri="{FF2B5EF4-FFF2-40B4-BE49-F238E27FC236}">
                  <a16:creationId xmlns:a16="http://schemas.microsoft.com/office/drawing/2014/main" id="{2DDF4004-027D-3448-8C19-8E608E21464E}"/>
                </a:ext>
              </a:extLst>
            </p:cNvPr>
            <p:cNvSpPr>
              <a:spLocks noChangeArrowheads="1"/>
            </p:cNvSpPr>
            <p:nvPr/>
          </p:nvSpPr>
          <p:spPr bwMode="auto">
            <a:xfrm>
              <a:off x="4525550"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0" name="Rectangle 38">
              <a:extLst>
                <a:ext uri="{FF2B5EF4-FFF2-40B4-BE49-F238E27FC236}">
                  <a16:creationId xmlns:a16="http://schemas.microsoft.com/office/drawing/2014/main" id="{66B062CA-DE3B-DE43-ABC0-B0129B267927}"/>
                </a:ext>
              </a:extLst>
            </p:cNvPr>
            <p:cNvSpPr>
              <a:spLocks noChangeArrowheads="1"/>
            </p:cNvSpPr>
            <p:nvPr/>
          </p:nvSpPr>
          <p:spPr bwMode="auto">
            <a:xfrm>
              <a:off x="4653501"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Rectangle 39">
              <a:extLst>
                <a:ext uri="{FF2B5EF4-FFF2-40B4-BE49-F238E27FC236}">
                  <a16:creationId xmlns:a16="http://schemas.microsoft.com/office/drawing/2014/main" id="{B8FF22AA-6251-9B4A-8B71-33B1C663B36C}"/>
                </a:ext>
              </a:extLst>
            </p:cNvPr>
            <p:cNvSpPr>
              <a:spLocks noChangeArrowheads="1"/>
            </p:cNvSpPr>
            <p:nvPr/>
          </p:nvSpPr>
          <p:spPr bwMode="auto">
            <a:xfrm>
              <a:off x="4781450" y="2036716"/>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2" name="Rectangle 40">
              <a:extLst>
                <a:ext uri="{FF2B5EF4-FFF2-40B4-BE49-F238E27FC236}">
                  <a16:creationId xmlns:a16="http://schemas.microsoft.com/office/drawing/2014/main" id="{FAB9104E-A760-C644-B315-33CD7DEB1CB4}"/>
                </a:ext>
              </a:extLst>
            </p:cNvPr>
            <p:cNvSpPr>
              <a:spLocks noChangeArrowheads="1"/>
            </p:cNvSpPr>
            <p:nvPr/>
          </p:nvSpPr>
          <p:spPr bwMode="auto">
            <a:xfrm>
              <a:off x="49094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3" name="Rectangle 41">
              <a:extLst>
                <a:ext uri="{FF2B5EF4-FFF2-40B4-BE49-F238E27FC236}">
                  <a16:creationId xmlns:a16="http://schemas.microsoft.com/office/drawing/2014/main" id="{84289F99-D270-C140-AA7A-F6C4AFA078ED}"/>
                </a:ext>
              </a:extLst>
            </p:cNvPr>
            <p:cNvSpPr>
              <a:spLocks noChangeArrowheads="1"/>
            </p:cNvSpPr>
            <p:nvPr/>
          </p:nvSpPr>
          <p:spPr bwMode="auto">
            <a:xfrm>
              <a:off x="5039448"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Rectangle 42">
              <a:extLst>
                <a:ext uri="{FF2B5EF4-FFF2-40B4-BE49-F238E27FC236}">
                  <a16:creationId xmlns:a16="http://schemas.microsoft.com/office/drawing/2014/main" id="{CDFBFB7B-6E55-9045-8777-DB8B3B13C3C3}"/>
                </a:ext>
              </a:extLst>
            </p:cNvPr>
            <p:cNvSpPr>
              <a:spLocks noChangeArrowheads="1"/>
            </p:cNvSpPr>
            <p:nvPr/>
          </p:nvSpPr>
          <p:spPr bwMode="auto">
            <a:xfrm>
              <a:off x="51653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Rectangle 43">
              <a:extLst>
                <a:ext uri="{FF2B5EF4-FFF2-40B4-BE49-F238E27FC236}">
                  <a16:creationId xmlns:a16="http://schemas.microsoft.com/office/drawing/2014/main" id="{AD3CDD9F-C7EC-964D-A02B-C8B9C75CCDA9}"/>
                </a:ext>
              </a:extLst>
            </p:cNvPr>
            <p:cNvSpPr>
              <a:spLocks noChangeArrowheads="1"/>
            </p:cNvSpPr>
            <p:nvPr/>
          </p:nvSpPr>
          <p:spPr bwMode="auto">
            <a:xfrm>
              <a:off x="5291152"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Rectangle 44">
              <a:extLst>
                <a:ext uri="{FF2B5EF4-FFF2-40B4-BE49-F238E27FC236}">
                  <a16:creationId xmlns:a16="http://schemas.microsoft.com/office/drawing/2014/main" id="{A68B931F-B222-6643-B4DE-15E3E8354B18}"/>
                </a:ext>
              </a:extLst>
            </p:cNvPr>
            <p:cNvSpPr>
              <a:spLocks noChangeArrowheads="1"/>
            </p:cNvSpPr>
            <p:nvPr/>
          </p:nvSpPr>
          <p:spPr bwMode="auto">
            <a:xfrm>
              <a:off x="5412809"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3" name="Rectangle 45">
              <a:extLst>
                <a:ext uri="{FF2B5EF4-FFF2-40B4-BE49-F238E27FC236}">
                  <a16:creationId xmlns:a16="http://schemas.microsoft.com/office/drawing/2014/main" id="{7D3A9CBD-AC18-2744-9564-5C628A27F631}"/>
                </a:ext>
              </a:extLst>
            </p:cNvPr>
            <p:cNvSpPr>
              <a:spLocks noChangeArrowheads="1"/>
            </p:cNvSpPr>
            <p:nvPr/>
          </p:nvSpPr>
          <p:spPr bwMode="auto">
            <a:xfrm>
              <a:off x="5540759" y="2034797"/>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4" name="Rectangle 46">
              <a:extLst>
                <a:ext uri="{FF2B5EF4-FFF2-40B4-BE49-F238E27FC236}">
                  <a16:creationId xmlns:a16="http://schemas.microsoft.com/office/drawing/2014/main" id="{7BD5CB89-7651-AC4B-B6A7-CB76771F9558}"/>
                </a:ext>
              </a:extLst>
            </p:cNvPr>
            <p:cNvSpPr>
              <a:spLocks noChangeArrowheads="1"/>
            </p:cNvSpPr>
            <p:nvPr/>
          </p:nvSpPr>
          <p:spPr bwMode="auto">
            <a:xfrm>
              <a:off x="5666611" y="2034797"/>
              <a:ext cx="86000" cy="752789"/>
            </a:xfrm>
            <a:prstGeom prst="rect">
              <a:avLst/>
            </a:prstGeom>
            <a:gradFill rotWithShape="1">
              <a:gsLst>
                <a:gs pos="0">
                  <a:srgbClr val="B2B2B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6" name="Rectangle 48">
              <a:extLst>
                <a:ext uri="{FF2B5EF4-FFF2-40B4-BE49-F238E27FC236}">
                  <a16:creationId xmlns:a16="http://schemas.microsoft.com/office/drawing/2014/main" id="{22B83E8B-5347-B046-AB4A-F500B639B452}"/>
                </a:ext>
              </a:extLst>
            </p:cNvPr>
            <p:cNvSpPr>
              <a:spLocks noChangeArrowheads="1"/>
            </p:cNvSpPr>
            <p:nvPr/>
          </p:nvSpPr>
          <p:spPr bwMode="auto">
            <a:xfrm>
              <a:off x="1427488" y="1902290"/>
              <a:ext cx="4503412" cy="10754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3" name="Text Box 61">
              <a:extLst>
                <a:ext uri="{FF2B5EF4-FFF2-40B4-BE49-F238E27FC236}">
                  <a16:creationId xmlns:a16="http://schemas.microsoft.com/office/drawing/2014/main" id="{EC2166A2-B157-124D-AD95-CDDC7B2DDCB8}"/>
                </a:ext>
              </a:extLst>
            </p:cNvPr>
            <p:cNvSpPr txBox="1">
              <a:spLocks noChangeArrowheads="1"/>
            </p:cNvSpPr>
            <p:nvPr/>
          </p:nvSpPr>
          <p:spPr bwMode="auto">
            <a:xfrm>
              <a:off x="3220882" y="1648799"/>
              <a:ext cx="805454" cy="3437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ourier New" charset="0"/>
                  <a:ea typeface="ＭＳ Ｐゴシック" charset="0"/>
                  <a:cs typeface="+mn-cs"/>
                </a:rPr>
                <a:t>cwnd</a:t>
              </a:r>
              <a:endParaRPr kumimoji="0" lang="en-US" sz="1400" b="1" i="1" u="none" strike="noStrike" kern="1200" cap="none" spc="0" normalizeH="0" baseline="0" noProof="0">
                <a:ln>
                  <a:noFill/>
                </a:ln>
                <a:solidFill>
                  <a:srgbClr val="000000"/>
                </a:solidFill>
                <a:effectLst/>
                <a:uLnTx/>
                <a:uFillTx/>
                <a:latin typeface="Courier New" charset="0"/>
                <a:ea typeface="ＭＳ Ｐゴシック" charset="0"/>
                <a:cs typeface="+mn-cs"/>
              </a:endParaRPr>
            </a:p>
          </p:txBody>
        </p:sp>
        <p:grpSp>
          <p:nvGrpSpPr>
            <p:cNvPr id="174" name="Group 62">
              <a:extLst>
                <a:ext uri="{FF2B5EF4-FFF2-40B4-BE49-F238E27FC236}">
                  <a16:creationId xmlns:a16="http://schemas.microsoft.com/office/drawing/2014/main" id="{A2ECB346-2348-1D42-A5A0-3073BBFAF723}"/>
                </a:ext>
              </a:extLst>
            </p:cNvPr>
            <p:cNvGrpSpPr>
              <a:grpSpLocks/>
            </p:cNvGrpSpPr>
            <p:nvPr/>
          </p:nvGrpSpPr>
          <p:grpSpPr bwMode="auto">
            <a:xfrm>
              <a:off x="4022141" y="1750580"/>
              <a:ext cx="591506" cy="142108"/>
              <a:chOff x="4250" y="1692"/>
              <a:chExt cx="374" cy="86"/>
            </a:xfrm>
          </p:grpSpPr>
          <p:sp>
            <p:nvSpPr>
              <p:cNvPr id="175" name="Line 63">
                <a:extLst>
                  <a:ext uri="{FF2B5EF4-FFF2-40B4-BE49-F238E27FC236}">
                    <a16:creationId xmlns:a16="http://schemas.microsoft.com/office/drawing/2014/main" id="{D8AB4372-6622-194F-8B2C-95E11AB4BDB8}"/>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6" name="Line 64">
                <a:extLst>
                  <a:ext uri="{FF2B5EF4-FFF2-40B4-BE49-F238E27FC236}">
                    <a16:creationId xmlns:a16="http://schemas.microsoft.com/office/drawing/2014/main" id="{90113FC4-9E6C-1344-9A19-D18BED38D2E9}"/>
                  </a:ext>
                </a:extLst>
              </p:cNvPr>
              <p:cNvSpPr>
                <a:spLocks noChangeShapeType="1"/>
              </p:cNvSpPr>
              <p:nvPr/>
            </p:nvSpPr>
            <p:spPr bwMode="auto">
              <a:xfrm>
                <a:off x="4621" y="1692"/>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77" name="Group 65">
              <a:extLst>
                <a:ext uri="{FF2B5EF4-FFF2-40B4-BE49-F238E27FC236}">
                  <a16:creationId xmlns:a16="http://schemas.microsoft.com/office/drawing/2014/main" id="{DA340DC1-A02D-8B4C-B20C-F58E960E37E4}"/>
                </a:ext>
              </a:extLst>
            </p:cNvPr>
            <p:cNvGrpSpPr>
              <a:grpSpLocks/>
            </p:cNvGrpSpPr>
            <p:nvPr/>
          </p:nvGrpSpPr>
          <p:grpSpPr bwMode="auto">
            <a:xfrm rot="10800000">
              <a:off x="2650352" y="1773625"/>
              <a:ext cx="616676" cy="149790"/>
              <a:chOff x="4250" y="1692"/>
              <a:chExt cx="374" cy="86"/>
            </a:xfrm>
          </p:grpSpPr>
          <p:sp>
            <p:nvSpPr>
              <p:cNvPr id="178" name="Line 66">
                <a:extLst>
                  <a:ext uri="{FF2B5EF4-FFF2-40B4-BE49-F238E27FC236}">
                    <a16:creationId xmlns:a16="http://schemas.microsoft.com/office/drawing/2014/main" id="{996A9ACA-B6A9-274C-AF8C-6FDF8BEA33F2}"/>
                  </a:ext>
                </a:extLst>
              </p:cNvPr>
              <p:cNvSpPr>
                <a:spLocks noChangeShapeType="1"/>
              </p:cNvSpPr>
              <p:nvPr/>
            </p:nvSpPr>
            <p:spPr bwMode="auto">
              <a:xfrm>
                <a:off x="4260" y="1746"/>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9" name="Line 67">
                <a:extLst>
                  <a:ext uri="{FF2B5EF4-FFF2-40B4-BE49-F238E27FC236}">
                    <a16:creationId xmlns:a16="http://schemas.microsoft.com/office/drawing/2014/main" id="{1CAF8AD6-4F2D-AF41-B54A-FA702FB44D10}"/>
                  </a:ext>
                </a:extLst>
              </p:cNvPr>
              <p:cNvSpPr>
                <a:spLocks noChangeShapeType="1"/>
              </p:cNvSpPr>
              <p:nvPr/>
            </p:nvSpPr>
            <p:spPr bwMode="auto">
              <a:xfrm>
                <a:off x="4632" y="1700"/>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Text Box 78">
              <a:extLst>
                <a:ext uri="{FF2B5EF4-FFF2-40B4-BE49-F238E27FC236}">
                  <a16:creationId xmlns:a16="http://schemas.microsoft.com/office/drawing/2014/main" id="{084366A9-52AF-9848-912D-70AD364BF8CE}"/>
                </a:ext>
              </a:extLst>
            </p:cNvPr>
            <p:cNvSpPr txBox="1">
              <a:spLocks noChangeArrowheads="1"/>
            </p:cNvSpPr>
            <p:nvPr/>
          </p:nvSpPr>
          <p:spPr bwMode="auto">
            <a:xfrm>
              <a:off x="1289051" y="1292332"/>
              <a:ext cx="3220754" cy="3693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sender sequence number space </a:t>
              </a:r>
            </a:p>
          </p:txBody>
        </p:sp>
      </p:grpSp>
      <p:sp>
        <p:nvSpPr>
          <p:cNvPr id="198" name="Line 51">
            <a:extLst>
              <a:ext uri="{FF2B5EF4-FFF2-40B4-BE49-F238E27FC236}">
                <a16:creationId xmlns:a16="http://schemas.microsoft.com/office/drawing/2014/main" id="{E6E4B0C6-1414-3D4F-93A5-CCA3CEEBB668}"/>
              </a:ext>
            </a:extLst>
          </p:cNvPr>
          <p:cNvSpPr>
            <a:spLocks noChangeShapeType="1"/>
          </p:cNvSpPr>
          <p:nvPr/>
        </p:nvSpPr>
        <p:spPr bwMode="auto">
          <a:xfrm>
            <a:off x="3908860" y="2875555"/>
            <a:ext cx="700041"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14" name="Group 13">
            <a:extLst>
              <a:ext uri="{FF2B5EF4-FFF2-40B4-BE49-F238E27FC236}">
                <a16:creationId xmlns:a16="http://schemas.microsoft.com/office/drawing/2014/main" id="{BF77D345-5DCD-C84A-8957-E4F03648FFCF}"/>
              </a:ext>
            </a:extLst>
          </p:cNvPr>
          <p:cNvGrpSpPr/>
          <p:nvPr/>
        </p:nvGrpSpPr>
        <p:grpSpPr>
          <a:xfrm>
            <a:off x="4204169" y="2959619"/>
            <a:ext cx="1759165" cy="950582"/>
            <a:chOff x="4204169" y="2959619"/>
            <a:chExt cx="1759165" cy="950582"/>
          </a:xfrm>
        </p:grpSpPr>
        <p:sp>
          <p:nvSpPr>
            <p:cNvPr id="199" name="Freeform 69">
              <a:extLst>
                <a:ext uri="{FF2B5EF4-FFF2-40B4-BE49-F238E27FC236}">
                  <a16:creationId xmlns:a16="http://schemas.microsoft.com/office/drawing/2014/main" id="{59B379E2-D8BE-6243-B6FF-8D00B68FA2FC}"/>
                </a:ext>
              </a:extLst>
            </p:cNvPr>
            <p:cNvSpPr>
              <a:spLocks/>
            </p:cNvSpPr>
            <p:nvPr/>
          </p:nvSpPr>
          <p:spPr bwMode="auto">
            <a:xfrm flipH="1">
              <a:off x="4204169" y="2959619"/>
              <a:ext cx="190240" cy="549834"/>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00" name="Text Box 59">
              <a:extLst>
                <a:ext uri="{FF2B5EF4-FFF2-40B4-BE49-F238E27FC236}">
                  <a16:creationId xmlns:a16="http://schemas.microsoft.com/office/drawing/2014/main" id="{D18ACC8C-E30F-2B43-A012-02A119CFD507}"/>
                </a:ext>
              </a:extLst>
            </p:cNvPr>
            <p:cNvSpPr txBox="1">
              <a:spLocks noChangeArrowheads="1"/>
            </p:cNvSpPr>
            <p:nvPr/>
          </p:nvSpPr>
          <p:spPr bwMode="auto">
            <a:xfrm>
              <a:off x="4359485" y="3319270"/>
              <a:ext cx="1603849" cy="5909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available but not used</a:t>
              </a:r>
            </a:p>
          </p:txBody>
        </p:sp>
      </p:grpSp>
      <p:grpSp>
        <p:nvGrpSpPr>
          <p:cNvPr id="22" name="Group 21">
            <a:extLst>
              <a:ext uri="{FF2B5EF4-FFF2-40B4-BE49-F238E27FC236}">
                <a16:creationId xmlns:a16="http://schemas.microsoft.com/office/drawing/2014/main" id="{9DAB0D8A-F035-A446-BFCD-CB14C1FE358B}"/>
              </a:ext>
            </a:extLst>
          </p:cNvPr>
          <p:cNvGrpSpPr/>
          <p:nvPr/>
        </p:nvGrpSpPr>
        <p:grpSpPr>
          <a:xfrm>
            <a:off x="7180262" y="1455737"/>
            <a:ext cx="4592627" cy="2538364"/>
            <a:chOff x="7180262" y="1455737"/>
            <a:chExt cx="4592627" cy="2538364"/>
          </a:xfrm>
        </p:grpSpPr>
        <p:sp>
          <p:nvSpPr>
            <p:cNvPr id="103" name="Rectangle 4">
              <a:extLst>
                <a:ext uri="{FF2B5EF4-FFF2-40B4-BE49-F238E27FC236}">
                  <a16:creationId xmlns:a16="http://schemas.microsoft.com/office/drawing/2014/main" id="{3906FFA2-1D5C-7540-9050-9ADF12840292}"/>
                </a:ext>
              </a:extLst>
            </p:cNvPr>
            <p:cNvSpPr txBox="1">
              <a:spLocks noChangeArrowheads="1"/>
            </p:cNvSpPr>
            <p:nvPr/>
          </p:nvSpPr>
          <p:spPr bwMode="auto">
            <a:xfrm>
              <a:off x="7180262" y="1455737"/>
              <a:ext cx="4592627" cy="24479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sending behavior:</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1"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roughly:</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send </a:t>
              </a:r>
              <a:r>
                <a:rPr kumimoji="0" lang="en-US" sz="2800" b="0" i="0" u="none" strike="noStrike" kern="0" cap="none" spc="0" normalizeH="0" baseline="0" noProof="0" dirty="0" err="1">
                  <a:ln>
                    <a:noFill/>
                  </a:ln>
                  <a:solidFill>
                    <a:srgbClr val="000000"/>
                  </a:solidFill>
                  <a:effectLst/>
                  <a:uLnTx/>
                  <a:uFillTx/>
                  <a:latin typeface="Courier" pitchFamily="2" charset="0"/>
                  <a:ea typeface="ＭＳ Ｐゴシック" charset="0"/>
                  <a:cs typeface="+mn-cs"/>
                </a:rPr>
                <a:t>cwnd</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bytes, wait RTT for ACKS, then send more bytes</a:t>
              </a:r>
            </a:p>
          </p:txBody>
        </p:sp>
        <p:grpSp>
          <p:nvGrpSpPr>
            <p:cNvPr id="20" name="Group 19">
              <a:extLst>
                <a:ext uri="{FF2B5EF4-FFF2-40B4-BE49-F238E27FC236}">
                  <a16:creationId xmlns:a16="http://schemas.microsoft.com/office/drawing/2014/main" id="{57FB518A-5432-5D44-890D-C8AC56EDFDD2}"/>
                </a:ext>
              </a:extLst>
            </p:cNvPr>
            <p:cNvGrpSpPr/>
            <p:nvPr/>
          </p:nvGrpSpPr>
          <p:grpSpPr>
            <a:xfrm>
              <a:off x="7513131" y="3110983"/>
              <a:ext cx="3751561" cy="883118"/>
              <a:chOff x="6839655" y="3035314"/>
              <a:chExt cx="3751561" cy="883118"/>
            </a:xfrm>
          </p:grpSpPr>
          <p:sp>
            <p:nvSpPr>
              <p:cNvPr id="19" name="Rectangle 18">
                <a:extLst>
                  <a:ext uri="{FF2B5EF4-FFF2-40B4-BE49-F238E27FC236}">
                    <a16:creationId xmlns:a16="http://schemas.microsoft.com/office/drawing/2014/main" id="{C803E68F-787C-134C-96B7-EA9979048F4F}"/>
                  </a:ext>
                </a:extLst>
              </p:cNvPr>
              <p:cNvSpPr/>
              <p:nvPr/>
            </p:nvSpPr>
            <p:spPr>
              <a:xfrm>
                <a:off x="6839655" y="3035314"/>
                <a:ext cx="3751561" cy="883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C32ED096-06AB-7A4D-A7B5-17961E51AD24}"/>
                  </a:ext>
                </a:extLst>
              </p:cNvPr>
              <p:cNvGrpSpPr/>
              <p:nvPr/>
            </p:nvGrpSpPr>
            <p:grpSpPr>
              <a:xfrm>
                <a:off x="6869571" y="3107218"/>
                <a:ext cx="3634909" cy="811214"/>
                <a:chOff x="6694950" y="3614743"/>
                <a:chExt cx="3634909" cy="811214"/>
              </a:xfrm>
            </p:grpSpPr>
            <p:sp>
              <p:nvSpPr>
                <p:cNvPr id="188" name="Text Box 79">
                  <a:extLst>
                    <a:ext uri="{FF2B5EF4-FFF2-40B4-BE49-F238E27FC236}">
                      <a16:creationId xmlns:a16="http://schemas.microsoft.com/office/drawing/2014/main" id="{15B5BFBD-DF38-5B40-87E5-F81F37DAA736}"/>
                    </a:ext>
                  </a:extLst>
                </p:cNvPr>
                <p:cNvSpPr txBox="1">
                  <a:spLocks noChangeArrowheads="1"/>
                </p:cNvSpPr>
                <p:nvPr/>
              </p:nvSpPr>
              <p:spPr bwMode="auto">
                <a:xfrm>
                  <a:off x="6694950" y="3723809"/>
                  <a:ext cx="1390637"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rate</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189" name="Group 82">
                  <a:extLst>
                    <a:ext uri="{FF2B5EF4-FFF2-40B4-BE49-F238E27FC236}">
                      <a16:creationId xmlns:a16="http://schemas.microsoft.com/office/drawing/2014/main" id="{0CAF5E9A-5B2C-B84F-AC89-1EFE7DC4B6AF}"/>
                    </a:ext>
                  </a:extLst>
                </p:cNvPr>
                <p:cNvGrpSpPr>
                  <a:grpSpLocks/>
                </p:cNvGrpSpPr>
                <p:nvPr/>
              </p:nvGrpSpPr>
              <p:grpSpPr bwMode="auto">
                <a:xfrm>
                  <a:off x="7748588" y="3776663"/>
                  <a:ext cx="931863" cy="441325"/>
                  <a:chOff x="4214" y="2517"/>
                  <a:chExt cx="587" cy="278"/>
                </a:xfrm>
              </p:grpSpPr>
              <p:sp>
                <p:nvSpPr>
                  <p:cNvPr id="190" name="Text Box 80">
                    <a:extLst>
                      <a:ext uri="{FF2B5EF4-FFF2-40B4-BE49-F238E27FC236}">
                        <a16:creationId xmlns:a16="http://schemas.microsoft.com/office/drawing/2014/main" id="{36C86FAE-252E-5441-8D9C-64BC30C08F21}"/>
                      </a:ext>
                    </a:extLst>
                  </p:cNvPr>
                  <p:cNvSpPr txBox="1">
                    <a:spLocks noChangeArrowheads="1"/>
                  </p:cNvSpPr>
                  <p:nvPr/>
                </p:nvSpPr>
                <p:spPr bwMode="auto">
                  <a:xfrm>
                    <a:off x="4216" y="2517"/>
                    <a:ext cx="58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a:t>
                    </a:r>
                  </a:p>
                </p:txBody>
              </p:sp>
              <p:sp>
                <p:nvSpPr>
                  <p:cNvPr id="191" name="Text Box 81">
                    <a:extLst>
                      <a:ext uri="{FF2B5EF4-FFF2-40B4-BE49-F238E27FC236}">
                        <a16:creationId xmlns:a16="http://schemas.microsoft.com/office/drawing/2014/main" id="{CFDD21D8-7DD6-9E4E-82CD-89F60D95E895}"/>
                      </a:ext>
                    </a:extLst>
                  </p:cNvPr>
                  <p:cNvSpPr txBox="1">
                    <a:spLocks noChangeArrowheads="1"/>
                  </p:cNvSpPr>
                  <p:nvPr/>
                </p:nvSpPr>
                <p:spPr bwMode="auto">
                  <a:xfrm>
                    <a:off x="4214" y="2564"/>
                    <a:ext cx="58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a:t>
                    </a:r>
                  </a:p>
                </p:txBody>
              </p:sp>
            </p:grpSp>
            <p:grpSp>
              <p:nvGrpSpPr>
                <p:cNvPr id="192" name="Group 86">
                  <a:extLst>
                    <a:ext uri="{FF2B5EF4-FFF2-40B4-BE49-F238E27FC236}">
                      <a16:creationId xmlns:a16="http://schemas.microsoft.com/office/drawing/2014/main" id="{A6A8A6BC-4690-FD46-A7A2-F81368063A97}"/>
                    </a:ext>
                  </a:extLst>
                </p:cNvPr>
                <p:cNvGrpSpPr>
                  <a:grpSpLocks/>
                </p:cNvGrpSpPr>
                <p:nvPr/>
              </p:nvGrpSpPr>
              <p:grpSpPr bwMode="auto">
                <a:xfrm>
                  <a:off x="8320082" y="3614743"/>
                  <a:ext cx="922336" cy="811214"/>
                  <a:chOff x="4335" y="2509"/>
                  <a:chExt cx="581" cy="511"/>
                </a:xfrm>
              </p:grpSpPr>
              <p:sp>
                <p:nvSpPr>
                  <p:cNvPr id="193" name="Text Box 83">
                    <a:extLst>
                      <a:ext uri="{FF2B5EF4-FFF2-40B4-BE49-F238E27FC236}">
                        <a16:creationId xmlns:a16="http://schemas.microsoft.com/office/drawing/2014/main" id="{2EABE0BC-E93A-7840-BC78-8917BD66E877}"/>
                      </a:ext>
                    </a:extLst>
                  </p:cNvPr>
                  <p:cNvSpPr txBox="1">
                    <a:spLocks noChangeArrowheads="1"/>
                  </p:cNvSpPr>
                  <p:nvPr/>
                </p:nvSpPr>
                <p:spPr bwMode="auto">
                  <a:xfrm>
                    <a:off x="4335" y="2509"/>
                    <a:ext cx="58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err="1">
                        <a:ln>
                          <a:noFill/>
                        </a:ln>
                        <a:solidFill>
                          <a:srgbClr val="000000"/>
                        </a:solidFill>
                        <a:effectLst/>
                        <a:uLnTx/>
                        <a:uFillTx/>
                        <a:latin typeface="Courier" pitchFamily="2" charset="0"/>
                        <a:ea typeface="ＭＳ Ｐゴシック" charset="0"/>
                        <a:cs typeface="+mn-cs"/>
                      </a:rPr>
                      <a:t>cwnd</a:t>
                    </a:r>
                    <a:endParaRPr kumimoji="0" lang="en-US" sz="2400" b="0" i="0" u="none" strike="noStrike" kern="0" cap="none" spc="0" normalizeH="0" baseline="0" noProof="0" dirty="0">
                      <a:ln>
                        <a:noFill/>
                      </a:ln>
                      <a:solidFill>
                        <a:srgbClr val="000000"/>
                      </a:solidFill>
                      <a:effectLst/>
                      <a:uLnTx/>
                      <a:uFillTx/>
                      <a:latin typeface="Courier" pitchFamily="2" charset="0"/>
                      <a:ea typeface="ＭＳ Ｐゴシック" charset="0"/>
                      <a:cs typeface="+mn-cs"/>
                    </a:endParaRPr>
                  </a:p>
                </p:txBody>
              </p:sp>
              <p:sp>
                <p:nvSpPr>
                  <p:cNvPr id="194" name="Text Box 84">
                    <a:extLst>
                      <a:ext uri="{FF2B5EF4-FFF2-40B4-BE49-F238E27FC236}">
                        <a16:creationId xmlns:a16="http://schemas.microsoft.com/office/drawing/2014/main" id="{FC380433-330D-4342-82B3-E71BEB72AF06}"/>
                      </a:ext>
                    </a:extLst>
                  </p:cNvPr>
                  <p:cNvSpPr txBox="1">
                    <a:spLocks noChangeArrowheads="1"/>
                  </p:cNvSpPr>
                  <p:nvPr/>
                </p:nvSpPr>
                <p:spPr bwMode="auto">
                  <a:xfrm>
                    <a:off x="4398" y="2729"/>
                    <a:ext cx="46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rPr>
                      <a:t>RTT</a:t>
                    </a:r>
                  </a:p>
                </p:txBody>
              </p:sp>
              <p:sp>
                <p:nvSpPr>
                  <p:cNvPr id="195" name="Line 85">
                    <a:extLst>
                      <a:ext uri="{FF2B5EF4-FFF2-40B4-BE49-F238E27FC236}">
                        <a16:creationId xmlns:a16="http://schemas.microsoft.com/office/drawing/2014/main" id="{1B9F9DB8-E2FB-AE45-88BA-CC221F1D6597}"/>
                      </a:ext>
                    </a:extLst>
                  </p:cNvPr>
                  <p:cNvSpPr>
                    <a:spLocks noChangeShapeType="1"/>
                  </p:cNvSpPr>
                  <p:nvPr/>
                </p:nvSpPr>
                <p:spPr bwMode="auto">
                  <a:xfrm>
                    <a:off x="4430" y="2763"/>
                    <a:ext cx="384"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6" name="Text Box 87">
                  <a:extLst>
                    <a:ext uri="{FF2B5EF4-FFF2-40B4-BE49-F238E27FC236}">
                      <a16:creationId xmlns:a16="http://schemas.microsoft.com/office/drawing/2014/main" id="{2A51BBA4-2F14-2F4F-A04D-EFFFF36AF41D}"/>
                    </a:ext>
                  </a:extLst>
                </p:cNvPr>
                <p:cNvSpPr txBox="1">
                  <a:spLocks noChangeArrowheads="1"/>
                </p:cNvSpPr>
                <p:nvPr/>
              </p:nvSpPr>
              <p:spPr bwMode="auto">
                <a:xfrm>
                  <a:off x="9141713" y="3823464"/>
                  <a:ext cx="1188146"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bytes/sec</a:t>
                  </a:r>
                </a:p>
              </p:txBody>
            </p:sp>
          </p:grpSp>
        </p:grpSp>
      </p:grpSp>
      <p:grpSp>
        <p:nvGrpSpPr>
          <p:cNvPr id="21" name="Group 20">
            <a:extLst>
              <a:ext uri="{FF2B5EF4-FFF2-40B4-BE49-F238E27FC236}">
                <a16:creationId xmlns:a16="http://schemas.microsoft.com/office/drawing/2014/main" id="{0B0449D2-8107-EC4E-BA6E-0B53574C5B7E}"/>
              </a:ext>
            </a:extLst>
          </p:cNvPr>
          <p:cNvGrpSpPr/>
          <p:nvPr/>
        </p:nvGrpSpPr>
        <p:grpSpPr>
          <a:xfrm>
            <a:off x="2327097" y="2874002"/>
            <a:ext cx="1660913" cy="1379180"/>
            <a:chOff x="2327097" y="2874002"/>
            <a:chExt cx="1660913" cy="1379180"/>
          </a:xfrm>
        </p:grpSpPr>
        <p:sp>
          <p:nvSpPr>
            <p:cNvPr id="171" name="Text Box 58">
              <a:extLst>
                <a:ext uri="{FF2B5EF4-FFF2-40B4-BE49-F238E27FC236}">
                  <a16:creationId xmlns:a16="http://schemas.microsoft.com/office/drawing/2014/main" id="{245049EB-D632-CE4C-A587-BA819860D407}"/>
                </a:ext>
              </a:extLst>
            </p:cNvPr>
            <p:cNvSpPr txBox="1">
              <a:spLocks noChangeArrowheads="1"/>
            </p:cNvSpPr>
            <p:nvPr/>
          </p:nvSpPr>
          <p:spPr bwMode="auto">
            <a:xfrm>
              <a:off x="2327097" y="3412952"/>
              <a:ext cx="1660913" cy="8402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sent, </a:t>
              </a:r>
              <a:r>
                <a:rPr kumimoji="0" lang="en-US" altLang="en-US" sz="1800" b="0" i="0" u="none" strike="noStrike" kern="0" cap="none" spc="0" normalizeH="0" baseline="0" noProof="0" dirty="0" err="1">
                  <a:ln>
                    <a:noFill/>
                  </a:ln>
                  <a:solidFill>
                    <a:srgbClr val="000000"/>
                  </a:solidFill>
                  <a:effectLst/>
                  <a:uLnTx/>
                  <a:uFillTx/>
                  <a:latin typeface="Calibri" panose="020F0502020204030204"/>
                  <a:ea typeface="ＭＳ Ｐゴシック" panose="020B0600070205080204" pitchFamily="34" charset="-128"/>
                  <a:cs typeface="+mn-cs"/>
                </a:rPr>
                <a:t>bu</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t not-yet </a:t>
              </a:r>
              <a:r>
                <a:rPr kumimoji="0" lang="en-US" altLang="en-US" sz="1800" b="0" i="0" u="none" strike="noStrike" kern="0" cap="none" spc="0" normalizeH="0" baseline="0" noProof="0" dirty="0" err="1">
                  <a:ln>
                    <a:noFill/>
                  </a:ln>
                  <a:solidFill>
                    <a:srgbClr val="000000"/>
                  </a:solidFill>
                  <a:effectLst/>
                  <a:uLnTx/>
                  <a:uFillTx/>
                  <a:latin typeface="Calibri" panose="020F0502020204030204"/>
                  <a:ea typeface="ＭＳ Ｐゴシック" panose="020B0600070205080204" pitchFamily="34" charset="-128"/>
                  <a:cs typeface="+mn-cs"/>
                </a:rPr>
                <a:t>ACKed</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in-flight”)</a:t>
              </a:r>
              <a:endParaRPr kumimoji="0" lang="en-US" altLang="en-US" sz="16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12" name="Group 11">
              <a:extLst>
                <a:ext uri="{FF2B5EF4-FFF2-40B4-BE49-F238E27FC236}">
                  <a16:creationId xmlns:a16="http://schemas.microsoft.com/office/drawing/2014/main" id="{8036A4AF-C412-6643-BB9E-A6741086FD03}"/>
                </a:ext>
              </a:extLst>
            </p:cNvPr>
            <p:cNvGrpSpPr/>
            <p:nvPr/>
          </p:nvGrpSpPr>
          <p:grpSpPr>
            <a:xfrm>
              <a:off x="2644060" y="2874002"/>
              <a:ext cx="1201888" cy="658131"/>
              <a:chOff x="2644060" y="2874003"/>
              <a:chExt cx="1201888" cy="635450"/>
            </a:xfrm>
          </p:grpSpPr>
          <p:sp>
            <p:nvSpPr>
              <p:cNvPr id="167" name="Line 51">
                <a:extLst>
                  <a:ext uri="{FF2B5EF4-FFF2-40B4-BE49-F238E27FC236}">
                    <a16:creationId xmlns:a16="http://schemas.microsoft.com/office/drawing/2014/main" id="{82259C8B-8E68-3B45-95EF-6297D889F723}"/>
                  </a:ext>
                </a:extLst>
              </p:cNvPr>
              <p:cNvSpPr>
                <a:spLocks noChangeShapeType="1"/>
              </p:cNvSpPr>
              <p:nvPr/>
            </p:nvSpPr>
            <p:spPr bwMode="auto">
              <a:xfrm>
                <a:off x="2644060" y="2874003"/>
                <a:ext cx="1201888"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cxnSp>
            <p:nvCxnSpPr>
              <p:cNvPr id="8" name="Straight Connector 7">
                <a:extLst>
                  <a:ext uri="{FF2B5EF4-FFF2-40B4-BE49-F238E27FC236}">
                    <a16:creationId xmlns:a16="http://schemas.microsoft.com/office/drawing/2014/main" id="{9E977076-799D-1F4B-B884-156CBD02FF8A}"/>
                  </a:ext>
                </a:extLst>
              </p:cNvPr>
              <p:cNvCxnSpPr>
                <a:cxnSpLocks/>
              </p:cNvCxnSpPr>
              <p:nvPr/>
            </p:nvCxnSpPr>
            <p:spPr>
              <a:xfrm>
                <a:off x="2850877" y="2898008"/>
                <a:ext cx="0" cy="61144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88" name="Slide Number Placeholder 2">
            <a:extLst>
              <a:ext uri="{FF2B5EF4-FFF2-40B4-BE49-F238E27FC236}">
                <a16:creationId xmlns:a16="http://schemas.microsoft.com/office/drawing/2014/main" id="{F3E09B12-4970-4049-B7E9-4060B63F1FB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55</a:t>
            </a:fld>
            <a:endParaRPr lang="en-US" dirty="0"/>
          </a:p>
        </p:txBody>
      </p:sp>
    </p:spTree>
    <p:extLst>
      <p:ext uri="{BB962C8B-B14F-4D97-AF65-F5344CB8AC3E}">
        <p14:creationId xmlns:p14="http://schemas.microsoft.com/office/powerpoint/2010/main" val="236382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dissolve">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9719"/>
            <a:ext cx="11393310" cy="894622"/>
          </a:xfrm>
        </p:spPr>
        <p:txBody>
          <a:bodyPr>
            <a:normAutofit/>
          </a:bodyPr>
          <a:lstStyle/>
          <a:p>
            <a:r>
              <a:rPr lang="en-US" sz="4800" dirty="0"/>
              <a:t>TCP slow start </a:t>
            </a:r>
            <a:endParaRPr lang="en-US" sz="4400" b="0" dirty="0"/>
          </a:p>
        </p:txBody>
      </p:sp>
      <p:sp>
        <p:nvSpPr>
          <p:cNvPr id="88" name="Rectangle 3">
            <a:extLst>
              <a:ext uri="{FF2B5EF4-FFF2-40B4-BE49-F238E27FC236}">
                <a16:creationId xmlns:a16="http://schemas.microsoft.com/office/drawing/2014/main" id="{8A57114D-913B-0446-AF23-3E8C1F4B81CA}"/>
              </a:ext>
            </a:extLst>
          </p:cNvPr>
          <p:cNvSpPr txBox="1">
            <a:spLocks noChangeArrowheads="1"/>
          </p:cNvSpPr>
          <p:nvPr/>
        </p:nvSpPr>
        <p:spPr>
          <a:xfrm>
            <a:off x="1143000" y="1384299"/>
            <a:ext cx="5118100" cy="521425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connection begins, increase rate exponentially until first loss event: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initially </a:t>
            </a:r>
            <a:r>
              <a:rPr kumimoji="0" lang="en-US" sz="2800" b="1" i="0" u="none" strike="noStrike" kern="1200" cap="none" spc="0" normalizeH="0" baseline="0" noProof="0" dirty="0" err="1">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MSS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double </a:t>
            </a:r>
            <a:r>
              <a:rPr kumimoji="0" lang="en-US" sz="2800" b="1" i="0" u="none" strike="noStrike" kern="1200" cap="none" spc="0" normalizeH="0" baseline="0" noProof="0" dirty="0" err="1">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every RTT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done by incrementing </a:t>
            </a:r>
            <a:r>
              <a:rPr kumimoji="0" lang="en-US" sz="2800" b="1" i="0" u="none" strike="noStrike" kern="1200" cap="none" spc="0" normalizeH="0" baseline="0" noProof="0" dirty="0" err="1">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for every ACK received</a:t>
            </a:r>
          </a:p>
        </p:txBody>
      </p:sp>
      <p:sp>
        <p:nvSpPr>
          <p:cNvPr id="224" name="Line 6">
            <a:extLst>
              <a:ext uri="{FF2B5EF4-FFF2-40B4-BE49-F238E27FC236}">
                <a16:creationId xmlns:a16="http://schemas.microsoft.com/office/drawing/2014/main" id="{6A528287-EE91-2148-8BF9-9042AB1CFB64}"/>
              </a:ext>
            </a:extLst>
          </p:cNvPr>
          <p:cNvSpPr>
            <a:spLocks noChangeShapeType="1"/>
          </p:cNvSpPr>
          <p:nvPr/>
        </p:nvSpPr>
        <p:spPr bwMode="auto">
          <a:xfrm>
            <a:off x="7585075" y="230659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7181850" y="1168352"/>
            <a:ext cx="8699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Host A</a:t>
            </a:r>
          </a:p>
        </p:txBody>
      </p:sp>
      <p:sp>
        <p:nvSpPr>
          <p:cNvPr id="2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8591550" y="2273252"/>
            <a:ext cx="1208088"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one segment</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28"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9618663" y="1154065"/>
            <a:ext cx="86995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Host B</a:t>
            </a:r>
          </a:p>
        </p:txBody>
      </p:sp>
      <p:sp>
        <p:nvSpPr>
          <p:cNvPr id="229" name="Line 13">
            <a:extLst>
              <a:ext uri="{FF2B5EF4-FFF2-40B4-BE49-F238E27FC236}">
                <a16:creationId xmlns:a16="http://schemas.microsoft.com/office/drawing/2014/main" id="{A18AC8EC-DBD1-E34E-B3EA-D3876A530333}"/>
              </a:ext>
            </a:extLst>
          </p:cNvPr>
          <p:cNvSpPr>
            <a:spLocks noChangeShapeType="1"/>
          </p:cNvSpPr>
          <p:nvPr/>
        </p:nvSpPr>
        <p:spPr bwMode="auto">
          <a:xfrm>
            <a:off x="7580313" y="2120852"/>
            <a:ext cx="0" cy="3848100"/>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0" name="Line 14">
            <a:extLst>
              <a:ext uri="{FF2B5EF4-FFF2-40B4-BE49-F238E27FC236}">
                <a16:creationId xmlns:a16="http://schemas.microsoft.com/office/drawing/2014/main" id="{77B3310E-1B60-414E-9423-328982307B1D}"/>
              </a:ext>
            </a:extLst>
          </p:cNvPr>
          <p:cNvSpPr>
            <a:spLocks noChangeShapeType="1"/>
          </p:cNvSpPr>
          <p:nvPr/>
        </p:nvSpPr>
        <p:spPr bwMode="auto">
          <a:xfrm>
            <a:off x="10094913" y="2158952"/>
            <a:ext cx="0" cy="3848100"/>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E69B56F2-B7D2-5247-8C5B-11CDFE50D6C7}"/>
              </a:ext>
            </a:extLst>
          </p:cNvPr>
          <p:cNvGrpSpPr/>
          <p:nvPr/>
        </p:nvGrpSpPr>
        <p:grpSpPr>
          <a:xfrm>
            <a:off x="7254875" y="2270077"/>
            <a:ext cx="304800" cy="830263"/>
            <a:chOff x="7254875" y="2270077"/>
            <a:chExt cx="304800" cy="830263"/>
          </a:xfrm>
        </p:grpSpPr>
        <p:sp>
          <p:nvSpPr>
            <p:cNvPr id="22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5400000">
              <a:off x="7142956" y="2510584"/>
              <a:ext cx="528637"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RTT</a:t>
              </a:r>
              <a:endParaRPr kumimoji="0" lang="en-US" sz="10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31"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3"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7561263" y="2711402"/>
            <a:ext cx="2505075" cy="352425"/>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4" name="Group 18">
            <a:extLst>
              <a:ext uri="{FF2B5EF4-FFF2-40B4-BE49-F238E27FC236}">
                <a16:creationId xmlns:a16="http://schemas.microsoft.com/office/drawing/2014/main" id="{065B59AF-8C8D-9041-B965-0C2B0A5F8CEF}"/>
              </a:ext>
            </a:extLst>
          </p:cNvPr>
          <p:cNvGrpSpPr>
            <a:grpSpLocks/>
          </p:cNvGrpSpPr>
          <p:nvPr/>
        </p:nvGrpSpPr>
        <p:grpSpPr bwMode="auto">
          <a:xfrm>
            <a:off x="9809163" y="5453015"/>
            <a:ext cx="615950" cy="366712"/>
            <a:chOff x="3317" y="3527"/>
            <a:chExt cx="388" cy="231"/>
          </a:xfrm>
        </p:grpSpPr>
        <p:sp>
          <p:nvSpPr>
            <p:cNvPr id="235" name="Rectangle 19">
              <a:extLst>
                <a:ext uri="{FF2B5EF4-FFF2-40B4-BE49-F238E27FC236}">
                  <a16:creationId xmlns:a16="http://schemas.microsoft.com/office/drawing/2014/main" id="{87C76A64-BE9B-B84D-B23B-73554D8DC2C9}"/>
                </a:ext>
              </a:extLst>
            </p:cNvPr>
            <p:cNvSpPr>
              <a:spLocks noChangeArrowheads="1"/>
            </p:cNvSpPr>
            <p:nvPr/>
          </p:nvSpPr>
          <p:spPr bwMode="auto">
            <a:xfrm>
              <a:off x="3342" y="3576"/>
              <a:ext cx="324" cy="15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6" name="Text Box 20">
              <a:extLst>
                <a:ext uri="{FF2B5EF4-FFF2-40B4-BE49-F238E27FC236}">
                  <a16:creationId xmlns:a16="http://schemas.microsoft.com/office/drawing/2014/main" id="{0453126D-C0BC-5F4F-8DBD-30CD1FA8A1CD}"/>
                </a:ext>
              </a:extLst>
            </p:cNvPr>
            <p:cNvSpPr txBox="1">
              <a:spLocks noChangeArrowheads="1"/>
            </p:cNvSpPr>
            <p:nvPr/>
          </p:nvSpPr>
          <p:spPr bwMode="auto">
            <a:xfrm>
              <a:off x="3317" y="3527"/>
              <a:ext cx="388" cy="2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rPr>
                <a:t>time</a:t>
              </a:r>
              <a:endPar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5" name="Group 4">
            <a:extLst>
              <a:ext uri="{FF2B5EF4-FFF2-40B4-BE49-F238E27FC236}">
                <a16:creationId xmlns:a16="http://schemas.microsoft.com/office/drawing/2014/main" id="{4100408E-3418-754E-97D5-873085045522}"/>
              </a:ext>
            </a:extLst>
          </p:cNvPr>
          <p:cNvGrpSpPr/>
          <p:nvPr/>
        </p:nvGrpSpPr>
        <p:grpSpPr>
          <a:xfrm>
            <a:off x="7585075" y="3087640"/>
            <a:ext cx="2509838" cy="438150"/>
            <a:chOff x="7585075" y="3087640"/>
            <a:chExt cx="2509838" cy="438150"/>
          </a:xfrm>
        </p:grpSpPr>
        <p:sp>
          <p:nvSpPr>
            <p:cNvPr id="237"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8"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C604703D-5DBE-F940-8D53-F844A095856D}"/>
              </a:ext>
            </a:extLst>
          </p:cNvPr>
          <p:cNvGrpSpPr/>
          <p:nvPr/>
        </p:nvGrpSpPr>
        <p:grpSpPr>
          <a:xfrm>
            <a:off x="7558088" y="3697240"/>
            <a:ext cx="2555875" cy="612775"/>
            <a:chOff x="7558088" y="3697240"/>
            <a:chExt cx="2555875" cy="612775"/>
          </a:xfrm>
        </p:grpSpPr>
        <p:sp>
          <p:nvSpPr>
            <p:cNvPr id="239"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957590"/>
              <a:ext cx="2505075" cy="352425"/>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1"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8589963" y="3059065"/>
            <a:ext cx="1277937"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two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42"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8682038" y="4073477"/>
            <a:ext cx="1306512"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four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nvGrpSpPr>
          <p:cNvPr id="243" name="Group 27">
            <a:extLst>
              <a:ext uri="{FF2B5EF4-FFF2-40B4-BE49-F238E27FC236}">
                <a16:creationId xmlns:a16="http://schemas.microsoft.com/office/drawing/2014/main" id="{B634F089-4244-B04A-8749-7ACF0E0264A8}"/>
              </a:ext>
            </a:extLst>
          </p:cNvPr>
          <p:cNvGrpSpPr>
            <a:grpSpLocks/>
          </p:cNvGrpSpPr>
          <p:nvPr/>
        </p:nvGrpSpPr>
        <p:grpSpPr bwMode="auto">
          <a:xfrm>
            <a:off x="7580316" y="4092527"/>
            <a:ext cx="2519363" cy="652463"/>
            <a:chOff x="3954" y="2214"/>
            <a:chExt cx="1587" cy="411"/>
          </a:xfrm>
        </p:grpSpPr>
        <p:sp>
          <p:nvSpPr>
            <p:cNvPr id="244"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5"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7"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48" name="Group 32">
            <a:extLst>
              <a:ext uri="{FF2B5EF4-FFF2-40B4-BE49-F238E27FC236}">
                <a16:creationId xmlns:a16="http://schemas.microsoft.com/office/drawing/2014/main" id="{00C5C000-11E9-BE42-9849-B1B7B9E99FE0}"/>
              </a:ext>
            </a:extLst>
          </p:cNvPr>
          <p:cNvGrpSpPr>
            <a:grpSpLocks/>
          </p:cNvGrpSpPr>
          <p:nvPr/>
        </p:nvGrpSpPr>
        <p:grpSpPr bwMode="auto">
          <a:xfrm flipV="1">
            <a:off x="7866063" y="4473527"/>
            <a:ext cx="2228850" cy="604838"/>
            <a:chOff x="3954" y="2214"/>
            <a:chExt cx="1587" cy="411"/>
          </a:xfrm>
        </p:grpSpPr>
        <p:sp>
          <p:nvSpPr>
            <p:cNvPr id="249"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1"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53" name="Group 43">
            <a:extLst>
              <a:ext uri="{FF2B5EF4-FFF2-40B4-BE49-F238E27FC236}">
                <a16:creationId xmlns:a16="http://schemas.microsoft.com/office/drawing/2014/main" id="{D0982D30-E871-F344-B80E-157861960777}"/>
              </a:ext>
            </a:extLst>
          </p:cNvPr>
          <p:cNvGrpSpPr>
            <a:grpSpLocks/>
          </p:cNvGrpSpPr>
          <p:nvPr/>
        </p:nvGrpSpPr>
        <p:grpSpPr bwMode="auto">
          <a:xfrm>
            <a:off x="7142163" y="1492202"/>
            <a:ext cx="654050" cy="601663"/>
            <a:chOff x="-44" y="1473"/>
            <a:chExt cx="981" cy="1105"/>
          </a:xfrm>
        </p:grpSpPr>
        <p:pic>
          <p:nvPicPr>
            <p:cNvPr id="25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6" name="Group 46">
            <a:extLst>
              <a:ext uri="{FF2B5EF4-FFF2-40B4-BE49-F238E27FC236}">
                <a16:creationId xmlns:a16="http://schemas.microsoft.com/office/drawing/2014/main" id="{514EF769-BED4-DE47-BE55-0913ABFB155D}"/>
              </a:ext>
            </a:extLst>
          </p:cNvPr>
          <p:cNvGrpSpPr>
            <a:grpSpLocks/>
          </p:cNvGrpSpPr>
          <p:nvPr/>
        </p:nvGrpSpPr>
        <p:grpSpPr bwMode="auto">
          <a:xfrm>
            <a:off x="9877425" y="1506490"/>
            <a:ext cx="382588" cy="547687"/>
            <a:chOff x="4140" y="429"/>
            <a:chExt cx="1425" cy="2396"/>
          </a:xfrm>
        </p:grpSpPr>
        <p:sp>
          <p:nvSpPr>
            <p:cNvPr id="257"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9"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0"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1"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62"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8"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63"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64"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6"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65"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6"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67"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68"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9"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70"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1"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2"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4"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5"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6"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7"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79"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0"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1168400" y="4597399"/>
            <a:ext cx="5118100" cy="190500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srgbClr val="CC0000"/>
                </a:solidFill>
                <a:effectLst/>
                <a:uLnTx/>
                <a:uFillTx/>
                <a:latin typeface="Calibri" panose="020F0502020204030204"/>
                <a:ea typeface="+mn-ea"/>
                <a:cs typeface="+mn-cs"/>
              </a:rPr>
              <a:t>summary: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initial rate is slow, but ramps up exponentially fast</a:t>
            </a:r>
          </a:p>
        </p:txBody>
      </p:sp>
      <p:sp>
        <p:nvSpPr>
          <p:cNvPr id="74" name="Slide Number Placeholder 2">
            <a:extLst>
              <a:ext uri="{FF2B5EF4-FFF2-40B4-BE49-F238E27FC236}">
                <a16:creationId xmlns:a16="http://schemas.microsoft.com/office/drawing/2014/main" id="{E6BF77EC-AB9F-944C-99D2-21B2DB400DB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56</a:t>
            </a:fld>
            <a:endParaRPr lang="en-US" dirty="0"/>
          </a:p>
        </p:txBody>
      </p:sp>
    </p:spTree>
    <p:extLst>
      <p:ext uri="{BB962C8B-B14F-4D97-AF65-F5344CB8AC3E}">
        <p14:creationId xmlns:p14="http://schemas.microsoft.com/office/powerpoint/2010/main" val="318527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par>
                          <p:cTn id="38" fill="hold">
                            <p:stCondLst>
                              <p:cond delay="1500"/>
                            </p:stCondLst>
                            <p:childTnLst>
                              <p:par>
                                <p:cTn id="39" presetID="22" presetClass="entr" presetSubtype="2" fill="hold" nodeType="afterEffect">
                                  <p:stCondLst>
                                    <p:cond delay="0"/>
                                  </p:stCondLst>
                                  <p:childTnLst>
                                    <p:set>
                                      <p:cBhvr>
                                        <p:cTn id="40" dur="1" fill="hold">
                                          <p:stCondLst>
                                            <p:cond delay="0"/>
                                          </p:stCondLst>
                                        </p:cTn>
                                        <p:tgtEl>
                                          <p:spTgt spid="248"/>
                                        </p:tgtEl>
                                        <p:attrNameLst>
                                          <p:attrName>style.visibility</p:attrName>
                                        </p:attrNameLst>
                                      </p:cBhvr>
                                      <p:to>
                                        <p:strVal val="visible"/>
                                      </p:to>
                                    </p:set>
                                    <p:animEffect transition="in" filter="wipe(right)">
                                      <p:cBhvr>
                                        <p:cTn id="41" dur="500"/>
                                        <p:tgtEl>
                                          <p:spTgt spid="24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dissolve">
                                      <p:cBhvr>
                                        <p:cTn id="4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46743"/>
            <a:ext cx="11393310" cy="894622"/>
          </a:xfrm>
        </p:spPr>
        <p:txBody>
          <a:bodyPr>
            <a:normAutofit/>
          </a:bodyPr>
          <a:lstStyle/>
          <a:p>
            <a:r>
              <a:rPr lang="en-US" sz="4800" dirty="0"/>
              <a:t>TCP: from slow start to congestion avoidance</a:t>
            </a:r>
            <a:endParaRPr lang="en-US" sz="4400" b="0" dirty="0"/>
          </a:p>
        </p:txBody>
      </p:sp>
      <p:sp>
        <p:nvSpPr>
          <p:cNvPr id="76" name="Rectangle 3">
            <a:extLst>
              <a:ext uri="{FF2B5EF4-FFF2-40B4-BE49-F238E27FC236}">
                <a16:creationId xmlns:a16="http://schemas.microsoft.com/office/drawing/2014/main" id="{2C9AD9FD-A93B-FF4D-B019-6827A14601C2}"/>
              </a:ext>
            </a:extLst>
          </p:cNvPr>
          <p:cNvSpPr txBox="1">
            <a:spLocks noChangeArrowheads="1"/>
          </p:cNvSpPr>
          <p:nvPr/>
        </p:nvSpPr>
        <p:spPr>
          <a:xfrm>
            <a:off x="952500" y="1382665"/>
            <a:ext cx="5054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should the exponential increase switch to linear?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a:t>
            </a:r>
            <a:r>
              <a:rPr kumimoji="0" lang="en-US" sz="2800" b="1" i="0" u="none" strike="noStrike" kern="1200" cap="none" spc="0" normalizeH="0" baseline="0" noProof="0" dirty="0" err="1">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gets to 1/2 of its value before timeout.</a:t>
            </a:r>
          </a:p>
        </p:txBody>
      </p:sp>
      <p:sp>
        <p:nvSpPr>
          <p:cNvPr id="77" name="Rectangle 4">
            <a:extLst>
              <a:ext uri="{FF2B5EF4-FFF2-40B4-BE49-F238E27FC236}">
                <a16:creationId xmlns:a16="http://schemas.microsoft.com/office/drawing/2014/main" id="{38B71F69-39D9-954A-BA33-6A5861B7704D}"/>
              </a:ext>
            </a:extLst>
          </p:cNvPr>
          <p:cNvSpPr txBox="1">
            <a:spLocks noChangeArrowheads="1"/>
          </p:cNvSpPr>
          <p:nvPr/>
        </p:nvSpPr>
        <p:spPr>
          <a:xfrm>
            <a:off x="952500" y="3528965"/>
            <a:ext cx="4927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variable </a:t>
            </a:r>
            <a:r>
              <a:rPr kumimoji="0" lang="en-US" sz="2400" b="1" i="0" u="none" strike="noStrike" kern="1200" cap="none" spc="0" normalizeH="0" baseline="0" noProof="0" dirty="0" err="1">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loss event, </a:t>
            </a:r>
            <a:r>
              <a:rPr kumimoji="0" lang="en-US" sz="2400" b="1" i="0" u="none" strike="noStrike" kern="1200" cap="none" spc="0" normalizeH="0" baseline="0" noProof="0" dirty="0" err="1">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set to 1/2 of </a:t>
            </a:r>
            <a:r>
              <a:rPr kumimoji="0" lang="en-US" sz="2400" b="1" i="0" u="none" strike="noStrike" kern="1200" cap="none" spc="0" normalizeH="0" baseline="0" noProof="0" dirty="0" err="1">
                <a:ln>
                  <a:noFill/>
                </a:ln>
                <a:solidFill>
                  <a:prstClr val="black"/>
                </a:solidFill>
                <a:effectLst/>
                <a:uLnTx/>
                <a:uFillTx/>
                <a:latin typeface="Courier New" charset="0"/>
                <a:ea typeface="+mn-ea"/>
                <a:cs typeface="+mn-cs"/>
              </a:rPr>
              <a:t>cwnd</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just before loss event</a:t>
            </a:r>
          </a:p>
        </p:txBody>
      </p:sp>
      <p:pic>
        <p:nvPicPr>
          <p:cNvPr id="79" name="Picture 7">
            <a:extLst>
              <a:ext uri="{FF2B5EF4-FFF2-40B4-BE49-F238E27FC236}">
                <a16:creationId xmlns:a16="http://schemas.microsoft.com/office/drawing/2014/main"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387" y="1889345"/>
            <a:ext cx="5536882" cy="31575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80" name="TextBox 1">
            <a:extLst>
              <a:ext uri="{FF2B5EF4-FFF2-40B4-BE49-F238E27FC236}">
                <a16:creationId xmlns:a16="http://schemas.microsoft.com/office/drawing/2014/main" id="{E6044695-E347-A24B-9CB7-78BC77131884}"/>
              </a:ext>
            </a:extLst>
          </p:cNvPr>
          <p:cNvSpPr txBox="1">
            <a:spLocks noChangeArrowheads="1"/>
          </p:cNvSpPr>
          <p:nvPr/>
        </p:nvSpPr>
        <p:spPr bwMode="auto">
          <a:xfrm>
            <a:off x="1143000" y="6135312"/>
            <a:ext cx="97567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gaia.cs.umass.edu</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kurose_ross</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/interactive/</a:t>
            </a:r>
          </a:p>
        </p:txBody>
      </p:sp>
      <p:sp>
        <p:nvSpPr>
          <p:cNvPr id="7" name="Rectangle 6">
            <a:extLst>
              <a:ext uri="{FF2B5EF4-FFF2-40B4-BE49-F238E27FC236}">
                <a16:creationId xmlns:a16="http://schemas.microsoft.com/office/drawing/2014/main" id="{7E5A3F5F-F42B-F04E-BB6A-D57835C29067}"/>
              </a:ext>
            </a:extLst>
          </p:cNvPr>
          <p:cNvSpPr/>
          <p:nvPr/>
        </p:nvSpPr>
        <p:spPr>
          <a:xfrm>
            <a:off x="7851775" y="3825875"/>
            <a:ext cx="850900"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7677150" y="3924300"/>
            <a:ext cx="8509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4"/>
          <a:stretch>
            <a:fillRect/>
          </a:stretch>
        </p:blipFill>
        <p:spPr>
          <a:xfrm>
            <a:off x="10020300" y="3804496"/>
            <a:ext cx="1003300" cy="234103"/>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9194800" y="1892300"/>
            <a:ext cx="2133600" cy="248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9067800" y="2197100"/>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X</a:t>
            </a:r>
          </a:p>
        </p:txBody>
      </p:sp>
      <p:sp>
        <p:nvSpPr>
          <p:cNvPr id="13" name="Slide Number Placeholder 2">
            <a:extLst>
              <a:ext uri="{FF2B5EF4-FFF2-40B4-BE49-F238E27FC236}">
                <a16:creationId xmlns:a16="http://schemas.microsoft.com/office/drawing/2014/main" id="{632F645E-415D-7B49-B6B8-127E8033C54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57</a:t>
            </a:fld>
            <a:endParaRPr lang="en-US" dirty="0"/>
          </a:p>
        </p:txBody>
      </p:sp>
    </p:spTree>
    <p:extLst>
      <p:ext uri="{BB962C8B-B14F-4D97-AF65-F5344CB8AC3E}">
        <p14:creationId xmlns:p14="http://schemas.microsoft.com/office/powerpoint/2010/main" val="272109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dissolve">
                                      <p:cBhvr>
                                        <p:cTn id="1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80" grpId="0"/>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32962"/>
            <a:ext cx="11393310" cy="894622"/>
          </a:xfrm>
        </p:spPr>
        <p:txBody>
          <a:bodyPr>
            <a:normAutofit/>
          </a:bodyPr>
          <a:lstStyle/>
          <a:p>
            <a:r>
              <a:rPr lang="en-US" sz="4800" dirty="0"/>
              <a:t>Summary: TCP congestion control</a:t>
            </a:r>
            <a:endParaRPr lang="en-US" sz="4400" b="0" dirty="0"/>
          </a:p>
        </p:txBody>
      </p:sp>
      <p:grpSp>
        <p:nvGrpSpPr>
          <p:cNvPr id="120" name="Group 240">
            <a:extLst>
              <a:ext uri="{FF2B5EF4-FFF2-40B4-BE49-F238E27FC236}">
                <a16:creationId xmlns:a16="http://schemas.microsoft.com/office/drawing/2014/main" id="{B8318BC0-AA34-2B4C-984C-EDCF98015A80}"/>
              </a:ext>
            </a:extLst>
          </p:cNvPr>
          <p:cNvGrpSpPr>
            <a:grpSpLocks/>
          </p:cNvGrpSpPr>
          <p:nvPr/>
        </p:nvGrpSpPr>
        <p:grpSpPr bwMode="auto">
          <a:xfrm>
            <a:off x="5041900" y="2967944"/>
            <a:ext cx="2133600" cy="814388"/>
            <a:chOff x="2168" y="1727"/>
            <a:chExt cx="1344" cy="513"/>
          </a:xfrm>
        </p:grpSpPr>
        <p:grpSp>
          <p:nvGrpSpPr>
            <p:cNvPr id="121" name="Group 171">
              <a:extLst>
                <a:ext uri="{FF2B5EF4-FFF2-40B4-BE49-F238E27FC236}">
                  <a16:creationId xmlns:a16="http://schemas.microsoft.com/office/drawing/2014/main" id="{D4CA30E0-0C2B-AE49-9354-140DEA72FEEE}"/>
                </a:ext>
              </a:extLst>
            </p:cNvPr>
            <p:cNvGrpSpPr>
              <a:grpSpLocks/>
            </p:cNvGrpSpPr>
            <p:nvPr/>
          </p:nvGrpSpPr>
          <p:grpSpPr bwMode="auto">
            <a:xfrm>
              <a:off x="2280" y="1727"/>
              <a:ext cx="1118" cy="513"/>
              <a:chOff x="2280" y="1727"/>
              <a:chExt cx="1118" cy="513"/>
            </a:xfrm>
          </p:grpSpPr>
          <p:sp>
            <p:nvSpPr>
              <p:cNvPr id="123" name="Text Box 172">
                <a:extLst>
                  <a:ext uri="{FF2B5EF4-FFF2-40B4-BE49-F238E27FC236}">
                    <a16:creationId xmlns:a16="http://schemas.microsoft.com/office/drawing/2014/main" id="{FF8E7E11-C655-8C41-BFE2-A6DA1E48685D}"/>
                  </a:ext>
                </a:extLst>
              </p:cNvPr>
              <p:cNvSpPr txBox="1">
                <a:spLocks noChangeArrowheads="1"/>
              </p:cNvSpPr>
              <p:nvPr/>
            </p:nvSpPr>
            <p:spPr bwMode="auto">
              <a:xfrm>
                <a:off x="2640" y="1727"/>
                <a:ext cx="377" cy="1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timeout</a:t>
                </a:r>
              </a:p>
            </p:txBody>
          </p:sp>
          <p:sp>
            <p:nvSpPr>
              <p:cNvPr id="124" name="Text Box 173">
                <a:extLst>
                  <a:ext uri="{FF2B5EF4-FFF2-40B4-BE49-F238E27FC236}">
                    <a16:creationId xmlns:a16="http://schemas.microsoft.com/office/drawing/2014/main" id="{781154BA-9409-094D-BBC4-EE21CE699661}"/>
                  </a:ext>
                </a:extLst>
              </p:cNvPr>
              <p:cNvSpPr txBox="1">
                <a:spLocks noChangeArrowheads="1"/>
              </p:cNvSpPr>
              <p:nvPr/>
            </p:nvSpPr>
            <p:spPr bwMode="auto">
              <a:xfrm>
                <a:off x="2280" y="1838"/>
                <a:ext cx="1118" cy="4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ssthresh = cwnd/2</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1" u="none" strike="noStrike" kern="0" cap="none" spc="0" normalizeH="0" baseline="0" noProof="0">
                    <a:ln>
                      <a:noFill/>
                    </a:ln>
                    <a:solidFill>
                      <a:srgbClr val="000099"/>
                    </a:solidFill>
                    <a:effectLst/>
                    <a:uLnTx/>
                    <a:uFillTx/>
                    <a:latin typeface="Arial" charset="0"/>
                    <a:ea typeface="ＭＳ Ｐゴシック" charset="0"/>
                    <a:cs typeface="+mn-cs"/>
                  </a:rPr>
                  <a:t>retransmit missing segment</a:t>
                </a: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a:t>
                </a:r>
              </a:p>
            </p:txBody>
          </p:sp>
          <p:sp>
            <p:nvSpPr>
              <p:cNvPr id="125" name="Line 174">
                <a:extLst>
                  <a:ext uri="{FF2B5EF4-FFF2-40B4-BE49-F238E27FC236}">
                    <a16:creationId xmlns:a16="http://schemas.microsoft.com/office/drawing/2014/main" id="{23E8607A-0151-5141-A774-0AAB4333ECA7}"/>
                  </a:ext>
                </a:extLst>
              </p:cNvPr>
              <p:cNvSpPr>
                <a:spLocks noChangeShapeType="1"/>
              </p:cNvSpPr>
              <p:nvPr/>
            </p:nvSpPr>
            <p:spPr bwMode="auto">
              <a:xfrm>
                <a:off x="2491" y="1857"/>
                <a:ext cx="69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2" name="Line 175">
              <a:extLst>
                <a:ext uri="{FF2B5EF4-FFF2-40B4-BE49-F238E27FC236}">
                  <a16:creationId xmlns:a16="http://schemas.microsoft.com/office/drawing/2014/main" id="{480EB5CD-B8F2-AD46-B2D4-50FE6302F915}"/>
                </a:ext>
              </a:extLst>
            </p:cNvPr>
            <p:cNvSpPr>
              <a:spLocks noChangeShapeType="1"/>
            </p:cNvSpPr>
            <p:nvPr/>
          </p:nvSpPr>
          <p:spPr bwMode="auto">
            <a:xfrm flipH="1">
              <a:off x="2168" y="1734"/>
              <a:ext cx="1344"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6" name="Group 239">
            <a:extLst>
              <a:ext uri="{FF2B5EF4-FFF2-40B4-BE49-F238E27FC236}">
                <a16:creationId xmlns:a16="http://schemas.microsoft.com/office/drawing/2014/main" id="{BEAEB11D-18E7-8047-A552-B728B0628FCC}"/>
              </a:ext>
            </a:extLst>
          </p:cNvPr>
          <p:cNvGrpSpPr>
            <a:grpSpLocks/>
          </p:cNvGrpSpPr>
          <p:nvPr/>
        </p:nvGrpSpPr>
        <p:grpSpPr bwMode="auto">
          <a:xfrm>
            <a:off x="5072063" y="2491694"/>
            <a:ext cx="2133600" cy="398463"/>
            <a:chOff x="2187" y="1427"/>
            <a:chExt cx="1344" cy="251"/>
          </a:xfrm>
        </p:grpSpPr>
        <p:sp>
          <p:nvSpPr>
            <p:cNvPr id="127" name="Line 176">
              <a:extLst>
                <a:ext uri="{FF2B5EF4-FFF2-40B4-BE49-F238E27FC236}">
                  <a16:creationId xmlns:a16="http://schemas.microsoft.com/office/drawing/2014/main" id="{D84A4978-7B73-A04D-B0FB-C9ECAA3BFBCF}"/>
                </a:ext>
              </a:extLst>
            </p:cNvPr>
            <p:cNvSpPr>
              <a:spLocks noChangeShapeType="1"/>
            </p:cNvSpPr>
            <p:nvPr/>
          </p:nvSpPr>
          <p:spPr bwMode="auto">
            <a:xfrm flipH="1">
              <a:off x="2187" y="1673"/>
              <a:ext cx="1344" cy="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8" name="Text Box 181">
              <a:extLst>
                <a:ext uri="{FF2B5EF4-FFF2-40B4-BE49-F238E27FC236}">
                  <a16:creationId xmlns:a16="http://schemas.microsoft.com/office/drawing/2014/main" id="{67AF987A-C53D-534B-8C98-26557C3B4EEF}"/>
                </a:ext>
              </a:extLst>
            </p:cNvPr>
            <p:cNvSpPr txBox="1">
              <a:spLocks noChangeArrowheads="1"/>
            </p:cNvSpPr>
            <p:nvPr/>
          </p:nvSpPr>
          <p:spPr bwMode="auto">
            <a:xfrm>
              <a:off x="2740" y="1543"/>
              <a:ext cx="171" cy="1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ymbol" charset="0"/>
                  <a:ea typeface="ＭＳ Ｐゴシック" charset="0"/>
                  <a:cs typeface="+mn-cs"/>
                </a:rPr>
                <a:t>L</a:t>
              </a:r>
              <a:endParaRPr kumimoji="0" lang="en-US" sz="1200" b="0" i="0" u="none" strike="noStrike" kern="0" cap="none" spc="0" normalizeH="0" baseline="0" noProof="0">
                <a:ln>
                  <a:noFill/>
                </a:ln>
                <a:solidFill>
                  <a:srgbClr val="000000"/>
                </a:solidFill>
                <a:effectLst/>
                <a:uLnTx/>
                <a:uFillTx/>
                <a:latin typeface="Symbol" charset="0"/>
                <a:ea typeface="ＭＳ Ｐゴシック" charset="0"/>
                <a:cs typeface="+mn-cs"/>
              </a:endParaRPr>
            </a:p>
          </p:txBody>
        </p:sp>
        <p:sp>
          <p:nvSpPr>
            <p:cNvPr id="129" name="Line 182">
              <a:extLst>
                <a:ext uri="{FF2B5EF4-FFF2-40B4-BE49-F238E27FC236}">
                  <a16:creationId xmlns:a16="http://schemas.microsoft.com/office/drawing/2014/main" id="{0957FCBB-06D0-8E4D-B983-2F2597BDE03A}"/>
                </a:ext>
              </a:extLst>
            </p:cNvPr>
            <p:cNvSpPr>
              <a:spLocks noChangeShapeType="1"/>
            </p:cNvSpPr>
            <p:nvPr/>
          </p:nvSpPr>
          <p:spPr bwMode="auto">
            <a:xfrm>
              <a:off x="2572" y="155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30" name="Group 183">
              <a:extLst>
                <a:ext uri="{FF2B5EF4-FFF2-40B4-BE49-F238E27FC236}">
                  <a16:creationId xmlns:a16="http://schemas.microsoft.com/office/drawing/2014/main" id="{2A6AF175-C9C0-F044-9ECF-011972294E6E}"/>
                </a:ext>
              </a:extLst>
            </p:cNvPr>
            <p:cNvGrpSpPr>
              <a:grpSpLocks/>
            </p:cNvGrpSpPr>
            <p:nvPr/>
          </p:nvGrpSpPr>
          <p:grpSpPr bwMode="auto">
            <a:xfrm>
              <a:off x="2486" y="1427"/>
              <a:ext cx="694" cy="154"/>
              <a:chOff x="2458" y="1450"/>
              <a:chExt cx="694" cy="154"/>
            </a:xfrm>
          </p:grpSpPr>
          <p:sp>
            <p:nvSpPr>
              <p:cNvPr id="131" name="Text Box 184">
                <a:extLst>
                  <a:ext uri="{FF2B5EF4-FFF2-40B4-BE49-F238E27FC236}">
                    <a16:creationId xmlns:a16="http://schemas.microsoft.com/office/drawing/2014/main" id="{69E43EDF-5B05-364C-B439-379F8E8E5464}"/>
                  </a:ext>
                </a:extLst>
              </p:cNvPr>
              <p:cNvSpPr txBox="1">
                <a:spLocks noChangeArrowheads="1"/>
              </p:cNvSpPr>
              <p:nvPr/>
            </p:nvSpPr>
            <p:spPr bwMode="auto">
              <a:xfrm>
                <a:off x="2458" y="1450"/>
                <a:ext cx="694" cy="1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cwnd &gt; ssthresh</a:t>
                </a:r>
              </a:p>
            </p:txBody>
          </p:sp>
          <p:sp>
            <p:nvSpPr>
              <p:cNvPr id="132" name="Line 185">
                <a:extLst>
                  <a:ext uri="{FF2B5EF4-FFF2-40B4-BE49-F238E27FC236}">
                    <a16:creationId xmlns:a16="http://schemas.microsoft.com/office/drawing/2014/main" id="{A2D5E496-DCFA-5A4E-A6E2-D2DB456893C6}"/>
                  </a:ext>
                </a:extLst>
              </p:cNvPr>
              <p:cNvSpPr>
                <a:spLocks noChangeShapeType="1"/>
              </p:cNvSpPr>
              <p:nvPr/>
            </p:nvSpPr>
            <p:spPr bwMode="auto">
              <a:xfrm>
                <a:off x="2724" y="1557"/>
                <a:ext cx="4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33" name="Group 242">
            <a:extLst>
              <a:ext uri="{FF2B5EF4-FFF2-40B4-BE49-F238E27FC236}">
                <a16:creationId xmlns:a16="http://schemas.microsoft.com/office/drawing/2014/main" id="{47D1413D-A42B-8C4D-87CC-5C4E42849EFF}"/>
              </a:ext>
            </a:extLst>
          </p:cNvPr>
          <p:cNvGrpSpPr>
            <a:grpSpLocks/>
          </p:cNvGrpSpPr>
          <p:nvPr/>
        </p:nvGrpSpPr>
        <p:grpSpPr bwMode="auto">
          <a:xfrm>
            <a:off x="7118352" y="1429657"/>
            <a:ext cx="2782888" cy="2398713"/>
            <a:chOff x="3476" y="786"/>
            <a:chExt cx="1753" cy="1511"/>
          </a:xfrm>
        </p:grpSpPr>
        <p:grpSp>
          <p:nvGrpSpPr>
            <p:cNvPr id="134" name="Group 164">
              <a:extLst>
                <a:ext uri="{FF2B5EF4-FFF2-40B4-BE49-F238E27FC236}">
                  <a16:creationId xmlns:a16="http://schemas.microsoft.com/office/drawing/2014/main" id="{13A111CF-BAAF-8E4B-AD25-85FAC5339083}"/>
                </a:ext>
              </a:extLst>
            </p:cNvPr>
            <p:cNvGrpSpPr>
              <a:grpSpLocks/>
            </p:cNvGrpSpPr>
            <p:nvPr/>
          </p:nvGrpSpPr>
          <p:grpSpPr bwMode="auto">
            <a:xfrm>
              <a:off x="3602" y="1330"/>
              <a:ext cx="820" cy="754"/>
              <a:chOff x="2293" y="2021"/>
              <a:chExt cx="820" cy="754"/>
            </a:xfrm>
          </p:grpSpPr>
          <p:sp>
            <p:nvSpPr>
              <p:cNvPr id="146" name="Oval 165">
                <a:extLst>
                  <a:ext uri="{FF2B5EF4-FFF2-40B4-BE49-F238E27FC236}">
                    <a16:creationId xmlns:a16="http://schemas.microsoft.com/office/drawing/2014/main" id="{7F0D89BB-B178-8C49-9E72-934506A1B7F6}"/>
                  </a:ext>
                </a:extLst>
              </p:cNvPr>
              <p:cNvSpPr>
                <a:spLocks noChangeArrowheads="1"/>
              </p:cNvSpPr>
              <p:nvPr/>
            </p:nvSpPr>
            <p:spPr bwMode="auto">
              <a:xfrm>
                <a:off x="2293" y="2021"/>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7" name="Text Box 166">
                <a:extLst>
                  <a:ext uri="{FF2B5EF4-FFF2-40B4-BE49-F238E27FC236}">
                    <a16:creationId xmlns:a16="http://schemas.microsoft.com/office/drawing/2014/main" id="{F3628968-0539-164C-B861-FF5A02A982C1}"/>
                  </a:ext>
                </a:extLst>
              </p:cNvPr>
              <p:cNvSpPr txBox="1">
                <a:spLocks noChangeArrowheads="1"/>
              </p:cNvSpPr>
              <p:nvPr/>
            </p:nvSpPr>
            <p:spPr bwMode="auto">
              <a:xfrm>
                <a:off x="2294" y="2191"/>
                <a:ext cx="819" cy="5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congestion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avoidance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35" name="Group 190">
              <a:extLst>
                <a:ext uri="{FF2B5EF4-FFF2-40B4-BE49-F238E27FC236}">
                  <a16:creationId xmlns:a16="http://schemas.microsoft.com/office/drawing/2014/main" id="{412FAE5F-D426-1A41-B7BF-9EE3E24BCCB0}"/>
                </a:ext>
              </a:extLst>
            </p:cNvPr>
            <p:cNvGrpSpPr>
              <a:grpSpLocks/>
            </p:cNvGrpSpPr>
            <p:nvPr/>
          </p:nvGrpSpPr>
          <p:grpSpPr bwMode="auto">
            <a:xfrm>
              <a:off x="3476" y="786"/>
              <a:ext cx="1496" cy="575"/>
              <a:chOff x="3499" y="904"/>
              <a:chExt cx="1496" cy="575"/>
            </a:xfrm>
          </p:grpSpPr>
          <p:sp>
            <p:nvSpPr>
              <p:cNvPr id="142" name="Text Box 191">
                <a:extLst>
                  <a:ext uri="{FF2B5EF4-FFF2-40B4-BE49-F238E27FC236}">
                    <a16:creationId xmlns:a16="http://schemas.microsoft.com/office/drawing/2014/main" id="{44318C88-BEF5-7146-AE72-3458C7D49FA3}"/>
                  </a:ext>
                </a:extLst>
              </p:cNvPr>
              <p:cNvSpPr txBox="1">
                <a:spLocks noChangeArrowheads="1"/>
              </p:cNvSpPr>
              <p:nvPr/>
            </p:nvSpPr>
            <p:spPr bwMode="auto">
              <a:xfrm>
                <a:off x="3499" y="1037"/>
                <a:ext cx="1496"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MSS    (MSS/</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a:t>
                </a:r>
              </a:p>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dupACKcount</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0</a:t>
                </a:r>
              </a:p>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transmit new segment(s), as allowed</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3" name="Line 192">
                <a:extLst>
                  <a:ext uri="{FF2B5EF4-FFF2-40B4-BE49-F238E27FC236}">
                    <a16:creationId xmlns:a16="http://schemas.microsoft.com/office/drawing/2014/main" id="{EC5DE775-BD59-2247-B940-402844468A0E}"/>
                  </a:ext>
                </a:extLst>
              </p:cNvPr>
              <p:cNvSpPr>
                <a:spLocks noChangeShapeType="1"/>
              </p:cNvSpPr>
              <p:nvPr/>
            </p:nvSpPr>
            <p:spPr bwMode="auto">
              <a:xfrm>
                <a:off x="3976" y="105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Text Box 193">
                <a:extLst>
                  <a:ext uri="{FF2B5EF4-FFF2-40B4-BE49-F238E27FC236}">
                    <a16:creationId xmlns:a16="http://schemas.microsoft.com/office/drawing/2014/main" id="{1953AC16-16E8-A640-AE22-73DEDE1D319F}"/>
                  </a:ext>
                </a:extLst>
              </p:cNvPr>
              <p:cNvSpPr txBox="1">
                <a:spLocks noChangeArrowheads="1"/>
              </p:cNvSpPr>
              <p:nvPr/>
            </p:nvSpPr>
            <p:spPr bwMode="auto">
              <a:xfrm>
                <a:off x="3974" y="915"/>
                <a:ext cx="471"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new ACK</a:t>
                </a:r>
              </a:p>
            </p:txBody>
          </p:sp>
          <p:sp>
            <p:nvSpPr>
              <p:cNvPr id="145" name="Text Box 194">
                <a:extLst>
                  <a:ext uri="{FF2B5EF4-FFF2-40B4-BE49-F238E27FC236}">
                    <a16:creationId xmlns:a16="http://schemas.microsoft.com/office/drawing/2014/main" id="{6D1C4C5E-4778-AF4F-812A-CF7A44F21F90}"/>
                  </a:ext>
                </a:extLst>
              </p:cNvPr>
              <p:cNvSpPr txBox="1">
                <a:spLocks noChangeArrowheads="1"/>
              </p:cNvSpPr>
              <p:nvPr/>
            </p:nvSpPr>
            <p:spPr bwMode="auto">
              <a:xfrm>
                <a:off x="4311" y="904"/>
                <a:ext cx="173"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Times New Roman" charset="0"/>
                    <a:ea typeface="ＭＳ Ｐゴシック" charset="0"/>
                    <a:cs typeface="+mn-cs"/>
                  </a:rPr>
                  <a:t>.</a:t>
                </a:r>
              </a:p>
            </p:txBody>
          </p:sp>
        </p:grpSp>
        <p:sp>
          <p:nvSpPr>
            <p:cNvPr id="136" name="Freeform 195">
              <a:extLst>
                <a:ext uri="{FF2B5EF4-FFF2-40B4-BE49-F238E27FC236}">
                  <a16:creationId xmlns:a16="http://schemas.microsoft.com/office/drawing/2014/main" id="{4555525A-5282-E944-A402-41F5363AC763}"/>
                </a:ext>
              </a:extLst>
            </p:cNvPr>
            <p:cNvSpPr>
              <a:spLocks/>
            </p:cNvSpPr>
            <p:nvPr/>
          </p:nvSpPr>
          <p:spPr bwMode="auto">
            <a:xfrm rot="9705213">
              <a:off x="4212" y="1145"/>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7" name="Group 196">
              <a:extLst>
                <a:ext uri="{FF2B5EF4-FFF2-40B4-BE49-F238E27FC236}">
                  <a16:creationId xmlns:a16="http://schemas.microsoft.com/office/drawing/2014/main" id="{9CDBEBEA-0E7D-9247-8F24-8B50DDA32181}"/>
                </a:ext>
              </a:extLst>
            </p:cNvPr>
            <p:cNvGrpSpPr>
              <a:grpSpLocks/>
            </p:cNvGrpSpPr>
            <p:nvPr/>
          </p:nvGrpSpPr>
          <p:grpSpPr bwMode="auto">
            <a:xfrm>
              <a:off x="4489" y="1909"/>
              <a:ext cx="740" cy="388"/>
              <a:chOff x="4254" y="2922"/>
              <a:chExt cx="740" cy="388"/>
            </a:xfrm>
          </p:grpSpPr>
          <p:sp>
            <p:nvSpPr>
              <p:cNvPr id="139" name="Text Box 197">
                <a:extLst>
                  <a:ext uri="{FF2B5EF4-FFF2-40B4-BE49-F238E27FC236}">
                    <a16:creationId xmlns:a16="http://schemas.microsoft.com/office/drawing/2014/main" id="{F06A41AE-1F53-A747-A3E3-199BBEDFE503}"/>
                  </a:ext>
                </a:extLst>
              </p:cNvPr>
              <p:cNvSpPr txBox="1">
                <a:spLocks noChangeArrowheads="1"/>
              </p:cNvSpPr>
              <p:nvPr/>
            </p:nvSpPr>
            <p:spPr bwMode="auto">
              <a:xfrm>
                <a:off x="4254" y="3062"/>
                <a:ext cx="740"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0" name="Line 198">
                <a:extLst>
                  <a:ext uri="{FF2B5EF4-FFF2-40B4-BE49-F238E27FC236}">
                    <a16:creationId xmlns:a16="http://schemas.microsoft.com/office/drawing/2014/main" id="{115AC45A-332B-D742-9EEC-EB81F6D52D7E}"/>
                  </a:ext>
                </a:extLst>
              </p:cNvPr>
              <p:cNvSpPr>
                <a:spLocks noChangeShapeType="1"/>
              </p:cNvSpPr>
              <p:nvPr/>
            </p:nvSpPr>
            <p:spPr bwMode="auto">
              <a:xfrm>
                <a:off x="4353" y="3071"/>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1" name="Text Box 199">
                <a:extLst>
                  <a:ext uri="{FF2B5EF4-FFF2-40B4-BE49-F238E27FC236}">
                    <a16:creationId xmlns:a16="http://schemas.microsoft.com/office/drawing/2014/main" id="{6DB70069-D3EA-8747-8535-1CB6F40D1A8C}"/>
                  </a:ext>
                </a:extLst>
              </p:cNvPr>
              <p:cNvSpPr txBox="1">
                <a:spLocks noChangeArrowheads="1"/>
              </p:cNvSpPr>
              <p:nvPr/>
            </p:nvSpPr>
            <p:spPr bwMode="auto">
              <a:xfrm>
                <a:off x="4295" y="2922"/>
                <a:ext cx="656"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duplicate ACK</a:t>
                </a:r>
              </a:p>
            </p:txBody>
          </p:sp>
        </p:grpSp>
        <p:sp>
          <p:nvSpPr>
            <p:cNvPr id="138" name="Freeform 200">
              <a:extLst>
                <a:ext uri="{FF2B5EF4-FFF2-40B4-BE49-F238E27FC236}">
                  <a16:creationId xmlns:a16="http://schemas.microsoft.com/office/drawing/2014/main" id="{0667830A-5A65-8243-809F-9599C40170E1}"/>
                </a:ext>
              </a:extLst>
            </p:cNvPr>
            <p:cNvSpPr>
              <a:spLocks/>
            </p:cNvSpPr>
            <p:nvPr/>
          </p:nvSpPr>
          <p:spPr bwMode="auto">
            <a:xfrm rot="-7516021">
              <a:off x="4290" y="1673"/>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48" name="Group 245">
            <a:extLst>
              <a:ext uri="{FF2B5EF4-FFF2-40B4-BE49-F238E27FC236}">
                <a16:creationId xmlns:a16="http://schemas.microsoft.com/office/drawing/2014/main" id="{A4501140-CDDA-3942-AE4A-E53AAAF4E371}"/>
              </a:ext>
            </a:extLst>
          </p:cNvPr>
          <p:cNvGrpSpPr>
            <a:grpSpLocks/>
          </p:cNvGrpSpPr>
          <p:nvPr/>
        </p:nvGrpSpPr>
        <p:grpSpPr bwMode="auto">
          <a:xfrm>
            <a:off x="5629276" y="4880882"/>
            <a:ext cx="3417888" cy="1758950"/>
            <a:chOff x="2538" y="2960"/>
            <a:chExt cx="2153" cy="1108"/>
          </a:xfrm>
        </p:grpSpPr>
        <p:grpSp>
          <p:nvGrpSpPr>
            <p:cNvPr id="149" name="Group 167">
              <a:extLst>
                <a:ext uri="{FF2B5EF4-FFF2-40B4-BE49-F238E27FC236}">
                  <a16:creationId xmlns:a16="http://schemas.microsoft.com/office/drawing/2014/main" id="{46D8A9BF-D4B3-C644-AE85-4535FBE08039}"/>
                </a:ext>
              </a:extLst>
            </p:cNvPr>
            <p:cNvGrpSpPr>
              <a:grpSpLocks/>
            </p:cNvGrpSpPr>
            <p:nvPr/>
          </p:nvGrpSpPr>
          <p:grpSpPr bwMode="auto">
            <a:xfrm>
              <a:off x="2538" y="2960"/>
              <a:ext cx="800" cy="767"/>
              <a:chOff x="2454" y="3045"/>
              <a:chExt cx="800" cy="767"/>
            </a:xfrm>
          </p:grpSpPr>
          <p:sp>
            <p:nvSpPr>
              <p:cNvPr id="155" name="Oval 168">
                <a:extLst>
                  <a:ext uri="{FF2B5EF4-FFF2-40B4-BE49-F238E27FC236}">
                    <a16:creationId xmlns:a16="http://schemas.microsoft.com/office/drawing/2014/main" id="{273F9850-79CE-154A-9851-2B7886F3C1C7}"/>
                  </a:ext>
                </a:extLst>
              </p:cNvPr>
              <p:cNvSpPr>
                <a:spLocks noChangeArrowheads="1"/>
              </p:cNvSpPr>
              <p:nvPr/>
            </p:nvSpPr>
            <p:spPr bwMode="auto">
              <a:xfrm>
                <a:off x="2454" y="3045"/>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6" name="Text Box 169">
                <a:extLst>
                  <a:ext uri="{FF2B5EF4-FFF2-40B4-BE49-F238E27FC236}">
                    <a16:creationId xmlns:a16="http://schemas.microsoft.com/office/drawing/2014/main" id="{65FE5AF3-8597-FF4E-9C17-4817547D4F5B}"/>
                  </a:ext>
                </a:extLst>
              </p:cNvPr>
              <p:cNvSpPr txBox="1">
                <a:spLocks noChangeArrowheads="1"/>
              </p:cNvSpPr>
              <p:nvPr/>
            </p:nvSpPr>
            <p:spPr bwMode="auto">
              <a:xfrm>
                <a:off x="2794" y="3212"/>
                <a:ext cx="161" cy="4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rPr>
                  <a:t>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7" name="Text Box 170">
                <a:extLst>
                  <a:ext uri="{FF2B5EF4-FFF2-40B4-BE49-F238E27FC236}">
                    <a16:creationId xmlns:a16="http://schemas.microsoft.com/office/drawing/2014/main" id="{8568651A-5DCC-2242-83C4-76AC890933BB}"/>
                  </a:ext>
                </a:extLst>
              </p:cNvPr>
              <p:cNvSpPr txBox="1">
                <a:spLocks noChangeArrowheads="1"/>
              </p:cNvSpPr>
              <p:nvPr/>
            </p:nvSpPr>
            <p:spPr bwMode="auto">
              <a:xfrm>
                <a:off x="2466" y="3172"/>
                <a:ext cx="780" cy="6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fast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recovery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50" name="Freeform 220">
              <a:extLst>
                <a:ext uri="{FF2B5EF4-FFF2-40B4-BE49-F238E27FC236}">
                  <a16:creationId xmlns:a16="http://schemas.microsoft.com/office/drawing/2014/main" id="{F8DEF746-89F6-DD47-9435-3FA8C98BF657}"/>
                </a:ext>
              </a:extLst>
            </p:cNvPr>
            <p:cNvSpPr>
              <a:spLocks/>
            </p:cNvSpPr>
            <p:nvPr/>
          </p:nvSpPr>
          <p:spPr bwMode="auto">
            <a:xfrm>
              <a:off x="2775" y="3708"/>
              <a:ext cx="384" cy="161"/>
            </a:xfrm>
            <a:custGeom>
              <a:avLst/>
              <a:gdLst>
                <a:gd name="T0" fmla="*/ 317 w 384"/>
                <a:gd name="T1" fmla="*/ 0 h 161"/>
                <a:gd name="T2" fmla="*/ 189 w 384"/>
                <a:gd name="T3" fmla="*/ 155 h 161"/>
                <a:gd name="T4" fmla="*/ 59 w 384"/>
                <a:gd name="T5" fmla="*/ 13 h 161"/>
                <a:gd name="T6" fmla="*/ 0 60000 65536"/>
                <a:gd name="T7" fmla="*/ 0 60000 65536"/>
                <a:gd name="T8" fmla="*/ 0 60000 65536"/>
              </a:gdLst>
              <a:ahLst/>
              <a:cxnLst>
                <a:cxn ang="T6">
                  <a:pos x="T0" y="T1"/>
                </a:cxn>
                <a:cxn ang="T7">
                  <a:pos x="T2" y="T3"/>
                </a:cxn>
                <a:cxn ang="T8">
                  <a:pos x="T4" y="T5"/>
                </a:cxn>
              </a:cxnLst>
              <a:rect l="0" t="0" r="r" b="b"/>
              <a:pathLst>
                <a:path w="384" h="161">
                  <a:moveTo>
                    <a:pt x="317" y="0"/>
                  </a:moveTo>
                  <a:cubicBezTo>
                    <a:pt x="384" y="42"/>
                    <a:pt x="378" y="149"/>
                    <a:pt x="189" y="155"/>
                  </a:cubicBezTo>
                  <a:cubicBezTo>
                    <a:pt x="0" y="161"/>
                    <a:pt x="3" y="87"/>
                    <a:pt x="59" y="13"/>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1" name="Group 221">
              <a:extLst>
                <a:ext uri="{FF2B5EF4-FFF2-40B4-BE49-F238E27FC236}">
                  <a16:creationId xmlns:a16="http://schemas.microsoft.com/office/drawing/2014/main" id="{08A0BDC4-47ED-4A4B-B585-919226219BA9}"/>
                </a:ext>
              </a:extLst>
            </p:cNvPr>
            <p:cNvGrpSpPr>
              <a:grpSpLocks/>
            </p:cNvGrpSpPr>
            <p:nvPr/>
          </p:nvGrpSpPr>
          <p:grpSpPr bwMode="auto">
            <a:xfrm>
              <a:off x="3191" y="3592"/>
              <a:ext cx="1500" cy="476"/>
              <a:chOff x="3542" y="3496"/>
              <a:chExt cx="1500" cy="476"/>
            </a:xfrm>
          </p:grpSpPr>
          <p:sp>
            <p:nvSpPr>
              <p:cNvPr id="152" name="Text Box 222">
                <a:extLst>
                  <a:ext uri="{FF2B5EF4-FFF2-40B4-BE49-F238E27FC236}">
                    <a16:creationId xmlns:a16="http://schemas.microsoft.com/office/drawing/2014/main" id="{762B1387-82BE-254E-BE6D-368525568202}"/>
                  </a:ext>
                </a:extLst>
              </p:cNvPr>
              <p:cNvSpPr txBox="1">
                <a:spLocks noChangeArrowheads="1"/>
              </p:cNvSpPr>
              <p:nvPr/>
            </p:nvSpPr>
            <p:spPr bwMode="auto">
              <a:xfrm>
                <a:off x="3546" y="3632"/>
                <a:ext cx="1496" cy="3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MSS</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transmit new segment(s), as allowed</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808080"/>
                  </a:solidFill>
                  <a:effectLst/>
                  <a:uLnTx/>
                  <a:uFillTx/>
                  <a:latin typeface="Arial" charset="0"/>
                  <a:ea typeface="ＭＳ Ｐゴシック" charset="0"/>
                  <a:cs typeface="+mn-cs"/>
                </a:endParaRPr>
              </a:p>
            </p:txBody>
          </p:sp>
          <p:sp>
            <p:nvSpPr>
              <p:cNvPr id="153" name="Line 223">
                <a:extLst>
                  <a:ext uri="{FF2B5EF4-FFF2-40B4-BE49-F238E27FC236}">
                    <a16:creationId xmlns:a16="http://schemas.microsoft.com/office/drawing/2014/main" id="{7058B91F-5545-B546-B726-F5E1D8BF2C19}"/>
                  </a:ext>
                </a:extLst>
              </p:cNvPr>
              <p:cNvSpPr>
                <a:spLocks noChangeShapeType="1"/>
              </p:cNvSpPr>
              <p:nvPr/>
            </p:nvSpPr>
            <p:spPr bwMode="auto">
              <a:xfrm>
                <a:off x="3600" y="3645"/>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4" name="Text Box 224">
                <a:extLst>
                  <a:ext uri="{FF2B5EF4-FFF2-40B4-BE49-F238E27FC236}">
                    <a16:creationId xmlns:a16="http://schemas.microsoft.com/office/drawing/2014/main" id="{873E83D9-4BDC-D54A-8707-136424BDB746}"/>
                  </a:ext>
                </a:extLst>
              </p:cNvPr>
              <p:cNvSpPr txBox="1">
                <a:spLocks noChangeArrowheads="1"/>
              </p:cNvSpPr>
              <p:nvPr/>
            </p:nvSpPr>
            <p:spPr bwMode="auto">
              <a:xfrm>
                <a:off x="3542" y="3496"/>
                <a:ext cx="656"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duplicate ACK</a:t>
                </a:r>
              </a:p>
            </p:txBody>
          </p:sp>
        </p:grpSp>
      </p:grpSp>
      <p:grpSp>
        <p:nvGrpSpPr>
          <p:cNvPr id="158" name="Group 246">
            <a:extLst>
              <a:ext uri="{FF2B5EF4-FFF2-40B4-BE49-F238E27FC236}">
                <a16:creationId xmlns:a16="http://schemas.microsoft.com/office/drawing/2014/main" id="{B8412DA9-2D8B-1C4F-98FE-2059BE8959A7}"/>
              </a:ext>
            </a:extLst>
          </p:cNvPr>
          <p:cNvGrpSpPr>
            <a:grpSpLocks/>
          </p:cNvGrpSpPr>
          <p:nvPr/>
        </p:nvGrpSpPr>
        <p:grpSpPr bwMode="auto">
          <a:xfrm>
            <a:off x="2427288" y="3561671"/>
            <a:ext cx="3935413" cy="1974851"/>
            <a:chOff x="521" y="2129"/>
            <a:chExt cx="2479" cy="1244"/>
          </a:xfrm>
        </p:grpSpPr>
        <p:grpSp>
          <p:nvGrpSpPr>
            <p:cNvPr id="159" name="Group 212">
              <a:extLst>
                <a:ext uri="{FF2B5EF4-FFF2-40B4-BE49-F238E27FC236}">
                  <a16:creationId xmlns:a16="http://schemas.microsoft.com/office/drawing/2014/main" id="{27BF6FD0-68C2-FB4E-A15D-7CB02F36F01F}"/>
                </a:ext>
              </a:extLst>
            </p:cNvPr>
            <p:cNvGrpSpPr>
              <a:grpSpLocks/>
            </p:cNvGrpSpPr>
            <p:nvPr/>
          </p:nvGrpSpPr>
          <p:grpSpPr bwMode="auto">
            <a:xfrm>
              <a:off x="521" y="2818"/>
              <a:ext cx="1205" cy="555"/>
              <a:chOff x="380" y="2768"/>
              <a:chExt cx="1205" cy="555"/>
            </a:xfrm>
          </p:grpSpPr>
          <p:sp>
            <p:nvSpPr>
              <p:cNvPr id="166" name="Text Box 213">
                <a:extLst>
                  <a:ext uri="{FF2B5EF4-FFF2-40B4-BE49-F238E27FC236}">
                    <a16:creationId xmlns:a16="http://schemas.microsoft.com/office/drawing/2014/main" id="{835AEF52-2056-D649-96F2-661A3FFF1842}"/>
                  </a:ext>
                </a:extLst>
              </p:cNvPr>
              <p:cNvSpPr txBox="1">
                <a:spLocks noChangeArrowheads="1"/>
              </p:cNvSpPr>
              <p:nvPr/>
            </p:nvSpPr>
            <p:spPr bwMode="auto">
              <a:xfrm>
                <a:off x="380" y="2912"/>
                <a:ext cx="1155" cy="4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/2</a:t>
                </a: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+ 3</a:t>
                </a: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808080"/>
                  </a:solidFill>
                  <a:effectLst/>
                  <a:uLnTx/>
                  <a:uFillTx/>
                  <a:latin typeface="Arial" charset="0"/>
                  <a:ea typeface="ＭＳ Ｐゴシック" charset="0"/>
                  <a:cs typeface="+mn-cs"/>
                </a:endParaRPr>
              </a:p>
            </p:txBody>
          </p:sp>
          <p:sp>
            <p:nvSpPr>
              <p:cNvPr id="167" name="Line 214">
                <a:extLst>
                  <a:ext uri="{FF2B5EF4-FFF2-40B4-BE49-F238E27FC236}">
                    <a16:creationId xmlns:a16="http://schemas.microsoft.com/office/drawing/2014/main" id="{B74A6245-A319-3040-A4FD-51070B302938}"/>
                  </a:ext>
                </a:extLst>
              </p:cNvPr>
              <p:cNvSpPr>
                <a:spLocks noChangeShapeType="1"/>
              </p:cNvSpPr>
              <p:nvPr/>
            </p:nvSpPr>
            <p:spPr bwMode="auto">
              <a:xfrm>
                <a:off x="925" y="2913"/>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8" name="Text Box 215">
                <a:extLst>
                  <a:ext uri="{FF2B5EF4-FFF2-40B4-BE49-F238E27FC236}">
                    <a16:creationId xmlns:a16="http://schemas.microsoft.com/office/drawing/2014/main" id="{92605A3F-01AC-204D-8ED2-AD8024A64FEF}"/>
                  </a:ext>
                </a:extLst>
              </p:cNvPr>
              <p:cNvSpPr txBox="1">
                <a:spLocks noChangeArrowheads="1"/>
              </p:cNvSpPr>
              <p:nvPr/>
            </p:nvSpPr>
            <p:spPr bwMode="auto">
              <a:xfrm>
                <a:off x="751" y="2768"/>
                <a:ext cx="834"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3</a:t>
                </a:r>
              </a:p>
            </p:txBody>
          </p:sp>
        </p:grpSp>
        <p:grpSp>
          <p:nvGrpSpPr>
            <p:cNvPr id="160" name="Group 216">
              <a:extLst>
                <a:ext uri="{FF2B5EF4-FFF2-40B4-BE49-F238E27FC236}">
                  <a16:creationId xmlns:a16="http://schemas.microsoft.com/office/drawing/2014/main" id="{88759198-6D7D-C744-9B7A-D82AAED1D6D1}"/>
                </a:ext>
              </a:extLst>
            </p:cNvPr>
            <p:cNvGrpSpPr>
              <a:grpSpLocks/>
            </p:cNvGrpSpPr>
            <p:nvPr/>
          </p:nvGrpSpPr>
          <p:grpSpPr bwMode="auto">
            <a:xfrm>
              <a:off x="1813" y="2454"/>
              <a:ext cx="1187" cy="550"/>
              <a:chOff x="419" y="2872"/>
              <a:chExt cx="1187" cy="550"/>
            </a:xfrm>
          </p:grpSpPr>
          <p:sp>
            <p:nvSpPr>
              <p:cNvPr id="163" name="Text Box 217">
                <a:extLst>
                  <a:ext uri="{FF2B5EF4-FFF2-40B4-BE49-F238E27FC236}">
                    <a16:creationId xmlns:a16="http://schemas.microsoft.com/office/drawing/2014/main" id="{D4ECB2B0-F2B3-8C4C-BF69-C3CF649CE91F}"/>
                  </a:ext>
                </a:extLst>
              </p:cNvPr>
              <p:cNvSpPr txBox="1">
                <a:spLocks noChangeArrowheads="1"/>
              </p:cNvSpPr>
              <p:nvPr/>
            </p:nvSpPr>
            <p:spPr bwMode="auto">
              <a:xfrm>
                <a:off x="439" y="2872"/>
                <a:ext cx="395"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timeout</a:t>
                </a:r>
              </a:p>
            </p:txBody>
          </p:sp>
          <p:sp>
            <p:nvSpPr>
              <p:cNvPr id="164" name="Text Box 218">
                <a:extLst>
                  <a:ext uri="{FF2B5EF4-FFF2-40B4-BE49-F238E27FC236}">
                    <a16:creationId xmlns:a16="http://schemas.microsoft.com/office/drawing/2014/main" id="{2E4D69CF-352A-DC44-ABC3-90682BEB8316}"/>
                  </a:ext>
                </a:extLst>
              </p:cNvPr>
              <p:cNvSpPr txBox="1">
                <a:spLocks noChangeArrowheads="1"/>
              </p:cNvSpPr>
              <p:nvPr/>
            </p:nvSpPr>
            <p:spPr bwMode="auto">
              <a:xfrm>
                <a:off x="419" y="2989"/>
                <a:ext cx="1187" cy="4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ssthresh = cwnd/2</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1 </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1" u="none" strike="noStrike" kern="0" cap="none" spc="0" normalizeH="0" baseline="0" noProof="0">
                    <a:ln>
                      <a:noFill/>
                    </a:ln>
                    <a:solidFill>
                      <a:srgbClr val="000099"/>
                    </a:solidFill>
                    <a:effectLst/>
                    <a:uLnTx/>
                    <a:uFillTx/>
                    <a:latin typeface="Arial" charset="0"/>
                    <a:ea typeface="ＭＳ Ｐゴシック" charset="0"/>
                    <a:cs typeface="+mn-cs"/>
                  </a:rPr>
                  <a:t>retransmit missing segment</a:t>
                </a: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 </a:t>
                </a:r>
              </a:p>
            </p:txBody>
          </p:sp>
          <p:sp>
            <p:nvSpPr>
              <p:cNvPr id="165" name="Line 219">
                <a:extLst>
                  <a:ext uri="{FF2B5EF4-FFF2-40B4-BE49-F238E27FC236}">
                    <a16:creationId xmlns:a16="http://schemas.microsoft.com/office/drawing/2014/main" id="{87674141-7331-B643-AD17-90663185B00F}"/>
                  </a:ext>
                </a:extLst>
              </p:cNvPr>
              <p:cNvSpPr>
                <a:spLocks noChangeShapeType="1"/>
              </p:cNvSpPr>
              <p:nvPr/>
            </p:nvSpPr>
            <p:spPr bwMode="auto">
              <a:xfrm>
                <a:off x="471" y="3014"/>
                <a:ext cx="69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1" name="Freeform 225">
              <a:extLst>
                <a:ext uri="{FF2B5EF4-FFF2-40B4-BE49-F238E27FC236}">
                  <a16:creationId xmlns:a16="http://schemas.microsoft.com/office/drawing/2014/main" id="{D0DF1910-CE16-3F4D-82F2-6661A32D1366}"/>
                </a:ext>
              </a:extLst>
            </p:cNvPr>
            <p:cNvSpPr>
              <a:spLocks/>
            </p:cNvSpPr>
            <p:nvPr/>
          </p:nvSpPr>
          <p:spPr bwMode="auto">
            <a:xfrm>
              <a:off x="1722" y="2129"/>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2" name="Freeform 226">
              <a:extLst>
                <a:ext uri="{FF2B5EF4-FFF2-40B4-BE49-F238E27FC236}">
                  <a16:creationId xmlns:a16="http://schemas.microsoft.com/office/drawing/2014/main" id="{C17ADBE8-E774-7744-9627-8EAB27CA498D}"/>
                </a:ext>
              </a:extLst>
            </p:cNvPr>
            <p:cNvSpPr>
              <a:spLocks/>
            </p:cNvSpPr>
            <p:nvPr/>
          </p:nvSpPr>
          <p:spPr bwMode="auto">
            <a:xfrm>
              <a:off x="1791" y="2146"/>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9" name="Group 244">
            <a:extLst>
              <a:ext uri="{FF2B5EF4-FFF2-40B4-BE49-F238E27FC236}">
                <a16:creationId xmlns:a16="http://schemas.microsoft.com/office/drawing/2014/main" id="{E119EB29-C756-884C-BC38-0987621B3623}"/>
              </a:ext>
            </a:extLst>
          </p:cNvPr>
          <p:cNvGrpSpPr>
            <a:grpSpLocks/>
          </p:cNvGrpSpPr>
          <p:nvPr/>
        </p:nvGrpSpPr>
        <p:grpSpPr bwMode="auto">
          <a:xfrm>
            <a:off x="6951663" y="3553730"/>
            <a:ext cx="3022600" cy="1963736"/>
            <a:chOff x="3371" y="2124"/>
            <a:chExt cx="1904" cy="1237"/>
          </a:xfrm>
        </p:grpSpPr>
        <p:grpSp>
          <p:nvGrpSpPr>
            <p:cNvPr id="170" name="Group 201">
              <a:extLst>
                <a:ext uri="{FF2B5EF4-FFF2-40B4-BE49-F238E27FC236}">
                  <a16:creationId xmlns:a16="http://schemas.microsoft.com/office/drawing/2014/main" id="{4F04D146-2950-3743-B95A-4A10EFF81DB8}"/>
                </a:ext>
              </a:extLst>
            </p:cNvPr>
            <p:cNvGrpSpPr>
              <a:grpSpLocks/>
            </p:cNvGrpSpPr>
            <p:nvPr/>
          </p:nvGrpSpPr>
          <p:grpSpPr bwMode="auto">
            <a:xfrm>
              <a:off x="4120" y="2796"/>
              <a:ext cx="1155" cy="565"/>
              <a:chOff x="4142" y="2802"/>
              <a:chExt cx="1155" cy="565"/>
            </a:xfrm>
          </p:grpSpPr>
          <p:sp>
            <p:nvSpPr>
              <p:cNvPr id="172" name="Text Box 202">
                <a:extLst>
                  <a:ext uri="{FF2B5EF4-FFF2-40B4-BE49-F238E27FC236}">
                    <a16:creationId xmlns:a16="http://schemas.microsoft.com/office/drawing/2014/main" id="{9BFA3E4C-9614-6849-975F-C63A42B8182A}"/>
                  </a:ext>
                </a:extLst>
              </p:cNvPr>
              <p:cNvSpPr txBox="1">
                <a:spLocks noChangeArrowheads="1"/>
              </p:cNvSpPr>
              <p:nvPr/>
            </p:nvSpPr>
            <p:spPr bwMode="auto">
              <a:xfrm>
                <a:off x="4142" y="2956"/>
                <a:ext cx="1155" cy="4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/2</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+ 3</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73" name="Line 203">
                <a:extLst>
                  <a:ext uri="{FF2B5EF4-FFF2-40B4-BE49-F238E27FC236}">
                    <a16:creationId xmlns:a16="http://schemas.microsoft.com/office/drawing/2014/main" id="{0526C70E-8831-7543-9A32-E54939C11F43}"/>
                  </a:ext>
                </a:extLst>
              </p:cNvPr>
              <p:cNvSpPr>
                <a:spLocks noChangeShapeType="1"/>
              </p:cNvSpPr>
              <p:nvPr/>
            </p:nvSpPr>
            <p:spPr bwMode="auto">
              <a:xfrm>
                <a:off x="4211" y="2950"/>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4" name="Text Box 204">
                <a:extLst>
                  <a:ext uri="{FF2B5EF4-FFF2-40B4-BE49-F238E27FC236}">
                    <a16:creationId xmlns:a16="http://schemas.microsoft.com/office/drawing/2014/main" id="{E38A96D7-56D5-4A41-8FD3-090F5E1651F2}"/>
                  </a:ext>
                </a:extLst>
              </p:cNvPr>
              <p:cNvSpPr txBox="1">
                <a:spLocks noChangeArrowheads="1"/>
              </p:cNvSpPr>
              <p:nvPr/>
            </p:nvSpPr>
            <p:spPr bwMode="auto">
              <a:xfrm>
                <a:off x="4154" y="2802"/>
                <a:ext cx="834"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3</a:t>
                </a:r>
              </a:p>
            </p:txBody>
          </p:sp>
        </p:grpSp>
        <p:sp>
          <p:nvSpPr>
            <p:cNvPr id="171" name="Freeform 227">
              <a:extLst>
                <a:ext uri="{FF2B5EF4-FFF2-40B4-BE49-F238E27FC236}">
                  <a16:creationId xmlns:a16="http://schemas.microsoft.com/office/drawing/2014/main" id="{88695EF7-3EC6-874B-9CFA-5F89AE2AD674}"/>
                </a:ext>
              </a:extLst>
            </p:cNvPr>
            <p:cNvSpPr>
              <a:spLocks/>
            </p:cNvSpPr>
            <p:nvPr/>
          </p:nvSpPr>
          <p:spPr bwMode="auto">
            <a:xfrm flipH="1">
              <a:off x="3371" y="2124"/>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75" name="Group 243">
            <a:extLst>
              <a:ext uri="{FF2B5EF4-FFF2-40B4-BE49-F238E27FC236}">
                <a16:creationId xmlns:a16="http://schemas.microsoft.com/office/drawing/2014/main" id="{0C2B747B-2F42-7146-A691-54156D653646}"/>
              </a:ext>
            </a:extLst>
          </p:cNvPr>
          <p:cNvGrpSpPr>
            <a:grpSpLocks/>
          </p:cNvGrpSpPr>
          <p:nvPr/>
        </p:nvGrpSpPr>
        <p:grpSpPr bwMode="auto">
          <a:xfrm>
            <a:off x="6716713" y="3579131"/>
            <a:ext cx="1276350" cy="1689099"/>
            <a:chOff x="3223" y="2140"/>
            <a:chExt cx="804" cy="1064"/>
          </a:xfrm>
        </p:grpSpPr>
        <p:sp>
          <p:nvSpPr>
            <p:cNvPr id="176" name="Freeform 228">
              <a:extLst>
                <a:ext uri="{FF2B5EF4-FFF2-40B4-BE49-F238E27FC236}">
                  <a16:creationId xmlns:a16="http://schemas.microsoft.com/office/drawing/2014/main" id="{BFB3D697-0B16-7148-BB51-FD8EA08C4A4A}"/>
                </a:ext>
              </a:extLst>
            </p:cNvPr>
            <p:cNvSpPr>
              <a:spLocks/>
            </p:cNvSpPr>
            <p:nvPr/>
          </p:nvSpPr>
          <p:spPr bwMode="auto">
            <a:xfrm flipH="1">
              <a:off x="3327" y="2140"/>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7" name="Group 229">
              <a:extLst>
                <a:ext uri="{FF2B5EF4-FFF2-40B4-BE49-F238E27FC236}">
                  <a16:creationId xmlns:a16="http://schemas.microsoft.com/office/drawing/2014/main" id="{93E7F93E-B410-1B4A-BF61-0D2CB5DE5C53}"/>
                </a:ext>
              </a:extLst>
            </p:cNvPr>
            <p:cNvGrpSpPr>
              <a:grpSpLocks/>
            </p:cNvGrpSpPr>
            <p:nvPr/>
          </p:nvGrpSpPr>
          <p:grpSpPr bwMode="auto">
            <a:xfrm>
              <a:off x="3223" y="2649"/>
              <a:ext cx="785" cy="555"/>
              <a:chOff x="1015" y="3496"/>
              <a:chExt cx="785" cy="555"/>
            </a:xfrm>
          </p:grpSpPr>
          <p:sp>
            <p:nvSpPr>
              <p:cNvPr id="178" name="Text Box 230">
                <a:extLst>
                  <a:ext uri="{FF2B5EF4-FFF2-40B4-BE49-F238E27FC236}">
                    <a16:creationId xmlns:a16="http://schemas.microsoft.com/office/drawing/2014/main" id="{FAD437E2-871A-9848-91F5-5E5990E0131E}"/>
                  </a:ext>
                </a:extLst>
              </p:cNvPr>
              <p:cNvSpPr txBox="1">
                <a:spLocks noChangeArrowheads="1"/>
              </p:cNvSpPr>
              <p:nvPr/>
            </p:nvSpPr>
            <p:spPr bwMode="auto">
              <a:xfrm>
                <a:off x="1015" y="3640"/>
                <a:ext cx="785" cy="4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endPar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dupACKcount</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0</a:t>
                </a: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79" name="Group 231">
                <a:extLst>
                  <a:ext uri="{FF2B5EF4-FFF2-40B4-BE49-F238E27FC236}">
                    <a16:creationId xmlns:a16="http://schemas.microsoft.com/office/drawing/2014/main" id="{E00D3831-3686-434C-A9FB-CC62A89C2D35}"/>
                  </a:ext>
                </a:extLst>
              </p:cNvPr>
              <p:cNvGrpSpPr>
                <a:grpSpLocks/>
              </p:cNvGrpSpPr>
              <p:nvPr/>
            </p:nvGrpSpPr>
            <p:grpSpPr bwMode="auto">
              <a:xfrm>
                <a:off x="1190" y="3496"/>
                <a:ext cx="582" cy="160"/>
                <a:chOff x="1190" y="3496"/>
                <a:chExt cx="582" cy="160"/>
              </a:xfrm>
            </p:grpSpPr>
            <p:sp>
              <p:nvSpPr>
                <p:cNvPr id="180" name="Line 232">
                  <a:extLst>
                    <a:ext uri="{FF2B5EF4-FFF2-40B4-BE49-F238E27FC236}">
                      <a16:creationId xmlns:a16="http://schemas.microsoft.com/office/drawing/2014/main" id="{97E85298-2987-D742-8F32-C0FF7A3D4B93}"/>
                    </a:ext>
                  </a:extLst>
                </p:cNvPr>
                <p:cNvSpPr>
                  <a:spLocks noChangeShapeType="1"/>
                </p:cNvSpPr>
                <p:nvPr/>
              </p:nvSpPr>
              <p:spPr bwMode="auto">
                <a:xfrm>
                  <a:off x="1190" y="3641"/>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1" name="Text Box 233">
                  <a:extLst>
                    <a:ext uri="{FF2B5EF4-FFF2-40B4-BE49-F238E27FC236}">
                      <a16:creationId xmlns:a16="http://schemas.microsoft.com/office/drawing/2014/main" id="{3BF52C9D-20DA-2242-A28A-394E7476B8A1}"/>
                    </a:ext>
                  </a:extLst>
                </p:cNvPr>
                <p:cNvSpPr txBox="1">
                  <a:spLocks noChangeArrowheads="1"/>
                </p:cNvSpPr>
                <p:nvPr/>
              </p:nvSpPr>
              <p:spPr bwMode="auto">
                <a:xfrm>
                  <a:off x="1287" y="3496"/>
                  <a:ext cx="485"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New ACK</a:t>
                  </a:r>
                </a:p>
              </p:txBody>
            </p:sp>
          </p:grpSp>
        </p:grpSp>
      </p:grpSp>
      <p:grpSp>
        <p:nvGrpSpPr>
          <p:cNvPr id="182" name="Group 241">
            <a:extLst>
              <a:ext uri="{FF2B5EF4-FFF2-40B4-BE49-F238E27FC236}">
                <a16:creationId xmlns:a16="http://schemas.microsoft.com/office/drawing/2014/main" id="{CDA92C42-F115-FC40-A5F8-C407673481F7}"/>
              </a:ext>
            </a:extLst>
          </p:cNvPr>
          <p:cNvGrpSpPr>
            <a:grpSpLocks/>
          </p:cNvGrpSpPr>
          <p:nvPr/>
        </p:nvGrpSpPr>
        <p:grpSpPr bwMode="auto">
          <a:xfrm>
            <a:off x="2386012" y="1545544"/>
            <a:ext cx="5038723" cy="2706689"/>
            <a:chOff x="495" y="859"/>
            <a:chExt cx="3174" cy="1705"/>
          </a:xfrm>
        </p:grpSpPr>
        <p:grpSp>
          <p:nvGrpSpPr>
            <p:cNvPr id="183" name="Group 161">
              <a:extLst>
                <a:ext uri="{FF2B5EF4-FFF2-40B4-BE49-F238E27FC236}">
                  <a16:creationId xmlns:a16="http://schemas.microsoft.com/office/drawing/2014/main" id="{7F0341B7-207C-3E40-8EC6-5911313C0608}"/>
                </a:ext>
              </a:extLst>
            </p:cNvPr>
            <p:cNvGrpSpPr>
              <a:grpSpLocks/>
            </p:cNvGrpSpPr>
            <p:nvPr/>
          </p:nvGrpSpPr>
          <p:grpSpPr bwMode="auto">
            <a:xfrm>
              <a:off x="1329" y="1320"/>
              <a:ext cx="800" cy="754"/>
              <a:chOff x="996" y="1773"/>
              <a:chExt cx="800" cy="754"/>
            </a:xfrm>
          </p:grpSpPr>
          <p:sp>
            <p:nvSpPr>
              <p:cNvPr id="204" name="Oval 162">
                <a:extLst>
                  <a:ext uri="{FF2B5EF4-FFF2-40B4-BE49-F238E27FC236}">
                    <a16:creationId xmlns:a16="http://schemas.microsoft.com/office/drawing/2014/main" id="{85E503DF-C6D4-9C4A-947F-F93B4C816434}"/>
                  </a:ext>
                </a:extLst>
              </p:cNvPr>
              <p:cNvSpPr>
                <a:spLocks noChangeArrowheads="1"/>
              </p:cNvSpPr>
              <p:nvPr/>
            </p:nvSpPr>
            <p:spPr bwMode="auto">
              <a:xfrm>
                <a:off x="996" y="1773"/>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5" name="Text Box 163">
                <a:extLst>
                  <a:ext uri="{FF2B5EF4-FFF2-40B4-BE49-F238E27FC236}">
                    <a16:creationId xmlns:a16="http://schemas.microsoft.com/office/drawing/2014/main" id="{30575E3B-F1CE-CF43-A7C5-219046488BC3}"/>
                  </a:ext>
                </a:extLst>
              </p:cNvPr>
              <p:cNvSpPr txBox="1">
                <a:spLocks noChangeArrowheads="1"/>
              </p:cNvSpPr>
              <p:nvPr/>
            </p:nvSpPr>
            <p:spPr bwMode="auto">
              <a:xfrm>
                <a:off x="1159" y="1946"/>
                <a:ext cx="485" cy="4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rPr>
                  <a:t>slow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rPr>
                  <a:t>start</a:t>
                </a:r>
              </a:p>
            </p:txBody>
          </p:sp>
        </p:grpSp>
        <p:grpSp>
          <p:nvGrpSpPr>
            <p:cNvPr id="184" name="Group 177">
              <a:extLst>
                <a:ext uri="{FF2B5EF4-FFF2-40B4-BE49-F238E27FC236}">
                  <a16:creationId xmlns:a16="http://schemas.microsoft.com/office/drawing/2014/main" id="{5836A4F2-D62D-B147-A532-A57E3C2474B2}"/>
                </a:ext>
              </a:extLst>
            </p:cNvPr>
            <p:cNvGrpSpPr>
              <a:grpSpLocks/>
            </p:cNvGrpSpPr>
            <p:nvPr/>
          </p:nvGrpSpPr>
          <p:grpSpPr bwMode="auto">
            <a:xfrm>
              <a:off x="496" y="2026"/>
              <a:ext cx="1187" cy="538"/>
              <a:chOff x="384" y="2713"/>
              <a:chExt cx="1187" cy="538"/>
            </a:xfrm>
          </p:grpSpPr>
          <p:sp>
            <p:nvSpPr>
              <p:cNvPr id="201" name="Text Box 178">
                <a:extLst>
                  <a:ext uri="{FF2B5EF4-FFF2-40B4-BE49-F238E27FC236}">
                    <a16:creationId xmlns:a16="http://schemas.microsoft.com/office/drawing/2014/main" id="{1852AE28-C2EC-5542-A261-91B127FC6EEC}"/>
                  </a:ext>
                </a:extLst>
              </p:cNvPr>
              <p:cNvSpPr txBox="1">
                <a:spLocks noChangeArrowheads="1"/>
              </p:cNvSpPr>
              <p:nvPr/>
            </p:nvSpPr>
            <p:spPr bwMode="auto">
              <a:xfrm>
                <a:off x="777" y="2713"/>
                <a:ext cx="395"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timeout</a:t>
                </a:r>
              </a:p>
            </p:txBody>
          </p:sp>
          <p:sp>
            <p:nvSpPr>
              <p:cNvPr id="202" name="Text Box 179">
                <a:extLst>
                  <a:ext uri="{FF2B5EF4-FFF2-40B4-BE49-F238E27FC236}">
                    <a16:creationId xmlns:a16="http://schemas.microsoft.com/office/drawing/2014/main" id="{238E26A7-D428-7446-B0EA-57A95D6A24D0}"/>
                  </a:ext>
                </a:extLst>
              </p:cNvPr>
              <p:cNvSpPr txBox="1">
                <a:spLocks noChangeArrowheads="1"/>
              </p:cNvSpPr>
              <p:nvPr/>
            </p:nvSpPr>
            <p:spPr bwMode="auto">
              <a:xfrm>
                <a:off x="384" y="2840"/>
                <a:ext cx="1187" cy="4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ssthresh = cwnd/2 </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a:ln>
                      <a:noFill/>
                    </a:ln>
                    <a:solidFill>
                      <a:srgbClr val="000099"/>
                    </a:solidFill>
                    <a:effectLst/>
                    <a:uLnTx/>
                    <a:uFillTx/>
                    <a:latin typeface="Arial" charset="0"/>
                    <a:ea typeface="ＭＳ Ｐゴシック" charset="0"/>
                    <a:cs typeface="+mn-cs"/>
                  </a:rPr>
                  <a:t>retransmit missing segment</a:t>
                </a: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 </a:t>
                </a:r>
              </a:p>
            </p:txBody>
          </p:sp>
          <p:sp>
            <p:nvSpPr>
              <p:cNvPr id="203" name="Line 180">
                <a:extLst>
                  <a:ext uri="{FF2B5EF4-FFF2-40B4-BE49-F238E27FC236}">
                    <a16:creationId xmlns:a16="http://schemas.microsoft.com/office/drawing/2014/main" id="{4D339203-1563-3844-9642-20DAA4DBE4B3}"/>
                  </a:ext>
                </a:extLst>
              </p:cNvPr>
              <p:cNvSpPr>
                <a:spLocks noChangeShapeType="1"/>
              </p:cNvSpPr>
              <p:nvPr/>
            </p:nvSpPr>
            <p:spPr bwMode="auto">
              <a:xfrm>
                <a:off x="709" y="2855"/>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85" name="Group 186">
              <a:extLst>
                <a:ext uri="{FF2B5EF4-FFF2-40B4-BE49-F238E27FC236}">
                  <a16:creationId xmlns:a16="http://schemas.microsoft.com/office/drawing/2014/main" id="{F5B6412F-86EA-644E-B751-4756A58400F6}"/>
                </a:ext>
              </a:extLst>
            </p:cNvPr>
            <p:cNvGrpSpPr>
              <a:grpSpLocks/>
            </p:cNvGrpSpPr>
            <p:nvPr/>
          </p:nvGrpSpPr>
          <p:grpSpPr bwMode="auto">
            <a:xfrm>
              <a:off x="2173" y="960"/>
              <a:ext cx="1496" cy="561"/>
              <a:chOff x="2683" y="798"/>
              <a:chExt cx="1496" cy="561"/>
            </a:xfrm>
          </p:grpSpPr>
          <p:sp>
            <p:nvSpPr>
              <p:cNvPr id="198" name="Text Box 187">
                <a:extLst>
                  <a:ext uri="{FF2B5EF4-FFF2-40B4-BE49-F238E27FC236}">
                    <a16:creationId xmlns:a16="http://schemas.microsoft.com/office/drawing/2014/main" id="{33745650-56D6-E74A-A07A-E27A58809560}"/>
                  </a:ext>
                </a:extLst>
              </p:cNvPr>
              <p:cNvSpPr txBox="1">
                <a:spLocks noChangeArrowheads="1"/>
              </p:cNvSpPr>
              <p:nvPr/>
            </p:nvSpPr>
            <p:spPr bwMode="auto">
              <a:xfrm>
                <a:off x="2683" y="917"/>
                <a:ext cx="1496"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cwnd+MSS</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1" u="none" strike="noStrike" kern="0" cap="none" spc="0" normalizeH="0" baseline="0" noProof="0">
                    <a:ln>
                      <a:noFill/>
                    </a:ln>
                    <a:solidFill>
                      <a:srgbClr val="000099"/>
                    </a:solidFill>
                    <a:effectLst/>
                    <a:uLnTx/>
                    <a:uFillTx/>
                    <a:latin typeface="Arial" charset="0"/>
                    <a:ea typeface="ＭＳ Ｐゴシック" charset="0"/>
                    <a:cs typeface="+mn-cs"/>
                  </a:rPr>
                  <a:t>transmit new segment(s), as allowed</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9" name="Line 188">
                <a:extLst>
                  <a:ext uri="{FF2B5EF4-FFF2-40B4-BE49-F238E27FC236}">
                    <a16:creationId xmlns:a16="http://schemas.microsoft.com/office/drawing/2014/main" id="{77E99221-132E-174B-8CBE-C1A955C064C2}"/>
                  </a:ext>
                </a:extLst>
              </p:cNvPr>
              <p:cNvSpPr>
                <a:spLocks noChangeShapeType="1"/>
              </p:cNvSpPr>
              <p:nvPr/>
            </p:nvSpPr>
            <p:spPr bwMode="auto">
              <a:xfrm>
                <a:off x="2744" y="93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Text Box 189">
                <a:extLst>
                  <a:ext uri="{FF2B5EF4-FFF2-40B4-BE49-F238E27FC236}">
                    <a16:creationId xmlns:a16="http://schemas.microsoft.com/office/drawing/2014/main" id="{321F9ADE-2971-8D42-964D-F2D594BDE59B}"/>
                  </a:ext>
                </a:extLst>
              </p:cNvPr>
              <p:cNvSpPr txBox="1">
                <a:spLocks noChangeArrowheads="1"/>
              </p:cNvSpPr>
              <p:nvPr/>
            </p:nvSpPr>
            <p:spPr bwMode="auto">
              <a:xfrm>
                <a:off x="2697" y="798"/>
                <a:ext cx="471"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new ACK</a:t>
                </a:r>
              </a:p>
            </p:txBody>
          </p:sp>
        </p:grpSp>
        <p:sp>
          <p:nvSpPr>
            <p:cNvPr id="186" name="Freeform 205">
              <a:extLst>
                <a:ext uri="{FF2B5EF4-FFF2-40B4-BE49-F238E27FC236}">
                  <a16:creationId xmlns:a16="http://schemas.microsoft.com/office/drawing/2014/main" id="{B9844AE8-814B-7A49-BCA7-110579E99E1F}"/>
                </a:ext>
              </a:extLst>
            </p:cNvPr>
            <p:cNvSpPr>
              <a:spLocks/>
            </p:cNvSpPr>
            <p:nvPr/>
          </p:nvSpPr>
          <p:spPr bwMode="auto">
            <a:xfrm>
              <a:off x="1601" y="1129"/>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Freeform 206">
              <a:extLst>
                <a:ext uri="{FF2B5EF4-FFF2-40B4-BE49-F238E27FC236}">
                  <a16:creationId xmlns:a16="http://schemas.microsoft.com/office/drawing/2014/main" id="{750DB278-39B5-E245-8F7C-23929FAC1479}"/>
                </a:ext>
              </a:extLst>
            </p:cNvPr>
            <p:cNvSpPr>
              <a:spLocks/>
            </p:cNvSpPr>
            <p:nvPr/>
          </p:nvSpPr>
          <p:spPr bwMode="auto">
            <a:xfrm rot="2575893">
              <a:off x="1950" y="1316"/>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8" name="Group 207">
              <a:extLst>
                <a:ext uri="{FF2B5EF4-FFF2-40B4-BE49-F238E27FC236}">
                  <a16:creationId xmlns:a16="http://schemas.microsoft.com/office/drawing/2014/main" id="{4E427184-7EF7-C840-827D-A9660DD49F4A}"/>
                </a:ext>
              </a:extLst>
            </p:cNvPr>
            <p:cNvGrpSpPr>
              <a:grpSpLocks/>
            </p:cNvGrpSpPr>
            <p:nvPr/>
          </p:nvGrpSpPr>
          <p:grpSpPr bwMode="auto">
            <a:xfrm>
              <a:off x="1445" y="859"/>
              <a:ext cx="740" cy="388"/>
              <a:chOff x="4254" y="2922"/>
              <a:chExt cx="740" cy="388"/>
            </a:xfrm>
          </p:grpSpPr>
          <p:sp>
            <p:nvSpPr>
              <p:cNvPr id="195" name="Text Box 208">
                <a:extLst>
                  <a:ext uri="{FF2B5EF4-FFF2-40B4-BE49-F238E27FC236}">
                    <a16:creationId xmlns:a16="http://schemas.microsoft.com/office/drawing/2014/main" id="{7E5221C3-2422-AB42-AB8F-F98DF12DC473}"/>
                  </a:ext>
                </a:extLst>
              </p:cNvPr>
              <p:cNvSpPr txBox="1">
                <a:spLocks noChangeArrowheads="1"/>
              </p:cNvSpPr>
              <p:nvPr/>
            </p:nvSpPr>
            <p:spPr bwMode="auto">
              <a:xfrm>
                <a:off x="4254" y="3062"/>
                <a:ext cx="740"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6" name="Line 209">
                <a:extLst>
                  <a:ext uri="{FF2B5EF4-FFF2-40B4-BE49-F238E27FC236}">
                    <a16:creationId xmlns:a16="http://schemas.microsoft.com/office/drawing/2014/main" id="{0ED363ED-03C6-214E-BEF4-679C86095020}"/>
                  </a:ext>
                </a:extLst>
              </p:cNvPr>
              <p:cNvSpPr>
                <a:spLocks noChangeShapeType="1"/>
              </p:cNvSpPr>
              <p:nvPr/>
            </p:nvSpPr>
            <p:spPr bwMode="auto">
              <a:xfrm>
                <a:off x="4353" y="3071"/>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7" name="Text Box 210">
                <a:extLst>
                  <a:ext uri="{FF2B5EF4-FFF2-40B4-BE49-F238E27FC236}">
                    <a16:creationId xmlns:a16="http://schemas.microsoft.com/office/drawing/2014/main" id="{2593DC72-BD77-FC4D-AA2D-CA14FF49E8C6}"/>
                  </a:ext>
                </a:extLst>
              </p:cNvPr>
              <p:cNvSpPr txBox="1">
                <a:spLocks noChangeArrowheads="1"/>
              </p:cNvSpPr>
              <p:nvPr/>
            </p:nvSpPr>
            <p:spPr bwMode="auto">
              <a:xfrm>
                <a:off x="4295" y="2922"/>
                <a:ext cx="656"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duplicate ACK</a:t>
                </a:r>
              </a:p>
            </p:txBody>
          </p:sp>
        </p:grpSp>
        <p:sp>
          <p:nvSpPr>
            <p:cNvPr id="189" name="Freeform 211">
              <a:extLst>
                <a:ext uri="{FF2B5EF4-FFF2-40B4-BE49-F238E27FC236}">
                  <a16:creationId xmlns:a16="http://schemas.microsoft.com/office/drawing/2014/main" id="{3E6B1AA0-4286-9245-837B-6CBC21CE7E5B}"/>
                </a:ext>
              </a:extLst>
            </p:cNvPr>
            <p:cNvSpPr>
              <a:spLocks/>
            </p:cNvSpPr>
            <p:nvPr/>
          </p:nvSpPr>
          <p:spPr bwMode="auto">
            <a:xfrm rot="-8222029">
              <a:off x="1204" y="1903"/>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34">
              <a:extLst>
                <a:ext uri="{FF2B5EF4-FFF2-40B4-BE49-F238E27FC236}">
                  <a16:creationId xmlns:a16="http://schemas.microsoft.com/office/drawing/2014/main" id="{F4D43A0C-EE6E-EC4A-8B33-48E0CE84AD67}"/>
                </a:ext>
              </a:extLst>
            </p:cNvPr>
            <p:cNvSpPr>
              <a:spLocks noChangeShapeType="1"/>
            </p:cNvSpPr>
            <p:nvPr/>
          </p:nvSpPr>
          <p:spPr bwMode="auto">
            <a:xfrm>
              <a:off x="536" y="1649"/>
              <a:ext cx="752" cy="1"/>
            </a:xfrm>
            <a:prstGeom prst="line">
              <a:avLst/>
            </a:prstGeom>
            <a:noFill/>
            <a:ln w="9525">
              <a:solidFill>
                <a:srgbClr val="000000"/>
              </a:solidFill>
              <a:prstDash val="dash"/>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235">
              <a:extLst>
                <a:ext uri="{FF2B5EF4-FFF2-40B4-BE49-F238E27FC236}">
                  <a16:creationId xmlns:a16="http://schemas.microsoft.com/office/drawing/2014/main" id="{A04F248C-CB56-5341-9121-CD7548EA20D6}"/>
                </a:ext>
              </a:extLst>
            </p:cNvPr>
            <p:cNvGrpSpPr>
              <a:grpSpLocks/>
            </p:cNvGrpSpPr>
            <p:nvPr/>
          </p:nvGrpSpPr>
          <p:grpSpPr bwMode="auto">
            <a:xfrm>
              <a:off x="495" y="1255"/>
              <a:ext cx="785" cy="429"/>
              <a:chOff x="517" y="936"/>
              <a:chExt cx="785" cy="429"/>
            </a:xfrm>
          </p:grpSpPr>
          <p:sp>
            <p:nvSpPr>
              <p:cNvPr id="192" name="Text Box 236">
                <a:extLst>
                  <a:ext uri="{FF2B5EF4-FFF2-40B4-BE49-F238E27FC236}">
                    <a16:creationId xmlns:a16="http://schemas.microsoft.com/office/drawing/2014/main" id="{DFCAD05B-CECB-F74A-83C0-04809C56403D}"/>
                  </a:ext>
                </a:extLst>
              </p:cNvPr>
              <p:cNvSpPr txBox="1">
                <a:spLocks noChangeArrowheads="1"/>
              </p:cNvSpPr>
              <p:nvPr/>
            </p:nvSpPr>
            <p:spPr bwMode="auto">
              <a:xfrm>
                <a:off x="816" y="936"/>
                <a:ext cx="175" cy="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ymbol" charset="0"/>
                    <a:ea typeface="ＭＳ Ｐゴシック" charset="0"/>
                    <a:cs typeface="+mn-cs"/>
                  </a:rPr>
                  <a:t>L</a:t>
                </a:r>
              </a:p>
            </p:txBody>
          </p:sp>
          <p:sp>
            <p:nvSpPr>
              <p:cNvPr id="193" name="Text Box 237">
                <a:extLst>
                  <a:ext uri="{FF2B5EF4-FFF2-40B4-BE49-F238E27FC236}">
                    <a16:creationId xmlns:a16="http://schemas.microsoft.com/office/drawing/2014/main" id="{74E71529-C1EB-3448-B321-63BB937B34FE}"/>
                  </a:ext>
                </a:extLst>
              </p:cNvPr>
              <p:cNvSpPr txBox="1">
                <a:spLocks noChangeArrowheads="1"/>
              </p:cNvSpPr>
              <p:nvPr/>
            </p:nvSpPr>
            <p:spPr bwMode="auto">
              <a:xfrm>
                <a:off x="517" y="1063"/>
                <a:ext cx="785" cy="3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ssthresh = 64 KB</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4" name="Line 238">
                <a:extLst>
                  <a:ext uri="{FF2B5EF4-FFF2-40B4-BE49-F238E27FC236}">
                    <a16:creationId xmlns:a16="http://schemas.microsoft.com/office/drawing/2014/main" id="{6EA26674-D5C9-9744-9287-ED272FC85120}"/>
                  </a:ext>
                </a:extLst>
              </p:cNvPr>
              <p:cNvSpPr>
                <a:spLocks noChangeShapeType="1"/>
              </p:cNvSpPr>
              <p:nvPr/>
            </p:nvSpPr>
            <p:spPr bwMode="auto">
              <a:xfrm>
                <a:off x="641" y="1078"/>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206" name="Group 255">
            <a:extLst>
              <a:ext uri="{FF2B5EF4-FFF2-40B4-BE49-F238E27FC236}">
                <a16:creationId xmlns:a16="http://schemas.microsoft.com/office/drawing/2014/main" id="{A2B043F7-099D-4D44-B22F-E06E9FF1DB1B}"/>
              </a:ext>
            </a:extLst>
          </p:cNvPr>
          <p:cNvGrpSpPr>
            <a:grpSpLocks/>
          </p:cNvGrpSpPr>
          <p:nvPr/>
        </p:nvGrpSpPr>
        <p:grpSpPr bwMode="auto">
          <a:xfrm>
            <a:off x="2405063" y="2982232"/>
            <a:ext cx="3167062" cy="1312862"/>
            <a:chOff x="509" y="1766"/>
            <a:chExt cx="1995" cy="827"/>
          </a:xfrm>
        </p:grpSpPr>
        <p:pic>
          <p:nvPicPr>
            <p:cNvPr id="207" name="Picture 252">
              <a:extLst>
                <a:ext uri="{FF2B5EF4-FFF2-40B4-BE49-F238E27FC236}">
                  <a16:creationId xmlns:a16="http://schemas.microsoft.com/office/drawing/2014/main" id="{13117D26-6951-3D4A-A5F0-C71B4A0E4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09" y="1992"/>
              <a:ext cx="262" cy="2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08" name="Picture 253">
              <a:extLst>
                <a:ext uri="{FF2B5EF4-FFF2-40B4-BE49-F238E27FC236}">
                  <a16:creationId xmlns:a16="http://schemas.microsoft.com/office/drawing/2014/main" id="{DB7493BD-9E6A-CC43-BB12-1EF71B377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242" y="1766"/>
              <a:ext cx="262" cy="2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09" name="Picture 254">
              <a:extLst>
                <a:ext uri="{FF2B5EF4-FFF2-40B4-BE49-F238E27FC236}">
                  <a16:creationId xmlns:a16="http://schemas.microsoft.com/office/drawing/2014/main" id="{919A68A3-008C-A945-88F7-16E52DA21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164" y="2348"/>
              <a:ext cx="262" cy="2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grpSp>
        <p:nvGrpSpPr>
          <p:cNvPr id="210" name="Group 297">
            <a:extLst>
              <a:ext uri="{FF2B5EF4-FFF2-40B4-BE49-F238E27FC236}">
                <a16:creationId xmlns:a16="http://schemas.microsoft.com/office/drawing/2014/main" id="{439C2129-4880-6149-9CCA-EB3347A6F350}"/>
              </a:ext>
            </a:extLst>
          </p:cNvPr>
          <p:cNvGrpSpPr>
            <a:grpSpLocks/>
          </p:cNvGrpSpPr>
          <p:nvPr/>
        </p:nvGrpSpPr>
        <p:grpSpPr bwMode="auto">
          <a:xfrm>
            <a:off x="5102225" y="1208994"/>
            <a:ext cx="4333875" cy="3243263"/>
            <a:chOff x="2205" y="641"/>
            <a:chExt cx="2730" cy="2043"/>
          </a:xfrm>
        </p:grpSpPr>
        <p:grpSp>
          <p:nvGrpSpPr>
            <p:cNvPr id="211" name="Group 282">
              <a:extLst>
                <a:ext uri="{FF2B5EF4-FFF2-40B4-BE49-F238E27FC236}">
                  <a16:creationId xmlns:a16="http://schemas.microsoft.com/office/drawing/2014/main" id="{6BDFE812-AF51-D241-B4AE-BA4F204E8DF8}"/>
                </a:ext>
              </a:extLst>
            </p:cNvPr>
            <p:cNvGrpSpPr>
              <a:grpSpLocks/>
            </p:cNvGrpSpPr>
            <p:nvPr/>
          </p:nvGrpSpPr>
          <p:grpSpPr bwMode="auto">
            <a:xfrm>
              <a:off x="3381" y="2381"/>
              <a:ext cx="583" cy="303"/>
              <a:chOff x="1166" y="3601"/>
              <a:chExt cx="583" cy="303"/>
            </a:xfrm>
          </p:grpSpPr>
          <p:grpSp>
            <p:nvGrpSpPr>
              <p:cNvPr id="222" name="Group 283">
                <a:extLst>
                  <a:ext uri="{FF2B5EF4-FFF2-40B4-BE49-F238E27FC236}">
                    <a16:creationId xmlns:a16="http://schemas.microsoft.com/office/drawing/2014/main" id="{82205633-61E5-A34B-80F4-B06EBB50B0C8}"/>
                  </a:ext>
                </a:extLst>
              </p:cNvPr>
              <p:cNvGrpSpPr>
                <a:grpSpLocks/>
              </p:cNvGrpSpPr>
              <p:nvPr/>
            </p:nvGrpSpPr>
            <p:grpSpPr bwMode="auto">
              <a:xfrm>
                <a:off x="1166" y="3601"/>
                <a:ext cx="583" cy="303"/>
                <a:chOff x="990" y="4570"/>
                <a:chExt cx="597" cy="380"/>
              </a:xfrm>
            </p:grpSpPr>
            <p:pic>
              <p:nvPicPr>
                <p:cNvPr id="224" name="Picture 284">
                  <a:extLst>
                    <a:ext uri="{FF2B5EF4-FFF2-40B4-BE49-F238E27FC236}">
                      <a16:creationId xmlns:a16="http://schemas.microsoft.com/office/drawing/2014/main" id="{123D55D6-C521-5C4A-A99B-9A81EB8858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25" name="Rectangle 285">
                  <a:extLst>
                    <a:ext uri="{FF2B5EF4-FFF2-40B4-BE49-F238E27FC236}">
                      <a16:creationId xmlns:a16="http://schemas.microsoft.com/office/drawing/2014/main" id="{5A2AADA4-95A5-1140-A8E2-F7E1D634D77A}"/>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23" name="Text Box 286">
                <a:extLst>
                  <a:ext uri="{FF2B5EF4-FFF2-40B4-BE49-F238E27FC236}">
                    <a16:creationId xmlns:a16="http://schemas.microsoft.com/office/drawing/2014/main" id="{A04DE5D7-1E27-9345-953B-F2F6817401D2}"/>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ACK!</a:t>
                </a:r>
              </a:p>
            </p:txBody>
          </p:sp>
        </p:grpSp>
        <p:grpSp>
          <p:nvGrpSpPr>
            <p:cNvPr id="212" name="Group 287">
              <a:extLst>
                <a:ext uri="{FF2B5EF4-FFF2-40B4-BE49-F238E27FC236}">
                  <a16:creationId xmlns:a16="http://schemas.microsoft.com/office/drawing/2014/main" id="{0901017F-3507-C540-B99D-306E862349DB}"/>
                </a:ext>
              </a:extLst>
            </p:cNvPr>
            <p:cNvGrpSpPr>
              <a:grpSpLocks/>
            </p:cNvGrpSpPr>
            <p:nvPr/>
          </p:nvGrpSpPr>
          <p:grpSpPr bwMode="auto">
            <a:xfrm>
              <a:off x="2205" y="700"/>
              <a:ext cx="583" cy="303"/>
              <a:chOff x="1166" y="3601"/>
              <a:chExt cx="583" cy="303"/>
            </a:xfrm>
          </p:grpSpPr>
          <p:grpSp>
            <p:nvGrpSpPr>
              <p:cNvPr id="218" name="Group 288">
                <a:extLst>
                  <a:ext uri="{FF2B5EF4-FFF2-40B4-BE49-F238E27FC236}">
                    <a16:creationId xmlns:a16="http://schemas.microsoft.com/office/drawing/2014/main" id="{6BA56D00-0006-F044-83B1-AAE6B004468E}"/>
                  </a:ext>
                </a:extLst>
              </p:cNvPr>
              <p:cNvGrpSpPr>
                <a:grpSpLocks/>
              </p:cNvGrpSpPr>
              <p:nvPr/>
            </p:nvGrpSpPr>
            <p:grpSpPr bwMode="auto">
              <a:xfrm>
                <a:off x="1166" y="3601"/>
                <a:ext cx="583" cy="303"/>
                <a:chOff x="990" y="4570"/>
                <a:chExt cx="597" cy="380"/>
              </a:xfrm>
            </p:grpSpPr>
            <p:pic>
              <p:nvPicPr>
                <p:cNvPr id="220" name="Picture 289">
                  <a:extLst>
                    <a:ext uri="{FF2B5EF4-FFF2-40B4-BE49-F238E27FC236}">
                      <a16:creationId xmlns:a16="http://schemas.microsoft.com/office/drawing/2014/main" id="{C017D357-3300-D245-BAF6-F1F404699D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21" name="Rectangle 290">
                  <a:extLst>
                    <a:ext uri="{FF2B5EF4-FFF2-40B4-BE49-F238E27FC236}">
                      <a16:creationId xmlns:a16="http://schemas.microsoft.com/office/drawing/2014/main" id="{71EEC757-0CB1-5245-8660-0181A2DC62D4}"/>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19" name="Text Box 291">
                <a:extLst>
                  <a:ext uri="{FF2B5EF4-FFF2-40B4-BE49-F238E27FC236}">
                    <a16:creationId xmlns:a16="http://schemas.microsoft.com/office/drawing/2014/main" id="{FEBEF8FC-A920-4A49-A1BF-3B6F2FA29D39}"/>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ACK!</a:t>
                </a:r>
              </a:p>
            </p:txBody>
          </p:sp>
        </p:grpSp>
        <p:grpSp>
          <p:nvGrpSpPr>
            <p:cNvPr id="213" name="Group 292">
              <a:extLst>
                <a:ext uri="{FF2B5EF4-FFF2-40B4-BE49-F238E27FC236}">
                  <a16:creationId xmlns:a16="http://schemas.microsoft.com/office/drawing/2014/main" id="{2201CF4D-D367-D544-9B09-D38B651E98BE}"/>
                </a:ext>
              </a:extLst>
            </p:cNvPr>
            <p:cNvGrpSpPr>
              <a:grpSpLocks/>
            </p:cNvGrpSpPr>
            <p:nvPr/>
          </p:nvGrpSpPr>
          <p:grpSpPr bwMode="auto">
            <a:xfrm>
              <a:off x="4352" y="641"/>
              <a:ext cx="583" cy="303"/>
              <a:chOff x="1166" y="3601"/>
              <a:chExt cx="583" cy="303"/>
            </a:xfrm>
          </p:grpSpPr>
          <p:grpSp>
            <p:nvGrpSpPr>
              <p:cNvPr id="214" name="Group 293">
                <a:extLst>
                  <a:ext uri="{FF2B5EF4-FFF2-40B4-BE49-F238E27FC236}">
                    <a16:creationId xmlns:a16="http://schemas.microsoft.com/office/drawing/2014/main" id="{255AC563-CE69-7346-8853-7B52DB2C3916}"/>
                  </a:ext>
                </a:extLst>
              </p:cNvPr>
              <p:cNvGrpSpPr>
                <a:grpSpLocks/>
              </p:cNvGrpSpPr>
              <p:nvPr/>
            </p:nvGrpSpPr>
            <p:grpSpPr bwMode="auto">
              <a:xfrm>
                <a:off x="1166" y="3601"/>
                <a:ext cx="583" cy="303"/>
                <a:chOff x="990" y="4570"/>
                <a:chExt cx="597" cy="380"/>
              </a:xfrm>
            </p:grpSpPr>
            <p:pic>
              <p:nvPicPr>
                <p:cNvPr id="216" name="Picture 294">
                  <a:extLst>
                    <a:ext uri="{FF2B5EF4-FFF2-40B4-BE49-F238E27FC236}">
                      <a16:creationId xmlns:a16="http://schemas.microsoft.com/office/drawing/2014/main" id="{3CFEE67E-B886-8D4D-9258-34C8D95DCD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17" name="Rectangle 295">
                  <a:extLst>
                    <a:ext uri="{FF2B5EF4-FFF2-40B4-BE49-F238E27FC236}">
                      <a16:creationId xmlns:a16="http://schemas.microsoft.com/office/drawing/2014/main" id="{E84E7D88-9214-BA40-BC66-CD8AA28583A0}"/>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15" name="Text Box 296">
                <a:extLst>
                  <a:ext uri="{FF2B5EF4-FFF2-40B4-BE49-F238E27FC236}">
                    <a16:creationId xmlns:a16="http://schemas.microsoft.com/office/drawing/2014/main" id="{C078F33E-5513-B743-BE29-CF96B31ECD31}"/>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ACK!</a:t>
                </a:r>
              </a:p>
            </p:txBody>
          </p:sp>
        </p:grpSp>
      </p:grpSp>
      <p:sp>
        <p:nvSpPr>
          <p:cNvPr id="109" name="Slide Number Placeholder 2">
            <a:extLst>
              <a:ext uri="{FF2B5EF4-FFF2-40B4-BE49-F238E27FC236}">
                <a16:creationId xmlns:a16="http://schemas.microsoft.com/office/drawing/2014/main" id="{C089E069-434F-034B-BDE6-6D2F3D363D0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58</a:t>
            </a:fld>
            <a:endParaRPr lang="en-US" dirty="0"/>
          </a:p>
        </p:txBody>
      </p:sp>
    </p:spTree>
    <p:extLst>
      <p:ext uri="{BB962C8B-B14F-4D97-AF65-F5344CB8AC3E}">
        <p14:creationId xmlns:p14="http://schemas.microsoft.com/office/powerpoint/2010/main" val="345404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dissolv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left)">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dissolve">
                                      <p:cBhvr>
                                        <p:cTn id="17" dur="5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wipe(right)">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9"/>
                                        </p:tgtEl>
                                        <p:attrNameLst>
                                          <p:attrName>style.visibility</p:attrName>
                                        </p:attrNameLst>
                                      </p:cBhvr>
                                      <p:to>
                                        <p:strVal val="visible"/>
                                      </p:to>
                                    </p:set>
                                    <p:animEffect transition="in" filter="wipe(up)">
                                      <p:cBhvr>
                                        <p:cTn id="27" dur="500"/>
                                        <p:tgtEl>
                                          <p:spTgt spid="16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5"/>
                                        </p:tgtEl>
                                        <p:attrNameLst>
                                          <p:attrName>style.visibility</p:attrName>
                                        </p:attrNameLst>
                                      </p:cBhvr>
                                      <p:to>
                                        <p:strVal val="visible"/>
                                      </p:to>
                                    </p:set>
                                    <p:animEffect transition="in" filter="wipe(left)">
                                      <p:cBhvr>
                                        <p:cTn id="36" dur="500"/>
                                        <p:tgtEl>
                                          <p:spTgt spid="17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58"/>
                                        </p:tgtEl>
                                        <p:attrNameLst>
                                          <p:attrName>style.visibility</p:attrName>
                                        </p:attrNameLst>
                                      </p:cBhvr>
                                      <p:to>
                                        <p:strVal val="visible"/>
                                      </p:to>
                                    </p:set>
                                    <p:animEffect transition="in" filter="dissolve">
                                      <p:cBhvr>
                                        <p:cTn id="41" dur="500"/>
                                        <p:tgtEl>
                                          <p:spTgt spid="15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0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10"/>
                                        </p:tgtEl>
                                        <p:attrNameLst>
                                          <p:attrName>style.visibility</p:attrName>
                                        </p:attrNameLst>
                                      </p:cBhvr>
                                      <p:to>
                                        <p:strVal val="visible"/>
                                      </p:to>
                                    </p:set>
                                    <p:animEffect transition="in" filter="dissolve">
                                      <p:cBhvr>
                                        <p:cTn id="50"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9607</TotalTime>
  <Words>5992</Words>
  <Application>Microsoft Office PowerPoint</Application>
  <PresentationFormat>Widescreen</PresentationFormat>
  <Paragraphs>945</Paragraphs>
  <Slides>58</Slides>
  <Notes>47</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58</vt:i4>
      </vt:variant>
    </vt:vector>
  </HeadingPairs>
  <TitlesOfParts>
    <vt:vector size="78" baseType="lpstr">
      <vt:lpstr>ＭＳ Ｐゴシック</vt:lpstr>
      <vt:lpstr>Arial</vt:lpstr>
      <vt:lpstr>Arial Narrow</vt:lpstr>
      <vt:lpstr>BerkeleyPro-Bold</vt:lpstr>
      <vt:lpstr>Calibri</vt:lpstr>
      <vt:lpstr>Calibri Light</vt:lpstr>
      <vt:lpstr>Comic Sans MS</vt:lpstr>
      <vt:lpstr>Courier</vt:lpstr>
      <vt:lpstr>Courier New</vt:lpstr>
      <vt:lpstr>CourierPSPro-Regular</vt:lpstr>
      <vt:lpstr>FuturaLTPro-Book</vt:lpstr>
      <vt:lpstr>Gill Sans MT</vt:lpstr>
      <vt:lpstr>Symbol</vt:lpstr>
      <vt:lpstr>Tahoma</vt:lpstr>
      <vt:lpstr>Times New Roman</vt:lpstr>
      <vt:lpstr>TimesLTPro-Bold</vt:lpstr>
      <vt:lpstr>TimesLTPro-Italic</vt:lpstr>
      <vt:lpstr>TimesLTPro-Roman</vt:lpstr>
      <vt:lpstr>Wingdings</vt:lpstr>
      <vt:lpstr>Office Theme</vt:lpstr>
      <vt:lpstr>PowerPoint Presentation</vt:lpstr>
      <vt:lpstr>Transport layer: overview</vt:lpstr>
      <vt:lpstr>Transport layer: roadmap</vt:lpstr>
      <vt:lpstr>Chapter 3: roadmap</vt:lpstr>
      <vt:lpstr>PowerPoint Presentation</vt:lpstr>
      <vt:lpstr>PowerPoint Presentation</vt:lpstr>
      <vt:lpstr>Multiplexing/demultiplexing</vt:lpstr>
      <vt:lpstr>How demultiplexing works</vt:lpstr>
      <vt:lpstr>Connectionless demultiplexing</vt:lpstr>
      <vt:lpstr>Connectionless demultiplexing: an example</vt:lpstr>
      <vt:lpstr>Connection-oriented demultiplexing</vt:lpstr>
      <vt:lpstr>Connection-oriented demultiplexing</vt:lpstr>
      <vt:lpstr>PowerPoint Presentation</vt:lpstr>
      <vt:lpstr>Two clients, using the same destination port number (80) to communicate with the same Web server application</vt:lpstr>
      <vt:lpstr>Connection-oriented demultiplexing: example</vt:lpstr>
      <vt:lpstr>Summary</vt:lpstr>
      <vt:lpstr>Chapter 3: roadmap</vt:lpstr>
      <vt:lpstr>UDP: User Datagram Protocol</vt:lpstr>
      <vt:lpstr>UDP: User Datagram Protocol</vt:lpstr>
      <vt:lpstr>UDP: Transport Layer Actions</vt:lpstr>
      <vt:lpstr>UDP: Transport Layer Actions</vt:lpstr>
      <vt:lpstr>UDP: Transport Layer Actions</vt:lpstr>
      <vt:lpstr>UDP segment Structure</vt:lpstr>
      <vt:lpstr>UDP checksum</vt:lpstr>
      <vt:lpstr>UDP checksum</vt:lpstr>
      <vt:lpstr>Internet checksum: an example</vt:lpstr>
      <vt:lpstr>Internet checksum: weak protection!</vt:lpstr>
      <vt:lpstr>Now you might be wondering why an application developer would ever choose to build an application over UDP rather than over TCP.</vt:lpstr>
      <vt:lpstr>Summary: UDP</vt:lpstr>
      <vt:lpstr>Chapter 3: roadmap</vt:lpstr>
      <vt:lpstr>TCP: overview  RFCs: 793,1122, 2018, 5681, 7323</vt:lpstr>
      <vt:lpstr>TCP segment structure</vt:lpstr>
      <vt:lpstr>TCP sequence numbers, ACKs</vt:lpstr>
      <vt:lpstr>TCP sequence numbers, ACKs</vt:lpstr>
      <vt:lpstr>TCP round trip time, timeout</vt:lpstr>
      <vt:lpstr>TCP round trip time, timeout</vt:lpstr>
      <vt:lpstr>TCP round trip time, timeout</vt:lpstr>
      <vt:lpstr>TCP Sender (simplified)</vt:lpstr>
      <vt:lpstr>TCP Receiver: ACK generation [RFC 5681]</vt:lpstr>
      <vt:lpstr>TCP: retransmission scenarios</vt:lpstr>
      <vt:lpstr>TCP: retransmission scenarios</vt:lpstr>
      <vt:lpstr>TCP fast retransmit</vt:lpstr>
      <vt:lpstr>Chapter 3: roadmap</vt:lpstr>
      <vt:lpstr>TCP flow control</vt:lpstr>
      <vt:lpstr>PowerPoint Presentation</vt:lpstr>
      <vt:lpstr>TCP Connection Management The TCP in the client then proceeds to establish a TCP connection with the TCP in the server in the following manner:</vt:lpstr>
      <vt:lpstr>TCP three-way handshake: segment exchange</vt:lpstr>
      <vt:lpstr>Closing a TCP connection</vt:lpstr>
      <vt:lpstr>A typical sequence of TCP states visited by a server-side TCP</vt:lpstr>
      <vt:lpstr>PowerPoint Presentation</vt:lpstr>
      <vt:lpstr>Closing a TCP connection</vt:lpstr>
      <vt:lpstr>Chapter 3: roadmap</vt:lpstr>
      <vt:lpstr>TCP congestion control: AIMD</vt:lpstr>
      <vt:lpstr>TCP AIMD: more</vt:lpstr>
      <vt:lpstr>TCP congestion control: details</vt:lpstr>
      <vt:lpstr>TCP slow start </vt:lpstr>
      <vt:lpstr>TCP: from slow start to congestion avoidance</vt:lpstr>
      <vt:lpstr>Summary: TCP congestion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ADMIN</cp:lastModifiedBy>
  <cp:revision>428</cp:revision>
  <dcterms:created xsi:type="dcterms:W3CDTF">2020-01-18T07:24:59Z</dcterms:created>
  <dcterms:modified xsi:type="dcterms:W3CDTF">2023-06-07T04:59:57Z</dcterms:modified>
</cp:coreProperties>
</file>