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61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FD096-0730-406F-BF23-5B4714B0E013}" type="datetimeFigureOut">
              <a:rPr lang="en-US" smtClean="0"/>
              <a:t>3/7/2022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35D6B-0CC2-487E-8648-5F05E83E02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239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FD096-0730-406F-BF23-5B4714B0E013}" type="datetimeFigureOut">
              <a:rPr lang="en-US" smtClean="0"/>
              <a:t>3/7/2022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35D6B-0CC2-487E-8648-5F05E83E02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5180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FD096-0730-406F-BF23-5B4714B0E013}" type="datetimeFigureOut">
              <a:rPr lang="en-US" smtClean="0"/>
              <a:t>3/7/2022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35D6B-0CC2-487E-8648-5F05E83E02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267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FD096-0730-406F-BF23-5B4714B0E013}" type="datetimeFigureOut">
              <a:rPr lang="en-US" smtClean="0"/>
              <a:t>3/7/2022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35D6B-0CC2-487E-8648-5F05E83E02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533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FD096-0730-406F-BF23-5B4714B0E013}" type="datetimeFigureOut">
              <a:rPr lang="en-US" smtClean="0"/>
              <a:t>3/7/2022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35D6B-0CC2-487E-8648-5F05E83E02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2032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FD096-0730-406F-BF23-5B4714B0E013}" type="datetimeFigureOut">
              <a:rPr lang="en-US" smtClean="0"/>
              <a:t>3/7/2022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35D6B-0CC2-487E-8648-5F05E83E02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5040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FD096-0730-406F-BF23-5B4714B0E013}" type="datetimeFigureOut">
              <a:rPr lang="en-US" smtClean="0"/>
              <a:t>3/7/2022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35D6B-0CC2-487E-8648-5F05E83E02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1545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FD096-0730-406F-BF23-5B4714B0E013}" type="datetimeFigureOut">
              <a:rPr lang="en-US" smtClean="0"/>
              <a:t>3/7/2022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35D6B-0CC2-487E-8648-5F05E83E02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4339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FD096-0730-406F-BF23-5B4714B0E013}" type="datetimeFigureOut">
              <a:rPr lang="en-US" smtClean="0"/>
              <a:t>3/7/2022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35D6B-0CC2-487E-8648-5F05E83E02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6672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FD096-0730-406F-BF23-5B4714B0E013}" type="datetimeFigureOut">
              <a:rPr lang="en-US" smtClean="0"/>
              <a:t>3/7/2022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35D6B-0CC2-487E-8648-5F05E83E02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8586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FD096-0730-406F-BF23-5B4714B0E013}" type="datetimeFigureOut">
              <a:rPr lang="en-US" smtClean="0"/>
              <a:t>3/7/2022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35D6B-0CC2-487E-8648-5F05E83E02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460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5FD096-0730-406F-BF23-5B4714B0E013}" type="datetimeFigureOut">
              <a:rPr lang="en-US" smtClean="0"/>
              <a:t>3/7/2022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35D6B-0CC2-487E-8648-5F05E83E02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789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Communicative English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ESL - Errors in pronouns, adjectives and adverbs usage </a:t>
            </a:r>
          </a:p>
        </p:txBody>
      </p:sp>
    </p:spTree>
    <p:extLst>
      <p:ext uri="{BB962C8B-B14F-4D97-AF65-F5344CB8AC3E}">
        <p14:creationId xmlns:p14="http://schemas.microsoft.com/office/powerpoint/2010/main" val="15849003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3964" y="110836"/>
            <a:ext cx="11887200" cy="6747164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prstClr val="black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A pronoun replaces/used instead of a noun </a:t>
            </a:r>
          </a:p>
          <a:p>
            <a:pPr marL="0" indent="0">
              <a:buNone/>
            </a:pPr>
            <a:r>
              <a:rPr lang="en-US" sz="2400" dirty="0">
                <a:solidFill>
                  <a:prstClr val="black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Types of pronoun </a:t>
            </a:r>
          </a:p>
          <a:p>
            <a:pPr marL="0" indent="0">
              <a:buNone/>
            </a:pPr>
            <a:endParaRPr lang="en-US" sz="2400" dirty="0">
              <a:solidFill>
                <a:prstClr val="black"/>
              </a:solidFill>
              <a:latin typeface="Calibri Light" panose="020F0302020204030204"/>
              <a:ea typeface="+mj-ea"/>
              <a:cs typeface="+mj-cs"/>
            </a:endParaRPr>
          </a:p>
          <a:p>
            <a:pPr marL="514350" marR="0" indent="-5143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AutoNum type="arabicPeriod"/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PERSONAL – USED FOR A SPECIFIC OBJECT OR PERSON 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subjective - I, we, you, they ,he, she, it 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objective – me ,us, you, them, him, her, it 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possessive – my, our, their, his, hers, its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2. 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REFLEXIVE and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INTENSIVE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– USED TO INDICATE A NOUN WHICH HAS BEEN USED IN AN EARLIER PART OF THE SENTENCE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- myself, himself, themselves, itself, yourself, ourselves, herself, himself, itself 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3. RECIPROCAL – USED WHEN TWO OR MORE NOUNS ARE DOING OR BEING THE SAME TO ONE ANOTHER  - each other, one another. 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26511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1" y="360218"/>
            <a:ext cx="11499272" cy="6317673"/>
          </a:xfrm>
        </p:spPr>
        <p:txBody>
          <a:bodyPr>
            <a:normAutofit fontScale="92500" lnSpcReduction="20000"/>
          </a:bodyPr>
          <a:lstStyle/>
          <a:p>
            <a:pPr marL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5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</a:t>
            </a:r>
            <a:r>
              <a:rPr lang="en-US" sz="24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2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DEMONSTRATIVE – USED TO SHOW OR IDENTIFY ONE OR A NUMBER OF NOUNS THAT MAY BE FAR OR NEAR IN DISTACE OR TIME </a:t>
            </a:r>
          </a:p>
          <a:p>
            <a:pPr marL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this , that, those, these</a:t>
            </a:r>
          </a:p>
          <a:p>
            <a:pPr marL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26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 INDEFINITE – USED TO SHOW UNSPECIFIED OBJECTS OR PEOPLE WHETHER IN SINGULAR OR PLURAL </a:t>
            </a:r>
          </a:p>
          <a:p>
            <a:pPr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Tx/>
              <a:buChar char="-"/>
            </a:pPr>
            <a:r>
              <a:rPr lang="en-US" sz="2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Someone, anybody, anyone, nowhere, many, few, nothing</a:t>
            </a:r>
          </a:p>
          <a:p>
            <a:pPr marL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26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6. INTERROGATIVE – USED TO ASK A QUESTION ABOUT A PERSON OR OBJECT THAT WE DO NOT KNOW ABOUT</a:t>
            </a:r>
          </a:p>
          <a:p>
            <a:pPr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Tx/>
              <a:buChar char="-"/>
            </a:pPr>
            <a:r>
              <a:rPr lang="en-US" sz="2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who, whom, which, what, whoever, whichever</a:t>
            </a:r>
          </a:p>
          <a:p>
            <a:pPr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Tx/>
              <a:buChar char="-"/>
            </a:pPr>
            <a:endParaRPr lang="en-US" sz="26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7. RELATIVE – USED TO JOIN OR RELATE TWO DIFFERENT CLAUSES TOGETHER BY REFFERING TO THE NOUN IN THE PREVIOUS CLAUSE USING THE PRONOUNS</a:t>
            </a:r>
          </a:p>
          <a:p>
            <a:pPr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Tx/>
              <a:buChar char="-"/>
            </a:pPr>
            <a:r>
              <a:rPr lang="en-US" sz="2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Who, whom, whose, which, that</a:t>
            </a:r>
          </a:p>
          <a:p>
            <a:pPr marL="0" lvl="0" indent="0">
              <a:buNone/>
            </a:pPr>
            <a:endParaRPr lang="en-US" sz="2500" dirty="0">
              <a:solidFill>
                <a:prstClr val="black"/>
              </a:solidFill>
              <a:latin typeface="Calibri Light" panose="020F0302020204030204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29076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0839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Adjectives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33055"/>
            <a:ext cx="10515600" cy="5458690"/>
          </a:xfrm>
        </p:spPr>
        <p:txBody>
          <a:bodyPr>
            <a:normAutofit/>
          </a:bodyPr>
          <a:lstStyle/>
          <a:p>
            <a:r>
              <a:rPr lang="en-US" sz="2400" b="1" i="0" dirty="0">
                <a:solidFill>
                  <a:srgbClr val="222222"/>
                </a:solidFill>
                <a:effectLst/>
              </a:rPr>
              <a:t>Adjectives</a:t>
            </a:r>
            <a:r>
              <a:rPr lang="en-US" sz="2400" b="0" i="0" dirty="0">
                <a:solidFill>
                  <a:srgbClr val="222222"/>
                </a:solidFill>
                <a:effectLst/>
              </a:rPr>
              <a:t> are words that describe or modify other words, making your writing and speaking much more specific, and a whole lot more interesting. Words like small, blue, and sharp are descriptive, and they are all examples of </a:t>
            </a:r>
            <a:r>
              <a:rPr lang="en-US" sz="2400" b="1" i="0" dirty="0">
                <a:solidFill>
                  <a:srgbClr val="222222"/>
                </a:solidFill>
                <a:effectLst/>
              </a:rPr>
              <a:t>adjectives</a:t>
            </a:r>
            <a:r>
              <a:rPr lang="en-US" sz="2400" b="0" i="0" dirty="0">
                <a:solidFill>
                  <a:srgbClr val="222222"/>
                </a:solidFill>
                <a:effectLst/>
              </a:rPr>
              <a:t>.</a:t>
            </a:r>
          </a:p>
          <a:p>
            <a:r>
              <a:rPr lang="en-US" sz="2400" b="1" dirty="0">
                <a:solidFill>
                  <a:srgbClr val="222222"/>
                </a:solidFill>
              </a:rPr>
              <a:t>There are 7 types of adjectives </a:t>
            </a:r>
          </a:p>
          <a:p>
            <a:pPr fontAlgn="base"/>
            <a:r>
              <a:rPr lang="en-US" sz="2400" b="1" dirty="0">
                <a:solidFill>
                  <a:srgbClr val="222222"/>
                </a:solidFill>
                <a:effectLst/>
              </a:rPr>
              <a:t>Descriptive - </a:t>
            </a:r>
            <a:r>
              <a:rPr lang="en-US" sz="2400" dirty="0">
                <a:solidFill>
                  <a:srgbClr val="555555"/>
                </a:solidFill>
                <a:effectLst/>
              </a:rPr>
              <a:t>A descriptive adjective</a:t>
            </a:r>
            <a:r>
              <a:rPr lang="en-US" sz="2400" b="0" dirty="0">
                <a:solidFill>
                  <a:srgbClr val="555555"/>
                </a:solidFill>
                <a:effectLst/>
              </a:rPr>
              <a:t> is probably what you think of when you hear the word “adjective.” Descriptive adjectives are used to describe nouns and pronouns.</a:t>
            </a:r>
          </a:p>
          <a:p>
            <a:pPr fontAlgn="base"/>
            <a:r>
              <a:rPr lang="en-US" sz="2400" b="1" dirty="0">
                <a:solidFill>
                  <a:srgbClr val="555555"/>
                </a:solidFill>
                <a:effectLst/>
              </a:rPr>
              <a:t>Quantitative</a:t>
            </a:r>
            <a:r>
              <a:rPr lang="en-US" sz="2400" dirty="0">
                <a:solidFill>
                  <a:srgbClr val="555555"/>
                </a:solidFill>
              </a:rPr>
              <a:t> - </a:t>
            </a:r>
            <a:r>
              <a:rPr lang="en-US" sz="2400" b="0" dirty="0">
                <a:solidFill>
                  <a:srgbClr val="555555"/>
                </a:solidFill>
                <a:effectLst/>
              </a:rPr>
              <a:t> describe the quantity of something. </a:t>
            </a:r>
            <a:r>
              <a:rPr lang="en-US" sz="2400" b="0" dirty="0" err="1">
                <a:solidFill>
                  <a:srgbClr val="555555"/>
                </a:solidFill>
                <a:effectLst/>
              </a:rPr>
              <a:t>Egs</a:t>
            </a:r>
            <a:r>
              <a:rPr lang="en-US" sz="2400" b="0" dirty="0">
                <a:solidFill>
                  <a:srgbClr val="555555"/>
                </a:solidFill>
                <a:effectLst/>
              </a:rPr>
              <a:t>.. “how much?” or “how many?” Numbers like one and thirty are this type of adjective. So are more general words like many, half and a lot.</a:t>
            </a:r>
          </a:p>
          <a:p>
            <a:pPr fontAlgn="base"/>
            <a:r>
              <a:rPr lang="en-US" sz="2400" b="1" dirty="0">
                <a:solidFill>
                  <a:srgbClr val="222222"/>
                </a:solidFill>
                <a:effectLst/>
                <a:latin typeface="Helvetica Neue"/>
              </a:rPr>
              <a:t> </a:t>
            </a:r>
            <a:r>
              <a:rPr lang="en-US" sz="2400" b="1" dirty="0">
                <a:solidFill>
                  <a:srgbClr val="222222"/>
                </a:solidFill>
                <a:effectLst/>
              </a:rPr>
              <a:t>Demonstrative - </a:t>
            </a:r>
            <a:r>
              <a:rPr lang="en-US" sz="2400" b="0" dirty="0">
                <a:solidFill>
                  <a:srgbClr val="555555"/>
                </a:solidFill>
                <a:effectLst/>
              </a:rPr>
              <a:t>describes “which” noun or pronoun you’re referring to. These adjectives include the words: this , that, those, these. </a:t>
            </a:r>
            <a:r>
              <a:rPr lang="en-US" sz="2400" b="0" i="0" dirty="0">
                <a:solidFill>
                  <a:srgbClr val="555555"/>
                </a:solidFill>
                <a:effectLst/>
              </a:rPr>
              <a:t>always come before the word they’re modifying. </a:t>
            </a:r>
            <a:r>
              <a:rPr lang="en-US" sz="2400" b="0" i="0" dirty="0" err="1">
                <a:solidFill>
                  <a:srgbClr val="555555"/>
                </a:solidFill>
                <a:effectLst/>
              </a:rPr>
              <a:t>Eg</a:t>
            </a:r>
            <a:r>
              <a:rPr lang="en-US" sz="2400" b="0" i="0" dirty="0">
                <a:solidFill>
                  <a:srgbClr val="555555"/>
                </a:solidFill>
                <a:effectLst/>
              </a:rPr>
              <a:t>. </a:t>
            </a:r>
            <a:r>
              <a:rPr lang="en-US" sz="2400" b="1" i="1" dirty="0">
                <a:solidFill>
                  <a:srgbClr val="555555"/>
                </a:solidFill>
                <a:effectLst/>
              </a:rPr>
              <a:t>This </a:t>
            </a:r>
            <a:r>
              <a:rPr lang="en-US" sz="2400" b="0" i="0" dirty="0">
                <a:solidFill>
                  <a:srgbClr val="555555"/>
                </a:solidFill>
                <a:effectLst/>
              </a:rPr>
              <a:t>bicycle is mine </a:t>
            </a:r>
            <a:endParaRPr lang="en-US" sz="2400" b="0" dirty="0">
              <a:solidFill>
                <a:srgbClr val="555555"/>
              </a:solidFill>
              <a:effectLst/>
            </a:endParaRPr>
          </a:p>
          <a:p>
            <a:pPr marL="0" indent="0" fontAlgn="base">
              <a:buNone/>
            </a:pPr>
            <a:endParaRPr lang="en-US" sz="2400" b="0" dirty="0">
              <a:solidFill>
                <a:srgbClr val="555555"/>
              </a:solidFill>
              <a:effectLst/>
            </a:endParaRP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450086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3237" y="138545"/>
            <a:ext cx="11707090" cy="6553200"/>
          </a:xfrm>
        </p:spPr>
        <p:txBody>
          <a:bodyPr>
            <a:normAutofit lnSpcReduction="10000"/>
          </a:bodyPr>
          <a:lstStyle/>
          <a:p>
            <a:pPr fontAlgn="base"/>
            <a:r>
              <a:rPr lang="en-US" sz="2400" b="1" dirty="0">
                <a:solidFill>
                  <a:srgbClr val="222222"/>
                </a:solidFill>
                <a:effectLst/>
              </a:rPr>
              <a:t>Possessive - </a:t>
            </a:r>
            <a:r>
              <a:rPr lang="en-US" sz="2400" b="0" dirty="0">
                <a:solidFill>
                  <a:srgbClr val="555555"/>
                </a:solidFill>
                <a:effectLst/>
              </a:rPr>
              <a:t>show possession. They describe to whom a thing belongs. Some of the most common possessive adjectives include: </a:t>
            </a:r>
            <a:r>
              <a:rPr lang="en-US" sz="2400" b="1" dirty="0">
                <a:solidFill>
                  <a:srgbClr val="555555"/>
                </a:solidFill>
                <a:effectLst/>
              </a:rPr>
              <a:t>my , his, her, their</a:t>
            </a:r>
          </a:p>
          <a:p>
            <a:pPr fontAlgn="base"/>
            <a:r>
              <a:rPr lang="en-US" sz="2400" b="0" dirty="0">
                <a:solidFill>
                  <a:srgbClr val="555555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All these adjectives, except the word </a:t>
            </a:r>
            <a:r>
              <a:rPr lang="en-US" sz="2400" b="1" dirty="0">
                <a:solidFill>
                  <a:srgbClr val="555555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his/her,</a:t>
            </a:r>
            <a:r>
              <a:rPr lang="en-US" sz="2400" b="0" dirty="0">
                <a:solidFill>
                  <a:srgbClr val="555555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can only be used before a noun. You can’t just say “That’s my,” you have to say “That’s my pen.” </a:t>
            </a:r>
          </a:p>
          <a:p>
            <a:pPr fontAlgn="base"/>
            <a:r>
              <a:rPr lang="en-US" sz="2400" b="0" dirty="0">
                <a:solidFill>
                  <a:srgbClr val="555555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When you want to leave off the noun or pronoun being modified, use these possessive adjectives instead: </a:t>
            </a:r>
            <a:r>
              <a:rPr lang="en-US" sz="2400" b="1" dirty="0">
                <a:solidFill>
                  <a:srgbClr val="555555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Mine</a:t>
            </a:r>
            <a:r>
              <a:rPr lang="en-US" sz="2400" b="1" dirty="0">
                <a:solidFill>
                  <a:srgbClr val="55555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b="1" dirty="0">
                <a:solidFill>
                  <a:srgbClr val="555555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His</a:t>
            </a:r>
            <a:r>
              <a:rPr lang="en-US" sz="2400" b="1" dirty="0">
                <a:solidFill>
                  <a:srgbClr val="55555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b="1" dirty="0">
                <a:solidFill>
                  <a:srgbClr val="555555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Hers</a:t>
            </a:r>
            <a:r>
              <a:rPr lang="en-US" sz="2400" b="1" dirty="0">
                <a:solidFill>
                  <a:srgbClr val="55555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b="1" dirty="0">
                <a:solidFill>
                  <a:srgbClr val="555555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Theirs</a:t>
            </a:r>
            <a:r>
              <a:rPr lang="en-US" sz="2400" b="1" dirty="0">
                <a:solidFill>
                  <a:srgbClr val="55555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b="1" dirty="0">
                <a:solidFill>
                  <a:srgbClr val="555555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Yours</a:t>
            </a:r>
            <a:r>
              <a:rPr lang="en-US" sz="2400" b="1" dirty="0">
                <a:solidFill>
                  <a:srgbClr val="55555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b="1" dirty="0">
                <a:solidFill>
                  <a:srgbClr val="555555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Ours</a:t>
            </a:r>
            <a:r>
              <a:rPr lang="en-US" sz="2400" dirty="0">
                <a:solidFill>
                  <a:srgbClr val="55555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2400" b="0" dirty="0">
                <a:solidFill>
                  <a:srgbClr val="555555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For example, even though saying “That’s my” is incorrect, saying “That’s mine” is perfectly fine.</a:t>
            </a:r>
          </a:p>
          <a:p>
            <a:pPr fontAlgn="base"/>
            <a:r>
              <a:rPr lang="en-US" sz="2400" b="0" dirty="0">
                <a:solidFill>
                  <a:srgbClr val="555555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Example - </a:t>
            </a:r>
            <a:r>
              <a:rPr lang="en-US" sz="2400" b="0" i="0" dirty="0">
                <a:solidFill>
                  <a:srgbClr val="555555"/>
                </a:solidFill>
                <a:effectLst/>
              </a:rPr>
              <a:t>“Whose dog is that?” “He’s </a:t>
            </a:r>
            <a:r>
              <a:rPr lang="en-US" sz="2400" b="1" i="1" dirty="0">
                <a:solidFill>
                  <a:srgbClr val="555555"/>
                </a:solidFill>
                <a:effectLst/>
              </a:rPr>
              <a:t>mine</a:t>
            </a:r>
            <a:r>
              <a:rPr lang="en-US" sz="2400" b="0" i="0" dirty="0">
                <a:solidFill>
                  <a:srgbClr val="555555"/>
                </a:solidFill>
                <a:effectLst/>
              </a:rPr>
              <a:t>. That’s </a:t>
            </a:r>
            <a:r>
              <a:rPr lang="en-US" sz="2400" b="1" i="1" dirty="0">
                <a:solidFill>
                  <a:srgbClr val="555555"/>
                </a:solidFill>
                <a:effectLst/>
              </a:rPr>
              <a:t>my</a:t>
            </a:r>
            <a:r>
              <a:rPr lang="en-US" sz="2400" b="0" i="0" dirty="0">
                <a:solidFill>
                  <a:srgbClr val="555555"/>
                </a:solidFill>
                <a:effectLst/>
              </a:rPr>
              <a:t> dog.”</a:t>
            </a:r>
          </a:p>
          <a:p>
            <a:pPr fontAlgn="base"/>
            <a:endParaRPr lang="en-US" sz="2400" dirty="0">
              <a:solidFill>
                <a:srgbClr val="555555"/>
              </a:solidFill>
              <a:cs typeface="Calibri" panose="020F0502020204030204" pitchFamily="34" charset="0"/>
            </a:endParaRPr>
          </a:p>
          <a:p>
            <a:pPr fontAlgn="base"/>
            <a:r>
              <a:rPr lang="en-US" sz="2400" b="1" dirty="0">
                <a:solidFill>
                  <a:srgbClr val="222222"/>
                </a:solidFill>
                <a:effectLst/>
              </a:rPr>
              <a:t> Interrogative - </a:t>
            </a:r>
            <a:r>
              <a:rPr lang="en-US" sz="2400" b="0" dirty="0">
                <a:solidFill>
                  <a:srgbClr val="555555"/>
                </a:solidFill>
                <a:effectLst/>
              </a:rPr>
              <a:t> </a:t>
            </a:r>
            <a:r>
              <a:rPr lang="en-US" sz="2400" b="0" i="1" dirty="0">
                <a:solidFill>
                  <a:srgbClr val="555555"/>
                </a:solidFill>
                <a:effectLst/>
              </a:rPr>
              <a:t>interrogate</a:t>
            </a:r>
            <a:r>
              <a:rPr lang="en-US" sz="2400" b="0" dirty="0">
                <a:solidFill>
                  <a:srgbClr val="555555"/>
                </a:solidFill>
                <a:effectLst/>
              </a:rPr>
              <a:t>, meaning that they ask a question. These adjectives are always followed by a noun or a pronoun, and are used to form questions. The interrogative adjectives are: </a:t>
            </a:r>
            <a:r>
              <a:rPr lang="en-US" sz="2400" b="1" dirty="0">
                <a:solidFill>
                  <a:srgbClr val="555555"/>
                </a:solidFill>
              </a:rPr>
              <a:t>w</a:t>
            </a:r>
            <a:r>
              <a:rPr lang="en-US" sz="2400" b="1" i="0" dirty="0">
                <a:solidFill>
                  <a:srgbClr val="555555"/>
                </a:solidFill>
                <a:effectLst/>
              </a:rPr>
              <a:t>hich, what, whose </a:t>
            </a:r>
          </a:p>
          <a:p>
            <a:pPr fontAlgn="base"/>
            <a:r>
              <a:rPr lang="en-US" sz="2400" b="1" i="1" dirty="0">
                <a:solidFill>
                  <a:srgbClr val="555555"/>
                </a:solidFill>
                <a:effectLst/>
              </a:rPr>
              <a:t>Other question words, like “who” or “how,” aren’t adjectives since they don’t modify nouns. For example, you can say “whose coat is this?” but you can’t say “who coat</a:t>
            </a:r>
            <a:r>
              <a:rPr lang="en-US" sz="2400" b="1" i="1" dirty="0">
                <a:solidFill>
                  <a:srgbClr val="555555"/>
                </a:solidFill>
                <a:effectLst/>
                <a:latin typeface="proxima_nova_rgregular"/>
              </a:rPr>
              <a:t>?”</a:t>
            </a:r>
          </a:p>
          <a:p>
            <a:pPr fontAlgn="base"/>
            <a:r>
              <a:rPr lang="en-US" sz="2400" b="1" dirty="0">
                <a:solidFill>
                  <a:srgbClr val="555555"/>
                </a:solidFill>
                <a:effectLst/>
              </a:rPr>
              <a:t>Which, what </a:t>
            </a:r>
            <a:r>
              <a:rPr lang="en-US" sz="2400" dirty="0">
                <a:solidFill>
                  <a:srgbClr val="555555"/>
                </a:solidFill>
                <a:effectLst/>
              </a:rPr>
              <a:t>and</a:t>
            </a:r>
            <a:r>
              <a:rPr lang="en-US" sz="2400" b="1" dirty="0">
                <a:solidFill>
                  <a:srgbClr val="555555"/>
                </a:solidFill>
                <a:effectLst/>
              </a:rPr>
              <a:t> whose</a:t>
            </a:r>
            <a:r>
              <a:rPr lang="en-US" sz="2400" b="0" i="0" dirty="0">
                <a:solidFill>
                  <a:srgbClr val="555555"/>
                </a:solidFill>
                <a:effectLst/>
              </a:rPr>
              <a:t> are only considered adjectives if they’re immediately followed by a noun. The word </a:t>
            </a:r>
            <a:r>
              <a:rPr lang="en-US" sz="2400" b="1" dirty="0">
                <a:solidFill>
                  <a:srgbClr val="555555"/>
                </a:solidFill>
                <a:effectLst/>
              </a:rPr>
              <a:t>which</a:t>
            </a:r>
            <a:r>
              <a:rPr lang="en-US" sz="2400" b="0" dirty="0">
                <a:solidFill>
                  <a:srgbClr val="555555"/>
                </a:solidFill>
                <a:effectLst/>
              </a:rPr>
              <a:t> </a:t>
            </a:r>
            <a:r>
              <a:rPr lang="en-US" sz="2400" b="0" i="0" dirty="0">
                <a:solidFill>
                  <a:srgbClr val="555555"/>
                </a:solidFill>
                <a:effectLst/>
              </a:rPr>
              <a:t>is an adjective in this sentence: “</a:t>
            </a:r>
            <a:r>
              <a:rPr lang="en-US" sz="2400" b="1" dirty="0">
                <a:solidFill>
                  <a:srgbClr val="555555"/>
                </a:solidFill>
                <a:effectLst/>
              </a:rPr>
              <a:t>Which</a:t>
            </a:r>
            <a:r>
              <a:rPr lang="en-US" sz="2400" b="0" i="0" dirty="0">
                <a:solidFill>
                  <a:srgbClr val="555555"/>
                </a:solidFill>
                <a:effectLst/>
              </a:rPr>
              <a:t> color is your favorite?” But not in this one: “</a:t>
            </a:r>
            <a:r>
              <a:rPr lang="en-US" sz="2400" b="0" i="1" dirty="0">
                <a:solidFill>
                  <a:srgbClr val="555555"/>
                </a:solidFill>
                <a:effectLst/>
              </a:rPr>
              <a:t>Which</a:t>
            </a:r>
            <a:r>
              <a:rPr lang="en-US" sz="2400" b="0" i="0" dirty="0">
                <a:solidFill>
                  <a:srgbClr val="555555"/>
                </a:solidFill>
                <a:effectLst/>
              </a:rPr>
              <a:t> is your favorite color?”</a:t>
            </a:r>
            <a:endParaRPr lang="en-US" sz="2400" dirty="0">
              <a:solidFill>
                <a:srgbClr val="555555"/>
              </a:solidFill>
              <a:effectLst/>
            </a:endParaRPr>
          </a:p>
          <a:p>
            <a:pPr fontAlgn="base"/>
            <a:endParaRPr lang="en-US" sz="2400" b="0" dirty="0">
              <a:solidFill>
                <a:srgbClr val="555555"/>
              </a:solidFill>
              <a:effectLst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2820396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63236"/>
            <a:ext cx="10515600" cy="6289964"/>
          </a:xfrm>
        </p:spPr>
        <p:txBody>
          <a:bodyPr>
            <a:normAutofit/>
          </a:bodyPr>
          <a:lstStyle/>
          <a:p>
            <a:pPr fontAlgn="base"/>
            <a:r>
              <a:rPr lang="en-US" sz="2400" b="1" dirty="0">
                <a:solidFill>
                  <a:srgbClr val="555555"/>
                </a:solidFill>
                <a:effectLst/>
              </a:rPr>
              <a:t>Examples:</a:t>
            </a:r>
            <a:endParaRPr lang="en-US" sz="2400" b="0" dirty="0">
              <a:solidFill>
                <a:srgbClr val="555555"/>
              </a:solidFill>
              <a:effectLst/>
            </a:endParaRPr>
          </a:p>
          <a:p>
            <a:pPr fontAlgn="base"/>
            <a:r>
              <a:rPr lang="en-US" sz="2400" b="1" dirty="0">
                <a:solidFill>
                  <a:srgbClr val="555555"/>
                </a:solidFill>
                <a:effectLst/>
              </a:rPr>
              <a:t>“</a:t>
            </a:r>
            <a:r>
              <a:rPr lang="en-US" sz="2400" b="1" i="1" dirty="0">
                <a:solidFill>
                  <a:srgbClr val="555555"/>
                </a:solidFill>
                <a:effectLst/>
              </a:rPr>
              <a:t>Which</a:t>
            </a:r>
            <a:r>
              <a:rPr lang="en-US" sz="2400" b="1" dirty="0">
                <a:solidFill>
                  <a:srgbClr val="555555"/>
                </a:solidFill>
                <a:effectLst/>
              </a:rPr>
              <a:t> song </a:t>
            </a:r>
            <a:r>
              <a:rPr lang="en-US" sz="2400" b="0" dirty="0">
                <a:solidFill>
                  <a:srgbClr val="555555"/>
                </a:solidFill>
                <a:effectLst/>
              </a:rPr>
              <a:t>will you play on your wedding day?”</a:t>
            </a:r>
          </a:p>
          <a:p>
            <a:pPr fontAlgn="base"/>
            <a:r>
              <a:rPr lang="en-US" sz="2400" b="0" dirty="0">
                <a:solidFill>
                  <a:srgbClr val="555555"/>
                </a:solidFill>
                <a:effectLst/>
              </a:rPr>
              <a:t>“</a:t>
            </a:r>
            <a:r>
              <a:rPr lang="en-US" sz="2400" b="1" i="1" dirty="0">
                <a:solidFill>
                  <a:srgbClr val="555555"/>
                </a:solidFill>
                <a:effectLst/>
              </a:rPr>
              <a:t>What</a:t>
            </a:r>
            <a:r>
              <a:rPr lang="en-US" sz="2400" b="1" dirty="0">
                <a:solidFill>
                  <a:srgbClr val="555555"/>
                </a:solidFill>
                <a:effectLst/>
              </a:rPr>
              <a:t> pet </a:t>
            </a:r>
            <a:r>
              <a:rPr lang="en-US" sz="2400" b="0" dirty="0">
                <a:solidFill>
                  <a:srgbClr val="555555"/>
                </a:solidFill>
                <a:effectLst/>
              </a:rPr>
              <a:t>do you want to get?”</a:t>
            </a:r>
          </a:p>
          <a:p>
            <a:pPr fontAlgn="base"/>
            <a:r>
              <a:rPr lang="en-US" sz="2400" b="0" dirty="0">
                <a:solidFill>
                  <a:srgbClr val="555555"/>
                </a:solidFill>
                <a:effectLst/>
              </a:rPr>
              <a:t>“</a:t>
            </a:r>
            <a:r>
              <a:rPr lang="en-US" sz="2400" b="1" i="1" dirty="0">
                <a:solidFill>
                  <a:srgbClr val="555555"/>
                </a:solidFill>
                <a:effectLst/>
              </a:rPr>
              <a:t>Whose</a:t>
            </a:r>
            <a:r>
              <a:rPr lang="en-US" sz="2400" b="1" dirty="0">
                <a:solidFill>
                  <a:srgbClr val="555555"/>
                </a:solidFill>
                <a:effectLst/>
              </a:rPr>
              <a:t> child </a:t>
            </a:r>
            <a:r>
              <a:rPr lang="en-US" sz="2400" b="0" dirty="0">
                <a:solidFill>
                  <a:srgbClr val="555555"/>
                </a:solidFill>
                <a:effectLst/>
              </a:rPr>
              <a:t>is this?”</a:t>
            </a:r>
          </a:p>
          <a:p>
            <a:endParaRPr lang="en-US" sz="2400" dirty="0"/>
          </a:p>
          <a:p>
            <a:pPr fontAlgn="base"/>
            <a:r>
              <a:rPr lang="en-US" sz="2400" b="1" dirty="0">
                <a:solidFill>
                  <a:srgbClr val="555555"/>
                </a:solidFill>
                <a:effectLst/>
              </a:rPr>
              <a:t>Distributive adjectives</a:t>
            </a:r>
            <a:r>
              <a:rPr lang="en-US" sz="2400" b="0" dirty="0">
                <a:solidFill>
                  <a:srgbClr val="555555"/>
                </a:solidFill>
                <a:effectLst/>
              </a:rPr>
              <a:t> describe specific members out of a group. These adjectives are used to single out one or more individual items or people. Some of the most common distributive adjectives include:</a:t>
            </a:r>
          </a:p>
          <a:p>
            <a:pPr fontAlgn="base"/>
            <a:r>
              <a:rPr lang="en-US" sz="2400" b="1" i="0" dirty="0">
                <a:solidFill>
                  <a:srgbClr val="555555"/>
                </a:solidFill>
                <a:effectLst/>
              </a:rPr>
              <a:t>Each</a:t>
            </a:r>
            <a:r>
              <a:rPr lang="en-US" sz="2400" dirty="0">
                <a:solidFill>
                  <a:srgbClr val="555555"/>
                </a:solidFill>
              </a:rPr>
              <a:t>, e</a:t>
            </a:r>
            <a:r>
              <a:rPr lang="en-US" sz="2400" b="1" i="0" dirty="0">
                <a:solidFill>
                  <a:srgbClr val="555555"/>
                </a:solidFill>
                <a:effectLst/>
              </a:rPr>
              <a:t>very</a:t>
            </a:r>
            <a:r>
              <a:rPr lang="en-US" sz="2400" dirty="0">
                <a:solidFill>
                  <a:srgbClr val="555555"/>
                </a:solidFill>
              </a:rPr>
              <a:t>, e</a:t>
            </a:r>
            <a:r>
              <a:rPr lang="en-US" sz="2400" b="1" i="0" dirty="0">
                <a:solidFill>
                  <a:srgbClr val="555555"/>
                </a:solidFill>
                <a:effectLst/>
              </a:rPr>
              <a:t>ither, neither</a:t>
            </a:r>
            <a:r>
              <a:rPr lang="en-US" sz="2400" dirty="0">
                <a:solidFill>
                  <a:srgbClr val="555555"/>
                </a:solidFill>
              </a:rPr>
              <a:t>, a</a:t>
            </a:r>
            <a:r>
              <a:rPr lang="en-US" sz="2400" b="1" i="0" dirty="0">
                <a:solidFill>
                  <a:srgbClr val="555555"/>
                </a:solidFill>
                <a:effectLst/>
              </a:rPr>
              <a:t>ny</a:t>
            </a:r>
            <a:r>
              <a:rPr lang="en-US" sz="2400" b="0" i="0" dirty="0">
                <a:solidFill>
                  <a:srgbClr val="555555"/>
                </a:solidFill>
                <a:effectLst/>
              </a:rPr>
              <a:t>. This is also used when the choice is irrelevant, like: “it doesn’t matter, I’ll take </a:t>
            </a:r>
            <a:r>
              <a:rPr lang="en-US" sz="2400" b="1" i="1" dirty="0">
                <a:solidFill>
                  <a:srgbClr val="555555"/>
                </a:solidFill>
                <a:effectLst/>
              </a:rPr>
              <a:t>any</a:t>
            </a:r>
            <a:r>
              <a:rPr lang="en-US" sz="2400" b="0" i="0" dirty="0">
                <a:solidFill>
                  <a:srgbClr val="555555"/>
                </a:solidFill>
                <a:effectLst/>
              </a:rPr>
              <a:t> of them.” </a:t>
            </a:r>
            <a:r>
              <a:rPr lang="en-US" sz="2400" b="0" dirty="0">
                <a:solidFill>
                  <a:srgbClr val="555555"/>
                </a:solidFill>
                <a:effectLst/>
              </a:rPr>
              <a:t>These adjectives are always followed by the noun or pronoun they’re modifying.</a:t>
            </a:r>
          </a:p>
          <a:p>
            <a:pPr fontAlgn="base"/>
            <a:r>
              <a:rPr lang="en-US" sz="2400" b="1" dirty="0">
                <a:solidFill>
                  <a:srgbClr val="555555"/>
                </a:solidFill>
                <a:effectLst/>
              </a:rPr>
              <a:t>Examples: </a:t>
            </a:r>
            <a:endParaRPr lang="en-US" sz="2400" b="0" dirty="0">
              <a:solidFill>
                <a:srgbClr val="555555"/>
              </a:solidFill>
              <a:effectLst/>
            </a:endParaRPr>
          </a:p>
          <a:p>
            <a:pPr fontAlgn="base"/>
            <a:r>
              <a:rPr lang="en-US" sz="2400" b="0" dirty="0">
                <a:effectLst/>
              </a:rPr>
              <a:t>“</a:t>
            </a:r>
            <a:r>
              <a:rPr lang="en-US" sz="2400" b="0" i="1" u="none" strike="noStrike" dirty="0">
                <a:effectLst/>
              </a:rPr>
              <a:t>Every</a:t>
            </a:r>
            <a:r>
              <a:rPr lang="en-US" sz="2400" b="0" u="none" strike="noStrike" dirty="0">
                <a:effectLst/>
              </a:rPr>
              <a:t> rose has it’s thorn”</a:t>
            </a:r>
            <a:endParaRPr lang="en-US" sz="2400" b="0" dirty="0">
              <a:effectLst/>
            </a:endParaRPr>
          </a:p>
          <a:p>
            <a:pPr fontAlgn="base"/>
            <a:r>
              <a:rPr lang="en-US" sz="2400" b="0" dirty="0">
                <a:solidFill>
                  <a:srgbClr val="555555"/>
                </a:solidFill>
                <a:effectLst/>
              </a:rPr>
              <a:t>“Which of these two songs do you like?” “I don’t like </a:t>
            </a:r>
            <a:r>
              <a:rPr lang="en-US" sz="2400" b="1" i="1" dirty="0">
                <a:solidFill>
                  <a:srgbClr val="555555"/>
                </a:solidFill>
                <a:effectLst/>
              </a:rPr>
              <a:t>either</a:t>
            </a:r>
            <a:r>
              <a:rPr lang="en-US" sz="2400" b="1" dirty="0">
                <a:solidFill>
                  <a:srgbClr val="555555"/>
                </a:solidFill>
                <a:effectLst/>
              </a:rPr>
              <a:t> </a:t>
            </a:r>
            <a:r>
              <a:rPr lang="en-US" sz="2400" b="0" dirty="0">
                <a:solidFill>
                  <a:srgbClr val="555555"/>
                </a:solidFill>
                <a:effectLst/>
              </a:rPr>
              <a:t>song.”</a:t>
            </a:r>
          </a:p>
          <a:p>
            <a:pPr fontAlgn="base"/>
            <a:endParaRPr lang="en-US" sz="2400" b="0" dirty="0">
              <a:solidFill>
                <a:srgbClr val="555555"/>
              </a:solidFill>
              <a:effectLst/>
            </a:endParaRP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950420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2562" y="218497"/>
            <a:ext cx="11520055" cy="6473248"/>
          </a:xfrm>
        </p:spPr>
        <p:txBody>
          <a:bodyPr>
            <a:normAutofit lnSpcReduction="10000"/>
          </a:bodyPr>
          <a:lstStyle/>
          <a:p>
            <a:pPr fontAlgn="base"/>
            <a:r>
              <a:rPr lang="en-US" sz="2400" b="1" dirty="0">
                <a:solidFill>
                  <a:srgbClr val="222222"/>
                </a:solidFill>
                <a:effectLst/>
              </a:rPr>
              <a:t>Articles</a:t>
            </a:r>
          </a:p>
          <a:p>
            <a:pPr fontAlgn="base"/>
            <a:r>
              <a:rPr lang="en-US" sz="2400" dirty="0">
                <a:solidFill>
                  <a:srgbClr val="555555"/>
                </a:solidFill>
              </a:rPr>
              <a:t>The</a:t>
            </a:r>
            <a:r>
              <a:rPr lang="en-US" sz="2400" b="0" dirty="0">
                <a:solidFill>
                  <a:srgbClr val="555555"/>
                </a:solidFill>
                <a:effectLst/>
              </a:rPr>
              <a:t> three </a:t>
            </a:r>
            <a:r>
              <a:rPr lang="en-US" sz="2400" b="1" dirty="0">
                <a:solidFill>
                  <a:srgbClr val="555555"/>
                </a:solidFill>
                <a:effectLst/>
              </a:rPr>
              <a:t>articles</a:t>
            </a:r>
            <a:r>
              <a:rPr lang="en-US" sz="2400" b="0" dirty="0">
                <a:solidFill>
                  <a:srgbClr val="555555"/>
                </a:solidFill>
                <a:effectLst/>
              </a:rPr>
              <a:t> in the English language are </a:t>
            </a:r>
            <a:r>
              <a:rPr lang="en-US" sz="2400" b="1" i="1" dirty="0">
                <a:solidFill>
                  <a:srgbClr val="555555"/>
                </a:solidFill>
                <a:effectLst/>
              </a:rPr>
              <a:t>a</a:t>
            </a:r>
            <a:r>
              <a:rPr lang="en-US" sz="2400" b="1" dirty="0">
                <a:solidFill>
                  <a:srgbClr val="555555"/>
                </a:solidFill>
                <a:effectLst/>
              </a:rPr>
              <a:t>, </a:t>
            </a:r>
            <a:r>
              <a:rPr lang="en-US" sz="2400" b="1" i="1" dirty="0">
                <a:solidFill>
                  <a:srgbClr val="555555"/>
                </a:solidFill>
                <a:effectLst/>
              </a:rPr>
              <a:t>an</a:t>
            </a:r>
            <a:r>
              <a:rPr lang="en-US" sz="2400" b="1" dirty="0">
                <a:solidFill>
                  <a:srgbClr val="555555"/>
                </a:solidFill>
                <a:effectLst/>
              </a:rPr>
              <a:t> and </a:t>
            </a:r>
            <a:r>
              <a:rPr lang="en-US" sz="2400" b="1" i="1" dirty="0">
                <a:solidFill>
                  <a:srgbClr val="555555"/>
                </a:solidFill>
                <a:effectLst/>
              </a:rPr>
              <a:t>the</a:t>
            </a:r>
            <a:r>
              <a:rPr lang="en-US" sz="2400" b="0" dirty="0">
                <a:solidFill>
                  <a:srgbClr val="555555"/>
                </a:solidFill>
                <a:effectLst/>
              </a:rPr>
              <a:t>. </a:t>
            </a:r>
            <a:r>
              <a:rPr lang="en-US" sz="2400" dirty="0">
                <a:solidFill>
                  <a:srgbClr val="555555"/>
                </a:solidFill>
              </a:rPr>
              <a:t>They</a:t>
            </a:r>
            <a:r>
              <a:rPr lang="en-US" sz="2400" b="0" dirty="0">
                <a:solidFill>
                  <a:srgbClr val="555555"/>
                </a:solidFill>
                <a:effectLst/>
              </a:rPr>
              <a:t> can be difficult for English learners to use correctly because many languages don’t have them.</a:t>
            </a:r>
          </a:p>
          <a:p>
            <a:pPr fontAlgn="base"/>
            <a:r>
              <a:rPr lang="en-US" sz="2400" b="0" dirty="0">
                <a:solidFill>
                  <a:srgbClr val="555555"/>
                </a:solidFill>
                <a:effectLst/>
              </a:rPr>
              <a:t>Although articles are a separate item in </a:t>
            </a:r>
            <a:r>
              <a:rPr lang="en-US" sz="2400" dirty="0">
                <a:solidFill>
                  <a:srgbClr val="555555"/>
                </a:solidFill>
              </a:rPr>
              <a:t>English </a:t>
            </a:r>
            <a:r>
              <a:rPr lang="en-US" sz="2400" b="0" dirty="0">
                <a:solidFill>
                  <a:srgbClr val="555555"/>
                </a:solidFill>
                <a:effectLst/>
              </a:rPr>
              <a:t>grammar, they’re technically also adjectives!  Articles are used to describe which noun you’re referring to. </a:t>
            </a:r>
          </a:p>
          <a:p>
            <a:pPr fontAlgn="base"/>
            <a:r>
              <a:rPr lang="en-US" sz="2400" b="1" i="0" dirty="0">
                <a:solidFill>
                  <a:srgbClr val="555555"/>
                </a:solidFill>
                <a:effectLst/>
              </a:rPr>
              <a:t>A</a:t>
            </a:r>
            <a:r>
              <a:rPr lang="en-US" sz="2400" b="0" i="0" dirty="0">
                <a:solidFill>
                  <a:srgbClr val="555555"/>
                </a:solidFill>
                <a:effectLst/>
              </a:rPr>
              <a:t> — A singular, general item, </a:t>
            </a:r>
            <a:r>
              <a:rPr lang="en-US" sz="2400" b="1" i="0" dirty="0">
                <a:solidFill>
                  <a:srgbClr val="555555"/>
                </a:solidFill>
                <a:effectLst/>
              </a:rPr>
              <a:t>An</a:t>
            </a:r>
            <a:r>
              <a:rPr lang="en-US" sz="2400" b="0" i="0" dirty="0">
                <a:solidFill>
                  <a:srgbClr val="555555"/>
                </a:solidFill>
                <a:effectLst/>
              </a:rPr>
              <a:t> — A singular, general item. Used before words that start with a word with a vowel sound , </a:t>
            </a:r>
            <a:r>
              <a:rPr lang="en-US" sz="2400" b="1" i="0" dirty="0">
                <a:solidFill>
                  <a:srgbClr val="555555"/>
                </a:solidFill>
                <a:effectLst/>
              </a:rPr>
              <a:t>The</a:t>
            </a:r>
            <a:r>
              <a:rPr lang="en-US" sz="2400" b="0" i="0" dirty="0">
                <a:solidFill>
                  <a:srgbClr val="555555"/>
                </a:solidFill>
                <a:effectLst/>
              </a:rPr>
              <a:t> — A singular or plural, specific item.</a:t>
            </a:r>
          </a:p>
          <a:p>
            <a:pPr fontAlgn="base"/>
            <a:r>
              <a:rPr lang="en-US" sz="2400" dirty="0">
                <a:solidFill>
                  <a:srgbClr val="555555"/>
                </a:solidFill>
              </a:rPr>
              <a:t>W</a:t>
            </a:r>
            <a:r>
              <a:rPr lang="en-US" sz="2400" b="0" dirty="0">
                <a:solidFill>
                  <a:srgbClr val="555555"/>
                </a:solidFill>
                <a:effectLst/>
              </a:rPr>
              <a:t>hen you’re talking about something general, use </a:t>
            </a:r>
            <a:r>
              <a:rPr lang="en-US" sz="2400" b="1" i="1" dirty="0">
                <a:solidFill>
                  <a:srgbClr val="555555"/>
                </a:solidFill>
                <a:effectLst/>
              </a:rPr>
              <a:t>a</a:t>
            </a:r>
            <a:r>
              <a:rPr lang="en-US" sz="2400" b="1" dirty="0">
                <a:solidFill>
                  <a:srgbClr val="555555"/>
                </a:solidFill>
                <a:effectLst/>
              </a:rPr>
              <a:t> and </a:t>
            </a:r>
            <a:r>
              <a:rPr lang="en-US" sz="2400" b="1" i="1" dirty="0">
                <a:solidFill>
                  <a:srgbClr val="555555"/>
                </a:solidFill>
                <a:effectLst/>
              </a:rPr>
              <a:t>an</a:t>
            </a:r>
            <a:r>
              <a:rPr lang="en-US" sz="2400" b="0" dirty="0">
                <a:solidFill>
                  <a:srgbClr val="555555"/>
                </a:solidFill>
                <a:effectLst/>
              </a:rPr>
              <a:t>. When you’re speaking about something specific, use </a:t>
            </a:r>
            <a:r>
              <a:rPr lang="en-US" sz="2400" b="1" i="1" dirty="0">
                <a:solidFill>
                  <a:srgbClr val="555555"/>
                </a:solidFill>
                <a:effectLst/>
              </a:rPr>
              <a:t>the</a:t>
            </a:r>
            <a:r>
              <a:rPr lang="en-US" sz="2400" b="0" dirty="0">
                <a:solidFill>
                  <a:srgbClr val="555555"/>
                </a:solidFill>
                <a:effectLst/>
              </a:rPr>
              <a:t>. “</a:t>
            </a:r>
            <a:r>
              <a:rPr lang="en-US" sz="2400" b="0" i="1" dirty="0">
                <a:solidFill>
                  <a:srgbClr val="555555"/>
                </a:solidFill>
                <a:effectLst/>
              </a:rPr>
              <a:t>A</a:t>
            </a:r>
            <a:r>
              <a:rPr lang="en-US" sz="2400" b="0" dirty="0">
                <a:solidFill>
                  <a:srgbClr val="555555"/>
                </a:solidFill>
                <a:effectLst/>
              </a:rPr>
              <a:t> cat” can be used to refer to any cat in the world. “</a:t>
            </a:r>
            <a:r>
              <a:rPr lang="en-US" sz="2400" b="0" i="1" dirty="0">
                <a:solidFill>
                  <a:srgbClr val="555555"/>
                </a:solidFill>
                <a:effectLst/>
              </a:rPr>
              <a:t>The</a:t>
            </a:r>
            <a:r>
              <a:rPr lang="en-US" sz="2400" b="0" dirty="0">
                <a:solidFill>
                  <a:srgbClr val="555555"/>
                </a:solidFill>
                <a:effectLst/>
              </a:rPr>
              <a:t> cat” is used to refer to the cat that just walked by. </a:t>
            </a:r>
          </a:p>
          <a:p>
            <a:pPr fontAlgn="base"/>
            <a:r>
              <a:rPr lang="en-US" sz="2400" dirty="0"/>
              <a:t>Try using a demonstrative adjective before the noun. If it makes sense, use the word</a:t>
            </a:r>
            <a:r>
              <a:rPr lang="en-US" sz="2400" i="1" dirty="0"/>
              <a:t> the.</a:t>
            </a:r>
            <a:r>
              <a:rPr lang="en-US" sz="2400" dirty="0"/>
              <a:t> If it changes the meaning of what you’re trying to say, use </a:t>
            </a:r>
            <a:r>
              <a:rPr lang="en-US" sz="2400" i="1" dirty="0"/>
              <a:t>a</a:t>
            </a:r>
            <a:r>
              <a:rPr lang="en-US" sz="2400" dirty="0"/>
              <a:t> or </a:t>
            </a:r>
            <a:r>
              <a:rPr lang="en-US" sz="2400" i="1" dirty="0"/>
              <a:t>an.</a:t>
            </a:r>
            <a:r>
              <a:rPr lang="en-US" sz="2400" dirty="0"/>
              <a:t>  </a:t>
            </a:r>
          </a:p>
          <a:p>
            <a:pPr fontAlgn="base"/>
            <a:r>
              <a:rPr lang="en-US" sz="2400" dirty="0"/>
              <a:t>For example, if it makes sense to say “I don’t understand </a:t>
            </a:r>
            <a:r>
              <a:rPr lang="en-US" sz="2400" i="1" dirty="0"/>
              <a:t>this</a:t>
            </a:r>
            <a:r>
              <a:rPr lang="en-US" sz="2400" dirty="0"/>
              <a:t> question,” you can also say “I don’t understand </a:t>
            </a:r>
            <a:r>
              <a:rPr lang="en-US" sz="2400" i="1" dirty="0"/>
              <a:t>the</a:t>
            </a:r>
            <a:r>
              <a:rPr lang="en-US" sz="2400" dirty="0"/>
              <a:t> question.” On the other hand, it sounds strange to say “I need </a:t>
            </a:r>
            <a:r>
              <a:rPr lang="en-US" sz="2400" i="1" dirty="0"/>
              <a:t>this</a:t>
            </a:r>
            <a:r>
              <a:rPr lang="en-US" sz="2400" dirty="0"/>
              <a:t> tissue” because you don’t need that specific tissue. You just need “</a:t>
            </a:r>
            <a:r>
              <a:rPr lang="en-US" sz="2400" i="1" dirty="0"/>
              <a:t>a</a:t>
            </a:r>
            <a:r>
              <a:rPr lang="en-US" sz="2400" dirty="0"/>
              <a:t> tissue.”</a:t>
            </a:r>
          </a:p>
          <a:p>
            <a:pPr fontAlgn="base"/>
            <a:r>
              <a:rPr lang="en-US" sz="2400" dirty="0"/>
              <a:t>“</a:t>
            </a:r>
            <a:r>
              <a:rPr lang="en-US" sz="2400" b="1" i="1" dirty="0"/>
              <a:t>The</a:t>
            </a:r>
            <a:r>
              <a:rPr lang="en-US" sz="2400" b="1" dirty="0"/>
              <a:t> </a:t>
            </a:r>
            <a:r>
              <a:rPr lang="en-US" sz="2400" dirty="0"/>
              <a:t>elephants left huge footprints in </a:t>
            </a:r>
            <a:r>
              <a:rPr lang="en-US" sz="2400" i="1" dirty="0"/>
              <a:t>the</a:t>
            </a:r>
            <a:r>
              <a:rPr lang="en-US" sz="2400" dirty="0"/>
              <a:t> sand.”</a:t>
            </a:r>
          </a:p>
          <a:p>
            <a:pPr fontAlgn="base"/>
            <a:r>
              <a:rPr lang="en-US" sz="2400" dirty="0"/>
              <a:t>“</a:t>
            </a:r>
            <a:r>
              <a:rPr lang="en-US" sz="2400" b="1" i="1" dirty="0"/>
              <a:t>An</a:t>
            </a:r>
            <a:r>
              <a:rPr lang="en-US" sz="2400" dirty="0"/>
              <a:t> elephant can weigh over 6,000 pounds!”</a:t>
            </a:r>
          </a:p>
          <a:p>
            <a:pPr fontAlgn="base"/>
            <a:endParaRPr lang="en-US" sz="2400" dirty="0"/>
          </a:p>
          <a:p>
            <a:pPr fontAlgn="base"/>
            <a:endParaRPr lang="en-US" sz="2400" b="1" dirty="0">
              <a:solidFill>
                <a:srgbClr val="222222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4353293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42108"/>
          </a:xfrm>
        </p:spPr>
        <p:txBody>
          <a:bodyPr/>
          <a:lstStyle/>
          <a:p>
            <a:r>
              <a:rPr lang="en-US" dirty="0"/>
              <a:t>Adverbs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45127"/>
            <a:ext cx="10515600" cy="5791200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An </a:t>
            </a:r>
            <a:r>
              <a:rPr lang="en-US" sz="2400" b="1" dirty="0"/>
              <a:t>adverb</a:t>
            </a:r>
            <a:r>
              <a:rPr lang="en-US" sz="2400" dirty="0"/>
              <a:t> is a word/a set of words that modifies verbs, adjectives, and other adverbs. It tells when, where, and how an action is performed or indicates the quality or degree of the action.</a:t>
            </a:r>
          </a:p>
          <a:p>
            <a:r>
              <a:rPr lang="en-US" sz="2400" b="0" i="0" dirty="0">
                <a:solidFill>
                  <a:srgbClr val="444444"/>
                </a:solidFill>
                <a:effectLst/>
              </a:rPr>
              <a:t>Many adverbs end in -</a:t>
            </a:r>
            <a:r>
              <a:rPr lang="en-US" sz="2400" b="0" i="1" dirty="0" err="1">
                <a:solidFill>
                  <a:srgbClr val="444444"/>
                </a:solidFill>
                <a:effectLst/>
              </a:rPr>
              <a:t>ly</a:t>
            </a:r>
            <a:r>
              <a:rPr lang="en-US" sz="2400" b="0" i="0" dirty="0">
                <a:solidFill>
                  <a:srgbClr val="444444"/>
                </a:solidFill>
                <a:effectLst/>
              </a:rPr>
              <a:t> but some words which end in -</a:t>
            </a:r>
            <a:r>
              <a:rPr lang="en-US" sz="2400" b="0" i="1" dirty="0" err="1">
                <a:solidFill>
                  <a:srgbClr val="444444"/>
                </a:solidFill>
                <a:effectLst/>
              </a:rPr>
              <a:t>ly</a:t>
            </a:r>
            <a:r>
              <a:rPr lang="en-US" sz="2400" b="0" i="0" dirty="0">
                <a:solidFill>
                  <a:srgbClr val="444444"/>
                </a:solidFill>
                <a:effectLst/>
              </a:rPr>
              <a:t> (such as </a:t>
            </a:r>
            <a:r>
              <a:rPr lang="en-US" sz="2400" b="0" i="1" dirty="0">
                <a:solidFill>
                  <a:srgbClr val="444444"/>
                </a:solidFill>
                <a:effectLst/>
              </a:rPr>
              <a:t>friendly</a:t>
            </a:r>
            <a:r>
              <a:rPr lang="en-US" sz="2400" b="0" i="0" dirty="0">
                <a:solidFill>
                  <a:srgbClr val="444444"/>
                </a:solidFill>
                <a:effectLst/>
              </a:rPr>
              <a:t>) are not adverbs. Many words can be both adverbs and adjectives according to their activity in the sentence.</a:t>
            </a:r>
          </a:p>
          <a:p>
            <a:pPr algn="just" fontAlgn="base"/>
            <a:r>
              <a:rPr lang="en-US" sz="2400" b="1" i="0" dirty="0">
                <a:solidFill>
                  <a:srgbClr val="444444"/>
                </a:solidFill>
                <a:effectLst/>
              </a:rPr>
              <a:t>Adverb Clauses</a:t>
            </a:r>
            <a:r>
              <a:rPr lang="en-US" sz="2400" b="0" i="0" dirty="0">
                <a:solidFill>
                  <a:srgbClr val="444444"/>
                </a:solidFill>
                <a:effectLst/>
              </a:rPr>
              <a:t> and </a:t>
            </a:r>
            <a:r>
              <a:rPr lang="en-US" sz="2400" b="1" i="0" dirty="0">
                <a:solidFill>
                  <a:srgbClr val="444444"/>
                </a:solidFill>
                <a:effectLst/>
              </a:rPr>
              <a:t>Adverb Phrases</a:t>
            </a:r>
            <a:r>
              <a:rPr lang="en-US" sz="2400" b="0" i="0" dirty="0">
                <a:solidFill>
                  <a:srgbClr val="444444"/>
                </a:solidFill>
                <a:effectLst/>
              </a:rPr>
              <a:t> are clauses and phrases that modify the verbs, adjectives or other adverbs in the sentence.</a:t>
            </a:r>
          </a:p>
          <a:p>
            <a:pPr algn="just" fontAlgn="base"/>
            <a:r>
              <a:rPr lang="en-US" sz="2400" b="1" i="0" dirty="0">
                <a:solidFill>
                  <a:srgbClr val="444444"/>
                </a:solidFill>
                <a:effectLst/>
              </a:rPr>
              <a:t>Example:</a:t>
            </a:r>
            <a:endParaRPr lang="en-US" sz="2400" b="0" i="0" dirty="0">
              <a:solidFill>
                <a:srgbClr val="444444"/>
              </a:solidFill>
              <a:effectLst/>
            </a:endParaRPr>
          </a:p>
          <a:p>
            <a:pPr fontAlgn="base"/>
            <a:r>
              <a:rPr lang="en-US" sz="2400" b="0" i="0" dirty="0">
                <a:solidFill>
                  <a:srgbClr val="444444"/>
                </a:solidFill>
                <a:effectLst/>
              </a:rPr>
              <a:t>He ran towards the bus </a:t>
            </a:r>
            <a:r>
              <a:rPr lang="en-US" sz="2400" b="0" i="0" u="sng" dirty="0">
                <a:solidFill>
                  <a:srgbClr val="444444"/>
                </a:solidFill>
                <a:effectLst/>
              </a:rPr>
              <a:t>until he was tired</a:t>
            </a:r>
            <a:r>
              <a:rPr lang="en-US" sz="2400" b="0" i="0" dirty="0">
                <a:solidFill>
                  <a:srgbClr val="444444"/>
                </a:solidFill>
                <a:effectLst/>
              </a:rPr>
              <a:t>. (Adverb Clause)</a:t>
            </a:r>
          </a:p>
          <a:p>
            <a:pPr fontAlgn="base"/>
            <a:r>
              <a:rPr lang="en-US" sz="2400" b="0" i="0" dirty="0">
                <a:solidFill>
                  <a:srgbClr val="444444"/>
                </a:solidFill>
                <a:effectLst/>
              </a:rPr>
              <a:t>He came </a:t>
            </a:r>
            <a:r>
              <a:rPr lang="en-US" sz="2400" b="0" i="0" u="sng" dirty="0">
                <a:solidFill>
                  <a:srgbClr val="444444"/>
                </a:solidFill>
                <a:effectLst/>
              </a:rPr>
              <a:t>carrying his box with two hands</a:t>
            </a:r>
            <a:r>
              <a:rPr lang="en-US" sz="2400" b="0" i="0" dirty="0">
                <a:solidFill>
                  <a:srgbClr val="444444"/>
                </a:solidFill>
                <a:effectLst/>
              </a:rPr>
              <a:t>. (Adverb Phrase)</a:t>
            </a:r>
          </a:p>
          <a:p>
            <a:pPr fontAlgn="base"/>
            <a:r>
              <a:rPr lang="en-US" sz="2400" b="0" i="0" dirty="0">
                <a:solidFill>
                  <a:srgbClr val="444444"/>
                </a:solidFill>
                <a:effectLst/>
              </a:rPr>
              <a:t>We were panicked </a:t>
            </a:r>
            <a:r>
              <a:rPr lang="en-US" sz="2400" b="0" i="0" u="sng" dirty="0">
                <a:solidFill>
                  <a:srgbClr val="444444"/>
                </a:solidFill>
                <a:effectLst/>
              </a:rPr>
              <a:t>without any reason</a:t>
            </a:r>
            <a:r>
              <a:rPr lang="en-US" sz="2400" b="0" i="0" dirty="0">
                <a:solidFill>
                  <a:srgbClr val="444444"/>
                </a:solidFill>
                <a:effectLst/>
              </a:rPr>
              <a:t>. (Adverb Phrase)</a:t>
            </a:r>
          </a:p>
          <a:p>
            <a:pPr marL="0" indent="0" algn="just" fontAlgn="base">
              <a:buNone/>
            </a:pPr>
            <a:r>
              <a:rPr lang="en-US" sz="2400" b="0" i="0" dirty="0">
                <a:solidFill>
                  <a:srgbClr val="444444"/>
                </a:solidFill>
                <a:effectLst/>
                <a:latin typeface="Lato"/>
              </a:rPr>
              <a:t> </a:t>
            </a:r>
            <a:r>
              <a:rPr lang="en-US" sz="2400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 </a:t>
            </a:r>
            <a:r>
              <a:rPr lang="en-US" sz="2400" b="1" i="0" dirty="0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clause is</a:t>
            </a:r>
            <a:r>
              <a:rPr lang="en-US" sz="2400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a group of words </a:t>
            </a:r>
            <a:r>
              <a:rPr lang="en-US" sz="2400" b="1" i="0" dirty="0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with a</a:t>
            </a:r>
            <a:r>
              <a:rPr lang="en-US" sz="2400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subject-verb unit; the 2nd group of words contains the subject-verb unit - the bus goes, so it </a:t>
            </a:r>
            <a:r>
              <a:rPr lang="en-US" sz="2400" b="1" i="0" dirty="0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en-US" sz="2400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a </a:t>
            </a:r>
            <a:r>
              <a:rPr lang="en-US" sz="2400" b="1" i="0" dirty="0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clause</a:t>
            </a:r>
            <a:r>
              <a:rPr lang="en-US" sz="2400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 marL="0" indent="0" algn="just" fontAlgn="base">
              <a:buNone/>
            </a:pPr>
            <a:r>
              <a:rPr lang="en-US" sz="2400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 </a:t>
            </a:r>
            <a:r>
              <a:rPr lang="en-US" sz="2400" b="1" i="0" dirty="0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phrase is</a:t>
            </a:r>
            <a:r>
              <a:rPr lang="en-US" sz="2400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a group of words without a subject-verb unit.</a:t>
            </a:r>
            <a:endParaRPr lang="en-US" sz="2400" b="0" i="0" dirty="0">
              <a:solidFill>
                <a:srgbClr val="444444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000592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6983"/>
            <a:ext cx="10515600" cy="706581"/>
          </a:xfrm>
        </p:spPr>
        <p:txBody>
          <a:bodyPr/>
          <a:lstStyle/>
          <a:p>
            <a:r>
              <a:rPr lang="en-US" dirty="0"/>
              <a:t>Types of Adverbs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4073" y="803563"/>
            <a:ext cx="11402291" cy="5929745"/>
          </a:xfrm>
        </p:spPr>
        <p:txBody>
          <a:bodyPr>
            <a:normAutofit/>
          </a:bodyPr>
          <a:lstStyle/>
          <a:p>
            <a:pPr fontAlgn="base"/>
            <a:r>
              <a:rPr lang="en-US" sz="2400" b="0" i="0" dirty="0">
                <a:solidFill>
                  <a:srgbClr val="444444"/>
                </a:solidFill>
                <a:effectLst/>
              </a:rPr>
              <a:t>Conjunctive Adverbs:</a:t>
            </a:r>
          </a:p>
          <a:p>
            <a:pPr algn="just" fontAlgn="base"/>
            <a:r>
              <a:rPr lang="en-US" sz="2400" b="0" i="0" dirty="0">
                <a:solidFill>
                  <a:srgbClr val="444444"/>
                </a:solidFill>
                <a:effectLst/>
              </a:rPr>
              <a:t>A </a:t>
            </a:r>
            <a:r>
              <a:rPr lang="en-US" sz="2400" b="1" i="0" dirty="0">
                <a:solidFill>
                  <a:srgbClr val="444444"/>
                </a:solidFill>
                <a:effectLst/>
              </a:rPr>
              <a:t>conjunctive adverb</a:t>
            </a:r>
            <a:r>
              <a:rPr lang="en-US" sz="2400" b="0" i="0" dirty="0">
                <a:solidFill>
                  <a:srgbClr val="444444"/>
                </a:solidFill>
                <a:effectLst/>
              </a:rPr>
              <a:t> connects phrases or independent clauses. It provides transitions between ideas and shows relationships.</a:t>
            </a:r>
          </a:p>
          <a:p>
            <a:pPr algn="just" fontAlgn="base"/>
            <a:r>
              <a:rPr lang="en-US" sz="2400" b="0" i="0" dirty="0">
                <a:solidFill>
                  <a:srgbClr val="444444"/>
                </a:solidFill>
                <a:effectLst/>
              </a:rPr>
              <a:t>Conjunctive adverbs are also called </a:t>
            </a:r>
            <a:r>
              <a:rPr lang="en-US" sz="2400" b="1" i="1" dirty="0">
                <a:solidFill>
                  <a:srgbClr val="444444"/>
                </a:solidFill>
                <a:effectLst/>
              </a:rPr>
              <a:t>connectors</a:t>
            </a:r>
            <a:r>
              <a:rPr lang="en-US" sz="2400" b="0" i="0" dirty="0">
                <a:solidFill>
                  <a:srgbClr val="444444"/>
                </a:solidFill>
                <a:effectLst/>
              </a:rPr>
              <a:t>.</a:t>
            </a:r>
          </a:p>
          <a:p>
            <a:pPr algn="just" fontAlgn="base"/>
            <a:r>
              <a:rPr lang="en-US" sz="2400" b="1" i="0" dirty="0">
                <a:solidFill>
                  <a:srgbClr val="444444"/>
                </a:solidFill>
                <a:effectLst/>
              </a:rPr>
              <a:t>Example:</a:t>
            </a:r>
            <a:endParaRPr lang="en-US" sz="2400" b="0" i="0" dirty="0">
              <a:solidFill>
                <a:srgbClr val="444444"/>
              </a:solidFill>
              <a:effectLst/>
            </a:endParaRPr>
          </a:p>
          <a:p>
            <a:pPr fontAlgn="base"/>
            <a:r>
              <a:rPr lang="en-US" sz="2400" b="0" i="0" dirty="0">
                <a:solidFill>
                  <a:srgbClr val="444444"/>
                </a:solidFill>
                <a:effectLst/>
              </a:rPr>
              <a:t>It rained last night. </a:t>
            </a:r>
            <a:r>
              <a:rPr lang="en-US" sz="2400" b="0" i="0" u="sng" dirty="0">
                <a:solidFill>
                  <a:srgbClr val="444444"/>
                </a:solidFill>
                <a:effectLst/>
              </a:rPr>
              <a:t>Nonetheless</a:t>
            </a:r>
            <a:r>
              <a:rPr lang="en-US" sz="2400" b="0" i="0" dirty="0">
                <a:solidFill>
                  <a:srgbClr val="444444"/>
                </a:solidFill>
                <a:effectLst/>
              </a:rPr>
              <a:t>, the final match has not been canceled.</a:t>
            </a:r>
          </a:p>
          <a:p>
            <a:pPr fontAlgn="base"/>
            <a:r>
              <a:rPr lang="en-US" sz="2400" b="0" i="0" dirty="0">
                <a:solidFill>
                  <a:srgbClr val="444444"/>
                </a:solidFill>
                <a:effectLst/>
              </a:rPr>
              <a:t>We are still confused, </a:t>
            </a:r>
            <a:r>
              <a:rPr lang="en-US" sz="2400" b="0" i="0" u="sng" dirty="0">
                <a:solidFill>
                  <a:srgbClr val="444444"/>
                </a:solidFill>
                <a:effectLst/>
              </a:rPr>
              <a:t>however</a:t>
            </a:r>
            <a:r>
              <a:rPr lang="en-US" sz="2400" b="0" i="0" dirty="0">
                <a:solidFill>
                  <a:srgbClr val="444444"/>
                </a:solidFill>
                <a:effectLst/>
              </a:rPr>
              <a:t>, if the umpires will come.</a:t>
            </a:r>
          </a:p>
          <a:p>
            <a:pPr fontAlgn="base"/>
            <a:r>
              <a:rPr lang="en-US" sz="2400" b="0" i="0" dirty="0">
                <a:solidFill>
                  <a:srgbClr val="444444"/>
                </a:solidFill>
                <a:effectLst/>
              </a:rPr>
              <a:t>Sentence Adverbs:</a:t>
            </a:r>
          </a:p>
          <a:p>
            <a:pPr algn="just" fontAlgn="base"/>
            <a:r>
              <a:rPr lang="en-US" sz="2400" b="0" i="0" dirty="0">
                <a:solidFill>
                  <a:srgbClr val="444444"/>
                </a:solidFill>
                <a:effectLst/>
              </a:rPr>
              <a:t>A </a:t>
            </a:r>
            <a:r>
              <a:rPr lang="en-US" sz="2400" b="1" i="0" dirty="0">
                <a:solidFill>
                  <a:srgbClr val="444444"/>
                </a:solidFill>
                <a:effectLst/>
              </a:rPr>
              <a:t>sentence adverb</a:t>
            </a:r>
            <a:r>
              <a:rPr lang="en-US" sz="2400" b="0" i="0" dirty="0">
                <a:solidFill>
                  <a:srgbClr val="444444"/>
                </a:solidFill>
                <a:effectLst/>
              </a:rPr>
              <a:t> starts the sentence and modifies the whole sentence.</a:t>
            </a:r>
          </a:p>
          <a:p>
            <a:pPr algn="just" fontAlgn="base"/>
            <a:r>
              <a:rPr lang="en-US" sz="2400" b="1" i="0" dirty="0">
                <a:solidFill>
                  <a:srgbClr val="444444"/>
                </a:solidFill>
                <a:effectLst/>
              </a:rPr>
              <a:t>Example:</a:t>
            </a:r>
            <a:endParaRPr lang="en-US" sz="2400" b="0" i="0" dirty="0">
              <a:solidFill>
                <a:srgbClr val="444444"/>
              </a:solidFill>
              <a:effectLst/>
            </a:endParaRPr>
          </a:p>
          <a:p>
            <a:pPr fontAlgn="base"/>
            <a:r>
              <a:rPr lang="en-US" sz="2400" b="0" i="0" u="sng" dirty="0">
                <a:solidFill>
                  <a:srgbClr val="444444"/>
                </a:solidFill>
                <a:effectLst/>
              </a:rPr>
              <a:t>Hopefully,</a:t>
            </a:r>
            <a:r>
              <a:rPr lang="en-US" sz="2400" b="0" i="0" dirty="0">
                <a:solidFill>
                  <a:srgbClr val="444444"/>
                </a:solidFill>
                <a:effectLst/>
              </a:rPr>
              <a:t> we will win the match.</a:t>
            </a:r>
          </a:p>
          <a:p>
            <a:pPr fontAlgn="base"/>
            <a:r>
              <a:rPr lang="en-US" sz="2400" b="0" i="0" u="sng" dirty="0">
                <a:solidFill>
                  <a:srgbClr val="444444"/>
                </a:solidFill>
                <a:effectLst/>
              </a:rPr>
              <a:t>Apparently,</a:t>
            </a:r>
            <a:r>
              <a:rPr lang="en-US" sz="2400" b="0" i="0" dirty="0">
                <a:solidFill>
                  <a:srgbClr val="444444"/>
                </a:solidFill>
                <a:effectLst/>
              </a:rPr>
              <a:t> the sky is getting cloudy.</a:t>
            </a:r>
          </a:p>
          <a:p>
            <a:pPr fontAlgn="base"/>
            <a:r>
              <a:rPr lang="en-US" sz="2400" b="0" i="0" u="sng" dirty="0">
                <a:solidFill>
                  <a:srgbClr val="444444"/>
                </a:solidFill>
                <a:effectLst/>
              </a:rPr>
              <a:t>Certainly,</a:t>
            </a:r>
            <a:r>
              <a:rPr lang="en-US" sz="2400" b="0" i="0" dirty="0">
                <a:solidFill>
                  <a:srgbClr val="444444"/>
                </a:solidFill>
                <a:effectLst/>
              </a:rPr>
              <a:t> I did not think of coming here.</a:t>
            </a:r>
          </a:p>
          <a:p>
            <a:pPr fontAlgn="base"/>
            <a:endParaRPr lang="en-US" sz="2400" b="0" i="0" dirty="0">
              <a:solidFill>
                <a:srgbClr val="444444"/>
              </a:solidFill>
              <a:effectLst/>
            </a:endParaRP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954961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4691" y="221673"/>
            <a:ext cx="11873345" cy="6414654"/>
          </a:xfrm>
        </p:spPr>
        <p:txBody>
          <a:bodyPr>
            <a:normAutofit/>
          </a:bodyPr>
          <a:lstStyle/>
          <a:p>
            <a:pPr fontAlgn="base"/>
            <a:r>
              <a:rPr lang="en-US" sz="2400" b="0" i="0" dirty="0">
                <a:solidFill>
                  <a:srgbClr val="444444"/>
                </a:solidFill>
                <a:effectLst/>
              </a:rPr>
              <a:t>Adverbs of Time/Frequency (When?) - </a:t>
            </a:r>
            <a:r>
              <a:rPr lang="en-US" sz="2400" b="1" i="0" dirty="0">
                <a:solidFill>
                  <a:srgbClr val="444444"/>
                </a:solidFill>
                <a:effectLst/>
              </a:rPr>
              <a:t>Adverbs of time/frequency</a:t>
            </a:r>
            <a:r>
              <a:rPr lang="en-US" sz="2400" b="0" i="0" dirty="0">
                <a:solidFill>
                  <a:srgbClr val="444444"/>
                </a:solidFill>
                <a:effectLst/>
              </a:rPr>
              <a:t> indicate time or frequency of the action in the sentence. They answer the question ‘when/how frequently is the action performed?’.</a:t>
            </a:r>
          </a:p>
          <a:p>
            <a:pPr algn="just" fontAlgn="base"/>
            <a:r>
              <a:rPr lang="en-US" sz="2400" b="1" i="1" dirty="0">
                <a:solidFill>
                  <a:srgbClr val="444444"/>
                </a:solidFill>
                <a:effectLst/>
              </a:rPr>
              <a:t>Always, never, often, eventually, now, frequently, occasionally, once, forever, seldom, before, Sunday, Monday, 10 AM, 12 PM, </a:t>
            </a:r>
            <a:r>
              <a:rPr lang="en-US" sz="2400" b="1" i="1" dirty="0" err="1">
                <a:solidFill>
                  <a:srgbClr val="444444"/>
                </a:solidFill>
                <a:effectLst/>
              </a:rPr>
              <a:t>etc</a:t>
            </a:r>
            <a:r>
              <a:rPr lang="en-US" sz="2400" b="1" i="1" dirty="0">
                <a:solidFill>
                  <a:srgbClr val="444444"/>
                </a:solidFill>
                <a:effectLst/>
              </a:rPr>
              <a:t> </a:t>
            </a:r>
            <a:r>
              <a:rPr lang="en-US" sz="2400" b="0" i="0" dirty="0">
                <a:solidFill>
                  <a:srgbClr val="444444"/>
                </a:solidFill>
                <a:effectLst/>
              </a:rPr>
              <a:t>are examples of adverb of time </a:t>
            </a:r>
          </a:p>
          <a:p>
            <a:pPr algn="just" fontAlgn="base"/>
            <a:r>
              <a:rPr lang="en-US" sz="2400" b="1" i="0" dirty="0">
                <a:solidFill>
                  <a:srgbClr val="444444"/>
                </a:solidFill>
                <a:effectLst/>
              </a:rPr>
              <a:t>Examples:</a:t>
            </a:r>
            <a:r>
              <a:rPr lang="en-US" sz="2400" dirty="0">
                <a:solidFill>
                  <a:srgbClr val="444444"/>
                </a:solidFill>
              </a:rPr>
              <a:t> </a:t>
            </a:r>
            <a:r>
              <a:rPr lang="en-US" sz="2400" b="0" i="0" dirty="0">
                <a:solidFill>
                  <a:srgbClr val="444444"/>
                </a:solidFill>
                <a:effectLst/>
              </a:rPr>
              <a:t>I went to school </a:t>
            </a:r>
            <a:r>
              <a:rPr lang="en-US" sz="2400" b="0" i="0" u="sng" dirty="0">
                <a:solidFill>
                  <a:srgbClr val="444444"/>
                </a:solidFill>
                <a:effectLst/>
              </a:rPr>
              <a:t>a little late</a:t>
            </a:r>
            <a:r>
              <a:rPr lang="en-US" sz="2400" b="0" i="0" dirty="0">
                <a:solidFill>
                  <a:srgbClr val="444444"/>
                </a:solidFill>
                <a:effectLst/>
              </a:rPr>
              <a:t> </a:t>
            </a:r>
            <a:r>
              <a:rPr lang="en-US" sz="2400" b="0" i="0" u="sng" dirty="0">
                <a:solidFill>
                  <a:srgbClr val="444444"/>
                </a:solidFill>
                <a:effectLst/>
              </a:rPr>
              <a:t>yesterday</a:t>
            </a:r>
            <a:r>
              <a:rPr lang="en-US" sz="2400" b="0" i="0" dirty="0">
                <a:solidFill>
                  <a:srgbClr val="444444"/>
                </a:solidFill>
                <a:effectLst/>
              </a:rPr>
              <a:t>. He </a:t>
            </a:r>
            <a:r>
              <a:rPr lang="en-US" sz="2400" b="0" i="0" u="sng" dirty="0">
                <a:solidFill>
                  <a:srgbClr val="444444"/>
                </a:solidFill>
                <a:effectLst/>
              </a:rPr>
              <a:t>always</a:t>
            </a:r>
            <a:r>
              <a:rPr lang="en-US" sz="2400" b="0" i="0" dirty="0">
                <a:solidFill>
                  <a:srgbClr val="444444"/>
                </a:solidFill>
                <a:effectLst/>
              </a:rPr>
              <a:t> gets a good result. I will leave </a:t>
            </a:r>
            <a:r>
              <a:rPr lang="en-US" sz="2400" b="0" i="0" u="sng" dirty="0">
                <a:solidFill>
                  <a:srgbClr val="444444"/>
                </a:solidFill>
                <a:effectLst/>
              </a:rPr>
              <a:t>Monday</a:t>
            </a:r>
            <a:r>
              <a:rPr lang="en-US" sz="2400" b="0" i="0" dirty="0">
                <a:solidFill>
                  <a:srgbClr val="444444"/>
                </a:solidFill>
                <a:effectLst/>
              </a:rPr>
              <a:t>.  He smokes </a:t>
            </a:r>
            <a:r>
              <a:rPr lang="en-US" sz="2400" b="0" i="0" u="sng" dirty="0">
                <a:solidFill>
                  <a:srgbClr val="444444"/>
                </a:solidFill>
                <a:effectLst/>
              </a:rPr>
              <a:t>occasionally</a:t>
            </a:r>
            <a:r>
              <a:rPr lang="en-US" sz="2400" b="0" i="0" dirty="0">
                <a:solidFill>
                  <a:srgbClr val="444444"/>
                </a:solidFill>
                <a:effectLst/>
              </a:rPr>
              <a:t>.</a:t>
            </a:r>
          </a:p>
          <a:p>
            <a:pPr marL="0" indent="0" fontAlgn="base">
              <a:buNone/>
            </a:pPr>
            <a:endParaRPr lang="en-US" b="0" i="0" dirty="0">
              <a:solidFill>
                <a:srgbClr val="444444"/>
              </a:solidFill>
              <a:effectLst/>
              <a:latin typeface="Lato"/>
            </a:endParaRPr>
          </a:p>
          <a:p>
            <a:pPr fontAlgn="base"/>
            <a:r>
              <a:rPr lang="en-US" sz="2400" b="0" i="0" dirty="0">
                <a:solidFill>
                  <a:srgbClr val="444444"/>
                </a:solidFill>
                <a:effectLst/>
              </a:rPr>
              <a:t>Adverbs of Degree (How Much?) -  express the importance/degree/level of the action in the sentence are called </a:t>
            </a:r>
            <a:r>
              <a:rPr lang="en-US" sz="2400" b="1" i="0" dirty="0">
                <a:solidFill>
                  <a:srgbClr val="444444"/>
                </a:solidFill>
                <a:effectLst/>
              </a:rPr>
              <a:t>adverbs of degree</a:t>
            </a:r>
            <a:r>
              <a:rPr lang="en-US" sz="2400" b="0" i="0" dirty="0">
                <a:solidFill>
                  <a:srgbClr val="444444"/>
                </a:solidFill>
                <a:effectLst/>
              </a:rPr>
              <a:t>. They answer the question ‘how much is the action performed?’.</a:t>
            </a:r>
          </a:p>
          <a:p>
            <a:pPr algn="just" fontAlgn="base"/>
            <a:r>
              <a:rPr lang="en-US" sz="2400" b="1" i="1" dirty="0">
                <a:solidFill>
                  <a:srgbClr val="444444"/>
                </a:solidFill>
                <a:effectLst/>
              </a:rPr>
              <a:t>Completely, nearly, entirely, less, mildly, most, thoroughly, somewhat, excessively, much,</a:t>
            </a:r>
            <a:r>
              <a:rPr lang="en-US" sz="2400" b="1" i="0" dirty="0">
                <a:solidFill>
                  <a:srgbClr val="444444"/>
                </a:solidFill>
                <a:effectLst/>
              </a:rPr>
              <a:t> etc</a:t>
            </a:r>
            <a:r>
              <a:rPr lang="en-US" sz="2400" b="0" i="0" dirty="0">
                <a:solidFill>
                  <a:srgbClr val="444444"/>
                </a:solidFill>
                <a:effectLst/>
              </a:rPr>
              <a:t>. are common adverbs of degree.</a:t>
            </a:r>
          </a:p>
          <a:p>
            <a:pPr algn="just" fontAlgn="base"/>
            <a:r>
              <a:rPr lang="en-US" sz="2400" b="1" i="0" dirty="0">
                <a:solidFill>
                  <a:srgbClr val="444444"/>
                </a:solidFill>
                <a:effectLst/>
              </a:rPr>
              <a:t>Examples - </a:t>
            </a:r>
            <a:r>
              <a:rPr lang="en-US" sz="2400" b="0" i="0" dirty="0">
                <a:solidFill>
                  <a:srgbClr val="444444"/>
                </a:solidFill>
                <a:effectLst/>
              </a:rPr>
              <a:t>She </a:t>
            </a:r>
            <a:r>
              <a:rPr lang="en-US" sz="2400" b="0" i="0" u="sng" dirty="0">
                <a:solidFill>
                  <a:srgbClr val="444444"/>
                </a:solidFill>
                <a:effectLst/>
              </a:rPr>
              <a:t>completely</a:t>
            </a:r>
            <a:r>
              <a:rPr lang="en-US" sz="2400" b="0" i="0" dirty="0">
                <a:solidFill>
                  <a:srgbClr val="444444"/>
                </a:solidFill>
                <a:effectLst/>
              </a:rPr>
              <a:t> forgot about her anniversary, I read the newspaper </a:t>
            </a:r>
            <a:r>
              <a:rPr lang="en-US" sz="2400" b="0" i="0" u="sng" dirty="0">
                <a:solidFill>
                  <a:srgbClr val="444444"/>
                </a:solidFill>
                <a:effectLst/>
              </a:rPr>
              <a:t>thoroughly</a:t>
            </a:r>
            <a:r>
              <a:rPr lang="en-US" sz="2400" dirty="0">
                <a:solidFill>
                  <a:srgbClr val="444444"/>
                </a:solidFill>
              </a:rPr>
              <a:t>, </a:t>
            </a:r>
            <a:r>
              <a:rPr lang="en-US" sz="2400" b="0" i="0" dirty="0">
                <a:solidFill>
                  <a:srgbClr val="444444"/>
                </a:solidFill>
                <a:effectLst/>
              </a:rPr>
              <a:t>I am </a:t>
            </a:r>
            <a:r>
              <a:rPr lang="en-US" sz="2400" b="0" i="0" u="sng" dirty="0">
                <a:solidFill>
                  <a:srgbClr val="444444"/>
                </a:solidFill>
                <a:effectLst/>
              </a:rPr>
              <a:t>so</a:t>
            </a:r>
            <a:r>
              <a:rPr lang="en-US" sz="2400" b="0" i="0" dirty="0">
                <a:solidFill>
                  <a:srgbClr val="444444"/>
                </a:solidFill>
                <a:effectLst/>
              </a:rPr>
              <a:t> excited about the new job, Robin </a:t>
            </a:r>
            <a:r>
              <a:rPr lang="en-US" sz="2400" b="0" i="0" u="sng" dirty="0">
                <a:solidFill>
                  <a:srgbClr val="444444"/>
                </a:solidFill>
                <a:effectLst/>
              </a:rPr>
              <a:t>hardly</a:t>
            </a:r>
            <a:r>
              <a:rPr lang="en-US" sz="2400" b="0" i="0" dirty="0">
                <a:solidFill>
                  <a:srgbClr val="444444"/>
                </a:solidFill>
                <a:effectLst/>
              </a:rPr>
              <a:t> studies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1516957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5636" y="152400"/>
            <a:ext cx="10938164" cy="6456218"/>
          </a:xfrm>
        </p:spPr>
        <p:txBody>
          <a:bodyPr/>
          <a:lstStyle/>
          <a:p>
            <a:pPr fontAlgn="base"/>
            <a:r>
              <a:rPr lang="en-US" sz="2400" b="0" i="0" dirty="0">
                <a:solidFill>
                  <a:srgbClr val="444444"/>
                </a:solidFill>
                <a:effectLst/>
              </a:rPr>
              <a:t>Adverbs of Manner (How?)</a:t>
            </a:r>
          </a:p>
          <a:p>
            <a:pPr algn="just" fontAlgn="base"/>
            <a:r>
              <a:rPr lang="en-US" sz="2400" b="0" i="0" dirty="0">
                <a:solidFill>
                  <a:srgbClr val="444444"/>
                </a:solidFill>
                <a:effectLst/>
              </a:rPr>
              <a:t>Adverbs that express the manner/approach/process of the action in the sentence are called </a:t>
            </a:r>
            <a:r>
              <a:rPr lang="en-US" sz="2400" b="1" i="0" dirty="0">
                <a:solidFill>
                  <a:srgbClr val="444444"/>
                </a:solidFill>
                <a:effectLst/>
              </a:rPr>
              <a:t>adverbs of manner</a:t>
            </a:r>
            <a:r>
              <a:rPr lang="en-US" sz="2400" b="0" i="0" dirty="0">
                <a:solidFill>
                  <a:srgbClr val="444444"/>
                </a:solidFill>
                <a:effectLst/>
              </a:rPr>
              <a:t>. They answer the question ‘how is the action performed?’.</a:t>
            </a:r>
          </a:p>
          <a:p>
            <a:pPr algn="just" fontAlgn="base"/>
            <a:r>
              <a:rPr lang="en-US" sz="2400" b="1" i="1" dirty="0">
                <a:solidFill>
                  <a:srgbClr val="444444"/>
                </a:solidFill>
                <a:effectLst/>
              </a:rPr>
              <a:t>Beautifully, equally, thankfully, carefully, handily, quickly, coldly, hotly, resentfully, earnestly, nicely, tirelessly, etc. are common adverbs of manner. These adverbs usually end in </a:t>
            </a:r>
            <a:r>
              <a:rPr lang="en-US" sz="2400" b="1" i="1" dirty="0" err="1">
                <a:solidFill>
                  <a:srgbClr val="444444"/>
                </a:solidFill>
                <a:effectLst/>
              </a:rPr>
              <a:t>ly</a:t>
            </a:r>
            <a:r>
              <a:rPr lang="en-US" sz="2400" b="1" i="1" dirty="0">
                <a:solidFill>
                  <a:srgbClr val="444444"/>
                </a:solidFill>
                <a:effectLst/>
              </a:rPr>
              <a:t>.</a:t>
            </a:r>
          </a:p>
          <a:p>
            <a:pPr algn="just" fontAlgn="base"/>
            <a:r>
              <a:rPr lang="en-US" sz="2400" b="1" i="0" dirty="0">
                <a:solidFill>
                  <a:srgbClr val="444444"/>
                </a:solidFill>
                <a:effectLst/>
              </a:rPr>
              <a:t>Examples:</a:t>
            </a:r>
            <a:r>
              <a:rPr lang="en-US" sz="2400" dirty="0">
                <a:solidFill>
                  <a:srgbClr val="444444"/>
                </a:solidFill>
              </a:rPr>
              <a:t> </a:t>
            </a:r>
            <a:r>
              <a:rPr lang="en-US" sz="2400" b="0" i="0" dirty="0">
                <a:solidFill>
                  <a:srgbClr val="444444"/>
                </a:solidFill>
                <a:effectLst/>
              </a:rPr>
              <a:t>Let's divide the prizes </a:t>
            </a:r>
            <a:r>
              <a:rPr lang="en-US" sz="2400" b="0" i="0" u="sng" dirty="0">
                <a:solidFill>
                  <a:srgbClr val="444444"/>
                </a:solidFill>
                <a:effectLst/>
              </a:rPr>
              <a:t>equally</a:t>
            </a:r>
            <a:r>
              <a:rPr lang="en-US" sz="2400" dirty="0">
                <a:solidFill>
                  <a:srgbClr val="444444"/>
                </a:solidFill>
              </a:rPr>
              <a:t>, </a:t>
            </a:r>
            <a:r>
              <a:rPr lang="en-US" sz="2400" b="0" i="0" dirty="0">
                <a:solidFill>
                  <a:srgbClr val="444444"/>
                </a:solidFill>
                <a:effectLst/>
              </a:rPr>
              <a:t>Please, handle the camera </a:t>
            </a:r>
            <a:r>
              <a:rPr lang="en-US" sz="2400" b="0" i="0" u="sng" dirty="0">
                <a:solidFill>
                  <a:srgbClr val="444444"/>
                </a:solidFill>
                <a:effectLst/>
              </a:rPr>
              <a:t>carefully</a:t>
            </a:r>
            <a:r>
              <a:rPr lang="en-US" sz="2400" dirty="0">
                <a:solidFill>
                  <a:srgbClr val="444444"/>
                </a:solidFill>
              </a:rPr>
              <a:t>, </a:t>
            </a:r>
            <a:r>
              <a:rPr lang="en-US" sz="2400" b="0" i="0" dirty="0">
                <a:solidFill>
                  <a:srgbClr val="444444"/>
                </a:solidFill>
                <a:effectLst/>
              </a:rPr>
              <a:t>Mike is walking </a:t>
            </a:r>
            <a:r>
              <a:rPr lang="en-US" sz="2400" b="0" i="0" u="sng" dirty="0">
                <a:solidFill>
                  <a:srgbClr val="444444"/>
                </a:solidFill>
                <a:effectLst/>
              </a:rPr>
              <a:t>slowly</a:t>
            </a:r>
            <a:r>
              <a:rPr lang="en-US" sz="2400" dirty="0">
                <a:solidFill>
                  <a:srgbClr val="444444"/>
                </a:solidFill>
              </a:rPr>
              <a:t>, </a:t>
            </a:r>
            <a:r>
              <a:rPr lang="en-US" sz="2400" b="0" i="0" dirty="0">
                <a:solidFill>
                  <a:srgbClr val="444444"/>
                </a:solidFill>
                <a:effectLst/>
              </a:rPr>
              <a:t>He is running </a:t>
            </a:r>
            <a:r>
              <a:rPr lang="en-US" sz="2400" b="0" i="0" u="sng" dirty="0">
                <a:solidFill>
                  <a:srgbClr val="444444"/>
                </a:solidFill>
                <a:effectLst/>
              </a:rPr>
              <a:t>fast</a:t>
            </a:r>
            <a:r>
              <a:rPr lang="en-US" sz="2400" b="0" i="0" dirty="0">
                <a:solidFill>
                  <a:srgbClr val="444444"/>
                </a:solidFill>
                <a:effectLst/>
              </a:rPr>
              <a:t>.</a:t>
            </a:r>
          </a:p>
          <a:p>
            <a:pPr algn="just" fontAlgn="base"/>
            <a:endParaRPr lang="en-US" sz="2400" b="0" i="0" dirty="0">
              <a:solidFill>
                <a:srgbClr val="444444"/>
              </a:solidFill>
              <a:effectLst/>
            </a:endParaRPr>
          </a:p>
          <a:p>
            <a:r>
              <a:rPr lang="en-US" sz="2400" i="0" dirty="0">
                <a:solidFill>
                  <a:srgbClr val="000000"/>
                </a:solidFill>
                <a:effectLst/>
              </a:rPr>
              <a:t>Some English adjectives and adverbs, for example,</a:t>
            </a:r>
            <a:r>
              <a:rPr lang="en-US" sz="2400" b="1" i="1" dirty="0">
                <a:solidFill>
                  <a:srgbClr val="000000"/>
                </a:solidFill>
                <a:effectLst/>
              </a:rPr>
              <a:t> even, almost, only, just, nearly </a:t>
            </a:r>
            <a:r>
              <a:rPr lang="en-US" sz="2400" i="0" dirty="0">
                <a:solidFill>
                  <a:srgbClr val="000000"/>
                </a:solidFill>
                <a:effectLst/>
              </a:rPr>
              <a:t>are very flexible and can be placed almost anywhere in </a:t>
            </a:r>
            <a:r>
              <a:rPr lang="en-US" sz="2400" i="0">
                <a:solidFill>
                  <a:srgbClr val="000000"/>
                </a:solidFill>
                <a:effectLst/>
              </a:rPr>
              <a:t>a sentence. </a:t>
            </a:r>
            <a:r>
              <a:rPr lang="en-US" sz="2400" i="0" dirty="0">
                <a:solidFill>
                  <a:srgbClr val="000000"/>
                </a:solidFill>
                <a:effectLst/>
              </a:rPr>
              <a:t>But it is very easy to make mistakes with these adverbs and adjectives.</a:t>
            </a:r>
          </a:p>
          <a:p>
            <a:pPr marL="0" indent="0">
              <a:buNone/>
            </a:pPr>
            <a:r>
              <a:rPr lang="en-US" sz="2400" b="1" i="0" dirty="0">
                <a:solidFill>
                  <a:srgbClr val="000000"/>
                </a:solidFill>
                <a:effectLst/>
              </a:rPr>
              <a:t> </a:t>
            </a:r>
            <a:r>
              <a:rPr lang="en-US" sz="2400" b="1" i="1" dirty="0">
                <a:solidFill>
                  <a:srgbClr val="000000"/>
                </a:solidFill>
                <a:effectLst/>
              </a:rPr>
              <a:t>Where you place them can impact the meaning of your sentence.</a:t>
            </a:r>
            <a:endParaRPr lang="en-US" sz="2400" b="1" i="1" dirty="0"/>
          </a:p>
        </p:txBody>
      </p:sp>
    </p:spTree>
    <p:extLst>
      <p:ext uri="{BB962C8B-B14F-4D97-AF65-F5344CB8AC3E}">
        <p14:creationId xmlns:p14="http://schemas.microsoft.com/office/powerpoint/2010/main" val="10728002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5527" y="193964"/>
            <a:ext cx="11118273" cy="6456218"/>
          </a:xfrm>
        </p:spPr>
        <p:txBody>
          <a:bodyPr>
            <a:normAutofit lnSpcReduction="10000"/>
          </a:bodyPr>
          <a:lstStyle/>
          <a:p>
            <a:r>
              <a:rPr lang="en-US" sz="2400" b="1" i="1" dirty="0">
                <a:solidFill>
                  <a:srgbClr val="000000"/>
                </a:solidFill>
                <a:effectLst/>
              </a:rPr>
              <a:t>Even</a:t>
            </a:r>
            <a:r>
              <a:rPr lang="en-US" sz="2400" b="0" i="1" dirty="0">
                <a:solidFill>
                  <a:srgbClr val="000000"/>
                </a:solidFill>
                <a:effectLst/>
              </a:rPr>
              <a:t> 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is one of the modifiers that can land any place in a sentence and change the meaning of what you’re saying.</a:t>
            </a:r>
          </a:p>
          <a:p>
            <a:r>
              <a:rPr lang="en-US" sz="2400" b="0" i="0" dirty="0">
                <a:solidFill>
                  <a:srgbClr val="000000"/>
                </a:solidFill>
                <a:effectLst/>
              </a:rPr>
              <a:t> Example:</a:t>
            </a:r>
          </a:p>
          <a:p>
            <a:r>
              <a:rPr lang="en-US" sz="2400" b="0" i="0" dirty="0">
                <a:solidFill>
                  <a:srgbClr val="000000"/>
                </a:solidFill>
                <a:effectLst/>
              </a:rPr>
              <a:t>We can still go on with the show,</a:t>
            </a:r>
            <a:r>
              <a:rPr lang="en-US" sz="2400" b="1" i="0" dirty="0">
                <a:solidFill>
                  <a:srgbClr val="000000"/>
                </a:solidFill>
                <a:effectLst/>
              </a:rPr>
              <a:t> </a:t>
            </a:r>
            <a:r>
              <a:rPr lang="en-US" sz="2400" b="1" i="1" dirty="0">
                <a:solidFill>
                  <a:srgbClr val="000000"/>
                </a:solidFill>
              </a:rPr>
              <a:t>even</a:t>
            </a:r>
            <a:r>
              <a:rPr lang="en-US" sz="2400" b="1" i="1" dirty="0">
                <a:solidFill>
                  <a:srgbClr val="000000"/>
                </a:solidFill>
                <a:effectLst/>
              </a:rPr>
              <a:t> </a:t>
            </a:r>
            <a:r>
              <a:rPr lang="en-US" sz="2400" b="0" i="1" dirty="0">
                <a:solidFill>
                  <a:srgbClr val="000000"/>
                </a:solidFill>
                <a:effectLst/>
              </a:rPr>
              <a:t>Harry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 knows the dance steps.</a:t>
            </a:r>
          </a:p>
          <a:p>
            <a:r>
              <a:rPr lang="en-US" sz="2400" b="0" i="0" dirty="0">
                <a:solidFill>
                  <a:srgbClr val="000000"/>
                </a:solidFill>
                <a:effectLst/>
              </a:rPr>
              <a:t>We can still go on with the show, </a:t>
            </a:r>
            <a:r>
              <a:rPr lang="en-US" sz="2400" dirty="0">
                <a:solidFill>
                  <a:srgbClr val="000000"/>
                </a:solidFill>
              </a:rPr>
              <a:t>Harry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 </a:t>
            </a:r>
            <a:r>
              <a:rPr lang="en-US" sz="2400" b="1" i="1" dirty="0">
                <a:solidFill>
                  <a:srgbClr val="000000"/>
                </a:solidFill>
                <a:effectLst/>
              </a:rPr>
              <a:t>even</a:t>
            </a:r>
            <a:r>
              <a:rPr lang="en-US" sz="2400" b="0" i="1" dirty="0">
                <a:solidFill>
                  <a:srgbClr val="000000"/>
                </a:solidFill>
                <a:effectLst/>
              </a:rPr>
              <a:t> knows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 the dance steps.</a:t>
            </a:r>
          </a:p>
          <a:p>
            <a:r>
              <a:rPr lang="en-US" sz="2400" b="0" i="0" dirty="0">
                <a:solidFill>
                  <a:srgbClr val="000000"/>
                </a:solidFill>
                <a:effectLst/>
              </a:rPr>
              <a:t>We can still go on with the show, </a:t>
            </a:r>
            <a:r>
              <a:rPr lang="en-US" sz="2400" dirty="0">
                <a:solidFill>
                  <a:srgbClr val="000000"/>
                </a:solidFill>
              </a:rPr>
              <a:t>Harry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 knows </a:t>
            </a:r>
            <a:r>
              <a:rPr lang="en-US" sz="2400" b="1" i="1" dirty="0">
                <a:solidFill>
                  <a:srgbClr val="000000"/>
                </a:solidFill>
                <a:effectLst/>
              </a:rPr>
              <a:t>even</a:t>
            </a:r>
            <a:r>
              <a:rPr lang="en-US" sz="2400" b="0" i="1" dirty="0">
                <a:solidFill>
                  <a:srgbClr val="000000"/>
                </a:solidFill>
                <a:effectLst/>
              </a:rPr>
              <a:t> the dance steps.</a:t>
            </a:r>
            <a:br>
              <a:rPr lang="en-US" sz="2400" b="0" i="0" dirty="0">
                <a:solidFill>
                  <a:srgbClr val="000000"/>
                </a:solidFill>
                <a:effectLst/>
              </a:rPr>
            </a:br>
            <a:endParaRPr lang="en-US" sz="2400" b="0" i="0" dirty="0">
              <a:solidFill>
                <a:srgbClr val="000000"/>
              </a:solidFill>
              <a:effectLst/>
            </a:endParaRPr>
          </a:p>
          <a:p>
            <a:r>
              <a:rPr lang="en-US" sz="2400" b="0" i="0" dirty="0">
                <a:solidFill>
                  <a:srgbClr val="000000"/>
                </a:solidFill>
                <a:effectLst/>
              </a:rPr>
              <a:t>These three statements look almost the same, but they aren’t.</a:t>
            </a:r>
          </a:p>
          <a:p>
            <a:r>
              <a:rPr lang="en-US" sz="2400" b="0" i="0" dirty="0">
                <a:solidFill>
                  <a:srgbClr val="000000"/>
                </a:solidFill>
                <a:effectLst/>
              </a:rPr>
              <a:t>Put </a:t>
            </a:r>
            <a:r>
              <a:rPr lang="en-US" sz="2400" b="1" i="1" dirty="0">
                <a:solidFill>
                  <a:srgbClr val="000000"/>
                </a:solidFill>
                <a:effectLst/>
              </a:rPr>
              <a:t>even</a:t>
            </a:r>
            <a:r>
              <a:rPr lang="en-US" sz="2400" b="1" i="0" dirty="0">
                <a:solidFill>
                  <a:srgbClr val="000000"/>
                </a:solidFill>
                <a:effectLst/>
              </a:rPr>
              <a:t> 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at the beginning of the comparison implied in the sentence.</a:t>
            </a:r>
          </a:p>
          <a:p>
            <a:endParaRPr lang="en-US" sz="2400" dirty="0">
              <a:solidFill>
                <a:srgbClr val="000000"/>
              </a:solidFill>
            </a:endParaRPr>
          </a:p>
          <a:p>
            <a:r>
              <a:rPr lang="en-US" sz="2400" dirty="0"/>
              <a:t>At times </a:t>
            </a:r>
            <a:r>
              <a:rPr lang="en-US" sz="2400" b="1" i="1" dirty="0"/>
              <a:t>almost and nearly </a:t>
            </a:r>
            <a:r>
              <a:rPr lang="en-US" sz="2400" dirty="0"/>
              <a:t>are confusing. </a:t>
            </a:r>
          </a:p>
          <a:p>
            <a:r>
              <a:rPr lang="en-US" sz="2400" dirty="0"/>
              <a:t>Last night Lila wrote for almost (or nearly) an hour and then went skating.</a:t>
            </a:r>
          </a:p>
          <a:p>
            <a:r>
              <a:rPr lang="en-US" sz="2400" dirty="0"/>
              <a:t>Last night Lila almost (or nearly) wrote for an hour and then went skating.</a:t>
            </a:r>
          </a:p>
          <a:p>
            <a:r>
              <a:rPr lang="en-US" sz="2400" dirty="0"/>
              <a:t>In the first sentence, Lila wrote for about 55minutes and then stopped.</a:t>
            </a:r>
          </a:p>
          <a:p>
            <a:r>
              <a:rPr lang="en-US" sz="2400" dirty="0"/>
              <a:t> In the second sentence, Lila intended to write, but every time she sat down at the computer, she recalled few other things, then fed up she left to go skating </a:t>
            </a:r>
          </a:p>
        </p:txBody>
      </p:sp>
    </p:spTree>
    <p:extLst>
      <p:ext uri="{BB962C8B-B14F-4D97-AF65-F5344CB8AC3E}">
        <p14:creationId xmlns:p14="http://schemas.microsoft.com/office/powerpoint/2010/main" val="19083650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7818"/>
            <a:ext cx="10515600" cy="6442364"/>
          </a:xfrm>
        </p:spPr>
        <p:txBody>
          <a:bodyPr/>
          <a:lstStyle/>
          <a:p>
            <a:r>
              <a:rPr lang="en-US" dirty="0"/>
              <a:t>Placing only and just in a sentence </a:t>
            </a:r>
          </a:p>
          <a:p>
            <a:pPr marL="0" indent="0">
              <a:buNone/>
            </a:pPr>
            <a:r>
              <a:rPr lang="en-US" dirty="0"/>
              <a:t> only and just change the meaning of the sentence every time their positions are altered. Here are examples of only and just in action:</a:t>
            </a:r>
          </a:p>
          <a:p>
            <a:r>
              <a:rPr lang="en-US" dirty="0"/>
              <a:t>Only (or just) Lex went to Iceland. (No one else went.)</a:t>
            </a:r>
          </a:p>
          <a:p>
            <a:r>
              <a:rPr lang="en-US" dirty="0"/>
              <a:t>Lex only went to Iceland. (He didn’t do anything else.)</a:t>
            </a:r>
          </a:p>
          <a:p>
            <a:r>
              <a:rPr lang="en-US" dirty="0"/>
              <a:t>Lex just went to Iceland. (Just may mean recently.)</a:t>
            </a:r>
          </a:p>
          <a:p>
            <a:r>
              <a:rPr lang="en-US" dirty="0"/>
              <a:t>Lex went only (or just) to Iceland. (not anywhere else.)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i="1" dirty="0"/>
              <a:t>A common mistake with adjectives and adverbs is using one in the place of the other. </a:t>
            </a:r>
          </a:p>
          <a:p>
            <a:r>
              <a:rPr lang="en-US" dirty="0"/>
              <a:t>For example: I wish I could write as neat as he can.</a:t>
            </a:r>
          </a:p>
          <a:p>
            <a:r>
              <a:rPr lang="en-US" dirty="0"/>
              <a:t> The word should be neatly, an adverb, since it's modifying a verb.</a:t>
            </a:r>
          </a:p>
        </p:txBody>
      </p:sp>
    </p:spTree>
    <p:extLst>
      <p:ext uri="{BB962C8B-B14F-4D97-AF65-F5344CB8AC3E}">
        <p14:creationId xmlns:p14="http://schemas.microsoft.com/office/powerpoint/2010/main" val="37395250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7091" y="180108"/>
            <a:ext cx="11076709" cy="6483927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Common mistakes in the use of pronouns</a:t>
            </a:r>
          </a:p>
          <a:p>
            <a:pPr algn="ctr"/>
            <a:endParaRPr lang="en-US" dirty="0"/>
          </a:p>
          <a:p>
            <a:r>
              <a:rPr lang="en-US" sz="2400" dirty="0"/>
              <a:t>Incorrect: Each of these boys play cricket well.</a:t>
            </a:r>
          </a:p>
          <a:p>
            <a:r>
              <a:rPr lang="en-US" sz="2400" dirty="0"/>
              <a:t>Correct: Each of these boys plays cricket well.</a:t>
            </a:r>
          </a:p>
          <a:p>
            <a:r>
              <a:rPr lang="en-US" sz="2400" dirty="0"/>
              <a:t>Incorrect: Each of these three roads lead to the railway station.</a:t>
            </a:r>
          </a:p>
          <a:p>
            <a:r>
              <a:rPr lang="en-US" sz="2400" dirty="0"/>
              <a:t>Correct: Each of these three roads leads to the railway station.</a:t>
            </a:r>
          </a:p>
          <a:p>
            <a:r>
              <a:rPr lang="en-US" sz="2400" dirty="0"/>
              <a:t>After each of we use a plural noun or pronoun and a singular verb.</a:t>
            </a:r>
          </a:p>
          <a:p>
            <a:endParaRPr lang="en-US" sz="2400" dirty="0"/>
          </a:p>
          <a:p>
            <a:r>
              <a:rPr lang="en-US" sz="2400" dirty="0"/>
              <a:t>Incorrect: Both didn’t go.</a:t>
            </a:r>
          </a:p>
          <a:p>
            <a:r>
              <a:rPr lang="en-US" sz="2400" dirty="0"/>
              <a:t>Correct: Neither went.</a:t>
            </a:r>
          </a:p>
          <a:p>
            <a:r>
              <a:rPr lang="en-US" sz="2400" dirty="0"/>
              <a:t>In negative sentences we do not normally use both. Instead, we use neither.</a:t>
            </a:r>
          </a:p>
          <a:p>
            <a:r>
              <a:rPr lang="en-US" sz="2400" dirty="0"/>
              <a:t>Incorrect: We all did not go.</a:t>
            </a:r>
          </a:p>
          <a:p>
            <a:r>
              <a:rPr lang="en-US" sz="2400" dirty="0"/>
              <a:t>Correct: None of us went.</a:t>
            </a:r>
          </a:p>
          <a:p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0521432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1673" y="193964"/>
            <a:ext cx="11748653" cy="66640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  In negative sentences we do not normally use all. Instead, we use none.</a:t>
            </a:r>
          </a:p>
          <a:p>
            <a:r>
              <a:rPr lang="en-US" sz="2400" dirty="0"/>
              <a:t>Incorrect: Each boy and each girl were given a book.</a:t>
            </a:r>
          </a:p>
          <a:p>
            <a:r>
              <a:rPr lang="en-US" sz="2400" dirty="0"/>
              <a:t>Correct: Each boy and each girl was given a book.</a:t>
            </a:r>
          </a:p>
          <a:p>
            <a:r>
              <a:rPr lang="en-US" sz="2400" dirty="0"/>
              <a:t>Incorrect: Have you got a pen? I haven’t got.</a:t>
            </a:r>
          </a:p>
          <a:p>
            <a:r>
              <a:rPr lang="en-US" sz="2400" dirty="0"/>
              <a:t>Correct: Have you got a pen? I haven’t got one.</a:t>
            </a:r>
          </a:p>
          <a:p>
            <a:pPr marL="0" indent="0">
              <a:buNone/>
            </a:pPr>
            <a:r>
              <a:rPr lang="en-US" sz="2400" dirty="0"/>
              <a:t>The verb get needs to be followed by an object.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Incorrect: My all books are lost.</a:t>
            </a:r>
          </a:p>
          <a:p>
            <a:r>
              <a:rPr lang="en-US" sz="2400" dirty="0"/>
              <a:t>Correct: All of my books are lost.</a:t>
            </a:r>
          </a:p>
          <a:p>
            <a:r>
              <a:rPr lang="en-US" sz="2400" dirty="0"/>
              <a:t>Incorrect: Let I go.</a:t>
            </a:r>
          </a:p>
          <a:p>
            <a:r>
              <a:rPr lang="en-US" sz="2400" dirty="0"/>
              <a:t>Correct: Let me go.</a:t>
            </a:r>
          </a:p>
          <a:p>
            <a:r>
              <a:rPr lang="en-US" sz="2400" dirty="0"/>
              <a:t>Incorrect: Let we move.</a:t>
            </a:r>
          </a:p>
          <a:p>
            <a:r>
              <a:rPr lang="en-US" sz="2400" dirty="0"/>
              <a:t>Correct: Let us move.</a:t>
            </a:r>
          </a:p>
          <a:p>
            <a:r>
              <a:rPr lang="en-US" sz="2400" dirty="0"/>
              <a:t>Let is a verb. It should be followed by a pronoun in object form.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9684495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0109" y="0"/>
            <a:ext cx="11173691" cy="6747164"/>
          </a:xfrm>
        </p:spPr>
        <p:txBody>
          <a:bodyPr>
            <a:normAutofit/>
          </a:bodyPr>
          <a:lstStyle/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Incorrect: Your problem is bigger than me.</a:t>
            </a:r>
          </a:p>
          <a:p>
            <a:r>
              <a:rPr lang="en-US" sz="2400" dirty="0"/>
              <a:t>Correct: Your problem is bigger than mine.</a:t>
            </a:r>
          </a:p>
          <a:p>
            <a:r>
              <a:rPr lang="en-US" sz="2400" dirty="0"/>
              <a:t>Correct: Your problem is bigger than my problem.</a:t>
            </a:r>
          </a:p>
          <a:p>
            <a:r>
              <a:rPr lang="en-US" sz="2400" dirty="0"/>
              <a:t>Incorrect: Whoever does best he will get a prize.</a:t>
            </a:r>
          </a:p>
          <a:p>
            <a:r>
              <a:rPr lang="en-US" sz="2400" dirty="0"/>
              <a:t>Correct: Whoever does best will get a prize.</a:t>
            </a:r>
          </a:p>
          <a:p>
            <a:r>
              <a:rPr lang="en-US" sz="2400" dirty="0"/>
              <a:t>Incorrect: I and he are brothers.</a:t>
            </a:r>
          </a:p>
          <a:p>
            <a:r>
              <a:rPr lang="en-US" sz="2400" dirty="0"/>
              <a:t>Correct: He and I are brothers.</a:t>
            </a:r>
          </a:p>
          <a:p>
            <a:r>
              <a:rPr lang="en-US" sz="2400" dirty="0"/>
              <a:t>Incorrect: I and Mark are friends.</a:t>
            </a:r>
          </a:p>
          <a:p>
            <a:r>
              <a:rPr lang="en-US" sz="2400" dirty="0"/>
              <a:t>Correct: Mark and I are friends.</a:t>
            </a:r>
          </a:p>
          <a:p>
            <a:r>
              <a:rPr lang="en-US" sz="2400" dirty="0"/>
              <a:t>Pronouns should go in the proper order – the person spoken to, first; the person spoken of, second and the speaker, third.</a:t>
            </a:r>
          </a:p>
        </p:txBody>
      </p:sp>
    </p:spTree>
    <p:extLst>
      <p:ext uri="{BB962C8B-B14F-4D97-AF65-F5344CB8AC3E}">
        <p14:creationId xmlns:p14="http://schemas.microsoft.com/office/powerpoint/2010/main" val="37875635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Use the right pronouns, place the adjectives and adverbs properly in a sentence 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                           Thank you !!!</a:t>
            </a:r>
          </a:p>
          <a:p>
            <a:pPr marL="0" indent="0">
              <a:buNone/>
            </a:pPr>
            <a:r>
              <a:rPr lang="en-US"/>
              <a:t>                                Dr</a:t>
            </a:r>
            <a:r>
              <a:rPr lang="en-US" dirty="0"/>
              <a:t>. Kiran Magavi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08528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</TotalTime>
  <Words>2456</Words>
  <Application>Microsoft Office PowerPoint</Application>
  <PresentationFormat>Widescreen</PresentationFormat>
  <Paragraphs>163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Calibri</vt:lpstr>
      <vt:lpstr>Calibri Light</vt:lpstr>
      <vt:lpstr>Helvetica Neue</vt:lpstr>
      <vt:lpstr>Lato</vt:lpstr>
      <vt:lpstr>proxima_nova_rgregular</vt:lpstr>
      <vt:lpstr>Office Theme</vt:lpstr>
      <vt:lpstr>Communicative English</vt:lpstr>
      <vt:lpstr>PowerPoint Presentation</vt:lpstr>
      <vt:lpstr>PowerPoint Presentation</vt:lpstr>
      <vt:lpstr>Adjectives </vt:lpstr>
      <vt:lpstr>PowerPoint Presentation</vt:lpstr>
      <vt:lpstr>PowerPoint Presentation</vt:lpstr>
      <vt:lpstr>PowerPoint Presentation</vt:lpstr>
      <vt:lpstr>Adverbs </vt:lpstr>
      <vt:lpstr>Types of Adverbs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Bridge course –session 5</dc:title>
  <dc:creator>kiraaan</dc:creator>
  <cp:lastModifiedBy>Rishi Magavi</cp:lastModifiedBy>
  <cp:revision>30</cp:revision>
  <dcterms:created xsi:type="dcterms:W3CDTF">2020-09-30T03:33:40Z</dcterms:created>
  <dcterms:modified xsi:type="dcterms:W3CDTF">2022-03-07T03:16:20Z</dcterms:modified>
</cp:coreProperties>
</file>