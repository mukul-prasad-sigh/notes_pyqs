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9144000"/>
  <p:embeddedFontLst>
    <p:embeddedFont>
      <p:font typeface="Open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9" roundtripDataSignature="AMtx7mgppVF6UUAZdAROvDSLMqmGx4WL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OpenSans-bold.fntdata"/><Relationship Id="rId25" Type="http://schemas.openxmlformats.org/officeDocument/2006/relationships/font" Target="fonts/OpenSans-regular.fntdata"/><Relationship Id="rId28" Type="http://schemas.openxmlformats.org/officeDocument/2006/relationships/font" Target="fonts/OpenSans-boldItalic.fntdata"/><Relationship Id="rId27" Type="http://schemas.openxmlformats.org/officeDocument/2006/relationships/font" Target="fonts/OpenSans-italic.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p:nvPr>
            <p:ph idx="2" type="pic"/>
          </p:nvPr>
        </p:nvSpPr>
        <p:spPr>
          <a:xfrm>
            <a:off x="5183188" y="987425"/>
            <a:ext cx="6172200" cy="4873625"/>
          </a:xfrm>
          <a:prstGeom prst="rect">
            <a:avLst/>
          </a:prstGeom>
          <a:noFill/>
          <a:ln>
            <a:noFill/>
          </a:ln>
        </p:spPr>
      </p:sp>
      <p:sp>
        <p:nvSpPr>
          <p:cNvPr id="64" name="Google Shape;64;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0000"/>
              </a:buClr>
              <a:buSzPts val="3900"/>
              <a:buFont typeface="Calibri"/>
              <a:buNone/>
            </a:pPr>
            <a:r>
              <a:rPr b="0" i="0" lang="en-US" sz="3900" u="none" cap="none" strike="noStrike">
                <a:solidFill>
                  <a:srgbClr val="000000"/>
                </a:solidFill>
                <a:latin typeface="Calibri"/>
                <a:ea typeface="Calibri"/>
                <a:cs typeface="Calibri"/>
                <a:sym typeface="Calibri"/>
              </a:rPr>
              <a:t>Communicative English  </a:t>
            </a:r>
            <a:br>
              <a:rPr b="0" i="0" lang="en-US" sz="4400" u="none" cap="none" strike="noStrike">
                <a:solidFill>
                  <a:srgbClr val="000000"/>
                </a:solidFill>
                <a:latin typeface="Calibri"/>
                <a:ea typeface="Calibri"/>
                <a:cs typeface="Calibri"/>
                <a:sym typeface="Calibri"/>
              </a:rPr>
            </a:br>
            <a:br>
              <a:rPr b="0" i="0" lang="en-US" sz="2300" u="none" cap="none" strike="noStrike">
                <a:solidFill>
                  <a:srgbClr val="000000"/>
                </a:solidFill>
                <a:latin typeface="Calibri"/>
                <a:ea typeface="Calibri"/>
                <a:cs typeface="Calibri"/>
                <a:sym typeface="Calibri"/>
              </a:rPr>
            </a:br>
            <a:r>
              <a:rPr b="0" i="0" lang="en-US" sz="2300" u="none" cap="none" strike="noStrike">
                <a:solidFill>
                  <a:srgbClr val="000000"/>
                </a:solidFill>
                <a:latin typeface="Calibri"/>
                <a:ea typeface="Calibri"/>
                <a:cs typeface="Calibri"/>
                <a:sym typeface="Calibri"/>
              </a:rPr>
              <a:t>Faculty – Dr. Kiran Magavi</a:t>
            </a:r>
            <a:br>
              <a:rPr b="0" i="0" lang="en-US" sz="2300" u="none" cap="none" strike="noStrike">
                <a:solidFill>
                  <a:srgbClr val="000000"/>
                </a:solidFill>
                <a:latin typeface="Calibri"/>
                <a:ea typeface="Calibri"/>
                <a:cs typeface="Calibri"/>
                <a:sym typeface="Calibri"/>
              </a:rPr>
            </a:br>
            <a:r>
              <a:rPr b="0" i="0" lang="en-US" sz="2300" u="none" cap="none" strike="noStrike">
                <a:solidFill>
                  <a:srgbClr val="000000"/>
                </a:solidFill>
                <a:latin typeface="Calibri"/>
                <a:ea typeface="Calibri"/>
                <a:cs typeface="Calibri"/>
                <a:sym typeface="Calibri"/>
              </a:rPr>
              <a:t>Department – Humanities and Social Sciences</a:t>
            </a:r>
            <a:r>
              <a:rPr lang="en-US"/>
              <a:t> </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600"/>
              <a:buFont typeface="Arial"/>
              <a:buNone/>
            </a:pPr>
            <a:r>
              <a:t/>
            </a:r>
            <a:endParaRPr sz="2600">
              <a:solidFill>
                <a:srgbClr val="000000"/>
              </a:solidFill>
            </a:endParaRPr>
          </a:p>
          <a:p>
            <a:pPr indent="0" lvl="0" marL="0" marR="0" rtl="0" algn="l">
              <a:lnSpc>
                <a:spcPct val="90000"/>
              </a:lnSpc>
              <a:spcBef>
                <a:spcPts val="0"/>
              </a:spcBef>
              <a:spcAft>
                <a:spcPts val="0"/>
              </a:spcAft>
              <a:buClr>
                <a:srgbClr val="000000"/>
              </a:buClr>
              <a:buSzPts val="2600"/>
              <a:buFont typeface="Arial"/>
              <a:buNone/>
            </a:pPr>
            <a:r>
              <a:t/>
            </a:r>
            <a:endParaRPr sz="2600">
              <a:solidFill>
                <a:srgbClr val="000000"/>
              </a:solidFill>
            </a:endParaRPr>
          </a:p>
          <a:p>
            <a:pPr indent="0" lvl="0" marL="0" marR="0" rtl="0" algn="l">
              <a:lnSpc>
                <a:spcPct val="90000"/>
              </a:lnSpc>
              <a:spcBef>
                <a:spcPts val="0"/>
              </a:spcBef>
              <a:spcAft>
                <a:spcPts val="0"/>
              </a:spcAft>
              <a:buClr>
                <a:srgbClr val="000000"/>
              </a:buClr>
              <a:buSzPts val="2600"/>
              <a:buFont typeface="Arial"/>
              <a:buNone/>
            </a:pPr>
            <a:r>
              <a:t/>
            </a:r>
            <a:endParaRPr sz="2600">
              <a:solidFill>
                <a:srgbClr val="000000"/>
              </a:solidFill>
            </a:endParaRPr>
          </a:p>
          <a:p>
            <a:pPr indent="0" lvl="0" marL="0" rtl="0" algn="ctr">
              <a:lnSpc>
                <a:spcPct val="90000"/>
              </a:lnSpc>
              <a:spcBef>
                <a:spcPts val="100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Important questions </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AutoNum type="arabicPeriod"/>
            </a:pPr>
            <a:r>
              <a:rPr lang="en-US"/>
              <a:t>What is Listening?</a:t>
            </a:r>
            <a:endParaRPr/>
          </a:p>
          <a:p>
            <a:pPr indent="-514350" lvl="0" marL="514350" rtl="0" algn="l">
              <a:lnSpc>
                <a:spcPct val="90000"/>
              </a:lnSpc>
              <a:spcBef>
                <a:spcPts val="1000"/>
              </a:spcBef>
              <a:spcAft>
                <a:spcPts val="0"/>
              </a:spcAft>
              <a:buClr>
                <a:schemeClr val="dk1"/>
              </a:buClr>
              <a:buSzPts val="2800"/>
              <a:buAutoNum type="arabicPeriod"/>
            </a:pPr>
            <a:r>
              <a:rPr lang="en-US"/>
              <a:t> Process of Listening.</a:t>
            </a:r>
            <a:endParaRPr/>
          </a:p>
          <a:p>
            <a:pPr indent="-514350" lvl="0" marL="514350" rtl="0" algn="l">
              <a:lnSpc>
                <a:spcPct val="90000"/>
              </a:lnSpc>
              <a:spcBef>
                <a:spcPts val="1000"/>
              </a:spcBef>
              <a:spcAft>
                <a:spcPts val="0"/>
              </a:spcAft>
              <a:buClr>
                <a:schemeClr val="dk1"/>
              </a:buClr>
              <a:buSzPts val="2800"/>
              <a:buAutoNum type="arabicPeriod"/>
            </a:pPr>
            <a:r>
              <a:rPr lang="en-US"/>
              <a:t> Importance of Listening</a:t>
            </a:r>
            <a:endParaRPr/>
          </a:p>
          <a:p>
            <a:pPr indent="-514350" lvl="0" marL="514350" rtl="0" algn="l">
              <a:lnSpc>
                <a:spcPct val="90000"/>
              </a:lnSpc>
              <a:spcBef>
                <a:spcPts val="1000"/>
              </a:spcBef>
              <a:spcAft>
                <a:spcPts val="0"/>
              </a:spcAft>
              <a:buClr>
                <a:schemeClr val="dk1"/>
              </a:buClr>
              <a:buSzPts val="2800"/>
              <a:buAutoNum type="arabicPeriod"/>
            </a:pPr>
            <a:r>
              <a:rPr lang="en-US"/>
              <a:t> Basic Types of Listening</a:t>
            </a:r>
            <a:endParaRPr/>
          </a:p>
          <a:p>
            <a:pPr indent="-514350" lvl="0" marL="514350" rtl="0" algn="l">
              <a:lnSpc>
                <a:spcPct val="90000"/>
              </a:lnSpc>
              <a:spcBef>
                <a:spcPts val="1000"/>
              </a:spcBef>
              <a:spcAft>
                <a:spcPts val="0"/>
              </a:spcAft>
              <a:buClr>
                <a:schemeClr val="dk1"/>
              </a:buClr>
              <a:buSzPts val="2800"/>
              <a:buAutoNum type="arabicPeriod"/>
            </a:pPr>
            <a:r>
              <a:rPr lang="en-US"/>
              <a:t> Barriers to effective listening</a:t>
            </a:r>
            <a:endParaRPr/>
          </a:p>
          <a:p>
            <a:pPr indent="-514350" lvl="0" marL="514350" rtl="0" algn="l">
              <a:lnSpc>
                <a:spcPct val="90000"/>
              </a:lnSpc>
              <a:spcBef>
                <a:spcPts val="1000"/>
              </a:spcBef>
              <a:spcAft>
                <a:spcPts val="0"/>
              </a:spcAft>
              <a:buClr>
                <a:schemeClr val="dk1"/>
              </a:buClr>
              <a:buSzPts val="2800"/>
              <a:buAutoNum type="arabicPeriod"/>
            </a:pPr>
            <a:r>
              <a:rPr lang="en-US"/>
              <a:t>How to Listen Effectively?</a:t>
            </a:r>
            <a:endParaRPr/>
          </a:p>
          <a:p>
            <a:pPr indent="-514350" lvl="0" marL="514350" rtl="0" algn="l">
              <a:lnSpc>
                <a:spcPct val="90000"/>
              </a:lnSpc>
              <a:spcBef>
                <a:spcPts val="1000"/>
              </a:spcBef>
              <a:spcAft>
                <a:spcPts val="0"/>
              </a:spcAft>
              <a:buClr>
                <a:schemeClr val="dk1"/>
              </a:buClr>
              <a:buSzPts val="2800"/>
              <a:buAutoNum type="arabicPeriod"/>
            </a:pPr>
            <a:r>
              <a:rPr lang="en-US"/>
              <a:t>Benefits of Effective Listening</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Points to remember</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Listening is not just about being quiet while someone else is speaking.</a:t>
            </a:r>
            <a:endParaRPr/>
          </a:p>
          <a:p>
            <a:pPr indent="-228600" lvl="0" marL="228600" rtl="0" algn="l">
              <a:lnSpc>
                <a:spcPct val="90000"/>
              </a:lnSpc>
              <a:spcBef>
                <a:spcPts val="1000"/>
              </a:spcBef>
              <a:spcAft>
                <a:spcPts val="0"/>
              </a:spcAft>
              <a:buClr>
                <a:schemeClr val="dk1"/>
              </a:buClr>
              <a:buSzPts val="2800"/>
              <a:buChar char="•"/>
            </a:pPr>
            <a:r>
              <a:rPr lang="en-US"/>
              <a:t>Listening is with the Mind. </a:t>
            </a:r>
            <a:endParaRPr/>
          </a:p>
          <a:p>
            <a:pPr indent="-228600" lvl="0" marL="228600" rtl="0" algn="l">
              <a:lnSpc>
                <a:spcPct val="90000"/>
              </a:lnSpc>
              <a:spcBef>
                <a:spcPts val="1000"/>
              </a:spcBef>
              <a:spcAft>
                <a:spcPts val="0"/>
              </a:spcAft>
              <a:buClr>
                <a:schemeClr val="dk1"/>
              </a:buClr>
              <a:buSzPts val="2800"/>
              <a:buChar char="•"/>
            </a:pPr>
            <a:r>
              <a:rPr lang="en-US"/>
              <a:t>Hearing with the senses. </a:t>
            </a:r>
            <a:endParaRPr/>
          </a:p>
          <a:p>
            <a:pPr indent="-228600" lvl="0" marL="228600" rtl="0" algn="l">
              <a:lnSpc>
                <a:spcPct val="90000"/>
              </a:lnSpc>
              <a:spcBef>
                <a:spcPts val="1000"/>
              </a:spcBef>
              <a:spcAft>
                <a:spcPts val="0"/>
              </a:spcAft>
              <a:buClr>
                <a:schemeClr val="dk1"/>
              </a:buClr>
              <a:buSzPts val="2800"/>
              <a:buChar char="•"/>
            </a:pPr>
            <a:r>
              <a:rPr lang="en-US"/>
              <a:t>Listening is conscious. </a:t>
            </a:r>
            <a:endParaRPr/>
          </a:p>
          <a:p>
            <a:pPr indent="-228600" lvl="0" marL="228600" rtl="0" algn="l">
              <a:lnSpc>
                <a:spcPct val="90000"/>
              </a:lnSpc>
              <a:spcBef>
                <a:spcPts val="1000"/>
              </a:spcBef>
              <a:spcAft>
                <a:spcPts val="0"/>
              </a:spcAft>
              <a:buClr>
                <a:schemeClr val="dk1"/>
              </a:buClr>
              <a:buSzPts val="2800"/>
              <a:buChar char="•"/>
            </a:pPr>
            <a:r>
              <a:rPr lang="en-US"/>
              <a:t>To improve our interpersonal &amp; oral exchange just listening to words is not enough</a:t>
            </a:r>
            <a:endParaRPr/>
          </a:p>
          <a:p>
            <a:pPr indent="-228600" lvl="0" marL="228600" rtl="0" algn="l">
              <a:lnSpc>
                <a:spcPct val="90000"/>
              </a:lnSpc>
              <a:spcBef>
                <a:spcPts val="1000"/>
              </a:spcBef>
              <a:spcAft>
                <a:spcPts val="0"/>
              </a:spcAft>
              <a:buClr>
                <a:schemeClr val="dk1"/>
              </a:buClr>
              <a:buSzPts val="2800"/>
              <a:buChar char="•"/>
            </a:pPr>
            <a:r>
              <a:rPr lang="en-US"/>
              <a:t>A good Listener has to pay attention to the non-verbal communication/cues of the speaker.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Listening skills </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A2A2A"/>
              </a:buClr>
              <a:buSzPts val="2800"/>
              <a:buChar char="•"/>
            </a:pPr>
            <a:r>
              <a:rPr b="0" i="0" lang="en-US">
                <a:solidFill>
                  <a:srgbClr val="2A2A2A"/>
                </a:solidFill>
                <a:latin typeface="Open Sans"/>
                <a:ea typeface="Open Sans"/>
                <a:cs typeface="Open Sans"/>
                <a:sym typeface="Open Sans"/>
              </a:rPr>
              <a:t>Listening is the ability to accurately receive and interpret messages in the communication process.</a:t>
            </a:r>
            <a:endParaRPr/>
          </a:p>
          <a:p>
            <a:pPr indent="-228600" lvl="0" marL="228600" rtl="0" algn="l">
              <a:lnSpc>
                <a:spcPct val="90000"/>
              </a:lnSpc>
              <a:spcBef>
                <a:spcPts val="1000"/>
              </a:spcBef>
              <a:spcAft>
                <a:spcPts val="0"/>
              </a:spcAft>
              <a:buClr>
                <a:srgbClr val="2A2A2A"/>
              </a:buClr>
              <a:buSzPts val="2800"/>
              <a:buChar char="•"/>
            </a:pPr>
            <a:r>
              <a:rPr b="0" i="0" lang="en-US">
                <a:solidFill>
                  <a:srgbClr val="2A2A2A"/>
                </a:solidFill>
                <a:latin typeface="Open Sans"/>
                <a:ea typeface="Open Sans"/>
                <a:cs typeface="Open Sans"/>
                <a:sym typeface="Open Sans"/>
              </a:rPr>
              <a:t>Listening is key to all effective communication. </a:t>
            </a:r>
            <a:endParaRPr/>
          </a:p>
          <a:p>
            <a:pPr indent="-228600" lvl="0" marL="228600" rtl="0" algn="l">
              <a:lnSpc>
                <a:spcPct val="90000"/>
              </a:lnSpc>
              <a:spcBef>
                <a:spcPts val="1000"/>
              </a:spcBef>
              <a:spcAft>
                <a:spcPts val="0"/>
              </a:spcAft>
              <a:buClr>
                <a:srgbClr val="2A2A2A"/>
              </a:buClr>
              <a:buSzPts val="2800"/>
              <a:buChar char="•"/>
            </a:pPr>
            <a:r>
              <a:rPr b="0" i="0" lang="en-US">
                <a:solidFill>
                  <a:srgbClr val="2A2A2A"/>
                </a:solidFill>
                <a:latin typeface="Open Sans"/>
                <a:ea typeface="Open Sans"/>
                <a:cs typeface="Open Sans"/>
                <a:sym typeface="Open Sans"/>
              </a:rPr>
              <a:t>Without the ability to listen effectively, messages are easily misunderstood. </a:t>
            </a:r>
            <a:endParaRPr/>
          </a:p>
          <a:p>
            <a:pPr indent="-228600" lvl="0" marL="228600" rtl="0" algn="l">
              <a:lnSpc>
                <a:spcPct val="90000"/>
              </a:lnSpc>
              <a:spcBef>
                <a:spcPts val="1000"/>
              </a:spcBef>
              <a:spcAft>
                <a:spcPts val="0"/>
              </a:spcAft>
              <a:buClr>
                <a:srgbClr val="2A2A2A"/>
              </a:buClr>
              <a:buSzPts val="2800"/>
              <a:buChar char="•"/>
            </a:pPr>
            <a:r>
              <a:rPr b="0" i="0" lang="en-US">
                <a:solidFill>
                  <a:srgbClr val="2A2A2A"/>
                </a:solidFill>
                <a:latin typeface="Open Sans"/>
                <a:ea typeface="Open Sans"/>
                <a:cs typeface="Open Sans"/>
                <a:sym typeface="Open Sans"/>
              </a:rPr>
              <a:t>As a result, communication breaks down and the sender of the message can easily become frustrated or irritated.</a:t>
            </a:r>
            <a:endParaRPr/>
          </a:p>
          <a:p>
            <a:pPr indent="-228600" lvl="0" marL="228600" rtl="0" algn="l">
              <a:lnSpc>
                <a:spcPct val="90000"/>
              </a:lnSpc>
              <a:spcBef>
                <a:spcPts val="1000"/>
              </a:spcBef>
              <a:spcAft>
                <a:spcPts val="0"/>
              </a:spcAft>
              <a:buClr>
                <a:srgbClr val="2A2A2A"/>
              </a:buClr>
              <a:buSzPts val="2800"/>
              <a:buChar char="•"/>
            </a:pPr>
            <a:r>
              <a:rPr b="0" i="0" lang="en-US">
                <a:solidFill>
                  <a:srgbClr val="2A2A2A"/>
                </a:solidFill>
                <a:latin typeface="Open Sans"/>
                <a:ea typeface="Open Sans"/>
                <a:cs typeface="Open Sans"/>
                <a:sym typeface="Open Sans"/>
              </a:rPr>
              <a:t>If there is one communication skill you should aim to master, then,  it is listening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Process of listening </a:t>
            </a:r>
            <a:endParaRPr/>
          </a:p>
        </p:txBody>
      </p:sp>
      <p:pic>
        <p:nvPicPr>
          <p:cNvPr id="109" name="Google Shape;109;p5"/>
          <p:cNvPicPr preferRelativeResize="0"/>
          <p:nvPr>
            <p:ph idx="1" type="body"/>
          </p:nvPr>
        </p:nvPicPr>
        <p:blipFill rotWithShape="1">
          <a:blip r:embed="rId3">
            <a:alphaModFix/>
          </a:blip>
          <a:srcRect b="0" l="0" r="0" t="0"/>
          <a:stretch/>
        </p:blipFill>
        <p:spPr>
          <a:xfrm>
            <a:off x="838200" y="2643087"/>
            <a:ext cx="10515600" cy="271641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Receiving </a:t>
            </a:r>
            <a:endParaRPr/>
          </a:p>
        </p:txBody>
      </p:sp>
      <p:sp>
        <p:nvSpPr>
          <p:cNvPr id="115" name="Google Shape;115;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Is the intentional focus on hearing a speaker’s message. </a:t>
            </a:r>
            <a:endParaRPr/>
          </a:p>
          <a:p>
            <a:pPr indent="-228600" lvl="0" marL="228600" rtl="0" algn="l">
              <a:lnSpc>
                <a:spcPct val="90000"/>
              </a:lnSpc>
              <a:spcBef>
                <a:spcPts val="1000"/>
              </a:spcBef>
              <a:spcAft>
                <a:spcPts val="0"/>
              </a:spcAft>
              <a:buClr>
                <a:schemeClr val="dk1"/>
              </a:buClr>
              <a:buSzPts val="2800"/>
              <a:buChar char="•"/>
            </a:pPr>
            <a:r>
              <a:rPr lang="en-US"/>
              <a:t>This stage is represented by the ear because it is the primary tool involved with this stage of the listening process.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Understanding </a:t>
            </a:r>
            <a:endParaRPr/>
          </a:p>
        </p:txBody>
      </p:sp>
      <p:sp>
        <p:nvSpPr>
          <p:cNvPr id="121" name="Google Shape;12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the understanding stage, we attempt to learn the meaning of the message, which is not always easy. </a:t>
            </a:r>
            <a:endParaRPr/>
          </a:p>
          <a:p>
            <a:pPr indent="-228600" lvl="0" marL="228600" rtl="0" algn="l">
              <a:lnSpc>
                <a:spcPct val="90000"/>
              </a:lnSpc>
              <a:spcBef>
                <a:spcPts val="1000"/>
              </a:spcBef>
              <a:spcAft>
                <a:spcPts val="0"/>
              </a:spcAft>
              <a:buClr>
                <a:schemeClr val="dk1"/>
              </a:buClr>
              <a:buSzPts val="2800"/>
              <a:buChar char="•"/>
            </a:pPr>
            <a:r>
              <a:rPr lang="en-US"/>
              <a:t> Deciding what the message means to you</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Remembering </a:t>
            </a:r>
            <a:endParaRPr/>
          </a:p>
        </p:txBody>
      </p:sp>
      <p:sp>
        <p:nvSpPr>
          <p:cNvPr id="127" name="Google Shape;127;p8"/>
          <p:cNvSpPr txBox="1"/>
          <p:nvPr>
            <p:ph idx="1" type="body"/>
          </p:nvPr>
        </p:nvSpPr>
        <p:spPr>
          <a:xfrm>
            <a:off x="838200" y="212269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Remembering begins with listening; if you can’t remember something that was said, you might not have been listening effectively. </a:t>
            </a:r>
            <a:endParaRPr/>
          </a:p>
          <a:p>
            <a:pPr indent="-228600" lvl="0" marL="228600" rtl="0" algn="l">
              <a:lnSpc>
                <a:spcPct val="90000"/>
              </a:lnSpc>
              <a:spcBef>
                <a:spcPts val="1000"/>
              </a:spcBef>
              <a:spcAft>
                <a:spcPts val="0"/>
              </a:spcAft>
              <a:buClr>
                <a:schemeClr val="dk1"/>
              </a:buClr>
              <a:buSzPts val="2800"/>
              <a:buChar char="•"/>
            </a:pPr>
            <a:r>
              <a:rPr lang="en-US"/>
              <a:t> However, even when you are listening attentively, some messages are more difficult than others to understand and remember. </a:t>
            </a:r>
            <a:endParaRPr/>
          </a:p>
          <a:p>
            <a:pPr indent="-228600" lvl="0" marL="228600" rtl="0" algn="l">
              <a:lnSpc>
                <a:spcPct val="90000"/>
              </a:lnSpc>
              <a:spcBef>
                <a:spcPts val="1000"/>
              </a:spcBef>
              <a:spcAft>
                <a:spcPts val="0"/>
              </a:spcAft>
              <a:buClr>
                <a:schemeClr val="dk1"/>
              </a:buClr>
              <a:buSzPts val="2800"/>
              <a:buChar char="•"/>
            </a:pPr>
            <a:r>
              <a:rPr lang="en-US"/>
              <a:t>Highly complex messages that are filled with detail call for highly developed listening skills.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Evaluating </a:t>
            </a:r>
            <a:endParaRPr/>
          </a:p>
        </p:txBody>
      </p:sp>
      <p:sp>
        <p:nvSpPr>
          <p:cNvPr id="133" name="Google Shape;133;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fourth stage in the listening process is evaluating. </a:t>
            </a:r>
            <a:endParaRPr/>
          </a:p>
          <a:p>
            <a:pPr indent="-228600" lvl="0" marL="228600" rtl="0" algn="l">
              <a:lnSpc>
                <a:spcPct val="90000"/>
              </a:lnSpc>
              <a:spcBef>
                <a:spcPts val="1000"/>
              </a:spcBef>
              <a:spcAft>
                <a:spcPts val="0"/>
              </a:spcAft>
              <a:buClr>
                <a:schemeClr val="dk1"/>
              </a:buClr>
              <a:buSzPts val="2800"/>
              <a:buChar char="•"/>
            </a:pPr>
            <a:r>
              <a:rPr lang="en-US"/>
              <a:t> evaluations of the same message can vary widely from one listener to another. </a:t>
            </a:r>
            <a:endParaRPr/>
          </a:p>
          <a:p>
            <a:pPr indent="-228600" lvl="0" marL="228600" rtl="0" algn="l">
              <a:lnSpc>
                <a:spcPct val="90000"/>
              </a:lnSpc>
              <a:spcBef>
                <a:spcPts val="1000"/>
              </a:spcBef>
              <a:spcAft>
                <a:spcPts val="0"/>
              </a:spcAft>
              <a:buClr>
                <a:schemeClr val="dk1"/>
              </a:buClr>
              <a:buSzPts val="2800"/>
              <a:buChar char="•"/>
            </a:pPr>
            <a:r>
              <a:rPr lang="en-US"/>
              <a:t>The stages two, three, and four are represented by the brain because it is the primary tool involved with these stages of the listening process.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838200" y="365125"/>
            <a:ext cx="10515600" cy="84082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Responding </a:t>
            </a:r>
            <a:endParaRPr/>
          </a:p>
        </p:txBody>
      </p:sp>
      <p:sp>
        <p:nvSpPr>
          <p:cNvPr id="139" name="Google Shape;139;p10"/>
          <p:cNvSpPr txBox="1"/>
          <p:nvPr>
            <p:ph idx="1" type="body"/>
          </p:nvPr>
        </p:nvSpPr>
        <p:spPr>
          <a:xfrm>
            <a:off x="838200" y="1470991"/>
            <a:ext cx="10515600" cy="5021884"/>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Responding—sometimes referred to as feedback—is the fifth and final stage of the listening process. </a:t>
            </a:r>
            <a:endParaRPr/>
          </a:p>
          <a:p>
            <a:pPr indent="-228600" lvl="0" marL="228600" rtl="0" algn="l">
              <a:lnSpc>
                <a:spcPct val="90000"/>
              </a:lnSpc>
              <a:spcBef>
                <a:spcPts val="1000"/>
              </a:spcBef>
              <a:spcAft>
                <a:spcPts val="0"/>
              </a:spcAft>
              <a:buClr>
                <a:schemeClr val="dk1"/>
              </a:buClr>
              <a:buSzPts val="2800"/>
              <a:buChar char="•"/>
            </a:pPr>
            <a:r>
              <a:rPr lang="en-US"/>
              <a:t>Your reaction to the message.</a:t>
            </a:r>
            <a:endParaRPr/>
          </a:p>
          <a:p>
            <a:pPr indent="-228600" lvl="0" marL="228600" rtl="0" algn="l">
              <a:lnSpc>
                <a:spcPct val="90000"/>
              </a:lnSpc>
              <a:spcBef>
                <a:spcPts val="1000"/>
              </a:spcBef>
              <a:spcAft>
                <a:spcPts val="0"/>
              </a:spcAft>
              <a:buClr>
                <a:schemeClr val="dk1"/>
              </a:buClr>
              <a:buSzPts val="2800"/>
              <a:buChar char="•"/>
            </a:pPr>
            <a:r>
              <a:rPr lang="en-US"/>
              <a:t> It can be emotional and intellectual • For example, you are giving positive feedback to your instructor if at the end of class you stay behind to finish a sentence in your notes or approach the instructor to ask for clarification. </a:t>
            </a:r>
            <a:endParaRPr/>
          </a:p>
          <a:p>
            <a:pPr indent="-228600" lvl="0" marL="228600" rtl="0" algn="l">
              <a:lnSpc>
                <a:spcPct val="90000"/>
              </a:lnSpc>
              <a:spcBef>
                <a:spcPts val="1000"/>
              </a:spcBef>
              <a:spcAft>
                <a:spcPts val="0"/>
              </a:spcAft>
              <a:buClr>
                <a:schemeClr val="dk1"/>
              </a:buClr>
              <a:buSzPts val="2800"/>
              <a:buChar char="•"/>
            </a:pPr>
            <a:r>
              <a:rPr lang="en-US"/>
              <a:t>The opposite kind of feedback is given by students who gather their belongings and rush out the door as soon as class is over. </a:t>
            </a:r>
            <a:endParaRPr/>
          </a:p>
          <a:p>
            <a:pPr indent="-228600" lvl="0" marL="228600" rtl="0" algn="l">
              <a:lnSpc>
                <a:spcPct val="90000"/>
              </a:lnSpc>
              <a:spcBef>
                <a:spcPts val="1000"/>
              </a:spcBef>
              <a:spcAft>
                <a:spcPts val="0"/>
              </a:spcAft>
              <a:buClr>
                <a:schemeClr val="dk1"/>
              </a:buClr>
              <a:buSzPts val="2800"/>
              <a:buChar char="•"/>
            </a:pPr>
            <a:r>
              <a:rPr lang="en-US"/>
              <a:t> This stage is represented by the lips because we often give feedback in the form of verbal feedback; however, you can just as easily respond nonverbally.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listening </a:t>
            </a:r>
            <a:endParaRPr/>
          </a:p>
        </p:txBody>
      </p:sp>
      <p:sp>
        <p:nvSpPr>
          <p:cNvPr id="145" name="Google Shape;145;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Active listening </a:t>
            </a:r>
            <a:endParaRPr/>
          </a:p>
          <a:p>
            <a:pPr indent="-228600" lvl="0" marL="228600" rtl="0" algn="l">
              <a:lnSpc>
                <a:spcPct val="90000"/>
              </a:lnSpc>
              <a:spcBef>
                <a:spcPts val="1000"/>
              </a:spcBef>
              <a:spcAft>
                <a:spcPts val="0"/>
              </a:spcAft>
              <a:buClr>
                <a:schemeClr val="dk1"/>
              </a:buClr>
              <a:buSzPts val="2800"/>
              <a:buChar char="•"/>
            </a:pPr>
            <a:r>
              <a:rPr lang="en-US"/>
              <a:t> Selective listening </a:t>
            </a:r>
            <a:endParaRPr/>
          </a:p>
          <a:p>
            <a:pPr indent="-228600" lvl="0" marL="228600" rtl="0" algn="l">
              <a:lnSpc>
                <a:spcPct val="90000"/>
              </a:lnSpc>
              <a:spcBef>
                <a:spcPts val="1000"/>
              </a:spcBef>
              <a:spcAft>
                <a:spcPts val="0"/>
              </a:spcAft>
              <a:buClr>
                <a:schemeClr val="dk1"/>
              </a:buClr>
              <a:buSzPts val="2800"/>
              <a:buChar char="•"/>
            </a:pPr>
            <a:r>
              <a:rPr lang="en-US"/>
              <a:t> Emphatic listening </a:t>
            </a:r>
            <a:endParaRPr/>
          </a:p>
          <a:p>
            <a:pPr indent="-228600" lvl="0" marL="228600" rtl="0" algn="l">
              <a:lnSpc>
                <a:spcPct val="90000"/>
              </a:lnSpc>
              <a:spcBef>
                <a:spcPts val="1000"/>
              </a:spcBef>
              <a:spcAft>
                <a:spcPts val="0"/>
              </a:spcAft>
              <a:buClr>
                <a:schemeClr val="dk1"/>
              </a:buClr>
              <a:buSzPts val="2800"/>
              <a:buChar char="•"/>
            </a:pPr>
            <a:r>
              <a:rPr lang="en-US"/>
              <a:t> Ignoring listening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2"/>
          <p:cNvSpPr txBox="1"/>
          <p:nvPr>
            <p:ph idx="1" type="body"/>
          </p:nvPr>
        </p:nvSpPr>
        <p:spPr>
          <a:xfrm>
            <a:off x="838200" y="172278"/>
            <a:ext cx="10515600" cy="600468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1 - Active Listening - Understanding all things, proper interaction. proper feedback</a:t>
            </a:r>
            <a:endParaRPr/>
          </a:p>
          <a:p>
            <a:pPr indent="-228600" lvl="0" marL="228600" rtl="0" algn="l">
              <a:lnSpc>
                <a:spcPct val="90000"/>
              </a:lnSpc>
              <a:spcBef>
                <a:spcPts val="1000"/>
              </a:spcBef>
              <a:spcAft>
                <a:spcPts val="0"/>
              </a:spcAft>
              <a:buClr>
                <a:schemeClr val="dk1"/>
              </a:buClr>
              <a:buSzPts val="2800"/>
              <a:buChar char="•"/>
            </a:pPr>
            <a:r>
              <a:rPr lang="en-US"/>
              <a:t>2 - Selective Listening - We remember only what we like , selective  portions that suits us and are interested in, sometimes topic is not to our liking</a:t>
            </a:r>
            <a:endParaRPr/>
          </a:p>
          <a:p>
            <a:pPr indent="-228600" lvl="0" marL="228600" rtl="0" algn="l">
              <a:lnSpc>
                <a:spcPct val="90000"/>
              </a:lnSpc>
              <a:spcBef>
                <a:spcPts val="1000"/>
              </a:spcBef>
              <a:spcAft>
                <a:spcPts val="0"/>
              </a:spcAft>
              <a:buClr>
                <a:schemeClr val="dk1"/>
              </a:buClr>
              <a:buSzPts val="2800"/>
              <a:buChar char="•"/>
            </a:pPr>
            <a:r>
              <a:rPr lang="en-US"/>
              <a:t>3 - Empathetic listening -  When we listen empathetically, we go beyond sympathy to seek a truer understand how others are feeling. This requires excellent discrimination and close attention to the nuances of emotional signals. When we are being truly empathetic, we actually feel what they are feeling</a:t>
            </a:r>
            <a:endParaRPr/>
          </a:p>
          <a:p>
            <a:pPr indent="-228600" lvl="0" marL="228600" rtl="0" algn="l">
              <a:lnSpc>
                <a:spcPct val="90000"/>
              </a:lnSpc>
              <a:spcBef>
                <a:spcPts val="1000"/>
              </a:spcBef>
              <a:spcAft>
                <a:spcPts val="0"/>
              </a:spcAft>
              <a:buClr>
                <a:schemeClr val="dk1"/>
              </a:buClr>
              <a:buSzPts val="2800"/>
              <a:buChar char="•"/>
            </a:pPr>
            <a:r>
              <a:rPr lang="en-US"/>
              <a:t>4 -  Ignoring Listening -  Not listening at all, is pretty insulting to others and can lead to strained relations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Can you hear me ? Hear me out !!!</a:t>
            </a:r>
            <a:endParaRPr/>
          </a:p>
        </p:txBody>
      </p:sp>
      <p:sp>
        <p:nvSpPr>
          <p:cNvPr id="156" name="Google Shape;156;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Does that mean that you are a good listener? </a:t>
            </a:r>
            <a:endParaRPr/>
          </a:p>
          <a:p>
            <a:pPr indent="-228600" lvl="0" marL="228600" rtl="0" algn="l">
              <a:lnSpc>
                <a:spcPct val="90000"/>
              </a:lnSpc>
              <a:spcBef>
                <a:spcPts val="1000"/>
              </a:spcBef>
              <a:spcAft>
                <a:spcPts val="0"/>
              </a:spcAft>
              <a:buClr>
                <a:schemeClr val="dk1"/>
              </a:buClr>
              <a:buSzPts val="2800"/>
              <a:buChar char="•"/>
            </a:pPr>
            <a:r>
              <a:rPr lang="en-US"/>
              <a:t> A person with normal hearing is not necessarily a good listener. </a:t>
            </a:r>
            <a:endParaRPr/>
          </a:p>
          <a:p>
            <a:pPr indent="-228600" lvl="0" marL="228600" rtl="0" algn="l">
              <a:lnSpc>
                <a:spcPct val="90000"/>
              </a:lnSpc>
              <a:spcBef>
                <a:spcPts val="1000"/>
              </a:spcBef>
              <a:spcAft>
                <a:spcPts val="0"/>
              </a:spcAft>
              <a:buClr>
                <a:schemeClr val="dk1"/>
              </a:buClr>
              <a:buSzPts val="2800"/>
              <a:buChar char="•"/>
            </a:pPr>
            <a:r>
              <a:rPr lang="en-US"/>
              <a:t> Many different things can prevent a speaker’s message from being received</a:t>
            </a:r>
            <a:endParaRPr/>
          </a:p>
          <a:p>
            <a:pPr indent="-228600" lvl="0" marL="228600" rtl="0" algn="l">
              <a:lnSpc>
                <a:spcPct val="90000"/>
              </a:lnSpc>
              <a:spcBef>
                <a:spcPts val="1000"/>
              </a:spcBef>
              <a:spcAft>
                <a:spcPts val="0"/>
              </a:spcAft>
              <a:buClr>
                <a:schemeClr val="dk1"/>
              </a:buClr>
              <a:buSzPts val="2800"/>
              <a:buChar char="•"/>
            </a:pPr>
            <a:r>
              <a:rPr lang="en-US"/>
              <a:t> These are called barriers to listening.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4"/>
          <p:cNvSpPr txBox="1"/>
          <p:nvPr>
            <p:ph type="title"/>
          </p:nvPr>
        </p:nvSpPr>
        <p:spPr>
          <a:xfrm>
            <a:off x="838200" y="365126"/>
            <a:ext cx="10515600" cy="80106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Barriers to listening </a:t>
            </a:r>
            <a:endParaRPr/>
          </a:p>
        </p:txBody>
      </p:sp>
      <p:sp>
        <p:nvSpPr>
          <p:cNvPr id="162" name="Google Shape;162;p14"/>
          <p:cNvSpPr txBox="1"/>
          <p:nvPr>
            <p:ph idx="1" type="body"/>
          </p:nvPr>
        </p:nvSpPr>
        <p:spPr>
          <a:xfrm>
            <a:off x="609601" y="1338470"/>
            <a:ext cx="11184834" cy="515440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Some common barriers in the process of listening are- </a:t>
            </a:r>
            <a:endParaRPr/>
          </a:p>
          <a:p>
            <a:pPr indent="-228600" lvl="0" marL="228600" rtl="0" algn="l">
              <a:lnSpc>
                <a:spcPct val="90000"/>
              </a:lnSpc>
              <a:spcBef>
                <a:spcPts val="1000"/>
              </a:spcBef>
              <a:spcAft>
                <a:spcPts val="0"/>
              </a:spcAft>
              <a:buClr>
                <a:schemeClr val="dk1"/>
              </a:buClr>
              <a:buSzPts val="2800"/>
              <a:buChar char="•"/>
            </a:pPr>
            <a:r>
              <a:rPr lang="en-US"/>
              <a:t> 1.Pre-judgments about the speaker . </a:t>
            </a:r>
            <a:endParaRPr/>
          </a:p>
          <a:p>
            <a:pPr indent="-228600" lvl="0" marL="228600" rtl="0" algn="l">
              <a:lnSpc>
                <a:spcPct val="90000"/>
              </a:lnSpc>
              <a:spcBef>
                <a:spcPts val="1000"/>
              </a:spcBef>
              <a:spcAft>
                <a:spcPts val="0"/>
              </a:spcAft>
              <a:buClr>
                <a:schemeClr val="dk1"/>
              </a:buClr>
              <a:buSzPts val="2800"/>
              <a:buChar char="•"/>
            </a:pPr>
            <a:r>
              <a:rPr lang="en-US"/>
              <a:t>2.Assuming that the speaker is going to give some unimportant information . </a:t>
            </a:r>
            <a:endParaRPr/>
          </a:p>
          <a:p>
            <a:pPr indent="-228600" lvl="0" marL="228600" rtl="0" algn="l">
              <a:lnSpc>
                <a:spcPct val="90000"/>
              </a:lnSpc>
              <a:spcBef>
                <a:spcPts val="1000"/>
              </a:spcBef>
              <a:spcAft>
                <a:spcPts val="0"/>
              </a:spcAft>
              <a:buClr>
                <a:schemeClr val="dk1"/>
              </a:buClr>
              <a:buSzPts val="2800"/>
              <a:buChar char="•"/>
            </a:pPr>
            <a:r>
              <a:rPr lang="en-US"/>
              <a:t>3.Arriving late for a speech, presentation or lecture .</a:t>
            </a:r>
            <a:endParaRPr/>
          </a:p>
          <a:p>
            <a:pPr indent="-228600" lvl="0" marL="228600" rtl="0" algn="l">
              <a:lnSpc>
                <a:spcPct val="90000"/>
              </a:lnSpc>
              <a:spcBef>
                <a:spcPts val="1000"/>
              </a:spcBef>
              <a:spcAft>
                <a:spcPts val="0"/>
              </a:spcAft>
              <a:buClr>
                <a:schemeClr val="dk1"/>
              </a:buClr>
              <a:buSzPts val="2800"/>
              <a:buChar char="•"/>
            </a:pPr>
            <a:r>
              <a:rPr lang="en-US"/>
              <a:t> 4.Judging the speaker by his/her mannerisms, voice, appearance, accent, etc.</a:t>
            </a:r>
            <a:endParaRPr/>
          </a:p>
          <a:p>
            <a:pPr indent="-228600" lvl="0" marL="228600" rtl="0" algn="l">
              <a:lnSpc>
                <a:spcPct val="90000"/>
              </a:lnSpc>
              <a:spcBef>
                <a:spcPts val="1000"/>
              </a:spcBef>
              <a:spcAft>
                <a:spcPts val="0"/>
              </a:spcAft>
              <a:buClr>
                <a:schemeClr val="dk1"/>
              </a:buClr>
              <a:buSzPts val="2800"/>
              <a:buChar char="•"/>
            </a:pPr>
            <a:r>
              <a:rPr lang="en-US"/>
              <a:t> 5.Lack of concentration/interest . </a:t>
            </a:r>
            <a:endParaRPr/>
          </a:p>
          <a:p>
            <a:pPr indent="-228600" lvl="0" marL="228600" rtl="0" algn="l">
              <a:lnSpc>
                <a:spcPct val="90000"/>
              </a:lnSpc>
              <a:spcBef>
                <a:spcPts val="1000"/>
              </a:spcBef>
              <a:spcAft>
                <a:spcPts val="0"/>
              </a:spcAft>
              <a:buClr>
                <a:schemeClr val="dk1"/>
              </a:buClr>
              <a:buSzPts val="2800"/>
              <a:buChar char="•"/>
            </a:pPr>
            <a:r>
              <a:rPr lang="en-US"/>
              <a:t>6.Avoiding listening to difficult, boring or complex information and selectively listening only to what is considered interesting. </a:t>
            </a:r>
            <a:endParaRPr/>
          </a:p>
          <a:p>
            <a:pPr indent="-228600" lvl="0" marL="228600" rtl="0" algn="l">
              <a:lnSpc>
                <a:spcPct val="90000"/>
              </a:lnSpc>
              <a:spcBef>
                <a:spcPts val="1000"/>
              </a:spcBef>
              <a:spcAft>
                <a:spcPts val="0"/>
              </a:spcAft>
              <a:buClr>
                <a:schemeClr val="dk1"/>
              </a:buClr>
              <a:buSzPts val="2800"/>
              <a:buChar char="•"/>
            </a:pPr>
            <a:r>
              <a:rPr lang="en-US"/>
              <a:t>7.Speaker or listener being distracted by disturbances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Benefits of good listening </a:t>
            </a:r>
            <a:endParaRPr/>
          </a:p>
        </p:txBody>
      </p:sp>
      <p:sp>
        <p:nvSpPr>
          <p:cNvPr id="168" name="Google Shape;16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A2A2A"/>
              </a:buClr>
              <a:buSzPts val="2800"/>
              <a:buChar char="•"/>
            </a:pPr>
            <a:r>
              <a:rPr b="1" i="0" lang="en-US">
                <a:solidFill>
                  <a:srgbClr val="2A2A2A"/>
                </a:solidFill>
                <a:latin typeface="Open Sans"/>
                <a:ea typeface="Open Sans"/>
                <a:cs typeface="Open Sans"/>
                <a:sym typeface="Open Sans"/>
              </a:rPr>
              <a:t>Good listening skills </a:t>
            </a:r>
            <a:r>
              <a:rPr b="1" lang="en-US">
                <a:solidFill>
                  <a:srgbClr val="2A2A2A"/>
                </a:solidFill>
                <a:latin typeface="Open Sans"/>
                <a:ea typeface="Open Sans"/>
                <a:cs typeface="Open Sans"/>
                <a:sym typeface="Open Sans"/>
              </a:rPr>
              <a:t>has</a:t>
            </a:r>
            <a:r>
              <a:rPr b="1" i="0" lang="en-US">
                <a:solidFill>
                  <a:srgbClr val="2A2A2A"/>
                </a:solidFill>
                <a:latin typeface="Open Sans"/>
                <a:ea typeface="Open Sans"/>
                <a:cs typeface="Open Sans"/>
                <a:sym typeface="Open Sans"/>
              </a:rPr>
              <a:t> benefits in our personal lives, including</a:t>
            </a:r>
            <a:endParaRPr/>
          </a:p>
          <a:p>
            <a:pPr indent="-228600" lvl="0" marL="228600" rtl="0" algn="l">
              <a:lnSpc>
                <a:spcPct val="90000"/>
              </a:lnSpc>
              <a:spcBef>
                <a:spcPts val="1000"/>
              </a:spcBef>
              <a:spcAft>
                <a:spcPts val="0"/>
              </a:spcAft>
              <a:buClr>
                <a:srgbClr val="2A2A2A"/>
              </a:buClr>
              <a:buSzPts val="2800"/>
              <a:buChar char="•"/>
            </a:pPr>
            <a:r>
              <a:rPr b="0" i="0" lang="en-US">
                <a:solidFill>
                  <a:srgbClr val="2A2A2A"/>
                </a:solidFill>
                <a:latin typeface="Open Sans"/>
                <a:ea typeface="Open Sans"/>
                <a:cs typeface="Open Sans"/>
                <a:sym typeface="Open Sans"/>
              </a:rPr>
              <a:t>A greater number of friends and social networks</a:t>
            </a:r>
            <a:endParaRPr/>
          </a:p>
          <a:p>
            <a:pPr indent="-228600" lvl="0" marL="228600" rtl="0" algn="l">
              <a:lnSpc>
                <a:spcPct val="90000"/>
              </a:lnSpc>
              <a:spcBef>
                <a:spcPts val="1000"/>
              </a:spcBef>
              <a:spcAft>
                <a:spcPts val="0"/>
              </a:spcAft>
              <a:buClr>
                <a:srgbClr val="2A2A2A"/>
              </a:buClr>
              <a:buSzPts val="2800"/>
              <a:buChar char="•"/>
            </a:pPr>
            <a:r>
              <a:rPr b="0" i="0" lang="en-US">
                <a:solidFill>
                  <a:srgbClr val="2A2A2A"/>
                </a:solidFill>
                <a:latin typeface="Open Sans"/>
                <a:ea typeface="Open Sans"/>
                <a:cs typeface="Open Sans"/>
                <a:sym typeface="Open Sans"/>
              </a:rPr>
              <a:t>improved self-esteem and confidence</a:t>
            </a:r>
            <a:endParaRPr/>
          </a:p>
          <a:p>
            <a:pPr indent="-228600" lvl="0" marL="228600" rtl="0" algn="l">
              <a:lnSpc>
                <a:spcPct val="90000"/>
              </a:lnSpc>
              <a:spcBef>
                <a:spcPts val="1000"/>
              </a:spcBef>
              <a:spcAft>
                <a:spcPts val="0"/>
              </a:spcAft>
              <a:buClr>
                <a:srgbClr val="2A2A2A"/>
              </a:buClr>
              <a:buSzPts val="2800"/>
              <a:buChar char="•"/>
            </a:pPr>
            <a:r>
              <a:rPr b="0" i="0" lang="en-US">
                <a:solidFill>
                  <a:srgbClr val="2A2A2A"/>
                </a:solidFill>
                <a:latin typeface="Open Sans"/>
                <a:ea typeface="Open Sans"/>
                <a:cs typeface="Open Sans"/>
                <a:sym typeface="Open Sans"/>
              </a:rPr>
              <a:t>higher grades at school and in academic work, and even better health and general well-being.</a:t>
            </a:r>
            <a:endParaRPr/>
          </a:p>
          <a:p>
            <a:pPr indent="-228600" lvl="0" marL="228600" rtl="0" algn="l">
              <a:lnSpc>
                <a:spcPct val="90000"/>
              </a:lnSpc>
              <a:spcBef>
                <a:spcPts val="1000"/>
              </a:spcBef>
              <a:spcAft>
                <a:spcPts val="0"/>
              </a:spcAft>
              <a:buClr>
                <a:srgbClr val="FF0000"/>
              </a:buClr>
              <a:buSzPts val="2800"/>
              <a:buChar char="•"/>
            </a:pPr>
            <a:r>
              <a:rPr b="0" i="1" lang="en-US">
                <a:solidFill>
                  <a:srgbClr val="FF0000"/>
                </a:solidFill>
                <a:latin typeface="Open Sans"/>
                <a:ea typeface="Open Sans"/>
                <a:cs typeface="Open Sans"/>
                <a:sym typeface="Open Sans"/>
              </a:rPr>
              <a:t>Studies have shown that, speaking raises blood pressure, attentive listening can bring it down especially in heated situations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Listening vs hearing </a:t>
            </a:r>
            <a:endParaRPr/>
          </a:p>
        </p:txBody>
      </p:sp>
      <p:sp>
        <p:nvSpPr>
          <p:cNvPr id="174" name="Google Shape;174;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A2A2A"/>
              </a:buClr>
              <a:buSzPts val="2800"/>
              <a:buChar char="•"/>
            </a:pPr>
            <a:r>
              <a:rPr b="0" i="0" lang="en-US">
                <a:solidFill>
                  <a:srgbClr val="2A2A2A"/>
                </a:solidFill>
                <a:latin typeface="Arial"/>
                <a:ea typeface="Arial"/>
                <a:cs typeface="Arial"/>
                <a:sym typeface="Arial"/>
              </a:rPr>
              <a:t>Listening is Not the Same as Hearing</a:t>
            </a:r>
            <a:endParaRPr/>
          </a:p>
          <a:p>
            <a:pPr indent="-228600" lvl="0" marL="228600" rtl="0" algn="l">
              <a:lnSpc>
                <a:spcPct val="90000"/>
              </a:lnSpc>
              <a:spcBef>
                <a:spcPts val="1000"/>
              </a:spcBef>
              <a:spcAft>
                <a:spcPts val="0"/>
              </a:spcAft>
              <a:buClr>
                <a:srgbClr val="2A2A2A"/>
              </a:buClr>
              <a:buSzPts val="2800"/>
              <a:buChar char="•"/>
            </a:pPr>
            <a:r>
              <a:rPr b="0" i="0" lang="en-US">
                <a:solidFill>
                  <a:srgbClr val="2A2A2A"/>
                </a:solidFill>
                <a:latin typeface="Open Sans"/>
                <a:ea typeface="Open Sans"/>
                <a:cs typeface="Open Sans"/>
                <a:sym typeface="Open Sans"/>
              </a:rPr>
              <a:t>Hearing refers to the sounds that enter your ears. It is a physical process that, provided you do not have any hearing problems, happens automatically.</a:t>
            </a:r>
            <a:endParaRPr/>
          </a:p>
          <a:p>
            <a:pPr indent="-228600" lvl="0" marL="228600" rtl="0" algn="l">
              <a:lnSpc>
                <a:spcPct val="90000"/>
              </a:lnSpc>
              <a:spcBef>
                <a:spcPts val="1000"/>
              </a:spcBef>
              <a:spcAft>
                <a:spcPts val="0"/>
              </a:spcAft>
              <a:buClr>
                <a:srgbClr val="2A2A2A"/>
              </a:buClr>
              <a:buSzPts val="2800"/>
              <a:buChar char="•"/>
            </a:pPr>
            <a:r>
              <a:rPr b="1" i="0" lang="en-US">
                <a:solidFill>
                  <a:srgbClr val="2A2A2A"/>
                </a:solidFill>
                <a:latin typeface="Open Sans"/>
                <a:ea typeface="Open Sans"/>
                <a:cs typeface="Open Sans"/>
                <a:sym typeface="Open Sans"/>
              </a:rPr>
              <a:t>Listening, however, requires more than that: it requires focus and concentrated effort, both mental and sometimes physical as well.</a:t>
            </a:r>
            <a:endParaRPr b="0" i="0">
              <a:solidFill>
                <a:srgbClr val="2A2A2A"/>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7"/>
          <p:cNvSpPr txBox="1"/>
          <p:nvPr>
            <p:ph idx="1" type="body"/>
          </p:nvPr>
        </p:nvSpPr>
        <p:spPr>
          <a:xfrm>
            <a:off x="838200" y="844062"/>
            <a:ext cx="10515600" cy="5332901"/>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rgbClr val="2A2A2A"/>
              </a:buClr>
              <a:buSzPts val="2800"/>
              <a:buChar char="•"/>
            </a:pPr>
            <a:r>
              <a:rPr b="0" i="0" lang="en-US">
                <a:solidFill>
                  <a:srgbClr val="2A2A2A"/>
                </a:solidFill>
                <a:latin typeface="Open Sans"/>
                <a:ea typeface="Open Sans"/>
                <a:cs typeface="Open Sans"/>
                <a:sym typeface="Open Sans"/>
              </a:rPr>
              <a:t>Listening means paying attention not only to the story, but how it is told, the use of language and voice, and how the other person uses his or her body. </a:t>
            </a:r>
            <a:endParaRPr/>
          </a:p>
          <a:p>
            <a:pPr indent="-228600" lvl="0" marL="228600" rtl="0" algn="l">
              <a:lnSpc>
                <a:spcPct val="90000"/>
              </a:lnSpc>
              <a:spcBef>
                <a:spcPts val="1000"/>
              </a:spcBef>
              <a:spcAft>
                <a:spcPts val="0"/>
              </a:spcAft>
              <a:buClr>
                <a:srgbClr val="2A2A2A"/>
              </a:buClr>
              <a:buSzPts val="2800"/>
              <a:buChar char="•"/>
            </a:pPr>
            <a:r>
              <a:rPr b="0" i="0" lang="en-US">
                <a:solidFill>
                  <a:srgbClr val="2A2A2A"/>
                </a:solidFill>
                <a:latin typeface="Open Sans"/>
                <a:ea typeface="Open Sans"/>
                <a:cs typeface="Open Sans"/>
                <a:sym typeface="Open Sans"/>
              </a:rPr>
              <a:t>In other words, it means being aware of both verbal and non-verbal messages. </a:t>
            </a:r>
            <a:endParaRPr/>
          </a:p>
          <a:p>
            <a:pPr indent="-228600" lvl="0" marL="228600" rtl="0" algn="l">
              <a:lnSpc>
                <a:spcPct val="90000"/>
              </a:lnSpc>
              <a:spcBef>
                <a:spcPts val="1000"/>
              </a:spcBef>
              <a:spcAft>
                <a:spcPts val="0"/>
              </a:spcAft>
              <a:buClr>
                <a:srgbClr val="2A2A2A"/>
              </a:buClr>
              <a:buSzPts val="2800"/>
              <a:buChar char="•"/>
            </a:pPr>
            <a:r>
              <a:rPr b="0" i="0" lang="en-US">
                <a:solidFill>
                  <a:srgbClr val="2A2A2A"/>
                </a:solidFill>
                <a:latin typeface="Open Sans"/>
                <a:ea typeface="Open Sans"/>
                <a:cs typeface="Open Sans"/>
                <a:sym typeface="Open Sans"/>
              </a:rPr>
              <a:t>Your ability to listen effectively depends on the degree to which you perceive and understand these messages.</a:t>
            </a:r>
            <a:endParaRPr/>
          </a:p>
          <a:p>
            <a:pPr indent="-228600" lvl="0" marL="228600" rtl="0" algn="l">
              <a:lnSpc>
                <a:spcPct val="90000"/>
              </a:lnSpc>
              <a:spcBef>
                <a:spcPts val="1000"/>
              </a:spcBef>
              <a:spcAft>
                <a:spcPts val="0"/>
              </a:spcAft>
              <a:buClr>
                <a:srgbClr val="2A2A2A"/>
              </a:buClr>
              <a:buSzPts val="2800"/>
              <a:buChar char="•"/>
            </a:pPr>
            <a:r>
              <a:rPr b="0" i="0" lang="en-US">
                <a:solidFill>
                  <a:srgbClr val="2A2A2A"/>
                </a:solidFill>
                <a:latin typeface="Open Sans"/>
                <a:ea typeface="Open Sans"/>
                <a:cs typeface="Open Sans"/>
                <a:sym typeface="Open Sans"/>
              </a:rPr>
              <a:t>Listening is not a passive process. In fact, the listener can, and should, be at least as engaged in the process as the speaker. </a:t>
            </a:r>
            <a:endParaRPr/>
          </a:p>
          <a:p>
            <a:pPr indent="-228600" lvl="0" marL="228600" rtl="0" algn="l">
              <a:lnSpc>
                <a:spcPct val="90000"/>
              </a:lnSpc>
              <a:spcBef>
                <a:spcPts val="1000"/>
              </a:spcBef>
              <a:spcAft>
                <a:spcPts val="0"/>
              </a:spcAft>
              <a:buClr>
                <a:srgbClr val="2A2A2A"/>
              </a:buClr>
              <a:buSzPts val="2800"/>
              <a:buChar char="•"/>
            </a:pPr>
            <a:r>
              <a:rPr b="0" i="0" lang="en-US">
                <a:solidFill>
                  <a:srgbClr val="2A2A2A"/>
                </a:solidFill>
                <a:latin typeface="Open Sans"/>
                <a:ea typeface="Open Sans"/>
                <a:cs typeface="Open Sans"/>
                <a:sym typeface="Open Sans"/>
              </a:rPr>
              <a:t>The </a:t>
            </a:r>
            <a:r>
              <a:rPr lang="en-US">
                <a:solidFill>
                  <a:srgbClr val="2A2A2A"/>
                </a:solidFill>
                <a:latin typeface="Open Sans"/>
                <a:ea typeface="Open Sans"/>
                <a:cs typeface="Open Sans"/>
                <a:sym typeface="Open Sans"/>
              </a:rPr>
              <a:t>.</a:t>
            </a:r>
            <a:r>
              <a:rPr b="0" i="0" lang="en-US">
                <a:solidFill>
                  <a:srgbClr val="2A2A2A"/>
                </a:solidFill>
                <a:latin typeface="Open Sans"/>
                <a:ea typeface="Open Sans"/>
                <a:cs typeface="Open Sans"/>
                <a:sym typeface="Open Sans"/>
              </a:rPr>
              <a:t>phrase ‘</a:t>
            </a:r>
            <a:r>
              <a:rPr b="1" i="1" lang="en-US">
                <a:solidFill>
                  <a:srgbClr val="2A2A2A"/>
                </a:solidFill>
                <a:latin typeface="Open Sans"/>
                <a:ea typeface="Open Sans"/>
                <a:cs typeface="Open Sans"/>
                <a:sym typeface="Open Sans"/>
              </a:rPr>
              <a:t>active listening</a:t>
            </a:r>
            <a:r>
              <a:rPr b="0" i="0" lang="en-US">
                <a:solidFill>
                  <a:srgbClr val="2A2A2A"/>
                </a:solidFill>
                <a:latin typeface="Open Sans"/>
                <a:ea typeface="Open Sans"/>
                <a:cs typeface="Open Sans"/>
                <a:sym typeface="Open Sans"/>
              </a:rPr>
              <a:t>’ is used to describe this process of being fully involved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8"/>
          <p:cNvSpPr txBox="1"/>
          <p:nvPr>
            <p:ph type="title"/>
          </p:nvPr>
        </p:nvSpPr>
        <p:spPr>
          <a:xfrm>
            <a:off x="838200" y="365125"/>
            <a:ext cx="10515600" cy="89217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A2A2A"/>
              </a:buClr>
              <a:buSzPct val="100000"/>
              <a:buFont typeface="Open Sans"/>
              <a:buNone/>
            </a:pPr>
            <a:br>
              <a:rPr b="0" i="0" lang="en-US">
                <a:solidFill>
                  <a:srgbClr val="2A2A2A"/>
                </a:solidFill>
                <a:latin typeface="Open Sans"/>
                <a:ea typeface="Open Sans"/>
                <a:cs typeface="Open Sans"/>
                <a:sym typeface="Open Sans"/>
              </a:rPr>
            </a:br>
            <a:r>
              <a:rPr b="0" i="0" lang="en-US">
                <a:solidFill>
                  <a:srgbClr val="2A2A2A"/>
                </a:solidFill>
                <a:latin typeface="Open Sans"/>
                <a:ea typeface="Open Sans"/>
                <a:cs typeface="Open Sans"/>
                <a:sym typeface="Open Sans"/>
              </a:rPr>
              <a:t>The Purpose of Listening</a:t>
            </a:r>
            <a:br>
              <a:rPr lang="en-US"/>
            </a:br>
            <a:endParaRPr/>
          </a:p>
        </p:txBody>
      </p:sp>
      <p:sp>
        <p:nvSpPr>
          <p:cNvPr id="185" name="Google Shape;185;p18"/>
          <p:cNvSpPr txBox="1"/>
          <p:nvPr>
            <p:ph idx="1" type="body"/>
          </p:nvPr>
        </p:nvSpPr>
        <p:spPr>
          <a:xfrm>
            <a:off x="838200" y="1257300"/>
            <a:ext cx="10515600" cy="4919663"/>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2A2A2A"/>
              </a:buClr>
              <a:buSzPct val="100000"/>
              <a:buChar char="•"/>
            </a:pPr>
            <a:r>
              <a:rPr i="0" lang="en-US">
                <a:solidFill>
                  <a:srgbClr val="2A2A2A"/>
                </a:solidFill>
                <a:latin typeface="Open Sans"/>
                <a:ea typeface="Open Sans"/>
                <a:cs typeface="Open Sans"/>
                <a:sym typeface="Open Sans"/>
              </a:rPr>
              <a:t>There is no doubt that effective listening is an extremely important life skill. </a:t>
            </a:r>
            <a:endParaRPr/>
          </a:p>
          <a:p>
            <a:pPr indent="-228600" lvl="0" marL="228600" rtl="0" algn="l">
              <a:lnSpc>
                <a:spcPct val="90000"/>
              </a:lnSpc>
              <a:spcBef>
                <a:spcPts val="1000"/>
              </a:spcBef>
              <a:spcAft>
                <a:spcPts val="0"/>
              </a:spcAft>
              <a:buClr>
                <a:srgbClr val="2A2A2A"/>
              </a:buClr>
              <a:buSzPct val="100000"/>
              <a:buChar char="•"/>
            </a:pPr>
            <a:r>
              <a:rPr i="0" lang="en-US">
                <a:solidFill>
                  <a:srgbClr val="2A2A2A"/>
                </a:solidFill>
                <a:latin typeface="Open Sans"/>
                <a:ea typeface="Open Sans"/>
                <a:cs typeface="Open Sans"/>
                <a:sym typeface="Open Sans"/>
              </a:rPr>
              <a:t>Listening serves a number of possible purposes, and the purpose of listening will depend on the situation and the nature of the communication</a:t>
            </a:r>
            <a:endParaRPr/>
          </a:p>
          <a:p>
            <a:pPr indent="-228600" lvl="0" marL="228600" rtl="0" algn="l">
              <a:lnSpc>
                <a:spcPct val="90000"/>
              </a:lnSpc>
              <a:spcBef>
                <a:spcPts val="1000"/>
              </a:spcBef>
              <a:spcAft>
                <a:spcPts val="0"/>
              </a:spcAft>
              <a:buClr>
                <a:srgbClr val="2A2A2A"/>
              </a:buClr>
              <a:buSzPct val="100000"/>
              <a:buFont typeface="Calibri"/>
              <a:buAutoNum type="arabicPeriod"/>
            </a:pPr>
            <a:r>
              <a:rPr b="0" i="0" lang="en-US">
                <a:solidFill>
                  <a:srgbClr val="2A2A2A"/>
                </a:solidFill>
                <a:latin typeface="Open Sans"/>
                <a:ea typeface="Open Sans"/>
                <a:cs typeface="Open Sans"/>
                <a:sym typeface="Open Sans"/>
              </a:rPr>
              <a:t>To specifically focus on the messages being communicated, avoiding distractions and preconceptions.</a:t>
            </a:r>
            <a:endParaRPr/>
          </a:p>
          <a:p>
            <a:pPr indent="-228600" lvl="0" marL="228600" rtl="0" algn="l">
              <a:lnSpc>
                <a:spcPct val="90000"/>
              </a:lnSpc>
              <a:spcBef>
                <a:spcPts val="1000"/>
              </a:spcBef>
              <a:spcAft>
                <a:spcPts val="0"/>
              </a:spcAft>
              <a:buClr>
                <a:srgbClr val="2A2A2A"/>
              </a:buClr>
              <a:buSzPct val="100000"/>
              <a:buFont typeface="Calibri"/>
              <a:buAutoNum type="arabicPeriod"/>
            </a:pPr>
            <a:r>
              <a:rPr b="0" i="0" lang="en-US">
                <a:solidFill>
                  <a:srgbClr val="2A2A2A"/>
                </a:solidFill>
                <a:latin typeface="Open Sans"/>
                <a:ea typeface="Open Sans"/>
                <a:cs typeface="Open Sans"/>
                <a:sym typeface="Open Sans"/>
              </a:rPr>
              <a:t>To gain a full and accurate understanding into the speakers point of view and ideas.</a:t>
            </a:r>
            <a:endParaRPr/>
          </a:p>
          <a:p>
            <a:pPr indent="-228600" lvl="0" marL="228600" rtl="0" algn="l">
              <a:lnSpc>
                <a:spcPct val="90000"/>
              </a:lnSpc>
              <a:spcBef>
                <a:spcPts val="1000"/>
              </a:spcBef>
              <a:spcAft>
                <a:spcPts val="0"/>
              </a:spcAft>
              <a:buClr>
                <a:srgbClr val="2A2A2A"/>
              </a:buClr>
              <a:buSzPct val="100000"/>
              <a:buFont typeface="Calibri"/>
              <a:buAutoNum type="arabicPeriod"/>
            </a:pPr>
            <a:r>
              <a:rPr b="0" i="0" lang="en-US">
                <a:solidFill>
                  <a:srgbClr val="2A2A2A"/>
                </a:solidFill>
                <a:latin typeface="Open Sans"/>
                <a:ea typeface="Open Sans"/>
                <a:cs typeface="Open Sans"/>
                <a:sym typeface="Open Sans"/>
              </a:rPr>
              <a:t>To critically assess what is being said. </a:t>
            </a:r>
            <a:endParaRPr/>
          </a:p>
          <a:p>
            <a:pPr indent="-228600" lvl="0" marL="228600" rtl="0" algn="l">
              <a:lnSpc>
                <a:spcPct val="90000"/>
              </a:lnSpc>
              <a:spcBef>
                <a:spcPts val="1000"/>
              </a:spcBef>
              <a:spcAft>
                <a:spcPts val="0"/>
              </a:spcAft>
              <a:buClr>
                <a:srgbClr val="2A2A2A"/>
              </a:buClr>
              <a:buSzPct val="100000"/>
              <a:buFont typeface="Calibri"/>
              <a:buAutoNum type="arabicPeriod"/>
            </a:pPr>
            <a:r>
              <a:rPr b="0" i="0" lang="en-US">
                <a:solidFill>
                  <a:srgbClr val="2A2A2A"/>
                </a:solidFill>
                <a:latin typeface="Open Sans"/>
                <a:ea typeface="Open Sans"/>
                <a:cs typeface="Open Sans"/>
                <a:sym typeface="Open Sans"/>
              </a:rPr>
              <a:t>To observe the </a:t>
            </a:r>
            <a:r>
              <a:rPr b="1" lang="en-US">
                <a:solidFill>
                  <a:srgbClr val="FF0000"/>
                </a:solidFill>
                <a:latin typeface="Open Sans"/>
                <a:ea typeface="Open Sans"/>
                <a:cs typeface="Open Sans"/>
                <a:sym typeface="Open Sans"/>
              </a:rPr>
              <a:t>non-verbal signals</a:t>
            </a:r>
            <a:r>
              <a:rPr b="0" i="0" lang="en-US">
                <a:solidFill>
                  <a:srgbClr val="FF0000"/>
                </a:solidFill>
                <a:latin typeface="Open Sans"/>
                <a:ea typeface="Open Sans"/>
                <a:cs typeface="Open Sans"/>
                <a:sym typeface="Open Sans"/>
              </a:rPr>
              <a:t> </a:t>
            </a:r>
            <a:r>
              <a:rPr b="0" i="0" lang="en-US">
                <a:solidFill>
                  <a:srgbClr val="2A2A2A"/>
                </a:solidFill>
                <a:latin typeface="Open Sans"/>
                <a:ea typeface="Open Sans"/>
                <a:cs typeface="Open Sans"/>
                <a:sym typeface="Open Sans"/>
              </a:rPr>
              <a:t>accompanying what is being said to enhance understanding.</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Purpose of listening – contd…</a:t>
            </a:r>
            <a:endParaRPr/>
          </a:p>
        </p:txBody>
      </p:sp>
      <p:sp>
        <p:nvSpPr>
          <p:cNvPr id="191" name="Google Shape;19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rgbClr val="2A2A2A"/>
              </a:buClr>
              <a:buSzPct val="100000"/>
              <a:buNone/>
            </a:pPr>
            <a:r>
              <a:rPr b="0" i="0" lang="en-US">
                <a:solidFill>
                  <a:srgbClr val="2A2A2A"/>
                </a:solidFill>
                <a:latin typeface="Open Sans"/>
                <a:ea typeface="Open Sans"/>
                <a:cs typeface="Open Sans"/>
                <a:sym typeface="Open Sans"/>
              </a:rPr>
              <a:t>5. To show interest, concern and concentration.</a:t>
            </a:r>
            <a:endParaRPr/>
          </a:p>
          <a:p>
            <a:pPr indent="0" lvl="0" marL="0" rtl="0" algn="l">
              <a:lnSpc>
                <a:spcPct val="90000"/>
              </a:lnSpc>
              <a:spcBef>
                <a:spcPts val="1000"/>
              </a:spcBef>
              <a:spcAft>
                <a:spcPts val="0"/>
              </a:spcAft>
              <a:buClr>
                <a:srgbClr val="2A2A2A"/>
              </a:buClr>
              <a:buSzPct val="100000"/>
              <a:buNone/>
            </a:pPr>
            <a:r>
              <a:rPr b="0" i="0" lang="en-US">
                <a:solidFill>
                  <a:srgbClr val="2A2A2A"/>
                </a:solidFill>
                <a:latin typeface="Open Sans"/>
                <a:ea typeface="Open Sans"/>
                <a:cs typeface="Open Sans"/>
                <a:sym typeface="Open Sans"/>
              </a:rPr>
              <a:t>6. To encourage the speaker to communicate fully, openly and honestly.</a:t>
            </a:r>
            <a:endParaRPr/>
          </a:p>
          <a:p>
            <a:pPr indent="0" lvl="0" marL="0" rtl="0" algn="l">
              <a:lnSpc>
                <a:spcPct val="90000"/>
              </a:lnSpc>
              <a:spcBef>
                <a:spcPts val="1000"/>
              </a:spcBef>
              <a:spcAft>
                <a:spcPts val="0"/>
              </a:spcAft>
              <a:buClr>
                <a:srgbClr val="2A2A2A"/>
              </a:buClr>
              <a:buSzPct val="100000"/>
              <a:buNone/>
            </a:pPr>
            <a:r>
              <a:rPr b="0" i="0" lang="en-US">
                <a:solidFill>
                  <a:srgbClr val="2A2A2A"/>
                </a:solidFill>
                <a:latin typeface="Open Sans"/>
                <a:ea typeface="Open Sans"/>
                <a:cs typeface="Open Sans"/>
                <a:sym typeface="Open Sans"/>
              </a:rPr>
              <a:t>7. To develop an selflessness approach, putting the speaker first.</a:t>
            </a:r>
            <a:endParaRPr/>
          </a:p>
          <a:p>
            <a:pPr indent="0" lvl="0" marL="0" rtl="0" algn="l">
              <a:lnSpc>
                <a:spcPct val="90000"/>
              </a:lnSpc>
              <a:spcBef>
                <a:spcPts val="1000"/>
              </a:spcBef>
              <a:spcAft>
                <a:spcPts val="0"/>
              </a:spcAft>
              <a:buClr>
                <a:srgbClr val="2A2A2A"/>
              </a:buClr>
              <a:buSzPct val="100000"/>
              <a:buNone/>
            </a:pPr>
            <a:r>
              <a:rPr b="0" i="0" lang="en-US">
                <a:solidFill>
                  <a:srgbClr val="2A2A2A"/>
                </a:solidFill>
                <a:latin typeface="Open Sans"/>
                <a:ea typeface="Open Sans"/>
                <a:cs typeface="Open Sans"/>
                <a:sym typeface="Open Sans"/>
              </a:rPr>
              <a:t>8. To arrive at a shared and agreed understanding and acceptance of both sides views.</a:t>
            </a:r>
            <a:endParaRPr/>
          </a:p>
          <a:p>
            <a:pPr indent="0" lvl="0" marL="0" rtl="0" algn="l">
              <a:lnSpc>
                <a:spcPct val="90000"/>
              </a:lnSpc>
              <a:spcBef>
                <a:spcPts val="1000"/>
              </a:spcBef>
              <a:spcAft>
                <a:spcPts val="0"/>
              </a:spcAft>
              <a:buClr>
                <a:schemeClr val="dk1"/>
              </a:buClr>
              <a:buSzPct val="100000"/>
              <a:buNone/>
            </a:pPr>
            <a:r>
              <a:t/>
            </a:r>
            <a:endParaRPr b="0" i="0">
              <a:solidFill>
                <a:srgbClr val="2A2A2A"/>
              </a:solidFill>
              <a:latin typeface="Open Sans"/>
              <a:ea typeface="Open Sans"/>
              <a:cs typeface="Open Sans"/>
              <a:sym typeface="Open Sans"/>
            </a:endParaRPr>
          </a:p>
          <a:p>
            <a:pPr indent="0" lvl="0" marL="0" rtl="0" algn="l">
              <a:lnSpc>
                <a:spcPct val="90000"/>
              </a:lnSpc>
              <a:spcBef>
                <a:spcPts val="1000"/>
              </a:spcBef>
              <a:spcAft>
                <a:spcPts val="0"/>
              </a:spcAft>
              <a:buClr>
                <a:srgbClr val="FF0000"/>
              </a:buClr>
              <a:buSzPct val="100000"/>
              <a:buNone/>
            </a:pPr>
            <a:r>
              <a:rPr b="1" i="1" lang="en-US">
                <a:solidFill>
                  <a:srgbClr val="FF0000"/>
                </a:solidFill>
                <a:latin typeface="Open Sans"/>
                <a:ea typeface="Open Sans"/>
                <a:cs typeface="Open Sans"/>
                <a:sym typeface="Open Sans"/>
              </a:rPr>
              <a:t>Often our main concern while listening is to formulate ways to respond. This is not a function of listening. We should try to focus fully on what is being said and how it's being said in order to more fully understand the speaker.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type="title"/>
          </p:nvPr>
        </p:nvSpPr>
        <p:spPr>
          <a:xfrm>
            <a:off x="838200" y="365125"/>
            <a:ext cx="10515600" cy="86732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To Listen Effectively?</a:t>
            </a:r>
            <a:endParaRPr/>
          </a:p>
        </p:txBody>
      </p:sp>
      <p:sp>
        <p:nvSpPr>
          <p:cNvPr id="197" name="Google Shape;197;p20"/>
          <p:cNvSpPr txBox="1"/>
          <p:nvPr>
            <p:ph idx="1" type="body"/>
          </p:nvPr>
        </p:nvSpPr>
        <p:spPr>
          <a:xfrm>
            <a:off x="838200" y="1378226"/>
            <a:ext cx="10515600" cy="5114649"/>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AutoNum type="arabicPeriod"/>
            </a:pPr>
            <a:r>
              <a:rPr lang="en-US"/>
              <a:t>Stop Talking - Be Silent  and show Interest </a:t>
            </a:r>
            <a:endParaRPr/>
          </a:p>
          <a:p>
            <a:pPr indent="-514350" lvl="0" marL="514350" rtl="0" algn="l">
              <a:lnSpc>
                <a:spcPct val="90000"/>
              </a:lnSpc>
              <a:spcBef>
                <a:spcPts val="1000"/>
              </a:spcBef>
              <a:spcAft>
                <a:spcPts val="0"/>
              </a:spcAft>
              <a:buClr>
                <a:schemeClr val="dk1"/>
              </a:buClr>
              <a:buSzPts val="2800"/>
              <a:buAutoNum type="arabicPeriod"/>
            </a:pPr>
            <a:r>
              <a:rPr lang="en-US"/>
              <a:t> Empathize</a:t>
            </a:r>
            <a:endParaRPr/>
          </a:p>
          <a:p>
            <a:pPr indent="-514350" lvl="0" marL="514350" rtl="0" algn="l">
              <a:lnSpc>
                <a:spcPct val="90000"/>
              </a:lnSpc>
              <a:spcBef>
                <a:spcPts val="1000"/>
              </a:spcBef>
              <a:spcAft>
                <a:spcPts val="0"/>
              </a:spcAft>
              <a:buClr>
                <a:schemeClr val="dk1"/>
              </a:buClr>
              <a:buSzPts val="2800"/>
              <a:buAutoNum type="arabicPeriod"/>
            </a:pPr>
            <a:r>
              <a:rPr lang="en-US"/>
              <a:t> Ask Questions </a:t>
            </a:r>
            <a:endParaRPr/>
          </a:p>
          <a:p>
            <a:pPr indent="-514350" lvl="0" marL="514350" rtl="0" algn="l">
              <a:lnSpc>
                <a:spcPct val="90000"/>
              </a:lnSpc>
              <a:spcBef>
                <a:spcPts val="1000"/>
              </a:spcBef>
              <a:spcAft>
                <a:spcPts val="0"/>
              </a:spcAft>
              <a:buClr>
                <a:schemeClr val="dk1"/>
              </a:buClr>
              <a:buSzPts val="2800"/>
              <a:buAutoNum type="arabicPeriod"/>
            </a:pPr>
            <a:r>
              <a:rPr lang="en-US"/>
              <a:t> Maintain Eye Contact </a:t>
            </a:r>
            <a:endParaRPr/>
          </a:p>
          <a:p>
            <a:pPr indent="-514350" lvl="0" marL="514350" rtl="0" algn="l">
              <a:lnSpc>
                <a:spcPct val="90000"/>
              </a:lnSpc>
              <a:spcBef>
                <a:spcPts val="1000"/>
              </a:spcBef>
              <a:spcAft>
                <a:spcPts val="0"/>
              </a:spcAft>
              <a:buClr>
                <a:schemeClr val="dk1"/>
              </a:buClr>
              <a:buSzPts val="2800"/>
              <a:buAutoNum type="arabicPeriod"/>
            </a:pPr>
            <a:r>
              <a:rPr lang="en-US"/>
              <a:t>Take notes  </a:t>
            </a:r>
            <a:endParaRPr/>
          </a:p>
          <a:p>
            <a:pPr indent="-514350" lvl="0" marL="514350" rtl="0" algn="l">
              <a:lnSpc>
                <a:spcPct val="90000"/>
              </a:lnSpc>
              <a:spcBef>
                <a:spcPts val="1000"/>
              </a:spcBef>
              <a:spcAft>
                <a:spcPts val="0"/>
              </a:spcAft>
              <a:buClr>
                <a:schemeClr val="dk1"/>
              </a:buClr>
              <a:buSzPts val="2800"/>
              <a:buAutoNum type="arabicPeriod"/>
            </a:pPr>
            <a:r>
              <a:rPr lang="en-US"/>
              <a:t>Total involvement in the process </a:t>
            </a:r>
            <a:endParaRPr/>
          </a:p>
          <a:p>
            <a:pPr indent="-514350" lvl="0" marL="514350" rtl="0" algn="l">
              <a:lnSpc>
                <a:spcPct val="90000"/>
              </a:lnSpc>
              <a:spcBef>
                <a:spcPts val="1000"/>
              </a:spcBef>
              <a:spcAft>
                <a:spcPts val="0"/>
              </a:spcAft>
              <a:buClr>
                <a:schemeClr val="dk1"/>
              </a:buClr>
              <a:buSzPts val="2800"/>
              <a:buAutoNum type="arabicPeriod"/>
            </a:pPr>
            <a:r>
              <a:rPr lang="en-US"/>
              <a:t> Send feedback and respond</a:t>
            </a:r>
            <a:endParaRPr/>
          </a:p>
          <a:p>
            <a:pPr indent="-514350" lvl="0" marL="514350" rtl="0" algn="l">
              <a:lnSpc>
                <a:spcPct val="90000"/>
              </a:lnSpc>
              <a:spcBef>
                <a:spcPts val="1000"/>
              </a:spcBef>
              <a:spcAft>
                <a:spcPts val="0"/>
              </a:spcAft>
              <a:buClr>
                <a:schemeClr val="dk1"/>
              </a:buClr>
              <a:buSzPts val="2800"/>
              <a:buAutoNum type="arabicPeriod"/>
            </a:pPr>
            <a:r>
              <a:rPr lang="en-US"/>
              <a:t> Avoid or eliminate distraction </a:t>
            </a:r>
            <a:endParaRPr/>
          </a:p>
          <a:p>
            <a:pPr indent="-514350" lvl="0" marL="514350" rtl="0" algn="l">
              <a:lnSpc>
                <a:spcPct val="90000"/>
              </a:lnSpc>
              <a:spcBef>
                <a:spcPts val="1000"/>
              </a:spcBef>
              <a:spcAft>
                <a:spcPts val="0"/>
              </a:spcAft>
              <a:buClr>
                <a:schemeClr val="dk1"/>
              </a:buClr>
              <a:buSzPts val="2800"/>
              <a:buAutoNum type="arabicPeriod"/>
            </a:pPr>
            <a:r>
              <a:rPr lang="en-US"/>
              <a:t>Try to gather information about the topic to develop interest and familiarity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2020-12-08T07:18:04Z</dcterms:created>
  <dc:creator>Rishi Magavi</dc:creator>
</cp:coreProperties>
</file>