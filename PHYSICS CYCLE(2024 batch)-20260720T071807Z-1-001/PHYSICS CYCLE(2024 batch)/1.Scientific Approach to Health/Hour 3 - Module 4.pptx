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0"/>
  </p:notesMasterIdLst>
  <p:sldIdLst>
    <p:sldId id="256" r:id="rId2"/>
    <p:sldId id="257" r:id="rId3"/>
    <p:sldId id="535" r:id="rId4"/>
    <p:sldId id="536" r:id="rId5"/>
    <p:sldId id="537" r:id="rId6"/>
    <p:sldId id="538" r:id="rId7"/>
    <p:sldId id="539" r:id="rId8"/>
    <p:sldId id="540" r:id="rId9"/>
    <p:sldId id="541" r:id="rId10"/>
    <p:sldId id="542" r:id="rId11"/>
    <p:sldId id="543" r:id="rId12"/>
    <p:sldId id="544" r:id="rId13"/>
    <p:sldId id="545" r:id="rId14"/>
    <p:sldId id="546" r:id="rId15"/>
    <p:sldId id="547" r:id="rId16"/>
    <p:sldId id="548" r:id="rId17"/>
    <p:sldId id="549" r:id="rId18"/>
    <p:sldId id="406" r:id="rId19"/>
    <p:sldId id="409" r:id="rId20"/>
    <p:sldId id="408" r:id="rId21"/>
    <p:sldId id="414" r:id="rId22"/>
    <p:sldId id="279" r:id="rId23"/>
    <p:sldId id="415" r:id="rId24"/>
    <p:sldId id="531" r:id="rId25"/>
    <p:sldId id="532" r:id="rId26"/>
    <p:sldId id="533" r:id="rId27"/>
    <p:sldId id="534" r:id="rId28"/>
    <p:sldId id="416" r:id="rId29"/>
    <p:sldId id="550" r:id="rId30"/>
    <p:sldId id="551" r:id="rId31"/>
    <p:sldId id="552" r:id="rId32"/>
    <p:sldId id="553" r:id="rId33"/>
    <p:sldId id="554" r:id="rId34"/>
    <p:sldId id="555" r:id="rId35"/>
    <p:sldId id="556" r:id="rId36"/>
    <p:sldId id="557" r:id="rId37"/>
    <p:sldId id="558" r:id="rId38"/>
    <p:sldId id="559"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06"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0D13055-A1D5-414D-81BD-7B2576D47928}"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FBE27557-C35A-4DA2-8F42-376F1A287BA8}">
      <dgm:prSet phldrT="[Text]" custT="1"/>
      <dgm:spPr>
        <a:solidFill>
          <a:srgbClr val="336B90"/>
        </a:solidFill>
      </dgm:spPr>
      <dgm:t>
        <a:bodyPr/>
        <a:lstStyle/>
        <a:p>
          <a:r>
            <a:rPr lang="en-US" sz="2300" dirty="0"/>
            <a:t>Alcohol</a:t>
          </a:r>
        </a:p>
      </dgm:t>
    </dgm:pt>
    <dgm:pt modelId="{C241138F-2383-427B-8F53-FB599FA70533}" type="parTrans" cxnId="{D52A4E5B-6A1C-4C7F-9292-FDDF1809BFB0}">
      <dgm:prSet/>
      <dgm:spPr/>
      <dgm:t>
        <a:bodyPr/>
        <a:lstStyle/>
        <a:p>
          <a:endParaRPr lang="en-US"/>
        </a:p>
      </dgm:t>
    </dgm:pt>
    <dgm:pt modelId="{EFB141A4-C8B8-48D1-83C0-D3D599A3942D}" type="sibTrans" cxnId="{D52A4E5B-6A1C-4C7F-9292-FDDF1809BFB0}">
      <dgm:prSet/>
      <dgm:spPr/>
      <dgm:t>
        <a:bodyPr/>
        <a:lstStyle/>
        <a:p>
          <a:endParaRPr lang="en-US"/>
        </a:p>
      </dgm:t>
    </dgm:pt>
    <dgm:pt modelId="{2499ACF0-8185-4730-8302-2023DE3F8AD8}">
      <dgm:prSet phldrT="[Text]" custT="1"/>
      <dgm:spPr/>
      <dgm:t>
        <a:bodyPr/>
        <a:lstStyle/>
        <a:p>
          <a:pPr algn="l"/>
          <a:r>
            <a:rPr lang="en-US" sz="1200" dirty="0"/>
            <a:t>Lowers inhibitions, impairs judgment </a:t>
          </a:r>
          <a:br>
            <a:rPr lang="en-US" sz="1200" dirty="0"/>
          </a:br>
          <a:r>
            <a:rPr lang="en-US" sz="1200" dirty="0"/>
            <a:t>and motor skills</a:t>
          </a:r>
        </a:p>
        <a:p>
          <a:pPr algn="l"/>
          <a:endParaRPr lang="en-US" sz="1200" dirty="0"/>
        </a:p>
        <a:p>
          <a:pPr algn="l"/>
          <a:endParaRPr lang="en-US" sz="1200" dirty="0"/>
        </a:p>
      </dgm:t>
    </dgm:pt>
    <dgm:pt modelId="{F9C764D1-170B-49BC-A3BC-B43E4EB97332}" type="parTrans" cxnId="{55184D87-FC2B-4078-A72E-705566D6B025}">
      <dgm:prSet/>
      <dgm:spPr/>
      <dgm:t>
        <a:bodyPr/>
        <a:lstStyle/>
        <a:p>
          <a:endParaRPr lang="en-US"/>
        </a:p>
      </dgm:t>
    </dgm:pt>
    <dgm:pt modelId="{7A6EAAA0-8D06-4734-935B-00103835ED1E}" type="sibTrans" cxnId="{55184D87-FC2B-4078-A72E-705566D6B025}">
      <dgm:prSet/>
      <dgm:spPr/>
      <dgm:t>
        <a:bodyPr/>
        <a:lstStyle/>
        <a:p>
          <a:endParaRPr lang="en-US"/>
        </a:p>
      </dgm:t>
    </dgm:pt>
    <dgm:pt modelId="{E2BE0E1D-1F63-4A79-93DD-D512D83D0C9C}">
      <dgm:prSet phldrT="[Text]" custT="1"/>
      <dgm:spPr/>
      <dgm:t>
        <a:bodyPr/>
        <a:lstStyle/>
        <a:p>
          <a:pPr algn="l"/>
          <a:r>
            <a:rPr lang="en-US" sz="1200" dirty="0"/>
            <a:t>Parents may have rage or depressive episodes which compromise parenting abilities</a:t>
          </a:r>
        </a:p>
        <a:p>
          <a:pPr algn="l"/>
          <a:endParaRPr lang="en-US" sz="1200" dirty="0"/>
        </a:p>
      </dgm:t>
    </dgm:pt>
    <dgm:pt modelId="{4F211118-53DE-4D69-BD4E-CCE9C9B74195}" type="parTrans" cxnId="{9F8FC3AE-3BCA-4A9B-AD3F-3392EE9208C5}">
      <dgm:prSet/>
      <dgm:spPr/>
      <dgm:t>
        <a:bodyPr/>
        <a:lstStyle/>
        <a:p>
          <a:endParaRPr lang="en-US"/>
        </a:p>
      </dgm:t>
    </dgm:pt>
    <dgm:pt modelId="{EEC7BE6B-FEAC-4F71-B546-431A4C3E4243}" type="sibTrans" cxnId="{9F8FC3AE-3BCA-4A9B-AD3F-3392EE9208C5}">
      <dgm:prSet/>
      <dgm:spPr/>
      <dgm:t>
        <a:bodyPr/>
        <a:lstStyle/>
        <a:p>
          <a:endParaRPr lang="en-US"/>
        </a:p>
      </dgm:t>
    </dgm:pt>
    <dgm:pt modelId="{0E27D90B-EA65-4108-9AFC-6CF6CC58DB9A}">
      <dgm:prSet phldrT="[Text]" custT="1"/>
      <dgm:spPr>
        <a:solidFill>
          <a:srgbClr val="336B90"/>
        </a:solidFill>
      </dgm:spPr>
      <dgm:t>
        <a:bodyPr/>
        <a:lstStyle/>
        <a:p>
          <a:r>
            <a:rPr lang="en-US" sz="2300" dirty="0"/>
            <a:t>Cocaine</a:t>
          </a:r>
        </a:p>
      </dgm:t>
    </dgm:pt>
    <dgm:pt modelId="{48F3D80D-1784-47AA-B087-9A8D285DCD0E}" type="parTrans" cxnId="{DDB90F86-5455-406A-9649-83D619970456}">
      <dgm:prSet/>
      <dgm:spPr/>
      <dgm:t>
        <a:bodyPr/>
        <a:lstStyle/>
        <a:p>
          <a:endParaRPr lang="en-US"/>
        </a:p>
      </dgm:t>
    </dgm:pt>
    <dgm:pt modelId="{866F0216-39E6-4295-96E3-2E904CC91D4E}" type="sibTrans" cxnId="{DDB90F86-5455-406A-9649-83D619970456}">
      <dgm:prSet/>
      <dgm:spPr/>
      <dgm:t>
        <a:bodyPr/>
        <a:lstStyle/>
        <a:p>
          <a:endParaRPr lang="en-US"/>
        </a:p>
      </dgm:t>
    </dgm:pt>
    <dgm:pt modelId="{A42A7991-9E35-4916-8C81-C30B99D8A84E}">
      <dgm:prSet phldrT="[Text]" custT="1"/>
      <dgm:spPr/>
      <dgm:t>
        <a:bodyPr/>
        <a:lstStyle/>
        <a:p>
          <a:pPr algn="l"/>
          <a:r>
            <a:rPr lang="en-US" sz="1200" dirty="0"/>
            <a:t>Causes increased irritability and aggression with prolonged use, psychotic distortions of thought</a:t>
          </a:r>
        </a:p>
      </dgm:t>
    </dgm:pt>
    <dgm:pt modelId="{B5F70816-AD19-40AD-8D8B-60CEB831D21F}" type="parTrans" cxnId="{5694BE0D-BEA6-4A42-884C-4BAB144CED37}">
      <dgm:prSet/>
      <dgm:spPr/>
      <dgm:t>
        <a:bodyPr/>
        <a:lstStyle/>
        <a:p>
          <a:endParaRPr lang="en-US"/>
        </a:p>
      </dgm:t>
    </dgm:pt>
    <dgm:pt modelId="{855C0123-1FD1-4DC9-9FBA-5204F1EA5338}" type="sibTrans" cxnId="{5694BE0D-BEA6-4A42-884C-4BAB144CED37}">
      <dgm:prSet/>
      <dgm:spPr/>
      <dgm:t>
        <a:bodyPr/>
        <a:lstStyle/>
        <a:p>
          <a:endParaRPr lang="en-US"/>
        </a:p>
      </dgm:t>
    </dgm:pt>
    <dgm:pt modelId="{07310271-1517-4EB2-96FE-A19E291959C3}">
      <dgm:prSet phldrT="[Text]" custT="1"/>
      <dgm:spPr/>
      <dgm:t>
        <a:bodyPr/>
        <a:lstStyle/>
        <a:p>
          <a:pPr algn="l"/>
          <a:r>
            <a:rPr lang="en-US" sz="1200" dirty="0"/>
            <a:t>A child’s cry to a parent may trigger angry and/or excessive reactions</a:t>
          </a:r>
        </a:p>
        <a:p>
          <a:pPr algn="l"/>
          <a:endParaRPr lang="en-US" sz="1200" dirty="0"/>
        </a:p>
      </dgm:t>
    </dgm:pt>
    <dgm:pt modelId="{3508296C-5098-4FE9-9DEA-C1271C0968B9}" type="parTrans" cxnId="{39C3FE11-C023-4F6B-8562-08591D5BAC7A}">
      <dgm:prSet/>
      <dgm:spPr/>
      <dgm:t>
        <a:bodyPr/>
        <a:lstStyle/>
        <a:p>
          <a:endParaRPr lang="en-US"/>
        </a:p>
      </dgm:t>
    </dgm:pt>
    <dgm:pt modelId="{A0F1D952-300D-4A56-B13B-381E50EC50C2}" type="sibTrans" cxnId="{39C3FE11-C023-4F6B-8562-08591D5BAC7A}">
      <dgm:prSet/>
      <dgm:spPr/>
      <dgm:t>
        <a:bodyPr/>
        <a:lstStyle/>
        <a:p>
          <a:endParaRPr lang="en-US"/>
        </a:p>
      </dgm:t>
    </dgm:pt>
    <dgm:pt modelId="{E0C8FAB0-2A0F-4409-A96B-B56672977492}" type="pres">
      <dgm:prSet presAssocID="{80D13055-A1D5-414D-81BD-7B2576D47928}" presName="diagram" presStyleCnt="0">
        <dgm:presLayoutVars>
          <dgm:chPref val="1"/>
          <dgm:dir/>
          <dgm:animOne val="branch"/>
          <dgm:animLvl val="lvl"/>
          <dgm:resizeHandles/>
        </dgm:presLayoutVars>
      </dgm:prSet>
      <dgm:spPr/>
    </dgm:pt>
    <dgm:pt modelId="{6F6CA9FC-2406-412C-89B7-21F7D13C27D6}" type="pres">
      <dgm:prSet presAssocID="{FBE27557-C35A-4DA2-8F42-376F1A287BA8}" presName="root" presStyleCnt="0"/>
      <dgm:spPr/>
    </dgm:pt>
    <dgm:pt modelId="{C35DB165-D82F-405F-A1A0-D418CDC69CE9}" type="pres">
      <dgm:prSet presAssocID="{FBE27557-C35A-4DA2-8F42-376F1A287BA8}" presName="rootComposite" presStyleCnt="0"/>
      <dgm:spPr/>
    </dgm:pt>
    <dgm:pt modelId="{810A28B1-F9B9-462B-AEC8-DB72CC0381C5}" type="pres">
      <dgm:prSet presAssocID="{FBE27557-C35A-4DA2-8F42-376F1A287BA8}" presName="rootText" presStyleLbl="node1" presStyleIdx="0" presStyleCnt="2" custLinFactNeighborX="-27930" custLinFactNeighborY="-12039"/>
      <dgm:spPr/>
    </dgm:pt>
    <dgm:pt modelId="{D8B51A32-4590-4D9C-B633-6404CBC053E5}" type="pres">
      <dgm:prSet presAssocID="{FBE27557-C35A-4DA2-8F42-376F1A287BA8}" presName="rootConnector" presStyleLbl="node1" presStyleIdx="0" presStyleCnt="2"/>
      <dgm:spPr/>
    </dgm:pt>
    <dgm:pt modelId="{C62B9AF2-FC65-4BC6-A3A6-52B8659161F1}" type="pres">
      <dgm:prSet presAssocID="{FBE27557-C35A-4DA2-8F42-376F1A287BA8}" presName="childShape" presStyleCnt="0"/>
      <dgm:spPr/>
    </dgm:pt>
    <dgm:pt modelId="{DC000620-08CB-4B66-B9B5-E12E139F4AF6}" type="pres">
      <dgm:prSet presAssocID="{F9C764D1-170B-49BC-A3BC-B43E4EB97332}" presName="Name13" presStyleLbl="parChTrans1D2" presStyleIdx="0" presStyleCnt="4"/>
      <dgm:spPr/>
    </dgm:pt>
    <dgm:pt modelId="{E64C8105-62B5-413A-94D5-27ED5C4556E1}" type="pres">
      <dgm:prSet presAssocID="{2499ACF0-8185-4730-8302-2023DE3F8AD8}" presName="childText" presStyleLbl="bgAcc1" presStyleIdx="0" presStyleCnt="4" custLinFactNeighborX="3688" custLinFactNeighborY="-961">
        <dgm:presLayoutVars>
          <dgm:bulletEnabled val="1"/>
        </dgm:presLayoutVars>
      </dgm:prSet>
      <dgm:spPr/>
    </dgm:pt>
    <dgm:pt modelId="{3ED76335-8213-43D5-9BAF-E4B717CF2F21}" type="pres">
      <dgm:prSet presAssocID="{4F211118-53DE-4D69-BD4E-CCE9C9B74195}" presName="Name13" presStyleLbl="parChTrans1D2" presStyleIdx="1" presStyleCnt="4"/>
      <dgm:spPr/>
    </dgm:pt>
    <dgm:pt modelId="{6163D3ED-F430-4B74-88AE-95C563967A70}" type="pres">
      <dgm:prSet presAssocID="{E2BE0E1D-1F63-4A79-93DD-D512D83D0C9C}" presName="childText" presStyleLbl="bgAcc1" presStyleIdx="1" presStyleCnt="4" custLinFactNeighborX="3885" custLinFactNeighborY="-743">
        <dgm:presLayoutVars>
          <dgm:bulletEnabled val="1"/>
        </dgm:presLayoutVars>
      </dgm:prSet>
      <dgm:spPr/>
    </dgm:pt>
    <dgm:pt modelId="{88257742-1D59-4CEB-BF40-A37579FE9967}" type="pres">
      <dgm:prSet presAssocID="{0E27D90B-EA65-4108-9AFC-6CF6CC58DB9A}" presName="root" presStyleCnt="0"/>
      <dgm:spPr/>
    </dgm:pt>
    <dgm:pt modelId="{E030B135-9288-4ED6-BF01-38541531765B}" type="pres">
      <dgm:prSet presAssocID="{0E27D90B-EA65-4108-9AFC-6CF6CC58DB9A}" presName="rootComposite" presStyleCnt="0"/>
      <dgm:spPr/>
    </dgm:pt>
    <dgm:pt modelId="{5428248C-B113-4430-8A7E-7E8ACA3D449B}" type="pres">
      <dgm:prSet presAssocID="{0E27D90B-EA65-4108-9AFC-6CF6CC58DB9A}" presName="rootText" presStyleLbl="node1" presStyleIdx="1" presStyleCnt="2" custLinFactNeighborX="-11805" custLinFactNeighborY="-11805"/>
      <dgm:spPr/>
    </dgm:pt>
    <dgm:pt modelId="{227CDDBB-AFFE-4A94-9839-18E7ACF88C3B}" type="pres">
      <dgm:prSet presAssocID="{0E27D90B-EA65-4108-9AFC-6CF6CC58DB9A}" presName="rootConnector" presStyleLbl="node1" presStyleIdx="1" presStyleCnt="2"/>
      <dgm:spPr/>
    </dgm:pt>
    <dgm:pt modelId="{B7C9A91B-2741-4564-9F44-33AEA6FC6361}" type="pres">
      <dgm:prSet presAssocID="{0E27D90B-EA65-4108-9AFC-6CF6CC58DB9A}" presName="childShape" presStyleCnt="0"/>
      <dgm:spPr/>
    </dgm:pt>
    <dgm:pt modelId="{278E43A4-6571-42BF-8795-C4C43A7B0A5D}" type="pres">
      <dgm:prSet presAssocID="{B5F70816-AD19-40AD-8D8B-60CEB831D21F}" presName="Name13" presStyleLbl="parChTrans1D2" presStyleIdx="2" presStyleCnt="4"/>
      <dgm:spPr/>
    </dgm:pt>
    <dgm:pt modelId="{3EF7B832-F8BD-42B8-8E0F-BDF2391DA838}" type="pres">
      <dgm:prSet presAssocID="{A42A7991-9E35-4916-8C81-C30B99D8A84E}" presName="childText" presStyleLbl="bgAcc1" presStyleIdx="2" presStyleCnt="4" custLinFactNeighborX="-10182">
        <dgm:presLayoutVars>
          <dgm:bulletEnabled val="1"/>
        </dgm:presLayoutVars>
      </dgm:prSet>
      <dgm:spPr/>
    </dgm:pt>
    <dgm:pt modelId="{4F0CB42D-5E31-4950-8816-28AAF9DC3223}" type="pres">
      <dgm:prSet presAssocID="{3508296C-5098-4FE9-9DEA-C1271C0968B9}" presName="Name13" presStyleLbl="parChTrans1D2" presStyleIdx="3" presStyleCnt="4"/>
      <dgm:spPr/>
    </dgm:pt>
    <dgm:pt modelId="{C5394744-0A4C-4C94-B5AF-FA689FC5F276}" type="pres">
      <dgm:prSet presAssocID="{07310271-1517-4EB2-96FE-A19E291959C3}" presName="childText" presStyleLbl="bgAcc1" presStyleIdx="3" presStyleCnt="4" custLinFactNeighborX="-10182">
        <dgm:presLayoutVars>
          <dgm:bulletEnabled val="1"/>
        </dgm:presLayoutVars>
      </dgm:prSet>
      <dgm:spPr/>
    </dgm:pt>
  </dgm:ptLst>
  <dgm:cxnLst>
    <dgm:cxn modelId="{16F88203-8D63-4C7F-8A76-F03F0863D46B}" type="presOf" srcId="{0E27D90B-EA65-4108-9AFC-6CF6CC58DB9A}" destId="{227CDDBB-AFFE-4A94-9839-18E7ACF88C3B}" srcOrd="1" destOrd="0" presId="urn:microsoft.com/office/officeart/2005/8/layout/hierarchy3"/>
    <dgm:cxn modelId="{8F38FF04-EA49-4A8B-83AD-12CFE7A98414}" type="presOf" srcId="{2499ACF0-8185-4730-8302-2023DE3F8AD8}" destId="{E64C8105-62B5-413A-94D5-27ED5C4556E1}" srcOrd="0" destOrd="0" presId="urn:microsoft.com/office/officeart/2005/8/layout/hierarchy3"/>
    <dgm:cxn modelId="{AB6F3305-A400-4E8F-9F01-72C6E484706C}" type="presOf" srcId="{3508296C-5098-4FE9-9DEA-C1271C0968B9}" destId="{4F0CB42D-5E31-4950-8816-28AAF9DC3223}" srcOrd="0" destOrd="0" presId="urn:microsoft.com/office/officeart/2005/8/layout/hierarchy3"/>
    <dgm:cxn modelId="{5694BE0D-BEA6-4A42-884C-4BAB144CED37}" srcId="{0E27D90B-EA65-4108-9AFC-6CF6CC58DB9A}" destId="{A42A7991-9E35-4916-8C81-C30B99D8A84E}" srcOrd="0" destOrd="0" parTransId="{B5F70816-AD19-40AD-8D8B-60CEB831D21F}" sibTransId="{855C0123-1FD1-4DC9-9FBA-5204F1EA5338}"/>
    <dgm:cxn modelId="{39C3FE11-C023-4F6B-8562-08591D5BAC7A}" srcId="{0E27D90B-EA65-4108-9AFC-6CF6CC58DB9A}" destId="{07310271-1517-4EB2-96FE-A19E291959C3}" srcOrd="1" destOrd="0" parTransId="{3508296C-5098-4FE9-9DEA-C1271C0968B9}" sibTransId="{A0F1D952-300D-4A56-B13B-381E50EC50C2}"/>
    <dgm:cxn modelId="{3FB96023-1CCC-4D62-A51D-EEA9F5C44596}" type="presOf" srcId="{4F211118-53DE-4D69-BD4E-CCE9C9B74195}" destId="{3ED76335-8213-43D5-9BAF-E4B717CF2F21}" srcOrd="0" destOrd="0" presId="urn:microsoft.com/office/officeart/2005/8/layout/hierarchy3"/>
    <dgm:cxn modelId="{D52A4E5B-6A1C-4C7F-9292-FDDF1809BFB0}" srcId="{80D13055-A1D5-414D-81BD-7B2576D47928}" destId="{FBE27557-C35A-4DA2-8F42-376F1A287BA8}" srcOrd="0" destOrd="0" parTransId="{C241138F-2383-427B-8F53-FB599FA70533}" sibTransId="{EFB141A4-C8B8-48D1-83C0-D3D599A3942D}"/>
    <dgm:cxn modelId="{1F3A6E61-91B5-4B9E-A343-2518472EAD9E}" type="presOf" srcId="{E2BE0E1D-1F63-4A79-93DD-D512D83D0C9C}" destId="{6163D3ED-F430-4B74-88AE-95C563967A70}" srcOrd="0" destOrd="0" presId="urn:microsoft.com/office/officeart/2005/8/layout/hierarchy3"/>
    <dgm:cxn modelId="{B8FFE564-2C45-4EE8-BA2E-3D0230F1BC23}" type="presOf" srcId="{A42A7991-9E35-4916-8C81-C30B99D8A84E}" destId="{3EF7B832-F8BD-42B8-8E0F-BDF2391DA838}" srcOrd="0" destOrd="0" presId="urn:microsoft.com/office/officeart/2005/8/layout/hierarchy3"/>
    <dgm:cxn modelId="{7162EF73-1BD3-4373-A976-F8DD206F7211}" type="presOf" srcId="{B5F70816-AD19-40AD-8D8B-60CEB831D21F}" destId="{278E43A4-6571-42BF-8795-C4C43A7B0A5D}" srcOrd="0" destOrd="0" presId="urn:microsoft.com/office/officeart/2005/8/layout/hierarchy3"/>
    <dgm:cxn modelId="{F904CD7D-0EED-4261-8ABB-05F94A4A5836}" type="presOf" srcId="{FBE27557-C35A-4DA2-8F42-376F1A287BA8}" destId="{810A28B1-F9B9-462B-AEC8-DB72CC0381C5}" srcOrd="0" destOrd="0" presId="urn:microsoft.com/office/officeart/2005/8/layout/hierarchy3"/>
    <dgm:cxn modelId="{DDB90F86-5455-406A-9649-83D619970456}" srcId="{80D13055-A1D5-414D-81BD-7B2576D47928}" destId="{0E27D90B-EA65-4108-9AFC-6CF6CC58DB9A}" srcOrd="1" destOrd="0" parTransId="{48F3D80D-1784-47AA-B087-9A8D285DCD0E}" sibTransId="{866F0216-39E6-4295-96E3-2E904CC91D4E}"/>
    <dgm:cxn modelId="{55184D87-FC2B-4078-A72E-705566D6B025}" srcId="{FBE27557-C35A-4DA2-8F42-376F1A287BA8}" destId="{2499ACF0-8185-4730-8302-2023DE3F8AD8}" srcOrd="0" destOrd="0" parTransId="{F9C764D1-170B-49BC-A3BC-B43E4EB97332}" sibTransId="{7A6EAAA0-8D06-4734-935B-00103835ED1E}"/>
    <dgm:cxn modelId="{30317F8C-C500-470C-9DB7-A3F7FB1D55C6}" type="presOf" srcId="{FBE27557-C35A-4DA2-8F42-376F1A287BA8}" destId="{D8B51A32-4590-4D9C-B633-6404CBC053E5}" srcOrd="1" destOrd="0" presId="urn:microsoft.com/office/officeart/2005/8/layout/hierarchy3"/>
    <dgm:cxn modelId="{24963792-E6FA-4E4F-9BDD-C64DF47FBAFC}" type="presOf" srcId="{80D13055-A1D5-414D-81BD-7B2576D47928}" destId="{E0C8FAB0-2A0F-4409-A96B-B56672977492}" srcOrd="0" destOrd="0" presId="urn:microsoft.com/office/officeart/2005/8/layout/hierarchy3"/>
    <dgm:cxn modelId="{9F8FC3AE-3BCA-4A9B-AD3F-3392EE9208C5}" srcId="{FBE27557-C35A-4DA2-8F42-376F1A287BA8}" destId="{E2BE0E1D-1F63-4A79-93DD-D512D83D0C9C}" srcOrd="1" destOrd="0" parTransId="{4F211118-53DE-4D69-BD4E-CCE9C9B74195}" sibTransId="{EEC7BE6B-FEAC-4F71-B546-431A4C3E4243}"/>
    <dgm:cxn modelId="{9BA486CB-F174-4462-9502-82C2CCFD7503}" type="presOf" srcId="{07310271-1517-4EB2-96FE-A19E291959C3}" destId="{C5394744-0A4C-4C94-B5AF-FA689FC5F276}" srcOrd="0" destOrd="0" presId="urn:microsoft.com/office/officeart/2005/8/layout/hierarchy3"/>
    <dgm:cxn modelId="{E4CD27CD-2977-41B3-A277-324B777263B1}" type="presOf" srcId="{F9C764D1-170B-49BC-A3BC-B43E4EB97332}" destId="{DC000620-08CB-4B66-B9B5-E12E139F4AF6}" srcOrd="0" destOrd="0" presId="urn:microsoft.com/office/officeart/2005/8/layout/hierarchy3"/>
    <dgm:cxn modelId="{C37AEFF8-36A7-4B2E-8E87-E6C2DA91C51F}" type="presOf" srcId="{0E27D90B-EA65-4108-9AFC-6CF6CC58DB9A}" destId="{5428248C-B113-4430-8A7E-7E8ACA3D449B}" srcOrd="0" destOrd="0" presId="urn:microsoft.com/office/officeart/2005/8/layout/hierarchy3"/>
    <dgm:cxn modelId="{FEA83FB9-AFDF-4369-9538-69BD2E15DF31}" type="presParOf" srcId="{E0C8FAB0-2A0F-4409-A96B-B56672977492}" destId="{6F6CA9FC-2406-412C-89B7-21F7D13C27D6}" srcOrd="0" destOrd="0" presId="urn:microsoft.com/office/officeart/2005/8/layout/hierarchy3"/>
    <dgm:cxn modelId="{33DBC9FD-B1C4-4B3D-98E8-72D4FF0DFFA1}" type="presParOf" srcId="{6F6CA9FC-2406-412C-89B7-21F7D13C27D6}" destId="{C35DB165-D82F-405F-A1A0-D418CDC69CE9}" srcOrd="0" destOrd="0" presId="urn:microsoft.com/office/officeart/2005/8/layout/hierarchy3"/>
    <dgm:cxn modelId="{AFC62FBC-2BD5-4E48-816D-FDBB1549BD72}" type="presParOf" srcId="{C35DB165-D82F-405F-A1A0-D418CDC69CE9}" destId="{810A28B1-F9B9-462B-AEC8-DB72CC0381C5}" srcOrd="0" destOrd="0" presId="urn:microsoft.com/office/officeart/2005/8/layout/hierarchy3"/>
    <dgm:cxn modelId="{C2A99779-B4BD-4B46-9421-59ED37F20822}" type="presParOf" srcId="{C35DB165-D82F-405F-A1A0-D418CDC69CE9}" destId="{D8B51A32-4590-4D9C-B633-6404CBC053E5}" srcOrd="1" destOrd="0" presId="urn:microsoft.com/office/officeart/2005/8/layout/hierarchy3"/>
    <dgm:cxn modelId="{7C6D38DC-223E-46D3-985F-8F9617BC39E0}" type="presParOf" srcId="{6F6CA9FC-2406-412C-89B7-21F7D13C27D6}" destId="{C62B9AF2-FC65-4BC6-A3A6-52B8659161F1}" srcOrd="1" destOrd="0" presId="urn:microsoft.com/office/officeart/2005/8/layout/hierarchy3"/>
    <dgm:cxn modelId="{F5C35E7B-8BFF-41E7-B36A-4A018080A0C4}" type="presParOf" srcId="{C62B9AF2-FC65-4BC6-A3A6-52B8659161F1}" destId="{DC000620-08CB-4B66-B9B5-E12E139F4AF6}" srcOrd="0" destOrd="0" presId="urn:microsoft.com/office/officeart/2005/8/layout/hierarchy3"/>
    <dgm:cxn modelId="{1A056CDC-8748-4158-B7B8-3DC14812FF99}" type="presParOf" srcId="{C62B9AF2-FC65-4BC6-A3A6-52B8659161F1}" destId="{E64C8105-62B5-413A-94D5-27ED5C4556E1}" srcOrd="1" destOrd="0" presId="urn:microsoft.com/office/officeart/2005/8/layout/hierarchy3"/>
    <dgm:cxn modelId="{5DB35229-97D7-4CF2-81DB-F3450A6C78B9}" type="presParOf" srcId="{C62B9AF2-FC65-4BC6-A3A6-52B8659161F1}" destId="{3ED76335-8213-43D5-9BAF-E4B717CF2F21}" srcOrd="2" destOrd="0" presId="urn:microsoft.com/office/officeart/2005/8/layout/hierarchy3"/>
    <dgm:cxn modelId="{AC11E3CD-05FF-4808-BB8C-598309F982B2}" type="presParOf" srcId="{C62B9AF2-FC65-4BC6-A3A6-52B8659161F1}" destId="{6163D3ED-F430-4B74-88AE-95C563967A70}" srcOrd="3" destOrd="0" presId="urn:microsoft.com/office/officeart/2005/8/layout/hierarchy3"/>
    <dgm:cxn modelId="{5898F40B-6EF8-4D73-88CC-7D54F3B1A389}" type="presParOf" srcId="{E0C8FAB0-2A0F-4409-A96B-B56672977492}" destId="{88257742-1D59-4CEB-BF40-A37579FE9967}" srcOrd="1" destOrd="0" presId="urn:microsoft.com/office/officeart/2005/8/layout/hierarchy3"/>
    <dgm:cxn modelId="{8A398E3D-801C-4D04-B5D0-2439FE6406FA}" type="presParOf" srcId="{88257742-1D59-4CEB-BF40-A37579FE9967}" destId="{E030B135-9288-4ED6-BF01-38541531765B}" srcOrd="0" destOrd="0" presId="urn:microsoft.com/office/officeart/2005/8/layout/hierarchy3"/>
    <dgm:cxn modelId="{6014BC05-E763-4D6E-9AEE-216D38E01ADD}" type="presParOf" srcId="{E030B135-9288-4ED6-BF01-38541531765B}" destId="{5428248C-B113-4430-8A7E-7E8ACA3D449B}" srcOrd="0" destOrd="0" presId="urn:microsoft.com/office/officeart/2005/8/layout/hierarchy3"/>
    <dgm:cxn modelId="{4999B79A-BCBF-4595-B30F-1173E45CD945}" type="presParOf" srcId="{E030B135-9288-4ED6-BF01-38541531765B}" destId="{227CDDBB-AFFE-4A94-9839-18E7ACF88C3B}" srcOrd="1" destOrd="0" presId="urn:microsoft.com/office/officeart/2005/8/layout/hierarchy3"/>
    <dgm:cxn modelId="{C93236D2-A1B1-4D68-A896-162D30022187}" type="presParOf" srcId="{88257742-1D59-4CEB-BF40-A37579FE9967}" destId="{B7C9A91B-2741-4564-9F44-33AEA6FC6361}" srcOrd="1" destOrd="0" presId="urn:microsoft.com/office/officeart/2005/8/layout/hierarchy3"/>
    <dgm:cxn modelId="{B01CCF39-9554-48C3-9EEF-7AEECE4FC32F}" type="presParOf" srcId="{B7C9A91B-2741-4564-9F44-33AEA6FC6361}" destId="{278E43A4-6571-42BF-8795-C4C43A7B0A5D}" srcOrd="0" destOrd="0" presId="urn:microsoft.com/office/officeart/2005/8/layout/hierarchy3"/>
    <dgm:cxn modelId="{6080DCA8-93FB-4BFA-9217-615CBAB31635}" type="presParOf" srcId="{B7C9A91B-2741-4564-9F44-33AEA6FC6361}" destId="{3EF7B832-F8BD-42B8-8E0F-BDF2391DA838}" srcOrd="1" destOrd="0" presId="urn:microsoft.com/office/officeart/2005/8/layout/hierarchy3"/>
    <dgm:cxn modelId="{E4B4412D-B31D-49F2-B34A-A65237132D0B}" type="presParOf" srcId="{B7C9A91B-2741-4564-9F44-33AEA6FC6361}" destId="{4F0CB42D-5E31-4950-8816-28AAF9DC3223}" srcOrd="2" destOrd="0" presId="urn:microsoft.com/office/officeart/2005/8/layout/hierarchy3"/>
    <dgm:cxn modelId="{2A92B476-B6A3-4D20-8033-1C15C9BCFCBF}" type="presParOf" srcId="{B7C9A91B-2741-4564-9F44-33AEA6FC6361}" destId="{C5394744-0A4C-4C94-B5AF-FA689FC5F276}"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D13055-A1D5-414D-81BD-7B2576D47928}"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FBE27557-C35A-4DA2-8F42-376F1A287BA8}">
      <dgm:prSet phldrT="[Text]" custT="1"/>
      <dgm:spPr>
        <a:solidFill>
          <a:srgbClr val="336B90"/>
        </a:solidFill>
      </dgm:spPr>
      <dgm:t>
        <a:bodyPr/>
        <a:lstStyle/>
        <a:p>
          <a:r>
            <a:rPr lang="en-US" sz="2300" dirty="0"/>
            <a:t>Methamphetamine</a:t>
          </a:r>
          <a:r>
            <a:rPr lang="en-US" sz="2700" dirty="0"/>
            <a:t> </a:t>
          </a:r>
        </a:p>
      </dgm:t>
    </dgm:pt>
    <dgm:pt modelId="{C241138F-2383-427B-8F53-FB599FA70533}" type="parTrans" cxnId="{D52A4E5B-6A1C-4C7F-9292-FDDF1809BFB0}">
      <dgm:prSet/>
      <dgm:spPr/>
      <dgm:t>
        <a:bodyPr/>
        <a:lstStyle/>
        <a:p>
          <a:endParaRPr lang="en-US"/>
        </a:p>
      </dgm:t>
    </dgm:pt>
    <dgm:pt modelId="{EFB141A4-C8B8-48D1-83C0-D3D599A3942D}" type="sibTrans" cxnId="{D52A4E5B-6A1C-4C7F-9292-FDDF1809BFB0}">
      <dgm:prSet/>
      <dgm:spPr/>
      <dgm:t>
        <a:bodyPr/>
        <a:lstStyle/>
        <a:p>
          <a:endParaRPr lang="en-US"/>
        </a:p>
      </dgm:t>
    </dgm:pt>
    <dgm:pt modelId="{2499ACF0-8185-4730-8302-2023DE3F8AD8}">
      <dgm:prSet phldrT="[Text]" custT="1"/>
      <dgm:spPr/>
      <dgm:t>
        <a:bodyPr/>
        <a:lstStyle/>
        <a:p>
          <a:pPr algn="l"/>
          <a:r>
            <a:rPr lang="en-US" sz="1200" dirty="0"/>
            <a:t>Releases high levels of dopamine, which stimulates brain cells, enhancing mood and body movement</a:t>
          </a:r>
        </a:p>
      </dgm:t>
    </dgm:pt>
    <dgm:pt modelId="{F9C764D1-170B-49BC-A3BC-B43E4EB97332}" type="parTrans" cxnId="{55184D87-FC2B-4078-A72E-705566D6B025}">
      <dgm:prSet/>
      <dgm:spPr/>
      <dgm:t>
        <a:bodyPr/>
        <a:lstStyle/>
        <a:p>
          <a:endParaRPr lang="en-US"/>
        </a:p>
      </dgm:t>
    </dgm:pt>
    <dgm:pt modelId="{7A6EAAA0-8D06-4734-935B-00103835ED1E}" type="sibTrans" cxnId="{55184D87-FC2B-4078-A72E-705566D6B025}">
      <dgm:prSet/>
      <dgm:spPr/>
      <dgm:t>
        <a:bodyPr/>
        <a:lstStyle/>
        <a:p>
          <a:endParaRPr lang="en-US"/>
        </a:p>
      </dgm:t>
    </dgm:pt>
    <dgm:pt modelId="{E2BE0E1D-1F63-4A79-93DD-D512D83D0C9C}">
      <dgm:prSet phldrT="[Text]" custT="1"/>
      <dgm:spPr/>
      <dgm:t>
        <a:bodyPr/>
        <a:lstStyle/>
        <a:p>
          <a:pPr algn="l"/>
          <a:r>
            <a:rPr lang="en-US" sz="1200" dirty="0"/>
            <a:t>Children may be the victims of parental violence, aggression, and paranoia due to parental meth use</a:t>
          </a:r>
        </a:p>
      </dgm:t>
    </dgm:pt>
    <dgm:pt modelId="{4F211118-53DE-4D69-BD4E-CCE9C9B74195}" type="parTrans" cxnId="{9F8FC3AE-3BCA-4A9B-AD3F-3392EE9208C5}">
      <dgm:prSet/>
      <dgm:spPr/>
      <dgm:t>
        <a:bodyPr/>
        <a:lstStyle/>
        <a:p>
          <a:endParaRPr lang="en-US"/>
        </a:p>
      </dgm:t>
    </dgm:pt>
    <dgm:pt modelId="{EEC7BE6B-FEAC-4F71-B546-431A4C3E4243}" type="sibTrans" cxnId="{9F8FC3AE-3BCA-4A9B-AD3F-3392EE9208C5}">
      <dgm:prSet/>
      <dgm:spPr/>
      <dgm:t>
        <a:bodyPr/>
        <a:lstStyle/>
        <a:p>
          <a:endParaRPr lang="en-US"/>
        </a:p>
      </dgm:t>
    </dgm:pt>
    <dgm:pt modelId="{0E27D90B-EA65-4108-9AFC-6CF6CC58DB9A}">
      <dgm:prSet phldrT="[Text]" custT="1"/>
      <dgm:spPr>
        <a:solidFill>
          <a:srgbClr val="336B90"/>
        </a:solidFill>
      </dgm:spPr>
      <dgm:t>
        <a:bodyPr/>
        <a:lstStyle/>
        <a:p>
          <a:r>
            <a:rPr lang="en-US" sz="2300" dirty="0"/>
            <a:t>Marijuana</a:t>
          </a:r>
        </a:p>
      </dgm:t>
    </dgm:pt>
    <dgm:pt modelId="{48F3D80D-1784-47AA-B087-9A8D285DCD0E}" type="parTrans" cxnId="{DDB90F86-5455-406A-9649-83D619970456}">
      <dgm:prSet/>
      <dgm:spPr/>
      <dgm:t>
        <a:bodyPr/>
        <a:lstStyle/>
        <a:p>
          <a:endParaRPr lang="en-US"/>
        </a:p>
      </dgm:t>
    </dgm:pt>
    <dgm:pt modelId="{866F0216-39E6-4295-96E3-2E904CC91D4E}" type="sibTrans" cxnId="{DDB90F86-5455-406A-9649-83D619970456}">
      <dgm:prSet/>
      <dgm:spPr/>
      <dgm:t>
        <a:bodyPr/>
        <a:lstStyle/>
        <a:p>
          <a:endParaRPr lang="en-US"/>
        </a:p>
      </dgm:t>
    </dgm:pt>
    <dgm:pt modelId="{A42A7991-9E35-4916-8C81-C30B99D8A84E}">
      <dgm:prSet phldrT="[Text]" custT="1"/>
      <dgm:spPr/>
      <dgm:t>
        <a:bodyPr/>
        <a:lstStyle/>
        <a:p>
          <a:pPr algn="l"/>
          <a:r>
            <a:rPr lang="en-US" sz="1200" dirty="0"/>
            <a:t>Slows down the nervous system function, producing a drowsy or calming effect</a:t>
          </a:r>
        </a:p>
      </dgm:t>
    </dgm:pt>
    <dgm:pt modelId="{B5F70816-AD19-40AD-8D8B-60CEB831D21F}" type="parTrans" cxnId="{5694BE0D-BEA6-4A42-884C-4BAB144CED37}">
      <dgm:prSet/>
      <dgm:spPr/>
      <dgm:t>
        <a:bodyPr/>
        <a:lstStyle/>
        <a:p>
          <a:endParaRPr lang="en-US"/>
        </a:p>
      </dgm:t>
    </dgm:pt>
    <dgm:pt modelId="{855C0123-1FD1-4DC9-9FBA-5204F1EA5338}" type="sibTrans" cxnId="{5694BE0D-BEA6-4A42-884C-4BAB144CED37}">
      <dgm:prSet/>
      <dgm:spPr/>
      <dgm:t>
        <a:bodyPr/>
        <a:lstStyle/>
        <a:p>
          <a:endParaRPr lang="en-US"/>
        </a:p>
      </dgm:t>
    </dgm:pt>
    <dgm:pt modelId="{07310271-1517-4EB2-96FE-A19E291959C3}">
      <dgm:prSet phldrT="[Text]" custT="1"/>
      <dgm:spPr/>
      <dgm:t>
        <a:bodyPr/>
        <a:lstStyle/>
        <a:p>
          <a:pPr algn="l"/>
          <a:r>
            <a:rPr lang="en-US" sz="1200" dirty="0"/>
            <a:t>Children may be left unsupervised, as parents may fall asleep while under the influence of marijuana. </a:t>
          </a:r>
        </a:p>
      </dgm:t>
    </dgm:pt>
    <dgm:pt modelId="{3508296C-5098-4FE9-9DEA-C1271C0968B9}" type="parTrans" cxnId="{39C3FE11-C023-4F6B-8562-08591D5BAC7A}">
      <dgm:prSet/>
      <dgm:spPr/>
      <dgm:t>
        <a:bodyPr/>
        <a:lstStyle/>
        <a:p>
          <a:endParaRPr lang="en-US"/>
        </a:p>
      </dgm:t>
    </dgm:pt>
    <dgm:pt modelId="{A0F1D952-300D-4A56-B13B-381E50EC50C2}" type="sibTrans" cxnId="{39C3FE11-C023-4F6B-8562-08591D5BAC7A}">
      <dgm:prSet/>
      <dgm:spPr/>
      <dgm:t>
        <a:bodyPr/>
        <a:lstStyle/>
        <a:p>
          <a:endParaRPr lang="en-US"/>
        </a:p>
      </dgm:t>
    </dgm:pt>
    <dgm:pt modelId="{E0C8FAB0-2A0F-4409-A96B-B56672977492}" type="pres">
      <dgm:prSet presAssocID="{80D13055-A1D5-414D-81BD-7B2576D47928}" presName="diagram" presStyleCnt="0">
        <dgm:presLayoutVars>
          <dgm:chPref val="1"/>
          <dgm:dir/>
          <dgm:animOne val="branch"/>
          <dgm:animLvl val="lvl"/>
          <dgm:resizeHandles/>
        </dgm:presLayoutVars>
      </dgm:prSet>
      <dgm:spPr/>
    </dgm:pt>
    <dgm:pt modelId="{6F6CA9FC-2406-412C-89B7-21F7D13C27D6}" type="pres">
      <dgm:prSet presAssocID="{FBE27557-C35A-4DA2-8F42-376F1A287BA8}" presName="root" presStyleCnt="0"/>
      <dgm:spPr/>
    </dgm:pt>
    <dgm:pt modelId="{C35DB165-D82F-405F-A1A0-D418CDC69CE9}" type="pres">
      <dgm:prSet presAssocID="{FBE27557-C35A-4DA2-8F42-376F1A287BA8}" presName="rootComposite" presStyleCnt="0"/>
      <dgm:spPr/>
    </dgm:pt>
    <dgm:pt modelId="{810A28B1-F9B9-462B-AEC8-DB72CC0381C5}" type="pres">
      <dgm:prSet presAssocID="{FBE27557-C35A-4DA2-8F42-376F1A287BA8}" presName="rootText" presStyleLbl="node1" presStyleIdx="0" presStyleCnt="2" custLinFactNeighborX="-27930" custLinFactNeighborY="-12039"/>
      <dgm:spPr/>
    </dgm:pt>
    <dgm:pt modelId="{D8B51A32-4590-4D9C-B633-6404CBC053E5}" type="pres">
      <dgm:prSet presAssocID="{FBE27557-C35A-4DA2-8F42-376F1A287BA8}" presName="rootConnector" presStyleLbl="node1" presStyleIdx="0" presStyleCnt="2"/>
      <dgm:spPr/>
    </dgm:pt>
    <dgm:pt modelId="{C62B9AF2-FC65-4BC6-A3A6-52B8659161F1}" type="pres">
      <dgm:prSet presAssocID="{FBE27557-C35A-4DA2-8F42-376F1A287BA8}" presName="childShape" presStyleCnt="0"/>
      <dgm:spPr/>
    </dgm:pt>
    <dgm:pt modelId="{DC000620-08CB-4B66-B9B5-E12E139F4AF6}" type="pres">
      <dgm:prSet presAssocID="{F9C764D1-170B-49BC-A3BC-B43E4EB97332}" presName="Name13" presStyleLbl="parChTrans1D2" presStyleIdx="0" presStyleCnt="4"/>
      <dgm:spPr/>
    </dgm:pt>
    <dgm:pt modelId="{E64C8105-62B5-413A-94D5-27ED5C4556E1}" type="pres">
      <dgm:prSet presAssocID="{2499ACF0-8185-4730-8302-2023DE3F8AD8}" presName="childText" presStyleLbl="bgAcc1" presStyleIdx="0" presStyleCnt="4" custScaleY="80346" custLinFactNeighborX="-11282" custLinFactNeighborY="6356">
        <dgm:presLayoutVars>
          <dgm:bulletEnabled val="1"/>
        </dgm:presLayoutVars>
      </dgm:prSet>
      <dgm:spPr/>
    </dgm:pt>
    <dgm:pt modelId="{3ED76335-8213-43D5-9BAF-E4B717CF2F21}" type="pres">
      <dgm:prSet presAssocID="{4F211118-53DE-4D69-BD4E-CCE9C9B74195}" presName="Name13" presStyleLbl="parChTrans1D2" presStyleIdx="1" presStyleCnt="4"/>
      <dgm:spPr/>
    </dgm:pt>
    <dgm:pt modelId="{6163D3ED-F430-4B74-88AE-95C563967A70}" type="pres">
      <dgm:prSet presAssocID="{E2BE0E1D-1F63-4A79-93DD-D512D83D0C9C}" presName="childText" presStyleLbl="bgAcc1" presStyleIdx="1" presStyleCnt="4" custScaleY="75971" custLinFactNeighborX="-9178" custLinFactNeighborY="-6039">
        <dgm:presLayoutVars>
          <dgm:bulletEnabled val="1"/>
        </dgm:presLayoutVars>
      </dgm:prSet>
      <dgm:spPr/>
    </dgm:pt>
    <dgm:pt modelId="{88257742-1D59-4CEB-BF40-A37579FE9967}" type="pres">
      <dgm:prSet presAssocID="{0E27D90B-EA65-4108-9AFC-6CF6CC58DB9A}" presName="root" presStyleCnt="0"/>
      <dgm:spPr/>
    </dgm:pt>
    <dgm:pt modelId="{E030B135-9288-4ED6-BF01-38541531765B}" type="pres">
      <dgm:prSet presAssocID="{0E27D90B-EA65-4108-9AFC-6CF6CC58DB9A}" presName="rootComposite" presStyleCnt="0"/>
      <dgm:spPr/>
    </dgm:pt>
    <dgm:pt modelId="{5428248C-B113-4430-8A7E-7E8ACA3D449B}" type="pres">
      <dgm:prSet presAssocID="{0E27D90B-EA65-4108-9AFC-6CF6CC58DB9A}" presName="rootText" presStyleLbl="node1" presStyleIdx="1" presStyleCnt="2" custLinFactNeighborX="-11805" custLinFactNeighborY="-11805"/>
      <dgm:spPr/>
    </dgm:pt>
    <dgm:pt modelId="{227CDDBB-AFFE-4A94-9839-18E7ACF88C3B}" type="pres">
      <dgm:prSet presAssocID="{0E27D90B-EA65-4108-9AFC-6CF6CC58DB9A}" presName="rootConnector" presStyleLbl="node1" presStyleIdx="1" presStyleCnt="2"/>
      <dgm:spPr/>
    </dgm:pt>
    <dgm:pt modelId="{B7C9A91B-2741-4564-9F44-33AEA6FC6361}" type="pres">
      <dgm:prSet presAssocID="{0E27D90B-EA65-4108-9AFC-6CF6CC58DB9A}" presName="childShape" presStyleCnt="0"/>
      <dgm:spPr/>
    </dgm:pt>
    <dgm:pt modelId="{278E43A4-6571-42BF-8795-C4C43A7B0A5D}" type="pres">
      <dgm:prSet presAssocID="{B5F70816-AD19-40AD-8D8B-60CEB831D21F}" presName="Name13" presStyleLbl="parChTrans1D2" presStyleIdx="2" presStyleCnt="4"/>
      <dgm:spPr/>
    </dgm:pt>
    <dgm:pt modelId="{3EF7B832-F8BD-42B8-8E0F-BDF2391DA838}" type="pres">
      <dgm:prSet presAssocID="{A42A7991-9E35-4916-8C81-C30B99D8A84E}" presName="childText" presStyleLbl="bgAcc1" presStyleIdx="2" presStyleCnt="4" custScaleX="90316" custScaleY="74423">
        <dgm:presLayoutVars>
          <dgm:bulletEnabled val="1"/>
        </dgm:presLayoutVars>
      </dgm:prSet>
      <dgm:spPr/>
    </dgm:pt>
    <dgm:pt modelId="{4F0CB42D-5E31-4950-8816-28AAF9DC3223}" type="pres">
      <dgm:prSet presAssocID="{3508296C-5098-4FE9-9DEA-C1271C0968B9}" presName="Name13" presStyleLbl="parChTrans1D2" presStyleIdx="3" presStyleCnt="4"/>
      <dgm:spPr/>
    </dgm:pt>
    <dgm:pt modelId="{C5394744-0A4C-4C94-B5AF-FA689FC5F276}" type="pres">
      <dgm:prSet presAssocID="{07310271-1517-4EB2-96FE-A19E291959C3}" presName="childText" presStyleLbl="bgAcc1" presStyleIdx="3" presStyleCnt="4" custScaleX="91569" custScaleY="78878" custLinFactNeighborY="-3878">
        <dgm:presLayoutVars>
          <dgm:bulletEnabled val="1"/>
        </dgm:presLayoutVars>
      </dgm:prSet>
      <dgm:spPr/>
    </dgm:pt>
  </dgm:ptLst>
  <dgm:cxnLst>
    <dgm:cxn modelId="{5694BE0D-BEA6-4A42-884C-4BAB144CED37}" srcId="{0E27D90B-EA65-4108-9AFC-6CF6CC58DB9A}" destId="{A42A7991-9E35-4916-8C81-C30B99D8A84E}" srcOrd="0" destOrd="0" parTransId="{B5F70816-AD19-40AD-8D8B-60CEB831D21F}" sibTransId="{855C0123-1FD1-4DC9-9FBA-5204F1EA5338}"/>
    <dgm:cxn modelId="{39C3FE11-C023-4F6B-8562-08591D5BAC7A}" srcId="{0E27D90B-EA65-4108-9AFC-6CF6CC58DB9A}" destId="{07310271-1517-4EB2-96FE-A19E291959C3}" srcOrd="1" destOrd="0" parTransId="{3508296C-5098-4FE9-9DEA-C1271C0968B9}" sibTransId="{A0F1D952-300D-4A56-B13B-381E50EC50C2}"/>
    <dgm:cxn modelId="{BD0E5F1F-E6DF-4B16-B234-5586D4B7AD1C}" type="presOf" srcId="{E2BE0E1D-1F63-4A79-93DD-D512D83D0C9C}" destId="{6163D3ED-F430-4B74-88AE-95C563967A70}" srcOrd="0" destOrd="0" presId="urn:microsoft.com/office/officeart/2005/8/layout/hierarchy3"/>
    <dgm:cxn modelId="{E5071A2B-CD6A-4AA7-A3F1-F347C88C0FA6}" type="presOf" srcId="{F9C764D1-170B-49BC-A3BC-B43E4EB97332}" destId="{DC000620-08CB-4B66-B9B5-E12E139F4AF6}" srcOrd="0" destOrd="0" presId="urn:microsoft.com/office/officeart/2005/8/layout/hierarchy3"/>
    <dgm:cxn modelId="{20DAC531-7A87-4472-966A-B939F97B11AB}" type="presOf" srcId="{07310271-1517-4EB2-96FE-A19E291959C3}" destId="{C5394744-0A4C-4C94-B5AF-FA689FC5F276}" srcOrd="0" destOrd="0" presId="urn:microsoft.com/office/officeart/2005/8/layout/hierarchy3"/>
    <dgm:cxn modelId="{235D8439-FF3F-4029-87AB-559BD0BC78CB}" type="presOf" srcId="{3508296C-5098-4FE9-9DEA-C1271C0968B9}" destId="{4F0CB42D-5E31-4950-8816-28AAF9DC3223}" srcOrd="0" destOrd="0" presId="urn:microsoft.com/office/officeart/2005/8/layout/hierarchy3"/>
    <dgm:cxn modelId="{D52A4E5B-6A1C-4C7F-9292-FDDF1809BFB0}" srcId="{80D13055-A1D5-414D-81BD-7B2576D47928}" destId="{FBE27557-C35A-4DA2-8F42-376F1A287BA8}" srcOrd="0" destOrd="0" parTransId="{C241138F-2383-427B-8F53-FB599FA70533}" sibTransId="{EFB141A4-C8B8-48D1-83C0-D3D599A3942D}"/>
    <dgm:cxn modelId="{E5EC995B-BA24-4AB0-8665-5F1A9ED95E92}" type="presOf" srcId="{FBE27557-C35A-4DA2-8F42-376F1A287BA8}" destId="{D8B51A32-4590-4D9C-B633-6404CBC053E5}" srcOrd="1" destOrd="0" presId="urn:microsoft.com/office/officeart/2005/8/layout/hierarchy3"/>
    <dgm:cxn modelId="{97104C41-FDCC-4F33-A176-3348316EE14B}" type="presOf" srcId="{0E27D90B-EA65-4108-9AFC-6CF6CC58DB9A}" destId="{5428248C-B113-4430-8A7E-7E8ACA3D449B}" srcOrd="0" destOrd="0" presId="urn:microsoft.com/office/officeart/2005/8/layout/hierarchy3"/>
    <dgm:cxn modelId="{DDB90F86-5455-406A-9649-83D619970456}" srcId="{80D13055-A1D5-414D-81BD-7B2576D47928}" destId="{0E27D90B-EA65-4108-9AFC-6CF6CC58DB9A}" srcOrd="1" destOrd="0" parTransId="{48F3D80D-1784-47AA-B087-9A8D285DCD0E}" sibTransId="{866F0216-39E6-4295-96E3-2E904CC91D4E}"/>
    <dgm:cxn modelId="{55184D87-FC2B-4078-A72E-705566D6B025}" srcId="{FBE27557-C35A-4DA2-8F42-376F1A287BA8}" destId="{2499ACF0-8185-4730-8302-2023DE3F8AD8}" srcOrd="0" destOrd="0" parTransId="{F9C764D1-170B-49BC-A3BC-B43E4EB97332}" sibTransId="{7A6EAAA0-8D06-4734-935B-00103835ED1E}"/>
    <dgm:cxn modelId="{D7BE378E-08C5-4E70-8D63-05B737663077}" type="presOf" srcId="{4F211118-53DE-4D69-BD4E-CCE9C9B74195}" destId="{3ED76335-8213-43D5-9BAF-E4B717CF2F21}" srcOrd="0" destOrd="0" presId="urn:microsoft.com/office/officeart/2005/8/layout/hierarchy3"/>
    <dgm:cxn modelId="{9F8FC3AE-3BCA-4A9B-AD3F-3392EE9208C5}" srcId="{FBE27557-C35A-4DA2-8F42-376F1A287BA8}" destId="{E2BE0E1D-1F63-4A79-93DD-D512D83D0C9C}" srcOrd="1" destOrd="0" parTransId="{4F211118-53DE-4D69-BD4E-CCE9C9B74195}" sibTransId="{EEC7BE6B-FEAC-4F71-B546-431A4C3E4243}"/>
    <dgm:cxn modelId="{BD9274CB-BD5D-42F6-8E01-C5F9A7350A3B}" type="presOf" srcId="{A42A7991-9E35-4916-8C81-C30B99D8A84E}" destId="{3EF7B832-F8BD-42B8-8E0F-BDF2391DA838}" srcOrd="0" destOrd="0" presId="urn:microsoft.com/office/officeart/2005/8/layout/hierarchy3"/>
    <dgm:cxn modelId="{96E230CC-7728-4B99-BFF2-6043DA07C664}" type="presOf" srcId="{FBE27557-C35A-4DA2-8F42-376F1A287BA8}" destId="{810A28B1-F9B9-462B-AEC8-DB72CC0381C5}" srcOrd="0" destOrd="0" presId="urn:microsoft.com/office/officeart/2005/8/layout/hierarchy3"/>
    <dgm:cxn modelId="{CFAF65D9-6A6F-4B89-A233-E992C0C9B5A9}" type="presOf" srcId="{80D13055-A1D5-414D-81BD-7B2576D47928}" destId="{E0C8FAB0-2A0F-4409-A96B-B56672977492}" srcOrd="0" destOrd="0" presId="urn:microsoft.com/office/officeart/2005/8/layout/hierarchy3"/>
    <dgm:cxn modelId="{ADE317DA-D532-4307-94D6-C253C57A3ACC}" type="presOf" srcId="{2499ACF0-8185-4730-8302-2023DE3F8AD8}" destId="{E64C8105-62B5-413A-94D5-27ED5C4556E1}" srcOrd="0" destOrd="0" presId="urn:microsoft.com/office/officeart/2005/8/layout/hierarchy3"/>
    <dgm:cxn modelId="{F2C25AE3-8196-443E-95AD-33B3296C0DBF}" type="presOf" srcId="{0E27D90B-EA65-4108-9AFC-6CF6CC58DB9A}" destId="{227CDDBB-AFFE-4A94-9839-18E7ACF88C3B}" srcOrd="1" destOrd="0" presId="urn:microsoft.com/office/officeart/2005/8/layout/hierarchy3"/>
    <dgm:cxn modelId="{D1298FEF-B788-4EC7-9CEE-7F223EDDF856}" type="presOf" srcId="{B5F70816-AD19-40AD-8D8B-60CEB831D21F}" destId="{278E43A4-6571-42BF-8795-C4C43A7B0A5D}" srcOrd="0" destOrd="0" presId="urn:microsoft.com/office/officeart/2005/8/layout/hierarchy3"/>
    <dgm:cxn modelId="{65216AA2-0061-45CD-9051-D42833CFA85B}" type="presParOf" srcId="{E0C8FAB0-2A0F-4409-A96B-B56672977492}" destId="{6F6CA9FC-2406-412C-89B7-21F7D13C27D6}" srcOrd="0" destOrd="0" presId="urn:microsoft.com/office/officeart/2005/8/layout/hierarchy3"/>
    <dgm:cxn modelId="{2B8DA4E0-D433-49FA-B64F-E38A2055E756}" type="presParOf" srcId="{6F6CA9FC-2406-412C-89B7-21F7D13C27D6}" destId="{C35DB165-D82F-405F-A1A0-D418CDC69CE9}" srcOrd="0" destOrd="0" presId="urn:microsoft.com/office/officeart/2005/8/layout/hierarchy3"/>
    <dgm:cxn modelId="{40DE2215-9AE7-45A3-B811-ED14F59A495B}" type="presParOf" srcId="{C35DB165-D82F-405F-A1A0-D418CDC69CE9}" destId="{810A28B1-F9B9-462B-AEC8-DB72CC0381C5}" srcOrd="0" destOrd="0" presId="urn:microsoft.com/office/officeart/2005/8/layout/hierarchy3"/>
    <dgm:cxn modelId="{F7DC9493-4DD1-4D9E-9FF0-301480EAF233}" type="presParOf" srcId="{C35DB165-D82F-405F-A1A0-D418CDC69CE9}" destId="{D8B51A32-4590-4D9C-B633-6404CBC053E5}" srcOrd="1" destOrd="0" presId="urn:microsoft.com/office/officeart/2005/8/layout/hierarchy3"/>
    <dgm:cxn modelId="{4405F948-1250-4EEE-A855-8A3F4CBC2AE7}" type="presParOf" srcId="{6F6CA9FC-2406-412C-89B7-21F7D13C27D6}" destId="{C62B9AF2-FC65-4BC6-A3A6-52B8659161F1}" srcOrd="1" destOrd="0" presId="urn:microsoft.com/office/officeart/2005/8/layout/hierarchy3"/>
    <dgm:cxn modelId="{989EA559-5B5E-4046-AAEC-1DB2D41113B9}" type="presParOf" srcId="{C62B9AF2-FC65-4BC6-A3A6-52B8659161F1}" destId="{DC000620-08CB-4B66-B9B5-E12E139F4AF6}" srcOrd="0" destOrd="0" presId="urn:microsoft.com/office/officeart/2005/8/layout/hierarchy3"/>
    <dgm:cxn modelId="{18B710D3-01CC-4FDE-8354-CA0E50617E80}" type="presParOf" srcId="{C62B9AF2-FC65-4BC6-A3A6-52B8659161F1}" destId="{E64C8105-62B5-413A-94D5-27ED5C4556E1}" srcOrd="1" destOrd="0" presId="urn:microsoft.com/office/officeart/2005/8/layout/hierarchy3"/>
    <dgm:cxn modelId="{698D596C-8984-47F7-808B-9F89AEB732B0}" type="presParOf" srcId="{C62B9AF2-FC65-4BC6-A3A6-52B8659161F1}" destId="{3ED76335-8213-43D5-9BAF-E4B717CF2F21}" srcOrd="2" destOrd="0" presId="urn:microsoft.com/office/officeart/2005/8/layout/hierarchy3"/>
    <dgm:cxn modelId="{E5653B3E-F766-4AD7-8D09-8F2456570018}" type="presParOf" srcId="{C62B9AF2-FC65-4BC6-A3A6-52B8659161F1}" destId="{6163D3ED-F430-4B74-88AE-95C563967A70}" srcOrd="3" destOrd="0" presId="urn:microsoft.com/office/officeart/2005/8/layout/hierarchy3"/>
    <dgm:cxn modelId="{4321E69B-5EC7-4801-83F0-83FCC825D619}" type="presParOf" srcId="{E0C8FAB0-2A0F-4409-A96B-B56672977492}" destId="{88257742-1D59-4CEB-BF40-A37579FE9967}" srcOrd="1" destOrd="0" presId="urn:microsoft.com/office/officeart/2005/8/layout/hierarchy3"/>
    <dgm:cxn modelId="{4FC6F917-6DC5-4689-A511-4C15FCDE454B}" type="presParOf" srcId="{88257742-1D59-4CEB-BF40-A37579FE9967}" destId="{E030B135-9288-4ED6-BF01-38541531765B}" srcOrd="0" destOrd="0" presId="urn:microsoft.com/office/officeart/2005/8/layout/hierarchy3"/>
    <dgm:cxn modelId="{2736D9B7-1D47-4E3D-9078-FBCCE8C9ED1D}" type="presParOf" srcId="{E030B135-9288-4ED6-BF01-38541531765B}" destId="{5428248C-B113-4430-8A7E-7E8ACA3D449B}" srcOrd="0" destOrd="0" presId="urn:microsoft.com/office/officeart/2005/8/layout/hierarchy3"/>
    <dgm:cxn modelId="{22E7C02C-30E1-457D-BDD1-1A098CD9D3E7}" type="presParOf" srcId="{E030B135-9288-4ED6-BF01-38541531765B}" destId="{227CDDBB-AFFE-4A94-9839-18E7ACF88C3B}" srcOrd="1" destOrd="0" presId="urn:microsoft.com/office/officeart/2005/8/layout/hierarchy3"/>
    <dgm:cxn modelId="{E85B5BA6-EA11-4931-A735-1100B6538807}" type="presParOf" srcId="{88257742-1D59-4CEB-BF40-A37579FE9967}" destId="{B7C9A91B-2741-4564-9F44-33AEA6FC6361}" srcOrd="1" destOrd="0" presId="urn:microsoft.com/office/officeart/2005/8/layout/hierarchy3"/>
    <dgm:cxn modelId="{3DA2D471-FDD3-40A9-B5DD-2E4B68A4A40C}" type="presParOf" srcId="{B7C9A91B-2741-4564-9F44-33AEA6FC6361}" destId="{278E43A4-6571-42BF-8795-C4C43A7B0A5D}" srcOrd="0" destOrd="0" presId="urn:microsoft.com/office/officeart/2005/8/layout/hierarchy3"/>
    <dgm:cxn modelId="{9E9E412A-193D-4A2D-9485-6B6CE2394E6A}" type="presParOf" srcId="{B7C9A91B-2741-4564-9F44-33AEA6FC6361}" destId="{3EF7B832-F8BD-42B8-8E0F-BDF2391DA838}" srcOrd="1" destOrd="0" presId="urn:microsoft.com/office/officeart/2005/8/layout/hierarchy3"/>
    <dgm:cxn modelId="{E1C6FC44-67F4-469B-AC05-F2084616AF71}" type="presParOf" srcId="{B7C9A91B-2741-4564-9F44-33AEA6FC6361}" destId="{4F0CB42D-5E31-4950-8816-28AAF9DC3223}" srcOrd="2" destOrd="0" presId="urn:microsoft.com/office/officeart/2005/8/layout/hierarchy3"/>
    <dgm:cxn modelId="{3EB28D9C-E400-45E2-B983-8D2094AFD626}" type="presParOf" srcId="{B7C9A91B-2741-4564-9F44-33AEA6FC6361}" destId="{C5394744-0A4C-4C94-B5AF-FA689FC5F276}"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0D13055-A1D5-414D-81BD-7B2576D47928}"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US"/>
        </a:p>
      </dgm:t>
    </dgm:pt>
    <dgm:pt modelId="{FBE27557-C35A-4DA2-8F42-376F1A287BA8}">
      <dgm:prSet phldrT="[Text]" custT="1"/>
      <dgm:spPr>
        <a:solidFill>
          <a:srgbClr val="336B90"/>
        </a:solidFill>
      </dgm:spPr>
      <dgm:t>
        <a:bodyPr/>
        <a:lstStyle/>
        <a:p>
          <a:r>
            <a:rPr lang="en-US" sz="2300" dirty="0"/>
            <a:t>Prescription Opioids</a:t>
          </a:r>
        </a:p>
      </dgm:t>
    </dgm:pt>
    <dgm:pt modelId="{C241138F-2383-427B-8F53-FB599FA70533}" type="parTrans" cxnId="{D52A4E5B-6A1C-4C7F-9292-FDDF1809BFB0}">
      <dgm:prSet/>
      <dgm:spPr/>
      <dgm:t>
        <a:bodyPr/>
        <a:lstStyle/>
        <a:p>
          <a:endParaRPr lang="en-US"/>
        </a:p>
      </dgm:t>
    </dgm:pt>
    <dgm:pt modelId="{EFB141A4-C8B8-48D1-83C0-D3D599A3942D}" type="sibTrans" cxnId="{D52A4E5B-6A1C-4C7F-9292-FDDF1809BFB0}">
      <dgm:prSet/>
      <dgm:spPr/>
      <dgm:t>
        <a:bodyPr/>
        <a:lstStyle/>
        <a:p>
          <a:endParaRPr lang="en-US"/>
        </a:p>
      </dgm:t>
    </dgm:pt>
    <dgm:pt modelId="{2499ACF0-8185-4730-8302-2023DE3F8AD8}">
      <dgm:prSet phldrT="[Text]" custT="1"/>
      <dgm:spPr/>
      <dgm:t>
        <a:bodyPr/>
        <a:lstStyle/>
        <a:p>
          <a:pPr algn="l"/>
          <a:r>
            <a:rPr lang="en-US" sz="1200" dirty="0"/>
            <a:t>Opioids block the transmission of pain messages to the brain and produce euphoria followed by drowsiness</a:t>
          </a:r>
        </a:p>
      </dgm:t>
    </dgm:pt>
    <dgm:pt modelId="{F9C764D1-170B-49BC-A3BC-B43E4EB97332}" type="parTrans" cxnId="{55184D87-FC2B-4078-A72E-705566D6B025}">
      <dgm:prSet/>
      <dgm:spPr/>
      <dgm:t>
        <a:bodyPr/>
        <a:lstStyle/>
        <a:p>
          <a:endParaRPr lang="en-US"/>
        </a:p>
      </dgm:t>
    </dgm:pt>
    <dgm:pt modelId="{7A6EAAA0-8D06-4734-935B-00103835ED1E}" type="sibTrans" cxnId="{55184D87-FC2B-4078-A72E-705566D6B025}">
      <dgm:prSet/>
      <dgm:spPr/>
      <dgm:t>
        <a:bodyPr/>
        <a:lstStyle/>
        <a:p>
          <a:endParaRPr lang="en-US"/>
        </a:p>
      </dgm:t>
    </dgm:pt>
    <dgm:pt modelId="{E2BE0E1D-1F63-4A79-93DD-D512D83D0C9C}">
      <dgm:prSet phldrT="[Text]" custT="1"/>
      <dgm:spPr/>
      <dgm:t>
        <a:bodyPr/>
        <a:lstStyle/>
        <a:p>
          <a:pPr algn="l"/>
          <a:r>
            <a:rPr lang="en-US" sz="1200" dirty="0"/>
            <a:t>Children may be left unsupervised by parents who “nod out” while under the influence </a:t>
          </a:r>
        </a:p>
      </dgm:t>
    </dgm:pt>
    <dgm:pt modelId="{4F211118-53DE-4D69-BD4E-CCE9C9B74195}" type="parTrans" cxnId="{9F8FC3AE-3BCA-4A9B-AD3F-3392EE9208C5}">
      <dgm:prSet/>
      <dgm:spPr/>
      <dgm:t>
        <a:bodyPr/>
        <a:lstStyle/>
        <a:p>
          <a:endParaRPr lang="en-US"/>
        </a:p>
      </dgm:t>
    </dgm:pt>
    <dgm:pt modelId="{EEC7BE6B-FEAC-4F71-B546-431A4C3E4243}" type="sibTrans" cxnId="{9F8FC3AE-3BCA-4A9B-AD3F-3392EE9208C5}">
      <dgm:prSet/>
      <dgm:spPr/>
      <dgm:t>
        <a:bodyPr/>
        <a:lstStyle/>
        <a:p>
          <a:endParaRPr lang="en-US"/>
        </a:p>
      </dgm:t>
    </dgm:pt>
    <dgm:pt modelId="{A42A7991-9E35-4916-8C81-C30B99D8A84E}">
      <dgm:prSet phldrT="[Text]" custT="1"/>
      <dgm:spPr/>
      <dgm:t>
        <a:bodyPr/>
        <a:lstStyle/>
        <a:p>
          <a:pPr algn="l"/>
          <a:r>
            <a:rPr lang="en-US" sz="1200" dirty="0"/>
            <a:t>These drugs are stimulants to the central nervous system, which increase alertness, attention, and energy. </a:t>
          </a:r>
        </a:p>
        <a:p>
          <a:pPr algn="l"/>
          <a:r>
            <a:rPr lang="en-US" sz="1200" dirty="0"/>
            <a:t>A stimulant user may feel energetic with very little sleep </a:t>
          </a:r>
        </a:p>
      </dgm:t>
    </dgm:pt>
    <dgm:pt modelId="{B5F70816-AD19-40AD-8D8B-60CEB831D21F}" type="parTrans" cxnId="{5694BE0D-BEA6-4A42-884C-4BAB144CED37}">
      <dgm:prSet/>
      <dgm:spPr/>
      <dgm:t>
        <a:bodyPr/>
        <a:lstStyle/>
        <a:p>
          <a:endParaRPr lang="en-US"/>
        </a:p>
      </dgm:t>
    </dgm:pt>
    <dgm:pt modelId="{855C0123-1FD1-4DC9-9FBA-5204F1EA5338}" type="sibTrans" cxnId="{5694BE0D-BEA6-4A42-884C-4BAB144CED37}">
      <dgm:prSet/>
      <dgm:spPr/>
      <dgm:t>
        <a:bodyPr/>
        <a:lstStyle/>
        <a:p>
          <a:endParaRPr lang="en-US"/>
        </a:p>
      </dgm:t>
    </dgm:pt>
    <dgm:pt modelId="{07310271-1517-4EB2-96FE-A19E291959C3}">
      <dgm:prSet phldrT="[Text]" custT="1"/>
      <dgm:spPr/>
      <dgm:t>
        <a:bodyPr/>
        <a:lstStyle/>
        <a:p>
          <a:pPr algn="l"/>
          <a:r>
            <a:rPr lang="en-US" sz="1200" dirty="0"/>
            <a:t>Because their own sleep-wake cycles are so distorted by the drug, parents on amphetamines may be unable to attend to a child’s need for structure and pattern. </a:t>
          </a:r>
        </a:p>
      </dgm:t>
    </dgm:pt>
    <dgm:pt modelId="{3508296C-5098-4FE9-9DEA-C1271C0968B9}" type="parTrans" cxnId="{39C3FE11-C023-4F6B-8562-08591D5BAC7A}">
      <dgm:prSet/>
      <dgm:spPr/>
      <dgm:t>
        <a:bodyPr/>
        <a:lstStyle/>
        <a:p>
          <a:endParaRPr lang="en-US"/>
        </a:p>
      </dgm:t>
    </dgm:pt>
    <dgm:pt modelId="{A0F1D952-300D-4A56-B13B-381E50EC50C2}" type="sibTrans" cxnId="{39C3FE11-C023-4F6B-8562-08591D5BAC7A}">
      <dgm:prSet/>
      <dgm:spPr/>
      <dgm:t>
        <a:bodyPr/>
        <a:lstStyle/>
        <a:p>
          <a:endParaRPr lang="en-US"/>
        </a:p>
      </dgm:t>
    </dgm:pt>
    <dgm:pt modelId="{0E27D90B-EA65-4108-9AFC-6CF6CC58DB9A}">
      <dgm:prSet phldrT="[Text]" custT="1"/>
      <dgm:spPr>
        <a:solidFill>
          <a:srgbClr val="336B90"/>
        </a:solidFill>
      </dgm:spPr>
      <dgm:t>
        <a:bodyPr/>
        <a:lstStyle/>
        <a:p>
          <a:r>
            <a:rPr lang="en-US" sz="2300" dirty="0"/>
            <a:t>Stimulants</a:t>
          </a:r>
        </a:p>
      </dgm:t>
    </dgm:pt>
    <dgm:pt modelId="{866F0216-39E6-4295-96E3-2E904CC91D4E}" type="sibTrans" cxnId="{DDB90F86-5455-406A-9649-83D619970456}">
      <dgm:prSet/>
      <dgm:spPr/>
      <dgm:t>
        <a:bodyPr/>
        <a:lstStyle/>
        <a:p>
          <a:endParaRPr lang="en-US"/>
        </a:p>
      </dgm:t>
    </dgm:pt>
    <dgm:pt modelId="{48F3D80D-1784-47AA-B087-9A8D285DCD0E}" type="parTrans" cxnId="{DDB90F86-5455-406A-9649-83D619970456}">
      <dgm:prSet/>
      <dgm:spPr/>
      <dgm:t>
        <a:bodyPr/>
        <a:lstStyle/>
        <a:p>
          <a:endParaRPr lang="en-US"/>
        </a:p>
      </dgm:t>
    </dgm:pt>
    <dgm:pt modelId="{E0C8FAB0-2A0F-4409-A96B-B56672977492}" type="pres">
      <dgm:prSet presAssocID="{80D13055-A1D5-414D-81BD-7B2576D47928}" presName="diagram" presStyleCnt="0">
        <dgm:presLayoutVars>
          <dgm:chPref val="1"/>
          <dgm:dir/>
          <dgm:animOne val="branch"/>
          <dgm:animLvl val="lvl"/>
          <dgm:resizeHandles/>
        </dgm:presLayoutVars>
      </dgm:prSet>
      <dgm:spPr/>
    </dgm:pt>
    <dgm:pt modelId="{6F6CA9FC-2406-412C-89B7-21F7D13C27D6}" type="pres">
      <dgm:prSet presAssocID="{FBE27557-C35A-4DA2-8F42-376F1A287BA8}" presName="root" presStyleCnt="0"/>
      <dgm:spPr/>
    </dgm:pt>
    <dgm:pt modelId="{C35DB165-D82F-405F-A1A0-D418CDC69CE9}" type="pres">
      <dgm:prSet presAssocID="{FBE27557-C35A-4DA2-8F42-376F1A287BA8}" presName="rootComposite" presStyleCnt="0"/>
      <dgm:spPr/>
    </dgm:pt>
    <dgm:pt modelId="{810A28B1-F9B9-462B-AEC8-DB72CC0381C5}" type="pres">
      <dgm:prSet presAssocID="{FBE27557-C35A-4DA2-8F42-376F1A287BA8}" presName="rootText" presStyleLbl="node1" presStyleIdx="0" presStyleCnt="2" custScaleX="91998" custLinFactNeighborX="-28435" custLinFactNeighborY="4403"/>
      <dgm:spPr/>
    </dgm:pt>
    <dgm:pt modelId="{D8B51A32-4590-4D9C-B633-6404CBC053E5}" type="pres">
      <dgm:prSet presAssocID="{FBE27557-C35A-4DA2-8F42-376F1A287BA8}" presName="rootConnector" presStyleLbl="node1" presStyleIdx="0" presStyleCnt="2"/>
      <dgm:spPr/>
    </dgm:pt>
    <dgm:pt modelId="{C62B9AF2-FC65-4BC6-A3A6-52B8659161F1}" type="pres">
      <dgm:prSet presAssocID="{FBE27557-C35A-4DA2-8F42-376F1A287BA8}" presName="childShape" presStyleCnt="0"/>
      <dgm:spPr/>
    </dgm:pt>
    <dgm:pt modelId="{DC000620-08CB-4B66-B9B5-E12E139F4AF6}" type="pres">
      <dgm:prSet presAssocID="{F9C764D1-170B-49BC-A3BC-B43E4EB97332}" presName="Name13" presStyleLbl="parChTrans1D2" presStyleIdx="0" presStyleCnt="4"/>
      <dgm:spPr/>
    </dgm:pt>
    <dgm:pt modelId="{E64C8105-62B5-413A-94D5-27ED5C4556E1}" type="pres">
      <dgm:prSet presAssocID="{2499ACF0-8185-4730-8302-2023DE3F8AD8}" presName="childText" presStyleLbl="bgAcc1" presStyleIdx="0" presStyleCnt="4" custScaleX="90167" custScaleY="67138" custLinFactNeighborX="-2294" custLinFactNeighborY="-1885">
        <dgm:presLayoutVars>
          <dgm:bulletEnabled val="1"/>
        </dgm:presLayoutVars>
      </dgm:prSet>
      <dgm:spPr/>
    </dgm:pt>
    <dgm:pt modelId="{3ED76335-8213-43D5-9BAF-E4B717CF2F21}" type="pres">
      <dgm:prSet presAssocID="{4F211118-53DE-4D69-BD4E-CCE9C9B74195}" presName="Name13" presStyleLbl="parChTrans1D2" presStyleIdx="1" presStyleCnt="4"/>
      <dgm:spPr/>
    </dgm:pt>
    <dgm:pt modelId="{6163D3ED-F430-4B74-88AE-95C563967A70}" type="pres">
      <dgm:prSet presAssocID="{E2BE0E1D-1F63-4A79-93DD-D512D83D0C9C}" presName="childText" presStyleLbl="bgAcc1" presStyleIdx="1" presStyleCnt="4" custScaleX="90167" custScaleY="65435" custLinFactNeighborX="-608" custLinFactNeighborY="-2860">
        <dgm:presLayoutVars>
          <dgm:bulletEnabled val="1"/>
        </dgm:presLayoutVars>
      </dgm:prSet>
      <dgm:spPr/>
    </dgm:pt>
    <dgm:pt modelId="{88257742-1D59-4CEB-BF40-A37579FE9967}" type="pres">
      <dgm:prSet presAssocID="{0E27D90B-EA65-4108-9AFC-6CF6CC58DB9A}" presName="root" presStyleCnt="0"/>
      <dgm:spPr/>
    </dgm:pt>
    <dgm:pt modelId="{E030B135-9288-4ED6-BF01-38541531765B}" type="pres">
      <dgm:prSet presAssocID="{0E27D90B-EA65-4108-9AFC-6CF6CC58DB9A}" presName="rootComposite" presStyleCnt="0"/>
      <dgm:spPr/>
    </dgm:pt>
    <dgm:pt modelId="{5428248C-B113-4430-8A7E-7E8ACA3D449B}" type="pres">
      <dgm:prSet presAssocID="{0E27D90B-EA65-4108-9AFC-6CF6CC58DB9A}" presName="rootText" presStyleLbl="node1" presStyleIdx="1" presStyleCnt="2" custScaleX="94810" custLinFactNeighborX="-11805" custLinFactNeighborY="-11805"/>
      <dgm:spPr/>
    </dgm:pt>
    <dgm:pt modelId="{227CDDBB-AFFE-4A94-9839-18E7ACF88C3B}" type="pres">
      <dgm:prSet presAssocID="{0E27D90B-EA65-4108-9AFC-6CF6CC58DB9A}" presName="rootConnector" presStyleLbl="node1" presStyleIdx="1" presStyleCnt="2"/>
      <dgm:spPr/>
    </dgm:pt>
    <dgm:pt modelId="{B7C9A91B-2741-4564-9F44-33AEA6FC6361}" type="pres">
      <dgm:prSet presAssocID="{0E27D90B-EA65-4108-9AFC-6CF6CC58DB9A}" presName="childShape" presStyleCnt="0"/>
      <dgm:spPr/>
    </dgm:pt>
    <dgm:pt modelId="{278E43A4-6571-42BF-8795-C4C43A7B0A5D}" type="pres">
      <dgm:prSet presAssocID="{B5F70816-AD19-40AD-8D8B-60CEB831D21F}" presName="Name13" presStyleLbl="parChTrans1D2" presStyleIdx="2" presStyleCnt="4"/>
      <dgm:spPr/>
    </dgm:pt>
    <dgm:pt modelId="{3EF7B832-F8BD-42B8-8E0F-BDF2391DA838}" type="pres">
      <dgm:prSet presAssocID="{A42A7991-9E35-4916-8C81-C30B99D8A84E}" presName="childText" presStyleLbl="bgAcc1" presStyleIdx="2" presStyleCnt="4" custScaleX="83699" custScaleY="86984" custLinFactNeighborX="-3995" custLinFactNeighborY="-10801">
        <dgm:presLayoutVars>
          <dgm:bulletEnabled val="1"/>
        </dgm:presLayoutVars>
      </dgm:prSet>
      <dgm:spPr/>
    </dgm:pt>
    <dgm:pt modelId="{4F0CB42D-5E31-4950-8816-28AAF9DC3223}" type="pres">
      <dgm:prSet presAssocID="{3508296C-5098-4FE9-9DEA-C1271C0968B9}" presName="Name13" presStyleLbl="parChTrans1D2" presStyleIdx="3" presStyleCnt="4"/>
      <dgm:spPr/>
    </dgm:pt>
    <dgm:pt modelId="{C5394744-0A4C-4C94-B5AF-FA689FC5F276}" type="pres">
      <dgm:prSet presAssocID="{07310271-1517-4EB2-96FE-A19E291959C3}" presName="childText" presStyleLbl="bgAcc1" presStyleIdx="3" presStyleCnt="4" custScaleX="82126" custScaleY="83069" custLinFactNeighborX="-2168" custLinFactNeighborY="-26610">
        <dgm:presLayoutVars>
          <dgm:bulletEnabled val="1"/>
        </dgm:presLayoutVars>
      </dgm:prSet>
      <dgm:spPr/>
    </dgm:pt>
  </dgm:ptLst>
  <dgm:cxnLst>
    <dgm:cxn modelId="{5694BE0D-BEA6-4A42-884C-4BAB144CED37}" srcId="{0E27D90B-EA65-4108-9AFC-6CF6CC58DB9A}" destId="{A42A7991-9E35-4916-8C81-C30B99D8A84E}" srcOrd="0" destOrd="0" parTransId="{B5F70816-AD19-40AD-8D8B-60CEB831D21F}" sibTransId="{855C0123-1FD1-4DC9-9FBA-5204F1EA5338}"/>
    <dgm:cxn modelId="{25E6B10F-4DA0-4641-BB5E-DADF93916B4A}" type="presOf" srcId="{07310271-1517-4EB2-96FE-A19E291959C3}" destId="{C5394744-0A4C-4C94-B5AF-FA689FC5F276}" srcOrd="0" destOrd="0" presId="urn:microsoft.com/office/officeart/2005/8/layout/hierarchy3"/>
    <dgm:cxn modelId="{39C3FE11-C023-4F6B-8562-08591D5BAC7A}" srcId="{0E27D90B-EA65-4108-9AFC-6CF6CC58DB9A}" destId="{07310271-1517-4EB2-96FE-A19E291959C3}" srcOrd="1" destOrd="0" parTransId="{3508296C-5098-4FE9-9DEA-C1271C0968B9}" sibTransId="{A0F1D952-300D-4A56-B13B-381E50EC50C2}"/>
    <dgm:cxn modelId="{FC6B3020-0B5E-43BB-BDB4-EAEB3B90D8DD}" type="presOf" srcId="{80D13055-A1D5-414D-81BD-7B2576D47928}" destId="{E0C8FAB0-2A0F-4409-A96B-B56672977492}" srcOrd="0" destOrd="0" presId="urn:microsoft.com/office/officeart/2005/8/layout/hierarchy3"/>
    <dgm:cxn modelId="{209CC024-4EA5-48E9-B0F3-F388B69932C8}" type="presOf" srcId="{E2BE0E1D-1F63-4A79-93DD-D512D83D0C9C}" destId="{6163D3ED-F430-4B74-88AE-95C563967A70}" srcOrd="0" destOrd="0" presId="urn:microsoft.com/office/officeart/2005/8/layout/hierarchy3"/>
    <dgm:cxn modelId="{5803A03E-C857-41CD-B0E0-6EB7389D7814}" type="presOf" srcId="{0E27D90B-EA65-4108-9AFC-6CF6CC58DB9A}" destId="{5428248C-B113-4430-8A7E-7E8ACA3D449B}" srcOrd="0" destOrd="0" presId="urn:microsoft.com/office/officeart/2005/8/layout/hierarchy3"/>
    <dgm:cxn modelId="{D52A4E5B-6A1C-4C7F-9292-FDDF1809BFB0}" srcId="{80D13055-A1D5-414D-81BD-7B2576D47928}" destId="{FBE27557-C35A-4DA2-8F42-376F1A287BA8}" srcOrd="0" destOrd="0" parTransId="{C241138F-2383-427B-8F53-FB599FA70533}" sibTransId="{EFB141A4-C8B8-48D1-83C0-D3D599A3942D}"/>
    <dgm:cxn modelId="{0C29F270-6897-4AC2-8263-C9B1AF5F1807}" type="presOf" srcId="{A42A7991-9E35-4916-8C81-C30B99D8A84E}" destId="{3EF7B832-F8BD-42B8-8E0F-BDF2391DA838}" srcOrd="0" destOrd="0" presId="urn:microsoft.com/office/officeart/2005/8/layout/hierarchy3"/>
    <dgm:cxn modelId="{8C859073-A741-4C89-837D-8B85FE043590}" type="presOf" srcId="{3508296C-5098-4FE9-9DEA-C1271C0968B9}" destId="{4F0CB42D-5E31-4950-8816-28AAF9DC3223}" srcOrd="0" destOrd="0" presId="urn:microsoft.com/office/officeart/2005/8/layout/hierarchy3"/>
    <dgm:cxn modelId="{FB682356-EC96-41E4-BB4A-9E3D10FF5536}" type="presOf" srcId="{FBE27557-C35A-4DA2-8F42-376F1A287BA8}" destId="{D8B51A32-4590-4D9C-B633-6404CBC053E5}" srcOrd="1" destOrd="0" presId="urn:microsoft.com/office/officeart/2005/8/layout/hierarchy3"/>
    <dgm:cxn modelId="{DDB90F86-5455-406A-9649-83D619970456}" srcId="{80D13055-A1D5-414D-81BD-7B2576D47928}" destId="{0E27D90B-EA65-4108-9AFC-6CF6CC58DB9A}" srcOrd="1" destOrd="0" parTransId="{48F3D80D-1784-47AA-B087-9A8D285DCD0E}" sibTransId="{866F0216-39E6-4295-96E3-2E904CC91D4E}"/>
    <dgm:cxn modelId="{55184D87-FC2B-4078-A72E-705566D6B025}" srcId="{FBE27557-C35A-4DA2-8F42-376F1A287BA8}" destId="{2499ACF0-8185-4730-8302-2023DE3F8AD8}" srcOrd="0" destOrd="0" parTransId="{F9C764D1-170B-49BC-A3BC-B43E4EB97332}" sibTransId="{7A6EAAA0-8D06-4734-935B-00103835ED1E}"/>
    <dgm:cxn modelId="{1AC8D5A1-E6A1-4EB7-A1E4-30544CD20574}" type="presOf" srcId="{B5F70816-AD19-40AD-8D8B-60CEB831D21F}" destId="{278E43A4-6571-42BF-8795-C4C43A7B0A5D}" srcOrd="0" destOrd="0" presId="urn:microsoft.com/office/officeart/2005/8/layout/hierarchy3"/>
    <dgm:cxn modelId="{9F8FC3AE-3BCA-4A9B-AD3F-3392EE9208C5}" srcId="{FBE27557-C35A-4DA2-8F42-376F1A287BA8}" destId="{E2BE0E1D-1F63-4A79-93DD-D512D83D0C9C}" srcOrd="1" destOrd="0" parTransId="{4F211118-53DE-4D69-BD4E-CCE9C9B74195}" sibTransId="{EEC7BE6B-FEAC-4F71-B546-431A4C3E4243}"/>
    <dgm:cxn modelId="{DF0FEFD4-1115-4F39-84C1-180F95C9719E}" type="presOf" srcId="{F9C764D1-170B-49BC-A3BC-B43E4EB97332}" destId="{DC000620-08CB-4B66-B9B5-E12E139F4AF6}" srcOrd="0" destOrd="0" presId="urn:microsoft.com/office/officeart/2005/8/layout/hierarchy3"/>
    <dgm:cxn modelId="{2F599FD9-4E0A-4C88-8192-B18594AC1F9D}" type="presOf" srcId="{FBE27557-C35A-4DA2-8F42-376F1A287BA8}" destId="{810A28B1-F9B9-462B-AEC8-DB72CC0381C5}" srcOrd="0" destOrd="0" presId="urn:microsoft.com/office/officeart/2005/8/layout/hierarchy3"/>
    <dgm:cxn modelId="{C5345CE7-4BBD-462E-A826-9855C04BC4F5}" type="presOf" srcId="{0E27D90B-EA65-4108-9AFC-6CF6CC58DB9A}" destId="{227CDDBB-AFFE-4A94-9839-18E7ACF88C3B}" srcOrd="1" destOrd="0" presId="urn:microsoft.com/office/officeart/2005/8/layout/hierarchy3"/>
    <dgm:cxn modelId="{CABF58F7-D4EE-451E-BD09-13402D3232C1}" type="presOf" srcId="{4F211118-53DE-4D69-BD4E-CCE9C9B74195}" destId="{3ED76335-8213-43D5-9BAF-E4B717CF2F21}" srcOrd="0" destOrd="0" presId="urn:microsoft.com/office/officeart/2005/8/layout/hierarchy3"/>
    <dgm:cxn modelId="{31B1C9F8-B2E0-4DA9-9B88-6724005A3682}" type="presOf" srcId="{2499ACF0-8185-4730-8302-2023DE3F8AD8}" destId="{E64C8105-62B5-413A-94D5-27ED5C4556E1}" srcOrd="0" destOrd="0" presId="urn:microsoft.com/office/officeart/2005/8/layout/hierarchy3"/>
    <dgm:cxn modelId="{139BEACF-DC75-4237-9ED0-6EA4168C86B8}" type="presParOf" srcId="{E0C8FAB0-2A0F-4409-A96B-B56672977492}" destId="{6F6CA9FC-2406-412C-89B7-21F7D13C27D6}" srcOrd="0" destOrd="0" presId="urn:microsoft.com/office/officeart/2005/8/layout/hierarchy3"/>
    <dgm:cxn modelId="{431101BA-19CA-4985-A79B-271A99C27D33}" type="presParOf" srcId="{6F6CA9FC-2406-412C-89B7-21F7D13C27D6}" destId="{C35DB165-D82F-405F-A1A0-D418CDC69CE9}" srcOrd="0" destOrd="0" presId="urn:microsoft.com/office/officeart/2005/8/layout/hierarchy3"/>
    <dgm:cxn modelId="{2D7E3224-D64A-48CA-A259-A517BEB089BA}" type="presParOf" srcId="{C35DB165-D82F-405F-A1A0-D418CDC69CE9}" destId="{810A28B1-F9B9-462B-AEC8-DB72CC0381C5}" srcOrd="0" destOrd="0" presId="urn:microsoft.com/office/officeart/2005/8/layout/hierarchy3"/>
    <dgm:cxn modelId="{FB0B5DE0-C29A-40DD-916A-56396F233BAC}" type="presParOf" srcId="{C35DB165-D82F-405F-A1A0-D418CDC69CE9}" destId="{D8B51A32-4590-4D9C-B633-6404CBC053E5}" srcOrd="1" destOrd="0" presId="urn:microsoft.com/office/officeart/2005/8/layout/hierarchy3"/>
    <dgm:cxn modelId="{E6480C0C-B5DD-4432-A5D7-7862C7939967}" type="presParOf" srcId="{6F6CA9FC-2406-412C-89B7-21F7D13C27D6}" destId="{C62B9AF2-FC65-4BC6-A3A6-52B8659161F1}" srcOrd="1" destOrd="0" presId="urn:microsoft.com/office/officeart/2005/8/layout/hierarchy3"/>
    <dgm:cxn modelId="{32C4E44B-A52F-4065-97F2-A01DD089351E}" type="presParOf" srcId="{C62B9AF2-FC65-4BC6-A3A6-52B8659161F1}" destId="{DC000620-08CB-4B66-B9B5-E12E139F4AF6}" srcOrd="0" destOrd="0" presId="urn:microsoft.com/office/officeart/2005/8/layout/hierarchy3"/>
    <dgm:cxn modelId="{0BAC65B7-FAF6-49CC-9DCF-8BDB917AE5C7}" type="presParOf" srcId="{C62B9AF2-FC65-4BC6-A3A6-52B8659161F1}" destId="{E64C8105-62B5-413A-94D5-27ED5C4556E1}" srcOrd="1" destOrd="0" presId="urn:microsoft.com/office/officeart/2005/8/layout/hierarchy3"/>
    <dgm:cxn modelId="{25AD4FD9-9894-48ED-84F0-14B2D294FAC1}" type="presParOf" srcId="{C62B9AF2-FC65-4BC6-A3A6-52B8659161F1}" destId="{3ED76335-8213-43D5-9BAF-E4B717CF2F21}" srcOrd="2" destOrd="0" presId="urn:microsoft.com/office/officeart/2005/8/layout/hierarchy3"/>
    <dgm:cxn modelId="{A5C46D17-9A51-4CEF-9253-35EC2B405F4B}" type="presParOf" srcId="{C62B9AF2-FC65-4BC6-A3A6-52B8659161F1}" destId="{6163D3ED-F430-4B74-88AE-95C563967A70}" srcOrd="3" destOrd="0" presId="urn:microsoft.com/office/officeart/2005/8/layout/hierarchy3"/>
    <dgm:cxn modelId="{4105959D-AB63-4B4B-B828-E7D59F6242C8}" type="presParOf" srcId="{E0C8FAB0-2A0F-4409-A96B-B56672977492}" destId="{88257742-1D59-4CEB-BF40-A37579FE9967}" srcOrd="1" destOrd="0" presId="urn:microsoft.com/office/officeart/2005/8/layout/hierarchy3"/>
    <dgm:cxn modelId="{72E7A55F-AD86-4558-92B8-CE9A6CE9ED62}" type="presParOf" srcId="{88257742-1D59-4CEB-BF40-A37579FE9967}" destId="{E030B135-9288-4ED6-BF01-38541531765B}" srcOrd="0" destOrd="0" presId="urn:microsoft.com/office/officeart/2005/8/layout/hierarchy3"/>
    <dgm:cxn modelId="{F22237B0-65DB-434A-B7D1-6FA96EB6358C}" type="presParOf" srcId="{E030B135-9288-4ED6-BF01-38541531765B}" destId="{5428248C-B113-4430-8A7E-7E8ACA3D449B}" srcOrd="0" destOrd="0" presId="urn:microsoft.com/office/officeart/2005/8/layout/hierarchy3"/>
    <dgm:cxn modelId="{4E1D2991-6660-4843-A200-241226D02BF1}" type="presParOf" srcId="{E030B135-9288-4ED6-BF01-38541531765B}" destId="{227CDDBB-AFFE-4A94-9839-18E7ACF88C3B}" srcOrd="1" destOrd="0" presId="urn:microsoft.com/office/officeart/2005/8/layout/hierarchy3"/>
    <dgm:cxn modelId="{FDF06FC8-2E81-431D-AF7C-29726EC5FB57}" type="presParOf" srcId="{88257742-1D59-4CEB-BF40-A37579FE9967}" destId="{B7C9A91B-2741-4564-9F44-33AEA6FC6361}" srcOrd="1" destOrd="0" presId="urn:microsoft.com/office/officeart/2005/8/layout/hierarchy3"/>
    <dgm:cxn modelId="{F66423F9-EEBE-4F42-8849-647C9802775F}" type="presParOf" srcId="{B7C9A91B-2741-4564-9F44-33AEA6FC6361}" destId="{278E43A4-6571-42BF-8795-C4C43A7B0A5D}" srcOrd="0" destOrd="0" presId="urn:microsoft.com/office/officeart/2005/8/layout/hierarchy3"/>
    <dgm:cxn modelId="{A045988C-868E-4E3D-8BC5-E5B45C3CF5F7}" type="presParOf" srcId="{B7C9A91B-2741-4564-9F44-33AEA6FC6361}" destId="{3EF7B832-F8BD-42B8-8E0F-BDF2391DA838}" srcOrd="1" destOrd="0" presId="urn:microsoft.com/office/officeart/2005/8/layout/hierarchy3"/>
    <dgm:cxn modelId="{DA24F82A-307B-4B70-9074-5B7E7C37CF50}" type="presParOf" srcId="{B7C9A91B-2741-4564-9F44-33AEA6FC6361}" destId="{4F0CB42D-5E31-4950-8816-28AAF9DC3223}" srcOrd="2" destOrd="0" presId="urn:microsoft.com/office/officeart/2005/8/layout/hierarchy3"/>
    <dgm:cxn modelId="{BEF92510-CD32-471C-8C01-B21885685998}" type="presParOf" srcId="{B7C9A91B-2741-4564-9F44-33AEA6FC6361}" destId="{C5394744-0A4C-4C94-B5AF-FA689FC5F276}" srcOrd="3"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A28B1-F9B9-462B-AEC8-DB72CC0381C5}">
      <dsp:nvSpPr>
        <dsp:cNvPr id="0" name=""/>
        <dsp:cNvSpPr/>
      </dsp:nvSpPr>
      <dsp:spPr>
        <a:xfrm>
          <a:off x="0" y="105981"/>
          <a:ext cx="2213108" cy="1106554"/>
        </a:xfrm>
        <a:prstGeom prst="roundRect">
          <a:avLst>
            <a:gd name="adj" fmla="val 10000"/>
          </a:avLst>
        </a:prstGeom>
        <a:solidFill>
          <a:srgbClr val="336B9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Alcohol</a:t>
          </a:r>
        </a:p>
      </dsp:txBody>
      <dsp:txXfrm>
        <a:off x="32410" y="138391"/>
        <a:ext cx="2148288" cy="1041734"/>
      </dsp:txXfrm>
    </dsp:sp>
    <dsp:sp modelId="{DC000620-08CB-4B66-B9B5-E12E139F4AF6}">
      <dsp:nvSpPr>
        <dsp:cNvPr id="0" name=""/>
        <dsp:cNvSpPr/>
      </dsp:nvSpPr>
      <dsp:spPr>
        <a:xfrm>
          <a:off x="221310" y="1212535"/>
          <a:ext cx="287214" cy="952499"/>
        </a:xfrm>
        <a:custGeom>
          <a:avLst/>
          <a:gdLst/>
          <a:ahLst/>
          <a:cxnLst/>
          <a:rect l="0" t="0" r="0" b="0"/>
          <a:pathLst>
            <a:path>
              <a:moveTo>
                <a:pt x="0" y="0"/>
              </a:moveTo>
              <a:lnTo>
                <a:pt x="0" y="952499"/>
              </a:lnTo>
              <a:lnTo>
                <a:pt x="287214" y="95249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4C8105-62B5-413A-94D5-27ED5C4556E1}">
      <dsp:nvSpPr>
        <dsp:cNvPr id="0" name=""/>
        <dsp:cNvSpPr/>
      </dsp:nvSpPr>
      <dsp:spPr>
        <a:xfrm>
          <a:off x="508525" y="1611758"/>
          <a:ext cx="1770486" cy="11065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Lowers inhibitions, impairs judgment </a:t>
          </a:r>
          <a:br>
            <a:rPr lang="en-US" sz="1200" kern="1200" dirty="0"/>
          </a:br>
          <a:r>
            <a:rPr lang="en-US" sz="1200" kern="1200" dirty="0"/>
            <a:t>and motor skills</a:t>
          </a:r>
        </a:p>
        <a:p>
          <a:pPr marL="0" lvl="0" indent="0" algn="l" defTabSz="533400">
            <a:lnSpc>
              <a:spcPct val="90000"/>
            </a:lnSpc>
            <a:spcBef>
              <a:spcPct val="0"/>
            </a:spcBef>
            <a:spcAft>
              <a:spcPct val="35000"/>
            </a:spcAft>
            <a:buNone/>
          </a:pPr>
          <a:endParaRPr lang="en-US" sz="1200" kern="1200" dirty="0"/>
        </a:p>
        <a:p>
          <a:pPr marL="0" lvl="0" indent="0" algn="l" defTabSz="533400">
            <a:lnSpc>
              <a:spcPct val="90000"/>
            </a:lnSpc>
            <a:spcBef>
              <a:spcPct val="0"/>
            </a:spcBef>
            <a:spcAft>
              <a:spcPct val="35000"/>
            </a:spcAft>
            <a:buNone/>
          </a:pPr>
          <a:endParaRPr lang="en-US" sz="1200" kern="1200" dirty="0"/>
        </a:p>
      </dsp:txBody>
      <dsp:txXfrm>
        <a:off x="540935" y="1644168"/>
        <a:ext cx="1705666" cy="1041734"/>
      </dsp:txXfrm>
    </dsp:sp>
    <dsp:sp modelId="{3ED76335-8213-43D5-9BAF-E4B717CF2F21}">
      <dsp:nvSpPr>
        <dsp:cNvPr id="0" name=""/>
        <dsp:cNvSpPr/>
      </dsp:nvSpPr>
      <dsp:spPr>
        <a:xfrm>
          <a:off x="221310" y="1212535"/>
          <a:ext cx="290702" cy="2338104"/>
        </a:xfrm>
        <a:custGeom>
          <a:avLst/>
          <a:gdLst/>
          <a:ahLst/>
          <a:cxnLst/>
          <a:rect l="0" t="0" r="0" b="0"/>
          <a:pathLst>
            <a:path>
              <a:moveTo>
                <a:pt x="0" y="0"/>
              </a:moveTo>
              <a:lnTo>
                <a:pt x="0" y="2338104"/>
              </a:lnTo>
              <a:lnTo>
                <a:pt x="290702" y="233810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63D3ED-F430-4B74-88AE-95C563967A70}">
      <dsp:nvSpPr>
        <dsp:cNvPr id="0" name=""/>
        <dsp:cNvSpPr/>
      </dsp:nvSpPr>
      <dsp:spPr>
        <a:xfrm>
          <a:off x="512012" y="2997362"/>
          <a:ext cx="1770486" cy="11065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Parents may have rage or depressive episodes which compromise parenting abilities</a:t>
          </a:r>
        </a:p>
        <a:p>
          <a:pPr marL="0" lvl="0" indent="0" algn="l" defTabSz="533400">
            <a:lnSpc>
              <a:spcPct val="90000"/>
            </a:lnSpc>
            <a:spcBef>
              <a:spcPct val="0"/>
            </a:spcBef>
            <a:spcAft>
              <a:spcPct val="35000"/>
            </a:spcAft>
            <a:buNone/>
          </a:pPr>
          <a:endParaRPr lang="en-US" sz="1200" kern="1200" dirty="0"/>
        </a:p>
      </dsp:txBody>
      <dsp:txXfrm>
        <a:off x="544422" y="3029772"/>
        <a:ext cx="1705666" cy="1041734"/>
      </dsp:txXfrm>
    </dsp:sp>
    <dsp:sp modelId="{5428248C-B113-4430-8A7E-7E8ACA3D449B}">
      <dsp:nvSpPr>
        <dsp:cNvPr id="0" name=""/>
        <dsp:cNvSpPr/>
      </dsp:nvSpPr>
      <dsp:spPr>
        <a:xfrm>
          <a:off x="2505735" y="108570"/>
          <a:ext cx="2213108" cy="1106554"/>
        </a:xfrm>
        <a:prstGeom prst="roundRect">
          <a:avLst>
            <a:gd name="adj" fmla="val 10000"/>
          </a:avLst>
        </a:prstGeom>
        <a:solidFill>
          <a:srgbClr val="336B9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Cocaine</a:t>
          </a:r>
        </a:p>
      </dsp:txBody>
      <dsp:txXfrm>
        <a:off x="2538145" y="140980"/>
        <a:ext cx="2148288" cy="1041734"/>
      </dsp:txXfrm>
    </dsp:sp>
    <dsp:sp modelId="{278E43A4-6571-42BF-8795-C4C43A7B0A5D}">
      <dsp:nvSpPr>
        <dsp:cNvPr id="0" name=""/>
        <dsp:cNvSpPr/>
      </dsp:nvSpPr>
      <dsp:spPr>
        <a:xfrm>
          <a:off x="2727046" y="1215124"/>
          <a:ext cx="302297" cy="960544"/>
        </a:xfrm>
        <a:custGeom>
          <a:avLst/>
          <a:gdLst/>
          <a:ahLst/>
          <a:cxnLst/>
          <a:rect l="0" t="0" r="0" b="0"/>
          <a:pathLst>
            <a:path>
              <a:moveTo>
                <a:pt x="0" y="0"/>
              </a:moveTo>
              <a:lnTo>
                <a:pt x="0" y="960544"/>
              </a:lnTo>
              <a:lnTo>
                <a:pt x="302297" y="96054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F7B832-F8BD-42B8-8E0F-BDF2391DA838}">
      <dsp:nvSpPr>
        <dsp:cNvPr id="0" name=""/>
        <dsp:cNvSpPr/>
      </dsp:nvSpPr>
      <dsp:spPr>
        <a:xfrm>
          <a:off x="3029343" y="1622391"/>
          <a:ext cx="1770486" cy="11065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Causes increased irritability and aggression with prolonged use, psychotic distortions of thought</a:t>
          </a:r>
        </a:p>
      </dsp:txBody>
      <dsp:txXfrm>
        <a:off x="3061753" y="1654801"/>
        <a:ext cx="1705666" cy="1041734"/>
      </dsp:txXfrm>
    </dsp:sp>
    <dsp:sp modelId="{4F0CB42D-5E31-4950-8816-28AAF9DC3223}">
      <dsp:nvSpPr>
        <dsp:cNvPr id="0" name=""/>
        <dsp:cNvSpPr/>
      </dsp:nvSpPr>
      <dsp:spPr>
        <a:xfrm>
          <a:off x="2727046" y="1215124"/>
          <a:ext cx="302297" cy="2343736"/>
        </a:xfrm>
        <a:custGeom>
          <a:avLst/>
          <a:gdLst/>
          <a:ahLst/>
          <a:cxnLst/>
          <a:rect l="0" t="0" r="0" b="0"/>
          <a:pathLst>
            <a:path>
              <a:moveTo>
                <a:pt x="0" y="0"/>
              </a:moveTo>
              <a:lnTo>
                <a:pt x="0" y="2343736"/>
              </a:lnTo>
              <a:lnTo>
                <a:pt x="302297" y="234373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394744-0A4C-4C94-B5AF-FA689FC5F276}">
      <dsp:nvSpPr>
        <dsp:cNvPr id="0" name=""/>
        <dsp:cNvSpPr/>
      </dsp:nvSpPr>
      <dsp:spPr>
        <a:xfrm>
          <a:off x="3029343" y="3005584"/>
          <a:ext cx="1770486" cy="110655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A child’s cry to a parent may trigger angry and/or excessive reactions</a:t>
          </a:r>
        </a:p>
        <a:p>
          <a:pPr marL="0" lvl="0" indent="0" algn="l" defTabSz="533400">
            <a:lnSpc>
              <a:spcPct val="90000"/>
            </a:lnSpc>
            <a:spcBef>
              <a:spcPct val="0"/>
            </a:spcBef>
            <a:spcAft>
              <a:spcPct val="35000"/>
            </a:spcAft>
            <a:buNone/>
          </a:pPr>
          <a:endParaRPr lang="en-US" sz="1200" kern="1200" dirty="0"/>
        </a:p>
      </dsp:txBody>
      <dsp:txXfrm>
        <a:off x="3061753" y="3037994"/>
        <a:ext cx="1705666" cy="10417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A28B1-F9B9-462B-AEC8-DB72CC0381C5}">
      <dsp:nvSpPr>
        <dsp:cNvPr id="0" name=""/>
        <dsp:cNvSpPr/>
      </dsp:nvSpPr>
      <dsp:spPr>
        <a:xfrm>
          <a:off x="190429" y="0"/>
          <a:ext cx="3034792" cy="1517396"/>
        </a:xfrm>
        <a:prstGeom prst="roundRect">
          <a:avLst>
            <a:gd name="adj" fmla="val 10000"/>
          </a:avLst>
        </a:prstGeom>
        <a:solidFill>
          <a:srgbClr val="336B9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Methamphetamine</a:t>
          </a:r>
          <a:r>
            <a:rPr lang="en-US" sz="2700" kern="1200" dirty="0"/>
            <a:t> </a:t>
          </a:r>
        </a:p>
      </dsp:txBody>
      <dsp:txXfrm>
        <a:off x="234872" y="44443"/>
        <a:ext cx="2945906" cy="1428510"/>
      </dsp:txXfrm>
    </dsp:sp>
    <dsp:sp modelId="{DC000620-08CB-4B66-B9B5-E12E139F4AF6}">
      <dsp:nvSpPr>
        <dsp:cNvPr id="0" name=""/>
        <dsp:cNvSpPr/>
      </dsp:nvSpPr>
      <dsp:spPr>
        <a:xfrm>
          <a:off x="493908" y="1517396"/>
          <a:ext cx="877188" cy="1086257"/>
        </a:xfrm>
        <a:custGeom>
          <a:avLst/>
          <a:gdLst/>
          <a:ahLst/>
          <a:cxnLst/>
          <a:rect l="0" t="0" r="0" b="0"/>
          <a:pathLst>
            <a:path>
              <a:moveTo>
                <a:pt x="0" y="0"/>
              </a:moveTo>
              <a:lnTo>
                <a:pt x="0" y="1086257"/>
              </a:lnTo>
              <a:lnTo>
                <a:pt x="877188" y="108625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4C8105-62B5-413A-94D5-27ED5C4556E1}">
      <dsp:nvSpPr>
        <dsp:cNvPr id="0" name=""/>
        <dsp:cNvSpPr/>
      </dsp:nvSpPr>
      <dsp:spPr>
        <a:xfrm>
          <a:off x="1371097" y="1994070"/>
          <a:ext cx="2427834" cy="1219167"/>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Releases high levels of dopamine, which stimulates brain cells, enhancing mood and body movement</a:t>
          </a:r>
        </a:p>
      </dsp:txBody>
      <dsp:txXfrm>
        <a:off x="1406805" y="2029778"/>
        <a:ext cx="2356418" cy="1147751"/>
      </dsp:txXfrm>
    </dsp:sp>
    <dsp:sp modelId="{3ED76335-8213-43D5-9BAF-E4B717CF2F21}">
      <dsp:nvSpPr>
        <dsp:cNvPr id="0" name=""/>
        <dsp:cNvSpPr/>
      </dsp:nvSpPr>
      <dsp:spPr>
        <a:xfrm>
          <a:off x="493908" y="1517396"/>
          <a:ext cx="928270" cy="2463499"/>
        </a:xfrm>
        <a:custGeom>
          <a:avLst/>
          <a:gdLst/>
          <a:ahLst/>
          <a:cxnLst/>
          <a:rect l="0" t="0" r="0" b="0"/>
          <a:pathLst>
            <a:path>
              <a:moveTo>
                <a:pt x="0" y="0"/>
              </a:moveTo>
              <a:lnTo>
                <a:pt x="0" y="2463499"/>
              </a:lnTo>
              <a:lnTo>
                <a:pt x="928270" y="246349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63D3ED-F430-4B74-88AE-95C563967A70}">
      <dsp:nvSpPr>
        <dsp:cNvPr id="0" name=""/>
        <dsp:cNvSpPr/>
      </dsp:nvSpPr>
      <dsp:spPr>
        <a:xfrm>
          <a:off x="1422178" y="3404505"/>
          <a:ext cx="2427834" cy="115278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Children may be the victims of parental violence, aggression, and paranoia due to parental meth use</a:t>
          </a:r>
        </a:p>
      </dsp:txBody>
      <dsp:txXfrm>
        <a:off x="1455942" y="3438269"/>
        <a:ext cx="2360306" cy="1085253"/>
      </dsp:txXfrm>
    </dsp:sp>
    <dsp:sp modelId="{5428248C-B113-4430-8A7E-7E8ACA3D449B}">
      <dsp:nvSpPr>
        <dsp:cNvPr id="0" name=""/>
        <dsp:cNvSpPr/>
      </dsp:nvSpPr>
      <dsp:spPr>
        <a:xfrm>
          <a:off x="4473280" y="0"/>
          <a:ext cx="3034792" cy="1517396"/>
        </a:xfrm>
        <a:prstGeom prst="roundRect">
          <a:avLst>
            <a:gd name="adj" fmla="val 10000"/>
          </a:avLst>
        </a:prstGeom>
        <a:solidFill>
          <a:srgbClr val="336B9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Marijuana</a:t>
          </a:r>
        </a:p>
      </dsp:txBody>
      <dsp:txXfrm>
        <a:off x="4517723" y="44443"/>
        <a:ext cx="2945906" cy="1428510"/>
      </dsp:txXfrm>
    </dsp:sp>
    <dsp:sp modelId="{278E43A4-6571-42BF-8795-C4C43A7B0A5D}">
      <dsp:nvSpPr>
        <dsp:cNvPr id="0" name=""/>
        <dsp:cNvSpPr/>
      </dsp:nvSpPr>
      <dsp:spPr>
        <a:xfrm>
          <a:off x="4776760" y="1517396"/>
          <a:ext cx="661736" cy="944874"/>
        </a:xfrm>
        <a:custGeom>
          <a:avLst/>
          <a:gdLst/>
          <a:ahLst/>
          <a:cxnLst/>
          <a:rect l="0" t="0" r="0" b="0"/>
          <a:pathLst>
            <a:path>
              <a:moveTo>
                <a:pt x="0" y="0"/>
              </a:moveTo>
              <a:lnTo>
                <a:pt x="0" y="944874"/>
              </a:lnTo>
              <a:lnTo>
                <a:pt x="661736" y="94487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F7B832-F8BD-42B8-8E0F-BDF2391DA838}">
      <dsp:nvSpPr>
        <dsp:cNvPr id="0" name=""/>
        <dsp:cNvSpPr/>
      </dsp:nvSpPr>
      <dsp:spPr>
        <a:xfrm>
          <a:off x="5438496" y="1897624"/>
          <a:ext cx="2192722" cy="11292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Slows down the nervous system function, producing a drowsy or calming effect</a:t>
          </a:r>
        </a:p>
      </dsp:txBody>
      <dsp:txXfrm>
        <a:off x="5471572" y="1930700"/>
        <a:ext cx="2126570" cy="1063139"/>
      </dsp:txXfrm>
    </dsp:sp>
    <dsp:sp modelId="{4F0CB42D-5E31-4950-8816-28AAF9DC3223}">
      <dsp:nvSpPr>
        <dsp:cNvPr id="0" name=""/>
        <dsp:cNvSpPr/>
      </dsp:nvSpPr>
      <dsp:spPr>
        <a:xfrm>
          <a:off x="4776760" y="1517396"/>
          <a:ext cx="661736" cy="2428470"/>
        </a:xfrm>
        <a:custGeom>
          <a:avLst/>
          <a:gdLst/>
          <a:ahLst/>
          <a:cxnLst/>
          <a:rect l="0" t="0" r="0" b="0"/>
          <a:pathLst>
            <a:path>
              <a:moveTo>
                <a:pt x="0" y="0"/>
              </a:moveTo>
              <a:lnTo>
                <a:pt x="0" y="2428470"/>
              </a:lnTo>
              <a:lnTo>
                <a:pt x="661736" y="2428470"/>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394744-0A4C-4C94-B5AF-FA689FC5F276}">
      <dsp:nvSpPr>
        <dsp:cNvPr id="0" name=""/>
        <dsp:cNvSpPr/>
      </dsp:nvSpPr>
      <dsp:spPr>
        <a:xfrm>
          <a:off x="5438496" y="3347421"/>
          <a:ext cx="2223143" cy="119689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Children may be left unsupervised, as parents may fall asleep while under the influence of marijuana. </a:t>
          </a:r>
        </a:p>
      </dsp:txBody>
      <dsp:txXfrm>
        <a:off x="5473552" y="3382477"/>
        <a:ext cx="2153031" cy="112677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0A28B1-F9B9-462B-AEC8-DB72CC0381C5}">
      <dsp:nvSpPr>
        <dsp:cNvPr id="0" name=""/>
        <dsp:cNvSpPr/>
      </dsp:nvSpPr>
      <dsp:spPr>
        <a:xfrm>
          <a:off x="539612" y="73421"/>
          <a:ext cx="3013976" cy="1638066"/>
        </a:xfrm>
        <a:prstGeom prst="roundRect">
          <a:avLst>
            <a:gd name="adj" fmla="val 10000"/>
          </a:avLst>
        </a:prstGeom>
        <a:solidFill>
          <a:srgbClr val="336B9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Prescription Opioids</a:t>
          </a:r>
        </a:p>
      </dsp:txBody>
      <dsp:txXfrm>
        <a:off x="587589" y="121398"/>
        <a:ext cx="2918022" cy="1542112"/>
      </dsp:txXfrm>
    </dsp:sp>
    <dsp:sp modelId="{DC000620-08CB-4B66-B9B5-E12E139F4AF6}">
      <dsp:nvSpPr>
        <dsp:cNvPr id="0" name=""/>
        <dsp:cNvSpPr/>
      </dsp:nvSpPr>
      <dsp:spPr>
        <a:xfrm>
          <a:off x="841009" y="1711487"/>
          <a:ext cx="1172842" cy="856397"/>
        </a:xfrm>
        <a:custGeom>
          <a:avLst/>
          <a:gdLst/>
          <a:ahLst/>
          <a:cxnLst/>
          <a:rect l="0" t="0" r="0" b="0"/>
          <a:pathLst>
            <a:path>
              <a:moveTo>
                <a:pt x="0" y="0"/>
              </a:moveTo>
              <a:lnTo>
                <a:pt x="0" y="856397"/>
              </a:lnTo>
              <a:lnTo>
                <a:pt x="1172842" y="85639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4C8105-62B5-413A-94D5-27ED5C4556E1}">
      <dsp:nvSpPr>
        <dsp:cNvPr id="0" name=""/>
        <dsp:cNvSpPr/>
      </dsp:nvSpPr>
      <dsp:spPr>
        <a:xfrm>
          <a:off x="2013852" y="2018002"/>
          <a:ext cx="2363192" cy="109976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Opioids block the transmission of pain messages to the brain and produce euphoria followed by drowsiness</a:t>
          </a:r>
        </a:p>
      </dsp:txBody>
      <dsp:txXfrm>
        <a:off x="2046063" y="2050213"/>
        <a:ext cx="2298770" cy="1035342"/>
      </dsp:txXfrm>
    </dsp:sp>
    <dsp:sp modelId="{3ED76335-8213-43D5-9BAF-E4B717CF2F21}">
      <dsp:nvSpPr>
        <dsp:cNvPr id="0" name=""/>
        <dsp:cNvSpPr/>
      </dsp:nvSpPr>
      <dsp:spPr>
        <a:xfrm>
          <a:off x="841009" y="1711487"/>
          <a:ext cx="1217030" cy="2335759"/>
        </a:xfrm>
        <a:custGeom>
          <a:avLst/>
          <a:gdLst/>
          <a:ahLst/>
          <a:cxnLst/>
          <a:rect l="0" t="0" r="0" b="0"/>
          <a:pathLst>
            <a:path>
              <a:moveTo>
                <a:pt x="0" y="0"/>
              </a:moveTo>
              <a:lnTo>
                <a:pt x="0" y="2335759"/>
              </a:lnTo>
              <a:lnTo>
                <a:pt x="1217030" y="233575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63D3ED-F430-4B74-88AE-95C563967A70}">
      <dsp:nvSpPr>
        <dsp:cNvPr id="0" name=""/>
        <dsp:cNvSpPr/>
      </dsp:nvSpPr>
      <dsp:spPr>
        <a:xfrm>
          <a:off x="2058040" y="3511312"/>
          <a:ext cx="2363192" cy="107186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Children may be left unsupervised by parents who “nod out” while under the influence </a:t>
          </a:r>
        </a:p>
      </dsp:txBody>
      <dsp:txXfrm>
        <a:off x="2089434" y="3542706"/>
        <a:ext cx="2300404" cy="1009080"/>
      </dsp:txXfrm>
    </dsp:sp>
    <dsp:sp modelId="{5428248C-B113-4430-8A7E-7E8ACA3D449B}">
      <dsp:nvSpPr>
        <dsp:cNvPr id="0" name=""/>
        <dsp:cNvSpPr/>
      </dsp:nvSpPr>
      <dsp:spPr>
        <a:xfrm>
          <a:off x="4917442" y="0"/>
          <a:ext cx="3106100" cy="1638066"/>
        </a:xfrm>
        <a:prstGeom prst="roundRect">
          <a:avLst>
            <a:gd name="adj" fmla="val 10000"/>
          </a:avLst>
        </a:prstGeom>
        <a:solidFill>
          <a:srgbClr val="336B9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Stimulants</a:t>
          </a:r>
        </a:p>
      </dsp:txBody>
      <dsp:txXfrm>
        <a:off x="4965419" y="47977"/>
        <a:ext cx="3010146" cy="1542112"/>
      </dsp:txXfrm>
    </dsp:sp>
    <dsp:sp modelId="{278E43A4-6571-42BF-8795-C4C43A7B0A5D}">
      <dsp:nvSpPr>
        <dsp:cNvPr id="0" name=""/>
        <dsp:cNvSpPr/>
      </dsp:nvSpPr>
      <dsp:spPr>
        <a:xfrm>
          <a:off x="5228052" y="1638066"/>
          <a:ext cx="592652" cy="946313"/>
        </a:xfrm>
        <a:custGeom>
          <a:avLst/>
          <a:gdLst/>
          <a:ahLst/>
          <a:cxnLst/>
          <a:rect l="0" t="0" r="0" b="0"/>
          <a:pathLst>
            <a:path>
              <a:moveTo>
                <a:pt x="0" y="0"/>
              </a:moveTo>
              <a:lnTo>
                <a:pt x="0" y="946313"/>
              </a:lnTo>
              <a:lnTo>
                <a:pt x="592652" y="94631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F7B832-F8BD-42B8-8E0F-BDF2391DA838}">
      <dsp:nvSpPr>
        <dsp:cNvPr id="0" name=""/>
        <dsp:cNvSpPr/>
      </dsp:nvSpPr>
      <dsp:spPr>
        <a:xfrm>
          <a:off x="5820704" y="1871952"/>
          <a:ext cx="2193671" cy="142485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These drugs are stimulants to the central nervous system, which increase alertness, attention, and energy. </a:t>
          </a:r>
        </a:p>
        <a:p>
          <a:pPr marL="0" lvl="0" indent="0" algn="l" defTabSz="533400">
            <a:lnSpc>
              <a:spcPct val="90000"/>
            </a:lnSpc>
            <a:spcBef>
              <a:spcPct val="0"/>
            </a:spcBef>
            <a:spcAft>
              <a:spcPct val="35000"/>
            </a:spcAft>
            <a:buNone/>
          </a:pPr>
          <a:r>
            <a:rPr lang="en-US" sz="1200" kern="1200" dirty="0"/>
            <a:t>A stimulant user may feel energetic with very little sleep </a:t>
          </a:r>
        </a:p>
      </dsp:txBody>
      <dsp:txXfrm>
        <a:off x="5862437" y="1913685"/>
        <a:ext cx="2110205" cy="1341389"/>
      </dsp:txXfrm>
    </dsp:sp>
    <dsp:sp modelId="{4F0CB42D-5E31-4950-8816-28AAF9DC3223}">
      <dsp:nvSpPr>
        <dsp:cNvPr id="0" name=""/>
        <dsp:cNvSpPr/>
      </dsp:nvSpPr>
      <dsp:spPr>
        <a:xfrm>
          <a:off x="5228052" y="1638066"/>
          <a:ext cx="640536" cy="2489658"/>
        </a:xfrm>
        <a:custGeom>
          <a:avLst/>
          <a:gdLst/>
          <a:ahLst/>
          <a:cxnLst/>
          <a:rect l="0" t="0" r="0" b="0"/>
          <a:pathLst>
            <a:path>
              <a:moveTo>
                <a:pt x="0" y="0"/>
              </a:moveTo>
              <a:lnTo>
                <a:pt x="0" y="2489658"/>
              </a:lnTo>
              <a:lnTo>
                <a:pt x="640536" y="248965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394744-0A4C-4C94-B5AF-FA689FC5F276}">
      <dsp:nvSpPr>
        <dsp:cNvPr id="0" name=""/>
        <dsp:cNvSpPr/>
      </dsp:nvSpPr>
      <dsp:spPr>
        <a:xfrm>
          <a:off x="5868588" y="3447362"/>
          <a:ext cx="2152445" cy="136072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2860" tIns="15240" rIns="22860" bIns="15240" numCol="1" spcCol="1270" anchor="ctr" anchorCtr="0">
          <a:noAutofit/>
        </a:bodyPr>
        <a:lstStyle/>
        <a:p>
          <a:pPr marL="0" lvl="0" indent="0" algn="l" defTabSz="533400">
            <a:lnSpc>
              <a:spcPct val="90000"/>
            </a:lnSpc>
            <a:spcBef>
              <a:spcPct val="0"/>
            </a:spcBef>
            <a:spcAft>
              <a:spcPct val="35000"/>
            </a:spcAft>
            <a:buNone/>
          </a:pPr>
          <a:r>
            <a:rPr lang="en-US" sz="1200" kern="1200" dirty="0"/>
            <a:t>Because their own sleep-wake cycles are so distorted by the drug, parents on amphetamines may be unable to attend to a child’s need for structure and pattern. </a:t>
          </a:r>
        </a:p>
      </dsp:txBody>
      <dsp:txXfrm>
        <a:off x="5908442" y="3487216"/>
        <a:ext cx="2072737" cy="128101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0DC082-5876-4EF1-AA8E-BA423895B55D}" type="datetimeFigureOut">
              <a:rPr lang="en-IN" smtClean="0"/>
              <a:t>23-05-2022</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923092-DB9B-4BD3-ABBF-D3E4AF52A718}" type="slidenum">
              <a:rPr lang="en-IN" smtClean="0"/>
              <a:t>‹#›</a:t>
            </a:fld>
            <a:endParaRPr lang="en-IN"/>
          </a:p>
        </p:txBody>
      </p:sp>
    </p:spTree>
    <p:extLst>
      <p:ext uri="{BB962C8B-B14F-4D97-AF65-F5344CB8AC3E}">
        <p14:creationId xmlns:p14="http://schemas.microsoft.com/office/powerpoint/2010/main" val="2598246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dirty="0"/>
              <a:t>Let’s discuss alcohol and other drug types and the potential effect the use of the drugs may have on a parent’s behavior or mood. It is important to note that these are just some examples and that individuals may have different reactions. Also, many people are polysubstance users, using multiple substances.</a:t>
            </a:r>
          </a:p>
          <a:p>
            <a:pPr lvl="0"/>
            <a:endParaRPr lang="en-US" dirty="0"/>
          </a:p>
          <a:p>
            <a:pPr lvl="0"/>
            <a:r>
              <a:rPr lang="en-US" b="1" dirty="0"/>
              <a:t>Alcohol </a:t>
            </a:r>
          </a:p>
          <a:p>
            <a:pPr lvl="0"/>
            <a:r>
              <a:rPr lang="en-US" dirty="0"/>
              <a:t>Risks to children:</a:t>
            </a:r>
          </a:p>
          <a:p>
            <a:pPr marL="171450" lvl="0" indent="-171450">
              <a:buFont typeface="Arial" panose="020B0604020202020204" pitchFamily="34" charset="0"/>
              <a:buChar char="•"/>
            </a:pPr>
            <a:r>
              <a:rPr lang="en-US" dirty="0"/>
              <a:t>Children’s needs may be neglected by a parent who forgets or fails to attend to parenting responsibilities. </a:t>
            </a:r>
          </a:p>
          <a:p>
            <a:pPr marL="171450" lvl="0" indent="-171450">
              <a:buFont typeface="Arial" panose="020B0604020202020204" pitchFamily="34" charset="0"/>
              <a:buChar char="•"/>
            </a:pPr>
            <a:r>
              <a:rPr lang="en-US" dirty="0"/>
              <a:t>Children may be left alone all night due to a parent’s intoxication. </a:t>
            </a:r>
          </a:p>
          <a:p>
            <a:pPr marL="171450" lvl="0" indent="-171450">
              <a:buFont typeface="Arial" panose="020B0604020202020204" pitchFamily="34" charset="0"/>
              <a:buChar char="•"/>
            </a:pPr>
            <a:r>
              <a:rPr lang="en-US" dirty="0"/>
              <a:t>A parent may have rages and depressive episodes, creating an unstable environment for children.</a:t>
            </a:r>
          </a:p>
          <a:p>
            <a:endParaRPr lang="en-US" dirty="0"/>
          </a:p>
          <a:p>
            <a:r>
              <a:rPr lang="en-US" b="1" dirty="0"/>
              <a:t>Cocaine</a:t>
            </a:r>
          </a:p>
          <a:p>
            <a:pPr lvl="0"/>
            <a:r>
              <a:rPr lang="en-US" dirty="0"/>
              <a:t>In addition to an influx of energy, cocaine also heightens the senses. Colors appear brighter, smells seem stronger, and noises sound louder. </a:t>
            </a:r>
          </a:p>
          <a:p>
            <a:pPr lvl="0"/>
            <a:r>
              <a:rPr lang="en-US" dirty="0"/>
              <a:t>Risks to children:</a:t>
            </a:r>
          </a:p>
          <a:p>
            <a:pPr marL="171450" lvl="0" indent="-171450">
              <a:buFont typeface="Arial" panose="020B0604020202020204" pitchFamily="34" charset="0"/>
              <a:buChar char="•"/>
            </a:pPr>
            <a:r>
              <a:rPr lang="en-US" dirty="0"/>
              <a:t>A parent may become angry or impatient with a child for any reason because of thought distortion and misperception of the child’s intent. </a:t>
            </a:r>
          </a:p>
          <a:p>
            <a:pPr lvl="0"/>
            <a:endParaRPr lang="en-US" dirty="0"/>
          </a:p>
          <a:p>
            <a:pPr lvl="0"/>
            <a:r>
              <a:rPr lang="en-US" b="1" dirty="0"/>
              <a:t>Crack cocaine</a:t>
            </a:r>
          </a:p>
          <a:p>
            <a:pPr lvl="0"/>
            <a:r>
              <a:rPr lang="en-US" dirty="0"/>
              <a:t>Crack heightens feelings of power and control over one’s life, feelings that may be sorely lacking in those belonging to oppressed social groups. </a:t>
            </a:r>
          </a:p>
          <a:p>
            <a:pPr lvl="0"/>
            <a:r>
              <a:rPr lang="en-US" dirty="0"/>
              <a:t>Risks to children:</a:t>
            </a:r>
          </a:p>
          <a:p>
            <a:pPr marL="171450" lvl="0" indent="-171450">
              <a:buFont typeface="Arial" panose="020B0604020202020204" pitchFamily="34" charset="0"/>
              <a:buChar char="•"/>
            </a:pPr>
            <a:r>
              <a:rPr lang="en-US" dirty="0"/>
              <a:t>Infants or toddlers may be left alone for hours or sometimes days at a time as parents pursue the drug. </a:t>
            </a:r>
          </a:p>
          <a:p>
            <a:pPr marL="171450" lvl="0" indent="-171450">
              <a:buFont typeface="Arial" panose="020B0604020202020204" pitchFamily="34" charset="0"/>
              <a:buChar char="•"/>
            </a:pPr>
            <a:r>
              <a:rPr lang="en-US" dirty="0"/>
              <a:t>Children may be living in homes barren of furniture and appliances that have been sold to purchase crack and other drugs. </a:t>
            </a:r>
          </a:p>
          <a:p>
            <a:pPr marL="171450" lvl="0" indent="-171450">
              <a:buFont typeface="Arial" panose="020B0604020202020204" pitchFamily="34" charset="0"/>
              <a:buChar char="•"/>
            </a:pPr>
            <a:r>
              <a:rPr lang="en-US" dirty="0"/>
              <a:t>The absence of food in the refrigerator or cupboards is evidence of parental inability to attend to a child’s most basic needs. </a:t>
            </a:r>
          </a:p>
          <a:p>
            <a:pPr marL="171450" lvl="0" indent="-171450">
              <a:buFont typeface="Arial" panose="020B0604020202020204" pitchFamily="34" charset="0"/>
              <a:buChar char="•"/>
            </a:pPr>
            <a:r>
              <a:rPr lang="en-US" dirty="0"/>
              <a:t>Some parents will do whatever it takes to pursue their habit, even if it means sacrificing the health and well-being of loved ones. </a:t>
            </a:r>
          </a:p>
          <a:p>
            <a:pPr marL="171450" lvl="0" indent="-171450">
              <a:buFont typeface="Arial" panose="020B0604020202020204" pitchFamily="34" charset="0"/>
              <a:buChar char="•"/>
            </a:pPr>
            <a:r>
              <a:rPr lang="en-US" dirty="0"/>
              <a:t>Crack can contribute to a significant increase in sexual abuse of young children in two ways: The heightened physical sensations induced by crack can lead users to seek out sexual encounters. A child who is available and unprotected by a functioning adult, as when children accompany parents to so-called crack houses, is an easy target for sexual abuse by an individual high on crack.</a:t>
            </a:r>
          </a:p>
          <a:p>
            <a:pPr marL="171450" indent="-171450">
              <a:buFont typeface="Arial" panose="020B0604020202020204" pitchFamily="34" charset="0"/>
              <a:buChar char="•"/>
            </a:pPr>
            <a:r>
              <a:rPr lang="en-US" dirty="0"/>
              <a:t>Very young children, even babies, can be prostituted by their parents desperate to obtain the drug.</a:t>
            </a:r>
          </a:p>
          <a:p>
            <a:pPr lvl="0"/>
            <a:endParaRPr lang="en-US" dirty="0"/>
          </a:p>
          <a:p>
            <a:pPr lvl="0"/>
            <a:r>
              <a:rPr lang="en-US" b="1" dirty="0"/>
              <a:t>Heroin</a:t>
            </a:r>
          </a:p>
          <a:p>
            <a:pPr marL="171450" lvl="0" indent="-171450">
              <a:buFont typeface="Arial" panose="020B0604020202020204" pitchFamily="34" charset="0"/>
              <a:buChar char="•"/>
            </a:pPr>
            <a:r>
              <a:rPr lang="en-US" dirty="0"/>
              <a:t>Heroin is a highly addictive drug leading to serious, even fatal health conditions. </a:t>
            </a:r>
          </a:p>
          <a:p>
            <a:pPr marL="171450" lvl="0" indent="-171450">
              <a:buFont typeface="Arial" panose="020B0604020202020204" pitchFamily="34" charset="0"/>
              <a:buChar char="•"/>
            </a:pPr>
            <a:r>
              <a:rPr lang="en-US" dirty="0"/>
              <a:t>Tolerance to the drug develops with regular use, meaning that the user must use more heroin to produce the same effect.</a:t>
            </a:r>
          </a:p>
          <a:p>
            <a:pPr marL="171450" lvl="0" indent="-171450">
              <a:buFont typeface="Arial" panose="020B0604020202020204" pitchFamily="34" charset="0"/>
              <a:buChar char="•"/>
            </a:pPr>
            <a:r>
              <a:rPr lang="en-US" dirty="0"/>
              <a:t>Physical dependence and addiction then develop, and withdrawal can occur as soon as a few hours after the last use. </a:t>
            </a:r>
          </a:p>
          <a:p>
            <a:pPr lvl="0"/>
            <a:r>
              <a:rPr lang="en-US" dirty="0"/>
              <a:t>Risks to children:</a:t>
            </a:r>
          </a:p>
          <a:p>
            <a:pPr marL="171450" lvl="0" indent="-171450">
              <a:buFont typeface="Arial" panose="020B0604020202020204" pitchFamily="34" charset="0"/>
              <a:buChar char="•"/>
            </a:pPr>
            <a:r>
              <a:rPr lang="en-US" dirty="0"/>
              <a:t>Children’s needs may be neglected by a parent who may forget or fail to attend to parenting responsibilities. </a:t>
            </a:r>
          </a:p>
          <a:p>
            <a:pPr marL="171450" lvl="0" indent="-171450">
              <a:buFont typeface="Arial" panose="020B0604020202020204" pitchFamily="34" charset="0"/>
              <a:buChar char="•"/>
            </a:pPr>
            <a:r>
              <a:rPr lang="en-US" dirty="0"/>
              <a:t>Children may be left alone while parents look for, obtain, or use the drug. </a:t>
            </a:r>
          </a:p>
          <a:p>
            <a:pPr marL="171450" lvl="0" indent="-171450">
              <a:buFont typeface="Arial" panose="020B0604020202020204" pitchFamily="34" charset="0"/>
              <a:buChar char="•"/>
            </a:pPr>
            <a:r>
              <a:rPr lang="en-US" dirty="0"/>
              <a:t>Children may be exposed to unsafe and dangerous situations, such as heroin dealers and other users. </a:t>
            </a:r>
          </a:p>
          <a:p>
            <a:r>
              <a:rPr lang="en-US" dirty="0"/>
              <a:t>	</a:t>
            </a:r>
          </a:p>
        </p:txBody>
      </p:sp>
      <p:sp>
        <p:nvSpPr>
          <p:cNvPr id="4" name="Slide Number Placeholder 3"/>
          <p:cNvSpPr>
            <a:spLocks noGrp="1"/>
          </p:cNvSpPr>
          <p:nvPr>
            <p:ph type="sldNum" sz="quarter" idx="10"/>
          </p:nvPr>
        </p:nvSpPr>
        <p:spPr/>
        <p:txBody>
          <a:bodyPr/>
          <a:lstStyle/>
          <a:p>
            <a:fld id="{2E1BCB87-4CC9-4D37-BDC3-E8A0FA5D025D}" type="slidenum">
              <a:rPr lang="en-US" smtClean="0"/>
              <a:pPr/>
              <a:t>18</a:t>
            </a:fld>
            <a:endParaRPr lang="en-US" dirty="0"/>
          </a:p>
        </p:txBody>
      </p:sp>
      <p:sp>
        <p:nvSpPr>
          <p:cNvPr id="10" name="Slide Image Placeholder 9"/>
          <p:cNvSpPr>
            <a:spLocks noGrp="1" noRot="1" noChangeAspect="1"/>
          </p:cNvSpPr>
          <p:nvPr>
            <p:ph type="sldImg"/>
          </p:nvPr>
        </p:nvSpPr>
        <p:spPr/>
      </p:sp>
    </p:spTree>
    <p:extLst>
      <p:ext uri="{BB962C8B-B14F-4D97-AF65-F5344CB8AC3E}">
        <p14:creationId xmlns:p14="http://schemas.microsoft.com/office/powerpoint/2010/main" val="6550770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lvl="0"/>
            <a:r>
              <a:rPr lang="en-US" b="1" dirty="0"/>
              <a:t>Methamphetamine</a:t>
            </a:r>
          </a:p>
          <a:p>
            <a:pPr marL="171450" indent="-171450">
              <a:buFont typeface="Arial" panose="020B0604020202020204" pitchFamily="34" charset="0"/>
              <a:buChar char="•"/>
            </a:pPr>
            <a:r>
              <a:rPr lang="en-US" dirty="0"/>
              <a:t>Smoking or injecting methamphetamine causes a euphoria that is notable for its intensity and length. </a:t>
            </a:r>
          </a:p>
          <a:p>
            <a:pPr marL="171450" indent="-171450">
              <a:buFont typeface="Arial" panose="020B0604020202020204" pitchFamily="34" charset="0"/>
              <a:buChar char="•"/>
            </a:pPr>
            <a:r>
              <a:rPr lang="en-US" dirty="0"/>
              <a:t>Snorting or ingesting methamphetamine produces a milder and less intense euphoria. </a:t>
            </a:r>
          </a:p>
          <a:p>
            <a:pPr marL="171450" lvl="0" indent="-171450">
              <a:buFont typeface="Arial" panose="020B0604020202020204" pitchFamily="34" charset="0"/>
              <a:buChar char="•"/>
            </a:pPr>
            <a:r>
              <a:rPr lang="en-US" dirty="0"/>
              <a:t>Following the initial euphoria, the user “crashes” into an irritable, anxious, paranoid, aggressive, or empty feeling. During this cycle, the user may have a sleep episode, or the user may continue to use methamphetamine to regain the euphoric state. </a:t>
            </a:r>
          </a:p>
          <a:p>
            <a:pPr marL="171450" lvl="0" indent="-171450">
              <a:buFont typeface="Arial" panose="020B0604020202020204" pitchFamily="34" charset="0"/>
              <a:buChar char="•"/>
            </a:pPr>
            <a:r>
              <a:rPr lang="en-US" dirty="0"/>
              <a:t>Severe withdrawal symptoms may include psychotic episodes and extreme violence. </a:t>
            </a:r>
          </a:p>
          <a:p>
            <a:pPr marL="171450" lvl="0" indent="-171450">
              <a:buFont typeface="Arial" panose="020B0604020202020204" pitchFamily="34" charset="0"/>
              <a:buChar char="•"/>
            </a:pPr>
            <a:r>
              <a:rPr lang="en-US" dirty="0"/>
              <a:t>Methamphetamine use can quickly lead to addiction and is linked to long-term brain damage, as well as cardiovascular and other major health problems. </a:t>
            </a:r>
          </a:p>
          <a:p>
            <a:pPr lvl="0"/>
            <a:r>
              <a:rPr lang="en-US" dirty="0"/>
              <a:t>Risks to children:</a:t>
            </a:r>
          </a:p>
          <a:p>
            <a:pPr marL="171450" lvl="0" indent="-171450">
              <a:buFont typeface="Arial" panose="020B0604020202020204" pitchFamily="34" charset="0"/>
              <a:buChar char="•"/>
            </a:pPr>
            <a:r>
              <a:rPr lang="en-US" dirty="0"/>
              <a:t>Children may lack basic nutrition, hygiene, or medical care due to parental use. </a:t>
            </a:r>
          </a:p>
          <a:p>
            <a:pPr marL="171450" lvl="0" indent="-171450">
              <a:buFont typeface="Arial" panose="020B0604020202020204" pitchFamily="34" charset="0"/>
              <a:buChar char="•"/>
            </a:pPr>
            <a:r>
              <a:rPr lang="en-US" dirty="0"/>
              <a:t>Children may also be neglected during sleep episodes after the initial euphoria of the drug has worn off. </a:t>
            </a:r>
          </a:p>
          <a:p>
            <a:pPr marL="171450" lvl="0" indent="-171450">
              <a:buFont typeface="Arial" panose="020B0604020202020204" pitchFamily="34" charset="0"/>
              <a:buChar char="•"/>
            </a:pPr>
            <a:r>
              <a:rPr lang="en-US" dirty="0"/>
              <a:t>Additional risks to children can be quite extreme if the drug is being “cooked” in their residence. These risks include fire and explosions, as well as unintentional absorption of the drug from the home environment. </a:t>
            </a:r>
          </a:p>
          <a:p>
            <a:endParaRPr lang="en-US" dirty="0"/>
          </a:p>
          <a:p>
            <a:r>
              <a:rPr lang="en-US" b="1" dirty="0"/>
              <a:t>Marijuana</a:t>
            </a:r>
          </a:p>
          <a:p>
            <a:pPr lvl="0"/>
            <a:r>
              <a:rPr lang="en-US" dirty="0"/>
              <a:t>Risks to children:</a:t>
            </a:r>
          </a:p>
          <a:p>
            <a:pPr marL="171450" lvl="0" indent="-171450">
              <a:buFont typeface="Arial" panose="020B0604020202020204" pitchFamily="34" charset="0"/>
              <a:buChar char="•"/>
            </a:pPr>
            <a:r>
              <a:rPr lang="en-US" dirty="0"/>
              <a:t>Children may lack basic nutrition, hygiene, and medical care due to the parent forgetting or failing to attend to parenting responsibilities. </a:t>
            </a:r>
          </a:p>
          <a:p>
            <a:pPr marL="171450" lvl="0" indent="-171450">
              <a:buFont typeface="Arial" panose="020B0604020202020204" pitchFamily="34" charset="0"/>
              <a:buChar char="•"/>
            </a:pPr>
            <a:r>
              <a:rPr lang="en-US" dirty="0"/>
              <a:t>Children may be left alone while parents look for, obtain, or use the drug. </a:t>
            </a:r>
          </a:p>
          <a:p>
            <a:endParaRPr lang="en-US" dirty="0"/>
          </a:p>
        </p:txBody>
      </p:sp>
      <p:sp>
        <p:nvSpPr>
          <p:cNvPr id="4" name="Slide Number Placeholder 3"/>
          <p:cNvSpPr>
            <a:spLocks noGrp="1"/>
          </p:cNvSpPr>
          <p:nvPr>
            <p:ph type="sldNum" sz="quarter" idx="10"/>
          </p:nvPr>
        </p:nvSpPr>
        <p:spPr/>
        <p:txBody>
          <a:bodyPr/>
          <a:lstStyle/>
          <a:p>
            <a:fld id="{2E1BCB87-4CC9-4D37-BDC3-E8A0FA5D025D}" type="slidenum">
              <a:rPr lang="en-US" smtClean="0"/>
              <a:pPr/>
              <a:t>19</a:t>
            </a:fld>
            <a:endParaRPr lang="en-US" dirty="0"/>
          </a:p>
        </p:txBody>
      </p:sp>
      <p:sp>
        <p:nvSpPr>
          <p:cNvPr id="10" name="Slide Image Placeholder 9"/>
          <p:cNvSpPr>
            <a:spLocks noGrp="1" noRot="1" noChangeAspect="1"/>
          </p:cNvSpPr>
          <p:nvPr>
            <p:ph type="sldImg"/>
          </p:nvPr>
        </p:nvSpPr>
        <p:spPr/>
      </p:sp>
    </p:spTree>
    <p:extLst>
      <p:ext uri="{BB962C8B-B14F-4D97-AF65-F5344CB8AC3E}">
        <p14:creationId xmlns:p14="http://schemas.microsoft.com/office/powerpoint/2010/main" val="25335619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b="1" dirty="0"/>
              <a:t>Prescription Opioids</a:t>
            </a:r>
          </a:p>
          <a:p>
            <a:pPr marL="171450" lvl="0" indent="-171450">
              <a:buFont typeface="Arial" panose="020B0604020202020204" pitchFamily="34" charset="0"/>
              <a:buChar char="•"/>
            </a:pPr>
            <a:r>
              <a:rPr lang="en-US" dirty="0"/>
              <a:t>Chronic use can result in tolerance, dependence, and withdrawal. </a:t>
            </a:r>
          </a:p>
          <a:p>
            <a:pPr marL="171450" lvl="0" indent="-171450">
              <a:buFont typeface="Arial" panose="020B0604020202020204" pitchFamily="34" charset="0"/>
              <a:buChar char="•"/>
            </a:pPr>
            <a:r>
              <a:rPr lang="en-US" dirty="0"/>
              <a:t>Examples include codeine, fentanyl, hydrocodone, morphine, and oxycodone. </a:t>
            </a:r>
          </a:p>
          <a:p>
            <a:pPr marL="171450" lvl="0" indent="-171450">
              <a:buFont typeface="Arial" panose="020B0604020202020204" pitchFamily="34" charset="0"/>
              <a:buChar char="•"/>
            </a:pPr>
            <a:r>
              <a:rPr lang="en-US" dirty="0"/>
              <a:t>Methadone, buprenorphine, and naltrexone are synthetic opioids used to treat a heroin substance use disorder. </a:t>
            </a:r>
          </a:p>
          <a:p>
            <a:r>
              <a:rPr lang="en-US" dirty="0"/>
              <a:t>Risk to children:</a:t>
            </a:r>
          </a:p>
          <a:p>
            <a:pPr marL="171450" lvl="0" indent="-171450">
              <a:buFont typeface="Arial" panose="020B0604020202020204" pitchFamily="34" charset="0"/>
              <a:buChar char="•"/>
            </a:pPr>
            <a:r>
              <a:rPr lang="en-US" dirty="0"/>
              <a:t>Children may lack basic nutrition, hygiene, and medical care because the parent forgets or neglects to attend to parenting responsibilities. </a:t>
            </a:r>
          </a:p>
          <a:p>
            <a:pPr marL="171450" lvl="0" indent="-171450">
              <a:buFont typeface="Arial" panose="020B0604020202020204" pitchFamily="34" charset="0"/>
              <a:buChar char="•"/>
            </a:pPr>
            <a:r>
              <a:rPr lang="en-US" dirty="0"/>
              <a:t>Children may be left alone while parents look for, obtain, or use the drug. </a:t>
            </a:r>
          </a:p>
          <a:p>
            <a:pPr marL="171450" indent="-171450">
              <a:buFont typeface="Arial" panose="020B0604020202020204" pitchFamily="34" charset="0"/>
              <a:buChar char="•"/>
            </a:pPr>
            <a:endParaRPr lang="en-US" dirty="0"/>
          </a:p>
          <a:p>
            <a:r>
              <a:rPr lang="en-US" b="1" dirty="0"/>
              <a:t>Stimulants</a:t>
            </a:r>
          </a:p>
          <a:p>
            <a:pPr marL="171450" indent="-171450">
              <a:buFont typeface="Arial" panose="020B0604020202020204" pitchFamily="34" charset="0"/>
              <a:buChar char="•"/>
            </a:pPr>
            <a:r>
              <a:rPr lang="en-US" dirty="0"/>
              <a:t>Amphetamines and methylphenidate (prescription drugs). </a:t>
            </a:r>
          </a:p>
          <a:p>
            <a:pPr lvl="0"/>
            <a:r>
              <a:rPr lang="en-US" dirty="0"/>
              <a:t>Risk to children:</a:t>
            </a:r>
          </a:p>
          <a:p>
            <a:pPr marL="171450" lvl="0" indent="-171450">
              <a:buFont typeface="Arial" panose="020B0604020202020204" pitchFamily="34" charset="0"/>
              <a:buChar char="•"/>
            </a:pPr>
            <a:r>
              <a:rPr lang="en-US" dirty="0"/>
              <a:t>The parent may become impatient or irritated with the child, who is unable to adapt to the parent’s level of energy. </a:t>
            </a:r>
          </a:p>
          <a:p>
            <a:pPr marL="171450" lvl="0" indent="-171450">
              <a:buFont typeface="Arial" panose="020B0604020202020204" pitchFamily="34" charset="0"/>
              <a:buChar char="•"/>
            </a:pPr>
            <a:r>
              <a:rPr lang="en-US" dirty="0"/>
              <a:t>When a parent is not hungry due to the appetite-suppressive effects of stimulants, and therefore is not preparing meals for themselves, they may also fail to consider a child’s hunger and may not ensure that he\she is fed on a regular basis.</a:t>
            </a:r>
          </a:p>
          <a:p>
            <a:endParaRPr lang="en-US" dirty="0"/>
          </a:p>
        </p:txBody>
      </p:sp>
      <p:sp>
        <p:nvSpPr>
          <p:cNvPr id="4" name="Slide Number Placeholder 3"/>
          <p:cNvSpPr>
            <a:spLocks noGrp="1"/>
          </p:cNvSpPr>
          <p:nvPr>
            <p:ph type="sldNum" sz="quarter" idx="10"/>
          </p:nvPr>
        </p:nvSpPr>
        <p:spPr/>
        <p:txBody>
          <a:bodyPr/>
          <a:lstStyle/>
          <a:p>
            <a:fld id="{2E1BCB87-4CC9-4D37-BDC3-E8A0FA5D025D}" type="slidenum">
              <a:rPr lang="en-US" smtClean="0"/>
              <a:pPr/>
              <a:t>20</a:t>
            </a:fld>
            <a:endParaRPr lang="en-US" dirty="0"/>
          </a:p>
        </p:txBody>
      </p:sp>
      <p:sp>
        <p:nvSpPr>
          <p:cNvPr id="10" name="Slide Image Placeholder 9"/>
          <p:cNvSpPr>
            <a:spLocks noGrp="1" noRot="1" noChangeAspect="1"/>
          </p:cNvSpPr>
          <p:nvPr>
            <p:ph type="sldImg"/>
          </p:nvPr>
        </p:nvSpPr>
        <p:spPr/>
      </p:sp>
    </p:spTree>
    <p:extLst>
      <p:ext uri="{BB962C8B-B14F-4D97-AF65-F5344CB8AC3E}">
        <p14:creationId xmlns:p14="http://schemas.microsoft.com/office/powerpoint/2010/main" val="17819839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What do we mean by a substance use disorder? </a:t>
            </a:r>
          </a:p>
          <a:p>
            <a:pPr lvl="0"/>
            <a:endParaRPr lang="en-US" dirty="0"/>
          </a:p>
          <a:p>
            <a:pPr lvl="0"/>
            <a:r>
              <a:rPr lang="en-US" dirty="0"/>
              <a:t>Substance use disorders are a problematic pattern of substance use leading to clinically significant impairment or distress, as manifested by at least two of the above criteria, and occurring at any time in the same 12-month period. </a:t>
            </a:r>
          </a:p>
          <a:p>
            <a:endParaRPr lang="en-US" dirty="0"/>
          </a:p>
          <a:p>
            <a:r>
              <a:rPr lang="en-US" dirty="0"/>
              <a:t>This slide summarizes the criteria now used to diagnose a substance use disorder. It represents a departure from previous editions of the DSM. Previously, diagnosis was based on categories of use, dependence and addiction. New criteria uses Mild, Moderate and Severe based on the presence and number of symptoms.</a:t>
            </a:r>
          </a:p>
          <a:p>
            <a:endParaRPr lang="en-US" dirty="0"/>
          </a:p>
          <a:p>
            <a:r>
              <a:rPr lang="en-US" dirty="0"/>
              <a:t>Generally speaking, substance use disorder assessment tools draw from the criteria in the </a:t>
            </a:r>
            <a:r>
              <a:rPr lang="en-US" i="1" dirty="0"/>
              <a:t>American Psychiatric Association’s Diagnostic and Statistical Manual of Mental Disorders</a:t>
            </a:r>
            <a:r>
              <a:rPr lang="en-US" dirty="0"/>
              <a:t>, Fifth Edition (DSM-5), which is the standard for classifying mental disorders in the United States. </a:t>
            </a:r>
          </a:p>
          <a:p>
            <a:endParaRPr lang="en-US" b="1" dirty="0"/>
          </a:p>
          <a:p>
            <a:r>
              <a:rPr lang="en-US" b="1" dirty="0"/>
              <a:t>***Highlight that only a licensed counselor is able to diagnosis a person with a substance use disorder. </a:t>
            </a:r>
          </a:p>
        </p:txBody>
      </p:sp>
      <p:sp>
        <p:nvSpPr>
          <p:cNvPr id="4" name="Slide Number Placeholder 3"/>
          <p:cNvSpPr>
            <a:spLocks noGrp="1"/>
          </p:cNvSpPr>
          <p:nvPr>
            <p:ph type="sldNum" sz="quarter" idx="10"/>
          </p:nvPr>
        </p:nvSpPr>
        <p:spPr/>
        <p:txBody>
          <a:bodyPr/>
          <a:lstStyle/>
          <a:p>
            <a:fld id="{4D5219C3-03CA-4043-BEDD-F9284CE6AF8D}" type="slidenum">
              <a:rPr lang="en-US" smtClean="0"/>
              <a:pPr/>
              <a:t>21</a:t>
            </a:fld>
            <a:endParaRPr lang="en-US" dirty="0"/>
          </a:p>
        </p:txBody>
      </p:sp>
      <p:sp>
        <p:nvSpPr>
          <p:cNvPr id="10" name="Slide Image Placeholder 9"/>
          <p:cNvSpPr>
            <a:spLocks noGrp="1" noRot="1" noChangeAspect="1"/>
          </p:cNvSpPr>
          <p:nvPr>
            <p:ph type="sldImg"/>
          </p:nvPr>
        </p:nvSpPr>
        <p:spPr/>
      </p:sp>
    </p:spTree>
    <p:extLst>
      <p:ext uri="{BB962C8B-B14F-4D97-AF65-F5344CB8AC3E}">
        <p14:creationId xmlns:p14="http://schemas.microsoft.com/office/powerpoint/2010/main" val="12743932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a:t>When child welfare workers have concern that a parent may have a substance use disorder, they will need to refer the parent to substance use disorder treatment. This slide provides a general overview of the treatment process from assessment through ongoing support. </a:t>
            </a:r>
          </a:p>
          <a:p>
            <a:endParaRPr lang="en-US"/>
          </a:p>
          <a:p>
            <a:r>
              <a:rPr lang="en-US"/>
              <a:t> </a:t>
            </a:r>
            <a:endParaRPr lang="en-US" dirty="0"/>
          </a:p>
        </p:txBody>
      </p:sp>
      <p:sp>
        <p:nvSpPr>
          <p:cNvPr id="4" name="Slide Number Placeholder 3"/>
          <p:cNvSpPr>
            <a:spLocks noGrp="1"/>
          </p:cNvSpPr>
          <p:nvPr>
            <p:ph type="sldNum" sz="quarter" idx="10"/>
          </p:nvPr>
        </p:nvSpPr>
        <p:spPr/>
        <p:txBody>
          <a:bodyPr/>
          <a:lstStyle/>
          <a:p>
            <a:fld id="{AE586D5A-D47F-4C19-9E8B-22DE8F8E7FA7}" type="slidenum">
              <a:rPr lang="en-US" smtClean="0"/>
              <a:pPr/>
              <a:t>22</a:t>
            </a:fld>
            <a:endParaRPr lang="en-US" dirty="0"/>
          </a:p>
        </p:txBody>
      </p:sp>
      <p:sp>
        <p:nvSpPr>
          <p:cNvPr id="10" name="Slide Image Placeholder 9"/>
          <p:cNvSpPr>
            <a:spLocks noGrp="1" noRot="1" noChangeAspect="1"/>
          </p:cNvSpPr>
          <p:nvPr>
            <p:ph type="sldImg"/>
          </p:nvPr>
        </p:nvSpPr>
        <p:spPr/>
      </p:sp>
    </p:spTree>
    <p:extLst>
      <p:ext uri="{BB962C8B-B14F-4D97-AF65-F5344CB8AC3E}">
        <p14:creationId xmlns:p14="http://schemas.microsoft.com/office/powerpoint/2010/main" val="5783629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2" name="Slide Image Placeholder 1">
            <a:extLst>
              <a:ext uri="{FF2B5EF4-FFF2-40B4-BE49-F238E27FC236}">
                <a16:creationId xmlns:a16="http://schemas.microsoft.com/office/drawing/2014/main" id="{C7A12F44-1C21-4BBA-B15F-85878861DBC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63" name="Notes Placeholder 2">
            <a:extLst>
              <a:ext uri="{FF2B5EF4-FFF2-40B4-BE49-F238E27FC236}">
                <a16:creationId xmlns:a16="http://schemas.microsoft.com/office/drawing/2014/main" id="{8501F545-03DF-4632-9F71-B7401CD4006B}"/>
              </a:ext>
            </a:extLst>
          </p:cNvPr>
          <p:cNvSpPr>
            <a:spLocks noGrp="1"/>
          </p:cNvSpPr>
          <p:nvPr>
            <p:ph type="body" idx="1"/>
          </p:nvPr>
        </p:nvSpPr>
        <p:spPr>
          <a:noFill/>
        </p:spPr>
        <p:txBody>
          <a:bodyPr/>
          <a:lstStyle/>
          <a:p>
            <a:pPr marL="3175" lvl="1"/>
            <a:r>
              <a:rPr lang="en-US" altLang="en-US"/>
              <a:t>Daily social challenges may cause hyperreactivity of stress responses so that minor events become more difficult to master and/or produce anxiety and decline in self-efficacy.  </a:t>
            </a:r>
          </a:p>
          <a:p>
            <a:pPr marL="3175" lvl="1"/>
            <a:r>
              <a:rPr lang="en-US" altLang="en-US"/>
              <a:t>More difficult to meet social task challenges which require intact neurocognitive and emotional functions that are often compromised in people with mental health issues</a:t>
            </a:r>
          </a:p>
          <a:p>
            <a:endParaRPr lang="en-US" altLang="en-US"/>
          </a:p>
        </p:txBody>
      </p:sp>
      <p:sp>
        <p:nvSpPr>
          <p:cNvPr id="245764" name="Slide Number Placeholder 3">
            <a:extLst>
              <a:ext uri="{FF2B5EF4-FFF2-40B4-BE49-F238E27FC236}">
                <a16:creationId xmlns:a16="http://schemas.microsoft.com/office/drawing/2014/main" id="{655DBE10-8110-4563-99D0-3B3F1EB0CA19}"/>
              </a:ext>
            </a:extLst>
          </p:cNvPr>
          <p:cNvSpPr txBox="1">
            <a:spLocks noGrp="1"/>
          </p:cNvSpPr>
          <p:nvPr/>
        </p:nvSpPr>
        <p:spPr bwMode="auto">
          <a:xfrm>
            <a:off x="3776663" y="9429750"/>
            <a:ext cx="289083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112" tIns="42556" rIns="85112" bIns="42556" anchor="b"/>
          <a:lstStyle>
            <a:lvl1pPr defTabSz="850900" eaLnBrk="0" hangingPunct="0">
              <a:defRPr>
                <a:solidFill>
                  <a:schemeClr val="tx1"/>
                </a:solidFill>
                <a:latin typeface="Arial" panose="020B0604020202020204" pitchFamily="34" charset="0"/>
                <a:ea typeface="DejaVu Sans"/>
                <a:cs typeface="DejaVu Sans"/>
              </a:defRPr>
            </a:lvl1pPr>
            <a:lvl2pPr marL="742950" indent="-285750" defTabSz="850900" eaLnBrk="0" hangingPunct="0">
              <a:defRPr>
                <a:solidFill>
                  <a:schemeClr val="tx1"/>
                </a:solidFill>
                <a:latin typeface="Arial" panose="020B0604020202020204" pitchFamily="34" charset="0"/>
                <a:ea typeface="DejaVu Sans"/>
                <a:cs typeface="DejaVu Sans"/>
              </a:defRPr>
            </a:lvl2pPr>
            <a:lvl3pPr marL="1143000" indent="-228600" defTabSz="850900" eaLnBrk="0" hangingPunct="0">
              <a:defRPr>
                <a:solidFill>
                  <a:schemeClr val="tx1"/>
                </a:solidFill>
                <a:latin typeface="Arial" panose="020B0604020202020204" pitchFamily="34" charset="0"/>
                <a:ea typeface="DejaVu Sans"/>
                <a:cs typeface="DejaVu Sans"/>
              </a:defRPr>
            </a:lvl3pPr>
            <a:lvl4pPr marL="1600200" indent="-228600" defTabSz="850900" eaLnBrk="0" hangingPunct="0">
              <a:defRPr>
                <a:solidFill>
                  <a:schemeClr val="tx1"/>
                </a:solidFill>
                <a:latin typeface="Arial" panose="020B0604020202020204" pitchFamily="34" charset="0"/>
                <a:ea typeface="DejaVu Sans"/>
                <a:cs typeface="DejaVu Sans"/>
              </a:defRPr>
            </a:lvl4pPr>
            <a:lvl5pPr marL="2057400" indent="-228600" defTabSz="850900" eaLnBrk="0" hangingPunct="0">
              <a:defRPr>
                <a:solidFill>
                  <a:schemeClr val="tx1"/>
                </a:solidFill>
                <a:latin typeface="Arial" panose="020B0604020202020204" pitchFamily="34" charset="0"/>
                <a:ea typeface="DejaVu Sans"/>
                <a:cs typeface="DejaVu Sans"/>
              </a:defRPr>
            </a:lvl5pPr>
            <a:lvl6pPr marL="25146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lgn="r" eaLnBrk="1" hangingPunct="1"/>
            <a:fld id="{FEC4CA34-A977-4B8E-8A05-17C1553F623C}" type="slidenum">
              <a:rPr lang="en-US" altLang="en-US" sz="1100"/>
              <a:pPr algn="r" eaLnBrk="1" hangingPunct="1"/>
              <a:t>24</a:t>
            </a:fld>
            <a:endParaRPr lang="en-US" altLang="en-US" sz="11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Slide Image Placeholder 1">
            <a:extLst>
              <a:ext uri="{FF2B5EF4-FFF2-40B4-BE49-F238E27FC236}">
                <a16:creationId xmlns:a16="http://schemas.microsoft.com/office/drawing/2014/main" id="{BCD93BA9-8371-436D-9068-2120C6D4C60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7811" name="Notes Placeholder 2">
            <a:extLst>
              <a:ext uri="{FF2B5EF4-FFF2-40B4-BE49-F238E27FC236}">
                <a16:creationId xmlns:a16="http://schemas.microsoft.com/office/drawing/2014/main" id="{BB356075-24AE-422C-9167-79FE918997F9}"/>
              </a:ext>
            </a:extLst>
          </p:cNvPr>
          <p:cNvSpPr>
            <a:spLocks noGrp="1"/>
          </p:cNvSpPr>
          <p:nvPr>
            <p:ph type="body" idx="1"/>
          </p:nvPr>
        </p:nvSpPr>
        <p:spPr>
          <a:noFill/>
        </p:spPr>
        <p:txBody>
          <a:bodyPr/>
          <a:lstStyle/>
          <a:p>
            <a:r>
              <a:rPr lang="en-US" altLang="en-US"/>
              <a:t>Conduct disorder and aggression in particular is the biggest risk factor for drug use.</a:t>
            </a:r>
          </a:p>
        </p:txBody>
      </p:sp>
      <p:sp>
        <p:nvSpPr>
          <p:cNvPr id="247812" name="Slide Number Placeholder 3">
            <a:extLst>
              <a:ext uri="{FF2B5EF4-FFF2-40B4-BE49-F238E27FC236}">
                <a16:creationId xmlns:a16="http://schemas.microsoft.com/office/drawing/2014/main" id="{B8182D82-865A-4EE7-A871-E2A48F6FEF6C}"/>
              </a:ext>
            </a:extLst>
          </p:cNvPr>
          <p:cNvSpPr txBox="1">
            <a:spLocks noGrp="1"/>
          </p:cNvSpPr>
          <p:nvPr/>
        </p:nvSpPr>
        <p:spPr bwMode="auto">
          <a:xfrm>
            <a:off x="3776663" y="9429750"/>
            <a:ext cx="289083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112" tIns="42556" rIns="85112" bIns="42556" anchor="b"/>
          <a:lstStyle>
            <a:lvl1pPr defTabSz="850900" eaLnBrk="0" hangingPunct="0">
              <a:defRPr>
                <a:solidFill>
                  <a:schemeClr val="tx1"/>
                </a:solidFill>
                <a:latin typeface="Arial" panose="020B0604020202020204" pitchFamily="34" charset="0"/>
                <a:ea typeface="DejaVu Sans"/>
                <a:cs typeface="DejaVu Sans"/>
              </a:defRPr>
            </a:lvl1pPr>
            <a:lvl2pPr marL="742950" indent="-285750" defTabSz="850900" eaLnBrk="0" hangingPunct="0">
              <a:defRPr>
                <a:solidFill>
                  <a:schemeClr val="tx1"/>
                </a:solidFill>
                <a:latin typeface="Arial" panose="020B0604020202020204" pitchFamily="34" charset="0"/>
                <a:ea typeface="DejaVu Sans"/>
                <a:cs typeface="DejaVu Sans"/>
              </a:defRPr>
            </a:lvl2pPr>
            <a:lvl3pPr marL="1143000" indent="-228600" defTabSz="850900" eaLnBrk="0" hangingPunct="0">
              <a:defRPr>
                <a:solidFill>
                  <a:schemeClr val="tx1"/>
                </a:solidFill>
                <a:latin typeface="Arial" panose="020B0604020202020204" pitchFamily="34" charset="0"/>
                <a:ea typeface="DejaVu Sans"/>
                <a:cs typeface="DejaVu Sans"/>
              </a:defRPr>
            </a:lvl3pPr>
            <a:lvl4pPr marL="1600200" indent="-228600" defTabSz="850900" eaLnBrk="0" hangingPunct="0">
              <a:defRPr>
                <a:solidFill>
                  <a:schemeClr val="tx1"/>
                </a:solidFill>
                <a:latin typeface="Arial" panose="020B0604020202020204" pitchFamily="34" charset="0"/>
                <a:ea typeface="DejaVu Sans"/>
                <a:cs typeface="DejaVu Sans"/>
              </a:defRPr>
            </a:lvl4pPr>
            <a:lvl5pPr marL="2057400" indent="-228600" defTabSz="850900" eaLnBrk="0" hangingPunct="0">
              <a:defRPr>
                <a:solidFill>
                  <a:schemeClr val="tx1"/>
                </a:solidFill>
                <a:latin typeface="Arial" panose="020B0604020202020204" pitchFamily="34" charset="0"/>
                <a:ea typeface="DejaVu Sans"/>
                <a:cs typeface="DejaVu Sans"/>
              </a:defRPr>
            </a:lvl5pPr>
            <a:lvl6pPr marL="25146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lgn="r" eaLnBrk="1" hangingPunct="1"/>
            <a:fld id="{40709F6C-0AE0-41CE-99E1-2FFF127B16F4}" type="slidenum">
              <a:rPr lang="en-US" altLang="en-US" sz="1100"/>
              <a:pPr algn="r" eaLnBrk="1" hangingPunct="1"/>
              <a:t>25</a:t>
            </a:fld>
            <a:endParaRPr lang="en-US" altLang="en-US"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Slide Image Placeholder 1">
            <a:extLst>
              <a:ext uri="{FF2B5EF4-FFF2-40B4-BE49-F238E27FC236}">
                <a16:creationId xmlns:a16="http://schemas.microsoft.com/office/drawing/2014/main" id="{AC5FFAD5-703C-48FD-98D9-E698264E291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0883" name="Notes Placeholder 2">
            <a:extLst>
              <a:ext uri="{FF2B5EF4-FFF2-40B4-BE49-F238E27FC236}">
                <a16:creationId xmlns:a16="http://schemas.microsoft.com/office/drawing/2014/main" id="{44CEF498-90BA-405D-B801-BC80CC1967DF}"/>
              </a:ext>
            </a:extLst>
          </p:cNvPr>
          <p:cNvSpPr>
            <a:spLocks noGrp="1"/>
          </p:cNvSpPr>
          <p:nvPr>
            <p:ph type="body" idx="1"/>
          </p:nvPr>
        </p:nvSpPr>
        <p:spPr>
          <a:noFill/>
        </p:spPr>
        <p:txBody>
          <a:bodyPr/>
          <a:lstStyle/>
          <a:p>
            <a:r>
              <a:rPr lang="en-GB" altLang="en-US"/>
              <a:t>We have already seen how a good temperament can affect the attachment of caregivers (parents) to children, but it is in adolescence that this can get out of hand.</a:t>
            </a:r>
            <a:endParaRPr lang="en-US" altLang="en-US"/>
          </a:p>
          <a:p>
            <a:endParaRPr lang="en-US" altLang="en-US"/>
          </a:p>
          <a:p>
            <a:r>
              <a:rPr lang="en-US" altLang="en-US"/>
              <a:t>Prevention strategies will be most effective if they focus on these underlying traits, in conjunction with particular forms of environmental supports as indicated by the needs of targeted individuals, their families, and their neighborhoods</a:t>
            </a:r>
          </a:p>
          <a:p>
            <a:endParaRPr lang="en-US" altLang="en-US"/>
          </a:p>
        </p:txBody>
      </p:sp>
      <p:sp>
        <p:nvSpPr>
          <p:cNvPr id="250884" name="Slide Number Placeholder 3">
            <a:extLst>
              <a:ext uri="{FF2B5EF4-FFF2-40B4-BE49-F238E27FC236}">
                <a16:creationId xmlns:a16="http://schemas.microsoft.com/office/drawing/2014/main" id="{F79BE3C4-5F49-499E-89FF-8AD2246A5366}"/>
              </a:ext>
            </a:extLst>
          </p:cNvPr>
          <p:cNvSpPr txBox="1">
            <a:spLocks noGrp="1"/>
          </p:cNvSpPr>
          <p:nvPr/>
        </p:nvSpPr>
        <p:spPr bwMode="auto">
          <a:xfrm>
            <a:off x="3776663" y="9429750"/>
            <a:ext cx="2890837"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5112" tIns="42556" rIns="85112" bIns="42556" anchor="b"/>
          <a:lstStyle>
            <a:lvl1pPr defTabSz="850900" eaLnBrk="0" hangingPunct="0">
              <a:defRPr>
                <a:solidFill>
                  <a:schemeClr val="tx1"/>
                </a:solidFill>
                <a:latin typeface="Arial" panose="020B0604020202020204" pitchFamily="34" charset="0"/>
                <a:ea typeface="DejaVu Sans"/>
                <a:cs typeface="DejaVu Sans"/>
              </a:defRPr>
            </a:lvl1pPr>
            <a:lvl2pPr marL="742950" indent="-285750" defTabSz="850900" eaLnBrk="0" hangingPunct="0">
              <a:defRPr>
                <a:solidFill>
                  <a:schemeClr val="tx1"/>
                </a:solidFill>
                <a:latin typeface="Arial" panose="020B0604020202020204" pitchFamily="34" charset="0"/>
                <a:ea typeface="DejaVu Sans"/>
                <a:cs typeface="DejaVu Sans"/>
              </a:defRPr>
            </a:lvl2pPr>
            <a:lvl3pPr marL="1143000" indent="-228600" defTabSz="850900" eaLnBrk="0" hangingPunct="0">
              <a:defRPr>
                <a:solidFill>
                  <a:schemeClr val="tx1"/>
                </a:solidFill>
                <a:latin typeface="Arial" panose="020B0604020202020204" pitchFamily="34" charset="0"/>
                <a:ea typeface="DejaVu Sans"/>
                <a:cs typeface="DejaVu Sans"/>
              </a:defRPr>
            </a:lvl3pPr>
            <a:lvl4pPr marL="1600200" indent="-228600" defTabSz="850900" eaLnBrk="0" hangingPunct="0">
              <a:defRPr>
                <a:solidFill>
                  <a:schemeClr val="tx1"/>
                </a:solidFill>
                <a:latin typeface="Arial" panose="020B0604020202020204" pitchFamily="34" charset="0"/>
                <a:ea typeface="DejaVu Sans"/>
                <a:cs typeface="DejaVu Sans"/>
              </a:defRPr>
            </a:lvl4pPr>
            <a:lvl5pPr marL="2057400" indent="-228600" defTabSz="850900" eaLnBrk="0" hangingPunct="0">
              <a:defRPr>
                <a:solidFill>
                  <a:schemeClr val="tx1"/>
                </a:solidFill>
                <a:latin typeface="Arial" panose="020B0604020202020204" pitchFamily="34" charset="0"/>
                <a:ea typeface="DejaVu Sans"/>
                <a:cs typeface="DejaVu Sans"/>
              </a:defRPr>
            </a:lvl5pPr>
            <a:lvl6pPr marL="25146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6pPr>
            <a:lvl7pPr marL="29718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7pPr>
            <a:lvl8pPr marL="34290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8pPr>
            <a:lvl9pPr marL="3886200" indent="-228600" defTabSz="850900" eaLnBrk="0" fontAlgn="base" hangingPunct="0">
              <a:spcBef>
                <a:spcPct val="0"/>
              </a:spcBef>
              <a:spcAft>
                <a:spcPct val="0"/>
              </a:spcAft>
              <a:defRPr>
                <a:solidFill>
                  <a:schemeClr val="tx1"/>
                </a:solidFill>
                <a:latin typeface="Arial" panose="020B0604020202020204" pitchFamily="34" charset="0"/>
                <a:ea typeface="DejaVu Sans"/>
                <a:cs typeface="DejaVu Sans"/>
              </a:defRPr>
            </a:lvl9pPr>
          </a:lstStyle>
          <a:p>
            <a:pPr algn="r" eaLnBrk="1" hangingPunct="1"/>
            <a:fld id="{060B2D28-947C-4B12-8CF2-44508545B696}" type="slidenum">
              <a:rPr lang="en-US" altLang="en-US" sz="1100"/>
              <a:pPr algn="r" eaLnBrk="1" hangingPunct="1"/>
              <a:t>27</a:t>
            </a:fld>
            <a:endParaRPr lang="en-US" altLang="en-US"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56B82-D434-40FD-BAE7-979A44C5498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EF63CFB-3414-42AF-81F5-19546BCE184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7477969-F071-48BD-BABC-F385477DAB57}"/>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5" name="Footer Placeholder 4">
            <a:extLst>
              <a:ext uri="{FF2B5EF4-FFF2-40B4-BE49-F238E27FC236}">
                <a16:creationId xmlns:a16="http://schemas.microsoft.com/office/drawing/2014/main" id="{B3E74155-52A4-4C8A-9749-B43BCC65FB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4677285-0585-41EA-853E-4ACC9BE0959B}"/>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2388788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A3610-E03B-4B9C-9438-99DA4AF12DA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DF538B7-2E1E-4A58-B4DA-80F7C2C640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51DDF3-68C7-4E16-A341-4E3E8935FB30}"/>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5" name="Footer Placeholder 4">
            <a:extLst>
              <a:ext uri="{FF2B5EF4-FFF2-40B4-BE49-F238E27FC236}">
                <a16:creationId xmlns:a16="http://schemas.microsoft.com/office/drawing/2014/main" id="{32B5EF02-AF16-41C7-8AE0-46E2EF07C1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B3879A4-9049-4EF1-941F-F784D8D47171}"/>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2763937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BCB3A-3934-459E-9B88-FEADB539584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0D99DF7-63D9-4D3C-A9C2-C5774FC880C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5E0970-7E17-44D1-935A-8BBFEA6D43EA}"/>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5" name="Footer Placeholder 4">
            <a:extLst>
              <a:ext uri="{FF2B5EF4-FFF2-40B4-BE49-F238E27FC236}">
                <a16:creationId xmlns:a16="http://schemas.microsoft.com/office/drawing/2014/main" id="{3F305BE8-05A0-4A3E-A332-DF9E826C71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4EE37D-A465-40C0-B578-ADCF58E2BBF1}"/>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3940525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34C38-F34F-4239-AA13-BA8B40BA868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FE86898-ABEA-451D-BB77-B3FF7052F3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B23971D-E2D8-4A8C-8BC2-7A3D9A124F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A75A705-CE6C-4011-B9F8-F891C0C864F3}"/>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6" name="Footer Placeholder 5">
            <a:extLst>
              <a:ext uri="{FF2B5EF4-FFF2-40B4-BE49-F238E27FC236}">
                <a16:creationId xmlns:a16="http://schemas.microsoft.com/office/drawing/2014/main" id="{1DFFD782-1CBE-424D-A1ED-AEF9B1E26C5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F488EE-D8B9-4B7C-A537-4695F0091AEC}"/>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39994676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4D95F6-DF9A-4D04-A060-39C063D5670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2A7A64D-F097-4D10-899F-5FF9B5FE7C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F75EC6-A746-47E6-8138-0C878B54E41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EF64398-16B2-4B65-AE9E-64F988B602F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061E73-0139-41B0-A8EC-442C578567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211414A-7F94-485D-9470-D4DDB89149BA}"/>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8" name="Footer Placeholder 7">
            <a:extLst>
              <a:ext uri="{FF2B5EF4-FFF2-40B4-BE49-F238E27FC236}">
                <a16:creationId xmlns:a16="http://schemas.microsoft.com/office/drawing/2014/main" id="{1246077F-3CE1-4EA7-91AF-3F27AFC574A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4BFF2A8-69A0-4C57-ACFE-392A68E1F13F}"/>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8172879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0021B7-33F9-4DD8-8CB9-1FB62ED1AB8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0E4F748-86AE-4FA9-BA0F-DBA84F1BDD83}"/>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4" name="Footer Placeholder 3">
            <a:extLst>
              <a:ext uri="{FF2B5EF4-FFF2-40B4-BE49-F238E27FC236}">
                <a16:creationId xmlns:a16="http://schemas.microsoft.com/office/drawing/2014/main" id="{178F48F2-ABA7-4EA7-ACED-1B9C62171A8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6FCDF7E-DE9A-44FD-8931-10E85E5CBD08}"/>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24957516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832D49-EB8E-419C-800C-F18082BD9B1C}"/>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3" name="Footer Placeholder 2">
            <a:extLst>
              <a:ext uri="{FF2B5EF4-FFF2-40B4-BE49-F238E27FC236}">
                <a16:creationId xmlns:a16="http://schemas.microsoft.com/office/drawing/2014/main" id="{0F0A8792-01F1-4CCD-82C0-B7026B8CF2B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1BB78DB-03B2-42D2-97B2-FE825DFC3B18}"/>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2377499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0D529-1B78-41A6-9CF6-20357775F76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2086BD0-337D-4730-8224-B9318C6214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043E96A-6D8E-47E8-91F1-433B5E9AC00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BEF9E9-2806-40B6-96AF-5DEFE838EACF}"/>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6" name="Footer Placeholder 5">
            <a:extLst>
              <a:ext uri="{FF2B5EF4-FFF2-40B4-BE49-F238E27FC236}">
                <a16:creationId xmlns:a16="http://schemas.microsoft.com/office/drawing/2014/main" id="{3C20D9F7-0331-4E60-B594-6A9F236A8A1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799D71-D197-410F-B5AF-441C36812A7E}"/>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4273558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D1E06-6556-45C9-A403-743F5C7AD2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13086B8-A980-4FAE-A5CD-2330FD3B1B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991714BD-397C-45A8-B78C-5EFD01AB6F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9A5CD5-4B03-4AC4-BEAF-E1EA96DB04B2}"/>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6" name="Footer Placeholder 5">
            <a:extLst>
              <a:ext uri="{FF2B5EF4-FFF2-40B4-BE49-F238E27FC236}">
                <a16:creationId xmlns:a16="http://schemas.microsoft.com/office/drawing/2014/main" id="{FDE457E4-68F0-45C0-890B-218508D235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7F37ABA-02A5-402C-AE59-636BC49B70B4}"/>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2184549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F540E-E7BC-458D-A1CB-55982B2A06A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E70D0A-9852-416E-B7F4-A8C58417D6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1F2BD9-8554-48AA-A3FB-B8EE4126D2CE}"/>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5" name="Footer Placeholder 4">
            <a:extLst>
              <a:ext uri="{FF2B5EF4-FFF2-40B4-BE49-F238E27FC236}">
                <a16:creationId xmlns:a16="http://schemas.microsoft.com/office/drawing/2014/main" id="{669ACB25-6256-478D-9975-CB1740E17C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3BDEBDE-E112-4080-87EB-CD0A1227CBD0}"/>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2939965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4E1FB0F-F2EF-4ECC-9357-065F7B64FD9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FDCE62-56EE-4E93-9ED7-E559F8A88EA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FE18FF-F0E7-4B05-BE15-373AFC298DEB}"/>
              </a:ext>
            </a:extLst>
          </p:cNvPr>
          <p:cNvSpPr>
            <a:spLocks noGrp="1"/>
          </p:cNvSpPr>
          <p:nvPr>
            <p:ph type="dt" sz="half" idx="10"/>
          </p:nvPr>
        </p:nvSpPr>
        <p:spPr/>
        <p:txBody>
          <a:bodyPr/>
          <a:lstStyle/>
          <a:p>
            <a:fld id="{9F5013ED-8CD4-4CE1-B9C1-C605E74B791F}" type="datetimeFigureOut">
              <a:rPr lang="en-IN" smtClean="0"/>
              <a:t>23-05-2022</a:t>
            </a:fld>
            <a:endParaRPr lang="en-IN"/>
          </a:p>
        </p:txBody>
      </p:sp>
      <p:sp>
        <p:nvSpPr>
          <p:cNvPr id="5" name="Footer Placeholder 4">
            <a:extLst>
              <a:ext uri="{FF2B5EF4-FFF2-40B4-BE49-F238E27FC236}">
                <a16:creationId xmlns:a16="http://schemas.microsoft.com/office/drawing/2014/main" id="{72E724DE-6BEC-4FCA-AC14-F5182798AE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11EF17-C91A-4E5B-BE94-C87CF714BFAC}"/>
              </a:ext>
            </a:extLst>
          </p:cNvPr>
          <p:cNvSpPr>
            <a:spLocks noGrp="1"/>
          </p:cNvSpPr>
          <p:nvPr>
            <p:ph type="sldNum" sz="quarter" idx="12"/>
          </p:nvPr>
        </p:nvSpPr>
        <p:spPr/>
        <p:txBody>
          <a:bodyPr/>
          <a:lstStyle/>
          <a:p>
            <a:fld id="{C7CD116E-6FAE-4DAA-AC41-CB0556A8B73F}" type="slidenum">
              <a:rPr lang="en-IN" smtClean="0"/>
              <a:t>‹#›</a:t>
            </a:fld>
            <a:endParaRPr lang="en-IN"/>
          </a:p>
        </p:txBody>
      </p:sp>
    </p:spTree>
    <p:extLst>
      <p:ext uri="{BB962C8B-B14F-4D97-AF65-F5344CB8AC3E}">
        <p14:creationId xmlns:p14="http://schemas.microsoft.com/office/powerpoint/2010/main" val="33442181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8713-5C71-4847-9E70-4D4C80032C24}"/>
              </a:ext>
            </a:extLst>
          </p:cNvPr>
          <p:cNvSpPr>
            <a:spLocks noGrp="1"/>
          </p:cNvSpPr>
          <p:nvPr>
            <p:ph type="title"/>
          </p:nvPr>
        </p:nvSpPr>
        <p:spPr>
          <a:xfrm>
            <a:off x="914400" y="609600"/>
            <a:ext cx="10363200" cy="1143000"/>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501C6EA-B54D-42ED-A196-FE234037BF8C}"/>
              </a:ext>
            </a:extLst>
          </p:cNvPr>
          <p:cNvSpPr>
            <a:spLocks noGrp="1"/>
          </p:cNvSpPr>
          <p:nvPr>
            <p:ph type="body" sz="half" idx="1"/>
          </p:nvPr>
        </p:nvSpPr>
        <p:spPr>
          <a:xfrm>
            <a:off x="9144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FED28C-6354-4FB1-81B8-825D50E3B325}"/>
              </a:ext>
            </a:extLst>
          </p:cNvPr>
          <p:cNvSpPr>
            <a:spLocks noGrp="1"/>
          </p:cNvSpPr>
          <p:nvPr>
            <p:ph sz="half" idx="2"/>
          </p:nvPr>
        </p:nvSpPr>
        <p:spPr>
          <a:xfrm>
            <a:off x="6197600" y="19812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838636890"/>
      </p:ext>
    </p:extLst>
  </p:cSld>
  <p:clrMapOvr>
    <a:masterClrMapping/>
  </p:clrMapOvr>
  <p:transition>
    <p:cut/>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C10840-9FD3-499E-8DB5-BA3EFA02C4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F1F7791-A8BA-4263-BAAD-18CD7DC329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23E167-3DEE-4A32-9A87-93100AEAC7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5013ED-8CD4-4CE1-B9C1-C605E74B791F}" type="datetimeFigureOut">
              <a:rPr lang="en-IN" smtClean="0"/>
              <a:t>23-05-2022</a:t>
            </a:fld>
            <a:endParaRPr lang="en-IN"/>
          </a:p>
        </p:txBody>
      </p:sp>
      <p:sp>
        <p:nvSpPr>
          <p:cNvPr id="5" name="Footer Placeholder 4">
            <a:extLst>
              <a:ext uri="{FF2B5EF4-FFF2-40B4-BE49-F238E27FC236}">
                <a16:creationId xmlns:a16="http://schemas.microsoft.com/office/drawing/2014/main" id="{1A75E911-ACEA-4A07-A5EA-1D1820F5E9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CEC1483-A0CA-4CD1-8F38-454BB80F1A2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7CD116E-6FAE-4DAA-AC41-CB0556A8B73F}" type="slidenum">
              <a:rPr lang="en-IN" smtClean="0"/>
              <a:t>‹#›</a:t>
            </a:fld>
            <a:endParaRPr lang="en-IN"/>
          </a:p>
        </p:txBody>
      </p:sp>
    </p:spTree>
    <p:extLst>
      <p:ext uri="{BB962C8B-B14F-4D97-AF65-F5344CB8AC3E}">
        <p14:creationId xmlns:p14="http://schemas.microsoft.com/office/powerpoint/2010/main" val="30075895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498A54-C8EA-4F88-874B-85C139382412}"/>
              </a:ext>
            </a:extLst>
          </p:cNvPr>
          <p:cNvSpPr txBox="1"/>
          <p:nvPr/>
        </p:nvSpPr>
        <p:spPr>
          <a:xfrm>
            <a:off x="1659832" y="2365512"/>
            <a:ext cx="8786191" cy="646331"/>
          </a:xfrm>
          <a:prstGeom prst="rect">
            <a:avLst/>
          </a:prstGeom>
          <a:noFill/>
        </p:spPr>
        <p:txBody>
          <a:bodyPr wrap="square" rtlCol="0">
            <a:spAutoFit/>
          </a:bodyPr>
          <a:lstStyle/>
          <a:p>
            <a:pPr algn="ctr"/>
            <a:r>
              <a:rPr lang="en-IN" sz="3600" dirty="0">
                <a:solidFill>
                  <a:srgbClr val="282828"/>
                </a:solidFill>
                <a:effectLst/>
                <a:latin typeface="Calibri" panose="020F0502020204030204" pitchFamily="34" charset="0"/>
                <a:ea typeface="Times New Roman" panose="02020603050405020304" pitchFamily="18" charset="0"/>
                <a:cs typeface="Cordia New" panose="020B0304020202020204" pitchFamily="34" charset="-34"/>
              </a:rPr>
              <a:t>Effects and health hazards from addictions</a:t>
            </a:r>
            <a:endParaRPr lang="en-IN" sz="5400" b="1" dirty="0"/>
          </a:p>
        </p:txBody>
      </p:sp>
      <p:sp>
        <p:nvSpPr>
          <p:cNvPr id="5" name="TextBox 4">
            <a:extLst>
              <a:ext uri="{FF2B5EF4-FFF2-40B4-BE49-F238E27FC236}">
                <a16:creationId xmlns:a16="http://schemas.microsoft.com/office/drawing/2014/main" id="{DF000A93-1ECB-4572-9FB1-8187F2CABF85}"/>
              </a:ext>
            </a:extLst>
          </p:cNvPr>
          <p:cNvSpPr txBox="1"/>
          <p:nvPr/>
        </p:nvSpPr>
        <p:spPr>
          <a:xfrm>
            <a:off x="2334452" y="868881"/>
            <a:ext cx="7436953" cy="523220"/>
          </a:xfrm>
          <a:prstGeom prst="rect">
            <a:avLst/>
          </a:prstGeom>
          <a:noFill/>
        </p:spPr>
        <p:txBody>
          <a:bodyPr wrap="square">
            <a:spAutoFit/>
          </a:bodyPr>
          <a:lstStyle/>
          <a:p>
            <a:pPr algn="ctr"/>
            <a:r>
              <a:rPr lang="en-IN" sz="2400" dirty="0">
                <a:solidFill>
                  <a:srgbClr val="0033CC"/>
                </a:solidFill>
                <a:effectLst/>
                <a:latin typeface="Times New Roman" panose="02020603050405020304" pitchFamily="18" charset="0"/>
                <a:ea typeface="Times New Roman" panose="02020603050405020304" pitchFamily="18" charset="0"/>
              </a:rPr>
              <a:t>UNIT-4 : </a:t>
            </a:r>
            <a:r>
              <a:rPr lang="en-IN" sz="2800" b="1" dirty="0">
                <a:solidFill>
                  <a:srgbClr val="0033CC"/>
                </a:solidFill>
                <a:effectLst/>
                <a:latin typeface="Times New Roman" panose="02020603050405020304" pitchFamily="18" charset="0"/>
                <a:ea typeface="Times New Roman" panose="02020603050405020304" pitchFamily="18" charset="0"/>
              </a:rPr>
              <a:t>Avoiding risks and harmful habits </a:t>
            </a:r>
            <a:endParaRPr lang="en-IN" sz="2800" dirty="0"/>
          </a:p>
        </p:txBody>
      </p:sp>
    </p:spTree>
    <p:extLst>
      <p:ext uri="{BB962C8B-B14F-4D97-AF65-F5344CB8AC3E}">
        <p14:creationId xmlns:p14="http://schemas.microsoft.com/office/powerpoint/2010/main" val="28894229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1149033-CF67-4F2B-BF32-AA6938DD7073}"/>
              </a:ext>
            </a:extLst>
          </p:cNvPr>
          <p:cNvSpPr>
            <a:spLocks noGrp="1"/>
          </p:cNvSpPr>
          <p:nvPr>
            <p:ph idx="1"/>
          </p:nvPr>
        </p:nvSpPr>
        <p:spPr>
          <a:xfrm>
            <a:off x="838200" y="407503"/>
            <a:ext cx="10515600" cy="5769459"/>
          </a:xfrm>
        </p:spPr>
        <p:txBody>
          <a:bodyPr/>
          <a:lstStyle/>
          <a:p>
            <a:pPr marL="0" indent="0">
              <a:buNone/>
            </a:pPr>
            <a:r>
              <a:rPr lang="en-IN" sz="4000" b="1" dirty="0"/>
              <a:t>Health Hazards</a:t>
            </a:r>
          </a:p>
          <a:p>
            <a:pPr marL="0" indent="0">
              <a:buNone/>
            </a:pPr>
            <a:r>
              <a:rPr lang="en-IN" dirty="0"/>
              <a:t>• Health issues: Cardiovascular, digestive and renal impairment, strokes, HIV/Aids, Cancer, Hepatitis B and C, Lungs, </a:t>
            </a:r>
            <a:r>
              <a:rPr lang="en-IN" dirty="0" err="1"/>
              <a:t>Fetal</a:t>
            </a:r>
            <a:r>
              <a:rPr lang="en-IN" dirty="0"/>
              <a:t> Alcohol Syndromes, etc.</a:t>
            </a:r>
          </a:p>
          <a:p>
            <a:pPr marL="0" indent="0">
              <a:buNone/>
            </a:pPr>
            <a:r>
              <a:rPr lang="en-IN" dirty="0"/>
              <a:t>• Mental health issues: Anxiety, depression, Schizophrenias, organic mental disorders due to substance abuse, cognitive dysfunction, personality disorder, etc</a:t>
            </a:r>
          </a:p>
          <a:p>
            <a:pPr marL="0" indent="0">
              <a:buNone/>
            </a:pPr>
            <a:r>
              <a:rPr lang="en-IN" dirty="0"/>
              <a:t>• Social health issues: Stigma, disrupted families, anti-social behaviours, higher crime records and law &amp; order problems.</a:t>
            </a:r>
          </a:p>
          <a:p>
            <a:pPr marL="0" indent="0">
              <a:buNone/>
            </a:pPr>
            <a:endParaRPr lang="en-IN" dirty="0"/>
          </a:p>
        </p:txBody>
      </p:sp>
    </p:spTree>
    <p:extLst>
      <p:ext uri="{BB962C8B-B14F-4D97-AF65-F5344CB8AC3E}">
        <p14:creationId xmlns:p14="http://schemas.microsoft.com/office/powerpoint/2010/main" val="4029740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AA79-E3D0-4361-812F-3EFA482D4CC0}"/>
              </a:ext>
            </a:extLst>
          </p:cNvPr>
          <p:cNvSpPr>
            <a:spLocks noGrp="1"/>
          </p:cNvSpPr>
          <p:nvPr>
            <p:ph type="title"/>
          </p:nvPr>
        </p:nvSpPr>
        <p:spPr/>
        <p:txBody>
          <a:bodyPr/>
          <a:lstStyle/>
          <a:p>
            <a:r>
              <a:rPr lang="en-US" b="1" dirty="0"/>
              <a:t>Health Effects</a:t>
            </a:r>
            <a:endParaRPr lang="en-IN" b="1" dirty="0"/>
          </a:p>
        </p:txBody>
      </p:sp>
      <p:sp>
        <p:nvSpPr>
          <p:cNvPr id="3" name="Content Placeholder 2">
            <a:extLst>
              <a:ext uri="{FF2B5EF4-FFF2-40B4-BE49-F238E27FC236}">
                <a16:creationId xmlns:a16="http://schemas.microsoft.com/office/drawing/2014/main" id="{060229AB-07D2-44E3-9B99-E2D801CB0343}"/>
              </a:ext>
            </a:extLst>
          </p:cNvPr>
          <p:cNvSpPr>
            <a:spLocks noGrp="1"/>
          </p:cNvSpPr>
          <p:nvPr>
            <p:ph idx="1"/>
          </p:nvPr>
        </p:nvSpPr>
        <p:spPr/>
        <p:txBody>
          <a:bodyPr>
            <a:normAutofit/>
          </a:bodyPr>
          <a:lstStyle/>
          <a:p>
            <a:pPr marL="0" indent="0">
              <a:buNone/>
            </a:pPr>
            <a:r>
              <a:rPr lang="en-US" sz="3200" dirty="0"/>
              <a:t>The damage caused by substance abuse depends on the type of drug abused and the duration of abuse. The following factors also influence the severity of the problems that follow drug abuse:</a:t>
            </a:r>
          </a:p>
          <a:p>
            <a:pPr marL="0" indent="0">
              <a:buNone/>
            </a:pPr>
            <a:endParaRPr lang="en-US" sz="3200" dirty="0"/>
          </a:p>
          <a:p>
            <a:pPr marL="0" indent="0">
              <a:buNone/>
            </a:pPr>
            <a:r>
              <a:rPr lang="en-US" sz="3200" dirty="0"/>
              <a:t>Age: The damage is greater among adolescents as well those who are above 50 years of age.</a:t>
            </a:r>
          </a:p>
          <a:p>
            <a:pPr marL="0" indent="0">
              <a:buNone/>
            </a:pPr>
            <a:endParaRPr lang="en-US" sz="3200" dirty="0"/>
          </a:p>
          <a:p>
            <a:pPr marL="0" indent="0">
              <a:buNone/>
            </a:pPr>
            <a:endParaRPr lang="en-IN" sz="3200" dirty="0"/>
          </a:p>
        </p:txBody>
      </p:sp>
    </p:spTree>
    <p:extLst>
      <p:ext uri="{BB962C8B-B14F-4D97-AF65-F5344CB8AC3E}">
        <p14:creationId xmlns:p14="http://schemas.microsoft.com/office/powerpoint/2010/main" val="2792248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C5CA7E-BE2E-4EAD-9BF3-C328095A47A6}"/>
              </a:ext>
            </a:extLst>
          </p:cNvPr>
          <p:cNvSpPr>
            <a:spLocks noGrp="1"/>
          </p:cNvSpPr>
          <p:nvPr>
            <p:ph idx="1"/>
          </p:nvPr>
        </p:nvSpPr>
        <p:spPr>
          <a:xfrm>
            <a:off x="838200" y="695739"/>
            <a:ext cx="10515600" cy="5481224"/>
          </a:xfrm>
        </p:spPr>
        <p:txBody>
          <a:bodyPr>
            <a:normAutofit/>
          </a:bodyPr>
          <a:lstStyle/>
          <a:p>
            <a:pPr marL="0" indent="0">
              <a:buNone/>
            </a:pPr>
            <a:r>
              <a:rPr lang="en-US" dirty="0"/>
              <a:t>Nutrition status and living conditions: Poor quality and inadequate quantity of food, unhygienic living conditions and poor access to health care increase the problems caused by drug abuse.</a:t>
            </a:r>
          </a:p>
          <a:p>
            <a:pPr marL="0" indent="0">
              <a:buNone/>
            </a:pPr>
            <a:endParaRPr lang="en-US" dirty="0"/>
          </a:p>
          <a:p>
            <a:pPr marL="0" indent="0">
              <a:buNone/>
            </a:pPr>
            <a:r>
              <a:rPr lang="en-US" dirty="0"/>
              <a:t>Health condition prior to abuse: The damage is less among individuals whose physical condition is good, as compared to individuals whose health was poor even before the onset of addiction.</a:t>
            </a:r>
          </a:p>
          <a:p>
            <a:pPr marL="0" indent="0">
              <a:buNone/>
            </a:pPr>
            <a:endParaRPr lang="en-US" dirty="0"/>
          </a:p>
          <a:p>
            <a:pPr marL="0" indent="0">
              <a:buNone/>
            </a:pPr>
            <a:r>
              <a:rPr lang="en-US" dirty="0"/>
              <a:t>Genetic loading factor: A family history of a specific medical or psychiatric problem makes the individual more susceptible to the same problems in comparison to another drug abuser who is not genetically prone to the disorder.</a:t>
            </a:r>
          </a:p>
          <a:p>
            <a:pPr marL="0" indent="0">
              <a:buNone/>
            </a:pPr>
            <a:endParaRPr lang="en-IN" dirty="0"/>
          </a:p>
        </p:txBody>
      </p:sp>
    </p:spTree>
    <p:extLst>
      <p:ext uri="{BB962C8B-B14F-4D97-AF65-F5344CB8AC3E}">
        <p14:creationId xmlns:p14="http://schemas.microsoft.com/office/powerpoint/2010/main" val="2695669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5183B-A9FF-4B37-8991-72CE8C60280E}"/>
              </a:ext>
            </a:extLst>
          </p:cNvPr>
          <p:cNvSpPr>
            <a:spLocks noGrp="1"/>
          </p:cNvSpPr>
          <p:nvPr>
            <p:ph type="title"/>
          </p:nvPr>
        </p:nvSpPr>
        <p:spPr/>
        <p:txBody>
          <a:bodyPr>
            <a:normAutofit/>
          </a:bodyPr>
          <a:lstStyle/>
          <a:p>
            <a:r>
              <a:rPr lang="en-US" dirty="0"/>
              <a:t>Medical and psychiatric complications due to substance abuse:</a:t>
            </a:r>
            <a:endParaRPr lang="en-IN" dirty="0"/>
          </a:p>
        </p:txBody>
      </p:sp>
      <p:sp>
        <p:nvSpPr>
          <p:cNvPr id="3" name="Content Placeholder 2">
            <a:extLst>
              <a:ext uri="{FF2B5EF4-FFF2-40B4-BE49-F238E27FC236}">
                <a16:creationId xmlns:a16="http://schemas.microsoft.com/office/drawing/2014/main" id="{CE608BB5-15BC-48A2-BE21-B3CEBF10E0A1}"/>
              </a:ext>
            </a:extLst>
          </p:cNvPr>
          <p:cNvSpPr>
            <a:spLocks noGrp="1"/>
          </p:cNvSpPr>
          <p:nvPr>
            <p:ph idx="1"/>
          </p:nvPr>
        </p:nvSpPr>
        <p:spPr>
          <a:xfrm>
            <a:off x="838200" y="1825624"/>
            <a:ext cx="10515600" cy="5032375"/>
          </a:xfrm>
        </p:spPr>
        <p:txBody>
          <a:bodyPr>
            <a:normAutofit fontScale="85000" lnSpcReduction="20000"/>
          </a:bodyPr>
          <a:lstStyle/>
          <a:p>
            <a:pPr marL="0" indent="0">
              <a:buNone/>
            </a:pPr>
            <a:r>
              <a:rPr lang="en-US" b="1" dirty="0"/>
              <a:t>a)Problems due to intoxication</a:t>
            </a:r>
          </a:p>
          <a:p>
            <a:pPr marL="0" indent="0">
              <a:buNone/>
            </a:pPr>
            <a:endParaRPr lang="en-US" dirty="0"/>
          </a:p>
          <a:p>
            <a:r>
              <a:rPr lang="en-US" sz="3500" dirty="0"/>
              <a:t>Trauma or other physical injury: Mood changes caused by drugs reduce inhibitions as well as increase negative feelings leading to violence.</a:t>
            </a:r>
          </a:p>
          <a:p>
            <a:r>
              <a:rPr lang="en-US" sz="3500" dirty="0"/>
              <a:t>Driving vehicles or operating machinery under the influence of alcohol/ drugs causes accidents and injury.</a:t>
            </a:r>
          </a:p>
          <a:p>
            <a:r>
              <a:rPr lang="en-US" sz="3500" dirty="0"/>
              <a:t>Poor judgment and poor coordination can cause physical injury or even death.</a:t>
            </a:r>
          </a:p>
          <a:p>
            <a:r>
              <a:rPr lang="en-US" sz="3500" dirty="0"/>
              <a:t>Perceptual distortions can also result in accidents.</a:t>
            </a:r>
          </a:p>
          <a:p>
            <a:r>
              <a:rPr lang="en-US" sz="3500" dirty="0"/>
              <a:t> Acute intoxication reaction.</a:t>
            </a:r>
          </a:p>
          <a:p>
            <a:r>
              <a:rPr lang="en-US" sz="3500" dirty="0"/>
              <a:t>Coma and overdose deaths.</a:t>
            </a:r>
          </a:p>
          <a:p>
            <a:pPr marL="0" indent="0">
              <a:buNone/>
            </a:pPr>
            <a:endParaRPr lang="en-IN" dirty="0"/>
          </a:p>
        </p:txBody>
      </p:sp>
    </p:spTree>
    <p:extLst>
      <p:ext uri="{BB962C8B-B14F-4D97-AF65-F5344CB8AC3E}">
        <p14:creationId xmlns:p14="http://schemas.microsoft.com/office/powerpoint/2010/main" val="1357509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0FC6F8-7EB6-4416-BF73-BD9128744A33}"/>
              </a:ext>
            </a:extLst>
          </p:cNvPr>
          <p:cNvSpPr>
            <a:spLocks noGrp="1"/>
          </p:cNvSpPr>
          <p:nvPr>
            <p:ph idx="1"/>
          </p:nvPr>
        </p:nvSpPr>
        <p:spPr>
          <a:xfrm>
            <a:off x="838200" y="427383"/>
            <a:ext cx="10515600" cy="5749580"/>
          </a:xfrm>
        </p:spPr>
        <p:txBody>
          <a:bodyPr>
            <a:normAutofit/>
          </a:bodyPr>
          <a:lstStyle/>
          <a:p>
            <a:pPr marL="0" indent="0">
              <a:buNone/>
            </a:pPr>
            <a:r>
              <a:rPr lang="en-US" sz="3600" dirty="0"/>
              <a:t>b) Problems due to withdrawal-Physical withdrawal symptoms of varying intensity occur as part of withdrawal.</a:t>
            </a:r>
          </a:p>
          <a:p>
            <a:pPr marL="0" indent="0">
              <a:buNone/>
            </a:pPr>
            <a:endParaRPr lang="en-US" sz="3600" dirty="0"/>
          </a:p>
          <a:p>
            <a:pPr marL="0" indent="0">
              <a:buNone/>
            </a:pPr>
            <a:r>
              <a:rPr lang="en-US" sz="3600" dirty="0"/>
              <a:t>c) Psychiatric disorders associated with substance abuse-Psychoactive substances can induce psychotic disorders during or immediately after use such as cannabis.</a:t>
            </a:r>
          </a:p>
          <a:p>
            <a:pPr marL="0" indent="0">
              <a:buNone/>
            </a:pPr>
            <a:endParaRPr lang="en-US" sz="3600" dirty="0"/>
          </a:p>
          <a:p>
            <a:pPr marL="0" indent="0">
              <a:buNone/>
            </a:pPr>
            <a:r>
              <a:rPr lang="en-US" sz="3600" dirty="0"/>
              <a:t>d) Systemic disorders associated with substance abuse</a:t>
            </a:r>
          </a:p>
          <a:p>
            <a:pPr marL="0" indent="0">
              <a:buNone/>
            </a:pPr>
            <a:endParaRPr lang="en-IN" sz="3600" dirty="0"/>
          </a:p>
        </p:txBody>
      </p:sp>
    </p:spTree>
    <p:extLst>
      <p:ext uri="{BB962C8B-B14F-4D97-AF65-F5344CB8AC3E}">
        <p14:creationId xmlns:p14="http://schemas.microsoft.com/office/powerpoint/2010/main" val="31638352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92853B-8BAD-45FB-AEE3-4EB2780C868D}"/>
              </a:ext>
            </a:extLst>
          </p:cNvPr>
          <p:cNvSpPr>
            <a:spLocks noGrp="1"/>
          </p:cNvSpPr>
          <p:nvPr>
            <p:ph idx="1"/>
          </p:nvPr>
        </p:nvSpPr>
        <p:spPr>
          <a:xfrm>
            <a:off x="838200" y="487017"/>
            <a:ext cx="10515600" cy="5689946"/>
          </a:xfrm>
        </p:spPr>
        <p:txBody>
          <a:bodyPr>
            <a:normAutofit lnSpcReduction="10000"/>
          </a:bodyPr>
          <a:lstStyle/>
          <a:p>
            <a:pPr marL="0" indent="0">
              <a:buNone/>
            </a:pPr>
            <a:r>
              <a:rPr lang="en-US" sz="4800" b="1" dirty="0"/>
              <a:t>Dermatological complications-</a:t>
            </a:r>
          </a:p>
          <a:p>
            <a:pPr marL="0" indent="0">
              <a:buNone/>
            </a:pPr>
            <a:endParaRPr lang="en-US" sz="3600" dirty="0"/>
          </a:p>
          <a:p>
            <a:pPr marL="0" indent="0">
              <a:buNone/>
            </a:pPr>
            <a:r>
              <a:rPr lang="en-US" sz="3600" dirty="0"/>
              <a:t>When the same vein is used to inject the drug, repeated injections leave marks on the vein. The discoloration along the vein leaves dark lines called needle tracks.</a:t>
            </a:r>
          </a:p>
          <a:p>
            <a:pPr marL="0" indent="0">
              <a:buNone/>
            </a:pPr>
            <a:r>
              <a:rPr lang="en-US" sz="3600" dirty="0"/>
              <a:t>Tattooing and scarring in IV drug users at injecting site.</a:t>
            </a:r>
          </a:p>
          <a:p>
            <a:pPr marL="0" indent="0">
              <a:buNone/>
            </a:pPr>
            <a:r>
              <a:rPr lang="en-US" sz="3600" dirty="0"/>
              <a:t>Use of infected needles can cause infection at the injection site.</a:t>
            </a:r>
          </a:p>
          <a:p>
            <a:pPr marL="0" indent="0">
              <a:buNone/>
            </a:pPr>
            <a:r>
              <a:rPr lang="en-US" sz="3600" dirty="0"/>
              <a:t>Pruritis and dermatitis</a:t>
            </a:r>
          </a:p>
          <a:p>
            <a:pPr marL="0" indent="0">
              <a:buNone/>
            </a:pPr>
            <a:endParaRPr lang="en-IN" sz="3600" dirty="0"/>
          </a:p>
        </p:txBody>
      </p:sp>
    </p:spTree>
    <p:extLst>
      <p:ext uri="{BB962C8B-B14F-4D97-AF65-F5344CB8AC3E}">
        <p14:creationId xmlns:p14="http://schemas.microsoft.com/office/powerpoint/2010/main" val="2124691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3F69A-8F6E-444D-A9A7-0ABC918F0237}"/>
              </a:ext>
            </a:extLst>
          </p:cNvPr>
          <p:cNvSpPr>
            <a:spLocks noGrp="1"/>
          </p:cNvSpPr>
          <p:nvPr>
            <p:ph type="title"/>
          </p:nvPr>
        </p:nvSpPr>
        <p:spPr/>
        <p:txBody>
          <a:bodyPr/>
          <a:lstStyle/>
          <a:p>
            <a:r>
              <a:rPr lang="en-US" dirty="0"/>
              <a:t>Cardio-vascular complications</a:t>
            </a:r>
            <a:endParaRPr lang="en-IN" dirty="0"/>
          </a:p>
        </p:txBody>
      </p:sp>
      <p:sp>
        <p:nvSpPr>
          <p:cNvPr id="3" name="Content Placeholder 2">
            <a:extLst>
              <a:ext uri="{FF2B5EF4-FFF2-40B4-BE49-F238E27FC236}">
                <a16:creationId xmlns:a16="http://schemas.microsoft.com/office/drawing/2014/main" id="{CF009525-C785-4F38-9461-D6AD49DC3EE1}"/>
              </a:ext>
            </a:extLst>
          </p:cNvPr>
          <p:cNvSpPr>
            <a:spLocks noGrp="1"/>
          </p:cNvSpPr>
          <p:nvPr>
            <p:ph idx="1"/>
          </p:nvPr>
        </p:nvSpPr>
        <p:spPr/>
        <p:txBody>
          <a:bodyPr>
            <a:normAutofit/>
          </a:bodyPr>
          <a:lstStyle/>
          <a:p>
            <a:r>
              <a:rPr lang="en-US" sz="3600" dirty="0"/>
              <a:t>Infection in the heart</a:t>
            </a:r>
          </a:p>
          <a:p>
            <a:r>
              <a:rPr lang="en-US" sz="3600" dirty="0"/>
              <a:t>Blocking circulation: Repeated injections at the same site can cause blood clots or air bubbles (emboli) that can block the blood supply in the veins.</a:t>
            </a:r>
          </a:p>
          <a:p>
            <a:r>
              <a:rPr lang="en-US" sz="3600" dirty="0"/>
              <a:t>Ventricular fibrillation: This may lead to hemorrhage and sudden death.</a:t>
            </a:r>
          </a:p>
        </p:txBody>
      </p:sp>
    </p:spTree>
    <p:extLst>
      <p:ext uri="{BB962C8B-B14F-4D97-AF65-F5344CB8AC3E}">
        <p14:creationId xmlns:p14="http://schemas.microsoft.com/office/powerpoint/2010/main" val="2225366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B8BCD-7C88-4C44-93ED-7E404EF948FE}"/>
              </a:ext>
            </a:extLst>
          </p:cNvPr>
          <p:cNvSpPr>
            <a:spLocks noGrp="1"/>
          </p:cNvSpPr>
          <p:nvPr>
            <p:ph type="title"/>
          </p:nvPr>
        </p:nvSpPr>
        <p:spPr/>
        <p:txBody>
          <a:bodyPr/>
          <a:lstStyle/>
          <a:p>
            <a:r>
              <a:rPr lang="en-US" dirty="0"/>
              <a:t>Pulmonary complications</a:t>
            </a:r>
            <a:endParaRPr lang="en-IN" dirty="0"/>
          </a:p>
        </p:txBody>
      </p:sp>
      <p:sp>
        <p:nvSpPr>
          <p:cNvPr id="3" name="Content Placeholder 2">
            <a:extLst>
              <a:ext uri="{FF2B5EF4-FFF2-40B4-BE49-F238E27FC236}">
                <a16:creationId xmlns:a16="http://schemas.microsoft.com/office/drawing/2014/main" id="{6F7A11EE-BFE9-43CD-85E0-204F14B9EFB3}"/>
              </a:ext>
            </a:extLst>
          </p:cNvPr>
          <p:cNvSpPr>
            <a:spLocks noGrp="1"/>
          </p:cNvSpPr>
          <p:nvPr>
            <p:ph idx="1"/>
          </p:nvPr>
        </p:nvSpPr>
        <p:spPr/>
        <p:txBody>
          <a:bodyPr>
            <a:normAutofit/>
          </a:bodyPr>
          <a:lstStyle/>
          <a:p>
            <a:r>
              <a:rPr lang="en-IN" sz="4400" dirty="0"/>
              <a:t>Embolus formation</a:t>
            </a:r>
          </a:p>
          <a:p>
            <a:r>
              <a:rPr lang="en-IN" sz="4400" dirty="0"/>
              <a:t>Pulmonary oedema</a:t>
            </a:r>
          </a:p>
          <a:p>
            <a:r>
              <a:rPr lang="en-IN" sz="4400" dirty="0"/>
              <a:t>Aspiration pneumonia</a:t>
            </a:r>
          </a:p>
          <a:p>
            <a:r>
              <a:rPr lang="en-IN" sz="4400" dirty="0"/>
              <a:t>Pharyngitis, bronchitis, pneumonia and tuberculosis are common infective respiratory diseases among drug abusers.</a:t>
            </a:r>
          </a:p>
        </p:txBody>
      </p:sp>
    </p:spTree>
    <p:extLst>
      <p:ext uri="{BB962C8B-B14F-4D97-AF65-F5344CB8AC3E}">
        <p14:creationId xmlns:p14="http://schemas.microsoft.com/office/powerpoint/2010/main" val="307048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3B66F3-CBD7-47C4-9DC8-0B1F527BDB2D}"/>
              </a:ext>
            </a:extLst>
          </p:cNvPr>
          <p:cNvSpPr>
            <a:spLocks noGrp="1"/>
          </p:cNvSpPr>
          <p:nvPr>
            <p:ph type="title"/>
          </p:nvPr>
        </p:nvSpPr>
        <p:spPr/>
        <p:txBody>
          <a:bodyPr/>
          <a:lstStyle/>
          <a:p>
            <a:r>
              <a:rPr lang="en-IN" dirty="0"/>
              <a:t>Hepatic complications</a:t>
            </a:r>
          </a:p>
        </p:txBody>
      </p:sp>
      <p:sp>
        <p:nvSpPr>
          <p:cNvPr id="3" name="Content Placeholder 2">
            <a:extLst>
              <a:ext uri="{FF2B5EF4-FFF2-40B4-BE49-F238E27FC236}">
                <a16:creationId xmlns:a16="http://schemas.microsoft.com/office/drawing/2014/main" id="{4AB41EE7-D52A-44F5-873C-C697B9B75D9D}"/>
              </a:ext>
            </a:extLst>
          </p:cNvPr>
          <p:cNvSpPr>
            <a:spLocks noGrp="1"/>
          </p:cNvSpPr>
          <p:nvPr>
            <p:ph idx="1"/>
          </p:nvPr>
        </p:nvSpPr>
        <p:spPr/>
        <p:txBody>
          <a:bodyPr>
            <a:normAutofit/>
          </a:bodyPr>
          <a:lstStyle/>
          <a:p>
            <a:r>
              <a:rPr lang="en-US" sz="3600" dirty="0"/>
              <a:t>Hepatitis: Hepatitis B, C &amp; D are blood borne infections that can be transmitted through sharing of needles.</a:t>
            </a:r>
          </a:p>
          <a:p>
            <a:r>
              <a:rPr lang="en-US" sz="3600" dirty="0"/>
              <a:t>Alcoholic hepatitis</a:t>
            </a:r>
          </a:p>
          <a:p>
            <a:r>
              <a:rPr lang="en-US" sz="3600" dirty="0"/>
              <a:t>Fatty liver</a:t>
            </a:r>
          </a:p>
          <a:p>
            <a:r>
              <a:rPr lang="en-US" sz="3600" dirty="0"/>
              <a:t>Alcoholic cirrhosis</a:t>
            </a:r>
          </a:p>
          <a:p>
            <a:r>
              <a:rPr lang="en-US" sz="3600" dirty="0"/>
              <a:t>Hepatic trauma</a:t>
            </a:r>
            <a:endParaRPr lang="en-IN" sz="3600" dirty="0"/>
          </a:p>
        </p:txBody>
      </p:sp>
    </p:spTree>
    <p:extLst>
      <p:ext uri="{BB962C8B-B14F-4D97-AF65-F5344CB8AC3E}">
        <p14:creationId xmlns:p14="http://schemas.microsoft.com/office/powerpoint/2010/main" val="3395654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3B85F0-9E5E-45E2-941B-70C6E74D32E3}"/>
              </a:ext>
            </a:extLst>
          </p:cNvPr>
          <p:cNvSpPr>
            <a:spLocks noGrp="1"/>
          </p:cNvSpPr>
          <p:nvPr>
            <p:ph type="title"/>
          </p:nvPr>
        </p:nvSpPr>
        <p:spPr/>
        <p:txBody>
          <a:bodyPr/>
          <a:lstStyle/>
          <a:p>
            <a:r>
              <a:rPr lang="en-US" dirty="0"/>
              <a:t>Complications in the reproductive system</a:t>
            </a:r>
            <a:endParaRPr lang="en-IN" dirty="0"/>
          </a:p>
        </p:txBody>
      </p:sp>
      <p:sp>
        <p:nvSpPr>
          <p:cNvPr id="3" name="Content Placeholder 2">
            <a:extLst>
              <a:ext uri="{FF2B5EF4-FFF2-40B4-BE49-F238E27FC236}">
                <a16:creationId xmlns:a16="http://schemas.microsoft.com/office/drawing/2014/main" id="{4F78591A-9CF8-43BA-A561-FB1702C5E597}"/>
              </a:ext>
            </a:extLst>
          </p:cNvPr>
          <p:cNvSpPr>
            <a:spLocks noGrp="1"/>
          </p:cNvSpPr>
          <p:nvPr>
            <p:ph idx="1"/>
          </p:nvPr>
        </p:nvSpPr>
        <p:spPr/>
        <p:txBody>
          <a:bodyPr>
            <a:normAutofit fontScale="92500"/>
          </a:bodyPr>
          <a:lstStyle/>
          <a:p>
            <a:r>
              <a:rPr lang="en-US" sz="3600" dirty="0"/>
              <a:t>The incidence of sexually transmitted diseases is higher among drug abusers.</a:t>
            </a:r>
          </a:p>
          <a:p>
            <a:r>
              <a:rPr lang="en-US" sz="3600" dirty="0"/>
              <a:t>Drug abuse can reduce sex drive and cause impotence.</a:t>
            </a:r>
          </a:p>
          <a:p>
            <a:r>
              <a:rPr lang="en-US" sz="3600" dirty="0"/>
              <a:t>Reduced ovulation and menstrual abnormality are seen among female drug abusers.</a:t>
            </a:r>
          </a:p>
          <a:p>
            <a:r>
              <a:rPr lang="en-US" sz="3600" dirty="0"/>
              <a:t>Children born to mothers who abuse drugs and alcohol during their pregnancy usually have low birth weight and other problems in their physical and mental development.</a:t>
            </a:r>
            <a:endParaRPr lang="en-IN" sz="3600" dirty="0"/>
          </a:p>
        </p:txBody>
      </p:sp>
    </p:spTree>
    <p:extLst>
      <p:ext uri="{BB962C8B-B14F-4D97-AF65-F5344CB8AC3E}">
        <p14:creationId xmlns:p14="http://schemas.microsoft.com/office/powerpoint/2010/main" val="1596451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4F9105-2E39-4114-AB66-017CCB71A3A7}"/>
              </a:ext>
            </a:extLst>
          </p:cNvPr>
          <p:cNvSpPr>
            <a:spLocks noGrp="1"/>
          </p:cNvSpPr>
          <p:nvPr>
            <p:ph type="title"/>
          </p:nvPr>
        </p:nvSpPr>
        <p:spPr/>
        <p:txBody>
          <a:bodyPr/>
          <a:lstStyle/>
          <a:p>
            <a:r>
              <a:rPr lang="en-IN" dirty="0"/>
              <a:t>Neuromuscular complications</a:t>
            </a:r>
          </a:p>
        </p:txBody>
      </p:sp>
      <p:sp>
        <p:nvSpPr>
          <p:cNvPr id="3" name="Content Placeholder 2">
            <a:extLst>
              <a:ext uri="{FF2B5EF4-FFF2-40B4-BE49-F238E27FC236}">
                <a16:creationId xmlns:a16="http://schemas.microsoft.com/office/drawing/2014/main" id="{6BEBF8AF-B23A-4FD9-803A-CFDCE45810A1}"/>
              </a:ext>
            </a:extLst>
          </p:cNvPr>
          <p:cNvSpPr>
            <a:spLocks noGrp="1"/>
          </p:cNvSpPr>
          <p:nvPr>
            <p:ph idx="1"/>
          </p:nvPr>
        </p:nvSpPr>
        <p:spPr/>
        <p:txBody>
          <a:bodyPr/>
          <a:lstStyle/>
          <a:p>
            <a:r>
              <a:rPr lang="en-IN" dirty="0"/>
              <a:t>Cerebrovascular accidents</a:t>
            </a:r>
          </a:p>
          <a:p>
            <a:r>
              <a:rPr lang="en-IN" dirty="0"/>
              <a:t>Dementia</a:t>
            </a:r>
          </a:p>
          <a:p>
            <a:r>
              <a:rPr lang="en-IN" dirty="0"/>
              <a:t>Neuritis</a:t>
            </a:r>
          </a:p>
          <a:p>
            <a:r>
              <a:rPr lang="en-IN" dirty="0"/>
              <a:t>Bacterial meningitis</a:t>
            </a:r>
          </a:p>
        </p:txBody>
      </p:sp>
    </p:spTree>
    <p:extLst>
      <p:ext uri="{BB962C8B-B14F-4D97-AF65-F5344CB8AC3E}">
        <p14:creationId xmlns:p14="http://schemas.microsoft.com/office/powerpoint/2010/main" val="2648467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895B99-4FDD-459D-9C84-E287E8E4B36A}"/>
              </a:ext>
            </a:extLst>
          </p:cNvPr>
          <p:cNvSpPr>
            <a:spLocks noGrp="1"/>
          </p:cNvSpPr>
          <p:nvPr>
            <p:ph type="title"/>
          </p:nvPr>
        </p:nvSpPr>
        <p:spPr/>
        <p:txBody>
          <a:bodyPr/>
          <a:lstStyle/>
          <a:p>
            <a:r>
              <a:rPr lang="en-IN" dirty="0"/>
              <a:t>Haematopoietic complications</a:t>
            </a:r>
          </a:p>
        </p:txBody>
      </p:sp>
      <p:sp>
        <p:nvSpPr>
          <p:cNvPr id="3" name="Content Placeholder 2">
            <a:extLst>
              <a:ext uri="{FF2B5EF4-FFF2-40B4-BE49-F238E27FC236}">
                <a16:creationId xmlns:a16="http://schemas.microsoft.com/office/drawing/2014/main" id="{42A82FEF-5EDB-4526-892F-DDB5FB7DA8B1}"/>
              </a:ext>
            </a:extLst>
          </p:cNvPr>
          <p:cNvSpPr>
            <a:spLocks noGrp="1"/>
          </p:cNvSpPr>
          <p:nvPr>
            <p:ph idx="1"/>
          </p:nvPr>
        </p:nvSpPr>
        <p:spPr/>
        <p:txBody>
          <a:bodyPr>
            <a:normAutofit/>
          </a:bodyPr>
          <a:lstStyle/>
          <a:p>
            <a:r>
              <a:rPr lang="en-US" sz="4000" dirty="0"/>
              <a:t>Reduced count of platelets in the blood may lead to bleeding disorders.</a:t>
            </a:r>
          </a:p>
          <a:p>
            <a:r>
              <a:rPr lang="en-US" sz="4000" dirty="0"/>
              <a:t>Bone marrow depression: The count of both white and red blood corpuscles may fall.</a:t>
            </a:r>
          </a:p>
          <a:p>
            <a:r>
              <a:rPr lang="en-US" sz="4000" dirty="0"/>
              <a:t>Poor nutritional status can cause anemia, especially among alcoholics.</a:t>
            </a:r>
            <a:endParaRPr lang="en-IN" sz="4000" dirty="0"/>
          </a:p>
        </p:txBody>
      </p:sp>
    </p:spTree>
    <p:extLst>
      <p:ext uri="{BB962C8B-B14F-4D97-AF65-F5344CB8AC3E}">
        <p14:creationId xmlns:p14="http://schemas.microsoft.com/office/powerpoint/2010/main" val="23914040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89099-0605-4F30-9BFF-E1EEA6FA627C}"/>
              </a:ext>
            </a:extLst>
          </p:cNvPr>
          <p:cNvSpPr>
            <a:spLocks noGrp="1"/>
          </p:cNvSpPr>
          <p:nvPr>
            <p:ph type="title"/>
          </p:nvPr>
        </p:nvSpPr>
        <p:spPr/>
        <p:txBody>
          <a:bodyPr/>
          <a:lstStyle/>
          <a:p>
            <a:r>
              <a:rPr lang="en-IN" dirty="0"/>
              <a:t>Endocrine system disorders</a:t>
            </a:r>
          </a:p>
        </p:txBody>
      </p:sp>
      <p:sp>
        <p:nvSpPr>
          <p:cNvPr id="3" name="Content Placeholder 2">
            <a:extLst>
              <a:ext uri="{FF2B5EF4-FFF2-40B4-BE49-F238E27FC236}">
                <a16:creationId xmlns:a16="http://schemas.microsoft.com/office/drawing/2014/main" id="{8429F2A0-8696-4F97-A28A-B89D9925501F}"/>
              </a:ext>
            </a:extLst>
          </p:cNvPr>
          <p:cNvSpPr>
            <a:spLocks noGrp="1"/>
          </p:cNvSpPr>
          <p:nvPr>
            <p:ph idx="1"/>
          </p:nvPr>
        </p:nvSpPr>
        <p:spPr/>
        <p:txBody>
          <a:bodyPr>
            <a:normAutofit/>
          </a:bodyPr>
          <a:lstStyle/>
          <a:p>
            <a:endParaRPr lang="en-US" sz="4400" dirty="0"/>
          </a:p>
          <a:p>
            <a:r>
              <a:rPr lang="en-US" sz="4400" dirty="0"/>
              <a:t>Ganja, opiate and alcohol abuse lowers the testosterone levels in the body,</a:t>
            </a:r>
          </a:p>
          <a:p>
            <a:r>
              <a:rPr lang="en-US" sz="4400" dirty="0"/>
              <a:t>Incidence of diabetes mellitus increases among alcoholics.</a:t>
            </a:r>
            <a:endParaRPr lang="en-IN" sz="4400" dirty="0"/>
          </a:p>
        </p:txBody>
      </p:sp>
    </p:spTree>
    <p:extLst>
      <p:ext uri="{BB962C8B-B14F-4D97-AF65-F5344CB8AC3E}">
        <p14:creationId xmlns:p14="http://schemas.microsoft.com/office/powerpoint/2010/main" val="23732882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44BDA-04FD-45E2-A454-0118EA307D49}"/>
              </a:ext>
            </a:extLst>
          </p:cNvPr>
          <p:cNvSpPr>
            <a:spLocks noGrp="1"/>
          </p:cNvSpPr>
          <p:nvPr>
            <p:ph type="title"/>
          </p:nvPr>
        </p:nvSpPr>
        <p:spPr/>
        <p:txBody>
          <a:bodyPr/>
          <a:lstStyle/>
          <a:p>
            <a:r>
              <a:rPr lang="en-IN" dirty="0"/>
              <a:t>Renal function disorders:</a:t>
            </a:r>
          </a:p>
        </p:txBody>
      </p:sp>
      <p:sp>
        <p:nvSpPr>
          <p:cNvPr id="3" name="Content Placeholder 2">
            <a:extLst>
              <a:ext uri="{FF2B5EF4-FFF2-40B4-BE49-F238E27FC236}">
                <a16:creationId xmlns:a16="http://schemas.microsoft.com/office/drawing/2014/main" id="{DC9DABD8-DF1A-4A21-98A0-2009A53A768A}"/>
              </a:ext>
            </a:extLst>
          </p:cNvPr>
          <p:cNvSpPr>
            <a:spLocks noGrp="1"/>
          </p:cNvSpPr>
          <p:nvPr>
            <p:ph idx="1"/>
          </p:nvPr>
        </p:nvSpPr>
        <p:spPr/>
        <p:txBody>
          <a:bodyPr>
            <a:normAutofit/>
          </a:bodyPr>
          <a:lstStyle/>
          <a:p>
            <a:r>
              <a:rPr lang="en-IN" sz="4000" dirty="0"/>
              <a:t>Damage to renal cells cause nephropathy.</a:t>
            </a:r>
          </a:p>
        </p:txBody>
      </p:sp>
    </p:spTree>
    <p:extLst>
      <p:ext uri="{BB962C8B-B14F-4D97-AF65-F5344CB8AC3E}">
        <p14:creationId xmlns:p14="http://schemas.microsoft.com/office/powerpoint/2010/main" val="1252190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5BF0C-F079-442F-BA73-A790AABBBD93}"/>
              </a:ext>
            </a:extLst>
          </p:cNvPr>
          <p:cNvSpPr>
            <a:spLocks noGrp="1"/>
          </p:cNvSpPr>
          <p:nvPr>
            <p:ph type="title"/>
          </p:nvPr>
        </p:nvSpPr>
        <p:spPr/>
        <p:txBody>
          <a:bodyPr/>
          <a:lstStyle/>
          <a:p>
            <a:r>
              <a:rPr lang="en-IN" dirty="0"/>
              <a:t>Gastro-intestinal disorders</a:t>
            </a:r>
          </a:p>
        </p:txBody>
      </p:sp>
      <p:sp>
        <p:nvSpPr>
          <p:cNvPr id="3" name="Content Placeholder 2">
            <a:extLst>
              <a:ext uri="{FF2B5EF4-FFF2-40B4-BE49-F238E27FC236}">
                <a16:creationId xmlns:a16="http://schemas.microsoft.com/office/drawing/2014/main" id="{DAA436A5-CBB0-4DD8-BAAA-10F37B98673B}"/>
              </a:ext>
            </a:extLst>
          </p:cNvPr>
          <p:cNvSpPr>
            <a:spLocks noGrp="1"/>
          </p:cNvSpPr>
          <p:nvPr>
            <p:ph idx="1"/>
          </p:nvPr>
        </p:nvSpPr>
        <p:spPr/>
        <p:txBody>
          <a:bodyPr>
            <a:normAutofit lnSpcReduction="10000"/>
          </a:bodyPr>
          <a:lstStyle/>
          <a:p>
            <a:r>
              <a:rPr lang="en-US" sz="4000" dirty="0"/>
              <a:t>Gastritis (inflammation of the lining of the stomach) and peptic ulcers can develop due to poor food habits as well as due to the effect of the drugs abused.</a:t>
            </a:r>
          </a:p>
          <a:p>
            <a:r>
              <a:rPr lang="en-US" sz="4000" dirty="0"/>
              <a:t>Acute and chronic pancreatitis.</a:t>
            </a:r>
          </a:p>
          <a:p>
            <a:r>
              <a:rPr lang="en-US" sz="4000" dirty="0"/>
              <a:t>The incidence of cancer all along the gastro intestinal tract from the mouth to the anus is higher among alcoholics.</a:t>
            </a:r>
            <a:endParaRPr lang="en-IN" sz="4000" dirty="0"/>
          </a:p>
        </p:txBody>
      </p:sp>
    </p:spTree>
    <p:extLst>
      <p:ext uri="{BB962C8B-B14F-4D97-AF65-F5344CB8AC3E}">
        <p14:creationId xmlns:p14="http://schemas.microsoft.com/office/powerpoint/2010/main" val="3686109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A904D-BBE4-497F-A513-C7FE213DABBF}"/>
              </a:ext>
            </a:extLst>
          </p:cNvPr>
          <p:cNvSpPr>
            <a:spLocks noGrp="1"/>
          </p:cNvSpPr>
          <p:nvPr>
            <p:ph type="title"/>
          </p:nvPr>
        </p:nvSpPr>
        <p:spPr/>
        <p:txBody>
          <a:bodyPr/>
          <a:lstStyle/>
          <a:p>
            <a:r>
              <a:rPr lang="en-IN" dirty="0"/>
              <a:t>Cancer-</a:t>
            </a:r>
          </a:p>
        </p:txBody>
      </p:sp>
      <p:sp>
        <p:nvSpPr>
          <p:cNvPr id="3" name="Content Placeholder 2">
            <a:extLst>
              <a:ext uri="{FF2B5EF4-FFF2-40B4-BE49-F238E27FC236}">
                <a16:creationId xmlns:a16="http://schemas.microsoft.com/office/drawing/2014/main" id="{303DD006-6BBB-41E3-9B30-BB8E66355031}"/>
              </a:ext>
            </a:extLst>
          </p:cNvPr>
          <p:cNvSpPr>
            <a:spLocks noGrp="1"/>
          </p:cNvSpPr>
          <p:nvPr>
            <p:ph idx="1"/>
          </p:nvPr>
        </p:nvSpPr>
        <p:spPr/>
        <p:txBody>
          <a:bodyPr>
            <a:normAutofit/>
          </a:bodyPr>
          <a:lstStyle/>
          <a:p>
            <a:r>
              <a:rPr lang="en-US" sz="4400" dirty="0"/>
              <a:t>As most drug and alcohol abusers also abuse tobacco products, the risk of cancer is high.</a:t>
            </a:r>
            <a:endParaRPr lang="en-IN" sz="4400" dirty="0"/>
          </a:p>
        </p:txBody>
      </p:sp>
    </p:spTree>
    <p:extLst>
      <p:ext uri="{BB962C8B-B14F-4D97-AF65-F5344CB8AC3E}">
        <p14:creationId xmlns:p14="http://schemas.microsoft.com/office/powerpoint/2010/main" val="19531993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traight Connector 8"/>
          <p:cNvSpPr/>
          <p:nvPr/>
        </p:nvSpPr>
        <p:spPr>
          <a:xfrm>
            <a:off x="6475457" y="2798413"/>
            <a:ext cx="991830" cy="2446752"/>
          </a:xfrm>
          <a:custGeom>
            <a:avLst/>
            <a:gdLst/>
            <a:ahLst/>
            <a:cxnLst/>
            <a:rect l="0" t="0" r="0" b="0"/>
            <a:pathLst>
              <a:path>
                <a:moveTo>
                  <a:pt x="0" y="0"/>
                </a:moveTo>
                <a:lnTo>
                  <a:pt x="0" y="2333146"/>
                </a:lnTo>
                <a:lnTo>
                  <a:pt x="241819" y="233314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sp>
        <p:nvSpPr>
          <p:cNvPr id="3" name="Content Placeholder 2"/>
          <p:cNvSpPr>
            <a:spLocks noGrp="1"/>
          </p:cNvSpPr>
          <p:nvPr>
            <p:ph idx="1"/>
          </p:nvPr>
        </p:nvSpPr>
        <p:spPr>
          <a:xfrm>
            <a:off x="70932" y="2351232"/>
            <a:ext cx="10515600" cy="4351338"/>
          </a:xfrm>
        </p:spPr>
        <p:txBody>
          <a:bodyPr/>
          <a:lstStyle/>
          <a:p>
            <a:pPr lvl="0"/>
            <a:endParaRPr lang="en-US" dirty="0"/>
          </a:p>
          <a:p>
            <a:pPr lvl="1"/>
            <a:endParaRPr lang="en-US" dirty="0"/>
          </a:p>
          <a:p>
            <a:pPr lvl="1"/>
            <a:endParaRPr lang="en-US" dirty="0"/>
          </a:p>
          <a:p>
            <a:pPr lvl="0"/>
            <a:endParaRPr lang="en-US" dirty="0"/>
          </a:p>
          <a:p>
            <a:pPr lvl="1"/>
            <a:endParaRPr lang="en-US" dirty="0"/>
          </a:p>
          <a:p>
            <a:pPr lvl="1"/>
            <a:endParaRPr lang="en-US" dirty="0"/>
          </a:p>
          <a:p>
            <a:endParaRPr lang="en-US" dirty="0"/>
          </a:p>
        </p:txBody>
      </p:sp>
      <p:graphicFrame>
        <p:nvGraphicFramePr>
          <p:cNvPr id="5" name="Content Placeholder 2"/>
          <p:cNvGraphicFramePr>
            <a:graphicFrameLocks/>
          </p:cNvGraphicFramePr>
          <p:nvPr/>
        </p:nvGraphicFramePr>
        <p:xfrm>
          <a:off x="348023" y="1649305"/>
          <a:ext cx="4980709"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Straight Connector 5"/>
          <p:cNvSpPr/>
          <p:nvPr/>
        </p:nvSpPr>
        <p:spPr>
          <a:xfrm>
            <a:off x="6475457" y="3043114"/>
            <a:ext cx="633716" cy="953849"/>
          </a:xfrm>
          <a:custGeom>
            <a:avLst/>
            <a:gdLst/>
            <a:ahLst/>
            <a:cxnLst/>
            <a:rect l="0" t="0" r="0" b="0"/>
            <a:pathLst>
              <a:path>
                <a:moveTo>
                  <a:pt x="0" y="0"/>
                </a:moveTo>
                <a:lnTo>
                  <a:pt x="0" y="953849"/>
                </a:lnTo>
                <a:lnTo>
                  <a:pt x="633716" y="953849"/>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grpSp>
        <p:nvGrpSpPr>
          <p:cNvPr id="10" name="Group 9"/>
          <p:cNvGrpSpPr/>
          <p:nvPr/>
        </p:nvGrpSpPr>
        <p:grpSpPr>
          <a:xfrm>
            <a:off x="6730392" y="3376295"/>
            <a:ext cx="2343565" cy="1106554"/>
            <a:chOff x="855027" y="1613108"/>
            <a:chExt cx="1990542" cy="1106554"/>
          </a:xfrm>
        </p:grpSpPr>
        <p:sp>
          <p:nvSpPr>
            <p:cNvPr id="11" name="Rounded Rectangle 10"/>
            <p:cNvSpPr/>
            <p:nvPr/>
          </p:nvSpPr>
          <p:spPr>
            <a:xfrm>
              <a:off x="855027" y="1613108"/>
              <a:ext cx="1990542" cy="1106554"/>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r>
                <a:rPr lang="en-US" sz="1200" dirty="0"/>
                <a:t>Causes 5-15 minute high, followed by anxiety, depression, paranoia, and intense craving </a:t>
              </a:r>
            </a:p>
          </p:txBody>
        </p:sp>
        <p:sp>
          <p:nvSpPr>
            <p:cNvPr id="12" name="Rounded Rectangle 7"/>
            <p:cNvSpPr/>
            <p:nvPr/>
          </p:nvSpPr>
          <p:spPr>
            <a:xfrm>
              <a:off x="887437" y="1645518"/>
              <a:ext cx="1705666" cy="104173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45" tIns="62230" rIns="93345" bIns="62230" numCol="1" spcCol="1270" anchor="ctr" anchorCtr="0">
              <a:noAutofit/>
            </a:bodyPr>
            <a:lstStyle/>
            <a:p>
              <a:pPr lvl="0" algn="ctr" defTabSz="2178050">
                <a:lnSpc>
                  <a:spcPct val="90000"/>
                </a:lnSpc>
                <a:spcBef>
                  <a:spcPct val="0"/>
                </a:spcBef>
                <a:spcAft>
                  <a:spcPct val="35000"/>
                </a:spcAft>
              </a:pPr>
              <a:endParaRPr lang="en-US" sz="4900" kern="1200" dirty="0"/>
            </a:p>
          </p:txBody>
        </p:sp>
      </p:grpSp>
      <p:grpSp>
        <p:nvGrpSpPr>
          <p:cNvPr id="14" name="Group 13"/>
          <p:cNvGrpSpPr/>
          <p:nvPr/>
        </p:nvGrpSpPr>
        <p:grpSpPr>
          <a:xfrm>
            <a:off x="6707456" y="4745710"/>
            <a:ext cx="2371038" cy="1244749"/>
            <a:chOff x="495539" y="2992404"/>
            <a:chExt cx="2371038" cy="1244749"/>
          </a:xfrm>
        </p:grpSpPr>
        <p:sp>
          <p:nvSpPr>
            <p:cNvPr id="15" name="Rounded Rectangle 14"/>
            <p:cNvSpPr/>
            <p:nvPr/>
          </p:nvSpPr>
          <p:spPr>
            <a:xfrm>
              <a:off x="505596" y="2992404"/>
              <a:ext cx="2360981" cy="1244749"/>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a:lstStyle/>
            <a:p>
              <a:r>
                <a:rPr lang="en-US" sz="1200" dirty="0"/>
                <a:t>Some parents will do whatever it takes to pursue their habit, even if it means sacrificing the health and well-being of loved ones </a:t>
              </a:r>
            </a:p>
            <a:p>
              <a:endParaRPr lang="en-US" sz="1200" dirty="0"/>
            </a:p>
          </p:txBody>
        </p:sp>
        <p:sp>
          <p:nvSpPr>
            <p:cNvPr id="16" name="Rounded Rectangle 10"/>
            <p:cNvSpPr/>
            <p:nvPr/>
          </p:nvSpPr>
          <p:spPr>
            <a:xfrm>
              <a:off x="495539" y="3024815"/>
              <a:ext cx="1705666" cy="104173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45" tIns="62230" rIns="93345" bIns="62230" numCol="1" spcCol="1270" anchor="ctr" anchorCtr="0">
              <a:noAutofit/>
            </a:bodyPr>
            <a:lstStyle/>
            <a:p>
              <a:pPr lvl="0" algn="ctr" defTabSz="2178050">
                <a:lnSpc>
                  <a:spcPct val="90000"/>
                </a:lnSpc>
                <a:spcBef>
                  <a:spcPct val="0"/>
                </a:spcBef>
                <a:spcAft>
                  <a:spcPct val="35000"/>
                </a:spcAft>
              </a:pPr>
              <a:endParaRPr lang="en-US" sz="1400" kern="1200" dirty="0"/>
            </a:p>
          </p:txBody>
        </p:sp>
      </p:grpSp>
      <p:sp>
        <p:nvSpPr>
          <p:cNvPr id="18" name="Rounded Rectangle 17"/>
          <p:cNvSpPr/>
          <p:nvPr/>
        </p:nvSpPr>
        <p:spPr>
          <a:xfrm>
            <a:off x="9369759" y="1715599"/>
            <a:ext cx="2213108" cy="1106554"/>
          </a:xfrm>
          <a:prstGeom prst="roundRect">
            <a:avLst>
              <a:gd name="adj" fmla="val 10000"/>
            </a:avLst>
          </a:prstGeom>
          <a:solidFill>
            <a:srgbClr val="336B9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2300" dirty="0"/>
              <a:t>Heroin</a:t>
            </a:r>
          </a:p>
        </p:txBody>
      </p:sp>
      <p:sp>
        <p:nvSpPr>
          <p:cNvPr id="20" name="Straight Connector 13"/>
          <p:cNvSpPr/>
          <p:nvPr/>
        </p:nvSpPr>
        <p:spPr>
          <a:xfrm>
            <a:off x="9709093" y="2992651"/>
            <a:ext cx="482568" cy="960544"/>
          </a:xfrm>
          <a:custGeom>
            <a:avLst/>
            <a:gdLst/>
            <a:ahLst/>
            <a:cxnLst/>
            <a:rect l="0" t="0" r="0" b="0"/>
            <a:pathLst>
              <a:path>
                <a:moveTo>
                  <a:pt x="0" y="0"/>
                </a:moveTo>
                <a:lnTo>
                  <a:pt x="0" y="960544"/>
                </a:lnTo>
                <a:lnTo>
                  <a:pt x="482568" y="960544"/>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grpSp>
        <p:nvGrpSpPr>
          <p:cNvPr id="21" name="Group 20"/>
          <p:cNvGrpSpPr/>
          <p:nvPr/>
        </p:nvGrpSpPr>
        <p:grpSpPr>
          <a:xfrm>
            <a:off x="9908216" y="3361131"/>
            <a:ext cx="2115446" cy="1077992"/>
            <a:chOff x="3209614" y="1622391"/>
            <a:chExt cx="1770486" cy="1106554"/>
          </a:xfrm>
        </p:grpSpPr>
        <p:sp>
          <p:nvSpPr>
            <p:cNvPr id="22" name="Rounded Rectangle 21"/>
            <p:cNvSpPr/>
            <p:nvPr/>
          </p:nvSpPr>
          <p:spPr>
            <a:xfrm>
              <a:off x="3209614" y="1622391"/>
              <a:ext cx="1770486" cy="1106554"/>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3" name="Rounded Rectangle 15"/>
            <p:cNvSpPr/>
            <p:nvPr/>
          </p:nvSpPr>
          <p:spPr>
            <a:xfrm>
              <a:off x="3242024" y="1654801"/>
              <a:ext cx="1705666" cy="104173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45" tIns="62230" rIns="93345" bIns="62230" numCol="1" spcCol="1270" anchor="ctr" anchorCtr="0">
              <a:noAutofit/>
            </a:bodyPr>
            <a:lstStyle/>
            <a:p>
              <a:pPr lvl="0" algn="ctr" defTabSz="2178050">
                <a:lnSpc>
                  <a:spcPct val="90000"/>
                </a:lnSpc>
                <a:spcBef>
                  <a:spcPct val="0"/>
                </a:spcBef>
                <a:spcAft>
                  <a:spcPct val="35000"/>
                </a:spcAft>
              </a:pPr>
              <a:endParaRPr lang="en-US" sz="3600" kern="1200" dirty="0"/>
            </a:p>
          </p:txBody>
        </p:sp>
      </p:grpSp>
      <p:sp>
        <p:nvSpPr>
          <p:cNvPr id="24" name="Straight Connector 16"/>
          <p:cNvSpPr/>
          <p:nvPr/>
        </p:nvSpPr>
        <p:spPr>
          <a:xfrm>
            <a:off x="9712053" y="2817519"/>
            <a:ext cx="482568" cy="2343736"/>
          </a:xfrm>
          <a:custGeom>
            <a:avLst/>
            <a:gdLst/>
            <a:ahLst/>
            <a:cxnLst/>
            <a:rect l="0" t="0" r="0" b="0"/>
            <a:pathLst>
              <a:path>
                <a:moveTo>
                  <a:pt x="0" y="0"/>
                </a:moveTo>
                <a:lnTo>
                  <a:pt x="0" y="2343736"/>
                </a:lnTo>
                <a:lnTo>
                  <a:pt x="482568" y="2343736"/>
                </a:lnTo>
              </a:path>
            </a:pathLst>
          </a:custGeom>
          <a:noFill/>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sp>
      <p:grpSp>
        <p:nvGrpSpPr>
          <p:cNvPr id="25" name="Group 24"/>
          <p:cNvGrpSpPr/>
          <p:nvPr/>
        </p:nvGrpSpPr>
        <p:grpSpPr>
          <a:xfrm>
            <a:off x="9879177" y="4742236"/>
            <a:ext cx="2170241" cy="1106554"/>
            <a:chOff x="3209614" y="3005584"/>
            <a:chExt cx="1770486" cy="1106554"/>
          </a:xfrm>
        </p:grpSpPr>
        <p:sp>
          <p:nvSpPr>
            <p:cNvPr id="26" name="Rounded Rectangle 25"/>
            <p:cNvSpPr/>
            <p:nvPr/>
          </p:nvSpPr>
          <p:spPr>
            <a:xfrm>
              <a:off x="3209614" y="3005584"/>
              <a:ext cx="1770486" cy="1106554"/>
            </a:xfrm>
            <a:prstGeom prst="roundRect">
              <a:avLst>
                <a:gd name="adj" fmla="val 10000"/>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27" name="Rounded Rectangle 18"/>
            <p:cNvSpPr/>
            <p:nvPr/>
          </p:nvSpPr>
          <p:spPr>
            <a:xfrm>
              <a:off x="3242024" y="3037994"/>
              <a:ext cx="1705666" cy="104173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45" tIns="62230" rIns="93345" bIns="62230" numCol="1" spcCol="1270" anchor="ctr" anchorCtr="0">
              <a:noAutofit/>
            </a:bodyPr>
            <a:lstStyle/>
            <a:p>
              <a:pPr lvl="0" algn="ctr" defTabSz="2178050">
                <a:lnSpc>
                  <a:spcPct val="90000"/>
                </a:lnSpc>
                <a:spcBef>
                  <a:spcPct val="0"/>
                </a:spcBef>
                <a:spcAft>
                  <a:spcPct val="35000"/>
                </a:spcAft>
              </a:pPr>
              <a:endParaRPr lang="en-US" sz="4900" kern="1200" dirty="0"/>
            </a:p>
          </p:txBody>
        </p:sp>
      </p:grpSp>
      <p:sp>
        <p:nvSpPr>
          <p:cNvPr id="7" name="Rounded Rectangle 6"/>
          <p:cNvSpPr/>
          <p:nvPr/>
        </p:nvSpPr>
        <p:spPr>
          <a:xfrm>
            <a:off x="5304991" y="1715599"/>
            <a:ext cx="3732258" cy="1096987"/>
          </a:xfrm>
          <a:prstGeom prst="roundRect">
            <a:avLst>
              <a:gd name="adj" fmla="val 10000"/>
            </a:avLst>
          </a:prstGeom>
          <a:solidFill>
            <a:srgbClr val="336B90"/>
          </a:solidFill>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nchor="ctr" anchorCtr="0"/>
          <a:lstStyle/>
          <a:p>
            <a:pPr algn="ctr"/>
            <a:r>
              <a:rPr lang="en-US" sz="2300" dirty="0"/>
              <a:t>Crack Cocaine</a:t>
            </a:r>
          </a:p>
        </p:txBody>
      </p:sp>
      <p:sp>
        <p:nvSpPr>
          <p:cNvPr id="29" name="Rectangle 28"/>
          <p:cNvSpPr/>
          <p:nvPr/>
        </p:nvSpPr>
        <p:spPr>
          <a:xfrm>
            <a:off x="9973964" y="3371026"/>
            <a:ext cx="2183801" cy="1015663"/>
          </a:xfrm>
          <a:prstGeom prst="rect">
            <a:avLst/>
          </a:prstGeom>
        </p:spPr>
        <p:txBody>
          <a:bodyPr wrap="square">
            <a:spAutoFit/>
          </a:bodyPr>
          <a:lstStyle/>
          <a:p>
            <a:r>
              <a:rPr lang="en-US" sz="1200" dirty="0">
                <a:ea typeface="Calibri" panose="020F0502020204030204" pitchFamily="34" charset="0"/>
                <a:cs typeface="Calibri" panose="020F0502020204030204" pitchFamily="34" charset="0"/>
              </a:rPr>
              <a:t>Injecting, snorting, or smoking heroin causes </a:t>
            </a:r>
            <a:br>
              <a:rPr lang="en-US" sz="1200" dirty="0">
                <a:ea typeface="Calibri" panose="020F0502020204030204" pitchFamily="34" charset="0"/>
                <a:cs typeface="Calibri" panose="020F0502020204030204" pitchFamily="34" charset="0"/>
              </a:rPr>
            </a:br>
            <a:r>
              <a:rPr lang="en-US" sz="1200" dirty="0">
                <a:ea typeface="Calibri" panose="020F0502020204030204" pitchFamily="34" charset="0"/>
                <a:cs typeface="Calibri" panose="020F0502020204030204" pitchFamily="34" charset="0"/>
              </a:rPr>
              <a:t>initial euphoria, followed by an alternately wakeful and drowsy state</a:t>
            </a:r>
            <a:endParaRPr lang="en-US" sz="1200" dirty="0"/>
          </a:p>
        </p:txBody>
      </p:sp>
      <p:sp>
        <p:nvSpPr>
          <p:cNvPr id="30" name="Rectangle 29"/>
          <p:cNvSpPr/>
          <p:nvPr/>
        </p:nvSpPr>
        <p:spPr>
          <a:xfrm>
            <a:off x="9973964" y="4761542"/>
            <a:ext cx="2035726" cy="830997"/>
          </a:xfrm>
          <a:prstGeom prst="rect">
            <a:avLst/>
          </a:prstGeom>
        </p:spPr>
        <p:txBody>
          <a:bodyPr wrap="square">
            <a:spAutoFit/>
          </a:bodyPr>
          <a:lstStyle/>
          <a:p>
            <a:r>
              <a:rPr lang="en-US" sz="1200" dirty="0">
                <a:ea typeface="Calibri" panose="020F0502020204030204" pitchFamily="34" charset="0"/>
                <a:cs typeface="Calibri" panose="020F0502020204030204" pitchFamily="34" charset="0"/>
              </a:rPr>
              <a:t>Children may be left unsupervised by parents who “nod out” while under the influence of heroin</a:t>
            </a:r>
            <a:endParaRPr lang="en-US" sz="1200" dirty="0"/>
          </a:p>
        </p:txBody>
      </p:sp>
      <p:sp>
        <p:nvSpPr>
          <p:cNvPr id="28" name="TextBox 27"/>
          <p:cNvSpPr txBox="1"/>
          <p:nvPr/>
        </p:nvSpPr>
        <p:spPr>
          <a:xfrm>
            <a:off x="7105553" y="6430760"/>
            <a:ext cx="4896925" cy="307777"/>
          </a:xfrm>
          <a:prstGeom prst="rect">
            <a:avLst/>
          </a:prstGeom>
          <a:noFill/>
        </p:spPr>
        <p:txBody>
          <a:bodyPr wrap="square" rtlCol="0">
            <a:spAutoFit/>
          </a:bodyPr>
          <a:lstStyle/>
          <a:p>
            <a:r>
              <a:rPr lang="en-US" sz="1400" dirty="0"/>
              <a:t>(Breshears, 2009; National Institute on Drug Abuse, 2018a)</a:t>
            </a:r>
          </a:p>
        </p:txBody>
      </p:sp>
      <p:sp>
        <p:nvSpPr>
          <p:cNvPr id="32" name="Title 1">
            <a:extLst>
              <a:ext uri="{FF2B5EF4-FFF2-40B4-BE49-F238E27FC236}">
                <a16:creationId xmlns:a16="http://schemas.microsoft.com/office/drawing/2014/main" id="{600ADE9B-F383-4C2C-96DB-E29746084B96}"/>
              </a:ext>
            </a:extLst>
          </p:cNvPr>
          <p:cNvSpPr txBox="1">
            <a:spLocks/>
          </p:cNvSpPr>
          <p:nvPr/>
        </p:nvSpPr>
        <p:spPr>
          <a:xfrm>
            <a:off x="0" y="0"/>
            <a:ext cx="12192000" cy="1216152"/>
          </a:xfrm>
          <a:prstGeom prst="rect">
            <a:avLst/>
          </a:prstGeom>
          <a:solidFill>
            <a:srgbClr val="0F4263"/>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altLang="en-US" sz="3200" dirty="0"/>
              <a:t>The Risks of Parental Substance Use Disorders </a:t>
            </a:r>
            <a:br>
              <a:rPr lang="en-US" altLang="en-US" sz="3200" dirty="0"/>
            </a:br>
            <a:r>
              <a:rPr lang="en-US" altLang="en-US" sz="3200" dirty="0"/>
              <a:t>on Children: Alcohol and Illegal Drugs </a:t>
            </a:r>
          </a:p>
        </p:txBody>
      </p:sp>
    </p:spTree>
    <p:extLst>
      <p:ext uri="{BB962C8B-B14F-4D97-AF65-F5344CB8AC3E}">
        <p14:creationId xmlns:p14="http://schemas.microsoft.com/office/powerpoint/2010/main" val="6449937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p:cNvGraphicFramePr>
            <a:graphicFrameLocks/>
          </p:cNvGraphicFramePr>
          <p:nvPr/>
        </p:nvGraphicFramePr>
        <p:xfrm>
          <a:off x="1643811" y="1546771"/>
          <a:ext cx="8904378" cy="46498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7" name="TextBox 6"/>
          <p:cNvSpPr txBox="1"/>
          <p:nvPr/>
        </p:nvSpPr>
        <p:spPr>
          <a:xfrm>
            <a:off x="6930188" y="6430760"/>
            <a:ext cx="4896925" cy="307777"/>
          </a:xfrm>
          <a:prstGeom prst="rect">
            <a:avLst/>
          </a:prstGeom>
          <a:noFill/>
        </p:spPr>
        <p:txBody>
          <a:bodyPr wrap="square" rtlCol="0">
            <a:spAutoFit/>
          </a:bodyPr>
          <a:lstStyle/>
          <a:p>
            <a:r>
              <a:rPr lang="en-US" sz="1400" dirty="0"/>
              <a:t>(Breshears, 2009; National Institute on Drug Abuse, 2018a)</a:t>
            </a:r>
          </a:p>
        </p:txBody>
      </p:sp>
      <p:sp>
        <p:nvSpPr>
          <p:cNvPr id="8" name="Title 1">
            <a:extLst>
              <a:ext uri="{FF2B5EF4-FFF2-40B4-BE49-F238E27FC236}">
                <a16:creationId xmlns:a16="http://schemas.microsoft.com/office/drawing/2014/main" id="{600ADE9B-F383-4C2C-96DB-E29746084B96}"/>
              </a:ext>
            </a:extLst>
          </p:cNvPr>
          <p:cNvSpPr txBox="1">
            <a:spLocks/>
          </p:cNvSpPr>
          <p:nvPr/>
        </p:nvSpPr>
        <p:spPr>
          <a:xfrm>
            <a:off x="0" y="0"/>
            <a:ext cx="12192000" cy="1216152"/>
          </a:xfrm>
          <a:prstGeom prst="rect">
            <a:avLst/>
          </a:prstGeom>
          <a:solidFill>
            <a:srgbClr val="0F4263"/>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altLang="en-US" sz="3200" dirty="0"/>
              <a:t>The Risks of Parental Substance Use Disorders </a:t>
            </a:r>
            <a:br>
              <a:rPr lang="en-US" altLang="en-US" sz="3200" dirty="0"/>
            </a:br>
            <a:r>
              <a:rPr lang="en-US" altLang="en-US" sz="3200" dirty="0"/>
              <a:t>on Children: Alcohol and Illegal Drugs </a:t>
            </a:r>
          </a:p>
        </p:txBody>
      </p:sp>
    </p:spTree>
    <p:extLst>
      <p:ext uri="{BB962C8B-B14F-4D97-AF65-F5344CB8AC3E}">
        <p14:creationId xmlns:p14="http://schemas.microsoft.com/office/powerpoint/2010/main" val="2906452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Content Placeholder 2"/>
          <p:cNvGraphicFramePr>
            <a:graphicFrameLocks/>
          </p:cNvGraphicFramePr>
          <p:nvPr/>
        </p:nvGraphicFramePr>
        <p:xfrm>
          <a:off x="1155264" y="1493263"/>
          <a:ext cx="9881471" cy="52452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Rounded Rectangle 4"/>
          <p:cNvSpPr/>
          <p:nvPr/>
        </p:nvSpPr>
        <p:spPr>
          <a:xfrm>
            <a:off x="7183753" y="1924381"/>
            <a:ext cx="2543197" cy="117378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118110" tIns="78740" rIns="118110" bIns="78740" numCol="1" spcCol="1270" anchor="ctr" anchorCtr="0">
            <a:noAutofit/>
          </a:bodyPr>
          <a:lstStyle/>
          <a:p>
            <a:pPr lvl="0" algn="ctr" defTabSz="2755900">
              <a:lnSpc>
                <a:spcPct val="90000"/>
              </a:lnSpc>
              <a:spcBef>
                <a:spcPct val="0"/>
              </a:spcBef>
              <a:spcAft>
                <a:spcPct val="35000"/>
              </a:spcAft>
            </a:pPr>
            <a:endParaRPr lang="en-US" sz="6200" kern="1200" dirty="0"/>
          </a:p>
        </p:txBody>
      </p:sp>
      <p:sp>
        <p:nvSpPr>
          <p:cNvPr id="16" name="Rounded Rectangle 10"/>
          <p:cNvSpPr/>
          <p:nvPr/>
        </p:nvSpPr>
        <p:spPr>
          <a:xfrm>
            <a:off x="8075255" y="5060092"/>
            <a:ext cx="1705666" cy="1041734"/>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3345" tIns="62230" rIns="93345" bIns="62230" numCol="1" spcCol="1270" anchor="ctr" anchorCtr="0">
            <a:noAutofit/>
          </a:bodyPr>
          <a:lstStyle/>
          <a:p>
            <a:pPr lvl="0" algn="ctr" defTabSz="2178050">
              <a:lnSpc>
                <a:spcPct val="90000"/>
              </a:lnSpc>
              <a:spcBef>
                <a:spcPct val="0"/>
              </a:spcBef>
              <a:spcAft>
                <a:spcPct val="35000"/>
              </a:spcAft>
            </a:pPr>
            <a:endParaRPr lang="en-US" sz="4900" kern="1200" dirty="0"/>
          </a:p>
        </p:txBody>
      </p:sp>
      <p:sp>
        <p:nvSpPr>
          <p:cNvPr id="31" name="Rectangle 30"/>
          <p:cNvSpPr/>
          <p:nvPr/>
        </p:nvSpPr>
        <p:spPr>
          <a:xfrm>
            <a:off x="6633255" y="2330395"/>
            <a:ext cx="184731" cy="369332"/>
          </a:xfrm>
          <a:prstGeom prst="rect">
            <a:avLst/>
          </a:prstGeom>
        </p:spPr>
        <p:txBody>
          <a:bodyPr wrap="none">
            <a:spAutoFit/>
          </a:bodyPr>
          <a:lstStyle/>
          <a:p>
            <a:endParaRPr lang="en-US" dirty="0"/>
          </a:p>
        </p:txBody>
      </p:sp>
      <p:sp>
        <p:nvSpPr>
          <p:cNvPr id="11" name="Title 1">
            <a:extLst>
              <a:ext uri="{FF2B5EF4-FFF2-40B4-BE49-F238E27FC236}">
                <a16:creationId xmlns:a16="http://schemas.microsoft.com/office/drawing/2014/main" id="{600ADE9B-F383-4C2C-96DB-E29746084B96}"/>
              </a:ext>
            </a:extLst>
          </p:cNvPr>
          <p:cNvSpPr txBox="1">
            <a:spLocks/>
          </p:cNvSpPr>
          <p:nvPr/>
        </p:nvSpPr>
        <p:spPr>
          <a:xfrm>
            <a:off x="0" y="0"/>
            <a:ext cx="12192000" cy="1216152"/>
          </a:xfrm>
          <a:prstGeom prst="rect">
            <a:avLst/>
          </a:prstGeom>
          <a:solidFill>
            <a:srgbClr val="0F4263"/>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r>
              <a:rPr lang="en-US" altLang="en-US" sz="3200" dirty="0"/>
              <a:t>The Risks of Parental Substance Use Disorders </a:t>
            </a:r>
            <a:br>
              <a:rPr lang="en-US" altLang="en-US" sz="3200" dirty="0"/>
            </a:br>
            <a:r>
              <a:rPr lang="en-US" altLang="en-US" sz="3200" dirty="0"/>
              <a:t>on Children: Prescription Drugs and Pain Medications</a:t>
            </a:r>
          </a:p>
        </p:txBody>
      </p:sp>
      <p:sp>
        <p:nvSpPr>
          <p:cNvPr id="12" name="TextBox 11"/>
          <p:cNvSpPr txBox="1"/>
          <p:nvPr/>
        </p:nvSpPr>
        <p:spPr>
          <a:xfrm>
            <a:off x="6992818" y="6430760"/>
            <a:ext cx="4896925" cy="307777"/>
          </a:xfrm>
          <a:prstGeom prst="rect">
            <a:avLst/>
          </a:prstGeom>
          <a:noFill/>
        </p:spPr>
        <p:txBody>
          <a:bodyPr wrap="square" rtlCol="0">
            <a:spAutoFit/>
          </a:bodyPr>
          <a:lstStyle/>
          <a:p>
            <a:r>
              <a:rPr lang="en-US" sz="1400" dirty="0"/>
              <a:t>(Breshears, 2009; National Institute on Drug Abuse, 2018a)</a:t>
            </a:r>
          </a:p>
        </p:txBody>
      </p:sp>
    </p:spTree>
    <p:extLst>
      <p:ext uri="{BB962C8B-B14F-4D97-AF65-F5344CB8AC3E}">
        <p14:creationId xmlns:p14="http://schemas.microsoft.com/office/powerpoint/2010/main" val="31041975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2"/>
          <p:cNvSpPr>
            <a:spLocks noGrp="1"/>
          </p:cNvSpPr>
          <p:nvPr>
            <p:ph sz="half" idx="4294967295"/>
          </p:nvPr>
        </p:nvSpPr>
        <p:spPr>
          <a:xfrm>
            <a:off x="3249824" y="1391642"/>
            <a:ext cx="4118686" cy="4837707"/>
          </a:xfrm>
        </p:spPr>
        <p:txBody>
          <a:bodyPr>
            <a:noAutofit/>
          </a:bodyPr>
          <a:lstStyle/>
          <a:p>
            <a:pPr marL="342900" indent="-342900">
              <a:lnSpc>
                <a:spcPct val="100000"/>
              </a:lnSpc>
              <a:spcBef>
                <a:spcPts val="600"/>
              </a:spcBef>
              <a:spcAft>
                <a:spcPts val="600"/>
              </a:spcAft>
              <a:buAutoNum type="arabicPeriod"/>
            </a:pPr>
            <a:r>
              <a:rPr lang="en-US" sz="1800" b="1" dirty="0">
                <a:latin typeface="Arial" panose="020B0604020202020204" pitchFamily="34" charset="0"/>
                <a:cs typeface="Arial" panose="020B0604020202020204" pitchFamily="34" charset="0"/>
              </a:rPr>
              <a:t>Impaired Control</a:t>
            </a:r>
          </a:p>
          <a:p>
            <a:pPr lvl="1">
              <a:lnSpc>
                <a:spcPct val="100000"/>
              </a:lnSpc>
              <a:spcBef>
                <a:spcPts val="0"/>
              </a:spcBef>
            </a:pPr>
            <a:r>
              <a:rPr lang="en-US" sz="1800" dirty="0">
                <a:latin typeface="Arial" panose="020B0604020202020204" pitchFamily="34" charset="0"/>
                <a:cs typeface="Arial" panose="020B0604020202020204" pitchFamily="34" charset="0"/>
              </a:rPr>
              <a:t>Larger amounts or over a longer time than originally intended</a:t>
            </a:r>
          </a:p>
          <a:p>
            <a:pPr lvl="1">
              <a:lnSpc>
                <a:spcPct val="100000"/>
              </a:lnSpc>
              <a:spcBef>
                <a:spcPts val="0"/>
              </a:spcBef>
            </a:pPr>
            <a:r>
              <a:rPr lang="en-US" sz="1800" dirty="0">
                <a:latin typeface="Arial" panose="020B0604020202020204" pitchFamily="34" charset="0"/>
                <a:cs typeface="Arial" panose="020B0604020202020204" pitchFamily="34" charset="0"/>
              </a:rPr>
              <a:t>Persistent desire to cut down</a:t>
            </a:r>
          </a:p>
          <a:p>
            <a:pPr lvl="1">
              <a:lnSpc>
                <a:spcPct val="100000"/>
              </a:lnSpc>
              <a:spcBef>
                <a:spcPts val="0"/>
              </a:spcBef>
            </a:pPr>
            <a:r>
              <a:rPr lang="en-US" sz="1800" dirty="0">
                <a:latin typeface="Arial" panose="020B0604020202020204" pitchFamily="34" charset="0"/>
                <a:cs typeface="Arial" panose="020B0604020202020204" pitchFamily="34" charset="0"/>
              </a:rPr>
              <a:t>A great deal of time spent obtaining the substance</a:t>
            </a:r>
          </a:p>
          <a:p>
            <a:pPr lvl="1">
              <a:lnSpc>
                <a:spcPct val="100000"/>
              </a:lnSpc>
              <a:spcBef>
                <a:spcPts val="0"/>
              </a:spcBef>
            </a:pPr>
            <a:r>
              <a:rPr lang="en-US" sz="1800" dirty="0">
                <a:latin typeface="Arial" panose="020B0604020202020204" pitchFamily="34" charset="0"/>
                <a:cs typeface="Arial" panose="020B0604020202020204" pitchFamily="34" charset="0"/>
              </a:rPr>
              <a:t>Intense craving</a:t>
            </a:r>
          </a:p>
          <a:p>
            <a:pPr marL="0" indent="0">
              <a:lnSpc>
                <a:spcPct val="100000"/>
              </a:lnSpc>
              <a:spcBef>
                <a:spcPts val="600"/>
              </a:spcBef>
              <a:spcAft>
                <a:spcPts val="600"/>
              </a:spcAft>
              <a:buNone/>
            </a:pPr>
            <a:r>
              <a:rPr lang="en-US" sz="1800" b="1" dirty="0">
                <a:latin typeface="Arial" panose="020B0604020202020204" pitchFamily="34" charset="0"/>
                <a:cs typeface="Arial" panose="020B0604020202020204" pitchFamily="34" charset="0"/>
              </a:rPr>
              <a:t>2. Social Impairment</a:t>
            </a:r>
          </a:p>
          <a:p>
            <a:pPr lvl="1">
              <a:lnSpc>
                <a:spcPct val="100000"/>
              </a:lnSpc>
              <a:spcBef>
                <a:spcPts val="0"/>
              </a:spcBef>
            </a:pPr>
            <a:r>
              <a:rPr lang="en-US" sz="1800" dirty="0">
                <a:latin typeface="Arial" panose="020B0604020202020204" pitchFamily="34" charset="0"/>
                <a:cs typeface="Arial" panose="020B0604020202020204" pitchFamily="34" charset="0"/>
              </a:rPr>
              <a:t>Failure to fulfill work or school obligations</a:t>
            </a:r>
          </a:p>
          <a:p>
            <a:pPr lvl="1">
              <a:lnSpc>
                <a:spcPct val="100000"/>
              </a:lnSpc>
              <a:spcBef>
                <a:spcPts val="0"/>
              </a:spcBef>
            </a:pPr>
            <a:r>
              <a:rPr lang="en-US" sz="1800" dirty="0">
                <a:latin typeface="Arial" panose="020B0604020202020204" pitchFamily="34" charset="0"/>
                <a:cs typeface="Arial" panose="020B0604020202020204" pitchFamily="34" charset="0"/>
              </a:rPr>
              <a:t>Recurrent social or interpersonal problems</a:t>
            </a:r>
          </a:p>
          <a:p>
            <a:pPr lvl="1">
              <a:lnSpc>
                <a:spcPct val="100000"/>
              </a:lnSpc>
              <a:spcBef>
                <a:spcPts val="0"/>
              </a:spcBef>
            </a:pPr>
            <a:r>
              <a:rPr lang="en-US" sz="1800" dirty="0">
                <a:latin typeface="Arial" panose="020B0604020202020204" pitchFamily="34" charset="0"/>
                <a:cs typeface="Arial" panose="020B0604020202020204" pitchFamily="34" charset="0"/>
              </a:rPr>
              <a:t>Withdraw from social or recreational activities</a:t>
            </a:r>
          </a:p>
        </p:txBody>
      </p:sp>
      <p:sp>
        <p:nvSpPr>
          <p:cNvPr id="8" name="Content Placeholder 3"/>
          <p:cNvSpPr txBox="1">
            <a:spLocks/>
          </p:cNvSpPr>
          <p:nvPr/>
        </p:nvSpPr>
        <p:spPr>
          <a:xfrm>
            <a:off x="7418636" y="1391643"/>
            <a:ext cx="4468564" cy="5466357"/>
          </a:xfrm>
          <a:prstGeom prst="rect">
            <a:avLst/>
          </a:prstGeom>
        </p:spPr>
        <p:txBody>
          <a:bodyPr>
            <a:no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600"/>
              </a:spcBef>
              <a:spcAft>
                <a:spcPts val="600"/>
              </a:spcAft>
              <a:buNone/>
            </a:pPr>
            <a:r>
              <a:rPr lang="en-US" sz="1800" b="1" dirty="0">
                <a:solidFill>
                  <a:prstClr val="black"/>
                </a:solidFill>
                <a:latin typeface="Arial" panose="020B0604020202020204" pitchFamily="34" charset="0"/>
                <a:cs typeface="Arial" panose="020B0604020202020204" pitchFamily="34" charset="0"/>
              </a:rPr>
              <a:t>3. Risky Use</a:t>
            </a:r>
          </a:p>
          <a:p>
            <a:pPr lvl="1">
              <a:spcBef>
                <a:spcPts val="0"/>
              </a:spcBef>
              <a:spcAft>
                <a:spcPts val="0"/>
              </a:spcAft>
              <a:buSzPct val="75000"/>
              <a:buFont typeface="Arial" panose="020B0604020202020204" pitchFamily="34" charset="0"/>
              <a:buChar char="•"/>
            </a:pPr>
            <a:r>
              <a:rPr lang="en-US" sz="1800" dirty="0">
                <a:latin typeface="Arial" panose="020B0604020202020204" pitchFamily="34" charset="0"/>
                <a:cs typeface="Arial" panose="020B0604020202020204" pitchFamily="34" charset="0"/>
              </a:rPr>
              <a:t>Recurrent use in situations physically hazardous</a:t>
            </a:r>
          </a:p>
          <a:p>
            <a:pPr lvl="1">
              <a:spcBef>
                <a:spcPts val="0"/>
              </a:spcBef>
              <a:spcAft>
                <a:spcPts val="0"/>
              </a:spcAft>
              <a:buSzPct val="75000"/>
              <a:buFont typeface="Arial" panose="020B0604020202020204" pitchFamily="34" charset="0"/>
              <a:buChar char="•"/>
            </a:pPr>
            <a:r>
              <a:rPr lang="en-US" sz="1800" dirty="0">
                <a:latin typeface="Arial" panose="020B0604020202020204" pitchFamily="34" charset="0"/>
                <a:cs typeface="Arial" panose="020B0604020202020204" pitchFamily="34" charset="0"/>
              </a:rPr>
              <a:t>Continued use despite persistent physical or psychological problem that is likely to have been caused or exacerbated by use</a:t>
            </a:r>
            <a:endParaRPr lang="en-US" sz="1800" dirty="0">
              <a:solidFill>
                <a:prstClr val="black"/>
              </a:solidFill>
              <a:latin typeface="Arial" panose="020B0604020202020204" pitchFamily="34" charset="0"/>
              <a:cs typeface="Arial" panose="020B0604020202020204" pitchFamily="34" charset="0"/>
            </a:endParaRPr>
          </a:p>
          <a:p>
            <a:pPr marL="0" indent="0">
              <a:spcBef>
                <a:spcPts val="600"/>
              </a:spcBef>
              <a:spcAft>
                <a:spcPts val="600"/>
              </a:spcAft>
              <a:buNone/>
            </a:pPr>
            <a:r>
              <a:rPr lang="en-US" sz="1800" b="1" dirty="0">
                <a:solidFill>
                  <a:prstClr val="black"/>
                </a:solidFill>
                <a:latin typeface="Arial" panose="020B0604020202020204" pitchFamily="34" charset="0"/>
                <a:cs typeface="Arial" panose="020B0604020202020204" pitchFamily="34" charset="0"/>
              </a:rPr>
              <a:t>4. Pharmacological Criteria</a:t>
            </a:r>
          </a:p>
          <a:p>
            <a:pPr lvl="1">
              <a:spcBef>
                <a:spcPts val="0"/>
              </a:spcBef>
              <a:spcAft>
                <a:spcPts val="0"/>
              </a:spcAft>
              <a:buSzPct val="75000"/>
              <a:buFont typeface="Arial" panose="020B0604020202020204" pitchFamily="34" charset="0"/>
              <a:buChar char="•"/>
            </a:pPr>
            <a:r>
              <a:rPr lang="en-US" sz="1800" dirty="0">
                <a:latin typeface="Arial" panose="020B0604020202020204" pitchFamily="34" charset="0"/>
                <a:cs typeface="Arial" panose="020B0604020202020204" pitchFamily="34" charset="0"/>
              </a:rPr>
              <a:t>Tolerance: Need for markedly increased dose to achieve the desired effect</a:t>
            </a:r>
          </a:p>
          <a:p>
            <a:pPr lvl="1">
              <a:spcBef>
                <a:spcPts val="0"/>
              </a:spcBef>
              <a:spcAft>
                <a:spcPts val="0"/>
              </a:spcAft>
              <a:buSzPct val="75000"/>
              <a:buFont typeface="Arial" panose="020B0604020202020204" pitchFamily="34" charset="0"/>
              <a:buChar char="•"/>
            </a:pPr>
            <a:r>
              <a:rPr lang="en-US" sz="1800" dirty="0">
                <a:latin typeface="Arial" panose="020B0604020202020204" pitchFamily="34" charset="0"/>
                <a:cs typeface="Arial" panose="020B0604020202020204" pitchFamily="34" charset="0"/>
              </a:rPr>
              <a:t>Withdrawal: Syndrome that occurs when blood or tissue concentrations of a substance decline in an individual who had maintained prolonged heavy use</a:t>
            </a:r>
          </a:p>
        </p:txBody>
      </p:sp>
      <p:sp>
        <p:nvSpPr>
          <p:cNvPr id="9" name="Up Arrow 8">
            <a:extLst>
              <a:ext uri="{C183D7F6-B498-43B3-948B-1728B52AA6E4}">
                <adec:decorative xmlns:adec="http://schemas.microsoft.com/office/drawing/2017/decorative" val="1"/>
              </a:ext>
            </a:extLst>
          </p:cNvPr>
          <p:cNvSpPr/>
          <p:nvPr/>
        </p:nvSpPr>
        <p:spPr>
          <a:xfrm>
            <a:off x="2145576" y="1732245"/>
            <a:ext cx="687290" cy="4197908"/>
          </a:xfrm>
          <a:prstGeom prst="upArrow">
            <a:avLst/>
          </a:prstGeom>
          <a:solidFill>
            <a:srgbClr val="336B9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dirty="0">
              <a:solidFill>
                <a:prstClr val="white"/>
              </a:solidFill>
            </a:endParaRPr>
          </a:p>
        </p:txBody>
      </p:sp>
      <p:sp>
        <p:nvSpPr>
          <p:cNvPr id="10" name="TextBox 9"/>
          <p:cNvSpPr txBox="1"/>
          <p:nvPr/>
        </p:nvSpPr>
        <p:spPr>
          <a:xfrm>
            <a:off x="692934" y="5338807"/>
            <a:ext cx="1452642" cy="707886"/>
          </a:xfrm>
          <a:prstGeom prst="rect">
            <a:avLst/>
          </a:prstGeom>
          <a:noFill/>
        </p:spPr>
        <p:txBody>
          <a:bodyPr wrap="none" rtlCol="0">
            <a:spAutoFit/>
          </a:bodyPr>
          <a:lstStyle/>
          <a:p>
            <a:r>
              <a:rPr lang="en-US" sz="2000" dirty="0">
                <a:solidFill>
                  <a:prstClr val="black"/>
                </a:solidFill>
                <a:latin typeface="Arial" panose="020B0604020202020204" pitchFamily="34" charset="0"/>
                <a:cs typeface="Arial" panose="020B0604020202020204" pitchFamily="34" charset="0"/>
              </a:rPr>
              <a:t>Mild</a:t>
            </a:r>
          </a:p>
          <a:p>
            <a:r>
              <a:rPr lang="en-US" sz="2000" dirty="0">
                <a:solidFill>
                  <a:prstClr val="black"/>
                </a:solidFill>
                <a:latin typeface="Arial" panose="020B0604020202020204" pitchFamily="34" charset="0"/>
                <a:cs typeface="Arial" panose="020B0604020202020204" pitchFamily="34" charset="0"/>
              </a:rPr>
              <a:t>2-3 Criteria</a:t>
            </a:r>
          </a:p>
        </p:txBody>
      </p:sp>
      <p:sp>
        <p:nvSpPr>
          <p:cNvPr id="11" name="TextBox 10"/>
          <p:cNvSpPr txBox="1"/>
          <p:nvPr/>
        </p:nvSpPr>
        <p:spPr>
          <a:xfrm>
            <a:off x="642808" y="3793262"/>
            <a:ext cx="1452642" cy="707886"/>
          </a:xfrm>
          <a:prstGeom prst="rect">
            <a:avLst/>
          </a:prstGeom>
          <a:noFill/>
        </p:spPr>
        <p:txBody>
          <a:bodyPr wrap="none" rtlCol="0">
            <a:spAutoFit/>
          </a:bodyPr>
          <a:lstStyle/>
          <a:p>
            <a:r>
              <a:rPr lang="en-US" sz="2000" dirty="0">
                <a:solidFill>
                  <a:prstClr val="black"/>
                </a:solidFill>
                <a:latin typeface="Arial" panose="020B0604020202020204" pitchFamily="34" charset="0"/>
                <a:cs typeface="Arial" panose="020B0604020202020204" pitchFamily="34" charset="0"/>
              </a:rPr>
              <a:t>Moderate</a:t>
            </a:r>
          </a:p>
          <a:p>
            <a:r>
              <a:rPr lang="en-US" sz="2000" dirty="0">
                <a:solidFill>
                  <a:prstClr val="black"/>
                </a:solidFill>
                <a:latin typeface="Arial" panose="020B0604020202020204" pitchFamily="34" charset="0"/>
                <a:cs typeface="Arial" panose="020B0604020202020204" pitchFamily="34" charset="0"/>
              </a:rPr>
              <a:t>4-5 Criteria</a:t>
            </a:r>
          </a:p>
        </p:txBody>
      </p:sp>
      <p:sp>
        <p:nvSpPr>
          <p:cNvPr id="12" name="TextBox 11"/>
          <p:cNvSpPr txBox="1"/>
          <p:nvPr/>
        </p:nvSpPr>
        <p:spPr>
          <a:xfrm>
            <a:off x="682082" y="1732245"/>
            <a:ext cx="1374094" cy="707886"/>
          </a:xfrm>
          <a:prstGeom prst="rect">
            <a:avLst/>
          </a:prstGeom>
          <a:noFill/>
        </p:spPr>
        <p:txBody>
          <a:bodyPr wrap="none" rtlCol="0">
            <a:spAutoFit/>
          </a:bodyPr>
          <a:lstStyle/>
          <a:p>
            <a:r>
              <a:rPr lang="en-US" sz="2000" dirty="0">
                <a:solidFill>
                  <a:prstClr val="black"/>
                </a:solidFill>
                <a:latin typeface="Arial" panose="020B0604020202020204" pitchFamily="34" charset="0"/>
                <a:cs typeface="Arial" panose="020B0604020202020204" pitchFamily="34" charset="0"/>
              </a:rPr>
              <a:t>Severe</a:t>
            </a:r>
          </a:p>
          <a:p>
            <a:r>
              <a:rPr lang="en-US" sz="2000" dirty="0">
                <a:solidFill>
                  <a:prstClr val="black"/>
                </a:solidFill>
                <a:latin typeface="Arial" panose="020B0604020202020204" pitchFamily="34" charset="0"/>
                <a:cs typeface="Arial" panose="020B0604020202020204" pitchFamily="34" charset="0"/>
              </a:rPr>
              <a:t>6+ Criteria</a:t>
            </a:r>
          </a:p>
        </p:txBody>
      </p:sp>
      <p:sp>
        <p:nvSpPr>
          <p:cNvPr id="13" name="Title 1">
            <a:extLst>
              <a:ext uri="{FF2B5EF4-FFF2-40B4-BE49-F238E27FC236}">
                <a16:creationId xmlns:a16="http://schemas.microsoft.com/office/drawing/2014/main" id="{600ADE9B-F383-4C2C-96DB-E29746084B96}"/>
              </a:ext>
            </a:extLst>
          </p:cNvPr>
          <p:cNvSpPr txBox="1">
            <a:spLocks/>
          </p:cNvSpPr>
          <p:nvPr/>
        </p:nvSpPr>
        <p:spPr>
          <a:xfrm>
            <a:off x="0" y="0"/>
            <a:ext cx="12192000" cy="1335024"/>
          </a:xfrm>
          <a:prstGeom prst="rect">
            <a:avLst/>
          </a:prstGeom>
          <a:solidFill>
            <a:srgbClr val="0F4263"/>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defRPr/>
            </a:pPr>
            <a:r>
              <a:rPr lang="en-US" sz="3200" dirty="0">
                <a:cs typeface="Arial" charset="0"/>
              </a:rPr>
              <a:t>Diagnosing Substance Use Disorders: </a:t>
            </a:r>
          </a:p>
          <a:p>
            <a:pPr algn="ctr">
              <a:defRPr/>
            </a:pPr>
            <a:r>
              <a:rPr lang="en-US" sz="3200" dirty="0">
                <a:cs typeface="Arial" charset="0"/>
              </a:rPr>
              <a:t>DSM-5 Criteria</a:t>
            </a:r>
          </a:p>
        </p:txBody>
      </p:sp>
      <p:sp>
        <p:nvSpPr>
          <p:cNvPr id="14" name="TextBox 13"/>
          <p:cNvSpPr txBox="1"/>
          <p:nvPr/>
        </p:nvSpPr>
        <p:spPr>
          <a:xfrm>
            <a:off x="8423032" y="6428232"/>
            <a:ext cx="3588860" cy="307777"/>
          </a:xfrm>
          <a:prstGeom prst="rect">
            <a:avLst/>
          </a:prstGeom>
          <a:noFill/>
        </p:spPr>
        <p:txBody>
          <a:bodyPr wrap="square" rtlCol="0">
            <a:spAutoFit/>
          </a:bodyPr>
          <a:lstStyle/>
          <a:p>
            <a:r>
              <a:rPr lang="en-US" sz="1400" dirty="0"/>
              <a:t>(American Psychiatric Association, 2013)</a:t>
            </a:r>
          </a:p>
        </p:txBody>
      </p:sp>
    </p:spTree>
    <p:extLst>
      <p:ext uri="{BB962C8B-B14F-4D97-AF65-F5344CB8AC3E}">
        <p14:creationId xmlns:p14="http://schemas.microsoft.com/office/powerpoint/2010/main" val="7898942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1169895" y="1388728"/>
            <a:ext cx="9852210" cy="5151946"/>
            <a:chOff x="1129559" y="1092061"/>
            <a:chExt cx="9177250" cy="5567657"/>
          </a:xfrm>
        </p:grpSpPr>
        <p:grpSp>
          <p:nvGrpSpPr>
            <p:cNvPr id="3" name="Group 2"/>
            <p:cNvGrpSpPr/>
            <p:nvPr/>
          </p:nvGrpSpPr>
          <p:grpSpPr>
            <a:xfrm>
              <a:off x="1151067" y="1092061"/>
              <a:ext cx="9155742" cy="1061021"/>
              <a:chOff x="1151067" y="1092061"/>
              <a:chExt cx="9155742" cy="1061021"/>
            </a:xfrm>
          </p:grpSpPr>
          <p:sp>
            <p:nvSpPr>
              <p:cNvPr id="4" name="TextBox 3"/>
              <p:cNvSpPr txBox="1"/>
              <p:nvPr/>
            </p:nvSpPr>
            <p:spPr>
              <a:xfrm>
                <a:off x="2711825" y="1206735"/>
                <a:ext cx="7594984" cy="631960"/>
              </a:xfrm>
              <a:prstGeom prst="rect">
                <a:avLst/>
              </a:prstGeom>
              <a:solidFill>
                <a:srgbClr val="336B90"/>
              </a:solidFill>
            </p:spPr>
            <p:txBody>
              <a:bodyPr wrap="square" rtlCol="0">
                <a:spAutoFit/>
              </a:bodyPr>
              <a:lstStyle/>
              <a:p>
                <a:r>
                  <a:rPr lang="en-US" sz="1600" b="1" dirty="0">
                    <a:solidFill>
                      <a:schemeClr val="bg1"/>
                    </a:solidFill>
                  </a:rPr>
                  <a:t>Early Identification, Screening, </a:t>
                </a:r>
              </a:p>
              <a:p>
                <a:r>
                  <a:rPr lang="en-US" sz="1600" b="1" dirty="0">
                    <a:solidFill>
                      <a:schemeClr val="bg1"/>
                    </a:solidFill>
                  </a:rPr>
                  <a:t>and Brief Intervention</a:t>
                </a:r>
              </a:p>
            </p:txBody>
          </p:sp>
          <p:pic>
            <p:nvPicPr>
              <p:cNvPr id="1044" name="Picture 20">
                <a:extLst>
                  <a:ext uri="{C183D7F6-B498-43B3-948B-1728B52AA6E4}">
                    <adec:decorative xmlns:adec="http://schemas.microsoft.com/office/drawing/2017/decorative" val="1"/>
                  </a:ext>
                </a:extLst>
              </p:cNvPr>
              <p:cNvPicPr>
                <a:picLocks noChangeAspect="1" noChangeArrowheads="1"/>
              </p:cNvPicPr>
              <p:nvPr/>
            </p:nvPicPr>
            <p:blipFill rotWithShape="1">
              <a:blip r:embed="rId3" cstate="print">
                <a:duotone>
                  <a:schemeClr val="accent1">
                    <a:shade val="45000"/>
                    <a:satMod val="135000"/>
                  </a:schemeClr>
                  <a:prstClr val="white"/>
                </a:duotone>
                <a:extLst>
                  <a:ext uri="{28A0092B-C50C-407E-A947-70E740481C1C}">
                    <a14:useLocalDpi xmlns:a14="http://schemas.microsoft.com/office/drawing/2010/main" val="0"/>
                  </a:ext>
                </a:extLst>
              </a:blip>
              <a:srcRect t="1" r="25222" b="26755"/>
              <a:stretch/>
            </p:blipFill>
            <p:spPr bwMode="auto">
              <a:xfrm>
                <a:off x="1151067" y="1092061"/>
                <a:ext cx="1252895" cy="1061021"/>
              </a:xfrm>
              <a:prstGeom prst="ellipse">
                <a:avLst/>
              </a:prstGeom>
              <a:solidFill>
                <a:schemeClr val="accent1">
                  <a:lumMod val="20000"/>
                  <a:lumOff val="80000"/>
                </a:schemeClr>
              </a:solidFill>
              <a:ln w="190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2" name="TextBox 11"/>
              <p:cNvSpPr txBox="1"/>
              <p:nvPr/>
            </p:nvSpPr>
            <p:spPr>
              <a:xfrm>
                <a:off x="6776675" y="1348169"/>
                <a:ext cx="3504199" cy="365872"/>
              </a:xfrm>
              <a:prstGeom prst="rect">
                <a:avLst/>
              </a:prstGeom>
              <a:solidFill>
                <a:srgbClr val="336B90"/>
              </a:solidFill>
            </p:spPr>
            <p:txBody>
              <a:bodyPr wrap="square" rtlCol="0">
                <a:spAutoFit/>
              </a:bodyPr>
              <a:lstStyle/>
              <a:p>
                <a:r>
                  <a:rPr lang="en-US" sz="1600" dirty="0">
                    <a:solidFill>
                      <a:schemeClr val="bg1"/>
                    </a:solidFill>
                  </a:rPr>
                  <a:t>Done at earliest point possible</a:t>
                </a:r>
              </a:p>
            </p:txBody>
          </p:sp>
        </p:grpSp>
        <p:grpSp>
          <p:nvGrpSpPr>
            <p:cNvPr id="15" name="Group 14"/>
            <p:cNvGrpSpPr/>
            <p:nvPr/>
          </p:nvGrpSpPr>
          <p:grpSpPr>
            <a:xfrm>
              <a:off x="1129559" y="5747345"/>
              <a:ext cx="9177248" cy="912373"/>
              <a:chOff x="1129559" y="5747345"/>
              <a:chExt cx="9177248" cy="912373"/>
            </a:xfrm>
          </p:grpSpPr>
          <p:sp>
            <p:nvSpPr>
              <p:cNvPr id="8" name="TextBox 7"/>
              <p:cNvSpPr txBox="1"/>
              <p:nvPr/>
            </p:nvSpPr>
            <p:spPr>
              <a:xfrm>
                <a:off x="2685893" y="5856761"/>
                <a:ext cx="7594982" cy="631961"/>
              </a:xfrm>
              <a:prstGeom prst="rect">
                <a:avLst/>
              </a:prstGeom>
              <a:solidFill>
                <a:srgbClr val="336B90"/>
              </a:solidFill>
            </p:spPr>
            <p:txBody>
              <a:bodyPr wrap="square" rtlCol="0">
                <a:spAutoFit/>
              </a:bodyPr>
              <a:lstStyle/>
              <a:p>
                <a:r>
                  <a:rPr lang="en-US" sz="1600" b="1" dirty="0">
                    <a:solidFill>
                      <a:schemeClr val="bg1"/>
                    </a:solidFill>
                  </a:rPr>
                  <a:t>Continuing Care </a:t>
                </a:r>
                <a:br>
                  <a:rPr lang="en-US" sz="1600" b="1" dirty="0">
                    <a:solidFill>
                      <a:schemeClr val="bg1"/>
                    </a:solidFill>
                  </a:rPr>
                </a:br>
                <a:r>
                  <a:rPr lang="en-US" sz="1600" b="1" dirty="0">
                    <a:solidFill>
                      <a:schemeClr val="bg1"/>
                    </a:solidFill>
                  </a:rPr>
                  <a:t>and Recovery Support</a:t>
                </a:r>
              </a:p>
            </p:txBody>
          </p:sp>
          <p:pic>
            <p:nvPicPr>
              <p:cNvPr id="1036" name="Picture 12">
                <a:extLst>
                  <a:ext uri="{C183D7F6-B498-43B3-948B-1728B52AA6E4}">
                    <adec:decorative xmlns:adec="http://schemas.microsoft.com/office/drawing/2017/decorative" val="1"/>
                  </a:ext>
                </a:extLst>
              </p:cNvPr>
              <p:cNvPicPr>
                <a:picLocks noChangeAspect="1" noChangeArrowheads="1"/>
              </p:cNvPicPr>
              <p:nvPr/>
            </p:nvPicPr>
            <p:blipFill rotWithShape="1">
              <a:blip r:embed="rId4" cstate="print">
                <a:duotone>
                  <a:schemeClr val="accent1">
                    <a:shade val="45000"/>
                    <a:satMod val="135000"/>
                  </a:schemeClr>
                  <a:prstClr val="white"/>
                </a:duotone>
                <a:extLst>
                  <a:ext uri="{28A0092B-C50C-407E-A947-70E740481C1C}">
                    <a14:useLocalDpi xmlns:a14="http://schemas.microsoft.com/office/drawing/2010/main" val="0"/>
                  </a:ext>
                </a:extLst>
              </a:blip>
              <a:srcRect r="1400" b="21086"/>
              <a:stretch/>
            </p:blipFill>
            <p:spPr bwMode="auto">
              <a:xfrm>
                <a:off x="1129559" y="5747345"/>
                <a:ext cx="1206118" cy="912373"/>
              </a:xfrm>
              <a:prstGeom prst="ellipse">
                <a:avLst/>
              </a:prstGeom>
              <a:solidFill>
                <a:schemeClr val="accent1">
                  <a:lumMod val="20000"/>
                  <a:lumOff val="80000"/>
                </a:schemeClr>
              </a:solidFill>
              <a:ln w="190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6" name="TextBox 25"/>
              <p:cNvSpPr txBox="1"/>
              <p:nvPr/>
            </p:nvSpPr>
            <p:spPr>
              <a:xfrm>
                <a:off x="6776675" y="5848421"/>
                <a:ext cx="3530132" cy="631961"/>
              </a:xfrm>
              <a:prstGeom prst="rect">
                <a:avLst/>
              </a:prstGeom>
              <a:noFill/>
            </p:spPr>
            <p:txBody>
              <a:bodyPr wrap="square" rtlCol="0">
                <a:spAutoFit/>
              </a:bodyPr>
              <a:lstStyle/>
              <a:p>
                <a:r>
                  <a:rPr lang="en-US" sz="1600" dirty="0">
                    <a:solidFill>
                      <a:schemeClr val="bg1"/>
                    </a:solidFill>
                  </a:rPr>
                  <a:t>Help parents sustain recovery, maintain family safety and stability</a:t>
                </a:r>
              </a:p>
            </p:txBody>
          </p:sp>
        </p:grpSp>
        <p:grpSp>
          <p:nvGrpSpPr>
            <p:cNvPr id="14" name="Group 13"/>
            <p:cNvGrpSpPr/>
            <p:nvPr/>
          </p:nvGrpSpPr>
          <p:grpSpPr>
            <a:xfrm>
              <a:off x="1151067" y="4510427"/>
              <a:ext cx="9155740" cy="1120160"/>
              <a:chOff x="1151067" y="4510427"/>
              <a:chExt cx="9155740" cy="1120160"/>
            </a:xfrm>
          </p:grpSpPr>
          <p:sp>
            <p:nvSpPr>
              <p:cNvPr id="7" name="TextBox 6"/>
              <p:cNvSpPr txBox="1"/>
              <p:nvPr/>
            </p:nvSpPr>
            <p:spPr>
              <a:xfrm>
                <a:off x="2685893" y="4510427"/>
                <a:ext cx="7620914" cy="631960"/>
              </a:xfrm>
              <a:prstGeom prst="rect">
                <a:avLst/>
              </a:prstGeom>
              <a:solidFill>
                <a:srgbClr val="336B90"/>
              </a:solidFill>
            </p:spPr>
            <p:txBody>
              <a:bodyPr wrap="square" rtlCol="0">
                <a:spAutoFit/>
              </a:bodyPr>
              <a:lstStyle/>
              <a:p>
                <a:r>
                  <a:rPr lang="en-US" sz="1600" b="1" dirty="0">
                    <a:solidFill>
                      <a:schemeClr val="bg1"/>
                    </a:solidFill>
                  </a:rPr>
                  <a:t>Timely and Appropriate </a:t>
                </a:r>
                <a:br>
                  <a:rPr lang="en-US" sz="1600" b="1" dirty="0">
                    <a:solidFill>
                      <a:schemeClr val="bg1"/>
                    </a:solidFill>
                  </a:rPr>
                </a:br>
                <a:r>
                  <a:rPr lang="en-US" sz="1600" b="1" dirty="0">
                    <a:solidFill>
                      <a:schemeClr val="bg1"/>
                    </a:solidFill>
                  </a:rPr>
                  <a:t>Substance Use Disorder Treatment</a:t>
                </a:r>
              </a:p>
            </p:txBody>
          </p:sp>
          <p:pic>
            <p:nvPicPr>
              <p:cNvPr id="1038" name="Picture 14">
                <a:extLst>
                  <a:ext uri="{C183D7F6-B498-43B3-948B-1728B52AA6E4}">
                    <adec:decorative xmlns:adec="http://schemas.microsoft.com/office/drawing/2017/decorative" val="1"/>
                  </a:ext>
                </a:extLst>
              </p:cNvPr>
              <p:cNvPicPr>
                <a:picLocks noChangeAspect="1" noChangeArrowheads="1"/>
              </p:cNvPicPr>
              <p:nvPr/>
            </p:nvPicPr>
            <p:blipFill>
              <a:blip r:embed="rId5"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51067" y="4606391"/>
                <a:ext cx="1184609" cy="1024196"/>
              </a:xfrm>
              <a:prstGeom prst="ellipse">
                <a:avLst/>
              </a:prstGeom>
              <a:solidFill>
                <a:schemeClr val="accent1">
                  <a:lumMod val="20000"/>
                  <a:lumOff val="80000"/>
                </a:schemeClr>
              </a:solidFill>
              <a:ln w="190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7" name="TextBox 26"/>
              <p:cNvSpPr txBox="1"/>
              <p:nvPr/>
            </p:nvSpPr>
            <p:spPr>
              <a:xfrm>
                <a:off x="6776675" y="4543294"/>
                <a:ext cx="3530132" cy="631960"/>
              </a:xfrm>
              <a:prstGeom prst="rect">
                <a:avLst/>
              </a:prstGeom>
              <a:noFill/>
            </p:spPr>
            <p:txBody>
              <a:bodyPr wrap="square" rtlCol="0">
                <a:spAutoFit/>
              </a:bodyPr>
              <a:lstStyle/>
              <a:p>
                <a:r>
                  <a:rPr lang="en-US" sz="1600" dirty="0">
                    <a:solidFill>
                      <a:schemeClr val="bg1"/>
                    </a:solidFill>
                  </a:rPr>
                  <a:t>Address substance use disorder and co-occurring issues</a:t>
                </a:r>
              </a:p>
            </p:txBody>
          </p:sp>
        </p:grpSp>
        <p:grpSp>
          <p:nvGrpSpPr>
            <p:cNvPr id="9" name="Group 8"/>
            <p:cNvGrpSpPr/>
            <p:nvPr/>
          </p:nvGrpSpPr>
          <p:grpSpPr>
            <a:xfrm>
              <a:off x="1182691" y="2280396"/>
              <a:ext cx="9124116" cy="1064237"/>
              <a:chOff x="1182691" y="2280396"/>
              <a:chExt cx="9124116" cy="1064237"/>
            </a:xfrm>
          </p:grpSpPr>
          <p:sp>
            <p:nvSpPr>
              <p:cNvPr id="5" name="TextBox 4"/>
              <p:cNvSpPr txBox="1"/>
              <p:nvPr/>
            </p:nvSpPr>
            <p:spPr>
              <a:xfrm>
                <a:off x="2711823" y="2424336"/>
                <a:ext cx="7594984" cy="631961"/>
              </a:xfrm>
              <a:prstGeom prst="rect">
                <a:avLst/>
              </a:prstGeom>
              <a:solidFill>
                <a:srgbClr val="336B90"/>
              </a:solidFill>
            </p:spPr>
            <p:txBody>
              <a:bodyPr wrap="square" rtlCol="0">
                <a:spAutoFit/>
              </a:bodyPr>
              <a:lstStyle/>
              <a:p>
                <a:r>
                  <a:rPr lang="en-US" sz="1600" b="1" dirty="0">
                    <a:solidFill>
                      <a:schemeClr val="bg1"/>
                    </a:solidFill>
                  </a:rPr>
                  <a:t>Comprehensive </a:t>
                </a:r>
              </a:p>
              <a:p>
                <a:r>
                  <a:rPr lang="en-US" sz="1600" b="1" dirty="0">
                    <a:solidFill>
                      <a:schemeClr val="bg1"/>
                    </a:solidFill>
                  </a:rPr>
                  <a:t>Assessment</a:t>
                </a:r>
              </a:p>
            </p:txBody>
          </p:sp>
          <p:pic>
            <p:nvPicPr>
              <p:cNvPr id="1042" name="Picture 18">
                <a:extLst>
                  <a:ext uri="{C183D7F6-B498-43B3-948B-1728B52AA6E4}">
                    <adec:decorative xmlns:adec="http://schemas.microsoft.com/office/drawing/2017/decorative" val="1"/>
                  </a:ext>
                </a:extLst>
              </p:cNvPr>
              <p:cNvPicPr>
                <a:picLocks noChangeAspect="1" noChangeArrowheads="1"/>
              </p:cNvPicPr>
              <p:nvPr/>
            </p:nvPicPr>
            <p:blipFill>
              <a:blip r:embed="rId6"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82691" y="2280396"/>
                <a:ext cx="1230922" cy="1064237"/>
              </a:xfrm>
              <a:prstGeom prst="ellipse">
                <a:avLst/>
              </a:prstGeom>
              <a:solidFill>
                <a:schemeClr val="accent1">
                  <a:lumMod val="20000"/>
                  <a:lumOff val="80000"/>
                </a:schemeClr>
              </a:solidFill>
              <a:ln w="190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8" name="TextBox 27"/>
              <p:cNvSpPr txBox="1"/>
              <p:nvPr/>
            </p:nvSpPr>
            <p:spPr>
              <a:xfrm>
                <a:off x="6776675" y="2422978"/>
                <a:ext cx="3530132" cy="631961"/>
              </a:xfrm>
              <a:prstGeom prst="rect">
                <a:avLst/>
              </a:prstGeom>
              <a:noFill/>
            </p:spPr>
            <p:txBody>
              <a:bodyPr wrap="square" rtlCol="0">
                <a:spAutoFit/>
              </a:bodyPr>
              <a:lstStyle/>
              <a:p>
                <a:r>
                  <a:rPr lang="en-US" sz="1600" dirty="0">
                    <a:solidFill>
                      <a:schemeClr val="bg1"/>
                    </a:solidFill>
                  </a:rPr>
                  <a:t>Determine extent and severity </a:t>
                </a:r>
                <a:br>
                  <a:rPr lang="en-US" sz="1600" dirty="0">
                    <a:solidFill>
                      <a:schemeClr val="bg1"/>
                    </a:solidFill>
                  </a:rPr>
                </a:br>
                <a:r>
                  <a:rPr lang="en-US" sz="1600" dirty="0">
                    <a:solidFill>
                      <a:schemeClr val="bg1"/>
                    </a:solidFill>
                  </a:rPr>
                  <a:t>of disease</a:t>
                </a:r>
              </a:p>
            </p:txBody>
          </p:sp>
        </p:grpSp>
        <p:grpSp>
          <p:nvGrpSpPr>
            <p:cNvPr id="10" name="Group 9"/>
            <p:cNvGrpSpPr/>
            <p:nvPr/>
          </p:nvGrpSpPr>
          <p:grpSpPr>
            <a:xfrm>
              <a:off x="1182691" y="3471947"/>
              <a:ext cx="9098185" cy="1013640"/>
              <a:chOff x="1182691" y="3471947"/>
              <a:chExt cx="9098185" cy="1013640"/>
            </a:xfrm>
          </p:grpSpPr>
          <p:sp>
            <p:nvSpPr>
              <p:cNvPr id="6" name="TextBox 5"/>
              <p:cNvSpPr txBox="1"/>
              <p:nvPr/>
            </p:nvSpPr>
            <p:spPr>
              <a:xfrm>
                <a:off x="2685893" y="3588043"/>
                <a:ext cx="7594983" cy="645130"/>
              </a:xfrm>
              <a:prstGeom prst="rect">
                <a:avLst/>
              </a:prstGeom>
              <a:solidFill>
                <a:srgbClr val="336B90"/>
              </a:solidFill>
            </p:spPr>
            <p:txBody>
              <a:bodyPr wrap="square" rtlCol="0">
                <a:spAutoFit/>
              </a:bodyPr>
              <a:lstStyle/>
              <a:p>
                <a:pPr>
                  <a:lnSpc>
                    <a:spcPct val="200000"/>
                  </a:lnSpc>
                </a:pPr>
                <a:endParaRPr lang="en-US" b="1" dirty="0">
                  <a:solidFill>
                    <a:srgbClr val="006699"/>
                  </a:solidFill>
                </a:endParaRPr>
              </a:p>
            </p:txBody>
          </p:sp>
          <p:pic>
            <p:nvPicPr>
              <p:cNvPr id="1040" name="Picture 16">
                <a:extLst>
                  <a:ext uri="{C183D7F6-B498-43B3-948B-1728B52AA6E4}">
                    <adec:decorative xmlns:adec="http://schemas.microsoft.com/office/drawing/2017/decorative" val="1"/>
                  </a:ext>
                </a:extLst>
              </p:cNvPr>
              <p:cNvPicPr>
                <a:picLocks noChangeAspect="1" noChangeArrowheads="1"/>
              </p:cNvPicPr>
              <p:nvPr/>
            </p:nvPicPr>
            <p:blipFill>
              <a:blip r:embed="rId7" cstate="print">
                <a:duotone>
                  <a:schemeClr val="accent1">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182691" y="3471947"/>
                <a:ext cx="1152986" cy="1013640"/>
              </a:xfrm>
              <a:prstGeom prst="ellipse">
                <a:avLst/>
              </a:prstGeom>
              <a:solidFill>
                <a:schemeClr val="accent1">
                  <a:lumMod val="20000"/>
                  <a:lumOff val="80000"/>
                </a:schemeClr>
              </a:solidFill>
              <a:ln w="1905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9" name="TextBox 18"/>
              <p:cNvSpPr txBox="1"/>
              <p:nvPr/>
            </p:nvSpPr>
            <p:spPr>
              <a:xfrm>
                <a:off x="6776675" y="3588043"/>
                <a:ext cx="3504199" cy="631961"/>
              </a:xfrm>
              <a:prstGeom prst="rect">
                <a:avLst/>
              </a:prstGeom>
              <a:noFill/>
            </p:spPr>
            <p:txBody>
              <a:bodyPr wrap="square" rtlCol="0">
                <a:spAutoFit/>
              </a:bodyPr>
              <a:lstStyle/>
              <a:p>
                <a:r>
                  <a:rPr lang="en-US" sz="1600" dirty="0">
                    <a:solidFill>
                      <a:schemeClr val="bg1"/>
                    </a:solidFill>
                  </a:rPr>
                  <a:t>Via medically supervised detoxification, when necessary</a:t>
                </a:r>
              </a:p>
            </p:txBody>
          </p:sp>
          <p:sp>
            <p:nvSpPr>
              <p:cNvPr id="20" name="TextBox 19"/>
              <p:cNvSpPr txBox="1"/>
              <p:nvPr/>
            </p:nvSpPr>
            <p:spPr>
              <a:xfrm>
                <a:off x="2711823" y="3680702"/>
                <a:ext cx="1566340" cy="365872"/>
              </a:xfrm>
              <a:prstGeom prst="rect">
                <a:avLst/>
              </a:prstGeom>
              <a:noFill/>
            </p:spPr>
            <p:txBody>
              <a:bodyPr wrap="square" rtlCol="0">
                <a:spAutoFit/>
              </a:bodyPr>
              <a:lstStyle/>
              <a:p>
                <a:r>
                  <a:rPr lang="en-US" sz="1600" b="1" dirty="0">
                    <a:solidFill>
                      <a:schemeClr val="bg1"/>
                    </a:solidFill>
                  </a:rPr>
                  <a:t>Stabilization</a:t>
                </a:r>
              </a:p>
            </p:txBody>
          </p:sp>
        </p:grpSp>
      </p:grpSp>
      <p:sp>
        <p:nvSpPr>
          <p:cNvPr id="11" name="Rectangle 10"/>
          <p:cNvSpPr/>
          <p:nvPr/>
        </p:nvSpPr>
        <p:spPr>
          <a:xfrm>
            <a:off x="8077200" y="6428232"/>
            <a:ext cx="4114800" cy="307777"/>
          </a:xfrm>
          <a:prstGeom prst="rect">
            <a:avLst/>
          </a:prstGeom>
        </p:spPr>
        <p:txBody>
          <a:bodyPr wrap="square">
            <a:spAutoFit/>
          </a:bodyPr>
          <a:lstStyle/>
          <a:p>
            <a:r>
              <a:rPr lang="en-US" sz="1400" dirty="0"/>
              <a:t>(American Society of Addiction Medicine, 2014)</a:t>
            </a:r>
          </a:p>
        </p:txBody>
      </p:sp>
      <p:sp>
        <p:nvSpPr>
          <p:cNvPr id="30" name="Title 1">
            <a:extLst>
              <a:ext uri="{FF2B5EF4-FFF2-40B4-BE49-F238E27FC236}">
                <a16:creationId xmlns:a16="http://schemas.microsoft.com/office/drawing/2014/main" id="{600ADE9B-F383-4C2C-96DB-E29746084B96}"/>
              </a:ext>
            </a:extLst>
          </p:cNvPr>
          <p:cNvSpPr txBox="1">
            <a:spLocks/>
          </p:cNvSpPr>
          <p:nvPr/>
        </p:nvSpPr>
        <p:spPr>
          <a:xfrm>
            <a:off x="0" y="0"/>
            <a:ext cx="12192000" cy="1216152"/>
          </a:xfrm>
          <a:prstGeom prst="rect">
            <a:avLst/>
          </a:prstGeom>
          <a:solidFill>
            <a:srgbClr val="0F4263"/>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pPr algn="ctr">
              <a:defRPr/>
            </a:pPr>
            <a:r>
              <a:rPr lang="en-US" sz="3200" dirty="0">
                <a:cs typeface="Arial" charset="0"/>
              </a:rPr>
              <a:t>Overview of the Treatment Process</a:t>
            </a:r>
          </a:p>
        </p:txBody>
      </p:sp>
    </p:spTree>
    <p:extLst>
      <p:ext uri="{BB962C8B-B14F-4D97-AF65-F5344CB8AC3E}">
        <p14:creationId xmlns:p14="http://schemas.microsoft.com/office/powerpoint/2010/main" val="14550222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 showing treatment and services. In an outside circle, the following services are written: Child care services, vocational services, mental health services, medical services, educational services, HIV/AIDS services, Legal services, Financial services, Housing/transportation services, family services. On the inside of the circle, the following treatments are listed: intake processing/assessment, behavioral therapy and counseling, treatment plan, substance use monitoring, clinical and case management, pharmacotherapy, self-help/peer support groups, continuing care. ">
            <a:extLst>
              <a:ext uri="{FF2B5EF4-FFF2-40B4-BE49-F238E27FC236}">
                <a16:creationId xmlns:a16="http://schemas.microsoft.com/office/drawing/2014/main" id="{D45DC416-296F-4A62-B1A2-3DDFECC029D7}"/>
              </a:ext>
            </a:extLst>
          </p:cNvPr>
          <p:cNvPicPr>
            <a:picLocks noChangeAspect="1"/>
          </p:cNvPicPr>
          <p:nvPr/>
        </p:nvPicPr>
        <p:blipFill rotWithShape="1">
          <a:blip r:embed="rId2"/>
          <a:srcRect t="9572" b="12099"/>
          <a:stretch/>
        </p:blipFill>
        <p:spPr>
          <a:xfrm>
            <a:off x="1347770" y="232692"/>
            <a:ext cx="8571482" cy="6680756"/>
          </a:xfrm>
          <a:prstGeom prst="rect">
            <a:avLst/>
          </a:prstGeom>
        </p:spPr>
      </p:pic>
    </p:spTree>
    <p:extLst>
      <p:ext uri="{BB962C8B-B14F-4D97-AF65-F5344CB8AC3E}">
        <p14:creationId xmlns:p14="http://schemas.microsoft.com/office/powerpoint/2010/main" val="4354811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43" name="Rectangle 7">
            <a:extLst>
              <a:ext uri="{FF2B5EF4-FFF2-40B4-BE49-F238E27FC236}">
                <a16:creationId xmlns:a16="http://schemas.microsoft.com/office/drawing/2014/main" id="{7A7118AE-A8D0-40BF-ACBD-C9413C080296}"/>
              </a:ext>
            </a:extLst>
          </p:cNvPr>
          <p:cNvSpPr>
            <a:spLocks noGrp="1" noChangeArrowheads="1"/>
          </p:cNvSpPr>
          <p:nvPr>
            <p:ph type="title"/>
          </p:nvPr>
        </p:nvSpPr>
        <p:spPr/>
        <p:txBody>
          <a:bodyPr/>
          <a:lstStyle/>
          <a:p>
            <a:r>
              <a:rPr lang="en-US" altLang="en-US"/>
              <a:t>Mental Health Problems (1/2)</a:t>
            </a:r>
          </a:p>
        </p:txBody>
      </p:sp>
      <p:sp>
        <p:nvSpPr>
          <p:cNvPr id="244744" name="Rectangle 8">
            <a:extLst>
              <a:ext uri="{FF2B5EF4-FFF2-40B4-BE49-F238E27FC236}">
                <a16:creationId xmlns:a16="http://schemas.microsoft.com/office/drawing/2014/main" id="{8CD9713A-8194-4AED-89A0-F10871925C5E}"/>
              </a:ext>
            </a:extLst>
          </p:cNvPr>
          <p:cNvSpPr>
            <a:spLocks noGrp="1" noChangeArrowheads="1"/>
          </p:cNvSpPr>
          <p:nvPr>
            <p:ph type="body" sz="half" idx="1"/>
          </p:nvPr>
        </p:nvSpPr>
        <p:spPr/>
        <p:txBody>
          <a:bodyPr/>
          <a:lstStyle/>
          <a:p>
            <a:pPr>
              <a:lnSpc>
                <a:spcPct val="90000"/>
              </a:lnSpc>
            </a:pPr>
            <a:r>
              <a:rPr lang="en-GB" altLang="en-US" sz="2400"/>
              <a:t>Mental Health Disorders are strongly linked to drug use and dependence.</a:t>
            </a:r>
          </a:p>
          <a:p>
            <a:pPr>
              <a:lnSpc>
                <a:spcPct val="90000"/>
              </a:lnSpc>
            </a:pPr>
            <a:r>
              <a:rPr lang="en-GB" altLang="en-US" sz="2400"/>
              <a:t>Internalizing Disorders (PTSD, Depression, Anxiety disorders, Bipolar disorder)</a:t>
            </a:r>
          </a:p>
          <a:p>
            <a:pPr lvl="1">
              <a:lnSpc>
                <a:spcPct val="90000"/>
              </a:lnSpc>
            </a:pPr>
            <a:r>
              <a:rPr lang="en-GB" altLang="en-US" sz="2000"/>
              <a:t>Brain responses are heightened in response to stress.</a:t>
            </a:r>
          </a:p>
          <a:p>
            <a:pPr lvl="1">
              <a:lnSpc>
                <a:spcPct val="90000"/>
              </a:lnSpc>
            </a:pPr>
            <a:r>
              <a:rPr lang="en-GB" altLang="en-US" sz="2000"/>
              <a:t>Tendency to self-medicate the anxiety &amp; depression this process causes.</a:t>
            </a:r>
            <a:endParaRPr lang="en-US" altLang="en-US" sz="2000"/>
          </a:p>
        </p:txBody>
      </p:sp>
      <p:pic>
        <p:nvPicPr>
          <p:cNvPr id="244746" name="Picture 5">
            <a:extLst>
              <a:ext uri="{FF2B5EF4-FFF2-40B4-BE49-F238E27FC236}">
                <a16:creationId xmlns:a16="http://schemas.microsoft.com/office/drawing/2014/main" id="{06E8A556-DD0F-40AA-8D45-22A240FA0AA6}"/>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6788151" y="1981200"/>
            <a:ext cx="2576513" cy="4114800"/>
          </a:xfrm>
          <a:noFill/>
          <a:ln/>
        </p:spPr>
      </p:pic>
    </p:spTree>
  </p:cSld>
  <p:clrMapOvr>
    <a:masterClrMapping/>
  </p:clrMapOvr>
  <p:transition>
    <p:cut/>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90" name="Rectangle 6">
            <a:extLst>
              <a:ext uri="{FF2B5EF4-FFF2-40B4-BE49-F238E27FC236}">
                <a16:creationId xmlns:a16="http://schemas.microsoft.com/office/drawing/2014/main" id="{CBD2FF16-551D-4981-8824-DC97E5445C2D}"/>
              </a:ext>
            </a:extLst>
          </p:cNvPr>
          <p:cNvSpPr>
            <a:spLocks noGrp="1" noChangeArrowheads="1"/>
          </p:cNvSpPr>
          <p:nvPr>
            <p:ph type="title"/>
          </p:nvPr>
        </p:nvSpPr>
        <p:spPr/>
        <p:txBody>
          <a:bodyPr/>
          <a:lstStyle/>
          <a:p>
            <a:r>
              <a:rPr lang="en-GB" altLang="en-US"/>
              <a:t>Mental Health Problems (2/2)</a:t>
            </a:r>
            <a:endParaRPr lang="en-US" altLang="en-US"/>
          </a:p>
        </p:txBody>
      </p:sp>
      <p:sp>
        <p:nvSpPr>
          <p:cNvPr id="246791" name="Rectangle 7">
            <a:extLst>
              <a:ext uri="{FF2B5EF4-FFF2-40B4-BE49-F238E27FC236}">
                <a16:creationId xmlns:a16="http://schemas.microsoft.com/office/drawing/2014/main" id="{D90698AA-2CDD-43A1-B58A-89B30CF6E37F}"/>
              </a:ext>
            </a:extLst>
          </p:cNvPr>
          <p:cNvSpPr>
            <a:spLocks noGrp="1" noChangeArrowheads="1"/>
          </p:cNvSpPr>
          <p:nvPr>
            <p:ph type="body" idx="1"/>
          </p:nvPr>
        </p:nvSpPr>
        <p:spPr/>
        <p:txBody>
          <a:bodyPr/>
          <a:lstStyle/>
          <a:p>
            <a:r>
              <a:rPr lang="en-GB" altLang="en-US"/>
              <a:t>Externalizing Disorders (Conduct Disorder, Attention Deficit Hyperactivity Disorder, Oppositional Defiant Disorder, Antisocial Personality Disorder)</a:t>
            </a:r>
          </a:p>
          <a:p>
            <a:pPr lvl="1"/>
            <a:r>
              <a:rPr lang="en-GB" altLang="en-US"/>
              <a:t>Low level of arousal in these disorders is related to an insensitivity to consequences and a need for more stimulation. </a:t>
            </a:r>
          </a:p>
          <a:p>
            <a:pPr lvl="1"/>
            <a:r>
              <a:rPr lang="en-GB" altLang="en-US"/>
              <a:t>Heightens risk for continued drug use to relieve symptoms</a:t>
            </a:r>
          </a:p>
          <a:p>
            <a:pPr lvl="1"/>
            <a:r>
              <a:rPr lang="en-GB" altLang="en-US"/>
              <a:t>Tend to be resistant to substance abuse treatment</a:t>
            </a:r>
          </a:p>
          <a:p>
            <a:pPr lvl="1"/>
            <a:r>
              <a:rPr lang="en-GB" altLang="en-US"/>
              <a:t>Exacerbates stress reactivity problems</a:t>
            </a:r>
            <a:endParaRPr lang="en-US"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49" name="Rectangle 17">
            <a:extLst>
              <a:ext uri="{FF2B5EF4-FFF2-40B4-BE49-F238E27FC236}">
                <a16:creationId xmlns:a16="http://schemas.microsoft.com/office/drawing/2014/main" id="{2542222B-DB8A-4E67-A133-DF94EE3B0010}"/>
              </a:ext>
            </a:extLst>
          </p:cNvPr>
          <p:cNvSpPr>
            <a:spLocks noGrp="1" noChangeArrowheads="1"/>
          </p:cNvSpPr>
          <p:nvPr>
            <p:ph type="title"/>
          </p:nvPr>
        </p:nvSpPr>
        <p:spPr/>
        <p:txBody>
          <a:bodyPr/>
          <a:lstStyle/>
          <a:p>
            <a:r>
              <a:rPr lang="en-US" altLang="en-US"/>
              <a:t>Personality &amp; Temperament </a:t>
            </a:r>
          </a:p>
        </p:txBody>
      </p:sp>
      <p:sp>
        <p:nvSpPr>
          <p:cNvPr id="248850" name="Rectangle 18">
            <a:extLst>
              <a:ext uri="{FF2B5EF4-FFF2-40B4-BE49-F238E27FC236}">
                <a16:creationId xmlns:a16="http://schemas.microsoft.com/office/drawing/2014/main" id="{1D183230-8742-4582-B11E-2662FD4E3498}"/>
              </a:ext>
            </a:extLst>
          </p:cNvPr>
          <p:cNvSpPr>
            <a:spLocks noGrp="1" noChangeArrowheads="1"/>
          </p:cNvSpPr>
          <p:nvPr>
            <p:ph type="body" sz="half" idx="1"/>
          </p:nvPr>
        </p:nvSpPr>
        <p:spPr/>
        <p:txBody>
          <a:bodyPr/>
          <a:lstStyle/>
          <a:p>
            <a:r>
              <a:rPr lang="en-US" altLang="en-US" sz="2400"/>
              <a:t>A difficult temperament and certain personality characteristics are consistently related to heightened risk for drug use.</a:t>
            </a:r>
          </a:p>
          <a:p>
            <a:pPr lvl="1"/>
            <a:r>
              <a:rPr lang="en-GB" altLang="en-US" sz="2000"/>
              <a:t>Impulsivity</a:t>
            </a:r>
          </a:p>
          <a:p>
            <a:pPr lvl="1"/>
            <a:r>
              <a:rPr lang="en-GB" altLang="en-US" sz="2000"/>
              <a:t>Aggressiveness</a:t>
            </a:r>
          </a:p>
          <a:p>
            <a:pPr lvl="1"/>
            <a:r>
              <a:rPr lang="en-GB" altLang="en-US" sz="2000"/>
              <a:t>Sensation or novelty-seeking</a:t>
            </a:r>
          </a:p>
          <a:p>
            <a:pPr lvl="1"/>
            <a:r>
              <a:rPr lang="en-GB" altLang="en-US" sz="2000"/>
              <a:t>Negative affect</a:t>
            </a:r>
          </a:p>
          <a:p>
            <a:pPr lvl="1"/>
            <a:r>
              <a:rPr lang="en-GB" altLang="en-US" sz="2000"/>
              <a:t>Impaired judgment</a:t>
            </a:r>
            <a:endParaRPr lang="en-US" altLang="en-US" sz="2000"/>
          </a:p>
        </p:txBody>
      </p:sp>
      <p:sp>
        <p:nvSpPr>
          <p:cNvPr id="248851" name="Rectangle 19">
            <a:extLst>
              <a:ext uri="{FF2B5EF4-FFF2-40B4-BE49-F238E27FC236}">
                <a16:creationId xmlns:a16="http://schemas.microsoft.com/office/drawing/2014/main" id="{01332F50-8404-4217-BD5E-9841584CBB5D}"/>
              </a:ext>
            </a:extLst>
          </p:cNvPr>
          <p:cNvSpPr>
            <a:spLocks noGrp="1" noChangeArrowheads="1"/>
          </p:cNvSpPr>
          <p:nvPr>
            <p:ph type="body" sz="half" idx="2"/>
          </p:nvPr>
        </p:nvSpPr>
        <p:spPr/>
        <p:txBody>
          <a:bodyPr/>
          <a:lstStyle/>
          <a:p>
            <a:pPr lvl="1"/>
            <a:r>
              <a:rPr lang="en-GB" altLang="en-US" sz="2000"/>
              <a:t>High activity level</a:t>
            </a:r>
          </a:p>
          <a:p>
            <a:pPr lvl="1"/>
            <a:r>
              <a:rPr lang="en-GB" altLang="en-US" sz="2000"/>
              <a:t>Risk taking tendencies</a:t>
            </a:r>
          </a:p>
          <a:p>
            <a:pPr lvl="1"/>
            <a:r>
              <a:rPr lang="en-GB" altLang="en-US" sz="2000"/>
              <a:t>Lack of regard for negative consequences</a:t>
            </a:r>
          </a:p>
          <a:p>
            <a:pPr lvl="1"/>
            <a:r>
              <a:rPr lang="en-GB" altLang="en-US" sz="2000"/>
              <a:t>Lack of pain avoidance responses</a:t>
            </a:r>
          </a:p>
          <a:p>
            <a:pPr lvl="1"/>
            <a:r>
              <a:rPr lang="en-GB" altLang="en-US" sz="2000"/>
              <a:t>Abnormal levels of arousal in response to stress.</a:t>
            </a:r>
            <a:endParaRPr lang="en-US" altLang="en-US" sz="2000"/>
          </a:p>
        </p:txBody>
      </p:sp>
      <p:pic>
        <p:nvPicPr>
          <p:cNvPr id="248844" name="Picture 12">
            <a:extLst>
              <a:ext uri="{FF2B5EF4-FFF2-40B4-BE49-F238E27FC236}">
                <a16:creationId xmlns:a16="http://schemas.microsoft.com/office/drawing/2014/main" id="{F33A1A5C-CD13-4C3C-BE20-E591A32F6DE4}"/>
              </a:ext>
            </a:extLst>
          </p:cNvPr>
          <p:cNvPicPr>
            <a:picLocks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931025" y="4840288"/>
            <a:ext cx="1828800" cy="1828800"/>
          </a:xfr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60" name="Rectangle 4">
            <a:extLst>
              <a:ext uri="{FF2B5EF4-FFF2-40B4-BE49-F238E27FC236}">
                <a16:creationId xmlns:a16="http://schemas.microsoft.com/office/drawing/2014/main" id="{BD923D62-1C14-427A-AA32-A3F24AB3AD7E}"/>
              </a:ext>
            </a:extLst>
          </p:cNvPr>
          <p:cNvSpPr>
            <a:spLocks noGrp="1" noChangeArrowheads="1"/>
          </p:cNvSpPr>
          <p:nvPr>
            <p:ph type="title"/>
          </p:nvPr>
        </p:nvSpPr>
        <p:spPr/>
        <p:txBody>
          <a:bodyPr/>
          <a:lstStyle/>
          <a:p>
            <a:r>
              <a:rPr lang="en-US" altLang="en-US"/>
              <a:t>Importance of Personality in Adolescence</a:t>
            </a:r>
          </a:p>
        </p:txBody>
      </p:sp>
      <p:sp>
        <p:nvSpPr>
          <p:cNvPr id="249861" name="Rectangle 5">
            <a:extLst>
              <a:ext uri="{FF2B5EF4-FFF2-40B4-BE49-F238E27FC236}">
                <a16:creationId xmlns:a16="http://schemas.microsoft.com/office/drawing/2014/main" id="{2AA29CDE-D587-45F9-A9B3-DA11C93343EC}"/>
              </a:ext>
            </a:extLst>
          </p:cNvPr>
          <p:cNvSpPr>
            <a:spLocks noGrp="1" noChangeArrowheads="1"/>
          </p:cNvSpPr>
          <p:nvPr>
            <p:ph type="body" idx="1"/>
          </p:nvPr>
        </p:nvSpPr>
        <p:spPr/>
        <p:txBody>
          <a:bodyPr/>
          <a:lstStyle/>
          <a:p>
            <a:r>
              <a:rPr lang="en-US" altLang="en-US" sz="2400"/>
              <a:t>Normal adolescence is characterized by greater reward anticipation, sensitivity, and sensation seeking—particularly social rewards (e.g., peer regard, gains in social status).  </a:t>
            </a:r>
          </a:p>
          <a:p>
            <a:pPr lvl="1"/>
            <a:r>
              <a:rPr lang="en-US" altLang="en-US" sz="2000"/>
              <a:t>It follows that adolescence is the period during which drug use onset is most common.  </a:t>
            </a:r>
          </a:p>
          <a:p>
            <a:pPr lvl="1"/>
            <a:r>
              <a:rPr lang="en-US" altLang="en-US" sz="2000"/>
              <a:t>And, therefore, that adolescents with especially high levels of any combination of these traits are at heightened risk. </a:t>
            </a:r>
          </a:p>
          <a:p>
            <a:r>
              <a:rPr lang="en-US" altLang="en-US" sz="2400"/>
              <a:t>Preventive Implications: These traits can be redirected through psychosocial means to decrease risk for drug use. Prevention programs must be designed to specifically redirect this developmental track.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6" descr="pptbody_sust.jpg">
            <a:extLst>
              <a:ext uri="{FF2B5EF4-FFF2-40B4-BE49-F238E27FC236}">
                <a16:creationId xmlns:a16="http://schemas.microsoft.com/office/drawing/2014/main" id="{6A303C29-A6E3-457F-BA20-07E3DD0F4B7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23121"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1">
            <a:extLst>
              <a:ext uri="{FF2B5EF4-FFF2-40B4-BE49-F238E27FC236}">
                <a16:creationId xmlns:a16="http://schemas.microsoft.com/office/drawing/2014/main" id="{2B07CC89-4977-4872-AB1B-71230F9DE6F6}"/>
              </a:ext>
            </a:extLst>
          </p:cNvPr>
          <p:cNvSpPr txBox="1">
            <a:spLocks/>
          </p:cNvSpPr>
          <p:nvPr/>
        </p:nvSpPr>
        <p:spPr bwMode="auto">
          <a:xfrm>
            <a:off x="1600200" y="569843"/>
            <a:ext cx="8991600" cy="685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en-US" sz="2800"/>
              <a:t>SAMHSA’S Strategic Prevention Framework</a:t>
            </a:r>
          </a:p>
        </p:txBody>
      </p:sp>
      <p:sp>
        <p:nvSpPr>
          <p:cNvPr id="5" name="TextBox 4">
            <a:extLst>
              <a:ext uri="{FF2B5EF4-FFF2-40B4-BE49-F238E27FC236}">
                <a16:creationId xmlns:a16="http://schemas.microsoft.com/office/drawing/2014/main" id="{DD5222C0-57E0-48CE-8B87-746FEA112E4E}"/>
              </a:ext>
            </a:extLst>
          </p:cNvPr>
          <p:cNvSpPr txBox="1">
            <a:spLocks noChangeArrowheads="1"/>
          </p:cNvSpPr>
          <p:nvPr/>
        </p:nvSpPr>
        <p:spPr bwMode="auto">
          <a:xfrm>
            <a:off x="1676400" y="1179443"/>
            <a:ext cx="48768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lnSpc>
                <a:spcPts val="1625"/>
              </a:lnSpc>
            </a:pPr>
            <a:r>
              <a:rPr lang="en-US" altLang="en-US" sz="1600" b="1" u="sng" dirty="0">
                <a:solidFill>
                  <a:srgbClr val="5F5F5F"/>
                </a:solidFill>
                <a:latin typeface="Trebuchet MS" panose="020B0603020202020204" pitchFamily="34" charset="0"/>
              </a:rPr>
              <a:t>Assessment</a:t>
            </a:r>
            <a:r>
              <a:rPr lang="en-US" altLang="en-US" sz="1600" dirty="0">
                <a:solidFill>
                  <a:srgbClr val="5F5F5F"/>
                </a:solidFill>
                <a:latin typeface="Trebuchet MS" panose="020B0603020202020204" pitchFamily="34" charset="0"/>
              </a:rPr>
              <a:t>-collect data to determine the population needs, resources, and gaps.</a:t>
            </a:r>
          </a:p>
          <a:p>
            <a:pPr eaLnBrk="1" hangingPunct="1">
              <a:lnSpc>
                <a:spcPts val="1625"/>
              </a:lnSpc>
            </a:pPr>
            <a:endParaRPr lang="en-US" altLang="en-US" sz="1600" b="1" u="sng" dirty="0">
              <a:solidFill>
                <a:srgbClr val="5F5F5F"/>
              </a:solidFill>
              <a:latin typeface="Trebuchet MS" panose="020B0603020202020204" pitchFamily="34" charset="0"/>
            </a:endParaRPr>
          </a:p>
          <a:p>
            <a:pPr eaLnBrk="1" hangingPunct="1">
              <a:lnSpc>
                <a:spcPts val="1625"/>
              </a:lnSpc>
            </a:pPr>
            <a:r>
              <a:rPr lang="en-US" altLang="en-US" sz="1600" b="1" u="sng" dirty="0">
                <a:solidFill>
                  <a:srgbClr val="5F5F5F"/>
                </a:solidFill>
                <a:latin typeface="Trebuchet MS" panose="020B0603020202020204" pitchFamily="34" charset="0"/>
              </a:rPr>
              <a:t>Capacity</a:t>
            </a:r>
            <a:r>
              <a:rPr lang="en-US" altLang="en-US" sz="1600" dirty="0">
                <a:solidFill>
                  <a:srgbClr val="5F5F5F"/>
                </a:solidFill>
                <a:latin typeface="Trebuchet MS" panose="020B0603020202020204" pitchFamily="34" charset="0"/>
              </a:rPr>
              <a:t>-mobilize and/or build up resources to meet goals.</a:t>
            </a:r>
          </a:p>
          <a:p>
            <a:pPr eaLnBrk="1" hangingPunct="1">
              <a:lnSpc>
                <a:spcPts val="1625"/>
              </a:lnSpc>
            </a:pPr>
            <a:endParaRPr lang="en-US" altLang="en-US" sz="1600" b="1" u="sng" dirty="0">
              <a:solidFill>
                <a:srgbClr val="5F5F5F"/>
              </a:solidFill>
              <a:latin typeface="Trebuchet MS" panose="020B0603020202020204" pitchFamily="34" charset="0"/>
            </a:endParaRPr>
          </a:p>
          <a:p>
            <a:pPr eaLnBrk="1" hangingPunct="1">
              <a:lnSpc>
                <a:spcPts val="1625"/>
              </a:lnSpc>
            </a:pPr>
            <a:r>
              <a:rPr lang="en-US" altLang="en-US" sz="1600" b="1" u="sng" dirty="0">
                <a:solidFill>
                  <a:srgbClr val="5F5F5F"/>
                </a:solidFill>
                <a:latin typeface="Trebuchet MS" panose="020B0603020202020204" pitchFamily="34" charset="0"/>
              </a:rPr>
              <a:t>Planning</a:t>
            </a:r>
            <a:r>
              <a:rPr lang="en-US" altLang="en-US" sz="1600" dirty="0">
                <a:solidFill>
                  <a:srgbClr val="5F5F5F"/>
                </a:solidFill>
                <a:latin typeface="Trebuchet MS" panose="020B0603020202020204" pitchFamily="34" charset="0"/>
              </a:rPr>
              <a:t>-development of a comprehensive plan.</a:t>
            </a:r>
          </a:p>
          <a:p>
            <a:pPr eaLnBrk="1" hangingPunct="1">
              <a:lnSpc>
                <a:spcPts val="1625"/>
              </a:lnSpc>
            </a:pPr>
            <a:endParaRPr lang="en-US" altLang="en-US" sz="1600" b="1" u="sng" dirty="0">
              <a:solidFill>
                <a:srgbClr val="5F5F5F"/>
              </a:solidFill>
              <a:latin typeface="Trebuchet MS" panose="020B0603020202020204" pitchFamily="34" charset="0"/>
            </a:endParaRPr>
          </a:p>
          <a:p>
            <a:pPr eaLnBrk="1" hangingPunct="1">
              <a:lnSpc>
                <a:spcPts val="1625"/>
              </a:lnSpc>
            </a:pPr>
            <a:r>
              <a:rPr lang="en-US" altLang="en-US" sz="1600" b="1" u="sng" dirty="0">
                <a:solidFill>
                  <a:srgbClr val="5F5F5F"/>
                </a:solidFill>
                <a:latin typeface="Trebuchet MS" panose="020B0603020202020204" pitchFamily="34" charset="0"/>
              </a:rPr>
              <a:t>Implementation</a:t>
            </a:r>
            <a:r>
              <a:rPr lang="en-US" altLang="en-US" sz="1600" dirty="0">
                <a:solidFill>
                  <a:srgbClr val="5F5F5F"/>
                </a:solidFill>
                <a:latin typeface="Trebuchet MS" panose="020B0603020202020204" pitchFamily="34" charset="0"/>
              </a:rPr>
              <a:t>-carrying out of the plan, using evidence-based prevention programs.</a:t>
            </a:r>
          </a:p>
          <a:p>
            <a:pPr eaLnBrk="1" hangingPunct="1">
              <a:lnSpc>
                <a:spcPts val="1625"/>
              </a:lnSpc>
            </a:pPr>
            <a:endParaRPr lang="en-US" altLang="en-US" sz="1600" b="1" u="sng" dirty="0">
              <a:solidFill>
                <a:srgbClr val="5F5F5F"/>
              </a:solidFill>
              <a:latin typeface="Trebuchet MS" panose="020B0603020202020204" pitchFamily="34" charset="0"/>
            </a:endParaRPr>
          </a:p>
          <a:p>
            <a:pPr eaLnBrk="1" hangingPunct="1">
              <a:lnSpc>
                <a:spcPts val="1625"/>
              </a:lnSpc>
            </a:pPr>
            <a:r>
              <a:rPr lang="en-US" altLang="en-US" sz="1600" b="1" u="sng" dirty="0">
                <a:solidFill>
                  <a:srgbClr val="5F5F5F"/>
                </a:solidFill>
                <a:latin typeface="Trebuchet MS" panose="020B0603020202020204" pitchFamily="34" charset="0"/>
              </a:rPr>
              <a:t>Evaluation</a:t>
            </a:r>
            <a:r>
              <a:rPr lang="en-US" altLang="en-US" sz="1600" dirty="0">
                <a:solidFill>
                  <a:srgbClr val="5F5F5F"/>
                </a:solidFill>
                <a:latin typeface="Trebuchet MS" panose="020B0603020202020204" pitchFamily="34" charset="0"/>
              </a:rPr>
              <a:t>-monitoring the implementation, measuring impact, and determining needed improvements.</a:t>
            </a:r>
          </a:p>
          <a:p>
            <a:pPr eaLnBrk="1" hangingPunct="1">
              <a:lnSpc>
                <a:spcPts val="1625"/>
              </a:lnSpc>
            </a:pPr>
            <a:endParaRPr lang="en-US" altLang="en-US" sz="1600" dirty="0">
              <a:solidFill>
                <a:srgbClr val="5F5F5F"/>
              </a:solidFill>
              <a:latin typeface="Trebuchet MS" panose="020B0603020202020204" pitchFamily="34" charset="0"/>
            </a:endParaRPr>
          </a:p>
          <a:p>
            <a:pPr eaLnBrk="1" hangingPunct="1">
              <a:lnSpc>
                <a:spcPts val="1625"/>
              </a:lnSpc>
            </a:pPr>
            <a:r>
              <a:rPr lang="en-US" altLang="en-US" sz="1600" i="1" dirty="0">
                <a:solidFill>
                  <a:srgbClr val="5F5F5F"/>
                </a:solidFill>
                <a:latin typeface="Trebuchet MS" panose="020B0603020202020204" pitchFamily="34" charset="0"/>
              </a:rPr>
              <a:t>Always be mindful of:</a:t>
            </a:r>
          </a:p>
          <a:p>
            <a:pPr eaLnBrk="1" hangingPunct="1">
              <a:lnSpc>
                <a:spcPts val="1625"/>
              </a:lnSpc>
            </a:pPr>
            <a:r>
              <a:rPr lang="en-US" altLang="en-US" sz="1600" b="1" u="sng" dirty="0">
                <a:solidFill>
                  <a:srgbClr val="5F5F5F"/>
                </a:solidFill>
                <a:latin typeface="Trebuchet MS" panose="020B0603020202020204" pitchFamily="34" charset="0"/>
              </a:rPr>
              <a:t>Sustainability</a:t>
            </a:r>
            <a:r>
              <a:rPr lang="en-US" altLang="en-US" sz="1600" dirty="0">
                <a:solidFill>
                  <a:srgbClr val="5F5F5F"/>
                </a:solidFill>
                <a:latin typeface="Trebuchet MS" panose="020B0603020202020204" pitchFamily="34" charset="0"/>
              </a:rPr>
              <a:t>-process of integrating prevention into ongoing operations.</a:t>
            </a:r>
            <a:br>
              <a:rPr lang="en-US" altLang="en-US" sz="1600" dirty="0">
                <a:solidFill>
                  <a:srgbClr val="5F5F5F"/>
                </a:solidFill>
                <a:latin typeface="Trebuchet MS" panose="020B0603020202020204" pitchFamily="34" charset="0"/>
              </a:rPr>
            </a:br>
            <a:endParaRPr lang="en-US" altLang="en-US" sz="1600" dirty="0">
              <a:solidFill>
                <a:srgbClr val="5F5F5F"/>
              </a:solidFill>
              <a:latin typeface="Trebuchet MS" panose="020B0603020202020204" pitchFamily="34" charset="0"/>
            </a:endParaRPr>
          </a:p>
          <a:p>
            <a:pPr eaLnBrk="1" hangingPunct="1">
              <a:lnSpc>
                <a:spcPts val="1625"/>
              </a:lnSpc>
            </a:pPr>
            <a:r>
              <a:rPr lang="en-US" altLang="en-US" sz="1600" b="1" u="sng" dirty="0">
                <a:solidFill>
                  <a:srgbClr val="5F5F5F"/>
                </a:solidFill>
                <a:latin typeface="Trebuchet MS" panose="020B0603020202020204" pitchFamily="34" charset="0"/>
              </a:rPr>
              <a:t>Cultural Competence</a:t>
            </a:r>
            <a:r>
              <a:rPr lang="en-US" altLang="en-US" sz="1600" dirty="0">
                <a:solidFill>
                  <a:srgbClr val="5F5F5F"/>
                </a:solidFill>
                <a:latin typeface="Trebuchet MS" panose="020B0603020202020204" pitchFamily="34" charset="0"/>
              </a:rPr>
              <a:t>-interacting with audiences from diverse backgrounds.</a:t>
            </a:r>
          </a:p>
          <a:p>
            <a:pPr eaLnBrk="1" hangingPunct="1">
              <a:lnSpc>
                <a:spcPts val="1625"/>
              </a:lnSpc>
            </a:pPr>
            <a:endParaRPr lang="en-US" altLang="en-US" sz="1600" dirty="0">
              <a:solidFill>
                <a:srgbClr val="5F5F5F"/>
              </a:solidFill>
              <a:latin typeface="Trebuchet MS" panose="020B0603020202020204" pitchFamily="34" charset="0"/>
            </a:endParaRPr>
          </a:p>
          <a:p>
            <a:pPr eaLnBrk="1" hangingPunct="1">
              <a:lnSpc>
                <a:spcPts val="1625"/>
              </a:lnSpc>
            </a:pPr>
            <a:endParaRPr lang="en-US" altLang="en-US" sz="1600" dirty="0">
              <a:solidFill>
                <a:srgbClr val="5F5F5F"/>
              </a:solidFill>
              <a:latin typeface="Trebuchet MS" panose="020B0603020202020204" pitchFamily="34" charset="0"/>
            </a:endParaRPr>
          </a:p>
          <a:p>
            <a:pPr eaLnBrk="1" hangingPunct="1">
              <a:lnSpc>
                <a:spcPts val="1625"/>
              </a:lnSpc>
            </a:pPr>
            <a:endParaRPr lang="en-US" altLang="en-US" sz="1600" dirty="0">
              <a:solidFill>
                <a:srgbClr val="5F5F5F"/>
              </a:solidFill>
              <a:latin typeface="Trebuchet MS" panose="020B0603020202020204" pitchFamily="34" charset="0"/>
            </a:endParaRPr>
          </a:p>
          <a:p>
            <a:pPr eaLnBrk="1" hangingPunct="1">
              <a:lnSpc>
                <a:spcPts val="1625"/>
              </a:lnSpc>
            </a:pPr>
            <a:endParaRPr lang="en-US" altLang="en-US" sz="1600" dirty="0">
              <a:solidFill>
                <a:srgbClr val="5F5F5F"/>
              </a:solidFill>
              <a:latin typeface="Trebuchet MS" panose="020B0603020202020204" pitchFamily="34" charset="0"/>
            </a:endParaRPr>
          </a:p>
        </p:txBody>
      </p:sp>
    </p:spTree>
    <p:extLst>
      <p:ext uri="{BB962C8B-B14F-4D97-AF65-F5344CB8AC3E}">
        <p14:creationId xmlns:p14="http://schemas.microsoft.com/office/powerpoint/2010/main" val="917142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32DD930-3696-4D61-8290-36AC556C20D3}"/>
              </a:ext>
            </a:extLst>
          </p:cNvPr>
          <p:cNvSpPr txBox="1"/>
          <p:nvPr/>
        </p:nvSpPr>
        <p:spPr>
          <a:xfrm>
            <a:off x="576470" y="218661"/>
            <a:ext cx="10207487" cy="769441"/>
          </a:xfrm>
          <a:prstGeom prst="rect">
            <a:avLst/>
          </a:prstGeom>
          <a:noFill/>
        </p:spPr>
        <p:txBody>
          <a:bodyPr wrap="square" rtlCol="0">
            <a:spAutoFit/>
          </a:bodyPr>
          <a:lstStyle/>
          <a:p>
            <a:r>
              <a:rPr lang="en-US" sz="4400" b="1" dirty="0"/>
              <a:t>Prevention</a:t>
            </a:r>
            <a:endParaRPr lang="en-IN" sz="4400" b="1" dirty="0"/>
          </a:p>
        </p:txBody>
      </p:sp>
      <p:sp>
        <p:nvSpPr>
          <p:cNvPr id="4" name="TextBox 3">
            <a:extLst>
              <a:ext uri="{FF2B5EF4-FFF2-40B4-BE49-F238E27FC236}">
                <a16:creationId xmlns:a16="http://schemas.microsoft.com/office/drawing/2014/main" id="{4CD1D164-B34A-46DF-80B4-860D5889794B}"/>
              </a:ext>
            </a:extLst>
          </p:cNvPr>
          <p:cNvSpPr txBox="1"/>
          <p:nvPr/>
        </p:nvSpPr>
        <p:spPr>
          <a:xfrm>
            <a:off x="576469" y="1100076"/>
            <a:ext cx="10207487" cy="2246769"/>
          </a:xfrm>
          <a:prstGeom prst="rect">
            <a:avLst/>
          </a:prstGeom>
          <a:noFill/>
        </p:spPr>
        <p:txBody>
          <a:bodyPr wrap="square">
            <a:spAutoFit/>
          </a:bodyPr>
          <a:lstStyle/>
          <a:p>
            <a:r>
              <a:rPr lang="en-IN" sz="2800" dirty="0"/>
              <a:t>WHO has recommended the prevention of substance abuse as primary prevention, early intervention, treatment, care, recovery, rehabilitation and social reintegration measures, along with measures aimed at minimizing the adverse public health and social consequences of drug abuse.</a:t>
            </a:r>
          </a:p>
        </p:txBody>
      </p:sp>
    </p:spTree>
    <p:extLst>
      <p:ext uri="{BB962C8B-B14F-4D97-AF65-F5344CB8AC3E}">
        <p14:creationId xmlns:p14="http://schemas.microsoft.com/office/powerpoint/2010/main" val="22048039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4C18DA5-3C5D-46CD-BEEA-4ED470893213}"/>
              </a:ext>
            </a:extLst>
          </p:cNvPr>
          <p:cNvSpPr txBox="1"/>
          <p:nvPr/>
        </p:nvSpPr>
        <p:spPr>
          <a:xfrm>
            <a:off x="387626" y="369767"/>
            <a:ext cx="10903225" cy="6001643"/>
          </a:xfrm>
          <a:prstGeom prst="rect">
            <a:avLst/>
          </a:prstGeom>
          <a:noFill/>
        </p:spPr>
        <p:txBody>
          <a:bodyPr wrap="square">
            <a:spAutoFit/>
          </a:bodyPr>
          <a:lstStyle/>
          <a:p>
            <a:r>
              <a:rPr lang="en-IN" sz="3200" dirty="0"/>
              <a:t>Successful prevention of substance use and risk reduction is thus an essential approach to achieve better public health outcomes in following disorders:</a:t>
            </a:r>
          </a:p>
          <a:p>
            <a:r>
              <a:rPr lang="en-IN" sz="3200" dirty="0"/>
              <a:t>The prevention of substance-induced mental disorders and</a:t>
            </a:r>
          </a:p>
          <a:p>
            <a:r>
              <a:rPr lang="en-IN" sz="3200" dirty="0"/>
              <a:t>reductions in injuries and violence (traffic and domestic injuries, child abuse, and gender-based, sexual and other violence),</a:t>
            </a:r>
          </a:p>
          <a:p>
            <a:r>
              <a:rPr lang="en-IN" sz="3200" dirty="0"/>
              <a:t>reduction in  communicable diseases such as HIV, viral hepatitis and tuberculosis, sexual and reproductive health problems (sexually transmitted infections, unplanned pregnancies and complicated pregnancies) and</a:t>
            </a:r>
          </a:p>
          <a:p>
            <a:r>
              <a:rPr lang="en-IN" sz="3200" dirty="0"/>
              <a:t>reduction in noncommunicable diseases (such as cancer, cardiovascular diseases and liver diseases).</a:t>
            </a:r>
          </a:p>
        </p:txBody>
      </p:sp>
    </p:spTree>
    <p:extLst>
      <p:ext uri="{BB962C8B-B14F-4D97-AF65-F5344CB8AC3E}">
        <p14:creationId xmlns:p14="http://schemas.microsoft.com/office/powerpoint/2010/main" val="3911323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75011A5-DA97-4548-BA16-039F45D89D26}"/>
              </a:ext>
            </a:extLst>
          </p:cNvPr>
          <p:cNvSpPr txBox="1"/>
          <p:nvPr/>
        </p:nvSpPr>
        <p:spPr>
          <a:xfrm>
            <a:off x="464653" y="401743"/>
            <a:ext cx="10200033" cy="646331"/>
          </a:xfrm>
          <a:prstGeom prst="rect">
            <a:avLst/>
          </a:prstGeom>
          <a:noFill/>
        </p:spPr>
        <p:txBody>
          <a:bodyPr wrap="square">
            <a:spAutoFit/>
          </a:bodyPr>
          <a:lstStyle/>
          <a:p>
            <a:r>
              <a:rPr lang="en-IN" sz="3600" b="1" dirty="0"/>
              <a:t>Prevention of drug abuse can be achieved by-</a:t>
            </a:r>
          </a:p>
        </p:txBody>
      </p:sp>
      <p:sp>
        <p:nvSpPr>
          <p:cNvPr id="5" name="TextBox 4">
            <a:extLst>
              <a:ext uri="{FF2B5EF4-FFF2-40B4-BE49-F238E27FC236}">
                <a16:creationId xmlns:a16="http://schemas.microsoft.com/office/drawing/2014/main" id="{F948C514-CE7E-4EAE-9C38-ADBB416BDB7C}"/>
              </a:ext>
            </a:extLst>
          </p:cNvPr>
          <p:cNvSpPr txBox="1"/>
          <p:nvPr/>
        </p:nvSpPr>
        <p:spPr>
          <a:xfrm>
            <a:off x="385140" y="1048074"/>
            <a:ext cx="10895773" cy="5509200"/>
          </a:xfrm>
          <a:prstGeom prst="rect">
            <a:avLst/>
          </a:prstGeom>
          <a:noFill/>
        </p:spPr>
        <p:txBody>
          <a:bodyPr wrap="square">
            <a:spAutoFit/>
          </a:bodyPr>
          <a:lstStyle/>
          <a:p>
            <a:r>
              <a:rPr lang="en-IN" sz="3200" dirty="0" err="1"/>
              <a:t>i</a:t>
            </a:r>
            <a:r>
              <a:rPr lang="en-IN" sz="3200" dirty="0"/>
              <a:t>) To take effective and practical primary prevention measures that protect people, in particular children and youth, from drug use initiation:</a:t>
            </a:r>
          </a:p>
          <a:p>
            <a:endParaRPr lang="en-IN" sz="3200" dirty="0"/>
          </a:p>
          <a:p>
            <a:pPr marL="285750" indent="-285750">
              <a:buFont typeface="Arial" panose="020B0604020202020204" pitchFamily="34" charset="0"/>
              <a:buChar char="•"/>
            </a:pPr>
            <a:r>
              <a:rPr lang="en-IN" sz="3200" dirty="0"/>
              <a:t>by providing them with accurate information about the risks of drug abuse,</a:t>
            </a:r>
          </a:p>
          <a:p>
            <a:pPr marL="285750" indent="-285750">
              <a:buFont typeface="Arial" panose="020B0604020202020204" pitchFamily="34" charset="0"/>
              <a:buChar char="•"/>
            </a:pPr>
            <a:r>
              <a:rPr lang="en-IN" sz="3200" dirty="0"/>
              <a:t>by developing supportive parenting and healthy social environments and</a:t>
            </a:r>
          </a:p>
          <a:p>
            <a:pPr marL="285750" indent="-285750">
              <a:buFont typeface="Arial" panose="020B0604020202020204" pitchFamily="34" charset="0"/>
              <a:buChar char="•"/>
            </a:pPr>
            <a:r>
              <a:rPr lang="en-IN" sz="3200" dirty="0"/>
              <a:t>by promoting skills and opportunities to choose healthy lifestyles and</a:t>
            </a:r>
          </a:p>
          <a:p>
            <a:pPr marL="285750" indent="-285750">
              <a:buFont typeface="Arial" panose="020B0604020202020204" pitchFamily="34" charset="0"/>
              <a:buChar char="•"/>
            </a:pPr>
            <a:r>
              <a:rPr lang="en-IN" sz="3200" dirty="0"/>
              <a:t>by ensuring equal access to education and vocational training;</a:t>
            </a:r>
          </a:p>
        </p:txBody>
      </p:sp>
    </p:spTree>
    <p:extLst>
      <p:ext uri="{BB962C8B-B14F-4D97-AF65-F5344CB8AC3E}">
        <p14:creationId xmlns:p14="http://schemas.microsoft.com/office/powerpoint/2010/main" val="22652553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D850520-56E3-4D8D-BC02-13C086CCE6D1}"/>
              </a:ext>
            </a:extLst>
          </p:cNvPr>
          <p:cNvSpPr txBox="1"/>
          <p:nvPr/>
        </p:nvSpPr>
        <p:spPr>
          <a:xfrm>
            <a:off x="417442" y="261734"/>
            <a:ext cx="11092069" cy="7478970"/>
          </a:xfrm>
          <a:prstGeom prst="rect">
            <a:avLst/>
          </a:prstGeom>
          <a:noFill/>
        </p:spPr>
        <p:txBody>
          <a:bodyPr wrap="square">
            <a:spAutoFit/>
          </a:bodyPr>
          <a:lstStyle/>
          <a:p>
            <a:r>
              <a:rPr lang="en-IN" sz="3200" b="1" dirty="0"/>
              <a:t>The family </a:t>
            </a:r>
            <a:r>
              <a:rPr lang="en-IN" sz="3200" dirty="0"/>
              <a:t>is the strongest factor in protecting children from drug use and other risky behaviour. Families that are happy communicate openly and provide a healthy environment and a positive future for their children.</a:t>
            </a:r>
          </a:p>
          <a:p>
            <a:r>
              <a:rPr lang="en-IN" sz="3200" b="1" dirty="0"/>
              <a:t>Schools</a:t>
            </a:r>
            <a:r>
              <a:rPr lang="en-IN" sz="3200" dirty="0"/>
              <a:t> can cultivate sound values in their students in relation to health and drug use through the development of knowledge and providing them with coping skills to face situations which can lead to drug abuse. It is also necessary to target those who are not in school. Therefore, outreach efforts on the streets are often helpful.  </a:t>
            </a:r>
          </a:p>
          <a:p>
            <a:r>
              <a:rPr lang="en-IN" sz="3200" b="1" dirty="0"/>
              <a:t>Workplace: </a:t>
            </a:r>
            <a:r>
              <a:rPr lang="en-IN" sz="3200" dirty="0"/>
              <a:t>Employers can promote the health of employees by preventing substance abuse and assisting those with a drug dependence problem.</a:t>
            </a:r>
          </a:p>
          <a:p>
            <a:endParaRPr lang="en-IN" sz="3200" dirty="0"/>
          </a:p>
          <a:p>
            <a:endParaRPr lang="en-IN" sz="3200" dirty="0"/>
          </a:p>
        </p:txBody>
      </p:sp>
    </p:spTree>
    <p:extLst>
      <p:ext uri="{BB962C8B-B14F-4D97-AF65-F5344CB8AC3E}">
        <p14:creationId xmlns:p14="http://schemas.microsoft.com/office/powerpoint/2010/main" val="299897380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807D72-A40D-455A-9DC3-0126285D3A39}"/>
              </a:ext>
            </a:extLst>
          </p:cNvPr>
          <p:cNvSpPr txBox="1"/>
          <p:nvPr/>
        </p:nvSpPr>
        <p:spPr>
          <a:xfrm>
            <a:off x="434837" y="303648"/>
            <a:ext cx="11323154" cy="6186309"/>
          </a:xfrm>
          <a:prstGeom prst="rect">
            <a:avLst/>
          </a:prstGeom>
          <a:noFill/>
        </p:spPr>
        <p:txBody>
          <a:bodyPr wrap="square">
            <a:spAutoFit/>
          </a:bodyPr>
          <a:lstStyle/>
          <a:p>
            <a:r>
              <a:rPr lang="en-US" sz="3600" dirty="0"/>
              <a:t>ii) To take effective measures to prevent progression to severe drug use disorders through targeted interventions for people at risk for such progression.</a:t>
            </a:r>
          </a:p>
          <a:p>
            <a:r>
              <a:rPr lang="en-US" sz="3600" dirty="0"/>
              <a:t>iii) Raising awareness of drug-driving and its impact on road safety including deaths, injuries, property damage and harm to other road users among the general public. Policy-makers can reduce drug-driving by enforcing drug driving laws. It is important not only to enforce drug driving laws but also to counsel and, when appropriate, treat drivers found to be impaired by drugs; especially those who are repeat offenders or those with drug-use disorders.</a:t>
            </a:r>
          </a:p>
        </p:txBody>
      </p:sp>
    </p:spTree>
    <p:extLst>
      <p:ext uri="{BB962C8B-B14F-4D97-AF65-F5344CB8AC3E}">
        <p14:creationId xmlns:p14="http://schemas.microsoft.com/office/powerpoint/2010/main" val="33945632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CD485FE-69BC-4A03-B868-9081A4C70948}"/>
              </a:ext>
            </a:extLst>
          </p:cNvPr>
          <p:cNvSpPr txBox="1"/>
          <p:nvPr/>
        </p:nvSpPr>
        <p:spPr>
          <a:xfrm>
            <a:off x="387626" y="314236"/>
            <a:ext cx="10893287" cy="2308324"/>
          </a:xfrm>
          <a:prstGeom prst="rect">
            <a:avLst/>
          </a:prstGeom>
          <a:noFill/>
        </p:spPr>
        <p:txBody>
          <a:bodyPr wrap="square">
            <a:spAutoFit/>
          </a:bodyPr>
          <a:lstStyle/>
          <a:p>
            <a:r>
              <a:rPr lang="en-US" sz="3600" dirty="0"/>
              <a:t>iv) Mass media can play an important role in substance abuse prevention. They can be used to raise awareness concerning not only the dangers of drug abuse but also the dangers of specific practices such as injecting drugs.</a:t>
            </a:r>
            <a:endParaRPr lang="en-IN" sz="3600" dirty="0"/>
          </a:p>
        </p:txBody>
      </p:sp>
    </p:spTree>
    <p:extLst>
      <p:ext uri="{BB962C8B-B14F-4D97-AF65-F5344CB8AC3E}">
        <p14:creationId xmlns:p14="http://schemas.microsoft.com/office/powerpoint/2010/main" val="22330492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982240-CA6A-46A2-80FA-AF43EB4F52C3}"/>
              </a:ext>
            </a:extLst>
          </p:cNvPr>
          <p:cNvSpPr txBox="1"/>
          <p:nvPr/>
        </p:nvSpPr>
        <p:spPr>
          <a:xfrm>
            <a:off x="367748" y="390293"/>
            <a:ext cx="11340548" cy="4739759"/>
          </a:xfrm>
          <a:prstGeom prst="rect">
            <a:avLst/>
          </a:prstGeom>
          <a:noFill/>
        </p:spPr>
        <p:txBody>
          <a:bodyPr wrap="square">
            <a:spAutoFit/>
          </a:bodyPr>
          <a:lstStyle/>
          <a:p>
            <a:r>
              <a:rPr lang="en-IN" sz="3200" b="1" dirty="0"/>
              <a:t>National Programmes related to prevention of substance abuse:</a:t>
            </a:r>
          </a:p>
          <a:p>
            <a:endParaRPr lang="en-IN" dirty="0"/>
          </a:p>
          <a:p>
            <a:r>
              <a:rPr lang="en-IN" sz="2800" dirty="0"/>
              <a:t>Ministry of Health and Family Welfare (</a:t>
            </a:r>
            <a:r>
              <a:rPr lang="en-IN" sz="2800" dirty="0" err="1"/>
              <a:t>MoHFW</a:t>
            </a:r>
            <a:r>
              <a:rPr lang="en-IN" sz="2800" dirty="0"/>
              <a:t>) and Ministry of Social Justice and Empowerment (MSJE), Government of India are involved with alcohol and drug demand reduction policies and drug de-addiction programme (DDAP) in the country. Under the DDAP de-addiction centres have been established in association with various District Hospitals and psychiatry departments of Medical Colleges. The centre at All India Institute of Medical Sciences, Delhi (AIIMS) has been designated as the “National Drug Dependence Treatment Centre” (NDDTC) and functions as a resource centre for the DDAP of </a:t>
            </a:r>
            <a:r>
              <a:rPr lang="en-IN" sz="2800" dirty="0" err="1"/>
              <a:t>MoHFW</a:t>
            </a:r>
            <a:r>
              <a:rPr lang="en-IN" sz="2800" dirty="0"/>
              <a:t>, </a:t>
            </a:r>
            <a:r>
              <a:rPr lang="en-IN" sz="2800" dirty="0" err="1"/>
              <a:t>GoI</a:t>
            </a:r>
            <a:r>
              <a:rPr lang="en-IN" sz="2800" dirty="0"/>
              <a:t>.</a:t>
            </a:r>
          </a:p>
        </p:txBody>
      </p:sp>
    </p:spTree>
    <p:extLst>
      <p:ext uri="{BB962C8B-B14F-4D97-AF65-F5344CB8AC3E}">
        <p14:creationId xmlns:p14="http://schemas.microsoft.com/office/powerpoint/2010/main" val="12978933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8D006B1-1FC4-4AFF-808E-599AAAA89894}"/>
              </a:ext>
            </a:extLst>
          </p:cNvPr>
          <p:cNvSpPr txBox="1"/>
          <p:nvPr/>
        </p:nvSpPr>
        <p:spPr>
          <a:xfrm>
            <a:off x="536712" y="428753"/>
            <a:ext cx="10754139" cy="6001643"/>
          </a:xfrm>
          <a:prstGeom prst="rect">
            <a:avLst/>
          </a:prstGeom>
          <a:noFill/>
        </p:spPr>
        <p:txBody>
          <a:bodyPr wrap="square">
            <a:spAutoFit/>
          </a:bodyPr>
          <a:lstStyle/>
          <a:p>
            <a:endParaRPr lang="en-IN" sz="3200" dirty="0"/>
          </a:p>
          <a:p>
            <a:r>
              <a:rPr lang="en-IN" sz="3200" dirty="0"/>
              <a:t>Various E- Health web based programmes related to prevention of substance abuse such as alcohol e-Help (alcoholwebindia.in/intervention) operated by NDDTC,AIIMS, Delhi (alcoholwebindia.in/) and m-Cessation programme (nhp.gov.in/quit-tobacco) for tobacco cessation have been initiated by </a:t>
            </a:r>
            <a:r>
              <a:rPr lang="en-IN" sz="3200" dirty="0" err="1"/>
              <a:t>MoHFW</a:t>
            </a:r>
            <a:r>
              <a:rPr lang="en-IN" sz="3200" dirty="0"/>
              <a:t>, </a:t>
            </a:r>
            <a:r>
              <a:rPr lang="en-IN" sz="3200" dirty="0" err="1"/>
              <a:t>GoI</a:t>
            </a:r>
            <a:r>
              <a:rPr lang="en-IN" sz="3200" dirty="0"/>
              <a:t>.</a:t>
            </a:r>
          </a:p>
          <a:p>
            <a:endParaRPr lang="en-IN" sz="3200" dirty="0"/>
          </a:p>
          <a:p>
            <a:r>
              <a:rPr lang="en-IN" sz="3200" dirty="0"/>
              <a:t>National AIDS Control Programme (NACP),</a:t>
            </a:r>
            <a:r>
              <a:rPr lang="en-IN" sz="3200" dirty="0" err="1"/>
              <a:t>MoHFW</a:t>
            </a:r>
            <a:r>
              <a:rPr lang="en-IN" sz="3200" dirty="0"/>
              <a:t>, </a:t>
            </a:r>
            <a:r>
              <a:rPr lang="en-IN" sz="3200" dirty="0" err="1"/>
              <a:t>GoI</a:t>
            </a:r>
            <a:r>
              <a:rPr lang="en-IN" sz="3200" dirty="0"/>
              <a:t> has implemented various targeted interventions programme for IDUs such as Needle syringe programme, Opioid substitution therapy.</a:t>
            </a:r>
          </a:p>
        </p:txBody>
      </p:sp>
    </p:spTree>
    <p:extLst>
      <p:ext uri="{BB962C8B-B14F-4D97-AF65-F5344CB8AC3E}">
        <p14:creationId xmlns:p14="http://schemas.microsoft.com/office/powerpoint/2010/main" val="4389097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E662AAB-1BB5-49CA-A8D2-037C0D2394AD}"/>
              </a:ext>
            </a:extLst>
          </p:cNvPr>
          <p:cNvSpPr txBox="1"/>
          <p:nvPr/>
        </p:nvSpPr>
        <p:spPr>
          <a:xfrm>
            <a:off x="536713" y="675287"/>
            <a:ext cx="11261035" cy="4524315"/>
          </a:xfrm>
          <a:prstGeom prst="rect">
            <a:avLst/>
          </a:prstGeom>
          <a:noFill/>
        </p:spPr>
        <p:txBody>
          <a:bodyPr wrap="square">
            <a:spAutoFit/>
          </a:bodyPr>
          <a:lstStyle/>
          <a:p>
            <a:r>
              <a:rPr lang="en-IN" sz="3200" dirty="0"/>
              <a:t>The MSJE, </a:t>
            </a:r>
            <a:r>
              <a:rPr lang="en-IN" sz="3200" dirty="0" err="1"/>
              <a:t>GoI</a:t>
            </a:r>
            <a:r>
              <a:rPr lang="en-IN" sz="3200" dirty="0"/>
              <a:t>, has formulated the central sector scheme of assistance for prevention of alcoholism and substance (drugs) abuse and social defence services which has been updated in 2015.</a:t>
            </a:r>
          </a:p>
          <a:p>
            <a:endParaRPr lang="en-IN" sz="3200" dirty="0"/>
          </a:p>
          <a:p>
            <a:r>
              <a:rPr lang="en-IN" sz="3200" dirty="0"/>
              <a:t>The Department of Revenue, Central government acts as administrator of the Narcotic Drugs and Psychotropic Substances (NDPS) Act, 1985 and the Prevention of Illicit Traffic in Narcotic Drugs and Psychotropic Substances Act, 1988;</a:t>
            </a:r>
          </a:p>
        </p:txBody>
      </p:sp>
    </p:spTree>
    <p:extLst>
      <p:ext uri="{BB962C8B-B14F-4D97-AF65-F5344CB8AC3E}">
        <p14:creationId xmlns:p14="http://schemas.microsoft.com/office/powerpoint/2010/main" val="100321928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AF5FB60-C52E-418C-A255-B96DAABBC95A}"/>
              </a:ext>
            </a:extLst>
          </p:cNvPr>
          <p:cNvSpPr txBox="1"/>
          <p:nvPr/>
        </p:nvSpPr>
        <p:spPr>
          <a:xfrm>
            <a:off x="457201" y="169039"/>
            <a:ext cx="10843590" cy="6124754"/>
          </a:xfrm>
          <a:prstGeom prst="rect">
            <a:avLst/>
          </a:prstGeom>
          <a:noFill/>
        </p:spPr>
        <p:txBody>
          <a:bodyPr wrap="square">
            <a:spAutoFit/>
          </a:bodyPr>
          <a:lstStyle/>
          <a:p>
            <a:endParaRPr lang="en-IN" sz="3200" dirty="0"/>
          </a:p>
          <a:p>
            <a:r>
              <a:rPr lang="en-IN" sz="3600" dirty="0"/>
              <a:t>The Narcotics Control Bureau, Ministry of Home Affairs, </a:t>
            </a:r>
            <a:r>
              <a:rPr lang="en-IN" sz="3600" dirty="0" err="1"/>
              <a:t>GoI</a:t>
            </a:r>
            <a:r>
              <a:rPr lang="en-IN" sz="3600" dirty="0"/>
              <a:t> functions as an enforcement agency for NDPS Act.</a:t>
            </a:r>
          </a:p>
          <a:p>
            <a:endParaRPr lang="en-IN" sz="3600" dirty="0"/>
          </a:p>
          <a:p>
            <a:r>
              <a:rPr lang="en-IN" sz="3600" dirty="0"/>
              <a:t>Tips for prevention of substance abuse: youth</a:t>
            </a:r>
          </a:p>
          <a:p>
            <a:endParaRPr lang="en-IN" sz="3600" dirty="0"/>
          </a:p>
          <a:p>
            <a:r>
              <a:rPr lang="en-IN" sz="3600" dirty="0"/>
              <a:t>Don’t be afraid to say no.</a:t>
            </a:r>
          </a:p>
          <a:p>
            <a:r>
              <a:rPr lang="en-IN" sz="3600" dirty="0"/>
              <a:t>Connect with your friends and avoid negative peer pressure.</a:t>
            </a:r>
          </a:p>
          <a:p>
            <a:r>
              <a:rPr lang="en-IN" sz="3600" dirty="0"/>
              <a:t> Make connections with your parents or other adults.</a:t>
            </a:r>
          </a:p>
          <a:p>
            <a:r>
              <a:rPr lang="en-IN" sz="3600" dirty="0"/>
              <a:t>Get educated about alcohol and drugs.</a:t>
            </a:r>
          </a:p>
        </p:txBody>
      </p:sp>
    </p:spTree>
    <p:extLst>
      <p:ext uri="{BB962C8B-B14F-4D97-AF65-F5344CB8AC3E}">
        <p14:creationId xmlns:p14="http://schemas.microsoft.com/office/powerpoint/2010/main" val="31283026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TotalTime>
  <Words>3805</Words>
  <Application>Microsoft Office PowerPoint</Application>
  <PresentationFormat>Widescreen</PresentationFormat>
  <Paragraphs>319</Paragraphs>
  <Slides>38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Times New Roman</vt:lpstr>
      <vt:lpstr>Trebuchet MS</vt:lpstr>
      <vt:lpstr>Office Theme</vt:lpstr>
      <vt:lpstr>PowerPoint Presentation</vt:lpstr>
      <vt:lpstr>PowerPoint Presentation</vt:lpstr>
      <vt:lpstr>Health Effects</vt:lpstr>
      <vt:lpstr>PowerPoint Presentation</vt:lpstr>
      <vt:lpstr>Medical and psychiatric complications due to substance abuse:</vt:lpstr>
      <vt:lpstr>PowerPoint Presentation</vt:lpstr>
      <vt:lpstr>PowerPoint Presentation</vt:lpstr>
      <vt:lpstr>Cardio-vascular complications</vt:lpstr>
      <vt:lpstr>Pulmonary complications</vt:lpstr>
      <vt:lpstr>Hepatic complications</vt:lpstr>
      <vt:lpstr>Complications in the reproductive system</vt:lpstr>
      <vt:lpstr>Neuromuscular complications</vt:lpstr>
      <vt:lpstr>Haematopoietic complications</vt:lpstr>
      <vt:lpstr>Endocrine system disorders</vt:lpstr>
      <vt:lpstr>Renal function disorders:</vt:lpstr>
      <vt:lpstr>Gastro-intestinal disorders</vt:lpstr>
      <vt:lpstr>Cancer-</vt:lpstr>
      <vt:lpstr>PowerPoint Presentation</vt:lpstr>
      <vt:lpstr>PowerPoint Presentation</vt:lpstr>
      <vt:lpstr>PowerPoint Presentation</vt:lpstr>
      <vt:lpstr>PowerPoint Presentation</vt:lpstr>
      <vt:lpstr>PowerPoint Presentation</vt:lpstr>
      <vt:lpstr>PowerPoint Presentation</vt:lpstr>
      <vt:lpstr>Mental Health Problems (1/2)</vt:lpstr>
      <vt:lpstr>Mental Health Problems (2/2)</vt:lpstr>
      <vt:lpstr>Personality &amp; Temperament </vt:lpstr>
      <vt:lpstr>Importance of Personality in Adolescence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Reddy, Rama Sivakiran</dc:creator>
  <cp:lastModifiedBy>Reddy, Rama Sivakiran</cp:lastModifiedBy>
  <cp:revision>14</cp:revision>
  <dcterms:created xsi:type="dcterms:W3CDTF">2022-05-22T18:50:12Z</dcterms:created>
  <dcterms:modified xsi:type="dcterms:W3CDTF">2022-05-22T20:07:38Z</dcterms:modified>
</cp:coreProperties>
</file>