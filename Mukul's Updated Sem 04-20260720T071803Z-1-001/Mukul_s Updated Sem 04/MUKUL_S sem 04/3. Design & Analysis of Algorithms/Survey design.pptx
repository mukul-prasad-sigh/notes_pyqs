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3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6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0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6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52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7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7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3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3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28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1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DF469-6F65-4875-9DDE-4BDFCCD0B8E6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0E1FA-7E47-4EB2-AAF4-746DF1E81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6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SURVEY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 smtClean="0"/>
              <a:t>Problem</a:t>
            </a:r>
          </a:p>
          <a:p>
            <a:pPr algn="just"/>
            <a:r>
              <a:rPr lang="en-US" dirty="0"/>
              <a:t>Consider a company that sells </a:t>
            </a:r>
            <a:r>
              <a:rPr lang="en-US" i="1" dirty="0"/>
              <a:t>k </a:t>
            </a:r>
            <a:r>
              <a:rPr lang="en-US" dirty="0"/>
              <a:t>products and has </a:t>
            </a:r>
            <a:r>
              <a:rPr lang="en-US" dirty="0" smtClean="0"/>
              <a:t>a database </a:t>
            </a:r>
            <a:r>
              <a:rPr lang="en-US" dirty="0"/>
              <a:t>containing the purchase histories of a large number of customers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The company wishes to conduct a survey, sending </a:t>
            </a:r>
            <a:r>
              <a:rPr lang="en-US" dirty="0" smtClean="0"/>
              <a:t>customized questionnaires </a:t>
            </a:r>
            <a:r>
              <a:rPr lang="en-US" dirty="0"/>
              <a:t>to a particular group of </a:t>
            </a:r>
            <a:r>
              <a:rPr lang="en-US" i="1" dirty="0"/>
              <a:t>n </a:t>
            </a:r>
            <a:r>
              <a:rPr lang="en-US" dirty="0"/>
              <a:t>of its customers, to try </a:t>
            </a:r>
            <a:r>
              <a:rPr lang="en-US" dirty="0" smtClean="0"/>
              <a:t>determining which </a:t>
            </a:r>
            <a:r>
              <a:rPr lang="en-US" dirty="0"/>
              <a:t>products people like overall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826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Here are the guidelines for designing the survey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algn="just"/>
            <a:r>
              <a:rPr lang="en-US" dirty="0" smtClean="0"/>
              <a:t>Each </a:t>
            </a:r>
            <a:r>
              <a:rPr lang="en-US" dirty="0"/>
              <a:t>customer will receive questions about a certain subset of </a:t>
            </a:r>
            <a:r>
              <a:rPr lang="en-US" dirty="0" smtClean="0"/>
              <a:t>the products.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customer can only be asked about products that he or she has purchased.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To </a:t>
            </a:r>
            <a:r>
              <a:rPr lang="en-US" dirty="0"/>
              <a:t>make each questionnaire informative, but not too long so as to </a:t>
            </a:r>
            <a:r>
              <a:rPr lang="en-US" dirty="0" smtClean="0"/>
              <a:t>discourage participation</a:t>
            </a:r>
            <a:r>
              <a:rPr lang="en-US" dirty="0"/>
              <a:t>, each customer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should be asked about a </a:t>
            </a:r>
            <a:r>
              <a:rPr lang="en-US" dirty="0" smtClean="0"/>
              <a:t>number of </a:t>
            </a:r>
            <a:r>
              <a:rPr lang="en-US" dirty="0"/>
              <a:t>products between </a:t>
            </a:r>
            <a:r>
              <a:rPr lang="en-US" i="1" dirty="0"/>
              <a:t>ci </a:t>
            </a:r>
            <a:r>
              <a:rPr lang="en-US" dirty="0"/>
              <a:t>and </a:t>
            </a:r>
            <a:r>
              <a:rPr lang="en-US" i="1" dirty="0" smtClean="0"/>
              <a:t>ci’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Finally</a:t>
            </a:r>
            <a:r>
              <a:rPr lang="en-US" dirty="0"/>
              <a:t>, to collect sufficient data about each product, there must </a:t>
            </a:r>
            <a:r>
              <a:rPr lang="en-US" dirty="0" smtClean="0"/>
              <a:t>be between </a:t>
            </a:r>
            <a:r>
              <a:rPr lang="en-US" i="1" dirty="0" err="1"/>
              <a:t>pj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 err="1" smtClean="0"/>
              <a:t>pj</a:t>
            </a:r>
            <a:r>
              <a:rPr lang="en-US" i="1" dirty="0" smtClean="0"/>
              <a:t>’ </a:t>
            </a:r>
            <a:r>
              <a:rPr lang="en-US" dirty="0"/>
              <a:t>distinct customers asked about each product </a:t>
            </a:r>
            <a:r>
              <a:rPr lang="en-US" i="1" dirty="0"/>
              <a:t>j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212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US" dirty="0" smtClean="0"/>
              <a:t>Input </a:t>
            </a:r>
            <a:r>
              <a:rPr lang="en-US" dirty="0"/>
              <a:t>to the </a:t>
            </a:r>
            <a:r>
              <a:rPr lang="en-US" i="1" dirty="0"/>
              <a:t>Survey Design Problem </a:t>
            </a:r>
            <a:r>
              <a:rPr lang="en-US" dirty="0"/>
              <a:t>consists of a </a:t>
            </a:r>
            <a:r>
              <a:rPr lang="en-US" dirty="0" smtClean="0"/>
              <a:t>bipartite graph </a:t>
            </a:r>
            <a:r>
              <a:rPr lang="en-US" i="1" dirty="0"/>
              <a:t>G </a:t>
            </a:r>
            <a:r>
              <a:rPr lang="en-US" dirty="0"/>
              <a:t>whose nodes are the customers and the products, and there is an </a:t>
            </a:r>
            <a:r>
              <a:rPr lang="en-US" dirty="0" smtClean="0"/>
              <a:t>edge between </a:t>
            </a:r>
            <a:r>
              <a:rPr lang="en-US" dirty="0"/>
              <a:t>customer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and product </a:t>
            </a:r>
            <a:r>
              <a:rPr lang="en-US" i="1" dirty="0"/>
              <a:t>j </a:t>
            </a:r>
            <a:r>
              <a:rPr lang="en-US" dirty="0"/>
              <a:t>if he or she has ever purchased product </a:t>
            </a:r>
            <a:r>
              <a:rPr lang="en-US" i="1" dirty="0"/>
              <a:t>j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 </a:t>
            </a:r>
            <a:r>
              <a:rPr lang="en-US" dirty="0"/>
              <a:t>for each customer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= 1, . . . , </a:t>
            </a:r>
            <a:r>
              <a:rPr lang="en-US" i="1" dirty="0"/>
              <a:t>n</a:t>
            </a:r>
            <a:r>
              <a:rPr lang="en-US" dirty="0"/>
              <a:t>, we have limits </a:t>
            </a:r>
            <a:r>
              <a:rPr lang="en-US" i="1" dirty="0"/>
              <a:t>ci </a:t>
            </a:r>
            <a:r>
              <a:rPr lang="en-US" dirty="0"/>
              <a:t>≤ </a:t>
            </a:r>
            <a:r>
              <a:rPr lang="en-US" i="1" dirty="0" smtClean="0"/>
              <a:t>ci’ </a:t>
            </a:r>
            <a:r>
              <a:rPr lang="en-US" dirty="0"/>
              <a:t>on the </a:t>
            </a:r>
            <a:r>
              <a:rPr lang="en-US" dirty="0" smtClean="0"/>
              <a:t>number of </a:t>
            </a:r>
            <a:r>
              <a:rPr lang="en-US" dirty="0"/>
              <a:t>products he or she can be asked </a:t>
            </a:r>
            <a:r>
              <a:rPr lang="en-US" dirty="0" smtClean="0"/>
              <a:t>about.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 </a:t>
            </a:r>
            <a:r>
              <a:rPr lang="en-US" dirty="0"/>
              <a:t>for each product </a:t>
            </a:r>
            <a:r>
              <a:rPr lang="en-US" i="1" dirty="0"/>
              <a:t>j </a:t>
            </a:r>
            <a:r>
              <a:rPr lang="en-US" dirty="0"/>
              <a:t>= 1, . . . , </a:t>
            </a:r>
            <a:r>
              <a:rPr lang="en-US" i="1" dirty="0"/>
              <a:t>k</a:t>
            </a:r>
            <a:r>
              <a:rPr lang="en-US" dirty="0"/>
              <a:t>, </a:t>
            </a:r>
            <a:r>
              <a:rPr lang="en-US" dirty="0" smtClean="0"/>
              <a:t>we have </a:t>
            </a:r>
            <a:r>
              <a:rPr lang="en-US" dirty="0"/>
              <a:t>limits </a:t>
            </a:r>
            <a:r>
              <a:rPr lang="en-US" i="1" dirty="0" err="1"/>
              <a:t>pj</a:t>
            </a:r>
            <a:r>
              <a:rPr lang="en-US" i="1" dirty="0"/>
              <a:t> </a:t>
            </a:r>
            <a:r>
              <a:rPr lang="en-US" dirty="0"/>
              <a:t>≤ </a:t>
            </a:r>
            <a:r>
              <a:rPr lang="en-US" i="1" dirty="0" err="1" smtClean="0"/>
              <a:t>pj</a:t>
            </a:r>
            <a:r>
              <a:rPr lang="en-US" i="1" dirty="0" smtClean="0"/>
              <a:t>’ </a:t>
            </a:r>
            <a:r>
              <a:rPr lang="en-US" dirty="0"/>
              <a:t>on the number of distinct customers that have to be </a:t>
            </a:r>
            <a:r>
              <a:rPr lang="en-US" dirty="0" smtClean="0"/>
              <a:t>asked about </a:t>
            </a:r>
            <a:r>
              <a:rPr lang="en-US" dirty="0"/>
              <a:t>it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 </a:t>
            </a:r>
            <a:r>
              <a:rPr lang="en-US" dirty="0"/>
              <a:t>The problem is to decide if there is a way to design a </a:t>
            </a:r>
            <a:r>
              <a:rPr lang="en-US" dirty="0" smtClean="0"/>
              <a:t>questionnaire for </a:t>
            </a:r>
            <a:r>
              <a:rPr lang="en-US" dirty="0"/>
              <a:t>each customer so as to satisfy all these </a:t>
            </a:r>
            <a:r>
              <a:rPr lang="en-US" dirty="0" smtClean="0"/>
              <a:t>conditions.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5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741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Designing the Algorithm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algn="just"/>
            <a:r>
              <a:rPr lang="en-US" dirty="0"/>
              <a:t>To </a:t>
            </a:r>
            <a:r>
              <a:rPr lang="en-US" dirty="0" smtClean="0"/>
              <a:t>obtain the </a:t>
            </a:r>
            <a:r>
              <a:rPr lang="en-US" dirty="0"/>
              <a:t>graph </a:t>
            </a:r>
            <a:r>
              <a:rPr lang="en-US" i="1" dirty="0" smtClean="0"/>
              <a:t>G’</a:t>
            </a:r>
            <a:r>
              <a:rPr lang="en-US" dirty="0" smtClean="0"/>
              <a:t> </a:t>
            </a:r>
            <a:r>
              <a:rPr lang="en-US" dirty="0"/>
              <a:t>from </a:t>
            </a:r>
            <a:r>
              <a:rPr lang="en-US" i="1" dirty="0"/>
              <a:t>G</a:t>
            </a:r>
            <a:r>
              <a:rPr lang="en-US" dirty="0"/>
              <a:t>, we orient the edges of </a:t>
            </a:r>
            <a:r>
              <a:rPr lang="en-US" i="1" dirty="0"/>
              <a:t>G </a:t>
            </a:r>
            <a:endParaRPr lang="en-US" i="1" dirty="0" smtClean="0"/>
          </a:p>
          <a:p>
            <a:pPr marL="0" indent="0" algn="just">
              <a:buNone/>
            </a:pPr>
            <a:r>
              <a:rPr lang="en-US" dirty="0" smtClean="0"/>
              <a:t>from </a:t>
            </a:r>
            <a:r>
              <a:rPr lang="en-US" dirty="0"/>
              <a:t>customers to products, </a:t>
            </a:r>
            <a:r>
              <a:rPr lang="en-US" dirty="0" smtClean="0"/>
              <a:t>add nodes </a:t>
            </a:r>
            <a:r>
              <a:rPr lang="en-US" i="1" dirty="0"/>
              <a:t>s </a:t>
            </a:r>
            <a:r>
              <a:rPr lang="en-US" dirty="0"/>
              <a:t>and </a:t>
            </a:r>
            <a:r>
              <a:rPr lang="en-US" i="1" dirty="0"/>
              <a:t>t </a:t>
            </a:r>
            <a:r>
              <a:rPr lang="en-US" dirty="0"/>
              <a:t>with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edges </a:t>
            </a:r>
            <a:r>
              <a:rPr lang="en-US" i="1" dirty="0"/>
              <a:t>(s</a:t>
            </a:r>
            <a:r>
              <a:rPr lang="en-US" dirty="0"/>
              <a:t>, </a:t>
            </a:r>
            <a:r>
              <a:rPr lang="en-US" i="1" dirty="0" err="1"/>
              <a:t>i</a:t>
            </a:r>
            <a:r>
              <a:rPr lang="en-US" i="1" dirty="0"/>
              <a:t>) </a:t>
            </a:r>
            <a:r>
              <a:rPr lang="en-US" dirty="0"/>
              <a:t>for each customer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= 1, . . . , </a:t>
            </a:r>
            <a:r>
              <a:rPr lang="en-US" i="1" dirty="0"/>
              <a:t>n</a:t>
            </a:r>
            <a:r>
              <a:rPr lang="en-US" dirty="0"/>
              <a:t>, edges </a:t>
            </a:r>
            <a:r>
              <a:rPr lang="en-US" i="1" dirty="0"/>
              <a:t>(j</a:t>
            </a:r>
            <a:r>
              <a:rPr lang="en-US" dirty="0"/>
              <a:t>, </a:t>
            </a:r>
            <a:r>
              <a:rPr lang="en-US" i="1" dirty="0"/>
              <a:t>t) </a:t>
            </a:r>
            <a:r>
              <a:rPr lang="en-US" dirty="0"/>
              <a:t>for</a:t>
            </a:r>
          </a:p>
          <a:p>
            <a:pPr marL="0" indent="0" algn="just">
              <a:buNone/>
            </a:pPr>
            <a:r>
              <a:rPr lang="en-US" dirty="0"/>
              <a:t>each product </a:t>
            </a:r>
            <a:r>
              <a:rPr lang="en-US" i="1" dirty="0"/>
              <a:t>j </a:t>
            </a:r>
            <a:r>
              <a:rPr lang="en-US" dirty="0"/>
              <a:t>= 1, . . . , </a:t>
            </a:r>
            <a:r>
              <a:rPr lang="en-US" i="1" dirty="0"/>
              <a:t>k</a:t>
            </a:r>
            <a:r>
              <a:rPr lang="en-US" dirty="0"/>
              <a:t>, and an edge </a:t>
            </a:r>
            <a:r>
              <a:rPr lang="en-US" i="1" dirty="0"/>
              <a:t>(t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i="1" dirty="0" smtClean="0"/>
              <a:t>)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 smtClean="0"/>
              <a:t> </a:t>
            </a:r>
            <a:r>
              <a:rPr lang="en-US" dirty="0"/>
              <a:t>The flow on the </a:t>
            </a:r>
            <a:r>
              <a:rPr lang="en-US" dirty="0" smtClean="0"/>
              <a:t>edge </a:t>
            </a:r>
            <a:r>
              <a:rPr lang="en-US" i="1" dirty="0" smtClean="0"/>
              <a:t>(s</a:t>
            </a:r>
            <a:r>
              <a:rPr lang="en-US" dirty="0"/>
              <a:t>, </a:t>
            </a:r>
            <a:r>
              <a:rPr lang="en-US" i="1" dirty="0" err="1"/>
              <a:t>i</a:t>
            </a:r>
            <a:r>
              <a:rPr lang="en-US" i="1" dirty="0"/>
              <a:t>) </a:t>
            </a:r>
            <a:r>
              <a:rPr lang="en-US" dirty="0"/>
              <a:t>is the </a:t>
            </a:r>
            <a:r>
              <a:rPr lang="en-US" b="1" dirty="0"/>
              <a:t>number of products </a:t>
            </a:r>
            <a:r>
              <a:rPr lang="en-US" dirty="0"/>
              <a:t>included on the </a:t>
            </a:r>
            <a:r>
              <a:rPr lang="en-US" dirty="0" smtClean="0"/>
              <a:t>questionnaire </a:t>
            </a:r>
            <a:r>
              <a:rPr lang="en-US" dirty="0"/>
              <a:t>for customer </a:t>
            </a:r>
            <a:r>
              <a:rPr lang="en-US" i="1" dirty="0" err="1" smtClean="0"/>
              <a:t>i</a:t>
            </a:r>
            <a:r>
              <a:rPr lang="en-US" dirty="0" smtClean="0"/>
              <a:t>, so </a:t>
            </a:r>
            <a:r>
              <a:rPr lang="en-US" dirty="0"/>
              <a:t>this edge will have a capacity of </a:t>
            </a:r>
            <a:r>
              <a:rPr lang="en-US" i="1" dirty="0" smtClean="0"/>
              <a:t>ci’ </a:t>
            </a:r>
            <a:r>
              <a:rPr lang="en-US" dirty="0"/>
              <a:t>and a lower bound of </a:t>
            </a:r>
            <a:r>
              <a:rPr lang="en-US" i="1" dirty="0"/>
              <a:t>ci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The flow on </a:t>
            </a:r>
            <a:r>
              <a:rPr lang="en-US" dirty="0" smtClean="0"/>
              <a:t>the edge </a:t>
            </a:r>
            <a:r>
              <a:rPr lang="en-US" i="1" dirty="0"/>
              <a:t>(j</a:t>
            </a:r>
            <a:r>
              <a:rPr lang="en-US" dirty="0"/>
              <a:t>, </a:t>
            </a:r>
            <a:r>
              <a:rPr lang="en-US" i="1" dirty="0"/>
              <a:t>t) </a:t>
            </a:r>
            <a:r>
              <a:rPr lang="en-US" dirty="0"/>
              <a:t>will correspond to the </a:t>
            </a:r>
            <a:r>
              <a:rPr lang="en-US" b="1" dirty="0"/>
              <a:t>number of customers </a:t>
            </a:r>
            <a:r>
              <a:rPr lang="en-US" dirty="0"/>
              <a:t>who were asked </a:t>
            </a:r>
            <a:r>
              <a:rPr lang="en-US" dirty="0" smtClean="0"/>
              <a:t>about product </a:t>
            </a:r>
            <a:r>
              <a:rPr lang="en-US" i="1" dirty="0"/>
              <a:t>j</a:t>
            </a:r>
            <a:r>
              <a:rPr lang="en-US" dirty="0"/>
              <a:t>, so this edge will have a capacity of </a:t>
            </a:r>
            <a:r>
              <a:rPr lang="en-US" i="1" dirty="0" err="1" smtClean="0"/>
              <a:t>pj</a:t>
            </a:r>
            <a:r>
              <a:rPr lang="en-US" i="1" dirty="0" smtClean="0"/>
              <a:t>’ </a:t>
            </a:r>
            <a:r>
              <a:rPr lang="en-US" dirty="0"/>
              <a:t>and a lower bound of </a:t>
            </a:r>
            <a:r>
              <a:rPr lang="en-US" i="1" dirty="0" err="1"/>
              <a:t>pj</a:t>
            </a:r>
            <a:r>
              <a:rPr lang="en-US" dirty="0"/>
              <a:t>.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907" y="1"/>
            <a:ext cx="3703093" cy="330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US" dirty="0" smtClean="0"/>
              <a:t>Each edge </a:t>
            </a:r>
            <a:r>
              <a:rPr lang="en-US" i="1" dirty="0"/>
              <a:t>(</a:t>
            </a:r>
            <a:r>
              <a:rPr lang="en-US" i="1" dirty="0" err="1"/>
              <a:t>i</a:t>
            </a:r>
            <a:r>
              <a:rPr lang="en-US" dirty="0"/>
              <a:t>, </a:t>
            </a:r>
            <a:r>
              <a:rPr lang="en-US" i="1" dirty="0"/>
              <a:t>j) </a:t>
            </a:r>
            <a:r>
              <a:rPr lang="en-US" dirty="0"/>
              <a:t>going from a customer to a product he or she bought has </a:t>
            </a:r>
            <a:r>
              <a:rPr lang="en-US" dirty="0" smtClean="0"/>
              <a:t>capacity 1</a:t>
            </a:r>
            <a:r>
              <a:rPr lang="en-US" dirty="0"/>
              <a:t>, and 0 as the lower bound. The flow carried by the edge </a:t>
            </a:r>
            <a:r>
              <a:rPr lang="en-US" i="1" dirty="0"/>
              <a:t>(t</a:t>
            </a:r>
            <a:r>
              <a:rPr lang="en-US" dirty="0"/>
              <a:t>, </a:t>
            </a:r>
            <a:r>
              <a:rPr lang="en-US" i="1" dirty="0"/>
              <a:t>s) </a:t>
            </a:r>
            <a:r>
              <a:rPr lang="en-US" dirty="0" smtClean="0"/>
              <a:t>corresponds to </a:t>
            </a:r>
            <a:r>
              <a:rPr lang="en-US" dirty="0"/>
              <a:t>the  </a:t>
            </a:r>
            <a:r>
              <a:rPr lang="en-US" b="1" dirty="0"/>
              <a:t>overall number of questions asked</a:t>
            </a:r>
            <a:r>
              <a:rPr lang="en-US" dirty="0"/>
              <a:t>. We can give this edge a capacity </a:t>
            </a:r>
            <a:r>
              <a:rPr lang="en-US" dirty="0" smtClean="0"/>
              <a:t>of         ∑</a:t>
            </a:r>
            <a:r>
              <a:rPr lang="en-US" i="1" dirty="0" err="1" smtClean="0"/>
              <a:t>i</a:t>
            </a:r>
            <a:r>
              <a:rPr lang="en-US" i="1" dirty="0" smtClean="0"/>
              <a:t> ci’ </a:t>
            </a:r>
            <a:r>
              <a:rPr lang="en-US" dirty="0"/>
              <a:t>and a lower bound </a:t>
            </a:r>
            <a:r>
              <a:rPr lang="en-US" dirty="0" smtClean="0"/>
              <a:t>of ∑</a:t>
            </a:r>
            <a:r>
              <a:rPr lang="en-US" i="1" dirty="0" err="1" smtClean="0"/>
              <a:t>i</a:t>
            </a:r>
            <a:r>
              <a:rPr lang="en-US" i="1" dirty="0" smtClean="0"/>
              <a:t> ci.</a:t>
            </a:r>
          </a:p>
          <a:p>
            <a:pPr algn="just"/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445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Analyzing the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55342"/>
            <a:ext cx="12192000" cy="5902657"/>
          </a:xfrm>
        </p:spPr>
        <p:txBody>
          <a:bodyPr>
            <a:normAutofit/>
          </a:bodyPr>
          <a:lstStyle/>
          <a:p>
            <a:r>
              <a:rPr lang="en-US" i="1" dirty="0"/>
              <a:t>The graph G</a:t>
            </a:r>
            <a:r>
              <a:rPr lang="en-US" dirty="0"/>
              <a:t> </a:t>
            </a:r>
            <a:r>
              <a:rPr lang="en-US" i="1" dirty="0"/>
              <a:t>just constructed has a feasible circulation if and only </a:t>
            </a:r>
            <a:r>
              <a:rPr lang="en-US" i="1" dirty="0" smtClean="0"/>
              <a:t>if there </a:t>
            </a:r>
            <a:r>
              <a:rPr lang="en-US" i="1" dirty="0"/>
              <a:t>is a feasible way to design the survey</a:t>
            </a:r>
            <a:r>
              <a:rPr lang="en-US" i="1" dirty="0" smtClean="0"/>
              <a:t>.</a:t>
            </a:r>
          </a:p>
          <a:p>
            <a:endParaRPr lang="en-US" i="1" dirty="0"/>
          </a:p>
          <a:p>
            <a:r>
              <a:rPr lang="en-US" i="1" dirty="0" smtClean="0"/>
              <a:t> </a:t>
            </a:r>
            <a:r>
              <a:rPr lang="en-US" b="1" dirty="0"/>
              <a:t>Proof</a:t>
            </a:r>
            <a:r>
              <a:rPr lang="en-US" b="1" dirty="0" smtClean="0"/>
              <a:t>. </a:t>
            </a:r>
            <a:r>
              <a:rPr lang="en-US" dirty="0" smtClean="0"/>
              <a:t>The </a:t>
            </a:r>
            <a:r>
              <a:rPr lang="en-US" dirty="0"/>
              <a:t>edge </a:t>
            </a:r>
            <a:r>
              <a:rPr lang="en-US" i="1" dirty="0"/>
              <a:t>(</a:t>
            </a:r>
            <a:r>
              <a:rPr lang="en-US" i="1" dirty="0" err="1"/>
              <a:t>i</a:t>
            </a:r>
            <a:r>
              <a:rPr lang="en-US" dirty="0"/>
              <a:t>, </a:t>
            </a:r>
            <a:r>
              <a:rPr lang="en-US" i="1" dirty="0"/>
              <a:t>j) </a:t>
            </a:r>
            <a:r>
              <a:rPr lang="en-US" dirty="0"/>
              <a:t>will carry one unit of </a:t>
            </a:r>
            <a:r>
              <a:rPr lang="en-US" dirty="0" smtClean="0"/>
              <a:t>flow if </a:t>
            </a:r>
            <a:r>
              <a:rPr lang="en-US" dirty="0"/>
              <a:t>customer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is asked about product </a:t>
            </a:r>
            <a:r>
              <a:rPr lang="en-US" i="1" dirty="0"/>
              <a:t>j </a:t>
            </a:r>
            <a:r>
              <a:rPr lang="en-US" dirty="0"/>
              <a:t>in the survey, and will carry no </a:t>
            </a:r>
            <a:r>
              <a:rPr lang="en-US" dirty="0" smtClean="0"/>
              <a:t>flow otherwise.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The flow on the edges </a:t>
            </a:r>
            <a:r>
              <a:rPr lang="en-US" i="1" dirty="0"/>
              <a:t>(s</a:t>
            </a:r>
            <a:r>
              <a:rPr lang="en-US" dirty="0"/>
              <a:t>, </a:t>
            </a:r>
            <a:r>
              <a:rPr lang="en-US" i="1" dirty="0" err="1"/>
              <a:t>i</a:t>
            </a:r>
            <a:r>
              <a:rPr lang="en-US" i="1" dirty="0"/>
              <a:t>) </a:t>
            </a:r>
            <a:r>
              <a:rPr lang="en-US" dirty="0"/>
              <a:t>is the number of questions </a:t>
            </a:r>
            <a:r>
              <a:rPr lang="en-US" dirty="0" smtClean="0"/>
              <a:t>asked from </a:t>
            </a:r>
            <a:r>
              <a:rPr lang="en-US" dirty="0"/>
              <a:t>customer </a:t>
            </a:r>
            <a:r>
              <a:rPr lang="en-US" i="1" dirty="0" err="1" smtClean="0"/>
              <a:t>i</a:t>
            </a:r>
            <a:r>
              <a:rPr lang="en-US" dirty="0" smtClean="0"/>
              <a:t>.</a:t>
            </a:r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flow on the edge </a:t>
            </a:r>
            <a:r>
              <a:rPr lang="en-US" i="1" dirty="0"/>
              <a:t>(j</a:t>
            </a:r>
            <a:r>
              <a:rPr lang="en-US" dirty="0"/>
              <a:t>, </a:t>
            </a:r>
            <a:r>
              <a:rPr lang="en-US" i="1" dirty="0"/>
              <a:t>t) </a:t>
            </a:r>
            <a:r>
              <a:rPr lang="en-US" dirty="0"/>
              <a:t>is the number of customers </a:t>
            </a:r>
            <a:r>
              <a:rPr lang="en-US" dirty="0" smtClean="0"/>
              <a:t>who were </a:t>
            </a:r>
            <a:r>
              <a:rPr lang="en-US" dirty="0"/>
              <a:t>asked about product </a:t>
            </a:r>
            <a:r>
              <a:rPr lang="en-US" i="1" dirty="0"/>
              <a:t>j</a:t>
            </a:r>
            <a:r>
              <a:rPr lang="en-US" dirty="0"/>
              <a:t>, and </a:t>
            </a:r>
            <a:r>
              <a:rPr lang="en-US" dirty="0" smtClean="0"/>
              <a:t>finally.</a:t>
            </a:r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flow on edge </a:t>
            </a:r>
            <a:r>
              <a:rPr lang="en-US" i="1" dirty="0"/>
              <a:t>(t</a:t>
            </a:r>
            <a:r>
              <a:rPr lang="en-US" dirty="0"/>
              <a:t>, </a:t>
            </a:r>
            <a:r>
              <a:rPr lang="en-US" i="1" dirty="0"/>
              <a:t>s) </a:t>
            </a:r>
            <a:r>
              <a:rPr lang="en-US" dirty="0"/>
              <a:t>is the </a:t>
            </a:r>
            <a:r>
              <a:rPr lang="en-US" dirty="0" smtClean="0"/>
              <a:t>overall number </a:t>
            </a:r>
            <a:r>
              <a:rPr lang="en-US" dirty="0"/>
              <a:t>of questions asked</a:t>
            </a:r>
            <a:r>
              <a:rPr lang="en-US" dirty="0" smtClean="0"/>
              <a:t>.</a:t>
            </a:r>
          </a:p>
          <a:p>
            <a:r>
              <a:rPr lang="en-US" dirty="0"/>
              <a:t>Customer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 smtClean="0"/>
              <a:t>will be </a:t>
            </a:r>
            <a:r>
              <a:rPr lang="en-US" dirty="0"/>
              <a:t>surveyed about product </a:t>
            </a:r>
            <a:r>
              <a:rPr lang="en-US" i="1" dirty="0"/>
              <a:t>j </a:t>
            </a:r>
            <a:r>
              <a:rPr lang="en-US" dirty="0"/>
              <a:t>if and only if the edge </a:t>
            </a:r>
            <a:r>
              <a:rPr lang="en-US" i="1" dirty="0"/>
              <a:t>(</a:t>
            </a:r>
            <a:r>
              <a:rPr lang="en-US" i="1" dirty="0" err="1"/>
              <a:t>i</a:t>
            </a:r>
            <a:r>
              <a:rPr lang="en-US" dirty="0"/>
              <a:t>, </a:t>
            </a:r>
            <a:r>
              <a:rPr lang="en-US" i="1" dirty="0"/>
              <a:t>j) </a:t>
            </a:r>
            <a:r>
              <a:rPr lang="en-US" dirty="0"/>
              <a:t>carries a unit of flow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5395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dirty="0"/>
              <a:t>This flow satisfies the 0 demand, that is, there is flow conservation at every node.</a:t>
            </a:r>
          </a:p>
          <a:p>
            <a:r>
              <a:rPr lang="en-US" dirty="0" smtClean="0"/>
              <a:t>NOTE: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11996382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63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dirty="0"/>
              <a:t> We assume that demand and supply are perfectly matched </a:t>
            </a:r>
            <a:r>
              <a:rPr lang="en-US" dirty="0" smtClean="0"/>
              <a:t>overall. </a:t>
            </a:r>
            <a:r>
              <a:rPr lang="en-US" dirty="0"/>
              <a:t>that </a:t>
            </a:r>
            <a:r>
              <a:rPr lang="en-US" dirty="0" smtClean="0"/>
              <a:t>is, </a:t>
            </a:r>
          </a:p>
          <a:p>
            <a:pPr marL="0" indent="0">
              <a:buNone/>
            </a:pPr>
            <a:r>
              <a:rPr lang="en-US" dirty="0" smtClean="0"/>
              <a:t>∑v</a:t>
            </a:r>
            <a:r>
              <a:rPr lang="en-US" dirty="0"/>
              <a:t> </a:t>
            </a:r>
            <a:r>
              <a:rPr lang="en-US" dirty="0" smtClean="0"/>
              <a:t> dv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/>
              <a:t>0. </a:t>
            </a:r>
            <a:r>
              <a:rPr lang="en-US" dirty="0" smtClean="0"/>
              <a:t>  (dv is the demand of the vertex v).</a:t>
            </a:r>
            <a:endParaRPr lang="en-US" dirty="0"/>
          </a:p>
          <a:p>
            <a:endParaRPr lang="en-US" dirty="0" smtClean="0"/>
          </a:p>
          <a:p>
            <a:r>
              <a:rPr lang="en-US" dirty="0"/>
              <a:t> Our goal is to </a:t>
            </a:r>
            <a:r>
              <a:rPr lang="en-US" dirty="0" smtClean="0"/>
              <a:t>find </a:t>
            </a:r>
            <a:r>
              <a:rPr lang="en-US" dirty="0"/>
              <a:t>a </a:t>
            </a:r>
            <a:r>
              <a:rPr lang="en-US" dirty="0" smtClean="0"/>
              <a:t>flow</a:t>
            </a:r>
            <a:r>
              <a:rPr lang="en-US" dirty="0"/>
              <a:t> </a:t>
            </a:r>
            <a:r>
              <a:rPr lang="en-US" dirty="0" smtClean="0"/>
              <a:t>such </a:t>
            </a:r>
            <a:r>
              <a:rPr lang="en-US" dirty="0"/>
              <a:t>that everyone's demand is met (exactly), while incurring the minimum total </a:t>
            </a:r>
            <a:r>
              <a:rPr lang="en-US" dirty="0" smtClean="0"/>
              <a:t>transportation cost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85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741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SURVEY DESIGN</vt:lpstr>
      <vt:lpstr>PowerPoint Presentation</vt:lpstr>
      <vt:lpstr>PowerPoint Presentation</vt:lpstr>
      <vt:lpstr>PowerPoint Presentation</vt:lpstr>
      <vt:lpstr>PowerPoint Presentation</vt:lpstr>
      <vt:lpstr>Analyzing the Algorithm</vt:lpstr>
      <vt:lpstr>PowerPoint Presentation</vt:lpstr>
      <vt:lpstr>PowerPoint Presentation</vt:lpstr>
    </vt:vector>
  </TitlesOfParts>
  <Company>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CSE-PG</dc:creator>
  <cp:lastModifiedBy>ADMIN</cp:lastModifiedBy>
  <cp:revision>15</cp:revision>
  <dcterms:created xsi:type="dcterms:W3CDTF">2015-04-28T03:33:04Z</dcterms:created>
  <dcterms:modified xsi:type="dcterms:W3CDTF">2023-07-18T06:26:21Z</dcterms:modified>
</cp:coreProperties>
</file>