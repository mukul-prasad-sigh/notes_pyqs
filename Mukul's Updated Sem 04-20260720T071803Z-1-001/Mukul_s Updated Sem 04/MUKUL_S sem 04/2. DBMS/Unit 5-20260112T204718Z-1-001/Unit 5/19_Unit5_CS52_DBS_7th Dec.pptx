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16"/>
  </p:notesMasterIdLst>
  <p:sldIdLst>
    <p:sldId id="511" r:id="rId2"/>
    <p:sldId id="512" r:id="rId3"/>
    <p:sldId id="513" r:id="rId4"/>
    <p:sldId id="514" r:id="rId5"/>
    <p:sldId id="515" r:id="rId6"/>
    <p:sldId id="516" r:id="rId7"/>
    <p:sldId id="517" r:id="rId8"/>
    <p:sldId id="518" r:id="rId9"/>
    <p:sldId id="519" r:id="rId10"/>
    <p:sldId id="520" r:id="rId11"/>
    <p:sldId id="521" r:id="rId12"/>
    <p:sldId id="522" r:id="rId13"/>
    <p:sldId id="523" r:id="rId14"/>
    <p:sldId id="50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38" autoAdjust="0"/>
    <p:restoredTop sz="94660"/>
  </p:normalViewPr>
  <p:slideViewPr>
    <p:cSldViewPr snapToGrid="0">
      <p:cViewPr varScale="1">
        <p:scale>
          <a:sx n="85" d="100"/>
          <a:sy n="85" d="100"/>
        </p:scale>
        <p:origin x="509"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2243F0-1FB2-41E4-961B-8CAB2AED1024}" type="datetimeFigureOut">
              <a:rPr lang="en-IN" smtClean="0"/>
              <a:pPr/>
              <a:t>06-02-2023</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F20133-9643-4EF8-94CA-FEF99B36DC3F}" type="slidenum">
              <a:rPr lang="en-IN" smtClean="0"/>
              <a:pPr/>
              <a:t>‹#›</a:t>
            </a:fld>
            <a:endParaRPr lang="en-IN" dirty="0"/>
          </a:p>
        </p:txBody>
      </p:sp>
    </p:spTree>
    <p:extLst>
      <p:ext uri="{BB962C8B-B14F-4D97-AF65-F5344CB8AC3E}">
        <p14:creationId xmlns:p14="http://schemas.microsoft.com/office/powerpoint/2010/main" val="1244009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256C71C-DD17-4D16-9317-988387CEA99A}" type="slidenum">
              <a:rPr lang="en-CA" smtClean="0">
                <a:latin typeface="Tahoma" panose="020B0604030504040204" pitchFamily="34" charset="0"/>
              </a:rPr>
              <a:pPr>
                <a:spcBef>
                  <a:spcPct val="0"/>
                </a:spcBef>
              </a:pPr>
              <a:t>1</a:t>
            </a:fld>
            <a:endParaRPr lang="en-CA">
              <a:latin typeface="Tahoma" panose="020B060403050404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25104305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5A8F43D-1134-4044-8507-EAFCBB802BA0}" type="slidenum">
              <a:rPr lang="en-CA" smtClean="0">
                <a:latin typeface="Tahoma" panose="020B0604030504040204" pitchFamily="34" charset="0"/>
              </a:rPr>
              <a:pPr>
                <a:spcBef>
                  <a:spcPct val="0"/>
                </a:spcBef>
              </a:pPr>
              <a:t>2</a:t>
            </a:fld>
            <a:endParaRPr lang="en-CA">
              <a:latin typeface="Tahoma" panose="020B060403050404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6184327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BAE090-5E39-42A0-B812-F4F5DA35D5CE}" type="slidenum">
              <a:rPr lang="en-CA" smtClean="0">
                <a:latin typeface="Tahoma" panose="020B0604030504040204" pitchFamily="34" charset="0"/>
              </a:rPr>
              <a:pPr>
                <a:spcBef>
                  <a:spcPct val="0"/>
                </a:spcBef>
              </a:pPr>
              <a:t>3</a:t>
            </a:fld>
            <a:endParaRPr lang="en-CA">
              <a:latin typeface="Tahoma" panose="020B060403050404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23204278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0C15187-7BE7-4400-9F09-0BE0E9C72BB6}" type="slidenum">
              <a:rPr lang="en-CA" smtClean="0">
                <a:latin typeface="Tahoma" panose="020B0604030504040204" pitchFamily="34" charset="0"/>
              </a:rPr>
              <a:pPr>
                <a:spcBef>
                  <a:spcPct val="0"/>
                </a:spcBef>
              </a:pPr>
              <a:t>4</a:t>
            </a:fld>
            <a:endParaRPr lang="en-CA">
              <a:latin typeface="Tahoma" panose="020B060403050404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1828223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93615F-05F5-4609-9913-A35273420E6A}" type="slidenum">
              <a:rPr lang="en-CA" smtClean="0">
                <a:latin typeface="Tahoma" panose="020B0604030504040204" pitchFamily="34" charset="0"/>
              </a:rPr>
              <a:pPr>
                <a:spcBef>
                  <a:spcPct val="0"/>
                </a:spcBef>
              </a:pPr>
              <a:t>5</a:t>
            </a:fld>
            <a:endParaRPr lang="en-CA">
              <a:latin typeface="Tahoma" panose="020B060403050404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21273597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C256C71C-DD17-4D16-9317-988387CEA99A}" type="slidenum">
              <a:rPr lang="en-CA" smtClean="0">
                <a:latin typeface="Tahoma" panose="020B0604030504040204" pitchFamily="34" charset="0"/>
              </a:rPr>
              <a:pPr>
                <a:spcBef>
                  <a:spcPct val="0"/>
                </a:spcBef>
              </a:pPr>
              <a:t>6</a:t>
            </a:fld>
            <a:endParaRPr lang="en-CA">
              <a:latin typeface="Tahoma" panose="020B0604030504040204" pitchFamily="34" charset="0"/>
            </a:endParaRPr>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122828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5A8F43D-1134-4044-8507-EAFCBB802BA0}" type="slidenum">
              <a:rPr lang="en-CA" smtClean="0">
                <a:latin typeface="Tahoma" panose="020B0604030504040204" pitchFamily="34" charset="0"/>
              </a:rPr>
              <a:pPr>
                <a:spcBef>
                  <a:spcPct val="0"/>
                </a:spcBef>
              </a:pPr>
              <a:t>7</a:t>
            </a:fld>
            <a:endParaRPr lang="en-CA">
              <a:latin typeface="Tahoma" panose="020B0604030504040204" pitchFamily="34" charset="0"/>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6539273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3BAE090-5E39-42A0-B812-F4F5DA35D5CE}" type="slidenum">
              <a:rPr lang="en-CA" smtClean="0">
                <a:latin typeface="Tahoma" panose="020B0604030504040204" pitchFamily="34" charset="0"/>
              </a:rPr>
              <a:pPr>
                <a:spcBef>
                  <a:spcPct val="0"/>
                </a:spcBef>
              </a:pPr>
              <a:t>8</a:t>
            </a:fld>
            <a:endParaRPr lang="en-CA">
              <a:latin typeface="Tahoma" panose="020B0604030504040204" pitchFamily="34" charset="0"/>
            </a:endParaRPr>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2478161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0C15187-7BE7-4400-9F09-0BE0E9C72BB6}" type="slidenum">
              <a:rPr lang="en-CA" smtClean="0">
                <a:latin typeface="Tahoma" panose="020B0604030504040204" pitchFamily="34" charset="0"/>
              </a:rPr>
              <a:pPr>
                <a:spcBef>
                  <a:spcPct val="0"/>
                </a:spcBef>
              </a:pPr>
              <a:t>9</a:t>
            </a:fld>
            <a:endParaRPr lang="en-CA">
              <a:latin typeface="Tahoma" panose="020B0604030504040204" pitchFamily="34" charset="0"/>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7684259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6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293615F-05F5-4609-9913-A35273420E6A}" type="slidenum">
              <a:rPr lang="en-CA" smtClean="0">
                <a:latin typeface="Tahoma" panose="020B0604030504040204" pitchFamily="34" charset="0"/>
              </a:rPr>
              <a:pPr>
                <a:spcBef>
                  <a:spcPct val="0"/>
                </a:spcBef>
              </a:pPr>
              <a:t>10</a:t>
            </a:fld>
            <a:endParaRPr lang="en-CA">
              <a:latin typeface="Tahoma" panose="020B0604030504040204" pitchFamily="34" charset="0"/>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z="1800">
              <a:latin typeface="Arial" panose="020B0604020202020204" pitchFamily="34" charset="0"/>
            </a:endParaRPr>
          </a:p>
        </p:txBody>
      </p:sp>
    </p:spTree>
    <p:extLst>
      <p:ext uri="{BB962C8B-B14F-4D97-AF65-F5344CB8AC3E}">
        <p14:creationId xmlns:p14="http://schemas.microsoft.com/office/powerpoint/2010/main" val="34353747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7F0CD6D-5F12-476E-8453-3D311B450A4E}" type="datetime8">
              <a:rPr lang="en-IN" smtClean="0"/>
              <a:t>06-02-2023 09:17</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id="{C728CEA0-BA7F-4BA3-B201-6B7A8B3DF1C4}"/>
              </a:ext>
            </a:extLst>
          </p:cNvPr>
          <p:cNvPicPr>
            <a:picLocks noChangeAspect="1" noChangeArrowheads="1"/>
          </p:cNvPicPr>
          <p:nvPr userDrawn="1"/>
        </p:nvPicPr>
        <p:blipFill>
          <a:blip r:embed="rId2" cstate="print"/>
          <a:srcRect/>
          <a:stretch>
            <a:fillRect/>
          </a:stretch>
        </p:blipFill>
        <p:spPr bwMode="auto">
          <a:xfrm>
            <a:off x="0" y="-62028"/>
            <a:ext cx="2438400" cy="977205"/>
          </a:xfrm>
          <a:prstGeom prst="rect">
            <a:avLst/>
          </a:prstGeom>
          <a:noFill/>
        </p:spPr>
      </p:pic>
    </p:spTree>
    <p:extLst>
      <p:ext uri="{BB962C8B-B14F-4D97-AF65-F5344CB8AC3E}">
        <p14:creationId xmlns:p14="http://schemas.microsoft.com/office/powerpoint/2010/main" val="384780520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CBBB6A-63CD-4A58-A542-EE5E1DBEA869}" type="datetime8">
              <a:rPr lang="en-IN" smtClean="0"/>
              <a:t>06-02-2023 09:17</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id="{5E2C67C7-C385-4A44-A78F-D95F8B32544D}"/>
              </a:ext>
            </a:extLst>
          </p:cNvPr>
          <p:cNvPicPr>
            <a:picLocks noChangeAspect="1" noChangeArrowheads="1"/>
          </p:cNvPicPr>
          <p:nvPr userDrawn="1"/>
        </p:nvPicPr>
        <p:blipFill>
          <a:blip r:embed="rId2" cstate="print"/>
          <a:srcRect/>
          <a:stretch>
            <a:fillRect/>
          </a:stretch>
        </p:blipFill>
        <p:spPr bwMode="auto">
          <a:xfrm>
            <a:off x="175575" y="33090"/>
            <a:ext cx="2438400" cy="977205"/>
          </a:xfrm>
          <a:prstGeom prst="rect">
            <a:avLst/>
          </a:prstGeom>
          <a:noFill/>
        </p:spPr>
      </p:pic>
    </p:spTree>
    <p:extLst>
      <p:ext uri="{BB962C8B-B14F-4D97-AF65-F5344CB8AC3E}">
        <p14:creationId xmlns:p14="http://schemas.microsoft.com/office/powerpoint/2010/main" val="37809291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2442C8A-CD12-4DFD-ABE8-8CF3B1F53511}" type="datetime8">
              <a:rPr lang="en-IN" smtClean="0"/>
              <a:t>06-02-2023 09:17</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1" name="Picture 2" descr="C:\Users\Srinidhi\Desktop\logo.png">
            <a:extLst>
              <a:ext uri="{FF2B5EF4-FFF2-40B4-BE49-F238E27FC236}">
                <a16:creationId xmlns:a16="http://schemas.microsoft.com/office/drawing/2014/main" id="{6E4AAF7F-3876-4F6B-8901-E7673BBFDB22}"/>
              </a:ext>
            </a:extLst>
          </p:cNvPr>
          <p:cNvPicPr>
            <a:picLocks noChangeAspect="1" noChangeArrowheads="1"/>
          </p:cNvPicPr>
          <p:nvPr userDrawn="1"/>
        </p:nvPicPr>
        <p:blipFill>
          <a:blip r:embed="rId2" cstate="print"/>
          <a:srcRect/>
          <a:stretch>
            <a:fillRect/>
          </a:stretch>
        </p:blipFill>
        <p:spPr bwMode="auto">
          <a:xfrm>
            <a:off x="128441" y="33090"/>
            <a:ext cx="2438400" cy="977205"/>
          </a:xfrm>
          <a:prstGeom prst="rect">
            <a:avLst/>
          </a:prstGeom>
          <a:noFill/>
        </p:spPr>
      </p:pic>
    </p:spTree>
    <p:extLst>
      <p:ext uri="{BB962C8B-B14F-4D97-AF65-F5344CB8AC3E}">
        <p14:creationId xmlns:p14="http://schemas.microsoft.com/office/powerpoint/2010/main" val="1897998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224554-EC08-4A9A-B955-1CE402443775}" type="datetime8">
              <a:rPr lang="en-IN" smtClean="0"/>
              <a:t>06-02-2023 09:17</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id="{EF3C39C1-9BAB-4C45-A144-CF8BF2E72B4B}"/>
              </a:ext>
            </a:extLst>
          </p:cNvPr>
          <p:cNvPicPr>
            <a:picLocks noChangeAspect="1" noChangeArrowheads="1"/>
          </p:cNvPicPr>
          <p:nvPr userDrawn="1"/>
        </p:nvPicPr>
        <p:blipFill>
          <a:blip r:embed="rId2" cstate="print"/>
          <a:srcRect/>
          <a:stretch>
            <a:fillRect/>
          </a:stretch>
        </p:blipFill>
        <p:spPr bwMode="auto">
          <a:xfrm>
            <a:off x="0" y="-29189"/>
            <a:ext cx="2438400" cy="977205"/>
          </a:xfrm>
          <a:prstGeom prst="rect">
            <a:avLst/>
          </a:prstGeom>
          <a:noFill/>
        </p:spPr>
      </p:pic>
    </p:spTree>
    <p:extLst>
      <p:ext uri="{BB962C8B-B14F-4D97-AF65-F5344CB8AC3E}">
        <p14:creationId xmlns:p14="http://schemas.microsoft.com/office/powerpoint/2010/main" val="92344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DB3C8-7270-4E63-BAFF-F61146C872A9}" type="datetime8">
              <a:rPr lang="en-IN" smtClean="0"/>
              <a:t>06-02-2023 09:17</a:t>
            </a:fld>
            <a:endParaRPr lang="en-IN" dirty="0"/>
          </a:p>
        </p:txBody>
      </p:sp>
      <p:sp>
        <p:nvSpPr>
          <p:cNvPr id="8" name="Footer Placeholder 7"/>
          <p:cNvSpPr>
            <a:spLocks noGrp="1"/>
          </p:cNvSpPr>
          <p:nvPr>
            <p:ph type="ftr" sz="quarter" idx="11"/>
          </p:nvPr>
        </p:nvSpPr>
        <p:spPr/>
        <p:txBody>
          <a:body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id="{1B300F68-EEC8-479F-89B4-B66DB0F421A6}"/>
              </a:ext>
            </a:extLst>
          </p:cNvPr>
          <p:cNvPicPr>
            <a:picLocks noChangeAspect="1" noChangeArrowheads="1"/>
          </p:cNvPicPr>
          <p:nvPr userDrawn="1"/>
        </p:nvPicPr>
        <p:blipFill>
          <a:blip r:embed="rId2" cstate="print"/>
          <a:srcRect/>
          <a:stretch>
            <a:fillRect/>
          </a:stretch>
        </p:blipFill>
        <p:spPr bwMode="auto">
          <a:xfrm>
            <a:off x="119013" y="12104"/>
            <a:ext cx="2438400" cy="977205"/>
          </a:xfrm>
          <a:prstGeom prst="rect">
            <a:avLst/>
          </a:prstGeom>
          <a:noFill/>
        </p:spPr>
      </p:pic>
    </p:spTree>
    <p:extLst>
      <p:ext uri="{BB962C8B-B14F-4D97-AF65-F5344CB8AC3E}">
        <p14:creationId xmlns:p14="http://schemas.microsoft.com/office/powerpoint/2010/main" val="29081090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9E7326-4BB3-4EF7-A825-D7B8443422EC}" type="datetime8">
              <a:rPr lang="en-IN" smtClean="0"/>
              <a:t>06-02-2023 09:17</a:t>
            </a:fld>
            <a:endParaRPr lang="en-IN" dirty="0"/>
          </a:p>
        </p:txBody>
      </p:sp>
      <p:sp>
        <p:nvSpPr>
          <p:cNvPr id="4" name="Footer Placeholder 3"/>
          <p:cNvSpPr>
            <a:spLocks noGrp="1"/>
          </p:cNvSpPr>
          <p:nvPr>
            <p:ph type="ftr" sz="quarter" idx="11"/>
          </p:nvPr>
        </p:nvSpPr>
        <p:spPr/>
        <p:txBody>
          <a:bodyPr/>
          <a:lstStyle/>
          <a:p>
            <a:r>
              <a:rPr lang="en-US" dirty="0"/>
              <a:t>Department of Computer Science and Engineering</a:t>
            </a:r>
            <a:endParaRPr lang="en-IN" dirty="0"/>
          </a:p>
        </p:txBody>
      </p:sp>
      <p:sp>
        <p:nvSpPr>
          <p:cNvPr id="5" name="Slide Number Placeholder 4"/>
          <p:cNvSpPr>
            <a:spLocks noGrp="1"/>
          </p:cNvSpPr>
          <p:nvPr>
            <p:ph type="sldNum" sz="quarter" idx="12"/>
          </p:nvPr>
        </p:nvSpPr>
        <p:spPr/>
        <p:txBody>
          <a:bodyPr/>
          <a:lstStyle/>
          <a:p>
            <a:fld id="{1245FD78-8DE1-44B0-BD44-E067D054697C}" type="slidenum">
              <a:rPr lang="en-IN" smtClean="0"/>
              <a:pPr/>
              <a:t>‹#›</a:t>
            </a:fld>
            <a:endParaRPr lang="en-IN" dirty="0"/>
          </a:p>
        </p:txBody>
      </p:sp>
      <p:pic>
        <p:nvPicPr>
          <p:cNvPr id="7" name="Picture 2" descr="C:\Users\Srinidhi\Desktop\logo.png">
            <a:extLst>
              <a:ext uri="{FF2B5EF4-FFF2-40B4-BE49-F238E27FC236}">
                <a16:creationId xmlns:a16="http://schemas.microsoft.com/office/drawing/2014/main" id="{6720B71A-9CF9-4970-96CA-352F2D5F33C5}"/>
              </a:ext>
            </a:extLst>
          </p:cNvPr>
          <p:cNvPicPr>
            <a:picLocks noChangeAspect="1" noChangeArrowheads="1"/>
          </p:cNvPicPr>
          <p:nvPr userDrawn="1"/>
        </p:nvPicPr>
        <p:blipFill>
          <a:blip r:embed="rId2" cstate="print"/>
          <a:srcRect/>
          <a:stretch>
            <a:fillRect/>
          </a:stretch>
        </p:blipFill>
        <p:spPr bwMode="auto">
          <a:xfrm>
            <a:off x="260415" y="34776"/>
            <a:ext cx="2438400" cy="977205"/>
          </a:xfrm>
          <a:prstGeom prst="rect">
            <a:avLst/>
          </a:prstGeom>
          <a:noFill/>
        </p:spPr>
      </p:pic>
    </p:spTree>
    <p:extLst>
      <p:ext uri="{BB962C8B-B14F-4D97-AF65-F5344CB8AC3E}">
        <p14:creationId xmlns:p14="http://schemas.microsoft.com/office/powerpoint/2010/main" val="6764992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6AE9CBBB-99BF-46C2-A597-705C3E515BE3}" type="datetime8">
              <a:rPr lang="en-IN" smtClean="0"/>
              <a:t>06-02-2023 09:17</a:t>
            </a:fld>
            <a:endParaRPr lang="en-IN"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dirty="0"/>
              <a:t>Department of Computer Science and Engineering</a:t>
            </a:r>
            <a:endParaRPr lang="en-IN" dirty="0"/>
          </a:p>
        </p:txBody>
      </p:sp>
      <p:sp>
        <p:nvSpPr>
          <p:cNvPr id="9" name="Slide Number Placeholder 8"/>
          <p:cNvSpPr>
            <a:spLocks noGrp="1"/>
          </p:cNvSpPr>
          <p:nvPr>
            <p:ph type="sldNum" sz="quarter" idx="12"/>
          </p:nvPr>
        </p:nvSpPr>
        <p:spPr/>
        <p:txBody>
          <a:bodyPr/>
          <a:lstStyle/>
          <a:p>
            <a:fld id="{1245FD78-8DE1-44B0-BD44-E067D054697C}" type="slidenum">
              <a:rPr lang="en-IN" smtClean="0"/>
              <a:pPr/>
              <a:t>‹#›</a:t>
            </a:fld>
            <a:endParaRPr lang="en-IN" dirty="0"/>
          </a:p>
        </p:txBody>
      </p:sp>
      <p:pic>
        <p:nvPicPr>
          <p:cNvPr id="2" name="Picture 2" descr="C:\Users\Srinidhi\Desktop\logo.png">
            <a:extLst>
              <a:ext uri="{FF2B5EF4-FFF2-40B4-BE49-F238E27FC236}">
                <a16:creationId xmlns:a16="http://schemas.microsoft.com/office/drawing/2014/main" id="{7393EDB9-65C6-42AA-B582-C92413F0DE59}"/>
              </a:ext>
            </a:extLst>
          </p:cNvPr>
          <p:cNvPicPr>
            <a:picLocks noChangeAspect="1" noChangeArrowheads="1"/>
          </p:cNvPicPr>
          <p:nvPr userDrawn="1"/>
        </p:nvPicPr>
        <p:blipFill>
          <a:blip r:embed="rId2" cstate="print"/>
          <a:srcRect/>
          <a:stretch>
            <a:fillRect/>
          </a:stretch>
        </p:blipFill>
        <p:spPr bwMode="auto">
          <a:xfrm>
            <a:off x="137867" y="0"/>
            <a:ext cx="2438400" cy="977205"/>
          </a:xfrm>
          <a:prstGeom prst="rect">
            <a:avLst/>
          </a:prstGeom>
          <a:noFill/>
        </p:spPr>
      </p:pic>
    </p:spTree>
    <p:extLst>
      <p:ext uri="{BB962C8B-B14F-4D97-AF65-F5344CB8AC3E}">
        <p14:creationId xmlns:p14="http://schemas.microsoft.com/office/powerpoint/2010/main" val="2740474254"/>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5F2DF96F-D195-4D32-A22A-EB824CFB176E}" type="datetime8">
              <a:rPr lang="en-IN" smtClean="0"/>
              <a:t>06-02-2023 09:17</a:t>
            </a:fld>
            <a:endParaRPr lang="en-IN"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r>
              <a:rPr lang="en-US" dirty="0"/>
              <a:t>Department of Computer Science and Engineering</a:t>
            </a:r>
            <a:endParaRPr lang="en-IN"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id="{6BF8E43F-406B-489A-A07B-CBBB6CD8B66C}"/>
              </a:ext>
            </a:extLst>
          </p:cNvPr>
          <p:cNvPicPr>
            <a:picLocks noChangeAspect="1" noChangeArrowheads="1"/>
          </p:cNvPicPr>
          <p:nvPr userDrawn="1"/>
        </p:nvPicPr>
        <p:blipFill>
          <a:blip r:embed="rId2" cstate="print"/>
          <a:srcRect/>
          <a:stretch>
            <a:fillRect/>
          </a:stretch>
        </p:blipFill>
        <p:spPr bwMode="auto">
          <a:xfrm>
            <a:off x="74729" y="-48825"/>
            <a:ext cx="2438400" cy="977205"/>
          </a:xfrm>
          <a:prstGeom prst="rect">
            <a:avLst/>
          </a:prstGeom>
          <a:noFill/>
        </p:spPr>
      </p:pic>
    </p:spTree>
    <p:extLst>
      <p:ext uri="{BB962C8B-B14F-4D97-AF65-F5344CB8AC3E}">
        <p14:creationId xmlns:p14="http://schemas.microsoft.com/office/powerpoint/2010/main" val="823331611"/>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4C0490D-FF02-4389-90FD-819CA8976B9B}" type="datetime8">
              <a:rPr lang="en-IN" smtClean="0"/>
              <a:t>06-02-2023 09:17</a:t>
            </a:fld>
            <a:endParaRPr lang="en-IN" dirty="0"/>
          </a:p>
        </p:txBody>
      </p:sp>
      <p:sp>
        <p:nvSpPr>
          <p:cNvPr id="6" name="Footer Placeholder 5"/>
          <p:cNvSpPr>
            <a:spLocks noGrp="1"/>
          </p:cNvSpPr>
          <p:nvPr>
            <p:ph type="ftr" sz="quarter" idx="11"/>
          </p:nvPr>
        </p:nvSpPr>
        <p:spPr/>
        <p:txBody>
          <a:bodyPr/>
          <a:lstStyle/>
          <a:p>
            <a:r>
              <a:rPr lang="en-US" dirty="0"/>
              <a:t>Department of Computer Science and Engineering</a:t>
            </a:r>
          </a:p>
        </p:txBody>
      </p:sp>
      <p:sp>
        <p:nvSpPr>
          <p:cNvPr id="7" name="Slide Number Placeholder 6"/>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1" name="Picture 2" descr="C:\Users\Srinidhi\Desktop\logo.png">
            <a:extLst>
              <a:ext uri="{FF2B5EF4-FFF2-40B4-BE49-F238E27FC236}">
                <a16:creationId xmlns:a16="http://schemas.microsoft.com/office/drawing/2014/main" id="{8D7279E7-0A06-4D9D-B018-700B7F4A3314}"/>
              </a:ext>
            </a:extLst>
          </p:cNvPr>
          <p:cNvPicPr>
            <a:picLocks noChangeAspect="1" noChangeArrowheads="1"/>
          </p:cNvPicPr>
          <p:nvPr userDrawn="1"/>
        </p:nvPicPr>
        <p:blipFill>
          <a:blip r:embed="rId3" cstate="print"/>
          <a:srcRect/>
          <a:stretch>
            <a:fillRect/>
          </a:stretch>
        </p:blipFill>
        <p:spPr bwMode="auto">
          <a:xfrm>
            <a:off x="0" y="33090"/>
            <a:ext cx="2438400" cy="977205"/>
          </a:xfrm>
          <a:prstGeom prst="rect">
            <a:avLst/>
          </a:prstGeom>
          <a:noFill/>
        </p:spPr>
      </p:pic>
    </p:spTree>
    <p:extLst>
      <p:ext uri="{BB962C8B-B14F-4D97-AF65-F5344CB8AC3E}">
        <p14:creationId xmlns:p14="http://schemas.microsoft.com/office/powerpoint/2010/main" val="3223777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D9A8DE7-22DF-4C71-8810-45CE4D417C2D}" type="datetime8">
              <a:rPr lang="en-IN" smtClean="0"/>
              <a:t>06-02-2023 09:17</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8" name="Picture 2" descr="C:\Users\Srinidhi\Desktop\logo.png">
            <a:extLst>
              <a:ext uri="{FF2B5EF4-FFF2-40B4-BE49-F238E27FC236}">
                <a16:creationId xmlns:a16="http://schemas.microsoft.com/office/drawing/2014/main" id="{2BFF8954-070D-4352-AC3E-DD7D500D0A59}"/>
              </a:ext>
            </a:extLst>
          </p:cNvPr>
          <p:cNvPicPr>
            <a:picLocks noChangeAspect="1" noChangeArrowheads="1"/>
          </p:cNvPicPr>
          <p:nvPr userDrawn="1"/>
        </p:nvPicPr>
        <p:blipFill>
          <a:blip r:embed="rId2" cstate="print"/>
          <a:srcRect/>
          <a:stretch>
            <a:fillRect/>
          </a:stretch>
        </p:blipFill>
        <p:spPr bwMode="auto">
          <a:xfrm>
            <a:off x="213281" y="33090"/>
            <a:ext cx="2438400" cy="977205"/>
          </a:xfrm>
          <a:prstGeom prst="rect">
            <a:avLst/>
          </a:prstGeom>
          <a:noFill/>
        </p:spPr>
      </p:pic>
    </p:spTree>
    <p:extLst>
      <p:ext uri="{BB962C8B-B14F-4D97-AF65-F5344CB8AC3E}">
        <p14:creationId xmlns:p14="http://schemas.microsoft.com/office/powerpoint/2010/main" val="3266751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95C541-F4E6-4488-B462-EF7A047E4C61}" type="datetime8">
              <a:rPr lang="en-IN" smtClean="0"/>
              <a:t>06-02-2023 09:17</a:t>
            </a:fld>
            <a:endParaRPr lang="en-IN" dirty="0"/>
          </a:p>
        </p:txBody>
      </p:sp>
      <p:sp>
        <p:nvSpPr>
          <p:cNvPr id="5" name="Footer Placeholder 4"/>
          <p:cNvSpPr>
            <a:spLocks noGrp="1"/>
          </p:cNvSpPr>
          <p:nvPr>
            <p:ph type="ftr" sz="quarter" idx="11"/>
          </p:nvPr>
        </p:nvSpPr>
        <p:spPr/>
        <p:txBody>
          <a:bodyPr/>
          <a:lstStyle/>
          <a:p>
            <a:r>
              <a:rPr lang="en-US" dirty="0"/>
              <a:t>Department of Computer Science and Engineering</a:t>
            </a:r>
            <a:endParaRPr lang="en-IN" dirty="0"/>
          </a:p>
        </p:txBody>
      </p:sp>
      <p:sp>
        <p:nvSpPr>
          <p:cNvPr id="6" name="Slide Number Placeholder 5"/>
          <p:cNvSpPr>
            <a:spLocks noGrp="1"/>
          </p:cNvSpPr>
          <p:nvPr>
            <p:ph type="sldNum" sz="quarter" idx="12"/>
          </p:nvPr>
        </p:nvSpPr>
        <p:spPr/>
        <p:txBody>
          <a:bodyPr/>
          <a:lstStyle/>
          <a:p>
            <a:fld id="{1245FD78-8DE1-44B0-BD44-E067D054697C}" type="slidenum">
              <a:rPr lang="en-IN" smtClean="0"/>
              <a:pPr/>
              <a:t>‹#›</a:t>
            </a:fld>
            <a:endParaRPr lang="en-IN" dirty="0"/>
          </a:p>
        </p:txBody>
      </p:sp>
      <p:pic>
        <p:nvPicPr>
          <p:cNvPr id="10" name="Picture 2" descr="C:\Users\Srinidhi\Desktop\logo.png">
            <a:extLst>
              <a:ext uri="{FF2B5EF4-FFF2-40B4-BE49-F238E27FC236}">
                <a16:creationId xmlns:a16="http://schemas.microsoft.com/office/drawing/2014/main" id="{F8681246-1AFA-47C1-8723-E212F3BD6963}"/>
              </a:ext>
            </a:extLst>
          </p:cNvPr>
          <p:cNvPicPr>
            <a:picLocks noChangeAspect="1" noChangeArrowheads="1"/>
          </p:cNvPicPr>
          <p:nvPr userDrawn="1"/>
        </p:nvPicPr>
        <p:blipFill>
          <a:blip r:embed="rId2" cstate="print"/>
          <a:srcRect/>
          <a:stretch>
            <a:fillRect/>
          </a:stretch>
        </p:blipFill>
        <p:spPr bwMode="auto">
          <a:xfrm>
            <a:off x="0" y="-28927"/>
            <a:ext cx="2438400" cy="977205"/>
          </a:xfrm>
          <a:prstGeom prst="rect">
            <a:avLst/>
          </a:prstGeom>
          <a:noFill/>
        </p:spPr>
      </p:pic>
    </p:spTree>
    <p:extLst>
      <p:ext uri="{BB962C8B-B14F-4D97-AF65-F5344CB8AC3E}">
        <p14:creationId xmlns:p14="http://schemas.microsoft.com/office/powerpoint/2010/main" val="11658831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47FF271-DAE5-45E4-9C4D-A89BEE8B6E22}" type="datetime8">
              <a:rPr lang="en-IN" smtClean="0"/>
              <a:t>06-02-2023 09:17</a:t>
            </a:fld>
            <a:endParaRPr lang="en-IN"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r>
              <a:rPr lang="en-US" dirty="0"/>
              <a:t>Department of Computer Science and Engineering</a:t>
            </a:r>
            <a:endParaRPr lang="en-IN"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245FD78-8DE1-44B0-BD44-E067D054697C}" type="slidenum">
              <a:rPr lang="en-IN" smtClean="0"/>
              <a:pPr/>
              <a:t>‹#›</a:t>
            </a:fld>
            <a:endParaRPr lang="en-IN"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223883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E3600BC4-A894-4C18-8858-84CEFFDF2C30}" type="slidenum">
              <a:rPr lang="en-US" sz="1400">
                <a:solidFill>
                  <a:srgbClr val="990033"/>
                </a:solidFill>
              </a:rPr>
              <a:pPr>
                <a:spcBef>
                  <a:spcPct val="0"/>
                </a:spcBef>
                <a:buClrTx/>
                <a:buSzTx/>
                <a:buFontTx/>
                <a:buNone/>
              </a:pPr>
              <a:t>1</a:t>
            </a:fld>
            <a:endParaRPr lang="en-CA" sz="1400">
              <a:solidFill>
                <a:srgbClr val="990033"/>
              </a:solidFill>
            </a:endParaRPr>
          </a:p>
        </p:txBody>
      </p:sp>
      <p:sp>
        <p:nvSpPr>
          <p:cNvPr id="59395" name="Rectangle 4"/>
          <p:cNvSpPr>
            <a:spLocks noGrp="1" noChangeArrowheads="1"/>
          </p:cNvSpPr>
          <p:nvPr>
            <p:ph type="title"/>
          </p:nvPr>
        </p:nvSpPr>
        <p:spPr>
          <a:xfrm>
            <a:off x="927279" y="303214"/>
            <a:ext cx="10998557" cy="992187"/>
          </a:xfrm>
        </p:spPr>
        <p:txBody>
          <a:bodyPr>
            <a:normAutofit fontScale="90000"/>
          </a:bodyPr>
          <a:lstStyle/>
          <a:p>
            <a:pPr eaLnBrk="1" hangingPunct="1"/>
            <a:r>
              <a:rPr lang="en-US" dirty="0"/>
              <a:t>Characterizing Schedules based on Recoverability</a:t>
            </a:r>
          </a:p>
        </p:txBody>
      </p:sp>
      <p:sp>
        <p:nvSpPr>
          <p:cNvPr id="59396" name="Rectangle 5"/>
          <p:cNvSpPr>
            <a:spLocks noGrp="1" noChangeArrowheads="1"/>
          </p:cNvSpPr>
          <p:nvPr>
            <p:ph type="body" idx="1"/>
          </p:nvPr>
        </p:nvSpPr>
        <p:spPr>
          <a:xfrm>
            <a:off x="1763714" y="1918952"/>
            <a:ext cx="8294687" cy="3938924"/>
          </a:xfrm>
        </p:spPr>
        <p:txBody>
          <a:bodyPr/>
          <a:lstStyle/>
          <a:p>
            <a:pPr eaLnBrk="1" hangingPunct="1">
              <a:lnSpc>
                <a:spcPct val="80000"/>
              </a:lnSpc>
            </a:pPr>
            <a:r>
              <a:rPr lang="en-US" sz="2400" b="1" dirty="0"/>
              <a:t>Transaction schedule or history</a:t>
            </a:r>
            <a:r>
              <a:rPr lang="en-US" sz="2400" dirty="0"/>
              <a:t>:</a:t>
            </a:r>
          </a:p>
          <a:p>
            <a:pPr lvl="1" eaLnBrk="1" hangingPunct="1">
              <a:lnSpc>
                <a:spcPct val="80000"/>
              </a:lnSpc>
            </a:pPr>
            <a:r>
              <a:rPr lang="en-US" sz="2100" dirty="0"/>
              <a:t>When transactions are executing </a:t>
            </a:r>
            <a:r>
              <a:rPr lang="en-US" sz="2100" b="1" dirty="0"/>
              <a:t>concurrently in an interleaved fashion, the order of execution of operations </a:t>
            </a:r>
            <a:r>
              <a:rPr lang="en-US" sz="2100" dirty="0"/>
              <a:t>from the various transactions forms what is known as a transaction schedule (or history). </a:t>
            </a:r>
          </a:p>
          <a:p>
            <a:pPr eaLnBrk="1" hangingPunct="1">
              <a:lnSpc>
                <a:spcPct val="80000"/>
              </a:lnSpc>
            </a:pPr>
            <a:r>
              <a:rPr lang="en-US" sz="2400" dirty="0"/>
              <a:t>A </a:t>
            </a:r>
            <a:r>
              <a:rPr lang="en-US" sz="2400" b="1" dirty="0"/>
              <a:t>schedule</a:t>
            </a:r>
            <a:r>
              <a:rPr lang="en-US" sz="2400" dirty="0"/>
              <a:t> (or </a:t>
            </a:r>
            <a:r>
              <a:rPr lang="en-US" sz="2400" b="1" dirty="0"/>
              <a:t>history</a:t>
            </a:r>
            <a:r>
              <a:rPr lang="en-US" sz="2400" dirty="0"/>
              <a:t>) S of n transactions T1, T2, …, </a:t>
            </a:r>
            <a:r>
              <a:rPr lang="en-US" sz="2400" dirty="0" err="1"/>
              <a:t>Tn</a:t>
            </a:r>
            <a:r>
              <a:rPr lang="en-US" sz="2400" dirty="0"/>
              <a:t>:</a:t>
            </a:r>
          </a:p>
          <a:p>
            <a:pPr lvl="1" eaLnBrk="1" hangingPunct="1">
              <a:lnSpc>
                <a:spcPct val="80000"/>
              </a:lnSpc>
            </a:pPr>
            <a:r>
              <a:rPr lang="en-US" sz="2100" dirty="0"/>
              <a:t>It is an </a:t>
            </a:r>
            <a:r>
              <a:rPr lang="en-US" sz="2100" b="1" dirty="0"/>
              <a:t>ordering of the operations </a:t>
            </a:r>
            <a:r>
              <a:rPr lang="en-US" sz="2100" dirty="0"/>
              <a:t>of the transactions subject to the constraint that, for each transaction Ti that participates in S, the operations of T1 in S must appear in the same order in which they occur in T1.</a:t>
            </a:r>
          </a:p>
          <a:p>
            <a:pPr lvl="1" eaLnBrk="1" hangingPunct="1">
              <a:lnSpc>
                <a:spcPct val="80000"/>
              </a:lnSpc>
            </a:pPr>
            <a:r>
              <a:rPr lang="en-US" sz="2100" dirty="0"/>
              <a:t>Note, however, that operations from other transactions </a:t>
            </a:r>
            <a:r>
              <a:rPr lang="en-US" sz="2100" dirty="0" err="1"/>
              <a:t>Tj</a:t>
            </a:r>
            <a:r>
              <a:rPr lang="en-US" sz="2100" dirty="0"/>
              <a:t> can be interleaved with the operations of Ti in S. </a:t>
            </a:r>
          </a:p>
        </p:txBody>
      </p:sp>
    </p:spTree>
    <p:extLst>
      <p:ext uri="{BB962C8B-B14F-4D97-AF65-F5344CB8AC3E}">
        <p14:creationId xmlns:p14="http://schemas.microsoft.com/office/powerpoint/2010/main" val="34458052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ED902C9E-EC52-418C-9662-68A6CAD3B53D}" type="slidenum">
              <a:rPr lang="en-US" sz="1400">
                <a:solidFill>
                  <a:srgbClr val="990033"/>
                </a:solidFill>
              </a:rPr>
              <a:pPr>
                <a:spcBef>
                  <a:spcPct val="0"/>
                </a:spcBef>
                <a:buClrTx/>
                <a:buSzTx/>
                <a:buFontTx/>
                <a:buNone/>
              </a:pPr>
              <a:t>2</a:t>
            </a:fld>
            <a:endParaRPr lang="en-CA" sz="1400">
              <a:solidFill>
                <a:srgbClr val="990033"/>
              </a:solidFill>
            </a:endParaRPr>
          </a:p>
        </p:txBody>
      </p:sp>
      <p:sp>
        <p:nvSpPr>
          <p:cNvPr id="61443" name="Rectangle 4"/>
          <p:cNvSpPr>
            <a:spLocks noGrp="1" noChangeArrowheads="1"/>
          </p:cNvSpPr>
          <p:nvPr>
            <p:ph type="title"/>
          </p:nvPr>
        </p:nvSpPr>
        <p:spPr>
          <a:xfrm>
            <a:off x="206062" y="286603"/>
            <a:ext cx="11985938" cy="1450757"/>
          </a:xfrm>
        </p:spPr>
        <p:txBody>
          <a:bodyPr/>
          <a:lstStyle/>
          <a:p>
            <a:pPr eaLnBrk="1" hangingPunct="1"/>
            <a:r>
              <a:rPr lang="en-US" dirty="0"/>
              <a:t>Characterizing Schedules based on Recoverability</a:t>
            </a:r>
          </a:p>
        </p:txBody>
      </p:sp>
      <p:sp>
        <p:nvSpPr>
          <p:cNvPr id="61444" name="Rectangle 5"/>
          <p:cNvSpPr>
            <a:spLocks noGrp="1" noChangeArrowheads="1"/>
          </p:cNvSpPr>
          <p:nvPr>
            <p:ph type="body" idx="1"/>
          </p:nvPr>
        </p:nvSpPr>
        <p:spPr>
          <a:xfrm>
            <a:off x="1763714" y="2202287"/>
            <a:ext cx="8294687" cy="3969914"/>
          </a:xfrm>
        </p:spPr>
        <p:txBody>
          <a:bodyPr/>
          <a:lstStyle/>
          <a:p>
            <a:pPr eaLnBrk="1" hangingPunct="1">
              <a:lnSpc>
                <a:spcPct val="80000"/>
              </a:lnSpc>
              <a:buFont typeface="Wingdings" panose="05000000000000000000" pitchFamily="2" charset="2"/>
              <a:buNone/>
            </a:pPr>
            <a:r>
              <a:rPr lang="en-US" dirty="0"/>
              <a:t>Schedules classified on recoverability:</a:t>
            </a:r>
          </a:p>
          <a:p>
            <a:pPr eaLnBrk="1" hangingPunct="1">
              <a:lnSpc>
                <a:spcPct val="80000"/>
              </a:lnSpc>
            </a:pPr>
            <a:r>
              <a:rPr lang="en-US" b="1" dirty="0"/>
              <a:t>Recoverable schedule</a:t>
            </a:r>
            <a:r>
              <a:rPr lang="en-US" dirty="0"/>
              <a:t>:</a:t>
            </a:r>
          </a:p>
          <a:p>
            <a:pPr lvl="1" eaLnBrk="1" hangingPunct="1">
              <a:lnSpc>
                <a:spcPct val="80000"/>
              </a:lnSpc>
            </a:pPr>
            <a:r>
              <a:rPr lang="en-US" sz="2800" dirty="0"/>
              <a:t>One where no transaction needs to be rolled back. </a:t>
            </a:r>
          </a:p>
          <a:p>
            <a:pPr lvl="1" eaLnBrk="1" hangingPunct="1">
              <a:lnSpc>
                <a:spcPct val="80000"/>
              </a:lnSpc>
            </a:pPr>
            <a:r>
              <a:rPr lang="en-US" sz="2800" dirty="0"/>
              <a:t>A schedule S is recoverable </a:t>
            </a:r>
            <a:r>
              <a:rPr lang="en-US" sz="2800" b="1" dirty="0"/>
              <a:t>if no transaction T in S commits </a:t>
            </a:r>
            <a:r>
              <a:rPr lang="en-US" sz="2800" dirty="0"/>
              <a:t>until all transactions T’ that have written an item that T reads have committed.</a:t>
            </a:r>
          </a:p>
          <a:p>
            <a:pPr eaLnBrk="1" hangingPunct="1">
              <a:lnSpc>
                <a:spcPct val="80000"/>
              </a:lnSpc>
            </a:pPr>
            <a:r>
              <a:rPr lang="en-US" b="1" dirty="0" err="1"/>
              <a:t>Cascadeless</a:t>
            </a:r>
            <a:r>
              <a:rPr lang="en-US" b="1" dirty="0"/>
              <a:t> schedule</a:t>
            </a:r>
            <a:r>
              <a:rPr lang="en-US" dirty="0"/>
              <a:t>:</a:t>
            </a:r>
          </a:p>
          <a:p>
            <a:pPr lvl="1" eaLnBrk="1" hangingPunct="1">
              <a:lnSpc>
                <a:spcPct val="80000"/>
              </a:lnSpc>
            </a:pPr>
            <a:r>
              <a:rPr lang="en-US" sz="2800" dirty="0"/>
              <a:t>One where </a:t>
            </a:r>
            <a:r>
              <a:rPr lang="en-US" sz="2800" b="1" dirty="0"/>
              <a:t>every transaction reads only  the items</a:t>
            </a:r>
            <a:r>
              <a:rPr lang="en-US" sz="2800" dirty="0"/>
              <a:t> that are </a:t>
            </a:r>
            <a:r>
              <a:rPr lang="en-US" sz="2800" b="1" dirty="0"/>
              <a:t>written by committed transactions.</a:t>
            </a:r>
          </a:p>
        </p:txBody>
      </p:sp>
    </p:spTree>
    <p:extLst>
      <p:ext uri="{BB962C8B-B14F-4D97-AF65-F5344CB8AC3E}">
        <p14:creationId xmlns:p14="http://schemas.microsoft.com/office/powerpoint/2010/main" val="1114491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6C19F83E-2A98-413E-B82E-5013ED98DCC3}" type="slidenum">
              <a:rPr lang="en-US" sz="1400">
                <a:solidFill>
                  <a:srgbClr val="990033"/>
                </a:solidFill>
              </a:rPr>
              <a:pPr>
                <a:spcBef>
                  <a:spcPct val="0"/>
                </a:spcBef>
                <a:buClrTx/>
                <a:buSzTx/>
                <a:buFontTx/>
                <a:buNone/>
              </a:pPr>
              <a:t>3</a:t>
            </a:fld>
            <a:endParaRPr lang="en-CA" sz="1400">
              <a:solidFill>
                <a:srgbClr val="990033"/>
              </a:solidFill>
            </a:endParaRPr>
          </a:p>
        </p:txBody>
      </p:sp>
      <p:sp>
        <p:nvSpPr>
          <p:cNvPr id="63491" name="Rectangle 4"/>
          <p:cNvSpPr>
            <a:spLocks noGrp="1" noChangeArrowheads="1"/>
          </p:cNvSpPr>
          <p:nvPr>
            <p:ph type="title"/>
          </p:nvPr>
        </p:nvSpPr>
        <p:spPr>
          <a:xfrm>
            <a:off x="0" y="286603"/>
            <a:ext cx="12192000" cy="1450757"/>
          </a:xfrm>
        </p:spPr>
        <p:txBody>
          <a:bodyPr/>
          <a:lstStyle/>
          <a:p>
            <a:pPr eaLnBrk="1" hangingPunct="1"/>
            <a:r>
              <a:rPr lang="en-US" dirty="0"/>
              <a:t>Characterizing Schedules based on Recoverability </a:t>
            </a:r>
          </a:p>
        </p:txBody>
      </p:sp>
      <p:sp>
        <p:nvSpPr>
          <p:cNvPr id="63492" name="Rectangle 5"/>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sz="3200"/>
              <a:t>Schedules classified on recoverability (contd.):</a:t>
            </a:r>
          </a:p>
          <a:p>
            <a:pPr eaLnBrk="1" hangingPunct="1">
              <a:lnSpc>
                <a:spcPct val="90000"/>
              </a:lnSpc>
            </a:pPr>
            <a:r>
              <a:rPr lang="en-US" sz="3200" b="1"/>
              <a:t>Schedules requiring cascaded rollback</a:t>
            </a:r>
            <a:r>
              <a:rPr lang="en-US" sz="3200"/>
              <a:t>:</a:t>
            </a:r>
          </a:p>
          <a:p>
            <a:pPr lvl="1" eaLnBrk="1" hangingPunct="1">
              <a:lnSpc>
                <a:spcPct val="90000"/>
              </a:lnSpc>
            </a:pPr>
            <a:r>
              <a:rPr lang="en-US" sz="3000"/>
              <a:t>A schedule in which </a:t>
            </a:r>
            <a:r>
              <a:rPr lang="en-US" sz="3000" b="1"/>
              <a:t>uncommitted transactions that read an item from a failed transaction</a:t>
            </a:r>
            <a:r>
              <a:rPr lang="en-US" sz="3000"/>
              <a:t> must be rolled back. </a:t>
            </a:r>
          </a:p>
          <a:p>
            <a:pPr eaLnBrk="1" hangingPunct="1">
              <a:lnSpc>
                <a:spcPct val="90000"/>
              </a:lnSpc>
            </a:pPr>
            <a:r>
              <a:rPr lang="en-US" b="1"/>
              <a:t>Strict Schedules</a:t>
            </a:r>
            <a:r>
              <a:rPr lang="en-US"/>
              <a:t>:</a:t>
            </a:r>
          </a:p>
          <a:p>
            <a:pPr lvl="1" eaLnBrk="1" hangingPunct="1">
              <a:lnSpc>
                <a:spcPct val="90000"/>
              </a:lnSpc>
            </a:pPr>
            <a:r>
              <a:rPr lang="en-US"/>
              <a:t>A schedule in which a </a:t>
            </a:r>
            <a:r>
              <a:rPr lang="en-US" b="1"/>
              <a:t>transaction can neither read or write an item X until the last transaction that wrote X has committed</a:t>
            </a:r>
            <a:r>
              <a:rPr lang="en-US"/>
              <a:t>. </a:t>
            </a:r>
          </a:p>
        </p:txBody>
      </p:sp>
    </p:spTree>
    <p:extLst>
      <p:ext uri="{BB962C8B-B14F-4D97-AF65-F5344CB8AC3E}">
        <p14:creationId xmlns:p14="http://schemas.microsoft.com/office/powerpoint/2010/main" val="912719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8D5F3B02-C6AC-48F5-BBFA-0DB5E2712540}" type="slidenum">
              <a:rPr lang="en-US" sz="1400">
                <a:solidFill>
                  <a:srgbClr val="990033"/>
                </a:solidFill>
              </a:rPr>
              <a:pPr>
                <a:spcBef>
                  <a:spcPct val="0"/>
                </a:spcBef>
                <a:buClrTx/>
                <a:buSzTx/>
                <a:buFontTx/>
                <a:buNone/>
              </a:pPr>
              <a:t>4</a:t>
            </a:fld>
            <a:endParaRPr lang="en-CA" sz="1400">
              <a:solidFill>
                <a:srgbClr val="990033"/>
              </a:solidFill>
            </a:endParaRPr>
          </a:p>
        </p:txBody>
      </p:sp>
      <p:sp>
        <p:nvSpPr>
          <p:cNvPr id="65539" name="Rectangle 4"/>
          <p:cNvSpPr>
            <a:spLocks noGrp="1" noChangeArrowheads="1"/>
          </p:cNvSpPr>
          <p:nvPr>
            <p:ph type="title"/>
          </p:nvPr>
        </p:nvSpPr>
        <p:spPr>
          <a:xfrm>
            <a:off x="103031" y="286603"/>
            <a:ext cx="11951594" cy="1450757"/>
          </a:xfrm>
        </p:spPr>
        <p:txBody>
          <a:bodyPr/>
          <a:lstStyle/>
          <a:p>
            <a:pPr eaLnBrk="1" hangingPunct="1"/>
            <a:r>
              <a:rPr lang="en-US" dirty="0"/>
              <a:t>Characterizing Schedules based on </a:t>
            </a:r>
            <a:r>
              <a:rPr lang="en-US" dirty="0" err="1"/>
              <a:t>Serializability</a:t>
            </a:r>
            <a:r>
              <a:rPr lang="en-US" dirty="0"/>
              <a:t> </a:t>
            </a:r>
          </a:p>
        </p:txBody>
      </p:sp>
      <p:sp>
        <p:nvSpPr>
          <p:cNvPr id="65540" name="Rectangle 5"/>
          <p:cNvSpPr>
            <a:spLocks noGrp="1" noChangeArrowheads="1"/>
          </p:cNvSpPr>
          <p:nvPr>
            <p:ph type="body" idx="1"/>
          </p:nvPr>
        </p:nvSpPr>
        <p:spPr>
          <a:xfrm>
            <a:off x="1097280" y="2215166"/>
            <a:ext cx="10058400" cy="3653928"/>
          </a:xfrm>
        </p:spPr>
        <p:txBody>
          <a:bodyPr/>
          <a:lstStyle/>
          <a:p>
            <a:pPr eaLnBrk="1" hangingPunct="1"/>
            <a:r>
              <a:rPr lang="en-US" dirty="0"/>
              <a:t>Serial schedule:</a:t>
            </a:r>
          </a:p>
          <a:p>
            <a:pPr lvl="1" eaLnBrk="1" hangingPunct="1"/>
            <a:r>
              <a:rPr lang="en-US" dirty="0"/>
              <a:t>A schedule S is serial if, for every transaction T participating in the schedule, all the operations of T are executed consecutively in the schedule.</a:t>
            </a:r>
          </a:p>
          <a:p>
            <a:pPr lvl="2" eaLnBrk="1" hangingPunct="1"/>
            <a:r>
              <a:rPr lang="en-US" dirty="0"/>
              <a:t>Otherwise, the schedule is called </a:t>
            </a:r>
            <a:r>
              <a:rPr lang="en-US" dirty="0" err="1"/>
              <a:t>nonserial</a:t>
            </a:r>
            <a:r>
              <a:rPr lang="en-US" dirty="0"/>
              <a:t> schedule.</a:t>
            </a:r>
          </a:p>
          <a:p>
            <a:pPr eaLnBrk="1" hangingPunct="1"/>
            <a:r>
              <a:rPr lang="en-US" dirty="0" err="1"/>
              <a:t>Serializable</a:t>
            </a:r>
            <a:r>
              <a:rPr lang="en-US" dirty="0"/>
              <a:t> schedule:</a:t>
            </a:r>
          </a:p>
          <a:p>
            <a:pPr lvl="1" eaLnBrk="1" hangingPunct="1"/>
            <a:r>
              <a:rPr lang="en-US" dirty="0"/>
              <a:t>A schedule S is </a:t>
            </a:r>
            <a:r>
              <a:rPr lang="en-US" dirty="0" err="1"/>
              <a:t>serializable</a:t>
            </a:r>
            <a:r>
              <a:rPr lang="en-US" dirty="0"/>
              <a:t> if it is equivalent to some serial schedule of the same n transactions.</a:t>
            </a:r>
          </a:p>
        </p:txBody>
      </p:sp>
    </p:spTree>
    <p:extLst>
      <p:ext uri="{BB962C8B-B14F-4D97-AF65-F5344CB8AC3E}">
        <p14:creationId xmlns:p14="http://schemas.microsoft.com/office/powerpoint/2010/main" val="3275281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32059E03-AECE-478A-B221-20ED198FF089}" type="slidenum">
              <a:rPr lang="en-US" sz="1400">
                <a:solidFill>
                  <a:srgbClr val="990033"/>
                </a:solidFill>
              </a:rPr>
              <a:pPr>
                <a:spcBef>
                  <a:spcPct val="0"/>
                </a:spcBef>
                <a:buClrTx/>
                <a:buSzTx/>
                <a:buFontTx/>
                <a:buNone/>
              </a:pPr>
              <a:t>5</a:t>
            </a:fld>
            <a:endParaRPr lang="en-CA" sz="1400">
              <a:solidFill>
                <a:srgbClr val="990033"/>
              </a:solidFill>
            </a:endParaRPr>
          </a:p>
        </p:txBody>
      </p:sp>
      <p:sp>
        <p:nvSpPr>
          <p:cNvPr id="67587" name="Rectangle 4"/>
          <p:cNvSpPr>
            <a:spLocks noGrp="1" noChangeArrowheads="1"/>
          </p:cNvSpPr>
          <p:nvPr>
            <p:ph type="title"/>
          </p:nvPr>
        </p:nvSpPr>
        <p:spPr>
          <a:xfrm>
            <a:off x="128789" y="286603"/>
            <a:ext cx="12063211" cy="1450757"/>
          </a:xfrm>
        </p:spPr>
        <p:txBody>
          <a:bodyPr/>
          <a:lstStyle/>
          <a:p>
            <a:pPr eaLnBrk="1" hangingPunct="1"/>
            <a:r>
              <a:rPr lang="en-US" dirty="0"/>
              <a:t>Characterizing Schedules based on </a:t>
            </a:r>
            <a:r>
              <a:rPr lang="en-US" dirty="0" err="1"/>
              <a:t>Serializability</a:t>
            </a:r>
            <a:r>
              <a:rPr lang="en-US" dirty="0"/>
              <a:t> </a:t>
            </a:r>
          </a:p>
        </p:txBody>
      </p:sp>
      <p:sp>
        <p:nvSpPr>
          <p:cNvPr id="67588" name="Rectangle 5"/>
          <p:cNvSpPr>
            <a:spLocks noGrp="1" noChangeArrowheads="1"/>
          </p:cNvSpPr>
          <p:nvPr>
            <p:ph type="body" idx="1"/>
          </p:nvPr>
        </p:nvSpPr>
        <p:spPr/>
        <p:txBody>
          <a:bodyPr/>
          <a:lstStyle/>
          <a:p>
            <a:pPr eaLnBrk="1" hangingPunct="1"/>
            <a:r>
              <a:rPr lang="en-US" dirty="0"/>
              <a:t>Result equivalent:</a:t>
            </a:r>
          </a:p>
          <a:p>
            <a:pPr lvl="1" eaLnBrk="1" hangingPunct="1"/>
            <a:r>
              <a:rPr lang="en-US" dirty="0"/>
              <a:t>Two schedules are called result equivalent if they produce the same final state of the database.</a:t>
            </a:r>
          </a:p>
          <a:p>
            <a:pPr eaLnBrk="1" hangingPunct="1"/>
            <a:r>
              <a:rPr lang="en-US" dirty="0"/>
              <a:t>Conflict equivalent:</a:t>
            </a:r>
          </a:p>
          <a:p>
            <a:pPr lvl="1" eaLnBrk="1" hangingPunct="1"/>
            <a:r>
              <a:rPr lang="en-US" dirty="0"/>
              <a:t>Two schedules are said to be conflict equivalent if the order of any two conflicting operations is the same in both schedules.</a:t>
            </a:r>
          </a:p>
          <a:p>
            <a:pPr eaLnBrk="1" hangingPunct="1"/>
            <a:r>
              <a:rPr lang="en-US" dirty="0"/>
              <a:t>Conflict </a:t>
            </a:r>
            <a:r>
              <a:rPr lang="en-US" dirty="0" err="1"/>
              <a:t>serializable</a:t>
            </a:r>
            <a:r>
              <a:rPr lang="en-US" dirty="0"/>
              <a:t>:</a:t>
            </a:r>
          </a:p>
          <a:p>
            <a:pPr lvl="1" eaLnBrk="1" hangingPunct="1"/>
            <a:r>
              <a:rPr lang="en-US" dirty="0"/>
              <a:t>A schedule S is said to be conflict </a:t>
            </a:r>
            <a:r>
              <a:rPr lang="en-US" dirty="0" err="1"/>
              <a:t>serializable</a:t>
            </a:r>
            <a:r>
              <a:rPr lang="en-US" dirty="0"/>
              <a:t> if it is conflict equivalent to some serial schedule S’.</a:t>
            </a:r>
          </a:p>
        </p:txBody>
      </p:sp>
    </p:spTree>
    <p:extLst>
      <p:ext uri="{BB962C8B-B14F-4D97-AF65-F5344CB8AC3E}">
        <p14:creationId xmlns:p14="http://schemas.microsoft.com/office/powerpoint/2010/main" val="4113587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E3600BC4-A894-4C18-8858-84CEFFDF2C30}" type="slidenum">
              <a:rPr lang="en-US" sz="1400">
                <a:solidFill>
                  <a:srgbClr val="990033"/>
                </a:solidFill>
              </a:rPr>
              <a:pPr>
                <a:spcBef>
                  <a:spcPct val="0"/>
                </a:spcBef>
                <a:buClrTx/>
                <a:buSzTx/>
                <a:buFontTx/>
                <a:buNone/>
              </a:pPr>
              <a:t>6</a:t>
            </a:fld>
            <a:endParaRPr lang="en-CA" sz="1400">
              <a:solidFill>
                <a:srgbClr val="990033"/>
              </a:solidFill>
            </a:endParaRPr>
          </a:p>
        </p:txBody>
      </p:sp>
      <p:sp>
        <p:nvSpPr>
          <p:cNvPr id="59395" name="Rectangle 4"/>
          <p:cNvSpPr>
            <a:spLocks noGrp="1" noChangeArrowheads="1"/>
          </p:cNvSpPr>
          <p:nvPr>
            <p:ph type="title"/>
          </p:nvPr>
        </p:nvSpPr>
        <p:spPr>
          <a:xfrm>
            <a:off x="463640" y="608014"/>
            <a:ext cx="11728360" cy="992187"/>
          </a:xfrm>
        </p:spPr>
        <p:txBody>
          <a:bodyPr>
            <a:normAutofit fontScale="90000"/>
          </a:bodyPr>
          <a:lstStyle/>
          <a:p>
            <a:pPr eaLnBrk="1" hangingPunct="1"/>
            <a:r>
              <a:rPr lang="en-US" dirty="0"/>
              <a:t>Characterizing Schedules based on Recoverability</a:t>
            </a:r>
          </a:p>
        </p:txBody>
      </p:sp>
      <p:sp>
        <p:nvSpPr>
          <p:cNvPr id="59396" name="Rectangle 5"/>
          <p:cNvSpPr>
            <a:spLocks noGrp="1" noChangeArrowheads="1"/>
          </p:cNvSpPr>
          <p:nvPr>
            <p:ph type="body" idx="1"/>
          </p:nvPr>
        </p:nvSpPr>
        <p:spPr>
          <a:xfrm>
            <a:off x="1763714" y="2305318"/>
            <a:ext cx="8294687" cy="3552558"/>
          </a:xfrm>
        </p:spPr>
        <p:txBody>
          <a:bodyPr/>
          <a:lstStyle/>
          <a:p>
            <a:pPr eaLnBrk="1" hangingPunct="1">
              <a:lnSpc>
                <a:spcPct val="80000"/>
              </a:lnSpc>
            </a:pPr>
            <a:r>
              <a:rPr lang="en-US" sz="2400" b="1" dirty="0"/>
              <a:t>Transaction schedule or history</a:t>
            </a:r>
            <a:r>
              <a:rPr lang="en-US" sz="2400" dirty="0"/>
              <a:t>:</a:t>
            </a:r>
          </a:p>
          <a:p>
            <a:pPr lvl="1" eaLnBrk="1" hangingPunct="1">
              <a:lnSpc>
                <a:spcPct val="80000"/>
              </a:lnSpc>
            </a:pPr>
            <a:r>
              <a:rPr lang="en-US" sz="2100" dirty="0"/>
              <a:t>When transactions are executing </a:t>
            </a:r>
            <a:r>
              <a:rPr lang="en-US" sz="2100" b="1" dirty="0"/>
              <a:t>concurrently in an interleaved fashion, the order of execution of operations </a:t>
            </a:r>
            <a:r>
              <a:rPr lang="en-US" sz="2100" dirty="0"/>
              <a:t>from the various transactions forms what is known as a transaction schedule (or history). </a:t>
            </a:r>
          </a:p>
          <a:p>
            <a:pPr eaLnBrk="1" hangingPunct="1">
              <a:lnSpc>
                <a:spcPct val="80000"/>
              </a:lnSpc>
            </a:pPr>
            <a:r>
              <a:rPr lang="en-US" sz="2400" dirty="0"/>
              <a:t>A </a:t>
            </a:r>
            <a:r>
              <a:rPr lang="en-US" sz="2400" b="1" dirty="0"/>
              <a:t>schedule</a:t>
            </a:r>
            <a:r>
              <a:rPr lang="en-US" sz="2400" dirty="0"/>
              <a:t> (or </a:t>
            </a:r>
            <a:r>
              <a:rPr lang="en-US" sz="2400" b="1" dirty="0"/>
              <a:t>history</a:t>
            </a:r>
            <a:r>
              <a:rPr lang="en-US" sz="2400" dirty="0"/>
              <a:t>) S of n transactions T1, T2, …, </a:t>
            </a:r>
            <a:r>
              <a:rPr lang="en-US" sz="2400" dirty="0" err="1"/>
              <a:t>Tn</a:t>
            </a:r>
            <a:r>
              <a:rPr lang="en-US" sz="2400" dirty="0"/>
              <a:t>:</a:t>
            </a:r>
          </a:p>
          <a:p>
            <a:pPr lvl="1" eaLnBrk="1" hangingPunct="1">
              <a:lnSpc>
                <a:spcPct val="80000"/>
              </a:lnSpc>
            </a:pPr>
            <a:r>
              <a:rPr lang="en-US" sz="2100" dirty="0"/>
              <a:t>It is an </a:t>
            </a:r>
            <a:r>
              <a:rPr lang="en-US" sz="2100" b="1" dirty="0"/>
              <a:t>ordering of the operations </a:t>
            </a:r>
            <a:r>
              <a:rPr lang="en-US" sz="2100" dirty="0"/>
              <a:t>of the transactions subject to the constraint that, for each transaction Ti that participates in S, the operations of T1 in S must appear in the same order in which they occur in T1.</a:t>
            </a:r>
          </a:p>
          <a:p>
            <a:pPr lvl="1" eaLnBrk="1" hangingPunct="1">
              <a:lnSpc>
                <a:spcPct val="80000"/>
              </a:lnSpc>
            </a:pPr>
            <a:r>
              <a:rPr lang="en-US" sz="2100" dirty="0"/>
              <a:t>Note, however, that operations from other transactions </a:t>
            </a:r>
            <a:r>
              <a:rPr lang="en-US" sz="2100" dirty="0" err="1"/>
              <a:t>Tj</a:t>
            </a:r>
            <a:r>
              <a:rPr lang="en-US" sz="2100" dirty="0"/>
              <a:t> can be interleaved with the operations of Ti in S. </a:t>
            </a:r>
          </a:p>
        </p:txBody>
      </p:sp>
    </p:spTree>
    <p:extLst>
      <p:ext uri="{BB962C8B-B14F-4D97-AF65-F5344CB8AC3E}">
        <p14:creationId xmlns:p14="http://schemas.microsoft.com/office/powerpoint/2010/main" val="39306266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ED902C9E-EC52-418C-9662-68A6CAD3B53D}" type="slidenum">
              <a:rPr lang="en-US" sz="1400">
                <a:solidFill>
                  <a:srgbClr val="990033"/>
                </a:solidFill>
              </a:rPr>
              <a:pPr>
                <a:spcBef>
                  <a:spcPct val="0"/>
                </a:spcBef>
                <a:buClrTx/>
                <a:buSzTx/>
                <a:buFontTx/>
                <a:buNone/>
              </a:pPr>
              <a:t>7</a:t>
            </a:fld>
            <a:endParaRPr lang="en-CA" sz="1400">
              <a:solidFill>
                <a:srgbClr val="990033"/>
              </a:solidFill>
            </a:endParaRPr>
          </a:p>
        </p:txBody>
      </p:sp>
      <p:sp>
        <p:nvSpPr>
          <p:cNvPr id="61443" name="Rectangle 4"/>
          <p:cNvSpPr>
            <a:spLocks noGrp="1" noChangeArrowheads="1"/>
          </p:cNvSpPr>
          <p:nvPr>
            <p:ph type="title"/>
          </p:nvPr>
        </p:nvSpPr>
        <p:spPr>
          <a:xfrm>
            <a:off x="103031" y="286603"/>
            <a:ext cx="11964473" cy="1450757"/>
          </a:xfrm>
        </p:spPr>
        <p:txBody>
          <a:bodyPr/>
          <a:lstStyle/>
          <a:p>
            <a:pPr eaLnBrk="1" hangingPunct="1"/>
            <a:r>
              <a:rPr lang="en-US" dirty="0"/>
              <a:t>Characterizing Schedules based on Recoverability</a:t>
            </a:r>
          </a:p>
        </p:txBody>
      </p:sp>
      <p:sp>
        <p:nvSpPr>
          <p:cNvPr id="61444" name="Rectangle 5"/>
          <p:cNvSpPr>
            <a:spLocks noGrp="1" noChangeArrowheads="1"/>
          </p:cNvSpPr>
          <p:nvPr>
            <p:ph type="body" idx="1"/>
          </p:nvPr>
        </p:nvSpPr>
        <p:spPr>
          <a:xfrm>
            <a:off x="1763714" y="2009104"/>
            <a:ext cx="8294687" cy="4163097"/>
          </a:xfrm>
        </p:spPr>
        <p:txBody>
          <a:bodyPr/>
          <a:lstStyle/>
          <a:p>
            <a:pPr eaLnBrk="1" hangingPunct="1">
              <a:lnSpc>
                <a:spcPct val="80000"/>
              </a:lnSpc>
              <a:buFont typeface="Wingdings" panose="05000000000000000000" pitchFamily="2" charset="2"/>
              <a:buNone/>
            </a:pPr>
            <a:r>
              <a:rPr lang="en-US" dirty="0"/>
              <a:t>Schedules classified on recoverability:</a:t>
            </a:r>
          </a:p>
          <a:p>
            <a:pPr eaLnBrk="1" hangingPunct="1">
              <a:lnSpc>
                <a:spcPct val="80000"/>
              </a:lnSpc>
            </a:pPr>
            <a:r>
              <a:rPr lang="en-US" b="1" dirty="0"/>
              <a:t>Recoverable schedule</a:t>
            </a:r>
            <a:r>
              <a:rPr lang="en-US" dirty="0"/>
              <a:t>:</a:t>
            </a:r>
          </a:p>
          <a:p>
            <a:pPr lvl="1" eaLnBrk="1" hangingPunct="1">
              <a:lnSpc>
                <a:spcPct val="80000"/>
              </a:lnSpc>
            </a:pPr>
            <a:r>
              <a:rPr lang="en-US" sz="2800" dirty="0"/>
              <a:t>One where no transaction needs to be rolled back. </a:t>
            </a:r>
          </a:p>
          <a:p>
            <a:pPr lvl="1" eaLnBrk="1" hangingPunct="1">
              <a:lnSpc>
                <a:spcPct val="80000"/>
              </a:lnSpc>
            </a:pPr>
            <a:r>
              <a:rPr lang="en-US" sz="2800" dirty="0"/>
              <a:t>A schedule S is recoverable </a:t>
            </a:r>
            <a:r>
              <a:rPr lang="en-US" sz="2800" b="1" dirty="0"/>
              <a:t>if no transaction T in S commits </a:t>
            </a:r>
            <a:r>
              <a:rPr lang="en-US" sz="2800" dirty="0"/>
              <a:t>until all transactions T’ that have written an item that T reads have committed.</a:t>
            </a:r>
          </a:p>
          <a:p>
            <a:pPr eaLnBrk="1" hangingPunct="1">
              <a:lnSpc>
                <a:spcPct val="80000"/>
              </a:lnSpc>
            </a:pPr>
            <a:r>
              <a:rPr lang="en-US" b="1" dirty="0" err="1"/>
              <a:t>Cascadeless</a:t>
            </a:r>
            <a:r>
              <a:rPr lang="en-US" b="1" dirty="0"/>
              <a:t> schedule</a:t>
            </a:r>
            <a:r>
              <a:rPr lang="en-US" dirty="0"/>
              <a:t>:</a:t>
            </a:r>
          </a:p>
          <a:p>
            <a:pPr lvl="1" eaLnBrk="1" hangingPunct="1">
              <a:lnSpc>
                <a:spcPct val="80000"/>
              </a:lnSpc>
            </a:pPr>
            <a:r>
              <a:rPr lang="en-US" sz="2800" dirty="0"/>
              <a:t>One where </a:t>
            </a:r>
            <a:r>
              <a:rPr lang="en-US" sz="2800" b="1" dirty="0"/>
              <a:t>every transaction reads only  the items</a:t>
            </a:r>
            <a:r>
              <a:rPr lang="en-US" sz="2800" dirty="0"/>
              <a:t> that are </a:t>
            </a:r>
            <a:r>
              <a:rPr lang="en-US" sz="2800" b="1" dirty="0"/>
              <a:t>written by committed transactions.</a:t>
            </a:r>
          </a:p>
        </p:txBody>
      </p:sp>
    </p:spTree>
    <p:extLst>
      <p:ext uri="{BB962C8B-B14F-4D97-AF65-F5344CB8AC3E}">
        <p14:creationId xmlns:p14="http://schemas.microsoft.com/office/powerpoint/2010/main" val="3988881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6C19F83E-2A98-413E-B82E-5013ED98DCC3}" type="slidenum">
              <a:rPr lang="en-US" sz="1400">
                <a:solidFill>
                  <a:srgbClr val="990033"/>
                </a:solidFill>
              </a:rPr>
              <a:pPr>
                <a:spcBef>
                  <a:spcPct val="0"/>
                </a:spcBef>
                <a:buClrTx/>
                <a:buSzTx/>
                <a:buFontTx/>
                <a:buNone/>
              </a:pPr>
              <a:t>8</a:t>
            </a:fld>
            <a:endParaRPr lang="en-CA" sz="1400">
              <a:solidFill>
                <a:srgbClr val="990033"/>
              </a:solidFill>
            </a:endParaRPr>
          </a:p>
        </p:txBody>
      </p:sp>
      <p:sp>
        <p:nvSpPr>
          <p:cNvPr id="63491" name="Rectangle 4"/>
          <p:cNvSpPr>
            <a:spLocks noGrp="1" noChangeArrowheads="1"/>
          </p:cNvSpPr>
          <p:nvPr>
            <p:ph type="title"/>
          </p:nvPr>
        </p:nvSpPr>
        <p:spPr>
          <a:xfrm>
            <a:off x="115910" y="286603"/>
            <a:ext cx="12076090" cy="1450757"/>
          </a:xfrm>
        </p:spPr>
        <p:txBody>
          <a:bodyPr/>
          <a:lstStyle/>
          <a:p>
            <a:pPr eaLnBrk="1" hangingPunct="1"/>
            <a:r>
              <a:rPr lang="en-US" dirty="0"/>
              <a:t>Characterizing Schedules based on Recoverability </a:t>
            </a:r>
          </a:p>
        </p:txBody>
      </p:sp>
      <p:sp>
        <p:nvSpPr>
          <p:cNvPr id="63492" name="Rectangle 5"/>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sz="3200" dirty="0"/>
              <a:t>Schedules classified on recoverability (contd.):</a:t>
            </a:r>
          </a:p>
          <a:p>
            <a:pPr eaLnBrk="1" hangingPunct="1">
              <a:lnSpc>
                <a:spcPct val="90000"/>
              </a:lnSpc>
            </a:pPr>
            <a:r>
              <a:rPr lang="en-US" sz="3200" b="1" dirty="0"/>
              <a:t>Schedules requiring cascaded rollback</a:t>
            </a:r>
            <a:r>
              <a:rPr lang="en-US" sz="3200" dirty="0"/>
              <a:t>:</a:t>
            </a:r>
          </a:p>
          <a:p>
            <a:pPr lvl="1" eaLnBrk="1" hangingPunct="1">
              <a:lnSpc>
                <a:spcPct val="90000"/>
              </a:lnSpc>
            </a:pPr>
            <a:r>
              <a:rPr lang="en-US" sz="3000" dirty="0"/>
              <a:t>A schedule in which </a:t>
            </a:r>
            <a:r>
              <a:rPr lang="en-US" sz="3000" b="1" dirty="0"/>
              <a:t>uncommitted transactions that read an item from a failed transaction</a:t>
            </a:r>
            <a:r>
              <a:rPr lang="en-US" sz="3000" dirty="0"/>
              <a:t> must be rolled back. </a:t>
            </a:r>
          </a:p>
          <a:p>
            <a:pPr eaLnBrk="1" hangingPunct="1">
              <a:lnSpc>
                <a:spcPct val="90000"/>
              </a:lnSpc>
            </a:pPr>
            <a:r>
              <a:rPr lang="en-US" b="1" dirty="0"/>
              <a:t>Strict Schedules</a:t>
            </a:r>
            <a:r>
              <a:rPr lang="en-US" dirty="0"/>
              <a:t>:</a:t>
            </a:r>
          </a:p>
          <a:p>
            <a:pPr lvl="1" eaLnBrk="1" hangingPunct="1">
              <a:lnSpc>
                <a:spcPct val="90000"/>
              </a:lnSpc>
            </a:pPr>
            <a:r>
              <a:rPr lang="en-US" dirty="0"/>
              <a:t>A schedule in which a </a:t>
            </a:r>
            <a:r>
              <a:rPr lang="en-US" b="1" dirty="0"/>
              <a:t>transaction can neither read or write an item X until the last transaction that wrote X has committed</a:t>
            </a:r>
            <a:r>
              <a:rPr lang="en-US" dirty="0"/>
              <a:t>. </a:t>
            </a:r>
          </a:p>
        </p:txBody>
      </p:sp>
    </p:spTree>
    <p:extLst>
      <p:ext uri="{BB962C8B-B14F-4D97-AF65-F5344CB8AC3E}">
        <p14:creationId xmlns:p14="http://schemas.microsoft.com/office/powerpoint/2010/main" val="2884783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8D5F3B02-C6AC-48F5-BBFA-0DB5E2712540}" type="slidenum">
              <a:rPr lang="en-US" sz="1400">
                <a:solidFill>
                  <a:srgbClr val="990033"/>
                </a:solidFill>
              </a:rPr>
              <a:pPr>
                <a:spcBef>
                  <a:spcPct val="0"/>
                </a:spcBef>
                <a:buClrTx/>
                <a:buSzTx/>
                <a:buFontTx/>
                <a:buNone/>
              </a:pPr>
              <a:t>9</a:t>
            </a:fld>
            <a:endParaRPr lang="en-CA" sz="1400">
              <a:solidFill>
                <a:srgbClr val="990033"/>
              </a:solidFill>
            </a:endParaRPr>
          </a:p>
        </p:txBody>
      </p:sp>
      <p:sp>
        <p:nvSpPr>
          <p:cNvPr id="65539" name="Rectangle 4"/>
          <p:cNvSpPr>
            <a:spLocks noGrp="1" noChangeArrowheads="1"/>
          </p:cNvSpPr>
          <p:nvPr>
            <p:ph type="title"/>
          </p:nvPr>
        </p:nvSpPr>
        <p:spPr>
          <a:xfrm>
            <a:off x="154546" y="260845"/>
            <a:ext cx="12037454" cy="1450757"/>
          </a:xfrm>
        </p:spPr>
        <p:txBody>
          <a:bodyPr/>
          <a:lstStyle/>
          <a:p>
            <a:pPr eaLnBrk="1" hangingPunct="1"/>
            <a:r>
              <a:rPr lang="en-US" dirty="0"/>
              <a:t>Characterizing Schedules based on </a:t>
            </a:r>
            <a:r>
              <a:rPr lang="en-US" dirty="0" err="1"/>
              <a:t>Serializability</a:t>
            </a:r>
            <a:r>
              <a:rPr lang="en-US" dirty="0"/>
              <a:t> </a:t>
            </a:r>
          </a:p>
        </p:txBody>
      </p:sp>
      <p:sp>
        <p:nvSpPr>
          <p:cNvPr id="65540" name="Rectangle 5"/>
          <p:cNvSpPr>
            <a:spLocks noGrp="1" noChangeArrowheads="1"/>
          </p:cNvSpPr>
          <p:nvPr>
            <p:ph type="body" idx="1"/>
          </p:nvPr>
        </p:nvSpPr>
        <p:spPr/>
        <p:txBody>
          <a:bodyPr/>
          <a:lstStyle/>
          <a:p>
            <a:pPr eaLnBrk="1" hangingPunct="1"/>
            <a:r>
              <a:rPr lang="en-US"/>
              <a:t>Serial schedule:</a:t>
            </a:r>
          </a:p>
          <a:p>
            <a:pPr lvl="1" eaLnBrk="1" hangingPunct="1"/>
            <a:r>
              <a:rPr lang="en-US"/>
              <a:t>A schedule S is serial if, for every transaction T participating in the schedule, all the operations of T are executed consecutively in the schedule.</a:t>
            </a:r>
          </a:p>
          <a:p>
            <a:pPr lvl="2" eaLnBrk="1" hangingPunct="1"/>
            <a:r>
              <a:rPr lang="en-US"/>
              <a:t>Otherwise, the schedule is called nonserial schedule.</a:t>
            </a:r>
          </a:p>
          <a:p>
            <a:pPr eaLnBrk="1" hangingPunct="1"/>
            <a:r>
              <a:rPr lang="en-US"/>
              <a:t>Serializable schedule:</a:t>
            </a:r>
          </a:p>
          <a:p>
            <a:pPr lvl="1" eaLnBrk="1" hangingPunct="1"/>
            <a:r>
              <a:rPr lang="en-US"/>
              <a:t>A schedule S is serializable if it is equivalent to some serial schedule of the same n transactions.</a:t>
            </a:r>
          </a:p>
        </p:txBody>
      </p:sp>
    </p:spTree>
    <p:extLst>
      <p:ext uri="{BB962C8B-B14F-4D97-AF65-F5344CB8AC3E}">
        <p14:creationId xmlns:p14="http://schemas.microsoft.com/office/powerpoint/2010/main" val="38210469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990033"/>
              </a:buClr>
              <a:buSzPct val="60000"/>
              <a:buFont typeface="Wingdings" panose="05000000000000000000" pitchFamily="2" charset="2"/>
              <a:buChar char="n"/>
              <a:defRPr sz="2800">
                <a:solidFill>
                  <a:schemeClr val="tx2"/>
                </a:solidFill>
                <a:latin typeface="Arial" panose="020B0604020202020204" pitchFamily="34" charset="0"/>
              </a:defRPr>
            </a:lvl1pPr>
            <a:lvl2pPr marL="742950" indent="-285750">
              <a:spcBef>
                <a:spcPct val="20000"/>
              </a:spcBef>
              <a:buClr>
                <a:schemeClr val="tx2"/>
              </a:buClr>
              <a:buSzPct val="55000"/>
              <a:buFont typeface="Wingdings" panose="05000000000000000000" pitchFamily="2" charset="2"/>
              <a:buChar char="n"/>
              <a:defRPr sz="2600">
                <a:solidFill>
                  <a:srgbClr val="800000"/>
                </a:solidFill>
                <a:latin typeface="Arial" panose="020B0604020202020204" pitchFamily="34" charset="0"/>
              </a:defRPr>
            </a:lvl2pPr>
            <a:lvl3pPr marL="1143000" indent="-228600">
              <a:spcBef>
                <a:spcPct val="20000"/>
              </a:spcBef>
              <a:buClr>
                <a:srgbClr val="990033"/>
              </a:buClr>
              <a:buSzPct val="50000"/>
              <a:buFont typeface="Wingdings" panose="05000000000000000000" pitchFamily="2" charset="2"/>
              <a:buChar char="n"/>
              <a:defRPr sz="2400">
                <a:solidFill>
                  <a:schemeClr val="tx2"/>
                </a:solidFill>
                <a:latin typeface="Arial" panose="020B0604020202020204" pitchFamily="34" charset="0"/>
              </a:defRPr>
            </a:lvl3pPr>
            <a:lvl4pPr marL="1600200" indent="-228600">
              <a:spcBef>
                <a:spcPct val="20000"/>
              </a:spcBef>
              <a:buClr>
                <a:schemeClr val="tx2"/>
              </a:buClr>
              <a:buSzPct val="55000"/>
              <a:buFont typeface="Wingdings" panose="05000000000000000000" pitchFamily="2" charset="2"/>
              <a:buChar char="n"/>
              <a:defRPr sz="2000">
                <a:solidFill>
                  <a:srgbClr val="800000"/>
                </a:solidFill>
                <a:latin typeface="Arial" panose="020B0604020202020204" pitchFamily="34" charset="0"/>
              </a:defRPr>
            </a:lvl4pPr>
            <a:lvl5pPr marL="2057400" indent="-228600">
              <a:spcBef>
                <a:spcPct val="20000"/>
              </a:spcBef>
              <a:buClr>
                <a:srgbClr val="990033"/>
              </a:buClr>
              <a:buSzPct val="50000"/>
              <a:buFont typeface="Wingdings" panose="05000000000000000000" pitchFamily="2" charset="2"/>
              <a:buChar char="n"/>
              <a:defRPr sz="2000">
                <a:solidFill>
                  <a:schemeClr val="tx2"/>
                </a:solidFill>
                <a:latin typeface="Arial" panose="020B0604020202020204" pitchFamily="34" charset="0"/>
              </a:defRPr>
            </a:lvl5pPr>
            <a:lvl6pPr marL="25146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6pPr>
            <a:lvl7pPr marL="29718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7pPr>
            <a:lvl8pPr marL="34290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8pPr>
            <a:lvl9pPr marL="3886200" indent="-228600" eaLnBrk="0" fontAlgn="base" hangingPunct="0">
              <a:spcBef>
                <a:spcPct val="20000"/>
              </a:spcBef>
              <a:spcAft>
                <a:spcPct val="0"/>
              </a:spcAft>
              <a:buClr>
                <a:srgbClr val="990033"/>
              </a:buClr>
              <a:buSzPct val="50000"/>
              <a:buFont typeface="Wingdings" panose="05000000000000000000" pitchFamily="2" charset="2"/>
              <a:buChar char="n"/>
              <a:defRPr sz="2000">
                <a:solidFill>
                  <a:schemeClr val="tx2"/>
                </a:solidFill>
                <a:latin typeface="Arial" panose="020B0604020202020204" pitchFamily="34" charset="0"/>
              </a:defRPr>
            </a:lvl9pPr>
          </a:lstStyle>
          <a:p>
            <a:pPr>
              <a:spcBef>
                <a:spcPct val="0"/>
              </a:spcBef>
              <a:buClrTx/>
              <a:buSzTx/>
              <a:buFontTx/>
              <a:buNone/>
            </a:pPr>
            <a:r>
              <a:rPr lang="en-US" sz="1400">
                <a:solidFill>
                  <a:srgbClr val="990033"/>
                </a:solidFill>
              </a:rPr>
              <a:t>Slide 17- </a:t>
            </a:r>
            <a:fld id="{32059E03-AECE-478A-B221-20ED198FF089}" type="slidenum">
              <a:rPr lang="en-US" sz="1400">
                <a:solidFill>
                  <a:srgbClr val="990033"/>
                </a:solidFill>
              </a:rPr>
              <a:pPr>
                <a:spcBef>
                  <a:spcPct val="0"/>
                </a:spcBef>
                <a:buClrTx/>
                <a:buSzTx/>
                <a:buFontTx/>
                <a:buNone/>
              </a:pPr>
              <a:t>10</a:t>
            </a:fld>
            <a:endParaRPr lang="en-CA" sz="1400">
              <a:solidFill>
                <a:srgbClr val="990033"/>
              </a:solidFill>
            </a:endParaRPr>
          </a:p>
        </p:txBody>
      </p:sp>
      <p:sp>
        <p:nvSpPr>
          <p:cNvPr id="67587" name="Rectangle 4"/>
          <p:cNvSpPr>
            <a:spLocks noGrp="1" noChangeArrowheads="1"/>
          </p:cNvSpPr>
          <p:nvPr>
            <p:ph type="title"/>
          </p:nvPr>
        </p:nvSpPr>
        <p:spPr>
          <a:xfrm>
            <a:off x="141668" y="286603"/>
            <a:ext cx="11951594" cy="1450757"/>
          </a:xfrm>
        </p:spPr>
        <p:txBody>
          <a:bodyPr/>
          <a:lstStyle/>
          <a:p>
            <a:pPr eaLnBrk="1" hangingPunct="1"/>
            <a:r>
              <a:rPr lang="en-US" dirty="0"/>
              <a:t>Characterizing Schedules based on </a:t>
            </a:r>
            <a:r>
              <a:rPr lang="en-US" dirty="0" err="1"/>
              <a:t>Serializability</a:t>
            </a:r>
            <a:r>
              <a:rPr lang="en-US" dirty="0"/>
              <a:t> </a:t>
            </a:r>
          </a:p>
        </p:txBody>
      </p:sp>
      <p:sp>
        <p:nvSpPr>
          <p:cNvPr id="67588" name="Rectangle 5"/>
          <p:cNvSpPr>
            <a:spLocks noGrp="1" noChangeArrowheads="1"/>
          </p:cNvSpPr>
          <p:nvPr>
            <p:ph type="body" idx="1"/>
          </p:nvPr>
        </p:nvSpPr>
        <p:spPr/>
        <p:txBody>
          <a:bodyPr/>
          <a:lstStyle/>
          <a:p>
            <a:pPr eaLnBrk="1" hangingPunct="1"/>
            <a:r>
              <a:rPr lang="en-US"/>
              <a:t>Result equivalent:</a:t>
            </a:r>
          </a:p>
          <a:p>
            <a:pPr lvl="1" eaLnBrk="1" hangingPunct="1"/>
            <a:r>
              <a:rPr lang="en-US"/>
              <a:t>Two schedules are called result equivalent if they produce the same final state of the database.</a:t>
            </a:r>
          </a:p>
          <a:p>
            <a:pPr eaLnBrk="1" hangingPunct="1"/>
            <a:r>
              <a:rPr lang="en-US"/>
              <a:t>Conflict equivalent:</a:t>
            </a:r>
          </a:p>
          <a:p>
            <a:pPr lvl="1" eaLnBrk="1" hangingPunct="1"/>
            <a:r>
              <a:rPr lang="en-US"/>
              <a:t>Two schedules are said to be conflict equivalent if the order of any two conflicting operations is the same in both schedules.</a:t>
            </a:r>
          </a:p>
          <a:p>
            <a:pPr eaLnBrk="1" hangingPunct="1"/>
            <a:r>
              <a:rPr lang="en-US"/>
              <a:t>Conflict serializable:</a:t>
            </a:r>
          </a:p>
          <a:p>
            <a:pPr lvl="1" eaLnBrk="1" hangingPunct="1"/>
            <a:r>
              <a:rPr lang="en-US"/>
              <a:t>A schedule S is said to be conflict serializable if it is conflict equivalent to some serial schedule S’.</a:t>
            </a:r>
          </a:p>
        </p:txBody>
      </p:sp>
    </p:spTree>
    <p:extLst>
      <p:ext uri="{BB962C8B-B14F-4D97-AF65-F5344CB8AC3E}">
        <p14:creationId xmlns:p14="http://schemas.microsoft.com/office/powerpoint/2010/main" val="13102020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a:xfrm>
            <a:off x="1313645" y="303214"/>
            <a:ext cx="10444765" cy="992187"/>
          </a:xfrm>
        </p:spPr>
        <p:txBody>
          <a:bodyPr>
            <a:normAutofit/>
          </a:bodyPr>
          <a:lstStyle/>
          <a:p>
            <a:r>
              <a:rPr lang="en-US" dirty="0"/>
              <a:t>Isolation levels in Transaction Processing</a:t>
            </a:r>
          </a:p>
        </p:txBody>
      </p:sp>
      <p:sp>
        <p:nvSpPr>
          <p:cNvPr id="3" name="Content Placeholder 2"/>
          <p:cNvSpPr>
            <a:spLocks noGrp="1"/>
          </p:cNvSpPr>
          <p:nvPr>
            <p:ph idx="1"/>
          </p:nvPr>
        </p:nvSpPr>
        <p:spPr>
          <a:xfrm>
            <a:off x="180303" y="1970467"/>
            <a:ext cx="11578107" cy="4134119"/>
          </a:xfrm>
        </p:spPr>
        <p:txBody>
          <a:bodyPr/>
          <a:lstStyle/>
          <a:p>
            <a:pPr algn="just">
              <a:defRPr/>
            </a:pPr>
            <a:r>
              <a:rPr lang="en-US" sz="2400" dirty="0"/>
              <a:t>A transaction isolation level is defined by the following phenomena –</a:t>
            </a:r>
          </a:p>
          <a:p>
            <a:pPr algn="just">
              <a:defRPr/>
            </a:pPr>
            <a:r>
              <a:rPr lang="en-US" sz="2400" b="1" dirty="0"/>
              <a:t>Dirty Read – </a:t>
            </a:r>
            <a:r>
              <a:rPr lang="en-US" sz="2400" dirty="0"/>
              <a:t>A Dirty read is the situation when a transaction reads a data that has not yet been committed. </a:t>
            </a:r>
          </a:p>
          <a:p>
            <a:pPr algn="just">
              <a:defRPr/>
            </a:pPr>
            <a:r>
              <a:rPr lang="en-US" sz="2400" b="1" dirty="0"/>
              <a:t>Non Repeatable read – </a:t>
            </a:r>
            <a:r>
              <a:rPr lang="en-US" sz="2400" dirty="0"/>
              <a:t>Non Repeatable read occurs when a transaction reads same row twice, and get a different value each time. </a:t>
            </a:r>
          </a:p>
          <a:p>
            <a:pPr algn="just">
              <a:defRPr/>
            </a:pPr>
            <a:r>
              <a:rPr lang="en-US" sz="2400" b="1" dirty="0"/>
              <a:t>Phantom Read – </a:t>
            </a:r>
            <a:r>
              <a:rPr lang="en-US" sz="2400" dirty="0"/>
              <a:t>Phantom Read occurs when two same queries are executed, but the rows retrieved by the two, are different.</a:t>
            </a:r>
          </a:p>
          <a:p>
            <a:pPr marL="0" indent="0" algn="just">
              <a:buNone/>
              <a:defRPr/>
            </a:pPr>
            <a:r>
              <a:rPr lang="en-US" sz="2400" dirty="0"/>
              <a:t>Based on these phenomena, The SQL standard defines four isolation levels :</a:t>
            </a:r>
          </a:p>
        </p:txBody>
      </p:sp>
      <p:sp>
        <p:nvSpPr>
          <p:cNvPr id="8602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sz="1400">
                <a:solidFill>
                  <a:srgbClr val="990033"/>
                </a:solidFill>
              </a:rPr>
              <a:t>Slide 17- </a:t>
            </a:r>
            <a:fld id="{778588A6-2AD0-4F92-8D68-6C0018EF7AA4}" type="slidenum">
              <a:rPr lang="en-US" sz="1400">
                <a:solidFill>
                  <a:srgbClr val="990033"/>
                </a:solidFill>
              </a:rPr>
              <a:pPr/>
              <a:t>11</a:t>
            </a:fld>
            <a:endParaRPr lang="en-CA" sz="1400">
              <a:solidFill>
                <a:srgbClr val="990033"/>
              </a:solidFill>
            </a:endParaRPr>
          </a:p>
        </p:txBody>
      </p:sp>
    </p:spTree>
    <p:extLst>
      <p:ext uri="{BB962C8B-B14F-4D97-AF65-F5344CB8AC3E}">
        <p14:creationId xmlns:p14="http://schemas.microsoft.com/office/powerpoint/2010/main" val="12343306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a:xfrm>
            <a:off x="1339402" y="324162"/>
            <a:ext cx="9654862" cy="992187"/>
          </a:xfrm>
        </p:spPr>
        <p:txBody>
          <a:bodyPr>
            <a:normAutofit fontScale="90000"/>
          </a:bodyPr>
          <a:lstStyle/>
          <a:p>
            <a:r>
              <a:rPr lang="en-US" dirty="0"/>
              <a:t>Isolation levels in Transaction Processing</a:t>
            </a:r>
          </a:p>
        </p:txBody>
      </p:sp>
      <p:sp>
        <p:nvSpPr>
          <p:cNvPr id="3" name="Content Placeholder 2"/>
          <p:cNvSpPr>
            <a:spLocks noGrp="1"/>
          </p:cNvSpPr>
          <p:nvPr>
            <p:ph idx="1"/>
          </p:nvPr>
        </p:nvSpPr>
        <p:spPr>
          <a:xfrm>
            <a:off x="1030311" y="2292439"/>
            <a:ext cx="9697790" cy="3812147"/>
          </a:xfrm>
        </p:spPr>
        <p:txBody>
          <a:bodyPr/>
          <a:lstStyle/>
          <a:p>
            <a:pPr algn="just">
              <a:defRPr/>
            </a:pPr>
            <a:r>
              <a:rPr lang="en-US" b="1" dirty="0"/>
              <a:t>Read Uncommitted – </a:t>
            </a:r>
            <a:r>
              <a:rPr lang="en-US" dirty="0"/>
              <a:t>Read Uncommitted is the lowest isolation level. In this level, one transaction may read not yet committed changes made by other transaction, thereby allowing dirty reads. In this level, transactions are not isolated from each other.</a:t>
            </a:r>
          </a:p>
          <a:p>
            <a:pPr marL="0" indent="0" algn="just">
              <a:buNone/>
              <a:defRPr/>
            </a:pPr>
            <a:endParaRPr lang="en-US" dirty="0"/>
          </a:p>
          <a:p>
            <a:pPr algn="just">
              <a:defRPr/>
            </a:pPr>
            <a:r>
              <a:rPr lang="en-US" b="1" dirty="0"/>
              <a:t>Read Committed – </a:t>
            </a:r>
            <a:r>
              <a:rPr lang="en-US" dirty="0"/>
              <a:t>This isolation level guarantees that any data read is committed at the moment it is read. Thus it does not allows dirty read. The transaction holds a read or write lock on the current row, and thus prevent other transactions from reading, updating or deleting it.</a:t>
            </a:r>
          </a:p>
          <a:p>
            <a:pPr>
              <a:defRPr/>
            </a:pPr>
            <a:endParaRPr lang="en-US" dirty="0"/>
          </a:p>
        </p:txBody>
      </p:sp>
      <p:sp>
        <p:nvSpPr>
          <p:cNvPr id="8704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sz="1400">
                <a:solidFill>
                  <a:srgbClr val="990033"/>
                </a:solidFill>
              </a:rPr>
              <a:t>Slide 17- </a:t>
            </a:r>
            <a:fld id="{26D473E3-FA39-487D-AEDD-B1CE479EE232}" type="slidenum">
              <a:rPr lang="en-US" sz="1400">
                <a:solidFill>
                  <a:srgbClr val="990033"/>
                </a:solidFill>
              </a:rPr>
              <a:pPr/>
              <a:t>12</a:t>
            </a:fld>
            <a:endParaRPr lang="en-CA" sz="1400">
              <a:solidFill>
                <a:srgbClr val="990033"/>
              </a:solidFill>
            </a:endParaRPr>
          </a:p>
        </p:txBody>
      </p:sp>
    </p:spTree>
    <p:extLst>
      <p:ext uri="{BB962C8B-B14F-4D97-AF65-F5344CB8AC3E}">
        <p14:creationId xmlns:p14="http://schemas.microsoft.com/office/powerpoint/2010/main" val="3280888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a:xfrm>
            <a:off x="1493949" y="716968"/>
            <a:ext cx="9515385" cy="992187"/>
          </a:xfrm>
        </p:spPr>
        <p:txBody>
          <a:bodyPr>
            <a:normAutofit fontScale="90000"/>
          </a:bodyPr>
          <a:lstStyle/>
          <a:p>
            <a:r>
              <a:rPr lang="en-US" dirty="0"/>
              <a:t>Isolation levels in Transaction Processing</a:t>
            </a:r>
          </a:p>
        </p:txBody>
      </p:sp>
      <p:sp>
        <p:nvSpPr>
          <p:cNvPr id="88067" name="Content Placeholder 2"/>
          <p:cNvSpPr>
            <a:spLocks noGrp="1"/>
          </p:cNvSpPr>
          <p:nvPr>
            <p:ph idx="1"/>
          </p:nvPr>
        </p:nvSpPr>
        <p:spPr>
          <a:xfrm>
            <a:off x="1493949" y="2240924"/>
            <a:ext cx="9285667" cy="3464418"/>
          </a:xfrm>
        </p:spPr>
        <p:txBody>
          <a:bodyPr/>
          <a:lstStyle/>
          <a:p>
            <a:pPr algn="just"/>
            <a:r>
              <a:rPr lang="en-US" b="1" dirty="0"/>
              <a:t>Repeatable Read – </a:t>
            </a:r>
            <a:r>
              <a:rPr lang="en-US" dirty="0"/>
              <a:t>This is the most restrictive isolation level. The transaction holds read locks on all rows it references and writes locks on all rows it inserts, updates, or deletes. Since other transaction cannot read, update or delete these rows, consequently it avoids non-repeatable read.</a:t>
            </a:r>
          </a:p>
          <a:p>
            <a:pPr algn="just"/>
            <a:r>
              <a:rPr lang="en-US" b="1" dirty="0" err="1"/>
              <a:t>Serializable</a:t>
            </a:r>
            <a:r>
              <a:rPr lang="en-US" b="1" dirty="0"/>
              <a:t> – </a:t>
            </a:r>
            <a:r>
              <a:rPr lang="en-US" dirty="0"/>
              <a:t>This is the Highest isolation level. A </a:t>
            </a:r>
            <a:r>
              <a:rPr lang="en-US" i="1" dirty="0" err="1"/>
              <a:t>serializable</a:t>
            </a:r>
            <a:r>
              <a:rPr lang="en-US" dirty="0"/>
              <a:t> execution is guaranteed to be </a:t>
            </a:r>
            <a:r>
              <a:rPr lang="en-US" dirty="0" err="1"/>
              <a:t>serializable</a:t>
            </a:r>
            <a:r>
              <a:rPr lang="en-US" dirty="0"/>
              <a:t>. </a:t>
            </a:r>
            <a:r>
              <a:rPr lang="en-US" dirty="0" err="1"/>
              <a:t>Serializable</a:t>
            </a:r>
            <a:r>
              <a:rPr lang="en-US" dirty="0"/>
              <a:t> execution is defined to be an execution of operations in which concurrently executing transactions appears to be serially executing.</a:t>
            </a:r>
          </a:p>
          <a:p>
            <a:endParaRPr lang="en-US" dirty="0"/>
          </a:p>
        </p:txBody>
      </p:sp>
      <p:sp>
        <p:nvSpPr>
          <p:cNvPr id="8806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defRPr>
            </a:lvl1pPr>
            <a:lvl2pPr marL="742950" indent="-285750">
              <a:defRPr sz="2400">
                <a:solidFill>
                  <a:schemeClr val="tx1"/>
                </a:solidFill>
                <a:latin typeface="Arial" panose="020B0604020202020204" pitchFamily="34" charset="0"/>
              </a:defRPr>
            </a:lvl2pPr>
            <a:lvl3pPr marL="1143000" indent="-228600">
              <a:defRPr sz="2400">
                <a:solidFill>
                  <a:schemeClr val="tx1"/>
                </a:solidFill>
                <a:latin typeface="Arial" panose="020B0604020202020204" pitchFamily="34" charset="0"/>
              </a:defRPr>
            </a:lvl3pPr>
            <a:lvl4pPr marL="1600200" indent="-228600">
              <a:defRPr sz="2400">
                <a:solidFill>
                  <a:schemeClr val="tx1"/>
                </a:solidFill>
                <a:latin typeface="Arial" panose="020B0604020202020204" pitchFamily="34" charset="0"/>
              </a:defRPr>
            </a:lvl4pPr>
            <a:lvl5pPr marL="2057400" indent="-22860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r>
              <a:rPr lang="en-US" sz="1400">
                <a:solidFill>
                  <a:srgbClr val="990033"/>
                </a:solidFill>
              </a:rPr>
              <a:t>Slide 17- </a:t>
            </a:r>
            <a:fld id="{D9703818-B283-42B8-9BE8-63F39E20D5B9}" type="slidenum">
              <a:rPr lang="en-US" sz="1400">
                <a:solidFill>
                  <a:srgbClr val="990033"/>
                </a:solidFill>
              </a:rPr>
              <a:pPr/>
              <a:t>13</a:t>
            </a:fld>
            <a:endParaRPr lang="en-CA" sz="1400">
              <a:solidFill>
                <a:srgbClr val="990033"/>
              </a:solidFill>
            </a:endParaRPr>
          </a:p>
        </p:txBody>
      </p:sp>
    </p:spTree>
    <p:extLst>
      <p:ext uri="{BB962C8B-B14F-4D97-AF65-F5344CB8AC3E}">
        <p14:creationId xmlns:p14="http://schemas.microsoft.com/office/powerpoint/2010/main" val="8298428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A03D13D-0AF5-4B48-8187-B9955F4F58BC}"/>
              </a:ext>
            </a:extLst>
          </p:cNvPr>
          <p:cNvSpPr>
            <a:spLocks noGrp="1"/>
          </p:cNvSpPr>
          <p:nvPr>
            <p:ph type="title"/>
          </p:nvPr>
        </p:nvSpPr>
        <p:spPr>
          <a:xfrm>
            <a:off x="1066800" y="2496403"/>
            <a:ext cx="10058400" cy="1450757"/>
          </a:xfrm>
        </p:spPr>
        <p:txBody>
          <a:bodyPr/>
          <a:lstStyle/>
          <a:p>
            <a:pPr algn="ctr"/>
            <a:r>
              <a:rPr lang="en-IN" dirty="0"/>
              <a:t>Thank you </a:t>
            </a:r>
          </a:p>
        </p:txBody>
      </p:sp>
      <p:sp>
        <p:nvSpPr>
          <p:cNvPr id="2" name="Date Placeholder 1"/>
          <p:cNvSpPr>
            <a:spLocks noGrp="1"/>
          </p:cNvSpPr>
          <p:nvPr>
            <p:ph type="dt" sz="half" idx="10"/>
          </p:nvPr>
        </p:nvSpPr>
        <p:spPr/>
        <p:txBody>
          <a:bodyPr/>
          <a:lstStyle/>
          <a:p>
            <a:fld id="{63EEA23F-1258-4CDD-B0AE-D7AA4C94D112}" type="datetime8">
              <a:rPr lang="en-IN" smtClean="0"/>
              <a:t>06-02-2023 09:17</a:t>
            </a:fld>
            <a:endParaRPr lang="en-IN" dirty="0"/>
          </a:p>
        </p:txBody>
      </p:sp>
    </p:spTree>
    <p:extLst>
      <p:ext uri="{BB962C8B-B14F-4D97-AF65-F5344CB8AC3E}">
        <p14:creationId xmlns:p14="http://schemas.microsoft.com/office/powerpoint/2010/main" val="541376327"/>
      </p:ext>
    </p:extLst>
  </p:cSld>
  <p:clrMapOvr>
    <a:masterClrMapping/>
  </p:clrMapOvr>
</p:sld>
</file>

<file path=ppt/theme/theme1.xml><?xml version="1.0" encoding="utf-8"?>
<a:theme xmlns:a="http://schemas.openxmlformats.org/drawingml/2006/main" name="Retrospect">
  <a:themeElements>
    <a:clrScheme name="Custom 1">
      <a:dk1>
        <a:sysClr val="windowText" lastClr="000000"/>
      </a:dk1>
      <a:lt1>
        <a:sysClr val="window" lastClr="FFFFFF"/>
      </a:lt1>
      <a:dk2>
        <a:srgbClr val="775F55"/>
      </a:dk2>
      <a:lt2>
        <a:srgbClr val="EBDDC3"/>
      </a:lt2>
      <a:accent1>
        <a:srgbClr val="94B6D2"/>
      </a:accent1>
      <a:accent2>
        <a:srgbClr val="7030A0"/>
      </a:accent2>
      <a:accent3>
        <a:srgbClr val="A5AB81"/>
      </a:accent3>
      <a:accent4>
        <a:srgbClr val="D8B25C"/>
      </a:accent4>
      <a:accent5>
        <a:srgbClr val="7BA79D"/>
      </a:accent5>
      <a:accent6>
        <a:srgbClr val="968C8C"/>
      </a:accent6>
      <a:hlink>
        <a:srgbClr val="F7B615"/>
      </a:hlink>
      <a:folHlink>
        <a:srgbClr val="704404"/>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2322</TotalTime>
  <Words>1157</Words>
  <Application>Microsoft Office PowerPoint</Application>
  <PresentationFormat>Widescreen</PresentationFormat>
  <Paragraphs>102</Paragraphs>
  <Slides>14</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Tahoma</vt:lpstr>
      <vt:lpstr>Wingdings</vt:lpstr>
      <vt:lpstr>Retrospect</vt:lpstr>
      <vt:lpstr>Characterizing Schedules based on Recoverability</vt:lpstr>
      <vt:lpstr>Characterizing Schedules based on Recoverability</vt:lpstr>
      <vt:lpstr>Characterizing Schedules based on Recoverability </vt:lpstr>
      <vt:lpstr>Characterizing Schedules based on Serializability </vt:lpstr>
      <vt:lpstr>Characterizing Schedules based on Serializability </vt:lpstr>
      <vt:lpstr>Characterizing Schedules based on Recoverability</vt:lpstr>
      <vt:lpstr>Characterizing Schedules based on Recoverability</vt:lpstr>
      <vt:lpstr>Characterizing Schedules based on Recoverability </vt:lpstr>
      <vt:lpstr>Characterizing Schedules based on Serializability </vt:lpstr>
      <vt:lpstr>Characterizing Schedules based on Serializability </vt:lpstr>
      <vt:lpstr>Isolation levels in Transaction Processing</vt:lpstr>
      <vt:lpstr>Isolation levels in Transaction Processing</vt:lpstr>
      <vt:lpstr>Isolation levels in Transaction Processing</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Sanjeetha R</dc:creator>
  <cp:lastModifiedBy>ADMIN</cp:lastModifiedBy>
  <cp:revision>397</cp:revision>
  <dcterms:created xsi:type="dcterms:W3CDTF">2020-08-26T05:56:20Z</dcterms:created>
  <dcterms:modified xsi:type="dcterms:W3CDTF">2023-02-06T03:47:12Z</dcterms:modified>
</cp:coreProperties>
</file>