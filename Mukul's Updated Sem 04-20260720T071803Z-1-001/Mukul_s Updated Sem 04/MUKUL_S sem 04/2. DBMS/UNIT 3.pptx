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  <p:sldMasterId id="2147483655" r:id="rId5"/>
    <p:sldMasterId id="2147483656" r:id="rId6"/>
    <p:sldMasterId id="214748365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</p:sldIdLst>
  <p:sldSz cy="6858000" cx="9144000"/>
  <p:notesSz cx="6858000" cy="9144000"/>
  <p:embeddedFontLst>
    <p:embeddedFont>
      <p:font typeface="Libre Franklin"/>
      <p:regular r:id="rId79"/>
      <p:bold r:id="rId80"/>
      <p:italic r:id="rId81"/>
      <p:boldItalic r:id="rId82"/>
    </p:embeddedFont>
    <p:embeddedFont>
      <p:font typeface="Tahoma"/>
      <p:regular r:id="rId83"/>
      <p:bold r:id="rId84"/>
    </p:embeddedFont>
    <p:embeddedFont>
      <p:font typeface="Libre Franklin Medium"/>
      <p:regular r:id="rId85"/>
      <p:bold r:id="rId86"/>
      <p:italic r:id="rId87"/>
      <p:boldItalic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84" Type="http://schemas.openxmlformats.org/officeDocument/2006/relationships/font" Target="fonts/Tahoma-bold.fntdata"/><Relationship Id="rId83" Type="http://schemas.openxmlformats.org/officeDocument/2006/relationships/font" Target="fonts/Tahoma-regular.fntdata"/><Relationship Id="rId42" Type="http://schemas.openxmlformats.org/officeDocument/2006/relationships/slide" Target="slides/slide34.xml"/><Relationship Id="rId86" Type="http://schemas.openxmlformats.org/officeDocument/2006/relationships/font" Target="fonts/LibreFranklinMedium-bold.fntdata"/><Relationship Id="rId41" Type="http://schemas.openxmlformats.org/officeDocument/2006/relationships/slide" Target="slides/slide33.xml"/><Relationship Id="rId85" Type="http://schemas.openxmlformats.org/officeDocument/2006/relationships/font" Target="fonts/LibreFranklinMedium-regular.fntdata"/><Relationship Id="rId44" Type="http://schemas.openxmlformats.org/officeDocument/2006/relationships/slide" Target="slides/slide36.xml"/><Relationship Id="rId88" Type="http://schemas.openxmlformats.org/officeDocument/2006/relationships/font" Target="fonts/LibreFranklinMedium-boldItalic.fntdata"/><Relationship Id="rId43" Type="http://schemas.openxmlformats.org/officeDocument/2006/relationships/slide" Target="slides/slide35.xml"/><Relationship Id="rId87" Type="http://schemas.openxmlformats.org/officeDocument/2006/relationships/font" Target="fonts/LibreFranklinMedium-italic.fntdata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80" Type="http://schemas.openxmlformats.org/officeDocument/2006/relationships/font" Target="fonts/LibreFranklin-bold.fntdata"/><Relationship Id="rId82" Type="http://schemas.openxmlformats.org/officeDocument/2006/relationships/font" Target="fonts/LibreFranklin-boldItalic.fntdata"/><Relationship Id="rId81" Type="http://schemas.openxmlformats.org/officeDocument/2006/relationships/font" Target="fonts/LibreFranklin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31" Type="http://schemas.openxmlformats.org/officeDocument/2006/relationships/slide" Target="slides/slide23.xml"/><Relationship Id="rId75" Type="http://schemas.openxmlformats.org/officeDocument/2006/relationships/slide" Target="slides/slide67.xml"/><Relationship Id="rId30" Type="http://schemas.openxmlformats.org/officeDocument/2006/relationships/slide" Target="slides/slide22.xml"/><Relationship Id="rId74" Type="http://schemas.openxmlformats.org/officeDocument/2006/relationships/slide" Target="slides/slide66.xml"/><Relationship Id="rId33" Type="http://schemas.openxmlformats.org/officeDocument/2006/relationships/slide" Target="slides/slide25.xml"/><Relationship Id="rId77" Type="http://schemas.openxmlformats.org/officeDocument/2006/relationships/slide" Target="slides/slide69.xml"/><Relationship Id="rId32" Type="http://schemas.openxmlformats.org/officeDocument/2006/relationships/slide" Target="slides/slide24.xml"/><Relationship Id="rId76" Type="http://schemas.openxmlformats.org/officeDocument/2006/relationships/slide" Target="slides/slide68.xml"/><Relationship Id="rId35" Type="http://schemas.openxmlformats.org/officeDocument/2006/relationships/slide" Target="slides/slide27.xml"/><Relationship Id="rId79" Type="http://schemas.openxmlformats.org/officeDocument/2006/relationships/font" Target="fonts/LibreFranklin-regular.fntdata"/><Relationship Id="rId34" Type="http://schemas.openxmlformats.org/officeDocument/2006/relationships/slide" Target="slides/slide26.xml"/><Relationship Id="rId78" Type="http://schemas.openxmlformats.org/officeDocument/2006/relationships/slide" Target="slides/slide70.xml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slide" Target="slides/slide60.xml"/><Relationship Id="rId23" Type="http://schemas.openxmlformats.org/officeDocument/2006/relationships/slide" Target="slides/slide15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slide" Target="slides/slide6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3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5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6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7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8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9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30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31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2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33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34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35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36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37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38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39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40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3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9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0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3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5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7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8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9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0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3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6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" name="Google Shape;603;p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7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8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9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6" name="Google Shape;626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0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p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81000" y="4853411"/>
            <a:ext cx="8458200" cy="122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81000" y="38862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38E2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581400" y="76200"/>
            <a:ext cx="2895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38E2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 rot="5400000">
            <a:off x="2385219" y="-526257"/>
            <a:ext cx="4525962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38E2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304800" y="16002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4648200" y="1600200"/>
            <a:ext cx="434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79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7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7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7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38E2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38E2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>
            <a:off x="514350" y="5349902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3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514350" y="1057986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3581400" y="76200"/>
            <a:ext cx="2895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ek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9pPr>
          </a:lstStyle>
          <a:p/>
        </p:txBody>
      </p:sp>
      <p:cxnSp>
        <p:nvCxnSpPr>
          <p:cNvPr id="42" name="Google Shape;42;p5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5"/>
          <p:cNvCxnSpPr/>
          <p:nvPr/>
        </p:nvCxnSpPr>
        <p:spPr>
          <a:xfrm>
            <a:off x="514350" y="1057986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  <a:defRPr b="0" i="0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9.png"/><Relationship Id="rId4" Type="http://schemas.openxmlformats.org/officeDocument/2006/relationships/image" Target="../media/image3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8.jpg"/><Relationship Id="rId4" Type="http://schemas.openxmlformats.org/officeDocument/2006/relationships/image" Target="../media/image24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4.jpg"/><Relationship Id="rId4" Type="http://schemas.openxmlformats.org/officeDocument/2006/relationships/image" Target="../media/image3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ctrTitle"/>
          </p:nvPr>
        </p:nvSpPr>
        <p:spPr>
          <a:xfrm>
            <a:off x="762000" y="1371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UNIT – 3 </a:t>
            </a:r>
            <a:b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</a:b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INTRODUCTION TO SQL</a:t>
            </a:r>
            <a:endParaRPr/>
          </a:p>
        </p:txBody>
      </p:sp>
      <p:sp>
        <p:nvSpPr>
          <p:cNvPr id="79" name="Google Shape;79;p11"/>
          <p:cNvSpPr txBox="1"/>
          <p:nvPr/>
        </p:nvSpPr>
        <p:spPr>
          <a:xfrm>
            <a:off x="1498600" y="6245225"/>
            <a:ext cx="645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558800" y="330200"/>
            <a:ext cx="82296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OBJECTIVES</a:t>
            </a:r>
            <a:endParaRPr/>
          </a:p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384175" y="1368425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Define terms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Interpret history and role of SQL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Define a database using SQL data definition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Write single table queries using 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Establish referential integrity using SQL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Discuss SQL:1999 and SQL:2008 standards</a:t>
            </a:r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685800" y="344487"/>
            <a:ext cx="7772400" cy="8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SQL OVERVIEW</a:t>
            </a:r>
            <a:endParaRPr/>
          </a:p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533400" y="1447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Structured Query Language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standard for relational database management systems (RDBMS) </a:t>
            </a:r>
            <a:endParaRPr/>
          </a:p>
          <a:p>
            <a:pPr indent="-21844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1844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1844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RDBMS: A database management system that manages data as a collection of tables in which all relationships are represented by common values in related tables</a:t>
            </a:r>
            <a:endParaRPr/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2660650"/>
            <a:ext cx="6194425" cy="14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685800" y="363537"/>
            <a:ext cx="7772400" cy="73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HISTORY OF SQL</a:t>
            </a:r>
            <a:endParaRPr/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442912" y="1303337"/>
            <a:ext cx="819308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8589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1970–E. F. Codd develops relational database concept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1974-1979–System R with Sequel (later SQL) created at IBM Research Lab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1979–Oracle markets first relational DB with SQL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1981 – SQL/DS first available RDBMS system on DOS/VSE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Others followed: INGRES (1981), IDM (1982), DG/SGL (1984), Sybase (1986)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1986–ANSI SQL standard released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1989, 1992, 1999, 2003, 2006, 2008–Major ANSI standard updates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🞭"/>
            </a:pP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Current–SQL is supported by most major database vendors</a:t>
            </a:r>
            <a:endParaRPr/>
          </a:p>
          <a:p>
            <a:pPr indent="-23622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BENEFITS OF A STANDARDIZED RELATIONAL LANGUAGE</a:t>
            </a:r>
            <a:endParaRPr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457200" y="1785937"/>
            <a:ext cx="8686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Reduced training costs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Productivity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Application portability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Application longevity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Reduced dependence on a single vendor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Cross-system communication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457200"/>
            <a:ext cx="8559200" cy="51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STRUCTURED QUERY LANGUAGE (SQL)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Categories of SQL function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definition language (DDL)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manipulation language (DML)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Nonprocedural language with basic command vocabulary set of less than 100 words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Differences in SQL dialects are minor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682625" y="398462"/>
            <a:ext cx="77724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SQL ENVIRONMENT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211137" y="1193800"/>
            <a:ext cx="8610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Catalog</a:t>
            </a:r>
            <a:r>
              <a:rPr b="0" i="0" lang="en-US" sz="24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b="0" i="0" sz="20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set of schemas that constitute the description of a database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Schema</a:t>
            </a:r>
            <a:endParaRPr b="0" i="0" sz="24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structure that contains descriptions of objects created by a user (base tables, views, constraints)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Definition Language (DDL)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Commands that define a database, including creating, altering, and dropping tables and establishing constraints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Manipulation Language (DML)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Commands that maintain and query a database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Control Language (DCL)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Commands that control a database, including administering privileges and committing data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TABLE 7.1 - SQL DATA DEFINITION COMMAND 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752600"/>
            <a:ext cx="8366125" cy="43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TABLE 7.2 - SQL DATA MANIPULATION COMMANDS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674812"/>
            <a:ext cx="6024562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657225" y="319087"/>
            <a:ext cx="80772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SQL DATA TYPES</a:t>
            </a: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jpg" id="153" name="Google Shape;1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962" y="1111250"/>
            <a:ext cx="8420100" cy="51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685800" y="330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SQL DATABASE DEFINITION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406400" y="1179512"/>
            <a:ext cx="854868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Definition Language (DDL)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Major CREATE statements: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SCHEMA–defines a portion of the database owned by a particular user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TABLE–defines a new table and its columns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VIEW–defines a logical table from one or more tables or views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Other CREATE statements: </a:t>
            </a: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CHARACTER SET, COLLATION, TRANSLATION, ASSERTION, DOMAIN</a:t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950899" y="392100"/>
            <a:ext cx="76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STEPS IN TABLE CREATION</a:t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276225" y="1270000"/>
            <a:ext cx="8867775" cy="4830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Identify data types for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Identify columns that can and cannot be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Identify columns that must be unique (candidate keys)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Identify primary key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–</a:t>
            </a: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foreign key mates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Determine default 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Identify constraints on columns (domain specifications)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the table and associated indexes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CREATING TABLE STRUCTURES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TABLE tablename();</a:t>
            </a:r>
            <a:endParaRPr/>
          </a:p>
          <a:p>
            <a:pPr indent="-1612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76200" y="2422525"/>
            <a:ext cx="7591425" cy="22939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761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table_name </a:t>
            </a:r>
            <a:r>
              <a:rPr b="0" i="0" lang="en-US" sz="2400" u="none" cap="none" strike="noStrik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column_1 data_type column_constraint</a:t>
            </a:r>
            <a:r>
              <a:rPr b="0" i="0" lang="en-US" sz="2400" u="none" cap="none" strike="noStrik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column_2 data_type column_constraint</a:t>
            </a:r>
            <a:r>
              <a:rPr b="0" i="0" lang="en-US" sz="2400" u="none" cap="none" strike="noStrik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400" u="none" cap="none" strike="noStrik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table_constraint </a:t>
            </a:r>
            <a:r>
              <a:rPr b="0" i="0" lang="en-US" sz="2400" u="none" cap="none" strike="noStrik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1250950" y="246062"/>
            <a:ext cx="7254875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6-5 General syntax for CREATE TABLE statement used in data definition language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jpg" id="183" name="Google Shape;1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" y="1214437"/>
            <a:ext cx="6418262" cy="492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EXAMPLES FOR CREATING TABLE</a:t>
            </a:r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304800" y="1927225"/>
            <a:ext cx="8240712" cy="34623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761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Students 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SID number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800" u="none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NOT NULL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student_name varchar2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800" u="none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NOT NULL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city varchar2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2800" u="none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z="28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DROP TABLE Students;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Exercise:  Create Student table with variations;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457200" y="369887"/>
            <a:ext cx="803433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REMOVING TABLES</a:t>
            </a:r>
            <a:endParaRPr/>
          </a:p>
        </p:txBody>
      </p:sp>
      <p:sp>
        <p:nvSpPr>
          <p:cNvPr id="196" name="Google Shape;196;p27"/>
          <p:cNvSpPr txBox="1"/>
          <p:nvPr>
            <p:ph idx="1" type="body"/>
          </p:nvPr>
        </p:nvSpPr>
        <p:spPr>
          <a:xfrm>
            <a:off x="231775" y="132238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40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🞭"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DROP TABLE statement allows you to remove tables from your schema: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40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🞤"/>
            </a:pPr>
            <a:r>
              <a:rPr b="0" i="0" lang="en-US" sz="3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DROP TABLE CUSTOMER_T</a:t>
            </a:r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INSERTING VALUES INTO TABLE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 INTO 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table_name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(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column1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column2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column3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...)</a:t>
            </a:r>
            <a:b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VALUES (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value1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value2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value3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...);</a:t>
            </a:r>
            <a:endParaRPr/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1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 INTO 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table_name</a:t>
            </a:r>
            <a:b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VALUES (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value1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value2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</a:t>
            </a:r>
            <a:r>
              <a:rPr b="0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value3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...);</a:t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Product Schema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Product Table Schema</a:t>
            </a:r>
            <a:endParaRPr/>
          </a:p>
        </p:txBody>
      </p:sp>
      <p:sp>
        <p:nvSpPr>
          <p:cNvPr id="218" name="Google Shape;218;p30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CREATE TABLE products (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productID    INT UNSIGNED  NOT NULL,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productCode  CHAR(10)       NOT NULL, 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name         VARCHAR(30)   NOT NULL, 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quantity     INT UNSIGNED  NOT NULL, 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price        DECIMAL(7,2)  NOT NULL DEFAULT 99999.99,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PRIMARY KEY  (productID)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);</a:t>
            </a:r>
            <a:endParaRPr b="1"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Inserting values - 3 variations</a:t>
            </a:r>
            <a:endParaRPr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5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1.-- Insert a row with all the column values</a:t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mysql&gt; </a:t>
            </a: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 products VALUES (1001, 'PEN', 'Pen Red', 5000, 1.23);</a:t>
            </a:r>
            <a:endParaRPr b="1"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5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2.-- Insert multiple rows in one command</a:t>
            </a:r>
            <a:endParaRPr sz="1500">
              <a:solidFill>
                <a:srgbClr val="0099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mysql&gt; </a:t>
            </a: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 products VALUES</a:t>
            </a:r>
            <a:endParaRPr b="1"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(1002, 'PEN', 'Pen Blue',  8000, 1.25),</a:t>
            </a:r>
            <a:endParaRPr b="1"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(1003, 'PEN', 'Pen Black', 2000, 1.25);</a:t>
            </a:r>
            <a:endParaRPr b="1"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5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3.-- Missing columns get their default values</a:t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mysql&gt; </a:t>
            </a: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 products (productID,productCode, name) VALUES (1004,'PEC', 'Pencil HB');</a:t>
            </a:r>
            <a:endParaRPr b="1"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226" name="Google Shape;226;p31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304800" y="457200"/>
            <a:ext cx="8686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2315">
                <a:solidFill>
                  <a:srgbClr val="0A846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Querying the Database - </a:t>
            </a:r>
            <a:r>
              <a:rPr b="1" lang="en-US" sz="2315">
                <a:solidFill>
                  <a:srgbClr val="0A8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4700"/>
          </a:p>
        </p:txBody>
      </p:sp>
      <p:sp>
        <p:nvSpPr>
          <p:cNvPr id="232" name="Google Shape;232;p32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0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6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- List all the rows of the specified columns</a:t>
            </a:r>
            <a:endParaRPr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column1Name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column2Name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, ... FROM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endParaRPr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600">
              <a:solidFill>
                <a:srgbClr val="009900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-- List all the rows of ALL columns, * is a wildcard denoting all columns</a:t>
            </a:r>
            <a:endParaRPr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FROM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endParaRPr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600">
              <a:solidFill>
                <a:srgbClr val="009900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-- List rows that meet the specified </a:t>
            </a:r>
            <a:r>
              <a:rPr i="1" lang="en-US" sz="16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criteria</a:t>
            </a:r>
            <a:r>
              <a:rPr lang="en-US" sz="16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b="1" lang="en-US" sz="1900">
                <a:solidFill>
                  <a:srgbClr val="FF00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WHERE clause</a:t>
            </a:r>
            <a:endParaRPr b="1" sz="1900">
              <a:solidFill>
                <a:srgbClr val="FF0000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column1Name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column2Name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,... FROM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WHERE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criteria</a:t>
            </a:r>
            <a:endParaRPr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FROM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WHERE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criteria</a:t>
            </a:r>
            <a:endParaRPr i="1"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233" name="Google Shape;233;p32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Queries</a:t>
            </a:r>
            <a:endParaRPr/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List the name and price .</a:t>
            </a:r>
            <a:endParaRPr sz="2200"/>
          </a:p>
          <a:p>
            <a:pPr indent="-368300" lvl="0" marL="457200" marR="101600" rtl="0" algn="just">
              <a:lnSpc>
                <a:spcPct val="131625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List all rows of ALL the columns</a:t>
            </a:r>
            <a:endParaRPr sz="2200">
              <a:solidFill>
                <a:srgbClr val="0099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SELECT NOW();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US" sz="2200"/>
              <a:t>SELECT 1+1;</a:t>
            </a:r>
            <a:endParaRPr sz="2200"/>
          </a:p>
          <a:p>
            <a:pPr indent="-3086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AutoNum type="arabicPeriod"/>
            </a:pPr>
            <a:r>
              <a:t/>
            </a:r>
            <a:endParaRPr/>
          </a:p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304800" y="457200"/>
            <a:ext cx="86868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5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Comparison Operators</a:t>
            </a:r>
            <a:endParaRPr sz="4700"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304800" y="1231149"/>
            <a:ext cx="8686800" cy="48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For numbers (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DECIMAL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),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you could use comparison operators: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'='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(equal to),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'&lt;&gt;'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or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'!='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(not equal to),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'&gt;'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(greater than),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'&lt;'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(less than),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'&gt;='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(greater than or equal to),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'&lt;='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(less than or equal to),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rgbClr val="FF0000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to compare two numbers.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</a:t>
            </a:r>
            <a:endParaRPr sz="21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For example, 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price &gt; 1.0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quantity &lt;= 500</a:t>
            </a:r>
            <a:r>
              <a:rPr lang="en-US" sz="21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.</a:t>
            </a:r>
            <a:endParaRPr sz="4300"/>
          </a:p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304800" y="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Execute Queries</a:t>
            </a:r>
            <a:endParaRPr/>
          </a:p>
        </p:txBody>
      </p:sp>
      <p:sp>
        <p:nvSpPr>
          <p:cNvPr id="253" name="Google Shape;253;p35"/>
          <p:cNvSpPr txBox="1"/>
          <p:nvPr>
            <p:ph idx="1" type="body"/>
          </p:nvPr>
        </p:nvSpPr>
        <p:spPr>
          <a:xfrm>
            <a:off x="304800" y="1115824"/>
            <a:ext cx="8686800" cy="4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name, price FROM products </a:t>
            </a: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price &lt; 1.0</a:t>
            </a:r>
            <a:r>
              <a:rPr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name, quantity FROM products </a:t>
            </a: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quantity &lt;= 2000</a:t>
            </a:r>
            <a:r>
              <a:rPr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7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***** ( Type is String) </a:t>
            </a:r>
            <a:endParaRPr sz="1700">
              <a:solidFill>
                <a:srgbClr val="E31B23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name, price FROM products </a:t>
            </a:r>
            <a:r>
              <a:rPr b="1"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productCode = 'PEN'</a:t>
            </a:r>
            <a:r>
              <a:rPr lang="en-US" sz="17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3900"/>
          </a:p>
        </p:txBody>
      </p:sp>
      <p:sp>
        <p:nvSpPr>
          <p:cNvPr id="254" name="Google Shape;254;p35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304800" y="457200"/>
            <a:ext cx="8686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5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String Pattern Matching - </a:t>
            </a:r>
            <a:r>
              <a:rPr b="1" lang="en-US" sz="15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LIKE</a:t>
            </a:r>
            <a:r>
              <a:rPr b="1" lang="en-US" sz="15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1" lang="en-US" sz="15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LIKE with wildcards: % and _ (underscore)</a:t>
            </a:r>
            <a:endParaRPr b="1" sz="1535">
              <a:solidFill>
                <a:srgbClr val="44444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100"/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04800" y="1212337"/>
            <a:ext cx="8686800" cy="48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matches any single character; 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'%'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matches any number of characters (including zero). 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For example,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46075" lvl="0" marL="711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ahoma"/>
              <a:buChar char="●"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'abc%'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matches strings beginning with 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'abc'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;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60"/>
              <a:buNone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Ex: aabcabc -? ,abcxyz -?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46075" lvl="0" marL="711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ahoma"/>
              <a:buChar char="●"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'%xyz'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matches strings ending with 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'xyz'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;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60"/>
              <a:buNone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Ex: abzxyz -? , abxyzz -?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46075" lvl="0" marL="711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ahoma"/>
              <a:buChar char="●"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'%aaa%'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matches strings containing 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'aaa'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;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46075" lvl="0" marL="711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ahoma"/>
              <a:buChar char="●"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'___'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matches strings containing exactly three characters; 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46075" lvl="0" marL="711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ahoma"/>
              <a:buChar char="●"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'a_b%'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matches strings beginning with 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followed by any single character, followed by 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'b'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followed by zero or more characters.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261" name="Google Shape;261;p36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7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Queries</a:t>
            </a:r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304800" y="1491487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-- "name" begins with 'PENCIL'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mysql&gt; SELECT name, price FROM products 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name LIKE 'PENCIL%'</a:t>
            </a: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name, price FROM products 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name LIKE 'P__ %'</a:t>
            </a: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3800"/>
          </a:p>
        </p:txBody>
      </p:sp>
      <p:sp>
        <p:nvSpPr>
          <p:cNvPr id="268" name="Google Shape;268;p37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304800" y="457200"/>
            <a:ext cx="86868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Arithmetic Operators  ,  Logical Operators - </a:t>
            </a: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6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XOR</a:t>
            </a:r>
            <a:endParaRPr b="1" sz="1635">
              <a:solidFill>
                <a:srgbClr val="44444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00"/>
          </a:p>
        </p:txBody>
      </p:sp>
      <p:sp>
        <p:nvSpPr>
          <p:cNvPr id="274" name="Google Shape;274;p38"/>
          <p:cNvSpPr txBox="1"/>
          <p:nvPr>
            <p:ph idx="1" type="body"/>
          </p:nvPr>
        </p:nvSpPr>
        <p:spPr>
          <a:xfrm>
            <a:off x="304800" y="1162099"/>
            <a:ext cx="8686800" cy="49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You can combine multiple conditions with boolean operators 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XOR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You can also invert a condition using operator </a:t>
            </a:r>
            <a:r>
              <a:rPr lang="en-US" sz="16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US" sz="1650">
                <a:solidFill>
                  <a:srgbClr val="FF0000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.</a:t>
            </a:r>
            <a:endParaRPr sz="1650">
              <a:solidFill>
                <a:srgbClr val="FF0000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50">
              <a:solidFill>
                <a:srgbClr val="FF0000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</a:t>
            </a: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quantity &gt;= 5000 AND name LIKE 'Pen %'</a:t>
            </a: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</a:t>
            </a: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quantity &gt;= 5000 AND price &lt; 1.24 AND name LIKE 'Pen %'</a:t>
            </a: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</a:t>
            </a: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NOT (quantity &gt;= 5000)</a:t>
            </a:r>
            <a:endParaRPr b="1"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50">
              <a:solidFill>
                <a:srgbClr val="FF0000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38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>
            <p:ph type="title"/>
          </p:nvPr>
        </p:nvSpPr>
        <p:spPr>
          <a:xfrm>
            <a:off x="304800" y="457200"/>
            <a:ext cx="8686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17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-US" sz="17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7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IN                             BETWEEN , NOT BETWEEN</a:t>
            </a:r>
            <a:endParaRPr b="1" sz="1735">
              <a:solidFill>
                <a:srgbClr val="44444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300"/>
          </a:p>
        </p:txBody>
      </p:sp>
      <p:sp>
        <p:nvSpPr>
          <p:cNvPr id="281" name="Google Shape;281;p39"/>
          <p:cNvSpPr txBox="1"/>
          <p:nvPr>
            <p:ph idx="1" type="body"/>
          </p:nvPr>
        </p:nvSpPr>
        <p:spPr>
          <a:xfrm>
            <a:off x="304800" y="1281249"/>
            <a:ext cx="86868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You can select from members of a set with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(or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IN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) operator. 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This is easier and clearer than the equivalent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AND-OR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expression.(Alternatively)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</a:t>
            </a:r>
            <a:r>
              <a:rPr b="1"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name IN ('Pen Red', 'Pen Black')</a:t>
            </a: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9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9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5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BETWEEN</a:t>
            </a:r>
            <a:r>
              <a:rPr b="1" lang="en-US" sz="155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55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BETWEEN</a:t>
            </a:r>
            <a:endParaRPr b="1" sz="1550">
              <a:solidFill>
                <a:srgbClr val="44444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To check if the value is within a range, you could use </a:t>
            </a: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BETWEEN ... AND ...</a:t>
            </a: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operator.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</a:t>
            </a:r>
            <a:endParaRPr sz="14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WHERE (price BETWEEN 1.0 AND 2.0) AND (quantity BETWEEN 1000 AND 2000)</a:t>
            </a: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2" name="Google Shape;282;p39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type="title"/>
          </p:nvPr>
        </p:nvSpPr>
        <p:spPr>
          <a:xfrm>
            <a:off x="304800" y="457200"/>
            <a:ext cx="86868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5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 NULL</a:t>
            </a:r>
            <a:r>
              <a:rPr b="1" lang="en-US" sz="205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205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 NOT NULL   *******</a:t>
            </a:r>
            <a:endParaRPr sz="2350"/>
          </a:p>
        </p:txBody>
      </p:sp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304800" y="1325099"/>
            <a:ext cx="8686800" cy="4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44444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is a special value, which represent "no value", "missing value" or "unknown value". 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You can checking if a column contains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by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 NULL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 NOT NULL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mysql&gt; </a:t>
            </a:r>
            <a:r>
              <a:rPr b="1"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WHERE productCode IS NULL</a:t>
            </a: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Empty set (0.00 sec)</a:t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 u="sng">
                <a:solidFill>
                  <a:srgbClr val="FF00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NOTE</a:t>
            </a:r>
            <a:endParaRPr b="1" sz="1800" u="sng">
              <a:solidFill>
                <a:srgbClr val="FF00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Using comparison operator (such as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&lt;&gt;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) to check for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is an error- 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a very </a:t>
            </a:r>
            <a:r>
              <a:rPr i="1"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common mistake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For example,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WHERE </a:t>
            </a:r>
            <a:r>
              <a:rPr lang="en-US" sz="15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productCode = NULL</a:t>
            </a:r>
            <a:r>
              <a:rPr lang="en-US" sz="15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-- This is a common mistake. NULL cannot be compared.</a:t>
            </a:r>
            <a:endParaRPr sz="1500">
              <a:solidFill>
                <a:srgbClr val="0099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3700"/>
          </a:p>
        </p:txBody>
      </p:sp>
      <p:sp>
        <p:nvSpPr>
          <p:cNvPr id="289" name="Google Shape;289;p40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5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en-US" sz="185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Alias   ******</a:t>
            </a:r>
            <a:endParaRPr sz="4700"/>
          </a:p>
        </p:txBody>
      </p:sp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You could use the keyword 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to define an </a:t>
            </a:r>
            <a:r>
              <a:rPr i="1"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alias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for an identifier (such as column name, table name). 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The alias will be used in displaying the name. 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ELECT </a:t>
            </a:r>
            <a:r>
              <a:rPr b="1"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productID AS ID</a:t>
            </a: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productCode AS Code</a:t>
            </a: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1"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name AS Description</a:t>
            </a: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price AS `Unit Price`</a:t>
            </a: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4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FROM products;</a:t>
            </a:r>
            <a:endParaRPr sz="14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+------+------+-------------+------------+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ID   | Code | Description | Unit Price |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+------+------+-------------+------------+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1001 | PEN  | Pen Red     |       1.23 |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3800"/>
          </a:p>
        </p:txBody>
      </p:sp>
      <p:sp>
        <p:nvSpPr>
          <p:cNvPr id="296" name="Google Shape;296;p41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DISTINCT  CLAUSE</a:t>
            </a:r>
            <a:endParaRPr sz="3400"/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304800" y="1295399"/>
            <a:ext cx="8686800" cy="4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A column may have duplicate values, we could use keyword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DISTINCT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to select only distinct values. 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We can also apply 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DISTINCT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to several columns to select distinct combinations of these columns.</a:t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price FROM products;</a:t>
            </a:r>
            <a:endParaRPr b="1"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DISTINCT price</a:t>
            </a: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AS `Distinct Price` FROM products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DISTINCT price, name</a:t>
            </a: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FROM products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+-------+-----------+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price | name      |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+-------+-----------+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 1.23 | Pen Red   |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 1.25 | Pen Blue  |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 1.25 | Pen Black |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 0.48 | Pencil 2B |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|  0.49 | Pencil 2H |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+-------+-----------+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5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3" name="Google Shape;303;p42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title"/>
          </p:nvPr>
        </p:nvSpPr>
        <p:spPr>
          <a:xfrm>
            <a:off x="304800" y="457200"/>
            <a:ext cx="86868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150">
                <a:solidFill>
                  <a:srgbClr val="0A846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Modifying Data - </a:t>
            </a:r>
            <a:r>
              <a:rPr b="1" lang="en-US" sz="2150">
                <a:solidFill>
                  <a:srgbClr val="0A8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endParaRPr sz="4800"/>
          </a:p>
        </p:txBody>
      </p:sp>
      <p:sp>
        <p:nvSpPr>
          <p:cNvPr id="309" name="Google Shape;309;p43"/>
          <p:cNvSpPr txBox="1"/>
          <p:nvPr>
            <p:ph idx="1" type="body"/>
          </p:nvPr>
        </p:nvSpPr>
        <p:spPr>
          <a:xfrm>
            <a:off x="304800" y="1174662"/>
            <a:ext cx="8686800" cy="49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To modify existing data, use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UPDATE ... SET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command, with the following syntax: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UPDATE 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SET 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columnName</a:t>
            </a: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|NULL|DEFAULT}, ...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criteria</a:t>
            </a:r>
            <a:endParaRPr i="1" sz="18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i="1" sz="18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-- Increase the price by 10% for all products</a:t>
            </a:r>
            <a:endParaRPr i="1" sz="18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UPDATE products SET price = price * 1.1;</a:t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UPDATE products SET quantity = quantity - 100 WHERE name = 'Pen Red';</a:t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43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4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-- You can modify more than one values</a:t>
            </a:r>
            <a:endParaRPr sz="1800">
              <a:solidFill>
                <a:srgbClr val="0099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>
              <a:solidFill>
                <a:srgbClr val="0099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mysql&gt; </a:t>
            </a: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UPDATE products SET quantity = quantity + 50, price = 1.23 WHERE name = 'Pen Red';</a:t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Question: If where clause is omitted, How many rows will be updated ? </a:t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17" name="Google Shape;317;p44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304800" y="457200"/>
            <a:ext cx="86868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50">
                <a:solidFill>
                  <a:srgbClr val="0A846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Deleting Rows - </a:t>
            </a:r>
            <a:r>
              <a:rPr b="1" lang="en-US" sz="1850">
                <a:solidFill>
                  <a:srgbClr val="0A8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DELETE FROM</a:t>
            </a:r>
            <a:endParaRPr sz="4500"/>
          </a:p>
        </p:txBody>
      </p:sp>
      <p:sp>
        <p:nvSpPr>
          <p:cNvPr id="323" name="Google Shape;323;p45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DELETE FROM 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endParaRPr sz="18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-- Delete only row(s) that meets the </a:t>
            </a:r>
            <a:r>
              <a:rPr i="1" lang="en-US" sz="1800">
                <a:solidFill>
                  <a:srgbClr val="009900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criteria</a:t>
            </a:r>
            <a:endParaRPr sz="18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DELETE FROM 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r>
              <a:rPr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WHERE </a:t>
            </a:r>
            <a:r>
              <a:rPr i="1" lang="en-US" sz="18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criteria</a:t>
            </a:r>
            <a:endParaRPr i="1" sz="18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DELETE FROM products WHERE name LIKE 'Pencil%';</a:t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DELETE FROM products;</a:t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/>
          <p:nvPr>
            <p:ph type="title"/>
          </p:nvPr>
        </p:nvSpPr>
        <p:spPr>
          <a:xfrm>
            <a:off x="304800" y="457200"/>
            <a:ext cx="8686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Clause</a:t>
            </a:r>
            <a:endParaRPr sz="1800"/>
          </a:p>
        </p:txBody>
      </p:sp>
      <p:sp>
        <p:nvSpPr>
          <p:cNvPr id="330" name="Google Shape;330;p46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You can order the rows selected using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clause, with the following syntax: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SELECT ... FROM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tableName</a:t>
            </a:r>
            <a:endParaRPr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criteria</a:t>
            </a:r>
            <a:endParaRPr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b="1"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columnA</a:t>
            </a:r>
            <a:r>
              <a:rPr b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600" u="sng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ASC</a:t>
            </a:r>
            <a:r>
              <a:rPr b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|DESC, </a:t>
            </a:r>
            <a:r>
              <a:rPr b="1" i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columnB</a:t>
            </a:r>
            <a:r>
              <a:rPr b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600" u="sng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ASC</a:t>
            </a:r>
            <a:r>
              <a:rPr b="1" lang="en-US" sz="1600">
                <a:solidFill>
                  <a:schemeClr val="dk1"/>
                </a:solidFill>
                <a:highlight>
                  <a:srgbClr val="CCEEF1"/>
                </a:highlight>
                <a:latin typeface="Courier New"/>
                <a:ea typeface="Courier New"/>
                <a:cs typeface="Courier New"/>
                <a:sym typeface="Courier New"/>
              </a:rPr>
              <a:t>|DESC, ...</a:t>
            </a:r>
            <a:endParaRPr b="1" sz="1600">
              <a:solidFill>
                <a:schemeClr val="dk1"/>
              </a:solidFill>
              <a:highlight>
                <a:srgbClr val="CCEEF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WHERE name LIKE 'Pen %' 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ORDER BY price DESC</a:t>
            </a: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-- Order by price in descending order, followed by quantity in ascending (default) order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mysql&gt; SELECT * FROM products WHERE name LIKE 'Pen %' </a:t>
            </a:r>
            <a:r>
              <a:rPr b="1"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ORDER BY price DESC, quantity</a:t>
            </a:r>
            <a:r>
              <a:rPr lang="en-US" sz="16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46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/>
          <p:nvPr>
            <p:ph type="title"/>
          </p:nvPr>
        </p:nvSpPr>
        <p:spPr>
          <a:xfrm>
            <a:off x="304800" y="457200"/>
            <a:ext cx="86868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5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1" lang="en-US" sz="185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Clause   with Aggregate Functions. </a:t>
            </a:r>
            <a:endParaRPr b="1" sz="1850">
              <a:solidFill>
                <a:srgbClr val="44444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7" name="Google Shape;337;p47"/>
          <p:cNvSpPr txBox="1"/>
          <p:nvPr>
            <p:ph idx="1" type="body"/>
          </p:nvPr>
        </p:nvSpPr>
        <p:spPr>
          <a:xfrm>
            <a:off x="304800" y="1140899"/>
            <a:ext cx="8686800" cy="4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clause allows you to </a:t>
            </a:r>
            <a:r>
              <a:rPr i="1"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collapse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multiple records with a common value into groups. For example,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products </a:t>
            </a:r>
            <a:r>
              <a:rPr b="1"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GROUP BY productCode</a:t>
            </a: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-- Only first record in each group is shown</a:t>
            </a:r>
            <a:endParaRPr sz="1800">
              <a:solidFill>
                <a:srgbClr val="0099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Aggregate Functions: 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800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GROUP_CONCAT</a:t>
            </a:r>
            <a:endParaRPr b="1" sz="1800">
              <a:solidFill>
                <a:srgbClr val="44444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We can apply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Aggregate functions to each group to produce group summary report.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The function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COUNT(*)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returns the rows selected;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COUNT(</a:t>
            </a:r>
            <a:r>
              <a:rPr i="1"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columnName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counts only the non-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values of the given column.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38" name="Google Shape;338;p47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8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48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Arial"/>
                <a:ea typeface="Arial"/>
                <a:cs typeface="Arial"/>
                <a:sym typeface="Arial"/>
              </a:rPr>
              <a:t>ELECT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Arial"/>
                <a:ea typeface="Arial"/>
                <a:cs typeface="Arial"/>
                <a:sym typeface="Arial"/>
              </a:rPr>
              <a:t>COUNT(*)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Arial"/>
                <a:ea typeface="Arial"/>
                <a:cs typeface="Arial"/>
                <a:sym typeface="Arial"/>
              </a:rPr>
              <a:t> AS `Count` FROM products</a:t>
            </a:r>
            <a:r>
              <a:rPr b="1" lang="en-US" sz="1800">
                <a:solidFill>
                  <a:schemeClr val="dk1"/>
                </a:solidFill>
                <a:highlight>
                  <a:srgbClr val="D7ECD3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b="1" sz="1800">
              <a:solidFill>
                <a:schemeClr val="dk1"/>
              </a:solidFill>
              <a:highlight>
                <a:srgbClr val="D7ECD3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productCode, COUNT(*)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FROM products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GROUP BY productCode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productCode, COUNT(*) AS count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FROM products 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GROUP BY productCode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ORDER BY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DESC;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48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49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MAX(price), MIN(price), AVG(price), STD(price), SUM(quantity)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FROM products;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>
                <a:solidFill>
                  <a:srgbClr val="009900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-- Without GROUP BY - All rows</a:t>
            </a:r>
            <a:endParaRPr sz="1800">
              <a:solidFill>
                <a:srgbClr val="009900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productCode, MAX(price) AS `Highest Price`, MIN(price) AS `Lowest Price`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FROM products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GROUP BY productCode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52" name="Google Shape;352;p49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304800" y="457200"/>
            <a:ext cx="8686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035">
                <a:solidFill>
                  <a:srgbClr val="4444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b="1" lang="en-US" sz="2035">
                <a:solidFill>
                  <a:srgbClr val="444444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clause</a:t>
            </a:r>
            <a:endParaRPr sz="4600"/>
          </a:p>
        </p:txBody>
      </p:sp>
      <p:sp>
        <p:nvSpPr>
          <p:cNvPr id="358" name="Google Shape;358;p50"/>
          <p:cNvSpPr txBox="1"/>
          <p:nvPr>
            <p:ph idx="1" type="body"/>
          </p:nvPr>
        </p:nvSpPr>
        <p:spPr>
          <a:xfrm>
            <a:off x="304800" y="1554162"/>
            <a:ext cx="868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is similar to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but it can operate on the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aggregate functions;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whereas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operates only on columns.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productCode AS `Product Code`,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COUNT(*) AS `Count`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FROM products 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GROUP BY productCode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1600" marR="101600" rtl="0" algn="just">
              <a:lnSpc>
                <a:spcPct val="131625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>
                <a:solidFill>
                  <a:srgbClr val="E31B23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HAVING Count &gt;=3</a:t>
            </a:r>
            <a:r>
              <a:rPr lang="en-US" sz="1800">
                <a:solidFill>
                  <a:schemeClr val="dk1"/>
                </a:solidFill>
                <a:highlight>
                  <a:srgbClr val="D7ECD3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dk1"/>
              </a:solidFill>
              <a:highlight>
                <a:srgbClr val="D7EC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359" name="Google Shape;359;p50"/>
          <p:cNvSpPr txBox="1"/>
          <p:nvPr>
            <p:ph idx="12" type="sldNum"/>
          </p:nvPr>
        </p:nvSpPr>
        <p:spPr>
          <a:xfrm>
            <a:off x="8229600" y="6473825"/>
            <a:ext cx="758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jpg" id="364" name="Google Shape;36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237" y="1592262"/>
            <a:ext cx="8121650" cy="462756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1"/>
          <p:cNvSpPr txBox="1"/>
          <p:nvPr>
            <p:ph type="title"/>
          </p:nvPr>
        </p:nvSpPr>
        <p:spPr>
          <a:xfrm>
            <a:off x="500062" y="428625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FOLLOWING SLIDES CREATE TABLES FOR THIS ENTERPRISE DATA MODEL</a:t>
            </a:r>
            <a:endParaRPr/>
          </a:p>
        </p:txBody>
      </p:sp>
      <p:sp>
        <p:nvSpPr>
          <p:cNvPr id="366" name="Google Shape;366;p51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1"/>
          <p:cNvSpPr txBox="1"/>
          <p:nvPr/>
        </p:nvSpPr>
        <p:spPr>
          <a:xfrm>
            <a:off x="3352800" y="3541712"/>
            <a:ext cx="34051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(from Chapter 1, Figure 1-3)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gif" id="372" name="Google Shape;37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762" y="668337"/>
            <a:ext cx="7531100" cy="570388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2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2"/>
          <p:cNvSpPr txBox="1"/>
          <p:nvPr/>
        </p:nvSpPr>
        <p:spPr>
          <a:xfrm>
            <a:off x="319087" y="15875"/>
            <a:ext cx="8694737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6-6 SQL database definition commands for Pine Valley Furniture Company (Oracle 11g)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2"/>
          <p:cNvSpPr txBox="1"/>
          <p:nvPr/>
        </p:nvSpPr>
        <p:spPr>
          <a:xfrm>
            <a:off x="6324600" y="1066800"/>
            <a:ext cx="19050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table definitions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2"/>
          <p:cNvSpPr txBox="1"/>
          <p:nvPr/>
        </p:nvSpPr>
        <p:spPr>
          <a:xfrm>
            <a:off x="668337" y="682625"/>
            <a:ext cx="5224462" cy="149383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7" name="Google Shape;377;p52"/>
          <p:cNvSpPr txBox="1"/>
          <p:nvPr/>
        </p:nvSpPr>
        <p:spPr>
          <a:xfrm>
            <a:off x="646112" y="2184400"/>
            <a:ext cx="5275262" cy="1139825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52"/>
          <p:cNvSpPr txBox="1"/>
          <p:nvPr/>
        </p:nvSpPr>
        <p:spPr>
          <a:xfrm>
            <a:off x="660400" y="3344862"/>
            <a:ext cx="5275262" cy="163353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" name="Google Shape;379;p52"/>
          <p:cNvSpPr txBox="1"/>
          <p:nvPr/>
        </p:nvSpPr>
        <p:spPr>
          <a:xfrm>
            <a:off x="674687" y="5000625"/>
            <a:ext cx="5246687" cy="134143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gif" id="384" name="Google Shape;3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37" y="1139825"/>
            <a:ext cx="7610475" cy="456406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3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3"/>
          <p:cNvSpPr txBox="1"/>
          <p:nvPr/>
        </p:nvSpPr>
        <p:spPr>
          <a:xfrm>
            <a:off x="990600" y="196850"/>
            <a:ext cx="7315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attributes and their data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3"/>
          <p:cNvSpPr txBox="1"/>
          <p:nvPr/>
        </p:nvSpPr>
        <p:spPr>
          <a:xfrm>
            <a:off x="2062162" y="1654175"/>
            <a:ext cx="4338637" cy="143668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8" name="Google Shape;388;p53"/>
          <p:cNvSpPr txBox="1"/>
          <p:nvPr/>
        </p:nvSpPr>
        <p:spPr>
          <a:xfrm>
            <a:off x="2068512" y="4070350"/>
            <a:ext cx="4318000" cy="100965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9" name="Google Shape;389;p53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3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3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gif" id="396" name="Google Shape;39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37" y="1139825"/>
            <a:ext cx="7610475" cy="456406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4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4"/>
          <p:cNvSpPr txBox="1"/>
          <p:nvPr/>
        </p:nvSpPr>
        <p:spPr>
          <a:xfrm>
            <a:off x="3200400" y="484187"/>
            <a:ext cx="5867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Non-nullable specification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4"/>
          <p:cNvSpPr txBox="1"/>
          <p:nvPr/>
        </p:nvSpPr>
        <p:spPr>
          <a:xfrm>
            <a:off x="6629400" y="1720850"/>
            <a:ext cx="1143000" cy="381000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" name="Google Shape;400;p54"/>
          <p:cNvSpPr txBox="1"/>
          <p:nvPr/>
        </p:nvSpPr>
        <p:spPr>
          <a:xfrm>
            <a:off x="1846262" y="5640387"/>
            <a:ext cx="5867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primary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4"/>
          <p:cNvSpPr txBox="1"/>
          <p:nvPr/>
        </p:nvSpPr>
        <p:spPr>
          <a:xfrm>
            <a:off x="601662" y="5095875"/>
            <a:ext cx="5257800" cy="457200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2" name="Google Shape;402;p54"/>
          <p:cNvSpPr txBox="1"/>
          <p:nvPr/>
        </p:nvSpPr>
        <p:spPr>
          <a:xfrm>
            <a:off x="6189662" y="4451350"/>
            <a:ext cx="20574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keys can never have NULL 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4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4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4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gif" id="410" name="Google Shape;4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00" y="1316037"/>
            <a:ext cx="8651875" cy="31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5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5"/>
          <p:cNvSpPr txBox="1"/>
          <p:nvPr/>
        </p:nvSpPr>
        <p:spPr>
          <a:xfrm>
            <a:off x="4724400" y="801687"/>
            <a:ext cx="41910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Non-nullable specifications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5"/>
          <p:cNvSpPr txBox="1"/>
          <p:nvPr/>
        </p:nvSpPr>
        <p:spPr>
          <a:xfrm>
            <a:off x="7707312" y="1741487"/>
            <a:ext cx="1143000" cy="914400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4" name="Google Shape;414;p55"/>
          <p:cNvSpPr txBox="1"/>
          <p:nvPr/>
        </p:nvSpPr>
        <p:spPr>
          <a:xfrm>
            <a:off x="273050" y="3074987"/>
            <a:ext cx="5983287" cy="369887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5" name="Google Shape;415;p55"/>
          <p:cNvSpPr txBox="1"/>
          <p:nvPr/>
        </p:nvSpPr>
        <p:spPr>
          <a:xfrm>
            <a:off x="6538912" y="2974975"/>
            <a:ext cx="2133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5"/>
          <p:cNvSpPr txBox="1"/>
          <p:nvPr/>
        </p:nvSpPr>
        <p:spPr>
          <a:xfrm>
            <a:off x="1371600" y="4495800"/>
            <a:ext cx="6400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primary keys are composite– composed of multiple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5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5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5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gif" id="424" name="Google Shape;42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2687"/>
            <a:ext cx="8191500" cy="43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6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6"/>
          <p:cNvSpPr txBox="1"/>
          <p:nvPr/>
        </p:nvSpPr>
        <p:spPr>
          <a:xfrm>
            <a:off x="3606800" y="4129087"/>
            <a:ext cx="5105400" cy="538162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56"/>
          <p:cNvSpPr txBox="1"/>
          <p:nvPr/>
        </p:nvSpPr>
        <p:spPr>
          <a:xfrm>
            <a:off x="5341937" y="1724025"/>
            <a:ext cx="2147887" cy="369887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8" name="Google Shape;428;p56"/>
          <p:cNvSpPr txBox="1"/>
          <p:nvPr/>
        </p:nvSpPr>
        <p:spPr>
          <a:xfrm>
            <a:off x="6796087" y="19954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6"/>
          <p:cNvSpPr txBox="1"/>
          <p:nvPr/>
        </p:nvSpPr>
        <p:spPr>
          <a:xfrm>
            <a:off x="900112" y="4143375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constraint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6"/>
          <p:cNvSpPr txBox="1"/>
          <p:nvPr/>
        </p:nvSpPr>
        <p:spPr>
          <a:xfrm>
            <a:off x="1143000" y="273050"/>
            <a:ext cx="7239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Controlling the values in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6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6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6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gif" id="438" name="Google Shape;43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62" y="812800"/>
            <a:ext cx="8696325" cy="50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7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7"/>
          <p:cNvSpPr txBox="1"/>
          <p:nvPr/>
        </p:nvSpPr>
        <p:spPr>
          <a:xfrm>
            <a:off x="228600" y="5376862"/>
            <a:ext cx="8610600" cy="381000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1" name="Google Shape;441;p57"/>
          <p:cNvSpPr txBox="1"/>
          <p:nvPr/>
        </p:nvSpPr>
        <p:spPr>
          <a:xfrm>
            <a:off x="261937" y="2247900"/>
            <a:ext cx="21336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key of  parent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7"/>
          <p:cNvSpPr txBox="1"/>
          <p:nvPr/>
        </p:nvSpPr>
        <p:spPr>
          <a:xfrm>
            <a:off x="0" y="152400"/>
            <a:ext cx="9144000" cy="54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foreign keys and establishing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7"/>
          <p:cNvSpPr txBox="1"/>
          <p:nvPr/>
        </p:nvSpPr>
        <p:spPr>
          <a:xfrm>
            <a:off x="2144712" y="1189037"/>
            <a:ext cx="6723062" cy="366712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p57"/>
          <p:cNvSpPr txBox="1"/>
          <p:nvPr/>
        </p:nvSpPr>
        <p:spPr>
          <a:xfrm>
            <a:off x="1916112" y="5713412"/>
            <a:ext cx="4775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Foreign key of  dependent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7"/>
          <p:cNvSpPr txBox="1"/>
          <p:nvPr/>
        </p:nvSpPr>
        <p:spPr>
          <a:xfrm>
            <a:off x="319087" y="3200400"/>
            <a:ext cx="5014912" cy="381000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6" name="Google Shape;446;p57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7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7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8"/>
          <p:cNvSpPr txBox="1"/>
          <p:nvPr>
            <p:ph type="title"/>
          </p:nvPr>
        </p:nvSpPr>
        <p:spPr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DATA INTEGRITY CONTROLS</a:t>
            </a:r>
            <a:endParaRPr/>
          </a:p>
        </p:txBody>
      </p:sp>
      <p:sp>
        <p:nvSpPr>
          <p:cNvPr id="454" name="Google Shape;454;p58"/>
          <p:cNvSpPr txBox="1"/>
          <p:nvPr>
            <p:ph idx="1" type="body"/>
          </p:nvPr>
        </p:nvSpPr>
        <p:spPr>
          <a:xfrm>
            <a:off x="685800" y="1495425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Referential integrity–constraint that ensures that foreign key values of a table must match primary key values of a related table in 1:M relationships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Restricting: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🞤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Deletes of primary records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🞤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Updates of primary records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🞤"/>
            </a:pPr>
            <a:r>
              <a:rPr b="0" i="0" lang="en-US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Inserts of dependent records</a:t>
            </a:r>
            <a:endParaRPr/>
          </a:p>
        </p:txBody>
      </p:sp>
      <p:sp>
        <p:nvSpPr>
          <p:cNvPr id="455" name="Google Shape;455;p58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9"/>
          <p:cNvSpPr txBox="1"/>
          <p:nvPr>
            <p:ph type="title"/>
          </p:nvPr>
        </p:nvSpPr>
        <p:spPr>
          <a:xfrm>
            <a:off x="457200" y="76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CHANGING TABLES</a:t>
            </a:r>
            <a:endParaRPr/>
          </a:p>
        </p:txBody>
      </p:sp>
      <p:sp>
        <p:nvSpPr>
          <p:cNvPr id="461" name="Google Shape;461;p59"/>
          <p:cNvSpPr txBox="1"/>
          <p:nvPr>
            <p:ph idx="1" type="body"/>
          </p:nvPr>
        </p:nvSpPr>
        <p:spPr>
          <a:xfrm>
            <a:off x="457200" y="1196975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ALTER TABLE statement allows you to change column specifications:</a:t>
            </a:r>
            <a:endParaRPr/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Table Actions:</a:t>
            </a:r>
            <a:endParaRPr/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Example </a:t>
            </a:r>
            <a:r>
              <a:rPr b="0" i="0" lang="en-US" sz="2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(adding a new column with a default value)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2" name="Google Shape;462;p59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463" name="Google Shape;46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975" y="2286000"/>
            <a:ext cx="4759325" cy="601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ame.gif" id="464" name="Google Shape;464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9800" y="3071812"/>
            <a:ext cx="5057775" cy="1601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ame.gif" id="465" name="Google Shape;465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7612" y="5214937"/>
            <a:ext cx="6667500" cy="79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INSERT STATEMENT</a:t>
            </a:r>
            <a:endParaRPr/>
          </a:p>
        </p:txBody>
      </p:sp>
      <p:sp>
        <p:nvSpPr>
          <p:cNvPr id="471" name="Google Shape;471;p60"/>
          <p:cNvSpPr txBox="1"/>
          <p:nvPr>
            <p:ph idx="1" type="body"/>
          </p:nvPr>
        </p:nvSpPr>
        <p:spPr>
          <a:xfrm>
            <a:off x="0" y="1219200"/>
            <a:ext cx="9144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Adds one or more rows to a table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Inserting into a table</a:t>
            </a:r>
            <a:endParaRPr/>
          </a:p>
          <a:p>
            <a:pPr indent="-21844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1844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Inserting a record that has some null attributes requires identifying the fields that actually get data</a:t>
            </a:r>
            <a:endParaRPr/>
          </a:p>
          <a:p>
            <a:pPr indent="-21844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1844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Inserting from another table</a:t>
            </a:r>
            <a:endParaRPr/>
          </a:p>
        </p:txBody>
      </p:sp>
      <p:sp>
        <p:nvSpPr>
          <p:cNvPr id="472" name="Google Shape;472;p60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473" name="Google Shape;47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2" y="2195512"/>
            <a:ext cx="8316912" cy="91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ame.gif" id="474" name="Google Shape;47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7762" y="3914775"/>
            <a:ext cx="6297612" cy="103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ame.gif" id="475" name="Google Shape;475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2100" y="5303837"/>
            <a:ext cx="4359275" cy="1033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name.gif" id="480" name="Google Shape;48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962" y="1087437"/>
            <a:ext cx="6613525" cy="36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1"/>
          <p:cNvSpPr txBox="1"/>
          <p:nvPr>
            <p:ph type="title"/>
          </p:nvPr>
        </p:nvSpPr>
        <p:spPr>
          <a:xfrm>
            <a:off x="174625" y="409575"/>
            <a:ext cx="8969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CREATING TABLES WITH IDENTITY COLUMNS</a:t>
            </a:r>
            <a:endParaRPr/>
          </a:p>
        </p:txBody>
      </p:sp>
      <p:sp>
        <p:nvSpPr>
          <p:cNvPr id="482" name="Google Shape;482;p61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1"/>
          <p:cNvSpPr txBox="1"/>
          <p:nvPr/>
        </p:nvSpPr>
        <p:spPr>
          <a:xfrm>
            <a:off x="990600" y="4738687"/>
            <a:ext cx="7391400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Inserting into a table does not require explicit customer ID entry or field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INSERT INTO CUSTOMER_T VALUES ( ‘Contemporary Casuals’, ‘1355 S. Himes Blvd.’, ‘Gainesville’, ‘FL’, 32601);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1"/>
          <p:cNvSpPr txBox="1"/>
          <p:nvPr/>
        </p:nvSpPr>
        <p:spPr>
          <a:xfrm>
            <a:off x="4433887" y="2130425"/>
            <a:ext cx="2863850" cy="36988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Introduced with SQL:2008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2"/>
          <p:cNvSpPr txBox="1"/>
          <p:nvPr>
            <p:ph type="title"/>
          </p:nvPr>
        </p:nvSpPr>
        <p:spPr>
          <a:xfrm>
            <a:off x="508000" y="398462"/>
            <a:ext cx="76930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DELETE STATEMENT</a:t>
            </a:r>
            <a:endParaRPr/>
          </a:p>
        </p:txBody>
      </p:sp>
      <p:sp>
        <p:nvSpPr>
          <p:cNvPr id="490" name="Google Shape;490;p62"/>
          <p:cNvSpPr txBox="1"/>
          <p:nvPr>
            <p:ph idx="1" type="body"/>
          </p:nvPr>
        </p:nvSpPr>
        <p:spPr>
          <a:xfrm>
            <a:off x="304800" y="1554162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Removes rows from a table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Delete certain rows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🞤"/>
            </a:pPr>
            <a:r>
              <a:rPr b="0" i="0" lang="en-US" sz="32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DELETE FROM CUSTOMER_T WHERE CUSTOMERSTATE = ‘HI’;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Delete all rows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🞤"/>
            </a:pPr>
            <a:r>
              <a:rPr b="0" i="0" lang="en-US" sz="32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DELETE FROM CUSTOMER_T;</a:t>
            </a:r>
            <a:endParaRPr/>
          </a:p>
        </p:txBody>
      </p:sp>
      <p:sp>
        <p:nvSpPr>
          <p:cNvPr id="491" name="Google Shape;491;p62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3"/>
          <p:cNvSpPr txBox="1"/>
          <p:nvPr>
            <p:ph type="title"/>
          </p:nvPr>
        </p:nvSpPr>
        <p:spPr>
          <a:xfrm>
            <a:off x="465137" y="398462"/>
            <a:ext cx="72993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UPDATE STATEMENT	</a:t>
            </a:r>
            <a:endParaRPr/>
          </a:p>
        </p:txBody>
      </p:sp>
      <p:sp>
        <p:nvSpPr>
          <p:cNvPr id="497" name="Google Shape;497;p63"/>
          <p:cNvSpPr txBox="1"/>
          <p:nvPr>
            <p:ph idx="1" type="body"/>
          </p:nvPr>
        </p:nvSpPr>
        <p:spPr>
          <a:xfrm>
            <a:off x="685800" y="1981200"/>
            <a:ext cx="815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Modifies data in existing rows</a:t>
            </a:r>
            <a:endParaRPr/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98" name="Google Shape;498;p63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499" name="Google Shape;49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662" y="2686050"/>
            <a:ext cx="6410325" cy="200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4"/>
          <p:cNvSpPr txBox="1"/>
          <p:nvPr>
            <p:ph type="title"/>
          </p:nvPr>
        </p:nvSpPr>
        <p:spPr>
          <a:xfrm>
            <a:off x="696912" y="4206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SCHEMA DEFINITION</a:t>
            </a:r>
            <a:endParaRPr/>
          </a:p>
        </p:txBody>
      </p:sp>
      <p:sp>
        <p:nvSpPr>
          <p:cNvPr id="505" name="Google Shape;505;p64"/>
          <p:cNvSpPr txBox="1"/>
          <p:nvPr>
            <p:ph idx="1" type="body"/>
          </p:nvPr>
        </p:nvSpPr>
        <p:spPr>
          <a:xfrm>
            <a:off x="420687" y="1236662"/>
            <a:ext cx="83756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Control processing/storage efficiency: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Choice of indexes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File organizations for base tables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File organizations for indexes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clustering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Statistics maintenance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Creating indexes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Speed up random/sequential access to base table data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Example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INDEX NAME_IDX ON CUSTOMER_T(CUSTOMERNAME)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makes an index for the CUSTOMERNAME field of the CUSTOMER_T table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06" name="Google Shape;506;p64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5"/>
          <p:cNvSpPr txBox="1"/>
          <p:nvPr>
            <p:ph type="title"/>
          </p:nvPr>
        </p:nvSpPr>
        <p:spPr>
          <a:xfrm>
            <a:off x="801687" y="3921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SELECT STATEMENT</a:t>
            </a:r>
            <a:endParaRPr/>
          </a:p>
        </p:txBody>
      </p:sp>
      <p:sp>
        <p:nvSpPr>
          <p:cNvPr id="512" name="Google Shape;512;p65"/>
          <p:cNvSpPr txBox="1"/>
          <p:nvPr>
            <p:ph idx="1" type="body"/>
          </p:nvPr>
        </p:nvSpPr>
        <p:spPr>
          <a:xfrm>
            <a:off x="0" y="1154112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Used for queries on single or multiple tables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Clauses of the SELECT statement: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SELECT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List the columns (and expressions) to be returned from the query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FROM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Indicate the table(s) or view(s) from which data will be obtained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WHERE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Indicate the conditions under which a row will be included in the result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GROUP BY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Indicate categorization of results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HAVING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Indicate the conditions under which a category (group) will be included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🞤"/>
            </a:pPr>
            <a:r>
              <a:rPr b="0" i="0" lang="en-US" sz="20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ORDER BY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🞫"/>
            </a:pPr>
            <a:r>
              <a:rPr b="0" i="0" lang="en-US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Sorts the result according to specified criteria</a:t>
            </a:r>
            <a:endParaRPr/>
          </a:p>
        </p:txBody>
      </p:sp>
      <p:sp>
        <p:nvSpPr>
          <p:cNvPr id="513" name="Google Shape;513;p65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6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66"/>
          <p:cNvSpPr txBox="1"/>
          <p:nvPr/>
        </p:nvSpPr>
        <p:spPr>
          <a:xfrm>
            <a:off x="319087" y="533400"/>
            <a:ext cx="2790825" cy="26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Figure 6-9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SQL statement processing order  (based on van der Lans, 2006 p.100)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jpg" id="520" name="Google Shape;52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4900" y="193675"/>
            <a:ext cx="4019550" cy="61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6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6"/>
          <p:cNvSpPr txBox="1"/>
          <p:nvPr/>
        </p:nvSpPr>
        <p:spPr>
          <a:xfrm>
            <a:off x="441325" y="6262687"/>
            <a:ext cx="117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6"/>
          <p:cNvSpPr txBox="1"/>
          <p:nvPr/>
        </p:nvSpPr>
        <p:spPr>
          <a:xfrm>
            <a:off x="1447800" y="6172200"/>
            <a:ext cx="638651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2014 Pearson Education,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7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SELECT EXAMPLE</a:t>
            </a:r>
            <a:endParaRPr/>
          </a:p>
        </p:txBody>
      </p:sp>
      <p:sp>
        <p:nvSpPr>
          <p:cNvPr id="529" name="Google Shape;529;p67"/>
          <p:cNvSpPr txBox="1"/>
          <p:nvPr>
            <p:ph idx="1" type="body"/>
          </p:nvPr>
        </p:nvSpPr>
        <p:spPr>
          <a:xfrm>
            <a:off x="101600" y="1295400"/>
            <a:ext cx="88392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Find products with standard price less than $275</a:t>
            </a:r>
            <a:endParaRPr/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30" name="Google Shape;530;p67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67"/>
          <p:cNvSpPr txBox="1"/>
          <p:nvPr/>
        </p:nvSpPr>
        <p:spPr>
          <a:xfrm>
            <a:off x="463550" y="5410200"/>
            <a:ext cx="525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6-3: Comparison Operators in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532" name="Google Shape;53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50" y="2619375"/>
            <a:ext cx="5519737" cy="156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ame.jpg" id="533" name="Google Shape;533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2025" y="1954212"/>
            <a:ext cx="287020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8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SELECT EXAMPLE USING ALIAS</a:t>
            </a:r>
            <a:endParaRPr/>
          </a:p>
        </p:txBody>
      </p:sp>
      <p:sp>
        <p:nvSpPr>
          <p:cNvPr id="539" name="Google Shape;539;p68"/>
          <p:cNvSpPr txBox="1"/>
          <p:nvPr>
            <p:ph idx="1" type="body"/>
          </p:nvPr>
        </p:nvSpPr>
        <p:spPr>
          <a:xfrm>
            <a:off x="0" y="1498600"/>
            <a:ext cx="914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Alias is an alternative column or table name</a:t>
            </a:r>
            <a:endParaRPr/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Here, CUST is a table alias and Name is a column alias</a:t>
            </a:r>
            <a:endParaRPr/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40" name="Google Shape;540;p68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1" name="Google Shape;54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950" y="2346325"/>
            <a:ext cx="7961312" cy="2163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9"/>
          <p:cNvSpPr txBox="1"/>
          <p:nvPr>
            <p:ph type="title"/>
          </p:nvPr>
        </p:nvSpPr>
        <p:spPr>
          <a:xfrm>
            <a:off x="457200" y="442912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SELECT EXAMPLE USING A FUNCTION</a:t>
            </a:r>
            <a:endParaRPr/>
          </a:p>
        </p:txBody>
      </p:sp>
      <p:sp>
        <p:nvSpPr>
          <p:cNvPr id="547" name="Google Shape;547;p69"/>
          <p:cNvSpPr txBox="1"/>
          <p:nvPr>
            <p:ph idx="1" type="body"/>
          </p:nvPr>
        </p:nvSpPr>
        <p:spPr>
          <a:xfrm>
            <a:off x="188912" y="1831975"/>
            <a:ext cx="883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Using the COUNT </a:t>
            </a:r>
            <a:r>
              <a:rPr b="1" i="1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aggregate function</a:t>
            </a: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to find totals</a:t>
            </a:r>
            <a:endParaRPr/>
          </a:p>
          <a:p>
            <a:pPr indent="-20066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SELECT </a:t>
            </a:r>
            <a:r>
              <a:rPr b="0" i="0" lang="en-US" sz="2800" u="none" cap="none" strike="noStrik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COUNT(*)</a:t>
            </a: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FROM ORDERLINE_T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		WHERE ORDERID = 1004;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Note: with aggregate functions you can’t have single-valued columns included in the SELECT clause, unless they are included in the GROUP BY clause.</a:t>
            </a:r>
            <a:endParaRPr/>
          </a:p>
        </p:txBody>
      </p:sp>
      <p:sp>
        <p:nvSpPr>
          <p:cNvPr id="548" name="Google Shape;548;p69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/>
          <p:nvPr>
            <p:ph type="title"/>
          </p:nvPr>
        </p:nvSpPr>
        <p:spPr>
          <a:xfrm>
            <a:off x="276225" y="373062"/>
            <a:ext cx="8940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Libre Franklin Medium"/>
              <a:buNone/>
            </a:pPr>
            <a:r>
              <a:rPr b="0" i="0" lang="en-US" sz="38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SELECT EXAMPLE–BOOLEAN OPERATORS</a:t>
            </a:r>
            <a:endParaRPr/>
          </a:p>
        </p:txBody>
      </p:sp>
      <p:sp>
        <p:nvSpPr>
          <p:cNvPr id="554" name="Google Shape;554;p70"/>
          <p:cNvSpPr txBox="1"/>
          <p:nvPr>
            <p:ph idx="1" type="body"/>
          </p:nvPr>
        </p:nvSpPr>
        <p:spPr>
          <a:xfrm>
            <a:off x="304800" y="1081087"/>
            <a:ext cx="883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</a:t>
            </a: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b="0" i="0" lang="en-US" sz="2800" u="non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</a:t>
            </a: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</a:t>
            </a:r>
            <a:r>
              <a:rPr b="0" i="0" lang="en-US" sz="2800" u="non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</a:t>
            </a: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Operators for customizing conditions in WHERE clause</a:t>
            </a:r>
            <a:endParaRPr/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55" name="Google Shape;555;p70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0"/>
          <p:cNvSpPr txBox="1"/>
          <p:nvPr/>
        </p:nvSpPr>
        <p:spPr>
          <a:xfrm>
            <a:off x="322262" y="4745037"/>
            <a:ext cx="8574087" cy="150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ahoma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Note: the </a:t>
            </a:r>
            <a:r>
              <a:rPr b="0" i="0" lang="en-US" sz="23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LIKE</a:t>
            </a:r>
            <a:r>
              <a:rPr b="0" i="0" lang="en-US" sz="2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operator allows you to compare strings using wildcards. For example, the % wildcard in ‘%Desk’  indicates that all strings that have any number of characters preceding the word “Desk” will be allowed.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557" name="Google Shape;55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2019300"/>
            <a:ext cx="7929562" cy="26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1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71"/>
          <p:cNvSpPr txBox="1"/>
          <p:nvPr/>
        </p:nvSpPr>
        <p:spPr>
          <a:xfrm>
            <a:off x="630237" y="377825"/>
            <a:ext cx="8194675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6-7 Boolean query A without use of  parentheses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jpg" id="564" name="Google Shape;56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725" y="1150937"/>
            <a:ext cx="5537200" cy="490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ame.jpg" id="565" name="Google Shape;56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2125" y="1377950"/>
            <a:ext cx="484187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1"/>
          <p:cNvSpPr txBox="1"/>
          <p:nvPr/>
        </p:nvSpPr>
        <p:spPr>
          <a:xfrm>
            <a:off x="6226175" y="3019425"/>
            <a:ext cx="2497137" cy="230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By default, processing order of Boolean operators is NOT, then AND, then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2"/>
          <p:cNvSpPr txBox="1"/>
          <p:nvPr>
            <p:ph type="title"/>
          </p:nvPr>
        </p:nvSpPr>
        <p:spPr>
          <a:xfrm>
            <a:off x="0" y="2286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SELECT EXAMPLE–BOOLEAN OPERATORS</a:t>
            </a:r>
            <a:endParaRPr/>
          </a:p>
        </p:txBody>
      </p:sp>
      <p:sp>
        <p:nvSpPr>
          <p:cNvPr id="572" name="Google Shape;572;p72"/>
          <p:cNvSpPr txBox="1"/>
          <p:nvPr>
            <p:ph idx="1" type="body"/>
          </p:nvPr>
        </p:nvSpPr>
        <p:spPr>
          <a:xfrm>
            <a:off x="304800" y="1066800"/>
            <a:ext cx="883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rgbClr val="99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With parentheses…these override the normal precedence of Boolean operators</a:t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73" name="Google Shape;573;p72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72"/>
          <p:cNvSpPr txBox="1"/>
          <p:nvPr/>
        </p:nvSpPr>
        <p:spPr>
          <a:xfrm>
            <a:off x="279400" y="4789487"/>
            <a:ext cx="85090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ibre Frankli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With parentheses, you can override normal precedence rules. In this case parentheses make the OR take place before the 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575" name="Google Shape;57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712" y="2201862"/>
            <a:ext cx="755332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3"/>
          <p:cNvSpPr txBox="1"/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73"/>
          <p:cNvSpPr txBox="1"/>
          <p:nvPr/>
        </p:nvSpPr>
        <p:spPr>
          <a:xfrm>
            <a:off x="762000" y="449262"/>
            <a:ext cx="80041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6-8 Boolean query B  with use of parentheses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jpg" id="582" name="Google Shape;58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675" y="1135062"/>
            <a:ext cx="6091237" cy="510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name.gif" id="583" name="Google Shape;583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4225" y="1316037"/>
            <a:ext cx="4027487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4"/>
          <p:cNvSpPr txBox="1"/>
          <p:nvPr>
            <p:ph type="title"/>
          </p:nvPr>
        </p:nvSpPr>
        <p:spPr>
          <a:xfrm>
            <a:off x="87312" y="388937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SORTING RESULTS WITH </a:t>
            </a: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ORDER BY </a:t>
            </a: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CLAUSE</a:t>
            </a:r>
            <a:endParaRPr/>
          </a:p>
        </p:txBody>
      </p:sp>
      <p:sp>
        <p:nvSpPr>
          <p:cNvPr id="589" name="Google Shape;589;p74"/>
          <p:cNvSpPr txBox="1"/>
          <p:nvPr>
            <p:ph idx="1" type="body"/>
          </p:nvPr>
        </p:nvSpPr>
        <p:spPr>
          <a:xfrm>
            <a:off x="203200" y="1292225"/>
            <a:ext cx="88392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Sort the results first by STATE, and within a state by the CUSTOMER NAME</a:t>
            </a:r>
            <a:endParaRPr/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90" name="Google Shape;590;p74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4"/>
          <p:cNvSpPr txBox="1"/>
          <p:nvPr/>
        </p:nvSpPr>
        <p:spPr>
          <a:xfrm>
            <a:off x="642937" y="4945062"/>
            <a:ext cx="81026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the IN operator in this example allows you to include rows whose CustomerState value is either FL, TX, CA, or HI. It is more efficient than separate OR conditions.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592" name="Google Shape;59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212" y="2462212"/>
            <a:ext cx="8370887" cy="2414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5"/>
          <p:cNvSpPr txBox="1"/>
          <p:nvPr>
            <p:ph type="title"/>
          </p:nvPr>
        </p:nvSpPr>
        <p:spPr>
          <a:xfrm>
            <a:off x="406400" y="377825"/>
            <a:ext cx="873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CATEGORIZING RESULTS USING </a:t>
            </a: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GROUP BY</a:t>
            </a: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 CLAUSE</a:t>
            </a:r>
            <a:endParaRPr/>
          </a:p>
        </p:txBody>
      </p:sp>
      <p:sp>
        <p:nvSpPr>
          <p:cNvPr id="598" name="Google Shape;598;p75"/>
          <p:cNvSpPr txBox="1"/>
          <p:nvPr>
            <p:ph idx="1" type="body"/>
          </p:nvPr>
        </p:nvSpPr>
        <p:spPr>
          <a:xfrm>
            <a:off x="0" y="1701800"/>
            <a:ext cx="9144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 use with aggregate functions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1" i="1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Scalar aggregate</a:t>
            </a: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single value returned from SQL query with aggregate function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🞤"/>
            </a:pPr>
            <a:r>
              <a:rPr b="1" i="1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Vector aggregate</a:t>
            </a:r>
            <a:r>
              <a:rPr b="0" i="0" lang="en-US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multiple values returned from SQL query with aggregate function (via GROUP BY)</a:t>
            </a:r>
            <a:endParaRPr/>
          </a:p>
          <a:p>
            <a:pPr indent="-179069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 can use single-value fields with aggregate functions if they are included in the GROUP BY clause.</a:t>
            </a:r>
            <a:endParaRPr/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99" name="Google Shape;599;p75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600" name="Google Shape;60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873500"/>
            <a:ext cx="7797800" cy="15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6"/>
          <p:cNvSpPr txBox="1"/>
          <p:nvPr>
            <p:ph type="title"/>
          </p:nvPr>
        </p:nvSpPr>
        <p:spPr>
          <a:xfrm>
            <a:off x="406400" y="420687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Libre Franklin Medium"/>
              <a:buNone/>
            </a:pP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QUALIFYING RESULTS BY CATEGORIES </a:t>
            </a:r>
            <a:b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</a:b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USING THE </a:t>
            </a: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HAVING </a:t>
            </a:r>
            <a:r>
              <a:rPr b="0" i="0" lang="en-US" sz="36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CLAUSE</a:t>
            </a:r>
            <a:endParaRPr/>
          </a:p>
        </p:txBody>
      </p:sp>
      <p:sp>
        <p:nvSpPr>
          <p:cNvPr id="606" name="Google Shape;606;p76"/>
          <p:cNvSpPr txBox="1"/>
          <p:nvPr>
            <p:ph idx="1" type="body"/>
          </p:nvPr>
        </p:nvSpPr>
        <p:spPr>
          <a:xfrm>
            <a:off x="363537" y="1676400"/>
            <a:ext cx="8359775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🞭"/>
            </a:pPr>
            <a:r>
              <a:rPr b="0" i="0" lang="en-US" sz="3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 use with GROUP BY</a:t>
            </a:r>
            <a:endParaRPr/>
          </a:p>
          <a:p>
            <a:pPr indent="-187959" lvl="1" marL="74295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330"/>
              <a:buFont typeface="Noto Sans Symbols"/>
              <a:buNone/>
            </a:pPr>
            <a:r>
              <a:t/>
            </a:r>
            <a:endParaRPr b="0" i="0" sz="19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</a:pPr>
            <a:r>
              <a:rPr b="0" i="0" lang="en-US" sz="3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Like a WHERE clause, but it operates on groups (categories), not on individual rows. Here, only those groups with total numbers greater than 1 will be included in final result.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07" name="Google Shape;607;p76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name.gif" id="608" name="Google Shape;60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212" y="2246312"/>
            <a:ext cx="8216900" cy="22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7"/>
          <p:cNvSpPr txBox="1"/>
          <p:nvPr>
            <p:ph type="title"/>
          </p:nvPr>
        </p:nvSpPr>
        <p:spPr>
          <a:xfrm>
            <a:off x="576262" y="319087"/>
            <a:ext cx="7772400" cy="79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USING AND DEFINING VIEWS</a:t>
            </a:r>
            <a:endParaRPr/>
          </a:p>
        </p:txBody>
      </p:sp>
      <p:sp>
        <p:nvSpPr>
          <p:cNvPr id="614" name="Google Shape;614;p77"/>
          <p:cNvSpPr txBox="1"/>
          <p:nvPr>
            <p:ph idx="1" type="body"/>
          </p:nvPr>
        </p:nvSpPr>
        <p:spPr>
          <a:xfrm>
            <a:off x="0" y="1092200"/>
            <a:ext cx="9144000" cy="517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Views provide users controlled access to tables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Base Table–table containing the raw data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Virtual Table–constructed automatically as needed; not maintained as real data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🞭"/>
            </a:pPr>
            <a:r>
              <a:rPr b="0" i="0" lang="en-US" sz="28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Dynamic View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🞤"/>
            </a:pPr>
            <a:r>
              <a:rPr b="0" i="0" lang="en-US" sz="2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“virtual table” created dynamically upon request by a user 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🞤"/>
            </a:pPr>
            <a:r>
              <a:rPr b="0" i="0" lang="en-US" sz="2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 data actually stored; instead data from base table made available to user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🞤"/>
            </a:pPr>
            <a:r>
              <a:rPr b="0" i="0" lang="en-US" sz="2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Based on SQL SELECT statement on base tables or other views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🞤"/>
            </a:pPr>
            <a:r>
              <a:rPr b="0" i="0" lang="en-US" sz="2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Contents materialized as a result of a query</a:t>
            </a:r>
            <a:endParaRPr/>
          </a:p>
        </p:txBody>
      </p:sp>
      <p:sp>
        <p:nvSpPr>
          <p:cNvPr id="615" name="Google Shape;615;p77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8"/>
          <p:cNvSpPr txBox="1"/>
          <p:nvPr>
            <p:ph type="title"/>
          </p:nvPr>
        </p:nvSpPr>
        <p:spPr>
          <a:xfrm>
            <a:off x="612775" y="3476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SAMPLE CREATE VIEW</a:t>
            </a:r>
            <a:endParaRPr/>
          </a:p>
        </p:txBody>
      </p:sp>
      <p:sp>
        <p:nvSpPr>
          <p:cNvPr id="621" name="Google Shape;621;p78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8"/>
          <p:cNvSpPr txBox="1"/>
          <p:nvPr/>
        </p:nvSpPr>
        <p:spPr>
          <a:xfrm>
            <a:off x="787400" y="1181100"/>
            <a:ext cx="7750175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Query: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are the data elements necessary to create an invoice for a customer?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Save this query as a view named Invoice_V.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oogle Shape;62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822575"/>
            <a:ext cx="8104187" cy="2700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9"/>
          <p:cNvSpPr txBox="1"/>
          <p:nvPr>
            <p:ph type="title"/>
          </p:nvPr>
        </p:nvSpPr>
        <p:spPr>
          <a:xfrm>
            <a:off x="457200" y="344487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ADVANTAGES OF VIEWS</a:t>
            </a:r>
            <a:endParaRPr/>
          </a:p>
        </p:txBody>
      </p:sp>
      <p:sp>
        <p:nvSpPr>
          <p:cNvPr id="629" name="Google Shape;629;p79"/>
          <p:cNvSpPr txBox="1"/>
          <p:nvPr>
            <p:ph idx="1" type="body"/>
          </p:nvPr>
        </p:nvSpPr>
        <p:spPr>
          <a:xfrm>
            <a:off x="457200" y="15240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Simplify query commands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Assist with data security (but don't rely on views for security, there are more important security measures)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Enhance programming productivity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Contain most current base table data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 little storage space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Provide customized view for user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Establish physical data independence</a:t>
            </a:r>
            <a:endParaRPr/>
          </a:p>
          <a:p>
            <a:pPr indent="-20066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0066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30" name="Google Shape;630;p79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0"/>
          <p:cNvSpPr txBox="1"/>
          <p:nvPr>
            <p:ph type="title"/>
          </p:nvPr>
        </p:nvSpPr>
        <p:spPr>
          <a:xfrm>
            <a:off x="617537" y="330200"/>
            <a:ext cx="82296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ibre Franklin Medium"/>
              <a:buNone/>
            </a:pPr>
            <a:r>
              <a:rPr b="0" i="0" lang="en-US" sz="4000" u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DISADVANTAGES OF VIEWS</a:t>
            </a:r>
            <a:endParaRPr/>
          </a:p>
        </p:txBody>
      </p:sp>
      <p:sp>
        <p:nvSpPr>
          <p:cNvPr id="636" name="Google Shape;636;p80"/>
          <p:cNvSpPr txBox="1"/>
          <p:nvPr>
            <p:ph idx="1" type="body"/>
          </p:nvPr>
        </p:nvSpPr>
        <p:spPr>
          <a:xfrm>
            <a:off x="457200" y="1524000"/>
            <a:ext cx="8229600" cy="319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 processing time each time view is referenced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Char char="🞭"/>
            </a:pPr>
            <a:r>
              <a:rPr b="0" i="0" lang="en-US" sz="36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May or may not be directly updateable</a:t>
            </a:r>
            <a:endParaRPr/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8288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37" name="Google Shape;637;p80"/>
          <p:cNvSpPr txBox="1"/>
          <p:nvPr/>
        </p:nvSpPr>
        <p:spPr>
          <a:xfrm>
            <a:off x="8229600" y="6473825"/>
            <a:ext cx="758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8E27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38E27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Trek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Trek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rek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rek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