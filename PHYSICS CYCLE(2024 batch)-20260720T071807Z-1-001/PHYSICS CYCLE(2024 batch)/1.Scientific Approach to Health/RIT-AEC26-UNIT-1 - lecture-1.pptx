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5.jpg" ContentType="image/jp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notesMasterIdLst>
    <p:notesMasterId r:id="rId37"/>
  </p:notesMasterIdLst>
  <p:sldIdLst>
    <p:sldId id="281" r:id="rId2"/>
    <p:sldId id="257" r:id="rId3"/>
    <p:sldId id="333" r:id="rId4"/>
    <p:sldId id="350" r:id="rId5"/>
    <p:sldId id="338" r:id="rId6"/>
    <p:sldId id="339" r:id="rId7"/>
    <p:sldId id="340" r:id="rId8"/>
    <p:sldId id="341" r:id="rId9"/>
    <p:sldId id="342" r:id="rId10"/>
    <p:sldId id="344" r:id="rId11"/>
    <p:sldId id="345" r:id="rId12"/>
    <p:sldId id="346" r:id="rId13"/>
    <p:sldId id="335" r:id="rId14"/>
    <p:sldId id="347" r:id="rId15"/>
    <p:sldId id="348" r:id="rId16"/>
    <p:sldId id="349" r:id="rId17"/>
    <p:sldId id="263" r:id="rId18"/>
    <p:sldId id="264" r:id="rId19"/>
    <p:sldId id="351" r:id="rId20"/>
    <p:sldId id="352" r:id="rId21"/>
    <p:sldId id="337" r:id="rId22"/>
    <p:sldId id="266" r:id="rId23"/>
    <p:sldId id="265" r:id="rId24"/>
    <p:sldId id="267" r:id="rId25"/>
    <p:sldId id="268" r:id="rId26"/>
    <p:sldId id="354" r:id="rId27"/>
    <p:sldId id="353" r:id="rId28"/>
    <p:sldId id="270" r:id="rId29"/>
    <p:sldId id="272" r:id="rId30"/>
    <p:sldId id="356" r:id="rId31"/>
    <p:sldId id="357" r:id="rId32"/>
    <p:sldId id="332" r:id="rId33"/>
    <p:sldId id="274" r:id="rId34"/>
    <p:sldId id="358" r:id="rId35"/>
    <p:sldId id="359" r:id="rId3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FF00"/>
    <a:srgbClr val="CC3300"/>
    <a:srgbClr val="00FFCC"/>
    <a:srgbClr val="660066"/>
    <a:srgbClr val="CC6600"/>
    <a:srgbClr val="FF99FF"/>
    <a:srgbClr val="FF9966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544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512BDD-1BCE-4327-991D-8FB617FB2C85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8267D08-9D90-4EDB-937D-F4C306C93DA7}">
      <dgm:prSet custT="1"/>
      <dgm:spPr>
        <a:solidFill>
          <a:srgbClr val="00FFCC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 notice or announcement in a public medium promoting a product, service, or event  or publicizing a job vacancy is called Advertisement.</a:t>
          </a:r>
        </a:p>
      </dgm:t>
    </dgm:pt>
    <dgm:pt modelId="{45FFA460-A23F-458B-A0F8-EBC57A20DC28}" type="parTrans" cxnId="{D7430C73-17EB-49BD-952D-77A077450C94}">
      <dgm:prSet/>
      <dgm:spPr/>
      <dgm:t>
        <a:bodyPr/>
        <a:lstStyle/>
        <a:p>
          <a:endParaRPr lang="en-US"/>
        </a:p>
      </dgm:t>
    </dgm:pt>
    <dgm:pt modelId="{74AEDB19-794A-4FA2-9378-EB5F0AE9D252}" type="sibTrans" cxnId="{D7430C73-17EB-49BD-952D-77A077450C94}">
      <dgm:prSet/>
      <dgm:spPr/>
      <dgm:t>
        <a:bodyPr/>
        <a:lstStyle/>
        <a:p>
          <a:endParaRPr lang="en-US"/>
        </a:p>
      </dgm:t>
    </dgm:pt>
    <dgm:pt modelId="{BC8857C7-8203-478E-9DC4-27B5829B0871}">
      <dgm:prSet custT="1"/>
      <dgm:spPr>
        <a:solidFill>
          <a:srgbClr val="FF99FF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Advertising means: newspaper, TV, radio, magazine, internet, etc</a:t>
          </a:r>
          <a:r>
            <a:rPr lang="en-US" sz="1100" dirty="0"/>
            <a:t>.</a:t>
          </a:r>
        </a:p>
      </dgm:t>
    </dgm:pt>
    <dgm:pt modelId="{3CE92579-C4B1-48F8-9317-97E28D9095AD}" type="parTrans" cxnId="{64067CA2-AF1B-4C19-A2D5-F0D07ABED18F}">
      <dgm:prSet/>
      <dgm:spPr/>
      <dgm:t>
        <a:bodyPr/>
        <a:lstStyle/>
        <a:p>
          <a:endParaRPr lang="en-US"/>
        </a:p>
      </dgm:t>
    </dgm:pt>
    <dgm:pt modelId="{D40F7157-FD2B-4881-B154-D5C381FCCD08}" type="sibTrans" cxnId="{64067CA2-AF1B-4C19-A2D5-F0D07ABED18F}">
      <dgm:prSet/>
      <dgm:spPr/>
      <dgm:t>
        <a:bodyPr/>
        <a:lstStyle/>
        <a:p>
          <a:endParaRPr lang="en-US"/>
        </a:p>
      </dgm:t>
    </dgm:pt>
    <dgm:pt modelId="{1DF750FE-B63B-4268-8736-3D881F6DC9D2}">
      <dgm:prSet custT="1"/>
      <dgm:spPr>
        <a:solidFill>
          <a:srgbClr val="92D050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Health related advertisement are for Fitness, Medical, Wellness, Pharmaceutical &amp;  Health brands. Advertisements extensively discuss food and nutrition, tobacco,  alcohol, and prescription drugs</a:t>
          </a:r>
          <a:r>
            <a:rPr lang="en-US" sz="1100" dirty="0"/>
            <a:t>.</a:t>
          </a:r>
        </a:p>
      </dgm:t>
    </dgm:pt>
    <dgm:pt modelId="{5951D903-077A-4761-9C44-E73BE266B546}" type="parTrans" cxnId="{394A2197-58C8-410D-A251-8BF4025A606A}">
      <dgm:prSet/>
      <dgm:spPr/>
      <dgm:t>
        <a:bodyPr/>
        <a:lstStyle/>
        <a:p>
          <a:endParaRPr lang="en-US"/>
        </a:p>
      </dgm:t>
    </dgm:pt>
    <dgm:pt modelId="{94C18CE3-4963-4AAF-AA38-6513C1A6F2CB}" type="sibTrans" cxnId="{394A2197-58C8-410D-A251-8BF4025A606A}">
      <dgm:prSet/>
      <dgm:spPr/>
      <dgm:t>
        <a:bodyPr/>
        <a:lstStyle/>
        <a:p>
          <a:endParaRPr lang="en-US"/>
        </a:p>
      </dgm:t>
    </dgm:pt>
    <dgm:pt modelId="{9FF24FC8-1F6F-4FD3-83F4-C26B7780C9C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Research indicates that these health-related communications can have significant and  measurable effects on consumer cognitions, emotions, and behaviors. 48% of people  exposed to the health-promoting advertisements made searches within the next  month for weight loss information.</a:t>
          </a:r>
        </a:p>
      </dgm:t>
    </dgm:pt>
    <dgm:pt modelId="{9038C667-5BBB-4455-B406-B29D2FA8415A}" type="parTrans" cxnId="{4732C8AD-98C7-4C4E-AE7E-C0C5F17B8B65}">
      <dgm:prSet/>
      <dgm:spPr/>
      <dgm:t>
        <a:bodyPr/>
        <a:lstStyle/>
        <a:p>
          <a:endParaRPr lang="en-US"/>
        </a:p>
      </dgm:t>
    </dgm:pt>
    <dgm:pt modelId="{F19DE20C-70B7-4F7B-90CA-5E0AA1D8C16B}" type="sibTrans" cxnId="{4732C8AD-98C7-4C4E-AE7E-C0C5F17B8B65}">
      <dgm:prSet/>
      <dgm:spPr/>
      <dgm:t>
        <a:bodyPr/>
        <a:lstStyle/>
        <a:p>
          <a:endParaRPr lang="en-US"/>
        </a:p>
      </dgm:t>
    </dgm:pt>
    <dgm:pt modelId="{0F68E529-951E-403C-8C7E-EA17FAB0B70C}">
      <dgm:prSet/>
      <dgm:spPr>
        <a:solidFill>
          <a:srgbClr val="CC6600"/>
        </a:solidFill>
      </dgm:spPr>
      <dgm:t>
        <a:bodyPr/>
        <a:lstStyle/>
        <a:p>
          <a:r>
            <a:rPr lang="en-US"/>
            <a:t>Food products, Health supplements, Gyms, group workouts, anti-aging products,</a:t>
          </a:r>
        </a:p>
      </dgm:t>
    </dgm:pt>
    <dgm:pt modelId="{6142904D-946E-4157-8093-135DAAE92C77}" type="parTrans" cxnId="{7D92D6A5-2F08-42A5-83A1-F39638FE9724}">
      <dgm:prSet/>
      <dgm:spPr/>
      <dgm:t>
        <a:bodyPr/>
        <a:lstStyle/>
        <a:p>
          <a:endParaRPr lang="en-US"/>
        </a:p>
      </dgm:t>
    </dgm:pt>
    <dgm:pt modelId="{B3252E25-DC0D-4A7A-BE42-334C55B3D28A}" type="sibTrans" cxnId="{7D92D6A5-2F08-42A5-83A1-F39638FE9724}">
      <dgm:prSet/>
      <dgm:spPr/>
      <dgm:t>
        <a:bodyPr/>
        <a:lstStyle/>
        <a:p>
          <a:endParaRPr lang="en-US"/>
        </a:p>
      </dgm:t>
    </dgm:pt>
    <dgm:pt modelId="{044ADFF1-C38E-4631-8B6C-1954BAF1D6E0}">
      <dgm:prSet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Health instruments, Health insurance, beauty products</a:t>
          </a:r>
        </a:p>
      </dgm:t>
    </dgm:pt>
    <dgm:pt modelId="{93DD80BC-98DC-4295-91E8-35557975F21E}" type="parTrans" cxnId="{B4C21D98-2C27-4A3D-8638-AF1652FA04F1}">
      <dgm:prSet/>
      <dgm:spPr/>
      <dgm:t>
        <a:bodyPr/>
        <a:lstStyle/>
        <a:p>
          <a:endParaRPr lang="en-US"/>
        </a:p>
      </dgm:t>
    </dgm:pt>
    <dgm:pt modelId="{D56C73CA-481C-4248-8BE7-3928C443B801}" type="sibTrans" cxnId="{B4C21D98-2C27-4A3D-8638-AF1652FA04F1}">
      <dgm:prSet/>
      <dgm:spPr/>
      <dgm:t>
        <a:bodyPr/>
        <a:lstStyle/>
        <a:p>
          <a:endParaRPr lang="en-US"/>
        </a:p>
      </dgm:t>
    </dgm:pt>
    <dgm:pt modelId="{6A55E0E9-D922-4238-A767-9D8C37D3B14B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Advertisement has both positive and negative influence on health</a:t>
          </a:r>
        </a:p>
      </dgm:t>
    </dgm:pt>
    <dgm:pt modelId="{332F90D8-2FAC-45A4-83FF-A88CAA4D1DAB}" type="parTrans" cxnId="{C0654D8E-19C3-4863-8DD3-66F3BA91FCBE}">
      <dgm:prSet/>
      <dgm:spPr/>
      <dgm:t>
        <a:bodyPr/>
        <a:lstStyle/>
        <a:p>
          <a:endParaRPr lang="en-US"/>
        </a:p>
      </dgm:t>
    </dgm:pt>
    <dgm:pt modelId="{1AB209F3-49E1-46DB-AB95-4127060580AA}" type="sibTrans" cxnId="{C0654D8E-19C3-4863-8DD3-66F3BA91FCBE}">
      <dgm:prSet/>
      <dgm:spPr/>
      <dgm:t>
        <a:bodyPr/>
        <a:lstStyle/>
        <a:p>
          <a:endParaRPr lang="en-US"/>
        </a:p>
      </dgm:t>
    </dgm:pt>
    <dgm:pt modelId="{1ECF39AC-7E2C-4459-AF06-BC589EA17B27}" type="pres">
      <dgm:prSet presAssocID="{F1512BDD-1BCE-4327-991D-8FB617FB2C85}" presName="diagram" presStyleCnt="0">
        <dgm:presLayoutVars>
          <dgm:dir/>
          <dgm:resizeHandles val="exact"/>
        </dgm:presLayoutVars>
      </dgm:prSet>
      <dgm:spPr/>
    </dgm:pt>
    <dgm:pt modelId="{B0C356A6-C209-4732-8AAE-E0848C4F4441}" type="pres">
      <dgm:prSet presAssocID="{48267D08-9D90-4EDB-937D-F4C306C93DA7}" presName="node" presStyleLbl="node1" presStyleIdx="0" presStyleCnt="7">
        <dgm:presLayoutVars>
          <dgm:bulletEnabled val="1"/>
        </dgm:presLayoutVars>
      </dgm:prSet>
      <dgm:spPr/>
    </dgm:pt>
    <dgm:pt modelId="{C30403A1-BFBB-48F3-A80F-D8A84D1B8A89}" type="pres">
      <dgm:prSet presAssocID="{74AEDB19-794A-4FA2-9378-EB5F0AE9D252}" presName="sibTrans" presStyleCnt="0"/>
      <dgm:spPr/>
    </dgm:pt>
    <dgm:pt modelId="{6EA64544-4CD2-4A69-9B5B-AF68899FB681}" type="pres">
      <dgm:prSet presAssocID="{BC8857C7-8203-478E-9DC4-27B5829B0871}" presName="node" presStyleLbl="node1" presStyleIdx="1" presStyleCnt="7">
        <dgm:presLayoutVars>
          <dgm:bulletEnabled val="1"/>
        </dgm:presLayoutVars>
      </dgm:prSet>
      <dgm:spPr/>
    </dgm:pt>
    <dgm:pt modelId="{9C314B35-29CC-467D-8FAE-A27C9FF9B242}" type="pres">
      <dgm:prSet presAssocID="{D40F7157-FD2B-4881-B154-D5C381FCCD08}" presName="sibTrans" presStyleCnt="0"/>
      <dgm:spPr/>
    </dgm:pt>
    <dgm:pt modelId="{BA58B27F-A3F6-4809-AF5A-D8CE92AE1F24}" type="pres">
      <dgm:prSet presAssocID="{1DF750FE-B63B-4268-8736-3D881F6DC9D2}" presName="node" presStyleLbl="node1" presStyleIdx="2" presStyleCnt="7">
        <dgm:presLayoutVars>
          <dgm:bulletEnabled val="1"/>
        </dgm:presLayoutVars>
      </dgm:prSet>
      <dgm:spPr/>
    </dgm:pt>
    <dgm:pt modelId="{E5D9D16D-E37C-4CFE-81A5-E46EDEBAF75A}" type="pres">
      <dgm:prSet presAssocID="{94C18CE3-4963-4AAF-AA38-6513C1A6F2CB}" presName="sibTrans" presStyleCnt="0"/>
      <dgm:spPr/>
    </dgm:pt>
    <dgm:pt modelId="{A61FA69A-A9C5-4D04-9FDD-4F3808CB0F8B}" type="pres">
      <dgm:prSet presAssocID="{9FF24FC8-1F6F-4FD3-83F4-C26B7780C9C4}" presName="node" presStyleLbl="node1" presStyleIdx="3" presStyleCnt="7">
        <dgm:presLayoutVars>
          <dgm:bulletEnabled val="1"/>
        </dgm:presLayoutVars>
      </dgm:prSet>
      <dgm:spPr/>
    </dgm:pt>
    <dgm:pt modelId="{727CD713-3028-4F52-BB15-E284B94B6BA4}" type="pres">
      <dgm:prSet presAssocID="{F19DE20C-70B7-4F7B-90CA-5E0AA1D8C16B}" presName="sibTrans" presStyleCnt="0"/>
      <dgm:spPr/>
    </dgm:pt>
    <dgm:pt modelId="{57403517-BD61-4913-9C63-CF52C8084D0A}" type="pres">
      <dgm:prSet presAssocID="{0F68E529-951E-403C-8C7E-EA17FAB0B70C}" presName="node" presStyleLbl="node1" presStyleIdx="4" presStyleCnt="7">
        <dgm:presLayoutVars>
          <dgm:bulletEnabled val="1"/>
        </dgm:presLayoutVars>
      </dgm:prSet>
      <dgm:spPr/>
    </dgm:pt>
    <dgm:pt modelId="{F010F85C-B646-4F72-9F2D-515D457E2CF9}" type="pres">
      <dgm:prSet presAssocID="{B3252E25-DC0D-4A7A-BE42-334C55B3D28A}" presName="sibTrans" presStyleCnt="0"/>
      <dgm:spPr/>
    </dgm:pt>
    <dgm:pt modelId="{2CD3645F-12A6-44EB-A3CC-525A8105A355}" type="pres">
      <dgm:prSet presAssocID="{044ADFF1-C38E-4631-8B6C-1954BAF1D6E0}" presName="node" presStyleLbl="node1" presStyleIdx="5" presStyleCnt="7">
        <dgm:presLayoutVars>
          <dgm:bulletEnabled val="1"/>
        </dgm:presLayoutVars>
      </dgm:prSet>
      <dgm:spPr/>
    </dgm:pt>
    <dgm:pt modelId="{877C9E8F-1F81-4599-AAAA-9D9BECE08DF8}" type="pres">
      <dgm:prSet presAssocID="{D56C73CA-481C-4248-8BE7-3928C443B801}" presName="sibTrans" presStyleCnt="0"/>
      <dgm:spPr/>
    </dgm:pt>
    <dgm:pt modelId="{5DC94F9A-FD5C-472B-9465-9D81C68A7FFB}" type="pres">
      <dgm:prSet presAssocID="{6A55E0E9-D922-4238-A767-9D8C37D3B14B}" presName="node" presStyleLbl="node1" presStyleIdx="6" presStyleCnt="7">
        <dgm:presLayoutVars>
          <dgm:bulletEnabled val="1"/>
        </dgm:presLayoutVars>
      </dgm:prSet>
      <dgm:spPr/>
    </dgm:pt>
  </dgm:ptLst>
  <dgm:cxnLst>
    <dgm:cxn modelId="{63392927-8DB6-4FB2-92E0-3EBD4AF7EE5D}" type="presOf" srcId="{6A55E0E9-D922-4238-A767-9D8C37D3B14B}" destId="{5DC94F9A-FD5C-472B-9465-9D81C68A7FFB}" srcOrd="0" destOrd="0" presId="urn:microsoft.com/office/officeart/2005/8/layout/default"/>
    <dgm:cxn modelId="{A6936E41-40D4-4D1F-AE61-59201D321641}" type="presOf" srcId="{1DF750FE-B63B-4268-8736-3D881F6DC9D2}" destId="{BA58B27F-A3F6-4809-AF5A-D8CE92AE1F24}" srcOrd="0" destOrd="0" presId="urn:microsoft.com/office/officeart/2005/8/layout/default"/>
    <dgm:cxn modelId="{D7430C73-17EB-49BD-952D-77A077450C94}" srcId="{F1512BDD-1BCE-4327-991D-8FB617FB2C85}" destId="{48267D08-9D90-4EDB-937D-F4C306C93DA7}" srcOrd="0" destOrd="0" parTransId="{45FFA460-A23F-458B-A0F8-EBC57A20DC28}" sibTransId="{74AEDB19-794A-4FA2-9378-EB5F0AE9D252}"/>
    <dgm:cxn modelId="{09CBB982-3AC8-49EC-AF14-DA22FB5F225A}" type="presOf" srcId="{48267D08-9D90-4EDB-937D-F4C306C93DA7}" destId="{B0C356A6-C209-4732-8AAE-E0848C4F4441}" srcOrd="0" destOrd="0" presId="urn:microsoft.com/office/officeart/2005/8/layout/default"/>
    <dgm:cxn modelId="{C0654D8E-19C3-4863-8DD3-66F3BA91FCBE}" srcId="{F1512BDD-1BCE-4327-991D-8FB617FB2C85}" destId="{6A55E0E9-D922-4238-A767-9D8C37D3B14B}" srcOrd="6" destOrd="0" parTransId="{332F90D8-2FAC-45A4-83FF-A88CAA4D1DAB}" sibTransId="{1AB209F3-49E1-46DB-AB95-4127060580AA}"/>
    <dgm:cxn modelId="{394A2197-58C8-410D-A251-8BF4025A606A}" srcId="{F1512BDD-1BCE-4327-991D-8FB617FB2C85}" destId="{1DF750FE-B63B-4268-8736-3D881F6DC9D2}" srcOrd="2" destOrd="0" parTransId="{5951D903-077A-4761-9C44-E73BE266B546}" sibTransId="{94C18CE3-4963-4AAF-AA38-6513C1A6F2CB}"/>
    <dgm:cxn modelId="{B4C21D98-2C27-4A3D-8638-AF1652FA04F1}" srcId="{F1512BDD-1BCE-4327-991D-8FB617FB2C85}" destId="{044ADFF1-C38E-4631-8B6C-1954BAF1D6E0}" srcOrd="5" destOrd="0" parTransId="{93DD80BC-98DC-4295-91E8-35557975F21E}" sibTransId="{D56C73CA-481C-4248-8BE7-3928C443B801}"/>
    <dgm:cxn modelId="{64067CA2-AF1B-4C19-A2D5-F0D07ABED18F}" srcId="{F1512BDD-1BCE-4327-991D-8FB617FB2C85}" destId="{BC8857C7-8203-478E-9DC4-27B5829B0871}" srcOrd="1" destOrd="0" parTransId="{3CE92579-C4B1-48F8-9317-97E28D9095AD}" sibTransId="{D40F7157-FD2B-4881-B154-D5C381FCCD08}"/>
    <dgm:cxn modelId="{7D92D6A5-2F08-42A5-83A1-F39638FE9724}" srcId="{F1512BDD-1BCE-4327-991D-8FB617FB2C85}" destId="{0F68E529-951E-403C-8C7E-EA17FAB0B70C}" srcOrd="4" destOrd="0" parTransId="{6142904D-946E-4157-8093-135DAAE92C77}" sibTransId="{B3252E25-DC0D-4A7A-BE42-334C55B3D28A}"/>
    <dgm:cxn modelId="{A67096A9-CF52-4EA9-9043-F39B2A619DAC}" type="presOf" srcId="{F1512BDD-1BCE-4327-991D-8FB617FB2C85}" destId="{1ECF39AC-7E2C-4459-AF06-BC589EA17B27}" srcOrd="0" destOrd="0" presId="urn:microsoft.com/office/officeart/2005/8/layout/default"/>
    <dgm:cxn modelId="{4732C8AD-98C7-4C4E-AE7E-C0C5F17B8B65}" srcId="{F1512BDD-1BCE-4327-991D-8FB617FB2C85}" destId="{9FF24FC8-1F6F-4FD3-83F4-C26B7780C9C4}" srcOrd="3" destOrd="0" parTransId="{9038C667-5BBB-4455-B406-B29D2FA8415A}" sibTransId="{F19DE20C-70B7-4F7B-90CA-5E0AA1D8C16B}"/>
    <dgm:cxn modelId="{46096CB7-2AF8-4CD8-A151-67AB3B83D115}" type="presOf" srcId="{BC8857C7-8203-478E-9DC4-27B5829B0871}" destId="{6EA64544-4CD2-4A69-9B5B-AF68899FB681}" srcOrd="0" destOrd="0" presId="urn:microsoft.com/office/officeart/2005/8/layout/default"/>
    <dgm:cxn modelId="{076587BA-8539-4BEA-9C6B-AC7A65AD0B11}" type="presOf" srcId="{044ADFF1-C38E-4631-8B6C-1954BAF1D6E0}" destId="{2CD3645F-12A6-44EB-A3CC-525A8105A355}" srcOrd="0" destOrd="0" presId="urn:microsoft.com/office/officeart/2005/8/layout/default"/>
    <dgm:cxn modelId="{264C4CDA-C2A0-41CE-A812-35F6D5D56E07}" type="presOf" srcId="{9FF24FC8-1F6F-4FD3-83F4-C26B7780C9C4}" destId="{A61FA69A-A9C5-4D04-9FDD-4F3808CB0F8B}" srcOrd="0" destOrd="0" presId="urn:microsoft.com/office/officeart/2005/8/layout/default"/>
    <dgm:cxn modelId="{19329EF1-94A3-4B17-B5F9-A9E747BF5061}" type="presOf" srcId="{0F68E529-951E-403C-8C7E-EA17FAB0B70C}" destId="{57403517-BD61-4913-9C63-CF52C8084D0A}" srcOrd="0" destOrd="0" presId="urn:microsoft.com/office/officeart/2005/8/layout/default"/>
    <dgm:cxn modelId="{5D363729-9996-41F3-914C-10698A7EBE9F}" type="presParOf" srcId="{1ECF39AC-7E2C-4459-AF06-BC589EA17B27}" destId="{B0C356A6-C209-4732-8AAE-E0848C4F4441}" srcOrd="0" destOrd="0" presId="urn:microsoft.com/office/officeart/2005/8/layout/default"/>
    <dgm:cxn modelId="{0FC4DD45-4B9A-4C39-8053-52CB336FD720}" type="presParOf" srcId="{1ECF39AC-7E2C-4459-AF06-BC589EA17B27}" destId="{C30403A1-BFBB-48F3-A80F-D8A84D1B8A89}" srcOrd="1" destOrd="0" presId="urn:microsoft.com/office/officeart/2005/8/layout/default"/>
    <dgm:cxn modelId="{7A932064-FAA8-4A89-B092-FAAD06A7A93A}" type="presParOf" srcId="{1ECF39AC-7E2C-4459-AF06-BC589EA17B27}" destId="{6EA64544-4CD2-4A69-9B5B-AF68899FB681}" srcOrd="2" destOrd="0" presId="urn:microsoft.com/office/officeart/2005/8/layout/default"/>
    <dgm:cxn modelId="{59352125-C383-4F83-9EC1-F899218A85DC}" type="presParOf" srcId="{1ECF39AC-7E2C-4459-AF06-BC589EA17B27}" destId="{9C314B35-29CC-467D-8FAE-A27C9FF9B242}" srcOrd="3" destOrd="0" presId="urn:microsoft.com/office/officeart/2005/8/layout/default"/>
    <dgm:cxn modelId="{467EEFB8-445C-426C-B7A6-71D95D3D7589}" type="presParOf" srcId="{1ECF39AC-7E2C-4459-AF06-BC589EA17B27}" destId="{BA58B27F-A3F6-4809-AF5A-D8CE92AE1F24}" srcOrd="4" destOrd="0" presId="urn:microsoft.com/office/officeart/2005/8/layout/default"/>
    <dgm:cxn modelId="{457D233C-4FD0-4A05-8149-C8661544699D}" type="presParOf" srcId="{1ECF39AC-7E2C-4459-AF06-BC589EA17B27}" destId="{E5D9D16D-E37C-4CFE-81A5-E46EDEBAF75A}" srcOrd="5" destOrd="0" presId="urn:microsoft.com/office/officeart/2005/8/layout/default"/>
    <dgm:cxn modelId="{B8CCF43E-B13F-40B0-9DE7-18E5CDD72939}" type="presParOf" srcId="{1ECF39AC-7E2C-4459-AF06-BC589EA17B27}" destId="{A61FA69A-A9C5-4D04-9FDD-4F3808CB0F8B}" srcOrd="6" destOrd="0" presId="urn:microsoft.com/office/officeart/2005/8/layout/default"/>
    <dgm:cxn modelId="{A9434A50-63C9-40E8-A88B-D1641933A6FC}" type="presParOf" srcId="{1ECF39AC-7E2C-4459-AF06-BC589EA17B27}" destId="{727CD713-3028-4F52-BB15-E284B94B6BA4}" srcOrd="7" destOrd="0" presId="urn:microsoft.com/office/officeart/2005/8/layout/default"/>
    <dgm:cxn modelId="{34F0BA92-F48E-4A0F-B78D-D55E14E6B98F}" type="presParOf" srcId="{1ECF39AC-7E2C-4459-AF06-BC589EA17B27}" destId="{57403517-BD61-4913-9C63-CF52C8084D0A}" srcOrd="8" destOrd="0" presId="urn:microsoft.com/office/officeart/2005/8/layout/default"/>
    <dgm:cxn modelId="{F0A985E9-8F72-4F0F-A5BD-733085F12BD8}" type="presParOf" srcId="{1ECF39AC-7E2C-4459-AF06-BC589EA17B27}" destId="{F010F85C-B646-4F72-9F2D-515D457E2CF9}" srcOrd="9" destOrd="0" presId="urn:microsoft.com/office/officeart/2005/8/layout/default"/>
    <dgm:cxn modelId="{DB7CD761-E968-4FEA-9EF0-DB191094D775}" type="presParOf" srcId="{1ECF39AC-7E2C-4459-AF06-BC589EA17B27}" destId="{2CD3645F-12A6-44EB-A3CC-525A8105A355}" srcOrd="10" destOrd="0" presId="urn:microsoft.com/office/officeart/2005/8/layout/default"/>
    <dgm:cxn modelId="{769104B3-C464-4DA2-A55F-1B596BE110B0}" type="presParOf" srcId="{1ECF39AC-7E2C-4459-AF06-BC589EA17B27}" destId="{877C9E8F-1F81-4599-AAAA-9D9BECE08DF8}" srcOrd="11" destOrd="0" presId="urn:microsoft.com/office/officeart/2005/8/layout/default"/>
    <dgm:cxn modelId="{AB64A3B8-9809-4A25-AF7A-DF18E8C1CFE6}" type="presParOf" srcId="{1ECF39AC-7E2C-4459-AF06-BC589EA17B27}" destId="{5DC94F9A-FD5C-472B-9465-9D81C68A7FF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3295CB-0848-430D-9BE3-6A0345868B60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CB2F1AD-42FE-45D8-914E-D0119EE11497}">
      <dgm:prSet custT="1"/>
      <dgm:spPr/>
      <dgm:t>
        <a:bodyPr/>
        <a:lstStyle/>
        <a:p>
          <a:r>
            <a:rPr lang="en-US" sz="1500" dirty="0"/>
            <a:t>Personality traits are generally defined as a person’s characteristic thoughts,  feelings, and behaviors.</a:t>
          </a:r>
        </a:p>
      </dgm:t>
    </dgm:pt>
    <dgm:pt modelId="{91440423-E041-4108-9CC6-6BBB684FF104}" type="parTrans" cxnId="{2E1FC497-FC35-41C3-BF79-ABA989F67BF7}">
      <dgm:prSet/>
      <dgm:spPr/>
      <dgm:t>
        <a:bodyPr/>
        <a:lstStyle/>
        <a:p>
          <a:endParaRPr lang="en-US"/>
        </a:p>
      </dgm:t>
    </dgm:pt>
    <dgm:pt modelId="{F7BB36C0-7790-449A-AEA2-375751703780}" type="sibTrans" cxnId="{2E1FC497-FC35-41C3-BF79-ABA989F67BF7}">
      <dgm:prSet/>
      <dgm:spPr/>
      <dgm:t>
        <a:bodyPr/>
        <a:lstStyle/>
        <a:p>
          <a:endParaRPr lang="en-US"/>
        </a:p>
      </dgm:t>
    </dgm:pt>
    <dgm:pt modelId="{8B8210EC-B3D8-4E5D-A6A4-6FFF6C8F0CF4}">
      <dgm:prSet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500" dirty="0"/>
            <a:t>Introverts(people	who	are	typically quiet, reserved, and	introspective)	and extroverts (people who are social and outgoing)</a:t>
          </a:r>
        </a:p>
      </dgm:t>
    </dgm:pt>
    <dgm:pt modelId="{B0E09AF0-940A-4DAA-B41F-D1DE1F66E005}" type="parTrans" cxnId="{E380847C-451A-4413-A3FF-87A697C55F97}">
      <dgm:prSet/>
      <dgm:spPr/>
      <dgm:t>
        <a:bodyPr/>
        <a:lstStyle/>
        <a:p>
          <a:endParaRPr lang="en-US"/>
        </a:p>
      </dgm:t>
    </dgm:pt>
    <dgm:pt modelId="{D22B9C15-4AC8-47C1-839F-9BEA226553C8}" type="sibTrans" cxnId="{E380847C-451A-4413-A3FF-87A697C55F97}">
      <dgm:prSet/>
      <dgm:spPr/>
      <dgm:t>
        <a:bodyPr/>
        <a:lstStyle/>
        <a:p>
          <a:endParaRPr lang="en-US"/>
        </a:p>
      </dgm:t>
    </dgm:pt>
    <dgm:pt modelId="{99B3C262-3DE8-46C3-B924-10E69C5B6648}">
      <dgm:prSet custT="1"/>
      <dgm:spPr/>
      <dgm:t>
        <a:bodyPr/>
        <a:lstStyle/>
        <a:p>
          <a:r>
            <a:rPr lang="en-US" sz="1500" dirty="0"/>
            <a:t>Optimistic (People who are positive and assume good things last) and pessimistic  (people who have negative feelings).</a:t>
          </a:r>
        </a:p>
      </dgm:t>
    </dgm:pt>
    <dgm:pt modelId="{30360349-67A3-4B17-84FF-87440F70FD62}" type="parTrans" cxnId="{8D54A136-CF2B-4257-94FC-F43DC47867D8}">
      <dgm:prSet/>
      <dgm:spPr/>
      <dgm:t>
        <a:bodyPr/>
        <a:lstStyle/>
        <a:p>
          <a:endParaRPr lang="en-US"/>
        </a:p>
      </dgm:t>
    </dgm:pt>
    <dgm:pt modelId="{6FAD67F5-00E8-4BE1-85D6-6BB7F4C02F11}" type="sibTrans" cxnId="{8D54A136-CF2B-4257-94FC-F43DC47867D8}">
      <dgm:prSet/>
      <dgm:spPr/>
      <dgm:t>
        <a:bodyPr/>
        <a:lstStyle/>
        <a:p>
          <a:endParaRPr lang="en-US"/>
        </a:p>
      </dgm:t>
    </dgm:pt>
    <dgm:pt modelId="{B80FC45F-9356-4916-A959-E8AE5EDC52E0}">
      <dgm:prSet custT="1"/>
      <dgm:spPr/>
      <dgm:t>
        <a:bodyPr/>
        <a:lstStyle/>
        <a:p>
          <a:r>
            <a:rPr lang="en-US" sz="1500" dirty="0"/>
            <a:t>Neurotic (people who experience anxiety, depression, shy, self-doubt)</a:t>
          </a:r>
        </a:p>
      </dgm:t>
    </dgm:pt>
    <dgm:pt modelId="{1BF6A2C4-D3CF-4F71-9D2F-A154A0903CCD}" type="parTrans" cxnId="{956ED154-4D39-4001-9D8B-97040346634D}">
      <dgm:prSet/>
      <dgm:spPr/>
      <dgm:t>
        <a:bodyPr/>
        <a:lstStyle/>
        <a:p>
          <a:endParaRPr lang="en-US"/>
        </a:p>
      </dgm:t>
    </dgm:pt>
    <dgm:pt modelId="{D296BD8C-BBF9-4436-B606-FF968D87290F}" type="sibTrans" cxnId="{956ED154-4D39-4001-9D8B-97040346634D}">
      <dgm:prSet/>
      <dgm:spPr/>
      <dgm:t>
        <a:bodyPr/>
        <a:lstStyle/>
        <a:p>
          <a:endParaRPr lang="en-US"/>
        </a:p>
      </dgm:t>
    </dgm:pt>
    <dgm:pt modelId="{65C1A5BF-F41D-4005-8A96-AE8653034B05}">
      <dgm:prSet custT="1"/>
      <dgm:spPr/>
      <dgm:t>
        <a:bodyPr/>
        <a:lstStyle/>
        <a:p>
          <a:r>
            <a:rPr lang="en-US" sz="1500" dirty="0"/>
            <a:t>Conscientious (people who are high-achieving, dependable, careful)</a:t>
          </a:r>
        </a:p>
      </dgm:t>
    </dgm:pt>
    <dgm:pt modelId="{26BFC2B6-E085-4160-BF97-0F2E1C63F7BA}" type="parTrans" cxnId="{67A618B7-095D-4AD7-9B77-0EFB5864220F}">
      <dgm:prSet/>
      <dgm:spPr/>
      <dgm:t>
        <a:bodyPr/>
        <a:lstStyle/>
        <a:p>
          <a:endParaRPr lang="en-US"/>
        </a:p>
      </dgm:t>
    </dgm:pt>
    <dgm:pt modelId="{B202581A-869E-4236-9C57-E2AECF3FDE3E}" type="sibTrans" cxnId="{67A618B7-095D-4AD7-9B77-0EFB5864220F}">
      <dgm:prSet/>
      <dgm:spPr/>
      <dgm:t>
        <a:bodyPr/>
        <a:lstStyle/>
        <a:p>
          <a:endParaRPr lang="en-US"/>
        </a:p>
      </dgm:t>
    </dgm:pt>
    <dgm:pt modelId="{9C02140A-8D79-49A8-8C4C-B2F47D7B75B6}">
      <dgm:prSet custT="1"/>
      <dgm:spPr/>
      <dgm:t>
        <a:bodyPr/>
        <a:lstStyle/>
        <a:p>
          <a:r>
            <a:rPr lang="en-US" sz="1500" dirty="0"/>
            <a:t>Resilient (people adapting well to adversity, trauma, tragedy or stress)</a:t>
          </a:r>
        </a:p>
      </dgm:t>
    </dgm:pt>
    <dgm:pt modelId="{F5F00633-5D37-4D25-BECC-618DC9D23F2B}" type="parTrans" cxnId="{10253B38-4ACB-4BB1-818A-F0709380BDA5}">
      <dgm:prSet/>
      <dgm:spPr/>
      <dgm:t>
        <a:bodyPr/>
        <a:lstStyle/>
        <a:p>
          <a:endParaRPr lang="en-US"/>
        </a:p>
      </dgm:t>
    </dgm:pt>
    <dgm:pt modelId="{F495865A-06BB-46AE-88F7-470112B1754A}" type="sibTrans" cxnId="{10253B38-4ACB-4BB1-818A-F0709380BDA5}">
      <dgm:prSet/>
      <dgm:spPr/>
      <dgm:t>
        <a:bodyPr/>
        <a:lstStyle/>
        <a:p>
          <a:endParaRPr lang="en-US"/>
        </a:p>
      </dgm:t>
    </dgm:pt>
    <dgm:pt modelId="{F4A9D4D1-0D99-4FFA-BA6F-E3751C3AB469}">
      <dgm:prSet custT="1"/>
      <dgm:spPr/>
      <dgm:t>
        <a:bodyPr/>
        <a:lstStyle/>
        <a:p>
          <a:r>
            <a:rPr lang="en-US" sz="1500" dirty="0"/>
            <a:t>Narcissistic (self-centered people)</a:t>
          </a:r>
        </a:p>
      </dgm:t>
    </dgm:pt>
    <dgm:pt modelId="{4C1F06AA-63B5-4C88-B24A-4D111F49ED73}" type="parTrans" cxnId="{50549603-E90E-46E6-B75A-9E6FDBC36367}">
      <dgm:prSet/>
      <dgm:spPr/>
      <dgm:t>
        <a:bodyPr/>
        <a:lstStyle/>
        <a:p>
          <a:endParaRPr lang="en-US"/>
        </a:p>
      </dgm:t>
    </dgm:pt>
    <dgm:pt modelId="{47EA0571-E483-43B2-9461-EE539A32C364}" type="sibTrans" cxnId="{50549603-E90E-46E6-B75A-9E6FDBC36367}">
      <dgm:prSet/>
      <dgm:spPr/>
      <dgm:t>
        <a:bodyPr/>
        <a:lstStyle/>
        <a:p>
          <a:endParaRPr lang="en-US"/>
        </a:p>
      </dgm:t>
    </dgm:pt>
    <dgm:pt modelId="{C7F843CA-14F4-4751-9C2D-B737EEBA9A41}">
      <dgm:prSet custT="1"/>
      <dgm:spPr/>
      <dgm:t>
        <a:bodyPr/>
        <a:lstStyle/>
        <a:p>
          <a:r>
            <a:rPr lang="en-US" sz="1500" dirty="0"/>
            <a:t>Personality traits may influence whether a person engages in health-enhancing or  health-damaging behaviors</a:t>
          </a:r>
          <a:r>
            <a:rPr lang="en-US" sz="1400" dirty="0"/>
            <a:t>.</a:t>
          </a:r>
        </a:p>
      </dgm:t>
    </dgm:pt>
    <dgm:pt modelId="{F6E449AC-CF9A-4D7F-A817-55D6AD12F67E}" type="parTrans" cxnId="{C4EEEBEF-71B3-46FD-AA5D-7D04CB7966FF}">
      <dgm:prSet/>
      <dgm:spPr/>
      <dgm:t>
        <a:bodyPr/>
        <a:lstStyle/>
        <a:p>
          <a:endParaRPr lang="en-US"/>
        </a:p>
      </dgm:t>
    </dgm:pt>
    <dgm:pt modelId="{6C066C81-0996-4C84-A0BE-AA0C1F972F82}" type="sibTrans" cxnId="{C4EEEBEF-71B3-46FD-AA5D-7D04CB7966FF}">
      <dgm:prSet/>
      <dgm:spPr/>
      <dgm:t>
        <a:bodyPr/>
        <a:lstStyle/>
        <a:p>
          <a:endParaRPr lang="en-US"/>
        </a:p>
      </dgm:t>
    </dgm:pt>
    <dgm:pt modelId="{95897DEF-45B2-423C-B100-D8CB7BD94476}" type="pres">
      <dgm:prSet presAssocID="{4A3295CB-0848-430D-9BE3-6A0345868B60}" presName="linear" presStyleCnt="0">
        <dgm:presLayoutVars>
          <dgm:animLvl val="lvl"/>
          <dgm:resizeHandles val="exact"/>
        </dgm:presLayoutVars>
      </dgm:prSet>
      <dgm:spPr/>
    </dgm:pt>
    <dgm:pt modelId="{17DC281B-B413-479C-9080-88BB0313DE2F}" type="pres">
      <dgm:prSet presAssocID="{0CB2F1AD-42FE-45D8-914E-D0119EE11497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0F0E5EA-C16F-4A66-9DA2-05577AB2EE4D}" type="pres">
      <dgm:prSet presAssocID="{F7BB36C0-7790-449A-AEA2-375751703780}" presName="spacer" presStyleCnt="0"/>
      <dgm:spPr/>
    </dgm:pt>
    <dgm:pt modelId="{3EE9BB44-21EB-41AD-AF7C-2BA9CA434061}" type="pres">
      <dgm:prSet presAssocID="{8B8210EC-B3D8-4E5D-A6A4-6FFF6C8F0CF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F3744D0-4ACC-45EC-B3F2-95F9421BAEB3}" type="pres">
      <dgm:prSet presAssocID="{D22B9C15-4AC8-47C1-839F-9BEA226553C8}" presName="spacer" presStyleCnt="0"/>
      <dgm:spPr/>
    </dgm:pt>
    <dgm:pt modelId="{E9C7052E-9ECA-4115-ABBA-26C62BABC681}" type="pres">
      <dgm:prSet presAssocID="{99B3C262-3DE8-46C3-B924-10E69C5B664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D961F02-A9C6-4690-A4BC-0664DC5F35F1}" type="pres">
      <dgm:prSet presAssocID="{6FAD67F5-00E8-4BE1-85D6-6BB7F4C02F11}" presName="spacer" presStyleCnt="0"/>
      <dgm:spPr/>
    </dgm:pt>
    <dgm:pt modelId="{0658BE96-A1DB-4020-A621-A317E9026799}" type="pres">
      <dgm:prSet presAssocID="{B80FC45F-9356-4916-A959-E8AE5EDC52E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7D449F57-1A8C-47B0-B7DD-B1ED948DF30A}" type="pres">
      <dgm:prSet presAssocID="{D296BD8C-BBF9-4436-B606-FF968D87290F}" presName="spacer" presStyleCnt="0"/>
      <dgm:spPr/>
    </dgm:pt>
    <dgm:pt modelId="{E7272D7B-3078-434D-813F-149CAC7175EA}" type="pres">
      <dgm:prSet presAssocID="{65C1A5BF-F41D-4005-8A96-AE8653034B05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1F042BE-CDAF-40ED-8B80-3B68729C8A08}" type="pres">
      <dgm:prSet presAssocID="{B202581A-869E-4236-9C57-E2AECF3FDE3E}" presName="spacer" presStyleCnt="0"/>
      <dgm:spPr/>
    </dgm:pt>
    <dgm:pt modelId="{0B29F5E3-8DC6-4B5C-8F11-AFD67193B60E}" type="pres">
      <dgm:prSet presAssocID="{9C02140A-8D79-49A8-8C4C-B2F47D7B75B6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A25CE3BA-7CE0-4142-964C-B0DC0F0C9CA7}" type="pres">
      <dgm:prSet presAssocID="{F495865A-06BB-46AE-88F7-470112B1754A}" presName="spacer" presStyleCnt="0"/>
      <dgm:spPr/>
    </dgm:pt>
    <dgm:pt modelId="{73624B15-D618-4654-83A4-6C198B9FB085}" type="pres">
      <dgm:prSet presAssocID="{F4A9D4D1-0D99-4FFA-BA6F-E3751C3AB469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C08642C-BCCC-4D33-8B56-8C1E787B0C31}" type="pres">
      <dgm:prSet presAssocID="{47EA0571-E483-43B2-9461-EE539A32C364}" presName="spacer" presStyleCnt="0"/>
      <dgm:spPr/>
    </dgm:pt>
    <dgm:pt modelId="{1E8D9DBD-EBEB-4F16-BDE2-0699DBA07E02}" type="pres">
      <dgm:prSet presAssocID="{C7F843CA-14F4-4751-9C2D-B737EEBA9A41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0549603-E90E-46E6-B75A-9E6FDBC36367}" srcId="{4A3295CB-0848-430D-9BE3-6A0345868B60}" destId="{F4A9D4D1-0D99-4FFA-BA6F-E3751C3AB469}" srcOrd="6" destOrd="0" parTransId="{4C1F06AA-63B5-4C88-B24A-4D111F49ED73}" sibTransId="{47EA0571-E483-43B2-9461-EE539A32C364}"/>
    <dgm:cxn modelId="{57906D35-589C-4192-8C80-925A938777D6}" type="presOf" srcId="{99B3C262-3DE8-46C3-B924-10E69C5B6648}" destId="{E9C7052E-9ECA-4115-ABBA-26C62BABC681}" srcOrd="0" destOrd="0" presId="urn:microsoft.com/office/officeart/2005/8/layout/vList2"/>
    <dgm:cxn modelId="{8D54A136-CF2B-4257-94FC-F43DC47867D8}" srcId="{4A3295CB-0848-430D-9BE3-6A0345868B60}" destId="{99B3C262-3DE8-46C3-B924-10E69C5B6648}" srcOrd="2" destOrd="0" parTransId="{30360349-67A3-4B17-84FF-87440F70FD62}" sibTransId="{6FAD67F5-00E8-4BE1-85D6-6BB7F4C02F11}"/>
    <dgm:cxn modelId="{10253B38-4ACB-4BB1-818A-F0709380BDA5}" srcId="{4A3295CB-0848-430D-9BE3-6A0345868B60}" destId="{9C02140A-8D79-49A8-8C4C-B2F47D7B75B6}" srcOrd="5" destOrd="0" parTransId="{F5F00633-5D37-4D25-BECC-618DC9D23F2B}" sibTransId="{F495865A-06BB-46AE-88F7-470112B1754A}"/>
    <dgm:cxn modelId="{956ED154-4D39-4001-9D8B-97040346634D}" srcId="{4A3295CB-0848-430D-9BE3-6A0345868B60}" destId="{B80FC45F-9356-4916-A959-E8AE5EDC52E0}" srcOrd="3" destOrd="0" parTransId="{1BF6A2C4-D3CF-4F71-9D2F-A154A0903CCD}" sibTransId="{D296BD8C-BBF9-4436-B606-FF968D87290F}"/>
    <dgm:cxn modelId="{347C3F77-7064-40F6-BE1A-1975911F5490}" type="presOf" srcId="{C7F843CA-14F4-4751-9C2D-B737EEBA9A41}" destId="{1E8D9DBD-EBEB-4F16-BDE2-0699DBA07E02}" srcOrd="0" destOrd="0" presId="urn:microsoft.com/office/officeart/2005/8/layout/vList2"/>
    <dgm:cxn modelId="{E380847C-451A-4413-A3FF-87A697C55F97}" srcId="{4A3295CB-0848-430D-9BE3-6A0345868B60}" destId="{8B8210EC-B3D8-4E5D-A6A4-6FFF6C8F0CF4}" srcOrd="1" destOrd="0" parTransId="{B0E09AF0-940A-4DAA-B41F-D1DE1F66E005}" sibTransId="{D22B9C15-4AC8-47C1-839F-9BEA226553C8}"/>
    <dgm:cxn modelId="{30521E81-377B-454E-B546-535706A9797E}" type="presOf" srcId="{B80FC45F-9356-4916-A959-E8AE5EDC52E0}" destId="{0658BE96-A1DB-4020-A621-A317E9026799}" srcOrd="0" destOrd="0" presId="urn:microsoft.com/office/officeart/2005/8/layout/vList2"/>
    <dgm:cxn modelId="{2E1FC497-FC35-41C3-BF79-ABA989F67BF7}" srcId="{4A3295CB-0848-430D-9BE3-6A0345868B60}" destId="{0CB2F1AD-42FE-45D8-914E-D0119EE11497}" srcOrd="0" destOrd="0" parTransId="{91440423-E041-4108-9CC6-6BBB684FF104}" sibTransId="{F7BB36C0-7790-449A-AEA2-375751703780}"/>
    <dgm:cxn modelId="{67A618B7-095D-4AD7-9B77-0EFB5864220F}" srcId="{4A3295CB-0848-430D-9BE3-6A0345868B60}" destId="{65C1A5BF-F41D-4005-8A96-AE8653034B05}" srcOrd="4" destOrd="0" parTransId="{26BFC2B6-E085-4160-BF97-0F2E1C63F7BA}" sibTransId="{B202581A-869E-4236-9C57-E2AECF3FDE3E}"/>
    <dgm:cxn modelId="{E42047BC-133F-412C-B6D9-F93A41989E41}" type="presOf" srcId="{9C02140A-8D79-49A8-8C4C-B2F47D7B75B6}" destId="{0B29F5E3-8DC6-4B5C-8F11-AFD67193B60E}" srcOrd="0" destOrd="0" presId="urn:microsoft.com/office/officeart/2005/8/layout/vList2"/>
    <dgm:cxn modelId="{79A8EEC4-CF80-4D53-B53C-1D39F334720C}" type="presOf" srcId="{8B8210EC-B3D8-4E5D-A6A4-6FFF6C8F0CF4}" destId="{3EE9BB44-21EB-41AD-AF7C-2BA9CA434061}" srcOrd="0" destOrd="0" presId="urn:microsoft.com/office/officeart/2005/8/layout/vList2"/>
    <dgm:cxn modelId="{F373A7CD-59AE-4590-9EC5-C0AE160AAECC}" type="presOf" srcId="{65C1A5BF-F41D-4005-8A96-AE8653034B05}" destId="{E7272D7B-3078-434D-813F-149CAC7175EA}" srcOrd="0" destOrd="0" presId="urn:microsoft.com/office/officeart/2005/8/layout/vList2"/>
    <dgm:cxn modelId="{11A057DE-8A88-4B59-95CF-0EFAAF6F27DF}" type="presOf" srcId="{0CB2F1AD-42FE-45D8-914E-D0119EE11497}" destId="{17DC281B-B413-479C-9080-88BB0313DE2F}" srcOrd="0" destOrd="0" presId="urn:microsoft.com/office/officeart/2005/8/layout/vList2"/>
    <dgm:cxn modelId="{C4EEEBEF-71B3-46FD-AA5D-7D04CB7966FF}" srcId="{4A3295CB-0848-430D-9BE3-6A0345868B60}" destId="{C7F843CA-14F4-4751-9C2D-B737EEBA9A41}" srcOrd="7" destOrd="0" parTransId="{F6E449AC-CF9A-4D7F-A817-55D6AD12F67E}" sibTransId="{6C066C81-0996-4C84-A0BE-AA0C1F972F82}"/>
    <dgm:cxn modelId="{DD32D4F9-D55F-427C-9E6C-32785350FFD2}" type="presOf" srcId="{4A3295CB-0848-430D-9BE3-6A0345868B60}" destId="{95897DEF-45B2-423C-B100-D8CB7BD94476}" srcOrd="0" destOrd="0" presId="urn:microsoft.com/office/officeart/2005/8/layout/vList2"/>
    <dgm:cxn modelId="{5D2351FB-827E-4746-BE78-B05349935BA1}" type="presOf" srcId="{F4A9D4D1-0D99-4FFA-BA6F-E3751C3AB469}" destId="{73624B15-D618-4654-83A4-6C198B9FB085}" srcOrd="0" destOrd="0" presId="urn:microsoft.com/office/officeart/2005/8/layout/vList2"/>
    <dgm:cxn modelId="{AFBCAFE3-908F-494F-BDA5-85CDAB00F644}" type="presParOf" srcId="{95897DEF-45B2-423C-B100-D8CB7BD94476}" destId="{17DC281B-B413-479C-9080-88BB0313DE2F}" srcOrd="0" destOrd="0" presId="urn:microsoft.com/office/officeart/2005/8/layout/vList2"/>
    <dgm:cxn modelId="{D55BD419-5D5C-4C60-96F5-F983CFF90595}" type="presParOf" srcId="{95897DEF-45B2-423C-B100-D8CB7BD94476}" destId="{90F0E5EA-C16F-4A66-9DA2-05577AB2EE4D}" srcOrd="1" destOrd="0" presId="urn:microsoft.com/office/officeart/2005/8/layout/vList2"/>
    <dgm:cxn modelId="{E68D1995-59CB-4AB1-A046-C4E8DF21062D}" type="presParOf" srcId="{95897DEF-45B2-423C-B100-D8CB7BD94476}" destId="{3EE9BB44-21EB-41AD-AF7C-2BA9CA434061}" srcOrd="2" destOrd="0" presId="urn:microsoft.com/office/officeart/2005/8/layout/vList2"/>
    <dgm:cxn modelId="{E1363A4F-1393-415E-A605-E6B1F9AB5437}" type="presParOf" srcId="{95897DEF-45B2-423C-B100-D8CB7BD94476}" destId="{EF3744D0-4ACC-45EC-B3F2-95F9421BAEB3}" srcOrd="3" destOrd="0" presId="urn:microsoft.com/office/officeart/2005/8/layout/vList2"/>
    <dgm:cxn modelId="{184AF6BB-9E20-43FD-ACF0-04EE987452A8}" type="presParOf" srcId="{95897DEF-45B2-423C-B100-D8CB7BD94476}" destId="{E9C7052E-9ECA-4115-ABBA-26C62BABC681}" srcOrd="4" destOrd="0" presId="urn:microsoft.com/office/officeart/2005/8/layout/vList2"/>
    <dgm:cxn modelId="{419729DF-B68C-4006-87BD-A51E3F0F104D}" type="presParOf" srcId="{95897DEF-45B2-423C-B100-D8CB7BD94476}" destId="{BD961F02-A9C6-4690-A4BC-0664DC5F35F1}" srcOrd="5" destOrd="0" presId="urn:microsoft.com/office/officeart/2005/8/layout/vList2"/>
    <dgm:cxn modelId="{3FD7FC2C-64E4-4F74-B8A9-90372C227FB6}" type="presParOf" srcId="{95897DEF-45B2-423C-B100-D8CB7BD94476}" destId="{0658BE96-A1DB-4020-A621-A317E9026799}" srcOrd="6" destOrd="0" presId="urn:microsoft.com/office/officeart/2005/8/layout/vList2"/>
    <dgm:cxn modelId="{B6414355-C874-44C5-B9C5-6769B8EA09F3}" type="presParOf" srcId="{95897DEF-45B2-423C-B100-D8CB7BD94476}" destId="{7D449F57-1A8C-47B0-B7DD-B1ED948DF30A}" srcOrd="7" destOrd="0" presId="urn:microsoft.com/office/officeart/2005/8/layout/vList2"/>
    <dgm:cxn modelId="{038199C3-351C-4213-B132-E76D21F7523E}" type="presParOf" srcId="{95897DEF-45B2-423C-B100-D8CB7BD94476}" destId="{E7272D7B-3078-434D-813F-149CAC7175EA}" srcOrd="8" destOrd="0" presId="urn:microsoft.com/office/officeart/2005/8/layout/vList2"/>
    <dgm:cxn modelId="{BFEECB5A-A70D-4A1A-A803-C4DC5731D8A2}" type="presParOf" srcId="{95897DEF-45B2-423C-B100-D8CB7BD94476}" destId="{91F042BE-CDAF-40ED-8B80-3B68729C8A08}" srcOrd="9" destOrd="0" presId="urn:microsoft.com/office/officeart/2005/8/layout/vList2"/>
    <dgm:cxn modelId="{88A3F451-2DB4-4562-8A7C-40B020549EC7}" type="presParOf" srcId="{95897DEF-45B2-423C-B100-D8CB7BD94476}" destId="{0B29F5E3-8DC6-4B5C-8F11-AFD67193B60E}" srcOrd="10" destOrd="0" presId="urn:microsoft.com/office/officeart/2005/8/layout/vList2"/>
    <dgm:cxn modelId="{78817BC1-61E7-4DEA-B5F6-550D337AD3ED}" type="presParOf" srcId="{95897DEF-45B2-423C-B100-D8CB7BD94476}" destId="{A25CE3BA-7CE0-4142-964C-B0DC0F0C9CA7}" srcOrd="11" destOrd="0" presId="urn:microsoft.com/office/officeart/2005/8/layout/vList2"/>
    <dgm:cxn modelId="{F5B724E0-3BCA-4C01-B741-DF220614C667}" type="presParOf" srcId="{95897DEF-45B2-423C-B100-D8CB7BD94476}" destId="{73624B15-D618-4654-83A4-6C198B9FB085}" srcOrd="12" destOrd="0" presId="urn:microsoft.com/office/officeart/2005/8/layout/vList2"/>
    <dgm:cxn modelId="{355CBECF-3C9D-4E2C-9325-5A24BBE324D9}" type="presParOf" srcId="{95897DEF-45B2-423C-B100-D8CB7BD94476}" destId="{8C08642C-BCCC-4D33-8B56-8C1E787B0C31}" srcOrd="13" destOrd="0" presId="urn:microsoft.com/office/officeart/2005/8/layout/vList2"/>
    <dgm:cxn modelId="{AD61929C-5973-4E3A-856D-C06CC6EDA7F9}" type="presParOf" srcId="{95897DEF-45B2-423C-B100-D8CB7BD94476}" destId="{1E8D9DBD-EBEB-4F16-BDE2-0699DBA07E02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356A6-C209-4732-8AAE-E0848C4F4441}">
      <dsp:nvSpPr>
        <dsp:cNvPr id="0" name=""/>
        <dsp:cNvSpPr/>
      </dsp:nvSpPr>
      <dsp:spPr>
        <a:xfrm>
          <a:off x="0" y="9359"/>
          <a:ext cx="2620186" cy="1572112"/>
        </a:xfrm>
        <a:prstGeom prst="rect">
          <a:avLst/>
        </a:prstGeom>
        <a:solidFill>
          <a:srgbClr val="00FFCC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 notice or announcement in a public medium promoting a product, service, or event  or publicizing a job vacancy is called Advertisement.</a:t>
          </a:r>
        </a:p>
      </dsp:txBody>
      <dsp:txXfrm>
        <a:off x="0" y="9359"/>
        <a:ext cx="2620186" cy="1572112"/>
      </dsp:txXfrm>
    </dsp:sp>
    <dsp:sp modelId="{6EA64544-4CD2-4A69-9B5B-AF68899FB681}">
      <dsp:nvSpPr>
        <dsp:cNvPr id="0" name=""/>
        <dsp:cNvSpPr/>
      </dsp:nvSpPr>
      <dsp:spPr>
        <a:xfrm>
          <a:off x="2882205" y="9359"/>
          <a:ext cx="2620186" cy="1572112"/>
        </a:xfrm>
        <a:prstGeom prst="rect">
          <a:avLst/>
        </a:prstGeom>
        <a:solidFill>
          <a:srgbClr val="FF99FF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Advertising means: newspaper, TV, radio, magazine, internet, etc</a:t>
          </a:r>
          <a:r>
            <a:rPr lang="en-US" sz="1100" kern="1200" dirty="0"/>
            <a:t>.</a:t>
          </a:r>
        </a:p>
      </dsp:txBody>
      <dsp:txXfrm>
        <a:off x="2882205" y="9359"/>
        <a:ext cx="2620186" cy="1572112"/>
      </dsp:txXfrm>
    </dsp:sp>
    <dsp:sp modelId="{BA58B27F-A3F6-4809-AF5A-D8CE92AE1F24}">
      <dsp:nvSpPr>
        <dsp:cNvPr id="0" name=""/>
        <dsp:cNvSpPr/>
      </dsp:nvSpPr>
      <dsp:spPr>
        <a:xfrm>
          <a:off x="5764411" y="9359"/>
          <a:ext cx="2620186" cy="1572112"/>
        </a:xfrm>
        <a:prstGeom prst="rect">
          <a:avLst/>
        </a:prstGeom>
        <a:solidFill>
          <a:srgbClr val="92D050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Health related advertisement are for Fitness, Medical, Wellness, Pharmaceutical &amp;  Health brands. Advertisements extensively discuss food and nutrition, tobacco,  alcohol, and prescription drugs</a:t>
          </a:r>
          <a:r>
            <a:rPr lang="en-US" sz="1100" kern="1200" dirty="0"/>
            <a:t>.</a:t>
          </a:r>
        </a:p>
      </dsp:txBody>
      <dsp:txXfrm>
        <a:off x="5764411" y="9359"/>
        <a:ext cx="2620186" cy="1572112"/>
      </dsp:txXfrm>
    </dsp:sp>
    <dsp:sp modelId="{A61FA69A-A9C5-4D04-9FDD-4F3808CB0F8B}">
      <dsp:nvSpPr>
        <dsp:cNvPr id="0" name=""/>
        <dsp:cNvSpPr/>
      </dsp:nvSpPr>
      <dsp:spPr>
        <a:xfrm>
          <a:off x="0" y="1843490"/>
          <a:ext cx="2620186" cy="15721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Research indicates that these health-related communications can have significant and  measurable effects on consumer cognitions, emotions, and behaviors. 48% of people  exposed to the health-promoting advertisements made searches within the next  month for weight loss information.</a:t>
          </a:r>
        </a:p>
      </dsp:txBody>
      <dsp:txXfrm>
        <a:off x="0" y="1843490"/>
        <a:ext cx="2620186" cy="1572112"/>
      </dsp:txXfrm>
    </dsp:sp>
    <dsp:sp modelId="{57403517-BD61-4913-9C63-CF52C8084D0A}">
      <dsp:nvSpPr>
        <dsp:cNvPr id="0" name=""/>
        <dsp:cNvSpPr/>
      </dsp:nvSpPr>
      <dsp:spPr>
        <a:xfrm>
          <a:off x="2882205" y="1843490"/>
          <a:ext cx="2620186" cy="1572112"/>
        </a:xfrm>
        <a:prstGeom prst="rect">
          <a:avLst/>
        </a:prstGeom>
        <a:solidFill>
          <a:srgbClr val="CC6600"/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Food products, Health supplements, Gyms, group workouts, anti-aging products,</a:t>
          </a:r>
        </a:p>
      </dsp:txBody>
      <dsp:txXfrm>
        <a:off x="2882205" y="1843490"/>
        <a:ext cx="2620186" cy="1572112"/>
      </dsp:txXfrm>
    </dsp:sp>
    <dsp:sp modelId="{2CD3645F-12A6-44EB-A3CC-525A8105A355}">
      <dsp:nvSpPr>
        <dsp:cNvPr id="0" name=""/>
        <dsp:cNvSpPr/>
      </dsp:nvSpPr>
      <dsp:spPr>
        <a:xfrm>
          <a:off x="5764411" y="1843490"/>
          <a:ext cx="2620186" cy="1572112"/>
        </a:xfrm>
        <a:prstGeom prst="rect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Health instruments, Health insurance, beauty products</a:t>
          </a:r>
        </a:p>
      </dsp:txBody>
      <dsp:txXfrm>
        <a:off x="5764411" y="1843490"/>
        <a:ext cx="2620186" cy="1572112"/>
      </dsp:txXfrm>
    </dsp:sp>
    <dsp:sp modelId="{5DC94F9A-FD5C-472B-9465-9D81C68A7FFB}">
      <dsp:nvSpPr>
        <dsp:cNvPr id="0" name=""/>
        <dsp:cNvSpPr/>
      </dsp:nvSpPr>
      <dsp:spPr>
        <a:xfrm>
          <a:off x="2882205" y="3677621"/>
          <a:ext cx="2620186" cy="1572112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Advertisement has both positive and negative influence on health</a:t>
          </a:r>
        </a:p>
      </dsp:txBody>
      <dsp:txXfrm>
        <a:off x="2882205" y="3677621"/>
        <a:ext cx="2620186" cy="15721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C281B-B413-479C-9080-88BB0313DE2F}">
      <dsp:nvSpPr>
        <dsp:cNvPr id="0" name=""/>
        <dsp:cNvSpPr/>
      </dsp:nvSpPr>
      <dsp:spPr>
        <a:xfrm>
          <a:off x="0" y="348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Personality traits are generally defined as a person’s characteristic thoughts,  feelings, and behaviors.</a:t>
          </a:r>
        </a:p>
      </dsp:txBody>
      <dsp:txXfrm>
        <a:off x="38636" y="38984"/>
        <a:ext cx="5701151" cy="714182"/>
      </dsp:txXfrm>
    </dsp:sp>
    <dsp:sp modelId="{3EE9BB44-21EB-41AD-AF7C-2BA9CA434061}">
      <dsp:nvSpPr>
        <dsp:cNvPr id="0" name=""/>
        <dsp:cNvSpPr/>
      </dsp:nvSpPr>
      <dsp:spPr>
        <a:xfrm>
          <a:off x="0" y="804275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Introverts(people	who	are	typically quiet, reserved, and	introspective)	and extroverts (people who are social and outgoing)</a:t>
          </a:r>
        </a:p>
      </dsp:txBody>
      <dsp:txXfrm>
        <a:off x="38636" y="842911"/>
        <a:ext cx="5701151" cy="714182"/>
      </dsp:txXfrm>
    </dsp:sp>
    <dsp:sp modelId="{E9C7052E-9ECA-4115-ABBA-26C62BABC681}">
      <dsp:nvSpPr>
        <dsp:cNvPr id="0" name=""/>
        <dsp:cNvSpPr/>
      </dsp:nvSpPr>
      <dsp:spPr>
        <a:xfrm>
          <a:off x="0" y="1608203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Optimistic (People who are positive and assume good things last) and pessimistic  (people who have negative feelings).</a:t>
          </a:r>
        </a:p>
      </dsp:txBody>
      <dsp:txXfrm>
        <a:off x="38636" y="1646839"/>
        <a:ext cx="5701151" cy="714182"/>
      </dsp:txXfrm>
    </dsp:sp>
    <dsp:sp modelId="{0658BE96-A1DB-4020-A621-A317E9026799}">
      <dsp:nvSpPr>
        <dsp:cNvPr id="0" name=""/>
        <dsp:cNvSpPr/>
      </dsp:nvSpPr>
      <dsp:spPr>
        <a:xfrm>
          <a:off x="0" y="2412131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Neurotic (people who experience anxiety, depression, shy, self-doubt)</a:t>
          </a:r>
        </a:p>
      </dsp:txBody>
      <dsp:txXfrm>
        <a:off x="38636" y="2450767"/>
        <a:ext cx="5701151" cy="714182"/>
      </dsp:txXfrm>
    </dsp:sp>
    <dsp:sp modelId="{E7272D7B-3078-434D-813F-149CAC7175EA}">
      <dsp:nvSpPr>
        <dsp:cNvPr id="0" name=""/>
        <dsp:cNvSpPr/>
      </dsp:nvSpPr>
      <dsp:spPr>
        <a:xfrm>
          <a:off x="0" y="3216058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Conscientious (people who are high-achieving, dependable, careful)</a:t>
          </a:r>
        </a:p>
      </dsp:txBody>
      <dsp:txXfrm>
        <a:off x="38636" y="3254694"/>
        <a:ext cx="5701151" cy="714182"/>
      </dsp:txXfrm>
    </dsp:sp>
    <dsp:sp modelId="{0B29F5E3-8DC6-4B5C-8F11-AFD67193B60E}">
      <dsp:nvSpPr>
        <dsp:cNvPr id="0" name=""/>
        <dsp:cNvSpPr/>
      </dsp:nvSpPr>
      <dsp:spPr>
        <a:xfrm>
          <a:off x="0" y="4019986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Resilient (people adapting well to adversity, trauma, tragedy or stress)</a:t>
          </a:r>
        </a:p>
      </dsp:txBody>
      <dsp:txXfrm>
        <a:off x="38636" y="4058622"/>
        <a:ext cx="5701151" cy="714182"/>
      </dsp:txXfrm>
    </dsp:sp>
    <dsp:sp modelId="{73624B15-D618-4654-83A4-6C198B9FB085}">
      <dsp:nvSpPr>
        <dsp:cNvPr id="0" name=""/>
        <dsp:cNvSpPr/>
      </dsp:nvSpPr>
      <dsp:spPr>
        <a:xfrm>
          <a:off x="0" y="4823914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Narcissistic (self-centered people)</a:t>
          </a:r>
        </a:p>
      </dsp:txBody>
      <dsp:txXfrm>
        <a:off x="38636" y="4862550"/>
        <a:ext cx="5701151" cy="714182"/>
      </dsp:txXfrm>
    </dsp:sp>
    <dsp:sp modelId="{1E8D9DBD-EBEB-4F16-BDE2-0699DBA07E02}">
      <dsp:nvSpPr>
        <dsp:cNvPr id="0" name=""/>
        <dsp:cNvSpPr/>
      </dsp:nvSpPr>
      <dsp:spPr>
        <a:xfrm>
          <a:off x="0" y="5627841"/>
          <a:ext cx="5778423" cy="79145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Personality traits may influence whether a person engages in health-enhancing or  health-damaging behaviors</a:t>
          </a:r>
          <a:r>
            <a:rPr lang="en-US" sz="1400" kern="1200" dirty="0"/>
            <a:t>.</a:t>
          </a:r>
        </a:p>
      </dsp:txBody>
      <dsp:txXfrm>
        <a:off x="38636" y="5666477"/>
        <a:ext cx="5701151" cy="714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6DA54-9028-45DF-B216-E1A280A84025}" type="datetimeFigureOut">
              <a:rPr lang="en-IN" smtClean="0"/>
              <a:t>30-05-2022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BF8B3-8400-43D7-9F93-580F87E28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0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AE7E-7A05-49D3-B4CD-914227AE6E67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41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F861-7FAF-496D-AD06-18E752E8B2E6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77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26F5-57B6-4000-A747-5F9EA4A2B5B4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8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36A53-3BDE-4E6E-9134-5C29827A3EBC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21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7272-89CF-43D6-86EF-A66FF8049FC5}" type="datetime1">
              <a:rPr lang="en-US" smtClean="0"/>
              <a:t>5/30/2022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04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64C9-1812-4BAC-AAAA-33838195A336}" type="datetime1">
              <a:rPr lang="en-US" smtClean="0"/>
              <a:t>5/30/2022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31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84060-0A32-41E8-9AE2-303EB3F16F21}" type="datetime1">
              <a:rPr lang="en-US" smtClean="0"/>
              <a:t>5/30/2022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14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3667-1915-4091-A554-38D76ADB0E2C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67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82B9-E60C-4556-BD17-B9C65A33E269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0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9B7EA-0172-4DFD-9429-505FD05DE1EE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81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461D7-3948-48F5-96CD-3B7FADD87706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39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CCE9-A0E1-4FE2-8881-503FA0B0ABF1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61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95403-0278-45DC-A6B3-D859FE9377AA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5943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E0EB9-DB91-4704-ADA3-37E36477B4D3}" type="datetime1">
              <a:rPr lang="en-US" smtClean="0"/>
              <a:t>5/30/2022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669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BB94-A3FD-4D7D-B7AF-43D3C402F898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896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FE577-418D-47D3-9BE0-E6C59DC6F2EB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AEC26-RIT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09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30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248C4-55D9-4C14-8994-DD6AFB0BA622}" type="datetime1">
              <a:rPr lang="en-US" smtClean="0"/>
              <a:t>5/30/2022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AEC26-RIT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1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emergencies/diseases/novel-coronavirus-2019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news-room/questions-and-answers/item/determinants-of-health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who.int/news-room/questions-and-answers/item/determinants-of-health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wuahwbIBnE" TargetMode="External"/><Relationship Id="rId2" Type="http://schemas.openxmlformats.org/officeDocument/2006/relationships/hyperlink" Target="https://www.youtube.com/watch?v=71_NkXgAK1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12192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rgbClr val="FF0000"/>
                </a:solidFill>
                <a:latin typeface="Algerian" panose="04020705040A02060702" pitchFamily="82" charset="0"/>
                <a:cs typeface="Times New Roman"/>
              </a:rPr>
              <a:t>Scientific Foundations of</a:t>
            </a:r>
            <a:r>
              <a:rPr lang="en-IN" sz="4800" spc="-70" dirty="0">
                <a:solidFill>
                  <a:srgbClr val="FF0000"/>
                </a:solidFill>
                <a:latin typeface="Algerian" panose="04020705040A02060702" pitchFamily="82" charset="0"/>
                <a:cs typeface="Times New Roman"/>
              </a:rPr>
              <a:t> </a:t>
            </a:r>
            <a:r>
              <a:rPr lang="en-IN" sz="4800" dirty="0">
                <a:solidFill>
                  <a:srgbClr val="FF0000"/>
                </a:solidFill>
                <a:latin typeface="Algerian" panose="04020705040A02060702" pitchFamily="82" charset="0"/>
                <a:cs typeface="Times New Roman"/>
              </a:rPr>
              <a:t>Health</a:t>
            </a:r>
          </a:p>
          <a:p>
            <a:endParaRPr lang="en-US" sz="4800" dirty="0">
              <a:solidFill>
                <a:srgbClr val="FF0000"/>
              </a:solidFill>
              <a:latin typeface="Algerian" panose="04020705040A02060702" pitchFamily="82" charset="0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886A8-2BD9-0959-B9B9-8B6B1B144F24}"/>
              </a:ext>
            </a:extLst>
          </p:cNvPr>
          <p:cNvSpPr txBox="1"/>
          <p:nvPr/>
        </p:nvSpPr>
        <p:spPr>
          <a:xfrm>
            <a:off x="2209800" y="3112025"/>
            <a:ext cx="4574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highlight>
                  <a:srgbClr val="000080"/>
                </a:highlight>
                <a:latin typeface="Algerian" panose="04020705040A02060702" pitchFamily="82" charset="0"/>
                <a:cs typeface="Times New Roman"/>
              </a:rPr>
              <a:t>Unit-1</a:t>
            </a:r>
            <a:endParaRPr lang="en-IN" sz="4800" dirty="0">
              <a:solidFill>
                <a:srgbClr val="FFFF00"/>
              </a:solidFill>
              <a:highlight>
                <a:srgbClr val="000080"/>
              </a:highligh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01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6" y="1266825"/>
            <a:ext cx="8512964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7030A0"/>
                </a:solidFill>
              </a:rPr>
              <a:t>What </a:t>
            </a:r>
            <a:r>
              <a:rPr lang="en-US" b="1" spc="-5" dirty="0">
                <a:solidFill>
                  <a:srgbClr val="7030A0"/>
                </a:solidFill>
              </a:rPr>
              <a:t>I</a:t>
            </a:r>
            <a:r>
              <a:rPr b="1" spc="-5" dirty="0">
                <a:solidFill>
                  <a:srgbClr val="7030A0"/>
                </a:solidFill>
              </a:rPr>
              <a:t>s</a:t>
            </a:r>
            <a:r>
              <a:rPr b="1" spc="-70" dirty="0">
                <a:solidFill>
                  <a:srgbClr val="7030A0"/>
                </a:solidFill>
              </a:rPr>
              <a:t> </a:t>
            </a:r>
            <a:r>
              <a:rPr b="1" dirty="0">
                <a:solidFill>
                  <a:srgbClr val="7030A0"/>
                </a:solidFill>
              </a:rPr>
              <a:t>health?</a:t>
            </a:r>
            <a:r>
              <a:rPr lang="en-US" sz="2800" b="1" dirty="0">
                <a:solidFill>
                  <a:srgbClr val="1F2021"/>
                </a:solidFill>
                <a:latin typeface="Times New Roman"/>
                <a:cs typeface="Times New Roman"/>
              </a:rPr>
              <a:t> </a:t>
            </a:r>
            <a:br>
              <a:rPr lang="en-US" sz="2800" b="1" dirty="0">
                <a:solidFill>
                  <a:srgbClr val="1F2021"/>
                </a:solidFill>
                <a:latin typeface="Times New Roman"/>
                <a:cs typeface="Times New Roman"/>
              </a:rPr>
            </a:br>
            <a:r>
              <a:rPr lang="en-US" sz="2800" b="1" dirty="0">
                <a:solidFill>
                  <a:srgbClr val="1F2021"/>
                </a:solidFill>
                <a:latin typeface="Times New Roman"/>
                <a:cs typeface="Times New Roman"/>
              </a:rPr>
              <a:t>In 1948, </a:t>
            </a:r>
            <a:r>
              <a:rPr lang="en-US" sz="2800" b="1" dirty="0">
                <a:latin typeface="Times New Roman"/>
                <a:cs typeface="Times New Roman"/>
              </a:rPr>
              <a:t>the </a:t>
            </a:r>
            <a:r>
              <a:rPr lang="en-US" sz="2800" b="1" spc="-35" dirty="0">
                <a:latin typeface="Times New Roman"/>
                <a:cs typeface="Times New Roman"/>
              </a:rPr>
              <a:t>World </a:t>
            </a:r>
            <a:r>
              <a:rPr lang="en-US" sz="2800" b="1" spc="-5" dirty="0">
                <a:latin typeface="Times New Roman"/>
                <a:cs typeface="Times New Roman"/>
              </a:rPr>
              <a:t>Health Organization (WHO) </a:t>
            </a:r>
            <a:r>
              <a:rPr lang="en-US" sz="2800" b="1" dirty="0">
                <a:latin typeface="Times New Roman"/>
                <a:cs typeface="Times New Roman"/>
              </a:rPr>
              <a:t>constitution </a:t>
            </a:r>
            <a:r>
              <a:rPr lang="en-US" sz="2800" b="1" spc="-5" dirty="0">
                <a:latin typeface="Times New Roman"/>
                <a:cs typeface="Times New Roman"/>
              </a:rPr>
              <a:t>states : </a:t>
            </a:r>
            <a:br>
              <a:rPr lang="en-US" sz="2800" b="1" spc="-5" dirty="0">
                <a:latin typeface="Times New Roman"/>
                <a:cs typeface="Times New Roman"/>
              </a:rPr>
            </a:br>
            <a:r>
              <a:rPr lang="en-US" sz="2800" b="1" spc="-5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“</a:t>
            </a:r>
            <a:r>
              <a:rPr lang="en-US" sz="2800" b="1" dirty="0">
                <a:solidFill>
                  <a:srgbClr val="1F2021"/>
                </a:solidFill>
                <a:latin typeface="Times New Roman"/>
                <a:cs typeface="Times New Roman"/>
              </a:rPr>
              <a:t>Health </a:t>
            </a:r>
            <a:r>
              <a:rPr lang="en-US" sz="2800" b="1" spc="-5" dirty="0">
                <a:solidFill>
                  <a:srgbClr val="1F2021"/>
                </a:solidFill>
                <a:latin typeface="Times New Roman"/>
                <a:cs typeface="Times New Roman"/>
              </a:rPr>
              <a:t>is </a:t>
            </a:r>
            <a:r>
              <a:rPr lang="en-US" sz="2800" b="1" dirty="0">
                <a:latin typeface="Times New Roman"/>
                <a:cs typeface="Times New Roman"/>
              </a:rPr>
              <a:t>a  state of </a:t>
            </a:r>
            <a:r>
              <a:rPr lang="en-US" sz="2800" b="1" spc="-5" dirty="0">
                <a:latin typeface="Times New Roman"/>
                <a:cs typeface="Times New Roman"/>
              </a:rPr>
              <a:t>complete physical, mental </a:t>
            </a:r>
            <a:r>
              <a:rPr lang="en-US" sz="2800" b="1" dirty="0">
                <a:latin typeface="Times New Roman"/>
                <a:cs typeface="Times New Roman"/>
              </a:rPr>
              <a:t>and </a:t>
            </a:r>
            <a:r>
              <a:rPr lang="en-US" sz="2800" b="1" spc="-5" dirty="0">
                <a:latin typeface="Times New Roman"/>
                <a:cs typeface="Times New Roman"/>
              </a:rPr>
              <a:t>social well-being </a:t>
            </a:r>
            <a:r>
              <a:rPr lang="en-US" sz="2800" b="1" dirty="0">
                <a:latin typeface="Times New Roman"/>
                <a:cs typeface="Times New Roman"/>
              </a:rPr>
              <a:t>and </a:t>
            </a:r>
            <a:r>
              <a:rPr lang="en-US" sz="2800" b="1" spc="-5" dirty="0">
                <a:latin typeface="Times New Roman"/>
                <a:cs typeface="Times New Roman"/>
              </a:rPr>
              <a:t>not merely </a:t>
            </a:r>
            <a:r>
              <a:rPr lang="en-US" sz="2800" b="1" dirty="0">
                <a:latin typeface="Times New Roman"/>
                <a:cs typeface="Times New Roman"/>
              </a:rPr>
              <a:t>the </a:t>
            </a:r>
            <a:r>
              <a:rPr lang="en-US" sz="2800" b="1" spc="-5" dirty="0">
                <a:latin typeface="Times New Roman"/>
                <a:cs typeface="Times New Roman"/>
              </a:rPr>
              <a:t>absence  </a:t>
            </a:r>
            <a:r>
              <a:rPr lang="en-US" sz="2800" b="1" dirty="0">
                <a:latin typeface="Times New Roman"/>
                <a:cs typeface="Times New Roman"/>
              </a:rPr>
              <a:t>of disease and</a:t>
            </a:r>
            <a:r>
              <a:rPr lang="en-US" sz="2800" b="1" spc="-25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infirmity”.</a:t>
            </a:r>
            <a:br>
              <a:rPr lang="en-US" sz="2800" b="1" dirty="0">
                <a:latin typeface="Times New Roman"/>
                <a:cs typeface="Times New Roman"/>
              </a:rPr>
            </a:br>
            <a:endParaRPr b="1" dirty="0">
              <a:solidFill>
                <a:srgbClr val="7030A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57600" y="3810000"/>
            <a:ext cx="3519449" cy="2458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4935" y="6465214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</a:t>
            </a:r>
            <a:endParaRPr sz="1200" dirty="0">
              <a:latin typeface="Carlito"/>
              <a:cs typeface="Carlit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381000"/>
            <a:ext cx="81473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ea typeface="Calibri" panose="020F0502020204030204" pitchFamily="34" charset="0"/>
              </a:rPr>
              <a:t>Health- its importance, factors</a:t>
            </a:r>
            <a:endParaRPr lang="en-IN" sz="4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9DD9F9-F5C4-4212-9AF4-FA9113A5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26F6C-F417-4549-8850-F25566CD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260195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The Health Triangle - Its Importance and All You Need To Know">
            <a:extLst>
              <a:ext uri="{FF2B5EF4-FFF2-40B4-BE49-F238E27FC236}">
                <a16:creationId xmlns:a16="http://schemas.microsoft.com/office/drawing/2014/main" id="{7C6F9130-3D8D-E4FD-BE99-FA717C585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900" y="1143566"/>
            <a:ext cx="7581900" cy="429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11">
            <a:extLst>
              <a:ext uri="{FF2B5EF4-FFF2-40B4-BE49-F238E27FC236}">
                <a16:creationId xmlns:a16="http://schemas.microsoft.com/office/drawing/2014/main" id="{A62F81ED-B4A6-4AE5-80BE-E6269859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9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9DD9F9-F5C4-4212-9AF4-FA9113A5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426F6C-F417-4549-8850-F25566CD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260195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A62F81ED-B4A6-4AE5-80BE-E6269859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hart, pie chart&#10;&#10;Description automatically generated">
            <a:extLst>
              <a:ext uri="{FF2B5EF4-FFF2-40B4-BE49-F238E27FC236}">
                <a16:creationId xmlns:a16="http://schemas.microsoft.com/office/drawing/2014/main" id="{515AD8DF-6FC6-F58F-26B5-105E2C9B8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990599"/>
            <a:ext cx="7772400" cy="4412133"/>
          </a:xfrm>
          <a:prstGeom prst="roundRect">
            <a:avLst>
              <a:gd name="adj" fmla="val 5301"/>
            </a:avLst>
          </a:prstGeom>
          <a:ln w="1905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2406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371600" y="457200"/>
            <a:ext cx="2286000" cy="1175503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A. Physical</a:t>
              </a:r>
              <a:endParaRPr lang="en-US" sz="20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DAAA2-88D0-79F3-8288-C8267919080C}"/>
              </a:ext>
            </a:extLst>
          </p:cNvPr>
          <p:cNvGrpSpPr/>
          <p:nvPr/>
        </p:nvGrpSpPr>
        <p:grpSpPr>
          <a:xfrm>
            <a:off x="457200" y="1752600"/>
            <a:ext cx="8519160" cy="914940"/>
            <a:chOff x="0" y="62494"/>
            <a:chExt cx="8519160" cy="9149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3281CF1-2BF3-E2B8-4A8E-11FF80BA5225}"/>
                </a:ext>
              </a:extLst>
            </p:cNvPr>
            <p:cNvSpPr/>
            <p:nvPr/>
          </p:nvSpPr>
          <p:spPr>
            <a:xfrm>
              <a:off x="0" y="62494"/>
              <a:ext cx="8519160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FAD169F-7290-1239-606C-4B6D315F4645}"/>
                </a:ext>
              </a:extLst>
            </p:cNvPr>
            <p:cNvSpPr txBox="1"/>
            <p:nvPr/>
          </p:nvSpPr>
          <p:spPr>
            <a:xfrm>
              <a:off x="44664" y="107158"/>
              <a:ext cx="8429832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Physical health is the state of being free from illness and injury.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880064-5B15-1F48-AC7A-61F4654E4C0A}"/>
              </a:ext>
            </a:extLst>
          </p:cNvPr>
          <p:cNvGrpSpPr/>
          <p:nvPr/>
        </p:nvGrpSpPr>
        <p:grpSpPr>
          <a:xfrm>
            <a:off x="2362200" y="2895600"/>
            <a:ext cx="4267200" cy="3276600"/>
            <a:chOff x="0" y="154204"/>
            <a:chExt cx="8519160" cy="202176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2DEBE6C-B68E-55FB-0F65-421FC19D3FBC}"/>
                </a:ext>
              </a:extLst>
            </p:cNvPr>
            <p:cNvSpPr/>
            <p:nvPr/>
          </p:nvSpPr>
          <p:spPr>
            <a:xfrm>
              <a:off x="0" y="154204"/>
              <a:ext cx="8519160" cy="20217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964ECA7D-CC03-469E-54FA-257258DE106F}"/>
                </a:ext>
              </a:extLst>
            </p:cNvPr>
            <p:cNvSpPr txBox="1"/>
            <p:nvPr/>
          </p:nvSpPr>
          <p:spPr>
            <a:xfrm>
              <a:off x="98693" y="252898"/>
              <a:ext cx="8321771" cy="18243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1</a:t>
              </a:r>
              <a:r>
                <a:rPr lang="en-US" sz="2800" kern="1200"/>
                <a:t>. Fitness:</a:t>
              </a:r>
              <a:endParaRPr lang="en-US" sz="2800" kern="1200" dirty="0"/>
            </a:p>
            <a:p>
              <a:pPr marL="285750" lvl="0" indent="-2857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2800" kern="1200" dirty="0"/>
                <a:t>Exercise regularly</a:t>
              </a:r>
            </a:p>
            <a:p>
              <a:pPr marL="285750" lvl="0" indent="-2857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2800" kern="1200" dirty="0"/>
                <a:t>Maintain weight</a:t>
              </a:r>
            </a:p>
            <a:p>
              <a:pPr marL="285750" lvl="0" indent="-2857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2800" kern="1200" dirty="0"/>
                <a:t>Stay active</a:t>
              </a:r>
            </a:p>
            <a:p>
              <a:pPr marL="285750" lvl="0" indent="-2857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Wingdings" panose="05000000000000000000" pitchFamily="2" charset="2"/>
                <a:buChar char="Ø"/>
              </a:pPr>
              <a:r>
                <a:rPr lang="en-US" sz="2800" kern="1200" dirty="0"/>
                <a:t>Rest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246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52400"/>
            <a:ext cx="2286000" cy="1175503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A. Physical</a:t>
              </a:r>
              <a:endParaRPr lang="en-US" sz="20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DAAA2-88D0-79F3-8288-C8267919080C}"/>
              </a:ext>
            </a:extLst>
          </p:cNvPr>
          <p:cNvGrpSpPr/>
          <p:nvPr/>
        </p:nvGrpSpPr>
        <p:grpSpPr>
          <a:xfrm>
            <a:off x="457200" y="1508656"/>
            <a:ext cx="8519160" cy="914940"/>
            <a:chOff x="0" y="62494"/>
            <a:chExt cx="8519160" cy="9149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3281CF1-2BF3-E2B8-4A8E-11FF80BA5225}"/>
                </a:ext>
              </a:extLst>
            </p:cNvPr>
            <p:cNvSpPr/>
            <p:nvPr/>
          </p:nvSpPr>
          <p:spPr>
            <a:xfrm>
              <a:off x="0" y="62494"/>
              <a:ext cx="8519160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FAD169F-7290-1239-606C-4B6D315F4645}"/>
                </a:ext>
              </a:extLst>
            </p:cNvPr>
            <p:cNvSpPr txBox="1"/>
            <p:nvPr/>
          </p:nvSpPr>
          <p:spPr>
            <a:xfrm>
              <a:off x="44664" y="107158"/>
              <a:ext cx="8429832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Physical health is the state of being free from illness and injury.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419469-4158-E5BB-76A8-1FCCDB5381B8}"/>
              </a:ext>
            </a:extLst>
          </p:cNvPr>
          <p:cNvSpPr/>
          <p:nvPr/>
        </p:nvSpPr>
        <p:spPr>
          <a:xfrm>
            <a:off x="609600" y="2604349"/>
            <a:ext cx="8229600" cy="39812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chemeClr val="bg1"/>
                </a:solidFill>
              </a:rPr>
              <a:t>2. Nutrition: The process of providing or obtaining the food necessary for health and growth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Balanced diet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Carbohydrates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Proteins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Fats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Vitamins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Minerals</a:t>
            </a:r>
          </a:p>
        </p:txBody>
      </p:sp>
    </p:spTree>
    <p:extLst>
      <p:ext uri="{BB962C8B-B14F-4D97-AF65-F5344CB8AC3E}">
        <p14:creationId xmlns:p14="http://schemas.microsoft.com/office/powerpoint/2010/main" val="2887738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52400"/>
            <a:ext cx="2286000" cy="1175503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A. Physical</a:t>
              </a:r>
              <a:endParaRPr lang="en-US" sz="20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DAAA2-88D0-79F3-8288-C8267919080C}"/>
              </a:ext>
            </a:extLst>
          </p:cNvPr>
          <p:cNvGrpSpPr/>
          <p:nvPr/>
        </p:nvGrpSpPr>
        <p:grpSpPr>
          <a:xfrm>
            <a:off x="457200" y="1508656"/>
            <a:ext cx="8519160" cy="914940"/>
            <a:chOff x="0" y="62494"/>
            <a:chExt cx="8519160" cy="9149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3281CF1-2BF3-E2B8-4A8E-11FF80BA5225}"/>
                </a:ext>
              </a:extLst>
            </p:cNvPr>
            <p:cNvSpPr/>
            <p:nvPr/>
          </p:nvSpPr>
          <p:spPr>
            <a:xfrm>
              <a:off x="0" y="62494"/>
              <a:ext cx="8519160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FAD169F-7290-1239-606C-4B6D315F4645}"/>
                </a:ext>
              </a:extLst>
            </p:cNvPr>
            <p:cNvSpPr txBox="1"/>
            <p:nvPr/>
          </p:nvSpPr>
          <p:spPr>
            <a:xfrm>
              <a:off x="44664" y="107158"/>
              <a:ext cx="8429832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Physical health is the state of being free from illness and injury.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419469-4158-E5BB-76A8-1FCCDB5381B8}"/>
              </a:ext>
            </a:extLst>
          </p:cNvPr>
          <p:cNvSpPr/>
          <p:nvPr/>
        </p:nvSpPr>
        <p:spPr>
          <a:xfrm>
            <a:off x="609600" y="2604349"/>
            <a:ext cx="8229600" cy="39812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chemeClr val="bg1"/>
                </a:solidFill>
              </a:rPr>
              <a:t>2. Nutrition: The process of providing or obtaining the food necessary for health and growth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Balanced diet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Carbohydrates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Proteins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Fats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Vitamins</a:t>
            </a:r>
          </a:p>
          <a:p>
            <a:pPr marL="285750" lvl="0" indent="-285750" algn="l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bg1"/>
                </a:solidFill>
              </a:rPr>
              <a:t>Minerals</a:t>
            </a:r>
          </a:p>
        </p:txBody>
      </p:sp>
    </p:spTree>
    <p:extLst>
      <p:ext uri="{BB962C8B-B14F-4D97-AF65-F5344CB8AC3E}">
        <p14:creationId xmlns:p14="http://schemas.microsoft.com/office/powerpoint/2010/main" val="403818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52400"/>
            <a:ext cx="2286000" cy="1175503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A. Physical</a:t>
              </a:r>
              <a:endParaRPr lang="en-US" sz="20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DAAA2-88D0-79F3-8288-C8267919080C}"/>
              </a:ext>
            </a:extLst>
          </p:cNvPr>
          <p:cNvGrpSpPr/>
          <p:nvPr/>
        </p:nvGrpSpPr>
        <p:grpSpPr>
          <a:xfrm>
            <a:off x="457200" y="1508656"/>
            <a:ext cx="8519160" cy="914940"/>
            <a:chOff x="0" y="62494"/>
            <a:chExt cx="8519160" cy="9149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3281CF1-2BF3-E2B8-4A8E-11FF80BA5225}"/>
                </a:ext>
              </a:extLst>
            </p:cNvPr>
            <p:cNvSpPr/>
            <p:nvPr/>
          </p:nvSpPr>
          <p:spPr>
            <a:xfrm>
              <a:off x="0" y="62494"/>
              <a:ext cx="8519160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FAD169F-7290-1239-606C-4B6D315F4645}"/>
                </a:ext>
              </a:extLst>
            </p:cNvPr>
            <p:cNvSpPr txBox="1"/>
            <p:nvPr/>
          </p:nvSpPr>
          <p:spPr>
            <a:xfrm>
              <a:off x="44664" y="107158"/>
              <a:ext cx="8429832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Physical health is the state of being free from illness and injury.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FDEBBA-0C2B-FD67-7184-F23FE9313461}"/>
              </a:ext>
            </a:extLst>
          </p:cNvPr>
          <p:cNvSpPr/>
          <p:nvPr/>
        </p:nvSpPr>
        <p:spPr>
          <a:xfrm>
            <a:off x="685800" y="2743200"/>
            <a:ext cx="7848600" cy="3733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2400" kern="1200" spc="-5" dirty="0">
              <a:latin typeface="+mj-lt"/>
              <a:cs typeface="Times New Roman"/>
            </a:endParaRPr>
          </a:p>
          <a:p>
            <a:pPr marL="0" lvl="0" indent="0" algn="l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2400" kern="1200" spc="-5" dirty="0">
              <a:latin typeface="+mj-lt"/>
              <a:cs typeface="Times New Roman"/>
            </a:endParaRPr>
          </a:p>
          <a:p>
            <a:pPr marL="0" lvl="0" indent="0" algn="l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2400" kern="1200" spc="-5" dirty="0">
                <a:latin typeface="+mj-lt"/>
                <a:cs typeface="Times New Roman"/>
              </a:rPr>
              <a:t>3.Medical self </a:t>
            </a:r>
            <a:r>
              <a:rPr lang="en-US" sz="2400" kern="1200" dirty="0">
                <a:latin typeface="+mj-lt"/>
                <a:cs typeface="Times New Roman"/>
              </a:rPr>
              <a:t>care: </a:t>
            </a:r>
            <a:r>
              <a:rPr lang="en-US" sz="2400" kern="1200" spc="-5" dirty="0">
                <a:latin typeface="+mj-lt"/>
                <a:cs typeface="Times New Roman"/>
              </a:rPr>
              <a:t>WHO defines self care as “the ability </a:t>
            </a:r>
            <a:r>
              <a:rPr lang="en-US" sz="2400" kern="1200" dirty="0">
                <a:latin typeface="+mj-lt"/>
                <a:cs typeface="Times New Roman"/>
              </a:rPr>
              <a:t>of individuals, families and  </a:t>
            </a:r>
            <a:r>
              <a:rPr lang="en-US" sz="2400" kern="1200" spc="-5" dirty="0">
                <a:latin typeface="+mj-lt"/>
                <a:cs typeface="Times New Roman"/>
              </a:rPr>
              <a:t>communities </a:t>
            </a:r>
            <a:r>
              <a:rPr lang="en-US" sz="2400" kern="1200" dirty="0">
                <a:latin typeface="+mj-lt"/>
                <a:cs typeface="Times New Roman"/>
              </a:rPr>
              <a:t>to </a:t>
            </a:r>
            <a:r>
              <a:rPr lang="en-US" sz="2400" kern="1200" spc="-5" dirty="0">
                <a:latin typeface="+mj-lt"/>
                <a:cs typeface="Times New Roman"/>
              </a:rPr>
              <a:t>promote </a:t>
            </a:r>
            <a:r>
              <a:rPr lang="en-US" sz="2400" kern="1200" dirty="0">
                <a:latin typeface="+mj-lt"/>
                <a:cs typeface="Times New Roman"/>
              </a:rPr>
              <a:t>health, prevent </a:t>
            </a:r>
            <a:r>
              <a:rPr lang="en-US" sz="2400" kern="1200" spc="-5" dirty="0">
                <a:latin typeface="+mj-lt"/>
                <a:cs typeface="Times New Roman"/>
              </a:rPr>
              <a:t>diseases, maintain health </a:t>
            </a:r>
            <a:r>
              <a:rPr lang="en-US" sz="2400" kern="1200" dirty="0">
                <a:latin typeface="+mj-lt"/>
                <a:cs typeface="Times New Roman"/>
              </a:rPr>
              <a:t>and to cope with </a:t>
            </a:r>
            <a:r>
              <a:rPr lang="en-US" sz="2400" kern="1200" spc="-5" dirty="0">
                <a:latin typeface="+mj-lt"/>
                <a:cs typeface="Times New Roman"/>
              </a:rPr>
              <a:t>illness  </a:t>
            </a:r>
            <a:r>
              <a:rPr lang="en-US" sz="2400" kern="1200" dirty="0">
                <a:latin typeface="+mj-lt"/>
                <a:cs typeface="Times New Roman"/>
              </a:rPr>
              <a:t>and disability with or without the support of health care</a:t>
            </a:r>
            <a:r>
              <a:rPr lang="en-US" sz="2400" kern="1200" spc="-60" dirty="0">
                <a:latin typeface="+mj-lt"/>
                <a:cs typeface="Times New Roman"/>
              </a:rPr>
              <a:t> </a:t>
            </a:r>
            <a:r>
              <a:rPr lang="en-US" sz="2400" kern="1200" spc="-10" dirty="0">
                <a:latin typeface="+mj-lt"/>
                <a:cs typeface="Times New Roman"/>
              </a:rPr>
              <a:t>provider.</a:t>
            </a:r>
            <a:endParaRPr lang="en-US" sz="2400" spc="-10" dirty="0">
              <a:latin typeface="+mj-lt"/>
              <a:cs typeface="Times New Roman"/>
            </a:endParaRPr>
          </a:p>
          <a:p>
            <a:pPr marL="342900" indent="-342900" defTabSz="7112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  <a:cs typeface="Times New Roman"/>
              </a:rPr>
              <a:t>Routine health check</a:t>
            </a:r>
            <a:r>
              <a:rPr lang="en-US" sz="2400" spc="-35" dirty="0">
                <a:latin typeface="+mn-lt"/>
                <a:cs typeface="Times New Roman"/>
              </a:rPr>
              <a:t> </a:t>
            </a:r>
            <a:r>
              <a:rPr lang="en-US" sz="2400" spc="-5" dirty="0">
                <a:latin typeface="+mn-lt"/>
                <a:cs typeface="Times New Roman"/>
              </a:rPr>
              <a:t>ups</a:t>
            </a:r>
          </a:p>
          <a:p>
            <a:pPr marL="342900" indent="-342900" defTabSz="7112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  <a:cs typeface="Times New Roman"/>
              </a:rPr>
              <a:t>Proper</a:t>
            </a:r>
            <a:r>
              <a:rPr lang="en-US" sz="2400" spc="-10" dirty="0">
                <a:latin typeface="+mn-lt"/>
                <a:cs typeface="Times New Roman"/>
              </a:rPr>
              <a:t> </a:t>
            </a:r>
            <a:r>
              <a:rPr lang="en-US" sz="2400" dirty="0">
                <a:latin typeface="+mn-lt"/>
                <a:cs typeface="Times New Roman"/>
              </a:rPr>
              <a:t>vaccination</a:t>
            </a:r>
            <a:endParaRPr lang="en-US" sz="2400" dirty="0">
              <a:latin typeface="+mn-lt"/>
            </a:endParaRPr>
          </a:p>
          <a:p>
            <a:pPr marL="342900" indent="-342900" defTabSz="711200"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2400" dirty="0">
              <a:latin typeface="+mn-lt"/>
            </a:endParaRPr>
          </a:p>
          <a:p>
            <a:pPr marL="0" lvl="0" indent="0" algn="l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2400" kern="1200" spc="-10" dirty="0">
              <a:latin typeface="+mj-lt"/>
              <a:cs typeface="Times New Roman"/>
            </a:endParaRPr>
          </a:p>
          <a:p>
            <a:pPr marL="0" lvl="0" indent="0" algn="l" defTabSz="7112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2400" kern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869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52400"/>
            <a:ext cx="2286000" cy="1175503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/>
                <a:t>A. Physical</a:t>
              </a:r>
              <a:endParaRPr lang="en-US" sz="2000" kern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3ADAAA2-88D0-79F3-8288-C8267919080C}"/>
              </a:ext>
            </a:extLst>
          </p:cNvPr>
          <p:cNvGrpSpPr/>
          <p:nvPr/>
        </p:nvGrpSpPr>
        <p:grpSpPr>
          <a:xfrm>
            <a:off x="457200" y="1508656"/>
            <a:ext cx="8519160" cy="914940"/>
            <a:chOff x="0" y="62494"/>
            <a:chExt cx="8519160" cy="91494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3281CF1-2BF3-E2B8-4A8E-11FF80BA5225}"/>
                </a:ext>
              </a:extLst>
            </p:cNvPr>
            <p:cNvSpPr/>
            <p:nvPr/>
          </p:nvSpPr>
          <p:spPr>
            <a:xfrm>
              <a:off x="0" y="62494"/>
              <a:ext cx="8519160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EFAD169F-7290-1239-606C-4B6D315F4645}"/>
                </a:ext>
              </a:extLst>
            </p:cNvPr>
            <p:cNvSpPr txBox="1"/>
            <p:nvPr/>
          </p:nvSpPr>
          <p:spPr>
            <a:xfrm>
              <a:off x="44664" y="107158"/>
              <a:ext cx="8429832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Physical health is the state of being free from illness and injury.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FDEBBA-0C2B-FD67-7184-F23FE9313461}"/>
              </a:ext>
            </a:extLst>
          </p:cNvPr>
          <p:cNvSpPr/>
          <p:nvPr/>
        </p:nvSpPr>
        <p:spPr>
          <a:xfrm>
            <a:off x="2057400" y="2743200"/>
            <a:ext cx="6477000" cy="2362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dirty="0">
                <a:latin typeface="+mj-lt"/>
                <a:cs typeface="Times New Roman"/>
              </a:rPr>
              <a:t>4. Control of </a:t>
            </a:r>
            <a:r>
              <a:rPr lang="en-US" sz="2400" spc="-5" dirty="0">
                <a:latin typeface="+mj-lt"/>
                <a:cs typeface="Times New Roman"/>
              </a:rPr>
              <a:t>substance</a:t>
            </a:r>
            <a:r>
              <a:rPr lang="en-US" sz="2400" spc="-10" dirty="0">
                <a:latin typeface="+mj-lt"/>
                <a:cs typeface="Times New Roman"/>
              </a:rPr>
              <a:t> </a:t>
            </a:r>
            <a:r>
              <a:rPr lang="en-US" sz="2400" dirty="0">
                <a:latin typeface="+mj-lt"/>
                <a:cs typeface="Times New Roman"/>
              </a:rPr>
              <a:t>abuse:</a:t>
            </a:r>
          </a:p>
          <a:p>
            <a:pPr lvl="0"/>
            <a:endParaRPr lang="en-US" sz="2400" dirty="0">
              <a:latin typeface="+mj-lt"/>
              <a:cs typeface="Times New Roman"/>
            </a:endParaRPr>
          </a:p>
          <a:p>
            <a:pPr lvl="0"/>
            <a:r>
              <a:rPr lang="en-US" sz="2400" dirty="0">
                <a:latin typeface="+mj-lt"/>
                <a:cs typeface="Times New Roman"/>
              </a:rPr>
              <a:t>Avoid smoking , alcohol and drugs</a:t>
            </a:r>
          </a:p>
          <a:p>
            <a:pPr lvl="0"/>
            <a:r>
              <a:rPr lang="en-US" sz="2400" dirty="0">
                <a:latin typeface="+mj-lt"/>
                <a:cs typeface="Times New Roman"/>
              </a:rPr>
              <a:t>Avoid addiction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1207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52401"/>
            <a:ext cx="2286000" cy="914400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 err="1"/>
                <a:t>B.Mental</a:t>
              </a:r>
              <a:endParaRPr lang="en-US" sz="2000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9D24F-2E01-CFF6-2417-44AE27C0D7E8}"/>
              </a:ext>
            </a:extLst>
          </p:cNvPr>
          <p:cNvSpPr/>
          <p:nvPr/>
        </p:nvSpPr>
        <p:spPr>
          <a:xfrm>
            <a:off x="1267522" y="1219200"/>
            <a:ext cx="7571678" cy="210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22350">
              <a:spcBef>
                <a:spcPct val="0"/>
              </a:spcBef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Mental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health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 state of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well-being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in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which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an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individual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realizes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his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or her own 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abilities,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can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cope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with the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normal stresses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of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life, can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work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productively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and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able to 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make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 contribution to his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or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her</a:t>
            </a:r>
            <a:r>
              <a:rPr lang="en-US" sz="2200" spc="-2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spc="-15" dirty="0">
                <a:solidFill>
                  <a:schemeClr val="bg1"/>
                </a:solidFill>
                <a:latin typeface="+mj-lt"/>
                <a:cs typeface="Times New Roman"/>
              </a:rPr>
              <a:t>community</a:t>
            </a:r>
            <a:endParaRPr lang="en-US" sz="2200" kern="1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86CAB4-F9D9-3CD5-338C-C4D3EF99DCB2}"/>
              </a:ext>
            </a:extLst>
          </p:cNvPr>
          <p:cNvSpPr/>
          <p:nvPr/>
        </p:nvSpPr>
        <p:spPr>
          <a:xfrm>
            <a:off x="1600200" y="3536765"/>
            <a:ext cx="7010400" cy="29523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dirty="0">
              <a:solidFill>
                <a:srgbClr val="0000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1.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Emotional:</a:t>
            </a:r>
          </a:p>
          <a:p>
            <a:pPr marL="355600" indent="-342900">
              <a:lnSpc>
                <a:spcPct val="100000"/>
              </a:lnSpc>
              <a:spcBef>
                <a:spcPts val="1510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Identifying and nurturing feelings and conscious inner</a:t>
            </a:r>
            <a:r>
              <a:rPr lang="en-US" sz="2200" spc="-114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state</a:t>
            </a: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Journaling</a:t>
            </a:r>
          </a:p>
          <a:p>
            <a:pPr marL="355600" indent="-342900">
              <a:lnSpc>
                <a:spcPct val="100000"/>
              </a:lnSpc>
              <a:spcBef>
                <a:spcPts val="1510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Practice gratitude &amp; positive</a:t>
            </a:r>
            <a:r>
              <a:rPr lang="en-US" sz="2200" spc="-4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mindset</a:t>
            </a:r>
            <a:endParaRPr lang="en-US" sz="2200" dirty="0">
              <a:solidFill>
                <a:schemeClr val="bg1"/>
              </a:solidFill>
              <a:latin typeface="+mj-lt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Meditation</a:t>
            </a: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076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35674"/>
            <a:ext cx="2286000" cy="914400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 err="1"/>
                <a:t>B.Mental</a:t>
              </a:r>
              <a:endParaRPr lang="en-US" sz="2000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9D24F-2E01-CFF6-2417-44AE27C0D7E8}"/>
              </a:ext>
            </a:extLst>
          </p:cNvPr>
          <p:cNvSpPr/>
          <p:nvPr/>
        </p:nvSpPr>
        <p:spPr>
          <a:xfrm>
            <a:off x="304800" y="1219200"/>
            <a:ext cx="8534400" cy="2107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22350">
              <a:spcBef>
                <a:spcPct val="0"/>
              </a:spcBef>
            </a:pP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Mental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health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 state of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well-being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in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which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an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individual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realizes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his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or her own 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abilities,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can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cope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with the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normal stresses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of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life, can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work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productively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and 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is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able to 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make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a contribution to his </a:t>
            </a: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or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her</a:t>
            </a:r>
            <a:r>
              <a:rPr lang="en-US" sz="2200" spc="-2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spc="-15" dirty="0">
                <a:solidFill>
                  <a:schemeClr val="bg1"/>
                </a:solidFill>
                <a:latin typeface="+mj-lt"/>
                <a:cs typeface="Times New Roman"/>
              </a:rPr>
              <a:t>community</a:t>
            </a:r>
            <a:endParaRPr lang="en-US" sz="2200" kern="12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B8E22E-5927-D8FE-3066-7F76214324E1}"/>
              </a:ext>
            </a:extLst>
          </p:cNvPr>
          <p:cNvSpPr/>
          <p:nvPr/>
        </p:nvSpPr>
        <p:spPr>
          <a:xfrm>
            <a:off x="1267522" y="3505200"/>
            <a:ext cx="7190678" cy="3217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510"/>
              </a:spcBef>
            </a:pPr>
            <a:endParaRPr lang="en-US" sz="2400" spc="-5" dirty="0">
              <a:solidFill>
                <a:schemeClr val="bg1"/>
              </a:solidFill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en-US" sz="2400" spc="-5" dirty="0">
                <a:solidFill>
                  <a:schemeClr val="bg1"/>
                </a:solidFill>
                <a:latin typeface="+mj-lt"/>
                <a:cs typeface="Times New Roman"/>
              </a:rPr>
              <a:t>2.</a:t>
            </a:r>
            <a:r>
              <a:rPr lang="en-US" sz="2400" spc="-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Times New Roman"/>
              </a:rPr>
              <a:t>Psychological:</a:t>
            </a: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solidFill>
                  <a:schemeClr val="bg1"/>
                </a:solidFill>
                <a:latin typeface="+mj-lt"/>
                <a:cs typeface="Times New Roman"/>
              </a:rPr>
              <a:t>Guided</a:t>
            </a:r>
            <a:r>
              <a:rPr lang="en-US" sz="2400" spc="-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Times New Roman"/>
              </a:rPr>
              <a:t>meditation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spc="-5" dirty="0">
                <a:solidFill>
                  <a:schemeClr val="bg1"/>
                </a:solidFill>
                <a:latin typeface="+mj-lt"/>
                <a:cs typeface="Times New Roman"/>
              </a:rPr>
              <a:t>Deep</a:t>
            </a:r>
            <a:r>
              <a:rPr lang="en-US" sz="2200" spc="-10" dirty="0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+mj-lt"/>
                <a:cs typeface="Times New Roman"/>
              </a:rPr>
              <a:t>breathing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latin typeface="+mj-lt"/>
                <a:cs typeface="Times New Roman"/>
              </a:rPr>
              <a:t>Manage social </a:t>
            </a:r>
            <a:r>
              <a:rPr lang="en-US" sz="2200" spc="-5" dirty="0">
                <a:latin typeface="+mj-lt"/>
                <a:cs typeface="Times New Roman"/>
              </a:rPr>
              <a:t>media</a:t>
            </a:r>
            <a:r>
              <a:rPr lang="en-US" sz="2200" spc="-60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time</a:t>
            </a:r>
            <a:endParaRPr lang="en-US" sz="2200" dirty="0">
              <a:latin typeface="+mj-lt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10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dirty="0">
                <a:latin typeface="+mj-lt"/>
                <a:cs typeface="Times New Roman"/>
              </a:rPr>
              <a:t>Connect with</a:t>
            </a:r>
            <a:r>
              <a:rPr lang="en-US" sz="2200" spc="-2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others</a:t>
            </a: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200" spc="-5" dirty="0">
                <a:latin typeface="+mj-lt"/>
                <a:cs typeface="Times New Roman"/>
              </a:rPr>
              <a:t>Stress management</a:t>
            </a:r>
            <a:endParaRPr lang="en-US" sz="2200" dirty="0">
              <a:latin typeface="+mj-lt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rgbClr val="000099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endParaRPr lang="en-US" sz="24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9101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262957-78DE-DC90-8FAA-DE6CD62D3520}"/>
              </a:ext>
            </a:extLst>
          </p:cNvPr>
          <p:cNvGrpSpPr/>
          <p:nvPr/>
        </p:nvGrpSpPr>
        <p:grpSpPr>
          <a:xfrm>
            <a:off x="1295400" y="135674"/>
            <a:ext cx="2286000" cy="914400"/>
            <a:chOff x="0" y="3578"/>
            <a:chExt cx="8519160" cy="79450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4A6B80-9674-F0EB-9D30-C0D2DD7DFCCF}"/>
                </a:ext>
              </a:extLst>
            </p:cNvPr>
            <p:cNvSpPr/>
            <p:nvPr/>
          </p:nvSpPr>
          <p:spPr>
            <a:xfrm>
              <a:off x="0" y="3578"/>
              <a:ext cx="8519160" cy="794503"/>
            </a:xfrm>
            <a:prstGeom prst="roundRect">
              <a:avLst/>
            </a:prstGeom>
            <a:solidFill>
              <a:srgbClr val="CC33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BAA4A3FE-62EA-B781-8AF0-C85962948486}"/>
                </a:ext>
              </a:extLst>
            </p:cNvPr>
            <p:cNvSpPr txBox="1"/>
            <p:nvPr/>
          </p:nvSpPr>
          <p:spPr>
            <a:xfrm>
              <a:off x="38784" y="42362"/>
              <a:ext cx="8441592" cy="7169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 err="1"/>
                <a:t>C.Social</a:t>
              </a:r>
              <a:endParaRPr lang="en-US" sz="2000" kern="1200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9D24F-2E01-CFF6-2417-44AE27C0D7E8}"/>
              </a:ext>
            </a:extLst>
          </p:cNvPr>
          <p:cNvSpPr/>
          <p:nvPr/>
        </p:nvSpPr>
        <p:spPr>
          <a:xfrm>
            <a:off x="304800" y="1219200"/>
            <a:ext cx="8534400" cy="1219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Social </a:t>
            </a:r>
            <a:r>
              <a:rPr lang="en-US" sz="2400" spc="-5">
                <a:solidFill>
                  <a:schemeClr val="bg1"/>
                </a:solidFill>
                <a:latin typeface="+mj-lt"/>
                <a:cs typeface="Times New Roman"/>
              </a:rPr>
              <a:t>well </a:t>
            </a: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being </a:t>
            </a:r>
            <a:r>
              <a:rPr lang="en-US" sz="2400" spc="-5">
                <a:solidFill>
                  <a:schemeClr val="bg1"/>
                </a:solidFill>
                <a:latin typeface="+mj-lt"/>
                <a:cs typeface="Times New Roman"/>
              </a:rPr>
              <a:t>is sense </a:t>
            </a: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of belonging to </a:t>
            </a:r>
            <a:r>
              <a:rPr lang="en-US" sz="2400" spc="-5">
                <a:solidFill>
                  <a:schemeClr val="bg1"/>
                </a:solidFill>
                <a:latin typeface="+mj-lt"/>
                <a:cs typeface="Times New Roman"/>
              </a:rPr>
              <a:t>community </a:t>
            </a: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and </a:t>
            </a:r>
            <a:r>
              <a:rPr lang="en-US" sz="2400" spc="-5">
                <a:solidFill>
                  <a:schemeClr val="bg1"/>
                </a:solidFill>
                <a:latin typeface="+mj-lt"/>
                <a:cs typeface="Times New Roman"/>
              </a:rPr>
              <a:t>making </a:t>
            </a: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contribution to</a:t>
            </a:r>
            <a:r>
              <a:rPr lang="en-US" sz="2400" spc="15">
                <a:solidFill>
                  <a:schemeClr val="bg1"/>
                </a:solidFill>
                <a:latin typeface="+mj-lt"/>
                <a:cs typeface="Times New Roman"/>
              </a:rPr>
              <a:t> </a:t>
            </a:r>
            <a:r>
              <a:rPr lang="en-US" sz="2400">
                <a:solidFill>
                  <a:schemeClr val="bg1"/>
                </a:solidFill>
                <a:latin typeface="+mj-lt"/>
                <a:cs typeface="Times New Roman"/>
              </a:rPr>
              <a:t>society</a:t>
            </a:r>
            <a:endParaRPr lang="en-US" sz="24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B8E22E-5927-D8FE-3066-7F76214324E1}"/>
              </a:ext>
            </a:extLst>
          </p:cNvPr>
          <p:cNvSpPr/>
          <p:nvPr/>
        </p:nvSpPr>
        <p:spPr>
          <a:xfrm>
            <a:off x="1066800" y="2811038"/>
            <a:ext cx="7190678" cy="32171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chemeClr val="bg1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+mj-lt"/>
                <a:cs typeface="Times New Roman"/>
              </a:rPr>
              <a:t>Being connected with friends, family and</a:t>
            </a:r>
            <a:r>
              <a:rPr lang="en-US" sz="2400" spc="-35" dirty="0">
                <a:latin typeface="+mj-lt"/>
                <a:cs typeface="Times New Roman"/>
              </a:rPr>
              <a:t> </a:t>
            </a:r>
            <a:r>
              <a:rPr lang="en-US" sz="2400" spc="-5" dirty="0">
                <a:latin typeface="+mj-lt"/>
                <a:cs typeface="Times New Roman"/>
              </a:rPr>
              <a:t>community</a:t>
            </a:r>
            <a:endParaRPr lang="en-US" sz="2400" dirty="0">
              <a:latin typeface="+mj-lt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10"/>
              </a:spcBef>
              <a:buClr>
                <a:schemeClr val="bg1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+mj-lt"/>
                <a:cs typeface="Times New Roman"/>
              </a:rPr>
              <a:t>Giving and receiving</a:t>
            </a:r>
            <a:r>
              <a:rPr lang="en-US" sz="2400" spc="-25" dirty="0">
                <a:latin typeface="+mj-lt"/>
                <a:cs typeface="Times New Roman"/>
              </a:rPr>
              <a:t> </a:t>
            </a:r>
            <a:r>
              <a:rPr lang="en-US" sz="2400" dirty="0">
                <a:latin typeface="+mj-lt"/>
                <a:cs typeface="Times New Roman"/>
              </a:rPr>
              <a:t>support</a:t>
            </a: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chemeClr val="bg1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+mj-lt"/>
                <a:cs typeface="Times New Roman"/>
              </a:rPr>
              <a:t>Having </a:t>
            </a:r>
            <a:r>
              <a:rPr lang="en-US" sz="2400" spc="-5" dirty="0">
                <a:latin typeface="+mj-lt"/>
                <a:cs typeface="Times New Roman"/>
              </a:rPr>
              <a:t>meaningful </a:t>
            </a:r>
            <a:r>
              <a:rPr lang="en-US" sz="2400" dirty="0">
                <a:latin typeface="+mj-lt"/>
                <a:cs typeface="Times New Roman"/>
              </a:rPr>
              <a:t>relationships</a:t>
            </a:r>
          </a:p>
          <a:p>
            <a:pPr marL="355600" indent="-342900">
              <a:lnSpc>
                <a:spcPct val="100000"/>
              </a:lnSpc>
              <a:spcBef>
                <a:spcPts val="1510"/>
              </a:spcBef>
              <a:buClr>
                <a:schemeClr val="bg1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+mj-lt"/>
                <a:cs typeface="Times New Roman"/>
              </a:rPr>
              <a:t>Being active </a:t>
            </a:r>
            <a:r>
              <a:rPr lang="en-US" sz="2400" spc="-5" dirty="0">
                <a:latin typeface="+mj-lt"/>
                <a:cs typeface="Times New Roman"/>
              </a:rPr>
              <a:t>member of</a:t>
            </a:r>
            <a:r>
              <a:rPr lang="en-US" sz="2400" spc="-20" dirty="0">
                <a:latin typeface="+mj-lt"/>
                <a:cs typeface="Times New Roman"/>
              </a:rPr>
              <a:t> </a:t>
            </a:r>
            <a:r>
              <a:rPr lang="en-US" sz="2400" dirty="0">
                <a:latin typeface="+mj-lt"/>
                <a:cs typeface="Times New Roman"/>
              </a:rPr>
              <a:t>society</a:t>
            </a:r>
          </a:p>
          <a:p>
            <a:pPr marL="355600" indent="-342900">
              <a:lnSpc>
                <a:spcPct val="100000"/>
              </a:lnSpc>
              <a:spcBef>
                <a:spcPts val="1515"/>
              </a:spcBef>
              <a:buClr>
                <a:schemeClr val="bg1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+mj-lt"/>
                <a:cs typeface="Times New Roman"/>
              </a:rPr>
              <a:t>Caring for and about</a:t>
            </a:r>
            <a:r>
              <a:rPr lang="en-US" sz="2400" spc="-25" dirty="0">
                <a:latin typeface="+mj-lt"/>
                <a:cs typeface="Times New Roman"/>
              </a:rPr>
              <a:t> </a:t>
            </a:r>
            <a:r>
              <a:rPr lang="en-US" sz="2400" dirty="0">
                <a:latin typeface="+mj-lt"/>
                <a:cs typeface="Times New Roman"/>
              </a:rPr>
              <a:t>others</a:t>
            </a:r>
          </a:p>
        </p:txBody>
      </p:sp>
    </p:spTree>
    <p:extLst>
      <p:ext uri="{BB962C8B-B14F-4D97-AF65-F5344CB8AC3E}">
        <p14:creationId xmlns:p14="http://schemas.microsoft.com/office/powerpoint/2010/main" val="230903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259C671B-1B22-4141-A9C0-2E7941FDA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7B2F5A4B-FA0F-4625-82F7-1D3F11281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9ACB0BAE-722F-4C91-8C2A-44EF768E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C3AC4D9F-59AC-421A-9FF3-C936CEC43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797BCE03-677D-4D65-A4D1-1FD721DD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5">
              <a:extLst>
                <a:ext uri="{FF2B5EF4-FFF2-40B4-BE49-F238E27FC236}">
                  <a16:creationId xmlns:a16="http://schemas.microsoft.com/office/drawing/2014/main" id="{D007E5D0-0B4E-4094-988C-9917146C2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024DB804-C06B-4A0A-AC43-6BCCB7D7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7">
              <a:extLst>
                <a:ext uri="{FF2B5EF4-FFF2-40B4-BE49-F238E27FC236}">
                  <a16:creationId xmlns:a16="http://schemas.microsoft.com/office/drawing/2014/main" id="{B51DC17A-305E-486E-A527-5E8068E9E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8">
              <a:extLst>
                <a:ext uri="{FF2B5EF4-FFF2-40B4-BE49-F238E27FC236}">
                  <a16:creationId xmlns:a16="http://schemas.microsoft.com/office/drawing/2014/main" id="{B6CCA716-6D46-4523-BF96-FF1B0C546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E632B09A-D30C-4268-B28B-ACD612763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5FC839A4-228B-4EC0-8AF4-D8E38ECE6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A8FFB1A1-5BB5-4551-87CD-F3365E6FE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D05AF173-8E70-41FA-9254-DF9AC3DDA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56A4CE-A3F4-4CFF-9A65-C029AC17B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48" name="Freeform 27">
              <a:extLst>
                <a:ext uri="{FF2B5EF4-FFF2-40B4-BE49-F238E27FC236}">
                  <a16:creationId xmlns:a16="http://schemas.microsoft.com/office/drawing/2014/main" id="{DF669161-0B30-4C76-96BF-962027487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9" name="Freeform 28">
              <a:extLst>
                <a:ext uri="{FF2B5EF4-FFF2-40B4-BE49-F238E27FC236}">
                  <a16:creationId xmlns:a16="http://schemas.microsoft.com/office/drawing/2014/main" id="{A5232353-CF7C-44DD-8BEE-1C8FF54CD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0" name="Freeform 29">
              <a:extLst>
                <a:ext uri="{FF2B5EF4-FFF2-40B4-BE49-F238E27FC236}">
                  <a16:creationId xmlns:a16="http://schemas.microsoft.com/office/drawing/2014/main" id="{AEA6CAE2-8741-4E88-A632-69C2B2EC5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30">
              <a:extLst>
                <a:ext uri="{FF2B5EF4-FFF2-40B4-BE49-F238E27FC236}">
                  <a16:creationId xmlns:a16="http://schemas.microsoft.com/office/drawing/2014/main" id="{014AC37D-4388-4AE6-9D4D-CCD99A608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31">
              <a:extLst>
                <a:ext uri="{FF2B5EF4-FFF2-40B4-BE49-F238E27FC236}">
                  <a16:creationId xmlns:a16="http://schemas.microsoft.com/office/drawing/2014/main" id="{7FE084B0-333E-4F7C-83F1-F7D132527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2">
              <a:extLst>
                <a:ext uri="{FF2B5EF4-FFF2-40B4-BE49-F238E27FC236}">
                  <a16:creationId xmlns:a16="http://schemas.microsoft.com/office/drawing/2014/main" id="{FDCFCB98-2E3A-4227-823C-80489BB28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3">
              <a:extLst>
                <a:ext uri="{FF2B5EF4-FFF2-40B4-BE49-F238E27FC236}">
                  <a16:creationId xmlns:a16="http://schemas.microsoft.com/office/drawing/2014/main" id="{252F94DE-A6A3-4463-BE05-34281F1C8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4">
              <a:extLst>
                <a:ext uri="{FF2B5EF4-FFF2-40B4-BE49-F238E27FC236}">
                  <a16:creationId xmlns:a16="http://schemas.microsoft.com/office/drawing/2014/main" id="{16EA21FA-886F-43CF-9D44-C1342F305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5">
              <a:extLst>
                <a:ext uri="{FF2B5EF4-FFF2-40B4-BE49-F238E27FC236}">
                  <a16:creationId xmlns:a16="http://schemas.microsoft.com/office/drawing/2014/main" id="{88C821A5-BCF7-47FE-894F-0ADC5F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6">
              <a:extLst>
                <a:ext uri="{FF2B5EF4-FFF2-40B4-BE49-F238E27FC236}">
                  <a16:creationId xmlns:a16="http://schemas.microsoft.com/office/drawing/2014/main" id="{F8337ECE-206A-472E-AFC4-0F230C91E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90BB2EC4-D043-4B43-87E7-723A787EE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8">
              <a:extLst>
                <a:ext uri="{FF2B5EF4-FFF2-40B4-BE49-F238E27FC236}">
                  <a16:creationId xmlns:a16="http://schemas.microsoft.com/office/drawing/2014/main" id="{04013015-AF71-47BC-BE4D-ED9EFA24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71B30B18-D920-4E3E-B931-1F310244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3" name="Freeform 11">
            <a:extLst>
              <a:ext uri="{FF2B5EF4-FFF2-40B4-BE49-F238E27FC236}">
                <a16:creationId xmlns:a16="http://schemas.microsoft.com/office/drawing/2014/main" id="{C70EF50A-66E6-460A-8AF9-47A10D0D9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19DD9F9-F5C4-4212-9AF4-FA9113A5C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D426F6C-F417-4549-8850-F25566CD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5260195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11">
            <a:extLst>
              <a:ext uri="{FF2B5EF4-FFF2-40B4-BE49-F238E27FC236}">
                <a16:creationId xmlns:a16="http://schemas.microsoft.com/office/drawing/2014/main" id="{A62F81ED-B4A6-4AE5-80BE-E6269859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080E96F-49A4-426A-81FA-96AAA6AFD086}"/>
              </a:ext>
            </a:extLst>
          </p:cNvPr>
          <p:cNvGrpSpPr/>
          <p:nvPr/>
        </p:nvGrpSpPr>
        <p:grpSpPr>
          <a:xfrm>
            <a:off x="723900" y="1194767"/>
            <a:ext cx="7696200" cy="4192080"/>
            <a:chOff x="4390544" y="254570"/>
            <a:chExt cx="7174596" cy="654783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A117C8B-A929-45D9-A19E-D379E1CCC957}"/>
                </a:ext>
              </a:extLst>
            </p:cNvPr>
            <p:cNvSpPr/>
            <p:nvPr/>
          </p:nvSpPr>
          <p:spPr>
            <a:xfrm>
              <a:off x="4390544" y="254570"/>
              <a:ext cx="6838287" cy="185490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Rectangle 18" descr="Brain">
              <a:extLst>
                <a:ext uri="{FF2B5EF4-FFF2-40B4-BE49-F238E27FC236}">
                  <a16:creationId xmlns:a16="http://schemas.microsoft.com/office/drawing/2014/main" id="{2320D6B8-4E6E-4B25-803D-08AFCE20FDC1}"/>
                </a:ext>
              </a:extLst>
            </p:cNvPr>
            <p:cNvSpPr/>
            <p:nvPr/>
          </p:nvSpPr>
          <p:spPr>
            <a:xfrm>
              <a:off x="4951653" y="727585"/>
              <a:ext cx="1020199" cy="1020199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E6F2EF-A83E-407D-9D24-9254A916B5B5}"/>
                </a:ext>
              </a:extLst>
            </p:cNvPr>
            <p:cNvSpPr/>
            <p:nvPr/>
          </p:nvSpPr>
          <p:spPr>
            <a:xfrm>
              <a:off x="5971852" y="310230"/>
              <a:ext cx="5256978" cy="1854908"/>
            </a:xfrm>
            <a:custGeom>
              <a:avLst/>
              <a:gdLst>
                <a:gd name="connsiteX0" fmla="*/ 0 w 4695867"/>
                <a:gd name="connsiteY0" fmla="*/ 0 h 1854908"/>
                <a:gd name="connsiteX1" fmla="*/ 4695867 w 4695867"/>
                <a:gd name="connsiteY1" fmla="*/ 0 h 1854908"/>
                <a:gd name="connsiteX2" fmla="*/ 4695867 w 4695867"/>
                <a:gd name="connsiteY2" fmla="*/ 1854908 h 1854908"/>
                <a:gd name="connsiteX3" fmla="*/ 0 w 4695867"/>
                <a:gd name="connsiteY3" fmla="*/ 1854908 h 1854908"/>
                <a:gd name="connsiteX4" fmla="*/ 0 w 4695867"/>
                <a:gd name="connsiteY4" fmla="*/ 0 h 18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5867" h="1854908">
                  <a:moveTo>
                    <a:pt x="0" y="0"/>
                  </a:moveTo>
                  <a:lnTo>
                    <a:pt x="4695867" y="0"/>
                  </a:lnTo>
                  <a:lnTo>
                    <a:pt x="4695867" y="1854908"/>
                  </a:lnTo>
                  <a:lnTo>
                    <a:pt x="0" y="185490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7233" tIns="147233" rIns="147233" bIns="147233" numCol="1" spcCol="1270" anchor="ctr" anchorCtr="0">
              <a:normAutofit/>
            </a:bodyPr>
            <a:lstStyle/>
            <a:p>
              <a:pPr algn="just" defTabSz="50006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>
                  <a:solidFill>
                    <a:srgbClr val="0000FF"/>
                  </a:solidFill>
                  <a:latin typeface="Baguet Script" panose="00000500000000000000" pitchFamily="2" charset="0"/>
                </a:rPr>
                <a:t>Emotion: Subjective state of Mind, Reaction to Internal or external stimuli </a:t>
              </a:r>
              <a:r>
                <a:rPr lang="en-US" sz="2000" b="1" err="1">
                  <a:solidFill>
                    <a:srgbClr val="0000FF"/>
                  </a:solidFill>
                  <a:latin typeface="Baguet Script" panose="00000500000000000000" pitchFamily="2" charset="0"/>
                </a:rPr>
                <a:t>Stimuli</a:t>
              </a:r>
              <a:r>
                <a:rPr lang="en-US" sz="2000" b="1">
                  <a:solidFill>
                    <a:srgbClr val="0000FF"/>
                  </a:solidFill>
                  <a:latin typeface="Baguet Script" panose="00000500000000000000" pitchFamily="2" charset="0"/>
                </a:rPr>
                <a:t>. 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6E9F27DF-657B-4D58-ACA5-3E14E05B5CC7}"/>
                </a:ext>
              </a:extLst>
            </p:cNvPr>
            <p:cNvSpPr/>
            <p:nvPr/>
          </p:nvSpPr>
          <p:spPr>
            <a:xfrm>
              <a:off x="4390544" y="2628866"/>
              <a:ext cx="6838287" cy="185490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Rectangle 22" descr="Head with Gears">
              <a:extLst>
                <a:ext uri="{FF2B5EF4-FFF2-40B4-BE49-F238E27FC236}">
                  <a16:creationId xmlns:a16="http://schemas.microsoft.com/office/drawing/2014/main" id="{F75BA9F1-CCDE-4A3D-BB2D-D78A30E01E77}"/>
                </a:ext>
              </a:extLst>
            </p:cNvPr>
            <p:cNvSpPr/>
            <p:nvPr/>
          </p:nvSpPr>
          <p:spPr>
            <a:xfrm>
              <a:off x="4671099" y="2953477"/>
              <a:ext cx="1020199" cy="102019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86F2F4-D503-4641-BA6D-9395359CE633}"/>
                </a:ext>
              </a:extLst>
            </p:cNvPr>
            <p:cNvSpPr/>
            <p:nvPr/>
          </p:nvSpPr>
          <p:spPr>
            <a:xfrm>
              <a:off x="5802213" y="2628866"/>
              <a:ext cx="5762927" cy="1854909"/>
            </a:xfrm>
            <a:custGeom>
              <a:avLst/>
              <a:gdLst>
                <a:gd name="connsiteX0" fmla="*/ 0 w 4695867"/>
                <a:gd name="connsiteY0" fmla="*/ 0 h 1854908"/>
                <a:gd name="connsiteX1" fmla="*/ 4695867 w 4695867"/>
                <a:gd name="connsiteY1" fmla="*/ 0 h 1854908"/>
                <a:gd name="connsiteX2" fmla="*/ 4695867 w 4695867"/>
                <a:gd name="connsiteY2" fmla="*/ 1854908 h 1854908"/>
                <a:gd name="connsiteX3" fmla="*/ 0 w 4695867"/>
                <a:gd name="connsiteY3" fmla="*/ 1854908 h 1854908"/>
                <a:gd name="connsiteX4" fmla="*/ 0 w 4695867"/>
                <a:gd name="connsiteY4" fmla="*/ 0 h 18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5867" h="1854908">
                  <a:moveTo>
                    <a:pt x="0" y="0"/>
                  </a:moveTo>
                  <a:lnTo>
                    <a:pt x="4695867" y="0"/>
                  </a:lnTo>
                  <a:lnTo>
                    <a:pt x="4695867" y="1854908"/>
                  </a:lnTo>
                  <a:lnTo>
                    <a:pt x="0" y="185490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7233" tIns="147233" rIns="147233" bIns="147233" numCol="1" spcCol="1270" anchor="ctr" anchorCtr="0">
              <a:normAutofit/>
            </a:bodyPr>
            <a:lstStyle/>
            <a:p>
              <a:pPr defTabSz="50006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>
                  <a:solidFill>
                    <a:srgbClr val="FF0000"/>
                  </a:solidFill>
                  <a:latin typeface="Baguet Script" panose="00000500000000000000" pitchFamily="2" charset="0"/>
                </a:rPr>
                <a:t>Intellect : A person’s Mental abilities. reasoning and understanding objectively. Psychological: Arising in mind. Related to mental and emotional State of a person. Physiological : Related to body, its parts and working 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88CA633-DD76-4A2B-9A39-A5FD4B21207E}"/>
                </a:ext>
              </a:extLst>
            </p:cNvPr>
            <p:cNvSpPr/>
            <p:nvPr/>
          </p:nvSpPr>
          <p:spPr>
            <a:xfrm>
              <a:off x="4390544" y="4947501"/>
              <a:ext cx="6838287" cy="1854908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Rectangle 26" descr="Prayer Candle">
              <a:extLst>
                <a:ext uri="{FF2B5EF4-FFF2-40B4-BE49-F238E27FC236}">
                  <a16:creationId xmlns:a16="http://schemas.microsoft.com/office/drawing/2014/main" id="{3F44B739-18CF-4FEF-A464-9D0A238A2CB8}"/>
                </a:ext>
              </a:extLst>
            </p:cNvPr>
            <p:cNvSpPr/>
            <p:nvPr/>
          </p:nvSpPr>
          <p:spPr>
            <a:xfrm>
              <a:off x="4951653" y="5364856"/>
              <a:ext cx="1020199" cy="102019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72F70C2-BDA7-4A2A-A1C7-7BB6BB8A2220}"/>
                </a:ext>
              </a:extLst>
            </p:cNvPr>
            <p:cNvSpPr/>
            <p:nvPr/>
          </p:nvSpPr>
          <p:spPr>
            <a:xfrm>
              <a:off x="6068978" y="4947501"/>
              <a:ext cx="5159853" cy="1854908"/>
            </a:xfrm>
            <a:custGeom>
              <a:avLst/>
              <a:gdLst>
                <a:gd name="connsiteX0" fmla="*/ 0 w 4695867"/>
                <a:gd name="connsiteY0" fmla="*/ 0 h 1854908"/>
                <a:gd name="connsiteX1" fmla="*/ 4695867 w 4695867"/>
                <a:gd name="connsiteY1" fmla="*/ 0 h 1854908"/>
                <a:gd name="connsiteX2" fmla="*/ 4695867 w 4695867"/>
                <a:gd name="connsiteY2" fmla="*/ 1854908 h 1854908"/>
                <a:gd name="connsiteX3" fmla="*/ 0 w 4695867"/>
                <a:gd name="connsiteY3" fmla="*/ 1854908 h 1854908"/>
                <a:gd name="connsiteX4" fmla="*/ 0 w 4695867"/>
                <a:gd name="connsiteY4" fmla="*/ 0 h 1854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95867" h="1854908">
                  <a:moveTo>
                    <a:pt x="0" y="0"/>
                  </a:moveTo>
                  <a:lnTo>
                    <a:pt x="4695867" y="0"/>
                  </a:lnTo>
                  <a:lnTo>
                    <a:pt x="4695867" y="1854908"/>
                  </a:lnTo>
                  <a:lnTo>
                    <a:pt x="0" y="185490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7233" tIns="147233" rIns="147233" bIns="147233" numCol="1" spcCol="1270" anchor="ctr" anchorCtr="0">
              <a:normAutofit/>
            </a:bodyPr>
            <a:lstStyle/>
            <a:p>
              <a:pPr defTabSz="50006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>
                  <a:solidFill>
                    <a:srgbClr val="00B050"/>
                  </a:solidFill>
                  <a:latin typeface="Baguet Script" panose="00000500000000000000" pitchFamily="2" charset="0"/>
                </a:rPr>
                <a:t>Spiritual : Related to Soul or Human Spirit. No material or physical things.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118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FA6C1EDD-EAFF-59AE-197E-0A8252BE5448}"/>
              </a:ext>
            </a:extLst>
          </p:cNvPr>
          <p:cNvSpPr txBox="1"/>
          <p:nvPr/>
        </p:nvSpPr>
        <p:spPr>
          <a:xfrm>
            <a:off x="762000" y="1295400"/>
            <a:ext cx="8259445" cy="525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000" dirty="0">
                <a:cs typeface="Times New Roman"/>
              </a:rPr>
              <a:t>Health</a:t>
            </a:r>
            <a:r>
              <a:rPr lang="en-US" sz="2000" spc="8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7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85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body's</a:t>
            </a:r>
            <a:r>
              <a:rPr lang="en-US" sz="2000" spc="95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functional</a:t>
            </a:r>
            <a:r>
              <a:rPr lang="en-US" sz="2000" spc="90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and</a:t>
            </a:r>
            <a:r>
              <a:rPr lang="en-US" sz="2000" spc="95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metabolic</a:t>
            </a:r>
            <a:r>
              <a:rPr lang="en-US" sz="2000" spc="90" dirty="0">
                <a:cs typeface="Times New Roman"/>
              </a:rPr>
              <a:t> </a:t>
            </a:r>
            <a:r>
              <a:rPr lang="en-US" sz="2000" spc="-15" dirty="0">
                <a:cs typeface="Times New Roman"/>
              </a:rPr>
              <a:t>efficiency,</a:t>
            </a:r>
            <a:r>
              <a:rPr lang="en-US" sz="2000" spc="9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and</a:t>
            </a:r>
            <a:r>
              <a:rPr lang="en-US" sz="2000" spc="8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its</a:t>
            </a:r>
            <a:r>
              <a:rPr lang="en-US" sz="2000" spc="75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ability</a:t>
            </a:r>
            <a:r>
              <a:rPr lang="en-US" sz="2000" spc="9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80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adapt</a:t>
            </a:r>
            <a:r>
              <a:rPr lang="en-US" sz="2000" spc="9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80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the </a:t>
            </a:r>
            <a:r>
              <a:rPr lang="en-US" sz="2000" dirty="0">
                <a:cs typeface="Times New Roman"/>
              </a:rPr>
              <a:t>physical, mental, and social changes that it </a:t>
            </a:r>
            <a:r>
              <a:rPr lang="en-US" sz="2000" spc="-5" dirty="0">
                <a:cs typeface="Times New Roman"/>
              </a:rPr>
              <a:t>is </a:t>
            </a:r>
            <a:r>
              <a:rPr lang="en-US" sz="2000" dirty="0">
                <a:cs typeface="Times New Roman"/>
              </a:rPr>
              <a:t>exposed</a:t>
            </a:r>
            <a:r>
              <a:rPr lang="en-US" sz="2000" spc="-7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to.</a:t>
            </a:r>
          </a:p>
          <a:p>
            <a:pPr marL="299085" indent="-287020"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000" spc="-5" dirty="0">
                <a:cs typeface="Times New Roman"/>
              </a:rPr>
              <a:t>A  healthy  person </a:t>
            </a:r>
            <a:r>
              <a:rPr lang="en-US" sz="2000" spc="245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is </a:t>
            </a:r>
            <a:r>
              <a:rPr lang="en-US" sz="2000" spc="9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 </a:t>
            </a:r>
            <a:r>
              <a:rPr lang="en-US" sz="2000" spc="-5" dirty="0">
                <a:cs typeface="Times New Roman"/>
              </a:rPr>
              <a:t>person  </a:t>
            </a:r>
            <a:r>
              <a:rPr lang="en-US" sz="2000" dirty="0">
                <a:cs typeface="Times New Roman"/>
              </a:rPr>
              <a:t>who  </a:t>
            </a:r>
            <a:r>
              <a:rPr lang="en-US" sz="2000" spc="-5" dirty="0">
                <a:cs typeface="Times New Roman"/>
              </a:rPr>
              <a:t>is  </a:t>
            </a:r>
            <a:r>
              <a:rPr lang="en-US" sz="2000" dirty="0">
                <a:cs typeface="Times New Roman"/>
              </a:rPr>
              <a:t>able  </a:t>
            </a:r>
            <a:r>
              <a:rPr lang="en-US" sz="2000" spc="-5" dirty="0">
                <a:cs typeface="Times New Roman"/>
              </a:rPr>
              <a:t>to  </a:t>
            </a:r>
            <a:r>
              <a:rPr lang="en-US" sz="2000" spc="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serve </a:t>
            </a:r>
            <a:r>
              <a:rPr lang="en-US" sz="2000" spc="100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himself,	</a:t>
            </a:r>
            <a:r>
              <a:rPr lang="en-US" sz="2000" spc="-10" dirty="0">
                <a:cs typeface="Times New Roman"/>
              </a:rPr>
              <a:t>his </a:t>
            </a:r>
            <a:r>
              <a:rPr lang="en-US" sz="2000" spc="-5" dirty="0">
                <a:cs typeface="Times New Roman"/>
              </a:rPr>
              <a:t>nation and his  </a:t>
            </a:r>
            <a:r>
              <a:rPr lang="en-US" sz="2000" spc="-15" dirty="0">
                <a:cs typeface="Times New Roman"/>
              </a:rPr>
              <a:t>community.</a:t>
            </a:r>
            <a:endParaRPr lang="en-US" sz="2000" dirty="0">
              <a:cs typeface="Times New Roman"/>
            </a:endParaRPr>
          </a:p>
          <a:p>
            <a:pPr>
              <a:spcBef>
                <a:spcPts val="35"/>
              </a:spcBef>
              <a:buClr>
                <a:srgbClr val="0000FF"/>
              </a:buClr>
              <a:buFont typeface="Wingdings"/>
              <a:buChar char=""/>
            </a:pPr>
            <a:endParaRPr lang="en-US" sz="2000" dirty="0">
              <a:cs typeface="Times New Roman"/>
            </a:endParaRPr>
          </a:p>
          <a:p>
            <a:pPr marL="299085" marR="6985" indent="-287020">
              <a:buClr>
                <a:srgbClr val="0000FF"/>
              </a:buClr>
              <a:buFont typeface="Wingdings"/>
              <a:buChar char=""/>
              <a:tabLst>
                <a:tab pos="299720" algn="l"/>
                <a:tab pos="1268095" algn="l"/>
                <a:tab pos="1614170" algn="l"/>
                <a:tab pos="2443480" algn="l"/>
                <a:tab pos="3612515" algn="l"/>
                <a:tab pos="3946525" algn="l"/>
                <a:tab pos="4790440" algn="l"/>
                <a:tab pos="5530215" algn="l"/>
                <a:tab pos="5965825" algn="l"/>
                <a:tab pos="6921500" algn="l"/>
                <a:tab pos="7267575" algn="l"/>
              </a:tabLst>
            </a:pPr>
            <a:r>
              <a:rPr lang="en-US" sz="2000" spc="-10" dirty="0">
                <a:cs typeface="Times New Roman"/>
              </a:rPr>
              <a:t>P</a:t>
            </a:r>
            <a:r>
              <a:rPr lang="en-US" sz="2000" spc="-5" dirty="0">
                <a:cs typeface="Times New Roman"/>
              </a:rPr>
              <a:t>rese</a:t>
            </a:r>
            <a:r>
              <a:rPr lang="en-US" sz="2000" dirty="0">
                <a:cs typeface="Times New Roman"/>
              </a:rPr>
              <a:t>nce	of	h</a:t>
            </a:r>
            <a:r>
              <a:rPr lang="en-US" sz="2000" spc="-10" dirty="0">
                <a:cs typeface="Times New Roman"/>
              </a:rPr>
              <a:t>e</a:t>
            </a:r>
            <a:r>
              <a:rPr lang="en-US" sz="2000" dirty="0">
                <a:cs typeface="Times New Roman"/>
              </a:rPr>
              <a:t>a</a:t>
            </a:r>
            <a:r>
              <a:rPr lang="en-US" sz="2000" spc="5" dirty="0">
                <a:cs typeface="Times New Roman"/>
              </a:rPr>
              <a:t>l</a:t>
            </a:r>
            <a:r>
              <a:rPr lang="en-US" sz="2000" dirty="0">
                <a:cs typeface="Times New Roman"/>
              </a:rPr>
              <a:t>t</a:t>
            </a:r>
            <a:r>
              <a:rPr lang="en-US" sz="2000" spc="-10" dirty="0">
                <a:cs typeface="Times New Roman"/>
              </a:rPr>
              <a:t>h</a:t>
            </a:r>
            <a:r>
              <a:rPr lang="en-US" sz="2000" dirty="0">
                <a:cs typeface="Times New Roman"/>
              </a:rPr>
              <a:t>y	in</a:t>
            </a:r>
            <a:r>
              <a:rPr lang="en-US" sz="2000" spc="-10" dirty="0">
                <a:cs typeface="Times New Roman"/>
              </a:rPr>
              <a:t>d</a:t>
            </a:r>
            <a:r>
              <a:rPr lang="en-US" sz="2000" dirty="0">
                <a:cs typeface="Times New Roman"/>
              </a:rPr>
              <a:t>iv</a:t>
            </a:r>
            <a:r>
              <a:rPr lang="en-US" sz="2000" spc="5" dirty="0">
                <a:cs typeface="Times New Roman"/>
              </a:rPr>
              <a:t>i</a:t>
            </a:r>
            <a:r>
              <a:rPr lang="en-US" sz="2000" dirty="0">
                <a:cs typeface="Times New Roman"/>
              </a:rPr>
              <a:t>du</a:t>
            </a:r>
            <a:r>
              <a:rPr lang="en-US" sz="2000" spc="-10" dirty="0">
                <a:cs typeface="Times New Roman"/>
              </a:rPr>
              <a:t>al</a:t>
            </a:r>
            <a:r>
              <a:rPr lang="en-US" sz="2000" spc="-5" dirty="0">
                <a:cs typeface="Times New Roman"/>
              </a:rPr>
              <a:t>s</a:t>
            </a:r>
            <a:r>
              <a:rPr lang="en-US" sz="2000" dirty="0">
                <a:cs typeface="Times New Roman"/>
              </a:rPr>
              <a:t>	in	soci</a:t>
            </a:r>
            <a:r>
              <a:rPr lang="en-US" sz="2000" spc="5" dirty="0">
                <a:cs typeface="Times New Roman"/>
              </a:rPr>
              <a:t>e</a:t>
            </a:r>
            <a:r>
              <a:rPr lang="en-US" sz="2000" spc="-10" dirty="0">
                <a:cs typeface="Times New Roman"/>
              </a:rPr>
              <a:t>t</a:t>
            </a:r>
            <a:r>
              <a:rPr lang="en-US" sz="2000" spc="-110" dirty="0">
                <a:cs typeface="Times New Roman"/>
              </a:rPr>
              <a:t>y</a:t>
            </a:r>
            <a:r>
              <a:rPr lang="en-US" sz="2000" dirty="0">
                <a:cs typeface="Times New Roman"/>
              </a:rPr>
              <a:t>,	</a:t>
            </a:r>
            <a:r>
              <a:rPr lang="en-US" sz="2000" spc="-10" dirty="0">
                <a:cs typeface="Times New Roman"/>
              </a:rPr>
              <a:t>m</a:t>
            </a:r>
            <a:r>
              <a:rPr lang="en-US" sz="2000" dirty="0">
                <a:cs typeface="Times New Roman"/>
              </a:rPr>
              <a:t>e</a:t>
            </a:r>
            <a:r>
              <a:rPr lang="en-US" sz="2000" spc="5" dirty="0">
                <a:cs typeface="Times New Roman"/>
              </a:rPr>
              <a:t>a</a:t>
            </a:r>
            <a:r>
              <a:rPr lang="en-US" sz="2000" spc="-5" dirty="0">
                <a:cs typeface="Times New Roman"/>
              </a:rPr>
              <a:t>ns</a:t>
            </a:r>
            <a:r>
              <a:rPr lang="en-US" sz="2000" dirty="0">
                <a:cs typeface="Times New Roman"/>
              </a:rPr>
              <a:t>	the	pre</a:t>
            </a:r>
            <a:r>
              <a:rPr lang="en-US" sz="2000" spc="-25" dirty="0">
                <a:cs typeface="Times New Roman"/>
              </a:rPr>
              <a:t>s</a:t>
            </a:r>
            <a:r>
              <a:rPr lang="en-US" sz="2000" dirty="0">
                <a:cs typeface="Times New Roman"/>
              </a:rPr>
              <a:t>en</a:t>
            </a:r>
            <a:r>
              <a:rPr lang="en-US" sz="2000" spc="5" dirty="0">
                <a:cs typeface="Times New Roman"/>
              </a:rPr>
              <a:t>c</a:t>
            </a:r>
            <a:r>
              <a:rPr lang="en-US" sz="2000" dirty="0">
                <a:cs typeface="Times New Roman"/>
              </a:rPr>
              <a:t>e	of	prod</a:t>
            </a:r>
            <a:r>
              <a:rPr lang="en-US" sz="2000" spc="-15" dirty="0">
                <a:cs typeface="Times New Roman"/>
              </a:rPr>
              <a:t>u</a:t>
            </a:r>
            <a:r>
              <a:rPr lang="en-US" sz="2000" spc="-10" dirty="0">
                <a:cs typeface="Times New Roman"/>
              </a:rPr>
              <a:t>c</a:t>
            </a:r>
            <a:r>
              <a:rPr lang="en-US" sz="2000" dirty="0">
                <a:cs typeface="Times New Roman"/>
              </a:rPr>
              <a:t>t</a:t>
            </a:r>
            <a:r>
              <a:rPr lang="en-US" sz="2000" spc="5" dirty="0">
                <a:cs typeface="Times New Roman"/>
              </a:rPr>
              <a:t>i</a:t>
            </a:r>
            <a:r>
              <a:rPr lang="en-US" sz="2000" dirty="0">
                <a:cs typeface="Times New Roman"/>
              </a:rPr>
              <a:t>ve  individuals who </a:t>
            </a:r>
            <a:r>
              <a:rPr lang="en-US" sz="2000" spc="-5" dirty="0">
                <a:cs typeface="Times New Roman"/>
              </a:rPr>
              <a:t>possess </a:t>
            </a:r>
            <a:r>
              <a:rPr lang="en-US" sz="2000" dirty="0">
                <a:cs typeface="Times New Roman"/>
              </a:rPr>
              <a:t>the power and the ability to give and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serve.</a:t>
            </a:r>
          </a:p>
          <a:p>
            <a:pPr>
              <a:spcBef>
                <a:spcPts val="35"/>
              </a:spcBef>
              <a:buClr>
                <a:srgbClr val="0000FF"/>
              </a:buClr>
              <a:buFont typeface="Wingdings"/>
              <a:buChar char=""/>
            </a:pPr>
            <a:endParaRPr lang="en-US" sz="2000" dirty="0">
              <a:cs typeface="Times New Roman"/>
            </a:endParaRPr>
          </a:p>
          <a:p>
            <a:pPr marL="299085" marR="8255" indent="-287020"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000" spc="-5" dirty="0">
                <a:cs typeface="Times New Roman"/>
              </a:rPr>
              <a:t>Psychologically healthy </a:t>
            </a:r>
            <a:r>
              <a:rPr lang="en-US" sz="2000" dirty="0">
                <a:cs typeface="Times New Roman"/>
              </a:rPr>
              <a:t>people </a:t>
            </a:r>
            <a:r>
              <a:rPr lang="en-US" sz="2000" spc="-5" dirty="0">
                <a:cs typeface="Times New Roman"/>
              </a:rPr>
              <a:t>feel </a:t>
            </a:r>
            <a:r>
              <a:rPr lang="en-US" sz="2000" dirty="0">
                <a:cs typeface="Times New Roman"/>
              </a:rPr>
              <a:t>comfortable and </a:t>
            </a:r>
            <a:r>
              <a:rPr lang="en-US" sz="2000" spc="-5" dirty="0">
                <a:cs typeface="Times New Roman"/>
              </a:rPr>
              <a:t>happy </a:t>
            </a:r>
            <a:r>
              <a:rPr lang="en-US" sz="2000" dirty="0">
                <a:cs typeface="Times New Roman"/>
              </a:rPr>
              <a:t>in </a:t>
            </a:r>
            <a:r>
              <a:rPr lang="en-US" sz="2000" spc="-5" dirty="0">
                <a:cs typeface="Times New Roman"/>
              </a:rPr>
              <a:t>their lives. They </a:t>
            </a:r>
            <a:r>
              <a:rPr lang="en-US" sz="2000" spc="-10" dirty="0">
                <a:cs typeface="Times New Roman"/>
              </a:rPr>
              <a:t>enjoy  </a:t>
            </a:r>
            <a:r>
              <a:rPr lang="en-US" sz="2000" dirty="0">
                <a:cs typeface="Times New Roman"/>
              </a:rPr>
              <a:t>life well, establishing </a:t>
            </a:r>
            <a:r>
              <a:rPr lang="en-US" sz="2000" spc="-5" dirty="0">
                <a:cs typeface="Times New Roman"/>
              </a:rPr>
              <a:t>his </a:t>
            </a:r>
            <a:r>
              <a:rPr lang="en-US" sz="2000" dirty="0">
                <a:cs typeface="Times New Roman"/>
              </a:rPr>
              <a:t>relationships with people and </a:t>
            </a:r>
            <a:r>
              <a:rPr lang="en-US" sz="2000" spc="-5" dirty="0">
                <a:cs typeface="Times New Roman"/>
              </a:rPr>
              <a:t>showing </a:t>
            </a:r>
            <a:r>
              <a:rPr lang="en-US" sz="2000" dirty="0">
                <a:cs typeface="Times New Roman"/>
              </a:rPr>
              <a:t>love and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5" dirty="0">
                <a:cs typeface="Times New Roman"/>
              </a:rPr>
              <a:t>kindness.</a:t>
            </a:r>
            <a:endParaRPr lang="en-US" sz="2000" dirty="0">
              <a:cs typeface="Times New Roman"/>
            </a:endParaRPr>
          </a:p>
          <a:p>
            <a:pPr>
              <a:spcBef>
                <a:spcPts val="35"/>
              </a:spcBef>
              <a:buClr>
                <a:srgbClr val="0000FF"/>
              </a:buClr>
              <a:buFont typeface="Wingdings"/>
              <a:buChar char=""/>
            </a:pPr>
            <a:endParaRPr lang="en-US" sz="2000" dirty="0">
              <a:cs typeface="Times New Roman"/>
            </a:endParaRPr>
          </a:p>
          <a:p>
            <a:pPr marL="299085" marR="5080" indent="-287020"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000" spc="-5" dirty="0">
                <a:cs typeface="Times New Roman"/>
              </a:rPr>
              <a:t>A healthy person </a:t>
            </a:r>
            <a:r>
              <a:rPr lang="en-US" sz="2000" dirty="0">
                <a:cs typeface="Times New Roman"/>
              </a:rPr>
              <a:t>who </a:t>
            </a:r>
            <a:r>
              <a:rPr lang="en-US" sz="2000" spc="-5" dirty="0">
                <a:cs typeface="Times New Roman"/>
              </a:rPr>
              <a:t>is </a:t>
            </a:r>
            <a:r>
              <a:rPr lang="en-US" sz="2000" dirty="0">
                <a:cs typeface="Times New Roman"/>
              </a:rPr>
              <a:t>far </a:t>
            </a:r>
            <a:r>
              <a:rPr lang="en-US" sz="2000" spc="-5" dirty="0">
                <a:cs typeface="Times New Roman"/>
              </a:rPr>
              <a:t>from </a:t>
            </a:r>
            <a:r>
              <a:rPr lang="en-US" sz="2000" dirty="0">
                <a:cs typeface="Times New Roman"/>
              </a:rPr>
              <a:t>the disease </a:t>
            </a:r>
            <a:r>
              <a:rPr lang="en-US" sz="2000" spc="-5" dirty="0">
                <a:cs typeface="Times New Roman"/>
              </a:rPr>
              <a:t>sees </a:t>
            </a:r>
            <a:r>
              <a:rPr lang="en-US" sz="2000" dirty="0">
                <a:cs typeface="Times New Roman"/>
              </a:rPr>
              <a:t>him </a:t>
            </a:r>
            <a:r>
              <a:rPr lang="en-US" sz="2000" spc="-5" dirty="0">
                <a:cs typeface="Times New Roman"/>
              </a:rPr>
              <a:t>saving money </a:t>
            </a:r>
            <a:r>
              <a:rPr lang="en-US" sz="2000" dirty="0">
                <a:cs typeface="Times New Roman"/>
              </a:rPr>
              <a:t>that </a:t>
            </a:r>
            <a:r>
              <a:rPr lang="en-US" sz="2000" spc="-10" dirty="0">
                <a:cs typeface="Times New Roman"/>
              </a:rPr>
              <a:t>he </a:t>
            </a:r>
            <a:r>
              <a:rPr lang="en-US" sz="2000" dirty="0">
                <a:cs typeface="Times New Roman"/>
              </a:rPr>
              <a:t>would  have spent on the disease if he neglected </a:t>
            </a:r>
            <a:r>
              <a:rPr lang="en-US" sz="2000" spc="-5" dirty="0">
                <a:cs typeface="Times New Roman"/>
              </a:rPr>
              <a:t>his</a:t>
            </a:r>
            <a:r>
              <a:rPr lang="en-US" sz="2000" spc="-45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health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FC01-4D76-7948-BF8A-6CAA577803E3}"/>
              </a:ext>
            </a:extLst>
          </p:cNvPr>
          <p:cNvSpPr txBox="1"/>
          <p:nvPr/>
        </p:nvSpPr>
        <p:spPr>
          <a:xfrm>
            <a:off x="1295400" y="228600"/>
            <a:ext cx="4574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-5" dirty="0">
                <a:solidFill>
                  <a:srgbClr val="FF0000"/>
                </a:solidFill>
                <a:latin typeface="+mj-lt"/>
              </a:rPr>
              <a:t>Why is health</a:t>
            </a:r>
            <a:r>
              <a:rPr lang="en-US" sz="2800" b="1" spc="-4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important?</a:t>
            </a:r>
          </a:p>
        </p:txBody>
      </p:sp>
    </p:spTree>
    <p:extLst>
      <p:ext uri="{BB962C8B-B14F-4D97-AF65-F5344CB8AC3E}">
        <p14:creationId xmlns:p14="http://schemas.microsoft.com/office/powerpoint/2010/main" val="2402222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8FC01-4D76-7948-BF8A-6CAA577803E3}"/>
              </a:ext>
            </a:extLst>
          </p:cNvPr>
          <p:cNvSpPr txBox="1"/>
          <p:nvPr/>
        </p:nvSpPr>
        <p:spPr>
          <a:xfrm>
            <a:off x="381000" y="76200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-5" dirty="0">
                <a:solidFill>
                  <a:srgbClr val="FF0000"/>
                </a:solidFill>
                <a:latin typeface="+mj-lt"/>
              </a:rPr>
              <a:t>Why Is Health</a:t>
            </a:r>
            <a:r>
              <a:rPr lang="en-US" sz="2800" b="1" spc="-4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Important Now?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B83ED-22A5-90FF-0035-D9AFC5016288}"/>
              </a:ext>
            </a:extLst>
          </p:cNvPr>
          <p:cNvSpPr txBox="1"/>
          <p:nvPr/>
        </p:nvSpPr>
        <p:spPr>
          <a:xfrm>
            <a:off x="533400" y="1371600"/>
            <a:ext cx="8458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Social</a:t>
            </a:r>
            <a:r>
              <a:rPr lang="en-US" sz="2200" spc="10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distancing</a:t>
            </a:r>
            <a:r>
              <a:rPr lang="en-US" sz="2200" spc="9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and</a:t>
            </a:r>
            <a:r>
              <a:rPr lang="en-US" sz="2200" spc="9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the</a:t>
            </a:r>
            <a:r>
              <a:rPr lang="en-US" sz="2200" spc="9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loss</a:t>
            </a:r>
            <a:r>
              <a:rPr lang="en-US" sz="2200" spc="6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of</a:t>
            </a:r>
            <a:r>
              <a:rPr lang="en-US" sz="2200" spc="9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routine</a:t>
            </a:r>
            <a:r>
              <a:rPr lang="en-US" sz="2200" spc="10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can</a:t>
            </a:r>
            <a:r>
              <a:rPr lang="en-US" sz="2200" spc="8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create</a:t>
            </a:r>
            <a:r>
              <a:rPr lang="en-US" sz="2200" spc="9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pressure</a:t>
            </a:r>
            <a:r>
              <a:rPr lang="en-US" sz="2200" spc="10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both</a:t>
            </a:r>
            <a:r>
              <a:rPr lang="en-US" sz="2200" spc="8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physically</a:t>
            </a:r>
            <a:r>
              <a:rPr lang="en-US" sz="2200" spc="9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and</a:t>
            </a:r>
            <a:r>
              <a:rPr lang="en-US" sz="2200" dirty="0">
                <a:cs typeface="Times New Roman"/>
              </a:rPr>
              <a:t> </a:t>
            </a:r>
            <a:r>
              <a:rPr lang="en-US" sz="2200" spc="-10" dirty="0">
                <a:solidFill>
                  <a:srgbClr val="1E1E1E"/>
                </a:solidFill>
                <a:cs typeface="Times New Roman"/>
              </a:rPr>
              <a:t>psychologically. Parallelly,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all are enforced to perform at the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same</a:t>
            </a:r>
            <a:r>
              <a:rPr lang="en-US" sz="2200" spc="-8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level.</a:t>
            </a:r>
            <a:endParaRPr lang="en-US" sz="2200" dirty="0">
              <a:cs typeface="Times New Roman"/>
            </a:endParaRPr>
          </a:p>
          <a:p>
            <a:pPr>
              <a:lnSpc>
                <a:spcPct val="100000"/>
              </a:lnSpc>
              <a:buClr>
                <a:srgbClr val="FF0000"/>
              </a:buClr>
            </a:pPr>
            <a:endParaRPr lang="en-US" sz="2200" dirty="0"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Many people are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struggling to work full-time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remotely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while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simultaneously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caring for  their family at</a:t>
            </a:r>
            <a:r>
              <a:rPr lang="en-US" sz="2200" spc="-25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home.</a:t>
            </a:r>
            <a:endParaRPr lang="en-US" sz="22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2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1E1E1E"/>
                </a:solidFill>
                <a:cs typeface="Times New Roman"/>
              </a:rPr>
              <a:t>Health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workers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are</a:t>
            </a:r>
            <a:r>
              <a:rPr lang="en-US" sz="2200" spc="-1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overloaded.</a:t>
            </a:r>
            <a:endParaRPr lang="en-US" sz="22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en-US" sz="2200" dirty="0">
              <a:cs typeface="Times New Roman"/>
            </a:endParaRPr>
          </a:p>
          <a:p>
            <a:pPr marL="342900" marR="145796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r>
              <a:rPr lang="en-US" sz="2200" spc="-30" dirty="0">
                <a:solidFill>
                  <a:srgbClr val="1E1E1E"/>
                </a:solidFill>
                <a:cs typeface="Times New Roman"/>
              </a:rPr>
              <a:t>Take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time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to listen to body and </a:t>
            </a: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mind </a:t>
            </a:r>
            <a:r>
              <a:rPr lang="en-US" sz="2200" spc="-10" dirty="0">
                <a:solidFill>
                  <a:srgbClr val="1E1E1E"/>
                </a:solidFill>
                <a:cs typeface="Times New Roman"/>
              </a:rPr>
              <a:t>(physically, </a:t>
            </a:r>
            <a:r>
              <a:rPr lang="en-US" sz="2200" spc="-15" dirty="0">
                <a:solidFill>
                  <a:srgbClr val="1E1E1E"/>
                </a:solidFill>
                <a:cs typeface="Times New Roman"/>
              </a:rPr>
              <a:t>mentally,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emotionally).  </a:t>
            </a:r>
          </a:p>
          <a:p>
            <a:pPr marL="342900" marR="145796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endParaRPr lang="en-US" sz="2200" spc="-5" dirty="0">
              <a:solidFill>
                <a:srgbClr val="1E1E1E"/>
              </a:solidFill>
              <a:cs typeface="Times New Roman"/>
            </a:endParaRPr>
          </a:p>
          <a:p>
            <a:pPr marL="342900" marR="1457960" indent="-3429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r>
              <a:rPr lang="en-US" sz="2200" spc="-5" dirty="0">
                <a:solidFill>
                  <a:srgbClr val="1E1E1E"/>
                </a:solidFill>
                <a:cs typeface="Times New Roman"/>
              </a:rPr>
              <a:t>Positive self </a:t>
            </a:r>
            <a:r>
              <a:rPr lang="en-US" sz="2200" dirty="0">
                <a:solidFill>
                  <a:srgbClr val="1E1E1E"/>
                </a:solidFill>
                <a:cs typeface="Times New Roman"/>
              </a:rPr>
              <a:t>talk, meditation,</a:t>
            </a:r>
            <a:r>
              <a:rPr lang="en-US" sz="2200" spc="-90" dirty="0">
                <a:solidFill>
                  <a:srgbClr val="1E1E1E"/>
                </a:solidFill>
                <a:cs typeface="Times New Roman"/>
              </a:rPr>
              <a:t> </a:t>
            </a:r>
            <a:r>
              <a:rPr lang="en-US" sz="2200" spc="-40" dirty="0">
                <a:solidFill>
                  <a:srgbClr val="1E1E1E"/>
                </a:solidFill>
                <a:cs typeface="Times New Roman"/>
              </a:rPr>
              <a:t>Yoga.</a:t>
            </a:r>
            <a:endParaRPr lang="en-US" sz="2200" dirty="0"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2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8145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8FC01-4D76-7948-BF8A-6CAA577803E3}"/>
              </a:ext>
            </a:extLst>
          </p:cNvPr>
          <p:cNvSpPr txBox="1"/>
          <p:nvPr/>
        </p:nvSpPr>
        <p:spPr>
          <a:xfrm>
            <a:off x="1371600" y="609600"/>
            <a:ext cx="670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-5" dirty="0">
                <a:solidFill>
                  <a:srgbClr val="FF0000"/>
                </a:solidFill>
                <a:latin typeface="+mj-lt"/>
              </a:rPr>
              <a:t>Why Is Health</a:t>
            </a:r>
            <a:r>
              <a:rPr lang="en-US" sz="2800" b="1" spc="-4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Important Now?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B83ED-22A5-90FF-0035-D9AFC5016288}"/>
              </a:ext>
            </a:extLst>
          </p:cNvPr>
          <p:cNvSpPr txBox="1"/>
          <p:nvPr/>
        </p:nvSpPr>
        <p:spPr>
          <a:xfrm>
            <a:off x="609600" y="1371600"/>
            <a:ext cx="8458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400" b="1" spc="-5" dirty="0">
                <a:solidFill>
                  <a:srgbClr val="1E1E1E"/>
                </a:solidFill>
                <a:cs typeface="Times New Roman"/>
              </a:rPr>
              <a:t>Nutrition </a:t>
            </a:r>
            <a:r>
              <a:rPr lang="en-US" sz="2400" b="1" dirty="0">
                <a:solidFill>
                  <a:srgbClr val="1E1E1E"/>
                </a:solidFill>
                <a:cs typeface="Times New Roman"/>
              </a:rPr>
              <a:t>: H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ealthy</a:t>
            </a:r>
            <a:r>
              <a:rPr lang="en-US" sz="2400" b="1" spc="-10" dirty="0">
                <a:solidFill>
                  <a:srgbClr val="373737"/>
                </a:solidFill>
                <a:cs typeface="Times New Roman"/>
              </a:rPr>
              <a:t>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food</a:t>
            </a:r>
            <a:endParaRPr lang="en-US" sz="24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Physically active: Move your</a:t>
            </a:r>
            <a:r>
              <a:rPr lang="en-US" sz="2400" b="1" spc="-80" dirty="0">
                <a:solidFill>
                  <a:srgbClr val="373737"/>
                </a:solidFill>
                <a:cs typeface="Times New Roman"/>
              </a:rPr>
              <a:t> </a:t>
            </a:r>
            <a:r>
              <a:rPr lang="en-US" sz="2400" b="1" spc="-5" dirty="0">
                <a:solidFill>
                  <a:srgbClr val="373737"/>
                </a:solidFill>
                <a:cs typeface="Times New Roman"/>
              </a:rPr>
              <a:t>body</a:t>
            </a:r>
            <a:endParaRPr lang="en-US" sz="24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400" b="1" spc="-5" dirty="0">
                <a:solidFill>
                  <a:srgbClr val="373737"/>
                </a:solidFill>
                <a:cs typeface="Times New Roman"/>
              </a:rPr>
              <a:t>Rest: Prioritize</a:t>
            </a:r>
            <a:r>
              <a:rPr lang="en-US" sz="2400" b="1" spc="5" dirty="0">
                <a:solidFill>
                  <a:srgbClr val="373737"/>
                </a:solidFill>
                <a:cs typeface="Times New Roman"/>
              </a:rPr>
              <a:t>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sleep</a:t>
            </a:r>
            <a:endParaRPr lang="en-US" sz="24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400" b="1" spc="-5" dirty="0">
                <a:solidFill>
                  <a:srgbClr val="373737"/>
                </a:solidFill>
                <a:cs typeface="Times New Roman"/>
              </a:rPr>
              <a:t>Socialize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virtually: Find </a:t>
            </a:r>
            <a:r>
              <a:rPr lang="en-US" sz="2400" b="1" spc="5" dirty="0">
                <a:solidFill>
                  <a:srgbClr val="373737"/>
                </a:solidFill>
                <a:cs typeface="Times New Roman"/>
              </a:rPr>
              <a:t>ways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to connect</a:t>
            </a:r>
            <a:r>
              <a:rPr lang="en-US" sz="2400" b="1" spc="-60" dirty="0">
                <a:solidFill>
                  <a:srgbClr val="373737"/>
                </a:solidFill>
                <a:cs typeface="Times New Roman"/>
              </a:rPr>
              <a:t>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socially</a:t>
            </a:r>
            <a:endParaRPr lang="en-US" sz="2400" dirty="0">
              <a:cs typeface="Times New Roman"/>
            </a:endParaRPr>
          </a:p>
          <a:p>
            <a:pPr marL="342900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</a:pPr>
            <a:endParaRPr lang="en-US" sz="2400" dirty="0"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Find </a:t>
            </a:r>
            <a:r>
              <a:rPr lang="en-US" sz="2400" b="1" spc="5" dirty="0">
                <a:solidFill>
                  <a:srgbClr val="373737"/>
                </a:solidFill>
                <a:cs typeface="Times New Roman"/>
              </a:rPr>
              <a:t>ways </a:t>
            </a:r>
            <a:r>
              <a:rPr lang="en-US" sz="2400" b="1" dirty="0">
                <a:solidFill>
                  <a:srgbClr val="373737"/>
                </a:solidFill>
                <a:cs typeface="Times New Roman"/>
              </a:rPr>
              <a:t>to ease</a:t>
            </a:r>
            <a:r>
              <a:rPr lang="en-US" sz="2400" b="1" spc="-55" dirty="0">
                <a:solidFill>
                  <a:srgbClr val="373737"/>
                </a:solidFill>
                <a:cs typeface="Times New Roman"/>
              </a:rPr>
              <a:t> </a:t>
            </a:r>
            <a:r>
              <a:rPr lang="en-US" sz="2400" b="1" spc="-10" dirty="0">
                <a:solidFill>
                  <a:srgbClr val="373737"/>
                </a:solidFill>
                <a:cs typeface="Times New Roman"/>
              </a:rPr>
              <a:t>stress</a:t>
            </a:r>
            <a:endParaRPr lang="en-US" sz="2400" dirty="0">
              <a:cs typeface="Times New Roman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CB4EA83-6BA0-940A-0952-2D28321F9B8B}"/>
              </a:ext>
            </a:extLst>
          </p:cNvPr>
          <p:cNvSpPr txBox="1"/>
          <p:nvPr/>
        </p:nvSpPr>
        <p:spPr>
          <a:xfrm>
            <a:off x="1683385" y="5715000"/>
            <a:ext cx="63938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rlito"/>
                <a:cs typeface="Carlito"/>
                <a:hlinkClick r:id="rId2"/>
              </a:rPr>
              <a:t>https://www.who.int/emergencies/diseases/novel-coronavirus-2019</a:t>
            </a:r>
            <a:endParaRPr sz="18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6065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>
                <a:solidFill>
                  <a:srgbClr val="888888"/>
                </a:solidFill>
                <a:latin typeface="Carlito"/>
                <a:cs typeface="Carlito"/>
              </a:rPr>
              <a:t>8</a:t>
            </a:r>
            <a:endParaRPr lang="en-US"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400154"/>
            <a:ext cx="593039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rgbClr val="373737"/>
                </a:solidFill>
              </a:rPr>
              <a:t>Why is health </a:t>
            </a:r>
            <a:r>
              <a:rPr lang="en-US" dirty="0">
                <a:solidFill>
                  <a:srgbClr val="373737"/>
                </a:solidFill>
              </a:rPr>
              <a:t>important</a:t>
            </a:r>
            <a:r>
              <a:rPr lang="en-US" spc="-25" dirty="0">
                <a:solidFill>
                  <a:srgbClr val="373737"/>
                </a:solidFill>
              </a:rPr>
              <a:t> </a:t>
            </a:r>
            <a:r>
              <a:rPr lang="en-US" dirty="0">
                <a:solidFill>
                  <a:srgbClr val="373737"/>
                </a:solidFill>
              </a:rPr>
              <a:t>now?</a:t>
            </a:r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68B53BF2-64A5-074B-B9F8-DE2A36975E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2"/>
          <a:stretch/>
        </p:blipFill>
        <p:spPr>
          <a:xfrm>
            <a:off x="457200" y="1295400"/>
            <a:ext cx="8153400" cy="4948285"/>
          </a:xfrm>
          <a:prstGeom prst="roundRect">
            <a:avLst>
              <a:gd name="adj" fmla="val 5301"/>
            </a:avLst>
          </a:prstGeom>
          <a:ln w="1905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62000" y="176880"/>
            <a:ext cx="67818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0000"/>
                </a:solidFill>
              </a:rPr>
              <a:t>What influences</a:t>
            </a:r>
            <a:r>
              <a:rPr b="1" spc="-40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Health?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06730" y="640514"/>
            <a:ext cx="8408670" cy="576568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570865" indent="-342900">
              <a:lnSpc>
                <a:spcPct val="100000"/>
              </a:lnSpc>
              <a:spcBef>
                <a:spcPts val="11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Social and </a:t>
            </a:r>
            <a:r>
              <a:rPr sz="2200" spc="-5" dirty="0">
                <a:cs typeface="Times New Roman"/>
              </a:rPr>
              <a:t>economic environment</a:t>
            </a:r>
            <a:endParaRPr sz="2200" dirty="0">
              <a:cs typeface="Times New Roman"/>
            </a:endParaRPr>
          </a:p>
          <a:p>
            <a:pPr marL="570865" indent="-342900">
              <a:lnSpc>
                <a:spcPct val="100000"/>
              </a:lnSpc>
              <a:spcBef>
                <a:spcPts val="1085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Physical</a:t>
            </a:r>
            <a:r>
              <a:rPr sz="2200" spc="-3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environment</a:t>
            </a:r>
            <a:endParaRPr sz="2200" dirty="0">
              <a:cs typeface="Times New Roman"/>
            </a:endParaRP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spc="-20" dirty="0">
                <a:cs typeface="Times New Roman"/>
              </a:rPr>
              <a:t>Person’s </a:t>
            </a:r>
            <a:r>
              <a:rPr sz="2200" dirty="0">
                <a:cs typeface="Times New Roman"/>
              </a:rPr>
              <a:t>individual characteristics and</a:t>
            </a:r>
            <a:r>
              <a:rPr sz="2200" spc="-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behaviors.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spc="-5" dirty="0">
                <a:cs typeface="Times New Roman"/>
              </a:rPr>
              <a:t>Income </a:t>
            </a:r>
            <a:r>
              <a:rPr sz="2200" dirty="0">
                <a:cs typeface="Times New Roman"/>
              </a:rPr>
              <a:t>and </a:t>
            </a:r>
            <a:r>
              <a:rPr sz="2200" spc="-5" dirty="0">
                <a:cs typeface="Times New Roman"/>
              </a:rPr>
              <a:t>social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status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Education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Employment and working</a:t>
            </a:r>
            <a:r>
              <a:rPr sz="2200" spc="-2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conditions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Social </a:t>
            </a:r>
            <a:r>
              <a:rPr sz="2200" spc="-5" dirty="0">
                <a:cs typeface="Times New Roman"/>
              </a:rPr>
              <a:t>support </a:t>
            </a:r>
            <a:r>
              <a:rPr sz="2200" dirty="0">
                <a:cs typeface="Times New Roman"/>
              </a:rPr>
              <a:t>networks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Culture.</a:t>
            </a:r>
          </a:p>
          <a:p>
            <a:pPr marL="570865" indent="-342900">
              <a:lnSpc>
                <a:spcPct val="100000"/>
              </a:lnSpc>
              <a:spcBef>
                <a:spcPts val="1085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Genetics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Personal behavior and coping</a:t>
            </a:r>
            <a:r>
              <a:rPr sz="2200" spc="-2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skills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Health services -</a:t>
            </a:r>
            <a:r>
              <a:rPr sz="2200" spc="-2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access</a:t>
            </a:r>
          </a:p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r>
              <a:rPr sz="2200" dirty="0">
                <a:cs typeface="Times New Roman"/>
              </a:rPr>
              <a:t>Gender</a:t>
            </a:r>
            <a:endParaRPr sz="1800" dirty="0">
              <a:latin typeface="Carlito"/>
              <a:cs typeface="Carli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1E231-468C-8B27-1EA6-6C918A648841}"/>
              </a:ext>
            </a:extLst>
          </p:cNvPr>
          <p:cNvSpPr txBox="1"/>
          <p:nvPr/>
        </p:nvSpPr>
        <p:spPr>
          <a:xfrm>
            <a:off x="304800" y="5709654"/>
            <a:ext cx="8686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endParaRPr lang="en-US" sz="2200" dirty="0"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rlito"/>
                <a:cs typeface="Carlito"/>
                <a:hlinkClick r:id="rId2"/>
              </a:rPr>
              <a:t>https://www.who.int/news-room/questions-and-answers/item/determinants-of-health</a:t>
            </a:r>
            <a:endParaRPr lang="en-US" sz="18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62000" y="176880"/>
            <a:ext cx="67818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0000"/>
                </a:solidFill>
              </a:rPr>
              <a:t>What influences</a:t>
            </a:r>
            <a:r>
              <a:rPr b="1" spc="-40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Health?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1E231-468C-8B27-1EA6-6C918A648841}"/>
              </a:ext>
            </a:extLst>
          </p:cNvPr>
          <p:cNvSpPr txBox="1"/>
          <p:nvPr/>
        </p:nvSpPr>
        <p:spPr>
          <a:xfrm>
            <a:off x="304800" y="5709654"/>
            <a:ext cx="8686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0865" indent="-342900">
              <a:lnSpc>
                <a:spcPct val="100000"/>
              </a:lnSpc>
              <a:spcBef>
                <a:spcPts val="1080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364490" algn="l"/>
              </a:tabLst>
            </a:pPr>
            <a:endParaRPr lang="en-US" sz="2200" dirty="0">
              <a:cs typeface="Times New Roman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rlito"/>
                <a:cs typeface="Carlito"/>
                <a:hlinkClick r:id="rId2"/>
              </a:rPr>
              <a:t>https://www.who.int/news-room/questions-and-answers/item/determinants-of-health</a:t>
            </a:r>
            <a:endParaRPr lang="en-US" sz="1800" dirty="0">
              <a:latin typeface="Carlito"/>
              <a:cs typeface="Carlito"/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2DB62B4-0374-6804-09BF-3FD0C5748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4399"/>
            <a:ext cx="8763000" cy="530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1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762000" y="176880"/>
            <a:ext cx="6781800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0000"/>
                </a:solidFill>
              </a:rPr>
              <a:t>What influences</a:t>
            </a:r>
            <a:r>
              <a:rPr b="1" spc="-40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rgbClr val="FF0000"/>
                </a:solidFill>
              </a:rPr>
              <a:t>Health?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E33491F9-1D02-371A-CB30-B1C0CA9A1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762000"/>
            <a:ext cx="8263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43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1D4A81DD-5B6C-3FE8-D939-0904EA4B4A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" r="10752" b="1"/>
          <a:stretch/>
        </p:blipFill>
        <p:spPr>
          <a:xfrm>
            <a:off x="482600" y="640080"/>
            <a:ext cx="8197240" cy="525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76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340925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</a:rPr>
              <a:t>Health</a:t>
            </a:r>
            <a:r>
              <a:rPr sz="2800" b="1" spc="-80" dirty="0">
                <a:solidFill>
                  <a:srgbClr val="FF0000"/>
                </a:solidFill>
              </a:rPr>
              <a:t> </a:t>
            </a:r>
            <a:r>
              <a:rPr lang="en-US" sz="2800" b="1" spc="-80" dirty="0">
                <a:solidFill>
                  <a:srgbClr val="FF0000"/>
                </a:solidFill>
              </a:rPr>
              <a:t>B</a:t>
            </a:r>
            <a:r>
              <a:rPr sz="2800" b="1" dirty="0">
                <a:solidFill>
                  <a:srgbClr val="FF0000"/>
                </a:solidFill>
              </a:rPr>
              <a:t>eliefs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821563"/>
            <a:ext cx="84461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720" algn="l"/>
              </a:tabLst>
            </a:pP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Health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beliefs are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what people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believe about their health, what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they think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constitutes 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their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health, </a:t>
            </a:r>
            <a:r>
              <a:rPr sz="1800" spc="-10" dirty="0">
                <a:solidFill>
                  <a:srgbClr val="1F2023"/>
                </a:solidFill>
                <a:latin typeface="Times New Roman"/>
                <a:cs typeface="Times New Roman"/>
              </a:rPr>
              <a:t>what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they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consider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the cause of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their illness,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and ways to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overcome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an  illness</a:t>
            </a:r>
            <a:r>
              <a:rPr sz="18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it.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1F2023"/>
              </a:buClr>
              <a:buFont typeface="Wingdings"/>
              <a:buChar char=""/>
            </a:pPr>
            <a:endParaRPr sz="185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Health</a:t>
            </a:r>
            <a:r>
              <a:rPr sz="1800" spc="3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beliefs</a:t>
            </a:r>
            <a:r>
              <a:rPr sz="1800" spc="30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are</a:t>
            </a:r>
            <a:r>
              <a:rPr sz="1800" spc="33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culturally</a:t>
            </a:r>
            <a:r>
              <a:rPr sz="1800" spc="32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determined,</a:t>
            </a:r>
            <a:r>
              <a:rPr sz="1800" spc="3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and</a:t>
            </a:r>
            <a:r>
              <a:rPr sz="1800" spc="31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all</a:t>
            </a:r>
            <a:r>
              <a:rPr sz="1800" spc="30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come</a:t>
            </a:r>
            <a:r>
              <a:rPr sz="1800" spc="31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together</a:t>
            </a:r>
            <a:r>
              <a:rPr sz="1800" spc="30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to</a:t>
            </a:r>
            <a:r>
              <a:rPr sz="1800" spc="3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form</a:t>
            </a:r>
            <a:r>
              <a:rPr sz="1800" spc="295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larger</a:t>
            </a:r>
            <a:r>
              <a:rPr sz="1800" spc="3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2023"/>
                </a:solidFill>
                <a:latin typeface="Times New Roman"/>
                <a:cs typeface="Times New Roman"/>
              </a:rPr>
              <a:t>health</a:t>
            </a:r>
            <a:endParaRPr sz="18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belief</a:t>
            </a:r>
            <a:r>
              <a:rPr sz="1800" spc="-20" dirty="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F2023"/>
                </a:solidFill>
                <a:latin typeface="Times New Roman"/>
                <a:cs typeface="Times New Roman"/>
              </a:rPr>
              <a:t>systems.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0200" y="2554223"/>
            <a:ext cx="8509000" cy="4151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303" y="211328"/>
            <a:ext cx="7909559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HEALTH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AND</a:t>
            </a:r>
            <a:r>
              <a:rPr lang="en-US" sz="2800" b="1" spc="-15" dirty="0">
                <a:solidFill>
                  <a:srgbClr val="FF0000"/>
                </a:solidFill>
                <a:latin typeface="+mj-lt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BEHAVIOR</a:t>
            </a:r>
            <a:endParaRPr lang="en-US" sz="2800" dirty="0">
              <a:solidFill>
                <a:srgbClr val="FF0000"/>
              </a:solidFill>
              <a:latin typeface="+mj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002" y="2971800"/>
            <a:ext cx="9111995" cy="3826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88E2E-63F1-3E8E-B19B-EB209F3063AD}"/>
              </a:ext>
            </a:extLst>
          </p:cNvPr>
          <p:cNvSpPr txBox="1"/>
          <p:nvPr/>
        </p:nvSpPr>
        <p:spPr>
          <a:xfrm>
            <a:off x="136397" y="762000"/>
            <a:ext cx="8839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"/>
              </a:spcBef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Health behaviors are actions individuals take that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affect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their</a:t>
            </a:r>
            <a:r>
              <a:rPr lang="en-US" sz="2200" spc="-85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health.</a:t>
            </a:r>
            <a:endParaRPr lang="en-US" sz="2200" dirty="0">
              <a:latin typeface="+mj-lt"/>
              <a:cs typeface="Times New Roman"/>
            </a:endParaRPr>
          </a:p>
          <a:p>
            <a:pPr marL="342900" indent="-342900">
              <a:lnSpc>
                <a:spcPct val="100000"/>
              </a:lnSpc>
              <a:spcBef>
                <a:spcPts val="30"/>
              </a:spcBef>
              <a:buClr>
                <a:srgbClr val="FF00FF"/>
              </a:buCl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r>
              <a:rPr lang="en-US" sz="2200" dirty="0">
                <a:latin typeface="+mj-lt"/>
                <a:cs typeface="Times New Roman"/>
              </a:rPr>
              <a:t>Behavioral </a:t>
            </a:r>
            <a:r>
              <a:rPr lang="en-US" sz="2200" spc="-5" dirty="0">
                <a:latin typeface="+mj-lt"/>
                <a:cs typeface="Times New Roman"/>
              </a:rPr>
              <a:t>factors </a:t>
            </a:r>
            <a:r>
              <a:rPr lang="en-US" sz="2200" dirty="0">
                <a:latin typeface="+mj-lt"/>
                <a:cs typeface="Times New Roman"/>
              </a:rPr>
              <a:t>such </a:t>
            </a:r>
            <a:r>
              <a:rPr lang="en-US" sz="2200" spc="-5" dirty="0">
                <a:latin typeface="+mj-lt"/>
                <a:cs typeface="Times New Roman"/>
              </a:rPr>
              <a:t>as physical activity </a:t>
            </a:r>
            <a:r>
              <a:rPr lang="en-US" sz="2200" dirty="0">
                <a:latin typeface="+mj-lt"/>
                <a:cs typeface="Times New Roman"/>
              </a:rPr>
              <a:t>and </a:t>
            </a:r>
            <a:r>
              <a:rPr lang="en-US" sz="2200" spc="-5" dirty="0">
                <a:latin typeface="+mj-lt"/>
                <a:cs typeface="Times New Roman"/>
              </a:rPr>
              <a:t>diet, tobacco </a:t>
            </a:r>
            <a:r>
              <a:rPr lang="en-US" sz="2200" spc="-10" dirty="0">
                <a:latin typeface="+mj-lt"/>
                <a:cs typeface="Times New Roman"/>
              </a:rPr>
              <a:t>use, </a:t>
            </a:r>
            <a:r>
              <a:rPr lang="en-US" sz="2200" dirty="0">
                <a:latin typeface="+mj-lt"/>
                <a:cs typeface="Times New Roman"/>
              </a:rPr>
              <a:t>alcohol </a:t>
            </a:r>
            <a:r>
              <a:rPr lang="en-US" sz="2200" spc="-5" dirty="0">
                <a:latin typeface="+mj-lt"/>
                <a:cs typeface="Times New Roman"/>
              </a:rPr>
              <a:t>abuse,  </a:t>
            </a:r>
            <a:r>
              <a:rPr lang="en-US" sz="2200" dirty="0">
                <a:latin typeface="+mj-lt"/>
                <a:cs typeface="Times New Roman"/>
              </a:rPr>
              <a:t>disease screening etc. exert strong influence on</a:t>
            </a:r>
            <a:r>
              <a:rPr lang="en-US" sz="2200" spc="-55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health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683790" y="308468"/>
            <a:ext cx="7284749" cy="764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457200"/>
            <a:r>
              <a:rPr lang="en-US" sz="3600" b="1" dirty="0">
                <a:solidFill>
                  <a:srgbClr val="FF0000"/>
                </a:solidFill>
              </a:rPr>
              <a:t>Health </a:t>
            </a:r>
            <a:r>
              <a:rPr lang="en-US" sz="3600" b="1" spc="-5" dirty="0">
                <a:solidFill>
                  <a:srgbClr val="FF0000"/>
                </a:solidFill>
              </a:rPr>
              <a:t>and</a:t>
            </a:r>
            <a:r>
              <a:rPr lang="en-US" sz="3600" b="1" spc="-120" dirty="0">
                <a:solidFill>
                  <a:srgbClr val="FF0000"/>
                </a:solidFill>
              </a:rPr>
              <a:t> </a:t>
            </a:r>
            <a:r>
              <a:rPr lang="en-US" sz="3600" b="1" spc="-5" dirty="0">
                <a:solidFill>
                  <a:srgbClr val="FF0000"/>
                </a:solidFill>
              </a:rPr>
              <a:t>Advertisements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1FC8889F-FAB1-09E9-C33C-930B1F2B2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4846405"/>
              </p:ext>
            </p:extLst>
          </p:nvPr>
        </p:nvGraphicFramePr>
        <p:xfrm>
          <a:off x="408481" y="1367342"/>
          <a:ext cx="8384598" cy="5259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7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05400" y="222607"/>
            <a:ext cx="3810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FF0000"/>
                </a:solidFill>
              </a:rPr>
              <a:t>Good Health Benefits </a:t>
            </a:r>
            <a:endParaRPr sz="2800" b="1" spc="-5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021" y="809595"/>
            <a:ext cx="8513957" cy="5760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800" b="1" spc="-5" dirty="0">
                <a:solidFill>
                  <a:srgbClr val="7030A0"/>
                </a:solidFill>
                <a:latin typeface="+mj-lt"/>
                <a:cs typeface="Times New Roman"/>
              </a:rPr>
              <a:t>Short </a:t>
            </a:r>
            <a:r>
              <a:rPr lang="en-US" sz="2800" b="1" dirty="0">
                <a:solidFill>
                  <a:srgbClr val="7030A0"/>
                </a:solidFill>
                <a:latin typeface="+mj-lt"/>
                <a:cs typeface="Times New Roman"/>
              </a:rPr>
              <a:t>Term</a:t>
            </a:r>
            <a:r>
              <a:rPr lang="en-US" sz="2800" b="1" spc="-5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lang="en-US" sz="2800" b="1" dirty="0">
                <a:solidFill>
                  <a:srgbClr val="7030A0"/>
                </a:solidFill>
                <a:latin typeface="+mj-lt"/>
                <a:cs typeface="Times New Roman"/>
              </a:rPr>
              <a:t>Benefits</a:t>
            </a:r>
          </a:p>
          <a:p>
            <a:pPr>
              <a:lnSpc>
                <a:spcPct val="100000"/>
              </a:lnSpc>
            </a:pPr>
            <a:endParaRPr sz="185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latin typeface="+mj-lt"/>
                <a:cs typeface="Times New Roman"/>
              </a:rPr>
              <a:t>Maintain</a:t>
            </a:r>
            <a:r>
              <a:rPr sz="2200" spc="-2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weight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latin typeface="+mj-lt"/>
                <a:cs typeface="Times New Roman"/>
              </a:rPr>
              <a:t>Feel better</a:t>
            </a:r>
            <a:r>
              <a:rPr lang="en-US" sz="2200" dirty="0">
                <a:latin typeface="+mj-lt"/>
                <a:cs typeface="Times New Roman"/>
              </a:rPr>
              <a:t> i.e.</a:t>
            </a:r>
            <a:r>
              <a:rPr sz="2200" dirty="0">
                <a:latin typeface="+mj-lt"/>
                <a:cs typeface="Times New Roman"/>
              </a:rPr>
              <a:t> Good </a:t>
            </a:r>
            <a:r>
              <a:rPr sz="2200" spc="-5" dirty="0">
                <a:latin typeface="+mj-lt"/>
                <a:cs typeface="Times New Roman"/>
              </a:rPr>
              <a:t>energy </a:t>
            </a:r>
            <a:r>
              <a:rPr sz="2200" dirty="0">
                <a:latin typeface="+mj-lt"/>
                <a:cs typeface="Times New Roman"/>
              </a:rPr>
              <a:t>and</a:t>
            </a:r>
            <a:r>
              <a:rPr sz="2200" spc="-45" dirty="0">
                <a:latin typeface="+mj-lt"/>
                <a:cs typeface="Times New Roman"/>
              </a:rPr>
              <a:t> </a:t>
            </a:r>
            <a:r>
              <a:rPr sz="2200" spc="-5" dirty="0">
                <a:latin typeface="+mj-lt"/>
                <a:cs typeface="Times New Roman"/>
              </a:rPr>
              <a:t>mood</a:t>
            </a:r>
            <a:endParaRPr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5" dirty="0">
                <a:latin typeface="+mj-lt"/>
                <a:cs typeface="Times New Roman"/>
              </a:rPr>
              <a:t>Improved mental</a:t>
            </a:r>
            <a:r>
              <a:rPr sz="2200" dirty="0">
                <a:latin typeface="+mj-lt"/>
                <a:cs typeface="Times New Roman"/>
              </a:rPr>
              <a:t> clarity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latin typeface="+mj-lt"/>
                <a:cs typeface="Times New Roman"/>
              </a:rPr>
              <a:t>Supports daily activities and help</a:t>
            </a:r>
            <a:r>
              <a:rPr sz="2200" spc="-120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recovery</a:t>
            </a: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More resilient to </a:t>
            </a:r>
            <a:r>
              <a:rPr lang="en-US" sz="2400" spc="-5" dirty="0">
                <a:latin typeface="Times New Roman"/>
                <a:cs typeface="Times New Roman"/>
              </a:rPr>
              <a:t>pressure </a:t>
            </a:r>
            <a:r>
              <a:rPr lang="en-US" sz="2400" dirty="0">
                <a:latin typeface="Times New Roman"/>
                <a:cs typeface="Times New Roman"/>
              </a:rPr>
              <a:t>and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stress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Better </a:t>
            </a:r>
            <a:r>
              <a:rPr lang="en-US" sz="2400" spc="-5" dirty="0">
                <a:latin typeface="Times New Roman"/>
                <a:cs typeface="Times New Roman"/>
              </a:rPr>
              <a:t>Stress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Management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spc="-30" dirty="0">
                <a:latin typeface="Times New Roman"/>
                <a:cs typeface="Times New Roman"/>
              </a:rPr>
              <a:t>Avoid</a:t>
            </a:r>
            <a:r>
              <a:rPr lang="en-US" sz="2400" spc="-10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Addictions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Protect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Eyesight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Lower Medical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Costs</a:t>
            </a:r>
            <a:endParaRPr lang="en-US"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High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Self-Esteem</a:t>
            </a:r>
          </a:p>
        </p:txBody>
      </p:sp>
      <p:pic>
        <p:nvPicPr>
          <p:cNvPr id="1028" name="Picture 4" descr="Vegetable is very nutritious health of the baby starts with the mother. |  Food cartoon, Benefits of healthy eating, Healthy meals for kids">
            <a:extLst>
              <a:ext uri="{FF2B5EF4-FFF2-40B4-BE49-F238E27FC236}">
                <a16:creationId xmlns:a16="http://schemas.microsoft.com/office/drawing/2014/main" id="{7C5D7722-9B5A-9F5C-EB56-75C7CD206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78" y="914400"/>
            <a:ext cx="23241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7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05400" y="222607"/>
            <a:ext cx="3810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FF0000"/>
                </a:solidFill>
              </a:rPr>
              <a:t>Good Health Benefits </a:t>
            </a:r>
            <a:endParaRPr sz="2800" b="1" spc="-5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9F9BF5-4C71-EBA9-DB88-DE2C70D9E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600"/>
            <a:ext cx="8534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44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7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13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05400" y="222607"/>
            <a:ext cx="3810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rgbClr val="FF0000"/>
                </a:solidFill>
              </a:rPr>
              <a:t>Good Health Benefits </a:t>
            </a:r>
            <a:endParaRPr sz="2800" b="1" spc="-5" dirty="0">
              <a:solidFill>
                <a:srgbClr val="FF0000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1BEAFCA4-FE5D-852E-2EAE-587DE2C399F2}"/>
              </a:ext>
            </a:extLst>
          </p:cNvPr>
          <p:cNvSpPr txBox="1"/>
          <p:nvPr/>
        </p:nvSpPr>
        <p:spPr>
          <a:xfrm>
            <a:off x="533400" y="1106099"/>
            <a:ext cx="7162800" cy="50834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5" dirty="0">
                <a:solidFill>
                  <a:srgbClr val="7030A0"/>
                </a:solidFill>
                <a:latin typeface="+mj-lt"/>
                <a:cs typeface="Times New Roman"/>
              </a:rPr>
              <a:t>Long </a:t>
            </a:r>
            <a:r>
              <a:rPr lang="en-US" sz="2800" b="1" dirty="0">
                <a:solidFill>
                  <a:srgbClr val="7030A0"/>
                </a:solidFill>
                <a:latin typeface="+mj-lt"/>
                <a:cs typeface="Times New Roman"/>
              </a:rPr>
              <a:t>Term </a:t>
            </a:r>
            <a:r>
              <a:rPr lang="en-US" sz="2800" b="1" spc="-5" dirty="0">
                <a:solidFill>
                  <a:srgbClr val="7030A0"/>
                </a:solidFill>
                <a:latin typeface="+mj-lt"/>
                <a:cs typeface="Times New Roman"/>
              </a:rPr>
              <a:t>Good Health</a:t>
            </a:r>
            <a:r>
              <a:rPr lang="en-US" sz="2800" b="1" spc="-1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lang="en-US" sz="2800" b="1" spc="-5" dirty="0">
                <a:solidFill>
                  <a:srgbClr val="7030A0"/>
                </a:solidFill>
                <a:latin typeface="+mj-lt"/>
                <a:cs typeface="Times New Roman"/>
              </a:rPr>
              <a:t>Benefits</a:t>
            </a:r>
            <a:endParaRPr lang="en-US" sz="2800" b="1" dirty="0">
              <a:solidFill>
                <a:srgbClr val="7030A0"/>
              </a:solidFill>
              <a:latin typeface="+mj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b="1" dirty="0">
              <a:solidFill>
                <a:srgbClr val="7030A0"/>
              </a:solidFill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Live happy</a:t>
            </a:r>
            <a:r>
              <a:rPr sz="2200" spc="-15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life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Longer life</a:t>
            </a:r>
            <a:r>
              <a:rPr sz="2200" spc="-2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span.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More </a:t>
            </a:r>
            <a:r>
              <a:rPr sz="2200" spc="-10" dirty="0">
                <a:solidFill>
                  <a:srgbClr val="7030A0"/>
                </a:solidFill>
                <a:latin typeface="+mj-lt"/>
                <a:cs typeface="Times New Roman"/>
              </a:rPr>
              <a:t>energy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to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purse</a:t>
            </a:r>
            <a:r>
              <a:rPr sz="2200" spc="5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dreams.</a:t>
            </a:r>
            <a:endParaRPr sz="2200" dirty="0">
              <a:solidFill>
                <a:srgbClr val="7030A0"/>
              </a:solidFill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Maintains weight and physical</a:t>
            </a:r>
            <a:r>
              <a:rPr sz="2200" spc="-8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appearance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Increased</a:t>
            </a:r>
            <a:r>
              <a:rPr sz="2200" spc="-25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Immunity</a:t>
            </a:r>
            <a:endParaRPr sz="2200" dirty="0">
              <a:solidFill>
                <a:srgbClr val="7030A0"/>
              </a:solidFill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Great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sense of well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being: Enhanced self-</a:t>
            </a:r>
            <a:r>
              <a:rPr sz="2200" spc="-3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esteem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Improves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overall quality of</a:t>
            </a:r>
            <a:r>
              <a:rPr sz="2200" spc="-3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life.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Role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model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to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others</a:t>
            </a: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Good health </a:t>
            </a:r>
            <a:r>
              <a:rPr sz="2200" spc="-5" dirty="0">
                <a:solidFill>
                  <a:srgbClr val="7030A0"/>
                </a:solidFill>
                <a:latin typeface="+mj-lt"/>
                <a:cs typeface="Times New Roman"/>
              </a:rPr>
              <a:t>has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positive</a:t>
            </a:r>
            <a:r>
              <a:rPr sz="2200" spc="-30" dirty="0">
                <a:solidFill>
                  <a:srgbClr val="7030A0"/>
                </a:solidFill>
                <a:latin typeface="+mj-lt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+mj-lt"/>
                <a:cs typeface="Times New Roman"/>
              </a:rPr>
              <a:t>influence.</a:t>
            </a:r>
          </a:p>
        </p:txBody>
      </p:sp>
      <p:pic>
        <p:nvPicPr>
          <p:cNvPr id="2052" name="Picture 4" descr="Vegetable is very nutritious health of the baby starts with the mother. |  Food cartoon, Benefits of healthy eating, Healthy meals for kids">
            <a:extLst>
              <a:ext uri="{FF2B5EF4-FFF2-40B4-BE49-F238E27FC236}">
                <a16:creationId xmlns:a16="http://schemas.microsoft.com/office/drawing/2014/main" id="{981A9F13-ABE3-FFFA-EDA4-FA1577525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838200"/>
            <a:ext cx="23241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10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76200"/>
            <a:ext cx="427672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0000"/>
                </a:solidFill>
              </a:rPr>
              <a:t>Health </a:t>
            </a:r>
            <a:r>
              <a:rPr sz="2800" b="1" spc="-5" dirty="0">
                <a:solidFill>
                  <a:srgbClr val="FF0000"/>
                </a:solidFill>
              </a:rPr>
              <a:t>and</a:t>
            </a:r>
            <a:r>
              <a:rPr sz="2800" b="1" spc="-90" dirty="0">
                <a:solidFill>
                  <a:srgbClr val="FF0000"/>
                </a:solidFill>
              </a:rPr>
              <a:t> </a:t>
            </a:r>
            <a:r>
              <a:rPr sz="2800" b="1" dirty="0">
                <a:solidFill>
                  <a:srgbClr val="FF0000"/>
                </a:solidFill>
              </a:rPr>
              <a:t>Society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558" y="685800"/>
            <a:ext cx="8686800" cy="586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dirty="0">
                <a:latin typeface="+mj-lt"/>
                <a:cs typeface="Times New Roman"/>
              </a:rPr>
              <a:t>Society </a:t>
            </a:r>
            <a:r>
              <a:rPr sz="2200" spc="-5" dirty="0">
                <a:latin typeface="+mj-lt"/>
                <a:cs typeface="Times New Roman"/>
              </a:rPr>
              <a:t>is </a:t>
            </a:r>
            <a:r>
              <a:rPr sz="2200" dirty="0">
                <a:latin typeface="+mj-lt"/>
                <a:cs typeface="Times New Roman"/>
              </a:rPr>
              <a:t>an </a:t>
            </a:r>
            <a:r>
              <a:rPr sz="2200" spc="-5" dirty="0">
                <a:latin typeface="+mj-lt"/>
                <a:cs typeface="Times New Roman"/>
              </a:rPr>
              <a:t>organization </a:t>
            </a:r>
            <a:r>
              <a:rPr sz="2200" dirty="0">
                <a:latin typeface="+mj-lt"/>
                <a:cs typeface="Times New Roman"/>
              </a:rPr>
              <a:t>or club </a:t>
            </a:r>
            <a:r>
              <a:rPr sz="2200" spc="-5" dirty="0">
                <a:latin typeface="+mj-lt"/>
                <a:cs typeface="Times New Roman"/>
              </a:rPr>
              <a:t>formed </a:t>
            </a:r>
            <a:r>
              <a:rPr sz="2200" dirty="0">
                <a:latin typeface="+mj-lt"/>
                <a:cs typeface="Times New Roman"/>
              </a:rPr>
              <a:t>for a particular purpose or</a:t>
            </a:r>
            <a:r>
              <a:rPr sz="2200" spc="-5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activity</a:t>
            </a:r>
            <a:r>
              <a:rPr lang="en-US" sz="2200" dirty="0">
                <a:latin typeface="+mj-lt"/>
                <a:cs typeface="Times New Roman"/>
              </a:rPr>
              <a:t>.</a:t>
            </a:r>
            <a:endParaRPr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5" dirty="0">
                <a:latin typeface="+mj-lt"/>
                <a:cs typeface="Times New Roman"/>
              </a:rPr>
              <a:t>An </a:t>
            </a:r>
            <a:r>
              <a:rPr sz="2200" spc="-10" dirty="0">
                <a:latin typeface="+mj-lt"/>
                <a:cs typeface="Times New Roman"/>
              </a:rPr>
              <a:t>individual’s </a:t>
            </a:r>
            <a:r>
              <a:rPr sz="2200" spc="-5" dirty="0">
                <a:latin typeface="+mj-lt"/>
                <a:cs typeface="Times New Roman"/>
              </a:rPr>
              <a:t>social </a:t>
            </a:r>
            <a:r>
              <a:rPr sz="2200" dirty="0">
                <a:latin typeface="+mj-lt"/>
                <a:cs typeface="Times New Roman"/>
              </a:rPr>
              <a:t>environment can </a:t>
            </a:r>
            <a:r>
              <a:rPr sz="2200" spc="-5" dirty="0">
                <a:latin typeface="+mj-lt"/>
                <a:cs typeface="Times New Roman"/>
              </a:rPr>
              <a:t>positively </a:t>
            </a:r>
            <a:r>
              <a:rPr sz="2200" dirty="0">
                <a:latin typeface="+mj-lt"/>
                <a:cs typeface="Times New Roman"/>
              </a:rPr>
              <a:t>or negatively </a:t>
            </a:r>
            <a:r>
              <a:rPr sz="2200" spc="-5" dirty="0">
                <a:latin typeface="+mj-lt"/>
                <a:cs typeface="Times New Roman"/>
              </a:rPr>
              <a:t>affect </a:t>
            </a:r>
            <a:r>
              <a:rPr sz="2200" dirty="0">
                <a:latin typeface="+mj-lt"/>
                <a:cs typeface="Times New Roman"/>
              </a:rPr>
              <a:t>a</a:t>
            </a:r>
            <a:r>
              <a:rPr sz="2200" spc="-30" dirty="0">
                <a:latin typeface="+mj-lt"/>
                <a:cs typeface="Times New Roman"/>
              </a:rPr>
              <a:t> </a:t>
            </a:r>
            <a:r>
              <a:rPr sz="2200" spc="-15" dirty="0">
                <a:latin typeface="+mj-lt"/>
                <a:cs typeface="Times New Roman"/>
              </a:rPr>
              <a:t>person’s</a:t>
            </a:r>
            <a:r>
              <a:rPr lang="en-US" sz="2200" spc="-1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health</a:t>
            </a:r>
          </a:p>
          <a:p>
            <a:pPr marL="299085" marR="5080" indent="-28702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b="1" dirty="0">
                <a:latin typeface="+mj-lt"/>
                <a:cs typeface="Times New Roman"/>
              </a:rPr>
              <a:t>Social </a:t>
            </a:r>
            <a:r>
              <a:rPr sz="2200" b="1" spc="-5" dirty="0">
                <a:latin typeface="+mj-lt"/>
                <a:cs typeface="Times New Roman"/>
              </a:rPr>
              <a:t>environment </a:t>
            </a:r>
            <a:r>
              <a:rPr sz="2200" b="1" dirty="0">
                <a:latin typeface="+mj-lt"/>
                <a:cs typeface="Times New Roman"/>
              </a:rPr>
              <a:t>factors: </a:t>
            </a:r>
            <a:r>
              <a:rPr sz="2200" spc="-5" dirty="0">
                <a:latin typeface="+mj-lt"/>
                <a:cs typeface="Times New Roman"/>
              </a:rPr>
              <a:t>A </a:t>
            </a:r>
            <a:r>
              <a:rPr sz="2200" dirty="0">
                <a:latin typeface="+mj-lt"/>
                <a:cs typeface="Times New Roman"/>
              </a:rPr>
              <a:t>social </a:t>
            </a:r>
            <a:r>
              <a:rPr sz="2200" spc="-5" dirty="0">
                <a:latin typeface="+mj-lt"/>
                <a:cs typeface="Times New Roman"/>
              </a:rPr>
              <a:t>environment has </a:t>
            </a:r>
            <a:r>
              <a:rPr sz="2200" dirty="0">
                <a:latin typeface="+mj-lt"/>
                <a:cs typeface="Times New Roman"/>
              </a:rPr>
              <a:t>to do with the culture</a:t>
            </a:r>
            <a:r>
              <a:rPr sz="2200" spc="-130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and  relationships that </a:t>
            </a:r>
            <a:r>
              <a:rPr sz="2200" spc="-5" dirty="0">
                <a:latin typeface="+mj-lt"/>
                <a:cs typeface="Times New Roman"/>
              </a:rPr>
              <a:t>surround </a:t>
            </a:r>
            <a:r>
              <a:rPr sz="2200" dirty="0">
                <a:latin typeface="+mj-lt"/>
                <a:cs typeface="Times New Roman"/>
              </a:rPr>
              <a:t>an</a:t>
            </a:r>
            <a:r>
              <a:rPr sz="2200" spc="-1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individual</a:t>
            </a:r>
            <a:r>
              <a:rPr sz="2200" dirty="0">
                <a:solidFill>
                  <a:srgbClr val="53636E"/>
                </a:solidFill>
                <a:latin typeface="+mj-lt"/>
                <a:cs typeface="Times New Roman"/>
              </a:rPr>
              <a:t>.</a:t>
            </a:r>
            <a:endParaRPr sz="2200" dirty="0">
              <a:latin typeface="+mj-lt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dirty="0">
                <a:latin typeface="+mj-lt"/>
                <a:cs typeface="Times New Roman"/>
              </a:rPr>
              <a:t>Occupation and </a:t>
            </a:r>
            <a:r>
              <a:rPr sz="2200" spc="-5" dirty="0">
                <a:latin typeface="+mj-lt"/>
                <a:cs typeface="Times New Roman"/>
              </a:rPr>
              <a:t>income</a:t>
            </a:r>
            <a:r>
              <a:rPr sz="2200" spc="-1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status</a:t>
            </a: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dirty="0">
                <a:latin typeface="+mj-lt"/>
                <a:cs typeface="Times New Roman"/>
              </a:rPr>
              <a:t>Education</a:t>
            </a: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spc="-5" dirty="0">
                <a:latin typeface="+mj-lt"/>
                <a:cs typeface="Times New Roman"/>
              </a:rPr>
              <a:t>Family </a:t>
            </a:r>
            <a:r>
              <a:rPr sz="2200" dirty="0">
                <a:latin typeface="+mj-lt"/>
                <a:cs typeface="Times New Roman"/>
              </a:rPr>
              <a:t>and</a:t>
            </a:r>
            <a:r>
              <a:rPr sz="2200" spc="-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friends</a:t>
            </a: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spc="-5" dirty="0">
                <a:latin typeface="+mj-lt"/>
                <a:cs typeface="Times New Roman"/>
              </a:rPr>
              <a:t>Access </a:t>
            </a:r>
            <a:r>
              <a:rPr sz="2200" dirty="0">
                <a:latin typeface="+mj-lt"/>
                <a:cs typeface="Times New Roman"/>
              </a:rPr>
              <a:t>to health</a:t>
            </a:r>
            <a:r>
              <a:rPr sz="2200" spc="-2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care</a:t>
            </a: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dirty="0">
                <a:latin typeface="+mj-lt"/>
                <a:cs typeface="Times New Roman"/>
              </a:rPr>
              <a:t>Social </a:t>
            </a:r>
            <a:r>
              <a:rPr sz="2200" spc="-5" dirty="0">
                <a:latin typeface="+mj-lt"/>
                <a:cs typeface="Times New Roman"/>
              </a:rPr>
              <a:t>Environment </a:t>
            </a:r>
            <a:r>
              <a:rPr sz="2200" dirty="0">
                <a:latin typeface="+mj-lt"/>
                <a:cs typeface="Times New Roman"/>
              </a:rPr>
              <a:t>and </a:t>
            </a:r>
            <a:r>
              <a:rPr sz="2200" spc="-25" dirty="0">
                <a:latin typeface="+mj-lt"/>
                <a:cs typeface="Times New Roman"/>
              </a:rPr>
              <a:t>Weight</a:t>
            </a:r>
            <a:r>
              <a:rPr sz="2200" spc="-40" dirty="0">
                <a:latin typeface="+mj-lt"/>
                <a:cs typeface="Times New Roman"/>
              </a:rPr>
              <a:t> </a:t>
            </a:r>
            <a:r>
              <a:rPr sz="2200" spc="-5" dirty="0">
                <a:latin typeface="+mj-lt"/>
                <a:cs typeface="Times New Roman"/>
              </a:rPr>
              <a:t>Gain</a:t>
            </a:r>
            <a:endParaRPr sz="2200" dirty="0">
              <a:latin typeface="+mj-lt"/>
              <a:cs typeface="Times New Roman"/>
            </a:endParaRPr>
          </a:p>
          <a:p>
            <a:pPr marL="756285" lvl="1" indent="-287655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dirty="0">
                <a:latin typeface="+mj-lt"/>
                <a:cs typeface="Times New Roman"/>
              </a:rPr>
              <a:t>Social </a:t>
            </a:r>
            <a:r>
              <a:rPr sz="2200" spc="-5" dirty="0">
                <a:latin typeface="+mj-lt"/>
                <a:cs typeface="Times New Roman"/>
              </a:rPr>
              <a:t>Environment </a:t>
            </a:r>
            <a:r>
              <a:rPr sz="2200" dirty="0">
                <a:latin typeface="+mj-lt"/>
                <a:cs typeface="Times New Roman"/>
              </a:rPr>
              <a:t>and </a:t>
            </a:r>
            <a:r>
              <a:rPr sz="2200" spc="-5" dirty="0">
                <a:latin typeface="+mj-lt"/>
                <a:cs typeface="Times New Roman"/>
              </a:rPr>
              <a:t>mental</a:t>
            </a:r>
            <a:r>
              <a:rPr sz="2200" spc="-25" dirty="0">
                <a:latin typeface="+mj-lt"/>
                <a:cs typeface="Times New Roman"/>
              </a:rPr>
              <a:t> </a:t>
            </a:r>
            <a:r>
              <a:rPr sz="2200" dirty="0">
                <a:latin typeface="+mj-lt"/>
                <a:cs typeface="Times New Roman"/>
              </a:rPr>
              <a:t>health</a:t>
            </a:r>
          </a:p>
          <a:p>
            <a:pPr marL="756285" lvl="1" indent="-287655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sz="2200" dirty="0">
                <a:latin typeface="+mj-lt"/>
                <a:cs typeface="Times New Roman"/>
              </a:rPr>
              <a:t>Social </a:t>
            </a:r>
            <a:r>
              <a:rPr sz="2200" spc="-5" dirty="0">
                <a:latin typeface="+mj-lt"/>
                <a:cs typeface="Times New Roman"/>
              </a:rPr>
              <a:t>Environment </a:t>
            </a:r>
            <a:r>
              <a:rPr sz="2200" dirty="0">
                <a:latin typeface="+mj-lt"/>
                <a:cs typeface="Times New Roman"/>
              </a:rPr>
              <a:t>and </a:t>
            </a:r>
            <a:r>
              <a:rPr sz="2200" spc="-5" dirty="0">
                <a:latin typeface="+mj-lt"/>
                <a:cs typeface="Times New Roman"/>
              </a:rPr>
              <a:t>Disease</a:t>
            </a:r>
            <a:r>
              <a:rPr sz="2200" spc="-15" dirty="0">
                <a:latin typeface="+mj-lt"/>
                <a:cs typeface="Times New Roman"/>
              </a:rPr>
              <a:t> </a:t>
            </a:r>
            <a:r>
              <a:rPr sz="2200" spc="-5" dirty="0">
                <a:latin typeface="+mj-lt"/>
                <a:cs typeface="Times New Roman"/>
              </a:rPr>
              <a:t>Onset</a:t>
            </a:r>
            <a:endParaRPr sz="2200" dirty="0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362997"/>
            <a:ext cx="8763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Health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And</a:t>
            </a:r>
            <a:r>
              <a:rPr lang="en-US" sz="2800" b="1" spc="-25" dirty="0">
                <a:solidFill>
                  <a:srgbClr val="FF0000"/>
                </a:solidFill>
                <a:latin typeface="+mj-lt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Family</a:t>
            </a:r>
            <a:endParaRPr lang="en-US" sz="2800" dirty="0">
              <a:solidFill>
                <a:srgbClr val="FF0000"/>
              </a:solidFill>
              <a:latin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20E82-9AF6-A00F-4E06-93C2C1D68B65}"/>
              </a:ext>
            </a:extLst>
          </p:cNvPr>
          <p:cNvSpPr txBox="1"/>
          <p:nvPr/>
        </p:nvSpPr>
        <p:spPr>
          <a:xfrm>
            <a:off x="342900" y="1219200"/>
            <a:ext cx="85344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spc="-5" dirty="0">
                <a:latin typeface="+mj-lt"/>
                <a:cs typeface="Times New Roman"/>
              </a:rPr>
              <a:t>“Family</a:t>
            </a:r>
            <a:r>
              <a:rPr lang="en-US" sz="2200" spc="15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is</a:t>
            </a:r>
            <a:r>
              <a:rPr lang="en-US" sz="2200" spc="135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a</a:t>
            </a:r>
            <a:r>
              <a:rPr lang="en-US" sz="2200" spc="145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group</a:t>
            </a:r>
            <a:r>
              <a:rPr lang="en-US" sz="2200" spc="135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of</a:t>
            </a:r>
            <a:r>
              <a:rPr lang="en-US" sz="2200" spc="14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biologically-</a:t>
            </a:r>
            <a:r>
              <a:rPr lang="en-US" sz="2200" spc="140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related</a:t>
            </a:r>
            <a:r>
              <a:rPr lang="en-US" sz="2200" spc="145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persons</a:t>
            </a:r>
            <a:r>
              <a:rPr lang="en-US" sz="2200" spc="13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living</a:t>
            </a:r>
            <a:r>
              <a:rPr lang="en-US" sz="2200" spc="145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together</a:t>
            </a:r>
            <a:r>
              <a:rPr lang="en-US" sz="2200" spc="14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and</a:t>
            </a:r>
            <a:r>
              <a:rPr lang="en-US" sz="2200" spc="140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sharing</a:t>
            </a:r>
            <a:r>
              <a:rPr lang="en-US" sz="2200" spc="135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the</a:t>
            </a:r>
            <a:endParaRPr lang="en-US" sz="2200" dirty="0">
              <a:latin typeface="+mj-lt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lang="en-US" sz="2200" spc="-5" dirty="0">
                <a:latin typeface="+mj-lt"/>
                <a:cs typeface="Times New Roman"/>
              </a:rPr>
              <a:t>common </a:t>
            </a:r>
            <a:r>
              <a:rPr lang="en-US" sz="2200" dirty="0">
                <a:latin typeface="+mj-lt"/>
                <a:cs typeface="Times New Roman"/>
              </a:rPr>
              <a:t>kitchen and purse”.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latin typeface="+mj-lt"/>
                <a:cs typeface="Times New Roman"/>
              </a:rPr>
              <a:t>The health of one </a:t>
            </a:r>
            <a:r>
              <a:rPr lang="en-US" sz="2200" spc="-5" dirty="0">
                <a:latin typeface="+mj-lt"/>
                <a:cs typeface="Times New Roman"/>
              </a:rPr>
              <a:t>member affects </a:t>
            </a:r>
            <a:r>
              <a:rPr lang="en-US" sz="2200" dirty="0">
                <a:latin typeface="+mj-lt"/>
                <a:cs typeface="Times New Roman"/>
              </a:rPr>
              <a:t>the welfare of other </a:t>
            </a:r>
            <a:r>
              <a:rPr lang="en-US" sz="2200" spc="-5" dirty="0">
                <a:latin typeface="+mj-lt"/>
                <a:cs typeface="Times New Roman"/>
              </a:rPr>
              <a:t>members </a:t>
            </a:r>
            <a:r>
              <a:rPr lang="en-US" sz="2200" dirty="0">
                <a:latin typeface="+mj-lt"/>
                <a:cs typeface="Times New Roman"/>
              </a:rPr>
              <a:t>in the</a:t>
            </a:r>
            <a:r>
              <a:rPr lang="en-US" sz="2200" spc="-30" dirty="0">
                <a:latin typeface="+mj-lt"/>
                <a:cs typeface="Times New Roman"/>
              </a:rPr>
              <a:t> </a:t>
            </a:r>
            <a:r>
              <a:rPr lang="en-US" sz="2200" spc="-15" dirty="0">
                <a:latin typeface="+mj-lt"/>
                <a:cs typeface="Times New Roman"/>
              </a:rPr>
              <a:t>family.</a:t>
            </a:r>
            <a:endParaRPr lang="en-US" sz="2200" dirty="0">
              <a:latin typeface="+mj-l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00FF"/>
              </a:buClr>
              <a:buFont typeface="Wingdings"/>
              <a:buChar char=""/>
            </a:pP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latin typeface="+mj-lt"/>
                <a:cs typeface="Times New Roman"/>
              </a:rPr>
              <a:t>Every </a:t>
            </a:r>
            <a:r>
              <a:rPr lang="en-US" sz="2200" spc="-5" dirty="0">
                <a:latin typeface="+mj-lt"/>
                <a:cs typeface="Times New Roman"/>
              </a:rPr>
              <a:t>family </a:t>
            </a:r>
            <a:r>
              <a:rPr lang="en-US" sz="2200" dirty="0">
                <a:latin typeface="+mj-lt"/>
                <a:cs typeface="Times New Roman"/>
              </a:rPr>
              <a:t>is unique and it is </a:t>
            </a:r>
            <a:r>
              <a:rPr lang="en-US" sz="2200" spc="-5" dirty="0">
                <a:latin typeface="+mj-lt"/>
                <a:cs typeface="Times New Roman"/>
              </a:rPr>
              <a:t>affected by </a:t>
            </a:r>
            <a:r>
              <a:rPr lang="en-US" sz="2200" dirty="0">
                <a:latin typeface="+mj-lt"/>
                <a:cs typeface="Times New Roman"/>
              </a:rPr>
              <a:t>ever aspect </a:t>
            </a:r>
            <a:r>
              <a:rPr lang="en-US" sz="2200" spc="-5" dirty="0">
                <a:latin typeface="+mj-lt"/>
                <a:cs typeface="Times New Roman"/>
              </a:rPr>
              <a:t>of community</a:t>
            </a:r>
            <a:r>
              <a:rPr lang="en-US" sz="2200" spc="-45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life.</a:t>
            </a: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00FF"/>
              </a:buClr>
              <a:buFont typeface="Wingdings"/>
              <a:buChar char=""/>
            </a:pPr>
            <a:endParaRPr lang="en-US" sz="2200" dirty="0">
              <a:latin typeface="+mj-lt"/>
              <a:cs typeface="Times New Roman"/>
            </a:endParaRPr>
          </a:p>
          <a:p>
            <a:pPr marL="299085" marR="5080" indent="-287020" algn="just">
              <a:lnSpc>
                <a:spcPct val="100000"/>
              </a:lnSpc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spc="-5" dirty="0">
                <a:latin typeface="+mj-lt"/>
                <a:cs typeface="Times New Roman"/>
              </a:rPr>
              <a:t>Family </a:t>
            </a:r>
            <a:r>
              <a:rPr lang="en-US" sz="2200" dirty="0">
                <a:latin typeface="+mj-lt"/>
                <a:cs typeface="Times New Roman"/>
              </a:rPr>
              <a:t>health </a:t>
            </a:r>
            <a:r>
              <a:rPr lang="en-US" sz="2200" spc="-5" dirty="0">
                <a:latin typeface="+mj-lt"/>
                <a:cs typeface="Times New Roman"/>
              </a:rPr>
              <a:t>is “a </a:t>
            </a:r>
            <a:r>
              <a:rPr lang="en-US" sz="2200" dirty="0">
                <a:latin typeface="+mj-lt"/>
                <a:cs typeface="Times New Roman"/>
              </a:rPr>
              <a:t>state of positive </a:t>
            </a:r>
            <a:r>
              <a:rPr lang="en-US" sz="2200" spc="-5" dirty="0">
                <a:latin typeface="+mj-lt"/>
                <a:cs typeface="Times New Roman"/>
              </a:rPr>
              <a:t>interaction between family members which  </a:t>
            </a:r>
            <a:r>
              <a:rPr lang="en-US" sz="2200" dirty="0">
                <a:latin typeface="+mj-lt"/>
                <a:cs typeface="Times New Roman"/>
              </a:rPr>
              <a:t>enables each </a:t>
            </a:r>
            <a:r>
              <a:rPr lang="en-US" sz="2200" spc="-5" dirty="0">
                <a:latin typeface="+mj-lt"/>
                <a:cs typeface="Times New Roman"/>
              </a:rPr>
              <a:t>members </a:t>
            </a:r>
            <a:r>
              <a:rPr lang="en-US" sz="2200" dirty="0">
                <a:latin typeface="+mj-lt"/>
                <a:cs typeface="Times New Roman"/>
              </a:rPr>
              <a:t>of the </a:t>
            </a:r>
            <a:r>
              <a:rPr lang="en-US" sz="2200" spc="-5" dirty="0">
                <a:latin typeface="+mj-lt"/>
                <a:cs typeface="Times New Roman"/>
              </a:rPr>
              <a:t>family </a:t>
            </a:r>
            <a:r>
              <a:rPr lang="en-US" sz="2200" dirty="0">
                <a:latin typeface="+mj-lt"/>
                <a:cs typeface="Times New Roman"/>
              </a:rPr>
              <a:t>to </a:t>
            </a:r>
            <a:r>
              <a:rPr lang="en-US" sz="2200" spc="-5" dirty="0">
                <a:latin typeface="+mj-lt"/>
                <a:cs typeface="Times New Roman"/>
              </a:rPr>
              <a:t>enjoy optimum </a:t>
            </a:r>
            <a:r>
              <a:rPr lang="en-US" sz="2200" dirty="0">
                <a:latin typeface="+mj-lt"/>
                <a:cs typeface="Times New Roman"/>
              </a:rPr>
              <a:t>physical, mental, social </a:t>
            </a:r>
            <a:r>
              <a:rPr lang="en-US" sz="2200" spc="-5" dirty="0">
                <a:latin typeface="+mj-lt"/>
                <a:cs typeface="Times New Roman"/>
              </a:rPr>
              <a:t>and  </a:t>
            </a:r>
            <a:r>
              <a:rPr lang="en-US" sz="2200" dirty="0">
                <a:latin typeface="+mj-lt"/>
                <a:cs typeface="Times New Roman"/>
              </a:rPr>
              <a:t>spiritual</a:t>
            </a:r>
            <a:r>
              <a:rPr lang="en-US" sz="2200" spc="-15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well-being”.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481688" y="1118503"/>
            <a:ext cx="384198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>
              <a:spcBef>
                <a:spcPct val="0"/>
              </a:spcBef>
              <a:spcAft>
                <a:spcPts val="600"/>
              </a:spcAft>
            </a:pPr>
            <a:r>
              <a:rPr lang="en-US" sz="35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Health </a:t>
            </a:r>
            <a:r>
              <a:rPr lang="en-US" sz="3500" b="1" spc="-5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spc="-25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Family</a:t>
            </a:r>
            <a:endParaRPr lang="en-US" sz="35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0DEFF-A6DE-6E87-F3B6-50783F1DAF98}"/>
              </a:ext>
            </a:extLst>
          </p:cNvPr>
          <p:cNvSpPr txBox="1"/>
          <p:nvPr/>
        </p:nvSpPr>
        <p:spPr>
          <a:xfrm>
            <a:off x="503243" y="2987684"/>
            <a:ext cx="8373396" cy="37592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1206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tabLst>
                <a:tab pos="299720" algn="l"/>
              </a:tabLst>
            </a:pPr>
            <a:r>
              <a:rPr lang="en-US" sz="2200" b="1" spc="-5" dirty="0">
                <a:solidFill>
                  <a:srgbClr val="FF00FF"/>
                </a:solidFill>
              </a:rPr>
              <a:t>Functions </a:t>
            </a:r>
            <a:r>
              <a:rPr lang="en-US" sz="2200" b="1" dirty="0">
                <a:solidFill>
                  <a:srgbClr val="FF00FF"/>
                </a:solidFill>
              </a:rPr>
              <a:t>of</a:t>
            </a:r>
            <a:r>
              <a:rPr lang="en-US" sz="2200" b="1" spc="-10" dirty="0">
                <a:solidFill>
                  <a:srgbClr val="FF00FF"/>
                </a:solidFill>
              </a:rPr>
              <a:t> </a:t>
            </a:r>
            <a:r>
              <a:rPr lang="en-US" sz="2200" b="1" dirty="0">
                <a:solidFill>
                  <a:srgbClr val="FF00FF"/>
                </a:solidFill>
              </a:rPr>
              <a:t>family:</a:t>
            </a:r>
            <a:endParaRPr lang="en-US" sz="2200" dirty="0">
              <a:solidFill>
                <a:srgbClr val="FF00FF"/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Socialization of family</a:t>
            </a:r>
            <a:r>
              <a:rPr lang="en-US" sz="2200" spc="-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members.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stability.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of dependent</a:t>
            </a:r>
            <a:r>
              <a:rPr lang="en-US" sz="22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members.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Emotional support for</a:t>
            </a:r>
            <a:r>
              <a:rPr lang="en-US" sz="22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members.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Satisfy social, intellectual, emotional and psychological needs of</a:t>
            </a:r>
            <a:r>
              <a:rPr lang="en-US" sz="2200" spc="-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1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family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Upbringing children for behavior and social approved</a:t>
            </a:r>
            <a:r>
              <a:rPr lang="en-US" sz="22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conduct.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Sense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family</a:t>
            </a:r>
            <a:r>
              <a:rPr lang="en-US" sz="2200" spc="-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identification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Interaction among family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members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 health, disease, counselling and</a:t>
            </a:r>
            <a:r>
              <a:rPr lang="en-US" sz="2200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rehabilitation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tabLst>
                <a:tab pos="299085" algn="l"/>
                <a:tab pos="299720" algn="l"/>
              </a:tabLst>
            </a:pP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 descr="Oscar Education: Functions of Family">
            <a:extLst>
              <a:ext uri="{FF2B5EF4-FFF2-40B4-BE49-F238E27FC236}">
                <a16:creationId xmlns:a16="http://schemas.microsoft.com/office/drawing/2014/main" id="{D276D8CB-8C31-66BC-8B5A-61F6D1EE9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2400" y="195146"/>
            <a:ext cx="4088720" cy="27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3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07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304800" y="167874"/>
            <a:ext cx="5181600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>
              <a:spcBef>
                <a:spcPct val="0"/>
              </a:spcBef>
              <a:spcAft>
                <a:spcPts val="600"/>
              </a:spcAft>
            </a:pPr>
            <a:r>
              <a:rPr lang="en-US" sz="35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Health </a:t>
            </a:r>
            <a:r>
              <a:rPr lang="en-US" sz="3500" b="1" spc="-5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3500" b="1" spc="-25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5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Family</a:t>
            </a:r>
            <a:endParaRPr lang="en-US" sz="35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7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" descr="Adding Values | Tween ages, Drawing people, Art clipart">
            <a:extLst>
              <a:ext uri="{FF2B5EF4-FFF2-40B4-BE49-F238E27FC236}">
                <a16:creationId xmlns:a16="http://schemas.microsoft.com/office/drawing/2014/main" id="{39A282A1-C83E-84A1-80F1-9A24636C9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9521" y="373456"/>
            <a:ext cx="2986091" cy="305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85D20EC-5B2A-2A9B-0987-990D463123ED}"/>
              </a:ext>
            </a:extLst>
          </p:cNvPr>
          <p:cNvSpPr txBox="1"/>
          <p:nvPr/>
        </p:nvSpPr>
        <p:spPr>
          <a:xfrm>
            <a:off x="492783" y="1317115"/>
            <a:ext cx="4574788" cy="4542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tabLst>
                <a:tab pos="299720" algn="l"/>
              </a:tabLst>
            </a:pPr>
            <a:r>
              <a:rPr lang="en-US" sz="2400" b="1" spc="-5" dirty="0">
                <a:solidFill>
                  <a:srgbClr val="FF00FF"/>
                </a:solidFill>
              </a:rPr>
              <a:t>Determinants </a:t>
            </a:r>
            <a:r>
              <a:rPr lang="en-US" sz="2400" b="1" dirty="0">
                <a:solidFill>
                  <a:srgbClr val="FF00FF"/>
                </a:solidFill>
              </a:rPr>
              <a:t>of family</a:t>
            </a:r>
            <a:r>
              <a:rPr lang="en-US" sz="2400" b="1" spc="-15" dirty="0">
                <a:solidFill>
                  <a:srgbClr val="FF00FF"/>
                </a:solidFill>
              </a:rPr>
              <a:t> </a:t>
            </a:r>
            <a:r>
              <a:rPr lang="en-US" sz="2400" b="1" spc="-5" dirty="0">
                <a:solidFill>
                  <a:srgbClr val="FF00FF"/>
                </a:solidFill>
              </a:rPr>
              <a:t>health</a:t>
            </a:r>
          </a:p>
          <a:p>
            <a:pPr marL="12065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tabLst>
                <a:tab pos="299720" algn="l"/>
              </a:tabLst>
            </a:pP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Living and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working</a:t>
            </a:r>
            <a:r>
              <a:rPr lang="en-US" sz="2200" spc="-3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conditions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Physical</a:t>
            </a:r>
            <a:r>
              <a:rPr lang="en-US" sz="22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environment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Psycho-social</a:t>
            </a:r>
            <a:r>
              <a:rPr lang="en-US" sz="22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environment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Education and </a:t>
            </a: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</a:t>
            </a:r>
            <a:r>
              <a:rPr lang="en-US" sz="2200" spc="-3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factors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Health</a:t>
            </a:r>
            <a:r>
              <a:rPr lang="en-US" sz="2200" spc="-2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practices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Cultural</a:t>
            </a:r>
            <a:r>
              <a:rPr lang="en-US" sz="2200" spc="-2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factors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Gender</a:t>
            </a:r>
          </a:p>
          <a:p>
            <a:pPr marL="299085" indent="-287020">
              <a:lnSpc>
                <a:spcPct val="90000"/>
              </a:lnSpc>
              <a:spcBef>
                <a:spcPts val="1000"/>
              </a:spcBef>
              <a:buClr>
                <a:srgbClr val="CC3300"/>
              </a:buClr>
              <a:buFont typeface="Wingdings" panose="05000000000000000000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Genes</a:t>
            </a:r>
            <a:endParaRPr lang="en-US" sz="2200" dirty="0"/>
          </a:p>
        </p:txBody>
      </p:sp>
      <p:pic>
        <p:nvPicPr>
          <p:cNvPr id="5122" name="Picture 2" descr="Family Members Clipart - Clipart Kid | Family cartoon, Custom family  portrait, Cartoon pics">
            <a:extLst>
              <a:ext uri="{FF2B5EF4-FFF2-40B4-BE49-F238E27FC236}">
                <a16:creationId xmlns:a16="http://schemas.microsoft.com/office/drawing/2014/main" id="{9796E71D-AC79-6649-3E6E-5EA95091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362" y="3706834"/>
            <a:ext cx="35242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61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6065F8A9-9499-4A44-BDAD-F706130FD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8132C2D-AFE4-478D-A86B-81059C20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5BFD52-DD96-4666-8D77-C636870FD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969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324600" y="579885"/>
            <a:ext cx="2654223" cy="14186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457200"/>
            <a:r>
              <a:rPr lang="en-US" sz="2800" b="1" dirty="0">
                <a:solidFill>
                  <a:schemeClr val="bg1"/>
                </a:solidFill>
              </a:rPr>
              <a:t>Health 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spc="-5" dirty="0">
                <a:solidFill>
                  <a:schemeClr val="bg1"/>
                </a:solidFill>
              </a:rPr>
              <a:t>and</a:t>
            </a:r>
            <a:r>
              <a:rPr lang="en-US" sz="2800" b="1" spc="-8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Personality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941746C-2C12-4564-8342-A3055D836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6099690" y="3187343"/>
            <a:ext cx="828840" cy="506624"/>
          </a:xfrm>
          <a:custGeom>
            <a:avLst/>
            <a:gdLst>
              <a:gd name="connsiteX0" fmla="*/ 0 w 1105119"/>
              <a:gd name="connsiteY0" fmla="*/ 506624 h 506624"/>
              <a:gd name="connsiteX1" fmla="*/ 759132 w 1105119"/>
              <a:gd name="connsiteY1" fmla="*/ 505572 h 506624"/>
              <a:gd name="connsiteX2" fmla="*/ 849827 w 1105119"/>
              <a:gd name="connsiteY2" fmla="*/ 505572 h 506624"/>
              <a:gd name="connsiteX3" fmla="*/ 864083 w 1105119"/>
              <a:gd name="connsiteY3" fmla="*/ 500804 h 506624"/>
              <a:gd name="connsiteX4" fmla="*/ 869065 w 1105119"/>
              <a:gd name="connsiteY4" fmla="*/ 496035 h 506624"/>
              <a:gd name="connsiteX5" fmla="*/ 1098034 w 1105119"/>
              <a:gd name="connsiteY5" fmla="*/ 267092 h 506624"/>
              <a:gd name="connsiteX6" fmla="*/ 1098034 w 1105119"/>
              <a:gd name="connsiteY6" fmla="*/ 238480 h 506624"/>
              <a:gd name="connsiteX7" fmla="*/ 869065 w 1105119"/>
              <a:gd name="connsiteY7" fmla="*/ 9537 h 506624"/>
              <a:gd name="connsiteX8" fmla="*/ 864083 w 1105119"/>
              <a:gd name="connsiteY8" fmla="*/ 4769 h 506624"/>
              <a:gd name="connsiteX9" fmla="*/ 849827 w 1105119"/>
              <a:gd name="connsiteY9" fmla="*/ 0 h 506624"/>
              <a:gd name="connsiteX10" fmla="*/ 759132 w 1105119"/>
              <a:gd name="connsiteY10" fmla="*/ 0 h 506624"/>
              <a:gd name="connsiteX11" fmla="*/ 0 w 1105119"/>
              <a:gd name="connsiteY11" fmla="*/ 2157 h 50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5119" h="506624">
                <a:moveTo>
                  <a:pt x="0" y="506624"/>
                </a:moveTo>
                <a:lnTo>
                  <a:pt x="759132" y="505572"/>
                </a:lnTo>
                <a:lnTo>
                  <a:pt x="849827" y="505572"/>
                </a:lnTo>
                <a:cubicBezTo>
                  <a:pt x="854636" y="505572"/>
                  <a:pt x="859446" y="500804"/>
                  <a:pt x="864083" y="500804"/>
                </a:cubicBezTo>
                <a:cubicBezTo>
                  <a:pt x="864083" y="496035"/>
                  <a:pt x="869065" y="496035"/>
                  <a:pt x="869065" y="496035"/>
                </a:cubicBezTo>
                <a:lnTo>
                  <a:pt x="1098034" y="267092"/>
                </a:lnTo>
                <a:cubicBezTo>
                  <a:pt x="1107481" y="257555"/>
                  <a:pt x="1107481" y="248018"/>
                  <a:pt x="1098034" y="238480"/>
                </a:cubicBezTo>
                <a:lnTo>
                  <a:pt x="869065" y="9537"/>
                </a:lnTo>
                <a:cubicBezTo>
                  <a:pt x="867519" y="7914"/>
                  <a:pt x="865629" y="6392"/>
                  <a:pt x="864083" y="4769"/>
                </a:cubicBezTo>
                <a:cubicBezTo>
                  <a:pt x="859446" y="0"/>
                  <a:pt x="854636" y="0"/>
                  <a:pt x="849827" y="0"/>
                </a:cubicBezTo>
                <a:lnTo>
                  <a:pt x="759132" y="0"/>
                </a:lnTo>
                <a:lnTo>
                  <a:pt x="0" y="21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95390FB0-966C-35AC-12C2-7D6CFD068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10253"/>
              </p:ext>
            </p:extLst>
          </p:nvPr>
        </p:nvGraphicFramePr>
        <p:xfrm>
          <a:off x="165177" y="220486"/>
          <a:ext cx="5778423" cy="64196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3891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533400"/>
            <a:ext cx="8686800" cy="571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299085" indent="-287020">
              <a:lnSpc>
                <a:spcPct val="100000"/>
              </a:lnSpc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spc="-15" dirty="0">
                <a:solidFill>
                  <a:srgbClr val="1F2023"/>
                </a:solidFill>
                <a:latin typeface="+mj-lt"/>
                <a:cs typeface="Times New Roman"/>
              </a:rPr>
              <a:t>Work-related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problems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can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affect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our physical, emotional and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mental</a:t>
            </a:r>
            <a:r>
              <a:rPr lang="en-US" sz="2200" spc="-20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health.</a:t>
            </a:r>
          </a:p>
          <a:p>
            <a:pPr marL="12700">
              <a:lnSpc>
                <a:spcPct val="100000"/>
              </a:lnSpc>
            </a:pPr>
            <a:endParaRPr lang="en-US" sz="2200" spc="-5" dirty="0">
              <a:solidFill>
                <a:srgbClr val="212121"/>
              </a:solidFill>
              <a:latin typeface="+mj-lt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spc="-5" dirty="0">
                <a:solidFill>
                  <a:srgbClr val="212121"/>
                </a:solidFill>
                <a:latin typeface="+mj-lt"/>
                <a:cs typeface="Times New Roman"/>
              </a:rPr>
              <a:t>Common </a:t>
            </a:r>
            <a:r>
              <a:rPr lang="en-US" sz="2200" b="1" dirty="0">
                <a:solidFill>
                  <a:srgbClr val="212121"/>
                </a:solidFill>
                <a:latin typeface="+mj-lt"/>
                <a:cs typeface="Times New Roman"/>
              </a:rPr>
              <a:t>causes of work-related</a:t>
            </a:r>
            <a:r>
              <a:rPr lang="en-US" sz="2200" b="1" spc="5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b="1" spc="-5" dirty="0">
                <a:solidFill>
                  <a:srgbClr val="212121"/>
                </a:solidFill>
                <a:latin typeface="+mj-lt"/>
                <a:cs typeface="Times New Roman"/>
              </a:rPr>
              <a:t>stress are :</a:t>
            </a:r>
          </a:p>
          <a:p>
            <a:pPr marL="12700" algn="r">
              <a:lnSpc>
                <a:spcPct val="100000"/>
              </a:lnSpc>
            </a:pP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Job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 dissatisfaction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spc="-20" dirty="0">
                <a:solidFill>
                  <a:srgbClr val="1F2023"/>
                </a:solidFill>
                <a:latin typeface="+mj-lt"/>
                <a:cs typeface="Times New Roman"/>
              </a:rPr>
              <a:t>Workplace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 injury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Stress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Discrimination, bullying,</a:t>
            </a:r>
            <a:r>
              <a:rPr lang="en-US" sz="2200" spc="-40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violence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Retirement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Long</a:t>
            </a:r>
            <a:r>
              <a:rPr lang="en-US" sz="2200" spc="-1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hours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Heavy</a:t>
            </a:r>
            <a:r>
              <a:rPr lang="en-US" sz="2200" spc="-1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workload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Poor</a:t>
            </a: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pay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spcBef>
                <a:spcPts val="5"/>
              </a:spcBef>
              <a:buClr>
                <a:srgbClr val="FF00FF"/>
              </a:buClr>
              <a:buFont typeface="Wingdings" panose="05000000000000000000" pitchFamily="2" charset="2"/>
              <a:buChar char="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Boredom</a:t>
            </a: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Safety</a:t>
            </a:r>
            <a:r>
              <a:rPr lang="en-US" sz="2200" spc="-1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issues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¯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No</a:t>
            </a: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promotions</a:t>
            </a:r>
            <a:endParaRPr lang="en-US" sz="2200" dirty="0">
              <a:latin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6019F-63B3-BCFD-BD9E-B54E30C241C7}"/>
              </a:ext>
            </a:extLst>
          </p:cNvPr>
          <p:cNvSpPr txBox="1"/>
          <p:nvPr/>
        </p:nvSpPr>
        <p:spPr>
          <a:xfrm>
            <a:off x="-228600" y="152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Health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and</a:t>
            </a:r>
            <a:r>
              <a:rPr lang="en-US" sz="2800" b="1" spc="-15" dirty="0">
                <a:solidFill>
                  <a:srgbClr val="FF0000"/>
                </a:solidFill>
                <a:latin typeface="+mj-lt"/>
                <a:cs typeface="Times New Roman"/>
              </a:rPr>
              <a:t>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Profession</a:t>
            </a:r>
            <a:endParaRPr lang="en-US" sz="2800" dirty="0">
              <a:solidFill>
                <a:srgbClr val="FF0000"/>
              </a:solidFill>
              <a:latin typeface="+mj-l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DB9227-2E5E-96F5-D6F8-DDAEC073FED1}"/>
              </a:ext>
            </a:extLst>
          </p:cNvPr>
          <p:cNvSpPr txBox="1"/>
          <p:nvPr/>
        </p:nvSpPr>
        <p:spPr>
          <a:xfrm>
            <a:off x="3581400" y="4495800"/>
            <a:ext cx="533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¯"/>
              <a:tabLst>
                <a:tab pos="299085" algn="l"/>
                <a:tab pos="299720" algn="l"/>
              </a:tabLst>
            </a:pP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Job </a:t>
            </a: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insecurity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Conflicts with </a:t>
            </a: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co-workers or</a:t>
            </a:r>
            <a:r>
              <a:rPr lang="en-US" sz="2200" spc="-2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rgbClr val="212121"/>
                </a:solidFill>
                <a:latin typeface="+mj-lt"/>
                <a:cs typeface="Times New Roman"/>
              </a:rPr>
              <a:t>bosses.</a:t>
            </a:r>
            <a:endParaRPr lang="en-US" sz="2200" dirty="0">
              <a:latin typeface="+mj-lt"/>
              <a:cs typeface="Times New Roman"/>
            </a:endParaRPr>
          </a:p>
          <a:p>
            <a:pPr marL="354965" indent="-342900">
              <a:lnSpc>
                <a:spcPct val="100000"/>
              </a:lnSpc>
              <a:buClr>
                <a:srgbClr val="FF00FF"/>
              </a:buClr>
              <a:buFont typeface="Wingdings" panose="05000000000000000000" pitchFamily="2" charset="2"/>
              <a:buChar char="¯"/>
              <a:tabLst>
                <a:tab pos="299085" algn="l"/>
                <a:tab pos="299720" algn="l"/>
              </a:tabLst>
            </a:pPr>
            <a:r>
              <a:rPr lang="en-US" sz="2200" dirty="0">
                <a:solidFill>
                  <a:srgbClr val="212121"/>
                </a:solidFill>
                <a:latin typeface="+mj-lt"/>
                <a:cs typeface="Times New Roman"/>
              </a:rPr>
              <a:t>Unemployment</a:t>
            </a:r>
            <a:endParaRPr lang="en-US" sz="2200" dirty="0">
              <a:latin typeface="+mj-lt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675620"/>
            <a:ext cx="8839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5"/>
              </a:spcBef>
              <a:buClr>
                <a:srgbClr val="0000FF"/>
              </a:buClr>
              <a:buFont typeface="Wingdings" panose="05000000000000000000" pitchFamily="2" charset="2"/>
              <a:buChar char="Ø"/>
              <a:tabLst>
                <a:tab pos="299720" algn="l"/>
              </a:tabLst>
            </a:pP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The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stress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of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dealing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with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changing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work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circumstances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that are out of your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control 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can increase the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risk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of health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problems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such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as </a:t>
            </a:r>
            <a:r>
              <a:rPr sz="2200" dirty="0">
                <a:solidFill>
                  <a:srgbClr val="212121"/>
                </a:solidFill>
                <a:latin typeface="+mj-lt"/>
                <a:cs typeface="Times New Roman"/>
              </a:rPr>
              <a:t>anxiety and</a:t>
            </a:r>
            <a:r>
              <a:rPr sz="2200" spc="-50" dirty="0">
                <a:solidFill>
                  <a:srgbClr val="212121"/>
                </a:solidFill>
                <a:latin typeface="+mj-lt"/>
                <a:cs typeface="Times New Roman"/>
              </a:rPr>
              <a:t> </a:t>
            </a:r>
            <a:r>
              <a:rPr sz="2200" spc="-5" dirty="0">
                <a:solidFill>
                  <a:srgbClr val="212121"/>
                </a:solidFill>
                <a:latin typeface="+mj-lt"/>
                <a:cs typeface="Times New Roman"/>
              </a:rPr>
              <a:t>depression</a:t>
            </a:r>
            <a:endParaRPr sz="2200" dirty="0">
              <a:latin typeface="+mj-lt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6019F-63B3-BCFD-BD9E-B54E30C241C7}"/>
              </a:ext>
            </a:extLst>
          </p:cNvPr>
          <p:cNvSpPr txBox="1"/>
          <p:nvPr/>
        </p:nvSpPr>
        <p:spPr>
          <a:xfrm>
            <a:off x="-76200" y="152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Health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and</a:t>
            </a:r>
            <a:r>
              <a:rPr lang="en-US" sz="2800" b="1" spc="-15" dirty="0">
                <a:solidFill>
                  <a:srgbClr val="FF0000"/>
                </a:solidFill>
                <a:latin typeface="+mj-lt"/>
                <a:cs typeface="Times New Roman"/>
              </a:rPr>
              <a:t>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Profession</a:t>
            </a:r>
            <a:endParaRPr lang="en-US" sz="2800" dirty="0">
              <a:solidFill>
                <a:srgbClr val="FF0000"/>
              </a:solidFill>
              <a:latin typeface="+mj-lt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7CA7E-C514-5913-0A71-3F623540CBE4}"/>
              </a:ext>
            </a:extLst>
          </p:cNvPr>
          <p:cNvSpPr txBox="1"/>
          <p:nvPr/>
        </p:nvSpPr>
        <p:spPr>
          <a:xfrm>
            <a:off x="163085" y="1795046"/>
            <a:ext cx="876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Disparities </a:t>
            </a:r>
            <a:r>
              <a:rPr lang="en-US" sz="2800" b="1" dirty="0">
                <a:solidFill>
                  <a:srgbClr val="FF0000"/>
                </a:solidFill>
                <a:latin typeface="+mj-lt"/>
                <a:cs typeface="Times New Roman"/>
              </a:rPr>
              <a:t>of </a:t>
            </a:r>
            <a:r>
              <a:rPr lang="en-US" sz="2800" b="1" spc="-5" dirty="0">
                <a:solidFill>
                  <a:srgbClr val="FF0000"/>
                </a:solidFill>
                <a:latin typeface="+mj-lt"/>
                <a:cs typeface="Times New Roman"/>
              </a:rPr>
              <a:t>health in different vulnerable</a:t>
            </a:r>
            <a:r>
              <a:rPr lang="en-US" sz="2800" b="1" spc="55" dirty="0">
                <a:solidFill>
                  <a:srgbClr val="FF0000"/>
                </a:solidFill>
                <a:latin typeface="+mj-lt"/>
                <a:cs typeface="Times New Roman"/>
              </a:rPr>
              <a:t> </a:t>
            </a:r>
            <a:r>
              <a:rPr lang="en-US" sz="2800" b="1" spc="-10" dirty="0">
                <a:solidFill>
                  <a:srgbClr val="FF0000"/>
                </a:solidFill>
                <a:latin typeface="+mj-lt"/>
                <a:cs typeface="Times New Roman"/>
              </a:rPr>
              <a:t>groups</a:t>
            </a:r>
            <a:endParaRPr lang="en-US" sz="2800" dirty="0">
              <a:solidFill>
                <a:srgbClr val="FF0000"/>
              </a:solidFill>
              <a:latin typeface="+mj-lt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C5AD0-4C3D-0AC6-0085-FF2A7917BE71}"/>
              </a:ext>
            </a:extLst>
          </p:cNvPr>
          <p:cNvSpPr txBox="1"/>
          <p:nvPr/>
        </p:nvSpPr>
        <p:spPr>
          <a:xfrm>
            <a:off x="304800" y="2318266"/>
            <a:ext cx="8382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Health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disparity is “a particular </a:t>
            </a:r>
            <a:r>
              <a:rPr lang="en-US" sz="2200" spc="5" dirty="0">
                <a:solidFill>
                  <a:srgbClr val="1F2023"/>
                </a:solidFill>
                <a:latin typeface="+mj-lt"/>
                <a:cs typeface="Times New Roman"/>
              </a:rPr>
              <a:t>type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of health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difference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that is closely linked</a:t>
            </a:r>
            <a:r>
              <a:rPr lang="en-US" sz="2200" spc="-150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with  social,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economic, and/or environmental</a:t>
            </a:r>
            <a:r>
              <a:rPr lang="en-US" sz="2200" spc="-45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disadvantage” . </a:t>
            </a:r>
            <a:r>
              <a:rPr lang="en-US" sz="2200" dirty="0">
                <a:latin typeface="+mj-lt"/>
                <a:cs typeface="Times New Roman"/>
              </a:rPr>
              <a:t>Certain groups in the society often encounter </a:t>
            </a:r>
            <a:r>
              <a:rPr lang="en-US" sz="2200" spc="-5" dirty="0">
                <a:latin typeface="+mj-lt"/>
                <a:cs typeface="Times New Roman"/>
              </a:rPr>
              <a:t>discriminatory </a:t>
            </a:r>
            <a:r>
              <a:rPr lang="en-US" sz="2200" dirty="0">
                <a:latin typeface="+mj-lt"/>
                <a:cs typeface="Times New Roman"/>
              </a:rPr>
              <a:t>treatment and</a:t>
            </a:r>
            <a:r>
              <a:rPr lang="en-US" sz="2200" spc="-95" dirty="0">
                <a:latin typeface="+mj-lt"/>
                <a:cs typeface="Times New Roman"/>
              </a:rPr>
              <a:t> </a:t>
            </a:r>
            <a:r>
              <a:rPr lang="en-US" sz="2200" dirty="0">
                <a:latin typeface="+mj-lt"/>
                <a:cs typeface="Times New Roman"/>
              </a:rPr>
              <a:t>need  special attention to avoid potential exploitation are called vulnerable</a:t>
            </a:r>
            <a:r>
              <a:rPr lang="en-US" sz="2200" spc="-140" dirty="0">
                <a:latin typeface="+mj-lt"/>
                <a:cs typeface="Times New Roman"/>
              </a:rPr>
              <a:t> </a:t>
            </a:r>
            <a:r>
              <a:rPr lang="en-US" sz="2200" spc="-5" dirty="0">
                <a:latin typeface="+mj-lt"/>
                <a:cs typeface="Times New Roman"/>
              </a:rPr>
              <a:t>Groups</a:t>
            </a:r>
            <a:endParaRPr lang="en-US" sz="2200" dirty="0">
              <a:latin typeface="+mj-lt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80644F-A404-ADA2-1184-B2DBB53D4A45}"/>
              </a:ext>
            </a:extLst>
          </p:cNvPr>
          <p:cNvSpPr txBox="1"/>
          <p:nvPr/>
        </p:nvSpPr>
        <p:spPr>
          <a:xfrm>
            <a:off x="380998" y="4441924"/>
            <a:ext cx="8327173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9085" indent="-287020">
              <a:lnSpc>
                <a:spcPct val="100000"/>
              </a:lnSpc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Race and ethnicity: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caste classifications</a:t>
            </a: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85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spc="-15" dirty="0">
                <a:solidFill>
                  <a:srgbClr val="1F2023"/>
                </a:solidFill>
                <a:latin typeface="+mj-lt"/>
                <a:cs typeface="Times New Roman"/>
              </a:rPr>
              <a:t>Gender.</a:t>
            </a: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Sexual identity and</a:t>
            </a:r>
            <a:r>
              <a:rPr lang="en-US" sz="2200" spc="-25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orientation.</a:t>
            </a: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Disability status or special health care</a:t>
            </a:r>
            <a:r>
              <a:rPr lang="en-US" sz="2200" spc="-75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needs.</a:t>
            </a:r>
            <a:endParaRPr lang="en-US" sz="2200" dirty="0">
              <a:latin typeface="+mj-lt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1080"/>
              </a:spcBef>
              <a:buClr>
                <a:srgbClr val="0000FF"/>
              </a:buClr>
              <a:buFont typeface="Wingdings"/>
              <a:buChar char=""/>
              <a:tabLst>
                <a:tab pos="299720" algn="l"/>
              </a:tabLst>
            </a:pPr>
            <a:r>
              <a:rPr lang="en-US" sz="2200" dirty="0">
                <a:solidFill>
                  <a:srgbClr val="1F2023"/>
                </a:solidFill>
                <a:latin typeface="+mj-lt"/>
                <a:cs typeface="Times New Roman"/>
              </a:rPr>
              <a:t>Geographic location (rural, urban and</a:t>
            </a:r>
            <a:r>
              <a:rPr lang="en-US" sz="2200" spc="-50" dirty="0">
                <a:solidFill>
                  <a:srgbClr val="1F2023"/>
                </a:solidFill>
                <a:latin typeface="+mj-lt"/>
                <a:cs typeface="Times New Roman"/>
              </a:rPr>
              <a:t> </a:t>
            </a:r>
            <a:r>
              <a:rPr lang="en-US" sz="2200" spc="-5" dirty="0">
                <a:solidFill>
                  <a:srgbClr val="1F2023"/>
                </a:solidFill>
                <a:latin typeface="+mj-lt"/>
                <a:cs typeface="Times New Roman"/>
              </a:rPr>
              <a:t>migrants)</a:t>
            </a:r>
            <a:endParaRPr lang="en-US" sz="2200" dirty="0">
              <a:latin typeface="+mj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3388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08C4CB-497F-1EC5-A2CB-31F09F52AA6C}"/>
              </a:ext>
            </a:extLst>
          </p:cNvPr>
          <p:cNvSpPr txBox="1"/>
          <p:nvPr/>
        </p:nvSpPr>
        <p:spPr>
          <a:xfrm>
            <a:off x="609600" y="1371600"/>
            <a:ext cx="8229600" cy="335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500" dirty="0">
                <a:effectLst/>
                <a:latin typeface="+mj-lt"/>
                <a:ea typeface="TimesNewRomanPSMT"/>
                <a:cs typeface="Times New Roman" panose="02020603050405020304" pitchFamily="18" charset="0"/>
              </a:rPr>
              <a:t>Link for </a:t>
            </a:r>
            <a:r>
              <a:rPr lang="en-IN" sz="25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YouTube videos/ Animation videos: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IN" sz="25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5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https://www.youtube.com/watch?v=71_NkXgAK1g</a:t>
            </a:r>
            <a:endParaRPr lang="en-IN" sz="25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5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500" dirty="0">
                <a:effectLst/>
                <a:latin typeface="+mj-lt"/>
                <a:ea typeface="TimesNewRomanPSMT"/>
                <a:cs typeface="Times New Roman" panose="02020603050405020304" pitchFamily="18" charset="0"/>
                <a:hlinkClick r:id="rId3"/>
              </a:rPr>
              <a:t>https://www.youtube.com/watch?v=mwuahwbIBnE</a:t>
            </a:r>
            <a:endParaRPr lang="en-IN" sz="2500" dirty="0">
              <a:effectLst/>
              <a:latin typeface="+mj-lt"/>
              <a:ea typeface="TimesNewRomanPSMT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IN" sz="2500" dirty="0">
              <a:latin typeface="+mj-lt"/>
              <a:ea typeface="TimesNewRomanPSMT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IN" sz="25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5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44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</TotalTime>
  <Words>1766</Words>
  <Application>Microsoft Office PowerPoint</Application>
  <PresentationFormat>On-screen Show (4:3)</PresentationFormat>
  <Paragraphs>257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Algerian</vt:lpstr>
      <vt:lpstr>Arial</vt:lpstr>
      <vt:lpstr>Baguet Script</vt:lpstr>
      <vt:lpstr>Calibri</vt:lpstr>
      <vt:lpstr>Carlito</vt:lpstr>
      <vt:lpstr>Century Gothic</vt:lpstr>
      <vt:lpstr>Symbol</vt:lpstr>
      <vt:lpstr>Times New Roman</vt:lpstr>
      <vt:lpstr>Wingdings</vt:lpstr>
      <vt:lpstr>Wingdings 3</vt:lpstr>
      <vt:lpstr>Wisp</vt:lpstr>
      <vt:lpstr>PowerPoint Presentation</vt:lpstr>
      <vt:lpstr>What Is health?  In 1948, the World Health Organization (WHO) constitution states :   “Health is a  state of complete physical, mental and social well-being and not merely the absence  of disease and infirmity”.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health important now?</vt:lpstr>
      <vt:lpstr>What influences Health?</vt:lpstr>
      <vt:lpstr>What influences Health?</vt:lpstr>
      <vt:lpstr>What influences Health?</vt:lpstr>
      <vt:lpstr>PowerPoint Presentation</vt:lpstr>
      <vt:lpstr>Health Beliefs</vt:lpstr>
      <vt:lpstr>PowerPoint Presentation</vt:lpstr>
      <vt:lpstr>Health and Advertisements</vt:lpstr>
      <vt:lpstr>Good Health Benefits </vt:lpstr>
      <vt:lpstr>Good Health Benefits </vt:lpstr>
      <vt:lpstr>Good Health Benefits </vt:lpstr>
      <vt:lpstr>Health and Society</vt:lpstr>
      <vt:lpstr>PowerPoint Presentation</vt:lpstr>
      <vt:lpstr>PowerPoint Presentation</vt:lpstr>
      <vt:lpstr>PowerPoint Presentation</vt:lpstr>
      <vt:lpstr>Health  and Personality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“Studies on molecular mechanism of bioavailability and bio-efficacy of nanoemulsion based delivery of carotenoids in human intestinal cell lines”.</dc:title>
  <dc:creator>YASHWANTH</dc:creator>
  <cp:lastModifiedBy>PRABHA RAVI</cp:lastModifiedBy>
  <cp:revision>23</cp:revision>
  <dcterms:created xsi:type="dcterms:W3CDTF">2022-05-24T05:42:39Z</dcterms:created>
  <dcterms:modified xsi:type="dcterms:W3CDTF">2022-05-30T15:45:31Z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2022-05-24T00:00:00Z</vt:filetime>
  </property>
</Properties>
</file>