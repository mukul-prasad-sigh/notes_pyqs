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4" r:id="rId4"/>
    <p:sldId id="258" r:id="rId5"/>
    <p:sldId id="273"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0" d="100"/>
          <a:sy n="70" d="100"/>
        </p:scale>
        <p:origin x="5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808CB2F-02F2-4851-ACCB-FFD967DFE81F}"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533740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08CB2F-02F2-4851-ACCB-FFD967DFE81F}"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36346754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08CB2F-02F2-4851-ACCB-FFD967DFE81F}"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3703629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808CB2F-02F2-4851-ACCB-FFD967DFE81F}" type="datetimeFigureOut">
              <a:rPr lang="en-US" smtClean="0"/>
              <a:t>3/28/2022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440702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808CB2F-02F2-4851-ACCB-FFD967DFE81F}" type="datetimeFigureOut">
              <a:rPr lang="en-US" smtClean="0"/>
              <a:t>3/28/2022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2312845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08CB2F-02F2-4851-ACCB-FFD967DFE81F}" type="datetimeFigureOut">
              <a:rPr lang="en-US" smtClean="0"/>
              <a:t>3/28/2022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1421320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08CB2F-02F2-4851-ACCB-FFD967DFE81F}" type="datetimeFigureOut">
              <a:rPr lang="en-US" smtClean="0"/>
              <a:t>3/28/2022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2687345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08CB2F-02F2-4851-ACCB-FFD967DFE81F}" type="datetimeFigureOut">
              <a:rPr lang="en-US" smtClean="0"/>
              <a:t>3/28/2022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1701892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08CB2F-02F2-4851-ACCB-FFD967DFE81F}" type="datetimeFigureOut">
              <a:rPr lang="en-US" smtClean="0"/>
              <a:t>3/28/2022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582009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08CB2F-02F2-4851-ACCB-FFD967DFE81F}"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401148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08CB2F-02F2-4851-ACCB-FFD967DFE81F}" type="datetimeFigureOut">
              <a:rPr lang="en-US" smtClean="0"/>
              <a:t>3/28/2022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A8AC8F-CA04-4206-954B-8302263EBF7B}" type="slidenum">
              <a:rPr lang="en-US" smtClean="0"/>
              <a:t>‹#›</a:t>
            </a:fld>
            <a:endParaRPr lang="en-US"/>
          </a:p>
        </p:txBody>
      </p:sp>
    </p:spTree>
    <p:extLst>
      <p:ext uri="{BB962C8B-B14F-4D97-AF65-F5344CB8AC3E}">
        <p14:creationId xmlns:p14="http://schemas.microsoft.com/office/powerpoint/2010/main" val="459914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08CB2F-02F2-4851-ACCB-FFD967DFE81F}" type="datetimeFigureOut">
              <a:rPr lang="en-US" smtClean="0"/>
              <a:t>3/28/2022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A8AC8F-CA04-4206-954B-8302263EBF7B}" type="slidenum">
              <a:rPr lang="en-US" smtClean="0"/>
              <a:t>‹#›</a:t>
            </a:fld>
            <a:endParaRPr lang="en-US"/>
          </a:p>
        </p:txBody>
      </p:sp>
    </p:spTree>
    <p:extLst>
      <p:ext uri="{BB962C8B-B14F-4D97-AF65-F5344CB8AC3E}">
        <p14:creationId xmlns:p14="http://schemas.microsoft.com/office/powerpoint/2010/main" val="1414349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a:t>Communicative English</a:t>
            </a:r>
            <a:br>
              <a:rPr lang="en-US" sz="4800" dirty="0"/>
            </a:br>
            <a:r>
              <a:rPr lang="en-US" sz="3600" dirty="0"/>
              <a:t>Department of Humanities </a:t>
            </a:r>
            <a:br>
              <a:rPr lang="en-US" sz="3600" dirty="0"/>
            </a:br>
            <a:endParaRPr lang="en-US" sz="3600" dirty="0"/>
          </a:p>
        </p:txBody>
      </p:sp>
      <p:sp>
        <p:nvSpPr>
          <p:cNvPr id="3" name="Subtitle 2"/>
          <p:cNvSpPr>
            <a:spLocks noGrp="1"/>
          </p:cNvSpPr>
          <p:nvPr>
            <p:ph type="subTitle" idx="1"/>
          </p:nvPr>
        </p:nvSpPr>
        <p:spPr>
          <a:xfrm>
            <a:off x="1524000" y="3602038"/>
            <a:ext cx="8984974" cy="1655762"/>
          </a:xfrm>
        </p:spPr>
        <p:txBody>
          <a:bodyPr/>
          <a:lstStyle/>
          <a:p>
            <a:r>
              <a:rPr lang="en-US" sz="3600" dirty="0"/>
              <a:t>Email Etiquette                                                               </a:t>
            </a:r>
            <a:endParaRPr lang="en-US" dirty="0"/>
          </a:p>
          <a:p>
            <a:r>
              <a:rPr lang="en-US" dirty="0"/>
              <a:t>  -Dr.  Kiran Magavi</a:t>
            </a:r>
          </a:p>
        </p:txBody>
      </p:sp>
    </p:spTree>
    <p:extLst>
      <p:ext uri="{BB962C8B-B14F-4D97-AF65-F5344CB8AC3E}">
        <p14:creationId xmlns:p14="http://schemas.microsoft.com/office/powerpoint/2010/main" val="1153005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Email etiquette </a:t>
            </a:r>
          </a:p>
        </p:txBody>
      </p:sp>
      <p:sp>
        <p:nvSpPr>
          <p:cNvPr id="3" name="Content Placeholder 2"/>
          <p:cNvSpPr>
            <a:spLocks noGrp="1"/>
          </p:cNvSpPr>
          <p:nvPr>
            <p:ph idx="1"/>
          </p:nvPr>
        </p:nvSpPr>
        <p:spPr/>
        <p:txBody>
          <a:bodyPr/>
          <a:lstStyle/>
          <a:p>
            <a:r>
              <a:rPr lang="en-US" dirty="0"/>
              <a:t>Email etiquette refers to the principles of behavior that one should use when writing or answering email messages. It is also known as the code of conduct for email communication. Email etiquette depends upon to whom we are writing- Friends &amp; Relatives, Partners, Customers, Superior or Subordinates.</a:t>
            </a:r>
          </a:p>
          <a:p>
            <a:r>
              <a:rPr lang="en-US" dirty="0"/>
              <a:t>Email etiquette is especially important in the work place </a:t>
            </a:r>
          </a:p>
          <a:p>
            <a:endParaRPr lang="en-US" dirty="0"/>
          </a:p>
        </p:txBody>
      </p:sp>
    </p:spTree>
    <p:extLst>
      <p:ext uri="{BB962C8B-B14F-4D97-AF65-F5344CB8AC3E}">
        <p14:creationId xmlns:p14="http://schemas.microsoft.com/office/powerpoint/2010/main" val="2575825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purpose of Emails </a:t>
            </a:r>
          </a:p>
        </p:txBody>
      </p:sp>
      <p:sp>
        <p:nvSpPr>
          <p:cNvPr id="3" name="Content Placeholder 2"/>
          <p:cNvSpPr>
            <a:spLocks noGrp="1"/>
          </p:cNvSpPr>
          <p:nvPr>
            <p:ph idx="1"/>
          </p:nvPr>
        </p:nvSpPr>
        <p:spPr/>
        <p:txBody>
          <a:bodyPr>
            <a:normAutofit lnSpcReduction="10000"/>
          </a:bodyPr>
          <a:lstStyle/>
          <a:p>
            <a:r>
              <a:rPr lang="en-US" dirty="0"/>
              <a:t>Quick communication </a:t>
            </a:r>
          </a:p>
          <a:p>
            <a:r>
              <a:rPr lang="en-US" dirty="0"/>
              <a:t>Share PROFESSIONAL information</a:t>
            </a:r>
          </a:p>
          <a:p>
            <a:r>
              <a:rPr lang="en-US" dirty="0"/>
              <a:t>Keep records of communication </a:t>
            </a:r>
          </a:p>
          <a:p>
            <a:endParaRPr lang="en-US" dirty="0"/>
          </a:p>
          <a:p>
            <a:pPr marL="0" indent="0">
              <a:buNone/>
            </a:pPr>
            <a:r>
              <a:rPr lang="en-US" dirty="0"/>
              <a:t>Hence DO NOT </a:t>
            </a:r>
          </a:p>
          <a:p>
            <a:r>
              <a:rPr lang="en-US" dirty="0"/>
              <a:t>share funny email forwards that your friends send you</a:t>
            </a:r>
          </a:p>
          <a:p>
            <a:r>
              <a:rPr lang="en-US" dirty="0"/>
              <a:t>share political or religious views</a:t>
            </a:r>
          </a:p>
          <a:p>
            <a:r>
              <a:rPr lang="en-US" dirty="0"/>
              <a:t>Harass others through mails</a:t>
            </a:r>
          </a:p>
          <a:p>
            <a:r>
              <a:rPr lang="en-US" dirty="0"/>
              <a:t>Involve in inappropriate conversations</a:t>
            </a:r>
          </a:p>
          <a:p>
            <a:pPr marL="0" indent="0">
              <a:buNone/>
            </a:pPr>
            <a:endParaRPr lang="en-US" dirty="0"/>
          </a:p>
          <a:p>
            <a:endParaRPr lang="en-US" dirty="0"/>
          </a:p>
        </p:txBody>
      </p:sp>
    </p:spTree>
    <p:extLst>
      <p:ext uri="{BB962C8B-B14F-4D97-AF65-F5344CB8AC3E}">
        <p14:creationId xmlns:p14="http://schemas.microsoft.com/office/powerpoint/2010/main" val="1999231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212529"/>
                </a:solidFill>
                <a:latin typeface="Heebo"/>
              </a:rPr>
              <a:t>1. </a:t>
            </a:r>
            <a:r>
              <a:rPr lang="en-US" dirty="0">
                <a:solidFill>
                  <a:srgbClr val="212529"/>
                </a:solidFill>
                <a:latin typeface="+mn-lt"/>
              </a:rPr>
              <a:t>Include a clear, direct subject line.</a:t>
            </a:r>
            <a:br>
              <a:rPr lang="en-US" dirty="0">
                <a:solidFill>
                  <a:srgbClr val="212529"/>
                </a:solidFill>
                <a:latin typeface="+mn-lt"/>
              </a:rPr>
            </a:br>
            <a:endParaRPr lang="en-US" dirty="0">
              <a:latin typeface="+mn-lt"/>
            </a:endParaRPr>
          </a:p>
        </p:txBody>
      </p:sp>
      <p:sp>
        <p:nvSpPr>
          <p:cNvPr id="3" name="Content Placeholder 2"/>
          <p:cNvSpPr>
            <a:spLocks noGrp="1"/>
          </p:cNvSpPr>
          <p:nvPr>
            <p:ph idx="1"/>
          </p:nvPr>
        </p:nvSpPr>
        <p:spPr/>
        <p:txBody>
          <a:bodyPr/>
          <a:lstStyle/>
          <a:p>
            <a:pPr lvl="0"/>
            <a:r>
              <a:rPr lang="en-US" dirty="0">
                <a:solidFill>
                  <a:srgbClr val="212529"/>
                </a:solidFill>
                <a:latin typeface="Roboto" panose="02000000000000000000" pitchFamily="2" charset="0"/>
              </a:rPr>
              <a:t>Examples of a good subject line include "Meeting date changed," "Quick question about your presentation," or "Suggestions for the proposal.“</a:t>
            </a:r>
          </a:p>
          <a:p>
            <a:pPr lvl="0"/>
            <a:endParaRPr lang="en-US" dirty="0">
              <a:solidFill>
                <a:srgbClr val="212529"/>
              </a:solidFill>
              <a:latin typeface="Roboto" panose="02000000000000000000" pitchFamily="2" charset="0"/>
            </a:endParaRPr>
          </a:p>
          <a:p>
            <a:pPr lvl="0"/>
            <a:r>
              <a:rPr lang="en-US" dirty="0">
                <a:solidFill>
                  <a:srgbClr val="212529"/>
                </a:solidFill>
                <a:latin typeface="Roboto" panose="02000000000000000000" pitchFamily="2" charset="0"/>
              </a:rPr>
              <a:t>People often decide whether to open an email based on the subject line.</a:t>
            </a:r>
          </a:p>
          <a:p>
            <a:pPr lvl="0"/>
            <a:endParaRPr lang="en-US" dirty="0">
              <a:solidFill>
                <a:prstClr val="black"/>
              </a:solidFill>
            </a:endParaRPr>
          </a:p>
          <a:p>
            <a:endParaRPr lang="en-US" dirty="0"/>
          </a:p>
        </p:txBody>
      </p:sp>
    </p:spTree>
    <p:extLst>
      <p:ext uri="{BB962C8B-B14F-4D97-AF65-F5344CB8AC3E}">
        <p14:creationId xmlns:p14="http://schemas.microsoft.com/office/powerpoint/2010/main" val="2929471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Do not write in ALL CAPITALS </a:t>
            </a:r>
          </a:p>
        </p:txBody>
      </p:sp>
      <p:sp>
        <p:nvSpPr>
          <p:cNvPr id="3" name="Content Placeholder 2"/>
          <p:cNvSpPr>
            <a:spLocks noGrp="1"/>
          </p:cNvSpPr>
          <p:nvPr>
            <p:ph idx="1"/>
          </p:nvPr>
        </p:nvSpPr>
        <p:spPr/>
        <p:txBody>
          <a:bodyPr/>
          <a:lstStyle/>
          <a:p>
            <a:pPr marL="0" lvl="0" indent="0" defTabSz="457200">
              <a:lnSpc>
                <a:spcPct val="100000"/>
              </a:lnSpc>
              <a:buClr>
                <a:srgbClr val="90C226"/>
              </a:buClr>
              <a:buSzPct val="80000"/>
              <a:buNone/>
            </a:pPr>
            <a:r>
              <a:rPr lang="en-US" sz="2400" dirty="0">
                <a:latin typeface="Trebuchet MS" panose="020B0603020202020204"/>
              </a:rPr>
              <a:t>Writing in all capitals can convey that you are shouting in your message, and nobody likes to be yelled at. </a:t>
            </a:r>
          </a:p>
          <a:p>
            <a:pPr marL="0" lvl="0" indent="0" defTabSz="457200">
              <a:lnSpc>
                <a:spcPct val="100000"/>
              </a:lnSpc>
              <a:buClr>
                <a:srgbClr val="90C226"/>
              </a:buClr>
              <a:buSzPct val="80000"/>
              <a:buNone/>
            </a:pPr>
            <a:r>
              <a:rPr lang="en-US" sz="2400" dirty="0">
                <a:latin typeface="Trebuchet MS" panose="020B0603020202020204"/>
              </a:rPr>
              <a:t>Consider other ways to get your message across while conveying its importance. </a:t>
            </a:r>
          </a:p>
          <a:p>
            <a:pPr marL="0" lvl="0" indent="0" defTabSz="457200">
              <a:lnSpc>
                <a:spcPct val="100000"/>
              </a:lnSpc>
              <a:buClr>
                <a:srgbClr val="90C226"/>
              </a:buClr>
              <a:buSzPct val="80000"/>
              <a:buNone/>
            </a:pPr>
            <a:r>
              <a:rPr lang="en-US" sz="2400" dirty="0">
                <a:latin typeface="Trebuchet MS" panose="020B0603020202020204"/>
              </a:rPr>
              <a:t>Using all capitals can be annoying and trigger an unintended response.</a:t>
            </a:r>
          </a:p>
          <a:p>
            <a:pPr marL="0" lvl="0" indent="0" defTabSz="457200">
              <a:lnSpc>
                <a:spcPct val="100000"/>
              </a:lnSpc>
              <a:buClr>
                <a:srgbClr val="90C226"/>
              </a:buClr>
              <a:buSzPct val="80000"/>
              <a:buNone/>
            </a:pPr>
            <a:endParaRPr lang="en-US" sz="2400" dirty="0">
              <a:solidFill>
                <a:prstClr val="black">
                  <a:lumMod val="50000"/>
                  <a:lumOff val="50000"/>
                </a:prstClr>
              </a:solidFill>
              <a:latin typeface="Trebuchet MS" panose="020B0603020202020204"/>
            </a:endParaRPr>
          </a:p>
          <a:p>
            <a:endParaRPr lang="en-US" dirty="0"/>
          </a:p>
          <a:p>
            <a:endParaRPr lang="en-US" dirty="0"/>
          </a:p>
        </p:txBody>
      </p:sp>
    </p:spTree>
    <p:extLst>
      <p:ext uri="{BB962C8B-B14F-4D97-AF65-F5344CB8AC3E}">
        <p14:creationId xmlns:p14="http://schemas.microsoft.com/office/powerpoint/2010/main" val="851113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Use a professional email address.</a:t>
            </a:r>
            <a:br>
              <a:rPr lang="en-US" dirty="0"/>
            </a:br>
            <a:endParaRPr lang="en-US" dirty="0"/>
          </a:p>
        </p:txBody>
      </p:sp>
      <p:sp>
        <p:nvSpPr>
          <p:cNvPr id="3" name="Content Placeholder 2"/>
          <p:cNvSpPr>
            <a:spLocks noGrp="1"/>
          </p:cNvSpPr>
          <p:nvPr>
            <p:ph idx="1"/>
          </p:nvPr>
        </p:nvSpPr>
        <p:spPr/>
        <p:txBody>
          <a:bodyPr/>
          <a:lstStyle/>
          <a:p>
            <a:r>
              <a:rPr lang="en-US" dirty="0"/>
              <a:t>If you work for a company, you should use your company email address. </a:t>
            </a:r>
          </a:p>
          <a:p>
            <a:r>
              <a:rPr lang="en-US" dirty="0"/>
              <a:t>But if you use a personal email account--whether you are self-employed or just like using it occasionally for work-related correspondences ---you should be careful when choosing that address</a:t>
            </a:r>
          </a:p>
          <a:p>
            <a:r>
              <a:rPr lang="en-US" dirty="0"/>
              <a:t>You should always have an email address that conveys your name so that the recipient knows exactly who is sending the email.</a:t>
            </a:r>
          </a:p>
        </p:txBody>
      </p:sp>
    </p:spTree>
    <p:extLst>
      <p:ext uri="{BB962C8B-B14F-4D97-AF65-F5344CB8AC3E}">
        <p14:creationId xmlns:p14="http://schemas.microsoft.com/office/powerpoint/2010/main" val="943052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4. Think twice before hitting ‘reply all’.</a:t>
            </a:r>
            <a:br>
              <a:rPr lang="en-US" dirty="0"/>
            </a:br>
            <a:endParaRPr lang="en-US" dirty="0"/>
          </a:p>
        </p:txBody>
      </p:sp>
      <p:sp>
        <p:nvSpPr>
          <p:cNvPr id="3" name="Content Placeholder 2"/>
          <p:cNvSpPr>
            <a:spLocks noGrp="1"/>
          </p:cNvSpPr>
          <p:nvPr>
            <p:ph idx="1"/>
          </p:nvPr>
        </p:nvSpPr>
        <p:spPr/>
        <p:txBody>
          <a:bodyPr/>
          <a:lstStyle/>
          <a:p>
            <a:r>
              <a:rPr lang="en-US" dirty="0"/>
              <a:t>No one wants to read emails from 20 people that have nothing to do with them.</a:t>
            </a:r>
          </a:p>
          <a:p>
            <a:r>
              <a:rPr lang="en-US" dirty="0"/>
              <a:t> Ignoring the emails can be difficult, with many people getting notifications of new messages on their smartphones or distracting pop-up messages on their computer screens.</a:t>
            </a:r>
          </a:p>
          <a:p>
            <a:r>
              <a:rPr lang="en-US" dirty="0"/>
              <a:t> Refrain from hitting "reply all" unless you really think everyone on the list needs to receive the email</a:t>
            </a:r>
          </a:p>
        </p:txBody>
      </p:sp>
    </p:spTree>
    <p:extLst>
      <p:ext uri="{BB962C8B-B14F-4D97-AF65-F5344CB8AC3E}">
        <p14:creationId xmlns:p14="http://schemas.microsoft.com/office/powerpoint/2010/main" val="4018735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5. Include your details at the end at the signature point</a:t>
            </a:r>
            <a:br>
              <a:rPr lang="en-US" dirty="0"/>
            </a:br>
            <a:endParaRPr lang="en-US" dirty="0"/>
          </a:p>
        </p:txBody>
      </p:sp>
      <p:sp>
        <p:nvSpPr>
          <p:cNvPr id="3" name="Content Placeholder 2"/>
          <p:cNvSpPr>
            <a:spLocks noGrp="1"/>
          </p:cNvSpPr>
          <p:nvPr>
            <p:ph idx="1"/>
          </p:nvPr>
        </p:nvSpPr>
        <p:spPr/>
        <p:txBody>
          <a:bodyPr/>
          <a:lstStyle/>
          <a:p>
            <a:r>
              <a:rPr lang="en-US" dirty="0"/>
              <a:t>Provide</a:t>
            </a:r>
            <a:r>
              <a:rPr lang="en-US" b="1" dirty="0"/>
              <a:t> </a:t>
            </a:r>
            <a:r>
              <a:rPr lang="en-US" dirty="0"/>
              <a:t> reader with some information about you</a:t>
            </a:r>
          </a:p>
          <a:p>
            <a:r>
              <a:rPr lang="en-US" dirty="0"/>
              <a:t> Your full name, title, the company name, and your contact information, including a phone number. </a:t>
            </a:r>
          </a:p>
          <a:p>
            <a:r>
              <a:rPr lang="en-US" dirty="0"/>
              <a:t>Use the same font, type size, and color as the rest of the email, </a:t>
            </a:r>
          </a:p>
          <a:p>
            <a:endParaRPr lang="en-US" dirty="0"/>
          </a:p>
        </p:txBody>
      </p:sp>
    </p:spTree>
    <p:extLst>
      <p:ext uri="{BB962C8B-B14F-4D97-AF65-F5344CB8AC3E}">
        <p14:creationId xmlns:p14="http://schemas.microsoft.com/office/powerpoint/2010/main" val="2018697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6. Use professional salutations.</a:t>
            </a:r>
            <a:br>
              <a:rPr lang="en-US" dirty="0"/>
            </a:br>
            <a:endParaRPr lang="en-US" dirty="0"/>
          </a:p>
        </p:txBody>
      </p:sp>
      <p:sp>
        <p:nvSpPr>
          <p:cNvPr id="3" name="Content Placeholder 2"/>
          <p:cNvSpPr>
            <a:spLocks noGrp="1"/>
          </p:cNvSpPr>
          <p:nvPr>
            <p:ph idx="1"/>
          </p:nvPr>
        </p:nvSpPr>
        <p:spPr/>
        <p:txBody>
          <a:bodyPr/>
          <a:lstStyle/>
          <a:p>
            <a:r>
              <a:rPr lang="en-US" dirty="0"/>
              <a:t>Don't use laid-back, informal expressions like,  "Hey you guys," "</a:t>
            </a:r>
            <a:r>
              <a:rPr lang="en-US" dirty="0" err="1"/>
              <a:t>Yo</a:t>
            </a:r>
            <a:r>
              <a:rPr lang="en-US" dirty="0"/>
              <a:t>," or "Hi folks.“ especially when your message is of a serious nature</a:t>
            </a:r>
          </a:p>
          <a:p>
            <a:r>
              <a:rPr lang="en-US" dirty="0"/>
              <a:t>Also avoid exaggerated expressions like MY DEAREST etc.</a:t>
            </a:r>
          </a:p>
          <a:p>
            <a:endParaRPr lang="en-US" dirty="0"/>
          </a:p>
          <a:p>
            <a:r>
              <a:rPr lang="en-US" dirty="0"/>
              <a:t>Respected Madam/Sir is most appropriate</a:t>
            </a:r>
          </a:p>
          <a:p>
            <a:r>
              <a:rPr lang="en-US" dirty="0"/>
              <a:t>Start with Warm Greetings and end with Warm Regards</a:t>
            </a:r>
          </a:p>
        </p:txBody>
      </p:sp>
    </p:spTree>
    <p:extLst>
      <p:ext uri="{BB962C8B-B14F-4D97-AF65-F5344CB8AC3E}">
        <p14:creationId xmlns:p14="http://schemas.microsoft.com/office/powerpoint/2010/main" val="2569141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7. Use exclamation points sparingly</a:t>
            </a:r>
            <a:br>
              <a:rPr lang="en-US" dirty="0"/>
            </a:br>
            <a:endParaRPr lang="en-US" dirty="0"/>
          </a:p>
        </p:txBody>
      </p:sp>
      <p:sp>
        <p:nvSpPr>
          <p:cNvPr id="3" name="Content Placeholder 2"/>
          <p:cNvSpPr>
            <a:spLocks noGrp="1"/>
          </p:cNvSpPr>
          <p:nvPr>
            <p:ph idx="1"/>
          </p:nvPr>
        </p:nvSpPr>
        <p:spPr/>
        <p:txBody>
          <a:bodyPr/>
          <a:lstStyle/>
          <a:p>
            <a:r>
              <a:rPr lang="en-US" dirty="0"/>
              <a:t>If you choose to use an exclamation point, use only one to convey excitement.</a:t>
            </a:r>
          </a:p>
          <a:p>
            <a:r>
              <a:rPr lang="en-US" dirty="0"/>
              <a:t>People sometimes get carried away and put a number of exclamation points at the end of their sentences.</a:t>
            </a:r>
          </a:p>
          <a:p>
            <a:r>
              <a:rPr lang="en-US" dirty="0"/>
              <a:t> The result can appear too emotional or immature.</a:t>
            </a:r>
          </a:p>
          <a:p>
            <a:r>
              <a:rPr lang="en-US" dirty="0"/>
              <a:t> Exclamation points should not be used unless required in writing. </a:t>
            </a:r>
          </a:p>
          <a:p>
            <a:endParaRPr lang="en-US" dirty="0"/>
          </a:p>
        </p:txBody>
      </p:sp>
    </p:spTree>
    <p:extLst>
      <p:ext uri="{BB962C8B-B14F-4D97-AF65-F5344CB8AC3E}">
        <p14:creationId xmlns:p14="http://schemas.microsoft.com/office/powerpoint/2010/main" val="3979100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8. Be cautious with humor</a:t>
            </a:r>
            <a:br>
              <a:rPr lang="en-US" dirty="0"/>
            </a:br>
            <a:endParaRPr lang="en-US" dirty="0"/>
          </a:p>
        </p:txBody>
      </p:sp>
      <p:sp>
        <p:nvSpPr>
          <p:cNvPr id="3" name="Content Placeholder 2"/>
          <p:cNvSpPr>
            <a:spLocks noGrp="1"/>
          </p:cNvSpPr>
          <p:nvPr>
            <p:ph idx="1"/>
          </p:nvPr>
        </p:nvSpPr>
        <p:spPr/>
        <p:txBody>
          <a:bodyPr/>
          <a:lstStyle/>
          <a:p>
            <a:r>
              <a:rPr lang="en-US" dirty="0"/>
              <a:t>Humor can easily get lost in translation without the right tone or facial expressions. </a:t>
            </a:r>
          </a:p>
          <a:p>
            <a:r>
              <a:rPr lang="en-US" dirty="0"/>
              <a:t>In a professional exchange, it's better to leave humor out of emails unless you know the recipient well. </a:t>
            </a:r>
          </a:p>
          <a:p>
            <a:r>
              <a:rPr lang="en-US" dirty="0"/>
              <a:t>Also, something that you think is funny might not be funny to someone else.</a:t>
            </a:r>
          </a:p>
          <a:p>
            <a:r>
              <a:rPr lang="en-US" dirty="0"/>
              <a:t>Something perceived as funny when spoken may come across very differently when written. It is better to leave it out.</a:t>
            </a:r>
          </a:p>
          <a:p>
            <a:endParaRPr lang="en-US" dirty="0"/>
          </a:p>
        </p:txBody>
      </p:sp>
    </p:spTree>
    <p:extLst>
      <p:ext uri="{BB962C8B-B14F-4D97-AF65-F5344CB8AC3E}">
        <p14:creationId xmlns:p14="http://schemas.microsoft.com/office/powerpoint/2010/main" val="3341707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8545"/>
            <a:ext cx="10515600" cy="858982"/>
          </a:xfrm>
        </p:spPr>
        <p:txBody>
          <a:bodyPr>
            <a:normAutofit fontScale="90000"/>
          </a:bodyPr>
          <a:lstStyle/>
          <a:p>
            <a:br>
              <a:rPr lang="en-US" dirty="0"/>
            </a:br>
            <a:r>
              <a:rPr lang="en-US" dirty="0"/>
              <a:t> 9. Know that people from different cultures speak and write differently.</a:t>
            </a:r>
            <a:br>
              <a:rPr lang="en-US" dirty="0"/>
            </a:br>
            <a:endParaRPr lang="en-US" dirty="0"/>
          </a:p>
        </p:txBody>
      </p:sp>
      <p:sp>
        <p:nvSpPr>
          <p:cNvPr id="3" name="Content Placeholder 2"/>
          <p:cNvSpPr>
            <a:spLocks noGrp="1"/>
          </p:cNvSpPr>
          <p:nvPr>
            <p:ph idx="1"/>
          </p:nvPr>
        </p:nvSpPr>
        <p:spPr>
          <a:xfrm>
            <a:off x="838200" y="1094509"/>
            <a:ext cx="10515600" cy="5583382"/>
          </a:xfrm>
        </p:spPr>
        <p:txBody>
          <a:bodyPr>
            <a:normAutofit/>
          </a:bodyPr>
          <a:lstStyle/>
          <a:p>
            <a:r>
              <a:rPr lang="en-US" dirty="0"/>
              <a:t>Miscommunication can easily occur because of cultural differences, especially in the writing form when we can't see one another's body language. </a:t>
            </a:r>
          </a:p>
          <a:p>
            <a:r>
              <a:rPr lang="en-US" dirty="0"/>
              <a:t>Tailor your message to the receiver's cultural background or how well you know them.</a:t>
            </a:r>
          </a:p>
          <a:p>
            <a:r>
              <a:rPr lang="en-US" dirty="0"/>
              <a:t>Examples - </a:t>
            </a:r>
          </a:p>
          <a:p>
            <a:r>
              <a:rPr lang="en-US" dirty="0"/>
              <a:t> High-context cultures (Japanese, Arab, or Chinese) want to get to know you before doing business with you. Therefore, it may be common for business associates from these countries to be more personal in their writings. </a:t>
            </a:r>
          </a:p>
          <a:p>
            <a:r>
              <a:rPr lang="en-US" dirty="0"/>
              <a:t>On the other hand, people from low-context cultures (German, American, or Scandinavian) prefer to get to the point very quickly.</a:t>
            </a:r>
          </a:p>
          <a:p>
            <a:endParaRPr lang="en-US" dirty="0"/>
          </a:p>
        </p:txBody>
      </p:sp>
    </p:spTree>
    <p:extLst>
      <p:ext uri="{BB962C8B-B14F-4D97-AF65-F5344CB8AC3E}">
        <p14:creationId xmlns:p14="http://schemas.microsoft.com/office/powerpoint/2010/main" val="2579994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10. Reply to your emails or acknowledge--even if the email wasn't intended for you</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It's difficult to reply to every email message ever sent to you, but you should try to</a:t>
            </a:r>
          </a:p>
          <a:p>
            <a:r>
              <a:rPr lang="en-US" dirty="0"/>
              <a:t> This includes when the email was accidentally sent to you, especially if the sender is expecting a reply. </a:t>
            </a:r>
          </a:p>
          <a:p>
            <a:r>
              <a:rPr lang="en-US" dirty="0"/>
              <a:t>A reply  serves as good email etiquette, especially if this person works in the same company  as you.</a:t>
            </a:r>
          </a:p>
          <a:p>
            <a:r>
              <a:rPr lang="en-US" dirty="0"/>
              <a:t>‘Noted the contents’ or ‘Noted with thanks’ is a good way to acknowledge an email </a:t>
            </a:r>
          </a:p>
          <a:p>
            <a:r>
              <a:rPr lang="en-US" dirty="0"/>
              <a:t>If the sender seeks clarification or any other information draft a reply pertaining to the questions, queries or information sought.</a:t>
            </a:r>
          </a:p>
        </p:txBody>
      </p:sp>
    </p:spTree>
    <p:extLst>
      <p:ext uri="{BB962C8B-B14F-4D97-AF65-F5344CB8AC3E}">
        <p14:creationId xmlns:p14="http://schemas.microsoft.com/office/powerpoint/2010/main" val="2720386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11. Proofread every message</a:t>
            </a:r>
            <a:br>
              <a:rPr lang="en-US" dirty="0"/>
            </a:br>
            <a:endParaRPr lang="en-US" dirty="0"/>
          </a:p>
        </p:txBody>
      </p:sp>
      <p:sp>
        <p:nvSpPr>
          <p:cNvPr id="3" name="Content Placeholder 2"/>
          <p:cNvSpPr>
            <a:spLocks noGrp="1"/>
          </p:cNvSpPr>
          <p:nvPr>
            <p:ph idx="1"/>
          </p:nvPr>
        </p:nvSpPr>
        <p:spPr/>
        <p:txBody>
          <a:bodyPr/>
          <a:lstStyle/>
          <a:p>
            <a:r>
              <a:rPr lang="en-US" dirty="0"/>
              <a:t>Your mistakes will be very evident if not corrected</a:t>
            </a:r>
          </a:p>
          <a:p>
            <a:r>
              <a:rPr lang="en-US" dirty="0"/>
              <a:t>Don't rely on spell-checkers. </a:t>
            </a:r>
          </a:p>
          <a:p>
            <a:r>
              <a:rPr lang="en-US" dirty="0"/>
              <a:t>Read and re-read your email a few times, preferably aloud, before sending it off. </a:t>
            </a:r>
          </a:p>
          <a:p>
            <a:r>
              <a:rPr lang="en-US" dirty="0"/>
              <a:t>"One person intended to write  - ‘Thanks for the ‘message’ but she relied on spell-check, did not proofread and ended up writing  and sending- ‘Thanks for the massage’</a:t>
            </a:r>
          </a:p>
          <a:p>
            <a:endParaRPr lang="en-US" dirty="0"/>
          </a:p>
          <a:p>
            <a:endParaRPr lang="en-US" dirty="0"/>
          </a:p>
        </p:txBody>
      </p:sp>
    </p:spTree>
    <p:extLst>
      <p:ext uri="{BB962C8B-B14F-4D97-AF65-F5344CB8AC3E}">
        <p14:creationId xmlns:p14="http://schemas.microsoft.com/office/powerpoint/2010/main" val="3706679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12. Add the email address last</a:t>
            </a:r>
            <a:br>
              <a:rPr lang="en-US" dirty="0"/>
            </a:br>
            <a:endParaRPr lang="en-US" dirty="0"/>
          </a:p>
        </p:txBody>
      </p:sp>
      <p:sp>
        <p:nvSpPr>
          <p:cNvPr id="3" name="Content Placeholder 2"/>
          <p:cNvSpPr>
            <a:spLocks noGrp="1"/>
          </p:cNvSpPr>
          <p:nvPr>
            <p:ph idx="1"/>
          </p:nvPr>
        </p:nvSpPr>
        <p:spPr/>
        <p:txBody>
          <a:bodyPr/>
          <a:lstStyle/>
          <a:p>
            <a:r>
              <a:rPr lang="en-US" dirty="0"/>
              <a:t>You don't want to send an email accidentally before you have finished writing and proofing the message,</a:t>
            </a:r>
          </a:p>
          <a:p>
            <a:r>
              <a:rPr lang="en-US" dirty="0"/>
              <a:t>Even when you are replying to a message, it's a good precaution to delete the recipient's address and insert it only when you are sure the message is ready to be sent.</a:t>
            </a:r>
          </a:p>
        </p:txBody>
      </p:sp>
    </p:spTree>
    <p:extLst>
      <p:ext uri="{BB962C8B-B14F-4D97-AF65-F5344CB8AC3E}">
        <p14:creationId xmlns:p14="http://schemas.microsoft.com/office/powerpoint/2010/main" val="3727644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13. Double-check that you've selected the correct recipient.</a:t>
            </a:r>
            <a:br>
              <a:rPr lang="en-US" dirty="0"/>
            </a:br>
            <a:endParaRPr lang="en-US" dirty="0"/>
          </a:p>
        </p:txBody>
      </p:sp>
      <p:sp>
        <p:nvSpPr>
          <p:cNvPr id="3" name="Content Placeholder 2"/>
          <p:cNvSpPr>
            <a:spLocks noGrp="1"/>
          </p:cNvSpPr>
          <p:nvPr>
            <p:ph idx="1"/>
          </p:nvPr>
        </p:nvSpPr>
        <p:spPr/>
        <p:txBody>
          <a:bodyPr/>
          <a:lstStyle/>
          <a:p>
            <a:r>
              <a:rPr lang="en-US" dirty="0"/>
              <a:t>Pay careful attention when typing a name from your address book on the email's "To" line. </a:t>
            </a:r>
          </a:p>
          <a:p>
            <a:r>
              <a:rPr lang="en-US" dirty="0"/>
              <a:t>It's easy to select the wrong name, which can be embarrassing to you and to the person who receives the email by mistake.</a:t>
            </a:r>
          </a:p>
        </p:txBody>
      </p:sp>
    </p:spTree>
    <p:extLst>
      <p:ext uri="{BB962C8B-B14F-4D97-AF65-F5344CB8AC3E}">
        <p14:creationId xmlns:p14="http://schemas.microsoft.com/office/powerpoint/2010/main" val="1934745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14. Use acceptable and right fonts style and size.</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  For formal correspondence, keep your fonts, colors, and sizes classic.</a:t>
            </a:r>
          </a:p>
          <a:p>
            <a:r>
              <a:rPr lang="en-US" dirty="0"/>
              <a:t>The rule: Your emails should be easy for other people to read.</a:t>
            </a:r>
          </a:p>
          <a:p>
            <a:r>
              <a:rPr lang="en-US" dirty="0"/>
              <a:t>Generally, it is best to use 10- or 12- point type and an easy-to-read font such as Arial, Calibri, or Times New Roman</a:t>
            </a:r>
          </a:p>
          <a:p>
            <a:r>
              <a:rPr lang="en-US" dirty="0"/>
              <a:t> As for color, black is the safest choice. </a:t>
            </a:r>
          </a:p>
          <a:p>
            <a:endParaRPr lang="en-US" dirty="0"/>
          </a:p>
        </p:txBody>
      </p:sp>
    </p:spTree>
    <p:extLst>
      <p:ext uri="{BB962C8B-B14F-4D97-AF65-F5344CB8AC3E}">
        <p14:creationId xmlns:p14="http://schemas.microsoft.com/office/powerpoint/2010/main" val="2938980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15. Use the right words that indicate the right tone</a:t>
            </a:r>
            <a:br>
              <a:rPr lang="en-US" dirty="0"/>
            </a:br>
            <a:endParaRPr lang="en-US" dirty="0"/>
          </a:p>
        </p:txBody>
      </p:sp>
      <p:sp>
        <p:nvSpPr>
          <p:cNvPr id="3" name="Content Placeholder 2"/>
          <p:cNvSpPr>
            <a:spLocks noGrp="1"/>
          </p:cNvSpPr>
          <p:nvPr>
            <p:ph idx="1"/>
          </p:nvPr>
        </p:nvSpPr>
        <p:spPr>
          <a:xfrm>
            <a:off x="838200" y="1219200"/>
            <a:ext cx="10515600" cy="4957763"/>
          </a:xfrm>
        </p:spPr>
        <p:txBody>
          <a:bodyPr>
            <a:normAutofit fontScale="92500" lnSpcReduction="20000"/>
          </a:bodyPr>
          <a:lstStyle/>
          <a:p>
            <a:r>
              <a:rPr lang="en-US" dirty="0"/>
              <a:t>Just as jokes get lost in translation, tone is easily misunderstood when the context is  not clear or misunderstood by the reader </a:t>
            </a:r>
          </a:p>
          <a:p>
            <a:r>
              <a:rPr lang="en-US" dirty="0"/>
              <a:t> What you meant "straightforward," the reader may feel "angry and curt."</a:t>
            </a:r>
          </a:p>
          <a:p>
            <a:r>
              <a:rPr lang="en-US" dirty="0"/>
              <a:t>To avoid misunderstandings  read your message out loud before hitting send. </a:t>
            </a:r>
          </a:p>
          <a:p>
            <a:r>
              <a:rPr lang="en-US" dirty="0"/>
              <a:t>If it sounds harsh to you, it will sound harsh to the reader</a:t>
            </a:r>
          </a:p>
          <a:p>
            <a:r>
              <a:rPr lang="en-US" dirty="0"/>
              <a:t>For best results, avoid using  negative words ("failure," "wrong," or "neglected"), and always show courtesy, even if the message is not a very pleasant one</a:t>
            </a:r>
          </a:p>
          <a:p>
            <a:r>
              <a:rPr lang="en-US" dirty="0"/>
              <a:t>Warm Greetings at the start and Warm regards at the end of the mail must always be present </a:t>
            </a:r>
          </a:p>
          <a:p>
            <a:r>
              <a:rPr lang="en-US" dirty="0"/>
              <a:t>Most unpleasant messages are best conveyed in person or caution must be taken to write the positive first and then the unpleasant or bad news </a:t>
            </a:r>
          </a:p>
          <a:p>
            <a:pPr marL="0" indent="0">
              <a:buNone/>
            </a:pPr>
            <a:r>
              <a:rPr lang="en-US" dirty="0"/>
              <a:t> </a:t>
            </a:r>
          </a:p>
        </p:txBody>
      </p:sp>
    </p:spTree>
    <p:extLst>
      <p:ext uri="{BB962C8B-B14F-4D97-AF65-F5344CB8AC3E}">
        <p14:creationId xmlns:p14="http://schemas.microsoft.com/office/powerpoint/2010/main" val="3717502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US" dirty="0"/>
              <a:t>16. Nothing is confidential once email is sent--so write accordingly.  </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Once you hit the send button you have no control over the message</a:t>
            </a:r>
          </a:p>
          <a:p>
            <a:r>
              <a:rPr lang="en-US" dirty="0"/>
              <a:t>Hence take necessary precaution while sending confidential information or it is better to deliver such message in person or through hard copy to the concerned receiver</a:t>
            </a:r>
          </a:p>
          <a:p>
            <a:r>
              <a:rPr lang="en-US" dirty="0"/>
              <a:t>Every electronic message leaves a trail or is with the receiver</a:t>
            </a:r>
          </a:p>
          <a:p>
            <a:r>
              <a:rPr lang="en-US" dirty="0"/>
              <a:t>A basic guideline is to assume that others will see what you write, so don't write anything you wouldn't want everyone to see. </a:t>
            </a:r>
          </a:p>
          <a:p>
            <a:r>
              <a:rPr lang="en-US" dirty="0"/>
              <a:t>Don't write anything that would be a danger  to you or hurtful to others. </a:t>
            </a:r>
          </a:p>
          <a:p>
            <a:r>
              <a:rPr lang="en-US" dirty="0"/>
              <a:t>After all, email is easy to forward, and it's better to be safe than sorry.</a:t>
            </a:r>
          </a:p>
          <a:p>
            <a:endParaRPr lang="en-US" dirty="0"/>
          </a:p>
        </p:txBody>
      </p:sp>
    </p:spTree>
    <p:extLst>
      <p:ext uri="{BB962C8B-B14F-4D97-AF65-F5344CB8AC3E}">
        <p14:creationId xmlns:p14="http://schemas.microsoft.com/office/powerpoint/2010/main" val="1645215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sz="4400" dirty="0">
                <a:latin typeface="Trebuchet MS" panose="020B0603020202020204"/>
                <a:ea typeface="+mj-ea"/>
                <a:cs typeface="+mj-cs"/>
              </a:rPr>
              <a:t>REMEMBER: When you send an email to someone, they are getting a copy that they can keep…forever. Be Careful </a:t>
            </a:r>
            <a:endParaRPr lang="en-US" dirty="0"/>
          </a:p>
        </p:txBody>
      </p:sp>
    </p:spTree>
    <p:extLst>
      <p:ext uri="{BB962C8B-B14F-4D97-AF65-F5344CB8AC3E}">
        <p14:creationId xmlns:p14="http://schemas.microsoft.com/office/powerpoint/2010/main" val="3304206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1459</Words>
  <Application>Microsoft Office PowerPoint</Application>
  <PresentationFormat>Widescreen</PresentationFormat>
  <Paragraphs>98</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Heebo</vt:lpstr>
      <vt:lpstr>Roboto</vt:lpstr>
      <vt:lpstr>Trebuchet MS</vt:lpstr>
      <vt:lpstr>Office Theme</vt:lpstr>
      <vt:lpstr>Communicative English Department of Humanities  </vt:lpstr>
      <vt:lpstr>What is Email etiquette </vt:lpstr>
      <vt:lpstr>What is the purpose of Emails </vt:lpstr>
      <vt:lpstr>1. Include a clear, direct subject line. </vt:lpstr>
      <vt:lpstr>2. Do not write in ALL CAPITALS </vt:lpstr>
      <vt:lpstr>3. Use a professional email address. </vt:lpstr>
      <vt:lpstr>4. Think twice before hitting ‘reply all’. </vt:lpstr>
      <vt:lpstr>5. Include your details at the end at the signature point </vt:lpstr>
      <vt:lpstr>6. Use professional salutations. </vt:lpstr>
      <vt:lpstr>7. Use exclamation points sparingly </vt:lpstr>
      <vt:lpstr>8. Be cautious with humor </vt:lpstr>
      <vt:lpstr>  9. Know that people from different cultures speak and write differently. </vt:lpstr>
      <vt:lpstr> 10. Reply to your emails or acknowledge--even if the email wasn't intended for you </vt:lpstr>
      <vt:lpstr>11. Proofread every message </vt:lpstr>
      <vt:lpstr>12. Add the email address last </vt:lpstr>
      <vt:lpstr> 13. Double-check that you've selected the correct recipient. </vt:lpstr>
      <vt:lpstr>14. Use acceptable and right fonts style and size. </vt:lpstr>
      <vt:lpstr>15. Use the right words that indicate the right tone </vt:lpstr>
      <vt:lpstr>  16. Nothing is confidential once email is sent--so write accordingly.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Email Etiquette</dc:title>
  <dc:creator>kiraaan</dc:creator>
  <cp:lastModifiedBy>Rishi Magavi</cp:lastModifiedBy>
  <cp:revision>14</cp:revision>
  <dcterms:created xsi:type="dcterms:W3CDTF">2019-04-27T02:42:46Z</dcterms:created>
  <dcterms:modified xsi:type="dcterms:W3CDTF">2022-03-28T02:20:37Z</dcterms:modified>
</cp:coreProperties>
</file>