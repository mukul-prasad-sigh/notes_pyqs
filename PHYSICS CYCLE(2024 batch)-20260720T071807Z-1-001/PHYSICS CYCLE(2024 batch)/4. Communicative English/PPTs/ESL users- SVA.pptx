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88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2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7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6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6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3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9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46242-B3CF-4DAE-99BD-CF17E9AC231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2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English Grammar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Issues of ESL ( English as Second Language) users </a:t>
            </a:r>
          </a:p>
        </p:txBody>
      </p:sp>
    </p:spTree>
    <p:extLst>
      <p:ext uri="{BB962C8B-B14F-4D97-AF65-F5344CB8AC3E}">
        <p14:creationId xmlns:p14="http://schemas.microsoft.com/office/powerpoint/2010/main" val="409588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speech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Noun </a:t>
            </a:r>
          </a:p>
          <a:p>
            <a:r>
              <a:rPr lang="en-US" dirty="0"/>
              <a:t>Verb</a:t>
            </a:r>
          </a:p>
          <a:p>
            <a:r>
              <a:rPr lang="en-US" dirty="0"/>
              <a:t>Pronoun</a:t>
            </a:r>
          </a:p>
          <a:p>
            <a:r>
              <a:rPr lang="en-US" dirty="0">
                <a:solidFill>
                  <a:srgbClr val="FF0000"/>
                </a:solidFill>
              </a:rPr>
              <a:t>Adverb</a:t>
            </a:r>
          </a:p>
          <a:p>
            <a:r>
              <a:rPr lang="en-US" dirty="0">
                <a:solidFill>
                  <a:srgbClr val="FF0000"/>
                </a:solidFill>
              </a:rPr>
              <a:t>Adjective – confusion while identifying the difference </a:t>
            </a:r>
          </a:p>
          <a:p>
            <a:r>
              <a:rPr lang="en-US" dirty="0">
                <a:solidFill>
                  <a:srgbClr val="FF0000"/>
                </a:solidFill>
              </a:rPr>
              <a:t>Preposition – mistakes while using these</a:t>
            </a:r>
          </a:p>
          <a:p>
            <a:r>
              <a:rPr lang="en-US" dirty="0"/>
              <a:t>Conjunction </a:t>
            </a:r>
          </a:p>
          <a:p>
            <a:r>
              <a:rPr lang="en-US" dirty="0"/>
              <a:t>Interjection </a:t>
            </a:r>
          </a:p>
        </p:txBody>
      </p:sp>
    </p:spTree>
    <p:extLst>
      <p:ext uri="{BB962C8B-B14F-4D97-AF65-F5344CB8AC3E}">
        <p14:creationId xmlns:p14="http://schemas.microsoft.com/office/powerpoint/2010/main" val="45658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6584"/>
          </a:xfrm>
        </p:spPr>
        <p:txBody>
          <a:bodyPr>
            <a:normAutofit fontScale="90000"/>
          </a:bodyPr>
          <a:lstStyle/>
          <a:p>
            <a:r>
              <a:rPr lang="en-US" dirty="0"/>
              <a:t>Tense forms – a category that expresses time at the moment of speaking or expressing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1710"/>
            <a:ext cx="10515600" cy="50984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of specific forms of verbs is the essence of tense forms </a:t>
            </a:r>
          </a:p>
          <a:p>
            <a:pPr marL="0" indent="0">
              <a:buNone/>
            </a:pPr>
            <a:r>
              <a:rPr lang="en-US" dirty="0"/>
              <a:t>Times Zones /reference </a:t>
            </a:r>
          </a:p>
          <a:p>
            <a:pPr marL="0" indent="0">
              <a:buNone/>
            </a:pPr>
            <a:r>
              <a:rPr lang="en-US" dirty="0"/>
              <a:t>1. Past </a:t>
            </a:r>
          </a:p>
          <a:p>
            <a:pPr marL="0" indent="0">
              <a:buNone/>
            </a:pPr>
            <a:r>
              <a:rPr lang="en-US" dirty="0"/>
              <a:t>2. Present </a:t>
            </a:r>
          </a:p>
          <a:p>
            <a:pPr marL="0" indent="0">
              <a:buNone/>
            </a:pPr>
            <a:r>
              <a:rPr lang="en-US" dirty="0"/>
              <a:t>3. Future </a:t>
            </a:r>
          </a:p>
          <a:p>
            <a:pPr marL="0" indent="0">
              <a:buNone/>
            </a:pPr>
            <a:r>
              <a:rPr lang="en-US" dirty="0"/>
              <a:t>Types of tense </a:t>
            </a:r>
          </a:p>
          <a:p>
            <a:pPr marL="0" indent="0">
              <a:buNone/>
            </a:pPr>
            <a:r>
              <a:rPr lang="en-US" dirty="0"/>
              <a:t>1. Simple 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>
                <a:solidFill>
                  <a:srgbClr val="FF0000"/>
                </a:solidFill>
              </a:rPr>
              <a:t>Continuous – misuse / overused </a:t>
            </a:r>
          </a:p>
          <a:p>
            <a:pPr marL="0" indent="0">
              <a:buNone/>
            </a:pPr>
            <a:r>
              <a:rPr lang="en-US" dirty="0"/>
              <a:t>3. Perfect</a:t>
            </a:r>
          </a:p>
          <a:p>
            <a:pPr marL="0" indent="0">
              <a:buNone/>
            </a:pPr>
            <a:r>
              <a:rPr lang="en-US" dirty="0"/>
              <a:t>4. Perfect continuous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6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 verb Agreement (SVA)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Being able to find the right subject and verb will help you correct errors of subject-verb agreement.</a:t>
            </a:r>
          </a:p>
          <a:p>
            <a:r>
              <a:rPr lang="en-US" b="1" i="1" dirty="0"/>
              <a:t>Basic Rule.</a:t>
            </a:r>
            <a:r>
              <a:rPr lang="en-US" dirty="0"/>
              <a:t> A singular subject (</a:t>
            </a:r>
            <a:r>
              <a:rPr lang="en-US" i="1" dirty="0"/>
              <a:t>she, Bill, car</a:t>
            </a:r>
            <a:r>
              <a:rPr lang="en-US" dirty="0"/>
              <a:t>) takes a singular verb (</a:t>
            </a:r>
            <a:r>
              <a:rPr lang="en-US" i="1" dirty="0"/>
              <a:t>is, goes, shines</a:t>
            </a:r>
            <a:r>
              <a:rPr lang="en-US" dirty="0"/>
              <a:t>), whereas a plural subject takes a plural verb.</a:t>
            </a:r>
          </a:p>
          <a:p>
            <a:pPr marL="0" indent="0">
              <a:buNone/>
            </a:pPr>
            <a:r>
              <a:rPr lang="en-US" b="1" i="1" dirty="0"/>
              <a:t>Example:</a:t>
            </a:r>
            <a:r>
              <a:rPr lang="en-US" dirty="0"/>
              <a:t> </a:t>
            </a:r>
            <a:r>
              <a:rPr lang="en-US" i="1" dirty="0"/>
              <a:t>The </a:t>
            </a:r>
            <a:r>
              <a:rPr lang="en-US" i="1" u="sng" dirty="0"/>
              <a:t>list</a:t>
            </a:r>
            <a:r>
              <a:rPr lang="en-US" i="1" dirty="0"/>
              <a:t> of items </a:t>
            </a:r>
            <a:r>
              <a:rPr lang="en-US" i="1" u="sng" dirty="0"/>
              <a:t>is</a:t>
            </a:r>
            <a:r>
              <a:rPr lang="en-US" i="1" dirty="0"/>
              <a:t>/are on the desk.</a:t>
            </a:r>
            <a:br>
              <a:rPr lang="en-US" dirty="0"/>
            </a:br>
            <a:r>
              <a:rPr lang="en-US" dirty="0"/>
              <a:t>If you know that </a:t>
            </a:r>
            <a:r>
              <a:rPr lang="en-US" i="1" dirty="0"/>
              <a:t>list</a:t>
            </a:r>
            <a:r>
              <a:rPr lang="en-US" dirty="0"/>
              <a:t> is the subject, then you will choose </a:t>
            </a:r>
            <a:r>
              <a:rPr lang="en-US" i="1" dirty="0"/>
              <a:t>is</a:t>
            </a:r>
            <a:r>
              <a:rPr lang="en-US" dirty="0"/>
              <a:t> for the verb.</a:t>
            </a:r>
          </a:p>
          <a:p>
            <a:pPr marL="0" indent="0">
              <a:buNone/>
            </a:pPr>
            <a:r>
              <a:rPr lang="en-US" b="1" i="1" dirty="0"/>
              <a:t>Rule 1.</a:t>
            </a:r>
            <a:r>
              <a:rPr lang="en-US" dirty="0"/>
              <a:t> A subject will come before a phrase beginning with </a:t>
            </a:r>
            <a:r>
              <a:rPr lang="en-US" i="1" dirty="0"/>
              <a:t>of</a:t>
            </a:r>
            <a:r>
              <a:rPr lang="en-US" dirty="0"/>
              <a:t>. This is a key rule for understanding subjects. The word </a:t>
            </a:r>
            <a:r>
              <a:rPr lang="en-US" i="1" dirty="0"/>
              <a:t>of</a:t>
            </a:r>
            <a:r>
              <a:rPr lang="en-US" dirty="0"/>
              <a:t> is the culprit in many, perhaps most, subject-verb mistakes.</a:t>
            </a:r>
          </a:p>
        </p:txBody>
      </p:sp>
    </p:spTree>
    <p:extLst>
      <p:ext uri="{BB962C8B-B14F-4D97-AF65-F5344CB8AC3E}">
        <p14:creationId xmlns:p14="http://schemas.microsoft.com/office/powerpoint/2010/main" val="94201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Hasty writers, speakers, readers, and listeners might miss the all-too-common mistake in the following sentence:</a:t>
            </a:r>
          </a:p>
          <a:p>
            <a:r>
              <a:rPr lang="en-US" b="1" i="1" dirty="0"/>
              <a:t>Incorrect:</a:t>
            </a:r>
            <a:r>
              <a:rPr lang="en-US" dirty="0"/>
              <a:t> </a:t>
            </a:r>
            <a:r>
              <a:rPr lang="en-US" i="1" dirty="0"/>
              <a:t>A bouquet of yellow roses lend color and fragrance to the room.</a:t>
            </a:r>
            <a:endParaRPr lang="en-US" dirty="0"/>
          </a:p>
          <a:p>
            <a:r>
              <a:rPr lang="en-US" b="1" i="1" dirty="0"/>
              <a:t>Correct:</a:t>
            </a:r>
            <a:r>
              <a:rPr lang="en-US" dirty="0"/>
              <a:t> </a:t>
            </a:r>
            <a:r>
              <a:rPr lang="en-US" i="1" dirty="0"/>
              <a:t>A </a:t>
            </a:r>
            <a:r>
              <a:rPr lang="en-US" i="1" u="sng" dirty="0"/>
              <a:t>bouquet</a:t>
            </a:r>
            <a:r>
              <a:rPr lang="en-US" i="1" dirty="0"/>
              <a:t> of yellow roses </a:t>
            </a:r>
            <a:r>
              <a:rPr lang="en-US" i="1" u="sng" dirty="0"/>
              <a:t>lends</a:t>
            </a:r>
            <a:r>
              <a:rPr lang="en-US" dirty="0"/>
              <a:t> . . . (</a:t>
            </a:r>
            <a:r>
              <a:rPr lang="en-US" i="1" dirty="0"/>
              <a:t>bouquet lends</a:t>
            </a:r>
            <a:r>
              <a:rPr lang="en-US" dirty="0"/>
              <a:t>, not </a:t>
            </a:r>
            <a:r>
              <a:rPr lang="en-US" i="1" dirty="0"/>
              <a:t>roses lend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19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Rule 2.</a:t>
            </a:r>
            <a:r>
              <a:rPr lang="en-US" dirty="0"/>
              <a:t> Two singular subjects connected by </a:t>
            </a:r>
            <a:r>
              <a:rPr lang="en-US" i="1" dirty="0"/>
              <a:t>or, either/or, </a:t>
            </a:r>
            <a:r>
              <a:rPr lang="en-US" dirty="0"/>
              <a:t>or</a:t>
            </a:r>
            <a:r>
              <a:rPr lang="en-US" i="1" dirty="0"/>
              <a:t> neither/nor</a:t>
            </a:r>
            <a:r>
              <a:rPr lang="en-US" dirty="0"/>
              <a:t> require a singular verb.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dirty="0"/>
              <a:t>My </a:t>
            </a:r>
            <a:r>
              <a:rPr lang="en-US" i="1" u="sng" dirty="0"/>
              <a:t>aunt</a:t>
            </a:r>
            <a:r>
              <a:rPr lang="en-US" i="1" dirty="0"/>
              <a:t> or my </a:t>
            </a:r>
            <a:r>
              <a:rPr lang="en-US" i="1" u="sng" dirty="0"/>
              <a:t>uncle</a:t>
            </a:r>
            <a:r>
              <a:rPr lang="en-US" i="1" dirty="0"/>
              <a:t> </a:t>
            </a:r>
            <a:r>
              <a:rPr lang="en-US" b="1" i="1" u="sng" dirty="0"/>
              <a:t>is</a:t>
            </a:r>
            <a:r>
              <a:rPr lang="en-US" i="1" u="sng" dirty="0"/>
              <a:t> arriving</a:t>
            </a:r>
            <a:r>
              <a:rPr lang="en-US" i="1" dirty="0"/>
              <a:t> by train today.</a:t>
            </a:r>
            <a:br>
              <a:rPr lang="en-US" dirty="0"/>
            </a:br>
            <a:r>
              <a:rPr lang="en-US" i="1" dirty="0"/>
              <a:t>Neither </a:t>
            </a:r>
            <a:r>
              <a:rPr lang="en-US" i="1" u="sng" dirty="0"/>
              <a:t>Juan</a:t>
            </a:r>
            <a:r>
              <a:rPr lang="en-US" i="1" dirty="0"/>
              <a:t> nor </a:t>
            </a:r>
            <a:r>
              <a:rPr lang="en-US" i="1" u="sng" dirty="0"/>
              <a:t>Carmen</a:t>
            </a:r>
            <a:r>
              <a:rPr lang="en-US" i="1" dirty="0"/>
              <a:t> </a:t>
            </a:r>
            <a:r>
              <a:rPr lang="en-US" b="1" i="1" u="sng" dirty="0"/>
              <a:t>is</a:t>
            </a:r>
            <a:r>
              <a:rPr lang="en-US" i="1" dirty="0"/>
              <a:t> available.</a:t>
            </a:r>
            <a:br>
              <a:rPr lang="en-US" dirty="0"/>
            </a:br>
            <a:r>
              <a:rPr lang="en-US" i="1" dirty="0"/>
              <a:t>Either </a:t>
            </a:r>
            <a:r>
              <a:rPr lang="en-US" i="1" u="sng" dirty="0"/>
              <a:t>Kiana</a:t>
            </a:r>
            <a:r>
              <a:rPr lang="en-US" i="1" dirty="0"/>
              <a:t> or </a:t>
            </a:r>
            <a:r>
              <a:rPr lang="en-US" i="1" u="sng" dirty="0"/>
              <a:t>Casey</a:t>
            </a:r>
            <a:r>
              <a:rPr lang="en-US" i="1" dirty="0"/>
              <a:t> </a:t>
            </a:r>
            <a:r>
              <a:rPr lang="en-US" b="1" i="1" u="sng" dirty="0"/>
              <a:t>is</a:t>
            </a:r>
            <a:r>
              <a:rPr lang="en-US" i="1" u="sng" dirty="0"/>
              <a:t> helping</a:t>
            </a:r>
            <a:r>
              <a:rPr lang="en-US" i="1" dirty="0"/>
              <a:t> today with stage decorations.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2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650491"/>
          </a:xfrm>
        </p:spPr>
        <p:txBody>
          <a:bodyPr>
            <a:normAutofit lnSpcReduction="10000"/>
          </a:bodyPr>
          <a:lstStyle/>
          <a:p>
            <a:r>
              <a:rPr lang="en-US" b="1" i="1" dirty="0"/>
              <a:t>Rule 3.</a:t>
            </a:r>
            <a:r>
              <a:rPr lang="en-US" dirty="0"/>
              <a:t> The verb in an </a:t>
            </a:r>
            <a:r>
              <a:rPr lang="en-US" i="1" dirty="0"/>
              <a:t>or, either/or,</a:t>
            </a:r>
            <a:r>
              <a:rPr lang="en-US" dirty="0"/>
              <a:t> or </a:t>
            </a:r>
            <a:r>
              <a:rPr lang="en-US" i="1" dirty="0"/>
              <a:t>neither/nor </a:t>
            </a:r>
            <a:r>
              <a:rPr lang="en-US" dirty="0"/>
              <a:t>sentence agrees with the noun or pronoun closest to it.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dirty="0"/>
              <a:t>Neither the </a:t>
            </a:r>
            <a:r>
              <a:rPr lang="en-US" i="1" u="sng" dirty="0"/>
              <a:t>plates</a:t>
            </a:r>
            <a:r>
              <a:rPr lang="en-US" i="1" dirty="0"/>
              <a:t> nor the serving </a:t>
            </a:r>
            <a:r>
              <a:rPr lang="en-US" i="1" u="sng" dirty="0"/>
              <a:t>bowl</a:t>
            </a:r>
            <a:r>
              <a:rPr lang="en-US" i="1" dirty="0"/>
              <a:t> </a:t>
            </a:r>
            <a:r>
              <a:rPr lang="en-US" i="1" u="sng" dirty="0"/>
              <a:t>goes</a:t>
            </a:r>
            <a:r>
              <a:rPr lang="en-US" i="1" dirty="0"/>
              <a:t> on that shelf.</a:t>
            </a:r>
            <a:br>
              <a:rPr lang="en-US" i="1" dirty="0"/>
            </a:br>
            <a:r>
              <a:rPr lang="en-US" i="1" dirty="0"/>
              <a:t>Neither the serving </a:t>
            </a:r>
            <a:r>
              <a:rPr lang="en-US" i="1" u="sng" dirty="0"/>
              <a:t>bowl</a:t>
            </a:r>
            <a:r>
              <a:rPr lang="en-US" i="1" dirty="0"/>
              <a:t> nor the </a:t>
            </a:r>
            <a:r>
              <a:rPr lang="en-US" i="1" u="sng" dirty="0"/>
              <a:t>plates</a:t>
            </a:r>
            <a:r>
              <a:rPr lang="en-US" i="1" dirty="0"/>
              <a:t> </a:t>
            </a:r>
            <a:r>
              <a:rPr lang="en-US" i="1" u="sng" dirty="0"/>
              <a:t>go</a:t>
            </a:r>
            <a:r>
              <a:rPr lang="en-US" i="1" dirty="0"/>
              <a:t> on that shelf.</a:t>
            </a:r>
            <a:endParaRPr lang="en-US" dirty="0"/>
          </a:p>
          <a:p>
            <a:r>
              <a:rPr lang="en-US" dirty="0"/>
              <a:t>This rule can lead to bumps in the road. For example, if </a:t>
            </a:r>
            <a:r>
              <a:rPr lang="en-US" i="1" dirty="0"/>
              <a:t>I</a:t>
            </a:r>
            <a:r>
              <a:rPr lang="en-US" dirty="0"/>
              <a:t> is one of two (or more) subjects, it could lead to this odd sentence:</a:t>
            </a:r>
          </a:p>
          <a:p>
            <a:r>
              <a:rPr lang="en-US" b="1" i="1" dirty="0"/>
              <a:t>Awkward:</a:t>
            </a:r>
            <a:r>
              <a:rPr lang="en-US" dirty="0"/>
              <a:t> </a:t>
            </a:r>
            <a:r>
              <a:rPr lang="en-US" i="1" dirty="0"/>
              <a:t>Neither she, my friends, nor I am going to the festival.</a:t>
            </a:r>
          </a:p>
          <a:p>
            <a:r>
              <a:rPr lang="en-US" dirty="0"/>
              <a:t>If possible, it's best to reword such grammatically correct but awkward sentences.</a:t>
            </a:r>
          </a:p>
          <a:p>
            <a:r>
              <a:rPr lang="en-US" b="1" i="1" dirty="0"/>
              <a:t>Better:</a:t>
            </a:r>
            <a:br>
              <a:rPr lang="en-US" dirty="0"/>
            </a:br>
            <a:r>
              <a:rPr lang="en-US" i="1" dirty="0"/>
              <a:t>Neither she, I, nor my friends are going to the festival.</a:t>
            </a:r>
            <a:br>
              <a:rPr lang="en-US" i="1" dirty="0"/>
            </a:br>
            <a:r>
              <a:rPr lang="en-US" b="1" dirty="0"/>
              <a:t>OR</a:t>
            </a:r>
            <a:br>
              <a:rPr lang="en-US" i="1" dirty="0"/>
            </a:br>
            <a:r>
              <a:rPr lang="en-US" i="1" dirty="0"/>
              <a:t>She, my friends, and I are not going to the festival.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48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Rule 4.</a:t>
            </a:r>
            <a:r>
              <a:rPr lang="en-US" dirty="0"/>
              <a:t> As a general rule, use a plural verb with two or more subjects when they are connected by </a:t>
            </a:r>
            <a:r>
              <a:rPr lang="en-US" i="1" dirty="0"/>
              <a:t>and.</a:t>
            </a:r>
            <a:endParaRPr lang="en-US" dirty="0"/>
          </a:p>
          <a:p>
            <a:r>
              <a:rPr lang="en-US" b="1" i="1" dirty="0"/>
              <a:t>Example:</a:t>
            </a:r>
            <a:r>
              <a:rPr lang="en-US" dirty="0"/>
              <a:t> </a:t>
            </a:r>
            <a:r>
              <a:rPr lang="en-US" i="1" dirty="0"/>
              <a:t>A </a:t>
            </a:r>
            <a:r>
              <a:rPr lang="en-US" i="1" u="sng" dirty="0"/>
              <a:t>car</a:t>
            </a:r>
            <a:r>
              <a:rPr lang="en-US" i="1" dirty="0"/>
              <a:t> and a </a:t>
            </a:r>
            <a:r>
              <a:rPr lang="en-US" i="1" u="sng" dirty="0"/>
              <a:t>bike</a:t>
            </a:r>
            <a:r>
              <a:rPr lang="en-US" i="1" dirty="0"/>
              <a:t> </a:t>
            </a:r>
            <a:r>
              <a:rPr lang="en-US" i="1" u="sng" dirty="0"/>
              <a:t>are</a:t>
            </a:r>
            <a:r>
              <a:rPr lang="en-US" i="1" dirty="0"/>
              <a:t> my means of transportation.</a:t>
            </a:r>
            <a:endParaRPr lang="en-US" dirty="0"/>
          </a:p>
          <a:p>
            <a:r>
              <a:rPr lang="en-US" dirty="0"/>
              <a:t>But note these exceptions:</a:t>
            </a:r>
          </a:p>
          <a:p>
            <a:r>
              <a:rPr lang="en-US" b="1" i="1" dirty="0"/>
              <a:t>Exceptions:</a:t>
            </a:r>
            <a:br>
              <a:rPr lang="en-US" dirty="0"/>
            </a:br>
            <a:r>
              <a:rPr lang="en-US" i="1" u="sng" dirty="0"/>
              <a:t>Breaking and entering</a:t>
            </a:r>
            <a:r>
              <a:rPr lang="en-US" i="1" dirty="0"/>
              <a:t> </a:t>
            </a:r>
            <a:r>
              <a:rPr lang="en-US" i="1" u="sng" dirty="0"/>
              <a:t>is</a:t>
            </a:r>
            <a:r>
              <a:rPr lang="en-US" i="1" dirty="0"/>
              <a:t> against the law.</a:t>
            </a:r>
            <a:br>
              <a:rPr lang="en-US" i="1" dirty="0"/>
            </a:br>
            <a:r>
              <a:rPr lang="en-US" i="1" dirty="0"/>
              <a:t>The </a:t>
            </a:r>
            <a:r>
              <a:rPr lang="en-US" i="1" u="sng" dirty="0"/>
              <a:t>bed and breakfast</a:t>
            </a:r>
            <a:r>
              <a:rPr lang="en-US" i="1" dirty="0"/>
              <a:t> </a:t>
            </a:r>
            <a:r>
              <a:rPr lang="en-US" i="1" u="sng" dirty="0"/>
              <a:t>was</a:t>
            </a:r>
            <a:r>
              <a:rPr lang="en-US" i="1" dirty="0"/>
              <a:t> charming.</a:t>
            </a:r>
            <a:endParaRPr lang="en-US" dirty="0"/>
          </a:p>
          <a:p>
            <a:r>
              <a:rPr lang="en-US" dirty="0"/>
              <a:t>In those sentences, </a:t>
            </a:r>
            <a:r>
              <a:rPr lang="en-US" i="1" dirty="0"/>
              <a:t>breaking and entering</a:t>
            </a:r>
            <a:r>
              <a:rPr lang="en-US" dirty="0"/>
              <a:t> and </a:t>
            </a:r>
            <a:r>
              <a:rPr lang="en-US" i="1" dirty="0"/>
              <a:t>bed and breakfast</a:t>
            </a:r>
            <a:r>
              <a:rPr lang="en-US" dirty="0"/>
              <a:t> are compound nouns.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66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Rule 5a.</a:t>
            </a:r>
            <a:r>
              <a:rPr lang="en-US" dirty="0"/>
              <a:t> Sometimes the subject is separated from the verb by such words as </a:t>
            </a:r>
            <a:r>
              <a:rPr lang="en-US" i="1" dirty="0"/>
              <a:t>along with, as well as, besides, not,</a:t>
            </a:r>
            <a:r>
              <a:rPr lang="en-US" dirty="0"/>
              <a:t> etc. These words and phrases are not part of the subject. Ignore them and use a singular verb when the subject is singular.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dirty="0"/>
              <a:t>The </a:t>
            </a:r>
            <a:r>
              <a:rPr lang="en-US" i="1" u="sng" dirty="0"/>
              <a:t>politician</a:t>
            </a:r>
            <a:r>
              <a:rPr lang="en-US" i="1" dirty="0"/>
              <a:t>, along with the newsmen, </a:t>
            </a:r>
            <a:r>
              <a:rPr lang="en-US" i="1" u="sng" dirty="0"/>
              <a:t>is expected</a:t>
            </a:r>
            <a:r>
              <a:rPr lang="en-US" i="1" dirty="0"/>
              <a:t> shortly.</a:t>
            </a:r>
            <a:br>
              <a:rPr lang="en-US" i="1" dirty="0"/>
            </a:br>
            <a:r>
              <a:rPr lang="en-US" i="1" u="sng" dirty="0"/>
              <a:t>Excitement</a:t>
            </a:r>
            <a:r>
              <a:rPr lang="en-US" i="1" dirty="0"/>
              <a:t>, as well as nervousness, </a:t>
            </a:r>
            <a:r>
              <a:rPr lang="en-US" i="1" u="sng" dirty="0"/>
              <a:t>is</a:t>
            </a:r>
            <a:r>
              <a:rPr lang="en-US" i="1" dirty="0"/>
              <a:t> the cause of her shaking.</a:t>
            </a:r>
            <a:endParaRPr lang="en-US" dirty="0"/>
          </a:p>
          <a:p>
            <a:r>
              <a:rPr lang="en-US" b="1" i="1" dirty="0"/>
              <a:t>Rule 5b.</a:t>
            </a:r>
            <a:r>
              <a:rPr lang="en-US" dirty="0"/>
              <a:t> Parentheses are not part of the subject.</a:t>
            </a:r>
          </a:p>
          <a:p>
            <a:r>
              <a:rPr lang="en-US" b="1" i="1" dirty="0"/>
              <a:t>Example:</a:t>
            </a:r>
            <a:r>
              <a:rPr lang="en-US" i="1" dirty="0"/>
              <a:t> Joe (and his trusty mutt) </a:t>
            </a:r>
            <a:r>
              <a:rPr lang="en-US" b="1" i="1" dirty="0"/>
              <a:t>was</a:t>
            </a:r>
            <a:r>
              <a:rPr lang="en-US" i="1" dirty="0"/>
              <a:t> always welcome.</a:t>
            </a:r>
            <a:endParaRPr lang="en-US" dirty="0"/>
          </a:p>
          <a:p>
            <a:r>
              <a:rPr lang="en-US" dirty="0"/>
              <a:t>If this seems awkward, try rewriting the sentence!!!!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6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Rule 6.</a:t>
            </a:r>
            <a:r>
              <a:rPr lang="en-US" dirty="0"/>
              <a:t> In sentences beginning with </a:t>
            </a:r>
            <a:r>
              <a:rPr lang="en-US" i="1" dirty="0"/>
              <a:t>here</a:t>
            </a:r>
            <a:r>
              <a:rPr lang="en-US" dirty="0"/>
              <a:t> or </a:t>
            </a:r>
            <a:r>
              <a:rPr lang="en-US" i="1" dirty="0"/>
              <a:t>there,</a:t>
            </a:r>
            <a:r>
              <a:rPr lang="en-US" dirty="0"/>
              <a:t> the true subject follows the verb.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dirty="0"/>
              <a:t>There </a:t>
            </a:r>
            <a:r>
              <a:rPr lang="en-US" i="1" u="sng" dirty="0"/>
              <a:t>are</a:t>
            </a:r>
            <a:r>
              <a:rPr lang="en-US" i="1" dirty="0"/>
              <a:t> four </a:t>
            </a:r>
            <a:r>
              <a:rPr lang="en-US" i="1" u="sng" dirty="0"/>
              <a:t>hurdles</a:t>
            </a:r>
            <a:r>
              <a:rPr lang="en-US" i="1" dirty="0"/>
              <a:t> to jump.</a:t>
            </a:r>
            <a:br>
              <a:rPr lang="en-US" i="1" dirty="0"/>
            </a:br>
            <a:r>
              <a:rPr lang="en-US" i="1" dirty="0"/>
              <a:t>There </a:t>
            </a:r>
            <a:r>
              <a:rPr lang="en-US" i="1" u="sng" dirty="0"/>
              <a:t>is</a:t>
            </a:r>
            <a:r>
              <a:rPr lang="en-US" i="1" dirty="0"/>
              <a:t> a high </a:t>
            </a:r>
            <a:r>
              <a:rPr lang="en-US" i="1" u="sng" dirty="0"/>
              <a:t>hurdle</a:t>
            </a:r>
            <a:r>
              <a:rPr lang="en-US" i="1" dirty="0"/>
              <a:t> to jump.</a:t>
            </a:r>
            <a:br>
              <a:rPr lang="en-US" i="1" dirty="0"/>
            </a:br>
            <a:r>
              <a:rPr lang="en-US" i="1" dirty="0"/>
              <a:t>Here </a:t>
            </a:r>
            <a:r>
              <a:rPr lang="en-US" i="1" u="sng" dirty="0"/>
              <a:t>are</a:t>
            </a:r>
            <a:r>
              <a:rPr lang="en-US" i="1" dirty="0"/>
              <a:t> the </a:t>
            </a:r>
            <a:r>
              <a:rPr lang="en-US" i="1" u="sng" dirty="0"/>
              <a:t>keys</a:t>
            </a:r>
            <a:r>
              <a:rPr lang="en-US" i="1" dirty="0"/>
              <a:t>.</a:t>
            </a:r>
            <a:endParaRPr lang="en-US" dirty="0"/>
          </a:p>
          <a:p>
            <a:r>
              <a:rPr lang="en-US" dirty="0"/>
              <a:t>Word of caution </a:t>
            </a:r>
          </a:p>
          <a:p>
            <a:r>
              <a:rPr lang="en-US" dirty="0"/>
              <a:t>The word </a:t>
            </a:r>
            <a:r>
              <a:rPr lang="en-US" i="1" dirty="0"/>
              <a:t>there's</a:t>
            </a:r>
            <a:r>
              <a:rPr lang="en-US" dirty="0"/>
              <a:t>, a contraction of </a:t>
            </a:r>
            <a:r>
              <a:rPr lang="en-US" i="1" dirty="0"/>
              <a:t>there is</a:t>
            </a:r>
            <a:r>
              <a:rPr lang="en-US" dirty="0"/>
              <a:t>, leads to bad habits in informal sentences like </a:t>
            </a:r>
            <a:r>
              <a:rPr lang="en-US" i="1" dirty="0"/>
              <a:t>There's a lot of people here today</a:t>
            </a:r>
            <a:r>
              <a:rPr lang="en-US" dirty="0"/>
              <a:t>, because it's easier to say "there's" than "there are." Take care never to use </a:t>
            </a:r>
            <a:r>
              <a:rPr lang="en-US" i="1" dirty="0"/>
              <a:t>there's</a:t>
            </a:r>
            <a:r>
              <a:rPr lang="en-US" dirty="0"/>
              <a:t> with a plural subject.</a:t>
            </a:r>
          </a:p>
        </p:txBody>
      </p:sp>
    </p:spTree>
    <p:extLst>
      <p:ext uri="{BB962C8B-B14F-4D97-AF65-F5344CB8AC3E}">
        <p14:creationId xmlns:p14="http://schemas.microsoft.com/office/powerpoint/2010/main" val="157627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Rule 7.</a:t>
            </a:r>
            <a:r>
              <a:rPr lang="en-US" dirty="0"/>
              <a:t> Use a singular verb with distances, periods of time, sums of money, etc., when considered as a unit.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dirty="0"/>
              <a:t>Three miles </a:t>
            </a:r>
            <a:r>
              <a:rPr lang="en-US" b="1" i="1" dirty="0"/>
              <a:t>is</a:t>
            </a:r>
            <a:r>
              <a:rPr lang="en-US" i="1" dirty="0"/>
              <a:t> too far to walk.</a:t>
            </a:r>
            <a:br>
              <a:rPr lang="en-US" i="1" dirty="0"/>
            </a:br>
            <a:r>
              <a:rPr lang="en-US" i="1" dirty="0"/>
              <a:t>Five years </a:t>
            </a:r>
            <a:r>
              <a:rPr lang="en-US" b="1" i="1" dirty="0"/>
              <a:t>is</a:t>
            </a:r>
            <a:r>
              <a:rPr lang="en-US" i="1" dirty="0"/>
              <a:t> the maximum sentence for that offense.</a:t>
            </a:r>
            <a:br>
              <a:rPr lang="en-US" i="1" dirty="0"/>
            </a:br>
            <a:r>
              <a:rPr lang="en-US" i="1" dirty="0"/>
              <a:t>Ten dollars </a:t>
            </a:r>
            <a:r>
              <a:rPr lang="en-US" b="1" i="1" dirty="0"/>
              <a:t>is</a:t>
            </a:r>
            <a:r>
              <a:rPr lang="en-US" i="1" dirty="0"/>
              <a:t> a high price to pay.</a:t>
            </a:r>
            <a:br>
              <a:rPr lang="en-US" i="1" dirty="0"/>
            </a:br>
            <a:r>
              <a:rPr lang="en-US" b="1" dirty="0"/>
              <a:t>BUT</a:t>
            </a:r>
            <a:br>
              <a:rPr lang="en-US" i="1" dirty="0"/>
            </a:br>
            <a:r>
              <a:rPr lang="en-US" i="1" dirty="0"/>
              <a:t>Ten dollars (i.e., dollar bills) </a:t>
            </a:r>
            <a:r>
              <a:rPr lang="en-US" b="1" i="1" dirty="0"/>
              <a:t>were</a:t>
            </a:r>
            <a:r>
              <a:rPr lang="en-US" i="1" dirty="0"/>
              <a:t> scattered on the floor.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20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2618"/>
            <a:ext cx="10515600" cy="5664345"/>
          </a:xfrm>
        </p:spPr>
        <p:txBody>
          <a:bodyPr>
            <a:normAutofit/>
          </a:bodyPr>
          <a:lstStyle/>
          <a:p>
            <a:r>
              <a:rPr lang="en-US" b="1" i="1" dirty="0"/>
              <a:t>Rule 8.</a:t>
            </a:r>
            <a:r>
              <a:rPr lang="en-US" dirty="0"/>
              <a:t> With words that indicate portions—e.g., </a:t>
            </a:r>
            <a:r>
              <a:rPr lang="en-US" i="1" dirty="0"/>
              <a:t>a lot, a majority, some, all</a:t>
            </a:r>
            <a:r>
              <a:rPr lang="en-US" dirty="0"/>
              <a:t>—Rule 1 given earlier in this section is reversed, and we are guided by the noun after </a:t>
            </a:r>
            <a:r>
              <a:rPr lang="en-US" i="1" dirty="0"/>
              <a:t>of</a:t>
            </a:r>
            <a:r>
              <a:rPr lang="en-US" dirty="0"/>
              <a:t>. If the noun after </a:t>
            </a:r>
            <a:r>
              <a:rPr lang="en-US" i="1" dirty="0"/>
              <a:t>of</a:t>
            </a:r>
            <a:r>
              <a:rPr lang="en-US" dirty="0"/>
              <a:t> is singular, use a singular verb. If it is plural, use a plural verb.</a:t>
            </a:r>
          </a:p>
          <a:p>
            <a:r>
              <a:rPr lang="en-US" b="1" i="1" dirty="0"/>
              <a:t>Examples:</a:t>
            </a:r>
            <a:br>
              <a:rPr lang="en-US" i="1" dirty="0"/>
            </a:br>
            <a:r>
              <a:rPr lang="en-US" i="1" u="sng" dirty="0"/>
              <a:t>A lot</a:t>
            </a:r>
            <a:r>
              <a:rPr lang="en-US" i="1" dirty="0"/>
              <a:t> of the </a:t>
            </a:r>
            <a:r>
              <a:rPr lang="en-US" b="1" i="1" dirty="0"/>
              <a:t>pie </a:t>
            </a:r>
            <a:r>
              <a:rPr lang="en-US" i="1" u="sng" dirty="0"/>
              <a:t>has disappeared</a:t>
            </a:r>
            <a:r>
              <a:rPr lang="en-US" i="1" dirty="0"/>
              <a:t>.</a:t>
            </a:r>
            <a:br>
              <a:rPr lang="en-US" i="1" dirty="0"/>
            </a:br>
            <a:r>
              <a:rPr lang="en-US" i="1" u="sng" dirty="0"/>
              <a:t>A lot</a:t>
            </a:r>
            <a:r>
              <a:rPr lang="en-US" i="1" dirty="0"/>
              <a:t> of the </a:t>
            </a:r>
            <a:r>
              <a:rPr lang="en-US" b="1" i="1" dirty="0"/>
              <a:t>pies</a:t>
            </a:r>
            <a:r>
              <a:rPr lang="en-US" i="1" dirty="0"/>
              <a:t> </a:t>
            </a:r>
            <a:r>
              <a:rPr lang="en-US" i="1" u="sng" dirty="0"/>
              <a:t>have disappeared</a:t>
            </a:r>
            <a:r>
              <a:rPr lang="en-US" i="1" dirty="0"/>
              <a:t>.</a:t>
            </a:r>
            <a:br>
              <a:rPr lang="en-US" i="1" dirty="0"/>
            </a:br>
            <a:r>
              <a:rPr lang="en-US" i="1" dirty="0"/>
              <a:t>A </a:t>
            </a:r>
            <a:r>
              <a:rPr lang="en-US" i="1" u="sng" dirty="0"/>
              <a:t>third</a:t>
            </a:r>
            <a:r>
              <a:rPr lang="en-US" i="1" dirty="0"/>
              <a:t> of the </a:t>
            </a:r>
            <a:r>
              <a:rPr lang="en-US" b="1" i="1" dirty="0"/>
              <a:t>city</a:t>
            </a:r>
            <a:r>
              <a:rPr lang="en-US" i="1" dirty="0"/>
              <a:t> </a:t>
            </a:r>
            <a:r>
              <a:rPr lang="en-US" i="1" u="sng" dirty="0"/>
              <a:t>is</a:t>
            </a:r>
            <a:r>
              <a:rPr lang="en-US" i="1" dirty="0"/>
              <a:t> unemployed.</a:t>
            </a:r>
            <a:br>
              <a:rPr lang="en-US" i="1" dirty="0"/>
            </a:br>
            <a:r>
              <a:rPr lang="en-US" i="1" dirty="0"/>
              <a:t>A </a:t>
            </a:r>
            <a:r>
              <a:rPr lang="en-US" i="1" u="sng" dirty="0"/>
              <a:t>third</a:t>
            </a:r>
            <a:r>
              <a:rPr lang="en-US" i="1" dirty="0"/>
              <a:t> of the </a:t>
            </a:r>
            <a:r>
              <a:rPr lang="en-US" b="1" i="1" dirty="0"/>
              <a:t>people</a:t>
            </a:r>
            <a:r>
              <a:rPr lang="en-US" i="1" dirty="0"/>
              <a:t> </a:t>
            </a:r>
            <a:r>
              <a:rPr lang="en-US" i="1" u="sng" dirty="0"/>
              <a:t>are</a:t>
            </a:r>
            <a:r>
              <a:rPr lang="en-US" i="1" dirty="0"/>
              <a:t> unemployed.</a:t>
            </a:r>
            <a:br>
              <a:rPr lang="en-US" i="1" dirty="0"/>
            </a:br>
            <a:r>
              <a:rPr lang="en-US" i="1" u="sng" dirty="0"/>
              <a:t>All</a:t>
            </a:r>
            <a:r>
              <a:rPr lang="en-US" i="1" dirty="0"/>
              <a:t> of the </a:t>
            </a:r>
            <a:r>
              <a:rPr lang="en-US" b="1" i="1" dirty="0"/>
              <a:t>pie</a:t>
            </a:r>
            <a:r>
              <a:rPr lang="en-US" i="1" dirty="0"/>
              <a:t> </a:t>
            </a:r>
            <a:r>
              <a:rPr lang="en-US" i="1" u="sng" dirty="0"/>
              <a:t>is</a:t>
            </a:r>
            <a:r>
              <a:rPr lang="en-US" i="1" dirty="0"/>
              <a:t> gone.</a:t>
            </a:r>
            <a:br>
              <a:rPr lang="en-US" i="1" dirty="0"/>
            </a:br>
            <a:r>
              <a:rPr lang="en-US" i="1" u="sng" dirty="0"/>
              <a:t>All</a:t>
            </a:r>
            <a:r>
              <a:rPr lang="en-US" i="1" dirty="0"/>
              <a:t> of the </a:t>
            </a:r>
            <a:r>
              <a:rPr lang="en-US" b="1" i="1" dirty="0"/>
              <a:t>pies</a:t>
            </a:r>
            <a:r>
              <a:rPr lang="en-US" i="1" dirty="0"/>
              <a:t> </a:t>
            </a:r>
            <a:r>
              <a:rPr lang="en-US" i="1" u="sng" dirty="0"/>
              <a:t>are</a:t>
            </a:r>
            <a:r>
              <a:rPr lang="en-US" i="1" dirty="0"/>
              <a:t> gone.</a:t>
            </a:r>
            <a:br>
              <a:rPr lang="en-US" i="1" dirty="0"/>
            </a:br>
            <a:r>
              <a:rPr lang="en-US" i="1" u="sng" dirty="0"/>
              <a:t>Some</a:t>
            </a:r>
            <a:r>
              <a:rPr lang="en-US" i="1" dirty="0"/>
              <a:t> of the </a:t>
            </a:r>
            <a:r>
              <a:rPr lang="en-US" b="1" i="1" dirty="0"/>
              <a:t>pie</a:t>
            </a:r>
            <a:r>
              <a:rPr lang="en-US" i="1" dirty="0"/>
              <a:t> </a:t>
            </a:r>
            <a:r>
              <a:rPr lang="en-US" i="1" u="sng" dirty="0"/>
              <a:t>is</a:t>
            </a:r>
            <a:r>
              <a:rPr lang="en-US" i="1" dirty="0"/>
              <a:t> missing.</a:t>
            </a:r>
            <a:br>
              <a:rPr lang="en-US" i="1" dirty="0"/>
            </a:br>
            <a:r>
              <a:rPr lang="en-US" i="1" u="sng" dirty="0"/>
              <a:t>Some</a:t>
            </a:r>
            <a:r>
              <a:rPr lang="en-US" i="1" dirty="0"/>
              <a:t> of the </a:t>
            </a:r>
            <a:r>
              <a:rPr lang="en-US" b="1" i="1" dirty="0"/>
              <a:t>pies</a:t>
            </a:r>
            <a:r>
              <a:rPr lang="en-US" i="1" dirty="0"/>
              <a:t> </a:t>
            </a:r>
            <a:r>
              <a:rPr lang="en-US" i="1" u="sng" dirty="0"/>
              <a:t>are</a:t>
            </a:r>
            <a:r>
              <a:rPr lang="en-US" i="1" dirty="0"/>
              <a:t> missing.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5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Trivia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recent years, the SAT testing service has considered </a:t>
            </a:r>
            <a:r>
              <a:rPr lang="en-US" i="1" dirty="0"/>
              <a:t>none</a:t>
            </a:r>
            <a:r>
              <a:rPr lang="en-US" dirty="0"/>
              <a:t> to be strictly singular. However, according to </a:t>
            </a:r>
            <a:r>
              <a:rPr lang="en-US" i="1" dirty="0"/>
              <a:t>Merriam-Webster's Dictionary of English Usage</a:t>
            </a:r>
            <a:r>
              <a:rPr lang="en-US" dirty="0"/>
              <a:t>: "Clearly </a:t>
            </a:r>
            <a:r>
              <a:rPr lang="en-US" i="1" dirty="0"/>
              <a:t>none</a:t>
            </a:r>
            <a:r>
              <a:rPr lang="en-US" dirty="0"/>
              <a:t> has been both singular and plural since Old English and still is. The notion that it is singular only is a myth of unknown origin that appears to have arisen in the 19th century. If in context it seems like a singular to you, use a singular verb; if it seems like a plural, use a plural verb. Both are acceptable beyond serious criticism." When </a:t>
            </a:r>
            <a:r>
              <a:rPr lang="en-US" i="1" dirty="0"/>
              <a:t>none</a:t>
            </a:r>
            <a:r>
              <a:rPr lang="en-US" dirty="0"/>
              <a:t> is clearly intended to mean "not one," it is followed by a singular verb.</a:t>
            </a:r>
          </a:p>
        </p:txBody>
      </p:sp>
    </p:spTree>
    <p:extLst>
      <p:ext uri="{BB962C8B-B14F-4D97-AF65-F5344CB8AC3E}">
        <p14:creationId xmlns:p14="http://schemas.microsoft.com/office/powerpoint/2010/main" val="3097664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Rule 9.</a:t>
            </a:r>
            <a:r>
              <a:rPr lang="en-US" dirty="0"/>
              <a:t> With </a:t>
            </a:r>
            <a:r>
              <a:rPr lang="en-US" b="1" dirty="0"/>
              <a:t>collective nouns</a:t>
            </a:r>
            <a:r>
              <a:rPr lang="en-US" dirty="0"/>
              <a:t> such as </a:t>
            </a:r>
            <a:r>
              <a:rPr lang="en-US" i="1" dirty="0"/>
              <a:t>group</a:t>
            </a:r>
            <a:r>
              <a:rPr lang="en-US" dirty="0"/>
              <a:t>, </a:t>
            </a:r>
            <a:r>
              <a:rPr lang="en-US" i="1" dirty="0"/>
              <a:t>jury</a:t>
            </a:r>
            <a:r>
              <a:rPr lang="en-US" dirty="0"/>
              <a:t>, </a:t>
            </a:r>
            <a:r>
              <a:rPr lang="en-US" i="1" dirty="0"/>
              <a:t>family</a:t>
            </a:r>
            <a:r>
              <a:rPr lang="en-US" dirty="0"/>
              <a:t>, </a:t>
            </a:r>
            <a:r>
              <a:rPr lang="en-US" i="1" dirty="0"/>
              <a:t>audience</a:t>
            </a:r>
            <a:r>
              <a:rPr lang="en-US" dirty="0"/>
              <a:t>, </a:t>
            </a:r>
            <a:r>
              <a:rPr lang="en-US" i="1" dirty="0"/>
              <a:t>population</a:t>
            </a:r>
            <a:r>
              <a:rPr lang="en-US" dirty="0"/>
              <a:t>, the verb might be singular or plural, depending on the writer's intent.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u="sng" dirty="0"/>
              <a:t>All</a:t>
            </a:r>
            <a:r>
              <a:rPr lang="en-US" i="1" dirty="0"/>
              <a:t> of my </a:t>
            </a:r>
            <a:r>
              <a:rPr lang="en-US" b="1" i="1" dirty="0"/>
              <a:t>family</a:t>
            </a:r>
            <a:r>
              <a:rPr lang="en-US" i="1" dirty="0"/>
              <a:t> </a:t>
            </a:r>
            <a:r>
              <a:rPr lang="en-US" i="1" u="sng" dirty="0"/>
              <a:t>has arrived</a:t>
            </a:r>
            <a:r>
              <a:rPr lang="en-US" dirty="0"/>
              <a:t> OR </a:t>
            </a:r>
            <a:r>
              <a:rPr lang="en-US" i="1" u="sng" dirty="0"/>
              <a:t>have arrived</a:t>
            </a:r>
            <a:r>
              <a:rPr lang="en-US" i="1" dirty="0"/>
              <a:t>.</a:t>
            </a:r>
            <a:br>
              <a:rPr lang="en-US" i="1" dirty="0"/>
            </a:br>
            <a:r>
              <a:rPr lang="en-US" i="1" u="sng" dirty="0"/>
              <a:t>Most</a:t>
            </a:r>
            <a:r>
              <a:rPr lang="en-US" i="1" dirty="0"/>
              <a:t> of the </a:t>
            </a:r>
            <a:r>
              <a:rPr lang="en-US" b="1" i="1" dirty="0"/>
              <a:t>jury</a:t>
            </a:r>
            <a:r>
              <a:rPr lang="en-US" i="1" dirty="0"/>
              <a:t> </a:t>
            </a:r>
            <a:r>
              <a:rPr lang="en-US" i="1" u="sng" dirty="0"/>
              <a:t>is</a:t>
            </a:r>
            <a:r>
              <a:rPr lang="en-US" i="1" dirty="0"/>
              <a:t> here</a:t>
            </a:r>
            <a:r>
              <a:rPr lang="en-US" dirty="0"/>
              <a:t> OR </a:t>
            </a:r>
            <a:r>
              <a:rPr lang="en-US" i="1" u="sng" dirty="0"/>
              <a:t>are</a:t>
            </a:r>
            <a:r>
              <a:rPr lang="en-US" i="1" dirty="0"/>
              <a:t> here.</a:t>
            </a:r>
            <a:br>
              <a:rPr lang="en-US" i="1" dirty="0"/>
            </a:br>
            <a:r>
              <a:rPr lang="en-US" i="1" dirty="0"/>
              <a:t>A </a:t>
            </a:r>
            <a:r>
              <a:rPr lang="en-US" i="1" u="sng" dirty="0"/>
              <a:t>third</a:t>
            </a:r>
            <a:r>
              <a:rPr lang="en-US" i="1" dirty="0"/>
              <a:t> of the </a:t>
            </a:r>
            <a:r>
              <a:rPr lang="en-US" b="1" i="1" dirty="0"/>
              <a:t>population</a:t>
            </a:r>
            <a:r>
              <a:rPr lang="en-US" i="1" dirty="0"/>
              <a:t> </a:t>
            </a:r>
            <a:r>
              <a:rPr lang="en-US" i="1" u="sng" dirty="0"/>
              <a:t>was</a:t>
            </a:r>
            <a:r>
              <a:rPr lang="en-US" i="1" dirty="0"/>
              <a:t> opposed</a:t>
            </a:r>
            <a:r>
              <a:rPr lang="en-US" dirty="0"/>
              <a:t> OR </a:t>
            </a:r>
            <a:r>
              <a:rPr lang="en-US" i="1" u="sng" dirty="0"/>
              <a:t>were</a:t>
            </a:r>
            <a:r>
              <a:rPr lang="en-US" i="1" dirty="0"/>
              <a:t> opposed to the bill.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569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of caution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Anyone who uses a plural verb with a collective noun must take care to be accurate—and also consistent. It must not be done carelessly. The following is the sort of flawed sentence one sees and hears a lot these days:</a:t>
            </a:r>
          </a:p>
          <a:p>
            <a:r>
              <a:rPr lang="en-US" i="1" dirty="0"/>
              <a:t>The staff is deciding how they want to vote.</a:t>
            </a:r>
            <a:br>
              <a:rPr lang="en-US" dirty="0"/>
            </a:br>
            <a:r>
              <a:rPr lang="en-US" dirty="0"/>
              <a:t>Careful speakers and writers would avoid assigning the singular </a:t>
            </a:r>
            <a:r>
              <a:rPr lang="en-US" i="1" dirty="0"/>
              <a:t>is</a:t>
            </a:r>
            <a:r>
              <a:rPr lang="en-US" dirty="0"/>
              <a:t> and the plural </a:t>
            </a:r>
            <a:r>
              <a:rPr lang="en-US" i="1" dirty="0"/>
              <a:t>they </a:t>
            </a:r>
            <a:r>
              <a:rPr lang="en-US" dirty="0"/>
              <a:t>to </a:t>
            </a:r>
            <a:r>
              <a:rPr lang="en-US" i="1" dirty="0"/>
              <a:t>staff</a:t>
            </a:r>
            <a:r>
              <a:rPr lang="en-US" dirty="0"/>
              <a:t> in the same sentence.</a:t>
            </a:r>
          </a:p>
          <a:p>
            <a:r>
              <a:rPr lang="en-US" b="1" i="1" dirty="0"/>
              <a:t>Consistent:</a:t>
            </a:r>
            <a:r>
              <a:rPr lang="en-US" dirty="0"/>
              <a:t> </a:t>
            </a:r>
            <a:r>
              <a:rPr lang="en-US" i="1" dirty="0"/>
              <a:t>The staff </a:t>
            </a:r>
            <a:r>
              <a:rPr lang="en-US" b="1" i="1" dirty="0"/>
              <a:t>are</a:t>
            </a:r>
            <a:r>
              <a:rPr lang="en-US" i="1" dirty="0"/>
              <a:t> deciding how </a:t>
            </a:r>
            <a:r>
              <a:rPr lang="en-US" b="1" i="1" dirty="0"/>
              <a:t>they</a:t>
            </a:r>
            <a:r>
              <a:rPr lang="en-US" i="1" dirty="0"/>
              <a:t> want to vote.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Rewriting such sentences is recommended whenever possible. The preceding sentence would read even better as:</a:t>
            </a:r>
          </a:p>
          <a:p>
            <a:r>
              <a:rPr lang="en-US" i="1" dirty="0"/>
              <a:t>The staff members are deciding how they want to vote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10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836"/>
            <a:ext cx="10515600" cy="6066127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Rule 10.</a:t>
            </a:r>
            <a:r>
              <a:rPr lang="en-US" dirty="0"/>
              <a:t> The word </a:t>
            </a:r>
            <a:r>
              <a:rPr lang="en-US" i="1" dirty="0"/>
              <a:t>were</a:t>
            </a:r>
            <a:r>
              <a:rPr lang="en-US" dirty="0"/>
              <a:t> replaces </a:t>
            </a:r>
            <a:r>
              <a:rPr lang="en-US" i="1" dirty="0"/>
              <a:t>was</a:t>
            </a:r>
            <a:r>
              <a:rPr lang="en-US" dirty="0"/>
              <a:t> in sentences that express a wish or are contrary to fact:</a:t>
            </a:r>
          </a:p>
          <a:p>
            <a:r>
              <a:rPr lang="en-US" b="1" i="1" dirty="0"/>
              <a:t>Example:</a:t>
            </a:r>
            <a:r>
              <a:rPr lang="en-US" dirty="0"/>
              <a:t> </a:t>
            </a:r>
            <a:r>
              <a:rPr lang="en-US" i="1" dirty="0"/>
              <a:t>If Joe </a:t>
            </a:r>
            <a:r>
              <a:rPr lang="en-US" b="1" i="1" dirty="0"/>
              <a:t>were</a:t>
            </a:r>
            <a:r>
              <a:rPr lang="en-US" i="1" dirty="0"/>
              <a:t> here, you'd be sorry.</a:t>
            </a:r>
            <a:endParaRPr lang="en-US" dirty="0"/>
          </a:p>
          <a:p>
            <a:r>
              <a:rPr lang="en-US" dirty="0"/>
              <a:t>Shouldn't </a:t>
            </a:r>
            <a:r>
              <a:rPr lang="en-US" i="1" dirty="0"/>
              <a:t>Joe</a:t>
            </a:r>
            <a:r>
              <a:rPr lang="en-US" dirty="0"/>
              <a:t> be followed by </a:t>
            </a:r>
            <a:r>
              <a:rPr lang="en-US" i="1" dirty="0"/>
              <a:t>was</a:t>
            </a:r>
            <a:r>
              <a:rPr lang="en-US" dirty="0"/>
              <a:t>, not </a:t>
            </a:r>
            <a:r>
              <a:rPr lang="en-US" i="1" dirty="0"/>
              <a:t>were</a:t>
            </a:r>
            <a:r>
              <a:rPr lang="en-US" dirty="0"/>
              <a:t>, given that </a:t>
            </a:r>
            <a:r>
              <a:rPr lang="en-US" i="1" dirty="0"/>
              <a:t>Joe</a:t>
            </a:r>
            <a:r>
              <a:rPr lang="en-US" dirty="0"/>
              <a:t> is singular? But Joe isn't actually here, so we say </a:t>
            </a:r>
            <a:r>
              <a:rPr lang="en-US" i="1" dirty="0"/>
              <a:t>were</a:t>
            </a:r>
            <a:r>
              <a:rPr lang="en-US" dirty="0"/>
              <a:t>, not </a:t>
            </a:r>
            <a:r>
              <a:rPr lang="en-US" i="1" dirty="0"/>
              <a:t>was</a:t>
            </a:r>
            <a:r>
              <a:rPr lang="en-US" dirty="0"/>
              <a:t>. These types sentences are used to express things that are hypothetical, wishful, imaginary, or factually contradictory. </a:t>
            </a:r>
          </a:p>
          <a:p>
            <a:r>
              <a:rPr lang="en-US" b="1" i="1" dirty="0"/>
              <a:t>Examples:</a:t>
            </a:r>
            <a:br>
              <a:rPr lang="en-US" dirty="0"/>
            </a:br>
            <a:r>
              <a:rPr lang="en-US" i="1" dirty="0"/>
              <a:t>I wish it </a:t>
            </a:r>
            <a:r>
              <a:rPr lang="en-US" b="1" i="1" dirty="0"/>
              <a:t>were</a:t>
            </a:r>
            <a:r>
              <a:rPr lang="en-US" i="1" dirty="0"/>
              <a:t> Friday.</a:t>
            </a:r>
            <a:br>
              <a:rPr lang="en-US" i="1" dirty="0"/>
            </a:br>
            <a:r>
              <a:rPr lang="en-US" i="1" dirty="0"/>
              <a:t>She requested that he </a:t>
            </a:r>
            <a:r>
              <a:rPr lang="en-US" b="1" i="1" dirty="0"/>
              <a:t>raise</a:t>
            </a:r>
            <a:r>
              <a:rPr lang="en-US" i="1" dirty="0"/>
              <a:t> his hand.</a:t>
            </a:r>
            <a:endParaRPr lang="en-US" dirty="0"/>
          </a:p>
          <a:p>
            <a:r>
              <a:rPr lang="en-US" dirty="0"/>
              <a:t>In the first example, a wishful statement, not a fact, is being expressed; therefore, </a:t>
            </a:r>
            <a:r>
              <a:rPr lang="en-US" i="1" dirty="0"/>
              <a:t>were</a:t>
            </a:r>
            <a:r>
              <a:rPr lang="en-US" dirty="0"/>
              <a:t>, which we usually think of as a plural verb, is used with the singular </a:t>
            </a:r>
            <a:r>
              <a:rPr lang="en-US" i="1" dirty="0"/>
              <a:t>it.</a:t>
            </a:r>
            <a:r>
              <a:rPr lang="en-US" dirty="0"/>
              <a:t> 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Normally, </a:t>
            </a:r>
            <a:r>
              <a:rPr lang="en-US" i="1" dirty="0"/>
              <a:t>he raise</a:t>
            </a:r>
            <a:r>
              <a:rPr lang="en-US" dirty="0"/>
              <a:t> would sound terrible to us. However, in the second example, where a request is being expressed, the sentence is correct.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459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Thank You</a:t>
            </a:r>
          </a:p>
          <a:p>
            <a:endParaRPr lang="en-US" dirty="0"/>
          </a:p>
          <a:p>
            <a:r>
              <a:rPr lang="en-US" dirty="0"/>
              <a:t>Hope you are in agreement with the subject and the verb!!!</a:t>
            </a:r>
          </a:p>
          <a:p>
            <a:r>
              <a:rPr lang="en-US" dirty="0"/>
              <a:t>Hope you agree with all the rules of the SVA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/>
              <a:t>Prepared – Dr. </a:t>
            </a:r>
            <a:r>
              <a:rPr lang="en-US" dirty="0"/>
              <a:t>Kiran Magavi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64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1496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English Grammar  </vt:lpstr>
      <vt:lpstr>Parts of speech </vt:lpstr>
      <vt:lpstr>Tense forms – a category that expresses time at the moment of speaking or expressing </vt:lpstr>
      <vt:lpstr>Subject verb Agreement (SVA)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Trivia </vt:lpstr>
      <vt:lpstr>PowerPoint Presentation</vt:lpstr>
      <vt:lpstr>A word of caution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Grammar  Bridge Course – session 2 </dc:title>
  <dc:creator>kiraaan</dc:creator>
  <cp:lastModifiedBy>Rishi Magavi</cp:lastModifiedBy>
  <cp:revision>13</cp:revision>
  <dcterms:created xsi:type="dcterms:W3CDTF">2020-09-24T06:45:25Z</dcterms:created>
  <dcterms:modified xsi:type="dcterms:W3CDTF">2022-03-07T03:12:52Z</dcterms:modified>
</cp:coreProperties>
</file>