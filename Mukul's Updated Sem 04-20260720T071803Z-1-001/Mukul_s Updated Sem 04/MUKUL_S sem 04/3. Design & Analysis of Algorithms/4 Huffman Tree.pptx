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2" r:id="rId2"/>
    <p:sldId id="269" r:id="rId3"/>
    <p:sldId id="270" r:id="rId4"/>
    <p:sldId id="271" r:id="rId5"/>
    <p:sldId id="272" r:id="rId6"/>
    <p:sldId id="273" r:id="rId7"/>
    <p:sldId id="274" r:id="rId8"/>
    <p:sldId id="275" r:id="rId9"/>
    <p:sldId id="276" r:id="rId10"/>
    <p:sldId id="277" r:id="rId11"/>
    <p:sldId id="278" r:id="rId12"/>
    <p:sldId id="279"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2365375"/>
          </a:xfrm>
        </p:spPr>
        <p:txBody>
          <a:bodyPr>
            <a:normAutofit fontScale="90000"/>
          </a:bodyPr>
          <a:lstStyle/>
          <a:p>
            <a:r>
              <a:rPr lang="en-US" sz="7200" b="1" dirty="0" smtClean="0">
                <a:latin typeface="Times New Roman" pitchFamily="18" charset="0"/>
                <a:cs typeface="Times New Roman" pitchFamily="18" charset="0"/>
              </a:rPr>
              <a:t>HUFFMAN TREES AND CODES</a:t>
            </a:r>
            <a:endParaRPr lang="en-US" sz="72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411162"/>
          </a:xfrm>
        </p:spPr>
        <p:txBody>
          <a:bodyPr>
            <a:normAutofit fontScale="90000"/>
          </a:bodyPr>
          <a:lstStyle/>
          <a:p>
            <a:r>
              <a:rPr lang="en-US" dirty="0" smtClean="0"/>
              <a:t>Huffman Coding</a:t>
            </a:r>
            <a:endParaRPr lang="en-US" dirty="0"/>
          </a:p>
        </p:txBody>
      </p:sp>
      <p:sp>
        <p:nvSpPr>
          <p:cNvPr id="3" name="Content Placeholder 2"/>
          <p:cNvSpPr>
            <a:spLocks noGrp="1"/>
          </p:cNvSpPr>
          <p:nvPr>
            <p:ph idx="1"/>
          </p:nvPr>
        </p:nvSpPr>
        <p:spPr>
          <a:xfrm>
            <a:off x="0" y="685800"/>
            <a:ext cx="9144000" cy="6172200"/>
          </a:xfrm>
        </p:spPr>
        <p:txBody>
          <a:bodyPr/>
          <a:lstStyle/>
          <a:p>
            <a:r>
              <a:rPr lang="en-US" dirty="0" smtClean="0"/>
              <a:t> Huffman coding is a way of encoding characters into a sequence of 0s and 1s.</a:t>
            </a:r>
          </a:p>
          <a:p>
            <a:endParaRPr lang="en-US" dirty="0" smtClean="0"/>
          </a:p>
          <a:p>
            <a:endParaRPr lang="en-US" dirty="0" smtClean="0"/>
          </a:p>
          <a:p>
            <a:pPr algn="just"/>
            <a:r>
              <a:rPr lang="en-US" dirty="0"/>
              <a:t> </a:t>
            </a:r>
            <a:r>
              <a:rPr lang="en-US" dirty="0" smtClean="0"/>
              <a:t>Huffman coding generates a set of codes based on the frequency of occurrence of the characters. When the data is coded using these characters, the resulting encoding has a shorter length compared to an encoding that uses 8 bits to encode the data.</a:t>
            </a:r>
          </a:p>
          <a:p>
            <a:endParaRPr lang="en-US" dirty="0"/>
          </a:p>
        </p:txBody>
      </p:sp>
    </p:spTree>
    <p:extLst>
      <p:ext uri="{BB962C8B-B14F-4D97-AF65-F5344CB8AC3E}">
        <p14:creationId xmlns="" xmlns:p14="http://schemas.microsoft.com/office/powerpoint/2010/main" val="3784771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92500" lnSpcReduction="10000"/>
          </a:bodyPr>
          <a:lstStyle/>
          <a:p>
            <a:r>
              <a:rPr lang="en-US" dirty="0" smtClean="0"/>
              <a:t> The Problem</a:t>
            </a:r>
          </a:p>
          <a:p>
            <a:endParaRPr lang="en-US" dirty="0"/>
          </a:p>
          <a:p>
            <a:pPr marL="0" indent="0">
              <a:buNone/>
            </a:pPr>
            <a:r>
              <a:rPr lang="en-US" dirty="0" smtClean="0"/>
              <a:t>Encoding symbols using bits: Encoding scheme that takes text written in alphabets &amp; converts this text into long string of bits.</a:t>
            </a:r>
          </a:p>
          <a:p>
            <a:pPr marL="0" indent="0">
              <a:buNone/>
            </a:pPr>
            <a:endParaRPr lang="en-US" dirty="0"/>
          </a:p>
          <a:p>
            <a:pPr marL="0" indent="0">
              <a:buNone/>
            </a:pPr>
            <a:r>
              <a:rPr lang="en-US" dirty="0" smtClean="0"/>
              <a:t>Ex: 26 letters in English + space + ! + . + ? +’ = 32 symbols</a:t>
            </a:r>
          </a:p>
          <a:p>
            <a:pPr marL="0" indent="0">
              <a:buNone/>
            </a:pPr>
            <a:endParaRPr lang="en-US" dirty="0"/>
          </a:p>
          <a:p>
            <a:pPr marL="0" indent="0">
              <a:buNone/>
            </a:pPr>
            <a:r>
              <a:rPr lang="en-US" dirty="0" err="1" smtClean="0"/>
              <a:t>i.e</a:t>
            </a:r>
            <a:r>
              <a:rPr lang="en-US" dirty="0" smtClean="0"/>
              <a:t> 2 pow b sequences. So b =5.</a:t>
            </a:r>
          </a:p>
          <a:p>
            <a:pPr marL="0" indent="0">
              <a:buNone/>
            </a:pPr>
            <a:r>
              <a:rPr lang="en-US" dirty="0" err="1" smtClean="0"/>
              <a:t>Ie</a:t>
            </a:r>
            <a:r>
              <a:rPr lang="en-US" dirty="0" smtClean="0"/>
              <a:t> each alphabet will be 5  bits long.</a:t>
            </a:r>
          </a:p>
          <a:p>
            <a:pPr marL="0" indent="0">
              <a:buNone/>
            </a:pPr>
            <a:endParaRPr lang="en-US" dirty="0"/>
          </a:p>
          <a:p>
            <a:pPr marL="0" indent="0">
              <a:buNone/>
            </a:pPr>
            <a:r>
              <a:rPr lang="en-US" dirty="0" smtClean="0"/>
              <a:t>We couldn’t ask to encode each symbol using 4 bits.</a:t>
            </a:r>
          </a:p>
          <a:p>
            <a:pPr marL="0" indent="0">
              <a:buNone/>
            </a:pPr>
            <a:r>
              <a:rPr lang="en-US" dirty="0" smtClean="0"/>
              <a:t>Letters do not get used equally frequently. </a:t>
            </a:r>
            <a:endParaRPr lang="en-US" dirty="0"/>
          </a:p>
        </p:txBody>
      </p:sp>
    </p:spTree>
    <p:extLst>
      <p:ext uri="{BB962C8B-B14F-4D97-AF65-F5344CB8AC3E}">
        <p14:creationId xmlns="" xmlns:p14="http://schemas.microsoft.com/office/powerpoint/2010/main" val="299795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r>
              <a:rPr lang="en-US" dirty="0" smtClean="0"/>
              <a:t> Letters e, t, a, o, I, n get used much more frequently than q, j, x, z.</a:t>
            </a:r>
          </a:p>
          <a:p>
            <a:endParaRPr lang="en-US" dirty="0"/>
          </a:p>
          <a:p>
            <a:pPr algn="just"/>
            <a:r>
              <a:rPr lang="en-US" dirty="0" smtClean="0"/>
              <a:t> So it’s a waste to translate them all into same number of bits. Instead use small number of bits for frequent letters and large number of bits for less frequent ones and end up using fewer than 5 bits per letter when we average over long string of typical text.   </a:t>
            </a:r>
            <a:endParaRPr lang="en-US" dirty="0"/>
          </a:p>
        </p:txBody>
      </p:sp>
    </p:spTree>
    <p:extLst>
      <p:ext uri="{BB962C8B-B14F-4D97-AF65-F5344CB8AC3E}">
        <p14:creationId xmlns="" xmlns:p14="http://schemas.microsoft.com/office/powerpoint/2010/main" val="1716081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lstStyle/>
          <a:p>
            <a:r>
              <a:rPr lang="en-US" dirty="0" smtClean="0"/>
              <a:t> Variable length encoding scheme</a:t>
            </a:r>
          </a:p>
          <a:p>
            <a:endParaRPr lang="en-US" dirty="0"/>
          </a:p>
          <a:p>
            <a:r>
              <a:rPr lang="en-US" dirty="0" smtClean="0"/>
              <a:t> Before internet, radio, telephone, digital computer </a:t>
            </a:r>
          </a:p>
          <a:p>
            <a:r>
              <a:rPr lang="en-US" dirty="0" smtClean="0"/>
              <a:t>Telegraph was used </a:t>
            </a:r>
          </a:p>
          <a:p>
            <a:r>
              <a:rPr lang="en-US" dirty="0"/>
              <a:t> </a:t>
            </a:r>
            <a:r>
              <a:rPr lang="en-US" dirty="0" smtClean="0"/>
              <a:t>It is capable of transmitting pulses down a wire. So to send message encode the text into sequence of pulses (Morse Code)</a:t>
            </a:r>
          </a:p>
          <a:p>
            <a:r>
              <a:rPr lang="en-US" dirty="0"/>
              <a:t> </a:t>
            </a:r>
            <a:r>
              <a:rPr lang="en-US" dirty="0" smtClean="0"/>
              <a:t>Translate each letter into dots and dashes.</a:t>
            </a:r>
          </a:p>
          <a:p>
            <a:r>
              <a:rPr lang="en-US" dirty="0"/>
              <a:t> </a:t>
            </a:r>
            <a:r>
              <a:rPr lang="en-US" dirty="0" smtClean="0"/>
              <a:t>Encode frequent letters with short strings</a:t>
            </a:r>
          </a:p>
          <a:p>
            <a:r>
              <a:rPr lang="en-US" dirty="0"/>
              <a:t> </a:t>
            </a:r>
            <a:r>
              <a:rPr lang="en-US" dirty="0" smtClean="0"/>
              <a:t>Asked printing press people to get frequency estimates for letters in English. </a:t>
            </a:r>
            <a:endParaRPr lang="en-US" dirty="0"/>
          </a:p>
        </p:txBody>
      </p:sp>
    </p:spTree>
    <p:extLst>
      <p:ext uri="{BB962C8B-B14F-4D97-AF65-F5344CB8AC3E}">
        <p14:creationId xmlns="" xmlns:p14="http://schemas.microsoft.com/office/powerpoint/2010/main" val="29426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fontScale="85000" lnSpcReduction="20000"/>
          </a:bodyPr>
          <a:lstStyle/>
          <a:p>
            <a:r>
              <a:rPr lang="en-US" dirty="0" smtClean="0"/>
              <a:t> Morse code maps e to 0 (DOT) t to 1 (DASH) a to 01.</a:t>
            </a:r>
          </a:p>
          <a:p>
            <a:endParaRPr lang="en-US" dirty="0"/>
          </a:p>
          <a:p>
            <a:r>
              <a:rPr lang="en-US" dirty="0" smtClean="0"/>
              <a:t> In general </a:t>
            </a:r>
            <a:r>
              <a:rPr lang="en-US" dirty="0" err="1" smtClean="0"/>
              <a:t>morse</a:t>
            </a:r>
            <a:r>
              <a:rPr lang="en-US" dirty="0"/>
              <a:t> </a:t>
            </a:r>
            <a:r>
              <a:rPr lang="en-US" dirty="0" smtClean="0"/>
              <a:t> code maps more frequent letters to shorter bit strings.</a:t>
            </a:r>
          </a:p>
          <a:p>
            <a:endParaRPr lang="en-US" dirty="0"/>
          </a:p>
          <a:p>
            <a:r>
              <a:rPr lang="en-US" dirty="0" smtClean="0"/>
              <a:t> Morse code is applied on letters/Alphabets and not on Words</a:t>
            </a:r>
          </a:p>
          <a:p>
            <a:r>
              <a:rPr lang="en-US" dirty="0"/>
              <a:t> </a:t>
            </a:r>
            <a:r>
              <a:rPr lang="en-US" dirty="0" smtClean="0"/>
              <a:t>ex eta  0101 aa, eta, </a:t>
            </a:r>
            <a:r>
              <a:rPr lang="en-US" dirty="0" err="1" smtClean="0"/>
              <a:t>etet</a:t>
            </a:r>
            <a:r>
              <a:rPr lang="en-US" dirty="0" smtClean="0"/>
              <a:t> or ate</a:t>
            </a:r>
          </a:p>
          <a:p>
            <a:r>
              <a:rPr lang="en-US" dirty="0"/>
              <a:t> </a:t>
            </a:r>
            <a:r>
              <a:rPr lang="en-US" dirty="0" smtClean="0"/>
              <a:t>To handle this </a:t>
            </a:r>
            <a:r>
              <a:rPr lang="en-US" dirty="0" err="1" smtClean="0"/>
              <a:t>morse</a:t>
            </a:r>
            <a:r>
              <a:rPr lang="en-US" dirty="0" smtClean="0"/>
              <a:t> code transmission involved shorter pauses between letters.</a:t>
            </a:r>
          </a:p>
          <a:p>
            <a:endParaRPr lang="en-US" dirty="0"/>
          </a:p>
          <a:p>
            <a:r>
              <a:rPr lang="en-US" dirty="0" smtClean="0"/>
              <a:t> ex aa .- pause .-</a:t>
            </a:r>
          </a:p>
          <a:p>
            <a:r>
              <a:rPr lang="en-US" dirty="0" smtClean="0"/>
              <a:t>But it actually means that we haven’t encoded the everything </a:t>
            </a:r>
            <a:r>
              <a:rPr lang="en-US" dirty="0" err="1" smtClean="0"/>
              <a:t>usinfg</a:t>
            </a:r>
            <a:r>
              <a:rPr lang="en-US" dirty="0" smtClean="0"/>
              <a:t> only bits 0,1 and pause.</a:t>
            </a:r>
          </a:p>
          <a:p>
            <a:endParaRPr lang="en-US" dirty="0"/>
          </a:p>
          <a:p>
            <a:r>
              <a:rPr lang="en-US" dirty="0" smtClean="0"/>
              <a:t> So if we want to encode everything using only the bits 0 and 1 we need to have some further encoding in which pause got mapped to bits.</a:t>
            </a:r>
            <a:endParaRPr lang="en-US" dirty="0"/>
          </a:p>
        </p:txBody>
      </p:sp>
    </p:spTree>
    <p:extLst>
      <p:ext uri="{BB962C8B-B14F-4D97-AF65-F5344CB8AC3E}">
        <p14:creationId xmlns="" xmlns:p14="http://schemas.microsoft.com/office/powerpoint/2010/main" val="1534427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62000" y="1143000"/>
            <a:ext cx="7620000" cy="4572000"/>
          </a:xfrm>
          <a:prstGeom prst="rect">
            <a:avLst/>
          </a:prstGeom>
        </p:spPr>
      </p:pic>
    </p:spTree>
    <p:extLst>
      <p:ext uri="{BB962C8B-B14F-4D97-AF65-F5344CB8AC3E}">
        <p14:creationId xmlns="" xmlns:p14="http://schemas.microsoft.com/office/powerpoint/2010/main" val="1109821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762000" y="1143000"/>
            <a:ext cx="7620000" cy="4572000"/>
          </a:xfrm>
          <a:prstGeom prst="rect">
            <a:avLst/>
          </a:prstGeom>
        </p:spPr>
      </p:pic>
    </p:spTree>
    <p:extLst>
      <p:ext uri="{BB962C8B-B14F-4D97-AF65-F5344CB8AC3E}">
        <p14:creationId xmlns="" xmlns:p14="http://schemas.microsoft.com/office/powerpoint/2010/main" val="2910863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 xmlns:p14="http://schemas.microsoft.com/office/powerpoint/2010/main" val="258600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 xmlns:p14="http://schemas.microsoft.com/office/powerpoint/2010/main" val="325864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 xmlns:p14="http://schemas.microsoft.com/office/powerpoint/2010/main" val="3885683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 xmlns:p14="http://schemas.microsoft.com/office/powerpoint/2010/main" val="4243542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Times New Roman" pitchFamily="18" charset="0"/>
                <a:cs typeface="Times New Roman" pitchFamily="18" charset="0"/>
              </a:rPr>
              <a:t>HUFFMAN TREES AND CODES</a:t>
            </a:r>
            <a:endParaRPr lang="en-US" sz="48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763000" cy="4953000"/>
          </a:xfrm>
        </p:spPr>
        <p:txBody>
          <a:bodyPr>
            <a:normAutofit/>
          </a:bodyPr>
          <a:lstStyle/>
          <a:p>
            <a:r>
              <a:rPr lang="en-US" sz="3600" dirty="0" smtClean="0">
                <a:latin typeface="Times New Roman" pitchFamily="18" charset="0"/>
                <a:cs typeface="Times New Roman" pitchFamily="18" charset="0"/>
              </a:rPr>
              <a:t>Consider the five-symbol alphabet {A, B, C, D, _} with the following occurrence frequencies in a text made up of these symbols:</a:t>
            </a:r>
          </a:p>
        </p:txBody>
      </p:sp>
      <p:sp>
        <p:nvSpPr>
          <p:cNvPr id="4" name="Slide Number Placeholder 3"/>
          <p:cNvSpPr>
            <a:spLocks noGrp="1"/>
          </p:cNvSpPr>
          <p:nvPr>
            <p:ph type="sldNum" sz="quarter" idx="12"/>
          </p:nvPr>
        </p:nvSpPr>
        <p:spPr/>
        <p:txBody>
          <a:bodyPr/>
          <a:lstStyle/>
          <a:p>
            <a:fld id="{1BB5884E-CF01-4077-9986-05D7C16A1A3B}" type="slidenum">
              <a:rPr lang="en-US" smtClean="0"/>
              <a:pPr/>
              <a:t>13</a:t>
            </a:fld>
            <a:endParaRPr lang="en-US"/>
          </a:p>
        </p:txBody>
      </p:sp>
      <p:pic>
        <p:nvPicPr>
          <p:cNvPr id="5" name="Picture 2"/>
          <p:cNvPicPr>
            <a:picLocks noChangeAspect="1" noChangeArrowheads="1"/>
          </p:cNvPicPr>
          <p:nvPr/>
        </p:nvPicPr>
        <p:blipFill>
          <a:blip r:embed="rId2"/>
          <a:srcRect/>
          <a:stretch>
            <a:fillRect/>
          </a:stretch>
        </p:blipFill>
        <p:spPr bwMode="auto">
          <a:xfrm>
            <a:off x="381000" y="4191000"/>
            <a:ext cx="8534400" cy="1690687"/>
          </a:xfrm>
          <a:prstGeom prst="rect">
            <a:avLst/>
          </a:prstGeom>
          <a:noFill/>
          <a:ln w="9525">
            <a:noFill/>
            <a:miter lim="800000"/>
            <a:headEnd/>
            <a:tailEnd/>
          </a:ln>
          <a:effectLst/>
        </p:spPr>
      </p:pic>
    </p:spTree>
    <p:extLst>
      <p:ext uri="{BB962C8B-B14F-4D97-AF65-F5344CB8AC3E}">
        <p14:creationId xmlns="" xmlns:p14="http://schemas.microsoft.com/office/powerpoint/2010/main" val="8812721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Times New Roman" pitchFamily="18" charset="0"/>
                <a:cs typeface="Times New Roman" pitchFamily="18" charset="0"/>
              </a:rPr>
              <a:t>HUFFMAN TREES AND CODES</a:t>
            </a:r>
            <a:endParaRPr lang="en-US" sz="48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BB5884E-CF01-4077-9986-05D7C16A1A3B}" type="slidenum">
              <a:rPr lang="en-US" smtClean="0"/>
              <a:pPr/>
              <a:t>14</a:t>
            </a:fld>
            <a:endParaRPr lang="en-US"/>
          </a:p>
        </p:txBody>
      </p:sp>
      <p:pic>
        <p:nvPicPr>
          <p:cNvPr id="1026" name="Picture 2"/>
          <p:cNvPicPr>
            <a:picLocks noChangeAspect="1" noChangeArrowheads="1"/>
          </p:cNvPicPr>
          <p:nvPr/>
        </p:nvPicPr>
        <p:blipFill>
          <a:blip r:embed="rId2"/>
          <a:srcRect/>
          <a:stretch>
            <a:fillRect/>
          </a:stretch>
        </p:blipFill>
        <p:spPr bwMode="auto">
          <a:xfrm>
            <a:off x="228600" y="1509713"/>
            <a:ext cx="8534400" cy="1690687"/>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t="21739"/>
          <a:stretch>
            <a:fillRect/>
          </a:stretch>
        </p:blipFill>
        <p:spPr bwMode="auto">
          <a:xfrm>
            <a:off x="457200" y="4343400"/>
            <a:ext cx="8470900" cy="1371600"/>
          </a:xfrm>
          <a:prstGeom prst="rect">
            <a:avLst/>
          </a:prstGeom>
          <a:noFill/>
          <a:ln w="9525">
            <a:noFill/>
            <a:miter lim="800000"/>
            <a:headEnd/>
            <a:tailEnd/>
          </a:ln>
          <a:effectLst/>
        </p:spPr>
      </p:pic>
    </p:spTree>
    <p:extLst>
      <p:ext uri="{BB962C8B-B14F-4D97-AF65-F5344CB8AC3E}">
        <p14:creationId xmlns:p14="http://schemas.microsoft.com/office/powerpoint/2010/main" xmlns="" val="37544572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Times New Roman" pitchFamily="18" charset="0"/>
                <a:cs typeface="Times New Roman" pitchFamily="18" charset="0"/>
              </a:rPr>
              <a:t>HUFFMAN TREES AND CODES</a:t>
            </a:r>
            <a:endParaRPr lang="en-US" sz="48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BB5884E-CF01-4077-9986-05D7C16A1A3B}" type="slidenum">
              <a:rPr lang="en-US" smtClean="0"/>
              <a:pPr/>
              <a:t>15</a:t>
            </a:fld>
            <a:endParaRPr lang="en-US"/>
          </a:p>
        </p:txBody>
      </p:sp>
      <p:pic>
        <p:nvPicPr>
          <p:cNvPr id="2050" name="Picture 2"/>
          <p:cNvPicPr>
            <a:picLocks noChangeAspect="1" noChangeArrowheads="1"/>
          </p:cNvPicPr>
          <p:nvPr/>
        </p:nvPicPr>
        <p:blipFill>
          <a:blip r:embed="rId2"/>
          <a:srcRect/>
          <a:stretch>
            <a:fillRect/>
          </a:stretch>
        </p:blipFill>
        <p:spPr bwMode="auto">
          <a:xfrm>
            <a:off x="457200" y="1447800"/>
            <a:ext cx="8102600" cy="16764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2895600" y="3505200"/>
            <a:ext cx="2971800" cy="3075813"/>
          </a:xfrm>
          <a:prstGeom prst="rect">
            <a:avLst/>
          </a:prstGeom>
          <a:noFill/>
          <a:ln w="9525">
            <a:noFill/>
            <a:miter lim="800000"/>
            <a:headEnd/>
            <a:tailEnd/>
          </a:ln>
          <a:effectLst/>
        </p:spPr>
      </p:pic>
    </p:spTree>
    <p:extLst>
      <p:ext uri="{BB962C8B-B14F-4D97-AF65-F5344CB8AC3E}">
        <p14:creationId xmlns:p14="http://schemas.microsoft.com/office/powerpoint/2010/main" xmlns="" val="37544572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Times New Roman" pitchFamily="18" charset="0"/>
                <a:cs typeface="Times New Roman" pitchFamily="18" charset="0"/>
              </a:rPr>
              <a:t>HUFFMAN TREES AND CODES</a:t>
            </a:r>
            <a:endParaRPr lang="en-US" sz="48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BB5884E-CF01-4077-9986-05D7C16A1A3B}" type="slidenum">
              <a:rPr lang="en-US" smtClean="0"/>
              <a:pPr/>
              <a:t>16</a:t>
            </a:fld>
            <a:endParaRPr lang="en-US"/>
          </a:p>
        </p:txBody>
      </p:sp>
      <p:pic>
        <p:nvPicPr>
          <p:cNvPr id="3074" name="Picture 2"/>
          <p:cNvPicPr>
            <a:picLocks noChangeAspect="1" noChangeArrowheads="1"/>
          </p:cNvPicPr>
          <p:nvPr/>
        </p:nvPicPr>
        <p:blipFill>
          <a:blip r:embed="rId2"/>
          <a:srcRect/>
          <a:stretch>
            <a:fillRect/>
          </a:stretch>
        </p:blipFill>
        <p:spPr bwMode="auto">
          <a:xfrm>
            <a:off x="762000" y="2438400"/>
            <a:ext cx="7543800" cy="2694214"/>
          </a:xfrm>
          <a:prstGeom prst="rect">
            <a:avLst/>
          </a:prstGeom>
          <a:noFill/>
          <a:ln w="9525">
            <a:noFill/>
            <a:miter lim="800000"/>
            <a:headEnd/>
            <a:tailEnd/>
          </a:ln>
          <a:effectLst/>
        </p:spPr>
      </p:pic>
    </p:spTree>
    <p:extLst>
      <p:ext uri="{BB962C8B-B14F-4D97-AF65-F5344CB8AC3E}">
        <p14:creationId xmlns:p14="http://schemas.microsoft.com/office/powerpoint/2010/main" xmlns="" val="37544572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Times New Roman" pitchFamily="18" charset="0"/>
                <a:cs typeface="Times New Roman" pitchFamily="18" charset="0"/>
              </a:rPr>
              <a:t>HUFFMAN TREES AND CODES</a:t>
            </a:r>
            <a:endParaRPr lang="en-US" sz="48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BB5884E-CF01-4077-9986-05D7C16A1A3B}" type="slidenum">
              <a:rPr lang="en-US" smtClean="0"/>
              <a:pPr/>
              <a:t>17</a:t>
            </a:fld>
            <a:endParaRPr lang="en-US"/>
          </a:p>
        </p:txBody>
      </p:sp>
      <p:pic>
        <p:nvPicPr>
          <p:cNvPr id="4098" name="Picture 2"/>
          <p:cNvPicPr>
            <a:picLocks noChangeAspect="1" noChangeArrowheads="1"/>
          </p:cNvPicPr>
          <p:nvPr/>
        </p:nvPicPr>
        <p:blipFill>
          <a:blip r:embed="rId2"/>
          <a:srcRect/>
          <a:stretch>
            <a:fillRect/>
          </a:stretch>
        </p:blipFill>
        <p:spPr bwMode="auto">
          <a:xfrm>
            <a:off x="381000" y="2362200"/>
            <a:ext cx="8319052" cy="2534281"/>
          </a:xfrm>
          <a:prstGeom prst="rect">
            <a:avLst/>
          </a:prstGeom>
          <a:noFill/>
          <a:ln w="9525">
            <a:noFill/>
            <a:miter lim="800000"/>
            <a:headEnd/>
            <a:tailEnd/>
          </a:ln>
          <a:effectLst/>
        </p:spPr>
      </p:pic>
    </p:spTree>
    <p:extLst>
      <p:ext uri="{BB962C8B-B14F-4D97-AF65-F5344CB8AC3E}">
        <p14:creationId xmlns:p14="http://schemas.microsoft.com/office/powerpoint/2010/main" xmlns="" val="37544572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Times New Roman" pitchFamily="18" charset="0"/>
                <a:cs typeface="Times New Roman" pitchFamily="18" charset="0"/>
              </a:rPr>
              <a:t>HUFFMAN TREES AND CODES</a:t>
            </a:r>
            <a:endParaRPr lang="en-US" sz="48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BB5884E-CF01-4077-9986-05D7C16A1A3B}" type="slidenum">
              <a:rPr lang="en-US" smtClean="0"/>
              <a:pPr/>
              <a:t>18</a:t>
            </a:fld>
            <a:endParaRPr lang="en-US"/>
          </a:p>
        </p:txBody>
      </p:sp>
      <p:pic>
        <p:nvPicPr>
          <p:cNvPr id="5122" name="Picture 2"/>
          <p:cNvPicPr>
            <a:picLocks noChangeAspect="1" noChangeArrowheads="1"/>
          </p:cNvPicPr>
          <p:nvPr/>
        </p:nvPicPr>
        <p:blipFill>
          <a:blip r:embed="rId2"/>
          <a:srcRect/>
          <a:stretch>
            <a:fillRect/>
          </a:stretch>
        </p:blipFill>
        <p:spPr bwMode="auto">
          <a:xfrm>
            <a:off x="457200" y="1524000"/>
            <a:ext cx="8124532" cy="4191000"/>
          </a:xfrm>
          <a:prstGeom prst="rect">
            <a:avLst/>
          </a:prstGeom>
          <a:noFill/>
          <a:ln w="9525">
            <a:noFill/>
            <a:miter lim="800000"/>
            <a:headEnd/>
            <a:tailEnd/>
          </a:ln>
          <a:effectLst/>
        </p:spPr>
      </p:pic>
    </p:spTree>
    <p:extLst>
      <p:ext uri="{BB962C8B-B14F-4D97-AF65-F5344CB8AC3E}">
        <p14:creationId xmlns:p14="http://schemas.microsoft.com/office/powerpoint/2010/main" xmlns="" val="37544572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Times New Roman" pitchFamily="18" charset="0"/>
                <a:cs typeface="Times New Roman" pitchFamily="18" charset="0"/>
              </a:rPr>
              <a:t>HUFFMAN TREES AND CODES</a:t>
            </a:r>
            <a:endParaRPr lang="en-US" sz="48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BB5884E-CF01-4077-9986-05D7C16A1A3B}" type="slidenum">
              <a:rPr lang="en-US" smtClean="0"/>
              <a:pPr/>
              <a:t>19</a:t>
            </a:fld>
            <a:endParaRPr lang="en-US"/>
          </a:p>
        </p:txBody>
      </p:sp>
      <p:pic>
        <p:nvPicPr>
          <p:cNvPr id="6146" name="Picture 2"/>
          <p:cNvPicPr>
            <a:picLocks noChangeAspect="1" noChangeArrowheads="1"/>
          </p:cNvPicPr>
          <p:nvPr/>
        </p:nvPicPr>
        <p:blipFill>
          <a:blip r:embed="rId2"/>
          <a:srcRect/>
          <a:stretch>
            <a:fillRect/>
          </a:stretch>
        </p:blipFill>
        <p:spPr bwMode="auto">
          <a:xfrm>
            <a:off x="762000" y="1406087"/>
            <a:ext cx="7772400" cy="5147113"/>
          </a:xfrm>
          <a:prstGeom prst="rect">
            <a:avLst/>
          </a:prstGeom>
          <a:noFill/>
          <a:ln w="9525">
            <a:noFill/>
            <a:miter lim="800000"/>
            <a:headEnd/>
            <a:tailEnd/>
          </a:ln>
          <a:effectLst/>
        </p:spPr>
      </p:pic>
    </p:spTree>
    <p:extLst>
      <p:ext uri="{BB962C8B-B14F-4D97-AF65-F5344CB8AC3E}">
        <p14:creationId xmlns:p14="http://schemas.microsoft.com/office/powerpoint/2010/main" xmlns="" val="37544572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Times New Roman" pitchFamily="18" charset="0"/>
                <a:cs typeface="Times New Roman" pitchFamily="18" charset="0"/>
              </a:rPr>
              <a:t>HUFFMAN TREES AND CODES</a:t>
            </a:r>
            <a:endParaRPr lang="en-US" sz="48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763000" cy="4953000"/>
          </a:xfrm>
        </p:spPr>
        <p:txBody>
          <a:bodyPr>
            <a:normAutofit/>
          </a:bodyPr>
          <a:lstStyle/>
          <a:p>
            <a:r>
              <a:rPr lang="en-US" sz="3600" dirty="0" smtClean="0">
                <a:latin typeface="Times New Roman" pitchFamily="18" charset="0"/>
                <a:cs typeface="Times New Roman" pitchFamily="18" charset="0"/>
              </a:rPr>
              <a:t>The resulting </a:t>
            </a:r>
            <a:r>
              <a:rPr lang="en-US" sz="3600" dirty="0" err="1" smtClean="0">
                <a:latin typeface="Times New Roman" pitchFamily="18" charset="0"/>
                <a:cs typeface="Times New Roman" pitchFamily="18" charset="0"/>
              </a:rPr>
              <a:t>codewords</a:t>
            </a:r>
            <a:r>
              <a:rPr lang="en-US" sz="3600" dirty="0" smtClean="0">
                <a:latin typeface="Times New Roman" pitchFamily="18" charset="0"/>
                <a:cs typeface="Times New Roman" pitchFamily="18" charset="0"/>
              </a:rPr>
              <a:t> are as follows :</a:t>
            </a:r>
          </a:p>
        </p:txBody>
      </p:sp>
      <p:sp>
        <p:nvSpPr>
          <p:cNvPr id="4" name="Slide Number Placeholder 3"/>
          <p:cNvSpPr>
            <a:spLocks noGrp="1"/>
          </p:cNvSpPr>
          <p:nvPr>
            <p:ph type="sldNum" sz="quarter" idx="12"/>
          </p:nvPr>
        </p:nvSpPr>
        <p:spPr/>
        <p:txBody>
          <a:bodyPr/>
          <a:lstStyle/>
          <a:p>
            <a:fld id="{1BB5884E-CF01-4077-9986-05D7C16A1A3B}" type="slidenum">
              <a:rPr lang="en-US" smtClean="0"/>
              <a:pPr/>
              <a:t>20</a:t>
            </a:fld>
            <a:endParaRPr lang="en-US"/>
          </a:p>
        </p:txBody>
      </p:sp>
      <p:pic>
        <p:nvPicPr>
          <p:cNvPr id="7170" name="Picture 2"/>
          <p:cNvPicPr>
            <a:picLocks noChangeAspect="1" noChangeArrowheads="1"/>
          </p:cNvPicPr>
          <p:nvPr/>
        </p:nvPicPr>
        <p:blipFill>
          <a:blip r:embed="rId2"/>
          <a:srcRect/>
          <a:stretch>
            <a:fillRect/>
          </a:stretch>
        </p:blipFill>
        <p:spPr bwMode="auto">
          <a:xfrm>
            <a:off x="381000" y="3048000"/>
            <a:ext cx="8458200" cy="1752600"/>
          </a:xfrm>
          <a:prstGeom prst="rect">
            <a:avLst/>
          </a:prstGeom>
          <a:noFill/>
          <a:ln w="9525">
            <a:noFill/>
            <a:miter lim="800000"/>
            <a:headEnd/>
            <a:tailEnd/>
          </a:ln>
          <a:effectLst/>
        </p:spPr>
      </p:pic>
    </p:spTree>
    <p:extLst>
      <p:ext uri="{BB962C8B-B14F-4D97-AF65-F5344CB8AC3E}">
        <p14:creationId xmlns="" xmlns:p14="http://schemas.microsoft.com/office/powerpoint/2010/main" val="88127212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Times New Roman" pitchFamily="18" charset="0"/>
                <a:cs typeface="Times New Roman" pitchFamily="18" charset="0"/>
              </a:rPr>
              <a:t>HUFFMAN TREES AND CODES</a:t>
            </a:r>
            <a:endParaRPr lang="en-US" sz="48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763000" cy="4953000"/>
          </a:xfrm>
        </p:spPr>
        <p:txBody>
          <a:bodyPr>
            <a:normAutofit/>
          </a:bodyPr>
          <a:lstStyle/>
          <a:p>
            <a:r>
              <a:rPr lang="en-US" sz="3600" dirty="0" smtClean="0">
                <a:latin typeface="Times New Roman" pitchFamily="18" charset="0"/>
                <a:cs typeface="Times New Roman" pitchFamily="18" charset="0"/>
              </a:rPr>
              <a:t>DAD is encoded as 011101</a:t>
            </a:r>
          </a:p>
          <a:p>
            <a:r>
              <a:rPr lang="en-US" sz="3600" dirty="0" smtClean="0">
                <a:latin typeface="Times New Roman" pitchFamily="18" charset="0"/>
                <a:cs typeface="Times New Roman" pitchFamily="18" charset="0"/>
              </a:rPr>
              <a:t>10011011011101 is decoded as BAD_AD</a:t>
            </a:r>
          </a:p>
        </p:txBody>
      </p:sp>
      <p:sp>
        <p:nvSpPr>
          <p:cNvPr id="4" name="Slide Number Placeholder 3"/>
          <p:cNvSpPr>
            <a:spLocks noGrp="1"/>
          </p:cNvSpPr>
          <p:nvPr>
            <p:ph type="sldNum" sz="quarter" idx="12"/>
          </p:nvPr>
        </p:nvSpPr>
        <p:spPr/>
        <p:txBody>
          <a:bodyPr/>
          <a:lstStyle/>
          <a:p>
            <a:fld id="{1BB5884E-CF01-4077-9986-05D7C16A1A3B}" type="slidenum">
              <a:rPr lang="en-US" smtClean="0"/>
              <a:pPr/>
              <a:t>21</a:t>
            </a:fld>
            <a:endParaRPr lang="en-US"/>
          </a:p>
        </p:txBody>
      </p:sp>
      <p:pic>
        <p:nvPicPr>
          <p:cNvPr id="6" name="Picture 2"/>
          <p:cNvPicPr>
            <a:picLocks noChangeAspect="1" noChangeArrowheads="1"/>
          </p:cNvPicPr>
          <p:nvPr/>
        </p:nvPicPr>
        <p:blipFill>
          <a:blip r:embed="rId2"/>
          <a:srcRect/>
          <a:stretch>
            <a:fillRect/>
          </a:stretch>
        </p:blipFill>
        <p:spPr bwMode="auto">
          <a:xfrm>
            <a:off x="381000" y="3276600"/>
            <a:ext cx="8458200" cy="1752600"/>
          </a:xfrm>
          <a:prstGeom prst="rect">
            <a:avLst/>
          </a:prstGeom>
          <a:noFill/>
          <a:ln w="9525">
            <a:noFill/>
            <a:miter lim="800000"/>
            <a:headEnd/>
            <a:tailEnd/>
          </a:ln>
          <a:effectLst/>
        </p:spPr>
      </p:pic>
    </p:spTree>
    <p:extLst>
      <p:ext uri="{BB962C8B-B14F-4D97-AF65-F5344CB8AC3E}">
        <p14:creationId xmlns="" xmlns:p14="http://schemas.microsoft.com/office/powerpoint/2010/main" val="8812721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Times New Roman" pitchFamily="18" charset="0"/>
                <a:cs typeface="Times New Roman" pitchFamily="18" charset="0"/>
              </a:rPr>
              <a:t>HUFFMAN TREES AND CODES</a:t>
            </a:r>
            <a:endParaRPr lang="en-US" sz="48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763000" cy="4953000"/>
          </a:xfrm>
        </p:spPr>
        <p:txBody>
          <a:bodyPr>
            <a:normAutofit/>
          </a:bodyPr>
          <a:lstStyle/>
          <a:p>
            <a:r>
              <a:rPr lang="en-US" sz="3600" dirty="0" smtClean="0">
                <a:latin typeface="Times New Roman" pitchFamily="18" charset="0"/>
                <a:cs typeface="Times New Roman" pitchFamily="18" charset="0"/>
              </a:rPr>
              <a:t>DAD is encoded as 011101</a:t>
            </a:r>
          </a:p>
          <a:p>
            <a:r>
              <a:rPr lang="en-US" sz="3600" dirty="0" smtClean="0">
                <a:latin typeface="Times New Roman" pitchFamily="18" charset="0"/>
                <a:cs typeface="Times New Roman" pitchFamily="18" charset="0"/>
              </a:rPr>
              <a:t>10011011011101 is decoded as BAD_AD</a:t>
            </a:r>
          </a:p>
        </p:txBody>
      </p:sp>
      <p:sp>
        <p:nvSpPr>
          <p:cNvPr id="4" name="Slide Number Placeholder 3"/>
          <p:cNvSpPr>
            <a:spLocks noGrp="1"/>
          </p:cNvSpPr>
          <p:nvPr>
            <p:ph type="sldNum" sz="quarter" idx="12"/>
          </p:nvPr>
        </p:nvSpPr>
        <p:spPr/>
        <p:txBody>
          <a:bodyPr/>
          <a:lstStyle/>
          <a:p>
            <a:fld id="{1BB5884E-CF01-4077-9986-05D7C16A1A3B}" type="slidenum">
              <a:rPr lang="en-US" smtClean="0"/>
              <a:pPr/>
              <a:t>22</a:t>
            </a:fld>
            <a:endParaRPr lang="en-US"/>
          </a:p>
        </p:txBody>
      </p:sp>
      <p:pic>
        <p:nvPicPr>
          <p:cNvPr id="6" name="Picture 2"/>
          <p:cNvPicPr>
            <a:picLocks noChangeAspect="1" noChangeArrowheads="1"/>
          </p:cNvPicPr>
          <p:nvPr/>
        </p:nvPicPr>
        <p:blipFill>
          <a:blip r:embed="rId2"/>
          <a:srcRect/>
          <a:stretch>
            <a:fillRect/>
          </a:stretch>
        </p:blipFill>
        <p:spPr bwMode="auto">
          <a:xfrm>
            <a:off x="381000" y="3276600"/>
            <a:ext cx="8458200" cy="1752600"/>
          </a:xfrm>
          <a:prstGeom prst="rect">
            <a:avLst/>
          </a:prstGeom>
          <a:noFill/>
          <a:ln w="9525">
            <a:noFill/>
            <a:miter lim="800000"/>
            <a:headEnd/>
            <a:tailEnd/>
          </a:ln>
          <a:effectLst/>
        </p:spPr>
      </p:pic>
    </p:spTree>
    <p:extLst>
      <p:ext uri="{BB962C8B-B14F-4D97-AF65-F5344CB8AC3E}">
        <p14:creationId xmlns="" xmlns:p14="http://schemas.microsoft.com/office/powerpoint/2010/main" val="8812721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latin typeface="Times New Roman" pitchFamily="18" charset="0"/>
                <a:cs typeface="Times New Roman" pitchFamily="18" charset="0"/>
              </a:rPr>
              <a:t>HUFFMAN TREES AND CODES</a:t>
            </a:r>
            <a:endParaRPr lang="en-US" sz="4800" b="1" dirty="0">
              <a:latin typeface="Times New Roman" pitchFamily="18" charset="0"/>
              <a:cs typeface="Times New Roman" pitchFamily="18" charset="0"/>
            </a:endParaRPr>
          </a:p>
        </p:txBody>
      </p:sp>
      <p:sp>
        <p:nvSpPr>
          <p:cNvPr id="3" name="Content Placeholder 2"/>
          <p:cNvSpPr>
            <a:spLocks noGrp="1"/>
          </p:cNvSpPr>
          <p:nvPr>
            <p:ph idx="1"/>
          </p:nvPr>
        </p:nvSpPr>
        <p:spPr>
          <a:xfrm>
            <a:off x="228600" y="1600200"/>
            <a:ext cx="8763000" cy="4953000"/>
          </a:xfrm>
        </p:spPr>
        <p:txBody>
          <a:bodyPr>
            <a:normAutofit/>
          </a:bodyPr>
          <a:lstStyle/>
          <a:p>
            <a:r>
              <a:rPr lang="en-US" sz="3600" dirty="0" smtClean="0">
                <a:latin typeface="Times New Roman" pitchFamily="18" charset="0"/>
                <a:cs typeface="Times New Roman" pitchFamily="18" charset="0"/>
              </a:rPr>
              <a:t>With the occurrence frequencies given and the codeword lengths obtained, the average number of bits per symbol in this code is</a:t>
            </a:r>
          </a:p>
          <a:p>
            <a:r>
              <a:rPr lang="en-US" sz="3600" dirty="0" smtClean="0">
                <a:latin typeface="Times New Roman" pitchFamily="18" charset="0"/>
                <a:cs typeface="Times New Roman" pitchFamily="18" charset="0"/>
              </a:rPr>
              <a:t>2*0.35 + 3*0.1+ 2*0.2 + 2*0.2 + 3*0.15 </a:t>
            </a:r>
          </a:p>
          <a:p>
            <a:r>
              <a:rPr lang="en-US" sz="3600" dirty="0" smtClean="0">
                <a:latin typeface="Times New Roman" pitchFamily="18" charset="0"/>
                <a:cs typeface="Times New Roman" pitchFamily="18" charset="0"/>
              </a:rPr>
              <a:t>= 2.25.</a:t>
            </a:r>
          </a:p>
        </p:txBody>
      </p:sp>
      <p:sp>
        <p:nvSpPr>
          <p:cNvPr id="4" name="Slide Number Placeholder 3"/>
          <p:cNvSpPr>
            <a:spLocks noGrp="1"/>
          </p:cNvSpPr>
          <p:nvPr>
            <p:ph type="sldNum" sz="quarter" idx="12"/>
          </p:nvPr>
        </p:nvSpPr>
        <p:spPr/>
        <p:txBody>
          <a:bodyPr/>
          <a:lstStyle/>
          <a:p>
            <a:fld id="{1BB5884E-CF01-4077-9986-05D7C16A1A3B}" type="slidenum">
              <a:rPr lang="en-US" smtClean="0"/>
              <a:pPr/>
              <a:t>23</a:t>
            </a:fld>
            <a:endParaRPr lang="en-US"/>
          </a:p>
        </p:txBody>
      </p:sp>
      <p:pic>
        <p:nvPicPr>
          <p:cNvPr id="7" name="Picture 2"/>
          <p:cNvPicPr>
            <a:picLocks noChangeAspect="1" noChangeArrowheads="1"/>
          </p:cNvPicPr>
          <p:nvPr/>
        </p:nvPicPr>
        <p:blipFill>
          <a:blip r:embed="rId2"/>
          <a:srcRect/>
          <a:stretch>
            <a:fillRect/>
          </a:stretch>
        </p:blipFill>
        <p:spPr bwMode="auto">
          <a:xfrm>
            <a:off x="762000" y="4648200"/>
            <a:ext cx="7354957" cy="1524000"/>
          </a:xfrm>
          <a:prstGeom prst="rect">
            <a:avLst/>
          </a:prstGeom>
          <a:noFill/>
          <a:ln w="9525">
            <a:noFill/>
            <a:miter lim="800000"/>
            <a:headEnd/>
            <a:tailEnd/>
          </a:ln>
          <a:effectLst/>
        </p:spPr>
      </p:pic>
    </p:spTree>
    <p:extLst>
      <p:ext uri="{BB962C8B-B14F-4D97-AF65-F5344CB8AC3E}">
        <p14:creationId xmlns="" xmlns:p14="http://schemas.microsoft.com/office/powerpoint/2010/main" val="88127212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3200"/>
            <a:ext cx="8229600" cy="1143000"/>
          </a:xfrm>
        </p:spPr>
        <p:txBody>
          <a:bodyPr>
            <a:normAutofit/>
          </a:bodyPr>
          <a:lstStyle/>
          <a:p>
            <a:r>
              <a:rPr lang="en-US" sz="4800" b="1" dirty="0" smtClean="0">
                <a:latin typeface="Times New Roman" pitchFamily="18" charset="0"/>
                <a:cs typeface="Times New Roman" pitchFamily="18" charset="0"/>
              </a:rPr>
              <a:t>THANK YOU</a:t>
            </a:r>
            <a:endParaRPr lang="en-US" sz="48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BB5884E-CF01-4077-9986-05D7C16A1A3B}" type="slidenum">
              <a:rPr lang="en-US" smtClean="0"/>
              <a:pPr/>
              <a:t>24</a:t>
            </a:fld>
            <a:endParaRPr lang="en-US"/>
          </a:p>
        </p:txBody>
      </p:sp>
    </p:spTree>
    <p:extLst>
      <p:ext uri="{BB962C8B-B14F-4D97-AF65-F5344CB8AC3E}">
        <p14:creationId xmlns:p14="http://schemas.microsoft.com/office/powerpoint/2010/main" xmlns="" val="15387570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TotalTime>
  <Words>576</Words>
  <Application>Microsoft Office PowerPoint</Application>
  <PresentationFormat>On-screen Show (4:3)</PresentationFormat>
  <Paragraphs>73</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HUFFMAN TREES AND CODES</vt:lpstr>
      <vt:lpstr>Huffman Coding</vt:lpstr>
      <vt:lpstr>Slide 3</vt:lpstr>
      <vt:lpstr>Slide 4</vt:lpstr>
      <vt:lpstr>Slide 5</vt:lpstr>
      <vt:lpstr>Slide 6</vt:lpstr>
      <vt:lpstr>Slide 7</vt:lpstr>
      <vt:lpstr>Slide 8</vt:lpstr>
      <vt:lpstr>Slide 9</vt:lpstr>
      <vt:lpstr>Slide 10</vt:lpstr>
      <vt:lpstr>Slide 11</vt:lpstr>
      <vt:lpstr>Slide 12</vt:lpstr>
      <vt:lpstr>HUFFMAN TREES AND CODES</vt:lpstr>
      <vt:lpstr>HUFFMAN TREES AND CODES</vt:lpstr>
      <vt:lpstr>HUFFMAN TREES AND CODES</vt:lpstr>
      <vt:lpstr>HUFFMAN TREES AND CODES</vt:lpstr>
      <vt:lpstr>HUFFMAN TREES AND CODES</vt:lpstr>
      <vt:lpstr>HUFFMAN TREES AND CODES</vt:lpstr>
      <vt:lpstr>HUFFMAN TREES AND CODES</vt:lpstr>
      <vt:lpstr>HUFFMAN TREES AND CODES</vt:lpstr>
      <vt:lpstr>HUFFMAN TREES AND CODES</vt:lpstr>
      <vt:lpstr>HUFFMAN TREES AND CODES</vt:lpstr>
      <vt:lpstr>HUFFMAN TREES AND CODES</vt:lpstr>
      <vt:lpstr>THANK YOU</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Pramod</cp:lastModifiedBy>
  <cp:revision>24</cp:revision>
  <dcterms:created xsi:type="dcterms:W3CDTF">2006-08-16T00:00:00Z</dcterms:created>
  <dcterms:modified xsi:type="dcterms:W3CDTF">2021-05-19T17:03:22Z</dcterms:modified>
</cp:coreProperties>
</file>