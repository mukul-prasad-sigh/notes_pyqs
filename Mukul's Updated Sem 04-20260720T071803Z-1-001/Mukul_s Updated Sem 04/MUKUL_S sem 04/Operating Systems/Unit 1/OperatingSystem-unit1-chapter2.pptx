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40"/>
  </p:notesMasterIdLst>
  <p:sldIdLst>
    <p:sldId id="257" r:id="rId2"/>
    <p:sldId id="462" r:id="rId3"/>
    <p:sldId id="435" r:id="rId4"/>
    <p:sldId id="436" r:id="rId5"/>
    <p:sldId id="437" r:id="rId6"/>
    <p:sldId id="438" r:id="rId7"/>
    <p:sldId id="439" r:id="rId8"/>
    <p:sldId id="440" r:id="rId9"/>
    <p:sldId id="443" r:id="rId10"/>
    <p:sldId id="444" r:id="rId11"/>
    <p:sldId id="392" r:id="rId12"/>
    <p:sldId id="446" r:id="rId13"/>
    <p:sldId id="447" r:id="rId14"/>
    <p:sldId id="448" r:id="rId15"/>
    <p:sldId id="449" r:id="rId16"/>
    <p:sldId id="450" r:id="rId17"/>
    <p:sldId id="451" r:id="rId18"/>
    <p:sldId id="391" r:id="rId19"/>
    <p:sldId id="452" r:id="rId20"/>
    <p:sldId id="453" r:id="rId21"/>
    <p:sldId id="454" r:id="rId22"/>
    <p:sldId id="455" r:id="rId23"/>
    <p:sldId id="456" r:id="rId24"/>
    <p:sldId id="457" r:id="rId25"/>
    <p:sldId id="459" r:id="rId26"/>
    <p:sldId id="460" r:id="rId27"/>
    <p:sldId id="461" r:id="rId28"/>
    <p:sldId id="464" r:id="rId29"/>
    <p:sldId id="465" r:id="rId30"/>
    <p:sldId id="466" r:id="rId31"/>
    <p:sldId id="467" r:id="rId32"/>
    <p:sldId id="468" r:id="rId33"/>
    <p:sldId id="469" r:id="rId34"/>
    <p:sldId id="470" r:id="rId35"/>
    <p:sldId id="471" r:id="rId36"/>
    <p:sldId id="472" r:id="rId37"/>
    <p:sldId id="473" r:id="rId38"/>
    <p:sldId id="463" r:id="rId39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408" y="63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8AABC6A0-1A89-9636-4C0A-44F1DEB34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5B7B88C-0649-3B0E-22FF-BD0A484F7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4F37BF7C-50EC-A971-16B6-DD8A38AF3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066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544CAE1A-FFEF-1AEA-DFF4-A440F6F2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76013ED5-75C0-746B-EB5C-49E100E39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88FAC958-042C-381D-4ADF-84C4B7447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00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3A3D47F2-80B8-4F7E-EF54-C68F49A7F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695BCC8-A2D2-B386-201A-A93845AAE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089C69AC-4B7A-55FA-F103-290B2FEA5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517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042C5E6-179B-30B6-E8BD-9227257C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A33291F5-6AC4-FED6-A52E-DC314BC2A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D145B7D8-A9FB-DE36-B036-FBCC141E1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6443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A177F89-EDD5-8BB2-889E-A3D8B4AB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2F4AC76-44A4-533E-6452-D73518D1E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35F1158-3F5E-0AB0-4B44-4BFCC3B8F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733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4D1C5653-D428-392F-D386-818268E2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7C509170-95F0-6108-DDEF-1283F57B7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550DCD40-0C9C-B6FA-D808-9C8227E8E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084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58EE84D6-FD82-6362-3AA8-85470198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4BAA67B6-71DD-E580-1B26-B30852D9B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EA33DE2C-89D9-CCB2-6DA6-D60B9D4E0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02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52F8CC0A-C1BD-DE6E-3EC6-C383BBDF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A99D3E3-7FBA-DBA9-D8C7-A0CF416D3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1A862E9B-BFA7-6F1E-7B0E-F247BBFC5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129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E42FE21-11A9-478B-C5A4-07643B2F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78ACD57E-1CEA-FD94-254D-99CA4C60B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995A141A-850D-75D3-385C-D6E53348C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2070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80901276-8706-A504-1F7F-D9CEF808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6B3A89EE-6913-9DF2-0A15-02CEFF361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0937175-09B1-C500-3E1A-13F9960FA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240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4B75D0AE-29BC-28A9-A194-9D51B7B4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5604DB40-CDEA-25D9-E50A-ABAB715D5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2DC92CA8-10FE-3B92-3204-049E0F637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731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11B58E1B-1006-0FBC-5A35-2EE453E5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77B021AB-B7F1-C621-5F13-572648436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E6C549DF-27EA-183D-3E45-D858772B5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915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BB850A61-1426-C902-172D-3557DAED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6E48C46-3E82-1ECF-6F35-87DE9FA9E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14EC6E5C-2E18-0712-30D5-02EF300E9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921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990B5F20-D16A-9E74-00E1-41EFFC34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4794D502-CAAE-D4CF-9F66-7095AB616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D062985D-96C1-6996-1F7F-B683CCC5A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8359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347FC76D-82B3-8D8D-53BB-3FC81942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F7C6F2CE-5D56-5C47-DC5A-C249293E9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382265CC-043C-640A-526F-B0E34B5F9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4622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A487A026-2D25-2C3E-2ACE-4BAE1D37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9FC0C79A-76E8-0457-7E8E-9378460F5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AE037935-7455-EE39-A97E-063663979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0652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AEFED2CC-51D1-8539-3C0D-9FA1F9B2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F47B7EE0-B935-A112-A58E-51B29890F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0D1C723E-5D5B-D2BB-A11B-4ECC38949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57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3AF65E11-E54C-AB67-ED18-CD1449E7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6D888DDA-E6D7-4C54-3D2C-FE0F895A4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7926D2BF-B2AF-ADBB-A928-13FE65E6C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2448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A57CED92-E148-06F1-BD59-2897964A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A703B4B5-4604-5DC4-768A-3DAD7F7CE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AC282E9A-539F-1200-7904-69EF70FC4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1902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D6007C99-B1E0-2544-ED82-725B4C39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2B8A9A36-BBBA-B067-35DF-8026A14A9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FE64951E-8FEA-6F8B-612E-A8386F7F7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660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DD2A0779-EC68-E3A2-4E3A-F63D2441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B310889D-E624-0BDF-7ED6-23E26D11F1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5B3D9CE-F0D1-FFF6-CBF0-7A1A81740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6903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7080CECC-E283-5A1D-9C85-F786C081D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3B9FE857-3D2B-D29B-EE48-ED6F34E0E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92B4A085-75E8-98AD-7179-7DE08564A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0232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4D3A7F57-C05B-91A2-725C-0B1000EA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BE316691-0FA7-B5AF-6FAC-DC1B2C221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02B1ACB8-EA35-5F03-E5CB-3AF213525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005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26C161D0-11BB-4C07-B059-509ECE74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1F802240-EE77-A13C-F609-B1B8EBFB0F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A2D97A10-47ED-F22E-863A-0BF3A9AAF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9803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FABAB29C-E5BA-BB33-0A11-E7D10D07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E47AB3F8-9585-7761-E616-F3643FB56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E014E60-4334-2EF4-E174-8BCD14080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13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B707AD6-40E1-1986-8CAD-B94BFFA7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B3F78C6E-F148-2477-DBDE-517E5F089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3D8EFC42-5062-7AEE-4414-CBEFD79C1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664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CBB7C0F2-8916-27CA-44AA-18CC97D5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0AAFE529-0284-54A7-C73F-8232DB21A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3B1742D3-89EB-D539-E08D-2E25C65C7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34985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A79A3841-42B5-2288-BDBB-C588BD62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2A34EDB5-BF4E-18C2-AB4C-1C40782BF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0BBF0267-FE58-D576-0E0B-62009D2B7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59994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9173B9DA-E9FD-DC54-56DF-6212A4E6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A0FBD2DB-B5E8-0E21-263B-1EEDBED31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5E1D5538-051E-59F0-2BE6-04756CF06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186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2843BF61-3EB9-5085-FA3C-97AAB39E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61EB9F85-BF10-530E-5297-3F3E03934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65EED24-423A-CF4F-C9E0-3AD0D59FF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99869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00D488A4-5CD3-BE50-26E3-96F0941C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A5DFD1F2-0313-FC5C-E2A7-5767AF9033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ED189A29-E26D-CEE0-C4E8-C94E80143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15669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037DF64A-5767-CF89-34E5-5AF5F53C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F5B3DCAC-DD9E-8CA2-96C4-6BFD724EB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835B3B32-B2D9-F8DA-9990-6D0E88829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23774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05D4469-F26F-6A63-CEB1-080F7799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FF74A2D4-ADFD-B9F2-479D-73F74A313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CEE33973-7FE2-5F5D-471D-255DB38D0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4084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A28D62FB-3C2C-8E69-587A-50E93015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0F6387D0-87F9-0705-93C8-9370FBEE4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41323EC4-458C-7133-B857-8BED3EC178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06550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4A1C3835-FAF2-9A4C-E412-58790D50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AD633090-F78A-0AD5-8391-35DE31C28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F19826B7-18C6-98FF-2413-8B9E4C9C0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6748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9B8BCF7D-0734-C872-9E9D-8DD533D1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6B73771E-F2F5-9550-FF5D-F5B31F34E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A4500D9B-67B3-C918-D59E-F936A37C1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5917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>
          <a:extLst>
            <a:ext uri="{FF2B5EF4-FFF2-40B4-BE49-F238E27FC236}">
              <a16:creationId xmlns:a16="http://schemas.microsoft.com/office/drawing/2014/main" id="{6ACDE115-1129-BB34-CBDB-D13D8688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06780534-1189-DFCB-89B8-46C15D2E9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>
            <a:extLst>
              <a:ext uri="{FF2B5EF4-FFF2-40B4-BE49-F238E27FC236}">
                <a16:creationId xmlns:a16="http://schemas.microsoft.com/office/drawing/2014/main" id="{8A6CBF64-DFFC-D6B0-F4E8-1590CCDEA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09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4D492-5A38-6D49-3C02-946F0900CADF}"/>
              </a:ext>
            </a:extLst>
          </p:cNvPr>
          <p:cNvSpPr txBox="1"/>
          <p:nvPr/>
        </p:nvSpPr>
        <p:spPr>
          <a:xfrm>
            <a:off x="314632" y="1066800"/>
            <a:ext cx="118773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Operating System Services</a:t>
            </a:r>
          </a:p>
          <a:p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Provides an environment for the execution of programs.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Provides certain services to: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     programs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800" dirty="0"/>
              <a:t>     Users of those programs</a:t>
            </a:r>
          </a:p>
          <a:p>
            <a:pPr marL="400050" indent="-400050">
              <a:buFont typeface="+mj-lt"/>
              <a:buAutoNum type="romanLcPeriod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Basically, two types of services:</a:t>
            </a:r>
          </a:p>
          <a:p>
            <a:r>
              <a:rPr lang="en-US" sz="1800" dirty="0"/>
              <a:t>   ** Set of operating-system services provides functions that are helpful to the user.</a:t>
            </a:r>
          </a:p>
          <a:p>
            <a:endParaRPr lang="en-US" sz="1800" dirty="0"/>
          </a:p>
          <a:p>
            <a:r>
              <a:rPr lang="en-US" sz="1800" dirty="0"/>
              <a:t>   **Set of operating-system functions for ensuring the efficient operation of the system itself via resource sharing</a:t>
            </a:r>
          </a:p>
          <a:p>
            <a:endParaRPr lang="en-US" sz="1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8F40DBBF-C7DE-A6E9-9E98-C7426AC6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FFDF1348-93F4-ABD0-7B56-444329A03EE3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221B561B-2A81-79E9-98F9-8CD38C753CDA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015A5F25-8100-C769-50E5-1A8612AF3A2E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0FCF74D6-3C5B-E646-5AE5-ED0BB1C298B3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070346D5-E1EC-393A-7EE8-C9C4AD1E38B4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A7357-82BD-B06D-C9B9-8BFB1F081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19" y="990259"/>
            <a:ext cx="9935962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1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4E77D00A-8F53-B1EE-1560-BB5F6BE7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65687E03-A92B-FBE1-6CE1-B138E9392D60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D9745798-5CF8-6A8C-7A5C-41D8A6C4F1E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BB654CEF-F7AE-DC06-360F-F7638F1F6B40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DA773577-3830-4A3E-25C8-452037139CA6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DCD6B3CC-224A-C130-F252-5167011ED83A}"/>
              </a:ext>
            </a:extLst>
          </p:cNvPr>
          <p:cNvSpPr txBox="1"/>
          <p:nvPr/>
        </p:nvSpPr>
        <p:spPr>
          <a:xfrm>
            <a:off x="612742" y="1066800"/>
            <a:ext cx="1070885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000" dirty="0"/>
              <a:t>An operating system provides an environment for the execution of programs.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000" dirty="0"/>
              <a:t> It provides certain services to programs and to the users of those programs.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000" dirty="0"/>
              <a:t>The specific services provided, of course, differ from one operating system to another, but we can identify common classes. 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000" dirty="0"/>
              <a:t>These operating-system services are provided for the convenience of the programmer, to make the programming task easier.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above fig shows various operating system services and how they interrelate.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72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FB11AE29-A7B9-946E-D338-4FEA5C21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904057B0-EE75-2BBF-A73A-BFB681E0D69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005C7983-126A-564A-1911-E535154F049C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B6E31573-FE0B-C865-92E2-A66FFE9C1F80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98B14698-920F-373B-98BF-98D775BA6E0C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243AB-23B2-345C-F5E3-9D8318165221}"/>
              </a:ext>
            </a:extLst>
          </p:cNvPr>
          <p:cNvSpPr txBox="1"/>
          <p:nvPr/>
        </p:nvSpPr>
        <p:spPr>
          <a:xfrm>
            <a:off x="1046374" y="791852"/>
            <a:ext cx="107654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OS Services Helpful to the user</a:t>
            </a:r>
          </a:p>
          <a:p>
            <a:endParaRPr lang="en-US" sz="2000" dirty="0"/>
          </a:p>
          <a:p>
            <a:r>
              <a:rPr lang="en-US" sz="2000" dirty="0"/>
              <a:t>User Interface-Almost all operating systems have a user Interface(UI). Several forms:</a:t>
            </a:r>
          </a:p>
          <a:p>
            <a:endParaRPr lang="en-US" sz="2000" dirty="0"/>
          </a:p>
          <a:p>
            <a:r>
              <a:rPr lang="en-US" sz="2000" b="1" dirty="0"/>
              <a:t>Command-Line(CLI)—</a:t>
            </a:r>
            <a:r>
              <a:rPr lang="en-US" sz="2000" dirty="0"/>
              <a:t>uses text commands and a method for entering them(say, a keyboard for typing in commands in a specific format with specific options)</a:t>
            </a:r>
          </a:p>
          <a:p>
            <a:endParaRPr lang="en-US" sz="2000" dirty="0"/>
          </a:p>
          <a:p>
            <a:r>
              <a:rPr lang="en-US" sz="2000" b="1" dirty="0"/>
              <a:t>Graphics User Interface(GUI)—</a:t>
            </a:r>
            <a:r>
              <a:rPr lang="en-US" sz="2000" dirty="0"/>
              <a:t>The interface is a window system with a pointing device to direct I/O, choose from menus, and make selections and a keyboard to enter text..</a:t>
            </a:r>
          </a:p>
          <a:p>
            <a:endParaRPr lang="en-US" sz="2000" dirty="0"/>
          </a:p>
          <a:p>
            <a:r>
              <a:rPr lang="en-US" sz="2000" b="1" dirty="0"/>
              <a:t>Batch Interface</a:t>
            </a:r>
            <a:r>
              <a:rPr lang="en-US" sz="2000" dirty="0"/>
              <a:t>—Commands and directives to control those commands are entered into files, and those files are executed.</a:t>
            </a:r>
          </a:p>
          <a:p>
            <a:endParaRPr lang="en-US" sz="2000" dirty="0"/>
          </a:p>
          <a:p>
            <a:r>
              <a:rPr lang="en-US" sz="2000" dirty="0"/>
              <a:t>Some systems provide two or all 3 variations.</a:t>
            </a:r>
          </a:p>
        </p:txBody>
      </p:sp>
    </p:spTree>
    <p:extLst>
      <p:ext uri="{BB962C8B-B14F-4D97-AF65-F5344CB8AC3E}">
        <p14:creationId xmlns:p14="http://schemas.microsoft.com/office/powerpoint/2010/main" val="125194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A281360F-64DB-9F44-89F9-63B25934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42769697-96D2-735A-D96F-8BCD270673C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E4E561D4-4D9D-65AC-A47E-266F212030F7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5F29A11E-5C52-94AB-936A-45481356275C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6FBC8659-0A13-3D2D-9BB6-1BEE06A44181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8FE39-0729-F09F-7F0B-744A61C3A6C9}"/>
              </a:ext>
            </a:extLst>
          </p:cNvPr>
          <p:cNvSpPr txBox="1"/>
          <p:nvPr/>
        </p:nvSpPr>
        <p:spPr>
          <a:xfrm>
            <a:off x="980388" y="904973"/>
            <a:ext cx="103223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OS Services helpful to the user:</a:t>
            </a:r>
          </a:p>
          <a:p>
            <a:endParaRPr lang="en-US" sz="2000" dirty="0"/>
          </a:p>
          <a:p>
            <a:r>
              <a:rPr lang="en-US" sz="2000" dirty="0"/>
              <a:t>Program Execution-The system must be able to load a program into memory and to run that program, end execution, either normally or abnormally(indicating error). </a:t>
            </a:r>
          </a:p>
          <a:p>
            <a:endParaRPr lang="en-US" sz="2000" dirty="0"/>
          </a:p>
          <a:p>
            <a:r>
              <a:rPr lang="en-US" sz="2000" dirty="0"/>
              <a:t>I/O operations—A running program may require I/O, which may involve a file or an I/O device.</a:t>
            </a:r>
          </a:p>
          <a:p>
            <a:endParaRPr lang="en-US" sz="2000" dirty="0"/>
          </a:p>
          <a:p>
            <a:r>
              <a:rPr lang="en-US" sz="2000" dirty="0"/>
              <a:t>File-System Manipulation-Programs need to read and write files and directories, create and delete them, search them, list file information, permission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59869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74D9ADE7-9E62-CD4B-DF26-3700DD73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D36394E5-5AA2-114A-DD83-C0A4D004725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7CD2D3F4-151D-DA2F-AA14-3C9465683FF0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6891C0E8-3359-45B8-BEB4-8E49687D9EBA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93EA62E4-77DB-18F1-4699-C4F9E72E97E8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626287-8C1C-513E-88A7-C02CF20AF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" y="1242707"/>
            <a:ext cx="10963968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8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8D3CBAA6-E860-5717-F7F0-5E54E16A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35A2E8E-0890-53CF-3C44-6E19D185D477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55CD9F00-2740-442B-2D05-E37BF8F2A6F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53B3AC1D-1B55-0A8D-535D-3BA1326DB8D6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Services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DFBA03E4-35D3-1018-3DE3-61C939E9704D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F3498-F3E9-4B03-16E9-00C90ED71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1811"/>
            <a:ext cx="12192000" cy="457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7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67573B6A-077F-09B7-0438-1A5EFB90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39AED992-B7AE-687F-175E-2CF1DEA80C4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2D20E1E7-64C9-E64D-70CC-0ECFE2804ABD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C2161449-B8C1-3903-E5C8-10B3CCA05A23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Operating System Interfaces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6D0165FF-AB04-A5D0-3BFD-63D28C362597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C5B34C-DC95-459E-47A7-9DADC55C8DEC}"/>
              </a:ext>
            </a:extLst>
          </p:cNvPr>
          <p:cNvSpPr txBox="1"/>
          <p:nvPr/>
        </p:nvSpPr>
        <p:spPr>
          <a:xfrm>
            <a:off x="650449" y="914400"/>
            <a:ext cx="10689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approach for </a:t>
            </a:r>
            <a:r>
              <a:rPr lang="en-US" dirty="0" err="1"/>
              <a:t>os</a:t>
            </a:r>
            <a:r>
              <a:rPr lang="en-US" dirty="0"/>
              <a:t> interface is command-line interface, or Command interpreter, that allows users to directly enter commands to be performed by the operating system. </a:t>
            </a:r>
          </a:p>
          <a:p>
            <a:endParaRPr lang="en-US" dirty="0"/>
          </a:p>
          <a:p>
            <a:r>
              <a:rPr lang="en-US" dirty="0"/>
              <a:t>The other allows users to interface with the operating system via a graphical user interface, or GUI.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9B8D8-63EC-2017-C66E-8193EE238A33}"/>
              </a:ext>
            </a:extLst>
          </p:cNvPr>
          <p:cNvSpPr txBox="1"/>
          <p:nvPr/>
        </p:nvSpPr>
        <p:spPr>
          <a:xfrm>
            <a:off x="650448" y="2187019"/>
            <a:ext cx="1094178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Command Interpreters</a:t>
            </a:r>
            <a:r>
              <a:rPr lang="en-US" sz="2000" b="1" dirty="0">
                <a:sym typeface="Wingdings" panose="05000000000000000000" pitchFamily="2" charset="2"/>
              </a:rPr>
              <a:t>: (CLI)</a:t>
            </a:r>
            <a:endParaRPr lang="en-US" sz="2000" b="1" dirty="0"/>
          </a:p>
          <a:p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CLI allows users to directly enter commands to be performed by the operating system.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Some operating systems include the command interpreter in the kernel.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Some operating systems, such as Windows and Unix, treat the command interpreter as a special program that is running when a job is initiated or when a user first logs 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On systems with multiple command interpreters to choose from the interpreters are known as Shells.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The main function of the command interpreter is to get and execute the next user specified command.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Sometimes command built-in, sometimes just names of programs</a:t>
            </a:r>
          </a:p>
          <a:p>
            <a:pPr algn="just"/>
            <a:r>
              <a:rPr lang="en-US" sz="1600" dirty="0"/>
              <a:t>          ** If the latter, adding new features doesn’t require shell modification.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5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3D4FCC6C-62EA-42F7-57B0-02A61C2D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A898A6A-66F8-28A7-EF99-17332F065B8E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D71B7BFD-C746-9491-AB7E-E2F2C5BE71B3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8C08DA0-8F7E-B1F7-63EE-D0C31CB0AF11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Operating System Interfaces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EC7CBD2B-BE01-D9FF-F4BB-0B923D97EA31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E43B2-1E77-3A5E-0D0B-154A15CEF7ED}"/>
              </a:ext>
            </a:extLst>
          </p:cNvPr>
          <p:cNvSpPr txBox="1"/>
          <p:nvPr/>
        </p:nvSpPr>
        <p:spPr>
          <a:xfrm>
            <a:off x="363795" y="993058"/>
            <a:ext cx="115529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Graphical User Interfaces(GUI)</a:t>
            </a:r>
          </a:p>
          <a:p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User-friendly desktop metaphor interface</a:t>
            </a:r>
          </a:p>
          <a:p>
            <a:endParaRPr lang="en-US" sz="1800" dirty="0"/>
          </a:p>
          <a:p>
            <a:r>
              <a:rPr lang="en-US" sz="1800" b="1" dirty="0"/>
              <a:t>        &amp;&amp; </a:t>
            </a:r>
            <a:r>
              <a:rPr lang="en-US" sz="1800" dirty="0"/>
              <a:t>Usually mouse, keyboard and monitor</a:t>
            </a:r>
          </a:p>
          <a:p>
            <a:r>
              <a:rPr lang="en-US" sz="1800" b="1" dirty="0"/>
              <a:t>         &amp;&amp; </a:t>
            </a:r>
            <a:r>
              <a:rPr lang="en-US" sz="1800" dirty="0"/>
              <a:t>Icons represent files, programs, actions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1800" dirty="0"/>
              <a:t>        </a:t>
            </a:r>
            <a:r>
              <a:rPr lang="en-US" sz="1800" b="1" dirty="0"/>
              <a:t>&amp;&amp;</a:t>
            </a:r>
            <a:r>
              <a:rPr lang="en-US" sz="1800" dirty="0"/>
              <a:t> Various mouse buttons over objects in the interface cause various actions(Provide information, options, execute function, open directory(known as a folder)</a:t>
            </a:r>
          </a:p>
          <a:p>
            <a:r>
              <a:rPr lang="en-US" sz="1800" dirty="0"/>
              <a:t>        </a:t>
            </a:r>
            <a:r>
              <a:rPr lang="en-US" sz="1800" b="1" dirty="0"/>
              <a:t>&amp;&amp;</a:t>
            </a:r>
            <a:r>
              <a:rPr lang="en-US" sz="1800" dirty="0"/>
              <a:t> Invented at Xerox PARC</a:t>
            </a:r>
          </a:p>
          <a:p>
            <a:endParaRPr lang="en-US" sz="1800" dirty="0"/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Many systems now include both CLI and GUI interfaces</a:t>
            </a:r>
          </a:p>
          <a:p>
            <a:endParaRPr lang="en-US" sz="1800" dirty="0"/>
          </a:p>
          <a:p>
            <a:r>
              <a:rPr lang="en-US" sz="1800" dirty="0"/>
              <a:t>      </a:t>
            </a:r>
            <a:r>
              <a:rPr lang="en-US" sz="1800" b="1" dirty="0"/>
              <a:t>&amp;&amp;</a:t>
            </a:r>
            <a:r>
              <a:rPr lang="en-US" sz="1800" dirty="0"/>
              <a:t> Microsoft Window is GUI with CLI “command” shell</a:t>
            </a:r>
          </a:p>
          <a:p>
            <a:r>
              <a:rPr lang="en-US" sz="1800" dirty="0"/>
              <a:t>      </a:t>
            </a:r>
            <a:r>
              <a:rPr lang="en-US" sz="1800" b="1" dirty="0"/>
              <a:t>&amp;&amp;</a:t>
            </a:r>
            <a:r>
              <a:rPr lang="en-US" sz="1800" dirty="0"/>
              <a:t> Apple Mac OS X is “Aqua” GUI interface with UNIX kernel underneath and shells available.</a:t>
            </a:r>
          </a:p>
          <a:p>
            <a:r>
              <a:rPr lang="en-US" sz="1800" dirty="0"/>
              <a:t>      </a:t>
            </a:r>
            <a:r>
              <a:rPr lang="en-US" sz="1800" b="1" dirty="0"/>
              <a:t>&amp;&amp;</a:t>
            </a:r>
            <a:r>
              <a:rPr lang="en-US" sz="1800" dirty="0"/>
              <a:t> Unix and Linux have CLI with optional GUI interfaces(CDE, KDE, GNOME)</a:t>
            </a:r>
          </a:p>
        </p:txBody>
      </p:sp>
    </p:spTree>
    <p:extLst>
      <p:ext uri="{BB962C8B-B14F-4D97-AF65-F5344CB8AC3E}">
        <p14:creationId xmlns:p14="http://schemas.microsoft.com/office/powerpoint/2010/main" val="178139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62433B00-A48A-C119-8FD6-B28A82F8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EC9B7B90-D4C2-755D-0EAF-2A8F7B3B624F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72209140-EE5C-48BC-9ED2-EA16500376F1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357BBD3-7DF2-E6A7-32BE-84170ED28059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Operating System Interfaces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A9CB1DB6-6BF0-8088-902D-19158D32289D}"/>
              </a:ext>
            </a:extLst>
          </p:cNvPr>
          <p:cNvSpPr txBox="1"/>
          <p:nvPr/>
        </p:nvSpPr>
        <p:spPr>
          <a:xfrm>
            <a:off x="1828800" y="127551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38BDEF-0A52-7F95-7C7A-C35AA369D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310" y="1256997"/>
            <a:ext cx="7373379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5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2052673E-3D56-E077-F6FF-651C3028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6AB5AFE6-7138-3C7A-84BE-E3D050C5679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5325107-55EF-1310-969E-AFE7FBF31A82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C43A605-6585-08CA-7102-144E4DBD7422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934CA343-BB64-E88A-4BF7-C8403AD8848D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D678A304-BC36-A7A2-1756-06BE201FBD64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E3083F41-C29F-9F3D-458C-D2DF0EA3B326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BE923-BFAA-99BC-F733-7F1A6C2DA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40" y="1347497"/>
            <a:ext cx="8959003" cy="438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5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222FD8E1-01F9-4688-0DC6-60090EE1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0E90396-9806-BF96-AE18-D5A2622C14C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F1B5545D-7BE6-6210-E8E7-66D39B1C50B2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83D6C7F9-6007-08F6-06CA-F1214C3147F4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F3C7645E-7E92-FC02-0BF1-4F3BF79C1BB2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BE7F0F6-39D8-7C45-D839-76164C170F54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A5CA98DF-5169-973E-4FE3-3CE3F53DABD7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63E43-F6D5-F4F1-CA51-22D4E134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5446"/>
            <a:ext cx="11686558" cy="57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8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6D9C6F0F-AFFE-7ADE-BFEC-24D31AD6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4C87069E-A948-B31B-8798-18F254BC662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712266C6-8C54-E0C1-1925-F75DF7AD2D44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FC487A80-D3C2-5C84-CA79-591E39531CF2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1AFD54C1-DC31-5916-D8F1-9351F2609B6F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C0314931-518B-C124-55E2-E603C63ECE9B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C27483FA-8891-63DD-6262-D2445C7EA115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0882D-797C-073F-551D-B76A853E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9" y="655446"/>
            <a:ext cx="11528981" cy="58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41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86A57D3D-A365-DEE4-B975-CF0E6EEE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82C7F66-AC64-A3AC-5282-C69DCD12E350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0F432BDA-1DA2-5F51-4E63-D6BE0F438A21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7697760A-1DC0-67EA-763E-B61D016B92AC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 Implementation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76990EFF-5CDF-48E8-10EF-666128F1552C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B0D33092-625F-4050-F0B6-F627679AA67E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767F09CD-5766-10E6-028A-24C2AD951257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1AFF2-15F7-584E-0A2E-A202D2C8B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37944"/>
            <a:ext cx="1061772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89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B4B991C2-BCAC-B6E4-7372-9BC8128D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AA669F2A-D492-B754-2787-2E6248FAF92B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5ED24C5E-6FBE-F06B-25AB-1088F7BE0F4A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2C0E91D2-5B6A-4325-0A81-C533C3D855CD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API-System Call OS Relationship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4D8C1C39-8024-3656-D752-C342A76D9FB6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00248887-0EB5-BF63-A255-5AF4E3CCA8E1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4A873A11-6021-3A30-E5C3-2CB8954CEEC7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CC0DA-52EB-051B-B77C-E342D1279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968" y="947391"/>
            <a:ext cx="7440063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26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E428D94F-806F-D2EF-F626-5EFC13EE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A37B94B-47E5-2A21-06E6-CC4B676BDA6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1803B67B-5CA8-0B9A-E6DF-4AFC41146591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5E56FC45-1E85-D5F4-E8A4-E4375661FD4B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 parameter Passing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AD69D457-4C2C-D09D-4953-ADAA358A88C4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37AD703-994A-E290-283B-C81FE4DDA1F6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EDE5D013-65DD-05E6-D0CA-4AA5C9F5B8E5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C5175-8AB8-58E2-0620-0ADD60A85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90" y="1028365"/>
            <a:ext cx="9684895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88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3D0282DA-74DC-13A2-657F-503616AA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97B93BD7-3B12-B026-BD09-8EFD7B6804A4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720D0BE6-72E9-4985-CEA6-97E3F8F44073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3C01C4E-0058-B7C1-CF02-0FFB006CB7BB}"/>
              </a:ext>
            </a:extLst>
          </p:cNvPr>
          <p:cNvSpPr txBox="1"/>
          <p:nvPr/>
        </p:nvSpPr>
        <p:spPr>
          <a:xfrm>
            <a:off x="1524000" y="-9331"/>
            <a:ext cx="91440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A42FF9B5-06CF-E8EC-35A7-30B29D88BBB8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E9AA02BD-B0F0-CE5D-D246-7A4527F26D72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1A02EE99-7955-8164-8D29-A76459E00063}"/>
              </a:ext>
            </a:extLst>
          </p:cNvPr>
          <p:cNvSpPr txBox="1"/>
          <p:nvPr/>
        </p:nvSpPr>
        <p:spPr>
          <a:xfrm>
            <a:off x="609600" y="914400"/>
            <a:ext cx="110702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/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AA665-F4DC-C516-A38C-F0C0B649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914400"/>
            <a:ext cx="8863611" cy="467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63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BDA49FA9-D9EA-A86A-5EB7-DB2AD1A5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987A2E94-C794-A3E2-0E10-9A95D848E866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5FBF0DE2-9042-B94B-F822-7683FEC91F12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3F3C1B47-F1F5-5482-578E-F3B52BC0DDE6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C4FF2830-7A71-F114-E073-7AFD903B624B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C140F3D9-1A40-6315-21A5-844272CBD60D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9C591-BC63-FE17-68CD-EF9BB8EC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220"/>
          <a:stretch>
            <a:fillRect/>
          </a:stretch>
        </p:blipFill>
        <p:spPr>
          <a:xfrm>
            <a:off x="2113994" y="1504682"/>
            <a:ext cx="7964011" cy="382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87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7F9CEABE-57B2-E1D9-5F61-0FC2D0F5E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D4E19CEC-2A4D-16BB-0380-F79030A664F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00A1F7D3-A133-D174-AD5D-4B7E2CE31246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C03737E-815C-D4B9-76DC-245E708A52B9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C71DEEF1-E45A-78D4-9FEA-6EBEC8E626EA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2149886D-201C-0697-805B-9B9C088F8E8C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93987-AEBA-F540-309F-C99E6ADA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435" y="542522"/>
            <a:ext cx="9068586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8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E9D9880B-3EF8-289E-1213-24587937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525B5052-3BCA-0A1D-F5B4-5DD91F448DA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6A73B381-3B23-2C43-932E-5DD6BFB17177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A66A37C-3995-CC79-255F-3CF482F88037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0231A3F1-9795-224C-E35F-FEE03BA27637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2B00549F-22F1-5FBB-082D-297F18736AA7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F190E-B296-4034-382D-678B4048E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558" y="989814"/>
            <a:ext cx="8974316" cy="50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45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9E92E64D-6336-D8B4-00E2-99C89844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F185C627-B740-E039-359D-F3803F828DB2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A8FF5C2-741E-5332-55EA-B752C8979D7A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858266A0-E79B-4E0E-4C05-EE046CAF003F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1B34D66E-1513-A99C-25CD-C29D6C8B983D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6B722C94-174C-02DB-28ED-1A16FA45E551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9E8DF-1400-1F2D-38A6-855A1C19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677" y="2023865"/>
            <a:ext cx="7461828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53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0F91DC65-07B9-2852-0087-DF7910F9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36507A8A-F984-2E48-4268-ECFCE58046B3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A7FAADF2-D3CA-34E1-FBAA-D178B1F3172A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006E5193-36B9-3E80-E7E3-7BDDD164E830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530E08E8-7006-ECAE-3C98-B89D2F1BA526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8994F6A-611B-2B9A-69C3-96CE6F3A3AC5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43CA3-AC48-A276-D0B2-F19DBA1A8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68" y="1219201"/>
            <a:ext cx="7259063" cy="349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0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6C144E58-59A6-7510-31BF-B33CCC39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C250C4A8-501F-D4B6-8CBB-D3C3A981A516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6466ABF6-604A-E281-F321-9467BC981F53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D378DC2D-3700-915C-9FB0-DC2A7147CC03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AB211A8A-CD95-07B7-D68F-1AC93AEF7FDE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7C48481-B278-76D8-246A-2F4E7C4FC355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2CBA9-213B-B9A2-E7C9-AB7AA8485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679" y="1776181"/>
            <a:ext cx="7468642" cy="428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90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CB82566F-4805-F356-F5D5-5E372E86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5A7FD50F-ECD0-58D9-3106-667CB1CF0A64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CF9DBC25-F38F-A301-CE4C-C521DE5C071B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71406CA6-21CC-E0BE-D940-F914CBBF3986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9509DFAF-63DD-1310-097F-86031242931C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F3A3DCE8-0B66-E857-AEF2-51699CD831C9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D78D9-1107-58BF-82DA-5673F68EC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" y="782426"/>
            <a:ext cx="9246257" cy="50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27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BB0981EE-211F-F6D0-CE5C-09326751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6E1731C7-9AFC-E3C2-C190-A0BD22C638DF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D97D11F7-3374-E718-55CE-EB2190E318EA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F63F9221-03FC-FC22-5D5F-FB4C6E7A7676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60B9E4A0-E93E-EEE7-D3CF-70840F90BCBB}"/>
              </a:ext>
            </a:extLst>
          </p:cNvPr>
          <p:cNvSpPr txBox="1"/>
          <p:nvPr/>
        </p:nvSpPr>
        <p:spPr>
          <a:xfrm>
            <a:off x="2028825" y="1219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0CCDF57A-C780-A795-F160-828DD1D0CD60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289BF-211A-0C9C-595B-97880CEA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32" y="2466840"/>
            <a:ext cx="6344535" cy="332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71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6316B757-CF2F-D8CB-90BC-695560E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51176A30-8594-29B2-4E98-5DDD0702FD82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D82A964-361B-98A1-E264-54A832C8F470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CF2D668-081B-2CDE-27CB-5710A329DEA1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system calls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3AA39EE5-C64C-6A4E-F376-521C694F1409}"/>
              </a:ext>
            </a:extLst>
          </p:cNvPr>
          <p:cNvSpPr txBox="1"/>
          <p:nvPr/>
        </p:nvSpPr>
        <p:spPr>
          <a:xfrm>
            <a:off x="1828800" y="1066800"/>
            <a:ext cx="861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93D3D-1171-DA0A-1858-A60FA5DC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55445"/>
            <a:ext cx="9448800" cy="56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51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52FCCBDE-28E4-7E57-48E9-37DC8695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AB624AD6-022F-1D1F-A38E-65C78FDDA080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ACA1DE1D-CE36-5FAE-68CB-9368163F73F1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C326FAE8-1A31-34BA-B9E9-DF14684E104C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Boot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DC20F-7A1F-7C10-AF53-0C2A4D3F4B25}"/>
              </a:ext>
            </a:extLst>
          </p:cNvPr>
          <p:cNvSpPr txBox="1"/>
          <p:nvPr/>
        </p:nvSpPr>
        <p:spPr>
          <a:xfrm>
            <a:off x="76200" y="923016"/>
            <a:ext cx="1240916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When power initialized on system, execution starts at a fixed memory location</a:t>
            </a:r>
          </a:p>
          <a:p>
            <a:endParaRPr lang="en-US" sz="2000" dirty="0"/>
          </a:p>
          <a:p>
            <a:r>
              <a:rPr lang="en-US" sz="2000" dirty="0"/>
              <a:t>         ** Firmware ROM used to hold initial boot code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Operating system must be made available to hardware so hardware can start it</a:t>
            </a:r>
          </a:p>
          <a:p>
            <a:endParaRPr lang="en-US" sz="2000" dirty="0"/>
          </a:p>
          <a:p>
            <a:r>
              <a:rPr lang="en-US" sz="2000" dirty="0"/>
              <a:t>        ** Small piece of code-</a:t>
            </a:r>
            <a:r>
              <a:rPr lang="en-US" sz="2000" b="1" dirty="0"/>
              <a:t>bootstrap loader</a:t>
            </a:r>
            <a:r>
              <a:rPr lang="en-US" sz="2000" dirty="0"/>
              <a:t>, stored in ROM or EEPROM  locates   the kernel, loads</a:t>
            </a:r>
          </a:p>
          <a:p>
            <a:r>
              <a:rPr lang="en-US" sz="2000" dirty="0"/>
              <a:t> it into memory, and starts it.</a:t>
            </a:r>
          </a:p>
          <a:p>
            <a:endParaRPr lang="en-US" sz="2000" dirty="0"/>
          </a:p>
          <a:p>
            <a:r>
              <a:rPr lang="en-US" sz="2000" dirty="0"/>
              <a:t>        ** Sometimes two step process where boot block at fixed location loaded by ROM code, </a:t>
            </a:r>
          </a:p>
          <a:p>
            <a:r>
              <a:rPr lang="en-US" sz="2000" dirty="0"/>
              <a:t>which loads bootstrap loader from disk.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Common bootstrap loader, GRUB, allows selection of kernel from multiple disks, versions, kernel options.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Kernel loads and system is then running.</a:t>
            </a:r>
          </a:p>
        </p:txBody>
      </p:sp>
    </p:spTree>
    <p:extLst>
      <p:ext uri="{BB962C8B-B14F-4D97-AF65-F5344CB8AC3E}">
        <p14:creationId xmlns:p14="http://schemas.microsoft.com/office/powerpoint/2010/main" val="480585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96DADA17-A6F9-6901-AB8A-0EA5460B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EECCDBF3-B0E4-CF4C-1984-5AFFFBD0089C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41BE7D4-AE69-2E63-17C9-160FBA58C969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2A7677E7-2B0A-669B-BF16-30129DAAF5CC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72229-558B-61F9-4D2D-E034FB54A32D}"/>
              </a:ext>
            </a:extLst>
          </p:cNvPr>
          <p:cNvSpPr txBox="1"/>
          <p:nvPr/>
        </p:nvSpPr>
        <p:spPr>
          <a:xfrm>
            <a:off x="76200" y="923016"/>
            <a:ext cx="12274514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400" dirty="0"/>
              <a:t>A modern operating system is divided into small, well-defined modules instead of being </a:t>
            </a:r>
          </a:p>
          <a:p>
            <a:pPr lvl="1"/>
            <a:r>
              <a:rPr lang="en-US" sz="2400" dirty="0"/>
              <a:t>built as one large monolithic system. Each module has clearly defined inputs, outputs, </a:t>
            </a:r>
          </a:p>
          <a:p>
            <a:pPr lvl="1"/>
            <a:r>
              <a:rPr lang="en-US" sz="2400" dirty="0"/>
              <a:t>and specific functions, making the system easier to design, manage, and modify.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Integration into the Kernel – These individual modules are interconnected and combined </a:t>
            </a:r>
          </a:p>
          <a:p>
            <a:pPr lvl="1"/>
            <a:r>
              <a:rPr lang="en-US" sz="2400" dirty="0"/>
              <a:t>to form the operating system kernel. Proper organization and interaction among </a:t>
            </a:r>
          </a:p>
          <a:p>
            <a:pPr lvl="1"/>
            <a:r>
              <a:rPr lang="en-US" sz="2400" dirty="0"/>
              <a:t>components ensure that the entire system functions correctly and efficiently.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5762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04F4E81B-5917-DCEC-F2D0-2D24D8FB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B1061FE-CEB9-65F2-E9F7-B5E7C48F8DDA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BA811401-1464-1B1E-5290-AD1C954EB59E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903D48E6-9DCD-CE3C-2388-78B5BAB283E6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8C4BE-7AD4-3FD2-E4C1-EFB992D6A2D6}"/>
              </a:ext>
            </a:extLst>
          </p:cNvPr>
          <p:cNvSpPr txBox="1"/>
          <p:nvPr/>
        </p:nvSpPr>
        <p:spPr>
          <a:xfrm>
            <a:off x="76199" y="92301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Simple Structure: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78817-E955-740C-D5FD-D27C51805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864" y="814022"/>
            <a:ext cx="6068272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68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FCF4E749-EF05-E751-6359-3AE640A6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9C516140-D51C-C03F-DAC1-C5C6E7C91599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2610308C-8E32-8F2F-606F-C571F781E3D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266875E5-E54C-1790-A226-3F20853616EB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AEF56-ED59-74E6-AA40-CAD4C538EF14}"/>
              </a:ext>
            </a:extLst>
          </p:cNvPr>
          <p:cNvSpPr txBox="1"/>
          <p:nvPr/>
        </p:nvSpPr>
        <p:spPr>
          <a:xfrm>
            <a:off x="76199" y="92301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Simple Structure: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431C3-25AA-A3D9-FCA1-E5FC3AA9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634" y="923016"/>
            <a:ext cx="800211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09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2E984083-B25B-DAA8-70AA-7DEEE314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2D885A7-2D88-4BC5-35B0-C55012D87DC2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9BC84F6-4E66-3DAF-F8E2-C7876E3196F1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D81DAC9-A8FA-3640-E40F-58589089E79B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687E1-0E1A-7DAF-5750-9321BF786C57}"/>
              </a:ext>
            </a:extLst>
          </p:cNvPr>
          <p:cNvSpPr txBox="1"/>
          <p:nvPr/>
        </p:nvSpPr>
        <p:spPr>
          <a:xfrm>
            <a:off x="76199" y="92301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Layered Approach: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48B3A-D545-B710-831A-C9279BEDA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364" y="785443"/>
            <a:ext cx="624927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90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F5B04B55-2E88-DC93-0BDC-D0975426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355FDE16-A5B4-A2D2-853E-C01AC7194163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955B595C-57BA-1896-C149-976793180FF4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547C4157-B1AD-B9C7-2DDE-240CBC72B2C0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E93B6-5A5F-DBD2-C2EA-B5483161FB56}"/>
              </a:ext>
            </a:extLst>
          </p:cNvPr>
          <p:cNvSpPr txBox="1"/>
          <p:nvPr/>
        </p:nvSpPr>
        <p:spPr>
          <a:xfrm>
            <a:off x="0" y="65544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Microkernel Approach: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0AC46-4E47-0611-51A7-63C99449B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488" y="680635"/>
            <a:ext cx="9002381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17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CA18079D-FE76-8112-C89D-4436A1D3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4964A2B7-0647-C9AC-556C-7B9F0D50857C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E259291E-3C8E-D75E-7839-49C0298D73A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F4790BB0-974A-A234-710B-DEB8F0A5C49E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E0F31-315B-89CF-42A9-ABA1BE776A20}"/>
              </a:ext>
            </a:extLst>
          </p:cNvPr>
          <p:cNvSpPr txBox="1"/>
          <p:nvPr/>
        </p:nvSpPr>
        <p:spPr>
          <a:xfrm>
            <a:off x="0" y="65544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Modules: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194EF-E320-CC4E-AEB5-80D43BB5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214" y="1309391"/>
            <a:ext cx="781159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12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B86D89CC-3BB5-A179-7C8B-E4AB230A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4D0838E-539B-6AFE-2762-C228E9FE61AB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4182F64C-31B4-5A9D-E69C-A30EE630F54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E44B064D-CFEF-9E00-6245-7C7E2A2DC018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9FABB-6045-B894-455D-1470C17EBAA1}"/>
              </a:ext>
            </a:extLst>
          </p:cNvPr>
          <p:cNvSpPr txBox="1"/>
          <p:nvPr/>
        </p:nvSpPr>
        <p:spPr>
          <a:xfrm>
            <a:off x="0" y="655446"/>
            <a:ext cx="445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Modules: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7A5C4-A083-2946-F258-349EB01A8C89}"/>
              </a:ext>
            </a:extLst>
          </p:cNvPr>
          <p:cNvSpPr txBox="1"/>
          <p:nvPr/>
        </p:nvSpPr>
        <p:spPr>
          <a:xfrm>
            <a:off x="2026763" y="1319754"/>
            <a:ext cx="99829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Solaris operating system structure, shown in Figure 2.15, is organized around a core kernel with seven types of loadable kernel modules:</a:t>
            </a:r>
          </a:p>
          <a:p>
            <a:r>
              <a:rPr lang="en-US" sz="2800" dirty="0"/>
              <a:t>1. Scheduling classes</a:t>
            </a:r>
          </a:p>
          <a:p>
            <a:r>
              <a:rPr lang="en-US" sz="2800" dirty="0"/>
              <a:t>2. File systems</a:t>
            </a:r>
          </a:p>
          <a:p>
            <a:r>
              <a:rPr lang="en-US" sz="2800" dirty="0"/>
              <a:t>3. Loadable system calls</a:t>
            </a:r>
          </a:p>
          <a:p>
            <a:r>
              <a:rPr lang="en-US" sz="2800" dirty="0"/>
              <a:t>4. Executable formats</a:t>
            </a:r>
          </a:p>
          <a:p>
            <a:r>
              <a:rPr lang="en-US" sz="2800" dirty="0"/>
              <a:t>5. STREAMS modules</a:t>
            </a:r>
          </a:p>
          <a:p>
            <a:r>
              <a:rPr lang="en-US" sz="2800" dirty="0"/>
              <a:t>6. Miscellaneous</a:t>
            </a:r>
          </a:p>
          <a:p>
            <a:r>
              <a:rPr lang="en-US" sz="2800" dirty="0"/>
              <a:t>7. Device and bus drivers</a:t>
            </a:r>
          </a:p>
        </p:txBody>
      </p:sp>
    </p:spTree>
    <p:extLst>
      <p:ext uri="{BB962C8B-B14F-4D97-AF65-F5344CB8AC3E}">
        <p14:creationId xmlns:p14="http://schemas.microsoft.com/office/powerpoint/2010/main" val="1849329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C58BF967-B2E9-3432-55DA-077FB8FF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B488F646-3B16-6F09-4C74-2C9603EB09A1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026FB7AF-DCFB-1CAD-21C7-6D52DFF41F59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24BA7A21-A4B3-A909-F3DB-185DA45BF124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7FE25-D6BB-F3D0-7CD9-10B96688BB79}"/>
              </a:ext>
            </a:extLst>
          </p:cNvPr>
          <p:cNvSpPr txBox="1"/>
          <p:nvPr/>
        </p:nvSpPr>
        <p:spPr>
          <a:xfrm>
            <a:off x="0" y="655446"/>
            <a:ext cx="445809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Hybrid Systems: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Mac </a:t>
            </a:r>
            <a:r>
              <a:rPr lang="en-US" sz="2400" dirty="0" err="1"/>
              <a:t>OSx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68236-9EA2-9E2F-6D63-3A9D10263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678" y="999786"/>
            <a:ext cx="790685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91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B6F55A0B-0DB7-D09D-F0C8-4C3B158E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9631936-2A73-D8AF-256C-88EF4131D82F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5200E71F-8305-30FC-7ACD-D8251727740F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9DDA914F-8037-D490-48C6-F63154A38FFF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09433-6F2D-7CF2-4550-FE5EFF7E5704}"/>
              </a:ext>
            </a:extLst>
          </p:cNvPr>
          <p:cNvSpPr txBox="1"/>
          <p:nvPr/>
        </p:nvSpPr>
        <p:spPr>
          <a:xfrm>
            <a:off x="0" y="655446"/>
            <a:ext cx="445809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Hybrid Systems: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 iOS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8BC904-94B5-7737-23FF-CDD752A6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1935479"/>
            <a:ext cx="6165326" cy="37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73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1A0811AD-C478-5294-F16C-E3BA0251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7A0CC38-0086-602D-E22F-B74B80E22102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6AABDD72-0809-C351-F1E1-2082075E30A8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2845B52A-977E-B0A1-15BA-D23B766A32FA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Structures</a:t>
            </a: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C09A7-C711-C6EB-19B9-3D124B9D7A73}"/>
              </a:ext>
            </a:extLst>
          </p:cNvPr>
          <p:cNvSpPr txBox="1"/>
          <p:nvPr/>
        </p:nvSpPr>
        <p:spPr>
          <a:xfrm>
            <a:off x="0" y="655446"/>
            <a:ext cx="445809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Hybrid Systems: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Google’s Android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C68CB9-567C-5208-1FAC-07482405C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719" y="1216219"/>
            <a:ext cx="5943600" cy="468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7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>
          <a:extLst>
            <a:ext uri="{FF2B5EF4-FFF2-40B4-BE49-F238E27FC236}">
              <a16:creationId xmlns:a16="http://schemas.microsoft.com/office/drawing/2014/main" id="{D741EF3C-1692-277F-44B8-0DE20022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8688AAEB-0F4F-B572-9824-5F2497882C24}"/>
              </a:ext>
            </a:extLst>
          </p:cNvPr>
          <p:cNvSpPr/>
          <p:nvPr/>
        </p:nvSpPr>
        <p:spPr>
          <a:xfrm>
            <a:off x="76200" y="1"/>
            <a:ext cx="12039600" cy="646113"/>
          </a:xfrm>
          <a:custGeom>
            <a:avLst/>
            <a:gdLst/>
            <a:ahLst/>
            <a:cxnLst/>
            <a:rect l="l" t="t" r="r" b="b"/>
            <a:pathLst>
              <a:path w="9144000" h="646328" extrusionOk="0">
                <a:moveTo>
                  <a:pt x="9144000" y="25"/>
                </a:moveTo>
                <a:lnTo>
                  <a:pt x="0" y="25"/>
                </a:lnTo>
                <a:lnTo>
                  <a:pt x="0" y="646328"/>
                </a:lnTo>
                <a:lnTo>
                  <a:pt x="9144000" y="646328"/>
                </a:lnTo>
                <a:lnTo>
                  <a:pt x="9144000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89316A4F-5556-77AA-D8D1-3CA4408381AF}"/>
              </a:ext>
            </a:extLst>
          </p:cNvPr>
          <p:cNvSpPr txBox="1"/>
          <p:nvPr/>
        </p:nvSpPr>
        <p:spPr>
          <a:xfrm>
            <a:off x="0" y="6488113"/>
            <a:ext cx="12192000" cy="369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71144" marR="0" lvl="0" indent="0" algn="l" rtl="0">
              <a:lnSpc>
                <a:spcPct val="10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Dept. of  CSE(CS),  MSRIT                                                                                             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71144" marR="0" lvl="0" indent="0" algn="l" rtl="0">
              <a:lnSpc>
                <a:spcPct val="101725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C659AB1-FE78-7CD7-350F-8910FE7F5AAE}"/>
              </a:ext>
            </a:extLst>
          </p:cNvPr>
          <p:cNvSpPr txBox="1"/>
          <p:nvPr/>
        </p:nvSpPr>
        <p:spPr>
          <a:xfrm>
            <a:off x="348792" y="-9331"/>
            <a:ext cx="1176700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F97F8B-A745-39DA-241B-B509A41AAB41}"/>
              </a:ext>
            </a:extLst>
          </p:cNvPr>
          <p:cNvSpPr txBox="1"/>
          <p:nvPr/>
        </p:nvSpPr>
        <p:spPr>
          <a:xfrm>
            <a:off x="4213781" y="2982338"/>
            <a:ext cx="6693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53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5964</TotalTime>
  <Words>1433</Words>
  <Application>Microsoft Office PowerPoint</Application>
  <PresentationFormat>Widescreen</PresentationFormat>
  <Paragraphs>236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 Malige</dc:creator>
  <cp:lastModifiedBy>mukulprasad958@gmail.com</cp:lastModifiedBy>
  <cp:revision>53</cp:revision>
  <dcterms:modified xsi:type="dcterms:W3CDTF">2026-03-26T03:38:13Z</dcterms:modified>
</cp:coreProperties>
</file>