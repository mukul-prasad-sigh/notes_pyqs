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332" r:id="rId5"/>
    <p:sldId id="333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334" r:id="rId18"/>
    <p:sldId id="335" r:id="rId19"/>
    <p:sldId id="336" r:id="rId20"/>
    <p:sldId id="270" r:id="rId21"/>
    <p:sldId id="271" r:id="rId22"/>
    <p:sldId id="272" r:id="rId23"/>
    <p:sldId id="337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971540"/>
          </a:xfrm>
          <a:custGeom>
            <a:avLst/>
            <a:gdLst/>
            <a:ahLst/>
            <a:cxnLst/>
            <a:rect l="l" t="t" r="r" b="b"/>
            <a:pathLst>
              <a:path w="9144000" h="5971540">
                <a:moveTo>
                  <a:pt x="0" y="5971032"/>
                </a:moveTo>
                <a:lnTo>
                  <a:pt x="9144000" y="5971032"/>
                </a:lnTo>
                <a:lnTo>
                  <a:pt x="9144000" y="0"/>
                </a:lnTo>
                <a:lnTo>
                  <a:pt x="0" y="0"/>
                </a:lnTo>
                <a:lnTo>
                  <a:pt x="0" y="5971032"/>
                </a:lnTo>
                <a:close/>
              </a:path>
            </a:pathLst>
          </a:custGeom>
          <a:solidFill>
            <a:srgbClr val="775F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5971032"/>
            <a:ext cx="9144000" cy="887094"/>
          </a:xfrm>
          <a:custGeom>
            <a:avLst/>
            <a:gdLst/>
            <a:ahLst/>
            <a:cxnLst/>
            <a:rect l="l" t="t" r="r" b="b"/>
            <a:pathLst>
              <a:path w="9144000" h="887095">
                <a:moveTo>
                  <a:pt x="9144000" y="0"/>
                </a:moveTo>
                <a:lnTo>
                  <a:pt x="0" y="0"/>
                </a:lnTo>
                <a:lnTo>
                  <a:pt x="0" y="886968"/>
                </a:lnTo>
                <a:lnTo>
                  <a:pt x="9144000" y="886968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053328"/>
            <a:ext cx="2240280" cy="713740"/>
          </a:xfrm>
          <a:custGeom>
            <a:avLst/>
            <a:gdLst/>
            <a:ahLst/>
            <a:cxnLst/>
            <a:rect l="l" t="t" r="r" b="b"/>
            <a:pathLst>
              <a:path w="2240280" h="713740">
                <a:moveTo>
                  <a:pt x="2240280" y="0"/>
                </a:moveTo>
                <a:lnTo>
                  <a:pt x="0" y="0"/>
                </a:lnTo>
                <a:lnTo>
                  <a:pt x="0" y="713232"/>
                </a:lnTo>
                <a:lnTo>
                  <a:pt x="2240280" y="713232"/>
                </a:lnTo>
                <a:lnTo>
                  <a:pt x="2240280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359151" y="6044184"/>
            <a:ext cx="6784975" cy="713740"/>
          </a:xfrm>
          <a:custGeom>
            <a:avLst/>
            <a:gdLst/>
            <a:ahLst/>
            <a:cxnLst/>
            <a:rect l="l" t="t" r="r" b="b"/>
            <a:pathLst>
              <a:path w="6784975" h="713740">
                <a:moveTo>
                  <a:pt x="6784848" y="0"/>
                </a:moveTo>
                <a:lnTo>
                  <a:pt x="0" y="0"/>
                </a:lnTo>
                <a:lnTo>
                  <a:pt x="0" y="713231"/>
                </a:lnTo>
                <a:lnTo>
                  <a:pt x="6784848" y="713231"/>
                </a:lnTo>
                <a:lnTo>
                  <a:pt x="6784848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98270" y="853566"/>
            <a:ext cx="6747459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775F5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775F5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775F5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206451"/>
            <a:ext cx="8529319" cy="1002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775F5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8805" y="1383295"/>
            <a:ext cx="6748145" cy="3435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8270" y="853566"/>
            <a:ext cx="67468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90064" algn="l"/>
              </a:tabLst>
            </a:pPr>
            <a:r>
              <a:rPr sz="4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JAVA	PROGRAMMING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24605" y="2316860"/>
            <a:ext cx="24961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UNIT </a:t>
            </a:r>
            <a:r>
              <a:rPr sz="4800" b="1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4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33600" y="3200400"/>
            <a:ext cx="4300728" cy="2667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56362"/>
            <a:ext cx="19532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Times New Roman"/>
                <a:cs typeface="Times New Roman"/>
              </a:rPr>
              <a:t>Sylla</a:t>
            </a:r>
            <a:r>
              <a:rPr sz="4400" b="0" spc="5" dirty="0">
                <a:latin typeface="Times New Roman"/>
                <a:cs typeface="Times New Roman"/>
              </a:rPr>
              <a:t>b</a:t>
            </a:r>
            <a:r>
              <a:rPr sz="4400" b="0" dirty="0">
                <a:latin typeface="Times New Roman"/>
                <a:cs typeface="Times New Roman"/>
              </a:rPr>
              <a:t>us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4040" y="1774062"/>
            <a:ext cx="799655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60714"/>
              <a:buFont typeface="DejaVu Sans"/>
              <a:buChar char="◻"/>
              <a:tabLst>
                <a:tab pos="332105" algn="l"/>
                <a:tab pos="332740" algn="l"/>
                <a:tab pos="2138680" algn="l"/>
                <a:tab pos="3119120" algn="l"/>
                <a:tab pos="5161280" algn="l"/>
                <a:tab pos="6978015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Pa</a:t>
            </a:r>
            <a:r>
              <a:rPr sz="2800" b="1" spc="5" dirty="0">
                <a:latin typeface="Times New Roman"/>
                <a:cs typeface="Times New Roman"/>
              </a:rPr>
              <a:t>c</a:t>
            </a:r>
            <a:r>
              <a:rPr sz="2800" b="1" spc="-25" dirty="0">
                <a:latin typeface="Times New Roman"/>
                <a:cs typeface="Times New Roman"/>
              </a:rPr>
              <a:t>k</a:t>
            </a:r>
            <a:r>
              <a:rPr sz="2800" b="1" dirty="0">
                <a:latin typeface="Times New Roman"/>
                <a:cs typeface="Times New Roman"/>
              </a:rPr>
              <a:t>ag</a:t>
            </a:r>
            <a:r>
              <a:rPr sz="2800" b="1" spc="-5" dirty="0">
                <a:latin typeface="Times New Roman"/>
                <a:cs typeface="Times New Roman"/>
              </a:rPr>
              <a:t>es</a:t>
            </a:r>
            <a:r>
              <a:rPr sz="2800" b="1" dirty="0">
                <a:latin typeface="Times New Roman"/>
                <a:cs typeface="Times New Roman"/>
              </a:rPr>
              <a:t>	an</a:t>
            </a:r>
            <a:r>
              <a:rPr sz="2800" b="1" spc="-5" dirty="0">
                <a:latin typeface="Times New Roman"/>
                <a:cs typeface="Times New Roman"/>
              </a:rPr>
              <a:t>d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5" dirty="0">
                <a:latin typeface="Times New Roman"/>
                <a:cs typeface="Times New Roman"/>
              </a:rPr>
              <a:t>I</a:t>
            </a:r>
            <a:r>
              <a:rPr sz="2800" b="1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terface</a:t>
            </a:r>
            <a:r>
              <a:rPr sz="2800" b="1" dirty="0">
                <a:latin typeface="Times New Roman"/>
                <a:cs typeface="Times New Roman"/>
              </a:rPr>
              <a:t>s</a:t>
            </a:r>
            <a:r>
              <a:rPr sz="2800" b="1" spc="-5" dirty="0">
                <a:latin typeface="Times New Roman"/>
                <a:cs typeface="Times New Roman"/>
              </a:rPr>
              <a:t>: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Packa</a:t>
            </a:r>
            <a:r>
              <a:rPr sz="2800" spc="5" dirty="0">
                <a:latin typeface="Times New Roman"/>
                <a:cs typeface="Times New Roman"/>
              </a:rPr>
              <a:t>g</a:t>
            </a:r>
            <a:r>
              <a:rPr sz="2800" spc="-5" dirty="0">
                <a:latin typeface="Times New Roman"/>
                <a:cs typeface="Times New Roman"/>
              </a:rPr>
              <a:t>es,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Ac</a:t>
            </a:r>
            <a:r>
              <a:rPr sz="2800" spc="-20" dirty="0">
                <a:latin typeface="Times New Roman"/>
                <a:cs typeface="Times New Roman"/>
              </a:rPr>
              <a:t>c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s  </a:t>
            </a:r>
            <a:r>
              <a:rPr sz="2800" dirty="0">
                <a:latin typeface="Times New Roman"/>
                <a:cs typeface="Times New Roman"/>
              </a:rPr>
              <a:t>Protection, </a:t>
            </a:r>
            <a:r>
              <a:rPr sz="2800" spc="-5" dirty="0">
                <a:latin typeface="Times New Roman"/>
                <a:cs typeface="Times New Roman"/>
              </a:rPr>
              <a:t>Importing Packages,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Interfaces.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040" y="2717114"/>
            <a:ext cx="242951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60714"/>
              <a:buFont typeface="DejaVu Sans"/>
              <a:buChar char="◻"/>
              <a:tabLst>
                <a:tab pos="332105" algn="l"/>
                <a:tab pos="33274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Exception</a:t>
            </a:r>
            <a:endParaRPr sz="28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latin typeface="Times New Roman"/>
                <a:cs typeface="Times New Roman"/>
              </a:rPr>
              <a:t>Fundamentals,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67583" y="2717114"/>
            <a:ext cx="530288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  <a:spcBef>
                <a:spcPts val="95"/>
              </a:spcBef>
              <a:tabLst>
                <a:tab pos="2352040" algn="l"/>
                <a:tab pos="2406650" algn="l"/>
                <a:tab pos="390652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Hand</a:t>
            </a:r>
            <a:r>
              <a:rPr sz="2800" b="1" dirty="0">
                <a:latin typeface="Times New Roman"/>
                <a:cs typeface="Times New Roman"/>
              </a:rPr>
              <a:t>l</a:t>
            </a:r>
            <a:r>
              <a:rPr sz="2800" b="1" spc="-5" dirty="0">
                <a:latin typeface="Times New Roman"/>
                <a:cs typeface="Times New Roman"/>
              </a:rPr>
              <a:t>in</a:t>
            </a:r>
            <a:r>
              <a:rPr sz="2800" b="1" spc="5" dirty="0">
                <a:latin typeface="Times New Roman"/>
                <a:cs typeface="Times New Roman"/>
              </a:rPr>
              <a:t>g</a:t>
            </a:r>
            <a:r>
              <a:rPr sz="2800" b="1" spc="-5" dirty="0">
                <a:latin typeface="Times New Roman"/>
                <a:cs typeface="Times New Roman"/>
              </a:rPr>
              <a:t>:</a:t>
            </a:r>
            <a:r>
              <a:rPr sz="2800" b="1" dirty="0">
                <a:latin typeface="Times New Roman"/>
                <a:cs typeface="Times New Roman"/>
              </a:rPr>
              <a:t>		</a:t>
            </a:r>
            <a:r>
              <a:rPr sz="2800" spc="-5" dirty="0">
                <a:latin typeface="Times New Roman"/>
                <a:cs typeface="Times New Roman"/>
              </a:rPr>
              <a:t>Exceptio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-H</a:t>
            </a:r>
            <a:r>
              <a:rPr sz="2800" spc="-2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d</a:t>
            </a:r>
            <a:r>
              <a:rPr sz="2800" spc="-20" dirty="0">
                <a:latin typeface="Times New Roman"/>
                <a:cs typeface="Times New Roman"/>
              </a:rPr>
              <a:t>l</a:t>
            </a:r>
            <a:r>
              <a:rPr sz="2800" spc="-5" dirty="0">
                <a:latin typeface="Times New Roman"/>
                <a:cs typeface="Times New Roman"/>
              </a:rPr>
              <a:t>ing  Exc</a:t>
            </a:r>
            <a:r>
              <a:rPr sz="2800" spc="-15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15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on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Types,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Unca</a:t>
            </a:r>
            <a:r>
              <a:rPr sz="2800" dirty="0">
                <a:latin typeface="Times New Roman"/>
                <a:cs typeface="Times New Roman"/>
              </a:rPr>
              <a:t>u</a:t>
            </a:r>
            <a:r>
              <a:rPr sz="2800" spc="-5" dirty="0">
                <a:latin typeface="Times New Roman"/>
                <a:cs typeface="Times New Roman"/>
              </a:rPr>
              <a:t>g</a:t>
            </a:r>
            <a:r>
              <a:rPr sz="2800" dirty="0">
                <a:latin typeface="Times New Roman"/>
                <a:cs typeface="Times New Roman"/>
              </a:rPr>
              <a:t>h</a:t>
            </a:r>
            <a:r>
              <a:rPr sz="2800" spc="-5" dirty="0"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3719" y="3571113"/>
            <a:ext cx="250698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37490">
              <a:lnSpc>
                <a:spcPct val="100000"/>
              </a:lnSpc>
              <a:spcBef>
                <a:spcPts val="95"/>
              </a:spcBef>
              <a:tabLst>
                <a:tab pos="894715" algn="l"/>
                <a:tab pos="1364615" algn="l"/>
                <a:tab pos="1656714" algn="l"/>
              </a:tabLst>
            </a:pPr>
            <a:r>
              <a:rPr sz="2800" spc="-5" dirty="0">
                <a:latin typeface="Times New Roman"/>
                <a:cs typeface="Times New Roman"/>
              </a:rPr>
              <a:t>try	and	c</a:t>
            </a:r>
            <a:r>
              <a:rPr sz="2800" spc="-2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tch,  throws,	finally,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7925" y="3571113"/>
            <a:ext cx="231330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5405">
              <a:lnSpc>
                <a:spcPct val="100000"/>
              </a:lnSpc>
              <a:spcBef>
                <a:spcPts val="95"/>
              </a:spcBef>
              <a:tabLst>
                <a:tab pos="1193800" algn="l"/>
                <a:tab pos="1551940" algn="l"/>
              </a:tabLst>
            </a:pPr>
            <a:r>
              <a:rPr sz="2800" spc="5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l</a:t>
            </a:r>
            <a:r>
              <a:rPr sz="2800" spc="-15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i</a:t>
            </a:r>
            <a:r>
              <a:rPr sz="2800" dirty="0">
                <a:latin typeface="Times New Roman"/>
                <a:cs typeface="Times New Roman"/>
              </a:rPr>
              <a:t>p</a:t>
            </a:r>
            <a:r>
              <a:rPr sz="2800" spc="-5" dirty="0">
                <a:latin typeface="Times New Roman"/>
                <a:cs typeface="Times New Roman"/>
              </a:rPr>
              <a:t>le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c</a:t>
            </a:r>
            <a:r>
              <a:rPr sz="2800" spc="-2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tch  </a:t>
            </a:r>
            <a:r>
              <a:rPr sz="2800" spc="-10" dirty="0">
                <a:latin typeface="Times New Roman"/>
                <a:cs typeface="Times New Roman"/>
              </a:rPr>
              <a:t>Jav</a:t>
            </a:r>
            <a:r>
              <a:rPr sz="2800" spc="-2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’s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Buil</a:t>
            </a:r>
            <a:r>
              <a:rPr sz="2800" spc="5" dirty="0">
                <a:latin typeface="Times New Roman"/>
                <a:cs typeface="Times New Roman"/>
              </a:rPr>
              <a:t>t</a:t>
            </a:r>
            <a:r>
              <a:rPr sz="2800" spc="-15" dirty="0">
                <a:latin typeface="Times New Roman"/>
                <a:cs typeface="Times New Roman"/>
              </a:rPr>
              <a:t>-in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4080" y="3571113"/>
            <a:ext cx="271335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498600" algn="l"/>
                <a:tab pos="1928495" algn="l"/>
              </a:tabLst>
            </a:pPr>
            <a:r>
              <a:rPr sz="2800" spc="-5" dirty="0">
                <a:latin typeface="Times New Roman"/>
                <a:cs typeface="Times New Roman"/>
              </a:rPr>
              <a:t>Exce</a:t>
            </a:r>
            <a:r>
              <a:rPr sz="2800" dirty="0">
                <a:latin typeface="Times New Roman"/>
                <a:cs typeface="Times New Roman"/>
              </a:rPr>
              <a:t>p</a:t>
            </a:r>
            <a:r>
              <a:rPr sz="2800" spc="-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io</a:t>
            </a:r>
            <a:r>
              <a:rPr sz="2800" spc="-5" dirty="0">
                <a:latin typeface="Times New Roman"/>
                <a:cs typeface="Times New Roman"/>
              </a:rPr>
              <a:t>ns,</a:t>
            </a:r>
            <a:r>
              <a:rPr sz="2800" dirty="0">
                <a:latin typeface="Times New Roman"/>
                <a:cs typeface="Times New Roman"/>
              </a:rPr>
              <a:t>	u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5" dirty="0">
                <a:latin typeface="Times New Roman"/>
                <a:cs typeface="Times New Roman"/>
              </a:rPr>
              <a:t>g  Clauses,	throw,  Exceptions.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676" y="364312"/>
            <a:ext cx="24314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Packages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535940" y="1619452"/>
            <a:ext cx="8303260" cy="5207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6350" indent="-320040" algn="just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59375"/>
              <a:buFont typeface="DejaVu Sans"/>
              <a:buChar char="◻"/>
              <a:tabLst>
                <a:tab pos="332740" algn="l"/>
              </a:tabLst>
            </a:pPr>
            <a:r>
              <a:rPr sz="3200" dirty="0">
                <a:latin typeface="Times New Roman"/>
                <a:cs typeface="Times New Roman"/>
              </a:rPr>
              <a:t>Packages are </a:t>
            </a:r>
            <a:r>
              <a:rPr sz="3200" spc="-5" dirty="0">
                <a:latin typeface="Times New Roman"/>
                <a:cs typeface="Times New Roman"/>
              </a:rPr>
              <a:t>containers for </a:t>
            </a:r>
            <a:r>
              <a:rPr sz="3200" dirty="0">
                <a:latin typeface="Times New Roman"/>
                <a:cs typeface="Times New Roman"/>
              </a:rPr>
              <a:t>classes, interfaces  </a:t>
            </a:r>
            <a:r>
              <a:rPr sz="3200" spc="5" dirty="0">
                <a:latin typeface="Times New Roman"/>
                <a:cs typeface="Times New Roman"/>
              </a:rPr>
              <a:t>and </a:t>
            </a:r>
            <a:r>
              <a:rPr sz="3200" dirty="0">
                <a:latin typeface="Times New Roman"/>
                <a:cs typeface="Times New Roman"/>
              </a:rPr>
              <a:t>sub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packages.</a:t>
            </a:r>
            <a:endParaRPr sz="3200" dirty="0">
              <a:latin typeface="Times New Roman"/>
              <a:cs typeface="Times New Roman"/>
            </a:endParaRPr>
          </a:p>
          <a:p>
            <a:pPr marL="332740" marR="5715" indent="-320040" algn="just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375"/>
              <a:buFont typeface="DejaVu Sans"/>
              <a:buChar char="◻"/>
              <a:tabLst>
                <a:tab pos="332740" algn="l"/>
              </a:tabLst>
            </a:pPr>
            <a:r>
              <a:rPr sz="3200" dirty="0">
                <a:latin typeface="Times New Roman"/>
                <a:cs typeface="Times New Roman"/>
              </a:rPr>
              <a:t>Ie. Is used </a:t>
            </a:r>
            <a:r>
              <a:rPr sz="3200" spc="-10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group related classes </a:t>
            </a:r>
            <a:r>
              <a:rPr sz="3200" spc="-10" dirty="0">
                <a:latin typeface="Times New Roman"/>
                <a:cs typeface="Times New Roman"/>
              </a:rPr>
              <a:t>and  </a:t>
            </a:r>
            <a:r>
              <a:rPr sz="3200" dirty="0">
                <a:latin typeface="Times New Roman"/>
                <a:cs typeface="Times New Roman"/>
              </a:rPr>
              <a:t>interfaces.</a:t>
            </a:r>
          </a:p>
          <a:p>
            <a:pPr marL="332740" marR="5080" indent="-320040" algn="just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Font typeface="DejaVu Sans"/>
              <a:buChar char="◻"/>
              <a:tabLst>
                <a:tab pos="332740" algn="l"/>
              </a:tabLst>
            </a:pPr>
            <a:r>
              <a:rPr sz="3200" dirty="0">
                <a:latin typeface="Times New Roman"/>
                <a:cs typeface="Times New Roman"/>
              </a:rPr>
              <a:t>Packages are used for </a:t>
            </a:r>
            <a:r>
              <a:rPr sz="3200" spc="-5" dirty="0">
                <a:latin typeface="Times New Roman"/>
                <a:cs typeface="Times New Roman"/>
              </a:rPr>
              <a:t>avoiding </a:t>
            </a:r>
            <a:r>
              <a:rPr sz="3200" dirty="0">
                <a:latin typeface="Times New Roman"/>
                <a:cs typeface="Times New Roman"/>
              </a:rPr>
              <a:t>name conflicts,  to control access, to make searching/locating  and usage of classes, interfaces, and  annotations easier,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etc</a:t>
            </a:r>
            <a:r>
              <a:rPr sz="3200" dirty="0" smtClean="0">
                <a:latin typeface="Times New Roman"/>
                <a:cs typeface="Times New Roman"/>
              </a:rPr>
              <a:t>.</a:t>
            </a:r>
            <a:endParaRPr lang="en-US" sz="3200" dirty="0" smtClean="0">
              <a:latin typeface="Times New Roman"/>
              <a:cs typeface="Times New Roman"/>
            </a:endParaRPr>
          </a:p>
          <a:p>
            <a:pPr marL="332740" marR="5080" indent="-320040" algn="just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Font typeface="DejaVu Sans"/>
              <a:buChar char="◻"/>
              <a:tabLst>
                <a:tab pos="332740" algn="l"/>
              </a:tabLst>
            </a:pPr>
            <a:r>
              <a:rPr lang="en-US" sz="3200" dirty="0" smtClean="0">
                <a:latin typeface="Times New Roman"/>
                <a:cs typeface="Times New Roman"/>
              </a:rPr>
              <a:t>In any java file the first statement should be a package statement.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524000"/>
            <a:ext cx="7848600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u="sng" spc="-25" dirty="0" smtClean="0">
                <a:latin typeface="Times New Roman"/>
                <a:cs typeface="Times New Roman"/>
              </a:rPr>
              <a:t>Advantages </a:t>
            </a:r>
            <a:r>
              <a:rPr lang="en-IN" sz="2800" b="1" u="sng" spc="-25" dirty="0">
                <a:latin typeface="Times New Roman"/>
                <a:cs typeface="Times New Roman"/>
              </a:rPr>
              <a:t>of Java Package:</a:t>
            </a:r>
          </a:p>
          <a:p>
            <a:endParaRPr lang="en-IN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 smtClean="0"/>
              <a:t> Java package is used to categorize the classes and interfaces so that they can be easily maintained.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 smtClean="0"/>
              <a:t>Java package provides access protection.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 smtClean="0"/>
              <a:t>Java package removes naming collision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 smtClean="0"/>
          </a:p>
          <a:p>
            <a:endParaRPr lang="en-IN" sz="2400" dirty="0" smtClean="0"/>
          </a:p>
          <a:p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76320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7035" y="1600200"/>
            <a:ext cx="8243456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GB" sz="2400" dirty="0"/>
              <a:t>Java provides a large number of classes grouped into different packages based on their functionality.</a:t>
            </a:r>
          </a:p>
          <a:p>
            <a:pPr algn="just" fontAlgn="auto">
              <a:spcAft>
                <a:spcPts val="0"/>
              </a:spcAft>
              <a:defRPr/>
            </a:pPr>
            <a:r>
              <a:rPr lang="en-GB" sz="2400" b="1" u="sng" dirty="0" smtClean="0"/>
              <a:t>The </a:t>
            </a:r>
            <a:r>
              <a:rPr lang="en-GB" sz="2400" b="1" u="sng" dirty="0"/>
              <a:t>six foundation Java packages are: </a:t>
            </a:r>
          </a:p>
          <a:p>
            <a:pPr algn="just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/>
              <a:t>   </a:t>
            </a:r>
            <a:r>
              <a:rPr lang="en-GB" b="1" dirty="0"/>
              <a:t>-   </a:t>
            </a:r>
            <a:r>
              <a:rPr lang="en-GB" sz="2000" b="1" dirty="0" err="1"/>
              <a:t>java.lang</a:t>
            </a:r>
            <a:r>
              <a:rPr lang="en-GB" sz="2000" b="1" dirty="0"/>
              <a:t> :</a:t>
            </a:r>
          </a:p>
          <a:p>
            <a:pPr algn="just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sz="2000" dirty="0"/>
              <a:t>       Contains classes for primitive types, strings, math functions, threads, and exception.</a:t>
            </a:r>
          </a:p>
          <a:p>
            <a:pPr algn="just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sz="2000" dirty="0"/>
              <a:t>   </a:t>
            </a:r>
            <a:r>
              <a:rPr lang="en-GB" sz="2000" b="1" dirty="0"/>
              <a:t>-  </a:t>
            </a:r>
            <a:r>
              <a:rPr lang="en-GB" sz="2000" b="1" dirty="0" err="1"/>
              <a:t>java.util</a:t>
            </a:r>
            <a:r>
              <a:rPr lang="en-GB" sz="2000" b="1" dirty="0"/>
              <a:t> : </a:t>
            </a:r>
          </a:p>
          <a:p>
            <a:pPr algn="just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sz="2000" dirty="0"/>
              <a:t>      Contains classes such as vectors, hash tables, date etc. </a:t>
            </a:r>
          </a:p>
          <a:p>
            <a:pPr algn="just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sz="2000" dirty="0"/>
              <a:t>   </a:t>
            </a:r>
            <a:r>
              <a:rPr lang="en-GB" sz="2000" b="1" dirty="0"/>
              <a:t>-  java.io :</a:t>
            </a:r>
          </a:p>
          <a:p>
            <a:pPr algn="just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sz="2000" dirty="0"/>
              <a:t>       Stream classes for I/O .</a:t>
            </a:r>
          </a:p>
          <a:p>
            <a:pPr algn="just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sz="2000" b="1" dirty="0"/>
              <a:t>   -   </a:t>
            </a:r>
            <a:r>
              <a:rPr lang="en-GB" sz="2000" b="1" dirty="0" err="1"/>
              <a:t>java.awt</a:t>
            </a:r>
            <a:r>
              <a:rPr lang="en-GB" sz="2000" b="1" dirty="0"/>
              <a:t> :</a:t>
            </a:r>
          </a:p>
          <a:p>
            <a:pPr algn="just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sz="2000" dirty="0"/>
              <a:t>      Classes for implementing GUI – windows, buttons, menus etc. </a:t>
            </a:r>
          </a:p>
          <a:p>
            <a:pPr algn="just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sz="2000" b="1" dirty="0"/>
              <a:t>   -  java.net :</a:t>
            </a:r>
          </a:p>
          <a:p>
            <a:pPr algn="just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sz="2000" dirty="0"/>
              <a:t>      Classes for networking .</a:t>
            </a:r>
          </a:p>
          <a:p>
            <a:pPr algn="just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sz="2000" dirty="0"/>
              <a:t>   </a:t>
            </a:r>
            <a:r>
              <a:rPr lang="en-GB" sz="2000" b="1" dirty="0"/>
              <a:t>-  </a:t>
            </a:r>
            <a:r>
              <a:rPr lang="en-GB" sz="2000" b="1" dirty="0" err="1"/>
              <a:t>java.applet</a:t>
            </a:r>
            <a:r>
              <a:rPr lang="en-GB" sz="2000" b="1" dirty="0"/>
              <a:t> :</a:t>
            </a:r>
          </a:p>
          <a:p>
            <a:pPr algn="just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sz="2000" dirty="0"/>
              <a:t>      Classes for creating and implementing app.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457200"/>
            <a:ext cx="78208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800" b="1" u="sng" spc="-25" dirty="0">
                <a:latin typeface="Times New Roman"/>
                <a:cs typeface="Times New Roman"/>
              </a:rPr>
              <a:t>Some of the existing packages in Java are </a:t>
            </a:r>
            <a:r>
              <a:rPr lang="en-US" sz="2800" b="1" u="sng" spc="-25" dirty="0" smtClean="0">
                <a:latin typeface="Times New Roman"/>
                <a:cs typeface="Times New Roman"/>
              </a:rPr>
              <a:t>: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33487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676" y="364312"/>
            <a:ext cx="50399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" dirty="0"/>
              <a:t>Defining </a:t>
            </a:r>
            <a:r>
              <a:rPr sz="4800" dirty="0"/>
              <a:t>a</a:t>
            </a:r>
            <a:r>
              <a:rPr sz="4800" spc="-45" dirty="0"/>
              <a:t> </a:t>
            </a:r>
            <a:r>
              <a:rPr sz="4800" dirty="0"/>
              <a:t>Package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231140" y="1468577"/>
            <a:ext cx="8608060" cy="4223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marR="6350" indent="-32004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60714"/>
              <a:buFont typeface="DejaVu Sans"/>
              <a:buChar char="◻"/>
              <a:tabLst>
                <a:tab pos="332105" algn="l"/>
                <a:tab pos="332740" algn="l"/>
              </a:tabLst>
            </a:pP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create a package: </a:t>
            </a:r>
            <a:r>
              <a:rPr sz="2800" dirty="0">
                <a:latin typeface="Times New Roman"/>
                <a:cs typeface="Times New Roman"/>
              </a:rPr>
              <a:t>include </a:t>
            </a:r>
            <a:r>
              <a:rPr sz="2800" spc="-5" dirty="0">
                <a:latin typeface="Times New Roman"/>
                <a:cs typeface="Times New Roman"/>
              </a:rPr>
              <a:t>a package command </a:t>
            </a:r>
            <a:r>
              <a:rPr sz="2800" spc="-10" dirty="0">
                <a:latin typeface="Times New Roman"/>
                <a:cs typeface="Times New Roman"/>
              </a:rPr>
              <a:t>as </a:t>
            </a:r>
            <a:r>
              <a:rPr sz="2800" dirty="0">
                <a:latin typeface="Times New Roman"/>
                <a:cs typeface="Times New Roman"/>
              </a:rPr>
              <a:t>the  </a:t>
            </a:r>
            <a:r>
              <a:rPr sz="2800" spc="-5" dirty="0">
                <a:latin typeface="Times New Roman"/>
                <a:cs typeface="Times New Roman"/>
              </a:rPr>
              <a:t>first statement in a Java source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file.</a:t>
            </a:r>
            <a:endParaRPr sz="2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715"/>
              </a:spcBef>
            </a:pP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package</a:t>
            </a:r>
            <a:r>
              <a:rPr sz="28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NameOfPackage;</a:t>
            </a:r>
            <a:endParaRPr sz="28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714"/>
              <a:buFont typeface="DejaVu Sans"/>
              <a:buChar char="◻"/>
              <a:tabLst>
                <a:tab pos="332105" algn="l"/>
                <a:tab pos="332740" algn="l"/>
              </a:tabLst>
            </a:pPr>
            <a:r>
              <a:rPr sz="2800" spc="-5" dirty="0">
                <a:solidFill>
                  <a:srgbClr val="211F1F"/>
                </a:solidFill>
                <a:latin typeface="Times New Roman"/>
                <a:cs typeface="Times New Roman"/>
              </a:rPr>
              <a:t>Example - creates a package called</a:t>
            </a:r>
            <a:r>
              <a:rPr sz="2800" spc="5" dirty="0">
                <a:solidFill>
                  <a:srgbClr val="211F1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MyPack.</a:t>
            </a:r>
            <a:endParaRPr sz="2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530"/>
              </a:spcBef>
            </a:pPr>
            <a:r>
              <a:rPr sz="2800" b="1" spc="-10" dirty="0">
                <a:solidFill>
                  <a:srgbClr val="FF0000"/>
                </a:solidFill>
                <a:latin typeface="Courier New"/>
                <a:cs typeface="Courier New"/>
              </a:rPr>
              <a:t>package</a:t>
            </a:r>
            <a:r>
              <a:rPr sz="2800" b="1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800" b="1" spc="-10" dirty="0">
                <a:solidFill>
                  <a:srgbClr val="006FC0"/>
                </a:solidFill>
                <a:latin typeface="Courier New"/>
                <a:cs typeface="Courier New"/>
              </a:rPr>
              <a:t>MyPack</a:t>
            </a:r>
            <a:r>
              <a:rPr sz="2800" b="1" spc="-1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800">
              <a:latin typeface="Courier New"/>
              <a:cs typeface="Courier New"/>
            </a:endParaRPr>
          </a:p>
          <a:p>
            <a:pPr marL="332740" marR="5080" indent="-320040" algn="just">
              <a:lnSpc>
                <a:spcPct val="100000"/>
              </a:lnSpc>
              <a:spcBef>
                <a:spcPts val="875"/>
              </a:spcBef>
              <a:buClr>
                <a:srgbClr val="DD8046"/>
              </a:buClr>
              <a:buSzPct val="60714"/>
              <a:buFont typeface="DejaVu Sans"/>
              <a:buChar char="◻"/>
              <a:tabLst>
                <a:tab pos="332740" algn="l"/>
              </a:tabLst>
            </a:pPr>
            <a:r>
              <a:rPr sz="2800" spc="-5" dirty="0">
                <a:solidFill>
                  <a:srgbClr val="211F1F"/>
                </a:solidFill>
                <a:latin typeface="Times New Roman"/>
                <a:cs typeface="Times New Roman"/>
              </a:rPr>
              <a:t>Java uses file system directories to </a:t>
            </a:r>
            <a:r>
              <a:rPr sz="2800" dirty="0">
                <a:solidFill>
                  <a:srgbClr val="211F1F"/>
                </a:solidFill>
                <a:latin typeface="Times New Roman"/>
                <a:cs typeface="Times New Roman"/>
              </a:rPr>
              <a:t>store </a:t>
            </a:r>
            <a:r>
              <a:rPr sz="2800" spc="-5" dirty="0">
                <a:solidFill>
                  <a:srgbClr val="211F1F"/>
                </a:solidFill>
                <a:latin typeface="Times New Roman"/>
                <a:cs typeface="Times New Roman"/>
              </a:rPr>
              <a:t>packages. </a:t>
            </a:r>
            <a:r>
              <a:rPr sz="2800" dirty="0">
                <a:solidFill>
                  <a:srgbClr val="211F1F"/>
                </a:solidFill>
                <a:latin typeface="Times New Roman"/>
                <a:cs typeface="Times New Roman"/>
              </a:rPr>
              <a:t>For  </a:t>
            </a:r>
            <a:r>
              <a:rPr sz="2800" spc="-5" dirty="0">
                <a:solidFill>
                  <a:srgbClr val="211F1F"/>
                </a:solidFill>
                <a:latin typeface="Times New Roman"/>
                <a:cs typeface="Times New Roman"/>
              </a:rPr>
              <a:t>example, </a:t>
            </a:r>
            <a:r>
              <a:rPr sz="2800" dirty="0">
                <a:solidFill>
                  <a:srgbClr val="211F1F"/>
                </a:solidFill>
                <a:latin typeface="Times New Roman"/>
                <a:cs typeface="Times New Roman"/>
              </a:rPr>
              <a:t>the </a:t>
            </a:r>
            <a:r>
              <a:rPr sz="2800" spc="-5" dirty="0">
                <a:solidFill>
                  <a:srgbClr val="211F1F"/>
                </a:solidFill>
                <a:latin typeface="Times New Roman"/>
                <a:cs typeface="Times New Roman"/>
              </a:rPr>
              <a:t>package </a:t>
            </a:r>
            <a:r>
              <a:rPr sz="2800" b="1" spc="-5" dirty="0">
                <a:solidFill>
                  <a:srgbClr val="211F1F"/>
                </a:solidFill>
                <a:latin typeface="Times New Roman"/>
                <a:cs typeface="Times New Roman"/>
              </a:rPr>
              <a:t>MyPack </a:t>
            </a:r>
            <a:r>
              <a:rPr sz="2800" spc="-5" dirty="0">
                <a:solidFill>
                  <a:srgbClr val="211F1F"/>
                </a:solidFill>
                <a:latin typeface="Times New Roman"/>
                <a:cs typeface="Times New Roman"/>
              </a:rPr>
              <a:t>must </a:t>
            </a:r>
            <a:r>
              <a:rPr sz="2800" dirty="0">
                <a:solidFill>
                  <a:srgbClr val="211F1F"/>
                </a:solidFill>
                <a:latin typeface="Times New Roman"/>
                <a:cs typeface="Times New Roman"/>
              </a:rPr>
              <a:t>be stored </a:t>
            </a:r>
            <a:r>
              <a:rPr sz="2800" spc="-5" dirty="0">
                <a:solidFill>
                  <a:srgbClr val="211F1F"/>
                </a:solidFill>
                <a:latin typeface="Times New Roman"/>
                <a:cs typeface="Times New Roman"/>
              </a:rPr>
              <a:t>in a  directory called </a:t>
            </a:r>
            <a:r>
              <a:rPr sz="2800" b="1" spc="-10" dirty="0">
                <a:solidFill>
                  <a:srgbClr val="211F1F"/>
                </a:solidFill>
                <a:latin typeface="Times New Roman"/>
                <a:cs typeface="Times New Roman"/>
              </a:rPr>
              <a:t>MyPack</a:t>
            </a:r>
            <a:r>
              <a:rPr sz="2800" spc="-10" dirty="0">
                <a:solidFill>
                  <a:srgbClr val="211F1F"/>
                </a:solidFill>
                <a:latin typeface="Times New Roman"/>
                <a:cs typeface="Times New Roman"/>
              </a:rPr>
              <a:t>. </a:t>
            </a:r>
            <a:r>
              <a:rPr sz="2800" dirty="0">
                <a:solidFill>
                  <a:srgbClr val="211F1F"/>
                </a:solidFill>
                <a:latin typeface="Times New Roman"/>
                <a:cs typeface="Times New Roman"/>
              </a:rPr>
              <a:t>the </a:t>
            </a:r>
            <a:r>
              <a:rPr sz="2800" spc="-5" dirty="0">
                <a:solidFill>
                  <a:srgbClr val="211F1F"/>
                </a:solidFill>
                <a:latin typeface="Times New Roman"/>
                <a:cs typeface="Times New Roman"/>
              </a:rPr>
              <a:t>directory </a:t>
            </a:r>
            <a:r>
              <a:rPr sz="2800" spc="-10" dirty="0">
                <a:solidFill>
                  <a:srgbClr val="211F1F"/>
                </a:solidFill>
                <a:latin typeface="Times New Roman"/>
                <a:cs typeface="Times New Roman"/>
              </a:rPr>
              <a:t>name </a:t>
            </a:r>
            <a:r>
              <a:rPr sz="2800" spc="-5" dirty="0">
                <a:solidFill>
                  <a:srgbClr val="211F1F"/>
                </a:solidFill>
                <a:latin typeface="Times New Roman"/>
                <a:cs typeface="Times New Roman"/>
              </a:rPr>
              <a:t>must match  </a:t>
            </a:r>
            <a:r>
              <a:rPr sz="2800" dirty="0">
                <a:solidFill>
                  <a:srgbClr val="211F1F"/>
                </a:solidFill>
                <a:latin typeface="Times New Roman"/>
                <a:cs typeface="Times New Roman"/>
              </a:rPr>
              <a:t>the </a:t>
            </a:r>
            <a:r>
              <a:rPr sz="2800" spc="-5" dirty="0">
                <a:solidFill>
                  <a:srgbClr val="211F1F"/>
                </a:solidFill>
                <a:latin typeface="Times New Roman"/>
                <a:cs typeface="Times New Roman"/>
              </a:rPr>
              <a:t>package </a:t>
            </a:r>
            <a:r>
              <a:rPr sz="2800" spc="-10" dirty="0">
                <a:solidFill>
                  <a:srgbClr val="211F1F"/>
                </a:solidFill>
                <a:latin typeface="Times New Roman"/>
                <a:cs typeface="Times New Roman"/>
              </a:rPr>
              <a:t>name </a:t>
            </a:r>
            <a:r>
              <a:rPr sz="2800" spc="-5" dirty="0">
                <a:solidFill>
                  <a:srgbClr val="211F1F"/>
                </a:solidFill>
                <a:latin typeface="Times New Roman"/>
                <a:cs typeface="Times New Roman"/>
              </a:rPr>
              <a:t>exactly.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56362"/>
            <a:ext cx="20142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Times New Roman"/>
                <a:cs typeface="Times New Roman"/>
              </a:rPr>
              <a:t>Example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6982" y="1514029"/>
            <a:ext cx="7646417" cy="4407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753485">
              <a:lnSpc>
                <a:spcPct val="110200"/>
              </a:lnSpc>
              <a:spcBef>
                <a:spcPts val="100"/>
              </a:spcBef>
            </a:pPr>
            <a:r>
              <a:rPr sz="2900" spc="130" dirty="0">
                <a:solidFill>
                  <a:srgbClr val="008200"/>
                </a:solidFill>
                <a:latin typeface="Arial"/>
                <a:cs typeface="Arial"/>
              </a:rPr>
              <a:t>//save </a:t>
            </a:r>
            <a:r>
              <a:rPr sz="2900" spc="175" dirty="0">
                <a:solidFill>
                  <a:srgbClr val="008200"/>
                </a:solidFill>
                <a:latin typeface="Arial"/>
                <a:cs typeface="Arial"/>
              </a:rPr>
              <a:t>by </a:t>
            </a:r>
            <a:r>
              <a:rPr sz="2900" spc="45" dirty="0">
                <a:solidFill>
                  <a:srgbClr val="008200"/>
                </a:solidFill>
                <a:latin typeface="Arial"/>
                <a:cs typeface="Arial"/>
              </a:rPr>
              <a:t>A.java  </a:t>
            </a:r>
            <a:r>
              <a:rPr sz="2900" b="1" spc="-200" dirty="0">
                <a:solidFill>
                  <a:srgbClr val="006699"/>
                </a:solidFill>
                <a:latin typeface="Verdana"/>
                <a:cs typeface="Verdana"/>
              </a:rPr>
              <a:t>package </a:t>
            </a:r>
            <a:r>
              <a:rPr sz="2900" b="1" spc="-195" dirty="0">
                <a:solidFill>
                  <a:srgbClr val="FF0000"/>
                </a:solidFill>
                <a:latin typeface="Verdana"/>
                <a:cs typeface="Verdana"/>
              </a:rPr>
              <a:t>MyPack;  </a:t>
            </a:r>
            <a:r>
              <a:rPr sz="2900" spc="105" dirty="0">
                <a:latin typeface="Arial"/>
                <a:cs typeface="Arial"/>
              </a:rPr>
              <a:t>public </a:t>
            </a:r>
            <a:r>
              <a:rPr sz="2900" spc="70" dirty="0">
                <a:latin typeface="Arial"/>
                <a:cs typeface="Arial"/>
              </a:rPr>
              <a:t>class </a:t>
            </a:r>
            <a:r>
              <a:rPr sz="2900" spc="25" dirty="0">
                <a:latin typeface="Arial"/>
                <a:cs typeface="Arial"/>
              </a:rPr>
              <a:t>A</a:t>
            </a:r>
            <a:r>
              <a:rPr sz="2900" spc="-190" dirty="0">
                <a:latin typeface="Arial"/>
                <a:cs typeface="Arial"/>
              </a:rPr>
              <a:t> </a:t>
            </a:r>
            <a:r>
              <a:rPr sz="2900" spc="80" dirty="0">
                <a:latin typeface="Arial"/>
                <a:cs typeface="Arial"/>
              </a:rPr>
              <a:t>{</a:t>
            </a:r>
            <a:endParaRPr sz="2900" dirty="0">
              <a:latin typeface="Arial"/>
              <a:cs typeface="Arial"/>
            </a:endParaRPr>
          </a:p>
          <a:p>
            <a:pPr marL="425450">
              <a:lnSpc>
                <a:spcPct val="100000"/>
              </a:lnSpc>
              <a:spcBef>
                <a:spcPts val="350"/>
              </a:spcBef>
            </a:pPr>
            <a:r>
              <a:rPr sz="2900" spc="120" dirty="0">
                <a:latin typeface="Arial"/>
                <a:cs typeface="Arial"/>
              </a:rPr>
              <a:t>int</a:t>
            </a:r>
            <a:r>
              <a:rPr sz="2900" spc="-10" dirty="0">
                <a:latin typeface="Arial"/>
                <a:cs typeface="Arial"/>
              </a:rPr>
              <a:t> </a:t>
            </a:r>
            <a:r>
              <a:rPr sz="2900" spc="10" dirty="0">
                <a:latin typeface="Arial"/>
                <a:cs typeface="Arial"/>
              </a:rPr>
              <a:t>a;</a:t>
            </a:r>
            <a:endParaRPr sz="2900" dirty="0">
              <a:latin typeface="Arial"/>
              <a:cs typeface="Arial"/>
            </a:endParaRPr>
          </a:p>
          <a:p>
            <a:pPr marL="425450" marR="2362835">
              <a:lnSpc>
                <a:spcPts val="3840"/>
              </a:lnSpc>
              <a:spcBef>
                <a:spcPts val="175"/>
              </a:spcBef>
            </a:pPr>
            <a:r>
              <a:rPr sz="2900" spc="105" dirty="0">
                <a:latin typeface="Arial"/>
                <a:cs typeface="Arial"/>
              </a:rPr>
              <a:t>public </a:t>
            </a:r>
            <a:r>
              <a:rPr sz="2900" spc="125" dirty="0">
                <a:latin typeface="Arial"/>
                <a:cs typeface="Arial"/>
              </a:rPr>
              <a:t>void </a:t>
            </a:r>
            <a:r>
              <a:rPr sz="2900" spc="100" dirty="0" smtClean="0">
                <a:latin typeface="Arial"/>
                <a:cs typeface="Arial"/>
              </a:rPr>
              <a:t>disp</a:t>
            </a:r>
            <a:r>
              <a:rPr lang="en-US" sz="2900" spc="100" dirty="0" smtClean="0">
                <a:latin typeface="Arial"/>
                <a:cs typeface="Arial"/>
              </a:rPr>
              <a:t>l</a:t>
            </a:r>
            <a:r>
              <a:rPr sz="2900" spc="100" dirty="0" smtClean="0">
                <a:latin typeface="Arial"/>
                <a:cs typeface="Arial"/>
              </a:rPr>
              <a:t>a</a:t>
            </a:r>
            <a:r>
              <a:rPr lang="en-US" sz="2900" spc="100" dirty="0" smtClean="0">
                <a:latin typeface="Arial"/>
                <a:cs typeface="Arial"/>
              </a:rPr>
              <a:t>y</a:t>
            </a:r>
            <a:r>
              <a:rPr sz="2900" spc="100" dirty="0" smtClean="0">
                <a:latin typeface="Arial"/>
                <a:cs typeface="Arial"/>
              </a:rPr>
              <a:t>(</a:t>
            </a:r>
            <a:r>
              <a:rPr sz="2900" spc="100" dirty="0" err="1" smtClean="0">
                <a:latin typeface="Arial"/>
                <a:cs typeface="Arial"/>
              </a:rPr>
              <a:t>int</a:t>
            </a:r>
            <a:r>
              <a:rPr sz="2900" spc="100" dirty="0" smtClean="0">
                <a:latin typeface="Arial"/>
                <a:cs typeface="Arial"/>
              </a:rPr>
              <a:t> </a:t>
            </a:r>
            <a:r>
              <a:rPr sz="2900" spc="100" dirty="0">
                <a:latin typeface="Arial"/>
                <a:cs typeface="Arial"/>
              </a:rPr>
              <a:t>x)</a:t>
            </a:r>
            <a:r>
              <a:rPr sz="2900" spc="-385" dirty="0">
                <a:latin typeface="Arial"/>
                <a:cs typeface="Arial"/>
              </a:rPr>
              <a:t> </a:t>
            </a:r>
            <a:r>
              <a:rPr sz="2900" spc="80" dirty="0">
                <a:latin typeface="Arial"/>
                <a:cs typeface="Arial"/>
              </a:rPr>
              <a:t>{  </a:t>
            </a:r>
            <a:r>
              <a:rPr sz="2900" spc="90" dirty="0">
                <a:latin typeface="Arial"/>
                <a:cs typeface="Arial"/>
              </a:rPr>
              <a:t>a=x;</a:t>
            </a:r>
            <a:endParaRPr sz="2900" dirty="0">
              <a:latin typeface="Arial"/>
              <a:cs typeface="Arial"/>
            </a:endParaRPr>
          </a:p>
          <a:p>
            <a:pPr marL="425450">
              <a:lnSpc>
                <a:spcPct val="100000"/>
              </a:lnSpc>
              <a:spcBef>
                <a:spcPts val="160"/>
              </a:spcBef>
            </a:pPr>
            <a:r>
              <a:rPr sz="2900" spc="95" dirty="0">
                <a:latin typeface="Arial"/>
                <a:cs typeface="Arial"/>
              </a:rPr>
              <a:t>System.out.println("MyPack </a:t>
            </a:r>
            <a:r>
              <a:rPr sz="2900" spc="20" dirty="0">
                <a:latin typeface="Arial"/>
                <a:cs typeface="Arial"/>
              </a:rPr>
              <a:t>a </a:t>
            </a:r>
            <a:r>
              <a:rPr sz="2900" spc="220" dirty="0">
                <a:latin typeface="Arial"/>
                <a:cs typeface="Arial"/>
              </a:rPr>
              <a:t>= </a:t>
            </a:r>
            <a:r>
              <a:rPr sz="2900" spc="180" dirty="0">
                <a:latin typeface="Arial"/>
                <a:cs typeface="Arial"/>
              </a:rPr>
              <a:t>"+</a:t>
            </a:r>
            <a:r>
              <a:rPr sz="2900" spc="-395" dirty="0">
                <a:latin typeface="Arial"/>
                <a:cs typeface="Arial"/>
              </a:rPr>
              <a:t> </a:t>
            </a:r>
            <a:r>
              <a:rPr sz="2900" spc="35" dirty="0">
                <a:latin typeface="Arial"/>
                <a:cs typeface="Arial"/>
              </a:rPr>
              <a:t>a);</a:t>
            </a:r>
            <a:endParaRPr sz="2900" dirty="0">
              <a:latin typeface="Arial"/>
              <a:cs typeface="Arial"/>
            </a:endParaRPr>
          </a:p>
          <a:p>
            <a:pPr marL="321945">
              <a:lnSpc>
                <a:spcPct val="100000"/>
              </a:lnSpc>
              <a:spcBef>
                <a:spcPts val="350"/>
              </a:spcBef>
            </a:pPr>
            <a:r>
              <a:rPr sz="2900" spc="80" dirty="0">
                <a:latin typeface="Arial"/>
                <a:cs typeface="Arial"/>
              </a:rPr>
              <a:t>}</a:t>
            </a:r>
            <a:endParaRPr sz="2900" dirty="0">
              <a:latin typeface="Arial"/>
              <a:cs typeface="Arial"/>
            </a:endParaRPr>
          </a:p>
          <a:p>
            <a:pPr marL="116205">
              <a:lnSpc>
                <a:spcPct val="100000"/>
              </a:lnSpc>
              <a:spcBef>
                <a:spcPts val="360"/>
              </a:spcBef>
            </a:pPr>
            <a:r>
              <a:rPr sz="2900" spc="80" dirty="0">
                <a:latin typeface="Arial"/>
                <a:cs typeface="Arial"/>
              </a:rPr>
              <a:t>}</a:t>
            </a:r>
            <a:endParaRPr sz="2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96240" marR="5080">
              <a:lnSpc>
                <a:spcPts val="3829"/>
              </a:lnSpc>
              <a:spcBef>
                <a:spcPts val="240"/>
              </a:spcBef>
            </a:pPr>
            <a:r>
              <a:rPr dirty="0">
                <a:solidFill>
                  <a:srgbClr val="600A38"/>
                </a:solidFill>
                <a:latin typeface="Arial"/>
                <a:cs typeface="Arial"/>
              </a:rPr>
              <a:t>How to </a:t>
            </a:r>
            <a:r>
              <a:rPr spc="-5" dirty="0">
                <a:solidFill>
                  <a:srgbClr val="600A38"/>
                </a:solidFill>
                <a:latin typeface="Arial"/>
                <a:cs typeface="Arial"/>
              </a:rPr>
              <a:t>access package </a:t>
            </a:r>
            <a:r>
              <a:rPr dirty="0">
                <a:solidFill>
                  <a:srgbClr val="600A38"/>
                </a:solidFill>
                <a:latin typeface="Arial"/>
                <a:cs typeface="Arial"/>
              </a:rPr>
              <a:t>from</a:t>
            </a:r>
            <a:r>
              <a:rPr spc="-100" dirty="0">
                <a:solidFill>
                  <a:srgbClr val="600A38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600A38"/>
                </a:solidFill>
                <a:latin typeface="Arial"/>
                <a:cs typeface="Arial"/>
              </a:rPr>
              <a:t>another  </a:t>
            </a:r>
            <a:r>
              <a:rPr spc="-5" dirty="0">
                <a:solidFill>
                  <a:srgbClr val="600A38"/>
                </a:solidFill>
                <a:latin typeface="Arial"/>
                <a:cs typeface="Arial"/>
              </a:rPr>
              <a:t>package?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619452"/>
            <a:ext cx="7481570" cy="27717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675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58620"/>
              <a:buFont typeface="DejaVu Sans"/>
              <a:buChar char="◻"/>
              <a:tabLst>
                <a:tab pos="332740" algn="l"/>
                <a:tab pos="333375" algn="l"/>
              </a:tabLst>
            </a:pPr>
            <a:r>
              <a:rPr sz="2900" dirty="0">
                <a:latin typeface="Times New Roman"/>
                <a:cs typeface="Times New Roman"/>
              </a:rPr>
              <a:t>There </a:t>
            </a:r>
            <a:r>
              <a:rPr sz="2900" spc="-5" dirty="0">
                <a:latin typeface="Times New Roman"/>
                <a:cs typeface="Times New Roman"/>
              </a:rPr>
              <a:t>are </a:t>
            </a:r>
            <a:r>
              <a:rPr sz="2900" dirty="0">
                <a:latin typeface="Times New Roman"/>
                <a:cs typeface="Times New Roman"/>
              </a:rPr>
              <a:t>three </a:t>
            </a:r>
            <a:r>
              <a:rPr sz="2900" spc="-5" dirty="0">
                <a:latin typeface="Times New Roman"/>
                <a:cs typeface="Times New Roman"/>
              </a:rPr>
              <a:t>ways </a:t>
            </a:r>
            <a:r>
              <a:rPr sz="2900" dirty="0">
                <a:latin typeface="Times New Roman"/>
                <a:cs typeface="Times New Roman"/>
              </a:rPr>
              <a:t>to </a:t>
            </a:r>
            <a:r>
              <a:rPr sz="2900" spc="-5" dirty="0">
                <a:latin typeface="Times New Roman"/>
                <a:cs typeface="Times New Roman"/>
              </a:rPr>
              <a:t>access </a:t>
            </a:r>
            <a:r>
              <a:rPr sz="2900" dirty="0">
                <a:latin typeface="Times New Roman"/>
                <a:cs typeface="Times New Roman"/>
              </a:rPr>
              <a:t>the </a:t>
            </a:r>
            <a:r>
              <a:rPr sz="2900" spc="-5" dirty="0">
                <a:latin typeface="Times New Roman"/>
                <a:cs typeface="Times New Roman"/>
              </a:rPr>
              <a:t>package </a:t>
            </a:r>
            <a:r>
              <a:rPr sz="2900" dirty="0">
                <a:latin typeface="Times New Roman"/>
                <a:cs typeface="Times New Roman"/>
              </a:rPr>
              <a:t>from  outside the</a:t>
            </a:r>
            <a:r>
              <a:rPr sz="2900" spc="-40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package.</a:t>
            </a: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DD8046"/>
              </a:buClr>
              <a:buFont typeface="DejaVu Sans"/>
              <a:buChar char="◻"/>
            </a:pPr>
            <a:endParaRPr sz="3550">
              <a:latin typeface="Times New Roman"/>
              <a:cs typeface="Times New Roman"/>
            </a:endParaRPr>
          </a:p>
          <a:p>
            <a:pPr marL="893444" lvl="1" indent="-515620">
              <a:lnSpc>
                <a:spcPct val="100000"/>
              </a:lnSpc>
              <a:spcBef>
                <a:spcPts val="5"/>
              </a:spcBef>
              <a:buClr>
                <a:srgbClr val="93B6D2"/>
              </a:buClr>
              <a:buSzPct val="69230"/>
              <a:buAutoNum type="arabicPeriod"/>
              <a:tabLst>
                <a:tab pos="893444" algn="l"/>
                <a:tab pos="894080" algn="l"/>
              </a:tabLst>
            </a:pPr>
            <a:r>
              <a:rPr sz="2600" b="1" dirty="0">
                <a:solidFill>
                  <a:srgbClr val="006FC0"/>
                </a:solidFill>
                <a:latin typeface="Times New Roman"/>
                <a:cs typeface="Times New Roman"/>
              </a:rPr>
              <a:t>import</a:t>
            </a:r>
            <a:r>
              <a:rPr sz="2600" b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6FC0"/>
                </a:solidFill>
                <a:latin typeface="Times New Roman"/>
                <a:cs typeface="Times New Roman"/>
              </a:rPr>
              <a:t>packageName.*;</a:t>
            </a:r>
            <a:endParaRPr sz="2600">
              <a:latin typeface="Times New Roman"/>
              <a:cs typeface="Times New Roman"/>
            </a:endParaRPr>
          </a:p>
          <a:p>
            <a:pPr marL="893444" lvl="1" indent="-51562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230"/>
              <a:buAutoNum type="arabicPeriod"/>
              <a:tabLst>
                <a:tab pos="893444" algn="l"/>
                <a:tab pos="894080" algn="l"/>
              </a:tabLst>
            </a:pPr>
            <a:r>
              <a:rPr sz="2600" b="1" dirty="0">
                <a:solidFill>
                  <a:srgbClr val="006FC0"/>
                </a:solidFill>
                <a:latin typeface="Times New Roman"/>
                <a:cs typeface="Times New Roman"/>
              </a:rPr>
              <a:t>import</a:t>
            </a:r>
            <a:r>
              <a:rPr sz="26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packageName.ClassName;</a:t>
            </a:r>
            <a:endParaRPr sz="2600">
              <a:latin typeface="Times New Roman"/>
              <a:cs typeface="Times New Roman"/>
            </a:endParaRPr>
          </a:p>
          <a:p>
            <a:pPr marL="893444" lvl="1" indent="-51562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230"/>
              <a:buAutoNum type="arabicPeriod"/>
              <a:tabLst>
                <a:tab pos="893444" algn="l"/>
                <a:tab pos="894080" algn="l"/>
              </a:tabLst>
            </a:pPr>
            <a:r>
              <a:rPr sz="2600" b="1" dirty="0">
                <a:solidFill>
                  <a:srgbClr val="006FC0"/>
                </a:solidFill>
                <a:latin typeface="Times New Roman"/>
                <a:cs typeface="Times New Roman"/>
              </a:rPr>
              <a:t>fully </a:t>
            </a:r>
            <a:r>
              <a:rPr sz="26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qualified </a:t>
            </a:r>
            <a:r>
              <a:rPr sz="2600" b="1" dirty="0">
                <a:solidFill>
                  <a:srgbClr val="006FC0"/>
                </a:solidFill>
                <a:latin typeface="Times New Roman"/>
                <a:cs typeface="Times New Roman"/>
              </a:rPr>
              <a:t>name.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57886"/>
            <a:ext cx="61518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600A38"/>
                </a:solidFill>
                <a:latin typeface="Arial"/>
                <a:cs typeface="Arial"/>
              </a:rPr>
              <a:t>1) Using</a:t>
            </a:r>
            <a:r>
              <a:rPr sz="4400" b="0" spc="-60" dirty="0">
                <a:solidFill>
                  <a:srgbClr val="600A38"/>
                </a:solidFill>
                <a:latin typeface="Arial"/>
                <a:cs typeface="Arial"/>
              </a:rPr>
              <a:t> </a:t>
            </a:r>
            <a:r>
              <a:rPr sz="4400" b="0" dirty="0">
                <a:solidFill>
                  <a:srgbClr val="600A38"/>
                </a:solidFill>
                <a:latin typeface="Arial"/>
                <a:cs typeface="Arial"/>
              </a:rPr>
              <a:t>packagename.*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771014"/>
            <a:ext cx="8148955" cy="2236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58620"/>
              <a:buFont typeface="DejaVu Sans"/>
              <a:buChar char="◻"/>
              <a:tabLst>
                <a:tab pos="332105" algn="l"/>
                <a:tab pos="332740" algn="l"/>
              </a:tabLst>
            </a:pPr>
            <a:r>
              <a:rPr sz="2900" spc="70" dirty="0">
                <a:solidFill>
                  <a:srgbClr val="333333"/>
                </a:solidFill>
                <a:latin typeface="Arial"/>
                <a:cs typeface="Arial"/>
              </a:rPr>
              <a:t>use </a:t>
            </a:r>
            <a:r>
              <a:rPr sz="2900" b="1" spc="-245" dirty="0">
                <a:solidFill>
                  <a:srgbClr val="006FC0"/>
                </a:solidFill>
                <a:latin typeface="Verdana"/>
                <a:cs typeface="Verdana"/>
              </a:rPr>
              <a:t>import</a:t>
            </a:r>
            <a:r>
              <a:rPr sz="2900" b="1" spc="-28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900" b="1" spc="-250" dirty="0">
                <a:solidFill>
                  <a:srgbClr val="006FC0"/>
                </a:solidFill>
                <a:latin typeface="Verdana"/>
                <a:cs typeface="Verdana"/>
              </a:rPr>
              <a:t>PackageName.*;</a:t>
            </a:r>
            <a:endParaRPr sz="2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DD8046"/>
              </a:buClr>
              <a:buFont typeface="DejaVu Sans"/>
              <a:buChar char="◻"/>
            </a:pPr>
            <a:endParaRPr sz="2850">
              <a:latin typeface="Verdana"/>
              <a:cs typeface="Verdana"/>
            </a:endParaRPr>
          </a:p>
          <a:p>
            <a:pPr marL="332740" marR="5080" indent="-320040" algn="just">
              <a:lnSpc>
                <a:spcPct val="100000"/>
              </a:lnSpc>
              <a:buClr>
                <a:srgbClr val="DD8046"/>
              </a:buClr>
              <a:buSzPct val="58620"/>
              <a:buFont typeface="DejaVu Sans"/>
              <a:buChar char="◻"/>
              <a:tabLst>
                <a:tab pos="332740" algn="l"/>
              </a:tabLst>
            </a:pPr>
            <a:r>
              <a:rPr sz="2900" spc="85" dirty="0">
                <a:solidFill>
                  <a:srgbClr val="333333"/>
                </a:solidFill>
                <a:latin typeface="Arial"/>
                <a:cs typeface="Arial"/>
              </a:rPr>
              <a:t>Hence </a:t>
            </a:r>
            <a:r>
              <a:rPr sz="2900" spc="25" dirty="0">
                <a:solidFill>
                  <a:srgbClr val="333333"/>
                </a:solidFill>
                <a:latin typeface="Arial"/>
                <a:cs typeface="Arial"/>
              </a:rPr>
              <a:t>all </a:t>
            </a:r>
            <a:r>
              <a:rPr sz="2900" spc="140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2900" spc="65" dirty="0">
                <a:solidFill>
                  <a:srgbClr val="333333"/>
                </a:solidFill>
                <a:latin typeface="Arial"/>
                <a:cs typeface="Arial"/>
              </a:rPr>
              <a:t>classes </a:t>
            </a:r>
            <a:r>
              <a:rPr sz="2900" spc="95" dirty="0">
                <a:solidFill>
                  <a:srgbClr val="333333"/>
                </a:solidFill>
                <a:latin typeface="Arial"/>
                <a:cs typeface="Arial"/>
              </a:rPr>
              <a:t>and </a:t>
            </a:r>
            <a:r>
              <a:rPr sz="2900" spc="105" dirty="0">
                <a:solidFill>
                  <a:srgbClr val="333333"/>
                </a:solidFill>
                <a:latin typeface="Arial"/>
                <a:cs typeface="Arial"/>
              </a:rPr>
              <a:t>interfaces </a:t>
            </a:r>
            <a:r>
              <a:rPr sz="2900" spc="175" dirty="0">
                <a:solidFill>
                  <a:srgbClr val="333333"/>
                </a:solidFill>
                <a:latin typeface="Arial"/>
                <a:cs typeface="Arial"/>
              </a:rPr>
              <a:t>of </a:t>
            </a:r>
            <a:r>
              <a:rPr sz="2900" spc="110" dirty="0">
                <a:solidFill>
                  <a:srgbClr val="333333"/>
                </a:solidFill>
                <a:latin typeface="Arial"/>
                <a:cs typeface="Arial"/>
              </a:rPr>
              <a:t>this  </a:t>
            </a:r>
            <a:r>
              <a:rPr sz="2900" spc="100" dirty="0">
                <a:solidFill>
                  <a:srgbClr val="333333"/>
                </a:solidFill>
                <a:latin typeface="Arial"/>
                <a:cs typeface="Arial"/>
              </a:rPr>
              <a:t>package </a:t>
            </a:r>
            <a:r>
              <a:rPr sz="2900" spc="95" dirty="0">
                <a:solidFill>
                  <a:srgbClr val="333333"/>
                </a:solidFill>
                <a:latin typeface="Arial"/>
                <a:cs typeface="Arial"/>
              </a:rPr>
              <a:t>will </a:t>
            </a:r>
            <a:r>
              <a:rPr sz="2900" spc="130" dirty="0">
                <a:solidFill>
                  <a:srgbClr val="333333"/>
                </a:solidFill>
                <a:latin typeface="Arial"/>
                <a:cs typeface="Arial"/>
              </a:rPr>
              <a:t>be </a:t>
            </a:r>
            <a:r>
              <a:rPr sz="2900" spc="90" dirty="0">
                <a:solidFill>
                  <a:srgbClr val="333333"/>
                </a:solidFill>
                <a:latin typeface="Arial"/>
                <a:cs typeface="Arial"/>
              </a:rPr>
              <a:t>accessible </a:t>
            </a:r>
            <a:r>
              <a:rPr sz="2900" spc="165" dirty="0">
                <a:solidFill>
                  <a:srgbClr val="333333"/>
                </a:solidFill>
                <a:latin typeface="Arial"/>
                <a:cs typeface="Arial"/>
              </a:rPr>
              <a:t>but </a:t>
            </a:r>
            <a:r>
              <a:rPr sz="2900" spc="145" dirty="0">
                <a:solidFill>
                  <a:srgbClr val="333333"/>
                </a:solidFill>
                <a:latin typeface="Arial"/>
                <a:cs typeface="Arial"/>
              </a:rPr>
              <a:t>not </a:t>
            </a:r>
            <a:r>
              <a:rPr sz="2900" spc="110" dirty="0">
                <a:solidFill>
                  <a:srgbClr val="333333"/>
                </a:solidFill>
                <a:latin typeface="Arial"/>
                <a:cs typeface="Arial"/>
              </a:rPr>
              <a:t>sub  </a:t>
            </a:r>
            <a:r>
              <a:rPr sz="2900" spc="85" dirty="0">
                <a:solidFill>
                  <a:srgbClr val="333333"/>
                </a:solidFill>
                <a:latin typeface="Arial"/>
                <a:cs typeface="Arial"/>
              </a:rPr>
              <a:t>packages.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56362"/>
            <a:ext cx="20142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Times New Roman"/>
                <a:cs typeface="Times New Roman"/>
              </a:rPr>
              <a:t>Example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1791" y="1592046"/>
            <a:ext cx="7558405" cy="37420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385945">
              <a:lnSpc>
                <a:spcPct val="120000"/>
              </a:lnSpc>
              <a:spcBef>
                <a:spcPts val="100"/>
              </a:spcBef>
            </a:pPr>
            <a:r>
              <a:rPr sz="2900" b="1" spc="-245" dirty="0">
                <a:solidFill>
                  <a:srgbClr val="006699"/>
                </a:solidFill>
                <a:latin typeface="Verdana"/>
                <a:cs typeface="Verdana"/>
              </a:rPr>
              <a:t>import </a:t>
            </a:r>
            <a:r>
              <a:rPr sz="2900" b="1" spc="-185" dirty="0">
                <a:solidFill>
                  <a:srgbClr val="FF0000"/>
                </a:solidFill>
                <a:latin typeface="Verdana"/>
                <a:cs typeface="Verdana"/>
              </a:rPr>
              <a:t>MyPack</a:t>
            </a:r>
            <a:r>
              <a:rPr sz="2900" b="1" spc="-185" dirty="0">
                <a:latin typeface="Verdana"/>
                <a:cs typeface="Verdana"/>
              </a:rPr>
              <a:t>.*</a:t>
            </a:r>
            <a:r>
              <a:rPr sz="2900" spc="-185" dirty="0">
                <a:latin typeface="Arial"/>
                <a:cs typeface="Arial"/>
              </a:rPr>
              <a:t>;  </a:t>
            </a:r>
            <a:r>
              <a:rPr sz="2900" b="1" spc="-135" dirty="0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2900" b="1" spc="-204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900" spc="5" dirty="0">
                <a:latin typeface="Arial"/>
                <a:cs typeface="Arial"/>
              </a:rPr>
              <a:t>B{</a:t>
            </a:r>
            <a:endParaRPr sz="2900" dirty="0">
              <a:latin typeface="Arial"/>
              <a:cs typeface="Arial"/>
            </a:endParaRPr>
          </a:p>
          <a:p>
            <a:pPr marL="927100" marR="5080">
              <a:lnSpc>
                <a:spcPts val="4190"/>
              </a:lnSpc>
              <a:spcBef>
                <a:spcPts val="245"/>
              </a:spcBef>
            </a:pPr>
            <a:r>
              <a:rPr sz="2900" b="1" spc="-180" dirty="0">
                <a:solidFill>
                  <a:srgbClr val="006699"/>
                </a:solidFill>
                <a:latin typeface="Verdana"/>
                <a:cs typeface="Verdana"/>
              </a:rPr>
              <a:t>public </a:t>
            </a:r>
            <a:r>
              <a:rPr sz="2900" b="1" spc="-155" dirty="0">
                <a:solidFill>
                  <a:srgbClr val="006699"/>
                </a:solidFill>
                <a:latin typeface="Verdana"/>
                <a:cs typeface="Verdana"/>
              </a:rPr>
              <a:t>static </a:t>
            </a:r>
            <a:r>
              <a:rPr sz="2900" b="1" spc="-195" dirty="0">
                <a:solidFill>
                  <a:srgbClr val="006699"/>
                </a:solidFill>
                <a:latin typeface="Verdana"/>
                <a:cs typeface="Verdana"/>
              </a:rPr>
              <a:t>void </a:t>
            </a:r>
            <a:r>
              <a:rPr sz="2900" spc="75" dirty="0">
                <a:latin typeface="Arial"/>
                <a:cs typeface="Arial"/>
              </a:rPr>
              <a:t>main(String</a:t>
            </a:r>
            <a:r>
              <a:rPr sz="2900" spc="-85" dirty="0">
                <a:latin typeface="Arial"/>
                <a:cs typeface="Arial"/>
              </a:rPr>
              <a:t> </a:t>
            </a:r>
            <a:r>
              <a:rPr sz="2900" spc="125" dirty="0">
                <a:latin typeface="Arial"/>
                <a:cs typeface="Arial"/>
              </a:rPr>
              <a:t>args[]){  </a:t>
            </a:r>
            <a:r>
              <a:rPr sz="2900" spc="25" dirty="0">
                <a:latin typeface="Arial"/>
                <a:cs typeface="Arial"/>
              </a:rPr>
              <a:t>A </a:t>
            </a:r>
            <a:r>
              <a:rPr sz="2900" spc="55" dirty="0">
                <a:latin typeface="Arial"/>
                <a:cs typeface="Arial"/>
              </a:rPr>
              <a:t>Obj </a:t>
            </a:r>
            <a:r>
              <a:rPr sz="2900" spc="220" dirty="0">
                <a:latin typeface="Arial"/>
                <a:cs typeface="Arial"/>
              </a:rPr>
              <a:t>= </a:t>
            </a:r>
            <a:r>
              <a:rPr sz="2900" b="1" spc="-275" dirty="0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2900" b="1" spc="-49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900" spc="50" dirty="0">
                <a:latin typeface="Arial"/>
                <a:cs typeface="Arial"/>
              </a:rPr>
              <a:t>A();</a:t>
            </a:r>
            <a:endParaRPr sz="29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34"/>
              </a:spcBef>
            </a:pPr>
            <a:r>
              <a:rPr sz="2900" spc="70" dirty="0">
                <a:latin typeface="Arial"/>
                <a:cs typeface="Arial"/>
              </a:rPr>
              <a:t>Obj.dispa(5);</a:t>
            </a:r>
            <a:endParaRPr sz="2900" dirty="0">
              <a:latin typeface="Arial"/>
              <a:cs typeface="Arial"/>
            </a:endParaRPr>
          </a:p>
          <a:p>
            <a:pPr marL="838835">
              <a:lnSpc>
                <a:spcPct val="100000"/>
              </a:lnSpc>
              <a:spcBef>
                <a:spcPts val="700"/>
              </a:spcBef>
            </a:pPr>
            <a:r>
              <a:rPr sz="2900" spc="80" dirty="0">
                <a:latin typeface="Arial"/>
                <a:cs typeface="Arial"/>
              </a:rPr>
              <a:t>}</a:t>
            </a:r>
            <a:endParaRPr sz="29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900" spc="80" dirty="0">
                <a:latin typeface="Arial"/>
                <a:cs typeface="Arial"/>
              </a:rPr>
              <a:t>}</a:t>
            </a:r>
            <a:endParaRPr sz="2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244" y="304800"/>
            <a:ext cx="8834120" cy="94932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80">
              <a:lnSpc>
                <a:spcPts val="3510"/>
              </a:lnSpc>
              <a:spcBef>
                <a:spcPts val="495"/>
              </a:spcBef>
              <a:tabLst>
                <a:tab pos="5902325" algn="l"/>
              </a:tabLst>
            </a:pPr>
            <a:r>
              <a:rPr sz="3600" b="0" dirty="0">
                <a:solidFill>
                  <a:srgbClr val="600A38"/>
                </a:solidFill>
                <a:latin typeface="Arial"/>
                <a:cs typeface="Arial"/>
              </a:rPr>
              <a:t>2</a:t>
            </a:r>
            <a:r>
              <a:rPr b="0" dirty="0">
                <a:solidFill>
                  <a:srgbClr val="600A38"/>
                </a:solidFill>
                <a:latin typeface="Arial"/>
                <a:cs typeface="Arial"/>
              </a:rPr>
              <a:t>)</a:t>
            </a:r>
            <a:r>
              <a:rPr b="0" spc="175" dirty="0">
                <a:solidFill>
                  <a:srgbClr val="600A38"/>
                </a:solidFill>
                <a:latin typeface="Arial"/>
                <a:cs typeface="Arial"/>
              </a:rPr>
              <a:t> </a:t>
            </a:r>
            <a:r>
              <a:rPr b="0" spc="-5" dirty="0">
                <a:solidFill>
                  <a:srgbClr val="FF0000"/>
                </a:solidFill>
                <a:latin typeface="Arial"/>
                <a:cs typeface="Arial"/>
              </a:rPr>
              <a:t>PackageName.ClassName</a:t>
            </a:r>
            <a:r>
              <a:rPr b="0" spc="1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600A38"/>
                </a:solidFill>
                <a:latin typeface="Arial"/>
                <a:cs typeface="Arial"/>
              </a:rPr>
              <a:t>:	</a:t>
            </a:r>
            <a:r>
              <a:rPr sz="2800" b="0" spc="95" dirty="0">
                <a:solidFill>
                  <a:srgbClr val="333333"/>
                </a:solidFill>
                <a:latin typeface="Arial"/>
                <a:cs typeface="Arial"/>
              </a:rPr>
              <a:t>only </a:t>
            </a:r>
            <a:r>
              <a:rPr sz="2800" b="0" spc="85" dirty="0">
                <a:solidFill>
                  <a:srgbClr val="333333"/>
                </a:solidFill>
                <a:latin typeface="Arial"/>
                <a:cs typeface="Arial"/>
              </a:rPr>
              <a:t>named</a:t>
            </a:r>
            <a:r>
              <a:rPr sz="2800" b="0" spc="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800" b="0" spc="60" dirty="0">
                <a:solidFill>
                  <a:srgbClr val="333333"/>
                </a:solidFill>
                <a:latin typeface="Arial"/>
                <a:cs typeface="Arial"/>
              </a:rPr>
              <a:t>class  </a:t>
            </a:r>
            <a:r>
              <a:rPr sz="2800" b="0" spc="165" dirty="0">
                <a:solidFill>
                  <a:srgbClr val="333333"/>
                </a:solidFill>
                <a:latin typeface="Arial"/>
                <a:cs typeface="Arial"/>
              </a:rPr>
              <a:t>of </a:t>
            </a:r>
            <a:r>
              <a:rPr sz="2800" b="0" spc="105" dirty="0">
                <a:solidFill>
                  <a:srgbClr val="333333"/>
                </a:solidFill>
                <a:latin typeface="Arial"/>
                <a:cs typeface="Arial"/>
              </a:rPr>
              <a:t>this </a:t>
            </a:r>
            <a:r>
              <a:rPr sz="2800" b="0" spc="90" dirty="0">
                <a:solidFill>
                  <a:srgbClr val="333333"/>
                </a:solidFill>
                <a:latin typeface="Arial"/>
                <a:cs typeface="Arial"/>
              </a:rPr>
              <a:t>package will </a:t>
            </a:r>
            <a:r>
              <a:rPr sz="2800" b="0" spc="120" dirty="0">
                <a:solidFill>
                  <a:srgbClr val="333333"/>
                </a:solidFill>
                <a:latin typeface="Arial"/>
                <a:cs typeface="Arial"/>
              </a:rPr>
              <a:t>be</a:t>
            </a:r>
            <a:r>
              <a:rPr sz="2800" b="0" spc="-39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800" b="0" spc="75" dirty="0">
                <a:solidFill>
                  <a:srgbClr val="333333"/>
                </a:solidFill>
                <a:latin typeface="Arial"/>
                <a:cs typeface="Arial"/>
              </a:rPr>
              <a:t>accessible.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9188" y="2075277"/>
            <a:ext cx="6849745" cy="3741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8440" marR="3601720" indent="-206375">
              <a:lnSpc>
                <a:spcPct val="120000"/>
              </a:lnSpc>
              <a:spcBef>
                <a:spcPts val="95"/>
              </a:spcBef>
            </a:pPr>
            <a:r>
              <a:rPr sz="2900" b="1" spc="-245" dirty="0">
                <a:solidFill>
                  <a:srgbClr val="006699"/>
                </a:solidFill>
                <a:latin typeface="Verdana"/>
                <a:cs typeface="Verdana"/>
              </a:rPr>
              <a:t>import </a:t>
            </a:r>
            <a:r>
              <a:rPr sz="2900" b="1" spc="-180" dirty="0">
                <a:solidFill>
                  <a:srgbClr val="FF0000"/>
                </a:solidFill>
                <a:latin typeface="Verdana"/>
                <a:cs typeface="Verdana"/>
              </a:rPr>
              <a:t>MyPack.A;  </a:t>
            </a:r>
            <a:r>
              <a:rPr sz="2900" b="1" spc="-130" dirty="0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2900" b="1" spc="-204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900" spc="10" dirty="0">
                <a:latin typeface="Arial"/>
                <a:cs typeface="Arial"/>
              </a:rPr>
              <a:t>B{</a:t>
            </a:r>
            <a:endParaRPr sz="2900" dirty="0">
              <a:latin typeface="Arial"/>
              <a:cs typeface="Arial"/>
            </a:endParaRPr>
          </a:p>
          <a:p>
            <a:pPr marL="321945" marR="5080" indent="-104139">
              <a:lnSpc>
                <a:spcPct val="120000"/>
              </a:lnSpc>
              <a:spcBef>
                <a:spcPts val="15"/>
              </a:spcBef>
            </a:pPr>
            <a:r>
              <a:rPr sz="2900" b="1" spc="-180" dirty="0">
                <a:solidFill>
                  <a:srgbClr val="006699"/>
                </a:solidFill>
                <a:latin typeface="Verdana"/>
                <a:cs typeface="Verdana"/>
              </a:rPr>
              <a:t>public </a:t>
            </a:r>
            <a:r>
              <a:rPr sz="2900" b="1" spc="-155" dirty="0">
                <a:solidFill>
                  <a:srgbClr val="006699"/>
                </a:solidFill>
                <a:latin typeface="Verdana"/>
                <a:cs typeface="Verdana"/>
              </a:rPr>
              <a:t>static </a:t>
            </a:r>
            <a:r>
              <a:rPr sz="2900" b="1" spc="-195" dirty="0">
                <a:solidFill>
                  <a:srgbClr val="006699"/>
                </a:solidFill>
                <a:latin typeface="Verdana"/>
                <a:cs typeface="Verdana"/>
              </a:rPr>
              <a:t>void </a:t>
            </a:r>
            <a:r>
              <a:rPr sz="2900" spc="75" dirty="0">
                <a:latin typeface="Arial"/>
                <a:cs typeface="Arial"/>
              </a:rPr>
              <a:t>main(String</a:t>
            </a:r>
            <a:r>
              <a:rPr sz="2900" spc="-80" dirty="0">
                <a:latin typeface="Arial"/>
                <a:cs typeface="Arial"/>
              </a:rPr>
              <a:t> </a:t>
            </a:r>
            <a:r>
              <a:rPr sz="2900" spc="125" dirty="0">
                <a:latin typeface="Arial"/>
                <a:cs typeface="Arial"/>
              </a:rPr>
              <a:t>args[]){  </a:t>
            </a:r>
            <a:r>
              <a:rPr sz="2900" spc="25" dirty="0">
                <a:latin typeface="Arial"/>
                <a:cs typeface="Arial"/>
              </a:rPr>
              <a:t>A </a:t>
            </a:r>
            <a:r>
              <a:rPr sz="2900" spc="55" dirty="0">
                <a:latin typeface="Arial"/>
                <a:cs typeface="Arial"/>
              </a:rPr>
              <a:t>Obj </a:t>
            </a:r>
            <a:r>
              <a:rPr sz="2900" spc="220" dirty="0">
                <a:latin typeface="Arial"/>
                <a:cs typeface="Arial"/>
              </a:rPr>
              <a:t>= </a:t>
            </a:r>
            <a:r>
              <a:rPr sz="2900" b="1" spc="-275" dirty="0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2900" b="1" spc="-484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2900" spc="50" dirty="0">
                <a:latin typeface="Arial"/>
                <a:cs typeface="Arial"/>
              </a:rPr>
              <a:t>A();</a:t>
            </a:r>
            <a:endParaRPr sz="2900" dirty="0">
              <a:latin typeface="Arial"/>
              <a:cs typeface="Arial"/>
            </a:endParaRPr>
          </a:p>
          <a:p>
            <a:pPr marL="321945">
              <a:lnSpc>
                <a:spcPct val="100000"/>
              </a:lnSpc>
              <a:spcBef>
                <a:spcPts val="695"/>
              </a:spcBef>
            </a:pPr>
            <a:r>
              <a:rPr sz="2900" spc="70" dirty="0">
                <a:latin typeface="Arial"/>
                <a:cs typeface="Arial"/>
              </a:rPr>
              <a:t>Obj.dispa(5);</a:t>
            </a:r>
            <a:endParaRPr sz="2900" dirty="0">
              <a:latin typeface="Arial"/>
              <a:cs typeface="Arial"/>
            </a:endParaRPr>
          </a:p>
          <a:p>
            <a:pPr marL="218440">
              <a:lnSpc>
                <a:spcPct val="100000"/>
              </a:lnSpc>
              <a:spcBef>
                <a:spcPts val="710"/>
              </a:spcBef>
            </a:pPr>
            <a:r>
              <a:rPr sz="2900" spc="80" dirty="0">
                <a:latin typeface="Arial"/>
                <a:cs typeface="Arial"/>
              </a:rPr>
              <a:t>}</a:t>
            </a:r>
            <a:endParaRPr sz="29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900" spc="80" dirty="0">
                <a:latin typeface="Arial"/>
                <a:cs typeface="Arial"/>
              </a:rPr>
              <a:t>}</a:t>
            </a:r>
            <a:endParaRPr sz="2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87579"/>
            <a:ext cx="64058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solidFill>
                  <a:srgbClr val="600A38"/>
                </a:solidFill>
                <a:latin typeface="Arial"/>
                <a:cs typeface="Arial"/>
              </a:rPr>
              <a:t>3) Using fully qualified</a:t>
            </a:r>
            <a:r>
              <a:rPr sz="4000" b="0" spc="25" dirty="0">
                <a:solidFill>
                  <a:srgbClr val="600A38"/>
                </a:solidFill>
                <a:latin typeface="Arial"/>
                <a:cs typeface="Arial"/>
              </a:rPr>
              <a:t> </a:t>
            </a:r>
            <a:r>
              <a:rPr sz="4000" b="0" spc="-5" dirty="0">
                <a:solidFill>
                  <a:srgbClr val="600A38"/>
                </a:solidFill>
                <a:latin typeface="Arial"/>
                <a:cs typeface="Arial"/>
              </a:rPr>
              <a:t>name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1387" y="1619452"/>
            <a:ext cx="7996555" cy="2327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indent="-320675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58620"/>
              <a:buFont typeface="DejaVu Sans"/>
              <a:buChar char="◻"/>
              <a:tabLst>
                <a:tab pos="332740" algn="l"/>
                <a:tab pos="333375" algn="l"/>
              </a:tabLst>
            </a:pPr>
            <a:r>
              <a:rPr sz="2900" dirty="0">
                <a:latin typeface="Times New Roman"/>
                <a:cs typeface="Times New Roman"/>
              </a:rPr>
              <a:t>There </a:t>
            </a:r>
            <a:r>
              <a:rPr sz="2900" spc="-5" dirty="0">
                <a:latin typeface="Times New Roman"/>
                <a:cs typeface="Times New Roman"/>
              </a:rPr>
              <a:t>is </a:t>
            </a:r>
            <a:r>
              <a:rPr sz="2900" dirty="0">
                <a:latin typeface="Times New Roman"/>
                <a:cs typeface="Times New Roman"/>
              </a:rPr>
              <a:t>no need to</a:t>
            </a:r>
            <a:r>
              <a:rPr sz="2900" spc="-65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import.</a:t>
            </a:r>
            <a:endParaRPr sz="2900">
              <a:latin typeface="Times New Roman"/>
              <a:cs typeface="Times New Roman"/>
            </a:endParaRPr>
          </a:p>
          <a:p>
            <a:pPr marL="332740" marR="5715" indent="-320675">
              <a:lnSpc>
                <a:spcPct val="100000"/>
              </a:lnSpc>
              <a:spcBef>
                <a:spcPts val="5"/>
              </a:spcBef>
              <a:buClr>
                <a:srgbClr val="DD8046"/>
              </a:buClr>
              <a:buSzPct val="58620"/>
              <a:buFont typeface="DejaVu Sans"/>
              <a:buChar char="◻"/>
              <a:tabLst>
                <a:tab pos="332740" algn="l"/>
                <a:tab pos="333375" algn="l"/>
                <a:tab pos="1038225" algn="l"/>
                <a:tab pos="1905635" algn="l"/>
                <a:tab pos="2362835" algn="l"/>
                <a:tab pos="3025775" algn="l"/>
                <a:tab pos="3893185" algn="l"/>
                <a:tab pos="5371465" algn="l"/>
                <a:tab pos="6341110" algn="l"/>
                <a:tab pos="7330440" algn="l"/>
              </a:tabLst>
            </a:pPr>
            <a:r>
              <a:rPr sz="2900" dirty="0">
                <a:latin typeface="Times New Roman"/>
                <a:cs typeface="Times New Roman"/>
              </a:rPr>
              <a:t>But	ne</a:t>
            </a:r>
            <a:r>
              <a:rPr sz="2900" spc="-15" dirty="0">
                <a:latin typeface="Times New Roman"/>
                <a:cs typeface="Times New Roman"/>
              </a:rPr>
              <a:t>e</a:t>
            </a:r>
            <a:r>
              <a:rPr sz="2900" dirty="0">
                <a:latin typeface="Times New Roman"/>
                <a:cs typeface="Times New Roman"/>
              </a:rPr>
              <a:t>d	</a:t>
            </a:r>
            <a:r>
              <a:rPr sz="2900" spc="-5" dirty="0">
                <a:latin typeface="Times New Roman"/>
                <a:cs typeface="Times New Roman"/>
              </a:rPr>
              <a:t>t</a:t>
            </a:r>
            <a:r>
              <a:rPr sz="2900" dirty="0">
                <a:latin typeface="Times New Roman"/>
                <a:cs typeface="Times New Roman"/>
              </a:rPr>
              <a:t>o	use	fu</a:t>
            </a:r>
            <a:r>
              <a:rPr sz="2900" spc="-15" dirty="0">
                <a:latin typeface="Times New Roman"/>
                <a:cs typeface="Times New Roman"/>
              </a:rPr>
              <a:t>l</a:t>
            </a:r>
            <a:r>
              <a:rPr sz="2900" dirty="0">
                <a:latin typeface="Times New Roman"/>
                <a:cs typeface="Times New Roman"/>
              </a:rPr>
              <a:t>ly	qua</a:t>
            </a:r>
            <a:r>
              <a:rPr sz="2900" spc="-15" dirty="0">
                <a:latin typeface="Times New Roman"/>
                <a:cs typeface="Times New Roman"/>
              </a:rPr>
              <a:t>li</a:t>
            </a:r>
            <a:r>
              <a:rPr sz="2900" dirty="0">
                <a:latin typeface="Times New Roman"/>
                <a:cs typeface="Times New Roman"/>
              </a:rPr>
              <a:t>fied	na</a:t>
            </a:r>
            <a:r>
              <a:rPr sz="2900" spc="-35" dirty="0">
                <a:latin typeface="Times New Roman"/>
                <a:cs typeface="Times New Roman"/>
              </a:rPr>
              <a:t>m</a:t>
            </a:r>
            <a:r>
              <a:rPr sz="2900" dirty="0">
                <a:latin typeface="Times New Roman"/>
                <a:cs typeface="Times New Roman"/>
              </a:rPr>
              <a:t>e	ev</a:t>
            </a:r>
            <a:r>
              <a:rPr sz="2900" spc="-15" dirty="0">
                <a:latin typeface="Times New Roman"/>
                <a:cs typeface="Times New Roman"/>
              </a:rPr>
              <a:t>e</a:t>
            </a:r>
            <a:r>
              <a:rPr sz="2900" dirty="0">
                <a:latin typeface="Times New Roman"/>
                <a:cs typeface="Times New Roman"/>
              </a:rPr>
              <a:t>ry	t</a:t>
            </a:r>
            <a:r>
              <a:rPr sz="2900" spc="-20" dirty="0">
                <a:latin typeface="Times New Roman"/>
                <a:cs typeface="Times New Roman"/>
              </a:rPr>
              <a:t>i</a:t>
            </a:r>
            <a:r>
              <a:rPr sz="2900" spc="-15" dirty="0">
                <a:latin typeface="Times New Roman"/>
                <a:cs typeface="Times New Roman"/>
              </a:rPr>
              <a:t>m</a:t>
            </a:r>
            <a:r>
              <a:rPr sz="2900" dirty="0">
                <a:latin typeface="Times New Roman"/>
                <a:cs typeface="Times New Roman"/>
              </a:rPr>
              <a:t>e  when you are </a:t>
            </a:r>
            <a:r>
              <a:rPr sz="2900" spc="-5" dirty="0">
                <a:latin typeface="Times New Roman"/>
                <a:cs typeface="Times New Roman"/>
              </a:rPr>
              <a:t>accessing </a:t>
            </a:r>
            <a:r>
              <a:rPr sz="2900" dirty="0">
                <a:latin typeface="Times New Roman"/>
                <a:cs typeface="Times New Roman"/>
              </a:rPr>
              <a:t>the </a:t>
            </a:r>
            <a:r>
              <a:rPr sz="2900" spc="-5" dirty="0">
                <a:latin typeface="Times New Roman"/>
                <a:cs typeface="Times New Roman"/>
              </a:rPr>
              <a:t>class </a:t>
            </a:r>
            <a:r>
              <a:rPr sz="2900" dirty="0">
                <a:latin typeface="Times New Roman"/>
                <a:cs typeface="Times New Roman"/>
              </a:rPr>
              <a:t>or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interface.</a:t>
            </a:r>
            <a:endParaRPr sz="2900">
              <a:latin typeface="Times New Roman"/>
              <a:cs typeface="Times New Roman"/>
            </a:endParaRPr>
          </a:p>
          <a:p>
            <a:pPr marL="332740" marR="5080" indent="-32067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58620"/>
              <a:buFont typeface="DejaVu Sans"/>
              <a:buChar char="◻"/>
              <a:tabLst>
                <a:tab pos="332740" algn="l"/>
                <a:tab pos="333375" algn="l"/>
              </a:tabLst>
            </a:pPr>
            <a:r>
              <a:rPr sz="2900" dirty="0">
                <a:latin typeface="Times New Roman"/>
                <a:cs typeface="Times New Roman"/>
              </a:rPr>
              <a:t>It </a:t>
            </a:r>
            <a:r>
              <a:rPr sz="2900" spc="-5" dirty="0">
                <a:latin typeface="Times New Roman"/>
                <a:cs typeface="Times New Roman"/>
              </a:rPr>
              <a:t>is generally </a:t>
            </a:r>
            <a:r>
              <a:rPr sz="2900" dirty="0">
                <a:latin typeface="Times New Roman"/>
                <a:cs typeface="Times New Roman"/>
              </a:rPr>
              <a:t>used when two </a:t>
            </a:r>
            <a:r>
              <a:rPr sz="2900" spc="-5" dirty="0">
                <a:latin typeface="Times New Roman"/>
                <a:cs typeface="Times New Roman"/>
              </a:rPr>
              <a:t>packages </a:t>
            </a:r>
            <a:r>
              <a:rPr sz="2900" dirty="0">
                <a:latin typeface="Times New Roman"/>
                <a:cs typeface="Times New Roman"/>
              </a:rPr>
              <a:t>have </a:t>
            </a:r>
            <a:r>
              <a:rPr sz="2900" spc="-5" dirty="0">
                <a:latin typeface="Times New Roman"/>
                <a:cs typeface="Times New Roman"/>
              </a:rPr>
              <a:t>same  class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name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56362"/>
            <a:ext cx="20142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Times New Roman"/>
                <a:cs typeface="Times New Roman"/>
              </a:rPr>
              <a:t>Example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2180734"/>
            <a:ext cx="7317740" cy="339407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3100" b="1" spc="-145" dirty="0">
                <a:solidFill>
                  <a:srgbClr val="006699"/>
                </a:solidFill>
                <a:latin typeface="Verdana"/>
                <a:cs typeface="Verdana"/>
              </a:rPr>
              <a:t>class </a:t>
            </a:r>
            <a:r>
              <a:rPr sz="3100" spc="-55" dirty="0">
                <a:latin typeface="Arial"/>
                <a:cs typeface="Arial"/>
              </a:rPr>
              <a:t>B</a:t>
            </a:r>
            <a:r>
              <a:rPr sz="3100" spc="-30" dirty="0">
                <a:latin typeface="Arial"/>
                <a:cs typeface="Arial"/>
              </a:rPr>
              <a:t> </a:t>
            </a:r>
            <a:r>
              <a:rPr sz="3100" spc="85" dirty="0">
                <a:latin typeface="Arial"/>
                <a:cs typeface="Arial"/>
              </a:rPr>
              <a:t>{</a:t>
            </a:r>
            <a:endParaRPr sz="310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700"/>
              </a:spcBef>
            </a:pPr>
            <a:r>
              <a:rPr sz="3100" b="1" spc="-195" dirty="0">
                <a:solidFill>
                  <a:srgbClr val="006699"/>
                </a:solidFill>
                <a:latin typeface="Verdana"/>
                <a:cs typeface="Verdana"/>
              </a:rPr>
              <a:t>public </a:t>
            </a:r>
            <a:r>
              <a:rPr sz="3100" b="1" spc="-175" dirty="0">
                <a:solidFill>
                  <a:srgbClr val="006699"/>
                </a:solidFill>
                <a:latin typeface="Verdana"/>
                <a:cs typeface="Verdana"/>
              </a:rPr>
              <a:t>static </a:t>
            </a:r>
            <a:r>
              <a:rPr sz="3100" b="1" spc="-215" dirty="0">
                <a:solidFill>
                  <a:srgbClr val="006699"/>
                </a:solidFill>
                <a:latin typeface="Verdana"/>
                <a:cs typeface="Verdana"/>
              </a:rPr>
              <a:t>void </a:t>
            </a:r>
            <a:r>
              <a:rPr sz="3100" spc="80" dirty="0">
                <a:latin typeface="Arial"/>
                <a:cs typeface="Arial"/>
              </a:rPr>
              <a:t>main(String</a:t>
            </a:r>
            <a:r>
              <a:rPr sz="3100" spc="55" dirty="0">
                <a:latin typeface="Arial"/>
                <a:cs typeface="Arial"/>
              </a:rPr>
              <a:t> </a:t>
            </a:r>
            <a:r>
              <a:rPr sz="3100" spc="125" dirty="0">
                <a:latin typeface="Arial"/>
                <a:cs typeface="Arial"/>
              </a:rPr>
              <a:t>args[]){</a:t>
            </a:r>
            <a:endParaRPr sz="3100">
              <a:latin typeface="Arial"/>
              <a:cs typeface="Arial"/>
            </a:endParaRPr>
          </a:p>
          <a:p>
            <a:pPr marL="346075" marR="586740">
              <a:lnSpc>
                <a:spcPct val="118700"/>
              </a:lnSpc>
              <a:spcBef>
                <a:spcPts val="15"/>
              </a:spcBef>
            </a:pPr>
            <a:r>
              <a:rPr sz="3100" b="1" spc="-165" dirty="0">
                <a:solidFill>
                  <a:srgbClr val="FF0000"/>
                </a:solidFill>
                <a:latin typeface="Verdana"/>
                <a:cs typeface="Verdana"/>
              </a:rPr>
              <a:t>MyPack.</a:t>
            </a:r>
            <a:r>
              <a:rPr sz="3100" spc="-165" dirty="0">
                <a:latin typeface="Arial"/>
                <a:cs typeface="Arial"/>
              </a:rPr>
              <a:t>A </a:t>
            </a:r>
            <a:r>
              <a:rPr sz="3100" spc="55" dirty="0">
                <a:latin typeface="Arial"/>
                <a:cs typeface="Arial"/>
              </a:rPr>
              <a:t>Obj </a:t>
            </a:r>
            <a:r>
              <a:rPr sz="3100" spc="229" dirty="0">
                <a:latin typeface="Arial"/>
                <a:cs typeface="Arial"/>
              </a:rPr>
              <a:t>= </a:t>
            </a:r>
            <a:r>
              <a:rPr sz="3100" b="1" spc="-300" dirty="0">
                <a:solidFill>
                  <a:srgbClr val="006699"/>
                </a:solidFill>
                <a:latin typeface="Verdana"/>
                <a:cs typeface="Verdana"/>
              </a:rPr>
              <a:t>new </a:t>
            </a:r>
            <a:r>
              <a:rPr sz="3100" b="1" spc="-90" dirty="0">
                <a:solidFill>
                  <a:srgbClr val="FF0000"/>
                </a:solidFill>
                <a:latin typeface="Verdana"/>
                <a:cs typeface="Verdana"/>
              </a:rPr>
              <a:t>MyPack</a:t>
            </a:r>
            <a:r>
              <a:rPr sz="3100" spc="-9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  <a:r>
              <a:rPr sz="3100" spc="-90" dirty="0">
                <a:latin typeface="Arial"/>
                <a:cs typeface="Arial"/>
              </a:rPr>
              <a:t>A();  </a:t>
            </a:r>
            <a:r>
              <a:rPr sz="3100" spc="65" dirty="0">
                <a:latin typeface="Arial"/>
                <a:cs typeface="Arial"/>
              </a:rPr>
              <a:t>Obj.dispa();</a:t>
            </a:r>
            <a:endParaRPr sz="310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695"/>
              </a:spcBef>
            </a:pPr>
            <a:r>
              <a:rPr sz="3100" spc="85" dirty="0">
                <a:latin typeface="Arial"/>
                <a:cs typeface="Arial"/>
              </a:rPr>
              <a:t>}</a:t>
            </a:r>
            <a:endParaRPr sz="3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3100" spc="85" dirty="0">
                <a:latin typeface="Arial"/>
                <a:cs typeface="Arial"/>
              </a:rPr>
              <a:t>}</a:t>
            </a:r>
            <a:endParaRPr sz="3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676" y="364312"/>
            <a:ext cx="46094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Access</a:t>
            </a:r>
            <a:r>
              <a:rPr sz="4800" spc="-125" dirty="0"/>
              <a:t> </a:t>
            </a:r>
            <a:r>
              <a:rPr sz="4800" dirty="0"/>
              <a:t>Protection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535940" y="1619452"/>
            <a:ext cx="7832090" cy="4505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59375"/>
              <a:buFont typeface="DejaVu Sans"/>
              <a:buChar char="◻"/>
              <a:tabLst>
                <a:tab pos="332740" algn="l"/>
              </a:tabLst>
            </a:pPr>
            <a:r>
              <a:rPr sz="3200" dirty="0">
                <a:latin typeface="Times New Roman"/>
                <a:cs typeface="Times New Roman"/>
              </a:rPr>
              <a:t>Java addresses four categories of visibility for  class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members:</a:t>
            </a:r>
            <a:endParaRPr sz="3200">
              <a:latin typeface="Times New Roman"/>
              <a:cs typeface="Times New Roman"/>
            </a:endParaRPr>
          </a:p>
          <a:p>
            <a:pPr marL="377825">
              <a:lnSpc>
                <a:spcPct val="100000"/>
              </a:lnSpc>
              <a:spcBef>
                <a:spcPts val="605"/>
              </a:spcBef>
              <a:tabLst>
                <a:tab pos="652780" algn="l"/>
              </a:tabLst>
            </a:pPr>
            <a:r>
              <a:rPr sz="1950" spc="-475" dirty="0">
                <a:solidFill>
                  <a:srgbClr val="93B6D2"/>
                </a:solidFill>
                <a:latin typeface="Arial"/>
                <a:cs typeface="Arial"/>
              </a:rPr>
              <a:t>🞑	</a:t>
            </a:r>
            <a:r>
              <a:rPr sz="2800" spc="-5" dirty="0">
                <a:latin typeface="Times New Roman"/>
                <a:cs typeface="Times New Roman"/>
              </a:rPr>
              <a:t>Subclasses in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10" dirty="0">
                <a:latin typeface="Times New Roman"/>
                <a:cs typeface="Times New Roman"/>
              </a:rPr>
              <a:t>same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package</a:t>
            </a:r>
            <a:endParaRPr sz="2800">
              <a:latin typeface="Times New Roman"/>
              <a:cs typeface="Times New Roman"/>
            </a:endParaRPr>
          </a:p>
          <a:p>
            <a:pPr marL="377825">
              <a:lnSpc>
                <a:spcPct val="100000"/>
              </a:lnSpc>
              <a:spcBef>
                <a:spcPts val="605"/>
              </a:spcBef>
              <a:tabLst>
                <a:tab pos="652780" algn="l"/>
              </a:tabLst>
            </a:pPr>
            <a:r>
              <a:rPr sz="1950" spc="-475" dirty="0">
                <a:solidFill>
                  <a:srgbClr val="93B6D2"/>
                </a:solidFill>
                <a:latin typeface="Arial"/>
                <a:cs typeface="Arial"/>
              </a:rPr>
              <a:t>🞑	</a:t>
            </a:r>
            <a:r>
              <a:rPr sz="2800" spc="-5" dirty="0">
                <a:latin typeface="Times New Roman"/>
                <a:cs typeface="Times New Roman"/>
              </a:rPr>
              <a:t>Non-subclasses in the </a:t>
            </a:r>
            <a:r>
              <a:rPr sz="2800" spc="-10" dirty="0">
                <a:latin typeface="Times New Roman"/>
                <a:cs typeface="Times New Roman"/>
              </a:rPr>
              <a:t>same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package</a:t>
            </a:r>
            <a:endParaRPr sz="2800">
              <a:latin typeface="Times New Roman"/>
              <a:cs typeface="Times New Roman"/>
            </a:endParaRPr>
          </a:p>
          <a:p>
            <a:pPr marL="377825">
              <a:lnSpc>
                <a:spcPct val="100000"/>
              </a:lnSpc>
              <a:spcBef>
                <a:spcPts val="600"/>
              </a:spcBef>
              <a:tabLst>
                <a:tab pos="652780" algn="l"/>
              </a:tabLst>
            </a:pPr>
            <a:r>
              <a:rPr sz="1950" spc="-475" dirty="0">
                <a:solidFill>
                  <a:srgbClr val="93B6D2"/>
                </a:solidFill>
                <a:latin typeface="Arial"/>
                <a:cs typeface="Arial"/>
              </a:rPr>
              <a:t>🞑	</a:t>
            </a:r>
            <a:r>
              <a:rPr sz="2800" spc="-5" dirty="0">
                <a:latin typeface="Times New Roman"/>
                <a:cs typeface="Times New Roman"/>
              </a:rPr>
              <a:t>Subclasses in different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packages</a:t>
            </a:r>
            <a:endParaRPr sz="2800">
              <a:latin typeface="Times New Roman"/>
              <a:cs typeface="Times New Roman"/>
            </a:endParaRPr>
          </a:p>
          <a:p>
            <a:pPr marL="652780" marR="371475" indent="-274955">
              <a:lnSpc>
                <a:spcPct val="100000"/>
              </a:lnSpc>
              <a:spcBef>
                <a:spcPts val="600"/>
              </a:spcBef>
              <a:tabLst>
                <a:tab pos="652780" algn="l"/>
              </a:tabLst>
            </a:pPr>
            <a:r>
              <a:rPr sz="1950" spc="-470" dirty="0">
                <a:solidFill>
                  <a:srgbClr val="93B6D2"/>
                </a:solidFill>
                <a:latin typeface="Arial"/>
                <a:cs typeface="Arial"/>
              </a:rPr>
              <a:t>🞑	</a:t>
            </a:r>
            <a:r>
              <a:rPr sz="2800" spc="-5" dirty="0">
                <a:latin typeface="Times New Roman"/>
                <a:cs typeface="Times New Roman"/>
              </a:rPr>
              <a:t>Classes that are neither in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10" dirty="0">
                <a:latin typeface="Times New Roman"/>
                <a:cs typeface="Times New Roman"/>
              </a:rPr>
              <a:t>same </a:t>
            </a:r>
            <a:r>
              <a:rPr sz="2800" spc="-5" dirty="0">
                <a:latin typeface="Times New Roman"/>
                <a:cs typeface="Times New Roman"/>
              </a:rPr>
              <a:t>package nor  subclasses</a:t>
            </a:r>
            <a:endParaRPr sz="2800">
              <a:latin typeface="Times New Roman"/>
              <a:cs typeface="Times New Roman"/>
            </a:endParaRPr>
          </a:p>
          <a:p>
            <a:pPr marL="332740" marR="310515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Font typeface="DejaVu Sans"/>
              <a:buChar char="◻"/>
              <a:tabLst>
                <a:tab pos="332740" algn="l"/>
              </a:tabLst>
            </a:pPr>
            <a:r>
              <a:rPr sz="3200" dirty="0">
                <a:latin typeface="Times New Roman"/>
                <a:cs typeface="Times New Roman"/>
              </a:rPr>
              <a:t>The three access modifiers, </a:t>
            </a:r>
            <a:r>
              <a:rPr sz="3200" b="1" dirty="0">
                <a:latin typeface="Times New Roman"/>
                <a:cs typeface="Times New Roman"/>
              </a:rPr>
              <a:t>private,</a:t>
            </a:r>
            <a:r>
              <a:rPr sz="3200" b="1" spc="-8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public,  </a:t>
            </a:r>
            <a:r>
              <a:rPr sz="3200" b="1" dirty="0">
                <a:latin typeface="Times New Roman"/>
                <a:cs typeface="Times New Roman"/>
              </a:rPr>
              <a:t>and</a:t>
            </a:r>
            <a:r>
              <a:rPr sz="3200" b="1" spc="-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protected</a:t>
            </a:r>
            <a:r>
              <a:rPr sz="3200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676" y="364312"/>
            <a:ext cx="46094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Access</a:t>
            </a:r>
            <a:r>
              <a:rPr sz="4800" spc="-125" dirty="0"/>
              <a:t> </a:t>
            </a:r>
            <a:r>
              <a:rPr sz="4800" dirty="0"/>
              <a:t>Protection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535940" y="1521917"/>
            <a:ext cx="8148955" cy="507365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32740" marR="5080" indent="-320040" algn="just">
              <a:lnSpc>
                <a:spcPts val="3080"/>
              </a:lnSpc>
              <a:spcBef>
                <a:spcPts val="840"/>
              </a:spcBef>
              <a:buClr>
                <a:srgbClr val="DD8046"/>
              </a:buClr>
              <a:buSzPct val="59375"/>
              <a:buFont typeface="DejaVu Sans"/>
              <a:buChar char="◻"/>
              <a:tabLst>
                <a:tab pos="332740" algn="l"/>
              </a:tabLst>
            </a:pPr>
            <a:r>
              <a:rPr sz="3200" dirty="0">
                <a:latin typeface="Times New Roman"/>
                <a:cs typeface="Times New Roman"/>
              </a:rPr>
              <a:t>Anything declared public can be accessed </a:t>
            </a:r>
            <a:r>
              <a:rPr sz="3200" spc="-5" dirty="0">
                <a:latin typeface="Times New Roman"/>
                <a:cs typeface="Times New Roman"/>
              </a:rPr>
              <a:t>from  </a:t>
            </a:r>
            <a:r>
              <a:rPr sz="3200" spc="5" dirty="0">
                <a:latin typeface="Times New Roman"/>
                <a:cs typeface="Times New Roman"/>
              </a:rPr>
              <a:t>anywhere.</a:t>
            </a:r>
            <a:endParaRPr sz="3200">
              <a:latin typeface="Times New Roman"/>
              <a:cs typeface="Times New Roman"/>
            </a:endParaRPr>
          </a:p>
          <a:p>
            <a:pPr marL="332740" marR="5080" indent="-320040" algn="just">
              <a:lnSpc>
                <a:spcPts val="3070"/>
              </a:lnSpc>
              <a:spcBef>
                <a:spcPts val="690"/>
              </a:spcBef>
              <a:buClr>
                <a:srgbClr val="DD8046"/>
              </a:buClr>
              <a:buSzPct val="59375"/>
              <a:buFont typeface="DejaVu Sans"/>
              <a:buChar char="◻"/>
              <a:tabLst>
                <a:tab pos="332740" algn="l"/>
              </a:tabLst>
            </a:pPr>
            <a:r>
              <a:rPr sz="3200" dirty="0">
                <a:latin typeface="Times New Roman"/>
                <a:cs typeface="Times New Roman"/>
              </a:rPr>
              <a:t>Anything declared private cannot be seen  outside of </a:t>
            </a:r>
            <a:r>
              <a:rPr sz="3200" spc="-5" dirty="0">
                <a:latin typeface="Times New Roman"/>
                <a:cs typeface="Times New Roman"/>
              </a:rPr>
              <a:t>its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class.</a:t>
            </a:r>
            <a:endParaRPr sz="3200">
              <a:latin typeface="Times New Roman"/>
              <a:cs typeface="Times New Roman"/>
            </a:endParaRPr>
          </a:p>
          <a:p>
            <a:pPr marL="332740" marR="5080" indent="-320040" algn="just">
              <a:lnSpc>
                <a:spcPct val="80000"/>
              </a:lnSpc>
              <a:spcBef>
                <a:spcPts val="730"/>
              </a:spcBef>
              <a:buClr>
                <a:srgbClr val="DD8046"/>
              </a:buClr>
              <a:buSzPct val="59375"/>
              <a:buFont typeface="DejaVu Sans"/>
              <a:buChar char="◻"/>
              <a:tabLst>
                <a:tab pos="332740" algn="l"/>
              </a:tabLst>
            </a:pPr>
            <a:r>
              <a:rPr sz="3200" dirty="0">
                <a:latin typeface="Times New Roman"/>
                <a:cs typeface="Times New Roman"/>
              </a:rPr>
              <a:t>When a </a:t>
            </a:r>
            <a:r>
              <a:rPr sz="3200" spc="-5" dirty="0">
                <a:latin typeface="Times New Roman"/>
                <a:cs typeface="Times New Roman"/>
              </a:rPr>
              <a:t>member </a:t>
            </a:r>
            <a:r>
              <a:rPr sz="3200" dirty="0">
                <a:latin typeface="Times New Roman"/>
                <a:cs typeface="Times New Roman"/>
              </a:rPr>
              <a:t>does </a:t>
            </a:r>
            <a:r>
              <a:rPr sz="3200" spc="5" dirty="0">
                <a:latin typeface="Times New Roman"/>
                <a:cs typeface="Times New Roman"/>
              </a:rPr>
              <a:t>not </a:t>
            </a:r>
            <a:r>
              <a:rPr sz="3200" dirty="0">
                <a:latin typeface="Times New Roman"/>
                <a:cs typeface="Times New Roman"/>
              </a:rPr>
              <a:t>have an </a:t>
            </a:r>
            <a:r>
              <a:rPr sz="3200" spc="-5" dirty="0">
                <a:latin typeface="Times New Roman"/>
                <a:cs typeface="Times New Roman"/>
              </a:rPr>
              <a:t>explicit  </a:t>
            </a:r>
            <a:r>
              <a:rPr sz="3200" dirty="0">
                <a:latin typeface="Times New Roman"/>
                <a:cs typeface="Times New Roman"/>
              </a:rPr>
              <a:t>access </a:t>
            </a:r>
            <a:r>
              <a:rPr sz="3200" spc="-5" dirty="0">
                <a:latin typeface="Times New Roman"/>
                <a:cs typeface="Times New Roman"/>
              </a:rPr>
              <a:t>specification, it is </a:t>
            </a:r>
            <a:r>
              <a:rPr sz="3200" dirty="0">
                <a:latin typeface="Times New Roman"/>
                <a:cs typeface="Times New Roman"/>
              </a:rPr>
              <a:t>visible </a:t>
            </a:r>
            <a:r>
              <a:rPr sz="3200" spc="-10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subclasses  as well </a:t>
            </a:r>
            <a:r>
              <a:rPr sz="3200" spc="-5" dirty="0">
                <a:latin typeface="Times New Roman"/>
                <a:cs typeface="Times New Roman"/>
              </a:rPr>
              <a:t>as </a:t>
            </a:r>
            <a:r>
              <a:rPr sz="3200" dirty="0">
                <a:latin typeface="Times New Roman"/>
                <a:cs typeface="Times New Roman"/>
              </a:rPr>
              <a:t>to other classes </a:t>
            </a:r>
            <a:r>
              <a:rPr sz="3200" spc="-10" dirty="0">
                <a:latin typeface="Times New Roman"/>
                <a:cs typeface="Times New Roman"/>
              </a:rPr>
              <a:t>in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same package.  This </a:t>
            </a:r>
            <a:r>
              <a:rPr sz="3200" spc="-5" dirty="0">
                <a:latin typeface="Times New Roman"/>
                <a:cs typeface="Times New Roman"/>
              </a:rPr>
              <a:t>is </a:t>
            </a:r>
            <a:r>
              <a:rPr sz="3200" dirty="0">
                <a:latin typeface="Times New Roman"/>
                <a:cs typeface="Times New Roman"/>
              </a:rPr>
              <a:t>the default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access.</a:t>
            </a:r>
            <a:endParaRPr sz="3200">
              <a:latin typeface="Times New Roman"/>
              <a:cs typeface="Times New Roman"/>
            </a:endParaRPr>
          </a:p>
          <a:p>
            <a:pPr marL="332740" marR="5080" indent="-320040" algn="just">
              <a:lnSpc>
                <a:spcPct val="80000"/>
              </a:lnSpc>
              <a:spcBef>
                <a:spcPts val="705"/>
              </a:spcBef>
              <a:buClr>
                <a:srgbClr val="DD8046"/>
              </a:buClr>
              <a:buSzPct val="59375"/>
              <a:buFont typeface="DejaVu Sans"/>
              <a:buChar char="◻"/>
              <a:tabLst>
                <a:tab pos="332740" algn="l"/>
              </a:tabLst>
            </a:pPr>
            <a:r>
              <a:rPr sz="3200" dirty="0">
                <a:latin typeface="Times New Roman"/>
                <a:cs typeface="Times New Roman"/>
              </a:rPr>
              <a:t>If </a:t>
            </a:r>
            <a:r>
              <a:rPr sz="3200" spc="-5" dirty="0">
                <a:latin typeface="Times New Roman"/>
                <a:cs typeface="Times New Roman"/>
              </a:rPr>
              <a:t>you </a:t>
            </a:r>
            <a:r>
              <a:rPr sz="3200" dirty="0">
                <a:latin typeface="Times New Roman"/>
                <a:cs typeface="Times New Roman"/>
              </a:rPr>
              <a:t>want </a:t>
            </a:r>
            <a:r>
              <a:rPr sz="3200" spc="-10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allow </a:t>
            </a:r>
            <a:r>
              <a:rPr sz="3200" spc="-5" dirty="0">
                <a:latin typeface="Times New Roman"/>
                <a:cs typeface="Times New Roman"/>
              </a:rPr>
              <a:t>an </a:t>
            </a:r>
            <a:r>
              <a:rPr sz="3200" dirty="0">
                <a:latin typeface="Times New Roman"/>
                <a:cs typeface="Times New Roman"/>
              </a:rPr>
              <a:t>element </a:t>
            </a:r>
            <a:r>
              <a:rPr sz="3200" spc="-5" dirty="0">
                <a:latin typeface="Times New Roman"/>
                <a:cs typeface="Times New Roman"/>
              </a:rPr>
              <a:t>to be </a:t>
            </a:r>
            <a:r>
              <a:rPr sz="3200" dirty="0">
                <a:latin typeface="Times New Roman"/>
                <a:cs typeface="Times New Roman"/>
              </a:rPr>
              <a:t>seen  outside your </a:t>
            </a:r>
            <a:r>
              <a:rPr sz="3200" spc="-5" dirty="0">
                <a:latin typeface="Times New Roman"/>
                <a:cs typeface="Times New Roman"/>
              </a:rPr>
              <a:t>current </a:t>
            </a:r>
            <a:r>
              <a:rPr sz="3200" dirty="0">
                <a:latin typeface="Times New Roman"/>
                <a:cs typeface="Times New Roman"/>
              </a:rPr>
              <a:t>package, but </a:t>
            </a:r>
            <a:r>
              <a:rPr sz="3200" spc="-5" dirty="0">
                <a:latin typeface="Times New Roman"/>
                <a:cs typeface="Times New Roman"/>
              </a:rPr>
              <a:t>only to  </a:t>
            </a:r>
            <a:r>
              <a:rPr sz="3200" dirty="0">
                <a:latin typeface="Times New Roman"/>
                <a:cs typeface="Times New Roman"/>
              </a:rPr>
              <a:t>classes </a:t>
            </a:r>
            <a:r>
              <a:rPr sz="3200" spc="-5" dirty="0">
                <a:latin typeface="Times New Roman"/>
                <a:cs typeface="Times New Roman"/>
              </a:rPr>
              <a:t>that </a:t>
            </a:r>
            <a:r>
              <a:rPr sz="3200" dirty="0">
                <a:latin typeface="Times New Roman"/>
                <a:cs typeface="Times New Roman"/>
              </a:rPr>
              <a:t>subclass your class </a:t>
            </a:r>
            <a:r>
              <a:rPr sz="3200" spc="-5" dirty="0">
                <a:latin typeface="Times New Roman"/>
                <a:cs typeface="Times New Roman"/>
              </a:rPr>
              <a:t>directly, then  </a:t>
            </a:r>
            <a:r>
              <a:rPr sz="3200" dirty="0">
                <a:latin typeface="Times New Roman"/>
                <a:cs typeface="Times New Roman"/>
              </a:rPr>
              <a:t>declare that element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protected.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676" y="364312"/>
            <a:ext cx="46094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Access</a:t>
            </a:r>
            <a:r>
              <a:rPr sz="4800" spc="-125" dirty="0"/>
              <a:t> </a:t>
            </a:r>
            <a:r>
              <a:rPr sz="4800" dirty="0"/>
              <a:t>Protection</a:t>
            </a:r>
            <a:endParaRPr sz="4800"/>
          </a:p>
        </p:txBody>
      </p:sp>
      <p:sp>
        <p:nvSpPr>
          <p:cNvPr id="3" name="object 3"/>
          <p:cNvSpPr/>
          <p:nvPr/>
        </p:nvSpPr>
        <p:spPr>
          <a:xfrm>
            <a:off x="113261" y="1649095"/>
            <a:ext cx="8792872" cy="28892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70077" y="5026507"/>
            <a:ext cx="7789545" cy="96774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29565" indent="-317500">
              <a:lnSpc>
                <a:spcPct val="100000"/>
              </a:lnSpc>
              <a:spcBef>
                <a:spcPts val="195"/>
              </a:spcBef>
              <a:buChar char="●"/>
              <a:tabLst>
                <a:tab pos="329565" algn="l"/>
                <a:tab pos="330200" algn="l"/>
              </a:tabLst>
            </a:pPr>
            <a:r>
              <a:rPr sz="1400" spc="-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public </a:t>
            </a:r>
            <a:r>
              <a:rPr sz="1400" spc="-5" dirty="0">
                <a:latin typeface="Arial"/>
                <a:cs typeface="Arial"/>
              </a:rPr>
              <a:t>members </a:t>
            </a:r>
            <a:r>
              <a:rPr sz="1400" dirty="0">
                <a:latin typeface="Arial"/>
                <a:cs typeface="Arial"/>
              </a:rPr>
              <a:t>can be accessed</a:t>
            </a:r>
            <a:r>
              <a:rPr sz="1400" spc="-14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everywhere.</a:t>
            </a:r>
            <a:endParaRPr sz="1400">
              <a:latin typeface="Arial"/>
              <a:cs typeface="Arial"/>
            </a:endParaRPr>
          </a:p>
          <a:p>
            <a:pPr marL="329565" indent="-317500">
              <a:lnSpc>
                <a:spcPct val="100000"/>
              </a:lnSpc>
              <a:spcBef>
                <a:spcPts val="95"/>
              </a:spcBef>
              <a:buChar char="●"/>
              <a:tabLst>
                <a:tab pos="329565" algn="l"/>
                <a:tab pos="330200" algn="l"/>
              </a:tabLst>
            </a:pPr>
            <a:r>
              <a:rPr sz="1400" spc="-5" dirty="0">
                <a:latin typeface="Arial"/>
                <a:cs typeface="Arial"/>
              </a:rPr>
              <a:t>The private members </a:t>
            </a:r>
            <a:r>
              <a:rPr sz="1400" dirty="0">
                <a:latin typeface="Arial"/>
                <a:cs typeface="Arial"/>
              </a:rPr>
              <a:t>can be accessed only inside the </a:t>
            </a:r>
            <a:r>
              <a:rPr sz="1400" spc="-5" dirty="0">
                <a:latin typeface="Arial"/>
                <a:cs typeface="Arial"/>
              </a:rPr>
              <a:t>same</a:t>
            </a:r>
            <a:r>
              <a:rPr sz="1400" spc="-229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class.</a:t>
            </a:r>
            <a:endParaRPr sz="1400">
              <a:latin typeface="Arial"/>
              <a:cs typeface="Arial"/>
            </a:endParaRPr>
          </a:p>
          <a:p>
            <a:pPr marL="329565" indent="-317500">
              <a:lnSpc>
                <a:spcPct val="100000"/>
              </a:lnSpc>
              <a:spcBef>
                <a:spcPts val="250"/>
              </a:spcBef>
              <a:buChar char="●"/>
              <a:tabLst>
                <a:tab pos="329565" algn="l"/>
                <a:tab pos="330200" algn="l"/>
              </a:tabLst>
            </a:pPr>
            <a:r>
              <a:rPr sz="1400" spc="-5" dirty="0">
                <a:latin typeface="Arial"/>
                <a:cs typeface="Arial"/>
              </a:rPr>
              <a:t>The </a:t>
            </a:r>
            <a:r>
              <a:rPr sz="1400" dirty="0">
                <a:latin typeface="Arial"/>
                <a:cs typeface="Arial"/>
              </a:rPr>
              <a:t>protected </a:t>
            </a:r>
            <a:r>
              <a:rPr sz="1400" spc="-5" dirty="0">
                <a:latin typeface="Arial"/>
                <a:cs typeface="Arial"/>
              </a:rPr>
              <a:t>members </a:t>
            </a:r>
            <a:r>
              <a:rPr sz="1400" dirty="0">
                <a:latin typeface="Arial"/>
                <a:cs typeface="Arial"/>
              </a:rPr>
              <a:t>are accessible to </a:t>
            </a:r>
            <a:r>
              <a:rPr sz="1400" spc="-5" dirty="0">
                <a:latin typeface="Arial"/>
                <a:cs typeface="Arial"/>
              </a:rPr>
              <a:t>every </a:t>
            </a:r>
            <a:r>
              <a:rPr sz="1400" dirty="0">
                <a:latin typeface="Arial"/>
                <a:cs typeface="Arial"/>
              </a:rPr>
              <a:t>child class (same package</a:t>
            </a:r>
            <a:r>
              <a:rPr sz="1400" spc="-2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or other </a:t>
            </a:r>
            <a:r>
              <a:rPr sz="1400" spc="-5" dirty="0">
                <a:latin typeface="Arial"/>
                <a:cs typeface="Arial"/>
              </a:rPr>
              <a:t>packages).</a:t>
            </a:r>
            <a:endParaRPr sz="1400">
              <a:latin typeface="Arial"/>
              <a:cs typeface="Arial"/>
            </a:endParaRPr>
          </a:p>
          <a:p>
            <a:pPr marL="329565" indent="-317500">
              <a:lnSpc>
                <a:spcPct val="100000"/>
              </a:lnSpc>
              <a:spcBef>
                <a:spcPts val="254"/>
              </a:spcBef>
              <a:buChar char="●"/>
              <a:tabLst>
                <a:tab pos="329565" algn="l"/>
                <a:tab pos="330200" algn="l"/>
              </a:tabLst>
            </a:pPr>
            <a:r>
              <a:rPr sz="1400" spc="-5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default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members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accessible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within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same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package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but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outside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package.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805" y="457200"/>
            <a:ext cx="8529319" cy="492443"/>
          </a:xfrm>
        </p:spPr>
        <p:txBody>
          <a:bodyPr/>
          <a:lstStyle/>
          <a:p>
            <a:r>
              <a:rPr lang="en-US" dirty="0" smtClean="0"/>
              <a:t>concrete method and concrete classes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981200"/>
            <a:ext cx="8153400" cy="4431983"/>
          </a:xfrm>
        </p:spPr>
        <p:txBody>
          <a:bodyPr/>
          <a:lstStyle/>
          <a:p>
            <a:r>
              <a:rPr lang="en-US" b="1" dirty="0" smtClean="0"/>
              <a:t>Concrete Method: </a:t>
            </a:r>
            <a:r>
              <a:rPr lang="en-US" dirty="0" smtClean="0"/>
              <a:t>Any method which has both the declaration and definition(Implementation) is called as concrete method.</a:t>
            </a:r>
          </a:p>
          <a:p>
            <a:r>
              <a:rPr lang="en-US" dirty="0" smtClean="0"/>
              <a:t>Void display()</a:t>
            </a:r>
          </a:p>
          <a:p>
            <a:r>
              <a:rPr lang="en-US" dirty="0" smtClean="0"/>
              <a:t>	{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System.out.println</a:t>
            </a:r>
            <a:r>
              <a:rPr lang="en-US" dirty="0" smtClean="0"/>
              <a:t>(“concrete Method”);</a:t>
            </a:r>
          </a:p>
          <a:p>
            <a:r>
              <a:rPr lang="en-US" dirty="0" smtClean="0"/>
              <a:t>	}</a:t>
            </a:r>
          </a:p>
          <a:p>
            <a:endParaRPr lang="en-US" dirty="0" smtClean="0"/>
          </a:p>
          <a:p>
            <a:r>
              <a:rPr lang="en-US" b="1" dirty="0" smtClean="0"/>
              <a:t>Concrete class: </a:t>
            </a:r>
            <a:r>
              <a:rPr lang="en-US" dirty="0" smtClean="0"/>
              <a:t>Any class which has only concrete methods is called as concrete class.</a:t>
            </a:r>
          </a:p>
          <a:p>
            <a:r>
              <a:rPr lang="en-US" dirty="0" smtClean="0"/>
              <a:t>	Class concrete</a:t>
            </a:r>
          </a:p>
          <a:p>
            <a:r>
              <a:rPr lang="en-US" dirty="0" smtClean="0"/>
              <a:t>	{</a:t>
            </a:r>
          </a:p>
          <a:p>
            <a:r>
              <a:rPr lang="en-US" dirty="0" smtClean="0"/>
              <a:t>	 	void display()</a:t>
            </a:r>
          </a:p>
          <a:p>
            <a:r>
              <a:rPr lang="en-US" dirty="0" smtClean="0"/>
              <a:t>		{</a:t>
            </a:r>
          </a:p>
          <a:p>
            <a:r>
              <a:rPr lang="en-US" dirty="0" smtClean="0"/>
              <a:t>		</a:t>
            </a:r>
            <a:r>
              <a:rPr lang="en-US" dirty="0" err="1" smtClean="0"/>
              <a:t>System.out.println</a:t>
            </a:r>
            <a:r>
              <a:rPr lang="en-US" dirty="0"/>
              <a:t>(“concrete class</a:t>
            </a:r>
            <a:r>
              <a:rPr lang="en-US" dirty="0" smtClean="0"/>
              <a:t>”);</a:t>
            </a:r>
          </a:p>
          <a:p>
            <a:r>
              <a:rPr lang="en-US" dirty="0" smtClean="0"/>
              <a:t>		</a:t>
            </a:r>
          </a:p>
          <a:p>
            <a:r>
              <a:rPr lang="en-US" dirty="0"/>
              <a:t>	</a:t>
            </a:r>
            <a:r>
              <a:rPr lang="en-US" dirty="0" smtClean="0"/>
              <a:t>	}</a:t>
            </a:r>
          </a:p>
          <a:p>
            <a:r>
              <a:rPr lang="en-US" dirty="0"/>
              <a:t>	</a:t>
            </a:r>
            <a:r>
              <a:rPr lang="en-US" dirty="0" smtClean="0"/>
              <a:t>}</a:t>
            </a:r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26801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340" y="206451"/>
            <a:ext cx="8529319" cy="492443"/>
          </a:xfrm>
        </p:spPr>
        <p:txBody>
          <a:bodyPr/>
          <a:lstStyle/>
          <a:p>
            <a:r>
              <a:rPr lang="en-US" dirty="0" smtClean="0"/>
              <a:t>Abstract method and abstract class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848600" cy="4431983"/>
          </a:xfrm>
        </p:spPr>
        <p:txBody>
          <a:bodyPr/>
          <a:lstStyle/>
          <a:p>
            <a:r>
              <a:rPr lang="en-US" b="1" dirty="0"/>
              <a:t>Abstract method</a:t>
            </a:r>
            <a:r>
              <a:rPr lang="en-US" dirty="0"/>
              <a:t>: Any method which is declared with the keyword abstract(without </a:t>
            </a:r>
            <a:r>
              <a:rPr lang="en-US" dirty="0" smtClean="0"/>
              <a:t>implementation) </a:t>
            </a:r>
            <a:r>
              <a:rPr lang="en-US" dirty="0"/>
              <a:t>is called as abstract method</a:t>
            </a:r>
            <a:r>
              <a:rPr lang="en-US" dirty="0" smtClean="0"/>
              <a:t>.</a:t>
            </a:r>
          </a:p>
          <a:p>
            <a:r>
              <a:rPr lang="en-US" dirty="0" smtClean="0"/>
              <a:t>	Example: abstract void display();</a:t>
            </a:r>
          </a:p>
          <a:p>
            <a:endParaRPr lang="en-US" dirty="0" smtClean="0"/>
          </a:p>
          <a:p>
            <a:r>
              <a:rPr lang="en-US" b="1" dirty="0"/>
              <a:t>Abstract </a:t>
            </a:r>
            <a:r>
              <a:rPr lang="en-US" b="1" dirty="0" smtClean="0"/>
              <a:t>class: </a:t>
            </a:r>
            <a:r>
              <a:rPr lang="en-US" dirty="0" smtClean="0"/>
              <a:t>Any class which is declared with the keyword abstract is called abstract class.</a:t>
            </a:r>
          </a:p>
          <a:p>
            <a:r>
              <a:rPr lang="en-US" dirty="0" smtClean="0"/>
              <a:t>Abstract class can contain abstract method and  non abstract method(concrete method) also.</a:t>
            </a:r>
          </a:p>
          <a:p>
            <a:r>
              <a:rPr lang="en-US" dirty="0" smtClean="0"/>
              <a:t>	Example: </a:t>
            </a:r>
          </a:p>
          <a:p>
            <a:r>
              <a:rPr lang="en-US" dirty="0"/>
              <a:t>	</a:t>
            </a:r>
            <a:r>
              <a:rPr lang="en-US" dirty="0" smtClean="0"/>
              <a:t>	abstract class tester</a:t>
            </a:r>
          </a:p>
          <a:p>
            <a:r>
              <a:rPr lang="en-US" dirty="0" smtClean="0"/>
              <a:t>		{</a:t>
            </a:r>
          </a:p>
          <a:p>
            <a:r>
              <a:rPr lang="en-US" dirty="0"/>
              <a:t>	</a:t>
            </a:r>
            <a:r>
              <a:rPr lang="en-US" dirty="0" smtClean="0"/>
              <a:t>		</a:t>
            </a:r>
            <a:r>
              <a:rPr lang="en-US" dirty="0"/>
              <a:t>void display()</a:t>
            </a:r>
          </a:p>
          <a:p>
            <a:r>
              <a:rPr lang="en-US" dirty="0"/>
              <a:t>		</a:t>
            </a:r>
            <a:r>
              <a:rPr lang="en-US" dirty="0" smtClean="0"/>
              <a:t>	{</a:t>
            </a:r>
            <a:endParaRPr lang="en-US" dirty="0"/>
          </a:p>
          <a:p>
            <a:r>
              <a:rPr lang="en-US" dirty="0" smtClean="0"/>
              <a:t>	</a:t>
            </a:r>
            <a:r>
              <a:rPr lang="en-US" dirty="0"/>
              <a:t>		</a:t>
            </a:r>
            <a:r>
              <a:rPr lang="en-US" dirty="0" err="1"/>
              <a:t>System.out.println</a:t>
            </a:r>
            <a:r>
              <a:rPr lang="en-US" dirty="0"/>
              <a:t>(“concrete class”);</a:t>
            </a:r>
          </a:p>
          <a:p>
            <a:r>
              <a:rPr lang="en-US" dirty="0" smtClean="0"/>
              <a:t>		</a:t>
            </a:r>
            <a:r>
              <a:rPr lang="en-US" dirty="0"/>
              <a:t>	</a:t>
            </a:r>
            <a:r>
              <a:rPr lang="en-US" dirty="0" smtClean="0"/>
              <a:t>}</a:t>
            </a:r>
          </a:p>
          <a:p>
            <a:r>
              <a:rPr lang="en-US" dirty="0" smtClean="0"/>
              <a:t>			abstract  void test();</a:t>
            </a:r>
          </a:p>
          <a:p>
            <a:r>
              <a:rPr lang="en-US" dirty="0" smtClean="0"/>
              <a:t>		}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6319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976" y="457200"/>
            <a:ext cx="8529319" cy="492443"/>
          </a:xfrm>
        </p:spPr>
        <p:txBody>
          <a:bodyPr/>
          <a:lstStyle/>
          <a:p>
            <a:r>
              <a:rPr lang="en-US" dirty="0"/>
              <a:t>Note on abstract class</a:t>
            </a:r>
            <a:r>
              <a:rPr lang="en-US" dirty="0" smtClean="0"/>
              <a:t>: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828800"/>
            <a:ext cx="8421024" cy="2492990"/>
          </a:xfrm>
        </p:spPr>
        <p:txBody>
          <a:bodyPr/>
          <a:lstStyle/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dirty="0" smtClean="0"/>
              <a:t>We cannot create object for abstract class and interface.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dirty="0" smtClean="0"/>
              <a:t>We cannot declare abstract method as static, final and private.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dirty="0" smtClean="0"/>
              <a:t>Abstract class will have constructor.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dirty="0" smtClean="0"/>
              <a:t>A class which provides implementation for abstract method is called as implementation class.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dirty="0" smtClean="0"/>
              <a:t>All the abstract methods should be overridden in the subclass else the subclass should be declared as abstract.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dirty="0" smtClean="0"/>
              <a:t>A class have an abstract method then compulsorily the class should be declared as abstract.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3703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676" y="364312"/>
            <a:ext cx="26333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FF0000"/>
                </a:solidFill>
              </a:rPr>
              <a:t>Interfaces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240284" y="1497533"/>
            <a:ext cx="8444230" cy="472122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32105" marR="5080" indent="-320040">
              <a:lnSpc>
                <a:spcPts val="3240"/>
              </a:lnSpc>
              <a:spcBef>
                <a:spcPts val="509"/>
              </a:spcBef>
              <a:buClr>
                <a:srgbClr val="DD8046"/>
              </a:buClr>
              <a:buSzPct val="63333"/>
              <a:buFont typeface="DejaVu Sans"/>
              <a:buChar char="◻"/>
              <a:tabLst>
                <a:tab pos="332740" algn="l"/>
              </a:tabLst>
            </a:pPr>
            <a:r>
              <a:rPr sz="3000" dirty="0">
                <a:latin typeface="Times New Roman"/>
                <a:cs typeface="Times New Roman"/>
              </a:rPr>
              <a:t>Another way </a:t>
            </a:r>
            <a:r>
              <a:rPr sz="3000" spc="-5" dirty="0">
                <a:latin typeface="Times New Roman"/>
                <a:cs typeface="Times New Roman"/>
              </a:rPr>
              <a:t>to achieve </a:t>
            </a:r>
            <a:r>
              <a:rPr sz="3000" dirty="0">
                <a:solidFill>
                  <a:srgbClr val="006FC0"/>
                </a:solidFill>
                <a:latin typeface="Times New Roman"/>
                <a:cs typeface="Times New Roman"/>
              </a:rPr>
              <a:t>abstraction </a:t>
            </a:r>
            <a:r>
              <a:rPr sz="3000" spc="-5" dirty="0">
                <a:latin typeface="Times New Roman"/>
                <a:cs typeface="Times New Roman"/>
              </a:rPr>
              <a:t>in </a:t>
            </a:r>
            <a:r>
              <a:rPr sz="3000" dirty="0">
                <a:latin typeface="Times New Roman"/>
                <a:cs typeface="Times New Roman"/>
              </a:rPr>
              <a:t>Java, </a:t>
            </a:r>
            <a:r>
              <a:rPr sz="3000" spc="-5" dirty="0">
                <a:latin typeface="Times New Roman"/>
                <a:cs typeface="Times New Roman"/>
              </a:rPr>
              <a:t>is </a:t>
            </a:r>
            <a:r>
              <a:rPr sz="3000" dirty="0">
                <a:latin typeface="Times New Roman"/>
                <a:cs typeface="Times New Roman"/>
              </a:rPr>
              <a:t>with  </a:t>
            </a:r>
            <a:r>
              <a:rPr sz="3000" spc="-5" dirty="0">
                <a:latin typeface="Times New Roman"/>
                <a:cs typeface="Times New Roman"/>
              </a:rPr>
              <a:t>interfaces.</a:t>
            </a:r>
            <a:endParaRPr sz="3000">
              <a:latin typeface="Times New Roman"/>
              <a:cs typeface="Times New Roman"/>
            </a:endParaRPr>
          </a:p>
          <a:p>
            <a:pPr marL="332105" marR="5080" indent="-320040">
              <a:lnSpc>
                <a:spcPts val="3240"/>
              </a:lnSpc>
              <a:spcBef>
                <a:spcPts val="710"/>
              </a:spcBef>
              <a:buClr>
                <a:srgbClr val="DD8046"/>
              </a:buClr>
              <a:buSzPct val="63333"/>
              <a:buFont typeface="DejaVu Sans"/>
              <a:buChar char="◻"/>
              <a:tabLst>
                <a:tab pos="332740" algn="l"/>
              </a:tabLst>
            </a:pPr>
            <a:r>
              <a:rPr sz="3000" dirty="0">
                <a:latin typeface="Times New Roman"/>
                <a:cs typeface="Times New Roman"/>
              </a:rPr>
              <a:t>An </a:t>
            </a:r>
            <a:r>
              <a:rPr sz="30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interface </a:t>
            </a:r>
            <a:r>
              <a:rPr sz="3000" spc="-10" dirty="0">
                <a:latin typeface="Times New Roman"/>
                <a:cs typeface="Times New Roman"/>
              </a:rPr>
              <a:t>is </a:t>
            </a:r>
            <a:r>
              <a:rPr sz="3000" dirty="0">
                <a:latin typeface="Times New Roman"/>
                <a:cs typeface="Times New Roman"/>
              </a:rPr>
              <a:t>a completely </a:t>
            </a:r>
            <a:r>
              <a:rPr sz="3000" spc="-5" dirty="0">
                <a:latin typeface="Times New Roman"/>
                <a:cs typeface="Times New Roman"/>
              </a:rPr>
              <a:t>"</a:t>
            </a:r>
            <a:r>
              <a:rPr sz="30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abstract class</a:t>
            </a:r>
            <a:r>
              <a:rPr sz="3000" spc="-5" dirty="0">
                <a:latin typeface="Times New Roman"/>
                <a:cs typeface="Times New Roman"/>
              </a:rPr>
              <a:t>" </a:t>
            </a:r>
            <a:r>
              <a:rPr sz="3000" dirty="0">
                <a:latin typeface="Times New Roman"/>
                <a:cs typeface="Times New Roman"/>
              </a:rPr>
              <a:t>that </a:t>
            </a:r>
            <a:r>
              <a:rPr sz="3000" spc="-15" dirty="0">
                <a:latin typeface="Times New Roman"/>
                <a:cs typeface="Times New Roman"/>
              </a:rPr>
              <a:t>is  </a:t>
            </a:r>
            <a:r>
              <a:rPr sz="3000" dirty="0">
                <a:latin typeface="Times New Roman"/>
                <a:cs typeface="Times New Roman"/>
              </a:rPr>
              <a:t>used </a:t>
            </a:r>
            <a:r>
              <a:rPr sz="3000" spc="-5" dirty="0">
                <a:latin typeface="Times New Roman"/>
                <a:cs typeface="Times New Roman"/>
              </a:rPr>
              <a:t>to </a:t>
            </a:r>
            <a:r>
              <a:rPr sz="3000" dirty="0">
                <a:latin typeface="Times New Roman"/>
                <a:cs typeface="Times New Roman"/>
              </a:rPr>
              <a:t>group </a:t>
            </a:r>
            <a:r>
              <a:rPr sz="3000" spc="-5" dirty="0">
                <a:latin typeface="Times New Roman"/>
                <a:cs typeface="Times New Roman"/>
              </a:rPr>
              <a:t>related </a:t>
            </a:r>
            <a:r>
              <a:rPr sz="3000" dirty="0">
                <a:latin typeface="Times New Roman"/>
                <a:cs typeface="Times New Roman"/>
              </a:rPr>
              <a:t>methods </a:t>
            </a:r>
            <a:r>
              <a:rPr sz="3000" spc="-5" dirty="0">
                <a:latin typeface="Times New Roman"/>
                <a:cs typeface="Times New Roman"/>
              </a:rPr>
              <a:t>with empty</a:t>
            </a:r>
            <a:r>
              <a:rPr sz="3000" spc="6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bodies: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30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interface </a:t>
            </a:r>
            <a:r>
              <a:rPr sz="3000" dirty="0">
                <a:latin typeface="Times New Roman"/>
                <a:cs typeface="Times New Roman"/>
              </a:rPr>
              <a:t>Animal</a:t>
            </a:r>
            <a:r>
              <a:rPr sz="3000" spc="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{</a:t>
            </a:r>
            <a:endParaRPr sz="3000">
              <a:latin typeface="Times New Roman"/>
              <a:cs typeface="Times New Roman"/>
            </a:endParaRPr>
          </a:p>
          <a:p>
            <a:pPr marL="1841500" marR="2403475">
              <a:lnSpc>
                <a:spcPts val="3950"/>
              </a:lnSpc>
              <a:spcBef>
                <a:spcPts val="175"/>
              </a:spcBef>
            </a:pPr>
            <a:r>
              <a:rPr sz="3000" dirty="0">
                <a:latin typeface="Times New Roman"/>
                <a:cs typeface="Times New Roman"/>
              </a:rPr>
              <a:t>public void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animalSound();  </a:t>
            </a:r>
            <a:r>
              <a:rPr sz="3000" dirty="0">
                <a:latin typeface="Times New Roman"/>
                <a:cs typeface="Times New Roman"/>
              </a:rPr>
              <a:t>public </a:t>
            </a:r>
            <a:r>
              <a:rPr sz="3000" spc="-5" dirty="0">
                <a:latin typeface="Times New Roman"/>
                <a:cs typeface="Times New Roman"/>
              </a:rPr>
              <a:t>void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run();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3000" dirty="0">
                <a:latin typeface="Times New Roman"/>
                <a:cs typeface="Times New Roman"/>
              </a:rPr>
              <a:t>}</a:t>
            </a:r>
            <a:endParaRPr sz="3000">
              <a:latin typeface="Times New Roman"/>
              <a:cs typeface="Times New Roman"/>
            </a:endParaRPr>
          </a:p>
          <a:p>
            <a:pPr marL="469900" marR="5080" indent="-457200">
              <a:lnSpc>
                <a:spcPts val="3240"/>
              </a:lnSpc>
              <a:spcBef>
                <a:spcPts val="740"/>
              </a:spcBef>
              <a:buClr>
                <a:srgbClr val="DD8046"/>
              </a:buClr>
              <a:buSzPct val="63333"/>
              <a:buFont typeface="DejaVu Sans"/>
              <a:buChar char="◻"/>
              <a:tabLst>
                <a:tab pos="469265" algn="l"/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Using the keyword </a:t>
            </a:r>
            <a:r>
              <a:rPr sz="3000" b="1" dirty="0">
                <a:solidFill>
                  <a:srgbClr val="006FC0"/>
                </a:solidFill>
                <a:latin typeface="Times New Roman"/>
                <a:cs typeface="Times New Roman"/>
              </a:rPr>
              <a:t>interface</a:t>
            </a:r>
            <a:r>
              <a:rPr sz="3000" dirty="0">
                <a:latin typeface="Times New Roman"/>
                <a:cs typeface="Times New Roman"/>
              </a:rPr>
              <a:t>, </a:t>
            </a:r>
            <a:r>
              <a:rPr sz="3000" spc="-5" dirty="0">
                <a:latin typeface="Times New Roman"/>
                <a:cs typeface="Times New Roman"/>
              </a:rPr>
              <a:t>you can fully </a:t>
            </a:r>
            <a:r>
              <a:rPr sz="3000" dirty="0">
                <a:latin typeface="Times New Roman"/>
                <a:cs typeface="Times New Roman"/>
              </a:rPr>
              <a:t>abstract  a </a:t>
            </a:r>
            <a:r>
              <a:rPr sz="3000" spc="-5" dirty="0">
                <a:latin typeface="Times New Roman"/>
                <a:cs typeface="Times New Roman"/>
              </a:rPr>
              <a:t>class’ interface </a:t>
            </a:r>
            <a:r>
              <a:rPr sz="3000" dirty="0">
                <a:latin typeface="Times New Roman"/>
                <a:cs typeface="Times New Roman"/>
              </a:rPr>
              <a:t>from </a:t>
            </a:r>
            <a:r>
              <a:rPr sz="3000" spc="-10" dirty="0">
                <a:latin typeface="Times New Roman"/>
                <a:cs typeface="Times New Roman"/>
              </a:rPr>
              <a:t>its</a:t>
            </a:r>
            <a:r>
              <a:rPr sz="3000" spc="9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implementation.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676" y="364312"/>
            <a:ext cx="55810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" dirty="0">
                <a:solidFill>
                  <a:srgbClr val="FF0000"/>
                </a:solidFill>
              </a:rPr>
              <a:t>Defining </a:t>
            </a:r>
            <a:r>
              <a:rPr sz="4800" dirty="0">
                <a:solidFill>
                  <a:srgbClr val="FF0000"/>
                </a:solidFill>
              </a:rPr>
              <a:t>an</a:t>
            </a:r>
            <a:r>
              <a:rPr sz="4800" spc="-45" dirty="0">
                <a:solidFill>
                  <a:srgbClr val="FF0000"/>
                </a:solidFill>
              </a:rPr>
              <a:t> </a:t>
            </a:r>
            <a:r>
              <a:rPr sz="4800" dirty="0">
                <a:solidFill>
                  <a:srgbClr val="FF0000"/>
                </a:solidFill>
              </a:rPr>
              <a:t>Interface</a:t>
            </a:r>
            <a:endParaRPr sz="48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19452"/>
            <a:ext cx="8267700" cy="4717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59375"/>
              <a:buFont typeface="DejaVu Sans"/>
              <a:buChar char="◻"/>
              <a:tabLst>
                <a:tab pos="332740" algn="l"/>
              </a:tabLst>
            </a:pPr>
            <a:r>
              <a:rPr sz="3200" dirty="0">
                <a:latin typeface="Times New Roman"/>
                <a:cs typeface="Times New Roman"/>
              </a:rPr>
              <a:t>The general form of an interface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is: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900" b="1" i="1" dirty="0">
                <a:solidFill>
                  <a:srgbClr val="006FC0"/>
                </a:solidFill>
                <a:latin typeface="Times New Roman"/>
                <a:cs typeface="Times New Roman"/>
              </a:rPr>
              <a:t>interface InterfaceName</a:t>
            </a:r>
            <a:r>
              <a:rPr sz="2900" b="1" i="1" spc="-6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900" i="1" dirty="0">
                <a:latin typeface="Times New Roman"/>
                <a:cs typeface="Times New Roman"/>
              </a:rPr>
              <a:t>{</a:t>
            </a:r>
            <a:endParaRPr sz="29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700"/>
              </a:spcBef>
            </a:pPr>
            <a:r>
              <a:rPr sz="2900" i="1" dirty="0">
                <a:latin typeface="Times New Roman"/>
                <a:cs typeface="Times New Roman"/>
              </a:rPr>
              <a:t>return-type</a:t>
            </a:r>
            <a:r>
              <a:rPr sz="2900" i="1" spc="5" dirty="0">
                <a:latin typeface="Times New Roman"/>
                <a:cs typeface="Times New Roman"/>
              </a:rPr>
              <a:t> </a:t>
            </a:r>
            <a:r>
              <a:rPr sz="2900" i="1" spc="-5" dirty="0">
                <a:latin typeface="Times New Roman"/>
                <a:cs typeface="Times New Roman"/>
              </a:rPr>
              <a:t>method-name1(parameter-list);</a:t>
            </a:r>
            <a:endParaRPr sz="2900">
              <a:latin typeface="Times New Roman"/>
              <a:cs typeface="Times New Roman"/>
            </a:endParaRPr>
          </a:p>
          <a:p>
            <a:pPr marL="1841500" marR="5080">
              <a:lnSpc>
                <a:spcPct val="120000"/>
              </a:lnSpc>
              <a:spcBef>
                <a:spcPts val="10"/>
              </a:spcBef>
            </a:pPr>
            <a:r>
              <a:rPr sz="2900" i="1" dirty="0">
                <a:latin typeface="Times New Roman"/>
                <a:cs typeface="Times New Roman"/>
              </a:rPr>
              <a:t>return-type </a:t>
            </a:r>
            <a:r>
              <a:rPr sz="2900" i="1" spc="-5" dirty="0">
                <a:latin typeface="Times New Roman"/>
                <a:cs typeface="Times New Roman"/>
              </a:rPr>
              <a:t>method-name2(parameter-list);  type </a:t>
            </a:r>
            <a:r>
              <a:rPr sz="2900" i="1" dirty="0">
                <a:latin typeface="Times New Roman"/>
                <a:cs typeface="Times New Roman"/>
              </a:rPr>
              <a:t>final-varname1 =</a:t>
            </a:r>
            <a:r>
              <a:rPr sz="2900" i="1" spc="-60" dirty="0">
                <a:latin typeface="Times New Roman"/>
                <a:cs typeface="Times New Roman"/>
              </a:rPr>
              <a:t> </a:t>
            </a:r>
            <a:r>
              <a:rPr sz="2900" i="1" dirty="0">
                <a:latin typeface="Times New Roman"/>
                <a:cs typeface="Times New Roman"/>
              </a:rPr>
              <a:t>value;</a:t>
            </a:r>
            <a:endParaRPr sz="29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700"/>
              </a:spcBef>
            </a:pPr>
            <a:r>
              <a:rPr sz="2900" i="1" dirty="0">
                <a:latin typeface="Times New Roman"/>
                <a:cs typeface="Times New Roman"/>
              </a:rPr>
              <a:t>type final-varname2 =</a:t>
            </a:r>
            <a:r>
              <a:rPr sz="2900" i="1" spc="-110" dirty="0">
                <a:latin typeface="Times New Roman"/>
                <a:cs typeface="Times New Roman"/>
              </a:rPr>
              <a:t> </a:t>
            </a:r>
            <a:r>
              <a:rPr sz="2900" i="1" spc="-5" dirty="0">
                <a:latin typeface="Times New Roman"/>
                <a:cs typeface="Times New Roman"/>
              </a:rPr>
              <a:t>value;</a:t>
            </a:r>
            <a:endParaRPr sz="29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710"/>
              </a:spcBef>
            </a:pPr>
            <a:r>
              <a:rPr sz="2900" dirty="0">
                <a:latin typeface="Times New Roman"/>
                <a:cs typeface="Times New Roman"/>
              </a:rPr>
              <a:t>//...</a:t>
            </a: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900" dirty="0">
                <a:latin typeface="Times New Roman"/>
                <a:cs typeface="Times New Roman"/>
              </a:rPr>
              <a:t>}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676" y="364312"/>
            <a:ext cx="629432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4800" dirty="0">
                <a:solidFill>
                  <a:srgbClr val="FF0000"/>
                </a:solidFill>
              </a:rPr>
              <a:t>Interface</a:t>
            </a:r>
            <a:r>
              <a:rPr sz="4800" dirty="0" smtClean="0"/>
              <a:t>…</a:t>
            </a:r>
            <a:endParaRPr sz="4800" dirty="0"/>
          </a:p>
        </p:txBody>
      </p:sp>
      <p:sp>
        <p:nvSpPr>
          <p:cNvPr id="3" name="object 3"/>
          <p:cNvSpPr txBox="1"/>
          <p:nvPr/>
        </p:nvSpPr>
        <p:spPr>
          <a:xfrm>
            <a:off x="257962" y="1572513"/>
            <a:ext cx="8655050" cy="529055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marR="5080" indent="-32067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60714"/>
              <a:buFont typeface="DejaVu Sans"/>
              <a:buChar char="◻"/>
              <a:tabLst>
                <a:tab pos="332740" algn="l"/>
                <a:tab pos="333375" algn="l"/>
                <a:tab pos="1327785" algn="l"/>
                <a:tab pos="2900680" algn="l"/>
                <a:tab pos="3580765" algn="l"/>
                <a:tab pos="4217670" algn="l"/>
                <a:tab pos="5388610" algn="l"/>
                <a:tab pos="6223635" algn="l"/>
                <a:tab pos="6525895" algn="l"/>
                <a:tab pos="7360920" algn="l"/>
                <a:tab pos="8197850" algn="l"/>
              </a:tabLst>
            </a:pPr>
            <a:r>
              <a:rPr sz="2800" spc="-5" dirty="0">
                <a:latin typeface="Times New Roman"/>
                <a:cs typeface="Times New Roman"/>
              </a:rPr>
              <a:t>Usi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g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inte</a:t>
            </a:r>
            <a:r>
              <a:rPr sz="28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r</a:t>
            </a:r>
            <a:r>
              <a:rPr sz="2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f</a:t>
            </a:r>
            <a:r>
              <a:rPr sz="2800" b="1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c</a:t>
            </a:r>
            <a:r>
              <a:rPr sz="28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e</a:t>
            </a:r>
            <a:r>
              <a:rPr sz="2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,</a:t>
            </a:r>
            <a:r>
              <a:rPr sz="2800" b="1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800" dirty="0">
                <a:latin typeface="Times New Roman"/>
                <a:cs typeface="Times New Roman"/>
              </a:rPr>
              <a:t>yo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5" dirty="0">
                <a:latin typeface="Times New Roman"/>
                <a:cs typeface="Times New Roman"/>
              </a:rPr>
              <a:t>ca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p</a:t>
            </a:r>
            <a:r>
              <a:rPr sz="2800" spc="-25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cify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what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class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must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do,  </a:t>
            </a:r>
            <a:r>
              <a:rPr sz="2800" dirty="0">
                <a:latin typeface="Times New Roman"/>
                <a:cs typeface="Times New Roman"/>
              </a:rPr>
              <a:t>but not how it </a:t>
            </a:r>
            <a:r>
              <a:rPr sz="2800" spc="-5" dirty="0">
                <a:latin typeface="Times New Roman"/>
                <a:cs typeface="Times New Roman"/>
              </a:rPr>
              <a:t>does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it.</a:t>
            </a:r>
            <a:endParaRPr sz="2800" dirty="0">
              <a:latin typeface="Times New Roman"/>
              <a:cs typeface="Times New Roman"/>
            </a:endParaRPr>
          </a:p>
          <a:p>
            <a:pPr marL="332740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714"/>
              <a:buFont typeface="DejaVu Sans"/>
              <a:buChar char="◻"/>
              <a:tabLst>
                <a:tab pos="332740" algn="l"/>
                <a:tab pos="333375" algn="l"/>
              </a:tabLst>
            </a:pPr>
            <a:r>
              <a:rPr sz="2800" spc="-5" dirty="0">
                <a:latin typeface="Times New Roman"/>
                <a:cs typeface="Times New Roman"/>
              </a:rPr>
              <a:t>Interfaces are syntactically similar to classes</a:t>
            </a:r>
            <a:endParaRPr sz="2800" dirty="0">
              <a:latin typeface="Times New Roman"/>
              <a:cs typeface="Times New Roman"/>
            </a:endParaRPr>
          </a:p>
          <a:p>
            <a:pPr marL="332740" marR="5080" indent="-32067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714"/>
              <a:buFont typeface="DejaVu Sans"/>
              <a:buChar char="◻"/>
              <a:tabLst>
                <a:tab pos="332740" algn="l"/>
                <a:tab pos="333375" algn="l"/>
                <a:tab pos="940435" algn="l"/>
                <a:tab pos="1529080" algn="l"/>
                <a:tab pos="2964815" algn="l"/>
                <a:tab pos="4144645" algn="l"/>
                <a:tab pos="4574540" algn="l"/>
                <a:tab pos="5161280" algn="l"/>
                <a:tab pos="6557645" algn="l"/>
                <a:tab pos="7144384" algn="l"/>
                <a:tab pos="7654925" algn="l"/>
              </a:tabLst>
            </a:pPr>
            <a:r>
              <a:rPr sz="2800" spc="-5" dirty="0">
                <a:latin typeface="Times New Roman"/>
                <a:cs typeface="Times New Roman"/>
              </a:rPr>
              <a:t>All	t</a:t>
            </a:r>
            <a:r>
              <a:rPr sz="2800" dirty="0">
                <a:latin typeface="Times New Roman"/>
                <a:cs typeface="Times New Roman"/>
              </a:rPr>
              <a:t>h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v</a:t>
            </a:r>
            <a:r>
              <a:rPr sz="2800" spc="-2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riab</a:t>
            </a:r>
            <a:r>
              <a:rPr sz="2800" dirty="0">
                <a:latin typeface="Times New Roman"/>
                <a:cs typeface="Times New Roman"/>
              </a:rPr>
              <a:t>l</a:t>
            </a:r>
            <a:r>
              <a:rPr sz="2800" spc="-5" dirty="0">
                <a:latin typeface="Times New Roman"/>
                <a:cs typeface="Times New Roman"/>
              </a:rPr>
              <a:t>es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25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sent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5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i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terface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dirty="0">
                <a:latin typeface="Times New Roman"/>
                <a:cs typeface="Times New Roman"/>
              </a:rPr>
              <a:t>	b</a:t>
            </a:r>
            <a:r>
              <a:rPr sz="2800" spc="-5" dirty="0">
                <a:latin typeface="Times New Roman"/>
                <a:cs typeface="Times New Roman"/>
              </a:rPr>
              <a:t>y</a:t>
            </a:r>
            <a:r>
              <a:rPr sz="2800" dirty="0">
                <a:latin typeface="Times New Roman"/>
                <a:cs typeface="Times New Roman"/>
              </a:rPr>
              <a:t>	d</a:t>
            </a:r>
            <a:r>
              <a:rPr sz="2800" spc="-5" dirty="0">
                <a:latin typeface="Times New Roman"/>
                <a:cs typeface="Times New Roman"/>
              </a:rPr>
              <a:t>efault  </a:t>
            </a:r>
            <a:r>
              <a:rPr sz="2800" dirty="0">
                <a:latin typeface="Times New Roman"/>
                <a:cs typeface="Times New Roman"/>
              </a:rPr>
              <a:t>“</a:t>
            </a:r>
            <a:r>
              <a:rPr sz="2800" b="1" dirty="0">
                <a:solidFill>
                  <a:srgbClr val="006FC0"/>
                </a:solidFill>
                <a:latin typeface="Times New Roman"/>
                <a:cs typeface="Times New Roman"/>
              </a:rPr>
              <a:t>public static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6FC0"/>
                </a:solidFill>
                <a:latin typeface="Times New Roman"/>
                <a:cs typeface="Times New Roman"/>
              </a:rPr>
              <a:t>final</a:t>
            </a:r>
            <a:r>
              <a:rPr sz="2800" dirty="0">
                <a:latin typeface="Times New Roman"/>
                <a:cs typeface="Times New Roman"/>
              </a:rPr>
              <a:t>”.</a:t>
            </a:r>
          </a:p>
          <a:p>
            <a:pPr marL="332740" indent="-32067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60714"/>
              <a:buFont typeface="DejaVu Sans"/>
              <a:buChar char="◻"/>
              <a:tabLst>
                <a:tab pos="332740" algn="l"/>
                <a:tab pos="333375" algn="l"/>
              </a:tabLst>
            </a:pPr>
            <a:r>
              <a:rPr sz="2800" spc="-5" dirty="0">
                <a:latin typeface="Times New Roman"/>
                <a:cs typeface="Times New Roman"/>
              </a:rPr>
              <a:t>Methods in interfaces are declared without any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body.</a:t>
            </a:r>
            <a:endParaRPr sz="2800" dirty="0">
              <a:latin typeface="Times New Roman"/>
              <a:cs typeface="Times New Roman"/>
            </a:endParaRPr>
          </a:p>
          <a:p>
            <a:pPr marL="332740" marR="6985" indent="-32067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714"/>
              <a:buFont typeface="DejaVu Sans"/>
              <a:buChar char="◻"/>
              <a:tabLst>
                <a:tab pos="332740" algn="l"/>
                <a:tab pos="333375" algn="l"/>
                <a:tab pos="2748280" algn="l"/>
                <a:tab pos="4337050" algn="l"/>
                <a:tab pos="4916170" algn="l"/>
                <a:tab pos="5911215" algn="l"/>
                <a:tab pos="6668770" algn="l"/>
              </a:tabLst>
            </a:pPr>
            <a:r>
              <a:rPr sz="2800" dirty="0">
                <a:latin typeface="Times New Roman"/>
                <a:cs typeface="Times New Roman"/>
              </a:rPr>
              <a:t>“</a:t>
            </a:r>
            <a:r>
              <a:rPr sz="2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imp</a:t>
            </a:r>
            <a:r>
              <a:rPr sz="2800" b="1" dirty="0">
                <a:solidFill>
                  <a:srgbClr val="006FC0"/>
                </a:solidFill>
                <a:latin typeface="Times New Roman"/>
                <a:cs typeface="Times New Roman"/>
              </a:rPr>
              <a:t>l</a:t>
            </a:r>
            <a:r>
              <a:rPr sz="2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em</a:t>
            </a:r>
            <a:r>
              <a:rPr sz="28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e</a:t>
            </a:r>
            <a:r>
              <a:rPr sz="2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n</a:t>
            </a:r>
            <a:r>
              <a:rPr sz="2800" b="1" dirty="0">
                <a:solidFill>
                  <a:srgbClr val="006FC0"/>
                </a:solidFill>
                <a:latin typeface="Times New Roman"/>
                <a:cs typeface="Times New Roman"/>
              </a:rPr>
              <a:t>t</a:t>
            </a:r>
            <a:r>
              <a:rPr sz="28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”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keyw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rd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u</a:t>
            </a:r>
            <a:r>
              <a:rPr sz="2800" dirty="0">
                <a:latin typeface="Times New Roman"/>
                <a:cs typeface="Times New Roman"/>
              </a:rPr>
              <a:t>s</a:t>
            </a:r>
            <a:r>
              <a:rPr sz="2800" spc="-5" dirty="0">
                <a:latin typeface="Times New Roman"/>
                <a:cs typeface="Times New Roman"/>
              </a:rPr>
              <a:t>ed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for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i</a:t>
            </a:r>
            <a:r>
              <a:rPr sz="2800" spc="-2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l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spc="-25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enti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g  interfaces to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class.</a:t>
            </a:r>
            <a:endParaRPr sz="2800" dirty="0">
              <a:latin typeface="Times New Roman"/>
              <a:cs typeface="Times New Roman"/>
            </a:endParaRPr>
          </a:p>
          <a:p>
            <a:pPr marL="332740" marR="6985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714"/>
              <a:buFont typeface="DejaVu Sans"/>
              <a:buChar char="◻"/>
              <a:tabLst>
                <a:tab pos="332740" algn="l"/>
                <a:tab pos="333375" algn="l"/>
                <a:tab pos="1997075" algn="l"/>
                <a:tab pos="2693670" algn="l"/>
                <a:tab pos="4220845" algn="l"/>
                <a:tab pos="4758690" algn="l"/>
                <a:tab pos="6091555" algn="l"/>
                <a:tab pos="7575550" algn="l"/>
              </a:tabLst>
            </a:pPr>
            <a:r>
              <a:rPr sz="2800" spc="-5" dirty="0">
                <a:latin typeface="Times New Roman"/>
                <a:cs typeface="Times New Roman"/>
              </a:rPr>
              <a:t>I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terfa</a:t>
            </a:r>
            <a:r>
              <a:rPr sz="2800" spc="-15" dirty="0">
                <a:latin typeface="Times New Roman"/>
                <a:cs typeface="Times New Roman"/>
              </a:rPr>
              <a:t>c</a:t>
            </a:r>
            <a:r>
              <a:rPr sz="2800" spc="-5" dirty="0">
                <a:latin typeface="Times New Roman"/>
                <a:cs typeface="Times New Roman"/>
              </a:rPr>
              <a:t>es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designed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5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su</a:t>
            </a:r>
            <a:r>
              <a:rPr sz="2800" spc="5" dirty="0">
                <a:latin typeface="Times New Roman"/>
                <a:cs typeface="Times New Roman"/>
              </a:rPr>
              <a:t>p</a:t>
            </a:r>
            <a:r>
              <a:rPr sz="2800" spc="-5" dirty="0">
                <a:latin typeface="Times New Roman"/>
                <a:cs typeface="Times New Roman"/>
              </a:rPr>
              <a:t>port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dyna</a:t>
            </a:r>
            <a:r>
              <a:rPr sz="2800" spc="-3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ic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ethod  resolution </a:t>
            </a:r>
            <a:r>
              <a:rPr sz="2800" spc="-10" dirty="0">
                <a:latin typeface="Times New Roman"/>
                <a:cs typeface="Times New Roman"/>
              </a:rPr>
              <a:t>at </a:t>
            </a:r>
            <a:r>
              <a:rPr sz="2800" spc="-5" dirty="0">
                <a:latin typeface="Times New Roman"/>
                <a:cs typeface="Times New Roman"/>
              </a:rPr>
              <a:t>run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time</a:t>
            </a:r>
            <a:r>
              <a:rPr sz="2800" spc="-10" dirty="0" smtClean="0">
                <a:latin typeface="Times New Roman"/>
                <a:cs typeface="Times New Roman"/>
              </a:rPr>
              <a:t>.</a:t>
            </a:r>
            <a:endParaRPr lang="en-US" sz="2800" spc="-10" dirty="0" smtClean="0">
              <a:latin typeface="Times New Roman"/>
              <a:cs typeface="Times New Roman"/>
            </a:endParaRPr>
          </a:p>
          <a:p>
            <a:pPr marL="332740" marR="6985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714"/>
              <a:buFont typeface="DejaVu Sans"/>
              <a:buChar char="◻"/>
              <a:tabLst>
                <a:tab pos="332740" algn="l"/>
                <a:tab pos="333375" algn="l"/>
                <a:tab pos="1997075" algn="l"/>
                <a:tab pos="2693670" algn="l"/>
                <a:tab pos="4220845" algn="l"/>
                <a:tab pos="4758690" algn="l"/>
                <a:tab pos="6091555" algn="l"/>
                <a:tab pos="7575550" algn="l"/>
              </a:tabLst>
            </a:pPr>
            <a:r>
              <a:rPr lang="en-US" sz="2800" spc="-10" dirty="0" smtClean="0">
                <a:latin typeface="Times New Roman"/>
                <a:cs typeface="Times New Roman"/>
              </a:rPr>
              <a:t>Through interface we can achieve 100% </a:t>
            </a:r>
            <a:r>
              <a:rPr lang="en-US" sz="2800" b="1" dirty="0">
                <a:solidFill>
                  <a:srgbClr val="006FC0"/>
                </a:solidFill>
                <a:latin typeface="Times New Roman"/>
                <a:cs typeface="Times New Roman"/>
              </a:rPr>
              <a:t>abstraction</a:t>
            </a:r>
            <a:r>
              <a:rPr lang="en-US" sz="2800" spc="-10" dirty="0" smtClean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340" y="206451"/>
            <a:ext cx="8529319" cy="492443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Interface</a:t>
            </a:r>
            <a:r>
              <a:rPr lang="en-IN" dirty="0"/>
              <a:t>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752600"/>
            <a:ext cx="8305800" cy="4667945"/>
          </a:xfrm>
        </p:spPr>
        <p:txBody>
          <a:bodyPr/>
          <a:lstStyle/>
          <a:p>
            <a:pPr marL="332740" marR="5080" indent="-32067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60714"/>
              <a:buFont typeface="DejaVu Sans"/>
              <a:buChar char="◻"/>
              <a:tabLst>
                <a:tab pos="332740" algn="l"/>
                <a:tab pos="333375" algn="l"/>
                <a:tab pos="1327785" algn="l"/>
                <a:tab pos="2900680" algn="l"/>
                <a:tab pos="3580765" algn="l"/>
                <a:tab pos="4217670" algn="l"/>
                <a:tab pos="5388610" algn="l"/>
                <a:tab pos="6223635" algn="l"/>
                <a:tab pos="6525895" algn="l"/>
                <a:tab pos="7360920" algn="l"/>
                <a:tab pos="8197850" algn="l"/>
              </a:tabLst>
            </a:pPr>
            <a:r>
              <a:rPr lang="en-US" sz="2800" kern="1200" dirty="0" smtClean="0">
                <a:latin typeface="Times New Roman"/>
                <a:cs typeface="Times New Roman"/>
              </a:rPr>
              <a:t>Interface does not have </a:t>
            </a:r>
            <a:r>
              <a:rPr lang="en-US" sz="2800" b="1" kern="1200" spc="-15" dirty="0">
                <a:solidFill>
                  <a:srgbClr val="006FC0"/>
                </a:solidFill>
                <a:latin typeface="Times New Roman"/>
                <a:cs typeface="Times New Roman"/>
              </a:rPr>
              <a:t>constructor</a:t>
            </a:r>
            <a:r>
              <a:rPr lang="en-US" sz="2800" kern="1200" dirty="0" smtClean="0">
                <a:latin typeface="Times New Roman"/>
                <a:cs typeface="Times New Roman"/>
              </a:rPr>
              <a:t>.</a:t>
            </a:r>
            <a:endParaRPr lang="en-US" sz="2800" kern="1200" dirty="0">
              <a:latin typeface="Times New Roman"/>
              <a:cs typeface="Times New Roman"/>
            </a:endParaRPr>
          </a:p>
          <a:p>
            <a:pPr marL="332740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714"/>
              <a:buFont typeface="DejaVu Sans"/>
              <a:buChar char="◻"/>
              <a:tabLst>
                <a:tab pos="332740" algn="l"/>
                <a:tab pos="333375" algn="l"/>
              </a:tabLst>
            </a:pPr>
            <a:r>
              <a:rPr lang="en-US" sz="2800" kern="1200" dirty="0">
                <a:latin typeface="Times New Roman"/>
                <a:cs typeface="Times New Roman"/>
              </a:rPr>
              <a:t>Interfaces </a:t>
            </a:r>
            <a:r>
              <a:rPr lang="en-US" sz="2800" kern="1200" dirty="0" smtClean="0">
                <a:latin typeface="Times New Roman"/>
                <a:cs typeface="Times New Roman"/>
              </a:rPr>
              <a:t>does not extends any class, interface itself is the super most.</a:t>
            </a:r>
            <a:endParaRPr lang="en-US" sz="2800" kern="1200" dirty="0">
              <a:latin typeface="Times New Roman"/>
              <a:cs typeface="Times New Roman"/>
            </a:endParaRPr>
          </a:p>
          <a:p>
            <a:pPr marL="332740" marR="5080" indent="-32067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714"/>
              <a:buFont typeface="DejaVu Sans"/>
              <a:buChar char="◻"/>
              <a:tabLst>
                <a:tab pos="332740" algn="l"/>
                <a:tab pos="333375" algn="l"/>
                <a:tab pos="940435" algn="l"/>
                <a:tab pos="1529080" algn="l"/>
                <a:tab pos="2964815" algn="l"/>
                <a:tab pos="4144645" algn="l"/>
                <a:tab pos="4574540" algn="l"/>
                <a:tab pos="5161280" algn="l"/>
                <a:tab pos="6557645" algn="l"/>
                <a:tab pos="7144384" algn="l"/>
                <a:tab pos="7654925" algn="l"/>
              </a:tabLst>
            </a:pPr>
            <a:r>
              <a:rPr lang="en-US" sz="2800" kern="1200" dirty="0" smtClean="0">
                <a:latin typeface="Times New Roman"/>
                <a:cs typeface="Times New Roman"/>
              </a:rPr>
              <a:t>To inherit the properties from interface to interface we use extends.</a:t>
            </a:r>
            <a:endParaRPr lang="en-US" sz="2800" kern="1200" dirty="0">
              <a:latin typeface="Times New Roman"/>
              <a:cs typeface="Times New Roman"/>
            </a:endParaRPr>
          </a:p>
          <a:p>
            <a:pPr marL="332740" indent="-32067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60714"/>
              <a:buFont typeface="DejaVu Sans"/>
              <a:buChar char="◻"/>
              <a:tabLst>
                <a:tab pos="332740" algn="l"/>
                <a:tab pos="333375" algn="l"/>
              </a:tabLst>
            </a:pPr>
            <a:r>
              <a:rPr lang="en-US" sz="2800" kern="1200" dirty="0" smtClean="0">
                <a:latin typeface="Times New Roman"/>
                <a:cs typeface="Times New Roman"/>
              </a:rPr>
              <a:t>All the abstract methods in the interface should be overridden in the subclass hence the subclass should be declared as abstract. </a:t>
            </a:r>
          </a:p>
          <a:p>
            <a:pPr marL="332740" indent="-32067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60714"/>
              <a:buFont typeface="DejaVu Sans"/>
              <a:buChar char="◻"/>
              <a:tabLst>
                <a:tab pos="332740" algn="l"/>
                <a:tab pos="333375" algn="l"/>
              </a:tabLst>
            </a:pPr>
            <a:r>
              <a:rPr lang="en-US" sz="2800" kern="1200" dirty="0" smtClean="0">
                <a:latin typeface="Times New Roman"/>
                <a:cs typeface="Times New Roman"/>
              </a:rPr>
              <a:t>We can create a reference variable for interface but not an object.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1735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56362"/>
            <a:ext cx="20142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Times New Roman"/>
                <a:cs typeface="Times New Roman"/>
              </a:rPr>
              <a:t>Example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1538681"/>
            <a:ext cx="6316980" cy="4718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20"/>
              </a:lnSpc>
              <a:spcBef>
                <a:spcPts val="100"/>
              </a:spcBef>
            </a:pPr>
            <a:r>
              <a:rPr sz="2700" dirty="0">
                <a:solidFill>
                  <a:srgbClr val="006FC0"/>
                </a:solidFill>
                <a:latin typeface="Times New Roman"/>
                <a:cs typeface="Times New Roman"/>
              </a:rPr>
              <a:t>interface</a:t>
            </a:r>
            <a:r>
              <a:rPr sz="27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700" spc="-5" dirty="0">
                <a:latin typeface="Times New Roman"/>
                <a:cs typeface="Times New Roman"/>
              </a:rPr>
              <a:t>{</a:t>
            </a:r>
            <a:endParaRPr sz="2700">
              <a:latin typeface="Times New Roman"/>
              <a:cs typeface="Times New Roman"/>
            </a:endParaRPr>
          </a:p>
          <a:p>
            <a:pPr marL="927100">
              <a:lnSpc>
                <a:spcPts val="2595"/>
              </a:lnSpc>
            </a:pPr>
            <a:r>
              <a:rPr sz="2700" dirty="0">
                <a:latin typeface="Times New Roman"/>
                <a:cs typeface="Times New Roman"/>
              </a:rPr>
              <a:t>void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method1();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ts val="2590"/>
              </a:lnSpc>
            </a:pPr>
            <a:r>
              <a:rPr sz="2700" dirty="0">
                <a:latin typeface="Times New Roman"/>
                <a:cs typeface="Times New Roman"/>
              </a:rPr>
              <a:t>}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ts val="2590"/>
              </a:lnSpc>
            </a:pPr>
            <a:r>
              <a:rPr sz="2700" dirty="0">
                <a:latin typeface="Times New Roman"/>
                <a:cs typeface="Times New Roman"/>
              </a:rPr>
              <a:t>class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B </a:t>
            </a:r>
            <a:r>
              <a:rPr sz="2700" dirty="0">
                <a:latin typeface="Times New Roman"/>
                <a:cs typeface="Times New Roman"/>
              </a:rPr>
              <a:t>implements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700" spc="-10" dirty="0">
                <a:latin typeface="Times New Roman"/>
                <a:cs typeface="Times New Roman"/>
              </a:rPr>
              <a:t>{</a:t>
            </a:r>
            <a:endParaRPr sz="2700">
              <a:latin typeface="Times New Roman"/>
              <a:cs typeface="Times New Roman"/>
            </a:endParaRPr>
          </a:p>
          <a:p>
            <a:pPr marL="1841500" marR="5080" indent="-914400">
              <a:lnSpc>
                <a:spcPts val="2590"/>
              </a:lnSpc>
              <a:spcBef>
                <a:spcPts val="305"/>
              </a:spcBef>
            </a:pPr>
            <a:r>
              <a:rPr sz="2700" dirty="0">
                <a:latin typeface="Times New Roman"/>
                <a:cs typeface="Times New Roman"/>
              </a:rPr>
              <a:t>public void method1(){  System.out.println("Method</a:t>
            </a:r>
            <a:r>
              <a:rPr sz="2700" spc="-11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1");</a:t>
            </a:r>
            <a:endParaRPr sz="2700">
              <a:latin typeface="Times New Roman"/>
              <a:cs typeface="Times New Roman"/>
            </a:endParaRPr>
          </a:p>
          <a:p>
            <a:pPr marL="440690">
              <a:lnSpc>
                <a:spcPts val="2295"/>
              </a:lnSpc>
            </a:pPr>
            <a:r>
              <a:rPr sz="2700" dirty="0">
                <a:latin typeface="Times New Roman"/>
                <a:cs typeface="Times New Roman"/>
              </a:rPr>
              <a:t>}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ts val="2590"/>
              </a:lnSpc>
            </a:pPr>
            <a:r>
              <a:rPr sz="2700" dirty="0">
                <a:latin typeface="Times New Roman"/>
                <a:cs typeface="Times New Roman"/>
              </a:rPr>
              <a:t>}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ts val="2595"/>
              </a:lnSpc>
            </a:pPr>
            <a:r>
              <a:rPr sz="2700" dirty="0">
                <a:latin typeface="Times New Roman"/>
                <a:cs typeface="Times New Roman"/>
              </a:rPr>
              <a:t>class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MyClass{</a:t>
            </a:r>
            <a:endParaRPr sz="2700">
              <a:latin typeface="Times New Roman"/>
              <a:cs typeface="Times New Roman"/>
            </a:endParaRPr>
          </a:p>
          <a:p>
            <a:pPr marL="927100" marR="43815">
              <a:lnSpc>
                <a:spcPts val="2590"/>
              </a:lnSpc>
              <a:spcBef>
                <a:spcPts val="305"/>
              </a:spcBef>
            </a:pPr>
            <a:r>
              <a:rPr sz="2700" dirty="0">
                <a:latin typeface="Times New Roman"/>
                <a:cs typeface="Times New Roman"/>
              </a:rPr>
              <a:t>public static void </a:t>
            </a:r>
            <a:r>
              <a:rPr sz="2700" spc="-5" dirty="0">
                <a:latin typeface="Times New Roman"/>
                <a:cs typeface="Times New Roman"/>
              </a:rPr>
              <a:t>main(String[] </a:t>
            </a:r>
            <a:r>
              <a:rPr sz="2700" dirty="0">
                <a:latin typeface="Times New Roman"/>
                <a:cs typeface="Times New Roman"/>
              </a:rPr>
              <a:t>args)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{ 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B obj = new</a:t>
            </a:r>
            <a:r>
              <a:rPr sz="27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B();</a:t>
            </a:r>
            <a:endParaRPr sz="2700">
              <a:latin typeface="Times New Roman"/>
              <a:cs typeface="Times New Roman"/>
            </a:endParaRPr>
          </a:p>
          <a:p>
            <a:pPr marL="927100">
              <a:lnSpc>
                <a:spcPts val="2290"/>
              </a:lnSpc>
            </a:pPr>
            <a:r>
              <a:rPr sz="2700" dirty="0">
                <a:latin typeface="Times New Roman"/>
                <a:cs typeface="Times New Roman"/>
              </a:rPr>
              <a:t>obj.method1();</a:t>
            </a:r>
            <a:endParaRPr sz="2700">
              <a:latin typeface="Times New Roman"/>
              <a:cs typeface="Times New Roman"/>
            </a:endParaRPr>
          </a:p>
          <a:p>
            <a:pPr marL="440690">
              <a:lnSpc>
                <a:spcPts val="2595"/>
              </a:lnSpc>
            </a:pPr>
            <a:r>
              <a:rPr sz="2700" dirty="0">
                <a:latin typeface="Times New Roman"/>
                <a:cs typeface="Times New Roman"/>
              </a:rPr>
              <a:t>}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ts val="2915"/>
              </a:lnSpc>
            </a:pPr>
            <a:r>
              <a:rPr sz="2700" dirty="0">
                <a:latin typeface="Times New Roman"/>
                <a:cs typeface="Times New Roman"/>
              </a:rPr>
              <a:t>}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354838"/>
            <a:ext cx="54813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130" dirty="0">
                <a:solidFill>
                  <a:srgbClr val="333333"/>
                </a:solidFill>
                <a:latin typeface="Arial"/>
                <a:cs typeface="Arial"/>
              </a:rPr>
              <a:t>Extending</a:t>
            </a:r>
            <a:r>
              <a:rPr sz="4400" b="0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4400" b="0" spc="155" dirty="0">
                <a:solidFill>
                  <a:srgbClr val="333333"/>
                </a:solidFill>
                <a:latin typeface="Arial"/>
                <a:cs typeface="Arial"/>
              </a:rPr>
              <a:t>Interfaces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1619452"/>
            <a:ext cx="8458835" cy="2465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59375"/>
              <a:buFont typeface="DejaVu Sans"/>
              <a:buChar char="◻"/>
              <a:tabLst>
                <a:tab pos="469265" algn="l"/>
                <a:tab pos="469900" algn="l"/>
                <a:tab pos="1397635" algn="l"/>
                <a:tab pos="3068320" algn="l"/>
                <a:tab pos="3882390" algn="l"/>
                <a:tab pos="5190490" algn="l"/>
                <a:tab pos="6657975" algn="l"/>
                <a:tab pos="7313295" algn="l"/>
                <a:tab pos="8104505" algn="l"/>
              </a:tabLst>
            </a:pPr>
            <a:r>
              <a:rPr sz="3200" dirty="0">
                <a:solidFill>
                  <a:srgbClr val="273139"/>
                </a:solidFill>
                <a:latin typeface="Times New Roman"/>
                <a:cs typeface="Times New Roman"/>
              </a:rPr>
              <a:t>One	</a:t>
            </a:r>
            <a:r>
              <a:rPr sz="3200" spc="-2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3200" dirty="0">
                <a:solidFill>
                  <a:srgbClr val="273139"/>
                </a:solidFill>
                <a:latin typeface="Times New Roman"/>
                <a:cs typeface="Times New Roman"/>
              </a:rPr>
              <a:t>nterface	can	i</a:t>
            </a:r>
            <a:r>
              <a:rPr sz="3200" spc="-1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3200" dirty="0">
                <a:solidFill>
                  <a:srgbClr val="273139"/>
                </a:solidFill>
                <a:latin typeface="Times New Roman"/>
                <a:cs typeface="Times New Roman"/>
              </a:rPr>
              <a:t>herit	another	by	use	</a:t>
            </a:r>
            <a:r>
              <a:rPr sz="3200" spc="5" dirty="0">
                <a:solidFill>
                  <a:srgbClr val="273139"/>
                </a:solidFill>
                <a:latin typeface="Times New Roman"/>
                <a:cs typeface="Times New Roman"/>
              </a:rPr>
              <a:t>of  </a:t>
            </a:r>
            <a:r>
              <a:rPr sz="3200" dirty="0">
                <a:solidFill>
                  <a:srgbClr val="273139"/>
                </a:solidFill>
                <a:latin typeface="Times New Roman"/>
                <a:cs typeface="Times New Roman"/>
              </a:rPr>
              <a:t>keyword</a:t>
            </a:r>
            <a:r>
              <a:rPr sz="3200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extends</a:t>
            </a:r>
            <a:r>
              <a:rPr sz="32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DD8046"/>
              </a:buClr>
              <a:buFont typeface="DejaVu Sans"/>
              <a:buChar char="◻"/>
            </a:pPr>
            <a:endParaRPr sz="3300">
              <a:latin typeface="Times New Roman"/>
              <a:cs typeface="Times New Roman"/>
            </a:endParaRPr>
          </a:p>
          <a:p>
            <a:pPr marL="469900" marR="6350" indent="-457200">
              <a:lnSpc>
                <a:spcPct val="100000"/>
              </a:lnSpc>
              <a:buClr>
                <a:srgbClr val="DD8046"/>
              </a:buClr>
              <a:buSzPct val="59375"/>
              <a:buFont typeface="DejaVu Sans"/>
              <a:buChar char="◻"/>
              <a:tabLst>
                <a:tab pos="469265" algn="l"/>
                <a:tab pos="469900" algn="l"/>
                <a:tab pos="1728470" algn="l"/>
                <a:tab pos="2195195" algn="l"/>
                <a:tab pos="3274060" algn="l"/>
                <a:tab pos="5457190" algn="l"/>
                <a:tab pos="6127750" algn="l"/>
                <a:tab pos="7834630" algn="l"/>
              </a:tabLst>
            </a:pPr>
            <a:r>
              <a:rPr sz="3200" dirty="0">
                <a:solidFill>
                  <a:srgbClr val="273139"/>
                </a:solidFill>
                <a:latin typeface="Times New Roman"/>
                <a:cs typeface="Times New Roman"/>
              </a:rPr>
              <a:t>When	a	cla</a:t>
            </a:r>
            <a:r>
              <a:rPr sz="3200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3200" dirty="0">
                <a:solidFill>
                  <a:srgbClr val="273139"/>
                </a:solidFill>
                <a:latin typeface="Times New Roman"/>
                <a:cs typeface="Times New Roman"/>
              </a:rPr>
              <a:t>s	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mplemen</a:t>
            </a:r>
            <a:r>
              <a:rPr sz="3200" spc="-1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	</a:t>
            </a:r>
            <a:r>
              <a:rPr sz="3200" spc="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3200" dirty="0">
                <a:solidFill>
                  <a:srgbClr val="273139"/>
                </a:solidFill>
                <a:latin typeface="Times New Roman"/>
                <a:cs typeface="Times New Roman"/>
              </a:rPr>
              <a:t>n	</a:t>
            </a:r>
            <a:r>
              <a:rPr sz="3200" spc="-2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3200" dirty="0">
                <a:solidFill>
                  <a:srgbClr val="273139"/>
                </a:solidFill>
                <a:latin typeface="Times New Roman"/>
                <a:cs typeface="Times New Roman"/>
              </a:rPr>
              <a:t>nterface	</a:t>
            </a:r>
            <a:r>
              <a:rPr sz="3200" spc="-2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3200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3200" spc="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3200" dirty="0">
                <a:solidFill>
                  <a:srgbClr val="273139"/>
                </a:solidFill>
                <a:latin typeface="Times New Roman"/>
                <a:cs typeface="Times New Roman"/>
              </a:rPr>
              <a:t>t  inherit another</a:t>
            </a:r>
            <a:r>
              <a:rPr sz="3200" spc="-6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73139"/>
                </a:solidFill>
                <a:latin typeface="Times New Roman"/>
                <a:cs typeface="Times New Roman"/>
              </a:rPr>
              <a:t>interface.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354838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65" dirty="0">
                <a:solidFill>
                  <a:srgbClr val="333333"/>
                </a:solidFill>
                <a:latin typeface="Arial"/>
                <a:cs typeface="Arial"/>
              </a:rPr>
              <a:t>Example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1512265"/>
            <a:ext cx="2712720" cy="1970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75"/>
              </a:lnSpc>
              <a:spcBef>
                <a:spcPts val="95"/>
              </a:spcBef>
            </a:pP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interface</a:t>
            </a:r>
            <a:r>
              <a:rPr sz="22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200" spc="-5" dirty="0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431800" marR="464820">
              <a:lnSpc>
                <a:spcPct val="80000"/>
              </a:lnSpc>
              <a:spcBef>
                <a:spcPts val="265"/>
              </a:spcBef>
            </a:pPr>
            <a:r>
              <a:rPr sz="2200" spc="-5" dirty="0">
                <a:latin typeface="Times New Roman"/>
                <a:cs typeface="Times New Roman"/>
              </a:rPr>
              <a:t>void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method1();  void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method2();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1850"/>
              </a:lnSpc>
            </a:pPr>
            <a:r>
              <a:rPr sz="2200" spc="-5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110"/>
              </a:lnSpc>
            </a:pPr>
            <a:r>
              <a:rPr sz="22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interface B 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extends </a:t>
            </a:r>
            <a:r>
              <a:rPr sz="2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200" spc="-10" dirty="0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501650">
              <a:lnSpc>
                <a:spcPts val="2115"/>
              </a:lnSpc>
            </a:pPr>
            <a:r>
              <a:rPr sz="2200" dirty="0">
                <a:latin typeface="Times New Roman"/>
                <a:cs typeface="Times New Roman"/>
              </a:rPr>
              <a:t>void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method3();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375"/>
              </a:lnSpc>
            </a:pPr>
            <a:r>
              <a:rPr sz="2200" spc="-5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97479" y="2585719"/>
            <a:ext cx="45548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// B </a:t>
            </a:r>
            <a:r>
              <a:rPr sz="2200" dirty="0">
                <a:latin typeface="Times New Roman"/>
                <a:cs typeface="Times New Roman"/>
              </a:rPr>
              <a:t>now </a:t>
            </a:r>
            <a:r>
              <a:rPr sz="2200" spc="-5" dirty="0">
                <a:latin typeface="Times New Roman"/>
                <a:cs typeface="Times New Roman"/>
              </a:rPr>
              <a:t>includes method1 and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method2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140" y="3390646"/>
            <a:ext cx="8437880" cy="628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06700">
              <a:lnSpc>
                <a:spcPts val="2375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//the class </a:t>
            </a:r>
            <a:r>
              <a:rPr sz="2200" spc="-10" dirty="0">
                <a:latin typeface="Times New Roman"/>
                <a:cs typeface="Times New Roman"/>
              </a:rPr>
              <a:t>must implement </a:t>
            </a:r>
            <a:r>
              <a:rPr sz="2200" spc="-5" dirty="0">
                <a:latin typeface="Times New Roman"/>
                <a:cs typeface="Times New Roman"/>
              </a:rPr>
              <a:t>all method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A and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375"/>
              </a:lnSpc>
            </a:pPr>
            <a:r>
              <a:rPr sz="2200" spc="-5" dirty="0">
                <a:latin typeface="Times New Roman"/>
                <a:cs typeface="Times New Roman"/>
              </a:rPr>
              <a:t>class C </a:t>
            </a:r>
            <a:r>
              <a:rPr sz="2200" b="1" spc="-5" dirty="0">
                <a:latin typeface="Times New Roman"/>
                <a:cs typeface="Times New Roman"/>
              </a:rPr>
              <a:t>implements</a:t>
            </a:r>
            <a:r>
              <a:rPr sz="2200" b="1" spc="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B{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0031" y="4463922"/>
            <a:ext cx="1593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0031" y="5268595"/>
            <a:ext cx="1593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0240" y="3927094"/>
            <a:ext cx="5072380" cy="2238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75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public void method1(){</a:t>
            </a:r>
            <a:endParaRPr sz="2200">
              <a:latin typeface="Times New Roman"/>
              <a:cs typeface="Times New Roman"/>
            </a:endParaRPr>
          </a:p>
          <a:p>
            <a:pPr marL="1422400">
              <a:lnSpc>
                <a:spcPts val="2375"/>
              </a:lnSpc>
            </a:pPr>
            <a:r>
              <a:rPr sz="2200" spc="-5" dirty="0">
                <a:latin typeface="Times New Roman"/>
                <a:cs typeface="Times New Roman"/>
              </a:rPr>
              <a:t>System.out.println("Method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1");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375"/>
              </a:lnSpc>
              <a:spcBef>
                <a:spcPts val="1585"/>
              </a:spcBef>
            </a:pPr>
            <a:r>
              <a:rPr sz="2200" spc="-5" dirty="0">
                <a:latin typeface="Times New Roman"/>
                <a:cs typeface="Times New Roman"/>
              </a:rPr>
              <a:t>public void method2(){</a:t>
            </a:r>
            <a:endParaRPr sz="2200">
              <a:latin typeface="Times New Roman"/>
              <a:cs typeface="Times New Roman"/>
            </a:endParaRPr>
          </a:p>
          <a:p>
            <a:pPr marL="1422400">
              <a:lnSpc>
                <a:spcPts val="2375"/>
              </a:lnSpc>
            </a:pPr>
            <a:r>
              <a:rPr sz="2200" spc="-5" dirty="0">
                <a:latin typeface="Times New Roman"/>
                <a:cs typeface="Times New Roman"/>
              </a:rPr>
              <a:t>System.out.println("Method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2");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375"/>
              </a:lnSpc>
              <a:spcBef>
                <a:spcPts val="1585"/>
              </a:spcBef>
            </a:pPr>
            <a:r>
              <a:rPr sz="2200" dirty="0">
                <a:latin typeface="Times New Roman"/>
                <a:cs typeface="Times New Roman"/>
              </a:rPr>
              <a:t>public void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method3(){</a:t>
            </a:r>
            <a:endParaRPr sz="2200">
              <a:latin typeface="Times New Roman"/>
              <a:cs typeface="Times New Roman"/>
            </a:endParaRPr>
          </a:p>
          <a:p>
            <a:pPr marL="1422400">
              <a:lnSpc>
                <a:spcPts val="2375"/>
              </a:lnSpc>
            </a:pPr>
            <a:r>
              <a:rPr sz="2200" spc="-5" dirty="0">
                <a:latin typeface="Times New Roman"/>
                <a:cs typeface="Times New Roman"/>
              </a:rPr>
              <a:t>System.out.println("Method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3");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1140" y="6073546"/>
            <a:ext cx="438150" cy="628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1465">
              <a:lnSpc>
                <a:spcPts val="2375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375"/>
              </a:lnSpc>
            </a:pPr>
            <a:r>
              <a:rPr sz="2200" spc="-5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354838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65" dirty="0">
                <a:solidFill>
                  <a:srgbClr val="333333"/>
                </a:solidFill>
                <a:latin typeface="Arial"/>
                <a:cs typeface="Arial"/>
              </a:rPr>
              <a:t>Example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1577441"/>
            <a:ext cx="7483475" cy="427228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95"/>
              </a:spcBef>
            </a:pPr>
            <a:r>
              <a:rPr sz="2900" spc="-5" dirty="0">
                <a:latin typeface="Times New Roman"/>
                <a:cs typeface="Times New Roman"/>
              </a:rPr>
              <a:t>class </a:t>
            </a:r>
            <a:r>
              <a:rPr sz="2900" dirty="0">
                <a:latin typeface="Times New Roman"/>
                <a:cs typeface="Times New Roman"/>
              </a:rPr>
              <a:t>MyClass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{</a:t>
            </a:r>
            <a:endParaRPr sz="2900">
              <a:latin typeface="Times New Roman"/>
              <a:cs typeface="Times New Roman"/>
            </a:endParaRPr>
          </a:p>
          <a:p>
            <a:pPr marL="1841500" marR="5080" algn="just">
              <a:lnSpc>
                <a:spcPct val="120000"/>
              </a:lnSpc>
            </a:pPr>
            <a:r>
              <a:rPr sz="2900" dirty="0">
                <a:latin typeface="Times New Roman"/>
                <a:cs typeface="Times New Roman"/>
              </a:rPr>
              <a:t>public </a:t>
            </a:r>
            <a:r>
              <a:rPr sz="2900" spc="-5" dirty="0">
                <a:latin typeface="Times New Roman"/>
                <a:cs typeface="Times New Roman"/>
              </a:rPr>
              <a:t>static </a:t>
            </a:r>
            <a:r>
              <a:rPr sz="2900" dirty="0">
                <a:latin typeface="Times New Roman"/>
                <a:cs typeface="Times New Roman"/>
              </a:rPr>
              <a:t>void </a:t>
            </a:r>
            <a:r>
              <a:rPr sz="2900" spc="-5" dirty="0">
                <a:latin typeface="Times New Roman"/>
                <a:cs typeface="Times New Roman"/>
              </a:rPr>
              <a:t>main(String</a:t>
            </a:r>
            <a:r>
              <a:rPr sz="2900" spc="-85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args[]){  </a:t>
            </a:r>
            <a:r>
              <a:rPr sz="2900" dirty="0">
                <a:latin typeface="Times New Roman"/>
                <a:cs typeface="Times New Roman"/>
              </a:rPr>
              <a:t>C </a:t>
            </a:r>
            <a:r>
              <a:rPr sz="2900" spc="-5" dirty="0">
                <a:latin typeface="Times New Roman"/>
                <a:cs typeface="Times New Roman"/>
              </a:rPr>
              <a:t>obj </a:t>
            </a:r>
            <a:r>
              <a:rPr sz="2900" dirty="0">
                <a:latin typeface="Times New Roman"/>
                <a:cs typeface="Times New Roman"/>
              </a:rPr>
              <a:t>= new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C();</a:t>
            </a:r>
            <a:endParaRPr sz="2900">
              <a:latin typeface="Times New Roman"/>
              <a:cs typeface="Times New Roman"/>
            </a:endParaRPr>
          </a:p>
          <a:p>
            <a:pPr marL="1841500" marR="3435350" algn="just">
              <a:lnSpc>
                <a:spcPct val="120000"/>
              </a:lnSpc>
              <a:spcBef>
                <a:spcPts val="15"/>
              </a:spcBef>
            </a:pPr>
            <a:r>
              <a:rPr sz="2900" dirty="0">
                <a:latin typeface="Times New Roman"/>
                <a:cs typeface="Times New Roman"/>
              </a:rPr>
              <a:t>obj.</a:t>
            </a:r>
            <a:r>
              <a:rPr sz="2900" spc="-40" dirty="0">
                <a:latin typeface="Times New Roman"/>
                <a:cs typeface="Times New Roman"/>
              </a:rPr>
              <a:t>m</a:t>
            </a:r>
            <a:r>
              <a:rPr sz="2900" dirty="0">
                <a:latin typeface="Times New Roman"/>
                <a:cs typeface="Times New Roman"/>
              </a:rPr>
              <a:t>ethod1();  obj.</a:t>
            </a:r>
            <a:r>
              <a:rPr sz="2900" spc="-40" dirty="0">
                <a:latin typeface="Times New Roman"/>
                <a:cs typeface="Times New Roman"/>
              </a:rPr>
              <a:t>m</a:t>
            </a:r>
            <a:r>
              <a:rPr sz="2900" dirty="0">
                <a:latin typeface="Times New Roman"/>
                <a:cs typeface="Times New Roman"/>
              </a:rPr>
              <a:t>ethod2();  obj.</a:t>
            </a:r>
            <a:r>
              <a:rPr sz="2900" spc="-40" dirty="0">
                <a:latin typeface="Times New Roman"/>
                <a:cs typeface="Times New Roman"/>
              </a:rPr>
              <a:t>m</a:t>
            </a:r>
            <a:r>
              <a:rPr sz="2900" dirty="0">
                <a:latin typeface="Times New Roman"/>
                <a:cs typeface="Times New Roman"/>
              </a:rPr>
              <a:t>ethod3();</a:t>
            </a:r>
            <a:endParaRPr sz="2900">
              <a:latin typeface="Times New Roman"/>
              <a:cs typeface="Times New Roman"/>
            </a:endParaRPr>
          </a:p>
          <a:p>
            <a:pPr marL="1018540">
              <a:lnSpc>
                <a:spcPct val="100000"/>
              </a:lnSpc>
              <a:spcBef>
                <a:spcPts val="705"/>
              </a:spcBef>
            </a:pPr>
            <a:r>
              <a:rPr sz="2900" dirty="0">
                <a:latin typeface="Times New Roman"/>
                <a:cs typeface="Times New Roman"/>
              </a:rPr>
              <a:t>}</a:t>
            </a:r>
            <a:endParaRPr sz="2900">
              <a:latin typeface="Times New Roman"/>
              <a:cs typeface="Times New Roman"/>
            </a:endParaRPr>
          </a:p>
          <a:p>
            <a:pPr marL="657225">
              <a:lnSpc>
                <a:spcPct val="100000"/>
              </a:lnSpc>
              <a:spcBef>
                <a:spcPts val="695"/>
              </a:spcBef>
            </a:pPr>
            <a:r>
              <a:rPr sz="2900" dirty="0">
                <a:latin typeface="Times New Roman"/>
                <a:cs typeface="Times New Roman"/>
              </a:rPr>
              <a:t>}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188" y="406984"/>
            <a:ext cx="77133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600A38"/>
                </a:solidFill>
                <a:latin typeface="Arial"/>
                <a:cs typeface="Arial"/>
              </a:rPr>
              <a:t>Multiple </a:t>
            </a:r>
            <a:r>
              <a:rPr spc="-5" dirty="0">
                <a:solidFill>
                  <a:srgbClr val="600A38"/>
                </a:solidFill>
                <a:latin typeface="Arial"/>
                <a:cs typeface="Arial"/>
              </a:rPr>
              <a:t>inheritance </a:t>
            </a:r>
            <a:r>
              <a:rPr dirty="0">
                <a:solidFill>
                  <a:srgbClr val="600A38"/>
                </a:solidFill>
                <a:latin typeface="Arial"/>
                <a:cs typeface="Arial"/>
              </a:rPr>
              <a:t>in </a:t>
            </a:r>
            <a:r>
              <a:rPr spc="-5" dirty="0">
                <a:solidFill>
                  <a:srgbClr val="600A38"/>
                </a:solidFill>
                <a:latin typeface="Arial"/>
                <a:cs typeface="Arial"/>
              </a:rPr>
              <a:t>Java </a:t>
            </a:r>
            <a:r>
              <a:rPr dirty="0">
                <a:solidFill>
                  <a:srgbClr val="600A38"/>
                </a:solidFill>
                <a:latin typeface="Arial"/>
                <a:cs typeface="Arial"/>
              </a:rPr>
              <a:t>by</a:t>
            </a:r>
            <a:r>
              <a:rPr spc="-110" dirty="0">
                <a:solidFill>
                  <a:srgbClr val="600A38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600A38"/>
                </a:solidFill>
                <a:latin typeface="Arial"/>
                <a:cs typeface="Arial"/>
              </a:rPr>
              <a:t>interface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8942" y="1842007"/>
            <a:ext cx="842264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  <a:tab pos="798830" algn="l"/>
                <a:tab pos="1242695" algn="l"/>
                <a:tab pos="2298700" algn="l"/>
                <a:tab pos="4365625" algn="l"/>
                <a:tab pos="5839460" algn="l"/>
                <a:tab pos="7727950" algn="l"/>
                <a:tab pos="8151495" algn="l"/>
              </a:tabLst>
            </a:pPr>
            <a:r>
              <a:rPr sz="2800" spc="-5" dirty="0">
                <a:latin typeface="Arial"/>
                <a:cs typeface="Arial"/>
              </a:rPr>
              <a:t>If	a	c</a:t>
            </a:r>
            <a:r>
              <a:rPr sz="2800" dirty="0">
                <a:latin typeface="Arial"/>
                <a:cs typeface="Arial"/>
              </a:rPr>
              <a:t>l</a:t>
            </a:r>
            <a:r>
              <a:rPr sz="2800" spc="-5" dirty="0">
                <a:latin typeface="Arial"/>
                <a:cs typeface="Arial"/>
              </a:rPr>
              <a:t>ass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" dirty="0">
                <a:latin typeface="Arial"/>
                <a:cs typeface="Arial"/>
              </a:rPr>
              <a:t>im</a:t>
            </a:r>
            <a:r>
              <a:rPr sz="2800" dirty="0">
                <a:latin typeface="Arial"/>
                <a:cs typeface="Arial"/>
              </a:rPr>
              <a:t>p</a:t>
            </a:r>
            <a:r>
              <a:rPr sz="2800" spc="-5" dirty="0">
                <a:latin typeface="Arial"/>
                <a:cs typeface="Arial"/>
              </a:rPr>
              <a:t>l</a:t>
            </a:r>
            <a:r>
              <a:rPr sz="2800" spc="10" dirty="0">
                <a:latin typeface="Arial"/>
                <a:cs typeface="Arial"/>
              </a:rPr>
              <a:t>e</a:t>
            </a:r>
            <a:r>
              <a:rPr sz="2800" spc="-5" dirty="0">
                <a:latin typeface="Arial"/>
                <a:cs typeface="Arial"/>
              </a:rPr>
              <a:t>me</a:t>
            </a:r>
            <a:r>
              <a:rPr sz="2800" dirty="0">
                <a:latin typeface="Arial"/>
                <a:cs typeface="Arial"/>
              </a:rPr>
              <a:t>n</a:t>
            </a:r>
            <a:r>
              <a:rPr sz="2800" spc="-5" dirty="0">
                <a:latin typeface="Arial"/>
                <a:cs typeface="Arial"/>
              </a:rPr>
              <a:t>ts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5" dirty="0">
                <a:latin typeface="Arial"/>
                <a:cs typeface="Arial"/>
              </a:rPr>
              <a:t>m</a:t>
            </a:r>
            <a:r>
              <a:rPr sz="2800" spc="-5" dirty="0">
                <a:latin typeface="Arial"/>
                <a:cs typeface="Arial"/>
              </a:rPr>
              <a:t>u</a:t>
            </a:r>
            <a:r>
              <a:rPr sz="2800" dirty="0">
                <a:latin typeface="Arial"/>
                <a:cs typeface="Arial"/>
              </a:rPr>
              <a:t>l</a:t>
            </a:r>
            <a:r>
              <a:rPr sz="2800" spc="-5" dirty="0">
                <a:latin typeface="Arial"/>
                <a:cs typeface="Arial"/>
              </a:rPr>
              <a:t>ti</a:t>
            </a:r>
            <a:r>
              <a:rPr sz="2800" spc="5" dirty="0">
                <a:latin typeface="Arial"/>
                <a:cs typeface="Arial"/>
              </a:rPr>
              <a:t>p</a:t>
            </a:r>
            <a:r>
              <a:rPr sz="2800" spc="-5" dirty="0">
                <a:latin typeface="Arial"/>
                <a:cs typeface="Arial"/>
              </a:rPr>
              <a:t>le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" dirty="0">
                <a:latin typeface="Arial"/>
                <a:cs typeface="Arial"/>
              </a:rPr>
              <a:t>i</a:t>
            </a:r>
            <a:r>
              <a:rPr sz="2800" dirty="0">
                <a:latin typeface="Arial"/>
                <a:cs typeface="Arial"/>
              </a:rPr>
              <a:t>n</a:t>
            </a:r>
            <a:r>
              <a:rPr sz="2800" spc="-5" dirty="0">
                <a:latin typeface="Arial"/>
                <a:cs typeface="Arial"/>
              </a:rPr>
              <a:t>te</a:t>
            </a:r>
            <a:r>
              <a:rPr sz="2800" spc="5" dirty="0">
                <a:latin typeface="Arial"/>
                <a:cs typeface="Arial"/>
              </a:rPr>
              <a:t>r</a:t>
            </a:r>
            <a:r>
              <a:rPr sz="2800" spc="-5" dirty="0">
                <a:latin typeface="Arial"/>
                <a:cs typeface="Arial"/>
              </a:rPr>
              <a:t>fa</a:t>
            </a:r>
            <a:r>
              <a:rPr sz="2800" spc="5" dirty="0">
                <a:latin typeface="Arial"/>
                <a:cs typeface="Arial"/>
              </a:rPr>
              <a:t>c</a:t>
            </a:r>
            <a:r>
              <a:rPr sz="2800" spc="-5" dirty="0">
                <a:latin typeface="Arial"/>
                <a:cs typeface="Arial"/>
              </a:rPr>
              <a:t>e</a:t>
            </a:r>
            <a:r>
              <a:rPr sz="2800" dirty="0">
                <a:latin typeface="Arial"/>
                <a:cs typeface="Arial"/>
              </a:rPr>
              <a:t>s</a:t>
            </a:r>
            <a:r>
              <a:rPr sz="2800" spc="-5" dirty="0">
                <a:latin typeface="Arial"/>
                <a:cs typeface="Arial"/>
              </a:rPr>
              <a:t>,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" dirty="0">
                <a:latin typeface="Arial"/>
                <a:cs typeface="Arial"/>
              </a:rPr>
              <a:t>it</a:t>
            </a:r>
            <a:r>
              <a:rPr sz="2800" dirty="0">
                <a:latin typeface="Arial"/>
                <a:cs typeface="Arial"/>
              </a:rPr>
              <a:t>	is  </a:t>
            </a:r>
            <a:r>
              <a:rPr sz="2800" spc="-5" dirty="0">
                <a:latin typeface="Arial"/>
                <a:cs typeface="Arial"/>
              </a:rPr>
              <a:t>known </a:t>
            </a:r>
            <a:r>
              <a:rPr sz="2800" dirty="0">
                <a:latin typeface="Arial"/>
                <a:cs typeface="Arial"/>
              </a:rPr>
              <a:t>as </a:t>
            </a:r>
            <a:r>
              <a:rPr sz="2800" spc="-5" dirty="0">
                <a:latin typeface="Arial"/>
                <a:cs typeface="Arial"/>
              </a:rPr>
              <a:t>multiple</a:t>
            </a:r>
            <a:r>
              <a:rPr sz="2800" spc="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inheritance</a:t>
            </a:r>
            <a:r>
              <a:rPr sz="240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63920" y="3565355"/>
            <a:ext cx="3379551" cy="22532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188" y="344169"/>
            <a:ext cx="85509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600A38"/>
                </a:solidFill>
                <a:latin typeface="Arial"/>
                <a:cs typeface="Arial"/>
              </a:rPr>
              <a:t>Multiple inheritance in Java by interface -</a:t>
            </a:r>
            <a:r>
              <a:rPr sz="2800" spc="185" dirty="0">
                <a:solidFill>
                  <a:srgbClr val="600A38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600A38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939" y="1563065"/>
            <a:ext cx="3871595" cy="15741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105"/>
              </a:spcBef>
            </a:pP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interface</a:t>
            </a:r>
            <a:r>
              <a:rPr sz="2000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1841500">
              <a:lnSpc>
                <a:spcPts val="2160"/>
              </a:lnSpc>
              <a:tabLst>
                <a:tab pos="3736340" algn="l"/>
              </a:tabLst>
            </a:pPr>
            <a:r>
              <a:rPr sz="2000" dirty="0">
                <a:latin typeface="Times New Roman"/>
                <a:cs typeface="Times New Roman"/>
              </a:rPr>
              <a:t>v</a:t>
            </a:r>
            <a:r>
              <a:rPr sz="2000" spc="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id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spc="10" dirty="0">
                <a:latin typeface="Times New Roman"/>
                <a:cs typeface="Times New Roman"/>
              </a:rPr>
              <a:t>od</a:t>
            </a:r>
            <a:r>
              <a:rPr sz="2000" spc="5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();	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interface</a:t>
            </a:r>
            <a:r>
              <a:rPr sz="2000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6FC0"/>
                </a:solidFill>
                <a:latin typeface="Times New Roman"/>
                <a:cs typeface="Times New Roman"/>
              </a:rPr>
              <a:t>B</a:t>
            </a:r>
            <a:r>
              <a:rPr sz="2000" spc="-5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12700" marR="5715" indent="1828800">
              <a:lnSpc>
                <a:spcPct val="109000"/>
              </a:lnSpc>
              <a:spcBef>
                <a:spcPts val="15"/>
              </a:spcBef>
              <a:tabLst>
                <a:tab pos="3735070" algn="l"/>
              </a:tabLst>
            </a:pPr>
            <a:r>
              <a:rPr sz="2000" dirty="0">
                <a:latin typeface="Times New Roman"/>
                <a:cs typeface="Times New Roman"/>
              </a:rPr>
              <a:t>v</a:t>
            </a:r>
            <a:r>
              <a:rPr sz="2000" spc="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id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spc="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10" dirty="0">
                <a:latin typeface="Times New Roman"/>
                <a:cs typeface="Times New Roman"/>
              </a:rPr>
              <a:t>2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5" dirty="0">
                <a:latin typeface="Times New Roman"/>
                <a:cs typeface="Times New Roman"/>
              </a:rPr>
              <a:t>)</a:t>
            </a:r>
            <a:r>
              <a:rPr sz="2000" dirty="0">
                <a:latin typeface="Times New Roman"/>
                <a:cs typeface="Times New Roman"/>
              </a:rPr>
              <a:t>;	}  </a:t>
            </a:r>
            <a:r>
              <a:rPr sz="2000" spc="-5" dirty="0">
                <a:solidFill>
                  <a:srgbClr val="006FC0"/>
                </a:solidFill>
                <a:latin typeface="Times New Roman"/>
                <a:cs typeface="Times New Roman"/>
              </a:rPr>
              <a:t>class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C </a:t>
            </a:r>
            <a:r>
              <a:rPr sz="2000" spc="-5" dirty="0">
                <a:solidFill>
                  <a:srgbClr val="006FC0"/>
                </a:solidFill>
                <a:latin typeface="Times New Roman"/>
                <a:cs typeface="Times New Roman"/>
              </a:rPr>
              <a:t>implements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A,</a:t>
            </a:r>
            <a:r>
              <a:rPr sz="20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B</a:t>
            </a:r>
            <a:r>
              <a:rPr sz="200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3994" y="3049346"/>
            <a:ext cx="2421255" cy="1062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16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public void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method1(){</a:t>
            </a:r>
            <a:endParaRPr sz="2000">
              <a:latin typeface="Times New Roman"/>
              <a:cs typeface="Times New Roman"/>
            </a:endParaRPr>
          </a:p>
          <a:p>
            <a:pPr marR="435609" algn="ctr">
              <a:lnSpc>
                <a:spcPts val="1920"/>
              </a:lnSpc>
            </a:pPr>
            <a:r>
              <a:rPr sz="200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ts val="1920"/>
              </a:lnSpc>
            </a:pPr>
            <a:r>
              <a:rPr sz="2000" dirty="0">
                <a:latin typeface="Times New Roman"/>
                <a:cs typeface="Times New Roman"/>
              </a:rPr>
              <a:t>public void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method2(){</a:t>
            </a:r>
            <a:endParaRPr sz="2000">
              <a:latin typeface="Times New Roman"/>
              <a:cs typeface="Times New Roman"/>
            </a:endParaRPr>
          </a:p>
          <a:p>
            <a:pPr marR="435609" algn="ctr">
              <a:lnSpc>
                <a:spcPts val="2160"/>
              </a:lnSpc>
            </a:pPr>
            <a:r>
              <a:rPr sz="200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6990" y="3049346"/>
            <a:ext cx="3326765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imes New Roman"/>
                <a:cs typeface="Times New Roman"/>
              </a:rPr>
              <a:t>System.out.println("Method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1");</a:t>
            </a: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000" spc="-5" dirty="0">
                <a:latin typeface="Times New Roman"/>
                <a:cs typeface="Times New Roman"/>
              </a:rPr>
              <a:t>System.out.println("Method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2");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4939" y="4085649"/>
            <a:ext cx="5738495" cy="268986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029335">
              <a:lnSpc>
                <a:spcPct val="100000"/>
              </a:lnSpc>
              <a:spcBef>
                <a:spcPts val="325"/>
              </a:spcBef>
            </a:pPr>
            <a:r>
              <a:rPr sz="200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2000" dirty="0">
                <a:latin typeface="Times New Roman"/>
                <a:cs typeface="Times New Roman"/>
              </a:rPr>
              <a:t>class </a:t>
            </a:r>
            <a:r>
              <a:rPr sz="2000" spc="-5" dirty="0">
                <a:latin typeface="Times New Roman"/>
                <a:cs typeface="Times New Roman"/>
              </a:rPr>
              <a:t>MyClass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1841500" marR="5080">
              <a:lnSpc>
                <a:spcPct val="109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public </a:t>
            </a:r>
            <a:r>
              <a:rPr sz="2000" spc="-5" dirty="0">
                <a:latin typeface="Times New Roman"/>
                <a:cs typeface="Times New Roman"/>
              </a:rPr>
              <a:t>static </a:t>
            </a:r>
            <a:r>
              <a:rPr sz="2000" dirty="0">
                <a:latin typeface="Times New Roman"/>
                <a:cs typeface="Times New Roman"/>
              </a:rPr>
              <a:t>void </a:t>
            </a:r>
            <a:r>
              <a:rPr sz="2000" spc="-5" dirty="0">
                <a:latin typeface="Times New Roman"/>
                <a:cs typeface="Times New Roman"/>
              </a:rPr>
              <a:t>main(String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args[]){  C </a:t>
            </a:r>
            <a:r>
              <a:rPr sz="2000" spc="5" dirty="0">
                <a:latin typeface="Times New Roman"/>
                <a:cs typeface="Times New Roman"/>
              </a:rPr>
              <a:t>obj </a:t>
            </a:r>
            <a:r>
              <a:rPr sz="2000" dirty="0">
                <a:latin typeface="Times New Roman"/>
                <a:cs typeface="Times New Roman"/>
              </a:rPr>
              <a:t>= new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C();</a:t>
            </a:r>
            <a:endParaRPr sz="20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225"/>
              </a:spcBef>
            </a:pPr>
            <a:r>
              <a:rPr sz="2000" spc="-5" dirty="0">
                <a:latin typeface="Times New Roman"/>
                <a:cs typeface="Times New Roman"/>
              </a:rPr>
              <a:t>obj.method1();</a:t>
            </a:r>
            <a:endParaRPr sz="20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219"/>
              </a:spcBef>
            </a:pPr>
            <a:r>
              <a:rPr sz="2000" spc="-5" dirty="0">
                <a:latin typeface="Times New Roman"/>
                <a:cs typeface="Times New Roman"/>
              </a:rPr>
              <a:t>obj.method2();</a:t>
            </a:r>
            <a:endParaRPr sz="20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215"/>
              </a:spcBef>
            </a:pPr>
            <a:r>
              <a:rPr sz="200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457200">
              <a:lnSpc>
                <a:spcPct val="100000"/>
              </a:lnSpc>
              <a:spcBef>
                <a:spcPts val="229"/>
              </a:spcBef>
            </a:pPr>
            <a:r>
              <a:rPr sz="200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1263" y="15951"/>
            <a:ext cx="45942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600A38"/>
                </a:solidFill>
                <a:latin typeface="Arial"/>
                <a:cs typeface="Arial"/>
              </a:rPr>
              <a:t>Default Method in</a:t>
            </a:r>
            <a:r>
              <a:rPr sz="2800" spc="55" dirty="0">
                <a:solidFill>
                  <a:srgbClr val="600A38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600A38"/>
                </a:solidFill>
                <a:latin typeface="Arial"/>
                <a:cs typeface="Arial"/>
              </a:rPr>
              <a:t>Interface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441705"/>
            <a:ext cx="7658100" cy="1497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5190">
              <a:lnSpc>
                <a:spcPct val="100000"/>
              </a:lnSpc>
              <a:spcBef>
                <a:spcPts val="100"/>
              </a:spcBef>
              <a:tabLst>
                <a:tab pos="2409825" algn="l"/>
              </a:tabLst>
            </a:pPr>
            <a:r>
              <a:rPr sz="2000" b="1" dirty="0">
                <a:solidFill>
                  <a:srgbClr val="600A38"/>
                </a:solidFill>
                <a:latin typeface="Arial"/>
                <a:cs typeface="Arial"/>
              </a:rPr>
              <a:t>-	</a:t>
            </a:r>
            <a:r>
              <a:rPr sz="2400" spc="30" dirty="0">
                <a:solidFill>
                  <a:srgbClr val="333333"/>
                </a:solidFill>
                <a:latin typeface="Arial"/>
                <a:cs typeface="Arial"/>
              </a:rPr>
              <a:t>Can </a:t>
            </a:r>
            <a:r>
              <a:rPr sz="2400" spc="75" dirty="0">
                <a:solidFill>
                  <a:srgbClr val="333333"/>
                </a:solidFill>
                <a:latin typeface="Arial"/>
                <a:cs typeface="Arial"/>
              </a:rPr>
              <a:t>have </a:t>
            </a:r>
            <a:r>
              <a:rPr sz="2400" spc="110" dirty="0">
                <a:solidFill>
                  <a:srgbClr val="333333"/>
                </a:solidFill>
                <a:latin typeface="Arial"/>
                <a:cs typeface="Arial"/>
              </a:rPr>
              <a:t>method </a:t>
            </a:r>
            <a:r>
              <a:rPr sz="2400" spc="130" dirty="0">
                <a:solidFill>
                  <a:srgbClr val="333333"/>
                </a:solidFill>
                <a:latin typeface="Arial"/>
                <a:cs typeface="Arial"/>
              </a:rPr>
              <a:t>body </a:t>
            </a:r>
            <a:r>
              <a:rPr sz="2400" spc="50" dirty="0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sz="2400" spc="-3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spc="80" dirty="0">
                <a:solidFill>
                  <a:srgbClr val="333333"/>
                </a:solidFill>
                <a:latin typeface="Arial"/>
                <a:cs typeface="Arial"/>
              </a:rPr>
              <a:t>interface.</a:t>
            </a:r>
            <a:endParaRPr sz="2400">
              <a:latin typeface="Arial"/>
              <a:cs typeface="Arial"/>
            </a:endParaRPr>
          </a:p>
          <a:p>
            <a:pPr marL="2071370">
              <a:lnSpc>
                <a:spcPct val="100000"/>
              </a:lnSpc>
              <a:tabLst>
                <a:tab pos="2382520" algn="l"/>
              </a:tabLst>
            </a:pPr>
            <a:r>
              <a:rPr sz="2400" spc="305" dirty="0">
                <a:solidFill>
                  <a:srgbClr val="333333"/>
                </a:solidFill>
                <a:latin typeface="Arial"/>
                <a:cs typeface="Arial"/>
              </a:rPr>
              <a:t>-	</a:t>
            </a:r>
            <a:r>
              <a:rPr sz="2400" spc="75" dirty="0">
                <a:solidFill>
                  <a:srgbClr val="333333"/>
                </a:solidFill>
                <a:latin typeface="Arial"/>
                <a:cs typeface="Arial"/>
              </a:rPr>
              <a:t>But </a:t>
            </a:r>
            <a:r>
              <a:rPr sz="2400" spc="80" dirty="0">
                <a:solidFill>
                  <a:srgbClr val="333333"/>
                </a:solidFill>
                <a:latin typeface="Arial"/>
                <a:cs typeface="Arial"/>
              </a:rPr>
              <a:t>need </a:t>
            </a:r>
            <a:r>
              <a:rPr sz="2400" spc="150" dirty="0">
                <a:solidFill>
                  <a:srgbClr val="333333"/>
                </a:solidFill>
                <a:latin typeface="Arial"/>
                <a:cs typeface="Arial"/>
              </a:rPr>
              <a:t>to </a:t>
            </a:r>
            <a:r>
              <a:rPr sz="2400" spc="60" dirty="0">
                <a:solidFill>
                  <a:srgbClr val="333333"/>
                </a:solidFill>
                <a:latin typeface="Arial"/>
                <a:cs typeface="Arial"/>
              </a:rPr>
              <a:t>make </a:t>
            </a:r>
            <a:r>
              <a:rPr sz="2400" spc="75" dirty="0">
                <a:solidFill>
                  <a:srgbClr val="333333"/>
                </a:solidFill>
                <a:latin typeface="Arial"/>
                <a:cs typeface="Arial"/>
              </a:rPr>
              <a:t>it, </a:t>
            </a:r>
            <a:r>
              <a:rPr sz="2400" spc="100" dirty="0">
                <a:solidFill>
                  <a:srgbClr val="333333"/>
                </a:solidFill>
                <a:latin typeface="Arial"/>
                <a:cs typeface="Arial"/>
              </a:rPr>
              <a:t>default</a:t>
            </a:r>
            <a:r>
              <a:rPr sz="2400" spc="-3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spc="90" dirty="0">
                <a:solidFill>
                  <a:srgbClr val="333333"/>
                </a:solidFill>
                <a:latin typeface="Arial"/>
                <a:cs typeface="Arial"/>
              </a:rPr>
              <a:t>method.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interface A</a:t>
            </a:r>
            <a:r>
              <a:rPr sz="2200" spc="-5" dirty="0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5101" y="1846833"/>
            <a:ext cx="2796540" cy="897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75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void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method1();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115"/>
              </a:lnSpc>
            </a:pP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default </a:t>
            </a:r>
            <a:r>
              <a:rPr sz="2200" dirty="0">
                <a:latin typeface="Times New Roman"/>
                <a:cs typeface="Times New Roman"/>
              </a:rPr>
              <a:t>void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method2(){</a:t>
            </a:r>
            <a:endParaRPr sz="2200">
              <a:latin typeface="Times New Roman"/>
              <a:cs typeface="Times New Roman"/>
            </a:endParaRPr>
          </a:p>
          <a:p>
            <a:pPr marL="367665">
              <a:lnSpc>
                <a:spcPts val="2375"/>
              </a:lnSpc>
            </a:pPr>
            <a:r>
              <a:rPr sz="2200" spc="-5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59833" y="2114753"/>
            <a:ext cx="36614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System.out.println("Method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2");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1140" y="2716809"/>
            <a:ext cx="3572510" cy="190373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280"/>
              </a:spcBef>
            </a:pPr>
            <a:r>
              <a:rPr sz="2200" spc="-5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375"/>
              </a:lnSpc>
              <a:spcBef>
                <a:spcPts val="180"/>
              </a:spcBef>
            </a:pP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class C 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implements</a:t>
            </a:r>
            <a:r>
              <a:rPr sz="2200" spc="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200" spc="-5" dirty="0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927100">
              <a:lnSpc>
                <a:spcPts val="2110"/>
              </a:lnSpc>
            </a:pPr>
            <a:r>
              <a:rPr sz="2200" spc="-5" dirty="0">
                <a:latin typeface="Times New Roman"/>
                <a:cs typeface="Times New Roman"/>
              </a:rPr>
              <a:t>public void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method1(){</a:t>
            </a:r>
            <a:endParaRPr sz="2200">
              <a:latin typeface="Times New Roman"/>
              <a:cs typeface="Times New Roman"/>
            </a:endParaRPr>
          </a:p>
          <a:p>
            <a:pPr marL="1841500">
              <a:lnSpc>
                <a:spcPts val="2115"/>
              </a:lnSpc>
            </a:pPr>
            <a:r>
              <a:rPr sz="2200" spc="-5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927100">
              <a:lnSpc>
                <a:spcPts val="2375"/>
              </a:lnSpc>
            </a:pPr>
            <a:r>
              <a:rPr sz="2200" spc="-5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2200" spc="-5" dirty="0">
                <a:latin typeface="Times New Roman"/>
                <a:cs typeface="Times New Roman"/>
              </a:rPr>
              <a:t>class </a:t>
            </a:r>
            <a:r>
              <a:rPr sz="2200" dirty="0">
                <a:latin typeface="Times New Roman"/>
                <a:cs typeface="Times New Roman"/>
              </a:rPr>
              <a:t>MyClass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58539" y="3366642"/>
            <a:ext cx="36639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System.out.println("Method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1");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0344" y="4593437"/>
            <a:ext cx="5638800" cy="217043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352550">
              <a:lnSpc>
                <a:spcPct val="100000"/>
              </a:lnSpc>
              <a:spcBef>
                <a:spcPts val="275"/>
              </a:spcBef>
            </a:pPr>
            <a:r>
              <a:rPr sz="2200" spc="-5" dirty="0">
                <a:latin typeface="Times New Roman"/>
                <a:cs typeface="Times New Roman"/>
              </a:rPr>
              <a:t>public static void main(String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args[]){</a:t>
            </a:r>
            <a:endParaRPr sz="2200">
              <a:latin typeface="Times New Roman"/>
              <a:cs typeface="Times New Roman"/>
            </a:endParaRPr>
          </a:p>
          <a:p>
            <a:pPr marL="1352550" marR="2366645">
              <a:lnSpc>
                <a:spcPct val="106400"/>
              </a:lnSpc>
              <a:spcBef>
                <a:spcPts val="15"/>
              </a:spcBef>
            </a:pPr>
            <a:r>
              <a:rPr sz="2200" spc="-5" dirty="0">
                <a:latin typeface="Times New Roman"/>
                <a:cs typeface="Times New Roman"/>
              </a:rPr>
              <a:t>A obj = </a:t>
            </a:r>
            <a:r>
              <a:rPr sz="2200" dirty="0">
                <a:latin typeface="Times New Roman"/>
                <a:cs typeface="Times New Roman"/>
              </a:rPr>
              <a:t>new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C();  obj.method1();  obj.method2();</a:t>
            </a:r>
            <a:endParaRPr sz="2200">
              <a:latin typeface="Times New Roman"/>
              <a:cs typeface="Times New Roman"/>
            </a:endParaRPr>
          </a:p>
          <a:p>
            <a:pPr marL="438150">
              <a:lnSpc>
                <a:spcPct val="100000"/>
              </a:lnSpc>
              <a:spcBef>
                <a:spcPts val="180"/>
              </a:spcBef>
            </a:pPr>
            <a:r>
              <a:rPr sz="2200" spc="-5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200" spc="-5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 marR="5080">
              <a:lnSpc>
                <a:spcPts val="3420"/>
              </a:lnSpc>
              <a:spcBef>
                <a:spcPts val="565"/>
              </a:spcBef>
            </a:pPr>
            <a:r>
              <a:rPr sz="2800" spc="-5" dirty="0">
                <a:solidFill>
                  <a:srgbClr val="600A38"/>
                </a:solidFill>
                <a:latin typeface="Arial"/>
                <a:cs typeface="Arial"/>
              </a:rPr>
              <a:t>Static Method in Interface </a:t>
            </a:r>
            <a:r>
              <a:rPr b="0" dirty="0">
                <a:solidFill>
                  <a:srgbClr val="600A38"/>
                </a:solidFill>
                <a:latin typeface="Arial"/>
                <a:cs typeface="Arial"/>
              </a:rPr>
              <a:t>- </a:t>
            </a:r>
            <a:r>
              <a:rPr sz="2800" b="0" spc="160" dirty="0">
                <a:solidFill>
                  <a:srgbClr val="333333"/>
                </a:solidFill>
                <a:latin typeface="Arial"/>
                <a:cs typeface="Arial"/>
              </a:rPr>
              <a:t>we </a:t>
            </a:r>
            <a:r>
              <a:rPr sz="2800" b="0" spc="75" dirty="0">
                <a:solidFill>
                  <a:srgbClr val="333333"/>
                </a:solidFill>
                <a:latin typeface="Arial"/>
                <a:cs typeface="Arial"/>
              </a:rPr>
              <a:t>can </a:t>
            </a:r>
            <a:r>
              <a:rPr sz="2800" b="0" spc="85" dirty="0">
                <a:solidFill>
                  <a:srgbClr val="333333"/>
                </a:solidFill>
                <a:latin typeface="Arial"/>
                <a:cs typeface="Arial"/>
              </a:rPr>
              <a:t>have</a:t>
            </a:r>
            <a:r>
              <a:rPr sz="2800" b="0" spc="-1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800" b="0" spc="125" dirty="0">
                <a:solidFill>
                  <a:srgbClr val="333333"/>
                </a:solidFill>
                <a:latin typeface="Arial"/>
                <a:cs typeface="Arial"/>
              </a:rPr>
              <a:t>static  </a:t>
            </a:r>
            <a:r>
              <a:rPr sz="2800" b="0" spc="130" dirty="0">
                <a:solidFill>
                  <a:srgbClr val="333333"/>
                </a:solidFill>
                <a:latin typeface="Arial"/>
                <a:cs typeface="Arial"/>
              </a:rPr>
              <a:t>method </a:t>
            </a:r>
            <a:r>
              <a:rPr sz="2800" b="0" spc="55" dirty="0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sz="2800" b="0" spc="-1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800" b="0" spc="95" dirty="0">
                <a:solidFill>
                  <a:srgbClr val="333333"/>
                </a:solidFill>
                <a:latin typeface="Arial"/>
                <a:cs typeface="Arial"/>
              </a:rPr>
              <a:t>interface.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563065"/>
            <a:ext cx="12820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interface</a:t>
            </a:r>
            <a:r>
              <a:rPr sz="2000" spc="-1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9485" y="1807591"/>
            <a:ext cx="2411095" cy="818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void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method1();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1920"/>
              </a:lnSpc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static void</a:t>
            </a:r>
            <a:r>
              <a:rPr sz="2000" b="1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method2(){</a:t>
            </a:r>
            <a:endParaRPr sz="2000">
              <a:latin typeface="Times New Roman"/>
              <a:cs typeface="Times New Roman"/>
            </a:endParaRPr>
          </a:p>
          <a:p>
            <a:pPr marL="419100">
              <a:lnSpc>
                <a:spcPts val="2160"/>
              </a:lnSpc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66386" y="2051431"/>
            <a:ext cx="3613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System.out.println("Method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2");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340" y="2599494"/>
            <a:ext cx="3335654" cy="175704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325"/>
              </a:spcBef>
            </a:pPr>
            <a:r>
              <a:rPr sz="200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160"/>
              </a:lnSpc>
              <a:spcBef>
                <a:spcPts val="225"/>
              </a:spcBef>
            </a:pP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class C </a:t>
            </a:r>
            <a:r>
              <a:rPr sz="2000" spc="-5" dirty="0">
                <a:solidFill>
                  <a:srgbClr val="006FC0"/>
                </a:solidFill>
                <a:latin typeface="Times New Roman"/>
                <a:cs typeface="Times New Roman"/>
              </a:rPr>
              <a:t>implements</a:t>
            </a:r>
            <a:r>
              <a:rPr sz="2000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927100">
              <a:lnSpc>
                <a:spcPts val="1920"/>
              </a:lnSpc>
            </a:pPr>
            <a:r>
              <a:rPr sz="2000" dirty="0">
                <a:latin typeface="Times New Roman"/>
                <a:cs typeface="Times New Roman"/>
              </a:rPr>
              <a:t>public void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method1(){</a:t>
            </a:r>
            <a:endParaRPr sz="2000">
              <a:latin typeface="Times New Roman"/>
              <a:cs typeface="Times New Roman"/>
            </a:endParaRPr>
          </a:p>
          <a:p>
            <a:pPr marL="1841500">
              <a:lnSpc>
                <a:spcPts val="1920"/>
              </a:lnSpc>
            </a:pPr>
            <a:r>
              <a:rPr sz="200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927100">
              <a:lnSpc>
                <a:spcPts val="2160"/>
              </a:lnSpc>
            </a:pPr>
            <a:r>
              <a:rPr sz="200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000" spc="-5" dirty="0">
                <a:latin typeface="Times New Roman"/>
                <a:cs typeface="Times New Roman"/>
              </a:rPr>
              <a:t>class </a:t>
            </a:r>
            <a:r>
              <a:rPr sz="2000" dirty="0">
                <a:latin typeface="Times New Roman"/>
                <a:cs typeface="Times New Roman"/>
              </a:rPr>
              <a:t>MyClass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64990" y="3205352"/>
            <a:ext cx="332612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imes New Roman"/>
                <a:cs typeface="Times New Roman"/>
              </a:rPr>
              <a:t>System.out.println("Method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1");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2348" y="4328491"/>
            <a:ext cx="5293995" cy="2025014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396365">
              <a:lnSpc>
                <a:spcPct val="100000"/>
              </a:lnSpc>
              <a:spcBef>
                <a:spcPts val="330"/>
              </a:spcBef>
            </a:pPr>
            <a:r>
              <a:rPr sz="2000" dirty="0">
                <a:latin typeface="Times New Roman"/>
                <a:cs typeface="Times New Roman"/>
              </a:rPr>
              <a:t>public </a:t>
            </a:r>
            <a:r>
              <a:rPr sz="2000" spc="-5" dirty="0">
                <a:latin typeface="Times New Roman"/>
                <a:cs typeface="Times New Roman"/>
              </a:rPr>
              <a:t>static </a:t>
            </a:r>
            <a:r>
              <a:rPr sz="2000" dirty="0">
                <a:latin typeface="Times New Roman"/>
                <a:cs typeface="Times New Roman"/>
              </a:rPr>
              <a:t>void </a:t>
            </a:r>
            <a:r>
              <a:rPr sz="2000" spc="-5" dirty="0">
                <a:latin typeface="Times New Roman"/>
                <a:cs typeface="Times New Roman"/>
              </a:rPr>
              <a:t>main(String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args[]){</a:t>
            </a:r>
            <a:endParaRPr sz="2000">
              <a:latin typeface="Times New Roman"/>
              <a:cs typeface="Times New Roman"/>
            </a:endParaRPr>
          </a:p>
          <a:p>
            <a:pPr marL="1396365" marR="2147570">
              <a:lnSpc>
                <a:spcPct val="109000"/>
              </a:lnSpc>
              <a:spcBef>
                <a:spcPts val="15"/>
              </a:spcBef>
            </a:pP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5" dirty="0">
                <a:latin typeface="Times New Roman"/>
                <a:cs typeface="Times New Roman"/>
              </a:rPr>
              <a:t>obj </a:t>
            </a:r>
            <a:r>
              <a:rPr sz="2000" dirty="0">
                <a:latin typeface="Times New Roman"/>
                <a:cs typeface="Times New Roman"/>
              </a:rPr>
              <a:t>= new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C();  </a:t>
            </a:r>
            <a:r>
              <a:rPr sz="2000" spc="-5" dirty="0">
                <a:latin typeface="Times New Roman"/>
                <a:cs typeface="Times New Roman"/>
              </a:rPr>
              <a:t>obj.method1(); 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A.method2();</a:t>
            </a:r>
            <a:endParaRPr sz="2000">
              <a:latin typeface="Times New Roman"/>
              <a:cs typeface="Times New Roman"/>
            </a:endParaRPr>
          </a:p>
          <a:p>
            <a:pPr marL="481965">
              <a:lnSpc>
                <a:spcPct val="100000"/>
              </a:lnSpc>
              <a:spcBef>
                <a:spcPts val="229"/>
              </a:spcBef>
            </a:pPr>
            <a:r>
              <a:rPr sz="200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00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80160"/>
            <a:ext cx="331470" cy="228600"/>
          </a:xfrm>
          <a:custGeom>
            <a:avLst/>
            <a:gdLst/>
            <a:ahLst/>
            <a:cxnLst/>
            <a:rect l="l" t="t" r="r" b="b"/>
            <a:pathLst>
              <a:path w="331470" h="228600">
                <a:moveTo>
                  <a:pt x="0" y="228600"/>
                </a:moveTo>
                <a:lnTo>
                  <a:pt x="330898" y="228600"/>
                </a:lnTo>
                <a:lnTo>
                  <a:pt x="33089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047733" y="1280160"/>
            <a:ext cx="96520" cy="228600"/>
          </a:xfrm>
          <a:custGeom>
            <a:avLst/>
            <a:gdLst/>
            <a:ahLst/>
            <a:cxnLst/>
            <a:rect l="l" t="t" r="r" b="b"/>
            <a:pathLst>
              <a:path w="96520" h="228600">
                <a:moveTo>
                  <a:pt x="0" y="228600"/>
                </a:moveTo>
                <a:lnTo>
                  <a:pt x="96265" y="228600"/>
                </a:lnTo>
                <a:lnTo>
                  <a:pt x="9626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91387" y="389890"/>
            <a:ext cx="78543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Times New Roman"/>
                <a:cs typeface="Times New Roman"/>
              </a:rPr>
              <a:t>Differences Between </a:t>
            </a:r>
            <a:r>
              <a:rPr sz="4000" b="0" spc="-5" dirty="0">
                <a:latin typeface="Times New Roman"/>
                <a:cs typeface="Times New Roman"/>
              </a:rPr>
              <a:t>– Class and</a:t>
            </a:r>
            <a:r>
              <a:rPr sz="4000" b="0" spc="190" dirty="0">
                <a:latin typeface="Times New Roman"/>
                <a:cs typeface="Times New Roman"/>
              </a:rPr>
              <a:t> </a:t>
            </a:r>
            <a:r>
              <a:rPr sz="4000" b="0" dirty="0">
                <a:latin typeface="Times New Roman"/>
                <a:cs typeface="Times New Roman"/>
              </a:rPr>
              <a:t>Interface</a:t>
            </a:r>
            <a:endParaRPr sz="40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974378"/>
              </p:ext>
            </p:extLst>
          </p:nvPr>
        </p:nvGraphicFramePr>
        <p:xfrm>
          <a:off x="165735" y="1024890"/>
          <a:ext cx="8830944" cy="5441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45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5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340">
                <a:tc>
                  <a:txBody>
                    <a:bodyPr/>
                    <a:lstStyle/>
                    <a:p>
                      <a:pPr marL="59690" algn="ctr">
                        <a:lnSpc>
                          <a:spcPts val="1989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Class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ts val="1989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Interface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1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The keyword used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create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class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1400" b="1" spc="-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“</a:t>
                      </a:r>
                      <a:r>
                        <a:rPr sz="1400" b="1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class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”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keyword used to create an interface</a:t>
                      </a:r>
                      <a:r>
                        <a:rPr sz="1400" b="1" spc="-1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is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7874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“</a:t>
                      </a:r>
                      <a:r>
                        <a:rPr sz="1400" b="1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interface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”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74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1354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 class can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be instantiated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i.e, </a:t>
                      </a:r>
                      <a:r>
                        <a:rPr sz="1400" b="1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objects of </a:t>
                      </a:r>
                      <a:r>
                        <a:rPr sz="1400" b="1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400" b="1" spc="-17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class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can </a:t>
                      </a:r>
                      <a:r>
                        <a:rPr sz="1400" b="1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be</a:t>
                      </a:r>
                      <a:r>
                        <a:rPr sz="1400" b="1" spc="-4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created.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6045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An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Interface cannot be instantiated i.e,</a:t>
                      </a:r>
                      <a:r>
                        <a:rPr sz="1400" b="1" spc="-1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objects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78740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cannot be</a:t>
                      </a:r>
                      <a:r>
                        <a:rPr sz="1400" b="1" spc="-40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created.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604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154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Classes </a:t>
                      </a:r>
                      <a:r>
                        <a:rPr sz="1400" b="1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does not support multiple</a:t>
                      </a:r>
                      <a:r>
                        <a:rPr sz="1400" b="1" spc="-12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inheritance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29539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Interface </a:t>
                      </a:r>
                      <a:r>
                        <a:rPr sz="1400" b="1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supports multiple</a:t>
                      </a:r>
                      <a:r>
                        <a:rPr sz="1400" b="1" spc="-12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inheritance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29539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32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It can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be </a:t>
                      </a:r>
                      <a:r>
                        <a:rPr sz="1400" b="1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inherit another</a:t>
                      </a:r>
                      <a:r>
                        <a:rPr sz="1400" b="1" spc="-10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class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110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It </a:t>
                      </a:r>
                      <a:r>
                        <a:rPr sz="1400" b="1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cannot inherit </a:t>
                      </a:r>
                      <a:r>
                        <a:rPr sz="1400" b="1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400" b="1" spc="-8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class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11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84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50" dirty="0">
                        <a:latin typeface="Times New Roman"/>
                        <a:cs typeface="Times New Roman"/>
                      </a:endParaRPr>
                    </a:p>
                    <a:p>
                      <a:pPr marL="127000" marR="41402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It can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be inherited by another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class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using</a:t>
                      </a:r>
                      <a:r>
                        <a:rPr sz="1400" b="1" spc="-1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the  keyword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‘</a:t>
                      </a:r>
                      <a:r>
                        <a:rPr sz="1400" b="1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extends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’.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78740" marR="11938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It can be inherited by a class by using the</a:t>
                      </a:r>
                      <a:r>
                        <a:rPr sz="1400" b="1" spc="-2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keyword 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‘</a:t>
                      </a:r>
                      <a:r>
                        <a:rPr sz="1400" b="1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implements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’ and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it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can be inherited by</a:t>
                      </a:r>
                      <a:r>
                        <a:rPr sz="1400" b="1" spc="-1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an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7874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interface using the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keyword</a:t>
                      </a:r>
                      <a:r>
                        <a:rPr sz="1400" b="1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‘</a:t>
                      </a:r>
                      <a:r>
                        <a:rPr sz="1400" b="1" spc="-10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extends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’.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461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434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It can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contain</a:t>
                      </a:r>
                      <a:r>
                        <a:rPr sz="1400" b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constructors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4615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It </a:t>
                      </a:r>
                      <a:r>
                        <a:rPr sz="1400" b="1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cannot contain</a:t>
                      </a:r>
                      <a:r>
                        <a:rPr sz="1400" b="1" spc="-80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constructors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461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446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It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cannot contain </a:t>
                      </a:r>
                      <a:r>
                        <a:rPr sz="1400" b="1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abstract</a:t>
                      </a:r>
                      <a:r>
                        <a:rPr sz="1400" b="1" spc="-110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methods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7790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It contains </a:t>
                      </a:r>
                      <a:r>
                        <a:rPr sz="1400" b="1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abstract </a:t>
                      </a:r>
                      <a:r>
                        <a:rPr sz="1400" b="1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methods</a:t>
                      </a:r>
                      <a:r>
                        <a:rPr sz="1400" b="1" spc="-12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5" dirty="0">
                          <a:latin typeface="Arial"/>
                          <a:cs typeface="Arial"/>
                        </a:rPr>
                        <a:t>only.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779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48443">
                <a:tc>
                  <a:txBody>
                    <a:bodyPr/>
                    <a:lstStyle/>
                    <a:p>
                      <a:pPr marL="127000" marR="55499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Variables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and methods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in a class can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be 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declared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using any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access</a:t>
                      </a:r>
                      <a:r>
                        <a:rPr sz="1400" b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specifier</a:t>
                      </a:r>
                      <a:r>
                        <a:rPr sz="1400" b="1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(public,  private, default,</a:t>
                      </a:r>
                      <a:r>
                        <a:rPr sz="1400" b="1" spc="-6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protected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46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78740" marR="736600">
                        <a:lnSpc>
                          <a:spcPct val="100000"/>
                        </a:lnSpc>
                      </a:pPr>
                      <a:r>
                        <a:rPr sz="1400" b="1" spc="-15" dirty="0">
                          <a:latin typeface="Arial"/>
                          <a:cs typeface="Arial"/>
                        </a:rPr>
                        <a:t>All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variables and methods in a interface</a:t>
                      </a:r>
                      <a:r>
                        <a:rPr sz="1400" b="1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are  declared as</a:t>
                      </a:r>
                      <a:r>
                        <a:rPr sz="14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public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491">
                <a:tc>
                  <a:txBody>
                    <a:bodyPr/>
                    <a:lstStyle/>
                    <a:p>
                      <a:pPr marL="127000">
                        <a:lnSpc>
                          <a:spcPts val="1600"/>
                        </a:lnSpc>
                        <a:spcBef>
                          <a:spcPts val="74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Variables in a class can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be </a:t>
                      </a:r>
                      <a:r>
                        <a:rPr sz="1400" b="1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static, </a:t>
                      </a:r>
                      <a:r>
                        <a:rPr sz="1400" b="1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final or</a:t>
                      </a:r>
                      <a:r>
                        <a:rPr sz="1400" b="1" spc="-22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neither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4615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600"/>
                        </a:lnSpc>
                        <a:spcBef>
                          <a:spcPts val="745"/>
                        </a:spcBef>
                      </a:pPr>
                      <a:r>
                        <a:rPr sz="1400" b="1" spc="-15" dirty="0">
                          <a:latin typeface="Arial"/>
                          <a:cs typeface="Arial"/>
                        </a:rPr>
                        <a:t>All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variables are </a:t>
                      </a:r>
                      <a:r>
                        <a:rPr sz="1400" b="1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static </a:t>
                      </a:r>
                      <a:r>
                        <a:rPr sz="1400" b="1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400" b="1" spc="-90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final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.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4615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</TotalTime>
  <Words>1460</Words>
  <Application>Microsoft Office PowerPoint</Application>
  <PresentationFormat>On-screen Show (4:3)</PresentationFormat>
  <Paragraphs>296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Courier New</vt:lpstr>
      <vt:lpstr>DejaVu Sans</vt:lpstr>
      <vt:lpstr>Times New Roman</vt:lpstr>
      <vt:lpstr>Verdana</vt:lpstr>
      <vt:lpstr>Wingdings</vt:lpstr>
      <vt:lpstr>Office Theme</vt:lpstr>
      <vt:lpstr>PowerPoint Presentation</vt:lpstr>
      <vt:lpstr>Syllabus</vt:lpstr>
      <vt:lpstr>Packages</vt:lpstr>
      <vt:lpstr>PowerPoint Presentation</vt:lpstr>
      <vt:lpstr>PowerPoint Presentation</vt:lpstr>
      <vt:lpstr>Defining a Package</vt:lpstr>
      <vt:lpstr>Example</vt:lpstr>
      <vt:lpstr>How to access package from another  package?</vt:lpstr>
      <vt:lpstr>1) Using packagename.*</vt:lpstr>
      <vt:lpstr>Example</vt:lpstr>
      <vt:lpstr>2) PackageName.ClassName : only named class  of this package will be accessible.</vt:lpstr>
      <vt:lpstr>3) Using fully qualified name</vt:lpstr>
      <vt:lpstr>Example</vt:lpstr>
      <vt:lpstr>Access Protection</vt:lpstr>
      <vt:lpstr>Access Protection</vt:lpstr>
      <vt:lpstr>Access Protection</vt:lpstr>
      <vt:lpstr>concrete method and concrete classes</vt:lpstr>
      <vt:lpstr>Abstract method and abstract class</vt:lpstr>
      <vt:lpstr>Note on abstract class:</vt:lpstr>
      <vt:lpstr>Interfaces</vt:lpstr>
      <vt:lpstr>Defining an Interface</vt:lpstr>
      <vt:lpstr>Interface…</vt:lpstr>
      <vt:lpstr>Interface…</vt:lpstr>
      <vt:lpstr>Example</vt:lpstr>
      <vt:lpstr>Extending Interfaces</vt:lpstr>
      <vt:lpstr>Example</vt:lpstr>
      <vt:lpstr>Example</vt:lpstr>
      <vt:lpstr>Multiple inheritance in Java by interface</vt:lpstr>
      <vt:lpstr>Multiple inheritance in Java by interface - Example</vt:lpstr>
      <vt:lpstr>Default Method in Interface</vt:lpstr>
      <vt:lpstr>Static Method in Interface - we can have static  method in interface.</vt:lpstr>
      <vt:lpstr>Differences Between – Class and Interface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PROGRAMMING  UNIT - V</dc:title>
  <dc:creator>Dr Yogish</dc:creator>
  <cp:lastModifiedBy>Admin</cp:lastModifiedBy>
  <cp:revision>13</cp:revision>
  <dcterms:created xsi:type="dcterms:W3CDTF">2023-08-29T07:31:34Z</dcterms:created>
  <dcterms:modified xsi:type="dcterms:W3CDTF">2023-09-01T05:52:40Z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2023-03-11T00:00:00Z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2023-08-29T00:00:00Z</vt:filetime>
  </property>
</Properties>
</file>