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144000"/>
  <p:notesSz cx="6662725" cy="9906000"/>
  <p:embeddedFontLst>
    <p:embeddedFont>
      <p:font typeface="Tahoma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30" roundtripDataSignature="AMtx7mifWe6OorvhjP4/HQfJ2rAwssTy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Tahoma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Tahom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88766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775075" y="0"/>
            <a:ext cx="288766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857250" y="744537"/>
            <a:ext cx="4948237" cy="3711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889000" y="4705350"/>
            <a:ext cx="4884737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10700"/>
            <a:ext cx="2887662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775075" y="9410700"/>
            <a:ext cx="2887662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/>
        </p:nvSpPr>
        <p:spPr>
          <a:xfrm>
            <a:off x="3775075" y="9410700"/>
            <a:ext cx="2887662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857250" y="744537"/>
            <a:ext cx="4948237" cy="3711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1:notes"/>
          <p:cNvSpPr txBox="1"/>
          <p:nvPr>
            <p:ph idx="1" type="body"/>
          </p:nvPr>
        </p:nvSpPr>
        <p:spPr>
          <a:xfrm>
            <a:off x="889000" y="4705350"/>
            <a:ext cx="4884737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889000" y="4705350"/>
            <a:ext cx="4884737" cy="44577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857250" y="744537"/>
            <a:ext cx="4948237" cy="3711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889000" y="4705350"/>
            <a:ext cx="4884737" cy="44577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857250" y="744537"/>
            <a:ext cx="4948237" cy="3711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889000" y="4705350"/>
            <a:ext cx="4884737" cy="44577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857250" y="744537"/>
            <a:ext cx="4948237" cy="3711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/>
        </p:nvSpPr>
        <p:spPr>
          <a:xfrm>
            <a:off x="3775075" y="9410700"/>
            <a:ext cx="2887662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857250" y="744537"/>
            <a:ext cx="4948237" cy="3711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889000" y="4705350"/>
            <a:ext cx="4884737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857250" y="744537"/>
            <a:ext cx="4948237" cy="3711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889000" y="4705350"/>
            <a:ext cx="4884737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889000" y="4705350"/>
            <a:ext cx="4884737" cy="44577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857250" y="744537"/>
            <a:ext cx="4948237" cy="3711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889000" y="4705350"/>
            <a:ext cx="4884737" cy="44577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857250" y="744537"/>
            <a:ext cx="4948237" cy="3711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889000" y="4705350"/>
            <a:ext cx="4884737" cy="44577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857250" y="744537"/>
            <a:ext cx="4948237" cy="3711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889000" y="4705350"/>
            <a:ext cx="4884737" cy="44577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857250" y="744537"/>
            <a:ext cx="4948237" cy="3711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889000" y="4705350"/>
            <a:ext cx="4884737" cy="44577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857250" y="744537"/>
            <a:ext cx="4948237" cy="3711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 txBox="1"/>
          <p:nvPr>
            <p:ph idx="1" type="body"/>
          </p:nvPr>
        </p:nvSpPr>
        <p:spPr>
          <a:xfrm>
            <a:off x="889000" y="4705350"/>
            <a:ext cx="4884737" cy="44577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2:notes"/>
          <p:cNvSpPr/>
          <p:nvPr>
            <p:ph idx="2" type="sldImg"/>
          </p:nvPr>
        </p:nvSpPr>
        <p:spPr>
          <a:xfrm>
            <a:off x="857250" y="744537"/>
            <a:ext cx="4948237" cy="3711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 txBox="1"/>
          <p:nvPr>
            <p:ph idx="1" type="body"/>
          </p:nvPr>
        </p:nvSpPr>
        <p:spPr>
          <a:xfrm>
            <a:off x="889000" y="4705350"/>
            <a:ext cx="4884737" cy="44577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:notes"/>
          <p:cNvSpPr/>
          <p:nvPr>
            <p:ph idx="2" type="sldImg"/>
          </p:nvPr>
        </p:nvSpPr>
        <p:spPr>
          <a:xfrm>
            <a:off x="857250" y="744537"/>
            <a:ext cx="4948237" cy="3711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/>
          <p:nvPr/>
        </p:nvSpPr>
        <p:spPr>
          <a:xfrm>
            <a:off x="3775075" y="9410700"/>
            <a:ext cx="2887662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857250" y="744537"/>
            <a:ext cx="4948237" cy="3711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889000" y="4705350"/>
            <a:ext cx="4884737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889000" y="4705350"/>
            <a:ext cx="4884737" cy="44577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857250" y="744537"/>
            <a:ext cx="4948237" cy="3711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 txBox="1"/>
          <p:nvPr/>
        </p:nvSpPr>
        <p:spPr>
          <a:xfrm>
            <a:off x="3775075" y="9410700"/>
            <a:ext cx="2887662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865187" y="749300"/>
            <a:ext cx="493395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889000" y="4705350"/>
            <a:ext cx="4884737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 txBox="1"/>
          <p:nvPr>
            <p:ph idx="1" type="body"/>
          </p:nvPr>
        </p:nvSpPr>
        <p:spPr>
          <a:xfrm>
            <a:off x="889000" y="4705350"/>
            <a:ext cx="4884737" cy="44577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:notes"/>
          <p:cNvSpPr/>
          <p:nvPr>
            <p:ph idx="2" type="sldImg"/>
          </p:nvPr>
        </p:nvSpPr>
        <p:spPr>
          <a:xfrm>
            <a:off x="857250" y="744537"/>
            <a:ext cx="4948237" cy="3711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:notes"/>
          <p:cNvSpPr txBox="1"/>
          <p:nvPr>
            <p:ph idx="1" type="body"/>
          </p:nvPr>
        </p:nvSpPr>
        <p:spPr>
          <a:xfrm>
            <a:off x="889000" y="4705350"/>
            <a:ext cx="4884737" cy="44577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8:notes"/>
          <p:cNvSpPr/>
          <p:nvPr>
            <p:ph idx="2" type="sldImg"/>
          </p:nvPr>
        </p:nvSpPr>
        <p:spPr>
          <a:xfrm>
            <a:off x="857250" y="744537"/>
            <a:ext cx="4948237" cy="3711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:notes"/>
          <p:cNvSpPr txBox="1"/>
          <p:nvPr>
            <p:ph idx="1" type="body"/>
          </p:nvPr>
        </p:nvSpPr>
        <p:spPr>
          <a:xfrm>
            <a:off x="889000" y="4705350"/>
            <a:ext cx="4884737" cy="44577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:notes"/>
          <p:cNvSpPr/>
          <p:nvPr>
            <p:ph idx="2" type="sldImg"/>
          </p:nvPr>
        </p:nvSpPr>
        <p:spPr>
          <a:xfrm>
            <a:off x="857250" y="744537"/>
            <a:ext cx="4948237" cy="3711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:notes"/>
          <p:cNvSpPr txBox="1"/>
          <p:nvPr>
            <p:ph idx="1" type="body"/>
          </p:nvPr>
        </p:nvSpPr>
        <p:spPr>
          <a:xfrm>
            <a:off x="889000" y="4705350"/>
            <a:ext cx="4884737" cy="44577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:notes"/>
          <p:cNvSpPr/>
          <p:nvPr>
            <p:ph idx="2" type="sldImg"/>
          </p:nvPr>
        </p:nvSpPr>
        <p:spPr>
          <a:xfrm>
            <a:off x="857250" y="744537"/>
            <a:ext cx="4948237" cy="3711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:notes"/>
          <p:cNvSpPr txBox="1"/>
          <p:nvPr>
            <p:ph idx="1" type="body"/>
          </p:nvPr>
        </p:nvSpPr>
        <p:spPr>
          <a:xfrm>
            <a:off x="889000" y="4705350"/>
            <a:ext cx="4884737" cy="44577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1:notes"/>
          <p:cNvSpPr/>
          <p:nvPr>
            <p:ph idx="2" type="sldImg"/>
          </p:nvPr>
        </p:nvSpPr>
        <p:spPr>
          <a:xfrm>
            <a:off x="857250" y="744537"/>
            <a:ext cx="4948237" cy="3711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:notes"/>
          <p:cNvSpPr txBox="1"/>
          <p:nvPr>
            <p:ph idx="1" type="body"/>
          </p:nvPr>
        </p:nvSpPr>
        <p:spPr>
          <a:xfrm>
            <a:off x="889000" y="4705350"/>
            <a:ext cx="4884737" cy="4457700"/>
          </a:xfrm>
          <a:prstGeom prst="rect">
            <a:avLst/>
          </a:prstGeom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2:notes"/>
          <p:cNvSpPr/>
          <p:nvPr>
            <p:ph idx="2" type="sldImg"/>
          </p:nvPr>
        </p:nvSpPr>
        <p:spPr>
          <a:xfrm>
            <a:off x="857250" y="744537"/>
            <a:ext cx="4948237" cy="3711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lip Art" type="txAndClipArt">
  <p:cSld name="TEXT_AND_CLIPAR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8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" type="body"/>
          </p:nvPr>
        </p:nvSpPr>
        <p:spPr>
          <a:xfrm>
            <a:off x="11826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8"/>
          <p:cNvSpPr/>
          <p:nvPr>
            <p:ph idx="2" type="clipArt"/>
          </p:nvPr>
        </p:nvSpPr>
        <p:spPr>
          <a:xfrm>
            <a:off x="5145088" y="2017713"/>
            <a:ext cx="38100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2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" type="body"/>
          </p:nvPr>
        </p:nvSpPr>
        <p:spPr>
          <a:xfrm rot="5400000">
            <a:off x="2396332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3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1" name="Google Shape;61;p3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7" name="Google Shape;67;p32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8" name="Google Shape;68;p3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3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4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79" name="Google Shape;79;p34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1" name="Google Shape;81;p34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5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5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8" name="Google Shape;88;p3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>
            <p:ph type="ctrTitle"/>
          </p:nvPr>
        </p:nvSpPr>
        <p:spPr>
          <a:xfrm>
            <a:off x="914400" y="609600"/>
            <a:ext cx="7772400" cy="1747837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Calibri"/>
              <a:buNone/>
            </a:pPr>
            <a:r>
              <a:rPr b="0" i="0" lang="en-US" sz="43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Communicative English  </a:t>
            </a:r>
            <a:br>
              <a:rPr b="0" i="0" lang="en-US" sz="25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5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Faculty – Dr. Kiran Magavi</a:t>
            </a:r>
            <a:br>
              <a:rPr b="0" i="0" lang="en-US" sz="25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5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Department – Humanities and Social Sciences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1524000" y="2357437"/>
            <a:ext cx="6248400" cy="1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Non Verbal Communication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1150937" y="0"/>
            <a:ext cx="8831262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0" i="0" lang="en-US" sz="4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Nonverbal Communication </a:t>
            </a:r>
            <a:endParaRPr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990600" y="2514600"/>
            <a:ext cx="73914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Is it possible to communicate without words?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1150937" y="152400"/>
            <a:ext cx="779303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0" i="0" lang="en-US" sz="4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Nonverbal Communication </a:t>
            </a:r>
            <a:endParaRPr/>
          </a:p>
        </p:txBody>
      </p:sp>
      <p:sp>
        <p:nvSpPr>
          <p:cNvPr id="109" name="Google Shape;109;p3"/>
          <p:cNvSpPr txBox="1"/>
          <p:nvPr>
            <p:ph idx="1" type="body"/>
          </p:nvPr>
        </p:nvSpPr>
        <p:spPr>
          <a:xfrm>
            <a:off x="609600" y="2133600"/>
            <a:ext cx="77724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Studies show that over half of your message is carried  through nonverbal elements: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Your appearance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Your body language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The tone and 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the pace of your voice.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1066800" y="152400"/>
            <a:ext cx="76962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0" i="0" lang="en-US" sz="4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Nonverbal Communication </a:t>
            </a:r>
            <a:endParaRPr/>
          </a:p>
        </p:txBody>
      </p:sp>
      <p:sp>
        <p:nvSpPr>
          <p:cNvPr id="115" name="Google Shape;115;p4"/>
          <p:cNvSpPr txBox="1"/>
          <p:nvPr>
            <p:ph idx="1" type="body"/>
          </p:nvPr>
        </p:nvSpPr>
        <p:spPr>
          <a:xfrm>
            <a:off x="533400" y="22098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Before someone processes our verbal messages,</a:t>
            </a:r>
            <a:endParaRPr/>
          </a:p>
          <a:p>
            <a:pPr indent="-1778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Taken in our appearance,</a:t>
            </a:r>
            <a:endParaRPr/>
          </a:p>
          <a:p>
            <a:pPr indent="-1778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Registered our enthusiasm and sincerety</a:t>
            </a:r>
            <a:endParaRPr/>
          </a:p>
          <a:p>
            <a:pPr indent="-1778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Noted our tone of voice and processed all into nonverbal message. </a:t>
            </a:r>
            <a:endParaRPr/>
          </a:p>
          <a:p>
            <a:pPr indent="-1778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If this message reinforce the content of verbal one, it means we send a powerful message.</a:t>
            </a:r>
            <a:endParaRPr/>
          </a:p>
          <a:p>
            <a:pPr indent="-1778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If the two messages do not match, they may cancel each other and that means nomessages  delivered.</a:t>
            </a:r>
            <a:endParaRPr/>
          </a:p>
          <a:p>
            <a:pPr indent="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66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762000" y="0"/>
            <a:ext cx="8991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0" i="0" lang="en-US" sz="4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Nonverbal Communication </a:t>
            </a:r>
            <a:endParaRPr/>
          </a:p>
        </p:txBody>
      </p:sp>
      <p:sp>
        <p:nvSpPr>
          <p:cNvPr id="122" name="Google Shape;122;p5"/>
          <p:cNvSpPr txBox="1"/>
          <p:nvPr>
            <p:ph idx="1" type="body"/>
          </p:nvPr>
        </p:nvSpPr>
        <p:spPr>
          <a:xfrm>
            <a:off x="4075112" y="1828800"/>
            <a:ext cx="491648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17780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process of sending and receiving </a:t>
            </a:r>
            <a:r>
              <a:rPr b="0" i="1" lang="en-US" sz="28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wordless  </a:t>
            </a:r>
            <a:r>
              <a:rPr b="0" i="0" lang="en-US" sz="28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messages by means of facial expressions, gaze, gestures, postures, and tones of voice.</a:t>
            </a:r>
            <a:endParaRPr/>
          </a:p>
          <a:p>
            <a:pPr indent="-1778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Nonverbal cues include </a:t>
            </a:r>
            <a:r>
              <a:rPr b="0" i="1" lang="en-US" sz="28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all</a:t>
            </a:r>
            <a:r>
              <a:rPr b="0" i="0" lang="en-US" sz="28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expressive signs, signals and cues ---which are used to send and receive messages</a:t>
            </a:r>
            <a:endParaRPr/>
          </a:p>
          <a:p>
            <a:pPr indent="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66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3429000" y="140493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447800"/>
            <a:ext cx="3594100" cy="542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/>
        </p:nvSpPr>
        <p:spPr>
          <a:xfrm>
            <a:off x="838200" y="228600"/>
            <a:ext cx="8001000" cy="6494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1" i="0" lang="en-US" sz="1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	</a:t>
            </a:r>
            <a:r>
              <a:rPr b="0" i="0" lang="en-US" sz="18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Language is not the only source of communication, there are other means also.  Messages can be communicated through.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>
              <a:solidFill>
                <a:srgbClr val="8497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>
              <a:solidFill>
                <a:srgbClr val="0066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1. Gestures: It includes movement of hands, face or other parts of the body.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>
              <a:solidFill>
                <a:srgbClr val="0066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2. Posture or Body language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>
              <a:solidFill>
                <a:srgbClr val="0066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3. Facial expressions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>
              <a:solidFill>
                <a:srgbClr val="0066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4. Eye contact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>
              <a:solidFill>
                <a:srgbClr val="0066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5. Emblems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>
              <a:solidFill>
                <a:srgbClr val="0066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6. Haptics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>
              <a:solidFill>
                <a:srgbClr val="0066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7. Appearance  &amp;  object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0" i="0" lang="en-US" sz="4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vocal characterizers</a:t>
            </a:r>
            <a:endParaRPr/>
          </a:p>
        </p:txBody>
      </p:sp>
      <p:sp>
        <p:nvSpPr>
          <p:cNvPr id="135" name="Google Shape;135;p7"/>
          <p:cNvSpPr txBox="1"/>
          <p:nvPr>
            <p:ph idx="1" type="body"/>
          </p:nvPr>
        </p:nvSpPr>
        <p:spPr>
          <a:xfrm>
            <a:off x="1447800" y="1981200"/>
            <a:ext cx="70866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Laughing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Sighing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Crying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Belching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Inhaling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Excessive groaning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Whining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Yelling</a:t>
            </a:r>
            <a:endParaRPr/>
          </a:p>
          <a:p>
            <a:pPr indent="-17145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Whispering</a:t>
            </a:r>
            <a:br>
              <a:rPr b="0" i="0" lang="en-US" sz="26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/>
          <p:nvPr>
            <p:ph type="title"/>
          </p:nvPr>
        </p:nvSpPr>
        <p:spPr>
          <a:xfrm>
            <a:off x="7620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4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endParaRPr/>
          </a:p>
        </p:txBody>
      </p:sp>
      <p:sp>
        <p:nvSpPr>
          <p:cNvPr id="141" name="Google Shape;141;p8"/>
          <p:cNvSpPr txBox="1"/>
          <p:nvPr>
            <p:ph idx="1" type="body"/>
          </p:nvPr>
        </p:nvSpPr>
        <p:spPr>
          <a:xfrm>
            <a:off x="685800" y="198120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000"/>
              <a:buFont typeface="Arial"/>
              <a:buChar char="•"/>
            </a:pPr>
            <a:r>
              <a:rPr b="0" i="0" lang="en-US" sz="40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some sounds are not vocal, </a:t>
            </a:r>
            <a:endParaRPr/>
          </a:p>
          <a:p>
            <a:pPr indent="-2540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4000"/>
              <a:buFont typeface="Arial"/>
              <a:buChar char="•"/>
            </a:pPr>
            <a:r>
              <a:rPr b="0" i="0" lang="en-US" sz="40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e.g., snapping one’s fingers, stamping a foot</a:t>
            </a:r>
            <a:endParaRPr/>
          </a:p>
          <a:p>
            <a:pPr indent="-2540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4000"/>
              <a:buFont typeface="Arial"/>
              <a:buChar char="•"/>
            </a:pPr>
            <a:r>
              <a:rPr b="0" i="0" lang="en-US" sz="40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…nv includes vocal and   non vocal   phenomena</a:t>
            </a:r>
            <a:endParaRPr/>
          </a:p>
          <a:p>
            <a:pPr indent="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0" i="0" sz="4000" u="none">
              <a:solidFill>
                <a:srgbClr val="0066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>
            <p:ph type="ctrTitle"/>
          </p:nvPr>
        </p:nvSpPr>
        <p:spPr>
          <a:xfrm>
            <a:off x="990600" y="1905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0" i="0" lang="en-US" sz="4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nonvocal</a:t>
            </a:r>
            <a:endParaRPr/>
          </a:p>
        </p:txBody>
      </p:sp>
      <p:sp>
        <p:nvSpPr>
          <p:cNvPr id="147" name="Google Shape;147;p9"/>
          <p:cNvSpPr txBox="1"/>
          <p:nvPr>
            <p:ph idx="1" type="subTitle"/>
          </p:nvPr>
        </p:nvSpPr>
        <p:spPr>
          <a:xfrm>
            <a:off x="1447800" y="3505200"/>
            <a:ext cx="6934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4000"/>
              <a:buChar char="•"/>
            </a:pPr>
            <a:r>
              <a:rPr b="0" i="0" lang="en-US" sz="40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made with the breath,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4000"/>
              <a:buNone/>
            </a:pPr>
            <a:r>
              <a:rPr b="0" i="0" lang="en-US" sz="40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taking a small bit of air </a:t>
            </a:r>
            <a:endParaRPr/>
          </a:p>
          <a:p>
            <a:pPr indent="-254000" lvl="0" marL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4000"/>
              <a:buChar char="•"/>
            </a:pPr>
            <a:r>
              <a:rPr b="0" i="0" lang="en-US" sz="40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onomatopoetic  words - zzz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/>
          <p:nvPr>
            <p:ph type="title"/>
          </p:nvPr>
        </p:nvSpPr>
        <p:spPr>
          <a:xfrm>
            <a:off x="1066800" y="609600"/>
            <a:ext cx="7391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0" i="0" lang="en-US" sz="4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Body Motion </a:t>
            </a:r>
            <a:br>
              <a:rPr b="0" i="0" lang="en-US" sz="4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(Kinetic Gestures)</a:t>
            </a:r>
            <a:endParaRPr/>
          </a:p>
        </p:txBody>
      </p:sp>
      <p:sp>
        <p:nvSpPr>
          <p:cNvPr id="153" name="Google Shape;153;p10"/>
          <p:cNvSpPr txBox="1"/>
          <p:nvPr>
            <p:ph idx="1" type="body"/>
          </p:nvPr>
        </p:nvSpPr>
        <p:spPr>
          <a:xfrm>
            <a:off x="1981200" y="2438400"/>
            <a:ext cx="55626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Movements of the: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Body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Limbs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feet and legs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facial expressions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eye behavior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posture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0" i="0" lang="en-US" sz="4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Emblems</a:t>
            </a:r>
            <a:endParaRPr/>
          </a:p>
        </p:txBody>
      </p:sp>
      <p:sp>
        <p:nvSpPr>
          <p:cNvPr id="159" name="Google Shape;159;p11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Thumbs up   		        </a:t>
            </a:r>
            <a:r>
              <a:rPr b="1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OK</a:t>
            </a:r>
            <a:endParaRPr/>
          </a:p>
          <a:p>
            <a:pPr indent="-1778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V with fingers   		</a:t>
            </a:r>
            <a:r>
              <a:rPr b="1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victory</a:t>
            </a:r>
            <a:endParaRPr/>
          </a:p>
          <a:p>
            <a:pPr indent="-1778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Finger pointed to temple	</a:t>
            </a:r>
            <a:r>
              <a:rPr b="1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suicide</a:t>
            </a:r>
            <a:endParaRPr/>
          </a:p>
          <a:p>
            <a:pPr indent="-1778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Hand grasping throat	</a:t>
            </a:r>
            <a:r>
              <a:rPr b="1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choke</a:t>
            </a:r>
            <a:endParaRPr/>
          </a:p>
          <a:p>
            <a:pPr indent="-1778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hand to mouth   		</a:t>
            </a:r>
            <a:r>
              <a:rPr b="1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eating</a:t>
            </a:r>
            <a:endParaRPr/>
          </a:p>
          <a:p>
            <a:pPr indent="-1778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tilt head, eyes closed	</a:t>
            </a:r>
            <a:r>
              <a:rPr b="1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         sleeping</a:t>
            </a:r>
            <a:b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 of body associated with emblems</a:t>
            </a:r>
            <a:endParaRPr/>
          </a:p>
        </p:txBody>
      </p:sp>
      <p:sp>
        <p:nvSpPr>
          <p:cNvPr id="165" name="Google Shape;165;p12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3600"/>
              <a:buFont typeface="Arial"/>
              <a:buChar char="•"/>
            </a:pPr>
            <a:r>
              <a:rPr b="0" i="0" lang="en-US" sz="36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Often the   </a:t>
            </a:r>
            <a:r>
              <a:rPr b="1" i="0" lang="en-US" sz="36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hands.</a:t>
            </a:r>
            <a:r>
              <a:rPr b="0" i="0" lang="en-US" sz="36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.. but not exclusively </a:t>
            </a:r>
            <a:endParaRPr/>
          </a:p>
          <a:p>
            <a:pPr indent="-2286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3600"/>
              <a:buFont typeface="Arial"/>
              <a:buChar char="•"/>
            </a:pPr>
            <a:r>
              <a:rPr b="0" i="0" lang="en-US" sz="36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Nose wrinkle 	</a:t>
            </a:r>
            <a:r>
              <a:rPr b="1" i="0" lang="en-US" sz="36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		Disgust</a:t>
            </a:r>
            <a:endParaRPr/>
          </a:p>
          <a:p>
            <a:pPr indent="-2286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3600"/>
              <a:buFont typeface="Arial"/>
              <a:buChar char="•"/>
            </a:pPr>
            <a:r>
              <a:rPr b="0" i="0" lang="en-US" sz="36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Drop of the jaw and exaggerated</a:t>
            </a:r>
            <a:br>
              <a:rPr b="0" i="0" lang="en-US" sz="36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6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raising of the eyebrows</a:t>
            </a:r>
            <a:r>
              <a:rPr b="1" i="0" lang="en-US" sz="36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	  Surprise</a:t>
            </a:r>
            <a:endParaRPr/>
          </a:p>
          <a:p>
            <a:pPr indent="-2286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3600"/>
              <a:buFont typeface="Arial"/>
              <a:buChar char="•"/>
            </a:pPr>
            <a:r>
              <a:rPr b="0" i="0" lang="en-US" sz="36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Upturned palms, shrugged shoulders 	 </a:t>
            </a:r>
            <a:r>
              <a:rPr b="1" i="0" lang="en-US" sz="36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		   Uncertainty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"/>
          <p:cNvSpPr txBox="1"/>
          <p:nvPr>
            <p:ph type="ctrTitle"/>
          </p:nvPr>
        </p:nvSpPr>
        <p:spPr>
          <a:xfrm>
            <a:off x="838200" y="762000"/>
            <a:ext cx="33528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-US" sz="4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Touch </a:t>
            </a:r>
            <a:br>
              <a:rPr b="0" i="0" lang="en-US" sz="4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Behavior</a:t>
            </a:r>
            <a:endParaRPr/>
          </a:p>
        </p:txBody>
      </p:sp>
      <p:sp>
        <p:nvSpPr>
          <p:cNvPr id="171" name="Google Shape;171;p13"/>
          <p:cNvSpPr txBox="1"/>
          <p:nvPr>
            <p:ph idx="1" type="subTitle"/>
          </p:nvPr>
        </p:nvSpPr>
        <p:spPr>
          <a:xfrm>
            <a:off x="990600" y="3429000"/>
            <a:ext cx="2819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3200"/>
              <a:buNone/>
            </a:pPr>
            <a:r>
              <a:rPr b="0" i="0" lang="en-US" sz="32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touching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3200"/>
              <a:buNone/>
            </a:pPr>
            <a:r>
              <a:rPr b="0" i="0" lang="en-US" sz="32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stroking</a:t>
            </a:r>
            <a:br>
              <a:rPr b="0" i="0" lang="en-US" sz="32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2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pushing</a:t>
            </a:r>
            <a:br>
              <a:rPr b="0" i="0" lang="en-US" sz="32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id="172" name="Google Shape;17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6100" y="304800"/>
            <a:ext cx="4787900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3"/>
          <p:cNvSpPr txBox="1"/>
          <p:nvPr/>
        </p:nvSpPr>
        <p:spPr>
          <a:xfrm>
            <a:off x="1143000" y="5638800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guiding another’s motion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 txBox="1"/>
          <p:nvPr>
            <p:ph type="title"/>
          </p:nvPr>
        </p:nvSpPr>
        <p:spPr>
          <a:xfrm>
            <a:off x="1150937" y="152400"/>
            <a:ext cx="7793037" cy="1608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b="0" i="0" lang="en-US" sz="4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Express Ourselves Through….</a:t>
            </a:r>
            <a:endParaRPr/>
          </a:p>
        </p:txBody>
      </p:sp>
      <p:sp>
        <p:nvSpPr>
          <p:cNvPr id="180" name="Google Shape;180;p14"/>
          <p:cNvSpPr txBox="1"/>
          <p:nvPr>
            <p:ph idx="1" type="body"/>
          </p:nvPr>
        </p:nvSpPr>
        <p:spPr>
          <a:xfrm>
            <a:off x="914400" y="22098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Posture</a:t>
            </a: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 Gait, Walk, sitting)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(Position of body)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Gestures</a:t>
            </a: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 Movements of hands , Legs, fingers etc.)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(A Motion of hand, head or body to emphazize an idea or emotion while speaking)</a:t>
            </a:r>
            <a:endParaRPr/>
          </a:p>
          <a:p>
            <a:pPr indent="-2286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3600"/>
              <a:buFont typeface="Arial"/>
              <a:buChar char="•"/>
            </a:pPr>
            <a:r>
              <a:rPr b="0" i="0" lang="en-US" sz="36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Facial Expressions</a:t>
            </a: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(Eyes, eyebrows, lips,chin)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 txBox="1"/>
          <p:nvPr>
            <p:ph type="title"/>
          </p:nvPr>
        </p:nvSpPr>
        <p:spPr>
          <a:xfrm>
            <a:off x="838200" y="168275"/>
            <a:ext cx="8229600" cy="974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mic Sans MS"/>
              <a:buNone/>
            </a:pPr>
            <a:r>
              <a:rPr b="0" i="0" lang="en-US" sz="4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Silent Language </a:t>
            </a:r>
            <a:endParaRPr/>
          </a:p>
        </p:txBody>
      </p:sp>
      <p:sp>
        <p:nvSpPr>
          <p:cNvPr id="186" name="Google Shape;186;p15"/>
          <p:cNvSpPr txBox="1"/>
          <p:nvPr>
            <p:ph idx="1" type="body"/>
          </p:nvPr>
        </p:nvSpPr>
        <p:spPr>
          <a:xfrm>
            <a:off x="685800" y="12954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Our actions  </a:t>
            </a:r>
            <a:endParaRPr/>
          </a:p>
          <a:p>
            <a:pPr indent="-17780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silence </a:t>
            </a:r>
            <a:endParaRPr/>
          </a:p>
          <a:p>
            <a:pPr indent="-17780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expressions in the eyes</a:t>
            </a:r>
            <a:endParaRPr/>
          </a:p>
          <a:p>
            <a:pPr indent="-17780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gestures </a:t>
            </a:r>
            <a:endParaRPr/>
          </a:p>
          <a:p>
            <a:pPr indent="-177800" lvl="0" marL="17145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posture</a:t>
            </a:r>
            <a:endParaRPr/>
          </a:p>
          <a:p>
            <a:pPr indent="-1778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walk </a:t>
            </a:r>
            <a:endParaRPr/>
          </a:p>
          <a:p>
            <a:pPr indent="-1778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Facial expression</a:t>
            </a:r>
            <a:endParaRPr/>
          </a:p>
          <a:p>
            <a:pPr indent="-1778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Vocal cues</a:t>
            </a:r>
            <a:endParaRPr/>
          </a:p>
          <a:p>
            <a:pPr indent="-1778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Touch</a:t>
            </a:r>
            <a:endParaRPr/>
          </a:p>
          <a:p>
            <a:pPr indent="-1778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Appearance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  -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these can communicate without words.</a:t>
            </a:r>
            <a:endParaRPr/>
          </a:p>
          <a:p>
            <a:pPr indent="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/>
          <p:nvPr>
            <p:ph type="title"/>
          </p:nvPr>
        </p:nvSpPr>
        <p:spPr>
          <a:xfrm>
            <a:off x="228600" y="0"/>
            <a:ext cx="8915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mic Sans MS"/>
              <a:buNone/>
            </a:pPr>
            <a:r>
              <a:rPr b="0" i="0" lang="en-US" sz="33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Emotions- Express with Facial</a:t>
            </a:r>
            <a:br>
              <a:rPr b="0" i="0" lang="en-US" sz="33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0" i="0" lang="en-US" sz="33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Expressions</a:t>
            </a: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93" name="Google Shape;193;p16"/>
          <p:cNvSpPr txBox="1"/>
          <p:nvPr>
            <p:ph idx="1" type="body"/>
          </p:nvPr>
        </p:nvSpPr>
        <p:spPr>
          <a:xfrm>
            <a:off x="2895600" y="2133600"/>
            <a:ext cx="3124200" cy="41148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22860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3600"/>
              <a:buFont typeface="Arial"/>
              <a:buChar char="•"/>
            </a:pPr>
            <a:r>
              <a:rPr b="0" i="0" lang="en-US" sz="36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Surprise</a:t>
            </a:r>
            <a:endParaRPr/>
          </a:p>
          <a:p>
            <a:pPr indent="-2286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3600"/>
              <a:buFont typeface="Arial"/>
              <a:buChar char="•"/>
            </a:pPr>
            <a:r>
              <a:rPr b="0" i="0" lang="en-US" sz="36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Fear</a:t>
            </a:r>
            <a:endParaRPr/>
          </a:p>
          <a:p>
            <a:pPr indent="-2286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3600"/>
              <a:buFont typeface="Arial"/>
              <a:buChar char="•"/>
            </a:pPr>
            <a:r>
              <a:rPr b="0" i="0" lang="en-US" sz="36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Disgust</a:t>
            </a:r>
            <a:endParaRPr/>
          </a:p>
          <a:p>
            <a:pPr indent="-2286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3600"/>
              <a:buFont typeface="Arial"/>
              <a:buChar char="•"/>
            </a:pPr>
            <a:r>
              <a:rPr b="0" i="0" lang="en-US" sz="36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Anger</a:t>
            </a:r>
            <a:endParaRPr/>
          </a:p>
          <a:p>
            <a:pPr indent="-2286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3600"/>
              <a:buFont typeface="Arial"/>
              <a:buChar char="•"/>
            </a:pPr>
            <a:r>
              <a:rPr b="0" i="0" lang="en-US" sz="36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Happiness</a:t>
            </a:r>
            <a:endParaRPr/>
          </a:p>
          <a:p>
            <a:pPr indent="-2286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3600"/>
              <a:buFont typeface="Arial"/>
              <a:buChar char="•"/>
            </a:pPr>
            <a:r>
              <a:rPr b="0" i="0" lang="en-US" sz="36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Sadness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 txBox="1"/>
          <p:nvPr>
            <p:ph type="title"/>
          </p:nvPr>
        </p:nvSpPr>
        <p:spPr>
          <a:xfrm>
            <a:off x="1143000" y="533400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ts val="3300"/>
              <a:buFont typeface="Arial"/>
              <a:buNone/>
            </a:pPr>
            <a:r>
              <a:rPr b="1" i="0" lang="en-US" sz="3300" u="none">
                <a:solidFill>
                  <a:srgbClr val="FF66FF"/>
                </a:solidFill>
                <a:latin typeface="Arial"/>
                <a:ea typeface="Arial"/>
                <a:cs typeface="Arial"/>
                <a:sym typeface="Arial"/>
              </a:rPr>
              <a:t>Physical Characteristics</a:t>
            </a:r>
            <a:endParaRPr/>
          </a:p>
        </p:txBody>
      </p:sp>
      <p:sp>
        <p:nvSpPr>
          <p:cNvPr id="199" name="Google Shape;199;p17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Not all nonverbal communication comes through movement and motion </a:t>
            </a:r>
            <a:endParaRPr/>
          </a:p>
          <a:p>
            <a:pPr indent="-2032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Some are </a:t>
            </a:r>
            <a:r>
              <a:rPr b="1" i="0" lang="en-US" sz="3200" u="non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static self presentation characteristics </a:t>
            </a:r>
            <a:endParaRPr/>
          </a:p>
          <a:p>
            <a:pPr indent="-20320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66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body height</a:t>
            </a:r>
            <a:endParaRPr/>
          </a:p>
          <a:p>
            <a:pPr indent="-20320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66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weight</a:t>
            </a:r>
            <a:endParaRPr/>
          </a:p>
          <a:p>
            <a:pPr indent="-20320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66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hair</a:t>
            </a:r>
            <a:endParaRPr/>
          </a:p>
          <a:p>
            <a:pPr indent="-20320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66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skin color</a:t>
            </a:r>
            <a:endParaRPr/>
          </a:p>
          <a:p>
            <a:pPr indent="-20320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66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breath odor</a:t>
            </a:r>
            <a:r>
              <a:rPr b="1" i="0" lang="en-US" sz="32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32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"/>
          <p:cNvSpPr txBox="1"/>
          <p:nvPr>
            <p:ph type="title"/>
          </p:nvPr>
        </p:nvSpPr>
        <p:spPr>
          <a:xfrm>
            <a:off x="914400" y="304800"/>
            <a:ext cx="7391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0" i="0" lang="en-US" sz="4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Impression</a:t>
            </a:r>
            <a:endParaRPr/>
          </a:p>
        </p:txBody>
      </p:sp>
      <p:sp>
        <p:nvSpPr>
          <p:cNvPr id="205" name="Google Shape;205;p18"/>
          <p:cNvSpPr txBox="1"/>
          <p:nvPr>
            <p:ph idx="1" type="body"/>
          </p:nvPr>
        </p:nvSpPr>
        <p:spPr>
          <a:xfrm>
            <a:off x="533400" y="2209800"/>
            <a:ext cx="84582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We know the importance of “first impression”</a:t>
            </a:r>
            <a:endParaRPr/>
          </a:p>
          <a:p>
            <a:pPr indent="-171450" lvl="0" marL="171450" marR="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But first impressions happen everytime when we initiate the communication.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66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Positive first impression make communications much easier and more comfortable.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66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Negative first impressions can cut off a relationship before it gets started.</a:t>
            </a:r>
            <a:endParaRPr/>
          </a:p>
          <a:p>
            <a:pPr indent="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66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0" i="0" lang="en-US" sz="4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Impression</a:t>
            </a:r>
            <a:endParaRPr/>
          </a:p>
        </p:txBody>
      </p:sp>
      <p:sp>
        <p:nvSpPr>
          <p:cNvPr id="211" name="Google Shape;211;p19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100"/>
              <a:buFont typeface="Arial"/>
              <a:buNone/>
            </a:pPr>
            <a:r>
              <a:rPr b="1" i="0" lang="en-US" sz="21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First impression</a:t>
            </a:r>
            <a:r>
              <a:rPr b="0" i="0" lang="en-US" sz="21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 includes: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Dress &amp; grooming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Voice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Handshake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Eye contact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Body posture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Language of Gestures </a:t>
            </a:r>
            <a:endParaRPr/>
          </a:p>
        </p:txBody>
      </p:sp>
      <p:sp>
        <p:nvSpPr>
          <p:cNvPr id="217" name="Google Shape;217;p20"/>
          <p:cNvSpPr txBox="1"/>
          <p:nvPr>
            <p:ph idx="1" type="body"/>
          </p:nvPr>
        </p:nvSpPr>
        <p:spPr>
          <a:xfrm>
            <a:off x="762000" y="2209800"/>
            <a:ext cx="8077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Body language and nonverbal communication are transmitted through the eyes, face, hands, arms, legs and posture (sitting and walking)</a:t>
            </a:r>
            <a:endParaRPr/>
          </a:p>
          <a:p>
            <a:pPr indent="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66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>
            <p:ph type="title"/>
          </p:nvPr>
        </p:nvSpPr>
        <p:spPr>
          <a:xfrm>
            <a:off x="1295400" y="161925"/>
            <a:ext cx="7848600" cy="143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mic Sans MS"/>
              <a:buNone/>
            </a:pPr>
            <a:r>
              <a:rPr b="0" i="0" lang="en-US" sz="40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Words &amp; Phrases That Usually Annoy and Hurt People</a:t>
            </a:r>
            <a:endParaRPr/>
          </a:p>
        </p:txBody>
      </p:sp>
      <p:sp>
        <p:nvSpPr>
          <p:cNvPr id="223" name="Google Shape;223;p21"/>
          <p:cNvSpPr txBox="1"/>
          <p:nvPr>
            <p:ph idx="1" type="body"/>
          </p:nvPr>
        </p:nvSpPr>
        <p:spPr>
          <a:xfrm>
            <a:off x="685800" y="1981200"/>
            <a:ext cx="38100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You should have known better…..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 can see no point in ..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You must realize that..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 find it difficult to believe….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Don’t be stupid..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You can’t do that…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That’s irrelevant...</a:t>
            </a:r>
            <a:endParaRPr/>
          </a:p>
        </p:txBody>
      </p:sp>
      <p:sp>
        <p:nvSpPr>
          <p:cNvPr id="224" name="Google Shape;224;p21"/>
          <p:cNvSpPr txBox="1"/>
          <p:nvPr>
            <p:ph idx="2" type="body"/>
          </p:nvPr>
        </p:nvSpPr>
        <p:spPr>
          <a:xfrm>
            <a:off x="4648200" y="1981200"/>
            <a:ext cx="4495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66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3200"/>
              <a:buFont typeface="Arial"/>
              <a:buChar char="•"/>
            </a:pPr>
            <a:r>
              <a:rPr b="0" i="1" lang="en-US" sz="3200" u="sng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Avoid absolutes unless you mean them.</a:t>
            </a:r>
            <a:endParaRPr/>
          </a:p>
          <a:p>
            <a:pPr indent="-2032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3200"/>
              <a:buFont typeface="Arial"/>
              <a:buChar char="•"/>
            </a:pPr>
            <a:r>
              <a:rPr b="0" i="1" lang="en-US" sz="3200" u="sng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Avoid putting the other person down.</a:t>
            </a:r>
            <a:endParaRPr/>
          </a:p>
          <a:p>
            <a:pPr indent="-2032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3200"/>
              <a:buFont typeface="Arial"/>
              <a:buChar char="•"/>
            </a:pPr>
            <a:r>
              <a:rPr b="0" i="1" lang="en-US" sz="3200" u="sng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Avoid superior sounding judgements.</a:t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4191000" y="2133600"/>
            <a:ext cx="228600" cy="41910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sq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/>
          <p:nvPr>
            <p:ph type="title"/>
          </p:nvPr>
        </p:nvSpPr>
        <p:spPr>
          <a:xfrm>
            <a:off x="304800" y="304800"/>
            <a:ext cx="81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mic Sans MS"/>
              <a:buNone/>
            </a:pPr>
            <a:r>
              <a:rPr b="0" i="0" lang="en-US" sz="33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Saying What We Really Mean</a:t>
            </a:r>
            <a:endParaRPr/>
          </a:p>
        </p:txBody>
      </p:sp>
      <p:sp>
        <p:nvSpPr>
          <p:cNvPr id="231" name="Google Shape;231;p22"/>
          <p:cNvSpPr txBox="1"/>
          <p:nvPr>
            <p:ph idx="1" type="body"/>
          </p:nvPr>
        </p:nvSpPr>
        <p:spPr>
          <a:xfrm>
            <a:off x="914400" y="1828800"/>
            <a:ext cx="4343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400"/>
              <a:buNone/>
            </a:pPr>
            <a:r>
              <a:rPr b="0" i="0" lang="en-US" sz="2400" u="non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en-US" sz="28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price we pay for not saying what we mean -  or saying something we </a:t>
            </a:r>
            <a:r>
              <a:rPr b="0" i="1" lang="en-US" sz="28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didn’t mean </a:t>
            </a:r>
            <a:r>
              <a:rPr b="0" i="0" lang="en-US" sz="28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can cause guilt, anger, loss of self esteem.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6600"/>
              </a:buClr>
              <a:buSzPts val="2800"/>
              <a:buNone/>
            </a:pPr>
            <a:r>
              <a:rPr b="0" i="0" lang="en-US" sz="2800" u="none">
                <a:solidFill>
                  <a:srgbClr val="0066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Accusation, screaming, and aggressiveness can’t prove our point.</a:t>
            </a:r>
            <a:endParaRPr/>
          </a:p>
        </p:txBody>
      </p:sp>
      <p:graphicFrame>
        <p:nvGraphicFramePr>
          <p:cNvPr id="232" name="Google Shape;232;p22"/>
          <p:cNvGraphicFramePr/>
          <p:nvPr/>
        </p:nvGraphicFramePr>
        <p:xfrm>
          <a:off x="5145087" y="2497137"/>
          <a:ext cx="3808412" cy="3155950"/>
        </p:xfrm>
        <a:graphic>
          <a:graphicData uri="http://schemas.openxmlformats.org/presentationml/2006/ole">
            <mc:AlternateContent>
              <mc:Choice Requires="v">
                <p:oleObj r:id="rId4" imgH="3155950" imgW="3808412" progId="MS_ClipArt_Gallery.2" spid="_x0000_s1">
                  <p:embed/>
                </p:oleObj>
              </mc:Choice>
              <mc:Fallback>
                <p:oleObj r:id="rId5" imgH="3155950" imgW="3808412" progId="MS_ClipArt_Gallery.2">
                  <p:embed/>
                  <p:pic>
                    <p:nvPicPr>
                      <p:cNvPr id="232" name="Google Shape;232;p22"/>
                      <p:cNvPicPr preferRelativeResize="0"/>
                      <p:nvPr>
                        <p:ph idx="2" type="clipArt"/>
                      </p:nvPr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145087" y="2497137"/>
                        <a:ext cx="3808412" cy="315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2002-07-24T21:51:27Z</dcterms:created>
  <dc:creator>S.T.</dc:creator>
</cp:coreProperties>
</file>