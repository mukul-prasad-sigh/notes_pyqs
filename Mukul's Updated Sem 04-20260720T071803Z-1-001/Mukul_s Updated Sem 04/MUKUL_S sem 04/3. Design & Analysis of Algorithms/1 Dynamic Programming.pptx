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361" r:id="rId3"/>
    <p:sldId id="432" r:id="rId4"/>
    <p:sldId id="431" r:id="rId5"/>
    <p:sldId id="430" r:id="rId6"/>
    <p:sldId id="407" r:id="rId7"/>
    <p:sldId id="434" r:id="rId8"/>
    <p:sldId id="435" r:id="rId9"/>
    <p:sldId id="436" r:id="rId10"/>
    <p:sldId id="437" r:id="rId11"/>
    <p:sldId id="438" r:id="rId12"/>
    <p:sldId id="439" r:id="rId13"/>
    <p:sldId id="440" r:id="rId14"/>
    <p:sldId id="441" r:id="rId15"/>
    <p:sldId id="442" r:id="rId16"/>
    <p:sldId id="443" r:id="rId17"/>
    <p:sldId id="444" r:id="rId18"/>
    <p:sldId id="445" r:id="rId19"/>
    <p:sldId id="446" r:id="rId20"/>
    <p:sldId id="447" r:id="rId21"/>
    <p:sldId id="448" r:id="rId22"/>
    <p:sldId id="462" r:id="rId23"/>
    <p:sldId id="463" r:id="rId24"/>
    <p:sldId id="464" r:id="rId25"/>
    <p:sldId id="449" r:id="rId26"/>
    <p:sldId id="450" r:id="rId27"/>
    <p:sldId id="451" r:id="rId28"/>
    <p:sldId id="452" r:id="rId29"/>
    <p:sldId id="453" r:id="rId30"/>
    <p:sldId id="454" r:id="rId31"/>
    <p:sldId id="455" r:id="rId32"/>
    <p:sldId id="456" r:id="rId33"/>
    <p:sldId id="457" r:id="rId34"/>
    <p:sldId id="458" r:id="rId35"/>
    <p:sldId id="459" r:id="rId36"/>
    <p:sldId id="460" r:id="rId37"/>
    <p:sldId id="461" r:id="rId38"/>
    <p:sldId id="333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65" d="100"/>
          <a:sy n="65" d="100"/>
        </p:scale>
        <p:origin x="-145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5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921CA-5C4B-431C-BE99-18BEF13F24F9}" type="datetimeFigureOut">
              <a:rPr lang="en-US" smtClean="0"/>
              <a:pPr/>
              <a:t>5/26/2021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F7BF2-B6BF-477F-85EF-DDBE8E0B5F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0938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8722-3643-444F-9399-02583FF72C4B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10A5-C2A5-467A-B61C-D65436A459C0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14284-8376-465E-87CC-CF4EB6DFF5DA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2CB17-606D-4341-B6C4-4DC042F3EF7C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87A0-D517-409F-8813-505C513223FC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EDCBB-48C4-43E5-8BFE-A1574A670DEE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E840-B016-4923-857A-7CDD4FD1B4F9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D19-D949-4C5F-A59A-A17F0E4FE2F4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66DE1-D2A2-40A2-93F5-271E77E12A15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4FCA-10B9-4972-8BDC-6DD873A4936F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3B74-E28E-49B0-A86C-31851AC60701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A7B08-99ED-4BF7-BA4E-B69620950548}" type="datetime1">
              <a:rPr lang="en-US" smtClean="0"/>
              <a:pPr/>
              <a:t>5/26/2021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060575"/>
          </a:xfrm>
        </p:spPr>
        <p:txBody>
          <a:bodyPr>
            <a:normAutofit fontScale="90000"/>
          </a:bodyPr>
          <a:lstStyle/>
          <a:p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DYNAMIC</a:t>
            </a:r>
            <a:br>
              <a:rPr lang="en-US" sz="7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PROGRAMMING</a:t>
            </a:r>
            <a:endParaRPr lang="en-US" sz="7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FIBONACCI SERIES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24200"/>
            <a:ext cx="6526161" cy="762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76774"/>
            <a:ext cx="3943356" cy="65722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8373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Recursive Tree of Fibonacci Series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712740"/>
            <a:ext cx="5102225" cy="364361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91002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DYNAMIC PROGRAMMING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Dynamic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programming is a technique for solving problems with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overlapping sub problems.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Typically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these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sub problems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arise from a recurrence relating a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given problem’s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solution to solutions of its smaller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sub problems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0896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DYNAMIC PROGRAMMING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Rather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than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solving overlapping sub problems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again and again, dynamic programming suggests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solving each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of the smaller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sub problems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only once and recording the results in a table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from which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 solution to the original problem can then be obtained.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5288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WEIGHTED INTERVAL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Problem and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Goal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have n requests labeled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1, . . . , 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with each request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specifying a start time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si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and a finish time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interval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now also has a value, or weight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vi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intervals are compatible if they do not overlap.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8127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WEIGHTED INTERVAL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752600"/>
                <a:ext cx="8763000" cy="4953000"/>
              </a:xfrm>
            </p:spPr>
            <p:txBody>
              <a:bodyPr>
                <a:normAutofit/>
              </a:bodyPr>
              <a:lstStyle/>
              <a:p>
                <a:r>
                  <a:rPr lang="en-US" sz="3600" b="1" dirty="0" smtClean="0">
                    <a:latin typeface="Times New Roman" pitchFamily="18" charset="0"/>
                    <a:cs typeface="Times New Roman" pitchFamily="18" charset="0"/>
                  </a:rPr>
                  <a:t>Problem and Goal</a:t>
                </a:r>
              </a:p>
              <a:p>
                <a:pPr algn="just"/>
                <a:r>
                  <a:rPr lang="en-US" sz="3600" dirty="0" smtClean="0"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US" sz="3600" dirty="0">
                    <a:latin typeface="Times New Roman" pitchFamily="18" charset="0"/>
                    <a:cs typeface="Times New Roman" pitchFamily="18" charset="0"/>
                  </a:rPr>
                  <a:t>goal of our current problem is to select a subset S ⊆ {1, . . . , n} of mutually compatible intervals, so as to maximize the sum of the values of the selected intervals,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3600" b="1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3600" b="1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𝒊</m:t>
                        </m:r>
                        <m:r>
                          <a:rPr lang="en-US" sz="3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∈</m:t>
                        </m:r>
                        <m:r>
                          <a:rPr lang="en-US" sz="3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𝑺</m:t>
                        </m:r>
                      </m:sub>
                      <m:sup/>
                      <m:e>
                        <m:r>
                          <a:rPr lang="en-US" sz="3600" b="1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𝑽𝒊</m:t>
                        </m:r>
                      </m:e>
                    </m:nary>
                  </m:oMath>
                </a14:m>
                <a:endParaRPr lang="en-US" sz="36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752600"/>
                <a:ext cx="8763000" cy="4953000"/>
              </a:xfrm>
              <a:blipFill rotWithShape="0">
                <a:blip r:embed="rId2"/>
                <a:stretch>
                  <a:fillRect l="-1949" t="-2094" r="-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3175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GREEDY DOES NOT WORK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6026"/>
            <a:ext cx="6040226" cy="44103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657600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6976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WEIGHTED INTERVAL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Compute predecessor of a request 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define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p(j)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for an interval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to be the largest index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&lt; j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such that intervals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are disjoint i.e. interval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doesn't overlap with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2668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WEIGHTED INTERVAL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Compute predecessor of a request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702451"/>
            <a:ext cx="6477000" cy="36538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373" y="3037757"/>
            <a:ext cx="979227" cy="29296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8269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WEIGHTED INTERVAL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 fontScale="77500" lnSpcReduction="20000"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Dynamic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Programming A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pproach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700" dirty="0" smtClean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us consider there is an optimal schedule OPT for the given set of requests and their values. </a:t>
            </a:r>
          </a:p>
          <a:p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3700" dirty="0" smtClean="0">
                <a:latin typeface="Times New Roman" pitchFamily="18" charset="0"/>
                <a:cs typeface="Times New Roman" pitchFamily="18" charset="0"/>
              </a:rPr>
              <a:t>“n” 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be the last interval in the given set of requests. </a:t>
            </a:r>
            <a:endParaRPr lang="en-US" sz="37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7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we want to find whether an interval </a:t>
            </a:r>
            <a:r>
              <a:rPr lang="en-US" sz="3700" dirty="0" smtClean="0">
                <a:latin typeface="Times New Roman" pitchFamily="18" charset="0"/>
                <a:cs typeface="Times New Roman" pitchFamily="18" charset="0"/>
              </a:rPr>
              <a:t>“n” </a:t>
            </a:r>
            <a:r>
              <a:rPr lang="en-US" sz="3700" dirty="0">
                <a:latin typeface="Times New Roman" pitchFamily="18" charset="0"/>
                <a:cs typeface="Times New Roman" pitchFamily="18" charset="0"/>
              </a:rPr>
              <a:t>belongs to OPT there are 2 choices left. They are: </a:t>
            </a:r>
          </a:p>
          <a:p>
            <a:pPr marL="1143000" lvl="1" indent="-742950">
              <a:buFont typeface="+mj-lt"/>
              <a:buAutoNum type="arabicPeriod"/>
            </a:pPr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Interval “n” </a:t>
            </a:r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belongs to the OPT. If it belongs then we have to continue for further intervals that are compatible with interval </a:t>
            </a:r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“n” </a:t>
            </a:r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using p(n) calculated for the nth interval. </a:t>
            </a:r>
          </a:p>
          <a:p>
            <a:pPr marL="1143000" lvl="1" indent="-742950">
              <a:buFont typeface="+mj-lt"/>
              <a:buAutoNum type="arabicPeriod"/>
            </a:pPr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it does not belong then, consider the set of intervals from set of </a:t>
            </a:r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 {</a:t>
            </a:r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1,…,n-1}.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3804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WEIGHTED INTERVAL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Dynamic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Programming A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pproach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69324"/>
            <a:ext cx="7729538" cy="37438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6880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WEIGHTED INTERVAL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Dynamic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Programming A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pproach </a:t>
            </a:r>
          </a:p>
          <a:p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recurrence relation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of a request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“j”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 the optimal set of requests can be denoted as OPT(j) given by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53000"/>
            <a:ext cx="7110413" cy="164422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7056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implementing recurrence relation 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Purpose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To find the optimal weights for weighted interval scheduling problem.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1….n requests each having start time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“s”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finish time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“f”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weight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“v”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Optimal weight of the given set of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“n”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intervals.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Sort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intervals according to their finish times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f1 ≤ f2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≤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f3…..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≤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Compute p(1), p(2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)……., p(n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 = 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interval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Compute-Opt (j)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If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j = 0 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Return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Else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Return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max( v[j] + Compute-Opt (p[j]),Compute-Opt (j-1))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9888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WEIGHTED INTERVAL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>
              <a:buNone/>
            </a:pP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048000"/>
            <a:ext cx="7620000" cy="2583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WEIGHTED INTERVAL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Recursive Tree</a:t>
            </a:r>
          </a:p>
          <a:p>
            <a:pPr>
              <a:buNone/>
            </a:pP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971800"/>
            <a:ext cx="7772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2286000"/>
            <a:ext cx="637222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WEIGHTED INTERVAL SCHEDULING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This Takes Exponential Time</a:t>
            </a:r>
          </a:p>
          <a:p>
            <a:pPr>
              <a:buNone/>
            </a:pP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667000"/>
            <a:ext cx="5381625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MEMOIZATION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exponential time of the recursive procedure for weighted interval scheduling can be reduced using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Memoization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technique. 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can store the value of Compute-Opt in a globally accessible place the first time we compute it and then simply use this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precomputed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value in place of all future recursive calls.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This technique of saving values that have already been computed is referred to as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memoization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553200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n-US" sz="4600" b="1" dirty="0" err="1" smtClean="0">
                <a:latin typeface="Times New Roman" pitchFamily="18" charset="0"/>
                <a:cs typeface="Times New Roman" pitchFamily="18" charset="0"/>
              </a:rPr>
              <a:t>Memoization</a:t>
            </a:r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 Algorithm 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//Purpose: To find the optimal weights for weighted interval scheduling problem.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//Input: 1….n requests each having start time “s” and finish time “f” and weight “v” 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//Output: Optimal weight of the given set of “n” intervals.  </a:t>
            </a:r>
          </a:p>
          <a:p>
            <a:pPr algn="just">
              <a:buNone/>
            </a:pP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M-Compute-Opt(j)  </a:t>
            </a:r>
          </a:p>
          <a:p>
            <a:pPr algn="just">
              <a:buNone/>
            </a:pP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If j = 0 then   </a:t>
            </a:r>
          </a:p>
          <a:p>
            <a:pPr algn="just">
              <a:buNone/>
            </a:pP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	Return 0  </a:t>
            </a:r>
          </a:p>
          <a:p>
            <a:pPr algn="just">
              <a:buNone/>
            </a:pP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Else if M[j] is not empty then   </a:t>
            </a:r>
          </a:p>
          <a:p>
            <a:pPr algn="just">
              <a:buNone/>
            </a:pP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	Return M[j]  </a:t>
            </a:r>
          </a:p>
          <a:p>
            <a:pPr algn="just">
              <a:buNone/>
            </a:pP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Else   </a:t>
            </a:r>
          </a:p>
          <a:p>
            <a:pPr algn="just">
              <a:buNone/>
            </a:pP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	Define M[j] = max(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+ M-Compute-Opt(p(j)</a:t>
            </a: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),        				  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M-Compute-Opt(j − 1)</a:t>
            </a: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)   </a:t>
            </a:r>
          </a:p>
          <a:p>
            <a:pPr algn="just">
              <a:buNone/>
            </a:pP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Return M[j]   </a:t>
            </a:r>
          </a:p>
          <a:p>
            <a:pPr algn="just">
              <a:buNone/>
            </a:pPr>
            <a:r>
              <a:rPr lang="en-US" sz="3900" dirty="0" err="1" smtClean="0">
                <a:latin typeface="Times New Roman" pitchFamily="18" charset="0"/>
                <a:cs typeface="Times New Roman" pitchFamily="18" charset="0"/>
              </a:rPr>
              <a:t>Endif</a:t>
            </a:r>
            <a:endParaRPr lang="en-US" sz="39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MEMOIZATION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3048000"/>
            <a:ext cx="8077200" cy="181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MEMOIZATION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667000"/>
            <a:ext cx="6920312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752600"/>
            <a:ext cx="815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MEMOIZATION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Apply the Memoization algorithm for the following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048000"/>
            <a:ext cx="7620000" cy="331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MEMOIZATION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Solution: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1. Sort the Intervals according to the finish time. (f1 &lt; f2 &lt; f3 . . .&lt; f6)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2. Compute Predecessors.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3. Draw Recursive Call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3962400"/>
            <a:ext cx="6858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MEMOIZATION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42" y="3048000"/>
            <a:ext cx="9046658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90600" y="1371600"/>
          <a:ext cx="7010402" cy="104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486"/>
                <a:gridCol w="1001486"/>
                <a:gridCol w="1001486"/>
                <a:gridCol w="1001486"/>
                <a:gridCol w="1001486"/>
                <a:gridCol w="1001486"/>
                <a:gridCol w="1001486"/>
              </a:tblGrid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M[0]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M[1]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M[2]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M[3]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M[4]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M[5]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M[6]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MEMOIZATION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Find the intervals that belong to the output set.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Given the global array M we can find the intervals that belong to the output set using the following relation and algorithm.  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Relation: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+ OPT(p(j)) ≥ OPT(j − 1). 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0"/>
            <a:ext cx="8763000" cy="6705600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Algorithm Find-Solution(j) </a:t>
            </a:r>
          </a:p>
          <a:p>
            <a:pPr algn="just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//Purpose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To find the intervals belonging to the output set for weighted interval scheduling problem. </a:t>
            </a:r>
          </a:p>
          <a:p>
            <a:pPr algn="just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//Input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1….n requests each having start time “s” and finish time “f” and weight “v” </a:t>
            </a:r>
          </a:p>
          <a:p>
            <a:pPr algn="just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//Output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The intervals belonging to the output set for weighted interval scheduling problem.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Find-Solution(j) 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{   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if (j &gt; 0)     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if (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+ M[p(j)] &gt; M[j-1])      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	print j      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	Find-Solution(p(j))   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else      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	Find-Solution(j-1)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MEMOIZATION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6000"/>
            <a:ext cx="6477000" cy="36538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373" y="2621306"/>
            <a:ext cx="979227" cy="29296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MEMOIZATION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871432000"/>
              </p:ext>
            </p:extLst>
          </p:nvPr>
        </p:nvGraphicFramePr>
        <p:xfrm>
          <a:off x="457200" y="1502012"/>
          <a:ext cx="8458200" cy="485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3429000"/>
                <a:gridCol w="1371600"/>
                <a:gridCol w="914400"/>
                <a:gridCol w="1752600"/>
              </a:tblGrid>
              <a:tr h="9715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</a:rPr>
                        <a:t>Global Array M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>
                          <a:solidFill>
                            <a:schemeClr val="tx1"/>
                          </a:solidFill>
                        </a:rPr>
                        <a:t>Vj</a:t>
                      </a:r>
                      <a:r>
                        <a:rPr lang="en-US" sz="2000" b="1" dirty="0" smtClean="0">
                          <a:solidFill>
                            <a:schemeClr val="tx1"/>
                          </a:solidFill>
                        </a:rPr>
                        <a:t> + M[p(j)]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</a:rPr>
                        <a:t>M[j-1]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</a:rPr>
                        <a:t>Output Set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+ 6 = 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{   } </a:t>
                      </a:r>
                      <a:r>
                        <a:rPr lang="en-US" dirty="0" err="1" smtClean="0"/>
                        <a:t>Find_solution</a:t>
                      </a:r>
                      <a:r>
                        <a:rPr lang="en-US" dirty="0" smtClean="0"/>
                        <a:t>(5) </a:t>
                      </a:r>
                      <a:endParaRPr lang="en-US" dirty="0"/>
                    </a:p>
                  </a:txBody>
                  <a:tcPr anchor="ctr"/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+ 6 = 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{5} </a:t>
                      </a:r>
                      <a:r>
                        <a:rPr lang="en-US" dirty="0" err="1" smtClean="0"/>
                        <a:t>Find_solution</a:t>
                      </a:r>
                      <a:r>
                        <a:rPr lang="en-US" dirty="0" smtClean="0"/>
                        <a:t>(3) </a:t>
                      </a:r>
                      <a:endParaRPr lang="en-US" dirty="0"/>
                    </a:p>
                  </a:txBody>
                  <a:tcPr anchor="ctr"/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 + 2 = 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{5, 3} </a:t>
                      </a:r>
                      <a:r>
                        <a:rPr lang="en-US" dirty="0" err="1" smtClean="0"/>
                        <a:t>Find_solution</a:t>
                      </a:r>
                      <a:r>
                        <a:rPr lang="en-US" dirty="0" smtClean="0"/>
                        <a:t>(1) </a:t>
                      </a:r>
                    </a:p>
                  </a:txBody>
                  <a:tcPr anchor="ctr"/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+ 0 = 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{5, 3, 1} </a:t>
                      </a:r>
                      <a:r>
                        <a:rPr lang="en-US" dirty="0" err="1" smtClean="0"/>
                        <a:t>Find_solution</a:t>
                      </a:r>
                      <a:r>
                        <a:rPr lang="en-US" dirty="0" smtClean="0"/>
                        <a:t>(0) 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15867570"/>
              </p:ext>
            </p:extLst>
          </p:nvPr>
        </p:nvGraphicFramePr>
        <p:xfrm>
          <a:off x="1524001" y="3733800"/>
          <a:ext cx="327660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86"/>
                <a:gridCol w="468086"/>
                <a:gridCol w="468086"/>
                <a:gridCol w="468086"/>
                <a:gridCol w="468086"/>
                <a:gridCol w="468086"/>
                <a:gridCol w="468086"/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648200"/>
            <a:ext cx="3304318" cy="5060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589988"/>
            <a:ext cx="3304318" cy="50601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137" y="2604494"/>
            <a:ext cx="3304318" cy="5060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ITERATIVE PROCEDURE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have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Iterative Procedure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to calculate the global array “M” and use the find solution method to find the max weight possible and intervals in the output set respectively.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0"/>
            <a:ext cx="8763000" cy="67056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Iterative Algorithm 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Purpose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To find the optimal weights for weighted interval scheduling problem. 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1….n requests each having start time “s” and finish time “f” and weight “v” 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Optimal weight of the given set of “n” intervals. 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Iterative-Compute-Opt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M[0]= 0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For j = 1, 2, . . . , n 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M[j] = max (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+ M[p(j)],  M[j − 1]) </a:t>
            </a:r>
          </a:p>
          <a:p>
            <a:pPr algn="just">
              <a:buNone/>
            </a:pP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Endfor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ITERATIVE PROCEDURE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6000"/>
            <a:ext cx="6477000" cy="36538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373" y="2621306"/>
            <a:ext cx="979227" cy="29296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ITERATIVE PROCEDURE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j = 1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M[1] = max (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+ M[p(j)],  M[j − 1])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M[1] = max (2 + M[0],  M[0])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  M[1] = max (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2 + 0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  0)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76400" y="2819400"/>
          <a:ext cx="6095999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ITERATIVE PROCEDURE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j = 2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M[2] = max (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+ M[p(j)],  M[j − 1])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M[2] = max (4 + M[0],  M[1])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  M[2] = max (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4 + 0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  2)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76400" y="2819400"/>
          <a:ext cx="6095999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ITERATIVE PROCEDURE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j = 3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M[3] = max (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+ M[p(j)],  M[j − 1])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M[3] = max (4 + M[1],  M[2])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  M[3] = max (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4 + 2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  4)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76400" y="2819400"/>
          <a:ext cx="6095999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ITERATIVE PROCEDURE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j = 4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M[4] = max (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+ M[p(j)],  M[j − 1])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M[4] = max (7 + M[0],  M[3])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  M[4] = max (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7 + 0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  6)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76400" y="2819400"/>
          <a:ext cx="6095999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ITERATIVE PROCEDURE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j = 5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M[5] = max (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+ M[p(j)],  M[j − 1])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M[5] = max (2 + M[3],  M[4])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  M[5] = max (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2 + 6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  7)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76400" y="2819400"/>
          <a:ext cx="6095999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ITERATIVE PROCEDURE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j = 6</a:t>
            </a:r>
          </a:p>
          <a:p>
            <a:pPr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M[6] = max (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+ M[p(j)],  M[j − 1])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M[6] = max (1 + M[3],  M[5]) </a:t>
            </a:r>
          </a:p>
          <a:p>
            <a:pPr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  M[6] = max (1 + 6, 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37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76400" y="2819400"/>
          <a:ext cx="6095999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943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3875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1211</Words>
  <Application>Microsoft Office PowerPoint</Application>
  <PresentationFormat>On-screen Show (4:3)</PresentationFormat>
  <Paragraphs>322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DYNAMIC PROGRAMMING</vt:lpstr>
      <vt:lpstr>INTRODUCTION</vt:lpstr>
      <vt:lpstr>INTRODUCTION</vt:lpstr>
      <vt:lpstr>DYNAMIC PROGRAMMING</vt:lpstr>
      <vt:lpstr>DYNAMIC PROGRAMMING</vt:lpstr>
      <vt:lpstr>WEIGHTED INTERVAL SCHEDULING</vt:lpstr>
      <vt:lpstr>WEIGHTED INTERVAL SCHEDULING</vt:lpstr>
      <vt:lpstr>GREEDY DOES NOT WORK</vt:lpstr>
      <vt:lpstr>WEIGHTED INTERVAL SCHEDULING</vt:lpstr>
      <vt:lpstr>WEIGHTED INTERVAL SCHEDULING</vt:lpstr>
      <vt:lpstr>WEIGHTED INTERVAL SCHEDULING</vt:lpstr>
      <vt:lpstr>WEIGHTED INTERVAL SCHEDULING</vt:lpstr>
      <vt:lpstr>WEIGHTED INTERVAL SCHEDULING</vt:lpstr>
      <vt:lpstr>Slide 14</vt:lpstr>
      <vt:lpstr>WEIGHTED INTERVAL SCHEDULING</vt:lpstr>
      <vt:lpstr>WEIGHTED INTERVAL SCHEDULING</vt:lpstr>
      <vt:lpstr>WEIGHTED INTERVAL SCHEDULING</vt:lpstr>
      <vt:lpstr>MEMOIZATION</vt:lpstr>
      <vt:lpstr>Slide 19</vt:lpstr>
      <vt:lpstr>MEMOIZATION</vt:lpstr>
      <vt:lpstr>MEMOIZATION</vt:lpstr>
      <vt:lpstr>MEMOIZATION</vt:lpstr>
      <vt:lpstr>MEMOIZATION</vt:lpstr>
      <vt:lpstr>MEMOIZATION</vt:lpstr>
      <vt:lpstr>MEMOIZATION</vt:lpstr>
      <vt:lpstr>Slide 26</vt:lpstr>
      <vt:lpstr>MEMOIZATION</vt:lpstr>
      <vt:lpstr>MEMOIZATION</vt:lpstr>
      <vt:lpstr>ITERATIVE PROCEDURE</vt:lpstr>
      <vt:lpstr>Slide 30</vt:lpstr>
      <vt:lpstr>ITERATIVE PROCEDURE</vt:lpstr>
      <vt:lpstr>ITERATIVE PROCEDURE</vt:lpstr>
      <vt:lpstr>ITERATIVE PROCEDURE</vt:lpstr>
      <vt:lpstr>ITERATIVE PROCEDURE</vt:lpstr>
      <vt:lpstr>ITERATIVE PROCEDURE</vt:lpstr>
      <vt:lpstr>ITERATIVE PROCEDURE</vt:lpstr>
      <vt:lpstr>ITERATIVE PROCEDURE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</dc:title>
  <dc:creator>promad</dc:creator>
  <cp:lastModifiedBy>Pramod</cp:lastModifiedBy>
  <cp:revision>177</cp:revision>
  <dcterms:created xsi:type="dcterms:W3CDTF">2018-02-15T16:46:01Z</dcterms:created>
  <dcterms:modified xsi:type="dcterms:W3CDTF">2021-05-26T17:22:46Z</dcterms:modified>
</cp:coreProperties>
</file>