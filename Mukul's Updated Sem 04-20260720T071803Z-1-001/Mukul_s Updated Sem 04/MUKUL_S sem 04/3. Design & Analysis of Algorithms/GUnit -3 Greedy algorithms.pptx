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4"/>
  </p:notesMasterIdLst>
  <p:sldIdLst>
    <p:sldId id="256" r:id="rId2"/>
    <p:sldId id="325" r:id="rId3"/>
    <p:sldId id="257" r:id="rId4"/>
    <p:sldId id="326" r:id="rId5"/>
    <p:sldId id="331" r:id="rId6"/>
    <p:sldId id="258" r:id="rId7"/>
    <p:sldId id="327" r:id="rId8"/>
    <p:sldId id="259" r:id="rId9"/>
    <p:sldId id="328" r:id="rId10"/>
    <p:sldId id="329" r:id="rId11"/>
    <p:sldId id="330" r:id="rId12"/>
    <p:sldId id="332" r:id="rId13"/>
    <p:sldId id="260" r:id="rId14"/>
    <p:sldId id="333" r:id="rId15"/>
    <p:sldId id="283" r:id="rId16"/>
    <p:sldId id="262" r:id="rId17"/>
    <p:sldId id="263" r:id="rId18"/>
    <p:sldId id="274" r:id="rId19"/>
    <p:sldId id="264" r:id="rId20"/>
    <p:sldId id="334" r:id="rId21"/>
    <p:sldId id="265" r:id="rId22"/>
    <p:sldId id="275" r:id="rId23"/>
    <p:sldId id="276" r:id="rId24"/>
    <p:sldId id="277" r:id="rId25"/>
    <p:sldId id="278" r:id="rId26"/>
    <p:sldId id="279" r:id="rId27"/>
    <p:sldId id="280" r:id="rId28"/>
    <p:sldId id="318" r:id="rId29"/>
    <p:sldId id="319" r:id="rId30"/>
    <p:sldId id="320" r:id="rId31"/>
    <p:sldId id="285" r:id="rId32"/>
    <p:sldId id="335" r:id="rId33"/>
    <p:sldId id="336" r:id="rId34"/>
    <p:sldId id="337" r:id="rId35"/>
    <p:sldId id="338" r:id="rId36"/>
    <p:sldId id="286" r:id="rId37"/>
    <p:sldId id="281" r:id="rId38"/>
    <p:sldId id="284" r:id="rId39"/>
    <p:sldId id="290" r:id="rId40"/>
    <p:sldId id="292" r:id="rId41"/>
    <p:sldId id="287" r:id="rId42"/>
    <p:sldId id="288" r:id="rId43"/>
    <p:sldId id="289" r:id="rId44"/>
    <p:sldId id="291" r:id="rId45"/>
    <p:sldId id="293" r:id="rId46"/>
    <p:sldId id="295" r:id="rId47"/>
    <p:sldId id="296" r:id="rId48"/>
    <p:sldId id="298" r:id="rId49"/>
    <p:sldId id="299" r:id="rId50"/>
    <p:sldId id="300" r:id="rId51"/>
    <p:sldId id="301" r:id="rId52"/>
    <p:sldId id="297" r:id="rId53"/>
    <p:sldId id="339" r:id="rId54"/>
    <p:sldId id="340" r:id="rId55"/>
    <p:sldId id="302" r:id="rId56"/>
    <p:sldId id="303" r:id="rId57"/>
    <p:sldId id="304" r:id="rId58"/>
    <p:sldId id="315" r:id="rId59"/>
    <p:sldId id="309" r:id="rId60"/>
    <p:sldId id="308" r:id="rId61"/>
    <p:sldId id="341" r:id="rId62"/>
    <p:sldId id="342" r:id="rId63"/>
    <p:sldId id="343" r:id="rId64"/>
    <p:sldId id="344" r:id="rId65"/>
    <p:sldId id="345" r:id="rId66"/>
    <p:sldId id="348" r:id="rId67"/>
    <p:sldId id="349" r:id="rId68"/>
    <p:sldId id="350" r:id="rId69"/>
    <p:sldId id="351" r:id="rId70"/>
    <p:sldId id="352" r:id="rId71"/>
    <p:sldId id="346" r:id="rId72"/>
    <p:sldId id="347" r:id="rId7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12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3AE76C-9E1F-4ACE-AB79-670FD503CB05}" type="datetimeFigureOut">
              <a:rPr lang="en-US" smtClean="0"/>
              <a:pPr/>
              <a:t>6/21/2023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42EF7B-C6FA-465B-9CB9-D0DBE7490A6F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42EF7B-C6FA-465B-9CB9-D0DBE7490A6F}" type="slidenum">
              <a:rPr lang="en-IN" smtClean="0"/>
              <a:pPr/>
              <a:t>15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5.png"/><Relationship Id="rId4" Type="http://schemas.openxmlformats.org/officeDocument/2006/relationships/image" Target="../media/image44.wmf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Unit 3</a:t>
            </a:r>
            <a:br>
              <a:rPr lang="en-IN" dirty="0" smtClean="0"/>
            </a:br>
            <a:r>
              <a:rPr lang="en-IN" dirty="0" smtClean="0"/>
              <a:t>Greedy algorithms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i="1" dirty="0" smtClean="0"/>
              <a:t>Greedy algorithm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 smtClean="0"/>
              <a:t>An algorithm is greedy if it </a:t>
            </a:r>
            <a:r>
              <a:rPr lang="en-IN" dirty="0" smtClean="0">
                <a:solidFill>
                  <a:srgbClr val="FF0000"/>
                </a:solidFill>
              </a:rPr>
              <a:t>builds up a solution in small steps</a:t>
            </a:r>
            <a:r>
              <a:rPr lang="en-IN" dirty="0" smtClean="0"/>
              <a:t>, choosing a decision at each step myopically to </a:t>
            </a:r>
            <a:r>
              <a:rPr lang="en-IN" dirty="0" smtClean="0">
                <a:solidFill>
                  <a:srgbClr val="FF0000"/>
                </a:solidFill>
              </a:rPr>
              <a:t>optimize</a:t>
            </a:r>
            <a:r>
              <a:rPr lang="en-IN" dirty="0" smtClean="0"/>
              <a:t> some </a:t>
            </a:r>
            <a:r>
              <a:rPr lang="en-IN" dirty="0" smtClean="0">
                <a:solidFill>
                  <a:srgbClr val="FF0000"/>
                </a:solidFill>
              </a:rPr>
              <a:t>underlying criterion</a:t>
            </a:r>
            <a:r>
              <a:rPr lang="en-IN" dirty="0" smtClean="0"/>
              <a:t>. </a:t>
            </a:r>
          </a:p>
          <a:p>
            <a:pPr algn="just"/>
            <a:r>
              <a:rPr lang="en-IN" dirty="0" smtClean="0"/>
              <a:t>One can often design many different greedy algorithms for the same problem, each one locally, incrementally optimizing some different measure on its way to a solution.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Contents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Interval Scheduling</a:t>
            </a:r>
          </a:p>
          <a:p>
            <a:r>
              <a:rPr lang="en-IN" dirty="0" smtClean="0"/>
              <a:t>Scheduling to minimize lateness.</a:t>
            </a:r>
          </a:p>
          <a:p>
            <a:r>
              <a:rPr lang="en-IN" dirty="0" smtClean="0"/>
              <a:t>Optimal Caching</a:t>
            </a:r>
            <a:endParaRPr lang="en-IN" dirty="0"/>
          </a:p>
        </p:txBody>
      </p:sp>
      <p:pic>
        <p:nvPicPr>
          <p:cNvPr id="4" name="Picture 4" descr="Burns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7821613" y="0"/>
            <a:ext cx="1322387" cy="1600200"/>
          </a:xfrm>
          <a:prstGeom prst="rect">
            <a:avLst/>
          </a:prstGeom>
          <a:noFill/>
        </p:spPr>
      </p:pic>
      <p:pic>
        <p:nvPicPr>
          <p:cNvPr id="105473" name="Picture 1" descr="C:\Users\Srinidhi\Desktop\mz4wrquz.wu2TimeToSchedule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15000" y="3505200"/>
            <a:ext cx="2381250" cy="1905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Interval scheduling problem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Consider this classroom be scheduled for the following classes.</a:t>
            </a:r>
          </a:p>
          <a:p>
            <a:pPr lvl="1"/>
            <a:r>
              <a:rPr lang="en-IN" dirty="0" smtClean="0"/>
              <a:t>DAA (9-10)</a:t>
            </a:r>
          </a:p>
          <a:p>
            <a:pPr lvl="1"/>
            <a:r>
              <a:rPr lang="en-IN" dirty="0" smtClean="0"/>
              <a:t>CO (10-11)</a:t>
            </a:r>
          </a:p>
          <a:p>
            <a:pPr lvl="1"/>
            <a:r>
              <a:rPr lang="en-IN" dirty="0" smtClean="0"/>
              <a:t>DC(9.30-10.30)</a:t>
            </a:r>
          </a:p>
          <a:p>
            <a:pPr lvl="1"/>
            <a:r>
              <a:rPr lang="en-IN" dirty="0" smtClean="0"/>
              <a:t>MAT (2-3)</a:t>
            </a:r>
          </a:p>
          <a:p>
            <a:pPr lvl="1"/>
            <a:r>
              <a:rPr lang="en-IN" dirty="0" smtClean="0"/>
              <a:t>Python(2.30-3.30)</a:t>
            </a:r>
          </a:p>
          <a:p>
            <a:r>
              <a:rPr lang="en-IN" dirty="0" smtClean="0"/>
              <a:t>Which of the schedules are not compatible?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Interval scheduling problem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smtClean="0"/>
              <a:t>Which of the schedules are compatible?</a:t>
            </a:r>
          </a:p>
          <a:p>
            <a:r>
              <a:rPr lang="en-IN" dirty="0" smtClean="0"/>
              <a:t>{1,2}</a:t>
            </a:r>
          </a:p>
          <a:p>
            <a:endParaRPr lang="en-IN" dirty="0" smtClean="0"/>
          </a:p>
          <a:p>
            <a:endParaRPr lang="en-IN" dirty="0" smtClean="0"/>
          </a:p>
          <a:p>
            <a:endParaRPr lang="en-IN" dirty="0" smtClean="0"/>
          </a:p>
          <a:p>
            <a:r>
              <a:rPr lang="en-IN" dirty="0" smtClean="0"/>
              <a:t>Which of the schedules are not compatible?</a:t>
            </a:r>
          </a:p>
          <a:p>
            <a:endParaRPr lang="en-IN" dirty="0" smtClean="0"/>
          </a:p>
          <a:p>
            <a:r>
              <a:rPr lang="en-IN" dirty="0" smtClean="0"/>
              <a:t>What is the optimal solution??</a:t>
            </a:r>
          </a:p>
          <a:p>
            <a:endParaRPr lang="en-IN" dirty="0"/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762000" y="2971800"/>
            <a:ext cx="4833942" cy="381000"/>
            <a:chOff x="768" y="1584"/>
            <a:chExt cx="3045" cy="240"/>
          </a:xfrm>
        </p:grpSpPr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2016" y="1584"/>
              <a:ext cx="393" cy="96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1488" y="1584"/>
              <a:ext cx="393" cy="96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960" y="1584"/>
              <a:ext cx="393" cy="96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2583" y="1584"/>
              <a:ext cx="393" cy="96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768" y="1728"/>
              <a:ext cx="2352" cy="9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3696" y="1617"/>
              <a:ext cx="117" cy="1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sm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endParaRPr lang="en-US" sz="1200" dirty="0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219200" y="2590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1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2057400" y="2590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2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2895600" y="2590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3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3810000" y="2590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4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2362200" y="3352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5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Interval Scheduling- Problem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smtClean="0"/>
              <a:t>Formally Requests </a:t>
            </a:r>
            <a:r>
              <a:rPr lang="en-IN" b="1" dirty="0" smtClean="0"/>
              <a:t>1,2,…,n. </a:t>
            </a:r>
          </a:p>
          <a:p>
            <a:r>
              <a:rPr lang="en-IN" dirty="0" smtClean="0"/>
              <a:t>Request </a:t>
            </a:r>
            <a:r>
              <a:rPr lang="en-IN" b="1" dirty="0" err="1" smtClean="0"/>
              <a:t>i</a:t>
            </a:r>
            <a:r>
              <a:rPr lang="en-IN" b="1" dirty="0" smtClean="0"/>
              <a:t> has start time s(</a:t>
            </a:r>
            <a:r>
              <a:rPr lang="en-IN" b="1" dirty="0" err="1" smtClean="0"/>
              <a:t>i</a:t>
            </a:r>
            <a:r>
              <a:rPr lang="en-IN" b="1" dirty="0" smtClean="0"/>
              <a:t>) and finish time </a:t>
            </a:r>
          </a:p>
          <a:p>
            <a:r>
              <a:rPr lang="en-IN" dirty="0" smtClean="0"/>
              <a:t>Requests </a:t>
            </a:r>
            <a:r>
              <a:rPr lang="en-IN" b="1" dirty="0" err="1" smtClean="0"/>
              <a:t>i</a:t>
            </a:r>
            <a:r>
              <a:rPr lang="en-IN" b="1" dirty="0" smtClean="0"/>
              <a:t> and j are compatible </a:t>
            </a:r>
            <a:r>
              <a:rPr lang="en-IN" b="1" dirty="0" err="1" smtClean="0"/>
              <a:t>iff</a:t>
            </a:r>
            <a:r>
              <a:rPr lang="en-IN" b="1" dirty="0" smtClean="0"/>
              <a:t> either </a:t>
            </a:r>
          </a:p>
          <a:p>
            <a:pPr lvl="2"/>
            <a:r>
              <a:rPr lang="en-IN" dirty="0" smtClean="0"/>
              <a:t>request </a:t>
            </a:r>
            <a:r>
              <a:rPr lang="en-IN" b="1" dirty="0" err="1" smtClean="0"/>
              <a:t>i</a:t>
            </a:r>
            <a:r>
              <a:rPr lang="en-IN" b="1" dirty="0" smtClean="0"/>
              <a:t> is for a time entirely before request j </a:t>
            </a:r>
          </a:p>
          <a:p>
            <a:pPr lvl="2">
              <a:buNone/>
            </a:pPr>
            <a:r>
              <a:rPr lang="en-IN" b="1" dirty="0" smtClean="0"/>
              <a:t>		f(</a:t>
            </a:r>
            <a:r>
              <a:rPr lang="en-IN" b="1" dirty="0" err="1" smtClean="0"/>
              <a:t>i</a:t>
            </a:r>
            <a:r>
              <a:rPr lang="en-IN" b="1" dirty="0" smtClean="0"/>
              <a:t>) &lt;= s(j)</a:t>
            </a:r>
          </a:p>
          <a:p>
            <a:pPr lvl="2"/>
            <a:r>
              <a:rPr lang="en-IN" dirty="0" smtClean="0"/>
              <a:t> or, request </a:t>
            </a:r>
            <a:r>
              <a:rPr lang="en-IN" b="1" dirty="0" smtClean="0"/>
              <a:t>j is for a time entirely before </a:t>
            </a:r>
            <a:r>
              <a:rPr lang="en-IN" dirty="0" smtClean="0"/>
              <a:t>request </a:t>
            </a:r>
            <a:r>
              <a:rPr lang="en-IN" b="1" dirty="0" err="1" smtClean="0"/>
              <a:t>i</a:t>
            </a:r>
            <a:r>
              <a:rPr lang="en-IN" b="1" dirty="0" smtClean="0"/>
              <a:t> </a:t>
            </a:r>
          </a:p>
          <a:p>
            <a:pPr lvl="2">
              <a:buNone/>
            </a:pPr>
            <a:r>
              <a:rPr lang="en-IN" b="1" dirty="0" smtClean="0"/>
              <a:t>		f(j) &lt;= s(</a:t>
            </a:r>
            <a:r>
              <a:rPr lang="en-IN" b="1" dirty="0" err="1" smtClean="0"/>
              <a:t>i</a:t>
            </a:r>
            <a:r>
              <a:rPr lang="en-IN" b="1" dirty="0" smtClean="0"/>
              <a:t>)</a:t>
            </a:r>
          </a:p>
          <a:p>
            <a:pPr algn="just"/>
            <a:r>
              <a:rPr lang="en-IN" dirty="0" smtClean="0">
                <a:solidFill>
                  <a:srgbClr val="FF0000"/>
                </a:solidFill>
              </a:rPr>
              <a:t>Goal: Find maximum size subset </a:t>
            </a:r>
            <a:r>
              <a:rPr lang="en-IN" b="1" dirty="0" smtClean="0">
                <a:solidFill>
                  <a:srgbClr val="FF0000"/>
                </a:solidFill>
              </a:rPr>
              <a:t>A of compatible </a:t>
            </a:r>
            <a:r>
              <a:rPr lang="en-IN" dirty="0" smtClean="0">
                <a:solidFill>
                  <a:srgbClr val="FF0000"/>
                </a:solidFill>
              </a:rPr>
              <a:t>requests</a:t>
            </a:r>
            <a:endParaRPr lang="en-IN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Interval scheduling-Problem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The available inputs for the problem are:</a:t>
            </a:r>
          </a:p>
          <a:p>
            <a:pPr lvl="1"/>
            <a:r>
              <a:rPr lang="en-IN" dirty="0" smtClean="0"/>
              <a:t>Number of requests</a:t>
            </a:r>
          </a:p>
          <a:p>
            <a:pPr lvl="1"/>
            <a:r>
              <a:rPr lang="en-IN" dirty="0" smtClean="0"/>
              <a:t>Start time =[…………..]</a:t>
            </a:r>
          </a:p>
          <a:p>
            <a:pPr lvl="1"/>
            <a:r>
              <a:rPr lang="en-IN" dirty="0" smtClean="0"/>
              <a:t>Finish time=[………….]</a:t>
            </a:r>
          </a:p>
          <a:p>
            <a:r>
              <a:rPr lang="en-IN" dirty="0" smtClean="0"/>
              <a:t>So what can be the approaches here?</a:t>
            </a:r>
          </a:p>
          <a:p>
            <a:pPr lvl="1"/>
            <a:r>
              <a:rPr lang="en-IN" dirty="0" smtClean="0"/>
              <a:t>Sorting?</a:t>
            </a:r>
          </a:p>
          <a:p>
            <a:pPr lvl="1"/>
            <a:r>
              <a:rPr lang="en-IN" dirty="0" smtClean="0"/>
              <a:t>If sorting means according to what?</a:t>
            </a:r>
          </a:p>
          <a:p>
            <a:pPr lvl="1"/>
            <a:r>
              <a:rPr lang="en-IN" dirty="0" smtClean="0"/>
              <a:t>Is it finish time or start time?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Interval Scheduling- Approaches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solidFill>
                  <a:schemeClr val="hlink"/>
                </a:solidFill>
              </a:rPr>
              <a:t>[Earliest start time]</a:t>
            </a:r>
            <a:r>
              <a:rPr lang="en-US" sz="2400" dirty="0" smtClean="0"/>
              <a:t>  Consider jobs in ascending order of </a:t>
            </a:r>
            <a:r>
              <a:rPr lang="en-US" sz="2400" dirty="0" err="1" smtClean="0"/>
              <a:t>s</a:t>
            </a:r>
            <a:r>
              <a:rPr lang="en-US" sz="2400" baseline="-25000" dirty="0" err="1" smtClean="0"/>
              <a:t>j</a:t>
            </a:r>
            <a:r>
              <a:rPr lang="en-US" sz="2400" dirty="0" smtClean="0"/>
              <a:t>.</a:t>
            </a:r>
          </a:p>
          <a:p>
            <a:endParaRPr lang="en-IN" sz="2400" dirty="0" smtClean="0"/>
          </a:p>
          <a:p>
            <a:pPr marL="342900" lvl="1" indent="-342900"/>
            <a:endParaRPr lang="en-US" sz="2400" dirty="0" smtClean="0">
              <a:solidFill>
                <a:schemeClr val="hlink"/>
              </a:solidFill>
            </a:endParaRPr>
          </a:p>
          <a:p>
            <a:r>
              <a:rPr lang="en-US" sz="2400" dirty="0" smtClean="0"/>
              <a:t>How many intervals can be selected according to this approach?</a:t>
            </a:r>
          </a:p>
          <a:p>
            <a:r>
              <a:rPr lang="en-US" sz="2400" dirty="0" smtClean="0"/>
              <a:t>What is the optimal number ??</a:t>
            </a:r>
          </a:p>
          <a:p>
            <a:endParaRPr lang="en-US" sz="2400" dirty="0" smtClean="0"/>
          </a:p>
          <a:p>
            <a:endParaRPr lang="en-US" sz="2400" dirty="0" smtClean="0">
              <a:solidFill>
                <a:schemeClr val="hlink"/>
              </a:solidFill>
            </a:endParaRPr>
          </a:p>
          <a:p>
            <a:endParaRPr lang="en-US" sz="2400" dirty="0" smtClean="0">
              <a:solidFill>
                <a:schemeClr val="hlink"/>
              </a:solidFill>
            </a:endParaRPr>
          </a:p>
          <a:p>
            <a:endParaRPr lang="en-US" dirty="0" smtClean="0"/>
          </a:p>
          <a:p>
            <a:endParaRPr lang="en-US" sz="2400" dirty="0" smtClean="0">
              <a:solidFill>
                <a:schemeClr val="hlink"/>
              </a:solidFill>
            </a:endParaRPr>
          </a:p>
          <a:p>
            <a:endParaRPr lang="en-US" sz="2400" dirty="0" smtClean="0">
              <a:solidFill>
                <a:schemeClr val="hlink"/>
              </a:solidFill>
            </a:endParaRPr>
          </a:p>
          <a:p>
            <a:pPr marL="342900" lvl="1" indent="-342900"/>
            <a:endParaRPr lang="en-US" sz="2400" dirty="0" smtClean="0"/>
          </a:p>
          <a:p>
            <a:endParaRPr lang="en-IN" sz="2400" dirty="0"/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855663" y="2286000"/>
            <a:ext cx="4833942" cy="381000"/>
            <a:chOff x="768" y="1584"/>
            <a:chExt cx="3045" cy="240"/>
          </a:xfrm>
        </p:grpSpPr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2016" y="1584"/>
              <a:ext cx="393" cy="96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1488" y="1584"/>
              <a:ext cx="393" cy="96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960" y="1584"/>
              <a:ext cx="393" cy="96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2583" y="1584"/>
              <a:ext cx="393" cy="96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768" y="1728"/>
              <a:ext cx="2352" cy="9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3696" y="1617"/>
              <a:ext cx="117" cy="1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sm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Interval Scheduling- Approaches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sz="2400" dirty="0" smtClean="0"/>
          </a:p>
          <a:p>
            <a:pPr marL="342900" lvl="1" indent="-342900"/>
            <a:endParaRPr lang="en-US" sz="2400" dirty="0" smtClean="0">
              <a:solidFill>
                <a:schemeClr val="hlink"/>
              </a:solidFill>
            </a:endParaRPr>
          </a:p>
          <a:p>
            <a:r>
              <a:rPr lang="en-US" sz="2400" dirty="0" smtClean="0">
                <a:solidFill>
                  <a:schemeClr val="hlink"/>
                </a:solidFill>
              </a:rPr>
              <a:t>[Shortest interval]</a:t>
            </a:r>
            <a:r>
              <a:rPr lang="en-US" sz="2400" dirty="0" smtClean="0"/>
              <a:t>  Consider jobs in ascending order of </a:t>
            </a:r>
            <a:r>
              <a:rPr lang="en-US" sz="2400" dirty="0" err="1" smtClean="0"/>
              <a:t>f</a:t>
            </a:r>
            <a:r>
              <a:rPr lang="en-US" sz="2400" baseline="-25000" dirty="0" err="1" smtClean="0"/>
              <a:t>j</a:t>
            </a:r>
            <a:r>
              <a:rPr lang="en-US" sz="2400" dirty="0" smtClean="0"/>
              <a:t> - </a:t>
            </a:r>
            <a:r>
              <a:rPr lang="en-US" sz="2400" dirty="0" err="1" smtClean="0"/>
              <a:t>s</a:t>
            </a:r>
            <a:r>
              <a:rPr lang="en-US" sz="2400" baseline="-25000" dirty="0" err="1" smtClean="0"/>
              <a:t>j</a:t>
            </a:r>
            <a:r>
              <a:rPr lang="en-US" sz="2400" dirty="0" smtClean="0"/>
              <a:t>.</a:t>
            </a:r>
          </a:p>
          <a:p>
            <a:endParaRPr lang="en-US" sz="2400" dirty="0" smtClean="0">
              <a:solidFill>
                <a:schemeClr val="hlink"/>
              </a:solidFill>
            </a:endParaRPr>
          </a:p>
          <a:p>
            <a:endParaRPr lang="en-US" sz="2400" dirty="0" smtClean="0">
              <a:solidFill>
                <a:schemeClr val="hlink"/>
              </a:solidFill>
            </a:endParaRPr>
          </a:p>
          <a:p>
            <a:endParaRPr lang="en-US" dirty="0" smtClean="0"/>
          </a:p>
          <a:p>
            <a:r>
              <a:rPr lang="en-US" dirty="0" smtClean="0"/>
              <a:t>How many intervals can be selected according to this approach?</a:t>
            </a:r>
          </a:p>
          <a:p>
            <a:r>
              <a:rPr lang="en-US" dirty="0" smtClean="0"/>
              <a:t>What is the optimal number ??</a:t>
            </a:r>
          </a:p>
          <a:p>
            <a:endParaRPr lang="en-US" dirty="0" smtClean="0"/>
          </a:p>
          <a:p>
            <a:endParaRPr lang="en-US" sz="2400" dirty="0" smtClean="0">
              <a:solidFill>
                <a:schemeClr val="hlink"/>
              </a:solidFill>
            </a:endParaRPr>
          </a:p>
          <a:p>
            <a:endParaRPr lang="en-US" sz="2400" dirty="0" smtClean="0">
              <a:solidFill>
                <a:schemeClr val="hlink"/>
              </a:solidFill>
            </a:endParaRPr>
          </a:p>
          <a:p>
            <a:pPr marL="342900" lvl="1" indent="-342900"/>
            <a:endParaRPr lang="en-US" sz="2400" dirty="0" smtClean="0"/>
          </a:p>
          <a:p>
            <a:endParaRPr lang="en-IN" sz="2400" dirty="0"/>
          </a:p>
        </p:txBody>
      </p:sp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1143000" y="3581405"/>
            <a:ext cx="3200400" cy="381000"/>
            <a:chOff x="960" y="2208"/>
            <a:chExt cx="2016" cy="240"/>
          </a:xfrm>
        </p:grpSpPr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960" y="2208"/>
              <a:ext cx="912" cy="96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2064" y="2208"/>
              <a:ext cx="912" cy="96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1680" y="2352"/>
              <a:ext cx="528" cy="9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Interval Scheduling- Approaches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sz="2400" dirty="0" smtClean="0">
              <a:solidFill>
                <a:schemeClr val="hlink"/>
              </a:solidFill>
            </a:endParaRPr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hlink"/>
                </a:solidFill>
              </a:rPr>
              <a:t>[Fewest conflicts]</a:t>
            </a:r>
            <a:r>
              <a:rPr lang="en-US" sz="2000" dirty="0" smtClean="0"/>
              <a:t>  For each job j, count the number of conflicting jobs </a:t>
            </a:r>
            <a:r>
              <a:rPr lang="en-US" sz="2000" dirty="0" err="1" smtClean="0"/>
              <a:t>c</a:t>
            </a:r>
            <a:r>
              <a:rPr lang="en-US" sz="2000" baseline="-25000" dirty="0" err="1" smtClean="0"/>
              <a:t>j</a:t>
            </a:r>
            <a:r>
              <a:rPr lang="en-US" sz="2000" dirty="0" smtClean="0"/>
              <a:t>. Schedule in ascending order of </a:t>
            </a:r>
            <a:r>
              <a:rPr lang="en-US" sz="2000" dirty="0" err="1" smtClean="0"/>
              <a:t>c</a:t>
            </a:r>
            <a:r>
              <a:rPr lang="en-US" sz="2000" baseline="-25000" dirty="0" err="1" smtClean="0"/>
              <a:t>j</a:t>
            </a:r>
            <a:r>
              <a:rPr lang="en-US" sz="2000" dirty="0" smtClean="0"/>
              <a:t>.</a:t>
            </a:r>
          </a:p>
          <a:p>
            <a:endParaRPr lang="en-US" dirty="0" smtClean="0"/>
          </a:p>
          <a:p>
            <a:endParaRPr lang="en-US" sz="2400" dirty="0" smtClean="0">
              <a:solidFill>
                <a:schemeClr val="hlink"/>
              </a:solidFill>
            </a:endParaRPr>
          </a:p>
          <a:p>
            <a:endParaRPr lang="en-US" sz="2400" dirty="0" smtClean="0">
              <a:solidFill>
                <a:schemeClr val="hlink"/>
              </a:solidFill>
            </a:endParaRPr>
          </a:p>
          <a:p>
            <a:r>
              <a:rPr lang="en-US" dirty="0" smtClean="0"/>
              <a:t>Conflicts for red colored intervals-1</a:t>
            </a:r>
          </a:p>
          <a:p>
            <a:r>
              <a:rPr lang="en-US" dirty="0" smtClean="0"/>
              <a:t>Conflicts for yellow colored intervals-3 and 3</a:t>
            </a:r>
          </a:p>
          <a:p>
            <a:r>
              <a:rPr lang="en-US" dirty="0" smtClean="0"/>
              <a:t>Conflicts for green colored intervals-3 and 3…..</a:t>
            </a:r>
          </a:p>
          <a:p>
            <a:pPr marL="342900" lvl="1" indent="-342900"/>
            <a:endParaRPr lang="en-US" sz="2400" dirty="0" smtClean="0"/>
          </a:p>
          <a:p>
            <a:endParaRPr lang="en-IN" sz="2400" dirty="0"/>
          </a:p>
        </p:txBody>
      </p:sp>
      <p:grpSp>
        <p:nvGrpSpPr>
          <p:cNvPr id="16" name="Group 16"/>
          <p:cNvGrpSpPr>
            <a:grpSpLocks/>
          </p:cNvGrpSpPr>
          <p:nvPr/>
        </p:nvGrpSpPr>
        <p:grpSpPr bwMode="auto">
          <a:xfrm>
            <a:off x="2514600" y="3048000"/>
            <a:ext cx="3200400" cy="838200"/>
            <a:chOff x="960" y="2902"/>
            <a:chExt cx="2016" cy="528"/>
          </a:xfrm>
        </p:grpSpPr>
        <p:sp>
          <p:nvSpPr>
            <p:cNvPr id="17" name="Rectangle 17"/>
            <p:cNvSpPr>
              <a:spLocks noChangeArrowheads="1"/>
            </p:cNvSpPr>
            <p:nvPr/>
          </p:nvSpPr>
          <p:spPr bwMode="auto">
            <a:xfrm>
              <a:off x="2016" y="2902"/>
              <a:ext cx="393" cy="96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1488" y="2902"/>
              <a:ext cx="393" cy="9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19" name="Rectangle 19"/>
            <p:cNvSpPr>
              <a:spLocks noChangeArrowheads="1"/>
            </p:cNvSpPr>
            <p:nvPr/>
          </p:nvSpPr>
          <p:spPr bwMode="auto">
            <a:xfrm>
              <a:off x="960" y="2902"/>
              <a:ext cx="393" cy="96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20" name="Rectangle 20"/>
            <p:cNvSpPr>
              <a:spLocks noChangeArrowheads="1"/>
            </p:cNvSpPr>
            <p:nvPr/>
          </p:nvSpPr>
          <p:spPr bwMode="auto">
            <a:xfrm>
              <a:off x="2583" y="2902"/>
              <a:ext cx="393" cy="96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21" name="Rectangle 21"/>
            <p:cNvSpPr>
              <a:spLocks noChangeArrowheads="1"/>
            </p:cNvSpPr>
            <p:nvPr/>
          </p:nvSpPr>
          <p:spPr bwMode="auto">
            <a:xfrm>
              <a:off x="1239" y="3046"/>
              <a:ext cx="393" cy="96"/>
            </a:xfrm>
            <a:prstGeom prst="rect">
              <a:avLst/>
            </a:prstGeom>
            <a:solidFill>
              <a:srgbClr val="00B05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22" name="Rectangle 22"/>
            <p:cNvSpPr>
              <a:spLocks noChangeArrowheads="1"/>
            </p:cNvSpPr>
            <p:nvPr/>
          </p:nvSpPr>
          <p:spPr bwMode="auto">
            <a:xfrm>
              <a:off x="1248" y="3190"/>
              <a:ext cx="393" cy="96"/>
            </a:xfrm>
            <a:prstGeom prst="rect">
              <a:avLst/>
            </a:prstGeom>
            <a:solidFill>
              <a:srgbClr val="00B05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23" name="Rectangle 23"/>
            <p:cNvSpPr>
              <a:spLocks noChangeArrowheads="1"/>
            </p:cNvSpPr>
            <p:nvPr/>
          </p:nvSpPr>
          <p:spPr bwMode="auto">
            <a:xfrm>
              <a:off x="1248" y="3334"/>
              <a:ext cx="393" cy="96"/>
            </a:xfrm>
            <a:prstGeom prst="rect">
              <a:avLst/>
            </a:prstGeom>
            <a:solidFill>
              <a:srgbClr val="00B05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24" name="Rectangle 24"/>
            <p:cNvSpPr>
              <a:spLocks noChangeArrowheads="1"/>
            </p:cNvSpPr>
            <p:nvPr/>
          </p:nvSpPr>
          <p:spPr bwMode="auto">
            <a:xfrm>
              <a:off x="2343" y="3046"/>
              <a:ext cx="393" cy="96"/>
            </a:xfrm>
            <a:prstGeom prst="rect">
              <a:avLst/>
            </a:prstGeom>
            <a:solidFill>
              <a:srgbClr val="00B05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25" name="Rectangle 25"/>
            <p:cNvSpPr>
              <a:spLocks noChangeArrowheads="1"/>
            </p:cNvSpPr>
            <p:nvPr/>
          </p:nvSpPr>
          <p:spPr bwMode="auto">
            <a:xfrm>
              <a:off x="2343" y="3190"/>
              <a:ext cx="393" cy="96"/>
            </a:xfrm>
            <a:prstGeom prst="rect">
              <a:avLst/>
            </a:prstGeom>
            <a:solidFill>
              <a:srgbClr val="00B05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26" name="Rectangle 26"/>
            <p:cNvSpPr>
              <a:spLocks noChangeArrowheads="1"/>
            </p:cNvSpPr>
            <p:nvPr/>
          </p:nvSpPr>
          <p:spPr bwMode="auto">
            <a:xfrm>
              <a:off x="2343" y="3334"/>
              <a:ext cx="393" cy="96"/>
            </a:xfrm>
            <a:prstGeom prst="rect">
              <a:avLst/>
            </a:prstGeom>
            <a:solidFill>
              <a:srgbClr val="00B05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27" name="Rectangle 27"/>
            <p:cNvSpPr>
              <a:spLocks noChangeArrowheads="1"/>
            </p:cNvSpPr>
            <p:nvPr/>
          </p:nvSpPr>
          <p:spPr bwMode="auto">
            <a:xfrm>
              <a:off x="1758" y="3046"/>
              <a:ext cx="393" cy="9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Interval Scheduling- Approaches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solidFill>
                  <a:schemeClr val="hlink"/>
                </a:solidFill>
              </a:rPr>
              <a:t>[Earliest start time]</a:t>
            </a:r>
            <a:r>
              <a:rPr lang="en-US" sz="2400" dirty="0" smtClean="0"/>
              <a:t>  Consider jobs in ascending order of </a:t>
            </a:r>
            <a:r>
              <a:rPr lang="en-US" sz="2400" dirty="0" err="1" smtClean="0"/>
              <a:t>s</a:t>
            </a:r>
            <a:r>
              <a:rPr lang="en-US" sz="2400" baseline="-25000" dirty="0" err="1" smtClean="0"/>
              <a:t>j</a:t>
            </a:r>
            <a:r>
              <a:rPr lang="en-US" sz="2400" dirty="0" smtClean="0"/>
              <a:t>.</a:t>
            </a:r>
          </a:p>
          <a:p>
            <a:endParaRPr lang="en-IN" sz="2400" dirty="0" smtClean="0"/>
          </a:p>
          <a:p>
            <a:pPr marL="342900" lvl="1" indent="-342900"/>
            <a:endParaRPr lang="en-US" sz="2400" dirty="0" smtClean="0">
              <a:solidFill>
                <a:schemeClr val="hlink"/>
              </a:solidFill>
            </a:endParaRPr>
          </a:p>
          <a:p>
            <a:r>
              <a:rPr lang="en-US" sz="2400" dirty="0" smtClean="0">
                <a:solidFill>
                  <a:schemeClr val="hlink"/>
                </a:solidFill>
              </a:rPr>
              <a:t>[Shortest interval]</a:t>
            </a:r>
            <a:r>
              <a:rPr lang="en-US" sz="2400" dirty="0" smtClean="0"/>
              <a:t>  Consider jobs in ascending order of </a:t>
            </a:r>
            <a:r>
              <a:rPr lang="en-US" sz="2400" dirty="0" err="1" smtClean="0"/>
              <a:t>f</a:t>
            </a:r>
            <a:r>
              <a:rPr lang="en-US" sz="2400" baseline="-25000" dirty="0" err="1" smtClean="0"/>
              <a:t>j</a:t>
            </a:r>
            <a:r>
              <a:rPr lang="en-US" sz="2400" dirty="0" smtClean="0"/>
              <a:t> - </a:t>
            </a:r>
            <a:r>
              <a:rPr lang="en-US" sz="2400" dirty="0" err="1" smtClean="0"/>
              <a:t>s</a:t>
            </a:r>
            <a:r>
              <a:rPr lang="en-US" sz="2400" baseline="-25000" dirty="0" err="1" smtClean="0"/>
              <a:t>j</a:t>
            </a:r>
            <a:r>
              <a:rPr lang="en-US" sz="2400" dirty="0" smtClean="0"/>
              <a:t>.</a:t>
            </a:r>
          </a:p>
          <a:p>
            <a:endParaRPr lang="en-US" sz="2400" dirty="0" smtClean="0">
              <a:solidFill>
                <a:schemeClr val="hlink"/>
              </a:solidFill>
            </a:endParaRPr>
          </a:p>
          <a:p>
            <a:endParaRPr lang="en-US" sz="2400" dirty="0" smtClean="0">
              <a:solidFill>
                <a:schemeClr val="hlink"/>
              </a:solidFill>
            </a:endParaRPr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hlink"/>
                </a:solidFill>
              </a:rPr>
              <a:t>[Fewest conflicts]</a:t>
            </a:r>
            <a:r>
              <a:rPr lang="en-US" sz="2000" dirty="0" smtClean="0"/>
              <a:t>  For each job j, count the number of conflicting jobs </a:t>
            </a:r>
            <a:r>
              <a:rPr lang="en-US" sz="2000" dirty="0" err="1" smtClean="0"/>
              <a:t>c</a:t>
            </a:r>
            <a:r>
              <a:rPr lang="en-US" sz="2000" baseline="-25000" dirty="0" err="1" smtClean="0"/>
              <a:t>j</a:t>
            </a:r>
            <a:r>
              <a:rPr lang="en-US" sz="2000" dirty="0" smtClean="0"/>
              <a:t>. Schedule in ascending order of </a:t>
            </a:r>
            <a:r>
              <a:rPr lang="en-US" sz="2000" dirty="0" err="1" smtClean="0"/>
              <a:t>c</a:t>
            </a:r>
            <a:r>
              <a:rPr lang="en-US" sz="2000" baseline="-25000" dirty="0" err="1" smtClean="0"/>
              <a:t>j</a:t>
            </a:r>
            <a:r>
              <a:rPr lang="en-US" sz="2000" dirty="0" smtClean="0"/>
              <a:t>.</a:t>
            </a:r>
          </a:p>
          <a:p>
            <a:endParaRPr lang="en-US" dirty="0" smtClean="0"/>
          </a:p>
          <a:p>
            <a:endParaRPr lang="en-US" sz="2400" dirty="0" smtClean="0">
              <a:solidFill>
                <a:schemeClr val="hlink"/>
              </a:solidFill>
            </a:endParaRPr>
          </a:p>
          <a:p>
            <a:endParaRPr lang="en-US" sz="2400" dirty="0" smtClean="0">
              <a:solidFill>
                <a:schemeClr val="hlink"/>
              </a:solidFill>
            </a:endParaRPr>
          </a:p>
          <a:p>
            <a:pPr marL="342900" lvl="1" indent="-342900"/>
            <a:endParaRPr lang="en-US" sz="2400" dirty="0" smtClean="0"/>
          </a:p>
          <a:p>
            <a:endParaRPr lang="en-IN" sz="2400" dirty="0"/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855663" y="2286000"/>
            <a:ext cx="7199312" cy="381000"/>
            <a:chOff x="768" y="1584"/>
            <a:chExt cx="4535" cy="240"/>
          </a:xfrm>
        </p:grpSpPr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2016" y="1584"/>
              <a:ext cx="393" cy="96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1488" y="1584"/>
              <a:ext cx="393" cy="96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960" y="1584"/>
              <a:ext cx="393" cy="96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2583" y="1584"/>
              <a:ext cx="393" cy="96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768" y="1728"/>
              <a:ext cx="2352" cy="9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3696" y="1617"/>
              <a:ext cx="1607" cy="1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sm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200" dirty="0"/>
                <a:t>counterexample for earliest start time</a:t>
              </a:r>
            </a:p>
          </p:txBody>
        </p:sp>
      </p:grpSp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1143000" y="3570288"/>
            <a:ext cx="6807200" cy="392112"/>
            <a:chOff x="960" y="2201"/>
            <a:chExt cx="4288" cy="247"/>
          </a:xfrm>
        </p:grpSpPr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960" y="2208"/>
              <a:ext cx="912" cy="96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2064" y="2208"/>
              <a:ext cx="912" cy="96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1680" y="2352"/>
              <a:ext cx="528" cy="9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15" name="Rectangle 15"/>
            <p:cNvSpPr>
              <a:spLocks noChangeArrowheads="1"/>
            </p:cNvSpPr>
            <p:nvPr/>
          </p:nvSpPr>
          <p:spPr bwMode="auto">
            <a:xfrm>
              <a:off x="3696" y="2201"/>
              <a:ext cx="1552" cy="1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sm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200" dirty="0"/>
                <a:t>counterexample for shortest interval</a:t>
              </a:r>
            </a:p>
          </p:txBody>
        </p:sp>
      </p:grpSp>
      <p:grpSp>
        <p:nvGrpSpPr>
          <p:cNvPr id="16" name="Group 16"/>
          <p:cNvGrpSpPr>
            <a:grpSpLocks/>
          </p:cNvGrpSpPr>
          <p:nvPr/>
        </p:nvGrpSpPr>
        <p:grpSpPr bwMode="auto">
          <a:xfrm>
            <a:off x="1135063" y="5094288"/>
            <a:ext cx="6759575" cy="925512"/>
            <a:chOff x="960" y="2847"/>
            <a:chExt cx="4258" cy="583"/>
          </a:xfrm>
        </p:grpSpPr>
        <p:sp>
          <p:nvSpPr>
            <p:cNvPr id="17" name="Rectangle 17"/>
            <p:cNvSpPr>
              <a:spLocks noChangeArrowheads="1"/>
            </p:cNvSpPr>
            <p:nvPr/>
          </p:nvSpPr>
          <p:spPr bwMode="auto">
            <a:xfrm>
              <a:off x="2016" y="2902"/>
              <a:ext cx="393" cy="96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1488" y="2902"/>
              <a:ext cx="393" cy="9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19" name="Rectangle 19"/>
            <p:cNvSpPr>
              <a:spLocks noChangeArrowheads="1"/>
            </p:cNvSpPr>
            <p:nvPr/>
          </p:nvSpPr>
          <p:spPr bwMode="auto">
            <a:xfrm>
              <a:off x="960" y="2902"/>
              <a:ext cx="393" cy="96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20" name="Rectangle 20"/>
            <p:cNvSpPr>
              <a:spLocks noChangeArrowheads="1"/>
            </p:cNvSpPr>
            <p:nvPr/>
          </p:nvSpPr>
          <p:spPr bwMode="auto">
            <a:xfrm>
              <a:off x="2583" y="2902"/>
              <a:ext cx="393" cy="96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21" name="Rectangle 21"/>
            <p:cNvSpPr>
              <a:spLocks noChangeArrowheads="1"/>
            </p:cNvSpPr>
            <p:nvPr/>
          </p:nvSpPr>
          <p:spPr bwMode="auto">
            <a:xfrm>
              <a:off x="1239" y="3046"/>
              <a:ext cx="393" cy="96"/>
            </a:xfrm>
            <a:prstGeom prst="rect">
              <a:avLst/>
            </a:prstGeom>
            <a:solidFill>
              <a:srgbClr val="00B05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22" name="Rectangle 22"/>
            <p:cNvSpPr>
              <a:spLocks noChangeArrowheads="1"/>
            </p:cNvSpPr>
            <p:nvPr/>
          </p:nvSpPr>
          <p:spPr bwMode="auto">
            <a:xfrm>
              <a:off x="1248" y="3190"/>
              <a:ext cx="393" cy="96"/>
            </a:xfrm>
            <a:prstGeom prst="rect">
              <a:avLst/>
            </a:prstGeom>
            <a:solidFill>
              <a:srgbClr val="00B05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23" name="Rectangle 23"/>
            <p:cNvSpPr>
              <a:spLocks noChangeArrowheads="1"/>
            </p:cNvSpPr>
            <p:nvPr/>
          </p:nvSpPr>
          <p:spPr bwMode="auto">
            <a:xfrm>
              <a:off x="1248" y="3334"/>
              <a:ext cx="393" cy="96"/>
            </a:xfrm>
            <a:prstGeom prst="rect">
              <a:avLst/>
            </a:prstGeom>
            <a:solidFill>
              <a:srgbClr val="00B05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24" name="Rectangle 24"/>
            <p:cNvSpPr>
              <a:spLocks noChangeArrowheads="1"/>
            </p:cNvSpPr>
            <p:nvPr/>
          </p:nvSpPr>
          <p:spPr bwMode="auto">
            <a:xfrm>
              <a:off x="2343" y="3046"/>
              <a:ext cx="393" cy="96"/>
            </a:xfrm>
            <a:prstGeom prst="rect">
              <a:avLst/>
            </a:prstGeom>
            <a:solidFill>
              <a:srgbClr val="00B05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25" name="Rectangle 25"/>
            <p:cNvSpPr>
              <a:spLocks noChangeArrowheads="1"/>
            </p:cNvSpPr>
            <p:nvPr/>
          </p:nvSpPr>
          <p:spPr bwMode="auto">
            <a:xfrm>
              <a:off x="2343" y="3190"/>
              <a:ext cx="393" cy="96"/>
            </a:xfrm>
            <a:prstGeom prst="rect">
              <a:avLst/>
            </a:prstGeom>
            <a:solidFill>
              <a:srgbClr val="00B05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26" name="Rectangle 26"/>
            <p:cNvSpPr>
              <a:spLocks noChangeArrowheads="1"/>
            </p:cNvSpPr>
            <p:nvPr/>
          </p:nvSpPr>
          <p:spPr bwMode="auto">
            <a:xfrm>
              <a:off x="2343" y="3334"/>
              <a:ext cx="393" cy="96"/>
            </a:xfrm>
            <a:prstGeom prst="rect">
              <a:avLst/>
            </a:prstGeom>
            <a:solidFill>
              <a:srgbClr val="00B05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27" name="Rectangle 27"/>
            <p:cNvSpPr>
              <a:spLocks noChangeArrowheads="1"/>
            </p:cNvSpPr>
            <p:nvPr/>
          </p:nvSpPr>
          <p:spPr bwMode="auto">
            <a:xfrm>
              <a:off x="1758" y="3046"/>
              <a:ext cx="393" cy="9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28" name="Rectangle 28"/>
            <p:cNvSpPr>
              <a:spLocks noChangeArrowheads="1"/>
            </p:cNvSpPr>
            <p:nvPr/>
          </p:nvSpPr>
          <p:spPr bwMode="auto">
            <a:xfrm>
              <a:off x="3696" y="2847"/>
              <a:ext cx="1522" cy="1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sm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200" dirty="0"/>
                <a:t>counterexample for fewest conflicts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Interval Scheduling- Approaches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5400" dirty="0" smtClean="0"/>
              <a:t>So what is the approach remaining???</a:t>
            </a:r>
            <a:endParaRPr lang="en-IN" sz="5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Interval Scheduling- Approaches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solidFill>
                  <a:schemeClr val="hlink"/>
                </a:solidFill>
              </a:rPr>
              <a:t>[Earliest </a:t>
            </a:r>
            <a:r>
              <a:rPr lang="en-US" sz="2400" dirty="0" err="1" smtClean="0">
                <a:solidFill>
                  <a:schemeClr val="hlink"/>
                </a:solidFill>
              </a:rPr>
              <a:t>finishtime</a:t>
            </a:r>
            <a:r>
              <a:rPr lang="en-US" sz="2400" dirty="0" smtClean="0">
                <a:solidFill>
                  <a:schemeClr val="hlink"/>
                </a:solidFill>
              </a:rPr>
              <a:t>]</a:t>
            </a:r>
            <a:r>
              <a:rPr lang="en-US" sz="2400" dirty="0" smtClean="0"/>
              <a:t>  Consider jobs in ascending order of </a:t>
            </a:r>
            <a:r>
              <a:rPr lang="en-US" sz="2400" dirty="0" err="1" smtClean="0"/>
              <a:t>f</a:t>
            </a:r>
            <a:r>
              <a:rPr lang="en-US" sz="2400" baseline="-25000" dirty="0" err="1" smtClean="0"/>
              <a:t>j</a:t>
            </a:r>
            <a:r>
              <a:rPr lang="en-US" sz="2400" dirty="0" smtClean="0"/>
              <a:t>.</a:t>
            </a:r>
          </a:p>
          <a:p>
            <a:endParaRPr lang="en-IN" sz="2400" dirty="0" smtClean="0"/>
          </a:p>
          <a:p>
            <a:pPr marL="342900" lvl="1" indent="-342900"/>
            <a:endParaRPr lang="en-US" sz="2400" dirty="0" smtClean="0">
              <a:solidFill>
                <a:schemeClr val="hlink"/>
              </a:solidFill>
            </a:endParaRPr>
          </a:p>
          <a:p>
            <a:endParaRPr lang="en-US" sz="2400" dirty="0" smtClean="0">
              <a:solidFill>
                <a:schemeClr val="hlink"/>
              </a:solidFill>
            </a:endParaRPr>
          </a:p>
          <a:p>
            <a:endParaRPr lang="en-US" sz="2400" dirty="0" smtClean="0">
              <a:solidFill>
                <a:schemeClr val="hlink"/>
              </a:solidFill>
            </a:endParaRPr>
          </a:p>
          <a:p>
            <a:endParaRPr lang="en-US" dirty="0" smtClean="0"/>
          </a:p>
          <a:p>
            <a:endParaRPr lang="en-US" sz="2400" dirty="0" smtClean="0">
              <a:solidFill>
                <a:schemeClr val="hlink"/>
              </a:solidFill>
            </a:endParaRPr>
          </a:p>
          <a:p>
            <a:endParaRPr lang="en-US" sz="2400" dirty="0" smtClean="0">
              <a:solidFill>
                <a:schemeClr val="hlink"/>
              </a:solidFill>
            </a:endParaRPr>
          </a:p>
          <a:p>
            <a:pPr marL="342900" lvl="1" indent="-342900"/>
            <a:endParaRPr lang="en-US" sz="2400" dirty="0" smtClean="0"/>
          </a:p>
          <a:p>
            <a:endParaRPr lang="en-IN" sz="2400" dirty="0"/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855663" y="2286002"/>
            <a:ext cx="6535741" cy="700088"/>
            <a:chOff x="768" y="1584"/>
            <a:chExt cx="4117" cy="441"/>
          </a:xfrm>
        </p:grpSpPr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2016" y="1584"/>
              <a:ext cx="393" cy="96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1488" y="1584"/>
              <a:ext cx="393" cy="96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960" y="1584"/>
              <a:ext cx="393" cy="96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2583" y="1584"/>
              <a:ext cx="393" cy="96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768" y="1728"/>
              <a:ext cx="2352" cy="9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3696" y="1617"/>
              <a:ext cx="1189" cy="40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 type="none" w="sm" len="sm"/>
            </a:ln>
            <a:effectLst/>
          </p:spPr>
          <p:txBody>
            <a:bodyPr wrap="square" lIns="92075" tIns="46038" rIns="92075" bIns="46038">
              <a:spAutoFit/>
            </a:bodyPr>
            <a:lstStyle/>
            <a:p>
              <a:r>
                <a:rPr lang="en-US" dirty="0" smtClean="0"/>
                <a:t>Solution =4 intervals</a:t>
              </a:r>
              <a:endParaRPr lang="en-US" dirty="0"/>
            </a:p>
          </p:txBody>
        </p:sp>
      </p:grpSp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1143000" y="3581405"/>
            <a:ext cx="3200400" cy="381000"/>
            <a:chOff x="960" y="2208"/>
            <a:chExt cx="2016" cy="240"/>
          </a:xfrm>
        </p:grpSpPr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960" y="2208"/>
              <a:ext cx="912" cy="96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2064" y="2208"/>
              <a:ext cx="912" cy="96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1680" y="2352"/>
              <a:ext cx="528" cy="9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6"/>
          <p:cNvGrpSpPr>
            <a:grpSpLocks/>
          </p:cNvGrpSpPr>
          <p:nvPr/>
        </p:nvGrpSpPr>
        <p:grpSpPr bwMode="auto">
          <a:xfrm>
            <a:off x="1135063" y="5181603"/>
            <a:ext cx="3200400" cy="838200"/>
            <a:chOff x="960" y="2902"/>
            <a:chExt cx="2016" cy="528"/>
          </a:xfrm>
        </p:grpSpPr>
        <p:sp>
          <p:nvSpPr>
            <p:cNvPr id="17" name="Rectangle 17"/>
            <p:cNvSpPr>
              <a:spLocks noChangeArrowheads="1"/>
            </p:cNvSpPr>
            <p:nvPr/>
          </p:nvSpPr>
          <p:spPr bwMode="auto">
            <a:xfrm>
              <a:off x="2016" y="2902"/>
              <a:ext cx="393" cy="96"/>
            </a:xfrm>
            <a:prstGeom prst="rect">
              <a:avLst/>
            </a:prstGeom>
            <a:solidFill>
              <a:srgbClr val="00B05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1488" y="2902"/>
              <a:ext cx="393" cy="96"/>
            </a:xfrm>
            <a:prstGeom prst="rect">
              <a:avLst/>
            </a:prstGeom>
            <a:solidFill>
              <a:srgbClr val="00B05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19" name="Rectangle 19"/>
            <p:cNvSpPr>
              <a:spLocks noChangeArrowheads="1"/>
            </p:cNvSpPr>
            <p:nvPr/>
          </p:nvSpPr>
          <p:spPr bwMode="auto">
            <a:xfrm>
              <a:off x="960" y="2902"/>
              <a:ext cx="393" cy="96"/>
            </a:xfrm>
            <a:prstGeom prst="rect">
              <a:avLst/>
            </a:prstGeom>
            <a:solidFill>
              <a:srgbClr val="00B05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20" name="Rectangle 20"/>
            <p:cNvSpPr>
              <a:spLocks noChangeArrowheads="1"/>
            </p:cNvSpPr>
            <p:nvPr/>
          </p:nvSpPr>
          <p:spPr bwMode="auto">
            <a:xfrm>
              <a:off x="2583" y="2902"/>
              <a:ext cx="393" cy="96"/>
            </a:xfrm>
            <a:prstGeom prst="rect">
              <a:avLst/>
            </a:prstGeom>
            <a:solidFill>
              <a:srgbClr val="00B05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21" name="Rectangle 21"/>
            <p:cNvSpPr>
              <a:spLocks noChangeArrowheads="1"/>
            </p:cNvSpPr>
            <p:nvPr/>
          </p:nvSpPr>
          <p:spPr bwMode="auto">
            <a:xfrm>
              <a:off x="1239" y="3046"/>
              <a:ext cx="393" cy="96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22" name="Rectangle 22"/>
            <p:cNvSpPr>
              <a:spLocks noChangeArrowheads="1"/>
            </p:cNvSpPr>
            <p:nvPr/>
          </p:nvSpPr>
          <p:spPr bwMode="auto">
            <a:xfrm>
              <a:off x="1248" y="3190"/>
              <a:ext cx="393" cy="96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23" name="Rectangle 23"/>
            <p:cNvSpPr>
              <a:spLocks noChangeArrowheads="1"/>
            </p:cNvSpPr>
            <p:nvPr/>
          </p:nvSpPr>
          <p:spPr bwMode="auto">
            <a:xfrm>
              <a:off x="1248" y="3334"/>
              <a:ext cx="393" cy="96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24" name="Rectangle 24"/>
            <p:cNvSpPr>
              <a:spLocks noChangeArrowheads="1"/>
            </p:cNvSpPr>
            <p:nvPr/>
          </p:nvSpPr>
          <p:spPr bwMode="auto">
            <a:xfrm>
              <a:off x="2343" y="3046"/>
              <a:ext cx="393" cy="96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25" name="Rectangle 25"/>
            <p:cNvSpPr>
              <a:spLocks noChangeArrowheads="1"/>
            </p:cNvSpPr>
            <p:nvPr/>
          </p:nvSpPr>
          <p:spPr bwMode="auto">
            <a:xfrm>
              <a:off x="2343" y="3190"/>
              <a:ext cx="393" cy="96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26" name="Rectangle 26"/>
            <p:cNvSpPr>
              <a:spLocks noChangeArrowheads="1"/>
            </p:cNvSpPr>
            <p:nvPr/>
          </p:nvSpPr>
          <p:spPr bwMode="auto">
            <a:xfrm>
              <a:off x="2343" y="3334"/>
              <a:ext cx="393" cy="96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  <p:sp>
          <p:nvSpPr>
            <p:cNvPr id="27" name="Rectangle 27"/>
            <p:cNvSpPr>
              <a:spLocks noChangeArrowheads="1"/>
            </p:cNvSpPr>
            <p:nvPr/>
          </p:nvSpPr>
          <p:spPr bwMode="auto">
            <a:xfrm>
              <a:off x="1758" y="3046"/>
              <a:ext cx="393" cy="9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10"/>
          <p:cNvSpPr>
            <a:spLocks noChangeArrowheads="1"/>
          </p:cNvSpPr>
          <p:nvPr/>
        </p:nvSpPr>
        <p:spPr bwMode="auto">
          <a:xfrm>
            <a:off x="5638800" y="3657600"/>
            <a:ext cx="1887538" cy="64697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 type="none" w="sm" len="sm"/>
          </a:ln>
          <a:effectLst/>
        </p:spPr>
        <p:txBody>
          <a:bodyPr wrap="square" lIns="92075" tIns="46038" rIns="92075" bIns="46038">
            <a:spAutoFit/>
          </a:bodyPr>
          <a:lstStyle/>
          <a:p>
            <a:r>
              <a:rPr lang="en-US" dirty="0" smtClean="0"/>
              <a:t>Solution =2 intervals</a:t>
            </a:r>
            <a:endParaRPr lang="en-US" dirty="0"/>
          </a:p>
        </p:txBody>
      </p:sp>
      <p:sp>
        <p:nvSpPr>
          <p:cNvPr id="30" name="Rectangle 10"/>
          <p:cNvSpPr>
            <a:spLocks noChangeArrowheads="1"/>
          </p:cNvSpPr>
          <p:nvPr/>
        </p:nvSpPr>
        <p:spPr bwMode="auto">
          <a:xfrm>
            <a:off x="5410200" y="5105400"/>
            <a:ext cx="1887538" cy="64697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 type="none" w="sm" len="sm"/>
          </a:ln>
          <a:effectLst/>
        </p:spPr>
        <p:txBody>
          <a:bodyPr wrap="square" lIns="92075" tIns="46038" rIns="92075" bIns="46038">
            <a:spAutoFit/>
          </a:bodyPr>
          <a:lstStyle/>
          <a:p>
            <a:r>
              <a:rPr lang="en-US" dirty="0" smtClean="0"/>
              <a:t>Solution =4 intervals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Interval Scheduling- Approaches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5400" dirty="0" smtClean="0"/>
              <a:t>So what is the greedy approach?</a:t>
            </a:r>
          </a:p>
          <a:p>
            <a:r>
              <a:rPr lang="en-IN" sz="5400" dirty="0" smtClean="0"/>
              <a:t>Why it is greedy??</a:t>
            </a:r>
            <a:endParaRPr lang="en-IN" sz="5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Interval Scheduling- Algorithm</a:t>
            </a:r>
            <a:endParaRPr lang="en-I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" y="1524000"/>
            <a:ext cx="6248400" cy="947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52600" y="2895600"/>
            <a:ext cx="5764463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7391400" y="2876490"/>
            <a:ext cx="762000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1</a:t>
            </a:r>
            <a:endParaRPr lang="en-US" sz="20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752600" y="3810000"/>
            <a:ext cx="3581400" cy="422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7315200" y="3810000"/>
            <a:ext cx="914400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2</a:t>
            </a:r>
            <a:endParaRPr lang="en-US" sz="20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752600" y="4495800"/>
            <a:ext cx="4962525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9"/>
          <p:cNvSpPr/>
          <p:nvPr/>
        </p:nvSpPr>
        <p:spPr>
          <a:xfrm>
            <a:off x="7315200" y="4572000"/>
            <a:ext cx="914400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3</a:t>
            </a:r>
            <a:endParaRPr lang="en-US" sz="20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066800" y="2514600"/>
            <a:ext cx="354330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990600" y="5181600"/>
            <a:ext cx="5705475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Interval Scheduling-Example</a:t>
            </a:r>
            <a:endParaRPr lang="en-I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1447800"/>
            <a:ext cx="6963508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2819400"/>
            <a:ext cx="7883912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66800" y="4572000"/>
            <a:ext cx="7696200" cy="879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/>
          </a:bodyPr>
          <a:lstStyle/>
          <a:p>
            <a:r>
              <a:rPr lang="en-IN" sz="3200" dirty="0" smtClean="0"/>
              <a:t>Interval Scheduling-Example</a:t>
            </a:r>
            <a:endParaRPr lang="en-IN" sz="32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1066800"/>
            <a:ext cx="6963508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60088" y="1981200"/>
            <a:ext cx="7883912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19200" y="2971800"/>
            <a:ext cx="7696200" cy="879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219199" y="4038600"/>
            <a:ext cx="7831015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990600" y="5181600"/>
            <a:ext cx="77724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Problem – Interval Scheduling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Find the intervals that can be scheduled for the following set of requests.</a:t>
            </a:r>
          </a:p>
          <a:p>
            <a:endParaRPr lang="en-IN" dirty="0" smtClean="0"/>
          </a:p>
          <a:p>
            <a:endParaRPr lang="en-IN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990600" y="3581400"/>
            <a:ext cx="1643074" cy="15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990600" y="4581532"/>
            <a:ext cx="2357454" cy="15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990600" y="4081466"/>
            <a:ext cx="1214446" cy="15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3848120" y="4581532"/>
            <a:ext cx="857256" cy="15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848120" y="4081466"/>
            <a:ext cx="1214446" cy="15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6705640" y="4152904"/>
            <a:ext cx="1643074" cy="15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776946" y="4652970"/>
            <a:ext cx="857256" cy="15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776946" y="3509962"/>
            <a:ext cx="1643074" cy="15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371600" y="3733800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a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1371600" y="31242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b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1447800" y="419100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c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4114800" y="41910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d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4191000" y="35814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e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6096000" y="4191000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f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6248400" y="2971800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g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7315200" y="36576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h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Implementation and running time Analysis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IN" dirty="0" err="1" smtClean="0">
                <a:solidFill>
                  <a:srgbClr val="FF0000"/>
                </a:solidFill>
              </a:rPr>
              <a:t>f_sorted</a:t>
            </a:r>
            <a:r>
              <a:rPr lang="en-IN" dirty="0" smtClean="0">
                <a:solidFill>
                  <a:srgbClr val="FF0000"/>
                </a:solidFill>
              </a:rPr>
              <a:t>=sort the n requests in </a:t>
            </a:r>
          </a:p>
          <a:p>
            <a:pPr>
              <a:buNone/>
            </a:pPr>
            <a:r>
              <a:rPr lang="en-IN" dirty="0" smtClean="0">
                <a:solidFill>
                  <a:srgbClr val="FF0000"/>
                </a:solidFill>
              </a:rPr>
              <a:t>		order of finish time				O(n </a:t>
            </a:r>
            <a:r>
              <a:rPr lang="en-IN" dirty="0" err="1" smtClean="0">
                <a:solidFill>
                  <a:srgbClr val="FF0000"/>
                </a:solidFill>
              </a:rPr>
              <a:t>logn</a:t>
            </a:r>
            <a:r>
              <a:rPr lang="en-IN" dirty="0" smtClean="0">
                <a:solidFill>
                  <a:srgbClr val="FF0000"/>
                </a:solidFill>
              </a:rPr>
              <a:t>) </a:t>
            </a:r>
          </a:p>
          <a:p>
            <a:pPr>
              <a:buNone/>
            </a:pPr>
            <a:r>
              <a:rPr lang="en-IN" dirty="0" smtClean="0"/>
              <a:t>	schedule = {} </a:t>
            </a:r>
          </a:p>
          <a:p>
            <a:pPr>
              <a:buNone/>
            </a:pPr>
            <a:r>
              <a:rPr lang="en-IN" dirty="0" smtClean="0"/>
              <a:t>	</a:t>
            </a:r>
            <a:r>
              <a:rPr lang="en-IN" dirty="0" err="1" smtClean="0"/>
              <a:t>last_finish</a:t>
            </a:r>
            <a:r>
              <a:rPr lang="en-IN" dirty="0" smtClean="0"/>
              <a:t> = 0 </a:t>
            </a:r>
          </a:p>
          <a:p>
            <a:pPr>
              <a:buNone/>
            </a:pPr>
            <a:r>
              <a:rPr lang="en-IN" dirty="0" smtClean="0"/>
              <a:t>	for </a:t>
            </a:r>
            <a:r>
              <a:rPr lang="en-IN" dirty="0" err="1" smtClean="0"/>
              <a:t>i</a:t>
            </a:r>
            <a:r>
              <a:rPr lang="en-IN" dirty="0" smtClean="0"/>
              <a:t> = 1 to n: </a:t>
            </a:r>
            <a:endParaRPr lang="en-IN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IN" dirty="0" smtClean="0"/>
              <a:t>		if s(</a:t>
            </a:r>
            <a:r>
              <a:rPr lang="en-IN" dirty="0" err="1" smtClean="0"/>
              <a:t>i</a:t>
            </a:r>
            <a:r>
              <a:rPr lang="en-IN" dirty="0" smtClean="0"/>
              <a:t>)&gt;= </a:t>
            </a:r>
            <a:r>
              <a:rPr lang="en-IN" dirty="0" err="1" smtClean="0"/>
              <a:t>last_finish</a:t>
            </a:r>
            <a:r>
              <a:rPr lang="en-IN" dirty="0" smtClean="0"/>
              <a:t>: </a:t>
            </a:r>
          </a:p>
          <a:p>
            <a:pPr>
              <a:buNone/>
            </a:pPr>
            <a:r>
              <a:rPr lang="en-IN" dirty="0" smtClean="0"/>
              <a:t>			Add </a:t>
            </a:r>
            <a:r>
              <a:rPr lang="en-IN" dirty="0" err="1" smtClean="0"/>
              <a:t>i</a:t>
            </a:r>
            <a:r>
              <a:rPr lang="en-IN" dirty="0" smtClean="0"/>
              <a:t> to schedule </a:t>
            </a:r>
          </a:p>
          <a:p>
            <a:pPr>
              <a:buNone/>
            </a:pPr>
            <a:r>
              <a:rPr lang="en-IN" dirty="0" smtClean="0"/>
              <a:t>			</a:t>
            </a:r>
            <a:r>
              <a:rPr lang="en-IN" dirty="0" err="1" smtClean="0"/>
              <a:t>last_finish</a:t>
            </a:r>
            <a:r>
              <a:rPr lang="en-IN" dirty="0" smtClean="0"/>
              <a:t> = </a:t>
            </a:r>
            <a:r>
              <a:rPr lang="en-IN" dirty="0" err="1" smtClean="0"/>
              <a:t>f_sorted</a:t>
            </a:r>
            <a:r>
              <a:rPr lang="en-IN" dirty="0" smtClean="0"/>
              <a:t>(</a:t>
            </a:r>
            <a:r>
              <a:rPr lang="en-IN" dirty="0" err="1" smtClean="0"/>
              <a:t>i</a:t>
            </a:r>
            <a:r>
              <a:rPr lang="en-IN" dirty="0" smtClean="0"/>
              <a:t>) </a:t>
            </a:r>
          </a:p>
          <a:p>
            <a:pPr>
              <a:buNone/>
            </a:pPr>
            <a:r>
              <a:rPr lang="en-IN" dirty="0" smtClean="0"/>
              <a:t>		</a:t>
            </a:r>
            <a:r>
              <a:rPr lang="en-IN" dirty="0" err="1" smtClean="0"/>
              <a:t>endif</a:t>
            </a:r>
            <a:endParaRPr lang="en-IN" dirty="0" smtClean="0"/>
          </a:p>
          <a:p>
            <a:pPr>
              <a:buNone/>
            </a:pPr>
            <a:r>
              <a:rPr lang="en-IN" dirty="0" smtClean="0"/>
              <a:t>	</a:t>
            </a:r>
            <a:r>
              <a:rPr lang="en-IN" dirty="0" err="1" smtClean="0"/>
              <a:t>endfor</a:t>
            </a:r>
            <a:endParaRPr lang="en-IN" dirty="0" smtClean="0"/>
          </a:p>
          <a:p>
            <a:pPr>
              <a:buNone/>
            </a:pPr>
            <a:r>
              <a:rPr lang="en-IN" dirty="0" smtClean="0"/>
              <a:t>return schedule 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Summary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Interval scheduling problem</a:t>
            </a:r>
          </a:p>
          <a:p>
            <a:r>
              <a:rPr lang="en-IN" dirty="0" smtClean="0"/>
              <a:t>Approach for the scheduling problem</a:t>
            </a:r>
          </a:p>
          <a:p>
            <a:r>
              <a:rPr lang="en-IN" dirty="0" smtClean="0"/>
              <a:t>Small examples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Analysis-Proof of correctness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i="1" dirty="0" smtClean="0"/>
              <a:t>The greedy algorithm returns an optimal set A.</a:t>
            </a:r>
          </a:p>
          <a:p>
            <a:pPr lvl="1"/>
            <a:r>
              <a:rPr lang="en-IN" i="1" dirty="0" smtClean="0"/>
              <a:t>A is a compatible set of requests.</a:t>
            </a:r>
          </a:p>
          <a:p>
            <a:pPr lvl="1"/>
            <a:r>
              <a:rPr lang="en-IN" i="1" dirty="0" smtClean="0"/>
              <a:t>When do you say it as compatible?</a:t>
            </a:r>
          </a:p>
          <a:p>
            <a:pPr lvl="1"/>
            <a:r>
              <a:rPr lang="en-IN" i="1" dirty="0" smtClean="0">
                <a:solidFill>
                  <a:srgbClr val="FF0000"/>
                </a:solidFill>
              </a:rPr>
              <a:t>f (</a:t>
            </a:r>
            <a:r>
              <a:rPr lang="en-IN" i="1" dirty="0" err="1" smtClean="0">
                <a:solidFill>
                  <a:srgbClr val="FF0000"/>
                </a:solidFill>
              </a:rPr>
              <a:t>i</a:t>
            </a:r>
            <a:r>
              <a:rPr lang="en-IN" i="1" dirty="0" smtClean="0">
                <a:solidFill>
                  <a:srgbClr val="FF0000"/>
                </a:solidFill>
              </a:rPr>
              <a:t>) </a:t>
            </a:r>
            <a:r>
              <a:rPr lang="en-IN" dirty="0" smtClean="0">
                <a:solidFill>
                  <a:srgbClr val="FF0000"/>
                </a:solidFill>
              </a:rPr>
              <a:t>≤ </a:t>
            </a:r>
            <a:r>
              <a:rPr lang="en-IN" i="1" dirty="0" smtClean="0">
                <a:solidFill>
                  <a:srgbClr val="FF0000"/>
                </a:solidFill>
              </a:rPr>
              <a:t>f (j)------------------------</a:t>
            </a:r>
            <a:r>
              <a:rPr lang="en-IN" i="1" dirty="0" smtClean="0">
                <a:solidFill>
                  <a:srgbClr val="FF0000"/>
                </a:solidFill>
                <a:sym typeface="Wingdings" pitchFamily="2" charset="2"/>
              </a:rPr>
              <a:t> (1)</a:t>
            </a:r>
            <a:endParaRPr lang="en-IN" i="1" dirty="0" smtClean="0">
              <a:solidFill>
                <a:srgbClr val="FF0000"/>
              </a:solidFill>
            </a:endParaRPr>
          </a:p>
          <a:p>
            <a:pPr lvl="1"/>
            <a:r>
              <a:rPr lang="en-IN" dirty="0" smtClean="0"/>
              <a:t>Let </a:t>
            </a:r>
            <a:r>
              <a:rPr lang="en-IN" b="1" dirty="0" smtClean="0"/>
              <a:t>A={</a:t>
            </a:r>
            <a:r>
              <a:rPr lang="en-IN" b="1" i="1" dirty="0" smtClean="0"/>
              <a:t>i</a:t>
            </a:r>
            <a:r>
              <a:rPr lang="en-IN" b="1" baseline="-25000" dirty="0" smtClean="0"/>
              <a:t>1</a:t>
            </a:r>
            <a:r>
              <a:rPr lang="en-IN" b="1" dirty="0" smtClean="0"/>
              <a:t>, . . . , </a:t>
            </a:r>
            <a:r>
              <a:rPr lang="en-IN" b="1" i="1" dirty="0" err="1" smtClean="0"/>
              <a:t>i</a:t>
            </a:r>
            <a:r>
              <a:rPr lang="en-IN" b="1" i="1" baseline="-25000" dirty="0" err="1" smtClean="0"/>
              <a:t>k</a:t>
            </a:r>
            <a:r>
              <a:rPr lang="en-IN" b="1" i="1" dirty="0" smtClean="0"/>
              <a:t> }</a:t>
            </a:r>
            <a:r>
              <a:rPr lang="en-IN" b="1" dirty="0" smtClean="0"/>
              <a:t> </a:t>
            </a:r>
            <a:r>
              <a:rPr lang="en-IN" dirty="0" smtClean="0"/>
              <a:t>Note that |</a:t>
            </a:r>
            <a:r>
              <a:rPr lang="en-IN" i="1" dirty="0" smtClean="0"/>
              <a:t>A</a:t>
            </a:r>
            <a:r>
              <a:rPr lang="en-IN" dirty="0" smtClean="0"/>
              <a:t>| = </a:t>
            </a:r>
            <a:r>
              <a:rPr lang="en-IN" i="1" dirty="0" smtClean="0"/>
              <a:t>k</a:t>
            </a:r>
            <a:r>
              <a:rPr lang="en-IN" dirty="0" smtClean="0"/>
              <a:t>. Similarly,</a:t>
            </a:r>
          </a:p>
          <a:p>
            <a:pPr lvl="1"/>
            <a:r>
              <a:rPr lang="en-IN" b="1" dirty="0" smtClean="0"/>
              <a:t>O ={</a:t>
            </a:r>
            <a:r>
              <a:rPr lang="en-IN" b="1" i="1" dirty="0" smtClean="0"/>
              <a:t>j</a:t>
            </a:r>
            <a:r>
              <a:rPr lang="en-IN" b="1" baseline="-25000" dirty="0" smtClean="0"/>
              <a:t>1</a:t>
            </a:r>
            <a:r>
              <a:rPr lang="en-IN" b="1" dirty="0" smtClean="0"/>
              <a:t>, . . . , </a:t>
            </a:r>
            <a:r>
              <a:rPr lang="en-IN" b="1" i="1" dirty="0" err="1" smtClean="0"/>
              <a:t>j</a:t>
            </a:r>
            <a:r>
              <a:rPr lang="en-IN" b="1" i="1" baseline="-25000" dirty="0" err="1" smtClean="0"/>
              <a:t>m</a:t>
            </a:r>
            <a:r>
              <a:rPr lang="en-IN" b="1" i="1" dirty="0" smtClean="0"/>
              <a:t> }</a:t>
            </a:r>
            <a:r>
              <a:rPr lang="en-IN" dirty="0" smtClean="0"/>
              <a:t> Our goal is to prove that </a:t>
            </a:r>
          </a:p>
          <a:p>
            <a:pPr lvl="1"/>
            <a:r>
              <a:rPr lang="en-IN" i="1" dirty="0" smtClean="0"/>
              <a:t>k </a:t>
            </a:r>
            <a:r>
              <a:rPr lang="en-IN" dirty="0" smtClean="0"/>
              <a:t>= </a:t>
            </a:r>
            <a:r>
              <a:rPr lang="en-IN" i="1" dirty="0" smtClean="0"/>
              <a:t>m</a:t>
            </a:r>
            <a:r>
              <a:rPr lang="en-IN" dirty="0" smtClean="0"/>
              <a:t>.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Analysis-Proof of correctness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i="1" dirty="0" smtClean="0"/>
              <a:t>A is a compatible set of requests </a:t>
            </a:r>
          </a:p>
          <a:p>
            <a:pPr lvl="1"/>
            <a:r>
              <a:rPr lang="en-IN" dirty="0" smtClean="0"/>
              <a:t>Let </a:t>
            </a:r>
            <a:r>
              <a:rPr lang="en-IN" i="1" dirty="0" smtClean="0"/>
              <a:t>i</a:t>
            </a:r>
            <a:r>
              <a:rPr lang="en-IN" baseline="-25000" dirty="0" smtClean="0"/>
              <a:t>1</a:t>
            </a:r>
            <a:r>
              <a:rPr lang="en-IN" dirty="0" smtClean="0"/>
              <a:t>, . . . , </a:t>
            </a:r>
            <a:r>
              <a:rPr lang="en-IN" i="1" dirty="0" err="1" smtClean="0"/>
              <a:t>i</a:t>
            </a:r>
            <a:r>
              <a:rPr lang="en-IN" i="1" baseline="-25000" dirty="0" err="1" smtClean="0"/>
              <a:t>k</a:t>
            </a:r>
            <a:r>
              <a:rPr lang="en-IN" i="1" dirty="0" smtClean="0"/>
              <a:t> </a:t>
            </a:r>
            <a:r>
              <a:rPr lang="en-IN" dirty="0" smtClean="0"/>
              <a:t>be the set of requests in </a:t>
            </a:r>
            <a:r>
              <a:rPr lang="en-IN" b="1" i="1" dirty="0" smtClean="0"/>
              <a:t>A</a:t>
            </a:r>
            <a:r>
              <a:rPr lang="en-IN" i="1" dirty="0" smtClean="0"/>
              <a:t> </a:t>
            </a:r>
            <a:r>
              <a:rPr lang="en-IN" dirty="0" smtClean="0"/>
              <a:t>in the order they were added to </a:t>
            </a:r>
            <a:r>
              <a:rPr lang="en-IN" i="1" dirty="0" smtClean="0"/>
              <a:t>A</a:t>
            </a:r>
            <a:r>
              <a:rPr lang="en-IN" dirty="0" smtClean="0"/>
              <a:t>. Note that |</a:t>
            </a:r>
            <a:r>
              <a:rPr lang="en-IN" i="1" dirty="0" smtClean="0"/>
              <a:t>A</a:t>
            </a:r>
            <a:r>
              <a:rPr lang="en-IN" dirty="0" smtClean="0"/>
              <a:t>| = </a:t>
            </a:r>
            <a:r>
              <a:rPr lang="en-IN" i="1" dirty="0" smtClean="0"/>
              <a:t>k</a:t>
            </a:r>
            <a:r>
              <a:rPr lang="en-IN" dirty="0" smtClean="0"/>
              <a:t>. Similarly,</a:t>
            </a:r>
          </a:p>
          <a:p>
            <a:pPr lvl="1"/>
            <a:r>
              <a:rPr lang="en-IN" dirty="0" smtClean="0"/>
              <a:t>Let the set of requests in optimal set </a:t>
            </a:r>
            <a:r>
              <a:rPr lang="en-IN" b="1" dirty="0" smtClean="0"/>
              <a:t>O</a:t>
            </a:r>
            <a:r>
              <a:rPr lang="en-IN" dirty="0" smtClean="0"/>
              <a:t> be denoted by </a:t>
            </a:r>
            <a:r>
              <a:rPr lang="en-IN" i="1" dirty="0" smtClean="0"/>
              <a:t>j</a:t>
            </a:r>
            <a:r>
              <a:rPr lang="en-IN" baseline="-25000" dirty="0" smtClean="0"/>
              <a:t>1</a:t>
            </a:r>
            <a:r>
              <a:rPr lang="en-IN" dirty="0" smtClean="0"/>
              <a:t>, . . . , </a:t>
            </a:r>
            <a:r>
              <a:rPr lang="en-IN" i="1" dirty="0" err="1" smtClean="0"/>
              <a:t>j</a:t>
            </a:r>
            <a:r>
              <a:rPr lang="en-IN" i="1" baseline="-25000" dirty="0" err="1" smtClean="0"/>
              <a:t>m</a:t>
            </a:r>
            <a:r>
              <a:rPr lang="en-IN" dirty="0" smtClean="0"/>
              <a:t>. Our goal is to prove that </a:t>
            </a:r>
            <a:r>
              <a:rPr lang="en-IN" i="1" dirty="0" smtClean="0"/>
              <a:t>k </a:t>
            </a:r>
            <a:r>
              <a:rPr lang="en-IN" dirty="0" smtClean="0"/>
              <a:t>= </a:t>
            </a:r>
            <a:r>
              <a:rPr lang="en-IN" i="1" dirty="0" smtClean="0"/>
              <a:t>m</a:t>
            </a:r>
            <a:r>
              <a:rPr lang="en-IN" dirty="0" smtClean="0"/>
              <a:t>.</a:t>
            </a:r>
          </a:p>
          <a:p>
            <a:pPr lvl="1"/>
            <a:r>
              <a:rPr lang="en-IN" dirty="0" smtClean="0"/>
              <a:t>we now prove that for each </a:t>
            </a:r>
            <a:r>
              <a:rPr lang="en-IN" i="1" dirty="0" smtClean="0"/>
              <a:t>r </a:t>
            </a:r>
            <a:r>
              <a:rPr lang="en-IN" dirty="0" smtClean="0"/>
              <a:t>≥ 1, the </a:t>
            </a:r>
            <a:r>
              <a:rPr lang="en-IN" i="1" dirty="0" err="1" smtClean="0"/>
              <a:t>r</a:t>
            </a:r>
            <a:r>
              <a:rPr lang="en-IN" dirty="0" err="1" smtClean="0"/>
              <a:t>th</a:t>
            </a:r>
            <a:r>
              <a:rPr lang="en-IN" dirty="0" smtClean="0"/>
              <a:t> accepted request in the algorithm’s schedule finishes no later than the </a:t>
            </a:r>
            <a:r>
              <a:rPr lang="en-IN" i="1" dirty="0" err="1" smtClean="0"/>
              <a:t>r</a:t>
            </a:r>
            <a:r>
              <a:rPr lang="en-IN" dirty="0" err="1" smtClean="0"/>
              <a:t>th</a:t>
            </a:r>
            <a:r>
              <a:rPr lang="en-IN" dirty="0" smtClean="0"/>
              <a:t> request in the optimal schedule.	</a:t>
            </a:r>
            <a:endParaRPr lang="en-IN" sz="2400" dirty="0" smtClean="0"/>
          </a:p>
          <a:p>
            <a:pPr>
              <a:buNone/>
            </a:pPr>
            <a:r>
              <a:rPr lang="en-IN" dirty="0" smtClean="0"/>
              <a:t>		i.e. </a:t>
            </a:r>
            <a:r>
              <a:rPr lang="en-IN" i="1" dirty="0" smtClean="0">
                <a:solidFill>
                  <a:srgbClr val="FF0000"/>
                </a:solidFill>
              </a:rPr>
              <a:t>For all indices r </a:t>
            </a:r>
            <a:r>
              <a:rPr lang="en-IN" dirty="0" smtClean="0">
                <a:solidFill>
                  <a:srgbClr val="FF0000"/>
                </a:solidFill>
              </a:rPr>
              <a:t>≤ </a:t>
            </a:r>
            <a:r>
              <a:rPr lang="en-IN" i="1" dirty="0" smtClean="0">
                <a:solidFill>
                  <a:srgbClr val="FF0000"/>
                </a:solidFill>
              </a:rPr>
              <a:t>k we have f (</a:t>
            </a:r>
            <a:r>
              <a:rPr lang="en-IN" i="1" dirty="0" err="1" smtClean="0">
                <a:solidFill>
                  <a:srgbClr val="FF0000"/>
                </a:solidFill>
              </a:rPr>
              <a:t>i</a:t>
            </a:r>
            <a:r>
              <a:rPr lang="en-IN" i="1" baseline="-25000" dirty="0" err="1" smtClean="0">
                <a:solidFill>
                  <a:srgbClr val="FF0000"/>
                </a:solidFill>
              </a:rPr>
              <a:t>r</a:t>
            </a:r>
            <a:r>
              <a:rPr lang="en-IN" i="1" dirty="0" smtClean="0">
                <a:solidFill>
                  <a:srgbClr val="FF0000"/>
                </a:solidFill>
              </a:rPr>
              <a:t>) </a:t>
            </a:r>
            <a:r>
              <a:rPr lang="en-IN" dirty="0" smtClean="0">
                <a:solidFill>
                  <a:srgbClr val="FF0000"/>
                </a:solidFill>
              </a:rPr>
              <a:t>≤ </a:t>
            </a:r>
            <a:r>
              <a:rPr lang="en-IN" i="1" dirty="0" smtClean="0">
                <a:solidFill>
                  <a:srgbClr val="FF0000"/>
                </a:solidFill>
              </a:rPr>
              <a:t>f (</a:t>
            </a:r>
            <a:r>
              <a:rPr lang="en-IN" i="1" dirty="0" err="1" smtClean="0">
                <a:solidFill>
                  <a:srgbClr val="FF0000"/>
                </a:solidFill>
              </a:rPr>
              <a:t>j</a:t>
            </a:r>
            <a:r>
              <a:rPr lang="en-IN" i="1" baseline="-25000" dirty="0" err="1" smtClean="0">
                <a:solidFill>
                  <a:srgbClr val="FF0000"/>
                </a:solidFill>
              </a:rPr>
              <a:t>r</a:t>
            </a:r>
            <a:r>
              <a:rPr lang="en-IN" i="1" dirty="0" smtClean="0">
                <a:solidFill>
                  <a:srgbClr val="FF0000"/>
                </a:solidFill>
              </a:rPr>
              <a:t>)-</a:t>
            </a:r>
            <a:r>
              <a:rPr lang="en-IN" i="1" dirty="0" smtClean="0">
                <a:solidFill>
                  <a:srgbClr val="FF0000"/>
                </a:solidFill>
                <a:sym typeface="Wingdings" pitchFamily="2" charset="2"/>
              </a:rPr>
              <a:t> (2)</a:t>
            </a:r>
            <a:endParaRPr lang="en-IN" sz="2800" dirty="0" smtClean="0">
              <a:solidFill>
                <a:srgbClr val="FF0000"/>
              </a:solidFill>
            </a:endParaRPr>
          </a:p>
          <a:p>
            <a:pPr lvl="1"/>
            <a:endParaRPr lang="en-IN" dirty="0" smtClean="0"/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Analysis-Proof of correctness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i="1" dirty="0" smtClean="0"/>
              <a:t>A is a compatible set of requests </a:t>
            </a:r>
          </a:p>
          <a:p>
            <a:pPr lvl="1"/>
            <a:r>
              <a:rPr lang="en-IN" dirty="0" smtClean="0"/>
              <a:t>	i.e. </a:t>
            </a:r>
            <a:r>
              <a:rPr lang="en-IN" i="1" dirty="0" smtClean="0"/>
              <a:t>For all indices r </a:t>
            </a:r>
            <a:r>
              <a:rPr lang="en-IN" dirty="0" smtClean="0"/>
              <a:t>≤ </a:t>
            </a:r>
            <a:r>
              <a:rPr lang="en-IN" i="1" dirty="0" smtClean="0"/>
              <a:t>k we have f (</a:t>
            </a:r>
            <a:r>
              <a:rPr lang="en-IN" i="1" dirty="0" err="1" smtClean="0"/>
              <a:t>i</a:t>
            </a:r>
            <a:r>
              <a:rPr lang="en-IN" i="1" baseline="-25000" dirty="0" err="1" smtClean="0"/>
              <a:t>r</a:t>
            </a:r>
            <a:r>
              <a:rPr lang="en-IN" i="1" dirty="0" smtClean="0"/>
              <a:t>) </a:t>
            </a:r>
            <a:r>
              <a:rPr lang="en-IN" dirty="0" smtClean="0"/>
              <a:t>≤ </a:t>
            </a:r>
            <a:r>
              <a:rPr lang="en-IN" i="1" dirty="0" smtClean="0"/>
              <a:t>f (</a:t>
            </a:r>
            <a:r>
              <a:rPr lang="en-IN" i="1" dirty="0" err="1" smtClean="0"/>
              <a:t>j</a:t>
            </a:r>
            <a:r>
              <a:rPr lang="en-IN" i="1" baseline="-25000" dirty="0" err="1" smtClean="0"/>
              <a:t>r</a:t>
            </a:r>
            <a:r>
              <a:rPr lang="en-IN" i="1" dirty="0" smtClean="0"/>
              <a:t>).</a:t>
            </a:r>
          </a:p>
          <a:p>
            <a:pPr lvl="1"/>
            <a:r>
              <a:rPr lang="en-IN" sz="2400" dirty="0" smtClean="0"/>
              <a:t>For </a:t>
            </a:r>
            <a:r>
              <a:rPr lang="en-IN" sz="2400" i="1" dirty="0" smtClean="0"/>
              <a:t>r </a:t>
            </a:r>
            <a:r>
              <a:rPr lang="en-IN" sz="2400" dirty="0" smtClean="0"/>
              <a:t>= 1 the statement is clearly true: the algorithm starts by selecting the request </a:t>
            </a:r>
            <a:r>
              <a:rPr lang="en-IN" sz="2400" i="1" dirty="0" smtClean="0"/>
              <a:t>i</a:t>
            </a:r>
            <a:r>
              <a:rPr lang="en-IN" sz="2400" baseline="-25000" dirty="0" smtClean="0"/>
              <a:t>1</a:t>
            </a:r>
            <a:r>
              <a:rPr lang="en-IN" sz="2400" dirty="0" smtClean="0"/>
              <a:t> with minimum finish time.</a:t>
            </a:r>
          </a:p>
          <a:p>
            <a:pPr lvl="1"/>
            <a:r>
              <a:rPr lang="en-IN" dirty="0" smtClean="0"/>
              <a:t>let </a:t>
            </a:r>
            <a:r>
              <a:rPr lang="en-IN" i="1" dirty="0" smtClean="0"/>
              <a:t>r &gt; </a:t>
            </a:r>
            <a:r>
              <a:rPr lang="en-IN" dirty="0" smtClean="0"/>
              <a:t>1, assume the following set of requests for the greedy and the optimal schedule.</a:t>
            </a:r>
          </a:p>
          <a:p>
            <a:pPr lvl="1"/>
            <a:endParaRPr lang="en-IN" dirty="0"/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4495800"/>
            <a:ext cx="64008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Analysis-Proof of correctness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i="1" dirty="0" smtClean="0"/>
              <a:t>A is a compatible set of requests </a:t>
            </a:r>
          </a:p>
          <a:p>
            <a:pPr lvl="1"/>
            <a:r>
              <a:rPr lang="en-IN" dirty="0" smtClean="0"/>
              <a:t>i.e. </a:t>
            </a:r>
            <a:r>
              <a:rPr lang="en-IN" i="1" dirty="0" smtClean="0"/>
              <a:t>For all indices r </a:t>
            </a:r>
            <a:r>
              <a:rPr lang="en-IN" dirty="0" smtClean="0"/>
              <a:t>≤ </a:t>
            </a:r>
            <a:r>
              <a:rPr lang="en-IN" i="1" dirty="0" smtClean="0"/>
              <a:t>k we have f (</a:t>
            </a:r>
            <a:r>
              <a:rPr lang="en-IN" i="1" dirty="0" err="1" smtClean="0"/>
              <a:t>i</a:t>
            </a:r>
            <a:r>
              <a:rPr lang="en-IN" i="1" baseline="-25000" dirty="0" err="1" smtClean="0"/>
              <a:t>r</a:t>
            </a:r>
            <a:r>
              <a:rPr lang="en-IN" i="1" dirty="0" smtClean="0"/>
              <a:t>) </a:t>
            </a:r>
            <a:r>
              <a:rPr lang="en-IN" dirty="0" smtClean="0"/>
              <a:t>≤ </a:t>
            </a:r>
            <a:r>
              <a:rPr lang="en-IN" i="1" dirty="0" smtClean="0"/>
              <a:t>f (</a:t>
            </a:r>
            <a:r>
              <a:rPr lang="en-IN" i="1" dirty="0" err="1" smtClean="0"/>
              <a:t>j</a:t>
            </a:r>
            <a:r>
              <a:rPr lang="en-IN" i="1" baseline="-25000" dirty="0" err="1" smtClean="0"/>
              <a:t>r</a:t>
            </a:r>
            <a:r>
              <a:rPr lang="en-IN" i="1" dirty="0" smtClean="0"/>
              <a:t>).</a:t>
            </a:r>
          </a:p>
          <a:p>
            <a:pPr lvl="1"/>
            <a:endParaRPr lang="en-IN" i="1" dirty="0" smtClean="0"/>
          </a:p>
          <a:p>
            <a:pPr lvl="1"/>
            <a:endParaRPr lang="en-IN" i="1" dirty="0" smtClean="0"/>
          </a:p>
          <a:p>
            <a:pPr lvl="1"/>
            <a:endParaRPr lang="en-IN" i="1" dirty="0" smtClean="0"/>
          </a:p>
          <a:p>
            <a:pPr lvl="1"/>
            <a:endParaRPr lang="en-IN" i="1" dirty="0" smtClean="0"/>
          </a:p>
          <a:p>
            <a:pPr lvl="1"/>
            <a:r>
              <a:rPr lang="en-IN" i="1" dirty="0" smtClean="0"/>
              <a:t>f (j</a:t>
            </a:r>
            <a:r>
              <a:rPr lang="en-IN" i="1" baseline="-25000" dirty="0" smtClean="0"/>
              <a:t>r</a:t>
            </a:r>
            <a:r>
              <a:rPr lang="en-IN" baseline="-25000" dirty="0" smtClean="0"/>
              <a:t>−1</a:t>
            </a:r>
            <a:r>
              <a:rPr lang="en-IN" i="1" dirty="0" smtClean="0"/>
              <a:t>) </a:t>
            </a:r>
            <a:r>
              <a:rPr lang="en-IN" dirty="0" smtClean="0"/>
              <a:t>≤ </a:t>
            </a:r>
            <a:r>
              <a:rPr lang="en-IN" i="1" dirty="0" smtClean="0"/>
              <a:t>s(</a:t>
            </a:r>
            <a:r>
              <a:rPr lang="en-IN" i="1" dirty="0" err="1" smtClean="0"/>
              <a:t>j</a:t>
            </a:r>
            <a:r>
              <a:rPr lang="en-IN" i="1" baseline="-25000" dirty="0" err="1" smtClean="0"/>
              <a:t>r</a:t>
            </a:r>
            <a:r>
              <a:rPr lang="en-IN" i="1" dirty="0" smtClean="0"/>
              <a:t>).</a:t>
            </a:r>
          </a:p>
          <a:p>
            <a:pPr lvl="1"/>
            <a:r>
              <a:rPr lang="en-IN" i="1" dirty="0" smtClean="0"/>
              <a:t>f (i</a:t>
            </a:r>
            <a:r>
              <a:rPr lang="en-IN" i="1" baseline="-25000" dirty="0" smtClean="0"/>
              <a:t>r</a:t>
            </a:r>
            <a:r>
              <a:rPr lang="en-IN" baseline="-25000" dirty="0" smtClean="0"/>
              <a:t>−1</a:t>
            </a:r>
            <a:r>
              <a:rPr lang="en-IN" i="1" dirty="0" smtClean="0"/>
              <a:t>) </a:t>
            </a:r>
            <a:r>
              <a:rPr lang="en-IN" dirty="0" smtClean="0"/>
              <a:t>≤ </a:t>
            </a:r>
            <a:r>
              <a:rPr lang="en-IN" i="1" dirty="0" smtClean="0"/>
              <a:t>f (j</a:t>
            </a:r>
            <a:r>
              <a:rPr lang="en-IN" i="1" baseline="-25000" dirty="0" smtClean="0"/>
              <a:t>r</a:t>
            </a:r>
            <a:r>
              <a:rPr lang="en-IN" baseline="-25000" dirty="0" smtClean="0"/>
              <a:t>−1</a:t>
            </a:r>
            <a:r>
              <a:rPr lang="en-IN" i="1" dirty="0" smtClean="0"/>
              <a:t>)</a:t>
            </a:r>
            <a:r>
              <a:rPr lang="en-IN" dirty="0" smtClean="0"/>
              <a:t>, </a:t>
            </a:r>
          </a:p>
          <a:p>
            <a:pPr lvl="1"/>
            <a:r>
              <a:rPr lang="en-IN" dirty="0" smtClean="0"/>
              <a:t>we get </a:t>
            </a:r>
            <a:r>
              <a:rPr lang="en-IN" i="1" dirty="0" smtClean="0"/>
              <a:t>f (i</a:t>
            </a:r>
            <a:r>
              <a:rPr lang="en-IN" i="1" baseline="-25000" dirty="0" smtClean="0"/>
              <a:t>r</a:t>
            </a:r>
            <a:r>
              <a:rPr lang="en-IN" baseline="-25000" dirty="0" smtClean="0"/>
              <a:t>−1</a:t>
            </a:r>
            <a:r>
              <a:rPr lang="en-IN" i="1" dirty="0" smtClean="0"/>
              <a:t>) </a:t>
            </a:r>
            <a:r>
              <a:rPr lang="en-IN" dirty="0" smtClean="0"/>
              <a:t>≤ </a:t>
            </a:r>
            <a:r>
              <a:rPr lang="en-IN" i="1" dirty="0" smtClean="0"/>
              <a:t>s(</a:t>
            </a:r>
            <a:r>
              <a:rPr lang="en-IN" i="1" dirty="0" err="1" smtClean="0"/>
              <a:t>j</a:t>
            </a:r>
            <a:r>
              <a:rPr lang="en-IN" i="1" baseline="-25000" dirty="0" err="1" smtClean="0"/>
              <a:t>r</a:t>
            </a:r>
            <a:r>
              <a:rPr lang="en-IN" i="1" dirty="0" smtClean="0"/>
              <a:t>)</a:t>
            </a:r>
            <a:r>
              <a:rPr lang="en-IN" dirty="0" smtClean="0"/>
              <a:t>.</a:t>
            </a:r>
            <a:endParaRPr lang="en-IN" dirty="0"/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2590800"/>
            <a:ext cx="64008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Analysis-Proof of correctness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i="1" dirty="0" smtClean="0"/>
              <a:t>A is a compatible set of requests </a:t>
            </a:r>
          </a:p>
          <a:p>
            <a:pPr lvl="1"/>
            <a:r>
              <a:rPr lang="en-IN" dirty="0" smtClean="0"/>
              <a:t>i.e. </a:t>
            </a:r>
            <a:r>
              <a:rPr lang="en-IN" i="1" dirty="0" smtClean="0"/>
              <a:t>For all indices r </a:t>
            </a:r>
            <a:r>
              <a:rPr lang="en-IN" dirty="0" smtClean="0"/>
              <a:t>≤ </a:t>
            </a:r>
            <a:r>
              <a:rPr lang="en-IN" i="1" dirty="0" smtClean="0"/>
              <a:t>k we have f (</a:t>
            </a:r>
            <a:r>
              <a:rPr lang="en-IN" i="1" dirty="0" err="1" smtClean="0"/>
              <a:t>i</a:t>
            </a:r>
            <a:r>
              <a:rPr lang="en-IN" i="1" baseline="-25000" dirty="0" err="1" smtClean="0"/>
              <a:t>r</a:t>
            </a:r>
            <a:r>
              <a:rPr lang="en-IN" i="1" dirty="0" smtClean="0"/>
              <a:t>) </a:t>
            </a:r>
            <a:r>
              <a:rPr lang="en-IN" dirty="0" smtClean="0"/>
              <a:t>≤ </a:t>
            </a:r>
            <a:r>
              <a:rPr lang="en-IN" i="1" dirty="0" smtClean="0"/>
              <a:t>f (</a:t>
            </a:r>
            <a:r>
              <a:rPr lang="en-IN" i="1" dirty="0" err="1" smtClean="0"/>
              <a:t>j</a:t>
            </a:r>
            <a:r>
              <a:rPr lang="en-IN" i="1" baseline="-25000" dirty="0" err="1" smtClean="0"/>
              <a:t>r</a:t>
            </a:r>
            <a:r>
              <a:rPr lang="en-IN" i="1" dirty="0" smtClean="0"/>
              <a:t>).</a:t>
            </a:r>
          </a:p>
          <a:p>
            <a:pPr lvl="1"/>
            <a:endParaRPr lang="en-IN" i="1" dirty="0" smtClean="0"/>
          </a:p>
          <a:p>
            <a:pPr lvl="1"/>
            <a:endParaRPr lang="en-IN" i="1" dirty="0" smtClean="0"/>
          </a:p>
          <a:p>
            <a:pPr lvl="1"/>
            <a:endParaRPr lang="en-IN" i="1" dirty="0" smtClean="0"/>
          </a:p>
          <a:p>
            <a:pPr lvl="1"/>
            <a:endParaRPr lang="en-IN" i="1" dirty="0" smtClean="0"/>
          </a:p>
          <a:p>
            <a:pPr lvl="1"/>
            <a:r>
              <a:rPr lang="en-IN" i="1" dirty="0" smtClean="0"/>
              <a:t>f (j</a:t>
            </a:r>
            <a:r>
              <a:rPr lang="en-IN" i="1" baseline="-25000" dirty="0" smtClean="0"/>
              <a:t>r</a:t>
            </a:r>
            <a:r>
              <a:rPr lang="en-IN" baseline="-25000" dirty="0" smtClean="0"/>
              <a:t>−1</a:t>
            </a:r>
            <a:r>
              <a:rPr lang="en-IN" i="1" dirty="0" smtClean="0"/>
              <a:t>) </a:t>
            </a:r>
            <a:r>
              <a:rPr lang="en-IN" dirty="0" smtClean="0"/>
              <a:t>≤ </a:t>
            </a:r>
            <a:r>
              <a:rPr lang="en-IN" i="1" dirty="0" smtClean="0"/>
              <a:t>s(</a:t>
            </a:r>
            <a:r>
              <a:rPr lang="en-IN" i="1" dirty="0" err="1" smtClean="0"/>
              <a:t>j</a:t>
            </a:r>
            <a:r>
              <a:rPr lang="en-IN" i="1" baseline="-25000" dirty="0" err="1" smtClean="0"/>
              <a:t>r</a:t>
            </a:r>
            <a:r>
              <a:rPr lang="en-IN" i="1" dirty="0" smtClean="0"/>
              <a:t>).</a:t>
            </a:r>
          </a:p>
          <a:p>
            <a:pPr lvl="1"/>
            <a:r>
              <a:rPr lang="en-IN" i="1" dirty="0" smtClean="0"/>
              <a:t>f (i</a:t>
            </a:r>
            <a:r>
              <a:rPr lang="en-IN" i="1" baseline="-25000" dirty="0" smtClean="0"/>
              <a:t>r</a:t>
            </a:r>
            <a:r>
              <a:rPr lang="en-IN" baseline="-25000" dirty="0" smtClean="0"/>
              <a:t>−1</a:t>
            </a:r>
            <a:r>
              <a:rPr lang="en-IN" i="1" dirty="0" smtClean="0"/>
              <a:t>) </a:t>
            </a:r>
            <a:r>
              <a:rPr lang="en-IN" dirty="0" smtClean="0"/>
              <a:t>≤ </a:t>
            </a:r>
            <a:r>
              <a:rPr lang="en-IN" i="1" dirty="0" smtClean="0"/>
              <a:t>f (j</a:t>
            </a:r>
            <a:r>
              <a:rPr lang="en-IN" i="1" baseline="-25000" dirty="0" smtClean="0"/>
              <a:t>r</a:t>
            </a:r>
            <a:r>
              <a:rPr lang="en-IN" baseline="-25000" dirty="0" smtClean="0"/>
              <a:t>−1</a:t>
            </a:r>
            <a:r>
              <a:rPr lang="en-IN" i="1" dirty="0" smtClean="0"/>
              <a:t>)</a:t>
            </a:r>
            <a:r>
              <a:rPr lang="en-IN" dirty="0" smtClean="0"/>
              <a:t>, </a:t>
            </a:r>
          </a:p>
          <a:p>
            <a:pPr lvl="1"/>
            <a:r>
              <a:rPr lang="en-IN" dirty="0" smtClean="0"/>
              <a:t>we get </a:t>
            </a:r>
            <a:r>
              <a:rPr lang="en-IN" i="1" dirty="0" smtClean="0"/>
              <a:t>f (i</a:t>
            </a:r>
            <a:r>
              <a:rPr lang="en-IN" i="1" baseline="-25000" dirty="0" smtClean="0"/>
              <a:t>r</a:t>
            </a:r>
            <a:r>
              <a:rPr lang="en-IN" baseline="-25000" dirty="0" smtClean="0"/>
              <a:t>−1</a:t>
            </a:r>
            <a:r>
              <a:rPr lang="en-IN" i="1" dirty="0" smtClean="0"/>
              <a:t>) </a:t>
            </a:r>
            <a:r>
              <a:rPr lang="en-IN" dirty="0" smtClean="0"/>
              <a:t>≤ </a:t>
            </a:r>
            <a:r>
              <a:rPr lang="en-IN" i="1" dirty="0" smtClean="0"/>
              <a:t>s(</a:t>
            </a:r>
            <a:r>
              <a:rPr lang="en-IN" i="1" dirty="0" err="1" smtClean="0"/>
              <a:t>j</a:t>
            </a:r>
            <a:r>
              <a:rPr lang="en-IN" i="1" baseline="-25000" dirty="0" err="1" smtClean="0"/>
              <a:t>r</a:t>
            </a:r>
            <a:r>
              <a:rPr lang="en-IN" i="1" dirty="0" smtClean="0"/>
              <a:t>)</a:t>
            </a:r>
            <a:r>
              <a:rPr lang="en-IN" dirty="0" smtClean="0"/>
              <a:t>.</a:t>
            </a:r>
          </a:p>
          <a:p>
            <a:pPr lvl="1"/>
            <a:r>
              <a:rPr lang="en-IN" dirty="0" smtClean="0"/>
              <a:t>The greedy algorithm selects the available interval with </a:t>
            </a:r>
            <a:r>
              <a:rPr lang="en-IN" i="1" dirty="0" smtClean="0"/>
              <a:t>smallest </a:t>
            </a:r>
            <a:r>
              <a:rPr lang="en-IN" dirty="0" smtClean="0"/>
              <a:t>finish time; since interval </a:t>
            </a:r>
            <a:r>
              <a:rPr lang="en-IN" i="1" dirty="0" err="1" smtClean="0"/>
              <a:t>j</a:t>
            </a:r>
            <a:r>
              <a:rPr lang="en-IN" i="1" baseline="-25000" dirty="0" err="1" smtClean="0"/>
              <a:t>r</a:t>
            </a:r>
            <a:r>
              <a:rPr lang="en-IN" i="1" dirty="0" smtClean="0"/>
              <a:t> </a:t>
            </a:r>
            <a:r>
              <a:rPr lang="en-IN" dirty="0" smtClean="0"/>
              <a:t>is one of these available intervals, we have </a:t>
            </a:r>
            <a:r>
              <a:rPr lang="en-IN" i="1" dirty="0" smtClean="0"/>
              <a:t>f (</a:t>
            </a:r>
            <a:r>
              <a:rPr lang="en-IN" i="1" dirty="0" err="1" smtClean="0"/>
              <a:t>i</a:t>
            </a:r>
            <a:r>
              <a:rPr lang="en-IN" i="1" baseline="-25000" dirty="0" err="1" smtClean="0"/>
              <a:t>r</a:t>
            </a:r>
            <a:r>
              <a:rPr lang="en-IN" i="1" dirty="0" smtClean="0"/>
              <a:t>) </a:t>
            </a:r>
            <a:r>
              <a:rPr lang="en-IN" dirty="0" smtClean="0"/>
              <a:t>≤ </a:t>
            </a:r>
            <a:r>
              <a:rPr lang="en-IN" i="1" dirty="0" smtClean="0"/>
              <a:t>f (</a:t>
            </a:r>
            <a:r>
              <a:rPr lang="en-IN" i="1" dirty="0" err="1" smtClean="0"/>
              <a:t>j</a:t>
            </a:r>
            <a:r>
              <a:rPr lang="en-IN" i="1" baseline="-25000" dirty="0" err="1" smtClean="0"/>
              <a:t>r</a:t>
            </a:r>
            <a:r>
              <a:rPr lang="en-IN" i="1" dirty="0" smtClean="0"/>
              <a:t>)</a:t>
            </a:r>
            <a:r>
              <a:rPr lang="en-IN" dirty="0" smtClean="0"/>
              <a:t>.</a:t>
            </a:r>
            <a:endParaRPr lang="en-IN" dirty="0"/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2590800"/>
            <a:ext cx="6019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Analysis-Proof of correctness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i="1" dirty="0" smtClean="0"/>
              <a:t>The greedy algorithm returns an optimal set A.</a:t>
            </a:r>
          </a:p>
          <a:p>
            <a:pPr lvl="1"/>
            <a:r>
              <a:rPr lang="en-IN" i="1" dirty="0" smtClean="0"/>
              <a:t>A is set of compatible requests---</a:t>
            </a:r>
            <a:r>
              <a:rPr lang="en-IN" i="1" dirty="0" smtClean="0">
                <a:solidFill>
                  <a:srgbClr val="FF0000"/>
                </a:solidFill>
                <a:sym typeface="Wingdings" pitchFamily="2" charset="2"/>
              </a:rPr>
              <a:t> 1</a:t>
            </a:r>
            <a:endParaRPr lang="en-IN" i="1" dirty="0" smtClean="0">
              <a:solidFill>
                <a:srgbClr val="FF0000"/>
              </a:solidFill>
            </a:endParaRPr>
          </a:p>
          <a:p>
            <a:pPr lvl="1"/>
            <a:r>
              <a:rPr lang="en-IN" i="1" dirty="0" smtClean="0"/>
              <a:t>For all indices r </a:t>
            </a:r>
            <a:r>
              <a:rPr lang="en-IN" dirty="0" smtClean="0"/>
              <a:t>≤ </a:t>
            </a:r>
            <a:r>
              <a:rPr lang="en-IN" i="1" dirty="0" smtClean="0"/>
              <a:t>k we have f (</a:t>
            </a:r>
            <a:r>
              <a:rPr lang="en-IN" i="1" dirty="0" err="1" smtClean="0"/>
              <a:t>i</a:t>
            </a:r>
            <a:r>
              <a:rPr lang="en-IN" i="1" baseline="-25000" dirty="0" err="1" smtClean="0"/>
              <a:t>r</a:t>
            </a:r>
            <a:r>
              <a:rPr lang="en-IN" i="1" dirty="0" smtClean="0"/>
              <a:t>) </a:t>
            </a:r>
            <a:r>
              <a:rPr lang="en-IN" dirty="0" smtClean="0"/>
              <a:t>≤ </a:t>
            </a:r>
            <a:r>
              <a:rPr lang="en-IN" i="1" dirty="0" smtClean="0"/>
              <a:t>f (</a:t>
            </a:r>
            <a:r>
              <a:rPr lang="en-IN" i="1" dirty="0" err="1" smtClean="0"/>
              <a:t>j</a:t>
            </a:r>
            <a:r>
              <a:rPr lang="en-IN" i="1" baseline="-25000" dirty="0" err="1" smtClean="0"/>
              <a:t>r</a:t>
            </a:r>
            <a:r>
              <a:rPr lang="en-IN" i="1" dirty="0" smtClean="0"/>
              <a:t>)--</a:t>
            </a:r>
            <a:r>
              <a:rPr lang="en-IN" i="1" dirty="0" smtClean="0">
                <a:solidFill>
                  <a:srgbClr val="FF0000"/>
                </a:solidFill>
                <a:sym typeface="Wingdings" pitchFamily="2" charset="2"/>
              </a:rPr>
              <a:t> 2</a:t>
            </a:r>
            <a:endParaRPr lang="en-IN" i="1" dirty="0" smtClean="0">
              <a:solidFill>
                <a:srgbClr val="FF0000"/>
              </a:solidFill>
            </a:endParaRPr>
          </a:p>
          <a:p>
            <a:pPr lvl="1"/>
            <a:endParaRPr lang="en-IN" i="1" dirty="0" smtClean="0"/>
          </a:p>
          <a:p>
            <a:pPr lvl="1"/>
            <a:r>
              <a:rPr lang="en-IN" dirty="0" smtClean="0"/>
              <a:t>If </a:t>
            </a:r>
            <a:r>
              <a:rPr lang="en-IN" i="1" dirty="0" smtClean="0"/>
              <a:t>A </a:t>
            </a:r>
            <a:r>
              <a:rPr lang="en-IN" dirty="0" smtClean="0"/>
              <a:t>is not optimal, then an optimal set O must have more requests, that is, we must have </a:t>
            </a:r>
            <a:r>
              <a:rPr lang="en-IN" i="1" dirty="0" smtClean="0"/>
              <a:t>m &gt; k</a:t>
            </a:r>
            <a:r>
              <a:rPr lang="en-IN" dirty="0" smtClean="0"/>
              <a:t>.</a:t>
            </a:r>
          </a:p>
          <a:p>
            <a:pPr lvl="1"/>
            <a:r>
              <a:rPr lang="en-IN" dirty="0" smtClean="0"/>
              <a:t>With </a:t>
            </a:r>
            <a:r>
              <a:rPr lang="en-IN" i="1" dirty="0" smtClean="0"/>
              <a:t>r </a:t>
            </a:r>
            <a:r>
              <a:rPr lang="en-IN" dirty="0" smtClean="0"/>
              <a:t>= </a:t>
            </a:r>
            <a:r>
              <a:rPr lang="en-IN" i="1" dirty="0" smtClean="0"/>
              <a:t>k</a:t>
            </a:r>
            <a:r>
              <a:rPr lang="en-IN" dirty="0" smtClean="0"/>
              <a:t>, we get that </a:t>
            </a:r>
            <a:r>
              <a:rPr lang="en-IN" i="1" dirty="0" smtClean="0"/>
              <a:t>f (</a:t>
            </a:r>
            <a:r>
              <a:rPr lang="en-IN" i="1" dirty="0" err="1" smtClean="0"/>
              <a:t>i</a:t>
            </a:r>
            <a:r>
              <a:rPr lang="en-IN" i="1" baseline="-25000" dirty="0" err="1" smtClean="0"/>
              <a:t>k</a:t>
            </a:r>
            <a:r>
              <a:rPr lang="en-IN" i="1" dirty="0" smtClean="0"/>
              <a:t>) </a:t>
            </a:r>
            <a:r>
              <a:rPr lang="en-IN" dirty="0" smtClean="0"/>
              <a:t>≤ </a:t>
            </a:r>
            <a:r>
              <a:rPr lang="en-IN" i="1" dirty="0" smtClean="0"/>
              <a:t>f (</a:t>
            </a:r>
            <a:r>
              <a:rPr lang="en-IN" i="1" dirty="0" err="1" smtClean="0"/>
              <a:t>j</a:t>
            </a:r>
            <a:r>
              <a:rPr lang="en-IN" i="1" baseline="-25000" dirty="0" err="1" smtClean="0"/>
              <a:t>k</a:t>
            </a:r>
            <a:r>
              <a:rPr lang="en-IN" i="1" dirty="0" smtClean="0"/>
              <a:t>)</a:t>
            </a:r>
            <a:r>
              <a:rPr lang="en-IN" dirty="0" smtClean="0"/>
              <a:t>.  By 2</a:t>
            </a:r>
          </a:p>
          <a:p>
            <a:pPr lvl="1"/>
            <a:r>
              <a:rPr lang="en-IN" dirty="0" smtClean="0"/>
              <a:t>Since </a:t>
            </a:r>
            <a:r>
              <a:rPr lang="en-IN" i="1" dirty="0" smtClean="0"/>
              <a:t>m &gt; k</a:t>
            </a:r>
            <a:r>
              <a:rPr lang="en-IN" dirty="0" smtClean="0"/>
              <a:t>, there is a request </a:t>
            </a:r>
            <a:r>
              <a:rPr lang="en-IN" i="1" dirty="0" smtClean="0"/>
              <a:t>j</a:t>
            </a:r>
            <a:r>
              <a:rPr lang="en-IN" i="1" baseline="-25000" dirty="0" smtClean="0"/>
              <a:t>k</a:t>
            </a:r>
            <a:r>
              <a:rPr lang="en-IN" baseline="-25000" dirty="0" smtClean="0"/>
              <a:t>+1</a:t>
            </a:r>
            <a:r>
              <a:rPr lang="en-IN" dirty="0" smtClean="0"/>
              <a:t> in O</a:t>
            </a:r>
            <a:endParaRPr lang="en-IN" i="1" dirty="0" smtClean="0"/>
          </a:p>
          <a:p>
            <a:pPr lvl="1"/>
            <a:endParaRPr lang="en-IN" i="1" dirty="0" smtClean="0"/>
          </a:p>
          <a:p>
            <a:pPr lvl="1"/>
            <a:endParaRPr lang="en-IN" i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Analysis-Proof of correctness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i="1" dirty="0" smtClean="0"/>
              <a:t>The greedy algorithm returns an optimal set A.</a:t>
            </a:r>
          </a:p>
          <a:p>
            <a:pPr lvl="1"/>
            <a:r>
              <a:rPr lang="en-IN" dirty="0" smtClean="0"/>
              <a:t>If </a:t>
            </a:r>
            <a:r>
              <a:rPr lang="en-IN" i="1" dirty="0" smtClean="0"/>
              <a:t>A </a:t>
            </a:r>
            <a:r>
              <a:rPr lang="en-IN" dirty="0" smtClean="0"/>
              <a:t>is not optimal, then an optimal set O must have more requests, that is, we must have </a:t>
            </a:r>
            <a:r>
              <a:rPr lang="en-IN" i="1" dirty="0" smtClean="0"/>
              <a:t>m &gt; k</a:t>
            </a:r>
            <a:r>
              <a:rPr lang="en-IN" dirty="0" smtClean="0"/>
              <a:t>.</a:t>
            </a:r>
          </a:p>
          <a:p>
            <a:pPr lvl="1"/>
            <a:r>
              <a:rPr lang="en-IN" dirty="0" smtClean="0"/>
              <a:t>With </a:t>
            </a:r>
            <a:r>
              <a:rPr lang="en-IN" i="1" dirty="0" smtClean="0"/>
              <a:t>r </a:t>
            </a:r>
            <a:r>
              <a:rPr lang="en-IN" dirty="0" smtClean="0"/>
              <a:t>= </a:t>
            </a:r>
            <a:r>
              <a:rPr lang="en-IN" i="1" dirty="0" smtClean="0"/>
              <a:t>k</a:t>
            </a:r>
            <a:r>
              <a:rPr lang="en-IN" dirty="0" smtClean="0"/>
              <a:t>, we get that </a:t>
            </a:r>
            <a:r>
              <a:rPr lang="en-IN" i="1" dirty="0" smtClean="0"/>
              <a:t>f (</a:t>
            </a:r>
            <a:r>
              <a:rPr lang="en-IN" i="1" dirty="0" err="1" smtClean="0"/>
              <a:t>i</a:t>
            </a:r>
            <a:r>
              <a:rPr lang="en-IN" i="1" baseline="-25000" dirty="0" err="1" smtClean="0"/>
              <a:t>k</a:t>
            </a:r>
            <a:r>
              <a:rPr lang="en-IN" i="1" dirty="0" smtClean="0"/>
              <a:t>) </a:t>
            </a:r>
            <a:r>
              <a:rPr lang="en-IN" dirty="0" smtClean="0"/>
              <a:t>≤ </a:t>
            </a:r>
            <a:r>
              <a:rPr lang="en-IN" i="1" dirty="0" smtClean="0"/>
              <a:t>f (</a:t>
            </a:r>
            <a:r>
              <a:rPr lang="en-IN" i="1" dirty="0" err="1" smtClean="0"/>
              <a:t>j</a:t>
            </a:r>
            <a:r>
              <a:rPr lang="en-IN" i="1" baseline="-25000" dirty="0" err="1" smtClean="0"/>
              <a:t>k</a:t>
            </a:r>
            <a:r>
              <a:rPr lang="en-IN" i="1" dirty="0" smtClean="0"/>
              <a:t>)</a:t>
            </a:r>
            <a:r>
              <a:rPr lang="en-IN" dirty="0" smtClean="0"/>
              <a:t>.  By 2</a:t>
            </a:r>
          </a:p>
          <a:p>
            <a:pPr lvl="1"/>
            <a:r>
              <a:rPr lang="en-IN" dirty="0" smtClean="0"/>
              <a:t>Since </a:t>
            </a:r>
            <a:r>
              <a:rPr lang="en-IN" i="1" dirty="0" smtClean="0"/>
              <a:t>m &gt; k</a:t>
            </a:r>
            <a:r>
              <a:rPr lang="en-IN" dirty="0" smtClean="0"/>
              <a:t>, there is a request </a:t>
            </a:r>
            <a:r>
              <a:rPr lang="en-IN" i="1" dirty="0" smtClean="0"/>
              <a:t>j</a:t>
            </a:r>
            <a:r>
              <a:rPr lang="en-IN" i="1" baseline="-25000" dirty="0" smtClean="0"/>
              <a:t>k</a:t>
            </a:r>
            <a:r>
              <a:rPr lang="en-IN" baseline="-25000" dirty="0" smtClean="0"/>
              <a:t>+1</a:t>
            </a:r>
            <a:r>
              <a:rPr lang="en-IN" dirty="0" smtClean="0"/>
              <a:t> in O</a:t>
            </a:r>
          </a:p>
          <a:p>
            <a:pPr lvl="1"/>
            <a:endParaRPr lang="en-IN" dirty="0" smtClean="0"/>
          </a:p>
          <a:p>
            <a:pPr lvl="1"/>
            <a:endParaRPr lang="en-IN" dirty="0" smtClean="0"/>
          </a:p>
          <a:p>
            <a:pPr lvl="1">
              <a:buNone/>
            </a:pPr>
            <a:endParaRPr lang="en-IN" sz="2400" dirty="0" smtClean="0"/>
          </a:p>
          <a:p>
            <a:pPr lvl="1"/>
            <a:endParaRPr lang="en-IN" dirty="0" smtClean="0"/>
          </a:p>
          <a:p>
            <a:pPr lvl="1"/>
            <a:r>
              <a:rPr lang="en-IN" dirty="0" smtClean="0"/>
              <a:t>But the greedy algorithm stops with request </a:t>
            </a:r>
            <a:r>
              <a:rPr lang="en-IN" i="1" dirty="0" err="1" smtClean="0"/>
              <a:t>i</a:t>
            </a:r>
            <a:r>
              <a:rPr lang="en-IN" i="1" baseline="-25000" dirty="0" err="1" smtClean="0"/>
              <a:t>k</a:t>
            </a:r>
            <a:r>
              <a:rPr lang="en-IN" dirty="0" smtClean="0"/>
              <a:t>, and it is only supposed to stop when </a:t>
            </a:r>
            <a:r>
              <a:rPr lang="en-IN" i="1" dirty="0" smtClean="0"/>
              <a:t>R </a:t>
            </a:r>
            <a:r>
              <a:rPr lang="en-IN" dirty="0" smtClean="0"/>
              <a:t>is empty—a contradiction. Hence, the set A returned is optimal</a:t>
            </a:r>
            <a:endParaRPr lang="en-IN" sz="2400" dirty="0" smtClean="0"/>
          </a:p>
          <a:p>
            <a:pPr lvl="1"/>
            <a:endParaRPr lang="en-IN" i="1" dirty="0" smtClean="0"/>
          </a:p>
          <a:p>
            <a:pPr lvl="1"/>
            <a:endParaRPr lang="en-IN" i="1" dirty="0" smtClean="0"/>
          </a:p>
          <a:p>
            <a:pPr lvl="1"/>
            <a:endParaRPr lang="en-IN" i="1" dirty="0" smtClean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3581400"/>
            <a:ext cx="5334000" cy="1352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i="1" dirty="0" smtClean="0"/>
              <a:t>Interval Partitioning Problem or Scheduling all intervals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 smtClean="0"/>
              <a:t>In the Interval Scheduling Problem, there is a </a:t>
            </a:r>
            <a:r>
              <a:rPr lang="en-IN" b="1" dirty="0" smtClean="0">
                <a:solidFill>
                  <a:srgbClr val="FF0000"/>
                </a:solidFill>
              </a:rPr>
              <a:t>single resource</a:t>
            </a:r>
            <a:r>
              <a:rPr lang="en-IN" dirty="0" smtClean="0"/>
              <a:t> and </a:t>
            </a:r>
            <a:r>
              <a:rPr lang="en-IN" b="1" dirty="0" smtClean="0">
                <a:solidFill>
                  <a:srgbClr val="FF0000"/>
                </a:solidFill>
              </a:rPr>
              <a:t>many requests</a:t>
            </a:r>
            <a:r>
              <a:rPr lang="en-IN" dirty="0" smtClean="0"/>
              <a:t> in the form of time intervals, so we must choose which requests to accept and which to reject. </a:t>
            </a:r>
          </a:p>
          <a:p>
            <a:pPr algn="just"/>
            <a:r>
              <a:rPr lang="en-IN" dirty="0" smtClean="0"/>
              <a:t>A related problem arises if we have many identical resources available and we wish to </a:t>
            </a:r>
            <a:r>
              <a:rPr lang="en-IN" b="1" dirty="0" smtClean="0">
                <a:solidFill>
                  <a:srgbClr val="FF0000"/>
                </a:solidFill>
              </a:rPr>
              <a:t>schedule </a:t>
            </a:r>
            <a:r>
              <a:rPr lang="en-IN" b="1" i="1" dirty="0" smtClean="0">
                <a:solidFill>
                  <a:srgbClr val="FF0000"/>
                </a:solidFill>
              </a:rPr>
              <a:t>all the requests</a:t>
            </a:r>
            <a:r>
              <a:rPr lang="en-IN" i="1" dirty="0" smtClean="0"/>
              <a:t> </a:t>
            </a:r>
            <a:r>
              <a:rPr lang="en-IN" dirty="0" smtClean="0"/>
              <a:t>using as </a:t>
            </a:r>
            <a:r>
              <a:rPr lang="en-IN" b="1" dirty="0" smtClean="0">
                <a:solidFill>
                  <a:srgbClr val="FF0000"/>
                </a:solidFill>
              </a:rPr>
              <a:t>few resources</a:t>
            </a:r>
            <a:r>
              <a:rPr lang="en-IN" dirty="0" smtClean="0"/>
              <a:t> as possible.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i="1" dirty="0" smtClean="0"/>
              <a:t>Interval Partitioning Problem or Scheduling all intervals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IN" dirty="0" smtClean="0"/>
              <a:t>For example, suppose that each request corresponds to a lecture that needs to be scheduled in a classroom for a particular interval of time. </a:t>
            </a:r>
          </a:p>
          <a:p>
            <a:pPr algn="just"/>
            <a:r>
              <a:rPr lang="en-IN" dirty="0" smtClean="0"/>
              <a:t>We wish to satisfy all these requests, using as few classrooms as possible. </a:t>
            </a:r>
          </a:p>
          <a:p>
            <a:pPr algn="just"/>
            <a:r>
              <a:rPr lang="en-IN" dirty="0" smtClean="0"/>
              <a:t>The classrooms at our disposal are thus the multiple resources, and the basic constraint is that </a:t>
            </a:r>
            <a:r>
              <a:rPr lang="en-IN" b="1" dirty="0" smtClean="0">
                <a:solidFill>
                  <a:srgbClr val="FF0000"/>
                </a:solidFill>
              </a:rPr>
              <a:t>any two lectures that overlap </a:t>
            </a:r>
            <a:r>
              <a:rPr lang="en-IN" dirty="0" smtClean="0"/>
              <a:t>in time must be </a:t>
            </a:r>
            <a:r>
              <a:rPr lang="en-IN" b="1" dirty="0" smtClean="0">
                <a:solidFill>
                  <a:srgbClr val="FF0000"/>
                </a:solidFill>
              </a:rPr>
              <a:t>scheduled in different classrooms</a:t>
            </a:r>
            <a:r>
              <a:rPr lang="en-IN" dirty="0" smtClean="0"/>
              <a:t>.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92500"/>
          </a:bodyPr>
          <a:lstStyle/>
          <a:p>
            <a:endParaRPr lang="en-IN" dirty="0" smtClean="0"/>
          </a:p>
          <a:p>
            <a:endParaRPr lang="en-IN" dirty="0" smtClean="0"/>
          </a:p>
          <a:p>
            <a:pPr>
              <a:buNone/>
            </a:pPr>
            <a:endParaRPr lang="en-IN" dirty="0" smtClean="0"/>
          </a:p>
          <a:p>
            <a:endParaRPr lang="en-IN" dirty="0" smtClean="0"/>
          </a:p>
          <a:p>
            <a:r>
              <a:rPr lang="en-IN" dirty="0" smtClean="0"/>
              <a:t>First find the requests that are compatible with each other based on the earliest finish time.</a:t>
            </a:r>
          </a:p>
          <a:p>
            <a:r>
              <a:rPr lang="en-IN" strike="sngStrike" dirty="0" smtClean="0"/>
              <a:t>***{</a:t>
            </a:r>
            <a:r>
              <a:rPr lang="en-IN" strike="sngStrike" dirty="0" err="1" smtClean="0"/>
              <a:t>c,d,f,i</a:t>
            </a:r>
            <a:r>
              <a:rPr lang="en-IN" strike="sngStrike" dirty="0" smtClean="0"/>
              <a:t>}, {</a:t>
            </a:r>
            <a:r>
              <a:rPr lang="en-IN" strike="sngStrike" dirty="0" err="1" smtClean="0"/>
              <a:t>a,e,j</a:t>
            </a:r>
            <a:r>
              <a:rPr lang="en-IN" strike="sngStrike" dirty="0" smtClean="0"/>
              <a:t>},{</a:t>
            </a:r>
            <a:r>
              <a:rPr lang="en-IN" strike="sngStrike" dirty="0" err="1" smtClean="0"/>
              <a:t>b,h</a:t>
            </a:r>
            <a:r>
              <a:rPr lang="en-IN" strike="sngStrike" dirty="0" smtClean="0"/>
              <a:t>} or {</a:t>
            </a:r>
            <a:r>
              <a:rPr lang="en-IN" strike="sngStrike" dirty="0" err="1" smtClean="0"/>
              <a:t>c,d,f,j</a:t>
            </a:r>
            <a:r>
              <a:rPr lang="en-IN" strike="sngStrike" dirty="0" smtClean="0"/>
              <a:t>}, {</a:t>
            </a:r>
            <a:r>
              <a:rPr lang="en-IN" strike="sngStrike" dirty="0" err="1" smtClean="0"/>
              <a:t>a,e,i</a:t>
            </a:r>
            <a:r>
              <a:rPr lang="en-IN" strike="sngStrike" dirty="0" smtClean="0"/>
              <a:t>},{</a:t>
            </a:r>
            <a:r>
              <a:rPr lang="en-IN" strike="sngStrike" dirty="0" err="1" smtClean="0"/>
              <a:t>b,h</a:t>
            </a:r>
            <a:r>
              <a:rPr lang="en-IN" strike="sngStrike" dirty="0" smtClean="0"/>
              <a:t>} </a:t>
            </a:r>
            <a:r>
              <a:rPr lang="en-IN" dirty="0" smtClean="0"/>
              <a:t>there must be </a:t>
            </a:r>
            <a:r>
              <a:rPr lang="en-IN" dirty="0" err="1" smtClean="0"/>
              <a:t>atleast</a:t>
            </a:r>
            <a:r>
              <a:rPr lang="en-IN" dirty="0" smtClean="0"/>
              <a:t> 3 resources.</a:t>
            </a:r>
          </a:p>
          <a:p>
            <a:r>
              <a:rPr lang="en-IN" dirty="0" smtClean="0">
                <a:solidFill>
                  <a:srgbClr val="FF0000"/>
                </a:solidFill>
              </a:rPr>
              <a:t>{</a:t>
            </a:r>
            <a:r>
              <a:rPr lang="en-IN" dirty="0" err="1" smtClean="0">
                <a:solidFill>
                  <a:srgbClr val="FF0000"/>
                </a:solidFill>
              </a:rPr>
              <a:t>c,d,f,j</a:t>
            </a:r>
            <a:r>
              <a:rPr lang="en-IN" dirty="0" smtClean="0">
                <a:solidFill>
                  <a:srgbClr val="FF0000"/>
                </a:solidFill>
              </a:rPr>
              <a:t>},{</a:t>
            </a:r>
            <a:r>
              <a:rPr lang="en-IN" dirty="0" err="1" smtClean="0">
                <a:solidFill>
                  <a:srgbClr val="FF0000"/>
                </a:solidFill>
              </a:rPr>
              <a:t>b,g,i</a:t>
            </a:r>
            <a:r>
              <a:rPr lang="en-IN" dirty="0" smtClean="0">
                <a:solidFill>
                  <a:srgbClr val="FF0000"/>
                </a:solidFill>
              </a:rPr>
              <a:t>},{</a:t>
            </a:r>
            <a:r>
              <a:rPr lang="en-IN" dirty="0" err="1" smtClean="0">
                <a:solidFill>
                  <a:srgbClr val="FF0000"/>
                </a:solidFill>
              </a:rPr>
              <a:t>a,e,h</a:t>
            </a:r>
            <a:r>
              <a:rPr lang="en-IN" dirty="0" smtClean="0">
                <a:solidFill>
                  <a:srgbClr val="FF0000"/>
                </a:solidFill>
              </a:rPr>
              <a:t>}</a:t>
            </a:r>
          </a:p>
          <a:p>
            <a:pPr>
              <a:buNone/>
            </a:pPr>
            <a:endParaRPr lang="en-IN" dirty="0" smtClean="0"/>
          </a:p>
          <a:p>
            <a:endParaRPr lang="en-IN" dirty="0" smtClean="0"/>
          </a:p>
          <a:p>
            <a:endParaRPr lang="en-IN" dirty="0" smtClean="0"/>
          </a:p>
          <a:p>
            <a:endParaRPr lang="en-IN" dirty="0" smtClean="0"/>
          </a:p>
          <a:p>
            <a:endParaRPr lang="en-IN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1447800"/>
            <a:ext cx="6441989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Summary- Interval Scheduling	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N" dirty="0" smtClean="0"/>
              <a:t>Problem consisted of a set of requests in R and goal is to find the maximum subset from R.</a:t>
            </a:r>
          </a:p>
          <a:p>
            <a:pPr algn="just"/>
            <a:r>
              <a:rPr lang="en-IN" dirty="0" smtClean="0"/>
              <a:t>What approach is suitable?</a:t>
            </a:r>
          </a:p>
          <a:p>
            <a:pPr lvl="1" algn="just"/>
            <a:r>
              <a:rPr lang="en-IN" dirty="0" smtClean="0"/>
              <a:t>Earliest finish.</a:t>
            </a:r>
          </a:p>
          <a:p>
            <a:pPr algn="just"/>
            <a:r>
              <a:rPr lang="en-IN" dirty="0" smtClean="0"/>
              <a:t>The time complexity of the algorithm discussed is </a:t>
            </a:r>
            <a:r>
              <a:rPr lang="en-IN" dirty="0" err="1" smtClean="0"/>
              <a:t>nlogn</a:t>
            </a:r>
            <a:r>
              <a:rPr lang="en-IN" dirty="0" smtClean="0"/>
              <a:t>.</a:t>
            </a:r>
          </a:p>
          <a:p>
            <a:pPr algn="just"/>
            <a:r>
              <a:rPr lang="en-IN" dirty="0" smtClean="0"/>
              <a:t>The optimality of the set of requests A is proved.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Optimal caching- Problem</a:t>
            </a:r>
            <a:endParaRPr lang="en-IN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Caching.</a:t>
            </a:r>
          </a:p>
          <a:p>
            <a:pPr lvl="1"/>
            <a:r>
              <a:rPr lang="en-US" dirty="0"/>
              <a:t>Cache with capacity to store k items.</a:t>
            </a:r>
          </a:p>
          <a:p>
            <a:pPr lvl="1"/>
            <a:r>
              <a:rPr lang="en-US" dirty="0"/>
              <a:t>Sequence of m item requests d</a:t>
            </a:r>
            <a:r>
              <a:rPr lang="en-US" baseline="-25000" dirty="0"/>
              <a:t>1</a:t>
            </a:r>
            <a:r>
              <a:rPr lang="en-US" dirty="0"/>
              <a:t>, d</a:t>
            </a:r>
            <a:r>
              <a:rPr lang="en-US" baseline="-25000" dirty="0"/>
              <a:t>2</a:t>
            </a:r>
            <a:r>
              <a:rPr lang="en-US" dirty="0"/>
              <a:t>, …, d</a:t>
            </a:r>
            <a:r>
              <a:rPr lang="en-US" baseline="-25000" dirty="0"/>
              <a:t>m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Cache hit:  item already in cache when requested.</a:t>
            </a:r>
          </a:p>
          <a:p>
            <a:pPr lvl="1"/>
            <a:r>
              <a:rPr lang="en-US" dirty="0"/>
              <a:t>Cache miss:  item not already in cache when requested:  must bring requested item into cache, and evict some existing item, if full.</a:t>
            </a:r>
          </a:p>
          <a:p>
            <a:pPr lvl="1"/>
            <a:endParaRPr lang="en-US" dirty="0"/>
          </a:p>
          <a:p>
            <a:r>
              <a:rPr lang="en-US" dirty="0"/>
              <a:t>Goal.  </a:t>
            </a:r>
            <a:r>
              <a:rPr lang="en-US" dirty="0">
                <a:solidFill>
                  <a:schemeClr val="tx1"/>
                </a:solidFill>
              </a:rPr>
              <a:t>Eviction schedule that minimizes number of cache misses.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Optimal caching- Algorithm -</a:t>
            </a:r>
            <a:r>
              <a:rPr lang="en-IN" i="1" dirty="0" smtClean="0"/>
              <a:t>Farthest-in-Future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dirty="0" smtClean="0"/>
              <a:t>When </a:t>
            </a:r>
            <a:r>
              <a:rPr lang="en-IN" i="1" dirty="0" err="1" smtClean="0"/>
              <a:t>di</a:t>
            </a:r>
            <a:r>
              <a:rPr lang="en-IN" i="1" dirty="0" smtClean="0"/>
              <a:t> needs to be brought into the cache,</a:t>
            </a:r>
          </a:p>
          <a:p>
            <a:pPr>
              <a:buNone/>
            </a:pPr>
            <a:r>
              <a:rPr lang="en-IN" dirty="0" smtClean="0"/>
              <a:t>	evict the item that is needed the farthest into the future</a:t>
            </a:r>
          </a:p>
          <a:p>
            <a:pPr>
              <a:buNone/>
            </a:pPr>
            <a:endParaRPr lang="en-IN" dirty="0" smtClean="0"/>
          </a:p>
          <a:p>
            <a:r>
              <a:rPr lang="en-US" sz="2000" dirty="0" smtClean="0"/>
              <a:t>Ex:  k = 2, initial cache = </a:t>
            </a:r>
            <a:r>
              <a:rPr lang="en-US" sz="2000" dirty="0" err="1" smtClean="0"/>
              <a:t>ab</a:t>
            </a:r>
            <a:r>
              <a:rPr lang="en-US" sz="2000" dirty="0" smtClean="0"/>
              <a:t>,</a:t>
            </a:r>
            <a:br>
              <a:rPr lang="en-US" sz="2000" dirty="0" smtClean="0"/>
            </a:br>
            <a:r>
              <a:rPr lang="en-US" sz="2000" dirty="0" smtClean="0"/>
              <a:t>       requests:  a, b, c, b, c, a, a, b.</a:t>
            </a:r>
          </a:p>
          <a:p>
            <a:r>
              <a:rPr lang="en-US" sz="2000" dirty="0" smtClean="0"/>
              <a:t>Optimal eviction schedule:  2 cache misses.</a:t>
            </a:r>
          </a:p>
          <a:p>
            <a:pPr>
              <a:buNone/>
            </a:pPr>
            <a:endParaRPr lang="en-IN" dirty="0" smtClean="0"/>
          </a:p>
          <a:p>
            <a:endParaRPr lang="en-IN" dirty="0"/>
          </a:p>
        </p:txBody>
      </p:sp>
      <p:sp>
        <p:nvSpPr>
          <p:cNvPr id="4" name="Rectangle 84"/>
          <p:cNvSpPr>
            <a:spLocks noChangeArrowheads="1"/>
          </p:cNvSpPr>
          <p:nvPr/>
        </p:nvSpPr>
        <p:spPr bwMode="auto">
          <a:xfrm>
            <a:off x="7512050" y="34290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/>
              <a:t>a</a:t>
            </a:r>
          </a:p>
        </p:txBody>
      </p:sp>
      <p:sp>
        <p:nvSpPr>
          <p:cNvPr id="5" name="Rectangle 86"/>
          <p:cNvSpPr>
            <a:spLocks noChangeArrowheads="1"/>
          </p:cNvSpPr>
          <p:nvPr/>
        </p:nvSpPr>
        <p:spPr bwMode="auto">
          <a:xfrm>
            <a:off x="7816850" y="34290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/>
              <a:t>b</a:t>
            </a:r>
          </a:p>
        </p:txBody>
      </p:sp>
      <p:sp>
        <p:nvSpPr>
          <p:cNvPr id="6" name="Rectangle 87"/>
          <p:cNvSpPr>
            <a:spLocks noChangeArrowheads="1"/>
          </p:cNvSpPr>
          <p:nvPr/>
        </p:nvSpPr>
        <p:spPr bwMode="auto">
          <a:xfrm>
            <a:off x="7512050" y="37338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/>
              <a:t>a</a:t>
            </a:r>
          </a:p>
        </p:txBody>
      </p:sp>
      <p:sp>
        <p:nvSpPr>
          <p:cNvPr id="7" name="Rectangle 88"/>
          <p:cNvSpPr>
            <a:spLocks noChangeArrowheads="1"/>
          </p:cNvSpPr>
          <p:nvPr/>
        </p:nvSpPr>
        <p:spPr bwMode="auto">
          <a:xfrm>
            <a:off x="7816850" y="37338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/>
              <a:t>b</a:t>
            </a:r>
          </a:p>
        </p:txBody>
      </p:sp>
      <p:sp>
        <p:nvSpPr>
          <p:cNvPr id="8" name="Rectangle 90"/>
          <p:cNvSpPr>
            <a:spLocks noChangeArrowheads="1"/>
          </p:cNvSpPr>
          <p:nvPr/>
        </p:nvSpPr>
        <p:spPr bwMode="auto">
          <a:xfrm>
            <a:off x="7512050" y="4038600"/>
            <a:ext cx="304800" cy="304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" name="Rectangle 91"/>
          <p:cNvSpPr>
            <a:spLocks noChangeArrowheads="1"/>
          </p:cNvSpPr>
          <p:nvPr/>
        </p:nvSpPr>
        <p:spPr bwMode="auto">
          <a:xfrm>
            <a:off x="7816850" y="40386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/>
              <a:t>b</a:t>
            </a:r>
          </a:p>
        </p:txBody>
      </p:sp>
      <p:sp>
        <p:nvSpPr>
          <p:cNvPr id="10" name="Rectangle 92"/>
          <p:cNvSpPr>
            <a:spLocks noChangeArrowheads="1"/>
          </p:cNvSpPr>
          <p:nvPr/>
        </p:nvSpPr>
        <p:spPr bwMode="auto">
          <a:xfrm>
            <a:off x="7512050" y="43434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/>
              <a:t>c</a:t>
            </a:r>
          </a:p>
        </p:txBody>
      </p:sp>
      <p:sp>
        <p:nvSpPr>
          <p:cNvPr id="11" name="Rectangle 93"/>
          <p:cNvSpPr>
            <a:spLocks noChangeArrowheads="1"/>
          </p:cNvSpPr>
          <p:nvPr/>
        </p:nvSpPr>
        <p:spPr bwMode="auto">
          <a:xfrm>
            <a:off x="7816850" y="43434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/>
              <a:t>b</a:t>
            </a:r>
          </a:p>
        </p:txBody>
      </p:sp>
      <p:sp>
        <p:nvSpPr>
          <p:cNvPr id="12" name="Rectangle 94"/>
          <p:cNvSpPr>
            <a:spLocks noChangeArrowheads="1"/>
          </p:cNvSpPr>
          <p:nvPr/>
        </p:nvSpPr>
        <p:spPr bwMode="auto">
          <a:xfrm>
            <a:off x="7512050" y="46482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/>
              <a:t>c</a:t>
            </a:r>
          </a:p>
        </p:txBody>
      </p:sp>
      <p:sp>
        <p:nvSpPr>
          <p:cNvPr id="13" name="Rectangle 95"/>
          <p:cNvSpPr>
            <a:spLocks noChangeArrowheads="1"/>
          </p:cNvSpPr>
          <p:nvPr/>
        </p:nvSpPr>
        <p:spPr bwMode="auto">
          <a:xfrm>
            <a:off x="7816850" y="46482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/>
              <a:t>b</a:t>
            </a:r>
          </a:p>
        </p:txBody>
      </p:sp>
      <p:sp>
        <p:nvSpPr>
          <p:cNvPr id="14" name="Rectangle 96"/>
          <p:cNvSpPr>
            <a:spLocks noChangeArrowheads="1"/>
          </p:cNvSpPr>
          <p:nvPr/>
        </p:nvSpPr>
        <p:spPr bwMode="auto">
          <a:xfrm>
            <a:off x="7512050" y="4953000"/>
            <a:ext cx="304800" cy="304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5" name="Rectangle 97"/>
          <p:cNvSpPr>
            <a:spLocks noChangeArrowheads="1"/>
          </p:cNvSpPr>
          <p:nvPr/>
        </p:nvSpPr>
        <p:spPr bwMode="auto">
          <a:xfrm>
            <a:off x="7816850" y="49530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/>
              <a:t>b</a:t>
            </a:r>
          </a:p>
        </p:txBody>
      </p:sp>
      <p:sp>
        <p:nvSpPr>
          <p:cNvPr id="16" name="Rectangle 102"/>
          <p:cNvSpPr>
            <a:spLocks noChangeArrowheads="1"/>
          </p:cNvSpPr>
          <p:nvPr/>
        </p:nvSpPr>
        <p:spPr bwMode="auto">
          <a:xfrm>
            <a:off x="7054850" y="34290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 dirty="0"/>
              <a:t>a</a:t>
            </a:r>
          </a:p>
        </p:txBody>
      </p:sp>
      <p:sp>
        <p:nvSpPr>
          <p:cNvPr id="17" name="Rectangle 103"/>
          <p:cNvSpPr>
            <a:spLocks noChangeArrowheads="1"/>
          </p:cNvSpPr>
          <p:nvPr/>
        </p:nvSpPr>
        <p:spPr bwMode="auto">
          <a:xfrm>
            <a:off x="7054850" y="37338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/>
              <a:t>b</a:t>
            </a:r>
          </a:p>
        </p:txBody>
      </p:sp>
      <p:sp>
        <p:nvSpPr>
          <p:cNvPr id="18" name="Rectangle 104"/>
          <p:cNvSpPr>
            <a:spLocks noChangeArrowheads="1"/>
          </p:cNvSpPr>
          <p:nvPr/>
        </p:nvSpPr>
        <p:spPr bwMode="auto">
          <a:xfrm>
            <a:off x="7054850" y="40386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/>
              <a:t>c</a:t>
            </a:r>
          </a:p>
        </p:txBody>
      </p:sp>
      <p:sp>
        <p:nvSpPr>
          <p:cNvPr id="19" name="Rectangle 105"/>
          <p:cNvSpPr>
            <a:spLocks noChangeArrowheads="1"/>
          </p:cNvSpPr>
          <p:nvPr/>
        </p:nvSpPr>
        <p:spPr bwMode="auto">
          <a:xfrm>
            <a:off x="7054850" y="43434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/>
              <a:t>b</a:t>
            </a:r>
          </a:p>
        </p:txBody>
      </p:sp>
      <p:sp>
        <p:nvSpPr>
          <p:cNvPr id="20" name="Rectangle 106"/>
          <p:cNvSpPr>
            <a:spLocks noChangeArrowheads="1"/>
          </p:cNvSpPr>
          <p:nvPr/>
        </p:nvSpPr>
        <p:spPr bwMode="auto">
          <a:xfrm>
            <a:off x="7054850" y="46482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/>
              <a:t>c</a:t>
            </a:r>
          </a:p>
        </p:txBody>
      </p:sp>
      <p:sp>
        <p:nvSpPr>
          <p:cNvPr id="21" name="Rectangle 107"/>
          <p:cNvSpPr>
            <a:spLocks noChangeArrowheads="1"/>
          </p:cNvSpPr>
          <p:nvPr/>
        </p:nvSpPr>
        <p:spPr bwMode="auto">
          <a:xfrm>
            <a:off x="7054850" y="49530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/>
              <a:t>a</a:t>
            </a:r>
          </a:p>
        </p:txBody>
      </p:sp>
      <p:sp>
        <p:nvSpPr>
          <p:cNvPr id="22" name="Rectangle 108"/>
          <p:cNvSpPr>
            <a:spLocks noChangeArrowheads="1"/>
          </p:cNvSpPr>
          <p:nvPr/>
        </p:nvSpPr>
        <p:spPr bwMode="auto">
          <a:xfrm>
            <a:off x="7512050" y="52578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/>
              <a:t>a</a:t>
            </a:r>
          </a:p>
        </p:txBody>
      </p:sp>
      <p:sp>
        <p:nvSpPr>
          <p:cNvPr id="23" name="Rectangle 109"/>
          <p:cNvSpPr>
            <a:spLocks noChangeArrowheads="1"/>
          </p:cNvSpPr>
          <p:nvPr/>
        </p:nvSpPr>
        <p:spPr bwMode="auto">
          <a:xfrm>
            <a:off x="7816850" y="52578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/>
              <a:t>b</a:t>
            </a:r>
          </a:p>
        </p:txBody>
      </p:sp>
      <p:sp>
        <p:nvSpPr>
          <p:cNvPr id="24" name="Rectangle 110"/>
          <p:cNvSpPr>
            <a:spLocks noChangeArrowheads="1"/>
          </p:cNvSpPr>
          <p:nvPr/>
        </p:nvSpPr>
        <p:spPr bwMode="auto">
          <a:xfrm>
            <a:off x="7054850" y="52578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/>
              <a:t>a</a:t>
            </a:r>
          </a:p>
        </p:txBody>
      </p:sp>
      <p:sp>
        <p:nvSpPr>
          <p:cNvPr id="25" name="Rectangle 111"/>
          <p:cNvSpPr>
            <a:spLocks noChangeArrowheads="1"/>
          </p:cNvSpPr>
          <p:nvPr/>
        </p:nvSpPr>
        <p:spPr bwMode="auto">
          <a:xfrm>
            <a:off x="7512050" y="55626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/>
              <a:t>a</a:t>
            </a:r>
          </a:p>
        </p:txBody>
      </p:sp>
      <p:sp>
        <p:nvSpPr>
          <p:cNvPr id="26" name="Rectangle 112"/>
          <p:cNvSpPr>
            <a:spLocks noChangeArrowheads="1"/>
          </p:cNvSpPr>
          <p:nvPr/>
        </p:nvSpPr>
        <p:spPr bwMode="auto">
          <a:xfrm>
            <a:off x="7816850" y="55626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/>
              <a:t>b</a:t>
            </a:r>
          </a:p>
        </p:txBody>
      </p:sp>
      <p:sp>
        <p:nvSpPr>
          <p:cNvPr id="27" name="Rectangle 113"/>
          <p:cNvSpPr>
            <a:spLocks noChangeArrowheads="1"/>
          </p:cNvSpPr>
          <p:nvPr/>
        </p:nvSpPr>
        <p:spPr bwMode="auto">
          <a:xfrm>
            <a:off x="7054850" y="55626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/>
              <a:t>b</a:t>
            </a:r>
          </a:p>
        </p:txBody>
      </p:sp>
      <p:sp>
        <p:nvSpPr>
          <p:cNvPr id="28" name="Text Box 114"/>
          <p:cNvSpPr txBox="1">
            <a:spLocks noChangeArrowheads="1"/>
          </p:cNvSpPr>
          <p:nvPr/>
        </p:nvSpPr>
        <p:spPr bwMode="auto">
          <a:xfrm>
            <a:off x="7496175" y="5881688"/>
            <a:ext cx="657225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miter lim="800000"/>
            <a:headEnd/>
            <a:tailEnd type="none" w="sm" len="sm"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sz="1400"/>
              <a:t>cache</a:t>
            </a:r>
          </a:p>
        </p:txBody>
      </p:sp>
      <p:sp>
        <p:nvSpPr>
          <p:cNvPr id="29" name="Text Box 115"/>
          <p:cNvSpPr txBox="1">
            <a:spLocks noChangeArrowheads="1"/>
          </p:cNvSpPr>
          <p:nvPr/>
        </p:nvSpPr>
        <p:spPr bwMode="auto">
          <a:xfrm>
            <a:off x="6445250" y="5886450"/>
            <a:ext cx="906463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miter lim="800000"/>
            <a:headEnd/>
            <a:tailEnd type="none" w="sm" len="sm"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sz="1400"/>
              <a:t>requests</a:t>
            </a:r>
          </a:p>
        </p:txBody>
      </p:sp>
      <p:sp>
        <p:nvSpPr>
          <p:cNvPr id="30" name="Rectangle 117"/>
          <p:cNvSpPr>
            <a:spLocks noChangeArrowheads="1"/>
          </p:cNvSpPr>
          <p:nvPr/>
        </p:nvSpPr>
        <p:spPr bwMode="auto">
          <a:xfrm>
            <a:off x="5470525" y="3352800"/>
            <a:ext cx="1218154" cy="27764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 type="none" w="sm" len="sm"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sz="1200" dirty="0"/>
              <a:t>red = cache miss</a:t>
            </a:r>
          </a:p>
        </p:txBody>
      </p:sp>
      <p:sp>
        <p:nvSpPr>
          <p:cNvPr id="31" name="Line 118"/>
          <p:cNvSpPr>
            <a:spLocks noChangeShapeType="1"/>
          </p:cNvSpPr>
          <p:nvPr/>
        </p:nvSpPr>
        <p:spPr bwMode="auto">
          <a:xfrm>
            <a:off x="6727825" y="3878263"/>
            <a:ext cx="773113" cy="295275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sm" len="sm"/>
          </a:ln>
          <a:effectLst/>
        </p:spPr>
        <p:txBody>
          <a:bodyPr wrap="none" lIns="92075" tIns="46038" rIns="92075" bIns="46038" anchor="ctr"/>
          <a:lstStyle/>
          <a:p>
            <a:endParaRPr lang="en-IN"/>
          </a:p>
        </p:txBody>
      </p:sp>
      <p:sp>
        <p:nvSpPr>
          <p:cNvPr id="32" name="Line 119"/>
          <p:cNvSpPr>
            <a:spLocks noChangeShapeType="1"/>
          </p:cNvSpPr>
          <p:nvPr/>
        </p:nvSpPr>
        <p:spPr bwMode="auto">
          <a:xfrm>
            <a:off x="6718300" y="3887788"/>
            <a:ext cx="782638" cy="125095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sm" len="sm"/>
          </a:ln>
          <a:effectLst/>
        </p:spPr>
        <p:txBody>
          <a:bodyPr wrap="none" lIns="92075" tIns="46038" rIns="92075" bIns="46038" anchor="ctr"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Optimal caching- Algorithm -</a:t>
            </a:r>
            <a:r>
              <a:rPr lang="en-IN" i="1" dirty="0" smtClean="0"/>
              <a:t>Farthest-in-Future</a:t>
            </a:r>
            <a:endParaRPr lang="en-IN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dirty="0" smtClean="0"/>
              <a:t>When </a:t>
            </a:r>
            <a:r>
              <a:rPr lang="en-IN" i="1" dirty="0" err="1" smtClean="0"/>
              <a:t>di</a:t>
            </a:r>
            <a:r>
              <a:rPr lang="en-IN" i="1" dirty="0" smtClean="0"/>
              <a:t> needs to be brought into the cache,</a:t>
            </a:r>
          </a:p>
          <a:p>
            <a:pPr>
              <a:buNone/>
            </a:pPr>
            <a:r>
              <a:rPr lang="en-IN" dirty="0" smtClean="0"/>
              <a:t>	evict the item that is needed the farthest into the future</a:t>
            </a:r>
          </a:p>
          <a:p>
            <a:pPr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IN" dirty="0" smtClean="0"/>
              <a:t>Ex: </a:t>
            </a:r>
            <a:r>
              <a:rPr lang="pt-BR" i="1" dirty="0" smtClean="0"/>
              <a:t>a, b, c, d, a, d, e, a, d, b, c</a:t>
            </a:r>
          </a:p>
          <a:p>
            <a:pPr>
              <a:buNone/>
            </a:pPr>
            <a:r>
              <a:rPr lang="pt-BR" i="1" dirty="0" smtClean="0"/>
              <a:t>k=3</a:t>
            </a:r>
          </a:p>
          <a:p>
            <a:pPr>
              <a:buNone/>
            </a:pPr>
            <a:r>
              <a:rPr lang="en-US" dirty="0" smtClean="0"/>
              <a:t>initial cache = </a:t>
            </a:r>
            <a:r>
              <a:rPr lang="en-US" dirty="0" err="1" smtClean="0"/>
              <a:t>a,b,c</a:t>
            </a:r>
            <a:endParaRPr lang="pt-BR" i="1" dirty="0" smtClean="0"/>
          </a:p>
          <a:p>
            <a:pPr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Optimal caching- Algorithm -</a:t>
            </a:r>
            <a:r>
              <a:rPr lang="en-IN" i="1" dirty="0" smtClean="0"/>
              <a:t>Farthest-in-Future</a:t>
            </a:r>
            <a:endParaRPr lang="en-IN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dirty="0" smtClean="0"/>
              <a:t>When </a:t>
            </a:r>
            <a:r>
              <a:rPr lang="en-IN" i="1" dirty="0" err="1" smtClean="0"/>
              <a:t>di</a:t>
            </a:r>
            <a:r>
              <a:rPr lang="en-IN" i="1" dirty="0" smtClean="0"/>
              <a:t> needs to be brought into the cache,</a:t>
            </a:r>
          </a:p>
          <a:p>
            <a:pPr>
              <a:buNone/>
            </a:pPr>
            <a:r>
              <a:rPr lang="en-IN" dirty="0" smtClean="0"/>
              <a:t>	evict the item that is needed the farthest into the future</a:t>
            </a:r>
          </a:p>
          <a:p>
            <a:pPr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IN" dirty="0" smtClean="0"/>
              <a:t>Ex: </a:t>
            </a:r>
            <a:r>
              <a:rPr lang="pt-BR" i="1" dirty="0" smtClean="0"/>
              <a:t>a, b, c, d, a, d, e, a, d, b, c</a:t>
            </a:r>
          </a:p>
          <a:p>
            <a:pPr>
              <a:buNone/>
            </a:pPr>
            <a:r>
              <a:rPr lang="pt-BR" i="1" dirty="0" smtClean="0"/>
              <a:t>k=3</a:t>
            </a:r>
          </a:p>
          <a:p>
            <a:pPr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84"/>
          <p:cNvSpPr>
            <a:spLocks noChangeArrowheads="1"/>
          </p:cNvSpPr>
          <p:nvPr/>
        </p:nvSpPr>
        <p:spPr bwMode="auto">
          <a:xfrm>
            <a:off x="6096000" y="29718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/>
              <a:t>a</a:t>
            </a:r>
          </a:p>
        </p:txBody>
      </p:sp>
      <p:sp>
        <p:nvSpPr>
          <p:cNvPr id="6" name="Rectangle 86"/>
          <p:cNvSpPr>
            <a:spLocks noChangeArrowheads="1"/>
          </p:cNvSpPr>
          <p:nvPr/>
        </p:nvSpPr>
        <p:spPr bwMode="auto">
          <a:xfrm>
            <a:off x="6400800" y="29718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 dirty="0"/>
              <a:t>b</a:t>
            </a:r>
          </a:p>
        </p:txBody>
      </p:sp>
      <p:sp>
        <p:nvSpPr>
          <p:cNvPr id="7" name="Rectangle 87"/>
          <p:cNvSpPr>
            <a:spLocks noChangeArrowheads="1"/>
          </p:cNvSpPr>
          <p:nvPr/>
        </p:nvSpPr>
        <p:spPr bwMode="auto">
          <a:xfrm>
            <a:off x="6096000" y="32766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/>
              <a:t>a</a:t>
            </a:r>
          </a:p>
        </p:txBody>
      </p:sp>
      <p:sp>
        <p:nvSpPr>
          <p:cNvPr id="8" name="Rectangle 88"/>
          <p:cNvSpPr>
            <a:spLocks noChangeArrowheads="1"/>
          </p:cNvSpPr>
          <p:nvPr/>
        </p:nvSpPr>
        <p:spPr bwMode="auto">
          <a:xfrm>
            <a:off x="6400800" y="32766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/>
              <a:t>b</a:t>
            </a:r>
          </a:p>
        </p:txBody>
      </p:sp>
      <p:sp>
        <p:nvSpPr>
          <p:cNvPr id="9" name="Rectangle 90"/>
          <p:cNvSpPr>
            <a:spLocks noChangeArrowheads="1"/>
          </p:cNvSpPr>
          <p:nvPr/>
        </p:nvSpPr>
        <p:spPr bwMode="auto">
          <a:xfrm>
            <a:off x="6096000" y="35814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 dirty="0" smtClean="0"/>
              <a:t>a</a:t>
            </a:r>
            <a:endParaRPr lang="en-US" sz="1400" dirty="0"/>
          </a:p>
        </p:txBody>
      </p:sp>
      <p:sp>
        <p:nvSpPr>
          <p:cNvPr id="10" name="Rectangle 91"/>
          <p:cNvSpPr>
            <a:spLocks noChangeArrowheads="1"/>
          </p:cNvSpPr>
          <p:nvPr/>
        </p:nvSpPr>
        <p:spPr bwMode="auto">
          <a:xfrm>
            <a:off x="6400800" y="35814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/>
              <a:t>b</a:t>
            </a:r>
          </a:p>
        </p:txBody>
      </p:sp>
      <p:sp>
        <p:nvSpPr>
          <p:cNvPr id="11" name="Rectangle 92"/>
          <p:cNvSpPr>
            <a:spLocks noChangeArrowheads="1"/>
          </p:cNvSpPr>
          <p:nvPr/>
        </p:nvSpPr>
        <p:spPr bwMode="auto">
          <a:xfrm>
            <a:off x="6096000" y="38862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 dirty="0" smtClean="0"/>
              <a:t>a</a:t>
            </a:r>
            <a:endParaRPr lang="en-US" sz="1400" dirty="0"/>
          </a:p>
        </p:txBody>
      </p:sp>
      <p:sp>
        <p:nvSpPr>
          <p:cNvPr id="12" name="Rectangle 93"/>
          <p:cNvSpPr>
            <a:spLocks noChangeArrowheads="1"/>
          </p:cNvSpPr>
          <p:nvPr/>
        </p:nvSpPr>
        <p:spPr bwMode="auto">
          <a:xfrm>
            <a:off x="6400800" y="38862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/>
              <a:t>b</a:t>
            </a:r>
          </a:p>
        </p:txBody>
      </p:sp>
      <p:sp>
        <p:nvSpPr>
          <p:cNvPr id="13" name="Rectangle 94"/>
          <p:cNvSpPr>
            <a:spLocks noChangeArrowheads="1"/>
          </p:cNvSpPr>
          <p:nvPr/>
        </p:nvSpPr>
        <p:spPr bwMode="auto">
          <a:xfrm>
            <a:off x="6096000" y="41910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 dirty="0" smtClean="0"/>
              <a:t>a</a:t>
            </a:r>
            <a:endParaRPr lang="en-US" sz="1400" dirty="0"/>
          </a:p>
        </p:txBody>
      </p:sp>
      <p:sp>
        <p:nvSpPr>
          <p:cNvPr id="14" name="Rectangle 95"/>
          <p:cNvSpPr>
            <a:spLocks noChangeArrowheads="1"/>
          </p:cNvSpPr>
          <p:nvPr/>
        </p:nvSpPr>
        <p:spPr bwMode="auto">
          <a:xfrm>
            <a:off x="6400800" y="41910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/>
              <a:t>b</a:t>
            </a:r>
          </a:p>
        </p:txBody>
      </p:sp>
      <p:sp>
        <p:nvSpPr>
          <p:cNvPr id="15" name="Rectangle 96"/>
          <p:cNvSpPr>
            <a:spLocks noChangeArrowheads="1"/>
          </p:cNvSpPr>
          <p:nvPr/>
        </p:nvSpPr>
        <p:spPr bwMode="auto">
          <a:xfrm>
            <a:off x="6096000" y="44958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/>
              <a:t>a</a:t>
            </a:r>
          </a:p>
        </p:txBody>
      </p:sp>
      <p:sp>
        <p:nvSpPr>
          <p:cNvPr id="16" name="Rectangle 97"/>
          <p:cNvSpPr>
            <a:spLocks noChangeArrowheads="1"/>
          </p:cNvSpPr>
          <p:nvPr/>
        </p:nvSpPr>
        <p:spPr bwMode="auto">
          <a:xfrm>
            <a:off x="6400800" y="44958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/>
              <a:t>b</a:t>
            </a:r>
          </a:p>
        </p:txBody>
      </p:sp>
      <p:sp>
        <p:nvSpPr>
          <p:cNvPr id="17" name="Rectangle 102"/>
          <p:cNvSpPr>
            <a:spLocks noChangeArrowheads="1"/>
          </p:cNvSpPr>
          <p:nvPr/>
        </p:nvSpPr>
        <p:spPr bwMode="auto">
          <a:xfrm>
            <a:off x="5638800" y="29718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 dirty="0"/>
              <a:t>a</a:t>
            </a:r>
          </a:p>
        </p:txBody>
      </p:sp>
      <p:sp>
        <p:nvSpPr>
          <p:cNvPr id="18" name="Rectangle 103"/>
          <p:cNvSpPr>
            <a:spLocks noChangeArrowheads="1"/>
          </p:cNvSpPr>
          <p:nvPr/>
        </p:nvSpPr>
        <p:spPr bwMode="auto">
          <a:xfrm>
            <a:off x="5638800" y="32766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/>
              <a:t>b</a:t>
            </a:r>
          </a:p>
        </p:txBody>
      </p:sp>
      <p:sp>
        <p:nvSpPr>
          <p:cNvPr id="19" name="Rectangle 104"/>
          <p:cNvSpPr>
            <a:spLocks noChangeArrowheads="1"/>
          </p:cNvSpPr>
          <p:nvPr/>
        </p:nvSpPr>
        <p:spPr bwMode="auto">
          <a:xfrm>
            <a:off x="5638800" y="35814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/>
              <a:t>c</a:t>
            </a:r>
          </a:p>
        </p:txBody>
      </p:sp>
      <p:sp>
        <p:nvSpPr>
          <p:cNvPr id="20" name="Rectangle 105"/>
          <p:cNvSpPr>
            <a:spLocks noChangeArrowheads="1"/>
          </p:cNvSpPr>
          <p:nvPr/>
        </p:nvSpPr>
        <p:spPr bwMode="auto">
          <a:xfrm>
            <a:off x="5638800" y="38862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 dirty="0" smtClean="0"/>
              <a:t>d</a:t>
            </a:r>
            <a:endParaRPr lang="en-US" sz="1400" dirty="0"/>
          </a:p>
        </p:txBody>
      </p:sp>
      <p:sp>
        <p:nvSpPr>
          <p:cNvPr id="21" name="Rectangle 106"/>
          <p:cNvSpPr>
            <a:spLocks noChangeArrowheads="1"/>
          </p:cNvSpPr>
          <p:nvPr/>
        </p:nvSpPr>
        <p:spPr bwMode="auto">
          <a:xfrm>
            <a:off x="5638800" y="41910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 dirty="0" smtClean="0"/>
              <a:t>a</a:t>
            </a:r>
            <a:endParaRPr lang="en-US" sz="1400" dirty="0"/>
          </a:p>
        </p:txBody>
      </p:sp>
      <p:sp>
        <p:nvSpPr>
          <p:cNvPr id="22" name="Rectangle 107"/>
          <p:cNvSpPr>
            <a:spLocks noChangeArrowheads="1"/>
          </p:cNvSpPr>
          <p:nvPr/>
        </p:nvSpPr>
        <p:spPr bwMode="auto">
          <a:xfrm>
            <a:off x="5638800" y="44958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 dirty="0" smtClean="0"/>
              <a:t>d</a:t>
            </a:r>
            <a:endParaRPr lang="en-US" sz="1400" dirty="0"/>
          </a:p>
        </p:txBody>
      </p:sp>
      <p:sp>
        <p:nvSpPr>
          <p:cNvPr id="23" name="Rectangle 108"/>
          <p:cNvSpPr>
            <a:spLocks noChangeArrowheads="1"/>
          </p:cNvSpPr>
          <p:nvPr/>
        </p:nvSpPr>
        <p:spPr bwMode="auto">
          <a:xfrm>
            <a:off x="6096000" y="48006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/>
              <a:t>a</a:t>
            </a:r>
          </a:p>
        </p:txBody>
      </p:sp>
      <p:sp>
        <p:nvSpPr>
          <p:cNvPr id="24" name="Rectangle 109"/>
          <p:cNvSpPr>
            <a:spLocks noChangeArrowheads="1"/>
          </p:cNvSpPr>
          <p:nvPr/>
        </p:nvSpPr>
        <p:spPr bwMode="auto">
          <a:xfrm>
            <a:off x="6400800" y="4800600"/>
            <a:ext cx="304800" cy="304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 dirty="0" smtClean="0"/>
              <a:t>e</a:t>
            </a:r>
            <a:endParaRPr lang="en-US" sz="1400" dirty="0"/>
          </a:p>
        </p:txBody>
      </p:sp>
      <p:sp>
        <p:nvSpPr>
          <p:cNvPr id="25" name="Rectangle 110"/>
          <p:cNvSpPr>
            <a:spLocks noChangeArrowheads="1"/>
          </p:cNvSpPr>
          <p:nvPr/>
        </p:nvSpPr>
        <p:spPr bwMode="auto">
          <a:xfrm>
            <a:off x="5638800" y="48006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 dirty="0" smtClean="0"/>
              <a:t>e</a:t>
            </a:r>
            <a:endParaRPr lang="en-US" sz="1400" dirty="0"/>
          </a:p>
        </p:txBody>
      </p:sp>
      <p:sp>
        <p:nvSpPr>
          <p:cNvPr id="26" name="Rectangle 111"/>
          <p:cNvSpPr>
            <a:spLocks noChangeArrowheads="1"/>
          </p:cNvSpPr>
          <p:nvPr/>
        </p:nvSpPr>
        <p:spPr bwMode="auto">
          <a:xfrm>
            <a:off x="6096000" y="51054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 dirty="0"/>
              <a:t>a</a:t>
            </a:r>
          </a:p>
        </p:txBody>
      </p:sp>
      <p:sp>
        <p:nvSpPr>
          <p:cNvPr id="27" name="Rectangle 112"/>
          <p:cNvSpPr>
            <a:spLocks noChangeArrowheads="1"/>
          </p:cNvSpPr>
          <p:nvPr/>
        </p:nvSpPr>
        <p:spPr bwMode="auto">
          <a:xfrm>
            <a:off x="6400800" y="51054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 dirty="0" smtClean="0"/>
              <a:t>e</a:t>
            </a:r>
            <a:endParaRPr lang="en-US" sz="1400" dirty="0"/>
          </a:p>
        </p:txBody>
      </p:sp>
      <p:sp>
        <p:nvSpPr>
          <p:cNvPr id="28" name="Rectangle 113"/>
          <p:cNvSpPr>
            <a:spLocks noChangeArrowheads="1"/>
          </p:cNvSpPr>
          <p:nvPr/>
        </p:nvSpPr>
        <p:spPr bwMode="auto">
          <a:xfrm>
            <a:off x="5638800" y="51054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 dirty="0" smtClean="0"/>
              <a:t>a</a:t>
            </a:r>
            <a:endParaRPr lang="en-US" sz="1400" dirty="0"/>
          </a:p>
        </p:txBody>
      </p:sp>
      <p:sp>
        <p:nvSpPr>
          <p:cNvPr id="29" name="Text Box 114"/>
          <p:cNvSpPr txBox="1">
            <a:spLocks noChangeArrowheads="1"/>
          </p:cNvSpPr>
          <p:nvPr/>
        </p:nvSpPr>
        <p:spPr bwMode="auto">
          <a:xfrm>
            <a:off x="6096000" y="6324600"/>
            <a:ext cx="657225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miter lim="800000"/>
            <a:headEnd/>
            <a:tailEnd type="none" w="sm" len="sm"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sz="1400"/>
              <a:t>cache</a:t>
            </a:r>
          </a:p>
        </p:txBody>
      </p:sp>
      <p:sp>
        <p:nvSpPr>
          <p:cNvPr id="30" name="Text Box 115"/>
          <p:cNvSpPr txBox="1">
            <a:spLocks noChangeArrowheads="1"/>
          </p:cNvSpPr>
          <p:nvPr/>
        </p:nvSpPr>
        <p:spPr bwMode="auto">
          <a:xfrm>
            <a:off x="5029200" y="6324600"/>
            <a:ext cx="906463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miter lim="800000"/>
            <a:headEnd/>
            <a:tailEnd type="none" w="sm" len="sm"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sz="1400" dirty="0"/>
              <a:t>requests</a:t>
            </a:r>
          </a:p>
        </p:txBody>
      </p:sp>
      <p:sp>
        <p:nvSpPr>
          <p:cNvPr id="32" name="Line 118"/>
          <p:cNvSpPr>
            <a:spLocks noChangeShapeType="1"/>
          </p:cNvSpPr>
          <p:nvPr/>
        </p:nvSpPr>
        <p:spPr bwMode="auto">
          <a:xfrm>
            <a:off x="7010400" y="4038600"/>
            <a:ext cx="1066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</p:spPr>
        <p:txBody>
          <a:bodyPr wrap="none" lIns="92075" tIns="46038" rIns="92075" bIns="46038" anchor="ctr"/>
          <a:lstStyle/>
          <a:p>
            <a:endParaRPr lang="en-IN"/>
          </a:p>
        </p:txBody>
      </p:sp>
      <p:sp>
        <p:nvSpPr>
          <p:cNvPr id="33" name="Line 119"/>
          <p:cNvSpPr>
            <a:spLocks noChangeShapeType="1"/>
          </p:cNvSpPr>
          <p:nvPr/>
        </p:nvSpPr>
        <p:spPr bwMode="auto">
          <a:xfrm flipV="1">
            <a:off x="6705600" y="4800600"/>
            <a:ext cx="1295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sm" len="sm"/>
          </a:ln>
          <a:effectLst/>
        </p:spPr>
        <p:txBody>
          <a:bodyPr wrap="none" lIns="92075" tIns="46038" rIns="92075" bIns="46038" anchor="ctr"/>
          <a:lstStyle/>
          <a:p>
            <a:endParaRPr lang="en-IN"/>
          </a:p>
        </p:txBody>
      </p:sp>
      <p:sp>
        <p:nvSpPr>
          <p:cNvPr id="34" name="Rectangle 86"/>
          <p:cNvSpPr>
            <a:spLocks noChangeArrowheads="1"/>
          </p:cNvSpPr>
          <p:nvPr/>
        </p:nvSpPr>
        <p:spPr bwMode="auto">
          <a:xfrm>
            <a:off x="6705600" y="299085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 dirty="0" smtClean="0"/>
              <a:t>c</a:t>
            </a:r>
            <a:endParaRPr lang="en-US" sz="1400" dirty="0"/>
          </a:p>
        </p:txBody>
      </p:sp>
      <p:sp>
        <p:nvSpPr>
          <p:cNvPr id="35" name="Rectangle 86"/>
          <p:cNvSpPr>
            <a:spLocks noChangeArrowheads="1"/>
          </p:cNvSpPr>
          <p:nvPr/>
        </p:nvSpPr>
        <p:spPr bwMode="auto">
          <a:xfrm>
            <a:off x="6705600" y="329565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 dirty="0" smtClean="0"/>
              <a:t>c</a:t>
            </a:r>
            <a:endParaRPr lang="en-US" sz="1400" dirty="0"/>
          </a:p>
        </p:txBody>
      </p:sp>
      <p:sp>
        <p:nvSpPr>
          <p:cNvPr id="36" name="Rectangle 86"/>
          <p:cNvSpPr>
            <a:spLocks noChangeArrowheads="1"/>
          </p:cNvSpPr>
          <p:nvPr/>
        </p:nvSpPr>
        <p:spPr bwMode="auto">
          <a:xfrm>
            <a:off x="6705600" y="360045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 dirty="0" smtClean="0"/>
              <a:t>c</a:t>
            </a:r>
            <a:endParaRPr lang="en-US" sz="1400" dirty="0"/>
          </a:p>
        </p:txBody>
      </p:sp>
      <p:sp>
        <p:nvSpPr>
          <p:cNvPr id="37" name="Rectangle 111"/>
          <p:cNvSpPr>
            <a:spLocks noChangeArrowheads="1"/>
          </p:cNvSpPr>
          <p:nvPr/>
        </p:nvSpPr>
        <p:spPr bwMode="auto">
          <a:xfrm>
            <a:off x="6096000" y="54102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 dirty="0"/>
              <a:t>a</a:t>
            </a:r>
          </a:p>
        </p:txBody>
      </p:sp>
      <p:sp>
        <p:nvSpPr>
          <p:cNvPr id="38" name="Rectangle 112"/>
          <p:cNvSpPr>
            <a:spLocks noChangeArrowheads="1"/>
          </p:cNvSpPr>
          <p:nvPr/>
        </p:nvSpPr>
        <p:spPr bwMode="auto">
          <a:xfrm>
            <a:off x="6400800" y="54102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 dirty="0" smtClean="0"/>
              <a:t>e</a:t>
            </a:r>
            <a:endParaRPr lang="en-US" sz="1400" dirty="0"/>
          </a:p>
        </p:txBody>
      </p:sp>
      <p:sp>
        <p:nvSpPr>
          <p:cNvPr id="39" name="Rectangle 113"/>
          <p:cNvSpPr>
            <a:spLocks noChangeArrowheads="1"/>
          </p:cNvSpPr>
          <p:nvPr/>
        </p:nvSpPr>
        <p:spPr bwMode="auto">
          <a:xfrm>
            <a:off x="5638800" y="54102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 dirty="0" smtClean="0"/>
              <a:t>d</a:t>
            </a:r>
            <a:endParaRPr lang="en-US" sz="1400" dirty="0"/>
          </a:p>
        </p:txBody>
      </p:sp>
      <p:sp>
        <p:nvSpPr>
          <p:cNvPr id="40" name="Rectangle 111"/>
          <p:cNvSpPr>
            <a:spLocks noChangeArrowheads="1"/>
          </p:cNvSpPr>
          <p:nvPr/>
        </p:nvSpPr>
        <p:spPr bwMode="auto">
          <a:xfrm>
            <a:off x="6096000" y="5715000"/>
            <a:ext cx="304800" cy="304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 dirty="0" smtClean="0"/>
              <a:t>b</a:t>
            </a:r>
            <a:endParaRPr lang="en-US" sz="1400" dirty="0"/>
          </a:p>
        </p:txBody>
      </p:sp>
      <p:sp>
        <p:nvSpPr>
          <p:cNvPr id="41" name="Rectangle 112"/>
          <p:cNvSpPr>
            <a:spLocks noChangeArrowheads="1"/>
          </p:cNvSpPr>
          <p:nvPr/>
        </p:nvSpPr>
        <p:spPr bwMode="auto">
          <a:xfrm>
            <a:off x="6400800" y="57150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 dirty="0" smtClean="0"/>
              <a:t>e</a:t>
            </a:r>
            <a:endParaRPr lang="en-US" sz="1400" dirty="0"/>
          </a:p>
        </p:txBody>
      </p:sp>
      <p:sp>
        <p:nvSpPr>
          <p:cNvPr id="42" name="Rectangle 113"/>
          <p:cNvSpPr>
            <a:spLocks noChangeArrowheads="1"/>
          </p:cNvSpPr>
          <p:nvPr/>
        </p:nvSpPr>
        <p:spPr bwMode="auto">
          <a:xfrm>
            <a:off x="5638800" y="57150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 dirty="0" smtClean="0"/>
              <a:t>b</a:t>
            </a:r>
            <a:endParaRPr lang="en-US" sz="1400" dirty="0"/>
          </a:p>
        </p:txBody>
      </p:sp>
      <p:sp>
        <p:nvSpPr>
          <p:cNvPr id="43" name="Rectangle 111"/>
          <p:cNvSpPr>
            <a:spLocks noChangeArrowheads="1"/>
          </p:cNvSpPr>
          <p:nvPr/>
        </p:nvSpPr>
        <p:spPr bwMode="auto">
          <a:xfrm>
            <a:off x="6096000" y="60198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 dirty="0" smtClean="0"/>
              <a:t>b</a:t>
            </a:r>
            <a:endParaRPr lang="en-US" sz="1400" dirty="0"/>
          </a:p>
        </p:txBody>
      </p:sp>
      <p:sp>
        <p:nvSpPr>
          <p:cNvPr id="44" name="Rectangle 112"/>
          <p:cNvSpPr>
            <a:spLocks noChangeArrowheads="1"/>
          </p:cNvSpPr>
          <p:nvPr/>
        </p:nvSpPr>
        <p:spPr bwMode="auto">
          <a:xfrm>
            <a:off x="6400800" y="6019800"/>
            <a:ext cx="304800" cy="304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 dirty="0" smtClean="0"/>
              <a:t>c</a:t>
            </a:r>
            <a:endParaRPr lang="en-US" sz="1400" dirty="0"/>
          </a:p>
        </p:txBody>
      </p:sp>
      <p:sp>
        <p:nvSpPr>
          <p:cNvPr id="45" name="Rectangle 113"/>
          <p:cNvSpPr>
            <a:spLocks noChangeArrowheads="1"/>
          </p:cNvSpPr>
          <p:nvPr/>
        </p:nvSpPr>
        <p:spPr bwMode="auto">
          <a:xfrm>
            <a:off x="5638800" y="60198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 dirty="0" smtClean="0"/>
              <a:t>c</a:t>
            </a:r>
            <a:endParaRPr lang="en-US" sz="1400" dirty="0"/>
          </a:p>
        </p:txBody>
      </p:sp>
      <p:sp>
        <p:nvSpPr>
          <p:cNvPr id="46" name="Rectangle 105"/>
          <p:cNvSpPr>
            <a:spLocks noChangeArrowheads="1"/>
          </p:cNvSpPr>
          <p:nvPr/>
        </p:nvSpPr>
        <p:spPr bwMode="auto">
          <a:xfrm>
            <a:off x="6705600" y="3886200"/>
            <a:ext cx="304800" cy="304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 dirty="0" smtClean="0"/>
              <a:t>d</a:t>
            </a:r>
            <a:endParaRPr lang="en-US" sz="1400" dirty="0"/>
          </a:p>
        </p:txBody>
      </p:sp>
      <p:sp>
        <p:nvSpPr>
          <p:cNvPr id="47" name="Rectangle 105"/>
          <p:cNvSpPr>
            <a:spLocks noChangeArrowheads="1"/>
          </p:cNvSpPr>
          <p:nvPr/>
        </p:nvSpPr>
        <p:spPr bwMode="auto">
          <a:xfrm>
            <a:off x="6705600" y="41910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 dirty="0" smtClean="0"/>
              <a:t>d</a:t>
            </a:r>
            <a:endParaRPr lang="en-US" sz="1400" dirty="0"/>
          </a:p>
        </p:txBody>
      </p:sp>
      <p:sp>
        <p:nvSpPr>
          <p:cNvPr id="48" name="Rectangle 105"/>
          <p:cNvSpPr>
            <a:spLocks noChangeArrowheads="1"/>
          </p:cNvSpPr>
          <p:nvPr/>
        </p:nvSpPr>
        <p:spPr bwMode="auto">
          <a:xfrm>
            <a:off x="6705600" y="44958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 dirty="0" smtClean="0"/>
              <a:t>d</a:t>
            </a:r>
            <a:endParaRPr lang="en-US" sz="1400" dirty="0"/>
          </a:p>
        </p:txBody>
      </p:sp>
      <p:sp>
        <p:nvSpPr>
          <p:cNvPr id="49" name="Rectangle 105"/>
          <p:cNvSpPr>
            <a:spLocks noChangeArrowheads="1"/>
          </p:cNvSpPr>
          <p:nvPr/>
        </p:nvSpPr>
        <p:spPr bwMode="auto">
          <a:xfrm>
            <a:off x="6705600" y="48006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 dirty="0" smtClean="0"/>
              <a:t>d</a:t>
            </a:r>
            <a:endParaRPr lang="en-US" sz="1400" dirty="0"/>
          </a:p>
        </p:txBody>
      </p:sp>
      <p:sp>
        <p:nvSpPr>
          <p:cNvPr id="50" name="Rectangle 105"/>
          <p:cNvSpPr>
            <a:spLocks noChangeArrowheads="1"/>
          </p:cNvSpPr>
          <p:nvPr/>
        </p:nvSpPr>
        <p:spPr bwMode="auto">
          <a:xfrm>
            <a:off x="6705600" y="51054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 dirty="0" smtClean="0"/>
              <a:t>d</a:t>
            </a:r>
            <a:endParaRPr lang="en-US" sz="1400" dirty="0"/>
          </a:p>
        </p:txBody>
      </p:sp>
      <p:sp>
        <p:nvSpPr>
          <p:cNvPr id="51" name="Rectangle 105"/>
          <p:cNvSpPr>
            <a:spLocks noChangeArrowheads="1"/>
          </p:cNvSpPr>
          <p:nvPr/>
        </p:nvSpPr>
        <p:spPr bwMode="auto">
          <a:xfrm>
            <a:off x="6705600" y="54102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 dirty="0" smtClean="0"/>
              <a:t>d</a:t>
            </a:r>
            <a:endParaRPr lang="en-US" sz="1400" dirty="0"/>
          </a:p>
        </p:txBody>
      </p:sp>
      <p:sp>
        <p:nvSpPr>
          <p:cNvPr id="52" name="Rectangle 105"/>
          <p:cNvSpPr>
            <a:spLocks noChangeArrowheads="1"/>
          </p:cNvSpPr>
          <p:nvPr/>
        </p:nvSpPr>
        <p:spPr bwMode="auto">
          <a:xfrm>
            <a:off x="6705600" y="57150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 dirty="0" smtClean="0"/>
              <a:t>d</a:t>
            </a:r>
            <a:endParaRPr lang="en-US" sz="1400" dirty="0"/>
          </a:p>
        </p:txBody>
      </p:sp>
      <p:sp>
        <p:nvSpPr>
          <p:cNvPr id="53" name="Rectangle 105"/>
          <p:cNvSpPr>
            <a:spLocks noChangeArrowheads="1"/>
          </p:cNvSpPr>
          <p:nvPr/>
        </p:nvSpPr>
        <p:spPr bwMode="auto">
          <a:xfrm>
            <a:off x="6705600" y="6019800"/>
            <a:ext cx="3048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400" dirty="0" smtClean="0"/>
              <a:t>d</a:t>
            </a:r>
            <a:endParaRPr lang="en-US" sz="1400" dirty="0"/>
          </a:p>
        </p:txBody>
      </p:sp>
      <p:sp>
        <p:nvSpPr>
          <p:cNvPr id="54" name="Line 119"/>
          <p:cNvSpPr>
            <a:spLocks noChangeShapeType="1"/>
          </p:cNvSpPr>
          <p:nvPr/>
        </p:nvSpPr>
        <p:spPr bwMode="auto">
          <a:xfrm flipV="1">
            <a:off x="6477000" y="5334000"/>
            <a:ext cx="17526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sm" len="sm"/>
          </a:ln>
          <a:effectLst/>
        </p:spPr>
        <p:txBody>
          <a:bodyPr wrap="none" lIns="92075" tIns="46038" rIns="92075" bIns="46038" anchor="ctr"/>
          <a:lstStyle/>
          <a:p>
            <a:endParaRPr lang="en-IN"/>
          </a:p>
        </p:txBody>
      </p:sp>
      <p:sp>
        <p:nvSpPr>
          <p:cNvPr id="55" name="Line 119"/>
          <p:cNvSpPr>
            <a:spLocks noChangeShapeType="1"/>
          </p:cNvSpPr>
          <p:nvPr/>
        </p:nvSpPr>
        <p:spPr bwMode="auto">
          <a:xfrm flipV="1">
            <a:off x="6705600" y="5867400"/>
            <a:ext cx="14478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sm" len="sm"/>
          </a:ln>
          <a:effectLst/>
        </p:spPr>
        <p:txBody>
          <a:bodyPr wrap="none" lIns="92075" tIns="46038" rIns="92075" bIns="46038" anchor="ctr"/>
          <a:lstStyle/>
          <a:p>
            <a:endParaRPr lang="en-IN"/>
          </a:p>
        </p:txBody>
      </p:sp>
      <p:sp>
        <p:nvSpPr>
          <p:cNvPr id="56" name="TextBox 55"/>
          <p:cNvSpPr txBox="1"/>
          <p:nvPr/>
        </p:nvSpPr>
        <p:spPr>
          <a:xfrm>
            <a:off x="8305800" y="4267200"/>
            <a:ext cx="8066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Cache </a:t>
            </a:r>
          </a:p>
          <a:p>
            <a:r>
              <a:rPr lang="en-IN" dirty="0" smtClean="0"/>
              <a:t>miss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362200"/>
            <a:ext cx="8229600" cy="1143000"/>
          </a:xfrm>
        </p:spPr>
        <p:txBody>
          <a:bodyPr/>
          <a:lstStyle/>
          <a:p>
            <a:r>
              <a:rPr lang="en-IN" dirty="0" smtClean="0"/>
              <a:t>Scheduling to minimize lateness</a:t>
            </a:r>
            <a:endParaRPr lang="en-IN" dirty="0"/>
          </a:p>
        </p:txBody>
      </p:sp>
      <p:pic>
        <p:nvPicPr>
          <p:cNvPr id="1026" name="Picture 2" descr="C:\Users\Srinidhi\Desktop\3004503-poster-1280-172-features-how-say-youre-running-lat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3581400"/>
            <a:ext cx="2302933" cy="1295400"/>
          </a:xfrm>
          <a:prstGeom prst="rect">
            <a:avLst/>
          </a:prstGeom>
          <a:noFill/>
        </p:spPr>
      </p:pic>
      <p:pic>
        <p:nvPicPr>
          <p:cNvPr id="1027" name="Picture 3" descr="C:\Users\Srinidhi\Desktop\LATE_PRINT_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6400" y="3429000"/>
            <a:ext cx="1447800" cy="1447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Scheduling to minimize lateness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Instead of a start time and finish time, the </a:t>
            </a:r>
            <a:r>
              <a:rPr lang="en-IN" b="1" dirty="0" smtClean="0"/>
              <a:t>request </a:t>
            </a:r>
            <a:r>
              <a:rPr lang="en-IN" b="1" i="1" dirty="0" err="1" smtClean="0"/>
              <a:t>i</a:t>
            </a:r>
            <a:r>
              <a:rPr lang="en-IN" i="1" dirty="0" smtClean="0"/>
              <a:t> </a:t>
            </a:r>
            <a:r>
              <a:rPr lang="en-IN" dirty="0" smtClean="0"/>
              <a:t>has a </a:t>
            </a:r>
            <a:r>
              <a:rPr lang="en-IN" b="1" dirty="0" smtClean="0"/>
              <a:t>deadline </a:t>
            </a:r>
            <a:r>
              <a:rPr lang="en-IN" b="1" i="1" dirty="0" err="1" smtClean="0"/>
              <a:t>d</a:t>
            </a:r>
            <a:r>
              <a:rPr lang="en-IN" b="1" i="1" baseline="-25000" dirty="0" err="1" smtClean="0"/>
              <a:t>i</a:t>
            </a:r>
            <a:r>
              <a:rPr lang="en-IN" dirty="0" smtClean="0"/>
              <a:t>, and it requires a contiguous time interval of </a:t>
            </a:r>
            <a:r>
              <a:rPr lang="en-IN" b="1" dirty="0" smtClean="0"/>
              <a:t>length </a:t>
            </a:r>
            <a:r>
              <a:rPr lang="en-IN" b="1" i="1" dirty="0" err="1" smtClean="0"/>
              <a:t>t</a:t>
            </a:r>
            <a:r>
              <a:rPr lang="en-IN" b="1" i="1" baseline="-25000" dirty="0" err="1" smtClean="0"/>
              <a:t>i</a:t>
            </a:r>
            <a:r>
              <a:rPr lang="en-IN" dirty="0" smtClean="0"/>
              <a:t>, </a:t>
            </a:r>
          </a:p>
          <a:p>
            <a:r>
              <a:rPr lang="en-IN" dirty="0" smtClean="0"/>
              <a:t>Can be scheduled at any time before the deadline. </a:t>
            </a:r>
          </a:p>
          <a:p>
            <a:endParaRPr lang="en-IN" dirty="0" smtClean="0"/>
          </a:p>
          <a:p>
            <a:endParaRPr lang="en-IN" dirty="0" smtClean="0"/>
          </a:p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95400" y="4724400"/>
          <a:ext cx="2971800" cy="76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d=2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t=1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d=4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t=4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648200" y="4876800"/>
            <a:ext cx="27975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How can you schedule now </a:t>
            </a:r>
          </a:p>
          <a:p>
            <a:r>
              <a:rPr lang="en-IN" dirty="0" smtClean="0"/>
              <a:t>for these type of requests??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Scheduling to minimize lateness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smtClean="0"/>
              <a:t>Each interval is denoted by [</a:t>
            </a:r>
            <a:r>
              <a:rPr lang="en-IN" i="1" dirty="0" smtClean="0"/>
              <a:t>s(</a:t>
            </a:r>
            <a:r>
              <a:rPr lang="en-IN" i="1" dirty="0" err="1" smtClean="0"/>
              <a:t>i</a:t>
            </a:r>
            <a:r>
              <a:rPr lang="en-IN" i="1" dirty="0" smtClean="0"/>
              <a:t>)</a:t>
            </a:r>
            <a:r>
              <a:rPr lang="en-IN" dirty="0" smtClean="0"/>
              <a:t>, </a:t>
            </a:r>
            <a:r>
              <a:rPr lang="en-IN" i="1" dirty="0" smtClean="0"/>
              <a:t>f (</a:t>
            </a:r>
            <a:r>
              <a:rPr lang="en-IN" i="1" dirty="0" err="1" smtClean="0"/>
              <a:t>i</a:t>
            </a:r>
            <a:r>
              <a:rPr lang="en-IN" i="1" dirty="0" smtClean="0"/>
              <a:t>)</a:t>
            </a:r>
            <a:r>
              <a:rPr lang="en-IN" dirty="0" smtClean="0"/>
              <a:t>], with </a:t>
            </a:r>
          </a:p>
          <a:p>
            <a:pPr>
              <a:buNone/>
            </a:pPr>
            <a:r>
              <a:rPr lang="en-IN" i="1" dirty="0" smtClean="0"/>
              <a:t>f (</a:t>
            </a:r>
            <a:r>
              <a:rPr lang="en-IN" i="1" dirty="0" err="1" smtClean="0"/>
              <a:t>i</a:t>
            </a:r>
            <a:r>
              <a:rPr lang="en-IN" i="1" dirty="0" smtClean="0"/>
              <a:t>) </a:t>
            </a:r>
            <a:r>
              <a:rPr lang="en-IN" dirty="0" smtClean="0"/>
              <a:t>= </a:t>
            </a:r>
            <a:r>
              <a:rPr lang="en-IN" i="1" dirty="0" smtClean="0"/>
              <a:t>s(</a:t>
            </a:r>
            <a:r>
              <a:rPr lang="en-IN" i="1" dirty="0" err="1" smtClean="0"/>
              <a:t>i</a:t>
            </a:r>
            <a:r>
              <a:rPr lang="en-IN" i="1" dirty="0" smtClean="0"/>
              <a:t>) </a:t>
            </a:r>
            <a:r>
              <a:rPr lang="en-IN" dirty="0" smtClean="0"/>
              <a:t>+ </a:t>
            </a:r>
            <a:r>
              <a:rPr lang="en-IN" i="1" dirty="0" err="1" smtClean="0"/>
              <a:t>t</a:t>
            </a:r>
            <a:r>
              <a:rPr lang="en-IN" i="1" baseline="-25000" dirty="0" err="1" smtClean="0"/>
              <a:t>i</a:t>
            </a:r>
            <a:r>
              <a:rPr lang="en-IN" dirty="0" smtClean="0"/>
              <a:t>. </a:t>
            </a:r>
          </a:p>
          <a:p>
            <a:pPr lvl="1"/>
            <a:r>
              <a:rPr lang="en-IN" dirty="0" smtClean="0"/>
              <a:t>	where, s(</a:t>
            </a:r>
            <a:r>
              <a:rPr lang="en-IN" dirty="0" err="1" smtClean="0"/>
              <a:t>i</a:t>
            </a:r>
            <a:r>
              <a:rPr lang="en-IN" dirty="0" smtClean="0"/>
              <a:t>)= start time of the interval </a:t>
            </a:r>
            <a:r>
              <a:rPr lang="en-IN" dirty="0" err="1" smtClean="0"/>
              <a:t>i</a:t>
            </a:r>
            <a:endParaRPr lang="en-IN" dirty="0" smtClean="0"/>
          </a:p>
          <a:p>
            <a:pPr lvl="1"/>
            <a:r>
              <a:rPr lang="en-IN" dirty="0" smtClean="0"/>
              <a:t>	f(</a:t>
            </a:r>
            <a:r>
              <a:rPr lang="en-IN" dirty="0" err="1" smtClean="0"/>
              <a:t>i</a:t>
            </a:r>
            <a:r>
              <a:rPr lang="en-IN" dirty="0" smtClean="0"/>
              <a:t>)=finish time of the interval </a:t>
            </a:r>
            <a:r>
              <a:rPr lang="en-IN" dirty="0" err="1" smtClean="0"/>
              <a:t>i</a:t>
            </a:r>
            <a:endParaRPr lang="en-IN" dirty="0" smtClean="0"/>
          </a:p>
          <a:p>
            <a:pPr lvl="1"/>
            <a:r>
              <a:rPr lang="en-IN" dirty="0" smtClean="0"/>
              <a:t>	</a:t>
            </a:r>
            <a:r>
              <a:rPr lang="en-IN" dirty="0" err="1" smtClean="0"/>
              <a:t>t</a:t>
            </a:r>
            <a:r>
              <a:rPr lang="en-IN" baseline="-25000" dirty="0" err="1" smtClean="0"/>
              <a:t>i</a:t>
            </a:r>
            <a:r>
              <a:rPr lang="en-IN" dirty="0" smtClean="0"/>
              <a:t>= time length of the interval I</a:t>
            </a:r>
          </a:p>
          <a:p>
            <a:r>
              <a:rPr lang="en-IN" dirty="0" smtClean="0"/>
              <a:t>We say that a request </a:t>
            </a:r>
            <a:r>
              <a:rPr lang="en-IN" i="1" dirty="0" err="1" smtClean="0"/>
              <a:t>i</a:t>
            </a:r>
            <a:r>
              <a:rPr lang="en-IN" i="1" dirty="0" smtClean="0"/>
              <a:t> </a:t>
            </a:r>
            <a:r>
              <a:rPr lang="en-IN" dirty="0" smtClean="0"/>
              <a:t>is </a:t>
            </a:r>
            <a:r>
              <a:rPr lang="en-IN" i="1" dirty="0" smtClean="0"/>
              <a:t>late </a:t>
            </a:r>
            <a:r>
              <a:rPr lang="en-IN" dirty="0" smtClean="0"/>
              <a:t>if it misses the deadline, that is, if </a:t>
            </a:r>
            <a:r>
              <a:rPr lang="en-IN" i="1" dirty="0" smtClean="0"/>
              <a:t>f (</a:t>
            </a:r>
            <a:r>
              <a:rPr lang="en-IN" i="1" dirty="0" err="1" smtClean="0"/>
              <a:t>i</a:t>
            </a:r>
            <a:r>
              <a:rPr lang="en-IN" i="1" dirty="0" smtClean="0"/>
              <a:t>) &gt; </a:t>
            </a:r>
            <a:r>
              <a:rPr lang="en-IN" i="1" dirty="0" err="1" smtClean="0"/>
              <a:t>d</a:t>
            </a:r>
            <a:r>
              <a:rPr lang="en-IN" i="1" baseline="-25000" dirty="0" err="1" smtClean="0"/>
              <a:t>i</a:t>
            </a:r>
            <a:r>
              <a:rPr lang="en-IN" dirty="0" smtClean="0"/>
              <a:t>.</a:t>
            </a:r>
          </a:p>
          <a:p>
            <a:r>
              <a:rPr lang="en-IN" dirty="0" smtClean="0"/>
              <a:t>The </a:t>
            </a:r>
            <a:r>
              <a:rPr lang="en-IN" i="1" dirty="0" smtClean="0"/>
              <a:t>lateness </a:t>
            </a:r>
            <a:r>
              <a:rPr lang="en-IN" dirty="0" smtClean="0"/>
              <a:t>of such a request </a:t>
            </a:r>
            <a:r>
              <a:rPr lang="en-IN" i="1" dirty="0" err="1" smtClean="0"/>
              <a:t>i</a:t>
            </a:r>
            <a:r>
              <a:rPr lang="en-IN" i="1" dirty="0" smtClean="0"/>
              <a:t> </a:t>
            </a:r>
            <a:r>
              <a:rPr lang="en-IN" dirty="0" smtClean="0"/>
              <a:t>is defined to be </a:t>
            </a:r>
            <a:r>
              <a:rPr lang="en-IN" i="1" dirty="0" err="1" smtClean="0"/>
              <a:t>l</a:t>
            </a:r>
            <a:r>
              <a:rPr lang="en-IN" i="1" baseline="-25000" dirty="0" err="1" smtClean="0"/>
              <a:t>i</a:t>
            </a:r>
            <a:r>
              <a:rPr lang="en-IN" i="1" dirty="0" smtClean="0"/>
              <a:t> </a:t>
            </a:r>
            <a:r>
              <a:rPr lang="en-IN" dirty="0" smtClean="0"/>
              <a:t>= </a:t>
            </a:r>
            <a:r>
              <a:rPr lang="en-IN" i="1" dirty="0" smtClean="0"/>
              <a:t>f (</a:t>
            </a:r>
            <a:r>
              <a:rPr lang="en-IN" i="1" dirty="0" err="1" smtClean="0"/>
              <a:t>i</a:t>
            </a:r>
            <a:r>
              <a:rPr lang="en-IN" i="1" dirty="0" smtClean="0"/>
              <a:t>) </a:t>
            </a:r>
            <a:r>
              <a:rPr lang="en-IN" dirty="0" smtClean="0"/>
              <a:t>− </a:t>
            </a:r>
            <a:r>
              <a:rPr lang="en-IN" i="1" dirty="0" err="1" smtClean="0"/>
              <a:t>d</a:t>
            </a:r>
            <a:r>
              <a:rPr lang="en-IN" i="1" baseline="-25000" dirty="0" err="1" smtClean="0"/>
              <a:t>i</a:t>
            </a:r>
            <a:r>
              <a:rPr lang="en-IN" dirty="0" smtClean="0"/>
              <a:t>.</a:t>
            </a:r>
          </a:p>
          <a:p>
            <a:endParaRPr lang="en-IN" dirty="0" smtClean="0"/>
          </a:p>
          <a:p>
            <a:endParaRPr lang="en-IN" dirty="0" smtClean="0"/>
          </a:p>
          <a:p>
            <a:endParaRPr lang="en-IN" dirty="0" smtClean="0"/>
          </a:p>
          <a:p>
            <a:endParaRPr lang="en-IN" dirty="0" smtClean="0"/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/>
        </p:nvSpPr>
        <p:spPr>
          <a:xfrm>
            <a:off x="6858000" y="2743200"/>
            <a:ext cx="304800" cy="38100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/>
          <p:cNvSpPr/>
          <p:nvPr/>
        </p:nvSpPr>
        <p:spPr>
          <a:xfrm>
            <a:off x="5105400" y="2743200"/>
            <a:ext cx="304800" cy="38100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/>
          <p:cNvSpPr/>
          <p:nvPr/>
        </p:nvSpPr>
        <p:spPr>
          <a:xfrm>
            <a:off x="6019800" y="2743200"/>
            <a:ext cx="304800" cy="38100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/>
          <p:cNvSpPr/>
          <p:nvPr/>
        </p:nvSpPr>
        <p:spPr>
          <a:xfrm>
            <a:off x="2362200" y="2743200"/>
            <a:ext cx="304800" cy="38100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/>
          <p:cNvSpPr/>
          <p:nvPr/>
        </p:nvSpPr>
        <p:spPr>
          <a:xfrm>
            <a:off x="3276600" y="2743200"/>
            <a:ext cx="304800" cy="38100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/>
          <p:cNvSpPr/>
          <p:nvPr/>
        </p:nvSpPr>
        <p:spPr>
          <a:xfrm>
            <a:off x="4191000" y="2743200"/>
            <a:ext cx="304800" cy="38100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Scheduling to minimize lateness- Example</a:t>
            </a:r>
            <a:endParaRPr lang="en-IN" dirty="0"/>
          </a:p>
        </p:txBody>
      </p:sp>
      <p:pic>
        <p:nvPicPr>
          <p:cNvPr id="5" name="Picture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4191000"/>
            <a:ext cx="83820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447800" y="2209800"/>
          <a:ext cx="6324598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3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3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3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35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35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35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35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6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t(j)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d(j)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5" grpId="0" animBg="1"/>
      <p:bldP spid="14" grpId="0" animBg="1"/>
      <p:bldP spid="13" grpId="0" animBg="1"/>
      <p:bldP spid="12" grpId="0" animBg="1"/>
      <p:bldP spid="1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Scheduling to minimize lateness- Goal</a:t>
            </a:r>
            <a:endParaRPr lang="en-IN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The goal in our new optimization problem will be to schedule all requests, using </a:t>
            </a:r>
          </a:p>
          <a:p>
            <a:pPr>
              <a:buNone/>
            </a:pPr>
            <a:r>
              <a:rPr lang="en-IN" dirty="0" smtClean="0"/>
              <a:t>non-overlapping intervals, so as to minimize the </a:t>
            </a:r>
            <a:r>
              <a:rPr lang="en-IN" i="1" dirty="0" smtClean="0"/>
              <a:t>maximum lateness</a:t>
            </a:r>
            <a:r>
              <a:rPr lang="en-IN" dirty="0" smtClean="0"/>
              <a:t>, </a:t>
            </a:r>
            <a:r>
              <a:rPr lang="en-IN" i="1" dirty="0" smtClean="0"/>
              <a:t>L </a:t>
            </a:r>
            <a:r>
              <a:rPr lang="en-IN" dirty="0" smtClean="0"/>
              <a:t>= max</a:t>
            </a:r>
            <a:r>
              <a:rPr lang="en-IN" i="1" baseline="-25000" dirty="0" smtClean="0"/>
              <a:t>i</a:t>
            </a:r>
            <a:r>
              <a:rPr lang="en-IN" i="1" dirty="0" smtClean="0"/>
              <a:t> l</a:t>
            </a:r>
            <a:r>
              <a:rPr lang="en-IN" i="1" baseline="-25000" dirty="0" smtClean="0"/>
              <a:t>i</a:t>
            </a:r>
            <a:r>
              <a:rPr lang="en-IN" dirty="0" smtClean="0"/>
              <a:t>.</a:t>
            </a:r>
          </a:p>
          <a:p>
            <a:endParaRPr lang="en-IN" dirty="0"/>
          </a:p>
        </p:txBody>
      </p:sp>
      <p:pic>
        <p:nvPicPr>
          <p:cNvPr id="5" name="Picture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4038600"/>
            <a:ext cx="8077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78" name="Picture 2" descr="C:\Users\Srinidhi\Desktop\lat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15200" y="5257800"/>
            <a:ext cx="1480185" cy="1371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Scheduling to minimize lateness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smtClean="0"/>
              <a:t>Natural approaches.</a:t>
            </a:r>
          </a:p>
          <a:p>
            <a:pPr lvl="1"/>
            <a:r>
              <a:rPr lang="en-IN" dirty="0" smtClean="0"/>
              <a:t>increasing length </a:t>
            </a:r>
            <a:r>
              <a:rPr lang="en-IN" i="1" dirty="0" err="1" smtClean="0"/>
              <a:t>t</a:t>
            </a:r>
            <a:r>
              <a:rPr lang="en-IN" i="1" baseline="-25000" dirty="0" err="1" smtClean="0"/>
              <a:t>i</a:t>
            </a:r>
            <a:endParaRPr lang="en-IN" dirty="0" smtClean="0"/>
          </a:p>
          <a:p>
            <a:endParaRPr lang="en-IN" dirty="0" smtClean="0"/>
          </a:p>
          <a:p>
            <a:endParaRPr lang="en-IN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24000" y="3048000"/>
          <a:ext cx="4038600" cy="1472184"/>
        </p:xfrm>
        <a:graphic>
          <a:graphicData uri="http://schemas.openxmlformats.org/drawingml/2006/table">
            <a:tbl>
              <a:tblPr/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07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800" dirty="0" smtClean="0">
                          <a:latin typeface="Times New Roman"/>
                          <a:ea typeface="Times New Roman"/>
                          <a:cs typeface="Times New Roman"/>
                        </a:rPr>
                        <a:t>Request</a:t>
                      </a:r>
                      <a:endParaRPr lang="en-IN" sz="2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800" dirty="0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en-IN" sz="2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800"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en-IN" sz="2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7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800" dirty="0" err="1">
                          <a:latin typeface="Times New Roman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lang="en-IN" sz="2800" baseline="-25000" dirty="0" err="1">
                          <a:latin typeface="Times New Roman"/>
                          <a:ea typeface="Times New Roman"/>
                          <a:cs typeface="Times New Roman"/>
                        </a:rPr>
                        <a:t>j</a:t>
                      </a:r>
                      <a:endParaRPr lang="en-IN" sz="2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800" dirty="0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en-IN" sz="2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800" dirty="0"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en-IN" sz="2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7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800">
                          <a:latin typeface="Times New Roman"/>
                          <a:ea typeface="Times New Roman"/>
                          <a:cs typeface="Times New Roman"/>
                        </a:rPr>
                        <a:t>d</a:t>
                      </a:r>
                      <a:r>
                        <a:rPr lang="en-IN" sz="2800" baseline="-25000">
                          <a:latin typeface="Times New Roman"/>
                          <a:ea typeface="Times New Roman"/>
                          <a:cs typeface="Times New Roman"/>
                        </a:rPr>
                        <a:t>j</a:t>
                      </a:r>
                      <a:endParaRPr lang="en-IN" sz="2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800"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en-IN" sz="2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800" dirty="0"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lang="en-IN" sz="2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4876800"/>
            <a:ext cx="3124200" cy="16073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/>
          <p:cNvSpPr/>
          <p:nvPr/>
        </p:nvSpPr>
        <p:spPr>
          <a:xfrm>
            <a:off x="4038600" y="3352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/>
          <p:cNvSpPr/>
          <p:nvPr/>
        </p:nvSpPr>
        <p:spPr>
          <a:xfrm>
            <a:off x="2743200" y="3352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Scheduling to minimize lateness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Natural approaches.</a:t>
            </a:r>
          </a:p>
          <a:p>
            <a:pPr lvl="1"/>
            <a:r>
              <a:rPr lang="en-IN" dirty="0" smtClean="0"/>
              <a:t>increasing length </a:t>
            </a:r>
            <a:r>
              <a:rPr lang="en-IN" i="1" dirty="0" err="1" smtClean="0"/>
              <a:t>t</a:t>
            </a:r>
            <a:r>
              <a:rPr lang="en-IN" i="1" baseline="-25000" dirty="0" err="1" smtClean="0"/>
              <a:t>i</a:t>
            </a:r>
            <a:endParaRPr lang="en-IN" dirty="0" smtClean="0"/>
          </a:p>
          <a:p>
            <a:endParaRPr lang="en-IN" dirty="0" smtClean="0"/>
          </a:p>
          <a:p>
            <a:endParaRPr lang="en-IN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24000" y="2870962"/>
          <a:ext cx="3657600" cy="1320039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92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 smtClean="0">
                          <a:latin typeface="Times New Roman"/>
                          <a:ea typeface="Times New Roman"/>
                          <a:cs typeface="Times New Roman"/>
                        </a:rPr>
                        <a:t>Request</a:t>
                      </a:r>
                      <a:endParaRPr lang="en-IN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en-IN" sz="20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en-IN" sz="20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2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latin typeface="Times New Roman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lang="en-IN" sz="2000" baseline="-25000">
                          <a:latin typeface="Times New Roman"/>
                          <a:ea typeface="Times New Roman"/>
                          <a:cs typeface="Times New Roman"/>
                        </a:rPr>
                        <a:t>j</a:t>
                      </a:r>
                      <a:endParaRPr lang="en-IN" sz="20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en-IN" sz="20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endParaRPr lang="en-IN" sz="20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4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latin typeface="Times New Roman"/>
                          <a:ea typeface="Times New Roman"/>
                          <a:cs typeface="Times New Roman"/>
                        </a:rPr>
                        <a:t>d</a:t>
                      </a:r>
                      <a:r>
                        <a:rPr lang="en-IN" sz="2000" baseline="-25000">
                          <a:latin typeface="Times New Roman"/>
                          <a:ea typeface="Times New Roman"/>
                          <a:cs typeface="Times New Roman"/>
                        </a:rPr>
                        <a:t>j</a:t>
                      </a:r>
                      <a:endParaRPr lang="en-IN" sz="20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latin typeface="Times New Roman"/>
                          <a:ea typeface="Times New Roman"/>
                          <a:cs typeface="Times New Roman"/>
                        </a:rPr>
                        <a:t>100</a:t>
                      </a:r>
                      <a:endParaRPr lang="en-IN" sz="20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 smtClean="0">
                          <a:latin typeface="Calibri"/>
                          <a:ea typeface="Times New Roman"/>
                          <a:cs typeface="Times New Roman"/>
                        </a:rPr>
                        <a:t>10</a:t>
                      </a:r>
                      <a:endParaRPr lang="en-IN" sz="20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6086" name="Text Box 6"/>
          <p:cNvSpPr txBox="1">
            <a:spLocks noChangeArrowheads="1"/>
          </p:cNvSpPr>
          <p:nvPr/>
        </p:nvSpPr>
        <p:spPr bwMode="auto">
          <a:xfrm>
            <a:off x="3638550" y="228600"/>
            <a:ext cx="269875" cy="26987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6087" name="Text Box 7"/>
          <p:cNvSpPr txBox="1">
            <a:spLocks noChangeArrowheads="1"/>
          </p:cNvSpPr>
          <p:nvPr/>
        </p:nvSpPr>
        <p:spPr bwMode="auto">
          <a:xfrm>
            <a:off x="4291013" y="244475"/>
            <a:ext cx="365125" cy="26987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6088" name="Text Box 8"/>
          <p:cNvSpPr txBox="1">
            <a:spLocks noChangeArrowheads="1"/>
          </p:cNvSpPr>
          <p:nvPr/>
        </p:nvSpPr>
        <p:spPr bwMode="auto">
          <a:xfrm>
            <a:off x="4854575" y="230188"/>
            <a:ext cx="365125" cy="26987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Down Arrow 17"/>
          <p:cNvSpPr/>
          <p:nvPr/>
        </p:nvSpPr>
        <p:spPr>
          <a:xfrm>
            <a:off x="838200" y="2971800"/>
            <a:ext cx="304800" cy="1828800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6090" name="Picture 1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4876800"/>
            <a:ext cx="3581400" cy="1702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6091" name="Picture 1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0" y="4572000"/>
            <a:ext cx="356616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1" name="TextBox 20"/>
          <p:cNvSpPr txBox="1"/>
          <p:nvPr/>
        </p:nvSpPr>
        <p:spPr>
          <a:xfrm>
            <a:off x="5867400" y="2286000"/>
            <a:ext cx="1828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Counter example</a:t>
            </a:r>
            <a:endParaRPr lang="en-IN" dirty="0"/>
          </a:p>
        </p:txBody>
      </p:sp>
      <p:sp>
        <p:nvSpPr>
          <p:cNvPr id="14" name="Down Arrow 13"/>
          <p:cNvSpPr/>
          <p:nvPr/>
        </p:nvSpPr>
        <p:spPr>
          <a:xfrm>
            <a:off x="6781800" y="2743200"/>
            <a:ext cx="304800" cy="1828800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/>
          <p:cNvSpPr txBox="1"/>
          <p:nvPr/>
        </p:nvSpPr>
        <p:spPr>
          <a:xfrm>
            <a:off x="7315200" y="3200400"/>
            <a:ext cx="15599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If request 2 is </a:t>
            </a:r>
          </a:p>
          <a:p>
            <a:r>
              <a:rPr lang="en-IN" dirty="0" smtClean="0"/>
              <a:t>scheduled first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0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60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60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4" grpId="0" animBg="1"/>
      <p:bldP spid="1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Scheduling to minimize lateness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Natural approaches.</a:t>
            </a:r>
          </a:p>
          <a:p>
            <a:pPr lvl="1"/>
            <a:r>
              <a:rPr lang="en-IN" b="1" i="1" dirty="0" smtClean="0"/>
              <a:t>slack time</a:t>
            </a:r>
            <a:r>
              <a:rPr lang="en-IN" i="1" dirty="0" smtClean="0"/>
              <a:t> </a:t>
            </a:r>
            <a:r>
              <a:rPr lang="en-IN" i="1" dirty="0" err="1" smtClean="0"/>
              <a:t>d</a:t>
            </a:r>
            <a:r>
              <a:rPr lang="en-IN" i="1" baseline="-25000" dirty="0" err="1" smtClean="0"/>
              <a:t>i</a:t>
            </a:r>
            <a:r>
              <a:rPr lang="en-IN" i="1" dirty="0" smtClean="0"/>
              <a:t> </a:t>
            </a:r>
            <a:r>
              <a:rPr lang="en-IN" dirty="0" smtClean="0"/>
              <a:t>− </a:t>
            </a:r>
            <a:r>
              <a:rPr lang="en-IN" i="1" dirty="0" err="1" smtClean="0"/>
              <a:t>t</a:t>
            </a:r>
            <a:r>
              <a:rPr lang="en-IN" i="1" baseline="-25000" dirty="0" err="1" smtClean="0"/>
              <a:t>i</a:t>
            </a:r>
            <a:r>
              <a:rPr lang="en-IN" i="1" dirty="0" smtClean="0"/>
              <a:t> </a:t>
            </a:r>
            <a:r>
              <a:rPr lang="en-IN" dirty="0" smtClean="0"/>
              <a:t>is very small</a:t>
            </a:r>
          </a:p>
          <a:p>
            <a:endParaRPr lang="en-IN" dirty="0"/>
          </a:p>
        </p:txBody>
      </p:sp>
      <p:sp>
        <p:nvSpPr>
          <p:cNvPr id="46086" name="Text Box 6"/>
          <p:cNvSpPr txBox="1">
            <a:spLocks noChangeArrowheads="1"/>
          </p:cNvSpPr>
          <p:nvPr/>
        </p:nvSpPr>
        <p:spPr bwMode="auto">
          <a:xfrm>
            <a:off x="3638550" y="228600"/>
            <a:ext cx="269875" cy="26987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6087" name="Text Box 7"/>
          <p:cNvSpPr txBox="1">
            <a:spLocks noChangeArrowheads="1"/>
          </p:cNvSpPr>
          <p:nvPr/>
        </p:nvSpPr>
        <p:spPr bwMode="auto">
          <a:xfrm>
            <a:off x="4291013" y="244475"/>
            <a:ext cx="365125" cy="26987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6088" name="Text Box 8"/>
          <p:cNvSpPr txBox="1">
            <a:spLocks noChangeArrowheads="1"/>
          </p:cNvSpPr>
          <p:nvPr/>
        </p:nvSpPr>
        <p:spPr bwMode="auto">
          <a:xfrm>
            <a:off x="4854575" y="230188"/>
            <a:ext cx="365125" cy="26987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524000" y="3008376"/>
          <a:ext cx="4572000" cy="1682496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9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400" dirty="0" smtClean="0">
                          <a:latin typeface="Times New Roman"/>
                          <a:ea typeface="Times New Roman"/>
                          <a:cs typeface="Times New Roman"/>
                        </a:rPr>
                        <a:t>Request</a:t>
                      </a:r>
                      <a:endParaRPr lang="en-IN" sz="2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400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en-IN" sz="2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400"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en-IN" sz="2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9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400" dirty="0" err="1">
                          <a:latin typeface="Times New Roman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lang="en-IN" sz="2400" baseline="-25000" dirty="0" err="1">
                          <a:latin typeface="Times New Roman"/>
                          <a:ea typeface="Times New Roman"/>
                          <a:cs typeface="Times New Roman"/>
                        </a:rPr>
                        <a:t>j</a:t>
                      </a:r>
                      <a:endParaRPr lang="en-IN" sz="2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400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en-IN" sz="2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400"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en-IN" sz="2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9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400" dirty="0" err="1">
                          <a:latin typeface="Times New Roman"/>
                          <a:ea typeface="Times New Roman"/>
                          <a:cs typeface="Times New Roman"/>
                        </a:rPr>
                        <a:t>d</a:t>
                      </a:r>
                      <a:r>
                        <a:rPr lang="en-IN" sz="2400" baseline="-25000" dirty="0" err="1">
                          <a:latin typeface="Times New Roman"/>
                          <a:ea typeface="Times New Roman"/>
                          <a:cs typeface="Times New Roman"/>
                        </a:rPr>
                        <a:t>j</a:t>
                      </a:r>
                      <a:endParaRPr lang="en-IN" sz="2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400" dirty="0"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en-IN" sz="2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400"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lang="en-IN" sz="2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9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400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Sl</a:t>
                      </a:r>
                      <a:r>
                        <a:rPr lang="en-IN" sz="2400" baseline="-25000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i</a:t>
                      </a:r>
                      <a:r>
                        <a:rPr lang="en-IN" sz="2400" baseline="-25000" dirty="0" smtClean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IN" sz="2400" baseline="0" dirty="0" smtClean="0">
                          <a:latin typeface="Times New Roman"/>
                          <a:ea typeface="Times New Roman"/>
                          <a:cs typeface="Times New Roman"/>
                        </a:rPr>
                        <a:t> (Slack)</a:t>
                      </a:r>
                      <a:endParaRPr lang="en-IN" sz="2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400" dirty="0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en-IN" sz="2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400" dirty="0"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en-IN" sz="2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710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5181600"/>
            <a:ext cx="2514600" cy="1395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/>
          <p:cNvSpPr/>
          <p:nvPr/>
        </p:nvSpPr>
        <p:spPr>
          <a:xfrm>
            <a:off x="5181600" y="4114800"/>
            <a:ext cx="304800" cy="38100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/>
          <p:cNvSpPr/>
          <p:nvPr/>
        </p:nvSpPr>
        <p:spPr>
          <a:xfrm>
            <a:off x="3733800" y="4114800"/>
            <a:ext cx="228600" cy="38100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Scheduling to minimize lateness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Natural approaches.</a:t>
            </a:r>
          </a:p>
          <a:p>
            <a:pPr lvl="1"/>
            <a:r>
              <a:rPr lang="en-IN" b="1" i="1" dirty="0" smtClean="0"/>
              <a:t>slack time</a:t>
            </a:r>
            <a:r>
              <a:rPr lang="en-IN" i="1" dirty="0" smtClean="0"/>
              <a:t> </a:t>
            </a:r>
            <a:r>
              <a:rPr lang="en-IN" i="1" dirty="0" err="1" smtClean="0"/>
              <a:t>d</a:t>
            </a:r>
            <a:r>
              <a:rPr lang="en-IN" i="1" baseline="-25000" dirty="0" err="1" smtClean="0"/>
              <a:t>i</a:t>
            </a:r>
            <a:r>
              <a:rPr lang="en-IN" i="1" dirty="0" smtClean="0"/>
              <a:t> </a:t>
            </a:r>
            <a:r>
              <a:rPr lang="en-IN" dirty="0" smtClean="0"/>
              <a:t>− </a:t>
            </a:r>
            <a:r>
              <a:rPr lang="en-IN" i="1" dirty="0" err="1" smtClean="0"/>
              <a:t>t</a:t>
            </a:r>
            <a:r>
              <a:rPr lang="en-IN" i="1" baseline="-25000" dirty="0" err="1" smtClean="0"/>
              <a:t>i</a:t>
            </a:r>
            <a:r>
              <a:rPr lang="en-IN" i="1" dirty="0" smtClean="0"/>
              <a:t> </a:t>
            </a:r>
            <a:r>
              <a:rPr lang="en-IN" dirty="0" smtClean="0"/>
              <a:t>is very small</a:t>
            </a:r>
          </a:p>
          <a:p>
            <a:endParaRPr lang="en-IN" dirty="0"/>
          </a:p>
        </p:txBody>
      </p:sp>
      <p:sp>
        <p:nvSpPr>
          <p:cNvPr id="46086" name="Text Box 6"/>
          <p:cNvSpPr txBox="1">
            <a:spLocks noChangeArrowheads="1"/>
          </p:cNvSpPr>
          <p:nvPr/>
        </p:nvSpPr>
        <p:spPr bwMode="auto">
          <a:xfrm>
            <a:off x="3638550" y="228600"/>
            <a:ext cx="269875" cy="26987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6087" name="Text Box 7"/>
          <p:cNvSpPr txBox="1">
            <a:spLocks noChangeArrowheads="1"/>
          </p:cNvSpPr>
          <p:nvPr/>
        </p:nvSpPr>
        <p:spPr bwMode="auto">
          <a:xfrm>
            <a:off x="4291013" y="244475"/>
            <a:ext cx="365125" cy="26987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6088" name="Text Box 8"/>
          <p:cNvSpPr txBox="1">
            <a:spLocks noChangeArrowheads="1"/>
          </p:cNvSpPr>
          <p:nvPr/>
        </p:nvSpPr>
        <p:spPr bwMode="auto">
          <a:xfrm>
            <a:off x="4854575" y="230188"/>
            <a:ext cx="365125" cy="26987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209800" y="2819400"/>
          <a:ext cx="4419600" cy="1682496"/>
        </p:xfrm>
        <a:graphic>
          <a:graphicData uri="http://schemas.openxmlformats.org/drawingml/2006/table">
            <a:tbl>
              <a:tblPr/>
              <a:tblGrid>
                <a:gridCol w="147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34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400" dirty="0" smtClean="0">
                          <a:latin typeface="Times New Roman"/>
                          <a:ea typeface="Times New Roman"/>
                          <a:cs typeface="Times New Roman"/>
                        </a:rPr>
                        <a:t>Request</a:t>
                      </a:r>
                      <a:endParaRPr lang="en-IN" sz="2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400" dirty="0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en-IN" sz="2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400"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en-IN" sz="2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4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400">
                          <a:latin typeface="Times New Roman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lang="en-IN" sz="2400" baseline="-25000">
                          <a:latin typeface="Times New Roman"/>
                          <a:ea typeface="Times New Roman"/>
                          <a:cs typeface="Times New Roman"/>
                        </a:rPr>
                        <a:t>j</a:t>
                      </a:r>
                      <a:endParaRPr lang="en-IN" sz="2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400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en-IN" sz="2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400"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endParaRPr lang="en-IN" sz="2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4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400">
                          <a:latin typeface="Times New Roman"/>
                          <a:ea typeface="Times New Roman"/>
                          <a:cs typeface="Times New Roman"/>
                        </a:rPr>
                        <a:t>d</a:t>
                      </a:r>
                      <a:r>
                        <a:rPr lang="en-IN" sz="2400" baseline="-25000">
                          <a:latin typeface="Times New Roman"/>
                          <a:ea typeface="Times New Roman"/>
                          <a:cs typeface="Times New Roman"/>
                        </a:rPr>
                        <a:t>j</a:t>
                      </a:r>
                      <a:endParaRPr lang="en-IN" sz="2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400"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en-IN" sz="2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400" dirty="0" smtClean="0">
                          <a:latin typeface="Calibri"/>
                        </a:rPr>
                        <a:t>10</a:t>
                      </a:r>
                      <a:endParaRPr lang="en-IN" sz="2400" dirty="0">
                        <a:latin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4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400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sl</a:t>
                      </a:r>
                      <a:r>
                        <a:rPr lang="en-IN" sz="2400" baseline="-25000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i</a:t>
                      </a:r>
                      <a:endParaRPr lang="en-IN" sz="2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400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en-IN" sz="2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400" dirty="0"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  <a:endParaRPr lang="en-IN" sz="2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813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4724400"/>
            <a:ext cx="3124200" cy="1791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Down Arrow 12"/>
          <p:cNvSpPr/>
          <p:nvPr/>
        </p:nvSpPr>
        <p:spPr>
          <a:xfrm>
            <a:off x="1524000" y="2971800"/>
            <a:ext cx="228600" cy="1600200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813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0" y="4572000"/>
            <a:ext cx="3448050" cy="181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TextBox 14"/>
          <p:cNvSpPr txBox="1"/>
          <p:nvPr/>
        </p:nvSpPr>
        <p:spPr>
          <a:xfrm>
            <a:off x="6934200" y="2286000"/>
            <a:ext cx="1828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Counter example</a:t>
            </a:r>
            <a:endParaRPr lang="en-IN" dirty="0"/>
          </a:p>
        </p:txBody>
      </p:sp>
      <p:sp>
        <p:nvSpPr>
          <p:cNvPr id="12" name="Down Arrow 11"/>
          <p:cNvSpPr/>
          <p:nvPr/>
        </p:nvSpPr>
        <p:spPr>
          <a:xfrm>
            <a:off x="7315200" y="2971800"/>
            <a:ext cx="228600" cy="1600200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7550294" y="3352800"/>
            <a:ext cx="15937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If request 1 </a:t>
            </a:r>
          </a:p>
          <a:p>
            <a:r>
              <a:rPr lang="en-IN" dirty="0" smtClean="0"/>
              <a:t>Was scheduled</a:t>
            </a:r>
          </a:p>
          <a:p>
            <a:r>
              <a:rPr lang="en-IN" dirty="0" smtClean="0"/>
              <a:t>first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8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8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8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8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2" grpId="0" animBg="1"/>
      <p:bldP spid="1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Scheduling to minimize lateness- Goal revisited</a:t>
            </a:r>
            <a:endParaRPr lang="en-IN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The goal in our new optimization problem will be to schedule all requests, using </a:t>
            </a:r>
          </a:p>
          <a:p>
            <a:pPr>
              <a:buNone/>
            </a:pPr>
            <a:r>
              <a:rPr lang="en-IN" dirty="0" smtClean="0"/>
              <a:t>non-overlapping intervals, so as to minimize the </a:t>
            </a:r>
            <a:r>
              <a:rPr lang="en-IN" i="1" dirty="0" smtClean="0"/>
              <a:t>maximum lateness</a:t>
            </a:r>
            <a:r>
              <a:rPr lang="en-IN" dirty="0" smtClean="0"/>
              <a:t>, </a:t>
            </a:r>
            <a:r>
              <a:rPr lang="en-IN" i="1" dirty="0" smtClean="0"/>
              <a:t>L </a:t>
            </a:r>
            <a:r>
              <a:rPr lang="en-IN" dirty="0" smtClean="0"/>
              <a:t>= max</a:t>
            </a:r>
            <a:r>
              <a:rPr lang="en-IN" i="1" baseline="-25000" dirty="0" smtClean="0"/>
              <a:t>i</a:t>
            </a:r>
            <a:r>
              <a:rPr lang="en-IN" i="1" dirty="0" smtClean="0"/>
              <a:t> l</a:t>
            </a:r>
            <a:r>
              <a:rPr lang="en-IN" i="1" baseline="-25000" dirty="0" smtClean="0"/>
              <a:t>i</a:t>
            </a:r>
            <a:r>
              <a:rPr lang="en-IN" dirty="0" smtClean="0"/>
              <a:t>.</a:t>
            </a:r>
          </a:p>
          <a:p>
            <a:endParaRPr lang="en-IN" dirty="0"/>
          </a:p>
        </p:txBody>
      </p:sp>
      <p:pic>
        <p:nvPicPr>
          <p:cNvPr id="5" name="Picture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4038600"/>
            <a:ext cx="8077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78" name="Picture 2" descr="C:\Users\Srinidhi\Desktop\lat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5334000"/>
            <a:ext cx="1480185" cy="1371600"/>
          </a:xfrm>
          <a:prstGeom prst="rect">
            <a:avLst/>
          </a:prstGeom>
          <a:noFill/>
        </p:spPr>
      </p:pic>
      <p:pic>
        <p:nvPicPr>
          <p:cNvPr id="51202" name="Picture 2" descr="C:\Users\Srinidhi\Desktop\deadline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86400" y="5410200"/>
            <a:ext cx="1524000" cy="1143000"/>
          </a:xfrm>
          <a:prstGeom prst="rect">
            <a:avLst/>
          </a:prstGeom>
          <a:noFill/>
        </p:spPr>
      </p:pic>
      <p:pic>
        <p:nvPicPr>
          <p:cNvPr id="51203" name="Picture 3" descr="C:\Users\Srinidhi\Desktop\dont_miss_deadline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90800" y="5562600"/>
            <a:ext cx="2324298" cy="8382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>
            <a:off x="7010400" y="5786735"/>
            <a:ext cx="1905000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Earliest</a:t>
            </a:r>
            <a:endParaRPr lang="en-US" sz="2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Scheduling to minimize lateness- Algorithm</a:t>
            </a:r>
            <a:endParaRPr lang="en-IN" dirty="0"/>
          </a:p>
        </p:txBody>
      </p:sp>
      <p:pic>
        <p:nvPicPr>
          <p:cNvPr id="522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752600"/>
            <a:ext cx="6934200" cy="11256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7848600" y="1905000"/>
            <a:ext cx="468100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1</a:t>
            </a:r>
            <a:endParaRPr lang="en-US" sz="2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522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2895600"/>
            <a:ext cx="6324600" cy="5155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22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04999" y="3429000"/>
            <a:ext cx="5672667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7924800" y="3429000"/>
            <a:ext cx="468100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2</a:t>
            </a:r>
            <a:endParaRPr lang="en-US" sz="2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5222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905000" y="4267200"/>
            <a:ext cx="1752600" cy="516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9"/>
          <p:cNvSpPr/>
          <p:nvPr/>
        </p:nvSpPr>
        <p:spPr>
          <a:xfrm>
            <a:off x="7924800" y="4114800"/>
            <a:ext cx="468100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3</a:t>
            </a:r>
            <a:endParaRPr lang="en-US" sz="2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52230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990600" y="4876800"/>
            <a:ext cx="6324600" cy="1269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2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2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2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22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2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2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2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2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22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2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2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22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2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2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Scheduling to minimize lateness- Example</a:t>
            </a:r>
            <a:endParaRPr lang="en-IN" dirty="0"/>
          </a:p>
        </p:txBody>
      </p:sp>
      <p:pic>
        <p:nvPicPr>
          <p:cNvPr id="532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1828800"/>
            <a:ext cx="4247909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32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3962400"/>
            <a:ext cx="7162800" cy="19913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Scheduling to minimize lateness- Example</a:t>
            </a:r>
            <a:endParaRPr lang="en-IN" dirty="0"/>
          </a:p>
        </p:txBody>
      </p:sp>
      <p:pic>
        <p:nvPicPr>
          <p:cNvPr id="532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1828800"/>
            <a:ext cx="4247909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" y="4038600"/>
            <a:ext cx="7539963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Scheduling to minimize lateness- Example</a:t>
            </a:r>
            <a:endParaRPr lang="en-IN" dirty="0"/>
          </a:p>
        </p:txBody>
      </p:sp>
      <p:pic>
        <p:nvPicPr>
          <p:cNvPr id="532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1828800"/>
            <a:ext cx="4247909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4038600"/>
            <a:ext cx="7696200" cy="20454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Scheduling to minimize lateness- Example</a:t>
            </a:r>
            <a:endParaRPr lang="en-IN" dirty="0"/>
          </a:p>
        </p:txBody>
      </p:sp>
      <p:pic>
        <p:nvPicPr>
          <p:cNvPr id="532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1676400"/>
            <a:ext cx="4247909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3886199"/>
            <a:ext cx="7772400" cy="2736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Scheduling to minimize lateness- Example</a:t>
            </a:r>
            <a:endParaRPr lang="en-IN" dirty="0"/>
          </a:p>
        </p:txBody>
      </p:sp>
      <p:pic>
        <p:nvPicPr>
          <p:cNvPr id="532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828800"/>
            <a:ext cx="3352800" cy="1443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43325" y="1828800"/>
            <a:ext cx="5095875" cy="1860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734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2000" y="3886200"/>
            <a:ext cx="5334000" cy="28278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Scheduling to minimize lateness- Running time</a:t>
            </a:r>
            <a:endParaRPr lang="en-IN" dirty="0"/>
          </a:p>
        </p:txBody>
      </p:sp>
      <p:pic>
        <p:nvPicPr>
          <p:cNvPr id="522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752600"/>
            <a:ext cx="6934200" cy="11256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781800" y="1600200"/>
            <a:ext cx="1676400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O(n </a:t>
            </a:r>
            <a:r>
              <a:rPr lang="en-US" sz="2400" b="1" cap="all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logn</a:t>
            </a:r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)</a:t>
            </a:r>
            <a:endParaRPr lang="en-US" sz="2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522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2895600"/>
            <a:ext cx="6324600" cy="5155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22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04999" y="3429000"/>
            <a:ext cx="5672667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222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905000" y="4267200"/>
            <a:ext cx="1752600" cy="516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2230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938611" y="5410200"/>
            <a:ext cx="6452789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Rectangle 10"/>
          <p:cNvSpPr/>
          <p:nvPr/>
        </p:nvSpPr>
        <p:spPr>
          <a:xfrm>
            <a:off x="7239000" y="2895600"/>
            <a:ext cx="1676400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O(n)</a:t>
            </a:r>
            <a:endParaRPr lang="en-US" sz="2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Interval Scheduling</a:t>
            </a:r>
            <a:endParaRPr lang="en-IN" dirty="0"/>
          </a:p>
        </p:txBody>
      </p:sp>
      <p:sp>
        <p:nvSpPr>
          <p:cNvPr id="4" name="Right Arrow 3"/>
          <p:cNvSpPr/>
          <p:nvPr/>
        </p:nvSpPr>
        <p:spPr>
          <a:xfrm>
            <a:off x="533400" y="5638800"/>
            <a:ext cx="8305800" cy="1524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533400" y="4648200"/>
            <a:ext cx="12954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up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33600" y="4648200"/>
            <a:ext cx="12954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 smtClean="0">
                <a:solidFill>
                  <a:schemeClr val="tx1"/>
                </a:solidFill>
              </a:rPr>
              <a:t>Algos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810000" y="4648200"/>
            <a:ext cx="8382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CO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781800" y="4648200"/>
            <a:ext cx="20574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 smtClean="0">
                <a:solidFill>
                  <a:schemeClr val="tx1"/>
                </a:solidFill>
              </a:rPr>
              <a:t>Algo</a:t>
            </a:r>
            <a:r>
              <a:rPr lang="en-IN" dirty="0" smtClean="0">
                <a:solidFill>
                  <a:schemeClr val="tx1"/>
                </a:solidFill>
              </a:rPr>
              <a:t> Lab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114800" y="3733800"/>
            <a:ext cx="1524000" cy="533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Face painting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010400" y="3581400"/>
            <a:ext cx="1066800" cy="533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Dance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105400" y="4648200"/>
            <a:ext cx="1143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TOC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90600" y="3733800"/>
            <a:ext cx="1828800" cy="533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Personality development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638800" y="2819400"/>
            <a:ext cx="1066800" cy="457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Quiz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057400" y="2819400"/>
            <a:ext cx="1524000" cy="533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Tug of war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Interval scheduling</a:t>
            </a: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0" y="1681480"/>
          <a:ext cx="6096000" cy="4348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Events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Time</a:t>
                      </a:r>
                      <a:r>
                        <a:rPr lang="en-IN" baseline="0" dirty="0" smtClean="0"/>
                        <a:t> (</a:t>
                      </a:r>
                      <a:r>
                        <a:rPr lang="en-IN" baseline="0" dirty="0" err="1" smtClean="0"/>
                        <a:t>ti</a:t>
                      </a:r>
                      <a:r>
                        <a:rPr lang="en-IN" baseline="0" dirty="0" smtClean="0"/>
                        <a:t>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Deadline (</a:t>
                      </a:r>
                      <a:r>
                        <a:rPr lang="en-IN" dirty="0" err="1" smtClean="0"/>
                        <a:t>di</a:t>
                      </a:r>
                      <a:r>
                        <a:rPr lang="en-IN" dirty="0" smtClean="0"/>
                        <a:t>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MP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err="1" smtClean="0"/>
                        <a:t>Algos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CO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TOC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err="1" smtClean="0"/>
                        <a:t>Algo</a:t>
                      </a:r>
                      <a:r>
                        <a:rPr lang="en-IN" b="1" dirty="0" smtClean="0"/>
                        <a:t> Lab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Personality development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Face painting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Dance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Tug of war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Quiz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Scheduling to minimize lateness- </a:t>
            </a:r>
            <a:br>
              <a:rPr lang="en-IN" dirty="0" smtClean="0"/>
            </a:br>
            <a:r>
              <a:rPr lang="en-IN" dirty="0" smtClean="0"/>
              <a:t>Proof of correctness</a:t>
            </a:r>
            <a:endParaRPr lang="en-IN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 smtClean="0"/>
              <a:t>There is an optimal schedule with no idle time and no inversions</a:t>
            </a:r>
          </a:p>
          <a:p>
            <a:pPr lvl="1"/>
            <a:r>
              <a:rPr lang="en-IN" i="1" dirty="0" smtClean="0"/>
              <a:t>(a) There is an optimal schedule with no idle time</a:t>
            </a:r>
            <a:endParaRPr lang="en-IN" dirty="0" smtClean="0"/>
          </a:p>
          <a:p>
            <a:r>
              <a:rPr lang="en-IN" dirty="0" smtClean="0"/>
              <a:t>We will show that if there is another schedule </a:t>
            </a:r>
            <a:r>
              <a:rPr lang="en-IN" b="1" dirty="0" smtClean="0"/>
              <a:t>O (think optimal schedule)</a:t>
            </a:r>
          </a:p>
          <a:p>
            <a:pPr lvl="1"/>
            <a:r>
              <a:rPr lang="en-IN" dirty="0" smtClean="0"/>
              <a:t>then we can gradually change </a:t>
            </a:r>
            <a:r>
              <a:rPr lang="en-IN" b="1" dirty="0" smtClean="0"/>
              <a:t>O so that</a:t>
            </a:r>
          </a:p>
          <a:p>
            <a:pPr lvl="1"/>
            <a:r>
              <a:rPr lang="en-IN" dirty="0" smtClean="0"/>
              <a:t> at each step the maximum lateness in </a:t>
            </a:r>
            <a:r>
              <a:rPr lang="en-IN" b="1" dirty="0" smtClean="0"/>
              <a:t>O </a:t>
            </a:r>
            <a:r>
              <a:rPr lang="en-IN" dirty="0" smtClean="0"/>
              <a:t>never gets worse</a:t>
            </a:r>
          </a:p>
          <a:p>
            <a:pPr lvl="1"/>
            <a:r>
              <a:rPr lang="en-IN" dirty="0" smtClean="0"/>
              <a:t> it eventually becomes the same cost as </a:t>
            </a:r>
            <a:r>
              <a:rPr lang="en-IN" b="1" dirty="0" smtClean="0"/>
              <a:t>A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1524000" y="5943600"/>
            <a:ext cx="3505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/>
              <a:t>O  </a:t>
            </a:r>
            <a:r>
              <a:rPr lang="en-IN" sz="2000" b="1" dirty="0" smtClean="0">
                <a:sym typeface="Wingdings" pitchFamily="2" charset="2"/>
              </a:rPr>
              <a:t> A  (Exchange argument)</a:t>
            </a:r>
            <a:endParaRPr lang="en-IN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Scheduling to minimize lateness- </a:t>
            </a:r>
            <a:br>
              <a:rPr lang="en-IN" dirty="0" smtClean="0"/>
            </a:br>
            <a:r>
              <a:rPr lang="en-IN" dirty="0" smtClean="0"/>
              <a:t>Proof of correctness</a:t>
            </a:r>
            <a:endParaRPr lang="en-IN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There is an optimal schedule with no idle time and no inversions</a:t>
            </a:r>
          </a:p>
          <a:p>
            <a:pPr lvl="1"/>
            <a:r>
              <a:rPr lang="en-IN" i="1" dirty="0" smtClean="0"/>
              <a:t>(a) There is an optimal schedule with no idle time</a:t>
            </a:r>
            <a:endParaRPr lang="en-IN" dirty="0" smtClean="0"/>
          </a:p>
        </p:txBody>
      </p:sp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3276600"/>
            <a:ext cx="5686425" cy="325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Scheduling to minimize lateness- </a:t>
            </a:r>
            <a:br>
              <a:rPr lang="en-IN" dirty="0" smtClean="0"/>
            </a:br>
            <a:r>
              <a:rPr lang="en-IN" dirty="0" smtClean="0"/>
              <a:t>Proof of correctness</a:t>
            </a:r>
            <a:endParaRPr lang="en-IN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There is an optimal schedule with no idle time and no inversions</a:t>
            </a:r>
          </a:p>
          <a:p>
            <a:pPr lvl="1"/>
            <a:r>
              <a:rPr lang="en-IN" i="1" dirty="0" smtClean="0"/>
              <a:t>(a) There is an optimal schedule with no idle time.</a:t>
            </a:r>
          </a:p>
          <a:p>
            <a:pPr lvl="1"/>
            <a:r>
              <a:rPr lang="en-IN" i="1" dirty="0" smtClean="0"/>
              <a:t>(b) There is an optimal schedule with no inversions.</a:t>
            </a:r>
          </a:p>
          <a:p>
            <a:pPr lvl="1"/>
            <a:endParaRPr lang="en-IN" i="1" dirty="0" smtClean="0"/>
          </a:p>
          <a:p>
            <a:pPr lvl="1"/>
            <a:endParaRPr lang="en-IN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762000" y="4343400"/>
            <a:ext cx="988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Identical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762000" y="5943600"/>
            <a:ext cx="1504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Non- Identical</a:t>
            </a:r>
            <a:endParaRPr lang="en-IN" dirty="0"/>
          </a:p>
        </p:txBody>
      </p:sp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0" y="6153150"/>
            <a:ext cx="5010150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93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0" y="5715000"/>
            <a:ext cx="5010150" cy="533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0400" y="4800600"/>
            <a:ext cx="459948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0400" y="4343400"/>
            <a:ext cx="459948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7239000" y="6629400"/>
            <a:ext cx="1905000" cy="228600"/>
          </a:xfrm>
        </p:spPr>
        <p:txBody>
          <a:bodyPr/>
          <a:lstStyle/>
          <a:p>
            <a:fld id="{4FCE635B-7D02-4EBC-A489-98B996D37A02}" type="slidenum">
              <a:rPr lang="en-US"/>
              <a:pPr/>
              <a:t>58</a:t>
            </a:fld>
            <a:endParaRPr lang="en-US" sz="140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0" y="152400"/>
            <a:ext cx="91440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Minimizing Lateness: Inversions</a:t>
            </a:r>
            <a:endParaRPr kumimoji="0" lang="en-US" sz="4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609600" y="914400"/>
            <a:ext cx="7848600" cy="541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Def.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Given a schedule S, an </a:t>
            </a: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inversion</a:t>
            </a: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is a pair of jobs </a:t>
            </a:r>
            <a:r>
              <a:rPr kumimoji="0" lang="en-US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and j such that:</a:t>
            </a:r>
            <a:b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lang="en-US" dirty="0" smtClean="0"/>
              <a:t>d(j)</a:t>
            </a: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&lt; d(</a:t>
            </a:r>
            <a:r>
              <a:rPr kumimoji="0" lang="en-US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but </a:t>
            </a:r>
            <a:r>
              <a:rPr kumimoji="0" lang="en-US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scheduled before j.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6858000" y="2362200"/>
            <a:ext cx="762000" cy="3048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7620000" y="2362200"/>
            <a:ext cx="381000" cy="3048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2895600" y="2362200"/>
            <a:ext cx="990600" cy="3048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001000" y="2362200"/>
            <a:ext cx="685800" cy="3048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2362200" y="2362200"/>
            <a:ext cx="533400" cy="3048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5257800" y="2362200"/>
            <a:ext cx="1600200" cy="3048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j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3886200" y="2362200"/>
            <a:ext cx="1371600" cy="3048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dirty="0" err="1" smtClean="0">
                <a:solidFill>
                  <a:schemeClr val="bg1"/>
                </a:solidFill>
              </a:rPr>
              <a:t>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Rectangle 22"/>
          <p:cNvSpPr>
            <a:spLocks noChangeArrowheads="1"/>
          </p:cNvSpPr>
          <p:nvPr/>
        </p:nvSpPr>
        <p:spPr bwMode="auto">
          <a:xfrm>
            <a:off x="6697663" y="1977581"/>
            <a:ext cx="269304" cy="308419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sz="1400" dirty="0" err="1" smtClean="0">
                <a:sym typeface="MT Extra" pitchFamily="18" charset="2"/>
              </a:rPr>
              <a:t>f</a:t>
            </a:r>
            <a:r>
              <a:rPr lang="en-US" sz="1400" baseline="-25000" dirty="0" err="1" smtClean="0">
                <a:sym typeface="MT Extra" pitchFamily="18" charset="2"/>
              </a:rPr>
              <a:t>j</a:t>
            </a:r>
            <a:endParaRPr lang="en-US" sz="1400" dirty="0">
              <a:sym typeface="MT Extra" pitchFamily="18" charset="2"/>
            </a:endParaRPr>
          </a:p>
        </p:txBody>
      </p:sp>
      <p:sp>
        <p:nvSpPr>
          <p:cNvPr id="26" name="Text Box 23"/>
          <p:cNvSpPr txBox="1">
            <a:spLocks noChangeArrowheads="1"/>
          </p:cNvSpPr>
          <p:nvPr/>
        </p:nvSpPr>
        <p:spPr bwMode="auto">
          <a:xfrm>
            <a:off x="4495800" y="1784350"/>
            <a:ext cx="1600200" cy="304800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>
                <a:solidFill>
                  <a:schemeClr val="accent1"/>
                </a:solidFill>
              </a:rPr>
              <a:t>inversion</a:t>
            </a:r>
            <a:endParaRPr lang="en-US" sz="1400"/>
          </a:p>
        </p:txBody>
      </p:sp>
      <p:cxnSp>
        <p:nvCxnSpPr>
          <p:cNvPr id="27" name="AutoShape 24"/>
          <p:cNvCxnSpPr>
            <a:cxnSpLocks noChangeShapeType="1"/>
          </p:cNvCxnSpPr>
          <p:nvPr/>
        </p:nvCxnSpPr>
        <p:spPr bwMode="auto">
          <a:xfrm rot="5400000" flipV="1">
            <a:off x="5314156" y="1618456"/>
            <a:ext cx="1588" cy="1485900"/>
          </a:xfrm>
          <a:prstGeom prst="bentConnector3">
            <a:avLst>
              <a:gd name="adj1" fmla="val -14400000"/>
            </a:avLst>
          </a:prstGeom>
          <a:noFill/>
          <a:ln w="9525">
            <a:solidFill>
              <a:schemeClr val="accent1"/>
            </a:solidFill>
            <a:miter lim="800000"/>
            <a:headEnd type="triangle" w="sm" len="sm"/>
            <a:tailEnd type="triangle" w="sm" len="sm"/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3810000" y="2907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2</a:t>
            </a:r>
            <a:endParaRPr lang="en-IN" dirty="0"/>
          </a:p>
        </p:txBody>
      </p:sp>
      <p:sp>
        <p:nvSpPr>
          <p:cNvPr id="30" name="TextBox 29"/>
          <p:cNvSpPr txBox="1"/>
          <p:nvPr/>
        </p:nvSpPr>
        <p:spPr>
          <a:xfrm>
            <a:off x="5105400" y="3059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3</a:t>
            </a: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6705600" y="3212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5</a:t>
            </a:r>
            <a:endParaRPr lang="en-IN" dirty="0"/>
          </a:p>
        </p:txBody>
      </p:sp>
      <p:sp>
        <p:nvSpPr>
          <p:cNvPr id="32" name="TextBox 31"/>
          <p:cNvSpPr txBox="1"/>
          <p:nvPr/>
        </p:nvSpPr>
        <p:spPr>
          <a:xfrm>
            <a:off x="5715000" y="2971800"/>
            <a:ext cx="114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d(j)&lt;5</a:t>
            </a:r>
          </a:p>
          <a:p>
            <a:r>
              <a:rPr lang="en-IN" dirty="0" smtClean="0"/>
              <a:t>d(</a:t>
            </a:r>
            <a:r>
              <a:rPr lang="en-IN" dirty="0" err="1" smtClean="0"/>
              <a:t>i</a:t>
            </a:r>
            <a:r>
              <a:rPr lang="en-IN" dirty="0" smtClean="0"/>
              <a:t>)&gt;3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7239000" y="6629400"/>
            <a:ext cx="1905000" cy="228600"/>
          </a:xfrm>
        </p:spPr>
        <p:txBody>
          <a:bodyPr/>
          <a:lstStyle/>
          <a:p>
            <a:fld id="{4FCE635B-7D02-4EBC-A489-98B996D37A02}" type="slidenum">
              <a:rPr lang="en-US"/>
              <a:pPr/>
              <a:t>59</a:t>
            </a:fld>
            <a:endParaRPr lang="en-US" sz="140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0" y="152400"/>
            <a:ext cx="91440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Minimizing Lateness: Inversions</a:t>
            </a:r>
            <a:endParaRPr kumimoji="0" lang="en-US" sz="4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609600" y="914400"/>
            <a:ext cx="7848600" cy="541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Def.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Given a schedule S, an </a:t>
            </a: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inversion</a:t>
            </a: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is a pair of jobs </a:t>
            </a:r>
            <a:r>
              <a:rPr lang="en-US" dirty="0" err="1" smtClean="0"/>
              <a:t>1</a:t>
            </a: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and 2 such that:</a:t>
            </a:r>
            <a:b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lang="en-US" dirty="0" smtClean="0"/>
              <a:t>d(2)</a:t>
            </a: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&lt; d(</a:t>
            </a:r>
            <a:r>
              <a:rPr lang="en-US" dirty="0" err="1" smtClean="0"/>
              <a:t>1</a:t>
            </a: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but </a:t>
            </a:r>
            <a:r>
              <a:rPr lang="en-US" dirty="0" err="1" smtClean="0"/>
              <a:t>1</a:t>
            </a: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scheduled before 2.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6858000" y="2105025"/>
            <a:ext cx="762000" cy="3048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7620000" y="2105025"/>
            <a:ext cx="381000" cy="3048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2895600" y="2105025"/>
            <a:ext cx="990600" cy="3048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001000" y="2105025"/>
            <a:ext cx="685800" cy="3048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2362200" y="2105025"/>
            <a:ext cx="533400" cy="3048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5257800" y="2105025"/>
            <a:ext cx="1600200" cy="3048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3886200" y="2105025"/>
            <a:ext cx="1371600" cy="3048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3886200" y="4042918"/>
            <a:ext cx="1600200" cy="3048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5486400" y="4042918"/>
            <a:ext cx="1371600" cy="3048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Rectangle 13"/>
          <p:cNvSpPr>
            <a:spLocks noChangeArrowheads="1"/>
          </p:cNvSpPr>
          <p:nvPr/>
        </p:nvSpPr>
        <p:spPr bwMode="auto">
          <a:xfrm>
            <a:off x="6858000" y="4042918"/>
            <a:ext cx="762000" cy="3048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7620000" y="4042918"/>
            <a:ext cx="381000" cy="3048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8" name="Rectangle 15"/>
          <p:cNvSpPr>
            <a:spLocks noChangeArrowheads="1"/>
          </p:cNvSpPr>
          <p:nvPr/>
        </p:nvSpPr>
        <p:spPr bwMode="auto">
          <a:xfrm>
            <a:off x="2895600" y="4042918"/>
            <a:ext cx="990600" cy="3048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9" name="Rectangle 16"/>
          <p:cNvSpPr>
            <a:spLocks noChangeArrowheads="1"/>
          </p:cNvSpPr>
          <p:nvPr/>
        </p:nvSpPr>
        <p:spPr bwMode="auto">
          <a:xfrm>
            <a:off x="8001000" y="4042918"/>
            <a:ext cx="685800" cy="3048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0" name="Rectangle 17"/>
          <p:cNvSpPr>
            <a:spLocks noChangeArrowheads="1"/>
          </p:cNvSpPr>
          <p:nvPr/>
        </p:nvSpPr>
        <p:spPr bwMode="auto">
          <a:xfrm>
            <a:off x="2362200" y="4042918"/>
            <a:ext cx="533400" cy="3048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1" name="Rectangle 18"/>
          <p:cNvSpPr>
            <a:spLocks noChangeArrowheads="1"/>
          </p:cNvSpPr>
          <p:nvPr/>
        </p:nvSpPr>
        <p:spPr bwMode="auto">
          <a:xfrm>
            <a:off x="1371600" y="2105025"/>
            <a:ext cx="1055688" cy="274638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sz="1200">
                <a:solidFill>
                  <a:schemeClr val="hlink"/>
                </a:solidFill>
              </a:rPr>
              <a:t>before swap</a:t>
            </a:r>
          </a:p>
        </p:txBody>
      </p:sp>
      <p:sp>
        <p:nvSpPr>
          <p:cNvPr id="22" name="Rectangle 19"/>
          <p:cNvSpPr>
            <a:spLocks noChangeArrowheads="1"/>
          </p:cNvSpPr>
          <p:nvPr/>
        </p:nvSpPr>
        <p:spPr bwMode="auto">
          <a:xfrm>
            <a:off x="1416050" y="4042918"/>
            <a:ext cx="950913" cy="274638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sz="1200" dirty="0">
                <a:solidFill>
                  <a:schemeClr val="hlink"/>
                </a:solidFill>
              </a:rPr>
              <a:t>after swap</a:t>
            </a:r>
          </a:p>
        </p:txBody>
      </p:sp>
      <p:sp>
        <p:nvSpPr>
          <p:cNvPr id="24" name="Rectangle 21"/>
          <p:cNvSpPr>
            <a:spLocks noChangeArrowheads="1"/>
          </p:cNvSpPr>
          <p:nvPr/>
        </p:nvSpPr>
        <p:spPr bwMode="auto">
          <a:xfrm>
            <a:off x="6692900" y="4339781"/>
            <a:ext cx="314766" cy="308419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sz="1400" dirty="0" err="1" smtClean="0">
                <a:sym typeface="MT Extra" pitchFamily="18" charset="2"/>
              </a:rPr>
              <a:t>f‘</a:t>
            </a:r>
            <a:r>
              <a:rPr lang="en-US" sz="1400" baseline="-25000" dirty="0" err="1" smtClean="0">
                <a:sym typeface="MT Extra" pitchFamily="18" charset="2"/>
              </a:rPr>
              <a:t>i</a:t>
            </a:r>
            <a:endParaRPr lang="en-US" sz="1400" dirty="0">
              <a:sym typeface="MT Extra" pitchFamily="18" charset="2"/>
            </a:endParaRPr>
          </a:p>
        </p:txBody>
      </p:sp>
      <p:sp>
        <p:nvSpPr>
          <p:cNvPr id="25" name="Rectangle 22"/>
          <p:cNvSpPr>
            <a:spLocks noChangeArrowheads="1"/>
          </p:cNvSpPr>
          <p:nvPr/>
        </p:nvSpPr>
        <p:spPr bwMode="auto">
          <a:xfrm>
            <a:off x="6697663" y="1720850"/>
            <a:ext cx="269304" cy="308419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sz="1400" dirty="0" err="1" smtClean="0">
                <a:sym typeface="MT Extra" pitchFamily="18" charset="2"/>
              </a:rPr>
              <a:t>f</a:t>
            </a:r>
            <a:r>
              <a:rPr lang="en-US" sz="1400" baseline="-25000" dirty="0" err="1" smtClean="0">
                <a:sym typeface="MT Extra" pitchFamily="18" charset="2"/>
              </a:rPr>
              <a:t>j</a:t>
            </a:r>
            <a:endParaRPr lang="en-US" sz="1400" dirty="0">
              <a:sym typeface="MT Extra" pitchFamily="18" charset="2"/>
            </a:endParaRPr>
          </a:p>
        </p:txBody>
      </p:sp>
      <p:sp>
        <p:nvSpPr>
          <p:cNvPr id="26" name="Text Box 23"/>
          <p:cNvSpPr txBox="1">
            <a:spLocks noChangeArrowheads="1"/>
          </p:cNvSpPr>
          <p:nvPr/>
        </p:nvSpPr>
        <p:spPr bwMode="auto">
          <a:xfrm>
            <a:off x="4495800" y="1527175"/>
            <a:ext cx="1600200" cy="304800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>
                <a:solidFill>
                  <a:schemeClr val="accent1"/>
                </a:solidFill>
              </a:rPr>
              <a:t>inversion</a:t>
            </a:r>
            <a:endParaRPr lang="en-US" sz="1400"/>
          </a:p>
        </p:txBody>
      </p:sp>
      <p:cxnSp>
        <p:nvCxnSpPr>
          <p:cNvPr id="27" name="AutoShape 24"/>
          <p:cNvCxnSpPr>
            <a:cxnSpLocks noChangeShapeType="1"/>
          </p:cNvCxnSpPr>
          <p:nvPr/>
        </p:nvCxnSpPr>
        <p:spPr bwMode="auto">
          <a:xfrm rot="5400000" flipV="1">
            <a:off x="5314156" y="1362869"/>
            <a:ext cx="1588" cy="1485900"/>
          </a:xfrm>
          <a:prstGeom prst="bentConnector3">
            <a:avLst>
              <a:gd name="adj1" fmla="val -14400000"/>
            </a:avLst>
          </a:prstGeom>
          <a:noFill/>
          <a:ln w="9525">
            <a:solidFill>
              <a:schemeClr val="accent1"/>
            </a:solidFill>
            <a:miter lim="800000"/>
            <a:headEnd type="triangle" w="sm" len="sm"/>
            <a:tailEnd type="triangle" w="sm" len="sm"/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3810000" y="2590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2</a:t>
            </a:r>
            <a:endParaRPr lang="en-IN" dirty="0"/>
          </a:p>
        </p:txBody>
      </p:sp>
      <p:sp>
        <p:nvSpPr>
          <p:cNvPr id="30" name="TextBox 29"/>
          <p:cNvSpPr txBox="1"/>
          <p:nvPr/>
        </p:nvSpPr>
        <p:spPr>
          <a:xfrm>
            <a:off x="5105400" y="2667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3</a:t>
            </a: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6705600" y="2667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5</a:t>
            </a:r>
            <a:endParaRPr lang="en-IN" dirty="0"/>
          </a:p>
        </p:txBody>
      </p:sp>
      <p:sp>
        <p:nvSpPr>
          <p:cNvPr id="32" name="TextBox 31"/>
          <p:cNvSpPr txBox="1"/>
          <p:nvPr/>
        </p:nvSpPr>
        <p:spPr>
          <a:xfrm>
            <a:off x="5715000" y="2971800"/>
            <a:ext cx="114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d(2)&lt;5</a:t>
            </a:r>
          </a:p>
          <a:p>
            <a:r>
              <a:rPr lang="en-IN" dirty="0" smtClean="0"/>
              <a:t>d(1)&gt;3</a:t>
            </a:r>
            <a:endParaRPr lang="en-IN" dirty="0"/>
          </a:p>
        </p:txBody>
      </p:sp>
      <p:sp>
        <p:nvSpPr>
          <p:cNvPr id="33" name="TextBox 32"/>
          <p:cNvSpPr txBox="1"/>
          <p:nvPr/>
        </p:nvSpPr>
        <p:spPr>
          <a:xfrm>
            <a:off x="5638800" y="5105400"/>
            <a:ext cx="205428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rgbClr val="FF0000"/>
                </a:solidFill>
              </a:rPr>
              <a:t>L1’= 5-  4 (say d1)=1</a:t>
            </a:r>
          </a:p>
          <a:p>
            <a:r>
              <a:rPr lang="en-IN" dirty="0" smtClean="0">
                <a:solidFill>
                  <a:srgbClr val="FF0000"/>
                </a:solidFill>
              </a:rPr>
              <a:t>	=5-4=1</a:t>
            </a:r>
          </a:p>
          <a:p>
            <a:endParaRPr lang="en-IN" dirty="0" smtClean="0"/>
          </a:p>
          <a:p>
            <a:r>
              <a:rPr lang="en-IN" dirty="0" smtClean="0">
                <a:solidFill>
                  <a:srgbClr val="00B050"/>
                </a:solidFill>
              </a:rPr>
              <a:t>L2=5- 4(say d2)=1</a:t>
            </a:r>
          </a:p>
          <a:p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733800" y="4419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2</a:t>
            </a:r>
            <a:endParaRPr lang="en-IN" dirty="0"/>
          </a:p>
        </p:txBody>
      </p:sp>
      <p:sp>
        <p:nvSpPr>
          <p:cNvPr id="35" name="TextBox 34"/>
          <p:cNvSpPr txBox="1"/>
          <p:nvPr/>
        </p:nvSpPr>
        <p:spPr>
          <a:xfrm>
            <a:off x="5410200" y="4419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4</a:t>
            </a:r>
            <a:endParaRPr lang="en-IN" dirty="0"/>
          </a:p>
        </p:txBody>
      </p:sp>
      <p:sp>
        <p:nvSpPr>
          <p:cNvPr id="36" name="TextBox 35"/>
          <p:cNvSpPr txBox="1"/>
          <p:nvPr/>
        </p:nvSpPr>
        <p:spPr>
          <a:xfrm>
            <a:off x="6781800" y="4648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5</a:t>
            </a:r>
            <a:endParaRPr lang="en-IN" dirty="0"/>
          </a:p>
        </p:txBody>
      </p:sp>
      <p:sp>
        <p:nvSpPr>
          <p:cNvPr id="37" name="Rectangle 36"/>
          <p:cNvSpPr/>
          <p:nvPr/>
        </p:nvSpPr>
        <p:spPr>
          <a:xfrm>
            <a:off x="4495800" y="2514600"/>
            <a:ext cx="25359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spc="0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i</a:t>
            </a:r>
            <a:endParaRPr lang="en-US" sz="20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019800" y="2514600"/>
            <a:ext cx="25039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j</a:t>
            </a:r>
            <a:endParaRPr lang="en-US" sz="20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572000" y="4419600"/>
            <a:ext cx="25039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j</a:t>
            </a:r>
            <a:endParaRPr lang="en-US" sz="20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096000" y="4419600"/>
            <a:ext cx="25359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spc="0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i</a:t>
            </a:r>
            <a:endParaRPr lang="en-US" sz="20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/>
      <p:bldP spid="32" grpId="0"/>
      <p:bldP spid="33" grpId="0"/>
      <p:bldP spid="34" grpId="0"/>
      <p:bldP spid="35" grpId="0"/>
      <p:bldP spid="36" grpId="0"/>
      <p:bldP spid="39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7239000" y="6629400"/>
            <a:ext cx="1905000" cy="228600"/>
          </a:xfrm>
        </p:spPr>
        <p:txBody>
          <a:bodyPr/>
          <a:lstStyle/>
          <a:p>
            <a:fld id="{4FCE635B-7D02-4EBC-A489-98B996D37A02}" type="slidenum">
              <a:rPr lang="en-US"/>
              <a:pPr/>
              <a:t>60</a:t>
            </a:fld>
            <a:endParaRPr lang="en-US" sz="140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0" y="152400"/>
            <a:ext cx="91440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Minimizing Lateness: Inversions</a:t>
            </a:r>
            <a:endParaRPr kumimoji="0" lang="en-US" sz="4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609600" y="914400"/>
            <a:ext cx="7848600" cy="5410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Def.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Given a schedule S, an 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inversion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is a pair of jobs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and j such that:</a:t>
            </a:r>
            <a:b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lang="en-US" sz="3200" dirty="0" smtClean="0"/>
              <a:t>d(j)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&lt; d(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but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scheduled before </a:t>
            </a:r>
            <a:r>
              <a:rPr lang="en-US" sz="3200" dirty="0" err="1" smtClean="0"/>
              <a:t>j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Claim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 Swapping two consecutive, inverted jobs reduces the number of inversions by one and does not increase the max lateness.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Pf.  Let 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itchFamily="18" charset="2"/>
              </a:rPr>
              <a:t>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be the lateness before the swap, and let 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itchFamily="18" charset="2"/>
              </a:rPr>
              <a:t> '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be it afterwards.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45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itchFamily="18" charset="2"/>
              </a:rPr>
              <a:t> </a:t>
            </a:r>
            <a:r>
              <a:rPr kumimoji="0" lang="en-US" sz="45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</a:t>
            </a:r>
            <a:r>
              <a:rPr kumimoji="0" lang="en-US" sz="45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45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</a:t>
            </a:r>
            <a:r>
              <a:rPr kumimoji="0" lang="en-US" sz="45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MT Extra" pitchFamily="18" charset="2"/>
              </a:rPr>
              <a:t></a:t>
            </a:r>
            <a:r>
              <a:rPr kumimoji="0" lang="en-US" sz="45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45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for all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45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 </a:t>
            </a:r>
            <a:r>
              <a:rPr kumimoji="0" lang="en-US" sz="45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</a:t>
            </a:r>
            <a:r>
              <a:rPr kumimoji="0" lang="en-US" sz="45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45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45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j.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45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45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job </a:t>
            </a:r>
            <a:r>
              <a:rPr kumimoji="0" lang="en-US" sz="45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45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is late: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6858000" y="2105025"/>
            <a:ext cx="762000" cy="3048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7620000" y="2105025"/>
            <a:ext cx="381000" cy="3048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2895600" y="2105025"/>
            <a:ext cx="990600" cy="3048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001000" y="2105025"/>
            <a:ext cx="685800" cy="3048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2362200" y="2105025"/>
            <a:ext cx="533400" cy="3048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5257800" y="2105025"/>
            <a:ext cx="1600200" cy="3048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j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3886200" y="2105025"/>
            <a:ext cx="1371600" cy="3048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dirty="0" err="1" smtClean="0">
                <a:solidFill>
                  <a:schemeClr val="bg1"/>
                </a:solidFill>
              </a:rPr>
              <a:t>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3886200" y="2638425"/>
            <a:ext cx="1600200" cy="3048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j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5486400" y="2638425"/>
            <a:ext cx="1371600" cy="3048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dirty="0" err="1" smtClean="0">
                <a:solidFill>
                  <a:schemeClr val="bg1"/>
                </a:solidFill>
              </a:rPr>
              <a:t>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Rectangle 13"/>
          <p:cNvSpPr>
            <a:spLocks noChangeArrowheads="1"/>
          </p:cNvSpPr>
          <p:nvPr/>
        </p:nvSpPr>
        <p:spPr bwMode="auto">
          <a:xfrm>
            <a:off x="6858000" y="2638425"/>
            <a:ext cx="762000" cy="3048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7620000" y="2638425"/>
            <a:ext cx="381000" cy="3048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8" name="Rectangle 15"/>
          <p:cNvSpPr>
            <a:spLocks noChangeArrowheads="1"/>
          </p:cNvSpPr>
          <p:nvPr/>
        </p:nvSpPr>
        <p:spPr bwMode="auto">
          <a:xfrm>
            <a:off x="2895600" y="2638425"/>
            <a:ext cx="990600" cy="3048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9" name="Rectangle 16"/>
          <p:cNvSpPr>
            <a:spLocks noChangeArrowheads="1"/>
          </p:cNvSpPr>
          <p:nvPr/>
        </p:nvSpPr>
        <p:spPr bwMode="auto">
          <a:xfrm>
            <a:off x="8001000" y="2638425"/>
            <a:ext cx="685800" cy="3048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0" name="Rectangle 17"/>
          <p:cNvSpPr>
            <a:spLocks noChangeArrowheads="1"/>
          </p:cNvSpPr>
          <p:nvPr/>
        </p:nvSpPr>
        <p:spPr bwMode="auto">
          <a:xfrm>
            <a:off x="2362200" y="2638425"/>
            <a:ext cx="533400" cy="3048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1" name="Rectangle 18"/>
          <p:cNvSpPr>
            <a:spLocks noChangeArrowheads="1"/>
          </p:cNvSpPr>
          <p:nvPr/>
        </p:nvSpPr>
        <p:spPr bwMode="auto">
          <a:xfrm>
            <a:off x="1371600" y="2105025"/>
            <a:ext cx="1055688" cy="274638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sz="1200">
                <a:solidFill>
                  <a:schemeClr val="hlink"/>
                </a:solidFill>
              </a:rPr>
              <a:t>before swap</a:t>
            </a:r>
          </a:p>
        </p:txBody>
      </p:sp>
      <p:sp>
        <p:nvSpPr>
          <p:cNvPr id="22" name="Rectangle 19"/>
          <p:cNvSpPr>
            <a:spLocks noChangeArrowheads="1"/>
          </p:cNvSpPr>
          <p:nvPr/>
        </p:nvSpPr>
        <p:spPr bwMode="auto">
          <a:xfrm>
            <a:off x="1416050" y="2638425"/>
            <a:ext cx="950913" cy="274638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sz="1200">
                <a:solidFill>
                  <a:schemeClr val="hlink"/>
                </a:solidFill>
              </a:rPr>
              <a:t>after swap</a:t>
            </a:r>
          </a:p>
        </p:txBody>
      </p:sp>
      <p:graphicFrame>
        <p:nvGraphicFramePr>
          <p:cNvPr id="23" name="Object 20"/>
          <p:cNvGraphicFramePr>
            <a:graphicFrameLocks noChangeAspect="1"/>
          </p:cNvGraphicFramePr>
          <p:nvPr/>
        </p:nvGraphicFramePr>
        <p:xfrm>
          <a:off x="4016375" y="4572000"/>
          <a:ext cx="4491038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92" name="Equation" r:id="rId3" imgW="2552400" imgH="914400" progId="">
                  <p:embed/>
                </p:oleObj>
              </mc:Choice>
              <mc:Fallback>
                <p:oleObj name="Equation" r:id="rId3" imgW="2552400" imgH="91440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5333" t="-7912" r="-5333" b="-7912"/>
                      <a:stretch>
                        <a:fillRect/>
                      </a:stretch>
                    </p:blipFill>
                    <p:spPr bwMode="auto">
                      <a:xfrm>
                        <a:off x="4016375" y="4572000"/>
                        <a:ext cx="4491038" cy="1676400"/>
                      </a:xfrm>
                      <a:prstGeom prst="rect">
                        <a:avLst/>
                      </a:prstGeom>
                      <a:solidFill>
                        <a:srgbClr val="C0C0C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21"/>
          <p:cNvSpPr>
            <a:spLocks noChangeArrowheads="1"/>
          </p:cNvSpPr>
          <p:nvPr/>
        </p:nvSpPr>
        <p:spPr bwMode="auto">
          <a:xfrm>
            <a:off x="6692900" y="2935288"/>
            <a:ext cx="314766" cy="308419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sz="1400" dirty="0" err="1" smtClean="0">
                <a:sym typeface="MT Extra" pitchFamily="18" charset="2"/>
              </a:rPr>
              <a:t>f‘</a:t>
            </a:r>
            <a:r>
              <a:rPr lang="en-US" sz="1400" baseline="-25000" dirty="0" err="1" smtClean="0">
                <a:sym typeface="MT Extra" pitchFamily="18" charset="2"/>
              </a:rPr>
              <a:t>i</a:t>
            </a:r>
            <a:endParaRPr lang="en-US" sz="1400" dirty="0">
              <a:sym typeface="MT Extra" pitchFamily="18" charset="2"/>
            </a:endParaRPr>
          </a:p>
        </p:txBody>
      </p:sp>
      <p:sp>
        <p:nvSpPr>
          <p:cNvPr id="25" name="Rectangle 22"/>
          <p:cNvSpPr>
            <a:spLocks noChangeArrowheads="1"/>
          </p:cNvSpPr>
          <p:nvPr/>
        </p:nvSpPr>
        <p:spPr bwMode="auto">
          <a:xfrm>
            <a:off x="6697663" y="1720850"/>
            <a:ext cx="269304" cy="308419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sz="1400" dirty="0" err="1" smtClean="0">
                <a:sym typeface="MT Extra" pitchFamily="18" charset="2"/>
              </a:rPr>
              <a:t>f</a:t>
            </a:r>
            <a:r>
              <a:rPr lang="en-US" sz="1400" baseline="-25000" dirty="0" err="1" smtClean="0">
                <a:sym typeface="MT Extra" pitchFamily="18" charset="2"/>
              </a:rPr>
              <a:t>j</a:t>
            </a:r>
            <a:endParaRPr lang="en-US" sz="1400" dirty="0">
              <a:sym typeface="MT Extra" pitchFamily="18" charset="2"/>
            </a:endParaRPr>
          </a:p>
        </p:txBody>
      </p:sp>
      <p:sp>
        <p:nvSpPr>
          <p:cNvPr id="26" name="Text Box 23"/>
          <p:cNvSpPr txBox="1">
            <a:spLocks noChangeArrowheads="1"/>
          </p:cNvSpPr>
          <p:nvPr/>
        </p:nvSpPr>
        <p:spPr bwMode="auto">
          <a:xfrm>
            <a:off x="4495800" y="1527175"/>
            <a:ext cx="1600200" cy="304800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 dirty="0">
                <a:solidFill>
                  <a:schemeClr val="accent1"/>
                </a:solidFill>
              </a:rPr>
              <a:t>inversion</a:t>
            </a:r>
            <a:endParaRPr lang="en-US" sz="1400" dirty="0"/>
          </a:p>
        </p:txBody>
      </p:sp>
      <p:cxnSp>
        <p:nvCxnSpPr>
          <p:cNvPr id="27" name="AutoShape 24"/>
          <p:cNvCxnSpPr>
            <a:cxnSpLocks noChangeShapeType="1"/>
          </p:cNvCxnSpPr>
          <p:nvPr/>
        </p:nvCxnSpPr>
        <p:spPr bwMode="auto">
          <a:xfrm rot="5400000" flipV="1">
            <a:off x="5314156" y="1362869"/>
            <a:ext cx="1588" cy="1485900"/>
          </a:xfrm>
          <a:prstGeom prst="bentConnector3">
            <a:avLst>
              <a:gd name="adj1" fmla="val -14400000"/>
            </a:avLst>
          </a:prstGeom>
          <a:noFill/>
          <a:ln w="9525">
            <a:solidFill>
              <a:schemeClr val="accent1"/>
            </a:solidFill>
            <a:miter lim="800000"/>
            <a:headEnd type="triangle" w="sm" len="sm"/>
            <a:tailEnd type="triangle" w="sm" len="sm"/>
          </a:ln>
          <a:effectLst/>
        </p:spPr>
      </p:cxnSp>
      <p:pic>
        <p:nvPicPr>
          <p:cNvPr id="63491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43000" y="5257800"/>
            <a:ext cx="91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634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63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63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/>
      <p:bldP spid="22" grpId="0"/>
      <p:bldP spid="24" grpId="0"/>
      <p:bldP spid="2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Part 2 Greedy algorithms on Graphs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DIJKSTRA’S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/>
            <a:r>
              <a:rPr lang="en-US" b="1" dirty="0" smtClean="0"/>
              <a:t>PROBLEM</a:t>
            </a:r>
          </a:p>
          <a:p>
            <a:pPr marL="0" indent="0"/>
            <a:r>
              <a:rPr lang="en-US" dirty="0" smtClean="0"/>
              <a:t>Often when we traverse from one point to another or from one place to another </a:t>
            </a:r>
            <a:r>
              <a:rPr lang="en-US" dirty="0" err="1" smtClean="0"/>
              <a:t>place,we</a:t>
            </a:r>
            <a:r>
              <a:rPr lang="en-US" dirty="0" smtClean="0"/>
              <a:t> want to know the shortest path.</a:t>
            </a:r>
          </a:p>
          <a:p>
            <a:pPr marL="0" indent="0"/>
            <a:r>
              <a:rPr lang="en-US" dirty="0" smtClean="0"/>
              <a:t>Given a graph G=(V,E) which models the shortest path problems ,we may want to determine-</a:t>
            </a:r>
          </a:p>
          <a:p>
            <a:pPr lvl="1"/>
            <a:r>
              <a:rPr lang="en-US" dirty="0" smtClean="0"/>
              <a:t>Given node </a:t>
            </a:r>
            <a:r>
              <a:rPr lang="en-US" dirty="0" err="1" smtClean="0"/>
              <a:t>u,v</a:t>
            </a:r>
            <a:r>
              <a:rPr lang="en-US" dirty="0" smtClean="0"/>
              <a:t> what is the shortest u-v path</a:t>
            </a:r>
          </a:p>
          <a:p>
            <a:pPr lvl="1"/>
            <a:r>
              <a:rPr lang="en-US" dirty="0" smtClean="0"/>
              <a:t>Given a start node ‘s’ ,what is the shortest path from s to each other node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850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 UP OR INPUT INSTANCE SET 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/>
            <a:r>
              <a:rPr lang="en-US" dirty="0" smtClean="0"/>
              <a:t>The edges in the graph has a length l</a:t>
            </a:r>
            <a:r>
              <a:rPr lang="en-US" baseline="-25000" dirty="0" smtClean="0"/>
              <a:t>e </a:t>
            </a:r>
            <a:r>
              <a:rPr lang="en-US" dirty="0" smtClean="0"/>
              <a:t>&gt;=0</a:t>
            </a:r>
          </a:p>
          <a:p>
            <a:pPr marL="0" indent="0">
              <a:buNone/>
            </a:pPr>
            <a:r>
              <a:rPr lang="en-US" dirty="0" smtClean="0"/>
              <a:t>l</a:t>
            </a:r>
            <a:r>
              <a:rPr lang="en-US" baseline="-25000" dirty="0" smtClean="0"/>
              <a:t>e </a:t>
            </a:r>
            <a:r>
              <a:rPr lang="en-US" dirty="0" smtClean="0"/>
              <a:t>-&gt;indicate time it takes to traverse e</a:t>
            </a:r>
          </a:p>
          <a:p>
            <a:pPr marL="0" indent="0">
              <a:buNone/>
            </a:pPr>
            <a:r>
              <a:rPr lang="en-US" dirty="0" smtClean="0"/>
              <a:t>-&gt;usually associated as cost to travel</a:t>
            </a:r>
          </a:p>
          <a:p>
            <a:pPr marL="0" indent="0">
              <a:buNone/>
            </a:pPr>
            <a:r>
              <a:rPr lang="en-US" dirty="0" smtClean="0"/>
              <a:t>                                                       Take u=1,v=2, l</a:t>
            </a:r>
            <a:r>
              <a:rPr lang="en-US" baseline="-25000" dirty="0" smtClean="0"/>
              <a:t>e </a:t>
            </a:r>
            <a:r>
              <a:rPr lang="en-US" dirty="0" smtClean="0"/>
              <a:t>=1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		u=1,v=5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 1                      6			 l</a:t>
            </a:r>
            <a:r>
              <a:rPr lang="en-US" baseline="-25000" dirty="0" smtClean="0"/>
              <a:t>e </a:t>
            </a:r>
            <a:r>
              <a:rPr lang="en-US" dirty="0" smtClean="0"/>
              <a:t>={1,4}+{4,5}=3+4=7</a:t>
            </a:r>
          </a:p>
          <a:p>
            <a:pPr marL="0" indent="0">
              <a:buNone/>
            </a:pPr>
            <a:r>
              <a:rPr lang="en-US" dirty="0" smtClean="0"/>
              <a:t>    					={1,2}+{2,5}=1+5=6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      2          5  			={1,2}+{2,4}+{4,5}</a:t>
            </a:r>
          </a:p>
          <a:p>
            <a:pPr marL="0" indent="0">
              <a:buNone/>
            </a:pPr>
            <a:r>
              <a:rPr lang="en-US" dirty="0" smtClean="0"/>
              <a:t>3              4                7		=1+2+4=7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400578" y="3640685"/>
            <a:ext cx="618186" cy="721217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2636950" y="4361902"/>
            <a:ext cx="618186" cy="721217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</a:t>
            </a:r>
            <a:r>
              <a:rPr lang="en-US" dirty="0" smtClean="0">
                <a:solidFill>
                  <a:schemeClr val="tx1"/>
                </a:solidFill>
              </a:rPr>
              <a:t>3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64206" y="4361903"/>
            <a:ext cx="618186" cy="721217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782392" y="5709529"/>
            <a:ext cx="618186" cy="721217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2018764" y="5590684"/>
            <a:ext cx="618186" cy="721217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5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3" name="Straight Connector 12"/>
          <p:cNvCxnSpPr>
            <a:stCxn id="7" idx="7"/>
          </p:cNvCxnSpPr>
          <p:nvPr/>
        </p:nvCxnSpPr>
        <p:spPr>
          <a:xfrm flipV="1">
            <a:off x="691861" y="4001294"/>
            <a:ext cx="708717" cy="4662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7" idx="5"/>
            <a:endCxn id="8" idx="0"/>
          </p:cNvCxnSpPr>
          <p:nvPr/>
        </p:nvCxnSpPr>
        <p:spPr>
          <a:xfrm>
            <a:off x="691861" y="4977500"/>
            <a:ext cx="399624" cy="7320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6"/>
            <a:endCxn id="9" idx="2"/>
          </p:cNvCxnSpPr>
          <p:nvPr/>
        </p:nvCxnSpPr>
        <p:spPr>
          <a:xfrm flipV="1">
            <a:off x="1400578" y="5951293"/>
            <a:ext cx="618186" cy="1188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endCxn id="6" idx="3"/>
          </p:cNvCxnSpPr>
          <p:nvPr/>
        </p:nvCxnSpPr>
        <p:spPr>
          <a:xfrm flipV="1">
            <a:off x="2482403" y="4977499"/>
            <a:ext cx="245078" cy="6131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2018764" y="4129994"/>
            <a:ext cx="618186" cy="473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1188076" y="4391938"/>
            <a:ext cx="360017" cy="13403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 flipV="1">
            <a:off x="1863413" y="4361902"/>
            <a:ext cx="383655" cy="12697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9638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//</a:t>
            </a:r>
            <a:r>
              <a:rPr lang="en-US" dirty="0" err="1" smtClean="0"/>
              <a:t>Algorithm:Dijkstra’s</a:t>
            </a:r>
            <a:r>
              <a:rPr lang="en-US" dirty="0" smtClean="0"/>
              <a:t> Algorithm</a:t>
            </a:r>
          </a:p>
        </p:txBody>
      </p:sp>
      <p:pic>
        <p:nvPicPr>
          <p:cNvPr id="139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4038600"/>
            <a:ext cx="7629645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926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2209799"/>
            <a:ext cx="5410200" cy="1040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926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3400" y="3352800"/>
            <a:ext cx="17573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926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62000" y="5257800"/>
            <a:ext cx="109728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6096000" y="2438400"/>
            <a:ext cx="533400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1</a:t>
            </a:r>
            <a:endParaRPr lang="en-US" sz="28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153400" y="4419600"/>
            <a:ext cx="533400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2</a:t>
            </a:r>
            <a:endParaRPr lang="en-US" sz="28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82577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9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9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9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92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9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9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92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				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 smtClean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 smtClean="0">
                <a:sym typeface="Wingdings" panose="05000000000000000000" pitchFamily="2" charset="2"/>
              </a:rPr>
              <a:t>						d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	</a:t>
            </a:r>
            <a:r>
              <a:rPr lang="en-US" dirty="0" smtClean="0">
                <a:sym typeface="Wingdings" panose="05000000000000000000" pitchFamily="2" charset="2"/>
              </a:rPr>
              <a:t>					 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3929" y="1690688"/>
            <a:ext cx="3750871" cy="258766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76800" y="1371600"/>
            <a:ext cx="3962400" cy="28547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477563" y="4178302"/>
            <a:ext cx="2752037" cy="1721654"/>
          </a:xfrm>
          <a:prstGeom prst="rect">
            <a:avLst/>
          </a:prstGeom>
        </p:spPr>
      </p:pic>
      <p:sp>
        <p:nvSpPr>
          <p:cNvPr id="8" name="Right Arrow 7"/>
          <p:cNvSpPr/>
          <p:nvPr/>
        </p:nvSpPr>
        <p:spPr>
          <a:xfrm>
            <a:off x="3962400" y="2514600"/>
            <a:ext cx="838200" cy="4572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373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Dijkstra’s</a:t>
            </a:r>
            <a:r>
              <a:rPr lang="en-IN" dirty="0" smtClean="0"/>
              <a:t> algorithm 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Source =0</a:t>
            </a: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90600" y="4038600"/>
          <a:ext cx="6934200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latin typeface="Calibri"/>
                          <a:ea typeface="Calibri"/>
                          <a:cs typeface="Mangal"/>
                        </a:rPr>
                        <a:t>         </a:t>
                      </a:r>
                      <a:r>
                        <a:rPr lang="en-IN" sz="2800" b="1" dirty="0" smtClean="0">
                          <a:latin typeface="Calibri"/>
                          <a:ea typeface="Calibri"/>
                          <a:cs typeface="Mangal"/>
                        </a:rPr>
                        <a:t>s</a:t>
                      </a:r>
                      <a:endParaRPr lang="en-IN" sz="11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b="1">
                          <a:latin typeface="Calibri"/>
                          <a:ea typeface="Calibri"/>
                          <a:cs typeface="Mangal"/>
                        </a:rPr>
                        <a:t>Distance[]</a:t>
                      </a:r>
                      <a:endParaRPr lang="en-IN" sz="1100">
                        <a:latin typeface="Calibri"/>
                        <a:ea typeface="Calibri"/>
                        <a:cs typeface="Mangal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b="1">
                          <a:latin typeface="Calibri"/>
                          <a:ea typeface="Calibri"/>
                          <a:cs typeface="Mangal"/>
                        </a:rPr>
                        <a:t>d[]</a:t>
                      </a:r>
                      <a:endParaRPr lang="en-IN" sz="110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latin typeface="Calibri"/>
                          <a:ea typeface="Calibri"/>
                          <a:cs typeface="Mangal"/>
                        </a:rPr>
                        <a:t>Min(d[u]+le</a:t>
                      </a:r>
                      <a:r>
                        <a:rPr lang="en-IN" sz="2000" b="1" dirty="0" smtClean="0">
                          <a:latin typeface="Calibri"/>
                          <a:ea typeface="Calibri"/>
                          <a:cs typeface="Mangal"/>
                        </a:rPr>
                        <a:t>)</a:t>
                      </a:r>
                      <a:endParaRPr lang="en-IN" sz="11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600" b="1">
                          <a:latin typeface="Calibri"/>
                          <a:ea typeface="Calibri"/>
                          <a:cs typeface="Mangal"/>
                        </a:rPr>
                        <a:t>      {0}</a:t>
                      </a:r>
                      <a:endParaRPr lang="en-IN" sz="110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819400" y="5791200"/>
          <a:ext cx="2590800" cy="456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8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Calibri"/>
                          <a:ea typeface="Calibri"/>
                          <a:cs typeface="Mangal"/>
                        </a:rPr>
                        <a:t>0</a:t>
                      </a:r>
                      <a:endParaRPr lang="en-IN" sz="16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Symbol"/>
                        </a:rPr>
                        <a:t>999</a:t>
                      </a:r>
                      <a:endParaRPr lang="en-IN" sz="16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latin typeface="Calibri"/>
                          <a:ea typeface="Calibri"/>
                          <a:cs typeface="Mangal"/>
                        </a:rPr>
                        <a:t>999</a:t>
                      </a:r>
                      <a:endParaRPr lang="en-IN" sz="16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latin typeface="Calibri"/>
                          <a:ea typeface="Calibri"/>
                          <a:cs typeface="Mangal"/>
                        </a:rPr>
                        <a:t>999</a:t>
                      </a:r>
                      <a:endParaRPr lang="en-IN" sz="16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latin typeface="Calibri"/>
                          <a:ea typeface="Calibri"/>
                          <a:cs typeface="Mangal"/>
                        </a:rPr>
                        <a:t>999</a:t>
                      </a:r>
                      <a:endParaRPr lang="en-IN" sz="16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895600" y="5334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0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3355914" y="5334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1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3965514" y="5334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2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4346514" y="5334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3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4727514" y="5334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4</a:t>
            </a:r>
            <a:endParaRPr lang="en-IN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352800" y="1295399"/>
            <a:ext cx="3733800" cy="25758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Dijkstra’s</a:t>
            </a:r>
            <a:r>
              <a:rPr lang="en-IN" dirty="0" smtClean="0"/>
              <a:t> algorithm 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Source =0</a:t>
            </a: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90600" y="4114800"/>
          <a:ext cx="6934200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latin typeface="Calibri"/>
                          <a:ea typeface="Calibri"/>
                          <a:cs typeface="Mangal"/>
                        </a:rPr>
                        <a:t>         </a:t>
                      </a:r>
                      <a:r>
                        <a:rPr lang="en-IN" sz="2800" b="1" dirty="0" smtClean="0">
                          <a:latin typeface="Calibri"/>
                          <a:ea typeface="Calibri"/>
                          <a:cs typeface="Mangal"/>
                        </a:rPr>
                        <a:t>s</a:t>
                      </a:r>
                      <a:endParaRPr lang="en-IN" sz="11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b="1">
                          <a:latin typeface="Calibri"/>
                          <a:ea typeface="Calibri"/>
                          <a:cs typeface="Mangal"/>
                        </a:rPr>
                        <a:t>Distance[]</a:t>
                      </a:r>
                      <a:endParaRPr lang="en-IN" sz="1100">
                        <a:latin typeface="Calibri"/>
                        <a:ea typeface="Calibri"/>
                        <a:cs typeface="Mangal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b="1">
                          <a:latin typeface="Calibri"/>
                          <a:ea typeface="Calibri"/>
                          <a:cs typeface="Mangal"/>
                        </a:rPr>
                        <a:t>d[]</a:t>
                      </a:r>
                      <a:endParaRPr lang="en-IN" sz="110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latin typeface="Calibri"/>
                          <a:ea typeface="Calibri"/>
                          <a:cs typeface="Mangal"/>
                        </a:rPr>
                        <a:t>Min(d[u]+le</a:t>
                      </a:r>
                      <a:r>
                        <a:rPr lang="en-IN" sz="2000" b="1" dirty="0" smtClean="0">
                          <a:latin typeface="Calibri"/>
                          <a:ea typeface="Calibri"/>
                          <a:cs typeface="Mangal"/>
                        </a:rPr>
                        <a:t>)</a:t>
                      </a:r>
                      <a:endParaRPr lang="en-IN" sz="11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600" b="1" dirty="0">
                          <a:latin typeface="Calibri"/>
                          <a:ea typeface="Calibri"/>
                          <a:cs typeface="Mangal"/>
                        </a:rPr>
                        <a:t>      </a:t>
                      </a:r>
                      <a:r>
                        <a:rPr lang="en-IN" sz="2600" dirty="0" smtClean="0">
                          <a:latin typeface="+mn-lt"/>
                          <a:ea typeface="Calibri"/>
                          <a:cs typeface="Mangal"/>
                        </a:rPr>
                        <a:t>{0,1}</a:t>
                      </a:r>
                      <a:endParaRPr lang="en-IN" sz="11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u=0     or     u=0</a:t>
                      </a:r>
                    </a:p>
                    <a:p>
                      <a:r>
                        <a:rPr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v=1               v=2</a:t>
                      </a:r>
                    </a:p>
                    <a:p>
                      <a:r>
                        <a:rPr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min(0+4)=4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819400" y="6019800"/>
          <a:ext cx="2590800" cy="456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8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Calibri"/>
                          <a:ea typeface="Calibri"/>
                          <a:cs typeface="Mangal"/>
                        </a:rPr>
                        <a:t>0</a:t>
                      </a:r>
                      <a:endParaRPr lang="en-IN" sz="16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Symbol"/>
                        </a:rPr>
                        <a:t>4</a:t>
                      </a:r>
                      <a:endParaRPr lang="en-IN" sz="16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16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16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16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895600" y="5562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0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3355914" y="5562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1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3965514" y="5562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2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4346514" y="5562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3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4727514" y="5562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4</a:t>
            </a:r>
            <a:endParaRPr lang="en-IN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352800" y="1295399"/>
            <a:ext cx="3733800" cy="25758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Dijkstra’s</a:t>
            </a:r>
            <a:r>
              <a:rPr lang="en-IN" dirty="0" smtClean="0"/>
              <a:t> algorithm 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Source =0</a:t>
            </a: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90600" y="4114800"/>
          <a:ext cx="6934200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latin typeface="Calibri"/>
                          <a:ea typeface="Calibri"/>
                          <a:cs typeface="Mangal"/>
                        </a:rPr>
                        <a:t>         </a:t>
                      </a:r>
                      <a:r>
                        <a:rPr lang="en-IN" sz="2800" b="1" dirty="0" smtClean="0">
                          <a:latin typeface="Calibri"/>
                          <a:ea typeface="Calibri"/>
                          <a:cs typeface="Mangal"/>
                        </a:rPr>
                        <a:t>s</a:t>
                      </a:r>
                      <a:endParaRPr lang="en-IN" sz="11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b="1">
                          <a:latin typeface="Calibri"/>
                          <a:ea typeface="Calibri"/>
                          <a:cs typeface="Mangal"/>
                        </a:rPr>
                        <a:t>Distance[]</a:t>
                      </a:r>
                      <a:endParaRPr lang="en-IN" sz="1100">
                        <a:latin typeface="Calibri"/>
                        <a:ea typeface="Calibri"/>
                        <a:cs typeface="Mangal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b="1">
                          <a:latin typeface="Calibri"/>
                          <a:ea typeface="Calibri"/>
                          <a:cs typeface="Mangal"/>
                        </a:rPr>
                        <a:t>d[]</a:t>
                      </a:r>
                      <a:endParaRPr lang="en-IN" sz="110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latin typeface="Calibri"/>
                          <a:ea typeface="Calibri"/>
                          <a:cs typeface="Mangal"/>
                        </a:rPr>
                        <a:t>Min(d[u]+le</a:t>
                      </a:r>
                      <a:r>
                        <a:rPr lang="en-IN" sz="2000" b="1" dirty="0" smtClean="0">
                          <a:latin typeface="Calibri"/>
                          <a:ea typeface="Calibri"/>
                          <a:cs typeface="Mangal"/>
                        </a:rPr>
                        <a:t>)</a:t>
                      </a:r>
                      <a:endParaRPr lang="en-IN" sz="11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600" dirty="0" smtClean="0">
                          <a:latin typeface="+mn-lt"/>
                          <a:ea typeface="Calibri"/>
                          <a:cs typeface="Mangal"/>
                        </a:rPr>
                        <a:t> {0,1,2}</a:t>
                      </a:r>
                      <a:endParaRPr lang="en-IN" sz="11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u=0     or      u=1</a:t>
                      </a:r>
                    </a:p>
                    <a:p>
                      <a:r>
                        <a:rPr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v=2                v=2</a:t>
                      </a:r>
                    </a:p>
                    <a:p>
                      <a:r>
                        <a:rPr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min(0+8)=8</a:t>
                      </a:r>
                      <a:r>
                        <a:rPr lang="en-IN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and </a:t>
                      </a:r>
                      <a:r>
                        <a:rPr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(4+1)=5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819400" y="6019800"/>
          <a:ext cx="2590800" cy="3261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8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Calibri"/>
                          <a:ea typeface="Calibri"/>
                          <a:cs typeface="Mangal"/>
                        </a:rPr>
                        <a:t>0</a:t>
                      </a:r>
                      <a:endParaRPr lang="en-IN" sz="16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 smtClean="0">
                          <a:latin typeface="Calibri"/>
                          <a:ea typeface="Calibri"/>
                          <a:cs typeface="Mangal"/>
                        </a:rPr>
                        <a:t>4</a:t>
                      </a:r>
                      <a:endParaRPr lang="en-IN" sz="16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latin typeface="Calibri"/>
                          <a:ea typeface="Calibri"/>
                          <a:cs typeface="Mangal"/>
                        </a:rPr>
                        <a:t>5</a:t>
                      </a:r>
                      <a:endParaRPr lang="en-IN" sz="16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16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16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895600" y="5562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0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3355914" y="5562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1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3965514" y="5562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2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4346514" y="5562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3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4727514" y="5562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4</a:t>
            </a:r>
            <a:endParaRPr lang="en-IN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352800" y="1295399"/>
            <a:ext cx="3733800" cy="25758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Dijkstra’s</a:t>
            </a:r>
            <a:r>
              <a:rPr lang="en-IN" dirty="0" smtClean="0"/>
              <a:t> algorithm 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Source =0</a:t>
            </a: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90600" y="4114800"/>
          <a:ext cx="6934200" cy="249116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latin typeface="Calibri"/>
                          <a:ea typeface="Calibri"/>
                          <a:cs typeface="Mangal"/>
                        </a:rPr>
                        <a:t>         </a:t>
                      </a:r>
                      <a:r>
                        <a:rPr lang="en-IN" sz="2800" b="1" dirty="0" smtClean="0">
                          <a:latin typeface="Calibri"/>
                          <a:ea typeface="Calibri"/>
                          <a:cs typeface="Mangal"/>
                        </a:rPr>
                        <a:t>s</a:t>
                      </a:r>
                      <a:endParaRPr lang="en-IN" sz="11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b="1">
                          <a:latin typeface="Calibri"/>
                          <a:ea typeface="Calibri"/>
                          <a:cs typeface="Mangal"/>
                        </a:rPr>
                        <a:t>Distance[]</a:t>
                      </a:r>
                      <a:endParaRPr lang="en-IN" sz="1100">
                        <a:latin typeface="Calibri"/>
                        <a:ea typeface="Calibri"/>
                        <a:cs typeface="Mangal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b="1">
                          <a:latin typeface="Calibri"/>
                          <a:ea typeface="Calibri"/>
                          <a:cs typeface="Mangal"/>
                        </a:rPr>
                        <a:t>d[]</a:t>
                      </a:r>
                      <a:endParaRPr lang="en-IN" sz="110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latin typeface="Calibri"/>
                          <a:ea typeface="Calibri"/>
                          <a:cs typeface="Mangal"/>
                        </a:rPr>
                        <a:t>Min(d[u]+le</a:t>
                      </a:r>
                      <a:r>
                        <a:rPr lang="en-IN" sz="2000" b="1" dirty="0" smtClean="0">
                          <a:latin typeface="Calibri"/>
                          <a:ea typeface="Calibri"/>
                          <a:cs typeface="Mangal"/>
                        </a:rPr>
                        <a:t>)</a:t>
                      </a:r>
                      <a:endParaRPr lang="en-IN" sz="11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600" dirty="0" smtClean="0">
                          <a:latin typeface="+mn-lt"/>
                          <a:ea typeface="Calibri"/>
                          <a:cs typeface="Mangal"/>
                        </a:rPr>
                        <a:t> {0,1,2,3}</a:t>
                      </a:r>
                      <a:endParaRPr lang="en-IN" sz="11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u=1     or      u=2</a:t>
                      </a:r>
                    </a:p>
                    <a:p>
                      <a:r>
                        <a:rPr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v=3               v=3</a:t>
                      </a:r>
                    </a:p>
                    <a:p>
                      <a:r>
                        <a:rPr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min(4+3)=7 and (4+7)=11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819400" y="6019800"/>
          <a:ext cx="2590800" cy="3261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8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Calibri"/>
                          <a:ea typeface="Calibri"/>
                          <a:cs typeface="Mangal"/>
                        </a:rPr>
                        <a:t>0</a:t>
                      </a:r>
                      <a:endParaRPr lang="en-IN" sz="16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 smtClean="0">
                          <a:latin typeface="Calibri"/>
                          <a:ea typeface="Calibri"/>
                          <a:cs typeface="Mangal"/>
                        </a:rPr>
                        <a:t>4</a:t>
                      </a:r>
                      <a:endParaRPr lang="en-IN" sz="16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latin typeface="Calibri"/>
                          <a:ea typeface="Calibri"/>
                          <a:cs typeface="Mangal"/>
                        </a:rPr>
                        <a:t>5</a:t>
                      </a:r>
                      <a:endParaRPr lang="en-IN" sz="16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latin typeface="Calibri"/>
                          <a:ea typeface="Calibri"/>
                          <a:cs typeface="Mangal"/>
                        </a:rPr>
                        <a:t>7</a:t>
                      </a:r>
                      <a:endParaRPr lang="en-IN" sz="16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16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895600" y="5562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0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3355914" y="5562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1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3965514" y="5562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2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4346514" y="5562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3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4727514" y="5562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4</a:t>
            </a:r>
            <a:endParaRPr lang="en-IN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352800" y="1295399"/>
            <a:ext cx="3733800" cy="25758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Dijkstra’s</a:t>
            </a:r>
            <a:r>
              <a:rPr lang="en-IN" dirty="0" smtClean="0"/>
              <a:t> algorithm 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Source =0</a:t>
            </a: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90600" y="4114800"/>
          <a:ext cx="6934200" cy="249116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latin typeface="Calibri"/>
                          <a:ea typeface="Calibri"/>
                          <a:cs typeface="Mangal"/>
                        </a:rPr>
                        <a:t>         </a:t>
                      </a:r>
                      <a:r>
                        <a:rPr lang="en-IN" sz="2800" b="1" dirty="0" smtClean="0">
                          <a:latin typeface="Calibri"/>
                          <a:ea typeface="Calibri"/>
                          <a:cs typeface="Mangal"/>
                        </a:rPr>
                        <a:t>s</a:t>
                      </a:r>
                      <a:endParaRPr lang="en-IN" sz="11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b="1">
                          <a:latin typeface="Calibri"/>
                          <a:ea typeface="Calibri"/>
                          <a:cs typeface="Mangal"/>
                        </a:rPr>
                        <a:t>Distance[]</a:t>
                      </a:r>
                      <a:endParaRPr lang="en-IN" sz="1100">
                        <a:latin typeface="Calibri"/>
                        <a:ea typeface="Calibri"/>
                        <a:cs typeface="Mangal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b="1">
                          <a:latin typeface="Calibri"/>
                          <a:ea typeface="Calibri"/>
                          <a:cs typeface="Mangal"/>
                        </a:rPr>
                        <a:t>d[]</a:t>
                      </a:r>
                      <a:endParaRPr lang="en-IN" sz="110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latin typeface="Calibri"/>
                          <a:ea typeface="Calibri"/>
                          <a:cs typeface="Mangal"/>
                        </a:rPr>
                        <a:t>Min(d[u]+le</a:t>
                      </a:r>
                      <a:r>
                        <a:rPr lang="en-IN" sz="2000" b="1" dirty="0" smtClean="0">
                          <a:latin typeface="Calibri"/>
                          <a:ea typeface="Calibri"/>
                          <a:cs typeface="Mangal"/>
                        </a:rPr>
                        <a:t>)</a:t>
                      </a:r>
                      <a:endParaRPr lang="en-IN" sz="11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600" dirty="0" smtClean="0">
                          <a:latin typeface="+mn-lt"/>
                          <a:ea typeface="Calibri"/>
                          <a:cs typeface="Mangal"/>
                        </a:rPr>
                        <a:t> {0,1,2,4}</a:t>
                      </a:r>
                      <a:endParaRPr lang="en-IN" sz="11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u=3     or      u=2</a:t>
                      </a:r>
                    </a:p>
                    <a:p>
                      <a:r>
                        <a:rPr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v=4                v=4</a:t>
                      </a:r>
                    </a:p>
                    <a:p>
                      <a:r>
                        <a:rPr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min(3+8)=11</a:t>
                      </a:r>
                    </a:p>
                    <a:p>
                      <a:r>
                        <a:rPr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min(5+3)=8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819400" y="6019800"/>
          <a:ext cx="2590800" cy="3261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8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Calibri"/>
                          <a:ea typeface="Calibri"/>
                          <a:cs typeface="Mangal"/>
                        </a:rPr>
                        <a:t>0</a:t>
                      </a:r>
                      <a:endParaRPr lang="en-IN" sz="16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 smtClean="0">
                          <a:latin typeface="Calibri"/>
                          <a:ea typeface="Calibri"/>
                          <a:cs typeface="Mangal"/>
                        </a:rPr>
                        <a:t>4</a:t>
                      </a:r>
                      <a:endParaRPr lang="en-IN" sz="16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latin typeface="Calibri"/>
                          <a:ea typeface="Calibri"/>
                          <a:cs typeface="Mangal"/>
                        </a:rPr>
                        <a:t>5</a:t>
                      </a:r>
                      <a:endParaRPr lang="en-IN" sz="16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latin typeface="Calibri"/>
                          <a:ea typeface="Calibri"/>
                          <a:cs typeface="Mangal"/>
                        </a:rPr>
                        <a:t>7</a:t>
                      </a:r>
                      <a:endParaRPr lang="en-IN" sz="16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latin typeface="Calibri"/>
                          <a:ea typeface="Calibri"/>
                          <a:cs typeface="Mangal"/>
                        </a:rPr>
                        <a:t>8</a:t>
                      </a:r>
                      <a:endParaRPr lang="en-IN" sz="16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895600" y="5562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0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3355914" y="5562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1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3965514" y="5562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2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4346514" y="5562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3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4727514" y="5562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4</a:t>
            </a:r>
            <a:endParaRPr lang="en-IN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352800" y="1295399"/>
            <a:ext cx="3733800" cy="25758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Depth of intervals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endParaRPr lang="en-IN" dirty="0" smtClean="0"/>
          </a:p>
          <a:p>
            <a:endParaRPr lang="en-IN" dirty="0" smtClean="0"/>
          </a:p>
          <a:p>
            <a:pPr>
              <a:buNone/>
            </a:pPr>
            <a:endParaRPr lang="en-IN" dirty="0" smtClean="0"/>
          </a:p>
          <a:p>
            <a:endParaRPr lang="en-IN" dirty="0" smtClean="0"/>
          </a:p>
          <a:p>
            <a:r>
              <a:rPr lang="en-IN" dirty="0" smtClean="0"/>
              <a:t>the </a:t>
            </a:r>
            <a:r>
              <a:rPr lang="en-IN" b="1" i="1" dirty="0" smtClean="0"/>
              <a:t>depth</a:t>
            </a:r>
            <a:r>
              <a:rPr lang="en-IN" i="1" dirty="0" smtClean="0"/>
              <a:t> of a set of intervals to be the maximum number that pass </a:t>
            </a:r>
            <a:r>
              <a:rPr lang="en-IN" dirty="0" smtClean="0"/>
              <a:t>over any single point on the time-line.</a:t>
            </a:r>
          </a:p>
          <a:p>
            <a:endParaRPr lang="en-IN" dirty="0" smtClean="0"/>
          </a:p>
          <a:p>
            <a:endParaRPr lang="en-IN" dirty="0" smtClean="0"/>
          </a:p>
          <a:p>
            <a:endParaRPr lang="en-IN" dirty="0" smtClean="0"/>
          </a:p>
          <a:p>
            <a:endParaRPr lang="en-IN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1447800"/>
            <a:ext cx="6441989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Down Arrow 6"/>
          <p:cNvSpPr/>
          <p:nvPr/>
        </p:nvSpPr>
        <p:spPr>
          <a:xfrm>
            <a:off x="685800" y="1600200"/>
            <a:ext cx="457200" cy="114300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Analysis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i="1" dirty="0" smtClean="0"/>
              <a:t>In any instance of </a:t>
            </a:r>
            <a:r>
              <a:rPr lang="en-IN" b="1" i="1" dirty="0" smtClean="0"/>
              <a:t>Interval Partitioning</a:t>
            </a:r>
            <a:r>
              <a:rPr lang="en-IN" i="1" dirty="0" smtClean="0"/>
              <a:t>, the number of resources needed is at least the depth of the set of intervals.</a:t>
            </a:r>
          </a:p>
          <a:p>
            <a:endParaRPr lang="en-IN" i="1" dirty="0" smtClean="0"/>
          </a:p>
          <a:p>
            <a:r>
              <a:rPr lang="en-IN" b="1" dirty="0" smtClean="0"/>
              <a:t>Proof. Suppose a set of intervals has depth </a:t>
            </a:r>
            <a:r>
              <a:rPr lang="en-IN" b="1" i="1" dirty="0" smtClean="0"/>
              <a:t>d, and let I1, . . . , Id all pass over a </a:t>
            </a:r>
            <a:r>
              <a:rPr lang="en-IN" dirty="0" smtClean="0"/>
              <a:t>common point on the time-line. </a:t>
            </a:r>
          </a:p>
          <a:p>
            <a:r>
              <a:rPr lang="en-IN" dirty="0" smtClean="0"/>
              <a:t>Then each of these intervals must be scheduled</a:t>
            </a:r>
          </a:p>
          <a:p>
            <a:r>
              <a:rPr lang="en-IN" dirty="0" smtClean="0"/>
              <a:t>on a different resource, </a:t>
            </a:r>
          </a:p>
          <a:p>
            <a:r>
              <a:rPr lang="en-IN" dirty="0" smtClean="0"/>
              <a:t>so the whole instance needs at least </a:t>
            </a:r>
            <a:r>
              <a:rPr lang="en-IN" i="1" dirty="0" smtClean="0"/>
              <a:t>d resources.</a:t>
            </a:r>
            <a:endParaRPr lang="en-IN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5867400" y="6172200"/>
            <a:ext cx="2133600" cy="15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5867400" y="6400800"/>
            <a:ext cx="2133600" cy="15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5867400" y="6629400"/>
            <a:ext cx="2133600" cy="15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Theme3</Template>
  <TotalTime>2139</TotalTime>
  <Words>2625</Words>
  <Application>Microsoft Office PowerPoint</Application>
  <PresentationFormat>On-screen Show (4:3)</PresentationFormat>
  <Paragraphs>735</Paragraphs>
  <Slides>72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81" baseType="lpstr">
      <vt:lpstr>Arial</vt:lpstr>
      <vt:lpstr>Calibri</vt:lpstr>
      <vt:lpstr>Mangal</vt:lpstr>
      <vt:lpstr>MT Extra</vt:lpstr>
      <vt:lpstr>Symbol</vt:lpstr>
      <vt:lpstr>Times New Roman</vt:lpstr>
      <vt:lpstr>Wingdings</vt:lpstr>
      <vt:lpstr>Office Theme</vt:lpstr>
      <vt:lpstr>Equation</vt:lpstr>
      <vt:lpstr>Unit 3 Greedy algorithms</vt:lpstr>
      <vt:lpstr>Greedy algorithm</vt:lpstr>
      <vt:lpstr>Contents</vt:lpstr>
      <vt:lpstr>Interval scheduling problem</vt:lpstr>
      <vt:lpstr>Interval scheduling problem</vt:lpstr>
      <vt:lpstr>Interval Scheduling- Problem</vt:lpstr>
      <vt:lpstr>Interval scheduling-Problem</vt:lpstr>
      <vt:lpstr>Interval Scheduling- Approaches</vt:lpstr>
      <vt:lpstr>Interval Scheduling- Approaches</vt:lpstr>
      <vt:lpstr>Interval Scheduling- Approaches</vt:lpstr>
      <vt:lpstr>Interval Scheduling- Approaches</vt:lpstr>
      <vt:lpstr>Interval Scheduling- Approaches</vt:lpstr>
      <vt:lpstr>Interval Scheduling- Approaches</vt:lpstr>
      <vt:lpstr>Interval Scheduling- Approaches</vt:lpstr>
      <vt:lpstr>Interval Scheduling- Algorithm</vt:lpstr>
      <vt:lpstr>Interval Scheduling-Example</vt:lpstr>
      <vt:lpstr>Interval Scheduling-Example</vt:lpstr>
      <vt:lpstr>Problem – Interval Scheduling</vt:lpstr>
      <vt:lpstr>Implementation and running time Analysis</vt:lpstr>
      <vt:lpstr>Summary</vt:lpstr>
      <vt:lpstr>Analysis-Proof of correctness</vt:lpstr>
      <vt:lpstr>Analysis-Proof of correctness</vt:lpstr>
      <vt:lpstr>Analysis-Proof of correctness</vt:lpstr>
      <vt:lpstr>Analysis-Proof of correctness</vt:lpstr>
      <vt:lpstr>Analysis-Proof of correctness</vt:lpstr>
      <vt:lpstr>Analysis-Proof of correctness</vt:lpstr>
      <vt:lpstr>Analysis-Proof of correctness</vt:lpstr>
      <vt:lpstr>Interval Partitioning Problem or Scheduling all intervals</vt:lpstr>
      <vt:lpstr>Interval Partitioning Problem or Scheduling all intervals</vt:lpstr>
      <vt:lpstr>Example</vt:lpstr>
      <vt:lpstr>Summary- Interval Scheduling </vt:lpstr>
      <vt:lpstr>Optimal caching- Problem</vt:lpstr>
      <vt:lpstr>Optimal caching- Algorithm -Farthest-in-Future</vt:lpstr>
      <vt:lpstr>Optimal caching- Algorithm -Farthest-in-Future</vt:lpstr>
      <vt:lpstr>Optimal caching- Algorithm -Farthest-in-Future</vt:lpstr>
      <vt:lpstr>Scheduling to minimize lateness</vt:lpstr>
      <vt:lpstr>Scheduling to minimize lateness</vt:lpstr>
      <vt:lpstr>Scheduling to minimize lateness</vt:lpstr>
      <vt:lpstr>Scheduling to minimize lateness- Example</vt:lpstr>
      <vt:lpstr>Scheduling to minimize lateness- Goal</vt:lpstr>
      <vt:lpstr>Scheduling to minimize lateness</vt:lpstr>
      <vt:lpstr>Scheduling to minimize lateness</vt:lpstr>
      <vt:lpstr>Scheduling to minimize lateness</vt:lpstr>
      <vt:lpstr>Scheduling to minimize lateness</vt:lpstr>
      <vt:lpstr>Scheduling to minimize lateness- Goal revisited</vt:lpstr>
      <vt:lpstr>Scheduling to minimize lateness- Algorithm</vt:lpstr>
      <vt:lpstr>Scheduling to minimize lateness- Example</vt:lpstr>
      <vt:lpstr>Scheduling to minimize lateness- Example</vt:lpstr>
      <vt:lpstr>Scheduling to minimize lateness- Example</vt:lpstr>
      <vt:lpstr>Scheduling to minimize lateness- Example</vt:lpstr>
      <vt:lpstr>Scheduling to minimize lateness- Example</vt:lpstr>
      <vt:lpstr>Scheduling to minimize lateness- Running time</vt:lpstr>
      <vt:lpstr>Interval Scheduling</vt:lpstr>
      <vt:lpstr>Interval scheduling</vt:lpstr>
      <vt:lpstr>Scheduling to minimize lateness-  Proof of correctness</vt:lpstr>
      <vt:lpstr>Scheduling to minimize lateness-  Proof of correctness</vt:lpstr>
      <vt:lpstr>Scheduling to minimize lateness-  Proof of correctness</vt:lpstr>
      <vt:lpstr>PowerPoint Presentation</vt:lpstr>
      <vt:lpstr>PowerPoint Presentation</vt:lpstr>
      <vt:lpstr>PowerPoint Presentation</vt:lpstr>
      <vt:lpstr>Part 2 Greedy algorithms on Graphs</vt:lpstr>
      <vt:lpstr>DIJKSTRA’S ALGORITHM</vt:lpstr>
      <vt:lpstr>SET UP OR INPUT INSTANCE SET UP</vt:lpstr>
      <vt:lpstr>ALGORITHM</vt:lpstr>
      <vt:lpstr>Example</vt:lpstr>
      <vt:lpstr>Dijkstra’s algorithm example</vt:lpstr>
      <vt:lpstr>Dijkstra’s algorithm example</vt:lpstr>
      <vt:lpstr>Dijkstra’s algorithm example</vt:lpstr>
      <vt:lpstr>Dijkstra’s algorithm example</vt:lpstr>
      <vt:lpstr>Dijkstra’s algorithm example</vt:lpstr>
      <vt:lpstr>Depth of intervals</vt:lpstr>
      <vt:lpstr>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Greedy algorithms</dc:title>
  <dc:creator>Srinidhi</dc:creator>
  <cp:lastModifiedBy>ADMIN</cp:lastModifiedBy>
  <cp:revision>306</cp:revision>
  <dcterms:created xsi:type="dcterms:W3CDTF">2006-08-16T00:00:00Z</dcterms:created>
  <dcterms:modified xsi:type="dcterms:W3CDTF">2023-06-21T04:22:26Z</dcterms:modified>
</cp:coreProperties>
</file>