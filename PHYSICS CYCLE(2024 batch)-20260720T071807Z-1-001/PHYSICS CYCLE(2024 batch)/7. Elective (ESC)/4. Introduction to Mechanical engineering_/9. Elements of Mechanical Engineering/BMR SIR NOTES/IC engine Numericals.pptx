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4" r:id="rId37"/>
    <p:sldId id="292" r:id="rId38"/>
    <p:sldId id="295" r:id="rId39"/>
    <p:sldId id="296" r:id="rId40"/>
    <p:sldId id="297"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2" d="100"/>
          <a:sy n="72" d="100"/>
        </p:scale>
        <p:origin x="-1104"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22604E-8119-4EE0-B749-47059B7591AB}" type="datetimeFigureOut">
              <a:rPr lang="en-US" smtClean="0"/>
              <a:pPr/>
              <a:t>02-Jun-21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D3CCDE-EE6A-4988-A672-560E146B79C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D3CCDE-EE6A-4988-A672-560E146B79C7}"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02-Jun-21</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transition>
    <p:strips dir="ld"/>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02-Jun-21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transition>
    <p:strips dir="ld"/>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02-Jun-21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strips dir="ld"/>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02-Jun-21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transition>
    <p:strips dir="ld"/>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02-Jun-21</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strips dir="ld"/>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D8BD707-D9CF-40AE-B4C6-C98DA3205C09}" type="datetimeFigureOut">
              <a:rPr lang="en-US" smtClean="0"/>
              <a:pPr/>
              <a:t>02-Jun-21</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transition>
    <p:strips dir="ld"/>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D8BD707-D9CF-40AE-B4C6-C98DA3205C09}" type="datetimeFigureOut">
              <a:rPr lang="en-US" smtClean="0"/>
              <a:pPr/>
              <a:t>02-Jun-21</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trips dir="ld"/>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D8BD707-D9CF-40AE-B4C6-C98DA3205C09}" type="datetimeFigureOut">
              <a:rPr lang="en-US" smtClean="0"/>
              <a:pPr/>
              <a:t>02-Jun-21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strips dir="ld"/>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02-Jun-21</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strips dir="ld"/>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02-Jun-21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trips dir="ld"/>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02-Jun-21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trips dir="ld"/>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02-Jun-21</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strips dir="ld"/>
  </p:transition>
  <p:timing>
    <p:tnLst>
      <p:par>
        <p:cTn id="1" dur="indefinite" restart="never" nodeType="tmRoot"/>
      </p:par>
    </p:tnLst>
  </p:timing>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5.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oleObject" Target="../embeddings/oleObject7.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6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Numericals</a:t>
            </a:r>
            <a:r>
              <a:rPr lang="en-US" dirty="0" smtClean="0"/>
              <a:t> on IC engine</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ransition>
    <p:strips dir="l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783560"/>
            <a:ext cx="8001000" cy="4617240"/>
          </a:xfrm>
        </p:spPr>
        <p:txBody>
          <a:bodyPr/>
          <a:lstStyle/>
          <a:p>
            <a:pPr marL="582930" indent="-514350" algn="ctr">
              <a:buFont typeface="+mj-lt"/>
              <a:buAutoNum type="arabicParenR"/>
            </a:pPr>
            <a:r>
              <a:rPr lang="en-US" b="1" dirty="0" smtClean="0"/>
              <a:t>Mean effective pressure,P</a:t>
            </a:r>
            <a:r>
              <a:rPr lang="en-US" b="1" baseline="-25000" dirty="0" smtClean="0"/>
              <a:t>m</a:t>
            </a:r>
          </a:p>
          <a:p>
            <a:pPr>
              <a:buNone/>
            </a:pPr>
            <a:r>
              <a:rPr lang="en-US" dirty="0" smtClean="0"/>
              <a:t>      It is the mean or average pressure acting on  the piston during power stroke</a:t>
            </a:r>
          </a:p>
          <a:p>
            <a:pPr>
              <a:buNone/>
            </a:pPr>
            <a:endParaRPr lang="en-US" dirty="0" smtClean="0"/>
          </a:p>
          <a:p>
            <a:pPr>
              <a:buNone/>
            </a:pPr>
            <a:r>
              <a:rPr lang="en-US" baseline="-25000" dirty="0" smtClean="0"/>
              <a:t>    </a:t>
            </a:r>
          </a:p>
        </p:txBody>
      </p:sp>
      <p:sp>
        <p:nvSpPr>
          <p:cNvPr id="2" name="Title 1"/>
          <p:cNvSpPr>
            <a:spLocks noGrp="1"/>
          </p:cNvSpPr>
          <p:nvPr>
            <p:ph type="title"/>
          </p:nvPr>
        </p:nvSpPr>
        <p:spPr>
          <a:xfrm>
            <a:off x="914400" y="512064"/>
            <a:ext cx="7772400" cy="1240536"/>
          </a:xfrm>
        </p:spPr>
        <p:txBody>
          <a:bodyPr>
            <a:normAutofit fontScale="90000"/>
          </a:bodyPr>
          <a:lstStyle/>
          <a:p>
            <a:pPr algn="ctr"/>
            <a:r>
              <a:rPr lang="en-US" dirty="0" smtClean="0"/>
              <a:t>Relevant formulae in IC engine</a:t>
            </a:r>
            <a:endParaRPr lang="en-US" dirty="0"/>
          </a:p>
        </p:txBody>
      </p:sp>
      <p:pic>
        <p:nvPicPr>
          <p:cNvPr id="6" name="Picture 5" descr="mean eff.PNG"/>
          <p:cNvPicPr>
            <a:picLocks noChangeAspect="1"/>
          </p:cNvPicPr>
          <p:nvPr/>
        </p:nvPicPr>
        <p:blipFill>
          <a:blip r:embed="rId3"/>
          <a:stretch>
            <a:fillRect/>
          </a:stretch>
        </p:blipFill>
        <p:spPr>
          <a:xfrm>
            <a:off x="2209800" y="3657600"/>
            <a:ext cx="5591956" cy="2429214"/>
          </a:xfrm>
          <a:prstGeom prst="rect">
            <a:avLst/>
          </a:prstGeom>
        </p:spPr>
      </p:pic>
    </p:spTree>
  </p:cSld>
  <p:clrMapOvr>
    <a:masterClrMapping/>
  </p:clrMapOvr>
  <p:transition>
    <p:strips dir="l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Engine_+Mechanical+Indicator.jpg"/>
          <p:cNvPicPr>
            <a:picLocks noGrp="1" noChangeAspect="1"/>
          </p:cNvPicPr>
          <p:nvPr>
            <p:ph idx="1"/>
          </p:nvPr>
        </p:nvPicPr>
        <p:blipFill>
          <a:blip r:embed="rId2"/>
          <a:stretch>
            <a:fillRect/>
          </a:stretch>
        </p:blipFill>
        <p:spPr>
          <a:xfrm>
            <a:off x="1066800" y="533400"/>
            <a:ext cx="7772400" cy="5829300"/>
          </a:xfrm>
        </p:spPr>
      </p:pic>
    </p:spTree>
  </p:cSld>
  <p:clrMapOvr>
    <a:masterClrMapping/>
  </p:clrMapOvr>
  <p:transition>
    <p:strips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maxresdefault.jpg"/>
          <p:cNvPicPr>
            <a:picLocks noGrp="1" noChangeAspect="1"/>
          </p:cNvPicPr>
          <p:nvPr>
            <p:ph idx="1"/>
          </p:nvPr>
        </p:nvPicPr>
        <p:blipFill>
          <a:blip r:embed="rId2"/>
          <a:stretch>
            <a:fillRect/>
          </a:stretch>
        </p:blipFill>
        <p:spPr>
          <a:xfrm>
            <a:off x="914400" y="1106487"/>
            <a:ext cx="7772400" cy="4371975"/>
          </a:xfrm>
        </p:spPr>
      </p:pic>
    </p:spTree>
  </p:cSld>
  <p:clrMapOvr>
    <a:masterClrMapping/>
  </p:clrMapOvr>
  <p:transition>
    <p:strips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304800"/>
            <a:ext cx="7772400" cy="6553200"/>
          </a:xfrm>
        </p:spPr>
        <p:txBody>
          <a:bodyPr>
            <a:normAutofit fontScale="92500" lnSpcReduction="10000"/>
          </a:bodyPr>
          <a:lstStyle/>
          <a:p>
            <a:pPr marL="582930" indent="-514350" algn="ctr">
              <a:buFont typeface="+mj-lt"/>
              <a:buAutoNum type="arabicPeriod" startAt="2"/>
            </a:pPr>
            <a:r>
              <a:rPr lang="en-US" sz="3500" b="1" dirty="0" smtClean="0"/>
              <a:t>Indicated power, IP (in kW)</a:t>
            </a:r>
          </a:p>
          <a:p>
            <a:pPr marL="582930" indent="-514350">
              <a:buNone/>
            </a:pPr>
            <a:r>
              <a:rPr lang="en-US" dirty="0" smtClean="0"/>
              <a:t>Total power developed inside the engine cylinder due to combustion of fuel</a:t>
            </a:r>
          </a:p>
          <a:p>
            <a:pPr marL="582930" indent="-514350">
              <a:buNone/>
            </a:pPr>
            <a:endParaRPr lang="en-US" dirty="0" smtClean="0"/>
          </a:p>
          <a:p>
            <a:pPr marL="582930" indent="-514350">
              <a:buNone/>
            </a:pPr>
            <a:r>
              <a:rPr lang="en-US" dirty="0" smtClean="0"/>
              <a:t> </a:t>
            </a:r>
          </a:p>
          <a:p>
            <a:pPr marL="582930" indent="-514350">
              <a:buNone/>
            </a:pPr>
            <a:endParaRPr lang="en-US" dirty="0" smtClean="0"/>
          </a:p>
          <a:p>
            <a:pPr marL="582930" indent="-514350">
              <a:buNone/>
            </a:pPr>
            <a:r>
              <a:rPr lang="en-US" dirty="0" smtClean="0"/>
              <a:t>where,  n= no. of cylinders</a:t>
            </a:r>
          </a:p>
          <a:p>
            <a:pPr marL="582930" indent="-514350">
              <a:buNone/>
            </a:pPr>
            <a:r>
              <a:rPr lang="en-US" dirty="0" smtClean="0"/>
              <a:t>		   P</a:t>
            </a:r>
            <a:r>
              <a:rPr lang="en-US" baseline="-25000" dirty="0" smtClean="0"/>
              <a:t>m </a:t>
            </a:r>
            <a:r>
              <a:rPr lang="en-US" dirty="0" smtClean="0"/>
              <a:t> = mean effective pressure, in bars		   L= length of cylinder or stroke, in m</a:t>
            </a:r>
          </a:p>
          <a:p>
            <a:pPr marL="582930" indent="-514350">
              <a:buNone/>
            </a:pPr>
            <a:r>
              <a:rPr lang="en-US" dirty="0" smtClean="0"/>
              <a:t>		  A=area of cross section of cylinder, in m</a:t>
            </a:r>
            <a:r>
              <a:rPr lang="en-US" baseline="30000" dirty="0" smtClean="0"/>
              <a:t>2</a:t>
            </a:r>
            <a:endParaRPr lang="en-US" dirty="0" smtClean="0"/>
          </a:p>
          <a:p>
            <a:pPr marL="582930" indent="-514350">
              <a:buNone/>
            </a:pPr>
            <a:r>
              <a:rPr lang="en-US" dirty="0" smtClean="0"/>
              <a:t>      		     = (</a:t>
            </a:r>
            <a:r>
              <a:rPr lang="el-GR" dirty="0" smtClean="0"/>
              <a:t>π</a:t>
            </a:r>
            <a:r>
              <a:rPr lang="en-US" dirty="0" smtClean="0"/>
              <a:t>d</a:t>
            </a:r>
            <a:r>
              <a:rPr lang="en-US" baseline="30000" dirty="0" smtClean="0"/>
              <a:t>2</a:t>
            </a:r>
            <a:r>
              <a:rPr lang="en-US" dirty="0" smtClean="0"/>
              <a:t>)/4, d= diameter of cylinder or 		          piston or bore, in m</a:t>
            </a:r>
          </a:p>
          <a:p>
            <a:pPr marL="582930" indent="-514350">
              <a:buNone/>
            </a:pPr>
            <a:r>
              <a:rPr lang="en-US" dirty="0" smtClean="0"/>
              <a:t>		N= speed of engine in rpm</a:t>
            </a:r>
          </a:p>
          <a:p>
            <a:pPr marL="582930" indent="-514350">
              <a:buNone/>
            </a:pPr>
            <a:r>
              <a:rPr lang="en-US" dirty="0" smtClean="0"/>
              <a:t> 		K= ½ for 4-s engine </a:t>
            </a:r>
          </a:p>
          <a:p>
            <a:pPr marL="582930" indent="-514350">
              <a:buNone/>
            </a:pPr>
            <a:r>
              <a:rPr lang="en-US" dirty="0" smtClean="0"/>
              <a:t>		   = 1 for 2-s engine</a:t>
            </a:r>
          </a:p>
          <a:p>
            <a:pPr marL="582930" indent="-514350">
              <a:buNone/>
            </a:pPr>
            <a:endParaRPr lang="en-US" dirty="0" smtClean="0"/>
          </a:p>
          <a:p>
            <a:pPr marL="582930" indent="-514350">
              <a:buNone/>
            </a:pPr>
            <a:endParaRPr lang="en-US" dirty="0"/>
          </a:p>
        </p:txBody>
      </p:sp>
      <p:pic>
        <p:nvPicPr>
          <p:cNvPr id="4" name="Picture 3" descr="ip.PNG"/>
          <p:cNvPicPr>
            <a:picLocks noChangeAspect="1"/>
          </p:cNvPicPr>
          <p:nvPr/>
        </p:nvPicPr>
        <p:blipFill>
          <a:blip r:embed="rId2"/>
          <a:stretch>
            <a:fillRect/>
          </a:stretch>
        </p:blipFill>
        <p:spPr>
          <a:xfrm>
            <a:off x="2286000" y="1447800"/>
            <a:ext cx="4467849" cy="1219200"/>
          </a:xfrm>
          <a:prstGeom prst="rect">
            <a:avLst/>
          </a:prstGeom>
        </p:spPr>
      </p:pic>
    </p:spTree>
  </p:cSld>
  <p:clrMapOvr>
    <a:masterClrMapping/>
  </p:clrMapOvr>
  <p:transition>
    <p:strips dir="l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bore and stroke.jpg"/>
          <p:cNvPicPr>
            <a:picLocks noGrp="1" noChangeAspect="1"/>
          </p:cNvPicPr>
          <p:nvPr>
            <p:ph idx="1"/>
          </p:nvPr>
        </p:nvPicPr>
        <p:blipFill>
          <a:blip r:embed="rId2"/>
          <a:stretch>
            <a:fillRect/>
          </a:stretch>
        </p:blipFill>
        <p:spPr>
          <a:xfrm>
            <a:off x="914400" y="609600"/>
            <a:ext cx="5257800" cy="2971800"/>
          </a:xfrm>
        </p:spPr>
      </p:pic>
      <p:pic>
        <p:nvPicPr>
          <p:cNvPr id="7" name="Picture 6" descr="bore.jpg"/>
          <p:cNvPicPr>
            <a:picLocks noChangeAspect="1"/>
          </p:cNvPicPr>
          <p:nvPr/>
        </p:nvPicPr>
        <p:blipFill>
          <a:blip r:embed="rId3"/>
          <a:stretch>
            <a:fillRect/>
          </a:stretch>
        </p:blipFill>
        <p:spPr>
          <a:xfrm>
            <a:off x="6172200" y="4267200"/>
            <a:ext cx="2476500" cy="1847850"/>
          </a:xfrm>
          <a:prstGeom prst="rect">
            <a:avLst/>
          </a:prstGeom>
        </p:spPr>
      </p:pic>
    </p:spTree>
  </p:cSld>
  <p:clrMapOvr>
    <a:masterClrMapping/>
  </p:clrMapOvr>
  <p:transition>
    <p:strips dir="l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457200"/>
            <a:ext cx="7772400" cy="5898360"/>
          </a:xfrm>
        </p:spPr>
        <p:txBody>
          <a:bodyPr>
            <a:normAutofit lnSpcReduction="10000"/>
          </a:bodyPr>
          <a:lstStyle/>
          <a:p>
            <a:pPr marL="582930" indent="-514350">
              <a:buFont typeface="+mj-lt"/>
              <a:buAutoNum type="arabicParenR" startAt="3"/>
            </a:pPr>
            <a:r>
              <a:rPr lang="en-US" dirty="0" smtClean="0"/>
              <a:t>Brake power ,BP, in kW</a:t>
            </a:r>
          </a:p>
          <a:p>
            <a:pPr marL="582930" indent="-514350">
              <a:buNone/>
            </a:pPr>
            <a:r>
              <a:rPr lang="en-US" dirty="0" smtClean="0"/>
              <a:t>       Net power available at the crankshaft for doing useful work																														</a:t>
            </a:r>
          </a:p>
          <a:p>
            <a:pPr marL="582930" indent="-514350">
              <a:buNone/>
            </a:pPr>
            <a:r>
              <a:rPr lang="en-US" dirty="0" smtClean="0"/>
              <a:t>		   where  N= speed of engine in rpm				    T= torque of engine in N-m		</a:t>
            </a:r>
          </a:p>
          <a:p>
            <a:pPr marL="582930" indent="-514350" algn="ctr">
              <a:buNone/>
            </a:pPr>
            <a:endParaRPr lang="en-US" dirty="0" smtClean="0"/>
          </a:p>
          <a:p>
            <a:pPr marL="582930" indent="-514350">
              <a:buNone/>
            </a:pPr>
            <a:r>
              <a:rPr lang="en-US" dirty="0" smtClean="0"/>
              <a:t>       Torque can be measured using  </a:t>
            </a:r>
            <a:r>
              <a:rPr lang="en-US" dirty="0" err="1" smtClean="0"/>
              <a:t>i</a:t>
            </a:r>
            <a:r>
              <a:rPr lang="en-US" dirty="0" smtClean="0"/>
              <a:t>) rope brake dynamometer or ii)  belt dynamometer						 </a:t>
            </a:r>
            <a:endParaRPr lang="en-US" dirty="0"/>
          </a:p>
        </p:txBody>
      </p:sp>
      <p:pic>
        <p:nvPicPr>
          <p:cNvPr id="4" name="Picture 3" descr="bp.PNG"/>
          <p:cNvPicPr>
            <a:picLocks noChangeAspect="1"/>
          </p:cNvPicPr>
          <p:nvPr/>
        </p:nvPicPr>
        <p:blipFill>
          <a:blip r:embed="rId2"/>
          <a:stretch>
            <a:fillRect/>
          </a:stretch>
        </p:blipFill>
        <p:spPr>
          <a:xfrm>
            <a:off x="3429000" y="1981200"/>
            <a:ext cx="2438400" cy="1290918"/>
          </a:xfrm>
          <a:prstGeom prst="rect">
            <a:avLst/>
          </a:prstGeom>
        </p:spPr>
      </p:pic>
    </p:spTree>
  </p:cSld>
  <p:clrMapOvr>
    <a:masterClrMapping/>
  </p:clrMapOvr>
  <p:transition>
    <p:strips dir="l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457200"/>
            <a:ext cx="7772400" cy="5898360"/>
          </a:xfrm>
        </p:spPr>
        <p:txBody>
          <a:bodyPr>
            <a:normAutofit fontScale="40000" lnSpcReduction="20000"/>
          </a:bodyPr>
          <a:lstStyle/>
          <a:p>
            <a:pPr algn="ctr">
              <a:buNone/>
            </a:pPr>
            <a:r>
              <a:rPr lang="en-US" sz="8400" dirty="0" smtClean="0"/>
              <a:t>Measuring torque using rope brake dynamometer	</a:t>
            </a:r>
            <a:r>
              <a:rPr lang="en-US" sz="5900" dirty="0" smtClean="0"/>
              <a:t>			</a:t>
            </a:r>
          </a:p>
          <a:p>
            <a:pPr algn="ctr">
              <a:buNone/>
            </a:pPr>
            <a:r>
              <a:rPr lang="en-US" sz="4200" dirty="0" smtClean="0"/>
              <a:t>T= (W-S) R</a:t>
            </a:r>
          </a:p>
          <a:p>
            <a:pPr>
              <a:buNone/>
            </a:pPr>
            <a:r>
              <a:rPr lang="en-US" sz="4200" dirty="0" smtClean="0"/>
              <a:t>(W-S) is  effective brake load</a:t>
            </a:r>
          </a:p>
          <a:p>
            <a:pPr>
              <a:buNone/>
            </a:pPr>
            <a:r>
              <a:rPr lang="en-US" sz="4200" dirty="0" smtClean="0"/>
              <a:t>R   is effective </a:t>
            </a:r>
            <a:r>
              <a:rPr lang="en-US" sz="4200" dirty="0" err="1" smtClean="0"/>
              <a:t>radius,measured</a:t>
            </a:r>
            <a:r>
              <a:rPr lang="en-US" sz="4200" dirty="0" smtClean="0"/>
              <a:t> from centre of pulley to </a:t>
            </a:r>
          </a:p>
          <a:p>
            <a:pPr>
              <a:buNone/>
            </a:pPr>
            <a:r>
              <a:rPr lang="en-US" sz="4200" dirty="0" smtClean="0"/>
              <a:t>       centre of rope</a:t>
            </a:r>
          </a:p>
          <a:p>
            <a:pPr>
              <a:buNone/>
            </a:pPr>
            <a:endParaRPr lang="en-US" sz="4200" dirty="0" smtClean="0"/>
          </a:p>
          <a:p>
            <a:pPr>
              <a:buNone/>
            </a:pPr>
            <a:r>
              <a:rPr lang="en-US" sz="4200" dirty="0" smtClean="0"/>
              <a:t>W= suspended weight ,in N</a:t>
            </a:r>
          </a:p>
          <a:p>
            <a:pPr>
              <a:buNone/>
            </a:pPr>
            <a:r>
              <a:rPr lang="en-US" sz="4200" dirty="0" smtClean="0"/>
              <a:t>S= spring balance reading  in N</a:t>
            </a:r>
          </a:p>
          <a:p>
            <a:pPr algn="ctr">
              <a:buNone/>
            </a:pPr>
            <a:r>
              <a:rPr lang="en-US" sz="4200" dirty="0" smtClean="0"/>
              <a:t>		</a:t>
            </a:r>
          </a:p>
          <a:p>
            <a:pPr algn="ctr">
              <a:buNone/>
            </a:pPr>
            <a:r>
              <a:rPr lang="en-US" sz="4200" dirty="0" smtClean="0"/>
              <a:t>  </a:t>
            </a:r>
          </a:p>
          <a:p>
            <a:pPr algn="ctr">
              <a:buNone/>
            </a:pPr>
            <a:endParaRPr lang="en-US" sz="3400" dirty="0" smtClean="0"/>
          </a:p>
          <a:p>
            <a:pPr algn="ctr">
              <a:buNone/>
            </a:pPr>
            <a:endParaRPr lang="en-US" sz="3400" dirty="0" smtClean="0"/>
          </a:p>
          <a:p>
            <a:pPr algn="ctr">
              <a:buNone/>
            </a:pPr>
            <a:endParaRPr lang="en-US" sz="3400" dirty="0" smtClean="0"/>
          </a:p>
          <a:p>
            <a:pPr>
              <a:buNone/>
            </a:pPr>
            <a:endParaRPr lang="en-US" sz="3400" dirty="0" smtClean="0"/>
          </a:p>
          <a:p>
            <a:pPr>
              <a:buNone/>
            </a:pPr>
            <a:endParaRPr lang="en-US" sz="3400" dirty="0" smtClean="0"/>
          </a:p>
          <a:p>
            <a:pPr algn="ctr">
              <a:buNone/>
            </a:pPr>
            <a:endParaRPr lang="en-US" dirty="0" smtClean="0"/>
          </a:p>
          <a:p>
            <a:pPr algn="ctr">
              <a:buNone/>
            </a:pPr>
            <a:endParaRPr lang="en-US" dirty="0" smtClean="0"/>
          </a:p>
          <a:p>
            <a:pPr>
              <a:buNone/>
            </a:pPr>
            <a:r>
              <a:rPr lang="en-US" dirty="0" smtClean="0"/>
              <a:t>    </a:t>
            </a:r>
            <a:endParaRPr lang="en-US" dirty="0"/>
          </a:p>
        </p:txBody>
      </p:sp>
      <p:pic>
        <p:nvPicPr>
          <p:cNvPr id="7" name="Picture 6" descr="asdsd.PNG"/>
          <p:cNvPicPr>
            <a:picLocks noChangeAspect="1"/>
          </p:cNvPicPr>
          <p:nvPr/>
        </p:nvPicPr>
        <p:blipFill>
          <a:blip r:embed="rId2"/>
          <a:stretch>
            <a:fillRect/>
          </a:stretch>
        </p:blipFill>
        <p:spPr>
          <a:xfrm>
            <a:off x="1524000" y="4800600"/>
            <a:ext cx="2590800" cy="1176838"/>
          </a:xfrm>
          <a:prstGeom prst="rect">
            <a:avLst/>
          </a:prstGeom>
        </p:spPr>
      </p:pic>
      <p:pic>
        <p:nvPicPr>
          <p:cNvPr id="8" name="Picture 7" descr="rope.jpg"/>
          <p:cNvPicPr>
            <a:picLocks noChangeAspect="1"/>
          </p:cNvPicPr>
          <p:nvPr/>
        </p:nvPicPr>
        <p:blipFill>
          <a:blip r:embed="rId3"/>
          <a:stretch>
            <a:fillRect/>
          </a:stretch>
        </p:blipFill>
        <p:spPr>
          <a:xfrm>
            <a:off x="6096000" y="2133600"/>
            <a:ext cx="2667000" cy="4495800"/>
          </a:xfrm>
          <a:prstGeom prst="rect">
            <a:avLst/>
          </a:prstGeom>
        </p:spPr>
      </p:pic>
    </p:spTree>
  </p:cSld>
  <p:clrMapOvr>
    <a:masterClrMapping/>
  </p:clrMapOvr>
  <p:transition>
    <p:strips dir="l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belt.PNG"/>
          <p:cNvPicPr>
            <a:picLocks noGrp="1" noChangeAspect="1"/>
          </p:cNvPicPr>
          <p:nvPr>
            <p:ph idx="1"/>
          </p:nvPr>
        </p:nvPicPr>
        <p:blipFill>
          <a:blip r:embed="rId2"/>
          <a:stretch>
            <a:fillRect/>
          </a:stretch>
        </p:blipFill>
        <p:spPr>
          <a:xfrm>
            <a:off x="2438400" y="3886200"/>
            <a:ext cx="3174442" cy="2590800"/>
          </a:xfrm>
        </p:spPr>
      </p:pic>
      <p:sp>
        <p:nvSpPr>
          <p:cNvPr id="2" name="Title 1"/>
          <p:cNvSpPr>
            <a:spLocks noGrp="1"/>
          </p:cNvSpPr>
          <p:nvPr>
            <p:ph type="title"/>
          </p:nvPr>
        </p:nvSpPr>
        <p:spPr/>
        <p:txBody>
          <a:bodyPr>
            <a:normAutofit fontScale="90000"/>
          </a:bodyPr>
          <a:lstStyle/>
          <a:p>
            <a:pPr algn="ctr"/>
            <a:r>
              <a:rPr lang="en-US" sz="2800" dirty="0" smtClean="0"/>
              <a:t>Measuring torque using belt dynamometer	</a:t>
            </a:r>
            <a:br>
              <a:rPr lang="en-US" sz="2800" dirty="0" smtClean="0"/>
            </a:br>
            <a:r>
              <a:rPr lang="en-US" sz="2800" dirty="0" smtClean="0"/>
              <a:t/>
            </a:r>
            <a:br>
              <a:rPr lang="en-US" sz="2800" dirty="0" smtClean="0"/>
            </a:br>
            <a:r>
              <a:rPr lang="en-US" sz="2800" dirty="0" smtClean="0"/>
              <a:t/>
            </a:r>
            <a:br>
              <a:rPr lang="en-US" sz="2800" dirty="0" smtClean="0"/>
            </a:br>
            <a:r>
              <a:rPr lang="en-US" sz="2800" dirty="0" smtClean="0"/>
              <a:t>Torque, T= (T</a:t>
            </a:r>
            <a:r>
              <a:rPr lang="en-US" sz="2800" baseline="-25000" dirty="0" smtClean="0"/>
              <a:t>1</a:t>
            </a:r>
            <a:r>
              <a:rPr lang="en-US" sz="2800" dirty="0" smtClean="0"/>
              <a:t>-T</a:t>
            </a:r>
            <a:r>
              <a:rPr lang="en-US" sz="2800" baseline="-25000" dirty="0" smtClean="0"/>
              <a:t>2</a:t>
            </a:r>
            <a:r>
              <a:rPr lang="en-US" sz="2800" dirty="0" smtClean="0"/>
              <a:t> ) R</a:t>
            </a:r>
            <a:br>
              <a:rPr lang="en-US" sz="2800" dirty="0" smtClean="0"/>
            </a:br>
            <a:r>
              <a:rPr lang="en-US" sz="2800" dirty="0" smtClean="0"/>
              <a:t>T</a:t>
            </a:r>
            <a:r>
              <a:rPr lang="en-US" sz="2800" baseline="-25000" dirty="0" smtClean="0"/>
              <a:t>1= </a:t>
            </a:r>
            <a:r>
              <a:rPr lang="en-US" sz="2800" dirty="0" smtClean="0"/>
              <a:t>tension on tight side, in m</a:t>
            </a:r>
            <a:r>
              <a:rPr lang="en-US" sz="2800" baseline="-25000" dirty="0" smtClean="0"/>
              <a:t/>
            </a:r>
            <a:br>
              <a:rPr lang="en-US" sz="2800" baseline="-25000" dirty="0" smtClean="0"/>
            </a:br>
            <a:r>
              <a:rPr lang="en-US" sz="2800" dirty="0" smtClean="0"/>
              <a:t>T</a:t>
            </a:r>
            <a:r>
              <a:rPr lang="en-US" sz="2800" baseline="-25000" dirty="0" smtClean="0"/>
              <a:t>2= </a:t>
            </a:r>
            <a:r>
              <a:rPr lang="en-US" sz="2800" dirty="0" smtClean="0"/>
              <a:t>tension on slack side, in m</a:t>
            </a:r>
            <a:br>
              <a:rPr lang="en-US" sz="2800" dirty="0" smtClean="0"/>
            </a:br>
            <a:r>
              <a:rPr lang="en-US" sz="2800" dirty="0" smtClean="0"/>
              <a:t>R= radius of pulley</a:t>
            </a:r>
            <a:r>
              <a:rPr lang="en-US" sz="2800" baseline="-25000" dirty="0" smtClean="0"/>
              <a:t/>
            </a:r>
            <a:br>
              <a:rPr lang="en-US" sz="2800" baseline="-25000" dirty="0" smtClean="0"/>
            </a:br>
            <a:r>
              <a:rPr lang="en-US" sz="2800" dirty="0" smtClean="0"/>
              <a:t/>
            </a:r>
            <a:br>
              <a:rPr lang="en-US" sz="2800" dirty="0" smtClean="0"/>
            </a:br>
            <a:r>
              <a:rPr lang="en-US" sz="2800" dirty="0" smtClean="0"/>
              <a:t/>
            </a:r>
            <a:br>
              <a:rPr lang="en-US" sz="2800" dirty="0" smtClean="0"/>
            </a:br>
            <a:r>
              <a:rPr lang="en-US" sz="2800" baseline="-25000" dirty="0" smtClean="0"/>
              <a:t/>
            </a:r>
            <a:br>
              <a:rPr lang="en-US" sz="2800" baseline="-25000" dirty="0" smtClean="0"/>
            </a:br>
            <a:endParaRPr lang="en-US" sz="2800" dirty="0"/>
          </a:p>
        </p:txBody>
      </p:sp>
    </p:spTree>
  </p:cSld>
  <p:clrMapOvr>
    <a:masterClrMapping/>
  </p:clrMapOvr>
  <p:transition>
    <p:strips dir="l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295400"/>
            <a:ext cx="7772400" cy="5060160"/>
          </a:xfrm>
        </p:spPr>
        <p:txBody>
          <a:bodyPr/>
          <a:lstStyle/>
          <a:p>
            <a:pPr>
              <a:buNone/>
            </a:pPr>
            <a:r>
              <a:rPr lang="en-US" dirty="0" smtClean="0"/>
              <a:t>FP (in KW )= IP-BP</a:t>
            </a:r>
          </a:p>
          <a:p>
            <a:pPr>
              <a:buNone/>
            </a:pPr>
            <a:endParaRPr lang="en-US" dirty="0" smtClean="0"/>
          </a:p>
          <a:p>
            <a:pPr marL="582930" indent="-514350">
              <a:buFont typeface="+mj-lt"/>
              <a:buAutoNum type="arabicParenR" startAt="5"/>
            </a:pPr>
            <a:r>
              <a:rPr lang="en-US" sz="3200" dirty="0" smtClean="0"/>
              <a:t>Mechanical Efficiency</a:t>
            </a:r>
            <a:r>
              <a:rPr lang="en-US" dirty="0" smtClean="0"/>
              <a:t>, </a:t>
            </a:r>
          </a:p>
          <a:p>
            <a:pPr marL="582930" indent="-514350" algn="ctr">
              <a:buNone/>
            </a:pPr>
            <a:r>
              <a:rPr lang="en-US" dirty="0" smtClean="0"/>
              <a:t>   </a:t>
            </a:r>
          </a:p>
          <a:p>
            <a:pPr>
              <a:buNone/>
            </a:pPr>
            <a:r>
              <a:rPr lang="en-US" dirty="0" smtClean="0"/>
              <a:t> </a:t>
            </a:r>
            <a:endParaRPr lang="en-US" dirty="0"/>
          </a:p>
        </p:txBody>
      </p:sp>
      <p:sp>
        <p:nvSpPr>
          <p:cNvPr id="2" name="Title 1"/>
          <p:cNvSpPr>
            <a:spLocks noGrp="1"/>
          </p:cNvSpPr>
          <p:nvPr>
            <p:ph type="title"/>
          </p:nvPr>
        </p:nvSpPr>
        <p:spPr>
          <a:xfrm>
            <a:off x="914400" y="512064"/>
            <a:ext cx="7772400" cy="935736"/>
          </a:xfrm>
        </p:spPr>
        <p:txBody>
          <a:bodyPr>
            <a:normAutofit fontScale="90000"/>
          </a:bodyPr>
          <a:lstStyle/>
          <a:p>
            <a:pPr marL="742950" indent="-742950">
              <a:buFont typeface="+mj-lt"/>
              <a:buAutoNum type="arabicParenR" startAt="4"/>
            </a:pPr>
            <a:r>
              <a:rPr lang="en-US" dirty="0" smtClean="0"/>
              <a:t>Frictional Power, FP </a:t>
            </a:r>
            <a:br>
              <a:rPr lang="en-US" dirty="0" smtClean="0"/>
            </a:br>
            <a:endParaRPr lang="en-US" dirty="0"/>
          </a:p>
        </p:txBody>
      </p:sp>
      <p:pic>
        <p:nvPicPr>
          <p:cNvPr id="4" name="Picture 3" descr="mech eff.PNG"/>
          <p:cNvPicPr>
            <a:picLocks noChangeAspect="1"/>
          </p:cNvPicPr>
          <p:nvPr/>
        </p:nvPicPr>
        <p:blipFill>
          <a:blip r:embed="rId2"/>
          <a:stretch>
            <a:fillRect/>
          </a:stretch>
        </p:blipFill>
        <p:spPr>
          <a:xfrm>
            <a:off x="990600" y="3276600"/>
            <a:ext cx="3034145" cy="1676400"/>
          </a:xfrm>
          <a:prstGeom prst="rect">
            <a:avLst/>
          </a:prstGeom>
        </p:spPr>
      </p:pic>
      <p:pic>
        <p:nvPicPr>
          <p:cNvPr id="7" name="Picture 6" descr="The-basic-geometry-of-an-engine-cylinder-Combustion-of-fuel-and-air-in-the-combustion_Q640.jpg"/>
          <p:cNvPicPr>
            <a:picLocks noChangeAspect="1"/>
          </p:cNvPicPr>
          <p:nvPr/>
        </p:nvPicPr>
        <p:blipFill>
          <a:blip r:embed="rId3"/>
          <a:stretch>
            <a:fillRect/>
          </a:stretch>
        </p:blipFill>
        <p:spPr>
          <a:xfrm>
            <a:off x="5410200" y="1600200"/>
            <a:ext cx="3429000" cy="4419600"/>
          </a:xfrm>
          <a:prstGeom prst="rect">
            <a:avLst/>
          </a:prstGeom>
        </p:spPr>
      </p:pic>
    </p:spTree>
  </p:cSld>
  <p:clrMapOvr>
    <a:masterClrMapping/>
  </p:clrMapOvr>
  <p:transition>
    <p:strips dir="l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685800"/>
            <a:ext cx="7772400" cy="5669760"/>
          </a:xfrm>
        </p:spPr>
        <p:txBody>
          <a:bodyPr/>
          <a:lstStyle/>
          <a:p>
            <a:pPr marL="582930" indent="-514350">
              <a:buFont typeface="+mj-lt"/>
              <a:buAutoNum type="arabicPeriod" startAt="6"/>
            </a:pPr>
            <a:r>
              <a:rPr lang="en-US" dirty="0" smtClean="0"/>
              <a:t>Thermal efficiency</a:t>
            </a:r>
          </a:p>
          <a:p>
            <a:pPr marL="582930" indent="-514350" algn="just">
              <a:buNone/>
            </a:pPr>
            <a:endParaRPr lang="en-US" dirty="0" smtClean="0"/>
          </a:p>
          <a:p>
            <a:pPr marL="582930" indent="-514350" algn="just">
              <a:buNone/>
            </a:pPr>
            <a:endParaRPr lang="en-US" dirty="0" smtClean="0"/>
          </a:p>
          <a:p>
            <a:pPr marL="582930" indent="-514350" algn="just">
              <a:buNone/>
            </a:pPr>
            <a:r>
              <a:rPr lang="en-US" sz="2000" dirty="0" smtClean="0"/>
              <a:t>power output in kW       </a:t>
            </a:r>
          </a:p>
          <a:p>
            <a:pPr marL="582930" indent="-514350" algn="just">
              <a:buNone/>
            </a:pPr>
            <a:r>
              <a:rPr lang="en-US" dirty="0" smtClean="0"/>
              <a:t> </a:t>
            </a:r>
          </a:p>
          <a:p>
            <a:pPr marL="582930" indent="-514350" algn="just">
              <a:buNone/>
            </a:pPr>
            <a:r>
              <a:rPr lang="en-US" sz="2000" dirty="0" smtClean="0"/>
              <a:t>      </a:t>
            </a:r>
          </a:p>
          <a:p>
            <a:pPr marL="582930" indent="-514350" algn="just">
              <a:buNone/>
            </a:pPr>
            <a:r>
              <a:rPr lang="en-US" sz="2000" dirty="0" smtClean="0"/>
              <a:t> m</a:t>
            </a:r>
            <a:r>
              <a:rPr lang="en-US" sz="2000" baseline="-25000" dirty="0" smtClean="0"/>
              <a:t>f</a:t>
            </a:r>
            <a:r>
              <a:rPr lang="en-US" sz="2000" dirty="0" smtClean="0"/>
              <a:t> = mass of fuel flowing in kg/s     CV = calorific value </a:t>
            </a:r>
            <a:r>
              <a:rPr lang="en-US" sz="2000" smtClean="0"/>
              <a:t>of     						fuel  </a:t>
            </a:r>
            <a:r>
              <a:rPr lang="en-US" sz="2000" dirty="0" smtClean="0"/>
              <a:t>in kJ/kg 			</a:t>
            </a:r>
            <a:r>
              <a:rPr lang="en-US" sz="2000" smtClean="0"/>
              <a:t>	</a:t>
            </a:r>
            <a:endParaRPr lang="en-US" sz="2000" dirty="0" smtClean="0"/>
          </a:p>
          <a:p>
            <a:pPr marL="582930" indent="-514350" algn="ctr">
              <a:buNone/>
            </a:pPr>
            <a:r>
              <a:rPr lang="en-US" sz="2000" dirty="0" smtClean="0"/>
              <a:t>   </a:t>
            </a:r>
          </a:p>
          <a:p>
            <a:pPr marL="582930" indent="-514350" algn="just">
              <a:buNone/>
            </a:pPr>
            <a:r>
              <a:rPr lang="en-US" dirty="0" smtClean="0"/>
              <a:t>    </a:t>
            </a:r>
            <a:endParaRPr lang="en-US" dirty="0"/>
          </a:p>
        </p:txBody>
      </p:sp>
      <p:pic>
        <p:nvPicPr>
          <p:cNvPr id="4" name="Picture 3" descr="1.PNG"/>
          <p:cNvPicPr>
            <a:picLocks noChangeAspect="1"/>
          </p:cNvPicPr>
          <p:nvPr/>
        </p:nvPicPr>
        <p:blipFill>
          <a:blip r:embed="rId2"/>
          <a:stretch>
            <a:fillRect/>
          </a:stretch>
        </p:blipFill>
        <p:spPr>
          <a:xfrm>
            <a:off x="3581400" y="1166430"/>
            <a:ext cx="3657600" cy="1124636"/>
          </a:xfrm>
          <a:prstGeom prst="rect">
            <a:avLst/>
          </a:prstGeom>
        </p:spPr>
      </p:pic>
      <p:pic>
        <p:nvPicPr>
          <p:cNvPr id="5" name="Picture 4" descr="2.PNG"/>
          <p:cNvPicPr>
            <a:picLocks noChangeAspect="1"/>
          </p:cNvPicPr>
          <p:nvPr/>
        </p:nvPicPr>
        <p:blipFill>
          <a:blip r:embed="rId3"/>
          <a:stretch>
            <a:fillRect/>
          </a:stretch>
        </p:blipFill>
        <p:spPr>
          <a:xfrm>
            <a:off x="3886200" y="2438400"/>
            <a:ext cx="4553586" cy="876422"/>
          </a:xfrm>
          <a:prstGeom prst="rect">
            <a:avLst/>
          </a:prstGeom>
        </p:spPr>
      </p:pic>
      <p:pic>
        <p:nvPicPr>
          <p:cNvPr id="6" name="Picture 5" descr="4.PNG"/>
          <p:cNvPicPr>
            <a:picLocks noChangeAspect="1"/>
          </p:cNvPicPr>
          <p:nvPr/>
        </p:nvPicPr>
        <p:blipFill>
          <a:blip r:embed="rId4"/>
          <a:stretch>
            <a:fillRect/>
          </a:stretch>
        </p:blipFill>
        <p:spPr>
          <a:xfrm>
            <a:off x="1143000" y="4495800"/>
            <a:ext cx="2819400" cy="1358624"/>
          </a:xfrm>
          <a:prstGeom prst="rect">
            <a:avLst/>
          </a:prstGeom>
        </p:spPr>
      </p:pic>
      <p:pic>
        <p:nvPicPr>
          <p:cNvPr id="7" name="Picture 6" descr="5.PNG"/>
          <p:cNvPicPr>
            <a:picLocks noChangeAspect="1"/>
          </p:cNvPicPr>
          <p:nvPr/>
        </p:nvPicPr>
        <p:blipFill>
          <a:blip r:embed="rId5"/>
          <a:stretch>
            <a:fillRect/>
          </a:stretch>
        </p:blipFill>
        <p:spPr>
          <a:xfrm>
            <a:off x="5181600" y="4343400"/>
            <a:ext cx="2657846" cy="1533739"/>
          </a:xfrm>
          <a:prstGeom prst="rect">
            <a:avLst/>
          </a:prstGeom>
        </p:spPr>
      </p:pic>
    </p:spTree>
  </p:cSld>
  <p:clrMapOvr>
    <a:masterClrMapping/>
  </p:clrMapOvr>
  <p:transition>
    <p:strips dir="l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a:p>
            <a:pPr>
              <a:buNone/>
            </a:pPr>
            <a:endParaRPr lang="en-US" dirty="0" smtClean="0"/>
          </a:p>
        </p:txBody>
      </p:sp>
      <p:sp>
        <p:nvSpPr>
          <p:cNvPr id="2" name="Title 1"/>
          <p:cNvSpPr>
            <a:spLocks noGrp="1"/>
          </p:cNvSpPr>
          <p:nvPr>
            <p:ph type="title"/>
          </p:nvPr>
        </p:nvSpPr>
        <p:spPr>
          <a:xfrm>
            <a:off x="914400" y="512064"/>
            <a:ext cx="7772400" cy="783336"/>
          </a:xfrm>
        </p:spPr>
        <p:txBody>
          <a:bodyPr>
            <a:normAutofit fontScale="90000"/>
          </a:bodyPr>
          <a:lstStyle/>
          <a:p>
            <a:r>
              <a:rPr lang="en-US" dirty="0" smtClean="0"/>
              <a:t>Specific fuel consumption</a:t>
            </a:r>
            <a:br>
              <a:rPr lang="en-US" dirty="0" smtClean="0"/>
            </a:br>
            <a:r>
              <a:rPr lang="en-US" dirty="0" smtClean="0"/>
              <a:t/>
            </a:r>
            <a:br>
              <a:rPr lang="en-US" dirty="0" smtClean="0"/>
            </a:br>
            <a:endParaRPr lang="en-US" dirty="0"/>
          </a:p>
        </p:txBody>
      </p:sp>
      <p:pic>
        <p:nvPicPr>
          <p:cNvPr id="6" name="Picture 5" descr="sfc.PNG"/>
          <p:cNvPicPr>
            <a:picLocks noChangeAspect="1"/>
          </p:cNvPicPr>
          <p:nvPr/>
        </p:nvPicPr>
        <p:blipFill>
          <a:blip r:embed="rId2"/>
          <a:stretch>
            <a:fillRect/>
          </a:stretch>
        </p:blipFill>
        <p:spPr>
          <a:xfrm>
            <a:off x="2667000" y="1676400"/>
            <a:ext cx="3762900" cy="1600423"/>
          </a:xfrm>
          <a:prstGeom prst="rect">
            <a:avLst/>
          </a:prstGeom>
        </p:spPr>
      </p:pic>
      <p:sp>
        <p:nvSpPr>
          <p:cNvPr id="8" name="Rectangle 7"/>
          <p:cNvSpPr/>
          <p:nvPr/>
        </p:nvSpPr>
        <p:spPr>
          <a:xfrm>
            <a:off x="685800" y="3505200"/>
            <a:ext cx="8229600" cy="1569660"/>
          </a:xfrm>
          <a:prstGeom prst="rect">
            <a:avLst/>
          </a:prstGeom>
        </p:spPr>
        <p:txBody>
          <a:bodyPr wrap="square">
            <a:spAutoFit/>
          </a:bodyPr>
          <a:lstStyle/>
          <a:p>
            <a:r>
              <a:rPr lang="en-US" sz="3200" dirty="0" smtClean="0"/>
              <a:t> m</a:t>
            </a:r>
            <a:r>
              <a:rPr lang="en-US" sz="3200" baseline="-25000" dirty="0" smtClean="0"/>
              <a:t>f</a:t>
            </a:r>
            <a:r>
              <a:rPr lang="en-US" sz="3200" dirty="0" smtClean="0"/>
              <a:t> = mass of fuel flowing in kg/h , power output is in kW</a:t>
            </a:r>
          </a:p>
          <a:p>
            <a:r>
              <a:rPr lang="en-US" sz="3200" dirty="0" smtClean="0"/>
              <a:t>It could be either IP or BP</a:t>
            </a:r>
            <a:endParaRPr lang="en-US" sz="3200" dirty="0"/>
          </a:p>
        </p:txBody>
      </p:sp>
    </p:spTree>
  </p:cSld>
  <p:clrMapOvr>
    <a:masterClrMapping/>
  </p:clrMapOvr>
  <p:transition>
    <p:strips dir="l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371600"/>
            <a:ext cx="7772400" cy="4983960"/>
          </a:xfrm>
        </p:spPr>
        <p:txBody>
          <a:bodyPr/>
          <a:lstStyle/>
          <a:p>
            <a:pPr>
              <a:buNone/>
            </a:pPr>
            <a:r>
              <a:rPr lang="en-US" dirty="0" smtClean="0"/>
              <a:t>Problem  1:</a:t>
            </a:r>
          </a:p>
          <a:p>
            <a:pPr>
              <a:buNone/>
            </a:pPr>
            <a:r>
              <a:rPr lang="en-US" b="1" i="1" dirty="0" smtClean="0"/>
              <a:t>A  four stroke diesel engine has a piston diameter 250mm and stroke  400mm. The  mean effective pressure is 04 bars and speed is 500 rpm. The diameter of brake drum is 1000mm and the effective brake load is 400N.</a:t>
            </a:r>
          </a:p>
          <a:p>
            <a:pPr>
              <a:buNone/>
            </a:pPr>
            <a:r>
              <a:rPr lang="en-US" b="1" i="1" dirty="0" smtClean="0"/>
              <a:t>Find IP,BP and FP</a:t>
            </a:r>
            <a:endParaRPr lang="en-US" b="1" i="1" dirty="0"/>
          </a:p>
        </p:txBody>
      </p:sp>
      <p:sp>
        <p:nvSpPr>
          <p:cNvPr id="2" name="Title 1"/>
          <p:cNvSpPr>
            <a:spLocks noGrp="1"/>
          </p:cNvSpPr>
          <p:nvPr>
            <p:ph type="title"/>
          </p:nvPr>
        </p:nvSpPr>
        <p:spPr/>
        <p:txBody>
          <a:bodyPr/>
          <a:lstStyle/>
          <a:p>
            <a:pPr algn="ctr"/>
            <a:r>
              <a:rPr lang="en-US" dirty="0" err="1" smtClean="0"/>
              <a:t>Numericals</a:t>
            </a:r>
            <a:endParaRPr lang="en-US" dirty="0"/>
          </a:p>
        </p:txBody>
      </p:sp>
    </p:spTree>
  </p:cSld>
  <p:clrMapOvr>
    <a:masterClrMapping/>
  </p:clrMapOvr>
  <p:transition>
    <p:strips dir="l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304800"/>
            <a:ext cx="7772400" cy="6050760"/>
          </a:xfrm>
        </p:spPr>
        <p:txBody>
          <a:bodyPr>
            <a:normAutofit fontScale="62500" lnSpcReduction="20000"/>
          </a:bodyPr>
          <a:lstStyle/>
          <a:p>
            <a:r>
              <a:rPr lang="en-US" dirty="0" smtClean="0"/>
              <a:t>Solution:</a:t>
            </a:r>
          </a:p>
          <a:p>
            <a:pPr>
              <a:buNone/>
            </a:pPr>
            <a:r>
              <a:rPr lang="en-US" dirty="0" smtClean="0"/>
              <a:t> d= 250mm   L= 400mm        P</a:t>
            </a:r>
            <a:r>
              <a:rPr lang="en-US" baseline="-25000" dirty="0" smtClean="0"/>
              <a:t>m </a:t>
            </a:r>
            <a:r>
              <a:rPr lang="en-US" dirty="0" smtClean="0"/>
              <a:t> = 4 bars      N= 500 rpm</a:t>
            </a:r>
          </a:p>
          <a:p>
            <a:pPr>
              <a:buNone/>
            </a:pPr>
            <a:r>
              <a:rPr lang="en-US" dirty="0" smtClean="0"/>
              <a:t>      =0.25 m          = 0.4 m</a:t>
            </a:r>
          </a:p>
          <a:p>
            <a:pPr>
              <a:buNone/>
            </a:pPr>
            <a:r>
              <a:rPr lang="en-US" dirty="0" smtClean="0"/>
              <a:t> </a:t>
            </a:r>
          </a:p>
          <a:p>
            <a:pPr>
              <a:buNone/>
            </a:pPr>
            <a:endParaRPr lang="en-US" dirty="0" smtClean="0"/>
          </a:p>
          <a:p>
            <a:pPr>
              <a:buNone/>
            </a:pPr>
            <a:endParaRPr lang="en-US" dirty="0" smtClean="0"/>
          </a:p>
          <a:p>
            <a:pPr>
              <a:buNone/>
            </a:pPr>
            <a:endParaRPr lang="en-US" dirty="0" smtClean="0"/>
          </a:p>
          <a:p>
            <a:pPr>
              <a:buNone/>
            </a:pPr>
            <a:r>
              <a:rPr lang="en-US" dirty="0" smtClean="0"/>
              <a:t> IP=  (1) (4) (0.4)( </a:t>
            </a:r>
            <a:r>
              <a:rPr lang="el-GR" dirty="0" smtClean="0"/>
              <a:t>π</a:t>
            </a:r>
            <a:r>
              <a:rPr lang="en-US" dirty="0" smtClean="0"/>
              <a:t>* 0.25</a:t>
            </a:r>
            <a:r>
              <a:rPr lang="en-US" baseline="30000" dirty="0" smtClean="0"/>
              <a:t>2 </a:t>
            </a:r>
            <a:r>
              <a:rPr lang="en-US" dirty="0" smtClean="0"/>
              <a:t> /4</a:t>
            </a:r>
            <a:r>
              <a:rPr lang="en-US" baseline="30000" dirty="0" smtClean="0"/>
              <a:t> </a:t>
            </a:r>
            <a:r>
              <a:rPr lang="en-US" dirty="0" smtClean="0"/>
              <a:t> ) (500)(1/2) (10/6)</a:t>
            </a:r>
          </a:p>
          <a:p>
            <a:pPr>
              <a:buNone/>
            </a:pPr>
            <a:r>
              <a:rPr lang="en-US" dirty="0" smtClean="0"/>
              <a:t>  IP = 32.67 kW</a:t>
            </a:r>
          </a:p>
          <a:p>
            <a:pPr>
              <a:buNone/>
            </a:pPr>
            <a:endParaRPr lang="en-US" dirty="0" smtClean="0"/>
          </a:p>
          <a:p>
            <a:pPr>
              <a:buNone/>
            </a:pPr>
            <a:r>
              <a:rPr lang="en-US" dirty="0" smtClean="0"/>
              <a:t>BP= (2</a:t>
            </a:r>
            <a:r>
              <a:rPr lang="el-GR" dirty="0" smtClean="0"/>
              <a:t> π</a:t>
            </a:r>
            <a:r>
              <a:rPr lang="en-US" dirty="0" smtClean="0"/>
              <a:t> N T)/ 60,000						  </a:t>
            </a:r>
          </a:p>
          <a:p>
            <a:pPr>
              <a:buNone/>
            </a:pPr>
            <a:endParaRPr lang="en-US" dirty="0" smtClean="0"/>
          </a:p>
          <a:p>
            <a:pPr>
              <a:buNone/>
            </a:pPr>
            <a:r>
              <a:rPr lang="en-US" dirty="0" smtClean="0"/>
              <a:t>T= (W-S) R </a:t>
            </a:r>
          </a:p>
          <a:p>
            <a:pPr>
              <a:buNone/>
            </a:pPr>
            <a:r>
              <a:rPr lang="en-US" dirty="0" smtClean="0"/>
              <a:t>		= ( 400) 0.5 = 200N-m</a:t>
            </a:r>
          </a:p>
          <a:p>
            <a:pPr>
              <a:buNone/>
            </a:pPr>
            <a:endParaRPr lang="en-US" dirty="0" smtClean="0"/>
          </a:p>
          <a:p>
            <a:pPr>
              <a:buNone/>
            </a:pPr>
            <a:r>
              <a:rPr lang="en-US" dirty="0" smtClean="0"/>
              <a:t>BP= (2 </a:t>
            </a:r>
            <a:r>
              <a:rPr lang="el-GR" dirty="0" smtClean="0"/>
              <a:t>π</a:t>
            </a:r>
            <a:r>
              <a:rPr lang="en-US" dirty="0" smtClean="0"/>
              <a:t> * 500* 200)/ 60,000</a:t>
            </a:r>
          </a:p>
          <a:p>
            <a:pPr>
              <a:buNone/>
            </a:pPr>
            <a:r>
              <a:rPr lang="en-US" dirty="0" smtClean="0"/>
              <a:t>  BP= 10.47 kW    </a:t>
            </a:r>
          </a:p>
          <a:p>
            <a:pPr>
              <a:buNone/>
            </a:pPr>
            <a:r>
              <a:rPr lang="en-US" dirty="0" smtClean="0"/>
              <a:t>			FP= IP-BP =32.67 - 10.47</a:t>
            </a:r>
          </a:p>
          <a:p>
            <a:pPr>
              <a:buNone/>
            </a:pPr>
            <a:r>
              <a:rPr lang="en-US" dirty="0" smtClean="0"/>
              <a:t>			FP= 22.20 kW</a:t>
            </a:r>
          </a:p>
          <a:p>
            <a:pPr>
              <a:buNone/>
            </a:pPr>
            <a:endParaRPr lang="en-US" dirty="0" smtClean="0"/>
          </a:p>
          <a:p>
            <a:pPr>
              <a:buNone/>
            </a:pPr>
            <a:r>
              <a:rPr lang="en-US" dirty="0" smtClean="0"/>
              <a:t>	</a:t>
            </a:r>
          </a:p>
          <a:p>
            <a:pPr>
              <a:buNone/>
            </a:pPr>
            <a:endParaRPr lang="en-US" dirty="0" smtClean="0"/>
          </a:p>
        </p:txBody>
      </p:sp>
      <p:pic>
        <p:nvPicPr>
          <p:cNvPr id="4" name="Picture 3" descr="ip.PNG"/>
          <p:cNvPicPr>
            <a:picLocks noChangeAspect="1"/>
          </p:cNvPicPr>
          <p:nvPr/>
        </p:nvPicPr>
        <p:blipFill>
          <a:blip r:embed="rId2"/>
          <a:stretch>
            <a:fillRect/>
          </a:stretch>
        </p:blipFill>
        <p:spPr>
          <a:xfrm>
            <a:off x="2895600" y="1219200"/>
            <a:ext cx="4467849" cy="838200"/>
          </a:xfrm>
          <a:prstGeom prst="rect">
            <a:avLst/>
          </a:prstGeom>
        </p:spPr>
      </p:pic>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iterate type="wd">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iterate type="wd">
                                    <p:tmPct val="10000"/>
                                  </p:iterate>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amond(in)">
                                      <p:cBhvr>
                                        <p:cTn id="18" dur="20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iterate type="wd">
                                    <p:tmPct val="10000"/>
                                  </p:iterate>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ox(in)">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8" presetClass="entr" presetSubtype="16" fill="hold" nodeType="clickEffect">
                                  <p:stCondLst>
                                    <p:cond delay="0"/>
                                  </p:stCondLst>
                                  <p:iterate type="wd">
                                    <p:tmPct val="10000"/>
                                  </p:iterate>
                                  <p:childTnLst>
                                    <p:set>
                                      <p:cBhvr>
                                        <p:cTn id="27" dur="1" fill="hold">
                                          <p:stCondLst>
                                            <p:cond delay="0"/>
                                          </p:stCondLst>
                                        </p:cTn>
                                        <p:tgtEl>
                                          <p:spTgt spid="3">
                                            <p:txEl>
                                              <p:pRg st="7" end="7"/>
                                            </p:txEl>
                                          </p:spTgt>
                                        </p:tgtEl>
                                        <p:attrNameLst>
                                          <p:attrName>style.visibility</p:attrName>
                                        </p:attrNameLst>
                                      </p:cBhvr>
                                      <p:to>
                                        <p:strVal val="visible"/>
                                      </p:to>
                                    </p:set>
                                    <p:animEffect transition="in" filter="diamond(in)">
                                      <p:cBhvr>
                                        <p:cTn id="28" dur="20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iterate type="lt">
                                    <p:tmPct val="10000"/>
                                  </p:iterate>
                                  <p:childTnLst>
                                    <p:set>
                                      <p:cBhvr>
                                        <p:cTn id="32" dur="1" fill="hold">
                                          <p:stCondLst>
                                            <p:cond delay="0"/>
                                          </p:stCondLst>
                                        </p:cTn>
                                        <p:tgtEl>
                                          <p:spTgt spid="3">
                                            <p:txEl>
                                              <p:pRg st="8" end="8"/>
                                            </p:txEl>
                                          </p:spTgt>
                                        </p:tgtEl>
                                        <p:attrNameLst>
                                          <p:attrName>style.visibility</p:attrName>
                                        </p:attrNameLst>
                                      </p:cBhvr>
                                      <p:to>
                                        <p:strVal val="visible"/>
                                      </p:to>
                                    </p:set>
                                    <p:animEffect transition="in" filter="wipe(down)">
                                      <p:cBhvr>
                                        <p:cTn id="33" dur="500"/>
                                        <p:tgtEl>
                                          <p:spTgt spid="3">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nodeType="clickEffect">
                                  <p:stCondLst>
                                    <p:cond delay="0"/>
                                  </p:stCondLst>
                                  <p:iterate type="wd">
                                    <p:tmPct val="10000"/>
                                  </p:iterate>
                                  <p:childTnLst>
                                    <p:set>
                                      <p:cBhvr>
                                        <p:cTn id="37" dur="1" fill="hold">
                                          <p:stCondLst>
                                            <p:cond delay="0"/>
                                          </p:stCondLst>
                                        </p:cTn>
                                        <p:tgtEl>
                                          <p:spTgt spid="3">
                                            <p:txEl>
                                              <p:pRg st="10" end="10"/>
                                            </p:txEl>
                                          </p:spTgt>
                                        </p:tgtEl>
                                        <p:attrNameLst>
                                          <p:attrName>style.visibility</p:attrName>
                                        </p:attrNameLst>
                                      </p:cBhvr>
                                      <p:to>
                                        <p:strVal val="visible"/>
                                      </p:to>
                                    </p:set>
                                    <p:animEffect transition="in" filter="checkerboard(across)">
                                      <p:cBhvr>
                                        <p:cTn id="38" dur="500"/>
                                        <p:tgtEl>
                                          <p:spTgt spid="3">
                                            <p:txEl>
                                              <p:pRg st="10" end="1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iterate type="wd">
                                    <p:tmPct val="10000"/>
                                  </p:iterate>
                                  <p:childTnLst>
                                    <p:set>
                                      <p:cBhvr>
                                        <p:cTn id="42" dur="1" fill="hold">
                                          <p:stCondLst>
                                            <p:cond delay="0"/>
                                          </p:stCondLst>
                                        </p:cTn>
                                        <p:tgtEl>
                                          <p:spTgt spid="3">
                                            <p:txEl>
                                              <p:pRg st="12" end="12"/>
                                            </p:txEl>
                                          </p:spTgt>
                                        </p:tgtEl>
                                        <p:attrNameLst>
                                          <p:attrName>style.visibility</p:attrName>
                                        </p:attrNameLst>
                                      </p:cBhvr>
                                      <p:to>
                                        <p:strVal val="visible"/>
                                      </p:to>
                                    </p:set>
                                    <p:animEffect transition="in" filter="dissolve">
                                      <p:cBhvr>
                                        <p:cTn id="43" dur="500"/>
                                        <p:tgtEl>
                                          <p:spTgt spid="3">
                                            <p:txEl>
                                              <p:pRg st="12" end="1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iterate type="wd">
                                    <p:tmPct val="10000"/>
                                  </p:iterate>
                                  <p:childTnLst>
                                    <p:set>
                                      <p:cBhvr>
                                        <p:cTn id="47" dur="1" fill="hold">
                                          <p:stCondLst>
                                            <p:cond delay="0"/>
                                          </p:stCondLst>
                                        </p:cTn>
                                        <p:tgtEl>
                                          <p:spTgt spid="3">
                                            <p:txEl>
                                              <p:pRg st="13" end="13"/>
                                            </p:txEl>
                                          </p:spTgt>
                                        </p:tgtEl>
                                        <p:attrNameLst>
                                          <p:attrName>style.visibility</p:attrName>
                                        </p:attrNameLst>
                                      </p:cBhvr>
                                      <p:to>
                                        <p:strVal val="visible"/>
                                      </p:to>
                                    </p:set>
                                    <p:animEffect transition="in" filter="dissolve">
                                      <p:cBhvr>
                                        <p:cTn id="48" dur="500"/>
                                        <p:tgtEl>
                                          <p:spTgt spid="3">
                                            <p:txEl>
                                              <p:pRg st="13" end="1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5" presetClass="entr" presetSubtype="10" fill="hold" nodeType="clickEffect">
                                  <p:stCondLst>
                                    <p:cond delay="0"/>
                                  </p:stCondLst>
                                  <p:iterate type="wd">
                                    <p:tmPct val="10000"/>
                                  </p:iterate>
                                  <p:childTnLst>
                                    <p:set>
                                      <p:cBhvr>
                                        <p:cTn id="52" dur="1" fill="hold">
                                          <p:stCondLst>
                                            <p:cond delay="0"/>
                                          </p:stCondLst>
                                        </p:cTn>
                                        <p:tgtEl>
                                          <p:spTgt spid="3">
                                            <p:txEl>
                                              <p:pRg st="15" end="15"/>
                                            </p:txEl>
                                          </p:spTgt>
                                        </p:tgtEl>
                                        <p:attrNameLst>
                                          <p:attrName>style.visibility</p:attrName>
                                        </p:attrNameLst>
                                      </p:cBhvr>
                                      <p:to>
                                        <p:strVal val="visible"/>
                                      </p:to>
                                    </p:set>
                                    <p:animEffect transition="in" filter="checkerboard(across)">
                                      <p:cBhvr>
                                        <p:cTn id="53" dur="500"/>
                                        <p:tgtEl>
                                          <p:spTgt spid="3">
                                            <p:txEl>
                                              <p:pRg st="15" end="15"/>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16" fill="hold" nodeType="clickEffect">
                                  <p:stCondLst>
                                    <p:cond delay="0"/>
                                  </p:stCondLst>
                                  <p:iterate type="wd">
                                    <p:tmPct val="10000"/>
                                  </p:iterate>
                                  <p:childTnLst>
                                    <p:set>
                                      <p:cBhvr>
                                        <p:cTn id="57" dur="1" fill="hold">
                                          <p:stCondLst>
                                            <p:cond delay="0"/>
                                          </p:stCondLst>
                                        </p:cTn>
                                        <p:tgtEl>
                                          <p:spTgt spid="3">
                                            <p:txEl>
                                              <p:pRg st="16" end="16"/>
                                            </p:txEl>
                                          </p:spTgt>
                                        </p:tgtEl>
                                        <p:attrNameLst>
                                          <p:attrName>style.visibility</p:attrName>
                                        </p:attrNameLst>
                                      </p:cBhvr>
                                      <p:to>
                                        <p:strVal val="visible"/>
                                      </p:to>
                                    </p:set>
                                    <p:animEffect transition="in" filter="box(in)">
                                      <p:cBhvr>
                                        <p:cTn id="58" dur="500"/>
                                        <p:tgtEl>
                                          <p:spTgt spid="3">
                                            <p:txEl>
                                              <p:pRg st="16" end="1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8" presetClass="entr" presetSubtype="16" fill="hold" nodeType="clickEffect">
                                  <p:stCondLst>
                                    <p:cond delay="0"/>
                                  </p:stCondLst>
                                  <p:iterate type="lt">
                                    <p:tmPct val="10000"/>
                                  </p:iterate>
                                  <p:childTnLst>
                                    <p:set>
                                      <p:cBhvr>
                                        <p:cTn id="62" dur="1" fill="hold">
                                          <p:stCondLst>
                                            <p:cond delay="0"/>
                                          </p:stCondLst>
                                        </p:cTn>
                                        <p:tgtEl>
                                          <p:spTgt spid="3">
                                            <p:txEl>
                                              <p:pRg st="17" end="17"/>
                                            </p:txEl>
                                          </p:spTgt>
                                        </p:tgtEl>
                                        <p:attrNameLst>
                                          <p:attrName>style.visibility</p:attrName>
                                        </p:attrNameLst>
                                      </p:cBhvr>
                                      <p:to>
                                        <p:strVal val="visible"/>
                                      </p:to>
                                    </p:set>
                                    <p:animEffect transition="in" filter="diamond(in)">
                                      <p:cBhvr>
                                        <p:cTn id="63" dur="2000"/>
                                        <p:tgtEl>
                                          <p:spTgt spid="3">
                                            <p:txEl>
                                              <p:pRg st="17" end="17"/>
                                            </p:txEl>
                                          </p:spTgt>
                                        </p:tgtEl>
                                      </p:cBhvr>
                                    </p:animEffect>
                                  </p:childTnLst>
                                </p:cTn>
                              </p:par>
                              <p:par>
                                <p:cTn id="64" presetID="8" presetClass="entr" presetSubtype="16" fill="hold" nodeType="withEffect">
                                  <p:stCondLst>
                                    <p:cond delay="0"/>
                                  </p:stCondLst>
                                  <p:iterate type="lt">
                                    <p:tmPct val="10000"/>
                                  </p:iterate>
                                  <p:childTnLst>
                                    <p:set>
                                      <p:cBhvr>
                                        <p:cTn id="65" dur="1" fill="hold">
                                          <p:stCondLst>
                                            <p:cond delay="0"/>
                                          </p:stCondLst>
                                        </p:cTn>
                                        <p:tgtEl>
                                          <p:spTgt spid="3">
                                            <p:txEl>
                                              <p:pRg st="18" end="18"/>
                                            </p:txEl>
                                          </p:spTgt>
                                        </p:tgtEl>
                                        <p:attrNameLst>
                                          <p:attrName>style.visibility</p:attrName>
                                        </p:attrNameLst>
                                      </p:cBhvr>
                                      <p:to>
                                        <p:strVal val="visible"/>
                                      </p:to>
                                    </p:set>
                                    <p:animEffect transition="in" filter="diamond(in)">
                                      <p:cBhvr>
                                        <p:cTn id="66" dur="2000"/>
                                        <p:tgtEl>
                                          <p:spTgt spid="3">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533400"/>
            <a:ext cx="7772400" cy="5822160"/>
          </a:xfrm>
        </p:spPr>
        <p:txBody>
          <a:bodyPr/>
          <a:lstStyle/>
          <a:p>
            <a:pPr>
              <a:buNone/>
            </a:pPr>
            <a:r>
              <a:rPr lang="en-US" dirty="0" smtClean="0"/>
              <a:t>Problem 2:</a:t>
            </a:r>
          </a:p>
          <a:p>
            <a:pPr>
              <a:buNone/>
            </a:pPr>
            <a:r>
              <a:rPr lang="en-US" dirty="0" smtClean="0"/>
              <a:t> </a:t>
            </a:r>
            <a:r>
              <a:rPr lang="en-US" sz="3600" dirty="0" smtClean="0"/>
              <a:t>A single cylinder 4-s engine runs at 1000rpm and has a bore of  115 mm and stroke of 140mm. Brake load is 60N at 600mm radius and mechanical efficiency is 80%.</a:t>
            </a:r>
          </a:p>
          <a:p>
            <a:pPr>
              <a:buNone/>
            </a:pPr>
            <a:r>
              <a:rPr lang="en-US" sz="3600" dirty="0" smtClean="0"/>
              <a:t>Calculate the brake power and mean effective pressure</a:t>
            </a:r>
          </a:p>
        </p:txBody>
      </p:sp>
    </p:spTree>
  </p:cSld>
  <p:clrMapOvr>
    <a:masterClrMapping/>
  </p:clrMapOvr>
  <p:transition>
    <p:strips dir="l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304800"/>
            <a:ext cx="7772400" cy="6050760"/>
          </a:xfrm>
        </p:spPr>
        <p:txBody>
          <a:bodyPr>
            <a:normAutofit lnSpcReduction="10000"/>
          </a:bodyPr>
          <a:lstStyle/>
          <a:p>
            <a:r>
              <a:rPr lang="en-US" dirty="0" smtClean="0"/>
              <a:t>Solution:</a:t>
            </a:r>
          </a:p>
          <a:p>
            <a:pPr>
              <a:buNone/>
            </a:pPr>
            <a:r>
              <a:rPr lang="en-US" dirty="0" smtClean="0"/>
              <a:t>4s engine, k=1/2      N=1000rpm</a:t>
            </a:r>
          </a:p>
          <a:p>
            <a:pPr>
              <a:buNone/>
            </a:pPr>
            <a:r>
              <a:rPr lang="en-US" dirty="0" smtClean="0"/>
              <a:t>d=115mm=0.115m        L= 140mm=0.14m </a:t>
            </a:r>
          </a:p>
          <a:p>
            <a:pPr>
              <a:buNone/>
            </a:pPr>
            <a:r>
              <a:rPr lang="en-US" dirty="0" smtClean="0"/>
              <a:t>(W-S) = 60N	R= 600mm=0.6m   </a:t>
            </a:r>
            <a:r>
              <a:rPr lang="el-GR" dirty="0" smtClean="0"/>
              <a:t>η</a:t>
            </a:r>
            <a:r>
              <a:rPr lang="en-US" baseline="-25000" dirty="0" smtClean="0"/>
              <a:t>mech </a:t>
            </a:r>
            <a:r>
              <a:rPr lang="en-US" dirty="0" smtClean="0"/>
              <a:t> = 0.8</a:t>
            </a:r>
          </a:p>
          <a:p>
            <a:pPr>
              <a:buNone/>
            </a:pPr>
            <a:r>
              <a:rPr lang="en-US" dirty="0" smtClean="0"/>
              <a:t>  Brake </a:t>
            </a:r>
            <a:r>
              <a:rPr lang="en-US" dirty="0" err="1" smtClean="0"/>
              <a:t>Power,BP</a:t>
            </a:r>
            <a:r>
              <a:rPr lang="en-US" dirty="0" smtClean="0"/>
              <a:t> = (2</a:t>
            </a:r>
            <a:r>
              <a:rPr lang="el-GR" dirty="0" smtClean="0"/>
              <a:t> π</a:t>
            </a:r>
            <a:r>
              <a:rPr lang="en-US" dirty="0" smtClean="0"/>
              <a:t> N T)/ 60,000</a:t>
            </a:r>
          </a:p>
          <a:p>
            <a:pPr>
              <a:buNone/>
            </a:pPr>
            <a:r>
              <a:rPr lang="en-US" dirty="0" smtClean="0"/>
              <a:t>				T= (W-S)R= 60 *0.6 = 36N-m</a:t>
            </a:r>
          </a:p>
          <a:p>
            <a:pPr>
              <a:buNone/>
            </a:pPr>
            <a:r>
              <a:rPr lang="en-US" dirty="0" smtClean="0"/>
              <a:t>				BP= (2 </a:t>
            </a:r>
            <a:r>
              <a:rPr lang="el-GR" dirty="0" smtClean="0"/>
              <a:t>π</a:t>
            </a:r>
            <a:r>
              <a:rPr lang="en-US" dirty="0" smtClean="0"/>
              <a:t> * 1000* 36)/60,000</a:t>
            </a:r>
          </a:p>
          <a:p>
            <a:pPr>
              <a:buNone/>
            </a:pPr>
            <a:r>
              <a:rPr lang="en-US" dirty="0" smtClean="0"/>
              <a:t>				BP= 3.77 kW</a:t>
            </a:r>
          </a:p>
          <a:p>
            <a:pPr>
              <a:buNone/>
            </a:pPr>
            <a:r>
              <a:rPr lang="en-US" i="1" u="sng" dirty="0" smtClean="0"/>
              <a:t>To find mean effective pressure, P</a:t>
            </a:r>
            <a:r>
              <a:rPr lang="en-US" i="1" u="sng" baseline="-25000" dirty="0" smtClean="0"/>
              <a:t>m</a:t>
            </a:r>
          </a:p>
          <a:p>
            <a:pPr>
              <a:buNone/>
            </a:pPr>
            <a:r>
              <a:rPr lang="en-US" dirty="0" smtClean="0"/>
              <a:t>Now, </a:t>
            </a:r>
          </a:p>
          <a:p>
            <a:pPr>
              <a:buNone/>
            </a:pPr>
            <a:r>
              <a:rPr lang="el-GR" dirty="0" smtClean="0"/>
              <a:t>η</a:t>
            </a:r>
            <a:r>
              <a:rPr lang="en-US" baseline="-25000" dirty="0" smtClean="0"/>
              <a:t>mech </a:t>
            </a:r>
            <a:r>
              <a:rPr lang="en-US" dirty="0" smtClean="0"/>
              <a:t> = 0.8= BP/IP</a:t>
            </a:r>
          </a:p>
          <a:p>
            <a:pPr>
              <a:buNone/>
            </a:pPr>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iterate type="wd">
                                    <p:tmPct val="10000"/>
                                  </p:iterate>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iterate type="wd">
                                    <p:tmPct val="10000"/>
                                  </p:iterate>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iterate type="wd">
                                    <p:tmPct val="10000"/>
                                  </p:iterate>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ox(in)">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iterate type="wd">
                                    <p:tmPct val="10000"/>
                                  </p:iterate>
                                  <p:childTnLst>
                                    <p:set>
                                      <p:cBhvr>
                                        <p:cTn id="19" dur="1" fill="hold">
                                          <p:stCondLst>
                                            <p:cond delay="0"/>
                                          </p:stCondLst>
                                        </p:cTn>
                                        <p:tgtEl>
                                          <p:spTgt spid="3">
                                            <p:txEl>
                                              <p:pRg st="4" end="4"/>
                                            </p:txEl>
                                          </p:spTgt>
                                        </p:tgtEl>
                                        <p:attrNameLst>
                                          <p:attrName>style.visibility</p:attrName>
                                        </p:attrNameLst>
                                      </p:cBhvr>
                                      <p:to>
                                        <p:strVal val="visible"/>
                                      </p:to>
                                    </p:set>
                                    <p:animEffect transition="in" filter="checkerboard(across)">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nodeType="clickEffect">
                                  <p:stCondLst>
                                    <p:cond delay="0"/>
                                  </p:stCondLst>
                                  <p:iterate type="wd">
                                    <p:tmPct val="10000"/>
                                  </p:iterate>
                                  <p:childTnLst>
                                    <p:set>
                                      <p:cBhvr>
                                        <p:cTn id="24" dur="1" fill="hold">
                                          <p:stCondLst>
                                            <p:cond delay="0"/>
                                          </p:stCondLst>
                                        </p:cTn>
                                        <p:tgtEl>
                                          <p:spTgt spid="3">
                                            <p:txEl>
                                              <p:pRg st="5" end="5"/>
                                            </p:txEl>
                                          </p:spTgt>
                                        </p:tgtEl>
                                        <p:attrNameLst>
                                          <p:attrName>style.visibility</p:attrName>
                                        </p:attrNameLst>
                                      </p:cBhvr>
                                      <p:to>
                                        <p:strVal val="visible"/>
                                      </p:to>
                                    </p:set>
                                    <p:animEffect transition="in" filter="diamond(in)">
                                      <p:cBhvr>
                                        <p:cTn id="25" dur="20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iterate type="wd">
                                    <p:tmPct val="10000"/>
                                  </p:iterate>
                                  <p:childTnLst>
                                    <p:set>
                                      <p:cBhvr>
                                        <p:cTn id="29" dur="1" fill="hold">
                                          <p:stCondLst>
                                            <p:cond delay="0"/>
                                          </p:stCondLst>
                                        </p:cTn>
                                        <p:tgtEl>
                                          <p:spTgt spid="3">
                                            <p:txEl>
                                              <p:pRg st="6" end="6"/>
                                            </p:txEl>
                                          </p:spTgt>
                                        </p:tgtEl>
                                        <p:attrNameLst>
                                          <p:attrName>style.visibility</p:attrName>
                                        </p:attrNameLst>
                                      </p:cBhvr>
                                      <p:to>
                                        <p:strVal val="visible"/>
                                      </p:to>
                                    </p:set>
                                    <p:animEffect transition="in" filter="dissolve">
                                      <p:cBhvr>
                                        <p:cTn id="30" dur="500"/>
                                        <p:tgtEl>
                                          <p:spTgt spid="3">
                                            <p:txEl>
                                              <p:pRg st="6" end="6"/>
                                            </p:txEl>
                                          </p:spTgt>
                                        </p:tgtEl>
                                      </p:cBhvr>
                                    </p:animEffect>
                                  </p:childTnLst>
                                </p:cTn>
                              </p:par>
                              <p:par>
                                <p:cTn id="31" presetID="9" presetClass="entr" presetSubtype="0" fill="hold" nodeType="withEffect">
                                  <p:stCondLst>
                                    <p:cond delay="0"/>
                                  </p:stCondLst>
                                  <p:iterate type="wd">
                                    <p:tmPct val="10000"/>
                                  </p:iterate>
                                  <p:childTnLst>
                                    <p:set>
                                      <p:cBhvr>
                                        <p:cTn id="32" dur="1" fill="hold">
                                          <p:stCondLst>
                                            <p:cond delay="0"/>
                                          </p:stCondLst>
                                        </p:cTn>
                                        <p:tgtEl>
                                          <p:spTgt spid="3">
                                            <p:txEl>
                                              <p:pRg st="7" end="7"/>
                                            </p:txEl>
                                          </p:spTgt>
                                        </p:tgtEl>
                                        <p:attrNameLst>
                                          <p:attrName>style.visibility</p:attrName>
                                        </p:attrNameLst>
                                      </p:cBhvr>
                                      <p:to>
                                        <p:strVal val="visible"/>
                                      </p:to>
                                    </p:set>
                                    <p:animEffect transition="in" filter="dissolve">
                                      <p:cBhvr>
                                        <p:cTn id="33" dur="5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8" presetClass="entr" presetSubtype="16" fill="hold" nodeType="clickEffect">
                                  <p:stCondLst>
                                    <p:cond delay="0"/>
                                  </p:stCondLst>
                                  <p:iterate type="wd">
                                    <p:tmPct val="10000"/>
                                  </p:iterate>
                                  <p:childTnLst>
                                    <p:set>
                                      <p:cBhvr>
                                        <p:cTn id="37" dur="1" fill="hold">
                                          <p:stCondLst>
                                            <p:cond delay="0"/>
                                          </p:stCondLst>
                                        </p:cTn>
                                        <p:tgtEl>
                                          <p:spTgt spid="3">
                                            <p:txEl>
                                              <p:pRg st="8" end="8"/>
                                            </p:txEl>
                                          </p:spTgt>
                                        </p:tgtEl>
                                        <p:attrNameLst>
                                          <p:attrName>style.visibility</p:attrName>
                                        </p:attrNameLst>
                                      </p:cBhvr>
                                      <p:to>
                                        <p:strVal val="visible"/>
                                      </p:to>
                                    </p:set>
                                    <p:animEffect transition="in" filter="diamond(in)">
                                      <p:cBhvr>
                                        <p:cTn id="38" dur="2000"/>
                                        <p:tgtEl>
                                          <p:spTgt spid="3">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iterate type="wd">
                                    <p:tmPct val="10000"/>
                                  </p:iterate>
                                  <p:childTnLst>
                                    <p:set>
                                      <p:cBhvr>
                                        <p:cTn id="42" dur="1" fill="hold">
                                          <p:stCondLst>
                                            <p:cond delay="0"/>
                                          </p:stCondLst>
                                        </p:cTn>
                                        <p:tgtEl>
                                          <p:spTgt spid="3">
                                            <p:txEl>
                                              <p:pRg st="9" end="9"/>
                                            </p:txEl>
                                          </p:spTgt>
                                        </p:tgtEl>
                                        <p:attrNameLst>
                                          <p:attrName>style.visibility</p:attrName>
                                        </p:attrNameLst>
                                      </p:cBhvr>
                                      <p:to>
                                        <p:strVal val="visible"/>
                                      </p:to>
                                    </p:set>
                                    <p:animEffect transition="in" filter="wipe(down)">
                                      <p:cBhvr>
                                        <p:cTn id="43" dur="500"/>
                                        <p:tgtEl>
                                          <p:spTgt spid="3">
                                            <p:txEl>
                                              <p:pRg st="9" end="9"/>
                                            </p:txEl>
                                          </p:spTgt>
                                        </p:tgtEl>
                                      </p:cBhvr>
                                    </p:animEffect>
                                  </p:childTnLst>
                                </p:cTn>
                              </p:par>
                              <p:par>
                                <p:cTn id="44" presetID="22" presetClass="entr" presetSubtype="4" fill="hold" nodeType="withEffect">
                                  <p:stCondLst>
                                    <p:cond delay="0"/>
                                  </p:stCondLst>
                                  <p:iterate type="wd">
                                    <p:tmPct val="10000"/>
                                  </p:iterate>
                                  <p:childTnLst>
                                    <p:set>
                                      <p:cBhvr>
                                        <p:cTn id="45" dur="1" fill="hold">
                                          <p:stCondLst>
                                            <p:cond delay="0"/>
                                          </p:stCondLst>
                                        </p:cTn>
                                        <p:tgtEl>
                                          <p:spTgt spid="3">
                                            <p:txEl>
                                              <p:pRg st="10" end="10"/>
                                            </p:txEl>
                                          </p:spTgt>
                                        </p:tgtEl>
                                        <p:attrNameLst>
                                          <p:attrName>style.visibility</p:attrName>
                                        </p:attrNameLst>
                                      </p:cBhvr>
                                      <p:to>
                                        <p:strVal val="visible"/>
                                      </p:to>
                                    </p:set>
                                    <p:animEffect transition="in" filter="wipe(down)">
                                      <p:cBhvr>
                                        <p:cTn id="46"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304800"/>
            <a:ext cx="8077200" cy="6050760"/>
          </a:xfrm>
        </p:spPr>
        <p:txBody>
          <a:bodyPr/>
          <a:lstStyle/>
          <a:p>
            <a:pPr>
              <a:buNone/>
            </a:pPr>
            <a:r>
              <a:rPr lang="en-US" dirty="0" smtClean="0"/>
              <a:t>IP= BP/0.8</a:t>
            </a:r>
          </a:p>
          <a:p>
            <a:pPr>
              <a:buNone/>
            </a:pPr>
            <a:r>
              <a:rPr lang="en-US" dirty="0" smtClean="0"/>
              <a:t>IP= 3.77/0.8 </a:t>
            </a:r>
          </a:p>
          <a:p>
            <a:pPr>
              <a:buNone/>
            </a:pPr>
            <a:r>
              <a:rPr lang="en-US" dirty="0" smtClean="0"/>
              <a:t>IP= 4.71 kW</a:t>
            </a:r>
          </a:p>
          <a:p>
            <a:pPr>
              <a:buNone/>
            </a:pPr>
            <a:r>
              <a:rPr lang="en-US" dirty="0" smtClean="0"/>
              <a:t> Now, IP = n P</a:t>
            </a:r>
            <a:r>
              <a:rPr lang="en-US" baseline="-25000" dirty="0" smtClean="0"/>
              <a:t>m</a:t>
            </a:r>
            <a:r>
              <a:rPr lang="en-US" dirty="0" smtClean="0"/>
              <a:t> L A N K(10/6)</a:t>
            </a:r>
          </a:p>
          <a:p>
            <a:pPr>
              <a:buNone/>
            </a:pPr>
            <a:r>
              <a:rPr lang="en-US" dirty="0" smtClean="0"/>
              <a:t> P</a:t>
            </a:r>
            <a:r>
              <a:rPr lang="en-US" baseline="-25000" dirty="0" smtClean="0"/>
              <a:t>m </a:t>
            </a:r>
            <a:r>
              <a:rPr lang="en-US" dirty="0" smtClean="0"/>
              <a:t> =  (IP) /  {n L A N K(10/6)}</a:t>
            </a:r>
          </a:p>
          <a:p>
            <a:pPr>
              <a:buNone/>
            </a:pPr>
            <a:r>
              <a:rPr lang="en-US" dirty="0" smtClean="0"/>
              <a:t> P</a:t>
            </a:r>
            <a:r>
              <a:rPr lang="en-US" baseline="-25000" dirty="0" smtClean="0"/>
              <a:t>m</a:t>
            </a:r>
            <a:r>
              <a:rPr lang="en-US" dirty="0" smtClean="0"/>
              <a:t> =  (4.71) / { 1*0.14* (</a:t>
            </a:r>
            <a:r>
              <a:rPr lang="el-GR" dirty="0" smtClean="0"/>
              <a:t>π</a:t>
            </a:r>
            <a:r>
              <a:rPr lang="en-US" dirty="0" smtClean="0"/>
              <a:t> *o.115</a:t>
            </a:r>
            <a:r>
              <a:rPr lang="en-US" baseline="30000" dirty="0" smtClean="0"/>
              <a:t>2</a:t>
            </a:r>
            <a:r>
              <a:rPr lang="en-US" dirty="0" smtClean="0"/>
              <a:t>  			/4)*1000*1/2*(10/6)}</a:t>
            </a:r>
          </a:p>
          <a:p>
            <a:pPr>
              <a:buNone/>
            </a:pPr>
            <a:r>
              <a:rPr lang="en-US" dirty="0" smtClean="0"/>
              <a:t>P</a:t>
            </a:r>
            <a:r>
              <a:rPr lang="en-US" baseline="-25000" dirty="0" smtClean="0"/>
              <a:t>m</a:t>
            </a:r>
            <a:r>
              <a:rPr lang="en-US" dirty="0" smtClean="0"/>
              <a:t> =4 bars</a:t>
            </a:r>
            <a:endParaRPr 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iterate type="wd">
                                    <p:tmPct val="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par>
                                <p:cTn id="8" presetID="8" presetClass="entr" presetSubtype="16" fill="hold" nodeType="withEffect">
                                  <p:stCondLst>
                                    <p:cond delay="0"/>
                                  </p:stCondLst>
                                  <p:iterate type="wd">
                                    <p:tmPct val="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amond(in)">
                                      <p:cBhvr>
                                        <p:cTn id="10" dur="2000"/>
                                        <p:tgtEl>
                                          <p:spTgt spid="3">
                                            <p:txEl>
                                              <p:pRg st="1" end="1"/>
                                            </p:txEl>
                                          </p:spTgt>
                                        </p:tgtEl>
                                      </p:cBhvr>
                                    </p:animEffect>
                                  </p:childTnLst>
                                </p:cTn>
                              </p:par>
                              <p:par>
                                <p:cTn id="11" presetID="8" presetClass="entr" presetSubtype="16" fill="hold" nodeType="withEffect">
                                  <p:stCondLst>
                                    <p:cond delay="0"/>
                                  </p:stCondLst>
                                  <p:iterate type="wd">
                                    <p:tmPct val="0"/>
                                  </p:iterate>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amond(in)">
                                      <p:cBhvr>
                                        <p:cTn id="13" dur="20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iterate type="wd">
                                    <p:tmPct val="10000"/>
                                  </p:iterate>
                                  <p:childTnLst>
                                    <p:set>
                                      <p:cBhvr>
                                        <p:cTn id="17" dur="1" fill="hold">
                                          <p:stCondLst>
                                            <p:cond delay="0"/>
                                          </p:stCondLst>
                                        </p:cTn>
                                        <p:tgtEl>
                                          <p:spTgt spid="3">
                                            <p:txEl>
                                              <p:pRg st="0" end="0"/>
                                            </p:txEl>
                                          </p:spTgt>
                                        </p:tgtEl>
                                        <p:attrNameLst>
                                          <p:attrName>style.visibility</p:attrName>
                                        </p:attrNameLst>
                                      </p:cBhvr>
                                      <p:to>
                                        <p:strVal val="visible"/>
                                      </p:to>
                                    </p:set>
                                    <p:animEffect transition="in" filter="checkerboard(across)">
                                      <p:cBhvr>
                                        <p:cTn id="18" dur="500"/>
                                        <p:tgtEl>
                                          <p:spTgt spid="3">
                                            <p:txEl>
                                              <p:pRg st="0" end="0"/>
                                            </p:txEl>
                                          </p:spTgt>
                                        </p:tgtEl>
                                      </p:cBhvr>
                                    </p:animEffect>
                                  </p:childTnLst>
                                </p:cTn>
                              </p:par>
                              <p:par>
                                <p:cTn id="19" presetID="5" presetClass="entr" presetSubtype="10" fill="hold" nodeType="withEffect">
                                  <p:stCondLst>
                                    <p:cond delay="0"/>
                                  </p:stCondLst>
                                  <p:iterate type="wd">
                                    <p:tmPct val="10000"/>
                                  </p:iterate>
                                  <p:childTnLst>
                                    <p:set>
                                      <p:cBhvr>
                                        <p:cTn id="20" dur="1" fill="hold">
                                          <p:stCondLst>
                                            <p:cond delay="0"/>
                                          </p:stCondLst>
                                        </p:cTn>
                                        <p:tgtEl>
                                          <p:spTgt spid="3">
                                            <p:txEl>
                                              <p:pRg st="1" end="1"/>
                                            </p:txEl>
                                          </p:spTgt>
                                        </p:tgtEl>
                                        <p:attrNameLst>
                                          <p:attrName>style.visibility</p:attrName>
                                        </p:attrNameLst>
                                      </p:cBhvr>
                                      <p:to>
                                        <p:strVal val="visible"/>
                                      </p:to>
                                    </p:set>
                                    <p:animEffect transition="in" filter="checkerboard(across)">
                                      <p:cBhvr>
                                        <p:cTn id="21" dur="500"/>
                                        <p:tgtEl>
                                          <p:spTgt spid="3">
                                            <p:txEl>
                                              <p:pRg st="1" end="1"/>
                                            </p:txEl>
                                          </p:spTgt>
                                        </p:tgtEl>
                                      </p:cBhvr>
                                    </p:animEffect>
                                  </p:childTnLst>
                                </p:cTn>
                              </p:par>
                              <p:par>
                                <p:cTn id="22" presetID="5" presetClass="entr" presetSubtype="10" fill="hold" nodeType="withEffect">
                                  <p:stCondLst>
                                    <p:cond delay="0"/>
                                  </p:stCondLst>
                                  <p:iterate type="wd">
                                    <p:tmPct val="10000"/>
                                  </p:iterate>
                                  <p:childTnLst>
                                    <p:set>
                                      <p:cBhvr>
                                        <p:cTn id="23" dur="1" fill="hold">
                                          <p:stCondLst>
                                            <p:cond delay="0"/>
                                          </p:stCondLst>
                                        </p:cTn>
                                        <p:tgtEl>
                                          <p:spTgt spid="3">
                                            <p:txEl>
                                              <p:pRg st="2" end="2"/>
                                            </p:txEl>
                                          </p:spTgt>
                                        </p:tgtEl>
                                        <p:attrNameLst>
                                          <p:attrName>style.visibility</p:attrName>
                                        </p:attrNameLst>
                                      </p:cBhvr>
                                      <p:to>
                                        <p:strVal val="visible"/>
                                      </p:to>
                                    </p:set>
                                    <p:animEffect transition="in" filter="checkerboard(across)">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iterate type="wd">
                                    <p:tmPct val="10000"/>
                                  </p:iterate>
                                  <p:childTnLst>
                                    <p:set>
                                      <p:cBhvr>
                                        <p:cTn id="28" dur="1" fill="hold">
                                          <p:stCondLst>
                                            <p:cond delay="0"/>
                                          </p:stCondLst>
                                        </p:cTn>
                                        <p:tgtEl>
                                          <p:spTgt spid="3">
                                            <p:txEl>
                                              <p:pRg st="3" end="3"/>
                                            </p:txEl>
                                          </p:spTgt>
                                        </p:tgtEl>
                                        <p:attrNameLst>
                                          <p:attrName>style.visibility</p:attrName>
                                        </p:attrNameLst>
                                      </p:cBhvr>
                                      <p:to>
                                        <p:strVal val="visible"/>
                                      </p:to>
                                    </p:set>
                                    <p:animEffect transition="in" filter="box(in)">
                                      <p:cBhvr>
                                        <p:cTn id="29" dur="500"/>
                                        <p:tgtEl>
                                          <p:spTgt spid="3">
                                            <p:txEl>
                                              <p:pRg st="3" end="3"/>
                                            </p:txEl>
                                          </p:spTgt>
                                        </p:tgtEl>
                                      </p:cBhvr>
                                    </p:animEffect>
                                  </p:childTnLst>
                                </p:cTn>
                              </p:par>
                              <p:par>
                                <p:cTn id="30" presetID="4" presetClass="entr" presetSubtype="16" fill="hold" nodeType="withEffect">
                                  <p:stCondLst>
                                    <p:cond delay="0"/>
                                  </p:stCondLst>
                                  <p:iterate type="wd">
                                    <p:tmPct val="10000"/>
                                  </p:iterate>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ox(in)">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iterate type="wd">
                                    <p:tmPct val="10000"/>
                                  </p:iterate>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heckerboard(across)">
                                      <p:cBhvr>
                                        <p:cTn id="37" dur="500"/>
                                        <p:tgtEl>
                                          <p:spTgt spid="3">
                                            <p:txEl>
                                              <p:pRg st="5" end="5"/>
                                            </p:txEl>
                                          </p:spTgt>
                                        </p:tgtEl>
                                      </p:cBhvr>
                                    </p:animEffect>
                                  </p:childTnLst>
                                </p:cTn>
                              </p:par>
                              <p:par>
                                <p:cTn id="38" presetID="5" presetClass="entr" presetSubtype="10" fill="hold" nodeType="withEffect">
                                  <p:stCondLst>
                                    <p:cond delay="0"/>
                                  </p:stCondLst>
                                  <p:iterate type="wd">
                                    <p:tmPct val="10000"/>
                                  </p:iterate>
                                  <p:childTnLst>
                                    <p:set>
                                      <p:cBhvr>
                                        <p:cTn id="39" dur="1" fill="hold">
                                          <p:stCondLst>
                                            <p:cond delay="0"/>
                                          </p:stCondLst>
                                        </p:cTn>
                                        <p:tgtEl>
                                          <p:spTgt spid="3">
                                            <p:txEl>
                                              <p:pRg st="6" end="6"/>
                                            </p:txEl>
                                          </p:spTgt>
                                        </p:tgtEl>
                                        <p:attrNameLst>
                                          <p:attrName>style.visibility</p:attrName>
                                        </p:attrNameLst>
                                      </p:cBhvr>
                                      <p:to>
                                        <p:strVal val="visible"/>
                                      </p:to>
                                    </p:set>
                                    <p:animEffect transition="in" filter="checkerboard(across)">
                                      <p:cBhvr>
                                        <p:cTn id="4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381000"/>
            <a:ext cx="7772400" cy="5974560"/>
          </a:xfrm>
        </p:spPr>
        <p:txBody>
          <a:bodyPr/>
          <a:lstStyle/>
          <a:p>
            <a:pPr>
              <a:buNone/>
            </a:pPr>
            <a:r>
              <a:rPr lang="en-US" dirty="0" smtClean="0"/>
              <a:t>Problem 3:</a:t>
            </a:r>
          </a:p>
          <a:p>
            <a:pPr>
              <a:buNone/>
            </a:pPr>
            <a:r>
              <a:rPr lang="en-US" dirty="0" smtClean="0"/>
              <a:t>Following  data  are collected from a 4s-single cylinder oil engine at full load. Bore= 200mm, stroke=280mm, speed=300rpm, indicated mean effective pressure=5.6 bars, torque on the brake drum=250N-m, oil consumed=4.2kg/h and calorific value of oil=41,000kJ/kg.  Determine mechanical efficiency, indicated thermal efficiency and brake  thermal efficiency</a:t>
            </a:r>
            <a:endParaRPr lang="en-US" dirty="0"/>
          </a:p>
        </p:txBody>
      </p:sp>
    </p:spTree>
  </p:cSld>
  <p:clrMapOvr>
    <a:masterClrMapping/>
  </p:clrMapOvr>
  <p:transition>
    <p:strips dir="l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609600"/>
            <a:ext cx="7772400" cy="5745960"/>
          </a:xfrm>
        </p:spPr>
        <p:txBody>
          <a:bodyPr>
            <a:normAutofit/>
          </a:bodyPr>
          <a:lstStyle/>
          <a:p>
            <a:pPr>
              <a:buNone/>
            </a:pPr>
            <a:r>
              <a:rPr lang="en-US" dirty="0" smtClean="0"/>
              <a:t>Solution:</a:t>
            </a:r>
          </a:p>
          <a:p>
            <a:pPr>
              <a:buNone/>
            </a:pPr>
            <a:r>
              <a:rPr lang="en-US" dirty="0" smtClean="0"/>
              <a:t>     IP= n P</a:t>
            </a:r>
            <a:r>
              <a:rPr lang="en-US" baseline="-25000" dirty="0" smtClean="0"/>
              <a:t>m  </a:t>
            </a:r>
            <a:r>
              <a:rPr lang="en-US" dirty="0" smtClean="0"/>
              <a:t> L AN K (10/6)</a:t>
            </a:r>
          </a:p>
          <a:p>
            <a:pPr>
              <a:buNone/>
            </a:pPr>
            <a:r>
              <a:rPr lang="en-US" dirty="0" smtClean="0"/>
              <a:t>    = </a:t>
            </a:r>
            <a:r>
              <a:rPr lang="en-US" sz="2000" dirty="0" smtClean="0"/>
              <a:t>(1) (5.6) (0.28) * (</a:t>
            </a:r>
            <a:r>
              <a:rPr lang="el-GR" sz="2000" dirty="0" smtClean="0"/>
              <a:t>π</a:t>
            </a:r>
            <a:r>
              <a:rPr lang="en-US" sz="2000" dirty="0" smtClean="0"/>
              <a:t> * 0.2</a:t>
            </a:r>
            <a:r>
              <a:rPr lang="en-US" sz="2000" baseline="30000" dirty="0" smtClean="0"/>
              <a:t>2</a:t>
            </a:r>
            <a:r>
              <a:rPr lang="en-US" sz="2000" dirty="0" smtClean="0"/>
              <a:t>)/4 * 300*(1/2)(10/6) </a:t>
            </a:r>
          </a:p>
          <a:p>
            <a:pPr>
              <a:buNone/>
            </a:pPr>
            <a:r>
              <a:rPr lang="en-US" dirty="0" smtClean="0"/>
              <a:t>		IP= 12.31 k W</a:t>
            </a:r>
          </a:p>
          <a:p>
            <a:pPr>
              <a:buNone/>
            </a:pPr>
            <a:r>
              <a:rPr lang="en-US" dirty="0" smtClean="0"/>
              <a:t>    BP = (2</a:t>
            </a:r>
            <a:r>
              <a:rPr lang="el-GR" dirty="0" smtClean="0"/>
              <a:t> π</a:t>
            </a:r>
            <a:r>
              <a:rPr lang="en-US" dirty="0" smtClean="0"/>
              <a:t> N T)/ 60,000</a:t>
            </a:r>
          </a:p>
          <a:p>
            <a:pPr>
              <a:buNone/>
            </a:pPr>
            <a:r>
              <a:rPr lang="en-US" dirty="0" smtClean="0"/>
              <a:t>     BP= ( 2 </a:t>
            </a:r>
            <a:r>
              <a:rPr lang="el-GR" dirty="0" smtClean="0"/>
              <a:t>π</a:t>
            </a:r>
            <a:r>
              <a:rPr lang="en-US" dirty="0" smtClean="0"/>
              <a:t> * 300* 250) / 60,000</a:t>
            </a:r>
          </a:p>
          <a:p>
            <a:pPr>
              <a:buNone/>
            </a:pPr>
            <a:r>
              <a:rPr lang="en-US" dirty="0" smtClean="0"/>
              <a:t>      BP= 7.85 k W</a:t>
            </a:r>
          </a:p>
          <a:p>
            <a:pPr>
              <a:buNone/>
            </a:pPr>
            <a:r>
              <a:rPr lang="el-GR" dirty="0" smtClean="0"/>
              <a:t>η</a:t>
            </a:r>
            <a:r>
              <a:rPr lang="en-US" baseline="-25000" dirty="0" err="1" smtClean="0"/>
              <a:t>mech</a:t>
            </a:r>
            <a:r>
              <a:rPr lang="en-US" baseline="-25000" dirty="0" smtClean="0"/>
              <a:t> </a:t>
            </a:r>
            <a:r>
              <a:rPr lang="en-US" dirty="0" smtClean="0"/>
              <a:t> = 7.85/12.31 = 0.638</a:t>
            </a:r>
          </a:p>
          <a:p>
            <a:pPr>
              <a:buNone/>
            </a:pPr>
            <a:r>
              <a:rPr lang="en-US" dirty="0" smtClean="0"/>
              <a:t> </a:t>
            </a:r>
            <a:r>
              <a:rPr lang="el-GR" dirty="0" smtClean="0"/>
              <a:t>η</a:t>
            </a:r>
            <a:r>
              <a:rPr lang="en-US" baseline="-25000" dirty="0" err="1" smtClean="0"/>
              <a:t>Ith</a:t>
            </a:r>
            <a:r>
              <a:rPr lang="en-US" baseline="-25000" dirty="0" smtClean="0"/>
              <a:t> </a:t>
            </a:r>
            <a:r>
              <a:rPr lang="en-US" dirty="0" smtClean="0"/>
              <a:t> = (IP)/( m</a:t>
            </a:r>
            <a:r>
              <a:rPr lang="en-US" baseline="-25000" dirty="0" smtClean="0"/>
              <a:t>f</a:t>
            </a:r>
            <a:r>
              <a:rPr lang="en-US" dirty="0" smtClean="0"/>
              <a:t> * CV)  , </a:t>
            </a:r>
          </a:p>
          <a:p>
            <a:pPr>
              <a:buNone/>
            </a:pPr>
            <a:r>
              <a:rPr lang="en-US" dirty="0" smtClean="0"/>
              <a:t>m</a:t>
            </a:r>
            <a:r>
              <a:rPr lang="en-US" baseline="-25000" dirty="0" smtClean="0"/>
              <a:t>f </a:t>
            </a:r>
            <a:r>
              <a:rPr lang="en-US" dirty="0" smtClean="0"/>
              <a:t> = (4.2/3600)=0.00116</a:t>
            </a:r>
          </a:p>
          <a:p>
            <a:pPr>
              <a:buNone/>
            </a:pPr>
            <a:r>
              <a:rPr lang="en-US" dirty="0" smtClean="0"/>
              <a:t>		</a:t>
            </a:r>
            <a:r>
              <a:rPr lang="el-GR" dirty="0" smtClean="0"/>
              <a:t> η</a:t>
            </a:r>
            <a:r>
              <a:rPr lang="en-US" baseline="-25000" dirty="0" err="1" smtClean="0"/>
              <a:t>Ith</a:t>
            </a:r>
            <a:r>
              <a:rPr lang="en-US" baseline="-25000" dirty="0" smtClean="0"/>
              <a:t> </a:t>
            </a:r>
            <a:r>
              <a:rPr lang="en-US" dirty="0" smtClean="0"/>
              <a:t>= (12.31) / ( 0.00116* 41,000) </a:t>
            </a:r>
          </a:p>
          <a:p>
            <a:pPr>
              <a:buNone/>
            </a:pPr>
            <a:r>
              <a:rPr lang="en-US" dirty="0" smtClean="0"/>
              <a:t> </a:t>
            </a:r>
            <a:r>
              <a:rPr lang="el-GR" dirty="0" smtClean="0"/>
              <a:t>η</a:t>
            </a:r>
            <a:r>
              <a:rPr lang="en-US" baseline="-25000" dirty="0" err="1" smtClean="0"/>
              <a:t>Ith</a:t>
            </a:r>
            <a:r>
              <a:rPr lang="en-US" dirty="0" smtClean="0"/>
              <a:t>  = 0.257</a:t>
            </a:r>
            <a:endParaRPr 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ox(i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heckerboard(across)">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amond(in)">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dissolv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dissolve">
                                      <p:cBhvr>
                                        <p:cTn id="41" dur="500"/>
                                        <p:tgtEl>
                                          <p:spTgt spid="3">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wipe(down)">
                                      <p:cBhvr>
                                        <p:cTn id="46" dur="500"/>
                                        <p:tgtEl>
                                          <p:spTgt spid="3">
                                            <p:txEl>
                                              <p:pRg st="9" end="9"/>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4" presetClass="entr" presetSubtype="16"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Effect transition="in" filter="box(in)">
                                      <p:cBhvr>
                                        <p:cTn id="51" dur="500"/>
                                        <p:tgtEl>
                                          <p:spTgt spid="3">
                                            <p:txEl>
                                              <p:pRg st="10" end="10"/>
                                            </p:txEl>
                                          </p:spTgt>
                                        </p:tgtEl>
                                      </p:cBhvr>
                                    </p:animEffect>
                                  </p:childTnLst>
                                </p:cTn>
                              </p:par>
                              <p:par>
                                <p:cTn id="52" presetID="4" presetClass="entr" presetSubtype="16" fill="hold" nodeType="withEffect">
                                  <p:stCondLst>
                                    <p:cond delay="0"/>
                                  </p:stCondLst>
                                  <p:childTnLst>
                                    <p:set>
                                      <p:cBhvr>
                                        <p:cTn id="53" dur="1" fill="hold">
                                          <p:stCondLst>
                                            <p:cond delay="0"/>
                                          </p:stCondLst>
                                        </p:cTn>
                                        <p:tgtEl>
                                          <p:spTgt spid="3">
                                            <p:txEl>
                                              <p:pRg st="11" end="11"/>
                                            </p:txEl>
                                          </p:spTgt>
                                        </p:tgtEl>
                                        <p:attrNameLst>
                                          <p:attrName>style.visibility</p:attrName>
                                        </p:attrNameLst>
                                      </p:cBhvr>
                                      <p:to>
                                        <p:strVal val="visible"/>
                                      </p:to>
                                    </p:set>
                                    <p:animEffect transition="in" filter="box(in)">
                                      <p:cBhvr>
                                        <p:cTn id="54"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p:cNvGraphicFramePr>
            <a:graphicFrameLocks noChangeAspect="1"/>
          </p:cNvGraphicFramePr>
          <p:nvPr/>
        </p:nvGraphicFramePr>
        <p:xfrm>
          <a:off x="1295400" y="457200"/>
          <a:ext cx="2362200" cy="1111624"/>
        </p:xfrm>
        <a:graphic>
          <a:graphicData uri="http://schemas.openxmlformats.org/presentationml/2006/ole">
            <p:oleObj spid="_x0000_s34819" name="Equation" r:id="rId3" imgW="863280" imgH="406080" progId="Equation.3">
              <p:embed/>
            </p:oleObj>
          </a:graphicData>
        </a:graphic>
      </p:graphicFrame>
      <p:graphicFrame>
        <p:nvGraphicFramePr>
          <p:cNvPr id="34820" name="Object 4"/>
          <p:cNvGraphicFramePr>
            <a:graphicFrameLocks noChangeAspect="1"/>
          </p:cNvGraphicFramePr>
          <p:nvPr>
            <p:ph idx="1"/>
          </p:nvPr>
        </p:nvGraphicFramePr>
        <p:xfrm>
          <a:off x="4724400" y="762000"/>
          <a:ext cx="3194050" cy="966788"/>
        </p:xfrm>
        <a:graphic>
          <a:graphicData uri="http://schemas.openxmlformats.org/presentationml/2006/ole">
            <p:oleObj spid="_x0000_s34820" name="Equation" r:id="rId4" imgW="1384200" imgH="419040" progId="Equation.3">
              <p:embed/>
            </p:oleObj>
          </a:graphicData>
        </a:graphic>
      </p:graphicFrame>
      <p:graphicFrame>
        <p:nvGraphicFramePr>
          <p:cNvPr id="12" name="Object 4"/>
          <p:cNvGraphicFramePr>
            <a:graphicFrameLocks noChangeAspect="1"/>
          </p:cNvGraphicFramePr>
          <p:nvPr/>
        </p:nvGraphicFramePr>
        <p:xfrm>
          <a:off x="1905000" y="2438400"/>
          <a:ext cx="1639887" cy="996950"/>
        </p:xfrm>
        <a:graphic>
          <a:graphicData uri="http://schemas.openxmlformats.org/presentationml/2006/ole">
            <p:oleObj spid="_x0000_s34824" name="Equation" r:id="rId5" imgW="711000" imgH="431640" progId="Equation.3">
              <p:embed/>
            </p:oleObj>
          </a:graphicData>
        </a:graphic>
      </p:graphicFrame>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4820"/>
                                        </p:tgtEl>
                                        <p:attrNameLst>
                                          <p:attrName>style.visibility</p:attrName>
                                        </p:attrNameLst>
                                      </p:cBhvr>
                                      <p:to>
                                        <p:strVal val="visible"/>
                                      </p:to>
                                    </p:set>
                                    <p:animEffect transition="in" filter="dissolve">
                                      <p:cBhvr>
                                        <p:cTn id="13" dur="500"/>
                                        <p:tgtEl>
                                          <p:spTgt spid="34820"/>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checkerboard(across)">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28600"/>
            <a:ext cx="8229600" cy="5778691"/>
          </a:xfrm>
        </p:spPr>
        <p:txBody>
          <a:bodyPr/>
          <a:lstStyle/>
          <a:p>
            <a:pPr>
              <a:buNone/>
            </a:pPr>
            <a:r>
              <a:rPr lang="en-US" dirty="0" smtClean="0"/>
              <a:t>Problem 4:</a:t>
            </a:r>
          </a:p>
          <a:p>
            <a:pPr algn="just">
              <a:buNone/>
            </a:pPr>
            <a:r>
              <a:rPr lang="en-US" dirty="0" smtClean="0"/>
              <a:t>A 4-s petrol engine delivers a power of 35kW with a mechanical efficiency of 80% . The fuel consumed by the engine is 0.4 kg per KW-h of the power developed. Calculate indicated power, friction power , brake thermal efficiency, indicated thermal efficiency and fuel consumption per hour. If the air-fuel ratio is 14:1, calculate the air consumption per hour. The heating value of the fuel is 43,000 kJ/kg </a:t>
            </a:r>
            <a:endParaRPr lang="en-US" dirty="0"/>
          </a:p>
        </p:txBody>
      </p:sp>
    </p:spTree>
  </p:cSld>
  <p:clrMapOvr>
    <a:masterClrMapping/>
  </p:clrMapOvr>
  <p:transition>
    <p:strips dir="l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28600"/>
            <a:ext cx="8229600" cy="5778691"/>
          </a:xfrm>
        </p:spPr>
        <p:txBody>
          <a:bodyPr>
            <a:normAutofit fontScale="85000" lnSpcReduction="20000"/>
          </a:bodyPr>
          <a:lstStyle/>
          <a:p>
            <a:pPr>
              <a:buNone/>
            </a:pPr>
            <a:r>
              <a:rPr lang="en-US" dirty="0" smtClean="0"/>
              <a:t>Solution:</a:t>
            </a:r>
          </a:p>
          <a:p>
            <a:pPr>
              <a:buNone/>
            </a:pPr>
            <a:r>
              <a:rPr lang="el-GR" dirty="0" smtClean="0"/>
              <a:t>η</a:t>
            </a:r>
            <a:r>
              <a:rPr lang="en-US" baseline="-25000" dirty="0" err="1" smtClean="0"/>
              <a:t>mech</a:t>
            </a:r>
            <a:r>
              <a:rPr lang="en-US" baseline="-25000" dirty="0" smtClean="0"/>
              <a:t> </a:t>
            </a:r>
            <a:r>
              <a:rPr lang="en-US" dirty="0" smtClean="0"/>
              <a:t> = BP/IP = 0.8 </a:t>
            </a:r>
          </a:p>
          <a:p>
            <a:pPr>
              <a:buNone/>
            </a:pPr>
            <a:r>
              <a:rPr lang="en-US" dirty="0" smtClean="0"/>
              <a:t>BP= 35kW</a:t>
            </a:r>
          </a:p>
          <a:p>
            <a:pPr>
              <a:buNone/>
            </a:pPr>
            <a:r>
              <a:rPr lang="en-US" dirty="0" smtClean="0"/>
              <a:t>Therefore, IP= (35/0.8)= 43.75kW</a:t>
            </a:r>
          </a:p>
          <a:p>
            <a:pPr>
              <a:buNone/>
            </a:pPr>
            <a:r>
              <a:rPr lang="en-US" dirty="0" smtClean="0"/>
              <a:t>FP= IP-BP =43.75-35 =8.75kW</a:t>
            </a:r>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To find m</a:t>
            </a:r>
            <a:r>
              <a:rPr lang="en-US" baseline="-25000" dirty="0" smtClean="0"/>
              <a:t>f </a:t>
            </a:r>
            <a:r>
              <a:rPr lang="en-US" dirty="0" smtClean="0"/>
              <a:t> </a:t>
            </a:r>
          </a:p>
          <a:p>
            <a:pPr>
              <a:buNone/>
            </a:pPr>
            <a:r>
              <a:rPr lang="en-US" dirty="0" smtClean="0"/>
              <a:t>  </a:t>
            </a:r>
          </a:p>
          <a:p>
            <a:pPr>
              <a:buNone/>
            </a:pPr>
            <a:r>
              <a:rPr lang="en-US" dirty="0" smtClean="0"/>
              <a:t>BSFC = (m</a:t>
            </a:r>
            <a:r>
              <a:rPr lang="en-US" baseline="-25000" dirty="0" smtClean="0"/>
              <a:t>f </a:t>
            </a:r>
            <a:r>
              <a:rPr lang="en-US" dirty="0" smtClean="0"/>
              <a:t> / BP), m</a:t>
            </a:r>
            <a:r>
              <a:rPr lang="en-US" baseline="-25000" dirty="0" smtClean="0"/>
              <a:t>f  </a:t>
            </a:r>
            <a:r>
              <a:rPr lang="en-US" dirty="0" smtClean="0"/>
              <a:t> in kg/h</a:t>
            </a:r>
          </a:p>
          <a:p>
            <a:pPr>
              <a:buNone/>
            </a:pPr>
            <a:endParaRPr lang="en-US" dirty="0" smtClean="0"/>
          </a:p>
          <a:p>
            <a:pPr>
              <a:buNone/>
            </a:pPr>
            <a:r>
              <a:rPr lang="en-US" dirty="0" smtClean="0"/>
              <a:t>0.4 = (m</a:t>
            </a:r>
            <a:r>
              <a:rPr lang="en-US" baseline="-25000" dirty="0" smtClean="0"/>
              <a:t>f  </a:t>
            </a:r>
            <a:r>
              <a:rPr lang="en-US" dirty="0" smtClean="0"/>
              <a:t> / 35) , m</a:t>
            </a:r>
            <a:r>
              <a:rPr lang="en-US" baseline="-25000" dirty="0" smtClean="0"/>
              <a:t>f</a:t>
            </a:r>
            <a:r>
              <a:rPr lang="en-US" dirty="0" smtClean="0"/>
              <a:t> = 14kg/h or 3.88 x 10</a:t>
            </a:r>
            <a:r>
              <a:rPr lang="en-US" baseline="30000" dirty="0" smtClean="0"/>
              <a:t>-3</a:t>
            </a:r>
            <a:r>
              <a:rPr lang="en-US" dirty="0" smtClean="0"/>
              <a:t> kg/s</a:t>
            </a:r>
          </a:p>
          <a:p>
            <a:pPr>
              <a:buNone/>
            </a:pPr>
            <a:r>
              <a:rPr lang="en-US" dirty="0" smtClean="0"/>
              <a:t> </a:t>
            </a:r>
          </a:p>
          <a:p>
            <a:pPr>
              <a:buNone/>
            </a:pPr>
            <a:endParaRPr lang="en-US" dirty="0" smtClean="0"/>
          </a:p>
          <a:p>
            <a:pPr>
              <a:buNone/>
            </a:pPr>
            <a:r>
              <a:rPr lang="en-US" dirty="0" smtClean="0"/>
              <a:t> </a:t>
            </a:r>
          </a:p>
          <a:p>
            <a:pPr>
              <a:buNone/>
            </a:pPr>
            <a:endParaRPr lang="en-US" dirty="0"/>
          </a:p>
        </p:txBody>
      </p:sp>
      <p:graphicFrame>
        <p:nvGraphicFramePr>
          <p:cNvPr id="7" name="Object 6"/>
          <p:cNvGraphicFramePr>
            <a:graphicFrameLocks noChangeAspect="1"/>
          </p:cNvGraphicFramePr>
          <p:nvPr/>
        </p:nvGraphicFramePr>
        <p:xfrm>
          <a:off x="609600" y="1905000"/>
          <a:ext cx="3276600" cy="933855"/>
        </p:xfrm>
        <a:graphic>
          <a:graphicData uri="http://schemas.openxmlformats.org/presentationml/2006/ole">
            <p:oleObj spid="_x0000_s69637" name="Equation" r:id="rId3" imgW="812520" imgH="406080" progId="Equation.3">
              <p:embed/>
            </p:oleObj>
          </a:graphicData>
        </a:graphic>
      </p:graphicFrame>
      <p:graphicFrame>
        <p:nvGraphicFramePr>
          <p:cNvPr id="8" name="Object 7"/>
          <p:cNvGraphicFramePr>
            <a:graphicFrameLocks noChangeAspect="1"/>
          </p:cNvGraphicFramePr>
          <p:nvPr/>
        </p:nvGraphicFramePr>
        <p:xfrm>
          <a:off x="4648200" y="2133600"/>
          <a:ext cx="4038600" cy="914400"/>
        </p:xfrm>
        <a:graphic>
          <a:graphicData uri="http://schemas.openxmlformats.org/presentationml/2006/ole">
            <p:oleObj spid="_x0000_s69638" name="Equation" r:id="rId4" imgW="876240" imgH="406080" progId="Equation.3">
              <p:embed/>
            </p:oleObj>
          </a:graphicData>
        </a:graphic>
      </p:graphicFrame>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ox(in)">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checkerboard(across)">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diamond(in)">
                                      <p:cBhvr>
                                        <p:cTn id="22" dur="20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dissolv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500" fill="hold"/>
                                        <p:tgtEl>
                                          <p:spTgt spid="8"/>
                                        </p:tgtEl>
                                        <p:attrNameLst>
                                          <p:attrName>ppt_x</p:attrName>
                                        </p:attrNameLst>
                                      </p:cBhvr>
                                      <p:tavLst>
                                        <p:tav tm="0">
                                          <p:val>
                                            <p:strVal val="#ppt_x"/>
                                          </p:val>
                                        </p:tav>
                                        <p:tav tm="100000">
                                          <p:val>
                                            <p:strVal val="#ppt_x"/>
                                          </p:val>
                                        </p:tav>
                                      </p:tavLst>
                                    </p:anim>
                                    <p:anim calcmode="lin" valueType="num">
                                      <p:cBhvr additive="base">
                                        <p:cTn id="3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2">
                                            <p:txEl>
                                              <p:pRg st="9" end="9"/>
                                            </p:txEl>
                                          </p:spTgt>
                                        </p:tgtEl>
                                        <p:attrNameLst>
                                          <p:attrName>style.visibility</p:attrName>
                                        </p:attrNameLst>
                                      </p:cBhvr>
                                      <p:to>
                                        <p:strVal val="visible"/>
                                      </p:to>
                                    </p:set>
                                    <p:animEffect transition="in" filter="blinds(horizontal)">
                                      <p:cBhvr>
                                        <p:cTn id="44" dur="500"/>
                                        <p:tgtEl>
                                          <p:spTgt spid="2">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
                                            <p:txEl>
                                              <p:pRg st="11" end="11"/>
                                            </p:txEl>
                                          </p:spTgt>
                                        </p:tgtEl>
                                        <p:attrNameLst>
                                          <p:attrName>style.visibility</p:attrName>
                                        </p:attrNameLst>
                                      </p:cBhvr>
                                      <p:to>
                                        <p:strVal val="visible"/>
                                      </p:to>
                                    </p:set>
                                    <p:anim calcmode="lin" valueType="num">
                                      <p:cBhvr additive="base">
                                        <p:cTn id="49" dur="500" fill="hold"/>
                                        <p:tgtEl>
                                          <p:spTgt spid="2">
                                            <p:txEl>
                                              <p:pRg st="11" end="1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
                                            <p:txEl>
                                              <p:pRg st="13" end="13"/>
                                            </p:txEl>
                                          </p:spTgt>
                                        </p:tgtEl>
                                        <p:attrNameLst>
                                          <p:attrName>style.visibility</p:attrName>
                                        </p:attrNameLst>
                                      </p:cBhvr>
                                      <p:to>
                                        <p:strVal val="visible"/>
                                      </p:to>
                                    </p:set>
                                    <p:anim calcmode="lin" valueType="num">
                                      <p:cBhvr additive="base">
                                        <p:cTn id="55" dur="500" fill="hold"/>
                                        <p:tgtEl>
                                          <p:spTgt spid="2">
                                            <p:txEl>
                                              <p:pRg st="13" end="1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p:cNvGraphicFramePr>
          <p:nvPr>
            <p:ph idx="1"/>
          </p:nvPr>
        </p:nvGraphicFramePr>
        <p:xfrm>
          <a:off x="1524000" y="1162050"/>
          <a:ext cx="6096000" cy="4064000"/>
        </p:xfrm>
        <a:graphic>
          <a:graphicData uri="http://schemas.openxmlformats.org/presentationml/2006/ole">
            <p:oleObj spid="_x0000_s70658" name="Equation" r:id="rId3" imgW="0" imgH="0" progId="Equation.3">
              <p:embed/>
            </p:oleObj>
          </a:graphicData>
        </a:graphic>
      </p:graphicFrame>
      <p:graphicFrame>
        <p:nvGraphicFramePr>
          <p:cNvPr id="5" name="Object 4"/>
          <p:cNvGraphicFramePr>
            <a:graphicFrameLocks noChangeAspect="1"/>
          </p:cNvGraphicFramePr>
          <p:nvPr/>
        </p:nvGraphicFramePr>
        <p:xfrm>
          <a:off x="4514850" y="3321050"/>
          <a:ext cx="114300" cy="215900"/>
        </p:xfrm>
        <a:graphic>
          <a:graphicData uri="http://schemas.openxmlformats.org/presentationml/2006/ole">
            <p:oleObj spid="_x0000_s70659" name="Equation" r:id="rId4" imgW="114120" imgH="215640" progId="Equation.3">
              <p:embed/>
            </p:oleObj>
          </a:graphicData>
        </a:graphic>
      </p:graphicFrame>
      <p:pic>
        <p:nvPicPr>
          <p:cNvPr id="6" name="Picture 5" descr="111.PNG"/>
          <p:cNvPicPr>
            <a:picLocks noChangeAspect="1"/>
          </p:cNvPicPr>
          <p:nvPr/>
        </p:nvPicPr>
        <p:blipFill>
          <a:blip r:embed="rId5"/>
          <a:stretch>
            <a:fillRect/>
          </a:stretch>
        </p:blipFill>
        <p:spPr>
          <a:xfrm>
            <a:off x="1143000" y="685800"/>
            <a:ext cx="6975528" cy="1600200"/>
          </a:xfrm>
          <a:prstGeom prst="rect">
            <a:avLst/>
          </a:prstGeom>
        </p:spPr>
      </p:pic>
      <p:pic>
        <p:nvPicPr>
          <p:cNvPr id="7" name="Picture 6" descr="222.PNG"/>
          <p:cNvPicPr>
            <a:picLocks noChangeAspect="1"/>
          </p:cNvPicPr>
          <p:nvPr/>
        </p:nvPicPr>
        <p:blipFill>
          <a:blip r:embed="rId6"/>
          <a:stretch>
            <a:fillRect/>
          </a:stretch>
        </p:blipFill>
        <p:spPr>
          <a:xfrm>
            <a:off x="1371600" y="3200400"/>
            <a:ext cx="7078237" cy="1371600"/>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amond(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i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28600"/>
            <a:ext cx="8229600" cy="5778691"/>
          </a:xfrm>
        </p:spPr>
        <p:txBody>
          <a:bodyPr/>
          <a:lstStyle/>
          <a:p>
            <a:pPr>
              <a:buNone/>
            </a:pPr>
            <a:r>
              <a:rPr lang="en-US" dirty="0" smtClean="0"/>
              <a:t>A/F= 14: 1</a:t>
            </a:r>
          </a:p>
          <a:p>
            <a:pPr>
              <a:buNone/>
            </a:pPr>
            <a:endParaRPr lang="en-US" dirty="0" smtClean="0"/>
          </a:p>
          <a:p>
            <a:pPr>
              <a:buNone/>
            </a:pPr>
            <a:r>
              <a:rPr lang="en-US" dirty="0" smtClean="0"/>
              <a:t>m</a:t>
            </a:r>
            <a:r>
              <a:rPr lang="en-US" baseline="-25000" dirty="0" smtClean="0"/>
              <a:t>a</a:t>
            </a:r>
            <a:r>
              <a:rPr lang="en-US" dirty="0" smtClean="0"/>
              <a:t> / m</a:t>
            </a:r>
            <a:r>
              <a:rPr lang="en-US" baseline="-25000" dirty="0" smtClean="0"/>
              <a:t>f</a:t>
            </a:r>
            <a:r>
              <a:rPr lang="en-US" dirty="0" smtClean="0"/>
              <a:t> = 14: 1 </a:t>
            </a:r>
          </a:p>
          <a:p>
            <a:pPr>
              <a:buNone/>
            </a:pPr>
            <a:endParaRPr lang="en-US" dirty="0" smtClean="0"/>
          </a:p>
          <a:p>
            <a:pPr>
              <a:buNone/>
            </a:pPr>
            <a:r>
              <a:rPr lang="en-US" dirty="0" smtClean="0"/>
              <a:t>m</a:t>
            </a:r>
            <a:r>
              <a:rPr lang="en-US" baseline="-25000" dirty="0" smtClean="0"/>
              <a:t>a </a:t>
            </a:r>
            <a:r>
              <a:rPr lang="en-US" dirty="0" smtClean="0"/>
              <a:t> = 14 x 14 = 196 kg/h </a:t>
            </a:r>
            <a:endParaRPr 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i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box(in)">
                                      <p:cBhvr>
                                        <p:cTn id="1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28600"/>
            <a:ext cx="8229600" cy="5778691"/>
          </a:xfrm>
        </p:spPr>
        <p:txBody>
          <a:bodyPr/>
          <a:lstStyle/>
          <a:p>
            <a:pPr>
              <a:buNone/>
            </a:pPr>
            <a:r>
              <a:rPr lang="en-US" dirty="0" smtClean="0"/>
              <a:t>Problem 5:</a:t>
            </a:r>
          </a:p>
          <a:p>
            <a:pPr algn="just">
              <a:buNone/>
            </a:pPr>
            <a:r>
              <a:rPr lang="en-US" dirty="0" smtClean="0"/>
              <a:t>Calculate the brake specific fuel consumption</a:t>
            </a:r>
          </a:p>
          <a:p>
            <a:pPr algn="just">
              <a:buNone/>
            </a:pPr>
            <a:r>
              <a:rPr lang="en-US" dirty="0" smtClean="0"/>
              <a:t>of a diesel engine having a brake thermal</a:t>
            </a:r>
          </a:p>
          <a:p>
            <a:pPr algn="just">
              <a:buNone/>
            </a:pPr>
            <a:r>
              <a:rPr lang="en-US" dirty="0" smtClean="0"/>
              <a:t>efficiency of 28% . The calorific value of fuel is</a:t>
            </a:r>
          </a:p>
          <a:p>
            <a:pPr algn="just">
              <a:buNone/>
            </a:pPr>
            <a:r>
              <a:rPr lang="en-US" dirty="0" smtClean="0"/>
              <a:t>42,500 kJ/kg</a:t>
            </a:r>
          </a:p>
          <a:p>
            <a:pPr algn="just">
              <a:buNone/>
            </a:pPr>
            <a:endParaRPr lang="en-US" dirty="0" smtClean="0"/>
          </a:p>
          <a:p>
            <a:pPr algn="just">
              <a:buNone/>
            </a:pPr>
            <a:r>
              <a:rPr lang="en-US" dirty="0" smtClean="0"/>
              <a:t>Solution:  </a:t>
            </a:r>
          </a:p>
          <a:p>
            <a:pPr algn="just">
              <a:buNone/>
            </a:pPr>
            <a:r>
              <a:rPr lang="en-US" dirty="0" smtClean="0"/>
              <a:t> BSFC= (m</a:t>
            </a:r>
            <a:r>
              <a:rPr lang="en-US" baseline="-25000" dirty="0" smtClean="0"/>
              <a:t>f</a:t>
            </a:r>
            <a:r>
              <a:rPr lang="en-US" dirty="0" smtClean="0"/>
              <a:t>)/ BP, m</a:t>
            </a:r>
            <a:r>
              <a:rPr lang="en-US" baseline="-25000" dirty="0" smtClean="0"/>
              <a:t>f </a:t>
            </a:r>
            <a:r>
              <a:rPr lang="en-US" dirty="0" smtClean="0"/>
              <a:t>in kg/h</a:t>
            </a:r>
          </a:p>
          <a:p>
            <a:pPr algn="just">
              <a:buNone/>
            </a:pPr>
            <a:endParaRPr lang="en-US" dirty="0" smtClean="0"/>
          </a:p>
          <a:p>
            <a:pPr algn="just">
              <a:buNone/>
            </a:pPr>
            <a:endParaRPr lang="en-US" dirty="0" smtClean="0"/>
          </a:p>
        </p:txBody>
      </p:sp>
      <p:pic>
        <p:nvPicPr>
          <p:cNvPr id="7" name="Picture 6" descr="b.PNG"/>
          <p:cNvPicPr>
            <a:picLocks noChangeAspect="1"/>
          </p:cNvPicPr>
          <p:nvPr/>
        </p:nvPicPr>
        <p:blipFill>
          <a:blip r:embed="rId2"/>
          <a:stretch>
            <a:fillRect/>
          </a:stretch>
        </p:blipFill>
        <p:spPr>
          <a:xfrm>
            <a:off x="1905000" y="4267200"/>
            <a:ext cx="4953000" cy="909095"/>
          </a:xfrm>
          <a:prstGeom prst="rect">
            <a:avLst/>
          </a:prstGeom>
        </p:spPr>
      </p:pic>
      <p:pic>
        <p:nvPicPr>
          <p:cNvPr id="8" name="Picture 7" descr="c.PNG"/>
          <p:cNvPicPr>
            <a:picLocks noChangeAspect="1"/>
          </p:cNvPicPr>
          <p:nvPr/>
        </p:nvPicPr>
        <p:blipFill>
          <a:blip r:embed="rId3"/>
          <a:stretch>
            <a:fillRect/>
          </a:stretch>
        </p:blipFill>
        <p:spPr>
          <a:xfrm>
            <a:off x="2133600" y="5105400"/>
            <a:ext cx="3743848" cy="1019317"/>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heckerboard(across)">
                                      <p:cBhvr>
                                        <p:cTn id="7" dur="500"/>
                                        <p:tgtEl>
                                          <p:spTgt spid="2">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checkerboard(across)">
                                      <p:cBhvr>
                                        <p:cTn id="10" dur="500"/>
                                        <p:tgtEl>
                                          <p:spTgt spid="2">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checkerboard(across)">
                                      <p:cBhvr>
                                        <p:cTn id="13" dur="500"/>
                                        <p:tgtEl>
                                          <p:spTgt spid="2">
                                            <p:txEl>
                                              <p:pRg st="2" end="2"/>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checkerboard(across)">
                                      <p:cBhvr>
                                        <p:cTn id="16" dur="500"/>
                                        <p:tgtEl>
                                          <p:spTgt spid="2">
                                            <p:txEl>
                                              <p:pRg st="3" end="3"/>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checkerboard(across)">
                                      <p:cBhvr>
                                        <p:cTn id="19" dur="500"/>
                                        <p:tgtEl>
                                          <p:spTgt spid="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 calcmode="lin" valueType="num">
                                      <p:cBhvr additive="base">
                                        <p:cTn id="24"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
                                            <p:txEl>
                                              <p:pRg st="6" end="6"/>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 calcmode="lin" valueType="num">
                                      <p:cBhvr additive="base">
                                        <p:cTn id="28"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additive="base">
                                        <p:cTn id="34" dur="500" fill="hold"/>
                                        <p:tgtEl>
                                          <p:spTgt spid="7"/>
                                        </p:tgtEl>
                                        <p:attrNameLst>
                                          <p:attrName>ppt_x</p:attrName>
                                        </p:attrNameLst>
                                      </p:cBhvr>
                                      <p:tavLst>
                                        <p:tav tm="0">
                                          <p:val>
                                            <p:strVal val="#ppt_x"/>
                                          </p:val>
                                        </p:tav>
                                        <p:tav tm="100000">
                                          <p:val>
                                            <p:strVal val="#ppt_x"/>
                                          </p:val>
                                        </p:tav>
                                      </p:tavLst>
                                    </p:anim>
                                    <p:anim calcmode="lin" valueType="num">
                                      <p:cBhvr additive="base">
                                        <p:cTn id="3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7" presetClass="entr" presetSubtype="4"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 calcmode="lin" valueType="num">
                                      <p:cBhvr additive="base">
                                        <p:cTn id="40" dur="5000" fill="hold"/>
                                        <p:tgtEl>
                                          <p:spTgt spid="8"/>
                                        </p:tgtEl>
                                        <p:attrNameLst>
                                          <p:attrName>ppt_x</p:attrName>
                                        </p:attrNameLst>
                                      </p:cBhvr>
                                      <p:tavLst>
                                        <p:tav tm="0">
                                          <p:val>
                                            <p:strVal val="#ppt_x"/>
                                          </p:val>
                                        </p:tav>
                                        <p:tav tm="100000">
                                          <p:val>
                                            <p:strVal val="#ppt_x"/>
                                          </p:val>
                                        </p:tav>
                                      </p:tavLst>
                                    </p:anim>
                                    <p:anim calcmode="lin" valueType="num">
                                      <p:cBhvr additive="base">
                                        <p:cTn id="41" dur="5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d.PNG"/>
          <p:cNvPicPr>
            <a:picLocks noGrp="1" noChangeAspect="1"/>
          </p:cNvPicPr>
          <p:nvPr>
            <p:ph idx="1"/>
          </p:nvPr>
        </p:nvPicPr>
        <p:blipFill>
          <a:blip r:embed="rId2"/>
          <a:stretch>
            <a:fillRect/>
          </a:stretch>
        </p:blipFill>
        <p:spPr>
          <a:xfrm>
            <a:off x="1981200" y="304800"/>
            <a:ext cx="4837340" cy="1143000"/>
          </a:xfrm>
        </p:spPr>
      </p:pic>
      <p:pic>
        <p:nvPicPr>
          <p:cNvPr id="5" name="Picture 4" descr="e.PNG"/>
          <p:cNvPicPr>
            <a:picLocks noChangeAspect="1"/>
          </p:cNvPicPr>
          <p:nvPr/>
        </p:nvPicPr>
        <p:blipFill>
          <a:blip r:embed="rId3"/>
          <a:stretch>
            <a:fillRect/>
          </a:stretch>
        </p:blipFill>
        <p:spPr>
          <a:xfrm>
            <a:off x="2209800" y="1600200"/>
            <a:ext cx="4343400" cy="1238024"/>
          </a:xfrm>
          <a:prstGeom prst="rect">
            <a:avLst/>
          </a:prstGeom>
        </p:spPr>
      </p:pic>
      <p:pic>
        <p:nvPicPr>
          <p:cNvPr id="6" name="Picture 5" descr="f.PNG"/>
          <p:cNvPicPr>
            <a:picLocks noChangeAspect="1"/>
          </p:cNvPicPr>
          <p:nvPr/>
        </p:nvPicPr>
        <p:blipFill>
          <a:blip r:embed="rId4"/>
          <a:stretch>
            <a:fillRect/>
          </a:stretch>
        </p:blipFill>
        <p:spPr>
          <a:xfrm>
            <a:off x="0" y="4343400"/>
            <a:ext cx="9217694" cy="2057400"/>
          </a:xfrm>
          <a:prstGeom prst="rect">
            <a:avLst/>
          </a:prstGeom>
        </p:spPr>
      </p:pic>
      <p:pic>
        <p:nvPicPr>
          <p:cNvPr id="7" name="Picture 6" descr="a.PNG"/>
          <p:cNvPicPr>
            <a:picLocks noChangeAspect="1"/>
          </p:cNvPicPr>
          <p:nvPr/>
        </p:nvPicPr>
        <p:blipFill>
          <a:blip r:embed="rId5"/>
          <a:stretch>
            <a:fillRect/>
          </a:stretch>
        </p:blipFill>
        <p:spPr>
          <a:xfrm>
            <a:off x="1752600" y="2995551"/>
            <a:ext cx="4967587" cy="1002329"/>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0" fill="hold"/>
                                        <p:tgtEl>
                                          <p:spTgt spid="4"/>
                                        </p:tgtEl>
                                        <p:attrNameLst>
                                          <p:attrName>ppt_x</p:attrName>
                                        </p:attrNameLst>
                                      </p:cBhvr>
                                      <p:tavLst>
                                        <p:tav tm="0">
                                          <p:val>
                                            <p:strVal val="#ppt_x"/>
                                          </p:val>
                                        </p:tav>
                                        <p:tav tm="100000">
                                          <p:val>
                                            <p:strVal val="#ppt_x"/>
                                          </p:val>
                                        </p:tav>
                                      </p:tavLst>
                                    </p:anim>
                                    <p:anim calcmode="lin" valueType="num">
                                      <p:cBhvr additive="base">
                                        <p:cTn id="8" dur="5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1"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heel(4)">
                                      <p:cBhvr>
                                        <p:cTn id="25"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81000"/>
            <a:ext cx="8229600" cy="5626291"/>
          </a:xfrm>
        </p:spPr>
        <p:txBody>
          <a:bodyPr/>
          <a:lstStyle/>
          <a:p>
            <a:pPr>
              <a:buNone/>
            </a:pPr>
            <a:r>
              <a:rPr lang="en-US" dirty="0" smtClean="0"/>
              <a:t>Problem 6:</a:t>
            </a:r>
          </a:p>
          <a:p>
            <a:pPr algn="just">
              <a:buNone/>
            </a:pPr>
            <a:r>
              <a:rPr lang="en-US" dirty="0" smtClean="0"/>
              <a:t>   A single cylinder, four stroke engine develops indicated power of 30kW at 300rpm. The indicated mean effective pressure is 6 bars. The piston speed is 180m/min. Determine the stroke and diameter of the cylinder. Also find the brake specific fuel consumption, if the mechanical efficiency is 80% and indicated thermal efficiency is 30% , CV of diesel is 40,000 kJ/kg</a:t>
            </a:r>
            <a:endParaRPr lang="en-US" dirty="0"/>
          </a:p>
        </p:txBody>
      </p:sp>
    </p:spTree>
  </p:cSld>
  <p:clrMapOvr>
    <a:masterClrMapping/>
  </p:clrMapOvr>
  <p:transition>
    <p:strips dir="l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81000"/>
            <a:ext cx="8229600" cy="5626291"/>
          </a:xfrm>
        </p:spPr>
        <p:txBody>
          <a:bodyPr>
            <a:normAutofit fontScale="47500" lnSpcReduction="20000"/>
          </a:bodyPr>
          <a:lstStyle/>
          <a:p>
            <a:pPr algn="just">
              <a:buNone/>
            </a:pPr>
            <a:r>
              <a:rPr lang="en-US" dirty="0" smtClean="0"/>
              <a:t>Solution:</a:t>
            </a:r>
          </a:p>
          <a:p>
            <a:pPr algn="just">
              <a:buNone/>
            </a:pPr>
            <a:endParaRPr lang="en-US" dirty="0" smtClean="0"/>
          </a:p>
          <a:p>
            <a:pPr algn="just">
              <a:buNone/>
            </a:pPr>
            <a:endParaRPr lang="en-US" dirty="0" smtClean="0"/>
          </a:p>
          <a:p>
            <a:pPr algn="just">
              <a:buNone/>
            </a:pPr>
            <a:r>
              <a:rPr lang="en-US" sz="3300" dirty="0" smtClean="0"/>
              <a:t>n=1  k=1/2  IP= 30kW   N=300 rpm  </a:t>
            </a:r>
          </a:p>
          <a:p>
            <a:pPr algn="just">
              <a:buNone/>
            </a:pPr>
            <a:r>
              <a:rPr lang="en-US" sz="3300" dirty="0" smtClean="0"/>
              <a:t>P</a:t>
            </a:r>
            <a:r>
              <a:rPr lang="en-US" sz="3300" baseline="-25000" dirty="0" smtClean="0"/>
              <a:t>m</a:t>
            </a:r>
            <a:r>
              <a:rPr lang="en-US" sz="3300" dirty="0" smtClean="0"/>
              <a:t> =6 bars , avg. piston speed= 180m/min</a:t>
            </a:r>
          </a:p>
          <a:p>
            <a:pPr algn="just">
              <a:buNone/>
            </a:pPr>
            <a:r>
              <a:rPr lang="el-GR" sz="3300" dirty="0" smtClean="0"/>
              <a:t>η</a:t>
            </a:r>
            <a:r>
              <a:rPr lang="en-US" sz="3300" baseline="-25000" dirty="0" err="1" smtClean="0"/>
              <a:t>mech</a:t>
            </a:r>
            <a:r>
              <a:rPr lang="en-US" sz="3300" baseline="-25000" dirty="0" smtClean="0"/>
              <a:t> </a:t>
            </a:r>
            <a:r>
              <a:rPr lang="en-US" sz="3300" dirty="0" smtClean="0"/>
              <a:t> = 0.8   </a:t>
            </a:r>
            <a:r>
              <a:rPr lang="el-GR" sz="3300" dirty="0" smtClean="0"/>
              <a:t>η</a:t>
            </a:r>
            <a:r>
              <a:rPr lang="en-US" sz="3300" baseline="-25000" dirty="0" err="1" smtClean="0"/>
              <a:t>Ith</a:t>
            </a:r>
            <a:r>
              <a:rPr lang="en-US" sz="3300" baseline="-25000" dirty="0" smtClean="0"/>
              <a:t> </a:t>
            </a:r>
            <a:r>
              <a:rPr lang="en-US" sz="3300" dirty="0" smtClean="0"/>
              <a:t> </a:t>
            </a:r>
            <a:r>
              <a:rPr lang="en-US" sz="3300" dirty="0" smtClean="0"/>
              <a:t>= 0.3   CV = 40000kJ/kg</a:t>
            </a:r>
          </a:p>
          <a:p>
            <a:pPr algn="just">
              <a:buNone/>
            </a:pPr>
            <a:r>
              <a:rPr lang="en-US" sz="3300" dirty="0" smtClean="0"/>
              <a:t> </a:t>
            </a:r>
            <a:endParaRPr lang="en-US" sz="3300" dirty="0" smtClean="0"/>
          </a:p>
          <a:p>
            <a:pPr algn="just">
              <a:buNone/>
            </a:pPr>
            <a:r>
              <a:rPr lang="en-US" sz="3300" dirty="0" smtClean="0"/>
              <a:t> Now, piston speed= 2LN , in m/min</a:t>
            </a:r>
          </a:p>
          <a:p>
            <a:pPr algn="just">
              <a:buNone/>
            </a:pPr>
            <a:r>
              <a:rPr lang="en-US" sz="3300" dirty="0" smtClean="0"/>
              <a:t> </a:t>
            </a:r>
            <a:r>
              <a:rPr lang="en-US" sz="3300" dirty="0" smtClean="0"/>
              <a:t> </a:t>
            </a:r>
          </a:p>
          <a:p>
            <a:pPr algn="just">
              <a:buNone/>
            </a:pPr>
            <a:r>
              <a:rPr lang="en-US" sz="3300" dirty="0" smtClean="0"/>
              <a:t>180 = 2 L* 300 , L= 0.3 m</a:t>
            </a:r>
          </a:p>
          <a:p>
            <a:pPr algn="just">
              <a:buNone/>
            </a:pPr>
            <a:r>
              <a:rPr lang="en-US" sz="3300" dirty="0" smtClean="0"/>
              <a:t> </a:t>
            </a:r>
            <a:endParaRPr lang="en-US" sz="3300" dirty="0" smtClean="0"/>
          </a:p>
          <a:p>
            <a:pPr algn="just">
              <a:buNone/>
            </a:pPr>
            <a:endParaRPr lang="en-US" dirty="0" smtClean="0"/>
          </a:p>
          <a:p>
            <a:pPr algn="just">
              <a:buNone/>
            </a:pPr>
            <a:r>
              <a:rPr lang="en-US" sz="3300" dirty="0" smtClean="0"/>
              <a:t>IP=</a:t>
            </a:r>
            <a:r>
              <a:rPr lang="en-US" sz="3300" dirty="0" err="1" smtClean="0"/>
              <a:t>nP</a:t>
            </a:r>
            <a:r>
              <a:rPr lang="en-US" sz="3300" baseline="-25000" dirty="0" err="1" smtClean="0"/>
              <a:t>m</a:t>
            </a:r>
            <a:r>
              <a:rPr lang="en-US" sz="3300" baseline="-25000" dirty="0" smtClean="0"/>
              <a:t> </a:t>
            </a:r>
            <a:r>
              <a:rPr lang="en-US" sz="3300" dirty="0" smtClean="0"/>
              <a:t> L A N K (10/6)</a:t>
            </a:r>
          </a:p>
          <a:p>
            <a:pPr algn="just">
              <a:buNone/>
            </a:pPr>
            <a:r>
              <a:rPr lang="en-US" sz="3300" dirty="0" smtClean="0"/>
              <a:t>30</a:t>
            </a:r>
            <a:r>
              <a:rPr lang="en-US" sz="3300" dirty="0" smtClean="0"/>
              <a:t>= (1) (6) (0.3)( </a:t>
            </a:r>
            <a:r>
              <a:rPr lang="az-Cyrl-AZ" sz="3300" dirty="0" smtClean="0"/>
              <a:t>π</a:t>
            </a:r>
            <a:r>
              <a:rPr lang="en-US" sz="3300" dirty="0" smtClean="0"/>
              <a:t>d</a:t>
            </a:r>
            <a:r>
              <a:rPr lang="en-US" sz="3300" baseline="30000" dirty="0" smtClean="0"/>
              <a:t>2 </a:t>
            </a:r>
            <a:r>
              <a:rPr lang="en-US" sz="3300" dirty="0" smtClean="0"/>
              <a:t> /4) (300)(1/2)(10/6)</a:t>
            </a:r>
          </a:p>
          <a:p>
            <a:pPr algn="just">
              <a:buNone/>
            </a:pPr>
            <a:r>
              <a:rPr lang="en-US" sz="3300" dirty="0" smtClean="0"/>
              <a:t>d=0.28 </a:t>
            </a:r>
            <a:r>
              <a:rPr lang="en-US" sz="3300" dirty="0" smtClean="0"/>
              <a:t>m</a:t>
            </a:r>
          </a:p>
          <a:p>
            <a:pPr algn="just">
              <a:buNone/>
            </a:pPr>
            <a:endParaRPr lang="en-US" dirty="0" smtClean="0"/>
          </a:p>
          <a:p>
            <a:pPr algn="just">
              <a:buNone/>
            </a:pPr>
            <a:endParaRPr lang="en-US" dirty="0" smtClean="0"/>
          </a:p>
          <a:p>
            <a:pPr algn="just">
              <a:buNone/>
            </a:pPr>
            <a:endParaRPr lang="en-US" dirty="0" smtClean="0"/>
          </a:p>
          <a:p>
            <a:pPr algn="just">
              <a:buNone/>
            </a:pPr>
            <a:endParaRPr lang="en-US" dirty="0" smtClean="0"/>
          </a:p>
          <a:p>
            <a:pPr algn="just">
              <a:buNone/>
            </a:pPr>
            <a:endParaRPr lang="en-US" dirty="0" smtClean="0"/>
          </a:p>
          <a:p>
            <a:pPr algn="just">
              <a:buNone/>
            </a:pPr>
            <a:endParaRPr lang="en-US" dirty="0" smtClean="0"/>
          </a:p>
          <a:p>
            <a:pPr algn="just">
              <a:buNone/>
            </a:pPr>
            <a:endParaRPr lang="en-US" dirty="0" smtClean="0"/>
          </a:p>
          <a:p>
            <a:pPr algn="just">
              <a:buNone/>
            </a:pPr>
            <a:endParaRPr lang="en-US" dirty="0" smtClean="0"/>
          </a:p>
          <a:p>
            <a:pPr algn="just">
              <a:buNone/>
            </a:pPr>
            <a:r>
              <a:rPr lang="en-US" dirty="0" smtClean="0"/>
              <a:t> </a:t>
            </a:r>
            <a:endParaRPr lang="en-US" dirty="0"/>
          </a:p>
        </p:txBody>
      </p:sp>
      <p:pic>
        <p:nvPicPr>
          <p:cNvPr id="4" name="Picture 3" descr="2ln.png"/>
          <p:cNvPicPr>
            <a:picLocks noChangeAspect="1"/>
          </p:cNvPicPr>
          <p:nvPr/>
        </p:nvPicPr>
        <p:blipFill>
          <a:blip r:embed="rId2"/>
          <a:stretch>
            <a:fillRect/>
          </a:stretch>
        </p:blipFill>
        <p:spPr>
          <a:xfrm>
            <a:off x="5410200" y="1524000"/>
            <a:ext cx="3352800" cy="4419600"/>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blinds(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box(in)">
                                      <p:cBhvr>
                                        <p:cTn id="12" dur="500"/>
                                        <p:tgtEl>
                                          <p:spTgt spid="2">
                                            <p:txEl>
                                              <p:pRg st="4" end="4"/>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animEffect transition="in" filter="box(in)">
                                      <p:cBhvr>
                                        <p:cTn id="15" dur="500"/>
                                        <p:tgtEl>
                                          <p:spTgt spid="2">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2">
                                            <p:txEl>
                                              <p:pRg st="7" end="7"/>
                                            </p:txEl>
                                          </p:spTgt>
                                        </p:tgtEl>
                                        <p:attrNameLst>
                                          <p:attrName>style.visibility</p:attrName>
                                        </p:attrNameLst>
                                      </p:cBhvr>
                                      <p:to>
                                        <p:strVal val="visible"/>
                                      </p:to>
                                    </p:set>
                                    <p:animEffect transition="in" filter="checkerboard(across)">
                                      <p:cBhvr>
                                        <p:cTn id="20" dur="500"/>
                                        <p:tgtEl>
                                          <p:spTgt spid="2">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diamond(in)">
                                      <p:cBhvr>
                                        <p:cTn id="25" dur="20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nodeType="clickEffect">
                                  <p:stCondLst>
                                    <p:cond delay="0"/>
                                  </p:stCondLst>
                                  <p:childTnLst>
                                    <p:set>
                                      <p:cBhvr>
                                        <p:cTn id="29" dur="1" fill="hold">
                                          <p:stCondLst>
                                            <p:cond delay="0"/>
                                          </p:stCondLst>
                                        </p:cTn>
                                        <p:tgtEl>
                                          <p:spTgt spid="2">
                                            <p:txEl>
                                              <p:pRg st="9" end="9"/>
                                            </p:txEl>
                                          </p:spTgt>
                                        </p:tgtEl>
                                        <p:attrNameLst>
                                          <p:attrName>style.visibility</p:attrName>
                                        </p:attrNameLst>
                                      </p:cBhvr>
                                      <p:to>
                                        <p:strVal val="visible"/>
                                      </p:to>
                                    </p:set>
                                    <p:animEffect transition="in" filter="checkerboard(across)">
                                      <p:cBhvr>
                                        <p:cTn id="30" dur="500"/>
                                        <p:tgtEl>
                                          <p:spTgt spid="2">
                                            <p:txEl>
                                              <p:pRg st="9" end="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nodeType="clickEffect">
                                  <p:stCondLst>
                                    <p:cond delay="0"/>
                                  </p:stCondLst>
                                  <p:childTnLst>
                                    <p:set>
                                      <p:cBhvr>
                                        <p:cTn id="34" dur="1" fill="hold">
                                          <p:stCondLst>
                                            <p:cond delay="0"/>
                                          </p:stCondLst>
                                        </p:cTn>
                                        <p:tgtEl>
                                          <p:spTgt spid="2">
                                            <p:txEl>
                                              <p:pRg st="12" end="12"/>
                                            </p:txEl>
                                          </p:spTgt>
                                        </p:tgtEl>
                                        <p:attrNameLst>
                                          <p:attrName>style.visibility</p:attrName>
                                        </p:attrNameLst>
                                      </p:cBhvr>
                                      <p:to>
                                        <p:strVal val="visible"/>
                                      </p:to>
                                    </p:set>
                                    <p:animEffect transition="in" filter="checkerboard(across)">
                                      <p:cBhvr>
                                        <p:cTn id="35" dur="500"/>
                                        <p:tgtEl>
                                          <p:spTgt spid="2">
                                            <p:txEl>
                                              <p:pRg st="12" end="1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
                                            <p:txEl>
                                              <p:pRg st="13" end="13"/>
                                            </p:txEl>
                                          </p:spTgt>
                                        </p:tgtEl>
                                        <p:attrNameLst>
                                          <p:attrName>style.visibility</p:attrName>
                                        </p:attrNameLst>
                                      </p:cBhvr>
                                      <p:to>
                                        <p:strVal val="visible"/>
                                      </p:to>
                                    </p:set>
                                    <p:animEffect transition="in" filter="dissolve">
                                      <p:cBhvr>
                                        <p:cTn id="40" dur="500"/>
                                        <p:tgtEl>
                                          <p:spTgt spid="2">
                                            <p:txEl>
                                              <p:pRg st="13" end="1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1" presetClass="entr" presetSubtype="4" fill="hold" nodeType="clickEffect">
                                  <p:stCondLst>
                                    <p:cond delay="0"/>
                                  </p:stCondLst>
                                  <p:childTnLst>
                                    <p:set>
                                      <p:cBhvr>
                                        <p:cTn id="44" dur="1" fill="hold">
                                          <p:stCondLst>
                                            <p:cond delay="0"/>
                                          </p:stCondLst>
                                        </p:cTn>
                                        <p:tgtEl>
                                          <p:spTgt spid="2">
                                            <p:txEl>
                                              <p:pRg st="14" end="14"/>
                                            </p:txEl>
                                          </p:spTgt>
                                        </p:tgtEl>
                                        <p:attrNameLst>
                                          <p:attrName>style.visibility</p:attrName>
                                        </p:attrNameLst>
                                      </p:cBhvr>
                                      <p:to>
                                        <p:strVal val="visible"/>
                                      </p:to>
                                    </p:set>
                                    <p:animEffect transition="in" filter="wheel(4)">
                                      <p:cBhvr>
                                        <p:cTn id="45" dur="2000"/>
                                        <p:tgtEl>
                                          <p:spTgt spid="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0"/>
            <a:ext cx="8229600" cy="6553200"/>
          </a:xfrm>
        </p:spPr>
        <p:txBody>
          <a:bodyPr/>
          <a:lstStyle/>
          <a:p>
            <a:pPr algn="just">
              <a:buNone/>
            </a:pPr>
            <a:r>
              <a:rPr lang="en-US" dirty="0" smtClean="0"/>
              <a:t>To find BSFC</a:t>
            </a:r>
          </a:p>
          <a:p>
            <a:pPr algn="just">
              <a:buNone/>
            </a:pPr>
            <a:r>
              <a:rPr lang="el-GR" sz="2800" dirty="0" smtClean="0"/>
              <a:t>η</a:t>
            </a:r>
            <a:r>
              <a:rPr lang="en-US" sz="2800" baseline="-25000" dirty="0" err="1" smtClean="0"/>
              <a:t>mech</a:t>
            </a:r>
            <a:r>
              <a:rPr lang="en-US" sz="2800" baseline="-25000" dirty="0" smtClean="0"/>
              <a:t> </a:t>
            </a:r>
            <a:r>
              <a:rPr lang="en-US" sz="2800" dirty="0" smtClean="0"/>
              <a:t> = </a:t>
            </a:r>
            <a:r>
              <a:rPr lang="en-US" sz="2800" dirty="0" smtClean="0"/>
              <a:t>0.8   , BP= 0.8 * 30= 24kW</a:t>
            </a:r>
          </a:p>
          <a:p>
            <a:pPr algn="just">
              <a:buNone/>
            </a:pPr>
            <a:r>
              <a:rPr lang="en-US" sz="2800" dirty="0" smtClean="0"/>
              <a:t> </a:t>
            </a:r>
            <a:r>
              <a:rPr lang="en-US" sz="2800" dirty="0" smtClean="0"/>
              <a:t> BSFC= ( m</a:t>
            </a:r>
            <a:r>
              <a:rPr lang="en-US" sz="2800" baseline="-25000" dirty="0" smtClean="0"/>
              <a:t>f </a:t>
            </a:r>
            <a:r>
              <a:rPr lang="en-US" sz="2800" dirty="0" smtClean="0"/>
              <a:t> / BP) , </a:t>
            </a:r>
            <a:r>
              <a:rPr lang="en-US" sz="2400" dirty="0" smtClean="0"/>
              <a:t>m</a:t>
            </a:r>
            <a:r>
              <a:rPr lang="en-US" sz="2400" baseline="-25000" dirty="0" smtClean="0"/>
              <a:t>f  </a:t>
            </a:r>
            <a:r>
              <a:rPr lang="en-US" sz="2400" dirty="0" smtClean="0"/>
              <a:t> in kg/h</a:t>
            </a:r>
          </a:p>
          <a:p>
            <a:pPr algn="just">
              <a:buNone/>
            </a:pPr>
            <a:endParaRPr lang="en-US" sz="2400" dirty="0" smtClean="0"/>
          </a:p>
          <a:p>
            <a:pPr algn="just">
              <a:buNone/>
            </a:pPr>
            <a:endParaRPr lang="en-US" dirty="0"/>
          </a:p>
        </p:txBody>
      </p:sp>
      <p:pic>
        <p:nvPicPr>
          <p:cNvPr id="4" name="Picture 3" descr="11.PNG"/>
          <p:cNvPicPr>
            <a:picLocks noChangeAspect="1"/>
          </p:cNvPicPr>
          <p:nvPr/>
        </p:nvPicPr>
        <p:blipFill>
          <a:blip r:embed="rId2"/>
          <a:stretch>
            <a:fillRect/>
          </a:stretch>
        </p:blipFill>
        <p:spPr>
          <a:xfrm>
            <a:off x="1219200" y="1905000"/>
            <a:ext cx="3810000" cy="1518672"/>
          </a:xfrm>
          <a:prstGeom prst="rect">
            <a:avLst/>
          </a:prstGeom>
        </p:spPr>
      </p:pic>
      <p:pic>
        <p:nvPicPr>
          <p:cNvPr id="5" name="Picture 4" descr="22.PNG"/>
          <p:cNvPicPr>
            <a:picLocks noChangeAspect="1"/>
          </p:cNvPicPr>
          <p:nvPr/>
        </p:nvPicPr>
        <p:blipFill>
          <a:blip r:embed="rId3"/>
          <a:stretch>
            <a:fillRect/>
          </a:stretch>
        </p:blipFill>
        <p:spPr>
          <a:xfrm>
            <a:off x="1371600" y="3886200"/>
            <a:ext cx="3657600" cy="1460585"/>
          </a:xfrm>
          <a:prstGeom prst="rect">
            <a:avLst/>
          </a:prstGeom>
        </p:spPr>
      </p:pic>
      <p:pic>
        <p:nvPicPr>
          <p:cNvPr id="6" name="Picture 5" descr="33.PNG"/>
          <p:cNvPicPr>
            <a:picLocks noChangeAspect="1"/>
          </p:cNvPicPr>
          <p:nvPr/>
        </p:nvPicPr>
        <p:blipFill>
          <a:blip r:embed="rId4"/>
          <a:stretch>
            <a:fillRect/>
          </a:stretch>
        </p:blipFill>
        <p:spPr>
          <a:xfrm>
            <a:off x="4724400" y="3810000"/>
            <a:ext cx="3610479" cy="1143160"/>
          </a:xfrm>
          <a:prstGeom prst="rect">
            <a:avLst/>
          </a:prstGeom>
        </p:spPr>
      </p:pic>
      <p:pic>
        <p:nvPicPr>
          <p:cNvPr id="7" name="Picture 6" descr="44.PNG"/>
          <p:cNvPicPr>
            <a:picLocks noChangeAspect="1"/>
          </p:cNvPicPr>
          <p:nvPr/>
        </p:nvPicPr>
        <p:blipFill>
          <a:blip r:embed="rId5"/>
          <a:stretch>
            <a:fillRect/>
          </a:stretch>
        </p:blipFill>
        <p:spPr>
          <a:xfrm>
            <a:off x="3657600" y="5334000"/>
            <a:ext cx="2372056" cy="600159"/>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7"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checkerboard(across)">
                                      <p:cBhvr>
                                        <p:cTn id="19" dur="500"/>
                                        <p:tgtEl>
                                          <p:spTgt spid="2">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4"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heel(4)">
                                      <p:cBhvr>
                                        <p:cTn id="24" dur="20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blinds(horizontal)">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checkerboard(across)">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blinds(horizontal)">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55.PNG"/>
          <p:cNvPicPr>
            <a:picLocks noGrp="1" noChangeAspect="1"/>
          </p:cNvPicPr>
          <p:nvPr>
            <p:ph idx="1"/>
          </p:nvPr>
        </p:nvPicPr>
        <p:blipFill>
          <a:blip r:embed="rId2"/>
          <a:stretch>
            <a:fillRect/>
          </a:stretch>
        </p:blipFill>
        <p:spPr>
          <a:xfrm>
            <a:off x="1066800" y="609600"/>
            <a:ext cx="2971800" cy="1100286"/>
          </a:xfrm>
        </p:spPr>
      </p:pic>
      <p:pic>
        <p:nvPicPr>
          <p:cNvPr id="5" name="Picture 4" descr="66.PNG"/>
          <p:cNvPicPr>
            <a:picLocks noChangeAspect="1"/>
          </p:cNvPicPr>
          <p:nvPr/>
        </p:nvPicPr>
        <p:blipFill>
          <a:blip r:embed="rId3"/>
          <a:stretch>
            <a:fillRect/>
          </a:stretch>
        </p:blipFill>
        <p:spPr>
          <a:xfrm>
            <a:off x="1143000" y="1905000"/>
            <a:ext cx="4734586" cy="1314634"/>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0"/>
            <a:ext cx="8229600" cy="6007291"/>
          </a:xfrm>
        </p:spPr>
        <p:txBody>
          <a:bodyPr>
            <a:normAutofit lnSpcReduction="10000"/>
          </a:bodyPr>
          <a:lstStyle/>
          <a:p>
            <a:pPr algn="just">
              <a:buNone/>
            </a:pPr>
            <a:r>
              <a:rPr lang="en-US" dirty="0" smtClean="0"/>
              <a:t>Problem 7:</a:t>
            </a:r>
          </a:p>
          <a:p>
            <a:pPr algn="just">
              <a:buNone/>
            </a:pPr>
            <a:r>
              <a:rPr lang="en-US" dirty="0" smtClean="0"/>
              <a:t>   A single cylinder 4-s IC engine has a swept volume of 6 </a:t>
            </a:r>
            <a:r>
              <a:rPr lang="en-US" dirty="0" err="1" smtClean="0"/>
              <a:t>litres</a:t>
            </a:r>
            <a:r>
              <a:rPr lang="en-US" dirty="0" smtClean="0"/>
              <a:t> and runs at a rated speed of 300 rpm. At full load , the torque developed was measured with a belt dynamometer whose pulley diameter is 1m. The tension in tight side and slack side of the belt is 700N and 300N respectively. 4kg of fuel was consumed in one hour. The indicated mean effective pressure is  6 bars and CV of fuel is 42,000kJ/kg.</a:t>
            </a:r>
          </a:p>
          <a:p>
            <a:pPr algn="just">
              <a:buNone/>
            </a:pPr>
            <a:r>
              <a:rPr lang="en-US" dirty="0" smtClean="0"/>
              <a:t>Calculate the brake power, indicated power , mechanical efficiency, indicated thermal efficiency, brake thermal efficiency and brake specific fuel consumption</a:t>
            </a:r>
            <a:endParaRPr lang="en-US" dirty="0"/>
          </a:p>
        </p:txBody>
      </p:sp>
    </p:spTree>
  </p:cSld>
  <p:clrMapOvr>
    <a:masterClrMapping/>
  </p:clrMapOvr>
  <p:transition>
    <p:strips dir="l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28600"/>
            <a:ext cx="8229600" cy="5778691"/>
          </a:xfrm>
        </p:spPr>
        <p:txBody>
          <a:bodyPr/>
          <a:lstStyle/>
          <a:p>
            <a:pPr algn="just">
              <a:buNone/>
            </a:pPr>
            <a:r>
              <a:rPr lang="en-US" dirty="0" smtClean="0"/>
              <a:t>Solution:</a:t>
            </a:r>
          </a:p>
          <a:p>
            <a:pPr algn="just">
              <a:buNone/>
            </a:pPr>
            <a:r>
              <a:rPr lang="en-US" dirty="0" smtClean="0"/>
              <a:t>n =1 , k=1/2 , V</a:t>
            </a:r>
            <a:r>
              <a:rPr lang="en-US" baseline="-25000" dirty="0" smtClean="0"/>
              <a:t>s</a:t>
            </a:r>
            <a:r>
              <a:rPr lang="en-US" dirty="0" smtClean="0"/>
              <a:t> = 6litres , 6* 10</a:t>
            </a:r>
            <a:r>
              <a:rPr lang="en-US" baseline="30000" dirty="0" smtClean="0"/>
              <a:t>-3</a:t>
            </a:r>
            <a:r>
              <a:rPr lang="en-US" dirty="0" smtClean="0"/>
              <a:t> m</a:t>
            </a:r>
            <a:r>
              <a:rPr lang="en-US" baseline="30000" dirty="0" smtClean="0"/>
              <a:t>3</a:t>
            </a:r>
            <a:r>
              <a:rPr lang="en-US" dirty="0" smtClean="0"/>
              <a:t> , N=300 rpm</a:t>
            </a:r>
          </a:p>
          <a:p>
            <a:pPr algn="just">
              <a:buNone/>
            </a:pPr>
            <a:r>
              <a:rPr lang="en-US" dirty="0" smtClean="0"/>
              <a:t>T</a:t>
            </a:r>
            <a:r>
              <a:rPr lang="en-US" baseline="-25000" dirty="0" smtClean="0"/>
              <a:t>1</a:t>
            </a:r>
            <a:r>
              <a:rPr lang="en-US" dirty="0" smtClean="0"/>
              <a:t> = 700N and T</a:t>
            </a:r>
            <a:r>
              <a:rPr lang="en-US" baseline="-25000" dirty="0" smtClean="0"/>
              <a:t>2</a:t>
            </a:r>
            <a:r>
              <a:rPr lang="en-US" dirty="0" smtClean="0"/>
              <a:t> = 300N,  R= 0.5 m</a:t>
            </a:r>
          </a:p>
          <a:p>
            <a:pPr algn="just">
              <a:buNone/>
            </a:pPr>
            <a:r>
              <a:rPr lang="en-US" dirty="0" smtClean="0"/>
              <a:t>P</a:t>
            </a:r>
            <a:r>
              <a:rPr lang="en-US" baseline="-25000" dirty="0" smtClean="0"/>
              <a:t>m</a:t>
            </a:r>
            <a:r>
              <a:rPr lang="en-US" dirty="0" smtClean="0"/>
              <a:t> =6 bars  m</a:t>
            </a:r>
            <a:r>
              <a:rPr lang="en-US" baseline="-25000" dirty="0" smtClean="0"/>
              <a:t>f</a:t>
            </a:r>
            <a:r>
              <a:rPr lang="en-US" dirty="0" smtClean="0"/>
              <a:t> = 4kg/h   CV= 42,000kJ/kg</a:t>
            </a:r>
          </a:p>
          <a:p>
            <a:pPr algn="just">
              <a:buNone/>
            </a:pPr>
            <a:endParaRPr lang="en-US" dirty="0" smtClean="0"/>
          </a:p>
          <a:p>
            <a:pPr algn="just">
              <a:buNone/>
            </a:pPr>
            <a:r>
              <a:rPr lang="en-US" dirty="0" smtClean="0"/>
              <a:t> </a:t>
            </a:r>
          </a:p>
          <a:p>
            <a:pPr algn="just">
              <a:buNone/>
            </a:pPr>
            <a:endParaRPr lang="en-US" dirty="0"/>
          </a:p>
        </p:txBody>
      </p:sp>
      <p:pic>
        <p:nvPicPr>
          <p:cNvPr id="4" name="Picture 3" descr="1.PNG"/>
          <p:cNvPicPr>
            <a:picLocks noChangeAspect="1"/>
          </p:cNvPicPr>
          <p:nvPr/>
        </p:nvPicPr>
        <p:blipFill>
          <a:blip r:embed="rId2"/>
          <a:stretch>
            <a:fillRect/>
          </a:stretch>
        </p:blipFill>
        <p:spPr>
          <a:xfrm>
            <a:off x="1066800" y="2819400"/>
            <a:ext cx="5706272" cy="2238688"/>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blinds(horizontal)">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checkerboard(across)">
                                      <p:cBhvr>
                                        <p:cTn id="15" dur="500"/>
                                        <p:tgtEl>
                                          <p:spTgt spid="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checkerboard(across)">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2.PNG"/>
          <p:cNvPicPr>
            <a:picLocks noGrp="1" noChangeAspect="1"/>
          </p:cNvPicPr>
          <p:nvPr>
            <p:ph idx="1"/>
          </p:nvPr>
        </p:nvPicPr>
        <p:blipFill>
          <a:blip r:embed="rId2"/>
          <a:stretch>
            <a:fillRect/>
          </a:stretch>
        </p:blipFill>
        <p:spPr>
          <a:xfrm>
            <a:off x="1066800" y="381000"/>
            <a:ext cx="5849167" cy="1952898"/>
          </a:xfrm>
        </p:spPr>
      </p:pic>
      <p:pic>
        <p:nvPicPr>
          <p:cNvPr id="5" name="Picture 4" descr="3.PNG"/>
          <p:cNvPicPr>
            <a:picLocks noChangeAspect="1"/>
          </p:cNvPicPr>
          <p:nvPr/>
        </p:nvPicPr>
        <p:blipFill>
          <a:blip r:embed="rId3"/>
          <a:stretch>
            <a:fillRect/>
          </a:stretch>
        </p:blipFill>
        <p:spPr>
          <a:xfrm>
            <a:off x="1524000" y="2286000"/>
            <a:ext cx="5782482" cy="895475"/>
          </a:xfrm>
          <a:prstGeom prst="rect">
            <a:avLst/>
          </a:prstGeom>
        </p:spPr>
      </p:pic>
      <p:pic>
        <p:nvPicPr>
          <p:cNvPr id="6" name="Picture 5" descr="4.PNG"/>
          <p:cNvPicPr>
            <a:picLocks noChangeAspect="1"/>
          </p:cNvPicPr>
          <p:nvPr/>
        </p:nvPicPr>
        <p:blipFill>
          <a:blip r:embed="rId4"/>
          <a:stretch>
            <a:fillRect/>
          </a:stretch>
        </p:blipFill>
        <p:spPr>
          <a:xfrm>
            <a:off x="1600200" y="3276600"/>
            <a:ext cx="5106113" cy="885949"/>
          </a:xfrm>
          <a:prstGeom prst="rect">
            <a:avLst/>
          </a:prstGeom>
        </p:spPr>
      </p:pic>
      <p:pic>
        <p:nvPicPr>
          <p:cNvPr id="7" name="Picture 6" descr="5.PNG"/>
          <p:cNvPicPr>
            <a:picLocks noChangeAspect="1"/>
          </p:cNvPicPr>
          <p:nvPr/>
        </p:nvPicPr>
        <p:blipFill>
          <a:blip r:embed="rId5"/>
          <a:stretch>
            <a:fillRect/>
          </a:stretch>
        </p:blipFill>
        <p:spPr>
          <a:xfrm>
            <a:off x="3200400" y="5334000"/>
            <a:ext cx="4429744" cy="1028844"/>
          </a:xfrm>
          <a:prstGeom prst="rect">
            <a:avLst/>
          </a:prstGeom>
        </p:spPr>
      </p:pic>
      <p:pic>
        <p:nvPicPr>
          <p:cNvPr id="9" name="Picture 8" descr="6.PNG"/>
          <p:cNvPicPr>
            <a:picLocks noChangeAspect="1"/>
          </p:cNvPicPr>
          <p:nvPr/>
        </p:nvPicPr>
        <p:blipFill>
          <a:blip r:embed="rId6"/>
          <a:stretch>
            <a:fillRect/>
          </a:stretch>
        </p:blipFill>
        <p:spPr>
          <a:xfrm>
            <a:off x="2819400" y="4191001"/>
            <a:ext cx="2286000" cy="1066800"/>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4)">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heel(4)">
                                      <p:cBhvr>
                                        <p:cTn id="22" dur="2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7.PNG"/>
          <p:cNvPicPr>
            <a:picLocks noGrp="1" noChangeAspect="1"/>
          </p:cNvPicPr>
          <p:nvPr>
            <p:ph idx="1"/>
          </p:nvPr>
        </p:nvPicPr>
        <p:blipFill>
          <a:blip r:embed="rId2"/>
          <a:stretch>
            <a:fillRect/>
          </a:stretch>
        </p:blipFill>
        <p:spPr>
          <a:xfrm>
            <a:off x="2514600" y="304800"/>
            <a:ext cx="3775634" cy="1295400"/>
          </a:xfrm>
        </p:spPr>
      </p:pic>
      <p:pic>
        <p:nvPicPr>
          <p:cNvPr id="5" name="Picture 4" descr="8.PNG"/>
          <p:cNvPicPr>
            <a:picLocks noChangeAspect="1"/>
          </p:cNvPicPr>
          <p:nvPr/>
        </p:nvPicPr>
        <p:blipFill>
          <a:blip r:embed="rId3"/>
          <a:stretch>
            <a:fillRect/>
          </a:stretch>
        </p:blipFill>
        <p:spPr>
          <a:xfrm>
            <a:off x="1828800" y="1676400"/>
            <a:ext cx="5324229" cy="1143000"/>
          </a:xfrm>
          <a:prstGeom prst="rect">
            <a:avLst/>
          </a:prstGeom>
        </p:spPr>
      </p:pic>
      <p:pic>
        <p:nvPicPr>
          <p:cNvPr id="7" name="Picture 6" descr="9.PNG"/>
          <p:cNvPicPr>
            <a:picLocks noChangeAspect="1"/>
          </p:cNvPicPr>
          <p:nvPr/>
        </p:nvPicPr>
        <p:blipFill>
          <a:blip r:embed="rId4"/>
          <a:stretch>
            <a:fillRect/>
          </a:stretch>
        </p:blipFill>
        <p:spPr>
          <a:xfrm>
            <a:off x="1524000" y="3657600"/>
            <a:ext cx="6382184" cy="1204001"/>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28600"/>
            <a:ext cx="8229600" cy="5778691"/>
          </a:xfrm>
        </p:spPr>
        <p:txBody>
          <a:bodyPr/>
          <a:lstStyle/>
          <a:p>
            <a:pPr algn="just">
              <a:buNone/>
            </a:pPr>
            <a:r>
              <a:rPr lang="en-US" dirty="0" smtClean="0"/>
              <a:t>Problem 8:</a:t>
            </a:r>
          </a:p>
          <a:p>
            <a:pPr algn="just">
              <a:buNone/>
            </a:pPr>
            <a:r>
              <a:rPr lang="en-US" dirty="0" smtClean="0"/>
              <a:t>   A diesel engine develops 5 kW. Its indicated thermal efficiency is 30%  and mechanical efficiency is 75% . Estimate the fuel consumption of engine in a) kg/h and b) </a:t>
            </a:r>
            <a:r>
              <a:rPr lang="en-US" dirty="0" err="1" smtClean="0"/>
              <a:t>litres</a:t>
            </a:r>
            <a:r>
              <a:rPr lang="en-US" dirty="0" smtClean="0"/>
              <a:t>/h . Also find a) ISFC and b) BSFC, take calorific value of fuel as 42,000 kJ/kg and specific gravity of fuel as 0.87</a:t>
            </a:r>
            <a:endParaRPr lang="en-US" dirty="0"/>
          </a:p>
        </p:txBody>
      </p:sp>
    </p:spTree>
  </p:cSld>
  <p:clrMapOvr>
    <a:masterClrMapping/>
  </p:clrMapOvr>
  <p:transition>
    <p:strips dir="ld"/>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6007291"/>
          </a:xfrm>
        </p:spPr>
        <p:txBody>
          <a:bodyPr/>
          <a:lstStyle/>
          <a:p>
            <a:pPr algn="just">
              <a:buNone/>
            </a:pPr>
            <a:r>
              <a:rPr lang="en-US" dirty="0" smtClean="0"/>
              <a:t>Solution:</a:t>
            </a:r>
          </a:p>
          <a:p>
            <a:pPr algn="just">
              <a:buNone/>
            </a:pPr>
            <a:r>
              <a:rPr lang="en-US" dirty="0" smtClean="0"/>
              <a:t>BP=5kW</a:t>
            </a:r>
          </a:p>
          <a:p>
            <a:pPr algn="just">
              <a:buNone/>
            </a:pPr>
            <a:endParaRPr lang="en-US" dirty="0" smtClean="0"/>
          </a:p>
        </p:txBody>
      </p:sp>
      <p:pic>
        <p:nvPicPr>
          <p:cNvPr id="4" name="Picture 3" descr="1.PNG"/>
          <p:cNvPicPr>
            <a:picLocks noChangeAspect="1"/>
          </p:cNvPicPr>
          <p:nvPr/>
        </p:nvPicPr>
        <p:blipFill>
          <a:blip r:embed="rId2"/>
          <a:stretch>
            <a:fillRect/>
          </a:stretch>
        </p:blipFill>
        <p:spPr>
          <a:xfrm>
            <a:off x="3276600" y="1066800"/>
            <a:ext cx="3162742" cy="1371792"/>
          </a:xfrm>
          <a:prstGeom prst="rect">
            <a:avLst/>
          </a:prstGeom>
        </p:spPr>
      </p:pic>
      <p:pic>
        <p:nvPicPr>
          <p:cNvPr id="5" name="Picture 4" descr="2.PNG"/>
          <p:cNvPicPr>
            <a:picLocks noChangeAspect="1"/>
          </p:cNvPicPr>
          <p:nvPr/>
        </p:nvPicPr>
        <p:blipFill>
          <a:blip r:embed="rId3"/>
          <a:stretch>
            <a:fillRect/>
          </a:stretch>
        </p:blipFill>
        <p:spPr>
          <a:xfrm>
            <a:off x="1447800" y="3657600"/>
            <a:ext cx="6620799" cy="1028844"/>
          </a:xfrm>
          <a:prstGeom prst="rect">
            <a:avLst/>
          </a:prstGeom>
        </p:spPr>
      </p:pic>
      <p:pic>
        <p:nvPicPr>
          <p:cNvPr id="6" name="Picture 5" descr="3.PNG"/>
          <p:cNvPicPr>
            <a:picLocks noChangeAspect="1"/>
          </p:cNvPicPr>
          <p:nvPr/>
        </p:nvPicPr>
        <p:blipFill>
          <a:blip r:embed="rId4"/>
          <a:stretch>
            <a:fillRect/>
          </a:stretch>
        </p:blipFill>
        <p:spPr>
          <a:xfrm>
            <a:off x="914400" y="2438400"/>
            <a:ext cx="3096057" cy="762106"/>
          </a:xfrm>
          <a:prstGeom prst="rect">
            <a:avLst/>
          </a:prstGeom>
        </p:spPr>
      </p:pic>
      <p:pic>
        <p:nvPicPr>
          <p:cNvPr id="7" name="Picture 6" descr="4.PNG"/>
          <p:cNvPicPr>
            <a:picLocks noChangeAspect="1"/>
          </p:cNvPicPr>
          <p:nvPr/>
        </p:nvPicPr>
        <p:blipFill>
          <a:blip r:embed="rId5"/>
          <a:stretch>
            <a:fillRect/>
          </a:stretch>
        </p:blipFill>
        <p:spPr>
          <a:xfrm>
            <a:off x="4267200" y="2438400"/>
            <a:ext cx="3839111" cy="866896"/>
          </a:xfrm>
          <a:prstGeom prst="rect">
            <a:avLst/>
          </a:prstGeom>
        </p:spPr>
      </p:pic>
      <p:pic>
        <p:nvPicPr>
          <p:cNvPr id="8" name="Picture 7" descr="5.PNG"/>
          <p:cNvPicPr>
            <a:picLocks noChangeAspect="1"/>
          </p:cNvPicPr>
          <p:nvPr/>
        </p:nvPicPr>
        <p:blipFill>
          <a:blip r:embed="rId6"/>
          <a:stretch>
            <a:fillRect/>
          </a:stretch>
        </p:blipFill>
        <p:spPr>
          <a:xfrm>
            <a:off x="1143000" y="4800600"/>
            <a:ext cx="6544589" cy="1133633"/>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7"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0" fill="hold"/>
                                        <p:tgtEl>
                                          <p:spTgt spid="6"/>
                                        </p:tgtEl>
                                        <p:attrNameLst>
                                          <p:attrName>ppt_x</p:attrName>
                                        </p:attrNameLst>
                                      </p:cBhvr>
                                      <p:tavLst>
                                        <p:tav tm="0">
                                          <p:val>
                                            <p:strVal val="#ppt_x"/>
                                          </p:val>
                                        </p:tav>
                                        <p:tav tm="100000">
                                          <p:val>
                                            <p:strVal val="#ppt_x"/>
                                          </p:val>
                                        </p:tav>
                                      </p:tavLst>
                                    </p:anim>
                                    <p:anim calcmode="lin" valueType="num">
                                      <p:cBhvr additive="base">
                                        <p:cTn id="18" dur="50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amond(in)">
                                      <p:cBhvr>
                                        <p:cTn id="23" dur="20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ppt_x"/>
                                          </p:val>
                                        </p:tav>
                                        <p:tav tm="100000">
                                          <p:val>
                                            <p:strVal val="#ppt_x"/>
                                          </p:val>
                                        </p:tav>
                                      </p:tavLst>
                                    </p:anim>
                                    <p:anim calcmode="lin" valueType="num">
                                      <p:cBhvr additive="base">
                                        <p:cTn id="2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1" presetClass="entr" presetSubtype="4"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heel(4)">
                                      <p:cBhvr>
                                        <p:cTn id="34"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7.PNG"/>
          <p:cNvPicPr>
            <a:picLocks noGrp="1" noChangeAspect="1"/>
          </p:cNvPicPr>
          <p:nvPr>
            <p:ph idx="1"/>
          </p:nvPr>
        </p:nvPicPr>
        <p:blipFill>
          <a:blip r:embed="rId2"/>
          <a:stretch>
            <a:fillRect/>
          </a:stretch>
        </p:blipFill>
        <p:spPr>
          <a:xfrm>
            <a:off x="1600200" y="152400"/>
            <a:ext cx="5115639" cy="1247949"/>
          </a:xfrm>
        </p:spPr>
      </p:pic>
      <p:pic>
        <p:nvPicPr>
          <p:cNvPr id="5" name="Picture 4" descr="8.PNG"/>
          <p:cNvPicPr>
            <a:picLocks noChangeAspect="1"/>
          </p:cNvPicPr>
          <p:nvPr/>
        </p:nvPicPr>
        <p:blipFill>
          <a:blip r:embed="rId3"/>
          <a:stretch>
            <a:fillRect/>
          </a:stretch>
        </p:blipFill>
        <p:spPr>
          <a:xfrm>
            <a:off x="2514600" y="1295400"/>
            <a:ext cx="4800600" cy="1829055"/>
          </a:xfrm>
          <a:prstGeom prst="rect">
            <a:avLst/>
          </a:prstGeom>
        </p:spPr>
      </p:pic>
      <p:pic>
        <p:nvPicPr>
          <p:cNvPr id="6" name="Picture 5" descr="9.PNG"/>
          <p:cNvPicPr>
            <a:picLocks noChangeAspect="1"/>
          </p:cNvPicPr>
          <p:nvPr/>
        </p:nvPicPr>
        <p:blipFill>
          <a:blip r:embed="rId4"/>
          <a:stretch>
            <a:fillRect/>
          </a:stretch>
        </p:blipFill>
        <p:spPr>
          <a:xfrm>
            <a:off x="2895600" y="3581400"/>
            <a:ext cx="4648200" cy="2000529"/>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10.PNG"/>
          <p:cNvPicPr>
            <a:picLocks noGrp="1" noChangeAspect="1"/>
          </p:cNvPicPr>
          <p:nvPr>
            <p:ph idx="1"/>
          </p:nvPr>
        </p:nvPicPr>
        <p:blipFill>
          <a:blip r:embed="rId2"/>
          <a:stretch>
            <a:fillRect/>
          </a:stretch>
        </p:blipFill>
        <p:spPr>
          <a:xfrm>
            <a:off x="2895600" y="1676400"/>
            <a:ext cx="1228897" cy="504896"/>
          </a:xfrm>
        </p:spPr>
      </p:pic>
      <p:pic>
        <p:nvPicPr>
          <p:cNvPr id="5" name="Picture 4" descr="11.PNG"/>
          <p:cNvPicPr>
            <a:picLocks noChangeAspect="1"/>
          </p:cNvPicPr>
          <p:nvPr/>
        </p:nvPicPr>
        <p:blipFill>
          <a:blip r:embed="rId3"/>
          <a:stretch>
            <a:fillRect/>
          </a:stretch>
        </p:blipFill>
        <p:spPr>
          <a:xfrm>
            <a:off x="4343400" y="1676400"/>
            <a:ext cx="2638793" cy="990738"/>
          </a:xfrm>
          <a:prstGeom prst="rect">
            <a:avLst/>
          </a:prstGeom>
        </p:spPr>
      </p:pic>
      <p:pic>
        <p:nvPicPr>
          <p:cNvPr id="7" name="Picture 6" descr="111.PNG"/>
          <p:cNvPicPr>
            <a:picLocks noChangeAspect="1"/>
          </p:cNvPicPr>
          <p:nvPr/>
        </p:nvPicPr>
        <p:blipFill>
          <a:blip r:embed="rId4"/>
          <a:stretch>
            <a:fillRect/>
          </a:stretch>
        </p:blipFill>
        <p:spPr>
          <a:xfrm>
            <a:off x="1295400" y="228600"/>
            <a:ext cx="5868219" cy="1219200"/>
          </a:xfrm>
          <a:prstGeom prst="rect">
            <a:avLst/>
          </a:prstGeom>
        </p:spPr>
      </p:pic>
      <p:pic>
        <p:nvPicPr>
          <p:cNvPr id="8" name="Picture 7" descr="1.PNG"/>
          <p:cNvPicPr>
            <a:picLocks noChangeAspect="1"/>
          </p:cNvPicPr>
          <p:nvPr/>
        </p:nvPicPr>
        <p:blipFill>
          <a:blip r:embed="rId5"/>
          <a:stretch>
            <a:fillRect/>
          </a:stretch>
        </p:blipFill>
        <p:spPr>
          <a:xfrm>
            <a:off x="2971800" y="2971800"/>
            <a:ext cx="2857899" cy="590632"/>
          </a:xfrm>
          <a:prstGeom prst="rect">
            <a:avLst/>
          </a:prstGeom>
        </p:spPr>
      </p:pic>
      <p:pic>
        <p:nvPicPr>
          <p:cNvPr id="9" name="Picture 8" descr="2.PNG"/>
          <p:cNvPicPr>
            <a:picLocks noChangeAspect="1"/>
          </p:cNvPicPr>
          <p:nvPr/>
        </p:nvPicPr>
        <p:blipFill>
          <a:blip r:embed="rId6"/>
          <a:stretch>
            <a:fillRect/>
          </a:stretch>
        </p:blipFill>
        <p:spPr>
          <a:xfrm>
            <a:off x="3200400" y="3733800"/>
            <a:ext cx="2438741" cy="523948"/>
          </a:xfrm>
          <a:prstGeom prst="rect">
            <a:avLst/>
          </a:prstGeom>
        </p:spPr>
      </p:pic>
      <p:pic>
        <p:nvPicPr>
          <p:cNvPr id="10" name="Picture 9" descr="3.PNG"/>
          <p:cNvPicPr>
            <a:picLocks noChangeAspect="1"/>
          </p:cNvPicPr>
          <p:nvPr/>
        </p:nvPicPr>
        <p:blipFill>
          <a:blip r:embed="rId7"/>
          <a:stretch>
            <a:fillRect/>
          </a:stretch>
        </p:blipFill>
        <p:spPr>
          <a:xfrm>
            <a:off x="3352800" y="4419600"/>
            <a:ext cx="2276793" cy="466790"/>
          </a:xfrm>
          <a:prstGeom prst="rect">
            <a:avLst/>
          </a:prstGeom>
        </p:spPr>
      </p:pic>
      <p:pic>
        <p:nvPicPr>
          <p:cNvPr id="11" name="Picture 10" descr="4.PNG"/>
          <p:cNvPicPr>
            <a:picLocks noChangeAspect="1"/>
          </p:cNvPicPr>
          <p:nvPr/>
        </p:nvPicPr>
        <p:blipFill>
          <a:blip r:embed="rId8"/>
          <a:stretch>
            <a:fillRect/>
          </a:stretch>
        </p:blipFill>
        <p:spPr>
          <a:xfrm>
            <a:off x="3505200" y="5029200"/>
            <a:ext cx="2086266" cy="666843"/>
          </a:xfrm>
          <a:prstGeom prst="rect">
            <a:avLst/>
          </a:prstGeom>
        </p:spPr>
      </p:pic>
      <p:pic>
        <p:nvPicPr>
          <p:cNvPr id="12" name="Picture 11" descr="5.PNG"/>
          <p:cNvPicPr>
            <a:picLocks noChangeAspect="1"/>
          </p:cNvPicPr>
          <p:nvPr/>
        </p:nvPicPr>
        <p:blipFill>
          <a:blip r:embed="rId9"/>
          <a:stretch>
            <a:fillRect/>
          </a:stretch>
        </p:blipFill>
        <p:spPr>
          <a:xfrm>
            <a:off x="3657600" y="5638800"/>
            <a:ext cx="2619741" cy="752580"/>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0" fill="hold"/>
                                        <p:tgtEl>
                                          <p:spTgt spid="7"/>
                                        </p:tgtEl>
                                        <p:attrNameLst>
                                          <p:attrName>ppt_x</p:attrName>
                                        </p:attrNameLst>
                                      </p:cBhvr>
                                      <p:tavLst>
                                        <p:tav tm="0">
                                          <p:val>
                                            <p:strVal val="#ppt_x"/>
                                          </p:val>
                                        </p:tav>
                                        <p:tav tm="100000">
                                          <p:val>
                                            <p:strVal val="#ppt_x"/>
                                          </p:val>
                                        </p:tav>
                                      </p:tavLst>
                                    </p:anim>
                                    <p:anim calcmode="lin" valueType="num">
                                      <p:cBhvr additive="base">
                                        <p:cTn id="8" dur="50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ox(in)">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ox(in)">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checkerboard(across)">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linds(horizontal)">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blinds(horizontal)">
                                      <p:cBhvr>
                                        <p:cTn id="4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5397691"/>
          </a:xfrm>
        </p:spPr>
        <p:txBody>
          <a:bodyPr/>
          <a:lstStyle/>
          <a:p>
            <a:pPr algn="just">
              <a:buNone/>
            </a:pPr>
            <a:r>
              <a:rPr lang="en-US" dirty="0" smtClean="0"/>
              <a:t>Problem 9:</a:t>
            </a:r>
          </a:p>
          <a:p>
            <a:pPr algn="just">
              <a:buNone/>
            </a:pPr>
            <a:r>
              <a:rPr lang="en-US" dirty="0" smtClean="0"/>
              <a:t>An engine develops 50kW of power while running at full load with a mechanical efficiency of 80% . Calculate the frictional power. What will be the mechanical efficiency of the engine at half load, if the friction remains the same</a:t>
            </a:r>
            <a:endParaRPr lang="en-US" dirty="0"/>
          </a:p>
        </p:txBody>
      </p:sp>
    </p:spTree>
  </p:cSld>
  <p:clrMapOvr>
    <a:masterClrMapping/>
  </p:clrMapOvr>
  <p:transition>
    <p:strips dir="l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04800"/>
            <a:ext cx="8229600" cy="5702491"/>
          </a:xfrm>
        </p:spPr>
        <p:txBody>
          <a:bodyPr/>
          <a:lstStyle/>
          <a:p>
            <a:pPr>
              <a:buNone/>
            </a:pPr>
            <a:r>
              <a:rPr lang="en-US" dirty="0" smtClean="0"/>
              <a:t>Solution:</a:t>
            </a:r>
          </a:p>
          <a:p>
            <a:pPr>
              <a:buNone/>
            </a:pPr>
            <a:r>
              <a:rPr lang="en-US" dirty="0" smtClean="0"/>
              <a:t>BP= 50kW </a:t>
            </a:r>
          </a:p>
          <a:p>
            <a:pPr>
              <a:buNone/>
            </a:pPr>
            <a:r>
              <a:rPr lang="en-US" dirty="0" err="1" smtClean="0"/>
              <a:t>η</a:t>
            </a:r>
            <a:r>
              <a:rPr lang="en-US" baseline="-25000" dirty="0" err="1" smtClean="0"/>
              <a:t>mech</a:t>
            </a:r>
            <a:r>
              <a:rPr lang="en-US" baseline="-25000" dirty="0" smtClean="0"/>
              <a:t>  =</a:t>
            </a:r>
            <a:r>
              <a:rPr lang="en-US" dirty="0" smtClean="0"/>
              <a:t>  0.8</a:t>
            </a:r>
          </a:p>
          <a:p>
            <a:pPr>
              <a:buNone/>
            </a:pPr>
            <a:r>
              <a:rPr lang="en-US" dirty="0" smtClean="0"/>
              <a:t> </a:t>
            </a:r>
            <a:r>
              <a:rPr lang="en-US" dirty="0" smtClean="0"/>
              <a:t>IP = 50 / 0.8= 62.5 kW</a:t>
            </a:r>
          </a:p>
          <a:p>
            <a:pPr>
              <a:buNone/>
            </a:pPr>
            <a:r>
              <a:rPr lang="en-US" dirty="0" smtClean="0"/>
              <a:t>FP= IP- BP = 12.5kW</a:t>
            </a:r>
          </a:p>
          <a:p>
            <a:pPr>
              <a:buNone/>
            </a:pPr>
            <a:r>
              <a:rPr lang="en-US" dirty="0" smtClean="0"/>
              <a:t>At half load , BP= 25 kW</a:t>
            </a:r>
          </a:p>
          <a:p>
            <a:pPr>
              <a:buNone/>
            </a:pPr>
            <a:r>
              <a:rPr lang="en-US" dirty="0" smtClean="0"/>
              <a:t> </a:t>
            </a:r>
            <a:r>
              <a:rPr lang="en-US" dirty="0" smtClean="0"/>
              <a:t> IP= BP + FP = 25 + 12.5= 37.5 kW</a:t>
            </a:r>
          </a:p>
          <a:p>
            <a:pPr>
              <a:buNone/>
            </a:pPr>
            <a:r>
              <a:rPr lang="en-US" dirty="0" err="1" smtClean="0"/>
              <a:t>η</a:t>
            </a:r>
            <a:r>
              <a:rPr lang="en-US" baseline="-25000" dirty="0" err="1" smtClean="0"/>
              <a:t>mech</a:t>
            </a:r>
            <a:r>
              <a:rPr lang="en-US" baseline="-25000" dirty="0" smtClean="0"/>
              <a:t>  </a:t>
            </a:r>
            <a:r>
              <a:rPr lang="en-US" dirty="0" smtClean="0"/>
              <a:t> =  ( 25) / ( 37.5) =0.67 </a:t>
            </a:r>
          </a:p>
          <a:p>
            <a:pPr>
              <a:buNone/>
            </a:pPr>
            <a:endParaRPr lang="en-US" dirty="0" smtClean="0"/>
          </a:p>
          <a:p>
            <a:pPr>
              <a:buNone/>
            </a:pPr>
            <a:endParaRPr lang="en-US" dirty="0" smtClean="0"/>
          </a:p>
          <a:p>
            <a:pPr>
              <a:buNone/>
            </a:pPr>
            <a:r>
              <a:rPr lang="en-US" dirty="0" smtClean="0"/>
              <a:t> </a:t>
            </a:r>
            <a:endParaRPr 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ox(in)">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checkerboard(across)">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7" presetClass="entr" presetSubtype="4" fill="hold"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 calcmode="lin" valueType="num">
                                      <p:cBhvr additive="base">
                                        <p:cTn id="32" dur="50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3" dur="50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2">
                                            <p:txEl>
                                              <p:pRg st="7" end="7"/>
                                            </p:txEl>
                                          </p:spTgt>
                                        </p:tgtEl>
                                        <p:attrNameLst>
                                          <p:attrName>style.visibility</p:attrName>
                                        </p:attrNameLst>
                                      </p:cBhvr>
                                      <p:to>
                                        <p:strVal val="visible"/>
                                      </p:to>
                                    </p:set>
                                    <p:anim calcmode="lin" valueType="num">
                                      <p:cBhvr additive="base">
                                        <p:cTn id="38"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786</TotalTime>
  <Words>1179</Words>
  <Application>Microsoft Office PowerPoint</Application>
  <PresentationFormat>On-screen Show (4:3)</PresentationFormat>
  <Paragraphs>212</Paragraphs>
  <Slides>40</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2" baseType="lpstr">
      <vt:lpstr>Concourse</vt:lpstr>
      <vt:lpstr>Equation</vt:lpstr>
      <vt:lpstr>Numericals on IC engine</vt:lpstr>
      <vt:lpstr>Relevant formulae in IC engine</vt:lpstr>
      <vt:lpstr>Slide 3</vt:lpstr>
      <vt:lpstr>Slide 4</vt:lpstr>
      <vt:lpstr>Slide 5</vt:lpstr>
      <vt:lpstr>Slide 6</vt:lpstr>
      <vt:lpstr>Slide 7</vt:lpstr>
      <vt:lpstr>Slide 8</vt:lpstr>
      <vt:lpstr>Measuring torque using belt dynamometer    Torque, T= (T1-T2 ) R T1= tension on tight side, in m T2= tension on slack side, in m R= radius of pulley    </vt:lpstr>
      <vt:lpstr>Frictional Power, FP  </vt:lpstr>
      <vt:lpstr>Slide 11</vt:lpstr>
      <vt:lpstr>Specific fuel consumption  </vt:lpstr>
      <vt:lpstr>Numericals</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Numericals on IC engine</dc:title>
  <dc:creator>User</dc:creator>
  <cp:lastModifiedBy>user</cp:lastModifiedBy>
  <cp:revision>107</cp:revision>
  <dcterms:created xsi:type="dcterms:W3CDTF">2006-08-16T00:00:00Z</dcterms:created>
  <dcterms:modified xsi:type="dcterms:W3CDTF">2021-06-02T09:19:46Z</dcterms:modified>
</cp:coreProperties>
</file>