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4"/>
  </p:sldMasterIdLst>
  <p:notesMasterIdLst>
    <p:notesMasterId r:id="rId35"/>
  </p:notesMasterIdLst>
  <p:sldIdLst>
    <p:sldId id="256" r:id="rId5"/>
    <p:sldId id="277" r:id="rId6"/>
    <p:sldId id="278" r:id="rId7"/>
    <p:sldId id="279" r:id="rId8"/>
    <p:sldId id="280" r:id="rId9"/>
    <p:sldId id="281" r:id="rId10"/>
    <p:sldId id="283" r:id="rId11"/>
    <p:sldId id="284" r:id="rId12"/>
    <p:sldId id="285" r:id="rId13"/>
    <p:sldId id="286" r:id="rId14"/>
    <p:sldId id="288" r:id="rId15"/>
    <p:sldId id="303" r:id="rId16"/>
    <p:sldId id="289" r:id="rId17"/>
    <p:sldId id="282" r:id="rId18"/>
    <p:sldId id="290" r:id="rId19"/>
    <p:sldId id="291" r:id="rId20"/>
    <p:sldId id="292" r:id="rId21"/>
    <p:sldId id="293" r:id="rId22"/>
    <p:sldId id="294" r:id="rId23"/>
    <p:sldId id="295" r:id="rId24"/>
    <p:sldId id="296" r:id="rId25"/>
    <p:sldId id="297" r:id="rId26"/>
    <p:sldId id="298" r:id="rId27"/>
    <p:sldId id="299" r:id="rId28"/>
    <p:sldId id="300" r:id="rId29"/>
    <p:sldId id="302" r:id="rId30"/>
    <p:sldId id="301" r:id="rId31"/>
    <p:sldId id="305" r:id="rId32"/>
    <p:sldId id="304" r:id="rId33"/>
    <p:sldId id="287"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na Christopher" userId="8b3eaec8d7c85b0d" providerId="LiveId" clId="{3CDD5ACE-1137-48D6-99B9-F8D9D6336951}"/>
    <pc:docChg chg="undo custSel addSld delSld modSld sldOrd">
      <pc:chgData name="Christina Christopher" userId="8b3eaec8d7c85b0d" providerId="LiveId" clId="{3CDD5ACE-1137-48D6-99B9-F8D9D6336951}" dt="2022-01-27T20:16:29.481" v="2369" actId="20577"/>
      <pc:docMkLst>
        <pc:docMk/>
      </pc:docMkLst>
      <pc:sldChg chg="addSp delSp modSp mod">
        <pc:chgData name="Christina Christopher" userId="8b3eaec8d7c85b0d" providerId="LiveId" clId="{3CDD5ACE-1137-48D6-99B9-F8D9D6336951}" dt="2022-01-27T19:54:03.562" v="173" actId="20577"/>
        <pc:sldMkLst>
          <pc:docMk/>
          <pc:sldMk cId="1401741552" sldId="277"/>
        </pc:sldMkLst>
        <pc:spChg chg="mod">
          <ac:chgData name="Christina Christopher" userId="8b3eaec8d7c85b0d" providerId="LiveId" clId="{3CDD5ACE-1137-48D6-99B9-F8D9D6336951}" dt="2022-01-27T19:53:33.290" v="20" actId="113"/>
          <ac:spMkLst>
            <pc:docMk/>
            <pc:sldMk cId="1401741552" sldId="277"/>
            <ac:spMk id="2" creationId="{7A4919D0-F177-4BBA-9A0B-DBA69E2ED764}"/>
          </ac:spMkLst>
        </pc:spChg>
        <pc:spChg chg="add mod">
          <ac:chgData name="Christina Christopher" userId="8b3eaec8d7c85b0d" providerId="LiveId" clId="{3CDD5ACE-1137-48D6-99B9-F8D9D6336951}" dt="2022-01-27T19:54:03.562" v="173" actId="20577"/>
          <ac:spMkLst>
            <pc:docMk/>
            <pc:sldMk cId="1401741552" sldId="277"/>
            <ac:spMk id="4" creationId="{3646ADEA-A15B-4D8C-9AD7-EBB1A97CB378}"/>
          </ac:spMkLst>
        </pc:spChg>
        <pc:graphicFrameChg chg="del">
          <ac:chgData name="Christina Christopher" userId="8b3eaec8d7c85b0d" providerId="LiveId" clId="{3CDD5ACE-1137-48D6-99B9-F8D9D6336951}" dt="2022-01-27T19:53:19.368" v="0" actId="478"/>
          <ac:graphicFrameMkLst>
            <pc:docMk/>
            <pc:sldMk cId="1401741552" sldId="277"/>
            <ac:graphicFrameMk id="5" creationId="{91DB1382-7276-49FA-9632-38D558F457E3}"/>
          </ac:graphicFrameMkLst>
        </pc:graphicFrameChg>
      </pc:sldChg>
      <pc:sldChg chg="modSp add mod">
        <pc:chgData name="Christina Christopher" userId="8b3eaec8d7c85b0d" providerId="LiveId" clId="{3CDD5ACE-1137-48D6-99B9-F8D9D6336951}" dt="2022-01-27T19:55:54.462" v="573" actId="404"/>
        <pc:sldMkLst>
          <pc:docMk/>
          <pc:sldMk cId="1134693650" sldId="278"/>
        </pc:sldMkLst>
        <pc:spChg chg="mod">
          <ac:chgData name="Christina Christopher" userId="8b3eaec8d7c85b0d" providerId="LiveId" clId="{3CDD5ACE-1137-48D6-99B9-F8D9D6336951}" dt="2022-01-27T19:55:54.462" v="573" actId="404"/>
          <ac:spMkLst>
            <pc:docMk/>
            <pc:sldMk cId="1134693650" sldId="278"/>
            <ac:spMk id="4" creationId="{3646ADEA-A15B-4D8C-9AD7-EBB1A97CB378}"/>
          </ac:spMkLst>
        </pc:spChg>
      </pc:sldChg>
      <pc:sldChg chg="modSp add mod">
        <pc:chgData name="Christina Christopher" userId="8b3eaec8d7c85b0d" providerId="LiveId" clId="{3CDD5ACE-1137-48D6-99B9-F8D9D6336951}" dt="2022-01-27T19:56:40.690" v="689" actId="20577"/>
        <pc:sldMkLst>
          <pc:docMk/>
          <pc:sldMk cId="1817187082" sldId="279"/>
        </pc:sldMkLst>
        <pc:spChg chg="mod">
          <ac:chgData name="Christina Christopher" userId="8b3eaec8d7c85b0d" providerId="LiveId" clId="{3CDD5ACE-1137-48D6-99B9-F8D9D6336951}" dt="2022-01-27T19:56:40.690" v="689" actId="20577"/>
          <ac:spMkLst>
            <pc:docMk/>
            <pc:sldMk cId="1817187082" sldId="279"/>
            <ac:spMk id="4" creationId="{3646ADEA-A15B-4D8C-9AD7-EBB1A97CB378}"/>
          </ac:spMkLst>
        </pc:spChg>
      </pc:sldChg>
      <pc:sldChg chg="modSp add mod">
        <pc:chgData name="Christina Christopher" userId="8b3eaec8d7c85b0d" providerId="LiveId" clId="{3CDD5ACE-1137-48D6-99B9-F8D9D6336951}" dt="2022-01-27T19:58:23.114" v="917" actId="20577"/>
        <pc:sldMkLst>
          <pc:docMk/>
          <pc:sldMk cId="3141953798" sldId="280"/>
        </pc:sldMkLst>
        <pc:spChg chg="mod">
          <ac:chgData name="Christina Christopher" userId="8b3eaec8d7c85b0d" providerId="LiveId" clId="{3CDD5ACE-1137-48D6-99B9-F8D9D6336951}" dt="2022-01-27T19:57:33.941" v="722" actId="207"/>
          <ac:spMkLst>
            <pc:docMk/>
            <pc:sldMk cId="3141953798" sldId="280"/>
            <ac:spMk id="2" creationId="{7A4919D0-F177-4BBA-9A0B-DBA69E2ED764}"/>
          </ac:spMkLst>
        </pc:spChg>
        <pc:spChg chg="mod">
          <ac:chgData name="Christina Christopher" userId="8b3eaec8d7c85b0d" providerId="LiveId" clId="{3CDD5ACE-1137-48D6-99B9-F8D9D6336951}" dt="2022-01-27T19:58:23.114" v="917" actId="20577"/>
          <ac:spMkLst>
            <pc:docMk/>
            <pc:sldMk cId="3141953798" sldId="280"/>
            <ac:spMk id="4" creationId="{3646ADEA-A15B-4D8C-9AD7-EBB1A97CB378}"/>
          </ac:spMkLst>
        </pc:spChg>
      </pc:sldChg>
      <pc:sldChg chg="modSp add mod">
        <pc:chgData name="Christina Christopher" userId="8b3eaec8d7c85b0d" providerId="LiveId" clId="{3CDD5ACE-1137-48D6-99B9-F8D9D6336951}" dt="2022-01-27T19:58:54.982" v="980" actId="20577"/>
        <pc:sldMkLst>
          <pc:docMk/>
          <pc:sldMk cId="2294947152" sldId="281"/>
        </pc:sldMkLst>
        <pc:spChg chg="mod">
          <ac:chgData name="Christina Christopher" userId="8b3eaec8d7c85b0d" providerId="LiveId" clId="{3CDD5ACE-1137-48D6-99B9-F8D9D6336951}" dt="2022-01-27T19:58:54.982" v="980" actId="20577"/>
          <ac:spMkLst>
            <pc:docMk/>
            <pc:sldMk cId="2294947152" sldId="281"/>
            <ac:spMk id="4" creationId="{3646ADEA-A15B-4D8C-9AD7-EBB1A97CB378}"/>
          </ac:spMkLst>
        </pc:spChg>
      </pc:sldChg>
      <pc:sldChg chg="add del">
        <pc:chgData name="Christina Christopher" userId="8b3eaec8d7c85b0d" providerId="LiveId" clId="{3CDD5ACE-1137-48D6-99B9-F8D9D6336951}" dt="2022-01-27T19:59:05.871" v="982" actId="2890"/>
        <pc:sldMkLst>
          <pc:docMk/>
          <pc:sldMk cId="2113937134" sldId="282"/>
        </pc:sldMkLst>
      </pc:sldChg>
      <pc:sldChg chg="modSp add mod ord">
        <pc:chgData name="Christina Christopher" userId="8b3eaec8d7c85b0d" providerId="LiveId" clId="{3CDD5ACE-1137-48D6-99B9-F8D9D6336951}" dt="2022-01-27T19:59:52.482" v="1201" actId="20577"/>
        <pc:sldMkLst>
          <pc:docMk/>
          <pc:sldMk cId="2716961301" sldId="282"/>
        </pc:sldMkLst>
        <pc:spChg chg="mod">
          <ac:chgData name="Christina Christopher" userId="8b3eaec8d7c85b0d" providerId="LiveId" clId="{3CDD5ACE-1137-48D6-99B9-F8D9D6336951}" dt="2022-01-27T19:59:52.482" v="1201" actId="20577"/>
          <ac:spMkLst>
            <pc:docMk/>
            <pc:sldMk cId="2716961301" sldId="282"/>
            <ac:spMk id="4" creationId="{3646ADEA-A15B-4D8C-9AD7-EBB1A97CB378}"/>
          </ac:spMkLst>
        </pc:spChg>
      </pc:sldChg>
      <pc:sldChg chg="addSp modSp add mod">
        <pc:chgData name="Christina Christopher" userId="8b3eaec8d7c85b0d" providerId="LiveId" clId="{3CDD5ACE-1137-48D6-99B9-F8D9D6336951}" dt="2022-01-27T20:16:29.481" v="2369" actId="20577"/>
        <pc:sldMkLst>
          <pc:docMk/>
          <pc:sldMk cId="2015645436" sldId="283"/>
        </pc:sldMkLst>
        <pc:spChg chg="mod">
          <ac:chgData name="Christina Christopher" userId="8b3eaec8d7c85b0d" providerId="LiveId" clId="{3CDD5ACE-1137-48D6-99B9-F8D9D6336951}" dt="2022-01-27T20:01:46.460" v="1235" actId="20577"/>
          <ac:spMkLst>
            <pc:docMk/>
            <pc:sldMk cId="2015645436" sldId="283"/>
            <ac:spMk id="2" creationId="{7A4919D0-F177-4BBA-9A0B-DBA69E2ED764}"/>
          </ac:spMkLst>
        </pc:spChg>
        <pc:spChg chg="mod">
          <ac:chgData name="Christina Christopher" userId="8b3eaec8d7c85b0d" providerId="LiveId" clId="{3CDD5ACE-1137-48D6-99B9-F8D9D6336951}" dt="2022-01-27T20:16:29.481" v="2369" actId="20577"/>
          <ac:spMkLst>
            <pc:docMk/>
            <pc:sldMk cId="2015645436" sldId="283"/>
            <ac:spMk id="4" creationId="{3646ADEA-A15B-4D8C-9AD7-EBB1A97CB378}"/>
          </ac:spMkLst>
        </pc:spChg>
        <pc:graphicFrameChg chg="add mod modGraphic">
          <ac:chgData name="Christina Christopher" userId="8b3eaec8d7c85b0d" providerId="LiveId" clId="{3CDD5ACE-1137-48D6-99B9-F8D9D6336951}" dt="2022-01-27T20:15:45.670" v="2229"/>
          <ac:graphicFrameMkLst>
            <pc:docMk/>
            <pc:sldMk cId="2015645436" sldId="283"/>
            <ac:graphicFrameMk id="3" creationId="{48CAAB3E-84EB-4F48-B64C-076F623FCC01}"/>
          </ac:graphicFrameMkLst>
        </pc:graphicFrameChg>
        <pc:graphicFrameChg chg="add mod">
          <ac:chgData name="Christina Christopher" userId="8b3eaec8d7c85b0d" providerId="LiveId" clId="{3CDD5ACE-1137-48D6-99B9-F8D9D6336951}" dt="2022-01-27T20:15:42.430" v="2228" actId="14100"/>
          <ac:graphicFrameMkLst>
            <pc:docMk/>
            <pc:sldMk cId="2015645436" sldId="283"/>
            <ac:graphicFrameMk id="5" creationId="{90113235-CD22-4E88-A898-F686EFEE060D}"/>
          </ac:graphicFrameMkLst>
        </pc:graphicFrameChg>
      </pc:sldChg>
      <pc:sldChg chg="modSp add mod">
        <pc:chgData name="Christina Christopher" userId="8b3eaec8d7c85b0d" providerId="LiveId" clId="{3CDD5ACE-1137-48D6-99B9-F8D9D6336951}" dt="2022-01-27T20:12:48.962" v="1897" actId="404"/>
        <pc:sldMkLst>
          <pc:docMk/>
          <pc:sldMk cId="3178841526" sldId="284"/>
        </pc:sldMkLst>
        <pc:spChg chg="mod">
          <ac:chgData name="Christina Christopher" userId="8b3eaec8d7c85b0d" providerId="LiveId" clId="{3CDD5ACE-1137-48D6-99B9-F8D9D6336951}" dt="2022-01-27T20:02:04.610" v="1262" actId="20577"/>
          <ac:spMkLst>
            <pc:docMk/>
            <pc:sldMk cId="3178841526" sldId="284"/>
            <ac:spMk id="2" creationId="{7A4919D0-F177-4BBA-9A0B-DBA69E2ED764}"/>
          </ac:spMkLst>
        </pc:spChg>
        <pc:spChg chg="mod">
          <ac:chgData name="Christina Christopher" userId="8b3eaec8d7c85b0d" providerId="LiveId" clId="{3CDD5ACE-1137-48D6-99B9-F8D9D6336951}" dt="2022-01-27T20:12:48.962" v="1897" actId="404"/>
          <ac:spMkLst>
            <pc:docMk/>
            <pc:sldMk cId="3178841526" sldId="284"/>
            <ac:spMk id="4" creationId="{3646ADEA-A15B-4D8C-9AD7-EBB1A97CB378}"/>
          </ac:spMkLst>
        </pc:spChg>
      </pc:sldChg>
      <pc:sldChg chg="modSp add mod">
        <pc:chgData name="Christina Christopher" userId="8b3eaec8d7c85b0d" providerId="LiveId" clId="{3CDD5ACE-1137-48D6-99B9-F8D9D6336951}" dt="2022-01-27T20:11:05.123" v="1614" actId="14100"/>
        <pc:sldMkLst>
          <pc:docMk/>
          <pc:sldMk cId="376512758" sldId="285"/>
        </pc:sldMkLst>
        <pc:spChg chg="mod">
          <ac:chgData name="Christina Christopher" userId="8b3eaec8d7c85b0d" providerId="LiveId" clId="{3CDD5ACE-1137-48D6-99B9-F8D9D6336951}" dt="2022-01-27T20:08:51.102" v="1319" actId="313"/>
          <ac:spMkLst>
            <pc:docMk/>
            <pc:sldMk cId="376512758" sldId="285"/>
            <ac:spMk id="2" creationId="{7A4919D0-F177-4BBA-9A0B-DBA69E2ED764}"/>
          </ac:spMkLst>
        </pc:spChg>
        <pc:spChg chg="mod">
          <ac:chgData name="Christina Christopher" userId="8b3eaec8d7c85b0d" providerId="LiveId" clId="{3CDD5ACE-1137-48D6-99B9-F8D9D6336951}" dt="2022-01-27T20:11:05.123" v="1614" actId="14100"/>
          <ac:spMkLst>
            <pc:docMk/>
            <pc:sldMk cId="376512758" sldId="285"/>
            <ac:spMk id="4" creationId="{3646ADEA-A15B-4D8C-9AD7-EBB1A97CB37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341BA3-8B40-4F46-9101-24AE635A80E6}" type="doc">
      <dgm:prSet loTypeId="urn:microsoft.com/office/officeart/2005/8/layout/process1" loCatId="process" qsTypeId="urn:microsoft.com/office/officeart/2005/8/quickstyle/simple1" qsCatId="simple" csTypeId="urn:microsoft.com/office/officeart/2005/8/colors/colorful1" csCatId="colorful" phldr="1"/>
      <dgm:spPr/>
    </dgm:pt>
    <dgm:pt modelId="{9AE7F0F3-9B18-4D87-8E34-AEDBDAAE2AAB}">
      <dgm:prSet phldrT="[Text]"/>
      <dgm:spPr/>
      <dgm:t>
        <a:bodyPr/>
        <a:lstStyle/>
        <a:p>
          <a:r>
            <a:rPr lang="en-IN" dirty="0"/>
            <a:t>Driving question</a:t>
          </a:r>
        </a:p>
      </dgm:t>
    </dgm:pt>
    <dgm:pt modelId="{BE0AEA89-E8BC-41C3-B2EF-358403452339}" type="parTrans" cxnId="{4B8D4C3E-4D34-476D-A3F8-41365E5137A7}">
      <dgm:prSet/>
      <dgm:spPr/>
      <dgm:t>
        <a:bodyPr/>
        <a:lstStyle/>
        <a:p>
          <a:endParaRPr lang="en-IN"/>
        </a:p>
      </dgm:t>
    </dgm:pt>
    <dgm:pt modelId="{DE8355EA-5FE2-4DED-BB3B-F4A7FD215D81}" type="sibTrans" cxnId="{4B8D4C3E-4D34-476D-A3F8-41365E5137A7}">
      <dgm:prSet/>
      <dgm:spPr/>
      <dgm:t>
        <a:bodyPr/>
        <a:lstStyle/>
        <a:p>
          <a:endParaRPr lang="en-IN"/>
        </a:p>
      </dgm:t>
    </dgm:pt>
    <dgm:pt modelId="{E5289506-F4B9-421F-8484-9EB729DCE95F}">
      <dgm:prSet phldrT="[Text]"/>
      <dgm:spPr/>
      <dgm:t>
        <a:bodyPr/>
        <a:lstStyle/>
        <a:p>
          <a:r>
            <a:rPr lang="en-IN" dirty="0"/>
            <a:t>Data collection at Empathize phase</a:t>
          </a:r>
        </a:p>
      </dgm:t>
    </dgm:pt>
    <dgm:pt modelId="{23CA063E-CFC5-4B6F-93E6-F2814A6739D9}" type="parTrans" cxnId="{897A88BC-4DD6-4F88-9673-113531EA1C33}">
      <dgm:prSet/>
      <dgm:spPr/>
      <dgm:t>
        <a:bodyPr/>
        <a:lstStyle/>
        <a:p>
          <a:endParaRPr lang="en-IN"/>
        </a:p>
      </dgm:t>
    </dgm:pt>
    <dgm:pt modelId="{C230FC66-6093-4EE9-BA2A-5C385489E36B}" type="sibTrans" cxnId="{897A88BC-4DD6-4F88-9673-113531EA1C33}">
      <dgm:prSet/>
      <dgm:spPr/>
      <dgm:t>
        <a:bodyPr/>
        <a:lstStyle/>
        <a:p>
          <a:endParaRPr lang="en-IN"/>
        </a:p>
      </dgm:t>
    </dgm:pt>
    <dgm:pt modelId="{823FCBDC-8F96-4897-93D5-B4121450C4E8}">
      <dgm:prSet phldrT="[Text]"/>
      <dgm:spPr/>
      <dgm:t>
        <a:bodyPr/>
        <a:lstStyle/>
        <a:p>
          <a:r>
            <a:rPr lang="en-IN" dirty="0"/>
            <a:t>Consolidation of observation</a:t>
          </a:r>
        </a:p>
      </dgm:t>
    </dgm:pt>
    <dgm:pt modelId="{E7104D19-AFB0-4351-8042-A1A05D23FE7D}" type="parTrans" cxnId="{40968556-C6A6-4E31-835B-F57752B08AE9}">
      <dgm:prSet/>
      <dgm:spPr/>
      <dgm:t>
        <a:bodyPr/>
        <a:lstStyle/>
        <a:p>
          <a:endParaRPr lang="en-IN"/>
        </a:p>
      </dgm:t>
    </dgm:pt>
    <dgm:pt modelId="{8B9E6F8C-2C59-4468-A93B-FA1469A2B08C}" type="sibTrans" cxnId="{40968556-C6A6-4E31-835B-F57752B08AE9}">
      <dgm:prSet/>
      <dgm:spPr/>
      <dgm:t>
        <a:bodyPr/>
        <a:lstStyle/>
        <a:p>
          <a:endParaRPr lang="en-IN"/>
        </a:p>
      </dgm:t>
    </dgm:pt>
    <dgm:pt modelId="{DABE99F6-1D3A-41A1-8225-5EEA61E0AB09}">
      <dgm:prSet phldrT="[Text]"/>
      <dgm:spPr/>
      <dgm:t>
        <a:bodyPr/>
        <a:lstStyle/>
        <a:p>
          <a:r>
            <a:rPr lang="en-IN" dirty="0"/>
            <a:t>Identification of needs and insights</a:t>
          </a:r>
        </a:p>
      </dgm:t>
    </dgm:pt>
    <dgm:pt modelId="{8D8ACC4B-0C96-417B-BD57-AE257DFC59D2}" type="parTrans" cxnId="{5C49C199-262C-4BD8-BDFE-CC4405C4554B}">
      <dgm:prSet/>
      <dgm:spPr/>
      <dgm:t>
        <a:bodyPr/>
        <a:lstStyle/>
        <a:p>
          <a:endParaRPr lang="en-IN"/>
        </a:p>
      </dgm:t>
    </dgm:pt>
    <dgm:pt modelId="{45FEB783-3236-451E-AA24-569889074176}" type="sibTrans" cxnId="{5C49C199-262C-4BD8-BDFE-CC4405C4554B}">
      <dgm:prSet/>
      <dgm:spPr/>
      <dgm:t>
        <a:bodyPr/>
        <a:lstStyle/>
        <a:p>
          <a:endParaRPr lang="en-IN"/>
        </a:p>
      </dgm:t>
    </dgm:pt>
    <dgm:pt modelId="{0CE91F57-4585-4010-AECC-0440657DFB40}">
      <dgm:prSet phldrT="[Text]"/>
      <dgm:spPr/>
      <dgm:t>
        <a:bodyPr/>
        <a:lstStyle/>
        <a:p>
          <a:r>
            <a:rPr lang="en-IN" dirty="0"/>
            <a:t>Definition of problem statement</a:t>
          </a:r>
        </a:p>
      </dgm:t>
    </dgm:pt>
    <dgm:pt modelId="{45C33902-3BEF-49E2-873D-48C2E9BA6465}" type="parTrans" cxnId="{EFD724E9-3DA8-4BE0-A148-402637CB7A0F}">
      <dgm:prSet/>
      <dgm:spPr/>
      <dgm:t>
        <a:bodyPr/>
        <a:lstStyle/>
        <a:p>
          <a:endParaRPr lang="en-IN"/>
        </a:p>
      </dgm:t>
    </dgm:pt>
    <dgm:pt modelId="{E5F00C36-A66E-4B1C-9492-AF6664EE192D}" type="sibTrans" cxnId="{EFD724E9-3DA8-4BE0-A148-402637CB7A0F}">
      <dgm:prSet/>
      <dgm:spPr/>
      <dgm:t>
        <a:bodyPr/>
        <a:lstStyle/>
        <a:p>
          <a:endParaRPr lang="en-IN"/>
        </a:p>
      </dgm:t>
    </dgm:pt>
    <dgm:pt modelId="{91FD21A3-C6BF-43DB-91B7-F0556CEA1015}" type="pres">
      <dgm:prSet presAssocID="{75341BA3-8B40-4F46-9101-24AE635A80E6}" presName="Name0" presStyleCnt="0">
        <dgm:presLayoutVars>
          <dgm:dir/>
          <dgm:resizeHandles val="exact"/>
        </dgm:presLayoutVars>
      </dgm:prSet>
      <dgm:spPr/>
    </dgm:pt>
    <dgm:pt modelId="{164E96D8-CD2C-4306-8F0A-9D8718AC2854}" type="pres">
      <dgm:prSet presAssocID="{9AE7F0F3-9B18-4D87-8E34-AEDBDAAE2AAB}" presName="node" presStyleLbl="node1" presStyleIdx="0" presStyleCnt="5">
        <dgm:presLayoutVars>
          <dgm:bulletEnabled val="1"/>
        </dgm:presLayoutVars>
      </dgm:prSet>
      <dgm:spPr/>
    </dgm:pt>
    <dgm:pt modelId="{75F697F2-6866-4E20-B03E-068B9BED2122}" type="pres">
      <dgm:prSet presAssocID="{DE8355EA-5FE2-4DED-BB3B-F4A7FD215D81}" presName="sibTrans" presStyleLbl="sibTrans2D1" presStyleIdx="0" presStyleCnt="4"/>
      <dgm:spPr/>
    </dgm:pt>
    <dgm:pt modelId="{999D2EFA-6187-4727-A7CA-F6275165664E}" type="pres">
      <dgm:prSet presAssocID="{DE8355EA-5FE2-4DED-BB3B-F4A7FD215D81}" presName="connectorText" presStyleLbl="sibTrans2D1" presStyleIdx="0" presStyleCnt="4"/>
      <dgm:spPr/>
    </dgm:pt>
    <dgm:pt modelId="{5DDB4CAC-86BB-4C19-B358-B141A5F203BF}" type="pres">
      <dgm:prSet presAssocID="{E5289506-F4B9-421F-8484-9EB729DCE95F}" presName="node" presStyleLbl="node1" presStyleIdx="1" presStyleCnt="5">
        <dgm:presLayoutVars>
          <dgm:bulletEnabled val="1"/>
        </dgm:presLayoutVars>
      </dgm:prSet>
      <dgm:spPr/>
    </dgm:pt>
    <dgm:pt modelId="{10A22814-8A7A-497C-8142-12264668B380}" type="pres">
      <dgm:prSet presAssocID="{C230FC66-6093-4EE9-BA2A-5C385489E36B}" presName="sibTrans" presStyleLbl="sibTrans2D1" presStyleIdx="1" presStyleCnt="4"/>
      <dgm:spPr/>
    </dgm:pt>
    <dgm:pt modelId="{96209AF3-BD60-4E4E-85BC-142B45EBABB9}" type="pres">
      <dgm:prSet presAssocID="{C230FC66-6093-4EE9-BA2A-5C385489E36B}" presName="connectorText" presStyleLbl="sibTrans2D1" presStyleIdx="1" presStyleCnt="4"/>
      <dgm:spPr/>
    </dgm:pt>
    <dgm:pt modelId="{F8D5D245-F234-4DE2-A863-28278923530A}" type="pres">
      <dgm:prSet presAssocID="{823FCBDC-8F96-4897-93D5-B4121450C4E8}" presName="node" presStyleLbl="node1" presStyleIdx="2" presStyleCnt="5">
        <dgm:presLayoutVars>
          <dgm:bulletEnabled val="1"/>
        </dgm:presLayoutVars>
      </dgm:prSet>
      <dgm:spPr/>
    </dgm:pt>
    <dgm:pt modelId="{2794C887-3700-4964-9A9C-47FE3D6D3F2B}" type="pres">
      <dgm:prSet presAssocID="{8B9E6F8C-2C59-4468-A93B-FA1469A2B08C}" presName="sibTrans" presStyleLbl="sibTrans2D1" presStyleIdx="2" presStyleCnt="4"/>
      <dgm:spPr/>
    </dgm:pt>
    <dgm:pt modelId="{4B3DF9EA-16DC-4E76-806B-D0B3C67EBD0B}" type="pres">
      <dgm:prSet presAssocID="{8B9E6F8C-2C59-4468-A93B-FA1469A2B08C}" presName="connectorText" presStyleLbl="sibTrans2D1" presStyleIdx="2" presStyleCnt="4"/>
      <dgm:spPr/>
    </dgm:pt>
    <dgm:pt modelId="{AD137B2B-0D4A-40CA-B4B8-8D9928C3A910}" type="pres">
      <dgm:prSet presAssocID="{DABE99F6-1D3A-41A1-8225-5EEA61E0AB09}" presName="node" presStyleLbl="node1" presStyleIdx="3" presStyleCnt="5">
        <dgm:presLayoutVars>
          <dgm:bulletEnabled val="1"/>
        </dgm:presLayoutVars>
      </dgm:prSet>
      <dgm:spPr/>
    </dgm:pt>
    <dgm:pt modelId="{89C97187-E680-4CB1-B987-1B9194332F05}" type="pres">
      <dgm:prSet presAssocID="{45FEB783-3236-451E-AA24-569889074176}" presName="sibTrans" presStyleLbl="sibTrans2D1" presStyleIdx="3" presStyleCnt="4"/>
      <dgm:spPr/>
    </dgm:pt>
    <dgm:pt modelId="{0B2B2EB0-8350-40FC-AB66-1C7D6EC71E2F}" type="pres">
      <dgm:prSet presAssocID="{45FEB783-3236-451E-AA24-569889074176}" presName="connectorText" presStyleLbl="sibTrans2D1" presStyleIdx="3" presStyleCnt="4"/>
      <dgm:spPr/>
    </dgm:pt>
    <dgm:pt modelId="{63226553-DE32-439E-91DA-7E4E5EBDB0C5}" type="pres">
      <dgm:prSet presAssocID="{0CE91F57-4585-4010-AECC-0440657DFB40}" presName="node" presStyleLbl="node1" presStyleIdx="4" presStyleCnt="5">
        <dgm:presLayoutVars>
          <dgm:bulletEnabled val="1"/>
        </dgm:presLayoutVars>
      </dgm:prSet>
      <dgm:spPr/>
    </dgm:pt>
  </dgm:ptLst>
  <dgm:cxnLst>
    <dgm:cxn modelId="{7BFBAC0B-43FE-43C1-87E1-43B2C38EE826}" type="presOf" srcId="{45FEB783-3236-451E-AA24-569889074176}" destId="{0B2B2EB0-8350-40FC-AB66-1C7D6EC71E2F}" srcOrd="1" destOrd="0" presId="urn:microsoft.com/office/officeart/2005/8/layout/process1"/>
    <dgm:cxn modelId="{1BAE9319-2FC1-4F8F-B446-E32E9DAC3501}" type="presOf" srcId="{8B9E6F8C-2C59-4468-A93B-FA1469A2B08C}" destId="{2794C887-3700-4964-9A9C-47FE3D6D3F2B}" srcOrd="0" destOrd="0" presId="urn:microsoft.com/office/officeart/2005/8/layout/process1"/>
    <dgm:cxn modelId="{16B07A1F-946F-4933-91FF-802568325A3E}" type="presOf" srcId="{75341BA3-8B40-4F46-9101-24AE635A80E6}" destId="{91FD21A3-C6BF-43DB-91B7-F0556CEA1015}" srcOrd="0" destOrd="0" presId="urn:microsoft.com/office/officeart/2005/8/layout/process1"/>
    <dgm:cxn modelId="{A82FAE2C-1C1D-4143-99CD-8389B96972AD}" type="presOf" srcId="{DABE99F6-1D3A-41A1-8225-5EEA61E0AB09}" destId="{AD137B2B-0D4A-40CA-B4B8-8D9928C3A910}" srcOrd="0" destOrd="0" presId="urn:microsoft.com/office/officeart/2005/8/layout/process1"/>
    <dgm:cxn modelId="{4B8D4C3E-4D34-476D-A3F8-41365E5137A7}" srcId="{75341BA3-8B40-4F46-9101-24AE635A80E6}" destId="{9AE7F0F3-9B18-4D87-8E34-AEDBDAAE2AAB}" srcOrd="0" destOrd="0" parTransId="{BE0AEA89-E8BC-41C3-B2EF-358403452339}" sibTransId="{DE8355EA-5FE2-4DED-BB3B-F4A7FD215D81}"/>
    <dgm:cxn modelId="{7ED2AE61-4FAE-472C-92EA-BD851FE794DE}" type="presOf" srcId="{0CE91F57-4585-4010-AECC-0440657DFB40}" destId="{63226553-DE32-439E-91DA-7E4E5EBDB0C5}" srcOrd="0" destOrd="0" presId="urn:microsoft.com/office/officeart/2005/8/layout/process1"/>
    <dgm:cxn modelId="{F21E3649-6C03-4443-83B7-135E62551D57}" type="presOf" srcId="{9AE7F0F3-9B18-4D87-8E34-AEDBDAAE2AAB}" destId="{164E96D8-CD2C-4306-8F0A-9D8718AC2854}" srcOrd="0" destOrd="0" presId="urn:microsoft.com/office/officeart/2005/8/layout/process1"/>
    <dgm:cxn modelId="{3B886F4A-E6DF-4DAB-A672-E1E6DC8F8074}" type="presOf" srcId="{C230FC66-6093-4EE9-BA2A-5C385489E36B}" destId="{10A22814-8A7A-497C-8142-12264668B380}" srcOrd="0" destOrd="0" presId="urn:microsoft.com/office/officeart/2005/8/layout/process1"/>
    <dgm:cxn modelId="{40968556-C6A6-4E31-835B-F57752B08AE9}" srcId="{75341BA3-8B40-4F46-9101-24AE635A80E6}" destId="{823FCBDC-8F96-4897-93D5-B4121450C4E8}" srcOrd="2" destOrd="0" parTransId="{E7104D19-AFB0-4351-8042-A1A05D23FE7D}" sibTransId="{8B9E6F8C-2C59-4468-A93B-FA1469A2B08C}"/>
    <dgm:cxn modelId="{5C49C199-262C-4BD8-BDFE-CC4405C4554B}" srcId="{75341BA3-8B40-4F46-9101-24AE635A80E6}" destId="{DABE99F6-1D3A-41A1-8225-5EEA61E0AB09}" srcOrd="3" destOrd="0" parTransId="{8D8ACC4B-0C96-417B-BD57-AE257DFC59D2}" sibTransId="{45FEB783-3236-451E-AA24-569889074176}"/>
    <dgm:cxn modelId="{CB0323A5-3B5E-4D95-BA5D-C2EEB2D664C8}" type="presOf" srcId="{823FCBDC-8F96-4897-93D5-B4121450C4E8}" destId="{F8D5D245-F234-4DE2-A863-28278923530A}" srcOrd="0" destOrd="0" presId="urn:microsoft.com/office/officeart/2005/8/layout/process1"/>
    <dgm:cxn modelId="{104EB1B5-2372-4EF1-A7A4-15D6BAE82820}" type="presOf" srcId="{DE8355EA-5FE2-4DED-BB3B-F4A7FD215D81}" destId="{999D2EFA-6187-4727-A7CA-F6275165664E}" srcOrd="1" destOrd="0" presId="urn:microsoft.com/office/officeart/2005/8/layout/process1"/>
    <dgm:cxn modelId="{897A88BC-4DD6-4F88-9673-113531EA1C33}" srcId="{75341BA3-8B40-4F46-9101-24AE635A80E6}" destId="{E5289506-F4B9-421F-8484-9EB729DCE95F}" srcOrd="1" destOrd="0" parTransId="{23CA063E-CFC5-4B6F-93E6-F2814A6739D9}" sibTransId="{C230FC66-6093-4EE9-BA2A-5C385489E36B}"/>
    <dgm:cxn modelId="{FC458EBF-779C-421F-86DF-2BA1F3C41F41}" type="presOf" srcId="{C230FC66-6093-4EE9-BA2A-5C385489E36B}" destId="{96209AF3-BD60-4E4E-85BC-142B45EBABB9}" srcOrd="1" destOrd="0" presId="urn:microsoft.com/office/officeart/2005/8/layout/process1"/>
    <dgm:cxn modelId="{1EC4A6C5-FFD2-4D03-A6B2-CDC157592791}" type="presOf" srcId="{DE8355EA-5FE2-4DED-BB3B-F4A7FD215D81}" destId="{75F697F2-6866-4E20-B03E-068B9BED2122}" srcOrd="0" destOrd="0" presId="urn:microsoft.com/office/officeart/2005/8/layout/process1"/>
    <dgm:cxn modelId="{EFD724E9-3DA8-4BE0-A148-402637CB7A0F}" srcId="{75341BA3-8B40-4F46-9101-24AE635A80E6}" destId="{0CE91F57-4585-4010-AECC-0440657DFB40}" srcOrd="4" destOrd="0" parTransId="{45C33902-3BEF-49E2-873D-48C2E9BA6465}" sibTransId="{E5F00C36-A66E-4B1C-9492-AF6664EE192D}"/>
    <dgm:cxn modelId="{7C97E2F0-78EE-4B20-A477-28680E4A8FBF}" type="presOf" srcId="{E5289506-F4B9-421F-8484-9EB729DCE95F}" destId="{5DDB4CAC-86BB-4C19-B358-B141A5F203BF}" srcOrd="0" destOrd="0" presId="urn:microsoft.com/office/officeart/2005/8/layout/process1"/>
    <dgm:cxn modelId="{568661F2-2978-45A0-9346-CD05A56E6B70}" type="presOf" srcId="{45FEB783-3236-451E-AA24-569889074176}" destId="{89C97187-E680-4CB1-B987-1B9194332F05}" srcOrd="0" destOrd="0" presId="urn:microsoft.com/office/officeart/2005/8/layout/process1"/>
    <dgm:cxn modelId="{5B65E2FF-254F-43CA-97CA-F8F8F4770B1E}" type="presOf" srcId="{8B9E6F8C-2C59-4468-A93B-FA1469A2B08C}" destId="{4B3DF9EA-16DC-4E76-806B-D0B3C67EBD0B}" srcOrd="1" destOrd="0" presId="urn:microsoft.com/office/officeart/2005/8/layout/process1"/>
    <dgm:cxn modelId="{7DA4C133-6C72-4F80-A4C9-E6B204A31D6F}" type="presParOf" srcId="{91FD21A3-C6BF-43DB-91B7-F0556CEA1015}" destId="{164E96D8-CD2C-4306-8F0A-9D8718AC2854}" srcOrd="0" destOrd="0" presId="urn:microsoft.com/office/officeart/2005/8/layout/process1"/>
    <dgm:cxn modelId="{B892F0C7-BEF8-4619-90A3-FB4EE780DCB9}" type="presParOf" srcId="{91FD21A3-C6BF-43DB-91B7-F0556CEA1015}" destId="{75F697F2-6866-4E20-B03E-068B9BED2122}" srcOrd="1" destOrd="0" presId="urn:microsoft.com/office/officeart/2005/8/layout/process1"/>
    <dgm:cxn modelId="{4527806C-1F76-4362-BE6D-2D8E07D5AEC2}" type="presParOf" srcId="{75F697F2-6866-4E20-B03E-068B9BED2122}" destId="{999D2EFA-6187-4727-A7CA-F6275165664E}" srcOrd="0" destOrd="0" presId="urn:microsoft.com/office/officeart/2005/8/layout/process1"/>
    <dgm:cxn modelId="{5B61B8F4-D406-4C8B-8E01-CD7F4E55DAA3}" type="presParOf" srcId="{91FD21A3-C6BF-43DB-91B7-F0556CEA1015}" destId="{5DDB4CAC-86BB-4C19-B358-B141A5F203BF}" srcOrd="2" destOrd="0" presId="urn:microsoft.com/office/officeart/2005/8/layout/process1"/>
    <dgm:cxn modelId="{12D91F00-2A00-4EBF-98F9-B265EFE53F1E}" type="presParOf" srcId="{91FD21A3-C6BF-43DB-91B7-F0556CEA1015}" destId="{10A22814-8A7A-497C-8142-12264668B380}" srcOrd="3" destOrd="0" presId="urn:microsoft.com/office/officeart/2005/8/layout/process1"/>
    <dgm:cxn modelId="{3B434748-F41B-421F-B054-37992A216A01}" type="presParOf" srcId="{10A22814-8A7A-497C-8142-12264668B380}" destId="{96209AF3-BD60-4E4E-85BC-142B45EBABB9}" srcOrd="0" destOrd="0" presId="urn:microsoft.com/office/officeart/2005/8/layout/process1"/>
    <dgm:cxn modelId="{15DC6A1F-64B4-4347-AFD3-AE8FD9D9FF40}" type="presParOf" srcId="{91FD21A3-C6BF-43DB-91B7-F0556CEA1015}" destId="{F8D5D245-F234-4DE2-A863-28278923530A}" srcOrd="4" destOrd="0" presId="urn:microsoft.com/office/officeart/2005/8/layout/process1"/>
    <dgm:cxn modelId="{C2348B7C-7F9C-4901-8835-96C4E03A498F}" type="presParOf" srcId="{91FD21A3-C6BF-43DB-91B7-F0556CEA1015}" destId="{2794C887-3700-4964-9A9C-47FE3D6D3F2B}" srcOrd="5" destOrd="0" presId="urn:microsoft.com/office/officeart/2005/8/layout/process1"/>
    <dgm:cxn modelId="{08902621-8100-4CC5-B9E8-735F30403FAC}" type="presParOf" srcId="{2794C887-3700-4964-9A9C-47FE3D6D3F2B}" destId="{4B3DF9EA-16DC-4E76-806B-D0B3C67EBD0B}" srcOrd="0" destOrd="0" presId="urn:microsoft.com/office/officeart/2005/8/layout/process1"/>
    <dgm:cxn modelId="{D7893B71-22E1-4933-9DFD-76524C149ACF}" type="presParOf" srcId="{91FD21A3-C6BF-43DB-91B7-F0556CEA1015}" destId="{AD137B2B-0D4A-40CA-B4B8-8D9928C3A910}" srcOrd="6" destOrd="0" presId="urn:microsoft.com/office/officeart/2005/8/layout/process1"/>
    <dgm:cxn modelId="{E72E7852-8934-464C-8EF8-33558A9861BA}" type="presParOf" srcId="{91FD21A3-C6BF-43DB-91B7-F0556CEA1015}" destId="{89C97187-E680-4CB1-B987-1B9194332F05}" srcOrd="7" destOrd="0" presId="urn:microsoft.com/office/officeart/2005/8/layout/process1"/>
    <dgm:cxn modelId="{C989DA9D-E631-43C8-B625-3C889551925C}" type="presParOf" srcId="{89C97187-E680-4CB1-B987-1B9194332F05}" destId="{0B2B2EB0-8350-40FC-AB66-1C7D6EC71E2F}" srcOrd="0" destOrd="0" presId="urn:microsoft.com/office/officeart/2005/8/layout/process1"/>
    <dgm:cxn modelId="{72BA8812-FB5A-4ED1-BD68-CFD1B120C1B1}" type="presParOf" srcId="{91FD21A3-C6BF-43DB-91B7-F0556CEA1015}" destId="{63226553-DE32-439E-91DA-7E4E5EBDB0C5}"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341BA3-8B40-4F46-9101-24AE635A80E6}" type="doc">
      <dgm:prSet loTypeId="urn:microsoft.com/office/officeart/2005/8/layout/process1" loCatId="process" qsTypeId="urn:microsoft.com/office/officeart/2005/8/quickstyle/simple1" qsCatId="simple" csTypeId="urn:microsoft.com/office/officeart/2005/8/colors/colorful1" csCatId="colorful" phldr="1"/>
      <dgm:spPr/>
    </dgm:pt>
    <dgm:pt modelId="{9AE7F0F3-9B18-4D87-8E34-AEDBDAAE2AAB}">
      <dgm:prSet phldrT="[Text]"/>
      <dgm:spPr/>
      <dgm:t>
        <a:bodyPr/>
        <a:lstStyle/>
        <a:p>
          <a:r>
            <a:rPr lang="en-IN" dirty="0"/>
            <a:t>Generate many ideas	</a:t>
          </a:r>
        </a:p>
      </dgm:t>
    </dgm:pt>
    <dgm:pt modelId="{BE0AEA89-E8BC-41C3-B2EF-358403452339}" type="parTrans" cxnId="{4B8D4C3E-4D34-476D-A3F8-41365E5137A7}">
      <dgm:prSet/>
      <dgm:spPr/>
      <dgm:t>
        <a:bodyPr/>
        <a:lstStyle/>
        <a:p>
          <a:endParaRPr lang="en-IN"/>
        </a:p>
      </dgm:t>
    </dgm:pt>
    <dgm:pt modelId="{DE8355EA-5FE2-4DED-BB3B-F4A7FD215D81}" type="sibTrans" cxnId="{4B8D4C3E-4D34-476D-A3F8-41365E5137A7}">
      <dgm:prSet/>
      <dgm:spPr/>
      <dgm:t>
        <a:bodyPr/>
        <a:lstStyle/>
        <a:p>
          <a:endParaRPr lang="en-IN"/>
        </a:p>
      </dgm:t>
    </dgm:pt>
    <dgm:pt modelId="{E5289506-F4B9-421F-8484-9EB729DCE95F}">
      <dgm:prSet phldrT="[Text]"/>
      <dgm:spPr/>
      <dgm:t>
        <a:bodyPr/>
        <a:lstStyle/>
        <a:p>
          <a:r>
            <a:rPr lang="en-IN" dirty="0"/>
            <a:t>Converge to one idea</a:t>
          </a:r>
        </a:p>
      </dgm:t>
    </dgm:pt>
    <dgm:pt modelId="{23CA063E-CFC5-4B6F-93E6-F2814A6739D9}" type="parTrans" cxnId="{897A88BC-4DD6-4F88-9673-113531EA1C33}">
      <dgm:prSet/>
      <dgm:spPr/>
      <dgm:t>
        <a:bodyPr/>
        <a:lstStyle/>
        <a:p>
          <a:endParaRPr lang="en-IN"/>
        </a:p>
      </dgm:t>
    </dgm:pt>
    <dgm:pt modelId="{C230FC66-6093-4EE9-BA2A-5C385489E36B}" type="sibTrans" cxnId="{897A88BC-4DD6-4F88-9673-113531EA1C33}">
      <dgm:prSet/>
      <dgm:spPr/>
      <dgm:t>
        <a:bodyPr/>
        <a:lstStyle/>
        <a:p>
          <a:endParaRPr lang="en-IN"/>
        </a:p>
      </dgm:t>
    </dgm:pt>
    <dgm:pt modelId="{C00E52B6-909B-47EB-9DFD-A59C83DBB1F7}">
      <dgm:prSet phldrT="[Text]"/>
      <dgm:spPr/>
      <dgm:t>
        <a:bodyPr/>
        <a:lstStyle/>
        <a:p>
          <a:r>
            <a:rPr lang="en-IN" dirty="0"/>
            <a:t>Get a blueprint of idea</a:t>
          </a:r>
        </a:p>
      </dgm:t>
    </dgm:pt>
    <dgm:pt modelId="{87A16693-D9CF-419F-8FE7-D2F15C0F8BF8}" type="parTrans" cxnId="{9C548A13-3856-45CE-8AD2-779F20B701BD}">
      <dgm:prSet/>
      <dgm:spPr/>
      <dgm:t>
        <a:bodyPr/>
        <a:lstStyle/>
        <a:p>
          <a:endParaRPr lang="en-IN"/>
        </a:p>
      </dgm:t>
    </dgm:pt>
    <dgm:pt modelId="{8C9E48BE-F646-40D3-86D2-4AB0ADB18E60}" type="sibTrans" cxnId="{9C548A13-3856-45CE-8AD2-779F20B701BD}">
      <dgm:prSet/>
      <dgm:spPr/>
      <dgm:t>
        <a:bodyPr/>
        <a:lstStyle/>
        <a:p>
          <a:endParaRPr lang="en-IN"/>
        </a:p>
      </dgm:t>
    </dgm:pt>
    <dgm:pt modelId="{08845002-2A11-476B-BCA2-3F59BD39A28C}">
      <dgm:prSet phldrT="[Text]"/>
      <dgm:spPr/>
      <dgm:t>
        <a:bodyPr/>
        <a:lstStyle/>
        <a:p>
          <a:r>
            <a:rPr lang="en-IN" dirty="0"/>
            <a:t>Brainstorm and improve on ideas</a:t>
          </a:r>
        </a:p>
      </dgm:t>
    </dgm:pt>
    <dgm:pt modelId="{4A28269F-B1F3-40D9-B2D8-956DF5CFA019}" type="parTrans" cxnId="{47770074-42E6-49B9-A493-DD6632BEC66E}">
      <dgm:prSet/>
      <dgm:spPr/>
      <dgm:t>
        <a:bodyPr/>
        <a:lstStyle/>
        <a:p>
          <a:endParaRPr lang="en-IN"/>
        </a:p>
      </dgm:t>
    </dgm:pt>
    <dgm:pt modelId="{6012C6B3-F17C-4D3A-9663-F9A14EFDBF81}" type="sibTrans" cxnId="{47770074-42E6-49B9-A493-DD6632BEC66E}">
      <dgm:prSet/>
      <dgm:spPr/>
      <dgm:t>
        <a:bodyPr/>
        <a:lstStyle/>
        <a:p>
          <a:endParaRPr lang="en-IN"/>
        </a:p>
      </dgm:t>
    </dgm:pt>
    <dgm:pt modelId="{D0AFC4AC-B7C7-4764-8380-ACF5D01D6DD5}">
      <dgm:prSet phldrT="[Text]"/>
      <dgm:spPr/>
      <dgm:t>
        <a:bodyPr/>
        <a:lstStyle/>
        <a:p>
          <a:r>
            <a:rPr lang="en-IN" dirty="0"/>
            <a:t>Create prototype</a:t>
          </a:r>
        </a:p>
      </dgm:t>
    </dgm:pt>
    <dgm:pt modelId="{7BFE9005-A923-4A98-9D97-C9559EC951DE}" type="parTrans" cxnId="{2FFBB554-9351-445A-909E-CD14596214FE}">
      <dgm:prSet/>
      <dgm:spPr/>
      <dgm:t>
        <a:bodyPr/>
        <a:lstStyle/>
        <a:p>
          <a:endParaRPr lang="en-IN"/>
        </a:p>
      </dgm:t>
    </dgm:pt>
    <dgm:pt modelId="{5BC349A8-2697-4324-A33D-68FD49FD7A4B}" type="sibTrans" cxnId="{2FFBB554-9351-445A-909E-CD14596214FE}">
      <dgm:prSet/>
      <dgm:spPr/>
      <dgm:t>
        <a:bodyPr/>
        <a:lstStyle/>
        <a:p>
          <a:endParaRPr lang="en-IN"/>
        </a:p>
      </dgm:t>
    </dgm:pt>
    <dgm:pt modelId="{91FD21A3-C6BF-43DB-91B7-F0556CEA1015}" type="pres">
      <dgm:prSet presAssocID="{75341BA3-8B40-4F46-9101-24AE635A80E6}" presName="Name0" presStyleCnt="0">
        <dgm:presLayoutVars>
          <dgm:dir/>
          <dgm:resizeHandles val="exact"/>
        </dgm:presLayoutVars>
      </dgm:prSet>
      <dgm:spPr/>
    </dgm:pt>
    <dgm:pt modelId="{164E96D8-CD2C-4306-8F0A-9D8718AC2854}" type="pres">
      <dgm:prSet presAssocID="{9AE7F0F3-9B18-4D87-8E34-AEDBDAAE2AAB}" presName="node" presStyleLbl="node1" presStyleIdx="0" presStyleCnt="5">
        <dgm:presLayoutVars>
          <dgm:bulletEnabled val="1"/>
        </dgm:presLayoutVars>
      </dgm:prSet>
      <dgm:spPr/>
    </dgm:pt>
    <dgm:pt modelId="{75F697F2-6866-4E20-B03E-068B9BED2122}" type="pres">
      <dgm:prSet presAssocID="{DE8355EA-5FE2-4DED-BB3B-F4A7FD215D81}" presName="sibTrans" presStyleLbl="sibTrans2D1" presStyleIdx="0" presStyleCnt="4"/>
      <dgm:spPr/>
    </dgm:pt>
    <dgm:pt modelId="{999D2EFA-6187-4727-A7CA-F6275165664E}" type="pres">
      <dgm:prSet presAssocID="{DE8355EA-5FE2-4DED-BB3B-F4A7FD215D81}" presName="connectorText" presStyleLbl="sibTrans2D1" presStyleIdx="0" presStyleCnt="4"/>
      <dgm:spPr/>
    </dgm:pt>
    <dgm:pt modelId="{BE2F8AC4-C9AA-4399-8B8A-C846F27BE345}" type="pres">
      <dgm:prSet presAssocID="{08845002-2A11-476B-BCA2-3F59BD39A28C}" presName="node" presStyleLbl="node1" presStyleIdx="1" presStyleCnt="5">
        <dgm:presLayoutVars>
          <dgm:bulletEnabled val="1"/>
        </dgm:presLayoutVars>
      </dgm:prSet>
      <dgm:spPr/>
    </dgm:pt>
    <dgm:pt modelId="{12DFF3D0-9BA4-4341-80CB-2AA0D6B101A2}" type="pres">
      <dgm:prSet presAssocID="{6012C6B3-F17C-4D3A-9663-F9A14EFDBF81}" presName="sibTrans" presStyleLbl="sibTrans2D1" presStyleIdx="1" presStyleCnt="4"/>
      <dgm:spPr/>
    </dgm:pt>
    <dgm:pt modelId="{68B19B9B-FAAF-4464-B5C8-DA4A4A983FE2}" type="pres">
      <dgm:prSet presAssocID="{6012C6B3-F17C-4D3A-9663-F9A14EFDBF81}" presName="connectorText" presStyleLbl="sibTrans2D1" presStyleIdx="1" presStyleCnt="4"/>
      <dgm:spPr/>
    </dgm:pt>
    <dgm:pt modelId="{5DDB4CAC-86BB-4C19-B358-B141A5F203BF}" type="pres">
      <dgm:prSet presAssocID="{E5289506-F4B9-421F-8484-9EB729DCE95F}" presName="node" presStyleLbl="node1" presStyleIdx="2" presStyleCnt="5">
        <dgm:presLayoutVars>
          <dgm:bulletEnabled val="1"/>
        </dgm:presLayoutVars>
      </dgm:prSet>
      <dgm:spPr/>
    </dgm:pt>
    <dgm:pt modelId="{7050A6C2-1023-4B3B-BF4A-DFD89681AE1D}" type="pres">
      <dgm:prSet presAssocID="{C230FC66-6093-4EE9-BA2A-5C385489E36B}" presName="sibTrans" presStyleLbl="sibTrans2D1" presStyleIdx="2" presStyleCnt="4"/>
      <dgm:spPr/>
    </dgm:pt>
    <dgm:pt modelId="{F7381D6B-24DB-4904-98AE-40C6FA2958BE}" type="pres">
      <dgm:prSet presAssocID="{C230FC66-6093-4EE9-BA2A-5C385489E36B}" presName="connectorText" presStyleLbl="sibTrans2D1" presStyleIdx="2" presStyleCnt="4"/>
      <dgm:spPr/>
    </dgm:pt>
    <dgm:pt modelId="{ED5461AF-5BAD-4785-A87C-EC8199A2D190}" type="pres">
      <dgm:prSet presAssocID="{C00E52B6-909B-47EB-9DFD-A59C83DBB1F7}" presName="node" presStyleLbl="node1" presStyleIdx="3" presStyleCnt="5">
        <dgm:presLayoutVars>
          <dgm:bulletEnabled val="1"/>
        </dgm:presLayoutVars>
      </dgm:prSet>
      <dgm:spPr/>
    </dgm:pt>
    <dgm:pt modelId="{BFB4A432-86E0-4DE8-8387-B1A40BF25737}" type="pres">
      <dgm:prSet presAssocID="{8C9E48BE-F646-40D3-86D2-4AB0ADB18E60}" presName="sibTrans" presStyleLbl="sibTrans2D1" presStyleIdx="3" presStyleCnt="4"/>
      <dgm:spPr/>
    </dgm:pt>
    <dgm:pt modelId="{24F2AF6B-4563-4B5C-899E-821267B8D948}" type="pres">
      <dgm:prSet presAssocID="{8C9E48BE-F646-40D3-86D2-4AB0ADB18E60}" presName="connectorText" presStyleLbl="sibTrans2D1" presStyleIdx="3" presStyleCnt="4"/>
      <dgm:spPr/>
    </dgm:pt>
    <dgm:pt modelId="{8545F308-FDE0-4663-9BE9-AF4F5A77EEB3}" type="pres">
      <dgm:prSet presAssocID="{D0AFC4AC-B7C7-4764-8380-ACF5D01D6DD5}" presName="node" presStyleLbl="node1" presStyleIdx="4" presStyleCnt="5">
        <dgm:presLayoutVars>
          <dgm:bulletEnabled val="1"/>
        </dgm:presLayoutVars>
      </dgm:prSet>
      <dgm:spPr/>
    </dgm:pt>
  </dgm:ptLst>
  <dgm:cxnLst>
    <dgm:cxn modelId="{463FF300-B2FF-4FD3-A96F-401DFF17910F}" type="presOf" srcId="{C230FC66-6093-4EE9-BA2A-5C385489E36B}" destId="{7050A6C2-1023-4B3B-BF4A-DFD89681AE1D}" srcOrd="0" destOrd="0" presId="urn:microsoft.com/office/officeart/2005/8/layout/process1"/>
    <dgm:cxn modelId="{9C548A13-3856-45CE-8AD2-779F20B701BD}" srcId="{75341BA3-8B40-4F46-9101-24AE635A80E6}" destId="{C00E52B6-909B-47EB-9DFD-A59C83DBB1F7}" srcOrd="3" destOrd="0" parTransId="{87A16693-D9CF-419F-8FE7-D2F15C0F8BF8}" sibTransId="{8C9E48BE-F646-40D3-86D2-4AB0ADB18E60}"/>
    <dgm:cxn modelId="{4A69F815-F125-4ADD-9A18-720F72D44DF5}" type="presOf" srcId="{D0AFC4AC-B7C7-4764-8380-ACF5D01D6DD5}" destId="{8545F308-FDE0-4663-9BE9-AF4F5A77EEB3}" srcOrd="0" destOrd="0" presId="urn:microsoft.com/office/officeart/2005/8/layout/process1"/>
    <dgm:cxn modelId="{32741C1B-3CD2-4881-BF8F-B066FAF4F425}" type="presOf" srcId="{6012C6B3-F17C-4D3A-9663-F9A14EFDBF81}" destId="{68B19B9B-FAAF-4464-B5C8-DA4A4A983FE2}" srcOrd="1" destOrd="0" presId="urn:microsoft.com/office/officeart/2005/8/layout/process1"/>
    <dgm:cxn modelId="{16B07A1F-946F-4933-91FF-802568325A3E}" type="presOf" srcId="{75341BA3-8B40-4F46-9101-24AE635A80E6}" destId="{91FD21A3-C6BF-43DB-91B7-F0556CEA1015}" srcOrd="0" destOrd="0" presId="urn:microsoft.com/office/officeart/2005/8/layout/process1"/>
    <dgm:cxn modelId="{4B8D4C3E-4D34-476D-A3F8-41365E5137A7}" srcId="{75341BA3-8B40-4F46-9101-24AE635A80E6}" destId="{9AE7F0F3-9B18-4D87-8E34-AEDBDAAE2AAB}" srcOrd="0" destOrd="0" parTransId="{BE0AEA89-E8BC-41C3-B2EF-358403452339}" sibTransId="{DE8355EA-5FE2-4DED-BB3B-F4A7FD215D81}"/>
    <dgm:cxn modelId="{3134765F-8A6B-4818-8147-8DA359179C93}" type="presOf" srcId="{C230FC66-6093-4EE9-BA2A-5C385489E36B}" destId="{F7381D6B-24DB-4904-98AE-40C6FA2958BE}" srcOrd="1" destOrd="0" presId="urn:microsoft.com/office/officeart/2005/8/layout/process1"/>
    <dgm:cxn modelId="{0A47CC42-8691-4F36-93B1-EE88416697B3}" type="presOf" srcId="{8C9E48BE-F646-40D3-86D2-4AB0ADB18E60}" destId="{24F2AF6B-4563-4B5C-899E-821267B8D948}" srcOrd="1" destOrd="0" presId="urn:microsoft.com/office/officeart/2005/8/layout/process1"/>
    <dgm:cxn modelId="{F21E3649-6C03-4443-83B7-135E62551D57}" type="presOf" srcId="{9AE7F0F3-9B18-4D87-8E34-AEDBDAAE2AAB}" destId="{164E96D8-CD2C-4306-8F0A-9D8718AC2854}" srcOrd="0" destOrd="0" presId="urn:microsoft.com/office/officeart/2005/8/layout/process1"/>
    <dgm:cxn modelId="{47770074-42E6-49B9-A493-DD6632BEC66E}" srcId="{75341BA3-8B40-4F46-9101-24AE635A80E6}" destId="{08845002-2A11-476B-BCA2-3F59BD39A28C}" srcOrd="1" destOrd="0" parTransId="{4A28269F-B1F3-40D9-B2D8-956DF5CFA019}" sibTransId="{6012C6B3-F17C-4D3A-9663-F9A14EFDBF81}"/>
    <dgm:cxn modelId="{2FFBB554-9351-445A-909E-CD14596214FE}" srcId="{75341BA3-8B40-4F46-9101-24AE635A80E6}" destId="{D0AFC4AC-B7C7-4764-8380-ACF5D01D6DD5}" srcOrd="4" destOrd="0" parTransId="{7BFE9005-A923-4A98-9D97-C9559EC951DE}" sibTransId="{5BC349A8-2697-4324-A33D-68FD49FD7A4B}"/>
    <dgm:cxn modelId="{3FAA30A1-6780-4A4A-A063-44EEDAC0A850}" type="presOf" srcId="{8C9E48BE-F646-40D3-86D2-4AB0ADB18E60}" destId="{BFB4A432-86E0-4DE8-8387-B1A40BF25737}" srcOrd="0" destOrd="0" presId="urn:microsoft.com/office/officeart/2005/8/layout/process1"/>
    <dgm:cxn modelId="{CCE6C0B2-F3F8-4C26-8AB4-CC54C23C6A2C}" type="presOf" srcId="{08845002-2A11-476B-BCA2-3F59BD39A28C}" destId="{BE2F8AC4-C9AA-4399-8B8A-C846F27BE345}" srcOrd="0" destOrd="0" presId="urn:microsoft.com/office/officeart/2005/8/layout/process1"/>
    <dgm:cxn modelId="{104EB1B5-2372-4EF1-A7A4-15D6BAE82820}" type="presOf" srcId="{DE8355EA-5FE2-4DED-BB3B-F4A7FD215D81}" destId="{999D2EFA-6187-4727-A7CA-F6275165664E}" srcOrd="1" destOrd="0" presId="urn:microsoft.com/office/officeart/2005/8/layout/process1"/>
    <dgm:cxn modelId="{897A88BC-4DD6-4F88-9673-113531EA1C33}" srcId="{75341BA3-8B40-4F46-9101-24AE635A80E6}" destId="{E5289506-F4B9-421F-8484-9EB729DCE95F}" srcOrd="2" destOrd="0" parTransId="{23CA063E-CFC5-4B6F-93E6-F2814A6739D9}" sibTransId="{C230FC66-6093-4EE9-BA2A-5C385489E36B}"/>
    <dgm:cxn modelId="{1EC4A6C5-FFD2-4D03-A6B2-CDC157592791}" type="presOf" srcId="{DE8355EA-5FE2-4DED-BB3B-F4A7FD215D81}" destId="{75F697F2-6866-4E20-B03E-068B9BED2122}" srcOrd="0" destOrd="0" presId="urn:microsoft.com/office/officeart/2005/8/layout/process1"/>
    <dgm:cxn modelId="{190288DC-12F0-40FD-8DD6-09A1A090CE27}" type="presOf" srcId="{C00E52B6-909B-47EB-9DFD-A59C83DBB1F7}" destId="{ED5461AF-5BAD-4785-A87C-EC8199A2D190}" srcOrd="0" destOrd="0" presId="urn:microsoft.com/office/officeart/2005/8/layout/process1"/>
    <dgm:cxn modelId="{811119EB-AE03-4C4B-9CE6-EC5211154A12}" type="presOf" srcId="{6012C6B3-F17C-4D3A-9663-F9A14EFDBF81}" destId="{12DFF3D0-9BA4-4341-80CB-2AA0D6B101A2}" srcOrd="0" destOrd="0" presId="urn:microsoft.com/office/officeart/2005/8/layout/process1"/>
    <dgm:cxn modelId="{7C97E2F0-78EE-4B20-A477-28680E4A8FBF}" type="presOf" srcId="{E5289506-F4B9-421F-8484-9EB729DCE95F}" destId="{5DDB4CAC-86BB-4C19-B358-B141A5F203BF}" srcOrd="0" destOrd="0" presId="urn:microsoft.com/office/officeart/2005/8/layout/process1"/>
    <dgm:cxn modelId="{7DA4C133-6C72-4F80-A4C9-E6B204A31D6F}" type="presParOf" srcId="{91FD21A3-C6BF-43DB-91B7-F0556CEA1015}" destId="{164E96D8-CD2C-4306-8F0A-9D8718AC2854}" srcOrd="0" destOrd="0" presId="urn:microsoft.com/office/officeart/2005/8/layout/process1"/>
    <dgm:cxn modelId="{B892F0C7-BEF8-4619-90A3-FB4EE780DCB9}" type="presParOf" srcId="{91FD21A3-C6BF-43DB-91B7-F0556CEA1015}" destId="{75F697F2-6866-4E20-B03E-068B9BED2122}" srcOrd="1" destOrd="0" presId="urn:microsoft.com/office/officeart/2005/8/layout/process1"/>
    <dgm:cxn modelId="{4527806C-1F76-4362-BE6D-2D8E07D5AEC2}" type="presParOf" srcId="{75F697F2-6866-4E20-B03E-068B9BED2122}" destId="{999D2EFA-6187-4727-A7CA-F6275165664E}" srcOrd="0" destOrd="0" presId="urn:microsoft.com/office/officeart/2005/8/layout/process1"/>
    <dgm:cxn modelId="{8A07D8C3-ED9B-4BC6-B2F8-A1DC0CB17F6B}" type="presParOf" srcId="{91FD21A3-C6BF-43DB-91B7-F0556CEA1015}" destId="{BE2F8AC4-C9AA-4399-8B8A-C846F27BE345}" srcOrd="2" destOrd="0" presId="urn:microsoft.com/office/officeart/2005/8/layout/process1"/>
    <dgm:cxn modelId="{88868C4F-A1F3-42A6-9D6C-4E6354485357}" type="presParOf" srcId="{91FD21A3-C6BF-43DB-91B7-F0556CEA1015}" destId="{12DFF3D0-9BA4-4341-80CB-2AA0D6B101A2}" srcOrd="3" destOrd="0" presId="urn:microsoft.com/office/officeart/2005/8/layout/process1"/>
    <dgm:cxn modelId="{0651675A-E9BF-4F54-8104-80042108B914}" type="presParOf" srcId="{12DFF3D0-9BA4-4341-80CB-2AA0D6B101A2}" destId="{68B19B9B-FAAF-4464-B5C8-DA4A4A983FE2}" srcOrd="0" destOrd="0" presId="urn:microsoft.com/office/officeart/2005/8/layout/process1"/>
    <dgm:cxn modelId="{5B61B8F4-D406-4C8B-8E01-CD7F4E55DAA3}" type="presParOf" srcId="{91FD21A3-C6BF-43DB-91B7-F0556CEA1015}" destId="{5DDB4CAC-86BB-4C19-B358-B141A5F203BF}" srcOrd="4" destOrd="0" presId="urn:microsoft.com/office/officeart/2005/8/layout/process1"/>
    <dgm:cxn modelId="{369925C4-AC64-408E-B5E8-32CDC2C5BFEE}" type="presParOf" srcId="{91FD21A3-C6BF-43DB-91B7-F0556CEA1015}" destId="{7050A6C2-1023-4B3B-BF4A-DFD89681AE1D}" srcOrd="5" destOrd="0" presId="urn:microsoft.com/office/officeart/2005/8/layout/process1"/>
    <dgm:cxn modelId="{9FABD9A0-F6FB-40A7-A84C-46A4BBA2D292}" type="presParOf" srcId="{7050A6C2-1023-4B3B-BF4A-DFD89681AE1D}" destId="{F7381D6B-24DB-4904-98AE-40C6FA2958BE}" srcOrd="0" destOrd="0" presId="urn:microsoft.com/office/officeart/2005/8/layout/process1"/>
    <dgm:cxn modelId="{30757A86-1EFB-4249-8042-A8DB346BD697}" type="presParOf" srcId="{91FD21A3-C6BF-43DB-91B7-F0556CEA1015}" destId="{ED5461AF-5BAD-4785-A87C-EC8199A2D190}" srcOrd="6" destOrd="0" presId="urn:microsoft.com/office/officeart/2005/8/layout/process1"/>
    <dgm:cxn modelId="{B3535A3F-3084-43EB-ABEC-F986C7C27FD1}" type="presParOf" srcId="{91FD21A3-C6BF-43DB-91B7-F0556CEA1015}" destId="{BFB4A432-86E0-4DE8-8387-B1A40BF25737}" srcOrd="7" destOrd="0" presId="urn:microsoft.com/office/officeart/2005/8/layout/process1"/>
    <dgm:cxn modelId="{DD4266D2-991F-4746-BF78-814820F6D346}" type="presParOf" srcId="{BFB4A432-86E0-4DE8-8387-B1A40BF25737}" destId="{24F2AF6B-4563-4B5C-899E-821267B8D948}" srcOrd="0" destOrd="0" presId="urn:microsoft.com/office/officeart/2005/8/layout/process1"/>
    <dgm:cxn modelId="{0B88876F-75EE-4E3C-91D7-C628030C429F}" type="presParOf" srcId="{91FD21A3-C6BF-43DB-91B7-F0556CEA1015}" destId="{8545F308-FDE0-4663-9BE9-AF4F5A77EEB3}" srcOrd="8"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4E96D8-CD2C-4306-8F0A-9D8718AC2854}">
      <dsp:nvSpPr>
        <dsp:cNvPr id="0" name=""/>
        <dsp:cNvSpPr/>
      </dsp:nvSpPr>
      <dsp:spPr>
        <a:xfrm>
          <a:off x="4821" y="750566"/>
          <a:ext cx="1494667" cy="1022913"/>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Driving question</a:t>
          </a:r>
        </a:p>
      </dsp:txBody>
      <dsp:txXfrm>
        <a:off x="34781" y="780526"/>
        <a:ext cx="1434747" cy="962993"/>
      </dsp:txXfrm>
    </dsp:sp>
    <dsp:sp modelId="{75F697F2-6866-4E20-B03E-068B9BED2122}">
      <dsp:nvSpPr>
        <dsp:cNvPr id="0" name=""/>
        <dsp:cNvSpPr/>
      </dsp:nvSpPr>
      <dsp:spPr>
        <a:xfrm>
          <a:off x="1648956" y="1076684"/>
          <a:ext cx="316869" cy="37067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1648956" y="1150819"/>
        <a:ext cx="221808" cy="222407"/>
      </dsp:txXfrm>
    </dsp:sp>
    <dsp:sp modelId="{5DDB4CAC-86BB-4C19-B358-B141A5F203BF}">
      <dsp:nvSpPr>
        <dsp:cNvPr id="0" name=""/>
        <dsp:cNvSpPr/>
      </dsp:nvSpPr>
      <dsp:spPr>
        <a:xfrm>
          <a:off x="2097356" y="750566"/>
          <a:ext cx="1494667" cy="1022913"/>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Data collection at Empathize phase</a:t>
          </a:r>
        </a:p>
      </dsp:txBody>
      <dsp:txXfrm>
        <a:off x="2127316" y="780526"/>
        <a:ext cx="1434747" cy="962993"/>
      </dsp:txXfrm>
    </dsp:sp>
    <dsp:sp modelId="{10A22814-8A7A-497C-8142-12264668B380}">
      <dsp:nvSpPr>
        <dsp:cNvPr id="0" name=""/>
        <dsp:cNvSpPr/>
      </dsp:nvSpPr>
      <dsp:spPr>
        <a:xfrm>
          <a:off x="3741490" y="1076684"/>
          <a:ext cx="316869" cy="37067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3741490" y="1150819"/>
        <a:ext cx="221808" cy="222407"/>
      </dsp:txXfrm>
    </dsp:sp>
    <dsp:sp modelId="{F8D5D245-F234-4DE2-A863-28278923530A}">
      <dsp:nvSpPr>
        <dsp:cNvPr id="0" name=""/>
        <dsp:cNvSpPr/>
      </dsp:nvSpPr>
      <dsp:spPr>
        <a:xfrm>
          <a:off x="4189891" y="750566"/>
          <a:ext cx="1494667" cy="1022913"/>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Consolidation of observation</a:t>
          </a:r>
        </a:p>
      </dsp:txBody>
      <dsp:txXfrm>
        <a:off x="4219851" y="780526"/>
        <a:ext cx="1434747" cy="962993"/>
      </dsp:txXfrm>
    </dsp:sp>
    <dsp:sp modelId="{2794C887-3700-4964-9A9C-47FE3D6D3F2B}">
      <dsp:nvSpPr>
        <dsp:cNvPr id="0" name=""/>
        <dsp:cNvSpPr/>
      </dsp:nvSpPr>
      <dsp:spPr>
        <a:xfrm>
          <a:off x="5834025" y="1076684"/>
          <a:ext cx="316869" cy="37067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5834025" y="1150819"/>
        <a:ext cx="221808" cy="222407"/>
      </dsp:txXfrm>
    </dsp:sp>
    <dsp:sp modelId="{AD137B2B-0D4A-40CA-B4B8-8D9928C3A910}">
      <dsp:nvSpPr>
        <dsp:cNvPr id="0" name=""/>
        <dsp:cNvSpPr/>
      </dsp:nvSpPr>
      <dsp:spPr>
        <a:xfrm>
          <a:off x="6282425" y="750566"/>
          <a:ext cx="1494667" cy="1022913"/>
        </a:xfrm>
        <a:prstGeom prst="roundRect">
          <a:avLst>
            <a:gd name="adj" fmla="val 10000"/>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Identification of needs and insights</a:t>
          </a:r>
        </a:p>
      </dsp:txBody>
      <dsp:txXfrm>
        <a:off x="6312385" y="780526"/>
        <a:ext cx="1434747" cy="962993"/>
      </dsp:txXfrm>
    </dsp:sp>
    <dsp:sp modelId="{89C97187-E680-4CB1-B987-1B9194332F05}">
      <dsp:nvSpPr>
        <dsp:cNvPr id="0" name=""/>
        <dsp:cNvSpPr/>
      </dsp:nvSpPr>
      <dsp:spPr>
        <a:xfrm>
          <a:off x="7926560" y="1076684"/>
          <a:ext cx="316869" cy="37067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7926560" y="1150819"/>
        <a:ext cx="221808" cy="222407"/>
      </dsp:txXfrm>
    </dsp:sp>
    <dsp:sp modelId="{63226553-DE32-439E-91DA-7E4E5EBDB0C5}">
      <dsp:nvSpPr>
        <dsp:cNvPr id="0" name=""/>
        <dsp:cNvSpPr/>
      </dsp:nvSpPr>
      <dsp:spPr>
        <a:xfrm>
          <a:off x="8374960" y="750566"/>
          <a:ext cx="1494667" cy="1022913"/>
        </a:xfrm>
        <a:prstGeom prst="roundRect">
          <a:avLst>
            <a:gd name="adj" fmla="val 10000"/>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Definition of problem statement</a:t>
          </a:r>
        </a:p>
      </dsp:txBody>
      <dsp:txXfrm>
        <a:off x="8404920" y="780526"/>
        <a:ext cx="1434747" cy="9629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4E96D8-CD2C-4306-8F0A-9D8718AC2854}">
      <dsp:nvSpPr>
        <dsp:cNvPr id="0" name=""/>
        <dsp:cNvSpPr/>
      </dsp:nvSpPr>
      <dsp:spPr>
        <a:xfrm>
          <a:off x="4821" y="200834"/>
          <a:ext cx="1494667" cy="1256746"/>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Generate many ideas	</a:t>
          </a:r>
        </a:p>
      </dsp:txBody>
      <dsp:txXfrm>
        <a:off x="41630" y="237643"/>
        <a:ext cx="1421049" cy="1183128"/>
      </dsp:txXfrm>
    </dsp:sp>
    <dsp:sp modelId="{75F697F2-6866-4E20-B03E-068B9BED2122}">
      <dsp:nvSpPr>
        <dsp:cNvPr id="0" name=""/>
        <dsp:cNvSpPr/>
      </dsp:nvSpPr>
      <dsp:spPr>
        <a:xfrm>
          <a:off x="1648956" y="643868"/>
          <a:ext cx="316869" cy="37067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1648956" y="718003"/>
        <a:ext cx="221808" cy="222407"/>
      </dsp:txXfrm>
    </dsp:sp>
    <dsp:sp modelId="{BE2F8AC4-C9AA-4399-8B8A-C846F27BE345}">
      <dsp:nvSpPr>
        <dsp:cNvPr id="0" name=""/>
        <dsp:cNvSpPr/>
      </dsp:nvSpPr>
      <dsp:spPr>
        <a:xfrm>
          <a:off x="2097356" y="200834"/>
          <a:ext cx="1494667" cy="1256746"/>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Brainstorm and improve on ideas</a:t>
          </a:r>
        </a:p>
      </dsp:txBody>
      <dsp:txXfrm>
        <a:off x="2134165" y="237643"/>
        <a:ext cx="1421049" cy="1183128"/>
      </dsp:txXfrm>
    </dsp:sp>
    <dsp:sp modelId="{12DFF3D0-9BA4-4341-80CB-2AA0D6B101A2}">
      <dsp:nvSpPr>
        <dsp:cNvPr id="0" name=""/>
        <dsp:cNvSpPr/>
      </dsp:nvSpPr>
      <dsp:spPr>
        <a:xfrm>
          <a:off x="3741490" y="643868"/>
          <a:ext cx="316869" cy="37067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3741490" y="718003"/>
        <a:ext cx="221808" cy="222407"/>
      </dsp:txXfrm>
    </dsp:sp>
    <dsp:sp modelId="{5DDB4CAC-86BB-4C19-B358-B141A5F203BF}">
      <dsp:nvSpPr>
        <dsp:cNvPr id="0" name=""/>
        <dsp:cNvSpPr/>
      </dsp:nvSpPr>
      <dsp:spPr>
        <a:xfrm>
          <a:off x="4189891" y="200834"/>
          <a:ext cx="1494667" cy="1256746"/>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Converge to one idea</a:t>
          </a:r>
        </a:p>
      </dsp:txBody>
      <dsp:txXfrm>
        <a:off x="4226700" y="237643"/>
        <a:ext cx="1421049" cy="1183128"/>
      </dsp:txXfrm>
    </dsp:sp>
    <dsp:sp modelId="{7050A6C2-1023-4B3B-BF4A-DFD89681AE1D}">
      <dsp:nvSpPr>
        <dsp:cNvPr id="0" name=""/>
        <dsp:cNvSpPr/>
      </dsp:nvSpPr>
      <dsp:spPr>
        <a:xfrm>
          <a:off x="5834025" y="643868"/>
          <a:ext cx="316869" cy="37067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5834025" y="718003"/>
        <a:ext cx="221808" cy="222407"/>
      </dsp:txXfrm>
    </dsp:sp>
    <dsp:sp modelId="{ED5461AF-5BAD-4785-A87C-EC8199A2D190}">
      <dsp:nvSpPr>
        <dsp:cNvPr id="0" name=""/>
        <dsp:cNvSpPr/>
      </dsp:nvSpPr>
      <dsp:spPr>
        <a:xfrm>
          <a:off x="6282425" y="200834"/>
          <a:ext cx="1494667" cy="1256746"/>
        </a:xfrm>
        <a:prstGeom prst="roundRect">
          <a:avLst>
            <a:gd name="adj" fmla="val 10000"/>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Get a blueprint of idea</a:t>
          </a:r>
        </a:p>
      </dsp:txBody>
      <dsp:txXfrm>
        <a:off x="6319234" y="237643"/>
        <a:ext cx="1421049" cy="1183128"/>
      </dsp:txXfrm>
    </dsp:sp>
    <dsp:sp modelId="{BFB4A432-86E0-4DE8-8387-B1A40BF25737}">
      <dsp:nvSpPr>
        <dsp:cNvPr id="0" name=""/>
        <dsp:cNvSpPr/>
      </dsp:nvSpPr>
      <dsp:spPr>
        <a:xfrm>
          <a:off x="7926560" y="643868"/>
          <a:ext cx="316869" cy="37067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7926560" y="718003"/>
        <a:ext cx="221808" cy="222407"/>
      </dsp:txXfrm>
    </dsp:sp>
    <dsp:sp modelId="{8545F308-FDE0-4663-9BE9-AF4F5A77EEB3}">
      <dsp:nvSpPr>
        <dsp:cNvPr id="0" name=""/>
        <dsp:cNvSpPr/>
      </dsp:nvSpPr>
      <dsp:spPr>
        <a:xfrm>
          <a:off x="8374960" y="200834"/>
          <a:ext cx="1494667" cy="1256746"/>
        </a:xfrm>
        <a:prstGeom prst="roundRect">
          <a:avLst>
            <a:gd name="adj" fmla="val 10000"/>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Create prototype</a:t>
          </a:r>
        </a:p>
      </dsp:txBody>
      <dsp:txXfrm>
        <a:off x="8411769" y="237643"/>
        <a:ext cx="1421049" cy="118312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2/17/2025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7005E26E-BCB2-4FD5-8FD5-81A5EAE94C21}" type="datetime1">
              <a:rPr lang="en-US" smtClean="0"/>
              <a:t>2/17/2025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708934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12551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77884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037023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2/17/2025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9449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2/17/2025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30847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2/17/2025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798986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66328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1639704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EE424C-FCA3-4EDD-B274-8E055D649B7D}" type="datetime1">
              <a:rPr lang="en-US" smtClean="0"/>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1107579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7EE424C-FCA3-4EDD-B274-8E055D649B7D}" type="datetime1">
              <a:rPr lang="en-US" smtClean="0"/>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6586577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7EE424C-FCA3-4EDD-B274-8E055D649B7D}" type="datetime1">
              <a:rPr lang="en-US" smtClean="0"/>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5960642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EE424C-FCA3-4EDD-B274-8E055D649B7D}" type="datetime1">
              <a:rPr lang="en-US" smtClean="0"/>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606653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7EE424C-FCA3-4EDD-B274-8E055D649B7D}" type="datetime1">
              <a:rPr lang="en-US" smtClean="0"/>
              <a:t>2/17/2025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3921436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7EE424C-FCA3-4EDD-B274-8E055D649B7D}" type="datetime1">
              <a:rPr lang="en-US" smtClean="0"/>
              <a:t>2/17/2025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1379323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CC2E9B8-0487-42E4-B571-744A3D775783}" type="datetime1">
              <a:rPr lang="en-US" smtClean="0"/>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36723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052E32D-1E84-43FD-8158-FFFE757EB0E8}" type="datetime1">
              <a:rPr lang="en-US" smtClean="0"/>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590094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7EE424C-FCA3-4EDD-B274-8E055D649B7D}" type="datetime1">
              <a:rPr lang="en-US" smtClean="0"/>
              <a:t>2/17/2025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607852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youtu.be/d5_h1VuwD6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youtu.be/1c9LsuN3zVY" TargetMode="External"/><Relationship Id="rId2" Type="http://schemas.openxmlformats.org/officeDocument/2006/relationships/hyperlink" Target="https://youtu.be/-TDn25K-Jh4" TargetMode="External"/><Relationship Id="rId1" Type="http://schemas.openxmlformats.org/officeDocument/2006/relationships/slideLayout" Target="../slideLayouts/slideLayout2.xml"/><Relationship Id="rId4" Type="http://schemas.openxmlformats.org/officeDocument/2006/relationships/hyperlink" Target="https://youtu.be/HUVbGxMgu3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en.wikipedia.org/wiki/Head-up_display" TargetMode="External"/><Relationship Id="rId3" Type="http://schemas.openxmlformats.org/officeDocument/2006/relationships/hyperlink" Target="https://en.wikipedia.org/wiki/Google" TargetMode="External"/><Relationship Id="rId7" Type="http://schemas.openxmlformats.org/officeDocument/2006/relationships/hyperlink" Target="https://en.wikipedia.org/wiki/Google_Glass#cite_note-NYT_2013-02-21-1" TargetMode="External"/><Relationship Id="rId2" Type="http://schemas.openxmlformats.org/officeDocument/2006/relationships/hyperlink" Target="https://en.wikipedia.org/wiki/Smart_glasses" TargetMode="External"/><Relationship Id="rId1" Type="http://schemas.openxmlformats.org/officeDocument/2006/relationships/slideLayout" Target="../slideLayouts/slideLayout2.xml"/><Relationship Id="rId6" Type="http://schemas.openxmlformats.org/officeDocument/2006/relationships/hyperlink" Target="https://en.wikipedia.org/wiki/Ubiquitous_computing" TargetMode="External"/><Relationship Id="rId5" Type="http://schemas.openxmlformats.org/officeDocument/2006/relationships/hyperlink" Target="https://en.wikipedia.org/wiki/Google_Glass#cite_note-9" TargetMode="External"/><Relationship Id="rId10" Type="http://schemas.openxmlformats.org/officeDocument/2006/relationships/hyperlink" Target="https://en.wikipedia.org/wiki/Natural_language_processing" TargetMode="External"/><Relationship Id="rId4" Type="http://schemas.openxmlformats.org/officeDocument/2006/relationships/hyperlink" Target="https://en.wikipedia.org/wiki/X_Development" TargetMode="External"/><Relationship Id="rId9" Type="http://schemas.openxmlformats.org/officeDocument/2006/relationships/hyperlink" Target="https://en.wikipedia.org/wiki/Google_Glass#cite_note-1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3dnatives.com/en/fleet-space-has-developed-fully-3d-printed-satellites-030120214/" TargetMode="External"/><Relationship Id="rId2" Type="http://schemas.openxmlformats.org/officeDocument/2006/relationships/hyperlink" Target="https://prototaluk.com/sectors/aerospac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prototaluk.com/blog/stereolithography-vs-selective-laser-sinterin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additive-x.com/blog/how-airbus-is-using-3d-printing-to-reduce-aircraft-emission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prototaluk.com/sectors/medica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49" y="3060868"/>
            <a:ext cx="7501651" cy="1090938"/>
          </a:xfrm>
        </p:spPr>
        <p:txBody>
          <a:bodyPr anchor="b">
            <a:noAutofit/>
          </a:bodyPr>
          <a:lstStyle/>
          <a:p>
            <a:r>
              <a:rPr lang="en-US" sz="8000" dirty="0">
                <a:solidFill>
                  <a:srgbClr val="FFC000"/>
                </a:solidFill>
              </a:rPr>
              <a:t>Design </a:t>
            </a:r>
            <a:r>
              <a:rPr lang="en-US" sz="8000" b="1" dirty="0">
                <a:solidFill>
                  <a:srgbClr val="FFC000"/>
                </a:solidFill>
              </a:rPr>
              <a:t>THINKING</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lnSpcReduction="10000"/>
          </a:bodyPr>
          <a:lstStyle/>
          <a:p>
            <a:r>
              <a:rPr lang="en-US" sz="2800" dirty="0">
                <a:solidFill>
                  <a:srgbClr val="FFFFFF"/>
                </a:solidFill>
              </a:rPr>
              <a:t>Dr. Lakshmi S, Dept. of ECE </a:t>
            </a: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sp>
        <p:nvSpPr>
          <p:cNvPr id="8" name="Title 1">
            <a:extLst>
              <a:ext uri="{FF2B5EF4-FFF2-40B4-BE49-F238E27FC236}">
                <a16:creationId xmlns:a16="http://schemas.microsoft.com/office/drawing/2014/main" id="{E8F765AE-065E-46EF-B3BC-37E4A331D7D4}"/>
              </a:ext>
            </a:extLst>
          </p:cNvPr>
          <p:cNvSpPr txBox="1">
            <a:spLocks/>
          </p:cNvSpPr>
          <p:nvPr/>
        </p:nvSpPr>
        <p:spPr>
          <a:xfrm>
            <a:off x="4293567" y="3631959"/>
            <a:ext cx="7501651" cy="1090938"/>
          </a:xfrm>
          <a:prstGeom prst="rect">
            <a:avLst/>
          </a:prstGeom>
        </p:spPr>
        <p:txBody>
          <a:bodyPr vert="horz" lIns="91440" tIns="45720" rIns="91440" bIns="45720" rtlCol="0" anchor="b">
            <a:noAutofit/>
          </a:bodyPr>
          <a:lstStyle>
            <a:lvl1pPr algn="r" defTabSz="914400" rtl="0" eaLnBrk="1" latinLnBrk="0" hangingPunct="1">
              <a:lnSpc>
                <a:spcPct val="80000"/>
              </a:lnSpc>
              <a:spcBef>
                <a:spcPct val="0"/>
              </a:spcBef>
              <a:buNone/>
              <a:defRPr sz="5000" kern="1200" cap="all" spc="200" baseline="0">
                <a:solidFill>
                  <a:schemeClr val="tx1">
                    <a:lumMod val="95000"/>
                    <a:lumOff val="5000"/>
                  </a:schemeClr>
                </a:solidFill>
                <a:latin typeface="+mj-lt"/>
                <a:ea typeface="+mj-ea"/>
                <a:cs typeface="+mj-cs"/>
              </a:defRPr>
            </a:lvl1pPr>
          </a:lstStyle>
          <a:p>
            <a:r>
              <a:rPr lang="en-US" sz="5400" dirty="0">
                <a:solidFill>
                  <a:srgbClr val="FFC000"/>
                </a:solidFill>
              </a:rPr>
              <a:t>Unit 3B</a:t>
            </a:r>
            <a:endParaRPr lang="en-US" sz="5400" b="1" dirty="0">
              <a:solidFill>
                <a:srgbClr val="FFC000"/>
              </a:solidFill>
            </a:endParaRPr>
          </a:p>
        </p:txBody>
      </p: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p:txBody>
          <a:bodyPr>
            <a:normAutofit fontScale="90000"/>
          </a:bodyPr>
          <a:lstStyle/>
          <a:p>
            <a:r>
              <a:rPr lang="en-US" sz="6600" b="1" dirty="0"/>
              <a:t>Prototype </a:t>
            </a:r>
            <a:r>
              <a:rPr lang="en-US" sz="6600" dirty="0"/>
              <a:t>Phase</a:t>
            </a:r>
          </a:p>
        </p:txBody>
      </p:sp>
      <p:sp>
        <p:nvSpPr>
          <p:cNvPr id="4" name="Content Placeholder 3">
            <a:extLst>
              <a:ext uri="{FF2B5EF4-FFF2-40B4-BE49-F238E27FC236}">
                <a16:creationId xmlns:a16="http://schemas.microsoft.com/office/drawing/2014/main" id="{3646ADEA-A15B-4D8C-9AD7-EBB1A97CB378}"/>
              </a:ext>
            </a:extLst>
          </p:cNvPr>
          <p:cNvSpPr>
            <a:spLocks noGrp="1"/>
          </p:cNvSpPr>
          <p:nvPr>
            <p:ph idx="1"/>
          </p:nvPr>
        </p:nvSpPr>
        <p:spPr/>
        <p:txBody>
          <a:bodyPr>
            <a:normAutofit/>
          </a:bodyPr>
          <a:lstStyle/>
          <a:p>
            <a:r>
              <a:rPr lang="en-IN" sz="3600" dirty="0"/>
              <a:t>Students take their ideas and make them a reality, producing a prototype – an experimental model – that the end user can experience. </a:t>
            </a:r>
          </a:p>
        </p:txBody>
      </p:sp>
    </p:spTree>
    <p:extLst>
      <p:ext uri="{BB962C8B-B14F-4D97-AF65-F5344CB8AC3E}">
        <p14:creationId xmlns:p14="http://schemas.microsoft.com/office/powerpoint/2010/main" val="1401741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p:txBody>
          <a:bodyPr>
            <a:normAutofit fontScale="90000"/>
          </a:bodyPr>
          <a:lstStyle/>
          <a:p>
            <a:r>
              <a:rPr lang="en-US" sz="6600" b="1" dirty="0"/>
              <a:t>Prototype </a:t>
            </a:r>
            <a:r>
              <a:rPr lang="en-US" sz="6600" dirty="0"/>
              <a:t>Phase</a:t>
            </a:r>
          </a:p>
        </p:txBody>
      </p:sp>
      <p:sp>
        <p:nvSpPr>
          <p:cNvPr id="4" name="Content Placeholder 3">
            <a:extLst>
              <a:ext uri="{FF2B5EF4-FFF2-40B4-BE49-F238E27FC236}">
                <a16:creationId xmlns:a16="http://schemas.microsoft.com/office/drawing/2014/main" id="{3646ADEA-A15B-4D8C-9AD7-EBB1A97CB378}"/>
              </a:ext>
            </a:extLst>
          </p:cNvPr>
          <p:cNvSpPr>
            <a:spLocks noGrp="1"/>
          </p:cNvSpPr>
          <p:nvPr>
            <p:ph idx="1"/>
          </p:nvPr>
        </p:nvSpPr>
        <p:spPr/>
        <p:txBody>
          <a:bodyPr>
            <a:normAutofit fontScale="85000" lnSpcReduction="20000"/>
          </a:bodyPr>
          <a:lstStyle/>
          <a:p>
            <a:r>
              <a:rPr lang="en-IN" sz="3600" dirty="0"/>
              <a:t>Few critical goals during prototyping:	</a:t>
            </a:r>
          </a:p>
          <a:p>
            <a:endParaRPr lang="en-IN" sz="1600" dirty="0"/>
          </a:p>
          <a:p>
            <a:pPr>
              <a:buFont typeface="Arial" panose="020B0604020202020204" pitchFamily="34" charset="0"/>
              <a:buChar char="•"/>
            </a:pPr>
            <a:r>
              <a:rPr lang="en-IN" sz="2800" dirty="0"/>
              <a:t> Communicate clearly how the solution will solve the problem</a:t>
            </a:r>
          </a:p>
          <a:p>
            <a:pPr>
              <a:buFont typeface="Arial" panose="020B0604020202020204" pitchFamily="34" charset="0"/>
              <a:buChar char="•"/>
            </a:pPr>
            <a:r>
              <a:rPr lang="en-IN" sz="2800" dirty="0"/>
              <a:t> Test, elicit feedback, identify new insights, and find unexpected failure points that can lead to improvements and refinements</a:t>
            </a:r>
          </a:p>
          <a:p>
            <a:pPr>
              <a:buFont typeface="Arial" panose="020B0604020202020204" pitchFamily="34" charset="0"/>
              <a:buChar char="•"/>
            </a:pPr>
            <a:r>
              <a:rPr lang="en-IN" sz="2800" dirty="0"/>
              <a:t>  Provide opportunities to problem-solve and think through ideas that may arise through the act of making </a:t>
            </a:r>
            <a:endParaRPr lang="en-IN" sz="3600" dirty="0"/>
          </a:p>
        </p:txBody>
      </p:sp>
    </p:spTree>
    <p:extLst>
      <p:ext uri="{BB962C8B-B14F-4D97-AF65-F5344CB8AC3E}">
        <p14:creationId xmlns:p14="http://schemas.microsoft.com/office/powerpoint/2010/main" val="1134693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p:txBody>
          <a:bodyPr>
            <a:normAutofit fontScale="90000"/>
          </a:bodyPr>
          <a:lstStyle/>
          <a:p>
            <a:r>
              <a:rPr lang="en-US" sz="6600" b="1" dirty="0"/>
              <a:t>Prototype </a:t>
            </a:r>
            <a:r>
              <a:rPr lang="en-US" sz="6600" dirty="0"/>
              <a:t>Phase</a:t>
            </a:r>
          </a:p>
        </p:txBody>
      </p:sp>
      <p:sp>
        <p:nvSpPr>
          <p:cNvPr id="4" name="Content Placeholder 3">
            <a:extLst>
              <a:ext uri="{FF2B5EF4-FFF2-40B4-BE49-F238E27FC236}">
                <a16:creationId xmlns:a16="http://schemas.microsoft.com/office/drawing/2014/main" id="{3646ADEA-A15B-4D8C-9AD7-EBB1A97CB378}"/>
              </a:ext>
            </a:extLst>
          </p:cNvPr>
          <p:cNvSpPr>
            <a:spLocks noGrp="1"/>
          </p:cNvSpPr>
          <p:nvPr>
            <p:ph idx="1"/>
          </p:nvPr>
        </p:nvSpPr>
        <p:spPr/>
        <p:txBody>
          <a:bodyPr>
            <a:normAutofit/>
          </a:bodyPr>
          <a:lstStyle/>
          <a:p>
            <a:r>
              <a:rPr lang="en-IN" sz="3600" dirty="0"/>
              <a:t>Few RULES during prototyping:	</a:t>
            </a:r>
          </a:p>
          <a:p>
            <a:endParaRPr lang="en-IN" sz="1800" dirty="0"/>
          </a:p>
          <a:p>
            <a:pPr>
              <a:buFont typeface="Arial" panose="020B0604020202020204" pitchFamily="34" charset="0"/>
              <a:buChar char="•"/>
            </a:pPr>
            <a:r>
              <a:rPr lang="en-IN" sz="3200" dirty="0"/>
              <a:t> Do not get attached to your prototype</a:t>
            </a:r>
          </a:p>
          <a:p>
            <a:pPr>
              <a:buFont typeface="Arial" panose="020B0604020202020204" pitchFamily="34" charset="0"/>
              <a:buChar char="•"/>
            </a:pPr>
            <a:r>
              <a:rPr lang="en-IN" sz="3200" dirty="0"/>
              <a:t> Do not consume too much time for making a prototype</a:t>
            </a:r>
            <a:endParaRPr lang="en-IN" sz="4000" dirty="0"/>
          </a:p>
        </p:txBody>
      </p:sp>
    </p:spTree>
    <p:extLst>
      <p:ext uri="{BB962C8B-B14F-4D97-AF65-F5344CB8AC3E}">
        <p14:creationId xmlns:p14="http://schemas.microsoft.com/office/powerpoint/2010/main" val="1817187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7" y="585216"/>
            <a:ext cx="10882323" cy="1499616"/>
          </a:xfrm>
        </p:spPr>
        <p:txBody>
          <a:bodyPr>
            <a:normAutofit fontScale="90000"/>
          </a:bodyPr>
          <a:lstStyle/>
          <a:p>
            <a:r>
              <a:rPr lang="en-US" sz="6600" b="1" dirty="0"/>
              <a:t>Prototype </a:t>
            </a:r>
            <a:r>
              <a:rPr lang="en-US" sz="6600" dirty="0"/>
              <a:t>Phase – </a:t>
            </a:r>
            <a:r>
              <a:rPr lang="en-US" sz="6600" dirty="0">
                <a:solidFill>
                  <a:srgbClr val="FF0000"/>
                </a:solidFill>
              </a:rPr>
              <a:t>Rapid prototyping</a:t>
            </a:r>
          </a:p>
        </p:txBody>
      </p:sp>
      <p:sp>
        <p:nvSpPr>
          <p:cNvPr id="4" name="Content Placeholder 3">
            <a:extLst>
              <a:ext uri="{FF2B5EF4-FFF2-40B4-BE49-F238E27FC236}">
                <a16:creationId xmlns:a16="http://schemas.microsoft.com/office/drawing/2014/main" id="{3646ADEA-A15B-4D8C-9AD7-EBB1A97CB378}"/>
              </a:ext>
            </a:extLst>
          </p:cNvPr>
          <p:cNvSpPr>
            <a:spLocks noGrp="1"/>
          </p:cNvSpPr>
          <p:nvPr>
            <p:ph idx="1"/>
          </p:nvPr>
        </p:nvSpPr>
        <p:spPr/>
        <p:txBody>
          <a:bodyPr>
            <a:normAutofit lnSpcReduction="10000"/>
          </a:bodyPr>
          <a:lstStyle/>
          <a:p>
            <a:r>
              <a:rPr lang="en-IN" sz="3600" dirty="0"/>
              <a:t>Create low-resolution prototype, and create it quickly</a:t>
            </a:r>
          </a:p>
          <a:p>
            <a:endParaRPr lang="en-IN" sz="3600" dirty="0"/>
          </a:p>
          <a:p>
            <a:r>
              <a:rPr lang="en-IN" sz="3600" dirty="0"/>
              <a:t>This enables you to gain feedback and learn failure points by building multiple prototypes</a:t>
            </a:r>
            <a:endParaRPr lang="en-IN" sz="4000" dirty="0"/>
          </a:p>
        </p:txBody>
      </p:sp>
    </p:spTree>
    <p:extLst>
      <p:ext uri="{BB962C8B-B14F-4D97-AF65-F5344CB8AC3E}">
        <p14:creationId xmlns:p14="http://schemas.microsoft.com/office/powerpoint/2010/main" val="3141953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7" y="585216"/>
            <a:ext cx="10882323" cy="1499616"/>
          </a:xfrm>
        </p:spPr>
        <p:txBody>
          <a:bodyPr>
            <a:normAutofit fontScale="90000"/>
          </a:bodyPr>
          <a:lstStyle/>
          <a:p>
            <a:r>
              <a:rPr lang="en-US" sz="6600" b="1" dirty="0"/>
              <a:t>Prototype </a:t>
            </a:r>
            <a:r>
              <a:rPr lang="en-US" sz="6600" dirty="0"/>
              <a:t>Phase – </a:t>
            </a:r>
            <a:r>
              <a:rPr lang="en-US" sz="6600" dirty="0">
                <a:solidFill>
                  <a:srgbClr val="FF0000"/>
                </a:solidFill>
              </a:rPr>
              <a:t>Rapid prototyping</a:t>
            </a:r>
          </a:p>
        </p:txBody>
      </p:sp>
      <p:sp>
        <p:nvSpPr>
          <p:cNvPr id="4" name="Content Placeholder 3">
            <a:extLst>
              <a:ext uri="{FF2B5EF4-FFF2-40B4-BE49-F238E27FC236}">
                <a16:creationId xmlns:a16="http://schemas.microsoft.com/office/drawing/2014/main" id="{3646ADEA-A15B-4D8C-9AD7-EBB1A97CB378}"/>
              </a:ext>
            </a:extLst>
          </p:cNvPr>
          <p:cNvSpPr>
            <a:spLocks noGrp="1"/>
          </p:cNvSpPr>
          <p:nvPr>
            <p:ph idx="1"/>
          </p:nvPr>
        </p:nvSpPr>
        <p:spPr/>
        <p:txBody>
          <a:bodyPr>
            <a:normAutofit/>
          </a:bodyPr>
          <a:lstStyle/>
          <a:p>
            <a:r>
              <a:rPr lang="en-IN" sz="3600" dirty="0">
                <a:hlinkClick r:id="rId2"/>
              </a:rPr>
              <a:t>https://youtu.be/d5_h1VuwD6g</a:t>
            </a:r>
            <a:endParaRPr lang="en-IN" sz="3600" dirty="0"/>
          </a:p>
          <a:p>
            <a:endParaRPr lang="en-IN" sz="3600" dirty="0"/>
          </a:p>
          <a:p>
            <a:r>
              <a:rPr lang="en-IN" sz="3600" dirty="0" err="1"/>
              <a:t>TedYouth</a:t>
            </a:r>
            <a:r>
              <a:rPr lang="en-IN" sz="3600" dirty="0"/>
              <a:t> presentation, 2012 – Tom Chi, The co-founder of X</a:t>
            </a:r>
            <a:endParaRPr lang="en-IN" sz="4000" dirty="0"/>
          </a:p>
        </p:txBody>
      </p:sp>
    </p:spTree>
    <p:extLst>
      <p:ext uri="{BB962C8B-B14F-4D97-AF65-F5344CB8AC3E}">
        <p14:creationId xmlns:p14="http://schemas.microsoft.com/office/powerpoint/2010/main" val="2294947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7" y="585216"/>
            <a:ext cx="10882323" cy="1499616"/>
          </a:xfrm>
        </p:spPr>
        <p:txBody>
          <a:bodyPr>
            <a:normAutofit fontScale="90000"/>
          </a:bodyPr>
          <a:lstStyle/>
          <a:p>
            <a:r>
              <a:rPr lang="en-US" sz="6600" b="1" dirty="0"/>
              <a:t>Prototype </a:t>
            </a:r>
            <a:r>
              <a:rPr lang="en-US" sz="6600" dirty="0"/>
              <a:t>Phase – </a:t>
            </a:r>
            <a:r>
              <a:rPr lang="en-US" sz="6600" dirty="0">
                <a:solidFill>
                  <a:srgbClr val="FF0000"/>
                </a:solidFill>
              </a:rPr>
              <a:t>Prototyping in 							action</a:t>
            </a:r>
          </a:p>
        </p:txBody>
      </p:sp>
      <p:sp>
        <p:nvSpPr>
          <p:cNvPr id="4" name="Content Placeholder 3">
            <a:extLst>
              <a:ext uri="{FF2B5EF4-FFF2-40B4-BE49-F238E27FC236}">
                <a16:creationId xmlns:a16="http://schemas.microsoft.com/office/drawing/2014/main" id="{3646ADEA-A15B-4D8C-9AD7-EBB1A97CB378}"/>
              </a:ext>
            </a:extLst>
          </p:cNvPr>
          <p:cNvSpPr>
            <a:spLocks noGrp="1"/>
          </p:cNvSpPr>
          <p:nvPr>
            <p:ph idx="1"/>
          </p:nvPr>
        </p:nvSpPr>
        <p:spPr>
          <a:xfrm>
            <a:off x="1024127" y="4762118"/>
            <a:ext cx="9720073" cy="1658415"/>
          </a:xfrm>
        </p:spPr>
        <p:txBody>
          <a:bodyPr>
            <a:normAutofit fontScale="85000" lnSpcReduction="10000"/>
          </a:bodyPr>
          <a:lstStyle/>
          <a:p>
            <a:pPr marL="742950" indent="-742950">
              <a:buFont typeface="+mj-lt"/>
              <a:buAutoNum type="arabicPeriod"/>
            </a:pPr>
            <a:r>
              <a:rPr lang="en-IN" sz="3200" dirty="0"/>
              <a:t>Decide on materials and tools</a:t>
            </a:r>
          </a:p>
          <a:p>
            <a:pPr marL="742950" indent="-742950">
              <a:buFont typeface="+mj-lt"/>
              <a:buAutoNum type="arabicPeriod"/>
            </a:pPr>
            <a:r>
              <a:rPr lang="en-IN" sz="3200" dirty="0"/>
              <a:t>Decide on what user experience you are testing</a:t>
            </a:r>
          </a:p>
          <a:p>
            <a:pPr marL="742950" indent="-742950">
              <a:buFont typeface="+mj-lt"/>
              <a:buAutoNum type="arabicPeriod"/>
            </a:pPr>
            <a:r>
              <a:rPr lang="en-IN" sz="3200" dirty="0"/>
              <a:t>Design control parameters and </a:t>
            </a:r>
            <a:r>
              <a:rPr lang="en-IN" sz="3200"/>
              <a:t>failure tests</a:t>
            </a:r>
            <a:endParaRPr lang="en-IN" sz="3200" dirty="0"/>
          </a:p>
          <a:p>
            <a:pPr marL="742950" indent="-742950">
              <a:buFont typeface="+mj-lt"/>
              <a:buAutoNum type="arabicPeriod"/>
            </a:pPr>
            <a:endParaRPr lang="en-IN" sz="3200" dirty="0"/>
          </a:p>
        </p:txBody>
      </p:sp>
      <p:graphicFrame>
        <p:nvGraphicFramePr>
          <p:cNvPr id="3" name="Diagram 2">
            <a:extLst>
              <a:ext uri="{FF2B5EF4-FFF2-40B4-BE49-F238E27FC236}">
                <a16:creationId xmlns:a16="http://schemas.microsoft.com/office/drawing/2014/main" id="{48CAAB3E-84EB-4F48-B64C-076F623FCC01}"/>
              </a:ext>
            </a:extLst>
          </p:cNvPr>
          <p:cNvGraphicFramePr/>
          <p:nvPr>
            <p:extLst>
              <p:ext uri="{D42A27DB-BD31-4B8C-83A1-F6EECF244321}">
                <p14:modId xmlns:p14="http://schemas.microsoft.com/office/powerpoint/2010/main" val="3555930565"/>
              </p:ext>
            </p:extLst>
          </p:nvPr>
        </p:nvGraphicFramePr>
        <p:xfrm>
          <a:off x="1158775" y="1508939"/>
          <a:ext cx="9874450" cy="2524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90113235-CD22-4E88-A898-F686EFEE060D}"/>
              </a:ext>
            </a:extLst>
          </p:cNvPr>
          <p:cNvGraphicFramePr/>
          <p:nvPr>
            <p:extLst>
              <p:ext uri="{D42A27DB-BD31-4B8C-83A1-F6EECF244321}">
                <p14:modId xmlns:p14="http://schemas.microsoft.com/office/powerpoint/2010/main" val="3487195453"/>
              </p:ext>
            </p:extLst>
          </p:nvPr>
        </p:nvGraphicFramePr>
        <p:xfrm>
          <a:off x="1158775" y="3114754"/>
          <a:ext cx="9874450" cy="165841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015645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7" y="585216"/>
            <a:ext cx="10882323" cy="1499616"/>
          </a:xfrm>
        </p:spPr>
        <p:txBody>
          <a:bodyPr>
            <a:normAutofit fontScale="90000"/>
          </a:bodyPr>
          <a:lstStyle/>
          <a:p>
            <a:r>
              <a:rPr lang="en-US" sz="6600" b="1" dirty="0"/>
              <a:t>Prototype </a:t>
            </a:r>
            <a:r>
              <a:rPr lang="en-US" sz="6600" dirty="0"/>
              <a:t>Phase – </a:t>
            </a:r>
            <a:r>
              <a:rPr lang="en-US" sz="6600" dirty="0">
                <a:solidFill>
                  <a:srgbClr val="FF0000"/>
                </a:solidFill>
              </a:rPr>
              <a:t>Facilitation and							Mentorship</a:t>
            </a:r>
          </a:p>
        </p:txBody>
      </p:sp>
      <p:sp>
        <p:nvSpPr>
          <p:cNvPr id="4" name="Content Placeholder 3">
            <a:extLst>
              <a:ext uri="{FF2B5EF4-FFF2-40B4-BE49-F238E27FC236}">
                <a16:creationId xmlns:a16="http://schemas.microsoft.com/office/drawing/2014/main" id="{3646ADEA-A15B-4D8C-9AD7-EBB1A97CB378}"/>
              </a:ext>
            </a:extLst>
          </p:cNvPr>
          <p:cNvSpPr>
            <a:spLocks noGrp="1"/>
          </p:cNvSpPr>
          <p:nvPr>
            <p:ph idx="1"/>
          </p:nvPr>
        </p:nvSpPr>
        <p:spPr/>
        <p:txBody>
          <a:bodyPr>
            <a:normAutofit fontScale="85000" lnSpcReduction="10000"/>
          </a:bodyPr>
          <a:lstStyle/>
          <a:p>
            <a:r>
              <a:rPr lang="en-IN" sz="3600" dirty="0"/>
              <a:t>Work in a team, and look for mentors who </a:t>
            </a:r>
          </a:p>
          <a:p>
            <a:pPr marL="742950" indent="-742950">
              <a:buFont typeface="+mj-lt"/>
              <a:buAutoNum type="arabicPeriod"/>
            </a:pPr>
            <a:r>
              <a:rPr lang="en-IN" sz="3600" dirty="0"/>
              <a:t>Have time to spend with you</a:t>
            </a:r>
          </a:p>
          <a:p>
            <a:pPr marL="742950" indent="-742950">
              <a:buFont typeface="+mj-lt"/>
              <a:buAutoNum type="arabicPeriod"/>
            </a:pPr>
            <a:r>
              <a:rPr lang="en-IN" sz="3600" dirty="0"/>
              <a:t>Are experts in the field</a:t>
            </a:r>
          </a:p>
          <a:p>
            <a:pPr marL="742950" indent="-742950">
              <a:buFont typeface="+mj-lt"/>
              <a:buAutoNum type="arabicPeriod"/>
            </a:pPr>
            <a:r>
              <a:rPr lang="en-IN" sz="3600" dirty="0"/>
              <a:t>Are passionate about your problem statement</a:t>
            </a:r>
          </a:p>
          <a:p>
            <a:pPr marL="742950" indent="-742950">
              <a:buFont typeface="+mj-lt"/>
              <a:buAutoNum type="arabicPeriod"/>
            </a:pPr>
            <a:r>
              <a:rPr lang="en-IN" sz="3600" dirty="0"/>
              <a:t>Have confidence in your design solution</a:t>
            </a:r>
          </a:p>
        </p:txBody>
      </p:sp>
    </p:spTree>
    <p:extLst>
      <p:ext uri="{BB962C8B-B14F-4D97-AF65-F5344CB8AC3E}">
        <p14:creationId xmlns:p14="http://schemas.microsoft.com/office/powerpoint/2010/main" val="3178841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7" y="585216"/>
            <a:ext cx="10882323" cy="1499616"/>
          </a:xfrm>
        </p:spPr>
        <p:txBody>
          <a:bodyPr>
            <a:normAutofit fontScale="90000"/>
          </a:bodyPr>
          <a:lstStyle/>
          <a:p>
            <a:r>
              <a:rPr lang="en-US" sz="6600" b="1" dirty="0"/>
              <a:t>Prototype </a:t>
            </a:r>
            <a:r>
              <a:rPr lang="en-US" sz="6600" dirty="0"/>
              <a:t>Phase –</a:t>
            </a:r>
            <a:r>
              <a:rPr lang="en-US" sz="6600" dirty="0">
                <a:solidFill>
                  <a:srgbClr val="FF0000"/>
                </a:solidFill>
              </a:rPr>
              <a:t>Tools &amp; materials</a:t>
            </a:r>
          </a:p>
        </p:txBody>
      </p:sp>
      <p:sp>
        <p:nvSpPr>
          <p:cNvPr id="4" name="Content Placeholder 3">
            <a:extLst>
              <a:ext uri="{FF2B5EF4-FFF2-40B4-BE49-F238E27FC236}">
                <a16:creationId xmlns:a16="http://schemas.microsoft.com/office/drawing/2014/main" id="{3646ADEA-A15B-4D8C-9AD7-EBB1A97CB378}"/>
              </a:ext>
            </a:extLst>
          </p:cNvPr>
          <p:cNvSpPr>
            <a:spLocks noGrp="1"/>
          </p:cNvSpPr>
          <p:nvPr>
            <p:ph idx="1"/>
          </p:nvPr>
        </p:nvSpPr>
        <p:spPr>
          <a:xfrm>
            <a:off x="1024128" y="2286000"/>
            <a:ext cx="10141177" cy="4023360"/>
          </a:xfrm>
        </p:spPr>
        <p:txBody>
          <a:bodyPr>
            <a:normAutofit fontScale="92500" lnSpcReduction="20000"/>
          </a:bodyPr>
          <a:lstStyle/>
          <a:p>
            <a:pPr marL="916686" lvl="1" indent="-742950">
              <a:buFont typeface="+mj-lt"/>
              <a:buAutoNum type="alphaLcPeriod"/>
            </a:pPr>
            <a:r>
              <a:rPr lang="en-IN" sz="3600" dirty="0"/>
              <a:t>Hardware – Manufacturing tools, Electronic components, Wood/ plastic/ other materials</a:t>
            </a:r>
          </a:p>
          <a:p>
            <a:pPr marL="916686" lvl="1" indent="-742950">
              <a:buFont typeface="+mj-lt"/>
              <a:buAutoNum type="alphaLcPeriod"/>
            </a:pPr>
            <a:endParaRPr lang="en-IN" sz="3600" dirty="0"/>
          </a:p>
          <a:p>
            <a:pPr marL="916686" lvl="1" indent="-742950">
              <a:buFont typeface="+mj-lt"/>
              <a:buAutoNum type="alphaLcPeriod"/>
            </a:pPr>
            <a:r>
              <a:rPr lang="en-IN" sz="3600" dirty="0"/>
              <a:t>Software – Microcontroller programming, 3D design software</a:t>
            </a:r>
          </a:p>
          <a:p>
            <a:pPr marL="916686" lvl="1" indent="-742950">
              <a:buFont typeface="+mj-lt"/>
              <a:buAutoNum type="alphaLcPeriod"/>
            </a:pPr>
            <a:endParaRPr lang="en-IN" sz="3600" dirty="0"/>
          </a:p>
          <a:p>
            <a:pPr marL="916686" lvl="1" indent="-742950">
              <a:buFont typeface="+mj-lt"/>
              <a:buAutoNum type="alphaLcPeriod"/>
            </a:pPr>
            <a:r>
              <a:rPr lang="en-IN" sz="3600" dirty="0"/>
              <a:t>Remember safety is paramount! Cost restriction is practical!</a:t>
            </a:r>
          </a:p>
        </p:txBody>
      </p:sp>
    </p:spTree>
    <p:extLst>
      <p:ext uri="{BB962C8B-B14F-4D97-AF65-F5344CB8AC3E}">
        <p14:creationId xmlns:p14="http://schemas.microsoft.com/office/powerpoint/2010/main" val="376512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7" y="585216"/>
            <a:ext cx="10882323" cy="1499616"/>
          </a:xfrm>
        </p:spPr>
        <p:txBody>
          <a:bodyPr>
            <a:normAutofit fontScale="90000"/>
          </a:bodyPr>
          <a:lstStyle/>
          <a:p>
            <a:r>
              <a:rPr lang="en-US" sz="6600" b="1" dirty="0"/>
              <a:t>Prototype </a:t>
            </a:r>
            <a:r>
              <a:rPr lang="en-US" sz="6600" dirty="0"/>
              <a:t>Phase –</a:t>
            </a:r>
            <a:r>
              <a:rPr lang="en-US" sz="6600" dirty="0">
                <a:solidFill>
                  <a:srgbClr val="FF0000"/>
                </a:solidFill>
              </a:rPr>
              <a:t>Tools &amp; materials</a:t>
            </a:r>
          </a:p>
        </p:txBody>
      </p:sp>
      <p:sp>
        <p:nvSpPr>
          <p:cNvPr id="4" name="Content Placeholder 3">
            <a:extLst>
              <a:ext uri="{FF2B5EF4-FFF2-40B4-BE49-F238E27FC236}">
                <a16:creationId xmlns:a16="http://schemas.microsoft.com/office/drawing/2014/main" id="{3646ADEA-A15B-4D8C-9AD7-EBB1A97CB378}"/>
              </a:ext>
            </a:extLst>
          </p:cNvPr>
          <p:cNvSpPr>
            <a:spLocks noGrp="1"/>
          </p:cNvSpPr>
          <p:nvPr>
            <p:ph idx="1"/>
          </p:nvPr>
        </p:nvSpPr>
        <p:spPr>
          <a:xfrm>
            <a:off x="1024128" y="2286000"/>
            <a:ext cx="10141177" cy="4023360"/>
          </a:xfrm>
        </p:spPr>
        <p:txBody>
          <a:bodyPr>
            <a:normAutofit lnSpcReduction="10000"/>
          </a:bodyPr>
          <a:lstStyle/>
          <a:p>
            <a:pPr marL="916686" lvl="1" indent="-742950">
              <a:buFont typeface="+mj-lt"/>
              <a:buAutoNum type="alphaLcPeriod"/>
            </a:pPr>
            <a:r>
              <a:rPr lang="en-IN" sz="3600" dirty="0"/>
              <a:t>3D printing - </a:t>
            </a:r>
            <a:r>
              <a:rPr lang="en-IN" sz="3600" dirty="0">
                <a:hlinkClick r:id="rId2"/>
              </a:rPr>
              <a:t>https://youtu.be/-TDn25K-Jh4</a:t>
            </a:r>
            <a:endParaRPr lang="en-IN" sz="3600" dirty="0"/>
          </a:p>
          <a:p>
            <a:pPr marL="916686" lvl="1" indent="-742950">
              <a:buFont typeface="+mj-lt"/>
              <a:buAutoNum type="alphaLcPeriod"/>
            </a:pPr>
            <a:r>
              <a:rPr lang="en-IN" sz="3600" dirty="0"/>
              <a:t>User Interface designing - </a:t>
            </a:r>
            <a:r>
              <a:rPr lang="en-IN" sz="3600" dirty="0">
                <a:hlinkClick r:id="rId3"/>
              </a:rPr>
              <a:t>https://youtu.be/1c9LsuN3zVY</a:t>
            </a:r>
            <a:endParaRPr lang="en-IN" sz="3600" dirty="0"/>
          </a:p>
          <a:p>
            <a:pPr marL="916686" lvl="1" indent="-742950">
              <a:buFont typeface="+mj-lt"/>
              <a:buAutoNum type="alphaLcPeriod"/>
            </a:pPr>
            <a:r>
              <a:rPr lang="en-IN" sz="3600" dirty="0"/>
              <a:t>Electronics prototyping - </a:t>
            </a:r>
            <a:r>
              <a:rPr lang="en-IN" sz="3600" dirty="0">
                <a:hlinkClick r:id="rId4"/>
              </a:rPr>
              <a:t>https://youtu.be/HUVbGxMgu3E</a:t>
            </a:r>
            <a:endParaRPr lang="en-IN" sz="3600" dirty="0"/>
          </a:p>
          <a:p>
            <a:pPr marL="916686" lvl="1" indent="-742950">
              <a:buFont typeface="+mj-lt"/>
              <a:buAutoNum type="alphaLcPeriod"/>
            </a:pPr>
            <a:r>
              <a:rPr lang="en-IN" sz="3600" dirty="0"/>
              <a:t>Arduino for prototyping</a:t>
            </a:r>
          </a:p>
        </p:txBody>
      </p:sp>
    </p:spTree>
    <p:extLst>
      <p:ext uri="{BB962C8B-B14F-4D97-AF65-F5344CB8AC3E}">
        <p14:creationId xmlns:p14="http://schemas.microsoft.com/office/powerpoint/2010/main" val="378124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Benefits of rapid prototyping</a:t>
            </a:r>
          </a:p>
        </p:txBody>
      </p:sp>
      <p:sp>
        <p:nvSpPr>
          <p:cNvPr id="3" name="Content Placeholder 2"/>
          <p:cNvSpPr>
            <a:spLocks noGrp="1"/>
          </p:cNvSpPr>
          <p:nvPr>
            <p:ph idx="1"/>
          </p:nvPr>
        </p:nvSpPr>
        <p:spPr/>
        <p:txBody>
          <a:bodyPr>
            <a:normAutofit fontScale="70000" lnSpcReduction="20000"/>
          </a:bodyPr>
          <a:lstStyle/>
          <a:p>
            <a:r>
              <a:rPr lang="en-IN" dirty="0"/>
              <a:t>You can test the prototype several times in between</a:t>
            </a:r>
          </a:p>
          <a:p>
            <a:r>
              <a:rPr lang="en-IN" dirty="0"/>
              <a:t>Failure of one prototype leads to quickly building one more</a:t>
            </a:r>
          </a:p>
          <a:p>
            <a:r>
              <a:rPr lang="en-IN" dirty="0"/>
              <a:t>Low resolution prototype leads to testing preliminary models</a:t>
            </a:r>
          </a:p>
          <a:p>
            <a:r>
              <a:rPr lang="en-IN" dirty="0"/>
              <a:t>Changes can be made in these preliminary models quickly</a:t>
            </a:r>
          </a:p>
          <a:p>
            <a:r>
              <a:rPr lang="en-IN" dirty="0"/>
              <a:t>Goes through a prototype-testing iterative process</a:t>
            </a:r>
          </a:p>
          <a:p>
            <a:r>
              <a:rPr lang="en-US" b="1" dirty="0"/>
              <a:t>Early identification of flaws:</a:t>
            </a:r>
            <a:endParaRPr lang="en-US" dirty="0"/>
          </a:p>
          <a:p>
            <a:pPr fontAlgn="ctr"/>
            <a:r>
              <a:rPr lang="en-US" dirty="0"/>
              <a:t>Helps catch potential issues early in the design process before investing significant resources. </a:t>
            </a:r>
          </a:p>
          <a:p>
            <a:r>
              <a:rPr lang="en-US" b="1" dirty="0"/>
              <a:t>Reduced development time:</a:t>
            </a:r>
            <a:endParaRPr lang="en-US" dirty="0"/>
          </a:p>
          <a:p>
            <a:pPr fontAlgn="ctr"/>
            <a:r>
              <a:rPr lang="en-US" dirty="0"/>
              <a:t>Enables faster testing and iteration, leading to quicker product development cycles. </a:t>
            </a:r>
          </a:p>
          <a:p>
            <a:r>
              <a:rPr lang="en-US" b="1" dirty="0"/>
              <a:t>Improved user experience:</a:t>
            </a:r>
            <a:endParaRPr lang="en-US" dirty="0"/>
          </a:p>
          <a:p>
            <a:r>
              <a:rPr lang="en-US" dirty="0"/>
              <a:t>By gathering user feedback early, you can design products that better meet user needs. </a:t>
            </a:r>
          </a:p>
          <a:p>
            <a:r>
              <a:rPr lang="en-IN" dirty="0"/>
              <a:t> </a:t>
            </a:r>
          </a:p>
        </p:txBody>
      </p:sp>
    </p:spTree>
    <p:extLst>
      <p:ext uri="{BB962C8B-B14F-4D97-AF65-F5344CB8AC3E}">
        <p14:creationId xmlns:p14="http://schemas.microsoft.com/office/powerpoint/2010/main" val="1161375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glass</a:t>
            </a:r>
          </a:p>
        </p:txBody>
      </p:sp>
      <p:pic>
        <p:nvPicPr>
          <p:cNvPr id="4" name="Content Placeholder 3"/>
          <p:cNvPicPr>
            <a:picLocks noGrp="1" noChangeAspect="1"/>
          </p:cNvPicPr>
          <p:nvPr>
            <p:ph idx="1"/>
          </p:nvPr>
        </p:nvPicPr>
        <p:blipFill>
          <a:blip r:embed="rId2"/>
          <a:stretch>
            <a:fillRect/>
          </a:stretch>
        </p:blipFill>
        <p:spPr>
          <a:xfrm>
            <a:off x="2962061" y="1877342"/>
            <a:ext cx="5563753" cy="4172815"/>
          </a:xfrm>
          <a:prstGeom prst="rect">
            <a:avLst/>
          </a:prstGeom>
        </p:spPr>
      </p:pic>
    </p:spTree>
    <p:extLst>
      <p:ext uri="{BB962C8B-B14F-4D97-AF65-F5344CB8AC3E}">
        <p14:creationId xmlns:p14="http://schemas.microsoft.com/office/powerpoint/2010/main" val="1429752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glass</a:t>
            </a:r>
          </a:p>
        </p:txBody>
      </p:sp>
      <p:sp>
        <p:nvSpPr>
          <p:cNvPr id="3" name="Content Placeholder 2"/>
          <p:cNvSpPr>
            <a:spLocks noGrp="1"/>
          </p:cNvSpPr>
          <p:nvPr>
            <p:ph idx="1"/>
          </p:nvPr>
        </p:nvSpPr>
        <p:spPr>
          <a:xfrm>
            <a:off x="242047" y="2339788"/>
            <a:ext cx="11555001" cy="4382984"/>
          </a:xfrm>
        </p:spPr>
        <p:txBody>
          <a:bodyPr>
            <a:normAutofit/>
          </a:bodyPr>
          <a:lstStyle/>
          <a:p>
            <a:r>
              <a:rPr lang="en-US" b="1" dirty="0"/>
              <a:t>Google Glass</a:t>
            </a:r>
            <a:r>
              <a:rPr lang="en-US" dirty="0"/>
              <a:t>, or simply </a:t>
            </a:r>
            <a:r>
              <a:rPr lang="en-US" b="1" dirty="0"/>
              <a:t>Glass</a:t>
            </a:r>
            <a:r>
              <a:rPr lang="en-US" dirty="0"/>
              <a:t>, is a discontinued brand of </a:t>
            </a:r>
            <a:r>
              <a:rPr lang="en-US" dirty="0">
                <a:hlinkClick r:id="rId2" tooltip="Smart glasses"/>
              </a:rPr>
              <a:t>smart glasses</a:t>
            </a:r>
            <a:r>
              <a:rPr lang="en-US" dirty="0"/>
              <a:t> developed by </a:t>
            </a:r>
            <a:r>
              <a:rPr lang="en-US" dirty="0">
                <a:hlinkClick r:id="rId3" tooltip="Google"/>
              </a:rPr>
              <a:t>Google</a:t>
            </a:r>
            <a:r>
              <a:rPr lang="en-US" dirty="0"/>
              <a:t>'s </a:t>
            </a:r>
            <a:r>
              <a:rPr lang="en-US" dirty="0">
                <a:hlinkClick r:id="rId4" tooltip="X Development"/>
              </a:rPr>
              <a:t>X Development</a:t>
            </a:r>
            <a:r>
              <a:rPr lang="en-US" dirty="0"/>
              <a:t> (formerly Google X),</a:t>
            </a:r>
            <a:r>
              <a:rPr lang="en-US" baseline="30000" dirty="0">
                <a:hlinkClick r:id="rId5"/>
              </a:rPr>
              <a:t>[9]</a:t>
            </a:r>
            <a:r>
              <a:rPr lang="en-US" dirty="0"/>
              <a:t> with a mission of producing a </a:t>
            </a:r>
            <a:r>
              <a:rPr lang="en-US" dirty="0">
                <a:hlinkClick r:id="rId6" tooltip="Ubiquitous computing"/>
              </a:rPr>
              <a:t>ubiquitous (present everywhere)computer</a:t>
            </a:r>
            <a:r>
              <a:rPr lang="en-US" dirty="0"/>
              <a:t>.</a:t>
            </a:r>
            <a:r>
              <a:rPr lang="en-US" baseline="30000" dirty="0">
                <a:hlinkClick r:id="rId7"/>
              </a:rPr>
              <a:t>[1]</a:t>
            </a:r>
            <a:r>
              <a:rPr lang="en-US" dirty="0"/>
              <a:t> Google Glass displays information to the wearer using a </a:t>
            </a:r>
            <a:r>
              <a:rPr lang="en-US" dirty="0">
                <a:hlinkClick r:id="rId8" tooltip="Head-up display"/>
              </a:rPr>
              <a:t>head-up display</a:t>
            </a:r>
            <a:r>
              <a:rPr lang="en-US" dirty="0"/>
              <a:t>.</a:t>
            </a:r>
            <a:r>
              <a:rPr lang="en-US" baseline="30000" dirty="0">
                <a:hlinkClick r:id="rId9"/>
              </a:rPr>
              <a:t>[10]</a:t>
            </a:r>
            <a:r>
              <a:rPr lang="en-US" dirty="0"/>
              <a:t> Wearers communicate with the Internet via </a:t>
            </a:r>
            <a:r>
              <a:rPr lang="en-US" dirty="0">
                <a:hlinkClick r:id="rId10" tooltip="Natural language processing"/>
              </a:rPr>
              <a:t>natural language</a:t>
            </a:r>
            <a:r>
              <a:rPr lang="en-US" dirty="0"/>
              <a:t> voice commands.</a:t>
            </a:r>
          </a:p>
          <a:p>
            <a:endParaRPr lang="en-US" baseline="30000" dirty="0"/>
          </a:p>
          <a:p>
            <a:endParaRPr lang="en-US" baseline="30000" dirty="0"/>
          </a:p>
          <a:p>
            <a:pPr>
              <a:buFont typeface="Wingdings" panose="05000000000000000000" pitchFamily="2" charset="2"/>
              <a:buChar char="q"/>
            </a:pPr>
            <a:r>
              <a:rPr lang="en-IN" dirty="0"/>
              <a:t>Tom Chi, described the process of making the </a:t>
            </a:r>
            <a:r>
              <a:rPr lang="en-IN" dirty="0" err="1"/>
              <a:t>google</a:t>
            </a:r>
            <a:r>
              <a:rPr lang="en-IN" dirty="0"/>
              <a:t> glasses in his </a:t>
            </a:r>
            <a:r>
              <a:rPr lang="en-IN" dirty="0" err="1"/>
              <a:t>TedX</a:t>
            </a:r>
            <a:r>
              <a:rPr lang="en-IN" dirty="0"/>
              <a:t> talks</a:t>
            </a:r>
          </a:p>
          <a:p>
            <a:pPr>
              <a:buFont typeface="Wingdings" panose="05000000000000000000" pitchFamily="2" charset="2"/>
              <a:buChar char="q"/>
            </a:pPr>
            <a:r>
              <a:rPr lang="en-IN" dirty="0"/>
              <a:t>Took only one day for making the prototype of these glasses.</a:t>
            </a:r>
          </a:p>
          <a:p>
            <a:pPr>
              <a:buFont typeface="Wingdings" panose="05000000000000000000" pitchFamily="2" charset="2"/>
              <a:buChar char="q"/>
            </a:pPr>
            <a:r>
              <a:rPr lang="en-IN" dirty="0"/>
              <a:t>They used </a:t>
            </a:r>
            <a:r>
              <a:rPr lang="en-IN" dirty="0">
                <a:highlight>
                  <a:srgbClr val="FFFF00"/>
                </a:highlight>
              </a:rPr>
              <a:t>coat hanger, </a:t>
            </a:r>
            <a:r>
              <a:rPr lang="en-IN" dirty="0" err="1">
                <a:highlight>
                  <a:srgbClr val="FFFF00"/>
                </a:highlight>
              </a:rPr>
              <a:t>plexi</a:t>
            </a:r>
            <a:r>
              <a:rPr lang="en-IN" dirty="0">
                <a:highlight>
                  <a:srgbClr val="FFFF00"/>
                </a:highlight>
              </a:rPr>
              <a:t> glass, netbook, projector</a:t>
            </a:r>
            <a:r>
              <a:rPr lang="en-IN" dirty="0"/>
              <a:t>, for the first prototype</a:t>
            </a:r>
          </a:p>
          <a:p>
            <a:pPr>
              <a:buFont typeface="Wingdings" panose="05000000000000000000" pitchFamily="2" charset="2"/>
              <a:buChar char="q"/>
            </a:pPr>
            <a:r>
              <a:rPr lang="en-IN" dirty="0"/>
              <a:t>Next prototype added fishing lines, hair bands, binder clips and so on</a:t>
            </a:r>
          </a:p>
          <a:p>
            <a:pPr>
              <a:buFont typeface="Wingdings" panose="05000000000000000000" pitchFamily="2" charset="2"/>
              <a:buChar char="q"/>
            </a:pPr>
            <a:endParaRPr lang="en-IN" dirty="0"/>
          </a:p>
        </p:txBody>
      </p:sp>
    </p:spTree>
    <p:extLst>
      <p:ext uri="{BB962C8B-B14F-4D97-AF65-F5344CB8AC3E}">
        <p14:creationId xmlns:p14="http://schemas.microsoft.com/office/powerpoint/2010/main" val="3306169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7" y="585216"/>
            <a:ext cx="10882323" cy="1499616"/>
          </a:xfrm>
        </p:spPr>
        <p:txBody>
          <a:bodyPr>
            <a:normAutofit fontScale="90000"/>
          </a:bodyPr>
          <a:lstStyle/>
          <a:p>
            <a:r>
              <a:rPr lang="en-US" sz="6600" b="1" dirty="0"/>
              <a:t>Prototype </a:t>
            </a:r>
            <a:r>
              <a:rPr lang="en-US" sz="6600" dirty="0"/>
              <a:t>Phase – </a:t>
            </a:r>
            <a:r>
              <a:rPr lang="en-US" sz="6600" dirty="0">
                <a:solidFill>
                  <a:srgbClr val="FF0000"/>
                </a:solidFill>
              </a:rPr>
              <a:t>Rapid prototyping</a:t>
            </a:r>
          </a:p>
        </p:txBody>
      </p:sp>
      <p:sp>
        <p:nvSpPr>
          <p:cNvPr id="4" name="Content Placeholder 3">
            <a:extLst>
              <a:ext uri="{FF2B5EF4-FFF2-40B4-BE49-F238E27FC236}">
                <a16:creationId xmlns:a16="http://schemas.microsoft.com/office/drawing/2014/main" id="{3646ADEA-A15B-4D8C-9AD7-EBB1A97CB378}"/>
              </a:ext>
            </a:extLst>
          </p:cNvPr>
          <p:cNvSpPr>
            <a:spLocks noGrp="1"/>
          </p:cNvSpPr>
          <p:nvPr>
            <p:ph idx="1"/>
          </p:nvPr>
        </p:nvSpPr>
        <p:spPr/>
        <p:txBody>
          <a:bodyPr>
            <a:normAutofit fontScale="92500" lnSpcReduction="20000"/>
          </a:bodyPr>
          <a:lstStyle/>
          <a:p>
            <a:r>
              <a:rPr lang="en-IN" sz="3600" dirty="0"/>
              <a:t>Chi’s three rules for prototyping</a:t>
            </a:r>
          </a:p>
          <a:p>
            <a:endParaRPr lang="en-IN" sz="3600" dirty="0"/>
          </a:p>
          <a:p>
            <a:pPr marL="742950" indent="-742950">
              <a:buFont typeface="+mj-lt"/>
              <a:buAutoNum type="arabicPeriod"/>
            </a:pPr>
            <a:r>
              <a:rPr lang="en-IN" sz="3600" dirty="0"/>
              <a:t>Find the quickest path to experience.</a:t>
            </a:r>
          </a:p>
          <a:p>
            <a:pPr marL="742950" indent="-742950">
              <a:buFont typeface="+mj-lt"/>
              <a:buAutoNum type="arabicPeriod"/>
            </a:pPr>
            <a:r>
              <a:rPr lang="en-IN" sz="3600" dirty="0"/>
              <a:t>Doing is the best kind of thinking.</a:t>
            </a:r>
          </a:p>
          <a:p>
            <a:pPr marL="742950" indent="-742950">
              <a:buFont typeface="+mj-lt"/>
              <a:buAutoNum type="arabicPeriod"/>
            </a:pPr>
            <a:r>
              <a:rPr lang="en-IN" sz="3600" dirty="0"/>
              <a:t>Use materials that move at the speed of thought to maximize your rate of learning.</a:t>
            </a:r>
            <a:endParaRPr lang="en-IN" sz="4000" dirty="0"/>
          </a:p>
        </p:txBody>
      </p:sp>
    </p:spTree>
    <p:extLst>
      <p:ext uri="{BB962C8B-B14F-4D97-AF65-F5344CB8AC3E}">
        <p14:creationId xmlns:p14="http://schemas.microsoft.com/office/powerpoint/2010/main" val="2716961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Shower Timer design</a:t>
            </a:r>
          </a:p>
        </p:txBody>
      </p:sp>
      <p:sp>
        <p:nvSpPr>
          <p:cNvPr id="3" name="Content Placeholder 2"/>
          <p:cNvSpPr>
            <a:spLocks noGrp="1"/>
          </p:cNvSpPr>
          <p:nvPr>
            <p:ph idx="1"/>
          </p:nvPr>
        </p:nvSpPr>
        <p:spPr/>
        <p:txBody>
          <a:bodyPr/>
          <a:lstStyle/>
          <a:p>
            <a:r>
              <a:rPr lang="en-IN" dirty="0"/>
              <a:t>Conserve Water by reducing shower times from 20 minutes to 10 minutes.</a:t>
            </a:r>
          </a:p>
          <a:p>
            <a:pPr marL="0" indent="0">
              <a:buNone/>
            </a:pPr>
            <a:r>
              <a:rPr lang="en-IN" dirty="0"/>
              <a:t> low res </a:t>
            </a:r>
            <a:r>
              <a:rPr lang="en-IN" dirty="0" err="1"/>
              <a:t>Protoype</a:t>
            </a:r>
            <a:r>
              <a:rPr lang="en-IN" dirty="0"/>
              <a:t>:</a:t>
            </a:r>
          </a:p>
          <a:p>
            <a:pPr marL="0" indent="0">
              <a:buNone/>
            </a:pPr>
            <a:r>
              <a:rPr lang="en-IN" dirty="0"/>
              <a:t>Large tank with water</a:t>
            </a:r>
          </a:p>
          <a:p>
            <a:pPr marL="0" indent="0">
              <a:buNone/>
            </a:pPr>
            <a:r>
              <a:rPr lang="en-IN" dirty="0"/>
              <a:t>Tiny nozzle made in the tank</a:t>
            </a:r>
          </a:p>
          <a:p>
            <a:pPr marL="0" indent="0">
              <a:buNone/>
            </a:pPr>
            <a:r>
              <a:rPr lang="en-IN" dirty="0"/>
              <a:t>Measure how much water flows out in five minutes using a timer</a:t>
            </a:r>
          </a:p>
          <a:p>
            <a:pPr marL="0" indent="0">
              <a:buNone/>
            </a:pPr>
            <a:r>
              <a:rPr lang="en-IN" dirty="0"/>
              <a:t>Once decided the volume of water, shut down the leak once time limit is reached.</a:t>
            </a:r>
          </a:p>
        </p:txBody>
      </p:sp>
    </p:spTree>
    <p:extLst>
      <p:ext uri="{BB962C8B-B14F-4D97-AF65-F5344CB8AC3E}">
        <p14:creationId xmlns:p14="http://schemas.microsoft.com/office/powerpoint/2010/main" val="1815167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Of Rapid Prototyping In Aerospace</a:t>
            </a:r>
            <a:br>
              <a:rPr lang="en-US" b="1" dirty="0"/>
            </a:br>
            <a:endParaRPr lang="en-IN" dirty="0"/>
          </a:p>
        </p:txBody>
      </p:sp>
      <p:sp>
        <p:nvSpPr>
          <p:cNvPr id="3" name="Content Placeholder 2"/>
          <p:cNvSpPr>
            <a:spLocks noGrp="1"/>
          </p:cNvSpPr>
          <p:nvPr>
            <p:ph idx="1"/>
          </p:nvPr>
        </p:nvSpPr>
        <p:spPr/>
        <p:txBody>
          <a:bodyPr>
            <a:normAutofit fontScale="92500" lnSpcReduction="10000"/>
          </a:bodyPr>
          <a:lstStyle/>
          <a:p>
            <a:r>
              <a:rPr lang="en-US" dirty="0"/>
              <a:t>The </a:t>
            </a:r>
            <a:r>
              <a:rPr lang="en-US" dirty="0">
                <a:hlinkClick r:id="rId2"/>
              </a:rPr>
              <a:t>aerospace industry</a:t>
            </a:r>
            <a:r>
              <a:rPr lang="en-US" dirty="0"/>
              <a:t> has used various forms of rapid prototyping over the decades. It helps aerospace engineers to do several things:</a:t>
            </a:r>
          </a:p>
          <a:p>
            <a:r>
              <a:rPr lang="en-US" b="1" dirty="0"/>
              <a:t>3D Printed Satellites</a:t>
            </a:r>
          </a:p>
          <a:p>
            <a:r>
              <a:rPr lang="en-US" dirty="0">
                <a:hlinkClick r:id="rId3"/>
              </a:rPr>
              <a:t>Fleet Space</a:t>
            </a:r>
            <a:r>
              <a:rPr lang="en-US" dirty="0"/>
              <a:t>, an Australian aerospace engineering company, started developing satellites using advanced 3D printing technology, one form of rapid prototyping.</a:t>
            </a:r>
          </a:p>
          <a:p>
            <a:r>
              <a:rPr lang="en-US" dirty="0"/>
              <a:t>Though the company is careful not to divulge too much information, the satellites will be groundbreaking regarding technological benefits and their low-cost manufacturing process.</a:t>
            </a:r>
          </a:p>
          <a:p>
            <a:r>
              <a:rPr lang="en-US" dirty="0"/>
              <a:t>The rapid prototyping approach also ensures that Fleet Space can identify potential faults and problems much sooner in the development stage, saving the engineers the effort and cost of additional troubleshooting later.</a:t>
            </a:r>
          </a:p>
          <a:p>
            <a:endParaRPr lang="en-IN" dirty="0"/>
          </a:p>
        </p:txBody>
      </p:sp>
    </p:spTree>
    <p:extLst>
      <p:ext uri="{BB962C8B-B14F-4D97-AF65-F5344CB8AC3E}">
        <p14:creationId xmlns:p14="http://schemas.microsoft.com/office/powerpoint/2010/main" val="930394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US" b="1" dirty="0"/>
              <a:t>Rapid Prototyping To Build A Moon Base</a:t>
            </a:r>
          </a:p>
          <a:p>
            <a:r>
              <a:rPr lang="en-US" dirty="0"/>
              <a:t>Scientists and engineers on the International Space Station started experimenting with </a:t>
            </a:r>
            <a:r>
              <a:rPr lang="en-US" dirty="0">
                <a:hlinkClick r:id="rId2"/>
              </a:rPr>
              <a:t>stereolithography</a:t>
            </a:r>
            <a:r>
              <a:rPr lang="en-US" dirty="0"/>
              <a:t>(</a:t>
            </a:r>
            <a:r>
              <a:rPr lang="en-IN" b="0" i="0">
                <a:solidFill>
                  <a:srgbClr val="474747"/>
                </a:solidFill>
                <a:effectLst/>
                <a:latin typeface="Arial" panose="020B0604020202020204" pitchFamily="34" charset="0"/>
              </a:rPr>
              <a:t>3D printing technology)</a:t>
            </a:r>
            <a:r>
              <a:rPr lang="en-US"/>
              <a:t> </a:t>
            </a:r>
            <a:r>
              <a:rPr lang="en-US" dirty="0"/>
              <a:t>in 2021 to test the viability of using rapid prototyping processes to build a moon base.</a:t>
            </a:r>
          </a:p>
          <a:p>
            <a:r>
              <a:rPr lang="en-US" dirty="0"/>
              <a:t>The experiments have progressed exceptionally well, meaning there’s a high possibility that humans can construct a moon base without having to send most of the materials pre-built from the earth.</a:t>
            </a:r>
          </a:p>
          <a:p>
            <a:r>
              <a:rPr lang="en-US" dirty="0"/>
              <a:t>Rocket launches are costly, even if we can re-use them, as </a:t>
            </a:r>
            <a:r>
              <a:rPr lang="en-US" dirty="0" err="1"/>
              <a:t>SpaceX</a:t>
            </a:r>
            <a:r>
              <a:rPr lang="en-US" dirty="0"/>
              <a:t> has been demonstrating, so sending all of the parts to construct a survival base on the moon (and potentially, much later, Mars) will cost a fortune.</a:t>
            </a:r>
          </a:p>
          <a:p>
            <a:r>
              <a:rPr lang="en-US" dirty="0"/>
              <a:t>Rapid prototyping, specifically 3D printing, will save governments and corporations a ton of money.</a:t>
            </a:r>
          </a:p>
          <a:p>
            <a:endParaRPr lang="en-IN" dirty="0"/>
          </a:p>
        </p:txBody>
      </p:sp>
    </p:spTree>
    <p:extLst>
      <p:ext uri="{BB962C8B-B14F-4D97-AF65-F5344CB8AC3E}">
        <p14:creationId xmlns:p14="http://schemas.microsoft.com/office/powerpoint/2010/main" val="3887652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Airbus Reducing Aircraft Emissions Using Rapid Prototyping</a:t>
            </a:r>
          </a:p>
          <a:p>
            <a:r>
              <a:rPr lang="en-US" dirty="0"/>
              <a:t>Aircraft manufacturer Airbus recently started</a:t>
            </a:r>
            <a:r>
              <a:rPr lang="en-US" dirty="0">
                <a:hlinkClick r:id="rId2"/>
              </a:rPr>
              <a:t> rapidly prototyping replacement parts</a:t>
            </a:r>
            <a:r>
              <a:rPr lang="en-US" dirty="0"/>
              <a:t> for some existing planes. </a:t>
            </a:r>
          </a:p>
          <a:p>
            <a:r>
              <a:rPr lang="en-US" dirty="0"/>
              <a:t>The company’s engineers found that they could replace many of the current metallic components with rapidly prototyped replacements that weigh up to 70% less while offering identical performance.</a:t>
            </a:r>
          </a:p>
          <a:p>
            <a:r>
              <a:rPr lang="en-US" dirty="0"/>
              <a:t>It means that an Airbus aircraft’s weight can be reduced significantly, leading to less fuel use and, in the end, lower carbon emissions.</a:t>
            </a:r>
          </a:p>
          <a:p>
            <a:endParaRPr lang="en-IN" dirty="0"/>
          </a:p>
        </p:txBody>
      </p:sp>
    </p:spTree>
    <p:extLst>
      <p:ext uri="{BB962C8B-B14F-4D97-AF65-F5344CB8AC3E}">
        <p14:creationId xmlns:p14="http://schemas.microsoft.com/office/powerpoint/2010/main" val="1146660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Medical Examples Of Rapid Prototyping</a:t>
            </a:r>
          </a:p>
        </p:txBody>
      </p:sp>
      <p:sp>
        <p:nvSpPr>
          <p:cNvPr id="3" name="Content Placeholder 2"/>
          <p:cNvSpPr>
            <a:spLocks noGrp="1"/>
          </p:cNvSpPr>
          <p:nvPr>
            <p:ph idx="1"/>
          </p:nvPr>
        </p:nvSpPr>
        <p:spPr/>
        <p:txBody>
          <a:bodyPr>
            <a:normAutofit fontScale="85000" lnSpcReduction="20000"/>
          </a:bodyPr>
          <a:lstStyle/>
          <a:p>
            <a:r>
              <a:rPr lang="en-US" dirty="0"/>
              <a:t>Strangely, </a:t>
            </a:r>
            <a:r>
              <a:rPr lang="en-US" dirty="0">
                <a:hlinkClick r:id="rId2"/>
              </a:rPr>
              <a:t>the medical field</a:t>
            </a:r>
            <a:r>
              <a:rPr lang="en-US" dirty="0"/>
              <a:t> is one of the most significant emerging industries when it comes to rapid prototyping, with scientists finding some excellent uses for the technology:</a:t>
            </a:r>
          </a:p>
          <a:p>
            <a:r>
              <a:rPr lang="en-US" b="1" dirty="0"/>
              <a:t>Training And Pre-Operation Preparation</a:t>
            </a:r>
          </a:p>
          <a:p>
            <a:r>
              <a:rPr lang="en-US" dirty="0"/>
              <a:t>Rapid prototyping enables teachers, professors, and lecturers to instantly create realistic and life-sized models of various human organs and limbs.</a:t>
            </a:r>
          </a:p>
          <a:p>
            <a:r>
              <a:rPr lang="en-US" dirty="0"/>
              <a:t>This is far beyond the old biological demo models we always see standing in life science classrooms.</a:t>
            </a:r>
          </a:p>
          <a:p>
            <a:r>
              <a:rPr lang="en-US" dirty="0"/>
              <a:t>Instead, the educator can create a replica of the specific organ, cell, or concept they are discussing at the time inexpensively and almost instantly.</a:t>
            </a:r>
          </a:p>
          <a:p>
            <a:r>
              <a:rPr lang="en-US" dirty="0"/>
              <a:t>Surgeons have also begun preparing for operations with rapidly prototyped models of the part of the anatomy they will perform a complex process on.</a:t>
            </a:r>
          </a:p>
          <a:p>
            <a:r>
              <a:rPr lang="en-US" dirty="0"/>
              <a:t>This improves their success rate considerably while not costing much money, improving the patient’s chances of recovery (not to mention their medical bill).</a:t>
            </a:r>
          </a:p>
          <a:p>
            <a:endParaRPr lang="en-IN" dirty="0"/>
          </a:p>
        </p:txBody>
      </p:sp>
    </p:spTree>
    <p:extLst>
      <p:ext uri="{BB962C8B-B14F-4D97-AF65-F5344CB8AC3E}">
        <p14:creationId xmlns:p14="http://schemas.microsoft.com/office/powerpoint/2010/main" val="2954259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Manufacturing Replacement Body Parts</a:t>
            </a:r>
          </a:p>
          <a:p>
            <a:r>
              <a:rPr lang="en-US" dirty="0"/>
              <a:t>One of the most incredible applications of rapid prototyping in the medical field is transplants.</a:t>
            </a:r>
          </a:p>
          <a:p>
            <a:r>
              <a:rPr lang="en-US" dirty="0"/>
              <a:t>Some human organs don’t have to consist of biological matter. In particular, bone transplants, like hip and knee replacements, work well with rapidly prototyped parts. </a:t>
            </a:r>
          </a:p>
          <a:p>
            <a:r>
              <a:rPr lang="en-US" dirty="0"/>
              <a:t>Medical engineers can design an exact model that perfectly fits the patient’s body shape from MRI or CT-scan data, lowering the turn-around time and decreasing the possibility of error.</a:t>
            </a:r>
          </a:p>
        </p:txBody>
      </p:sp>
    </p:spTree>
    <p:extLst>
      <p:ext uri="{BB962C8B-B14F-4D97-AF65-F5344CB8AC3E}">
        <p14:creationId xmlns:p14="http://schemas.microsoft.com/office/powerpoint/2010/main" val="1469640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Rapidly Prototyping Dentures</a:t>
            </a:r>
          </a:p>
          <a:p>
            <a:r>
              <a:rPr lang="en-US" dirty="0"/>
              <a:t>Though few dentists are making use of rapid prototyping as much as they should, the potential is there.</a:t>
            </a:r>
          </a:p>
          <a:p>
            <a:r>
              <a:rPr lang="en-US" dirty="0"/>
              <a:t>Some are already doing amazing things by 3D printing sample sets of dentures, for example, to ensure that the fit is correct for patients.</a:t>
            </a:r>
          </a:p>
          <a:p>
            <a:r>
              <a:rPr lang="en-US" dirty="0"/>
              <a:t>CAD software can enable them to make changes instantly and test the updated dentures before manufacturing the final product.</a:t>
            </a:r>
          </a:p>
          <a:p>
            <a:endParaRPr lang="en-IN" dirty="0"/>
          </a:p>
        </p:txBody>
      </p:sp>
    </p:spTree>
    <p:extLst>
      <p:ext uri="{BB962C8B-B14F-4D97-AF65-F5344CB8AC3E}">
        <p14:creationId xmlns:p14="http://schemas.microsoft.com/office/powerpoint/2010/main" val="327737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Rapid Prototyping In Robotics And Mechanics</a:t>
            </a:r>
            <a:br>
              <a:rPr lang="en-US" b="1" dirty="0"/>
            </a:br>
            <a:endParaRPr lang="en-IN" dirty="0"/>
          </a:p>
        </p:txBody>
      </p:sp>
      <p:sp>
        <p:nvSpPr>
          <p:cNvPr id="3" name="Content Placeholder 2"/>
          <p:cNvSpPr>
            <a:spLocks noGrp="1"/>
          </p:cNvSpPr>
          <p:nvPr>
            <p:ph idx="1"/>
          </p:nvPr>
        </p:nvSpPr>
        <p:spPr/>
        <p:txBody>
          <a:bodyPr>
            <a:normAutofit fontScale="85000" lnSpcReduction="20000"/>
          </a:bodyPr>
          <a:lstStyle/>
          <a:p>
            <a:r>
              <a:rPr lang="en-US" dirty="0"/>
              <a:t>This may come as no surprise, but robotics and mechanical engineering have extensively used rapid prototyping for years, and it has revolutionized both industries. </a:t>
            </a:r>
          </a:p>
          <a:p>
            <a:r>
              <a:rPr lang="en-US" b="1" dirty="0"/>
              <a:t>Mechanical Engineering</a:t>
            </a:r>
          </a:p>
          <a:p>
            <a:r>
              <a:rPr lang="en-US" dirty="0"/>
              <a:t>Machines use moving parts and plenty of them. From gears and cogs to pistons and bolts, every aspect of a machine is crucial to make it function as it should. </a:t>
            </a:r>
          </a:p>
          <a:p>
            <a:r>
              <a:rPr lang="en-US" dirty="0"/>
              <a:t>There are two primary examples of how mechanical engineers use rapid prototyping:</a:t>
            </a:r>
          </a:p>
          <a:p>
            <a:r>
              <a:rPr lang="en-US" dirty="0"/>
              <a:t>Designing a mechanism. Rapid prototyping allows the engineer to save valuable time and resources by instantly making a new design model. They can use the model to test if their idea will work and how to change it to make it work better. They can see a real-world example of their design in action rather than trusting that their designs are flawless.</a:t>
            </a:r>
          </a:p>
          <a:p>
            <a:r>
              <a:rPr lang="en-US" dirty="0"/>
              <a:t>Replacing a part. If a machine breaks, finding a replacement for the damaged component could take time. Rapid prototyping changes this. In many cases, a mechanical engineer can draw up a design (or find a completed one) and use rapid prototyping to make a replacement part that temporarily fulfils the role.</a:t>
            </a:r>
          </a:p>
          <a:p>
            <a:pPr marL="0" indent="0">
              <a:buNone/>
            </a:pPr>
            <a:endParaRPr lang="en-US" b="1" dirty="0"/>
          </a:p>
          <a:p>
            <a:endParaRPr lang="en-IN" dirty="0"/>
          </a:p>
        </p:txBody>
      </p:sp>
    </p:spTree>
    <p:extLst>
      <p:ext uri="{BB962C8B-B14F-4D97-AF65-F5344CB8AC3E}">
        <p14:creationId xmlns:p14="http://schemas.microsoft.com/office/powerpoint/2010/main" val="2400692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Robotics</a:t>
            </a:r>
            <a:br>
              <a:rPr lang="en-US" b="1" dirty="0"/>
            </a:br>
            <a:endParaRPr lang="en-IN" dirty="0"/>
          </a:p>
        </p:txBody>
      </p:sp>
      <p:sp>
        <p:nvSpPr>
          <p:cNvPr id="3" name="Content Placeholder 2"/>
          <p:cNvSpPr>
            <a:spLocks noGrp="1"/>
          </p:cNvSpPr>
          <p:nvPr>
            <p:ph idx="1"/>
          </p:nvPr>
        </p:nvSpPr>
        <p:spPr/>
        <p:txBody>
          <a:bodyPr>
            <a:normAutofit lnSpcReduction="10000"/>
          </a:bodyPr>
          <a:lstStyle/>
          <a:p>
            <a:r>
              <a:rPr lang="en-US" dirty="0"/>
              <a:t>Robotics is all about making mechanical objects that can move autonomously.</a:t>
            </a:r>
          </a:p>
          <a:p>
            <a:r>
              <a:rPr lang="en-US" dirty="0"/>
              <a:t>As with mechanical engineering, rapid prototyping ensures that robotics engineers can get a model of their designs, test it, and make changes instantly.</a:t>
            </a:r>
          </a:p>
          <a:p>
            <a:r>
              <a:rPr lang="en-US" dirty="0"/>
              <a:t>For example, many schools implement their robotics curriculums using devices like </a:t>
            </a:r>
            <a:r>
              <a:rPr lang="en-US" dirty="0" err="1"/>
              <a:t>Arduino</a:t>
            </a:r>
            <a:r>
              <a:rPr lang="en-US" dirty="0"/>
              <a:t> boards to control the devices.</a:t>
            </a:r>
          </a:p>
          <a:p>
            <a:r>
              <a:rPr lang="en-US" dirty="0"/>
              <a:t>They then use different forms of rapid prototyping, like laser cutting and 3D printing, to make the device’s outer shell.</a:t>
            </a:r>
          </a:p>
          <a:p>
            <a:r>
              <a:rPr lang="en-US" dirty="0"/>
              <a:t>This allows students to get creative with their designs but immediately test and see if their plans will work.</a:t>
            </a:r>
          </a:p>
        </p:txBody>
      </p:sp>
    </p:spTree>
    <p:extLst>
      <p:ext uri="{BB962C8B-B14F-4D97-AF65-F5344CB8AC3E}">
        <p14:creationId xmlns:p14="http://schemas.microsoft.com/office/powerpoint/2010/main" val="70826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Rapid Prototyping Examples In Civil Engineering</a:t>
            </a:r>
            <a:br>
              <a:rPr lang="en-US" b="1" dirty="0"/>
            </a:br>
            <a:endParaRPr lang="en-IN" dirty="0"/>
          </a:p>
        </p:txBody>
      </p:sp>
      <p:sp>
        <p:nvSpPr>
          <p:cNvPr id="3" name="Content Placeholder 2"/>
          <p:cNvSpPr>
            <a:spLocks noGrp="1"/>
          </p:cNvSpPr>
          <p:nvPr>
            <p:ph idx="1"/>
          </p:nvPr>
        </p:nvSpPr>
        <p:spPr/>
        <p:txBody>
          <a:bodyPr>
            <a:normAutofit/>
          </a:bodyPr>
          <a:lstStyle/>
          <a:p>
            <a:r>
              <a:rPr lang="en-US" dirty="0"/>
              <a:t>As with all the other forms of engineering, civil engineers also make extensive use of rapid prototyping.</a:t>
            </a:r>
          </a:p>
          <a:p>
            <a:r>
              <a:rPr lang="en-US" b="1" dirty="0"/>
              <a:t>Making Models Of Buildings</a:t>
            </a:r>
          </a:p>
          <a:p>
            <a:r>
              <a:rPr lang="en-US" dirty="0"/>
              <a:t>This part consists of teamwork between civil engineers, building contractors, and architects. It involves the process of rapidly prototyping a model of a building for two reasons:</a:t>
            </a:r>
          </a:p>
          <a:p>
            <a:r>
              <a:rPr lang="en-US" dirty="0"/>
              <a:t>To show the customer a demo of the architectural design, after which the customer can ask for changes to the plan.</a:t>
            </a:r>
          </a:p>
          <a:p>
            <a:r>
              <a:rPr lang="en-US" dirty="0"/>
              <a:t>To see potential flaws and drawbacks in the design so they can make changes instantly before the costly building project starts.</a:t>
            </a:r>
          </a:p>
        </p:txBody>
      </p:sp>
    </p:spTree>
    <p:extLst>
      <p:ext uri="{BB962C8B-B14F-4D97-AF65-F5344CB8AC3E}">
        <p14:creationId xmlns:p14="http://schemas.microsoft.com/office/powerpoint/2010/main" val="3902287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A significant area of concern in this regard is building a bridge.</a:t>
            </a:r>
          </a:p>
          <a:p>
            <a:r>
              <a:rPr lang="en-US" dirty="0"/>
              <a:t>Rapid prototyping, with proper weight and strength ratios, allows civil engineers to see if a bridge design will be strong enough to handle the weight of anticipated traffic.</a:t>
            </a:r>
          </a:p>
          <a:p>
            <a:r>
              <a:rPr lang="en-US" dirty="0"/>
              <a:t>Yes, plenty of mathematical calculations are involved as well, but nothing beats the experience of a model you can design and build rapidly.</a:t>
            </a:r>
          </a:p>
          <a:p>
            <a:endParaRPr lang="en-IN" dirty="0"/>
          </a:p>
        </p:txBody>
      </p:sp>
    </p:spTree>
    <p:extLst>
      <p:ext uri="{BB962C8B-B14F-4D97-AF65-F5344CB8AC3E}">
        <p14:creationId xmlns:p14="http://schemas.microsoft.com/office/powerpoint/2010/main" val="5498965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Walkie</a:t>
            </a:r>
            <a:r>
              <a:rPr lang="en-IN" dirty="0"/>
              <a:t> talkie centre London UK</a:t>
            </a:r>
          </a:p>
        </p:txBody>
      </p:sp>
      <p:pic>
        <p:nvPicPr>
          <p:cNvPr id="4" name="Content Placeholder 3"/>
          <p:cNvPicPr>
            <a:picLocks noGrp="1" noChangeAspect="1"/>
          </p:cNvPicPr>
          <p:nvPr>
            <p:ph idx="1"/>
          </p:nvPr>
        </p:nvPicPr>
        <p:blipFill>
          <a:blip r:embed="rId2"/>
          <a:stretch>
            <a:fillRect/>
          </a:stretch>
        </p:blipFill>
        <p:spPr>
          <a:xfrm>
            <a:off x="3005931" y="2603500"/>
            <a:ext cx="5124450" cy="3416300"/>
          </a:xfrm>
          <a:prstGeom prst="rect">
            <a:avLst/>
          </a:prstGeom>
        </p:spPr>
      </p:pic>
    </p:spTree>
    <p:extLst>
      <p:ext uri="{BB962C8B-B14F-4D97-AF65-F5344CB8AC3E}">
        <p14:creationId xmlns:p14="http://schemas.microsoft.com/office/powerpoint/2010/main" val="1550012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Walkie</a:t>
            </a:r>
            <a:r>
              <a:rPr lang="en-US" dirty="0"/>
              <a:t> Talkie Centre” in London.</a:t>
            </a:r>
            <a:br>
              <a:rPr lang="en-US" dirty="0"/>
            </a:br>
            <a:endParaRPr lang="en-IN" dirty="0"/>
          </a:p>
        </p:txBody>
      </p:sp>
      <p:sp>
        <p:nvSpPr>
          <p:cNvPr id="3" name="Content Placeholder 2"/>
          <p:cNvSpPr>
            <a:spLocks noGrp="1"/>
          </p:cNvSpPr>
          <p:nvPr>
            <p:ph idx="1"/>
          </p:nvPr>
        </p:nvSpPr>
        <p:spPr/>
        <p:txBody>
          <a:bodyPr>
            <a:normAutofit fontScale="85000" lnSpcReduction="20000"/>
          </a:bodyPr>
          <a:lstStyle/>
          <a:p>
            <a:r>
              <a:rPr lang="en-US" dirty="0"/>
              <a:t>An example of why rapid prototyping is crucial for building projects is the so-called “</a:t>
            </a:r>
            <a:r>
              <a:rPr lang="en-US" dirty="0" err="1"/>
              <a:t>Walkie</a:t>
            </a:r>
            <a:r>
              <a:rPr lang="en-US" dirty="0"/>
              <a:t> Talkie Centre” in London.</a:t>
            </a:r>
          </a:p>
          <a:p>
            <a:r>
              <a:rPr lang="en-US" dirty="0"/>
              <a:t>The building has a unique design and look, which makes it a landmark in the city.</a:t>
            </a:r>
          </a:p>
          <a:p>
            <a:r>
              <a:rPr lang="en-US" dirty="0"/>
              <a:t>However, because the architects and engineers didn’t use proper rapid prototyping, the plan has two major flaws.</a:t>
            </a:r>
          </a:p>
          <a:p>
            <a:r>
              <a:rPr lang="en-US" dirty="0"/>
              <a:t>First, the building acts as a mirror that reflects sunlight down into the street below, causing temperatures of around 160°F. It’s hot enough to fry eggs or even melt parts of a car (which happened to a Jaguar parked in the street).</a:t>
            </a:r>
          </a:p>
          <a:p>
            <a:r>
              <a:rPr lang="en-US" dirty="0"/>
              <a:t>The owners had to install screens to block the reflection, which ruined the look that they were going for.</a:t>
            </a:r>
          </a:p>
          <a:p>
            <a:r>
              <a:rPr lang="en-US" dirty="0"/>
              <a:t>The second flaw is that the building’s curve and angle cause strong winds in the street, over and above the extreme heat. </a:t>
            </a:r>
          </a:p>
          <a:p>
            <a:r>
              <a:rPr lang="en-US" dirty="0"/>
              <a:t>These flaws could have been avoided if the architect had used proper rapid prototyping techniques to test the design before the construction started.</a:t>
            </a:r>
          </a:p>
        </p:txBody>
      </p:sp>
    </p:spTree>
    <p:extLst>
      <p:ext uri="{BB962C8B-B14F-4D97-AF65-F5344CB8AC3E}">
        <p14:creationId xmlns:p14="http://schemas.microsoft.com/office/powerpoint/2010/main" val="2452363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Paper prototyping</a:t>
            </a:r>
          </a:p>
        </p:txBody>
      </p:sp>
      <p:pic>
        <p:nvPicPr>
          <p:cNvPr id="4" name="Content Placeholder 3"/>
          <p:cNvPicPr>
            <a:picLocks noGrp="1" noChangeAspect="1"/>
          </p:cNvPicPr>
          <p:nvPr>
            <p:ph idx="1"/>
          </p:nvPr>
        </p:nvPicPr>
        <p:blipFill>
          <a:blip r:embed="rId2"/>
          <a:stretch>
            <a:fillRect/>
          </a:stretch>
        </p:blipFill>
        <p:spPr>
          <a:xfrm>
            <a:off x="2571893" y="2603500"/>
            <a:ext cx="5992526" cy="3416300"/>
          </a:xfrm>
          <a:prstGeom prst="rect">
            <a:avLst/>
          </a:prstGeom>
        </p:spPr>
      </p:pic>
    </p:spTree>
    <p:extLst>
      <p:ext uri="{BB962C8B-B14F-4D97-AF65-F5344CB8AC3E}">
        <p14:creationId xmlns:p14="http://schemas.microsoft.com/office/powerpoint/2010/main" val="33851351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Paper prototyping a new product:</a:t>
            </a:r>
            <a:br>
              <a:rPr lang="en-US" dirty="0"/>
            </a:br>
            <a:endParaRPr lang="en-IN" dirty="0"/>
          </a:p>
        </p:txBody>
      </p:sp>
      <p:sp>
        <p:nvSpPr>
          <p:cNvPr id="3" name="Content Placeholder 2"/>
          <p:cNvSpPr>
            <a:spLocks noGrp="1"/>
          </p:cNvSpPr>
          <p:nvPr>
            <p:ph idx="1"/>
          </p:nvPr>
        </p:nvSpPr>
        <p:spPr/>
        <p:txBody>
          <a:bodyPr/>
          <a:lstStyle/>
          <a:p>
            <a:r>
              <a:rPr lang="en-US" dirty="0"/>
              <a:t>Design a basic physical model of a product using paper and cardboard to test its functionality and user interaction</a:t>
            </a:r>
          </a:p>
          <a:p>
            <a:endParaRPr lang="en-IN" dirty="0"/>
          </a:p>
        </p:txBody>
      </p:sp>
    </p:spTree>
    <p:extLst>
      <p:ext uri="{BB962C8B-B14F-4D97-AF65-F5344CB8AC3E}">
        <p14:creationId xmlns:p14="http://schemas.microsoft.com/office/powerpoint/2010/main" val="860287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7" y="585216"/>
            <a:ext cx="10882323" cy="1499616"/>
          </a:xfrm>
        </p:spPr>
        <p:txBody>
          <a:bodyPr>
            <a:normAutofit/>
          </a:bodyPr>
          <a:lstStyle/>
          <a:p>
            <a:r>
              <a:rPr lang="en-US" sz="6600" b="1" dirty="0"/>
              <a:t>Prototype </a:t>
            </a:r>
            <a:r>
              <a:rPr lang="en-US" sz="6600" dirty="0"/>
              <a:t>Phase –</a:t>
            </a:r>
            <a:r>
              <a:rPr lang="en-US" sz="6600" dirty="0">
                <a:solidFill>
                  <a:srgbClr val="FF0000"/>
                </a:solidFill>
              </a:rPr>
              <a:t>Activity</a:t>
            </a:r>
          </a:p>
        </p:txBody>
      </p:sp>
      <p:sp>
        <p:nvSpPr>
          <p:cNvPr id="4" name="Content Placeholder 3">
            <a:extLst>
              <a:ext uri="{FF2B5EF4-FFF2-40B4-BE49-F238E27FC236}">
                <a16:creationId xmlns:a16="http://schemas.microsoft.com/office/drawing/2014/main" id="{3646ADEA-A15B-4D8C-9AD7-EBB1A97CB378}"/>
              </a:ext>
            </a:extLst>
          </p:cNvPr>
          <p:cNvSpPr>
            <a:spLocks noGrp="1"/>
          </p:cNvSpPr>
          <p:nvPr>
            <p:ph idx="1"/>
          </p:nvPr>
        </p:nvSpPr>
        <p:spPr>
          <a:xfrm>
            <a:off x="1024129" y="2286000"/>
            <a:ext cx="4396958" cy="4023360"/>
          </a:xfrm>
        </p:spPr>
        <p:txBody>
          <a:bodyPr>
            <a:normAutofit fontScale="85000" lnSpcReduction="20000"/>
          </a:bodyPr>
          <a:lstStyle/>
          <a:p>
            <a:pPr marL="173736" lvl="1" indent="0">
              <a:buNone/>
            </a:pPr>
            <a:r>
              <a:rPr lang="en-IN" sz="3600" dirty="0"/>
              <a:t>Don’t make any changes in the card. Design and prototype a connector and make 10 pieces of it. </a:t>
            </a:r>
          </a:p>
          <a:p>
            <a:pPr marL="173736" lvl="1" indent="0">
              <a:buNone/>
            </a:pPr>
            <a:r>
              <a:rPr lang="en-IN" sz="3600" dirty="0"/>
              <a:t>In the next class we’ll test whose design is best by having a competition</a:t>
            </a:r>
          </a:p>
        </p:txBody>
      </p:sp>
      <p:pic>
        <p:nvPicPr>
          <p:cNvPr id="1026" name="Picture 2" descr="Playing Card Construction Set Using Cardboard Connectors : 3 Steps (with  Pictures) - Instructab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0876" y="1778000"/>
            <a:ext cx="2613674" cy="18923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ve Over MCM: Laser-Cut Skallops = House of Cards in the Digital Age -  Core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0876" y="4102100"/>
            <a:ext cx="2613674" cy="196025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aker Club: 3D Printed &amp;quot;House of Cards&amp;quot; Stacker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247192" y="2927595"/>
            <a:ext cx="3761287" cy="2075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23302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2.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 Boardroom</Template>
  <TotalTime>102</TotalTime>
  <Words>2089</Words>
  <Application>Microsoft Office PowerPoint</Application>
  <PresentationFormat>Widescreen</PresentationFormat>
  <Paragraphs>158</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Century Gothic</vt:lpstr>
      <vt:lpstr>Wingdings</vt:lpstr>
      <vt:lpstr>Wingdings 3</vt:lpstr>
      <vt:lpstr>Ion Boardroom</vt:lpstr>
      <vt:lpstr>Design THINKING</vt:lpstr>
      <vt:lpstr>Prototype Phase</vt:lpstr>
      <vt:lpstr>Prototype Phase</vt:lpstr>
      <vt:lpstr>Prototype Phase</vt:lpstr>
      <vt:lpstr>Prototype Phase – Rapid prototyping</vt:lpstr>
      <vt:lpstr>Prototype Phase – Rapid prototyping</vt:lpstr>
      <vt:lpstr>Prototype Phase – Prototyping in        action</vt:lpstr>
      <vt:lpstr>Prototype Phase – Facilitation and       Mentorship</vt:lpstr>
      <vt:lpstr>Prototype Phase –Tools &amp; materials</vt:lpstr>
      <vt:lpstr>Prototype Phase –Tools &amp; materials</vt:lpstr>
      <vt:lpstr>Benefits of rapid prototyping</vt:lpstr>
      <vt:lpstr>Google glass</vt:lpstr>
      <vt:lpstr>Google glass</vt:lpstr>
      <vt:lpstr>Prototype Phase – Rapid prototyping</vt:lpstr>
      <vt:lpstr>Shower Timer design</vt:lpstr>
      <vt:lpstr>Examples Of Rapid Prototyping In Aerospace </vt:lpstr>
      <vt:lpstr>PowerPoint Presentation</vt:lpstr>
      <vt:lpstr>PowerPoint Presentation</vt:lpstr>
      <vt:lpstr>Medical Examples Of Rapid Prototyping</vt:lpstr>
      <vt:lpstr>PowerPoint Presentation</vt:lpstr>
      <vt:lpstr>PowerPoint Presentation</vt:lpstr>
      <vt:lpstr>Rapid Prototyping In Robotics And Mechanics </vt:lpstr>
      <vt:lpstr>Robotics </vt:lpstr>
      <vt:lpstr>Rapid Prototyping Examples In Civil Engineering </vt:lpstr>
      <vt:lpstr>PowerPoint Presentation</vt:lpstr>
      <vt:lpstr>Walkie talkie centre London UK</vt:lpstr>
      <vt:lpstr>“Walkie Talkie Centre” in London. </vt:lpstr>
      <vt:lpstr>Paper prototyping</vt:lpstr>
      <vt:lpstr>Paper prototyping a new product: </vt:lpstr>
      <vt:lpstr>Prototype Phase –Activity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THINKING</dc:title>
  <dc:creator>Christina Christopher</dc:creator>
  <cp:lastModifiedBy>Manukuru Hymavathi</cp:lastModifiedBy>
  <cp:revision>30</cp:revision>
  <dcterms:created xsi:type="dcterms:W3CDTF">2022-01-27T19:51:53Z</dcterms:created>
  <dcterms:modified xsi:type="dcterms:W3CDTF">2025-02-17T07:24:24Z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