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75" r:id="rId3"/>
    <p:sldId id="278" r:id="rId4"/>
    <p:sldId id="276" r:id="rId5"/>
    <p:sldId id="277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0AB1-192B-47B4-8CA0-2D798020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E6C1F-1F3A-43B6-85F9-0BCC3347F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83615-C07A-497C-84BE-165AC7D1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9AD5-24BA-48AA-B90D-D7E8326A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A03BB-F738-479F-8AC9-44E9E2DE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5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48BC-1953-474F-B470-50D7BD3F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27F6-B536-4DBA-B91C-0F37F1A8F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D4A8-D4EB-44A4-9A1C-BE5ACA5A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2CB6-8FE8-4154-AA4A-F491FA20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143E-D23C-43BA-89E1-088E49FC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4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BD2F-9116-4480-98BE-7B7332CA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CCE49-DD41-4585-BA3B-B195DC7C7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E06A-27CE-4924-87AD-446FF2A9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72B2B-0C7B-419D-9414-72C55504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446A1-1283-4376-A47C-132B0BBA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3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0316-6524-454F-BBD3-0DF31AE1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5DA9-5CE0-4EC6-9F97-D5621EDCA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1726F-2433-4A9C-A0B3-A247DA410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3E78C-BA20-402B-8FD0-E31FFD93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00784-B9DB-477C-9A56-2070BD6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414D0-C2D9-4573-9ACF-61B3B00D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3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9CA1-F9C1-4369-92FA-0809DEA5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4AFA6-B9C9-46D8-8FB6-4533982DF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37F84-DBC6-41D4-A8F0-CDEA42CED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40412-4B43-410C-87A0-2F28F4636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78A0C-D390-4B82-9063-9020A3CCA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0A47D-884E-454A-BAC9-24A6D173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DEF08-941C-42C9-A131-0574DD30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84E80-9E49-40D0-B3DA-7B7E4A22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4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C181-26C6-4B4C-B1A4-29FF428A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AFC81-A714-4A7C-9A98-6F13AEDC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CB992-C575-42D0-9F06-BA530199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6060F-934F-405D-96E7-FF39926B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12E86-43F9-4B42-8C31-15CBB18D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1AA51-7227-4F60-A2D3-71864233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A3798-7CCF-4EF4-A6BD-780BDBA9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8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4912-5A49-47C1-AA1A-ABF9AA10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4BD81-FF4B-4142-BBEE-24CC4754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6BF0B-12A7-419F-88D7-827B2C96E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CD7EA-8A16-4DE5-BC0C-7DF42B84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3104F-08DA-482F-BC4A-359F15C1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C708A-4D02-4937-B314-54573A7E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9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7184-1DB3-45EC-AC45-13A786FC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5BB63-3540-4654-8B6C-A15051279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D9CFD-E9FA-4295-A2BE-B0B57ACDF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9B3CF-0430-45EB-A6EF-1D9AFA4A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49641-300B-4DDA-BBEA-0A5BCE76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7AF22-6293-4294-8530-384F2B25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EEF0-6A15-4A0A-B48D-1B6AB802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20515-007E-4C50-ACF5-6CA3530CE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A8F65-3389-4646-A49F-6C2CD010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17662-D6FC-44FA-85B8-57FFA825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BDF7-C9D0-4342-9B01-56DDE1B9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6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49F6D-C192-4755-9CB7-4461A7DBB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02F1F-F5EC-433F-B58A-881D64E8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9E7A8-837C-4F9B-A2B1-FFAF884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7AD2-2FA1-4C38-8E02-1F7D4AC5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9983E-315F-4187-B29C-47AAE22D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8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94E44-1EFD-499F-9091-939292C0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F1FB0-196D-444C-B221-7012B5078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9C669-059C-4E78-8112-E420E0171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46242-B3CF-4DAE-99BD-CF17E9AC2310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519B-B1DB-42CD-A496-4F1C83422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F58D9-AB41-4DE0-BAA5-EEDA277DF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EDEB-8044-4950-96AC-A459F0945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Communication skills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 Listening Skills - 2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88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E972-E7E2-4DD2-B566-E477DBE9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9A16-6851-45D8-8B8E-35E139122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Communication Skills essentially teaches us to communicate with each other effectively </a:t>
            </a:r>
          </a:p>
          <a:p>
            <a:r>
              <a:rPr lang="en-US" dirty="0"/>
              <a:t>The way of presenting our information is very important.</a:t>
            </a:r>
          </a:p>
          <a:p>
            <a:r>
              <a:rPr lang="en-US" dirty="0"/>
              <a:t> Communication Skills include those areas which deal with our talking, writing, expressing our views.  </a:t>
            </a:r>
          </a:p>
          <a:p>
            <a:r>
              <a:rPr lang="en-US" dirty="0"/>
              <a:t>Mastering these skills helps in overall development of your personality.</a:t>
            </a:r>
          </a:p>
          <a:p>
            <a:r>
              <a:rPr lang="en-US" dirty="0"/>
              <a:t>‘Communication’ comes from the Latin word commūnicāre, ‘to share’.</a:t>
            </a:r>
          </a:p>
          <a:p>
            <a:r>
              <a:rPr lang="en-US" dirty="0"/>
              <a:t> Clear and concise communication is of immense importance in work and business environment.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65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CBA8-B9AB-4B30-8A2C-CDF29023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ponder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F4C7C-9798-4A49-965A-21322FDD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9821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 work, communication is an </a:t>
            </a:r>
            <a:r>
              <a:rPr lang="en-US" b="1" dirty="0"/>
              <a:t>important soft skill. </a:t>
            </a:r>
          </a:p>
          <a:p>
            <a:r>
              <a:rPr lang="en-US" dirty="0"/>
              <a:t>According to LinkedIn's 2019 Global Talent Trends report, </a:t>
            </a:r>
            <a:r>
              <a:rPr lang="en-US" b="1" dirty="0"/>
              <a:t>80% of companies say that soft skills are increasingly important to their success.</a:t>
            </a:r>
          </a:p>
          <a:p>
            <a:r>
              <a:rPr lang="en-US" dirty="0"/>
              <a:t>Your ability to communicate clearly and share thoughts, feelings and ideas will help you in all your relations with other people.</a:t>
            </a:r>
          </a:p>
          <a:p>
            <a:r>
              <a:rPr lang="en-US" b="1" dirty="0">
                <a:solidFill>
                  <a:srgbClr val="00B050"/>
                </a:solidFill>
              </a:rPr>
              <a:t>Communication skills are needed to:</a:t>
            </a:r>
          </a:p>
          <a:p>
            <a:r>
              <a:rPr lang="en-US" b="1" dirty="0"/>
              <a:t>Inform</a:t>
            </a:r>
            <a:r>
              <a:rPr lang="en-US" dirty="0"/>
              <a:t> – for example, communicating the time of a meeting.</a:t>
            </a:r>
          </a:p>
          <a:p>
            <a:r>
              <a:rPr lang="en-US" b="1" dirty="0"/>
              <a:t>Influence</a:t>
            </a:r>
            <a:r>
              <a:rPr lang="en-US" dirty="0"/>
              <a:t> – for example, negotiating with a shopkeeper to reduce the price.</a:t>
            </a:r>
          </a:p>
          <a:p>
            <a:r>
              <a:rPr lang="en-US" dirty="0"/>
              <a:t> </a:t>
            </a:r>
            <a:r>
              <a:rPr lang="en-US" b="1" dirty="0"/>
              <a:t>Express feelings </a:t>
            </a:r>
            <a:r>
              <a:rPr lang="en-US" dirty="0"/>
              <a:t>– for example, to say or show  that you are excited about your success or about a given task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229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0D48-CD6A-4C33-9BAA-9BD2CEB9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- LSRW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0E08A-6879-4EC0-A610-A96F84AA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Listening, Speaking, Reading and Writing. </a:t>
            </a:r>
          </a:p>
          <a:p>
            <a:r>
              <a:rPr lang="en-US" dirty="0"/>
              <a:t>LSRW are </a:t>
            </a:r>
            <a:r>
              <a:rPr lang="en-US" b="1" dirty="0"/>
              <a:t>the four pillars of effective communication</a:t>
            </a:r>
            <a:r>
              <a:rPr lang="en-US" dirty="0"/>
              <a:t>. </a:t>
            </a:r>
          </a:p>
          <a:p>
            <a:r>
              <a:rPr lang="en-US" dirty="0"/>
              <a:t>Not only are they helpful in a professional setting but also in making friends, building relationships and being confident about who you are.</a:t>
            </a:r>
          </a:p>
          <a:p>
            <a:r>
              <a:rPr lang="en-US" dirty="0"/>
              <a:t>If you want to make an impact and build your presence in a professional setting, </a:t>
            </a:r>
            <a:r>
              <a:rPr lang="en-US" b="1" dirty="0"/>
              <a:t>developing four basic communication skills </a:t>
            </a:r>
            <a:r>
              <a:rPr lang="en-US" dirty="0"/>
              <a:t>is key</a:t>
            </a:r>
          </a:p>
          <a:p>
            <a:r>
              <a:rPr lang="en-US" b="1" dirty="0"/>
              <a:t>Effective listening has three modes: attentive listening, responsive listening, and active listening.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008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8AF6-C002-4F5F-9956-42328B9D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listening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4B4B5-62C4-43BB-A760-D1F7243E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10"/>
            <a:ext cx="10515600" cy="539363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Informational listening </a:t>
            </a:r>
            <a:r>
              <a:rPr lang="en-IN" dirty="0"/>
              <a:t>- </a:t>
            </a:r>
            <a:r>
              <a:rPr lang="en-US" dirty="0"/>
              <a:t>When you </a:t>
            </a:r>
            <a:r>
              <a:rPr lang="en-US" b="1" dirty="0"/>
              <a:t>want to learn something</a:t>
            </a:r>
            <a:r>
              <a:rPr lang="en-US" dirty="0"/>
              <a:t>, you’ll use informational listening to understand and retain information.</a:t>
            </a:r>
          </a:p>
          <a:p>
            <a:r>
              <a:rPr lang="en-US" dirty="0"/>
              <a:t> It usually takes a high level of concentration to perform this type of listening. That’s because you need to be highly engaged to understand a new concept.</a:t>
            </a:r>
            <a:endParaRPr lang="en-IN" dirty="0"/>
          </a:p>
          <a:p>
            <a:r>
              <a:rPr lang="en-IN" dirty="0">
                <a:solidFill>
                  <a:schemeClr val="accent2"/>
                </a:solidFill>
              </a:rPr>
              <a:t>Discriminative listening </a:t>
            </a:r>
            <a:r>
              <a:rPr lang="en-IN" dirty="0"/>
              <a:t>- </a:t>
            </a:r>
            <a:r>
              <a:rPr lang="en-US" dirty="0"/>
              <a:t>Discriminative listening </a:t>
            </a:r>
            <a:r>
              <a:rPr lang="en-US" b="1" dirty="0"/>
              <a:t>is the first listening type that you’re born with. </a:t>
            </a:r>
          </a:p>
          <a:p>
            <a:r>
              <a:rPr lang="en-US" dirty="0"/>
              <a:t>Everyone innately has discriminative listening skills. You use this type of listening before you even know how to understand words. </a:t>
            </a:r>
          </a:p>
          <a:p>
            <a:r>
              <a:rPr lang="en-US" dirty="0"/>
              <a:t>Instead of relying on words, discriminative listening uses tone of voice, verbal cues, and other changes in sound.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58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1E16-90A3-4561-AEEB-D50C4652B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574"/>
            <a:ext cx="10515600" cy="596347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Biased listening </a:t>
            </a:r>
            <a:r>
              <a:rPr lang="en-US" dirty="0">
                <a:solidFill>
                  <a:schemeClr val="accent1"/>
                </a:solidFill>
              </a:rPr>
              <a:t>- </a:t>
            </a:r>
            <a:r>
              <a:rPr lang="en-US" dirty="0"/>
              <a:t> </a:t>
            </a:r>
            <a:r>
              <a:rPr lang="en-US" b="1" dirty="0"/>
              <a:t>is also known as selective listening </a:t>
            </a:r>
          </a:p>
          <a:p>
            <a:r>
              <a:rPr lang="en-US" dirty="0"/>
              <a:t>Someone who uses biased listening will only listen for information that they specifically want to hear.</a:t>
            </a:r>
          </a:p>
          <a:p>
            <a:r>
              <a:rPr lang="en-US" dirty="0"/>
              <a:t>This listening process can lead to a distortion of facts. </a:t>
            </a:r>
          </a:p>
          <a:p>
            <a:r>
              <a:rPr lang="en-US" dirty="0"/>
              <a:t>That’s because the person listening isn’t fully in tune with what the speaker wishes to communicate.</a:t>
            </a:r>
          </a:p>
          <a:p>
            <a:r>
              <a:rPr lang="en-US" dirty="0">
                <a:solidFill>
                  <a:srgbClr val="0070C0"/>
                </a:solidFill>
              </a:rPr>
              <a:t>Sympathetic listening </a:t>
            </a:r>
            <a:r>
              <a:rPr lang="en-US" dirty="0"/>
              <a:t>- </a:t>
            </a:r>
            <a:r>
              <a:rPr lang="en-US" b="1" dirty="0"/>
              <a:t>is driven by emotion.</a:t>
            </a:r>
          </a:p>
          <a:p>
            <a:r>
              <a:rPr lang="en-US" dirty="0"/>
              <a:t>Instead of focusing on the message spoken through words, the listener focuses on the feelings and emotions of the speaker.</a:t>
            </a:r>
          </a:p>
          <a:p>
            <a:r>
              <a:rPr lang="en-US" dirty="0"/>
              <a:t>This is done to process these feelings and emotions.</a:t>
            </a:r>
          </a:p>
          <a:p>
            <a:r>
              <a:rPr lang="en-US" dirty="0"/>
              <a:t>By using sympathetic listening, you can provide the support the speaker needs.</a:t>
            </a:r>
          </a:p>
          <a:p>
            <a:r>
              <a:rPr lang="en-US" dirty="0"/>
              <a:t> You can understand how they’re really feeling, not what they say they are feeling.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29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FCF0-216F-4F9D-B8EC-E9EEAC3E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Comprehensive listening </a:t>
            </a:r>
            <a:r>
              <a:rPr lang="en-US" b="1" dirty="0"/>
              <a:t>- requires language skills. </a:t>
            </a:r>
          </a:p>
          <a:p>
            <a:r>
              <a:rPr lang="en-US" dirty="0"/>
              <a:t>This type of listening is usually developed in early childhood.</a:t>
            </a:r>
          </a:p>
          <a:p>
            <a:r>
              <a:rPr lang="en-US" dirty="0"/>
              <a:t>People use comprehensive listening to understand what someone is saying using words.</a:t>
            </a:r>
          </a:p>
          <a:p>
            <a:r>
              <a:rPr lang="en-US" dirty="0"/>
              <a:t>Several other types of listening build on comprehensive listening. For example, you need to use comprehensive listening to use informational listening and learn something new.</a:t>
            </a:r>
          </a:p>
          <a:p>
            <a:r>
              <a:rPr lang="en-US" dirty="0"/>
              <a:t>At work and in your life, you’ll likely use a combination of comprehensive and discriminative listening to understand the messages people are giving you</a:t>
            </a:r>
          </a:p>
          <a:p>
            <a:r>
              <a:rPr lang="en-US" dirty="0"/>
              <a:t>You’ll also use comprehensive listening when you receive feedback.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88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D8ED-2C83-4BA0-BEC2-78D0573D3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0817"/>
            <a:ext cx="10515600" cy="606949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Empathetic or therapeutic listening </a:t>
            </a:r>
            <a:r>
              <a:rPr lang="en-US" b="1" dirty="0"/>
              <a:t>-  is useful to help you see from other people’s perspectives.</a:t>
            </a:r>
          </a:p>
          <a:p>
            <a:r>
              <a:rPr lang="en-US" dirty="0"/>
              <a:t>Using this type of listening, you can try to understand someone else’s point of view as they’re speaking. </a:t>
            </a:r>
          </a:p>
          <a:p>
            <a:r>
              <a:rPr lang="en-US" dirty="0"/>
              <a:t>You can also try to imagine yourself in the other person’s shoes.</a:t>
            </a:r>
          </a:p>
          <a:p>
            <a:r>
              <a:rPr lang="en-US" dirty="0"/>
              <a:t>Instead of just focusing on their message, you can use empathetic listening to relate to someone else’s experiences as if they were your own.</a:t>
            </a:r>
          </a:p>
          <a:p>
            <a:r>
              <a:rPr lang="en-US" b="1" dirty="0"/>
              <a:t>This is different from sympathetic listening.</a:t>
            </a:r>
          </a:p>
          <a:p>
            <a:r>
              <a:rPr lang="en-US" dirty="0"/>
              <a:t>With sympathetic listening, you try to understand someone’s feelings to provide support.</a:t>
            </a:r>
          </a:p>
          <a:p>
            <a:r>
              <a:rPr lang="en-US" dirty="0"/>
              <a:t> But you don’t necessarily try to imagine what it’d feel like to be in their position.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85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D310F-0CBB-478E-A2D7-D618467CD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304"/>
            <a:ext cx="10515600" cy="58456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Critical listening  </a:t>
            </a:r>
            <a:r>
              <a:rPr lang="en-US" dirty="0"/>
              <a:t>- </a:t>
            </a:r>
            <a:r>
              <a:rPr lang="en-US" b="1" dirty="0"/>
              <a:t>If you need to analyze complex information, you’ll need to use critical listening.</a:t>
            </a:r>
          </a:p>
          <a:p>
            <a:r>
              <a:rPr lang="en-US" dirty="0"/>
              <a:t>Using critical thinking while listening </a:t>
            </a:r>
            <a:r>
              <a:rPr lang="en-US" b="1" dirty="0"/>
              <a:t>goes deeper than comprehensive listening.</a:t>
            </a:r>
          </a:p>
          <a:p>
            <a:r>
              <a:rPr lang="en-US" dirty="0"/>
              <a:t> Instead of taking the information at face value, you can use critical listening to evaluate what’s being said.</a:t>
            </a:r>
          </a:p>
          <a:p>
            <a:r>
              <a:rPr lang="en-US" dirty="0"/>
              <a:t>Critical listening is crucial when </a:t>
            </a:r>
            <a:r>
              <a:rPr lang="en-US" b="1" dirty="0"/>
              <a:t>problem-solving at work. </a:t>
            </a:r>
          </a:p>
          <a:p>
            <a:r>
              <a:rPr lang="en-US" dirty="0"/>
              <a:t>You need to use this skill </a:t>
            </a:r>
            <a:r>
              <a:rPr lang="en-US" b="1" dirty="0"/>
              <a:t>to analyze solutions </a:t>
            </a:r>
            <a:r>
              <a:rPr lang="en-US" dirty="0"/>
              <a:t>offered by other people and decide if you agree or not. </a:t>
            </a:r>
          </a:p>
          <a:p>
            <a:r>
              <a:rPr lang="en-US" dirty="0"/>
              <a:t>To do this, you don’t just need to hear their words.</a:t>
            </a:r>
          </a:p>
          <a:p>
            <a:r>
              <a:rPr lang="en-US" dirty="0"/>
              <a:t> You also need to look at the bigger picture and compare everything you know.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582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90D5-7906-41ED-9ACB-1D13B775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remember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2085-1096-4602-9DAE-B043542B2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type of listening isn’t better than the other. </a:t>
            </a:r>
          </a:p>
          <a:p>
            <a:r>
              <a:rPr lang="en-US" dirty="0"/>
              <a:t>Instead, these seven types of listening work together to help you better understand the messages you receive.</a:t>
            </a:r>
          </a:p>
          <a:p>
            <a:r>
              <a:rPr lang="en-US" dirty="0"/>
              <a:t>By being a good listener, you can become a better communicator, avoid misunderstandings, and learn new information more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1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538F-A47F-4064-8321-BDF8A9FA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9362"/>
          </a:xfrm>
        </p:spPr>
        <p:txBody>
          <a:bodyPr/>
          <a:lstStyle/>
          <a:p>
            <a:r>
              <a:rPr lang="en-US" dirty="0"/>
              <a:t>Importance of integration of LSRW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56FC-9AF9-447E-B292-45365D330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513"/>
            <a:ext cx="10515600" cy="4573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use language to receive information or to give information. </a:t>
            </a:r>
          </a:p>
          <a:p>
            <a:r>
              <a:rPr lang="en-US" dirty="0"/>
              <a:t>We </a:t>
            </a:r>
            <a:r>
              <a:rPr lang="en-US" b="1" dirty="0"/>
              <a:t>receive information </a:t>
            </a:r>
            <a:r>
              <a:rPr lang="en-US" dirty="0"/>
              <a:t>through listening and reading.</a:t>
            </a:r>
          </a:p>
          <a:p>
            <a:r>
              <a:rPr lang="en-US" dirty="0"/>
              <a:t> Therefore, listening and reading are known as </a:t>
            </a:r>
            <a:r>
              <a:rPr lang="en-US" b="1" dirty="0"/>
              <a:t>receptive skills</a:t>
            </a:r>
            <a:r>
              <a:rPr lang="en-US" dirty="0"/>
              <a:t>. </a:t>
            </a:r>
          </a:p>
          <a:p>
            <a:r>
              <a:rPr lang="en-US" dirty="0"/>
              <a:t>We use speaking and writing </a:t>
            </a:r>
            <a:r>
              <a:rPr lang="en-US" b="1" dirty="0"/>
              <a:t>for giving information</a:t>
            </a:r>
            <a:r>
              <a:rPr lang="en-US" dirty="0"/>
              <a:t>. </a:t>
            </a:r>
          </a:p>
          <a:p>
            <a:r>
              <a:rPr lang="en-US" dirty="0"/>
              <a:t>Speaking and writing are therefore known as </a:t>
            </a:r>
            <a:r>
              <a:rPr lang="en-US" b="1" dirty="0"/>
              <a:t>productive skills. </a:t>
            </a:r>
          </a:p>
          <a:p>
            <a:r>
              <a:rPr lang="en-US" dirty="0"/>
              <a:t>But we should remember that language skills are </a:t>
            </a:r>
            <a:r>
              <a:rPr lang="en-US" b="1" dirty="0"/>
              <a:t>not usually used in isolation. </a:t>
            </a:r>
          </a:p>
          <a:p>
            <a:r>
              <a:rPr lang="en-US" dirty="0"/>
              <a:t>A single activity may/usually require to practice two or three or sometimes all the four language skills. This we may regard as the </a:t>
            </a:r>
            <a:r>
              <a:rPr lang="en-US" b="1" dirty="0"/>
              <a:t>mixed/integrated use of skills.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8732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2821-6081-4C8C-BCC9-3B805B18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gist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BA762D-635F-4912-B136-57E9724C8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157" y="1987826"/>
            <a:ext cx="7103165" cy="412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1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1019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 Communication skills  Faculty – Dr. Kiran Magavi Department – Humanities and Social Sciences </vt:lpstr>
      <vt:lpstr>Introduction </vt:lpstr>
      <vt:lpstr>Points to ponder</vt:lpstr>
      <vt:lpstr>Basics - LSRW</vt:lpstr>
      <vt:lpstr>7 types of listening skills</vt:lpstr>
      <vt:lpstr>PowerPoint Presentation</vt:lpstr>
      <vt:lpstr>PowerPoint Presentation</vt:lpstr>
      <vt:lpstr>PowerPoint Presentation</vt:lpstr>
      <vt:lpstr>PowerPoint Presentation</vt:lpstr>
      <vt:lpstr>Points to remember </vt:lpstr>
      <vt:lpstr>Importance of integration of LSRW </vt:lpstr>
      <vt:lpstr>In a gist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Grammar  Bridge Course – session 2 </dc:title>
  <dc:creator>kiraaan</dc:creator>
  <cp:lastModifiedBy>Rishi Magavi</cp:lastModifiedBy>
  <cp:revision>23</cp:revision>
  <dcterms:created xsi:type="dcterms:W3CDTF">2020-09-24T06:45:25Z</dcterms:created>
  <dcterms:modified xsi:type="dcterms:W3CDTF">2022-02-07T16:50:53Z</dcterms:modified>
</cp:coreProperties>
</file>