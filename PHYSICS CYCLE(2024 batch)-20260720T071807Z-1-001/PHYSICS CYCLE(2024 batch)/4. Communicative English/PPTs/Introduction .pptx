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C1DE-91D0-48C0-8905-1BDAEE6E0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D26FD-AB4C-4FE2-9973-0EF344411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3C26-4B5C-4AFB-832B-A8BF4B4C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44249-5DFF-4AE2-B9D3-2FD1F0F4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498D-D0FE-40D3-AA29-860D45DB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5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B3B7-8A89-44D5-8977-5AB144E2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6FF54-3C12-4360-80BC-2A0FDCD8B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B42B-528C-4BEC-9ADF-162E2E48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E9B7E-F140-4617-A190-1A0B2B58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700C-AAF1-4A70-9A9F-B7E0AE85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8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E7EC-6EDE-4CB4-8B63-8DEDC22F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52A0-FEB0-419B-B335-C5B6B460B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F568E-84F1-4829-8955-4A4E45C7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EF5B6-DA0C-4C30-9C55-CBC49B25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101D-E3CC-4969-A3F7-625D21DE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45C5-50D4-4C44-A24D-BB8E58B6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31084-832C-4C80-BDA8-E011149EE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B7D1B-3AA3-4535-9C98-FDF433ADD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0928C-285C-4F63-ABC3-67364C6D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4729-8089-443B-97E2-D4EB25E1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B7AC1-21FD-42FC-BACD-C3DF35F4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866A-6BAF-45F9-9A82-CFF3CB57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881E-4496-4A0E-A485-B8ED4FA8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636C5-6F5B-4B2B-A3C3-1D81B2DEA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E79A0-BE9C-4C06-9570-098B8BDCA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CC74C-9569-4CD1-B27C-B7E4FCDEC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770EB-FB08-4827-A3ED-D46FBD5E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253D0-464C-43E3-97C6-A02662FD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AAE99-DF2A-484A-85D2-880E5BB4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4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CF95-F528-43FF-B9E9-C8E3B28B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48F1E-C74F-4554-B37B-CEFE6A84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EF1A4-959E-4349-8F49-6FB19C90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BDE02-FA68-4710-A098-EA404734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8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2C981-4A2C-4F1C-A65D-60E45CB2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BF26B-BB55-4ABC-B5AA-31CF53129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B8079-473F-465B-A022-2EC6A6E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0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1BB1-B245-46AD-BD53-07BE1E0C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367D-AD03-4A5B-BE86-14D926EF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A4772-5AEF-4795-8B72-AF43103FE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F04CE-D768-44B1-ACC2-A2005467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F7950-D7B0-44B3-B57D-79E6BC7B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231CE-D247-4182-850D-40D82FF2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3769-D80B-4B7E-9A81-65A3B168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EE44E-B251-497D-AD6C-397FA4C73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23C76-B5F9-4EBD-8B0D-4F9C9B54C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B3344-F9BD-4E03-B088-601CC918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A8A35-8614-4626-A2CD-1AA3C84E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F781E-633D-41DD-B858-9621918C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53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F222-9EEE-4538-8935-0E8DF6B8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84B80-3156-409B-BF37-401CA8603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54D77-4A92-4FE9-AADE-11B47EC5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A1FB7-5EFC-4A4A-BBB2-B81E8270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B7A72-4C70-4EB6-AE83-7559D03A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4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3E1134-E865-4124-9D9B-400D45C2C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8BEC4-C6C8-44F8-87D7-E2EEE33CB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1A619-AE58-4D64-B5B7-B79D22F5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FBD55-4618-46F3-9895-C76D19B4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2850-D308-4C72-B03B-8C1C6BD2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128D9-25BD-4F3E-B070-C2508D94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74E7C-8A0F-4A91-8F6A-FCB0C6F0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2149-24FF-499A-9062-01C0A2375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27F5E-E15F-4AB3-BB7A-0973B009FE3D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E878C-2A27-429D-B3C5-AB1890FCB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E6D3-CECE-4D87-B712-5528B33F8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3B35B-FDA8-4413-B800-D2C95265C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9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0" 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 1 –  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rgbClr val="0E101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Introduction and overview of the course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40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B85F-EDFA-49BE-AE96-B376C370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Rationale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2BC7-2F1B-4C47-B53A-B05D8FD8D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5101397"/>
          </a:xfrm>
        </p:spPr>
        <p:txBody>
          <a:bodyPr>
            <a:normAutofit/>
          </a:bodyPr>
          <a:lstStyle/>
          <a:p>
            <a:r>
              <a:rPr lang="en-US" dirty="0"/>
              <a:t>The basic idea behind offering this course as a subject at the undergraduate level is to acquaint students with English language which is most popular language and in all likelihood the most used in countries across the globe. </a:t>
            </a:r>
          </a:p>
          <a:p>
            <a:r>
              <a:rPr lang="en-US" dirty="0"/>
              <a:t>The lessons included , aim to take the tones of English to students as it enables them to accomplish certain important functions at workplace </a:t>
            </a:r>
          </a:p>
          <a:p>
            <a:r>
              <a:rPr lang="en-US" dirty="0"/>
              <a:t>For prospective engineers, it is useful to reach out to the world of technology and business through right grammar, vocabulary, collocations besides letter-writing, advertisements, posters, technical presentations, report writing, seminars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29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434C-AB1D-4209-9687-732DBC7F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0336"/>
          </a:xfrm>
        </p:spPr>
        <p:txBody>
          <a:bodyPr/>
          <a:lstStyle/>
          <a:p>
            <a:r>
              <a:rPr lang="en-IN" dirty="0"/>
              <a:t>Course 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89D4-73A3-4E62-9D87-5CBC3F739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to enhance general and professional communication competency.</a:t>
            </a:r>
          </a:p>
          <a:p>
            <a:r>
              <a:rPr lang="en-US" dirty="0"/>
              <a:t>2. to strengthen listening and speaking skills for effective communication</a:t>
            </a:r>
          </a:p>
          <a:p>
            <a:r>
              <a:rPr lang="en-US" dirty="0"/>
              <a:t>3. to be proficient in English grammar &amp; vocabulary.</a:t>
            </a:r>
          </a:p>
          <a:p>
            <a:r>
              <a:rPr lang="en-US" dirty="0"/>
              <a:t>4. to develop effective reading &amp; writing techniques. </a:t>
            </a:r>
          </a:p>
          <a:p>
            <a:r>
              <a:rPr lang="en-US" dirty="0"/>
              <a:t>5. to develop professional &amp; technical writing competency.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97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D713-79F5-4568-8F39-957B2969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Course Contents:  </a:t>
            </a:r>
            <a:br>
              <a:rPr lang="en-IN" dirty="0"/>
            </a:br>
            <a:r>
              <a:rPr lang="en-IN" dirty="0"/>
              <a:t>UNIT-1: Fundamentals of Communication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3AF9-2B83-4FFC-9F41-A656DCBF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696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Introduction to Communication &amp; process, Language as a tool of Communication, </a:t>
            </a:r>
          </a:p>
          <a:p>
            <a:r>
              <a:rPr lang="en-US" dirty="0"/>
              <a:t>7 Cs of effective communication, </a:t>
            </a:r>
          </a:p>
          <a:p>
            <a:r>
              <a:rPr lang="en-US" dirty="0"/>
              <a:t>Barriers to Communication, </a:t>
            </a:r>
          </a:p>
          <a:p>
            <a:r>
              <a:rPr lang="en-US" dirty="0"/>
              <a:t>Forms of Communication,</a:t>
            </a:r>
          </a:p>
          <a:p>
            <a:r>
              <a:rPr lang="en-US" dirty="0"/>
              <a:t> Nonverbal Communication, Body Language and its significance,</a:t>
            </a:r>
          </a:p>
          <a:p>
            <a:r>
              <a:rPr lang="en-US" dirty="0"/>
              <a:t> Interpersonal Communication Skills, Distinction between General and Technical Communication.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46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E631-6555-48AC-8C96-64FC27288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UNIT-II: Listening and Speaking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F1E40-FAB4-4AC1-9A07-6CA5B6C03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Introduction to Listening Skills- significance, barriers, Listening for comprehensibility.</a:t>
            </a:r>
          </a:p>
          <a:p>
            <a:r>
              <a:rPr lang="en-IN" dirty="0"/>
              <a:t>Listening for word stress, shift, question tags, syllables, vowel sounds, consonant sounds, accent and Intonation.</a:t>
            </a:r>
          </a:p>
          <a:p>
            <a:r>
              <a:rPr lang="en-IN" dirty="0"/>
              <a:t>Spoken Communication for different contexts, Art of effective speaking, Effective Presentation &amp; Group Discussion techniques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77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8D9E-4AA9-47D3-AED7-8A2047600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UNIT-III: English Grammar and Vocabulary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20DDF-62A2-4407-90BB-8BCDE5685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Subject-Verb agreement</a:t>
            </a:r>
          </a:p>
          <a:p>
            <a:r>
              <a:rPr lang="en-IN" dirty="0"/>
              <a:t> Usage of appropriate Prepositions and Connectives</a:t>
            </a:r>
          </a:p>
          <a:p>
            <a:r>
              <a:rPr lang="en-IN" dirty="0"/>
              <a:t> Word formation-Prefix, Suffix, Compound words, Error Analysis.</a:t>
            </a:r>
          </a:p>
          <a:p>
            <a:r>
              <a:rPr lang="en-IN" dirty="0"/>
              <a:t> Idioms and Phrases, Commonly Confused Words.</a:t>
            </a:r>
          </a:p>
          <a:p>
            <a:r>
              <a:rPr lang="en-IN" dirty="0"/>
              <a:t>Developing Vocabulary-Synonyms, Antonyms, Homonyms, Homophones, and Homographs,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59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C688-8813-4B2B-B100-32E3A5AB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UNIT-IV: Reading and Writing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6070-C20F-4CC6-8EFA-97D84B89A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Reading skills- Reading Techniques-Skimming, Scanning, Intensive and Extensive reading, </a:t>
            </a:r>
          </a:p>
          <a:p>
            <a:r>
              <a:rPr lang="en-US" dirty="0"/>
              <a:t>Text reading – interpretation of general and technical texts, annotations, drawing inferences.</a:t>
            </a:r>
          </a:p>
          <a:p>
            <a:r>
              <a:rPr lang="en-US" dirty="0"/>
              <a:t>Reading Comprehension exercises. </a:t>
            </a:r>
          </a:p>
          <a:p>
            <a:r>
              <a:rPr lang="en-US" dirty="0"/>
              <a:t>Techniques for effective Writing Skills- Paragraph and Précis’ writing. </a:t>
            </a:r>
          </a:p>
        </p:txBody>
      </p:sp>
    </p:spTree>
    <p:extLst>
      <p:ext uri="{BB962C8B-B14F-4D97-AF65-F5344CB8AC3E}">
        <p14:creationId xmlns:p14="http://schemas.microsoft.com/office/powerpoint/2010/main" val="51375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2BB1-1F89-43BA-967C-10748EE7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UNIT-V: Professional &amp; Technical Writing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62053-5A52-41C6-830C-7048332F2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Basics of letter writing -formal and informal, e-mail etiquette and netiquette </a:t>
            </a:r>
          </a:p>
          <a:p>
            <a:r>
              <a:rPr lang="en-US" dirty="0"/>
              <a:t>Difference between Bio-data, CV and Resume, Drafting of CV and Job Application Letter (Cover letter).</a:t>
            </a:r>
          </a:p>
          <a:p>
            <a:r>
              <a:rPr lang="en-US" dirty="0"/>
              <a:t>Report Writing: Types of Report, Rules of Report Writing; Structure of a Report, Drafting Project Reports.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825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510E-C552-4BCE-8F24-2DEFC7E0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78376-EDBD-48CC-8567-C46A17BC0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At the end of the Course students will:</a:t>
            </a:r>
          </a:p>
          <a:p>
            <a:r>
              <a:rPr lang="en-US" dirty="0"/>
              <a:t>1. Understand the objectives of General and Technical Communication along with nuances of language etiquette. (PO 9, 10, 12)</a:t>
            </a:r>
          </a:p>
          <a:p>
            <a:r>
              <a:rPr lang="en-US" dirty="0"/>
              <a:t>2. Internalize active listening and spoken skills and apply related strategies. (PO 10, 12)</a:t>
            </a:r>
          </a:p>
          <a:p>
            <a:r>
              <a:rPr lang="en-US" dirty="0"/>
              <a:t>3. Utilize correct grammar and effective vocabulary in General and Technical Communication. (PO 10, 12)</a:t>
            </a:r>
          </a:p>
          <a:p>
            <a:r>
              <a:rPr lang="en-US" dirty="0"/>
              <a:t>4. Apply Reading &amp; Writing Strategies for Career growth. (PO9, 10, 12)</a:t>
            </a:r>
          </a:p>
          <a:p>
            <a:r>
              <a:rPr lang="en-US" dirty="0"/>
              <a:t>5. Apply Professional Writing skills for Professional development. (PO 9, 10,12)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989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A33F-02C0-4C22-969A-D7295C81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importantly, students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6B4A3-A65F-4F62-8D7F-79703A485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to inculcate profound knowledge through BEC for practical, everyday use in business.</a:t>
            </a:r>
          </a:p>
          <a:p>
            <a:r>
              <a:rPr lang="en-US" dirty="0"/>
              <a:t>Assess the skills of writing business letters in various situations and generate skills of writing business letters, essays and memos. </a:t>
            </a:r>
          </a:p>
          <a:p>
            <a:r>
              <a:rPr lang="en-US" dirty="0"/>
              <a:t> Categorize the various structures of reports and compose to use them in the professional scenario.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Thank you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80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619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Communicative English   Faculty – Dr. Kiran Magavi</vt:lpstr>
      <vt:lpstr>Rationale </vt:lpstr>
      <vt:lpstr>Course  Objectives </vt:lpstr>
      <vt:lpstr> Course Contents:   UNIT-1: Fundamentals of Communication </vt:lpstr>
      <vt:lpstr>UNIT-II: Listening and Speaking skills</vt:lpstr>
      <vt:lpstr>UNIT-III: English Grammar and Vocabulary</vt:lpstr>
      <vt:lpstr>UNIT-IV: Reading and Writing Skills</vt:lpstr>
      <vt:lpstr>UNIT-V: Professional &amp; Technical Writing Skills</vt:lpstr>
      <vt:lpstr>Course Outcomes</vt:lpstr>
      <vt:lpstr>Most importantly, students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session 24</dc:title>
  <dc:creator>kiraaan</dc:creator>
  <cp:lastModifiedBy>Rishi Magavi</cp:lastModifiedBy>
  <cp:revision>16</cp:revision>
  <dcterms:created xsi:type="dcterms:W3CDTF">2020-11-03T08:05:17Z</dcterms:created>
  <dcterms:modified xsi:type="dcterms:W3CDTF">2022-02-07T16:18:47Z</dcterms:modified>
</cp:coreProperties>
</file>