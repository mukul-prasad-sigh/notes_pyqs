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sldIdLst>
    <p:sldId id="256" r:id="rId3"/>
    <p:sldId id="257" r:id="rId4"/>
    <p:sldId id="258" r:id="rId5"/>
    <p:sldId id="259" r:id="rId6"/>
    <p:sldId id="344" r:id="rId7"/>
    <p:sldId id="345" r:id="rId8"/>
    <p:sldId id="347" r:id="rId9"/>
    <p:sldId id="348" r:id="rId10"/>
    <p:sldId id="349" r:id="rId11"/>
    <p:sldId id="350" r:id="rId12"/>
    <p:sldId id="351" r:id="rId13"/>
    <p:sldId id="352" r:id="rId14"/>
    <p:sldId id="353" r:id="rId15"/>
    <p:sldId id="260" r:id="rId16"/>
    <p:sldId id="261" r:id="rId17"/>
    <p:sldId id="262" r:id="rId18"/>
    <p:sldId id="263" r:id="rId19"/>
    <p:sldId id="264" r:id="rId20"/>
    <p:sldId id="265" r:id="rId21"/>
    <p:sldId id="266" r:id="rId22"/>
    <p:sldId id="267" r:id="rId23"/>
    <p:sldId id="276" r:id="rId24"/>
    <p:sldId id="277" r:id="rId25"/>
    <p:sldId id="278" r:id="rId26"/>
    <p:sldId id="279" r:id="rId27"/>
    <p:sldId id="280" r:id="rId28"/>
    <p:sldId id="281" r:id="rId29"/>
    <p:sldId id="334" r:id="rId30"/>
    <p:sldId id="336" r:id="rId31"/>
    <p:sldId id="337" r:id="rId32"/>
    <p:sldId id="282" r:id="rId33"/>
    <p:sldId id="285" r:id="rId34"/>
    <p:sldId id="338" r:id="rId35"/>
    <p:sldId id="269" r:id="rId36"/>
    <p:sldId id="356" r:id="rId37"/>
    <p:sldId id="271" r:id="rId38"/>
    <p:sldId id="288" r:id="rId39"/>
    <p:sldId id="289" r:id="rId40"/>
    <p:sldId id="290" r:id="rId41"/>
    <p:sldId id="340" r:id="rId42"/>
    <p:sldId id="357" r:id="rId43"/>
    <p:sldId id="291" r:id="rId44"/>
    <p:sldId id="355" r:id="rId45"/>
    <p:sldId id="293" r:id="rId46"/>
    <p:sldId id="294" r:id="rId47"/>
    <p:sldId id="342" r:id="rId48"/>
    <p:sldId id="299" r:id="rId49"/>
    <p:sldId id="300" r:id="rId50"/>
    <p:sldId id="301" r:id="rId51"/>
    <p:sldId id="302" r:id="rId52"/>
    <p:sldId id="303" r:id="rId53"/>
    <p:sldId id="304" r:id="rId54"/>
    <p:sldId id="305" r:id="rId55"/>
    <p:sldId id="306" r:id="rId56"/>
    <p:sldId id="358" r:id="rId57"/>
    <p:sldId id="359" r:id="rId58"/>
    <p:sldId id="360" r:id="rId59"/>
    <p:sldId id="361" r:id="rId60"/>
    <p:sldId id="362" r:id="rId61"/>
    <p:sldId id="363" r:id="rId62"/>
    <p:sldId id="307" r:id="rId63"/>
    <p:sldId id="308" r:id="rId64"/>
    <p:sldId id="309" r:id="rId65"/>
    <p:sldId id="310" r:id="rId66"/>
    <p:sldId id="311" r:id="rId67"/>
    <p:sldId id="313" r:id="rId68"/>
    <p:sldId id="314" r:id="rId69"/>
    <p:sldId id="315" r:id="rId70"/>
    <p:sldId id="316" r:id="rId71"/>
    <p:sldId id="317" r:id="rId72"/>
    <p:sldId id="320" r:id="rId73"/>
    <p:sldId id="322" r:id="rId74"/>
    <p:sldId id="364" r:id="rId75"/>
    <p:sldId id="365" r:id="rId76"/>
    <p:sldId id="323" r:id="rId77"/>
    <p:sldId id="324" r:id="rId78"/>
    <p:sldId id="325" r:id="rId79"/>
    <p:sldId id="326" r:id="rId80"/>
    <p:sldId id="354" r:id="rId8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691387" y="356362"/>
            <a:ext cx="7761224" cy="6965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5" name="Holder 5"/>
          <p:cNvSpPr>
            <a:spLocks noGrp="1"/>
          </p:cNvSpPr>
          <p:nvPr>
            <p:ph type="dt" sz="half" idx="6"/>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75F5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5" name="Holder 5"/>
          <p:cNvSpPr>
            <a:spLocks noGrp="1"/>
          </p:cNvSpPr>
          <p:nvPr>
            <p:ph type="dt" sz="half" idx="6"/>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75F54"/>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6" name="Holder 6"/>
          <p:cNvSpPr>
            <a:spLocks noGrp="1"/>
          </p:cNvSpPr>
          <p:nvPr>
            <p:ph type="dt" sz="half" idx="6"/>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75F5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4" name="Holder 4"/>
          <p:cNvSpPr>
            <a:spLocks noGrp="1"/>
          </p:cNvSpPr>
          <p:nvPr>
            <p:ph type="dt" sz="half" idx="6"/>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3" name="Holder 3"/>
          <p:cNvSpPr>
            <a:spLocks noGrp="1"/>
          </p:cNvSpPr>
          <p:nvPr>
            <p:ph type="dt" sz="half" idx="6"/>
          </p:nvPr>
        </p:nvSpPr>
        <p:spPr/>
        <p:txBody>
          <a:bodyPr lIns="0" tIns="0" rIns="0" bIns="0"/>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79"/>
            <a:ext cx="7772400" cy="4924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6" name="Holder 6"/>
          <p:cNvSpPr>
            <a:spLocks noGrp="1"/>
          </p:cNvSpPr>
          <p:nvPr>
            <p:ph type="sldNum" sz="quarter" idx="7"/>
          </p:nvPr>
        </p:nvSpPr>
        <p:spPr/>
        <p:txBody>
          <a:bodyPr lIns="0" tIns="0" rIns="0" bIns="0"/>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1417431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212819" y="1272490"/>
            <a:ext cx="1459124" cy="446597"/>
          </a:xfrm>
        </p:spPr>
        <p:txBody>
          <a:bodyPr lIns="0" tIns="0" rIns="0" bIns="0"/>
          <a:lstStyle>
            <a:lvl1pPr>
              <a:defRPr sz="2902" b="0" i="0">
                <a:solidFill>
                  <a:schemeClr val="tx1"/>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6" name="Holder 6"/>
          <p:cNvSpPr>
            <a:spLocks noGrp="1"/>
          </p:cNvSpPr>
          <p:nvPr>
            <p:ph type="sldNum" sz="quarter" idx="7"/>
          </p:nvPr>
        </p:nvSpPr>
        <p:spPr/>
        <p:txBody>
          <a:bodyPr lIns="0" tIns="0" rIns="0" bIns="0"/>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156480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7212819" y="1272490"/>
            <a:ext cx="1459124" cy="446597"/>
          </a:xfrm>
        </p:spPr>
        <p:txBody>
          <a:bodyPr lIns="0" tIns="0" rIns="0" bIns="0"/>
          <a:lstStyle>
            <a:lvl1pPr>
              <a:defRPr sz="2902" b="0" i="0">
                <a:solidFill>
                  <a:schemeClr val="tx1"/>
                </a:solidFill>
                <a:latin typeface="Lucida Sans Unicode"/>
                <a:cs typeface="Lucida Sans Unicode"/>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7" name="Holder 7"/>
          <p:cNvSpPr>
            <a:spLocks noGrp="1"/>
          </p:cNvSpPr>
          <p:nvPr>
            <p:ph type="sldNum" sz="quarter" idx="7"/>
          </p:nvPr>
        </p:nvSpPr>
        <p:spPr/>
        <p:txBody>
          <a:bodyPr lIns="0" tIns="0" rIns="0" bIns="0"/>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155872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7212819" y="1272490"/>
            <a:ext cx="1459124" cy="446597"/>
          </a:xfrm>
        </p:spPr>
        <p:txBody>
          <a:bodyPr lIns="0" tIns="0" rIns="0" bIns="0"/>
          <a:lstStyle>
            <a:lvl1pPr>
              <a:defRPr sz="2902" b="0" i="0">
                <a:solidFill>
                  <a:schemeClr val="tx1"/>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5" name="Holder 5"/>
          <p:cNvSpPr>
            <a:spLocks noGrp="1"/>
          </p:cNvSpPr>
          <p:nvPr>
            <p:ph type="sldNum" sz="quarter" idx="7"/>
          </p:nvPr>
        </p:nvSpPr>
        <p:spPr/>
        <p:txBody>
          <a:bodyPr lIns="0" tIns="0" rIns="0" bIns="0"/>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909890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4" name="Holder 4"/>
          <p:cNvSpPr>
            <a:spLocks noGrp="1"/>
          </p:cNvSpPr>
          <p:nvPr>
            <p:ph type="sldNum" sz="quarter" idx="7"/>
          </p:nvPr>
        </p:nvSpPr>
        <p:spPr/>
        <p:txBody>
          <a:bodyPr lIns="0" tIns="0" rIns="0" bIns="0"/>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16317709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0160"/>
            <a:ext cx="533400" cy="228600"/>
          </a:xfrm>
          <a:custGeom>
            <a:avLst/>
            <a:gdLst/>
            <a:ahLst/>
            <a:cxnLst/>
            <a:rect l="l" t="t" r="r" b="b"/>
            <a:pathLst>
              <a:path w="533400" h="228600">
                <a:moveTo>
                  <a:pt x="533400" y="0"/>
                </a:moveTo>
                <a:lnTo>
                  <a:pt x="0" y="0"/>
                </a:lnTo>
                <a:lnTo>
                  <a:pt x="0" y="228600"/>
                </a:lnTo>
                <a:lnTo>
                  <a:pt x="533400" y="228600"/>
                </a:lnTo>
                <a:lnTo>
                  <a:pt x="533400" y="0"/>
                </a:lnTo>
                <a:close/>
              </a:path>
            </a:pathLst>
          </a:custGeom>
          <a:solidFill>
            <a:srgbClr val="DD8046"/>
          </a:solidFill>
        </p:spPr>
        <p:txBody>
          <a:bodyPr wrap="square" lIns="0" tIns="0" rIns="0" bIns="0" rtlCol="0"/>
          <a:lstStyle/>
          <a:p>
            <a:endParaRPr/>
          </a:p>
        </p:txBody>
      </p:sp>
      <p:sp>
        <p:nvSpPr>
          <p:cNvPr id="17" name="bg object 17"/>
          <p:cNvSpPr/>
          <p:nvPr/>
        </p:nvSpPr>
        <p:spPr>
          <a:xfrm>
            <a:off x="591312" y="1280160"/>
            <a:ext cx="8552815" cy="228600"/>
          </a:xfrm>
          <a:custGeom>
            <a:avLst/>
            <a:gdLst/>
            <a:ahLst/>
            <a:cxnLst/>
            <a:rect l="l" t="t" r="r" b="b"/>
            <a:pathLst>
              <a:path w="8552815" h="228600">
                <a:moveTo>
                  <a:pt x="8552688" y="0"/>
                </a:moveTo>
                <a:lnTo>
                  <a:pt x="0" y="0"/>
                </a:lnTo>
                <a:lnTo>
                  <a:pt x="0" y="228600"/>
                </a:lnTo>
                <a:lnTo>
                  <a:pt x="8552688" y="228600"/>
                </a:lnTo>
                <a:lnTo>
                  <a:pt x="8552688" y="0"/>
                </a:lnTo>
                <a:close/>
              </a:path>
            </a:pathLst>
          </a:custGeom>
          <a:solidFill>
            <a:srgbClr val="93B6D2"/>
          </a:solidFill>
        </p:spPr>
        <p:txBody>
          <a:bodyPr wrap="square" lIns="0" tIns="0" rIns="0" bIns="0" rtlCol="0"/>
          <a:lstStyle/>
          <a:p>
            <a:endParaRPr/>
          </a:p>
        </p:txBody>
      </p:sp>
      <p:sp>
        <p:nvSpPr>
          <p:cNvPr id="2" name="Holder 2"/>
          <p:cNvSpPr>
            <a:spLocks noGrp="1"/>
          </p:cNvSpPr>
          <p:nvPr>
            <p:ph type="title"/>
          </p:nvPr>
        </p:nvSpPr>
        <p:spPr>
          <a:xfrm>
            <a:off x="670052" y="389890"/>
            <a:ext cx="7803895" cy="635000"/>
          </a:xfrm>
          <a:prstGeom prst="rect">
            <a:avLst/>
          </a:prstGeom>
        </p:spPr>
        <p:txBody>
          <a:bodyPr wrap="square" lIns="0" tIns="0" rIns="0" bIns="0">
            <a:spAutoFit/>
          </a:bodyPr>
          <a:lstStyle>
            <a:lvl1pPr>
              <a:defRPr sz="4000" b="0" i="0">
                <a:solidFill>
                  <a:srgbClr val="775F54"/>
                </a:solidFill>
                <a:latin typeface="Times New Roman"/>
                <a:cs typeface="Times New Roman"/>
              </a:defRPr>
            </a:lvl1pPr>
          </a:lstStyle>
          <a:p>
            <a:endParaRPr/>
          </a:p>
        </p:txBody>
      </p:sp>
      <p:sp>
        <p:nvSpPr>
          <p:cNvPr id="3" name="Holder 3"/>
          <p:cNvSpPr>
            <a:spLocks noGrp="1"/>
          </p:cNvSpPr>
          <p:nvPr>
            <p:ph type="body" idx="1"/>
          </p:nvPr>
        </p:nvSpPr>
        <p:spPr>
          <a:xfrm>
            <a:off x="231140" y="1538681"/>
            <a:ext cx="8684260" cy="3667760"/>
          </a:xfrm>
          <a:prstGeom prst="rect">
            <a:avLst/>
          </a:prstGeom>
        </p:spPr>
        <p:txBody>
          <a:bodyPr wrap="square" lIns="0" tIns="0" rIns="0" bIns="0">
            <a:spAutoFit/>
          </a:bodyPr>
          <a:lstStyle>
            <a:lvl1pPr>
              <a:defRPr sz="27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175628" y="6326438"/>
            <a:ext cx="750570" cy="222884"/>
          </a:xfrm>
          <a:prstGeom prst="rect">
            <a:avLst/>
          </a:prstGeom>
        </p:spPr>
        <p:txBody>
          <a:bodyPr wrap="square" lIns="0" tIns="0" rIns="0" bIns="0">
            <a:spAutoFit/>
          </a:bodyPr>
          <a:lstStyle>
            <a:lvl1pPr>
              <a:defRPr sz="1400" b="0" i="0">
                <a:solidFill>
                  <a:srgbClr val="775F54"/>
                </a:solidFill>
                <a:latin typeface="Times New Roman"/>
                <a:cs typeface="Times New Roman"/>
              </a:defRPr>
            </a:lvl1pPr>
          </a:lstStyle>
          <a:p>
            <a:pPr marL="12700">
              <a:lnSpc>
                <a:spcPts val="1630"/>
              </a:lnSpc>
            </a:pPr>
            <a:r>
              <a:rPr spc="-5" dirty="0"/>
              <a:t>1/19/2023</a:t>
            </a:r>
          </a:p>
        </p:txBody>
      </p:sp>
      <p:sp>
        <p:nvSpPr>
          <p:cNvPr id="5" name="Holder 5"/>
          <p:cNvSpPr>
            <a:spLocks noGrp="1"/>
          </p:cNvSpPr>
          <p:nvPr>
            <p:ph type="dt" sz="half" idx="6"/>
          </p:nvPr>
        </p:nvSpPr>
        <p:spPr>
          <a:xfrm>
            <a:off x="3121279" y="6326133"/>
            <a:ext cx="2828290" cy="222884"/>
          </a:xfrm>
          <a:prstGeom prst="rect">
            <a:avLst/>
          </a:prstGeom>
        </p:spPr>
        <p:txBody>
          <a:bodyPr wrap="square" lIns="0" tIns="0" rIns="0" bIns="0">
            <a:spAutoFit/>
          </a:bodyPr>
          <a:lstStyle>
            <a:lvl1pPr>
              <a:defRPr sz="1400" b="0" i="0">
                <a:solidFill>
                  <a:srgbClr val="775F54"/>
                </a:solidFill>
                <a:latin typeface="Times New Roman"/>
                <a:cs typeface="Times New Roman"/>
              </a:defRPr>
            </a:lvl1p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0314" cy="6854543"/>
          </a:xfrm>
          <a:prstGeom prst="rect">
            <a:avLst/>
          </a:prstGeom>
        </p:spPr>
      </p:pic>
      <p:pic>
        <p:nvPicPr>
          <p:cNvPr id="17" name="bg object 17"/>
          <p:cNvPicPr/>
          <p:nvPr/>
        </p:nvPicPr>
        <p:blipFill>
          <a:blip r:embed="rId8" cstate="print"/>
          <a:stretch>
            <a:fillRect/>
          </a:stretch>
        </p:blipFill>
        <p:spPr>
          <a:xfrm>
            <a:off x="0" y="5584"/>
            <a:ext cx="9058549" cy="6758959"/>
          </a:xfrm>
          <a:prstGeom prst="rect">
            <a:avLst/>
          </a:prstGeom>
        </p:spPr>
      </p:pic>
      <p:pic>
        <p:nvPicPr>
          <p:cNvPr id="18" name="bg object 18"/>
          <p:cNvPicPr/>
          <p:nvPr/>
        </p:nvPicPr>
        <p:blipFill>
          <a:blip r:embed="rId9" cstate="print"/>
          <a:stretch>
            <a:fillRect/>
          </a:stretch>
        </p:blipFill>
        <p:spPr>
          <a:xfrm>
            <a:off x="0" y="0"/>
            <a:ext cx="8982771" cy="6641723"/>
          </a:xfrm>
          <a:prstGeom prst="rect">
            <a:avLst/>
          </a:prstGeom>
        </p:spPr>
      </p:pic>
      <p:pic>
        <p:nvPicPr>
          <p:cNvPr id="19" name="bg object 19"/>
          <p:cNvPicPr/>
          <p:nvPr/>
        </p:nvPicPr>
        <p:blipFill>
          <a:blip r:embed="rId10" cstate="print"/>
          <a:stretch>
            <a:fillRect/>
          </a:stretch>
        </p:blipFill>
        <p:spPr>
          <a:xfrm>
            <a:off x="0" y="5596957"/>
            <a:ext cx="8778240" cy="779428"/>
          </a:xfrm>
          <a:prstGeom prst="rect">
            <a:avLst/>
          </a:prstGeom>
        </p:spPr>
      </p:pic>
      <p:sp>
        <p:nvSpPr>
          <p:cNvPr id="20" name="bg object 20"/>
          <p:cNvSpPr/>
          <p:nvPr/>
        </p:nvSpPr>
        <p:spPr>
          <a:xfrm>
            <a:off x="0" y="1382"/>
            <a:ext cx="8810025" cy="6415195"/>
          </a:xfrm>
          <a:custGeom>
            <a:avLst/>
            <a:gdLst/>
            <a:ahLst/>
            <a:cxnLst/>
            <a:rect l="l" t="t" r="r" b="b"/>
            <a:pathLst>
              <a:path w="9715500" h="7074534">
                <a:moveTo>
                  <a:pt x="9696323" y="0"/>
                </a:moveTo>
                <a:lnTo>
                  <a:pt x="9715500" y="7074408"/>
                </a:lnTo>
                <a:lnTo>
                  <a:pt x="0" y="7065092"/>
                </a:lnTo>
              </a:path>
            </a:pathLst>
          </a:custGeom>
          <a:ln w="82296">
            <a:solidFill>
              <a:srgbClr val="7E7E7E"/>
            </a:solidFill>
          </a:ln>
        </p:spPr>
        <p:txBody>
          <a:bodyPr wrap="square" lIns="0" tIns="0" rIns="0" bIns="0" rtlCol="0"/>
          <a:lstStyle/>
          <a:p>
            <a:endParaRPr sz="1632"/>
          </a:p>
        </p:txBody>
      </p:sp>
      <p:sp>
        <p:nvSpPr>
          <p:cNvPr id="2" name="Holder 2"/>
          <p:cNvSpPr>
            <a:spLocks noGrp="1"/>
          </p:cNvSpPr>
          <p:nvPr>
            <p:ph type="title"/>
          </p:nvPr>
        </p:nvSpPr>
        <p:spPr>
          <a:xfrm>
            <a:off x="7212819" y="1272490"/>
            <a:ext cx="1459124" cy="492443"/>
          </a:xfrm>
          <a:prstGeom prst="rect">
            <a:avLst/>
          </a:prstGeom>
        </p:spPr>
        <p:txBody>
          <a:bodyPr wrap="square" lIns="0" tIns="0" rIns="0" bIns="0">
            <a:spAutoFit/>
          </a:bodyPr>
          <a:lstStyle>
            <a:lvl1pPr>
              <a:defRPr sz="3200" b="0" i="0">
                <a:solidFill>
                  <a:schemeClr val="tx1"/>
                </a:solidFill>
                <a:latin typeface="Lucida Sans Unicode"/>
                <a:cs typeface="Lucida Sans Unicode"/>
              </a:defRPr>
            </a:lvl1pPr>
          </a:lstStyle>
          <a:p>
            <a:endParaRPr/>
          </a:p>
        </p:txBody>
      </p:sp>
      <p:sp>
        <p:nvSpPr>
          <p:cNvPr id="3" name="Holder 3"/>
          <p:cNvSpPr>
            <a:spLocks noGrp="1"/>
          </p:cNvSpPr>
          <p:nvPr>
            <p:ph type="body" idx="1"/>
          </p:nvPr>
        </p:nvSpPr>
        <p:spPr>
          <a:xfrm>
            <a:off x="508160" y="2131911"/>
            <a:ext cx="7753398"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39"/>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39"/>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11/14/2024</a:t>
            </a:fld>
            <a:endParaRPr lang="en-US"/>
          </a:p>
        </p:txBody>
      </p:sp>
      <p:sp>
        <p:nvSpPr>
          <p:cNvPr id="6" name="Holder 6"/>
          <p:cNvSpPr>
            <a:spLocks noGrp="1"/>
          </p:cNvSpPr>
          <p:nvPr>
            <p:ph type="sldNum" sz="quarter" idx="7"/>
          </p:nvPr>
        </p:nvSpPr>
        <p:spPr>
          <a:xfrm>
            <a:off x="4930851" y="5924160"/>
            <a:ext cx="246449" cy="180690"/>
          </a:xfrm>
          <a:prstGeom prst="rect">
            <a:avLst/>
          </a:prstGeom>
        </p:spPr>
        <p:txBody>
          <a:bodyPr wrap="square" lIns="0" tIns="0" rIns="0" bIns="0">
            <a:spAutoFit/>
          </a:bodyPr>
          <a:lstStyle>
            <a:lvl1pPr>
              <a:defRPr sz="1360" b="0" i="0">
                <a:solidFill>
                  <a:schemeClr val="bg1"/>
                </a:solidFill>
                <a:latin typeface="Calibri"/>
                <a:cs typeface="Calibri"/>
              </a:defRPr>
            </a:lvl1pPr>
          </a:lstStyle>
          <a:p>
            <a:pPr marL="34549">
              <a:lnSpc>
                <a:spcPts val="1392"/>
              </a:lnSpc>
            </a:pPr>
            <a:fld id="{81D60167-4931-47E6-BA6A-407CBD079E47}" type="slidenum">
              <a:rPr lang="en-IN" spc="5" smtClean="0"/>
              <a:pPr marL="34549">
                <a:lnSpc>
                  <a:spcPts val="1392"/>
                </a:lnSpc>
              </a:pPr>
              <a:t>‹#›</a:t>
            </a:fld>
            <a:endParaRPr lang="en-IN" spc="5" dirty="0"/>
          </a:p>
        </p:txBody>
      </p:sp>
    </p:spTree>
    <p:extLst>
      <p:ext uri="{BB962C8B-B14F-4D97-AF65-F5344CB8AC3E}">
        <p14:creationId xmlns:p14="http://schemas.microsoft.com/office/powerpoint/2010/main" val="247787969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14589">
        <a:defRPr>
          <a:latin typeface="+mn-lt"/>
          <a:ea typeface="+mn-ea"/>
          <a:cs typeface="+mn-cs"/>
        </a:defRPr>
      </a:lvl2pPr>
      <a:lvl3pPr marL="829178">
        <a:defRPr>
          <a:latin typeface="+mn-lt"/>
          <a:ea typeface="+mn-ea"/>
          <a:cs typeface="+mn-cs"/>
        </a:defRPr>
      </a:lvl3pPr>
      <a:lvl4pPr marL="1243767">
        <a:defRPr>
          <a:latin typeface="+mn-lt"/>
          <a:ea typeface="+mn-ea"/>
          <a:cs typeface="+mn-cs"/>
        </a:defRPr>
      </a:lvl4pPr>
      <a:lvl5pPr marL="1658356">
        <a:defRPr>
          <a:latin typeface="+mn-lt"/>
          <a:ea typeface="+mn-ea"/>
          <a:cs typeface="+mn-cs"/>
        </a:defRPr>
      </a:lvl5pPr>
      <a:lvl6pPr marL="2072945">
        <a:defRPr>
          <a:latin typeface="+mn-lt"/>
          <a:ea typeface="+mn-ea"/>
          <a:cs typeface="+mn-cs"/>
        </a:defRPr>
      </a:lvl6pPr>
      <a:lvl7pPr marL="2487534">
        <a:defRPr>
          <a:latin typeface="+mn-lt"/>
          <a:ea typeface="+mn-ea"/>
          <a:cs typeface="+mn-cs"/>
        </a:defRPr>
      </a:lvl7pPr>
      <a:lvl8pPr marL="2902123">
        <a:defRPr>
          <a:latin typeface="+mn-lt"/>
          <a:ea typeface="+mn-ea"/>
          <a:cs typeface="+mn-cs"/>
        </a:defRPr>
      </a:lvl8pPr>
      <a:lvl9pPr marL="3316712">
        <a:defRPr>
          <a:latin typeface="+mn-lt"/>
          <a:ea typeface="+mn-ea"/>
          <a:cs typeface="+mn-cs"/>
        </a:defRPr>
      </a:lvl9pPr>
    </p:bodyStyle>
    <p:otherStyle>
      <a:lvl1pPr marL="0">
        <a:defRPr>
          <a:latin typeface="+mn-lt"/>
          <a:ea typeface="+mn-ea"/>
          <a:cs typeface="+mn-cs"/>
        </a:defRPr>
      </a:lvl1pPr>
      <a:lvl2pPr marL="414589">
        <a:defRPr>
          <a:latin typeface="+mn-lt"/>
          <a:ea typeface="+mn-ea"/>
          <a:cs typeface="+mn-cs"/>
        </a:defRPr>
      </a:lvl2pPr>
      <a:lvl3pPr marL="829178">
        <a:defRPr>
          <a:latin typeface="+mn-lt"/>
          <a:ea typeface="+mn-ea"/>
          <a:cs typeface="+mn-cs"/>
        </a:defRPr>
      </a:lvl3pPr>
      <a:lvl4pPr marL="1243767">
        <a:defRPr>
          <a:latin typeface="+mn-lt"/>
          <a:ea typeface="+mn-ea"/>
          <a:cs typeface="+mn-cs"/>
        </a:defRPr>
      </a:lvl4pPr>
      <a:lvl5pPr marL="1658356">
        <a:defRPr>
          <a:latin typeface="+mn-lt"/>
          <a:ea typeface="+mn-ea"/>
          <a:cs typeface="+mn-cs"/>
        </a:defRPr>
      </a:lvl5pPr>
      <a:lvl6pPr marL="2072945">
        <a:defRPr>
          <a:latin typeface="+mn-lt"/>
          <a:ea typeface="+mn-ea"/>
          <a:cs typeface="+mn-cs"/>
        </a:defRPr>
      </a:lvl6pPr>
      <a:lvl7pPr marL="2487534">
        <a:defRPr>
          <a:latin typeface="+mn-lt"/>
          <a:ea typeface="+mn-ea"/>
          <a:cs typeface="+mn-cs"/>
        </a:defRPr>
      </a:lvl7pPr>
      <a:lvl8pPr marL="2902123">
        <a:defRPr>
          <a:latin typeface="+mn-lt"/>
          <a:ea typeface="+mn-ea"/>
          <a:cs typeface="+mn-cs"/>
        </a:defRPr>
      </a:lvl8pPr>
      <a:lvl9pPr marL="3316712">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971540"/>
          </a:xfrm>
          <a:custGeom>
            <a:avLst/>
            <a:gdLst/>
            <a:ahLst/>
            <a:cxnLst/>
            <a:rect l="l" t="t" r="r" b="b"/>
            <a:pathLst>
              <a:path w="9144000" h="5971540">
                <a:moveTo>
                  <a:pt x="0" y="5971032"/>
                </a:moveTo>
                <a:lnTo>
                  <a:pt x="9144000" y="5971032"/>
                </a:lnTo>
                <a:lnTo>
                  <a:pt x="9144000" y="0"/>
                </a:lnTo>
                <a:lnTo>
                  <a:pt x="0" y="0"/>
                </a:lnTo>
                <a:lnTo>
                  <a:pt x="0" y="5971032"/>
                </a:lnTo>
                <a:close/>
              </a:path>
            </a:pathLst>
          </a:custGeom>
          <a:solidFill>
            <a:srgbClr val="775F54"/>
          </a:solidFill>
        </p:spPr>
        <p:txBody>
          <a:bodyPr wrap="square" lIns="0" tIns="0" rIns="0" bIns="0" rtlCol="0"/>
          <a:lstStyle/>
          <a:p>
            <a:endParaRPr/>
          </a:p>
        </p:txBody>
      </p:sp>
      <p:grpSp>
        <p:nvGrpSpPr>
          <p:cNvPr id="3" name="object 3"/>
          <p:cNvGrpSpPr/>
          <p:nvPr/>
        </p:nvGrpSpPr>
        <p:grpSpPr>
          <a:xfrm>
            <a:off x="0" y="5971032"/>
            <a:ext cx="9144000" cy="887094"/>
            <a:chOff x="0" y="5971032"/>
            <a:chExt cx="9144000" cy="887094"/>
          </a:xfrm>
        </p:grpSpPr>
        <p:sp>
          <p:nvSpPr>
            <p:cNvPr id="4" name="object 4"/>
            <p:cNvSpPr/>
            <p:nvPr/>
          </p:nvSpPr>
          <p:spPr>
            <a:xfrm>
              <a:off x="0" y="5971032"/>
              <a:ext cx="9144000" cy="887094"/>
            </a:xfrm>
            <a:custGeom>
              <a:avLst/>
              <a:gdLst/>
              <a:ahLst/>
              <a:cxnLst/>
              <a:rect l="l" t="t" r="r" b="b"/>
              <a:pathLst>
                <a:path w="9144000" h="887095">
                  <a:moveTo>
                    <a:pt x="9144000" y="0"/>
                  </a:moveTo>
                  <a:lnTo>
                    <a:pt x="0" y="0"/>
                  </a:lnTo>
                  <a:lnTo>
                    <a:pt x="0" y="886968"/>
                  </a:lnTo>
                  <a:lnTo>
                    <a:pt x="9144000" y="886968"/>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DD8046"/>
            </a:solidFill>
          </p:spPr>
          <p:txBody>
            <a:bodyPr wrap="square" lIns="0" tIns="0" rIns="0" bIns="0" rtlCol="0"/>
            <a:lstStyle/>
            <a:p>
              <a:endParaRPr/>
            </a:p>
          </p:txBody>
        </p:sp>
        <p:sp>
          <p:nvSpPr>
            <p:cNvPr id="6" name="object 6"/>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93B6D2"/>
            </a:solidFill>
          </p:spPr>
          <p:txBody>
            <a:bodyPr wrap="square" lIns="0" tIns="0" rIns="0" bIns="0" rtlCol="0"/>
            <a:lstStyle/>
            <a:p>
              <a:endParaRPr/>
            </a:p>
          </p:txBody>
        </p:sp>
      </p:grpSp>
      <p:sp>
        <p:nvSpPr>
          <p:cNvPr id="7" name="object 7"/>
          <p:cNvSpPr txBox="1"/>
          <p:nvPr/>
        </p:nvSpPr>
        <p:spPr>
          <a:xfrm>
            <a:off x="1294257" y="853566"/>
            <a:ext cx="6555105" cy="756920"/>
          </a:xfrm>
          <a:prstGeom prst="rect">
            <a:avLst/>
          </a:prstGeom>
        </p:spPr>
        <p:txBody>
          <a:bodyPr vert="horz" wrap="square" lIns="0" tIns="12700" rIns="0" bIns="0" rtlCol="0">
            <a:spAutoFit/>
          </a:bodyPr>
          <a:lstStyle/>
          <a:p>
            <a:pPr marL="12700">
              <a:lnSpc>
                <a:spcPct val="100000"/>
              </a:lnSpc>
              <a:spcBef>
                <a:spcPts val="100"/>
              </a:spcBef>
            </a:pPr>
            <a:r>
              <a:rPr sz="4800" b="1" dirty="0">
                <a:solidFill>
                  <a:srgbClr val="FFFFFF"/>
                </a:solidFill>
                <a:latin typeface="Times New Roman"/>
                <a:cs typeface="Times New Roman"/>
              </a:rPr>
              <a:t>J</a:t>
            </a:r>
            <a:r>
              <a:rPr sz="4800" b="1" spc="-630" dirty="0">
                <a:solidFill>
                  <a:srgbClr val="FFFFFF"/>
                </a:solidFill>
                <a:latin typeface="Times New Roman"/>
                <a:cs typeface="Times New Roman"/>
              </a:rPr>
              <a:t>A</a:t>
            </a:r>
            <a:r>
              <a:rPr sz="4800" b="1" spc="-625" dirty="0">
                <a:solidFill>
                  <a:srgbClr val="FFFFFF"/>
                </a:solidFill>
                <a:latin typeface="Times New Roman"/>
                <a:cs typeface="Times New Roman"/>
              </a:rPr>
              <a:t>V</a:t>
            </a:r>
            <a:r>
              <a:rPr sz="4800" b="1" spc="-5" dirty="0">
                <a:solidFill>
                  <a:srgbClr val="FFFFFF"/>
                </a:solidFill>
                <a:latin typeface="Times New Roman"/>
                <a:cs typeface="Times New Roman"/>
              </a:rPr>
              <a:t>A</a:t>
            </a:r>
            <a:r>
              <a:rPr sz="4800" b="1" spc="-260" dirty="0">
                <a:solidFill>
                  <a:srgbClr val="FFFFFF"/>
                </a:solidFill>
                <a:latin typeface="Times New Roman"/>
                <a:cs typeface="Times New Roman"/>
              </a:rPr>
              <a:t> </a:t>
            </a:r>
            <a:r>
              <a:rPr sz="4800" b="1" spc="-15" dirty="0">
                <a:solidFill>
                  <a:srgbClr val="FFFFFF"/>
                </a:solidFill>
                <a:latin typeface="Times New Roman"/>
                <a:cs typeface="Times New Roman"/>
              </a:rPr>
              <a:t>P</a:t>
            </a:r>
            <a:r>
              <a:rPr sz="4800" b="1" spc="-5" dirty="0">
                <a:solidFill>
                  <a:srgbClr val="FFFFFF"/>
                </a:solidFill>
                <a:latin typeface="Times New Roman"/>
                <a:cs typeface="Times New Roman"/>
              </a:rPr>
              <a:t>ROGRAMM</a:t>
            </a:r>
            <a:r>
              <a:rPr sz="4800" b="1" dirty="0">
                <a:solidFill>
                  <a:srgbClr val="FFFFFF"/>
                </a:solidFill>
                <a:latin typeface="Times New Roman"/>
                <a:cs typeface="Times New Roman"/>
              </a:rPr>
              <a:t>I</a:t>
            </a:r>
            <a:r>
              <a:rPr sz="4800" b="1" spc="-5" dirty="0">
                <a:solidFill>
                  <a:srgbClr val="FFFFFF"/>
                </a:solidFill>
                <a:latin typeface="Times New Roman"/>
                <a:cs typeface="Times New Roman"/>
              </a:rPr>
              <a:t>NG</a:t>
            </a:r>
            <a:endParaRPr sz="4800">
              <a:latin typeface="Times New Roman"/>
              <a:cs typeface="Times New Roman"/>
            </a:endParaRPr>
          </a:p>
        </p:txBody>
      </p:sp>
      <p:sp>
        <p:nvSpPr>
          <p:cNvPr id="8" name="object 8"/>
          <p:cNvSpPr txBox="1"/>
          <p:nvPr/>
        </p:nvSpPr>
        <p:spPr>
          <a:xfrm>
            <a:off x="3431285" y="2316860"/>
            <a:ext cx="2282190" cy="756920"/>
          </a:xfrm>
          <a:prstGeom prst="rect">
            <a:avLst/>
          </a:prstGeom>
        </p:spPr>
        <p:txBody>
          <a:bodyPr vert="horz" wrap="square" lIns="0" tIns="12700" rIns="0" bIns="0" rtlCol="0">
            <a:spAutoFit/>
          </a:bodyPr>
          <a:lstStyle/>
          <a:p>
            <a:pPr marL="12700">
              <a:lnSpc>
                <a:spcPct val="100000"/>
              </a:lnSpc>
              <a:spcBef>
                <a:spcPts val="100"/>
              </a:spcBef>
            </a:pPr>
            <a:r>
              <a:rPr sz="4800" b="1" spc="-5" dirty="0">
                <a:solidFill>
                  <a:srgbClr val="FFFFFF"/>
                </a:solidFill>
                <a:latin typeface="Times New Roman"/>
                <a:cs typeface="Times New Roman"/>
              </a:rPr>
              <a:t>UNIT</a:t>
            </a:r>
            <a:r>
              <a:rPr sz="4800" b="1" spc="-135" dirty="0">
                <a:solidFill>
                  <a:srgbClr val="FFFFFF"/>
                </a:solidFill>
                <a:latin typeface="Times New Roman"/>
                <a:cs typeface="Times New Roman"/>
              </a:rPr>
              <a:t> </a:t>
            </a:r>
            <a:r>
              <a:rPr sz="4800" b="1" dirty="0">
                <a:solidFill>
                  <a:srgbClr val="FFFFFF"/>
                </a:solidFill>
                <a:latin typeface="Times New Roman"/>
                <a:cs typeface="Times New Roman"/>
              </a:rPr>
              <a:t>-</a:t>
            </a:r>
            <a:r>
              <a:rPr sz="4800" b="1" spc="-40" dirty="0">
                <a:solidFill>
                  <a:srgbClr val="FFFFFF"/>
                </a:solidFill>
                <a:latin typeface="Times New Roman"/>
                <a:cs typeface="Times New Roman"/>
              </a:rPr>
              <a:t> </a:t>
            </a:r>
            <a:r>
              <a:rPr sz="4800" b="1" spc="-5" dirty="0">
                <a:solidFill>
                  <a:srgbClr val="FFFFFF"/>
                </a:solidFill>
                <a:latin typeface="Times New Roman"/>
                <a:cs typeface="Times New Roman"/>
              </a:rPr>
              <a:t>I</a:t>
            </a:r>
            <a:endParaRPr sz="4800">
              <a:latin typeface="Times New Roman"/>
              <a:cs typeface="Times New Roman"/>
            </a:endParaRPr>
          </a:p>
        </p:txBody>
      </p:sp>
      <p:pic>
        <p:nvPicPr>
          <p:cNvPr id="9" name="object 9"/>
          <p:cNvPicPr/>
          <p:nvPr/>
        </p:nvPicPr>
        <p:blipFill>
          <a:blip r:embed="rId2" cstate="print"/>
          <a:stretch>
            <a:fillRect/>
          </a:stretch>
        </p:blipFill>
        <p:spPr>
          <a:xfrm>
            <a:off x="2667000" y="3657600"/>
            <a:ext cx="3767328" cy="2209800"/>
          </a:xfrm>
          <a:prstGeom prst="rect">
            <a:avLst/>
          </a:prstGeom>
        </p:spPr>
      </p:pic>
      <p:sp>
        <p:nvSpPr>
          <p:cNvPr id="12" name="object 12"/>
          <p:cNvSpPr txBox="1"/>
          <p:nvPr/>
        </p:nvSpPr>
        <p:spPr>
          <a:xfrm>
            <a:off x="8401939" y="6310376"/>
            <a:ext cx="11493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EBDDC3"/>
                </a:solidFill>
                <a:latin typeface="Times New Roman"/>
                <a:cs typeface="Times New Roman"/>
              </a:rPr>
              <a:t>1</a:t>
            </a:r>
            <a:endParaRPr sz="1400">
              <a:latin typeface="Times New Roman"/>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954530" cy="696595"/>
          </a:xfrm>
          <a:prstGeom prst="rect">
            <a:avLst/>
          </a:prstGeom>
        </p:spPr>
        <p:txBody>
          <a:bodyPr vert="horz" wrap="square" lIns="0" tIns="13335" rIns="0" bIns="0" rtlCol="0">
            <a:spAutoFit/>
          </a:bodyPr>
          <a:lstStyle/>
          <a:p>
            <a:pPr marL="12700">
              <a:lnSpc>
                <a:spcPct val="100000"/>
              </a:lnSpc>
              <a:spcBef>
                <a:spcPts val="105"/>
              </a:spcBef>
            </a:pPr>
            <a:r>
              <a:rPr sz="4400" dirty="0"/>
              <a:t>Sylla</a:t>
            </a:r>
            <a:r>
              <a:rPr sz="4400" spc="15" dirty="0"/>
              <a:t>b</a:t>
            </a:r>
            <a:r>
              <a:rPr sz="4400" dirty="0"/>
              <a:t>us</a:t>
            </a:r>
            <a:endParaRPr sz="4400"/>
          </a:p>
        </p:txBody>
      </p:sp>
      <p:sp>
        <p:nvSpPr>
          <p:cNvPr id="3" name="object 3"/>
          <p:cNvSpPr txBox="1"/>
          <p:nvPr/>
        </p:nvSpPr>
        <p:spPr>
          <a:xfrm>
            <a:off x="691387" y="1621662"/>
            <a:ext cx="4053840" cy="452120"/>
          </a:xfrm>
          <a:prstGeom prst="rect">
            <a:avLst/>
          </a:prstGeom>
        </p:spPr>
        <p:txBody>
          <a:bodyPr vert="horz" wrap="square" lIns="0" tIns="12065" rIns="0" bIns="0" rtlCol="0">
            <a:spAutoFit/>
          </a:bodyPr>
          <a:lstStyle/>
          <a:p>
            <a:pPr marL="332740" indent="-320675">
              <a:lnSpc>
                <a:spcPct val="100000"/>
              </a:lnSpc>
              <a:spcBef>
                <a:spcPts val="95"/>
              </a:spcBef>
              <a:buClr>
                <a:srgbClr val="DD8046"/>
              </a:buClr>
              <a:buSzPct val="58928"/>
              <a:buFont typeface="Wingdings"/>
              <a:buChar char=""/>
              <a:tabLst>
                <a:tab pos="332740" algn="l"/>
                <a:tab pos="333375" algn="l"/>
                <a:tab pos="1049020" algn="l"/>
                <a:tab pos="2731770" algn="l"/>
                <a:tab pos="3310890" algn="l"/>
              </a:tabLst>
            </a:pPr>
            <a:r>
              <a:rPr sz="2800" spc="-10" dirty="0">
                <a:latin typeface="Times New Roman"/>
                <a:cs typeface="Times New Roman"/>
              </a:rPr>
              <a:t>A</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Ove</a:t>
            </a:r>
            <a:r>
              <a:rPr sz="2800" spc="5" dirty="0">
                <a:latin typeface="Times New Roman"/>
                <a:cs typeface="Times New Roman"/>
              </a:rPr>
              <a:t>r</a:t>
            </a:r>
            <a:r>
              <a:rPr sz="2800" spc="-5" dirty="0">
                <a:latin typeface="Times New Roman"/>
                <a:cs typeface="Times New Roman"/>
              </a:rPr>
              <a:t>v</a:t>
            </a:r>
            <a:r>
              <a:rPr sz="2800" dirty="0">
                <a:latin typeface="Times New Roman"/>
                <a:cs typeface="Times New Roman"/>
              </a:rPr>
              <a:t>i</a:t>
            </a:r>
            <a:r>
              <a:rPr sz="2800" spc="-5" dirty="0">
                <a:latin typeface="Times New Roman"/>
                <a:cs typeface="Times New Roman"/>
              </a:rPr>
              <a:t>ew</a:t>
            </a:r>
            <a:r>
              <a:rPr sz="2800" dirty="0">
                <a:latin typeface="Times New Roman"/>
                <a:cs typeface="Times New Roman"/>
              </a:rPr>
              <a:t>	o</a:t>
            </a:r>
            <a:r>
              <a:rPr sz="2800" spc="-5" dirty="0">
                <a:latin typeface="Times New Roman"/>
                <a:cs typeface="Times New Roman"/>
              </a:rPr>
              <a:t>f</a:t>
            </a:r>
            <a:r>
              <a:rPr sz="2800" dirty="0">
                <a:latin typeface="Times New Roman"/>
                <a:cs typeface="Times New Roman"/>
              </a:rPr>
              <a:t>	</a:t>
            </a:r>
            <a:r>
              <a:rPr sz="2800" spc="-5" dirty="0">
                <a:latin typeface="Times New Roman"/>
                <a:cs typeface="Times New Roman"/>
              </a:rPr>
              <a:t>Java:</a:t>
            </a:r>
            <a:endParaRPr sz="2800">
              <a:latin typeface="Times New Roman"/>
              <a:cs typeface="Times New Roman"/>
            </a:endParaRPr>
          </a:p>
        </p:txBody>
      </p:sp>
      <p:sp>
        <p:nvSpPr>
          <p:cNvPr id="4" name="object 4"/>
          <p:cNvSpPr txBox="1"/>
          <p:nvPr/>
        </p:nvSpPr>
        <p:spPr>
          <a:xfrm>
            <a:off x="5000625" y="1621662"/>
            <a:ext cx="3686175" cy="452120"/>
          </a:xfrm>
          <a:prstGeom prst="rect">
            <a:avLst/>
          </a:prstGeom>
        </p:spPr>
        <p:txBody>
          <a:bodyPr vert="horz" wrap="square" lIns="0" tIns="12065" rIns="0" bIns="0" rtlCol="0">
            <a:spAutoFit/>
          </a:bodyPr>
          <a:lstStyle/>
          <a:p>
            <a:pPr marL="12700">
              <a:lnSpc>
                <a:spcPct val="100000"/>
              </a:lnSpc>
              <a:spcBef>
                <a:spcPts val="95"/>
              </a:spcBef>
              <a:tabLst>
                <a:tab pos="2050414" algn="l"/>
                <a:tab pos="2607945" algn="l"/>
              </a:tabLst>
            </a:pPr>
            <a:r>
              <a:rPr sz="2800" spc="-5" dirty="0">
                <a:latin typeface="Times New Roman"/>
                <a:cs typeface="Times New Roman"/>
              </a:rPr>
              <a:t>I</a:t>
            </a:r>
            <a:r>
              <a:rPr sz="2800" dirty="0">
                <a:latin typeface="Times New Roman"/>
                <a:cs typeface="Times New Roman"/>
              </a:rPr>
              <a:t>n</a:t>
            </a:r>
            <a:r>
              <a:rPr sz="2800" spc="-5" dirty="0">
                <a:latin typeface="Times New Roman"/>
                <a:cs typeface="Times New Roman"/>
              </a:rPr>
              <a:t>trod</a:t>
            </a:r>
            <a:r>
              <a:rPr sz="2800" spc="5" dirty="0">
                <a:latin typeface="Times New Roman"/>
                <a:cs typeface="Times New Roman"/>
              </a:rPr>
              <a:t>u</a:t>
            </a:r>
            <a:r>
              <a:rPr sz="2800" spc="-5" dirty="0">
                <a:latin typeface="Times New Roman"/>
                <a:cs typeface="Times New Roman"/>
              </a:rPr>
              <a:t>c</a:t>
            </a:r>
            <a:r>
              <a:rPr sz="2800" spc="-20" dirty="0">
                <a:latin typeface="Times New Roman"/>
                <a:cs typeface="Times New Roman"/>
              </a:rPr>
              <a:t>t</a:t>
            </a:r>
            <a:r>
              <a:rPr sz="2800" spc="-5" dirty="0">
                <a:latin typeface="Times New Roman"/>
                <a:cs typeface="Times New Roman"/>
              </a:rPr>
              <a:t>i</a:t>
            </a:r>
            <a:r>
              <a:rPr sz="2800" dirty="0">
                <a:latin typeface="Times New Roman"/>
                <a:cs typeface="Times New Roman"/>
              </a:rPr>
              <a:t>o</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to</a:t>
            </a:r>
            <a:r>
              <a:rPr sz="2800" dirty="0">
                <a:latin typeface="Times New Roman"/>
                <a:cs typeface="Times New Roman"/>
              </a:rPr>
              <a:t>	</a:t>
            </a:r>
            <a:r>
              <a:rPr sz="2800" spc="-5" dirty="0">
                <a:latin typeface="Times New Roman"/>
                <a:cs typeface="Times New Roman"/>
              </a:rPr>
              <a:t>Object-</a:t>
            </a:r>
            <a:endParaRPr sz="2800">
              <a:latin typeface="Times New Roman"/>
              <a:cs typeface="Times New Roman"/>
            </a:endParaRPr>
          </a:p>
        </p:txBody>
      </p:sp>
      <p:sp>
        <p:nvSpPr>
          <p:cNvPr id="5" name="object 5"/>
          <p:cNvSpPr txBox="1"/>
          <p:nvPr/>
        </p:nvSpPr>
        <p:spPr>
          <a:xfrm>
            <a:off x="4935092" y="2048382"/>
            <a:ext cx="1982470" cy="452120"/>
          </a:xfrm>
          <a:prstGeom prst="rect">
            <a:avLst/>
          </a:prstGeom>
        </p:spPr>
        <p:txBody>
          <a:bodyPr vert="horz" wrap="square" lIns="0" tIns="12065" rIns="0" bIns="0" rtlCol="0">
            <a:spAutoFit/>
          </a:bodyPr>
          <a:lstStyle/>
          <a:p>
            <a:pPr marL="12700">
              <a:lnSpc>
                <a:spcPct val="100000"/>
              </a:lnSpc>
              <a:spcBef>
                <a:spcPts val="95"/>
              </a:spcBef>
              <a:tabLst>
                <a:tab pos="1336675" algn="l"/>
              </a:tabLst>
            </a:pPr>
            <a:r>
              <a:rPr sz="2800" spc="-5" dirty="0">
                <a:latin typeface="Times New Roman"/>
                <a:cs typeface="Times New Roman"/>
              </a:rPr>
              <a:t>S</a:t>
            </a:r>
            <a:r>
              <a:rPr sz="2800" spc="10" dirty="0">
                <a:latin typeface="Times New Roman"/>
                <a:cs typeface="Times New Roman"/>
              </a:rPr>
              <a:t>i</a:t>
            </a:r>
            <a:r>
              <a:rPr sz="2800" spc="-20" dirty="0">
                <a:latin typeface="Times New Roman"/>
                <a:cs typeface="Times New Roman"/>
              </a:rPr>
              <a:t>m</a:t>
            </a:r>
            <a:r>
              <a:rPr sz="2800" spc="-5" dirty="0">
                <a:latin typeface="Times New Roman"/>
                <a:cs typeface="Times New Roman"/>
              </a:rPr>
              <a:t>p</a:t>
            </a:r>
            <a:r>
              <a:rPr sz="2800" dirty="0">
                <a:latin typeface="Times New Roman"/>
                <a:cs typeface="Times New Roman"/>
              </a:rPr>
              <a:t>l</a:t>
            </a:r>
            <a:r>
              <a:rPr sz="2800" spc="-5" dirty="0">
                <a:latin typeface="Times New Roman"/>
                <a:cs typeface="Times New Roman"/>
              </a:rPr>
              <a:t>e</a:t>
            </a:r>
            <a:r>
              <a:rPr sz="2800" dirty="0">
                <a:latin typeface="Times New Roman"/>
                <a:cs typeface="Times New Roman"/>
              </a:rPr>
              <a:t>	</a:t>
            </a:r>
            <a:r>
              <a:rPr sz="2800" spc="-5" dirty="0">
                <a:latin typeface="Times New Roman"/>
                <a:cs typeface="Times New Roman"/>
              </a:rPr>
              <a:t>Ja</a:t>
            </a:r>
            <a:r>
              <a:rPr sz="2800" spc="5" dirty="0">
                <a:latin typeface="Times New Roman"/>
                <a:cs typeface="Times New Roman"/>
              </a:rPr>
              <a:t>v</a:t>
            </a:r>
            <a:r>
              <a:rPr sz="2800" spc="-5" dirty="0">
                <a:latin typeface="Times New Roman"/>
                <a:cs typeface="Times New Roman"/>
              </a:rPr>
              <a:t>a</a:t>
            </a:r>
            <a:endParaRPr sz="2800">
              <a:latin typeface="Times New Roman"/>
              <a:cs typeface="Times New Roman"/>
            </a:endParaRPr>
          </a:p>
        </p:txBody>
      </p:sp>
      <p:sp>
        <p:nvSpPr>
          <p:cNvPr id="6" name="object 6"/>
          <p:cNvSpPr txBox="1"/>
          <p:nvPr/>
        </p:nvSpPr>
        <p:spPr>
          <a:xfrm>
            <a:off x="7209281" y="2048382"/>
            <a:ext cx="147701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Programs,</a:t>
            </a:r>
            <a:endParaRPr sz="2800">
              <a:latin typeface="Times New Roman"/>
              <a:cs typeface="Times New Roman"/>
            </a:endParaRPr>
          </a:p>
        </p:txBody>
      </p:sp>
      <p:sp>
        <p:nvSpPr>
          <p:cNvPr id="7" name="object 7"/>
          <p:cNvSpPr txBox="1"/>
          <p:nvPr/>
        </p:nvSpPr>
        <p:spPr>
          <a:xfrm>
            <a:off x="1011732" y="2048382"/>
            <a:ext cx="3895090" cy="878840"/>
          </a:xfrm>
          <a:prstGeom prst="rect">
            <a:avLst/>
          </a:prstGeom>
        </p:spPr>
        <p:txBody>
          <a:bodyPr vert="horz" wrap="square" lIns="0" tIns="12065" rIns="0" bIns="0" rtlCol="0">
            <a:spAutoFit/>
          </a:bodyPr>
          <a:lstStyle/>
          <a:p>
            <a:pPr marL="12700" marR="5080">
              <a:lnSpc>
                <a:spcPct val="100000"/>
              </a:lnSpc>
              <a:spcBef>
                <a:spcPts val="95"/>
              </a:spcBef>
              <a:tabLst>
                <a:tab pos="1572895" algn="l"/>
                <a:tab pos="1849120" algn="l"/>
                <a:tab pos="3211830" algn="l"/>
              </a:tabLst>
            </a:pPr>
            <a:r>
              <a:rPr sz="2800" spc="-5" dirty="0">
                <a:latin typeface="Times New Roman"/>
                <a:cs typeface="Times New Roman"/>
              </a:rPr>
              <a:t>Oriented	Programming, </a:t>
            </a:r>
            <a:r>
              <a:rPr sz="2800" dirty="0">
                <a:latin typeface="Times New Roman"/>
                <a:cs typeface="Times New Roman"/>
              </a:rPr>
              <a:t> </a:t>
            </a:r>
            <a:r>
              <a:rPr sz="2800" spc="-5" dirty="0">
                <a:latin typeface="Times New Roman"/>
                <a:cs typeface="Times New Roman"/>
              </a:rPr>
              <a:t>i</a:t>
            </a:r>
            <a:r>
              <a:rPr sz="2800" dirty="0">
                <a:latin typeface="Times New Roman"/>
                <a:cs typeface="Times New Roman"/>
              </a:rPr>
              <a:t>d</a:t>
            </a:r>
            <a:r>
              <a:rPr sz="2800" spc="-5" dirty="0">
                <a:latin typeface="Times New Roman"/>
                <a:cs typeface="Times New Roman"/>
              </a:rPr>
              <a:t>en</a:t>
            </a:r>
            <a:r>
              <a:rPr sz="2800" spc="-15" dirty="0">
                <a:latin typeface="Times New Roman"/>
                <a:cs typeface="Times New Roman"/>
              </a:rPr>
              <a:t>t</a:t>
            </a:r>
            <a:r>
              <a:rPr sz="2800" spc="-5" dirty="0">
                <a:latin typeface="Times New Roman"/>
                <a:cs typeface="Times New Roman"/>
              </a:rPr>
              <a:t>if</a:t>
            </a:r>
            <a:r>
              <a:rPr sz="2800" dirty="0">
                <a:latin typeface="Times New Roman"/>
                <a:cs typeface="Times New Roman"/>
              </a:rPr>
              <a:t>i</a:t>
            </a:r>
            <a:r>
              <a:rPr sz="2800" spc="-5" dirty="0">
                <a:latin typeface="Times New Roman"/>
                <a:cs typeface="Times New Roman"/>
              </a:rPr>
              <a:t>ers,</a:t>
            </a:r>
            <a:r>
              <a:rPr sz="2800" dirty="0">
                <a:latin typeface="Times New Roman"/>
                <a:cs typeface="Times New Roman"/>
              </a:rPr>
              <a:t>		</a:t>
            </a:r>
            <a:r>
              <a:rPr sz="2800" spc="-5" dirty="0">
                <a:latin typeface="Times New Roman"/>
                <a:cs typeface="Times New Roman"/>
              </a:rPr>
              <a:t>literal</a:t>
            </a:r>
            <a:r>
              <a:rPr sz="2800" dirty="0">
                <a:latin typeface="Times New Roman"/>
                <a:cs typeface="Times New Roman"/>
              </a:rPr>
              <a:t>s</a:t>
            </a:r>
            <a:r>
              <a:rPr sz="2800" spc="-5" dirty="0">
                <a:latin typeface="Times New Roman"/>
                <a:cs typeface="Times New Roman"/>
              </a:rPr>
              <a:t>,</a:t>
            </a:r>
            <a:r>
              <a:rPr sz="2800" dirty="0">
                <a:latin typeface="Times New Roman"/>
                <a:cs typeface="Times New Roman"/>
              </a:rPr>
              <a:t>	</a:t>
            </a:r>
            <a:r>
              <a:rPr sz="2800" spc="-5" dirty="0">
                <a:latin typeface="Times New Roman"/>
                <a:cs typeface="Times New Roman"/>
              </a:rPr>
              <a:t>Data</a:t>
            </a:r>
            <a:endParaRPr sz="2800">
              <a:latin typeface="Times New Roman"/>
              <a:cs typeface="Times New Roman"/>
            </a:endParaRPr>
          </a:p>
        </p:txBody>
      </p:sp>
      <p:sp>
        <p:nvSpPr>
          <p:cNvPr id="8" name="object 8"/>
          <p:cNvSpPr txBox="1"/>
          <p:nvPr/>
        </p:nvSpPr>
        <p:spPr>
          <a:xfrm>
            <a:off x="5189601" y="2475102"/>
            <a:ext cx="3498215" cy="452120"/>
          </a:xfrm>
          <a:prstGeom prst="rect">
            <a:avLst/>
          </a:prstGeom>
        </p:spPr>
        <p:txBody>
          <a:bodyPr vert="horz" wrap="square" lIns="0" tIns="12065" rIns="0" bIns="0" rtlCol="0">
            <a:spAutoFit/>
          </a:bodyPr>
          <a:lstStyle/>
          <a:p>
            <a:pPr marL="12700">
              <a:lnSpc>
                <a:spcPct val="100000"/>
              </a:lnSpc>
              <a:spcBef>
                <a:spcPts val="95"/>
              </a:spcBef>
              <a:tabLst>
                <a:tab pos="1254125" algn="l"/>
                <a:tab pos="2973705" algn="l"/>
              </a:tabLst>
            </a:pPr>
            <a:r>
              <a:rPr sz="2800" spc="-190" dirty="0">
                <a:latin typeface="Times New Roman"/>
                <a:cs typeface="Times New Roman"/>
              </a:rPr>
              <a:t>T</a:t>
            </a:r>
            <a:r>
              <a:rPr sz="2800" spc="-5" dirty="0">
                <a:latin typeface="Times New Roman"/>
                <a:cs typeface="Times New Roman"/>
              </a:rPr>
              <a:t>y</a:t>
            </a:r>
            <a:r>
              <a:rPr sz="2800" dirty="0">
                <a:latin typeface="Times New Roman"/>
                <a:cs typeface="Times New Roman"/>
              </a:rPr>
              <a:t>p</a:t>
            </a:r>
            <a:r>
              <a:rPr sz="2800" spc="-5" dirty="0">
                <a:latin typeface="Times New Roman"/>
                <a:cs typeface="Times New Roman"/>
              </a:rPr>
              <a:t>es,</a:t>
            </a:r>
            <a:r>
              <a:rPr sz="2800" dirty="0">
                <a:latin typeface="Times New Roman"/>
                <a:cs typeface="Times New Roman"/>
              </a:rPr>
              <a:t>	</a:t>
            </a:r>
            <a:r>
              <a:rPr sz="2800" spc="-320" dirty="0">
                <a:latin typeface="Times New Roman"/>
                <a:cs typeface="Times New Roman"/>
              </a:rPr>
              <a:t>V</a:t>
            </a:r>
            <a:r>
              <a:rPr sz="2800" spc="-5" dirty="0">
                <a:latin typeface="Times New Roman"/>
                <a:cs typeface="Times New Roman"/>
              </a:rPr>
              <a:t>a</a:t>
            </a:r>
            <a:r>
              <a:rPr sz="2800" spc="5" dirty="0">
                <a:latin typeface="Times New Roman"/>
                <a:cs typeface="Times New Roman"/>
              </a:rPr>
              <a:t>r</a:t>
            </a:r>
            <a:r>
              <a:rPr sz="2800" spc="-5" dirty="0">
                <a:latin typeface="Times New Roman"/>
                <a:cs typeface="Times New Roman"/>
              </a:rPr>
              <a:t>ia</a:t>
            </a:r>
            <a:r>
              <a:rPr sz="2800" dirty="0">
                <a:latin typeface="Times New Roman"/>
                <a:cs typeface="Times New Roman"/>
              </a:rPr>
              <a:t>b</a:t>
            </a:r>
            <a:r>
              <a:rPr sz="2800" spc="-5" dirty="0">
                <a:latin typeface="Times New Roman"/>
                <a:cs typeface="Times New Roman"/>
              </a:rPr>
              <a:t>le</a:t>
            </a:r>
            <a:r>
              <a:rPr sz="2800" dirty="0">
                <a:latin typeface="Times New Roman"/>
                <a:cs typeface="Times New Roman"/>
              </a:rPr>
              <a:t>s</a:t>
            </a:r>
            <a:r>
              <a:rPr sz="2800" spc="-5" dirty="0">
                <a:latin typeface="Times New Roman"/>
                <a:cs typeface="Times New Roman"/>
              </a:rPr>
              <a:t>,</a:t>
            </a:r>
            <a:r>
              <a:rPr sz="2800" dirty="0">
                <a:latin typeface="Times New Roman"/>
                <a:cs typeface="Times New Roman"/>
              </a:rPr>
              <a:t>	</a:t>
            </a:r>
            <a:r>
              <a:rPr sz="2800" spc="-15" dirty="0">
                <a:latin typeface="Times New Roman"/>
                <a:cs typeface="Times New Roman"/>
              </a:rPr>
              <a:t>and</a:t>
            </a:r>
            <a:endParaRPr sz="2800">
              <a:latin typeface="Times New Roman"/>
              <a:cs typeface="Times New Roman"/>
            </a:endParaRPr>
          </a:p>
        </p:txBody>
      </p:sp>
      <p:sp>
        <p:nvSpPr>
          <p:cNvPr id="9" name="object 9"/>
          <p:cNvSpPr txBox="1"/>
          <p:nvPr/>
        </p:nvSpPr>
        <p:spPr>
          <a:xfrm>
            <a:off x="1011732" y="2901518"/>
            <a:ext cx="7676515" cy="1305560"/>
          </a:xfrm>
          <a:prstGeom prst="rect">
            <a:avLst/>
          </a:prstGeom>
        </p:spPr>
        <p:txBody>
          <a:bodyPr vert="horz" wrap="square" lIns="0" tIns="12065" rIns="0" bIns="0" rtlCol="0">
            <a:spAutoFit/>
          </a:bodyPr>
          <a:lstStyle/>
          <a:p>
            <a:pPr marL="12700" marR="5080" algn="just">
              <a:lnSpc>
                <a:spcPct val="100000"/>
              </a:lnSpc>
              <a:spcBef>
                <a:spcPts val="95"/>
              </a:spcBef>
            </a:pPr>
            <a:r>
              <a:rPr sz="2800" spc="-5" dirty="0">
                <a:latin typeface="Times New Roman"/>
                <a:cs typeface="Times New Roman"/>
              </a:rPr>
              <a:t>Arrays:</a:t>
            </a:r>
            <a:r>
              <a:rPr sz="2800" dirty="0">
                <a:latin typeface="Times New Roman"/>
                <a:cs typeface="Times New Roman"/>
              </a:rPr>
              <a:t> </a:t>
            </a:r>
            <a:r>
              <a:rPr sz="2800" spc="-5" dirty="0">
                <a:latin typeface="Times New Roman"/>
                <a:cs typeface="Times New Roman"/>
              </a:rPr>
              <a:t>Java</a:t>
            </a:r>
            <a:r>
              <a:rPr sz="2800" dirty="0">
                <a:latin typeface="Times New Roman"/>
                <a:cs typeface="Times New Roman"/>
              </a:rPr>
              <a:t> </a:t>
            </a:r>
            <a:r>
              <a:rPr sz="2800" spc="-5" dirty="0">
                <a:latin typeface="Times New Roman"/>
                <a:cs typeface="Times New Roman"/>
              </a:rPr>
              <a:t>Is</a:t>
            </a:r>
            <a:r>
              <a:rPr sz="2800" dirty="0">
                <a:latin typeface="Times New Roman"/>
                <a:cs typeface="Times New Roman"/>
              </a:rPr>
              <a:t> </a:t>
            </a:r>
            <a:r>
              <a:rPr sz="2800" spc="-5" dirty="0">
                <a:latin typeface="Times New Roman"/>
                <a:cs typeface="Times New Roman"/>
              </a:rPr>
              <a:t>a</a:t>
            </a:r>
            <a:r>
              <a:rPr sz="2800" dirty="0">
                <a:latin typeface="Times New Roman"/>
                <a:cs typeface="Times New Roman"/>
              </a:rPr>
              <a:t> Strongly</a:t>
            </a:r>
            <a:r>
              <a:rPr sz="2800" spc="5" dirty="0">
                <a:latin typeface="Times New Roman"/>
                <a:cs typeface="Times New Roman"/>
              </a:rPr>
              <a:t> </a:t>
            </a:r>
            <a:r>
              <a:rPr sz="2800" spc="-40" dirty="0">
                <a:latin typeface="Times New Roman"/>
                <a:cs typeface="Times New Roman"/>
              </a:rPr>
              <a:t>Typed</a:t>
            </a:r>
            <a:r>
              <a:rPr sz="2800" spc="-35" dirty="0">
                <a:latin typeface="Times New Roman"/>
                <a:cs typeface="Times New Roman"/>
              </a:rPr>
              <a:t> </a:t>
            </a:r>
            <a:r>
              <a:rPr sz="2800" dirty="0">
                <a:latin typeface="Times New Roman"/>
                <a:cs typeface="Times New Roman"/>
              </a:rPr>
              <a:t>Language,</a:t>
            </a:r>
            <a:r>
              <a:rPr sz="2800" spc="5" dirty="0">
                <a:latin typeface="Times New Roman"/>
                <a:cs typeface="Times New Roman"/>
              </a:rPr>
              <a:t> </a:t>
            </a:r>
            <a:r>
              <a:rPr sz="2800" spc="-5" dirty="0">
                <a:latin typeface="Times New Roman"/>
                <a:cs typeface="Times New Roman"/>
              </a:rPr>
              <a:t>The </a:t>
            </a:r>
            <a:r>
              <a:rPr sz="2800" dirty="0">
                <a:latin typeface="Times New Roman"/>
                <a:cs typeface="Times New Roman"/>
              </a:rPr>
              <a:t> </a:t>
            </a:r>
            <a:r>
              <a:rPr sz="2800" spc="-5" dirty="0">
                <a:latin typeface="Times New Roman"/>
                <a:cs typeface="Times New Roman"/>
              </a:rPr>
              <a:t>Primitive</a:t>
            </a:r>
            <a:r>
              <a:rPr sz="2800" dirty="0">
                <a:latin typeface="Times New Roman"/>
                <a:cs typeface="Times New Roman"/>
              </a:rPr>
              <a:t> </a:t>
            </a:r>
            <a:r>
              <a:rPr sz="2800" spc="-35" dirty="0">
                <a:latin typeface="Times New Roman"/>
                <a:cs typeface="Times New Roman"/>
              </a:rPr>
              <a:t>Types,</a:t>
            </a:r>
            <a:r>
              <a:rPr sz="2800" spc="-30" dirty="0">
                <a:latin typeface="Times New Roman"/>
                <a:cs typeface="Times New Roman"/>
              </a:rPr>
              <a:t> </a:t>
            </a:r>
            <a:r>
              <a:rPr sz="2800" spc="-5" dirty="0">
                <a:latin typeface="Times New Roman"/>
                <a:cs typeface="Times New Roman"/>
              </a:rPr>
              <a:t>Integers,</a:t>
            </a:r>
            <a:r>
              <a:rPr sz="2800" dirty="0">
                <a:latin typeface="Times New Roman"/>
                <a:cs typeface="Times New Roman"/>
              </a:rPr>
              <a:t> </a:t>
            </a:r>
            <a:r>
              <a:rPr sz="2800" spc="-5" dirty="0">
                <a:latin typeface="Times New Roman"/>
                <a:cs typeface="Times New Roman"/>
              </a:rPr>
              <a:t>Floating-Point</a:t>
            </a:r>
            <a:r>
              <a:rPr sz="2800" dirty="0">
                <a:latin typeface="Times New Roman"/>
                <a:cs typeface="Times New Roman"/>
              </a:rPr>
              <a:t> </a:t>
            </a:r>
            <a:r>
              <a:rPr sz="2800" spc="-35" dirty="0">
                <a:latin typeface="Times New Roman"/>
                <a:cs typeface="Times New Roman"/>
              </a:rPr>
              <a:t>Types, </a:t>
            </a:r>
            <a:r>
              <a:rPr sz="2800" spc="-30" dirty="0">
                <a:latin typeface="Times New Roman"/>
                <a:cs typeface="Times New Roman"/>
              </a:rPr>
              <a:t> </a:t>
            </a:r>
            <a:r>
              <a:rPr sz="2800" spc="-5" dirty="0">
                <a:latin typeface="Times New Roman"/>
                <a:cs typeface="Times New Roman"/>
              </a:rPr>
              <a:t>Chara</a:t>
            </a:r>
            <a:r>
              <a:rPr sz="2800" spc="-20" dirty="0">
                <a:latin typeface="Times New Roman"/>
                <a:cs typeface="Times New Roman"/>
              </a:rPr>
              <a:t>c</a:t>
            </a:r>
            <a:r>
              <a:rPr sz="2800" spc="-5" dirty="0">
                <a:latin typeface="Times New Roman"/>
                <a:cs typeface="Times New Roman"/>
              </a:rPr>
              <a:t>ters,</a:t>
            </a:r>
            <a:r>
              <a:rPr sz="2800" spc="10" dirty="0">
                <a:latin typeface="Times New Roman"/>
                <a:cs typeface="Times New Roman"/>
              </a:rPr>
              <a:t> </a:t>
            </a:r>
            <a:r>
              <a:rPr sz="2800" spc="-5" dirty="0">
                <a:latin typeface="Times New Roman"/>
                <a:cs typeface="Times New Roman"/>
              </a:rPr>
              <a:t>Bo</a:t>
            </a:r>
            <a:r>
              <a:rPr sz="2800" spc="5" dirty="0">
                <a:latin typeface="Times New Roman"/>
                <a:cs typeface="Times New Roman"/>
              </a:rPr>
              <a:t>o</a:t>
            </a:r>
            <a:r>
              <a:rPr sz="2800" spc="-5" dirty="0">
                <a:latin typeface="Times New Roman"/>
                <a:cs typeface="Times New Roman"/>
              </a:rPr>
              <a:t>lean</a:t>
            </a:r>
            <a:r>
              <a:rPr sz="2800" spc="5" dirty="0">
                <a:latin typeface="Times New Roman"/>
                <a:cs typeface="Times New Roman"/>
              </a:rPr>
              <a:t>s</a:t>
            </a:r>
            <a:r>
              <a:rPr sz="2800" spc="-5" dirty="0">
                <a:latin typeface="Times New Roman"/>
                <a:cs typeface="Times New Roman"/>
              </a:rPr>
              <a:t>,</a:t>
            </a:r>
            <a:r>
              <a:rPr sz="2800" spc="-80" dirty="0">
                <a:latin typeface="Times New Roman"/>
                <a:cs typeface="Times New Roman"/>
              </a:rPr>
              <a:t> </a:t>
            </a:r>
            <a:r>
              <a:rPr sz="2800" spc="-325" dirty="0">
                <a:latin typeface="Times New Roman"/>
                <a:cs typeface="Times New Roman"/>
              </a:rPr>
              <a:t>V</a:t>
            </a:r>
            <a:r>
              <a:rPr sz="2800" spc="-5" dirty="0">
                <a:latin typeface="Times New Roman"/>
                <a:cs typeface="Times New Roman"/>
              </a:rPr>
              <a:t>ariables,</a:t>
            </a:r>
            <a:r>
              <a:rPr sz="2800" spc="-155" dirty="0">
                <a:latin typeface="Times New Roman"/>
                <a:cs typeface="Times New Roman"/>
              </a:rPr>
              <a:t> </a:t>
            </a:r>
            <a:r>
              <a:rPr sz="2800" spc="-5" dirty="0">
                <a:latin typeface="Times New Roman"/>
                <a:cs typeface="Times New Roman"/>
              </a:rPr>
              <a:t>Array</a:t>
            </a:r>
            <a:r>
              <a:rPr sz="2800" dirty="0">
                <a:latin typeface="Times New Roman"/>
                <a:cs typeface="Times New Roman"/>
              </a:rPr>
              <a:t>s</a:t>
            </a:r>
            <a:r>
              <a:rPr sz="2800" spc="-5" dirty="0">
                <a:latin typeface="Times New Roman"/>
                <a:cs typeface="Times New Roman"/>
              </a:rPr>
              <a:t>,</a:t>
            </a:r>
            <a:r>
              <a:rPr sz="2800" spc="10" dirty="0">
                <a:latin typeface="Times New Roman"/>
                <a:cs typeface="Times New Roman"/>
              </a:rPr>
              <a:t> </a:t>
            </a:r>
            <a:r>
              <a:rPr sz="2800" spc="-5" dirty="0">
                <a:latin typeface="Times New Roman"/>
                <a:cs typeface="Times New Roman"/>
              </a:rPr>
              <a:t>and</a:t>
            </a:r>
            <a:r>
              <a:rPr sz="2800" dirty="0">
                <a:latin typeface="Times New Roman"/>
                <a:cs typeface="Times New Roman"/>
              </a:rPr>
              <a:t> </a:t>
            </a:r>
            <a:r>
              <a:rPr sz="2800" spc="-5" dirty="0">
                <a:latin typeface="Times New Roman"/>
                <a:cs typeface="Times New Roman"/>
              </a:rPr>
              <a:t>St</a:t>
            </a:r>
            <a:r>
              <a:rPr sz="2800" spc="5" dirty="0">
                <a:latin typeface="Times New Roman"/>
                <a:cs typeface="Times New Roman"/>
              </a:rPr>
              <a:t>r</a:t>
            </a:r>
            <a:r>
              <a:rPr sz="2800" spc="-5" dirty="0">
                <a:latin typeface="Times New Roman"/>
                <a:cs typeface="Times New Roman"/>
              </a:rPr>
              <a:t>i</a:t>
            </a:r>
            <a:r>
              <a:rPr sz="2800" dirty="0">
                <a:latin typeface="Times New Roman"/>
                <a:cs typeface="Times New Roman"/>
              </a:rPr>
              <a:t>n</a:t>
            </a:r>
            <a:r>
              <a:rPr sz="2800" spc="-5" dirty="0">
                <a:latin typeface="Times New Roman"/>
                <a:cs typeface="Times New Roman"/>
              </a:rPr>
              <a:t>g</a:t>
            </a:r>
            <a:r>
              <a:rPr sz="2800" spc="10" dirty="0">
                <a:latin typeface="Times New Roman"/>
                <a:cs typeface="Times New Roman"/>
              </a:rPr>
              <a:t>s</a:t>
            </a:r>
            <a:r>
              <a:rPr sz="2800" spc="-5" dirty="0">
                <a:latin typeface="Times New Roman"/>
                <a:cs typeface="Times New Roman"/>
              </a:rPr>
              <a:t>.</a:t>
            </a:r>
            <a:endParaRPr sz="2800">
              <a:latin typeface="Times New Roman"/>
              <a:cs typeface="Times New Roman"/>
            </a:endParaRPr>
          </a:p>
        </p:txBody>
      </p:sp>
      <p:sp>
        <p:nvSpPr>
          <p:cNvPr id="10" name="object 10"/>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4923790" cy="697230"/>
          </a:xfrm>
          <a:prstGeom prst="rect">
            <a:avLst/>
          </a:prstGeom>
        </p:spPr>
        <p:txBody>
          <a:bodyPr vert="horz" wrap="square" lIns="0" tIns="13335" rIns="0" bIns="0" rtlCol="0">
            <a:spAutoFit/>
          </a:bodyPr>
          <a:lstStyle/>
          <a:p>
            <a:pPr marL="12700">
              <a:lnSpc>
                <a:spcPct val="100000"/>
              </a:lnSpc>
              <a:spcBef>
                <a:spcPts val="105"/>
              </a:spcBef>
            </a:pPr>
            <a:r>
              <a:rPr sz="4400" b="1" spc="-5" dirty="0">
                <a:latin typeface="Times New Roman"/>
                <a:cs typeface="Times New Roman"/>
              </a:rPr>
              <a:t>Introduction</a:t>
            </a:r>
            <a:r>
              <a:rPr sz="4400" b="1" spc="-70" dirty="0">
                <a:latin typeface="Times New Roman"/>
                <a:cs typeface="Times New Roman"/>
              </a:rPr>
              <a:t> </a:t>
            </a:r>
            <a:r>
              <a:rPr sz="4400" b="1" dirty="0">
                <a:latin typeface="Times New Roman"/>
                <a:cs typeface="Times New Roman"/>
              </a:rPr>
              <a:t>to</a:t>
            </a:r>
            <a:r>
              <a:rPr sz="4400" b="1" spc="-40" dirty="0">
                <a:latin typeface="Times New Roman"/>
                <a:cs typeface="Times New Roman"/>
              </a:rPr>
              <a:t> </a:t>
            </a:r>
            <a:r>
              <a:rPr sz="4400" b="1" dirty="0">
                <a:latin typeface="Times New Roman"/>
                <a:cs typeface="Times New Roman"/>
              </a:rPr>
              <a:t>Java</a:t>
            </a:r>
            <a:endParaRPr sz="4400">
              <a:latin typeface="Times New Roman"/>
              <a:cs typeface="Times New Roman"/>
            </a:endParaRPr>
          </a:p>
        </p:txBody>
      </p:sp>
      <p:sp>
        <p:nvSpPr>
          <p:cNvPr id="3" name="object 3"/>
          <p:cNvSpPr txBox="1"/>
          <p:nvPr/>
        </p:nvSpPr>
        <p:spPr>
          <a:xfrm>
            <a:off x="307340" y="1620138"/>
            <a:ext cx="8759190" cy="2568575"/>
          </a:xfrm>
          <a:prstGeom prst="rect">
            <a:avLst/>
          </a:prstGeom>
        </p:spPr>
        <p:txBody>
          <a:bodyPr vert="horz" wrap="square" lIns="0" tIns="13335" rIns="0" bIns="0" rtlCol="0">
            <a:spAutoFit/>
          </a:bodyPr>
          <a:lstStyle/>
          <a:p>
            <a:pPr marL="332740" marR="5080" indent="-320040" algn="just">
              <a:lnSpc>
                <a:spcPct val="100000"/>
              </a:lnSpc>
              <a:spcBef>
                <a:spcPts val="105"/>
              </a:spcBef>
              <a:buClr>
                <a:srgbClr val="DD8046"/>
              </a:buClr>
              <a:buSzPct val="59375"/>
              <a:buFont typeface="Wingdings"/>
              <a:buChar char=""/>
              <a:tabLst>
                <a:tab pos="332740" algn="l"/>
              </a:tabLst>
            </a:pPr>
            <a:r>
              <a:rPr sz="3200" dirty="0">
                <a:latin typeface="Times New Roman"/>
                <a:cs typeface="Times New Roman"/>
              </a:rPr>
              <a:t>Java </a:t>
            </a:r>
            <a:r>
              <a:rPr sz="3200" spc="-5" dirty="0">
                <a:latin typeface="Times New Roman"/>
                <a:cs typeface="Times New Roman"/>
              </a:rPr>
              <a:t>is an </a:t>
            </a:r>
            <a:r>
              <a:rPr sz="3200" dirty="0">
                <a:latin typeface="Times New Roman"/>
                <a:cs typeface="Times New Roman"/>
              </a:rPr>
              <a:t>object-oriented </a:t>
            </a:r>
            <a:r>
              <a:rPr sz="3200" spc="-5" dirty="0">
                <a:latin typeface="Times New Roman"/>
                <a:cs typeface="Times New Roman"/>
              </a:rPr>
              <a:t>programming language </a:t>
            </a:r>
            <a:r>
              <a:rPr sz="3200" dirty="0">
                <a:latin typeface="Times New Roman"/>
                <a:cs typeface="Times New Roman"/>
              </a:rPr>
              <a:t> developed </a:t>
            </a:r>
            <a:r>
              <a:rPr sz="3200" spc="-5" dirty="0">
                <a:latin typeface="Times New Roman"/>
                <a:cs typeface="Times New Roman"/>
              </a:rPr>
              <a:t>by Sun </a:t>
            </a:r>
            <a:r>
              <a:rPr sz="3200" dirty="0">
                <a:latin typeface="Times New Roman"/>
                <a:cs typeface="Times New Roman"/>
              </a:rPr>
              <a:t>Microsystems, </a:t>
            </a:r>
            <a:r>
              <a:rPr sz="3200" spc="-5" dirty="0">
                <a:latin typeface="Times New Roman"/>
                <a:cs typeface="Times New Roman"/>
              </a:rPr>
              <a:t>initiated by </a:t>
            </a:r>
            <a:r>
              <a:rPr sz="2800" b="1" spc="-5" dirty="0">
                <a:latin typeface="Times New Roman"/>
                <a:cs typeface="Times New Roman"/>
              </a:rPr>
              <a:t>James </a:t>
            </a:r>
            <a:r>
              <a:rPr sz="2800" b="1" spc="-685" dirty="0">
                <a:latin typeface="Times New Roman"/>
                <a:cs typeface="Times New Roman"/>
              </a:rPr>
              <a:t> </a:t>
            </a:r>
            <a:r>
              <a:rPr sz="2800" b="1" spc="-5" dirty="0">
                <a:latin typeface="Times New Roman"/>
                <a:cs typeface="Times New Roman"/>
              </a:rPr>
              <a:t>Gosling</a:t>
            </a:r>
            <a:endParaRPr sz="2800">
              <a:latin typeface="Times New Roman"/>
              <a:cs typeface="Times New Roman"/>
            </a:endParaRPr>
          </a:p>
          <a:p>
            <a:pPr marL="332740" marR="6350" indent="-320040" algn="just">
              <a:lnSpc>
                <a:spcPct val="100000"/>
              </a:lnSpc>
              <a:spcBef>
                <a:spcPts val="1295"/>
              </a:spcBef>
              <a:buClr>
                <a:srgbClr val="DD8046"/>
              </a:buClr>
              <a:buSzPct val="59375"/>
              <a:buFont typeface="Wingdings"/>
              <a:buChar char=""/>
              <a:tabLst>
                <a:tab pos="332740" algn="l"/>
              </a:tabLst>
            </a:pPr>
            <a:r>
              <a:rPr sz="3200" dirty="0">
                <a:latin typeface="Times New Roman"/>
                <a:cs typeface="Times New Roman"/>
              </a:rPr>
              <a:t>This </a:t>
            </a:r>
            <a:r>
              <a:rPr sz="3200" spc="-5" dirty="0">
                <a:latin typeface="Times New Roman"/>
                <a:cs typeface="Times New Roman"/>
              </a:rPr>
              <a:t>language </a:t>
            </a:r>
            <a:r>
              <a:rPr sz="3200" dirty="0">
                <a:latin typeface="Times New Roman"/>
                <a:cs typeface="Times New Roman"/>
              </a:rPr>
              <a:t>was </a:t>
            </a:r>
            <a:r>
              <a:rPr sz="3200" spc="-5" dirty="0">
                <a:latin typeface="Times New Roman"/>
                <a:cs typeface="Times New Roman"/>
              </a:rPr>
              <a:t>initially called </a:t>
            </a:r>
            <a:r>
              <a:rPr sz="3200" dirty="0">
                <a:latin typeface="Times New Roman"/>
                <a:cs typeface="Times New Roman"/>
              </a:rPr>
              <a:t>“Oak,” but was </a:t>
            </a:r>
            <a:r>
              <a:rPr sz="3200" spc="5" dirty="0">
                <a:latin typeface="Times New Roman"/>
                <a:cs typeface="Times New Roman"/>
              </a:rPr>
              <a:t> </a:t>
            </a:r>
            <a:r>
              <a:rPr sz="3200" dirty="0">
                <a:latin typeface="Times New Roman"/>
                <a:cs typeface="Times New Roman"/>
              </a:rPr>
              <a:t>renamed</a:t>
            </a:r>
            <a:r>
              <a:rPr sz="3200" spc="-30" dirty="0">
                <a:latin typeface="Times New Roman"/>
                <a:cs typeface="Times New Roman"/>
              </a:rPr>
              <a:t> </a:t>
            </a:r>
            <a:r>
              <a:rPr sz="3200" dirty="0">
                <a:latin typeface="Times New Roman"/>
                <a:cs typeface="Times New Roman"/>
              </a:rPr>
              <a:t>“Java”</a:t>
            </a:r>
            <a:r>
              <a:rPr sz="3200" spc="5" dirty="0">
                <a:latin typeface="Times New Roman"/>
                <a:cs typeface="Times New Roman"/>
              </a:rPr>
              <a:t> </a:t>
            </a:r>
            <a:r>
              <a:rPr sz="3200" spc="-5" dirty="0">
                <a:latin typeface="Times New Roman"/>
                <a:cs typeface="Times New Roman"/>
              </a:rPr>
              <a:t>in </a:t>
            </a:r>
            <a:r>
              <a:rPr sz="3200" spc="5" dirty="0">
                <a:latin typeface="Times New Roman"/>
                <a:cs typeface="Times New Roman"/>
              </a:rPr>
              <a:t>1995</a:t>
            </a:r>
            <a:endParaRPr sz="3200">
              <a:latin typeface="Times New Roman"/>
              <a:cs typeface="Times New Roman"/>
            </a:endParaRPr>
          </a:p>
        </p:txBody>
      </p:sp>
      <p:pic>
        <p:nvPicPr>
          <p:cNvPr id="4" name="object 4"/>
          <p:cNvPicPr/>
          <p:nvPr/>
        </p:nvPicPr>
        <p:blipFill>
          <a:blip r:embed="rId2" cstate="print"/>
          <a:stretch>
            <a:fillRect/>
          </a:stretch>
        </p:blipFill>
        <p:spPr>
          <a:xfrm>
            <a:off x="7489325" y="362711"/>
            <a:ext cx="1273674" cy="803148"/>
          </a:xfrm>
          <a:prstGeom prst="rect">
            <a:avLst/>
          </a:prstGeom>
        </p:spPr>
      </p:pic>
      <p:pic>
        <p:nvPicPr>
          <p:cNvPr id="5" name="object 5"/>
          <p:cNvPicPr/>
          <p:nvPr/>
        </p:nvPicPr>
        <p:blipFill>
          <a:blip r:embed="rId3" cstate="print"/>
          <a:stretch>
            <a:fillRect/>
          </a:stretch>
        </p:blipFill>
        <p:spPr>
          <a:xfrm>
            <a:off x="6934200" y="3733800"/>
            <a:ext cx="2054352" cy="2819400"/>
          </a:xfrm>
          <a:prstGeom prst="rect">
            <a:avLst/>
          </a:prstGeom>
        </p:spPr>
      </p:pic>
      <p:sp>
        <p:nvSpPr>
          <p:cNvPr id="6" name="object 6"/>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6828155" cy="696595"/>
          </a:xfrm>
          <a:prstGeom prst="rect">
            <a:avLst/>
          </a:prstGeom>
        </p:spPr>
        <p:txBody>
          <a:bodyPr vert="horz" wrap="square" lIns="0" tIns="13335" rIns="0" bIns="0" rtlCol="0">
            <a:spAutoFit/>
          </a:bodyPr>
          <a:lstStyle/>
          <a:p>
            <a:pPr marL="12700">
              <a:lnSpc>
                <a:spcPct val="100000"/>
              </a:lnSpc>
              <a:spcBef>
                <a:spcPts val="105"/>
              </a:spcBef>
            </a:pPr>
            <a:r>
              <a:rPr sz="4400" dirty="0"/>
              <a:t>Object</a:t>
            </a:r>
            <a:r>
              <a:rPr sz="4400" spc="-40" dirty="0"/>
              <a:t> </a:t>
            </a:r>
            <a:r>
              <a:rPr sz="4400" dirty="0"/>
              <a:t>Oriented</a:t>
            </a:r>
            <a:r>
              <a:rPr sz="4400" spc="-45" dirty="0"/>
              <a:t> </a:t>
            </a:r>
            <a:r>
              <a:rPr sz="4400" dirty="0"/>
              <a:t>Programming</a:t>
            </a:r>
          </a:p>
        </p:txBody>
      </p:sp>
      <p:sp>
        <p:nvSpPr>
          <p:cNvPr id="3" name="object 3"/>
          <p:cNvSpPr txBox="1"/>
          <p:nvPr/>
        </p:nvSpPr>
        <p:spPr>
          <a:xfrm>
            <a:off x="691387" y="1530832"/>
            <a:ext cx="7997190" cy="3655060"/>
          </a:xfrm>
          <a:prstGeom prst="rect">
            <a:avLst/>
          </a:prstGeom>
        </p:spPr>
        <p:txBody>
          <a:bodyPr vert="horz" wrap="square" lIns="0" tIns="12700" rIns="0" bIns="0" rtlCol="0">
            <a:spAutoFit/>
          </a:bodyPr>
          <a:lstStyle/>
          <a:p>
            <a:pPr marL="333375" marR="2782570" indent="-333375">
              <a:lnSpc>
                <a:spcPct val="120300"/>
              </a:lnSpc>
              <a:spcBef>
                <a:spcPts val="100"/>
              </a:spcBef>
              <a:buClr>
                <a:srgbClr val="DD8046"/>
              </a:buClr>
              <a:buSzPct val="60344"/>
              <a:buFont typeface="Wingdings"/>
              <a:buChar char=""/>
              <a:tabLst>
                <a:tab pos="333375" algn="l"/>
              </a:tabLst>
            </a:pPr>
            <a:r>
              <a:rPr sz="2900" b="1" dirty="0">
                <a:latin typeface="Times New Roman"/>
                <a:cs typeface="Times New Roman"/>
              </a:rPr>
              <a:t>Object</a:t>
            </a:r>
            <a:r>
              <a:rPr sz="2900" b="1" spc="-40" dirty="0">
                <a:latin typeface="Times New Roman"/>
                <a:cs typeface="Times New Roman"/>
              </a:rPr>
              <a:t> </a:t>
            </a:r>
            <a:r>
              <a:rPr sz="2900" spc="-10" dirty="0">
                <a:latin typeface="Times New Roman"/>
                <a:cs typeface="Times New Roman"/>
              </a:rPr>
              <a:t>means</a:t>
            </a:r>
            <a:r>
              <a:rPr sz="2900" spc="15" dirty="0">
                <a:latin typeface="Times New Roman"/>
                <a:cs typeface="Times New Roman"/>
              </a:rPr>
              <a:t> </a:t>
            </a:r>
            <a:r>
              <a:rPr sz="2900" dirty="0">
                <a:latin typeface="Times New Roman"/>
                <a:cs typeface="Times New Roman"/>
              </a:rPr>
              <a:t>a</a:t>
            </a:r>
            <a:r>
              <a:rPr sz="2900" spc="-10" dirty="0">
                <a:latin typeface="Times New Roman"/>
                <a:cs typeface="Times New Roman"/>
              </a:rPr>
              <a:t> </a:t>
            </a:r>
            <a:r>
              <a:rPr sz="2900" dirty="0">
                <a:latin typeface="Times New Roman"/>
                <a:cs typeface="Times New Roman"/>
              </a:rPr>
              <a:t>real</a:t>
            </a:r>
            <a:r>
              <a:rPr sz="2900" spc="-25" dirty="0">
                <a:latin typeface="Times New Roman"/>
                <a:cs typeface="Times New Roman"/>
              </a:rPr>
              <a:t> </a:t>
            </a:r>
            <a:r>
              <a:rPr sz="2900" dirty="0">
                <a:latin typeface="Times New Roman"/>
                <a:cs typeface="Times New Roman"/>
              </a:rPr>
              <a:t>world</a:t>
            </a:r>
            <a:r>
              <a:rPr sz="2900" spc="-25" dirty="0">
                <a:latin typeface="Times New Roman"/>
                <a:cs typeface="Times New Roman"/>
              </a:rPr>
              <a:t> </a:t>
            </a:r>
            <a:r>
              <a:rPr sz="2900" spc="-5" dirty="0">
                <a:latin typeface="Times New Roman"/>
                <a:cs typeface="Times New Roman"/>
              </a:rPr>
              <a:t>entity </a:t>
            </a:r>
            <a:r>
              <a:rPr sz="2900" spc="-710" dirty="0">
                <a:latin typeface="Times New Roman"/>
                <a:cs typeface="Times New Roman"/>
              </a:rPr>
              <a:t> </a:t>
            </a:r>
            <a:r>
              <a:rPr sz="2900" dirty="0">
                <a:latin typeface="Times New Roman"/>
                <a:cs typeface="Times New Roman"/>
              </a:rPr>
              <a:t>such</a:t>
            </a:r>
            <a:r>
              <a:rPr sz="2900" spc="-40" dirty="0">
                <a:latin typeface="Times New Roman"/>
                <a:cs typeface="Times New Roman"/>
              </a:rPr>
              <a:t> </a:t>
            </a:r>
            <a:r>
              <a:rPr sz="2900" dirty="0">
                <a:latin typeface="Times New Roman"/>
                <a:cs typeface="Times New Roman"/>
              </a:rPr>
              <a:t>as</a:t>
            </a:r>
            <a:r>
              <a:rPr sz="2900" spc="-5" dirty="0">
                <a:latin typeface="Times New Roman"/>
                <a:cs typeface="Times New Roman"/>
              </a:rPr>
              <a:t> </a:t>
            </a:r>
            <a:r>
              <a:rPr sz="2900" dirty="0">
                <a:latin typeface="Times New Roman"/>
                <a:cs typeface="Times New Roman"/>
              </a:rPr>
              <a:t>pen,</a:t>
            </a:r>
            <a:r>
              <a:rPr sz="2900" spc="-5" dirty="0">
                <a:latin typeface="Times New Roman"/>
                <a:cs typeface="Times New Roman"/>
              </a:rPr>
              <a:t> </a:t>
            </a:r>
            <a:r>
              <a:rPr sz="2900" spc="-25" dirty="0">
                <a:latin typeface="Times New Roman"/>
                <a:cs typeface="Times New Roman"/>
              </a:rPr>
              <a:t>chair,</a:t>
            </a:r>
            <a:r>
              <a:rPr sz="2900" spc="-20" dirty="0">
                <a:latin typeface="Times New Roman"/>
                <a:cs typeface="Times New Roman"/>
              </a:rPr>
              <a:t> </a:t>
            </a:r>
            <a:r>
              <a:rPr sz="2900" spc="-5" dirty="0">
                <a:latin typeface="Times New Roman"/>
                <a:cs typeface="Times New Roman"/>
              </a:rPr>
              <a:t>table</a:t>
            </a:r>
            <a:r>
              <a:rPr sz="2900" spc="-20" dirty="0">
                <a:latin typeface="Times New Roman"/>
                <a:cs typeface="Times New Roman"/>
              </a:rPr>
              <a:t> </a:t>
            </a:r>
            <a:r>
              <a:rPr sz="2900" spc="-5" dirty="0">
                <a:latin typeface="Times New Roman"/>
                <a:cs typeface="Times New Roman"/>
              </a:rPr>
              <a:t>etc.</a:t>
            </a:r>
            <a:endParaRPr sz="2900">
              <a:latin typeface="Times New Roman"/>
              <a:cs typeface="Times New Roman"/>
            </a:endParaRPr>
          </a:p>
          <a:p>
            <a:pPr>
              <a:lnSpc>
                <a:spcPct val="100000"/>
              </a:lnSpc>
              <a:buClr>
                <a:srgbClr val="DD8046"/>
              </a:buClr>
              <a:buFont typeface="Wingdings"/>
              <a:buChar char=""/>
            </a:pPr>
            <a:endParaRPr sz="3200">
              <a:latin typeface="Times New Roman"/>
              <a:cs typeface="Times New Roman"/>
            </a:endParaRPr>
          </a:p>
          <a:p>
            <a:pPr>
              <a:lnSpc>
                <a:spcPct val="100000"/>
              </a:lnSpc>
              <a:spcBef>
                <a:spcPts val="35"/>
              </a:spcBef>
              <a:buClr>
                <a:srgbClr val="DD8046"/>
              </a:buClr>
              <a:buFont typeface="Wingdings"/>
              <a:buChar char=""/>
            </a:pPr>
            <a:endParaRPr sz="4650">
              <a:latin typeface="Times New Roman"/>
              <a:cs typeface="Times New Roman"/>
            </a:endParaRPr>
          </a:p>
          <a:p>
            <a:pPr marL="332740" indent="-320675">
              <a:lnSpc>
                <a:spcPct val="100000"/>
              </a:lnSpc>
              <a:buClr>
                <a:srgbClr val="DD8046"/>
              </a:buClr>
              <a:buSzPct val="60344"/>
              <a:buFont typeface="Wingdings"/>
              <a:buChar char=""/>
              <a:tabLst>
                <a:tab pos="333375" algn="l"/>
              </a:tabLst>
            </a:pPr>
            <a:r>
              <a:rPr sz="2900" b="1" spc="-5" dirty="0">
                <a:latin typeface="Times New Roman"/>
                <a:cs typeface="Times New Roman"/>
              </a:rPr>
              <a:t>Object-Oriented</a:t>
            </a:r>
            <a:r>
              <a:rPr sz="2900" b="1" spc="-35" dirty="0">
                <a:latin typeface="Times New Roman"/>
                <a:cs typeface="Times New Roman"/>
              </a:rPr>
              <a:t> </a:t>
            </a:r>
            <a:r>
              <a:rPr sz="2900" b="1" spc="-5" dirty="0">
                <a:latin typeface="Times New Roman"/>
                <a:cs typeface="Times New Roman"/>
              </a:rPr>
              <a:t>Programming</a:t>
            </a:r>
            <a:endParaRPr sz="2900">
              <a:latin typeface="Times New Roman"/>
              <a:cs typeface="Times New Roman"/>
            </a:endParaRPr>
          </a:p>
          <a:p>
            <a:pPr marL="927100" marR="5080">
              <a:lnSpc>
                <a:spcPct val="100000"/>
              </a:lnSpc>
              <a:spcBef>
                <a:spcPts val="695"/>
              </a:spcBef>
              <a:tabLst>
                <a:tab pos="1400810" algn="l"/>
                <a:tab pos="1793875" algn="l"/>
                <a:tab pos="3963670" algn="l"/>
                <a:tab pos="4498340" algn="l"/>
                <a:tab pos="6115685" algn="l"/>
                <a:tab pos="6629400" algn="l"/>
                <a:tab pos="7820025" algn="l"/>
              </a:tabLst>
            </a:pPr>
            <a:r>
              <a:rPr sz="2900" spc="-5" dirty="0">
                <a:latin typeface="Times New Roman"/>
                <a:cs typeface="Times New Roman"/>
              </a:rPr>
              <a:t>i</a:t>
            </a:r>
            <a:r>
              <a:rPr sz="2900" dirty="0">
                <a:latin typeface="Times New Roman"/>
                <a:cs typeface="Times New Roman"/>
              </a:rPr>
              <a:t>s	a	</a:t>
            </a:r>
            <a:r>
              <a:rPr sz="2900" spc="-40" dirty="0">
                <a:latin typeface="Times New Roman"/>
                <a:cs typeface="Times New Roman"/>
              </a:rPr>
              <a:t>m</a:t>
            </a:r>
            <a:r>
              <a:rPr sz="2900" dirty="0">
                <a:latin typeface="Times New Roman"/>
                <a:cs typeface="Times New Roman"/>
              </a:rPr>
              <a:t>ethodolo</a:t>
            </a:r>
            <a:r>
              <a:rPr sz="2900" spc="-25" dirty="0">
                <a:latin typeface="Times New Roman"/>
                <a:cs typeface="Times New Roman"/>
              </a:rPr>
              <a:t>g</a:t>
            </a:r>
            <a:r>
              <a:rPr sz="2900" dirty="0">
                <a:latin typeface="Times New Roman"/>
                <a:cs typeface="Times New Roman"/>
              </a:rPr>
              <a:t>y	</a:t>
            </a:r>
            <a:r>
              <a:rPr sz="2900" spc="-15" dirty="0">
                <a:latin typeface="Times New Roman"/>
                <a:cs typeface="Times New Roman"/>
              </a:rPr>
              <a:t>o</a:t>
            </a:r>
            <a:r>
              <a:rPr sz="2900" dirty="0">
                <a:latin typeface="Times New Roman"/>
                <a:cs typeface="Times New Roman"/>
              </a:rPr>
              <a:t>r	p</a:t>
            </a:r>
            <a:r>
              <a:rPr sz="2900" spc="-25" dirty="0">
                <a:latin typeface="Times New Roman"/>
                <a:cs typeface="Times New Roman"/>
              </a:rPr>
              <a:t>a</a:t>
            </a:r>
            <a:r>
              <a:rPr sz="2900" dirty="0">
                <a:latin typeface="Times New Roman"/>
                <a:cs typeface="Times New Roman"/>
              </a:rPr>
              <a:t>radigm	</a:t>
            </a:r>
            <a:r>
              <a:rPr sz="2900" spc="-5" dirty="0">
                <a:latin typeface="Times New Roman"/>
                <a:cs typeface="Times New Roman"/>
              </a:rPr>
              <a:t>t</a:t>
            </a:r>
            <a:r>
              <a:rPr sz="2900" dirty="0">
                <a:latin typeface="Times New Roman"/>
                <a:cs typeface="Times New Roman"/>
              </a:rPr>
              <a:t>o	de</a:t>
            </a:r>
            <a:r>
              <a:rPr sz="2900" spc="-15" dirty="0">
                <a:latin typeface="Times New Roman"/>
                <a:cs typeface="Times New Roman"/>
              </a:rPr>
              <a:t>s</a:t>
            </a:r>
            <a:r>
              <a:rPr sz="2900" dirty="0">
                <a:latin typeface="Times New Roman"/>
                <a:cs typeface="Times New Roman"/>
              </a:rPr>
              <a:t>ign	a  program</a:t>
            </a:r>
            <a:r>
              <a:rPr sz="2900" spc="-30" dirty="0">
                <a:latin typeface="Times New Roman"/>
                <a:cs typeface="Times New Roman"/>
              </a:rPr>
              <a:t> </a:t>
            </a:r>
            <a:r>
              <a:rPr sz="2900" dirty="0">
                <a:latin typeface="Times New Roman"/>
                <a:cs typeface="Times New Roman"/>
              </a:rPr>
              <a:t>using</a:t>
            </a:r>
            <a:r>
              <a:rPr sz="2900" spc="-30" dirty="0">
                <a:latin typeface="Times New Roman"/>
                <a:cs typeface="Times New Roman"/>
              </a:rPr>
              <a:t> </a:t>
            </a:r>
            <a:r>
              <a:rPr sz="2900" spc="-5" dirty="0">
                <a:latin typeface="Times New Roman"/>
                <a:cs typeface="Times New Roman"/>
              </a:rPr>
              <a:t>classes</a:t>
            </a:r>
            <a:r>
              <a:rPr sz="2900" dirty="0">
                <a:latin typeface="Times New Roman"/>
                <a:cs typeface="Times New Roman"/>
              </a:rPr>
              <a:t> and</a:t>
            </a:r>
            <a:r>
              <a:rPr sz="2900" spc="-15" dirty="0">
                <a:latin typeface="Times New Roman"/>
                <a:cs typeface="Times New Roman"/>
              </a:rPr>
              <a:t> </a:t>
            </a:r>
            <a:r>
              <a:rPr sz="2900" spc="-5" dirty="0">
                <a:latin typeface="Times New Roman"/>
                <a:cs typeface="Times New Roman"/>
              </a:rPr>
              <a:t>objects.</a:t>
            </a:r>
            <a:endParaRPr sz="2900">
              <a:latin typeface="Times New Roman"/>
              <a:cs typeface="Times New Roman"/>
            </a:endParaRPr>
          </a:p>
        </p:txBody>
      </p:sp>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9" name="Rectangle 8"/>
          <p:cNvSpPr/>
          <p:nvPr/>
        </p:nvSpPr>
        <p:spPr>
          <a:xfrm>
            <a:off x="214985" y="1582341"/>
            <a:ext cx="8700415" cy="4770537"/>
          </a:xfrm>
          <a:prstGeom prst="rect">
            <a:avLst/>
          </a:prstGeom>
        </p:spPr>
        <p:txBody>
          <a:bodyPr wrap="square">
            <a:spAutoFit/>
          </a:bodyPr>
          <a:lstStyle/>
          <a:p>
            <a:r>
              <a:rPr lang="en-US" sz="2000" dirty="0">
                <a:solidFill>
                  <a:srgbClr val="000000"/>
                </a:solidFill>
                <a:latin typeface="-apple-system"/>
              </a:rPr>
              <a:t>The Java programming language can be characterized by the following buzzwords:</a:t>
            </a:r>
          </a:p>
          <a:p>
            <a:pPr marL="914400" lvl="1" indent="-457200">
              <a:buFont typeface="+mj-lt"/>
              <a:buAutoNum type="arabicPeriod"/>
            </a:pPr>
            <a:r>
              <a:rPr lang="en-US" sz="2400" dirty="0">
                <a:solidFill>
                  <a:srgbClr val="000000"/>
                </a:solidFill>
                <a:latin typeface="-apple-system"/>
              </a:rPr>
              <a:t>Simple</a:t>
            </a:r>
          </a:p>
          <a:p>
            <a:pPr marL="914400" lvl="1" indent="-457200">
              <a:buFont typeface="+mj-lt"/>
              <a:buAutoNum type="arabicPeriod"/>
            </a:pPr>
            <a:r>
              <a:rPr lang="en-US" sz="2400" dirty="0">
                <a:solidFill>
                  <a:srgbClr val="000000"/>
                </a:solidFill>
                <a:latin typeface="-apple-system"/>
              </a:rPr>
              <a:t>Object-Oriented</a:t>
            </a:r>
          </a:p>
          <a:p>
            <a:pPr marL="914400" lvl="1" indent="-457200">
              <a:buFont typeface="+mj-lt"/>
              <a:buAutoNum type="arabicPeriod"/>
            </a:pPr>
            <a:r>
              <a:rPr lang="en-US" sz="2400" dirty="0">
                <a:solidFill>
                  <a:srgbClr val="000000"/>
                </a:solidFill>
                <a:latin typeface="-apple-system"/>
              </a:rPr>
              <a:t>Distributed</a:t>
            </a:r>
          </a:p>
          <a:p>
            <a:pPr marL="914400" lvl="1" indent="-457200">
              <a:buFont typeface="+mj-lt"/>
              <a:buAutoNum type="arabicPeriod"/>
            </a:pPr>
            <a:r>
              <a:rPr lang="en-US" sz="2400" dirty="0">
                <a:solidFill>
                  <a:srgbClr val="000000"/>
                </a:solidFill>
                <a:latin typeface="-apple-system"/>
              </a:rPr>
              <a:t>Compiled and Interpreted</a:t>
            </a:r>
          </a:p>
          <a:p>
            <a:pPr marL="914400" lvl="1" indent="-457200">
              <a:buFont typeface="+mj-lt"/>
              <a:buAutoNum type="arabicPeriod"/>
            </a:pPr>
            <a:r>
              <a:rPr lang="en-US" sz="2400" dirty="0">
                <a:solidFill>
                  <a:srgbClr val="000000"/>
                </a:solidFill>
                <a:latin typeface="-apple-system"/>
              </a:rPr>
              <a:t>Robust</a:t>
            </a:r>
          </a:p>
          <a:p>
            <a:pPr marL="914400" lvl="1" indent="-457200">
              <a:buFont typeface="+mj-lt"/>
              <a:buAutoNum type="arabicPeriod"/>
            </a:pPr>
            <a:r>
              <a:rPr lang="en-US" sz="2400" dirty="0">
                <a:solidFill>
                  <a:srgbClr val="000000"/>
                </a:solidFill>
                <a:latin typeface="-apple-system"/>
              </a:rPr>
              <a:t>Secure</a:t>
            </a:r>
          </a:p>
          <a:p>
            <a:pPr marL="914400" lvl="1" indent="-457200">
              <a:buFont typeface="+mj-lt"/>
              <a:buAutoNum type="arabicPeriod"/>
            </a:pPr>
            <a:r>
              <a:rPr lang="en-US" sz="2400" dirty="0">
                <a:solidFill>
                  <a:srgbClr val="000000"/>
                </a:solidFill>
                <a:latin typeface="-apple-system"/>
              </a:rPr>
              <a:t>Architecture-Neutral</a:t>
            </a:r>
          </a:p>
          <a:p>
            <a:pPr marL="914400" lvl="1" indent="-457200">
              <a:buFont typeface="+mj-lt"/>
              <a:buAutoNum type="arabicPeriod"/>
            </a:pPr>
            <a:r>
              <a:rPr lang="en-US" sz="2400" dirty="0">
                <a:solidFill>
                  <a:srgbClr val="000000"/>
                </a:solidFill>
                <a:latin typeface="-apple-system"/>
              </a:rPr>
              <a:t>Portable</a:t>
            </a:r>
          </a:p>
          <a:p>
            <a:pPr marL="914400" lvl="1" indent="-457200">
              <a:buFont typeface="+mj-lt"/>
              <a:buAutoNum type="arabicPeriod"/>
            </a:pPr>
            <a:r>
              <a:rPr lang="en-US" sz="2400" dirty="0">
                <a:solidFill>
                  <a:srgbClr val="000000"/>
                </a:solidFill>
                <a:latin typeface="-apple-system"/>
              </a:rPr>
              <a:t>High Performance</a:t>
            </a:r>
          </a:p>
          <a:p>
            <a:pPr marL="914400" lvl="1" indent="-457200">
              <a:buFont typeface="+mj-lt"/>
              <a:buAutoNum type="arabicPeriod"/>
            </a:pPr>
            <a:r>
              <a:rPr lang="en-US" sz="2400" dirty="0">
                <a:solidFill>
                  <a:srgbClr val="000000"/>
                </a:solidFill>
                <a:latin typeface="-apple-system"/>
              </a:rPr>
              <a:t>Multithreaded</a:t>
            </a:r>
          </a:p>
          <a:p>
            <a:pPr marL="914400" lvl="1" indent="-457200">
              <a:buFont typeface="+mj-lt"/>
              <a:buAutoNum type="arabicPeriod"/>
            </a:pPr>
            <a:r>
              <a:rPr lang="en-US" sz="2400" dirty="0">
                <a:solidFill>
                  <a:srgbClr val="000000"/>
                </a:solidFill>
                <a:latin typeface="-apple-system"/>
              </a:rPr>
              <a:t>Dynamic</a:t>
            </a:r>
            <a:endParaRPr lang="en-US" sz="2400" b="0" i="0" dirty="0">
              <a:solidFill>
                <a:srgbClr val="000000"/>
              </a:solidFill>
              <a:effectLst/>
              <a:latin typeface="-apple-system"/>
            </a:endParaRPr>
          </a:p>
        </p:txBody>
      </p:sp>
      <p:sp>
        <p:nvSpPr>
          <p:cNvPr id="11" name="Rectangle 10"/>
          <p:cNvSpPr/>
          <p:nvPr/>
        </p:nvSpPr>
        <p:spPr>
          <a:xfrm>
            <a:off x="5195574" y="2438400"/>
            <a:ext cx="3740608" cy="1200329"/>
          </a:xfrm>
          <a:prstGeom prst="rect">
            <a:avLst/>
          </a:prstGeom>
        </p:spPr>
        <p:txBody>
          <a:bodyPr wrap="square">
            <a:spAutoFit/>
          </a:bodyPr>
          <a:lstStyle/>
          <a:p>
            <a:r>
              <a:rPr lang="en-US" dirty="0">
                <a:solidFill>
                  <a:srgbClr val="4D5156"/>
                </a:solidFill>
                <a:latin typeface="Arial" panose="020B0604020202020204" pitchFamily="34" charset="0"/>
              </a:rPr>
              <a:t>A buzzword is </a:t>
            </a:r>
            <a:r>
              <a:rPr lang="en-US" b="1" dirty="0">
                <a:solidFill>
                  <a:srgbClr val="5F6368"/>
                </a:solidFill>
                <a:latin typeface="Arial" panose="020B0604020202020204" pitchFamily="34" charset="0"/>
              </a:rPr>
              <a:t>a word or phrase, new or already existing, that becomes popular for a period of time</a:t>
            </a:r>
            <a:endParaRPr lang="en-IN" dirty="0"/>
          </a:p>
        </p:txBody>
      </p:sp>
    </p:spTree>
    <p:extLst>
      <p:ext uri="{BB962C8B-B14F-4D97-AF65-F5344CB8AC3E}">
        <p14:creationId xmlns:p14="http://schemas.microsoft.com/office/powerpoint/2010/main" val="20270262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2" name="Rectangle 1"/>
          <p:cNvSpPr/>
          <p:nvPr/>
        </p:nvSpPr>
        <p:spPr>
          <a:xfrm>
            <a:off x="533400" y="1905000"/>
            <a:ext cx="8001000" cy="4394280"/>
          </a:xfrm>
          <a:prstGeom prst="rect">
            <a:avLst/>
          </a:prstGeom>
        </p:spPr>
        <p:txBody>
          <a:bodyPr wrap="square">
            <a:spAutoFit/>
          </a:bodyPr>
          <a:lstStyle/>
          <a:p>
            <a:pPr algn="just"/>
            <a:r>
              <a:rPr lang="en-US" sz="3200" b="1" dirty="0">
                <a:solidFill>
                  <a:srgbClr val="000000"/>
                </a:solidFill>
                <a:latin typeface="-apple-system"/>
              </a:rPr>
              <a:t>Simple</a:t>
            </a:r>
          </a:p>
          <a:p>
            <a:pPr algn="just">
              <a:lnSpc>
                <a:spcPct val="150000"/>
              </a:lnSpc>
              <a:buFont typeface="Arial" panose="020B0604020202020204" pitchFamily="34" charset="0"/>
              <a:buChar char="•"/>
            </a:pPr>
            <a:r>
              <a:rPr lang="en-US" sz="2400" dirty="0">
                <a:solidFill>
                  <a:srgbClr val="000000"/>
                </a:solidFill>
                <a:latin typeface="-apple-system"/>
              </a:rPr>
              <a:t>Java is designed to be easy for beginners and professional programmers to learn and use effectively.</a:t>
            </a:r>
          </a:p>
          <a:p>
            <a:pPr algn="just">
              <a:lnSpc>
                <a:spcPct val="150000"/>
              </a:lnSpc>
              <a:buFont typeface="Arial" panose="020B0604020202020204" pitchFamily="34" charset="0"/>
              <a:buChar char="•"/>
            </a:pPr>
            <a:r>
              <a:rPr lang="en-US" sz="2400" dirty="0">
                <a:solidFill>
                  <a:srgbClr val="000000"/>
                </a:solidFill>
                <a:latin typeface="-apple-system"/>
              </a:rPr>
              <a:t>It’s simple and easy to learn if you already know the basic concepts of Object-Oriented Programming.</a:t>
            </a:r>
          </a:p>
          <a:p>
            <a:pPr algn="just">
              <a:lnSpc>
                <a:spcPct val="150000"/>
              </a:lnSpc>
              <a:buFont typeface="Arial" panose="020B0604020202020204" pitchFamily="34" charset="0"/>
              <a:buChar char="•"/>
            </a:pPr>
            <a:r>
              <a:rPr lang="en-US" sz="2400" dirty="0">
                <a:solidFill>
                  <a:srgbClr val="000000"/>
                </a:solidFill>
                <a:latin typeface="-apple-system"/>
              </a:rPr>
              <a:t>Java has removed many complicated and rarely-used features, such as explicit pointers and operator overloading.</a:t>
            </a:r>
            <a:endParaRPr lang="en-US" sz="2400" b="0" i="0" dirty="0">
              <a:solidFill>
                <a:srgbClr val="000000"/>
              </a:solidFill>
              <a:effectLst/>
              <a:latin typeface="-apple-system"/>
            </a:endParaRPr>
          </a:p>
        </p:txBody>
      </p:sp>
    </p:spTree>
    <p:extLst>
      <p:ext uri="{BB962C8B-B14F-4D97-AF65-F5344CB8AC3E}">
        <p14:creationId xmlns:p14="http://schemas.microsoft.com/office/powerpoint/2010/main" val="513510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2" name="Rectangle 1"/>
          <p:cNvSpPr/>
          <p:nvPr/>
        </p:nvSpPr>
        <p:spPr>
          <a:xfrm>
            <a:off x="214985" y="1905000"/>
            <a:ext cx="8458200" cy="3908762"/>
          </a:xfrm>
          <a:prstGeom prst="rect">
            <a:avLst/>
          </a:prstGeom>
        </p:spPr>
        <p:txBody>
          <a:bodyPr wrap="square">
            <a:spAutoFit/>
          </a:bodyPr>
          <a:lstStyle/>
          <a:p>
            <a:r>
              <a:rPr lang="en-US" sz="3200" b="1" dirty="0" smtClean="0">
                <a:solidFill>
                  <a:srgbClr val="000000"/>
                </a:solidFill>
                <a:latin typeface="-apple-system"/>
              </a:rPr>
              <a:t>Distributed:</a:t>
            </a:r>
            <a:endParaRPr lang="en-US" sz="3200" b="1" dirty="0">
              <a:solidFill>
                <a:srgbClr val="000000"/>
              </a:solidFill>
              <a:latin typeface="-apple-system"/>
            </a:endParaRPr>
          </a:p>
          <a:p>
            <a:pPr>
              <a:lnSpc>
                <a:spcPct val="150000"/>
              </a:lnSpc>
              <a:buFont typeface="Arial" panose="020B0604020202020204" pitchFamily="34" charset="0"/>
              <a:buChar char="•"/>
            </a:pPr>
            <a:r>
              <a:rPr lang="en-US" sz="2400" dirty="0">
                <a:solidFill>
                  <a:srgbClr val="000000"/>
                </a:solidFill>
                <a:latin typeface="-apple-system"/>
              </a:rPr>
              <a:t>Java is designed to create distributed applications on networks.</a:t>
            </a:r>
          </a:p>
          <a:p>
            <a:pPr>
              <a:lnSpc>
                <a:spcPct val="150000"/>
              </a:lnSpc>
              <a:buFont typeface="Arial" panose="020B0604020202020204" pitchFamily="34" charset="0"/>
              <a:buChar char="•"/>
            </a:pPr>
            <a:r>
              <a:rPr lang="en-US" sz="2400" dirty="0">
                <a:solidFill>
                  <a:srgbClr val="000000"/>
                </a:solidFill>
                <a:latin typeface="-apple-system"/>
              </a:rPr>
              <a:t>Java applications can access remote objects on the Internet as easily as they can do in the local system.</a:t>
            </a:r>
          </a:p>
          <a:p>
            <a:pPr>
              <a:lnSpc>
                <a:spcPct val="150000"/>
              </a:lnSpc>
              <a:buFont typeface="Arial" panose="020B0604020202020204" pitchFamily="34" charset="0"/>
              <a:buChar char="•"/>
            </a:pPr>
            <a:r>
              <a:rPr lang="en-US" sz="2400" dirty="0">
                <a:solidFill>
                  <a:srgbClr val="000000"/>
                </a:solidFill>
                <a:latin typeface="-apple-system"/>
              </a:rPr>
              <a:t>Java enables multiple programmers at multiple remote locations to collaborate and work together on a single project</a:t>
            </a:r>
            <a:r>
              <a:rPr lang="en-US" dirty="0">
                <a:solidFill>
                  <a:srgbClr val="000000"/>
                </a:solidFill>
                <a:latin typeface="-apple-system"/>
              </a:rPr>
              <a:t>.</a:t>
            </a:r>
            <a:endParaRPr lang="en-US" b="0" i="0" dirty="0">
              <a:solidFill>
                <a:srgbClr val="000000"/>
              </a:solidFill>
              <a:effectLst/>
              <a:latin typeface="-apple-system"/>
            </a:endParaRPr>
          </a:p>
        </p:txBody>
      </p:sp>
    </p:spTree>
    <p:extLst>
      <p:ext uri="{BB962C8B-B14F-4D97-AF65-F5344CB8AC3E}">
        <p14:creationId xmlns:p14="http://schemas.microsoft.com/office/powerpoint/2010/main" val="34397621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3" name="Rectangle 2"/>
          <p:cNvSpPr/>
          <p:nvPr/>
        </p:nvSpPr>
        <p:spPr>
          <a:xfrm>
            <a:off x="344294" y="1600200"/>
            <a:ext cx="8571106" cy="4462760"/>
          </a:xfrm>
          <a:prstGeom prst="rect">
            <a:avLst/>
          </a:prstGeom>
        </p:spPr>
        <p:txBody>
          <a:bodyPr wrap="square">
            <a:spAutoFit/>
          </a:bodyPr>
          <a:lstStyle/>
          <a:p>
            <a:r>
              <a:rPr lang="en-US" sz="3200" b="1" dirty="0">
                <a:solidFill>
                  <a:srgbClr val="000000"/>
                </a:solidFill>
                <a:latin typeface="-apple-system"/>
              </a:rPr>
              <a:t>Compiled and </a:t>
            </a:r>
            <a:r>
              <a:rPr lang="en-US" sz="3200" b="1" dirty="0" smtClean="0">
                <a:solidFill>
                  <a:srgbClr val="000000"/>
                </a:solidFill>
                <a:latin typeface="-apple-system"/>
              </a:rPr>
              <a:t>Interpreted:</a:t>
            </a:r>
            <a:endParaRPr lang="en-US" sz="3200" b="1" dirty="0">
              <a:solidFill>
                <a:srgbClr val="000000"/>
              </a:solidFill>
              <a:latin typeface="-apple-system"/>
            </a:endParaRPr>
          </a:p>
          <a:p>
            <a:pPr>
              <a:lnSpc>
                <a:spcPct val="150000"/>
              </a:lnSpc>
              <a:buFont typeface="Arial" panose="020B0604020202020204" pitchFamily="34" charset="0"/>
              <a:buChar char="•"/>
            </a:pPr>
            <a:r>
              <a:rPr lang="en-US" sz="2400" dirty="0">
                <a:solidFill>
                  <a:srgbClr val="000000"/>
                </a:solidFill>
                <a:latin typeface="-apple-system"/>
              </a:rPr>
              <a:t>Java combines both compiled and interpreted approaches, making it a two-stage system.</a:t>
            </a:r>
          </a:p>
          <a:p>
            <a:pPr>
              <a:lnSpc>
                <a:spcPct val="150000"/>
              </a:lnSpc>
              <a:buFont typeface="Arial" panose="020B0604020202020204" pitchFamily="34" charset="0"/>
              <a:buChar char="•"/>
            </a:pPr>
            <a:r>
              <a:rPr lang="en-US" sz="2400" b="1" dirty="0">
                <a:solidFill>
                  <a:srgbClr val="000000"/>
                </a:solidFill>
                <a:latin typeface="-apple-system"/>
              </a:rPr>
              <a:t>Compiled: </a:t>
            </a:r>
            <a:r>
              <a:rPr lang="en-US" sz="2400" dirty="0">
                <a:solidFill>
                  <a:srgbClr val="000000"/>
                </a:solidFill>
                <a:latin typeface="-apple-system"/>
              </a:rPr>
              <a:t>Java compiles programs into an intermediate representation called Java Bytecode.</a:t>
            </a:r>
          </a:p>
          <a:p>
            <a:pPr>
              <a:lnSpc>
                <a:spcPct val="150000"/>
              </a:lnSpc>
              <a:buFont typeface="Arial" panose="020B0604020202020204" pitchFamily="34" charset="0"/>
              <a:buChar char="•"/>
            </a:pPr>
            <a:r>
              <a:rPr lang="en-US" sz="2400" b="1" dirty="0">
                <a:solidFill>
                  <a:srgbClr val="000000"/>
                </a:solidFill>
                <a:latin typeface="-apple-system"/>
              </a:rPr>
              <a:t>Interpreted: </a:t>
            </a:r>
            <a:r>
              <a:rPr lang="en-US" sz="2400" dirty="0">
                <a:solidFill>
                  <a:srgbClr val="000000"/>
                </a:solidFill>
                <a:latin typeface="-apple-system"/>
              </a:rPr>
              <a:t>Bytecode is then interpreted, generating machine code that can be directly executed by the machine that provides a JVM.</a:t>
            </a:r>
          </a:p>
        </p:txBody>
      </p:sp>
    </p:spTree>
    <p:extLst>
      <p:ext uri="{BB962C8B-B14F-4D97-AF65-F5344CB8AC3E}">
        <p14:creationId xmlns:p14="http://schemas.microsoft.com/office/powerpoint/2010/main" val="40634356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2" name="Rectangle 1"/>
          <p:cNvSpPr/>
          <p:nvPr/>
        </p:nvSpPr>
        <p:spPr>
          <a:xfrm>
            <a:off x="214985" y="1905000"/>
            <a:ext cx="8522615" cy="3908762"/>
          </a:xfrm>
          <a:prstGeom prst="rect">
            <a:avLst/>
          </a:prstGeom>
        </p:spPr>
        <p:txBody>
          <a:bodyPr wrap="square">
            <a:spAutoFit/>
          </a:bodyPr>
          <a:lstStyle/>
          <a:p>
            <a:r>
              <a:rPr lang="en-US" sz="3200" b="1" dirty="0">
                <a:solidFill>
                  <a:srgbClr val="000000"/>
                </a:solidFill>
                <a:latin typeface="-apple-system"/>
              </a:rPr>
              <a:t>Robust</a:t>
            </a:r>
          </a:p>
          <a:p>
            <a:pPr>
              <a:lnSpc>
                <a:spcPct val="150000"/>
              </a:lnSpc>
              <a:buFont typeface="Arial" panose="020B0604020202020204" pitchFamily="34" charset="0"/>
              <a:buChar char="•"/>
            </a:pPr>
            <a:r>
              <a:rPr lang="en-US" sz="2400" dirty="0">
                <a:solidFill>
                  <a:srgbClr val="000000"/>
                </a:solidFill>
                <a:latin typeface="-apple-system"/>
              </a:rPr>
              <a:t>Java provides many features that make programs execute reliably in a variety of environments.</a:t>
            </a:r>
          </a:p>
          <a:p>
            <a:pPr>
              <a:lnSpc>
                <a:spcPct val="150000"/>
              </a:lnSpc>
              <a:buFont typeface="Arial" panose="020B0604020202020204" pitchFamily="34" charset="0"/>
              <a:buChar char="•"/>
            </a:pPr>
            <a:r>
              <a:rPr lang="en-US" sz="2400" dirty="0">
                <a:solidFill>
                  <a:srgbClr val="000000"/>
                </a:solidFill>
                <a:latin typeface="-apple-system"/>
              </a:rPr>
              <a:t>Java is a strictly typed language that checks code at compile time and runtime.</a:t>
            </a:r>
          </a:p>
          <a:p>
            <a:pPr>
              <a:lnSpc>
                <a:spcPct val="150000"/>
              </a:lnSpc>
              <a:buFont typeface="Arial" panose="020B0604020202020204" pitchFamily="34" charset="0"/>
              <a:buChar char="•"/>
            </a:pPr>
            <a:r>
              <a:rPr lang="en-US" sz="2400" dirty="0">
                <a:solidFill>
                  <a:srgbClr val="000000"/>
                </a:solidFill>
                <a:latin typeface="-apple-system"/>
              </a:rPr>
              <a:t>Java handles memory management with garbage collection and captures serious errors through exception handling</a:t>
            </a:r>
          </a:p>
        </p:txBody>
      </p:sp>
    </p:spTree>
    <p:extLst>
      <p:ext uri="{BB962C8B-B14F-4D97-AF65-F5344CB8AC3E}">
        <p14:creationId xmlns:p14="http://schemas.microsoft.com/office/powerpoint/2010/main" val="317245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3" name="Rectangle 2"/>
          <p:cNvSpPr/>
          <p:nvPr/>
        </p:nvSpPr>
        <p:spPr>
          <a:xfrm>
            <a:off x="316585" y="1997839"/>
            <a:ext cx="8522615" cy="4462760"/>
          </a:xfrm>
          <a:prstGeom prst="rect">
            <a:avLst/>
          </a:prstGeom>
        </p:spPr>
        <p:txBody>
          <a:bodyPr wrap="square">
            <a:spAutoFit/>
          </a:bodyPr>
          <a:lstStyle/>
          <a:p>
            <a:r>
              <a:rPr lang="en-US" sz="3200" b="1" dirty="0">
                <a:solidFill>
                  <a:srgbClr val="000000"/>
                </a:solidFill>
                <a:latin typeface="-apple-system"/>
              </a:rPr>
              <a:t>Secure</a:t>
            </a:r>
          </a:p>
          <a:p>
            <a:pPr>
              <a:lnSpc>
                <a:spcPct val="150000"/>
              </a:lnSpc>
              <a:buFont typeface="Arial" panose="020B0604020202020204" pitchFamily="34" charset="0"/>
              <a:buChar char="•"/>
            </a:pPr>
            <a:r>
              <a:rPr lang="en-US" sz="2400" dirty="0">
                <a:solidFill>
                  <a:srgbClr val="000000"/>
                </a:solidFill>
                <a:latin typeface="-apple-system"/>
              </a:rPr>
              <a:t>Java does not use pointers, which helps prevent unauthorized memory access. </a:t>
            </a:r>
          </a:p>
          <a:p>
            <a:pPr>
              <a:lnSpc>
                <a:spcPct val="150000"/>
              </a:lnSpc>
              <a:buFont typeface="Arial" panose="020B0604020202020204" pitchFamily="34" charset="0"/>
              <a:buChar char="•"/>
            </a:pPr>
            <a:r>
              <a:rPr lang="en-US" sz="2400" dirty="0">
                <a:solidFill>
                  <a:srgbClr val="000000"/>
                </a:solidFill>
                <a:latin typeface="-apple-system"/>
              </a:rPr>
              <a:t>The JVM verifies Java bytecode before execution, ensuring that it adheres to Java’s security constraints. </a:t>
            </a:r>
          </a:p>
          <a:p>
            <a:pPr>
              <a:lnSpc>
                <a:spcPct val="150000"/>
              </a:lnSpc>
              <a:buFont typeface="Arial" panose="020B0604020202020204" pitchFamily="34" charset="0"/>
              <a:buChar char="•"/>
            </a:pPr>
            <a:r>
              <a:rPr lang="en-US" sz="2400" dirty="0">
                <a:solidFill>
                  <a:srgbClr val="000000"/>
                </a:solidFill>
                <a:latin typeface="-apple-system"/>
              </a:rPr>
              <a:t>Java applications run in a restricted environment (sandbox) that limits their access to system resources and user data, enhancing security.</a:t>
            </a:r>
          </a:p>
        </p:txBody>
      </p:sp>
    </p:spTree>
    <p:extLst>
      <p:ext uri="{BB962C8B-B14F-4D97-AF65-F5344CB8AC3E}">
        <p14:creationId xmlns:p14="http://schemas.microsoft.com/office/powerpoint/2010/main" val="2583656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2" name="Rectangle 1"/>
          <p:cNvSpPr/>
          <p:nvPr/>
        </p:nvSpPr>
        <p:spPr>
          <a:xfrm>
            <a:off x="316585" y="2274838"/>
            <a:ext cx="8370215" cy="3354765"/>
          </a:xfrm>
          <a:prstGeom prst="rect">
            <a:avLst/>
          </a:prstGeom>
        </p:spPr>
        <p:txBody>
          <a:bodyPr wrap="square">
            <a:spAutoFit/>
          </a:bodyPr>
          <a:lstStyle/>
          <a:p>
            <a:r>
              <a:rPr lang="en-US" sz="3200" b="1" dirty="0">
                <a:solidFill>
                  <a:srgbClr val="000000"/>
                </a:solidFill>
                <a:latin typeface="-apple-system"/>
              </a:rPr>
              <a:t>Architecture-Neutral</a:t>
            </a:r>
          </a:p>
          <a:p>
            <a:pPr>
              <a:lnSpc>
                <a:spcPct val="150000"/>
              </a:lnSpc>
              <a:buFont typeface="Arial" panose="020B0604020202020204" pitchFamily="34" charset="0"/>
              <a:buChar char="•"/>
            </a:pPr>
            <a:r>
              <a:rPr lang="en-US" sz="2400" dirty="0">
                <a:solidFill>
                  <a:srgbClr val="000000"/>
                </a:solidFill>
                <a:latin typeface="-apple-system"/>
              </a:rPr>
              <a:t>Java language and JVM help achieve the goal of “write once; run anywhere, any time, forever.”</a:t>
            </a:r>
          </a:p>
          <a:p>
            <a:pPr>
              <a:lnSpc>
                <a:spcPct val="150000"/>
              </a:lnSpc>
              <a:buFont typeface="Arial" panose="020B0604020202020204" pitchFamily="34" charset="0"/>
              <a:buChar char="•"/>
            </a:pPr>
            <a:r>
              <a:rPr lang="en-US" sz="2400" dirty="0">
                <a:solidFill>
                  <a:srgbClr val="000000"/>
                </a:solidFill>
                <a:latin typeface="-apple-system"/>
              </a:rPr>
              <a:t>Changes and upgrades in operating systems, processors, and system resources do not force any changes in Java programs.</a:t>
            </a:r>
          </a:p>
        </p:txBody>
      </p:sp>
    </p:spTree>
    <p:extLst>
      <p:ext uri="{BB962C8B-B14F-4D97-AF65-F5344CB8AC3E}">
        <p14:creationId xmlns:p14="http://schemas.microsoft.com/office/powerpoint/2010/main" val="1434910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8" name="Rectangle 7"/>
          <p:cNvSpPr/>
          <p:nvPr/>
        </p:nvSpPr>
        <p:spPr>
          <a:xfrm>
            <a:off x="990600" y="3048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
        <p:nvSpPr>
          <p:cNvPr id="3" name="Rectangle 2"/>
          <p:cNvSpPr/>
          <p:nvPr/>
        </p:nvSpPr>
        <p:spPr>
          <a:xfrm>
            <a:off x="609600" y="1618887"/>
            <a:ext cx="8305800" cy="2800767"/>
          </a:xfrm>
          <a:prstGeom prst="rect">
            <a:avLst/>
          </a:prstGeom>
        </p:spPr>
        <p:txBody>
          <a:bodyPr wrap="square">
            <a:spAutoFit/>
          </a:bodyPr>
          <a:lstStyle/>
          <a:p>
            <a:r>
              <a:rPr lang="en-US" sz="3200" b="1" dirty="0" smtClean="0">
                <a:solidFill>
                  <a:srgbClr val="000000"/>
                </a:solidFill>
                <a:latin typeface="-apple-system"/>
              </a:rPr>
              <a:t>Portable:</a:t>
            </a:r>
            <a:endParaRPr lang="en-US" sz="3200" b="1" dirty="0">
              <a:solidFill>
                <a:srgbClr val="000000"/>
              </a:solidFill>
              <a:latin typeface="-apple-system"/>
            </a:endParaRPr>
          </a:p>
          <a:p>
            <a:pPr>
              <a:lnSpc>
                <a:spcPct val="150000"/>
              </a:lnSpc>
              <a:buFont typeface="Arial" panose="020B0604020202020204" pitchFamily="34" charset="0"/>
              <a:buChar char="•"/>
            </a:pPr>
            <a:r>
              <a:rPr lang="en-US" sz="2400" dirty="0">
                <a:solidFill>
                  <a:srgbClr val="000000"/>
                </a:solidFill>
                <a:latin typeface="-apple-system"/>
              </a:rPr>
              <a:t>Java provides a way to download programs dynamically to various types of platforms connected to the Internet.</a:t>
            </a:r>
          </a:p>
          <a:p>
            <a:pPr>
              <a:lnSpc>
                <a:spcPct val="150000"/>
              </a:lnSpc>
              <a:buFont typeface="Arial" panose="020B0604020202020204" pitchFamily="34" charset="0"/>
              <a:buChar char="•"/>
            </a:pPr>
            <a:r>
              <a:rPr lang="en-US" sz="2400" dirty="0">
                <a:solidFill>
                  <a:srgbClr val="000000"/>
                </a:solidFill>
                <a:latin typeface="-apple-system"/>
              </a:rPr>
              <a:t>Java is portable because of the JVM, which provides a consistent runtime environment across different platforms.</a:t>
            </a:r>
          </a:p>
        </p:txBody>
      </p:sp>
      <p:sp>
        <p:nvSpPr>
          <p:cNvPr id="4" name="Rectangle 3"/>
          <p:cNvSpPr/>
          <p:nvPr/>
        </p:nvSpPr>
        <p:spPr>
          <a:xfrm>
            <a:off x="609600" y="4267200"/>
            <a:ext cx="8153400" cy="2246769"/>
          </a:xfrm>
          <a:prstGeom prst="rect">
            <a:avLst/>
          </a:prstGeom>
        </p:spPr>
        <p:txBody>
          <a:bodyPr wrap="square">
            <a:spAutoFit/>
          </a:bodyPr>
          <a:lstStyle/>
          <a:p>
            <a:r>
              <a:rPr lang="en-US" sz="3200" b="1" dirty="0">
                <a:solidFill>
                  <a:srgbClr val="000000"/>
                </a:solidFill>
                <a:latin typeface="-apple-system"/>
              </a:rPr>
              <a:t>High </a:t>
            </a:r>
            <a:r>
              <a:rPr lang="en-US" sz="3200" b="1" dirty="0" smtClean="0">
                <a:solidFill>
                  <a:srgbClr val="000000"/>
                </a:solidFill>
                <a:latin typeface="-apple-system"/>
              </a:rPr>
              <a:t>Performance:</a:t>
            </a:r>
            <a:endParaRPr lang="en-US" sz="3200" b="1" dirty="0">
              <a:solidFill>
                <a:srgbClr val="000000"/>
              </a:solidFill>
              <a:latin typeface="-apple-system"/>
            </a:endParaRPr>
          </a:p>
          <a:p>
            <a:pPr>
              <a:lnSpc>
                <a:spcPct val="150000"/>
              </a:lnSpc>
              <a:buFont typeface="Arial" panose="020B0604020202020204" pitchFamily="34" charset="0"/>
              <a:buChar char="•"/>
            </a:pPr>
            <a:r>
              <a:rPr lang="en-US" sz="2400" dirty="0">
                <a:solidFill>
                  <a:srgbClr val="000000"/>
                </a:solidFill>
                <a:latin typeface="-apple-system"/>
              </a:rPr>
              <a:t>Java performance is high because of the use of bytecode.</a:t>
            </a:r>
          </a:p>
          <a:p>
            <a:pPr>
              <a:lnSpc>
                <a:spcPct val="150000"/>
              </a:lnSpc>
              <a:buFont typeface="Arial" panose="020B0604020202020204" pitchFamily="34" charset="0"/>
              <a:buChar char="•"/>
            </a:pPr>
            <a:r>
              <a:rPr lang="en-US" sz="2400" dirty="0">
                <a:solidFill>
                  <a:srgbClr val="000000"/>
                </a:solidFill>
                <a:latin typeface="-apple-system"/>
              </a:rPr>
              <a:t>The bytecode can be easily translated into native machine code.</a:t>
            </a:r>
          </a:p>
        </p:txBody>
      </p:sp>
    </p:spTree>
    <p:extLst>
      <p:ext uri="{BB962C8B-B14F-4D97-AF65-F5344CB8AC3E}">
        <p14:creationId xmlns:p14="http://schemas.microsoft.com/office/powerpoint/2010/main" val="3712739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a:t>
            </a:r>
            <a:endParaRPr sz="1200">
              <a:latin typeface="Times New Roman"/>
              <a:cs typeface="Times New Roman"/>
            </a:endParaRPr>
          </a:p>
        </p:txBody>
      </p:sp>
      <p:sp>
        <p:nvSpPr>
          <p:cNvPr id="2" name="Rectangle 1"/>
          <p:cNvSpPr/>
          <p:nvPr/>
        </p:nvSpPr>
        <p:spPr>
          <a:xfrm>
            <a:off x="13855" y="794802"/>
            <a:ext cx="8901545" cy="6063198"/>
          </a:xfrm>
          <a:prstGeom prst="rect">
            <a:avLst/>
          </a:prstGeom>
        </p:spPr>
        <p:txBody>
          <a:bodyPr wrap="square">
            <a:spAutoFit/>
          </a:bodyPr>
          <a:lstStyle/>
          <a:p>
            <a:pPr algn="just"/>
            <a:r>
              <a:rPr lang="en-US" sz="3200" b="1" dirty="0" smtClean="0">
                <a:solidFill>
                  <a:srgbClr val="000000"/>
                </a:solidFill>
                <a:latin typeface="-apple-system"/>
              </a:rPr>
              <a:t>Multithreaded:</a:t>
            </a:r>
            <a:endParaRPr lang="en-US" sz="3200" b="1" dirty="0">
              <a:solidFill>
                <a:srgbClr val="000000"/>
              </a:solidFill>
              <a:latin typeface="-apple-system"/>
            </a:endParaRPr>
          </a:p>
          <a:p>
            <a:pPr algn="just">
              <a:lnSpc>
                <a:spcPct val="150000"/>
              </a:lnSpc>
              <a:buFont typeface="Arial" panose="020B0604020202020204" pitchFamily="34" charset="0"/>
              <a:buChar char="•"/>
            </a:pPr>
            <a:r>
              <a:rPr lang="en-US" sz="2400" dirty="0">
                <a:solidFill>
                  <a:srgbClr val="000000"/>
                </a:solidFill>
                <a:latin typeface="-apple-system"/>
              </a:rPr>
              <a:t>Multithreaded programs handle multiple tasks simultaneously, which is helpful in creating interactive, networked programs.</a:t>
            </a:r>
          </a:p>
          <a:p>
            <a:pPr algn="just">
              <a:lnSpc>
                <a:spcPct val="150000"/>
              </a:lnSpc>
              <a:buFont typeface="Arial" panose="020B0604020202020204" pitchFamily="34" charset="0"/>
              <a:buChar char="•"/>
            </a:pPr>
            <a:r>
              <a:rPr lang="en-US" sz="2400" dirty="0">
                <a:solidFill>
                  <a:srgbClr val="000000"/>
                </a:solidFill>
                <a:latin typeface="-apple-system"/>
              </a:rPr>
              <a:t>Java run-time system supports </a:t>
            </a:r>
            <a:r>
              <a:rPr lang="en-US" sz="2400" dirty="0" err="1" smtClean="0">
                <a:solidFill>
                  <a:srgbClr val="000000"/>
                </a:solidFill>
                <a:latin typeface="-apple-system"/>
              </a:rPr>
              <a:t>multiprocess</a:t>
            </a:r>
            <a:r>
              <a:rPr lang="en-US" sz="2400" dirty="0" smtClean="0">
                <a:solidFill>
                  <a:srgbClr val="000000"/>
                </a:solidFill>
                <a:latin typeface="-apple-system"/>
              </a:rPr>
              <a:t> </a:t>
            </a:r>
            <a:r>
              <a:rPr lang="en-US" sz="2400" dirty="0">
                <a:solidFill>
                  <a:srgbClr val="000000"/>
                </a:solidFill>
                <a:latin typeface="-apple-system"/>
              </a:rPr>
              <a:t>synchronization for constructing interactive systems.</a:t>
            </a:r>
          </a:p>
          <a:p>
            <a:pPr algn="just"/>
            <a:r>
              <a:rPr lang="en-US" sz="3200" b="1" dirty="0" smtClean="0">
                <a:solidFill>
                  <a:srgbClr val="000000"/>
                </a:solidFill>
                <a:latin typeface="-apple-system"/>
              </a:rPr>
              <a:t>Dynamic:</a:t>
            </a:r>
            <a:endParaRPr lang="en-US" sz="3200" b="1" dirty="0">
              <a:solidFill>
                <a:srgbClr val="000000"/>
              </a:solidFill>
              <a:latin typeface="-apple-system"/>
            </a:endParaRPr>
          </a:p>
          <a:p>
            <a:pPr algn="just">
              <a:lnSpc>
                <a:spcPct val="150000"/>
              </a:lnSpc>
              <a:buFont typeface="Arial" panose="020B0604020202020204" pitchFamily="34" charset="0"/>
              <a:buChar char="•"/>
            </a:pPr>
            <a:r>
              <a:rPr lang="en-US" sz="2400" dirty="0">
                <a:solidFill>
                  <a:srgbClr val="000000"/>
                </a:solidFill>
                <a:latin typeface="-apple-system"/>
              </a:rPr>
              <a:t>Java can link in new class libraries, methods, and objects dynamically.</a:t>
            </a:r>
          </a:p>
          <a:p>
            <a:pPr algn="just">
              <a:lnSpc>
                <a:spcPct val="150000"/>
              </a:lnSpc>
              <a:buFont typeface="Arial" panose="020B0604020202020204" pitchFamily="34" charset="0"/>
              <a:buChar char="•"/>
            </a:pPr>
            <a:r>
              <a:rPr lang="en-US" sz="2400" dirty="0">
                <a:solidFill>
                  <a:srgbClr val="000000"/>
                </a:solidFill>
                <a:latin typeface="-apple-system"/>
              </a:rPr>
              <a:t>Java programs carry substantial amounts of run-time type information, enabling dynamic linking in a safe and expedient manner.</a:t>
            </a:r>
          </a:p>
        </p:txBody>
      </p:sp>
    </p:spTree>
    <p:extLst>
      <p:ext uri="{BB962C8B-B14F-4D97-AF65-F5344CB8AC3E}">
        <p14:creationId xmlns:p14="http://schemas.microsoft.com/office/powerpoint/2010/main" val="32963560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5046" y="2143809"/>
            <a:ext cx="3199765" cy="467995"/>
          </a:xfrm>
          <a:prstGeom prst="rect">
            <a:avLst/>
          </a:prstGeom>
        </p:spPr>
        <p:txBody>
          <a:bodyPr vert="horz" wrap="square" lIns="0" tIns="13335" rIns="0" bIns="0" rtlCol="0">
            <a:spAutoFit/>
          </a:bodyPr>
          <a:lstStyle/>
          <a:p>
            <a:pPr marL="332740" indent="-320675">
              <a:lnSpc>
                <a:spcPct val="100000"/>
              </a:lnSpc>
              <a:spcBef>
                <a:spcPts val="105"/>
              </a:spcBef>
              <a:buClr>
                <a:srgbClr val="DD8046"/>
              </a:buClr>
              <a:buSzPct val="60344"/>
              <a:buFont typeface="Wingdings"/>
              <a:buChar char=""/>
              <a:tabLst>
                <a:tab pos="333375" algn="l"/>
                <a:tab pos="923925" algn="l"/>
                <a:tab pos="2738120" algn="l"/>
              </a:tabLst>
            </a:pPr>
            <a:r>
              <a:rPr sz="2900" spc="5" dirty="0">
                <a:latin typeface="Times New Roman"/>
                <a:cs typeface="Times New Roman"/>
              </a:rPr>
              <a:t>I</a:t>
            </a:r>
            <a:r>
              <a:rPr sz="2900" dirty="0">
                <a:latin typeface="Times New Roman"/>
                <a:cs typeface="Times New Roman"/>
              </a:rPr>
              <a:t>t	</a:t>
            </a:r>
            <a:r>
              <a:rPr sz="2900" spc="-15" dirty="0">
                <a:latin typeface="Times New Roman"/>
                <a:cs typeface="Times New Roman"/>
              </a:rPr>
              <a:t>s</a:t>
            </a:r>
            <a:r>
              <a:rPr sz="2900" dirty="0">
                <a:latin typeface="Times New Roman"/>
                <a:cs typeface="Times New Roman"/>
              </a:rPr>
              <a:t>i</a:t>
            </a:r>
            <a:r>
              <a:rPr sz="2900" spc="-35" dirty="0">
                <a:latin typeface="Times New Roman"/>
                <a:cs typeface="Times New Roman"/>
              </a:rPr>
              <a:t>m</a:t>
            </a:r>
            <a:r>
              <a:rPr sz="2900" dirty="0">
                <a:latin typeface="Times New Roman"/>
                <a:cs typeface="Times New Roman"/>
              </a:rPr>
              <a:t>plifi</a:t>
            </a:r>
            <a:r>
              <a:rPr sz="2900" spc="-15" dirty="0">
                <a:latin typeface="Times New Roman"/>
                <a:cs typeface="Times New Roman"/>
              </a:rPr>
              <a:t>e</a:t>
            </a:r>
            <a:r>
              <a:rPr sz="2900" dirty="0">
                <a:latin typeface="Times New Roman"/>
                <a:cs typeface="Times New Roman"/>
              </a:rPr>
              <a:t>s	</a:t>
            </a:r>
            <a:r>
              <a:rPr sz="2900" spc="-15" dirty="0">
                <a:latin typeface="Times New Roman"/>
                <a:cs typeface="Times New Roman"/>
              </a:rPr>
              <a:t>t</a:t>
            </a:r>
            <a:r>
              <a:rPr sz="2900" dirty="0">
                <a:latin typeface="Times New Roman"/>
                <a:cs typeface="Times New Roman"/>
              </a:rPr>
              <a:t>he</a:t>
            </a:r>
          </a:p>
        </p:txBody>
      </p:sp>
      <p:sp>
        <p:nvSpPr>
          <p:cNvPr id="4" name="object 4"/>
          <p:cNvSpPr txBox="1"/>
          <p:nvPr/>
        </p:nvSpPr>
        <p:spPr>
          <a:xfrm>
            <a:off x="4232275" y="2143808"/>
            <a:ext cx="4455160" cy="467995"/>
          </a:xfrm>
          <a:prstGeom prst="rect">
            <a:avLst/>
          </a:prstGeom>
        </p:spPr>
        <p:txBody>
          <a:bodyPr vert="horz" wrap="square" lIns="0" tIns="13335" rIns="0" bIns="0" rtlCol="0">
            <a:spAutoFit/>
          </a:bodyPr>
          <a:lstStyle/>
          <a:p>
            <a:pPr marL="12700">
              <a:lnSpc>
                <a:spcPct val="100000"/>
              </a:lnSpc>
              <a:spcBef>
                <a:spcPts val="105"/>
              </a:spcBef>
              <a:tabLst>
                <a:tab pos="1644650" algn="l"/>
                <a:tab pos="3911600" algn="l"/>
              </a:tabLst>
            </a:pPr>
            <a:r>
              <a:rPr sz="2900" dirty="0">
                <a:latin typeface="Times New Roman"/>
                <a:cs typeface="Times New Roman"/>
              </a:rPr>
              <a:t>s</a:t>
            </a:r>
            <a:r>
              <a:rPr sz="2900" spc="-15" dirty="0">
                <a:latin typeface="Times New Roman"/>
                <a:cs typeface="Times New Roman"/>
              </a:rPr>
              <a:t>o</a:t>
            </a:r>
            <a:r>
              <a:rPr sz="2900" dirty="0">
                <a:latin typeface="Times New Roman"/>
                <a:cs typeface="Times New Roman"/>
              </a:rPr>
              <a:t>ftw</a:t>
            </a:r>
            <a:r>
              <a:rPr sz="2900" spc="-15" dirty="0">
                <a:latin typeface="Times New Roman"/>
                <a:cs typeface="Times New Roman"/>
              </a:rPr>
              <a:t>a</a:t>
            </a:r>
            <a:r>
              <a:rPr sz="2900" dirty="0">
                <a:latin typeface="Times New Roman"/>
                <a:cs typeface="Times New Roman"/>
              </a:rPr>
              <a:t>re	dev</a:t>
            </a:r>
            <a:r>
              <a:rPr sz="2900" spc="-15" dirty="0">
                <a:latin typeface="Times New Roman"/>
                <a:cs typeface="Times New Roman"/>
              </a:rPr>
              <a:t>e</a:t>
            </a:r>
            <a:r>
              <a:rPr sz="2900" dirty="0">
                <a:latin typeface="Times New Roman"/>
                <a:cs typeface="Times New Roman"/>
              </a:rPr>
              <a:t>l</a:t>
            </a:r>
            <a:r>
              <a:rPr sz="2900" spc="-15" dirty="0">
                <a:latin typeface="Times New Roman"/>
                <a:cs typeface="Times New Roman"/>
              </a:rPr>
              <a:t>o</a:t>
            </a:r>
            <a:r>
              <a:rPr sz="2900" spc="5" dirty="0">
                <a:latin typeface="Times New Roman"/>
                <a:cs typeface="Times New Roman"/>
              </a:rPr>
              <a:t>p</a:t>
            </a:r>
            <a:r>
              <a:rPr sz="2900" spc="-30" dirty="0">
                <a:latin typeface="Times New Roman"/>
                <a:cs typeface="Times New Roman"/>
              </a:rPr>
              <a:t>m</a:t>
            </a:r>
            <a:r>
              <a:rPr sz="2900" dirty="0">
                <a:latin typeface="Times New Roman"/>
                <a:cs typeface="Times New Roman"/>
              </a:rPr>
              <a:t>ent	</a:t>
            </a:r>
            <a:r>
              <a:rPr sz="2900" spc="-20" dirty="0">
                <a:latin typeface="Times New Roman"/>
                <a:cs typeface="Times New Roman"/>
              </a:rPr>
              <a:t>a</a:t>
            </a:r>
            <a:r>
              <a:rPr sz="2900" dirty="0">
                <a:latin typeface="Times New Roman"/>
                <a:cs typeface="Times New Roman"/>
              </a:rPr>
              <a:t>nd</a:t>
            </a:r>
          </a:p>
        </p:txBody>
      </p:sp>
      <p:sp>
        <p:nvSpPr>
          <p:cNvPr id="5" name="object 5"/>
          <p:cNvSpPr txBox="1"/>
          <p:nvPr/>
        </p:nvSpPr>
        <p:spPr>
          <a:xfrm>
            <a:off x="1122680" y="2641459"/>
            <a:ext cx="6219190" cy="3390900"/>
          </a:xfrm>
          <a:prstGeom prst="rect">
            <a:avLst/>
          </a:prstGeom>
        </p:spPr>
        <p:txBody>
          <a:bodyPr vert="horz" wrap="square" lIns="0" tIns="99060" rIns="0" bIns="0" rtlCol="0">
            <a:spAutoFit/>
          </a:bodyPr>
          <a:lstStyle/>
          <a:p>
            <a:pPr marL="12700">
              <a:lnSpc>
                <a:spcPct val="100000"/>
              </a:lnSpc>
              <a:spcBef>
                <a:spcPts val="780"/>
              </a:spcBef>
            </a:pPr>
            <a:r>
              <a:rPr sz="2900" spc="-5" dirty="0">
                <a:latin typeface="Times New Roman"/>
                <a:cs typeface="Times New Roman"/>
              </a:rPr>
              <a:t>maintenance</a:t>
            </a:r>
            <a:r>
              <a:rPr sz="2900" spc="10" dirty="0">
                <a:latin typeface="Times New Roman"/>
                <a:cs typeface="Times New Roman"/>
              </a:rPr>
              <a:t> </a:t>
            </a:r>
            <a:r>
              <a:rPr sz="2900" dirty="0">
                <a:latin typeface="Times New Roman"/>
                <a:cs typeface="Times New Roman"/>
              </a:rPr>
              <a:t>by</a:t>
            </a:r>
            <a:r>
              <a:rPr sz="2900" spc="-15" dirty="0">
                <a:latin typeface="Times New Roman"/>
                <a:cs typeface="Times New Roman"/>
              </a:rPr>
              <a:t> </a:t>
            </a:r>
            <a:r>
              <a:rPr sz="2900" dirty="0">
                <a:latin typeface="Times New Roman"/>
                <a:cs typeface="Times New Roman"/>
              </a:rPr>
              <a:t>providing</a:t>
            </a:r>
            <a:r>
              <a:rPr sz="2900" spc="-40" dirty="0">
                <a:latin typeface="Times New Roman"/>
                <a:cs typeface="Times New Roman"/>
              </a:rPr>
              <a:t> </a:t>
            </a:r>
            <a:r>
              <a:rPr sz="2900" spc="-10" dirty="0">
                <a:latin typeface="Times New Roman"/>
                <a:cs typeface="Times New Roman"/>
              </a:rPr>
              <a:t>some</a:t>
            </a:r>
            <a:r>
              <a:rPr sz="2900" spc="15" dirty="0">
                <a:latin typeface="Times New Roman"/>
                <a:cs typeface="Times New Roman"/>
              </a:rPr>
              <a:t> </a:t>
            </a:r>
            <a:r>
              <a:rPr sz="2900" spc="-5" dirty="0">
                <a:latin typeface="Times New Roman"/>
                <a:cs typeface="Times New Roman"/>
              </a:rPr>
              <a:t>concepts:</a:t>
            </a:r>
            <a:endParaRPr sz="2900" dirty="0">
              <a:latin typeface="Times New Roman"/>
              <a:cs typeface="Times New Roman"/>
            </a:endParaRPr>
          </a:p>
          <a:p>
            <a:pPr marL="527685" indent="-515620">
              <a:lnSpc>
                <a:spcPct val="100000"/>
              </a:lnSpc>
              <a:spcBef>
                <a:spcPts val="610"/>
              </a:spcBef>
              <a:buClr>
                <a:srgbClr val="93B6D2"/>
              </a:buClr>
              <a:buSzPct val="69230"/>
              <a:buAutoNum type="arabicPeriod"/>
              <a:tabLst>
                <a:tab pos="527685" algn="l"/>
                <a:tab pos="528320" algn="l"/>
              </a:tabLst>
            </a:pPr>
            <a:r>
              <a:rPr sz="2600" dirty="0">
                <a:latin typeface="Times New Roman"/>
                <a:cs typeface="Times New Roman"/>
              </a:rPr>
              <a:t>Object</a:t>
            </a:r>
          </a:p>
          <a:p>
            <a:pPr marL="527685" indent="-515620">
              <a:lnSpc>
                <a:spcPct val="100000"/>
              </a:lnSpc>
              <a:spcBef>
                <a:spcPts val="605"/>
              </a:spcBef>
              <a:buClr>
                <a:srgbClr val="93B6D2"/>
              </a:buClr>
              <a:buSzPct val="69230"/>
              <a:buAutoNum type="arabicPeriod"/>
              <a:tabLst>
                <a:tab pos="527685" algn="l"/>
                <a:tab pos="528320" algn="l"/>
              </a:tabLst>
            </a:pPr>
            <a:r>
              <a:rPr sz="2600" spc="-5" dirty="0">
                <a:latin typeface="Times New Roman"/>
                <a:cs typeface="Times New Roman"/>
              </a:rPr>
              <a:t>Class</a:t>
            </a:r>
            <a:endParaRPr sz="2600" dirty="0">
              <a:latin typeface="Times New Roman"/>
              <a:cs typeface="Times New Roman"/>
            </a:endParaRPr>
          </a:p>
          <a:p>
            <a:pPr marL="527685" indent="-515620">
              <a:lnSpc>
                <a:spcPct val="100000"/>
              </a:lnSpc>
              <a:spcBef>
                <a:spcPts val="600"/>
              </a:spcBef>
              <a:buClr>
                <a:srgbClr val="93B6D2"/>
              </a:buClr>
              <a:buSzPct val="69230"/>
              <a:buAutoNum type="arabicPeriod"/>
              <a:tabLst>
                <a:tab pos="527685" algn="l"/>
                <a:tab pos="528320" algn="l"/>
              </a:tabLst>
            </a:pPr>
            <a:r>
              <a:rPr sz="2600" spc="-5" dirty="0">
                <a:latin typeface="Times New Roman"/>
                <a:cs typeface="Times New Roman"/>
              </a:rPr>
              <a:t>Inheritance</a:t>
            </a:r>
            <a:endParaRPr sz="2600" dirty="0">
              <a:latin typeface="Times New Roman"/>
              <a:cs typeface="Times New Roman"/>
            </a:endParaRPr>
          </a:p>
          <a:p>
            <a:pPr marL="527685" indent="-515620">
              <a:lnSpc>
                <a:spcPct val="100000"/>
              </a:lnSpc>
              <a:spcBef>
                <a:spcPts val="600"/>
              </a:spcBef>
              <a:buClr>
                <a:srgbClr val="93B6D2"/>
              </a:buClr>
              <a:buSzPct val="69230"/>
              <a:buAutoNum type="arabicPeriod"/>
              <a:tabLst>
                <a:tab pos="527685" algn="l"/>
                <a:tab pos="528320" algn="l"/>
              </a:tabLst>
            </a:pPr>
            <a:r>
              <a:rPr sz="2600" dirty="0">
                <a:latin typeface="Times New Roman"/>
                <a:cs typeface="Times New Roman"/>
              </a:rPr>
              <a:t>Polymorphism</a:t>
            </a:r>
          </a:p>
          <a:p>
            <a:pPr marL="527685" indent="-515620">
              <a:lnSpc>
                <a:spcPct val="100000"/>
              </a:lnSpc>
              <a:spcBef>
                <a:spcPts val="600"/>
              </a:spcBef>
              <a:buClr>
                <a:srgbClr val="93B6D2"/>
              </a:buClr>
              <a:buSzPct val="69230"/>
              <a:buAutoNum type="arabicPeriod"/>
              <a:tabLst>
                <a:tab pos="527685" algn="l"/>
                <a:tab pos="528320" algn="l"/>
              </a:tabLst>
            </a:pPr>
            <a:r>
              <a:rPr sz="2600" spc="-5" dirty="0">
                <a:latin typeface="Times New Roman"/>
                <a:cs typeface="Times New Roman"/>
              </a:rPr>
              <a:t>Abstraction</a:t>
            </a:r>
            <a:endParaRPr sz="2600" dirty="0">
              <a:latin typeface="Times New Roman"/>
              <a:cs typeface="Times New Roman"/>
            </a:endParaRPr>
          </a:p>
          <a:p>
            <a:pPr marL="527685" indent="-515620">
              <a:lnSpc>
                <a:spcPct val="100000"/>
              </a:lnSpc>
              <a:spcBef>
                <a:spcPts val="600"/>
              </a:spcBef>
              <a:buClr>
                <a:srgbClr val="93B6D2"/>
              </a:buClr>
              <a:buSzPct val="69230"/>
              <a:buAutoNum type="arabicPeriod"/>
              <a:tabLst>
                <a:tab pos="527685" algn="l"/>
                <a:tab pos="528320" algn="l"/>
              </a:tabLst>
            </a:pPr>
            <a:r>
              <a:rPr sz="2600" dirty="0">
                <a:latin typeface="Times New Roman"/>
                <a:cs typeface="Times New Roman"/>
              </a:rPr>
              <a:t>Encapsulation</a:t>
            </a:r>
          </a:p>
        </p:txBody>
      </p:sp>
      <p:sp>
        <p:nvSpPr>
          <p:cNvPr id="6" name="object 6"/>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a:t>
            </a:r>
            <a:endParaRPr sz="1200">
              <a:latin typeface="Times New Roman"/>
              <a:cs typeface="Times New Roman"/>
            </a:endParaRPr>
          </a:p>
        </p:txBody>
      </p:sp>
      <p:sp>
        <p:nvSpPr>
          <p:cNvPr id="7" name="Rectangle 6"/>
          <p:cNvSpPr/>
          <p:nvPr/>
        </p:nvSpPr>
        <p:spPr>
          <a:xfrm>
            <a:off x="558532" y="1559270"/>
            <a:ext cx="4089668" cy="584775"/>
          </a:xfrm>
          <a:prstGeom prst="rect">
            <a:avLst/>
          </a:prstGeom>
        </p:spPr>
        <p:txBody>
          <a:bodyPr wrap="square">
            <a:spAutoFit/>
          </a:bodyPr>
          <a:lstStyle/>
          <a:p>
            <a:pPr lvl="1"/>
            <a:r>
              <a:rPr lang="en-US" sz="3200" b="1" dirty="0">
                <a:solidFill>
                  <a:srgbClr val="000000"/>
                </a:solidFill>
                <a:latin typeface="-apple-system"/>
              </a:rPr>
              <a:t>Object-Oriented</a:t>
            </a:r>
          </a:p>
        </p:txBody>
      </p:sp>
      <p:sp>
        <p:nvSpPr>
          <p:cNvPr id="9" name="Rectangle 8"/>
          <p:cNvSpPr/>
          <p:nvPr/>
        </p:nvSpPr>
        <p:spPr>
          <a:xfrm>
            <a:off x="1122680" y="381000"/>
            <a:ext cx="4883068" cy="769441"/>
          </a:xfrm>
          <a:prstGeom prst="rect">
            <a:avLst/>
          </a:prstGeom>
        </p:spPr>
        <p:txBody>
          <a:bodyPr wrap="none">
            <a:spAutoFit/>
          </a:bodyPr>
          <a:lstStyle/>
          <a:p>
            <a:r>
              <a:rPr lang="en-IN" sz="4400" dirty="0">
                <a:solidFill>
                  <a:srgbClr val="775F54"/>
                </a:solidFill>
                <a:latin typeface="Times New Roman"/>
                <a:ea typeface="+mj-ea"/>
                <a:cs typeface="Times New Roman"/>
              </a:rPr>
              <a:t>The Java Buzzwords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797685" cy="696595"/>
          </a:xfrm>
          <a:prstGeom prst="rect">
            <a:avLst/>
          </a:prstGeom>
        </p:spPr>
        <p:txBody>
          <a:bodyPr vert="horz" wrap="square" lIns="0" tIns="13335" rIns="0" bIns="0" rtlCol="0">
            <a:spAutoFit/>
          </a:bodyPr>
          <a:lstStyle/>
          <a:p>
            <a:pPr marL="12700">
              <a:lnSpc>
                <a:spcPct val="100000"/>
              </a:lnSpc>
              <a:spcBef>
                <a:spcPts val="105"/>
              </a:spcBef>
            </a:pPr>
            <a:r>
              <a:rPr sz="4400" dirty="0"/>
              <a:t>Obj</a:t>
            </a:r>
            <a:r>
              <a:rPr sz="4400" spc="5" dirty="0"/>
              <a:t>e</a:t>
            </a:r>
            <a:r>
              <a:rPr sz="4400" dirty="0"/>
              <a:t>ct..</a:t>
            </a:r>
            <a:endParaRPr sz="4400"/>
          </a:p>
        </p:txBody>
      </p:sp>
      <p:sp>
        <p:nvSpPr>
          <p:cNvPr id="3" name="object 3"/>
          <p:cNvSpPr txBox="1"/>
          <p:nvPr/>
        </p:nvSpPr>
        <p:spPr>
          <a:xfrm>
            <a:off x="383540" y="1446842"/>
            <a:ext cx="8529320" cy="4262705"/>
          </a:xfrm>
          <a:prstGeom prst="rect">
            <a:avLst/>
          </a:prstGeom>
        </p:spPr>
        <p:txBody>
          <a:bodyPr vert="horz" wrap="square" lIns="0" tIns="101600" rIns="0" bIns="0" rtlCol="0">
            <a:spAutoFit/>
          </a:bodyPr>
          <a:lstStyle/>
          <a:p>
            <a:pPr marL="332740" indent="-320040">
              <a:lnSpc>
                <a:spcPct val="100000"/>
              </a:lnSpc>
              <a:spcBef>
                <a:spcPts val="800"/>
              </a:spcBef>
              <a:buClr>
                <a:srgbClr val="DD8046"/>
              </a:buClr>
              <a:buSzPct val="59259"/>
              <a:buFont typeface="Wingdings"/>
              <a:buChar char=""/>
              <a:tabLst>
                <a:tab pos="332105" algn="l"/>
                <a:tab pos="332740" algn="l"/>
              </a:tabLst>
            </a:pPr>
            <a:r>
              <a:rPr sz="2700" dirty="0">
                <a:solidFill>
                  <a:srgbClr val="333333"/>
                </a:solidFill>
                <a:latin typeface="Calibri"/>
                <a:cs typeface="Calibri"/>
              </a:rPr>
              <a:t>In</a:t>
            </a:r>
            <a:r>
              <a:rPr sz="2700" spc="-20" dirty="0">
                <a:solidFill>
                  <a:srgbClr val="333333"/>
                </a:solidFill>
                <a:latin typeface="Calibri"/>
                <a:cs typeface="Calibri"/>
              </a:rPr>
              <a:t> </a:t>
            </a:r>
            <a:r>
              <a:rPr sz="2700" spc="-5" dirty="0">
                <a:solidFill>
                  <a:srgbClr val="333333"/>
                </a:solidFill>
                <a:latin typeface="Calibri"/>
                <a:cs typeface="Calibri"/>
              </a:rPr>
              <a:t>simple</a:t>
            </a:r>
            <a:r>
              <a:rPr sz="2700" spc="-10" dirty="0">
                <a:solidFill>
                  <a:srgbClr val="333333"/>
                </a:solidFill>
                <a:latin typeface="Calibri"/>
                <a:cs typeface="Calibri"/>
              </a:rPr>
              <a:t> </a:t>
            </a:r>
            <a:r>
              <a:rPr sz="2700" spc="-15" dirty="0">
                <a:solidFill>
                  <a:srgbClr val="333333"/>
                </a:solidFill>
                <a:latin typeface="Calibri"/>
                <a:cs typeface="Calibri"/>
              </a:rPr>
              <a:t>words, </a:t>
            </a:r>
            <a:r>
              <a:rPr sz="2700" spc="-5" dirty="0">
                <a:solidFill>
                  <a:srgbClr val="333333"/>
                </a:solidFill>
                <a:latin typeface="Calibri"/>
                <a:cs typeface="Calibri"/>
              </a:rPr>
              <a:t>object</a:t>
            </a:r>
            <a:r>
              <a:rPr sz="2700" spc="-15" dirty="0">
                <a:solidFill>
                  <a:srgbClr val="333333"/>
                </a:solidFill>
                <a:latin typeface="Calibri"/>
                <a:cs typeface="Calibri"/>
              </a:rPr>
              <a:t> </a:t>
            </a:r>
            <a:r>
              <a:rPr sz="2700" dirty="0">
                <a:solidFill>
                  <a:srgbClr val="333333"/>
                </a:solidFill>
                <a:latin typeface="Calibri"/>
                <a:cs typeface="Calibri"/>
              </a:rPr>
              <a:t>is</a:t>
            </a:r>
            <a:r>
              <a:rPr sz="2700" spc="-15" dirty="0">
                <a:solidFill>
                  <a:srgbClr val="333333"/>
                </a:solidFill>
                <a:latin typeface="Calibri"/>
                <a:cs typeface="Calibri"/>
              </a:rPr>
              <a:t> </a:t>
            </a:r>
            <a:r>
              <a:rPr sz="2700" dirty="0">
                <a:solidFill>
                  <a:srgbClr val="333333"/>
                </a:solidFill>
                <a:latin typeface="Calibri"/>
                <a:cs typeface="Calibri"/>
              </a:rPr>
              <a:t>a</a:t>
            </a:r>
            <a:r>
              <a:rPr sz="2700" spc="-5" dirty="0">
                <a:solidFill>
                  <a:srgbClr val="333333"/>
                </a:solidFill>
                <a:latin typeface="Calibri"/>
                <a:cs typeface="Calibri"/>
              </a:rPr>
              <a:t> </a:t>
            </a:r>
            <a:r>
              <a:rPr sz="2700" spc="-10" dirty="0">
                <a:solidFill>
                  <a:srgbClr val="333333"/>
                </a:solidFill>
                <a:latin typeface="Calibri"/>
                <a:cs typeface="Calibri"/>
              </a:rPr>
              <a:t>real </a:t>
            </a:r>
            <a:r>
              <a:rPr sz="2700" spc="-20" dirty="0">
                <a:solidFill>
                  <a:srgbClr val="333333"/>
                </a:solidFill>
                <a:latin typeface="Calibri"/>
                <a:cs typeface="Calibri"/>
              </a:rPr>
              <a:t>word</a:t>
            </a:r>
            <a:r>
              <a:rPr sz="2700" spc="-15" dirty="0">
                <a:solidFill>
                  <a:srgbClr val="333333"/>
                </a:solidFill>
                <a:latin typeface="Calibri"/>
                <a:cs typeface="Calibri"/>
              </a:rPr>
              <a:t> </a:t>
            </a:r>
            <a:r>
              <a:rPr sz="2700" spc="-35" dirty="0">
                <a:solidFill>
                  <a:srgbClr val="333333"/>
                </a:solidFill>
                <a:latin typeface="Calibri"/>
                <a:cs typeface="Calibri"/>
              </a:rPr>
              <a:t>entity.</a:t>
            </a:r>
            <a:endParaRPr sz="2700" dirty="0">
              <a:latin typeface="Calibri"/>
              <a:cs typeface="Calibri"/>
            </a:endParaRPr>
          </a:p>
          <a:p>
            <a:pPr marL="332740" marR="5080" indent="-320040">
              <a:lnSpc>
                <a:spcPct val="100000"/>
              </a:lnSpc>
              <a:spcBef>
                <a:spcPts val="700"/>
              </a:spcBef>
              <a:buClr>
                <a:srgbClr val="DD8046"/>
              </a:buClr>
              <a:buSzPct val="59259"/>
              <a:buFont typeface="Wingdings"/>
              <a:buChar char=""/>
              <a:tabLst>
                <a:tab pos="332105" algn="l"/>
                <a:tab pos="332740" algn="l"/>
              </a:tabLst>
            </a:pPr>
            <a:r>
              <a:rPr sz="2700" spc="-20" dirty="0">
                <a:solidFill>
                  <a:srgbClr val="333333"/>
                </a:solidFill>
                <a:latin typeface="Calibri"/>
                <a:cs typeface="Calibri"/>
              </a:rPr>
              <a:t>For</a:t>
            </a:r>
            <a:r>
              <a:rPr sz="2700" spc="360" dirty="0">
                <a:solidFill>
                  <a:srgbClr val="333333"/>
                </a:solidFill>
                <a:latin typeface="Calibri"/>
                <a:cs typeface="Calibri"/>
              </a:rPr>
              <a:t> </a:t>
            </a:r>
            <a:r>
              <a:rPr sz="2700" spc="-15" dirty="0">
                <a:solidFill>
                  <a:srgbClr val="333333"/>
                </a:solidFill>
                <a:latin typeface="Calibri"/>
                <a:cs typeface="Calibri"/>
              </a:rPr>
              <a:t>example,</a:t>
            </a:r>
            <a:r>
              <a:rPr sz="2700" spc="355" dirty="0">
                <a:solidFill>
                  <a:srgbClr val="333333"/>
                </a:solidFill>
                <a:latin typeface="Calibri"/>
                <a:cs typeface="Calibri"/>
              </a:rPr>
              <a:t> </a:t>
            </a:r>
            <a:r>
              <a:rPr sz="2700" spc="5" dirty="0">
                <a:solidFill>
                  <a:srgbClr val="333333"/>
                </a:solidFill>
                <a:latin typeface="Calibri"/>
                <a:cs typeface="Calibri"/>
              </a:rPr>
              <a:t>dog,</a:t>
            </a:r>
            <a:r>
              <a:rPr sz="2700" spc="360" dirty="0">
                <a:solidFill>
                  <a:srgbClr val="333333"/>
                </a:solidFill>
                <a:latin typeface="Calibri"/>
                <a:cs typeface="Calibri"/>
              </a:rPr>
              <a:t> </a:t>
            </a:r>
            <a:r>
              <a:rPr sz="2700" spc="-70" dirty="0">
                <a:solidFill>
                  <a:srgbClr val="333333"/>
                </a:solidFill>
                <a:latin typeface="Calibri"/>
                <a:cs typeface="Calibri"/>
              </a:rPr>
              <a:t>car,</a:t>
            </a:r>
            <a:r>
              <a:rPr sz="2700" spc="360" dirty="0">
                <a:solidFill>
                  <a:srgbClr val="333333"/>
                </a:solidFill>
                <a:latin typeface="Calibri"/>
                <a:cs typeface="Calibri"/>
              </a:rPr>
              <a:t> </a:t>
            </a:r>
            <a:r>
              <a:rPr sz="2700" spc="-5" dirty="0">
                <a:solidFill>
                  <a:srgbClr val="333333"/>
                </a:solidFill>
                <a:latin typeface="Calibri"/>
                <a:cs typeface="Calibri"/>
              </a:rPr>
              <a:t>pen,</a:t>
            </a:r>
            <a:r>
              <a:rPr sz="2700" spc="360" dirty="0">
                <a:solidFill>
                  <a:srgbClr val="333333"/>
                </a:solidFill>
                <a:latin typeface="Calibri"/>
                <a:cs typeface="Calibri"/>
              </a:rPr>
              <a:t> </a:t>
            </a:r>
            <a:r>
              <a:rPr sz="2700" spc="-10" dirty="0">
                <a:solidFill>
                  <a:srgbClr val="333333"/>
                </a:solidFill>
                <a:latin typeface="Calibri"/>
                <a:cs typeface="Calibri"/>
              </a:rPr>
              <a:t>desk,</a:t>
            </a:r>
            <a:r>
              <a:rPr sz="2700" spc="355" dirty="0">
                <a:solidFill>
                  <a:srgbClr val="333333"/>
                </a:solidFill>
                <a:latin typeface="Calibri"/>
                <a:cs typeface="Calibri"/>
              </a:rPr>
              <a:t> </a:t>
            </a:r>
            <a:r>
              <a:rPr sz="2700" spc="-20" dirty="0">
                <a:solidFill>
                  <a:srgbClr val="333333"/>
                </a:solidFill>
                <a:latin typeface="Calibri"/>
                <a:cs typeface="Calibri"/>
              </a:rPr>
              <a:t>etc.</a:t>
            </a:r>
            <a:r>
              <a:rPr sz="2700" spc="365" dirty="0">
                <a:solidFill>
                  <a:srgbClr val="333333"/>
                </a:solidFill>
                <a:latin typeface="Calibri"/>
                <a:cs typeface="Calibri"/>
              </a:rPr>
              <a:t> </a:t>
            </a:r>
            <a:r>
              <a:rPr sz="2700" spc="-20" dirty="0">
                <a:solidFill>
                  <a:srgbClr val="333333"/>
                </a:solidFill>
                <a:latin typeface="Calibri"/>
                <a:cs typeface="Calibri"/>
              </a:rPr>
              <a:t>Each</a:t>
            </a:r>
            <a:r>
              <a:rPr sz="2700" spc="360" dirty="0">
                <a:solidFill>
                  <a:srgbClr val="333333"/>
                </a:solidFill>
                <a:latin typeface="Calibri"/>
                <a:cs typeface="Calibri"/>
              </a:rPr>
              <a:t> </a:t>
            </a:r>
            <a:r>
              <a:rPr sz="2700" spc="-5" dirty="0">
                <a:solidFill>
                  <a:srgbClr val="333333"/>
                </a:solidFill>
                <a:latin typeface="Calibri"/>
                <a:cs typeface="Calibri"/>
              </a:rPr>
              <a:t>object</a:t>
            </a:r>
            <a:r>
              <a:rPr sz="2700" spc="360" dirty="0">
                <a:solidFill>
                  <a:srgbClr val="333333"/>
                </a:solidFill>
                <a:latin typeface="Calibri"/>
                <a:cs typeface="Calibri"/>
              </a:rPr>
              <a:t> </a:t>
            </a:r>
            <a:r>
              <a:rPr sz="2700" spc="-15" dirty="0">
                <a:solidFill>
                  <a:srgbClr val="333333"/>
                </a:solidFill>
                <a:latin typeface="Calibri"/>
                <a:cs typeface="Calibri"/>
              </a:rPr>
              <a:t>shares </a:t>
            </a:r>
            <a:r>
              <a:rPr sz="2700" spc="-595" dirty="0">
                <a:solidFill>
                  <a:srgbClr val="333333"/>
                </a:solidFill>
                <a:latin typeface="Calibri"/>
                <a:cs typeface="Calibri"/>
              </a:rPr>
              <a:t> </a:t>
            </a:r>
            <a:r>
              <a:rPr sz="2700" dirty="0">
                <a:solidFill>
                  <a:srgbClr val="333333"/>
                </a:solidFill>
                <a:latin typeface="Calibri"/>
                <a:cs typeface="Calibri"/>
              </a:rPr>
              <a:t>the</a:t>
            </a:r>
            <a:r>
              <a:rPr sz="2700" spc="-20" dirty="0">
                <a:solidFill>
                  <a:srgbClr val="333333"/>
                </a:solidFill>
                <a:latin typeface="Calibri"/>
                <a:cs typeface="Calibri"/>
              </a:rPr>
              <a:t> </a:t>
            </a:r>
            <a:r>
              <a:rPr sz="2700" spc="-10" dirty="0">
                <a:solidFill>
                  <a:srgbClr val="333333"/>
                </a:solidFill>
                <a:latin typeface="Calibri"/>
                <a:cs typeface="Calibri"/>
              </a:rPr>
              <a:t>following</a:t>
            </a:r>
            <a:r>
              <a:rPr sz="2700" dirty="0">
                <a:solidFill>
                  <a:srgbClr val="333333"/>
                </a:solidFill>
                <a:latin typeface="Calibri"/>
                <a:cs typeface="Calibri"/>
              </a:rPr>
              <a:t> </a:t>
            </a:r>
            <a:r>
              <a:rPr sz="2700" spc="-10" dirty="0">
                <a:solidFill>
                  <a:srgbClr val="333333"/>
                </a:solidFill>
                <a:latin typeface="Calibri"/>
                <a:cs typeface="Calibri"/>
              </a:rPr>
              <a:t>two characteristics:</a:t>
            </a:r>
            <a:endParaRPr sz="2700" dirty="0">
              <a:latin typeface="Calibri"/>
              <a:cs typeface="Calibri"/>
            </a:endParaRPr>
          </a:p>
          <a:p>
            <a:pPr marL="332740" indent="-320040">
              <a:lnSpc>
                <a:spcPct val="100000"/>
              </a:lnSpc>
              <a:spcBef>
                <a:spcPts val="695"/>
              </a:spcBef>
              <a:buClr>
                <a:srgbClr val="DD8046"/>
              </a:buClr>
              <a:buSzPct val="59259"/>
              <a:buFont typeface="Arial MT"/>
              <a:buChar char="•"/>
              <a:tabLst>
                <a:tab pos="332105" algn="l"/>
                <a:tab pos="332740" algn="l"/>
              </a:tabLst>
            </a:pPr>
            <a:r>
              <a:rPr sz="2700" b="1" spc="-20" dirty="0">
                <a:latin typeface="Calibri"/>
                <a:cs typeface="Calibri"/>
              </a:rPr>
              <a:t>State:</a:t>
            </a:r>
            <a:r>
              <a:rPr sz="2700" b="1" spc="20" dirty="0">
                <a:latin typeface="Calibri"/>
                <a:cs typeface="Calibri"/>
              </a:rPr>
              <a:t> </a:t>
            </a:r>
            <a:r>
              <a:rPr sz="2700" spc="-5" dirty="0">
                <a:latin typeface="Calibri"/>
                <a:cs typeface="Calibri"/>
              </a:rPr>
              <a:t>The</a:t>
            </a:r>
            <a:r>
              <a:rPr sz="2700" spc="-15" dirty="0">
                <a:latin typeface="Calibri"/>
                <a:cs typeface="Calibri"/>
              </a:rPr>
              <a:t> </a:t>
            </a:r>
            <a:r>
              <a:rPr sz="2700" spc="-30" dirty="0">
                <a:latin typeface="Calibri"/>
                <a:cs typeface="Calibri"/>
              </a:rPr>
              <a:t>state</a:t>
            </a:r>
            <a:r>
              <a:rPr sz="2700" spc="-20" dirty="0">
                <a:latin typeface="Calibri"/>
                <a:cs typeface="Calibri"/>
              </a:rPr>
              <a:t> </a:t>
            </a:r>
            <a:r>
              <a:rPr sz="2700" dirty="0">
                <a:latin typeface="Calibri"/>
                <a:cs typeface="Calibri"/>
              </a:rPr>
              <a:t>of an</a:t>
            </a:r>
            <a:r>
              <a:rPr sz="2700" spc="-15" dirty="0">
                <a:latin typeface="Calibri"/>
                <a:cs typeface="Calibri"/>
              </a:rPr>
              <a:t> </a:t>
            </a:r>
            <a:r>
              <a:rPr sz="2700" spc="-5" dirty="0">
                <a:latin typeface="Calibri"/>
                <a:cs typeface="Calibri"/>
              </a:rPr>
              <a:t>object</a:t>
            </a:r>
            <a:r>
              <a:rPr sz="2700" spc="-15" dirty="0">
                <a:latin typeface="Calibri"/>
                <a:cs typeface="Calibri"/>
              </a:rPr>
              <a:t> </a:t>
            </a:r>
            <a:r>
              <a:rPr sz="2700" spc="-20" dirty="0">
                <a:latin typeface="Calibri"/>
                <a:cs typeface="Calibri"/>
              </a:rPr>
              <a:t>stored </a:t>
            </a:r>
            <a:r>
              <a:rPr sz="2700" dirty="0">
                <a:latin typeface="Calibri"/>
                <a:cs typeface="Calibri"/>
              </a:rPr>
              <a:t>in</a:t>
            </a:r>
            <a:r>
              <a:rPr sz="2700" spc="-5" dirty="0">
                <a:latin typeface="Calibri"/>
                <a:cs typeface="Calibri"/>
              </a:rPr>
              <a:t> </a:t>
            </a:r>
            <a:r>
              <a:rPr sz="2700" b="1" spc="-10" dirty="0">
                <a:latin typeface="Calibri"/>
                <a:cs typeface="Calibri"/>
              </a:rPr>
              <a:t>variables</a:t>
            </a:r>
            <a:endParaRPr sz="2700" dirty="0">
              <a:latin typeface="Calibri"/>
              <a:cs typeface="Calibri"/>
            </a:endParaRPr>
          </a:p>
          <a:p>
            <a:pPr marL="927100">
              <a:lnSpc>
                <a:spcPct val="100000"/>
              </a:lnSpc>
            </a:pPr>
            <a:r>
              <a:rPr sz="2700" spc="-5" dirty="0">
                <a:latin typeface="Calibri"/>
                <a:cs typeface="Calibri"/>
              </a:rPr>
              <a:t>(fields).</a:t>
            </a:r>
            <a:endParaRPr sz="2700" dirty="0">
              <a:latin typeface="Calibri"/>
              <a:cs typeface="Calibri"/>
            </a:endParaRPr>
          </a:p>
          <a:p>
            <a:pPr marL="332740" indent="-320040">
              <a:lnSpc>
                <a:spcPct val="100000"/>
              </a:lnSpc>
              <a:spcBef>
                <a:spcPts val="710"/>
              </a:spcBef>
              <a:buClr>
                <a:srgbClr val="DD8046"/>
              </a:buClr>
              <a:buSzPct val="59259"/>
              <a:buFont typeface="Arial MT"/>
              <a:buChar char="•"/>
              <a:tabLst>
                <a:tab pos="332105" algn="l"/>
                <a:tab pos="332740" algn="l"/>
              </a:tabLst>
            </a:pPr>
            <a:r>
              <a:rPr sz="2700" b="1" spc="-10" dirty="0">
                <a:latin typeface="Calibri"/>
                <a:cs typeface="Calibri"/>
              </a:rPr>
              <a:t>Behavior:</a:t>
            </a:r>
            <a:r>
              <a:rPr sz="2700" b="1" spc="15" dirty="0">
                <a:latin typeface="Calibri"/>
                <a:cs typeface="Calibri"/>
              </a:rPr>
              <a:t> </a:t>
            </a:r>
            <a:r>
              <a:rPr sz="2700" spc="-5" dirty="0">
                <a:latin typeface="Calibri"/>
                <a:cs typeface="Calibri"/>
              </a:rPr>
              <a:t>The</a:t>
            </a:r>
            <a:r>
              <a:rPr sz="2700" spc="-20" dirty="0">
                <a:latin typeface="Calibri"/>
                <a:cs typeface="Calibri"/>
              </a:rPr>
              <a:t> </a:t>
            </a:r>
            <a:r>
              <a:rPr sz="2700" b="1" spc="-5" dirty="0">
                <a:latin typeface="Calibri"/>
                <a:cs typeface="Calibri"/>
              </a:rPr>
              <a:t>methods</a:t>
            </a:r>
            <a:r>
              <a:rPr sz="2700" b="1" spc="5" dirty="0">
                <a:latin typeface="Calibri"/>
                <a:cs typeface="Calibri"/>
              </a:rPr>
              <a:t> </a:t>
            </a:r>
            <a:r>
              <a:rPr sz="2700" spc="-10" dirty="0">
                <a:latin typeface="Calibri"/>
                <a:cs typeface="Calibri"/>
              </a:rPr>
              <a:t>shows</a:t>
            </a:r>
            <a:r>
              <a:rPr sz="2700" spc="-30" dirty="0">
                <a:latin typeface="Calibri"/>
                <a:cs typeface="Calibri"/>
              </a:rPr>
              <a:t> </a:t>
            </a:r>
            <a:r>
              <a:rPr sz="2700" dirty="0">
                <a:latin typeface="Calibri"/>
                <a:cs typeface="Calibri"/>
              </a:rPr>
              <a:t>the</a:t>
            </a:r>
            <a:r>
              <a:rPr sz="2700" spc="-20" dirty="0">
                <a:latin typeface="Calibri"/>
                <a:cs typeface="Calibri"/>
              </a:rPr>
              <a:t> </a:t>
            </a:r>
            <a:r>
              <a:rPr sz="2700" spc="-10" dirty="0">
                <a:latin typeface="Calibri"/>
                <a:cs typeface="Calibri"/>
              </a:rPr>
              <a:t>behavior </a:t>
            </a:r>
            <a:r>
              <a:rPr sz="2700" dirty="0">
                <a:latin typeface="Calibri"/>
                <a:cs typeface="Calibri"/>
              </a:rPr>
              <a:t>of</a:t>
            </a:r>
            <a:r>
              <a:rPr sz="2700" spc="-15" dirty="0">
                <a:latin typeface="Calibri"/>
                <a:cs typeface="Calibri"/>
              </a:rPr>
              <a:t> </a:t>
            </a:r>
            <a:r>
              <a:rPr sz="2700" dirty="0">
                <a:latin typeface="Calibri"/>
                <a:cs typeface="Calibri"/>
              </a:rPr>
              <a:t>an</a:t>
            </a:r>
            <a:r>
              <a:rPr sz="2700" spc="-15" dirty="0">
                <a:latin typeface="Calibri"/>
                <a:cs typeface="Calibri"/>
              </a:rPr>
              <a:t> </a:t>
            </a:r>
            <a:r>
              <a:rPr sz="2700" spc="-5" dirty="0">
                <a:latin typeface="Calibri"/>
                <a:cs typeface="Calibri"/>
              </a:rPr>
              <a:t>object.</a:t>
            </a:r>
            <a:endParaRPr sz="2700" dirty="0">
              <a:latin typeface="Calibri"/>
              <a:cs typeface="Calibri"/>
            </a:endParaRPr>
          </a:p>
          <a:p>
            <a:pPr marL="332740" indent="-320040">
              <a:lnSpc>
                <a:spcPct val="100000"/>
              </a:lnSpc>
              <a:spcBef>
                <a:spcPts val="700"/>
              </a:spcBef>
              <a:buClr>
                <a:srgbClr val="DD8046"/>
              </a:buClr>
              <a:buSzPct val="59259"/>
              <a:buFont typeface="Wingdings"/>
              <a:buChar char=""/>
              <a:tabLst>
                <a:tab pos="332105" algn="l"/>
                <a:tab pos="332740" algn="l"/>
              </a:tabLst>
            </a:pPr>
            <a:r>
              <a:rPr sz="2700" spc="-10" dirty="0">
                <a:solidFill>
                  <a:srgbClr val="600A4A"/>
                </a:solidFill>
                <a:latin typeface="Calibri"/>
                <a:cs typeface="Calibri"/>
              </a:rPr>
              <a:t>Example</a:t>
            </a:r>
            <a:r>
              <a:rPr sz="2700" spc="-20" dirty="0">
                <a:solidFill>
                  <a:srgbClr val="600A4A"/>
                </a:solidFill>
                <a:latin typeface="Calibri"/>
                <a:cs typeface="Calibri"/>
              </a:rPr>
              <a:t> </a:t>
            </a:r>
            <a:r>
              <a:rPr sz="2700" dirty="0">
                <a:solidFill>
                  <a:srgbClr val="600A4A"/>
                </a:solidFill>
                <a:latin typeface="Calibri"/>
                <a:cs typeface="Calibri"/>
              </a:rPr>
              <a:t>of</a:t>
            </a:r>
            <a:r>
              <a:rPr sz="2700" spc="-5" dirty="0">
                <a:solidFill>
                  <a:srgbClr val="600A4A"/>
                </a:solidFill>
                <a:latin typeface="Calibri"/>
                <a:cs typeface="Calibri"/>
              </a:rPr>
              <a:t> </a:t>
            </a:r>
            <a:r>
              <a:rPr sz="2700" dirty="0">
                <a:solidFill>
                  <a:srgbClr val="600A4A"/>
                </a:solidFill>
                <a:latin typeface="Calibri"/>
                <a:cs typeface="Calibri"/>
              </a:rPr>
              <a:t>an</a:t>
            </a:r>
            <a:r>
              <a:rPr sz="2700" spc="-25" dirty="0">
                <a:solidFill>
                  <a:srgbClr val="600A4A"/>
                </a:solidFill>
                <a:latin typeface="Calibri"/>
                <a:cs typeface="Calibri"/>
              </a:rPr>
              <a:t> </a:t>
            </a:r>
            <a:r>
              <a:rPr sz="2700" spc="-5" dirty="0">
                <a:solidFill>
                  <a:srgbClr val="600A4A"/>
                </a:solidFill>
                <a:latin typeface="Calibri"/>
                <a:cs typeface="Calibri"/>
              </a:rPr>
              <a:t>Object</a:t>
            </a:r>
            <a:r>
              <a:rPr sz="2700" spc="-30" dirty="0">
                <a:solidFill>
                  <a:srgbClr val="600A4A"/>
                </a:solidFill>
                <a:latin typeface="Calibri"/>
                <a:cs typeface="Calibri"/>
              </a:rPr>
              <a:t> </a:t>
            </a:r>
            <a:r>
              <a:rPr sz="2700" dirty="0">
                <a:solidFill>
                  <a:srgbClr val="600A4A"/>
                </a:solidFill>
                <a:latin typeface="Calibri"/>
                <a:cs typeface="Calibri"/>
              </a:rPr>
              <a:t>–</a:t>
            </a:r>
            <a:r>
              <a:rPr sz="2700" spc="-10" dirty="0">
                <a:solidFill>
                  <a:srgbClr val="600A4A"/>
                </a:solidFill>
                <a:latin typeface="Calibri"/>
                <a:cs typeface="Calibri"/>
              </a:rPr>
              <a:t> </a:t>
            </a:r>
            <a:r>
              <a:rPr lang="en-US" sz="2700" spc="-5" dirty="0">
                <a:solidFill>
                  <a:srgbClr val="600A4A"/>
                </a:solidFill>
                <a:latin typeface="Calibri"/>
                <a:cs typeface="Calibri"/>
              </a:rPr>
              <a:t>Student</a:t>
            </a:r>
            <a:endParaRPr sz="2700" dirty="0">
              <a:latin typeface="Calibri"/>
              <a:cs typeface="Calibri"/>
            </a:endParaRPr>
          </a:p>
          <a:p>
            <a:pPr marL="789940" marR="5080" indent="-457834">
              <a:lnSpc>
                <a:spcPct val="100000"/>
              </a:lnSpc>
              <a:spcBef>
                <a:spcPts val="625"/>
              </a:spcBef>
              <a:tabLst>
                <a:tab pos="858519" algn="l"/>
              </a:tabLst>
            </a:pPr>
            <a:r>
              <a:rPr sz="1650" spc="-45" dirty="0">
                <a:solidFill>
                  <a:srgbClr val="93B6D2"/>
                </a:solidFill>
                <a:latin typeface="Microsoft Sans Serif"/>
                <a:cs typeface="Microsoft Sans Serif"/>
              </a:rPr>
              <a:t>🞑		</a:t>
            </a:r>
            <a:r>
              <a:rPr sz="2400" spc="-5" dirty="0">
                <a:solidFill>
                  <a:srgbClr val="333333"/>
                </a:solidFill>
                <a:latin typeface="Calibri"/>
                <a:cs typeface="Calibri"/>
              </a:rPr>
              <a:t>The</a:t>
            </a:r>
            <a:r>
              <a:rPr sz="2400" spc="295" dirty="0">
                <a:solidFill>
                  <a:srgbClr val="333333"/>
                </a:solidFill>
                <a:latin typeface="Calibri"/>
                <a:cs typeface="Calibri"/>
              </a:rPr>
              <a:t> </a:t>
            </a:r>
            <a:r>
              <a:rPr sz="2400" b="1" spc="-20" dirty="0">
                <a:solidFill>
                  <a:srgbClr val="333333"/>
                </a:solidFill>
                <a:latin typeface="Calibri"/>
                <a:cs typeface="Calibri"/>
              </a:rPr>
              <a:t>state</a:t>
            </a:r>
            <a:r>
              <a:rPr sz="2400" b="1" spc="315" dirty="0">
                <a:solidFill>
                  <a:srgbClr val="333333"/>
                </a:solidFill>
                <a:latin typeface="Calibri"/>
                <a:cs typeface="Calibri"/>
              </a:rPr>
              <a:t> </a:t>
            </a:r>
            <a:r>
              <a:rPr sz="2400" dirty="0">
                <a:solidFill>
                  <a:srgbClr val="333333"/>
                </a:solidFill>
                <a:latin typeface="Calibri"/>
                <a:cs typeface="Calibri"/>
              </a:rPr>
              <a:t>of</a:t>
            </a:r>
            <a:r>
              <a:rPr sz="2400" spc="295" dirty="0">
                <a:solidFill>
                  <a:srgbClr val="333333"/>
                </a:solidFill>
                <a:latin typeface="Calibri"/>
                <a:cs typeface="Calibri"/>
              </a:rPr>
              <a:t> </a:t>
            </a:r>
            <a:r>
              <a:rPr lang="en-US" sz="2400" spc="20" dirty="0">
                <a:solidFill>
                  <a:srgbClr val="333333"/>
                </a:solidFill>
                <a:latin typeface="Calibri"/>
                <a:cs typeface="Calibri"/>
              </a:rPr>
              <a:t>student</a:t>
            </a:r>
            <a:r>
              <a:rPr sz="2400" spc="290" dirty="0">
                <a:solidFill>
                  <a:srgbClr val="333333"/>
                </a:solidFill>
                <a:latin typeface="Calibri"/>
                <a:cs typeface="Calibri"/>
              </a:rPr>
              <a:t> </a:t>
            </a:r>
            <a:r>
              <a:rPr sz="2400" dirty="0">
                <a:solidFill>
                  <a:srgbClr val="333333"/>
                </a:solidFill>
                <a:latin typeface="Calibri"/>
                <a:cs typeface="Calibri"/>
              </a:rPr>
              <a:t>includes,</a:t>
            </a:r>
            <a:r>
              <a:rPr sz="2400" spc="295" dirty="0">
                <a:solidFill>
                  <a:srgbClr val="333333"/>
                </a:solidFill>
                <a:latin typeface="Calibri"/>
                <a:cs typeface="Calibri"/>
              </a:rPr>
              <a:t> </a:t>
            </a:r>
            <a:r>
              <a:rPr lang="en-US" sz="2400" spc="20" dirty="0" err="1">
                <a:solidFill>
                  <a:srgbClr val="333333"/>
                </a:solidFill>
                <a:latin typeface="Calibri"/>
                <a:cs typeface="Calibri"/>
              </a:rPr>
              <a:t>name</a:t>
            </a:r>
            <a:r>
              <a:rPr lang="en-US" sz="2400" spc="295" dirty="0" err="1">
                <a:solidFill>
                  <a:srgbClr val="333333"/>
                </a:solidFill>
                <a:latin typeface="Calibri"/>
                <a:cs typeface="Calibri"/>
              </a:rPr>
              <a:t>,</a:t>
            </a:r>
            <a:r>
              <a:rPr lang="en-US" sz="2400" spc="20" dirty="0" err="1">
                <a:solidFill>
                  <a:srgbClr val="333333"/>
                </a:solidFill>
                <a:latin typeface="Calibri"/>
                <a:cs typeface="Calibri"/>
              </a:rPr>
              <a:t>marks</a:t>
            </a:r>
            <a:r>
              <a:rPr lang="en-US" sz="2400" spc="295" dirty="0" err="1">
                <a:solidFill>
                  <a:srgbClr val="333333"/>
                </a:solidFill>
                <a:latin typeface="Calibri"/>
                <a:cs typeface="Calibri"/>
              </a:rPr>
              <a:t>,</a:t>
            </a:r>
            <a:r>
              <a:rPr lang="en-US" sz="2400" spc="20" dirty="0" err="1">
                <a:solidFill>
                  <a:srgbClr val="333333"/>
                </a:solidFill>
                <a:latin typeface="Calibri"/>
                <a:cs typeface="Calibri"/>
              </a:rPr>
              <a:t>subjects</a:t>
            </a:r>
            <a:r>
              <a:rPr sz="2400" spc="20" dirty="0">
                <a:solidFill>
                  <a:srgbClr val="333333"/>
                </a:solidFill>
                <a:latin typeface="Calibri"/>
                <a:cs typeface="Calibri"/>
              </a:rPr>
              <a:t>.</a:t>
            </a:r>
          </a:p>
          <a:p>
            <a:pPr marL="332740">
              <a:lnSpc>
                <a:spcPct val="100000"/>
              </a:lnSpc>
              <a:spcBef>
                <a:spcPts val="600"/>
              </a:spcBef>
              <a:tabLst>
                <a:tab pos="789940" algn="l"/>
              </a:tabLst>
            </a:pPr>
            <a:r>
              <a:rPr sz="2400" spc="20" dirty="0">
                <a:solidFill>
                  <a:srgbClr val="333333"/>
                </a:solidFill>
                <a:latin typeface="Calibri"/>
                <a:cs typeface="Calibri"/>
              </a:rPr>
              <a:t>🞑	The  </a:t>
            </a:r>
            <a:r>
              <a:rPr sz="2400" spc="20" dirty="0" smtClean="0">
                <a:solidFill>
                  <a:srgbClr val="333333"/>
                </a:solidFill>
                <a:latin typeface="Calibri"/>
                <a:cs typeface="Calibri"/>
              </a:rPr>
              <a:t>behavior </a:t>
            </a:r>
            <a:r>
              <a:rPr sz="2400" spc="20" dirty="0">
                <a:solidFill>
                  <a:srgbClr val="333333"/>
                </a:solidFill>
                <a:latin typeface="Calibri"/>
                <a:cs typeface="Calibri"/>
              </a:rPr>
              <a:t>includes</a:t>
            </a:r>
            <a:r>
              <a:rPr lang="en-US" sz="2400" spc="20" dirty="0">
                <a:solidFill>
                  <a:srgbClr val="333333"/>
                </a:solidFill>
                <a:latin typeface="Calibri"/>
                <a:cs typeface="Calibri"/>
              </a:rPr>
              <a:t> accept()</a:t>
            </a:r>
            <a:r>
              <a:rPr sz="2400" spc="-5" dirty="0">
                <a:solidFill>
                  <a:srgbClr val="333333"/>
                </a:solidFill>
                <a:latin typeface="Calibri"/>
                <a:cs typeface="Calibri"/>
              </a:rPr>
              <a:t>,</a:t>
            </a:r>
            <a:r>
              <a:rPr lang="en-US" sz="2400" spc="-5" dirty="0">
                <a:solidFill>
                  <a:srgbClr val="333333"/>
                </a:solidFill>
                <a:latin typeface="Calibri"/>
                <a:cs typeface="Calibri"/>
              </a:rPr>
              <a:t>display()</a:t>
            </a:r>
            <a:r>
              <a:rPr sz="2400" spc="-30" dirty="0">
                <a:solidFill>
                  <a:srgbClr val="333333"/>
                </a:solidFill>
                <a:latin typeface="Calibri"/>
                <a:cs typeface="Calibri"/>
              </a:rPr>
              <a:t> </a:t>
            </a:r>
            <a:r>
              <a:rPr sz="2400" spc="-10" dirty="0">
                <a:solidFill>
                  <a:srgbClr val="333333"/>
                </a:solidFill>
                <a:latin typeface="Calibri"/>
                <a:cs typeface="Calibri"/>
              </a:rPr>
              <a:t>etc.</a:t>
            </a:r>
            <a:endParaRPr sz="2400" dirty="0">
              <a:latin typeface="Calibri"/>
              <a:cs typeface="Calibri"/>
            </a:endParaRPr>
          </a:p>
        </p:txBody>
      </p:sp>
      <p:sp>
        <p:nvSpPr>
          <p:cNvPr id="4" name="object 4"/>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237615" cy="696595"/>
          </a:xfrm>
          <a:prstGeom prst="rect">
            <a:avLst/>
          </a:prstGeom>
        </p:spPr>
        <p:txBody>
          <a:bodyPr vert="horz" wrap="square" lIns="0" tIns="13335" rIns="0" bIns="0" rtlCol="0">
            <a:spAutoFit/>
          </a:bodyPr>
          <a:lstStyle/>
          <a:p>
            <a:pPr marL="12700">
              <a:lnSpc>
                <a:spcPct val="100000"/>
              </a:lnSpc>
              <a:spcBef>
                <a:spcPts val="105"/>
              </a:spcBef>
            </a:pPr>
            <a:r>
              <a:rPr sz="4400" dirty="0"/>
              <a:t>Class</a:t>
            </a:r>
            <a:endParaRPr sz="4400"/>
          </a:p>
        </p:txBody>
      </p:sp>
      <p:sp>
        <p:nvSpPr>
          <p:cNvPr id="3" name="object 3"/>
          <p:cNvSpPr txBox="1"/>
          <p:nvPr/>
        </p:nvSpPr>
        <p:spPr>
          <a:xfrm>
            <a:off x="154939" y="1462481"/>
            <a:ext cx="8534400" cy="4880310"/>
          </a:xfrm>
          <a:prstGeom prst="rect">
            <a:avLst/>
          </a:prstGeom>
        </p:spPr>
        <p:txBody>
          <a:bodyPr vert="horz" wrap="square" lIns="0" tIns="12700" rIns="0" bIns="0" rtlCol="0">
            <a:spAutoFit/>
          </a:bodyPr>
          <a:lstStyle/>
          <a:p>
            <a:pPr marL="332740" indent="-320040">
              <a:lnSpc>
                <a:spcPct val="100000"/>
              </a:lnSpc>
              <a:spcBef>
                <a:spcPts val="100"/>
              </a:spcBef>
              <a:buClr>
                <a:srgbClr val="DD8046"/>
              </a:buClr>
              <a:buSzPct val="59259"/>
              <a:buFont typeface="Wingdings"/>
              <a:buChar char=""/>
              <a:tabLst>
                <a:tab pos="332105" algn="l"/>
                <a:tab pos="332740" algn="l"/>
              </a:tabLst>
            </a:pPr>
            <a:r>
              <a:rPr sz="2700" b="1" dirty="0">
                <a:latin typeface="Times New Roman"/>
                <a:cs typeface="Times New Roman"/>
              </a:rPr>
              <a:t>Collection</a:t>
            </a:r>
            <a:r>
              <a:rPr sz="2700" b="1" spc="-30" dirty="0">
                <a:latin typeface="Times New Roman"/>
                <a:cs typeface="Times New Roman"/>
              </a:rPr>
              <a:t> </a:t>
            </a:r>
            <a:r>
              <a:rPr sz="2700" b="1" dirty="0">
                <a:latin typeface="Times New Roman"/>
                <a:cs typeface="Times New Roman"/>
              </a:rPr>
              <a:t>of</a:t>
            </a:r>
            <a:r>
              <a:rPr sz="2700" b="1" spc="-10" dirty="0">
                <a:latin typeface="Times New Roman"/>
                <a:cs typeface="Times New Roman"/>
              </a:rPr>
              <a:t> </a:t>
            </a:r>
            <a:r>
              <a:rPr sz="2700" b="1" dirty="0">
                <a:latin typeface="Times New Roman"/>
                <a:cs typeface="Times New Roman"/>
              </a:rPr>
              <a:t>objects</a:t>
            </a:r>
            <a:r>
              <a:rPr sz="2700" b="1" spc="-10" dirty="0">
                <a:latin typeface="Times New Roman"/>
                <a:cs typeface="Times New Roman"/>
              </a:rPr>
              <a:t> </a:t>
            </a:r>
            <a:r>
              <a:rPr sz="2700" dirty="0">
                <a:latin typeface="Times New Roman"/>
                <a:cs typeface="Times New Roman"/>
              </a:rPr>
              <a:t>is</a:t>
            </a:r>
            <a:r>
              <a:rPr sz="2700" spc="-10" dirty="0">
                <a:latin typeface="Times New Roman"/>
                <a:cs typeface="Times New Roman"/>
              </a:rPr>
              <a:t> </a:t>
            </a:r>
            <a:r>
              <a:rPr sz="2700" dirty="0">
                <a:latin typeface="Times New Roman"/>
                <a:cs typeface="Times New Roman"/>
              </a:rPr>
              <a:t>called</a:t>
            </a:r>
            <a:r>
              <a:rPr sz="2700" spc="-25" dirty="0">
                <a:latin typeface="Times New Roman"/>
                <a:cs typeface="Times New Roman"/>
              </a:rPr>
              <a:t> </a:t>
            </a:r>
            <a:r>
              <a:rPr sz="2700" dirty="0">
                <a:latin typeface="Times New Roman"/>
                <a:cs typeface="Times New Roman"/>
              </a:rPr>
              <a:t>class.</a:t>
            </a:r>
          </a:p>
          <a:p>
            <a:pPr marL="332740" marR="5080" indent="-320040">
              <a:lnSpc>
                <a:spcPts val="2590"/>
              </a:lnSpc>
              <a:spcBef>
                <a:spcPts val="670"/>
              </a:spcBef>
              <a:buClr>
                <a:srgbClr val="DD8046"/>
              </a:buClr>
              <a:buSzPct val="59259"/>
              <a:buFont typeface="Wingdings"/>
              <a:buChar char=""/>
              <a:tabLst>
                <a:tab pos="332105" algn="l"/>
                <a:tab pos="332740" algn="l"/>
                <a:tab pos="1176655" algn="l"/>
                <a:tab pos="1539875" algn="l"/>
                <a:tab pos="2164715" algn="l"/>
                <a:tab pos="2478405" algn="l"/>
                <a:tab pos="3155315" algn="l"/>
                <a:tab pos="4106545" algn="l"/>
                <a:tab pos="5130800" algn="l"/>
                <a:tab pos="5482590" algn="l"/>
                <a:tab pos="5845810" algn="l"/>
                <a:tab pos="6501130" algn="l"/>
                <a:tab pos="6815455" algn="l"/>
                <a:tab pos="8221980" algn="l"/>
              </a:tabLst>
            </a:pPr>
            <a:r>
              <a:rPr sz="2700" spc="-5" dirty="0">
                <a:solidFill>
                  <a:srgbClr val="273139"/>
                </a:solidFill>
                <a:latin typeface="Calibri"/>
                <a:cs typeface="Calibri"/>
              </a:rPr>
              <a:t>Clas</a:t>
            </a:r>
            <a:r>
              <a:rPr sz="2700" dirty="0">
                <a:solidFill>
                  <a:srgbClr val="273139"/>
                </a:solidFill>
                <a:latin typeface="Calibri"/>
                <a:cs typeface="Calibri"/>
              </a:rPr>
              <a:t>s	</a:t>
            </a:r>
            <a:r>
              <a:rPr sz="2700" spc="-10" dirty="0">
                <a:solidFill>
                  <a:srgbClr val="273139"/>
                </a:solidFill>
                <a:latin typeface="Calibri"/>
                <a:cs typeface="Calibri"/>
              </a:rPr>
              <a:t>i</a:t>
            </a:r>
            <a:r>
              <a:rPr sz="2700" dirty="0">
                <a:solidFill>
                  <a:srgbClr val="273139"/>
                </a:solidFill>
                <a:latin typeface="Calibri"/>
                <a:cs typeface="Calibri"/>
              </a:rPr>
              <a:t>s	</a:t>
            </a:r>
            <a:r>
              <a:rPr sz="2700" spc="-15" dirty="0">
                <a:solidFill>
                  <a:srgbClr val="273139"/>
                </a:solidFill>
                <a:latin typeface="Calibri"/>
                <a:cs typeface="Calibri"/>
              </a:rPr>
              <a:t>n</a:t>
            </a:r>
            <a:r>
              <a:rPr sz="2700" spc="-5" dirty="0">
                <a:solidFill>
                  <a:srgbClr val="273139"/>
                </a:solidFill>
                <a:latin typeface="Calibri"/>
                <a:cs typeface="Calibri"/>
              </a:rPr>
              <a:t>o</a:t>
            </a:r>
            <a:r>
              <a:rPr sz="2700" dirty="0">
                <a:solidFill>
                  <a:srgbClr val="273139"/>
                </a:solidFill>
                <a:latin typeface="Calibri"/>
                <a:cs typeface="Calibri"/>
              </a:rPr>
              <a:t>t	a	</a:t>
            </a:r>
            <a:r>
              <a:rPr sz="2700" spc="-45" dirty="0">
                <a:solidFill>
                  <a:srgbClr val="273139"/>
                </a:solidFill>
                <a:latin typeface="Calibri"/>
                <a:cs typeface="Calibri"/>
              </a:rPr>
              <a:t>r</a:t>
            </a:r>
            <a:r>
              <a:rPr sz="2700" spc="-15" dirty="0">
                <a:solidFill>
                  <a:srgbClr val="273139"/>
                </a:solidFill>
                <a:latin typeface="Calibri"/>
                <a:cs typeface="Calibri"/>
              </a:rPr>
              <a:t>e</a:t>
            </a:r>
            <a:r>
              <a:rPr sz="2700" dirty="0">
                <a:solidFill>
                  <a:srgbClr val="273139"/>
                </a:solidFill>
                <a:latin typeface="Calibri"/>
                <a:cs typeface="Calibri"/>
              </a:rPr>
              <a:t>al	</a:t>
            </a:r>
            <a:r>
              <a:rPr sz="2700" spc="-25" dirty="0">
                <a:solidFill>
                  <a:srgbClr val="273139"/>
                </a:solidFill>
                <a:latin typeface="Calibri"/>
                <a:cs typeface="Calibri"/>
              </a:rPr>
              <a:t>w</a:t>
            </a:r>
            <a:r>
              <a:rPr sz="2700" spc="-5" dirty="0">
                <a:solidFill>
                  <a:srgbClr val="273139"/>
                </a:solidFill>
                <a:latin typeface="Calibri"/>
                <a:cs typeface="Calibri"/>
              </a:rPr>
              <a:t>orl</a:t>
            </a:r>
            <a:r>
              <a:rPr sz="2700" dirty="0">
                <a:solidFill>
                  <a:srgbClr val="273139"/>
                </a:solidFill>
                <a:latin typeface="Calibri"/>
                <a:cs typeface="Calibri"/>
              </a:rPr>
              <a:t>d	e</a:t>
            </a:r>
            <a:r>
              <a:rPr sz="2700" spc="-30" dirty="0">
                <a:solidFill>
                  <a:srgbClr val="273139"/>
                </a:solidFill>
                <a:latin typeface="Calibri"/>
                <a:cs typeface="Calibri"/>
              </a:rPr>
              <a:t>n</a:t>
            </a:r>
            <a:r>
              <a:rPr sz="2700" dirty="0">
                <a:solidFill>
                  <a:srgbClr val="273139"/>
                </a:solidFill>
                <a:latin typeface="Calibri"/>
                <a:cs typeface="Calibri"/>
              </a:rPr>
              <a:t>t</a:t>
            </a:r>
            <a:r>
              <a:rPr sz="2700" spc="-15" dirty="0">
                <a:solidFill>
                  <a:srgbClr val="273139"/>
                </a:solidFill>
                <a:latin typeface="Calibri"/>
                <a:cs typeface="Calibri"/>
              </a:rPr>
              <a:t>i</a:t>
            </a:r>
            <a:r>
              <a:rPr sz="2700" dirty="0">
                <a:solidFill>
                  <a:srgbClr val="273139"/>
                </a:solidFill>
                <a:latin typeface="Calibri"/>
                <a:cs typeface="Calibri"/>
              </a:rPr>
              <a:t>t</a:t>
            </a:r>
            <a:r>
              <a:rPr sz="2700" spc="-185" dirty="0">
                <a:solidFill>
                  <a:srgbClr val="273139"/>
                </a:solidFill>
                <a:latin typeface="Calibri"/>
                <a:cs typeface="Calibri"/>
              </a:rPr>
              <a:t>y</a:t>
            </a:r>
            <a:r>
              <a:rPr sz="2700" dirty="0">
                <a:solidFill>
                  <a:srgbClr val="273139"/>
                </a:solidFill>
                <a:latin typeface="Calibri"/>
                <a:cs typeface="Calibri"/>
              </a:rPr>
              <a:t>.	It	is	</a:t>
            </a:r>
            <a:r>
              <a:rPr sz="2700" spc="-5" dirty="0">
                <a:solidFill>
                  <a:srgbClr val="273139"/>
                </a:solidFill>
                <a:latin typeface="Calibri"/>
                <a:cs typeface="Calibri"/>
              </a:rPr>
              <a:t>j</a:t>
            </a:r>
            <a:r>
              <a:rPr sz="2700" spc="-15" dirty="0">
                <a:solidFill>
                  <a:srgbClr val="273139"/>
                </a:solidFill>
                <a:latin typeface="Calibri"/>
                <a:cs typeface="Calibri"/>
              </a:rPr>
              <a:t>u</a:t>
            </a:r>
            <a:r>
              <a:rPr sz="2700" spc="-40" dirty="0">
                <a:solidFill>
                  <a:srgbClr val="273139"/>
                </a:solidFill>
                <a:latin typeface="Calibri"/>
                <a:cs typeface="Calibri"/>
              </a:rPr>
              <a:t>s</a:t>
            </a:r>
            <a:r>
              <a:rPr sz="2700" dirty="0">
                <a:solidFill>
                  <a:srgbClr val="273139"/>
                </a:solidFill>
                <a:latin typeface="Calibri"/>
                <a:cs typeface="Calibri"/>
              </a:rPr>
              <a:t>t	a	</a:t>
            </a:r>
            <a:r>
              <a:rPr sz="2700" spc="-30" dirty="0">
                <a:solidFill>
                  <a:srgbClr val="273139"/>
                </a:solidFill>
                <a:latin typeface="Calibri"/>
                <a:cs typeface="Calibri"/>
              </a:rPr>
              <a:t>t</a:t>
            </a:r>
            <a:r>
              <a:rPr sz="2700" dirty="0">
                <a:solidFill>
                  <a:srgbClr val="273139"/>
                </a:solidFill>
                <a:latin typeface="Calibri"/>
                <a:cs typeface="Calibri"/>
              </a:rPr>
              <a:t>emp</a:t>
            </a:r>
            <a:r>
              <a:rPr sz="2700" spc="-10" dirty="0">
                <a:solidFill>
                  <a:srgbClr val="273139"/>
                </a:solidFill>
                <a:latin typeface="Calibri"/>
                <a:cs typeface="Calibri"/>
              </a:rPr>
              <a:t>l</a:t>
            </a:r>
            <a:r>
              <a:rPr sz="2700" spc="-25" dirty="0">
                <a:solidFill>
                  <a:srgbClr val="273139"/>
                </a:solidFill>
                <a:latin typeface="Calibri"/>
                <a:cs typeface="Calibri"/>
              </a:rPr>
              <a:t>a</a:t>
            </a:r>
            <a:r>
              <a:rPr sz="2700" spc="-45" dirty="0">
                <a:solidFill>
                  <a:srgbClr val="273139"/>
                </a:solidFill>
                <a:latin typeface="Calibri"/>
                <a:cs typeface="Calibri"/>
              </a:rPr>
              <a:t>t</a:t>
            </a:r>
            <a:r>
              <a:rPr sz="2700" dirty="0">
                <a:solidFill>
                  <a:srgbClr val="273139"/>
                </a:solidFill>
                <a:latin typeface="Calibri"/>
                <a:cs typeface="Calibri"/>
              </a:rPr>
              <a:t>e	</a:t>
            </a:r>
            <a:r>
              <a:rPr sz="2700" spc="-10" dirty="0">
                <a:solidFill>
                  <a:srgbClr val="273139"/>
                </a:solidFill>
                <a:latin typeface="Calibri"/>
                <a:cs typeface="Calibri"/>
              </a:rPr>
              <a:t>or  blueprint</a:t>
            </a:r>
            <a:r>
              <a:rPr sz="2700" spc="-15" dirty="0">
                <a:solidFill>
                  <a:srgbClr val="273139"/>
                </a:solidFill>
                <a:latin typeface="Calibri"/>
                <a:cs typeface="Calibri"/>
              </a:rPr>
              <a:t> </a:t>
            </a:r>
            <a:r>
              <a:rPr sz="2700" dirty="0">
                <a:solidFill>
                  <a:srgbClr val="273139"/>
                </a:solidFill>
                <a:latin typeface="Calibri"/>
                <a:cs typeface="Calibri"/>
              </a:rPr>
              <a:t>or</a:t>
            </a:r>
            <a:r>
              <a:rPr sz="2700" spc="-20" dirty="0">
                <a:solidFill>
                  <a:srgbClr val="273139"/>
                </a:solidFill>
                <a:latin typeface="Calibri"/>
                <a:cs typeface="Calibri"/>
              </a:rPr>
              <a:t> </a:t>
            </a:r>
            <a:r>
              <a:rPr sz="2700" spc="-15" dirty="0">
                <a:solidFill>
                  <a:srgbClr val="273139"/>
                </a:solidFill>
                <a:latin typeface="Calibri"/>
                <a:cs typeface="Calibri"/>
              </a:rPr>
              <a:t>prototype</a:t>
            </a:r>
            <a:r>
              <a:rPr sz="2700" spc="-5" dirty="0">
                <a:solidFill>
                  <a:srgbClr val="273139"/>
                </a:solidFill>
                <a:latin typeface="Calibri"/>
                <a:cs typeface="Calibri"/>
              </a:rPr>
              <a:t> </a:t>
            </a:r>
            <a:r>
              <a:rPr sz="2700" spc="-15" dirty="0">
                <a:solidFill>
                  <a:srgbClr val="273139"/>
                </a:solidFill>
                <a:latin typeface="Calibri"/>
                <a:cs typeface="Calibri"/>
              </a:rPr>
              <a:t>from</a:t>
            </a:r>
            <a:r>
              <a:rPr sz="2700" spc="20" dirty="0">
                <a:solidFill>
                  <a:srgbClr val="273139"/>
                </a:solidFill>
                <a:latin typeface="Calibri"/>
                <a:cs typeface="Calibri"/>
              </a:rPr>
              <a:t> </a:t>
            </a:r>
            <a:r>
              <a:rPr sz="2700" dirty="0">
                <a:solidFill>
                  <a:srgbClr val="273139"/>
                </a:solidFill>
                <a:latin typeface="Calibri"/>
                <a:cs typeface="Calibri"/>
              </a:rPr>
              <a:t>which</a:t>
            </a:r>
            <a:r>
              <a:rPr sz="2700" spc="-30" dirty="0">
                <a:solidFill>
                  <a:srgbClr val="273139"/>
                </a:solidFill>
                <a:latin typeface="Calibri"/>
                <a:cs typeface="Calibri"/>
              </a:rPr>
              <a:t> </a:t>
            </a:r>
            <a:r>
              <a:rPr sz="2700" spc="-5" dirty="0">
                <a:solidFill>
                  <a:srgbClr val="273139"/>
                </a:solidFill>
                <a:latin typeface="Calibri"/>
                <a:cs typeface="Calibri"/>
              </a:rPr>
              <a:t>objects</a:t>
            </a:r>
            <a:r>
              <a:rPr sz="2700" spc="-10" dirty="0">
                <a:solidFill>
                  <a:srgbClr val="273139"/>
                </a:solidFill>
                <a:latin typeface="Calibri"/>
                <a:cs typeface="Calibri"/>
              </a:rPr>
              <a:t> </a:t>
            </a:r>
            <a:r>
              <a:rPr sz="2700" spc="-15" dirty="0">
                <a:solidFill>
                  <a:srgbClr val="273139"/>
                </a:solidFill>
                <a:latin typeface="Calibri"/>
                <a:cs typeface="Calibri"/>
              </a:rPr>
              <a:t>are created.</a:t>
            </a:r>
            <a:endParaRPr sz="2700" dirty="0">
              <a:latin typeface="Calibri"/>
              <a:cs typeface="Calibri"/>
            </a:endParaRPr>
          </a:p>
          <a:p>
            <a:pPr marL="332740" indent="-320040">
              <a:lnSpc>
                <a:spcPct val="100000"/>
              </a:lnSpc>
              <a:spcBef>
                <a:spcPts val="80"/>
              </a:spcBef>
              <a:buClr>
                <a:srgbClr val="DD8046"/>
              </a:buClr>
              <a:buSzPct val="59259"/>
              <a:buFont typeface="Wingdings"/>
              <a:buChar char=""/>
              <a:tabLst>
                <a:tab pos="332105" algn="l"/>
                <a:tab pos="332740" algn="l"/>
              </a:tabLst>
            </a:pPr>
            <a:r>
              <a:rPr sz="2700" spc="-5" dirty="0">
                <a:solidFill>
                  <a:srgbClr val="273139"/>
                </a:solidFill>
                <a:latin typeface="Calibri"/>
                <a:cs typeface="Calibri"/>
              </a:rPr>
              <a:t>Class</a:t>
            </a:r>
            <a:r>
              <a:rPr sz="2700" spc="-30" dirty="0">
                <a:solidFill>
                  <a:srgbClr val="273139"/>
                </a:solidFill>
                <a:latin typeface="Calibri"/>
                <a:cs typeface="Calibri"/>
              </a:rPr>
              <a:t> </a:t>
            </a:r>
            <a:r>
              <a:rPr sz="2700" spc="-5" dirty="0">
                <a:solidFill>
                  <a:srgbClr val="273139"/>
                </a:solidFill>
                <a:latin typeface="Calibri"/>
                <a:cs typeface="Calibri"/>
              </a:rPr>
              <a:t>does</a:t>
            </a:r>
            <a:r>
              <a:rPr sz="2700" spc="-25" dirty="0">
                <a:solidFill>
                  <a:srgbClr val="273139"/>
                </a:solidFill>
                <a:latin typeface="Calibri"/>
                <a:cs typeface="Calibri"/>
              </a:rPr>
              <a:t> </a:t>
            </a:r>
            <a:r>
              <a:rPr sz="2700" spc="-5" dirty="0">
                <a:solidFill>
                  <a:srgbClr val="273139"/>
                </a:solidFill>
                <a:latin typeface="Calibri"/>
                <a:cs typeface="Calibri"/>
              </a:rPr>
              <a:t>not</a:t>
            </a:r>
            <a:r>
              <a:rPr sz="2700" spc="-25" dirty="0">
                <a:solidFill>
                  <a:srgbClr val="273139"/>
                </a:solidFill>
                <a:latin typeface="Calibri"/>
                <a:cs typeface="Calibri"/>
              </a:rPr>
              <a:t> </a:t>
            </a:r>
            <a:r>
              <a:rPr sz="2700" spc="-5" dirty="0">
                <a:solidFill>
                  <a:srgbClr val="273139"/>
                </a:solidFill>
                <a:latin typeface="Calibri"/>
                <a:cs typeface="Calibri"/>
              </a:rPr>
              <a:t>occupy</a:t>
            </a:r>
            <a:r>
              <a:rPr sz="2700" spc="-35" dirty="0">
                <a:solidFill>
                  <a:srgbClr val="273139"/>
                </a:solidFill>
                <a:latin typeface="Calibri"/>
                <a:cs typeface="Calibri"/>
              </a:rPr>
              <a:t> </a:t>
            </a:r>
            <a:r>
              <a:rPr sz="2700" spc="-25" dirty="0">
                <a:solidFill>
                  <a:srgbClr val="273139"/>
                </a:solidFill>
                <a:latin typeface="Calibri"/>
                <a:cs typeface="Calibri"/>
              </a:rPr>
              <a:t>memory.</a:t>
            </a:r>
            <a:endParaRPr sz="2700" dirty="0">
              <a:latin typeface="Calibri"/>
              <a:cs typeface="Calibri"/>
            </a:endParaRPr>
          </a:p>
          <a:p>
            <a:pPr marL="332740" marR="6350" indent="-320040">
              <a:lnSpc>
                <a:spcPct val="80000"/>
              </a:lnSpc>
              <a:spcBef>
                <a:spcPts val="700"/>
              </a:spcBef>
              <a:buClr>
                <a:srgbClr val="DD8046"/>
              </a:buClr>
              <a:buSzPct val="59259"/>
              <a:buFont typeface="Wingdings"/>
              <a:buChar char=""/>
              <a:tabLst>
                <a:tab pos="332105" algn="l"/>
                <a:tab pos="332740" algn="l"/>
                <a:tab pos="1166495" algn="l"/>
                <a:tab pos="1518285" algn="l"/>
                <a:tab pos="1821814" algn="l"/>
                <a:tab pos="2777490" algn="l"/>
                <a:tab pos="3204210" algn="l"/>
                <a:tab pos="4582160" algn="l"/>
                <a:tab pos="5007610" algn="l"/>
                <a:tab pos="6348730" algn="l"/>
                <a:tab pos="7103109" algn="l"/>
                <a:tab pos="7994650" algn="l"/>
              </a:tabLst>
            </a:pPr>
            <a:r>
              <a:rPr sz="2700" spc="-5" dirty="0">
                <a:solidFill>
                  <a:srgbClr val="273139"/>
                </a:solidFill>
                <a:latin typeface="Calibri"/>
                <a:cs typeface="Calibri"/>
              </a:rPr>
              <a:t>Clas</a:t>
            </a:r>
            <a:r>
              <a:rPr sz="2700" dirty="0">
                <a:solidFill>
                  <a:srgbClr val="273139"/>
                </a:solidFill>
                <a:latin typeface="Calibri"/>
                <a:cs typeface="Calibri"/>
              </a:rPr>
              <a:t>s	is	a	g</a:t>
            </a:r>
            <a:r>
              <a:rPr sz="2700" spc="-55" dirty="0">
                <a:solidFill>
                  <a:srgbClr val="273139"/>
                </a:solidFill>
                <a:latin typeface="Calibri"/>
                <a:cs typeface="Calibri"/>
              </a:rPr>
              <a:t>r</a:t>
            </a:r>
            <a:r>
              <a:rPr sz="2700" spc="-5" dirty="0">
                <a:solidFill>
                  <a:srgbClr val="273139"/>
                </a:solidFill>
                <a:latin typeface="Calibri"/>
                <a:cs typeface="Calibri"/>
              </a:rPr>
              <a:t>ou</a:t>
            </a:r>
            <a:r>
              <a:rPr sz="2700" dirty="0">
                <a:solidFill>
                  <a:srgbClr val="273139"/>
                </a:solidFill>
                <a:latin typeface="Calibri"/>
                <a:cs typeface="Calibri"/>
              </a:rPr>
              <a:t>p	of	</a:t>
            </a:r>
            <a:r>
              <a:rPr sz="2700" spc="-45" dirty="0">
                <a:solidFill>
                  <a:srgbClr val="273139"/>
                </a:solidFill>
                <a:latin typeface="Calibri"/>
                <a:cs typeface="Calibri"/>
              </a:rPr>
              <a:t>v</a:t>
            </a:r>
            <a:r>
              <a:rPr sz="2700" dirty="0">
                <a:solidFill>
                  <a:srgbClr val="273139"/>
                </a:solidFill>
                <a:latin typeface="Calibri"/>
                <a:cs typeface="Calibri"/>
              </a:rPr>
              <a:t>ari</a:t>
            </a:r>
            <a:r>
              <a:rPr sz="2700" spc="-15" dirty="0">
                <a:solidFill>
                  <a:srgbClr val="273139"/>
                </a:solidFill>
                <a:latin typeface="Calibri"/>
                <a:cs typeface="Calibri"/>
              </a:rPr>
              <a:t>a</a:t>
            </a:r>
            <a:r>
              <a:rPr sz="2700" spc="-5" dirty="0">
                <a:solidFill>
                  <a:srgbClr val="273139"/>
                </a:solidFill>
                <a:latin typeface="Calibri"/>
                <a:cs typeface="Calibri"/>
              </a:rPr>
              <a:t>ble</a:t>
            </a:r>
            <a:r>
              <a:rPr sz="2700" dirty="0">
                <a:solidFill>
                  <a:srgbClr val="273139"/>
                </a:solidFill>
                <a:latin typeface="Calibri"/>
                <a:cs typeface="Calibri"/>
              </a:rPr>
              <a:t>s	of	</a:t>
            </a:r>
            <a:r>
              <a:rPr sz="2700" spc="-5" dirty="0">
                <a:solidFill>
                  <a:srgbClr val="273139"/>
                </a:solidFill>
                <a:latin typeface="Calibri"/>
                <a:cs typeface="Calibri"/>
              </a:rPr>
              <a:t>di</a:t>
            </a:r>
            <a:r>
              <a:rPr sz="2700" spc="-20" dirty="0">
                <a:solidFill>
                  <a:srgbClr val="273139"/>
                </a:solidFill>
                <a:latin typeface="Calibri"/>
                <a:cs typeface="Calibri"/>
              </a:rPr>
              <a:t>f</a:t>
            </a:r>
            <a:r>
              <a:rPr sz="2700" spc="-70" dirty="0">
                <a:solidFill>
                  <a:srgbClr val="273139"/>
                </a:solidFill>
                <a:latin typeface="Calibri"/>
                <a:cs typeface="Calibri"/>
              </a:rPr>
              <a:t>f</a:t>
            </a:r>
            <a:r>
              <a:rPr sz="2700" dirty="0">
                <a:solidFill>
                  <a:srgbClr val="273139"/>
                </a:solidFill>
                <a:latin typeface="Calibri"/>
                <a:cs typeface="Calibri"/>
              </a:rPr>
              <a:t>e</a:t>
            </a:r>
            <a:r>
              <a:rPr sz="2700" spc="-45" dirty="0">
                <a:solidFill>
                  <a:srgbClr val="273139"/>
                </a:solidFill>
                <a:latin typeface="Calibri"/>
                <a:cs typeface="Calibri"/>
              </a:rPr>
              <a:t>r</a:t>
            </a:r>
            <a:r>
              <a:rPr sz="2700" spc="-15" dirty="0">
                <a:solidFill>
                  <a:srgbClr val="273139"/>
                </a:solidFill>
                <a:latin typeface="Calibri"/>
                <a:cs typeface="Calibri"/>
              </a:rPr>
              <a:t>e</a:t>
            </a:r>
            <a:r>
              <a:rPr sz="2700" spc="-30" dirty="0">
                <a:solidFill>
                  <a:srgbClr val="273139"/>
                </a:solidFill>
                <a:latin typeface="Calibri"/>
                <a:cs typeface="Calibri"/>
              </a:rPr>
              <a:t>n</a:t>
            </a:r>
            <a:r>
              <a:rPr sz="2700" dirty="0">
                <a:solidFill>
                  <a:srgbClr val="273139"/>
                </a:solidFill>
                <a:latin typeface="Calibri"/>
                <a:cs typeface="Calibri"/>
              </a:rPr>
              <a:t>t	</a:t>
            </a:r>
            <a:r>
              <a:rPr sz="2700" spc="-5" dirty="0">
                <a:solidFill>
                  <a:srgbClr val="273139"/>
                </a:solidFill>
                <a:latin typeface="Calibri"/>
                <a:cs typeface="Calibri"/>
              </a:rPr>
              <a:t>d</a:t>
            </a:r>
            <a:r>
              <a:rPr sz="2700" spc="-20" dirty="0">
                <a:solidFill>
                  <a:srgbClr val="273139"/>
                </a:solidFill>
                <a:latin typeface="Calibri"/>
                <a:cs typeface="Calibri"/>
              </a:rPr>
              <a:t>a</a:t>
            </a:r>
            <a:r>
              <a:rPr sz="2700" spc="-55" dirty="0">
                <a:solidFill>
                  <a:srgbClr val="273139"/>
                </a:solidFill>
                <a:latin typeface="Calibri"/>
                <a:cs typeface="Calibri"/>
              </a:rPr>
              <a:t>t</a:t>
            </a:r>
            <a:r>
              <a:rPr sz="2700" dirty="0">
                <a:solidFill>
                  <a:srgbClr val="273139"/>
                </a:solidFill>
                <a:latin typeface="Calibri"/>
                <a:cs typeface="Calibri"/>
              </a:rPr>
              <a:t>a	typ</a:t>
            </a:r>
            <a:r>
              <a:rPr sz="2700" spc="-20" dirty="0">
                <a:solidFill>
                  <a:srgbClr val="273139"/>
                </a:solidFill>
                <a:latin typeface="Calibri"/>
                <a:cs typeface="Calibri"/>
              </a:rPr>
              <a:t>e</a:t>
            </a:r>
            <a:r>
              <a:rPr sz="2700" dirty="0">
                <a:solidFill>
                  <a:srgbClr val="273139"/>
                </a:solidFill>
                <a:latin typeface="Calibri"/>
                <a:cs typeface="Calibri"/>
              </a:rPr>
              <a:t>s	and  </a:t>
            </a:r>
            <a:r>
              <a:rPr sz="2700" spc="-15" dirty="0">
                <a:solidFill>
                  <a:srgbClr val="273139"/>
                </a:solidFill>
                <a:latin typeface="Calibri"/>
                <a:cs typeface="Calibri"/>
              </a:rPr>
              <a:t>group</a:t>
            </a:r>
            <a:r>
              <a:rPr sz="2700" spc="-5" dirty="0">
                <a:solidFill>
                  <a:srgbClr val="273139"/>
                </a:solidFill>
                <a:latin typeface="Calibri"/>
                <a:cs typeface="Calibri"/>
              </a:rPr>
              <a:t> </a:t>
            </a:r>
            <a:r>
              <a:rPr sz="2700" dirty="0">
                <a:solidFill>
                  <a:srgbClr val="273139"/>
                </a:solidFill>
                <a:latin typeface="Calibri"/>
                <a:cs typeface="Calibri"/>
              </a:rPr>
              <a:t>of</a:t>
            </a:r>
            <a:r>
              <a:rPr sz="2700" spc="-10" dirty="0">
                <a:solidFill>
                  <a:srgbClr val="273139"/>
                </a:solidFill>
                <a:latin typeface="Calibri"/>
                <a:cs typeface="Calibri"/>
              </a:rPr>
              <a:t> </a:t>
            </a:r>
            <a:r>
              <a:rPr sz="2700" spc="-5" dirty="0">
                <a:solidFill>
                  <a:srgbClr val="273139"/>
                </a:solidFill>
                <a:latin typeface="Calibri"/>
                <a:cs typeface="Calibri"/>
              </a:rPr>
              <a:t>methods</a:t>
            </a:r>
            <a:r>
              <a:rPr sz="2700" spc="-5" dirty="0" smtClean="0">
                <a:solidFill>
                  <a:srgbClr val="273139"/>
                </a:solidFill>
                <a:latin typeface="Calibri"/>
                <a:cs typeface="Calibri"/>
              </a:rPr>
              <a:t>.</a:t>
            </a:r>
            <a:endParaRPr lang="en-US" sz="2700" spc="-5" dirty="0" smtClean="0">
              <a:solidFill>
                <a:srgbClr val="273139"/>
              </a:solidFill>
              <a:latin typeface="Calibri"/>
              <a:cs typeface="Calibri"/>
            </a:endParaRPr>
          </a:p>
          <a:p>
            <a:pPr marL="12700" marR="6350">
              <a:lnSpc>
                <a:spcPct val="80000"/>
              </a:lnSpc>
              <a:spcBef>
                <a:spcPts val="700"/>
              </a:spcBef>
              <a:buClr>
                <a:srgbClr val="DD8046"/>
              </a:buClr>
              <a:buSzPct val="59259"/>
              <a:tabLst>
                <a:tab pos="332105" algn="l"/>
                <a:tab pos="332740" algn="l"/>
                <a:tab pos="1166495" algn="l"/>
                <a:tab pos="1518285" algn="l"/>
                <a:tab pos="1821814" algn="l"/>
                <a:tab pos="2777490" algn="l"/>
                <a:tab pos="3204210" algn="l"/>
                <a:tab pos="4582160" algn="l"/>
                <a:tab pos="5007610" algn="l"/>
                <a:tab pos="6348730" algn="l"/>
                <a:tab pos="7103109" algn="l"/>
                <a:tab pos="7994650" algn="l"/>
              </a:tabLst>
            </a:pPr>
            <a:endParaRPr sz="2700" dirty="0">
              <a:latin typeface="Calibri"/>
              <a:cs typeface="Calibri"/>
            </a:endParaRPr>
          </a:p>
          <a:p>
            <a:pPr marL="332740" indent="-320040">
              <a:lnSpc>
                <a:spcPts val="2915"/>
              </a:lnSpc>
              <a:spcBef>
                <a:spcPts val="50"/>
              </a:spcBef>
              <a:buClr>
                <a:srgbClr val="DD8046"/>
              </a:buClr>
              <a:buSzPct val="59259"/>
              <a:buFont typeface="Wingdings"/>
              <a:buChar char=""/>
              <a:tabLst>
                <a:tab pos="332105" algn="l"/>
                <a:tab pos="332740" algn="l"/>
              </a:tabLst>
            </a:pPr>
            <a:r>
              <a:rPr sz="2700" dirty="0">
                <a:solidFill>
                  <a:srgbClr val="273139"/>
                </a:solidFill>
                <a:latin typeface="Calibri"/>
                <a:cs typeface="Calibri"/>
              </a:rPr>
              <a:t>A</a:t>
            </a:r>
            <a:r>
              <a:rPr sz="2700" spc="-10" dirty="0">
                <a:solidFill>
                  <a:srgbClr val="273139"/>
                </a:solidFill>
                <a:latin typeface="Calibri"/>
                <a:cs typeface="Calibri"/>
              </a:rPr>
              <a:t> </a:t>
            </a:r>
            <a:r>
              <a:rPr sz="2700" dirty="0">
                <a:solidFill>
                  <a:srgbClr val="273139"/>
                </a:solidFill>
                <a:latin typeface="Calibri"/>
                <a:cs typeface="Calibri"/>
              </a:rPr>
              <a:t>class</a:t>
            </a:r>
            <a:r>
              <a:rPr sz="2700" spc="-30" dirty="0">
                <a:solidFill>
                  <a:srgbClr val="273139"/>
                </a:solidFill>
                <a:latin typeface="Calibri"/>
                <a:cs typeface="Calibri"/>
              </a:rPr>
              <a:t> </a:t>
            </a:r>
            <a:r>
              <a:rPr sz="2700" dirty="0">
                <a:solidFill>
                  <a:srgbClr val="273139"/>
                </a:solidFill>
                <a:latin typeface="Calibri"/>
                <a:cs typeface="Calibri"/>
              </a:rPr>
              <a:t>in</a:t>
            </a:r>
            <a:r>
              <a:rPr sz="2700" spc="-10" dirty="0">
                <a:solidFill>
                  <a:srgbClr val="273139"/>
                </a:solidFill>
                <a:latin typeface="Calibri"/>
                <a:cs typeface="Calibri"/>
              </a:rPr>
              <a:t> </a:t>
            </a:r>
            <a:r>
              <a:rPr sz="2700" spc="-25" dirty="0">
                <a:solidFill>
                  <a:srgbClr val="273139"/>
                </a:solidFill>
                <a:latin typeface="Calibri"/>
                <a:cs typeface="Calibri"/>
              </a:rPr>
              <a:t>java</a:t>
            </a:r>
            <a:r>
              <a:rPr sz="2700" spc="-15" dirty="0">
                <a:solidFill>
                  <a:srgbClr val="273139"/>
                </a:solidFill>
                <a:latin typeface="Calibri"/>
                <a:cs typeface="Calibri"/>
              </a:rPr>
              <a:t> can</a:t>
            </a:r>
            <a:r>
              <a:rPr sz="2700" spc="-20" dirty="0">
                <a:solidFill>
                  <a:srgbClr val="273139"/>
                </a:solidFill>
                <a:latin typeface="Calibri"/>
                <a:cs typeface="Calibri"/>
              </a:rPr>
              <a:t> </a:t>
            </a:r>
            <a:r>
              <a:rPr sz="2700" spc="-15" dirty="0">
                <a:solidFill>
                  <a:srgbClr val="273139"/>
                </a:solidFill>
                <a:latin typeface="Calibri"/>
                <a:cs typeface="Calibri"/>
              </a:rPr>
              <a:t>contain:</a:t>
            </a:r>
            <a:endParaRPr sz="2700" dirty="0">
              <a:latin typeface="Calibri"/>
              <a:cs typeface="Calibri"/>
            </a:endParaRPr>
          </a:p>
          <a:p>
            <a:pPr marL="581660" lvl="1" indent="-249554">
              <a:lnSpc>
                <a:spcPts val="2595"/>
              </a:lnSpc>
              <a:buChar char="•"/>
              <a:tabLst>
                <a:tab pos="582295" algn="l"/>
              </a:tabLst>
            </a:pPr>
            <a:r>
              <a:rPr sz="2700" spc="-20" dirty="0">
                <a:solidFill>
                  <a:srgbClr val="273139"/>
                </a:solidFill>
                <a:latin typeface="Calibri"/>
                <a:cs typeface="Calibri"/>
              </a:rPr>
              <a:t>data</a:t>
            </a:r>
            <a:r>
              <a:rPr sz="2700" spc="-65" dirty="0">
                <a:solidFill>
                  <a:srgbClr val="273139"/>
                </a:solidFill>
                <a:latin typeface="Calibri"/>
                <a:cs typeface="Calibri"/>
              </a:rPr>
              <a:t> </a:t>
            </a:r>
            <a:r>
              <a:rPr sz="2700" spc="-15" dirty="0">
                <a:solidFill>
                  <a:srgbClr val="273139"/>
                </a:solidFill>
                <a:latin typeface="Calibri"/>
                <a:cs typeface="Calibri"/>
              </a:rPr>
              <a:t>/Variables</a:t>
            </a:r>
            <a:endParaRPr sz="2700" dirty="0">
              <a:latin typeface="Calibri"/>
              <a:cs typeface="Calibri"/>
            </a:endParaRPr>
          </a:p>
          <a:p>
            <a:pPr marL="582295" lvl="1" indent="-250190">
              <a:lnSpc>
                <a:spcPts val="2595"/>
              </a:lnSpc>
              <a:buChar char="•"/>
              <a:tabLst>
                <a:tab pos="582930" algn="l"/>
              </a:tabLst>
            </a:pPr>
            <a:r>
              <a:rPr sz="2700" spc="-5" dirty="0">
                <a:solidFill>
                  <a:srgbClr val="273139"/>
                </a:solidFill>
                <a:latin typeface="Calibri"/>
                <a:cs typeface="Calibri"/>
              </a:rPr>
              <a:t>methods</a:t>
            </a:r>
            <a:endParaRPr sz="2700" dirty="0">
              <a:latin typeface="Calibri"/>
              <a:cs typeface="Calibri"/>
            </a:endParaRPr>
          </a:p>
          <a:p>
            <a:pPr marL="582295" lvl="1" indent="-250190">
              <a:lnSpc>
                <a:spcPts val="2590"/>
              </a:lnSpc>
              <a:buChar char="•"/>
              <a:tabLst>
                <a:tab pos="582930" algn="l"/>
              </a:tabLst>
            </a:pPr>
            <a:r>
              <a:rPr sz="2700" spc="-20" dirty="0">
                <a:solidFill>
                  <a:srgbClr val="273139"/>
                </a:solidFill>
                <a:latin typeface="Calibri"/>
                <a:cs typeface="Calibri"/>
              </a:rPr>
              <a:t>constructors</a:t>
            </a:r>
            <a:endParaRPr sz="2700" dirty="0">
              <a:latin typeface="Calibri"/>
              <a:cs typeface="Calibri"/>
            </a:endParaRPr>
          </a:p>
          <a:p>
            <a:pPr marL="582295" lvl="1" indent="-250190">
              <a:lnSpc>
                <a:spcPts val="2590"/>
              </a:lnSpc>
              <a:buChar char="•"/>
              <a:tabLst>
                <a:tab pos="582930" algn="l"/>
              </a:tabLst>
            </a:pPr>
            <a:r>
              <a:rPr sz="2700" spc="-15" dirty="0">
                <a:solidFill>
                  <a:srgbClr val="273139"/>
                </a:solidFill>
                <a:latin typeface="Calibri"/>
                <a:cs typeface="Calibri"/>
              </a:rPr>
              <a:t>nested</a:t>
            </a:r>
            <a:r>
              <a:rPr sz="2700" spc="-60" dirty="0">
                <a:solidFill>
                  <a:srgbClr val="273139"/>
                </a:solidFill>
                <a:latin typeface="Calibri"/>
                <a:cs typeface="Calibri"/>
              </a:rPr>
              <a:t> </a:t>
            </a:r>
            <a:r>
              <a:rPr sz="2700" dirty="0">
                <a:solidFill>
                  <a:srgbClr val="273139"/>
                </a:solidFill>
                <a:latin typeface="Calibri"/>
                <a:cs typeface="Calibri"/>
              </a:rPr>
              <a:t>class</a:t>
            </a:r>
            <a:r>
              <a:rPr sz="2700" spc="-30" dirty="0">
                <a:solidFill>
                  <a:srgbClr val="273139"/>
                </a:solidFill>
                <a:latin typeface="Calibri"/>
                <a:cs typeface="Calibri"/>
              </a:rPr>
              <a:t> </a:t>
            </a:r>
            <a:r>
              <a:rPr sz="2700" dirty="0">
                <a:solidFill>
                  <a:srgbClr val="273139"/>
                </a:solidFill>
                <a:latin typeface="Calibri"/>
                <a:cs typeface="Calibri"/>
              </a:rPr>
              <a:t>and</a:t>
            </a:r>
            <a:endParaRPr sz="2700" dirty="0">
              <a:latin typeface="Calibri"/>
              <a:cs typeface="Calibri"/>
            </a:endParaRPr>
          </a:p>
          <a:p>
            <a:pPr marL="581660" lvl="1" indent="-249554">
              <a:lnSpc>
                <a:spcPts val="2915"/>
              </a:lnSpc>
              <a:buChar char="•"/>
              <a:tabLst>
                <a:tab pos="582295" algn="l"/>
              </a:tabLst>
            </a:pPr>
            <a:r>
              <a:rPr sz="2700" spc="-15" dirty="0">
                <a:solidFill>
                  <a:srgbClr val="273139"/>
                </a:solidFill>
                <a:latin typeface="Calibri"/>
                <a:cs typeface="Calibri"/>
              </a:rPr>
              <a:t>interfaces</a:t>
            </a:r>
            <a:endParaRPr sz="2700" dirty="0">
              <a:latin typeface="Calibri"/>
              <a:cs typeface="Calibri"/>
            </a:endParaRPr>
          </a:p>
        </p:txBody>
      </p:sp>
      <p:pic>
        <p:nvPicPr>
          <p:cNvPr id="4" name="object 4"/>
          <p:cNvPicPr/>
          <p:nvPr/>
        </p:nvPicPr>
        <p:blipFill>
          <a:blip r:embed="rId2" cstate="print"/>
          <a:stretch>
            <a:fillRect/>
          </a:stretch>
        </p:blipFill>
        <p:spPr>
          <a:xfrm>
            <a:off x="4267200" y="3581400"/>
            <a:ext cx="4800600" cy="3147060"/>
          </a:xfrm>
          <a:prstGeom prst="rect">
            <a:avLst/>
          </a:prstGeom>
        </p:spPr>
      </p:pic>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7</a:t>
            </a:r>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630"/>
              </a:lnSpc>
            </a:pPr>
            <a:r>
              <a:rPr spc="-5" dirty="0"/>
              <a:t>1/19/2023</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56859" y="304800"/>
            <a:ext cx="3787140" cy="2607564"/>
          </a:xfrm>
          <a:prstGeom prst="rect">
            <a:avLst/>
          </a:prstGeom>
        </p:spPr>
      </p:pic>
      <p:sp>
        <p:nvSpPr>
          <p:cNvPr id="3" name="object 3"/>
          <p:cNvSpPr txBox="1">
            <a:spLocks noGrp="1"/>
          </p:cNvSpPr>
          <p:nvPr>
            <p:ph type="title"/>
          </p:nvPr>
        </p:nvSpPr>
        <p:spPr>
          <a:xfrm>
            <a:off x="691387" y="356362"/>
            <a:ext cx="2543810" cy="696595"/>
          </a:xfrm>
          <a:prstGeom prst="rect">
            <a:avLst/>
          </a:prstGeom>
        </p:spPr>
        <p:txBody>
          <a:bodyPr vert="horz" wrap="square" lIns="0" tIns="13335" rIns="0" bIns="0" rtlCol="0">
            <a:spAutoFit/>
          </a:bodyPr>
          <a:lstStyle/>
          <a:p>
            <a:pPr marL="12700">
              <a:lnSpc>
                <a:spcPct val="100000"/>
              </a:lnSpc>
              <a:spcBef>
                <a:spcPts val="105"/>
              </a:spcBef>
            </a:pPr>
            <a:r>
              <a:rPr sz="4400" dirty="0"/>
              <a:t>Inheritance</a:t>
            </a:r>
            <a:endParaRPr sz="4400"/>
          </a:p>
        </p:txBody>
      </p:sp>
      <p:sp>
        <p:nvSpPr>
          <p:cNvPr id="4" name="object 4"/>
          <p:cNvSpPr txBox="1"/>
          <p:nvPr/>
        </p:nvSpPr>
        <p:spPr>
          <a:xfrm>
            <a:off x="214985" y="2819400"/>
            <a:ext cx="8759190" cy="3559949"/>
          </a:xfrm>
          <a:prstGeom prst="rect">
            <a:avLst/>
          </a:prstGeom>
        </p:spPr>
        <p:txBody>
          <a:bodyPr vert="horz" wrap="square" lIns="0" tIns="63500" rIns="0" bIns="0" rtlCol="0">
            <a:spAutoFit/>
          </a:bodyPr>
          <a:lstStyle/>
          <a:p>
            <a:pPr marL="332740" marR="5715" indent="-320040">
              <a:lnSpc>
                <a:spcPts val="3130"/>
              </a:lnSpc>
              <a:spcBef>
                <a:spcPts val="500"/>
              </a:spcBef>
              <a:buClr>
                <a:srgbClr val="DD8046"/>
              </a:buClr>
              <a:buSzPct val="60344"/>
              <a:buFont typeface="Wingdings"/>
              <a:buChar char=""/>
              <a:tabLst>
                <a:tab pos="332740" algn="l"/>
              </a:tabLst>
            </a:pPr>
            <a:r>
              <a:rPr sz="2900" spc="-5" dirty="0">
                <a:latin typeface="Times New Roman"/>
                <a:cs typeface="Times New Roman"/>
              </a:rPr>
              <a:t>Inheritance</a:t>
            </a:r>
            <a:r>
              <a:rPr sz="2900" spc="290" dirty="0">
                <a:latin typeface="Times New Roman"/>
                <a:cs typeface="Times New Roman"/>
              </a:rPr>
              <a:t> </a:t>
            </a:r>
            <a:r>
              <a:rPr sz="2900" spc="-5" dirty="0">
                <a:latin typeface="Times New Roman"/>
                <a:cs typeface="Times New Roman"/>
              </a:rPr>
              <a:t>is</a:t>
            </a:r>
            <a:r>
              <a:rPr sz="2900" spc="300" dirty="0">
                <a:latin typeface="Times New Roman"/>
                <a:cs typeface="Times New Roman"/>
              </a:rPr>
              <a:t> </a:t>
            </a:r>
            <a:r>
              <a:rPr sz="2900" dirty="0">
                <a:latin typeface="Times New Roman"/>
                <a:cs typeface="Times New Roman"/>
              </a:rPr>
              <a:t>the</a:t>
            </a:r>
            <a:r>
              <a:rPr sz="2900" spc="290" dirty="0">
                <a:latin typeface="Times New Roman"/>
                <a:cs typeface="Times New Roman"/>
              </a:rPr>
              <a:t> </a:t>
            </a:r>
            <a:r>
              <a:rPr sz="2900" spc="-5" dirty="0">
                <a:latin typeface="Times New Roman"/>
                <a:cs typeface="Times New Roman"/>
              </a:rPr>
              <a:t>process</a:t>
            </a:r>
            <a:r>
              <a:rPr sz="2900" spc="295" dirty="0">
                <a:latin typeface="Times New Roman"/>
                <a:cs typeface="Times New Roman"/>
              </a:rPr>
              <a:t> </a:t>
            </a:r>
            <a:r>
              <a:rPr sz="2900" dirty="0">
                <a:latin typeface="Times New Roman"/>
                <a:cs typeface="Times New Roman"/>
              </a:rPr>
              <a:t>by</a:t>
            </a:r>
            <a:r>
              <a:rPr sz="2900" spc="275" dirty="0">
                <a:latin typeface="Times New Roman"/>
                <a:cs typeface="Times New Roman"/>
              </a:rPr>
              <a:t> </a:t>
            </a:r>
            <a:r>
              <a:rPr sz="2900" dirty="0">
                <a:latin typeface="Times New Roman"/>
                <a:cs typeface="Times New Roman"/>
              </a:rPr>
              <a:t>which</a:t>
            </a:r>
            <a:r>
              <a:rPr sz="2900" spc="295" dirty="0">
                <a:latin typeface="Times New Roman"/>
                <a:cs typeface="Times New Roman"/>
              </a:rPr>
              <a:t> </a:t>
            </a:r>
            <a:r>
              <a:rPr sz="2900" spc="-5" dirty="0">
                <a:latin typeface="Times New Roman"/>
                <a:cs typeface="Times New Roman"/>
              </a:rPr>
              <a:t>one</a:t>
            </a:r>
            <a:r>
              <a:rPr sz="2900" spc="300" dirty="0">
                <a:latin typeface="Times New Roman"/>
                <a:cs typeface="Times New Roman"/>
              </a:rPr>
              <a:t> </a:t>
            </a:r>
            <a:r>
              <a:rPr sz="2900" spc="-5" dirty="0">
                <a:latin typeface="Times New Roman"/>
                <a:cs typeface="Times New Roman"/>
              </a:rPr>
              <a:t>object</a:t>
            </a:r>
            <a:r>
              <a:rPr sz="2900" spc="295" dirty="0">
                <a:latin typeface="Times New Roman"/>
                <a:cs typeface="Times New Roman"/>
              </a:rPr>
              <a:t> </a:t>
            </a:r>
            <a:r>
              <a:rPr sz="2900" spc="-5" dirty="0">
                <a:latin typeface="Times New Roman"/>
                <a:cs typeface="Times New Roman"/>
              </a:rPr>
              <a:t>acquires </a:t>
            </a:r>
            <a:r>
              <a:rPr sz="2900" spc="-710" dirty="0">
                <a:latin typeface="Times New Roman"/>
                <a:cs typeface="Times New Roman"/>
              </a:rPr>
              <a:t> </a:t>
            </a:r>
            <a:r>
              <a:rPr sz="2900" dirty="0">
                <a:latin typeface="Times New Roman"/>
                <a:cs typeface="Times New Roman"/>
              </a:rPr>
              <a:t>the</a:t>
            </a:r>
            <a:r>
              <a:rPr sz="2900" spc="-20" dirty="0">
                <a:latin typeface="Times New Roman"/>
                <a:cs typeface="Times New Roman"/>
              </a:rPr>
              <a:t> </a:t>
            </a:r>
            <a:r>
              <a:rPr sz="2900" dirty="0">
                <a:latin typeface="Times New Roman"/>
                <a:cs typeface="Times New Roman"/>
              </a:rPr>
              <a:t>properties</a:t>
            </a:r>
            <a:r>
              <a:rPr sz="2900" spc="-40" dirty="0">
                <a:latin typeface="Times New Roman"/>
                <a:cs typeface="Times New Roman"/>
              </a:rPr>
              <a:t> </a:t>
            </a:r>
            <a:r>
              <a:rPr sz="2900" dirty="0">
                <a:latin typeface="Times New Roman"/>
                <a:cs typeface="Times New Roman"/>
              </a:rPr>
              <a:t>of </a:t>
            </a:r>
            <a:r>
              <a:rPr sz="2900" spc="-5" dirty="0">
                <a:latin typeface="Times New Roman"/>
                <a:cs typeface="Times New Roman"/>
              </a:rPr>
              <a:t>another</a:t>
            </a:r>
            <a:r>
              <a:rPr sz="2900" spc="-15" dirty="0">
                <a:latin typeface="Times New Roman"/>
                <a:cs typeface="Times New Roman"/>
              </a:rPr>
              <a:t> </a:t>
            </a:r>
            <a:r>
              <a:rPr sz="2900" spc="-20" dirty="0">
                <a:latin typeface="Times New Roman"/>
                <a:cs typeface="Times New Roman"/>
              </a:rPr>
              <a:t>object.(Variables</a:t>
            </a:r>
            <a:r>
              <a:rPr sz="2900" spc="-35" dirty="0">
                <a:latin typeface="Times New Roman"/>
                <a:cs typeface="Times New Roman"/>
              </a:rPr>
              <a:t> </a:t>
            </a:r>
            <a:r>
              <a:rPr sz="2900" dirty="0">
                <a:latin typeface="Times New Roman"/>
                <a:cs typeface="Times New Roman"/>
              </a:rPr>
              <a:t>and</a:t>
            </a:r>
            <a:r>
              <a:rPr sz="2900" spc="-20" dirty="0">
                <a:latin typeface="Times New Roman"/>
                <a:cs typeface="Times New Roman"/>
              </a:rPr>
              <a:t> </a:t>
            </a:r>
            <a:r>
              <a:rPr sz="2900" spc="-5" dirty="0">
                <a:latin typeface="Times New Roman"/>
                <a:cs typeface="Times New Roman"/>
              </a:rPr>
              <a:t>methods).</a:t>
            </a:r>
            <a:endParaRPr sz="2900" dirty="0">
              <a:latin typeface="Times New Roman"/>
              <a:cs typeface="Times New Roman"/>
            </a:endParaRPr>
          </a:p>
          <a:p>
            <a:pPr marL="332740" marR="5715" indent="-320040">
              <a:lnSpc>
                <a:spcPts val="3140"/>
              </a:lnSpc>
              <a:spcBef>
                <a:spcPts val="705"/>
              </a:spcBef>
              <a:buClr>
                <a:srgbClr val="DD8046"/>
              </a:buClr>
              <a:buSzPct val="60344"/>
              <a:buFont typeface="Wingdings"/>
              <a:buChar char=""/>
              <a:tabLst>
                <a:tab pos="332740" algn="l"/>
              </a:tabLst>
            </a:pPr>
            <a:r>
              <a:rPr sz="2900" dirty="0">
                <a:latin typeface="Times New Roman"/>
                <a:cs typeface="Times New Roman"/>
              </a:rPr>
              <a:t>In</a:t>
            </a:r>
            <a:r>
              <a:rPr sz="2900" spc="25" dirty="0">
                <a:latin typeface="Times New Roman"/>
                <a:cs typeface="Times New Roman"/>
              </a:rPr>
              <a:t> </a:t>
            </a:r>
            <a:r>
              <a:rPr sz="2900" spc="-5" dirty="0">
                <a:latin typeface="Times New Roman"/>
                <a:cs typeface="Times New Roman"/>
              </a:rPr>
              <a:t>Java,</a:t>
            </a:r>
            <a:r>
              <a:rPr sz="2900" spc="25" dirty="0">
                <a:latin typeface="Times New Roman"/>
                <a:cs typeface="Times New Roman"/>
              </a:rPr>
              <a:t> </a:t>
            </a:r>
            <a:r>
              <a:rPr sz="2900" spc="-5" dirty="0">
                <a:latin typeface="Times New Roman"/>
                <a:cs typeface="Times New Roman"/>
              </a:rPr>
              <a:t>inheritance</a:t>
            </a:r>
            <a:r>
              <a:rPr sz="2900" spc="15" dirty="0">
                <a:latin typeface="Times New Roman"/>
                <a:cs typeface="Times New Roman"/>
              </a:rPr>
              <a:t> </a:t>
            </a:r>
            <a:r>
              <a:rPr sz="2900" spc="-5" dirty="0">
                <a:latin typeface="Times New Roman"/>
                <a:cs typeface="Times New Roman"/>
              </a:rPr>
              <a:t>means</a:t>
            </a:r>
            <a:r>
              <a:rPr sz="2900" spc="30" dirty="0">
                <a:latin typeface="Times New Roman"/>
                <a:cs typeface="Times New Roman"/>
              </a:rPr>
              <a:t> </a:t>
            </a:r>
            <a:r>
              <a:rPr sz="2900" dirty="0">
                <a:latin typeface="Times New Roman"/>
                <a:cs typeface="Times New Roman"/>
              </a:rPr>
              <a:t>creating new</a:t>
            </a:r>
            <a:r>
              <a:rPr sz="2900" spc="25" dirty="0">
                <a:latin typeface="Times New Roman"/>
                <a:cs typeface="Times New Roman"/>
              </a:rPr>
              <a:t> </a:t>
            </a:r>
            <a:r>
              <a:rPr sz="2900" spc="-5" dirty="0">
                <a:latin typeface="Times New Roman"/>
                <a:cs typeface="Times New Roman"/>
              </a:rPr>
              <a:t>classes</a:t>
            </a:r>
            <a:r>
              <a:rPr sz="2900" spc="25" dirty="0">
                <a:latin typeface="Times New Roman"/>
                <a:cs typeface="Times New Roman"/>
              </a:rPr>
              <a:t> </a:t>
            </a:r>
            <a:r>
              <a:rPr sz="2900" spc="-5" dirty="0">
                <a:latin typeface="Times New Roman"/>
                <a:cs typeface="Times New Roman"/>
              </a:rPr>
              <a:t>based</a:t>
            </a:r>
            <a:r>
              <a:rPr sz="2900" spc="30" dirty="0">
                <a:latin typeface="Times New Roman"/>
                <a:cs typeface="Times New Roman"/>
              </a:rPr>
              <a:t> </a:t>
            </a:r>
            <a:r>
              <a:rPr sz="2900" spc="-15" dirty="0">
                <a:latin typeface="Times New Roman"/>
                <a:cs typeface="Times New Roman"/>
              </a:rPr>
              <a:t>on </a:t>
            </a:r>
            <a:r>
              <a:rPr sz="2900" spc="-710" dirty="0">
                <a:latin typeface="Times New Roman"/>
                <a:cs typeface="Times New Roman"/>
              </a:rPr>
              <a:t> </a:t>
            </a:r>
            <a:r>
              <a:rPr sz="2900" spc="-5" dirty="0">
                <a:latin typeface="Times New Roman"/>
                <a:cs typeface="Times New Roman"/>
              </a:rPr>
              <a:t>existing</a:t>
            </a:r>
            <a:r>
              <a:rPr sz="2900" spc="-30" dirty="0">
                <a:latin typeface="Times New Roman"/>
                <a:cs typeface="Times New Roman"/>
              </a:rPr>
              <a:t> </a:t>
            </a:r>
            <a:r>
              <a:rPr sz="2900" spc="-5" dirty="0">
                <a:latin typeface="Times New Roman"/>
                <a:cs typeface="Times New Roman"/>
              </a:rPr>
              <a:t>ones.</a:t>
            </a:r>
            <a:endParaRPr sz="2900" dirty="0">
              <a:latin typeface="Times New Roman"/>
              <a:cs typeface="Times New Roman"/>
            </a:endParaRPr>
          </a:p>
          <a:p>
            <a:pPr marL="332740" marR="5080" indent="-320040">
              <a:lnSpc>
                <a:spcPts val="3130"/>
              </a:lnSpc>
              <a:spcBef>
                <a:spcPts val="690"/>
              </a:spcBef>
              <a:buClr>
                <a:srgbClr val="DD8046"/>
              </a:buClr>
              <a:buSzPct val="60344"/>
              <a:buFont typeface="Wingdings"/>
              <a:buChar char=""/>
              <a:tabLst>
                <a:tab pos="332740" algn="l"/>
                <a:tab pos="749935" algn="l"/>
                <a:tab pos="1633855" algn="l"/>
                <a:tab pos="2355215" algn="l"/>
                <a:tab pos="3626485" algn="l"/>
                <a:tab pos="4510405" algn="l"/>
                <a:tab pos="5784850" algn="l"/>
                <a:tab pos="6668770" algn="l"/>
                <a:tab pos="7348855" algn="l"/>
                <a:tab pos="8295005" algn="l"/>
              </a:tabLst>
            </a:pPr>
            <a:r>
              <a:rPr sz="2900" dirty="0">
                <a:latin typeface="Times New Roman"/>
                <a:cs typeface="Times New Roman"/>
              </a:rPr>
              <a:t>A	cl</a:t>
            </a:r>
            <a:r>
              <a:rPr sz="2900" spc="-15" dirty="0">
                <a:latin typeface="Times New Roman"/>
                <a:cs typeface="Times New Roman"/>
              </a:rPr>
              <a:t>a</a:t>
            </a:r>
            <a:r>
              <a:rPr sz="2900" dirty="0">
                <a:latin typeface="Times New Roman"/>
                <a:cs typeface="Times New Roman"/>
              </a:rPr>
              <a:t>ss	</a:t>
            </a:r>
            <a:r>
              <a:rPr sz="2900" spc="-15" dirty="0">
                <a:latin typeface="Times New Roman"/>
                <a:cs typeface="Times New Roman"/>
              </a:rPr>
              <a:t>t</a:t>
            </a:r>
            <a:r>
              <a:rPr sz="2900" dirty="0">
                <a:latin typeface="Times New Roman"/>
                <a:cs typeface="Times New Roman"/>
              </a:rPr>
              <a:t>hat	inh</a:t>
            </a:r>
            <a:r>
              <a:rPr sz="2900" spc="-15" dirty="0">
                <a:latin typeface="Times New Roman"/>
                <a:cs typeface="Times New Roman"/>
              </a:rPr>
              <a:t>e</a:t>
            </a:r>
            <a:r>
              <a:rPr sz="2900" dirty="0">
                <a:latin typeface="Times New Roman"/>
                <a:cs typeface="Times New Roman"/>
              </a:rPr>
              <a:t>rits	fr</a:t>
            </a:r>
            <a:r>
              <a:rPr sz="2900" spc="5" dirty="0">
                <a:latin typeface="Times New Roman"/>
                <a:cs typeface="Times New Roman"/>
              </a:rPr>
              <a:t>o</a:t>
            </a:r>
            <a:r>
              <a:rPr sz="2900" dirty="0">
                <a:latin typeface="Times New Roman"/>
                <a:cs typeface="Times New Roman"/>
              </a:rPr>
              <a:t>m	anoth</a:t>
            </a:r>
            <a:r>
              <a:rPr sz="2900" spc="-15" dirty="0">
                <a:latin typeface="Times New Roman"/>
                <a:cs typeface="Times New Roman"/>
              </a:rPr>
              <a:t>e</a:t>
            </a:r>
            <a:r>
              <a:rPr sz="2900" dirty="0">
                <a:latin typeface="Times New Roman"/>
                <a:cs typeface="Times New Roman"/>
              </a:rPr>
              <a:t>r	cl</a:t>
            </a:r>
            <a:r>
              <a:rPr sz="2900" spc="-30" dirty="0">
                <a:latin typeface="Times New Roman"/>
                <a:cs typeface="Times New Roman"/>
              </a:rPr>
              <a:t>a</a:t>
            </a:r>
            <a:r>
              <a:rPr sz="2900" dirty="0">
                <a:latin typeface="Times New Roman"/>
                <a:cs typeface="Times New Roman"/>
              </a:rPr>
              <a:t>ss	</a:t>
            </a:r>
            <a:r>
              <a:rPr sz="2900" spc="-10" dirty="0">
                <a:latin typeface="Times New Roman"/>
                <a:cs typeface="Times New Roman"/>
              </a:rPr>
              <a:t>ca</a:t>
            </a:r>
            <a:r>
              <a:rPr sz="2900" dirty="0">
                <a:latin typeface="Times New Roman"/>
                <a:cs typeface="Times New Roman"/>
              </a:rPr>
              <a:t>n	r</a:t>
            </a:r>
            <a:r>
              <a:rPr sz="2900" spc="-15" dirty="0">
                <a:latin typeface="Times New Roman"/>
                <a:cs typeface="Times New Roman"/>
              </a:rPr>
              <a:t>e</a:t>
            </a:r>
            <a:r>
              <a:rPr sz="2900" dirty="0">
                <a:latin typeface="Times New Roman"/>
                <a:cs typeface="Times New Roman"/>
              </a:rPr>
              <a:t>use	the  </a:t>
            </a:r>
            <a:r>
              <a:rPr sz="2900" spc="-5" dirty="0">
                <a:latin typeface="Times New Roman"/>
                <a:cs typeface="Times New Roman"/>
              </a:rPr>
              <a:t>methods</a:t>
            </a:r>
            <a:r>
              <a:rPr sz="2900" spc="5" dirty="0">
                <a:latin typeface="Times New Roman"/>
                <a:cs typeface="Times New Roman"/>
              </a:rPr>
              <a:t> </a:t>
            </a:r>
            <a:r>
              <a:rPr sz="2900" dirty="0">
                <a:latin typeface="Times New Roman"/>
                <a:cs typeface="Times New Roman"/>
              </a:rPr>
              <a:t>and </a:t>
            </a:r>
            <a:r>
              <a:rPr sz="2900" spc="-5" dirty="0">
                <a:latin typeface="Times New Roman"/>
                <a:cs typeface="Times New Roman"/>
              </a:rPr>
              <a:t>variables</a:t>
            </a:r>
            <a:r>
              <a:rPr sz="2900" spc="-20" dirty="0">
                <a:latin typeface="Times New Roman"/>
                <a:cs typeface="Times New Roman"/>
              </a:rPr>
              <a:t> </a:t>
            </a:r>
            <a:r>
              <a:rPr sz="2900" dirty="0">
                <a:latin typeface="Times New Roman"/>
                <a:cs typeface="Times New Roman"/>
              </a:rPr>
              <a:t>of</a:t>
            </a:r>
            <a:r>
              <a:rPr sz="2900" spc="-15" dirty="0">
                <a:latin typeface="Times New Roman"/>
                <a:cs typeface="Times New Roman"/>
              </a:rPr>
              <a:t> </a:t>
            </a:r>
            <a:r>
              <a:rPr sz="2900" dirty="0">
                <a:latin typeface="Times New Roman"/>
                <a:cs typeface="Times New Roman"/>
              </a:rPr>
              <a:t>that</a:t>
            </a:r>
            <a:r>
              <a:rPr sz="2900" spc="-15" dirty="0">
                <a:latin typeface="Times New Roman"/>
                <a:cs typeface="Times New Roman"/>
              </a:rPr>
              <a:t> </a:t>
            </a:r>
            <a:r>
              <a:rPr sz="2900" spc="-5" dirty="0">
                <a:latin typeface="Times New Roman"/>
                <a:cs typeface="Times New Roman"/>
              </a:rPr>
              <a:t>class.</a:t>
            </a:r>
            <a:endParaRPr sz="2900" dirty="0">
              <a:latin typeface="Times New Roman"/>
              <a:cs typeface="Times New Roman"/>
            </a:endParaRPr>
          </a:p>
          <a:p>
            <a:pPr marL="332740" indent="-320040">
              <a:lnSpc>
                <a:spcPct val="100000"/>
              </a:lnSpc>
              <a:spcBef>
                <a:spcPts val="305"/>
              </a:spcBef>
              <a:buClr>
                <a:srgbClr val="DD8046"/>
              </a:buClr>
              <a:buSzPct val="60344"/>
              <a:buFont typeface="Wingdings"/>
              <a:buChar char=""/>
              <a:tabLst>
                <a:tab pos="332740" algn="l"/>
              </a:tabLst>
            </a:pPr>
            <a:r>
              <a:rPr sz="2900" dirty="0">
                <a:latin typeface="Times New Roman"/>
                <a:cs typeface="Times New Roman"/>
              </a:rPr>
              <a:t>In</a:t>
            </a:r>
            <a:r>
              <a:rPr sz="2900" spc="325" dirty="0">
                <a:latin typeface="Times New Roman"/>
                <a:cs typeface="Times New Roman"/>
              </a:rPr>
              <a:t> </a:t>
            </a:r>
            <a:r>
              <a:rPr sz="2900" spc="-5" dirty="0">
                <a:latin typeface="Times New Roman"/>
                <a:cs typeface="Times New Roman"/>
              </a:rPr>
              <a:t>addition,</a:t>
            </a:r>
            <a:r>
              <a:rPr sz="2900" spc="335" dirty="0">
                <a:latin typeface="Times New Roman"/>
                <a:cs typeface="Times New Roman"/>
              </a:rPr>
              <a:t> </a:t>
            </a:r>
            <a:r>
              <a:rPr sz="2900" dirty="0">
                <a:latin typeface="Times New Roman"/>
                <a:cs typeface="Times New Roman"/>
              </a:rPr>
              <a:t>you</a:t>
            </a:r>
            <a:r>
              <a:rPr sz="2900" spc="325" dirty="0">
                <a:latin typeface="Times New Roman"/>
                <a:cs typeface="Times New Roman"/>
              </a:rPr>
              <a:t> </a:t>
            </a:r>
            <a:r>
              <a:rPr sz="2900" spc="-10" dirty="0">
                <a:latin typeface="Times New Roman"/>
                <a:cs typeface="Times New Roman"/>
              </a:rPr>
              <a:t>can</a:t>
            </a:r>
            <a:r>
              <a:rPr sz="2900" spc="340" dirty="0">
                <a:latin typeface="Times New Roman"/>
                <a:cs typeface="Times New Roman"/>
              </a:rPr>
              <a:t> </a:t>
            </a:r>
            <a:r>
              <a:rPr sz="2900" dirty="0">
                <a:latin typeface="Times New Roman"/>
                <a:cs typeface="Times New Roman"/>
              </a:rPr>
              <a:t>add</a:t>
            </a:r>
            <a:r>
              <a:rPr sz="2900" spc="320" dirty="0">
                <a:latin typeface="Times New Roman"/>
                <a:cs typeface="Times New Roman"/>
              </a:rPr>
              <a:t> </a:t>
            </a:r>
            <a:r>
              <a:rPr sz="2900" spc="-5" dirty="0">
                <a:latin typeface="Times New Roman"/>
                <a:cs typeface="Times New Roman"/>
              </a:rPr>
              <a:t>new</a:t>
            </a:r>
            <a:r>
              <a:rPr sz="2900" spc="345" dirty="0">
                <a:latin typeface="Times New Roman"/>
                <a:cs typeface="Times New Roman"/>
              </a:rPr>
              <a:t> </a:t>
            </a:r>
            <a:r>
              <a:rPr sz="2900" spc="-5" dirty="0">
                <a:latin typeface="Times New Roman"/>
                <a:cs typeface="Times New Roman"/>
              </a:rPr>
              <a:t>variables</a:t>
            </a:r>
            <a:r>
              <a:rPr sz="2900" spc="335" dirty="0">
                <a:latin typeface="Times New Roman"/>
                <a:cs typeface="Times New Roman"/>
              </a:rPr>
              <a:t> </a:t>
            </a:r>
            <a:r>
              <a:rPr sz="2900" dirty="0">
                <a:latin typeface="Times New Roman"/>
                <a:cs typeface="Times New Roman"/>
              </a:rPr>
              <a:t>and</a:t>
            </a:r>
            <a:r>
              <a:rPr sz="2900" spc="335" dirty="0">
                <a:latin typeface="Times New Roman"/>
                <a:cs typeface="Times New Roman"/>
              </a:rPr>
              <a:t> </a:t>
            </a:r>
            <a:r>
              <a:rPr sz="2900" spc="-5" dirty="0">
                <a:latin typeface="Times New Roman"/>
                <a:cs typeface="Times New Roman"/>
              </a:rPr>
              <a:t>methods</a:t>
            </a:r>
            <a:r>
              <a:rPr sz="2900" spc="330" dirty="0">
                <a:latin typeface="Times New Roman"/>
                <a:cs typeface="Times New Roman"/>
              </a:rPr>
              <a:t> </a:t>
            </a:r>
            <a:r>
              <a:rPr sz="2900" spc="-20" dirty="0">
                <a:latin typeface="Times New Roman"/>
                <a:cs typeface="Times New Roman"/>
              </a:rPr>
              <a:t>to</a:t>
            </a:r>
            <a:r>
              <a:rPr lang="en-US" sz="2900" spc="-20" dirty="0">
                <a:latin typeface="Times New Roman"/>
                <a:cs typeface="Times New Roman"/>
              </a:rPr>
              <a:t> your current class as well. It provides code reusability.</a:t>
            </a:r>
            <a:endParaRPr sz="2900" dirty="0">
              <a:latin typeface="Times New Roman"/>
              <a:cs typeface="Times New Roman"/>
            </a:endParaRPr>
          </a:p>
        </p:txBody>
      </p:sp>
      <p:sp>
        <p:nvSpPr>
          <p:cNvPr id="7" name="object 7"/>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8</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3324225" cy="696595"/>
          </a:xfrm>
          <a:prstGeom prst="rect">
            <a:avLst/>
          </a:prstGeom>
        </p:spPr>
        <p:txBody>
          <a:bodyPr vert="horz" wrap="square" lIns="0" tIns="13335" rIns="0" bIns="0" rtlCol="0">
            <a:spAutoFit/>
          </a:bodyPr>
          <a:lstStyle/>
          <a:p>
            <a:pPr marL="12700">
              <a:lnSpc>
                <a:spcPct val="100000"/>
              </a:lnSpc>
              <a:spcBef>
                <a:spcPts val="105"/>
              </a:spcBef>
            </a:pPr>
            <a:r>
              <a:rPr sz="4400" dirty="0"/>
              <a:t>Polymorphism</a:t>
            </a:r>
            <a:endParaRPr sz="4400"/>
          </a:p>
        </p:txBody>
      </p:sp>
      <p:sp>
        <p:nvSpPr>
          <p:cNvPr id="3" name="object 3"/>
          <p:cNvSpPr txBox="1"/>
          <p:nvPr/>
        </p:nvSpPr>
        <p:spPr>
          <a:xfrm>
            <a:off x="154939" y="1530832"/>
            <a:ext cx="8912860" cy="4360545"/>
          </a:xfrm>
          <a:prstGeom prst="rect">
            <a:avLst/>
          </a:prstGeom>
        </p:spPr>
        <p:txBody>
          <a:bodyPr vert="horz" wrap="square" lIns="0" tIns="102235" rIns="0" bIns="0" rtlCol="0">
            <a:spAutoFit/>
          </a:bodyPr>
          <a:lstStyle/>
          <a:p>
            <a:pPr marL="332740" indent="-320040" algn="just">
              <a:lnSpc>
                <a:spcPct val="100000"/>
              </a:lnSpc>
              <a:spcBef>
                <a:spcPts val="805"/>
              </a:spcBef>
              <a:buClr>
                <a:srgbClr val="DD8046"/>
              </a:buClr>
              <a:buSzPct val="60344"/>
              <a:buFont typeface="Wingdings"/>
              <a:buChar char=""/>
              <a:tabLst>
                <a:tab pos="332740" algn="l"/>
              </a:tabLst>
            </a:pPr>
            <a:r>
              <a:rPr sz="2900" spc="-5" dirty="0">
                <a:latin typeface="Times New Roman"/>
                <a:cs typeface="Times New Roman"/>
              </a:rPr>
              <a:t>Polymorphism</a:t>
            </a:r>
            <a:r>
              <a:rPr sz="2900" spc="-40" dirty="0">
                <a:latin typeface="Times New Roman"/>
                <a:cs typeface="Times New Roman"/>
              </a:rPr>
              <a:t> </a:t>
            </a:r>
            <a:r>
              <a:rPr sz="2900" spc="-10" dirty="0">
                <a:latin typeface="Times New Roman"/>
                <a:cs typeface="Times New Roman"/>
              </a:rPr>
              <a:t>means</a:t>
            </a:r>
            <a:r>
              <a:rPr sz="2900" spc="15" dirty="0">
                <a:latin typeface="Times New Roman"/>
                <a:cs typeface="Times New Roman"/>
              </a:rPr>
              <a:t> </a:t>
            </a:r>
            <a:r>
              <a:rPr sz="2900" spc="-5" dirty="0">
                <a:latin typeface="Times New Roman"/>
                <a:cs typeface="Times New Roman"/>
              </a:rPr>
              <a:t>"</a:t>
            </a:r>
            <a:r>
              <a:rPr sz="2900" spc="-5" dirty="0">
                <a:solidFill>
                  <a:srgbClr val="FF0000"/>
                </a:solidFill>
                <a:latin typeface="Times New Roman"/>
                <a:cs typeface="Times New Roman"/>
              </a:rPr>
              <a:t>many</a:t>
            </a:r>
            <a:r>
              <a:rPr sz="2900" spc="10" dirty="0">
                <a:solidFill>
                  <a:srgbClr val="FF0000"/>
                </a:solidFill>
                <a:latin typeface="Times New Roman"/>
                <a:cs typeface="Times New Roman"/>
              </a:rPr>
              <a:t> </a:t>
            </a:r>
            <a:r>
              <a:rPr sz="2900" spc="-5" dirty="0">
                <a:solidFill>
                  <a:srgbClr val="FF0000"/>
                </a:solidFill>
                <a:latin typeface="Times New Roman"/>
                <a:cs typeface="Times New Roman"/>
              </a:rPr>
              <a:t>forms</a:t>
            </a:r>
            <a:r>
              <a:rPr sz="2900" spc="-5" dirty="0">
                <a:latin typeface="Times New Roman"/>
                <a:cs typeface="Times New Roman"/>
              </a:rPr>
              <a:t>“</a:t>
            </a:r>
            <a:endParaRPr sz="2900">
              <a:latin typeface="Times New Roman"/>
              <a:cs typeface="Times New Roman"/>
            </a:endParaRPr>
          </a:p>
          <a:p>
            <a:pPr marL="332740" marR="5080" indent="-320040" algn="just">
              <a:lnSpc>
                <a:spcPct val="100000"/>
              </a:lnSpc>
              <a:spcBef>
                <a:spcPts val="710"/>
              </a:spcBef>
              <a:buClr>
                <a:srgbClr val="DD8046"/>
              </a:buClr>
              <a:buSzPct val="60344"/>
              <a:buFont typeface="Wingdings"/>
              <a:buChar char=""/>
              <a:tabLst>
                <a:tab pos="332740" algn="l"/>
              </a:tabLst>
            </a:pPr>
            <a:r>
              <a:rPr sz="2900" dirty="0">
                <a:latin typeface="Times New Roman"/>
                <a:cs typeface="Times New Roman"/>
              </a:rPr>
              <a:t>A</a:t>
            </a:r>
            <a:r>
              <a:rPr sz="2900" spc="5" dirty="0">
                <a:latin typeface="Times New Roman"/>
                <a:cs typeface="Times New Roman"/>
              </a:rPr>
              <a:t> </a:t>
            </a:r>
            <a:r>
              <a:rPr sz="2900" spc="-5" dirty="0">
                <a:latin typeface="Times New Roman"/>
                <a:cs typeface="Times New Roman"/>
              </a:rPr>
              <a:t>person</a:t>
            </a:r>
            <a:r>
              <a:rPr sz="2900" dirty="0">
                <a:latin typeface="Times New Roman"/>
                <a:cs typeface="Times New Roman"/>
              </a:rPr>
              <a:t> </a:t>
            </a:r>
            <a:r>
              <a:rPr sz="2900" spc="-5" dirty="0">
                <a:latin typeface="Times New Roman"/>
                <a:cs typeface="Times New Roman"/>
              </a:rPr>
              <a:t>at</a:t>
            </a:r>
            <a:r>
              <a:rPr sz="2900" dirty="0">
                <a:latin typeface="Times New Roman"/>
                <a:cs typeface="Times New Roman"/>
              </a:rPr>
              <a:t> </a:t>
            </a:r>
            <a:r>
              <a:rPr sz="2900" spc="-5" dirty="0">
                <a:latin typeface="Times New Roman"/>
                <a:cs typeface="Times New Roman"/>
              </a:rPr>
              <a:t>the</a:t>
            </a:r>
            <a:r>
              <a:rPr sz="2900" dirty="0">
                <a:latin typeface="Times New Roman"/>
                <a:cs typeface="Times New Roman"/>
              </a:rPr>
              <a:t> </a:t>
            </a:r>
            <a:r>
              <a:rPr sz="2900" spc="-5" dirty="0">
                <a:latin typeface="Times New Roman"/>
                <a:cs typeface="Times New Roman"/>
              </a:rPr>
              <a:t>same</a:t>
            </a:r>
            <a:r>
              <a:rPr sz="2900" dirty="0">
                <a:latin typeface="Times New Roman"/>
                <a:cs typeface="Times New Roman"/>
              </a:rPr>
              <a:t> </a:t>
            </a:r>
            <a:r>
              <a:rPr sz="2900" spc="-10" dirty="0">
                <a:latin typeface="Times New Roman"/>
                <a:cs typeface="Times New Roman"/>
              </a:rPr>
              <a:t>time</a:t>
            </a:r>
            <a:r>
              <a:rPr sz="2900" spc="-5" dirty="0">
                <a:latin typeface="Times New Roman"/>
                <a:cs typeface="Times New Roman"/>
              </a:rPr>
              <a:t> can</a:t>
            </a:r>
            <a:r>
              <a:rPr sz="2900" dirty="0">
                <a:latin typeface="Times New Roman"/>
                <a:cs typeface="Times New Roman"/>
              </a:rPr>
              <a:t> have</a:t>
            </a:r>
            <a:r>
              <a:rPr sz="2900" spc="5" dirty="0">
                <a:latin typeface="Times New Roman"/>
                <a:cs typeface="Times New Roman"/>
              </a:rPr>
              <a:t> </a:t>
            </a:r>
            <a:r>
              <a:rPr sz="2900" spc="-10" dirty="0">
                <a:latin typeface="Times New Roman"/>
                <a:cs typeface="Times New Roman"/>
              </a:rPr>
              <a:t>different </a:t>
            </a:r>
            <a:r>
              <a:rPr sz="2900" spc="-5" dirty="0">
                <a:latin typeface="Times New Roman"/>
                <a:cs typeface="Times New Roman"/>
              </a:rPr>
              <a:t> characteristics. </a:t>
            </a:r>
            <a:r>
              <a:rPr sz="2900" dirty="0">
                <a:latin typeface="Times New Roman"/>
                <a:cs typeface="Times New Roman"/>
              </a:rPr>
              <a:t>Like a </a:t>
            </a:r>
            <a:r>
              <a:rPr sz="2900" spc="-15" dirty="0">
                <a:latin typeface="Times New Roman"/>
                <a:cs typeface="Times New Roman"/>
              </a:rPr>
              <a:t>man </a:t>
            </a:r>
            <a:r>
              <a:rPr sz="2900" spc="-5" dirty="0">
                <a:latin typeface="Times New Roman"/>
                <a:cs typeface="Times New Roman"/>
              </a:rPr>
              <a:t>at </a:t>
            </a:r>
            <a:r>
              <a:rPr sz="2900" dirty="0">
                <a:latin typeface="Times New Roman"/>
                <a:cs typeface="Times New Roman"/>
              </a:rPr>
              <a:t>the </a:t>
            </a:r>
            <a:r>
              <a:rPr sz="2900" spc="-10" dirty="0">
                <a:latin typeface="Times New Roman"/>
                <a:cs typeface="Times New Roman"/>
              </a:rPr>
              <a:t>same time </a:t>
            </a:r>
            <a:r>
              <a:rPr sz="2900" spc="-5" dirty="0">
                <a:latin typeface="Times New Roman"/>
                <a:cs typeface="Times New Roman"/>
              </a:rPr>
              <a:t>is </a:t>
            </a:r>
            <a:r>
              <a:rPr sz="2900" dirty="0">
                <a:latin typeface="Times New Roman"/>
                <a:cs typeface="Times New Roman"/>
              </a:rPr>
              <a:t>a </a:t>
            </a:r>
            <a:r>
              <a:rPr sz="2900" spc="-20" dirty="0">
                <a:latin typeface="Times New Roman"/>
                <a:cs typeface="Times New Roman"/>
              </a:rPr>
              <a:t>father, </a:t>
            </a:r>
            <a:r>
              <a:rPr sz="2900" dirty="0">
                <a:latin typeface="Times New Roman"/>
                <a:cs typeface="Times New Roman"/>
              </a:rPr>
              <a:t>a </a:t>
            </a:r>
            <a:r>
              <a:rPr sz="2900" spc="5" dirty="0">
                <a:latin typeface="Times New Roman"/>
                <a:cs typeface="Times New Roman"/>
              </a:rPr>
              <a:t> </a:t>
            </a:r>
            <a:r>
              <a:rPr sz="2900" dirty="0">
                <a:latin typeface="Times New Roman"/>
                <a:cs typeface="Times New Roman"/>
              </a:rPr>
              <a:t>husband,</a:t>
            </a:r>
            <a:r>
              <a:rPr sz="2900" spc="5" dirty="0">
                <a:latin typeface="Times New Roman"/>
                <a:cs typeface="Times New Roman"/>
              </a:rPr>
              <a:t> </a:t>
            </a:r>
            <a:r>
              <a:rPr sz="2900" spc="-5" dirty="0">
                <a:latin typeface="Times New Roman"/>
                <a:cs typeface="Times New Roman"/>
              </a:rPr>
              <a:t>an</a:t>
            </a:r>
            <a:r>
              <a:rPr sz="2900" dirty="0">
                <a:latin typeface="Times New Roman"/>
                <a:cs typeface="Times New Roman"/>
              </a:rPr>
              <a:t> </a:t>
            </a:r>
            <a:r>
              <a:rPr sz="2900" spc="-5" dirty="0">
                <a:latin typeface="Times New Roman"/>
                <a:cs typeface="Times New Roman"/>
              </a:rPr>
              <a:t>employee.</a:t>
            </a:r>
            <a:r>
              <a:rPr sz="2900" dirty="0">
                <a:latin typeface="Times New Roman"/>
                <a:cs typeface="Times New Roman"/>
              </a:rPr>
              <a:t> So</a:t>
            </a:r>
            <a:r>
              <a:rPr sz="2900" spc="5" dirty="0">
                <a:latin typeface="Times New Roman"/>
                <a:cs typeface="Times New Roman"/>
              </a:rPr>
              <a:t> </a:t>
            </a:r>
            <a:r>
              <a:rPr sz="2900" spc="-5" dirty="0">
                <a:latin typeface="Times New Roman"/>
                <a:cs typeface="Times New Roman"/>
              </a:rPr>
              <a:t>the</a:t>
            </a:r>
            <a:r>
              <a:rPr sz="2900" dirty="0">
                <a:latin typeface="Times New Roman"/>
                <a:cs typeface="Times New Roman"/>
              </a:rPr>
              <a:t> </a:t>
            </a:r>
            <a:r>
              <a:rPr sz="2900" spc="-10" dirty="0">
                <a:latin typeface="Times New Roman"/>
                <a:cs typeface="Times New Roman"/>
              </a:rPr>
              <a:t>same</a:t>
            </a:r>
            <a:r>
              <a:rPr sz="2900" spc="-5" dirty="0">
                <a:latin typeface="Times New Roman"/>
                <a:cs typeface="Times New Roman"/>
              </a:rPr>
              <a:t> </a:t>
            </a:r>
            <a:r>
              <a:rPr sz="2900" dirty="0">
                <a:latin typeface="Times New Roman"/>
                <a:cs typeface="Times New Roman"/>
              </a:rPr>
              <a:t>person</a:t>
            </a:r>
            <a:r>
              <a:rPr sz="2900" spc="5" dirty="0">
                <a:latin typeface="Times New Roman"/>
                <a:cs typeface="Times New Roman"/>
              </a:rPr>
              <a:t> </a:t>
            </a:r>
            <a:r>
              <a:rPr sz="2900" spc="-5" dirty="0">
                <a:latin typeface="Times New Roman"/>
                <a:cs typeface="Times New Roman"/>
              </a:rPr>
              <a:t>possesses </a:t>
            </a:r>
            <a:r>
              <a:rPr sz="2900" dirty="0">
                <a:latin typeface="Times New Roman"/>
                <a:cs typeface="Times New Roman"/>
              </a:rPr>
              <a:t> </a:t>
            </a:r>
            <a:r>
              <a:rPr sz="2900" spc="-10" dirty="0">
                <a:latin typeface="Times New Roman"/>
                <a:cs typeface="Times New Roman"/>
              </a:rPr>
              <a:t>different </a:t>
            </a:r>
            <a:r>
              <a:rPr sz="2900" spc="-5" dirty="0">
                <a:latin typeface="Times New Roman"/>
                <a:cs typeface="Times New Roman"/>
              </a:rPr>
              <a:t>behavior in </a:t>
            </a:r>
            <a:r>
              <a:rPr sz="2900" spc="-10" dirty="0">
                <a:latin typeface="Times New Roman"/>
                <a:cs typeface="Times New Roman"/>
              </a:rPr>
              <a:t>different </a:t>
            </a:r>
            <a:r>
              <a:rPr sz="2900" spc="-5" dirty="0">
                <a:latin typeface="Times New Roman"/>
                <a:cs typeface="Times New Roman"/>
              </a:rPr>
              <a:t>situations. This </a:t>
            </a:r>
            <a:r>
              <a:rPr sz="2900" spc="-10" dirty="0">
                <a:latin typeface="Times New Roman"/>
                <a:cs typeface="Times New Roman"/>
              </a:rPr>
              <a:t>is </a:t>
            </a:r>
            <a:r>
              <a:rPr sz="2900" spc="-5" dirty="0">
                <a:latin typeface="Times New Roman"/>
                <a:cs typeface="Times New Roman"/>
              </a:rPr>
              <a:t>called </a:t>
            </a:r>
            <a:r>
              <a:rPr sz="2900" dirty="0">
                <a:latin typeface="Times New Roman"/>
                <a:cs typeface="Times New Roman"/>
              </a:rPr>
              <a:t> </a:t>
            </a:r>
            <a:r>
              <a:rPr sz="2900" spc="-5" dirty="0">
                <a:latin typeface="Times New Roman"/>
                <a:cs typeface="Times New Roman"/>
              </a:rPr>
              <a:t>polymorphism.</a:t>
            </a:r>
            <a:endParaRPr sz="2900">
              <a:latin typeface="Times New Roman"/>
              <a:cs typeface="Times New Roman"/>
            </a:endParaRPr>
          </a:p>
          <a:p>
            <a:pPr marL="332740" marR="5080" indent="-320040" algn="just">
              <a:lnSpc>
                <a:spcPct val="100000"/>
              </a:lnSpc>
              <a:spcBef>
                <a:spcPts val="700"/>
              </a:spcBef>
              <a:buClr>
                <a:srgbClr val="DD8046"/>
              </a:buClr>
              <a:buSzPct val="60344"/>
              <a:buFont typeface="Wingdings"/>
              <a:buChar char=""/>
              <a:tabLst>
                <a:tab pos="332740" algn="l"/>
              </a:tabLst>
            </a:pPr>
            <a:r>
              <a:rPr sz="2900" spc="-70" dirty="0">
                <a:latin typeface="Times New Roman"/>
                <a:cs typeface="Times New Roman"/>
              </a:rPr>
              <a:t>Two</a:t>
            </a:r>
            <a:r>
              <a:rPr sz="2900" spc="-65" dirty="0">
                <a:latin typeface="Times New Roman"/>
                <a:cs typeface="Times New Roman"/>
              </a:rPr>
              <a:t> </a:t>
            </a:r>
            <a:r>
              <a:rPr sz="2900" spc="-5" dirty="0">
                <a:latin typeface="Times New Roman"/>
                <a:cs typeface="Times New Roman"/>
              </a:rPr>
              <a:t>types</a:t>
            </a:r>
            <a:r>
              <a:rPr sz="2900" dirty="0">
                <a:latin typeface="Times New Roman"/>
                <a:cs typeface="Times New Roman"/>
              </a:rPr>
              <a:t> </a:t>
            </a:r>
            <a:r>
              <a:rPr sz="2900" spc="-10" dirty="0">
                <a:latin typeface="Times New Roman"/>
                <a:cs typeface="Times New Roman"/>
              </a:rPr>
              <a:t>of</a:t>
            </a:r>
            <a:r>
              <a:rPr sz="2900" spc="-5" dirty="0">
                <a:latin typeface="Times New Roman"/>
                <a:cs typeface="Times New Roman"/>
              </a:rPr>
              <a:t> polymorphism</a:t>
            </a:r>
            <a:r>
              <a:rPr sz="2900" dirty="0">
                <a:latin typeface="Times New Roman"/>
                <a:cs typeface="Times New Roman"/>
              </a:rPr>
              <a:t> </a:t>
            </a:r>
            <a:r>
              <a:rPr sz="2900" spc="-5" dirty="0">
                <a:latin typeface="Times New Roman"/>
                <a:cs typeface="Times New Roman"/>
              </a:rPr>
              <a:t>in</a:t>
            </a:r>
            <a:r>
              <a:rPr sz="2900" dirty="0">
                <a:latin typeface="Times New Roman"/>
                <a:cs typeface="Times New Roman"/>
              </a:rPr>
              <a:t> </a:t>
            </a:r>
            <a:r>
              <a:rPr sz="2900" spc="-5" dirty="0">
                <a:latin typeface="Times New Roman"/>
                <a:cs typeface="Times New Roman"/>
              </a:rPr>
              <a:t>Java:</a:t>
            </a:r>
            <a:r>
              <a:rPr sz="2900" dirty="0">
                <a:latin typeface="Times New Roman"/>
                <a:cs typeface="Times New Roman"/>
              </a:rPr>
              <a:t> </a:t>
            </a:r>
            <a:r>
              <a:rPr sz="2900" b="1" spc="-5" dirty="0">
                <a:latin typeface="Times New Roman"/>
                <a:cs typeface="Times New Roman"/>
              </a:rPr>
              <a:t>compile-time </a:t>
            </a:r>
            <a:r>
              <a:rPr sz="2900" b="1" dirty="0">
                <a:latin typeface="Times New Roman"/>
                <a:cs typeface="Times New Roman"/>
              </a:rPr>
              <a:t> polymorphism</a:t>
            </a:r>
            <a:r>
              <a:rPr sz="2900" b="1" spc="-35" dirty="0">
                <a:latin typeface="Times New Roman"/>
                <a:cs typeface="Times New Roman"/>
              </a:rPr>
              <a:t> </a:t>
            </a:r>
            <a:r>
              <a:rPr sz="2900" b="1" dirty="0">
                <a:latin typeface="Times New Roman"/>
                <a:cs typeface="Times New Roman"/>
              </a:rPr>
              <a:t>and</a:t>
            </a:r>
            <a:r>
              <a:rPr sz="2900" b="1" spc="-15" dirty="0">
                <a:latin typeface="Times New Roman"/>
                <a:cs typeface="Times New Roman"/>
              </a:rPr>
              <a:t> </a:t>
            </a:r>
            <a:r>
              <a:rPr sz="2900" b="1" dirty="0">
                <a:latin typeface="Times New Roman"/>
                <a:cs typeface="Times New Roman"/>
              </a:rPr>
              <a:t>runtime</a:t>
            </a:r>
            <a:r>
              <a:rPr sz="2900" b="1" spc="-30" dirty="0">
                <a:latin typeface="Times New Roman"/>
                <a:cs typeface="Times New Roman"/>
              </a:rPr>
              <a:t> </a:t>
            </a:r>
            <a:r>
              <a:rPr sz="2900" b="1" dirty="0">
                <a:latin typeface="Times New Roman"/>
                <a:cs typeface="Times New Roman"/>
              </a:rPr>
              <a:t>polymorphism.</a:t>
            </a:r>
            <a:endParaRPr sz="2900">
              <a:latin typeface="Times New Roman"/>
              <a:cs typeface="Times New Roman"/>
            </a:endParaRPr>
          </a:p>
          <a:p>
            <a:pPr marL="332740" indent="-320040" algn="just">
              <a:lnSpc>
                <a:spcPct val="100000"/>
              </a:lnSpc>
              <a:spcBef>
                <a:spcPts val="695"/>
              </a:spcBef>
              <a:buClr>
                <a:srgbClr val="DD8046"/>
              </a:buClr>
              <a:buSzPct val="60344"/>
              <a:buFont typeface="Wingdings"/>
              <a:buChar char=""/>
              <a:tabLst>
                <a:tab pos="332740" algn="l"/>
              </a:tabLst>
            </a:pPr>
            <a:r>
              <a:rPr sz="2900" spc="-5" dirty="0">
                <a:latin typeface="Times New Roman"/>
                <a:cs typeface="Times New Roman"/>
              </a:rPr>
              <a:t>Example</a:t>
            </a:r>
            <a:r>
              <a:rPr sz="2900" spc="15" dirty="0">
                <a:latin typeface="Times New Roman"/>
                <a:cs typeface="Times New Roman"/>
              </a:rPr>
              <a:t> </a:t>
            </a:r>
            <a:r>
              <a:rPr sz="2900" dirty="0">
                <a:latin typeface="Times New Roman"/>
                <a:cs typeface="Times New Roman"/>
              </a:rPr>
              <a:t>:</a:t>
            </a:r>
            <a:r>
              <a:rPr sz="2900" spc="-15" dirty="0">
                <a:latin typeface="Times New Roman"/>
                <a:cs typeface="Times New Roman"/>
              </a:rPr>
              <a:t> </a:t>
            </a:r>
            <a:r>
              <a:rPr sz="2900" spc="-10" dirty="0">
                <a:latin typeface="Times New Roman"/>
                <a:cs typeface="Times New Roman"/>
              </a:rPr>
              <a:t>method</a:t>
            </a:r>
            <a:r>
              <a:rPr sz="2900" spc="15" dirty="0">
                <a:latin typeface="Times New Roman"/>
                <a:cs typeface="Times New Roman"/>
              </a:rPr>
              <a:t> </a:t>
            </a:r>
            <a:r>
              <a:rPr sz="2900" dirty="0">
                <a:latin typeface="Times New Roman"/>
                <a:cs typeface="Times New Roman"/>
              </a:rPr>
              <a:t>overloading</a:t>
            </a:r>
            <a:r>
              <a:rPr sz="2900" spc="-25" dirty="0">
                <a:latin typeface="Times New Roman"/>
                <a:cs typeface="Times New Roman"/>
              </a:rPr>
              <a:t> </a:t>
            </a:r>
            <a:r>
              <a:rPr sz="2900" dirty="0">
                <a:latin typeface="Times New Roman"/>
                <a:cs typeface="Times New Roman"/>
              </a:rPr>
              <a:t>and</a:t>
            </a:r>
            <a:r>
              <a:rPr sz="2900" spc="-15" dirty="0">
                <a:latin typeface="Times New Roman"/>
                <a:cs typeface="Times New Roman"/>
              </a:rPr>
              <a:t> </a:t>
            </a:r>
            <a:r>
              <a:rPr sz="2900" spc="-10" dirty="0">
                <a:latin typeface="Times New Roman"/>
                <a:cs typeface="Times New Roman"/>
              </a:rPr>
              <a:t>method</a:t>
            </a:r>
            <a:r>
              <a:rPr sz="2900" spc="25" dirty="0">
                <a:latin typeface="Times New Roman"/>
                <a:cs typeface="Times New Roman"/>
              </a:rPr>
              <a:t> </a:t>
            </a:r>
            <a:r>
              <a:rPr sz="2900" dirty="0">
                <a:latin typeface="Times New Roman"/>
                <a:cs typeface="Times New Roman"/>
              </a:rPr>
              <a:t>overriding.</a:t>
            </a:r>
            <a:endParaRPr sz="2900">
              <a:latin typeface="Times New Roman"/>
              <a:cs typeface="Times New Roman"/>
            </a:endParaRPr>
          </a:p>
        </p:txBody>
      </p:sp>
      <p:pic>
        <p:nvPicPr>
          <p:cNvPr id="4" name="object 4"/>
          <p:cNvPicPr/>
          <p:nvPr/>
        </p:nvPicPr>
        <p:blipFill>
          <a:blip r:embed="rId2" cstate="print"/>
          <a:stretch>
            <a:fillRect/>
          </a:stretch>
        </p:blipFill>
        <p:spPr>
          <a:xfrm>
            <a:off x="5928359" y="68580"/>
            <a:ext cx="3215640" cy="1912620"/>
          </a:xfrm>
          <a:prstGeom prst="rect">
            <a:avLst/>
          </a:prstGeom>
        </p:spPr>
      </p:pic>
      <p:sp>
        <p:nvSpPr>
          <p:cNvPr id="5" name="object 5"/>
          <p:cNvSpPr txBox="1"/>
          <p:nvPr/>
        </p:nvSpPr>
        <p:spPr>
          <a:xfrm>
            <a:off x="214985" y="1267714"/>
            <a:ext cx="1016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9</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854960" cy="696595"/>
          </a:xfrm>
          <a:prstGeom prst="rect">
            <a:avLst/>
          </a:prstGeom>
        </p:spPr>
        <p:txBody>
          <a:bodyPr vert="horz" wrap="square" lIns="0" tIns="13335" rIns="0" bIns="0" rtlCol="0">
            <a:spAutoFit/>
          </a:bodyPr>
          <a:lstStyle/>
          <a:p>
            <a:pPr marL="12700">
              <a:lnSpc>
                <a:spcPct val="100000"/>
              </a:lnSpc>
              <a:spcBef>
                <a:spcPts val="105"/>
              </a:spcBef>
            </a:pPr>
            <a:r>
              <a:rPr sz="4400" b="1" dirty="0">
                <a:latin typeface="Times New Roman"/>
                <a:cs typeface="Times New Roman"/>
              </a:rPr>
              <a:t>Abstraction</a:t>
            </a:r>
            <a:endParaRPr sz="4400">
              <a:latin typeface="Times New Roman"/>
              <a:cs typeface="Times New Roman"/>
            </a:endParaRPr>
          </a:p>
        </p:txBody>
      </p:sp>
      <p:sp>
        <p:nvSpPr>
          <p:cNvPr id="3" name="object 3"/>
          <p:cNvSpPr txBox="1"/>
          <p:nvPr/>
        </p:nvSpPr>
        <p:spPr>
          <a:xfrm>
            <a:off x="154939" y="1543252"/>
            <a:ext cx="8911590" cy="2857500"/>
          </a:xfrm>
          <a:prstGeom prst="rect">
            <a:avLst/>
          </a:prstGeom>
        </p:spPr>
        <p:txBody>
          <a:bodyPr vert="horz" wrap="square" lIns="0" tIns="13335" rIns="0" bIns="0" rtlCol="0">
            <a:spAutoFit/>
          </a:bodyPr>
          <a:lstStyle/>
          <a:p>
            <a:pPr marL="332740" marR="6350" indent="-320040">
              <a:lnSpc>
                <a:spcPct val="100000"/>
              </a:lnSpc>
              <a:spcBef>
                <a:spcPts val="105"/>
              </a:spcBef>
              <a:buClr>
                <a:srgbClr val="DD8046"/>
              </a:buClr>
              <a:buSzPct val="60344"/>
              <a:buFont typeface="Wingdings"/>
              <a:buChar char=""/>
              <a:tabLst>
                <a:tab pos="332740" algn="l"/>
                <a:tab pos="1616075" algn="l"/>
                <a:tab pos="2998470" algn="l"/>
                <a:tab pos="4217670" algn="l"/>
                <a:tab pos="5008880" algn="l"/>
                <a:tab pos="6515100" algn="l"/>
                <a:tab pos="8655050" algn="l"/>
              </a:tabLst>
            </a:pPr>
            <a:r>
              <a:rPr sz="2900" dirty="0">
                <a:latin typeface="Times New Roman"/>
                <a:cs typeface="Times New Roman"/>
              </a:rPr>
              <a:t>Hidi</a:t>
            </a:r>
            <a:r>
              <a:rPr sz="2900" spc="-10" dirty="0">
                <a:latin typeface="Times New Roman"/>
                <a:cs typeface="Times New Roman"/>
              </a:rPr>
              <a:t>n</a:t>
            </a:r>
            <a:r>
              <a:rPr sz="2900" dirty="0">
                <a:latin typeface="Times New Roman"/>
                <a:cs typeface="Times New Roman"/>
              </a:rPr>
              <a:t>g	</a:t>
            </a:r>
            <a:r>
              <a:rPr sz="2900" spc="-15" dirty="0">
                <a:latin typeface="Times New Roman"/>
                <a:cs typeface="Times New Roman"/>
              </a:rPr>
              <a:t>i</a:t>
            </a:r>
            <a:r>
              <a:rPr sz="2900" dirty="0">
                <a:latin typeface="Times New Roman"/>
                <a:cs typeface="Times New Roman"/>
              </a:rPr>
              <a:t>nt</a:t>
            </a:r>
            <a:r>
              <a:rPr sz="2900" spc="-15" dirty="0">
                <a:latin typeface="Times New Roman"/>
                <a:cs typeface="Times New Roman"/>
              </a:rPr>
              <a:t>e</a:t>
            </a:r>
            <a:r>
              <a:rPr sz="2900" dirty="0">
                <a:latin typeface="Times New Roman"/>
                <a:cs typeface="Times New Roman"/>
              </a:rPr>
              <a:t>rnal	</a:t>
            </a:r>
            <a:r>
              <a:rPr sz="2900" spc="-15" dirty="0">
                <a:latin typeface="Times New Roman"/>
                <a:cs typeface="Times New Roman"/>
              </a:rPr>
              <a:t>d</a:t>
            </a:r>
            <a:r>
              <a:rPr sz="2900" dirty="0">
                <a:latin typeface="Times New Roman"/>
                <a:cs typeface="Times New Roman"/>
              </a:rPr>
              <a:t>e</a:t>
            </a:r>
            <a:r>
              <a:rPr sz="2900" spc="-15" dirty="0">
                <a:latin typeface="Times New Roman"/>
                <a:cs typeface="Times New Roman"/>
              </a:rPr>
              <a:t>t</a:t>
            </a:r>
            <a:r>
              <a:rPr sz="2900" dirty="0">
                <a:latin typeface="Times New Roman"/>
                <a:cs typeface="Times New Roman"/>
              </a:rPr>
              <a:t>a</a:t>
            </a:r>
            <a:r>
              <a:rPr sz="2900" spc="-15" dirty="0">
                <a:latin typeface="Times New Roman"/>
                <a:cs typeface="Times New Roman"/>
              </a:rPr>
              <a:t>i</a:t>
            </a:r>
            <a:r>
              <a:rPr sz="2900" dirty="0">
                <a:latin typeface="Times New Roman"/>
                <a:cs typeface="Times New Roman"/>
              </a:rPr>
              <a:t>ls	a</a:t>
            </a:r>
            <a:r>
              <a:rPr sz="2900" spc="-25" dirty="0">
                <a:latin typeface="Times New Roman"/>
                <a:cs typeface="Times New Roman"/>
              </a:rPr>
              <a:t>n</a:t>
            </a:r>
            <a:r>
              <a:rPr sz="2900" dirty="0">
                <a:latin typeface="Times New Roman"/>
                <a:cs typeface="Times New Roman"/>
              </a:rPr>
              <a:t>d	sho</a:t>
            </a:r>
            <a:r>
              <a:rPr sz="2900" spc="-15" dirty="0">
                <a:latin typeface="Times New Roman"/>
                <a:cs typeface="Times New Roman"/>
              </a:rPr>
              <a:t>w</a:t>
            </a:r>
            <a:r>
              <a:rPr sz="2900" dirty="0">
                <a:latin typeface="Times New Roman"/>
                <a:cs typeface="Times New Roman"/>
              </a:rPr>
              <a:t>i</a:t>
            </a:r>
            <a:r>
              <a:rPr sz="2900" spc="-20" dirty="0">
                <a:latin typeface="Times New Roman"/>
                <a:cs typeface="Times New Roman"/>
              </a:rPr>
              <a:t>n</a:t>
            </a:r>
            <a:r>
              <a:rPr sz="2900" dirty="0">
                <a:latin typeface="Times New Roman"/>
                <a:cs typeface="Times New Roman"/>
              </a:rPr>
              <a:t>g	funct</a:t>
            </a:r>
            <a:r>
              <a:rPr sz="2900" spc="-15" dirty="0">
                <a:latin typeface="Times New Roman"/>
                <a:cs typeface="Times New Roman"/>
              </a:rPr>
              <a:t>io</a:t>
            </a:r>
            <a:r>
              <a:rPr sz="2900" dirty="0">
                <a:latin typeface="Times New Roman"/>
                <a:cs typeface="Times New Roman"/>
              </a:rPr>
              <a:t>na</a:t>
            </a:r>
            <a:r>
              <a:rPr sz="2900" spc="-15" dirty="0">
                <a:latin typeface="Times New Roman"/>
                <a:cs typeface="Times New Roman"/>
              </a:rPr>
              <a:t>l</a:t>
            </a:r>
            <a:r>
              <a:rPr sz="2900" dirty="0">
                <a:latin typeface="Times New Roman"/>
                <a:cs typeface="Times New Roman"/>
              </a:rPr>
              <a:t>ity	</a:t>
            </a:r>
            <a:r>
              <a:rPr sz="2900" spc="-20" dirty="0">
                <a:latin typeface="Times New Roman"/>
                <a:cs typeface="Times New Roman"/>
              </a:rPr>
              <a:t>is  </a:t>
            </a:r>
            <a:r>
              <a:rPr sz="2900" dirty="0">
                <a:latin typeface="Times New Roman"/>
                <a:cs typeface="Times New Roman"/>
              </a:rPr>
              <a:t>known</a:t>
            </a:r>
            <a:r>
              <a:rPr sz="2900" spc="-5" dirty="0">
                <a:latin typeface="Times New Roman"/>
                <a:cs typeface="Times New Roman"/>
              </a:rPr>
              <a:t> as</a:t>
            </a:r>
            <a:r>
              <a:rPr sz="2900" spc="-10" dirty="0">
                <a:latin typeface="Times New Roman"/>
                <a:cs typeface="Times New Roman"/>
              </a:rPr>
              <a:t> </a:t>
            </a:r>
            <a:r>
              <a:rPr sz="2900" spc="-5" dirty="0">
                <a:latin typeface="Times New Roman"/>
                <a:cs typeface="Times New Roman"/>
              </a:rPr>
              <a:t>abstraction.</a:t>
            </a:r>
            <a:endParaRPr sz="2900">
              <a:latin typeface="Times New Roman"/>
              <a:cs typeface="Times New Roman"/>
            </a:endParaRPr>
          </a:p>
          <a:p>
            <a:pPr marL="332740" marR="5715" indent="-320040">
              <a:lnSpc>
                <a:spcPct val="100000"/>
              </a:lnSpc>
              <a:spcBef>
                <a:spcPts val="710"/>
              </a:spcBef>
              <a:buClr>
                <a:srgbClr val="DD8046"/>
              </a:buClr>
              <a:buSzPct val="60344"/>
              <a:buFont typeface="Wingdings"/>
              <a:buChar char=""/>
              <a:tabLst>
                <a:tab pos="425450" algn="l"/>
                <a:tab pos="426084" algn="l"/>
              </a:tabLst>
            </a:pPr>
            <a:r>
              <a:rPr dirty="0"/>
              <a:t>	</a:t>
            </a:r>
            <a:r>
              <a:rPr sz="2900" dirty="0">
                <a:latin typeface="Times New Roman"/>
                <a:cs typeface="Times New Roman"/>
              </a:rPr>
              <a:t>For</a:t>
            </a:r>
            <a:r>
              <a:rPr sz="2900" spc="210" dirty="0">
                <a:latin typeface="Times New Roman"/>
                <a:cs typeface="Times New Roman"/>
              </a:rPr>
              <a:t> </a:t>
            </a:r>
            <a:r>
              <a:rPr sz="2900" spc="-5" dirty="0">
                <a:latin typeface="Times New Roman"/>
                <a:cs typeface="Times New Roman"/>
              </a:rPr>
              <a:t>example:</a:t>
            </a:r>
            <a:r>
              <a:rPr sz="2900" spc="220" dirty="0">
                <a:latin typeface="Times New Roman"/>
                <a:cs typeface="Times New Roman"/>
              </a:rPr>
              <a:t> </a:t>
            </a:r>
            <a:r>
              <a:rPr sz="2900" spc="-105" dirty="0">
                <a:latin typeface="Times New Roman"/>
                <a:cs typeface="Times New Roman"/>
              </a:rPr>
              <a:t>ATM</a:t>
            </a:r>
            <a:r>
              <a:rPr sz="2900" spc="215" dirty="0">
                <a:latin typeface="Times New Roman"/>
                <a:cs typeface="Times New Roman"/>
              </a:rPr>
              <a:t> </a:t>
            </a:r>
            <a:r>
              <a:rPr sz="2900" spc="-10" dirty="0">
                <a:latin typeface="Times New Roman"/>
                <a:cs typeface="Times New Roman"/>
              </a:rPr>
              <a:t>machine,</a:t>
            </a:r>
            <a:r>
              <a:rPr sz="2900" spc="225" dirty="0">
                <a:latin typeface="Times New Roman"/>
                <a:cs typeface="Times New Roman"/>
              </a:rPr>
              <a:t> </a:t>
            </a:r>
            <a:r>
              <a:rPr sz="2900" dirty="0">
                <a:latin typeface="Times New Roman"/>
                <a:cs typeface="Times New Roman"/>
              </a:rPr>
              <a:t>we</a:t>
            </a:r>
            <a:r>
              <a:rPr sz="2900" spc="220" dirty="0">
                <a:latin typeface="Times New Roman"/>
                <a:cs typeface="Times New Roman"/>
              </a:rPr>
              <a:t> </a:t>
            </a:r>
            <a:r>
              <a:rPr sz="2900" spc="-10" dirty="0">
                <a:latin typeface="Times New Roman"/>
                <a:cs typeface="Times New Roman"/>
              </a:rPr>
              <a:t>don't</a:t>
            </a:r>
            <a:r>
              <a:rPr sz="2900" spc="215" dirty="0">
                <a:latin typeface="Times New Roman"/>
                <a:cs typeface="Times New Roman"/>
              </a:rPr>
              <a:t> </a:t>
            </a:r>
            <a:r>
              <a:rPr sz="2900" dirty="0">
                <a:latin typeface="Times New Roman"/>
                <a:cs typeface="Times New Roman"/>
              </a:rPr>
              <a:t>know</a:t>
            </a:r>
            <a:r>
              <a:rPr sz="2900" spc="215" dirty="0">
                <a:latin typeface="Times New Roman"/>
                <a:cs typeface="Times New Roman"/>
              </a:rPr>
              <a:t> </a:t>
            </a:r>
            <a:r>
              <a:rPr sz="2900" dirty="0">
                <a:latin typeface="Times New Roman"/>
                <a:cs typeface="Times New Roman"/>
              </a:rPr>
              <a:t>the</a:t>
            </a:r>
            <a:r>
              <a:rPr sz="2900" spc="200" dirty="0">
                <a:latin typeface="Times New Roman"/>
                <a:cs typeface="Times New Roman"/>
              </a:rPr>
              <a:t> </a:t>
            </a:r>
            <a:r>
              <a:rPr sz="2900" spc="-5" dirty="0">
                <a:latin typeface="Times New Roman"/>
                <a:cs typeface="Times New Roman"/>
              </a:rPr>
              <a:t>internal </a:t>
            </a:r>
            <a:r>
              <a:rPr sz="2900" spc="-710" dirty="0">
                <a:latin typeface="Times New Roman"/>
                <a:cs typeface="Times New Roman"/>
              </a:rPr>
              <a:t> </a:t>
            </a:r>
            <a:r>
              <a:rPr sz="2900" dirty="0">
                <a:latin typeface="Times New Roman"/>
                <a:cs typeface="Times New Roman"/>
              </a:rPr>
              <a:t>processing.</a:t>
            </a:r>
            <a:endParaRPr sz="2900">
              <a:latin typeface="Times New Roman"/>
              <a:cs typeface="Times New Roman"/>
            </a:endParaRPr>
          </a:p>
          <a:p>
            <a:pPr marL="332740" marR="5080" indent="-320040">
              <a:lnSpc>
                <a:spcPct val="100000"/>
              </a:lnSpc>
              <a:spcBef>
                <a:spcPts val="700"/>
              </a:spcBef>
              <a:buClr>
                <a:srgbClr val="DD8046"/>
              </a:buClr>
              <a:buSzPct val="60344"/>
              <a:buFont typeface="Wingdings"/>
              <a:buChar char=""/>
              <a:tabLst>
                <a:tab pos="332740" algn="l"/>
                <a:tab pos="810895" algn="l"/>
                <a:tab pos="1687195" algn="l"/>
                <a:tab pos="2289175" algn="l"/>
                <a:tab pos="2952750" algn="l"/>
                <a:tab pos="4267835" algn="l"/>
                <a:tab pos="5153660" algn="l"/>
                <a:tab pos="5857875" algn="l"/>
                <a:tab pos="7315200" algn="l"/>
                <a:tab pos="7773670" algn="l"/>
              </a:tabLst>
            </a:pPr>
            <a:r>
              <a:rPr sz="2900" spc="5" dirty="0">
                <a:latin typeface="Times New Roman"/>
                <a:cs typeface="Times New Roman"/>
              </a:rPr>
              <a:t>I</a:t>
            </a:r>
            <a:r>
              <a:rPr sz="2900" dirty="0">
                <a:latin typeface="Times New Roman"/>
                <a:cs typeface="Times New Roman"/>
              </a:rPr>
              <a:t>n	jav</a:t>
            </a:r>
            <a:r>
              <a:rPr sz="2900" spc="-15" dirty="0">
                <a:latin typeface="Times New Roman"/>
                <a:cs typeface="Times New Roman"/>
              </a:rPr>
              <a:t>a</a:t>
            </a:r>
            <a:r>
              <a:rPr sz="2900" dirty="0">
                <a:latin typeface="Times New Roman"/>
                <a:cs typeface="Times New Roman"/>
              </a:rPr>
              <a:t>,	we	use	abs</a:t>
            </a:r>
            <a:r>
              <a:rPr sz="2900" spc="-25" dirty="0">
                <a:latin typeface="Times New Roman"/>
                <a:cs typeface="Times New Roman"/>
              </a:rPr>
              <a:t>t</a:t>
            </a:r>
            <a:r>
              <a:rPr sz="2900" dirty="0">
                <a:latin typeface="Times New Roman"/>
                <a:cs typeface="Times New Roman"/>
              </a:rPr>
              <a:t>ract	c</a:t>
            </a:r>
            <a:r>
              <a:rPr sz="2900" spc="-25" dirty="0">
                <a:latin typeface="Times New Roman"/>
                <a:cs typeface="Times New Roman"/>
              </a:rPr>
              <a:t>l</a:t>
            </a:r>
            <a:r>
              <a:rPr sz="2900" dirty="0">
                <a:latin typeface="Times New Roman"/>
                <a:cs typeface="Times New Roman"/>
              </a:rPr>
              <a:t>ass	and	</a:t>
            </a:r>
            <a:r>
              <a:rPr sz="2900" spc="-15" dirty="0">
                <a:latin typeface="Times New Roman"/>
                <a:cs typeface="Times New Roman"/>
              </a:rPr>
              <a:t>i</a:t>
            </a:r>
            <a:r>
              <a:rPr sz="2900" dirty="0">
                <a:latin typeface="Times New Roman"/>
                <a:cs typeface="Times New Roman"/>
              </a:rPr>
              <a:t>nte</a:t>
            </a:r>
            <a:r>
              <a:rPr sz="2900" spc="-15" dirty="0">
                <a:latin typeface="Times New Roman"/>
                <a:cs typeface="Times New Roman"/>
              </a:rPr>
              <a:t>r</a:t>
            </a:r>
            <a:r>
              <a:rPr sz="2900" dirty="0">
                <a:latin typeface="Times New Roman"/>
                <a:cs typeface="Times New Roman"/>
              </a:rPr>
              <a:t>face	</a:t>
            </a:r>
            <a:r>
              <a:rPr sz="2900" spc="-5" dirty="0">
                <a:latin typeface="Times New Roman"/>
                <a:cs typeface="Times New Roman"/>
              </a:rPr>
              <a:t>t</a:t>
            </a:r>
            <a:r>
              <a:rPr sz="2900" dirty="0">
                <a:latin typeface="Times New Roman"/>
                <a:cs typeface="Times New Roman"/>
              </a:rPr>
              <a:t>o	a</a:t>
            </a:r>
            <a:r>
              <a:rPr sz="2900" spc="-15" dirty="0">
                <a:latin typeface="Times New Roman"/>
                <a:cs typeface="Times New Roman"/>
              </a:rPr>
              <a:t>c</a:t>
            </a:r>
            <a:r>
              <a:rPr sz="2900" dirty="0">
                <a:latin typeface="Times New Roman"/>
                <a:cs typeface="Times New Roman"/>
              </a:rPr>
              <a:t>hieve  </a:t>
            </a:r>
            <a:r>
              <a:rPr sz="2900" spc="-5" dirty="0">
                <a:latin typeface="Times New Roman"/>
                <a:cs typeface="Times New Roman"/>
              </a:rPr>
              <a:t>abstraction.</a:t>
            </a:r>
            <a:endParaRPr sz="2900">
              <a:latin typeface="Times New Roman"/>
              <a:cs typeface="Times New Roman"/>
            </a:endParaRPr>
          </a:p>
        </p:txBody>
      </p:sp>
      <p:pic>
        <p:nvPicPr>
          <p:cNvPr id="4" name="object 4"/>
          <p:cNvPicPr/>
          <p:nvPr/>
        </p:nvPicPr>
        <p:blipFill>
          <a:blip r:embed="rId2" cstate="print"/>
          <a:stretch>
            <a:fillRect/>
          </a:stretch>
        </p:blipFill>
        <p:spPr>
          <a:xfrm>
            <a:off x="2971800" y="3965447"/>
            <a:ext cx="5715000" cy="2737104"/>
          </a:xfrm>
          <a:prstGeom prst="rect">
            <a:avLst/>
          </a:prstGeom>
        </p:spPr>
      </p:pic>
      <p:sp>
        <p:nvSpPr>
          <p:cNvPr id="5" name="object 5"/>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10</a:t>
            </a:r>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630"/>
              </a:lnSpc>
            </a:pPr>
            <a:r>
              <a:rPr spc="-5" dirty="0"/>
              <a:t>1/19/2023</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4531"/>
            <a:ext cx="3132455" cy="635000"/>
          </a:xfrm>
          <a:prstGeom prst="rect">
            <a:avLst/>
          </a:prstGeom>
        </p:spPr>
        <p:txBody>
          <a:bodyPr vert="horz" wrap="square" lIns="0" tIns="12065" rIns="0" bIns="0" rtlCol="0">
            <a:spAutoFit/>
          </a:bodyPr>
          <a:lstStyle/>
          <a:p>
            <a:pPr marL="12700">
              <a:lnSpc>
                <a:spcPct val="100000"/>
              </a:lnSpc>
              <a:spcBef>
                <a:spcPts val="95"/>
              </a:spcBef>
            </a:pPr>
            <a:r>
              <a:rPr b="1" spc="-5" dirty="0">
                <a:latin typeface="Times New Roman"/>
                <a:cs typeface="Times New Roman"/>
              </a:rPr>
              <a:t>Encap</a:t>
            </a:r>
            <a:r>
              <a:rPr b="1" spc="5" dirty="0">
                <a:latin typeface="Times New Roman"/>
                <a:cs typeface="Times New Roman"/>
              </a:rPr>
              <a:t>s</a:t>
            </a:r>
            <a:r>
              <a:rPr b="1" spc="-5" dirty="0">
                <a:latin typeface="Times New Roman"/>
                <a:cs typeface="Times New Roman"/>
              </a:rPr>
              <a:t>ulat</a:t>
            </a:r>
            <a:r>
              <a:rPr b="1" spc="5" dirty="0">
                <a:latin typeface="Times New Roman"/>
                <a:cs typeface="Times New Roman"/>
              </a:rPr>
              <a:t>i</a:t>
            </a:r>
            <a:r>
              <a:rPr b="1" spc="-5" dirty="0">
                <a:latin typeface="Times New Roman"/>
                <a:cs typeface="Times New Roman"/>
              </a:rPr>
              <a:t>on</a:t>
            </a:r>
          </a:p>
        </p:txBody>
      </p:sp>
      <p:sp>
        <p:nvSpPr>
          <p:cNvPr id="3" name="object 3"/>
          <p:cNvSpPr txBox="1"/>
          <p:nvPr/>
        </p:nvSpPr>
        <p:spPr>
          <a:xfrm>
            <a:off x="78739" y="1620138"/>
            <a:ext cx="8611235" cy="909955"/>
          </a:xfrm>
          <a:prstGeom prst="rect">
            <a:avLst/>
          </a:prstGeom>
        </p:spPr>
        <p:txBody>
          <a:bodyPr vert="horz" wrap="square" lIns="0" tIns="13335" rIns="0" bIns="0" rtlCol="0">
            <a:spAutoFit/>
          </a:bodyPr>
          <a:lstStyle/>
          <a:p>
            <a:pPr marL="332740" marR="5080" indent="-320040">
              <a:lnSpc>
                <a:spcPct val="100000"/>
              </a:lnSpc>
              <a:spcBef>
                <a:spcPts val="105"/>
              </a:spcBef>
              <a:buClr>
                <a:srgbClr val="DD8046"/>
              </a:buClr>
              <a:buSzPct val="60344"/>
              <a:buFont typeface="Wingdings"/>
              <a:buChar char=""/>
              <a:tabLst>
                <a:tab pos="332740" algn="l"/>
                <a:tab pos="1675130" algn="l"/>
                <a:tab pos="2261870" algn="l"/>
                <a:tab pos="3931285" algn="l"/>
                <a:tab pos="4801870" algn="l"/>
                <a:tab pos="5490210" algn="l"/>
                <a:tab pos="6342380" algn="l"/>
                <a:tab pos="7705090" algn="l"/>
                <a:tab pos="8434070" algn="l"/>
              </a:tabLst>
            </a:pPr>
            <a:r>
              <a:rPr sz="2900" dirty="0">
                <a:latin typeface="Times New Roman"/>
                <a:cs typeface="Times New Roman"/>
              </a:rPr>
              <a:t>Bind</a:t>
            </a:r>
            <a:r>
              <a:rPr sz="2900" spc="-15" dirty="0">
                <a:latin typeface="Times New Roman"/>
                <a:cs typeface="Times New Roman"/>
              </a:rPr>
              <a:t>i</a:t>
            </a:r>
            <a:r>
              <a:rPr sz="2900" dirty="0">
                <a:latin typeface="Times New Roman"/>
                <a:cs typeface="Times New Roman"/>
              </a:rPr>
              <a:t>ng	(or	wr</a:t>
            </a:r>
            <a:r>
              <a:rPr sz="2900" spc="-10" dirty="0">
                <a:latin typeface="Times New Roman"/>
                <a:cs typeface="Times New Roman"/>
              </a:rPr>
              <a:t>a</a:t>
            </a:r>
            <a:r>
              <a:rPr sz="2900" dirty="0">
                <a:latin typeface="Times New Roman"/>
                <a:cs typeface="Times New Roman"/>
              </a:rPr>
              <a:t>p</a:t>
            </a:r>
            <a:r>
              <a:rPr sz="2900" spc="-15" dirty="0">
                <a:latin typeface="Times New Roman"/>
                <a:cs typeface="Times New Roman"/>
              </a:rPr>
              <a:t>pi</a:t>
            </a:r>
            <a:r>
              <a:rPr sz="2900" dirty="0">
                <a:latin typeface="Times New Roman"/>
                <a:cs typeface="Times New Roman"/>
              </a:rPr>
              <a:t>ng)	</a:t>
            </a:r>
            <a:r>
              <a:rPr sz="2900" b="1" dirty="0">
                <a:latin typeface="Times New Roman"/>
                <a:cs typeface="Times New Roman"/>
              </a:rPr>
              <a:t>c</a:t>
            </a:r>
            <a:r>
              <a:rPr sz="2900" b="1" spc="-20" dirty="0">
                <a:latin typeface="Times New Roman"/>
                <a:cs typeface="Times New Roman"/>
              </a:rPr>
              <a:t>o</a:t>
            </a:r>
            <a:r>
              <a:rPr sz="2900" b="1" dirty="0">
                <a:latin typeface="Times New Roman"/>
                <a:cs typeface="Times New Roman"/>
              </a:rPr>
              <a:t>de	</a:t>
            </a:r>
            <a:r>
              <a:rPr sz="2900" dirty="0">
                <a:latin typeface="Times New Roman"/>
                <a:cs typeface="Times New Roman"/>
              </a:rPr>
              <a:t>and	</a:t>
            </a:r>
            <a:r>
              <a:rPr sz="2900" b="1" dirty="0">
                <a:latin typeface="Times New Roman"/>
                <a:cs typeface="Times New Roman"/>
              </a:rPr>
              <a:t>data	</a:t>
            </a:r>
            <a:r>
              <a:rPr sz="2900" dirty="0">
                <a:latin typeface="Times New Roman"/>
                <a:cs typeface="Times New Roman"/>
              </a:rPr>
              <a:t>togeth</a:t>
            </a:r>
            <a:r>
              <a:rPr sz="2900" spc="-15" dirty="0">
                <a:latin typeface="Times New Roman"/>
                <a:cs typeface="Times New Roman"/>
              </a:rPr>
              <a:t>e</a:t>
            </a:r>
            <a:r>
              <a:rPr sz="2900" dirty="0">
                <a:latin typeface="Times New Roman"/>
                <a:cs typeface="Times New Roman"/>
              </a:rPr>
              <a:t>r	</a:t>
            </a:r>
            <a:r>
              <a:rPr sz="2900" spc="-15" dirty="0">
                <a:latin typeface="Times New Roman"/>
                <a:cs typeface="Times New Roman"/>
              </a:rPr>
              <a:t>i</a:t>
            </a:r>
            <a:r>
              <a:rPr sz="2900" dirty="0">
                <a:latin typeface="Times New Roman"/>
                <a:cs typeface="Times New Roman"/>
              </a:rPr>
              <a:t>nto	a  single</a:t>
            </a:r>
            <a:r>
              <a:rPr sz="2900" spc="-35" dirty="0">
                <a:latin typeface="Times New Roman"/>
                <a:cs typeface="Times New Roman"/>
              </a:rPr>
              <a:t> </a:t>
            </a:r>
            <a:r>
              <a:rPr sz="2900" dirty="0">
                <a:latin typeface="Times New Roman"/>
                <a:cs typeface="Times New Roman"/>
              </a:rPr>
              <a:t>unit</a:t>
            </a:r>
            <a:r>
              <a:rPr sz="2900" spc="-15" dirty="0">
                <a:latin typeface="Times New Roman"/>
                <a:cs typeface="Times New Roman"/>
              </a:rPr>
              <a:t> </a:t>
            </a:r>
            <a:r>
              <a:rPr sz="2900" spc="-5" dirty="0">
                <a:latin typeface="Times New Roman"/>
                <a:cs typeface="Times New Roman"/>
              </a:rPr>
              <a:t>is</a:t>
            </a:r>
            <a:r>
              <a:rPr sz="2900" spc="-10" dirty="0">
                <a:latin typeface="Times New Roman"/>
                <a:cs typeface="Times New Roman"/>
              </a:rPr>
              <a:t> </a:t>
            </a:r>
            <a:r>
              <a:rPr sz="2900" dirty="0">
                <a:latin typeface="Times New Roman"/>
                <a:cs typeface="Times New Roman"/>
              </a:rPr>
              <a:t>known</a:t>
            </a:r>
            <a:r>
              <a:rPr sz="2900" spc="-15" dirty="0">
                <a:latin typeface="Times New Roman"/>
                <a:cs typeface="Times New Roman"/>
              </a:rPr>
              <a:t> </a:t>
            </a:r>
            <a:r>
              <a:rPr sz="2900" spc="-5" dirty="0">
                <a:latin typeface="Times New Roman"/>
                <a:cs typeface="Times New Roman"/>
              </a:rPr>
              <a:t>as</a:t>
            </a:r>
            <a:r>
              <a:rPr sz="2900" spc="5" dirty="0">
                <a:latin typeface="Times New Roman"/>
                <a:cs typeface="Times New Roman"/>
              </a:rPr>
              <a:t> </a:t>
            </a:r>
            <a:r>
              <a:rPr sz="2900" spc="-5" dirty="0">
                <a:latin typeface="Times New Roman"/>
                <a:cs typeface="Times New Roman"/>
              </a:rPr>
              <a:t>encapsulation.</a:t>
            </a:r>
            <a:endParaRPr sz="2900">
              <a:latin typeface="Times New Roman"/>
              <a:cs typeface="Times New Roman"/>
            </a:endParaRPr>
          </a:p>
        </p:txBody>
      </p:sp>
      <p:sp>
        <p:nvSpPr>
          <p:cNvPr id="4" name="object 4"/>
          <p:cNvSpPr txBox="1"/>
          <p:nvPr/>
        </p:nvSpPr>
        <p:spPr>
          <a:xfrm>
            <a:off x="78739" y="2581782"/>
            <a:ext cx="7201534" cy="1349375"/>
          </a:xfrm>
          <a:prstGeom prst="rect">
            <a:avLst/>
          </a:prstGeom>
        </p:spPr>
        <p:txBody>
          <a:bodyPr vert="horz" wrap="square" lIns="0" tIns="13335" rIns="0" bIns="0" rtlCol="0">
            <a:spAutoFit/>
          </a:bodyPr>
          <a:lstStyle/>
          <a:p>
            <a:pPr marL="652780" marR="5080" indent="-274320">
              <a:lnSpc>
                <a:spcPct val="100000"/>
              </a:lnSpc>
              <a:spcBef>
                <a:spcPts val="105"/>
              </a:spcBef>
              <a:tabLst>
                <a:tab pos="1390015" algn="l"/>
                <a:tab pos="2876550" algn="l"/>
                <a:tab pos="4225290" algn="l"/>
                <a:tab pos="4687570" algn="l"/>
                <a:tab pos="5187315" algn="l"/>
                <a:tab pos="6600190" algn="l"/>
              </a:tabLst>
            </a:pPr>
            <a:r>
              <a:rPr sz="1800" spc="-17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spc="5" dirty="0">
                <a:latin typeface="Times New Roman"/>
                <a:cs typeface="Times New Roman"/>
              </a:rPr>
              <a:t>Fo</a:t>
            </a:r>
            <a:r>
              <a:rPr sz="2600" dirty="0">
                <a:latin typeface="Times New Roman"/>
                <a:cs typeface="Times New Roman"/>
              </a:rPr>
              <a:t>r	e</a:t>
            </a:r>
            <a:r>
              <a:rPr sz="2600" spc="-15" dirty="0">
                <a:latin typeface="Times New Roman"/>
                <a:cs typeface="Times New Roman"/>
              </a:rPr>
              <a:t>x</a:t>
            </a:r>
            <a:r>
              <a:rPr sz="2600" dirty="0">
                <a:latin typeface="Times New Roman"/>
                <a:cs typeface="Times New Roman"/>
              </a:rPr>
              <a:t>a</a:t>
            </a:r>
            <a:r>
              <a:rPr sz="2600" spc="-15" dirty="0">
                <a:latin typeface="Times New Roman"/>
                <a:cs typeface="Times New Roman"/>
              </a:rPr>
              <a:t>m</a:t>
            </a:r>
            <a:r>
              <a:rPr sz="2600" dirty="0">
                <a:latin typeface="Times New Roman"/>
                <a:cs typeface="Times New Roman"/>
              </a:rPr>
              <a:t>pl</a:t>
            </a:r>
            <a:r>
              <a:rPr sz="2600" spc="-5" dirty="0">
                <a:latin typeface="Times New Roman"/>
                <a:cs typeface="Times New Roman"/>
              </a:rPr>
              <a:t>e</a:t>
            </a:r>
            <a:r>
              <a:rPr sz="2600" dirty="0">
                <a:latin typeface="Times New Roman"/>
                <a:cs typeface="Times New Roman"/>
              </a:rPr>
              <a:t>:	c</a:t>
            </a:r>
            <a:r>
              <a:rPr sz="2600" spc="-10" dirty="0">
                <a:latin typeface="Times New Roman"/>
                <a:cs typeface="Times New Roman"/>
              </a:rPr>
              <a:t>a</a:t>
            </a:r>
            <a:r>
              <a:rPr sz="2600" dirty="0">
                <a:latin typeface="Times New Roman"/>
                <a:cs typeface="Times New Roman"/>
              </a:rPr>
              <a:t>psu</a:t>
            </a:r>
            <a:r>
              <a:rPr sz="2600" spc="-10" dirty="0">
                <a:latin typeface="Times New Roman"/>
                <a:cs typeface="Times New Roman"/>
              </a:rPr>
              <a:t>l</a:t>
            </a:r>
            <a:r>
              <a:rPr sz="2600" dirty="0">
                <a:latin typeface="Times New Roman"/>
                <a:cs typeface="Times New Roman"/>
              </a:rPr>
              <a:t>e,	</a:t>
            </a:r>
            <a:r>
              <a:rPr sz="2600" spc="5" dirty="0">
                <a:latin typeface="Times New Roman"/>
                <a:cs typeface="Times New Roman"/>
              </a:rPr>
              <a:t>i</a:t>
            </a:r>
            <a:r>
              <a:rPr sz="2600" dirty="0">
                <a:latin typeface="Times New Roman"/>
                <a:cs typeface="Times New Roman"/>
              </a:rPr>
              <a:t>t	</a:t>
            </a:r>
            <a:r>
              <a:rPr sz="2600" spc="5" dirty="0">
                <a:latin typeface="Times New Roman"/>
                <a:cs typeface="Times New Roman"/>
              </a:rPr>
              <a:t>i</a:t>
            </a:r>
            <a:r>
              <a:rPr sz="2600" dirty="0">
                <a:latin typeface="Times New Roman"/>
                <a:cs typeface="Times New Roman"/>
              </a:rPr>
              <a:t>s	wr</a:t>
            </a:r>
            <a:r>
              <a:rPr sz="2600" spc="-20" dirty="0">
                <a:latin typeface="Times New Roman"/>
                <a:cs typeface="Times New Roman"/>
              </a:rPr>
              <a:t>a</a:t>
            </a:r>
            <a:r>
              <a:rPr sz="2600" dirty="0">
                <a:latin typeface="Times New Roman"/>
                <a:cs typeface="Times New Roman"/>
              </a:rPr>
              <a:t>pped	with  </a:t>
            </a:r>
            <a:r>
              <a:rPr sz="2600" spc="-5" dirty="0">
                <a:latin typeface="Times New Roman"/>
                <a:cs typeface="Times New Roman"/>
              </a:rPr>
              <a:t>medicines.</a:t>
            </a:r>
            <a:endParaRPr sz="2600">
              <a:latin typeface="Times New Roman"/>
              <a:cs typeface="Times New Roman"/>
            </a:endParaRPr>
          </a:p>
          <a:p>
            <a:pPr marL="332740" indent="-320040">
              <a:lnSpc>
                <a:spcPct val="100000"/>
              </a:lnSpc>
              <a:spcBef>
                <a:spcPts val="695"/>
              </a:spcBef>
              <a:buClr>
                <a:srgbClr val="DD8046"/>
              </a:buClr>
              <a:buSzPct val="60344"/>
              <a:buFont typeface="Wingdings"/>
              <a:buChar char=""/>
              <a:tabLst>
                <a:tab pos="332740" algn="l"/>
              </a:tabLst>
            </a:pPr>
            <a:r>
              <a:rPr sz="2900" dirty="0">
                <a:latin typeface="Times New Roman"/>
                <a:cs typeface="Times New Roman"/>
              </a:rPr>
              <a:t>A</a:t>
            </a:r>
            <a:r>
              <a:rPr sz="2900" spc="-160" dirty="0">
                <a:latin typeface="Times New Roman"/>
                <a:cs typeface="Times New Roman"/>
              </a:rPr>
              <a:t> </a:t>
            </a:r>
            <a:r>
              <a:rPr sz="2900" dirty="0">
                <a:latin typeface="Times New Roman"/>
                <a:cs typeface="Times New Roman"/>
              </a:rPr>
              <a:t>java</a:t>
            </a:r>
            <a:r>
              <a:rPr sz="2900" spc="-5" dirty="0">
                <a:latin typeface="Times New Roman"/>
                <a:cs typeface="Times New Roman"/>
              </a:rPr>
              <a:t> class is</a:t>
            </a:r>
            <a:r>
              <a:rPr sz="2900" spc="-10" dirty="0">
                <a:latin typeface="Times New Roman"/>
                <a:cs typeface="Times New Roman"/>
              </a:rPr>
              <a:t> </a:t>
            </a:r>
            <a:r>
              <a:rPr sz="2900" dirty="0">
                <a:latin typeface="Times New Roman"/>
                <a:cs typeface="Times New Roman"/>
              </a:rPr>
              <a:t>the</a:t>
            </a:r>
            <a:r>
              <a:rPr sz="2900" spc="-10" dirty="0">
                <a:latin typeface="Times New Roman"/>
                <a:cs typeface="Times New Roman"/>
              </a:rPr>
              <a:t> example</a:t>
            </a:r>
            <a:r>
              <a:rPr sz="2900" spc="25" dirty="0">
                <a:latin typeface="Times New Roman"/>
                <a:cs typeface="Times New Roman"/>
              </a:rPr>
              <a:t> </a:t>
            </a:r>
            <a:r>
              <a:rPr sz="2900" dirty="0">
                <a:latin typeface="Times New Roman"/>
                <a:cs typeface="Times New Roman"/>
              </a:rPr>
              <a:t>of</a:t>
            </a:r>
            <a:r>
              <a:rPr sz="2900" spc="-15" dirty="0">
                <a:latin typeface="Times New Roman"/>
                <a:cs typeface="Times New Roman"/>
              </a:rPr>
              <a:t> </a:t>
            </a:r>
            <a:r>
              <a:rPr sz="2900" spc="-5" dirty="0">
                <a:latin typeface="Times New Roman"/>
                <a:cs typeface="Times New Roman"/>
              </a:rPr>
              <a:t>encapsulation.</a:t>
            </a:r>
            <a:endParaRPr sz="2900">
              <a:latin typeface="Times New Roman"/>
              <a:cs typeface="Times New Roman"/>
            </a:endParaRPr>
          </a:p>
        </p:txBody>
      </p:sp>
      <p:sp>
        <p:nvSpPr>
          <p:cNvPr id="5" name="object 5"/>
          <p:cNvSpPr txBox="1"/>
          <p:nvPr/>
        </p:nvSpPr>
        <p:spPr>
          <a:xfrm>
            <a:off x="7532369" y="2581782"/>
            <a:ext cx="1155700" cy="422275"/>
          </a:xfrm>
          <a:prstGeom prst="rect">
            <a:avLst/>
          </a:prstGeom>
        </p:spPr>
        <p:txBody>
          <a:bodyPr vert="horz" wrap="square" lIns="0" tIns="13335" rIns="0" bIns="0" rtlCol="0">
            <a:spAutoFit/>
          </a:bodyPr>
          <a:lstStyle/>
          <a:p>
            <a:pPr marL="12700">
              <a:lnSpc>
                <a:spcPct val="100000"/>
              </a:lnSpc>
              <a:spcBef>
                <a:spcPts val="105"/>
              </a:spcBef>
            </a:pPr>
            <a:r>
              <a:rPr sz="2600" spc="-10" dirty="0">
                <a:latin typeface="Times New Roman"/>
                <a:cs typeface="Times New Roman"/>
              </a:rPr>
              <a:t>different</a:t>
            </a:r>
            <a:endParaRPr sz="2600">
              <a:latin typeface="Times New Roman"/>
              <a:cs typeface="Times New Roman"/>
            </a:endParaRPr>
          </a:p>
        </p:txBody>
      </p:sp>
      <p:pic>
        <p:nvPicPr>
          <p:cNvPr id="6" name="object 6"/>
          <p:cNvPicPr/>
          <p:nvPr/>
        </p:nvPicPr>
        <p:blipFill>
          <a:blip r:embed="rId2" cstate="print"/>
          <a:stretch>
            <a:fillRect/>
          </a:stretch>
        </p:blipFill>
        <p:spPr>
          <a:xfrm>
            <a:off x="1752600" y="3979164"/>
            <a:ext cx="4343400" cy="2650236"/>
          </a:xfrm>
          <a:prstGeom prst="rect">
            <a:avLst/>
          </a:prstGeom>
        </p:spPr>
      </p:pic>
      <p:sp>
        <p:nvSpPr>
          <p:cNvPr id="7" name="object 7"/>
          <p:cNvSpPr txBox="1"/>
          <p:nvPr/>
        </p:nvSpPr>
        <p:spPr>
          <a:xfrm>
            <a:off x="181457" y="1267714"/>
            <a:ext cx="162560" cy="208279"/>
          </a:xfrm>
          <a:prstGeom prst="rect">
            <a:avLst/>
          </a:prstGeom>
        </p:spPr>
        <p:txBody>
          <a:bodyPr vert="horz" wrap="square" lIns="0" tIns="12700" rIns="0" bIns="0" rtlCol="0">
            <a:spAutoFit/>
          </a:bodyPr>
          <a:lstStyle/>
          <a:p>
            <a:pPr marL="12700">
              <a:lnSpc>
                <a:spcPct val="100000"/>
              </a:lnSpc>
              <a:spcBef>
                <a:spcPts val="100"/>
              </a:spcBef>
            </a:pPr>
            <a:r>
              <a:rPr sz="1200" b="1" spc="-60" dirty="0">
                <a:solidFill>
                  <a:srgbClr val="FFFFFF"/>
                </a:solidFill>
                <a:latin typeface="Times New Roman"/>
                <a:cs typeface="Times New Roman"/>
              </a:rPr>
              <a:t>11</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629910" cy="696595"/>
          </a:xfrm>
          <a:prstGeom prst="rect">
            <a:avLst/>
          </a:prstGeom>
        </p:spPr>
        <p:txBody>
          <a:bodyPr vert="horz" wrap="square" lIns="0" tIns="13335" rIns="0" bIns="0" rtlCol="0">
            <a:spAutoFit/>
          </a:bodyPr>
          <a:lstStyle/>
          <a:p>
            <a:pPr marL="12700">
              <a:lnSpc>
                <a:spcPct val="100000"/>
              </a:lnSpc>
              <a:spcBef>
                <a:spcPts val="105"/>
              </a:spcBef>
            </a:pPr>
            <a:r>
              <a:rPr sz="4400" spc="-5" dirty="0"/>
              <a:t>OOP</a:t>
            </a:r>
            <a:r>
              <a:rPr sz="4400" spc="-185" dirty="0"/>
              <a:t> </a:t>
            </a:r>
            <a:r>
              <a:rPr sz="4400" dirty="0"/>
              <a:t>Concepts</a:t>
            </a:r>
            <a:r>
              <a:rPr sz="4400" spc="-45" dirty="0"/>
              <a:t> </a:t>
            </a:r>
            <a:r>
              <a:rPr sz="4400" dirty="0"/>
              <a:t>…Finally</a:t>
            </a:r>
            <a:endParaRPr sz="4400"/>
          </a:p>
        </p:txBody>
      </p:sp>
      <p:pic>
        <p:nvPicPr>
          <p:cNvPr id="3" name="object 3"/>
          <p:cNvPicPr/>
          <p:nvPr/>
        </p:nvPicPr>
        <p:blipFill>
          <a:blip r:embed="rId2" cstate="print"/>
          <a:stretch>
            <a:fillRect/>
          </a:stretch>
        </p:blipFill>
        <p:spPr>
          <a:xfrm>
            <a:off x="381000" y="1676400"/>
            <a:ext cx="8570976" cy="4648200"/>
          </a:xfrm>
          <a:prstGeom prst="rect">
            <a:avLst/>
          </a:prstGeom>
        </p:spPr>
      </p:pic>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12</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6400165" cy="697230"/>
          </a:xfrm>
          <a:prstGeom prst="rect">
            <a:avLst/>
          </a:prstGeom>
        </p:spPr>
        <p:txBody>
          <a:bodyPr vert="horz" wrap="square" lIns="0" tIns="13335" rIns="0" bIns="0" rtlCol="0">
            <a:spAutoFit/>
          </a:bodyPr>
          <a:lstStyle/>
          <a:p>
            <a:pPr marL="12700">
              <a:lnSpc>
                <a:spcPct val="100000"/>
              </a:lnSpc>
              <a:spcBef>
                <a:spcPts val="105"/>
              </a:spcBef>
            </a:pPr>
            <a:r>
              <a:rPr sz="4400" b="1" spc="-65" dirty="0">
                <a:latin typeface="Times New Roman"/>
                <a:cs typeface="Times New Roman"/>
              </a:rPr>
              <a:t>Types</a:t>
            </a:r>
            <a:r>
              <a:rPr sz="4400" b="1" spc="-35" dirty="0">
                <a:latin typeface="Times New Roman"/>
                <a:cs typeface="Times New Roman"/>
              </a:rPr>
              <a:t> </a:t>
            </a:r>
            <a:r>
              <a:rPr sz="4400" b="1" dirty="0">
                <a:latin typeface="Times New Roman"/>
                <a:cs typeface="Times New Roman"/>
              </a:rPr>
              <a:t>of</a:t>
            </a:r>
            <a:r>
              <a:rPr sz="4400" b="1" spc="-15" dirty="0">
                <a:latin typeface="Times New Roman"/>
                <a:cs typeface="Times New Roman"/>
              </a:rPr>
              <a:t> </a:t>
            </a:r>
            <a:r>
              <a:rPr sz="4400" b="1" dirty="0">
                <a:latin typeface="Times New Roman"/>
                <a:cs typeface="Times New Roman"/>
              </a:rPr>
              <a:t>Java</a:t>
            </a:r>
            <a:r>
              <a:rPr sz="4400" b="1" spc="-275" dirty="0">
                <a:latin typeface="Times New Roman"/>
                <a:cs typeface="Times New Roman"/>
              </a:rPr>
              <a:t> </a:t>
            </a:r>
            <a:r>
              <a:rPr sz="4400" b="1" dirty="0">
                <a:latin typeface="Times New Roman"/>
                <a:cs typeface="Times New Roman"/>
              </a:rPr>
              <a:t>Applications</a:t>
            </a:r>
            <a:endParaRPr sz="4400">
              <a:latin typeface="Times New Roman"/>
              <a:cs typeface="Times New Roman"/>
            </a:endParaRPr>
          </a:p>
        </p:txBody>
      </p:sp>
      <p:sp>
        <p:nvSpPr>
          <p:cNvPr id="3" name="object 3"/>
          <p:cNvSpPr txBox="1"/>
          <p:nvPr/>
        </p:nvSpPr>
        <p:spPr>
          <a:xfrm>
            <a:off x="535940" y="1454452"/>
            <a:ext cx="8149590" cy="3393440"/>
          </a:xfrm>
          <a:prstGeom prst="rect">
            <a:avLst/>
          </a:prstGeom>
        </p:spPr>
        <p:txBody>
          <a:bodyPr vert="horz" wrap="square" lIns="0" tIns="102235" rIns="0" bIns="0" rtlCol="0">
            <a:spAutoFit/>
          </a:bodyPr>
          <a:lstStyle/>
          <a:p>
            <a:pPr marL="332740" indent="-320040">
              <a:lnSpc>
                <a:spcPct val="100000"/>
              </a:lnSpc>
              <a:spcBef>
                <a:spcPts val="805"/>
              </a:spcBef>
              <a:buClr>
                <a:srgbClr val="DD8046"/>
              </a:buClr>
              <a:buSzPct val="59375"/>
              <a:buFont typeface="Wingdings"/>
              <a:buChar char=""/>
              <a:tabLst>
                <a:tab pos="332740" algn="l"/>
              </a:tabLst>
            </a:pPr>
            <a:r>
              <a:rPr sz="3200" b="1" dirty="0">
                <a:latin typeface="Times New Roman"/>
                <a:cs typeface="Times New Roman"/>
              </a:rPr>
              <a:t>Standal</a:t>
            </a:r>
            <a:r>
              <a:rPr sz="3200" b="1" spc="5" dirty="0">
                <a:latin typeface="Times New Roman"/>
                <a:cs typeface="Times New Roman"/>
              </a:rPr>
              <a:t>o</a:t>
            </a:r>
            <a:r>
              <a:rPr sz="3200" b="1" dirty="0">
                <a:latin typeface="Times New Roman"/>
                <a:cs typeface="Times New Roman"/>
              </a:rPr>
              <a:t>ne</a:t>
            </a:r>
            <a:r>
              <a:rPr sz="3200" b="1" spc="-225" dirty="0">
                <a:latin typeface="Times New Roman"/>
                <a:cs typeface="Times New Roman"/>
              </a:rPr>
              <a:t> </a:t>
            </a:r>
            <a:r>
              <a:rPr sz="3200" b="1" dirty="0">
                <a:latin typeface="Times New Roman"/>
                <a:cs typeface="Times New Roman"/>
              </a:rPr>
              <a:t>Ap</a:t>
            </a:r>
            <a:r>
              <a:rPr sz="3200" b="1" spc="-15" dirty="0">
                <a:latin typeface="Times New Roman"/>
                <a:cs typeface="Times New Roman"/>
              </a:rPr>
              <a:t>p</a:t>
            </a:r>
            <a:r>
              <a:rPr sz="3200" b="1" dirty="0">
                <a:latin typeface="Times New Roman"/>
                <a:cs typeface="Times New Roman"/>
              </a:rPr>
              <a:t>lication</a:t>
            </a:r>
            <a:endParaRPr sz="3200">
              <a:latin typeface="Times New Roman"/>
              <a:cs typeface="Times New Roman"/>
            </a:endParaRPr>
          </a:p>
          <a:p>
            <a:pPr marL="652780" marR="5080" indent="-274320">
              <a:lnSpc>
                <a:spcPct val="100000"/>
              </a:lnSpc>
              <a:spcBef>
                <a:spcPts val="605"/>
              </a:spcBef>
            </a:pPr>
            <a:r>
              <a:rPr sz="1950" spc="-65"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5" dirty="0">
                <a:latin typeface="Times New Roman"/>
                <a:cs typeface="Times New Roman"/>
              </a:rPr>
              <a:t>It</a:t>
            </a:r>
            <a:r>
              <a:rPr sz="2800" spc="225" dirty="0">
                <a:latin typeface="Times New Roman"/>
                <a:cs typeface="Times New Roman"/>
              </a:rPr>
              <a:t> </a:t>
            </a:r>
            <a:r>
              <a:rPr sz="2800" spc="-5" dirty="0">
                <a:latin typeface="Times New Roman"/>
                <a:cs typeface="Times New Roman"/>
              </a:rPr>
              <a:t>is</a:t>
            </a:r>
            <a:r>
              <a:rPr sz="2800" spc="229" dirty="0">
                <a:latin typeface="Times New Roman"/>
                <a:cs typeface="Times New Roman"/>
              </a:rPr>
              <a:t> </a:t>
            </a:r>
            <a:r>
              <a:rPr sz="2800" spc="-5" dirty="0">
                <a:latin typeface="Times New Roman"/>
                <a:cs typeface="Times New Roman"/>
              </a:rPr>
              <a:t>also</a:t>
            </a:r>
            <a:r>
              <a:rPr sz="2800" spc="235" dirty="0">
                <a:latin typeface="Times New Roman"/>
                <a:cs typeface="Times New Roman"/>
              </a:rPr>
              <a:t> </a:t>
            </a:r>
            <a:r>
              <a:rPr sz="2800" dirty="0">
                <a:latin typeface="Times New Roman"/>
                <a:cs typeface="Times New Roman"/>
              </a:rPr>
              <a:t>known</a:t>
            </a:r>
            <a:r>
              <a:rPr sz="2800" spc="229" dirty="0">
                <a:latin typeface="Times New Roman"/>
                <a:cs typeface="Times New Roman"/>
              </a:rPr>
              <a:t> </a:t>
            </a:r>
            <a:r>
              <a:rPr sz="2800" spc="-10" dirty="0">
                <a:latin typeface="Times New Roman"/>
                <a:cs typeface="Times New Roman"/>
              </a:rPr>
              <a:t>as</a:t>
            </a:r>
            <a:r>
              <a:rPr sz="2800" spc="229" dirty="0">
                <a:latin typeface="Times New Roman"/>
                <a:cs typeface="Times New Roman"/>
              </a:rPr>
              <a:t> </a:t>
            </a:r>
            <a:r>
              <a:rPr sz="2800" spc="-5" dirty="0">
                <a:latin typeface="Times New Roman"/>
                <a:cs typeface="Times New Roman"/>
              </a:rPr>
              <a:t>desktop</a:t>
            </a:r>
            <a:r>
              <a:rPr sz="2800" spc="240" dirty="0">
                <a:latin typeface="Times New Roman"/>
                <a:cs typeface="Times New Roman"/>
              </a:rPr>
              <a:t> </a:t>
            </a:r>
            <a:r>
              <a:rPr sz="2800" spc="-5" dirty="0">
                <a:latin typeface="Times New Roman"/>
                <a:cs typeface="Times New Roman"/>
              </a:rPr>
              <a:t>application</a:t>
            </a:r>
            <a:r>
              <a:rPr sz="2800" spc="245" dirty="0">
                <a:latin typeface="Times New Roman"/>
                <a:cs typeface="Times New Roman"/>
              </a:rPr>
              <a:t> </a:t>
            </a:r>
            <a:r>
              <a:rPr sz="2800" dirty="0">
                <a:latin typeface="Times New Roman"/>
                <a:cs typeface="Times New Roman"/>
              </a:rPr>
              <a:t>or</a:t>
            </a:r>
            <a:r>
              <a:rPr sz="2800" spc="240" dirty="0">
                <a:latin typeface="Times New Roman"/>
                <a:cs typeface="Times New Roman"/>
              </a:rPr>
              <a:t> </a:t>
            </a:r>
            <a:r>
              <a:rPr sz="2800" spc="-5" dirty="0">
                <a:latin typeface="Times New Roman"/>
                <a:cs typeface="Times New Roman"/>
              </a:rPr>
              <a:t>window- </a:t>
            </a:r>
            <a:r>
              <a:rPr sz="2800" dirty="0">
                <a:latin typeface="Times New Roman"/>
                <a:cs typeface="Times New Roman"/>
              </a:rPr>
              <a:t> </a:t>
            </a:r>
            <a:r>
              <a:rPr sz="2800" spc="-5" dirty="0">
                <a:latin typeface="Times New Roman"/>
                <a:cs typeface="Times New Roman"/>
              </a:rPr>
              <a:t>based </a:t>
            </a:r>
            <a:r>
              <a:rPr sz="2800" dirty="0">
                <a:latin typeface="Times New Roman"/>
                <a:cs typeface="Times New Roman"/>
              </a:rPr>
              <a:t>application.</a:t>
            </a:r>
            <a:endParaRPr sz="2800">
              <a:latin typeface="Times New Roman"/>
              <a:cs typeface="Times New Roman"/>
            </a:endParaRPr>
          </a:p>
          <a:p>
            <a:pPr marL="652780" marR="6350" indent="-274320">
              <a:lnSpc>
                <a:spcPct val="100000"/>
              </a:lnSpc>
              <a:spcBef>
                <a:spcPts val="605"/>
              </a:spcBef>
              <a:tabLst>
                <a:tab pos="1282065" algn="l"/>
                <a:tab pos="3058160" algn="l"/>
                <a:tab pos="3783329" algn="l"/>
                <a:tab pos="4392930" algn="l"/>
                <a:tab pos="5259070" algn="l"/>
                <a:tab pos="5731510" algn="l"/>
                <a:tab pos="6793865" algn="l"/>
                <a:tab pos="7345680" algn="l"/>
              </a:tabLst>
            </a:pPr>
            <a:r>
              <a:rPr sz="1950" spc="-210"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10" dirty="0">
                <a:latin typeface="Times New Roman"/>
                <a:cs typeface="Times New Roman"/>
              </a:rPr>
              <a:t>A</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app</a:t>
            </a:r>
            <a:r>
              <a:rPr sz="2800" dirty="0">
                <a:latin typeface="Times New Roman"/>
                <a:cs typeface="Times New Roman"/>
              </a:rPr>
              <a:t>l</a:t>
            </a:r>
            <a:r>
              <a:rPr sz="2800" spc="-5" dirty="0">
                <a:latin typeface="Times New Roman"/>
                <a:cs typeface="Times New Roman"/>
              </a:rPr>
              <a:t>ication</a:t>
            </a:r>
            <a:r>
              <a:rPr sz="2800" dirty="0">
                <a:latin typeface="Times New Roman"/>
                <a:cs typeface="Times New Roman"/>
              </a:rPr>
              <a:t>	</a:t>
            </a:r>
            <a:r>
              <a:rPr sz="2800" spc="-15" dirty="0">
                <a:latin typeface="Times New Roman"/>
                <a:cs typeface="Times New Roman"/>
              </a:rPr>
              <a:t>t</a:t>
            </a:r>
            <a:r>
              <a:rPr sz="2800" spc="-5" dirty="0">
                <a:latin typeface="Times New Roman"/>
                <a:cs typeface="Times New Roman"/>
              </a:rPr>
              <a:t>hat</a:t>
            </a:r>
            <a:r>
              <a:rPr sz="2800" dirty="0">
                <a:latin typeface="Times New Roman"/>
                <a:cs typeface="Times New Roman"/>
              </a:rPr>
              <a:t>	</a:t>
            </a:r>
            <a:r>
              <a:rPr sz="2800" spc="-10" dirty="0">
                <a:latin typeface="Times New Roman"/>
                <a:cs typeface="Times New Roman"/>
              </a:rPr>
              <a:t>w</a:t>
            </a:r>
            <a:r>
              <a:rPr sz="2800" spc="-5" dirty="0">
                <a:latin typeface="Times New Roman"/>
                <a:cs typeface="Times New Roman"/>
              </a:rPr>
              <a:t>e</a:t>
            </a:r>
            <a:r>
              <a:rPr sz="2800" dirty="0">
                <a:latin typeface="Times New Roman"/>
                <a:cs typeface="Times New Roman"/>
              </a:rPr>
              <a:t>	</a:t>
            </a:r>
            <a:r>
              <a:rPr sz="2800" spc="-5" dirty="0">
                <a:latin typeface="Times New Roman"/>
                <a:cs typeface="Times New Roman"/>
              </a:rPr>
              <a:t>need</a:t>
            </a:r>
            <a:r>
              <a:rPr sz="2800" dirty="0">
                <a:latin typeface="Times New Roman"/>
                <a:cs typeface="Times New Roman"/>
              </a:rPr>
              <a:t>	</a:t>
            </a:r>
            <a:r>
              <a:rPr sz="2800" spc="-5" dirty="0">
                <a:latin typeface="Times New Roman"/>
                <a:cs typeface="Times New Roman"/>
              </a:rPr>
              <a:t>to</a:t>
            </a:r>
            <a:r>
              <a:rPr sz="2800" dirty="0">
                <a:latin typeface="Times New Roman"/>
                <a:cs typeface="Times New Roman"/>
              </a:rPr>
              <a:t>	</a:t>
            </a:r>
            <a:r>
              <a:rPr sz="2800" spc="-5" dirty="0">
                <a:latin typeface="Times New Roman"/>
                <a:cs typeface="Times New Roman"/>
              </a:rPr>
              <a:t>i</a:t>
            </a:r>
            <a:r>
              <a:rPr sz="2800" dirty="0">
                <a:latin typeface="Times New Roman"/>
                <a:cs typeface="Times New Roman"/>
              </a:rPr>
              <a:t>n</a:t>
            </a:r>
            <a:r>
              <a:rPr sz="2800" spc="-5" dirty="0">
                <a:latin typeface="Times New Roman"/>
                <a:cs typeface="Times New Roman"/>
              </a:rPr>
              <a:t>st</a:t>
            </a:r>
            <a:r>
              <a:rPr sz="2800" spc="-20" dirty="0">
                <a:latin typeface="Times New Roman"/>
                <a:cs typeface="Times New Roman"/>
              </a:rPr>
              <a:t>a</a:t>
            </a:r>
            <a:r>
              <a:rPr sz="2800" spc="-5" dirty="0">
                <a:latin typeface="Times New Roman"/>
                <a:cs typeface="Times New Roman"/>
              </a:rPr>
              <a:t>ll</a:t>
            </a:r>
            <a:r>
              <a:rPr sz="2800" dirty="0">
                <a:latin typeface="Times New Roman"/>
                <a:cs typeface="Times New Roman"/>
              </a:rPr>
              <a:t>	o</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every  </a:t>
            </a:r>
            <a:r>
              <a:rPr sz="2800" spc="-10" dirty="0">
                <a:latin typeface="Times New Roman"/>
                <a:cs typeface="Times New Roman"/>
              </a:rPr>
              <a:t>machine</a:t>
            </a:r>
            <a:r>
              <a:rPr sz="2800" spc="5" dirty="0">
                <a:latin typeface="Times New Roman"/>
                <a:cs typeface="Times New Roman"/>
              </a:rPr>
              <a:t> </a:t>
            </a:r>
            <a:r>
              <a:rPr sz="2800" spc="-5" dirty="0">
                <a:latin typeface="Times New Roman"/>
                <a:cs typeface="Times New Roman"/>
              </a:rPr>
              <a:t>such</a:t>
            </a:r>
            <a:r>
              <a:rPr sz="2800" spc="-15" dirty="0">
                <a:latin typeface="Times New Roman"/>
                <a:cs typeface="Times New Roman"/>
              </a:rPr>
              <a:t> </a:t>
            </a:r>
            <a:r>
              <a:rPr sz="2800" spc="-10" dirty="0">
                <a:latin typeface="Times New Roman"/>
                <a:cs typeface="Times New Roman"/>
              </a:rPr>
              <a:t>as</a:t>
            </a:r>
            <a:r>
              <a:rPr sz="2800" dirty="0">
                <a:latin typeface="Times New Roman"/>
                <a:cs typeface="Times New Roman"/>
              </a:rPr>
              <a:t> </a:t>
            </a:r>
            <a:r>
              <a:rPr sz="2800" spc="-5" dirty="0">
                <a:latin typeface="Times New Roman"/>
                <a:cs typeface="Times New Roman"/>
              </a:rPr>
              <a:t>media</a:t>
            </a:r>
            <a:r>
              <a:rPr sz="2800" spc="5" dirty="0">
                <a:latin typeface="Times New Roman"/>
                <a:cs typeface="Times New Roman"/>
              </a:rPr>
              <a:t> </a:t>
            </a:r>
            <a:r>
              <a:rPr sz="2800" spc="-20" dirty="0">
                <a:latin typeface="Times New Roman"/>
                <a:cs typeface="Times New Roman"/>
              </a:rPr>
              <a:t>player,</a:t>
            </a:r>
            <a:r>
              <a:rPr sz="2800" spc="-15" dirty="0">
                <a:latin typeface="Times New Roman"/>
                <a:cs typeface="Times New Roman"/>
              </a:rPr>
              <a:t> </a:t>
            </a:r>
            <a:r>
              <a:rPr sz="2800" dirty="0">
                <a:latin typeface="Times New Roman"/>
                <a:cs typeface="Times New Roman"/>
              </a:rPr>
              <a:t>antivirus</a:t>
            </a:r>
            <a:r>
              <a:rPr sz="2800" spc="-15" dirty="0">
                <a:latin typeface="Times New Roman"/>
                <a:cs typeface="Times New Roman"/>
              </a:rPr>
              <a:t> </a:t>
            </a:r>
            <a:r>
              <a:rPr sz="2800" spc="-5" dirty="0">
                <a:latin typeface="Times New Roman"/>
                <a:cs typeface="Times New Roman"/>
              </a:rPr>
              <a:t>etc.</a:t>
            </a:r>
            <a:endParaRPr sz="2800">
              <a:latin typeface="Times New Roman"/>
              <a:cs typeface="Times New Roman"/>
            </a:endParaRPr>
          </a:p>
          <a:p>
            <a:pPr marL="652780" marR="6985" indent="-274320">
              <a:lnSpc>
                <a:spcPct val="100000"/>
              </a:lnSpc>
              <a:spcBef>
                <a:spcPts val="600"/>
              </a:spcBef>
              <a:tabLst>
                <a:tab pos="1647825" algn="l"/>
                <a:tab pos="2382520" algn="l"/>
                <a:tab pos="3513454" algn="l"/>
                <a:tab pos="4169410" algn="l"/>
                <a:tab pos="5042535" algn="l"/>
                <a:tab pos="5541010" algn="l"/>
                <a:tab pos="6353175" algn="l"/>
                <a:tab pos="6990715" algn="l"/>
              </a:tabLst>
            </a:pPr>
            <a:r>
              <a:rPr sz="1950" spc="-210"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240" dirty="0">
                <a:latin typeface="Times New Roman"/>
                <a:cs typeface="Times New Roman"/>
              </a:rPr>
              <a:t>A</a:t>
            </a:r>
            <a:r>
              <a:rPr sz="2800" spc="-5" dirty="0">
                <a:latin typeface="Times New Roman"/>
                <a:cs typeface="Times New Roman"/>
              </a:rPr>
              <a:t>WT</a:t>
            </a:r>
            <a:r>
              <a:rPr sz="2800" dirty="0">
                <a:latin typeface="Times New Roman"/>
                <a:cs typeface="Times New Roman"/>
              </a:rPr>
              <a:t>	</a:t>
            </a:r>
            <a:r>
              <a:rPr sz="2800" spc="-5" dirty="0">
                <a:latin typeface="Times New Roman"/>
                <a:cs typeface="Times New Roman"/>
              </a:rPr>
              <a:t>and</a:t>
            </a:r>
            <a:r>
              <a:rPr sz="2800" dirty="0">
                <a:latin typeface="Times New Roman"/>
                <a:cs typeface="Times New Roman"/>
              </a:rPr>
              <a:t>	</a:t>
            </a:r>
            <a:r>
              <a:rPr sz="2800" spc="-5" dirty="0">
                <a:latin typeface="Times New Roman"/>
                <a:cs typeface="Times New Roman"/>
              </a:rPr>
              <a:t>Swing</a:t>
            </a:r>
            <a:r>
              <a:rPr sz="2800" dirty="0">
                <a:latin typeface="Times New Roman"/>
                <a:cs typeface="Times New Roman"/>
              </a:rPr>
              <a:t>	</a:t>
            </a:r>
            <a:r>
              <a:rPr sz="2800" spc="-5" dirty="0">
                <a:latin typeface="Times New Roman"/>
                <a:cs typeface="Times New Roman"/>
              </a:rPr>
              <a:t>a</a:t>
            </a:r>
            <a:r>
              <a:rPr sz="2800" dirty="0">
                <a:latin typeface="Times New Roman"/>
                <a:cs typeface="Times New Roman"/>
              </a:rPr>
              <a:t>r</a:t>
            </a:r>
            <a:r>
              <a:rPr sz="2800" spc="-5" dirty="0">
                <a:latin typeface="Times New Roman"/>
                <a:cs typeface="Times New Roman"/>
              </a:rPr>
              <a:t>e</a:t>
            </a:r>
            <a:r>
              <a:rPr sz="2800" dirty="0">
                <a:latin typeface="Times New Roman"/>
                <a:cs typeface="Times New Roman"/>
              </a:rPr>
              <a:t>	</a:t>
            </a:r>
            <a:r>
              <a:rPr sz="2800" spc="-5" dirty="0">
                <a:latin typeface="Times New Roman"/>
                <a:cs typeface="Times New Roman"/>
              </a:rPr>
              <a:t>used</a:t>
            </a:r>
            <a:r>
              <a:rPr sz="2800" dirty="0">
                <a:latin typeface="Times New Roman"/>
                <a:cs typeface="Times New Roman"/>
              </a:rPr>
              <a:t>	</a:t>
            </a:r>
            <a:r>
              <a:rPr sz="2800" spc="-5" dirty="0">
                <a:latin typeface="Times New Roman"/>
                <a:cs typeface="Times New Roman"/>
              </a:rPr>
              <a:t>in</a:t>
            </a:r>
            <a:r>
              <a:rPr sz="2800" dirty="0">
                <a:latin typeface="Times New Roman"/>
                <a:cs typeface="Times New Roman"/>
              </a:rPr>
              <a:t>	</a:t>
            </a:r>
            <a:r>
              <a:rPr sz="2800" spc="-5" dirty="0">
                <a:latin typeface="Times New Roman"/>
                <a:cs typeface="Times New Roman"/>
              </a:rPr>
              <a:t>java</a:t>
            </a:r>
            <a:r>
              <a:rPr sz="2800" dirty="0">
                <a:latin typeface="Times New Roman"/>
                <a:cs typeface="Times New Roman"/>
              </a:rPr>
              <a:t>	</a:t>
            </a:r>
            <a:r>
              <a:rPr sz="2800" spc="-5" dirty="0">
                <a:latin typeface="Times New Roman"/>
                <a:cs typeface="Times New Roman"/>
              </a:rPr>
              <a:t>for</a:t>
            </a:r>
            <a:r>
              <a:rPr sz="2800" dirty="0">
                <a:latin typeface="Times New Roman"/>
                <a:cs typeface="Times New Roman"/>
              </a:rPr>
              <a:t>	</a:t>
            </a:r>
            <a:r>
              <a:rPr sz="2800" spc="-5" dirty="0">
                <a:latin typeface="Times New Roman"/>
                <a:cs typeface="Times New Roman"/>
              </a:rPr>
              <a:t>cr</a:t>
            </a:r>
            <a:r>
              <a:rPr sz="2800" spc="-15" dirty="0">
                <a:latin typeface="Times New Roman"/>
                <a:cs typeface="Times New Roman"/>
              </a:rPr>
              <a:t>e</a:t>
            </a:r>
            <a:r>
              <a:rPr sz="2800" spc="-5" dirty="0">
                <a:latin typeface="Times New Roman"/>
                <a:cs typeface="Times New Roman"/>
              </a:rPr>
              <a:t>ating  standalone</a:t>
            </a:r>
            <a:r>
              <a:rPr sz="2800" spc="-25" dirty="0">
                <a:latin typeface="Times New Roman"/>
                <a:cs typeface="Times New Roman"/>
              </a:rPr>
              <a:t> </a:t>
            </a:r>
            <a:r>
              <a:rPr sz="2800" spc="-5" dirty="0">
                <a:latin typeface="Times New Roman"/>
                <a:cs typeface="Times New Roman"/>
              </a:rPr>
              <a:t>applications.</a:t>
            </a:r>
            <a:endParaRPr sz="28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21</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6400165" cy="697230"/>
          </a:xfrm>
          <a:prstGeom prst="rect">
            <a:avLst/>
          </a:prstGeom>
        </p:spPr>
        <p:txBody>
          <a:bodyPr vert="horz" wrap="square" lIns="0" tIns="13335" rIns="0" bIns="0" rtlCol="0">
            <a:spAutoFit/>
          </a:bodyPr>
          <a:lstStyle/>
          <a:p>
            <a:pPr marL="12700">
              <a:lnSpc>
                <a:spcPct val="100000"/>
              </a:lnSpc>
              <a:spcBef>
                <a:spcPts val="105"/>
              </a:spcBef>
            </a:pPr>
            <a:r>
              <a:rPr sz="4400" b="1" spc="-65" dirty="0">
                <a:latin typeface="Times New Roman"/>
                <a:cs typeface="Times New Roman"/>
              </a:rPr>
              <a:t>Types</a:t>
            </a:r>
            <a:r>
              <a:rPr sz="4400" b="1" spc="-35" dirty="0">
                <a:latin typeface="Times New Roman"/>
                <a:cs typeface="Times New Roman"/>
              </a:rPr>
              <a:t> </a:t>
            </a:r>
            <a:r>
              <a:rPr sz="4400" b="1" dirty="0">
                <a:latin typeface="Times New Roman"/>
                <a:cs typeface="Times New Roman"/>
              </a:rPr>
              <a:t>of</a:t>
            </a:r>
            <a:r>
              <a:rPr sz="4400" b="1" spc="-15" dirty="0">
                <a:latin typeface="Times New Roman"/>
                <a:cs typeface="Times New Roman"/>
              </a:rPr>
              <a:t> </a:t>
            </a:r>
            <a:r>
              <a:rPr sz="4400" b="1" dirty="0">
                <a:latin typeface="Times New Roman"/>
                <a:cs typeface="Times New Roman"/>
              </a:rPr>
              <a:t>Java</a:t>
            </a:r>
            <a:r>
              <a:rPr sz="4400" b="1" spc="-275" dirty="0">
                <a:latin typeface="Times New Roman"/>
                <a:cs typeface="Times New Roman"/>
              </a:rPr>
              <a:t> </a:t>
            </a:r>
            <a:r>
              <a:rPr sz="4400" b="1" dirty="0">
                <a:latin typeface="Times New Roman"/>
                <a:cs typeface="Times New Roman"/>
              </a:rPr>
              <a:t>Applications</a:t>
            </a:r>
            <a:endParaRPr sz="4400">
              <a:latin typeface="Times New Roman"/>
              <a:cs typeface="Times New Roman"/>
            </a:endParaRPr>
          </a:p>
        </p:txBody>
      </p:sp>
      <p:sp>
        <p:nvSpPr>
          <p:cNvPr id="3" name="object 3"/>
          <p:cNvSpPr txBox="1"/>
          <p:nvPr/>
        </p:nvSpPr>
        <p:spPr>
          <a:xfrm>
            <a:off x="535940" y="1454452"/>
            <a:ext cx="8148320" cy="2463165"/>
          </a:xfrm>
          <a:prstGeom prst="rect">
            <a:avLst/>
          </a:prstGeom>
        </p:spPr>
        <p:txBody>
          <a:bodyPr vert="horz" wrap="square" lIns="0" tIns="102235" rIns="0" bIns="0" rtlCol="0">
            <a:spAutoFit/>
          </a:bodyPr>
          <a:lstStyle/>
          <a:p>
            <a:pPr marL="332740" indent="-320040">
              <a:lnSpc>
                <a:spcPct val="100000"/>
              </a:lnSpc>
              <a:spcBef>
                <a:spcPts val="805"/>
              </a:spcBef>
              <a:buClr>
                <a:srgbClr val="DD8046"/>
              </a:buClr>
              <a:buSzPct val="59375"/>
              <a:buFont typeface="Wingdings"/>
              <a:buChar char=""/>
              <a:tabLst>
                <a:tab pos="332740" algn="l"/>
              </a:tabLst>
            </a:pPr>
            <a:r>
              <a:rPr sz="3200" b="1" spc="-175" dirty="0">
                <a:latin typeface="Times New Roman"/>
                <a:cs typeface="Times New Roman"/>
              </a:rPr>
              <a:t>W</a:t>
            </a:r>
            <a:r>
              <a:rPr sz="3200" b="1" dirty="0">
                <a:latin typeface="Times New Roman"/>
                <a:cs typeface="Times New Roman"/>
              </a:rPr>
              <a:t>eb</a:t>
            </a:r>
            <a:r>
              <a:rPr sz="3200" b="1" spc="-180" dirty="0">
                <a:latin typeface="Times New Roman"/>
                <a:cs typeface="Times New Roman"/>
              </a:rPr>
              <a:t> </a:t>
            </a:r>
            <a:r>
              <a:rPr sz="3200" b="1" dirty="0">
                <a:latin typeface="Times New Roman"/>
                <a:cs typeface="Times New Roman"/>
              </a:rPr>
              <a:t>Ap</a:t>
            </a:r>
            <a:r>
              <a:rPr sz="3200" b="1" spc="-15" dirty="0">
                <a:latin typeface="Times New Roman"/>
                <a:cs typeface="Times New Roman"/>
              </a:rPr>
              <a:t>p</a:t>
            </a:r>
            <a:r>
              <a:rPr sz="3200" b="1" dirty="0">
                <a:latin typeface="Times New Roman"/>
                <a:cs typeface="Times New Roman"/>
              </a:rPr>
              <a:t>lication</a:t>
            </a:r>
            <a:endParaRPr sz="3200">
              <a:latin typeface="Times New Roman"/>
              <a:cs typeface="Times New Roman"/>
            </a:endParaRPr>
          </a:p>
          <a:p>
            <a:pPr marL="652780" marR="6350" indent="-274320">
              <a:lnSpc>
                <a:spcPct val="100000"/>
              </a:lnSpc>
              <a:spcBef>
                <a:spcPts val="605"/>
              </a:spcBef>
              <a:tabLst>
                <a:tab pos="1285240" algn="l"/>
                <a:tab pos="3060700" algn="l"/>
                <a:tab pos="3789679" algn="l"/>
                <a:tab pos="4601845" algn="l"/>
                <a:tab pos="5153660" algn="l"/>
                <a:tab pos="5786120" algn="l"/>
                <a:tab pos="6851650" algn="l"/>
                <a:tab pos="7623175" algn="l"/>
              </a:tabLst>
            </a:pPr>
            <a:r>
              <a:rPr sz="1950" spc="-210"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10" dirty="0">
                <a:latin typeface="Times New Roman"/>
                <a:cs typeface="Times New Roman"/>
              </a:rPr>
              <a:t>A</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app</a:t>
            </a:r>
            <a:r>
              <a:rPr sz="2800" dirty="0">
                <a:latin typeface="Times New Roman"/>
                <a:cs typeface="Times New Roman"/>
              </a:rPr>
              <a:t>l</a:t>
            </a:r>
            <a:r>
              <a:rPr sz="2800" spc="-5" dirty="0">
                <a:latin typeface="Times New Roman"/>
                <a:cs typeface="Times New Roman"/>
              </a:rPr>
              <a:t>i</a:t>
            </a:r>
            <a:r>
              <a:rPr sz="2800" spc="-20" dirty="0">
                <a:latin typeface="Times New Roman"/>
                <a:cs typeface="Times New Roman"/>
              </a:rPr>
              <a:t>c</a:t>
            </a:r>
            <a:r>
              <a:rPr sz="2800" spc="-5" dirty="0">
                <a:latin typeface="Times New Roman"/>
                <a:cs typeface="Times New Roman"/>
              </a:rPr>
              <a:t>ation</a:t>
            </a:r>
            <a:r>
              <a:rPr sz="2800" dirty="0">
                <a:latin typeface="Times New Roman"/>
                <a:cs typeface="Times New Roman"/>
              </a:rPr>
              <a:t>	</a:t>
            </a:r>
            <a:r>
              <a:rPr sz="2800" spc="-5" dirty="0">
                <a:latin typeface="Times New Roman"/>
                <a:cs typeface="Times New Roman"/>
              </a:rPr>
              <a:t>t</a:t>
            </a:r>
            <a:r>
              <a:rPr sz="2800" dirty="0">
                <a:latin typeface="Times New Roman"/>
                <a:cs typeface="Times New Roman"/>
              </a:rPr>
              <a:t>h</a:t>
            </a:r>
            <a:r>
              <a:rPr sz="2800" spc="-25" dirty="0">
                <a:latin typeface="Times New Roman"/>
                <a:cs typeface="Times New Roman"/>
              </a:rPr>
              <a:t>a</a:t>
            </a:r>
            <a:r>
              <a:rPr sz="2800" spc="-5" dirty="0">
                <a:latin typeface="Times New Roman"/>
                <a:cs typeface="Times New Roman"/>
              </a:rPr>
              <a:t>t</a:t>
            </a:r>
            <a:r>
              <a:rPr sz="2800" dirty="0">
                <a:latin typeface="Times New Roman"/>
                <a:cs typeface="Times New Roman"/>
              </a:rPr>
              <a:t>	</a:t>
            </a:r>
            <a:r>
              <a:rPr sz="2800" spc="-5" dirty="0">
                <a:latin typeface="Times New Roman"/>
                <a:cs typeface="Times New Roman"/>
              </a:rPr>
              <a:t>r</a:t>
            </a:r>
            <a:r>
              <a:rPr sz="2800" dirty="0">
                <a:latin typeface="Times New Roman"/>
                <a:cs typeface="Times New Roman"/>
              </a:rPr>
              <a:t>u</a:t>
            </a:r>
            <a:r>
              <a:rPr sz="2800" spc="-5" dirty="0">
                <a:latin typeface="Times New Roman"/>
                <a:cs typeface="Times New Roman"/>
              </a:rPr>
              <a:t>ns</a:t>
            </a:r>
            <a:r>
              <a:rPr sz="2800" dirty="0">
                <a:latin typeface="Times New Roman"/>
                <a:cs typeface="Times New Roman"/>
              </a:rPr>
              <a:t>	</a:t>
            </a:r>
            <a:r>
              <a:rPr sz="2800" spc="-15" dirty="0">
                <a:latin typeface="Times New Roman"/>
                <a:cs typeface="Times New Roman"/>
              </a:rPr>
              <a:t>o</a:t>
            </a:r>
            <a:r>
              <a:rPr sz="2800" spc="-5" dirty="0">
                <a:latin typeface="Times New Roman"/>
                <a:cs typeface="Times New Roman"/>
              </a:rPr>
              <a:t>n</a:t>
            </a:r>
            <a:r>
              <a:rPr sz="2800" dirty="0">
                <a:latin typeface="Times New Roman"/>
                <a:cs typeface="Times New Roman"/>
              </a:rPr>
              <a:t>	</a:t>
            </a:r>
            <a:r>
              <a:rPr sz="2800" spc="-5" dirty="0">
                <a:latin typeface="Times New Roman"/>
                <a:cs typeface="Times New Roman"/>
              </a:rPr>
              <a:t>t</a:t>
            </a:r>
            <a:r>
              <a:rPr sz="2800" dirty="0">
                <a:latin typeface="Times New Roman"/>
                <a:cs typeface="Times New Roman"/>
              </a:rPr>
              <a:t>h</a:t>
            </a:r>
            <a:r>
              <a:rPr sz="2800" spc="-5" dirty="0">
                <a:latin typeface="Times New Roman"/>
                <a:cs typeface="Times New Roman"/>
              </a:rPr>
              <a:t>e</a:t>
            </a:r>
            <a:r>
              <a:rPr sz="2800" dirty="0">
                <a:latin typeface="Times New Roman"/>
                <a:cs typeface="Times New Roman"/>
              </a:rPr>
              <a:t>	</a:t>
            </a:r>
            <a:r>
              <a:rPr sz="2800" spc="-5" dirty="0">
                <a:latin typeface="Times New Roman"/>
                <a:cs typeface="Times New Roman"/>
              </a:rPr>
              <a:t>server</a:t>
            </a:r>
            <a:r>
              <a:rPr sz="2800" dirty="0">
                <a:latin typeface="Times New Roman"/>
                <a:cs typeface="Times New Roman"/>
              </a:rPr>
              <a:t>	</a:t>
            </a:r>
            <a:r>
              <a:rPr sz="2800" spc="-5" dirty="0">
                <a:latin typeface="Times New Roman"/>
                <a:cs typeface="Times New Roman"/>
              </a:rPr>
              <a:t>si</a:t>
            </a:r>
            <a:r>
              <a:rPr sz="2800" spc="5" dirty="0">
                <a:latin typeface="Times New Roman"/>
                <a:cs typeface="Times New Roman"/>
              </a:rPr>
              <a:t>d</a:t>
            </a:r>
            <a:r>
              <a:rPr sz="2800" spc="-5" dirty="0">
                <a:latin typeface="Times New Roman"/>
                <a:cs typeface="Times New Roman"/>
              </a:rPr>
              <a:t>e</a:t>
            </a:r>
            <a:r>
              <a:rPr sz="2800" dirty="0">
                <a:latin typeface="Times New Roman"/>
                <a:cs typeface="Times New Roman"/>
              </a:rPr>
              <a:t>	</a:t>
            </a:r>
            <a:r>
              <a:rPr sz="2800" spc="-25" dirty="0">
                <a:latin typeface="Times New Roman"/>
                <a:cs typeface="Times New Roman"/>
              </a:rPr>
              <a:t>a</a:t>
            </a:r>
            <a:r>
              <a:rPr sz="2800" spc="-5" dirty="0">
                <a:latin typeface="Times New Roman"/>
                <a:cs typeface="Times New Roman"/>
              </a:rPr>
              <a:t>nd  creates dynamic</a:t>
            </a:r>
            <a:r>
              <a:rPr sz="2800" spc="10" dirty="0">
                <a:latin typeface="Times New Roman"/>
                <a:cs typeface="Times New Roman"/>
              </a:rPr>
              <a:t> </a:t>
            </a:r>
            <a:r>
              <a:rPr sz="2800" spc="-5" dirty="0">
                <a:latin typeface="Times New Roman"/>
                <a:cs typeface="Times New Roman"/>
              </a:rPr>
              <a:t>page, is</a:t>
            </a:r>
            <a:r>
              <a:rPr sz="2800" spc="-10" dirty="0">
                <a:latin typeface="Times New Roman"/>
                <a:cs typeface="Times New Roman"/>
              </a:rPr>
              <a:t> </a:t>
            </a:r>
            <a:r>
              <a:rPr sz="2800" spc="-5" dirty="0">
                <a:latin typeface="Times New Roman"/>
                <a:cs typeface="Times New Roman"/>
              </a:rPr>
              <a:t>called</a:t>
            </a:r>
            <a:r>
              <a:rPr sz="2800" dirty="0">
                <a:latin typeface="Times New Roman"/>
                <a:cs typeface="Times New Roman"/>
              </a:rPr>
              <a:t> </a:t>
            </a:r>
            <a:r>
              <a:rPr sz="2800" spc="-5" dirty="0">
                <a:latin typeface="Times New Roman"/>
                <a:cs typeface="Times New Roman"/>
              </a:rPr>
              <a:t>web</a:t>
            </a:r>
            <a:r>
              <a:rPr sz="2800" spc="10" dirty="0">
                <a:latin typeface="Times New Roman"/>
                <a:cs typeface="Times New Roman"/>
              </a:rPr>
              <a:t> </a:t>
            </a:r>
            <a:r>
              <a:rPr sz="2800" spc="-5" dirty="0">
                <a:latin typeface="Times New Roman"/>
                <a:cs typeface="Times New Roman"/>
              </a:rPr>
              <a:t>application.</a:t>
            </a:r>
            <a:endParaRPr sz="2800">
              <a:latin typeface="Times New Roman"/>
              <a:cs typeface="Times New Roman"/>
            </a:endParaRPr>
          </a:p>
          <a:p>
            <a:pPr marL="652780" marR="5080" indent="-274320">
              <a:lnSpc>
                <a:spcPct val="100000"/>
              </a:lnSpc>
              <a:spcBef>
                <a:spcPts val="605"/>
              </a:spcBef>
              <a:tabLst>
                <a:tab pos="2248535" algn="l"/>
                <a:tab pos="3452495" algn="l"/>
                <a:tab pos="4123690" algn="l"/>
                <a:tab pos="5149215" algn="l"/>
                <a:tab pos="5673090" algn="l"/>
                <a:tab pos="6343015" algn="l"/>
              </a:tabLst>
            </a:pPr>
            <a:r>
              <a:rPr sz="1950" spc="-210"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5" dirty="0">
                <a:latin typeface="Times New Roman"/>
                <a:cs typeface="Times New Roman"/>
              </a:rPr>
              <a:t>Cur</a:t>
            </a:r>
            <a:r>
              <a:rPr sz="2800" dirty="0">
                <a:latin typeface="Times New Roman"/>
                <a:cs typeface="Times New Roman"/>
              </a:rPr>
              <a:t>r</a:t>
            </a:r>
            <a:r>
              <a:rPr sz="2800" spc="-5" dirty="0">
                <a:latin typeface="Times New Roman"/>
                <a:cs typeface="Times New Roman"/>
              </a:rPr>
              <a:t>entl</a:t>
            </a:r>
            <a:r>
              <a:rPr sz="2800" spc="-175" dirty="0">
                <a:latin typeface="Times New Roman"/>
                <a:cs typeface="Times New Roman"/>
              </a:rPr>
              <a:t>y</a:t>
            </a:r>
            <a:r>
              <a:rPr sz="2800" spc="-5" dirty="0">
                <a:latin typeface="Times New Roman"/>
                <a:cs typeface="Times New Roman"/>
              </a:rPr>
              <a:t>,</a:t>
            </a:r>
            <a:r>
              <a:rPr sz="2800" dirty="0">
                <a:latin typeface="Times New Roman"/>
                <a:cs typeface="Times New Roman"/>
              </a:rPr>
              <a:t>	</a:t>
            </a:r>
            <a:r>
              <a:rPr sz="2800" spc="-5" dirty="0">
                <a:latin typeface="Times New Roman"/>
                <a:cs typeface="Times New Roman"/>
              </a:rPr>
              <a:t>ser</a:t>
            </a:r>
            <a:r>
              <a:rPr sz="2800" dirty="0">
                <a:latin typeface="Times New Roman"/>
                <a:cs typeface="Times New Roman"/>
              </a:rPr>
              <a:t>v</a:t>
            </a:r>
            <a:r>
              <a:rPr sz="2800" spc="-5" dirty="0">
                <a:latin typeface="Times New Roman"/>
                <a:cs typeface="Times New Roman"/>
              </a:rPr>
              <a:t>let,</a:t>
            </a:r>
            <a:r>
              <a:rPr sz="2800" dirty="0">
                <a:latin typeface="Times New Roman"/>
                <a:cs typeface="Times New Roman"/>
              </a:rPr>
              <a:t>	</a:t>
            </a:r>
            <a:r>
              <a:rPr sz="2800" spc="-15" dirty="0">
                <a:latin typeface="Times New Roman"/>
                <a:cs typeface="Times New Roman"/>
              </a:rPr>
              <a:t>j</a:t>
            </a:r>
            <a:r>
              <a:rPr sz="2800" spc="-5" dirty="0">
                <a:latin typeface="Times New Roman"/>
                <a:cs typeface="Times New Roman"/>
              </a:rPr>
              <a:t>s</a:t>
            </a:r>
            <a:r>
              <a:rPr sz="2800" dirty="0">
                <a:latin typeface="Times New Roman"/>
                <a:cs typeface="Times New Roman"/>
              </a:rPr>
              <a:t>p</a:t>
            </a:r>
            <a:r>
              <a:rPr sz="2800" spc="-5" dirty="0">
                <a:latin typeface="Times New Roman"/>
                <a:cs typeface="Times New Roman"/>
              </a:rPr>
              <a:t>,</a:t>
            </a:r>
            <a:r>
              <a:rPr sz="2800" dirty="0">
                <a:latin typeface="Times New Roman"/>
                <a:cs typeface="Times New Roman"/>
              </a:rPr>
              <a:t>	</a:t>
            </a:r>
            <a:r>
              <a:rPr sz="2800" spc="-5" dirty="0">
                <a:latin typeface="Times New Roman"/>
                <a:cs typeface="Times New Roman"/>
              </a:rPr>
              <a:t>st</a:t>
            </a:r>
            <a:r>
              <a:rPr sz="2800" dirty="0">
                <a:latin typeface="Times New Roman"/>
                <a:cs typeface="Times New Roman"/>
              </a:rPr>
              <a:t>r</a:t>
            </a:r>
            <a:r>
              <a:rPr sz="2800" spc="-5" dirty="0">
                <a:latin typeface="Times New Roman"/>
                <a:cs typeface="Times New Roman"/>
              </a:rPr>
              <a:t>uts,</a:t>
            </a:r>
            <a:r>
              <a:rPr sz="2800" dirty="0">
                <a:latin typeface="Times New Roman"/>
                <a:cs typeface="Times New Roman"/>
              </a:rPr>
              <a:t>	</a:t>
            </a:r>
            <a:r>
              <a:rPr sz="2800" spc="-5" dirty="0">
                <a:latin typeface="Times New Roman"/>
                <a:cs typeface="Times New Roman"/>
              </a:rPr>
              <a:t>jsf</a:t>
            </a:r>
            <a:r>
              <a:rPr sz="2800" dirty="0">
                <a:latin typeface="Times New Roman"/>
                <a:cs typeface="Times New Roman"/>
              </a:rPr>
              <a:t>	</a:t>
            </a:r>
            <a:r>
              <a:rPr sz="2800" spc="-5" dirty="0">
                <a:latin typeface="Times New Roman"/>
                <a:cs typeface="Times New Roman"/>
              </a:rPr>
              <a:t>et</a:t>
            </a:r>
            <a:r>
              <a:rPr sz="2800" spc="-10" dirty="0">
                <a:latin typeface="Times New Roman"/>
                <a:cs typeface="Times New Roman"/>
              </a:rPr>
              <a:t>c</a:t>
            </a:r>
            <a:r>
              <a:rPr sz="2800" spc="-5" dirty="0">
                <a:latin typeface="Times New Roman"/>
                <a:cs typeface="Times New Roman"/>
              </a:rPr>
              <a:t>.</a:t>
            </a:r>
            <a:r>
              <a:rPr sz="2800" dirty="0">
                <a:latin typeface="Times New Roman"/>
                <a:cs typeface="Times New Roman"/>
              </a:rPr>
              <a:t>	</a:t>
            </a:r>
            <a:r>
              <a:rPr sz="2800" spc="-15" dirty="0">
                <a:latin typeface="Times New Roman"/>
                <a:cs typeface="Times New Roman"/>
              </a:rPr>
              <a:t>t</a:t>
            </a:r>
            <a:r>
              <a:rPr sz="2800" spc="-5" dirty="0">
                <a:latin typeface="Times New Roman"/>
                <a:cs typeface="Times New Roman"/>
              </a:rPr>
              <a:t>e</a:t>
            </a:r>
            <a:r>
              <a:rPr sz="2800" spc="-20" dirty="0">
                <a:latin typeface="Times New Roman"/>
                <a:cs typeface="Times New Roman"/>
              </a:rPr>
              <a:t>c</a:t>
            </a:r>
            <a:r>
              <a:rPr sz="2800" spc="-5" dirty="0">
                <a:latin typeface="Times New Roman"/>
                <a:cs typeface="Times New Roman"/>
              </a:rPr>
              <a:t>h</a:t>
            </a:r>
            <a:r>
              <a:rPr sz="2800" dirty="0">
                <a:latin typeface="Times New Roman"/>
                <a:cs typeface="Times New Roman"/>
              </a:rPr>
              <a:t>n</a:t>
            </a:r>
            <a:r>
              <a:rPr sz="2800" spc="-5" dirty="0">
                <a:latin typeface="Times New Roman"/>
                <a:cs typeface="Times New Roman"/>
              </a:rPr>
              <a:t>olo</a:t>
            </a:r>
            <a:r>
              <a:rPr sz="2800" dirty="0">
                <a:latin typeface="Times New Roman"/>
                <a:cs typeface="Times New Roman"/>
              </a:rPr>
              <a:t>g</a:t>
            </a:r>
            <a:r>
              <a:rPr sz="2800" spc="-5" dirty="0">
                <a:latin typeface="Times New Roman"/>
                <a:cs typeface="Times New Roman"/>
              </a:rPr>
              <a:t>i</a:t>
            </a:r>
            <a:r>
              <a:rPr sz="2800" spc="-20" dirty="0">
                <a:latin typeface="Times New Roman"/>
                <a:cs typeface="Times New Roman"/>
              </a:rPr>
              <a:t>e</a:t>
            </a:r>
            <a:r>
              <a:rPr sz="2800" spc="-5" dirty="0">
                <a:latin typeface="Times New Roman"/>
                <a:cs typeface="Times New Roman"/>
              </a:rPr>
              <a:t>s  are</a:t>
            </a:r>
            <a:r>
              <a:rPr sz="2800" dirty="0">
                <a:latin typeface="Times New Roman"/>
                <a:cs typeface="Times New Roman"/>
              </a:rPr>
              <a:t> </a:t>
            </a:r>
            <a:r>
              <a:rPr sz="2800" spc="-5" dirty="0">
                <a:latin typeface="Times New Roman"/>
                <a:cs typeface="Times New Roman"/>
              </a:rPr>
              <a:t>used</a:t>
            </a:r>
            <a:r>
              <a:rPr sz="2800" spc="-15" dirty="0">
                <a:latin typeface="Times New Roman"/>
                <a:cs typeface="Times New Roman"/>
              </a:rPr>
              <a:t> </a:t>
            </a:r>
            <a:r>
              <a:rPr sz="2800" dirty="0">
                <a:latin typeface="Times New Roman"/>
                <a:cs typeface="Times New Roman"/>
              </a:rPr>
              <a:t>for</a:t>
            </a:r>
            <a:r>
              <a:rPr sz="2800" spc="5" dirty="0">
                <a:latin typeface="Times New Roman"/>
                <a:cs typeface="Times New Roman"/>
              </a:rPr>
              <a:t> </a:t>
            </a:r>
            <a:r>
              <a:rPr sz="2800" spc="-5" dirty="0">
                <a:latin typeface="Times New Roman"/>
                <a:cs typeface="Times New Roman"/>
              </a:rPr>
              <a:t>creating</a:t>
            </a:r>
            <a:r>
              <a:rPr sz="2800" spc="10" dirty="0">
                <a:latin typeface="Times New Roman"/>
                <a:cs typeface="Times New Roman"/>
              </a:rPr>
              <a:t> </a:t>
            </a:r>
            <a:r>
              <a:rPr sz="2800" spc="-5" dirty="0">
                <a:latin typeface="Times New Roman"/>
                <a:cs typeface="Times New Roman"/>
              </a:rPr>
              <a:t>web</a:t>
            </a:r>
            <a:r>
              <a:rPr sz="2800" spc="5" dirty="0">
                <a:latin typeface="Times New Roman"/>
                <a:cs typeface="Times New Roman"/>
              </a:rPr>
              <a:t> </a:t>
            </a:r>
            <a:r>
              <a:rPr sz="2800" spc="-5" dirty="0">
                <a:latin typeface="Times New Roman"/>
                <a:cs typeface="Times New Roman"/>
              </a:rPr>
              <a:t>applications</a:t>
            </a:r>
            <a:r>
              <a:rPr sz="2800" spc="-25" dirty="0">
                <a:latin typeface="Times New Roman"/>
                <a:cs typeface="Times New Roman"/>
              </a:rPr>
              <a:t> </a:t>
            </a:r>
            <a:r>
              <a:rPr sz="2800" spc="-5" dirty="0">
                <a:latin typeface="Times New Roman"/>
                <a:cs typeface="Times New Roman"/>
              </a:rPr>
              <a:t>in</a:t>
            </a:r>
            <a:r>
              <a:rPr sz="2800" dirty="0">
                <a:latin typeface="Times New Roman"/>
                <a:cs typeface="Times New Roman"/>
              </a:rPr>
              <a:t> </a:t>
            </a:r>
            <a:r>
              <a:rPr sz="2800" spc="-5" dirty="0">
                <a:latin typeface="Times New Roman"/>
                <a:cs typeface="Times New Roman"/>
              </a:rPr>
              <a:t>java.</a:t>
            </a:r>
            <a:endParaRPr sz="28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22</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6400165" cy="697230"/>
          </a:xfrm>
          <a:prstGeom prst="rect">
            <a:avLst/>
          </a:prstGeom>
        </p:spPr>
        <p:txBody>
          <a:bodyPr vert="horz" wrap="square" lIns="0" tIns="13335" rIns="0" bIns="0" rtlCol="0">
            <a:spAutoFit/>
          </a:bodyPr>
          <a:lstStyle/>
          <a:p>
            <a:pPr marL="12700">
              <a:lnSpc>
                <a:spcPct val="100000"/>
              </a:lnSpc>
              <a:spcBef>
                <a:spcPts val="105"/>
              </a:spcBef>
            </a:pPr>
            <a:r>
              <a:rPr sz="4400" b="1" spc="-65" dirty="0">
                <a:latin typeface="Times New Roman"/>
                <a:cs typeface="Times New Roman"/>
              </a:rPr>
              <a:t>Types</a:t>
            </a:r>
            <a:r>
              <a:rPr sz="4400" b="1" spc="-35" dirty="0">
                <a:latin typeface="Times New Roman"/>
                <a:cs typeface="Times New Roman"/>
              </a:rPr>
              <a:t> </a:t>
            </a:r>
            <a:r>
              <a:rPr sz="4400" b="1" dirty="0">
                <a:latin typeface="Times New Roman"/>
                <a:cs typeface="Times New Roman"/>
              </a:rPr>
              <a:t>of</a:t>
            </a:r>
            <a:r>
              <a:rPr sz="4400" b="1" spc="-15" dirty="0">
                <a:latin typeface="Times New Roman"/>
                <a:cs typeface="Times New Roman"/>
              </a:rPr>
              <a:t> </a:t>
            </a:r>
            <a:r>
              <a:rPr sz="4400" b="1" dirty="0">
                <a:latin typeface="Times New Roman"/>
                <a:cs typeface="Times New Roman"/>
              </a:rPr>
              <a:t>Java</a:t>
            </a:r>
            <a:r>
              <a:rPr sz="4400" b="1" spc="-275" dirty="0">
                <a:latin typeface="Times New Roman"/>
                <a:cs typeface="Times New Roman"/>
              </a:rPr>
              <a:t> </a:t>
            </a:r>
            <a:r>
              <a:rPr sz="4400" b="1" dirty="0">
                <a:latin typeface="Times New Roman"/>
                <a:cs typeface="Times New Roman"/>
              </a:rPr>
              <a:t>Applications</a:t>
            </a:r>
            <a:endParaRPr sz="4400">
              <a:latin typeface="Times New Roman"/>
              <a:cs typeface="Times New Roman"/>
            </a:endParaRPr>
          </a:p>
        </p:txBody>
      </p:sp>
      <p:sp>
        <p:nvSpPr>
          <p:cNvPr id="3" name="object 3"/>
          <p:cNvSpPr txBox="1"/>
          <p:nvPr/>
        </p:nvSpPr>
        <p:spPr>
          <a:xfrm>
            <a:off x="535940" y="1442883"/>
            <a:ext cx="8303260" cy="5414943"/>
          </a:xfrm>
          <a:prstGeom prst="rect">
            <a:avLst/>
          </a:prstGeom>
        </p:spPr>
        <p:txBody>
          <a:bodyPr vert="horz" wrap="square" lIns="0" tIns="59054" rIns="0" bIns="0" rtlCol="0">
            <a:spAutoFit/>
          </a:bodyPr>
          <a:lstStyle/>
          <a:p>
            <a:pPr marL="332740" indent="-320040" algn="just">
              <a:lnSpc>
                <a:spcPct val="100000"/>
              </a:lnSpc>
              <a:spcBef>
                <a:spcPts val="464"/>
              </a:spcBef>
              <a:buClr>
                <a:srgbClr val="DD8046"/>
              </a:buClr>
              <a:buSzPct val="60000"/>
              <a:buFont typeface="Wingdings"/>
              <a:buChar char=""/>
              <a:tabLst>
                <a:tab pos="332740" algn="l"/>
              </a:tabLst>
            </a:pPr>
            <a:r>
              <a:rPr sz="3500" b="1" dirty="0">
                <a:latin typeface="Times New Roman"/>
                <a:cs typeface="Times New Roman"/>
              </a:rPr>
              <a:t>Enterp</a:t>
            </a:r>
            <a:r>
              <a:rPr sz="3500" b="1" spc="10" dirty="0">
                <a:latin typeface="Times New Roman"/>
                <a:cs typeface="Times New Roman"/>
              </a:rPr>
              <a:t>r</a:t>
            </a:r>
            <a:r>
              <a:rPr sz="3500" b="1" dirty="0">
                <a:latin typeface="Times New Roman"/>
                <a:cs typeface="Times New Roman"/>
              </a:rPr>
              <a:t>ise</a:t>
            </a:r>
            <a:r>
              <a:rPr sz="3500" b="1" spc="-235" dirty="0">
                <a:latin typeface="Times New Roman"/>
                <a:cs typeface="Times New Roman"/>
              </a:rPr>
              <a:t> </a:t>
            </a:r>
            <a:r>
              <a:rPr sz="3500" b="1" dirty="0">
                <a:latin typeface="Times New Roman"/>
                <a:cs typeface="Times New Roman"/>
              </a:rPr>
              <a:t>Ap</a:t>
            </a:r>
            <a:r>
              <a:rPr sz="3500" b="1" spc="-15" dirty="0">
                <a:latin typeface="Times New Roman"/>
                <a:cs typeface="Times New Roman"/>
              </a:rPr>
              <a:t>p</a:t>
            </a:r>
            <a:r>
              <a:rPr sz="3500" b="1" dirty="0">
                <a:latin typeface="Times New Roman"/>
                <a:cs typeface="Times New Roman"/>
              </a:rPr>
              <a:t>licati</a:t>
            </a:r>
            <a:r>
              <a:rPr sz="3500" b="1" spc="-15" dirty="0">
                <a:latin typeface="Times New Roman"/>
                <a:cs typeface="Times New Roman"/>
              </a:rPr>
              <a:t>o</a:t>
            </a:r>
            <a:r>
              <a:rPr sz="3500" b="1" dirty="0">
                <a:latin typeface="Times New Roman"/>
                <a:cs typeface="Times New Roman"/>
              </a:rPr>
              <a:t>n</a:t>
            </a:r>
            <a:endParaRPr sz="3500" dirty="0">
              <a:latin typeface="Times New Roman"/>
              <a:cs typeface="Times New Roman"/>
            </a:endParaRPr>
          </a:p>
          <a:p>
            <a:pPr marL="835660" marR="7620" indent="-457200" algn="just">
              <a:lnSpc>
                <a:spcPts val="3020"/>
              </a:lnSpc>
              <a:spcBef>
                <a:spcPts val="665"/>
              </a:spcBef>
              <a:buFont typeface="Arial" panose="020B0604020202020204" pitchFamily="34" charset="0"/>
              <a:buChar char="•"/>
            </a:pPr>
            <a:r>
              <a:rPr sz="2800" spc="-10" dirty="0" smtClean="0">
                <a:latin typeface="Times New Roman"/>
                <a:cs typeface="Times New Roman"/>
              </a:rPr>
              <a:t>An</a:t>
            </a:r>
            <a:r>
              <a:rPr sz="2800" spc="275" dirty="0" smtClean="0">
                <a:latin typeface="Times New Roman"/>
                <a:cs typeface="Times New Roman"/>
              </a:rPr>
              <a:t> </a:t>
            </a:r>
            <a:r>
              <a:rPr sz="2800" spc="-5" dirty="0">
                <a:latin typeface="Times New Roman"/>
                <a:cs typeface="Times New Roman"/>
              </a:rPr>
              <a:t>application</a:t>
            </a:r>
            <a:r>
              <a:rPr sz="2800" spc="280" dirty="0">
                <a:latin typeface="Times New Roman"/>
                <a:cs typeface="Times New Roman"/>
              </a:rPr>
              <a:t> </a:t>
            </a:r>
            <a:r>
              <a:rPr sz="2800" spc="-10" dirty="0">
                <a:latin typeface="Times New Roman"/>
                <a:cs typeface="Times New Roman"/>
              </a:rPr>
              <a:t>that</a:t>
            </a:r>
            <a:r>
              <a:rPr sz="2800" spc="275" dirty="0">
                <a:latin typeface="Times New Roman"/>
                <a:cs typeface="Times New Roman"/>
              </a:rPr>
              <a:t> </a:t>
            </a:r>
            <a:r>
              <a:rPr sz="2800" spc="-5" dirty="0">
                <a:latin typeface="Times New Roman"/>
                <a:cs typeface="Times New Roman"/>
              </a:rPr>
              <a:t>is</a:t>
            </a:r>
            <a:r>
              <a:rPr sz="2800" spc="270" dirty="0">
                <a:latin typeface="Times New Roman"/>
                <a:cs typeface="Times New Roman"/>
              </a:rPr>
              <a:t> </a:t>
            </a:r>
            <a:r>
              <a:rPr sz="2800" spc="-5" dirty="0">
                <a:latin typeface="Times New Roman"/>
                <a:cs typeface="Times New Roman"/>
              </a:rPr>
              <a:t>distributed</a:t>
            </a:r>
            <a:r>
              <a:rPr sz="2800" spc="260" dirty="0">
                <a:latin typeface="Times New Roman"/>
                <a:cs typeface="Times New Roman"/>
              </a:rPr>
              <a:t> </a:t>
            </a:r>
            <a:r>
              <a:rPr sz="2800" spc="-5" dirty="0">
                <a:latin typeface="Times New Roman"/>
                <a:cs typeface="Times New Roman"/>
              </a:rPr>
              <a:t>in</a:t>
            </a:r>
            <a:r>
              <a:rPr sz="2800" spc="275" dirty="0">
                <a:latin typeface="Times New Roman"/>
                <a:cs typeface="Times New Roman"/>
              </a:rPr>
              <a:t> </a:t>
            </a:r>
            <a:r>
              <a:rPr sz="2800" spc="-5" dirty="0">
                <a:latin typeface="Times New Roman"/>
                <a:cs typeface="Times New Roman"/>
              </a:rPr>
              <a:t>nature,</a:t>
            </a:r>
            <a:r>
              <a:rPr sz="2800" spc="260" dirty="0">
                <a:latin typeface="Times New Roman"/>
                <a:cs typeface="Times New Roman"/>
              </a:rPr>
              <a:t> </a:t>
            </a:r>
            <a:r>
              <a:rPr sz="2800" spc="-5" dirty="0">
                <a:latin typeface="Times New Roman"/>
                <a:cs typeface="Times New Roman"/>
              </a:rPr>
              <a:t>such</a:t>
            </a:r>
            <a:r>
              <a:rPr sz="2800" spc="265" dirty="0">
                <a:latin typeface="Times New Roman"/>
                <a:cs typeface="Times New Roman"/>
              </a:rPr>
              <a:t> </a:t>
            </a:r>
            <a:r>
              <a:rPr sz="2800" spc="-10" dirty="0">
                <a:latin typeface="Times New Roman"/>
                <a:cs typeface="Times New Roman"/>
              </a:rPr>
              <a:t>as </a:t>
            </a:r>
            <a:r>
              <a:rPr sz="2800" spc="-5" dirty="0">
                <a:latin typeface="Times New Roman"/>
                <a:cs typeface="Times New Roman"/>
              </a:rPr>
              <a:t> banking</a:t>
            </a:r>
            <a:r>
              <a:rPr sz="2800" spc="-20" dirty="0">
                <a:latin typeface="Times New Roman"/>
                <a:cs typeface="Times New Roman"/>
              </a:rPr>
              <a:t> </a:t>
            </a:r>
            <a:r>
              <a:rPr sz="2800" spc="-5" dirty="0">
                <a:latin typeface="Times New Roman"/>
                <a:cs typeface="Times New Roman"/>
              </a:rPr>
              <a:t>applications</a:t>
            </a:r>
            <a:r>
              <a:rPr sz="2800" spc="-15" dirty="0">
                <a:latin typeface="Times New Roman"/>
                <a:cs typeface="Times New Roman"/>
              </a:rPr>
              <a:t> </a:t>
            </a:r>
            <a:r>
              <a:rPr sz="2800" spc="-5" dirty="0">
                <a:latin typeface="Times New Roman"/>
                <a:cs typeface="Times New Roman"/>
              </a:rPr>
              <a:t>etc.</a:t>
            </a:r>
            <a:endParaRPr sz="2800" dirty="0">
              <a:latin typeface="Times New Roman"/>
              <a:cs typeface="Times New Roman"/>
            </a:endParaRPr>
          </a:p>
          <a:p>
            <a:pPr marL="835660" marR="5080" indent="-457200" algn="just">
              <a:lnSpc>
                <a:spcPts val="3030"/>
              </a:lnSpc>
              <a:spcBef>
                <a:spcPts val="600"/>
              </a:spcBef>
              <a:buFont typeface="Arial" panose="020B0604020202020204" pitchFamily="34" charset="0"/>
              <a:buChar char="•"/>
              <a:tabLst>
                <a:tab pos="1057910" algn="l"/>
                <a:tab pos="1719580" algn="l"/>
                <a:tab pos="2339975" algn="l"/>
                <a:tab pos="3966210" algn="l"/>
                <a:tab pos="4451350" algn="l"/>
                <a:tab pos="5271135" algn="l"/>
                <a:tab pos="6149340" algn="l"/>
                <a:tab pos="7525384" algn="l"/>
              </a:tabLst>
            </a:pPr>
            <a:r>
              <a:rPr sz="2800" spc="-5" dirty="0" smtClean="0">
                <a:latin typeface="Times New Roman"/>
                <a:cs typeface="Times New Roman"/>
              </a:rPr>
              <a:t>It</a:t>
            </a:r>
            <a:r>
              <a:rPr sz="2800" dirty="0">
                <a:latin typeface="Times New Roman"/>
                <a:cs typeface="Times New Roman"/>
              </a:rPr>
              <a:t>	</a:t>
            </a:r>
            <a:r>
              <a:rPr sz="2800" spc="-5" dirty="0">
                <a:latin typeface="Times New Roman"/>
                <a:cs typeface="Times New Roman"/>
              </a:rPr>
              <a:t>has</a:t>
            </a:r>
            <a:r>
              <a:rPr sz="2800" dirty="0">
                <a:latin typeface="Times New Roman"/>
                <a:cs typeface="Times New Roman"/>
              </a:rPr>
              <a:t>	</a:t>
            </a:r>
            <a:r>
              <a:rPr sz="2800" spc="-5" dirty="0">
                <a:latin typeface="Times New Roman"/>
                <a:cs typeface="Times New Roman"/>
              </a:rPr>
              <a:t>the</a:t>
            </a:r>
            <a:r>
              <a:rPr sz="2800" dirty="0">
                <a:latin typeface="Times New Roman"/>
                <a:cs typeface="Times New Roman"/>
              </a:rPr>
              <a:t>	</a:t>
            </a:r>
            <a:r>
              <a:rPr sz="2800" spc="-5" dirty="0">
                <a:latin typeface="Times New Roman"/>
                <a:cs typeface="Times New Roman"/>
              </a:rPr>
              <a:t>advanta</a:t>
            </a:r>
            <a:r>
              <a:rPr sz="2800" spc="-20" dirty="0">
                <a:latin typeface="Times New Roman"/>
                <a:cs typeface="Times New Roman"/>
              </a:rPr>
              <a:t>g</a:t>
            </a:r>
            <a:r>
              <a:rPr sz="2800" spc="-5" dirty="0">
                <a:latin typeface="Times New Roman"/>
                <a:cs typeface="Times New Roman"/>
              </a:rPr>
              <a:t>e</a:t>
            </a:r>
            <a:r>
              <a:rPr sz="2800" dirty="0">
                <a:latin typeface="Times New Roman"/>
                <a:cs typeface="Times New Roman"/>
              </a:rPr>
              <a:t>	o</a:t>
            </a:r>
            <a:r>
              <a:rPr sz="2800" spc="-5" dirty="0">
                <a:latin typeface="Times New Roman"/>
                <a:cs typeface="Times New Roman"/>
              </a:rPr>
              <a:t>f</a:t>
            </a:r>
            <a:r>
              <a:rPr sz="2800" dirty="0">
                <a:latin typeface="Times New Roman"/>
                <a:cs typeface="Times New Roman"/>
              </a:rPr>
              <a:t>	</a:t>
            </a:r>
            <a:r>
              <a:rPr sz="2800" spc="-5" dirty="0">
                <a:latin typeface="Times New Roman"/>
                <a:cs typeface="Times New Roman"/>
              </a:rPr>
              <a:t>hi</a:t>
            </a:r>
            <a:r>
              <a:rPr sz="2800" dirty="0">
                <a:latin typeface="Times New Roman"/>
                <a:cs typeface="Times New Roman"/>
              </a:rPr>
              <a:t>g</a:t>
            </a:r>
            <a:r>
              <a:rPr sz="2800" spc="-5" dirty="0">
                <a:latin typeface="Times New Roman"/>
                <a:cs typeface="Times New Roman"/>
              </a:rPr>
              <a:t>h</a:t>
            </a:r>
            <a:r>
              <a:rPr sz="2800" dirty="0">
                <a:latin typeface="Times New Roman"/>
                <a:cs typeface="Times New Roman"/>
              </a:rPr>
              <a:t>	</a:t>
            </a:r>
            <a:r>
              <a:rPr sz="2800" spc="-5" dirty="0">
                <a:latin typeface="Times New Roman"/>
                <a:cs typeface="Times New Roman"/>
              </a:rPr>
              <a:t>level</a:t>
            </a:r>
            <a:r>
              <a:rPr sz="2800" dirty="0">
                <a:latin typeface="Times New Roman"/>
                <a:cs typeface="Times New Roman"/>
              </a:rPr>
              <a:t>	</a:t>
            </a:r>
            <a:r>
              <a:rPr sz="2800" spc="-5" dirty="0">
                <a:latin typeface="Times New Roman"/>
                <a:cs typeface="Times New Roman"/>
              </a:rPr>
              <a:t>se</a:t>
            </a:r>
            <a:r>
              <a:rPr sz="2800" spc="-30" dirty="0">
                <a:latin typeface="Times New Roman"/>
                <a:cs typeface="Times New Roman"/>
              </a:rPr>
              <a:t>c</a:t>
            </a:r>
            <a:r>
              <a:rPr sz="2800" spc="-5" dirty="0">
                <a:latin typeface="Times New Roman"/>
                <a:cs typeface="Times New Roman"/>
              </a:rPr>
              <a:t>u</a:t>
            </a:r>
            <a:r>
              <a:rPr sz="2800" dirty="0">
                <a:latin typeface="Times New Roman"/>
                <a:cs typeface="Times New Roman"/>
              </a:rPr>
              <a:t>r</a:t>
            </a:r>
            <a:r>
              <a:rPr sz="2800" spc="-5" dirty="0">
                <a:latin typeface="Times New Roman"/>
                <a:cs typeface="Times New Roman"/>
              </a:rPr>
              <a:t>it</a:t>
            </a:r>
            <a:r>
              <a:rPr sz="2800" spc="-190" dirty="0">
                <a:latin typeface="Times New Roman"/>
                <a:cs typeface="Times New Roman"/>
              </a:rPr>
              <a:t>y</a:t>
            </a:r>
            <a:r>
              <a:rPr sz="2800" spc="-5" dirty="0">
                <a:latin typeface="Times New Roman"/>
                <a:cs typeface="Times New Roman"/>
              </a:rPr>
              <a:t>,</a:t>
            </a:r>
            <a:r>
              <a:rPr sz="2800" dirty="0">
                <a:latin typeface="Times New Roman"/>
                <a:cs typeface="Times New Roman"/>
              </a:rPr>
              <a:t>	</a:t>
            </a:r>
            <a:r>
              <a:rPr sz="2800" spc="-5" dirty="0">
                <a:latin typeface="Times New Roman"/>
                <a:cs typeface="Times New Roman"/>
              </a:rPr>
              <a:t>lo</a:t>
            </a:r>
            <a:r>
              <a:rPr sz="2800" spc="-20" dirty="0">
                <a:latin typeface="Times New Roman"/>
                <a:cs typeface="Times New Roman"/>
              </a:rPr>
              <a:t>a</a:t>
            </a:r>
            <a:r>
              <a:rPr sz="2800" spc="-5" dirty="0">
                <a:latin typeface="Times New Roman"/>
                <a:cs typeface="Times New Roman"/>
              </a:rPr>
              <a:t>d  balancing</a:t>
            </a:r>
            <a:r>
              <a:rPr sz="2800" spc="-10" dirty="0">
                <a:latin typeface="Times New Roman"/>
                <a:cs typeface="Times New Roman"/>
              </a:rPr>
              <a:t> </a:t>
            </a:r>
            <a:r>
              <a:rPr sz="2800" spc="-5" dirty="0">
                <a:latin typeface="Times New Roman"/>
                <a:cs typeface="Times New Roman"/>
              </a:rPr>
              <a:t>and</a:t>
            </a:r>
            <a:r>
              <a:rPr sz="2800" spc="-10" dirty="0">
                <a:latin typeface="Times New Roman"/>
                <a:cs typeface="Times New Roman"/>
              </a:rPr>
              <a:t> </a:t>
            </a:r>
            <a:r>
              <a:rPr sz="2800" dirty="0">
                <a:latin typeface="Times New Roman"/>
                <a:cs typeface="Times New Roman"/>
              </a:rPr>
              <a:t>clustering</a:t>
            </a:r>
            <a:r>
              <a:rPr sz="2800" dirty="0" smtClean="0">
                <a:latin typeface="Times New Roman"/>
                <a:cs typeface="Times New Roman"/>
              </a:rPr>
              <a:t>.</a:t>
            </a:r>
            <a:endParaRPr lang="en-US" sz="2800" dirty="0" smtClean="0">
              <a:latin typeface="Times New Roman"/>
              <a:cs typeface="Times New Roman"/>
            </a:endParaRPr>
          </a:p>
          <a:p>
            <a:pPr marL="835660" marR="5080" indent="-457200" algn="just">
              <a:lnSpc>
                <a:spcPts val="3030"/>
              </a:lnSpc>
              <a:spcBef>
                <a:spcPts val="600"/>
              </a:spcBef>
              <a:buFont typeface="Arial" panose="020B0604020202020204" pitchFamily="34" charset="0"/>
              <a:buChar char="•"/>
              <a:tabLst>
                <a:tab pos="1057910" algn="l"/>
                <a:tab pos="1719580" algn="l"/>
                <a:tab pos="2339975" algn="l"/>
                <a:tab pos="3966210" algn="l"/>
                <a:tab pos="4451350" algn="l"/>
                <a:tab pos="5271135" algn="l"/>
                <a:tab pos="6149340" algn="l"/>
                <a:tab pos="7525384" algn="l"/>
              </a:tabLst>
            </a:pPr>
            <a:r>
              <a:rPr sz="2800" spc="-20" dirty="0" smtClean="0">
                <a:latin typeface="Times New Roman"/>
                <a:cs typeface="Times New Roman"/>
              </a:rPr>
              <a:t> </a:t>
            </a:r>
            <a:r>
              <a:rPr sz="2800" spc="-5" dirty="0" smtClean="0">
                <a:latin typeface="Times New Roman"/>
                <a:cs typeface="Times New Roman"/>
              </a:rPr>
              <a:t>In</a:t>
            </a:r>
            <a:r>
              <a:rPr sz="2800" dirty="0">
                <a:latin typeface="Times New Roman"/>
                <a:cs typeface="Times New Roman"/>
              </a:rPr>
              <a:t>	</a:t>
            </a:r>
            <a:r>
              <a:rPr sz="2800" spc="-5" dirty="0" smtClean="0">
                <a:latin typeface="Times New Roman"/>
                <a:cs typeface="Times New Roman"/>
              </a:rPr>
              <a:t>java,</a:t>
            </a:r>
            <a:r>
              <a:rPr lang="en-IN" sz="2800" spc="-5" dirty="0" smtClean="0">
                <a:latin typeface="Times New Roman"/>
                <a:cs typeface="Times New Roman"/>
              </a:rPr>
              <a:t>Enterprise </a:t>
            </a:r>
            <a:r>
              <a:rPr lang="en-IN" sz="2800" spc="-5" dirty="0">
                <a:latin typeface="Times New Roman"/>
                <a:cs typeface="Times New Roman"/>
              </a:rPr>
              <a:t>Java </a:t>
            </a:r>
            <a:r>
              <a:rPr lang="en-IN" sz="2800" spc="-5" dirty="0" smtClean="0">
                <a:latin typeface="Times New Roman"/>
                <a:cs typeface="Times New Roman"/>
              </a:rPr>
              <a:t>Beans(EJB</a:t>
            </a:r>
            <a:r>
              <a:rPr lang="en-IN" dirty="0" smtClean="0"/>
              <a:t>)</a:t>
            </a:r>
            <a:r>
              <a:rPr lang="en-US" sz="2800" dirty="0" smtClean="0">
                <a:latin typeface="Times New Roman"/>
                <a:cs typeface="Times New Roman"/>
              </a:rPr>
              <a:t> </a:t>
            </a:r>
            <a:r>
              <a:rPr sz="2800" spc="-5" dirty="0" smtClean="0">
                <a:latin typeface="Times New Roman"/>
                <a:cs typeface="Times New Roman"/>
              </a:rPr>
              <a:t>is</a:t>
            </a:r>
            <a:r>
              <a:rPr lang="en-US" sz="2800" spc="-5" dirty="0" smtClean="0">
                <a:latin typeface="Times New Roman"/>
                <a:cs typeface="Times New Roman"/>
              </a:rPr>
              <a:t> </a:t>
            </a:r>
            <a:r>
              <a:rPr sz="2800" spc="-5" dirty="0" smtClean="0">
                <a:latin typeface="Times New Roman"/>
                <a:cs typeface="Times New Roman"/>
              </a:rPr>
              <a:t>u</a:t>
            </a:r>
            <a:r>
              <a:rPr sz="2800" dirty="0" smtClean="0">
                <a:latin typeface="Times New Roman"/>
                <a:cs typeface="Times New Roman"/>
              </a:rPr>
              <a:t>s</a:t>
            </a:r>
            <a:r>
              <a:rPr sz="2800" spc="-5" dirty="0" smtClean="0">
                <a:latin typeface="Times New Roman"/>
                <a:cs typeface="Times New Roman"/>
              </a:rPr>
              <a:t>ed</a:t>
            </a:r>
            <a:r>
              <a:rPr sz="2800" dirty="0">
                <a:latin typeface="Times New Roman"/>
                <a:cs typeface="Times New Roman"/>
              </a:rPr>
              <a:t>	</a:t>
            </a:r>
            <a:r>
              <a:rPr sz="2800" spc="-5" dirty="0">
                <a:latin typeface="Times New Roman"/>
                <a:cs typeface="Times New Roman"/>
              </a:rPr>
              <a:t>f</a:t>
            </a:r>
            <a:r>
              <a:rPr sz="2800" dirty="0">
                <a:latin typeface="Times New Roman"/>
                <a:cs typeface="Times New Roman"/>
              </a:rPr>
              <a:t>o</a:t>
            </a:r>
            <a:r>
              <a:rPr sz="2800" spc="-5" dirty="0">
                <a:latin typeface="Times New Roman"/>
                <a:cs typeface="Times New Roman"/>
              </a:rPr>
              <a:t>r</a:t>
            </a:r>
            <a:r>
              <a:rPr sz="2800" dirty="0">
                <a:latin typeface="Times New Roman"/>
                <a:cs typeface="Times New Roman"/>
              </a:rPr>
              <a:t>	</a:t>
            </a:r>
            <a:r>
              <a:rPr sz="2800" spc="-5" dirty="0">
                <a:latin typeface="Times New Roman"/>
                <a:cs typeface="Times New Roman"/>
              </a:rPr>
              <a:t>cre</a:t>
            </a:r>
            <a:r>
              <a:rPr sz="2800" spc="-20" dirty="0">
                <a:latin typeface="Times New Roman"/>
                <a:cs typeface="Times New Roman"/>
              </a:rPr>
              <a:t>a</a:t>
            </a:r>
            <a:r>
              <a:rPr sz="2800" spc="-5" dirty="0">
                <a:latin typeface="Times New Roman"/>
                <a:cs typeface="Times New Roman"/>
              </a:rPr>
              <a:t>ti</a:t>
            </a:r>
            <a:r>
              <a:rPr sz="2800" dirty="0">
                <a:latin typeface="Times New Roman"/>
                <a:cs typeface="Times New Roman"/>
              </a:rPr>
              <a:t>n</a:t>
            </a:r>
            <a:r>
              <a:rPr sz="2800" spc="-5" dirty="0">
                <a:latin typeface="Times New Roman"/>
                <a:cs typeface="Times New Roman"/>
              </a:rPr>
              <a:t>g</a:t>
            </a:r>
            <a:r>
              <a:rPr sz="2800" dirty="0">
                <a:latin typeface="Times New Roman"/>
                <a:cs typeface="Times New Roman"/>
              </a:rPr>
              <a:t>	</a:t>
            </a:r>
            <a:r>
              <a:rPr sz="2800" spc="-5" dirty="0">
                <a:latin typeface="Times New Roman"/>
                <a:cs typeface="Times New Roman"/>
              </a:rPr>
              <a:t>enter</a:t>
            </a:r>
            <a:r>
              <a:rPr sz="2800" dirty="0">
                <a:latin typeface="Times New Roman"/>
                <a:cs typeface="Times New Roman"/>
              </a:rPr>
              <a:t>p</a:t>
            </a:r>
            <a:r>
              <a:rPr sz="2800" spc="-5" dirty="0">
                <a:latin typeface="Times New Roman"/>
                <a:cs typeface="Times New Roman"/>
              </a:rPr>
              <a:t>ri</a:t>
            </a:r>
            <a:r>
              <a:rPr sz="2800" spc="-20" dirty="0">
                <a:latin typeface="Times New Roman"/>
                <a:cs typeface="Times New Roman"/>
              </a:rPr>
              <a:t>s</a:t>
            </a:r>
            <a:r>
              <a:rPr sz="2800" spc="-5" dirty="0">
                <a:latin typeface="Times New Roman"/>
                <a:cs typeface="Times New Roman"/>
              </a:rPr>
              <a:t>e  </a:t>
            </a:r>
            <a:r>
              <a:rPr sz="2800" dirty="0">
                <a:latin typeface="Times New Roman"/>
                <a:cs typeface="Times New Roman"/>
              </a:rPr>
              <a:t>applications.</a:t>
            </a:r>
          </a:p>
          <a:p>
            <a:pPr marL="332740" indent="-320040" algn="just">
              <a:lnSpc>
                <a:spcPct val="100000"/>
              </a:lnSpc>
              <a:spcBef>
                <a:spcPts val="220"/>
              </a:spcBef>
              <a:buClr>
                <a:srgbClr val="DD8046"/>
              </a:buClr>
              <a:buSzPct val="60000"/>
              <a:buFont typeface="Wingdings"/>
              <a:buChar char=""/>
              <a:tabLst>
                <a:tab pos="332740" algn="l"/>
              </a:tabLst>
            </a:pPr>
            <a:r>
              <a:rPr sz="3500" b="1" dirty="0">
                <a:latin typeface="Times New Roman"/>
                <a:cs typeface="Times New Roman"/>
              </a:rPr>
              <a:t>Mobile</a:t>
            </a:r>
            <a:r>
              <a:rPr sz="3500" b="1" spc="-204" dirty="0">
                <a:latin typeface="Times New Roman"/>
                <a:cs typeface="Times New Roman"/>
              </a:rPr>
              <a:t> </a:t>
            </a:r>
            <a:r>
              <a:rPr sz="3500" b="1" dirty="0">
                <a:latin typeface="Times New Roman"/>
                <a:cs typeface="Times New Roman"/>
              </a:rPr>
              <a:t>Appl</a:t>
            </a:r>
            <a:r>
              <a:rPr sz="3500" b="1" spc="-15" dirty="0">
                <a:latin typeface="Times New Roman"/>
                <a:cs typeface="Times New Roman"/>
              </a:rPr>
              <a:t>i</a:t>
            </a:r>
            <a:r>
              <a:rPr sz="3500" b="1" dirty="0">
                <a:latin typeface="Times New Roman"/>
                <a:cs typeface="Times New Roman"/>
              </a:rPr>
              <a:t>cation</a:t>
            </a:r>
            <a:endParaRPr sz="3500" dirty="0">
              <a:latin typeface="Times New Roman"/>
              <a:cs typeface="Times New Roman"/>
            </a:endParaRPr>
          </a:p>
          <a:p>
            <a:pPr marL="835660" indent="-457200" algn="just">
              <a:lnSpc>
                <a:spcPct val="100000"/>
              </a:lnSpc>
              <a:spcBef>
                <a:spcPts val="295"/>
              </a:spcBef>
              <a:buFont typeface="Arial" panose="020B0604020202020204" pitchFamily="34" charset="0"/>
              <a:buChar char="•"/>
            </a:pPr>
            <a:r>
              <a:rPr sz="2800" spc="-10" dirty="0" smtClean="0">
                <a:latin typeface="Times New Roman"/>
                <a:cs typeface="Times New Roman"/>
              </a:rPr>
              <a:t>An</a:t>
            </a:r>
            <a:r>
              <a:rPr sz="2800" spc="10" dirty="0" smtClean="0">
                <a:latin typeface="Times New Roman"/>
                <a:cs typeface="Times New Roman"/>
              </a:rPr>
              <a:t> </a:t>
            </a:r>
            <a:r>
              <a:rPr sz="2800" spc="-5" dirty="0">
                <a:latin typeface="Times New Roman"/>
                <a:cs typeface="Times New Roman"/>
              </a:rPr>
              <a:t>application</a:t>
            </a:r>
            <a:r>
              <a:rPr sz="2800" spc="-20" dirty="0">
                <a:latin typeface="Times New Roman"/>
                <a:cs typeface="Times New Roman"/>
              </a:rPr>
              <a:t> </a:t>
            </a:r>
            <a:r>
              <a:rPr sz="2800" spc="-5" dirty="0">
                <a:latin typeface="Times New Roman"/>
                <a:cs typeface="Times New Roman"/>
              </a:rPr>
              <a:t>that is</a:t>
            </a:r>
            <a:r>
              <a:rPr sz="2800" spc="-10" dirty="0">
                <a:latin typeface="Times New Roman"/>
                <a:cs typeface="Times New Roman"/>
              </a:rPr>
              <a:t> </a:t>
            </a:r>
            <a:r>
              <a:rPr sz="2800" spc="-5" dirty="0">
                <a:latin typeface="Times New Roman"/>
                <a:cs typeface="Times New Roman"/>
              </a:rPr>
              <a:t>created</a:t>
            </a:r>
            <a:r>
              <a:rPr sz="2800" spc="10" dirty="0">
                <a:latin typeface="Times New Roman"/>
                <a:cs typeface="Times New Roman"/>
              </a:rPr>
              <a:t> </a:t>
            </a:r>
            <a:r>
              <a:rPr sz="2800" dirty="0">
                <a:latin typeface="Times New Roman"/>
                <a:cs typeface="Times New Roman"/>
              </a:rPr>
              <a:t>for</a:t>
            </a:r>
            <a:r>
              <a:rPr sz="2800" spc="5" dirty="0">
                <a:latin typeface="Times New Roman"/>
                <a:cs typeface="Times New Roman"/>
              </a:rPr>
              <a:t> </a:t>
            </a:r>
            <a:r>
              <a:rPr sz="2800" spc="-5" dirty="0">
                <a:latin typeface="Times New Roman"/>
                <a:cs typeface="Times New Roman"/>
              </a:rPr>
              <a:t>mobile</a:t>
            </a:r>
            <a:r>
              <a:rPr sz="2800" dirty="0">
                <a:latin typeface="Times New Roman"/>
                <a:cs typeface="Times New Roman"/>
              </a:rPr>
              <a:t> </a:t>
            </a:r>
            <a:r>
              <a:rPr sz="2800" spc="-5" dirty="0">
                <a:latin typeface="Times New Roman"/>
                <a:cs typeface="Times New Roman"/>
              </a:rPr>
              <a:t>devices.</a:t>
            </a:r>
            <a:endParaRPr sz="2800" dirty="0">
              <a:latin typeface="Times New Roman"/>
              <a:cs typeface="Times New Roman"/>
            </a:endParaRPr>
          </a:p>
          <a:p>
            <a:pPr marL="835660" marR="5715" indent="-457200" algn="just">
              <a:lnSpc>
                <a:spcPts val="3030"/>
              </a:lnSpc>
              <a:spcBef>
                <a:spcPts val="640"/>
              </a:spcBef>
              <a:buFont typeface="Arial" panose="020B0604020202020204" pitchFamily="34" charset="0"/>
              <a:buChar char="•"/>
              <a:tabLst>
                <a:tab pos="2265680" algn="l"/>
                <a:tab pos="3702685" algn="l"/>
                <a:tab pos="4466590" algn="l"/>
                <a:tab pos="5347335" algn="l"/>
                <a:tab pos="6132195" algn="l"/>
                <a:tab pos="6816725" algn="l"/>
                <a:tab pos="7719059" algn="l"/>
              </a:tabLst>
            </a:pPr>
            <a:r>
              <a:rPr sz="2800" spc="-5" dirty="0" smtClean="0">
                <a:latin typeface="Times New Roman"/>
                <a:cs typeface="Times New Roman"/>
              </a:rPr>
              <a:t>Current</a:t>
            </a:r>
            <a:r>
              <a:rPr sz="2800" dirty="0" smtClean="0">
                <a:latin typeface="Times New Roman"/>
                <a:cs typeface="Times New Roman"/>
              </a:rPr>
              <a:t>l</a:t>
            </a:r>
            <a:r>
              <a:rPr sz="2800" spc="-5" dirty="0" smtClean="0">
                <a:latin typeface="Times New Roman"/>
                <a:cs typeface="Times New Roman"/>
              </a:rPr>
              <a:t>y</a:t>
            </a:r>
            <a:r>
              <a:rPr sz="2800" dirty="0">
                <a:latin typeface="Times New Roman"/>
                <a:cs typeface="Times New Roman"/>
              </a:rPr>
              <a:t>	</a:t>
            </a:r>
            <a:r>
              <a:rPr sz="2800" spc="-5" dirty="0">
                <a:latin typeface="Times New Roman"/>
                <a:cs typeface="Times New Roman"/>
              </a:rPr>
              <a:t>And</a:t>
            </a:r>
            <a:r>
              <a:rPr sz="2800" dirty="0">
                <a:latin typeface="Times New Roman"/>
                <a:cs typeface="Times New Roman"/>
              </a:rPr>
              <a:t>r</a:t>
            </a:r>
            <a:r>
              <a:rPr sz="2800" spc="-5" dirty="0">
                <a:latin typeface="Times New Roman"/>
                <a:cs typeface="Times New Roman"/>
              </a:rPr>
              <a:t>oid</a:t>
            </a:r>
            <a:r>
              <a:rPr sz="2800" dirty="0">
                <a:latin typeface="Times New Roman"/>
                <a:cs typeface="Times New Roman"/>
              </a:rPr>
              <a:t>	</a:t>
            </a:r>
            <a:r>
              <a:rPr sz="2800" spc="-5" dirty="0">
                <a:latin typeface="Times New Roman"/>
                <a:cs typeface="Times New Roman"/>
              </a:rPr>
              <a:t>and</a:t>
            </a:r>
            <a:r>
              <a:rPr sz="2800" dirty="0">
                <a:latin typeface="Times New Roman"/>
                <a:cs typeface="Times New Roman"/>
              </a:rPr>
              <a:t>	</a:t>
            </a:r>
            <a:r>
              <a:rPr sz="2800" spc="-5" dirty="0">
                <a:latin typeface="Times New Roman"/>
                <a:cs typeface="Times New Roman"/>
              </a:rPr>
              <a:t>Java</a:t>
            </a:r>
            <a:r>
              <a:rPr sz="2800" dirty="0">
                <a:latin typeface="Times New Roman"/>
                <a:cs typeface="Times New Roman"/>
              </a:rPr>
              <a:t>	</a:t>
            </a:r>
            <a:r>
              <a:rPr lang="en-IN" sz="2800" spc="-5" dirty="0">
                <a:latin typeface="Times New Roman"/>
                <a:cs typeface="Times New Roman"/>
              </a:rPr>
              <a:t>Micro </a:t>
            </a:r>
            <a:r>
              <a:rPr lang="en-IN" sz="2800" spc="-5" dirty="0" smtClean="0">
                <a:latin typeface="Times New Roman"/>
                <a:cs typeface="Times New Roman"/>
              </a:rPr>
              <a:t>Edition(</a:t>
            </a:r>
            <a:r>
              <a:rPr sz="2800" dirty="0" smtClean="0">
                <a:latin typeface="Times New Roman"/>
                <a:cs typeface="Times New Roman"/>
              </a:rPr>
              <a:t>M</a:t>
            </a:r>
            <a:r>
              <a:rPr sz="2800" spc="-5" dirty="0" smtClean="0">
                <a:latin typeface="Times New Roman"/>
                <a:cs typeface="Times New Roman"/>
              </a:rPr>
              <a:t>E</a:t>
            </a:r>
            <a:r>
              <a:rPr lang="en-US" sz="2800" spc="-5" dirty="0" smtClean="0">
                <a:latin typeface="Times New Roman"/>
                <a:cs typeface="Times New Roman"/>
              </a:rPr>
              <a:t>) </a:t>
            </a:r>
            <a:r>
              <a:rPr sz="2800" spc="-5" dirty="0" smtClean="0">
                <a:latin typeface="Times New Roman"/>
                <a:cs typeface="Times New Roman"/>
              </a:rPr>
              <a:t>a</a:t>
            </a:r>
            <a:r>
              <a:rPr sz="2800" dirty="0" smtClean="0">
                <a:latin typeface="Times New Roman"/>
                <a:cs typeface="Times New Roman"/>
              </a:rPr>
              <a:t>r</a:t>
            </a:r>
            <a:r>
              <a:rPr sz="2800" spc="-5" dirty="0" smtClean="0">
                <a:latin typeface="Times New Roman"/>
                <a:cs typeface="Times New Roman"/>
              </a:rPr>
              <a:t>e</a:t>
            </a:r>
            <a:r>
              <a:rPr sz="2800" dirty="0">
                <a:latin typeface="Times New Roman"/>
                <a:cs typeface="Times New Roman"/>
              </a:rPr>
              <a:t>	</a:t>
            </a:r>
            <a:r>
              <a:rPr sz="2800" spc="-5" dirty="0">
                <a:latin typeface="Times New Roman"/>
                <a:cs typeface="Times New Roman"/>
              </a:rPr>
              <a:t>used</a:t>
            </a:r>
            <a:r>
              <a:rPr sz="2800" dirty="0">
                <a:latin typeface="Times New Roman"/>
                <a:cs typeface="Times New Roman"/>
              </a:rPr>
              <a:t>	</a:t>
            </a:r>
            <a:r>
              <a:rPr sz="2800" spc="5" dirty="0">
                <a:latin typeface="Times New Roman"/>
                <a:cs typeface="Times New Roman"/>
              </a:rPr>
              <a:t>f</a:t>
            </a:r>
            <a:r>
              <a:rPr sz="2800" spc="-5" dirty="0">
                <a:latin typeface="Times New Roman"/>
                <a:cs typeface="Times New Roman"/>
              </a:rPr>
              <a:t>or  creating</a:t>
            </a:r>
            <a:r>
              <a:rPr sz="2800" spc="-15" dirty="0">
                <a:latin typeface="Times New Roman"/>
                <a:cs typeface="Times New Roman"/>
              </a:rPr>
              <a:t> </a:t>
            </a:r>
            <a:r>
              <a:rPr sz="2800" spc="-5" dirty="0">
                <a:latin typeface="Times New Roman"/>
                <a:cs typeface="Times New Roman"/>
              </a:rPr>
              <a:t>mobile</a:t>
            </a:r>
            <a:r>
              <a:rPr sz="2800" spc="10" dirty="0">
                <a:latin typeface="Times New Roman"/>
                <a:cs typeface="Times New Roman"/>
              </a:rPr>
              <a:t> </a:t>
            </a:r>
            <a:r>
              <a:rPr sz="2800" spc="-5" dirty="0">
                <a:latin typeface="Times New Roman"/>
                <a:cs typeface="Times New Roman"/>
              </a:rPr>
              <a:t>applications.</a:t>
            </a:r>
            <a:endParaRPr sz="28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23</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4704080" cy="697230"/>
          </a:xfrm>
          <a:prstGeom prst="rect">
            <a:avLst/>
          </a:prstGeom>
        </p:spPr>
        <p:txBody>
          <a:bodyPr vert="horz" wrap="square" lIns="0" tIns="13335" rIns="0" bIns="0" rtlCol="0">
            <a:spAutoFit/>
          </a:bodyPr>
          <a:lstStyle/>
          <a:p>
            <a:pPr marL="12700">
              <a:lnSpc>
                <a:spcPct val="100000"/>
              </a:lnSpc>
              <a:spcBef>
                <a:spcPts val="105"/>
              </a:spcBef>
            </a:pPr>
            <a:r>
              <a:rPr sz="4400" b="1" dirty="0">
                <a:latin typeface="Times New Roman"/>
                <a:cs typeface="Times New Roman"/>
              </a:rPr>
              <a:t>First</a:t>
            </a:r>
            <a:r>
              <a:rPr sz="4400" b="1" spc="-55" dirty="0">
                <a:latin typeface="Times New Roman"/>
                <a:cs typeface="Times New Roman"/>
              </a:rPr>
              <a:t> </a:t>
            </a:r>
            <a:r>
              <a:rPr sz="4400" b="1" dirty="0">
                <a:latin typeface="Times New Roman"/>
                <a:cs typeface="Times New Roman"/>
              </a:rPr>
              <a:t>Java</a:t>
            </a:r>
            <a:r>
              <a:rPr sz="4400" b="1" spc="-60" dirty="0">
                <a:latin typeface="Times New Roman"/>
                <a:cs typeface="Times New Roman"/>
              </a:rPr>
              <a:t> </a:t>
            </a:r>
            <a:r>
              <a:rPr sz="4400" b="1" spc="-10" dirty="0">
                <a:latin typeface="Times New Roman"/>
                <a:cs typeface="Times New Roman"/>
              </a:rPr>
              <a:t>Program</a:t>
            </a:r>
            <a:endParaRPr sz="4400">
              <a:latin typeface="Times New Roman"/>
              <a:cs typeface="Times New Roman"/>
            </a:endParaRPr>
          </a:p>
        </p:txBody>
      </p:sp>
      <p:sp>
        <p:nvSpPr>
          <p:cNvPr id="3" name="object 3"/>
          <p:cNvSpPr txBox="1"/>
          <p:nvPr/>
        </p:nvSpPr>
        <p:spPr>
          <a:xfrm>
            <a:off x="231140" y="1530223"/>
            <a:ext cx="7606030" cy="4488815"/>
          </a:xfrm>
          <a:prstGeom prst="rect">
            <a:avLst/>
          </a:prstGeom>
        </p:spPr>
        <p:txBody>
          <a:bodyPr vert="horz" wrap="square" lIns="0" tIns="100965" rIns="0" bIns="0" rtlCol="0">
            <a:spAutoFit/>
          </a:bodyPr>
          <a:lstStyle/>
          <a:p>
            <a:pPr marL="12700">
              <a:lnSpc>
                <a:spcPct val="100000"/>
              </a:lnSpc>
              <a:spcBef>
                <a:spcPts val="795"/>
              </a:spcBef>
            </a:pPr>
            <a:r>
              <a:rPr sz="3600" spc="-5" dirty="0">
                <a:latin typeface="Times New Roman"/>
                <a:cs typeface="Times New Roman"/>
              </a:rPr>
              <a:t>class</a:t>
            </a:r>
            <a:r>
              <a:rPr sz="3600" spc="-40" dirty="0">
                <a:latin typeface="Times New Roman"/>
                <a:cs typeface="Times New Roman"/>
              </a:rPr>
              <a:t> </a:t>
            </a:r>
            <a:r>
              <a:rPr sz="3600" spc="-30" dirty="0">
                <a:solidFill>
                  <a:srgbClr val="FF0000"/>
                </a:solidFill>
                <a:latin typeface="Times New Roman"/>
                <a:cs typeface="Times New Roman"/>
              </a:rPr>
              <a:t>HelloWorld</a:t>
            </a:r>
            <a:endParaRPr sz="3600">
              <a:latin typeface="Times New Roman"/>
              <a:cs typeface="Times New Roman"/>
            </a:endParaRPr>
          </a:p>
          <a:p>
            <a:pPr marL="12700">
              <a:lnSpc>
                <a:spcPct val="100000"/>
              </a:lnSpc>
              <a:spcBef>
                <a:spcPts val="695"/>
              </a:spcBef>
            </a:pPr>
            <a:r>
              <a:rPr sz="3600" dirty="0">
                <a:latin typeface="Times New Roman"/>
                <a:cs typeface="Times New Roman"/>
              </a:rPr>
              <a:t>{</a:t>
            </a:r>
            <a:endParaRPr sz="3600">
              <a:latin typeface="Times New Roman"/>
              <a:cs typeface="Times New Roman"/>
            </a:endParaRPr>
          </a:p>
          <a:p>
            <a:pPr marL="332740">
              <a:lnSpc>
                <a:spcPct val="100000"/>
              </a:lnSpc>
              <a:spcBef>
                <a:spcPts val="700"/>
              </a:spcBef>
            </a:pPr>
            <a:r>
              <a:rPr sz="3600" dirty="0">
                <a:latin typeface="Times New Roman"/>
                <a:cs typeface="Times New Roman"/>
              </a:rPr>
              <a:t>public</a:t>
            </a:r>
            <a:r>
              <a:rPr sz="3600" spc="-20" dirty="0">
                <a:latin typeface="Times New Roman"/>
                <a:cs typeface="Times New Roman"/>
              </a:rPr>
              <a:t> </a:t>
            </a:r>
            <a:r>
              <a:rPr sz="3600" spc="-5" dirty="0">
                <a:latin typeface="Times New Roman"/>
                <a:cs typeface="Times New Roman"/>
              </a:rPr>
              <a:t>static</a:t>
            </a:r>
            <a:r>
              <a:rPr sz="3600" spc="-10" dirty="0">
                <a:latin typeface="Times New Roman"/>
                <a:cs typeface="Times New Roman"/>
              </a:rPr>
              <a:t> </a:t>
            </a:r>
            <a:r>
              <a:rPr sz="3600" dirty="0">
                <a:latin typeface="Times New Roman"/>
                <a:cs typeface="Times New Roman"/>
              </a:rPr>
              <a:t>void</a:t>
            </a:r>
            <a:r>
              <a:rPr sz="3600" spc="-5" dirty="0">
                <a:latin typeface="Times New Roman"/>
                <a:cs typeface="Times New Roman"/>
              </a:rPr>
              <a:t> </a:t>
            </a:r>
            <a:r>
              <a:rPr sz="3600" dirty="0">
                <a:latin typeface="Times New Roman"/>
                <a:cs typeface="Times New Roman"/>
              </a:rPr>
              <a:t>main</a:t>
            </a:r>
            <a:r>
              <a:rPr sz="3600" spc="-10" dirty="0">
                <a:latin typeface="Times New Roman"/>
                <a:cs typeface="Times New Roman"/>
              </a:rPr>
              <a:t> </a:t>
            </a:r>
            <a:r>
              <a:rPr sz="3600" dirty="0">
                <a:latin typeface="Times New Roman"/>
                <a:cs typeface="Times New Roman"/>
              </a:rPr>
              <a:t>(String </a:t>
            </a:r>
            <a:r>
              <a:rPr sz="3600" spc="-10" dirty="0">
                <a:latin typeface="Times New Roman"/>
                <a:cs typeface="Times New Roman"/>
              </a:rPr>
              <a:t>args[])</a:t>
            </a:r>
            <a:endParaRPr sz="3600">
              <a:latin typeface="Times New Roman"/>
              <a:cs typeface="Times New Roman"/>
            </a:endParaRPr>
          </a:p>
          <a:p>
            <a:pPr marL="332740">
              <a:lnSpc>
                <a:spcPct val="100000"/>
              </a:lnSpc>
              <a:spcBef>
                <a:spcPts val="705"/>
              </a:spcBef>
            </a:pPr>
            <a:r>
              <a:rPr sz="3600" dirty="0">
                <a:latin typeface="Times New Roman"/>
                <a:cs typeface="Times New Roman"/>
              </a:rPr>
              <a:t>{</a:t>
            </a:r>
            <a:endParaRPr sz="3600">
              <a:latin typeface="Times New Roman"/>
              <a:cs typeface="Times New Roman"/>
            </a:endParaRPr>
          </a:p>
          <a:p>
            <a:pPr marL="927100">
              <a:lnSpc>
                <a:spcPct val="100000"/>
              </a:lnSpc>
              <a:spcBef>
                <a:spcPts val="695"/>
              </a:spcBef>
              <a:tabLst>
                <a:tab pos="4535170" algn="l"/>
              </a:tabLst>
            </a:pPr>
            <a:r>
              <a:rPr sz="3600" spc="-5" dirty="0">
                <a:latin typeface="Times New Roman"/>
                <a:cs typeface="Times New Roman"/>
              </a:rPr>
              <a:t>System.out.println	("Hello</a:t>
            </a:r>
            <a:r>
              <a:rPr sz="3600" spc="-105" dirty="0">
                <a:latin typeface="Times New Roman"/>
                <a:cs typeface="Times New Roman"/>
              </a:rPr>
              <a:t> </a:t>
            </a:r>
            <a:r>
              <a:rPr sz="3600" spc="-40" dirty="0">
                <a:latin typeface="Times New Roman"/>
                <a:cs typeface="Times New Roman"/>
              </a:rPr>
              <a:t>World");</a:t>
            </a:r>
            <a:endParaRPr sz="3600">
              <a:latin typeface="Times New Roman"/>
              <a:cs typeface="Times New Roman"/>
            </a:endParaRPr>
          </a:p>
          <a:p>
            <a:pPr marL="332740">
              <a:lnSpc>
                <a:spcPct val="100000"/>
              </a:lnSpc>
              <a:spcBef>
                <a:spcPts val="700"/>
              </a:spcBef>
            </a:pPr>
            <a:r>
              <a:rPr sz="3600" dirty="0">
                <a:latin typeface="Times New Roman"/>
                <a:cs typeface="Times New Roman"/>
              </a:rPr>
              <a:t>}</a:t>
            </a:r>
            <a:endParaRPr sz="3600">
              <a:latin typeface="Times New Roman"/>
              <a:cs typeface="Times New Roman"/>
            </a:endParaRPr>
          </a:p>
          <a:p>
            <a:pPr marL="12700">
              <a:lnSpc>
                <a:spcPct val="100000"/>
              </a:lnSpc>
              <a:spcBef>
                <a:spcPts val="710"/>
              </a:spcBef>
            </a:pPr>
            <a:r>
              <a:rPr sz="3600" dirty="0">
                <a:latin typeface="Times New Roman"/>
                <a:cs typeface="Times New Roman"/>
              </a:rPr>
              <a:t>}</a:t>
            </a:r>
            <a:endParaRPr sz="36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24</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5538470" cy="697230"/>
          </a:xfrm>
          <a:prstGeom prst="rect">
            <a:avLst/>
          </a:prstGeom>
        </p:spPr>
        <p:txBody>
          <a:bodyPr vert="horz" wrap="square" lIns="0" tIns="13335" rIns="0" bIns="0" rtlCol="0">
            <a:spAutoFit/>
          </a:bodyPr>
          <a:lstStyle/>
          <a:p>
            <a:pPr marL="12700">
              <a:lnSpc>
                <a:spcPct val="100000"/>
              </a:lnSpc>
              <a:spcBef>
                <a:spcPts val="105"/>
              </a:spcBef>
            </a:pPr>
            <a:r>
              <a:rPr sz="4400" b="1" dirty="0">
                <a:latin typeface="Times New Roman"/>
                <a:cs typeface="Times New Roman"/>
              </a:rPr>
              <a:t>First</a:t>
            </a:r>
            <a:r>
              <a:rPr sz="4400" b="1" spc="-35" dirty="0">
                <a:latin typeface="Times New Roman"/>
                <a:cs typeface="Times New Roman"/>
              </a:rPr>
              <a:t> </a:t>
            </a:r>
            <a:r>
              <a:rPr sz="4400" b="1" dirty="0">
                <a:latin typeface="Times New Roman"/>
                <a:cs typeface="Times New Roman"/>
              </a:rPr>
              <a:t>Java</a:t>
            </a:r>
            <a:r>
              <a:rPr sz="4400" b="1" spc="-45" dirty="0">
                <a:latin typeface="Times New Roman"/>
                <a:cs typeface="Times New Roman"/>
              </a:rPr>
              <a:t> </a:t>
            </a:r>
            <a:r>
              <a:rPr sz="4400" b="1" spc="-10" dirty="0">
                <a:latin typeface="Times New Roman"/>
                <a:cs typeface="Times New Roman"/>
              </a:rPr>
              <a:t>Program</a:t>
            </a:r>
            <a:r>
              <a:rPr sz="4400" b="1" spc="-65" dirty="0">
                <a:latin typeface="Times New Roman"/>
                <a:cs typeface="Times New Roman"/>
              </a:rPr>
              <a:t> </a:t>
            </a:r>
            <a:r>
              <a:rPr sz="4400" b="1" dirty="0">
                <a:latin typeface="Times New Roman"/>
                <a:cs typeface="Times New Roman"/>
              </a:rPr>
              <a:t>….</a:t>
            </a:r>
            <a:endParaRPr sz="4400">
              <a:latin typeface="Times New Roman"/>
              <a:cs typeface="Times New Roman"/>
            </a:endParaRPr>
          </a:p>
        </p:txBody>
      </p:sp>
      <p:sp>
        <p:nvSpPr>
          <p:cNvPr id="3" name="object 3"/>
          <p:cNvSpPr txBox="1"/>
          <p:nvPr/>
        </p:nvSpPr>
        <p:spPr>
          <a:xfrm>
            <a:off x="231140" y="1618615"/>
            <a:ext cx="8605520" cy="4592320"/>
          </a:xfrm>
          <a:prstGeom prst="rect">
            <a:avLst/>
          </a:prstGeom>
        </p:spPr>
        <p:txBody>
          <a:bodyPr vert="horz" wrap="square" lIns="0" tIns="12700" rIns="0" bIns="0" rtlCol="0">
            <a:spAutoFit/>
          </a:bodyPr>
          <a:lstStyle/>
          <a:p>
            <a:pPr marL="332740" marR="5080" indent="-320040" algn="just">
              <a:lnSpc>
                <a:spcPct val="100000"/>
              </a:lnSpc>
              <a:spcBef>
                <a:spcPts val="100"/>
              </a:spcBef>
              <a:buClr>
                <a:srgbClr val="DD8046"/>
              </a:buClr>
              <a:buSzPct val="59722"/>
              <a:buFont typeface="Wingdings"/>
              <a:buChar char=""/>
              <a:tabLst>
                <a:tab pos="332740" algn="l"/>
              </a:tabLst>
            </a:pPr>
            <a:r>
              <a:rPr sz="3600" dirty="0">
                <a:latin typeface="Times New Roman"/>
                <a:cs typeface="Times New Roman"/>
              </a:rPr>
              <a:t>In Java, all code must reside inside a </a:t>
            </a:r>
            <a:r>
              <a:rPr sz="3600" b="1" i="1" spc="-5" dirty="0">
                <a:latin typeface="Times New Roman"/>
                <a:cs typeface="Times New Roman"/>
              </a:rPr>
              <a:t>class </a:t>
            </a:r>
            <a:r>
              <a:rPr sz="3600" b="1" i="1" dirty="0">
                <a:latin typeface="Times New Roman"/>
                <a:cs typeface="Times New Roman"/>
              </a:rPr>
              <a:t> </a:t>
            </a:r>
            <a:r>
              <a:rPr sz="3600" b="1" spc="-5" dirty="0">
                <a:latin typeface="Times New Roman"/>
                <a:cs typeface="Times New Roman"/>
              </a:rPr>
              <a:t>and the </a:t>
            </a:r>
            <a:r>
              <a:rPr sz="3600" b="1" dirty="0">
                <a:latin typeface="Times New Roman"/>
                <a:cs typeface="Times New Roman"/>
              </a:rPr>
              <a:t>name of that </a:t>
            </a:r>
            <a:r>
              <a:rPr sz="3600" b="1" spc="-5" dirty="0">
                <a:latin typeface="Times New Roman"/>
                <a:cs typeface="Times New Roman"/>
              </a:rPr>
              <a:t>class should </a:t>
            </a:r>
            <a:r>
              <a:rPr sz="3600" b="1" dirty="0">
                <a:latin typeface="Times New Roman"/>
                <a:cs typeface="Times New Roman"/>
              </a:rPr>
              <a:t>match </a:t>
            </a:r>
            <a:r>
              <a:rPr sz="3600" b="1" spc="5" dirty="0">
                <a:latin typeface="Times New Roman"/>
                <a:cs typeface="Times New Roman"/>
              </a:rPr>
              <a:t> </a:t>
            </a:r>
            <a:r>
              <a:rPr sz="3600" b="1" dirty="0">
                <a:latin typeface="Times New Roman"/>
                <a:cs typeface="Times New Roman"/>
              </a:rPr>
              <a:t>the</a:t>
            </a:r>
            <a:r>
              <a:rPr sz="3600" b="1" spc="5" dirty="0">
                <a:latin typeface="Times New Roman"/>
                <a:cs typeface="Times New Roman"/>
              </a:rPr>
              <a:t> </a:t>
            </a:r>
            <a:r>
              <a:rPr sz="3600" b="1" dirty="0">
                <a:latin typeface="Times New Roman"/>
                <a:cs typeface="Times New Roman"/>
              </a:rPr>
              <a:t>name</a:t>
            </a:r>
            <a:r>
              <a:rPr sz="3600" b="1" spc="5" dirty="0">
                <a:latin typeface="Times New Roman"/>
                <a:cs typeface="Times New Roman"/>
              </a:rPr>
              <a:t> </a:t>
            </a:r>
            <a:r>
              <a:rPr sz="3600" b="1" spc="-5" dirty="0">
                <a:latin typeface="Times New Roman"/>
                <a:cs typeface="Times New Roman"/>
              </a:rPr>
              <a:t>of</a:t>
            </a:r>
            <a:r>
              <a:rPr sz="3600" b="1" dirty="0">
                <a:latin typeface="Times New Roman"/>
                <a:cs typeface="Times New Roman"/>
              </a:rPr>
              <a:t> the</a:t>
            </a:r>
            <a:r>
              <a:rPr sz="3600" b="1" spc="5" dirty="0">
                <a:latin typeface="Times New Roman"/>
                <a:cs typeface="Times New Roman"/>
              </a:rPr>
              <a:t> </a:t>
            </a:r>
            <a:r>
              <a:rPr sz="3600" b="1" spc="-5" dirty="0">
                <a:latin typeface="Times New Roman"/>
                <a:cs typeface="Times New Roman"/>
              </a:rPr>
              <a:t>file</a:t>
            </a:r>
            <a:r>
              <a:rPr sz="3600" b="1" dirty="0">
                <a:latin typeface="Times New Roman"/>
                <a:cs typeface="Times New Roman"/>
              </a:rPr>
              <a:t> that</a:t>
            </a:r>
            <a:r>
              <a:rPr sz="3600" b="1" spc="5" dirty="0">
                <a:latin typeface="Times New Roman"/>
                <a:cs typeface="Times New Roman"/>
              </a:rPr>
              <a:t> </a:t>
            </a:r>
            <a:r>
              <a:rPr sz="3600" b="1" dirty="0">
                <a:latin typeface="Times New Roman"/>
                <a:cs typeface="Times New Roman"/>
              </a:rPr>
              <a:t>holds</a:t>
            </a:r>
            <a:r>
              <a:rPr sz="3600" b="1" spc="5" dirty="0">
                <a:latin typeface="Times New Roman"/>
                <a:cs typeface="Times New Roman"/>
              </a:rPr>
              <a:t> </a:t>
            </a:r>
            <a:r>
              <a:rPr sz="3600" b="1" dirty="0">
                <a:latin typeface="Times New Roman"/>
                <a:cs typeface="Times New Roman"/>
              </a:rPr>
              <a:t>the </a:t>
            </a:r>
            <a:r>
              <a:rPr sz="3600" b="1" spc="5" dirty="0">
                <a:latin typeface="Times New Roman"/>
                <a:cs typeface="Times New Roman"/>
              </a:rPr>
              <a:t> </a:t>
            </a:r>
            <a:r>
              <a:rPr sz="3600" b="1" spc="-10" dirty="0">
                <a:latin typeface="Times New Roman"/>
                <a:cs typeface="Times New Roman"/>
              </a:rPr>
              <a:t>program</a:t>
            </a:r>
            <a:r>
              <a:rPr sz="3600" spc="-10" dirty="0">
                <a:latin typeface="Times New Roman"/>
                <a:cs typeface="Times New Roman"/>
              </a:rPr>
              <a:t>.</a:t>
            </a:r>
            <a:endParaRPr sz="3600">
              <a:latin typeface="Times New Roman"/>
              <a:cs typeface="Times New Roman"/>
            </a:endParaRPr>
          </a:p>
          <a:p>
            <a:pPr marL="332740" marR="5080" indent="-320040" algn="just">
              <a:lnSpc>
                <a:spcPct val="100000"/>
              </a:lnSpc>
              <a:spcBef>
                <a:spcPts val="695"/>
              </a:spcBef>
              <a:buClr>
                <a:srgbClr val="DD8046"/>
              </a:buClr>
              <a:buSzPct val="59722"/>
              <a:buFont typeface="Wingdings"/>
              <a:buChar char=""/>
              <a:tabLst>
                <a:tab pos="332740" algn="l"/>
              </a:tabLst>
            </a:pPr>
            <a:r>
              <a:rPr sz="3600" dirty="0">
                <a:latin typeface="Times New Roman"/>
                <a:cs typeface="Times New Roman"/>
              </a:rPr>
              <a:t>For </a:t>
            </a:r>
            <a:r>
              <a:rPr sz="3600" spc="-5" dirty="0">
                <a:latin typeface="Times New Roman"/>
                <a:cs typeface="Times New Roman"/>
              </a:rPr>
              <a:t>this </a:t>
            </a:r>
            <a:r>
              <a:rPr sz="3600" dirty="0">
                <a:latin typeface="Times New Roman"/>
                <a:cs typeface="Times New Roman"/>
              </a:rPr>
              <a:t>example, the name </a:t>
            </a:r>
            <a:r>
              <a:rPr sz="3600" spc="-5" dirty="0">
                <a:latin typeface="Times New Roman"/>
                <a:cs typeface="Times New Roman"/>
              </a:rPr>
              <a:t>of </a:t>
            </a:r>
            <a:r>
              <a:rPr sz="3600" dirty="0">
                <a:latin typeface="Times New Roman"/>
                <a:cs typeface="Times New Roman"/>
              </a:rPr>
              <a:t>the source file </a:t>
            </a:r>
            <a:r>
              <a:rPr sz="3600" spc="-885" dirty="0">
                <a:latin typeface="Times New Roman"/>
                <a:cs typeface="Times New Roman"/>
              </a:rPr>
              <a:t> </a:t>
            </a:r>
            <a:r>
              <a:rPr sz="3600" spc="-5" dirty="0">
                <a:latin typeface="Times New Roman"/>
                <a:cs typeface="Times New Roman"/>
              </a:rPr>
              <a:t>should</a:t>
            </a:r>
            <a:r>
              <a:rPr sz="3600" dirty="0">
                <a:latin typeface="Times New Roman"/>
                <a:cs typeface="Times New Roman"/>
              </a:rPr>
              <a:t> </a:t>
            </a:r>
            <a:r>
              <a:rPr sz="3600" spc="-5" dirty="0">
                <a:latin typeface="Times New Roman"/>
                <a:cs typeface="Times New Roman"/>
              </a:rPr>
              <a:t>be </a:t>
            </a:r>
            <a:r>
              <a:rPr sz="3600" b="1" spc="-20" dirty="0">
                <a:solidFill>
                  <a:srgbClr val="FF0000"/>
                </a:solidFill>
                <a:latin typeface="Times New Roman"/>
                <a:cs typeface="Times New Roman"/>
              </a:rPr>
              <a:t>HelloWorld.java</a:t>
            </a:r>
            <a:endParaRPr sz="3600">
              <a:latin typeface="Times New Roman"/>
              <a:cs typeface="Times New Roman"/>
            </a:endParaRPr>
          </a:p>
          <a:p>
            <a:pPr marL="332740" marR="5080" indent="-320040" algn="just">
              <a:lnSpc>
                <a:spcPct val="100000"/>
              </a:lnSpc>
              <a:spcBef>
                <a:spcPts val="700"/>
              </a:spcBef>
              <a:buClr>
                <a:srgbClr val="DD8046"/>
              </a:buClr>
              <a:buSzPct val="59722"/>
              <a:buFont typeface="Wingdings"/>
              <a:buChar char=""/>
              <a:tabLst>
                <a:tab pos="332740" algn="l"/>
              </a:tabLst>
            </a:pPr>
            <a:r>
              <a:rPr sz="3600" dirty="0">
                <a:latin typeface="Times New Roman"/>
                <a:cs typeface="Times New Roman"/>
              </a:rPr>
              <a:t>The Java compiler requires that a source file </a:t>
            </a:r>
            <a:r>
              <a:rPr sz="3600" spc="5" dirty="0">
                <a:latin typeface="Times New Roman"/>
                <a:cs typeface="Times New Roman"/>
              </a:rPr>
              <a:t> </a:t>
            </a:r>
            <a:r>
              <a:rPr sz="3600" spc="-5" dirty="0">
                <a:latin typeface="Times New Roman"/>
                <a:cs typeface="Times New Roman"/>
              </a:rPr>
              <a:t>use </a:t>
            </a:r>
            <a:r>
              <a:rPr sz="3600" dirty="0">
                <a:latin typeface="Times New Roman"/>
                <a:cs typeface="Times New Roman"/>
              </a:rPr>
              <a:t>the</a:t>
            </a:r>
            <a:r>
              <a:rPr sz="3600" spc="5" dirty="0">
                <a:latin typeface="Times New Roman"/>
                <a:cs typeface="Times New Roman"/>
              </a:rPr>
              <a:t> </a:t>
            </a:r>
            <a:r>
              <a:rPr sz="3600" b="1" dirty="0">
                <a:solidFill>
                  <a:srgbClr val="FF0000"/>
                </a:solidFill>
                <a:latin typeface="Times New Roman"/>
                <a:cs typeface="Times New Roman"/>
              </a:rPr>
              <a:t>.java </a:t>
            </a:r>
            <a:r>
              <a:rPr sz="3600" spc="-5" dirty="0">
                <a:latin typeface="Times New Roman"/>
                <a:cs typeface="Times New Roman"/>
              </a:rPr>
              <a:t>filename</a:t>
            </a:r>
            <a:r>
              <a:rPr sz="3600" spc="15" dirty="0">
                <a:latin typeface="Times New Roman"/>
                <a:cs typeface="Times New Roman"/>
              </a:rPr>
              <a:t> </a:t>
            </a:r>
            <a:r>
              <a:rPr sz="3600" spc="-5" dirty="0">
                <a:latin typeface="Times New Roman"/>
                <a:cs typeface="Times New Roman"/>
              </a:rPr>
              <a:t>extension.</a:t>
            </a:r>
            <a:endParaRPr sz="36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25</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5398770" cy="697230"/>
          </a:xfrm>
          <a:prstGeom prst="rect">
            <a:avLst/>
          </a:prstGeom>
        </p:spPr>
        <p:txBody>
          <a:bodyPr vert="horz" wrap="square" lIns="0" tIns="13335" rIns="0" bIns="0" rtlCol="0">
            <a:spAutoFit/>
          </a:bodyPr>
          <a:lstStyle/>
          <a:p>
            <a:pPr marL="12700">
              <a:lnSpc>
                <a:spcPct val="100000"/>
              </a:lnSpc>
              <a:spcBef>
                <a:spcPts val="105"/>
              </a:spcBef>
            </a:pPr>
            <a:r>
              <a:rPr sz="4400" b="1" dirty="0">
                <a:latin typeface="Times New Roman"/>
                <a:cs typeface="Times New Roman"/>
              </a:rPr>
              <a:t>First</a:t>
            </a:r>
            <a:r>
              <a:rPr sz="4400" b="1" spc="-35" dirty="0">
                <a:latin typeface="Times New Roman"/>
                <a:cs typeface="Times New Roman"/>
              </a:rPr>
              <a:t> </a:t>
            </a:r>
            <a:r>
              <a:rPr sz="4400" b="1" dirty="0">
                <a:latin typeface="Times New Roman"/>
                <a:cs typeface="Times New Roman"/>
              </a:rPr>
              <a:t>Java</a:t>
            </a:r>
            <a:r>
              <a:rPr sz="4400" b="1" spc="-50" dirty="0">
                <a:latin typeface="Times New Roman"/>
                <a:cs typeface="Times New Roman"/>
              </a:rPr>
              <a:t> </a:t>
            </a:r>
            <a:r>
              <a:rPr sz="4400" b="1" spc="-10" dirty="0">
                <a:latin typeface="Times New Roman"/>
                <a:cs typeface="Times New Roman"/>
              </a:rPr>
              <a:t>Program</a:t>
            </a:r>
            <a:r>
              <a:rPr sz="4400" b="1" spc="-65" dirty="0">
                <a:latin typeface="Times New Roman"/>
                <a:cs typeface="Times New Roman"/>
              </a:rPr>
              <a:t> </a:t>
            </a:r>
            <a:r>
              <a:rPr sz="4400" b="1" spc="5" dirty="0">
                <a:latin typeface="Times New Roman"/>
                <a:cs typeface="Times New Roman"/>
              </a:rPr>
              <a:t>…</a:t>
            </a:r>
            <a:endParaRPr sz="4400">
              <a:latin typeface="Times New Roman"/>
              <a:cs typeface="Times New Roman"/>
            </a:endParaRPr>
          </a:p>
        </p:txBody>
      </p:sp>
      <p:sp>
        <p:nvSpPr>
          <p:cNvPr id="3" name="object 3"/>
          <p:cNvSpPr txBox="1"/>
          <p:nvPr/>
        </p:nvSpPr>
        <p:spPr>
          <a:xfrm>
            <a:off x="154939" y="1528013"/>
            <a:ext cx="8760460" cy="4590359"/>
          </a:xfrm>
          <a:prstGeom prst="rect">
            <a:avLst/>
          </a:prstGeom>
        </p:spPr>
        <p:txBody>
          <a:bodyPr vert="horz" wrap="square" lIns="0" tIns="100965" rIns="0" bIns="0" rtlCol="0">
            <a:spAutoFit/>
          </a:bodyPr>
          <a:lstStyle/>
          <a:p>
            <a:pPr marL="332740" marR="8890" indent="-320040" algn="just">
              <a:lnSpc>
                <a:spcPts val="2880"/>
              </a:lnSpc>
              <a:spcBef>
                <a:spcPts val="795"/>
              </a:spcBef>
              <a:buClr>
                <a:srgbClr val="DD8046"/>
              </a:buClr>
              <a:buSzPct val="60000"/>
              <a:buFont typeface="Wingdings"/>
              <a:buChar char=""/>
              <a:tabLst>
                <a:tab pos="332740" algn="l"/>
              </a:tabLst>
            </a:pPr>
            <a:r>
              <a:rPr sz="3000" dirty="0">
                <a:latin typeface="Times New Roman"/>
                <a:cs typeface="Times New Roman"/>
              </a:rPr>
              <a:t>The keyword </a:t>
            </a:r>
            <a:r>
              <a:rPr sz="3000" b="1" spc="-5" dirty="0">
                <a:solidFill>
                  <a:srgbClr val="FF0000"/>
                </a:solidFill>
                <a:latin typeface="Times New Roman"/>
                <a:cs typeface="Times New Roman"/>
              </a:rPr>
              <a:t>'public</a:t>
            </a:r>
            <a:r>
              <a:rPr sz="3000" spc="-5" dirty="0">
                <a:solidFill>
                  <a:srgbClr val="FF0000"/>
                </a:solidFill>
                <a:latin typeface="Times New Roman"/>
                <a:cs typeface="Times New Roman"/>
              </a:rPr>
              <a:t>' </a:t>
            </a:r>
            <a:r>
              <a:rPr sz="3000" dirty="0">
                <a:latin typeface="Times New Roman"/>
                <a:cs typeface="Times New Roman"/>
              </a:rPr>
              <a:t>says that,</a:t>
            </a:r>
            <a:r>
              <a:rPr lang="en-US" sz="3000" dirty="0">
                <a:latin typeface="Times New Roman"/>
                <a:cs typeface="Times New Roman"/>
              </a:rPr>
              <a:t> It is used to specify that the function has no restriction on being used anywhere throughout system</a:t>
            </a:r>
            <a:r>
              <a:rPr lang="en-US" sz="3000" dirty="0" smtClean="0">
                <a:latin typeface="Times New Roman"/>
                <a:cs typeface="Times New Roman"/>
              </a:rPr>
              <a:t>.</a:t>
            </a:r>
          </a:p>
          <a:p>
            <a:pPr marL="332740" marR="8890" indent="-320040" algn="just">
              <a:lnSpc>
                <a:spcPts val="2880"/>
              </a:lnSpc>
              <a:spcBef>
                <a:spcPts val="795"/>
              </a:spcBef>
              <a:buClr>
                <a:srgbClr val="DD8046"/>
              </a:buClr>
              <a:buSzPct val="60000"/>
              <a:buFont typeface="Wingdings"/>
              <a:buChar char=""/>
              <a:tabLst>
                <a:tab pos="332740" algn="l"/>
              </a:tabLst>
            </a:pPr>
            <a:endParaRPr lang="en-US" sz="3000" dirty="0">
              <a:latin typeface="Times New Roman"/>
              <a:cs typeface="Times New Roman"/>
            </a:endParaRPr>
          </a:p>
          <a:p>
            <a:pPr marL="332740" marR="8890" indent="-320040" algn="just">
              <a:lnSpc>
                <a:spcPts val="2880"/>
              </a:lnSpc>
              <a:spcBef>
                <a:spcPts val="795"/>
              </a:spcBef>
              <a:buClr>
                <a:srgbClr val="DD8046"/>
              </a:buClr>
              <a:buSzPct val="60000"/>
              <a:buFont typeface="Wingdings"/>
              <a:buChar char=""/>
              <a:tabLst>
                <a:tab pos="332740" algn="l"/>
              </a:tabLst>
            </a:pPr>
            <a:r>
              <a:rPr lang="en-US" sz="3000" dirty="0">
                <a:latin typeface="Times New Roman"/>
                <a:cs typeface="Times New Roman"/>
              </a:rPr>
              <a:t> The </a:t>
            </a:r>
            <a:r>
              <a:rPr sz="3000" b="1" dirty="0">
                <a:solidFill>
                  <a:srgbClr val="FF0000"/>
                </a:solidFill>
                <a:latin typeface="Times New Roman"/>
                <a:cs typeface="Times New Roman"/>
              </a:rPr>
              <a:t>main( ) </a:t>
            </a:r>
            <a:r>
              <a:rPr sz="3000" spc="-5" dirty="0">
                <a:latin typeface="Times New Roman"/>
                <a:cs typeface="Times New Roman"/>
              </a:rPr>
              <a:t>can be </a:t>
            </a:r>
            <a:r>
              <a:rPr sz="3000" dirty="0">
                <a:latin typeface="Times New Roman"/>
                <a:cs typeface="Times New Roman"/>
              </a:rPr>
              <a:t> </a:t>
            </a:r>
            <a:r>
              <a:rPr sz="3000" spc="-5" dirty="0">
                <a:latin typeface="Times New Roman"/>
                <a:cs typeface="Times New Roman"/>
              </a:rPr>
              <a:t>accessed</a:t>
            </a:r>
            <a:r>
              <a:rPr sz="3000" spc="25" dirty="0">
                <a:latin typeface="Times New Roman"/>
                <a:cs typeface="Times New Roman"/>
              </a:rPr>
              <a:t> </a:t>
            </a:r>
            <a:r>
              <a:rPr sz="3000" spc="5" dirty="0">
                <a:latin typeface="Times New Roman"/>
                <a:cs typeface="Times New Roman"/>
              </a:rPr>
              <a:t> </a:t>
            </a:r>
            <a:r>
              <a:rPr sz="3000" spc="-5" dirty="0">
                <a:latin typeface="Times New Roman"/>
                <a:cs typeface="Times New Roman"/>
              </a:rPr>
              <a:t>outside</a:t>
            </a:r>
            <a:r>
              <a:rPr sz="3000" spc="10" dirty="0">
                <a:latin typeface="Times New Roman"/>
                <a:cs typeface="Times New Roman"/>
              </a:rPr>
              <a:t> </a:t>
            </a:r>
            <a:r>
              <a:rPr sz="3000" spc="-5" dirty="0">
                <a:latin typeface="Times New Roman"/>
                <a:cs typeface="Times New Roman"/>
              </a:rPr>
              <a:t>the</a:t>
            </a:r>
            <a:r>
              <a:rPr sz="3000" spc="10" dirty="0">
                <a:latin typeface="Times New Roman"/>
                <a:cs typeface="Times New Roman"/>
              </a:rPr>
              <a:t> </a:t>
            </a:r>
            <a:r>
              <a:rPr sz="3000" spc="-5" dirty="0">
                <a:latin typeface="Times New Roman"/>
                <a:cs typeface="Times New Roman"/>
              </a:rPr>
              <a:t>defining</a:t>
            </a:r>
            <a:r>
              <a:rPr sz="3000" spc="25" dirty="0">
                <a:latin typeface="Times New Roman"/>
                <a:cs typeface="Times New Roman"/>
              </a:rPr>
              <a:t> </a:t>
            </a:r>
            <a:r>
              <a:rPr sz="3000" spc="-5" dirty="0">
                <a:latin typeface="Times New Roman"/>
                <a:cs typeface="Times New Roman"/>
              </a:rPr>
              <a:t>class</a:t>
            </a:r>
            <a:r>
              <a:rPr sz="3000" spc="-5" dirty="0" smtClean="0">
                <a:latin typeface="Times New Roman"/>
                <a:cs typeface="Times New Roman"/>
              </a:rPr>
              <a:t>.</a:t>
            </a:r>
            <a:endParaRPr lang="en-US" sz="3000" spc="-5" dirty="0" smtClean="0">
              <a:latin typeface="Times New Roman"/>
              <a:cs typeface="Times New Roman"/>
            </a:endParaRPr>
          </a:p>
          <a:p>
            <a:pPr marL="332740" marR="8890" indent="-320040" algn="just">
              <a:lnSpc>
                <a:spcPts val="2880"/>
              </a:lnSpc>
              <a:spcBef>
                <a:spcPts val="795"/>
              </a:spcBef>
              <a:buClr>
                <a:srgbClr val="DD8046"/>
              </a:buClr>
              <a:buSzPct val="60000"/>
              <a:buFont typeface="Wingdings"/>
              <a:buChar char=""/>
              <a:tabLst>
                <a:tab pos="332740" algn="l"/>
              </a:tabLst>
            </a:pPr>
            <a:endParaRPr sz="3000" dirty="0">
              <a:latin typeface="Times New Roman"/>
              <a:cs typeface="Times New Roman"/>
            </a:endParaRPr>
          </a:p>
          <a:p>
            <a:pPr marL="332740" marR="6985" indent="-320040" algn="just">
              <a:lnSpc>
                <a:spcPts val="2880"/>
              </a:lnSpc>
              <a:spcBef>
                <a:spcPts val="715"/>
              </a:spcBef>
              <a:buClr>
                <a:srgbClr val="DD8046"/>
              </a:buClr>
              <a:buSzPct val="60000"/>
              <a:buFont typeface="Wingdings"/>
              <a:buChar char=""/>
              <a:tabLst>
                <a:tab pos="332740" algn="l"/>
              </a:tabLst>
            </a:pPr>
            <a:r>
              <a:rPr sz="3000" dirty="0">
                <a:latin typeface="Times New Roman"/>
                <a:cs typeface="Times New Roman"/>
              </a:rPr>
              <a:t>The keyword </a:t>
            </a:r>
            <a:r>
              <a:rPr sz="3000" b="1" dirty="0">
                <a:solidFill>
                  <a:srgbClr val="FF0000"/>
                </a:solidFill>
                <a:latin typeface="Times New Roman"/>
                <a:cs typeface="Times New Roman"/>
              </a:rPr>
              <a:t>'static</a:t>
            </a:r>
            <a:r>
              <a:rPr sz="3000" dirty="0">
                <a:solidFill>
                  <a:srgbClr val="FF0000"/>
                </a:solidFill>
                <a:latin typeface="Times New Roman"/>
                <a:cs typeface="Times New Roman"/>
              </a:rPr>
              <a:t>' </a:t>
            </a:r>
            <a:r>
              <a:rPr sz="3000" dirty="0">
                <a:latin typeface="Times New Roman"/>
                <a:cs typeface="Times New Roman"/>
              </a:rPr>
              <a:t>indicates that a function can be </a:t>
            </a:r>
            <a:r>
              <a:rPr sz="3000" spc="5" dirty="0">
                <a:latin typeface="Times New Roman"/>
                <a:cs typeface="Times New Roman"/>
              </a:rPr>
              <a:t> </a:t>
            </a:r>
            <a:r>
              <a:rPr sz="3000" spc="-5" dirty="0">
                <a:latin typeface="Times New Roman"/>
                <a:cs typeface="Times New Roman"/>
              </a:rPr>
              <a:t>accessed</a:t>
            </a:r>
            <a:r>
              <a:rPr sz="3000" spc="25" dirty="0">
                <a:latin typeface="Times New Roman"/>
                <a:cs typeface="Times New Roman"/>
              </a:rPr>
              <a:t> </a:t>
            </a:r>
            <a:r>
              <a:rPr sz="3000" spc="-5" dirty="0">
                <a:latin typeface="Times New Roman"/>
                <a:cs typeface="Times New Roman"/>
              </a:rPr>
              <a:t>without</a:t>
            </a:r>
            <a:r>
              <a:rPr sz="3000" spc="10" dirty="0">
                <a:latin typeface="Times New Roman"/>
                <a:cs typeface="Times New Roman"/>
              </a:rPr>
              <a:t> </a:t>
            </a:r>
            <a:r>
              <a:rPr sz="3000" spc="-5" dirty="0">
                <a:latin typeface="Times New Roman"/>
                <a:cs typeface="Times New Roman"/>
              </a:rPr>
              <a:t>an</a:t>
            </a:r>
            <a:r>
              <a:rPr sz="3000" spc="5" dirty="0">
                <a:latin typeface="Times New Roman"/>
                <a:cs typeface="Times New Roman"/>
              </a:rPr>
              <a:t> </a:t>
            </a:r>
            <a:r>
              <a:rPr sz="3000" spc="-5" dirty="0">
                <a:latin typeface="Times New Roman"/>
                <a:cs typeface="Times New Roman"/>
              </a:rPr>
              <a:t>object.</a:t>
            </a:r>
            <a:r>
              <a:rPr lang="en-US" sz="3200" kern="0" dirty="0">
                <a:solidFill>
                  <a:srgbClr val="000000"/>
                </a:solidFill>
                <a:latin typeface="Calibri" panose="020F0502020204030204" pitchFamily="34" charset="0"/>
              </a:rPr>
              <a:t> </a:t>
            </a:r>
            <a:r>
              <a:rPr lang="en-US" sz="3000" dirty="0">
                <a:latin typeface="Times New Roman"/>
                <a:cs typeface="Times New Roman"/>
              </a:rPr>
              <a:t>just using the class name. JVM call main using the </a:t>
            </a:r>
            <a:r>
              <a:rPr lang="en-US" sz="3000" dirty="0" err="1">
                <a:latin typeface="Times New Roman"/>
                <a:cs typeface="Times New Roman"/>
              </a:rPr>
              <a:t>ClassName.methodName</a:t>
            </a:r>
            <a:r>
              <a:rPr lang="en-US" sz="3000" dirty="0">
                <a:latin typeface="Times New Roman"/>
                <a:cs typeface="Times New Roman"/>
              </a:rPr>
              <a:t>(</a:t>
            </a:r>
            <a:r>
              <a:rPr lang="en-US" sz="3000" dirty="0" err="1">
                <a:latin typeface="Times New Roman"/>
                <a:cs typeface="Times New Roman"/>
              </a:rPr>
              <a:t>Helloworld.main</a:t>
            </a:r>
            <a:r>
              <a:rPr lang="en-US" sz="3000" dirty="0">
                <a:latin typeface="Times New Roman"/>
                <a:cs typeface="Times New Roman"/>
              </a:rPr>
              <a:t>) </a:t>
            </a:r>
            <a:r>
              <a:rPr lang="en-US" sz="3000" dirty="0" smtClean="0">
                <a:latin typeface="Times New Roman"/>
                <a:cs typeface="Times New Roman"/>
              </a:rPr>
              <a:t>notation</a:t>
            </a:r>
            <a:endParaRPr sz="3000" dirty="0">
              <a:latin typeface="Times New Roman"/>
              <a:cs typeface="Times New Roman"/>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26</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587874B-6804-C64A-DD91-DA164B8D6D88}"/>
              </a:ext>
            </a:extLst>
          </p:cNvPr>
          <p:cNvSpPr txBox="1">
            <a:spLocks/>
          </p:cNvSpPr>
          <p:nvPr/>
        </p:nvSpPr>
        <p:spPr>
          <a:xfrm>
            <a:off x="457200" y="1676400"/>
            <a:ext cx="8382001" cy="4662575"/>
          </a:xfrm>
          <a:prstGeom prst="rect">
            <a:avLst/>
          </a:prstGeom>
        </p:spPr>
        <p:txBody>
          <a:bodyPr wrap="square" lIns="0" tIns="0" rIns="0" bIns="0">
            <a:normAutofit lnSpcReduction="10000"/>
          </a:bodyPr>
          <a:lstStyle>
            <a:lvl1pPr marL="0">
              <a:defRPr sz="27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1800" b="1" i="1" kern="0" dirty="0">
              <a:solidFill>
                <a:srgbClr val="000000"/>
              </a:solidFill>
              <a:latin typeface="Calibri" panose="020F0502020204030204" pitchFamily="34" charset="0"/>
            </a:endParaRPr>
          </a:p>
          <a:p>
            <a:pPr marL="332740" marR="6985" indent="-320040" algn="just">
              <a:lnSpc>
                <a:spcPct val="80000"/>
              </a:lnSpc>
              <a:spcBef>
                <a:spcPts val="720"/>
              </a:spcBef>
              <a:buClr>
                <a:srgbClr val="DD8046"/>
              </a:buClr>
              <a:buSzPct val="60000"/>
              <a:buFont typeface="Wingdings"/>
              <a:buChar char=""/>
              <a:tabLst>
                <a:tab pos="332740" algn="l"/>
              </a:tabLst>
            </a:pPr>
            <a:r>
              <a:rPr lang="en-US" sz="3200" dirty="0"/>
              <a:t>The keyword </a:t>
            </a:r>
            <a:r>
              <a:rPr lang="en-US" sz="3200" b="1" spc="-5" dirty="0">
                <a:solidFill>
                  <a:srgbClr val="FF0000"/>
                </a:solidFill>
              </a:rPr>
              <a:t>'void</a:t>
            </a:r>
            <a:r>
              <a:rPr lang="en-US" sz="3200" spc="-5" dirty="0">
                <a:solidFill>
                  <a:srgbClr val="FF0000"/>
                </a:solidFill>
              </a:rPr>
              <a:t>' </a:t>
            </a:r>
            <a:r>
              <a:rPr lang="en-US" sz="3200" dirty="0"/>
              <a:t>indicates that a function does not </a:t>
            </a:r>
            <a:r>
              <a:rPr lang="en-US" sz="3200" spc="-5" dirty="0"/>
              <a:t>return any value.</a:t>
            </a:r>
            <a:endParaRPr lang="en-US" sz="3200" dirty="0"/>
          </a:p>
          <a:p>
            <a:pPr marL="332740" marR="7620" indent="-320040" algn="just">
              <a:lnSpc>
                <a:spcPts val="2880"/>
              </a:lnSpc>
              <a:spcBef>
                <a:spcPts val="670"/>
              </a:spcBef>
              <a:buClr>
                <a:srgbClr val="DD8046"/>
              </a:buClr>
              <a:buSzPct val="60000"/>
              <a:buFont typeface="Wingdings"/>
              <a:buChar char=""/>
              <a:tabLst>
                <a:tab pos="332740" algn="l"/>
              </a:tabLst>
            </a:pPr>
            <a:r>
              <a:rPr lang="en-US" sz="3200" dirty="0"/>
              <a:t>The </a:t>
            </a:r>
            <a:r>
              <a:rPr lang="en-US" sz="3200" b="1" spc="-5" dirty="0">
                <a:solidFill>
                  <a:srgbClr val="FF0000"/>
                </a:solidFill>
              </a:rPr>
              <a:t>'main</a:t>
            </a:r>
            <a:r>
              <a:rPr lang="en-US" sz="3200" spc="-5" dirty="0">
                <a:solidFill>
                  <a:srgbClr val="FF0000"/>
                </a:solidFill>
              </a:rPr>
              <a:t>' </a:t>
            </a:r>
            <a:r>
              <a:rPr lang="en-US" sz="3200" spc="-5" dirty="0"/>
              <a:t>is </a:t>
            </a:r>
            <a:r>
              <a:rPr lang="en-US" sz="3200" dirty="0"/>
              <a:t>the name </a:t>
            </a:r>
            <a:r>
              <a:rPr lang="en-US" sz="3200" spc="-5" dirty="0"/>
              <a:t>of </a:t>
            </a:r>
            <a:r>
              <a:rPr lang="en-US" sz="3200" dirty="0"/>
              <a:t>the function and </a:t>
            </a:r>
            <a:r>
              <a:rPr lang="en-US" sz="3200" spc="5" dirty="0"/>
              <a:t> </a:t>
            </a:r>
            <a:r>
              <a:rPr lang="en-US" sz="3200" spc="-5" dirty="0"/>
              <a:t>entry</a:t>
            </a:r>
            <a:r>
              <a:rPr lang="en-US" sz="3200" spc="15" dirty="0"/>
              <a:t> </a:t>
            </a:r>
            <a:r>
              <a:rPr lang="en-US" sz="3200" dirty="0"/>
              <a:t>point</a:t>
            </a:r>
            <a:r>
              <a:rPr lang="en-US" sz="3200" spc="5" dirty="0"/>
              <a:t> </a:t>
            </a:r>
            <a:r>
              <a:rPr lang="en-US" sz="3200" dirty="0"/>
              <a:t>for a Java</a:t>
            </a:r>
            <a:r>
              <a:rPr lang="en-US" sz="3200" spc="15" dirty="0"/>
              <a:t> </a:t>
            </a:r>
            <a:r>
              <a:rPr lang="en-US" sz="3200" spc="-5" dirty="0"/>
              <a:t>application.</a:t>
            </a:r>
            <a:endParaRPr lang="en-US" sz="3200" dirty="0"/>
          </a:p>
          <a:p>
            <a:pPr algn="just"/>
            <a:endParaRPr lang="en-US" sz="3200" dirty="0" smtClean="0">
              <a:solidFill>
                <a:srgbClr val="FF0000"/>
              </a:solidFill>
            </a:endParaRPr>
          </a:p>
          <a:p>
            <a:pPr algn="just"/>
            <a:r>
              <a:rPr lang="en-US" sz="3200" dirty="0" smtClean="0">
                <a:solidFill>
                  <a:srgbClr val="FF0000"/>
                </a:solidFill>
              </a:rPr>
              <a:t>String </a:t>
            </a:r>
            <a:r>
              <a:rPr lang="en-US" sz="3200" dirty="0" err="1">
                <a:solidFill>
                  <a:srgbClr val="FF0000"/>
                </a:solidFill>
              </a:rPr>
              <a:t>args</a:t>
            </a:r>
            <a:r>
              <a:rPr lang="en-US" sz="3200" dirty="0">
                <a:solidFill>
                  <a:srgbClr val="FF0000"/>
                </a:solidFill>
              </a:rPr>
              <a:t> [ ] </a:t>
            </a:r>
            <a:r>
              <a:rPr lang="en-US" sz="3200" dirty="0"/>
              <a:t>declares a parameter named </a:t>
            </a:r>
            <a:r>
              <a:rPr lang="en-US" sz="3200" dirty="0" err="1"/>
              <a:t>args</a:t>
            </a:r>
            <a:r>
              <a:rPr lang="en-US" sz="3200" dirty="0"/>
              <a:t>,  which is an array of the class String. Objects of type  String store character strings. </a:t>
            </a:r>
            <a:r>
              <a:rPr lang="en-US" sz="3200" dirty="0" err="1"/>
              <a:t>args</a:t>
            </a:r>
            <a:r>
              <a:rPr lang="en-US" sz="3200" dirty="0"/>
              <a:t> receives any  command-line arguments present when the program is executed.</a:t>
            </a:r>
          </a:p>
          <a:p>
            <a:pPr algn="just"/>
            <a:endParaRPr lang="en-US" sz="1800" b="1" i="1" kern="0" dirty="0">
              <a:solidFill>
                <a:srgbClr val="000000"/>
              </a:solidFill>
              <a:latin typeface="Calibri" panose="020F0502020204030204" pitchFamily="34" charset="0"/>
            </a:endParaRPr>
          </a:p>
          <a:p>
            <a:pPr algn="just"/>
            <a:endParaRPr lang="en-US" sz="1800" b="1" i="1" kern="0" dirty="0">
              <a:solidFill>
                <a:srgbClr val="000000"/>
              </a:solidFill>
              <a:latin typeface="Calibri" panose="020F0502020204030204" pitchFamily="34" charset="0"/>
            </a:endParaRPr>
          </a:p>
          <a:p>
            <a:pPr algn="just"/>
            <a:endParaRPr lang="en-US" sz="1800" b="1" i="1" kern="0" dirty="0">
              <a:solidFill>
                <a:srgbClr val="000000"/>
              </a:solidFill>
              <a:latin typeface="Calibri" panose="020F0502020204030204" pitchFamily="34" charset="0"/>
            </a:endParaRPr>
          </a:p>
          <a:p>
            <a:pPr algn="just"/>
            <a:endParaRPr lang="en-US" sz="1800" b="1" i="1" kern="0" dirty="0">
              <a:solidFill>
                <a:srgbClr val="000000"/>
              </a:solidFill>
              <a:latin typeface="Calibri" panose="020F0502020204030204" pitchFamily="34" charset="0"/>
            </a:endParaRPr>
          </a:p>
          <a:p>
            <a:pPr algn="just"/>
            <a:endParaRPr lang="en-US" sz="1800" b="1" i="1" kern="0" dirty="0">
              <a:solidFill>
                <a:srgbClr val="000000"/>
              </a:solidFill>
              <a:latin typeface="Calibri" panose="020F0502020204030204" pitchFamily="34" charset="0"/>
            </a:endParaRPr>
          </a:p>
          <a:p>
            <a:pPr algn="just"/>
            <a:endParaRPr lang="en-US" sz="1800" b="1" i="1" kern="0" dirty="0">
              <a:solidFill>
                <a:srgbClr val="000000"/>
              </a:solidFill>
              <a:latin typeface="Calibri" panose="020F0502020204030204" pitchFamily="34" charset="0"/>
            </a:endParaRPr>
          </a:p>
          <a:p>
            <a:pPr algn="just"/>
            <a:endParaRPr lang="en-IN" sz="2100" kern="0" dirty="0"/>
          </a:p>
        </p:txBody>
      </p:sp>
    </p:spTree>
    <p:extLst>
      <p:ext uri="{BB962C8B-B14F-4D97-AF65-F5344CB8AC3E}">
        <p14:creationId xmlns:p14="http://schemas.microsoft.com/office/powerpoint/2010/main" val="11102007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88F348-E59A-A2A0-73EC-7D3405CEFFFF}"/>
              </a:ext>
            </a:extLst>
          </p:cNvPr>
          <p:cNvSpPr txBox="1"/>
          <p:nvPr/>
        </p:nvSpPr>
        <p:spPr>
          <a:xfrm>
            <a:off x="609600" y="1524000"/>
            <a:ext cx="7467600" cy="4154984"/>
          </a:xfrm>
          <a:prstGeom prst="rect">
            <a:avLst/>
          </a:prstGeom>
          <a:noFill/>
        </p:spPr>
        <p:txBody>
          <a:bodyPr wrap="square">
            <a:spAutoFit/>
          </a:bodyPr>
          <a:lstStyle/>
          <a:p>
            <a:r>
              <a:rPr lang="en-IN" sz="2400" b="1" i="1" dirty="0">
                <a:solidFill>
                  <a:srgbClr val="000000"/>
                </a:solidFill>
                <a:latin typeface="Calibri" panose="020F0502020204030204" pitchFamily="34" charset="0"/>
              </a:rPr>
              <a:t>System.out.println()</a:t>
            </a:r>
            <a:endParaRPr lang="en-IN" sz="2400" dirty="0">
              <a:solidFill>
                <a:srgbClr val="000000"/>
              </a:solidFill>
              <a:latin typeface="Calibri" panose="020F0502020204030204" pitchFamily="34" charset="0"/>
            </a:endParaRPr>
          </a:p>
          <a:p>
            <a:pPr lvl="1"/>
            <a:r>
              <a:rPr lang="en-US" sz="2400" dirty="0">
                <a:solidFill>
                  <a:srgbClr val="000000"/>
                </a:solidFill>
                <a:latin typeface="Calibri" panose="020F0502020204030204" pitchFamily="34" charset="0"/>
              </a:rPr>
              <a:t>Used to print a line of text followed by a new line.</a:t>
            </a:r>
          </a:p>
          <a:p>
            <a:pPr lvl="1"/>
            <a:endParaRPr lang="en-US" sz="2400" dirty="0">
              <a:solidFill>
                <a:srgbClr val="000000"/>
              </a:solidFill>
              <a:latin typeface="Calibri" panose="020F0502020204030204" pitchFamily="34" charset="0"/>
            </a:endParaRPr>
          </a:p>
          <a:p>
            <a:pPr lvl="1"/>
            <a:r>
              <a:rPr lang="en-US" sz="2400" b="1" dirty="0">
                <a:solidFill>
                  <a:srgbClr val="000000"/>
                </a:solidFill>
                <a:latin typeface="Calibri" panose="020F0502020204030204" pitchFamily="34" charset="0"/>
              </a:rPr>
              <a:t>System – </a:t>
            </a:r>
            <a:r>
              <a:rPr lang="en-US" sz="2400" dirty="0">
                <a:solidFill>
                  <a:srgbClr val="000000"/>
                </a:solidFill>
                <a:latin typeface="Calibri" panose="020F0502020204030204" pitchFamily="34" charset="0"/>
              </a:rPr>
              <a:t>is a final class in </a:t>
            </a:r>
            <a:r>
              <a:rPr lang="en-US" sz="2400" b="1" dirty="0" err="1">
                <a:solidFill>
                  <a:srgbClr val="000000"/>
                </a:solidFill>
                <a:latin typeface="Calibri" panose="020F0502020204030204" pitchFamily="34" charset="0"/>
              </a:rPr>
              <a:t>java.lang</a:t>
            </a:r>
            <a:r>
              <a:rPr lang="en-US" sz="2400" b="1" dirty="0">
                <a:solidFill>
                  <a:srgbClr val="000000"/>
                </a:solidFill>
                <a:latin typeface="Calibri" panose="020F0502020204030204" pitchFamily="34" charset="0"/>
              </a:rPr>
              <a:t> </a:t>
            </a:r>
            <a:r>
              <a:rPr lang="en-US" sz="2400" dirty="0">
                <a:solidFill>
                  <a:srgbClr val="000000"/>
                </a:solidFill>
                <a:latin typeface="Calibri" panose="020F0502020204030204" pitchFamily="34" charset="0"/>
              </a:rPr>
              <a:t>package</a:t>
            </a:r>
            <a:r>
              <a:rPr lang="en-US" sz="2400" b="1" dirty="0">
                <a:solidFill>
                  <a:srgbClr val="000000"/>
                </a:solidFill>
                <a:latin typeface="Calibri" panose="020F0502020204030204" pitchFamily="34" charset="0"/>
              </a:rPr>
              <a:t>. </a:t>
            </a:r>
          </a:p>
          <a:p>
            <a:pPr lvl="1"/>
            <a:r>
              <a:rPr lang="en-US" sz="2400" b="1" dirty="0">
                <a:solidFill>
                  <a:srgbClr val="000000"/>
                </a:solidFill>
                <a:latin typeface="Calibri" panose="020F0502020204030204" pitchFamily="34" charset="0"/>
              </a:rPr>
              <a:t>out – </a:t>
            </a:r>
            <a:r>
              <a:rPr lang="en-US" sz="2400" dirty="0">
                <a:solidFill>
                  <a:srgbClr val="000000"/>
                </a:solidFill>
                <a:latin typeface="Calibri" panose="020F0502020204030204" pitchFamily="34" charset="0"/>
              </a:rPr>
              <a:t>is a static member field of </a:t>
            </a:r>
            <a:r>
              <a:rPr lang="en-US" sz="2400" b="1" dirty="0">
                <a:solidFill>
                  <a:srgbClr val="000000"/>
                </a:solidFill>
                <a:latin typeface="Calibri" panose="020F0502020204030204" pitchFamily="34" charset="0"/>
              </a:rPr>
              <a:t>System</a:t>
            </a:r>
            <a:r>
              <a:rPr lang="en-US" sz="2400" dirty="0">
                <a:solidFill>
                  <a:srgbClr val="000000"/>
                </a:solidFill>
                <a:latin typeface="Calibri" panose="020F0502020204030204" pitchFamily="34" charset="0"/>
              </a:rPr>
              <a:t> class and is of type</a:t>
            </a:r>
            <a:r>
              <a:rPr lang="en-US" sz="2400" b="1" dirty="0">
                <a:solidFill>
                  <a:srgbClr val="000000"/>
                </a:solidFill>
                <a:latin typeface="Calibri" panose="020F0502020204030204" pitchFamily="34" charset="0"/>
              </a:rPr>
              <a:t> </a:t>
            </a:r>
            <a:r>
              <a:rPr lang="en-US" sz="2400" b="1" dirty="0" err="1">
                <a:solidFill>
                  <a:srgbClr val="000000"/>
                </a:solidFill>
                <a:latin typeface="Calibri" panose="020F0502020204030204" pitchFamily="34" charset="0"/>
              </a:rPr>
              <a:t>PrintStream</a:t>
            </a:r>
            <a:r>
              <a:rPr lang="en-US" sz="2400" b="1" dirty="0">
                <a:solidFill>
                  <a:srgbClr val="000000"/>
                </a:solidFill>
                <a:latin typeface="Calibri" panose="020F0502020204030204" pitchFamily="34" charset="0"/>
              </a:rPr>
              <a:t>.</a:t>
            </a:r>
          </a:p>
          <a:p>
            <a:pPr lvl="1"/>
            <a:r>
              <a:rPr lang="en-US" sz="2400" b="1" dirty="0">
                <a:solidFill>
                  <a:srgbClr val="000000"/>
                </a:solidFill>
                <a:latin typeface="Calibri" panose="020F0502020204030204" pitchFamily="34" charset="0"/>
              </a:rPr>
              <a:t>out </a:t>
            </a:r>
            <a:r>
              <a:rPr lang="en-US" sz="2400" dirty="0">
                <a:solidFill>
                  <a:srgbClr val="000000"/>
                </a:solidFill>
                <a:latin typeface="Calibri" panose="020F0502020204030204" pitchFamily="34" charset="0"/>
              </a:rPr>
              <a:t>is a public static member of class System.</a:t>
            </a:r>
          </a:p>
          <a:p>
            <a:pPr lvl="1"/>
            <a:r>
              <a:rPr lang="en-US" sz="2400" b="1" dirty="0">
                <a:solidFill>
                  <a:srgbClr val="000000"/>
                </a:solidFill>
                <a:latin typeface="Calibri" panose="020F0502020204030204" pitchFamily="34" charset="0"/>
              </a:rPr>
              <a:t>out </a:t>
            </a:r>
            <a:r>
              <a:rPr lang="en-US" sz="2400" dirty="0">
                <a:solidFill>
                  <a:srgbClr val="000000"/>
                </a:solidFill>
                <a:latin typeface="Calibri" panose="020F0502020204030204" pitchFamily="34" charset="0"/>
              </a:rPr>
              <a:t>represents the standard output (similar to </a:t>
            </a:r>
            <a:r>
              <a:rPr lang="en-US" sz="2400" dirty="0" err="1">
                <a:solidFill>
                  <a:srgbClr val="000000"/>
                </a:solidFill>
                <a:latin typeface="Calibri" panose="020F0502020204030204" pitchFamily="34" charset="0"/>
              </a:rPr>
              <a:t>stdout</a:t>
            </a:r>
            <a:r>
              <a:rPr lang="en-US" sz="2400" dirty="0">
                <a:solidFill>
                  <a:srgbClr val="000000"/>
                </a:solidFill>
                <a:latin typeface="Calibri" panose="020F0502020204030204" pitchFamily="34" charset="0"/>
              </a:rPr>
              <a:t> or </a:t>
            </a:r>
            <a:r>
              <a:rPr lang="en-US" sz="2400" dirty="0" err="1">
                <a:solidFill>
                  <a:srgbClr val="000000"/>
                </a:solidFill>
                <a:latin typeface="Calibri" panose="020F0502020204030204" pitchFamily="34" charset="0"/>
              </a:rPr>
              <a:t>cout</a:t>
            </a:r>
            <a:r>
              <a:rPr lang="en-US" sz="2400" dirty="0">
                <a:solidFill>
                  <a:srgbClr val="000000"/>
                </a:solidFill>
                <a:latin typeface="Calibri" panose="020F0502020204030204" pitchFamily="34" charset="0"/>
              </a:rPr>
              <a:t>)</a:t>
            </a:r>
          </a:p>
          <a:p>
            <a:pPr lvl="1"/>
            <a:r>
              <a:rPr lang="en-US" sz="2400" b="1" dirty="0" err="1">
                <a:solidFill>
                  <a:srgbClr val="000000"/>
                </a:solidFill>
                <a:latin typeface="Calibri" panose="020F0502020204030204" pitchFamily="34" charset="0"/>
              </a:rPr>
              <a:t>println</a:t>
            </a:r>
            <a:r>
              <a:rPr lang="en-US" sz="2400" b="1" dirty="0">
                <a:solidFill>
                  <a:srgbClr val="000000"/>
                </a:solidFill>
                <a:latin typeface="Calibri" panose="020F0502020204030204" pitchFamily="34" charset="0"/>
              </a:rPr>
              <a:t> </a:t>
            </a:r>
            <a:r>
              <a:rPr lang="en-US" sz="2400" dirty="0">
                <a:solidFill>
                  <a:srgbClr val="000000"/>
                </a:solidFill>
                <a:latin typeface="Calibri" panose="020F0502020204030204" pitchFamily="34" charset="0"/>
              </a:rPr>
              <a:t>is a public method of the class of which </a:t>
            </a:r>
            <a:r>
              <a:rPr lang="en-US" sz="2400" b="1" dirty="0">
                <a:solidFill>
                  <a:srgbClr val="000000"/>
                </a:solidFill>
                <a:latin typeface="Calibri" panose="020F0502020204030204" pitchFamily="34" charset="0"/>
              </a:rPr>
              <a:t>out</a:t>
            </a:r>
            <a:r>
              <a:rPr lang="en-US" sz="2400" dirty="0">
                <a:solidFill>
                  <a:srgbClr val="000000"/>
                </a:solidFill>
                <a:latin typeface="Calibri" panose="020F0502020204030204" pitchFamily="34" charset="0"/>
              </a:rPr>
              <a:t> is an object.</a:t>
            </a:r>
          </a:p>
        </p:txBody>
      </p:sp>
    </p:spTree>
    <p:extLst>
      <p:ext uri="{BB962C8B-B14F-4D97-AF65-F5344CB8AC3E}">
        <p14:creationId xmlns:p14="http://schemas.microsoft.com/office/powerpoint/2010/main" val="25601349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653E6B2-EAFB-1F97-5F33-91D6A138EC0B}"/>
              </a:ext>
            </a:extLst>
          </p:cNvPr>
          <p:cNvSpPr txBox="1">
            <a:spLocks/>
          </p:cNvSpPr>
          <p:nvPr/>
        </p:nvSpPr>
        <p:spPr>
          <a:xfrm>
            <a:off x="609600" y="2015733"/>
            <a:ext cx="7681541" cy="3450613"/>
          </a:xfrm>
          <a:prstGeom prst="rect">
            <a:avLst/>
          </a:prstGeom>
        </p:spPr>
        <p:txBody>
          <a:bodyPr wrap="square" lIns="0" tIns="0" rIns="0" bIns="0">
            <a:normAutofit lnSpcReduction="10000"/>
          </a:bodyPr>
          <a:lstStyle>
            <a:lvl1pPr marL="0">
              <a:defRPr sz="27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kern="0" dirty="0" err="1">
                <a:solidFill>
                  <a:srgbClr val="000000"/>
                </a:solidFill>
                <a:latin typeface="Calibri" panose="020F0502020204030204" pitchFamily="34" charset="0"/>
              </a:rPr>
              <a:t>System.out.print</a:t>
            </a:r>
            <a:r>
              <a:rPr lang="en-US" b="1" kern="0" dirty="0">
                <a:solidFill>
                  <a:srgbClr val="000000"/>
                </a:solidFill>
                <a:latin typeface="Calibri" panose="020F0502020204030204" pitchFamily="34" charset="0"/>
              </a:rPr>
              <a:t>() </a:t>
            </a:r>
            <a:r>
              <a:rPr lang="en-US" kern="0" dirty="0">
                <a:solidFill>
                  <a:srgbClr val="000000"/>
                </a:solidFill>
                <a:latin typeface="Calibri" panose="020F0502020204030204" pitchFamily="34" charset="0"/>
              </a:rPr>
              <a:t>is similar to </a:t>
            </a:r>
            <a:r>
              <a:rPr lang="en-US" b="1" kern="0" dirty="0" err="1">
                <a:solidFill>
                  <a:srgbClr val="000000"/>
                </a:solidFill>
                <a:latin typeface="Calibri" panose="020F0502020204030204" pitchFamily="34" charset="0"/>
              </a:rPr>
              <a:t>System.out.println</a:t>
            </a:r>
            <a:r>
              <a:rPr lang="en-US" b="1" kern="0" dirty="0">
                <a:solidFill>
                  <a:srgbClr val="000000"/>
                </a:solidFill>
                <a:latin typeface="Calibri" panose="020F0502020204030204" pitchFamily="34" charset="0"/>
              </a:rPr>
              <a:t>()</a:t>
            </a:r>
            <a:r>
              <a:rPr lang="en-US" kern="0" dirty="0">
                <a:solidFill>
                  <a:srgbClr val="000000"/>
                </a:solidFill>
                <a:latin typeface="Calibri" panose="020F0502020204030204" pitchFamily="34" charset="0"/>
              </a:rPr>
              <a:t>, but does not print a new line automatically.</a:t>
            </a:r>
          </a:p>
          <a:p>
            <a:r>
              <a:rPr lang="en-US" b="1" kern="0" dirty="0" err="1">
                <a:solidFill>
                  <a:srgbClr val="000000"/>
                </a:solidFill>
                <a:latin typeface="Calibri" panose="020F0502020204030204" pitchFamily="34" charset="0"/>
              </a:rPr>
              <a:t>System.out.printf</a:t>
            </a:r>
            <a:r>
              <a:rPr lang="en-US" b="1" kern="0" dirty="0">
                <a:solidFill>
                  <a:srgbClr val="000000"/>
                </a:solidFill>
                <a:latin typeface="Calibri" panose="020F0502020204030204" pitchFamily="34" charset="0"/>
              </a:rPr>
              <a:t>() </a:t>
            </a:r>
            <a:r>
              <a:rPr lang="en-US" kern="0" dirty="0">
                <a:solidFill>
                  <a:srgbClr val="000000"/>
                </a:solidFill>
                <a:latin typeface="Calibri" panose="020F0502020204030204" pitchFamily="34" charset="0"/>
              </a:rPr>
              <a:t>is used to print formatted output like </a:t>
            </a:r>
            <a:r>
              <a:rPr lang="en-US" kern="0" dirty="0" err="1">
                <a:solidFill>
                  <a:srgbClr val="000000"/>
                </a:solidFill>
                <a:latin typeface="Calibri" panose="020F0502020204030204" pitchFamily="34" charset="0"/>
              </a:rPr>
              <a:t>printf</a:t>
            </a:r>
            <a:r>
              <a:rPr lang="en-US" kern="0" dirty="0">
                <a:solidFill>
                  <a:srgbClr val="000000"/>
                </a:solidFill>
                <a:latin typeface="Calibri" panose="020F0502020204030204" pitchFamily="34" charset="0"/>
              </a:rPr>
              <a:t>() in C</a:t>
            </a:r>
          </a:p>
          <a:p>
            <a:r>
              <a:rPr lang="en-US" kern="0" dirty="0">
                <a:solidFill>
                  <a:srgbClr val="000000"/>
                </a:solidFill>
                <a:latin typeface="Calibri" panose="020F0502020204030204" pitchFamily="34" charset="0"/>
              </a:rPr>
              <a:t>In  Java, characters enclosed by double quotes ("") represents a String object, where String is a class of the Java API.</a:t>
            </a:r>
          </a:p>
          <a:p>
            <a:r>
              <a:rPr lang="en-US" kern="0" dirty="0">
                <a:solidFill>
                  <a:srgbClr val="000000"/>
                </a:solidFill>
                <a:latin typeface="Calibri" panose="020F0502020204030204" pitchFamily="34" charset="0"/>
              </a:rPr>
              <a:t>We can use the plus operator (+) to concatenate multiple String objects and create a new String object </a:t>
            </a:r>
            <a:endParaRPr lang="en-IN" kern="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8598664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3676" y="396316"/>
            <a:ext cx="6247765" cy="697230"/>
          </a:xfrm>
          <a:prstGeom prst="rect">
            <a:avLst/>
          </a:prstGeom>
        </p:spPr>
        <p:txBody>
          <a:bodyPr vert="horz" wrap="square" lIns="0" tIns="13335" rIns="0" bIns="0" rtlCol="0">
            <a:spAutoFit/>
          </a:bodyPr>
          <a:lstStyle/>
          <a:p>
            <a:pPr marL="12700">
              <a:lnSpc>
                <a:spcPct val="100000"/>
              </a:lnSpc>
              <a:spcBef>
                <a:spcPts val="105"/>
              </a:spcBef>
            </a:pPr>
            <a:r>
              <a:rPr sz="4400" b="1" spc="-50" dirty="0">
                <a:latin typeface="Times New Roman"/>
                <a:cs typeface="Times New Roman"/>
              </a:rPr>
              <a:t>Variants</a:t>
            </a:r>
            <a:r>
              <a:rPr sz="4400" b="1" spc="-30" dirty="0">
                <a:latin typeface="Times New Roman"/>
                <a:cs typeface="Times New Roman"/>
              </a:rPr>
              <a:t> </a:t>
            </a:r>
            <a:r>
              <a:rPr sz="4400" b="1" dirty="0">
                <a:latin typeface="Times New Roman"/>
                <a:cs typeface="Times New Roman"/>
              </a:rPr>
              <a:t>of</a:t>
            </a:r>
            <a:r>
              <a:rPr sz="4400" b="1" spc="-35" dirty="0">
                <a:latin typeface="Times New Roman"/>
                <a:cs typeface="Times New Roman"/>
              </a:rPr>
              <a:t> </a:t>
            </a:r>
            <a:r>
              <a:rPr sz="4400" b="1" dirty="0">
                <a:latin typeface="Times New Roman"/>
                <a:cs typeface="Times New Roman"/>
              </a:rPr>
              <a:t>main()</a:t>
            </a:r>
            <a:r>
              <a:rPr sz="4400" b="1" spc="-10" dirty="0">
                <a:latin typeface="Times New Roman"/>
                <a:cs typeface="Times New Roman"/>
              </a:rPr>
              <a:t> in </a:t>
            </a:r>
            <a:r>
              <a:rPr sz="4400" b="1" dirty="0">
                <a:latin typeface="Times New Roman"/>
                <a:cs typeface="Times New Roman"/>
              </a:rPr>
              <a:t>Java</a:t>
            </a:r>
            <a:endParaRPr sz="4400">
              <a:latin typeface="Times New Roman"/>
              <a:cs typeface="Times New Roman"/>
            </a:endParaRPr>
          </a:p>
        </p:txBody>
      </p:sp>
      <p:sp>
        <p:nvSpPr>
          <p:cNvPr id="3" name="object 3"/>
          <p:cNvSpPr txBox="1"/>
          <p:nvPr/>
        </p:nvSpPr>
        <p:spPr>
          <a:xfrm>
            <a:off x="231140" y="1467285"/>
            <a:ext cx="8028940" cy="4247515"/>
          </a:xfrm>
          <a:prstGeom prst="rect">
            <a:avLst/>
          </a:prstGeom>
        </p:spPr>
        <p:txBody>
          <a:bodyPr vert="horz" wrap="square" lIns="0" tIns="89535" rIns="0" bIns="0" rtlCol="0">
            <a:spAutoFit/>
          </a:bodyPr>
          <a:lstStyle/>
          <a:p>
            <a:pPr marL="332740" indent="-320040">
              <a:lnSpc>
                <a:spcPct val="100000"/>
              </a:lnSpc>
              <a:spcBef>
                <a:spcPts val="705"/>
              </a:spcBef>
              <a:buClr>
                <a:srgbClr val="DD8046"/>
              </a:buClr>
              <a:buSzPct val="59375"/>
              <a:buFont typeface="Wingdings"/>
              <a:buChar char=""/>
              <a:tabLst>
                <a:tab pos="332740" algn="l"/>
              </a:tabLst>
            </a:pPr>
            <a:r>
              <a:rPr sz="3200" dirty="0">
                <a:latin typeface="Times New Roman"/>
                <a:cs typeface="Times New Roman"/>
              </a:rPr>
              <a:t>Default:</a:t>
            </a:r>
            <a:endParaRPr sz="3200">
              <a:latin typeface="Times New Roman"/>
              <a:cs typeface="Times New Roman"/>
            </a:endParaRPr>
          </a:p>
          <a:p>
            <a:pPr marL="378460">
              <a:lnSpc>
                <a:spcPct val="100000"/>
              </a:lnSpc>
              <a:spcBef>
                <a:spcPts val="600"/>
              </a:spcBef>
            </a:pPr>
            <a:r>
              <a:rPr sz="2250" spc="10" dirty="0">
                <a:solidFill>
                  <a:srgbClr val="93B6D2"/>
                </a:solidFill>
                <a:latin typeface="Microsoft Sans Serif"/>
                <a:cs typeface="Microsoft Sans Serif"/>
              </a:rPr>
              <a:t>🞑</a:t>
            </a:r>
            <a:r>
              <a:rPr sz="3200" b="1" spc="10" dirty="0">
                <a:solidFill>
                  <a:srgbClr val="FF0000"/>
                </a:solidFill>
                <a:latin typeface="Times New Roman"/>
                <a:cs typeface="Times New Roman"/>
              </a:rPr>
              <a:t>public</a:t>
            </a:r>
            <a:r>
              <a:rPr sz="3200" b="1" spc="-10" dirty="0">
                <a:solidFill>
                  <a:srgbClr val="FF0000"/>
                </a:solidFill>
                <a:latin typeface="Times New Roman"/>
                <a:cs typeface="Times New Roman"/>
              </a:rPr>
              <a:t> </a:t>
            </a:r>
            <a:r>
              <a:rPr sz="3200" b="1" dirty="0">
                <a:solidFill>
                  <a:srgbClr val="FF0000"/>
                </a:solidFill>
                <a:latin typeface="Times New Roman"/>
                <a:cs typeface="Times New Roman"/>
              </a:rPr>
              <a:t>static</a:t>
            </a:r>
            <a:r>
              <a:rPr sz="3200" b="1" spc="-25" dirty="0">
                <a:solidFill>
                  <a:srgbClr val="FF0000"/>
                </a:solidFill>
                <a:latin typeface="Times New Roman"/>
                <a:cs typeface="Times New Roman"/>
              </a:rPr>
              <a:t> </a:t>
            </a:r>
            <a:r>
              <a:rPr sz="3200" b="1" dirty="0">
                <a:solidFill>
                  <a:srgbClr val="FF0000"/>
                </a:solidFill>
                <a:latin typeface="Times New Roman"/>
                <a:cs typeface="Times New Roman"/>
              </a:rPr>
              <a:t>void</a:t>
            </a:r>
            <a:r>
              <a:rPr sz="3200" b="1" spc="-40" dirty="0">
                <a:solidFill>
                  <a:srgbClr val="FF0000"/>
                </a:solidFill>
                <a:latin typeface="Times New Roman"/>
                <a:cs typeface="Times New Roman"/>
              </a:rPr>
              <a:t> </a:t>
            </a:r>
            <a:r>
              <a:rPr sz="3200" b="1" dirty="0">
                <a:solidFill>
                  <a:srgbClr val="FF0000"/>
                </a:solidFill>
                <a:latin typeface="Times New Roman"/>
                <a:cs typeface="Times New Roman"/>
              </a:rPr>
              <a:t>main(String</a:t>
            </a:r>
            <a:r>
              <a:rPr sz="3200" b="1" spc="-30" dirty="0">
                <a:solidFill>
                  <a:srgbClr val="FF0000"/>
                </a:solidFill>
                <a:latin typeface="Times New Roman"/>
                <a:cs typeface="Times New Roman"/>
              </a:rPr>
              <a:t> </a:t>
            </a:r>
            <a:r>
              <a:rPr sz="3200" b="1" dirty="0">
                <a:solidFill>
                  <a:srgbClr val="FF0000"/>
                </a:solidFill>
                <a:latin typeface="Times New Roman"/>
                <a:cs typeface="Times New Roman"/>
              </a:rPr>
              <a:t>args[])</a:t>
            </a:r>
            <a:endParaRPr sz="3200">
              <a:latin typeface="Times New Roman"/>
              <a:cs typeface="Times New Roman"/>
            </a:endParaRPr>
          </a:p>
          <a:p>
            <a:pPr>
              <a:lnSpc>
                <a:spcPct val="100000"/>
              </a:lnSpc>
            </a:pPr>
            <a:endParaRPr sz="4050">
              <a:latin typeface="Times New Roman"/>
              <a:cs typeface="Times New Roman"/>
            </a:endParaRPr>
          </a:p>
          <a:p>
            <a:pPr marL="332740" indent="-320040">
              <a:lnSpc>
                <a:spcPct val="100000"/>
              </a:lnSpc>
              <a:buClr>
                <a:srgbClr val="DD8046"/>
              </a:buClr>
              <a:buSzPct val="59375"/>
              <a:buFont typeface="Wingdings"/>
              <a:buChar char=""/>
              <a:tabLst>
                <a:tab pos="332740" algn="l"/>
              </a:tabLst>
            </a:pPr>
            <a:r>
              <a:rPr sz="3200" spc="-40" dirty="0">
                <a:latin typeface="Times New Roman"/>
                <a:cs typeface="Times New Roman"/>
              </a:rPr>
              <a:t>Variants:</a:t>
            </a:r>
            <a:endParaRPr sz="3200">
              <a:latin typeface="Times New Roman"/>
              <a:cs typeface="Times New Roman"/>
            </a:endParaRPr>
          </a:p>
          <a:p>
            <a:pPr marL="378460">
              <a:lnSpc>
                <a:spcPct val="100000"/>
              </a:lnSpc>
              <a:spcBef>
                <a:spcPts val="620"/>
              </a:spcBef>
            </a:pPr>
            <a:r>
              <a:rPr sz="1950" spc="-210" dirty="0">
                <a:solidFill>
                  <a:srgbClr val="93B6D2"/>
                </a:solidFill>
                <a:latin typeface="Microsoft Sans Serif"/>
                <a:cs typeface="Microsoft Sans Serif"/>
              </a:rPr>
              <a:t>🞑</a:t>
            </a:r>
            <a:r>
              <a:rPr sz="1950" spc="-100" dirty="0">
                <a:solidFill>
                  <a:srgbClr val="93B6D2"/>
                </a:solidFill>
                <a:latin typeface="Microsoft Sans Serif"/>
                <a:cs typeface="Microsoft Sans Serif"/>
              </a:rPr>
              <a:t> </a:t>
            </a:r>
            <a:r>
              <a:rPr sz="2800" b="1" spc="-5" dirty="0">
                <a:latin typeface="Times New Roman"/>
                <a:cs typeface="Times New Roman"/>
              </a:rPr>
              <a:t>s</a:t>
            </a:r>
            <a:r>
              <a:rPr sz="2800" b="1" dirty="0">
                <a:latin typeface="Times New Roman"/>
                <a:cs typeface="Times New Roman"/>
              </a:rPr>
              <a:t>t</a:t>
            </a:r>
            <a:r>
              <a:rPr sz="2800" b="1" spc="-5" dirty="0">
                <a:latin typeface="Times New Roman"/>
                <a:cs typeface="Times New Roman"/>
              </a:rPr>
              <a:t>a</a:t>
            </a:r>
            <a:r>
              <a:rPr sz="2800" b="1" dirty="0">
                <a:latin typeface="Times New Roman"/>
                <a:cs typeface="Times New Roman"/>
              </a:rPr>
              <a:t>t</a:t>
            </a:r>
            <a:r>
              <a:rPr sz="2800" b="1" spc="-5" dirty="0">
                <a:latin typeface="Times New Roman"/>
                <a:cs typeface="Times New Roman"/>
              </a:rPr>
              <a:t>ic </a:t>
            </a:r>
            <a:r>
              <a:rPr sz="2800" spc="-5" dirty="0">
                <a:latin typeface="Times New Roman"/>
                <a:cs typeface="Times New Roman"/>
              </a:rPr>
              <a:t>p</a:t>
            </a:r>
            <a:r>
              <a:rPr sz="2800" dirty="0">
                <a:latin typeface="Times New Roman"/>
                <a:cs typeface="Times New Roman"/>
              </a:rPr>
              <a:t>u</a:t>
            </a:r>
            <a:r>
              <a:rPr sz="2800" spc="-5" dirty="0">
                <a:latin typeface="Times New Roman"/>
                <a:cs typeface="Times New Roman"/>
              </a:rPr>
              <a:t>b</a:t>
            </a:r>
            <a:r>
              <a:rPr sz="2800" dirty="0">
                <a:latin typeface="Times New Roman"/>
                <a:cs typeface="Times New Roman"/>
              </a:rPr>
              <a:t>l</a:t>
            </a:r>
            <a:r>
              <a:rPr sz="2800" spc="-5" dirty="0">
                <a:latin typeface="Times New Roman"/>
                <a:cs typeface="Times New Roman"/>
              </a:rPr>
              <a:t>ic</a:t>
            </a:r>
            <a:r>
              <a:rPr sz="2800" spc="-35" dirty="0">
                <a:latin typeface="Times New Roman"/>
                <a:cs typeface="Times New Roman"/>
              </a:rPr>
              <a:t> </a:t>
            </a:r>
            <a:r>
              <a:rPr sz="2800" spc="-5" dirty="0">
                <a:latin typeface="Times New Roman"/>
                <a:cs typeface="Times New Roman"/>
              </a:rPr>
              <a:t>v</a:t>
            </a:r>
            <a:r>
              <a:rPr sz="2800" dirty="0">
                <a:latin typeface="Times New Roman"/>
                <a:cs typeface="Times New Roman"/>
              </a:rPr>
              <a:t>o</a:t>
            </a:r>
            <a:r>
              <a:rPr sz="2800" spc="-5" dirty="0">
                <a:latin typeface="Times New Roman"/>
                <a:cs typeface="Times New Roman"/>
              </a:rPr>
              <a:t>id</a:t>
            </a:r>
            <a:r>
              <a:rPr sz="2800" spc="-10" dirty="0">
                <a:latin typeface="Times New Roman"/>
                <a:cs typeface="Times New Roman"/>
              </a:rPr>
              <a:t> </a:t>
            </a:r>
            <a:r>
              <a:rPr sz="2800" spc="-20" dirty="0">
                <a:latin typeface="Times New Roman"/>
                <a:cs typeface="Times New Roman"/>
              </a:rPr>
              <a:t>m</a:t>
            </a:r>
            <a:r>
              <a:rPr sz="2800" spc="-5" dirty="0">
                <a:latin typeface="Times New Roman"/>
                <a:cs typeface="Times New Roman"/>
              </a:rPr>
              <a:t>ain(</a:t>
            </a:r>
            <a:r>
              <a:rPr sz="2800" spc="5" dirty="0">
                <a:latin typeface="Times New Roman"/>
                <a:cs typeface="Times New Roman"/>
              </a:rPr>
              <a:t>S</a:t>
            </a:r>
            <a:r>
              <a:rPr sz="2800" spc="-5" dirty="0">
                <a:latin typeface="Times New Roman"/>
                <a:cs typeface="Times New Roman"/>
              </a:rPr>
              <a:t>tr</a:t>
            </a:r>
            <a:r>
              <a:rPr sz="2800" dirty="0">
                <a:latin typeface="Times New Roman"/>
                <a:cs typeface="Times New Roman"/>
              </a:rPr>
              <a:t>i</a:t>
            </a:r>
            <a:r>
              <a:rPr sz="2800" spc="-5" dirty="0">
                <a:latin typeface="Times New Roman"/>
                <a:cs typeface="Times New Roman"/>
              </a:rPr>
              <a:t>ng</a:t>
            </a:r>
            <a:r>
              <a:rPr sz="2800" spc="30" dirty="0">
                <a:latin typeface="Times New Roman"/>
                <a:cs typeface="Times New Roman"/>
              </a:rPr>
              <a:t> </a:t>
            </a:r>
            <a:r>
              <a:rPr sz="2800" spc="-5" dirty="0">
                <a:latin typeface="Times New Roman"/>
                <a:cs typeface="Times New Roman"/>
              </a:rPr>
              <a:t>a</a:t>
            </a:r>
            <a:r>
              <a:rPr sz="2800" spc="-55" dirty="0">
                <a:latin typeface="Times New Roman"/>
                <a:cs typeface="Times New Roman"/>
              </a:rPr>
              <a:t>r</a:t>
            </a:r>
            <a:r>
              <a:rPr sz="2800" spc="-5" dirty="0">
                <a:latin typeface="Times New Roman"/>
                <a:cs typeface="Times New Roman"/>
              </a:rPr>
              <a:t>g</a:t>
            </a:r>
            <a:r>
              <a:rPr sz="2800" dirty="0">
                <a:latin typeface="Times New Roman"/>
                <a:cs typeface="Times New Roman"/>
              </a:rPr>
              <a:t>s</a:t>
            </a:r>
            <a:r>
              <a:rPr sz="2800" spc="-5" dirty="0">
                <a:latin typeface="Times New Roman"/>
                <a:cs typeface="Times New Roman"/>
              </a:rPr>
              <a:t>[</a:t>
            </a:r>
            <a:r>
              <a:rPr sz="2800" spc="-35" dirty="0">
                <a:latin typeface="Times New Roman"/>
                <a:cs typeface="Times New Roman"/>
              </a:rPr>
              <a:t>]</a:t>
            </a:r>
            <a:r>
              <a:rPr sz="2800" spc="-5" dirty="0">
                <a:latin typeface="Times New Roman"/>
                <a:cs typeface="Times New Roman"/>
              </a:rPr>
              <a:t>)</a:t>
            </a:r>
            <a:endParaRPr sz="2800">
              <a:latin typeface="Times New Roman"/>
              <a:cs typeface="Times New Roman"/>
            </a:endParaRPr>
          </a:p>
          <a:p>
            <a:pPr marL="378460">
              <a:lnSpc>
                <a:spcPct val="100000"/>
              </a:lnSpc>
              <a:spcBef>
                <a:spcPts val="600"/>
              </a:spcBef>
            </a:pPr>
            <a:r>
              <a:rPr sz="1950" spc="-204" dirty="0">
                <a:solidFill>
                  <a:srgbClr val="93B6D2"/>
                </a:solidFill>
                <a:latin typeface="Microsoft Sans Serif"/>
                <a:cs typeface="Microsoft Sans Serif"/>
              </a:rPr>
              <a:t>🞑</a:t>
            </a:r>
            <a:r>
              <a:rPr sz="1950" spc="-105" dirty="0">
                <a:solidFill>
                  <a:srgbClr val="93B6D2"/>
                </a:solidFill>
                <a:latin typeface="Microsoft Sans Serif"/>
                <a:cs typeface="Microsoft Sans Serif"/>
              </a:rPr>
              <a:t> </a:t>
            </a:r>
            <a:r>
              <a:rPr sz="2800" spc="-5" dirty="0">
                <a:latin typeface="Times New Roman"/>
                <a:cs typeface="Times New Roman"/>
              </a:rPr>
              <a:t>p</a:t>
            </a:r>
            <a:r>
              <a:rPr sz="2800" dirty="0">
                <a:latin typeface="Times New Roman"/>
                <a:cs typeface="Times New Roman"/>
              </a:rPr>
              <a:t>u</a:t>
            </a:r>
            <a:r>
              <a:rPr sz="2800" spc="-5" dirty="0">
                <a:latin typeface="Times New Roman"/>
                <a:cs typeface="Times New Roman"/>
              </a:rPr>
              <a:t>bl</a:t>
            </a:r>
            <a:r>
              <a:rPr sz="2800" dirty="0">
                <a:latin typeface="Times New Roman"/>
                <a:cs typeface="Times New Roman"/>
              </a:rPr>
              <a:t>i</a:t>
            </a:r>
            <a:r>
              <a:rPr sz="2800" spc="-5" dirty="0">
                <a:latin typeface="Times New Roman"/>
                <a:cs typeface="Times New Roman"/>
              </a:rPr>
              <a:t>c</a:t>
            </a:r>
            <a:r>
              <a:rPr sz="2800" spc="-25" dirty="0">
                <a:latin typeface="Times New Roman"/>
                <a:cs typeface="Times New Roman"/>
              </a:rPr>
              <a:t> </a:t>
            </a:r>
            <a:r>
              <a:rPr sz="2800" spc="-5" dirty="0">
                <a:latin typeface="Times New Roman"/>
                <a:cs typeface="Times New Roman"/>
              </a:rPr>
              <a:t>static</a:t>
            </a:r>
            <a:r>
              <a:rPr sz="2800" spc="-20" dirty="0">
                <a:latin typeface="Times New Roman"/>
                <a:cs typeface="Times New Roman"/>
              </a:rPr>
              <a:t> </a:t>
            </a:r>
            <a:r>
              <a:rPr sz="2800" spc="-5" dirty="0">
                <a:latin typeface="Times New Roman"/>
                <a:cs typeface="Times New Roman"/>
              </a:rPr>
              <a:t>v</a:t>
            </a:r>
            <a:r>
              <a:rPr sz="2800" dirty="0">
                <a:latin typeface="Times New Roman"/>
                <a:cs typeface="Times New Roman"/>
              </a:rPr>
              <a:t>o</a:t>
            </a:r>
            <a:r>
              <a:rPr sz="2800" spc="-5" dirty="0">
                <a:latin typeface="Times New Roman"/>
                <a:cs typeface="Times New Roman"/>
              </a:rPr>
              <a:t>id</a:t>
            </a:r>
            <a:r>
              <a:rPr sz="2800" spc="5" dirty="0">
                <a:latin typeface="Times New Roman"/>
                <a:cs typeface="Times New Roman"/>
              </a:rPr>
              <a:t> </a:t>
            </a:r>
            <a:r>
              <a:rPr sz="2800" b="1" spc="-5" dirty="0">
                <a:latin typeface="Times New Roman"/>
                <a:cs typeface="Times New Roman"/>
              </a:rPr>
              <a:t>main</a:t>
            </a:r>
            <a:r>
              <a:rPr sz="2800" b="1" dirty="0">
                <a:latin typeface="Times New Roman"/>
                <a:cs typeface="Times New Roman"/>
              </a:rPr>
              <a:t>(</a:t>
            </a:r>
            <a:r>
              <a:rPr sz="2800" b="1" spc="-5" dirty="0">
                <a:latin typeface="Times New Roman"/>
                <a:cs typeface="Times New Roman"/>
              </a:rPr>
              <a:t>Strin</a:t>
            </a:r>
            <a:r>
              <a:rPr sz="2800" b="1" spc="5" dirty="0">
                <a:latin typeface="Times New Roman"/>
                <a:cs typeface="Times New Roman"/>
              </a:rPr>
              <a:t>g</a:t>
            </a:r>
            <a:r>
              <a:rPr sz="2800" b="1" spc="-5" dirty="0">
                <a:latin typeface="Times New Roman"/>
                <a:cs typeface="Times New Roman"/>
              </a:rPr>
              <a:t>[]</a:t>
            </a:r>
            <a:r>
              <a:rPr sz="2800" b="1" spc="10" dirty="0">
                <a:latin typeface="Times New Roman"/>
                <a:cs typeface="Times New Roman"/>
              </a:rPr>
              <a:t> </a:t>
            </a:r>
            <a:r>
              <a:rPr sz="2800" b="1" spc="-5" dirty="0">
                <a:latin typeface="Times New Roman"/>
                <a:cs typeface="Times New Roman"/>
              </a:rPr>
              <a:t>arg</a:t>
            </a:r>
            <a:r>
              <a:rPr sz="2800" b="1" dirty="0">
                <a:latin typeface="Times New Roman"/>
                <a:cs typeface="Times New Roman"/>
              </a:rPr>
              <a:t>s</a:t>
            </a:r>
            <a:r>
              <a:rPr sz="2800" spc="-5" dirty="0">
                <a:latin typeface="Times New Roman"/>
                <a:cs typeface="Times New Roman"/>
              </a:rPr>
              <a:t>)</a:t>
            </a:r>
            <a:endParaRPr sz="2800">
              <a:latin typeface="Times New Roman"/>
              <a:cs typeface="Times New Roman"/>
            </a:endParaRPr>
          </a:p>
          <a:p>
            <a:pPr marL="378460">
              <a:lnSpc>
                <a:spcPct val="100000"/>
              </a:lnSpc>
              <a:spcBef>
                <a:spcPts val="600"/>
              </a:spcBef>
            </a:pPr>
            <a:r>
              <a:rPr sz="1950" spc="-210" dirty="0">
                <a:solidFill>
                  <a:srgbClr val="93B6D2"/>
                </a:solidFill>
                <a:latin typeface="Microsoft Sans Serif"/>
                <a:cs typeface="Microsoft Sans Serif"/>
              </a:rPr>
              <a:t>🞑</a:t>
            </a:r>
            <a:r>
              <a:rPr sz="1950" spc="-100" dirty="0">
                <a:solidFill>
                  <a:srgbClr val="93B6D2"/>
                </a:solidFill>
                <a:latin typeface="Microsoft Sans Serif"/>
                <a:cs typeface="Microsoft Sans Serif"/>
              </a:rPr>
              <a:t> </a:t>
            </a:r>
            <a:r>
              <a:rPr sz="2800" spc="-5" dirty="0">
                <a:latin typeface="Times New Roman"/>
                <a:cs typeface="Times New Roman"/>
              </a:rPr>
              <a:t>p</a:t>
            </a:r>
            <a:r>
              <a:rPr sz="2800" dirty="0">
                <a:latin typeface="Times New Roman"/>
                <a:cs typeface="Times New Roman"/>
              </a:rPr>
              <a:t>u</a:t>
            </a:r>
            <a:r>
              <a:rPr sz="2800" spc="-5" dirty="0">
                <a:latin typeface="Times New Roman"/>
                <a:cs typeface="Times New Roman"/>
              </a:rPr>
              <a:t>b</a:t>
            </a:r>
            <a:r>
              <a:rPr sz="2800" dirty="0">
                <a:latin typeface="Times New Roman"/>
                <a:cs typeface="Times New Roman"/>
              </a:rPr>
              <a:t>l</a:t>
            </a:r>
            <a:r>
              <a:rPr sz="2800" spc="-5" dirty="0">
                <a:latin typeface="Times New Roman"/>
                <a:cs typeface="Times New Roman"/>
              </a:rPr>
              <a:t>ic</a:t>
            </a:r>
            <a:r>
              <a:rPr sz="2800" spc="-15" dirty="0">
                <a:latin typeface="Times New Roman"/>
                <a:cs typeface="Times New Roman"/>
              </a:rPr>
              <a:t> </a:t>
            </a:r>
            <a:r>
              <a:rPr sz="2800" b="1" spc="-5" dirty="0">
                <a:latin typeface="Times New Roman"/>
                <a:cs typeface="Times New Roman"/>
              </a:rPr>
              <a:t>fi</a:t>
            </a:r>
            <a:r>
              <a:rPr sz="2800" b="1" spc="5" dirty="0">
                <a:latin typeface="Times New Roman"/>
                <a:cs typeface="Times New Roman"/>
              </a:rPr>
              <a:t>n</a:t>
            </a:r>
            <a:r>
              <a:rPr sz="2800" b="1" spc="-5" dirty="0">
                <a:latin typeface="Times New Roman"/>
                <a:cs typeface="Times New Roman"/>
              </a:rPr>
              <a:t>al </a:t>
            </a:r>
            <a:r>
              <a:rPr sz="2800" spc="-5" dirty="0">
                <a:latin typeface="Times New Roman"/>
                <a:cs typeface="Times New Roman"/>
              </a:rPr>
              <a:t>static</a:t>
            </a:r>
            <a:r>
              <a:rPr sz="2800" spc="-15" dirty="0">
                <a:latin typeface="Times New Roman"/>
                <a:cs typeface="Times New Roman"/>
              </a:rPr>
              <a:t> </a:t>
            </a:r>
            <a:r>
              <a:rPr sz="2800" dirty="0">
                <a:latin typeface="Times New Roman"/>
                <a:cs typeface="Times New Roman"/>
              </a:rPr>
              <a:t>vo</a:t>
            </a:r>
            <a:r>
              <a:rPr sz="2800" spc="-5" dirty="0">
                <a:latin typeface="Times New Roman"/>
                <a:cs typeface="Times New Roman"/>
              </a:rPr>
              <a:t>id</a:t>
            </a:r>
            <a:r>
              <a:rPr sz="2800" spc="-10" dirty="0">
                <a:latin typeface="Times New Roman"/>
                <a:cs typeface="Times New Roman"/>
              </a:rPr>
              <a:t> </a:t>
            </a:r>
            <a:r>
              <a:rPr sz="2800" spc="-20" dirty="0">
                <a:latin typeface="Times New Roman"/>
                <a:cs typeface="Times New Roman"/>
              </a:rPr>
              <a:t>m</a:t>
            </a:r>
            <a:r>
              <a:rPr sz="2800" spc="-5" dirty="0">
                <a:latin typeface="Times New Roman"/>
                <a:cs typeface="Times New Roman"/>
              </a:rPr>
              <a:t>ain</a:t>
            </a:r>
            <a:r>
              <a:rPr sz="2800" dirty="0">
                <a:latin typeface="Times New Roman"/>
                <a:cs typeface="Times New Roman"/>
              </a:rPr>
              <a:t>(</a:t>
            </a:r>
            <a:r>
              <a:rPr sz="2800" spc="-5" dirty="0">
                <a:latin typeface="Times New Roman"/>
                <a:cs typeface="Times New Roman"/>
              </a:rPr>
              <a:t>S</a:t>
            </a:r>
            <a:r>
              <a:rPr sz="2800" dirty="0">
                <a:latin typeface="Times New Roman"/>
                <a:cs typeface="Times New Roman"/>
              </a:rPr>
              <a:t>t</a:t>
            </a:r>
            <a:r>
              <a:rPr sz="2800" spc="-5" dirty="0">
                <a:latin typeface="Times New Roman"/>
                <a:cs typeface="Times New Roman"/>
              </a:rPr>
              <a:t>ri</a:t>
            </a:r>
            <a:r>
              <a:rPr sz="2800" spc="5" dirty="0">
                <a:latin typeface="Times New Roman"/>
                <a:cs typeface="Times New Roman"/>
              </a:rPr>
              <a:t>n</a:t>
            </a:r>
            <a:r>
              <a:rPr sz="2800" dirty="0">
                <a:latin typeface="Times New Roman"/>
                <a:cs typeface="Times New Roman"/>
              </a:rPr>
              <a:t>g</a:t>
            </a:r>
            <a:r>
              <a:rPr sz="2800" spc="-5" dirty="0">
                <a:latin typeface="Times New Roman"/>
                <a:cs typeface="Times New Roman"/>
              </a:rPr>
              <a:t>[]</a:t>
            </a:r>
            <a:r>
              <a:rPr sz="2800" spc="10" dirty="0">
                <a:latin typeface="Times New Roman"/>
                <a:cs typeface="Times New Roman"/>
              </a:rPr>
              <a:t> </a:t>
            </a:r>
            <a:r>
              <a:rPr sz="2800" spc="-5" dirty="0">
                <a:latin typeface="Times New Roman"/>
                <a:cs typeface="Times New Roman"/>
              </a:rPr>
              <a:t>a</a:t>
            </a:r>
            <a:r>
              <a:rPr sz="2800" spc="-55" dirty="0">
                <a:latin typeface="Times New Roman"/>
                <a:cs typeface="Times New Roman"/>
              </a:rPr>
              <a:t>r</a:t>
            </a:r>
            <a:r>
              <a:rPr sz="2800" spc="-5" dirty="0">
                <a:latin typeface="Times New Roman"/>
                <a:cs typeface="Times New Roman"/>
              </a:rPr>
              <a:t>g</a:t>
            </a:r>
            <a:r>
              <a:rPr sz="2800" spc="5" dirty="0">
                <a:latin typeface="Times New Roman"/>
                <a:cs typeface="Times New Roman"/>
              </a:rPr>
              <a:t>s</a:t>
            </a:r>
            <a:r>
              <a:rPr sz="2800" spc="-5" dirty="0">
                <a:latin typeface="Times New Roman"/>
                <a:cs typeface="Times New Roman"/>
              </a:rPr>
              <a:t>)</a:t>
            </a:r>
            <a:endParaRPr sz="2800">
              <a:latin typeface="Times New Roman"/>
              <a:cs typeface="Times New Roman"/>
            </a:endParaRPr>
          </a:p>
          <a:p>
            <a:pPr marL="378460">
              <a:lnSpc>
                <a:spcPct val="100000"/>
              </a:lnSpc>
              <a:spcBef>
                <a:spcPts val="600"/>
              </a:spcBef>
            </a:pPr>
            <a:r>
              <a:rPr sz="1950" spc="-65" dirty="0">
                <a:solidFill>
                  <a:srgbClr val="93B6D2"/>
                </a:solidFill>
                <a:latin typeface="Microsoft Sans Serif"/>
                <a:cs typeface="Microsoft Sans Serif"/>
              </a:rPr>
              <a:t>🞑</a:t>
            </a:r>
            <a:r>
              <a:rPr sz="1950" spc="-100" dirty="0">
                <a:solidFill>
                  <a:srgbClr val="93B6D2"/>
                </a:solidFill>
                <a:latin typeface="Microsoft Sans Serif"/>
                <a:cs typeface="Microsoft Sans Serif"/>
              </a:rPr>
              <a:t> </a:t>
            </a:r>
            <a:r>
              <a:rPr sz="2800" dirty="0">
                <a:latin typeface="Times New Roman"/>
                <a:cs typeface="Times New Roman"/>
              </a:rPr>
              <a:t>public</a:t>
            </a:r>
            <a:r>
              <a:rPr sz="2800" spc="-10" dirty="0">
                <a:latin typeface="Times New Roman"/>
                <a:cs typeface="Times New Roman"/>
              </a:rPr>
              <a:t> </a:t>
            </a:r>
            <a:r>
              <a:rPr sz="2800" b="1" spc="-10" dirty="0">
                <a:latin typeface="Times New Roman"/>
                <a:cs typeface="Times New Roman"/>
              </a:rPr>
              <a:t>synchronized</a:t>
            </a:r>
            <a:r>
              <a:rPr sz="2800" b="1" spc="40" dirty="0">
                <a:latin typeface="Times New Roman"/>
                <a:cs typeface="Times New Roman"/>
              </a:rPr>
              <a:t> </a:t>
            </a:r>
            <a:r>
              <a:rPr sz="2800" spc="-5" dirty="0">
                <a:latin typeface="Times New Roman"/>
                <a:cs typeface="Times New Roman"/>
              </a:rPr>
              <a:t>static</a:t>
            </a:r>
            <a:r>
              <a:rPr sz="2800" spc="-10" dirty="0">
                <a:latin typeface="Times New Roman"/>
                <a:cs typeface="Times New Roman"/>
              </a:rPr>
              <a:t> </a:t>
            </a:r>
            <a:r>
              <a:rPr sz="2800" spc="-5" dirty="0">
                <a:latin typeface="Times New Roman"/>
                <a:cs typeface="Times New Roman"/>
              </a:rPr>
              <a:t>void main(String[]</a:t>
            </a:r>
            <a:r>
              <a:rPr sz="2800" spc="30" dirty="0">
                <a:latin typeface="Times New Roman"/>
                <a:cs typeface="Times New Roman"/>
              </a:rPr>
              <a:t> </a:t>
            </a:r>
            <a:r>
              <a:rPr sz="2800" spc="-15" dirty="0">
                <a:latin typeface="Times New Roman"/>
                <a:cs typeface="Times New Roman"/>
              </a:rPr>
              <a:t>args)</a:t>
            </a:r>
            <a:endParaRPr sz="28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27</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295525" cy="696595"/>
          </a:xfrm>
          <a:prstGeom prst="rect">
            <a:avLst/>
          </a:prstGeom>
        </p:spPr>
        <p:txBody>
          <a:bodyPr vert="horz" wrap="square" lIns="0" tIns="13335" rIns="0" bIns="0" rtlCol="0">
            <a:spAutoFit/>
          </a:bodyPr>
          <a:lstStyle/>
          <a:p>
            <a:pPr marL="12700">
              <a:lnSpc>
                <a:spcPct val="100000"/>
              </a:lnSpc>
              <a:spcBef>
                <a:spcPts val="105"/>
              </a:spcBef>
            </a:pPr>
            <a:r>
              <a:rPr sz="4400" dirty="0"/>
              <a:t>Exam</a:t>
            </a:r>
            <a:r>
              <a:rPr sz="4400" spc="10" dirty="0"/>
              <a:t>p</a:t>
            </a:r>
            <a:r>
              <a:rPr sz="4400" dirty="0"/>
              <a:t>le2</a:t>
            </a:r>
            <a:endParaRPr sz="4400"/>
          </a:p>
        </p:txBody>
      </p:sp>
      <p:sp>
        <p:nvSpPr>
          <p:cNvPr id="4" name="object 4"/>
          <p:cNvSpPr txBox="1"/>
          <p:nvPr/>
        </p:nvSpPr>
        <p:spPr>
          <a:xfrm>
            <a:off x="609599" y="1605737"/>
            <a:ext cx="7162801" cy="63690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221F1F"/>
                </a:solidFill>
                <a:latin typeface="Courier New"/>
                <a:cs typeface="Courier New"/>
              </a:rPr>
              <a:t>This</a:t>
            </a:r>
            <a:r>
              <a:rPr sz="2000" spc="-15" dirty="0">
                <a:solidFill>
                  <a:srgbClr val="221F1F"/>
                </a:solidFill>
                <a:latin typeface="Courier New"/>
                <a:cs typeface="Courier New"/>
              </a:rPr>
              <a:t> </a:t>
            </a:r>
            <a:r>
              <a:rPr sz="2000" dirty="0">
                <a:solidFill>
                  <a:srgbClr val="221F1F"/>
                </a:solidFill>
                <a:latin typeface="Courier New"/>
                <a:cs typeface="Courier New"/>
              </a:rPr>
              <a:t>is</a:t>
            </a:r>
            <a:r>
              <a:rPr sz="2000" spc="-10" dirty="0">
                <a:solidFill>
                  <a:srgbClr val="221F1F"/>
                </a:solidFill>
                <a:latin typeface="Courier New"/>
                <a:cs typeface="Courier New"/>
              </a:rPr>
              <a:t> </a:t>
            </a:r>
            <a:r>
              <a:rPr sz="2000" dirty="0">
                <a:solidFill>
                  <a:srgbClr val="221F1F"/>
                </a:solidFill>
                <a:latin typeface="Courier New"/>
                <a:cs typeface="Courier New"/>
              </a:rPr>
              <a:t>a</a:t>
            </a:r>
            <a:r>
              <a:rPr sz="2000" spc="-10" dirty="0">
                <a:solidFill>
                  <a:srgbClr val="221F1F"/>
                </a:solidFill>
                <a:latin typeface="Courier New"/>
                <a:cs typeface="Courier New"/>
              </a:rPr>
              <a:t> </a:t>
            </a:r>
            <a:r>
              <a:rPr sz="2000" spc="-5" dirty="0">
                <a:solidFill>
                  <a:srgbClr val="221F1F"/>
                </a:solidFill>
                <a:latin typeface="Courier New"/>
                <a:cs typeface="Courier New"/>
              </a:rPr>
              <a:t>simple</a:t>
            </a:r>
            <a:r>
              <a:rPr sz="2000" spc="-10" dirty="0">
                <a:solidFill>
                  <a:srgbClr val="221F1F"/>
                </a:solidFill>
                <a:latin typeface="Courier New"/>
                <a:cs typeface="Courier New"/>
              </a:rPr>
              <a:t> </a:t>
            </a:r>
            <a:r>
              <a:rPr sz="2000" dirty="0">
                <a:solidFill>
                  <a:srgbClr val="221F1F"/>
                </a:solidFill>
                <a:latin typeface="Courier New"/>
                <a:cs typeface="Courier New"/>
              </a:rPr>
              <a:t>Java</a:t>
            </a:r>
            <a:r>
              <a:rPr sz="2000" spc="-15" dirty="0">
                <a:solidFill>
                  <a:srgbClr val="221F1F"/>
                </a:solidFill>
                <a:latin typeface="Courier New"/>
                <a:cs typeface="Courier New"/>
              </a:rPr>
              <a:t> </a:t>
            </a:r>
            <a:r>
              <a:rPr sz="2000" spc="-5" dirty="0">
                <a:solidFill>
                  <a:srgbClr val="221F1F"/>
                </a:solidFill>
                <a:latin typeface="Courier New"/>
                <a:cs typeface="Courier New"/>
              </a:rPr>
              <a:t>program.</a:t>
            </a:r>
            <a:endParaRPr sz="2000" dirty="0">
              <a:latin typeface="Courier New"/>
              <a:cs typeface="Courier New"/>
            </a:endParaRPr>
          </a:p>
          <a:p>
            <a:pPr marL="12700">
              <a:lnSpc>
                <a:spcPct val="100000"/>
              </a:lnSpc>
              <a:spcBef>
                <a:spcPts val="5"/>
              </a:spcBef>
            </a:pPr>
            <a:endParaRPr sz="2000" dirty="0">
              <a:latin typeface="Courier New"/>
              <a:cs typeface="Courier New"/>
            </a:endParaRPr>
          </a:p>
        </p:txBody>
      </p:sp>
      <p:sp>
        <p:nvSpPr>
          <p:cNvPr id="5" name="object 5"/>
          <p:cNvSpPr txBox="1"/>
          <p:nvPr/>
        </p:nvSpPr>
        <p:spPr>
          <a:xfrm>
            <a:off x="307340" y="2216023"/>
            <a:ext cx="8324215" cy="3412409"/>
          </a:xfrm>
          <a:prstGeom prst="rect">
            <a:avLst/>
          </a:prstGeom>
        </p:spPr>
        <p:txBody>
          <a:bodyPr vert="horz" wrap="square" lIns="0" tIns="13335" rIns="0" bIns="0" rtlCol="0">
            <a:spAutoFit/>
          </a:bodyPr>
          <a:lstStyle/>
          <a:p>
            <a:pPr marL="12700">
              <a:lnSpc>
                <a:spcPts val="2125"/>
              </a:lnSpc>
              <a:spcBef>
                <a:spcPts val="105"/>
              </a:spcBef>
            </a:pPr>
            <a:endParaRPr sz="2000" dirty="0">
              <a:latin typeface="Courier New"/>
              <a:cs typeface="Courier New"/>
            </a:endParaRPr>
          </a:p>
          <a:p>
            <a:pPr marL="12700" algn="just">
              <a:lnSpc>
                <a:spcPts val="3085"/>
              </a:lnSpc>
            </a:pPr>
            <a:r>
              <a:rPr sz="2800" b="1" spc="-10" dirty="0">
                <a:solidFill>
                  <a:srgbClr val="221F1F"/>
                </a:solidFill>
                <a:latin typeface="Courier New"/>
                <a:cs typeface="Courier New"/>
              </a:rPr>
              <a:t>class</a:t>
            </a:r>
            <a:r>
              <a:rPr sz="2800" b="1" spc="-40" dirty="0">
                <a:solidFill>
                  <a:srgbClr val="221F1F"/>
                </a:solidFill>
                <a:latin typeface="Courier New"/>
                <a:cs typeface="Courier New"/>
              </a:rPr>
              <a:t> </a:t>
            </a:r>
            <a:r>
              <a:rPr sz="2800" b="1" spc="-10" dirty="0">
                <a:solidFill>
                  <a:srgbClr val="221F1F"/>
                </a:solidFill>
                <a:latin typeface="Courier New"/>
                <a:cs typeface="Courier New"/>
              </a:rPr>
              <a:t>Example2</a:t>
            </a:r>
            <a:r>
              <a:rPr sz="2800" b="1" spc="-40" dirty="0">
                <a:solidFill>
                  <a:srgbClr val="221F1F"/>
                </a:solidFill>
                <a:latin typeface="Courier New"/>
                <a:cs typeface="Courier New"/>
              </a:rPr>
              <a:t> </a:t>
            </a:r>
            <a:r>
              <a:rPr sz="2800" spc="-5" dirty="0">
                <a:solidFill>
                  <a:srgbClr val="221F1F"/>
                </a:solidFill>
                <a:latin typeface="Courier New"/>
                <a:cs typeface="Courier New"/>
              </a:rPr>
              <a:t>{</a:t>
            </a:r>
            <a:endParaRPr sz="2800" dirty="0">
              <a:latin typeface="Courier New"/>
              <a:cs typeface="Courier New"/>
            </a:endParaRPr>
          </a:p>
          <a:p>
            <a:pPr marL="12700" marR="5080" algn="just">
              <a:lnSpc>
                <a:spcPct val="105900"/>
              </a:lnSpc>
              <a:spcBef>
                <a:spcPts val="370"/>
              </a:spcBef>
            </a:pPr>
            <a:r>
              <a:rPr sz="2800" b="1" spc="-10" dirty="0">
                <a:solidFill>
                  <a:srgbClr val="221F1F"/>
                </a:solidFill>
                <a:latin typeface="Courier New"/>
                <a:cs typeface="Courier New"/>
              </a:rPr>
              <a:t>public static void main</a:t>
            </a:r>
            <a:r>
              <a:rPr sz="2800" spc="-10" dirty="0">
                <a:solidFill>
                  <a:srgbClr val="221F1F"/>
                </a:solidFill>
                <a:latin typeface="Courier New"/>
                <a:cs typeface="Courier New"/>
              </a:rPr>
              <a:t>(</a:t>
            </a:r>
            <a:r>
              <a:rPr sz="2400" spc="-10" dirty="0">
                <a:solidFill>
                  <a:srgbClr val="221F1F"/>
                </a:solidFill>
                <a:latin typeface="Courier New"/>
                <a:cs typeface="Courier New"/>
              </a:rPr>
              <a:t>String </a:t>
            </a:r>
            <a:r>
              <a:rPr sz="2400" spc="-10" dirty="0" err="1">
                <a:solidFill>
                  <a:srgbClr val="221F1F"/>
                </a:solidFill>
                <a:latin typeface="Courier New"/>
                <a:cs typeface="Courier New"/>
              </a:rPr>
              <a:t>args</a:t>
            </a:r>
            <a:r>
              <a:rPr sz="2400" spc="-10" dirty="0">
                <a:solidFill>
                  <a:srgbClr val="221F1F"/>
                </a:solidFill>
                <a:latin typeface="Courier New"/>
                <a:cs typeface="Courier New"/>
              </a:rPr>
              <a:t>[]</a:t>
            </a:r>
            <a:r>
              <a:rPr sz="2800" spc="-10" dirty="0">
                <a:solidFill>
                  <a:srgbClr val="221F1F"/>
                </a:solidFill>
                <a:latin typeface="Courier New"/>
                <a:cs typeface="Courier New"/>
              </a:rPr>
              <a:t>)</a:t>
            </a:r>
            <a:endParaRPr lang="en-US" sz="2800" spc="-10" dirty="0">
              <a:solidFill>
                <a:srgbClr val="221F1F"/>
              </a:solidFill>
              <a:latin typeface="Courier New"/>
              <a:cs typeface="Courier New"/>
            </a:endParaRPr>
          </a:p>
          <a:p>
            <a:pPr marL="12700" marR="5080" algn="just">
              <a:lnSpc>
                <a:spcPct val="105900"/>
              </a:lnSpc>
              <a:spcBef>
                <a:spcPts val="370"/>
              </a:spcBef>
            </a:pPr>
            <a:r>
              <a:rPr sz="2800" spc="-10" dirty="0">
                <a:solidFill>
                  <a:srgbClr val="221F1F"/>
                </a:solidFill>
                <a:latin typeface="Courier New"/>
                <a:cs typeface="Courier New"/>
              </a:rPr>
              <a:t>{</a:t>
            </a:r>
            <a:endParaRPr lang="en-US" sz="2800" spc="-10" dirty="0">
              <a:solidFill>
                <a:srgbClr val="221F1F"/>
              </a:solidFill>
              <a:latin typeface="Courier New"/>
              <a:cs typeface="Courier New"/>
            </a:endParaRPr>
          </a:p>
          <a:p>
            <a:pPr marL="12700" marR="5080" algn="just">
              <a:lnSpc>
                <a:spcPct val="105900"/>
              </a:lnSpc>
              <a:spcBef>
                <a:spcPts val="370"/>
              </a:spcBef>
            </a:pPr>
            <a:r>
              <a:rPr sz="2800" spc="-10" dirty="0">
                <a:solidFill>
                  <a:srgbClr val="221F1F"/>
                </a:solidFill>
                <a:latin typeface="Courier New"/>
                <a:cs typeface="Courier New"/>
              </a:rPr>
              <a:t> </a:t>
            </a:r>
            <a:r>
              <a:rPr sz="2800" spc="-1670" dirty="0">
                <a:solidFill>
                  <a:srgbClr val="221F1F"/>
                </a:solidFill>
                <a:latin typeface="Courier New"/>
                <a:cs typeface="Courier New"/>
              </a:rPr>
              <a:t> </a:t>
            </a:r>
            <a:r>
              <a:rPr sz="2800" spc="-10" dirty="0">
                <a:solidFill>
                  <a:srgbClr val="221F1F"/>
                </a:solidFill>
                <a:latin typeface="Courier New"/>
                <a:cs typeface="Courier New"/>
              </a:rPr>
              <a:t>System.out.println(“Good</a:t>
            </a:r>
            <a:r>
              <a:rPr sz="2800" spc="-30" dirty="0">
                <a:solidFill>
                  <a:srgbClr val="221F1F"/>
                </a:solidFill>
                <a:latin typeface="Courier New"/>
                <a:cs typeface="Courier New"/>
              </a:rPr>
              <a:t> </a:t>
            </a:r>
            <a:r>
              <a:rPr sz="2800" spc="-10" dirty="0">
                <a:solidFill>
                  <a:srgbClr val="221F1F"/>
                </a:solidFill>
                <a:latin typeface="Courier New"/>
                <a:cs typeface="Courier New"/>
              </a:rPr>
              <a:t>Morning");</a:t>
            </a:r>
            <a:endParaRPr sz="2800" dirty="0">
              <a:latin typeface="Courier New"/>
              <a:cs typeface="Courier New"/>
            </a:endParaRPr>
          </a:p>
          <a:p>
            <a:pPr marL="226060">
              <a:lnSpc>
                <a:spcPct val="100000"/>
              </a:lnSpc>
              <a:spcBef>
                <a:spcPts val="135"/>
              </a:spcBef>
            </a:pPr>
            <a:r>
              <a:rPr sz="2800" spc="-5" dirty="0">
                <a:solidFill>
                  <a:srgbClr val="221F1F"/>
                </a:solidFill>
                <a:latin typeface="Courier New"/>
                <a:cs typeface="Courier New"/>
              </a:rPr>
              <a:t>}</a:t>
            </a:r>
            <a:endParaRPr sz="2800" dirty="0">
              <a:latin typeface="Courier New"/>
              <a:cs typeface="Courier New"/>
            </a:endParaRPr>
          </a:p>
          <a:p>
            <a:pPr marL="12700">
              <a:lnSpc>
                <a:spcPct val="100000"/>
              </a:lnSpc>
              <a:spcBef>
                <a:spcPts val="145"/>
              </a:spcBef>
            </a:pPr>
            <a:r>
              <a:rPr sz="2800" spc="-5" dirty="0">
                <a:solidFill>
                  <a:srgbClr val="221F1F"/>
                </a:solidFill>
                <a:latin typeface="Courier New"/>
                <a:cs typeface="Courier New"/>
              </a:rPr>
              <a:t>}</a:t>
            </a:r>
            <a:endParaRPr lang="en-US" sz="2800" spc="-5" dirty="0">
              <a:solidFill>
                <a:srgbClr val="221F1F"/>
              </a:solidFill>
              <a:latin typeface="Courier New"/>
              <a:cs typeface="Courier New"/>
            </a:endParaRPr>
          </a:p>
          <a:p>
            <a:pPr marL="12700">
              <a:lnSpc>
                <a:spcPct val="100000"/>
              </a:lnSpc>
              <a:spcBef>
                <a:spcPts val="145"/>
              </a:spcBef>
            </a:pPr>
            <a:endParaRPr sz="2000" dirty="0">
              <a:latin typeface="Courier New"/>
              <a:cs typeface="Courier New"/>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30</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A6F5E9-986E-983B-95FF-748A9B0624E5}"/>
              </a:ext>
            </a:extLst>
          </p:cNvPr>
          <p:cNvSpPr txBox="1"/>
          <p:nvPr/>
        </p:nvSpPr>
        <p:spPr>
          <a:xfrm>
            <a:off x="457200" y="228600"/>
            <a:ext cx="8382000" cy="6468053"/>
          </a:xfrm>
          <a:prstGeom prst="rect">
            <a:avLst/>
          </a:prstGeom>
          <a:noFill/>
        </p:spPr>
        <p:txBody>
          <a:bodyPr wrap="square">
            <a:spAutoFit/>
          </a:bodyPr>
          <a:lstStyle/>
          <a:p>
            <a:pPr marL="10940" defTabSz="829178">
              <a:spcBef>
                <a:spcPts val="95"/>
              </a:spcBef>
              <a:tabLst>
                <a:tab pos="373130" algn="l"/>
                <a:tab pos="373706" algn="l"/>
              </a:tabLst>
            </a:pPr>
            <a:r>
              <a:rPr lang="en-IN" sz="3200" b="1" dirty="0">
                <a:solidFill>
                  <a:prstClr val="black"/>
                </a:solidFill>
                <a:latin typeface="Calibri"/>
                <a:cs typeface="Calibri"/>
              </a:rPr>
              <a:t>Static methods can be called directly using method name.</a:t>
            </a:r>
          </a:p>
          <a:p>
            <a:pPr marL="10940" defTabSz="829178">
              <a:spcBef>
                <a:spcPts val="95"/>
              </a:spcBef>
              <a:tabLst>
                <a:tab pos="373130" algn="l"/>
                <a:tab pos="373706" algn="l"/>
              </a:tabLst>
            </a:pPr>
            <a:r>
              <a:rPr lang="en-IN" sz="3174" spc="5" dirty="0">
                <a:solidFill>
                  <a:prstClr val="black"/>
                </a:solidFill>
                <a:latin typeface="Calibri"/>
                <a:cs typeface="Calibri"/>
              </a:rPr>
              <a:t>public class Main </a:t>
            </a:r>
          </a:p>
          <a:p>
            <a:pPr marL="10940" defTabSz="829178">
              <a:spcBef>
                <a:spcPts val="95"/>
              </a:spcBef>
              <a:tabLst>
                <a:tab pos="373130" algn="l"/>
                <a:tab pos="373706" algn="l"/>
              </a:tabLst>
            </a:pPr>
            <a:r>
              <a:rPr lang="en-IN" sz="3174" spc="5" dirty="0">
                <a:solidFill>
                  <a:prstClr val="black"/>
                </a:solidFill>
                <a:latin typeface="Calibri"/>
                <a:cs typeface="Calibri"/>
              </a:rPr>
              <a:t>{</a:t>
            </a:r>
          </a:p>
          <a:p>
            <a:pPr marL="10940" defTabSz="829178">
              <a:tabLst>
                <a:tab pos="555664" algn="l"/>
                <a:tab pos="556240" algn="l"/>
              </a:tabLst>
            </a:pPr>
            <a:r>
              <a:rPr lang="en-IN" sz="3174" spc="5" dirty="0">
                <a:solidFill>
                  <a:prstClr val="black"/>
                </a:solidFill>
                <a:latin typeface="Calibri"/>
                <a:cs typeface="Calibri"/>
              </a:rPr>
              <a:t>	 static void </a:t>
            </a:r>
            <a:r>
              <a:rPr lang="en-IN" sz="3174" spc="5" dirty="0" err="1">
                <a:solidFill>
                  <a:prstClr val="black"/>
                </a:solidFill>
                <a:latin typeface="Calibri"/>
                <a:cs typeface="Calibri"/>
              </a:rPr>
              <a:t>myMethod</a:t>
            </a:r>
            <a:r>
              <a:rPr lang="en-IN" sz="3174" spc="5" dirty="0">
                <a:solidFill>
                  <a:prstClr val="black"/>
                </a:solidFill>
                <a:latin typeface="Calibri"/>
                <a:cs typeface="Calibri"/>
              </a:rPr>
              <a:t>() </a:t>
            </a:r>
          </a:p>
          <a:p>
            <a:pPr marL="10940" defTabSz="829178">
              <a:tabLst>
                <a:tab pos="555664" algn="l"/>
                <a:tab pos="556240" algn="l"/>
              </a:tabLst>
            </a:pPr>
            <a:r>
              <a:rPr lang="en-IN" sz="3174" spc="5" dirty="0">
                <a:solidFill>
                  <a:prstClr val="black"/>
                </a:solidFill>
                <a:latin typeface="Calibri"/>
                <a:cs typeface="Calibri"/>
              </a:rPr>
              <a:t>		{</a:t>
            </a:r>
          </a:p>
          <a:p>
            <a:pPr marL="11516" defTabSz="829178">
              <a:tabLst>
                <a:tab pos="735320" algn="l"/>
                <a:tab pos="735895" algn="l"/>
              </a:tabLst>
            </a:pPr>
            <a:r>
              <a:rPr lang="en-IN" sz="3174" spc="5" dirty="0">
                <a:solidFill>
                  <a:prstClr val="black"/>
                </a:solidFill>
                <a:latin typeface="Calibri"/>
                <a:cs typeface="Calibri"/>
              </a:rPr>
              <a:t>	System.out.println("I just got executed!");</a:t>
            </a:r>
          </a:p>
          <a:p>
            <a:pPr marL="10940" defTabSz="829178">
              <a:tabLst>
                <a:tab pos="555664" algn="l"/>
                <a:tab pos="556240" algn="l"/>
              </a:tabLst>
            </a:pPr>
            <a:r>
              <a:rPr lang="en-IN" sz="3174" spc="5" dirty="0">
                <a:solidFill>
                  <a:prstClr val="black"/>
                </a:solidFill>
                <a:latin typeface="Calibri"/>
                <a:cs typeface="Calibri"/>
              </a:rPr>
              <a:t>	}</a:t>
            </a:r>
          </a:p>
          <a:p>
            <a:pPr marL="10940" defTabSz="829178">
              <a:tabLst>
                <a:tab pos="555664" algn="l"/>
                <a:tab pos="556240" algn="l"/>
              </a:tabLst>
            </a:pPr>
            <a:r>
              <a:rPr lang="en-IN" sz="3174" spc="5" dirty="0">
                <a:solidFill>
                  <a:prstClr val="black"/>
                </a:solidFill>
                <a:latin typeface="Calibri"/>
                <a:cs typeface="Calibri"/>
              </a:rPr>
              <a:t>public static void main(String[] </a:t>
            </a:r>
            <a:r>
              <a:rPr lang="en-IN" sz="3174" spc="5" dirty="0" err="1">
                <a:solidFill>
                  <a:prstClr val="black"/>
                </a:solidFill>
                <a:latin typeface="Calibri"/>
                <a:cs typeface="Calibri"/>
              </a:rPr>
              <a:t>args</a:t>
            </a:r>
            <a:r>
              <a:rPr lang="en-IN" sz="3174" spc="5" dirty="0">
                <a:solidFill>
                  <a:prstClr val="black"/>
                </a:solidFill>
                <a:latin typeface="Calibri"/>
                <a:cs typeface="Calibri"/>
              </a:rPr>
              <a:t>) </a:t>
            </a:r>
          </a:p>
          <a:p>
            <a:pPr marL="10940" defTabSz="829178">
              <a:tabLst>
                <a:tab pos="555664" algn="l"/>
                <a:tab pos="556240" algn="l"/>
              </a:tabLst>
            </a:pPr>
            <a:r>
              <a:rPr lang="en-IN" sz="3174" spc="5" dirty="0">
                <a:solidFill>
                  <a:prstClr val="black"/>
                </a:solidFill>
                <a:latin typeface="Calibri"/>
                <a:cs typeface="Calibri"/>
              </a:rPr>
              <a:t>	{</a:t>
            </a:r>
          </a:p>
          <a:p>
            <a:pPr marL="11516" defTabSz="829178">
              <a:tabLst>
                <a:tab pos="735320" algn="l"/>
                <a:tab pos="735895" algn="l"/>
              </a:tabLst>
            </a:pPr>
            <a:r>
              <a:rPr lang="en-IN" sz="3174" spc="5" dirty="0">
                <a:solidFill>
                  <a:prstClr val="black"/>
                </a:solidFill>
                <a:latin typeface="Calibri"/>
                <a:cs typeface="Calibri"/>
              </a:rPr>
              <a:t>	</a:t>
            </a:r>
            <a:r>
              <a:rPr lang="en-IN" sz="3174" spc="5" dirty="0" err="1">
                <a:solidFill>
                  <a:prstClr val="black"/>
                </a:solidFill>
                <a:latin typeface="Calibri"/>
                <a:cs typeface="Calibri"/>
              </a:rPr>
              <a:t>myMethod</a:t>
            </a:r>
            <a:r>
              <a:rPr lang="en-IN" sz="3174" spc="5" dirty="0">
                <a:solidFill>
                  <a:prstClr val="black"/>
                </a:solidFill>
                <a:latin typeface="Calibri"/>
                <a:cs typeface="Calibri"/>
              </a:rPr>
              <a:t>();</a:t>
            </a:r>
          </a:p>
          <a:p>
            <a:pPr marL="10940" defTabSz="829178">
              <a:tabLst>
                <a:tab pos="555664" algn="l"/>
                <a:tab pos="556240" algn="l"/>
              </a:tabLst>
            </a:pPr>
            <a:r>
              <a:rPr lang="en-IN" sz="3174" spc="5" dirty="0">
                <a:solidFill>
                  <a:prstClr val="black"/>
                </a:solidFill>
                <a:latin typeface="Calibri"/>
                <a:cs typeface="Calibri"/>
              </a:rPr>
              <a:t>	}</a:t>
            </a:r>
          </a:p>
          <a:p>
            <a:pPr marL="10940" defTabSz="829178">
              <a:tabLst>
                <a:tab pos="373130" algn="l"/>
                <a:tab pos="373706" algn="l"/>
              </a:tabLst>
            </a:pPr>
            <a:r>
              <a:rPr lang="en-IN" sz="3174" spc="5" dirty="0">
                <a:solidFill>
                  <a:prstClr val="black"/>
                </a:solidFill>
                <a:latin typeface="Calibri"/>
                <a:cs typeface="Calibri"/>
              </a:rPr>
              <a:t>}</a:t>
            </a:r>
          </a:p>
        </p:txBody>
      </p:sp>
    </p:spTree>
    <p:extLst>
      <p:ext uri="{BB962C8B-B14F-4D97-AF65-F5344CB8AC3E}">
        <p14:creationId xmlns:p14="http://schemas.microsoft.com/office/powerpoint/2010/main" val="794977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409831" y="6466582"/>
            <a:ext cx="218811" cy="155299"/>
          </a:xfrm>
          <a:prstGeom prst="rect">
            <a:avLst/>
          </a:prstGeom>
        </p:spPr>
        <p:txBody>
          <a:bodyPr vert="horz" wrap="square" lIns="0" tIns="0" rIns="0" bIns="0" rtlCol="0">
            <a:spAutoFit/>
          </a:bodyPr>
          <a:lstStyle/>
          <a:p>
            <a:pPr marL="34549" defTabSz="829178">
              <a:lnSpc>
                <a:spcPts val="1206"/>
              </a:lnSpc>
            </a:pPr>
            <a:fld id="{81D60167-4931-47E6-BA6A-407CBD079E47}" type="slidenum">
              <a:rPr sz="1179" spc="-5" dirty="0">
                <a:solidFill>
                  <a:srgbClr val="878787"/>
                </a:solidFill>
                <a:latin typeface="Calibri"/>
                <a:cs typeface="Calibri"/>
              </a:rPr>
              <a:pPr marL="34549" defTabSz="829178">
                <a:lnSpc>
                  <a:spcPts val="1206"/>
                </a:lnSpc>
              </a:pPr>
              <a:t>34</a:t>
            </a:fld>
            <a:endParaRPr sz="1179">
              <a:solidFill>
                <a:prstClr val="black"/>
              </a:solidFill>
              <a:latin typeface="Calibri"/>
              <a:cs typeface="Calibri"/>
            </a:endParaRPr>
          </a:p>
        </p:txBody>
      </p:sp>
      <p:sp>
        <p:nvSpPr>
          <p:cNvPr id="2" name="object 2"/>
          <p:cNvSpPr txBox="1"/>
          <p:nvPr/>
        </p:nvSpPr>
        <p:spPr>
          <a:xfrm>
            <a:off x="304800" y="236119"/>
            <a:ext cx="8276721" cy="6884348"/>
          </a:xfrm>
          <a:prstGeom prst="rect">
            <a:avLst/>
          </a:prstGeom>
        </p:spPr>
        <p:txBody>
          <a:bodyPr vert="horz" wrap="square" lIns="0" tIns="12092" rIns="0" bIns="0" rtlCol="0">
            <a:spAutoFit/>
          </a:bodyPr>
          <a:lstStyle/>
          <a:p>
            <a:pPr marL="10940" defTabSz="829178">
              <a:spcBef>
                <a:spcPts val="95"/>
              </a:spcBef>
              <a:tabLst>
                <a:tab pos="373130" algn="l"/>
                <a:tab pos="373706" algn="l"/>
              </a:tabLst>
            </a:pPr>
            <a:r>
              <a:rPr lang="en-IN" sz="3200" b="1" dirty="0">
                <a:solidFill>
                  <a:prstClr val="black"/>
                </a:solidFill>
                <a:latin typeface="Calibri"/>
                <a:cs typeface="Calibri"/>
              </a:rPr>
              <a:t>Non-Static methods can be called by creating an object</a:t>
            </a:r>
            <a:endParaRPr lang="en-US" sz="3174" dirty="0">
              <a:solidFill>
                <a:prstClr val="black"/>
              </a:solidFill>
              <a:latin typeface="Calibri"/>
              <a:cs typeface="Calibri"/>
            </a:endParaRPr>
          </a:p>
          <a:p>
            <a:pPr marL="10940" defTabSz="829178">
              <a:spcBef>
                <a:spcPts val="95"/>
              </a:spcBef>
              <a:tabLst>
                <a:tab pos="373130" algn="l"/>
                <a:tab pos="373706" algn="l"/>
              </a:tabLst>
            </a:pPr>
            <a:r>
              <a:rPr sz="3174" dirty="0">
                <a:solidFill>
                  <a:prstClr val="black"/>
                </a:solidFill>
                <a:latin typeface="Calibri"/>
                <a:cs typeface="Calibri"/>
              </a:rPr>
              <a:t>public</a:t>
            </a:r>
            <a:r>
              <a:rPr sz="3174" spc="-68" dirty="0">
                <a:solidFill>
                  <a:prstClr val="black"/>
                </a:solidFill>
                <a:latin typeface="Calibri"/>
                <a:cs typeface="Calibri"/>
              </a:rPr>
              <a:t> </a:t>
            </a:r>
            <a:r>
              <a:rPr sz="3174" dirty="0">
                <a:solidFill>
                  <a:prstClr val="black"/>
                </a:solidFill>
                <a:latin typeface="Calibri"/>
                <a:cs typeface="Calibri"/>
              </a:rPr>
              <a:t>class</a:t>
            </a:r>
            <a:r>
              <a:rPr sz="3174" spc="-45" dirty="0">
                <a:solidFill>
                  <a:prstClr val="black"/>
                </a:solidFill>
                <a:latin typeface="Calibri"/>
                <a:cs typeface="Calibri"/>
              </a:rPr>
              <a:t> </a:t>
            </a:r>
            <a:r>
              <a:rPr sz="3174" spc="5" dirty="0">
                <a:solidFill>
                  <a:prstClr val="black"/>
                </a:solidFill>
                <a:latin typeface="Calibri"/>
                <a:cs typeface="Calibri"/>
              </a:rPr>
              <a:t>Main</a:t>
            </a:r>
            <a:r>
              <a:rPr sz="3174" spc="-50" dirty="0">
                <a:solidFill>
                  <a:prstClr val="black"/>
                </a:solidFill>
                <a:latin typeface="Calibri"/>
                <a:cs typeface="Calibri"/>
              </a:rPr>
              <a:t> </a:t>
            </a:r>
            <a:endParaRPr lang="en-US" sz="3174" spc="-50" dirty="0">
              <a:solidFill>
                <a:prstClr val="black"/>
              </a:solidFill>
              <a:latin typeface="Calibri"/>
              <a:cs typeface="Calibri"/>
            </a:endParaRPr>
          </a:p>
          <a:p>
            <a:pPr marL="10940" defTabSz="829178">
              <a:spcBef>
                <a:spcPts val="95"/>
              </a:spcBef>
              <a:tabLst>
                <a:tab pos="373130" algn="l"/>
                <a:tab pos="373706" algn="l"/>
              </a:tabLst>
            </a:pPr>
            <a:r>
              <a:rPr sz="3174" dirty="0">
                <a:solidFill>
                  <a:prstClr val="black"/>
                </a:solidFill>
                <a:latin typeface="Calibri"/>
                <a:cs typeface="Calibri"/>
              </a:rPr>
              <a:t>{</a:t>
            </a:r>
            <a:endParaRPr lang="en-US" sz="3174" dirty="0">
              <a:solidFill>
                <a:prstClr val="black"/>
              </a:solidFill>
              <a:latin typeface="Calibri"/>
              <a:cs typeface="Calibri"/>
            </a:endParaRPr>
          </a:p>
          <a:p>
            <a:pPr marL="10940" defTabSz="829178">
              <a:tabLst>
                <a:tab pos="555664" algn="l"/>
                <a:tab pos="556240" algn="l"/>
              </a:tabLst>
            </a:pPr>
            <a:r>
              <a:rPr lang="en-US" sz="3174" dirty="0">
                <a:solidFill>
                  <a:prstClr val="black"/>
                </a:solidFill>
                <a:latin typeface="Calibri"/>
                <a:cs typeface="Calibri"/>
              </a:rPr>
              <a:t>	</a:t>
            </a:r>
            <a:r>
              <a:rPr lang="en-US" sz="3174" spc="5" dirty="0">
                <a:solidFill>
                  <a:prstClr val="black"/>
                </a:solidFill>
                <a:latin typeface="Calibri"/>
                <a:cs typeface="Calibri"/>
              </a:rPr>
              <a:t>v</a:t>
            </a:r>
            <a:r>
              <a:rPr sz="3174" spc="5" dirty="0">
                <a:solidFill>
                  <a:prstClr val="black"/>
                </a:solidFill>
                <a:latin typeface="Calibri"/>
                <a:cs typeface="Calibri"/>
              </a:rPr>
              <a:t>oid</a:t>
            </a:r>
            <a:r>
              <a:rPr sz="3174" spc="-54" dirty="0">
                <a:solidFill>
                  <a:prstClr val="black"/>
                </a:solidFill>
                <a:latin typeface="Calibri"/>
                <a:cs typeface="Calibri"/>
              </a:rPr>
              <a:t> </a:t>
            </a:r>
            <a:r>
              <a:rPr sz="3174" dirty="0">
                <a:solidFill>
                  <a:prstClr val="black"/>
                </a:solidFill>
                <a:latin typeface="Calibri"/>
                <a:cs typeface="Calibri"/>
              </a:rPr>
              <a:t>myMethod()</a:t>
            </a:r>
            <a:r>
              <a:rPr sz="3174" spc="-63" dirty="0">
                <a:solidFill>
                  <a:prstClr val="black"/>
                </a:solidFill>
                <a:latin typeface="Calibri"/>
                <a:cs typeface="Calibri"/>
              </a:rPr>
              <a:t> </a:t>
            </a:r>
            <a:endParaRPr lang="en-US" sz="3174" spc="-63" dirty="0">
              <a:solidFill>
                <a:prstClr val="black"/>
              </a:solidFill>
              <a:latin typeface="Calibri"/>
              <a:cs typeface="Calibri"/>
            </a:endParaRPr>
          </a:p>
          <a:p>
            <a:pPr marL="10940" defTabSz="829178">
              <a:tabLst>
                <a:tab pos="555664" algn="l"/>
                <a:tab pos="556240" algn="l"/>
              </a:tabLst>
            </a:pPr>
            <a:r>
              <a:rPr lang="en-IN" sz="3174" spc="-63" dirty="0">
                <a:solidFill>
                  <a:prstClr val="black"/>
                </a:solidFill>
                <a:latin typeface="Calibri"/>
                <a:cs typeface="Calibri"/>
              </a:rPr>
              <a:t>		</a:t>
            </a:r>
            <a:r>
              <a:rPr sz="3174" dirty="0">
                <a:solidFill>
                  <a:prstClr val="black"/>
                </a:solidFill>
                <a:latin typeface="Calibri"/>
                <a:cs typeface="Calibri"/>
              </a:rPr>
              <a:t>{</a:t>
            </a:r>
            <a:endParaRPr lang="en-US" sz="3174" dirty="0">
              <a:solidFill>
                <a:prstClr val="black"/>
              </a:solidFill>
              <a:latin typeface="Calibri"/>
              <a:cs typeface="Calibri"/>
            </a:endParaRPr>
          </a:p>
          <a:p>
            <a:pPr marL="11516" defTabSz="829178">
              <a:tabLst>
                <a:tab pos="735320" algn="l"/>
                <a:tab pos="735895" algn="l"/>
              </a:tabLst>
            </a:pPr>
            <a:r>
              <a:rPr lang="en-US" sz="3174" dirty="0">
                <a:solidFill>
                  <a:prstClr val="black"/>
                </a:solidFill>
                <a:latin typeface="Calibri"/>
                <a:cs typeface="Calibri"/>
              </a:rPr>
              <a:t>	</a:t>
            </a:r>
            <a:r>
              <a:rPr sz="3174" dirty="0" err="1">
                <a:solidFill>
                  <a:prstClr val="black"/>
                </a:solidFill>
                <a:latin typeface="Calibri"/>
                <a:cs typeface="Calibri"/>
              </a:rPr>
              <a:t>System.out.println</a:t>
            </a:r>
            <a:r>
              <a:rPr sz="3174" dirty="0">
                <a:solidFill>
                  <a:prstClr val="black"/>
                </a:solidFill>
                <a:latin typeface="Calibri"/>
                <a:cs typeface="Calibri"/>
              </a:rPr>
              <a:t>("I</a:t>
            </a:r>
            <a:r>
              <a:rPr sz="3174" spc="-82" dirty="0">
                <a:solidFill>
                  <a:prstClr val="black"/>
                </a:solidFill>
                <a:latin typeface="Calibri"/>
                <a:cs typeface="Calibri"/>
              </a:rPr>
              <a:t> </a:t>
            </a:r>
            <a:r>
              <a:rPr sz="3174" dirty="0">
                <a:solidFill>
                  <a:prstClr val="black"/>
                </a:solidFill>
                <a:latin typeface="Calibri"/>
                <a:cs typeface="Calibri"/>
              </a:rPr>
              <a:t>just</a:t>
            </a:r>
            <a:r>
              <a:rPr sz="3174" spc="-23" dirty="0">
                <a:solidFill>
                  <a:prstClr val="black"/>
                </a:solidFill>
                <a:latin typeface="Calibri"/>
                <a:cs typeface="Calibri"/>
              </a:rPr>
              <a:t> </a:t>
            </a:r>
            <a:r>
              <a:rPr sz="3174" dirty="0">
                <a:solidFill>
                  <a:prstClr val="black"/>
                </a:solidFill>
                <a:latin typeface="Calibri"/>
                <a:cs typeface="Calibri"/>
              </a:rPr>
              <a:t>got</a:t>
            </a:r>
            <a:r>
              <a:rPr sz="3174" spc="-27" dirty="0">
                <a:solidFill>
                  <a:prstClr val="black"/>
                </a:solidFill>
                <a:latin typeface="Calibri"/>
                <a:cs typeface="Calibri"/>
              </a:rPr>
              <a:t> </a:t>
            </a:r>
            <a:r>
              <a:rPr sz="3174" dirty="0">
                <a:solidFill>
                  <a:prstClr val="black"/>
                </a:solidFill>
                <a:latin typeface="Calibri"/>
                <a:cs typeface="Calibri"/>
              </a:rPr>
              <a:t>executed!");</a:t>
            </a:r>
          </a:p>
          <a:p>
            <a:pPr marL="10940" defTabSz="829178">
              <a:tabLst>
                <a:tab pos="555664" algn="l"/>
                <a:tab pos="556240" algn="l"/>
              </a:tabLst>
            </a:pPr>
            <a:r>
              <a:rPr lang="en-US" sz="3174" dirty="0">
                <a:solidFill>
                  <a:prstClr val="black"/>
                </a:solidFill>
                <a:latin typeface="Calibri"/>
                <a:cs typeface="Calibri"/>
              </a:rPr>
              <a:t>	</a:t>
            </a:r>
            <a:r>
              <a:rPr sz="3174" dirty="0">
                <a:solidFill>
                  <a:prstClr val="black"/>
                </a:solidFill>
                <a:latin typeface="Calibri"/>
                <a:cs typeface="Calibri"/>
              </a:rPr>
              <a:t>}</a:t>
            </a:r>
          </a:p>
          <a:p>
            <a:pPr marL="10940" defTabSz="829178">
              <a:tabLst>
                <a:tab pos="555664" algn="l"/>
                <a:tab pos="556240" algn="l"/>
              </a:tabLst>
            </a:pPr>
            <a:r>
              <a:rPr sz="3174" spc="5" dirty="0">
                <a:solidFill>
                  <a:prstClr val="black"/>
                </a:solidFill>
                <a:latin typeface="Calibri"/>
                <a:cs typeface="Calibri"/>
              </a:rPr>
              <a:t>public</a:t>
            </a:r>
            <a:r>
              <a:rPr sz="3174" spc="-86" dirty="0">
                <a:solidFill>
                  <a:prstClr val="black"/>
                </a:solidFill>
                <a:latin typeface="Calibri"/>
                <a:cs typeface="Calibri"/>
              </a:rPr>
              <a:t> </a:t>
            </a:r>
            <a:r>
              <a:rPr sz="3174" dirty="0">
                <a:solidFill>
                  <a:prstClr val="black"/>
                </a:solidFill>
                <a:latin typeface="Calibri"/>
                <a:cs typeface="Calibri"/>
              </a:rPr>
              <a:t>static</a:t>
            </a:r>
            <a:r>
              <a:rPr sz="3174" spc="-14" dirty="0">
                <a:solidFill>
                  <a:prstClr val="black"/>
                </a:solidFill>
                <a:latin typeface="Calibri"/>
                <a:cs typeface="Calibri"/>
              </a:rPr>
              <a:t> </a:t>
            </a:r>
            <a:r>
              <a:rPr sz="3174" spc="5" dirty="0">
                <a:solidFill>
                  <a:prstClr val="black"/>
                </a:solidFill>
                <a:latin typeface="Calibri"/>
                <a:cs typeface="Calibri"/>
              </a:rPr>
              <a:t>void</a:t>
            </a:r>
            <a:r>
              <a:rPr sz="3174" spc="-36" dirty="0">
                <a:solidFill>
                  <a:prstClr val="black"/>
                </a:solidFill>
                <a:latin typeface="Calibri"/>
                <a:cs typeface="Calibri"/>
              </a:rPr>
              <a:t> </a:t>
            </a:r>
            <a:r>
              <a:rPr sz="3174" dirty="0">
                <a:solidFill>
                  <a:prstClr val="black"/>
                </a:solidFill>
                <a:latin typeface="Calibri"/>
                <a:cs typeface="Calibri"/>
              </a:rPr>
              <a:t>main(String[]</a:t>
            </a:r>
            <a:r>
              <a:rPr sz="3174" spc="-54" dirty="0">
                <a:solidFill>
                  <a:prstClr val="black"/>
                </a:solidFill>
                <a:latin typeface="Calibri"/>
                <a:cs typeface="Calibri"/>
              </a:rPr>
              <a:t> </a:t>
            </a:r>
            <a:r>
              <a:rPr sz="3174" dirty="0">
                <a:solidFill>
                  <a:prstClr val="black"/>
                </a:solidFill>
                <a:latin typeface="Calibri"/>
                <a:cs typeface="Calibri"/>
              </a:rPr>
              <a:t>args)</a:t>
            </a:r>
            <a:r>
              <a:rPr sz="3174" spc="-5" dirty="0">
                <a:solidFill>
                  <a:prstClr val="black"/>
                </a:solidFill>
                <a:latin typeface="Calibri"/>
                <a:cs typeface="Calibri"/>
              </a:rPr>
              <a:t> </a:t>
            </a:r>
            <a:endParaRPr lang="en-US" sz="3174" spc="-5" dirty="0">
              <a:solidFill>
                <a:prstClr val="black"/>
              </a:solidFill>
              <a:latin typeface="Calibri"/>
              <a:cs typeface="Calibri"/>
            </a:endParaRPr>
          </a:p>
          <a:p>
            <a:pPr marL="10940" defTabSz="829178">
              <a:tabLst>
                <a:tab pos="555664" algn="l"/>
                <a:tab pos="556240" algn="l"/>
              </a:tabLst>
            </a:pPr>
            <a:r>
              <a:rPr lang="en-IN" sz="3174" spc="-5" dirty="0">
                <a:solidFill>
                  <a:prstClr val="black"/>
                </a:solidFill>
                <a:latin typeface="Calibri"/>
                <a:cs typeface="Calibri"/>
              </a:rPr>
              <a:t>	</a:t>
            </a:r>
            <a:r>
              <a:rPr sz="3174" dirty="0">
                <a:solidFill>
                  <a:prstClr val="black"/>
                </a:solidFill>
                <a:latin typeface="Calibri"/>
                <a:cs typeface="Calibri"/>
              </a:rPr>
              <a:t>{</a:t>
            </a:r>
          </a:p>
          <a:p>
            <a:pPr marL="11516" defTabSz="829178">
              <a:tabLst>
                <a:tab pos="735320" algn="l"/>
                <a:tab pos="735895" algn="l"/>
              </a:tabLst>
            </a:pPr>
            <a:r>
              <a:rPr lang="en-US" sz="3174" dirty="0">
                <a:solidFill>
                  <a:prstClr val="black"/>
                </a:solidFill>
                <a:latin typeface="Calibri"/>
                <a:cs typeface="Calibri"/>
              </a:rPr>
              <a:t>	Main obj=new Main();</a:t>
            </a:r>
          </a:p>
          <a:p>
            <a:pPr marL="11516" defTabSz="829178">
              <a:tabLst>
                <a:tab pos="735320" algn="l"/>
                <a:tab pos="735895" algn="l"/>
              </a:tabLst>
            </a:pPr>
            <a:r>
              <a:rPr lang="en-US" sz="3174" dirty="0">
                <a:solidFill>
                  <a:prstClr val="black"/>
                </a:solidFill>
                <a:latin typeface="Calibri"/>
                <a:cs typeface="Calibri"/>
              </a:rPr>
              <a:t>	</a:t>
            </a:r>
            <a:r>
              <a:rPr lang="en-US" sz="3174" dirty="0" err="1">
                <a:solidFill>
                  <a:prstClr val="black"/>
                </a:solidFill>
                <a:latin typeface="Calibri"/>
                <a:cs typeface="Calibri"/>
              </a:rPr>
              <a:t>Obj.</a:t>
            </a:r>
            <a:r>
              <a:rPr sz="3174" dirty="0" err="1">
                <a:solidFill>
                  <a:prstClr val="black"/>
                </a:solidFill>
                <a:latin typeface="Calibri"/>
                <a:cs typeface="Calibri"/>
              </a:rPr>
              <a:t>myMethod</a:t>
            </a:r>
            <a:r>
              <a:rPr sz="3174" dirty="0">
                <a:solidFill>
                  <a:prstClr val="black"/>
                </a:solidFill>
                <a:latin typeface="Calibri"/>
                <a:cs typeface="Calibri"/>
              </a:rPr>
              <a:t>();</a:t>
            </a:r>
          </a:p>
          <a:p>
            <a:pPr marL="10940" defTabSz="829178">
              <a:tabLst>
                <a:tab pos="555664" algn="l"/>
                <a:tab pos="556240" algn="l"/>
              </a:tabLst>
            </a:pPr>
            <a:r>
              <a:rPr lang="en-US" sz="3174" dirty="0">
                <a:solidFill>
                  <a:prstClr val="black"/>
                </a:solidFill>
                <a:latin typeface="Calibri"/>
                <a:cs typeface="Calibri"/>
              </a:rPr>
              <a:t>	</a:t>
            </a:r>
            <a:r>
              <a:rPr sz="3174" dirty="0">
                <a:solidFill>
                  <a:prstClr val="black"/>
                </a:solidFill>
                <a:latin typeface="Calibri"/>
                <a:cs typeface="Calibri"/>
              </a:rPr>
              <a:t>}</a:t>
            </a:r>
            <a:endParaRPr lang="en-US" sz="3174" dirty="0">
              <a:solidFill>
                <a:prstClr val="black"/>
              </a:solidFill>
              <a:latin typeface="Calibri"/>
              <a:cs typeface="Calibri"/>
            </a:endParaRPr>
          </a:p>
          <a:p>
            <a:pPr marL="10940" defTabSz="829178">
              <a:tabLst>
                <a:tab pos="555664" algn="l"/>
                <a:tab pos="556240" algn="l"/>
              </a:tabLst>
            </a:pPr>
            <a:r>
              <a:rPr sz="3174" dirty="0">
                <a:solidFill>
                  <a:prstClr val="black"/>
                </a:solidFill>
                <a:latin typeface="Calibri"/>
                <a:cs typeface="Calibri"/>
              </a:rPr>
              <a: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409831" y="6466582"/>
            <a:ext cx="218811" cy="155299"/>
          </a:xfrm>
          <a:prstGeom prst="rect">
            <a:avLst/>
          </a:prstGeom>
        </p:spPr>
        <p:txBody>
          <a:bodyPr vert="horz" wrap="square" lIns="0" tIns="0" rIns="0" bIns="0" rtlCol="0">
            <a:spAutoFit/>
          </a:bodyPr>
          <a:lstStyle/>
          <a:p>
            <a:pPr marL="34549" defTabSz="829178">
              <a:lnSpc>
                <a:spcPts val="1206"/>
              </a:lnSpc>
            </a:pPr>
            <a:fld id="{81D60167-4931-47E6-BA6A-407CBD079E47}" type="slidenum">
              <a:rPr sz="1179" spc="-5" dirty="0">
                <a:solidFill>
                  <a:srgbClr val="878787"/>
                </a:solidFill>
                <a:latin typeface="Calibri"/>
                <a:cs typeface="Calibri"/>
              </a:rPr>
              <a:pPr marL="34549" defTabSz="829178">
                <a:lnSpc>
                  <a:spcPts val="1206"/>
                </a:lnSpc>
              </a:pPr>
              <a:t>35</a:t>
            </a:fld>
            <a:endParaRPr sz="1179">
              <a:solidFill>
                <a:prstClr val="black"/>
              </a:solidFill>
              <a:latin typeface="Calibri"/>
              <a:cs typeface="Calibri"/>
            </a:endParaRPr>
          </a:p>
        </p:txBody>
      </p:sp>
      <p:sp>
        <p:nvSpPr>
          <p:cNvPr id="4" name="TextBox 3"/>
          <p:cNvSpPr txBox="1"/>
          <p:nvPr/>
        </p:nvSpPr>
        <p:spPr>
          <a:xfrm>
            <a:off x="685800" y="714229"/>
            <a:ext cx="7391400" cy="5724644"/>
          </a:xfrm>
          <a:prstGeom prst="rect">
            <a:avLst/>
          </a:prstGeom>
          <a:noFill/>
        </p:spPr>
        <p:txBody>
          <a:bodyPr wrap="square" rtlCol="0">
            <a:spAutoFit/>
          </a:bodyPr>
          <a:lstStyle/>
          <a:p>
            <a:r>
              <a:rPr lang="en-US" sz="2400" b="1" dirty="0" smtClean="0"/>
              <a:t>//Program to find sum of two numbers</a:t>
            </a:r>
          </a:p>
          <a:p>
            <a:r>
              <a:rPr lang="en-US" dirty="0" smtClean="0"/>
              <a:t>class Addition</a:t>
            </a:r>
          </a:p>
          <a:p>
            <a:r>
              <a:rPr lang="en-US" dirty="0" smtClean="0"/>
              <a:t>{</a:t>
            </a:r>
          </a:p>
          <a:p>
            <a:r>
              <a:rPr lang="en-US" dirty="0" smtClean="0"/>
              <a:t>//Declaring instance variable</a:t>
            </a:r>
          </a:p>
          <a:p>
            <a:r>
              <a:rPr lang="en-US" dirty="0" smtClean="0"/>
              <a:t>int a=20;</a:t>
            </a:r>
          </a:p>
          <a:p>
            <a:r>
              <a:rPr lang="en-US" dirty="0"/>
              <a:t>i</a:t>
            </a:r>
            <a:r>
              <a:rPr lang="en-US" dirty="0" smtClean="0"/>
              <a:t>nt b=30;</a:t>
            </a:r>
          </a:p>
          <a:p>
            <a:r>
              <a:rPr lang="en-US" dirty="0" err="1" smtClean="0"/>
              <a:t>System.out.println</a:t>
            </a:r>
            <a:r>
              <a:rPr lang="en-US" dirty="0" smtClean="0"/>
              <a:t>(</a:t>
            </a:r>
            <a:r>
              <a:rPr lang="en-US" dirty="0" err="1" smtClean="0"/>
              <a:t>a+b</a:t>
            </a:r>
            <a:r>
              <a:rPr lang="en-US" dirty="0" smtClean="0"/>
              <a:t>);   //Invalid Syntax</a:t>
            </a:r>
          </a:p>
          <a:p>
            <a:endParaRPr lang="en-US" dirty="0"/>
          </a:p>
          <a:p>
            <a:r>
              <a:rPr lang="en-US" dirty="0"/>
              <a:t>v</a:t>
            </a:r>
            <a:r>
              <a:rPr lang="en-US" dirty="0" smtClean="0"/>
              <a:t>oid add()</a:t>
            </a:r>
          </a:p>
          <a:p>
            <a:r>
              <a:rPr lang="en-US" dirty="0" smtClean="0"/>
              <a:t>{</a:t>
            </a:r>
          </a:p>
          <a:p>
            <a:r>
              <a:rPr lang="en-US" dirty="0" err="1"/>
              <a:t>System.out.println</a:t>
            </a:r>
            <a:r>
              <a:rPr lang="en-US" dirty="0"/>
              <a:t>(</a:t>
            </a:r>
            <a:r>
              <a:rPr lang="en-US" dirty="0" err="1"/>
              <a:t>a+b</a:t>
            </a:r>
            <a:r>
              <a:rPr lang="en-US" dirty="0" smtClean="0"/>
              <a:t>);</a:t>
            </a:r>
          </a:p>
          <a:p>
            <a:r>
              <a:rPr lang="en-US" dirty="0" smtClean="0"/>
              <a:t>}</a:t>
            </a:r>
          </a:p>
          <a:p>
            <a:pPr marL="10940" defTabSz="829178">
              <a:tabLst>
                <a:tab pos="555664" algn="l"/>
                <a:tab pos="556240" algn="l"/>
              </a:tabLst>
            </a:pPr>
            <a:r>
              <a:rPr lang="en-US" spc="5" dirty="0">
                <a:solidFill>
                  <a:prstClr val="black"/>
                </a:solidFill>
                <a:cs typeface="Calibri"/>
              </a:rPr>
              <a:t>public</a:t>
            </a:r>
            <a:r>
              <a:rPr lang="en-US" spc="-86" dirty="0">
                <a:solidFill>
                  <a:prstClr val="black"/>
                </a:solidFill>
                <a:cs typeface="Calibri"/>
              </a:rPr>
              <a:t> </a:t>
            </a:r>
            <a:r>
              <a:rPr lang="en-US" dirty="0">
                <a:solidFill>
                  <a:prstClr val="black"/>
                </a:solidFill>
                <a:cs typeface="Calibri"/>
              </a:rPr>
              <a:t>static</a:t>
            </a:r>
            <a:r>
              <a:rPr lang="en-US" spc="-14" dirty="0">
                <a:solidFill>
                  <a:prstClr val="black"/>
                </a:solidFill>
                <a:cs typeface="Calibri"/>
              </a:rPr>
              <a:t> </a:t>
            </a:r>
            <a:r>
              <a:rPr lang="en-US" spc="5" dirty="0">
                <a:solidFill>
                  <a:prstClr val="black"/>
                </a:solidFill>
                <a:cs typeface="Calibri"/>
              </a:rPr>
              <a:t>void</a:t>
            </a:r>
            <a:r>
              <a:rPr lang="en-US" spc="-36" dirty="0">
                <a:solidFill>
                  <a:prstClr val="black"/>
                </a:solidFill>
                <a:cs typeface="Calibri"/>
              </a:rPr>
              <a:t> </a:t>
            </a:r>
            <a:r>
              <a:rPr lang="en-US" dirty="0">
                <a:solidFill>
                  <a:prstClr val="black"/>
                </a:solidFill>
                <a:cs typeface="Calibri"/>
              </a:rPr>
              <a:t>main(String[]</a:t>
            </a:r>
            <a:r>
              <a:rPr lang="en-US" spc="-54" dirty="0">
                <a:solidFill>
                  <a:prstClr val="black"/>
                </a:solidFill>
                <a:cs typeface="Calibri"/>
              </a:rPr>
              <a:t> </a:t>
            </a:r>
            <a:r>
              <a:rPr lang="en-US" dirty="0" err="1">
                <a:solidFill>
                  <a:prstClr val="black"/>
                </a:solidFill>
                <a:cs typeface="Calibri"/>
              </a:rPr>
              <a:t>args</a:t>
            </a:r>
            <a:r>
              <a:rPr lang="en-US" dirty="0">
                <a:solidFill>
                  <a:prstClr val="black"/>
                </a:solidFill>
                <a:cs typeface="Calibri"/>
              </a:rPr>
              <a:t>)</a:t>
            </a:r>
            <a:r>
              <a:rPr lang="en-US" spc="-5" dirty="0">
                <a:solidFill>
                  <a:prstClr val="black"/>
                </a:solidFill>
                <a:cs typeface="Calibri"/>
              </a:rPr>
              <a:t> </a:t>
            </a:r>
          </a:p>
          <a:p>
            <a:pPr marL="10940" defTabSz="829178">
              <a:tabLst>
                <a:tab pos="555664" algn="l"/>
                <a:tab pos="556240" algn="l"/>
              </a:tabLst>
            </a:pPr>
            <a:r>
              <a:rPr lang="en-US" spc="-5" dirty="0">
                <a:solidFill>
                  <a:prstClr val="black"/>
                </a:solidFill>
                <a:cs typeface="Calibri"/>
              </a:rPr>
              <a:t>	</a:t>
            </a:r>
            <a:r>
              <a:rPr lang="en-US" dirty="0">
                <a:solidFill>
                  <a:prstClr val="black"/>
                </a:solidFill>
                <a:cs typeface="Calibri"/>
              </a:rPr>
              <a:t>{</a:t>
            </a:r>
          </a:p>
          <a:p>
            <a:pPr marL="11516" defTabSz="829178">
              <a:tabLst>
                <a:tab pos="735320" algn="l"/>
                <a:tab pos="735895" algn="l"/>
              </a:tabLst>
            </a:pPr>
            <a:r>
              <a:rPr lang="en-US" dirty="0">
                <a:solidFill>
                  <a:prstClr val="black"/>
                </a:solidFill>
                <a:cs typeface="Calibri"/>
              </a:rPr>
              <a:t>	</a:t>
            </a:r>
            <a:r>
              <a:rPr lang="en-US" dirty="0" smtClean="0">
                <a:solidFill>
                  <a:prstClr val="black"/>
                </a:solidFill>
                <a:cs typeface="Calibri"/>
              </a:rPr>
              <a:t>Addition </a:t>
            </a:r>
            <a:r>
              <a:rPr lang="en-US" dirty="0" err="1">
                <a:solidFill>
                  <a:prstClr val="black"/>
                </a:solidFill>
                <a:cs typeface="Calibri"/>
              </a:rPr>
              <a:t>obj</a:t>
            </a:r>
            <a:r>
              <a:rPr lang="en-US" dirty="0">
                <a:solidFill>
                  <a:prstClr val="black"/>
                </a:solidFill>
                <a:cs typeface="Calibri"/>
              </a:rPr>
              <a:t>=new </a:t>
            </a:r>
            <a:r>
              <a:rPr lang="en-US" dirty="0" smtClean="0">
                <a:solidFill>
                  <a:prstClr val="black"/>
                </a:solidFill>
                <a:cs typeface="Calibri"/>
              </a:rPr>
              <a:t>Addition();</a:t>
            </a:r>
            <a:endParaRPr lang="en-US" dirty="0">
              <a:solidFill>
                <a:prstClr val="black"/>
              </a:solidFill>
              <a:cs typeface="Calibri"/>
            </a:endParaRPr>
          </a:p>
          <a:p>
            <a:pPr marL="11516" defTabSz="829178">
              <a:tabLst>
                <a:tab pos="735320" algn="l"/>
                <a:tab pos="735895" algn="l"/>
              </a:tabLst>
            </a:pPr>
            <a:r>
              <a:rPr lang="en-US" dirty="0">
                <a:solidFill>
                  <a:prstClr val="black"/>
                </a:solidFill>
                <a:cs typeface="Calibri"/>
              </a:rPr>
              <a:t>	</a:t>
            </a:r>
            <a:r>
              <a:rPr lang="en-US" dirty="0" err="1" smtClean="0">
                <a:solidFill>
                  <a:prstClr val="black"/>
                </a:solidFill>
                <a:cs typeface="Calibri"/>
              </a:rPr>
              <a:t>Obj.add</a:t>
            </a:r>
            <a:r>
              <a:rPr lang="en-US" dirty="0" smtClean="0">
                <a:solidFill>
                  <a:prstClr val="black"/>
                </a:solidFill>
                <a:cs typeface="Calibri"/>
              </a:rPr>
              <a:t>();</a:t>
            </a:r>
          </a:p>
          <a:p>
            <a:pPr marL="11516" defTabSz="829178">
              <a:tabLst>
                <a:tab pos="735320" algn="l"/>
                <a:tab pos="735895" algn="l"/>
              </a:tabLst>
            </a:pPr>
            <a:r>
              <a:rPr lang="en-US" dirty="0" smtClean="0">
                <a:solidFill>
                  <a:prstClr val="black"/>
                </a:solidFill>
                <a:cs typeface="Calibri"/>
              </a:rPr>
              <a:t>}</a:t>
            </a:r>
          </a:p>
          <a:p>
            <a:pPr marL="11516" defTabSz="829178">
              <a:tabLst>
                <a:tab pos="735320" algn="l"/>
                <a:tab pos="735895" algn="l"/>
              </a:tabLst>
            </a:pPr>
            <a:r>
              <a:rPr lang="en-US" dirty="0">
                <a:solidFill>
                  <a:prstClr val="black"/>
                </a:solidFill>
                <a:cs typeface="Calibri"/>
              </a:rPr>
              <a:t>}</a:t>
            </a:r>
          </a:p>
          <a:p>
            <a:endParaRPr lang="en-US" dirty="0" smtClean="0"/>
          </a:p>
          <a:p>
            <a:endParaRPr lang="en-IN" dirty="0"/>
          </a:p>
        </p:txBody>
      </p:sp>
    </p:spTree>
    <p:extLst>
      <p:ext uri="{BB962C8B-B14F-4D97-AF65-F5344CB8AC3E}">
        <p14:creationId xmlns:p14="http://schemas.microsoft.com/office/powerpoint/2010/main" val="20757160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409831" y="6466582"/>
            <a:ext cx="218811" cy="155299"/>
          </a:xfrm>
          <a:prstGeom prst="rect">
            <a:avLst/>
          </a:prstGeom>
        </p:spPr>
        <p:txBody>
          <a:bodyPr vert="horz" wrap="square" lIns="0" tIns="0" rIns="0" bIns="0" rtlCol="0">
            <a:spAutoFit/>
          </a:bodyPr>
          <a:lstStyle/>
          <a:p>
            <a:pPr marL="34549" defTabSz="829178">
              <a:lnSpc>
                <a:spcPts val="1206"/>
              </a:lnSpc>
            </a:pPr>
            <a:fld id="{81D60167-4931-47E6-BA6A-407CBD079E47}" type="slidenum">
              <a:rPr sz="1179" spc="-5" dirty="0">
                <a:solidFill>
                  <a:srgbClr val="878787"/>
                </a:solidFill>
                <a:latin typeface="Calibri"/>
                <a:cs typeface="Calibri"/>
              </a:rPr>
              <a:pPr marL="34549" defTabSz="829178">
                <a:lnSpc>
                  <a:spcPts val="1206"/>
                </a:lnSpc>
              </a:pPr>
              <a:t>36</a:t>
            </a:fld>
            <a:endParaRPr sz="1179">
              <a:solidFill>
                <a:prstClr val="black"/>
              </a:solidFill>
              <a:latin typeface="Calibri"/>
              <a:cs typeface="Calibri"/>
            </a:endParaRPr>
          </a:p>
        </p:txBody>
      </p:sp>
      <p:sp>
        <p:nvSpPr>
          <p:cNvPr id="2" name="object 2"/>
          <p:cNvSpPr txBox="1"/>
          <p:nvPr/>
        </p:nvSpPr>
        <p:spPr>
          <a:xfrm>
            <a:off x="457200" y="533400"/>
            <a:ext cx="8077200" cy="4495851"/>
          </a:xfrm>
          <a:prstGeom prst="rect">
            <a:avLst/>
          </a:prstGeom>
        </p:spPr>
        <p:txBody>
          <a:bodyPr vert="horz" wrap="square" lIns="0" tIns="59885" rIns="0" bIns="0" rtlCol="0">
            <a:spAutoFit/>
          </a:bodyPr>
          <a:lstStyle/>
          <a:p>
            <a:pPr marL="11516" marR="4607" defTabSz="829178">
              <a:lnSpc>
                <a:spcPct val="90100"/>
              </a:lnSpc>
              <a:spcBef>
                <a:spcPts val="472"/>
              </a:spcBef>
            </a:pPr>
            <a:r>
              <a:rPr sz="2800" b="1" dirty="0">
                <a:solidFill>
                  <a:prstClr val="black"/>
                </a:solidFill>
                <a:latin typeface="Calibri"/>
                <a:cs typeface="Calibri"/>
              </a:rPr>
              <a:t>Write a Program to print the area of </a:t>
            </a:r>
            <a:r>
              <a:rPr sz="2800" b="1" dirty="0" smtClean="0">
                <a:solidFill>
                  <a:prstClr val="black"/>
                </a:solidFill>
                <a:latin typeface="Calibri"/>
                <a:cs typeface="Calibri"/>
              </a:rPr>
              <a:t>triangle</a:t>
            </a:r>
            <a:endParaRPr lang="en-US" sz="2800" b="1" dirty="0" smtClean="0">
              <a:solidFill>
                <a:prstClr val="black"/>
              </a:solidFill>
              <a:latin typeface="Calibri"/>
              <a:cs typeface="Calibri"/>
            </a:endParaRPr>
          </a:p>
          <a:p>
            <a:pPr marL="11516" marR="4607" defTabSz="829178">
              <a:lnSpc>
                <a:spcPct val="90100"/>
              </a:lnSpc>
              <a:spcBef>
                <a:spcPts val="472"/>
              </a:spcBef>
            </a:pPr>
            <a:r>
              <a:rPr sz="3174" spc="-59" dirty="0" smtClean="0">
                <a:solidFill>
                  <a:prstClr val="black"/>
                </a:solidFill>
                <a:latin typeface="Calibri"/>
                <a:cs typeface="Calibri"/>
              </a:rPr>
              <a:t> </a:t>
            </a:r>
            <a:r>
              <a:rPr sz="3174" dirty="0">
                <a:solidFill>
                  <a:prstClr val="black"/>
                </a:solidFill>
                <a:latin typeface="Calibri"/>
                <a:cs typeface="Calibri"/>
              </a:rPr>
              <a:t>class </a:t>
            </a:r>
            <a:r>
              <a:rPr sz="3174" spc="-703" dirty="0">
                <a:solidFill>
                  <a:prstClr val="black"/>
                </a:solidFill>
                <a:latin typeface="Calibri"/>
                <a:cs typeface="Calibri"/>
              </a:rPr>
              <a:t> </a:t>
            </a:r>
            <a:r>
              <a:rPr sz="3174" spc="-5" dirty="0">
                <a:solidFill>
                  <a:prstClr val="black"/>
                </a:solidFill>
                <a:latin typeface="Calibri"/>
                <a:cs typeface="Calibri"/>
              </a:rPr>
              <a:t>Area</a:t>
            </a:r>
            <a:r>
              <a:rPr sz="3174" spc="-18" dirty="0">
                <a:solidFill>
                  <a:prstClr val="black"/>
                </a:solidFill>
                <a:latin typeface="Calibri"/>
                <a:cs typeface="Calibri"/>
              </a:rPr>
              <a:t> </a:t>
            </a:r>
            <a:r>
              <a:rPr sz="3174" dirty="0">
                <a:solidFill>
                  <a:prstClr val="black"/>
                </a:solidFill>
                <a:latin typeface="Calibri"/>
                <a:cs typeface="Calibri"/>
              </a:rPr>
              <a:t>{</a:t>
            </a:r>
          </a:p>
          <a:p>
            <a:pPr marL="102496" marR="1620928" defTabSz="829178">
              <a:lnSpc>
                <a:spcPct val="106300"/>
              </a:lnSpc>
              <a:spcBef>
                <a:spcPts val="23"/>
              </a:spcBef>
            </a:pPr>
            <a:r>
              <a:rPr sz="3174" dirty="0">
                <a:solidFill>
                  <a:prstClr val="black"/>
                </a:solidFill>
                <a:latin typeface="Calibri"/>
                <a:cs typeface="Calibri"/>
              </a:rPr>
              <a:t>public</a:t>
            </a:r>
            <a:r>
              <a:rPr sz="3174" spc="-82" dirty="0">
                <a:solidFill>
                  <a:prstClr val="black"/>
                </a:solidFill>
                <a:latin typeface="Calibri"/>
                <a:cs typeface="Calibri"/>
              </a:rPr>
              <a:t> </a:t>
            </a:r>
            <a:r>
              <a:rPr sz="3174" spc="-5" dirty="0">
                <a:solidFill>
                  <a:prstClr val="black"/>
                </a:solidFill>
                <a:latin typeface="Calibri"/>
                <a:cs typeface="Calibri"/>
              </a:rPr>
              <a:t>static</a:t>
            </a:r>
            <a:r>
              <a:rPr sz="3174" spc="-14" dirty="0">
                <a:solidFill>
                  <a:prstClr val="black"/>
                </a:solidFill>
                <a:latin typeface="Calibri"/>
                <a:cs typeface="Calibri"/>
              </a:rPr>
              <a:t> </a:t>
            </a:r>
            <a:r>
              <a:rPr sz="3174" dirty="0">
                <a:solidFill>
                  <a:prstClr val="black"/>
                </a:solidFill>
                <a:latin typeface="Calibri"/>
                <a:cs typeface="Calibri"/>
              </a:rPr>
              <a:t>void</a:t>
            </a:r>
            <a:r>
              <a:rPr sz="3174" spc="-36" dirty="0">
                <a:solidFill>
                  <a:prstClr val="black"/>
                </a:solidFill>
                <a:latin typeface="Calibri"/>
                <a:cs typeface="Calibri"/>
              </a:rPr>
              <a:t> </a:t>
            </a:r>
            <a:r>
              <a:rPr sz="3174" dirty="0">
                <a:solidFill>
                  <a:prstClr val="black"/>
                </a:solidFill>
                <a:latin typeface="Calibri"/>
                <a:cs typeface="Calibri"/>
              </a:rPr>
              <a:t>main(String</a:t>
            </a:r>
            <a:r>
              <a:rPr sz="3174" spc="-41" dirty="0">
                <a:solidFill>
                  <a:prstClr val="black"/>
                </a:solidFill>
                <a:latin typeface="Calibri"/>
                <a:cs typeface="Calibri"/>
              </a:rPr>
              <a:t> </a:t>
            </a:r>
            <a:r>
              <a:rPr sz="3174" dirty="0">
                <a:solidFill>
                  <a:prstClr val="black"/>
                </a:solidFill>
                <a:latin typeface="Calibri"/>
                <a:cs typeface="Calibri"/>
              </a:rPr>
              <a:t>args[])</a:t>
            </a:r>
            <a:r>
              <a:rPr sz="3174" spc="-18" dirty="0">
                <a:solidFill>
                  <a:prstClr val="black"/>
                </a:solidFill>
                <a:latin typeface="Calibri"/>
                <a:cs typeface="Calibri"/>
              </a:rPr>
              <a:t> </a:t>
            </a:r>
            <a:endParaRPr lang="en-US" sz="3174" spc="-18" dirty="0">
              <a:solidFill>
                <a:prstClr val="black"/>
              </a:solidFill>
              <a:latin typeface="Calibri"/>
              <a:cs typeface="Calibri"/>
            </a:endParaRPr>
          </a:p>
          <a:p>
            <a:pPr marL="102496" marR="1620928" defTabSz="829178">
              <a:lnSpc>
                <a:spcPct val="106300"/>
              </a:lnSpc>
              <a:spcBef>
                <a:spcPts val="23"/>
              </a:spcBef>
            </a:pPr>
            <a:r>
              <a:rPr sz="3174" dirty="0">
                <a:solidFill>
                  <a:prstClr val="black"/>
                </a:solidFill>
                <a:latin typeface="Calibri"/>
                <a:cs typeface="Calibri"/>
              </a:rPr>
              <a:t>{</a:t>
            </a:r>
            <a:endParaRPr lang="en-US" sz="3174" dirty="0">
              <a:solidFill>
                <a:prstClr val="black"/>
              </a:solidFill>
              <a:latin typeface="Calibri"/>
              <a:cs typeface="Calibri"/>
            </a:endParaRPr>
          </a:p>
          <a:p>
            <a:pPr marL="102496" marR="1620928" defTabSz="829178">
              <a:lnSpc>
                <a:spcPct val="106300"/>
              </a:lnSpc>
              <a:spcBef>
                <a:spcPts val="23"/>
              </a:spcBef>
            </a:pPr>
            <a:r>
              <a:rPr sz="3174" dirty="0">
                <a:solidFill>
                  <a:prstClr val="black"/>
                </a:solidFill>
                <a:latin typeface="Calibri"/>
                <a:cs typeface="Calibri"/>
              </a:rPr>
              <a:t> </a:t>
            </a:r>
            <a:r>
              <a:rPr sz="3174" spc="-707" dirty="0">
                <a:solidFill>
                  <a:prstClr val="black"/>
                </a:solidFill>
                <a:latin typeface="Calibri"/>
                <a:cs typeface="Calibri"/>
              </a:rPr>
              <a:t> </a:t>
            </a:r>
            <a:r>
              <a:rPr sz="3174" spc="5" dirty="0">
                <a:solidFill>
                  <a:prstClr val="black"/>
                </a:solidFill>
                <a:latin typeface="Calibri"/>
                <a:cs typeface="Calibri"/>
              </a:rPr>
              <a:t>int</a:t>
            </a:r>
            <a:r>
              <a:rPr sz="3174" spc="-45" dirty="0">
                <a:solidFill>
                  <a:prstClr val="black"/>
                </a:solidFill>
                <a:latin typeface="Calibri"/>
                <a:cs typeface="Calibri"/>
              </a:rPr>
              <a:t> </a:t>
            </a:r>
            <a:r>
              <a:rPr sz="3174" dirty="0">
                <a:solidFill>
                  <a:prstClr val="black"/>
                </a:solidFill>
                <a:latin typeface="Calibri"/>
                <a:cs typeface="Calibri"/>
              </a:rPr>
              <a:t>height</a:t>
            </a:r>
            <a:r>
              <a:rPr sz="3174" spc="-41" dirty="0">
                <a:solidFill>
                  <a:prstClr val="black"/>
                </a:solidFill>
                <a:latin typeface="Calibri"/>
                <a:cs typeface="Calibri"/>
              </a:rPr>
              <a:t> </a:t>
            </a:r>
            <a:r>
              <a:rPr sz="3174" spc="-5" dirty="0">
                <a:solidFill>
                  <a:prstClr val="black"/>
                </a:solidFill>
                <a:latin typeface="Calibri"/>
                <a:cs typeface="Calibri"/>
              </a:rPr>
              <a:t>=10,base=6;</a:t>
            </a:r>
            <a:endParaRPr sz="3174" dirty="0">
              <a:solidFill>
                <a:prstClr val="black"/>
              </a:solidFill>
              <a:latin typeface="Calibri"/>
              <a:cs typeface="Calibri"/>
            </a:endParaRPr>
          </a:p>
          <a:p>
            <a:pPr marL="11516" defTabSz="829178">
              <a:lnSpc>
                <a:spcPts val="3623"/>
              </a:lnSpc>
              <a:spcBef>
                <a:spcPts val="263"/>
              </a:spcBef>
            </a:pPr>
            <a:r>
              <a:rPr sz="3174" dirty="0">
                <a:solidFill>
                  <a:prstClr val="black"/>
                </a:solidFill>
                <a:latin typeface="Calibri"/>
                <a:cs typeface="Calibri"/>
              </a:rPr>
              <a:t>float</a:t>
            </a:r>
            <a:r>
              <a:rPr sz="3174" spc="-50" dirty="0">
                <a:solidFill>
                  <a:prstClr val="black"/>
                </a:solidFill>
                <a:latin typeface="Calibri"/>
                <a:cs typeface="Calibri"/>
              </a:rPr>
              <a:t> </a:t>
            </a:r>
            <a:r>
              <a:rPr sz="3174" dirty="0">
                <a:solidFill>
                  <a:prstClr val="black"/>
                </a:solidFill>
                <a:latin typeface="Calibri"/>
                <a:cs typeface="Calibri"/>
              </a:rPr>
              <a:t>area=0.5F*base*</a:t>
            </a:r>
            <a:r>
              <a:rPr sz="3174" spc="-82" dirty="0">
                <a:solidFill>
                  <a:prstClr val="black"/>
                </a:solidFill>
                <a:latin typeface="Calibri"/>
                <a:cs typeface="Calibri"/>
              </a:rPr>
              <a:t> </a:t>
            </a:r>
            <a:r>
              <a:rPr sz="3174" dirty="0">
                <a:solidFill>
                  <a:prstClr val="black"/>
                </a:solidFill>
                <a:latin typeface="Calibri"/>
                <a:cs typeface="Calibri"/>
              </a:rPr>
              <a:t>height;</a:t>
            </a:r>
          </a:p>
          <a:p>
            <a:pPr marL="11516" defTabSz="829178">
              <a:lnSpc>
                <a:spcPts val="3623"/>
              </a:lnSpc>
            </a:pPr>
            <a:r>
              <a:rPr sz="3174" dirty="0">
                <a:solidFill>
                  <a:prstClr val="black"/>
                </a:solidFill>
                <a:latin typeface="Calibri"/>
                <a:cs typeface="Calibri"/>
              </a:rPr>
              <a:t>System.out.println(“area</a:t>
            </a:r>
            <a:r>
              <a:rPr sz="3174" spc="-77" dirty="0">
                <a:solidFill>
                  <a:prstClr val="black"/>
                </a:solidFill>
                <a:latin typeface="Calibri"/>
                <a:cs typeface="Calibri"/>
              </a:rPr>
              <a:t> </a:t>
            </a:r>
            <a:r>
              <a:rPr sz="3174" dirty="0">
                <a:solidFill>
                  <a:prstClr val="black"/>
                </a:solidFill>
                <a:latin typeface="Calibri"/>
                <a:cs typeface="Calibri"/>
              </a:rPr>
              <a:t>of</a:t>
            </a:r>
            <a:r>
              <a:rPr sz="3174" spc="-23" dirty="0">
                <a:solidFill>
                  <a:prstClr val="black"/>
                </a:solidFill>
                <a:latin typeface="Calibri"/>
                <a:cs typeface="Calibri"/>
              </a:rPr>
              <a:t> </a:t>
            </a:r>
            <a:r>
              <a:rPr sz="3174" dirty="0">
                <a:solidFill>
                  <a:prstClr val="black"/>
                </a:solidFill>
                <a:latin typeface="Calibri"/>
                <a:cs typeface="Calibri"/>
              </a:rPr>
              <a:t>triangle</a:t>
            </a:r>
            <a:r>
              <a:rPr sz="3174" spc="-68" dirty="0">
                <a:solidFill>
                  <a:prstClr val="black"/>
                </a:solidFill>
                <a:latin typeface="Calibri"/>
                <a:cs typeface="Calibri"/>
              </a:rPr>
              <a:t> </a:t>
            </a:r>
            <a:r>
              <a:rPr sz="3174" dirty="0">
                <a:solidFill>
                  <a:prstClr val="black"/>
                </a:solidFill>
                <a:latin typeface="Calibri"/>
                <a:cs typeface="Calibri"/>
              </a:rPr>
              <a:t>=</a:t>
            </a:r>
            <a:r>
              <a:rPr sz="3174" spc="-23" dirty="0">
                <a:solidFill>
                  <a:prstClr val="black"/>
                </a:solidFill>
                <a:latin typeface="Calibri"/>
                <a:cs typeface="Calibri"/>
              </a:rPr>
              <a:t> </a:t>
            </a:r>
            <a:r>
              <a:rPr sz="3174" dirty="0">
                <a:solidFill>
                  <a:prstClr val="black"/>
                </a:solidFill>
                <a:latin typeface="Calibri"/>
                <a:cs typeface="Calibri"/>
              </a:rPr>
              <a:t>”+area);</a:t>
            </a:r>
          </a:p>
          <a:p>
            <a:pPr marL="11516" defTabSz="829178">
              <a:spcBef>
                <a:spcPts val="240"/>
              </a:spcBef>
            </a:pPr>
            <a:r>
              <a:rPr sz="3174" dirty="0">
                <a:solidFill>
                  <a:prstClr val="black"/>
                </a:solidFill>
                <a:latin typeface="Calibri"/>
                <a:cs typeface="Calibri"/>
              </a:rPr>
              <a:t>}</a:t>
            </a:r>
          </a:p>
          <a:p>
            <a:pPr marL="11516" defTabSz="829178">
              <a:spcBef>
                <a:spcPts val="263"/>
              </a:spcBef>
            </a:pPr>
            <a:r>
              <a:rPr sz="3174" dirty="0">
                <a:solidFill>
                  <a:prstClr val="black"/>
                </a:solidFill>
                <a:latin typeface="Calibri"/>
                <a:cs typeface="Calibri"/>
              </a:rPr>
              <a: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326005" cy="696595"/>
          </a:xfrm>
          <a:prstGeom prst="rect">
            <a:avLst/>
          </a:prstGeom>
        </p:spPr>
        <p:txBody>
          <a:bodyPr vert="horz" wrap="square" lIns="0" tIns="13335" rIns="0" bIns="0" rtlCol="0">
            <a:spAutoFit/>
          </a:bodyPr>
          <a:lstStyle/>
          <a:p>
            <a:pPr marL="12700">
              <a:lnSpc>
                <a:spcPct val="100000"/>
              </a:lnSpc>
              <a:spcBef>
                <a:spcPts val="105"/>
              </a:spcBef>
            </a:pPr>
            <a:r>
              <a:rPr sz="4400" dirty="0"/>
              <a:t>Ide</a:t>
            </a:r>
            <a:r>
              <a:rPr sz="4400" spc="10" dirty="0"/>
              <a:t>n</a:t>
            </a:r>
            <a:r>
              <a:rPr sz="4400" dirty="0"/>
              <a:t>tifiers</a:t>
            </a:r>
            <a:endParaRPr sz="4400"/>
          </a:p>
        </p:txBody>
      </p:sp>
      <p:sp>
        <p:nvSpPr>
          <p:cNvPr id="3" name="object 3"/>
          <p:cNvSpPr txBox="1"/>
          <p:nvPr/>
        </p:nvSpPr>
        <p:spPr>
          <a:xfrm>
            <a:off x="383540" y="1546301"/>
            <a:ext cx="8304530" cy="4549322"/>
          </a:xfrm>
          <a:prstGeom prst="rect">
            <a:avLst/>
          </a:prstGeom>
        </p:spPr>
        <p:txBody>
          <a:bodyPr vert="horz" wrap="square" lIns="0" tIns="85725" rIns="0" bIns="0" rtlCol="0">
            <a:spAutoFit/>
          </a:bodyPr>
          <a:lstStyle/>
          <a:p>
            <a:pPr marL="332740" marR="7620" indent="-320040" algn="just">
              <a:spcBef>
                <a:spcPts val="675"/>
              </a:spcBef>
              <a:buClr>
                <a:srgbClr val="DD8046"/>
              </a:buClr>
              <a:buSzPct val="60000"/>
              <a:buFont typeface="Wingdings"/>
              <a:buChar char=""/>
              <a:tabLst>
                <a:tab pos="332740" algn="l"/>
              </a:tabLst>
            </a:pPr>
            <a:r>
              <a:rPr sz="2800" dirty="0">
                <a:latin typeface="Times New Roman"/>
                <a:cs typeface="Times New Roman"/>
              </a:rPr>
              <a:t>Identifiers</a:t>
            </a:r>
            <a:r>
              <a:rPr sz="2800" spc="5" dirty="0">
                <a:latin typeface="Times New Roman"/>
                <a:cs typeface="Times New Roman"/>
              </a:rPr>
              <a:t> </a:t>
            </a:r>
            <a:r>
              <a:rPr sz="2800" spc="-5" dirty="0">
                <a:latin typeface="Times New Roman"/>
                <a:cs typeface="Times New Roman"/>
              </a:rPr>
              <a:t>are</a:t>
            </a:r>
            <a:r>
              <a:rPr sz="2800" dirty="0">
                <a:latin typeface="Times New Roman"/>
                <a:cs typeface="Times New Roman"/>
              </a:rPr>
              <a:t> used</a:t>
            </a:r>
            <a:r>
              <a:rPr sz="2800" spc="5" dirty="0">
                <a:latin typeface="Times New Roman"/>
                <a:cs typeface="Times New Roman"/>
              </a:rPr>
              <a:t> </a:t>
            </a:r>
            <a:r>
              <a:rPr sz="2800" dirty="0">
                <a:latin typeface="Times New Roman"/>
                <a:cs typeface="Times New Roman"/>
              </a:rPr>
              <a:t>for</a:t>
            </a:r>
            <a:r>
              <a:rPr sz="2800" spc="5" dirty="0">
                <a:latin typeface="Times New Roman"/>
                <a:cs typeface="Times New Roman"/>
              </a:rPr>
              <a:t> </a:t>
            </a:r>
            <a:r>
              <a:rPr sz="2800" dirty="0">
                <a:latin typeface="Times New Roman"/>
                <a:cs typeface="Times New Roman"/>
              </a:rPr>
              <a:t>class</a:t>
            </a:r>
            <a:r>
              <a:rPr sz="2800" spc="5" dirty="0">
                <a:latin typeface="Times New Roman"/>
                <a:cs typeface="Times New Roman"/>
              </a:rPr>
              <a:t> </a:t>
            </a:r>
            <a:r>
              <a:rPr sz="2800" dirty="0">
                <a:latin typeface="Times New Roman"/>
                <a:cs typeface="Times New Roman"/>
              </a:rPr>
              <a:t>names,</a:t>
            </a:r>
            <a:r>
              <a:rPr sz="2800" spc="5" dirty="0">
                <a:latin typeface="Times New Roman"/>
                <a:cs typeface="Times New Roman"/>
              </a:rPr>
              <a:t> </a:t>
            </a:r>
            <a:r>
              <a:rPr sz="2800" spc="-5" dirty="0">
                <a:latin typeface="Times New Roman"/>
                <a:cs typeface="Times New Roman"/>
              </a:rPr>
              <a:t>method</a:t>
            </a:r>
            <a:r>
              <a:rPr sz="2800" dirty="0">
                <a:latin typeface="Times New Roman"/>
                <a:cs typeface="Times New Roman"/>
              </a:rPr>
              <a:t> </a:t>
            </a:r>
            <a:r>
              <a:rPr sz="2800" spc="-5" dirty="0">
                <a:latin typeface="Times New Roman"/>
                <a:cs typeface="Times New Roman"/>
              </a:rPr>
              <a:t>names,</a:t>
            </a:r>
            <a:r>
              <a:rPr sz="2800" dirty="0">
                <a:latin typeface="Times New Roman"/>
                <a:cs typeface="Times New Roman"/>
              </a:rPr>
              <a:t> </a:t>
            </a:r>
            <a:r>
              <a:rPr sz="2800" spc="-5" dirty="0">
                <a:latin typeface="Times New Roman"/>
                <a:cs typeface="Times New Roman"/>
              </a:rPr>
              <a:t>and </a:t>
            </a:r>
            <a:r>
              <a:rPr sz="2800" dirty="0">
                <a:latin typeface="Times New Roman"/>
                <a:cs typeface="Times New Roman"/>
              </a:rPr>
              <a:t> </a:t>
            </a:r>
            <a:r>
              <a:rPr sz="2800" spc="-5" dirty="0">
                <a:latin typeface="Times New Roman"/>
                <a:cs typeface="Times New Roman"/>
              </a:rPr>
              <a:t>variable</a:t>
            </a:r>
            <a:r>
              <a:rPr sz="2800" spc="40" dirty="0">
                <a:latin typeface="Times New Roman"/>
                <a:cs typeface="Times New Roman"/>
              </a:rPr>
              <a:t> </a:t>
            </a:r>
            <a:r>
              <a:rPr sz="2800" spc="-10" dirty="0">
                <a:latin typeface="Times New Roman"/>
                <a:cs typeface="Times New Roman"/>
              </a:rPr>
              <a:t>names.</a:t>
            </a:r>
            <a:endParaRPr sz="2800" dirty="0">
              <a:latin typeface="Times New Roman"/>
              <a:cs typeface="Times New Roman"/>
            </a:endParaRPr>
          </a:p>
          <a:p>
            <a:pPr marL="332740" marR="5080" indent="-320040" algn="just">
              <a:spcBef>
                <a:spcPts val="715"/>
              </a:spcBef>
              <a:buClr>
                <a:srgbClr val="DD8046"/>
              </a:buClr>
              <a:buSzPct val="60000"/>
              <a:buFont typeface="Wingdings"/>
              <a:buChar char=""/>
              <a:tabLst>
                <a:tab pos="332740" algn="l"/>
              </a:tabLst>
            </a:pPr>
            <a:r>
              <a:rPr sz="2800" spc="-5" dirty="0">
                <a:latin typeface="Times New Roman"/>
                <a:cs typeface="Times New Roman"/>
              </a:rPr>
              <a:t>An </a:t>
            </a:r>
            <a:r>
              <a:rPr sz="2800" dirty="0">
                <a:latin typeface="Times New Roman"/>
                <a:cs typeface="Times New Roman"/>
              </a:rPr>
              <a:t>identifier </a:t>
            </a:r>
            <a:r>
              <a:rPr sz="2800" spc="-5" dirty="0">
                <a:latin typeface="Times New Roman"/>
                <a:cs typeface="Times New Roman"/>
              </a:rPr>
              <a:t>may </a:t>
            </a:r>
            <a:r>
              <a:rPr sz="2800" dirty="0">
                <a:latin typeface="Times New Roman"/>
                <a:cs typeface="Times New Roman"/>
              </a:rPr>
              <a:t>be </a:t>
            </a:r>
            <a:r>
              <a:rPr sz="2800" spc="-5" dirty="0">
                <a:latin typeface="Times New Roman"/>
                <a:cs typeface="Times New Roman"/>
              </a:rPr>
              <a:t>any </a:t>
            </a:r>
            <a:r>
              <a:rPr sz="2800" dirty="0">
                <a:latin typeface="Times New Roman"/>
                <a:cs typeface="Times New Roman"/>
              </a:rPr>
              <a:t>descriptive sequence </a:t>
            </a:r>
            <a:r>
              <a:rPr sz="2800" spc="-5" dirty="0">
                <a:latin typeface="Times New Roman"/>
                <a:cs typeface="Times New Roman"/>
              </a:rPr>
              <a:t>of Alphabets[a- </a:t>
            </a:r>
            <a:r>
              <a:rPr sz="2800" spc="-610" dirty="0">
                <a:latin typeface="Times New Roman"/>
                <a:cs typeface="Times New Roman"/>
              </a:rPr>
              <a:t> </a:t>
            </a:r>
            <a:r>
              <a:rPr sz="2800" spc="-5" dirty="0">
                <a:latin typeface="Times New Roman"/>
                <a:cs typeface="Times New Roman"/>
              </a:rPr>
              <a:t>z</a:t>
            </a:r>
            <a:r>
              <a:rPr sz="2800" dirty="0">
                <a:latin typeface="Times New Roman"/>
                <a:cs typeface="Times New Roman"/>
              </a:rPr>
              <a:t> A-Z],Digits[0-9],</a:t>
            </a:r>
            <a:r>
              <a:rPr sz="2800" spc="5" dirty="0">
                <a:latin typeface="Times New Roman"/>
                <a:cs typeface="Times New Roman"/>
              </a:rPr>
              <a:t> </a:t>
            </a:r>
            <a:r>
              <a:rPr sz="2800" spc="-5" dirty="0">
                <a:latin typeface="Times New Roman"/>
                <a:cs typeface="Times New Roman"/>
              </a:rPr>
              <a:t>the</a:t>
            </a:r>
            <a:r>
              <a:rPr sz="2800" dirty="0">
                <a:latin typeface="Times New Roman"/>
                <a:cs typeface="Times New Roman"/>
              </a:rPr>
              <a:t> underscore(_)</a:t>
            </a:r>
            <a:r>
              <a:rPr sz="2800" spc="5" dirty="0">
                <a:latin typeface="Times New Roman"/>
                <a:cs typeface="Times New Roman"/>
              </a:rPr>
              <a:t> </a:t>
            </a:r>
            <a:r>
              <a:rPr sz="2800" spc="-5" dirty="0">
                <a:latin typeface="Times New Roman"/>
                <a:cs typeface="Times New Roman"/>
              </a:rPr>
              <a:t>and</a:t>
            </a:r>
            <a:r>
              <a:rPr sz="2800" dirty="0">
                <a:latin typeface="Times New Roman"/>
                <a:cs typeface="Times New Roman"/>
              </a:rPr>
              <a:t> </a:t>
            </a:r>
            <a:r>
              <a:rPr sz="2800" spc="-5" dirty="0" smtClean="0">
                <a:latin typeface="Times New Roman"/>
                <a:cs typeface="Times New Roman"/>
              </a:rPr>
              <a:t>dollar-sign</a:t>
            </a:r>
            <a:r>
              <a:rPr lang="en-US" sz="2800" spc="-5" dirty="0">
                <a:latin typeface="Times New Roman"/>
                <a:cs typeface="Times New Roman"/>
              </a:rPr>
              <a:t>(</a:t>
            </a:r>
            <a:r>
              <a:rPr lang="en-US" sz="2800" spc="-5" dirty="0" smtClean="0">
                <a:latin typeface="Times New Roman"/>
                <a:cs typeface="Times New Roman"/>
              </a:rPr>
              <a:t>$)</a:t>
            </a:r>
            <a:r>
              <a:rPr sz="2800" spc="-5" dirty="0" smtClean="0">
                <a:latin typeface="Times New Roman"/>
                <a:cs typeface="Times New Roman"/>
              </a:rPr>
              <a:t> </a:t>
            </a:r>
            <a:r>
              <a:rPr sz="2800" spc="-610" dirty="0" smtClean="0">
                <a:latin typeface="Times New Roman"/>
                <a:cs typeface="Times New Roman"/>
              </a:rPr>
              <a:t> </a:t>
            </a:r>
            <a:r>
              <a:rPr sz="2800" spc="-5" dirty="0">
                <a:latin typeface="Times New Roman"/>
                <a:cs typeface="Times New Roman"/>
              </a:rPr>
              <a:t>characters.</a:t>
            </a:r>
            <a:endParaRPr sz="2800" dirty="0">
              <a:latin typeface="Times New Roman"/>
              <a:cs typeface="Times New Roman"/>
            </a:endParaRPr>
          </a:p>
          <a:p>
            <a:pPr marL="332740" indent="-320040" algn="just">
              <a:spcBef>
                <a:spcPts val="114"/>
              </a:spcBef>
              <a:buClr>
                <a:srgbClr val="DD8046"/>
              </a:buClr>
              <a:buSzPct val="60000"/>
              <a:buFont typeface="Wingdings"/>
              <a:buChar char=""/>
              <a:tabLst>
                <a:tab pos="332740" algn="l"/>
              </a:tabLst>
            </a:pPr>
            <a:r>
              <a:rPr sz="2800" spc="-5" dirty="0">
                <a:latin typeface="Times New Roman"/>
                <a:cs typeface="Times New Roman"/>
              </a:rPr>
              <a:t>They</a:t>
            </a:r>
            <a:r>
              <a:rPr sz="2800" dirty="0">
                <a:latin typeface="Times New Roman"/>
                <a:cs typeface="Times New Roman"/>
              </a:rPr>
              <a:t> </a:t>
            </a:r>
            <a:r>
              <a:rPr sz="2800" spc="-10" dirty="0">
                <a:latin typeface="Times New Roman"/>
                <a:cs typeface="Times New Roman"/>
              </a:rPr>
              <a:t>must</a:t>
            </a:r>
            <a:r>
              <a:rPr sz="2800" spc="50" dirty="0">
                <a:latin typeface="Times New Roman"/>
                <a:cs typeface="Times New Roman"/>
              </a:rPr>
              <a:t> </a:t>
            </a:r>
            <a:r>
              <a:rPr sz="2800" spc="-5" dirty="0">
                <a:latin typeface="Times New Roman"/>
                <a:cs typeface="Times New Roman"/>
              </a:rPr>
              <a:t>not</a:t>
            </a:r>
            <a:r>
              <a:rPr sz="2800" dirty="0">
                <a:latin typeface="Times New Roman"/>
                <a:cs typeface="Times New Roman"/>
              </a:rPr>
              <a:t> </a:t>
            </a:r>
            <a:r>
              <a:rPr sz="2800" spc="-5" dirty="0">
                <a:latin typeface="Times New Roman"/>
                <a:cs typeface="Times New Roman"/>
              </a:rPr>
              <a:t>begin</a:t>
            </a:r>
            <a:r>
              <a:rPr sz="2800" spc="15" dirty="0">
                <a:latin typeface="Times New Roman"/>
                <a:cs typeface="Times New Roman"/>
              </a:rPr>
              <a:t> </a:t>
            </a:r>
            <a:r>
              <a:rPr sz="2800" spc="-5" dirty="0">
                <a:latin typeface="Times New Roman"/>
                <a:cs typeface="Times New Roman"/>
              </a:rPr>
              <a:t>with</a:t>
            </a:r>
            <a:r>
              <a:rPr sz="2800" spc="10" dirty="0">
                <a:latin typeface="Times New Roman"/>
                <a:cs typeface="Times New Roman"/>
              </a:rPr>
              <a:t> </a:t>
            </a:r>
            <a:r>
              <a:rPr sz="2800" spc="-5" dirty="0">
                <a:latin typeface="Times New Roman"/>
                <a:cs typeface="Times New Roman"/>
              </a:rPr>
              <a:t>a</a:t>
            </a:r>
            <a:r>
              <a:rPr sz="2800" spc="5" dirty="0">
                <a:latin typeface="Times New Roman"/>
                <a:cs typeface="Times New Roman"/>
              </a:rPr>
              <a:t> </a:t>
            </a:r>
            <a:r>
              <a:rPr sz="2800" spc="-5" dirty="0">
                <a:latin typeface="Times New Roman"/>
                <a:cs typeface="Times New Roman"/>
              </a:rPr>
              <a:t>Digits</a:t>
            </a:r>
            <a:r>
              <a:rPr sz="2800" spc="-5" dirty="0" smtClean="0">
                <a:latin typeface="Times New Roman"/>
                <a:cs typeface="Times New Roman"/>
              </a:rPr>
              <a:t>.</a:t>
            </a:r>
            <a:endParaRPr sz="2800" dirty="0">
              <a:latin typeface="Times New Roman"/>
              <a:cs typeface="Times New Roman"/>
            </a:endParaRPr>
          </a:p>
          <a:p>
            <a:pPr marL="332740" indent="-320040" algn="just">
              <a:spcBef>
                <a:spcPts val="135"/>
              </a:spcBef>
              <a:buClr>
                <a:srgbClr val="DD8046"/>
              </a:buClr>
              <a:buSzPct val="60000"/>
              <a:buFont typeface="Wingdings"/>
              <a:buChar char=""/>
              <a:tabLst>
                <a:tab pos="332740" algn="l"/>
              </a:tabLst>
            </a:pPr>
            <a:r>
              <a:rPr sz="2800" spc="-10" dirty="0">
                <a:latin typeface="Times New Roman"/>
                <a:cs typeface="Times New Roman"/>
              </a:rPr>
              <a:t>Some</a:t>
            </a:r>
            <a:r>
              <a:rPr sz="2800" spc="30" dirty="0">
                <a:latin typeface="Times New Roman"/>
                <a:cs typeface="Times New Roman"/>
              </a:rPr>
              <a:t> </a:t>
            </a:r>
            <a:r>
              <a:rPr sz="2800" spc="-10" dirty="0">
                <a:latin typeface="Times New Roman"/>
                <a:cs typeface="Times New Roman"/>
              </a:rPr>
              <a:t>examples</a:t>
            </a:r>
            <a:r>
              <a:rPr sz="2800" spc="70" dirty="0">
                <a:latin typeface="Times New Roman"/>
                <a:cs typeface="Times New Roman"/>
              </a:rPr>
              <a:t> </a:t>
            </a:r>
            <a:r>
              <a:rPr sz="2800" spc="-5" dirty="0">
                <a:latin typeface="Times New Roman"/>
                <a:cs typeface="Times New Roman"/>
              </a:rPr>
              <a:t>of</a:t>
            </a:r>
            <a:r>
              <a:rPr sz="2800" spc="10" dirty="0">
                <a:latin typeface="Times New Roman"/>
                <a:cs typeface="Times New Roman"/>
              </a:rPr>
              <a:t> </a:t>
            </a:r>
            <a:r>
              <a:rPr sz="2800" spc="-5" dirty="0">
                <a:latin typeface="Times New Roman"/>
                <a:cs typeface="Times New Roman"/>
              </a:rPr>
              <a:t>valid</a:t>
            </a:r>
            <a:r>
              <a:rPr sz="2800" spc="30" dirty="0">
                <a:latin typeface="Times New Roman"/>
                <a:cs typeface="Times New Roman"/>
              </a:rPr>
              <a:t> </a:t>
            </a:r>
            <a:r>
              <a:rPr sz="2800" spc="-5" dirty="0">
                <a:latin typeface="Times New Roman"/>
                <a:cs typeface="Times New Roman"/>
              </a:rPr>
              <a:t>identifiers</a:t>
            </a:r>
            <a:r>
              <a:rPr sz="2800" spc="60" dirty="0">
                <a:latin typeface="Times New Roman"/>
                <a:cs typeface="Times New Roman"/>
              </a:rPr>
              <a:t> </a:t>
            </a:r>
            <a:r>
              <a:rPr sz="2800" spc="-10" dirty="0">
                <a:latin typeface="Times New Roman"/>
                <a:cs typeface="Times New Roman"/>
              </a:rPr>
              <a:t>are:</a:t>
            </a:r>
            <a:endParaRPr sz="2800" dirty="0">
              <a:latin typeface="Times New Roman"/>
              <a:cs typeface="Times New Roman"/>
            </a:endParaRPr>
          </a:p>
          <a:p>
            <a:pPr marL="378460" algn="just">
              <a:spcBef>
                <a:spcPts val="70"/>
              </a:spcBef>
            </a:pPr>
            <a:r>
              <a:rPr sz="2800" spc="-40" dirty="0">
                <a:solidFill>
                  <a:srgbClr val="93B6D2"/>
                </a:solidFill>
                <a:latin typeface="Microsoft Sans Serif"/>
                <a:cs typeface="Microsoft Sans Serif"/>
              </a:rPr>
              <a:t>🞑</a:t>
            </a:r>
            <a:r>
              <a:rPr sz="2800" spc="395" dirty="0">
                <a:solidFill>
                  <a:srgbClr val="93B6D2"/>
                </a:solidFill>
                <a:latin typeface="Microsoft Sans Serif"/>
                <a:cs typeface="Microsoft Sans Serif"/>
              </a:rPr>
              <a:t> </a:t>
            </a:r>
            <a:r>
              <a:rPr sz="2800" spc="-45" dirty="0">
                <a:latin typeface="Times New Roman"/>
                <a:cs typeface="Times New Roman"/>
              </a:rPr>
              <a:t>AvgTemp,</a:t>
            </a:r>
            <a:r>
              <a:rPr sz="2800" spc="25" dirty="0">
                <a:latin typeface="Times New Roman"/>
                <a:cs typeface="Times New Roman"/>
              </a:rPr>
              <a:t> </a:t>
            </a:r>
            <a:r>
              <a:rPr sz="2800" spc="-5" dirty="0">
                <a:latin typeface="Times New Roman"/>
                <a:cs typeface="Times New Roman"/>
              </a:rPr>
              <a:t>count,</a:t>
            </a:r>
            <a:r>
              <a:rPr sz="2800" spc="434" dirty="0">
                <a:latin typeface="Times New Roman"/>
                <a:cs typeface="Times New Roman"/>
              </a:rPr>
              <a:t> </a:t>
            </a:r>
            <a:r>
              <a:rPr sz="2800" spc="-5" dirty="0">
                <a:latin typeface="Times New Roman"/>
                <a:cs typeface="Times New Roman"/>
              </a:rPr>
              <a:t>A4,</a:t>
            </a:r>
            <a:r>
              <a:rPr sz="2800" spc="-10" dirty="0">
                <a:latin typeface="Times New Roman"/>
                <a:cs typeface="Times New Roman"/>
              </a:rPr>
              <a:t> </a:t>
            </a:r>
            <a:r>
              <a:rPr sz="2800" spc="-5" dirty="0">
                <a:latin typeface="Times New Roman"/>
                <a:cs typeface="Times New Roman"/>
              </a:rPr>
              <a:t>$count,</a:t>
            </a:r>
            <a:r>
              <a:rPr sz="2800" spc="555" dirty="0">
                <a:latin typeface="Times New Roman"/>
                <a:cs typeface="Times New Roman"/>
              </a:rPr>
              <a:t> </a:t>
            </a:r>
            <a:r>
              <a:rPr sz="2800" spc="-5" dirty="0">
                <a:latin typeface="Times New Roman"/>
                <a:cs typeface="Times New Roman"/>
              </a:rPr>
              <a:t>Sum_of_digits</a:t>
            </a:r>
            <a:endParaRPr sz="2800" dirty="0">
              <a:latin typeface="Times New Roman"/>
              <a:cs typeface="Times New Roman"/>
            </a:endParaRPr>
          </a:p>
          <a:p>
            <a:pPr marL="332740" indent="-320040" algn="just">
              <a:spcBef>
                <a:spcPts val="95"/>
              </a:spcBef>
              <a:buClr>
                <a:srgbClr val="DD8046"/>
              </a:buClr>
              <a:buSzPct val="60000"/>
              <a:buFont typeface="Wingdings"/>
              <a:buChar char=""/>
              <a:tabLst>
                <a:tab pos="332740" algn="l"/>
              </a:tabLst>
            </a:pPr>
            <a:r>
              <a:rPr sz="2800" spc="-5" dirty="0">
                <a:latin typeface="Times New Roman"/>
                <a:cs typeface="Times New Roman"/>
              </a:rPr>
              <a:t>Invalid</a:t>
            </a:r>
            <a:r>
              <a:rPr sz="2800" spc="15" dirty="0">
                <a:latin typeface="Times New Roman"/>
                <a:cs typeface="Times New Roman"/>
              </a:rPr>
              <a:t> </a:t>
            </a:r>
            <a:r>
              <a:rPr sz="2800" spc="-5" dirty="0">
                <a:latin typeface="Times New Roman"/>
                <a:cs typeface="Times New Roman"/>
              </a:rPr>
              <a:t>Identifiers:</a:t>
            </a:r>
            <a:endParaRPr sz="2800" dirty="0">
              <a:latin typeface="Times New Roman"/>
              <a:cs typeface="Times New Roman"/>
            </a:endParaRPr>
          </a:p>
          <a:p>
            <a:pPr marL="378460" algn="just">
              <a:spcBef>
                <a:spcPts val="85"/>
              </a:spcBef>
            </a:pPr>
            <a:r>
              <a:rPr sz="2800" spc="-40" dirty="0">
                <a:solidFill>
                  <a:srgbClr val="93B6D2"/>
                </a:solidFill>
                <a:latin typeface="Microsoft Sans Serif"/>
                <a:cs typeface="Microsoft Sans Serif"/>
              </a:rPr>
              <a:t>🞑</a:t>
            </a:r>
            <a:r>
              <a:rPr sz="2800" spc="20" dirty="0">
                <a:solidFill>
                  <a:srgbClr val="93B6D2"/>
                </a:solidFill>
                <a:latin typeface="Microsoft Sans Serif"/>
                <a:cs typeface="Microsoft Sans Serif"/>
              </a:rPr>
              <a:t> </a:t>
            </a:r>
            <a:r>
              <a:rPr sz="2800" spc="-5" dirty="0">
                <a:latin typeface="Times New Roman"/>
                <a:cs typeface="Times New Roman"/>
              </a:rPr>
              <a:t>4sum,</a:t>
            </a:r>
            <a:r>
              <a:rPr sz="2800" dirty="0">
                <a:latin typeface="Times New Roman"/>
                <a:cs typeface="Times New Roman"/>
              </a:rPr>
              <a:t> </a:t>
            </a:r>
            <a:r>
              <a:rPr sz="2800" spc="-5" dirty="0">
                <a:latin typeface="Times New Roman"/>
                <a:cs typeface="Times New Roman"/>
              </a:rPr>
              <a:t>sum-avg,</a:t>
            </a:r>
            <a:r>
              <a:rPr sz="2800" spc="1070" dirty="0">
                <a:latin typeface="Times New Roman"/>
                <a:cs typeface="Times New Roman"/>
              </a:rPr>
              <a:t> </a:t>
            </a:r>
            <a:r>
              <a:rPr sz="2800" dirty="0">
                <a:latin typeface="Times New Roman"/>
                <a:cs typeface="Times New Roman"/>
              </a:rPr>
              <a:t>yes/no</a:t>
            </a: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33</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734185" cy="696595"/>
          </a:xfrm>
          <a:prstGeom prst="rect">
            <a:avLst/>
          </a:prstGeom>
        </p:spPr>
        <p:txBody>
          <a:bodyPr vert="horz" wrap="square" lIns="0" tIns="13335" rIns="0" bIns="0" rtlCol="0">
            <a:spAutoFit/>
          </a:bodyPr>
          <a:lstStyle/>
          <a:p>
            <a:pPr marL="12700">
              <a:lnSpc>
                <a:spcPct val="100000"/>
              </a:lnSpc>
              <a:spcBef>
                <a:spcPts val="105"/>
              </a:spcBef>
            </a:pPr>
            <a:r>
              <a:rPr sz="4400" dirty="0"/>
              <a:t>Literals</a:t>
            </a:r>
            <a:endParaRPr sz="4400"/>
          </a:p>
        </p:txBody>
      </p:sp>
      <p:sp>
        <p:nvSpPr>
          <p:cNvPr id="3" name="object 3"/>
          <p:cNvSpPr txBox="1"/>
          <p:nvPr/>
        </p:nvSpPr>
        <p:spPr>
          <a:xfrm>
            <a:off x="691387" y="1620138"/>
            <a:ext cx="8004175" cy="3387090"/>
          </a:xfrm>
          <a:prstGeom prst="rect">
            <a:avLst/>
          </a:prstGeom>
        </p:spPr>
        <p:txBody>
          <a:bodyPr vert="horz" wrap="square" lIns="0" tIns="13335" rIns="0" bIns="0" rtlCol="0">
            <a:spAutoFit/>
          </a:bodyPr>
          <a:lstStyle/>
          <a:p>
            <a:pPr marL="332740" indent="-320675">
              <a:lnSpc>
                <a:spcPct val="100000"/>
              </a:lnSpc>
              <a:spcBef>
                <a:spcPts val="105"/>
              </a:spcBef>
              <a:buClr>
                <a:srgbClr val="DD8046"/>
              </a:buClr>
              <a:buSzPct val="60344"/>
              <a:buFont typeface="Wingdings"/>
              <a:buChar char=""/>
              <a:tabLst>
                <a:tab pos="333375" algn="l"/>
                <a:tab pos="780415" algn="l"/>
                <a:tab pos="2207260" algn="l"/>
                <a:tab pos="3204210" algn="l"/>
                <a:tab pos="3691890" algn="l"/>
                <a:tab pos="4547235" algn="l"/>
                <a:tab pos="4992370" algn="l"/>
                <a:tab pos="6254115" algn="l"/>
                <a:tab pos="6824345" algn="l"/>
                <a:tab pos="7821295" algn="l"/>
              </a:tabLst>
            </a:pPr>
            <a:r>
              <a:rPr sz="2900" dirty="0">
                <a:latin typeface="Times New Roman"/>
                <a:cs typeface="Times New Roman"/>
              </a:rPr>
              <a:t>A	</a:t>
            </a:r>
            <a:r>
              <a:rPr sz="2900" spc="-5" dirty="0">
                <a:latin typeface="Times New Roman"/>
                <a:cs typeface="Times New Roman"/>
              </a:rPr>
              <a:t>constant	</a:t>
            </a:r>
            <a:r>
              <a:rPr sz="2900" dirty="0">
                <a:latin typeface="Times New Roman"/>
                <a:cs typeface="Times New Roman"/>
              </a:rPr>
              <a:t>value	</a:t>
            </a:r>
            <a:r>
              <a:rPr sz="2900" spc="-5" dirty="0">
                <a:latin typeface="Times New Roman"/>
                <a:cs typeface="Times New Roman"/>
              </a:rPr>
              <a:t>in	</a:t>
            </a:r>
            <a:r>
              <a:rPr sz="2900" dirty="0">
                <a:latin typeface="Times New Roman"/>
                <a:cs typeface="Times New Roman"/>
              </a:rPr>
              <a:t>Java	</a:t>
            </a:r>
            <a:r>
              <a:rPr sz="2900" spc="-10" dirty="0">
                <a:latin typeface="Times New Roman"/>
                <a:cs typeface="Times New Roman"/>
              </a:rPr>
              <a:t>is	</a:t>
            </a:r>
            <a:r>
              <a:rPr sz="2900" spc="-5" dirty="0">
                <a:latin typeface="Times New Roman"/>
                <a:cs typeface="Times New Roman"/>
              </a:rPr>
              <a:t>created	</a:t>
            </a:r>
            <a:r>
              <a:rPr sz="2900" dirty="0">
                <a:latin typeface="Times New Roman"/>
                <a:cs typeface="Times New Roman"/>
              </a:rPr>
              <a:t>by	</a:t>
            </a:r>
            <a:r>
              <a:rPr sz="2900" spc="-10" dirty="0">
                <a:latin typeface="Times New Roman"/>
                <a:cs typeface="Times New Roman"/>
              </a:rPr>
              <a:t>using	</a:t>
            </a:r>
            <a:r>
              <a:rPr sz="2900" dirty="0">
                <a:latin typeface="Times New Roman"/>
                <a:cs typeface="Times New Roman"/>
              </a:rPr>
              <a:t>a</a:t>
            </a:r>
          </a:p>
          <a:p>
            <a:pPr marL="332740">
              <a:lnSpc>
                <a:spcPct val="100000"/>
              </a:lnSpc>
            </a:pPr>
            <a:r>
              <a:rPr sz="2900" b="1" spc="-5" dirty="0">
                <a:latin typeface="Times New Roman"/>
                <a:cs typeface="Times New Roman"/>
              </a:rPr>
              <a:t>literals</a:t>
            </a:r>
            <a:r>
              <a:rPr sz="2900" spc="-5" dirty="0">
                <a:latin typeface="Times New Roman"/>
                <a:cs typeface="Times New Roman"/>
              </a:rPr>
              <a:t>.</a:t>
            </a:r>
            <a:endParaRPr sz="2900" dirty="0">
              <a:latin typeface="Times New Roman"/>
              <a:cs typeface="Times New Roman"/>
            </a:endParaRPr>
          </a:p>
          <a:p>
            <a:pPr marL="332740" indent="-320675">
              <a:lnSpc>
                <a:spcPct val="100000"/>
              </a:lnSpc>
              <a:spcBef>
                <a:spcPts val="705"/>
              </a:spcBef>
              <a:buClr>
                <a:srgbClr val="DD8046"/>
              </a:buClr>
              <a:buSzPct val="60344"/>
              <a:buFont typeface="Wingdings"/>
              <a:buChar char=""/>
              <a:tabLst>
                <a:tab pos="333375" algn="l"/>
              </a:tabLst>
            </a:pPr>
            <a:r>
              <a:rPr sz="2900" dirty="0">
                <a:latin typeface="Times New Roman"/>
                <a:cs typeface="Times New Roman"/>
              </a:rPr>
              <a:t>For</a:t>
            </a:r>
            <a:r>
              <a:rPr sz="2900" spc="-15" dirty="0">
                <a:latin typeface="Times New Roman"/>
                <a:cs typeface="Times New Roman"/>
              </a:rPr>
              <a:t> </a:t>
            </a:r>
            <a:r>
              <a:rPr sz="2900" spc="-10" dirty="0">
                <a:latin typeface="Times New Roman"/>
                <a:cs typeface="Times New Roman"/>
              </a:rPr>
              <a:t>example,</a:t>
            </a:r>
            <a:r>
              <a:rPr sz="2900" spc="20" dirty="0">
                <a:latin typeface="Times New Roman"/>
                <a:cs typeface="Times New Roman"/>
              </a:rPr>
              <a:t> </a:t>
            </a:r>
            <a:r>
              <a:rPr sz="2900" dirty="0">
                <a:latin typeface="Times New Roman"/>
                <a:cs typeface="Times New Roman"/>
              </a:rPr>
              <a:t>here</a:t>
            </a:r>
            <a:r>
              <a:rPr sz="2900" spc="-15" dirty="0">
                <a:latin typeface="Times New Roman"/>
                <a:cs typeface="Times New Roman"/>
              </a:rPr>
              <a:t> </a:t>
            </a:r>
            <a:r>
              <a:rPr sz="2900" dirty="0">
                <a:latin typeface="Times New Roman"/>
                <a:cs typeface="Times New Roman"/>
              </a:rPr>
              <a:t>are </a:t>
            </a:r>
            <a:r>
              <a:rPr sz="2900" spc="-10" dirty="0">
                <a:latin typeface="Times New Roman"/>
                <a:cs typeface="Times New Roman"/>
              </a:rPr>
              <a:t>some</a:t>
            </a:r>
            <a:r>
              <a:rPr sz="2900" spc="10" dirty="0">
                <a:latin typeface="Times New Roman"/>
                <a:cs typeface="Times New Roman"/>
              </a:rPr>
              <a:t> </a:t>
            </a:r>
            <a:r>
              <a:rPr sz="2900" spc="-5" dirty="0">
                <a:latin typeface="Times New Roman"/>
                <a:cs typeface="Times New Roman"/>
              </a:rPr>
              <a:t>literals:</a:t>
            </a:r>
            <a:endParaRPr sz="2900" dirty="0">
              <a:latin typeface="Times New Roman"/>
              <a:cs typeface="Times New Roman"/>
            </a:endParaRPr>
          </a:p>
          <a:p>
            <a:pPr marL="1118870">
              <a:lnSpc>
                <a:spcPct val="100000"/>
              </a:lnSpc>
              <a:spcBef>
                <a:spcPts val="700"/>
              </a:spcBef>
              <a:tabLst>
                <a:tab pos="3144520" algn="l"/>
                <a:tab pos="3729990" algn="l"/>
              </a:tabLst>
            </a:pPr>
            <a:r>
              <a:rPr sz="2900" dirty="0">
                <a:latin typeface="Times New Roman"/>
                <a:cs typeface="Times New Roman"/>
              </a:rPr>
              <a:t>100</a:t>
            </a:r>
            <a:r>
              <a:rPr sz="2900" spc="-20" dirty="0">
                <a:latin typeface="Times New Roman"/>
                <a:cs typeface="Times New Roman"/>
              </a:rPr>
              <a:t> </a:t>
            </a:r>
            <a:r>
              <a:rPr sz="2900" dirty="0">
                <a:latin typeface="Times New Roman"/>
                <a:cs typeface="Times New Roman"/>
              </a:rPr>
              <a:t>,</a:t>
            </a:r>
            <a:r>
              <a:rPr sz="2900" spc="5" dirty="0">
                <a:latin typeface="Times New Roman"/>
                <a:cs typeface="Times New Roman"/>
              </a:rPr>
              <a:t> </a:t>
            </a:r>
            <a:r>
              <a:rPr sz="2900" dirty="0">
                <a:latin typeface="Times New Roman"/>
                <a:cs typeface="Times New Roman"/>
              </a:rPr>
              <a:t>120.5</a:t>
            </a:r>
            <a:r>
              <a:rPr lang="en-US" sz="2900" dirty="0">
                <a:latin typeface="Times New Roman"/>
                <a:cs typeface="Times New Roman"/>
              </a:rPr>
              <a:t>f</a:t>
            </a:r>
            <a:r>
              <a:rPr sz="2900" spc="-15" dirty="0">
                <a:latin typeface="Times New Roman"/>
                <a:cs typeface="Times New Roman"/>
              </a:rPr>
              <a:t> </a:t>
            </a:r>
            <a:r>
              <a:rPr sz="2900" dirty="0">
                <a:latin typeface="Times New Roman"/>
                <a:cs typeface="Times New Roman"/>
              </a:rPr>
              <a:t>,	‘x’	,</a:t>
            </a:r>
            <a:r>
              <a:rPr sz="2900" spc="-40" dirty="0">
                <a:latin typeface="Times New Roman"/>
                <a:cs typeface="Times New Roman"/>
              </a:rPr>
              <a:t> </a:t>
            </a:r>
            <a:r>
              <a:rPr sz="2900" dirty="0">
                <a:latin typeface="Times New Roman"/>
                <a:cs typeface="Times New Roman"/>
              </a:rPr>
              <a:t>“Good</a:t>
            </a:r>
            <a:r>
              <a:rPr sz="2900" spc="-30" dirty="0">
                <a:latin typeface="Times New Roman"/>
                <a:cs typeface="Times New Roman"/>
              </a:rPr>
              <a:t> </a:t>
            </a:r>
            <a:r>
              <a:rPr sz="2900" spc="-5" dirty="0">
                <a:latin typeface="Times New Roman"/>
                <a:cs typeface="Times New Roman"/>
              </a:rPr>
              <a:t>Morning”</a:t>
            </a:r>
            <a:endParaRPr sz="2900" dirty="0">
              <a:latin typeface="Times New Roman"/>
              <a:cs typeface="Times New Roman"/>
            </a:endParaRPr>
          </a:p>
          <a:p>
            <a:pPr marL="332740" marR="5080" indent="-320675" algn="just">
              <a:lnSpc>
                <a:spcPct val="100000"/>
              </a:lnSpc>
              <a:spcBef>
                <a:spcPts val="695"/>
              </a:spcBef>
              <a:buClr>
                <a:srgbClr val="DD8046"/>
              </a:buClr>
              <a:buSzPct val="60344"/>
              <a:buFont typeface="Wingdings"/>
              <a:buChar char=""/>
              <a:tabLst>
                <a:tab pos="333375" algn="l"/>
              </a:tabLst>
            </a:pPr>
            <a:r>
              <a:rPr sz="2900" dirty="0">
                <a:latin typeface="Times New Roman"/>
                <a:cs typeface="Times New Roman"/>
              </a:rPr>
              <a:t>The </a:t>
            </a:r>
            <a:r>
              <a:rPr sz="2900" spc="-5" dirty="0">
                <a:latin typeface="Times New Roman"/>
                <a:cs typeface="Times New Roman"/>
              </a:rPr>
              <a:t>first literal specifies an </a:t>
            </a:r>
            <a:r>
              <a:rPr sz="2900" b="1" spc="-5" dirty="0">
                <a:latin typeface="Times New Roman"/>
                <a:cs typeface="Times New Roman"/>
              </a:rPr>
              <a:t>integer</a:t>
            </a:r>
            <a:r>
              <a:rPr sz="2900" spc="-5" dirty="0">
                <a:latin typeface="Times New Roman"/>
                <a:cs typeface="Times New Roman"/>
              </a:rPr>
              <a:t>, the </a:t>
            </a:r>
            <a:r>
              <a:rPr sz="2900" dirty="0">
                <a:latin typeface="Times New Roman"/>
                <a:cs typeface="Times New Roman"/>
              </a:rPr>
              <a:t>next </a:t>
            </a:r>
            <a:r>
              <a:rPr sz="2900" spc="-10" dirty="0">
                <a:latin typeface="Times New Roman"/>
                <a:cs typeface="Times New Roman"/>
              </a:rPr>
              <a:t>is </a:t>
            </a:r>
            <a:r>
              <a:rPr sz="2900" dirty="0">
                <a:latin typeface="Times New Roman"/>
                <a:cs typeface="Times New Roman"/>
              </a:rPr>
              <a:t>a </a:t>
            </a:r>
            <a:r>
              <a:rPr sz="2900" spc="5" dirty="0">
                <a:latin typeface="Times New Roman"/>
                <a:cs typeface="Times New Roman"/>
              </a:rPr>
              <a:t> </a:t>
            </a:r>
            <a:r>
              <a:rPr sz="2900" b="1" spc="-5" dirty="0">
                <a:latin typeface="Times New Roman"/>
                <a:cs typeface="Times New Roman"/>
              </a:rPr>
              <a:t>floating-point</a:t>
            </a:r>
            <a:r>
              <a:rPr sz="2900" b="1" dirty="0">
                <a:latin typeface="Times New Roman"/>
                <a:cs typeface="Times New Roman"/>
              </a:rPr>
              <a:t> </a:t>
            </a:r>
            <a:r>
              <a:rPr sz="2900" spc="-5" dirty="0">
                <a:latin typeface="Times New Roman"/>
                <a:cs typeface="Times New Roman"/>
              </a:rPr>
              <a:t>value,</a:t>
            </a:r>
            <a:r>
              <a:rPr sz="2900" dirty="0">
                <a:latin typeface="Times New Roman"/>
                <a:cs typeface="Times New Roman"/>
              </a:rPr>
              <a:t> the</a:t>
            </a:r>
            <a:r>
              <a:rPr sz="2900" spc="5" dirty="0">
                <a:latin typeface="Times New Roman"/>
                <a:cs typeface="Times New Roman"/>
              </a:rPr>
              <a:t> </a:t>
            </a:r>
            <a:r>
              <a:rPr sz="2900" spc="-5" dirty="0">
                <a:latin typeface="Times New Roman"/>
                <a:cs typeface="Times New Roman"/>
              </a:rPr>
              <a:t>third</a:t>
            </a:r>
            <a:r>
              <a:rPr sz="2900" dirty="0">
                <a:latin typeface="Times New Roman"/>
                <a:cs typeface="Times New Roman"/>
              </a:rPr>
              <a:t> </a:t>
            </a:r>
            <a:r>
              <a:rPr sz="2900" spc="-5" dirty="0">
                <a:latin typeface="Times New Roman"/>
                <a:cs typeface="Times New Roman"/>
              </a:rPr>
              <a:t>is</a:t>
            </a:r>
            <a:r>
              <a:rPr sz="2900" dirty="0">
                <a:latin typeface="Times New Roman"/>
                <a:cs typeface="Times New Roman"/>
              </a:rPr>
              <a:t> a</a:t>
            </a:r>
            <a:r>
              <a:rPr sz="2900" spc="5" dirty="0">
                <a:latin typeface="Times New Roman"/>
                <a:cs typeface="Times New Roman"/>
              </a:rPr>
              <a:t> </a:t>
            </a:r>
            <a:r>
              <a:rPr sz="2900" b="1" dirty="0">
                <a:latin typeface="Times New Roman"/>
                <a:cs typeface="Times New Roman"/>
              </a:rPr>
              <a:t>character </a:t>
            </a:r>
            <a:r>
              <a:rPr sz="2900" b="1" spc="5" dirty="0">
                <a:latin typeface="Times New Roman"/>
                <a:cs typeface="Times New Roman"/>
              </a:rPr>
              <a:t> </a:t>
            </a:r>
            <a:r>
              <a:rPr sz="2900" b="1" dirty="0">
                <a:latin typeface="Times New Roman"/>
                <a:cs typeface="Times New Roman"/>
              </a:rPr>
              <a:t>constant</a:t>
            </a:r>
            <a:r>
              <a:rPr sz="2900" dirty="0">
                <a:latin typeface="Times New Roman"/>
                <a:cs typeface="Times New Roman"/>
              </a:rPr>
              <a:t>,</a:t>
            </a:r>
            <a:r>
              <a:rPr sz="2900" spc="-40" dirty="0">
                <a:latin typeface="Times New Roman"/>
                <a:cs typeface="Times New Roman"/>
              </a:rPr>
              <a:t> </a:t>
            </a:r>
            <a:r>
              <a:rPr sz="2900" dirty="0">
                <a:latin typeface="Times New Roman"/>
                <a:cs typeface="Times New Roman"/>
              </a:rPr>
              <a:t>and</a:t>
            </a:r>
            <a:r>
              <a:rPr sz="2900" spc="-10" dirty="0">
                <a:latin typeface="Times New Roman"/>
                <a:cs typeface="Times New Roman"/>
              </a:rPr>
              <a:t> </a:t>
            </a:r>
            <a:r>
              <a:rPr sz="2900" dirty="0">
                <a:latin typeface="Times New Roman"/>
                <a:cs typeface="Times New Roman"/>
              </a:rPr>
              <a:t>the</a:t>
            </a:r>
            <a:r>
              <a:rPr sz="2900" spc="-15" dirty="0">
                <a:latin typeface="Times New Roman"/>
                <a:cs typeface="Times New Roman"/>
              </a:rPr>
              <a:t> </a:t>
            </a:r>
            <a:r>
              <a:rPr sz="2900" spc="-5" dirty="0">
                <a:latin typeface="Times New Roman"/>
                <a:cs typeface="Times New Roman"/>
              </a:rPr>
              <a:t>last</a:t>
            </a:r>
            <a:r>
              <a:rPr sz="2900" spc="-10" dirty="0">
                <a:latin typeface="Times New Roman"/>
                <a:cs typeface="Times New Roman"/>
              </a:rPr>
              <a:t> </a:t>
            </a:r>
            <a:r>
              <a:rPr sz="2900" spc="-5" dirty="0">
                <a:latin typeface="Times New Roman"/>
                <a:cs typeface="Times New Roman"/>
              </a:rPr>
              <a:t>is</a:t>
            </a:r>
            <a:r>
              <a:rPr sz="2900" spc="-10" dirty="0">
                <a:latin typeface="Times New Roman"/>
                <a:cs typeface="Times New Roman"/>
              </a:rPr>
              <a:t> </a:t>
            </a:r>
            <a:r>
              <a:rPr sz="2900" dirty="0">
                <a:latin typeface="Times New Roman"/>
                <a:cs typeface="Times New Roman"/>
              </a:rPr>
              <a:t>a</a:t>
            </a:r>
            <a:r>
              <a:rPr sz="2900" spc="-5" dirty="0">
                <a:latin typeface="Times New Roman"/>
                <a:cs typeface="Times New Roman"/>
              </a:rPr>
              <a:t> </a:t>
            </a:r>
            <a:r>
              <a:rPr sz="2900" b="1" dirty="0">
                <a:latin typeface="Times New Roman"/>
                <a:cs typeface="Times New Roman"/>
              </a:rPr>
              <a:t>string</a:t>
            </a:r>
            <a:r>
              <a:rPr sz="2900" dirty="0">
                <a:latin typeface="Times New Roman"/>
                <a:cs typeface="Times New Roman"/>
              </a:rPr>
              <a:t>.</a:t>
            </a: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34</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6242813" cy="690574"/>
          </a:xfrm>
          <a:prstGeom prst="rect">
            <a:avLst/>
          </a:prstGeom>
        </p:spPr>
        <p:txBody>
          <a:bodyPr vert="horz" wrap="square" lIns="0" tIns="13335" rIns="0" bIns="0" rtlCol="0">
            <a:spAutoFit/>
          </a:bodyPr>
          <a:lstStyle/>
          <a:p>
            <a:pPr marL="12700">
              <a:lnSpc>
                <a:spcPct val="100000"/>
              </a:lnSpc>
              <a:spcBef>
                <a:spcPts val="105"/>
              </a:spcBef>
            </a:pPr>
            <a:r>
              <a:rPr sz="4400" dirty="0"/>
              <a:t>Exam</a:t>
            </a:r>
            <a:r>
              <a:rPr sz="4400" spc="10" dirty="0"/>
              <a:t>p</a:t>
            </a:r>
            <a:r>
              <a:rPr sz="4400" dirty="0"/>
              <a:t>le3</a:t>
            </a:r>
          </a:p>
        </p:txBody>
      </p:sp>
      <p:sp>
        <p:nvSpPr>
          <p:cNvPr id="3" name="object 3"/>
          <p:cNvSpPr txBox="1"/>
          <p:nvPr/>
        </p:nvSpPr>
        <p:spPr>
          <a:xfrm>
            <a:off x="1145844" y="2961649"/>
            <a:ext cx="1316990" cy="742950"/>
          </a:xfrm>
          <a:prstGeom prst="rect">
            <a:avLst/>
          </a:prstGeom>
        </p:spPr>
        <p:txBody>
          <a:bodyPr vert="horz" wrap="square" lIns="0" tIns="36194" rIns="0" bIns="0" rtlCol="0">
            <a:spAutoFit/>
          </a:bodyPr>
          <a:lstStyle/>
          <a:p>
            <a:pPr marL="12700">
              <a:lnSpc>
                <a:spcPct val="100000"/>
              </a:lnSpc>
              <a:spcBef>
                <a:spcPts val="284"/>
              </a:spcBef>
            </a:pPr>
            <a:r>
              <a:rPr sz="2200" spc="-5" dirty="0">
                <a:latin typeface="Times New Roman"/>
                <a:cs typeface="Times New Roman"/>
              </a:rPr>
              <a:t>int</a:t>
            </a:r>
            <a:r>
              <a:rPr sz="2200" spc="-30" dirty="0">
                <a:latin typeface="Times New Roman"/>
                <a:cs typeface="Times New Roman"/>
              </a:rPr>
              <a:t> </a:t>
            </a:r>
            <a:r>
              <a:rPr sz="2200" spc="-10" dirty="0">
                <a:latin typeface="Times New Roman"/>
                <a:cs typeface="Times New Roman"/>
              </a:rPr>
              <a:t>num;</a:t>
            </a:r>
            <a:endParaRPr sz="2200" dirty="0">
              <a:latin typeface="Times New Roman"/>
              <a:cs typeface="Times New Roman"/>
            </a:endParaRPr>
          </a:p>
          <a:p>
            <a:pPr marL="12700">
              <a:lnSpc>
                <a:spcPct val="100000"/>
              </a:lnSpc>
              <a:spcBef>
                <a:spcPts val="180"/>
              </a:spcBef>
            </a:pPr>
            <a:r>
              <a:rPr sz="2200" dirty="0">
                <a:latin typeface="Times New Roman"/>
                <a:cs typeface="Times New Roman"/>
              </a:rPr>
              <a:t>num</a:t>
            </a:r>
            <a:r>
              <a:rPr sz="2200" spc="-50" dirty="0">
                <a:latin typeface="Times New Roman"/>
                <a:cs typeface="Times New Roman"/>
              </a:rPr>
              <a:t> </a:t>
            </a:r>
            <a:r>
              <a:rPr sz="2200" spc="-5" dirty="0">
                <a:latin typeface="Times New Roman"/>
                <a:cs typeface="Times New Roman"/>
              </a:rPr>
              <a:t>=</a:t>
            </a:r>
            <a:r>
              <a:rPr sz="2200" spc="-45" dirty="0">
                <a:latin typeface="Times New Roman"/>
                <a:cs typeface="Times New Roman"/>
              </a:rPr>
              <a:t> </a:t>
            </a:r>
            <a:r>
              <a:rPr sz="2200" dirty="0">
                <a:latin typeface="Times New Roman"/>
                <a:cs typeface="Times New Roman"/>
              </a:rPr>
              <a:t>100;</a:t>
            </a:r>
          </a:p>
        </p:txBody>
      </p:sp>
      <p:sp>
        <p:nvSpPr>
          <p:cNvPr id="4" name="object 4"/>
          <p:cNvSpPr txBox="1"/>
          <p:nvPr/>
        </p:nvSpPr>
        <p:spPr>
          <a:xfrm>
            <a:off x="3883278" y="2961649"/>
            <a:ext cx="4113529" cy="742950"/>
          </a:xfrm>
          <a:prstGeom prst="rect">
            <a:avLst/>
          </a:prstGeom>
        </p:spPr>
        <p:txBody>
          <a:bodyPr vert="horz" wrap="square" lIns="0" tIns="36194" rIns="0" bIns="0" rtlCol="0">
            <a:spAutoFit/>
          </a:bodyPr>
          <a:lstStyle/>
          <a:p>
            <a:pPr marL="18415">
              <a:lnSpc>
                <a:spcPct val="100000"/>
              </a:lnSpc>
              <a:spcBef>
                <a:spcPts val="284"/>
              </a:spcBef>
            </a:pPr>
            <a:r>
              <a:rPr sz="2200" spc="-5" dirty="0">
                <a:latin typeface="Times New Roman"/>
                <a:cs typeface="Times New Roman"/>
              </a:rPr>
              <a:t>//</a:t>
            </a:r>
            <a:r>
              <a:rPr sz="2200" dirty="0">
                <a:latin typeface="Times New Roman"/>
                <a:cs typeface="Times New Roman"/>
              </a:rPr>
              <a:t> this</a:t>
            </a:r>
            <a:r>
              <a:rPr sz="2200" spc="-15" dirty="0">
                <a:latin typeface="Times New Roman"/>
                <a:cs typeface="Times New Roman"/>
              </a:rPr>
              <a:t> </a:t>
            </a:r>
            <a:r>
              <a:rPr sz="2200" spc="-5" dirty="0">
                <a:latin typeface="Times New Roman"/>
                <a:cs typeface="Times New Roman"/>
              </a:rPr>
              <a:t>declares</a:t>
            </a:r>
            <a:r>
              <a:rPr sz="2200" spc="5" dirty="0">
                <a:latin typeface="Times New Roman"/>
                <a:cs typeface="Times New Roman"/>
              </a:rPr>
              <a:t> </a:t>
            </a:r>
            <a:r>
              <a:rPr sz="2200" spc="-5" dirty="0">
                <a:latin typeface="Times New Roman"/>
                <a:cs typeface="Times New Roman"/>
              </a:rPr>
              <a:t>a variable</a:t>
            </a:r>
            <a:r>
              <a:rPr sz="2200" spc="5" dirty="0">
                <a:latin typeface="Times New Roman"/>
                <a:cs typeface="Times New Roman"/>
              </a:rPr>
              <a:t> </a:t>
            </a:r>
            <a:r>
              <a:rPr sz="2200" spc="-5" dirty="0">
                <a:latin typeface="Times New Roman"/>
                <a:cs typeface="Times New Roman"/>
              </a:rPr>
              <a:t>called</a:t>
            </a:r>
            <a:r>
              <a:rPr sz="2200" spc="15" dirty="0">
                <a:latin typeface="Times New Roman"/>
                <a:cs typeface="Times New Roman"/>
              </a:rPr>
              <a:t> </a:t>
            </a:r>
            <a:r>
              <a:rPr sz="2200" spc="-5" dirty="0">
                <a:latin typeface="Times New Roman"/>
                <a:cs typeface="Times New Roman"/>
              </a:rPr>
              <a:t>num</a:t>
            </a:r>
            <a:endParaRPr sz="2200">
              <a:latin typeface="Times New Roman"/>
              <a:cs typeface="Times New Roman"/>
            </a:endParaRPr>
          </a:p>
          <a:p>
            <a:pPr marL="12700">
              <a:lnSpc>
                <a:spcPct val="100000"/>
              </a:lnSpc>
              <a:spcBef>
                <a:spcPts val="180"/>
              </a:spcBef>
            </a:pP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this</a:t>
            </a:r>
            <a:r>
              <a:rPr sz="2200" spc="-15" dirty="0">
                <a:latin typeface="Times New Roman"/>
                <a:cs typeface="Times New Roman"/>
              </a:rPr>
              <a:t> </a:t>
            </a:r>
            <a:r>
              <a:rPr sz="2200" spc="-5" dirty="0">
                <a:latin typeface="Times New Roman"/>
                <a:cs typeface="Times New Roman"/>
              </a:rPr>
              <a:t>assigns </a:t>
            </a:r>
            <a:r>
              <a:rPr sz="2200" dirty="0">
                <a:latin typeface="Times New Roman"/>
                <a:cs typeface="Times New Roman"/>
              </a:rPr>
              <a:t>num</a:t>
            </a:r>
            <a:r>
              <a:rPr sz="2200" spc="-5" dirty="0">
                <a:latin typeface="Times New Roman"/>
                <a:cs typeface="Times New Roman"/>
              </a:rPr>
              <a:t> the</a:t>
            </a:r>
            <a:r>
              <a:rPr sz="2200" spc="-10" dirty="0">
                <a:latin typeface="Times New Roman"/>
                <a:cs typeface="Times New Roman"/>
              </a:rPr>
              <a:t> </a:t>
            </a:r>
            <a:r>
              <a:rPr sz="2200" spc="-5" dirty="0">
                <a:latin typeface="Times New Roman"/>
                <a:cs typeface="Times New Roman"/>
              </a:rPr>
              <a:t>value 100</a:t>
            </a:r>
            <a:endParaRPr sz="2200">
              <a:latin typeface="Times New Roman"/>
              <a:cs typeface="Times New Roman"/>
            </a:endParaRPr>
          </a:p>
        </p:txBody>
      </p:sp>
      <p:sp>
        <p:nvSpPr>
          <p:cNvPr id="5" name="object 5"/>
          <p:cNvSpPr txBox="1"/>
          <p:nvPr/>
        </p:nvSpPr>
        <p:spPr>
          <a:xfrm>
            <a:off x="650240" y="3678707"/>
            <a:ext cx="5584825" cy="2176750"/>
          </a:xfrm>
          <a:prstGeom prst="rect">
            <a:avLst/>
          </a:prstGeom>
        </p:spPr>
        <p:txBody>
          <a:bodyPr vert="horz" wrap="square" lIns="0" tIns="12700" rIns="0" bIns="0" rtlCol="0">
            <a:spAutoFit/>
          </a:bodyPr>
          <a:lstStyle/>
          <a:p>
            <a:pPr marL="508000" marR="250825">
              <a:lnSpc>
                <a:spcPct val="106400"/>
              </a:lnSpc>
              <a:spcBef>
                <a:spcPts val="100"/>
              </a:spcBef>
            </a:pPr>
            <a:r>
              <a:rPr sz="2200" spc="-5" dirty="0">
                <a:latin typeface="Times New Roman"/>
                <a:cs typeface="Times New Roman"/>
              </a:rPr>
              <a:t>System.out.println("This</a:t>
            </a:r>
            <a:r>
              <a:rPr sz="220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num:</a:t>
            </a:r>
            <a:r>
              <a:rPr sz="2200" spc="15"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num); </a:t>
            </a:r>
            <a:r>
              <a:rPr sz="2200" spc="-535" dirty="0">
                <a:latin typeface="Times New Roman"/>
                <a:cs typeface="Times New Roman"/>
              </a:rPr>
              <a:t> </a:t>
            </a:r>
            <a:r>
              <a:rPr sz="2200" dirty="0">
                <a:latin typeface="Times New Roman"/>
                <a:cs typeface="Times New Roman"/>
              </a:rPr>
              <a:t>num</a:t>
            </a:r>
            <a:r>
              <a:rPr sz="2200" spc="-10" dirty="0">
                <a:latin typeface="Times New Roman"/>
                <a:cs typeface="Times New Roman"/>
              </a:rPr>
              <a:t> </a:t>
            </a:r>
            <a:r>
              <a:rPr sz="2200" spc="-5" dirty="0">
                <a:latin typeface="Times New Roman"/>
                <a:cs typeface="Times New Roman"/>
              </a:rPr>
              <a:t>= </a:t>
            </a:r>
            <a:r>
              <a:rPr sz="2200" dirty="0">
                <a:latin typeface="Times New Roman"/>
                <a:cs typeface="Times New Roman"/>
              </a:rPr>
              <a:t>num</a:t>
            </a:r>
            <a:r>
              <a:rPr sz="2200" spc="-10" dirty="0">
                <a:latin typeface="Times New Roman"/>
                <a:cs typeface="Times New Roman"/>
              </a:rPr>
              <a:t> </a:t>
            </a:r>
            <a:r>
              <a:rPr sz="2200" spc="-5" dirty="0">
                <a:latin typeface="Times New Roman"/>
                <a:cs typeface="Times New Roman"/>
              </a:rPr>
              <a:t>* 2;</a:t>
            </a:r>
            <a:endParaRPr sz="2200" dirty="0">
              <a:latin typeface="Times New Roman"/>
              <a:cs typeface="Times New Roman"/>
            </a:endParaRPr>
          </a:p>
          <a:p>
            <a:pPr marL="508000" marR="5080">
              <a:lnSpc>
                <a:spcPct val="106400"/>
              </a:lnSpc>
              <a:spcBef>
                <a:spcPts val="10"/>
              </a:spcBef>
            </a:pPr>
            <a:r>
              <a:rPr sz="2200" spc="-5" dirty="0">
                <a:latin typeface="Times New Roman"/>
                <a:cs typeface="Times New Roman"/>
              </a:rPr>
              <a:t>System.out.print("The</a:t>
            </a:r>
            <a:r>
              <a:rPr sz="2200" dirty="0">
                <a:latin typeface="Times New Roman"/>
                <a:cs typeface="Times New Roman"/>
              </a:rPr>
              <a:t> </a:t>
            </a:r>
            <a:r>
              <a:rPr sz="2200" spc="-5" dirty="0">
                <a:latin typeface="Times New Roman"/>
                <a:cs typeface="Times New Roman"/>
              </a:rPr>
              <a:t>value</a:t>
            </a:r>
            <a:r>
              <a:rPr sz="2200" dirty="0">
                <a:latin typeface="Times New Roman"/>
                <a:cs typeface="Times New Roman"/>
              </a:rPr>
              <a:t> of</a:t>
            </a:r>
            <a:r>
              <a:rPr sz="2200" spc="15" dirty="0">
                <a:latin typeface="Times New Roman"/>
                <a:cs typeface="Times New Roman"/>
              </a:rPr>
              <a:t> </a:t>
            </a:r>
            <a:r>
              <a:rPr sz="2200" dirty="0">
                <a:latin typeface="Times New Roman"/>
                <a:cs typeface="Times New Roman"/>
              </a:rPr>
              <a:t>num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2</a:t>
            </a:r>
            <a:r>
              <a:rPr sz="2200" spc="5"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 </a:t>
            </a:r>
            <a:r>
              <a:rPr sz="2200" spc="-535" dirty="0">
                <a:latin typeface="Times New Roman"/>
                <a:cs typeface="Times New Roman"/>
              </a:rPr>
              <a:t> </a:t>
            </a:r>
            <a:r>
              <a:rPr sz="2200" spc="-5" dirty="0">
                <a:latin typeface="Times New Roman"/>
                <a:cs typeface="Times New Roman"/>
              </a:rPr>
              <a:t>System.out.println(num);</a:t>
            </a:r>
            <a:endParaRPr sz="2200" dirty="0">
              <a:latin typeface="Times New Roman"/>
              <a:cs typeface="Times New Roman"/>
            </a:endParaRPr>
          </a:p>
          <a:p>
            <a:pPr marL="12700">
              <a:lnSpc>
                <a:spcPct val="100000"/>
              </a:lnSpc>
              <a:spcBef>
                <a:spcPts val="170"/>
              </a:spcBef>
            </a:pPr>
            <a:r>
              <a:rPr lang="en-US" sz="2200" spc="-5" dirty="0" smtClean="0">
                <a:latin typeface="Times New Roman"/>
                <a:cs typeface="Times New Roman"/>
              </a:rPr>
              <a:t>                                                         </a:t>
            </a:r>
            <a:r>
              <a:rPr sz="2200" spc="-5" dirty="0" smtClean="0">
                <a:latin typeface="Times New Roman"/>
                <a:cs typeface="Times New Roman"/>
              </a:rPr>
              <a:t>}</a:t>
            </a:r>
            <a:endParaRPr lang="en-US" sz="2200" spc="-5" dirty="0" smtClean="0">
              <a:latin typeface="Times New Roman"/>
              <a:cs typeface="Times New Roman"/>
            </a:endParaRPr>
          </a:p>
          <a:p>
            <a:pPr marL="12700">
              <a:lnSpc>
                <a:spcPct val="100000"/>
              </a:lnSpc>
              <a:spcBef>
                <a:spcPts val="170"/>
              </a:spcBef>
            </a:pPr>
            <a:r>
              <a:rPr lang="en-US" sz="2200" spc="-5" dirty="0">
                <a:latin typeface="Times New Roman"/>
                <a:cs typeface="Times New Roman"/>
              </a:rPr>
              <a:t>}</a:t>
            </a:r>
            <a:endParaRPr sz="2200" dirty="0">
              <a:latin typeface="Times New Roman"/>
              <a:cs typeface="Times New Roman"/>
            </a:endParaRPr>
          </a:p>
        </p:txBody>
      </p:sp>
      <p:sp>
        <p:nvSpPr>
          <p:cNvPr id="7" name="object 7"/>
          <p:cNvSpPr txBox="1"/>
          <p:nvPr/>
        </p:nvSpPr>
        <p:spPr>
          <a:xfrm>
            <a:off x="381000" y="1474116"/>
            <a:ext cx="8468360" cy="1358705"/>
          </a:xfrm>
          <a:prstGeom prst="rect">
            <a:avLst/>
          </a:prstGeom>
        </p:spPr>
        <p:txBody>
          <a:bodyPr vert="horz" wrap="square" lIns="0" tIns="70485" rIns="0" bIns="0" rtlCol="0">
            <a:spAutoFit/>
          </a:bodyPr>
          <a:lstStyle/>
          <a:p>
            <a:pPr marL="12700">
              <a:lnSpc>
                <a:spcPct val="100000"/>
              </a:lnSpc>
              <a:spcBef>
                <a:spcPts val="555"/>
              </a:spcBef>
            </a:pPr>
            <a:r>
              <a:rPr sz="1200" b="1" dirty="0" smtClean="0">
                <a:solidFill>
                  <a:srgbClr val="FFFFFF"/>
                </a:solidFill>
                <a:latin typeface="Times New Roman"/>
                <a:cs typeface="Times New Roman"/>
              </a:rPr>
              <a:t>35</a:t>
            </a:r>
            <a:endParaRPr sz="2200" dirty="0">
              <a:latin typeface="Times New Roman"/>
              <a:cs typeface="Times New Roman"/>
            </a:endParaRPr>
          </a:p>
          <a:p>
            <a:pPr>
              <a:lnSpc>
                <a:spcPct val="100000"/>
              </a:lnSpc>
            </a:pPr>
            <a:endParaRPr sz="2600" dirty="0">
              <a:latin typeface="Times New Roman"/>
              <a:cs typeface="Times New Roman"/>
            </a:endParaRPr>
          </a:p>
          <a:p>
            <a:pPr marL="66675">
              <a:lnSpc>
                <a:spcPct val="100000"/>
              </a:lnSpc>
              <a:spcBef>
                <a:spcPts val="5"/>
              </a:spcBef>
            </a:pPr>
            <a:r>
              <a:rPr sz="2200" spc="-5" dirty="0">
                <a:latin typeface="Times New Roman"/>
                <a:cs typeface="Times New Roman"/>
              </a:rPr>
              <a:t>class</a:t>
            </a:r>
            <a:r>
              <a:rPr sz="2200" spc="-30" dirty="0">
                <a:latin typeface="Times New Roman"/>
                <a:cs typeface="Times New Roman"/>
              </a:rPr>
              <a:t> </a:t>
            </a:r>
            <a:r>
              <a:rPr sz="2200" spc="-5" dirty="0">
                <a:latin typeface="Times New Roman"/>
                <a:cs typeface="Times New Roman"/>
              </a:rPr>
              <a:t>Example3</a:t>
            </a:r>
            <a:r>
              <a:rPr sz="2200" dirty="0">
                <a:latin typeface="Times New Roman"/>
                <a:cs typeface="Times New Roman"/>
              </a:rPr>
              <a:t> </a:t>
            </a:r>
            <a:r>
              <a:rPr sz="2200" spc="-5" dirty="0">
                <a:latin typeface="Times New Roman"/>
                <a:cs typeface="Times New Roman"/>
              </a:rPr>
              <a:t>{</a:t>
            </a:r>
            <a:endParaRPr sz="2200" dirty="0">
              <a:latin typeface="Times New Roman"/>
              <a:cs typeface="Times New Roman"/>
            </a:endParaRPr>
          </a:p>
          <a:p>
            <a:pPr marL="66675">
              <a:lnSpc>
                <a:spcPct val="100000"/>
              </a:lnSpc>
              <a:spcBef>
                <a:spcPts val="165"/>
              </a:spcBef>
            </a:pPr>
            <a:r>
              <a:rPr sz="2200" spc="-5" dirty="0">
                <a:latin typeface="Times New Roman"/>
                <a:cs typeface="Times New Roman"/>
              </a:rPr>
              <a:t>public</a:t>
            </a:r>
            <a:r>
              <a:rPr sz="2200" spc="-15" dirty="0">
                <a:latin typeface="Times New Roman"/>
                <a:cs typeface="Times New Roman"/>
              </a:rPr>
              <a:t> </a:t>
            </a:r>
            <a:r>
              <a:rPr sz="2200" spc="-5" dirty="0">
                <a:latin typeface="Times New Roman"/>
                <a:cs typeface="Times New Roman"/>
              </a:rPr>
              <a:t>static void</a:t>
            </a:r>
            <a:r>
              <a:rPr sz="2200" spc="-10" dirty="0">
                <a:latin typeface="Times New Roman"/>
                <a:cs typeface="Times New Roman"/>
              </a:rPr>
              <a:t> </a:t>
            </a:r>
            <a:r>
              <a:rPr sz="2200" spc="-5" dirty="0">
                <a:latin typeface="Times New Roman"/>
                <a:cs typeface="Times New Roman"/>
              </a:rPr>
              <a:t>main(String</a:t>
            </a:r>
            <a:r>
              <a:rPr sz="2200" spc="55" dirty="0">
                <a:latin typeface="Times New Roman"/>
                <a:cs typeface="Times New Roman"/>
              </a:rPr>
              <a:t> </a:t>
            </a:r>
            <a:r>
              <a:rPr sz="2200" spc="-15" dirty="0">
                <a:latin typeface="Times New Roman"/>
                <a:cs typeface="Times New Roman"/>
              </a:rPr>
              <a:t>args[])</a:t>
            </a:r>
            <a:r>
              <a:rPr sz="2200" spc="50" dirty="0">
                <a:latin typeface="Times New Roman"/>
                <a:cs typeface="Times New Roman"/>
              </a:rPr>
              <a:t> </a:t>
            </a:r>
            <a:r>
              <a:rPr sz="2200" spc="-5" dirty="0">
                <a:latin typeface="Times New Roman"/>
                <a:cs typeface="Times New Roman"/>
              </a:rPr>
              <a:t>{</a:t>
            </a:r>
            <a:endParaRPr sz="2200" dirty="0">
              <a:latin typeface="Times New Roman"/>
              <a:cs typeface="Times New Roman"/>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1628-A12D-82C0-9B2A-D6E380B7B1E2}"/>
              </a:ext>
            </a:extLst>
          </p:cNvPr>
          <p:cNvSpPr>
            <a:spLocks noGrp="1"/>
          </p:cNvSpPr>
          <p:nvPr>
            <p:ph type="title"/>
          </p:nvPr>
        </p:nvSpPr>
        <p:spPr/>
        <p:txBody>
          <a:bodyPr/>
          <a:lstStyle/>
          <a:p>
            <a:r>
              <a:rPr lang="en-US" dirty="0"/>
              <a:t>Java is a strongly Typed Language</a:t>
            </a:r>
            <a:endParaRPr lang="en-IN" dirty="0"/>
          </a:p>
        </p:txBody>
      </p:sp>
      <p:sp>
        <p:nvSpPr>
          <p:cNvPr id="3" name="Text Placeholder 2">
            <a:extLst>
              <a:ext uri="{FF2B5EF4-FFF2-40B4-BE49-F238E27FC236}">
                <a16:creationId xmlns:a16="http://schemas.microsoft.com/office/drawing/2014/main" id="{4AAB15B9-E5E2-8353-905D-62B0731DBCBD}"/>
              </a:ext>
            </a:extLst>
          </p:cNvPr>
          <p:cNvSpPr>
            <a:spLocks noGrp="1"/>
          </p:cNvSpPr>
          <p:nvPr>
            <p:ph type="body" idx="1"/>
          </p:nvPr>
        </p:nvSpPr>
        <p:spPr>
          <a:xfrm>
            <a:off x="231140" y="1538681"/>
            <a:ext cx="8684260" cy="4911344"/>
          </a:xfrm>
        </p:spPr>
        <p:txBody>
          <a:bodyPr/>
          <a:lstStyle/>
          <a:p>
            <a:pPr marL="457200" indent="-457200" algn="just">
              <a:lnSpc>
                <a:spcPct val="150000"/>
              </a:lnSpc>
              <a:buFont typeface="Arial" panose="020B0604020202020204" pitchFamily="34" charset="0"/>
              <a:buChar char="•"/>
            </a:pPr>
            <a:r>
              <a:rPr lang="en-US" dirty="0"/>
              <a:t>Every variable has a type</a:t>
            </a:r>
            <a:r>
              <a:rPr lang="en-US" dirty="0" smtClean="0"/>
              <a:t>, every </a:t>
            </a:r>
            <a:r>
              <a:rPr lang="en-US" dirty="0"/>
              <a:t>expression has a type and every type is strictly defined.</a:t>
            </a:r>
          </a:p>
          <a:p>
            <a:pPr marL="457200" indent="-457200" algn="just">
              <a:lnSpc>
                <a:spcPct val="150000"/>
              </a:lnSpc>
              <a:buFont typeface="Arial" panose="020B0604020202020204" pitchFamily="34" charset="0"/>
              <a:buChar char="•"/>
            </a:pPr>
            <a:r>
              <a:rPr lang="en-US" dirty="0" smtClean="0"/>
              <a:t>There </a:t>
            </a:r>
            <a:r>
              <a:rPr lang="en-US" dirty="0"/>
              <a:t>are no automatic conversions of conflicting types as in other languages.</a:t>
            </a:r>
          </a:p>
          <a:p>
            <a:pPr marL="457200" indent="-457200" algn="just">
              <a:lnSpc>
                <a:spcPct val="150000"/>
              </a:lnSpc>
              <a:buFont typeface="Arial" panose="020B0604020202020204" pitchFamily="34" charset="0"/>
              <a:buChar char="•"/>
            </a:pPr>
            <a:r>
              <a:rPr lang="en-US" dirty="0"/>
              <a:t>The java compiler checks all expressions and parameters to ensure that the types are compatible.</a:t>
            </a:r>
          </a:p>
          <a:p>
            <a:pPr marL="457200" indent="-457200" algn="just">
              <a:lnSpc>
                <a:spcPct val="150000"/>
              </a:lnSpc>
              <a:buFont typeface="Arial" panose="020B0604020202020204" pitchFamily="34" charset="0"/>
              <a:buChar char="•"/>
            </a:pPr>
            <a:r>
              <a:rPr lang="en-US" dirty="0"/>
              <a:t>Any type mismatches are errors that must be corrected before the compiler will finish compiling the class.</a:t>
            </a:r>
            <a:endParaRPr lang="en-IN" dirty="0"/>
          </a:p>
        </p:txBody>
      </p:sp>
    </p:spTree>
    <p:extLst>
      <p:ext uri="{BB962C8B-B14F-4D97-AF65-F5344CB8AC3E}">
        <p14:creationId xmlns:p14="http://schemas.microsoft.com/office/powerpoint/2010/main" val="29696726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1604962"/>
            <a:ext cx="8153400" cy="4719638"/>
          </a:xfrm>
          <a:prstGeom prst="rect">
            <a:avLst/>
          </a:prstGeom>
        </p:spPr>
      </p:pic>
      <p:sp>
        <p:nvSpPr>
          <p:cNvPr id="5" name="object 2"/>
          <p:cNvSpPr txBox="1">
            <a:spLocks noGrp="1"/>
          </p:cNvSpPr>
          <p:nvPr>
            <p:ph type="title"/>
          </p:nvPr>
        </p:nvSpPr>
        <p:spPr>
          <a:xfrm>
            <a:off x="691387" y="252729"/>
            <a:ext cx="7910830" cy="593047"/>
          </a:xfrm>
          <a:prstGeom prst="rect">
            <a:avLst/>
          </a:prstGeom>
        </p:spPr>
        <p:txBody>
          <a:bodyPr vert="horz" wrap="square" lIns="0" tIns="2540" rIns="0" bIns="0" rtlCol="0">
            <a:spAutoFit/>
          </a:bodyPr>
          <a:lstStyle/>
          <a:p>
            <a:pPr marL="12700" marR="5080">
              <a:lnSpc>
                <a:spcPct val="101600"/>
              </a:lnSpc>
              <a:spcBef>
                <a:spcPts val="20"/>
              </a:spcBef>
            </a:pPr>
            <a:r>
              <a:rPr b="1" spc="-5" dirty="0"/>
              <a:t>Java</a:t>
            </a:r>
            <a:r>
              <a:rPr b="1" spc="5" dirty="0"/>
              <a:t> </a:t>
            </a:r>
            <a:r>
              <a:rPr b="1" spc="-5" dirty="0"/>
              <a:t>Data</a:t>
            </a:r>
            <a:r>
              <a:rPr b="1" spc="-55" dirty="0"/>
              <a:t> </a:t>
            </a:r>
            <a:r>
              <a:rPr b="1" spc="-60" dirty="0"/>
              <a:t>Types</a:t>
            </a:r>
            <a:r>
              <a:rPr b="1" spc="-5" dirty="0"/>
              <a:t> </a:t>
            </a:r>
            <a:endParaRPr sz="1800" b="1" dirty="0">
              <a:latin typeface="Arial MT"/>
              <a:cs typeface="Arial MT"/>
            </a:endParaRPr>
          </a:p>
        </p:txBody>
      </p:sp>
    </p:spTree>
    <p:extLst>
      <p:ext uri="{BB962C8B-B14F-4D97-AF65-F5344CB8AC3E}">
        <p14:creationId xmlns:p14="http://schemas.microsoft.com/office/powerpoint/2010/main" val="3019641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252729"/>
            <a:ext cx="7910830" cy="593047"/>
          </a:xfrm>
          <a:prstGeom prst="rect">
            <a:avLst/>
          </a:prstGeom>
        </p:spPr>
        <p:txBody>
          <a:bodyPr vert="horz" wrap="square" lIns="0" tIns="2540" rIns="0" bIns="0" rtlCol="0">
            <a:spAutoFit/>
          </a:bodyPr>
          <a:lstStyle/>
          <a:p>
            <a:pPr marL="12700" marR="5080">
              <a:lnSpc>
                <a:spcPct val="101600"/>
              </a:lnSpc>
              <a:spcBef>
                <a:spcPts val="20"/>
              </a:spcBef>
            </a:pPr>
            <a:r>
              <a:rPr b="1" spc="-5" dirty="0"/>
              <a:t>Java</a:t>
            </a:r>
            <a:r>
              <a:rPr b="1" spc="5" dirty="0"/>
              <a:t> </a:t>
            </a:r>
            <a:r>
              <a:rPr b="1" spc="-5" dirty="0"/>
              <a:t>Data</a:t>
            </a:r>
            <a:r>
              <a:rPr b="1" spc="-55" dirty="0"/>
              <a:t> </a:t>
            </a:r>
            <a:r>
              <a:rPr b="1" spc="-60" dirty="0"/>
              <a:t>Types</a:t>
            </a:r>
            <a:r>
              <a:rPr b="1" spc="-5" dirty="0"/>
              <a:t> </a:t>
            </a:r>
            <a:endParaRPr sz="1800" b="1" dirty="0">
              <a:latin typeface="Arial MT"/>
              <a:cs typeface="Arial MT"/>
            </a:endParaRPr>
          </a:p>
        </p:txBody>
      </p:sp>
      <p:sp>
        <p:nvSpPr>
          <p:cNvPr id="3" name="object 3"/>
          <p:cNvSpPr txBox="1"/>
          <p:nvPr/>
        </p:nvSpPr>
        <p:spPr>
          <a:xfrm>
            <a:off x="176885" y="1528013"/>
            <a:ext cx="8814715" cy="3293209"/>
          </a:xfrm>
          <a:prstGeom prst="rect">
            <a:avLst/>
          </a:prstGeom>
        </p:spPr>
        <p:txBody>
          <a:bodyPr vert="horz" wrap="square" lIns="0" tIns="12700" rIns="0" bIns="0" rtlCol="0">
            <a:spAutoFit/>
          </a:bodyPr>
          <a:lstStyle/>
          <a:p>
            <a:pPr marL="12700">
              <a:lnSpc>
                <a:spcPct val="100000"/>
              </a:lnSpc>
              <a:spcBef>
                <a:spcPts val="100"/>
              </a:spcBef>
              <a:buClr>
                <a:srgbClr val="DD8046"/>
              </a:buClr>
              <a:buSzPct val="60000"/>
              <a:tabLst>
                <a:tab pos="332740" algn="l"/>
              </a:tabLst>
            </a:pPr>
            <a:endParaRPr sz="3000" dirty="0">
              <a:latin typeface="Times New Roman"/>
              <a:cs typeface="Times New Roman"/>
            </a:endParaRPr>
          </a:p>
          <a:p>
            <a:pPr marL="469900" indent="-457200">
              <a:lnSpc>
                <a:spcPts val="2915"/>
              </a:lnSpc>
              <a:spcBef>
                <a:spcPts val="75"/>
              </a:spcBef>
              <a:buFont typeface="Arial" panose="020B0604020202020204" pitchFamily="34" charset="0"/>
              <a:buChar char="•"/>
            </a:pPr>
            <a:r>
              <a:rPr sz="2700" b="1" dirty="0" smtClean="0">
                <a:latin typeface="Times New Roman"/>
                <a:cs typeface="Times New Roman"/>
              </a:rPr>
              <a:t>Primitive</a:t>
            </a:r>
            <a:r>
              <a:rPr sz="2700" b="1" spc="60" dirty="0" smtClean="0">
                <a:latin typeface="Times New Roman"/>
                <a:cs typeface="Times New Roman"/>
              </a:rPr>
              <a:t> </a:t>
            </a:r>
            <a:r>
              <a:rPr sz="2700" b="1" dirty="0">
                <a:latin typeface="Times New Roman"/>
                <a:cs typeface="Times New Roman"/>
              </a:rPr>
              <a:t>data</a:t>
            </a:r>
            <a:r>
              <a:rPr sz="2700" b="1" spc="65" dirty="0">
                <a:latin typeface="Times New Roman"/>
                <a:cs typeface="Times New Roman"/>
              </a:rPr>
              <a:t> </a:t>
            </a:r>
            <a:r>
              <a:rPr sz="2700" b="1" spc="-5" dirty="0" smtClean="0">
                <a:latin typeface="Times New Roman"/>
                <a:cs typeface="Times New Roman"/>
              </a:rPr>
              <a:t>types</a:t>
            </a:r>
            <a:r>
              <a:rPr lang="en-US" sz="2700" b="1" spc="-5" dirty="0" smtClean="0">
                <a:latin typeface="Times New Roman"/>
                <a:cs typeface="Times New Roman"/>
              </a:rPr>
              <a:t> or</a:t>
            </a:r>
            <a:r>
              <a:rPr sz="2700" b="1" spc="55" dirty="0" smtClean="0">
                <a:latin typeface="Times New Roman"/>
                <a:cs typeface="Times New Roman"/>
              </a:rPr>
              <a:t> </a:t>
            </a:r>
            <a:r>
              <a:rPr sz="2700" b="1" spc="-5" dirty="0">
                <a:latin typeface="Times New Roman"/>
                <a:cs typeface="Times New Roman"/>
              </a:rPr>
              <a:t>simple</a:t>
            </a:r>
            <a:r>
              <a:rPr sz="2700" b="1" spc="55" dirty="0">
                <a:latin typeface="Times New Roman"/>
                <a:cs typeface="Times New Roman"/>
              </a:rPr>
              <a:t> </a:t>
            </a:r>
            <a:r>
              <a:rPr lang="en-US" sz="2700" b="1" spc="55" dirty="0" smtClean="0">
                <a:latin typeface="Times New Roman"/>
                <a:cs typeface="Times New Roman"/>
              </a:rPr>
              <a:t>or Basic data </a:t>
            </a:r>
            <a:r>
              <a:rPr sz="2700" b="1" spc="-5" dirty="0" smtClean="0">
                <a:latin typeface="Times New Roman"/>
                <a:cs typeface="Times New Roman"/>
              </a:rPr>
              <a:t>types</a:t>
            </a:r>
            <a:r>
              <a:rPr lang="en-US" sz="2700" b="1" spc="-5" dirty="0" smtClean="0">
                <a:latin typeface="Times New Roman"/>
                <a:cs typeface="Times New Roman"/>
              </a:rPr>
              <a:t>:</a:t>
            </a:r>
            <a:endParaRPr sz="2700" dirty="0">
              <a:latin typeface="Times New Roman"/>
              <a:cs typeface="Times New Roman"/>
            </a:endParaRPr>
          </a:p>
          <a:p>
            <a:pPr marL="12700">
              <a:lnSpc>
                <a:spcPts val="2915"/>
              </a:lnSpc>
              <a:tabLst>
                <a:tab pos="927100" algn="l"/>
              </a:tabLst>
            </a:pPr>
            <a:r>
              <a:rPr sz="2700" dirty="0">
                <a:latin typeface="Times New Roman"/>
                <a:cs typeface="Times New Roman"/>
              </a:rPr>
              <a:t>-	byte,</a:t>
            </a:r>
            <a:r>
              <a:rPr sz="2700" spc="-10" dirty="0">
                <a:latin typeface="Times New Roman"/>
                <a:cs typeface="Times New Roman"/>
              </a:rPr>
              <a:t> </a:t>
            </a:r>
            <a:r>
              <a:rPr sz="2700" dirty="0">
                <a:latin typeface="Times New Roman"/>
                <a:cs typeface="Times New Roman"/>
              </a:rPr>
              <a:t>short,</a:t>
            </a:r>
            <a:r>
              <a:rPr sz="2700" spc="-10" dirty="0">
                <a:latin typeface="Times New Roman"/>
                <a:cs typeface="Times New Roman"/>
              </a:rPr>
              <a:t> </a:t>
            </a:r>
            <a:r>
              <a:rPr sz="2700" dirty="0">
                <a:latin typeface="Times New Roman"/>
                <a:cs typeface="Times New Roman"/>
              </a:rPr>
              <a:t>int,</a:t>
            </a:r>
            <a:r>
              <a:rPr sz="2700" spc="-20" dirty="0">
                <a:latin typeface="Times New Roman"/>
                <a:cs typeface="Times New Roman"/>
              </a:rPr>
              <a:t> </a:t>
            </a:r>
            <a:r>
              <a:rPr sz="2700" dirty="0">
                <a:latin typeface="Times New Roman"/>
                <a:cs typeface="Times New Roman"/>
              </a:rPr>
              <a:t>long,</a:t>
            </a:r>
            <a:r>
              <a:rPr sz="2700" spc="-30" dirty="0">
                <a:latin typeface="Times New Roman"/>
                <a:cs typeface="Times New Roman"/>
              </a:rPr>
              <a:t> </a:t>
            </a:r>
            <a:r>
              <a:rPr sz="2700" spc="-5" dirty="0">
                <a:latin typeface="Times New Roman"/>
                <a:cs typeface="Times New Roman"/>
              </a:rPr>
              <a:t>float,</a:t>
            </a:r>
            <a:r>
              <a:rPr sz="2700" spc="5" dirty="0">
                <a:latin typeface="Times New Roman"/>
                <a:cs typeface="Times New Roman"/>
              </a:rPr>
              <a:t> </a:t>
            </a:r>
            <a:r>
              <a:rPr sz="2700" dirty="0">
                <a:latin typeface="Times New Roman"/>
                <a:cs typeface="Times New Roman"/>
              </a:rPr>
              <a:t>double,</a:t>
            </a:r>
            <a:r>
              <a:rPr sz="2700" spc="-15" dirty="0">
                <a:latin typeface="Times New Roman"/>
                <a:cs typeface="Times New Roman"/>
              </a:rPr>
              <a:t> </a:t>
            </a:r>
            <a:r>
              <a:rPr sz="2700" dirty="0">
                <a:latin typeface="Times New Roman"/>
                <a:cs typeface="Times New Roman"/>
              </a:rPr>
              <a:t>boolean</a:t>
            </a:r>
            <a:r>
              <a:rPr sz="2700" spc="-10" dirty="0">
                <a:latin typeface="Times New Roman"/>
                <a:cs typeface="Times New Roman"/>
              </a:rPr>
              <a:t> </a:t>
            </a:r>
            <a:r>
              <a:rPr sz="2700" dirty="0">
                <a:latin typeface="Times New Roman"/>
                <a:cs typeface="Times New Roman"/>
              </a:rPr>
              <a:t>and</a:t>
            </a:r>
            <a:r>
              <a:rPr sz="2700" spc="-5" dirty="0">
                <a:latin typeface="Times New Roman"/>
                <a:cs typeface="Times New Roman"/>
              </a:rPr>
              <a:t> </a:t>
            </a:r>
            <a:r>
              <a:rPr sz="2700" spc="-30" dirty="0">
                <a:latin typeface="Times New Roman"/>
                <a:cs typeface="Times New Roman"/>
              </a:rPr>
              <a:t>char</a:t>
            </a:r>
            <a:r>
              <a:rPr sz="2700" spc="-30" dirty="0" smtClean="0">
                <a:latin typeface="Times New Roman"/>
                <a:cs typeface="Times New Roman"/>
              </a:rPr>
              <a:t>.</a:t>
            </a:r>
            <a:endParaRPr lang="en-US" sz="2700" spc="-30" dirty="0" smtClean="0">
              <a:latin typeface="Times New Roman"/>
              <a:cs typeface="Times New Roman"/>
            </a:endParaRPr>
          </a:p>
          <a:p>
            <a:pPr marL="12700">
              <a:lnSpc>
                <a:spcPts val="2915"/>
              </a:lnSpc>
              <a:tabLst>
                <a:tab pos="927100" algn="l"/>
              </a:tabLst>
            </a:pPr>
            <a:endParaRPr sz="2700" dirty="0">
              <a:latin typeface="Times New Roman"/>
              <a:cs typeface="Times New Roman"/>
            </a:endParaRPr>
          </a:p>
          <a:p>
            <a:pPr marL="332740" indent="-320040">
              <a:spcBef>
                <a:spcPts val="50"/>
              </a:spcBef>
              <a:buClr>
                <a:srgbClr val="DD8046"/>
              </a:buClr>
              <a:buSzPct val="59259"/>
              <a:buFont typeface="Wingdings"/>
              <a:buChar char=""/>
              <a:tabLst>
                <a:tab pos="332105" algn="l"/>
                <a:tab pos="332740" algn="l"/>
              </a:tabLst>
            </a:pPr>
            <a:r>
              <a:rPr sz="2700" dirty="0">
                <a:latin typeface="Times New Roman"/>
                <a:cs typeface="Times New Roman"/>
              </a:rPr>
              <a:t>These</a:t>
            </a:r>
            <a:r>
              <a:rPr sz="2700" spc="-10" dirty="0">
                <a:latin typeface="Times New Roman"/>
                <a:cs typeface="Times New Roman"/>
              </a:rPr>
              <a:t> </a:t>
            </a:r>
            <a:r>
              <a:rPr sz="2700" dirty="0">
                <a:latin typeface="Times New Roman"/>
                <a:cs typeface="Times New Roman"/>
              </a:rPr>
              <a:t>can</a:t>
            </a:r>
            <a:r>
              <a:rPr sz="2700" spc="-15" dirty="0">
                <a:latin typeface="Times New Roman"/>
                <a:cs typeface="Times New Roman"/>
              </a:rPr>
              <a:t> </a:t>
            </a:r>
            <a:r>
              <a:rPr sz="2700" dirty="0">
                <a:latin typeface="Times New Roman"/>
                <a:cs typeface="Times New Roman"/>
              </a:rPr>
              <a:t>be</a:t>
            </a:r>
            <a:r>
              <a:rPr sz="2700" spc="-10" dirty="0">
                <a:latin typeface="Times New Roman"/>
                <a:cs typeface="Times New Roman"/>
              </a:rPr>
              <a:t> </a:t>
            </a:r>
            <a:r>
              <a:rPr sz="2700" dirty="0">
                <a:latin typeface="Times New Roman"/>
                <a:cs typeface="Times New Roman"/>
              </a:rPr>
              <a:t>put</a:t>
            </a:r>
            <a:r>
              <a:rPr sz="2700" spc="-15" dirty="0">
                <a:latin typeface="Times New Roman"/>
                <a:cs typeface="Times New Roman"/>
              </a:rPr>
              <a:t> </a:t>
            </a:r>
            <a:r>
              <a:rPr sz="2700" dirty="0">
                <a:latin typeface="Times New Roman"/>
                <a:cs typeface="Times New Roman"/>
              </a:rPr>
              <a:t>in</a:t>
            </a:r>
            <a:r>
              <a:rPr sz="2700" spc="-15" dirty="0">
                <a:latin typeface="Times New Roman"/>
                <a:cs typeface="Times New Roman"/>
              </a:rPr>
              <a:t> </a:t>
            </a:r>
            <a:r>
              <a:rPr sz="2700" spc="-5" dirty="0">
                <a:latin typeface="Times New Roman"/>
                <a:cs typeface="Times New Roman"/>
              </a:rPr>
              <a:t>four </a:t>
            </a:r>
            <a:r>
              <a:rPr sz="2700" dirty="0">
                <a:latin typeface="Times New Roman"/>
                <a:cs typeface="Times New Roman"/>
              </a:rPr>
              <a:t>groups</a:t>
            </a:r>
            <a:r>
              <a:rPr sz="2700" dirty="0" smtClean="0">
                <a:latin typeface="Times New Roman"/>
                <a:cs typeface="Times New Roman"/>
              </a:rPr>
              <a:t>:</a:t>
            </a:r>
            <a:endParaRPr lang="en-US" sz="2700" dirty="0" smtClean="0">
              <a:latin typeface="Times New Roman"/>
              <a:cs typeface="Times New Roman"/>
            </a:endParaRPr>
          </a:p>
          <a:p>
            <a:pPr marL="377825" marR="5080" lvl="1">
              <a:spcBef>
                <a:spcPts val="615"/>
              </a:spcBef>
              <a:buClr>
                <a:srgbClr val="93B6D2"/>
              </a:buClr>
              <a:buSzPct val="68750"/>
              <a:tabLst>
                <a:tab pos="652780" algn="l"/>
                <a:tab pos="653415" algn="l"/>
                <a:tab pos="2012314" algn="l"/>
                <a:tab pos="2258695" algn="l"/>
                <a:tab pos="2948305" algn="l"/>
                <a:tab pos="3804920" algn="l"/>
                <a:tab pos="4966335" algn="l"/>
                <a:tab pos="5713095" algn="l"/>
                <a:tab pos="6543675" algn="l"/>
                <a:tab pos="7087870" algn="l"/>
                <a:tab pos="7673340" algn="l"/>
              </a:tabLst>
            </a:pPr>
            <a:r>
              <a:rPr lang="en-US" sz="2400" b="1" spc="-5" dirty="0" err="1" smtClean="0">
                <a:latin typeface="Times New Roman"/>
                <a:cs typeface="Times New Roman"/>
              </a:rPr>
              <a:t>i</a:t>
            </a:r>
            <a:r>
              <a:rPr lang="en-US" sz="2400" b="1" spc="-5" dirty="0" smtClean="0">
                <a:latin typeface="Times New Roman"/>
                <a:cs typeface="Times New Roman"/>
              </a:rPr>
              <a:t>) </a:t>
            </a:r>
            <a:r>
              <a:rPr sz="2400" b="1" spc="-5" dirty="0" smtClean="0">
                <a:latin typeface="Times New Roman"/>
                <a:cs typeface="Times New Roman"/>
              </a:rPr>
              <a:t>Integ</a:t>
            </a:r>
            <a:r>
              <a:rPr sz="2400" b="1" dirty="0" smtClean="0">
                <a:latin typeface="Times New Roman"/>
                <a:cs typeface="Times New Roman"/>
              </a:rPr>
              <a:t>e</a:t>
            </a:r>
            <a:r>
              <a:rPr sz="2400" b="1" spc="-5" dirty="0" smtClean="0">
                <a:latin typeface="Times New Roman"/>
                <a:cs typeface="Times New Roman"/>
              </a:rPr>
              <a:t>rs</a:t>
            </a:r>
            <a:r>
              <a:rPr sz="2400" b="1" dirty="0">
                <a:latin typeface="Times New Roman"/>
                <a:cs typeface="Times New Roman"/>
              </a:rPr>
              <a:t>	</a:t>
            </a:r>
            <a:r>
              <a:rPr sz="2400" dirty="0">
                <a:latin typeface="Times New Roman"/>
                <a:cs typeface="Times New Roman"/>
              </a:rPr>
              <a:t>-	This	group	inclu</a:t>
            </a:r>
            <a:r>
              <a:rPr sz="2400" spc="-15" dirty="0">
                <a:latin typeface="Times New Roman"/>
                <a:cs typeface="Times New Roman"/>
              </a:rPr>
              <a:t>d</a:t>
            </a:r>
            <a:r>
              <a:rPr sz="2400" spc="-5" dirty="0">
                <a:latin typeface="Times New Roman"/>
                <a:cs typeface="Times New Roman"/>
              </a:rPr>
              <a:t>es</a:t>
            </a:r>
            <a:r>
              <a:rPr sz="2400" dirty="0">
                <a:latin typeface="Times New Roman"/>
                <a:cs typeface="Times New Roman"/>
              </a:rPr>
              <a:t>	</a:t>
            </a:r>
            <a:r>
              <a:rPr sz="2400" b="1" spc="-15" dirty="0">
                <a:latin typeface="Times New Roman"/>
                <a:cs typeface="Times New Roman"/>
              </a:rPr>
              <a:t>b</a:t>
            </a:r>
            <a:r>
              <a:rPr sz="2400" b="1" dirty="0">
                <a:latin typeface="Times New Roman"/>
                <a:cs typeface="Times New Roman"/>
              </a:rPr>
              <a:t>yte,	</a:t>
            </a:r>
            <a:r>
              <a:rPr sz="2400" b="1" spc="-5" dirty="0">
                <a:latin typeface="Times New Roman"/>
                <a:cs typeface="Times New Roman"/>
              </a:rPr>
              <a:t>sh</a:t>
            </a:r>
            <a:r>
              <a:rPr sz="2400" b="1" spc="-15" dirty="0">
                <a:latin typeface="Times New Roman"/>
                <a:cs typeface="Times New Roman"/>
              </a:rPr>
              <a:t>o</a:t>
            </a:r>
            <a:r>
              <a:rPr sz="2400" b="1" dirty="0">
                <a:latin typeface="Times New Roman"/>
                <a:cs typeface="Times New Roman"/>
              </a:rPr>
              <a:t>r</a:t>
            </a:r>
            <a:r>
              <a:rPr sz="2400" b="1" spc="5" dirty="0">
                <a:latin typeface="Times New Roman"/>
                <a:cs typeface="Times New Roman"/>
              </a:rPr>
              <a:t>t</a:t>
            </a:r>
            <a:r>
              <a:rPr sz="2400" b="1" dirty="0">
                <a:latin typeface="Times New Roman"/>
                <a:cs typeface="Times New Roman"/>
              </a:rPr>
              <a:t>,	i</a:t>
            </a:r>
            <a:r>
              <a:rPr sz="2400" b="1" spc="-10" dirty="0">
                <a:latin typeface="Times New Roman"/>
                <a:cs typeface="Times New Roman"/>
              </a:rPr>
              <a:t>n</a:t>
            </a:r>
            <a:r>
              <a:rPr sz="2400" b="1" dirty="0">
                <a:latin typeface="Times New Roman"/>
                <a:cs typeface="Times New Roman"/>
              </a:rPr>
              <a:t>t,	and	lo</a:t>
            </a:r>
            <a:r>
              <a:rPr sz="2400" b="1" spc="-10" dirty="0">
                <a:latin typeface="Times New Roman"/>
                <a:cs typeface="Times New Roman"/>
              </a:rPr>
              <a:t>n</a:t>
            </a:r>
            <a:r>
              <a:rPr sz="2400" b="1" dirty="0">
                <a:latin typeface="Times New Roman"/>
                <a:cs typeface="Times New Roman"/>
              </a:rPr>
              <a:t>g</a:t>
            </a:r>
            <a:r>
              <a:rPr sz="2400" dirty="0">
                <a:latin typeface="Times New Roman"/>
                <a:cs typeface="Times New Roman"/>
              </a:rPr>
              <a:t>,  which</a:t>
            </a:r>
            <a:r>
              <a:rPr sz="2400" spc="-5" dirty="0">
                <a:latin typeface="Times New Roman"/>
                <a:cs typeface="Times New Roman"/>
              </a:rPr>
              <a:t> </a:t>
            </a:r>
            <a:r>
              <a:rPr sz="2400" dirty="0">
                <a:latin typeface="Times New Roman"/>
                <a:cs typeface="Times New Roman"/>
              </a:rPr>
              <a:t>are</a:t>
            </a:r>
            <a:r>
              <a:rPr sz="2400" spc="-15" dirty="0">
                <a:latin typeface="Times New Roman"/>
                <a:cs typeface="Times New Roman"/>
              </a:rPr>
              <a:t> </a:t>
            </a:r>
            <a:r>
              <a:rPr sz="2400" dirty="0">
                <a:latin typeface="Times New Roman"/>
                <a:cs typeface="Times New Roman"/>
              </a:rPr>
              <a:t>for whole-valued</a:t>
            </a:r>
            <a:r>
              <a:rPr sz="2400" spc="-35" dirty="0">
                <a:latin typeface="Times New Roman"/>
                <a:cs typeface="Times New Roman"/>
              </a:rPr>
              <a:t> </a:t>
            </a:r>
            <a:r>
              <a:rPr sz="2400" dirty="0">
                <a:latin typeface="Times New Roman"/>
                <a:cs typeface="Times New Roman"/>
              </a:rPr>
              <a:t>signed</a:t>
            </a:r>
            <a:r>
              <a:rPr sz="2400" spc="-10" dirty="0">
                <a:latin typeface="Times New Roman"/>
                <a:cs typeface="Times New Roman"/>
              </a:rPr>
              <a:t> </a:t>
            </a:r>
            <a:r>
              <a:rPr lang="en-US" sz="2400" spc="-10" dirty="0">
                <a:latin typeface="Times New Roman"/>
                <a:cs typeface="Times New Roman"/>
              </a:rPr>
              <a:t>,positive and negative </a:t>
            </a:r>
            <a:r>
              <a:rPr sz="2400" spc="-5" dirty="0">
                <a:latin typeface="Times New Roman"/>
                <a:cs typeface="Times New Roman"/>
              </a:rPr>
              <a:t>numbers.</a:t>
            </a:r>
            <a:endParaRPr lang="en-US" sz="2400" spc="-5" dirty="0">
              <a:latin typeface="Times New Roman"/>
              <a:cs typeface="Times New Roman"/>
            </a:endParaRPr>
          </a:p>
          <a:p>
            <a:pPr marL="652780" marR="5080" lvl="1" indent="-274955">
              <a:spcBef>
                <a:spcPts val="615"/>
              </a:spcBef>
              <a:buClr>
                <a:srgbClr val="93B6D2"/>
              </a:buClr>
              <a:buSzPct val="68750"/>
              <a:buFont typeface="Arial MT"/>
              <a:buChar char="•"/>
              <a:tabLst>
                <a:tab pos="652780" algn="l"/>
                <a:tab pos="653415" algn="l"/>
                <a:tab pos="2012314" algn="l"/>
                <a:tab pos="2258695" algn="l"/>
                <a:tab pos="2948305" algn="l"/>
                <a:tab pos="3804920" algn="l"/>
                <a:tab pos="4966335" algn="l"/>
                <a:tab pos="5713095" algn="l"/>
                <a:tab pos="6543675" algn="l"/>
                <a:tab pos="7087870" algn="l"/>
                <a:tab pos="7673340" algn="l"/>
              </a:tabLst>
            </a:pPr>
            <a:r>
              <a:rPr lang="en-IN" sz="2400" spc="-5" dirty="0">
                <a:latin typeface="Times New Roman"/>
                <a:cs typeface="Times New Roman"/>
              </a:rPr>
              <a:t>Integers does not support </a:t>
            </a:r>
            <a:r>
              <a:rPr lang="en-IN" sz="2400" spc="-5" dirty="0" smtClean="0">
                <a:latin typeface="Times New Roman"/>
                <a:cs typeface="Times New Roman"/>
              </a:rPr>
              <a:t>unsigned.</a:t>
            </a: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36</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36F4D-2632-6188-AE79-B6B23E9D22B7}"/>
              </a:ext>
            </a:extLst>
          </p:cNvPr>
          <p:cNvSpPr>
            <a:spLocks noGrp="1"/>
          </p:cNvSpPr>
          <p:nvPr>
            <p:ph type="title"/>
          </p:nvPr>
        </p:nvSpPr>
        <p:spPr/>
        <p:txBody>
          <a:bodyPr/>
          <a:lstStyle/>
          <a:p>
            <a:r>
              <a:rPr lang="en-US" altLang="en-US" dirty="0"/>
              <a:t>Primitive data types</a:t>
            </a:r>
            <a:endParaRPr lang="en-IN" dirty="0"/>
          </a:p>
        </p:txBody>
      </p:sp>
      <p:sp>
        <p:nvSpPr>
          <p:cNvPr id="5" name="Rectangle 4"/>
          <p:cNvSpPr/>
          <p:nvPr/>
        </p:nvSpPr>
        <p:spPr>
          <a:xfrm>
            <a:off x="244346" y="1676400"/>
            <a:ext cx="8823453" cy="4385816"/>
          </a:xfrm>
          <a:prstGeom prst="rect">
            <a:avLst/>
          </a:prstGeom>
        </p:spPr>
        <p:txBody>
          <a:bodyPr wrap="square">
            <a:spAutoFit/>
          </a:bodyPr>
          <a:lstStyle/>
          <a:p>
            <a:pPr marL="377825" marR="5080" lvl="1">
              <a:spcBef>
                <a:spcPts val="600"/>
              </a:spcBef>
              <a:buClr>
                <a:srgbClr val="93B6D2"/>
              </a:buClr>
              <a:buSzPct val="68750"/>
              <a:tabLst>
                <a:tab pos="652780" algn="l"/>
                <a:tab pos="653415" algn="l"/>
                <a:tab pos="2696845" algn="l"/>
                <a:tab pos="4028440" algn="l"/>
                <a:tab pos="4311015" algn="l"/>
                <a:tab pos="5030470" algn="l"/>
                <a:tab pos="5922010" algn="l"/>
                <a:tab pos="7115175" algn="l"/>
                <a:tab pos="7851775" algn="l"/>
              </a:tabLst>
            </a:pPr>
            <a:r>
              <a:rPr lang="en-US" sz="2400" b="1" dirty="0">
                <a:latin typeface="Times New Roman"/>
                <a:cs typeface="Times New Roman"/>
              </a:rPr>
              <a:t>ii) Floatin</a:t>
            </a:r>
            <a:r>
              <a:rPr lang="en-US" sz="2400" b="1" spc="-5" dirty="0">
                <a:latin typeface="Times New Roman"/>
                <a:cs typeface="Times New Roman"/>
              </a:rPr>
              <a:t>g</a:t>
            </a:r>
            <a:r>
              <a:rPr lang="en-US" sz="2400" b="1" dirty="0">
                <a:latin typeface="Times New Roman"/>
                <a:cs typeface="Times New Roman"/>
              </a:rPr>
              <a:t>-</a:t>
            </a:r>
            <a:r>
              <a:rPr lang="en-US" sz="2400" b="1" spc="-5" dirty="0">
                <a:latin typeface="Times New Roman"/>
                <a:cs typeface="Times New Roman"/>
              </a:rPr>
              <a:t>point</a:t>
            </a:r>
            <a:r>
              <a:rPr lang="en-US" sz="2400" b="1" dirty="0">
                <a:latin typeface="Times New Roman"/>
                <a:cs typeface="Times New Roman"/>
              </a:rPr>
              <a:t>	</a:t>
            </a:r>
            <a:r>
              <a:rPr lang="en-US" sz="2400" b="1" spc="-5" dirty="0">
                <a:latin typeface="Times New Roman"/>
                <a:cs typeface="Times New Roman"/>
              </a:rPr>
              <a:t>numbers</a:t>
            </a:r>
            <a:r>
              <a:rPr lang="en-US" sz="2400" b="1" dirty="0">
                <a:latin typeface="Times New Roman"/>
                <a:cs typeface="Times New Roman"/>
              </a:rPr>
              <a:t>	-	</a:t>
            </a:r>
            <a:r>
              <a:rPr lang="en-US" sz="2400" dirty="0">
                <a:latin typeface="Times New Roman"/>
                <a:cs typeface="Times New Roman"/>
              </a:rPr>
              <a:t>T</a:t>
            </a:r>
            <a:r>
              <a:rPr lang="en-US" sz="2400" spc="-15" dirty="0">
                <a:latin typeface="Times New Roman"/>
                <a:cs typeface="Times New Roman"/>
              </a:rPr>
              <a:t>h</a:t>
            </a:r>
            <a:r>
              <a:rPr lang="en-US" sz="2400" spc="-5" dirty="0">
                <a:latin typeface="Times New Roman"/>
                <a:cs typeface="Times New Roman"/>
              </a:rPr>
              <a:t>is</a:t>
            </a:r>
            <a:r>
              <a:rPr lang="en-US" sz="2400" dirty="0">
                <a:latin typeface="Times New Roman"/>
                <a:cs typeface="Times New Roman"/>
              </a:rPr>
              <a:t>	group	i</a:t>
            </a:r>
            <a:r>
              <a:rPr lang="en-US" sz="2400" spc="-10" dirty="0">
                <a:latin typeface="Times New Roman"/>
                <a:cs typeface="Times New Roman"/>
              </a:rPr>
              <a:t>nc</a:t>
            </a:r>
            <a:r>
              <a:rPr lang="en-US" sz="2400" dirty="0">
                <a:latin typeface="Times New Roman"/>
                <a:cs typeface="Times New Roman"/>
              </a:rPr>
              <a:t>l</a:t>
            </a:r>
            <a:r>
              <a:rPr lang="en-US" sz="2400" spc="-10" dirty="0">
                <a:latin typeface="Times New Roman"/>
                <a:cs typeface="Times New Roman"/>
              </a:rPr>
              <a:t>u</a:t>
            </a:r>
            <a:r>
              <a:rPr lang="en-US" sz="2400" spc="-5" dirty="0">
                <a:latin typeface="Times New Roman"/>
                <a:cs typeface="Times New Roman"/>
              </a:rPr>
              <a:t>des</a:t>
            </a:r>
            <a:r>
              <a:rPr lang="en-US" sz="2400" dirty="0">
                <a:latin typeface="Times New Roman"/>
                <a:cs typeface="Times New Roman"/>
              </a:rPr>
              <a:t>	</a:t>
            </a:r>
            <a:r>
              <a:rPr lang="en-US" sz="2400" b="1" dirty="0">
                <a:latin typeface="Times New Roman"/>
                <a:cs typeface="Times New Roman"/>
              </a:rPr>
              <a:t>flo</a:t>
            </a:r>
            <a:r>
              <a:rPr lang="en-US" sz="2400" b="1" spc="-15" dirty="0">
                <a:latin typeface="Times New Roman"/>
                <a:cs typeface="Times New Roman"/>
              </a:rPr>
              <a:t>a</a:t>
            </a:r>
            <a:r>
              <a:rPr lang="en-US" sz="2400" b="1" dirty="0">
                <a:latin typeface="Times New Roman"/>
                <a:cs typeface="Times New Roman"/>
              </a:rPr>
              <a:t>t	</a:t>
            </a:r>
            <a:r>
              <a:rPr lang="en-US" sz="2400" b="1" spc="-10" dirty="0">
                <a:latin typeface="Times New Roman"/>
                <a:cs typeface="Times New Roman"/>
              </a:rPr>
              <a:t>a</a:t>
            </a:r>
            <a:r>
              <a:rPr lang="en-US" sz="2400" b="1" dirty="0">
                <a:latin typeface="Times New Roman"/>
                <a:cs typeface="Times New Roman"/>
              </a:rPr>
              <a:t>nd  double,</a:t>
            </a:r>
            <a:r>
              <a:rPr lang="en-US" sz="2400" spc="-20" dirty="0">
                <a:latin typeface="Times New Roman"/>
                <a:cs typeface="Times New Roman"/>
              </a:rPr>
              <a:t> </a:t>
            </a:r>
            <a:r>
              <a:rPr lang="en-US" sz="2400" spc="-5" dirty="0">
                <a:latin typeface="Times New Roman"/>
                <a:cs typeface="Times New Roman"/>
              </a:rPr>
              <a:t>which </a:t>
            </a:r>
            <a:r>
              <a:rPr lang="en-US" sz="2400" dirty="0">
                <a:latin typeface="Times New Roman"/>
                <a:cs typeface="Times New Roman"/>
              </a:rPr>
              <a:t>represent</a:t>
            </a:r>
            <a:r>
              <a:rPr lang="en-US" sz="2400" spc="-15" dirty="0">
                <a:latin typeface="Times New Roman"/>
                <a:cs typeface="Times New Roman"/>
              </a:rPr>
              <a:t> </a:t>
            </a:r>
            <a:r>
              <a:rPr lang="en-US" sz="2400" spc="-5" dirty="0">
                <a:latin typeface="Times New Roman"/>
                <a:cs typeface="Times New Roman"/>
              </a:rPr>
              <a:t>numbers</a:t>
            </a:r>
            <a:r>
              <a:rPr lang="en-US" sz="2400" dirty="0">
                <a:latin typeface="Times New Roman"/>
                <a:cs typeface="Times New Roman"/>
              </a:rPr>
              <a:t> with</a:t>
            </a:r>
            <a:r>
              <a:rPr lang="en-US" sz="2400" spc="-15" dirty="0">
                <a:latin typeface="Times New Roman"/>
                <a:cs typeface="Times New Roman"/>
              </a:rPr>
              <a:t> </a:t>
            </a:r>
            <a:r>
              <a:rPr lang="en-US" sz="2400" dirty="0">
                <a:latin typeface="Times New Roman"/>
                <a:cs typeface="Times New Roman"/>
              </a:rPr>
              <a:t>fractional</a:t>
            </a:r>
            <a:r>
              <a:rPr lang="en-US" sz="2400" spc="-25" dirty="0">
                <a:latin typeface="Times New Roman"/>
                <a:cs typeface="Times New Roman"/>
              </a:rPr>
              <a:t> </a:t>
            </a:r>
            <a:r>
              <a:rPr lang="en-US" sz="2400" dirty="0">
                <a:latin typeface="Times New Roman"/>
                <a:cs typeface="Times New Roman"/>
              </a:rPr>
              <a:t>precision.</a:t>
            </a:r>
          </a:p>
          <a:p>
            <a:pPr marL="377825" marR="6350" lvl="1">
              <a:spcBef>
                <a:spcPts val="600"/>
              </a:spcBef>
              <a:buClr>
                <a:srgbClr val="93B6D2"/>
              </a:buClr>
              <a:buSzPct val="68750"/>
              <a:tabLst>
                <a:tab pos="652780" algn="l"/>
                <a:tab pos="653415" algn="l"/>
                <a:tab pos="2286635" algn="l"/>
                <a:tab pos="2567305" algn="l"/>
                <a:tab pos="3286760" algn="l"/>
                <a:tab pos="4175125" algn="l"/>
                <a:tab pos="5367020" algn="l"/>
                <a:tab pos="6133465" algn="l"/>
                <a:tab pos="7056120" algn="l"/>
              </a:tabLst>
            </a:pPr>
            <a:r>
              <a:rPr lang="en-US" sz="2400" b="1" spc="-5" dirty="0">
                <a:latin typeface="Times New Roman"/>
                <a:cs typeface="Times New Roman"/>
              </a:rPr>
              <a:t>iii)C</a:t>
            </a:r>
            <a:r>
              <a:rPr lang="en-US" sz="2400" b="1" spc="-15" dirty="0">
                <a:latin typeface="Times New Roman"/>
                <a:cs typeface="Times New Roman"/>
              </a:rPr>
              <a:t>h</a:t>
            </a:r>
            <a:r>
              <a:rPr lang="en-US" sz="2400" b="1" dirty="0">
                <a:latin typeface="Times New Roman"/>
                <a:cs typeface="Times New Roman"/>
              </a:rPr>
              <a:t>arac</a:t>
            </a:r>
            <a:r>
              <a:rPr lang="en-US" sz="2400" b="1" spc="5" dirty="0">
                <a:latin typeface="Times New Roman"/>
                <a:cs typeface="Times New Roman"/>
              </a:rPr>
              <a:t>t</a:t>
            </a:r>
            <a:r>
              <a:rPr lang="en-US" sz="2400" b="1" spc="-5" dirty="0">
                <a:latin typeface="Times New Roman"/>
                <a:cs typeface="Times New Roman"/>
              </a:rPr>
              <a:t>ers</a:t>
            </a:r>
            <a:r>
              <a:rPr lang="en-US" sz="2400" b="1" dirty="0">
                <a:latin typeface="Times New Roman"/>
                <a:cs typeface="Times New Roman"/>
              </a:rPr>
              <a:t>	-	</a:t>
            </a:r>
            <a:r>
              <a:rPr lang="en-US" sz="2400" dirty="0">
                <a:latin typeface="Times New Roman"/>
                <a:cs typeface="Times New Roman"/>
              </a:rPr>
              <a:t>T</a:t>
            </a:r>
            <a:r>
              <a:rPr lang="en-US" sz="2400" spc="-15" dirty="0">
                <a:latin typeface="Times New Roman"/>
                <a:cs typeface="Times New Roman"/>
              </a:rPr>
              <a:t>h</a:t>
            </a:r>
            <a:r>
              <a:rPr lang="en-US" sz="2400" spc="-5" dirty="0">
                <a:latin typeface="Times New Roman"/>
                <a:cs typeface="Times New Roman"/>
              </a:rPr>
              <a:t>is</a:t>
            </a:r>
            <a:r>
              <a:rPr lang="en-US" sz="2400" dirty="0">
                <a:latin typeface="Times New Roman"/>
                <a:cs typeface="Times New Roman"/>
              </a:rPr>
              <a:t>	group	inc</a:t>
            </a:r>
            <a:r>
              <a:rPr lang="en-US" sz="2400" spc="5" dirty="0">
                <a:latin typeface="Times New Roman"/>
                <a:cs typeface="Times New Roman"/>
              </a:rPr>
              <a:t>l</a:t>
            </a:r>
            <a:r>
              <a:rPr lang="en-US" sz="2400" dirty="0">
                <a:latin typeface="Times New Roman"/>
                <a:cs typeface="Times New Roman"/>
              </a:rPr>
              <a:t>u</a:t>
            </a:r>
            <a:r>
              <a:rPr lang="en-US" sz="2400" spc="-10" dirty="0">
                <a:latin typeface="Times New Roman"/>
                <a:cs typeface="Times New Roman"/>
              </a:rPr>
              <a:t>de</a:t>
            </a:r>
            <a:r>
              <a:rPr lang="en-US" sz="2400" spc="-5" dirty="0">
                <a:latin typeface="Times New Roman"/>
                <a:cs typeface="Times New Roman"/>
              </a:rPr>
              <a:t>s</a:t>
            </a:r>
            <a:r>
              <a:rPr lang="en-US" sz="2400" dirty="0">
                <a:latin typeface="Times New Roman"/>
                <a:cs typeface="Times New Roman"/>
              </a:rPr>
              <a:t>	cha</a:t>
            </a:r>
            <a:r>
              <a:rPr lang="en-US" sz="2400" spc="-90" dirty="0">
                <a:latin typeface="Times New Roman"/>
                <a:cs typeface="Times New Roman"/>
              </a:rPr>
              <a:t>r</a:t>
            </a:r>
            <a:r>
              <a:rPr lang="en-US" sz="2400" dirty="0">
                <a:latin typeface="Times New Roman"/>
                <a:cs typeface="Times New Roman"/>
              </a:rPr>
              <a:t>,	which	represe</a:t>
            </a:r>
            <a:r>
              <a:rPr lang="en-US" sz="2400" spc="-20" dirty="0">
                <a:latin typeface="Times New Roman"/>
                <a:cs typeface="Times New Roman"/>
              </a:rPr>
              <a:t>n</a:t>
            </a:r>
            <a:r>
              <a:rPr lang="en-US" sz="2400" spc="-5" dirty="0">
                <a:latin typeface="Times New Roman"/>
                <a:cs typeface="Times New Roman"/>
              </a:rPr>
              <a:t>ts  symbols</a:t>
            </a:r>
            <a:r>
              <a:rPr lang="en-US" sz="2400" spc="10" dirty="0">
                <a:latin typeface="Times New Roman"/>
                <a:cs typeface="Times New Roman"/>
              </a:rPr>
              <a:t> </a:t>
            </a:r>
            <a:r>
              <a:rPr lang="en-US" sz="2400" dirty="0">
                <a:latin typeface="Times New Roman"/>
                <a:cs typeface="Times New Roman"/>
              </a:rPr>
              <a:t>in</a:t>
            </a:r>
            <a:r>
              <a:rPr lang="en-US" sz="2400" spc="-15" dirty="0">
                <a:latin typeface="Times New Roman"/>
                <a:cs typeface="Times New Roman"/>
              </a:rPr>
              <a:t> </a:t>
            </a:r>
            <a:r>
              <a:rPr lang="en-US" sz="2400" dirty="0">
                <a:latin typeface="Times New Roman"/>
                <a:cs typeface="Times New Roman"/>
              </a:rPr>
              <a:t>a</a:t>
            </a:r>
            <a:r>
              <a:rPr lang="en-US" sz="2400" spc="-10" dirty="0">
                <a:latin typeface="Times New Roman"/>
                <a:cs typeface="Times New Roman"/>
              </a:rPr>
              <a:t> </a:t>
            </a:r>
            <a:r>
              <a:rPr lang="en-US" sz="2400" dirty="0">
                <a:latin typeface="Times New Roman"/>
                <a:cs typeface="Times New Roman"/>
              </a:rPr>
              <a:t>character</a:t>
            </a:r>
            <a:r>
              <a:rPr lang="en-US" sz="2400" spc="-35" dirty="0">
                <a:latin typeface="Times New Roman"/>
                <a:cs typeface="Times New Roman"/>
              </a:rPr>
              <a:t> </a:t>
            </a:r>
            <a:r>
              <a:rPr lang="en-US" sz="2400" dirty="0">
                <a:latin typeface="Times New Roman"/>
                <a:cs typeface="Times New Roman"/>
              </a:rPr>
              <a:t>set,</a:t>
            </a:r>
            <a:r>
              <a:rPr lang="en-US" sz="2400" spc="-15" dirty="0">
                <a:latin typeface="Times New Roman"/>
                <a:cs typeface="Times New Roman"/>
              </a:rPr>
              <a:t> </a:t>
            </a:r>
            <a:r>
              <a:rPr lang="en-US" sz="2400" dirty="0">
                <a:latin typeface="Times New Roman"/>
                <a:cs typeface="Times New Roman"/>
              </a:rPr>
              <a:t>like</a:t>
            </a:r>
            <a:r>
              <a:rPr lang="en-US" sz="2400" spc="-20" dirty="0">
                <a:latin typeface="Times New Roman"/>
                <a:cs typeface="Times New Roman"/>
              </a:rPr>
              <a:t> </a:t>
            </a:r>
            <a:r>
              <a:rPr lang="en-US" sz="2400" dirty="0">
                <a:latin typeface="Times New Roman"/>
                <a:cs typeface="Times New Roman"/>
              </a:rPr>
              <a:t>letters</a:t>
            </a:r>
            <a:r>
              <a:rPr lang="en-US" sz="2400" spc="-35" dirty="0">
                <a:latin typeface="Times New Roman"/>
                <a:cs typeface="Times New Roman"/>
              </a:rPr>
              <a:t> </a:t>
            </a:r>
            <a:r>
              <a:rPr lang="en-US" sz="2400" dirty="0">
                <a:latin typeface="Times New Roman"/>
                <a:cs typeface="Times New Roman"/>
              </a:rPr>
              <a:t>and </a:t>
            </a:r>
            <a:r>
              <a:rPr lang="en-US" sz="2400" spc="-5" dirty="0">
                <a:latin typeface="Times New Roman"/>
                <a:cs typeface="Times New Roman"/>
              </a:rPr>
              <a:t>numbers.</a:t>
            </a:r>
            <a:endParaRPr lang="en-US" sz="2400" dirty="0">
              <a:latin typeface="Times New Roman"/>
              <a:cs typeface="Times New Roman"/>
            </a:endParaRPr>
          </a:p>
          <a:p>
            <a:pPr marL="377825" marR="5080" lvl="1">
              <a:spcBef>
                <a:spcPts val="600"/>
              </a:spcBef>
              <a:buClr>
                <a:srgbClr val="93B6D2"/>
              </a:buClr>
              <a:buSzPct val="68750"/>
              <a:tabLst>
                <a:tab pos="652780" algn="l"/>
                <a:tab pos="653415" algn="l"/>
                <a:tab pos="1841500" algn="l"/>
                <a:tab pos="2082164" algn="l"/>
                <a:tab pos="2763520" algn="l"/>
                <a:tab pos="3612515" algn="l"/>
                <a:tab pos="4766310" algn="l"/>
                <a:tab pos="5946140" algn="l"/>
                <a:tab pos="6828790" algn="l"/>
                <a:tab pos="7171690" algn="l"/>
                <a:tab pos="7446009" algn="l"/>
              </a:tabLst>
            </a:pPr>
            <a:r>
              <a:rPr lang="en-US" sz="2400" b="1" dirty="0">
                <a:latin typeface="Times New Roman"/>
                <a:cs typeface="Times New Roman"/>
              </a:rPr>
              <a:t>iv)Boolean	-	</a:t>
            </a:r>
            <a:r>
              <a:rPr lang="en-US" sz="2400" dirty="0">
                <a:latin typeface="Times New Roman"/>
                <a:cs typeface="Times New Roman"/>
              </a:rPr>
              <a:t>This	group	inclu</a:t>
            </a:r>
            <a:r>
              <a:rPr lang="en-US" sz="2400" spc="-15" dirty="0">
                <a:latin typeface="Times New Roman"/>
                <a:cs typeface="Times New Roman"/>
              </a:rPr>
              <a:t>d</a:t>
            </a:r>
            <a:r>
              <a:rPr lang="en-US" sz="2400" spc="-5" dirty="0">
                <a:latin typeface="Times New Roman"/>
                <a:cs typeface="Times New Roman"/>
              </a:rPr>
              <a:t>es</a:t>
            </a:r>
            <a:r>
              <a:rPr lang="en-US" sz="2400" dirty="0">
                <a:latin typeface="Times New Roman"/>
                <a:cs typeface="Times New Roman"/>
              </a:rPr>
              <a:t>	</a:t>
            </a:r>
            <a:r>
              <a:rPr lang="en-US" sz="2400" dirty="0" smtClean="0">
                <a:latin typeface="Times New Roman"/>
                <a:cs typeface="Times New Roman"/>
              </a:rPr>
              <a:t>Boolean,</a:t>
            </a:r>
            <a:r>
              <a:rPr lang="en-US" sz="2400" dirty="0">
                <a:latin typeface="Times New Roman"/>
                <a:cs typeface="Times New Roman"/>
              </a:rPr>
              <a:t>	whi</a:t>
            </a:r>
            <a:r>
              <a:rPr lang="en-US" sz="2400" spc="-10" dirty="0">
                <a:latin typeface="Times New Roman"/>
                <a:cs typeface="Times New Roman"/>
              </a:rPr>
              <a:t>c</a:t>
            </a:r>
            <a:r>
              <a:rPr lang="en-US" sz="2400" dirty="0">
                <a:latin typeface="Times New Roman"/>
                <a:cs typeface="Times New Roman"/>
              </a:rPr>
              <a:t>h	i</a:t>
            </a:r>
            <a:r>
              <a:rPr lang="en-US" sz="2400" spc="-5" dirty="0">
                <a:latin typeface="Times New Roman"/>
                <a:cs typeface="Times New Roman"/>
              </a:rPr>
              <a:t>s</a:t>
            </a:r>
            <a:r>
              <a:rPr lang="en-US" sz="2400" dirty="0">
                <a:latin typeface="Times New Roman"/>
                <a:cs typeface="Times New Roman"/>
              </a:rPr>
              <a:t>	a	</a:t>
            </a:r>
            <a:r>
              <a:rPr lang="en-US" sz="2400" dirty="0" smtClean="0">
                <a:latin typeface="Times New Roman"/>
                <a:cs typeface="Times New Roman"/>
              </a:rPr>
              <a:t>spec</a:t>
            </a:r>
            <a:r>
              <a:rPr lang="en-US" sz="2400" spc="-15" dirty="0" smtClean="0">
                <a:latin typeface="Times New Roman"/>
                <a:cs typeface="Times New Roman"/>
              </a:rPr>
              <a:t>i</a:t>
            </a:r>
            <a:r>
              <a:rPr lang="en-US" sz="2400" dirty="0" smtClean="0">
                <a:latin typeface="Times New Roman"/>
                <a:cs typeface="Times New Roman"/>
              </a:rPr>
              <a:t>al.</a:t>
            </a:r>
          </a:p>
          <a:p>
            <a:pPr marL="377825" marR="5080" lvl="1">
              <a:spcBef>
                <a:spcPts val="600"/>
              </a:spcBef>
              <a:buClr>
                <a:srgbClr val="93B6D2"/>
              </a:buClr>
              <a:buSzPct val="68750"/>
              <a:tabLst>
                <a:tab pos="652780" algn="l"/>
                <a:tab pos="653415" algn="l"/>
                <a:tab pos="1841500" algn="l"/>
                <a:tab pos="2082164" algn="l"/>
                <a:tab pos="2763520" algn="l"/>
                <a:tab pos="3612515" algn="l"/>
                <a:tab pos="4766310" algn="l"/>
                <a:tab pos="5946140" algn="l"/>
                <a:tab pos="6828790" algn="l"/>
                <a:tab pos="7171690" algn="l"/>
                <a:tab pos="7446009" algn="l"/>
              </a:tabLst>
            </a:pPr>
            <a:endParaRPr lang="en-US" altLang="en-US" sz="2400" dirty="0"/>
          </a:p>
          <a:p>
            <a:pPr marL="457200" indent="-457200">
              <a:buFont typeface="Arial" panose="020B0604020202020204" pitchFamily="34" charset="0"/>
              <a:buChar char="•"/>
            </a:pPr>
            <a:r>
              <a:rPr lang="en-US" altLang="en-US" sz="2400" dirty="0"/>
              <a:t>Declarations look like C, for example,</a:t>
            </a:r>
          </a:p>
          <a:p>
            <a:pPr marL="800100" lvl="1" indent="-342900">
              <a:buFont typeface="Arial" panose="020B0604020202020204" pitchFamily="34" charset="0"/>
              <a:buChar char="•"/>
            </a:pPr>
            <a:r>
              <a:rPr lang="en-US" altLang="en-US" sz="2400" dirty="0">
                <a:latin typeface="Times New Roman"/>
                <a:cs typeface="Times New Roman"/>
              </a:rPr>
              <a:t>double x, y;</a:t>
            </a:r>
          </a:p>
          <a:p>
            <a:pPr marL="800100" lvl="1" indent="-342900">
              <a:buFont typeface="Arial" panose="020B0604020202020204" pitchFamily="34" charset="0"/>
              <a:buChar char="•"/>
            </a:pPr>
            <a:r>
              <a:rPr lang="en-US" altLang="en-US" sz="2400" dirty="0">
                <a:latin typeface="Times New Roman"/>
                <a:cs typeface="Times New Roman"/>
              </a:rPr>
              <a:t>int count = 0</a:t>
            </a:r>
            <a:r>
              <a:rPr lang="en-US" altLang="en-US" sz="2400" dirty="0" smtClean="0">
                <a:latin typeface="Times New Roman"/>
                <a:cs typeface="Times New Roman"/>
              </a:rPr>
              <a:t>;</a:t>
            </a:r>
          </a:p>
          <a:p>
            <a:pPr lvl="1"/>
            <a:endParaRPr lang="en-US" altLang="en-US" sz="2400" dirty="0">
              <a:latin typeface="Times New Roman"/>
              <a:cs typeface="Times New Roman"/>
            </a:endParaRPr>
          </a:p>
          <a:p>
            <a:pPr marL="0" lvl="1"/>
            <a:r>
              <a:rPr lang="en-US" sz="2400" b="1" dirty="0">
                <a:latin typeface="Times New Roman"/>
                <a:cs typeface="Times New Roman"/>
              </a:rPr>
              <a:t>2.</a:t>
            </a:r>
            <a:r>
              <a:rPr lang="en-US" sz="2400" b="1" spc="-15" dirty="0">
                <a:latin typeface="Times New Roman"/>
                <a:cs typeface="Times New Roman"/>
              </a:rPr>
              <a:t> </a:t>
            </a:r>
            <a:r>
              <a:rPr lang="en-US" sz="2400" b="1" dirty="0">
                <a:latin typeface="Times New Roman"/>
                <a:cs typeface="Times New Roman"/>
              </a:rPr>
              <a:t>Non-primitive</a:t>
            </a:r>
            <a:r>
              <a:rPr lang="en-US" sz="2400" b="1" spc="-5" dirty="0">
                <a:latin typeface="Times New Roman"/>
                <a:cs typeface="Times New Roman"/>
              </a:rPr>
              <a:t> </a:t>
            </a:r>
            <a:r>
              <a:rPr lang="en-US" sz="2400" b="1" dirty="0">
                <a:latin typeface="Times New Roman"/>
                <a:cs typeface="Times New Roman"/>
              </a:rPr>
              <a:t>data</a:t>
            </a:r>
            <a:r>
              <a:rPr lang="en-US" sz="2400" b="1" spc="-10" dirty="0">
                <a:latin typeface="Times New Roman"/>
                <a:cs typeface="Times New Roman"/>
              </a:rPr>
              <a:t> </a:t>
            </a:r>
            <a:r>
              <a:rPr lang="en-US" sz="2400" b="1" spc="-5" dirty="0">
                <a:latin typeface="Times New Roman"/>
                <a:cs typeface="Times New Roman"/>
              </a:rPr>
              <a:t>types</a:t>
            </a:r>
            <a:r>
              <a:rPr lang="en-US" sz="2400" b="1" spc="-10" dirty="0">
                <a:latin typeface="Times New Roman"/>
                <a:cs typeface="Times New Roman"/>
              </a:rPr>
              <a:t> </a:t>
            </a:r>
            <a:r>
              <a:rPr lang="en-US" sz="2400" dirty="0">
                <a:latin typeface="Times New Roman"/>
                <a:cs typeface="Times New Roman"/>
              </a:rPr>
              <a:t>–</a:t>
            </a:r>
            <a:r>
              <a:rPr lang="en-US" sz="2400" spc="-140" dirty="0">
                <a:latin typeface="Times New Roman"/>
                <a:cs typeface="Times New Roman"/>
              </a:rPr>
              <a:t> </a:t>
            </a:r>
            <a:r>
              <a:rPr lang="en-US" sz="2400" dirty="0">
                <a:latin typeface="Times New Roman"/>
                <a:cs typeface="Times New Roman"/>
              </a:rPr>
              <a:t>Arrays,</a:t>
            </a:r>
            <a:r>
              <a:rPr lang="en-US" sz="2400" spc="-10" dirty="0">
                <a:latin typeface="Times New Roman"/>
                <a:cs typeface="Times New Roman"/>
              </a:rPr>
              <a:t> </a:t>
            </a:r>
            <a:r>
              <a:rPr lang="en-US" sz="2400" dirty="0">
                <a:latin typeface="Times New Roman"/>
                <a:cs typeface="Times New Roman"/>
              </a:rPr>
              <a:t>Strings</a:t>
            </a:r>
            <a:r>
              <a:rPr lang="en-US" sz="2400" spc="-30" dirty="0">
                <a:latin typeface="Times New Roman"/>
                <a:cs typeface="Times New Roman"/>
              </a:rPr>
              <a:t> </a:t>
            </a:r>
            <a:r>
              <a:rPr lang="en-US" sz="2400" dirty="0">
                <a:latin typeface="Times New Roman"/>
                <a:cs typeface="Times New Roman"/>
              </a:rPr>
              <a:t>and</a:t>
            </a:r>
            <a:r>
              <a:rPr lang="en-US" sz="2400" spc="10" dirty="0">
                <a:latin typeface="Times New Roman"/>
                <a:cs typeface="Times New Roman"/>
              </a:rPr>
              <a:t> </a:t>
            </a:r>
            <a:r>
              <a:rPr lang="en-US" sz="2400" dirty="0">
                <a:latin typeface="Times New Roman"/>
                <a:cs typeface="Times New Roman"/>
              </a:rPr>
              <a:t>Classes.</a:t>
            </a:r>
            <a:endParaRPr lang="en-IN" dirty="0"/>
          </a:p>
        </p:txBody>
      </p:sp>
    </p:spTree>
    <p:extLst>
      <p:ext uri="{BB962C8B-B14F-4D97-AF65-F5344CB8AC3E}">
        <p14:creationId xmlns:p14="http://schemas.microsoft.com/office/powerpoint/2010/main" val="11096143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547367"/>
            <a:ext cx="9143999" cy="5310629"/>
          </a:xfrm>
          <a:prstGeom prst="rect">
            <a:avLst/>
          </a:prstGeom>
        </p:spPr>
      </p:pic>
      <p:sp>
        <p:nvSpPr>
          <p:cNvPr id="3" name="object 3"/>
          <p:cNvSpPr txBox="1">
            <a:spLocks noGrp="1"/>
          </p:cNvSpPr>
          <p:nvPr>
            <p:ph type="title"/>
          </p:nvPr>
        </p:nvSpPr>
        <p:spPr>
          <a:xfrm>
            <a:off x="691387" y="356362"/>
            <a:ext cx="5894070" cy="696595"/>
          </a:xfrm>
          <a:prstGeom prst="rect">
            <a:avLst/>
          </a:prstGeom>
        </p:spPr>
        <p:txBody>
          <a:bodyPr vert="horz" wrap="square" lIns="0" tIns="13335" rIns="0" bIns="0" rtlCol="0">
            <a:spAutoFit/>
          </a:bodyPr>
          <a:lstStyle/>
          <a:p>
            <a:pPr marL="12700">
              <a:lnSpc>
                <a:spcPct val="100000"/>
              </a:lnSpc>
              <a:spcBef>
                <a:spcPts val="105"/>
              </a:spcBef>
            </a:pPr>
            <a:r>
              <a:rPr sz="4400" dirty="0"/>
              <a:t>Java</a:t>
            </a:r>
            <a:r>
              <a:rPr sz="4400" spc="-40" dirty="0"/>
              <a:t> </a:t>
            </a:r>
            <a:r>
              <a:rPr sz="4400" dirty="0"/>
              <a:t>Primitive</a:t>
            </a:r>
            <a:r>
              <a:rPr sz="4400" spc="-20" dirty="0"/>
              <a:t> </a:t>
            </a:r>
            <a:r>
              <a:rPr sz="4400" dirty="0"/>
              <a:t>Data</a:t>
            </a:r>
            <a:r>
              <a:rPr sz="4400" spc="-105" dirty="0"/>
              <a:t> </a:t>
            </a:r>
            <a:r>
              <a:rPr sz="4400" spc="-60" dirty="0"/>
              <a:t>Types</a:t>
            </a:r>
            <a:endParaRPr sz="4400"/>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38</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108200" cy="696595"/>
          </a:xfrm>
          <a:prstGeom prst="rect">
            <a:avLst/>
          </a:prstGeom>
        </p:spPr>
        <p:txBody>
          <a:bodyPr vert="horz" wrap="square" lIns="0" tIns="13335" rIns="0" bIns="0" rtlCol="0">
            <a:spAutoFit/>
          </a:bodyPr>
          <a:lstStyle/>
          <a:p>
            <a:pPr marL="12700">
              <a:lnSpc>
                <a:spcPct val="100000"/>
              </a:lnSpc>
              <a:spcBef>
                <a:spcPts val="105"/>
              </a:spcBef>
            </a:pPr>
            <a:r>
              <a:rPr sz="4400" spc="-490" dirty="0"/>
              <a:t>V</a:t>
            </a:r>
            <a:r>
              <a:rPr sz="4400" dirty="0"/>
              <a:t>aria</a:t>
            </a:r>
            <a:r>
              <a:rPr sz="4400" spc="5" dirty="0"/>
              <a:t>b</a:t>
            </a:r>
            <a:r>
              <a:rPr sz="4400" dirty="0"/>
              <a:t>les</a:t>
            </a:r>
            <a:endParaRPr sz="4400"/>
          </a:p>
        </p:txBody>
      </p:sp>
      <p:sp>
        <p:nvSpPr>
          <p:cNvPr id="3" name="object 3"/>
          <p:cNvSpPr txBox="1"/>
          <p:nvPr/>
        </p:nvSpPr>
        <p:spPr>
          <a:xfrm>
            <a:off x="307340" y="1575257"/>
            <a:ext cx="8382000" cy="4887235"/>
          </a:xfrm>
          <a:prstGeom prst="rect">
            <a:avLst/>
          </a:prstGeom>
        </p:spPr>
        <p:txBody>
          <a:bodyPr vert="horz" wrap="square" lIns="0" tIns="62865" rIns="0" bIns="0" rtlCol="0">
            <a:spAutoFit/>
          </a:bodyPr>
          <a:lstStyle/>
          <a:p>
            <a:pPr marL="332740" marR="6985" indent="-320040">
              <a:lnSpc>
                <a:spcPct val="150000"/>
              </a:lnSpc>
              <a:spcBef>
                <a:spcPts val="495"/>
              </a:spcBef>
              <a:buClr>
                <a:srgbClr val="DD8046"/>
              </a:buClr>
              <a:buSzPct val="60344"/>
              <a:buFont typeface="Wingdings"/>
              <a:buChar char=""/>
              <a:tabLst>
                <a:tab pos="332740" algn="l"/>
                <a:tab pos="1085215" algn="l"/>
                <a:tab pos="2446655" algn="l"/>
                <a:tab pos="2870200" algn="l"/>
                <a:tab pos="3498215" algn="l"/>
                <a:tab pos="4432935" algn="l"/>
                <a:tab pos="5180965" algn="l"/>
                <a:tab pos="5665470" algn="l"/>
                <a:tab pos="6906895" algn="l"/>
                <a:tab pos="7371715" algn="l"/>
                <a:tab pos="7711440" algn="l"/>
              </a:tabLst>
            </a:pPr>
            <a:r>
              <a:rPr sz="2900" dirty="0">
                <a:latin typeface="Times New Roman"/>
                <a:cs typeface="Times New Roman"/>
              </a:rPr>
              <a:t>The	v</a:t>
            </a:r>
            <a:r>
              <a:rPr sz="2900" spc="-25" dirty="0">
                <a:latin typeface="Times New Roman"/>
                <a:cs typeface="Times New Roman"/>
              </a:rPr>
              <a:t>a</a:t>
            </a:r>
            <a:r>
              <a:rPr sz="2900" dirty="0">
                <a:latin typeface="Times New Roman"/>
                <a:cs typeface="Times New Roman"/>
              </a:rPr>
              <a:t>ri</a:t>
            </a:r>
            <a:r>
              <a:rPr sz="2900" spc="-20" dirty="0">
                <a:latin typeface="Times New Roman"/>
                <a:cs typeface="Times New Roman"/>
              </a:rPr>
              <a:t>a</a:t>
            </a:r>
            <a:r>
              <a:rPr sz="2900" dirty="0">
                <a:latin typeface="Times New Roman"/>
                <a:cs typeface="Times New Roman"/>
              </a:rPr>
              <a:t>ble	</a:t>
            </a:r>
            <a:r>
              <a:rPr sz="2900" spc="-5" dirty="0">
                <a:latin typeface="Times New Roman"/>
                <a:cs typeface="Times New Roman"/>
              </a:rPr>
              <a:t>i</a:t>
            </a:r>
            <a:r>
              <a:rPr sz="2900" dirty="0">
                <a:latin typeface="Times New Roman"/>
                <a:cs typeface="Times New Roman"/>
              </a:rPr>
              <a:t>s	the	ba</a:t>
            </a:r>
            <a:r>
              <a:rPr sz="2900" spc="-15" dirty="0">
                <a:latin typeface="Times New Roman"/>
                <a:cs typeface="Times New Roman"/>
              </a:rPr>
              <a:t>s</a:t>
            </a:r>
            <a:r>
              <a:rPr sz="2900" dirty="0">
                <a:latin typeface="Times New Roman"/>
                <a:cs typeface="Times New Roman"/>
              </a:rPr>
              <a:t>ic	</a:t>
            </a:r>
            <a:r>
              <a:rPr sz="2900" spc="-15" dirty="0">
                <a:latin typeface="Times New Roman"/>
                <a:cs typeface="Times New Roman"/>
              </a:rPr>
              <a:t>un</a:t>
            </a:r>
            <a:r>
              <a:rPr sz="2900" dirty="0">
                <a:latin typeface="Times New Roman"/>
                <a:cs typeface="Times New Roman"/>
              </a:rPr>
              <a:t>it	</a:t>
            </a:r>
            <a:r>
              <a:rPr sz="2900" spc="-15" dirty="0">
                <a:latin typeface="Times New Roman"/>
                <a:cs typeface="Times New Roman"/>
              </a:rPr>
              <a:t>o</a:t>
            </a:r>
            <a:r>
              <a:rPr sz="2900" dirty="0">
                <a:latin typeface="Times New Roman"/>
                <a:cs typeface="Times New Roman"/>
              </a:rPr>
              <a:t>f	st</a:t>
            </a:r>
            <a:r>
              <a:rPr sz="2900" spc="-25" dirty="0">
                <a:latin typeface="Times New Roman"/>
                <a:cs typeface="Times New Roman"/>
              </a:rPr>
              <a:t>o</a:t>
            </a:r>
            <a:r>
              <a:rPr sz="2900" dirty="0">
                <a:latin typeface="Times New Roman"/>
                <a:cs typeface="Times New Roman"/>
              </a:rPr>
              <a:t>r</a:t>
            </a:r>
            <a:r>
              <a:rPr sz="2900" spc="-15" dirty="0">
                <a:latin typeface="Times New Roman"/>
                <a:cs typeface="Times New Roman"/>
              </a:rPr>
              <a:t>a</a:t>
            </a:r>
            <a:r>
              <a:rPr sz="2900" dirty="0">
                <a:latin typeface="Times New Roman"/>
                <a:cs typeface="Times New Roman"/>
              </a:rPr>
              <a:t>ge	</a:t>
            </a:r>
            <a:r>
              <a:rPr sz="2900" spc="-5" dirty="0">
                <a:latin typeface="Times New Roman"/>
                <a:cs typeface="Times New Roman"/>
              </a:rPr>
              <a:t>i</a:t>
            </a:r>
            <a:r>
              <a:rPr sz="2900" dirty="0">
                <a:latin typeface="Times New Roman"/>
                <a:cs typeface="Times New Roman"/>
              </a:rPr>
              <a:t>n	a	J</a:t>
            </a:r>
            <a:r>
              <a:rPr sz="2900" spc="-10" dirty="0">
                <a:latin typeface="Times New Roman"/>
                <a:cs typeface="Times New Roman"/>
              </a:rPr>
              <a:t>a</a:t>
            </a:r>
            <a:r>
              <a:rPr sz="2900" dirty="0">
                <a:latin typeface="Times New Roman"/>
                <a:cs typeface="Times New Roman"/>
              </a:rPr>
              <a:t>va  </a:t>
            </a:r>
            <a:r>
              <a:rPr sz="2900" spc="-5" dirty="0">
                <a:latin typeface="Times New Roman"/>
                <a:cs typeface="Times New Roman"/>
              </a:rPr>
              <a:t>program.</a:t>
            </a:r>
            <a:endParaRPr sz="2900" dirty="0">
              <a:latin typeface="Times New Roman"/>
              <a:cs typeface="Times New Roman"/>
            </a:endParaRPr>
          </a:p>
          <a:p>
            <a:pPr marL="332740" marR="5080" indent="-320040">
              <a:lnSpc>
                <a:spcPct val="150000"/>
              </a:lnSpc>
              <a:spcBef>
                <a:spcPts val="700"/>
              </a:spcBef>
              <a:buClr>
                <a:srgbClr val="DD8046"/>
              </a:buClr>
              <a:buSzPct val="60344"/>
              <a:buFont typeface="Wingdings"/>
              <a:buChar char=""/>
              <a:tabLst>
                <a:tab pos="332740" algn="l"/>
                <a:tab pos="823594" algn="l"/>
                <a:tab pos="2249805" algn="l"/>
                <a:tab pos="2739390" algn="l"/>
                <a:tab pos="4084954" algn="l"/>
                <a:tab pos="4696460" algn="l"/>
                <a:tab pos="5388610" algn="l"/>
                <a:tab pos="7470775" algn="l"/>
                <a:tab pos="8020684" algn="l"/>
              </a:tabLst>
            </a:pPr>
            <a:r>
              <a:rPr sz="2900" dirty="0">
                <a:latin typeface="Times New Roman"/>
                <a:cs typeface="Times New Roman"/>
              </a:rPr>
              <a:t>A	va</a:t>
            </a:r>
            <a:r>
              <a:rPr sz="2900" spc="-15" dirty="0">
                <a:latin typeface="Times New Roman"/>
                <a:cs typeface="Times New Roman"/>
              </a:rPr>
              <a:t>r</a:t>
            </a:r>
            <a:r>
              <a:rPr sz="2900" dirty="0">
                <a:latin typeface="Times New Roman"/>
                <a:cs typeface="Times New Roman"/>
              </a:rPr>
              <a:t>iab</a:t>
            </a:r>
            <a:r>
              <a:rPr sz="2900" spc="-25" dirty="0">
                <a:latin typeface="Times New Roman"/>
                <a:cs typeface="Times New Roman"/>
              </a:rPr>
              <a:t>l</a:t>
            </a:r>
            <a:r>
              <a:rPr sz="2900" dirty="0">
                <a:latin typeface="Times New Roman"/>
                <a:cs typeface="Times New Roman"/>
              </a:rPr>
              <a:t>e</a:t>
            </a:r>
            <a:r>
              <a:rPr lang="en-US" sz="2900" dirty="0">
                <a:latin typeface="Times New Roman"/>
                <a:cs typeface="Times New Roman"/>
              </a:rPr>
              <a:t> may contain alphabets, digits, underscore and dollar sign.</a:t>
            </a:r>
          </a:p>
          <a:p>
            <a:pPr marL="332740" marR="5080" indent="-320040">
              <a:lnSpc>
                <a:spcPct val="150000"/>
              </a:lnSpc>
              <a:spcBef>
                <a:spcPts val="700"/>
              </a:spcBef>
              <a:buClr>
                <a:srgbClr val="DD8046"/>
              </a:buClr>
              <a:buSzPct val="60344"/>
              <a:buFont typeface="Wingdings"/>
              <a:buChar char=""/>
              <a:tabLst>
                <a:tab pos="332740" algn="l"/>
                <a:tab pos="823594" algn="l"/>
                <a:tab pos="2249805" algn="l"/>
                <a:tab pos="2739390" algn="l"/>
                <a:tab pos="4084954" algn="l"/>
                <a:tab pos="4696460" algn="l"/>
                <a:tab pos="5388610" algn="l"/>
                <a:tab pos="7470775" algn="l"/>
                <a:tab pos="8020684" algn="l"/>
              </a:tabLst>
            </a:pPr>
            <a:r>
              <a:rPr sz="2900" dirty="0">
                <a:latin typeface="Times New Roman"/>
                <a:cs typeface="Times New Roman"/>
              </a:rPr>
              <a:t>In</a:t>
            </a:r>
            <a:r>
              <a:rPr sz="2900" spc="240" dirty="0">
                <a:latin typeface="Times New Roman"/>
                <a:cs typeface="Times New Roman"/>
              </a:rPr>
              <a:t> </a:t>
            </a:r>
            <a:r>
              <a:rPr sz="2900" spc="-5" dirty="0">
                <a:latin typeface="Times New Roman"/>
                <a:cs typeface="Times New Roman"/>
              </a:rPr>
              <a:t>addition,</a:t>
            </a:r>
            <a:r>
              <a:rPr sz="2900" spc="250" dirty="0">
                <a:latin typeface="Times New Roman"/>
                <a:cs typeface="Times New Roman"/>
              </a:rPr>
              <a:t> </a:t>
            </a:r>
            <a:r>
              <a:rPr sz="2900" dirty="0">
                <a:latin typeface="Times New Roman"/>
                <a:cs typeface="Times New Roman"/>
              </a:rPr>
              <a:t>all</a:t>
            </a:r>
            <a:r>
              <a:rPr sz="2900" spc="225" dirty="0">
                <a:latin typeface="Times New Roman"/>
                <a:cs typeface="Times New Roman"/>
              </a:rPr>
              <a:t> </a:t>
            </a:r>
            <a:r>
              <a:rPr sz="2900" spc="-5" dirty="0">
                <a:latin typeface="Times New Roman"/>
                <a:cs typeface="Times New Roman"/>
              </a:rPr>
              <a:t>variables</a:t>
            </a:r>
            <a:r>
              <a:rPr sz="2900" spc="245" dirty="0">
                <a:latin typeface="Times New Roman"/>
                <a:cs typeface="Times New Roman"/>
              </a:rPr>
              <a:t> </a:t>
            </a:r>
            <a:r>
              <a:rPr sz="2900" dirty="0">
                <a:latin typeface="Times New Roman"/>
                <a:cs typeface="Times New Roman"/>
              </a:rPr>
              <a:t>have</a:t>
            </a:r>
            <a:r>
              <a:rPr sz="2900" spc="235" dirty="0">
                <a:latin typeface="Times New Roman"/>
                <a:cs typeface="Times New Roman"/>
              </a:rPr>
              <a:t> </a:t>
            </a:r>
            <a:r>
              <a:rPr sz="2900" dirty="0">
                <a:latin typeface="Times New Roman"/>
                <a:cs typeface="Times New Roman"/>
              </a:rPr>
              <a:t>a</a:t>
            </a:r>
            <a:r>
              <a:rPr sz="2900" spc="240" dirty="0">
                <a:latin typeface="Times New Roman"/>
                <a:cs typeface="Times New Roman"/>
              </a:rPr>
              <a:t> </a:t>
            </a:r>
            <a:r>
              <a:rPr sz="2900" spc="-5" dirty="0">
                <a:latin typeface="Times New Roman"/>
                <a:cs typeface="Times New Roman"/>
              </a:rPr>
              <a:t>scope,</a:t>
            </a:r>
            <a:r>
              <a:rPr sz="2900" spc="254" dirty="0">
                <a:latin typeface="Times New Roman"/>
                <a:cs typeface="Times New Roman"/>
              </a:rPr>
              <a:t> </a:t>
            </a:r>
            <a:r>
              <a:rPr sz="2900" dirty="0">
                <a:latin typeface="Times New Roman"/>
                <a:cs typeface="Times New Roman"/>
              </a:rPr>
              <a:t>which</a:t>
            </a:r>
            <a:r>
              <a:rPr sz="2900" spc="235" dirty="0">
                <a:latin typeface="Times New Roman"/>
                <a:cs typeface="Times New Roman"/>
              </a:rPr>
              <a:t> </a:t>
            </a:r>
            <a:r>
              <a:rPr sz="2900" spc="-5" dirty="0">
                <a:latin typeface="Times New Roman"/>
                <a:cs typeface="Times New Roman"/>
              </a:rPr>
              <a:t>defines </a:t>
            </a:r>
            <a:r>
              <a:rPr sz="2900" spc="-710" dirty="0">
                <a:latin typeface="Times New Roman"/>
                <a:cs typeface="Times New Roman"/>
              </a:rPr>
              <a:t> </a:t>
            </a:r>
            <a:r>
              <a:rPr sz="2900" spc="-5" dirty="0">
                <a:latin typeface="Times New Roman"/>
                <a:cs typeface="Times New Roman"/>
              </a:rPr>
              <a:t>their</a:t>
            </a:r>
            <a:r>
              <a:rPr sz="2900" spc="-15" dirty="0">
                <a:latin typeface="Times New Roman"/>
                <a:cs typeface="Times New Roman"/>
              </a:rPr>
              <a:t> </a:t>
            </a:r>
            <a:r>
              <a:rPr sz="2900" spc="-20" dirty="0">
                <a:latin typeface="Times New Roman"/>
                <a:cs typeface="Times New Roman"/>
              </a:rPr>
              <a:t>visibility,</a:t>
            </a:r>
            <a:r>
              <a:rPr sz="2900" spc="-35" dirty="0">
                <a:latin typeface="Times New Roman"/>
                <a:cs typeface="Times New Roman"/>
              </a:rPr>
              <a:t> </a:t>
            </a:r>
            <a:r>
              <a:rPr sz="2900" dirty="0">
                <a:latin typeface="Times New Roman"/>
                <a:cs typeface="Times New Roman"/>
              </a:rPr>
              <a:t>and a </a:t>
            </a:r>
            <a:r>
              <a:rPr sz="2900" spc="-10" dirty="0">
                <a:latin typeface="Times New Roman"/>
                <a:cs typeface="Times New Roman"/>
              </a:rPr>
              <a:t>lifetime.</a:t>
            </a:r>
            <a:endParaRPr sz="2900" dirty="0">
              <a:latin typeface="Times New Roman"/>
              <a:cs typeface="Times New Roman"/>
            </a:endParaRPr>
          </a:p>
          <a:p>
            <a:pPr marL="332740" indent="-320040">
              <a:lnSpc>
                <a:spcPct val="150000"/>
              </a:lnSpc>
              <a:spcBef>
                <a:spcPts val="300"/>
              </a:spcBef>
              <a:buClr>
                <a:srgbClr val="DD8046"/>
              </a:buClr>
              <a:buSzPct val="60344"/>
              <a:buFont typeface="Wingdings"/>
              <a:buChar char=""/>
              <a:tabLst>
                <a:tab pos="332740" algn="l"/>
              </a:tabLst>
            </a:pPr>
            <a:r>
              <a:rPr sz="2900" dirty="0">
                <a:latin typeface="Times New Roman"/>
                <a:cs typeface="Times New Roman"/>
              </a:rPr>
              <a:t>Its</a:t>
            </a:r>
            <a:r>
              <a:rPr sz="2900" spc="-20" dirty="0">
                <a:latin typeface="Times New Roman"/>
                <a:cs typeface="Times New Roman"/>
              </a:rPr>
              <a:t> </a:t>
            </a:r>
            <a:r>
              <a:rPr sz="2900" spc="-5" dirty="0">
                <a:latin typeface="Times New Roman"/>
                <a:cs typeface="Times New Roman"/>
              </a:rPr>
              <a:t>value</a:t>
            </a:r>
            <a:r>
              <a:rPr sz="2900" spc="-10" dirty="0">
                <a:latin typeface="Times New Roman"/>
                <a:cs typeface="Times New Roman"/>
              </a:rPr>
              <a:t> </a:t>
            </a:r>
            <a:r>
              <a:rPr sz="2900" spc="-5" dirty="0">
                <a:latin typeface="Times New Roman"/>
                <a:cs typeface="Times New Roman"/>
              </a:rPr>
              <a:t>is </a:t>
            </a:r>
            <a:r>
              <a:rPr sz="2900" dirty="0">
                <a:latin typeface="Times New Roman"/>
                <a:cs typeface="Times New Roman"/>
              </a:rPr>
              <a:t>changing</a:t>
            </a:r>
            <a:r>
              <a:rPr sz="2900" spc="-10" dirty="0">
                <a:latin typeface="Times New Roman"/>
                <a:cs typeface="Times New Roman"/>
              </a:rPr>
              <a:t> </a:t>
            </a:r>
            <a:r>
              <a:rPr sz="2900" dirty="0">
                <a:latin typeface="Times New Roman"/>
                <a:cs typeface="Times New Roman"/>
              </a:rPr>
              <a:t>during</a:t>
            </a:r>
            <a:r>
              <a:rPr sz="2900" spc="-15" dirty="0">
                <a:latin typeface="Times New Roman"/>
                <a:cs typeface="Times New Roman"/>
              </a:rPr>
              <a:t> </a:t>
            </a:r>
            <a:r>
              <a:rPr sz="2900" dirty="0">
                <a:latin typeface="Times New Roman"/>
                <a:cs typeface="Times New Roman"/>
              </a:rPr>
              <a:t>program</a:t>
            </a:r>
            <a:r>
              <a:rPr sz="2900" spc="-30" dirty="0">
                <a:latin typeface="Times New Roman"/>
                <a:cs typeface="Times New Roman"/>
              </a:rPr>
              <a:t> </a:t>
            </a:r>
            <a:r>
              <a:rPr sz="2900" spc="-5" dirty="0">
                <a:latin typeface="Times New Roman"/>
                <a:cs typeface="Times New Roman"/>
              </a:rPr>
              <a:t>execution</a:t>
            </a:r>
            <a:r>
              <a:rPr sz="2900" spc="-5" dirty="0" smtClean="0">
                <a:latin typeface="Times New Roman"/>
                <a:cs typeface="Times New Roman"/>
              </a:rPr>
              <a:t>.</a:t>
            </a:r>
            <a:endParaRPr sz="29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39</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108200" cy="696595"/>
          </a:xfrm>
          <a:prstGeom prst="rect">
            <a:avLst/>
          </a:prstGeom>
        </p:spPr>
        <p:txBody>
          <a:bodyPr vert="horz" wrap="square" lIns="0" tIns="13335" rIns="0" bIns="0" rtlCol="0">
            <a:spAutoFit/>
          </a:bodyPr>
          <a:lstStyle/>
          <a:p>
            <a:pPr marL="12700">
              <a:lnSpc>
                <a:spcPct val="100000"/>
              </a:lnSpc>
              <a:spcBef>
                <a:spcPts val="105"/>
              </a:spcBef>
            </a:pPr>
            <a:r>
              <a:rPr sz="4400" spc="-490" dirty="0"/>
              <a:t>V</a:t>
            </a:r>
            <a:r>
              <a:rPr sz="4400" dirty="0"/>
              <a:t>aria</a:t>
            </a:r>
            <a:r>
              <a:rPr sz="4400" spc="5" dirty="0"/>
              <a:t>b</a:t>
            </a:r>
            <a:r>
              <a:rPr sz="4400" dirty="0"/>
              <a:t>les</a:t>
            </a:r>
            <a:endParaRPr sz="4400"/>
          </a:p>
        </p:txBody>
      </p:sp>
      <p:sp>
        <p:nvSpPr>
          <p:cNvPr id="3" name="object 3"/>
          <p:cNvSpPr txBox="1"/>
          <p:nvPr/>
        </p:nvSpPr>
        <p:spPr>
          <a:xfrm>
            <a:off x="307340" y="1575257"/>
            <a:ext cx="8531860" cy="4728859"/>
          </a:xfrm>
          <a:prstGeom prst="rect">
            <a:avLst/>
          </a:prstGeom>
        </p:spPr>
        <p:txBody>
          <a:bodyPr vert="horz" wrap="square" lIns="0" tIns="62865" rIns="0" bIns="0" rtlCol="0">
            <a:spAutoFit/>
          </a:bodyPr>
          <a:lstStyle/>
          <a:p>
            <a:pPr marL="332740" marR="5080" indent="-320040">
              <a:lnSpc>
                <a:spcPts val="3130"/>
              </a:lnSpc>
              <a:spcBef>
                <a:spcPts val="760"/>
              </a:spcBef>
              <a:buClr>
                <a:srgbClr val="DD8046"/>
              </a:buClr>
              <a:buSzPct val="60344"/>
              <a:buFont typeface="Wingdings"/>
              <a:buChar char=""/>
              <a:tabLst>
                <a:tab pos="332740" algn="l"/>
              </a:tabLst>
            </a:pPr>
            <a:r>
              <a:rPr sz="2900" b="1" dirty="0" smtClean="0">
                <a:latin typeface="Times New Roman"/>
                <a:cs typeface="Times New Roman"/>
              </a:rPr>
              <a:t>Declaring</a:t>
            </a:r>
            <a:r>
              <a:rPr sz="2900" b="1" spc="290" dirty="0" smtClean="0">
                <a:latin typeface="Times New Roman"/>
                <a:cs typeface="Times New Roman"/>
              </a:rPr>
              <a:t> </a:t>
            </a:r>
            <a:r>
              <a:rPr sz="2900" b="1" dirty="0">
                <a:latin typeface="Times New Roman"/>
                <a:cs typeface="Times New Roman"/>
              </a:rPr>
              <a:t>a</a:t>
            </a:r>
            <a:r>
              <a:rPr sz="2900" b="1" spc="300" dirty="0">
                <a:latin typeface="Times New Roman"/>
                <a:cs typeface="Times New Roman"/>
              </a:rPr>
              <a:t> </a:t>
            </a:r>
            <a:r>
              <a:rPr sz="2900" b="1" spc="-35" dirty="0">
                <a:latin typeface="Times New Roman"/>
                <a:cs typeface="Times New Roman"/>
              </a:rPr>
              <a:t>Variable</a:t>
            </a:r>
            <a:r>
              <a:rPr sz="2900" b="1" spc="280" dirty="0">
                <a:latin typeface="Times New Roman"/>
                <a:cs typeface="Times New Roman"/>
              </a:rPr>
              <a:t> </a:t>
            </a:r>
            <a:r>
              <a:rPr sz="2900" b="1" spc="-5" dirty="0">
                <a:latin typeface="Times New Roman"/>
                <a:cs typeface="Times New Roman"/>
              </a:rPr>
              <a:t>In</a:t>
            </a:r>
            <a:r>
              <a:rPr sz="2900" b="1" spc="305" dirty="0">
                <a:latin typeface="Times New Roman"/>
                <a:cs typeface="Times New Roman"/>
              </a:rPr>
              <a:t> </a:t>
            </a:r>
            <a:r>
              <a:rPr sz="2900" b="1" spc="-5" dirty="0">
                <a:latin typeface="Times New Roman"/>
                <a:cs typeface="Times New Roman"/>
              </a:rPr>
              <a:t>Java</a:t>
            </a:r>
            <a:r>
              <a:rPr sz="2900" spc="-5" dirty="0">
                <a:latin typeface="Times New Roman"/>
                <a:cs typeface="Times New Roman"/>
              </a:rPr>
              <a:t>,</a:t>
            </a:r>
            <a:r>
              <a:rPr sz="2900" spc="305" dirty="0">
                <a:latin typeface="Times New Roman"/>
                <a:cs typeface="Times New Roman"/>
              </a:rPr>
              <a:t> </a:t>
            </a:r>
            <a:r>
              <a:rPr sz="2600" dirty="0">
                <a:latin typeface="Times New Roman"/>
                <a:cs typeface="Times New Roman"/>
              </a:rPr>
              <a:t>	</a:t>
            </a:r>
          </a:p>
          <a:p>
            <a:pPr marL="652780">
              <a:lnSpc>
                <a:spcPts val="2965"/>
              </a:lnSpc>
            </a:pPr>
            <a:r>
              <a:rPr sz="2600" b="1" dirty="0">
                <a:solidFill>
                  <a:srgbClr val="FF0000"/>
                </a:solidFill>
                <a:latin typeface="Times New Roman"/>
                <a:cs typeface="Times New Roman"/>
              </a:rPr>
              <a:t>type</a:t>
            </a:r>
            <a:r>
              <a:rPr sz="2600" b="1" spc="-15" dirty="0">
                <a:solidFill>
                  <a:srgbClr val="FF0000"/>
                </a:solidFill>
                <a:latin typeface="Times New Roman"/>
                <a:cs typeface="Times New Roman"/>
              </a:rPr>
              <a:t> </a:t>
            </a:r>
            <a:r>
              <a:rPr sz="2600" b="1" spc="-5" dirty="0" smtClean="0">
                <a:solidFill>
                  <a:srgbClr val="FF0000"/>
                </a:solidFill>
                <a:latin typeface="Times New Roman"/>
                <a:cs typeface="Times New Roman"/>
              </a:rPr>
              <a:t>identifier</a:t>
            </a:r>
            <a:r>
              <a:rPr lang="en-US" sz="2600" b="1" spc="-55" dirty="0" smtClean="0">
                <a:solidFill>
                  <a:srgbClr val="FF0000"/>
                </a:solidFill>
                <a:latin typeface="Times New Roman"/>
                <a:cs typeface="Times New Roman"/>
              </a:rPr>
              <a:t>&lt;space&gt; </a:t>
            </a:r>
            <a:r>
              <a:rPr lang="en-US" sz="2600" b="1" spc="-55" dirty="0">
                <a:solidFill>
                  <a:srgbClr val="FF0000"/>
                </a:solidFill>
                <a:latin typeface="Times New Roman"/>
                <a:cs typeface="Times New Roman"/>
              </a:rPr>
              <a:t>Variable names separated by comma</a:t>
            </a:r>
            <a:r>
              <a:rPr sz="2600" b="1" spc="-5" dirty="0">
                <a:solidFill>
                  <a:srgbClr val="FF0000"/>
                </a:solidFill>
                <a:latin typeface="Times New Roman"/>
                <a:cs typeface="Times New Roman"/>
              </a:rPr>
              <a:t> </a:t>
            </a:r>
            <a:r>
              <a:rPr sz="2600" b="1" dirty="0" smtClean="0">
                <a:solidFill>
                  <a:srgbClr val="FF0000"/>
                </a:solidFill>
                <a:latin typeface="Times New Roman"/>
                <a:cs typeface="Times New Roman"/>
              </a:rPr>
              <a:t>;</a:t>
            </a:r>
            <a:endParaRPr lang="en-US" sz="2600" b="1" dirty="0">
              <a:solidFill>
                <a:srgbClr val="FF0000"/>
              </a:solidFill>
              <a:latin typeface="Times New Roman"/>
              <a:cs typeface="Times New Roman"/>
            </a:endParaRPr>
          </a:p>
          <a:p>
            <a:pPr marL="652780">
              <a:lnSpc>
                <a:spcPts val="2965"/>
              </a:lnSpc>
            </a:pPr>
            <a:r>
              <a:rPr lang="en-IN" sz="2600" dirty="0" smtClean="0">
                <a:latin typeface="Times New Roman"/>
                <a:cs typeface="Times New Roman"/>
              </a:rPr>
              <a:t>Examples:</a:t>
            </a:r>
          </a:p>
          <a:p>
            <a:pPr marL="652780">
              <a:lnSpc>
                <a:spcPts val="2965"/>
              </a:lnSpc>
            </a:pPr>
            <a:r>
              <a:rPr lang="en-IN" sz="2600" dirty="0" err="1" smtClean="0">
                <a:latin typeface="Times New Roman"/>
                <a:cs typeface="Times New Roman"/>
              </a:rPr>
              <a:t>int</a:t>
            </a:r>
            <a:r>
              <a:rPr lang="en-IN" sz="2600" spc="-20" dirty="0" smtClean="0">
                <a:latin typeface="Times New Roman"/>
                <a:cs typeface="Times New Roman"/>
              </a:rPr>
              <a:t> </a:t>
            </a:r>
            <a:r>
              <a:rPr lang="en-IN" sz="2600" spc="-5" dirty="0" smtClean="0">
                <a:latin typeface="Times New Roman"/>
                <a:cs typeface="Times New Roman"/>
              </a:rPr>
              <a:t>a,</a:t>
            </a:r>
            <a:r>
              <a:rPr lang="en-IN" sz="2600" spc="-25" dirty="0" smtClean="0">
                <a:latin typeface="Times New Roman"/>
                <a:cs typeface="Times New Roman"/>
              </a:rPr>
              <a:t> </a:t>
            </a:r>
            <a:r>
              <a:rPr lang="en-IN" sz="2600" dirty="0" smtClean="0">
                <a:latin typeface="Times New Roman"/>
                <a:cs typeface="Times New Roman"/>
              </a:rPr>
              <a:t>b,</a:t>
            </a:r>
            <a:r>
              <a:rPr lang="en-IN" sz="2600" spc="-15" dirty="0" smtClean="0">
                <a:latin typeface="Times New Roman"/>
                <a:cs typeface="Times New Roman"/>
              </a:rPr>
              <a:t> </a:t>
            </a:r>
            <a:r>
              <a:rPr lang="en-IN" sz="2600" spc="-5" dirty="0" smtClean="0">
                <a:latin typeface="Times New Roman"/>
                <a:cs typeface="Times New Roman"/>
              </a:rPr>
              <a:t>c;           </a:t>
            </a:r>
            <a:r>
              <a:rPr lang="en-US" sz="2800" spc="-5" dirty="0" smtClean="0">
                <a:latin typeface="Times New Roman"/>
                <a:cs typeface="Times New Roman"/>
              </a:rPr>
              <a:t>// declares</a:t>
            </a:r>
            <a:r>
              <a:rPr lang="en-US" sz="2800" spc="55" dirty="0" smtClean="0">
                <a:latin typeface="Times New Roman"/>
                <a:cs typeface="Times New Roman"/>
              </a:rPr>
              <a:t> </a:t>
            </a:r>
            <a:r>
              <a:rPr lang="en-US" sz="2800" spc="-5" dirty="0" smtClean="0">
                <a:latin typeface="Times New Roman"/>
                <a:cs typeface="Times New Roman"/>
              </a:rPr>
              <a:t>three</a:t>
            </a:r>
            <a:r>
              <a:rPr lang="en-US" sz="2800" spc="20" dirty="0" smtClean="0">
                <a:latin typeface="Times New Roman"/>
                <a:cs typeface="Times New Roman"/>
              </a:rPr>
              <a:t> </a:t>
            </a:r>
            <a:r>
              <a:rPr lang="en-US" sz="2800" spc="-5" dirty="0" smtClean="0">
                <a:latin typeface="Times New Roman"/>
                <a:cs typeface="Times New Roman"/>
              </a:rPr>
              <a:t>integers</a:t>
            </a:r>
            <a:r>
              <a:rPr lang="en-US" sz="2800" spc="10" dirty="0" smtClean="0">
                <a:latin typeface="Times New Roman"/>
                <a:cs typeface="Times New Roman"/>
              </a:rPr>
              <a:t> </a:t>
            </a:r>
            <a:r>
              <a:rPr lang="en-US" sz="2800" spc="-5" dirty="0" smtClean="0">
                <a:latin typeface="Times New Roman"/>
                <a:cs typeface="Times New Roman"/>
              </a:rPr>
              <a:t>a,</a:t>
            </a:r>
            <a:r>
              <a:rPr lang="en-US" sz="2800" spc="5" dirty="0" smtClean="0">
                <a:latin typeface="Times New Roman"/>
                <a:cs typeface="Times New Roman"/>
              </a:rPr>
              <a:t> </a:t>
            </a:r>
            <a:r>
              <a:rPr lang="en-US" sz="2800" spc="-5" dirty="0" smtClean="0">
                <a:latin typeface="Times New Roman"/>
                <a:cs typeface="Times New Roman"/>
              </a:rPr>
              <a:t>b,</a:t>
            </a:r>
            <a:r>
              <a:rPr lang="en-US" sz="2800" spc="-10" dirty="0" smtClean="0">
                <a:latin typeface="Times New Roman"/>
                <a:cs typeface="Times New Roman"/>
              </a:rPr>
              <a:t> </a:t>
            </a:r>
            <a:r>
              <a:rPr lang="en-US" sz="2800" spc="-5" dirty="0" smtClean="0">
                <a:latin typeface="Times New Roman"/>
                <a:cs typeface="Times New Roman"/>
              </a:rPr>
              <a:t>and</a:t>
            </a:r>
            <a:r>
              <a:rPr lang="en-US" sz="2800" spc="5" dirty="0" smtClean="0">
                <a:latin typeface="Times New Roman"/>
                <a:cs typeface="Times New Roman"/>
              </a:rPr>
              <a:t> </a:t>
            </a:r>
            <a:r>
              <a:rPr lang="en-US" sz="2800" spc="-5" dirty="0" smtClean="0">
                <a:latin typeface="Times New Roman"/>
                <a:cs typeface="Times New Roman"/>
              </a:rPr>
              <a:t>c.</a:t>
            </a:r>
            <a:endParaRPr lang="en-US" sz="2800" dirty="0" smtClean="0">
              <a:latin typeface="Times New Roman"/>
              <a:cs typeface="Times New Roman"/>
            </a:endParaRPr>
          </a:p>
          <a:p>
            <a:pPr marL="12700">
              <a:lnSpc>
                <a:spcPct val="100000"/>
              </a:lnSpc>
              <a:spcBef>
                <a:spcPts val="695"/>
              </a:spcBef>
            </a:pPr>
            <a:r>
              <a:rPr lang="en-US" sz="2600" dirty="0" smtClean="0">
                <a:latin typeface="Times New Roman"/>
                <a:cs typeface="Times New Roman"/>
              </a:rPr>
              <a:t>        int d = 3, e, f = 5; </a:t>
            </a:r>
          </a:p>
          <a:p>
            <a:pPr marL="12700">
              <a:lnSpc>
                <a:spcPct val="100000"/>
              </a:lnSpc>
              <a:spcBef>
                <a:spcPts val="695"/>
              </a:spcBef>
            </a:pPr>
            <a:r>
              <a:rPr lang="en-US" sz="2600" dirty="0" smtClean="0">
                <a:latin typeface="Times New Roman"/>
                <a:cs typeface="Times New Roman"/>
              </a:rPr>
              <a:t>     byte z = 22;	// initializes z.</a:t>
            </a:r>
          </a:p>
          <a:p>
            <a:pPr marL="12700">
              <a:lnSpc>
                <a:spcPct val="100000"/>
              </a:lnSpc>
              <a:spcBef>
                <a:spcPts val="695"/>
              </a:spcBef>
            </a:pPr>
            <a:r>
              <a:rPr lang="en-US" sz="2600" dirty="0" smtClean="0">
                <a:latin typeface="Times New Roman"/>
                <a:cs typeface="Times New Roman"/>
              </a:rPr>
              <a:t>    double pi = 3.14159; // declares an approximation of pi.</a:t>
            </a:r>
          </a:p>
          <a:p>
            <a:pPr marL="12700">
              <a:lnSpc>
                <a:spcPct val="100000"/>
              </a:lnSpc>
              <a:spcBef>
                <a:spcPts val="695"/>
              </a:spcBef>
            </a:pPr>
            <a:r>
              <a:rPr lang="en-US" sz="2600" dirty="0" smtClean="0">
                <a:latin typeface="Times New Roman"/>
                <a:cs typeface="Times New Roman"/>
              </a:rPr>
              <a:t>     char x = 'x’;	// the variable x has the value 'x'</a:t>
            </a:r>
          </a:p>
          <a:p>
            <a:pPr marL="652780">
              <a:lnSpc>
                <a:spcPts val="2965"/>
              </a:lnSpc>
            </a:pPr>
            <a:endParaRPr lang="en-IN" sz="2600" dirty="0">
              <a:latin typeface="Times New Roman"/>
              <a:cs typeface="Times New Roman"/>
            </a:endParaRPr>
          </a:p>
          <a:p>
            <a:pPr marL="652780">
              <a:lnSpc>
                <a:spcPts val="2965"/>
              </a:lnSpc>
            </a:pPr>
            <a:endParaRPr sz="26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39</a:t>
            </a:r>
            <a:endParaRPr sz="1200">
              <a:latin typeface="Times New Roman"/>
              <a:cs typeface="Times New Roman"/>
            </a:endParaRPr>
          </a:p>
        </p:txBody>
      </p:sp>
    </p:spTree>
    <p:extLst>
      <p:ext uri="{BB962C8B-B14F-4D97-AF65-F5344CB8AC3E}">
        <p14:creationId xmlns:p14="http://schemas.microsoft.com/office/powerpoint/2010/main" val="24115811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936615" cy="696595"/>
          </a:xfrm>
          <a:prstGeom prst="rect">
            <a:avLst/>
          </a:prstGeom>
        </p:spPr>
        <p:txBody>
          <a:bodyPr vert="horz" wrap="square" lIns="0" tIns="13335" rIns="0" bIns="0" rtlCol="0">
            <a:spAutoFit/>
          </a:bodyPr>
          <a:lstStyle/>
          <a:p>
            <a:pPr marL="12700">
              <a:lnSpc>
                <a:spcPct val="100000"/>
              </a:lnSpc>
              <a:spcBef>
                <a:spcPts val="105"/>
              </a:spcBef>
            </a:pPr>
            <a:r>
              <a:rPr sz="4400" spc="-55" dirty="0"/>
              <a:t>Variables </a:t>
            </a:r>
            <a:r>
              <a:rPr sz="3200" dirty="0"/>
              <a:t>…</a:t>
            </a:r>
            <a:r>
              <a:rPr sz="3200" spc="-10" dirty="0"/>
              <a:t> </a:t>
            </a:r>
            <a:r>
              <a:rPr sz="3200" dirty="0"/>
              <a:t>Scope</a:t>
            </a:r>
            <a:r>
              <a:rPr sz="3200" spc="-45" dirty="0"/>
              <a:t> </a:t>
            </a:r>
            <a:r>
              <a:rPr sz="3200" spc="5" dirty="0"/>
              <a:t>and</a:t>
            </a:r>
            <a:r>
              <a:rPr sz="3200" spc="-25" dirty="0"/>
              <a:t> </a:t>
            </a:r>
            <a:r>
              <a:rPr sz="3200" dirty="0"/>
              <a:t>Lifetime</a:t>
            </a:r>
            <a:endParaRPr sz="3200"/>
          </a:p>
        </p:txBody>
      </p:sp>
      <p:sp>
        <p:nvSpPr>
          <p:cNvPr id="3" name="object 3"/>
          <p:cNvSpPr txBox="1"/>
          <p:nvPr/>
        </p:nvSpPr>
        <p:spPr>
          <a:xfrm>
            <a:off x="231140" y="1547825"/>
            <a:ext cx="1388745" cy="3314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class</a:t>
            </a:r>
            <a:r>
              <a:rPr sz="2000" spc="-60" dirty="0">
                <a:latin typeface="Times New Roman"/>
                <a:cs typeface="Times New Roman"/>
              </a:rPr>
              <a:t> </a:t>
            </a:r>
            <a:r>
              <a:rPr sz="2000" spc="5" dirty="0">
                <a:latin typeface="Times New Roman"/>
                <a:cs typeface="Times New Roman"/>
              </a:rPr>
              <a:t>Scope</a:t>
            </a:r>
            <a:r>
              <a:rPr sz="2000" spc="-70" dirty="0">
                <a:latin typeface="Times New Roman"/>
                <a:cs typeface="Times New Roman"/>
              </a:rPr>
              <a:t> </a:t>
            </a:r>
            <a:r>
              <a:rPr sz="2000" dirty="0">
                <a:latin typeface="Times New Roman"/>
                <a:cs typeface="Times New Roman"/>
              </a:rPr>
              <a:t>{</a:t>
            </a:r>
            <a:endParaRPr sz="2000">
              <a:latin typeface="Times New Roman"/>
              <a:cs typeface="Times New Roman"/>
            </a:endParaRPr>
          </a:p>
        </p:txBody>
      </p:sp>
      <p:sp>
        <p:nvSpPr>
          <p:cNvPr id="4" name="object 4"/>
          <p:cNvSpPr txBox="1"/>
          <p:nvPr/>
        </p:nvSpPr>
        <p:spPr>
          <a:xfrm>
            <a:off x="1717294" y="1547825"/>
            <a:ext cx="4578350" cy="636905"/>
          </a:xfrm>
          <a:prstGeom prst="rect">
            <a:avLst/>
          </a:prstGeom>
        </p:spPr>
        <p:txBody>
          <a:bodyPr vert="horz" wrap="square" lIns="0" tIns="13335" rIns="0" bIns="0" rtlCol="0">
            <a:spAutoFit/>
          </a:bodyPr>
          <a:lstStyle/>
          <a:p>
            <a:pPr marL="1730375">
              <a:lnSpc>
                <a:spcPct val="100000"/>
              </a:lnSpc>
              <a:spcBef>
                <a:spcPts val="105"/>
              </a:spcBef>
            </a:pPr>
            <a:r>
              <a:rPr sz="2000" spc="-5" dirty="0">
                <a:latin typeface="Times New Roman"/>
                <a:cs typeface="Times New Roman"/>
              </a:rPr>
              <a:t>//</a:t>
            </a:r>
            <a:r>
              <a:rPr sz="2000" spc="-35" dirty="0">
                <a:latin typeface="Times New Roman"/>
                <a:cs typeface="Times New Roman"/>
              </a:rPr>
              <a:t> </a:t>
            </a:r>
            <a:r>
              <a:rPr sz="2000" dirty="0">
                <a:latin typeface="Times New Roman"/>
                <a:cs typeface="Times New Roman"/>
              </a:rPr>
              <a:t>Demonstrate</a:t>
            </a:r>
            <a:r>
              <a:rPr sz="2000" spc="-45" dirty="0">
                <a:latin typeface="Times New Roman"/>
                <a:cs typeface="Times New Roman"/>
              </a:rPr>
              <a:t> </a:t>
            </a:r>
            <a:r>
              <a:rPr sz="2000" dirty="0">
                <a:latin typeface="Times New Roman"/>
                <a:cs typeface="Times New Roman"/>
              </a:rPr>
              <a:t>block</a:t>
            </a:r>
            <a:r>
              <a:rPr sz="2000" spc="-35" dirty="0">
                <a:latin typeface="Times New Roman"/>
                <a:cs typeface="Times New Roman"/>
              </a:rPr>
              <a:t> </a:t>
            </a:r>
            <a:r>
              <a:rPr sz="2000" dirty="0">
                <a:latin typeface="Times New Roman"/>
                <a:cs typeface="Times New Roman"/>
              </a:rPr>
              <a:t>scope.</a:t>
            </a:r>
            <a:endParaRPr sz="2000">
              <a:latin typeface="Times New Roman"/>
              <a:cs typeface="Times New Roman"/>
            </a:endParaRPr>
          </a:p>
          <a:p>
            <a:pPr marL="12700">
              <a:lnSpc>
                <a:spcPct val="100000"/>
              </a:lnSpc>
              <a:spcBef>
                <a:spcPts val="5"/>
              </a:spcBef>
            </a:pPr>
            <a:r>
              <a:rPr sz="2000" dirty="0">
                <a:latin typeface="Times New Roman"/>
                <a:cs typeface="Times New Roman"/>
              </a:rPr>
              <a:t>public</a:t>
            </a:r>
            <a:r>
              <a:rPr sz="2000" spc="-35" dirty="0">
                <a:latin typeface="Times New Roman"/>
                <a:cs typeface="Times New Roman"/>
              </a:rPr>
              <a:t> </a:t>
            </a:r>
            <a:r>
              <a:rPr sz="2000" spc="-5" dirty="0">
                <a:latin typeface="Times New Roman"/>
                <a:cs typeface="Times New Roman"/>
              </a:rPr>
              <a:t>static </a:t>
            </a:r>
            <a:r>
              <a:rPr sz="2000" dirty="0">
                <a:latin typeface="Times New Roman"/>
                <a:cs typeface="Times New Roman"/>
              </a:rPr>
              <a:t>void</a:t>
            </a:r>
            <a:r>
              <a:rPr sz="2000" spc="-30" dirty="0">
                <a:latin typeface="Times New Roman"/>
                <a:cs typeface="Times New Roman"/>
              </a:rPr>
              <a:t> </a:t>
            </a:r>
            <a:r>
              <a:rPr sz="2000" spc="-5" dirty="0">
                <a:latin typeface="Times New Roman"/>
                <a:cs typeface="Times New Roman"/>
              </a:rPr>
              <a:t>main(String</a:t>
            </a:r>
            <a:r>
              <a:rPr sz="2000" spc="-15" dirty="0">
                <a:latin typeface="Times New Roman"/>
                <a:cs typeface="Times New Roman"/>
              </a:rPr>
              <a:t> </a:t>
            </a:r>
            <a:r>
              <a:rPr sz="2000" spc="-5" dirty="0">
                <a:latin typeface="Times New Roman"/>
                <a:cs typeface="Times New Roman"/>
              </a:rPr>
              <a:t>args[])</a:t>
            </a:r>
            <a:endParaRPr sz="2000">
              <a:latin typeface="Times New Roman"/>
              <a:cs typeface="Times New Roman"/>
            </a:endParaRPr>
          </a:p>
        </p:txBody>
      </p:sp>
      <p:sp>
        <p:nvSpPr>
          <p:cNvPr id="5" name="object 5"/>
          <p:cNvSpPr txBox="1"/>
          <p:nvPr/>
        </p:nvSpPr>
        <p:spPr>
          <a:xfrm>
            <a:off x="1881885" y="2158111"/>
            <a:ext cx="5385435" cy="3989704"/>
          </a:xfrm>
          <a:prstGeom prst="rect">
            <a:avLst/>
          </a:prstGeom>
        </p:spPr>
        <p:txBody>
          <a:bodyPr vert="horz" wrap="square" lIns="0" tIns="13335" rIns="0" bIns="0" rtlCol="0">
            <a:spAutoFit/>
          </a:bodyPr>
          <a:lstStyle/>
          <a:p>
            <a:pPr marL="445134" marR="1038225" indent="-433070">
              <a:lnSpc>
                <a:spcPct val="100000"/>
              </a:lnSpc>
              <a:spcBef>
                <a:spcPts val="105"/>
              </a:spcBef>
              <a:tabLst>
                <a:tab pos="452755" algn="l"/>
              </a:tabLst>
            </a:pPr>
            <a:r>
              <a:rPr sz="2000" dirty="0">
                <a:latin typeface="Times New Roman"/>
                <a:cs typeface="Times New Roman"/>
              </a:rPr>
              <a:t>{		int</a:t>
            </a:r>
            <a:r>
              <a:rPr sz="2000" spc="-20" dirty="0">
                <a:latin typeface="Times New Roman"/>
                <a:cs typeface="Times New Roman"/>
              </a:rPr>
              <a:t> </a:t>
            </a:r>
            <a:r>
              <a:rPr sz="2000" dirty="0">
                <a:latin typeface="Times New Roman"/>
                <a:cs typeface="Times New Roman"/>
              </a:rPr>
              <a:t>x;</a:t>
            </a:r>
            <a:r>
              <a:rPr sz="2000" spc="-30" dirty="0">
                <a:latin typeface="Times New Roman"/>
                <a:cs typeface="Times New Roman"/>
              </a:rPr>
              <a:t> </a:t>
            </a:r>
            <a:r>
              <a:rPr sz="2000" spc="-5" dirty="0">
                <a:latin typeface="Times New Roman"/>
                <a:cs typeface="Times New Roman"/>
              </a:rPr>
              <a:t>// </a:t>
            </a:r>
            <a:r>
              <a:rPr sz="2000" spc="5" dirty="0">
                <a:latin typeface="Times New Roman"/>
                <a:cs typeface="Times New Roman"/>
              </a:rPr>
              <a:t>known</a:t>
            </a:r>
            <a:r>
              <a:rPr sz="2000" spc="-35" dirty="0">
                <a:latin typeface="Times New Roman"/>
                <a:cs typeface="Times New Roman"/>
              </a:rPr>
              <a:t> </a:t>
            </a:r>
            <a:r>
              <a:rPr sz="2000" spc="-5" dirty="0">
                <a:latin typeface="Times New Roman"/>
                <a:cs typeface="Times New Roman"/>
              </a:rPr>
              <a:t>to</a:t>
            </a:r>
            <a:r>
              <a:rPr sz="2000" spc="-15" dirty="0">
                <a:latin typeface="Times New Roman"/>
                <a:cs typeface="Times New Roman"/>
              </a:rPr>
              <a:t> </a:t>
            </a:r>
            <a:r>
              <a:rPr sz="2000" spc="-5" dirty="0">
                <a:latin typeface="Times New Roman"/>
                <a:cs typeface="Times New Roman"/>
              </a:rPr>
              <a:t>all</a:t>
            </a:r>
            <a:r>
              <a:rPr sz="2000" spc="-10" dirty="0">
                <a:latin typeface="Times New Roman"/>
                <a:cs typeface="Times New Roman"/>
              </a:rPr>
              <a:t> </a:t>
            </a:r>
            <a:r>
              <a:rPr sz="2000" dirty="0">
                <a:latin typeface="Times New Roman"/>
                <a:cs typeface="Times New Roman"/>
              </a:rPr>
              <a:t>code</a:t>
            </a:r>
            <a:r>
              <a:rPr sz="2000" spc="-20" dirty="0">
                <a:latin typeface="Times New Roman"/>
                <a:cs typeface="Times New Roman"/>
              </a:rPr>
              <a:t> </a:t>
            </a:r>
            <a:r>
              <a:rPr sz="2000" dirty="0">
                <a:latin typeface="Times New Roman"/>
                <a:cs typeface="Times New Roman"/>
              </a:rPr>
              <a:t>within</a:t>
            </a:r>
            <a:r>
              <a:rPr sz="2000" spc="-25" dirty="0">
                <a:latin typeface="Times New Roman"/>
                <a:cs typeface="Times New Roman"/>
              </a:rPr>
              <a:t> </a:t>
            </a:r>
            <a:r>
              <a:rPr sz="2000" spc="-10" dirty="0">
                <a:latin typeface="Times New Roman"/>
                <a:cs typeface="Times New Roman"/>
              </a:rPr>
              <a:t>main </a:t>
            </a:r>
            <a:r>
              <a:rPr sz="2000" spc="-484" dirty="0">
                <a:latin typeface="Times New Roman"/>
                <a:cs typeface="Times New Roman"/>
              </a:rPr>
              <a:t> </a:t>
            </a:r>
            <a:r>
              <a:rPr sz="2000" dirty="0">
                <a:latin typeface="Times New Roman"/>
                <a:cs typeface="Times New Roman"/>
              </a:rPr>
              <a:t>x</a:t>
            </a:r>
            <a:r>
              <a:rPr sz="2000" spc="-1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spc="5" dirty="0">
                <a:latin typeface="Times New Roman"/>
                <a:cs typeface="Times New Roman"/>
              </a:rPr>
              <a:t>10;</a:t>
            </a:r>
            <a:endParaRPr sz="2000" dirty="0">
              <a:latin typeface="Times New Roman"/>
              <a:cs typeface="Times New Roman"/>
            </a:endParaRPr>
          </a:p>
          <a:p>
            <a:pPr marL="445134">
              <a:lnSpc>
                <a:spcPct val="100000"/>
              </a:lnSpc>
            </a:pPr>
            <a:r>
              <a:rPr sz="2000" dirty="0">
                <a:latin typeface="Times New Roman"/>
                <a:cs typeface="Times New Roman"/>
              </a:rPr>
              <a:t>if(x</a:t>
            </a:r>
            <a:r>
              <a:rPr sz="2000" spc="-55" dirty="0">
                <a:latin typeface="Times New Roman"/>
                <a:cs typeface="Times New Roman"/>
              </a:rPr>
              <a:t> </a:t>
            </a:r>
            <a:r>
              <a:rPr sz="2000" dirty="0">
                <a:latin typeface="Times New Roman"/>
                <a:cs typeface="Times New Roman"/>
              </a:rPr>
              <a:t>==</a:t>
            </a:r>
            <a:r>
              <a:rPr sz="2000" spc="-35" dirty="0">
                <a:latin typeface="Times New Roman"/>
                <a:cs typeface="Times New Roman"/>
              </a:rPr>
              <a:t> </a:t>
            </a:r>
            <a:r>
              <a:rPr sz="2000" spc="5" dirty="0">
                <a:latin typeface="Times New Roman"/>
                <a:cs typeface="Times New Roman"/>
              </a:rPr>
              <a:t>10)</a:t>
            </a:r>
            <a:endParaRPr sz="2000" dirty="0">
              <a:latin typeface="Times New Roman"/>
              <a:cs typeface="Times New Roman"/>
            </a:endParaRPr>
          </a:p>
          <a:p>
            <a:pPr marL="457200">
              <a:lnSpc>
                <a:spcPct val="100000"/>
              </a:lnSpc>
            </a:pPr>
            <a:r>
              <a:rPr sz="2000" dirty="0">
                <a:latin typeface="Times New Roman"/>
                <a:cs typeface="Times New Roman"/>
              </a:rPr>
              <a:t>{</a:t>
            </a:r>
            <a:r>
              <a:rPr sz="2000" spc="-15" dirty="0">
                <a:latin typeface="Times New Roman"/>
                <a:cs typeface="Times New Roman"/>
              </a:rPr>
              <a:t> </a:t>
            </a:r>
            <a:r>
              <a:rPr sz="2000" spc="-5" dirty="0">
                <a:latin typeface="Times New Roman"/>
                <a:cs typeface="Times New Roman"/>
              </a:rPr>
              <a:t>//</a:t>
            </a:r>
            <a:r>
              <a:rPr sz="2000" spc="-25" dirty="0">
                <a:latin typeface="Times New Roman"/>
                <a:cs typeface="Times New Roman"/>
              </a:rPr>
              <a:t> </a:t>
            </a:r>
            <a:r>
              <a:rPr sz="2000" dirty="0">
                <a:latin typeface="Times New Roman"/>
                <a:cs typeface="Times New Roman"/>
              </a:rPr>
              <a:t>start</a:t>
            </a:r>
            <a:r>
              <a:rPr sz="2000" spc="-40" dirty="0">
                <a:latin typeface="Times New Roman"/>
                <a:cs typeface="Times New Roman"/>
              </a:rPr>
              <a:t> </a:t>
            </a:r>
            <a:r>
              <a:rPr sz="2000" dirty="0">
                <a:latin typeface="Times New Roman"/>
                <a:cs typeface="Times New Roman"/>
              </a:rPr>
              <a:t>new</a:t>
            </a:r>
            <a:r>
              <a:rPr sz="2000" spc="-10" dirty="0">
                <a:latin typeface="Times New Roman"/>
                <a:cs typeface="Times New Roman"/>
              </a:rPr>
              <a:t> </a:t>
            </a:r>
            <a:r>
              <a:rPr sz="2000" dirty="0">
                <a:latin typeface="Times New Roman"/>
                <a:cs typeface="Times New Roman"/>
              </a:rPr>
              <a:t>scope</a:t>
            </a:r>
          </a:p>
          <a:p>
            <a:pPr marL="864235">
              <a:lnSpc>
                <a:spcPct val="100000"/>
              </a:lnSpc>
            </a:pPr>
            <a:r>
              <a:rPr sz="2000" dirty="0">
                <a:latin typeface="Times New Roman"/>
                <a:cs typeface="Times New Roman"/>
              </a:rPr>
              <a:t>int</a:t>
            </a:r>
            <a:r>
              <a:rPr sz="2000" spc="-30" dirty="0">
                <a:latin typeface="Times New Roman"/>
                <a:cs typeface="Times New Roman"/>
              </a:rPr>
              <a:t> </a:t>
            </a:r>
            <a:r>
              <a:rPr sz="2000" dirty="0">
                <a:latin typeface="Times New Roman"/>
                <a:cs typeface="Times New Roman"/>
              </a:rPr>
              <a:t>y</a:t>
            </a:r>
            <a:r>
              <a:rPr sz="2000" spc="-1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spc="5" dirty="0">
                <a:latin typeface="Times New Roman"/>
                <a:cs typeface="Times New Roman"/>
              </a:rPr>
              <a:t>20;</a:t>
            </a:r>
            <a:r>
              <a:rPr sz="2000" spc="-30" dirty="0">
                <a:latin typeface="Times New Roman"/>
                <a:cs typeface="Times New Roman"/>
              </a:rPr>
              <a:t> </a:t>
            </a:r>
            <a:r>
              <a:rPr sz="2000" spc="-5" dirty="0">
                <a:latin typeface="Times New Roman"/>
                <a:cs typeface="Times New Roman"/>
              </a:rPr>
              <a:t>//</a:t>
            </a:r>
            <a:r>
              <a:rPr sz="2000" spc="-15" dirty="0">
                <a:latin typeface="Times New Roman"/>
                <a:cs typeface="Times New Roman"/>
              </a:rPr>
              <a:t> </a:t>
            </a:r>
            <a:r>
              <a:rPr sz="2000" spc="5" dirty="0">
                <a:latin typeface="Times New Roman"/>
                <a:cs typeface="Times New Roman"/>
              </a:rPr>
              <a:t>known</a:t>
            </a:r>
            <a:r>
              <a:rPr sz="2000" spc="-30" dirty="0">
                <a:latin typeface="Times New Roman"/>
                <a:cs typeface="Times New Roman"/>
              </a:rPr>
              <a:t> </a:t>
            </a:r>
            <a:r>
              <a:rPr sz="2000" dirty="0">
                <a:latin typeface="Times New Roman"/>
                <a:cs typeface="Times New Roman"/>
              </a:rPr>
              <a:t>only</a:t>
            </a:r>
            <a:r>
              <a:rPr sz="2000" spc="-25" dirty="0">
                <a:latin typeface="Times New Roman"/>
                <a:cs typeface="Times New Roman"/>
              </a:rPr>
              <a:t> </a:t>
            </a:r>
            <a:r>
              <a:rPr sz="2000" spc="-5" dirty="0">
                <a:latin typeface="Times New Roman"/>
                <a:cs typeface="Times New Roman"/>
              </a:rPr>
              <a:t>to</a:t>
            </a:r>
            <a:r>
              <a:rPr sz="2000" spc="-20" dirty="0">
                <a:latin typeface="Times New Roman"/>
                <a:cs typeface="Times New Roman"/>
              </a:rPr>
              <a:t> </a:t>
            </a:r>
            <a:r>
              <a:rPr sz="2000" dirty="0">
                <a:latin typeface="Times New Roman"/>
                <a:cs typeface="Times New Roman"/>
              </a:rPr>
              <a:t>this</a:t>
            </a:r>
            <a:r>
              <a:rPr sz="2000" spc="-15" dirty="0">
                <a:latin typeface="Times New Roman"/>
                <a:cs typeface="Times New Roman"/>
              </a:rPr>
              <a:t> </a:t>
            </a:r>
            <a:r>
              <a:rPr sz="2000" dirty="0">
                <a:latin typeface="Times New Roman"/>
                <a:cs typeface="Times New Roman"/>
              </a:rPr>
              <a:t>block</a:t>
            </a:r>
          </a:p>
          <a:p>
            <a:pPr marL="1993900">
              <a:lnSpc>
                <a:spcPct val="100000"/>
              </a:lnSpc>
            </a:pPr>
            <a:r>
              <a:rPr sz="2000" spc="-5" dirty="0">
                <a:latin typeface="Times New Roman"/>
                <a:cs typeface="Times New Roman"/>
              </a:rPr>
              <a:t>//</a:t>
            </a:r>
            <a:r>
              <a:rPr sz="2000" spc="-15" dirty="0">
                <a:latin typeface="Times New Roman"/>
                <a:cs typeface="Times New Roman"/>
              </a:rPr>
              <a:t> </a:t>
            </a:r>
            <a:r>
              <a:rPr sz="2000" dirty="0">
                <a:latin typeface="Times New Roman"/>
                <a:cs typeface="Times New Roman"/>
              </a:rPr>
              <a:t>x</a:t>
            </a:r>
            <a:r>
              <a:rPr sz="2000" spc="-1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y</a:t>
            </a:r>
            <a:r>
              <a:rPr sz="2000" spc="-15" dirty="0">
                <a:latin typeface="Times New Roman"/>
                <a:cs typeface="Times New Roman"/>
              </a:rPr>
              <a:t> </a:t>
            </a:r>
            <a:r>
              <a:rPr sz="2000" dirty="0">
                <a:latin typeface="Times New Roman"/>
                <a:cs typeface="Times New Roman"/>
              </a:rPr>
              <a:t>both</a:t>
            </a:r>
            <a:r>
              <a:rPr sz="2000" spc="-35" dirty="0">
                <a:latin typeface="Times New Roman"/>
                <a:cs typeface="Times New Roman"/>
              </a:rPr>
              <a:t> </a:t>
            </a:r>
            <a:r>
              <a:rPr sz="2000" spc="5" dirty="0">
                <a:latin typeface="Times New Roman"/>
                <a:cs typeface="Times New Roman"/>
              </a:rPr>
              <a:t>known</a:t>
            </a:r>
            <a:r>
              <a:rPr sz="2000" spc="-35" dirty="0">
                <a:latin typeface="Times New Roman"/>
                <a:cs typeface="Times New Roman"/>
              </a:rPr>
              <a:t> </a:t>
            </a:r>
            <a:r>
              <a:rPr sz="2000" dirty="0">
                <a:latin typeface="Times New Roman"/>
                <a:cs typeface="Times New Roman"/>
              </a:rPr>
              <a:t>here.</a:t>
            </a:r>
          </a:p>
          <a:p>
            <a:pPr marL="838200">
              <a:lnSpc>
                <a:spcPct val="100000"/>
              </a:lnSpc>
            </a:pPr>
            <a:r>
              <a:rPr sz="2000" spc="-5" dirty="0">
                <a:latin typeface="Times New Roman"/>
                <a:cs typeface="Times New Roman"/>
              </a:rPr>
              <a:t>System.out.println("x</a:t>
            </a:r>
            <a:r>
              <a:rPr sz="2000" spc="-4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spc="-5" dirty="0">
                <a:latin typeface="Times New Roman"/>
                <a:cs typeface="Times New Roman"/>
              </a:rPr>
              <a:t>y:</a:t>
            </a:r>
            <a:r>
              <a:rPr sz="2000" dirty="0">
                <a:latin typeface="Times New Roman"/>
                <a:cs typeface="Times New Roman"/>
              </a:rPr>
              <a:t> " +</a:t>
            </a:r>
            <a:r>
              <a:rPr sz="2000" spc="-15" dirty="0">
                <a:latin typeface="Times New Roman"/>
                <a:cs typeface="Times New Roman"/>
              </a:rPr>
              <a:t> </a:t>
            </a:r>
            <a:r>
              <a:rPr sz="2000" dirty="0">
                <a:latin typeface="Times New Roman"/>
                <a:cs typeface="Times New Roman"/>
              </a:rPr>
              <a:t>x +</a:t>
            </a:r>
            <a:r>
              <a:rPr sz="2000" spc="-1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 </a:t>
            </a:r>
            <a:r>
              <a:rPr sz="2000" spc="-5" dirty="0">
                <a:latin typeface="Times New Roman"/>
                <a:cs typeface="Times New Roman"/>
              </a:rPr>
              <a:t>y);</a:t>
            </a:r>
            <a:endParaRPr sz="2000" dirty="0">
              <a:latin typeface="Times New Roman"/>
              <a:cs typeface="Times New Roman"/>
            </a:endParaRPr>
          </a:p>
          <a:p>
            <a:pPr marL="838200">
              <a:lnSpc>
                <a:spcPct val="100000"/>
              </a:lnSpc>
            </a:pPr>
            <a:r>
              <a:rPr sz="2000" dirty="0">
                <a:latin typeface="Times New Roman"/>
                <a:cs typeface="Times New Roman"/>
              </a:rPr>
              <a:t>x</a:t>
            </a:r>
            <a:r>
              <a:rPr sz="2000" spc="-25" dirty="0">
                <a:latin typeface="Times New Roman"/>
                <a:cs typeface="Times New Roman"/>
              </a:rPr>
              <a:t> </a:t>
            </a:r>
            <a:r>
              <a:rPr sz="2000" dirty="0">
                <a:latin typeface="Times New Roman"/>
                <a:cs typeface="Times New Roman"/>
              </a:rPr>
              <a:t>=</a:t>
            </a:r>
            <a:r>
              <a:rPr sz="2000" spc="-30" dirty="0">
                <a:latin typeface="Times New Roman"/>
                <a:cs typeface="Times New Roman"/>
              </a:rPr>
              <a:t> </a:t>
            </a:r>
            <a:r>
              <a:rPr sz="2000" dirty="0">
                <a:latin typeface="Times New Roman"/>
                <a:cs typeface="Times New Roman"/>
              </a:rPr>
              <a:t>y</a:t>
            </a:r>
            <a:r>
              <a:rPr sz="2000" spc="-20"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2;</a:t>
            </a:r>
          </a:p>
          <a:p>
            <a:pPr marL="584200">
              <a:lnSpc>
                <a:spcPct val="100000"/>
              </a:lnSpc>
              <a:spcBef>
                <a:spcPts val="5"/>
              </a:spcBef>
            </a:pPr>
            <a:r>
              <a:rPr sz="2000" dirty="0">
                <a:latin typeface="Times New Roman"/>
                <a:cs typeface="Times New Roman"/>
              </a:rPr>
              <a:t>}</a:t>
            </a:r>
          </a:p>
          <a:p>
            <a:pPr marL="393700">
              <a:lnSpc>
                <a:spcPct val="100000"/>
              </a:lnSpc>
            </a:pPr>
            <a:r>
              <a:rPr sz="2000" spc="-5" dirty="0">
                <a:latin typeface="Times New Roman"/>
                <a:cs typeface="Times New Roman"/>
              </a:rPr>
              <a:t>//</a:t>
            </a:r>
            <a:r>
              <a:rPr sz="2000" spc="-10" dirty="0">
                <a:latin typeface="Times New Roman"/>
                <a:cs typeface="Times New Roman"/>
              </a:rPr>
              <a:t> </a:t>
            </a:r>
            <a:r>
              <a:rPr sz="2000" dirty="0">
                <a:latin typeface="Times New Roman"/>
                <a:cs typeface="Times New Roman"/>
              </a:rPr>
              <a:t>y</a:t>
            </a:r>
            <a:r>
              <a:rPr sz="2000" spc="-1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spc="5" dirty="0">
                <a:latin typeface="Times New Roman"/>
                <a:cs typeface="Times New Roman"/>
              </a:rPr>
              <a:t>100;</a:t>
            </a:r>
            <a:r>
              <a:rPr sz="2000" spc="-30" dirty="0">
                <a:latin typeface="Times New Roman"/>
                <a:cs typeface="Times New Roman"/>
              </a:rPr>
              <a:t> </a:t>
            </a:r>
            <a:r>
              <a:rPr sz="2000" spc="-5" dirty="0">
                <a:latin typeface="Times New Roman"/>
                <a:cs typeface="Times New Roman"/>
              </a:rPr>
              <a:t>//</a:t>
            </a:r>
            <a:r>
              <a:rPr sz="2000" spc="-15" dirty="0">
                <a:latin typeface="Times New Roman"/>
                <a:cs typeface="Times New Roman"/>
              </a:rPr>
              <a:t> </a:t>
            </a:r>
            <a:r>
              <a:rPr sz="2000" dirty="0">
                <a:latin typeface="Times New Roman"/>
                <a:cs typeface="Times New Roman"/>
              </a:rPr>
              <a:t>Error!</a:t>
            </a:r>
            <a:r>
              <a:rPr sz="2000" spc="-40" dirty="0">
                <a:latin typeface="Times New Roman"/>
                <a:cs typeface="Times New Roman"/>
              </a:rPr>
              <a:t> </a:t>
            </a:r>
            <a:r>
              <a:rPr sz="2000" dirty="0">
                <a:latin typeface="Times New Roman"/>
                <a:cs typeface="Times New Roman"/>
              </a:rPr>
              <a:t>y</a:t>
            </a:r>
            <a:r>
              <a:rPr sz="2000" spc="-10" dirty="0">
                <a:latin typeface="Times New Roman"/>
                <a:cs typeface="Times New Roman"/>
              </a:rPr>
              <a:t> </a:t>
            </a:r>
            <a:r>
              <a:rPr sz="2000" spc="5" dirty="0">
                <a:latin typeface="Times New Roman"/>
                <a:cs typeface="Times New Roman"/>
              </a:rPr>
              <a:t>not</a:t>
            </a:r>
            <a:r>
              <a:rPr sz="2000" spc="-30" dirty="0">
                <a:latin typeface="Times New Roman"/>
                <a:cs typeface="Times New Roman"/>
              </a:rPr>
              <a:t> </a:t>
            </a:r>
            <a:r>
              <a:rPr sz="2000" spc="5" dirty="0">
                <a:latin typeface="Times New Roman"/>
                <a:cs typeface="Times New Roman"/>
              </a:rPr>
              <a:t>known</a:t>
            </a:r>
            <a:r>
              <a:rPr sz="2000" spc="-30" dirty="0">
                <a:latin typeface="Times New Roman"/>
                <a:cs typeface="Times New Roman"/>
              </a:rPr>
              <a:t> </a:t>
            </a:r>
            <a:r>
              <a:rPr sz="2000" dirty="0">
                <a:latin typeface="Times New Roman"/>
                <a:cs typeface="Times New Roman"/>
              </a:rPr>
              <a:t>here</a:t>
            </a:r>
          </a:p>
          <a:p>
            <a:pPr marL="330835">
              <a:lnSpc>
                <a:spcPct val="100000"/>
              </a:lnSpc>
            </a:pPr>
            <a:r>
              <a:rPr sz="2000" spc="-5" dirty="0">
                <a:latin typeface="Times New Roman"/>
                <a:cs typeface="Times New Roman"/>
              </a:rPr>
              <a:t>//</a:t>
            </a:r>
            <a:r>
              <a:rPr sz="2000" spc="-25" dirty="0">
                <a:latin typeface="Times New Roman"/>
                <a:cs typeface="Times New Roman"/>
              </a:rPr>
              <a:t> </a:t>
            </a:r>
            <a:r>
              <a:rPr sz="2000" dirty="0">
                <a:latin typeface="Times New Roman"/>
                <a:cs typeface="Times New Roman"/>
              </a:rPr>
              <a:t>x</a:t>
            </a:r>
            <a:r>
              <a:rPr sz="2000" spc="-10" dirty="0">
                <a:latin typeface="Times New Roman"/>
                <a:cs typeface="Times New Roman"/>
              </a:rPr>
              <a:t> </a:t>
            </a:r>
            <a:r>
              <a:rPr sz="2000" spc="-5" dirty="0">
                <a:latin typeface="Times New Roman"/>
                <a:cs typeface="Times New Roman"/>
              </a:rPr>
              <a:t>is</a:t>
            </a:r>
            <a:r>
              <a:rPr sz="2000" spc="-15" dirty="0">
                <a:latin typeface="Times New Roman"/>
                <a:cs typeface="Times New Roman"/>
              </a:rPr>
              <a:t> </a:t>
            </a:r>
            <a:r>
              <a:rPr sz="2000" spc="-5" dirty="0">
                <a:latin typeface="Times New Roman"/>
                <a:cs typeface="Times New Roman"/>
              </a:rPr>
              <a:t>still</a:t>
            </a:r>
            <a:r>
              <a:rPr sz="2000" spc="-25" dirty="0">
                <a:latin typeface="Times New Roman"/>
                <a:cs typeface="Times New Roman"/>
              </a:rPr>
              <a:t> </a:t>
            </a:r>
            <a:r>
              <a:rPr sz="2000" spc="5" dirty="0">
                <a:latin typeface="Times New Roman"/>
                <a:cs typeface="Times New Roman"/>
              </a:rPr>
              <a:t>known</a:t>
            </a:r>
            <a:r>
              <a:rPr sz="2000" spc="-35" dirty="0">
                <a:latin typeface="Times New Roman"/>
                <a:cs typeface="Times New Roman"/>
              </a:rPr>
              <a:t> </a:t>
            </a:r>
            <a:r>
              <a:rPr sz="2000" dirty="0">
                <a:latin typeface="Times New Roman"/>
                <a:cs typeface="Times New Roman"/>
              </a:rPr>
              <a:t>here.</a:t>
            </a:r>
          </a:p>
          <a:p>
            <a:pPr marL="266700">
              <a:lnSpc>
                <a:spcPct val="100000"/>
              </a:lnSpc>
            </a:pPr>
            <a:r>
              <a:rPr sz="2000" spc="-5" dirty="0">
                <a:latin typeface="Times New Roman"/>
                <a:cs typeface="Times New Roman"/>
              </a:rPr>
              <a:t>System.out.println("x</a:t>
            </a:r>
            <a:r>
              <a:rPr sz="2000" spc="-50" dirty="0">
                <a:latin typeface="Times New Roman"/>
                <a:cs typeface="Times New Roman"/>
              </a:rPr>
              <a:t> </a:t>
            </a:r>
            <a:r>
              <a:rPr sz="2000" spc="-5" dirty="0">
                <a:latin typeface="Times New Roman"/>
                <a:cs typeface="Times New Roman"/>
              </a:rPr>
              <a:t>is</a:t>
            </a:r>
            <a:r>
              <a:rPr sz="2000" spc="-1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x);</a:t>
            </a:r>
          </a:p>
          <a:p>
            <a:pPr marL="12700">
              <a:lnSpc>
                <a:spcPct val="100000"/>
              </a:lnSpc>
            </a:pPr>
            <a:r>
              <a:rPr sz="2000" dirty="0">
                <a:latin typeface="Times New Roman"/>
                <a:cs typeface="Times New Roman"/>
              </a:rPr>
              <a:t>}</a:t>
            </a:r>
          </a:p>
        </p:txBody>
      </p:sp>
      <p:sp>
        <p:nvSpPr>
          <p:cNvPr id="6" name="object 6"/>
          <p:cNvSpPr txBox="1"/>
          <p:nvPr/>
        </p:nvSpPr>
        <p:spPr>
          <a:xfrm>
            <a:off x="1119936" y="6121400"/>
            <a:ext cx="14795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9" name="object 9"/>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44</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936615" cy="696595"/>
          </a:xfrm>
          <a:prstGeom prst="rect">
            <a:avLst/>
          </a:prstGeom>
        </p:spPr>
        <p:txBody>
          <a:bodyPr vert="horz" wrap="square" lIns="0" tIns="13335" rIns="0" bIns="0" rtlCol="0">
            <a:spAutoFit/>
          </a:bodyPr>
          <a:lstStyle/>
          <a:p>
            <a:pPr marL="12700">
              <a:lnSpc>
                <a:spcPct val="100000"/>
              </a:lnSpc>
              <a:spcBef>
                <a:spcPts val="105"/>
              </a:spcBef>
            </a:pPr>
            <a:r>
              <a:rPr sz="4400" spc="-55" dirty="0"/>
              <a:t>Variables </a:t>
            </a:r>
            <a:r>
              <a:rPr sz="3200" dirty="0"/>
              <a:t>…</a:t>
            </a:r>
            <a:r>
              <a:rPr sz="3200" spc="-10" dirty="0"/>
              <a:t> </a:t>
            </a:r>
            <a:r>
              <a:rPr sz="3200" dirty="0"/>
              <a:t>Scope</a:t>
            </a:r>
            <a:r>
              <a:rPr sz="3200" spc="-45" dirty="0"/>
              <a:t> </a:t>
            </a:r>
            <a:r>
              <a:rPr sz="3200" spc="5" dirty="0"/>
              <a:t>and</a:t>
            </a:r>
            <a:r>
              <a:rPr sz="3200" spc="-25" dirty="0"/>
              <a:t> </a:t>
            </a:r>
            <a:r>
              <a:rPr sz="3200" dirty="0"/>
              <a:t>Lifetime</a:t>
            </a:r>
            <a:endParaRPr sz="3200"/>
          </a:p>
        </p:txBody>
      </p:sp>
      <p:sp>
        <p:nvSpPr>
          <p:cNvPr id="3" name="object 3"/>
          <p:cNvSpPr txBox="1"/>
          <p:nvPr/>
        </p:nvSpPr>
        <p:spPr>
          <a:xfrm>
            <a:off x="197667" y="1675171"/>
            <a:ext cx="8569325" cy="3915816"/>
          </a:xfrm>
          <a:prstGeom prst="rect">
            <a:avLst/>
          </a:prstGeom>
        </p:spPr>
        <p:txBody>
          <a:bodyPr vert="horz" wrap="square" lIns="0" tIns="12065" rIns="0" bIns="0" rtlCol="0">
            <a:spAutoFit/>
          </a:bodyPr>
          <a:lstStyle/>
          <a:p>
            <a:pPr marL="355600" marR="5715" indent="-342900" algn="just">
              <a:lnSpc>
                <a:spcPct val="150000"/>
              </a:lnSpc>
              <a:spcBef>
                <a:spcPts val="95"/>
              </a:spcBef>
              <a:buFont typeface="Arial MT"/>
              <a:buChar char="•"/>
              <a:tabLst>
                <a:tab pos="355600" algn="l"/>
              </a:tabLst>
            </a:pPr>
            <a:r>
              <a:rPr sz="2800" spc="-40" dirty="0">
                <a:latin typeface="Times New Roman"/>
                <a:cs typeface="Times New Roman"/>
              </a:rPr>
              <a:t>Variables</a:t>
            </a:r>
            <a:r>
              <a:rPr sz="2800" spc="-35" dirty="0">
                <a:latin typeface="Times New Roman"/>
                <a:cs typeface="Times New Roman"/>
              </a:rPr>
              <a:t> </a:t>
            </a:r>
            <a:r>
              <a:rPr sz="2800" spc="-5" dirty="0">
                <a:latin typeface="Times New Roman"/>
                <a:cs typeface="Times New Roman"/>
              </a:rPr>
              <a:t>are created when their scope is entered, and </a:t>
            </a:r>
            <a:r>
              <a:rPr sz="2800" dirty="0">
                <a:latin typeface="Times New Roman"/>
                <a:cs typeface="Times New Roman"/>
              </a:rPr>
              <a:t> </a:t>
            </a:r>
            <a:r>
              <a:rPr sz="2800" spc="-5" dirty="0">
                <a:latin typeface="Times New Roman"/>
                <a:cs typeface="Times New Roman"/>
              </a:rPr>
              <a:t>destroyed</a:t>
            </a:r>
            <a:r>
              <a:rPr sz="2800" spc="665" dirty="0">
                <a:latin typeface="Times New Roman"/>
                <a:cs typeface="Times New Roman"/>
              </a:rPr>
              <a:t> </a:t>
            </a:r>
            <a:r>
              <a:rPr sz="2800" spc="-5" dirty="0">
                <a:latin typeface="Times New Roman"/>
                <a:cs typeface="Times New Roman"/>
              </a:rPr>
              <a:t>when</a:t>
            </a:r>
            <a:r>
              <a:rPr sz="2800" spc="680" dirty="0">
                <a:latin typeface="Times New Roman"/>
                <a:cs typeface="Times New Roman"/>
              </a:rPr>
              <a:t> </a:t>
            </a:r>
            <a:r>
              <a:rPr sz="2800" spc="-5" dirty="0">
                <a:latin typeface="Times New Roman"/>
                <a:cs typeface="Times New Roman"/>
              </a:rPr>
              <a:t>their</a:t>
            </a:r>
            <a:r>
              <a:rPr sz="2800" spc="680" dirty="0">
                <a:latin typeface="Times New Roman"/>
                <a:cs typeface="Times New Roman"/>
              </a:rPr>
              <a:t> </a:t>
            </a:r>
            <a:r>
              <a:rPr sz="2800" spc="-5" dirty="0">
                <a:latin typeface="Times New Roman"/>
                <a:cs typeface="Times New Roman"/>
              </a:rPr>
              <a:t>scope</a:t>
            </a:r>
            <a:r>
              <a:rPr sz="2800" spc="670" dirty="0">
                <a:latin typeface="Times New Roman"/>
                <a:cs typeface="Times New Roman"/>
              </a:rPr>
              <a:t> </a:t>
            </a:r>
            <a:r>
              <a:rPr sz="2800" spc="-10" dirty="0">
                <a:latin typeface="Times New Roman"/>
                <a:cs typeface="Times New Roman"/>
              </a:rPr>
              <a:t>is</a:t>
            </a:r>
            <a:r>
              <a:rPr sz="2800" spc="665" dirty="0">
                <a:latin typeface="Times New Roman"/>
                <a:cs typeface="Times New Roman"/>
              </a:rPr>
              <a:t> </a:t>
            </a:r>
            <a:r>
              <a:rPr sz="2800" spc="-5" dirty="0">
                <a:latin typeface="Times New Roman"/>
                <a:cs typeface="Times New Roman"/>
              </a:rPr>
              <a:t>left.</a:t>
            </a:r>
            <a:r>
              <a:rPr sz="2800" spc="670" dirty="0">
                <a:latin typeface="Times New Roman"/>
                <a:cs typeface="Times New Roman"/>
              </a:rPr>
              <a:t> </a:t>
            </a:r>
            <a:endParaRPr lang="en-US" sz="2800" spc="670" dirty="0" smtClean="0">
              <a:latin typeface="Times New Roman"/>
              <a:cs typeface="Times New Roman"/>
            </a:endParaRPr>
          </a:p>
          <a:p>
            <a:pPr marL="12700" marR="5715" algn="just">
              <a:lnSpc>
                <a:spcPct val="150000"/>
              </a:lnSpc>
              <a:spcBef>
                <a:spcPts val="95"/>
              </a:spcBef>
              <a:tabLst>
                <a:tab pos="355600" algn="l"/>
              </a:tabLst>
            </a:pPr>
            <a:endParaRPr lang="en-US" sz="2800" spc="670" dirty="0" smtClean="0">
              <a:latin typeface="Times New Roman"/>
              <a:cs typeface="Times New Roman"/>
            </a:endParaRPr>
          </a:p>
          <a:p>
            <a:pPr marL="355600" marR="5715" indent="-342900" algn="just">
              <a:lnSpc>
                <a:spcPct val="150000"/>
              </a:lnSpc>
              <a:spcBef>
                <a:spcPts val="95"/>
              </a:spcBef>
              <a:buFont typeface="Arial MT"/>
              <a:buChar char="•"/>
              <a:tabLst>
                <a:tab pos="355600" algn="l"/>
              </a:tabLst>
            </a:pPr>
            <a:r>
              <a:rPr sz="2800" spc="-5" dirty="0" smtClean="0">
                <a:latin typeface="Times New Roman"/>
                <a:cs typeface="Times New Roman"/>
              </a:rPr>
              <a:t>A</a:t>
            </a:r>
            <a:r>
              <a:rPr sz="2800" dirty="0" smtClean="0">
                <a:latin typeface="Times New Roman"/>
                <a:cs typeface="Times New Roman"/>
              </a:rPr>
              <a:t> </a:t>
            </a:r>
            <a:r>
              <a:rPr sz="2800" spc="-5" dirty="0">
                <a:latin typeface="Times New Roman"/>
                <a:cs typeface="Times New Roman"/>
              </a:rPr>
              <a:t>variable</a:t>
            </a:r>
            <a:r>
              <a:rPr sz="2800" dirty="0">
                <a:latin typeface="Times New Roman"/>
                <a:cs typeface="Times New Roman"/>
              </a:rPr>
              <a:t> </a:t>
            </a:r>
            <a:r>
              <a:rPr sz="2800" spc="-5" dirty="0">
                <a:latin typeface="Times New Roman"/>
                <a:cs typeface="Times New Roman"/>
              </a:rPr>
              <a:t>declared</a:t>
            </a:r>
            <a:r>
              <a:rPr sz="2800" dirty="0">
                <a:latin typeface="Times New Roman"/>
                <a:cs typeface="Times New Roman"/>
              </a:rPr>
              <a:t> within</a:t>
            </a:r>
            <a:r>
              <a:rPr sz="2800" spc="5" dirty="0">
                <a:latin typeface="Times New Roman"/>
                <a:cs typeface="Times New Roman"/>
              </a:rPr>
              <a:t> </a:t>
            </a:r>
            <a:r>
              <a:rPr sz="2800" spc="-5" dirty="0">
                <a:latin typeface="Times New Roman"/>
                <a:cs typeface="Times New Roman"/>
              </a:rPr>
              <a:t>a</a:t>
            </a:r>
            <a:r>
              <a:rPr sz="2800" dirty="0">
                <a:latin typeface="Times New Roman"/>
                <a:cs typeface="Times New Roman"/>
              </a:rPr>
              <a:t> </a:t>
            </a:r>
            <a:r>
              <a:rPr sz="2800" spc="-5" dirty="0">
                <a:latin typeface="Times New Roman"/>
                <a:cs typeface="Times New Roman"/>
              </a:rPr>
              <a:t>block</a:t>
            </a:r>
            <a:r>
              <a:rPr sz="2800" dirty="0">
                <a:latin typeface="Times New Roman"/>
                <a:cs typeface="Times New Roman"/>
              </a:rPr>
              <a:t> </a:t>
            </a:r>
            <a:r>
              <a:rPr sz="2800" spc="-5" dirty="0">
                <a:latin typeface="Times New Roman"/>
                <a:cs typeface="Times New Roman"/>
              </a:rPr>
              <a:t>will</a:t>
            </a:r>
            <a:r>
              <a:rPr sz="2800" dirty="0">
                <a:latin typeface="Times New Roman"/>
                <a:cs typeface="Times New Roman"/>
              </a:rPr>
              <a:t> </a:t>
            </a:r>
            <a:r>
              <a:rPr sz="2800" spc="-5" dirty="0">
                <a:latin typeface="Times New Roman"/>
                <a:cs typeface="Times New Roman"/>
              </a:rPr>
              <a:t>lose</a:t>
            </a:r>
            <a:r>
              <a:rPr sz="2800" spc="690" dirty="0">
                <a:latin typeface="Times New Roman"/>
                <a:cs typeface="Times New Roman"/>
              </a:rPr>
              <a:t> </a:t>
            </a:r>
            <a:r>
              <a:rPr sz="2800" spc="-5" dirty="0">
                <a:latin typeface="Times New Roman"/>
                <a:cs typeface="Times New Roman"/>
              </a:rPr>
              <a:t>its </a:t>
            </a:r>
            <a:r>
              <a:rPr sz="2800" spc="-685" dirty="0">
                <a:latin typeface="Times New Roman"/>
                <a:cs typeface="Times New Roman"/>
              </a:rPr>
              <a:t> </a:t>
            </a:r>
            <a:r>
              <a:rPr sz="2800" spc="-5" dirty="0">
                <a:latin typeface="Times New Roman"/>
                <a:cs typeface="Times New Roman"/>
              </a:rPr>
              <a:t>value</a:t>
            </a:r>
            <a:r>
              <a:rPr sz="2800" dirty="0">
                <a:latin typeface="Times New Roman"/>
                <a:cs typeface="Times New Roman"/>
              </a:rPr>
              <a:t> </a:t>
            </a:r>
            <a:r>
              <a:rPr sz="2800" spc="-5" dirty="0">
                <a:latin typeface="Times New Roman"/>
                <a:cs typeface="Times New Roman"/>
              </a:rPr>
              <a:t>when</a:t>
            </a:r>
            <a:r>
              <a:rPr sz="2800" dirty="0">
                <a:latin typeface="Times New Roman"/>
                <a:cs typeface="Times New Roman"/>
              </a:rPr>
              <a:t> the</a:t>
            </a:r>
            <a:r>
              <a:rPr sz="2800" spc="5" dirty="0">
                <a:latin typeface="Times New Roman"/>
                <a:cs typeface="Times New Roman"/>
              </a:rPr>
              <a:t> </a:t>
            </a:r>
            <a:r>
              <a:rPr sz="2800" spc="-5" dirty="0">
                <a:latin typeface="Times New Roman"/>
                <a:cs typeface="Times New Roman"/>
              </a:rPr>
              <a:t>block</a:t>
            </a:r>
            <a:r>
              <a:rPr sz="2800" dirty="0">
                <a:latin typeface="Times New Roman"/>
                <a:cs typeface="Times New Roman"/>
              </a:rPr>
              <a:t> </a:t>
            </a:r>
            <a:r>
              <a:rPr sz="2800" spc="-5" dirty="0">
                <a:latin typeface="Times New Roman"/>
                <a:cs typeface="Times New Roman"/>
              </a:rPr>
              <a:t>is</a:t>
            </a:r>
            <a:r>
              <a:rPr sz="2800" dirty="0">
                <a:latin typeface="Times New Roman"/>
                <a:cs typeface="Times New Roman"/>
              </a:rPr>
              <a:t> </a:t>
            </a:r>
            <a:r>
              <a:rPr sz="2800" spc="-5" dirty="0">
                <a:latin typeface="Times New Roman"/>
                <a:cs typeface="Times New Roman"/>
              </a:rPr>
              <a:t>left.</a:t>
            </a:r>
            <a:r>
              <a:rPr sz="2800" dirty="0">
                <a:latin typeface="Times New Roman"/>
                <a:cs typeface="Times New Roman"/>
              </a:rPr>
              <a:t> </a:t>
            </a:r>
            <a:r>
              <a:rPr sz="2800" spc="-5" dirty="0">
                <a:latin typeface="Times New Roman"/>
                <a:cs typeface="Times New Roman"/>
              </a:rPr>
              <a:t>Thus,</a:t>
            </a:r>
            <a:r>
              <a:rPr sz="2800" dirty="0">
                <a:latin typeface="Times New Roman"/>
                <a:cs typeface="Times New Roman"/>
              </a:rPr>
              <a:t> the</a:t>
            </a:r>
            <a:r>
              <a:rPr sz="2800" spc="5" dirty="0">
                <a:latin typeface="Times New Roman"/>
                <a:cs typeface="Times New Roman"/>
              </a:rPr>
              <a:t> </a:t>
            </a:r>
            <a:r>
              <a:rPr sz="2800" spc="-5" dirty="0">
                <a:latin typeface="Times New Roman"/>
                <a:cs typeface="Times New Roman"/>
              </a:rPr>
              <a:t>lifetime</a:t>
            </a:r>
            <a:r>
              <a:rPr sz="2800" dirty="0">
                <a:latin typeface="Times New Roman"/>
                <a:cs typeface="Times New Roman"/>
              </a:rPr>
              <a:t> of</a:t>
            </a:r>
            <a:r>
              <a:rPr sz="2800" spc="5" dirty="0">
                <a:latin typeface="Times New Roman"/>
                <a:cs typeface="Times New Roman"/>
              </a:rPr>
              <a:t> </a:t>
            </a:r>
            <a:r>
              <a:rPr sz="2800" spc="-5" dirty="0">
                <a:latin typeface="Times New Roman"/>
                <a:cs typeface="Times New Roman"/>
              </a:rPr>
              <a:t>a </a:t>
            </a:r>
            <a:r>
              <a:rPr sz="2800" spc="-685" dirty="0">
                <a:latin typeface="Times New Roman"/>
                <a:cs typeface="Times New Roman"/>
              </a:rPr>
              <a:t> </a:t>
            </a:r>
            <a:r>
              <a:rPr sz="2800" spc="-5" dirty="0">
                <a:latin typeface="Times New Roman"/>
                <a:cs typeface="Times New Roman"/>
              </a:rPr>
              <a:t>variable</a:t>
            </a:r>
            <a:r>
              <a:rPr sz="2800" spc="-15" dirty="0">
                <a:latin typeface="Times New Roman"/>
                <a:cs typeface="Times New Roman"/>
              </a:rPr>
              <a:t> </a:t>
            </a:r>
            <a:r>
              <a:rPr sz="2800" spc="-5" dirty="0">
                <a:latin typeface="Times New Roman"/>
                <a:cs typeface="Times New Roman"/>
              </a:rPr>
              <a:t>is</a:t>
            </a:r>
            <a:r>
              <a:rPr sz="2800" dirty="0">
                <a:latin typeface="Times New Roman"/>
                <a:cs typeface="Times New Roman"/>
              </a:rPr>
              <a:t> </a:t>
            </a:r>
            <a:r>
              <a:rPr sz="2800" spc="-5" dirty="0">
                <a:latin typeface="Times New Roman"/>
                <a:cs typeface="Times New Roman"/>
              </a:rPr>
              <a:t>confined</a:t>
            </a:r>
            <a:r>
              <a:rPr sz="2800" spc="-10" dirty="0">
                <a:latin typeface="Times New Roman"/>
                <a:cs typeface="Times New Roman"/>
              </a:rPr>
              <a:t> </a:t>
            </a:r>
            <a:r>
              <a:rPr sz="2800" spc="-5" dirty="0">
                <a:latin typeface="Times New Roman"/>
                <a:cs typeface="Times New Roman"/>
              </a:rPr>
              <a:t>to</a:t>
            </a:r>
            <a:r>
              <a:rPr sz="2800" spc="-10" dirty="0">
                <a:latin typeface="Times New Roman"/>
                <a:cs typeface="Times New Roman"/>
              </a:rPr>
              <a:t> </a:t>
            </a:r>
            <a:r>
              <a:rPr sz="2800" spc="-5" dirty="0">
                <a:latin typeface="Times New Roman"/>
                <a:cs typeface="Times New Roman"/>
              </a:rPr>
              <a:t>its</a:t>
            </a:r>
            <a:r>
              <a:rPr sz="2800" dirty="0">
                <a:latin typeface="Times New Roman"/>
                <a:cs typeface="Times New Roman"/>
              </a:rPr>
              <a:t> </a:t>
            </a:r>
            <a:r>
              <a:rPr sz="2800" spc="-5" dirty="0">
                <a:latin typeface="Times New Roman"/>
                <a:cs typeface="Times New Roman"/>
              </a:rPr>
              <a:t>scope</a:t>
            </a:r>
            <a:r>
              <a:rPr sz="2800" spc="-5" dirty="0" smtClean="0">
                <a:latin typeface="Times New Roman"/>
                <a:cs typeface="Times New Roman"/>
              </a:rPr>
              <a:t>.</a:t>
            </a:r>
            <a:endParaRPr sz="2800" dirty="0">
              <a:latin typeface="Times New Roman"/>
              <a:cs typeface="Times New Roman"/>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45</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80160"/>
            <a:ext cx="533400" cy="228600"/>
          </a:xfrm>
          <a:custGeom>
            <a:avLst/>
            <a:gdLst/>
            <a:ahLst/>
            <a:cxnLst/>
            <a:rect l="l" t="t" r="r" b="b"/>
            <a:pathLst>
              <a:path w="533400" h="228600">
                <a:moveTo>
                  <a:pt x="533400" y="0"/>
                </a:moveTo>
                <a:lnTo>
                  <a:pt x="0" y="0"/>
                </a:lnTo>
                <a:lnTo>
                  <a:pt x="0" y="228600"/>
                </a:lnTo>
                <a:lnTo>
                  <a:pt x="533400" y="228600"/>
                </a:lnTo>
                <a:lnTo>
                  <a:pt x="533400" y="0"/>
                </a:lnTo>
                <a:close/>
              </a:path>
            </a:pathLst>
          </a:custGeom>
          <a:solidFill>
            <a:srgbClr val="DD8046"/>
          </a:solidFill>
        </p:spPr>
        <p:txBody>
          <a:bodyPr wrap="square" lIns="0" tIns="0" rIns="0" bIns="0" rtlCol="0"/>
          <a:lstStyle/>
          <a:p>
            <a:endParaRPr/>
          </a:p>
        </p:txBody>
      </p:sp>
      <p:sp>
        <p:nvSpPr>
          <p:cNvPr id="3" name="object 3"/>
          <p:cNvSpPr/>
          <p:nvPr/>
        </p:nvSpPr>
        <p:spPr>
          <a:xfrm>
            <a:off x="591312" y="1280160"/>
            <a:ext cx="8552815" cy="228600"/>
          </a:xfrm>
          <a:custGeom>
            <a:avLst/>
            <a:gdLst/>
            <a:ahLst/>
            <a:cxnLst/>
            <a:rect l="l" t="t" r="r" b="b"/>
            <a:pathLst>
              <a:path w="8552815" h="228600">
                <a:moveTo>
                  <a:pt x="8552688" y="0"/>
                </a:moveTo>
                <a:lnTo>
                  <a:pt x="0" y="0"/>
                </a:lnTo>
                <a:lnTo>
                  <a:pt x="0" y="228600"/>
                </a:lnTo>
                <a:lnTo>
                  <a:pt x="8552688" y="228600"/>
                </a:lnTo>
                <a:lnTo>
                  <a:pt x="8552688" y="0"/>
                </a:lnTo>
                <a:close/>
              </a:path>
            </a:pathLst>
          </a:custGeom>
          <a:solidFill>
            <a:srgbClr val="93B6D2"/>
          </a:solidFill>
        </p:spPr>
        <p:txBody>
          <a:bodyPr wrap="square" lIns="0" tIns="0" rIns="0" bIns="0" rtlCol="0"/>
          <a:lstStyle/>
          <a:p>
            <a:endParaRPr/>
          </a:p>
        </p:txBody>
      </p:sp>
      <p:sp>
        <p:nvSpPr>
          <p:cNvPr id="4" name="object 4"/>
          <p:cNvSpPr txBox="1"/>
          <p:nvPr/>
        </p:nvSpPr>
        <p:spPr>
          <a:xfrm>
            <a:off x="691387" y="356362"/>
            <a:ext cx="5936615" cy="696595"/>
          </a:xfrm>
          <a:prstGeom prst="rect">
            <a:avLst/>
          </a:prstGeom>
        </p:spPr>
        <p:txBody>
          <a:bodyPr vert="horz" wrap="square" lIns="0" tIns="13335" rIns="0" bIns="0" rtlCol="0">
            <a:spAutoFit/>
          </a:bodyPr>
          <a:lstStyle/>
          <a:p>
            <a:pPr marL="12700">
              <a:lnSpc>
                <a:spcPct val="100000"/>
              </a:lnSpc>
              <a:spcBef>
                <a:spcPts val="105"/>
              </a:spcBef>
            </a:pPr>
            <a:r>
              <a:rPr sz="4400" spc="-55" dirty="0">
                <a:solidFill>
                  <a:srgbClr val="775F54"/>
                </a:solidFill>
                <a:latin typeface="Times New Roman"/>
                <a:cs typeface="Times New Roman"/>
              </a:rPr>
              <a:t>Variables </a:t>
            </a:r>
            <a:r>
              <a:rPr sz="3200" dirty="0">
                <a:solidFill>
                  <a:srgbClr val="775F54"/>
                </a:solidFill>
                <a:latin typeface="Times New Roman"/>
                <a:cs typeface="Times New Roman"/>
              </a:rPr>
              <a:t>…</a:t>
            </a:r>
            <a:r>
              <a:rPr sz="3200" spc="-10" dirty="0">
                <a:solidFill>
                  <a:srgbClr val="775F54"/>
                </a:solidFill>
                <a:latin typeface="Times New Roman"/>
                <a:cs typeface="Times New Roman"/>
              </a:rPr>
              <a:t> </a:t>
            </a:r>
            <a:r>
              <a:rPr sz="3200" dirty="0">
                <a:solidFill>
                  <a:srgbClr val="775F54"/>
                </a:solidFill>
                <a:latin typeface="Times New Roman"/>
                <a:cs typeface="Times New Roman"/>
              </a:rPr>
              <a:t>Scope</a:t>
            </a:r>
            <a:r>
              <a:rPr sz="3200" spc="-45" dirty="0">
                <a:solidFill>
                  <a:srgbClr val="775F54"/>
                </a:solidFill>
                <a:latin typeface="Times New Roman"/>
                <a:cs typeface="Times New Roman"/>
              </a:rPr>
              <a:t> </a:t>
            </a:r>
            <a:r>
              <a:rPr sz="3200" spc="5" dirty="0">
                <a:solidFill>
                  <a:srgbClr val="775F54"/>
                </a:solidFill>
                <a:latin typeface="Times New Roman"/>
                <a:cs typeface="Times New Roman"/>
              </a:rPr>
              <a:t>and</a:t>
            </a:r>
            <a:r>
              <a:rPr sz="3200" spc="-25" dirty="0">
                <a:solidFill>
                  <a:srgbClr val="775F54"/>
                </a:solidFill>
                <a:latin typeface="Times New Roman"/>
                <a:cs typeface="Times New Roman"/>
              </a:rPr>
              <a:t> </a:t>
            </a:r>
            <a:r>
              <a:rPr sz="3200" dirty="0">
                <a:solidFill>
                  <a:srgbClr val="775F54"/>
                </a:solidFill>
                <a:latin typeface="Times New Roman"/>
                <a:cs typeface="Times New Roman"/>
              </a:rPr>
              <a:t>Lifetime</a:t>
            </a:r>
            <a:endParaRPr sz="3200">
              <a:latin typeface="Times New Roman"/>
              <a:cs typeface="Times New Roman"/>
            </a:endParaRPr>
          </a:p>
        </p:txBody>
      </p:sp>
      <p:pic>
        <p:nvPicPr>
          <p:cNvPr id="6" name="object 6"/>
          <p:cNvPicPr/>
          <p:nvPr/>
        </p:nvPicPr>
        <p:blipFill rotWithShape="1">
          <a:blip r:embed="rId2" cstate="print"/>
          <a:srcRect t="1" b="38910"/>
          <a:stretch/>
        </p:blipFill>
        <p:spPr>
          <a:xfrm>
            <a:off x="533400" y="1722108"/>
            <a:ext cx="7967847" cy="4373892"/>
          </a:xfrm>
          <a:prstGeom prst="rect">
            <a:avLst/>
          </a:prstGeom>
        </p:spPr>
      </p:pic>
      <p:sp>
        <p:nvSpPr>
          <p:cNvPr id="9" name="object 9"/>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46</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7773034" cy="696595"/>
          </a:xfrm>
          <a:prstGeom prst="rect">
            <a:avLst/>
          </a:prstGeom>
        </p:spPr>
        <p:txBody>
          <a:bodyPr vert="horz" wrap="square" lIns="0" tIns="13335" rIns="0" bIns="0" rtlCol="0">
            <a:spAutoFit/>
          </a:bodyPr>
          <a:lstStyle/>
          <a:p>
            <a:pPr marL="12700">
              <a:lnSpc>
                <a:spcPct val="100000"/>
              </a:lnSpc>
              <a:spcBef>
                <a:spcPts val="105"/>
              </a:spcBef>
            </a:pPr>
            <a:r>
              <a:rPr sz="4400" dirty="0"/>
              <a:t>Program</a:t>
            </a:r>
            <a:r>
              <a:rPr sz="4400" spc="-35" dirty="0"/>
              <a:t> </a:t>
            </a:r>
            <a:r>
              <a:rPr sz="4400" dirty="0"/>
              <a:t>to</a:t>
            </a:r>
            <a:r>
              <a:rPr sz="4400" spc="-5" dirty="0"/>
              <a:t> </a:t>
            </a:r>
            <a:r>
              <a:rPr sz="4400" dirty="0"/>
              <a:t>compute</a:t>
            </a:r>
            <a:r>
              <a:rPr sz="4400" spc="-35" dirty="0"/>
              <a:t> </a:t>
            </a:r>
            <a:r>
              <a:rPr sz="4400" dirty="0"/>
              <a:t>area</a:t>
            </a:r>
            <a:r>
              <a:rPr sz="4400" spc="-5" dirty="0"/>
              <a:t> </a:t>
            </a:r>
            <a:r>
              <a:rPr sz="4400" dirty="0"/>
              <a:t>of</a:t>
            </a:r>
            <a:r>
              <a:rPr sz="4400" spc="-10" dirty="0"/>
              <a:t> </a:t>
            </a:r>
            <a:r>
              <a:rPr sz="4400" dirty="0"/>
              <a:t>Circle</a:t>
            </a:r>
            <a:endParaRPr sz="4400"/>
          </a:p>
        </p:txBody>
      </p:sp>
      <p:sp>
        <p:nvSpPr>
          <p:cNvPr id="3" name="object 3"/>
          <p:cNvSpPr txBox="1"/>
          <p:nvPr/>
        </p:nvSpPr>
        <p:spPr>
          <a:xfrm>
            <a:off x="691387" y="1538681"/>
            <a:ext cx="6908800" cy="4240905"/>
          </a:xfrm>
          <a:prstGeom prst="rect">
            <a:avLst/>
          </a:prstGeom>
        </p:spPr>
        <p:txBody>
          <a:bodyPr vert="horz" wrap="square" lIns="0" tIns="5080" rIns="0" bIns="0" rtlCol="0">
            <a:spAutoFit/>
          </a:bodyPr>
          <a:lstStyle/>
          <a:p>
            <a:pPr marL="12700" marR="2649220">
              <a:lnSpc>
                <a:spcPct val="101899"/>
              </a:lnSpc>
              <a:spcBef>
                <a:spcPts val="40"/>
              </a:spcBef>
            </a:pPr>
            <a:r>
              <a:rPr sz="2700" dirty="0" smtClean="0">
                <a:latin typeface="Times New Roman"/>
                <a:cs typeface="Times New Roman"/>
              </a:rPr>
              <a:t>class</a:t>
            </a:r>
            <a:r>
              <a:rPr sz="2700" spc="-170" dirty="0" smtClean="0">
                <a:latin typeface="Times New Roman"/>
                <a:cs typeface="Times New Roman"/>
              </a:rPr>
              <a:t> </a:t>
            </a:r>
            <a:r>
              <a:rPr sz="2700" dirty="0">
                <a:latin typeface="Times New Roman"/>
                <a:cs typeface="Times New Roman"/>
              </a:rPr>
              <a:t>Area</a:t>
            </a:r>
          </a:p>
          <a:p>
            <a:pPr marL="12700">
              <a:lnSpc>
                <a:spcPct val="100000"/>
              </a:lnSpc>
              <a:spcBef>
                <a:spcPts val="45"/>
              </a:spcBef>
            </a:pPr>
            <a:r>
              <a:rPr sz="2700" dirty="0">
                <a:latin typeface="Times New Roman"/>
                <a:cs typeface="Times New Roman"/>
              </a:rPr>
              <a:t>{</a:t>
            </a:r>
          </a:p>
          <a:p>
            <a:pPr marL="440690">
              <a:lnSpc>
                <a:spcPct val="100000"/>
              </a:lnSpc>
              <a:spcBef>
                <a:spcPts val="50"/>
              </a:spcBef>
            </a:pPr>
            <a:r>
              <a:rPr sz="2700" dirty="0">
                <a:latin typeface="Times New Roman"/>
                <a:cs typeface="Times New Roman"/>
              </a:rPr>
              <a:t>public</a:t>
            </a:r>
            <a:r>
              <a:rPr sz="2700" spc="-30" dirty="0">
                <a:latin typeface="Times New Roman"/>
                <a:cs typeface="Times New Roman"/>
              </a:rPr>
              <a:t> </a:t>
            </a:r>
            <a:r>
              <a:rPr sz="2700" dirty="0">
                <a:latin typeface="Times New Roman"/>
                <a:cs typeface="Times New Roman"/>
              </a:rPr>
              <a:t>static</a:t>
            </a:r>
            <a:r>
              <a:rPr sz="2700" spc="-35" dirty="0">
                <a:latin typeface="Times New Roman"/>
                <a:cs typeface="Times New Roman"/>
              </a:rPr>
              <a:t> </a:t>
            </a:r>
            <a:r>
              <a:rPr sz="2700" dirty="0">
                <a:latin typeface="Times New Roman"/>
                <a:cs typeface="Times New Roman"/>
              </a:rPr>
              <a:t>void</a:t>
            </a:r>
            <a:r>
              <a:rPr sz="2700" spc="-15" dirty="0">
                <a:latin typeface="Times New Roman"/>
                <a:cs typeface="Times New Roman"/>
              </a:rPr>
              <a:t> </a:t>
            </a:r>
            <a:r>
              <a:rPr sz="2700" dirty="0">
                <a:latin typeface="Times New Roman"/>
                <a:cs typeface="Times New Roman"/>
              </a:rPr>
              <a:t>main(String</a:t>
            </a:r>
            <a:r>
              <a:rPr sz="2700" spc="-10" dirty="0">
                <a:latin typeface="Times New Roman"/>
                <a:cs typeface="Times New Roman"/>
              </a:rPr>
              <a:t> </a:t>
            </a:r>
            <a:r>
              <a:rPr sz="2700" spc="-15" dirty="0">
                <a:latin typeface="Times New Roman"/>
                <a:cs typeface="Times New Roman"/>
              </a:rPr>
              <a:t>args[])</a:t>
            </a:r>
            <a:endParaRPr sz="2700" dirty="0">
              <a:latin typeface="Times New Roman"/>
              <a:cs typeface="Times New Roman"/>
            </a:endParaRPr>
          </a:p>
          <a:p>
            <a:pPr marL="440690">
              <a:lnSpc>
                <a:spcPct val="100000"/>
              </a:lnSpc>
              <a:spcBef>
                <a:spcPts val="60"/>
              </a:spcBef>
            </a:pPr>
            <a:r>
              <a:rPr sz="2700" dirty="0">
                <a:latin typeface="Times New Roman"/>
                <a:cs typeface="Times New Roman"/>
              </a:rPr>
              <a:t>{</a:t>
            </a:r>
          </a:p>
          <a:p>
            <a:pPr marL="869315">
              <a:lnSpc>
                <a:spcPct val="100000"/>
              </a:lnSpc>
              <a:spcBef>
                <a:spcPts val="50"/>
              </a:spcBef>
            </a:pPr>
            <a:r>
              <a:rPr sz="2700" dirty="0">
                <a:latin typeface="Times New Roman"/>
                <a:cs typeface="Times New Roman"/>
              </a:rPr>
              <a:t>double</a:t>
            </a:r>
            <a:r>
              <a:rPr sz="2700" spc="-45" dirty="0">
                <a:latin typeface="Times New Roman"/>
                <a:cs typeface="Times New Roman"/>
              </a:rPr>
              <a:t> </a:t>
            </a:r>
            <a:r>
              <a:rPr sz="2700" dirty="0">
                <a:latin typeface="Times New Roman"/>
                <a:cs typeface="Times New Roman"/>
              </a:rPr>
              <a:t>pi,</a:t>
            </a:r>
            <a:r>
              <a:rPr sz="2700" spc="-20" dirty="0">
                <a:latin typeface="Times New Roman"/>
                <a:cs typeface="Times New Roman"/>
              </a:rPr>
              <a:t> </a:t>
            </a:r>
            <a:r>
              <a:rPr sz="2700" spc="-60" dirty="0">
                <a:latin typeface="Times New Roman"/>
                <a:cs typeface="Times New Roman"/>
              </a:rPr>
              <a:t>r,</a:t>
            </a:r>
            <a:r>
              <a:rPr sz="2700" spc="-20" dirty="0">
                <a:latin typeface="Times New Roman"/>
                <a:cs typeface="Times New Roman"/>
              </a:rPr>
              <a:t> </a:t>
            </a:r>
            <a:r>
              <a:rPr sz="2700" dirty="0">
                <a:latin typeface="Times New Roman"/>
                <a:cs typeface="Times New Roman"/>
              </a:rPr>
              <a:t>area;</a:t>
            </a:r>
          </a:p>
          <a:p>
            <a:pPr marL="956310">
              <a:lnSpc>
                <a:spcPct val="100000"/>
              </a:lnSpc>
              <a:spcBef>
                <a:spcPts val="50"/>
              </a:spcBef>
            </a:pPr>
            <a:r>
              <a:rPr sz="2700" dirty="0">
                <a:latin typeface="Times New Roman"/>
                <a:cs typeface="Times New Roman"/>
              </a:rPr>
              <a:t>r</a:t>
            </a:r>
            <a:r>
              <a:rPr sz="2700" spc="-10" dirty="0">
                <a:latin typeface="Times New Roman"/>
                <a:cs typeface="Times New Roman"/>
              </a:rPr>
              <a:t> </a:t>
            </a:r>
            <a:r>
              <a:rPr sz="2700" dirty="0">
                <a:latin typeface="Times New Roman"/>
                <a:cs typeface="Times New Roman"/>
              </a:rPr>
              <a:t>=</a:t>
            </a:r>
            <a:r>
              <a:rPr sz="2700" spc="-10" dirty="0">
                <a:latin typeface="Times New Roman"/>
                <a:cs typeface="Times New Roman"/>
              </a:rPr>
              <a:t> </a:t>
            </a:r>
            <a:r>
              <a:rPr sz="2700" dirty="0">
                <a:latin typeface="Times New Roman"/>
                <a:cs typeface="Times New Roman"/>
              </a:rPr>
              <a:t>10.8;</a:t>
            </a:r>
            <a:r>
              <a:rPr sz="2700" spc="-25" dirty="0">
                <a:latin typeface="Times New Roman"/>
                <a:cs typeface="Times New Roman"/>
              </a:rPr>
              <a:t> </a:t>
            </a:r>
            <a:r>
              <a:rPr sz="2700" dirty="0">
                <a:latin typeface="Times New Roman"/>
                <a:cs typeface="Times New Roman"/>
              </a:rPr>
              <a:t>//</a:t>
            </a:r>
            <a:r>
              <a:rPr sz="2700" spc="-20" dirty="0">
                <a:latin typeface="Times New Roman"/>
                <a:cs typeface="Times New Roman"/>
              </a:rPr>
              <a:t> </a:t>
            </a:r>
            <a:r>
              <a:rPr sz="2700" dirty="0">
                <a:latin typeface="Times New Roman"/>
                <a:cs typeface="Times New Roman"/>
              </a:rPr>
              <a:t>radius</a:t>
            </a:r>
            <a:r>
              <a:rPr sz="2700" spc="-30" dirty="0">
                <a:latin typeface="Times New Roman"/>
                <a:cs typeface="Times New Roman"/>
              </a:rPr>
              <a:t> </a:t>
            </a:r>
            <a:r>
              <a:rPr sz="2700" dirty="0">
                <a:latin typeface="Times New Roman"/>
                <a:cs typeface="Times New Roman"/>
              </a:rPr>
              <a:t>of</a:t>
            </a:r>
            <a:r>
              <a:rPr sz="2700" spc="-10" dirty="0">
                <a:latin typeface="Times New Roman"/>
                <a:cs typeface="Times New Roman"/>
              </a:rPr>
              <a:t> </a:t>
            </a:r>
            <a:r>
              <a:rPr sz="2700" dirty="0">
                <a:latin typeface="Times New Roman"/>
                <a:cs typeface="Times New Roman"/>
              </a:rPr>
              <a:t>circle</a:t>
            </a:r>
          </a:p>
          <a:p>
            <a:pPr marL="956310" marR="1492885">
              <a:lnSpc>
                <a:spcPct val="101499"/>
              </a:lnSpc>
              <a:spcBef>
                <a:spcPts val="15"/>
              </a:spcBef>
            </a:pPr>
            <a:r>
              <a:rPr sz="2700" dirty="0">
                <a:latin typeface="Times New Roman"/>
                <a:cs typeface="Times New Roman"/>
              </a:rPr>
              <a:t>pi</a:t>
            </a:r>
            <a:r>
              <a:rPr sz="2700" spc="-25" dirty="0">
                <a:latin typeface="Times New Roman"/>
                <a:cs typeface="Times New Roman"/>
              </a:rPr>
              <a:t> </a:t>
            </a:r>
            <a:r>
              <a:rPr sz="2700" dirty="0">
                <a:latin typeface="Times New Roman"/>
                <a:cs typeface="Times New Roman"/>
              </a:rPr>
              <a:t>=</a:t>
            </a:r>
            <a:r>
              <a:rPr sz="2700" spc="-15" dirty="0">
                <a:latin typeface="Times New Roman"/>
                <a:cs typeface="Times New Roman"/>
              </a:rPr>
              <a:t> </a:t>
            </a:r>
            <a:r>
              <a:rPr sz="2700" dirty="0">
                <a:latin typeface="Times New Roman"/>
                <a:cs typeface="Times New Roman"/>
              </a:rPr>
              <a:t>3.1416;</a:t>
            </a:r>
            <a:r>
              <a:rPr sz="2700" spc="-40" dirty="0">
                <a:latin typeface="Times New Roman"/>
                <a:cs typeface="Times New Roman"/>
              </a:rPr>
              <a:t> </a:t>
            </a:r>
            <a:r>
              <a:rPr sz="2700" dirty="0">
                <a:latin typeface="Times New Roman"/>
                <a:cs typeface="Times New Roman"/>
              </a:rPr>
              <a:t>//</a:t>
            </a:r>
            <a:r>
              <a:rPr sz="2700" spc="-25" dirty="0">
                <a:latin typeface="Times New Roman"/>
                <a:cs typeface="Times New Roman"/>
              </a:rPr>
              <a:t> </a:t>
            </a:r>
            <a:r>
              <a:rPr sz="2700" dirty="0">
                <a:latin typeface="Times New Roman"/>
                <a:cs typeface="Times New Roman"/>
              </a:rPr>
              <a:t>pi,</a:t>
            </a:r>
            <a:r>
              <a:rPr sz="2700" spc="-10" dirty="0">
                <a:latin typeface="Times New Roman"/>
                <a:cs typeface="Times New Roman"/>
              </a:rPr>
              <a:t> </a:t>
            </a:r>
            <a:r>
              <a:rPr sz="2700" dirty="0">
                <a:latin typeface="Times New Roman"/>
                <a:cs typeface="Times New Roman"/>
              </a:rPr>
              <a:t>approximately </a:t>
            </a:r>
            <a:r>
              <a:rPr sz="2700" spc="-660" dirty="0">
                <a:latin typeface="Times New Roman"/>
                <a:cs typeface="Times New Roman"/>
              </a:rPr>
              <a:t> </a:t>
            </a:r>
            <a:r>
              <a:rPr sz="2700" dirty="0">
                <a:latin typeface="Times New Roman"/>
                <a:cs typeface="Times New Roman"/>
              </a:rPr>
              <a:t>area</a:t>
            </a:r>
            <a:r>
              <a:rPr sz="2700" spc="-10" dirty="0">
                <a:latin typeface="Times New Roman"/>
                <a:cs typeface="Times New Roman"/>
              </a:rPr>
              <a:t> </a:t>
            </a:r>
            <a:r>
              <a:rPr sz="2700" dirty="0">
                <a:latin typeface="Times New Roman"/>
                <a:cs typeface="Times New Roman"/>
              </a:rPr>
              <a:t>=</a:t>
            </a:r>
            <a:r>
              <a:rPr sz="2700" spc="-10" dirty="0">
                <a:latin typeface="Times New Roman"/>
                <a:cs typeface="Times New Roman"/>
              </a:rPr>
              <a:t> </a:t>
            </a:r>
            <a:r>
              <a:rPr sz="2700" dirty="0">
                <a:latin typeface="Times New Roman"/>
                <a:cs typeface="Times New Roman"/>
              </a:rPr>
              <a:t>pi</a:t>
            </a:r>
            <a:r>
              <a:rPr sz="2700" spc="-5" dirty="0">
                <a:latin typeface="Times New Roman"/>
                <a:cs typeface="Times New Roman"/>
              </a:rPr>
              <a:t> </a:t>
            </a:r>
            <a:r>
              <a:rPr sz="2700" dirty="0">
                <a:latin typeface="Times New Roman"/>
                <a:cs typeface="Times New Roman"/>
              </a:rPr>
              <a:t>*</a:t>
            </a:r>
            <a:r>
              <a:rPr sz="2700" spc="-25" dirty="0">
                <a:latin typeface="Times New Roman"/>
                <a:cs typeface="Times New Roman"/>
              </a:rPr>
              <a:t> </a:t>
            </a:r>
            <a:r>
              <a:rPr sz="2700" dirty="0">
                <a:latin typeface="Times New Roman"/>
                <a:cs typeface="Times New Roman"/>
              </a:rPr>
              <a:t>r</a:t>
            </a:r>
            <a:r>
              <a:rPr sz="2700" spc="-5" dirty="0">
                <a:latin typeface="Times New Roman"/>
                <a:cs typeface="Times New Roman"/>
              </a:rPr>
              <a:t> </a:t>
            </a:r>
            <a:r>
              <a:rPr sz="2700" dirty="0">
                <a:latin typeface="Times New Roman"/>
                <a:cs typeface="Times New Roman"/>
              </a:rPr>
              <a:t>*</a:t>
            </a:r>
            <a:r>
              <a:rPr sz="2700" spc="-20" dirty="0">
                <a:latin typeface="Times New Roman"/>
                <a:cs typeface="Times New Roman"/>
              </a:rPr>
              <a:t> </a:t>
            </a:r>
            <a:r>
              <a:rPr sz="2700" dirty="0">
                <a:latin typeface="Times New Roman"/>
                <a:cs typeface="Times New Roman"/>
              </a:rPr>
              <a:t>r;</a:t>
            </a:r>
            <a:r>
              <a:rPr sz="2700" spc="-10" dirty="0">
                <a:latin typeface="Times New Roman"/>
                <a:cs typeface="Times New Roman"/>
              </a:rPr>
              <a:t> </a:t>
            </a:r>
            <a:r>
              <a:rPr sz="2700" dirty="0">
                <a:latin typeface="Times New Roman"/>
                <a:cs typeface="Times New Roman"/>
              </a:rPr>
              <a:t>//</a:t>
            </a:r>
            <a:r>
              <a:rPr sz="2700" spc="-25" dirty="0">
                <a:latin typeface="Times New Roman"/>
                <a:cs typeface="Times New Roman"/>
              </a:rPr>
              <a:t> </a:t>
            </a:r>
            <a:r>
              <a:rPr sz="2700" dirty="0">
                <a:latin typeface="Times New Roman"/>
                <a:cs typeface="Times New Roman"/>
              </a:rPr>
              <a:t>compute</a:t>
            </a:r>
            <a:r>
              <a:rPr sz="2700" spc="-5" dirty="0">
                <a:latin typeface="Times New Roman"/>
                <a:cs typeface="Times New Roman"/>
              </a:rPr>
              <a:t> </a:t>
            </a:r>
            <a:r>
              <a:rPr sz="2700" dirty="0">
                <a:latin typeface="Times New Roman"/>
                <a:cs typeface="Times New Roman"/>
              </a:rPr>
              <a:t>area</a:t>
            </a:r>
          </a:p>
          <a:p>
            <a:pPr marL="956310">
              <a:lnSpc>
                <a:spcPct val="100000"/>
              </a:lnSpc>
              <a:spcBef>
                <a:spcPts val="45"/>
              </a:spcBef>
            </a:pPr>
            <a:r>
              <a:rPr sz="2700" dirty="0">
                <a:latin typeface="Times New Roman"/>
                <a:cs typeface="Times New Roman"/>
              </a:rPr>
              <a:t>System.out.println("Area</a:t>
            </a:r>
            <a:r>
              <a:rPr sz="2700" spc="-45" dirty="0">
                <a:latin typeface="Times New Roman"/>
                <a:cs typeface="Times New Roman"/>
              </a:rPr>
              <a:t> </a:t>
            </a:r>
            <a:r>
              <a:rPr sz="2700" dirty="0">
                <a:latin typeface="Times New Roman"/>
                <a:cs typeface="Times New Roman"/>
              </a:rPr>
              <a:t>of</a:t>
            </a:r>
            <a:r>
              <a:rPr sz="2700" spc="-20" dirty="0">
                <a:latin typeface="Times New Roman"/>
                <a:cs typeface="Times New Roman"/>
              </a:rPr>
              <a:t> </a:t>
            </a:r>
            <a:r>
              <a:rPr sz="2700" dirty="0">
                <a:latin typeface="Times New Roman"/>
                <a:cs typeface="Times New Roman"/>
              </a:rPr>
              <a:t>circle</a:t>
            </a:r>
            <a:r>
              <a:rPr sz="2700" spc="-10" dirty="0">
                <a:latin typeface="Times New Roman"/>
                <a:cs typeface="Times New Roman"/>
              </a:rPr>
              <a:t> </a:t>
            </a:r>
            <a:r>
              <a:rPr sz="2700" dirty="0">
                <a:latin typeface="Times New Roman"/>
                <a:cs typeface="Times New Roman"/>
              </a:rPr>
              <a:t>is</a:t>
            </a:r>
            <a:r>
              <a:rPr sz="2700" spc="-20" dirty="0">
                <a:latin typeface="Times New Roman"/>
                <a:cs typeface="Times New Roman"/>
              </a:rPr>
              <a:t> </a:t>
            </a:r>
            <a:r>
              <a:rPr sz="2700" spc="-5" dirty="0">
                <a:latin typeface="Times New Roman"/>
                <a:cs typeface="Times New Roman"/>
              </a:rPr>
              <a:t>"</a:t>
            </a:r>
            <a:r>
              <a:rPr sz="2700" spc="-10" dirty="0">
                <a:latin typeface="Times New Roman"/>
                <a:cs typeface="Times New Roman"/>
              </a:rPr>
              <a:t> </a:t>
            </a:r>
            <a:r>
              <a:rPr sz="2700" dirty="0">
                <a:latin typeface="Times New Roman"/>
                <a:cs typeface="Times New Roman"/>
              </a:rPr>
              <a:t>+</a:t>
            </a:r>
            <a:r>
              <a:rPr sz="2700" spc="-15" dirty="0">
                <a:latin typeface="Times New Roman"/>
                <a:cs typeface="Times New Roman"/>
              </a:rPr>
              <a:t> </a:t>
            </a:r>
            <a:r>
              <a:rPr sz="2700" dirty="0">
                <a:latin typeface="Times New Roman"/>
                <a:cs typeface="Times New Roman"/>
              </a:rPr>
              <a:t>a);</a:t>
            </a:r>
          </a:p>
          <a:p>
            <a:pPr marL="526415">
              <a:lnSpc>
                <a:spcPct val="100000"/>
              </a:lnSpc>
              <a:spcBef>
                <a:spcPts val="65"/>
              </a:spcBef>
            </a:pPr>
            <a:r>
              <a:rPr sz="2700" dirty="0">
                <a:latin typeface="Times New Roman"/>
                <a:cs typeface="Times New Roman"/>
              </a:rPr>
              <a:t>}</a:t>
            </a:r>
          </a:p>
        </p:txBody>
      </p:sp>
      <p:sp>
        <p:nvSpPr>
          <p:cNvPr id="4" name="object 4"/>
          <p:cNvSpPr txBox="1"/>
          <p:nvPr/>
        </p:nvSpPr>
        <p:spPr>
          <a:xfrm>
            <a:off x="691387" y="6139688"/>
            <a:ext cx="190500" cy="436880"/>
          </a:xfrm>
          <a:prstGeom prst="rect">
            <a:avLst/>
          </a:prstGeom>
        </p:spPr>
        <p:txBody>
          <a:bodyPr vert="horz" wrap="square" lIns="0" tIns="12700" rIns="0" bIns="0" rtlCol="0">
            <a:spAutoFit/>
          </a:bodyPr>
          <a:lstStyle/>
          <a:p>
            <a:pPr marL="12700">
              <a:lnSpc>
                <a:spcPct val="100000"/>
              </a:lnSpc>
              <a:spcBef>
                <a:spcPts val="100"/>
              </a:spcBef>
            </a:pPr>
            <a:r>
              <a:rPr sz="2700" dirty="0">
                <a:latin typeface="Times New Roman"/>
                <a:cs typeface="Times New Roman"/>
              </a:rPr>
              <a:t>}</a:t>
            </a:r>
            <a:endParaRPr sz="2700">
              <a:latin typeface="Times New Roman"/>
              <a:cs typeface="Times New Roman"/>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47</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4531"/>
            <a:ext cx="5728970" cy="635000"/>
          </a:xfrm>
          <a:prstGeom prst="rect">
            <a:avLst/>
          </a:prstGeom>
        </p:spPr>
        <p:txBody>
          <a:bodyPr vert="horz" wrap="square" lIns="0" tIns="12065" rIns="0" bIns="0" rtlCol="0">
            <a:spAutoFit/>
          </a:bodyPr>
          <a:lstStyle/>
          <a:p>
            <a:pPr marL="12700">
              <a:lnSpc>
                <a:spcPct val="100000"/>
              </a:lnSpc>
              <a:spcBef>
                <a:spcPts val="95"/>
              </a:spcBef>
            </a:pPr>
            <a:r>
              <a:rPr dirty="0"/>
              <a:t>Demonstrate</a:t>
            </a:r>
            <a:r>
              <a:rPr spc="-10" dirty="0"/>
              <a:t> </a:t>
            </a:r>
            <a:r>
              <a:rPr dirty="0"/>
              <a:t>char</a:t>
            </a:r>
            <a:r>
              <a:rPr spc="-30" dirty="0"/>
              <a:t> </a:t>
            </a:r>
            <a:r>
              <a:rPr spc="-5" dirty="0"/>
              <a:t>data</a:t>
            </a:r>
            <a:r>
              <a:rPr spc="-25" dirty="0"/>
              <a:t> </a:t>
            </a:r>
            <a:r>
              <a:rPr dirty="0"/>
              <a:t>type.</a:t>
            </a:r>
          </a:p>
        </p:txBody>
      </p:sp>
      <p:sp>
        <p:nvSpPr>
          <p:cNvPr id="3" name="object 3"/>
          <p:cNvSpPr txBox="1"/>
          <p:nvPr/>
        </p:nvSpPr>
        <p:spPr>
          <a:xfrm>
            <a:off x="691387" y="1534678"/>
            <a:ext cx="6026150" cy="4669790"/>
          </a:xfrm>
          <a:prstGeom prst="rect">
            <a:avLst/>
          </a:prstGeom>
        </p:spPr>
        <p:txBody>
          <a:bodyPr vert="horz" wrap="square" lIns="0" tIns="34290" rIns="0" bIns="0" rtlCol="0">
            <a:spAutoFit/>
          </a:bodyPr>
          <a:lstStyle/>
          <a:p>
            <a:pPr marL="12700">
              <a:lnSpc>
                <a:spcPct val="100000"/>
              </a:lnSpc>
              <a:spcBef>
                <a:spcPts val="270"/>
              </a:spcBef>
            </a:pPr>
            <a:r>
              <a:rPr sz="2200" spc="-5" dirty="0">
                <a:latin typeface="Times New Roman"/>
                <a:cs typeface="Times New Roman"/>
              </a:rPr>
              <a:t>class</a:t>
            </a:r>
            <a:r>
              <a:rPr sz="2200" spc="-45" dirty="0">
                <a:latin typeface="Times New Roman"/>
                <a:cs typeface="Times New Roman"/>
              </a:rPr>
              <a:t> </a:t>
            </a:r>
            <a:r>
              <a:rPr sz="2200" spc="-5" dirty="0">
                <a:latin typeface="Times New Roman"/>
                <a:cs typeface="Times New Roman"/>
              </a:rPr>
              <a:t>CharDemo</a:t>
            </a:r>
            <a:endParaRPr sz="2200" dirty="0">
              <a:latin typeface="Times New Roman"/>
              <a:cs typeface="Times New Roman"/>
            </a:endParaRPr>
          </a:p>
          <a:p>
            <a:pPr marL="12700">
              <a:lnSpc>
                <a:spcPct val="100000"/>
              </a:lnSpc>
              <a:spcBef>
                <a:spcPts val="175"/>
              </a:spcBef>
            </a:pPr>
            <a:r>
              <a:rPr sz="2200" spc="-5" dirty="0">
                <a:latin typeface="Times New Roman"/>
                <a:cs typeface="Times New Roman"/>
              </a:rPr>
              <a:t>{</a:t>
            </a:r>
            <a:endParaRPr sz="2200" dirty="0">
              <a:latin typeface="Times New Roman"/>
              <a:cs typeface="Times New Roman"/>
            </a:endParaRPr>
          </a:p>
          <a:p>
            <a:pPr marL="927100">
              <a:lnSpc>
                <a:spcPct val="100000"/>
              </a:lnSpc>
              <a:spcBef>
                <a:spcPts val="180"/>
              </a:spcBef>
            </a:pPr>
            <a:r>
              <a:rPr sz="2200" spc="-5" dirty="0">
                <a:latin typeface="Times New Roman"/>
                <a:cs typeface="Times New Roman"/>
              </a:rPr>
              <a:t>public</a:t>
            </a:r>
            <a:r>
              <a:rPr sz="2200" spc="-15" dirty="0">
                <a:latin typeface="Times New Roman"/>
                <a:cs typeface="Times New Roman"/>
              </a:rPr>
              <a:t> </a:t>
            </a:r>
            <a:r>
              <a:rPr sz="2200" spc="-5" dirty="0">
                <a:latin typeface="Times New Roman"/>
                <a:cs typeface="Times New Roman"/>
              </a:rPr>
              <a:t>static void</a:t>
            </a:r>
            <a:r>
              <a:rPr sz="2200" spc="-10" dirty="0">
                <a:latin typeface="Times New Roman"/>
                <a:cs typeface="Times New Roman"/>
              </a:rPr>
              <a:t> </a:t>
            </a:r>
            <a:r>
              <a:rPr sz="2200" spc="-5" dirty="0">
                <a:latin typeface="Times New Roman"/>
                <a:cs typeface="Times New Roman"/>
              </a:rPr>
              <a:t>main(String</a:t>
            </a:r>
            <a:r>
              <a:rPr sz="2200" spc="55" dirty="0">
                <a:latin typeface="Times New Roman"/>
                <a:cs typeface="Times New Roman"/>
              </a:rPr>
              <a:t> </a:t>
            </a:r>
            <a:r>
              <a:rPr sz="2200" spc="-15" dirty="0">
                <a:latin typeface="Times New Roman"/>
                <a:cs typeface="Times New Roman"/>
              </a:rPr>
              <a:t>args[])</a:t>
            </a:r>
            <a:endParaRPr sz="2200" dirty="0">
              <a:latin typeface="Times New Roman"/>
              <a:cs typeface="Times New Roman"/>
            </a:endParaRPr>
          </a:p>
          <a:p>
            <a:pPr marL="927100">
              <a:lnSpc>
                <a:spcPct val="100000"/>
              </a:lnSpc>
              <a:spcBef>
                <a:spcPts val="165"/>
              </a:spcBef>
            </a:pPr>
            <a:r>
              <a:rPr sz="2200" spc="-5" dirty="0">
                <a:latin typeface="Times New Roman"/>
                <a:cs typeface="Times New Roman"/>
              </a:rPr>
              <a:t>{</a:t>
            </a:r>
            <a:endParaRPr sz="2200" dirty="0">
              <a:latin typeface="Times New Roman"/>
              <a:cs typeface="Times New Roman"/>
            </a:endParaRPr>
          </a:p>
          <a:p>
            <a:pPr marL="1841500">
              <a:lnSpc>
                <a:spcPct val="100000"/>
              </a:lnSpc>
              <a:spcBef>
                <a:spcPts val="170"/>
              </a:spcBef>
            </a:pPr>
            <a:r>
              <a:rPr sz="2200" spc="-5" dirty="0">
                <a:latin typeface="Times New Roman"/>
                <a:cs typeface="Times New Roman"/>
              </a:rPr>
              <a:t>char</a:t>
            </a:r>
            <a:r>
              <a:rPr sz="2200" spc="-25" dirty="0">
                <a:latin typeface="Times New Roman"/>
                <a:cs typeface="Times New Roman"/>
              </a:rPr>
              <a:t> </a:t>
            </a:r>
            <a:r>
              <a:rPr sz="2200" spc="-5" dirty="0">
                <a:latin typeface="Times New Roman"/>
                <a:cs typeface="Times New Roman"/>
              </a:rPr>
              <a:t>ch1,</a:t>
            </a:r>
            <a:r>
              <a:rPr sz="2200" spc="-20" dirty="0">
                <a:latin typeface="Times New Roman"/>
                <a:cs typeface="Times New Roman"/>
              </a:rPr>
              <a:t> </a:t>
            </a:r>
            <a:r>
              <a:rPr sz="2200" dirty="0">
                <a:latin typeface="Times New Roman"/>
                <a:cs typeface="Times New Roman"/>
              </a:rPr>
              <a:t>ch2;</a:t>
            </a:r>
          </a:p>
          <a:p>
            <a:pPr marL="1841500" marR="1630045">
              <a:lnSpc>
                <a:spcPct val="106400"/>
              </a:lnSpc>
              <a:spcBef>
                <a:spcPts val="10"/>
              </a:spcBef>
            </a:pPr>
            <a:r>
              <a:rPr sz="2200" spc="-5" dirty="0">
                <a:latin typeface="Times New Roman"/>
                <a:cs typeface="Times New Roman"/>
              </a:rPr>
              <a:t>ch1</a:t>
            </a:r>
            <a:r>
              <a:rPr sz="2200" spc="-15" dirty="0">
                <a:latin typeface="Times New Roman"/>
                <a:cs typeface="Times New Roman"/>
              </a:rPr>
              <a:t> </a:t>
            </a:r>
            <a:r>
              <a:rPr sz="2200" spc="-5" dirty="0">
                <a:latin typeface="Times New Roman"/>
                <a:cs typeface="Times New Roman"/>
              </a:rPr>
              <a:t>=</a:t>
            </a:r>
            <a:r>
              <a:rPr sz="2200" spc="-15" dirty="0">
                <a:latin typeface="Times New Roman"/>
                <a:cs typeface="Times New Roman"/>
              </a:rPr>
              <a:t> </a:t>
            </a:r>
            <a:r>
              <a:rPr sz="2200" dirty="0">
                <a:latin typeface="Times New Roman"/>
                <a:cs typeface="Times New Roman"/>
              </a:rPr>
              <a:t>88;</a:t>
            </a:r>
            <a:r>
              <a:rPr sz="2200" spc="-10" dirty="0">
                <a:latin typeface="Times New Roman"/>
                <a:cs typeface="Times New Roman"/>
              </a:rPr>
              <a:t> </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code</a:t>
            </a:r>
            <a:r>
              <a:rPr sz="2200" spc="-15" dirty="0">
                <a:latin typeface="Times New Roman"/>
                <a:cs typeface="Times New Roman"/>
              </a:rPr>
              <a:t> </a:t>
            </a:r>
            <a:r>
              <a:rPr sz="2200" spc="-5" dirty="0">
                <a:latin typeface="Times New Roman"/>
                <a:cs typeface="Times New Roman"/>
              </a:rPr>
              <a:t>for</a:t>
            </a:r>
            <a:r>
              <a:rPr sz="2200" dirty="0">
                <a:latin typeface="Times New Roman"/>
                <a:cs typeface="Times New Roman"/>
              </a:rPr>
              <a:t> </a:t>
            </a:r>
            <a:r>
              <a:rPr sz="2200" spc="-5" dirty="0">
                <a:latin typeface="Times New Roman"/>
                <a:cs typeface="Times New Roman"/>
              </a:rPr>
              <a:t>X </a:t>
            </a:r>
            <a:r>
              <a:rPr sz="2200" spc="-535" dirty="0">
                <a:latin typeface="Times New Roman"/>
                <a:cs typeface="Times New Roman"/>
              </a:rPr>
              <a:t> </a:t>
            </a:r>
            <a:r>
              <a:rPr sz="2200" spc="-5" dirty="0">
                <a:latin typeface="Times New Roman"/>
                <a:cs typeface="Times New Roman"/>
              </a:rPr>
              <a:t>ch2</a:t>
            </a:r>
            <a:r>
              <a:rPr sz="2200" spc="-10"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'Y’;</a:t>
            </a:r>
            <a:endParaRPr sz="2200" dirty="0">
              <a:latin typeface="Times New Roman"/>
              <a:cs typeface="Times New Roman"/>
            </a:endParaRPr>
          </a:p>
          <a:p>
            <a:pPr marL="1841500" marR="5080">
              <a:lnSpc>
                <a:spcPts val="2820"/>
              </a:lnSpc>
              <a:spcBef>
                <a:spcPts val="114"/>
              </a:spcBef>
              <a:tabLst>
                <a:tab pos="5026660" algn="l"/>
              </a:tabLst>
            </a:pPr>
            <a:r>
              <a:rPr sz="2200" spc="-5" dirty="0">
                <a:latin typeface="Times New Roman"/>
                <a:cs typeface="Times New Roman"/>
              </a:rPr>
              <a:t>System.out.print("ch1 and</a:t>
            </a:r>
            <a:r>
              <a:rPr sz="2200" spc="10" dirty="0">
                <a:latin typeface="Times New Roman"/>
                <a:cs typeface="Times New Roman"/>
              </a:rPr>
              <a:t> </a:t>
            </a:r>
            <a:r>
              <a:rPr sz="2200" spc="-5" dirty="0">
                <a:latin typeface="Times New Roman"/>
                <a:cs typeface="Times New Roman"/>
              </a:rPr>
              <a:t>ch2: "); </a:t>
            </a:r>
            <a:r>
              <a:rPr sz="2200" dirty="0">
                <a:latin typeface="Times New Roman"/>
                <a:cs typeface="Times New Roman"/>
              </a:rPr>
              <a:t> </a:t>
            </a:r>
            <a:r>
              <a:rPr sz="2200" spc="-5" dirty="0">
                <a:latin typeface="Times New Roman"/>
                <a:cs typeface="Times New Roman"/>
              </a:rPr>
              <a:t>System.out.println(ch1</a:t>
            </a:r>
            <a:r>
              <a:rPr sz="2200" spc="20" dirty="0">
                <a:latin typeface="Times New Roman"/>
                <a:cs typeface="Times New Roman"/>
              </a:rPr>
              <a:t> </a:t>
            </a:r>
            <a:r>
              <a:rPr sz="2200" spc="-5" dirty="0">
                <a:latin typeface="Times New Roman"/>
                <a:cs typeface="Times New Roman"/>
              </a:rPr>
              <a:t>+</a:t>
            </a:r>
            <a:r>
              <a:rPr sz="2200" spc="20" dirty="0">
                <a:latin typeface="Times New Roman"/>
                <a:cs typeface="Times New Roman"/>
              </a:rPr>
              <a:t> </a:t>
            </a:r>
            <a:r>
              <a:rPr sz="2200" spc="-5" dirty="0">
                <a:latin typeface="Times New Roman"/>
                <a:cs typeface="Times New Roman"/>
              </a:rPr>
              <a:t>"	"</a:t>
            </a:r>
            <a:r>
              <a:rPr sz="2200" spc="-45" dirty="0">
                <a:latin typeface="Times New Roman"/>
                <a:cs typeface="Times New Roman"/>
              </a:rPr>
              <a:t> </a:t>
            </a:r>
            <a:r>
              <a:rPr sz="2200" spc="-5" dirty="0">
                <a:latin typeface="Times New Roman"/>
                <a:cs typeface="Times New Roman"/>
              </a:rPr>
              <a:t>+</a:t>
            </a:r>
            <a:r>
              <a:rPr sz="2200" spc="-45" dirty="0">
                <a:latin typeface="Times New Roman"/>
                <a:cs typeface="Times New Roman"/>
              </a:rPr>
              <a:t> </a:t>
            </a:r>
            <a:r>
              <a:rPr sz="2200" dirty="0">
                <a:latin typeface="Times New Roman"/>
                <a:cs typeface="Times New Roman"/>
              </a:rPr>
              <a:t>ch2);</a:t>
            </a:r>
          </a:p>
          <a:p>
            <a:pPr marL="927100">
              <a:lnSpc>
                <a:spcPct val="100000"/>
              </a:lnSpc>
              <a:spcBef>
                <a:spcPts val="45"/>
              </a:spcBef>
            </a:pPr>
            <a:r>
              <a:rPr sz="2200" spc="-5" dirty="0">
                <a:latin typeface="Times New Roman"/>
                <a:cs typeface="Times New Roman"/>
              </a:rPr>
              <a:t>}</a:t>
            </a:r>
            <a:endParaRPr sz="2200" dirty="0">
              <a:latin typeface="Times New Roman"/>
              <a:cs typeface="Times New Roman"/>
            </a:endParaRPr>
          </a:p>
          <a:p>
            <a:pPr marL="12700">
              <a:lnSpc>
                <a:spcPct val="100000"/>
              </a:lnSpc>
              <a:spcBef>
                <a:spcPts val="170"/>
              </a:spcBef>
            </a:pPr>
            <a:r>
              <a:rPr sz="2200" spc="-5" dirty="0">
                <a:latin typeface="Times New Roman"/>
                <a:cs typeface="Times New Roman"/>
              </a:rPr>
              <a:t>}</a:t>
            </a:r>
            <a:endParaRPr sz="2200" dirty="0">
              <a:latin typeface="Times New Roman"/>
              <a:cs typeface="Times New Roman"/>
            </a:endParaRPr>
          </a:p>
          <a:p>
            <a:pPr marL="332740" indent="-320675">
              <a:lnSpc>
                <a:spcPct val="100000"/>
              </a:lnSpc>
              <a:spcBef>
                <a:spcPts val="180"/>
              </a:spcBef>
              <a:buClr>
                <a:srgbClr val="DD8046"/>
              </a:buClr>
              <a:buSzPct val="59090"/>
              <a:buFont typeface="Wingdings"/>
              <a:buChar char=""/>
              <a:tabLst>
                <a:tab pos="332740" algn="l"/>
                <a:tab pos="333375" algn="l"/>
              </a:tabLst>
            </a:pPr>
            <a:r>
              <a:rPr sz="2200" dirty="0" smtClean="0">
                <a:latin typeface="Times New Roman"/>
                <a:cs typeface="Times New Roman"/>
              </a:rPr>
              <a:t>output</a:t>
            </a:r>
            <a:r>
              <a:rPr sz="2200" dirty="0">
                <a:latin typeface="Times New Roman"/>
                <a:cs typeface="Times New Roman"/>
              </a:rPr>
              <a:t>:</a:t>
            </a:r>
          </a:p>
          <a:p>
            <a:pPr marL="291465">
              <a:lnSpc>
                <a:spcPct val="100000"/>
              </a:lnSpc>
              <a:spcBef>
                <a:spcPts val="170"/>
              </a:spcBef>
              <a:tabLst>
                <a:tab pos="2258060" algn="l"/>
              </a:tabLst>
            </a:pPr>
            <a:r>
              <a:rPr sz="2200" spc="-5" dirty="0">
                <a:latin typeface="Times New Roman"/>
                <a:cs typeface="Times New Roman"/>
              </a:rPr>
              <a:t>ch1</a:t>
            </a:r>
            <a:r>
              <a:rPr sz="2200" spc="10"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ch2:</a:t>
            </a:r>
            <a:r>
              <a:rPr sz="2200" spc="5" dirty="0">
                <a:latin typeface="Times New Roman"/>
                <a:cs typeface="Times New Roman"/>
              </a:rPr>
              <a:t> </a:t>
            </a:r>
            <a:r>
              <a:rPr sz="2200" spc="-5" dirty="0">
                <a:latin typeface="Times New Roman"/>
                <a:cs typeface="Times New Roman"/>
              </a:rPr>
              <a:t>X	Y</a:t>
            </a:r>
            <a:endParaRPr sz="22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48</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4531"/>
            <a:ext cx="7181850" cy="635000"/>
          </a:xfrm>
          <a:prstGeom prst="rect">
            <a:avLst/>
          </a:prstGeom>
        </p:spPr>
        <p:txBody>
          <a:bodyPr vert="horz" wrap="square" lIns="0" tIns="12065" rIns="0" bIns="0" rtlCol="0">
            <a:spAutoFit/>
          </a:bodyPr>
          <a:lstStyle/>
          <a:p>
            <a:pPr marL="12700">
              <a:lnSpc>
                <a:spcPct val="100000"/>
              </a:lnSpc>
              <a:spcBef>
                <a:spcPts val="95"/>
              </a:spcBef>
            </a:pPr>
            <a:r>
              <a:rPr dirty="0"/>
              <a:t>char</a:t>
            </a:r>
            <a:r>
              <a:rPr spc="-20" dirty="0"/>
              <a:t> </a:t>
            </a:r>
            <a:r>
              <a:rPr dirty="0"/>
              <a:t>variables</a:t>
            </a:r>
            <a:r>
              <a:rPr spc="-15" dirty="0"/>
              <a:t> </a:t>
            </a:r>
            <a:r>
              <a:rPr dirty="0"/>
              <a:t>behave</a:t>
            </a:r>
            <a:r>
              <a:rPr spc="-20" dirty="0"/>
              <a:t> </a:t>
            </a:r>
            <a:r>
              <a:rPr spc="-5" dirty="0"/>
              <a:t>like</a:t>
            </a:r>
            <a:r>
              <a:rPr spc="-25" dirty="0"/>
              <a:t> </a:t>
            </a:r>
            <a:r>
              <a:rPr dirty="0"/>
              <a:t>integers.</a:t>
            </a:r>
          </a:p>
        </p:txBody>
      </p:sp>
      <p:sp>
        <p:nvSpPr>
          <p:cNvPr id="3" name="object 3"/>
          <p:cNvSpPr txBox="1"/>
          <p:nvPr/>
        </p:nvSpPr>
        <p:spPr>
          <a:xfrm>
            <a:off x="231140" y="1546301"/>
            <a:ext cx="7051675" cy="4776308"/>
          </a:xfrm>
          <a:prstGeom prst="rect">
            <a:avLst/>
          </a:prstGeom>
        </p:spPr>
        <p:txBody>
          <a:bodyPr vert="horz" wrap="square" lIns="0" tIns="12065" rIns="0" bIns="0" rtlCol="0">
            <a:spAutoFit/>
          </a:bodyPr>
          <a:lstStyle/>
          <a:p>
            <a:pPr marL="12700">
              <a:lnSpc>
                <a:spcPct val="100000"/>
              </a:lnSpc>
              <a:spcBef>
                <a:spcPts val="95"/>
              </a:spcBef>
            </a:pPr>
            <a:r>
              <a:rPr sz="2500" spc="-5" dirty="0">
                <a:latin typeface="Times New Roman"/>
                <a:cs typeface="Times New Roman"/>
              </a:rPr>
              <a:t>class</a:t>
            </a:r>
            <a:r>
              <a:rPr sz="2500" dirty="0">
                <a:latin typeface="Times New Roman"/>
                <a:cs typeface="Times New Roman"/>
              </a:rPr>
              <a:t> </a:t>
            </a:r>
            <a:r>
              <a:rPr sz="2500" spc="-10" dirty="0">
                <a:latin typeface="Times New Roman"/>
                <a:cs typeface="Times New Roman"/>
              </a:rPr>
              <a:t>CharDemo2</a:t>
            </a:r>
            <a:r>
              <a:rPr sz="2500" spc="35" dirty="0">
                <a:latin typeface="Times New Roman"/>
                <a:cs typeface="Times New Roman"/>
              </a:rPr>
              <a:t> </a:t>
            </a:r>
            <a:r>
              <a:rPr sz="2500" spc="-5" dirty="0">
                <a:latin typeface="Times New Roman"/>
                <a:cs typeface="Times New Roman"/>
              </a:rPr>
              <a:t>{</a:t>
            </a:r>
            <a:endParaRPr sz="2500" dirty="0">
              <a:latin typeface="Times New Roman"/>
              <a:cs typeface="Times New Roman"/>
            </a:endParaRPr>
          </a:p>
          <a:p>
            <a:pPr marL="927100" marR="1168400">
              <a:lnSpc>
                <a:spcPct val="103200"/>
              </a:lnSpc>
              <a:spcBef>
                <a:spcPts val="15"/>
              </a:spcBef>
            </a:pPr>
            <a:r>
              <a:rPr sz="2500" spc="-5" dirty="0">
                <a:latin typeface="Times New Roman"/>
                <a:cs typeface="Times New Roman"/>
              </a:rPr>
              <a:t>public</a:t>
            </a:r>
            <a:r>
              <a:rPr sz="2500" spc="15" dirty="0">
                <a:latin typeface="Times New Roman"/>
                <a:cs typeface="Times New Roman"/>
              </a:rPr>
              <a:t> </a:t>
            </a:r>
            <a:r>
              <a:rPr sz="2500" spc="-5" dirty="0">
                <a:latin typeface="Times New Roman"/>
                <a:cs typeface="Times New Roman"/>
              </a:rPr>
              <a:t>static</a:t>
            </a:r>
            <a:r>
              <a:rPr sz="2500" spc="30" dirty="0">
                <a:latin typeface="Times New Roman"/>
                <a:cs typeface="Times New Roman"/>
              </a:rPr>
              <a:t> </a:t>
            </a:r>
            <a:r>
              <a:rPr sz="2500" spc="-5" dirty="0">
                <a:latin typeface="Times New Roman"/>
                <a:cs typeface="Times New Roman"/>
              </a:rPr>
              <a:t>void</a:t>
            </a:r>
            <a:r>
              <a:rPr sz="2500" spc="10" dirty="0">
                <a:latin typeface="Times New Roman"/>
                <a:cs typeface="Times New Roman"/>
              </a:rPr>
              <a:t> </a:t>
            </a:r>
            <a:r>
              <a:rPr sz="2500" spc="-5" dirty="0">
                <a:latin typeface="Times New Roman"/>
                <a:cs typeface="Times New Roman"/>
              </a:rPr>
              <a:t>main(String</a:t>
            </a:r>
            <a:r>
              <a:rPr sz="2500" spc="75" dirty="0">
                <a:latin typeface="Times New Roman"/>
                <a:cs typeface="Times New Roman"/>
              </a:rPr>
              <a:t> </a:t>
            </a:r>
            <a:r>
              <a:rPr sz="2500" spc="-15" dirty="0">
                <a:latin typeface="Times New Roman"/>
                <a:cs typeface="Times New Roman"/>
              </a:rPr>
              <a:t>args[])</a:t>
            </a:r>
            <a:r>
              <a:rPr sz="2500" spc="50" dirty="0">
                <a:latin typeface="Times New Roman"/>
                <a:cs typeface="Times New Roman"/>
              </a:rPr>
              <a:t> </a:t>
            </a:r>
            <a:r>
              <a:rPr sz="2500" spc="-5" dirty="0">
                <a:latin typeface="Times New Roman"/>
                <a:cs typeface="Times New Roman"/>
              </a:rPr>
              <a:t>{ </a:t>
            </a:r>
            <a:r>
              <a:rPr sz="2500" spc="-610" dirty="0">
                <a:latin typeface="Times New Roman"/>
                <a:cs typeface="Times New Roman"/>
              </a:rPr>
              <a:t> </a:t>
            </a:r>
            <a:r>
              <a:rPr sz="2500" spc="-5" dirty="0">
                <a:latin typeface="Times New Roman"/>
                <a:cs typeface="Times New Roman"/>
              </a:rPr>
              <a:t>char</a:t>
            </a:r>
            <a:r>
              <a:rPr sz="2500" spc="10" dirty="0">
                <a:latin typeface="Times New Roman"/>
                <a:cs typeface="Times New Roman"/>
              </a:rPr>
              <a:t> </a:t>
            </a:r>
            <a:r>
              <a:rPr sz="2500" spc="-5" dirty="0">
                <a:latin typeface="Times New Roman"/>
                <a:cs typeface="Times New Roman"/>
              </a:rPr>
              <a:t>ch1;</a:t>
            </a:r>
            <a:endParaRPr sz="2500" dirty="0">
              <a:latin typeface="Times New Roman"/>
              <a:cs typeface="Times New Roman"/>
            </a:endParaRPr>
          </a:p>
          <a:p>
            <a:pPr marL="927100">
              <a:lnSpc>
                <a:spcPct val="100000"/>
              </a:lnSpc>
              <a:spcBef>
                <a:spcPts val="100"/>
              </a:spcBef>
            </a:pPr>
            <a:r>
              <a:rPr sz="2500" spc="-5" dirty="0">
                <a:latin typeface="Times New Roman"/>
                <a:cs typeface="Times New Roman"/>
              </a:rPr>
              <a:t>ch1</a:t>
            </a:r>
            <a:r>
              <a:rPr sz="2500" spc="-20" dirty="0">
                <a:latin typeface="Times New Roman"/>
                <a:cs typeface="Times New Roman"/>
              </a:rPr>
              <a:t> </a:t>
            </a:r>
            <a:r>
              <a:rPr sz="2500" spc="-5" dirty="0">
                <a:latin typeface="Times New Roman"/>
                <a:cs typeface="Times New Roman"/>
              </a:rPr>
              <a:t>=</a:t>
            </a:r>
            <a:r>
              <a:rPr sz="2500" spc="-25" dirty="0">
                <a:latin typeface="Times New Roman"/>
                <a:cs typeface="Times New Roman"/>
              </a:rPr>
              <a:t> </a:t>
            </a:r>
            <a:r>
              <a:rPr sz="2500" spc="-10" dirty="0">
                <a:latin typeface="Times New Roman"/>
                <a:cs typeface="Times New Roman"/>
              </a:rPr>
              <a:t>'X’;</a:t>
            </a:r>
            <a:endParaRPr sz="2500" dirty="0">
              <a:latin typeface="Times New Roman"/>
              <a:cs typeface="Times New Roman"/>
            </a:endParaRPr>
          </a:p>
          <a:p>
            <a:pPr marL="927100" marR="731520">
              <a:lnSpc>
                <a:spcPct val="103200"/>
              </a:lnSpc>
              <a:spcBef>
                <a:spcPts val="10"/>
              </a:spcBef>
            </a:pPr>
            <a:r>
              <a:rPr sz="2500" spc="-5" dirty="0">
                <a:latin typeface="Times New Roman"/>
                <a:cs typeface="Times New Roman"/>
              </a:rPr>
              <a:t>System.out.println("ch1</a:t>
            </a:r>
            <a:r>
              <a:rPr sz="2500" spc="60" dirty="0">
                <a:latin typeface="Times New Roman"/>
                <a:cs typeface="Times New Roman"/>
              </a:rPr>
              <a:t> </a:t>
            </a:r>
            <a:r>
              <a:rPr sz="2500" spc="-5" dirty="0">
                <a:latin typeface="Times New Roman"/>
                <a:cs typeface="Times New Roman"/>
              </a:rPr>
              <a:t>contains</a:t>
            </a:r>
            <a:r>
              <a:rPr sz="2500" spc="35" dirty="0">
                <a:latin typeface="Times New Roman"/>
                <a:cs typeface="Times New Roman"/>
              </a:rPr>
              <a:t> </a:t>
            </a:r>
            <a:r>
              <a:rPr sz="2500" spc="-5" dirty="0">
                <a:latin typeface="Times New Roman"/>
                <a:cs typeface="Times New Roman"/>
              </a:rPr>
              <a:t>"</a:t>
            </a:r>
            <a:r>
              <a:rPr sz="2500" spc="10" dirty="0">
                <a:latin typeface="Times New Roman"/>
                <a:cs typeface="Times New Roman"/>
              </a:rPr>
              <a:t> </a:t>
            </a:r>
            <a:r>
              <a:rPr sz="2500" spc="-5" dirty="0">
                <a:latin typeface="Times New Roman"/>
                <a:cs typeface="Times New Roman"/>
              </a:rPr>
              <a:t>+</a:t>
            </a:r>
            <a:r>
              <a:rPr sz="2500" spc="15" dirty="0">
                <a:latin typeface="Times New Roman"/>
                <a:cs typeface="Times New Roman"/>
              </a:rPr>
              <a:t> </a:t>
            </a:r>
            <a:r>
              <a:rPr sz="2500" spc="-5" dirty="0">
                <a:latin typeface="Times New Roman"/>
                <a:cs typeface="Times New Roman"/>
              </a:rPr>
              <a:t>ch1); </a:t>
            </a:r>
            <a:r>
              <a:rPr sz="2500" spc="-610" dirty="0">
                <a:latin typeface="Times New Roman"/>
                <a:cs typeface="Times New Roman"/>
              </a:rPr>
              <a:t> </a:t>
            </a:r>
            <a:r>
              <a:rPr sz="2500" spc="-5" dirty="0">
                <a:latin typeface="Times New Roman"/>
                <a:cs typeface="Times New Roman"/>
              </a:rPr>
              <a:t>ch1++;</a:t>
            </a:r>
            <a:r>
              <a:rPr sz="2500" spc="25" dirty="0">
                <a:latin typeface="Times New Roman"/>
                <a:cs typeface="Times New Roman"/>
              </a:rPr>
              <a:t> </a:t>
            </a:r>
            <a:r>
              <a:rPr sz="2500" spc="-5" dirty="0">
                <a:latin typeface="Times New Roman"/>
                <a:cs typeface="Times New Roman"/>
              </a:rPr>
              <a:t>//</a:t>
            </a:r>
            <a:r>
              <a:rPr sz="2500" spc="10" dirty="0">
                <a:latin typeface="Times New Roman"/>
                <a:cs typeface="Times New Roman"/>
              </a:rPr>
              <a:t> </a:t>
            </a:r>
            <a:r>
              <a:rPr sz="2500" spc="-5" dirty="0">
                <a:latin typeface="Times New Roman"/>
                <a:cs typeface="Times New Roman"/>
              </a:rPr>
              <a:t>increment</a:t>
            </a:r>
            <a:r>
              <a:rPr sz="2500" spc="45" dirty="0">
                <a:latin typeface="Times New Roman"/>
                <a:cs typeface="Times New Roman"/>
              </a:rPr>
              <a:t> </a:t>
            </a:r>
            <a:r>
              <a:rPr sz="2500" spc="-5" dirty="0">
                <a:latin typeface="Times New Roman"/>
                <a:cs typeface="Times New Roman"/>
              </a:rPr>
              <a:t>ch1 </a:t>
            </a:r>
            <a:r>
              <a:rPr sz="2500" dirty="0">
                <a:latin typeface="Times New Roman"/>
                <a:cs typeface="Times New Roman"/>
              </a:rPr>
              <a:t> </a:t>
            </a:r>
            <a:r>
              <a:rPr sz="2500" spc="-5" dirty="0">
                <a:latin typeface="Times New Roman"/>
                <a:cs typeface="Times New Roman"/>
              </a:rPr>
              <a:t>System.out.println("ch1</a:t>
            </a:r>
            <a:r>
              <a:rPr sz="2500" spc="50" dirty="0">
                <a:latin typeface="Times New Roman"/>
                <a:cs typeface="Times New Roman"/>
              </a:rPr>
              <a:t> </a:t>
            </a:r>
            <a:r>
              <a:rPr sz="2500" spc="-5" dirty="0">
                <a:latin typeface="Times New Roman"/>
                <a:cs typeface="Times New Roman"/>
              </a:rPr>
              <a:t>is</a:t>
            </a:r>
            <a:r>
              <a:rPr sz="2500" spc="15" dirty="0">
                <a:latin typeface="Times New Roman"/>
                <a:cs typeface="Times New Roman"/>
              </a:rPr>
              <a:t> </a:t>
            </a:r>
            <a:r>
              <a:rPr sz="2500" spc="-5" dirty="0">
                <a:latin typeface="Times New Roman"/>
                <a:cs typeface="Times New Roman"/>
              </a:rPr>
              <a:t>now</a:t>
            </a:r>
            <a:r>
              <a:rPr sz="2500" dirty="0">
                <a:latin typeface="Times New Roman"/>
                <a:cs typeface="Times New Roman"/>
              </a:rPr>
              <a:t> </a:t>
            </a:r>
            <a:r>
              <a:rPr sz="2500" spc="-5" dirty="0">
                <a:latin typeface="Times New Roman"/>
                <a:cs typeface="Times New Roman"/>
              </a:rPr>
              <a:t>"</a:t>
            </a:r>
            <a:r>
              <a:rPr sz="2500" spc="5" dirty="0">
                <a:latin typeface="Times New Roman"/>
                <a:cs typeface="Times New Roman"/>
              </a:rPr>
              <a:t> </a:t>
            </a:r>
            <a:r>
              <a:rPr sz="2500" spc="-5" dirty="0">
                <a:latin typeface="Times New Roman"/>
                <a:cs typeface="Times New Roman"/>
              </a:rPr>
              <a:t>+</a:t>
            </a:r>
            <a:r>
              <a:rPr sz="2500" dirty="0">
                <a:latin typeface="Times New Roman"/>
                <a:cs typeface="Times New Roman"/>
              </a:rPr>
              <a:t> </a:t>
            </a:r>
            <a:r>
              <a:rPr sz="2500" spc="-5" dirty="0">
                <a:latin typeface="Times New Roman"/>
                <a:cs typeface="Times New Roman"/>
              </a:rPr>
              <a:t>ch1);</a:t>
            </a:r>
            <a:endParaRPr sz="2500" dirty="0">
              <a:latin typeface="Times New Roman"/>
              <a:cs typeface="Times New Roman"/>
            </a:endParaRPr>
          </a:p>
          <a:p>
            <a:pPr marL="487680">
              <a:lnSpc>
                <a:spcPct val="100000"/>
              </a:lnSpc>
              <a:spcBef>
                <a:spcPts val="110"/>
              </a:spcBef>
            </a:pPr>
            <a:r>
              <a:rPr sz="2500" spc="-5" dirty="0">
                <a:latin typeface="Times New Roman"/>
                <a:cs typeface="Times New Roman"/>
              </a:rPr>
              <a:t>}</a:t>
            </a:r>
            <a:endParaRPr sz="2500" dirty="0">
              <a:latin typeface="Times New Roman"/>
              <a:cs typeface="Times New Roman"/>
            </a:endParaRPr>
          </a:p>
          <a:p>
            <a:pPr marL="12700">
              <a:lnSpc>
                <a:spcPct val="100000"/>
              </a:lnSpc>
              <a:spcBef>
                <a:spcPts val="100"/>
              </a:spcBef>
            </a:pPr>
            <a:r>
              <a:rPr sz="2500" spc="-5" dirty="0">
                <a:latin typeface="Times New Roman"/>
                <a:cs typeface="Times New Roman"/>
              </a:rPr>
              <a:t>}</a:t>
            </a:r>
            <a:endParaRPr sz="2500" dirty="0">
              <a:latin typeface="Times New Roman"/>
              <a:cs typeface="Times New Roman"/>
            </a:endParaRPr>
          </a:p>
          <a:p>
            <a:pPr marL="332105" marR="5080" indent="-332105">
              <a:lnSpc>
                <a:spcPts val="3110"/>
              </a:lnSpc>
              <a:spcBef>
                <a:spcPts val="105"/>
              </a:spcBef>
              <a:buClr>
                <a:srgbClr val="DD8046"/>
              </a:buClr>
              <a:buSzPct val="60000"/>
              <a:buFont typeface="Wingdings"/>
              <a:buChar char=""/>
              <a:tabLst>
                <a:tab pos="332105" algn="l"/>
                <a:tab pos="332740" algn="l"/>
              </a:tabLst>
            </a:pPr>
            <a:r>
              <a:rPr lang="en-US" sz="2500" spc="-5" dirty="0" smtClean="0">
                <a:latin typeface="Times New Roman"/>
                <a:cs typeface="Times New Roman"/>
              </a:rPr>
              <a:t>O</a:t>
            </a:r>
            <a:r>
              <a:rPr sz="2500" spc="-5" dirty="0" smtClean="0">
                <a:latin typeface="Times New Roman"/>
                <a:cs typeface="Times New Roman"/>
              </a:rPr>
              <a:t>utput</a:t>
            </a:r>
            <a:r>
              <a:rPr sz="2500" spc="10" dirty="0" smtClean="0">
                <a:latin typeface="Times New Roman"/>
                <a:cs typeface="Times New Roman"/>
              </a:rPr>
              <a:t> </a:t>
            </a:r>
            <a:r>
              <a:rPr sz="2500" spc="-5" dirty="0" smtClean="0">
                <a:latin typeface="Times New Roman"/>
                <a:cs typeface="Times New Roman"/>
              </a:rPr>
              <a:t>:</a:t>
            </a:r>
            <a:endParaRPr lang="en-US" sz="2500" spc="-5" dirty="0" smtClean="0">
              <a:latin typeface="Times New Roman"/>
              <a:cs typeface="Times New Roman"/>
            </a:endParaRPr>
          </a:p>
          <a:p>
            <a:pPr marR="5080">
              <a:lnSpc>
                <a:spcPts val="3110"/>
              </a:lnSpc>
              <a:spcBef>
                <a:spcPts val="105"/>
              </a:spcBef>
              <a:buClr>
                <a:srgbClr val="DD8046"/>
              </a:buClr>
              <a:buSzPct val="60000"/>
              <a:tabLst>
                <a:tab pos="332105" algn="l"/>
                <a:tab pos="332740" algn="l"/>
              </a:tabLst>
            </a:pPr>
            <a:r>
              <a:rPr lang="en-US" sz="2500" spc="-5" dirty="0" smtClean="0">
                <a:latin typeface="Times New Roman"/>
                <a:cs typeface="Times New Roman"/>
              </a:rPr>
              <a:t>           </a:t>
            </a:r>
            <a:r>
              <a:rPr sz="2500" spc="-5" dirty="0" smtClean="0">
                <a:latin typeface="Times New Roman"/>
                <a:cs typeface="Times New Roman"/>
              </a:rPr>
              <a:t> </a:t>
            </a:r>
            <a:r>
              <a:rPr sz="2500" spc="-610" dirty="0" smtClean="0">
                <a:latin typeface="Times New Roman"/>
                <a:cs typeface="Times New Roman"/>
              </a:rPr>
              <a:t> </a:t>
            </a:r>
            <a:r>
              <a:rPr sz="2500" spc="-5" dirty="0">
                <a:latin typeface="Times New Roman"/>
                <a:cs typeface="Times New Roman"/>
              </a:rPr>
              <a:t>ch1 contains</a:t>
            </a:r>
            <a:r>
              <a:rPr sz="2500" spc="30" dirty="0">
                <a:latin typeface="Times New Roman"/>
                <a:cs typeface="Times New Roman"/>
              </a:rPr>
              <a:t> </a:t>
            </a:r>
            <a:r>
              <a:rPr sz="2500" spc="-5" dirty="0">
                <a:latin typeface="Times New Roman"/>
                <a:cs typeface="Times New Roman"/>
              </a:rPr>
              <a:t>X</a:t>
            </a:r>
            <a:endParaRPr sz="2500" dirty="0">
              <a:latin typeface="Times New Roman"/>
              <a:cs typeface="Times New Roman"/>
            </a:endParaRPr>
          </a:p>
          <a:p>
            <a:pPr marL="927100">
              <a:lnSpc>
                <a:spcPts val="2975"/>
              </a:lnSpc>
            </a:pPr>
            <a:r>
              <a:rPr sz="2500" spc="-5" dirty="0">
                <a:latin typeface="Times New Roman"/>
                <a:cs typeface="Times New Roman"/>
              </a:rPr>
              <a:t>ch1</a:t>
            </a:r>
            <a:r>
              <a:rPr sz="2500" spc="-20" dirty="0">
                <a:latin typeface="Times New Roman"/>
                <a:cs typeface="Times New Roman"/>
              </a:rPr>
              <a:t> </a:t>
            </a:r>
            <a:r>
              <a:rPr sz="2500" spc="-5" dirty="0">
                <a:latin typeface="Times New Roman"/>
                <a:cs typeface="Times New Roman"/>
              </a:rPr>
              <a:t>is</a:t>
            </a:r>
            <a:r>
              <a:rPr sz="2500" spc="-10" dirty="0">
                <a:latin typeface="Times New Roman"/>
                <a:cs typeface="Times New Roman"/>
              </a:rPr>
              <a:t> </a:t>
            </a:r>
            <a:r>
              <a:rPr sz="2500" spc="-5" dirty="0">
                <a:latin typeface="Times New Roman"/>
                <a:cs typeface="Times New Roman"/>
              </a:rPr>
              <a:t>now</a:t>
            </a:r>
            <a:r>
              <a:rPr sz="2500" spc="-114" dirty="0">
                <a:latin typeface="Times New Roman"/>
                <a:cs typeface="Times New Roman"/>
              </a:rPr>
              <a:t> </a:t>
            </a:r>
            <a:r>
              <a:rPr sz="2500" spc="-5" dirty="0">
                <a:latin typeface="Times New Roman"/>
                <a:cs typeface="Times New Roman"/>
              </a:rPr>
              <a:t>Y</a:t>
            </a:r>
            <a:endParaRPr sz="25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49</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891664" cy="696595"/>
          </a:xfrm>
          <a:prstGeom prst="rect">
            <a:avLst/>
          </a:prstGeom>
        </p:spPr>
        <p:txBody>
          <a:bodyPr vert="horz" wrap="square" lIns="0" tIns="13335" rIns="0" bIns="0" rtlCol="0">
            <a:spAutoFit/>
          </a:bodyPr>
          <a:lstStyle/>
          <a:p>
            <a:pPr marL="12700">
              <a:lnSpc>
                <a:spcPct val="100000"/>
              </a:lnSpc>
              <a:spcBef>
                <a:spcPts val="105"/>
              </a:spcBef>
            </a:pPr>
            <a:r>
              <a:rPr sz="4400" dirty="0"/>
              <a:t>B</a:t>
            </a:r>
            <a:r>
              <a:rPr sz="4400" spc="5" dirty="0"/>
              <a:t>o</a:t>
            </a:r>
            <a:r>
              <a:rPr sz="4400" dirty="0"/>
              <a:t>ole</a:t>
            </a:r>
            <a:r>
              <a:rPr sz="4400" spc="5" dirty="0"/>
              <a:t>a</a:t>
            </a:r>
            <a:r>
              <a:rPr sz="4400" dirty="0"/>
              <a:t>n</a:t>
            </a:r>
            <a:endParaRPr sz="4400"/>
          </a:p>
        </p:txBody>
      </p:sp>
      <p:sp>
        <p:nvSpPr>
          <p:cNvPr id="3" name="object 3"/>
          <p:cNvSpPr txBox="1"/>
          <p:nvPr/>
        </p:nvSpPr>
        <p:spPr>
          <a:xfrm>
            <a:off x="307340" y="1620138"/>
            <a:ext cx="8682990" cy="4538345"/>
          </a:xfrm>
          <a:prstGeom prst="rect">
            <a:avLst/>
          </a:prstGeom>
        </p:spPr>
        <p:txBody>
          <a:bodyPr vert="horz" wrap="square" lIns="0" tIns="13335" rIns="0" bIns="0" rtlCol="0">
            <a:spAutoFit/>
          </a:bodyPr>
          <a:lstStyle/>
          <a:p>
            <a:pPr marL="332740" marR="5715" indent="-320040">
              <a:lnSpc>
                <a:spcPct val="100000"/>
              </a:lnSpc>
              <a:spcBef>
                <a:spcPts val="105"/>
              </a:spcBef>
              <a:buClr>
                <a:srgbClr val="DD8046"/>
              </a:buClr>
              <a:buSzPct val="60344"/>
              <a:buFont typeface="Wingdings"/>
              <a:buChar char=""/>
              <a:tabLst>
                <a:tab pos="332740" algn="l"/>
                <a:tab pos="1161415" algn="l"/>
                <a:tab pos="1824355" algn="l"/>
                <a:tab pos="2162810" algn="l"/>
                <a:tab pos="3683000" algn="l"/>
                <a:tab pos="4583430" algn="l"/>
                <a:tab pos="5634990" algn="l"/>
                <a:tab pos="7065009" algn="l"/>
                <a:tab pos="7668895" algn="l"/>
              </a:tabLst>
            </a:pPr>
            <a:r>
              <a:rPr sz="2900" dirty="0">
                <a:latin typeface="Times New Roman"/>
                <a:cs typeface="Times New Roman"/>
              </a:rPr>
              <a:t>Java	has	a	</a:t>
            </a:r>
            <a:r>
              <a:rPr sz="2900" spc="-15" dirty="0">
                <a:latin typeface="Times New Roman"/>
                <a:cs typeface="Times New Roman"/>
              </a:rPr>
              <a:t>p</a:t>
            </a:r>
            <a:r>
              <a:rPr sz="2900" dirty="0">
                <a:latin typeface="Times New Roman"/>
                <a:cs typeface="Times New Roman"/>
              </a:rPr>
              <a:t>r</a:t>
            </a:r>
            <a:r>
              <a:rPr sz="2900" spc="10" dirty="0">
                <a:latin typeface="Times New Roman"/>
                <a:cs typeface="Times New Roman"/>
              </a:rPr>
              <a:t>i</a:t>
            </a:r>
            <a:r>
              <a:rPr sz="2900" spc="-45" dirty="0">
                <a:latin typeface="Times New Roman"/>
                <a:cs typeface="Times New Roman"/>
              </a:rPr>
              <a:t>m</a:t>
            </a:r>
            <a:r>
              <a:rPr sz="2900" dirty="0">
                <a:latin typeface="Times New Roman"/>
                <a:cs typeface="Times New Roman"/>
              </a:rPr>
              <a:t>it</a:t>
            </a:r>
            <a:r>
              <a:rPr sz="2900" spc="-10" dirty="0">
                <a:latin typeface="Times New Roman"/>
                <a:cs typeface="Times New Roman"/>
              </a:rPr>
              <a:t>i</a:t>
            </a:r>
            <a:r>
              <a:rPr sz="2900" spc="-15" dirty="0">
                <a:latin typeface="Times New Roman"/>
                <a:cs typeface="Times New Roman"/>
              </a:rPr>
              <a:t>v</a:t>
            </a:r>
            <a:r>
              <a:rPr sz="2900" dirty="0">
                <a:latin typeface="Times New Roman"/>
                <a:cs typeface="Times New Roman"/>
              </a:rPr>
              <a:t>e	typ</a:t>
            </a:r>
            <a:r>
              <a:rPr sz="2900" spc="-25" dirty="0">
                <a:latin typeface="Times New Roman"/>
                <a:cs typeface="Times New Roman"/>
              </a:rPr>
              <a:t>e</a:t>
            </a:r>
            <a:r>
              <a:rPr sz="2900" dirty="0">
                <a:latin typeface="Times New Roman"/>
                <a:cs typeface="Times New Roman"/>
              </a:rPr>
              <a:t>,	</a:t>
            </a:r>
            <a:r>
              <a:rPr sz="2900" spc="-20" dirty="0">
                <a:latin typeface="Times New Roman"/>
                <a:cs typeface="Times New Roman"/>
              </a:rPr>
              <a:t>c</a:t>
            </a:r>
            <a:r>
              <a:rPr sz="2900" dirty="0">
                <a:latin typeface="Times New Roman"/>
                <a:cs typeface="Times New Roman"/>
              </a:rPr>
              <a:t>al</a:t>
            </a:r>
            <a:r>
              <a:rPr sz="2900" spc="-15" dirty="0">
                <a:latin typeface="Times New Roman"/>
                <a:cs typeface="Times New Roman"/>
              </a:rPr>
              <a:t>l</a:t>
            </a:r>
            <a:r>
              <a:rPr sz="2900" dirty="0">
                <a:latin typeface="Times New Roman"/>
                <a:cs typeface="Times New Roman"/>
              </a:rPr>
              <a:t>ed	b</a:t>
            </a:r>
            <a:r>
              <a:rPr sz="2900" spc="-15" dirty="0">
                <a:latin typeface="Times New Roman"/>
                <a:cs typeface="Times New Roman"/>
              </a:rPr>
              <a:t>o</a:t>
            </a:r>
            <a:r>
              <a:rPr sz="2900" dirty="0">
                <a:latin typeface="Times New Roman"/>
                <a:cs typeface="Times New Roman"/>
              </a:rPr>
              <a:t>o</a:t>
            </a:r>
            <a:r>
              <a:rPr sz="2900" spc="-15" dirty="0">
                <a:latin typeface="Times New Roman"/>
                <a:cs typeface="Times New Roman"/>
              </a:rPr>
              <a:t>l</a:t>
            </a:r>
            <a:r>
              <a:rPr sz="2900" dirty="0">
                <a:latin typeface="Times New Roman"/>
                <a:cs typeface="Times New Roman"/>
              </a:rPr>
              <a:t>e</a:t>
            </a:r>
            <a:r>
              <a:rPr sz="2900" spc="-15" dirty="0">
                <a:latin typeface="Times New Roman"/>
                <a:cs typeface="Times New Roman"/>
              </a:rPr>
              <a:t>a</a:t>
            </a:r>
            <a:r>
              <a:rPr sz="2900" dirty="0">
                <a:latin typeface="Times New Roman"/>
                <a:cs typeface="Times New Roman"/>
              </a:rPr>
              <a:t>n,	for	</a:t>
            </a:r>
            <a:r>
              <a:rPr sz="2900" spc="-15" dirty="0">
                <a:latin typeface="Times New Roman"/>
                <a:cs typeface="Times New Roman"/>
              </a:rPr>
              <a:t>l</a:t>
            </a:r>
            <a:r>
              <a:rPr sz="2900" dirty="0">
                <a:latin typeface="Times New Roman"/>
                <a:cs typeface="Times New Roman"/>
              </a:rPr>
              <a:t>ogic</a:t>
            </a:r>
            <a:r>
              <a:rPr sz="2900" spc="-15" dirty="0">
                <a:latin typeface="Times New Roman"/>
                <a:cs typeface="Times New Roman"/>
              </a:rPr>
              <a:t>a</a:t>
            </a:r>
            <a:r>
              <a:rPr sz="2900" dirty="0">
                <a:latin typeface="Times New Roman"/>
                <a:cs typeface="Times New Roman"/>
              </a:rPr>
              <a:t>l  </a:t>
            </a:r>
            <a:r>
              <a:rPr sz="2900" spc="-5" dirty="0">
                <a:latin typeface="Times New Roman"/>
                <a:cs typeface="Times New Roman"/>
              </a:rPr>
              <a:t>values.</a:t>
            </a:r>
            <a:endParaRPr sz="2900">
              <a:latin typeface="Times New Roman"/>
              <a:cs typeface="Times New Roman"/>
            </a:endParaRPr>
          </a:p>
          <a:p>
            <a:pPr marL="332740" marR="5080" indent="-320040">
              <a:lnSpc>
                <a:spcPct val="100000"/>
              </a:lnSpc>
              <a:spcBef>
                <a:spcPts val="705"/>
              </a:spcBef>
              <a:buClr>
                <a:srgbClr val="DD8046"/>
              </a:buClr>
              <a:buSzPct val="60344"/>
              <a:buFont typeface="Wingdings"/>
              <a:buChar char=""/>
              <a:tabLst>
                <a:tab pos="332740" algn="l"/>
                <a:tab pos="732155" algn="l"/>
                <a:tab pos="1417955" algn="l"/>
                <a:tab pos="2286635" algn="l"/>
                <a:tab pos="3115945" algn="l"/>
                <a:tab pos="3821429" algn="l"/>
                <a:tab pos="4302760" algn="l"/>
                <a:tab pos="5030470" algn="l"/>
                <a:tab pos="6409690" algn="l"/>
                <a:tab pos="7616825" algn="l"/>
                <a:tab pos="8362315" algn="l"/>
              </a:tabLst>
            </a:pPr>
            <a:r>
              <a:rPr sz="2900" spc="5" dirty="0">
                <a:latin typeface="Times New Roman"/>
                <a:cs typeface="Times New Roman"/>
              </a:rPr>
              <a:t>I</a:t>
            </a:r>
            <a:r>
              <a:rPr sz="2900" dirty="0">
                <a:latin typeface="Times New Roman"/>
                <a:cs typeface="Times New Roman"/>
              </a:rPr>
              <a:t>t	</a:t>
            </a:r>
            <a:r>
              <a:rPr sz="2900" spc="-10" dirty="0">
                <a:latin typeface="Times New Roman"/>
                <a:cs typeface="Times New Roman"/>
              </a:rPr>
              <a:t>ca</a:t>
            </a:r>
            <a:r>
              <a:rPr sz="2900" dirty="0">
                <a:latin typeface="Times New Roman"/>
                <a:cs typeface="Times New Roman"/>
              </a:rPr>
              <a:t>n	h</a:t>
            </a:r>
            <a:r>
              <a:rPr sz="2900" spc="-20" dirty="0">
                <a:latin typeface="Times New Roman"/>
                <a:cs typeface="Times New Roman"/>
              </a:rPr>
              <a:t>a</a:t>
            </a:r>
            <a:r>
              <a:rPr sz="2900" dirty="0">
                <a:latin typeface="Times New Roman"/>
                <a:cs typeface="Times New Roman"/>
              </a:rPr>
              <a:t>ve	only	</a:t>
            </a:r>
            <a:r>
              <a:rPr sz="2900" spc="-15" dirty="0">
                <a:latin typeface="Times New Roman"/>
                <a:cs typeface="Times New Roman"/>
              </a:rPr>
              <a:t>o</a:t>
            </a:r>
            <a:r>
              <a:rPr sz="2900" dirty="0">
                <a:latin typeface="Times New Roman"/>
                <a:cs typeface="Times New Roman"/>
              </a:rPr>
              <a:t>ne	of	two	pos</a:t>
            </a:r>
            <a:r>
              <a:rPr sz="2900" spc="-15" dirty="0">
                <a:latin typeface="Times New Roman"/>
                <a:cs typeface="Times New Roman"/>
              </a:rPr>
              <a:t>s</a:t>
            </a:r>
            <a:r>
              <a:rPr sz="2900" dirty="0">
                <a:latin typeface="Times New Roman"/>
                <a:cs typeface="Times New Roman"/>
              </a:rPr>
              <a:t>ible	valu</a:t>
            </a:r>
            <a:r>
              <a:rPr sz="2900" spc="-15" dirty="0">
                <a:latin typeface="Times New Roman"/>
                <a:cs typeface="Times New Roman"/>
              </a:rPr>
              <a:t>e</a:t>
            </a:r>
            <a:r>
              <a:rPr sz="2900" dirty="0">
                <a:latin typeface="Times New Roman"/>
                <a:cs typeface="Times New Roman"/>
              </a:rPr>
              <a:t>s,	</a:t>
            </a:r>
            <a:r>
              <a:rPr sz="2900" spc="-15" dirty="0">
                <a:latin typeface="Times New Roman"/>
                <a:cs typeface="Times New Roman"/>
              </a:rPr>
              <a:t>t</a:t>
            </a:r>
            <a:r>
              <a:rPr sz="2900" dirty="0">
                <a:latin typeface="Times New Roman"/>
                <a:cs typeface="Times New Roman"/>
              </a:rPr>
              <a:t>rue	or  </a:t>
            </a:r>
            <a:r>
              <a:rPr sz="2900" spc="-5" dirty="0">
                <a:latin typeface="Times New Roman"/>
                <a:cs typeface="Times New Roman"/>
              </a:rPr>
              <a:t>false.</a:t>
            </a:r>
            <a:endParaRPr sz="2900">
              <a:latin typeface="Times New Roman"/>
              <a:cs typeface="Times New Roman"/>
            </a:endParaRPr>
          </a:p>
          <a:p>
            <a:pPr marL="332740" indent="-320040">
              <a:lnSpc>
                <a:spcPct val="100000"/>
              </a:lnSpc>
              <a:spcBef>
                <a:spcPts val="700"/>
              </a:spcBef>
              <a:buClr>
                <a:srgbClr val="DD8046"/>
              </a:buClr>
              <a:buSzPct val="60344"/>
              <a:buFont typeface="Wingdings"/>
              <a:buChar char=""/>
              <a:tabLst>
                <a:tab pos="332740" algn="l"/>
              </a:tabLst>
            </a:pPr>
            <a:r>
              <a:rPr sz="2900" dirty="0">
                <a:latin typeface="Times New Roman"/>
                <a:cs typeface="Times New Roman"/>
              </a:rPr>
              <a:t>This</a:t>
            </a:r>
            <a:r>
              <a:rPr sz="2900" spc="-15" dirty="0">
                <a:latin typeface="Times New Roman"/>
                <a:cs typeface="Times New Roman"/>
              </a:rPr>
              <a:t> </a:t>
            </a:r>
            <a:r>
              <a:rPr sz="2900" spc="-5" dirty="0">
                <a:latin typeface="Times New Roman"/>
                <a:cs typeface="Times New Roman"/>
              </a:rPr>
              <a:t>is</a:t>
            </a:r>
            <a:r>
              <a:rPr sz="2900" spc="-20" dirty="0">
                <a:latin typeface="Times New Roman"/>
                <a:cs typeface="Times New Roman"/>
              </a:rPr>
              <a:t> </a:t>
            </a:r>
            <a:r>
              <a:rPr sz="2900" dirty="0">
                <a:latin typeface="Times New Roman"/>
                <a:cs typeface="Times New Roman"/>
              </a:rPr>
              <a:t>the</a:t>
            </a:r>
            <a:r>
              <a:rPr sz="2900" spc="-5" dirty="0">
                <a:latin typeface="Times New Roman"/>
                <a:cs typeface="Times New Roman"/>
              </a:rPr>
              <a:t> </a:t>
            </a:r>
            <a:r>
              <a:rPr sz="2900" dirty="0">
                <a:latin typeface="Times New Roman"/>
                <a:cs typeface="Times New Roman"/>
              </a:rPr>
              <a:t>type</a:t>
            </a:r>
            <a:r>
              <a:rPr sz="2900" spc="-15" dirty="0">
                <a:latin typeface="Times New Roman"/>
                <a:cs typeface="Times New Roman"/>
              </a:rPr>
              <a:t> </a:t>
            </a:r>
            <a:r>
              <a:rPr sz="2900" dirty="0">
                <a:latin typeface="Times New Roman"/>
                <a:cs typeface="Times New Roman"/>
              </a:rPr>
              <a:t>returned</a:t>
            </a:r>
            <a:r>
              <a:rPr sz="2900" spc="-35" dirty="0">
                <a:latin typeface="Times New Roman"/>
                <a:cs typeface="Times New Roman"/>
              </a:rPr>
              <a:t> </a:t>
            </a:r>
            <a:r>
              <a:rPr sz="2900" dirty="0">
                <a:latin typeface="Times New Roman"/>
                <a:cs typeface="Times New Roman"/>
              </a:rPr>
              <a:t>by</a:t>
            </a:r>
            <a:r>
              <a:rPr sz="2900" spc="-5" dirty="0">
                <a:latin typeface="Times New Roman"/>
                <a:cs typeface="Times New Roman"/>
              </a:rPr>
              <a:t> </a:t>
            </a:r>
            <a:r>
              <a:rPr sz="2900" dirty="0">
                <a:latin typeface="Times New Roman"/>
                <a:cs typeface="Times New Roman"/>
              </a:rPr>
              <a:t>all</a:t>
            </a:r>
            <a:r>
              <a:rPr sz="2900" spc="-25" dirty="0">
                <a:latin typeface="Times New Roman"/>
                <a:cs typeface="Times New Roman"/>
              </a:rPr>
              <a:t> </a:t>
            </a:r>
            <a:r>
              <a:rPr sz="2900" spc="-5" dirty="0">
                <a:latin typeface="Times New Roman"/>
                <a:cs typeface="Times New Roman"/>
              </a:rPr>
              <a:t>relational</a:t>
            </a:r>
            <a:r>
              <a:rPr sz="2900" spc="-20" dirty="0">
                <a:latin typeface="Times New Roman"/>
                <a:cs typeface="Times New Roman"/>
              </a:rPr>
              <a:t> </a:t>
            </a:r>
            <a:r>
              <a:rPr sz="2900" dirty="0">
                <a:latin typeface="Times New Roman"/>
                <a:cs typeface="Times New Roman"/>
              </a:rPr>
              <a:t>operators.</a:t>
            </a:r>
            <a:endParaRPr sz="2900">
              <a:latin typeface="Times New Roman"/>
              <a:cs typeface="Times New Roman"/>
            </a:endParaRPr>
          </a:p>
          <a:p>
            <a:pPr marL="332740" indent="-320040">
              <a:lnSpc>
                <a:spcPct val="100000"/>
              </a:lnSpc>
              <a:spcBef>
                <a:spcPts val="695"/>
              </a:spcBef>
              <a:buClr>
                <a:srgbClr val="DD8046"/>
              </a:buClr>
              <a:buSzPct val="60344"/>
              <a:buFont typeface="Wingdings"/>
              <a:buChar char=""/>
              <a:tabLst>
                <a:tab pos="332740" algn="l"/>
              </a:tabLst>
            </a:pPr>
            <a:r>
              <a:rPr sz="2900" spc="-40" dirty="0">
                <a:latin typeface="Times New Roman"/>
                <a:cs typeface="Times New Roman"/>
              </a:rPr>
              <a:t>Variables</a:t>
            </a:r>
            <a:r>
              <a:rPr sz="2900" spc="-10" dirty="0">
                <a:latin typeface="Times New Roman"/>
                <a:cs typeface="Times New Roman"/>
              </a:rPr>
              <a:t> </a:t>
            </a:r>
            <a:r>
              <a:rPr sz="2900" dirty="0">
                <a:latin typeface="Times New Roman"/>
                <a:cs typeface="Times New Roman"/>
              </a:rPr>
              <a:t>are</a:t>
            </a:r>
            <a:r>
              <a:rPr sz="2900" spc="-15" dirty="0">
                <a:latin typeface="Times New Roman"/>
                <a:cs typeface="Times New Roman"/>
              </a:rPr>
              <a:t> </a:t>
            </a:r>
            <a:r>
              <a:rPr sz="2900" spc="-5" dirty="0">
                <a:latin typeface="Times New Roman"/>
                <a:cs typeface="Times New Roman"/>
              </a:rPr>
              <a:t>created </a:t>
            </a:r>
            <a:r>
              <a:rPr sz="2900" dirty="0">
                <a:latin typeface="Times New Roman"/>
                <a:cs typeface="Times New Roman"/>
              </a:rPr>
              <a:t>using</a:t>
            </a:r>
            <a:r>
              <a:rPr sz="2900" spc="-20" dirty="0">
                <a:latin typeface="Times New Roman"/>
                <a:cs typeface="Times New Roman"/>
              </a:rPr>
              <a:t> </a:t>
            </a:r>
            <a:r>
              <a:rPr sz="2900" dirty="0">
                <a:latin typeface="Times New Roman"/>
                <a:cs typeface="Times New Roman"/>
              </a:rPr>
              <a:t>the</a:t>
            </a:r>
            <a:r>
              <a:rPr sz="2900" spc="-5" dirty="0">
                <a:latin typeface="Times New Roman"/>
                <a:cs typeface="Times New Roman"/>
              </a:rPr>
              <a:t> </a:t>
            </a:r>
            <a:r>
              <a:rPr sz="2900" dirty="0">
                <a:latin typeface="Times New Roman"/>
                <a:cs typeface="Times New Roman"/>
              </a:rPr>
              <a:t>keyword</a:t>
            </a:r>
            <a:r>
              <a:rPr sz="2900" spc="-15" dirty="0">
                <a:latin typeface="Times New Roman"/>
                <a:cs typeface="Times New Roman"/>
              </a:rPr>
              <a:t> </a:t>
            </a:r>
            <a:r>
              <a:rPr sz="2900" b="1" dirty="0">
                <a:latin typeface="Times New Roman"/>
                <a:cs typeface="Times New Roman"/>
              </a:rPr>
              <a:t>boolean</a:t>
            </a:r>
            <a:r>
              <a:rPr sz="2900" dirty="0">
                <a:latin typeface="Times New Roman"/>
                <a:cs typeface="Times New Roman"/>
              </a:rPr>
              <a:t>.</a:t>
            </a:r>
            <a:endParaRPr sz="2900">
              <a:latin typeface="Times New Roman"/>
              <a:cs typeface="Times New Roman"/>
            </a:endParaRPr>
          </a:p>
          <a:p>
            <a:pPr marL="381000" marR="1365250">
              <a:lnSpc>
                <a:spcPct val="120000"/>
              </a:lnSpc>
              <a:spcBef>
                <a:spcPts val="15"/>
              </a:spcBef>
              <a:tabLst>
                <a:tab pos="1792605" algn="l"/>
              </a:tabLst>
            </a:pPr>
            <a:r>
              <a:rPr sz="2900" b="1" dirty="0">
                <a:latin typeface="Times New Roman"/>
                <a:cs typeface="Times New Roman"/>
              </a:rPr>
              <a:t>boolean	b;</a:t>
            </a:r>
            <a:r>
              <a:rPr sz="2900" b="1" spc="-20" dirty="0">
                <a:latin typeface="Times New Roman"/>
                <a:cs typeface="Times New Roman"/>
              </a:rPr>
              <a:t> </a:t>
            </a:r>
            <a:r>
              <a:rPr sz="2900" spc="-5" dirty="0">
                <a:latin typeface="Times New Roman"/>
                <a:cs typeface="Times New Roman"/>
              </a:rPr>
              <a:t>//</a:t>
            </a:r>
            <a:r>
              <a:rPr sz="2900" spc="-25" dirty="0">
                <a:latin typeface="Times New Roman"/>
                <a:cs typeface="Times New Roman"/>
              </a:rPr>
              <a:t> </a:t>
            </a:r>
            <a:r>
              <a:rPr sz="2900" dirty="0">
                <a:latin typeface="Times New Roman"/>
                <a:cs typeface="Times New Roman"/>
              </a:rPr>
              <a:t>b</a:t>
            </a:r>
            <a:r>
              <a:rPr sz="2900" spc="5" dirty="0">
                <a:latin typeface="Times New Roman"/>
                <a:cs typeface="Times New Roman"/>
              </a:rPr>
              <a:t> </a:t>
            </a:r>
            <a:r>
              <a:rPr sz="2900" dirty="0">
                <a:latin typeface="Times New Roman"/>
                <a:cs typeface="Times New Roman"/>
              </a:rPr>
              <a:t>stores</a:t>
            </a:r>
            <a:r>
              <a:rPr sz="2900" spc="-30" dirty="0">
                <a:latin typeface="Times New Roman"/>
                <a:cs typeface="Times New Roman"/>
              </a:rPr>
              <a:t> </a:t>
            </a:r>
            <a:r>
              <a:rPr sz="2900" spc="-5" dirty="0">
                <a:latin typeface="Times New Roman"/>
                <a:cs typeface="Times New Roman"/>
              </a:rPr>
              <a:t>either</a:t>
            </a:r>
            <a:r>
              <a:rPr sz="2900" spc="-20" dirty="0">
                <a:latin typeface="Times New Roman"/>
                <a:cs typeface="Times New Roman"/>
              </a:rPr>
              <a:t> </a:t>
            </a:r>
            <a:r>
              <a:rPr sz="2900" dirty="0">
                <a:latin typeface="Times New Roman"/>
                <a:cs typeface="Times New Roman"/>
              </a:rPr>
              <a:t>true</a:t>
            </a:r>
            <a:r>
              <a:rPr sz="2900" spc="-25" dirty="0">
                <a:latin typeface="Times New Roman"/>
                <a:cs typeface="Times New Roman"/>
              </a:rPr>
              <a:t> </a:t>
            </a:r>
            <a:r>
              <a:rPr sz="2900" dirty="0">
                <a:latin typeface="Times New Roman"/>
                <a:cs typeface="Times New Roman"/>
              </a:rPr>
              <a:t>or</a:t>
            </a:r>
            <a:r>
              <a:rPr sz="2900" spc="-5" dirty="0">
                <a:latin typeface="Times New Roman"/>
                <a:cs typeface="Times New Roman"/>
              </a:rPr>
              <a:t> </a:t>
            </a:r>
            <a:r>
              <a:rPr sz="2900" dirty="0">
                <a:latin typeface="Times New Roman"/>
                <a:cs typeface="Times New Roman"/>
              </a:rPr>
              <a:t>false</a:t>
            </a:r>
            <a:r>
              <a:rPr sz="2900" spc="-15" dirty="0">
                <a:latin typeface="Times New Roman"/>
                <a:cs typeface="Times New Roman"/>
              </a:rPr>
              <a:t> </a:t>
            </a:r>
            <a:r>
              <a:rPr sz="2900" dirty="0">
                <a:latin typeface="Times New Roman"/>
                <a:cs typeface="Times New Roman"/>
              </a:rPr>
              <a:t>value </a:t>
            </a:r>
            <a:r>
              <a:rPr sz="2900" spc="-710" dirty="0">
                <a:latin typeface="Times New Roman"/>
                <a:cs typeface="Times New Roman"/>
              </a:rPr>
              <a:t> </a:t>
            </a:r>
            <a:r>
              <a:rPr sz="2900" dirty="0">
                <a:latin typeface="Times New Roman"/>
                <a:cs typeface="Times New Roman"/>
              </a:rPr>
              <a:t>we</a:t>
            </a:r>
            <a:r>
              <a:rPr sz="2900" spc="-15" dirty="0">
                <a:latin typeface="Times New Roman"/>
                <a:cs typeface="Times New Roman"/>
              </a:rPr>
              <a:t> </a:t>
            </a:r>
            <a:r>
              <a:rPr sz="2900" spc="-5" dirty="0">
                <a:latin typeface="Times New Roman"/>
                <a:cs typeface="Times New Roman"/>
              </a:rPr>
              <a:t>can</a:t>
            </a:r>
            <a:r>
              <a:rPr sz="2900" spc="5" dirty="0">
                <a:latin typeface="Times New Roman"/>
                <a:cs typeface="Times New Roman"/>
              </a:rPr>
              <a:t> </a:t>
            </a:r>
            <a:r>
              <a:rPr sz="2900" spc="-5" dirty="0">
                <a:latin typeface="Times New Roman"/>
                <a:cs typeface="Times New Roman"/>
              </a:rPr>
              <a:t>assign </a:t>
            </a:r>
            <a:r>
              <a:rPr sz="2900" dirty="0">
                <a:latin typeface="Times New Roman"/>
                <a:cs typeface="Times New Roman"/>
              </a:rPr>
              <a:t>the</a:t>
            </a:r>
            <a:r>
              <a:rPr sz="2900" spc="-20" dirty="0">
                <a:latin typeface="Times New Roman"/>
                <a:cs typeface="Times New Roman"/>
              </a:rPr>
              <a:t> </a:t>
            </a:r>
            <a:r>
              <a:rPr sz="2900" dirty="0">
                <a:latin typeface="Times New Roman"/>
                <a:cs typeface="Times New Roman"/>
              </a:rPr>
              <a:t>value</a:t>
            </a:r>
            <a:r>
              <a:rPr sz="2900" spc="-20" dirty="0">
                <a:latin typeface="Times New Roman"/>
                <a:cs typeface="Times New Roman"/>
              </a:rPr>
              <a:t> </a:t>
            </a:r>
            <a:r>
              <a:rPr sz="2900" dirty="0">
                <a:latin typeface="Times New Roman"/>
                <a:cs typeface="Times New Roman"/>
              </a:rPr>
              <a:t>for</a:t>
            </a:r>
            <a:r>
              <a:rPr sz="2900" spc="-10" dirty="0">
                <a:latin typeface="Times New Roman"/>
                <a:cs typeface="Times New Roman"/>
              </a:rPr>
              <a:t> </a:t>
            </a:r>
            <a:r>
              <a:rPr sz="2900" dirty="0">
                <a:latin typeface="Times New Roman"/>
                <a:cs typeface="Times New Roman"/>
              </a:rPr>
              <a:t>b;</a:t>
            </a:r>
            <a:endParaRPr sz="2900">
              <a:latin typeface="Times New Roman"/>
              <a:cs typeface="Times New Roman"/>
            </a:endParaRPr>
          </a:p>
          <a:p>
            <a:pPr marL="381000">
              <a:lnSpc>
                <a:spcPct val="100000"/>
              </a:lnSpc>
              <a:spcBef>
                <a:spcPts val="700"/>
              </a:spcBef>
            </a:pPr>
            <a:r>
              <a:rPr sz="2900" b="1" dirty="0">
                <a:latin typeface="Times New Roman"/>
                <a:cs typeface="Times New Roman"/>
              </a:rPr>
              <a:t>b=false;</a:t>
            </a:r>
            <a:endParaRPr sz="29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50</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84531"/>
            <a:ext cx="5911850" cy="635000"/>
          </a:xfrm>
          <a:prstGeom prst="rect">
            <a:avLst/>
          </a:prstGeom>
        </p:spPr>
        <p:txBody>
          <a:bodyPr vert="horz" wrap="square" lIns="0" tIns="12065" rIns="0" bIns="0" rtlCol="0">
            <a:spAutoFit/>
          </a:bodyPr>
          <a:lstStyle/>
          <a:p>
            <a:pPr marL="12700">
              <a:lnSpc>
                <a:spcPct val="100000"/>
              </a:lnSpc>
              <a:spcBef>
                <a:spcPts val="95"/>
              </a:spcBef>
            </a:pPr>
            <a:r>
              <a:rPr dirty="0"/>
              <a:t>Demonstrate</a:t>
            </a:r>
            <a:r>
              <a:rPr spc="-35" dirty="0"/>
              <a:t> </a:t>
            </a:r>
            <a:r>
              <a:rPr dirty="0"/>
              <a:t>boolean</a:t>
            </a:r>
            <a:r>
              <a:rPr spc="-55" dirty="0"/>
              <a:t> </a:t>
            </a:r>
            <a:r>
              <a:rPr dirty="0"/>
              <a:t>values.</a:t>
            </a:r>
          </a:p>
        </p:txBody>
      </p:sp>
      <p:sp>
        <p:nvSpPr>
          <p:cNvPr id="3" name="object 3"/>
          <p:cNvSpPr txBox="1"/>
          <p:nvPr/>
        </p:nvSpPr>
        <p:spPr>
          <a:xfrm>
            <a:off x="383540" y="1536792"/>
            <a:ext cx="4494530" cy="2185035"/>
          </a:xfrm>
          <a:prstGeom prst="rect">
            <a:avLst/>
          </a:prstGeom>
        </p:spPr>
        <p:txBody>
          <a:bodyPr vert="horz" wrap="square" lIns="0" tIns="46990" rIns="0" bIns="0" rtlCol="0">
            <a:spAutoFit/>
          </a:bodyPr>
          <a:lstStyle/>
          <a:p>
            <a:pPr marL="12700">
              <a:lnSpc>
                <a:spcPct val="100000"/>
              </a:lnSpc>
              <a:spcBef>
                <a:spcPts val="370"/>
              </a:spcBef>
            </a:pPr>
            <a:r>
              <a:rPr sz="1800" dirty="0">
                <a:latin typeface="Times New Roman"/>
                <a:cs typeface="Times New Roman"/>
              </a:rPr>
              <a:t>class</a:t>
            </a:r>
            <a:r>
              <a:rPr sz="1800" spc="-35" dirty="0">
                <a:latin typeface="Times New Roman"/>
                <a:cs typeface="Times New Roman"/>
              </a:rPr>
              <a:t> </a:t>
            </a:r>
            <a:r>
              <a:rPr sz="1800" spc="-15" dirty="0">
                <a:latin typeface="Times New Roman"/>
                <a:cs typeface="Times New Roman"/>
              </a:rPr>
              <a:t>BoolTest</a:t>
            </a:r>
            <a:r>
              <a:rPr sz="1800" spc="-45" dirty="0">
                <a:latin typeface="Times New Roman"/>
                <a:cs typeface="Times New Roman"/>
              </a:rPr>
              <a:t> </a:t>
            </a:r>
            <a:r>
              <a:rPr sz="1800" dirty="0">
                <a:latin typeface="Times New Roman"/>
                <a:cs typeface="Times New Roman"/>
              </a:rPr>
              <a:t>{</a:t>
            </a:r>
            <a:endParaRPr sz="1800">
              <a:latin typeface="Times New Roman"/>
              <a:cs typeface="Times New Roman"/>
            </a:endParaRPr>
          </a:p>
          <a:p>
            <a:pPr marL="927100" marR="5080">
              <a:lnSpc>
                <a:spcPts val="2440"/>
              </a:lnSpc>
              <a:spcBef>
                <a:spcPts val="115"/>
              </a:spcBef>
            </a:pPr>
            <a:r>
              <a:rPr sz="1800" dirty="0">
                <a:latin typeface="Times New Roman"/>
                <a:cs typeface="Times New Roman"/>
              </a:rPr>
              <a:t>public static void </a:t>
            </a:r>
            <a:r>
              <a:rPr sz="1800" spc="-5" dirty="0">
                <a:latin typeface="Times New Roman"/>
                <a:cs typeface="Times New Roman"/>
              </a:rPr>
              <a:t>main(String </a:t>
            </a:r>
            <a:r>
              <a:rPr sz="1800" spc="-10" dirty="0">
                <a:latin typeface="Times New Roman"/>
                <a:cs typeface="Times New Roman"/>
              </a:rPr>
              <a:t>args[]) </a:t>
            </a:r>
            <a:r>
              <a:rPr sz="1800" dirty="0">
                <a:latin typeface="Times New Roman"/>
                <a:cs typeface="Times New Roman"/>
              </a:rPr>
              <a:t>{ </a:t>
            </a:r>
            <a:r>
              <a:rPr sz="1800" spc="-434" dirty="0">
                <a:latin typeface="Times New Roman"/>
                <a:cs typeface="Times New Roman"/>
              </a:rPr>
              <a:t> </a:t>
            </a:r>
            <a:r>
              <a:rPr sz="1800" dirty="0">
                <a:latin typeface="Times New Roman"/>
                <a:cs typeface="Times New Roman"/>
              </a:rPr>
              <a:t>boolean</a:t>
            </a:r>
            <a:r>
              <a:rPr sz="1800" spc="-20" dirty="0">
                <a:latin typeface="Times New Roman"/>
                <a:cs typeface="Times New Roman"/>
              </a:rPr>
              <a:t> </a:t>
            </a:r>
            <a:r>
              <a:rPr sz="1800" dirty="0">
                <a:latin typeface="Times New Roman"/>
                <a:cs typeface="Times New Roman"/>
              </a:rPr>
              <a:t>b;</a:t>
            </a:r>
            <a:endParaRPr sz="1800">
              <a:latin typeface="Times New Roman"/>
              <a:cs typeface="Times New Roman"/>
            </a:endParaRPr>
          </a:p>
          <a:p>
            <a:pPr marL="927100">
              <a:lnSpc>
                <a:spcPct val="100000"/>
              </a:lnSpc>
              <a:spcBef>
                <a:spcPts val="130"/>
              </a:spcBef>
            </a:pPr>
            <a:r>
              <a:rPr sz="1800" dirty="0">
                <a:latin typeface="Times New Roman"/>
                <a:cs typeface="Times New Roman"/>
              </a:rPr>
              <a:t>b</a:t>
            </a:r>
            <a:r>
              <a:rPr sz="1800" spc="-40"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false;</a:t>
            </a:r>
            <a:endParaRPr sz="1800">
              <a:latin typeface="Times New Roman"/>
              <a:cs typeface="Times New Roman"/>
            </a:endParaRPr>
          </a:p>
          <a:p>
            <a:pPr marL="927100" marR="727710">
              <a:lnSpc>
                <a:spcPts val="2440"/>
              </a:lnSpc>
              <a:spcBef>
                <a:spcPts val="110"/>
              </a:spcBef>
            </a:pPr>
            <a:r>
              <a:rPr sz="1800" dirty="0">
                <a:latin typeface="Times New Roman"/>
                <a:cs typeface="Times New Roman"/>
              </a:rPr>
              <a:t>System.out.println("b</a:t>
            </a:r>
            <a:r>
              <a:rPr sz="1800" spc="-55" dirty="0">
                <a:latin typeface="Times New Roman"/>
                <a:cs typeface="Times New Roman"/>
              </a:rPr>
              <a:t> </a:t>
            </a:r>
            <a:r>
              <a:rPr sz="1800" spc="-5" dirty="0">
                <a:latin typeface="Times New Roman"/>
                <a:cs typeface="Times New Roman"/>
              </a:rPr>
              <a:t>is</a:t>
            </a:r>
            <a:r>
              <a:rPr sz="1800" spc="-15" dirty="0">
                <a:latin typeface="Times New Roman"/>
                <a:cs typeface="Times New Roman"/>
              </a:rPr>
              <a:t> </a:t>
            </a:r>
            <a:r>
              <a:rPr sz="1800" spc="-5" dirty="0">
                <a:latin typeface="Times New Roman"/>
                <a:cs typeface="Times New Roman"/>
              </a:rPr>
              <a:t>"</a:t>
            </a:r>
            <a:r>
              <a:rPr sz="1800" spc="-1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b); </a:t>
            </a:r>
            <a:r>
              <a:rPr sz="1800" spc="-434" dirty="0">
                <a:latin typeface="Times New Roman"/>
                <a:cs typeface="Times New Roman"/>
              </a:rPr>
              <a:t> </a:t>
            </a:r>
            <a:r>
              <a:rPr sz="1800" dirty="0">
                <a:latin typeface="Times New Roman"/>
                <a:cs typeface="Times New Roman"/>
              </a:rPr>
              <a:t>b</a:t>
            </a:r>
            <a:r>
              <a:rPr sz="1800" spc="-15" dirty="0">
                <a:latin typeface="Times New Roman"/>
                <a:cs typeface="Times New Roman"/>
              </a:rPr>
              <a:t> </a:t>
            </a:r>
            <a:r>
              <a:rPr sz="1800" dirty="0">
                <a:latin typeface="Times New Roman"/>
                <a:cs typeface="Times New Roman"/>
              </a:rPr>
              <a:t>= true;</a:t>
            </a:r>
            <a:endParaRPr sz="1800">
              <a:latin typeface="Times New Roman"/>
              <a:cs typeface="Times New Roman"/>
            </a:endParaRPr>
          </a:p>
          <a:p>
            <a:pPr marL="927100">
              <a:lnSpc>
                <a:spcPct val="100000"/>
              </a:lnSpc>
              <a:spcBef>
                <a:spcPts val="135"/>
              </a:spcBef>
            </a:pPr>
            <a:r>
              <a:rPr sz="1800" dirty="0">
                <a:latin typeface="Times New Roman"/>
                <a:cs typeface="Times New Roman"/>
              </a:rPr>
              <a:t>System.out.println("b</a:t>
            </a:r>
            <a:r>
              <a:rPr sz="1800" spc="-50" dirty="0">
                <a:latin typeface="Times New Roman"/>
                <a:cs typeface="Times New Roman"/>
              </a:rPr>
              <a:t> </a:t>
            </a:r>
            <a:r>
              <a:rPr sz="1800" spc="-5" dirty="0">
                <a:latin typeface="Times New Roman"/>
                <a:cs typeface="Times New Roman"/>
              </a:rPr>
              <a:t>is</a:t>
            </a:r>
            <a:r>
              <a:rPr sz="1800" spc="-10" dirty="0">
                <a:latin typeface="Times New Roman"/>
                <a:cs typeface="Times New Roman"/>
              </a:rPr>
              <a:t> </a:t>
            </a:r>
            <a:r>
              <a:rPr sz="1800" spc="-5" dirty="0">
                <a:latin typeface="Times New Roman"/>
                <a:cs typeface="Times New Roman"/>
              </a:rPr>
              <a:t>"</a:t>
            </a:r>
            <a:r>
              <a:rPr sz="1800" spc="-10"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b);</a:t>
            </a:r>
            <a:endParaRPr sz="1800">
              <a:latin typeface="Times New Roman"/>
              <a:cs typeface="Times New Roman"/>
            </a:endParaRPr>
          </a:p>
        </p:txBody>
      </p:sp>
      <p:sp>
        <p:nvSpPr>
          <p:cNvPr id="4" name="object 4"/>
          <p:cNvSpPr txBox="1"/>
          <p:nvPr/>
        </p:nvSpPr>
        <p:spPr>
          <a:xfrm>
            <a:off x="1298194" y="3729608"/>
            <a:ext cx="431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if(b)</a:t>
            </a:r>
            <a:endParaRPr sz="1800">
              <a:latin typeface="Times New Roman"/>
              <a:cs typeface="Times New Roman"/>
            </a:endParaRPr>
          </a:p>
        </p:txBody>
      </p:sp>
      <p:sp>
        <p:nvSpPr>
          <p:cNvPr id="5" name="object 5"/>
          <p:cNvSpPr txBox="1"/>
          <p:nvPr/>
        </p:nvSpPr>
        <p:spPr>
          <a:xfrm>
            <a:off x="2212594" y="3694557"/>
            <a:ext cx="5104765" cy="644525"/>
          </a:xfrm>
          <a:prstGeom prst="rect">
            <a:avLst/>
          </a:prstGeom>
        </p:spPr>
        <p:txBody>
          <a:bodyPr vert="horz" wrap="square" lIns="0" tIns="12700" rIns="0" bIns="0" rtlCol="0">
            <a:spAutoFit/>
          </a:bodyPr>
          <a:lstStyle/>
          <a:p>
            <a:pPr marL="12700" marR="5080" indent="914400">
              <a:lnSpc>
                <a:spcPct val="112799"/>
              </a:lnSpc>
              <a:spcBef>
                <a:spcPts val="100"/>
              </a:spcBef>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boolean</a:t>
            </a:r>
            <a:r>
              <a:rPr sz="1800" spc="-20" dirty="0">
                <a:latin typeface="Times New Roman"/>
                <a:cs typeface="Times New Roman"/>
              </a:rPr>
              <a:t> </a:t>
            </a:r>
            <a:r>
              <a:rPr sz="1800" dirty="0">
                <a:latin typeface="Times New Roman"/>
                <a:cs typeface="Times New Roman"/>
              </a:rPr>
              <a:t>value</a:t>
            </a:r>
            <a:r>
              <a:rPr sz="1800" spc="-5" dirty="0">
                <a:latin typeface="Times New Roman"/>
                <a:cs typeface="Times New Roman"/>
              </a:rPr>
              <a:t> </a:t>
            </a:r>
            <a:r>
              <a:rPr sz="1800" dirty="0">
                <a:latin typeface="Times New Roman"/>
                <a:cs typeface="Times New Roman"/>
              </a:rPr>
              <a:t>can</a:t>
            </a:r>
            <a:r>
              <a:rPr sz="1800" spc="-15" dirty="0">
                <a:latin typeface="Times New Roman"/>
                <a:cs typeface="Times New Roman"/>
              </a:rPr>
              <a:t> </a:t>
            </a:r>
            <a:r>
              <a:rPr sz="1800" dirty="0">
                <a:latin typeface="Times New Roman"/>
                <a:cs typeface="Times New Roman"/>
              </a:rPr>
              <a:t>control</a:t>
            </a:r>
            <a:r>
              <a:rPr sz="1800" spc="-2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if</a:t>
            </a:r>
            <a:r>
              <a:rPr sz="1800" spc="-5" dirty="0">
                <a:latin typeface="Times New Roman"/>
                <a:cs typeface="Times New Roman"/>
              </a:rPr>
              <a:t> statement </a:t>
            </a:r>
            <a:r>
              <a:rPr sz="1800" spc="-434" dirty="0">
                <a:latin typeface="Times New Roman"/>
                <a:cs typeface="Times New Roman"/>
              </a:rPr>
              <a:t> </a:t>
            </a:r>
            <a:r>
              <a:rPr sz="1800" dirty="0">
                <a:latin typeface="Times New Roman"/>
                <a:cs typeface="Times New Roman"/>
              </a:rPr>
              <a:t>System.out.println("This</a:t>
            </a:r>
            <a:r>
              <a:rPr sz="1800" spc="-40" dirty="0">
                <a:latin typeface="Times New Roman"/>
                <a:cs typeface="Times New Roman"/>
              </a:rPr>
              <a:t> </a:t>
            </a:r>
            <a:r>
              <a:rPr sz="1800" spc="-5" dirty="0">
                <a:latin typeface="Times New Roman"/>
                <a:cs typeface="Times New Roman"/>
              </a:rPr>
              <a:t>is</a:t>
            </a:r>
            <a:r>
              <a:rPr sz="1800" spc="-10" dirty="0">
                <a:latin typeface="Times New Roman"/>
                <a:cs typeface="Times New Roman"/>
              </a:rPr>
              <a:t> </a:t>
            </a:r>
            <a:r>
              <a:rPr sz="1800" dirty="0">
                <a:latin typeface="Times New Roman"/>
                <a:cs typeface="Times New Roman"/>
              </a:rPr>
              <a:t>executed.");</a:t>
            </a:r>
            <a:endParaRPr sz="1800">
              <a:latin typeface="Times New Roman"/>
              <a:cs typeface="Times New Roman"/>
            </a:endParaRPr>
          </a:p>
        </p:txBody>
      </p:sp>
      <p:sp>
        <p:nvSpPr>
          <p:cNvPr id="6" name="object 6"/>
          <p:cNvSpPr txBox="1"/>
          <p:nvPr/>
        </p:nvSpPr>
        <p:spPr>
          <a:xfrm>
            <a:off x="1183944" y="4312631"/>
            <a:ext cx="5041265" cy="1877060"/>
          </a:xfrm>
          <a:prstGeom prst="rect">
            <a:avLst/>
          </a:prstGeom>
        </p:spPr>
        <p:txBody>
          <a:bodyPr vert="horz" wrap="square" lIns="0" tIns="46990" rIns="0" bIns="0" rtlCol="0">
            <a:spAutoFit/>
          </a:bodyPr>
          <a:lstStyle/>
          <a:p>
            <a:pPr marL="126364">
              <a:lnSpc>
                <a:spcPct val="100000"/>
              </a:lnSpc>
              <a:spcBef>
                <a:spcPts val="370"/>
              </a:spcBef>
            </a:pPr>
            <a:r>
              <a:rPr sz="1800" dirty="0">
                <a:latin typeface="Times New Roman"/>
                <a:cs typeface="Times New Roman"/>
              </a:rPr>
              <a:t>b</a:t>
            </a:r>
            <a:r>
              <a:rPr sz="1800" spc="-40"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false;</a:t>
            </a:r>
            <a:endParaRPr sz="1800">
              <a:latin typeface="Times New Roman"/>
              <a:cs typeface="Times New Roman"/>
            </a:endParaRPr>
          </a:p>
          <a:p>
            <a:pPr marL="126364">
              <a:lnSpc>
                <a:spcPct val="100000"/>
              </a:lnSpc>
              <a:spcBef>
                <a:spcPts val="265"/>
              </a:spcBef>
            </a:pPr>
            <a:r>
              <a:rPr sz="1800" dirty="0">
                <a:latin typeface="Times New Roman"/>
                <a:cs typeface="Times New Roman"/>
              </a:rPr>
              <a:t>if(b)</a:t>
            </a:r>
            <a:endParaRPr sz="1800">
              <a:latin typeface="Times New Roman"/>
              <a:cs typeface="Times New Roman"/>
            </a:endParaRPr>
          </a:p>
          <a:p>
            <a:pPr marR="5080" algn="r">
              <a:lnSpc>
                <a:spcPct val="100000"/>
              </a:lnSpc>
              <a:spcBef>
                <a:spcPts val="275"/>
              </a:spcBef>
            </a:pPr>
            <a:r>
              <a:rPr sz="1800" dirty="0">
                <a:latin typeface="Times New Roman"/>
                <a:cs typeface="Times New Roman"/>
              </a:rPr>
              <a:t>System.out.println("This</a:t>
            </a:r>
            <a:r>
              <a:rPr sz="1800" spc="-55" dirty="0">
                <a:latin typeface="Times New Roman"/>
                <a:cs typeface="Times New Roman"/>
              </a:rPr>
              <a:t> </a:t>
            </a:r>
            <a:r>
              <a:rPr sz="1800" spc="-5" dirty="0">
                <a:latin typeface="Times New Roman"/>
                <a:cs typeface="Times New Roman"/>
              </a:rPr>
              <a:t>is</a:t>
            </a:r>
            <a:r>
              <a:rPr sz="1800" spc="-30" dirty="0">
                <a:latin typeface="Times New Roman"/>
                <a:cs typeface="Times New Roman"/>
              </a:rPr>
              <a:t> </a:t>
            </a:r>
            <a:r>
              <a:rPr sz="1800" dirty="0">
                <a:latin typeface="Times New Roman"/>
                <a:cs typeface="Times New Roman"/>
              </a:rPr>
              <a:t>not</a:t>
            </a:r>
            <a:r>
              <a:rPr sz="1800" spc="-15" dirty="0">
                <a:latin typeface="Times New Roman"/>
                <a:cs typeface="Times New Roman"/>
              </a:rPr>
              <a:t> </a:t>
            </a:r>
            <a:r>
              <a:rPr sz="1800" dirty="0">
                <a:latin typeface="Times New Roman"/>
                <a:cs typeface="Times New Roman"/>
              </a:rPr>
              <a:t>executed.");</a:t>
            </a:r>
            <a:endParaRPr sz="1800">
              <a:latin typeface="Times New Roman"/>
              <a:cs typeface="Times New Roman"/>
            </a:endParaRPr>
          </a:p>
          <a:p>
            <a:pPr marR="27940" algn="r">
              <a:lnSpc>
                <a:spcPct val="100000"/>
              </a:lnSpc>
              <a:spcBef>
                <a:spcPts val="265"/>
              </a:spcBef>
            </a:pPr>
            <a:r>
              <a:rPr sz="1800" dirty="0">
                <a:latin typeface="Times New Roman"/>
                <a:cs typeface="Times New Roman"/>
              </a:rPr>
              <a:t>//</a:t>
            </a:r>
            <a:r>
              <a:rPr sz="1800" spc="-5" dirty="0">
                <a:latin typeface="Times New Roman"/>
                <a:cs typeface="Times New Roman"/>
              </a:rPr>
              <a:t> outcome</a:t>
            </a:r>
            <a:r>
              <a:rPr sz="1800" dirty="0">
                <a:latin typeface="Times New Roman"/>
                <a:cs typeface="Times New Roman"/>
              </a:rPr>
              <a:t> of</a:t>
            </a:r>
            <a:r>
              <a:rPr sz="1800" spc="-5" dirty="0">
                <a:latin typeface="Times New Roman"/>
                <a:cs typeface="Times New Roman"/>
              </a:rPr>
              <a:t> </a:t>
            </a:r>
            <a:r>
              <a:rPr sz="1800" dirty="0">
                <a:latin typeface="Times New Roman"/>
                <a:cs typeface="Times New Roman"/>
              </a:rPr>
              <a:t>a</a:t>
            </a:r>
            <a:r>
              <a:rPr sz="1800" spc="-10" dirty="0">
                <a:latin typeface="Times New Roman"/>
                <a:cs typeface="Times New Roman"/>
              </a:rPr>
              <a:t> </a:t>
            </a:r>
            <a:r>
              <a:rPr sz="1800" dirty="0">
                <a:latin typeface="Times New Roman"/>
                <a:cs typeface="Times New Roman"/>
              </a:rPr>
              <a:t>relational</a:t>
            </a:r>
            <a:r>
              <a:rPr sz="1800" spc="-35" dirty="0">
                <a:latin typeface="Times New Roman"/>
                <a:cs typeface="Times New Roman"/>
              </a:rPr>
              <a:t> </a:t>
            </a:r>
            <a:r>
              <a:rPr sz="1800" dirty="0">
                <a:latin typeface="Times New Roman"/>
                <a:cs typeface="Times New Roman"/>
              </a:rPr>
              <a:t>operator</a:t>
            </a:r>
            <a:r>
              <a:rPr sz="1800" spc="-5" dirty="0">
                <a:latin typeface="Times New Roman"/>
                <a:cs typeface="Times New Roman"/>
              </a:rPr>
              <a:t> is</a:t>
            </a:r>
            <a:r>
              <a:rPr sz="1800" spc="-15"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boolean</a:t>
            </a:r>
            <a:r>
              <a:rPr sz="1800" spc="-20" dirty="0">
                <a:latin typeface="Times New Roman"/>
                <a:cs typeface="Times New Roman"/>
              </a:rPr>
              <a:t> </a:t>
            </a:r>
            <a:r>
              <a:rPr sz="1800" dirty="0">
                <a:latin typeface="Times New Roman"/>
                <a:cs typeface="Times New Roman"/>
              </a:rPr>
              <a:t>value</a:t>
            </a:r>
            <a:endParaRPr sz="1800">
              <a:latin typeface="Times New Roman"/>
              <a:cs typeface="Times New Roman"/>
            </a:endParaRPr>
          </a:p>
          <a:p>
            <a:pPr marL="126364">
              <a:lnSpc>
                <a:spcPct val="100000"/>
              </a:lnSpc>
              <a:spcBef>
                <a:spcPts val="265"/>
              </a:spcBef>
            </a:pPr>
            <a:r>
              <a:rPr sz="1800" dirty="0">
                <a:latin typeface="Times New Roman"/>
                <a:cs typeface="Times New Roman"/>
              </a:rPr>
              <a:t>System.out.println("10</a:t>
            </a:r>
            <a:r>
              <a:rPr sz="1800" spc="-50" dirty="0">
                <a:latin typeface="Times New Roman"/>
                <a:cs typeface="Times New Roman"/>
              </a:rPr>
              <a:t> </a:t>
            </a:r>
            <a:r>
              <a:rPr sz="1800" dirty="0">
                <a:latin typeface="Times New Roman"/>
                <a:cs typeface="Times New Roman"/>
              </a:rPr>
              <a:t>&gt;</a:t>
            </a:r>
            <a:r>
              <a:rPr sz="1800" spc="-5" dirty="0">
                <a:latin typeface="Times New Roman"/>
                <a:cs typeface="Times New Roman"/>
              </a:rPr>
              <a:t> </a:t>
            </a:r>
            <a:r>
              <a:rPr sz="1800" dirty="0">
                <a:latin typeface="Times New Roman"/>
                <a:cs typeface="Times New Roman"/>
              </a:rPr>
              <a:t>9</a:t>
            </a:r>
            <a:r>
              <a:rPr sz="1800" spc="-10" dirty="0">
                <a:latin typeface="Times New Roman"/>
                <a:cs typeface="Times New Roman"/>
              </a:rPr>
              <a:t> </a:t>
            </a:r>
            <a:r>
              <a:rPr sz="1800" dirty="0">
                <a:latin typeface="Times New Roman"/>
                <a:cs typeface="Times New Roman"/>
              </a:rPr>
              <a:t>is</a:t>
            </a:r>
            <a:r>
              <a:rPr sz="1800" spc="-1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(10</a:t>
            </a:r>
            <a:r>
              <a:rPr sz="1800" spc="-5" dirty="0">
                <a:latin typeface="Times New Roman"/>
                <a:cs typeface="Times New Roman"/>
              </a:rPr>
              <a:t> </a:t>
            </a:r>
            <a:r>
              <a:rPr sz="1800" dirty="0">
                <a:latin typeface="Times New Roman"/>
                <a:cs typeface="Times New Roman"/>
              </a:rPr>
              <a:t>&gt;</a:t>
            </a:r>
            <a:r>
              <a:rPr sz="1800" spc="-25" dirty="0">
                <a:latin typeface="Times New Roman"/>
                <a:cs typeface="Times New Roman"/>
              </a:rPr>
              <a:t> </a:t>
            </a:r>
            <a:r>
              <a:rPr sz="1800" dirty="0">
                <a:latin typeface="Times New Roman"/>
                <a:cs typeface="Times New Roman"/>
              </a:rPr>
              <a:t>9));</a:t>
            </a:r>
            <a:endParaRPr sz="1800">
              <a:latin typeface="Times New Roman"/>
              <a:cs typeface="Times New Roman"/>
            </a:endParaRPr>
          </a:p>
          <a:p>
            <a:pPr marL="12700">
              <a:lnSpc>
                <a:spcPct val="100000"/>
              </a:lnSpc>
              <a:spcBef>
                <a:spcPts val="275"/>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383540" y="6197600"/>
            <a:ext cx="1352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13" name="object 13"/>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51</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457200"/>
            <a:ext cx="5765489" cy="646331"/>
          </a:xfrm>
          <a:prstGeom prst="rect">
            <a:avLst/>
          </a:prstGeom>
        </p:spPr>
        <p:txBody>
          <a:bodyPr wrap="none">
            <a:spAutoFit/>
          </a:bodyPr>
          <a:lstStyle/>
          <a:p>
            <a:r>
              <a:rPr lang="en-IN" sz="3600" b="1" dirty="0"/>
              <a:t>Type Conversion and Casting </a:t>
            </a:r>
          </a:p>
        </p:txBody>
      </p:sp>
      <p:sp>
        <p:nvSpPr>
          <p:cNvPr id="5" name="Rectangle 4"/>
          <p:cNvSpPr/>
          <p:nvPr/>
        </p:nvSpPr>
        <p:spPr>
          <a:xfrm>
            <a:off x="609600" y="1676400"/>
            <a:ext cx="8305800" cy="2769989"/>
          </a:xfrm>
          <a:prstGeom prst="rect">
            <a:avLst/>
          </a:prstGeom>
        </p:spPr>
        <p:txBody>
          <a:bodyPr wrap="square">
            <a:spAutoFit/>
          </a:bodyPr>
          <a:lstStyle/>
          <a:p>
            <a:r>
              <a:rPr lang="en-US" sz="2400" b="1" dirty="0"/>
              <a:t>Types of Type </a:t>
            </a:r>
            <a:r>
              <a:rPr lang="en-US" sz="2400" b="1" dirty="0" smtClean="0"/>
              <a:t>Casting:</a:t>
            </a:r>
          </a:p>
          <a:p>
            <a:endParaRPr lang="en-US" dirty="0"/>
          </a:p>
          <a:p>
            <a:r>
              <a:rPr lang="en-US" dirty="0"/>
              <a:t>There are two types of type casting:</a:t>
            </a:r>
          </a:p>
          <a:p>
            <a:pPr marL="285750" indent="-285750">
              <a:lnSpc>
                <a:spcPct val="200000"/>
              </a:lnSpc>
              <a:buFont typeface="Arial" panose="020B0604020202020204" pitchFamily="34" charset="0"/>
              <a:buChar char="•"/>
            </a:pPr>
            <a:r>
              <a:rPr lang="en-US" sz="2400" dirty="0"/>
              <a:t>Widening Type Casting</a:t>
            </a:r>
          </a:p>
          <a:p>
            <a:pPr marL="285750" indent="-285750">
              <a:lnSpc>
                <a:spcPct val="200000"/>
              </a:lnSpc>
              <a:buFont typeface="Arial" panose="020B0604020202020204" pitchFamily="34" charset="0"/>
              <a:buChar char="•"/>
            </a:pPr>
            <a:r>
              <a:rPr lang="en-US" sz="2400" dirty="0"/>
              <a:t>Narrowing Type Casting</a:t>
            </a:r>
          </a:p>
          <a:p>
            <a:endParaRPr lang="en-US" dirty="0" smtClean="0"/>
          </a:p>
        </p:txBody>
      </p:sp>
    </p:spTree>
    <p:extLst>
      <p:ext uri="{BB962C8B-B14F-4D97-AF65-F5344CB8AC3E}">
        <p14:creationId xmlns:p14="http://schemas.microsoft.com/office/powerpoint/2010/main" val="1451503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803895" cy="615553"/>
          </a:xfrm>
        </p:spPr>
        <p:txBody>
          <a:bodyPr/>
          <a:lstStyle/>
          <a:p>
            <a:r>
              <a:rPr lang="en-US" b="1" dirty="0"/>
              <a:t>Widening Type </a:t>
            </a:r>
            <a:r>
              <a:rPr lang="en-US" b="1" dirty="0" smtClean="0"/>
              <a:t>Casting</a:t>
            </a:r>
            <a:endParaRPr lang="en-IN" dirty="0"/>
          </a:p>
        </p:txBody>
      </p:sp>
      <p:sp>
        <p:nvSpPr>
          <p:cNvPr id="3" name="Text Placeholder 2"/>
          <p:cNvSpPr>
            <a:spLocks noGrp="1"/>
          </p:cNvSpPr>
          <p:nvPr>
            <p:ph type="body" idx="1"/>
          </p:nvPr>
        </p:nvSpPr>
        <p:spPr>
          <a:xfrm>
            <a:off x="152400" y="1447800"/>
            <a:ext cx="8684260" cy="5886227"/>
          </a:xfrm>
        </p:spPr>
        <p:txBody>
          <a:bodyPr/>
          <a:lstStyle/>
          <a:p>
            <a:pPr marL="457200" indent="-457200">
              <a:lnSpc>
                <a:spcPct val="150000"/>
              </a:lnSpc>
              <a:buFont typeface="Wingdings" panose="05000000000000000000" pitchFamily="2" charset="2"/>
              <a:buChar char="q"/>
            </a:pPr>
            <a:r>
              <a:rPr lang="en-US" dirty="0" smtClean="0"/>
              <a:t>Converting </a:t>
            </a:r>
            <a:r>
              <a:rPr lang="en-US" dirty="0"/>
              <a:t>a lower data type into a higher one is called </a:t>
            </a:r>
            <a:r>
              <a:rPr lang="en-US" b="1" dirty="0"/>
              <a:t>widening</a:t>
            </a:r>
            <a:r>
              <a:rPr lang="en-US" dirty="0"/>
              <a:t> type casting. </a:t>
            </a:r>
            <a:endParaRPr lang="en-US" dirty="0" smtClean="0"/>
          </a:p>
          <a:p>
            <a:pPr marL="457200" indent="-457200">
              <a:lnSpc>
                <a:spcPct val="150000"/>
              </a:lnSpc>
              <a:buFont typeface="Wingdings" panose="05000000000000000000" pitchFamily="2" charset="2"/>
              <a:buChar char="q"/>
            </a:pPr>
            <a:r>
              <a:rPr lang="en-US" dirty="0" smtClean="0"/>
              <a:t>It </a:t>
            </a:r>
            <a:r>
              <a:rPr lang="en-US" dirty="0"/>
              <a:t>is also known as </a:t>
            </a:r>
            <a:r>
              <a:rPr lang="en-US" b="1" dirty="0"/>
              <a:t>implicit conversion</a:t>
            </a:r>
            <a:r>
              <a:rPr lang="en-US" dirty="0"/>
              <a:t> or </a:t>
            </a:r>
            <a:r>
              <a:rPr lang="en-US" b="1" dirty="0"/>
              <a:t>casting down</a:t>
            </a:r>
            <a:r>
              <a:rPr lang="en-US" dirty="0" smtClean="0"/>
              <a:t>.</a:t>
            </a:r>
          </a:p>
          <a:p>
            <a:pPr marL="457200" indent="-457200">
              <a:lnSpc>
                <a:spcPct val="150000"/>
              </a:lnSpc>
              <a:buFont typeface="Wingdings" panose="05000000000000000000" pitchFamily="2" charset="2"/>
              <a:buChar char="q"/>
            </a:pPr>
            <a:r>
              <a:rPr lang="en-US" dirty="0" smtClean="0"/>
              <a:t> </a:t>
            </a:r>
            <a:r>
              <a:rPr lang="en-US" dirty="0"/>
              <a:t>It is done automatically</a:t>
            </a:r>
            <a:r>
              <a:rPr lang="en-US" dirty="0" smtClean="0"/>
              <a:t>.</a:t>
            </a:r>
          </a:p>
          <a:p>
            <a:pPr marL="457200" indent="-457200">
              <a:lnSpc>
                <a:spcPct val="150000"/>
              </a:lnSpc>
              <a:buFont typeface="Wingdings" panose="05000000000000000000" pitchFamily="2" charset="2"/>
              <a:buChar char="q"/>
            </a:pPr>
            <a:r>
              <a:rPr lang="en-US" dirty="0" smtClean="0"/>
              <a:t> </a:t>
            </a:r>
            <a:r>
              <a:rPr lang="en-US" dirty="0"/>
              <a:t>It is safe because there is no chance to lose data</a:t>
            </a:r>
            <a:r>
              <a:rPr lang="en-US" dirty="0" smtClean="0"/>
              <a:t>.</a:t>
            </a:r>
          </a:p>
          <a:p>
            <a:pPr>
              <a:lnSpc>
                <a:spcPct val="150000"/>
              </a:lnSpc>
            </a:pPr>
            <a:r>
              <a:rPr lang="en-US" dirty="0" smtClean="0"/>
              <a:t> </a:t>
            </a:r>
            <a:r>
              <a:rPr lang="en-US" dirty="0"/>
              <a:t>It takes place when:</a:t>
            </a:r>
          </a:p>
          <a:p>
            <a:pPr marL="914400" lvl="1" indent="-457200">
              <a:lnSpc>
                <a:spcPct val="150000"/>
              </a:lnSpc>
              <a:buFont typeface="Arial" panose="020B0604020202020204" pitchFamily="34" charset="0"/>
              <a:buChar char="•"/>
            </a:pPr>
            <a:r>
              <a:rPr lang="en-US" sz="2400" dirty="0"/>
              <a:t>Both data types must be compatible with each other.</a:t>
            </a:r>
          </a:p>
          <a:p>
            <a:pPr marL="914400" lvl="1" indent="-457200">
              <a:lnSpc>
                <a:spcPct val="150000"/>
              </a:lnSpc>
              <a:buFont typeface="Arial" panose="020B0604020202020204" pitchFamily="34" charset="0"/>
              <a:buChar char="•"/>
            </a:pPr>
            <a:r>
              <a:rPr lang="en-US" sz="2400" dirty="0"/>
              <a:t>The target type must be larger than the source type.</a:t>
            </a:r>
          </a:p>
          <a:p>
            <a:pPr>
              <a:lnSpc>
                <a:spcPct val="150000"/>
              </a:lnSpc>
            </a:pPr>
            <a:r>
              <a:rPr lang="en-US" b="1" dirty="0"/>
              <a:t>byte</a:t>
            </a:r>
            <a:r>
              <a:rPr lang="en-US" dirty="0"/>
              <a:t> -&gt; </a:t>
            </a:r>
            <a:r>
              <a:rPr lang="en-US" b="1" dirty="0"/>
              <a:t>short</a:t>
            </a:r>
            <a:r>
              <a:rPr lang="en-US" dirty="0"/>
              <a:t> -&gt; </a:t>
            </a:r>
            <a:r>
              <a:rPr lang="en-US" b="1" dirty="0"/>
              <a:t>char</a:t>
            </a:r>
            <a:r>
              <a:rPr lang="en-US" dirty="0"/>
              <a:t> -&gt; </a:t>
            </a:r>
            <a:r>
              <a:rPr lang="en-US" b="1" dirty="0"/>
              <a:t>int</a:t>
            </a:r>
            <a:r>
              <a:rPr lang="en-US" dirty="0"/>
              <a:t> -&gt; </a:t>
            </a:r>
            <a:r>
              <a:rPr lang="en-US" b="1" dirty="0"/>
              <a:t>long</a:t>
            </a:r>
            <a:r>
              <a:rPr lang="en-US" dirty="0"/>
              <a:t> -&gt; </a:t>
            </a:r>
            <a:r>
              <a:rPr lang="en-US" b="1" dirty="0"/>
              <a:t>float</a:t>
            </a:r>
            <a:r>
              <a:rPr lang="en-US" dirty="0"/>
              <a:t> -&gt; </a:t>
            </a:r>
            <a:r>
              <a:rPr lang="en-US" b="1" dirty="0"/>
              <a:t>double</a:t>
            </a:r>
            <a:r>
              <a:rPr lang="en-US" dirty="0"/>
              <a:t>  </a:t>
            </a:r>
          </a:p>
          <a:p>
            <a:endParaRPr lang="en-IN" dirty="0"/>
          </a:p>
        </p:txBody>
      </p:sp>
    </p:spTree>
    <p:extLst>
      <p:ext uri="{BB962C8B-B14F-4D97-AF65-F5344CB8AC3E}">
        <p14:creationId xmlns:p14="http://schemas.microsoft.com/office/powerpoint/2010/main" val="10408462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1524000"/>
            <a:ext cx="6629400" cy="3970318"/>
          </a:xfrm>
          <a:prstGeom prst="rect">
            <a:avLst/>
          </a:prstGeom>
        </p:spPr>
        <p:txBody>
          <a:bodyPr wrap="square">
            <a:spAutoFit/>
          </a:bodyPr>
          <a:lstStyle/>
          <a:p>
            <a:r>
              <a:rPr lang="en-IN" dirty="0">
                <a:solidFill>
                  <a:srgbClr val="2B2A29"/>
                </a:solidFill>
                <a:latin typeface="Montserrat"/>
              </a:rPr>
              <a:t>public </a:t>
            </a:r>
            <a:r>
              <a:rPr lang="en-IN" b="1" dirty="0">
                <a:solidFill>
                  <a:srgbClr val="006699"/>
                </a:solidFill>
                <a:latin typeface="Montserrat"/>
              </a:rPr>
              <a:t>class</a:t>
            </a:r>
            <a:r>
              <a:rPr lang="en-IN" dirty="0">
                <a:solidFill>
                  <a:srgbClr val="2B2A29"/>
                </a:solidFill>
                <a:latin typeface="Montserrat"/>
              </a:rPr>
              <a:t> </a:t>
            </a:r>
            <a:r>
              <a:rPr lang="en-IN" dirty="0" err="1">
                <a:solidFill>
                  <a:srgbClr val="2B2A29"/>
                </a:solidFill>
                <a:latin typeface="Montserrat"/>
              </a:rPr>
              <a:t>WideningTypeCastingExample</a:t>
            </a:r>
            <a:r>
              <a:rPr lang="en-IN" dirty="0">
                <a:solidFill>
                  <a:srgbClr val="2B2A29"/>
                </a:solidFill>
                <a:latin typeface="Montserrat"/>
              </a:rPr>
              <a:t>  </a:t>
            </a:r>
          </a:p>
          <a:p>
            <a:r>
              <a:rPr lang="en-IN" dirty="0">
                <a:solidFill>
                  <a:srgbClr val="2B2A29"/>
                </a:solidFill>
                <a:latin typeface="Montserrat"/>
              </a:rPr>
              <a:t>{  </a:t>
            </a:r>
          </a:p>
          <a:p>
            <a:r>
              <a:rPr lang="en-IN" b="1" dirty="0">
                <a:solidFill>
                  <a:srgbClr val="006699"/>
                </a:solidFill>
                <a:latin typeface="Montserrat"/>
              </a:rPr>
              <a:t>public</a:t>
            </a:r>
            <a:r>
              <a:rPr lang="en-IN" dirty="0">
                <a:solidFill>
                  <a:srgbClr val="2B2A29"/>
                </a:solidFill>
                <a:latin typeface="Montserrat"/>
              </a:rPr>
              <a:t> </a:t>
            </a:r>
            <a:r>
              <a:rPr lang="en-IN" b="1" dirty="0">
                <a:solidFill>
                  <a:srgbClr val="006699"/>
                </a:solidFill>
                <a:latin typeface="Montserrat"/>
              </a:rPr>
              <a:t>static</a:t>
            </a:r>
            <a:r>
              <a:rPr lang="en-IN" dirty="0">
                <a:solidFill>
                  <a:srgbClr val="2B2A29"/>
                </a:solidFill>
                <a:latin typeface="Montserrat"/>
              </a:rPr>
              <a:t> </a:t>
            </a:r>
            <a:r>
              <a:rPr lang="en-IN" b="1" dirty="0">
                <a:solidFill>
                  <a:srgbClr val="006699"/>
                </a:solidFill>
                <a:latin typeface="Montserrat"/>
              </a:rPr>
              <a:t>void</a:t>
            </a:r>
            <a:r>
              <a:rPr lang="en-IN" dirty="0">
                <a:solidFill>
                  <a:srgbClr val="2B2A29"/>
                </a:solidFill>
                <a:latin typeface="Montserrat"/>
              </a:rPr>
              <a:t> main(String[] </a:t>
            </a:r>
            <a:r>
              <a:rPr lang="en-IN" dirty="0" err="1">
                <a:solidFill>
                  <a:srgbClr val="2B2A29"/>
                </a:solidFill>
                <a:latin typeface="Montserrat"/>
              </a:rPr>
              <a:t>args</a:t>
            </a:r>
            <a:r>
              <a:rPr lang="en-IN" dirty="0">
                <a:solidFill>
                  <a:srgbClr val="2B2A29"/>
                </a:solidFill>
                <a:latin typeface="Montserrat"/>
              </a:rPr>
              <a:t>)  </a:t>
            </a:r>
          </a:p>
          <a:p>
            <a:r>
              <a:rPr lang="en-IN" dirty="0">
                <a:solidFill>
                  <a:srgbClr val="2B2A29"/>
                </a:solidFill>
                <a:latin typeface="Montserrat"/>
              </a:rPr>
              <a:t>{  </a:t>
            </a:r>
          </a:p>
          <a:p>
            <a:pPr lvl="1"/>
            <a:r>
              <a:rPr lang="en-IN" b="1" dirty="0" err="1">
                <a:solidFill>
                  <a:srgbClr val="006699"/>
                </a:solidFill>
                <a:latin typeface="Montserrat"/>
              </a:rPr>
              <a:t>int</a:t>
            </a:r>
            <a:r>
              <a:rPr lang="en-IN" dirty="0">
                <a:solidFill>
                  <a:srgbClr val="2B2A29"/>
                </a:solidFill>
                <a:latin typeface="Montserrat"/>
              </a:rPr>
              <a:t> x = </a:t>
            </a:r>
            <a:r>
              <a:rPr lang="en-IN" dirty="0">
                <a:solidFill>
                  <a:srgbClr val="C00000"/>
                </a:solidFill>
                <a:latin typeface="Montserrat"/>
              </a:rPr>
              <a:t>7</a:t>
            </a:r>
            <a:r>
              <a:rPr lang="en-IN" dirty="0">
                <a:solidFill>
                  <a:srgbClr val="2B2A29"/>
                </a:solidFill>
                <a:latin typeface="Montserrat"/>
              </a:rPr>
              <a:t>;  </a:t>
            </a:r>
          </a:p>
          <a:p>
            <a:pPr lvl="1"/>
            <a:r>
              <a:rPr lang="en-IN" dirty="0">
                <a:solidFill>
                  <a:srgbClr val="2B2A29"/>
                </a:solidFill>
                <a:latin typeface="Montserrat"/>
              </a:rPr>
              <a:t>//automatically converts the integer type into long type  </a:t>
            </a:r>
          </a:p>
          <a:p>
            <a:pPr lvl="1"/>
            <a:r>
              <a:rPr lang="en-IN" b="1" dirty="0">
                <a:solidFill>
                  <a:srgbClr val="006699"/>
                </a:solidFill>
                <a:latin typeface="Montserrat"/>
              </a:rPr>
              <a:t>long</a:t>
            </a:r>
            <a:r>
              <a:rPr lang="en-IN" dirty="0">
                <a:solidFill>
                  <a:srgbClr val="2B2A29"/>
                </a:solidFill>
                <a:latin typeface="Montserrat"/>
              </a:rPr>
              <a:t> y = x;  </a:t>
            </a:r>
          </a:p>
          <a:p>
            <a:pPr lvl="1"/>
            <a:r>
              <a:rPr lang="en-IN" dirty="0">
                <a:solidFill>
                  <a:srgbClr val="2B2A29"/>
                </a:solidFill>
                <a:latin typeface="Montserrat"/>
              </a:rPr>
              <a:t>//automatically converts the long type into float type  </a:t>
            </a:r>
          </a:p>
          <a:p>
            <a:pPr lvl="1"/>
            <a:r>
              <a:rPr lang="en-IN" b="1" dirty="0">
                <a:solidFill>
                  <a:srgbClr val="006699"/>
                </a:solidFill>
                <a:latin typeface="Montserrat"/>
              </a:rPr>
              <a:t>float</a:t>
            </a:r>
            <a:r>
              <a:rPr lang="en-IN" dirty="0">
                <a:solidFill>
                  <a:srgbClr val="2B2A29"/>
                </a:solidFill>
                <a:latin typeface="Montserrat"/>
              </a:rPr>
              <a:t> z = y;  </a:t>
            </a:r>
          </a:p>
          <a:p>
            <a:pPr lvl="1"/>
            <a:r>
              <a:rPr lang="en-IN" dirty="0">
                <a:solidFill>
                  <a:srgbClr val="2B2A29"/>
                </a:solidFill>
                <a:latin typeface="Montserrat"/>
              </a:rPr>
              <a:t>System.out.println("Before conversion, </a:t>
            </a:r>
            <a:r>
              <a:rPr lang="en-IN" dirty="0" err="1">
                <a:solidFill>
                  <a:srgbClr val="2B2A29"/>
                </a:solidFill>
                <a:latin typeface="Montserrat"/>
              </a:rPr>
              <a:t>int</a:t>
            </a:r>
            <a:r>
              <a:rPr lang="en-IN" dirty="0">
                <a:solidFill>
                  <a:srgbClr val="2B2A29"/>
                </a:solidFill>
                <a:latin typeface="Montserrat"/>
              </a:rPr>
              <a:t> value "+x);  </a:t>
            </a:r>
          </a:p>
          <a:p>
            <a:pPr lvl="1"/>
            <a:r>
              <a:rPr lang="en-IN" dirty="0">
                <a:solidFill>
                  <a:srgbClr val="2B2A29"/>
                </a:solidFill>
                <a:latin typeface="Montserrat"/>
              </a:rPr>
              <a:t>System.out.println("After conversion, long value "+y);  </a:t>
            </a:r>
          </a:p>
          <a:p>
            <a:pPr lvl="1"/>
            <a:r>
              <a:rPr lang="en-IN" dirty="0">
                <a:solidFill>
                  <a:srgbClr val="2B2A29"/>
                </a:solidFill>
                <a:latin typeface="Montserrat"/>
              </a:rPr>
              <a:t>System.out.println("After conversion, float value "+z);  </a:t>
            </a:r>
          </a:p>
          <a:p>
            <a:r>
              <a:rPr lang="en-IN" dirty="0">
                <a:solidFill>
                  <a:srgbClr val="2B2A29"/>
                </a:solidFill>
                <a:latin typeface="Montserrat"/>
              </a:rPr>
              <a:t>}  </a:t>
            </a:r>
          </a:p>
          <a:p>
            <a:r>
              <a:rPr lang="en-IN" dirty="0">
                <a:solidFill>
                  <a:srgbClr val="2B2A29"/>
                </a:solidFill>
                <a:latin typeface="Montserrat"/>
              </a:rPr>
              <a:t>}  </a:t>
            </a:r>
            <a:endParaRPr lang="en-IN" b="0" i="0" dirty="0">
              <a:solidFill>
                <a:srgbClr val="2B2A29"/>
              </a:solidFill>
              <a:effectLst/>
              <a:latin typeface="Montserrat"/>
            </a:endParaRPr>
          </a:p>
        </p:txBody>
      </p:sp>
    </p:spTree>
    <p:extLst>
      <p:ext uri="{BB962C8B-B14F-4D97-AF65-F5344CB8AC3E}">
        <p14:creationId xmlns:p14="http://schemas.microsoft.com/office/powerpoint/2010/main" val="1942062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447800"/>
            <a:ext cx="8610600" cy="53553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700" dirty="0">
                <a:latin typeface="Times New Roman"/>
                <a:cs typeface="Times New Roman"/>
              </a:rPr>
              <a:t>Converting a higher data type into a lower one is called narrowing type casting. </a:t>
            </a:r>
          </a:p>
          <a:p>
            <a:pPr marL="285750" indent="-285750" algn="just">
              <a:lnSpc>
                <a:spcPct val="150000"/>
              </a:lnSpc>
              <a:buFont typeface="Arial" panose="020B0604020202020204" pitchFamily="34" charset="0"/>
              <a:buChar char="•"/>
            </a:pPr>
            <a:r>
              <a:rPr lang="en-US" sz="2700" dirty="0">
                <a:latin typeface="Times New Roman"/>
                <a:cs typeface="Times New Roman"/>
              </a:rPr>
              <a:t>It is also known as explicit conversion or casting up. </a:t>
            </a:r>
          </a:p>
          <a:p>
            <a:pPr marL="285750" indent="-285750" algn="just">
              <a:lnSpc>
                <a:spcPct val="150000"/>
              </a:lnSpc>
              <a:buFont typeface="Arial" panose="020B0604020202020204" pitchFamily="34" charset="0"/>
              <a:buChar char="•"/>
            </a:pPr>
            <a:r>
              <a:rPr lang="en-US" sz="2700" dirty="0">
                <a:latin typeface="Times New Roman"/>
                <a:cs typeface="Times New Roman"/>
              </a:rPr>
              <a:t>It is done manually by the programmer.</a:t>
            </a:r>
          </a:p>
          <a:p>
            <a:pPr marL="285750" indent="-285750" algn="just">
              <a:lnSpc>
                <a:spcPct val="150000"/>
              </a:lnSpc>
              <a:buFont typeface="Arial" panose="020B0604020202020204" pitchFamily="34" charset="0"/>
              <a:buChar char="•"/>
            </a:pPr>
            <a:r>
              <a:rPr lang="en-US" sz="2700" dirty="0">
                <a:latin typeface="Times New Roman"/>
                <a:cs typeface="Times New Roman"/>
              </a:rPr>
              <a:t> If we do not perform casting, then the compiler reports a compile-time error.</a:t>
            </a:r>
          </a:p>
          <a:p>
            <a:pPr lvl="1">
              <a:lnSpc>
                <a:spcPct val="150000"/>
              </a:lnSpc>
            </a:pPr>
            <a:r>
              <a:rPr lang="en-US" sz="2700" b="1" dirty="0" smtClean="0">
                <a:latin typeface="Times New Roman"/>
                <a:cs typeface="Times New Roman"/>
              </a:rPr>
              <a:t>double</a:t>
            </a:r>
            <a:r>
              <a:rPr lang="en-US" sz="2700" b="1" dirty="0">
                <a:latin typeface="Times New Roman"/>
                <a:cs typeface="Times New Roman"/>
              </a:rPr>
              <a:t> -&gt; float -&gt; long -&gt; int -&gt; char -&gt; short -&gt; byte</a:t>
            </a:r>
            <a:r>
              <a:rPr lang="en-US" sz="2700" dirty="0">
                <a:latin typeface="Times New Roman"/>
                <a:cs typeface="Times New Roman"/>
              </a:rPr>
              <a:t>  </a:t>
            </a:r>
            <a:endParaRPr lang="en-US" sz="2700" dirty="0" smtClean="0">
              <a:latin typeface="Times New Roman"/>
              <a:cs typeface="Times New Roman"/>
            </a:endParaRPr>
          </a:p>
          <a:p>
            <a:pPr lvl="1" algn="just">
              <a:lnSpc>
                <a:spcPct val="150000"/>
              </a:lnSpc>
            </a:pPr>
            <a:r>
              <a:rPr lang="en-US" sz="2700" dirty="0" smtClean="0">
                <a:latin typeface="Times New Roman"/>
                <a:cs typeface="Times New Roman"/>
              </a:rPr>
              <a:t>Data </a:t>
            </a:r>
            <a:r>
              <a:rPr lang="en-US" sz="2700" dirty="0">
                <a:latin typeface="Times New Roman"/>
                <a:cs typeface="Times New Roman"/>
              </a:rPr>
              <a:t>loss in narrowing conversions</a:t>
            </a:r>
            <a:r>
              <a:rPr lang="en-US" sz="2700" dirty="0" smtClean="0">
                <a:latin typeface="Times New Roman"/>
                <a:cs typeface="Times New Roman"/>
              </a:rPr>
              <a:t>.</a:t>
            </a:r>
            <a:endParaRPr lang="en-US" dirty="0"/>
          </a:p>
          <a:p>
            <a:endParaRPr lang="en-US" b="0" i="0" dirty="0">
              <a:solidFill>
                <a:srgbClr val="2B2A29"/>
              </a:solidFill>
              <a:effectLst/>
              <a:latin typeface="Montserrat"/>
            </a:endParaRPr>
          </a:p>
        </p:txBody>
      </p:sp>
      <p:sp>
        <p:nvSpPr>
          <p:cNvPr id="5" name="Rectangle 4"/>
          <p:cNvSpPr/>
          <p:nvPr/>
        </p:nvSpPr>
        <p:spPr>
          <a:xfrm>
            <a:off x="533400" y="457200"/>
            <a:ext cx="4292137" cy="523220"/>
          </a:xfrm>
          <a:prstGeom prst="rect">
            <a:avLst/>
          </a:prstGeom>
        </p:spPr>
        <p:txBody>
          <a:bodyPr wrap="none">
            <a:spAutoFit/>
          </a:bodyPr>
          <a:lstStyle/>
          <a:p>
            <a:r>
              <a:rPr lang="en-US" sz="2800" b="1" dirty="0">
                <a:solidFill>
                  <a:srgbClr val="1D1D27"/>
                </a:solidFill>
                <a:latin typeface="Montserrat"/>
              </a:rPr>
              <a:t>Narrowing Type Casting</a:t>
            </a:r>
          </a:p>
        </p:txBody>
      </p:sp>
    </p:spTree>
    <p:extLst>
      <p:ext uri="{BB962C8B-B14F-4D97-AF65-F5344CB8AC3E}">
        <p14:creationId xmlns:p14="http://schemas.microsoft.com/office/powerpoint/2010/main" val="273115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457200"/>
            <a:ext cx="4018408" cy="523220"/>
          </a:xfrm>
          <a:prstGeom prst="rect">
            <a:avLst/>
          </a:prstGeom>
        </p:spPr>
        <p:txBody>
          <a:bodyPr wrap="none">
            <a:spAutoFit/>
          </a:bodyPr>
          <a:lstStyle/>
          <a:p>
            <a:r>
              <a:rPr lang="en-US" sz="2800" dirty="0">
                <a:solidFill>
                  <a:srgbClr val="1D1D27"/>
                </a:solidFill>
                <a:latin typeface="Montserrat"/>
              </a:rPr>
              <a:t>Narrowing Type Casting</a:t>
            </a:r>
          </a:p>
        </p:txBody>
      </p:sp>
      <p:sp>
        <p:nvSpPr>
          <p:cNvPr id="6" name="Rectangle 5"/>
          <p:cNvSpPr/>
          <p:nvPr/>
        </p:nvSpPr>
        <p:spPr>
          <a:xfrm>
            <a:off x="1295400" y="1447800"/>
            <a:ext cx="6858000" cy="4524315"/>
          </a:xfrm>
          <a:prstGeom prst="rect">
            <a:avLst/>
          </a:prstGeom>
        </p:spPr>
        <p:txBody>
          <a:bodyPr wrap="square">
            <a:spAutoFit/>
          </a:bodyPr>
          <a:lstStyle/>
          <a:p>
            <a:r>
              <a:rPr lang="en-IN" dirty="0">
                <a:solidFill>
                  <a:srgbClr val="2B2A29"/>
                </a:solidFill>
                <a:latin typeface="Montserrat"/>
              </a:rPr>
              <a:t>public </a:t>
            </a:r>
            <a:r>
              <a:rPr lang="en-IN" b="1" dirty="0">
                <a:solidFill>
                  <a:srgbClr val="006699"/>
                </a:solidFill>
                <a:latin typeface="Montserrat"/>
              </a:rPr>
              <a:t>class</a:t>
            </a:r>
            <a:r>
              <a:rPr lang="en-IN" dirty="0">
                <a:solidFill>
                  <a:srgbClr val="2B2A29"/>
                </a:solidFill>
                <a:latin typeface="Montserrat"/>
              </a:rPr>
              <a:t> </a:t>
            </a:r>
            <a:r>
              <a:rPr lang="en-IN" dirty="0" err="1" smtClean="0">
                <a:solidFill>
                  <a:srgbClr val="2B2A29"/>
                </a:solidFill>
                <a:latin typeface="Montserrat"/>
              </a:rPr>
              <a:t>NarrowingTCExample</a:t>
            </a:r>
            <a:r>
              <a:rPr lang="en-IN" dirty="0">
                <a:solidFill>
                  <a:srgbClr val="2B2A29"/>
                </a:solidFill>
                <a:latin typeface="Montserrat"/>
              </a:rPr>
              <a:t>  </a:t>
            </a:r>
          </a:p>
          <a:p>
            <a:r>
              <a:rPr lang="en-IN" dirty="0">
                <a:solidFill>
                  <a:srgbClr val="2B2A29"/>
                </a:solidFill>
                <a:latin typeface="Montserrat"/>
              </a:rPr>
              <a:t>{  </a:t>
            </a:r>
          </a:p>
          <a:p>
            <a:r>
              <a:rPr lang="en-IN" b="1" dirty="0">
                <a:solidFill>
                  <a:srgbClr val="006699"/>
                </a:solidFill>
                <a:latin typeface="Montserrat"/>
              </a:rPr>
              <a:t>public</a:t>
            </a:r>
            <a:r>
              <a:rPr lang="en-IN" dirty="0">
                <a:solidFill>
                  <a:srgbClr val="2B2A29"/>
                </a:solidFill>
                <a:latin typeface="Montserrat"/>
              </a:rPr>
              <a:t> </a:t>
            </a:r>
            <a:r>
              <a:rPr lang="en-IN" b="1" dirty="0">
                <a:solidFill>
                  <a:srgbClr val="006699"/>
                </a:solidFill>
                <a:latin typeface="Montserrat"/>
              </a:rPr>
              <a:t>static</a:t>
            </a:r>
            <a:r>
              <a:rPr lang="en-IN" dirty="0">
                <a:solidFill>
                  <a:srgbClr val="2B2A29"/>
                </a:solidFill>
                <a:latin typeface="Montserrat"/>
              </a:rPr>
              <a:t> </a:t>
            </a:r>
            <a:r>
              <a:rPr lang="en-IN" b="1" dirty="0">
                <a:solidFill>
                  <a:srgbClr val="006699"/>
                </a:solidFill>
                <a:latin typeface="Montserrat"/>
              </a:rPr>
              <a:t>void</a:t>
            </a:r>
            <a:r>
              <a:rPr lang="en-IN" dirty="0">
                <a:solidFill>
                  <a:srgbClr val="2B2A29"/>
                </a:solidFill>
                <a:latin typeface="Montserrat"/>
              </a:rPr>
              <a:t> main(String </a:t>
            </a:r>
            <a:r>
              <a:rPr lang="en-IN" dirty="0" err="1">
                <a:solidFill>
                  <a:srgbClr val="2B2A29"/>
                </a:solidFill>
                <a:latin typeface="Montserrat"/>
              </a:rPr>
              <a:t>args</a:t>
            </a:r>
            <a:r>
              <a:rPr lang="en-IN" dirty="0">
                <a:solidFill>
                  <a:srgbClr val="2B2A29"/>
                </a:solidFill>
                <a:latin typeface="Montserrat"/>
              </a:rPr>
              <a:t>[])  </a:t>
            </a:r>
          </a:p>
          <a:p>
            <a:r>
              <a:rPr lang="en-IN" dirty="0">
                <a:solidFill>
                  <a:srgbClr val="2B2A29"/>
                </a:solidFill>
                <a:latin typeface="Montserrat"/>
              </a:rPr>
              <a:t>{  </a:t>
            </a:r>
          </a:p>
          <a:p>
            <a:pPr lvl="2"/>
            <a:r>
              <a:rPr lang="en-IN" b="1" dirty="0">
                <a:solidFill>
                  <a:srgbClr val="006699"/>
                </a:solidFill>
                <a:latin typeface="Montserrat"/>
              </a:rPr>
              <a:t>double</a:t>
            </a:r>
            <a:r>
              <a:rPr lang="en-IN" dirty="0">
                <a:solidFill>
                  <a:srgbClr val="2B2A29"/>
                </a:solidFill>
                <a:latin typeface="Montserrat"/>
              </a:rPr>
              <a:t> d = </a:t>
            </a:r>
            <a:r>
              <a:rPr lang="en-IN" dirty="0">
                <a:solidFill>
                  <a:srgbClr val="C00000"/>
                </a:solidFill>
                <a:latin typeface="Montserrat"/>
              </a:rPr>
              <a:t>166.66</a:t>
            </a:r>
            <a:r>
              <a:rPr lang="en-IN" dirty="0">
                <a:solidFill>
                  <a:srgbClr val="2B2A29"/>
                </a:solidFill>
                <a:latin typeface="Montserrat"/>
              </a:rPr>
              <a:t>;  </a:t>
            </a:r>
          </a:p>
          <a:p>
            <a:pPr lvl="2"/>
            <a:r>
              <a:rPr lang="en-IN" dirty="0">
                <a:solidFill>
                  <a:srgbClr val="2B2A29"/>
                </a:solidFill>
                <a:latin typeface="Montserrat"/>
              </a:rPr>
              <a:t>//converting double data type into long data type  </a:t>
            </a:r>
          </a:p>
          <a:p>
            <a:pPr lvl="2"/>
            <a:r>
              <a:rPr lang="en-IN" b="1" dirty="0">
                <a:solidFill>
                  <a:srgbClr val="006699"/>
                </a:solidFill>
                <a:latin typeface="Montserrat"/>
              </a:rPr>
              <a:t>long</a:t>
            </a:r>
            <a:r>
              <a:rPr lang="en-IN" dirty="0">
                <a:solidFill>
                  <a:srgbClr val="2B2A29"/>
                </a:solidFill>
                <a:latin typeface="Montserrat"/>
              </a:rPr>
              <a:t> l = (</a:t>
            </a:r>
            <a:r>
              <a:rPr lang="en-IN" b="1" dirty="0">
                <a:solidFill>
                  <a:srgbClr val="006699"/>
                </a:solidFill>
                <a:latin typeface="Montserrat"/>
              </a:rPr>
              <a:t>long</a:t>
            </a:r>
            <a:r>
              <a:rPr lang="en-IN" dirty="0">
                <a:solidFill>
                  <a:srgbClr val="2B2A29"/>
                </a:solidFill>
                <a:latin typeface="Montserrat"/>
              </a:rPr>
              <a:t>)d;  </a:t>
            </a:r>
          </a:p>
          <a:p>
            <a:pPr lvl="2"/>
            <a:r>
              <a:rPr lang="en-IN" dirty="0">
                <a:solidFill>
                  <a:srgbClr val="2B2A29"/>
                </a:solidFill>
                <a:latin typeface="Montserrat"/>
              </a:rPr>
              <a:t>//converting long data type into </a:t>
            </a:r>
            <a:r>
              <a:rPr lang="en-IN" dirty="0" err="1">
                <a:solidFill>
                  <a:srgbClr val="2B2A29"/>
                </a:solidFill>
                <a:latin typeface="Montserrat"/>
              </a:rPr>
              <a:t>int</a:t>
            </a:r>
            <a:r>
              <a:rPr lang="en-IN" dirty="0">
                <a:solidFill>
                  <a:srgbClr val="2B2A29"/>
                </a:solidFill>
                <a:latin typeface="Montserrat"/>
              </a:rPr>
              <a:t> data type  </a:t>
            </a:r>
          </a:p>
          <a:p>
            <a:pPr lvl="2"/>
            <a:r>
              <a:rPr lang="en-IN" b="1" dirty="0" err="1">
                <a:solidFill>
                  <a:srgbClr val="006699"/>
                </a:solidFill>
                <a:latin typeface="Montserrat"/>
              </a:rPr>
              <a:t>int</a:t>
            </a:r>
            <a:r>
              <a:rPr lang="en-IN" dirty="0">
                <a:solidFill>
                  <a:srgbClr val="2B2A29"/>
                </a:solidFill>
                <a:latin typeface="Montserrat"/>
              </a:rPr>
              <a:t> </a:t>
            </a:r>
            <a:r>
              <a:rPr lang="en-IN" dirty="0" err="1">
                <a:solidFill>
                  <a:srgbClr val="2B2A29"/>
                </a:solidFill>
                <a:latin typeface="Montserrat"/>
              </a:rPr>
              <a:t>i</a:t>
            </a:r>
            <a:r>
              <a:rPr lang="en-IN" dirty="0">
                <a:solidFill>
                  <a:srgbClr val="2B2A29"/>
                </a:solidFill>
                <a:latin typeface="Montserrat"/>
              </a:rPr>
              <a:t> = (</a:t>
            </a:r>
            <a:r>
              <a:rPr lang="en-IN" b="1" dirty="0" err="1">
                <a:solidFill>
                  <a:srgbClr val="006699"/>
                </a:solidFill>
                <a:latin typeface="Montserrat"/>
              </a:rPr>
              <a:t>int</a:t>
            </a:r>
            <a:r>
              <a:rPr lang="en-IN" dirty="0">
                <a:solidFill>
                  <a:srgbClr val="2B2A29"/>
                </a:solidFill>
                <a:latin typeface="Montserrat"/>
              </a:rPr>
              <a:t>)l;  </a:t>
            </a:r>
          </a:p>
          <a:p>
            <a:pPr lvl="2"/>
            <a:r>
              <a:rPr lang="en-IN" dirty="0">
                <a:solidFill>
                  <a:srgbClr val="2B2A29"/>
                </a:solidFill>
                <a:latin typeface="Montserrat"/>
              </a:rPr>
              <a:t>System.out.println("Before conversion: "+d);  </a:t>
            </a:r>
          </a:p>
          <a:p>
            <a:pPr lvl="2"/>
            <a:r>
              <a:rPr lang="en-IN" dirty="0">
                <a:solidFill>
                  <a:srgbClr val="2B2A29"/>
                </a:solidFill>
                <a:latin typeface="Montserrat"/>
              </a:rPr>
              <a:t>//fractional part lost  </a:t>
            </a:r>
          </a:p>
          <a:p>
            <a:pPr lvl="2"/>
            <a:r>
              <a:rPr lang="en-IN" dirty="0">
                <a:solidFill>
                  <a:srgbClr val="2B2A29"/>
                </a:solidFill>
                <a:latin typeface="Montserrat"/>
              </a:rPr>
              <a:t>System.out.println("After conversion into long type: "+l);  </a:t>
            </a:r>
          </a:p>
          <a:p>
            <a:pPr lvl="2"/>
            <a:r>
              <a:rPr lang="en-IN" dirty="0">
                <a:solidFill>
                  <a:srgbClr val="2B2A29"/>
                </a:solidFill>
                <a:latin typeface="Montserrat"/>
              </a:rPr>
              <a:t>//fractional part lost  </a:t>
            </a:r>
          </a:p>
          <a:p>
            <a:pPr lvl="2"/>
            <a:r>
              <a:rPr lang="en-IN" dirty="0">
                <a:solidFill>
                  <a:srgbClr val="2B2A29"/>
                </a:solidFill>
                <a:latin typeface="Montserrat"/>
              </a:rPr>
              <a:t>System.out.println("After conversion into </a:t>
            </a:r>
            <a:r>
              <a:rPr lang="en-IN" dirty="0" err="1">
                <a:solidFill>
                  <a:srgbClr val="2B2A29"/>
                </a:solidFill>
                <a:latin typeface="Montserrat"/>
              </a:rPr>
              <a:t>int</a:t>
            </a:r>
            <a:r>
              <a:rPr lang="en-IN" dirty="0">
                <a:solidFill>
                  <a:srgbClr val="2B2A29"/>
                </a:solidFill>
                <a:latin typeface="Montserrat"/>
              </a:rPr>
              <a:t> type: "+</a:t>
            </a:r>
            <a:r>
              <a:rPr lang="en-IN" dirty="0" err="1">
                <a:solidFill>
                  <a:srgbClr val="2B2A29"/>
                </a:solidFill>
                <a:latin typeface="Montserrat"/>
              </a:rPr>
              <a:t>i</a:t>
            </a:r>
            <a:r>
              <a:rPr lang="en-IN" dirty="0">
                <a:solidFill>
                  <a:srgbClr val="2B2A29"/>
                </a:solidFill>
                <a:latin typeface="Montserrat"/>
              </a:rPr>
              <a:t>);  </a:t>
            </a:r>
          </a:p>
          <a:p>
            <a:r>
              <a:rPr lang="en-IN" dirty="0">
                <a:solidFill>
                  <a:srgbClr val="2B2A29"/>
                </a:solidFill>
                <a:latin typeface="Montserrat"/>
              </a:rPr>
              <a:t>}  </a:t>
            </a:r>
          </a:p>
          <a:p>
            <a:r>
              <a:rPr lang="en-IN" dirty="0">
                <a:solidFill>
                  <a:srgbClr val="2B2A29"/>
                </a:solidFill>
                <a:latin typeface="Montserrat"/>
              </a:rPr>
              <a:t>}  </a:t>
            </a:r>
            <a:endParaRPr lang="en-IN" b="0" i="0" dirty="0">
              <a:solidFill>
                <a:srgbClr val="2B2A29"/>
              </a:solidFill>
              <a:effectLst/>
              <a:latin typeface="Montserrat"/>
            </a:endParaRPr>
          </a:p>
        </p:txBody>
      </p:sp>
    </p:spTree>
    <p:extLst>
      <p:ext uri="{BB962C8B-B14F-4D97-AF65-F5344CB8AC3E}">
        <p14:creationId xmlns:p14="http://schemas.microsoft.com/office/powerpoint/2010/main" val="31491946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IN" dirty="0"/>
          </a:p>
        </p:txBody>
      </p:sp>
      <p:sp>
        <p:nvSpPr>
          <p:cNvPr id="4" name="Rectangle 3"/>
          <p:cNvSpPr/>
          <p:nvPr/>
        </p:nvSpPr>
        <p:spPr>
          <a:xfrm>
            <a:off x="119656" y="1600200"/>
            <a:ext cx="8382000" cy="4893647"/>
          </a:xfrm>
          <a:prstGeom prst="rect">
            <a:avLst/>
          </a:prstGeom>
        </p:spPr>
        <p:txBody>
          <a:bodyPr wrap="square">
            <a:spAutoFit/>
          </a:bodyPr>
          <a:lstStyle/>
          <a:p>
            <a:pPr marL="285750" indent="-285750" algn="just">
              <a:buFont typeface="Arial" panose="020B0604020202020204" pitchFamily="34" charset="0"/>
              <a:buChar char="•"/>
            </a:pPr>
            <a:r>
              <a:rPr lang="en-US" sz="2400" dirty="0" smtClean="0"/>
              <a:t>There </a:t>
            </a:r>
            <a:r>
              <a:rPr lang="en-US" sz="2400" dirty="0"/>
              <a:t>are no automatic conversions from the numeric types to char or </a:t>
            </a:r>
            <a:r>
              <a:rPr lang="en-US" sz="2400" dirty="0" err="1"/>
              <a:t>boolean</a:t>
            </a:r>
            <a:r>
              <a:rPr lang="en-US" sz="2400" dirty="0"/>
              <a:t>. </a:t>
            </a:r>
            <a:endParaRPr lang="en-US" sz="2400" dirty="0" smtClean="0"/>
          </a:p>
          <a:p>
            <a:pPr marL="285750" indent="-285750" algn="just">
              <a:buFont typeface="Arial" panose="020B0604020202020204" pitchFamily="34" charset="0"/>
              <a:buChar char="•"/>
            </a:pPr>
            <a:r>
              <a:rPr lang="en-US" sz="2400" dirty="0" smtClean="0"/>
              <a:t>Also</a:t>
            </a:r>
            <a:r>
              <a:rPr lang="en-US" sz="2400" dirty="0"/>
              <a:t>, char and </a:t>
            </a:r>
            <a:r>
              <a:rPr lang="en-US" sz="2400" dirty="0" err="1"/>
              <a:t>boolean</a:t>
            </a:r>
            <a:r>
              <a:rPr lang="en-US" sz="2400" dirty="0"/>
              <a:t> are not compatible with each other</a:t>
            </a:r>
            <a:r>
              <a:rPr lang="en-US" sz="2400" dirty="0" smtClean="0"/>
              <a:t>.</a:t>
            </a:r>
          </a:p>
          <a:p>
            <a:pPr marL="285750" indent="-285750" algn="just">
              <a:buFont typeface="Arial" panose="020B0604020202020204" pitchFamily="34" charset="0"/>
              <a:buChar char="•"/>
            </a:pPr>
            <a:r>
              <a:rPr lang="en-US" sz="2400" dirty="0" smtClean="0"/>
              <a:t>Example1: byte </a:t>
            </a:r>
            <a:r>
              <a:rPr lang="en-US" sz="2400" dirty="0"/>
              <a:t>b = 50; </a:t>
            </a:r>
            <a:endParaRPr lang="en-US" sz="2400" dirty="0" smtClean="0"/>
          </a:p>
          <a:p>
            <a:pPr algn="just"/>
            <a:r>
              <a:rPr lang="en-US" sz="2400" dirty="0" smtClean="0"/>
              <a:t>                        b </a:t>
            </a:r>
            <a:r>
              <a:rPr lang="en-US" sz="2400" dirty="0"/>
              <a:t>= b * 2; // Error! Cannot assign an int to a byte! </a:t>
            </a:r>
            <a:endParaRPr lang="en-US" sz="2400" dirty="0" smtClean="0"/>
          </a:p>
          <a:p>
            <a:pPr marL="285750" indent="-285750" algn="just">
              <a:buFont typeface="Arial" panose="020B0604020202020204" pitchFamily="34" charset="0"/>
              <a:buChar char="•"/>
            </a:pPr>
            <a:r>
              <a:rPr lang="en-US" sz="2400" dirty="0"/>
              <a:t>The code is attempting to store 50 * 2, a perfectly valid byte value, back into a byte variable. However, because the operands were automatically promoted to int when the expression was evaluated, the result has also been promoted to int</a:t>
            </a:r>
            <a:r>
              <a:rPr lang="en-US" sz="2400" dirty="0" smtClean="0"/>
              <a:t>.</a:t>
            </a:r>
          </a:p>
          <a:p>
            <a:pPr marL="285750" indent="-285750" algn="just">
              <a:buFont typeface="Arial" panose="020B0604020202020204" pitchFamily="34" charset="0"/>
              <a:buChar char="•"/>
            </a:pPr>
            <a:r>
              <a:rPr lang="en-US" sz="2400" dirty="0"/>
              <a:t>which cannot be assigned to a byte without the use of a cast. </a:t>
            </a:r>
            <a:endParaRPr lang="en-US" sz="2400" dirty="0" smtClean="0"/>
          </a:p>
          <a:p>
            <a:pPr marL="1657350" lvl="3" indent="-285750" algn="just">
              <a:buFont typeface="Arial" panose="020B0604020202020204" pitchFamily="34" charset="0"/>
              <a:buChar char="•"/>
            </a:pPr>
            <a:r>
              <a:rPr lang="en-IN" sz="2400" dirty="0"/>
              <a:t>byte b = 50; </a:t>
            </a:r>
            <a:endParaRPr lang="en-IN" sz="2400" dirty="0" smtClean="0"/>
          </a:p>
          <a:p>
            <a:pPr marL="1657350" lvl="3" indent="-285750" algn="just">
              <a:buFont typeface="Arial" panose="020B0604020202020204" pitchFamily="34" charset="0"/>
              <a:buChar char="•"/>
            </a:pPr>
            <a:r>
              <a:rPr lang="en-IN" sz="2400" dirty="0" smtClean="0"/>
              <a:t>b </a:t>
            </a:r>
            <a:r>
              <a:rPr lang="en-IN" sz="2400" dirty="0"/>
              <a:t>= (byte)(b * 2</a:t>
            </a:r>
            <a:r>
              <a:rPr lang="en-IN" sz="2400" dirty="0" smtClean="0"/>
              <a:t>);  //correct </a:t>
            </a:r>
            <a:endParaRPr lang="en-IN" sz="2400" dirty="0"/>
          </a:p>
        </p:txBody>
      </p:sp>
    </p:spTree>
    <p:extLst>
      <p:ext uri="{BB962C8B-B14F-4D97-AF65-F5344CB8AC3E}">
        <p14:creationId xmlns:p14="http://schemas.microsoft.com/office/powerpoint/2010/main" val="18087648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548765" cy="696595"/>
          </a:xfrm>
          <a:prstGeom prst="rect">
            <a:avLst/>
          </a:prstGeom>
        </p:spPr>
        <p:txBody>
          <a:bodyPr vert="horz" wrap="square" lIns="0" tIns="13335" rIns="0" bIns="0" rtlCol="0">
            <a:spAutoFit/>
          </a:bodyPr>
          <a:lstStyle/>
          <a:p>
            <a:pPr marL="12700">
              <a:lnSpc>
                <a:spcPct val="100000"/>
              </a:lnSpc>
              <a:spcBef>
                <a:spcPts val="105"/>
              </a:spcBef>
            </a:pPr>
            <a:r>
              <a:rPr sz="4400" dirty="0"/>
              <a:t>Arra</a:t>
            </a:r>
            <a:r>
              <a:rPr sz="4400" spc="5" dirty="0"/>
              <a:t>y</a:t>
            </a:r>
            <a:r>
              <a:rPr sz="4400" dirty="0"/>
              <a:t>s</a:t>
            </a:r>
            <a:endParaRPr sz="4400"/>
          </a:p>
        </p:txBody>
      </p:sp>
      <p:sp>
        <p:nvSpPr>
          <p:cNvPr id="3" name="object 3"/>
          <p:cNvSpPr txBox="1"/>
          <p:nvPr/>
        </p:nvSpPr>
        <p:spPr>
          <a:xfrm>
            <a:off x="691387" y="1575257"/>
            <a:ext cx="7995413" cy="3435684"/>
          </a:xfrm>
          <a:prstGeom prst="rect">
            <a:avLst/>
          </a:prstGeom>
        </p:spPr>
        <p:txBody>
          <a:bodyPr vert="horz" wrap="square" lIns="0" tIns="62865" rIns="0" bIns="0" rtlCol="0">
            <a:spAutoFit/>
          </a:bodyPr>
          <a:lstStyle/>
          <a:p>
            <a:pPr marL="332740" marR="5080" indent="-320675" algn="just">
              <a:lnSpc>
                <a:spcPts val="3140"/>
              </a:lnSpc>
              <a:spcBef>
                <a:spcPts val="495"/>
              </a:spcBef>
              <a:buClr>
                <a:srgbClr val="DD8046"/>
              </a:buClr>
              <a:buSzPct val="60344"/>
              <a:buFont typeface="Wingdings"/>
              <a:buChar char=""/>
              <a:tabLst>
                <a:tab pos="333375" algn="l"/>
              </a:tabLst>
            </a:pPr>
            <a:r>
              <a:rPr sz="2900" dirty="0">
                <a:latin typeface="Times New Roman"/>
                <a:cs typeface="Times New Roman"/>
              </a:rPr>
              <a:t>An </a:t>
            </a:r>
            <a:r>
              <a:rPr sz="2900" spc="-5" dirty="0">
                <a:latin typeface="Times New Roman"/>
                <a:cs typeface="Times New Roman"/>
              </a:rPr>
              <a:t>array </a:t>
            </a:r>
            <a:r>
              <a:rPr sz="2900" spc="-10" dirty="0">
                <a:latin typeface="Times New Roman"/>
                <a:cs typeface="Times New Roman"/>
              </a:rPr>
              <a:t>is </a:t>
            </a:r>
            <a:r>
              <a:rPr sz="2900" dirty="0">
                <a:latin typeface="Times New Roman"/>
                <a:cs typeface="Times New Roman"/>
              </a:rPr>
              <a:t>a </a:t>
            </a:r>
            <a:r>
              <a:rPr lang="en-US" sz="2900" dirty="0" smtClean="0">
                <a:latin typeface="Times New Roman"/>
                <a:cs typeface="Times New Roman"/>
              </a:rPr>
              <a:t>collection of similar data items that are referred by </a:t>
            </a:r>
            <a:r>
              <a:rPr lang="en-IN" sz="2900" spc="-15" dirty="0">
                <a:latin typeface="Times New Roman"/>
                <a:cs typeface="Times New Roman"/>
              </a:rPr>
              <a:t>common</a:t>
            </a:r>
            <a:r>
              <a:rPr lang="en-IN" sz="2900" spc="55" dirty="0">
                <a:latin typeface="Times New Roman"/>
                <a:cs typeface="Times New Roman"/>
              </a:rPr>
              <a:t> </a:t>
            </a:r>
            <a:r>
              <a:rPr lang="en-IN" sz="2900" spc="-10" dirty="0" smtClean="0">
                <a:latin typeface="Times New Roman"/>
                <a:cs typeface="Times New Roman"/>
              </a:rPr>
              <a:t>name and</a:t>
            </a:r>
            <a:r>
              <a:rPr lang="en-US" sz="2900" dirty="0" smtClean="0">
                <a:latin typeface="Times New Roman"/>
                <a:cs typeface="Times New Roman"/>
              </a:rPr>
              <a:t> stored in continuous memory location.</a:t>
            </a:r>
            <a:endParaRPr sz="2900" dirty="0">
              <a:latin typeface="Times New Roman"/>
              <a:cs typeface="Times New Roman"/>
            </a:endParaRPr>
          </a:p>
          <a:p>
            <a:pPr marL="332740" marR="5080" indent="-320675" algn="just">
              <a:lnSpc>
                <a:spcPts val="3130"/>
              </a:lnSpc>
              <a:spcBef>
                <a:spcPts val="705"/>
              </a:spcBef>
              <a:buClr>
                <a:srgbClr val="DD8046"/>
              </a:buClr>
              <a:buSzPct val="60344"/>
              <a:buFont typeface="Wingdings"/>
              <a:buChar char=""/>
              <a:tabLst>
                <a:tab pos="333375" algn="l"/>
              </a:tabLst>
            </a:pPr>
            <a:r>
              <a:rPr sz="2900" dirty="0" smtClean="0">
                <a:latin typeface="Times New Roman"/>
                <a:cs typeface="Times New Roman"/>
              </a:rPr>
              <a:t>A </a:t>
            </a:r>
            <a:r>
              <a:rPr sz="2900" spc="-5" dirty="0">
                <a:latin typeface="Times New Roman"/>
                <a:cs typeface="Times New Roman"/>
              </a:rPr>
              <a:t>specific element in an array is accessed </a:t>
            </a:r>
            <a:r>
              <a:rPr sz="2900" dirty="0">
                <a:latin typeface="Times New Roman"/>
                <a:cs typeface="Times New Roman"/>
              </a:rPr>
              <a:t>by </a:t>
            </a:r>
            <a:r>
              <a:rPr sz="2900" spc="-5" dirty="0">
                <a:latin typeface="Times New Roman"/>
                <a:cs typeface="Times New Roman"/>
              </a:rPr>
              <a:t>its </a:t>
            </a:r>
            <a:r>
              <a:rPr sz="2900" dirty="0">
                <a:latin typeface="Times New Roman"/>
                <a:cs typeface="Times New Roman"/>
              </a:rPr>
              <a:t> index.</a:t>
            </a:r>
          </a:p>
          <a:p>
            <a:pPr marL="332740" marR="5080" indent="-320675" algn="just">
              <a:lnSpc>
                <a:spcPct val="90000"/>
              </a:lnSpc>
              <a:spcBef>
                <a:spcPts val="665"/>
              </a:spcBef>
              <a:buClr>
                <a:srgbClr val="DD8046"/>
              </a:buClr>
              <a:buSzPct val="60344"/>
              <a:buFont typeface="Wingdings"/>
              <a:buChar char=""/>
              <a:tabLst>
                <a:tab pos="333375" algn="l"/>
              </a:tabLst>
            </a:pPr>
            <a:r>
              <a:rPr sz="2900" dirty="0" smtClean="0">
                <a:latin typeface="Times New Roman"/>
                <a:cs typeface="Times New Roman"/>
              </a:rPr>
              <a:t>NOTE </a:t>
            </a:r>
            <a:r>
              <a:rPr sz="2900" dirty="0">
                <a:latin typeface="Times New Roman"/>
                <a:cs typeface="Times New Roman"/>
              </a:rPr>
              <a:t>If you </a:t>
            </a:r>
            <a:r>
              <a:rPr sz="2900" spc="-5" dirty="0">
                <a:latin typeface="Times New Roman"/>
                <a:cs typeface="Times New Roman"/>
              </a:rPr>
              <a:t>are </a:t>
            </a:r>
            <a:r>
              <a:rPr sz="2900" spc="-10" dirty="0">
                <a:latin typeface="Times New Roman"/>
                <a:cs typeface="Times New Roman"/>
              </a:rPr>
              <a:t>familiar </a:t>
            </a:r>
            <a:r>
              <a:rPr sz="2900" spc="-5" dirty="0">
                <a:latin typeface="Times New Roman"/>
                <a:cs typeface="Times New Roman"/>
              </a:rPr>
              <a:t>with C/C++, </a:t>
            </a:r>
            <a:r>
              <a:rPr sz="2900" dirty="0">
                <a:latin typeface="Times New Roman"/>
                <a:cs typeface="Times New Roman"/>
              </a:rPr>
              <a:t>be </a:t>
            </a:r>
            <a:r>
              <a:rPr sz="2900" spc="-5" dirty="0">
                <a:latin typeface="Times New Roman"/>
                <a:cs typeface="Times New Roman"/>
              </a:rPr>
              <a:t>careful. </a:t>
            </a:r>
            <a:r>
              <a:rPr sz="2900" dirty="0">
                <a:latin typeface="Times New Roman"/>
                <a:cs typeface="Times New Roman"/>
              </a:rPr>
              <a:t> Arrays</a:t>
            </a:r>
            <a:r>
              <a:rPr sz="2900" spc="5" dirty="0">
                <a:latin typeface="Times New Roman"/>
                <a:cs typeface="Times New Roman"/>
              </a:rPr>
              <a:t> </a:t>
            </a:r>
            <a:r>
              <a:rPr sz="2900" dirty="0">
                <a:latin typeface="Times New Roman"/>
                <a:cs typeface="Times New Roman"/>
              </a:rPr>
              <a:t>in</a:t>
            </a:r>
            <a:r>
              <a:rPr sz="2900" spc="5" dirty="0">
                <a:latin typeface="Times New Roman"/>
                <a:cs typeface="Times New Roman"/>
              </a:rPr>
              <a:t> </a:t>
            </a:r>
            <a:r>
              <a:rPr sz="2900" dirty="0">
                <a:latin typeface="Times New Roman"/>
                <a:cs typeface="Times New Roman"/>
              </a:rPr>
              <a:t>Java</a:t>
            </a:r>
            <a:r>
              <a:rPr sz="2900" spc="5" dirty="0">
                <a:latin typeface="Times New Roman"/>
                <a:cs typeface="Times New Roman"/>
              </a:rPr>
              <a:t> </a:t>
            </a:r>
            <a:r>
              <a:rPr sz="2900" dirty="0">
                <a:latin typeface="Times New Roman"/>
                <a:cs typeface="Times New Roman"/>
              </a:rPr>
              <a:t>work</a:t>
            </a:r>
            <a:r>
              <a:rPr sz="2900" spc="5" dirty="0">
                <a:latin typeface="Times New Roman"/>
                <a:cs typeface="Times New Roman"/>
              </a:rPr>
              <a:t> </a:t>
            </a:r>
            <a:r>
              <a:rPr sz="2900" spc="-10" dirty="0">
                <a:latin typeface="Times New Roman"/>
                <a:cs typeface="Times New Roman"/>
              </a:rPr>
              <a:t>differently</a:t>
            </a:r>
            <a:r>
              <a:rPr sz="2900" spc="-5" dirty="0">
                <a:latin typeface="Times New Roman"/>
                <a:cs typeface="Times New Roman"/>
              </a:rPr>
              <a:t> than</a:t>
            </a:r>
            <a:r>
              <a:rPr sz="2900" dirty="0">
                <a:latin typeface="Times New Roman"/>
                <a:cs typeface="Times New Roman"/>
              </a:rPr>
              <a:t> </a:t>
            </a:r>
            <a:r>
              <a:rPr sz="2900" spc="-5" dirty="0">
                <a:latin typeface="Times New Roman"/>
                <a:cs typeface="Times New Roman"/>
              </a:rPr>
              <a:t>they</a:t>
            </a:r>
            <a:r>
              <a:rPr sz="2900" dirty="0">
                <a:latin typeface="Times New Roman"/>
                <a:cs typeface="Times New Roman"/>
              </a:rPr>
              <a:t> do</a:t>
            </a:r>
            <a:r>
              <a:rPr sz="2900" spc="5" dirty="0">
                <a:latin typeface="Times New Roman"/>
                <a:cs typeface="Times New Roman"/>
              </a:rPr>
              <a:t> </a:t>
            </a:r>
            <a:r>
              <a:rPr sz="2900" spc="-5" dirty="0">
                <a:latin typeface="Times New Roman"/>
                <a:cs typeface="Times New Roman"/>
              </a:rPr>
              <a:t>in </a:t>
            </a:r>
            <a:r>
              <a:rPr sz="2900" spc="-710" dirty="0">
                <a:latin typeface="Times New Roman"/>
                <a:cs typeface="Times New Roman"/>
              </a:rPr>
              <a:t> </a:t>
            </a:r>
            <a:r>
              <a:rPr sz="2900" dirty="0">
                <a:latin typeface="Times New Roman"/>
                <a:cs typeface="Times New Roman"/>
              </a:rPr>
              <a:t>those</a:t>
            </a:r>
            <a:r>
              <a:rPr sz="2900" spc="-25" dirty="0">
                <a:latin typeface="Times New Roman"/>
                <a:cs typeface="Times New Roman"/>
              </a:rPr>
              <a:t> </a:t>
            </a:r>
            <a:r>
              <a:rPr sz="2900" spc="-5" dirty="0">
                <a:latin typeface="Times New Roman"/>
                <a:cs typeface="Times New Roman"/>
              </a:rPr>
              <a:t>languages.</a:t>
            </a:r>
            <a:endParaRPr sz="29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52</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628640" cy="696595"/>
          </a:xfrm>
          <a:prstGeom prst="rect">
            <a:avLst/>
          </a:prstGeom>
        </p:spPr>
        <p:txBody>
          <a:bodyPr vert="horz" wrap="square" lIns="0" tIns="13335" rIns="0" bIns="0" rtlCol="0">
            <a:spAutoFit/>
          </a:bodyPr>
          <a:lstStyle/>
          <a:p>
            <a:pPr marL="12700">
              <a:lnSpc>
                <a:spcPct val="100000"/>
              </a:lnSpc>
              <a:spcBef>
                <a:spcPts val="105"/>
              </a:spcBef>
            </a:pPr>
            <a:r>
              <a:rPr sz="4400" dirty="0"/>
              <a:t>On</a:t>
            </a:r>
            <a:r>
              <a:rPr sz="4400" spc="5" dirty="0"/>
              <a:t>e</a:t>
            </a:r>
            <a:r>
              <a:rPr sz="4400" spc="-5" dirty="0"/>
              <a:t>-</a:t>
            </a:r>
            <a:r>
              <a:rPr sz="4400" dirty="0"/>
              <a:t>Dimensional</a:t>
            </a:r>
            <a:r>
              <a:rPr sz="4400" spc="-285" dirty="0"/>
              <a:t> </a:t>
            </a:r>
            <a:r>
              <a:rPr sz="4400" dirty="0"/>
              <a:t>Arrays</a:t>
            </a:r>
            <a:endParaRPr sz="4400"/>
          </a:p>
        </p:txBody>
      </p:sp>
      <p:sp>
        <p:nvSpPr>
          <p:cNvPr id="3" name="object 3"/>
          <p:cNvSpPr txBox="1">
            <a:spLocks noGrp="1"/>
          </p:cNvSpPr>
          <p:nvPr>
            <p:ph type="body" idx="1"/>
          </p:nvPr>
        </p:nvSpPr>
        <p:spPr>
          <a:xfrm>
            <a:off x="347758" y="1981200"/>
            <a:ext cx="8684260" cy="4048288"/>
          </a:xfrm>
          <a:prstGeom prst="rect">
            <a:avLst/>
          </a:prstGeom>
        </p:spPr>
        <p:txBody>
          <a:bodyPr vert="horz" wrap="square" lIns="0" tIns="91440" rIns="0" bIns="0" rtlCol="0">
            <a:spAutoFit/>
          </a:bodyPr>
          <a:lstStyle/>
          <a:p>
            <a:pPr marL="332740" marR="6350" indent="-332740" algn="just">
              <a:lnSpc>
                <a:spcPct val="80000"/>
              </a:lnSpc>
              <a:spcBef>
                <a:spcPts val="695"/>
              </a:spcBef>
              <a:buClr>
                <a:srgbClr val="DD8046"/>
              </a:buClr>
              <a:buSzPct val="59259"/>
              <a:buFont typeface="Wingdings"/>
              <a:buChar char=""/>
              <a:tabLst>
                <a:tab pos="332740" algn="l"/>
              </a:tabLst>
            </a:pPr>
            <a:r>
              <a:rPr dirty="0" smtClean="0"/>
              <a:t>The </a:t>
            </a:r>
            <a:r>
              <a:rPr dirty="0"/>
              <a:t>general form </a:t>
            </a:r>
            <a:r>
              <a:rPr spc="5" dirty="0"/>
              <a:t>of </a:t>
            </a:r>
            <a:r>
              <a:rPr dirty="0"/>
              <a:t>a one-dimensional array declaration </a:t>
            </a:r>
            <a:r>
              <a:rPr spc="-10" dirty="0"/>
              <a:t>is: </a:t>
            </a:r>
            <a:r>
              <a:rPr spc="-5" dirty="0"/>
              <a:t> </a:t>
            </a:r>
            <a:endParaRPr lang="en-US" spc="-5" dirty="0" smtClean="0"/>
          </a:p>
          <a:p>
            <a:pPr marL="332740" marR="6350" indent="-332740" algn="just">
              <a:lnSpc>
                <a:spcPct val="80000"/>
              </a:lnSpc>
              <a:spcBef>
                <a:spcPts val="695"/>
              </a:spcBef>
              <a:buClr>
                <a:srgbClr val="DD8046"/>
              </a:buClr>
              <a:buSzPct val="59259"/>
              <a:buFont typeface="Wingdings"/>
              <a:buChar char=""/>
              <a:tabLst>
                <a:tab pos="332740" algn="l"/>
              </a:tabLst>
            </a:pPr>
            <a:r>
              <a:rPr lang="en-US" dirty="0" smtClean="0">
                <a:solidFill>
                  <a:srgbClr val="FF0000"/>
                </a:solidFill>
              </a:rPr>
              <a:t>datatype</a:t>
            </a:r>
            <a:r>
              <a:rPr spc="-20" dirty="0" smtClean="0">
                <a:solidFill>
                  <a:srgbClr val="FF0000"/>
                </a:solidFill>
              </a:rPr>
              <a:t> </a:t>
            </a:r>
            <a:r>
              <a:rPr spc="-5" dirty="0">
                <a:solidFill>
                  <a:srgbClr val="FF0000"/>
                </a:solidFill>
              </a:rPr>
              <a:t>var-name[ </a:t>
            </a:r>
            <a:r>
              <a:rPr spc="-15" dirty="0" smtClean="0">
                <a:solidFill>
                  <a:srgbClr val="FF0000"/>
                </a:solidFill>
              </a:rPr>
              <a:t>];</a:t>
            </a:r>
            <a:r>
              <a:rPr lang="en-US" spc="-15" dirty="0" smtClean="0">
                <a:solidFill>
                  <a:srgbClr val="FF0000"/>
                </a:solidFill>
              </a:rPr>
              <a:t> </a:t>
            </a:r>
          </a:p>
          <a:p>
            <a:pPr marR="6350" lvl="2" algn="just">
              <a:lnSpc>
                <a:spcPct val="80000"/>
              </a:lnSpc>
              <a:spcBef>
                <a:spcPts val="695"/>
              </a:spcBef>
              <a:buClr>
                <a:srgbClr val="DD8046"/>
              </a:buClr>
              <a:buSzPct val="59259"/>
              <a:tabLst>
                <a:tab pos="332740" algn="l"/>
              </a:tabLst>
            </a:pPr>
            <a:r>
              <a:rPr lang="en-US" sz="2000" spc="-15" dirty="0">
                <a:solidFill>
                  <a:srgbClr val="FF0000"/>
                </a:solidFill>
              </a:rPr>
              <a:t>o</a:t>
            </a:r>
            <a:r>
              <a:rPr lang="en-US" sz="2000" spc="-15" dirty="0" smtClean="0">
                <a:solidFill>
                  <a:srgbClr val="FF0000"/>
                </a:solidFill>
              </a:rPr>
              <a:t>r</a:t>
            </a:r>
          </a:p>
          <a:p>
            <a:pPr marL="332740" marR="6350" indent="-332740" algn="just">
              <a:lnSpc>
                <a:spcPct val="80000"/>
              </a:lnSpc>
              <a:spcBef>
                <a:spcPts val="695"/>
              </a:spcBef>
              <a:buClr>
                <a:srgbClr val="DD8046"/>
              </a:buClr>
              <a:buSzPct val="59259"/>
              <a:buFont typeface="Wingdings"/>
              <a:buChar char=""/>
              <a:tabLst>
                <a:tab pos="332740" algn="l"/>
              </a:tabLst>
            </a:pPr>
            <a:r>
              <a:rPr lang="en-US" spc="-15" dirty="0" smtClean="0">
                <a:solidFill>
                  <a:srgbClr val="FF0000"/>
                </a:solidFill>
              </a:rPr>
              <a:t> datatype []  </a:t>
            </a:r>
            <a:r>
              <a:rPr lang="en-US" spc="-15" dirty="0" err="1" smtClean="0">
                <a:solidFill>
                  <a:srgbClr val="FF0000"/>
                </a:solidFill>
              </a:rPr>
              <a:t>var</a:t>
            </a:r>
            <a:r>
              <a:rPr lang="en-US" spc="-15" dirty="0" smtClean="0">
                <a:solidFill>
                  <a:srgbClr val="FF0000"/>
                </a:solidFill>
              </a:rPr>
              <a:t>-name;</a:t>
            </a:r>
          </a:p>
          <a:p>
            <a:pPr marL="332740" marR="6350" indent="-332740" algn="just">
              <a:lnSpc>
                <a:spcPct val="80000"/>
              </a:lnSpc>
              <a:spcBef>
                <a:spcPts val="695"/>
              </a:spcBef>
              <a:buClr>
                <a:srgbClr val="DD8046"/>
              </a:buClr>
              <a:buSzPct val="59259"/>
              <a:buFont typeface="Wingdings"/>
              <a:buChar char=""/>
              <a:tabLst>
                <a:tab pos="332740" algn="l"/>
              </a:tabLst>
            </a:pPr>
            <a:endParaRPr lang="en-US" spc="-15" dirty="0" smtClean="0">
              <a:solidFill>
                <a:srgbClr val="FF0000"/>
              </a:solidFill>
            </a:endParaRPr>
          </a:p>
          <a:p>
            <a:pPr marL="332740" marR="6350" indent="-332740" algn="just">
              <a:lnSpc>
                <a:spcPct val="80000"/>
              </a:lnSpc>
              <a:spcBef>
                <a:spcPts val="695"/>
              </a:spcBef>
              <a:buClr>
                <a:srgbClr val="DD8046"/>
              </a:buClr>
              <a:buSzPct val="59259"/>
              <a:buFont typeface="Wingdings"/>
              <a:buChar char=""/>
              <a:tabLst>
                <a:tab pos="332740" algn="l"/>
              </a:tabLst>
            </a:pPr>
            <a:r>
              <a:rPr lang="en-US" spc="-15" dirty="0" smtClean="0">
                <a:solidFill>
                  <a:srgbClr val="FF0000"/>
                </a:solidFill>
              </a:rPr>
              <a:t>Ex:  int [] </a:t>
            </a:r>
            <a:r>
              <a:rPr lang="en-US" spc="-15" dirty="0" err="1" smtClean="0">
                <a:solidFill>
                  <a:srgbClr val="FF0000"/>
                </a:solidFill>
              </a:rPr>
              <a:t>arr</a:t>
            </a:r>
            <a:r>
              <a:rPr lang="en-US" spc="-15" dirty="0" smtClean="0">
                <a:solidFill>
                  <a:srgbClr val="FF0000"/>
                </a:solidFill>
              </a:rPr>
              <a:t>;</a:t>
            </a:r>
            <a:r>
              <a:rPr lang="en-US" dirty="0"/>
              <a:t> </a:t>
            </a:r>
            <a:r>
              <a:rPr lang="en-US" dirty="0" smtClean="0"/>
              <a:t>//When </a:t>
            </a:r>
            <a:r>
              <a:rPr lang="en-US" dirty="0"/>
              <a:t>array is declared only a reference of an array is created</a:t>
            </a:r>
            <a:r>
              <a:rPr lang="en-US" dirty="0" smtClean="0"/>
              <a:t>.</a:t>
            </a:r>
          </a:p>
          <a:p>
            <a:pPr marL="332740" marR="6350" indent="-332740" algn="just">
              <a:lnSpc>
                <a:spcPct val="80000"/>
              </a:lnSpc>
              <a:spcBef>
                <a:spcPts val="695"/>
              </a:spcBef>
              <a:buClr>
                <a:srgbClr val="DD8046"/>
              </a:buClr>
              <a:buSzPct val="59259"/>
              <a:buFont typeface="Wingdings"/>
              <a:buChar char=""/>
              <a:tabLst>
                <a:tab pos="332740" algn="l"/>
              </a:tabLst>
            </a:pPr>
            <a:endParaRPr lang="en-US" dirty="0" smtClean="0"/>
          </a:p>
          <a:p>
            <a:pPr marL="332740" marR="6350" indent="-332740" algn="just">
              <a:lnSpc>
                <a:spcPct val="80000"/>
              </a:lnSpc>
              <a:spcBef>
                <a:spcPts val="695"/>
              </a:spcBef>
              <a:buClr>
                <a:srgbClr val="DD8046"/>
              </a:buClr>
              <a:buSzPct val="59259"/>
              <a:buFont typeface="Wingdings"/>
              <a:buChar char=""/>
              <a:tabLst>
                <a:tab pos="332740" algn="l"/>
              </a:tabLst>
            </a:pPr>
            <a:r>
              <a:rPr lang="en-US" dirty="0" smtClean="0"/>
              <a:t>To create or give memory to the array.</a:t>
            </a:r>
          </a:p>
          <a:p>
            <a:pPr marL="332740" marR="6350" indent="-332740" algn="just">
              <a:lnSpc>
                <a:spcPct val="80000"/>
              </a:lnSpc>
              <a:spcBef>
                <a:spcPts val="695"/>
              </a:spcBef>
              <a:buClr>
                <a:srgbClr val="DD8046"/>
              </a:buClr>
              <a:buSzPct val="59259"/>
              <a:buFont typeface="Wingdings"/>
              <a:buChar char=""/>
              <a:tabLst>
                <a:tab pos="332740" algn="l"/>
              </a:tabLst>
            </a:pPr>
            <a:endParaRPr lang="en-US" spc="-15" dirty="0" smtClean="0">
              <a:solidFill>
                <a:srgbClr val="FF0000"/>
              </a:solidFill>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53</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385060" cy="696595"/>
          </a:xfrm>
          <a:prstGeom prst="rect">
            <a:avLst/>
          </a:prstGeom>
        </p:spPr>
        <p:txBody>
          <a:bodyPr vert="horz" wrap="square" lIns="0" tIns="13335" rIns="0" bIns="0" rtlCol="0">
            <a:spAutoFit/>
          </a:bodyPr>
          <a:lstStyle/>
          <a:p>
            <a:pPr marL="12700">
              <a:lnSpc>
                <a:spcPct val="100000"/>
              </a:lnSpc>
              <a:spcBef>
                <a:spcPts val="105"/>
              </a:spcBef>
              <a:tabLst>
                <a:tab pos="1812289" algn="l"/>
              </a:tabLst>
            </a:pPr>
            <a:r>
              <a:rPr sz="4400" spc="-5" dirty="0"/>
              <a:t>Arra</a:t>
            </a:r>
            <a:r>
              <a:rPr sz="4400" spc="5" dirty="0"/>
              <a:t>y</a:t>
            </a:r>
            <a:r>
              <a:rPr sz="4400" dirty="0"/>
              <a:t>s	…</a:t>
            </a:r>
            <a:endParaRPr sz="4400"/>
          </a:p>
        </p:txBody>
      </p:sp>
      <p:sp>
        <p:nvSpPr>
          <p:cNvPr id="3" name="object 3"/>
          <p:cNvSpPr txBox="1"/>
          <p:nvPr/>
        </p:nvSpPr>
        <p:spPr>
          <a:xfrm>
            <a:off x="176884" y="1511113"/>
            <a:ext cx="8738515" cy="5007140"/>
          </a:xfrm>
          <a:prstGeom prst="rect">
            <a:avLst/>
          </a:prstGeom>
        </p:spPr>
        <p:txBody>
          <a:bodyPr vert="horz" wrap="square" lIns="0" tIns="13335" rIns="0" bIns="0" rtlCol="0">
            <a:spAutoFit/>
          </a:bodyPr>
          <a:lstStyle/>
          <a:p>
            <a:pPr marL="383540" indent="-320040">
              <a:lnSpc>
                <a:spcPct val="150000"/>
              </a:lnSpc>
              <a:spcBef>
                <a:spcPts val="215"/>
              </a:spcBef>
              <a:buClr>
                <a:srgbClr val="DD8046"/>
              </a:buClr>
              <a:buSzPct val="60000"/>
              <a:buFont typeface="Wingdings"/>
              <a:buChar char=""/>
              <a:tabLst>
                <a:tab pos="382905" algn="l"/>
                <a:tab pos="383540" algn="l"/>
              </a:tabLst>
            </a:pPr>
            <a:r>
              <a:rPr lang="en-US" sz="2700" dirty="0">
                <a:latin typeface="Times New Roman"/>
                <a:cs typeface="Times New Roman"/>
              </a:rPr>
              <a:t>The general form of one-dimensional array initialization is:</a:t>
            </a:r>
          </a:p>
          <a:p>
            <a:pPr marL="429259">
              <a:lnSpc>
                <a:spcPct val="150000"/>
              </a:lnSpc>
              <a:spcBef>
                <a:spcPts val="175"/>
              </a:spcBef>
              <a:tabLst>
                <a:tab pos="703580" algn="l"/>
              </a:tabLst>
            </a:pPr>
            <a:r>
              <a:rPr lang="en-US" sz="1100" spc="-40" dirty="0">
                <a:solidFill>
                  <a:srgbClr val="93B6D2"/>
                </a:solidFill>
                <a:latin typeface="Microsoft Sans Serif"/>
                <a:cs typeface="Microsoft Sans Serif"/>
              </a:rPr>
              <a:t>🞑	</a:t>
            </a:r>
            <a:r>
              <a:rPr lang="en-US" sz="2000" spc="-5" dirty="0">
                <a:solidFill>
                  <a:srgbClr val="FF0000"/>
                </a:solidFill>
              </a:rPr>
              <a:t> </a:t>
            </a:r>
            <a:r>
              <a:rPr lang="en-US" sz="2800" spc="-5" dirty="0" err="1">
                <a:solidFill>
                  <a:srgbClr val="FF0000"/>
                </a:solidFill>
              </a:rPr>
              <a:t>var</a:t>
            </a:r>
            <a:r>
              <a:rPr lang="en-US" sz="2800" spc="-5" dirty="0">
                <a:solidFill>
                  <a:srgbClr val="FF0000"/>
                </a:solidFill>
              </a:rPr>
              <a:t>-name </a:t>
            </a:r>
            <a:r>
              <a:rPr lang="en-US" sz="2800" spc="-15" dirty="0">
                <a:solidFill>
                  <a:srgbClr val="FF0000"/>
                </a:solidFill>
              </a:rPr>
              <a:t> = new  datatype[size</a:t>
            </a:r>
            <a:r>
              <a:rPr lang="en-US" sz="2800" spc="-15" dirty="0" smtClean="0">
                <a:solidFill>
                  <a:srgbClr val="FF0000"/>
                </a:solidFill>
              </a:rPr>
              <a:t>];</a:t>
            </a:r>
          </a:p>
          <a:p>
            <a:pPr marL="383540" marR="67310" indent="-320040" algn="just">
              <a:lnSpc>
                <a:spcPct val="150000"/>
              </a:lnSpc>
              <a:spcBef>
                <a:spcPts val="710"/>
              </a:spcBef>
              <a:buClr>
                <a:srgbClr val="DD8046"/>
              </a:buClr>
              <a:buSzPct val="60000"/>
              <a:buFont typeface="Wingdings"/>
              <a:buChar char=""/>
              <a:tabLst>
                <a:tab pos="383540" algn="l"/>
              </a:tabLst>
            </a:pPr>
            <a:r>
              <a:rPr lang="en-US" sz="2400" b="1" dirty="0" smtClean="0"/>
              <a:t>new</a:t>
            </a:r>
            <a:r>
              <a:rPr lang="en-US" sz="2400" spc="-5" dirty="0" smtClean="0"/>
              <a:t> </a:t>
            </a:r>
            <a:r>
              <a:rPr lang="en-US" sz="2400" spc="-5" dirty="0"/>
              <a:t>is</a:t>
            </a:r>
            <a:r>
              <a:rPr lang="en-US" sz="2400" spc="-10" dirty="0"/>
              <a:t> </a:t>
            </a:r>
            <a:r>
              <a:rPr lang="en-US" sz="2400" dirty="0"/>
              <a:t>a</a:t>
            </a:r>
            <a:r>
              <a:rPr lang="en-US" sz="2400" spc="-10" dirty="0"/>
              <a:t> </a:t>
            </a:r>
            <a:r>
              <a:rPr lang="en-US" sz="2400" dirty="0"/>
              <a:t>special</a:t>
            </a:r>
            <a:r>
              <a:rPr lang="en-US" sz="2400" spc="-15" dirty="0"/>
              <a:t> </a:t>
            </a:r>
            <a:r>
              <a:rPr lang="en-US" sz="2400" dirty="0"/>
              <a:t>operator</a:t>
            </a:r>
            <a:r>
              <a:rPr lang="en-US" sz="2400" spc="-45" dirty="0"/>
              <a:t> </a:t>
            </a:r>
            <a:r>
              <a:rPr lang="en-US" sz="2400" dirty="0"/>
              <a:t>that</a:t>
            </a:r>
            <a:r>
              <a:rPr lang="en-US" sz="2400" spc="-15" dirty="0"/>
              <a:t> </a:t>
            </a:r>
            <a:r>
              <a:rPr lang="en-US" sz="2400" spc="-5" dirty="0"/>
              <a:t>allocates</a:t>
            </a:r>
            <a:r>
              <a:rPr lang="en-US" sz="2400" spc="-30" dirty="0"/>
              <a:t> </a:t>
            </a:r>
            <a:r>
              <a:rPr lang="en-US" sz="2400" spc="-25" dirty="0"/>
              <a:t>memory.</a:t>
            </a:r>
            <a:endParaRPr lang="en-US" sz="2400" dirty="0"/>
          </a:p>
          <a:p>
            <a:pPr marL="383540" marR="67310" indent="-320040" algn="just">
              <a:lnSpc>
                <a:spcPct val="150000"/>
              </a:lnSpc>
              <a:spcBef>
                <a:spcPts val="710"/>
              </a:spcBef>
              <a:buClr>
                <a:srgbClr val="DD8046"/>
              </a:buClr>
              <a:buSzPct val="60000"/>
              <a:buFont typeface="Wingdings"/>
              <a:buChar char=""/>
              <a:tabLst>
                <a:tab pos="383540" algn="l"/>
              </a:tabLst>
            </a:pPr>
            <a:r>
              <a:rPr sz="2400" spc="-5" dirty="0" smtClean="0">
                <a:latin typeface="Times New Roman"/>
                <a:cs typeface="Times New Roman"/>
              </a:rPr>
              <a:t>The</a:t>
            </a:r>
            <a:r>
              <a:rPr sz="2400" dirty="0" smtClean="0">
                <a:latin typeface="Times New Roman"/>
                <a:cs typeface="Times New Roman"/>
              </a:rPr>
              <a:t> </a:t>
            </a:r>
            <a:r>
              <a:rPr sz="2400" spc="-5" dirty="0">
                <a:latin typeface="Times New Roman"/>
                <a:cs typeface="Times New Roman"/>
              </a:rPr>
              <a:t>elements</a:t>
            </a:r>
            <a:r>
              <a:rPr sz="2400" dirty="0">
                <a:latin typeface="Times New Roman"/>
                <a:cs typeface="Times New Roman"/>
              </a:rPr>
              <a:t> </a:t>
            </a:r>
            <a:r>
              <a:rPr sz="2400" spc="-10" dirty="0">
                <a:latin typeface="Times New Roman"/>
                <a:cs typeface="Times New Roman"/>
              </a:rPr>
              <a:t>in</a:t>
            </a:r>
            <a:r>
              <a:rPr sz="2400" spc="-5"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spc="-5" dirty="0">
                <a:latin typeface="Times New Roman"/>
                <a:cs typeface="Times New Roman"/>
              </a:rPr>
              <a:t>array</a:t>
            </a:r>
            <a:r>
              <a:rPr sz="2400" dirty="0">
                <a:latin typeface="Times New Roman"/>
                <a:cs typeface="Times New Roman"/>
              </a:rPr>
              <a:t> </a:t>
            </a:r>
            <a:r>
              <a:rPr sz="2400" spc="-5" dirty="0">
                <a:latin typeface="Times New Roman"/>
                <a:cs typeface="Times New Roman"/>
              </a:rPr>
              <a:t>allocated</a:t>
            </a:r>
            <a:r>
              <a:rPr sz="2400" dirty="0">
                <a:latin typeface="Times New Roman"/>
                <a:cs typeface="Times New Roman"/>
              </a:rPr>
              <a:t> by</a:t>
            </a:r>
            <a:r>
              <a:rPr sz="2400" spc="5" dirty="0">
                <a:latin typeface="Times New Roman"/>
                <a:cs typeface="Times New Roman"/>
              </a:rPr>
              <a:t> </a:t>
            </a:r>
            <a:r>
              <a:rPr sz="2400" spc="-5" dirty="0">
                <a:latin typeface="Times New Roman"/>
                <a:cs typeface="Times New Roman"/>
              </a:rPr>
              <a:t>new</a:t>
            </a:r>
            <a:r>
              <a:rPr sz="2400" dirty="0">
                <a:latin typeface="Times New Roman"/>
                <a:cs typeface="Times New Roman"/>
              </a:rPr>
              <a:t> </a:t>
            </a:r>
            <a:r>
              <a:rPr sz="2400" spc="-5" dirty="0">
                <a:latin typeface="Times New Roman"/>
                <a:cs typeface="Times New Roman"/>
              </a:rPr>
              <a:t>will </a:t>
            </a:r>
            <a:r>
              <a:rPr sz="2400" dirty="0">
                <a:latin typeface="Times New Roman"/>
                <a:cs typeface="Times New Roman"/>
              </a:rPr>
              <a:t> </a:t>
            </a:r>
            <a:r>
              <a:rPr sz="2400" spc="-5" dirty="0">
                <a:latin typeface="Times New Roman"/>
                <a:cs typeface="Times New Roman"/>
              </a:rPr>
              <a:t>automatically</a:t>
            </a:r>
            <a:r>
              <a:rPr sz="2400" spc="140" dirty="0">
                <a:latin typeface="Times New Roman"/>
                <a:cs typeface="Times New Roman"/>
              </a:rPr>
              <a:t> </a:t>
            </a:r>
            <a:r>
              <a:rPr sz="2400" dirty="0">
                <a:latin typeface="Times New Roman"/>
                <a:cs typeface="Times New Roman"/>
              </a:rPr>
              <a:t>be</a:t>
            </a:r>
            <a:r>
              <a:rPr sz="2400" spc="150" dirty="0">
                <a:latin typeface="Times New Roman"/>
                <a:cs typeface="Times New Roman"/>
              </a:rPr>
              <a:t> </a:t>
            </a:r>
            <a:r>
              <a:rPr sz="2400" spc="-10" dirty="0">
                <a:latin typeface="Times New Roman"/>
                <a:cs typeface="Times New Roman"/>
              </a:rPr>
              <a:t>initialized</a:t>
            </a:r>
            <a:r>
              <a:rPr sz="2400" spc="160" dirty="0">
                <a:latin typeface="Times New Roman"/>
                <a:cs typeface="Times New Roman"/>
              </a:rPr>
              <a:t> </a:t>
            </a:r>
            <a:r>
              <a:rPr sz="2400" spc="-10" dirty="0">
                <a:latin typeface="Times New Roman"/>
                <a:cs typeface="Times New Roman"/>
              </a:rPr>
              <a:t>to</a:t>
            </a:r>
            <a:r>
              <a:rPr sz="2400" spc="160" dirty="0">
                <a:latin typeface="Times New Roman"/>
                <a:cs typeface="Times New Roman"/>
              </a:rPr>
              <a:t> </a:t>
            </a:r>
            <a:r>
              <a:rPr sz="2400" spc="-5" dirty="0">
                <a:latin typeface="Times New Roman"/>
                <a:cs typeface="Times New Roman"/>
              </a:rPr>
              <a:t>zero.</a:t>
            </a:r>
            <a:r>
              <a:rPr sz="2400" spc="140" dirty="0">
                <a:latin typeface="Times New Roman"/>
                <a:cs typeface="Times New Roman"/>
              </a:rPr>
              <a:t> </a:t>
            </a:r>
            <a:endParaRPr lang="en-US" sz="2400" spc="140" dirty="0" smtClean="0">
              <a:latin typeface="Times New Roman"/>
              <a:cs typeface="Times New Roman"/>
            </a:endParaRPr>
          </a:p>
          <a:p>
            <a:pPr marL="332740" marR="5080" indent="-320675" algn="just">
              <a:lnSpc>
                <a:spcPct val="100000"/>
              </a:lnSpc>
              <a:spcBef>
                <a:spcPts val="700"/>
              </a:spcBef>
              <a:buClr>
                <a:srgbClr val="DD8046"/>
              </a:buClr>
              <a:buSzPct val="60344"/>
              <a:buFont typeface="Wingdings"/>
              <a:buChar char=""/>
              <a:tabLst>
                <a:tab pos="333375" algn="l"/>
              </a:tabLst>
            </a:pPr>
            <a:r>
              <a:rPr lang="en-US" sz="2400" dirty="0">
                <a:latin typeface="Times New Roman"/>
                <a:cs typeface="Times New Roman"/>
              </a:rPr>
              <a:t>It is possible to combine the declaration of the array  variable with the allocation of the array itself, as  shown here:</a:t>
            </a:r>
          </a:p>
          <a:p>
            <a:pPr marL="378460" algn="just">
              <a:lnSpc>
                <a:spcPct val="100000"/>
              </a:lnSpc>
              <a:spcBef>
                <a:spcPts val="615"/>
              </a:spcBef>
            </a:pPr>
            <a:r>
              <a:rPr lang="en-US" spc="-55" dirty="0">
                <a:solidFill>
                  <a:srgbClr val="93B6D2"/>
                </a:solidFill>
                <a:latin typeface="Microsoft Sans Serif"/>
                <a:cs typeface="Microsoft Sans Serif"/>
              </a:rPr>
              <a:t>🞑</a:t>
            </a:r>
            <a:r>
              <a:rPr lang="en-US" spc="50" dirty="0">
                <a:solidFill>
                  <a:srgbClr val="93B6D2"/>
                </a:solidFill>
                <a:latin typeface="Microsoft Sans Serif"/>
                <a:cs typeface="Microsoft Sans Serif"/>
              </a:rPr>
              <a:t> </a:t>
            </a:r>
            <a:r>
              <a:rPr lang="en-US" sz="2600" b="1" dirty="0">
                <a:latin typeface="Times New Roman"/>
                <a:cs typeface="Times New Roman"/>
              </a:rPr>
              <a:t>int</a:t>
            </a:r>
            <a:r>
              <a:rPr lang="en-US" sz="2600" b="1" spc="-20" dirty="0">
                <a:latin typeface="Times New Roman"/>
                <a:cs typeface="Times New Roman"/>
              </a:rPr>
              <a:t> </a:t>
            </a:r>
            <a:r>
              <a:rPr lang="en-US" sz="2600" b="1" dirty="0" err="1">
                <a:latin typeface="Times New Roman"/>
                <a:cs typeface="Times New Roman"/>
              </a:rPr>
              <a:t>month_days</a:t>
            </a:r>
            <a:r>
              <a:rPr lang="en-US" sz="2600" b="1" dirty="0">
                <a:latin typeface="Times New Roman"/>
                <a:cs typeface="Times New Roman"/>
              </a:rPr>
              <a:t>[]</a:t>
            </a:r>
            <a:r>
              <a:rPr lang="en-US" sz="2600" b="1" spc="-35" dirty="0">
                <a:latin typeface="Times New Roman"/>
                <a:cs typeface="Times New Roman"/>
              </a:rPr>
              <a:t> </a:t>
            </a:r>
            <a:r>
              <a:rPr lang="en-US" sz="2600" b="1" dirty="0">
                <a:latin typeface="Times New Roman"/>
                <a:cs typeface="Times New Roman"/>
              </a:rPr>
              <a:t>=</a:t>
            </a:r>
            <a:r>
              <a:rPr lang="en-US" sz="2600" b="1" spc="-5" dirty="0">
                <a:latin typeface="Times New Roman"/>
                <a:cs typeface="Times New Roman"/>
              </a:rPr>
              <a:t> </a:t>
            </a:r>
            <a:r>
              <a:rPr lang="en-US" sz="2600" b="1" dirty="0">
                <a:latin typeface="Times New Roman"/>
                <a:cs typeface="Times New Roman"/>
              </a:rPr>
              <a:t>new</a:t>
            </a:r>
            <a:r>
              <a:rPr lang="en-US" sz="2600" b="1" spc="-20" dirty="0">
                <a:latin typeface="Times New Roman"/>
                <a:cs typeface="Times New Roman"/>
              </a:rPr>
              <a:t> </a:t>
            </a:r>
            <a:r>
              <a:rPr lang="en-US" sz="2600" b="1" dirty="0">
                <a:latin typeface="Times New Roman"/>
                <a:cs typeface="Times New Roman"/>
              </a:rPr>
              <a:t>int[12];</a:t>
            </a:r>
            <a:endParaRPr lang="en-US" sz="2600" dirty="0">
              <a:latin typeface="Times New Roman"/>
              <a:cs typeface="Times New Roman"/>
            </a:endParaRPr>
          </a:p>
          <a:p>
            <a:pPr marL="383540" marR="67310" indent="-320040" algn="just">
              <a:lnSpc>
                <a:spcPct val="150000"/>
              </a:lnSpc>
              <a:spcBef>
                <a:spcPts val="710"/>
              </a:spcBef>
              <a:buClr>
                <a:srgbClr val="DD8046"/>
              </a:buClr>
              <a:buSzPct val="60000"/>
              <a:buFont typeface="Wingdings"/>
              <a:buChar char=""/>
              <a:tabLst>
                <a:tab pos="383540" algn="l"/>
              </a:tabLst>
            </a:pPr>
            <a:endParaRPr sz="20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54</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245360" cy="696595"/>
          </a:xfrm>
          <a:prstGeom prst="rect">
            <a:avLst/>
          </a:prstGeom>
        </p:spPr>
        <p:txBody>
          <a:bodyPr vert="horz" wrap="square" lIns="0" tIns="13335" rIns="0" bIns="0" rtlCol="0">
            <a:spAutoFit/>
          </a:bodyPr>
          <a:lstStyle/>
          <a:p>
            <a:pPr marL="12700">
              <a:lnSpc>
                <a:spcPct val="100000"/>
              </a:lnSpc>
              <a:spcBef>
                <a:spcPts val="105"/>
              </a:spcBef>
            </a:pPr>
            <a:r>
              <a:rPr sz="4400" spc="-5" dirty="0"/>
              <a:t>Arrays</a:t>
            </a:r>
            <a:r>
              <a:rPr sz="4400" spc="-90" dirty="0"/>
              <a:t> </a:t>
            </a:r>
            <a:r>
              <a:rPr sz="4400" dirty="0"/>
              <a:t>…</a:t>
            </a:r>
            <a:endParaRPr sz="4400"/>
          </a:p>
        </p:txBody>
      </p:sp>
      <p:sp>
        <p:nvSpPr>
          <p:cNvPr id="3" name="object 3"/>
          <p:cNvSpPr txBox="1"/>
          <p:nvPr/>
        </p:nvSpPr>
        <p:spPr>
          <a:xfrm>
            <a:off x="457200" y="2133600"/>
            <a:ext cx="7842250" cy="4456092"/>
          </a:xfrm>
          <a:prstGeom prst="rect">
            <a:avLst/>
          </a:prstGeom>
        </p:spPr>
        <p:txBody>
          <a:bodyPr vert="horz" wrap="square" lIns="0" tIns="12700" rIns="0" bIns="0" rtlCol="0">
            <a:spAutoFit/>
          </a:bodyPr>
          <a:lstStyle/>
          <a:p>
            <a:pPr marL="332740" indent="-320675" algn="just">
              <a:spcBef>
                <a:spcPts val="100"/>
              </a:spcBef>
              <a:buClr>
                <a:srgbClr val="DD8046"/>
              </a:buClr>
              <a:buSzPct val="59259"/>
              <a:buFont typeface="Wingdings"/>
              <a:buChar char=""/>
              <a:tabLst>
                <a:tab pos="333375" algn="l"/>
              </a:tabLst>
            </a:pPr>
            <a:r>
              <a:rPr sz="2700" dirty="0" smtClean="0">
                <a:latin typeface="Times New Roman"/>
                <a:cs typeface="Times New Roman"/>
              </a:rPr>
              <a:t>Obtaining</a:t>
            </a:r>
            <a:r>
              <a:rPr sz="2700" spc="-30" dirty="0" smtClean="0">
                <a:latin typeface="Times New Roman"/>
                <a:cs typeface="Times New Roman"/>
              </a:rPr>
              <a:t> </a:t>
            </a:r>
            <a:r>
              <a:rPr sz="2700" dirty="0">
                <a:latin typeface="Times New Roman"/>
                <a:cs typeface="Times New Roman"/>
              </a:rPr>
              <a:t>an</a:t>
            </a:r>
            <a:r>
              <a:rPr sz="2700" spc="-5" dirty="0">
                <a:latin typeface="Times New Roman"/>
                <a:cs typeface="Times New Roman"/>
              </a:rPr>
              <a:t> </a:t>
            </a:r>
            <a:r>
              <a:rPr sz="2700" dirty="0">
                <a:latin typeface="Times New Roman"/>
                <a:cs typeface="Times New Roman"/>
              </a:rPr>
              <a:t>array</a:t>
            </a:r>
            <a:r>
              <a:rPr sz="2700" spc="-15" dirty="0">
                <a:latin typeface="Times New Roman"/>
                <a:cs typeface="Times New Roman"/>
              </a:rPr>
              <a:t> </a:t>
            </a:r>
            <a:r>
              <a:rPr sz="2700" dirty="0">
                <a:latin typeface="Times New Roman"/>
                <a:cs typeface="Times New Roman"/>
              </a:rPr>
              <a:t>is</a:t>
            </a:r>
            <a:r>
              <a:rPr sz="2700" spc="-5" dirty="0">
                <a:latin typeface="Times New Roman"/>
                <a:cs typeface="Times New Roman"/>
              </a:rPr>
              <a:t> </a:t>
            </a:r>
            <a:r>
              <a:rPr sz="2700" dirty="0">
                <a:latin typeface="Times New Roman"/>
                <a:cs typeface="Times New Roman"/>
              </a:rPr>
              <a:t>a</a:t>
            </a:r>
            <a:r>
              <a:rPr sz="2700" spc="-5" dirty="0">
                <a:latin typeface="Times New Roman"/>
                <a:cs typeface="Times New Roman"/>
              </a:rPr>
              <a:t> </a:t>
            </a:r>
            <a:r>
              <a:rPr sz="2700" dirty="0">
                <a:latin typeface="Times New Roman"/>
                <a:cs typeface="Times New Roman"/>
              </a:rPr>
              <a:t>two-step</a:t>
            </a:r>
            <a:r>
              <a:rPr sz="2700" spc="-25" dirty="0">
                <a:latin typeface="Times New Roman"/>
                <a:cs typeface="Times New Roman"/>
              </a:rPr>
              <a:t> </a:t>
            </a:r>
            <a:r>
              <a:rPr sz="2700" dirty="0" smtClean="0">
                <a:latin typeface="Times New Roman"/>
                <a:cs typeface="Times New Roman"/>
              </a:rPr>
              <a:t>process</a:t>
            </a:r>
            <a:r>
              <a:rPr lang="en-US" sz="2700" dirty="0" smtClean="0">
                <a:latin typeface="Times New Roman"/>
                <a:cs typeface="Times New Roman"/>
              </a:rPr>
              <a:t>:</a:t>
            </a:r>
          </a:p>
          <a:p>
            <a:pPr marL="378460" algn="just">
              <a:spcBef>
                <a:spcPts val="40"/>
              </a:spcBef>
            </a:pPr>
            <a:r>
              <a:rPr sz="1650" spc="-45" dirty="0" smtClean="0">
                <a:solidFill>
                  <a:srgbClr val="93B6D2"/>
                </a:solidFill>
                <a:latin typeface="Microsoft Sans Serif"/>
                <a:cs typeface="Microsoft Sans Serif"/>
              </a:rPr>
              <a:t>🞑</a:t>
            </a:r>
            <a:r>
              <a:rPr sz="1650" spc="220" dirty="0" smtClean="0">
                <a:solidFill>
                  <a:srgbClr val="93B6D2"/>
                </a:solidFill>
                <a:latin typeface="Microsoft Sans Serif"/>
                <a:cs typeface="Microsoft Sans Serif"/>
              </a:rPr>
              <a:t> </a:t>
            </a:r>
            <a:r>
              <a:rPr lang="en-US" sz="2400" dirty="0">
                <a:latin typeface="Times New Roman"/>
                <a:cs typeface="Times New Roman"/>
              </a:rPr>
              <a:t>D</a:t>
            </a:r>
            <a:r>
              <a:rPr sz="2400" dirty="0" smtClean="0">
                <a:latin typeface="Times New Roman"/>
                <a:cs typeface="Times New Roman"/>
              </a:rPr>
              <a:t>eclare</a:t>
            </a:r>
            <a:r>
              <a:rPr sz="2400" spc="-25" dirty="0" smtClean="0">
                <a:latin typeface="Times New Roman"/>
                <a:cs typeface="Times New Roman"/>
              </a:rPr>
              <a:t> </a:t>
            </a:r>
            <a:r>
              <a:rPr sz="2400" dirty="0">
                <a:latin typeface="Times New Roman"/>
                <a:cs typeface="Times New Roman"/>
              </a:rPr>
              <a:t>a variable</a:t>
            </a:r>
            <a:r>
              <a:rPr sz="2400" spc="-3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desired</a:t>
            </a:r>
            <a:r>
              <a:rPr sz="2400" spc="-15" dirty="0">
                <a:latin typeface="Times New Roman"/>
                <a:cs typeface="Times New Roman"/>
              </a:rPr>
              <a:t> </a:t>
            </a:r>
            <a:r>
              <a:rPr sz="2400" dirty="0">
                <a:latin typeface="Times New Roman"/>
                <a:cs typeface="Times New Roman"/>
              </a:rPr>
              <a:t>array</a:t>
            </a:r>
            <a:r>
              <a:rPr sz="2400" spc="-25" dirty="0">
                <a:latin typeface="Times New Roman"/>
                <a:cs typeface="Times New Roman"/>
              </a:rPr>
              <a:t> </a:t>
            </a:r>
            <a:r>
              <a:rPr sz="2400" dirty="0">
                <a:latin typeface="Times New Roman"/>
                <a:cs typeface="Times New Roman"/>
              </a:rPr>
              <a:t>type</a:t>
            </a:r>
            <a:r>
              <a:rPr sz="2400" dirty="0" smtClean="0">
                <a:latin typeface="Times New Roman"/>
                <a:cs typeface="Times New Roman"/>
              </a:rPr>
              <a:t>.</a:t>
            </a:r>
            <a:endParaRPr lang="en-US" sz="2400" dirty="0" smtClean="0">
              <a:latin typeface="Times New Roman"/>
              <a:cs typeface="Times New Roman"/>
            </a:endParaRPr>
          </a:p>
          <a:p>
            <a:pPr marL="652780" marR="5080" indent="-274320" algn="just">
              <a:spcBef>
                <a:spcPts val="600"/>
              </a:spcBef>
            </a:pPr>
            <a:r>
              <a:rPr sz="1650" spc="-45" dirty="0" smtClean="0">
                <a:solidFill>
                  <a:srgbClr val="93B6D2"/>
                </a:solidFill>
                <a:latin typeface="Microsoft Sans Serif"/>
                <a:cs typeface="Microsoft Sans Serif"/>
              </a:rPr>
              <a:t>🞑</a:t>
            </a:r>
            <a:r>
              <a:rPr sz="1650" spc="350" dirty="0" smtClean="0">
                <a:solidFill>
                  <a:srgbClr val="93B6D2"/>
                </a:solidFill>
                <a:latin typeface="Microsoft Sans Serif"/>
                <a:cs typeface="Microsoft Sans Serif"/>
              </a:rPr>
              <a:t> </a:t>
            </a:r>
            <a:r>
              <a:rPr lang="en-US" sz="2400" spc="-5" dirty="0">
                <a:latin typeface="Times New Roman"/>
                <a:cs typeface="Times New Roman"/>
              </a:rPr>
              <a:t>A</a:t>
            </a:r>
            <a:r>
              <a:rPr sz="2400" spc="-5" dirty="0" smtClean="0">
                <a:latin typeface="Times New Roman"/>
                <a:cs typeface="Times New Roman"/>
              </a:rPr>
              <a:t>llocate </a:t>
            </a:r>
            <a:r>
              <a:rPr sz="2400" dirty="0">
                <a:latin typeface="Times New Roman"/>
                <a:cs typeface="Times New Roman"/>
              </a:rPr>
              <a:t>the </a:t>
            </a:r>
            <a:r>
              <a:rPr sz="2400" spc="-5" dirty="0">
                <a:latin typeface="Times New Roman"/>
                <a:cs typeface="Times New Roman"/>
              </a:rPr>
              <a:t>memory that will </a:t>
            </a:r>
            <a:r>
              <a:rPr sz="2400" dirty="0">
                <a:latin typeface="Times New Roman"/>
                <a:cs typeface="Times New Roman"/>
              </a:rPr>
              <a:t>hold </a:t>
            </a:r>
            <a:r>
              <a:rPr lang="en-US" sz="2400" spc="-5" dirty="0" smtClean="0">
                <a:latin typeface="Times New Roman"/>
                <a:cs typeface="Times New Roman"/>
              </a:rPr>
              <a:t>an</a:t>
            </a:r>
            <a:r>
              <a:rPr sz="2400" dirty="0" smtClean="0">
                <a:latin typeface="Times New Roman"/>
                <a:cs typeface="Times New Roman"/>
              </a:rPr>
              <a:t> </a:t>
            </a:r>
            <a:r>
              <a:rPr sz="2400" spc="-30" dirty="0" smtClean="0">
                <a:latin typeface="Times New Roman"/>
                <a:cs typeface="Times New Roman"/>
              </a:rPr>
              <a:t>array</a:t>
            </a:r>
            <a:r>
              <a:rPr lang="en-US" sz="2400" spc="-30" dirty="0" smtClean="0">
                <a:latin typeface="Times New Roman"/>
                <a:cs typeface="Times New Roman"/>
              </a:rPr>
              <a:t> </a:t>
            </a:r>
            <a:r>
              <a:rPr sz="2400" dirty="0" smtClean="0">
                <a:latin typeface="Times New Roman"/>
                <a:cs typeface="Times New Roman"/>
              </a:rPr>
              <a:t>using </a:t>
            </a:r>
            <a:r>
              <a:rPr sz="2400" spc="-45" dirty="0">
                <a:latin typeface="Times New Roman"/>
                <a:cs typeface="Times New Roman"/>
              </a:rPr>
              <a:t>new, </a:t>
            </a:r>
            <a:r>
              <a:rPr sz="2400" dirty="0">
                <a:latin typeface="Times New Roman"/>
                <a:cs typeface="Times New Roman"/>
              </a:rPr>
              <a:t>and assign </a:t>
            </a:r>
            <a:r>
              <a:rPr sz="2400" spc="-5" dirty="0">
                <a:latin typeface="Times New Roman"/>
                <a:cs typeface="Times New Roman"/>
              </a:rPr>
              <a:t>it </a:t>
            </a:r>
            <a:r>
              <a:rPr sz="2400" dirty="0">
                <a:latin typeface="Times New Roman"/>
                <a:cs typeface="Times New Roman"/>
              </a:rPr>
              <a:t>to </a:t>
            </a:r>
            <a:r>
              <a:rPr sz="2400" spc="-5" dirty="0">
                <a:latin typeface="Times New Roman"/>
                <a:cs typeface="Times New Roman"/>
              </a:rPr>
              <a:t>the </a:t>
            </a:r>
            <a:r>
              <a:rPr sz="2400" dirty="0">
                <a:latin typeface="Times New Roman"/>
                <a:cs typeface="Times New Roman"/>
              </a:rPr>
              <a:t>array </a:t>
            </a:r>
            <a:r>
              <a:rPr sz="2400" spc="-5" dirty="0">
                <a:latin typeface="Times New Roman"/>
                <a:cs typeface="Times New Roman"/>
              </a:rPr>
              <a:t>variable</a:t>
            </a:r>
            <a:r>
              <a:rPr sz="2400" spc="-5" dirty="0" smtClean="0">
                <a:latin typeface="Times New Roman"/>
                <a:cs typeface="Times New Roman"/>
              </a:rPr>
              <a:t>.</a:t>
            </a:r>
            <a:endParaRPr lang="en-US" sz="2400" spc="-5" dirty="0" smtClean="0">
              <a:latin typeface="Times New Roman"/>
              <a:cs typeface="Times New Roman"/>
            </a:endParaRPr>
          </a:p>
          <a:p>
            <a:pPr marL="652780" marR="5080" indent="-274320" algn="just">
              <a:lnSpc>
                <a:spcPct val="80000"/>
              </a:lnSpc>
              <a:spcBef>
                <a:spcPts val="600"/>
              </a:spcBef>
            </a:pPr>
            <a:r>
              <a:rPr lang="en-US" sz="2400" spc="-5" dirty="0" smtClean="0">
                <a:latin typeface="Times New Roman"/>
                <a:cs typeface="Times New Roman"/>
              </a:rPr>
              <a:t>int </a:t>
            </a:r>
            <a:r>
              <a:rPr lang="en-US" sz="2400" spc="-5" dirty="0" err="1" smtClean="0">
                <a:latin typeface="Times New Roman"/>
                <a:cs typeface="Times New Roman"/>
              </a:rPr>
              <a:t>arr</a:t>
            </a:r>
            <a:r>
              <a:rPr lang="en-US" sz="2400" spc="-5" dirty="0" smtClean="0">
                <a:latin typeface="Times New Roman"/>
                <a:cs typeface="Times New Roman"/>
              </a:rPr>
              <a:t>[];</a:t>
            </a:r>
          </a:p>
          <a:p>
            <a:pPr marL="652780" marR="5080" indent="-274320" algn="just">
              <a:lnSpc>
                <a:spcPct val="80000"/>
              </a:lnSpc>
              <a:spcBef>
                <a:spcPts val="600"/>
              </a:spcBef>
            </a:pPr>
            <a:r>
              <a:rPr lang="en-US" sz="2400" spc="-5" dirty="0" err="1">
                <a:latin typeface="Times New Roman"/>
                <a:cs typeface="Times New Roman"/>
              </a:rPr>
              <a:t>a</a:t>
            </a:r>
            <a:r>
              <a:rPr lang="en-US" sz="2400" spc="-5" dirty="0" err="1" smtClean="0">
                <a:latin typeface="Times New Roman"/>
                <a:cs typeface="Times New Roman"/>
              </a:rPr>
              <a:t>rr</a:t>
            </a:r>
            <a:r>
              <a:rPr lang="en-US" sz="2400" spc="-5" dirty="0" smtClean="0">
                <a:latin typeface="Times New Roman"/>
                <a:cs typeface="Times New Roman"/>
              </a:rPr>
              <a:t>=new </a:t>
            </a:r>
            <a:r>
              <a:rPr lang="en-US" sz="2400" spc="-5" dirty="0" err="1" smtClean="0">
                <a:latin typeface="Times New Roman"/>
                <a:cs typeface="Times New Roman"/>
              </a:rPr>
              <a:t>int</a:t>
            </a:r>
            <a:r>
              <a:rPr lang="en-US" sz="2400" spc="-5" dirty="0" smtClean="0">
                <a:latin typeface="Times New Roman"/>
                <a:cs typeface="Times New Roman"/>
              </a:rPr>
              <a:t>[20];     OR</a:t>
            </a:r>
          </a:p>
          <a:p>
            <a:pPr marL="652780" marR="5080" indent="-274320" algn="just">
              <a:lnSpc>
                <a:spcPct val="80000"/>
              </a:lnSpc>
              <a:spcBef>
                <a:spcPts val="600"/>
              </a:spcBef>
            </a:pPr>
            <a:endParaRPr sz="2400" dirty="0">
              <a:latin typeface="Times New Roman"/>
              <a:cs typeface="Times New Roman"/>
            </a:endParaRPr>
          </a:p>
          <a:p>
            <a:pPr marL="332740" marR="5080" indent="-320675" algn="just">
              <a:lnSpc>
                <a:spcPct val="80000"/>
              </a:lnSpc>
              <a:spcBef>
                <a:spcPts val="700"/>
              </a:spcBef>
              <a:buClr>
                <a:srgbClr val="DD8046"/>
              </a:buClr>
              <a:buSzPct val="59259"/>
              <a:buFont typeface="Wingdings"/>
              <a:buChar char=""/>
              <a:tabLst>
                <a:tab pos="333375" algn="l"/>
              </a:tabLst>
            </a:pPr>
            <a:r>
              <a:rPr lang="en-US" sz="2800" spc="-5" dirty="0">
                <a:latin typeface="Times New Roman"/>
                <a:cs typeface="Times New Roman"/>
              </a:rPr>
              <a:t>Thus, </a:t>
            </a:r>
            <a:r>
              <a:rPr lang="en-US" sz="2800" dirty="0" smtClean="0">
                <a:latin typeface="Times New Roman"/>
                <a:cs typeface="Times New Roman"/>
              </a:rPr>
              <a:t>in</a:t>
            </a:r>
            <a:r>
              <a:rPr lang="en-US" sz="2800" spc="-20" dirty="0" smtClean="0">
                <a:latin typeface="Times New Roman"/>
                <a:cs typeface="Times New Roman"/>
              </a:rPr>
              <a:t> </a:t>
            </a:r>
            <a:r>
              <a:rPr lang="en-US" sz="2800" dirty="0">
                <a:latin typeface="Times New Roman"/>
                <a:cs typeface="Times New Roman"/>
              </a:rPr>
              <a:t>Java</a:t>
            </a:r>
            <a:r>
              <a:rPr lang="en-US" sz="2800" spc="-10" dirty="0">
                <a:latin typeface="Times New Roman"/>
                <a:cs typeface="Times New Roman"/>
              </a:rPr>
              <a:t> </a:t>
            </a:r>
            <a:r>
              <a:rPr lang="en-US" sz="2800" dirty="0">
                <a:latin typeface="Times New Roman"/>
                <a:cs typeface="Times New Roman"/>
              </a:rPr>
              <a:t>all</a:t>
            </a:r>
            <a:r>
              <a:rPr lang="en-US" sz="2800" spc="-15" dirty="0">
                <a:latin typeface="Times New Roman"/>
                <a:cs typeface="Times New Roman"/>
              </a:rPr>
              <a:t> </a:t>
            </a:r>
            <a:r>
              <a:rPr lang="en-US" sz="2800" dirty="0">
                <a:latin typeface="Times New Roman"/>
                <a:cs typeface="Times New Roman"/>
              </a:rPr>
              <a:t>arrays</a:t>
            </a:r>
            <a:r>
              <a:rPr lang="en-US" sz="2800" spc="-15" dirty="0">
                <a:latin typeface="Times New Roman"/>
                <a:cs typeface="Times New Roman"/>
              </a:rPr>
              <a:t> </a:t>
            </a:r>
            <a:r>
              <a:rPr lang="en-US" sz="2800" dirty="0">
                <a:latin typeface="Times New Roman"/>
                <a:cs typeface="Times New Roman"/>
              </a:rPr>
              <a:t>are</a:t>
            </a:r>
            <a:r>
              <a:rPr lang="en-US" sz="2800" spc="-5" dirty="0">
                <a:latin typeface="Times New Roman"/>
                <a:cs typeface="Times New Roman"/>
              </a:rPr>
              <a:t> dynamically</a:t>
            </a:r>
            <a:r>
              <a:rPr lang="en-US" sz="2800" spc="-30" dirty="0">
                <a:latin typeface="Times New Roman"/>
                <a:cs typeface="Times New Roman"/>
              </a:rPr>
              <a:t> </a:t>
            </a:r>
            <a:r>
              <a:rPr lang="en-US" sz="2800" dirty="0">
                <a:latin typeface="Times New Roman"/>
                <a:cs typeface="Times New Roman"/>
              </a:rPr>
              <a:t>allocated</a:t>
            </a:r>
            <a:r>
              <a:rPr lang="en-US" sz="2800" dirty="0" smtClean="0">
                <a:latin typeface="Times New Roman"/>
                <a:cs typeface="Times New Roman"/>
              </a:rPr>
              <a:t>.</a:t>
            </a:r>
          </a:p>
          <a:p>
            <a:pPr marL="332740" marR="5080" indent="-320675" algn="just">
              <a:lnSpc>
                <a:spcPct val="80000"/>
              </a:lnSpc>
              <a:spcBef>
                <a:spcPts val="700"/>
              </a:spcBef>
              <a:buClr>
                <a:srgbClr val="DD8046"/>
              </a:buClr>
              <a:buSzPct val="59259"/>
              <a:buFont typeface="Wingdings"/>
              <a:buChar char=""/>
              <a:tabLst>
                <a:tab pos="333375" algn="l"/>
              </a:tabLst>
            </a:pPr>
            <a:r>
              <a:rPr lang="en-US" sz="2800" spc="-5" dirty="0">
                <a:latin typeface="Times New Roman"/>
                <a:cs typeface="Times New Roman"/>
              </a:rPr>
              <a:t>All</a:t>
            </a:r>
            <a:r>
              <a:rPr lang="en-US" sz="2800" spc="-15" dirty="0">
                <a:latin typeface="Times New Roman"/>
                <a:cs typeface="Times New Roman"/>
              </a:rPr>
              <a:t> </a:t>
            </a:r>
            <a:r>
              <a:rPr lang="en-US" sz="2800" dirty="0">
                <a:latin typeface="Times New Roman"/>
                <a:cs typeface="Times New Roman"/>
              </a:rPr>
              <a:t>array</a:t>
            </a:r>
            <a:r>
              <a:rPr lang="en-US" sz="2800" spc="-20" dirty="0">
                <a:latin typeface="Times New Roman"/>
                <a:cs typeface="Times New Roman"/>
              </a:rPr>
              <a:t> </a:t>
            </a:r>
            <a:r>
              <a:rPr lang="en-US" sz="2800" dirty="0">
                <a:latin typeface="Times New Roman"/>
                <a:cs typeface="Times New Roman"/>
              </a:rPr>
              <a:t>indexes</a:t>
            </a:r>
            <a:r>
              <a:rPr lang="en-US" sz="2800" spc="-30" dirty="0">
                <a:latin typeface="Times New Roman"/>
                <a:cs typeface="Times New Roman"/>
              </a:rPr>
              <a:t> </a:t>
            </a:r>
            <a:r>
              <a:rPr lang="en-US" sz="2800" dirty="0">
                <a:latin typeface="Times New Roman"/>
                <a:cs typeface="Times New Roman"/>
              </a:rPr>
              <a:t>start</a:t>
            </a:r>
            <a:r>
              <a:rPr lang="en-US" sz="2800" spc="-15" dirty="0">
                <a:latin typeface="Times New Roman"/>
                <a:cs typeface="Times New Roman"/>
              </a:rPr>
              <a:t> </a:t>
            </a:r>
            <a:r>
              <a:rPr lang="en-US" sz="2800" dirty="0">
                <a:latin typeface="Times New Roman"/>
                <a:cs typeface="Times New Roman"/>
              </a:rPr>
              <a:t>at</a:t>
            </a:r>
            <a:r>
              <a:rPr lang="en-US" sz="2800" spc="-15" dirty="0">
                <a:latin typeface="Times New Roman"/>
                <a:cs typeface="Times New Roman"/>
              </a:rPr>
              <a:t> </a:t>
            </a:r>
            <a:r>
              <a:rPr lang="en-US" sz="2800" dirty="0">
                <a:latin typeface="Times New Roman"/>
                <a:cs typeface="Times New Roman"/>
              </a:rPr>
              <a:t>zero.</a:t>
            </a:r>
          </a:p>
          <a:p>
            <a:pPr marL="332740" marR="5080" indent="-320675" algn="just">
              <a:lnSpc>
                <a:spcPct val="80000"/>
              </a:lnSpc>
              <a:spcBef>
                <a:spcPts val="700"/>
              </a:spcBef>
              <a:buClr>
                <a:srgbClr val="DD8046"/>
              </a:buClr>
              <a:buSzPct val="59259"/>
              <a:buFont typeface="Wingdings"/>
              <a:buChar char=""/>
              <a:tabLst>
                <a:tab pos="333375" algn="l"/>
              </a:tabLst>
            </a:pPr>
            <a:endParaRPr lang="en-US" sz="2800" dirty="0">
              <a:latin typeface="Times New Roman"/>
              <a:cs typeface="Times New Roman"/>
            </a:endParaRPr>
          </a:p>
          <a:p>
            <a:pPr marL="12065" marR="5080" algn="just">
              <a:lnSpc>
                <a:spcPct val="80000"/>
              </a:lnSpc>
              <a:spcBef>
                <a:spcPts val="700"/>
              </a:spcBef>
              <a:buClr>
                <a:srgbClr val="DD8046"/>
              </a:buClr>
              <a:buSzPct val="59259"/>
              <a:tabLst>
                <a:tab pos="333375" algn="l"/>
              </a:tabLst>
            </a:pPr>
            <a:endParaRPr lang="en-US" sz="2700" dirty="0" smtClean="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55</a:t>
            </a:r>
            <a:endParaRPr sz="1200">
              <a:latin typeface="Times New Roman"/>
              <a:cs typeface="Times New Roman"/>
            </a:endParaRPr>
          </a:p>
        </p:txBody>
      </p:sp>
      <p:sp>
        <p:nvSpPr>
          <p:cNvPr id="5" name="TextBox 4"/>
          <p:cNvSpPr txBox="1"/>
          <p:nvPr/>
        </p:nvSpPr>
        <p:spPr>
          <a:xfrm>
            <a:off x="4876800" y="3899981"/>
            <a:ext cx="2978439" cy="461665"/>
          </a:xfrm>
          <a:prstGeom prst="rect">
            <a:avLst/>
          </a:prstGeom>
          <a:noFill/>
        </p:spPr>
        <p:txBody>
          <a:bodyPr wrap="square" rtlCol="0">
            <a:spAutoFit/>
          </a:bodyPr>
          <a:lstStyle/>
          <a:p>
            <a:r>
              <a:rPr lang="en-US" sz="2400" spc="-5" dirty="0">
                <a:latin typeface="Times New Roman"/>
                <a:cs typeface="Times New Roman"/>
              </a:rPr>
              <a:t>int </a:t>
            </a:r>
            <a:r>
              <a:rPr lang="en-US" sz="2400" spc="-5" dirty="0" err="1">
                <a:latin typeface="Times New Roman"/>
                <a:cs typeface="Times New Roman"/>
              </a:rPr>
              <a:t>arr</a:t>
            </a:r>
            <a:r>
              <a:rPr lang="en-US" sz="2400" spc="-5" dirty="0">
                <a:latin typeface="Times New Roman"/>
                <a:cs typeface="Times New Roman"/>
              </a:rPr>
              <a:t>[]=new int[2];</a:t>
            </a:r>
            <a:endParaRPr lang="en-IN" sz="2400" spc="-5" dirty="0">
              <a:latin typeface="Times New Roman"/>
              <a:cs typeface="Times New Roman"/>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116535"/>
            <a:ext cx="6981190" cy="574675"/>
          </a:xfrm>
          <a:prstGeom prst="rect">
            <a:avLst/>
          </a:prstGeom>
        </p:spPr>
        <p:txBody>
          <a:bodyPr vert="horz" wrap="square" lIns="0" tIns="12700" rIns="0" bIns="0" rtlCol="0">
            <a:spAutoFit/>
          </a:bodyPr>
          <a:lstStyle/>
          <a:p>
            <a:pPr marL="12700">
              <a:lnSpc>
                <a:spcPct val="100000"/>
              </a:lnSpc>
              <a:spcBef>
                <a:spcPts val="100"/>
              </a:spcBef>
            </a:pPr>
            <a:r>
              <a:rPr sz="3600" dirty="0"/>
              <a:t>Demonstrate</a:t>
            </a:r>
            <a:r>
              <a:rPr sz="3600" spc="-15" dirty="0"/>
              <a:t> </a:t>
            </a:r>
            <a:r>
              <a:rPr sz="3600" dirty="0"/>
              <a:t>a</a:t>
            </a:r>
            <a:r>
              <a:rPr sz="3600" spc="5" dirty="0"/>
              <a:t> </a:t>
            </a:r>
            <a:r>
              <a:rPr sz="3600" spc="-5" dirty="0"/>
              <a:t>one-dimensional</a:t>
            </a:r>
            <a:r>
              <a:rPr sz="3600" dirty="0"/>
              <a:t> </a:t>
            </a:r>
            <a:r>
              <a:rPr sz="3600" spc="-40" dirty="0"/>
              <a:t>array.</a:t>
            </a:r>
            <a:endParaRPr sz="3600" dirty="0"/>
          </a:p>
        </p:txBody>
      </p:sp>
      <p:sp>
        <p:nvSpPr>
          <p:cNvPr id="3" name="object 3"/>
          <p:cNvSpPr txBox="1"/>
          <p:nvPr/>
        </p:nvSpPr>
        <p:spPr>
          <a:xfrm>
            <a:off x="574040" y="676757"/>
            <a:ext cx="7958455" cy="359907"/>
          </a:xfrm>
          <a:prstGeom prst="rect">
            <a:avLst/>
          </a:prstGeom>
        </p:spPr>
        <p:txBody>
          <a:bodyPr vert="horz" wrap="square" lIns="0" tIns="12700" rIns="0" bIns="0" rtlCol="0">
            <a:spAutoFit/>
          </a:bodyPr>
          <a:lstStyle/>
          <a:p>
            <a:pPr marL="12700" marR="5080">
              <a:lnSpc>
                <a:spcPct val="141400"/>
              </a:lnSpc>
              <a:spcBef>
                <a:spcPts val="100"/>
              </a:spcBef>
              <a:buClr>
                <a:srgbClr val="DD8046"/>
              </a:buClr>
              <a:buSzPct val="60714"/>
              <a:buFont typeface="Wingdings"/>
              <a:buChar char=""/>
              <a:tabLst>
                <a:tab pos="332740" algn="l"/>
                <a:tab pos="333375" algn="l"/>
              </a:tabLst>
            </a:pPr>
            <a:r>
              <a:rPr lang="en-US" spc="5" dirty="0" smtClean="0">
                <a:latin typeface="Times New Roman"/>
                <a:cs typeface="Times New Roman"/>
              </a:rPr>
              <a:t>A</a:t>
            </a:r>
            <a:r>
              <a:rPr spc="5" dirty="0" smtClean="0">
                <a:latin typeface="Times New Roman"/>
                <a:cs typeface="Times New Roman"/>
              </a:rPr>
              <a:t> </a:t>
            </a:r>
            <a:r>
              <a:rPr dirty="0">
                <a:latin typeface="Times New Roman"/>
                <a:cs typeface="Times New Roman"/>
              </a:rPr>
              <a:t>program</a:t>
            </a:r>
            <a:r>
              <a:rPr spc="-35" dirty="0">
                <a:latin typeface="Times New Roman"/>
                <a:cs typeface="Times New Roman"/>
              </a:rPr>
              <a:t> </a:t>
            </a:r>
            <a:r>
              <a:rPr dirty="0">
                <a:latin typeface="Times New Roman"/>
                <a:cs typeface="Times New Roman"/>
              </a:rPr>
              <a:t>that</a:t>
            </a:r>
            <a:r>
              <a:rPr spc="-25" dirty="0">
                <a:latin typeface="Times New Roman"/>
                <a:cs typeface="Times New Roman"/>
              </a:rPr>
              <a:t> </a:t>
            </a:r>
            <a:r>
              <a:rPr dirty="0">
                <a:latin typeface="Times New Roman"/>
                <a:cs typeface="Times New Roman"/>
              </a:rPr>
              <a:t>creates</a:t>
            </a:r>
            <a:r>
              <a:rPr spc="-5" dirty="0">
                <a:latin typeface="Times New Roman"/>
                <a:cs typeface="Times New Roman"/>
              </a:rPr>
              <a:t> </a:t>
            </a:r>
            <a:r>
              <a:rPr dirty="0">
                <a:latin typeface="Times New Roman"/>
                <a:cs typeface="Times New Roman"/>
              </a:rPr>
              <a:t>an</a:t>
            </a:r>
            <a:r>
              <a:rPr spc="-10" dirty="0">
                <a:latin typeface="Times New Roman"/>
                <a:cs typeface="Times New Roman"/>
              </a:rPr>
              <a:t> </a:t>
            </a:r>
            <a:r>
              <a:rPr dirty="0">
                <a:latin typeface="Times New Roman"/>
                <a:cs typeface="Times New Roman"/>
              </a:rPr>
              <a:t>array</a:t>
            </a:r>
            <a:r>
              <a:rPr spc="-5" dirty="0">
                <a:latin typeface="Times New Roman"/>
                <a:cs typeface="Times New Roman"/>
              </a:rPr>
              <a:t> </a:t>
            </a:r>
            <a:r>
              <a:rPr dirty="0">
                <a:latin typeface="Times New Roman"/>
                <a:cs typeface="Times New Roman"/>
              </a:rPr>
              <a:t>of</a:t>
            </a:r>
            <a:r>
              <a:rPr spc="-15" dirty="0">
                <a:latin typeface="Times New Roman"/>
                <a:cs typeface="Times New Roman"/>
              </a:rPr>
              <a:t> </a:t>
            </a:r>
            <a:r>
              <a:rPr dirty="0">
                <a:latin typeface="Times New Roman"/>
                <a:cs typeface="Times New Roman"/>
              </a:rPr>
              <a:t>the</a:t>
            </a:r>
            <a:r>
              <a:rPr spc="-10" dirty="0">
                <a:latin typeface="Times New Roman"/>
                <a:cs typeface="Times New Roman"/>
              </a:rPr>
              <a:t> </a:t>
            </a:r>
            <a:r>
              <a:rPr spc="-5" dirty="0">
                <a:latin typeface="Times New Roman"/>
                <a:cs typeface="Times New Roman"/>
              </a:rPr>
              <a:t>number</a:t>
            </a:r>
            <a:r>
              <a:rPr dirty="0">
                <a:latin typeface="Times New Roman"/>
                <a:cs typeface="Times New Roman"/>
              </a:rPr>
              <a:t> of</a:t>
            </a:r>
            <a:r>
              <a:rPr spc="-10" dirty="0">
                <a:latin typeface="Times New Roman"/>
                <a:cs typeface="Times New Roman"/>
              </a:rPr>
              <a:t> </a:t>
            </a:r>
            <a:r>
              <a:rPr spc="-5" dirty="0">
                <a:latin typeface="Times New Roman"/>
                <a:cs typeface="Times New Roman"/>
              </a:rPr>
              <a:t>days</a:t>
            </a:r>
            <a:r>
              <a:rPr spc="5" dirty="0">
                <a:latin typeface="Times New Roman"/>
                <a:cs typeface="Times New Roman"/>
              </a:rPr>
              <a:t> </a:t>
            </a:r>
            <a:r>
              <a:rPr dirty="0">
                <a:latin typeface="Times New Roman"/>
                <a:cs typeface="Times New Roman"/>
              </a:rPr>
              <a:t>in</a:t>
            </a:r>
            <a:r>
              <a:rPr spc="-5" dirty="0">
                <a:latin typeface="Times New Roman"/>
                <a:cs typeface="Times New Roman"/>
              </a:rPr>
              <a:t> </a:t>
            </a:r>
            <a:r>
              <a:rPr dirty="0">
                <a:latin typeface="Times New Roman"/>
                <a:cs typeface="Times New Roman"/>
              </a:rPr>
              <a:t>each</a:t>
            </a:r>
            <a:r>
              <a:rPr spc="5" dirty="0">
                <a:latin typeface="Times New Roman"/>
                <a:cs typeface="Times New Roman"/>
              </a:rPr>
              <a:t> </a:t>
            </a:r>
            <a:r>
              <a:rPr spc="-5" dirty="0">
                <a:latin typeface="Times New Roman"/>
                <a:cs typeface="Times New Roman"/>
              </a:rPr>
              <a:t>month. </a:t>
            </a:r>
            <a:r>
              <a:rPr spc="-335" dirty="0">
                <a:latin typeface="Times New Roman"/>
                <a:cs typeface="Times New Roman"/>
              </a:rPr>
              <a:t> </a:t>
            </a:r>
            <a:endParaRPr dirty="0">
              <a:latin typeface="Times New Roman"/>
              <a:cs typeface="Times New Roman"/>
            </a:endParaRPr>
          </a:p>
        </p:txBody>
      </p:sp>
      <p:sp>
        <p:nvSpPr>
          <p:cNvPr id="6" name="object 6"/>
          <p:cNvSpPr txBox="1"/>
          <p:nvPr/>
        </p:nvSpPr>
        <p:spPr>
          <a:xfrm>
            <a:off x="1488694" y="6206439"/>
            <a:ext cx="11112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7" name="object 7"/>
          <p:cNvSpPr txBox="1"/>
          <p:nvPr/>
        </p:nvSpPr>
        <p:spPr>
          <a:xfrm>
            <a:off x="574040" y="6508191"/>
            <a:ext cx="111125" cy="228268"/>
          </a:xfrm>
          <a:prstGeom prst="rect">
            <a:avLst/>
          </a:prstGeom>
        </p:spPr>
        <p:txBody>
          <a:bodyPr vert="horz" wrap="square" lIns="0" tIns="12700" rIns="0" bIns="0" rtlCol="0">
            <a:spAutoFit/>
          </a:bodyPr>
          <a:lstStyle/>
          <a:p>
            <a:pPr marL="12700">
              <a:lnSpc>
                <a:spcPct val="100000"/>
              </a:lnSpc>
              <a:spcBef>
                <a:spcPts val="100"/>
              </a:spcBef>
            </a:pPr>
            <a:endParaRPr sz="1400" dirty="0">
              <a:latin typeface="Times New Roman"/>
              <a:cs typeface="Times New Roman"/>
            </a:endParaRPr>
          </a:p>
        </p:txBody>
      </p:sp>
      <p:sp>
        <p:nvSpPr>
          <p:cNvPr id="8" name="object 8"/>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56</a:t>
            </a:r>
            <a:endParaRPr sz="1200">
              <a:latin typeface="Times New Roman"/>
              <a:cs typeface="Times New Roman"/>
            </a:endParaRPr>
          </a:p>
        </p:txBody>
      </p:sp>
      <p:sp>
        <p:nvSpPr>
          <p:cNvPr id="10" name="TextBox 9"/>
          <p:cNvSpPr txBox="1"/>
          <p:nvPr/>
        </p:nvSpPr>
        <p:spPr>
          <a:xfrm>
            <a:off x="615747" y="1395417"/>
            <a:ext cx="6775653" cy="5970994"/>
          </a:xfrm>
          <a:prstGeom prst="rect">
            <a:avLst/>
          </a:prstGeom>
          <a:noFill/>
        </p:spPr>
        <p:txBody>
          <a:bodyPr wrap="square" rtlCol="0">
            <a:spAutoFit/>
          </a:bodyPr>
          <a:lstStyle/>
          <a:p>
            <a:r>
              <a:rPr lang="en-IN" sz="1600" dirty="0"/>
              <a:t>class Array </a:t>
            </a:r>
            <a:r>
              <a:rPr lang="en-IN" sz="1600" dirty="0" smtClean="0"/>
              <a:t>{</a:t>
            </a:r>
          </a:p>
          <a:p>
            <a:r>
              <a:rPr lang="en-US" sz="1600" dirty="0">
                <a:latin typeface="Times New Roman"/>
                <a:cs typeface="Times New Roman"/>
              </a:rPr>
              <a:t>public</a:t>
            </a:r>
            <a:r>
              <a:rPr lang="en-US" sz="1600" spc="-45" dirty="0">
                <a:latin typeface="Times New Roman"/>
                <a:cs typeface="Times New Roman"/>
              </a:rPr>
              <a:t> </a:t>
            </a:r>
            <a:r>
              <a:rPr lang="en-US" sz="1600" dirty="0">
                <a:latin typeface="Times New Roman"/>
                <a:cs typeface="Times New Roman"/>
              </a:rPr>
              <a:t>static</a:t>
            </a:r>
            <a:r>
              <a:rPr lang="en-US" sz="1600" spc="-30" dirty="0">
                <a:latin typeface="Times New Roman"/>
                <a:cs typeface="Times New Roman"/>
              </a:rPr>
              <a:t> </a:t>
            </a:r>
            <a:r>
              <a:rPr lang="en-US" sz="1600" dirty="0">
                <a:latin typeface="Times New Roman"/>
                <a:cs typeface="Times New Roman"/>
              </a:rPr>
              <a:t>void</a:t>
            </a:r>
            <a:r>
              <a:rPr lang="en-US" sz="1600" spc="-35" dirty="0">
                <a:latin typeface="Times New Roman"/>
                <a:cs typeface="Times New Roman"/>
              </a:rPr>
              <a:t> </a:t>
            </a:r>
            <a:r>
              <a:rPr lang="en-US" sz="1600" spc="-5" dirty="0">
                <a:latin typeface="Times New Roman"/>
                <a:cs typeface="Times New Roman"/>
              </a:rPr>
              <a:t>main(String </a:t>
            </a:r>
            <a:r>
              <a:rPr lang="en-US" sz="1600" spc="-5" dirty="0" err="1">
                <a:latin typeface="Times New Roman"/>
                <a:cs typeface="Times New Roman"/>
              </a:rPr>
              <a:t>args</a:t>
            </a:r>
            <a:r>
              <a:rPr lang="en-US" sz="1600" spc="-10" dirty="0">
                <a:latin typeface="Times New Roman"/>
                <a:cs typeface="Times New Roman"/>
              </a:rPr>
              <a:t> </a:t>
            </a:r>
            <a:r>
              <a:rPr lang="en-US" sz="1600" dirty="0">
                <a:latin typeface="Times New Roman"/>
                <a:cs typeface="Times New Roman"/>
              </a:rPr>
              <a:t>[</a:t>
            </a:r>
            <a:r>
              <a:rPr lang="en-US" sz="1600" spc="-20" dirty="0">
                <a:latin typeface="Times New Roman"/>
                <a:cs typeface="Times New Roman"/>
              </a:rPr>
              <a:t> </a:t>
            </a:r>
            <a:r>
              <a:rPr lang="en-US" sz="1600" spc="-10" dirty="0" smtClean="0">
                <a:latin typeface="Times New Roman"/>
                <a:cs typeface="Times New Roman"/>
              </a:rPr>
              <a:t>]){</a:t>
            </a:r>
            <a:endParaRPr lang="en-IN" sz="1600" dirty="0" smtClean="0"/>
          </a:p>
          <a:p>
            <a:pPr marL="12700" marR="2566670">
              <a:lnSpc>
                <a:spcPct val="141400"/>
              </a:lnSpc>
            </a:pPr>
            <a:r>
              <a:rPr lang="en-US" sz="1600" dirty="0" smtClean="0">
                <a:latin typeface="Times New Roman"/>
                <a:cs typeface="Times New Roman"/>
              </a:rPr>
              <a:t>	int </a:t>
            </a:r>
            <a:r>
              <a:rPr lang="en-US" sz="1600" spc="-5" dirty="0" err="1">
                <a:latin typeface="Times New Roman"/>
                <a:cs typeface="Times New Roman"/>
              </a:rPr>
              <a:t>month_days</a:t>
            </a:r>
            <a:r>
              <a:rPr lang="en-US" sz="1600" spc="-5" dirty="0">
                <a:latin typeface="Times New Roman"/>
                <a:cs typeface="Times New Roman"/>
              </a:rPr>
              <a:t>[ </a:t>
            </a:r>
            <a:r>
              <a:rPr lang="en-US" sz="1600" spc="-10" dirty="0">
                <a:latin typeface="Times New Roman"/>
                <a:cs typeface="Times New Roman"/>
              </a:rPr>
              <a:t>]; </a:t>
            </a:r>
            <a:r>
              <a:rPr lang="en-US" sz="1600" spc="-5" dirty="0">
                <a:latin typeface="Times New Roman"/>
                <a:cs typeface="Times New Roman"/>
              </a:rPr>
              <a:t> </a:t>
            </a:r>
          </a:p>
          <a:p>
            <a:pPr marL="12700" marR="2566670">
              <a:lnSpc>
                <a:spcPct val="141400"/>
              </a:lnSpc>
            </a:pPr>
            <a:r>
              <a:rPr lang="en-US" sz="1600" spc="-5" dirty="0" smtClean="0">
                <a:latin typeface="Times New Roman"/>
                <a:cs typeface="Times New Roman"/>
              </a:rPr>
              <a:t>	</a:t>
            </a:r>
            <a:r>
              <a:rPr lang="en-US" sz="1600" spc="-5" dirty="0" err="1" smtClean="0">
                <a:latin typeface="Times New Roman"/>
                <a:cs typeface="Times New Roman"/>
              </a:rPr>
              <a:t>month_days</a:t>
            </a:r>
            <a:r>
              <a:rPr lang="en-US" sz="1600" spc="-5" dirty="0" smtClean="0">
                <a:latin typeface="Times New Roman"/>
                <a:cs typeface="Times New Roman"/>
              </a:rPr>
              <a:t> </a:t>
            </a:r>
            <a:r>
              <a:rPr lang="en-US" sz="1600" dirty="0">
                <a:latin typeface="Times New Roman"/>
                <a:cs typeface="Times New Roman"/>
              </a:rPr>
              <a:t>= new </a:t>
            </a:r>
            <a:r>
              <a:rPr lang="en-US" sz="1600" spc="-5" dirty="0" err="1">
                <a:latin typeface="Times New Roman"/>
                <a:cs typeface="Times New Roman"/>
              </a:rPr>
              <a:t>nt</a:t>
            </a:r>
            <a:r>
              <a:rPr lang="en-US" sz="1600" spc="-5" dirty="0">
                <a:latin typeface="Times New Roman"/>
                <a:cs typeface="Times New Roman"/>
              </a:rPr>
              <a:t>[12];</a:t>
            </a:r>
          </a:p>
          <a:p>
            <a:pPr marL="12700" marR="2566670">
              <a:lnSpc>
                <a:spcPct val="141400"/>
              </a:lnSpc>
              <a:spcBef>
                <a:spcPts val="100"/>
              </a:spcBef>
            </a:pPr>
            <a:r>
              <a:rPr lang="en-US" sz="1600" spc="-5" dirty="0" smtClean="0">
                <a:latin typeface="Times New Roman"/>
                <a:cs typeface="Times New Roman"/>
              </a:rPr>
              <a:t>	</a:t>
            </a:r>
            <a:r>
              <a:rPr lang="en-US" sz="1400" spc="-5" dirty="0" smtClean="0">
                <a:latin typeface="Times New Roman"/>
                <a:cs typeface="Times New Roman"/>
              </a:rPr>
              <a:t> </a:t>
            </a:r>
            <a:r>
              <a:rPr lang="en-US" sz="1400" spc="-335" dirty="0" smtClean="0">
                <a:latin typeface="Times New Roman"/>
                <a:cs typeface="Times New Roman"/>
              </a:rPr>
              <a:t> </a:t>
            </a:r>
            <a:r>
              <a:rPr lang="en-US" sz="1400" spc="-5" dirty="0" err="1">
                <a:latin typeface="Times New Roman"/>
                <a:cs typeface="Times New Roman"/>
              </a:rPr>
              <a:t>month_days</a:t>
            </a:r>
            <a:r>
              <a:rPr lang="en-US" sz="1400" spc="-5" dirty="0">
                <a:latin typeface="Times New Roman"/>
                <a:cs typeface="Times New Roman"/>
              </a:rPr>
              <a:t>[0]</a:t>
            </a:r>
            <a:r>
              <a:rPr lang="en-US" sz="1400" spc="-45" dirty="0">
                <a:latin typeface="Times New Roman"/>
                <a:cs typeface="Times New Roman"/>
              </a:rPr>
              <a:t> </a:t>
            </a:r>
            <a:r>
              <a:rPr lang="en-US" sz="1400" dirty="0">
                <a:latin typeface="Times New Roman"/>
                <a:cs typeface="Times New Roman"/>
              </a:rPr>
              <a:t>= 31;</a:t>
            </a:r>
          </a:p>
          <a:p>
            <a:pPr marL="12700">
              <a:lnSpc>
                <a:spcPct val="100000"/>
              </a:lnSpc>
              <a:spcBef>
                <a:spcPts val="705"/>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[1</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28;</a:t>
            </a:r>
          </a:p>
          <a:p>
            <a:pPr marL="12700">
              <a:lnSpc>
                <a:spcPct val="100000"/>
              </a:lnSpc>
              <a:spcBef>
                <a:spcPts val="695"/>
              </a:spcBef>
            </a:pPr>
            <a:r>
              <a:rPr lang="en-US" sz="1400" dirty="0" smtClean="0">
                <a:latin typeface="Times New Roman"/>
                <a:cs typeface="Times New Roman"/>
              </a:rPr>
              <a:t>	</a:t>
            </a:r>
            <a:r>
              <a:rPr lang="en-US" sz="1400" dirty="0" err="1" smtClean="0">
                <a:latin typeface="Times New Roman"/>
                <a:cs typeface="Times New Roman"/>
              </a:rPr>
              <a:t>month_days</a:t>
            </a:r>
            <a:r>
              <a:rPr lang="en-US" sz="1400" dirty="0" smtClean="0">
                <a:latin typeface="Times New Roman"/>
                <a:cs typeface="Times New Roman"/>
              </a:rPr>
              <a:t>[2</a:t>
            </a:r>
            <a:r>
              <a:rPr lang="en-US" sz="1400" dirty="0">
                <a:latin typeface="Times New Roman"/>
                <a:cs typeface="Times New Roman"/>
              </a:rPr>
              <a:t>]</a:t>
            </a:r>
            <a:r>
              <a:rPr lang="en-US" sz="1400" spc="-80" dirty="0">
                <a:latin typeface="Times New Roman"/>
                <a:cs typeface="Times New Roman"/>
              </a:rPr>
              <a:t> </a:t>
            </a:r>
            <a:r>
              <a:rPr lang="en-US" sz="1400" dirty="0">
                <a:latin typeface="Times New Roman"/>
                <a:cs typeface="Times New Roman"/>
              </a:rPr>
              <a:t>=</a:t>
            </a:r>
            <a:r>
              <a:rPr lang="en-US" sz="1400" spc="-50" dirty="0">
                <a:latin typeface="Times New Roman"/>
                <a:cs typeface="Times New Roman"/>
              </a:rPr>
              <a:t> </a:t>
            </a:r>
            <a:r>
              <a:rPr lang="en-US" sz="1400" dirty="0">
                <a:latin typeface="Times New Roman"/>
                <a:cs typeface="Times New Roman"/>
              </a:rPr>
              <a:t>31;</a:t>
            </a:r>
          </a:p>
          <a:p>
            <a:pPr marL="12700">
              <a:lnSpc>
                <a:spcPct val="100000"/>
              </a:lnSpc>
              <a:spcBef>
                <a:spcPts val="700"/>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[3</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30;</a:t>
            </a:r>
          </a:p>
          <a:p>
            <a:pPr marL="12700">
              <a:lnSpc>
                <a:spcPct val="100000"/>
              </a:lnSpc>
              <a:spcBef>
                <a:spcPts val="710"/>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[4</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31;</a:t>
            </a:r>
          </a:p>
          <a:p>
            <a:pPr marL="12700">
              <a:lnSpc>
                <a:spcPct val="100000"/>
              </a:lnSpc>
              <a:spcBef>
                <a:spcPts val="695"/>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[5</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30;</a:t>
            </a:r>
          </a:p>
          <a:p>
            <a:pPr marL="12700">
              <a:lnSpc>
                <a:spcPct val="100000"/>
              </a:lnSpc>
              <a:spcBef>
                <a:spcPts val="695"/>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[6</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31;</a:t>
            </a:r>
          </a:p>
          <a:p>
            <a:pPr marL="12700">
              <a:lnSpc>
                <a:spcPct val="100000"/>
              </a:lnSpc>
              <a:spcBef>
                <a:spcPts val="710"/>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[7</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31;</a:t>
            </a:r>
          </a:p>
          <a:p>
            <a:pPr marL="12700">
              <a:lnSpc>
                <a:spcPct val="100000"/>
              </a:lnSpc>
              <a:spcBef>
                <a:spcPts val="695"/>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[8</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30;</a:t>
            </a:r>
          </a:p>
          <a:p>
            <a:pPr marL="12700">
              <a:lnSpc>
                <a:spcPct val="100000"/>
              </a:lnSpc>
              <a:spcBef>
                <a:spcPts val="700"/>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[9</a:t>
            </a:r>
            <a:r>
              <a:rPr lang="en-US" sz="1400" spc="-5" dirty="0">
                <a:latin typeface="Times New Roman"/>
                <a:cs typeface="Times New Roman"/>
              </a:rPr>
              <a:t>]</a:t>
            </a:r>
            <a:r>
              <a:rPr lang="en-US" sz="1400" spc="-55" dirty="0">
                <a:latin typeface="Times New Roman"/>
                <a:cs typeface="Times New Roman"/>
              </a:rPr>
              <a:t> </a:t>
            </a:r>
            <a:r>
              <a:rPr lang="en-US" sz="1400" dirty="0">
                <a:latin typeface="Times New Roman"/>
                <a:cs typeface="Times New Roman"/>
              </a:rPr>
              <a:t>=</a:t>
            </a:r>
            <a:r>
              <a:rPr lang="en-US" sz="1400" spc="-10" dirty="0">
                <a:latin typeface="Times New Roman"/>
                <a:cs typeface="Times New Roman"/>
              </a:rPr>
              <a:t> </a:t>
            </a:r>
            <a:r>
              <a:rPr lang="en-US" sz="1400" dirty="0">
                <a:latin typeface="Times New Roman"/>
                <a:cs typeface="Times New Roman"/>
              </a:rPr>
              <a:t>31;</a:t>
            </a:r>
          </a:p>
          <a:p>
            <a:pPr marL="12700">
              <a:lnSpc>
                <a:spcPct val="100000"/>
              </a:lnSpc>
              <a:spcBef>
                <a:spcPts val="705"/>
              </a:spcBef>
            </a:pPr>
            <a:r>
              <a:rPr lang="en-US" sz="1400" dirty="0" smtClean="0">
                <a:latin typeface="Times New Roman"/>
                <a:cs typeface="Times New Roman"/>
              </a:rPr>
              <a:t>	</a:t>
            </a:r>
            <a:r>
              <a:rPr lang="en-US" sz="1400" dirty="0" err="1" smtClean="0">
                <a:latin typeface="Times New Roman"/>
                <a:cs typeface="Times New Roman"/>
              </a:rPr>
              <a:t>month_days</a:t>
            </a:r>
            <a:r>
              <a:rPr lang="en-US" sz="1400" dirty="0" smtClean="0">
                <a:latin typeface="Times New Roman"/>
                <a:cs typeface="Times New Roman"/>
              </a:rPr>
              <a:t>[10</a:t>
            </a:r>
            <a:r>
              <a:rPr lang="en-US" sz="1400" dirty="0">
                <a:latin typeface="Times New Roman"/>
                <a:cs typeface="Times New Roman"/>
              </a:rPr>
              <a:t>]</a:t>
            </a:r>
            <a:r>
              <a:rPr lang="en-US" sz="1400" spc="-85" dirty="0">
                <a:latin typeface="Times New Roman"/>
                <a:cs typeface="Times New Roman"/>
              </a:rPr>
              <a:t> </a:t>
            </a:r>
            <a:r>
              <a:rPr lang="en-US" sz="1400" dirty="0">
                <a:latin typeface="Times New Roman"/>
                <a:cs typeface="Times New Roman"/>
              </a:rPr>
              <a:t>=</a:t>
            </a:r>
            <a:r>
              <a:rPr lang="en-US" sz="1400" spc="-45" dirty="0">
                <a:latin typeface="Times New Roman"/>
                <a:cs typeface="Times New Roman"/>
              </a:rPr>
              <a:t> </a:t>
            </a:r>
            <a:r>
              <a:rPr lang="en-US" sz="1400" dirty="0">
                <a:latin typeface="Times New Roman"/>
                <a:cs typeface="Times New Roman"/>
              </a:rPr>
              <a:t>30;</a:t>
            </a:r>
          </a:p>
          <a:p>
            <a:pPr marL="12700">
              <a:lnSpc>
                <a:spcPct val="100000"/>
              </a:lnSpc>
              <a:spcBef>
                <a:spcPts val="695"/>
              </a:spcBef>
            </a:pPr>
            <a:r>
              <a:rPr lang="en-US" sz="1400" spc="-5" dirty="0" smtClean="0">
                <a:latin typeface="Times New Roman"/>
                <a:cs typeface="Times New Roman"/>
              </a:rPr>
              <a:t>	</a:t>
            </a:r>
            <a:r>
              <a:rPr lang="en-US" sz="1400" spc="-5" dirty="0" err="1" smtClean="0">
                <a:latin typeface="Times New Roman"/>
                <a:cs typeface="Times New Roman"/>
              </a:rPr>
              <a:t>month_days</a:t>
            </a:r>
            <a:r>
              <a:rPr lang="en-US" sz="1400" spc="-5" dirty="0" smtClean="0">
                <a:latin typeface="Times New Roman"/>
                <a:cs typeface="Times New Roman"/>
              </a:rPr>
              <a:t>[11</a:t>
            </a:r>
            <a:r>
              <a:rPr lang="en-US" sz="1400" spc="-5" dirty="0">
                <a:latin typeface="Times New Roman"/>
                <a:cs typeface="Times New Roman"/>
              </a:rPr>
              <a:t>]</a:t>
            </a:r>
            <a:r>
              <a:rPr lang="en-US" sz="1400" spc="-85" dirty="0">
                <a:latin typeface="Times New Roman"/>
                <a:cs typeface="Times New Roman"/>
              </a:rPr>
              <a:t> </a:t>
            </a:r>
            <a:r>
              <a:rPr lang="en-US" sz="1400" dirty="0">
                <a:latin typeface="Times New Roman"/>
                <a:cs typeface="Times New Roman"/>
              </a:rPr>
              <a:t>=</a:t>
            </a:r>
            <a:r>
              <a:rPr lang="en-US" sz="1400" spc="-35" dirty="0">
                <a:latin typeface="Times New Roman"/>
                <a:cs typeface="Times New Roman"/>
              </a:rPr>
              <a:t> </a:t>
            </a:r>
            <a:r>
              <a:rPr lang="en-US" sz="1400" dirty="0" smtClean="0">
                <a:latin typeface="Times New Roman"/>
                <a:cs typeface="Times New Roman"/>
              </a:rPr>
              <a:t>31;</a:t>
            </a:r>
          </a:p>
          <a:p>
            <a:pPr marL="12700">
              <a:lnSpc>
                <a:spcPct val="100000"/>
              </a:lnSpc>
              <a:spcBef>
                <a:spcPts val="695"/>
              </a:spcBef>
            </a:pPr>
            <a:r>
              <a:rPr lang="en-US" sz="1600" spc="-5" dirty="0" err="1" smtClean="0">
                <a:latin typeface="Times New Roman"/>
                <a:cs typeface="Times New Roman"/>
              </a:rPr>
              <a:t>System.out.println</a:t>
            </a:r>
            <a:r>
              <a:rPr lang="en-US" sz="1600" spc="-5" dirty="0">
                <a:latin typeface="Times New Roman"/>
                <a:cs typeface="Times New Roman"/>
              </a:rPr>
              <a:t>("April</a:t>
            </a:r>
            <a:r>
              <a:rPr lang="en-US" sz="1600" spc="-25" dirty="0">
                <a:latin typeface="Times New Roman"/>
                <a:cs typeface="Times New Roman"/>
              </a:rPr>
              <a:t> </a:t>
            </a:r>
            <a:r>
              <a:rPr lang="en-US" sz="1600" dirty="0">
                <a:latin typeface="Times New Roman"/>
                <a:cs typeface="Times New Roman"/>
              </a:rPr>
              <a:t>has</a:t>
            </a:r>
            <a:r>
              <a:rPr lang="en-US" sz="1600" spc="5" dirty="0">
                <a:latin typeface="Times New Roman"/>
                <a:cs typeface="Times New Roman"/>
              </a:rPr>
              <a:t> </a:t>
            </a:r>
            <a:r>
              <a:rPr lang="en-US" sz="1600" dirty="0">
                <a:latin typeface="Times New Roman"/>
                <a:cs typeface="Times New Roman"/>
              </a:rPr>
              <a:t>"</a:t>
            </a:r>
            <a:r>
              <a:rPr lang="en-US" sz="1600" spc="15" dirty="0">
                <a:latin typeface="Times New Roman"/>
                <a:cs typeface="Times New Roman"/>
              </a:rPr>
              <a:t> </a:t>
            </a:r>
            <a:r>
              <a:rPr lang="en-US" sz="1600" dirty="0">
                <a:latin typeface="Times New Roman"/>
                <a:cs typeface="Times New Roman"/>
              </a:rPr>
              <a:t>+</a:t>
            </a:r>
            <a:r>
              <a:rPr lang="en-US" sz="1600" spc="10" dirty="0">
                <a:latin typeface="Times New Roman"/>
                <a:cs typeface="Times New Roman"/>
              </a:rPr>
              <a:t> </a:t>
            </a:r>
            <a:r>
              <a:rPr lang="en-US" sz="1600" spc="-5" dirty="0" err="1">
                <a:latin typeface="Times New Roman"/>
                <a:cs typeface="Times New Roman"/>
              </a:rPr>
              <a:t>month_days</a:t>
            </a:r>
            <a:r>
              <a:rPr lang="en-US" sz="1600" spc="-5" dirty="0">
                <a:latin typeface="Times New Roman"/>
                <a:cs typeface="Times New Roman"/>
              </a:rPr>
              <a:t>[3]</a:t>
            </a:r>
            <a:r>
              <a:rPr lang="en-US" sz="1600" spc="-15" dirty="0">
                <a:latin typeface="Times New Roman"/>
                <a:cs typeface="Times New Roman"/>
              </a:rPr>
              <a:t> </a:t>
            </a:r>
            <a:r>
              <a:rPr lang="en-US" sz="1600" dirty="0">
                <a:latin typeface="Times New Roman"/>
                <a:cs typeface="Times New Roman"/>
              </a:rPr>
              <a:t>+ "</a:t>
            </a:r>
            <a:r>
              <a:rPr lang="en-US" sz="1600" spc="20" dirty="0">
                <a:latin typeface="Times New Roman"/>
                <a:cs typeface="Times New Roman"/>
              </a:rPr>
              <a:t> </a:t>
            </a:r>
            <a:r>
              <a:rPr lang="en-US" sz="1600" spc="-5" dirty="0">
                <a:latin typeface="Times New Roman"/>
                <a:cs typeface="Times New Roman"/>
              </a:rPr>
              <a:t>days</a:t>
            </a:r>
            <a:r>
              <a:rPr lang="en-US" sz="1600" spc="-5" dirty="0" smtClean="0">
                <a:latin typeface="Times New Roman"/>
                <a:cs typeface="Times New Roman"/>
              </a:rPr>
              <a:t>.");</a:t>
            </a:r>
          </a:p>
          <a:p>
            <a:pPr marL="12700">
              <a:lnSpc>
                <a:spcPct val="100000"/>
              </a:lnSpc>
              <a:spcBef>
                <a:spcPts val="700"/>
              </a:spcBef>
            </a:pPr>
            <a:r>
              <a:rPr lang="en-US" sz="1600" spc="-5" dirty="0">
                <a:latin typeface="Times New Roman"/>
                <a:cs typeface="Times New Roman"/>
              </a:rPr>
              <a:t>}</a:t>
            </a:r>
            <a:endParaRPr lang="en-US" sz="1600" dirty="0">
              <a:latin typeface="Times New Roman"/>
              <a:cs typeface="Times New Roman"/>
            </a:endParaRPr>
          </a:p>
          <a:p>
            <a:endParaRPr lang="en-IN"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4297045" cy="696595"/>
          </a:xfrm>
          <a:prstGeom prst="rect">
            <a:avLst/>
          </a:prstGeom>
        </p:spPr>
        <p:txBody>
          <a:bodyPr vert="horz" wrap="square" lIns="0" tIns="13335" rIns="0" bIns="0" rtlCol="0">
            <a:spAutoFit/>
          </a:bodyPr>
          <a:lstStyle/>
          <a:p>
            <a:pPr marL="12700">
              <a:lnSpc>
                <a:spcPct val="100000"/>
              </a:lnSpc>
              <a:spcBef>
                <a:spcPts val="105"/>
              </a:spcBef>
            </a:pPr>
            <a:r>
              <a:rPr sz="4400" dirty="0"/>
              <a:t>Array</a:t>
            </a:r>
            <a:r>
              <a:rPr sz="4400" spc="-80" dirty="0"/>
              <a:t> </a:t>
            </a:r>
            <a:r>
              <a:rPr sz="4400" dirty="0"/>
              <a:t>initialization</a:t>
            </a:r>
            <a:endParaRPr sz="4400"/>
          </a:p>
        </p:txBody>
      </p:sp>
      <p:sp>
        <p:nvSpPr>
          <p:cNvPr id="3" name="object 3"/>
          <p:cNvSpPr txBox="1"/>
          <p:nvPr/>
        </p:nvSpPr>
        <p:spPr>
          <a:xfrm>
            <a:off x="231140" y="1547825"/>
            <a:ext cx="8608060" cy="3450304"/>
          </a:xfrm>
          <a:prstGeom prst="rect">
            <a:avLst/>
          </a:prstGeom>
        </p:spPr>
        <p:txBody>
          <a:bodyPr vert="horz" wrap="square" lIns="0" tIns="13335" rIns="0" bIns="0" rtlCol="0">
            <a:spAutoFit/>
          </a:bodyPr>
          <a:lstStyle/>
          <a:p>
            <a:pPr marL="332740" marR="6350" indent="-320040" algn="just">
              <a:lnSpc>
                <a:spcPct val="100000"/>
              </a:lnSpc>
              <a:spcBef>
                <a:spcPts val="695"/>
              </a:spcBef>
              <a:buClr>
                <a:srgbClr val="DD8046"/>
              </a:buClr>
              <a:buSzPct val="60000"/>
              <a:buFont typeface="Wingdings"/>
              <a:buChar char=""/>
              <a:tabLst>
                <a:tab pos="396875" algn="l"/>
              </a:tabLst>
            </a:pPr>
            <a:r>
              <a:rPr dirty="0"/>
              <a:t>	</a:t>
            </a:r>
            <a:r>
              <a:rPr sz="2000" dirty="0">
                <a:latin typeface="Times New Roman"/>
                <a:cs typeface="Times New Roman"/>
              </a:rPr>
              <a:t>For </a:t>
            </a:r>
            <a:r>
              <a:rPr sz="2000" spc="-5" dirty="0">
                <a:latin typeface="Times New Roman"/>
                <a:cs typeface="Times New Roman"/>
              </a:rPr>
              <a:t>example, to store the number of </a:t>
            </a:r>
            <a:r>
              <a:rPr sz="2000" dirty="0">
                <a:latin typeface="Times New Roman"/>
                <a:cs typeface="Times New Roman"/>
              </a:rPr>
              <a:t>days </a:t>
            </a:r>
            <a:r>
              <a:rPr sz="2000" spc="-10" dirty="0">
                <a:latin typeface="Times New Roman"/>
                <a:cs typeface="Times New Roman"/>
              </a:rPr>
              <a:t>in </a:t>
            </a:r>
            <a:r>
              <a:rPr sz="2000" spc="-5" dirty="0">
                <a:latin typeface="Times New Roman"/>
                <a:cs typeface="Times New Roman"/>
              </a:rPr>
              <a:t>each month, </a:t>
            </a:r>
            <a:r>
              <a:rPr sz="2000" dirty="0">
                <a:latin typeface="Times New Roman"/>
                <a:cs typeface="Times New Roman"/>
              </a:rPr>
              <a:t>the </a:t>
            </a:r>
            <a:r>
              <a:rPr sz="2000" spc="-5" dirty="0">
                <a:latin typeface="Times New Roman"/>
                <a:cs typeface="Times New Roman"/>
              </a:rPr>
              <a:t>following </a:t>
            </a:r>
            <a:r>
              <a:rPr sz="2000" dirty="0">
                <a:latin typeface="Times New Roman"/>
                <a:cs typeface="Times New Roman"/>
              </a:rPr>
              <a:t>code </a:t>
            </a:r>
            <a:r>
              <a:rPr sz="2000" spc="5" dirty="0">
                <a:latin typeface="Times New Roman"/>
                <a:cs typeface="Times New Roman"/>
              </a:rPr>
              <a:t> </a:t>
            </a:r>
            <a:r>
              <a:rPr sz="2000" spc="-5" dirty="0">
                <a:latin typeface="Times New Roman"/>
                <a:cs typeface="Times New Roman"/>
              </a:rPr>
              <a:t>creates </a:t>
            </a:r>
            <a:r>
              <a:rPr sz="2000" dirty="0">
                <a:latin typeface="Times New Roman"/>
                <a:cs typeface="Times New Roman"/>
              </a:rPr>
              <a:t>an </a:t>
            </a:r>
            <a:r>
              <a:rPr sz="2000" spc="-5" dirty="0">
                <a:latin typeface="Times New Roman"/>
                <a:cs typeface="Times New Roman"/>
              </a:rPr>
              <a:t>initialized</a:t>
            </a:r>
            <a:r>
              <a:rPr sz="2000" dirty="0">
                <a:latin typeface="Times New Roman"/>
                <a:cs typeface="Times New Roman"/>
              </a:rPr>
              <a:t> </a:t>
            </a:r>
            <a:r>
              <a:rPr sz="2000" spc="-5" dirty="0">
                <a:latin typeface="Times New Roman"/>
                <a:cs typeface="Times New Roman"/>
              </a:rPr>
              <a:t>array </a:t>
            </a:r>
            <a:r>
              <a:rPr sz="2000" dirty="0">
                <a:latin typeface="Times New Roman"/>
                <a:cs typeface="Times New Roman"/>
              </a:rPr>
              <a:t>of </a:t>
            </a:r>
            <a:r>
              <a:rPr sz="2000" spc="-5" dirty="0">
                <a:latin typeface="Times New Roman"/>
                <a:cs typeface="Times New Roman"/>
              </a:rPr>
              <a:t>integers: </a:t>
            </a:r>
            <a:r>
              <a:rPr sz="2000" spc="-5" dirty="0" smtClean="0">
                <a:latin typeface="Times New Roman"/>
                <a:cs typeface="Times New Roman"/>
              </a:rPr>
              <a:t>An</a:t>
            </a:r>
            <a:r>
              <a:rPr lang="en-US" sz="2000" spc="-5" dirty="0" smtClean="0">
                <a:latin typeface="Times New Roman"/>
                <a:cs typeface="Times New Roman"/>
              </a:rPr>
              <a:t> </a:t>
            </a:r>
            <a:r>
              <a:rPr sz="2000" spc="-5" dirty="0" smtClean="0">
                <a:latin typeface="Times New Roman"/>
                <a:cs typeface="Times New Roman"/>
              </a:rPr>
              <a:t>improved </a:t>
            </a:r>
            <a:r>
              <a:rPr sz="2000" spc="-5" dirty="0">
                <a:latin typeface="Times New Roman"/>
                <a:cs typeface="Times New Roman"/>
              </a:rPr>
              <a:t>version </a:t>
            </a:r>
            <a:r>
              <a:rPr sz="2000" dirty="0">
                <a:latin typeface="Times New Roman"/>
                <a:cs typeface="Times New Roman"/>
              </a:rPr>
              <a:t>of the </a:t>
            </a:r>
            <a:r>
              <a:rPr sz="2000" spc="-5" dirty="0">
                <a:latin typeface="Times New Roman"/>
                <a:cs typeface="Times New Roman"/>
              </a:rPr>
              <a:t>previous </a:t>
            </a:r>
            <a:r>
              <a:rPr sz="2000" dirty="0">
                <a:latin typeface="Times New Roman"/>
                <a:cs typeface="Times New Roman"/>
              </a:rPr>
              <a:t> </a:t>
            </a:r>
            <a:r>
              <a:rPr sz="2000" spc="-5" dirty="0">
                <a:latin typeface="Times New Roman"/>
                <a:cs typeface="Times New Roman"/>
              </a:rPr>
              <a:t>program.</a:t>
            </a:r>
            <a:endParaRPr sz="2000" dirty="0">
              <a:latin typeface="Times New Roman"/>
              <a:cs typeface="Times New Roman"/>
            </a:endParaRPr>
          </a:p>
          <a:p>
            <a:pPr marL="139065">
              <a:lnSpc>
                <a:spcPct val="100000"/>
              </a:lnSpc>
              <a:spcBef>
                <a:spcPts val="1500"/>
              </a:spcBef>
            </a:pPr>
            <a:r>
              <a:rPr sz="2000" spc="-5" dirty="0">
                <a:latin typeface="Times New Roman"/>
                <a:cs typeface="Times New Roman"/>
              </a:rPr>
              <a:t>class</a:t>
            </a:r>
            <a:r>
              <a:rPr sz="2000" spc="-50" dirty="0">
                <a:latin typeface="Times New Roman"/>
                <a:cs typeface="Times New Roman"/>
              </a:rPr>
              <a:t> </a:t>
            </a:r>
            <a:r>
              <a:rPr sz="2000" spc="-5" dirty="0">
                <a:latin typeface="Times New Roman"/>
                <a:cs typeface="Times New Roman"/>
              </a:rPr>
              <a:t>AutoA</a:t>
            </a:r>
            <a:r>
              <a:rPr sz="2000" spc="-10" dirty="0">
                <a:latin typeface="Times New Roman"/>
                <a:cs typeface="Times New Roman"/>
              </a:rPr>
              <a:t>r</a:t>
            </a:r>
            <a:r>
              <a:rPr sz="2000" dirty="0">
                <a:latin typeface="Times New Roman"/>
                <a:cs typeface="Times New Roman"/>
              </a:rPr>
              <a:t>r</a:t>
            </a:r>
            <a:r>
              <a:rPr sz="2000" spc="-10" dirty="0">
                <a:latin typeface="Times New Roman"/>
                <a:cs typeface="Times New Roman"/>
              </a:rPr>
              <a:t>a</a:t>
            </a:r>
            <a:r>
              <a:rPr sz="2000" dirty="0">
                <a:latin typeface="Times New Roman"/>
                <a:cs typeface="Times New Roman"/>
              </a:rPr>
              <a:t>y</a:t>
            </a:r>
            <a:r>
              <a:rPr sz="2000" spc="10" dirty="0">
                <a:latin typeface="Times New Roman"/>
                <a:cs typeface="Times New Roman"/>
              </a:rPr>
              <a:t> </a:t>
            </a:r>
            <a:r>
              <a:rPr sz="2000" dirty="0">
                <a:latin typeface="Times New Roman"/>
                <a:cs typeface="Times New Roman"/>
              </a:rPr>
              <a:t>{</a:t>
            </a:r>
          </a:p>
          <a:p>
            <a:pPr marL="927100">
              <a:lnSpc>
                <a:spcPct val="100000"/>
              </a:lnSpc>
              <a:spcBef>
                <a:spcPts val="885"/>
              </a:spcBef>
            </a:pPr>
            <a:r>
              <a:rPr sz="2000" dirty="0">
                <a:latin typeface="Times New Roman"/>
                <a:cs typeface="Times New Roman"/>
              </a:rPr>
              <a:t>public static</a:t>
            </a:r>
            <a:r>
              <a:rPr sz="2000" spc="15" dirty="0">
                <a:latin typeface="Times New Roman"/>
                <a:cs typeface="Times New Roman"/>
              </a:rPr>
              <a:t> </a:t>
            </a:r>
            <a:r>
              <a:rPr sz="2000" dirty="0">
                <a:latin typeface="Times New Roman"/>
                <a:cs typeface="Times New Roman"/>
              </a:rPr>
              <a:t>void </a:t>
            </a:r>
            <a:r>
              <a:rPr sz="2000" spc="-5" dirty="0">
                <a:latin typeface="Times New Roman"/>
                <a:cs typeface="Times New Roman"/>
              </a:rPr>
              <a:t>main(String</a:t>
            </a:r>
            <a:r>
              <a:rPr sz="2000" spc="10" dirty="0">
                <a:latin typeface="Times New Roman"/>
                <a:cs typeface="Times New Roman"/>
              </a:rPr>
              <a:t> </a:t>
            </a:r>
            <a:r>
              <a:rPr sz="2000" spc="-10" dirty="0">
                <a:latin typeface="Times New Roman"/>
                <a:cs typeface="Times New Roman"/>
              </a:rPr>
              <a:t>args[])</a:t>
            </a:r>
            <a:r>
              <a:rPr sz="2000" dirty="0">
                <a:latin typeface="Times New Roman"/>
                <a:cs typeface="Times New Roman"/>
              </a:rPr>
              <a:t> {</a:t>
            </a:r>
          </a:p>
          <a:p>
            <a:pPr marL="1003300">
              <a:lnSpc>
                <a:spcPct val="100000"/>
              </a:lnSpc>
              <a:spcBef>
                <a:spcPts val="710"/>
              </a:spcBef>
            </a:pPr>
            <a:r>
              <a:rPr sz="2000" dirty="0">
                <a:latin typeface="Times New Roman"/>
                <a:cs typeface="Times New Roman"/>
              </a:rPr>
              <a:t>int</a:t>
            </a:r>
            <a:r>
              <a:rPr sz="2000" spc="-5" dirty="0">
                <a:latin typeface="Times New Roman"/>
                <a:cs typeface="Times New Roman"/>
              </a:rPr>
              <a:t> month_days[]</a:t>
            </a:r>
            <a:r>
              <a:rPr sz="2000" spc="25" dirty="0">
                <a:latin typeface="Times New Roman"/>
                <a:cs typeface="Times New Roman"/>
              </a:rPr>
              <a:t> </a:t>
            </a:r>
            <a:r>
              <a:rPr sz="2000" dirty="0">
                <a:latin typeface="Times New Roman"/>
                <a:cs typeface="Times New Roman"/>
              </a:rPr>
              <a:t>= { 31,</a:t>
            </a:r>
            <a:r>
              <a:rPr sz="2000" spc="-5" dirty="0">
                <a:latin typeface="Times New Roman"/>
                <a:cs typeface="Times New Roman"/>
              </a:rPr>
              <a:t> </a:t>
            </a:r>
            <a:r>
              <a:rPr sz="2000" dirty="0">
                <a:latin typeface="Times New Roman"/>
                <a:cs typeface="Times New Roman"/>
              </a:rPr>
              <a:t>28,</a:t>
            </a:r>
            <a:r>
              <a:rPr sz="2000" spc="-5" dirty="0">
                <a:latin typeface="Times New Roman"/>
                <a:cs typeface="Times New Roman"/>
              </a:rPr>
              <a:t> </a:t>
            </a:r>
            <a:r>
              <a:rPr sz="2000" dirty="0">
                <a:latin typeface="Times New Roman"/>
                <a:cs typeface="Times New Roman"/>
              </a:rPr>
              <a:t>31, 30,</a:t>
            </a:r>
            <a:r>
              <a:rPr sz="2000" spc="-5" dirty="0">
                <a:latin typeface="Times New Roman"/>
                <a:cs typeface="Times New Roman"/>
              </a:rPr>
              <a:t> </a:t>
            </a:r>
            <a:r>
              <a:rPr sz="2000" dirty="0">
                <a:latin typeface="Times New Roman"/>
                <a:cs typeface="Times New Roman"/>
              </a:rPr>
              <a:t>31,</a:t>
            </a:r>
            <a:r>
              <a:rPr sz="2000" spc="-5" dirty="0">
                <a:latin typeface="Times New Roman"/>
                <a:cs typeface="Times New Roman"/>
              </a:rPr>
              <a:t> </a:t>
            </a:r>
            <a:r>
              <a:rPr sz="2000" dirty="0">
                <a:latin typeface="Times New Roman"/>
                <a:cs typeface="Times New Roman"/>
              </a:rPr>
              <a:t>30, 31,</a:t>
            </a:r>
            <a:r>
              <a:rPr sz="2000" spc="-5" dirty="0">
                <a:latin typeface="Times New Roman"/>
                <a:cs typeface="Times New Roman"/>
              </a:rPr>
              <a:t> </a:t>
            </a:r>
            <a:r>
              <a:rPr sz="2000" dirty="0">
                <a:latin typeface="Times New Roman"/>
                <a:cs typeface="Times New Roman"/>
              </a:rPr>
              <a:t>31,</a:t>
            </a:r>
            <a:r>
              <a:rPr sz="2000" spc="-5" dirty="0">
                <a:latin typeface="Times New Roman"/>
                <a:cs typeface="Times New Roman"/>
              </a:rPr>
              <a:t> </a:t>
            </a:r>
            <a:r>
              <a:rPr sz="2000" dirty="0">
                <a:latin typeface="Times New Roman"/>
                <a:cs typeface="Times New Roman"/>
              </a:rPr>
              <a:t>30, </a:t>
            </a:r>
            <a:r>
              <a:rPr sz="2000" spc="-5" dirty="0">
                <a:latin typeface="Times New Roman"/>
                <a:cs typeface="Times New Roman"/>
              </a:rPr>
              <a:t>31,30, </a:t>
            </a:r>
            <a:r>
              <a:rPr sz="2000" dirty="0">
                <a:latin typeface="Times New Roman"/>
                <a:cs typeface="Times New Roman"/>
              </a:rPr>
              <a:t>31</a:t>
            </a:r>
            <a:r>
              <a:rPr sz="2000" spc="-5" dirty="0">
                <a:latin typeface="Times New Roman"/>
                <a:cs typeface="Times New Roman"/>
              </a:rPr>
              <a:t> </a:t>
            </a:r>
            <a:r>
              <a:rPr sz="2000" dirty="0">
                <a:latin typeface="Times New Roman"/>
                <a:cs typeface="Times New Roman"/>
              </a:rPr>
              <a:t>};</a:t>
            </a:r>
          </a:p>
          <a:p>
            <a:pPr marL="1231900">
              <a:lnSpc>
                <a:spcPct val="100000"/>
              </a:lnSpc>
              <a:spcBef>
                <a:spcPts val="700"/>
              </a:spcBef>
            </a:pPr>
            <a:r>
              <a:rPr sz="2000" spc="-5" dirty="0">
                <a:latin typeface="Times New Roman"/>
                <a:cs typeface="Times New Roman"/>
              </a:rPr>
              <a:t>System.out.println("April</a:t>
            </a:r>
            <a:r>
              <a:rPr sz="2000" spc="65" dirty="0">
                <a:latin typeface="Times New Roman"/>
                <a:cs typeface="Times New Roman"/>
              </a:rPr>
              <a:t> </a:t>
            </a:r>
            <a:r>
              <a:rPr sz="2000" spc="-5" dirty="0">
                <a:latin typeface="Times New Roman"/>
                <a:cs typeface="Times New Roman"/>
              </a:rPr>
              <a:t>has</a:t>
            </a:r>
            <a:r>
              <a:rPr sz="2000" spc="5" dirty="0">
                <a:latin typeface="Times New Roman"/>
                <a:cs typeface="Times New Roman"/>
              </a:rPr>
              <a:t> </a:t>
            </a:r>
            <a:r>
              <a:rPr sz="2000" spc="-5" dirty="0">
                <a:latin typeface="Times New Roman"/>
                <a:cs typeface="Times New Roman"/>
              </a:rPr>
              <a:t>"</a:t>
            </a:r>
            <a:r>
              <a:rPr sz="2000" dirty="0">
                <a:latin typeface="Times New Roman"/>
                <a:cs typeface="Times New Roman"/>
              </a:rPr>
              <a:t> + </a:t>
            </a:r>
            <a:r>
              <a:rPr sz="2000" spc="-5" dirty="0">
                <a:latin typeface="Times New Roman"/>
                <a:cs typeface="Times New Roman"/>
              </a:rPr>
              <a:t>month_days[3]</a:t>
            </a:r>
            <a:r>
              <a:rPr sz="2000" spc="40" dirty="0">
                <a:latin typeface="Times New Roman"/>
                <a:cs typeface="Times New Roman"/>
              </a:rPr>
              <a:t> </a:t>
            </a:r>
            <a:r>
              <a:rPr sz="2000" dirty="0">
                <a:latin typeface="Times New Roman"/>
                <a:cs typeface="Times New Roman"/>
              </a:rPr>
              <a:t>+ </a:t>
            </a:r>
            <a:r>
              <a:rPr sz="2000" spc="-5" dirty="0">
                <a:latin typeface="Times New Roman"/>
                <a:cs typeface="Times New Roman"/>
              </a:rPr>
              <a:t>"</a:t>
            </a:r>
            <a:r>
              <a:rPr sz="2000" spc="-10" dirty="0">
                <a:latin typeface="Times New Roman"/>
                <a:cs typeface="Times New Roman"/>
              </a:rPr>
              <a:t> days.");</a:t>
            </a:r>
            <a:endParaRPr sz="2000" dirty="0">
              <a:latin typeface="Times New Roman"/>
              <a:cs typeface="Times New Roman"/>
            </a:endParaRPr>
          </a:p>
          <a:p>
            <a:pPr marL="508000">
              <a:lnSpc>
                <a:spcPct val="100000"/>
              </a:lnSpc>
              <a:spcBef>
                <a:spcPts val="695"/>
              </a:spcBef>
            </a:pPr>
            <a:r>
              <a:rPr lang="en-US" sz="2000" dirty="0" smtClean="0">
                <a:latin typeface="Times New Roman"/>
                <a:cs typeface="Times New Roman"/>
              </a:rPr>
              <a:t>					</a:t>
            </a:r>
            <a:r>
              <a:rPr sz="2000" dirty="0" smtClean="0">
                <a:latin typeface="Times New Roman"/>
                <a:cs typeface="Times New Roman"/>
              </a:rPr>
              <a:t>}</a:t>
            </a:r>
            <a:endParaRPr lang="en-US" sz="2000" dirty="0" smtClean="0">
              <a:latin typeface="Times New Roman"/>
              <a:cs typeface="Times New Roman"/>
            </a:endParaRPr>
          </a:p>
          <a:p>
            <a:pPr marL="508000">
              <a:lnSpc>
                <a:spcPct val="100000"/>
              </a:lnSpc>
              <a:spcBef>
                <a:spcPts val="695"/>
              </a:spcBef>
            </a:pPr>
            <a:r>
              <a:rPr lang="en-US" sz="2000" dirty="0" smtClean="0">
                <a:latin typeface="Times New Roman"/>
                <a:cs typeface="Times New Roman"/>
              </a:rPr>
              <a:t>		}</a:t>
            </a:r>
            <a:endParaRPr sz="2000" dirty="0">
              <a:latin typeface="Times New Roman"/>
              <a:cs typeface="Times New Roman"/>
            </a:endParaRPr>
          </a:p>
        </p:txBody>
      </p:sp>
      <p:sp>
        <p:nvSpPr>
          <p:cNvPr id="6" name="object 6"/>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58</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421894"/>
            <a:ext cx="7762875" cy="574040"/>
          </a:xfrm>
          <a:prstGeom prst="rect">
            <a:avLst/>
          </a:prstGeom>
        </p:spPr>
        <p:txBody>
          <a:bodyPr vert="horz" wrap="square" lIns="0" tIns="12700" rIns="0" bIns="0" rtlCol="0">
            <a:spAutoFit/>
          </a:bodyPr>
          <a:lstStyle/>
          <a:p>
            <a:pPr marL="12700">
              <a:lnSpc>
                <a:spcPct val="100000"/>
              </a:lnSpc>
              <a:spcBef>
                <a:spcPts val="100"/>
              </a:spcBef>
            </a:pPr>
            <a:r>
              <a:rPr sz="3600" dirty="0"/>
              <a:t>Program </a:t>
            </a:r>
            <a:r>
              <a:rPr sz="3600" spc="-5" dirty="0"/>
              <a:t>to</a:t>
            </a:r>
            <a:r>
              <a:rPr sz="3600" dirty="0"/>
              <a:t> </a:t>
            </a:r>
            <a:r>
              <a:rPr sz="3600" spc="-5" dirty="0"/>
              <a:t>find</a:t>
            </a:r>
            <a:r>
              <a:rPr sz="3600" dirty="0"/>
              <a:t> average</a:t>
            </a:r>
            <a:r>
              <a:rPr sz="3600" spc="10" dirty="0"/>
              <a:t> </a:t>
            </a:r>
            <a:r>
              <a:rPr sz="3600" spc="-5" dirty="0"/>
              <a:t>of</a:t>
            </a:r>
            <a:r>
              <a:rPr sz="3600" dirty="0"/>
              <a:t> </a:t>
            </a:r>
            <a:r>
              <a:rPr sz="3600" spc="-5" dirty="0"/>
              <a:t>set</a:t>
            </a:r>
            <a:r>
              <a:rPr sz="3600" spc="15" dirty="0"/>
              <a:t> </a:t>
            </a:r>
            <a:r>
              <a:rPr sz="3600" spc="-5" dirty="0"/>
              <a:t>of</a:t>
            </a:r>
            <a:r>
              <a:rPr sz="3600" dirty="0"/>
              <a:t> </a:t>
            </a:r>
            <a:r>
              <a:rPr sz="3600" spc="-5" dirty="0"/>
              <a:t>numbers</a:t>
            </a:r>
            <a:endParaRPr sz="3600"/>
          </a:p>
        </p:txBody>
      </p:sp>
      <p:sp>
        <p:nvSpPr>
          <p:cNvPr id="3" name="object 3"/>
          <p:cNvSpPr txBox="1"/>
          <p:nvPr/>
        </p:nvSpPr>
        <p:spPr>
          <a:xfrm>
            <a:off x="176885" y="1538681"/>
            <a:ext cx="8814715" cy="4647426"/>
          </a:xfrm>
          <a:prstGeom prst="rect">
            <a:avLst/>
          </a:prstGeom>
        </p:spPr>
        <p:txBody>
          <a:bodyPr vert="horz" wrap="square" lIns="0" tIns="5080" rIns="0" bIns="0" rtlCol="0">
            <a:spAutoFit/>
          </a:bodyPr>
          <a:lstStyle/>
          <a:p>
            <a:pPr marL="12700" marR="3954779">
              <a:lnSpc>
                <a:spcPct val="101899"/>
              </a:lnSpc>
              <a:spcBef>
                <a:spcPts val="40"/>
              </a:spcBef>
              <a:buClr>
                <a:srgbClr val="DD8046"/>
              </a:buClr>
              <a:buSzPct val="59259"/>
              <a:buFont typeface="Wingdings"/>
              <a:buChar char=""/>
              <a:tabLst>
                <a:tab pos="332105" algn="l"/>
                <a:tab pos="332740" algn="l"/>
              </a:tabLst>
            </a:pPr>
            <a:r>
              <a:rPr sz="2700" dirty="0">
                <a:latin typeface="Times New Roman"/>
                <a:cs typeface="Times New Roman"/>
              </a:rPr>
              <a:t>//</a:t>
            </a:r>
            <a:r>
              <a:rPr sz="2700" spc="-165" dirty="0">
                <a:latin typeface="Times New Roman"/>
                <a:cs typeface="Times New Roman"/>
              </a:rPr>
              <a:t> </a:t>
            </a:r>
            <a:r>
              <a:rPr sz="2700" spc="-30" dirty="0">
                <a:latin typeface="Times New Roman"/>
                <a:cs typeface="Times New Roman"/>
              </a:rPr>
              <a:t>Average</a:t>
            </a:r>
            <a:r>
              <a:rPr sz="2700" spc="-15" dirty="0">
                <a:latin typeface="Times New Roman"/>
                <a:cs typeface="Times New Roman"/>
              </a:rPr>
              <a:t> </a:t>
            </a:r>
            <a:r>
              <a:rPr sz="2700" dirty="0">
                <a:latin typeface="Times New Roman"/>
                <a:cs typeface="Times New Roman"/>
              </a:rPr>
              <a:t>an</a:t>
            </a:r>
            <a:r>
              <a:rPr sz="2700" spc="-10" dirty="0">
                <a:latin typeface="Times New Roman"/>
                <a:cs typeface="Times New Roman"/>
              </a:rPr>
              <a:t> </a:t>
            </a:r>
            <a:r>
              <a:rPr sz="2700" dirty="0">
                <a:latin typeface="Times New Roman"/>
                <a:cs typeface="Times New Roman"/>
              </a:rPr>
              <a:t>array</a:t>
            </a:r>
            <a:r>
              <a:rPr sz="2700" spc="-30" dirty="0">
                <a:latin typeface="Times New Roman"/>
                <a:cs typeface="Times New Roman"/>
              </a:rPr>
              <a:t> </a:t>
            </a:r>
            <a:r>
              <a:rPr sz="2700" dirty="0">
                <a:latin typeface="Times New Roman"/>
                <a:cs typeface="Times New Roman"/>
              </a:rPr>
              <a:t>of</a:t>
            </a:r>
            <a:r>
              <a:rPr sz="2700" spc="-10" dirty="0">
                <a:latin typeface="Times New Roman"/>
                <a:cs typeface="Times New Roman"/>
              </a:rPr>
              <a:t> </a:t>
            </a:r>
            <a:r>
              <a:rPr sz="2700" dirty="0">
                <a:latin typeface="Times New Roman"/>
                <a:cs typeface="Times New Roman"/>
              </a:rPr>
              <a:t>values. </a:t>
            </a:r>
            <a:r>
              <a:rPr sz="2700" spc="-660" dirty="0">
                <a:latin typeface="Times New Roman"/>
                <a:cs typeface="Times New Roman"/>
              </a:rPr>
              <a:t> </a:t>
            </a:r>
            <a:r>
              <a:rPr sz="2700" dirty="0">
                <a:latin typeface="Times New Roman"/>
                <a:cs typeface="Times New Roman"/>
              </a:rPr>
              <a:t>class</a:t>
            </a:r>
            <a:r>
              <a:rPr sz="2700" spc="-170" dirty="0">
                <a:latin typeface="Times New Roman"/>
                <a:cs typeface="Times New Roman"/>
              </a:rPr>
              <a:t> </a:t>
            </a:r>
            <a:r>
              <a:rPr sz="2700" spc="-35" dirty="0">
                <a:latin typeface="Times New Roman"/>
                <a:cs typeface="Times New Roman"/>
              </a:rPr>
              <a:t>Average</a:t>
            </a:r>
            <a:r>
              <a:rPr sz="2700" spc="5" dirty="0">
                <a:latin typeface="Times New Roman"/>
                <a:cs typeface="Times New Roman"/>
              </a:rPr>
              <a:t> </a:t>
            </a:r>
            <a:r>
              <a:rPr sz="2700" dirty="0">
                <a:latin typeface="Times New Roman"/>
                <a:cs typeface="Times New Roman"/>
              </a:rPr>
              <a:t>{</a:t>
            </a:r>
          </a:p>
          <a:p>
            <a:pPr marL="927100">
              <a:lnSpc>
                <a:spcPct val="100000"/>
              </a:lnSpc>
              <a:spcBef>
                <a:spcPts val="45"/>
              </a:spcBef>
            </a:pPr>
            <a:r>
              <a:rPr sz="2700" dirty="0">
                <a:latin typeface="Times New Roman"/>
                <a:cs typeface="Times New Roman"/>
              </a:rPr>
              <a:t>public</a:t>
            </a:r>
            <a:r>
              <a:rPr sz="2700" spc="-35" dirty="0">
                <a:latin typeface="Times New Roman"/>
                <a:cs typeface="Times New Roman"/>
              </a:rPr>
              <a:t> </a:t>
            </a:r>
            <a:r>
              <a:rPr sz="2700" dirty="0">
                <a:latin typeface="Times New Roman"/>
                <a:cs typeface="Times New Roman"/>
              </a:rPr>
              <a:t>static</a:t>
            </a:r>
            <a:r>
              <a:rPr sz="2700" spc="-40" dirty="0">
                <a:latin typeface="Times New Roman"/>
                <a:cs typeface="Times New Roman"/>
              </a:rPr>
              <a:t> </a:t>
            </a:r>
            <a:r>
              <a:rPr sz="2700" dirty="0">
                <a:latin typeface="Times New Roman"/>
                <a:cs typeface="Times New Roman"/>
              </a:rPr>
              <a:t>void</a:t>
            </a:r>
            <a:r>
              <a:rPr sz="2700" spc="-25" dirty="0">
                <a:latin typeface="Times New Roman"/>
                <a:cs typeface="Times New Roman"/>
              </a:rPr>
              <a:t> </a:t>
            </a:r>
            <a:r>
              <a:rPr sz="2700" dirty="0">
                <a:latin typeface="Times New Roman"/>
                <a:cs typeface="Times New Roman"/>
              </a:rPr>
              <a:t>main(String</a:t>
            </a:r>
            <a:r>
              <a:rPr sz="2700" spc="20" dirty="0">
                <a:latin typeface="Times New Roman"/>
                <a:cs typeface="Times New Roman"/>
              </a:rPr>
              <a:t> </a:t>
            </a:r>
            <a:r>
              <a:rPr sz="2700" spc="-15" dirty="0">
                <a:latin typeface="Times New Roman"/>
                <a:cs typeface="Times New Roman"/>
              </a:rPr>
              <a:t>args[])</a:t>
            </a:r>
            <a:r>
              <a:rPr sz="2700" spc="5" dirty="0">
                <a:latin typeface="Times New Roman"/>
                <a:cs typeface="Times New Roman"/>
              </a:rPr>
              <a:t> </a:t>
            </a:r>
            <a:r>
              <a:rPr sz="2700" dirty="0">
                <a:latin typeface="Times New Roman"/>
                <a:cs typeface="Times New Roman"/>
              </a:rPr>
              <a:t>{</a:t>
            </a:r>
          </a:p>
          <a:p>
            <a:pPr marL="1841500">
              <a:lnSpc>
                <a:spcPct val="100000"/>
              </a:lnSpc>
              <a:spcBef>
                <a:spcPts val="50"/>
              </a:spcBef>
            </a:pPr>
            <a:r>
              <a:rPr sz="2700" dirty="0">
                <a:latin typeface="Times New Roman"/>
                <a:cs typeface="Times New Roman"/>
              </a:rPr>
              <a:t>double</a:t>
            </a:r>
            <a:r>
              <a:rPr sz="2700" spc="-25" dirty="0">
                <a:latin typeface="Times New Roman"/>
                <a:cs typeface="Times New Roman"/>
              </a:rPr>
              <a:t> </a:t>
            </a:r>
            <a:r>
              <a:rPr sz="2700" spc="-5" dirty="0">
                <a:latin typeface="Times New Roman"/>
                <a:cs typeface="Times New Roman"/>
              </a:rPr>
              <a:t>nums[]</a:t>
            </a:r>
            <a:r>
              <a:rPr sz="2700" dirty="0">
                <a:latin typeface="Times New Roman"/>
                <a:cs typeface="Times New Roman"/>
              </a:rPr>
              <a:t> =</a:t>
            </a:r>
            <a:r>
              <a:rPr sz="2700" spc="-5" dirty="0">
                <a:latin typeface="Times New Roman"/>
                <a:cs typeface="Times New Roman"/>
              </a:rPr>
              <a:t> </a:t>
            </a:r>
            <a:r>
              <a:rPr sz="2700" dirty="0">
                <a:latin typeface="Times New Roman"/>
                <a:cs typeface="Times New Roman"/>
              </a:rPr>
              <a:t>{10.1,</a:t>
            </a:r>
            <a:r>
              <a:rPr sz="2700" spc="-15" dirty="0">
                <a:latin typeface="Times New Roman"/>
                <a:cs typeface="Times New Roman"/>
              </a:rPr>
              <a:t> </a:t>
            </a:r>
            <a:r>
              <a:rPr sz="2700" spc="-20" dirty="0">
                <a:latin typeface="Times New Roman"/>
                <a:cs typeface="Times New Roman"/>
              </a:rPr>
              <a:t>11.2, </a:t>
            </a:r>
            <a:r>
              <a:rPr sz="2700" dirty="0">
                <a:latin typeface="Times New Roman"/>
                <a:cs typeface="Times New Roman"/>
              </a:rPr>
              <a:t>12.3,</a:t>
            </a:r>
            <a:r>
              <a:rPr sz="2700" spc="-5" dirty="0">
                <a:latin typeface="Times New Roman"/>
                <a:cs typeface="Times New Roman"/>
              </a:rPr>
              <a:t> </a:t>
            </a:r>
            <a:r>
              <a:rPr sz="2700" dirty="0">
                <a:latin typeface="Times New Roman"/>
                <a:cs typeface="Times New Roman"/>
              </a:rPr>
              <a:t>13.4,</a:t>
            </a:r>
            <a:r>
              <a:rPr sz="2700" spc="-15" dirty="0">
                <a:latin typeface="Times New Roman"/>
                <a:cs typeface="Times New Roman"/>
              </a:rPr>
              <a:t> </a:t>
            </a:r>
            <a:r>
              <a:rPr sz="2700" dirty="0">
                <a:latin typeface="Times New Roman"/>
                <a:cs typeface="Times New Roman"/>
              </a:rPr>
              <a:t>14.5};</a:t>
            </a:r>
          </a:p>
          <a:p>
            <a:pPr marL="1841500" marR="4050029">
              <a:lnSpc>
                <a:spcPct val="101499"/>
              </a:lnSpc>
              <a:spcBef>
                <a:spcPts val="15"/>
              </a:spcBef>
            </a:pPr>
            <a:r>
              <a:rPr sz="2700" dirty="0">
                <a:latin typeface="Times New Roman"/>
                <a:cs typeface="Times New Roman"/>
              </a:rPr>
              <a:t>double</a:t>
            </a:r>
            <a:r>
              <a:rPr sz="2700" spc="-55" dirty="0">
                <a:latin typeface="Times New Roman"/>
                <a:cs typeface="Times New Roman"/>
              </a:rPr>
              <a:t> </a:t>
            </a:r>
            <a:r>
              <a:rPr sz="2700" dirty="0">
                <a:latin typeface="Times New Roman"/>
                <a:cs typeface="Times New Roman"/>
              </a:rPr>
              <a:t>result</a:t>
            </a:r>
            <a:r>
              <a:rPr sz="2700" spc="-45" dirty="0">
                <a:latin typeface="Times New Roman"/>
                <a:cs typeface="Times New Roman"/>
              </a:rPr>
              <a:t> </a:t>
            </a:r>
            <a:r>
              <a:rPr sz="2700" dirty="0">
                <a:latin typeface="Times New Roman"/>
                <a:cs typeface="Times New Roman"/>
              </a:rPr>
              <a:t>=</a:t>
            </a:r>
            <a:r>
              <a:rPr sz="2700" spc="-25" dirty="0">
                <a:latin typeface="Times New Roman"/>
                <a:cs typeface="Times New Roman"/>
              </a:rPr>
              <a:t> </a:t>
            </a:r>
            <a:r>
              <a:rPr sz="2700" dirty="0">
                <a:latin typeface="Times New Roman"/>
                <a:cs typeface="Times New Roman"/>
              </a:rPr>
              <a:t>0</a:t>
            </a:r>
            <a:r>
              <a:rPr sz="2700" dirty="0" smtClean="0">
                <a:latin typeface="Times New Roman"/>
                <a:cs typeface="Times New Roman"/>
              </a:rPr>
              <a:t>;</a:t>
            </a:r>
            <a:endParaRPr lang="en-US" sz="2700" dirty="0" smtClean="0">
              <a:latin typeface="Times New Roman"/>
              <a:cs typeface="Times New Roman"/>
            </a:endParaRPr>
          </a:p>
          <a:p>
            <a:pPr marL="1841500" marR="4050029">
              <a:lnSpc>
                <a:spcPct val="101499"/>
              </a:lnSpc>
              <a:spcBef>
                <a:spcPts val="15"/>
              </a:spcBef>
            </a:pPr>
            <a:r>
              <a:rPr sz="2700" dirty="0" smtClean="0">
                <a:latin typeface="Times New Roman"/>
                <a:cs typeface="Times New Roman"/>
              </a:rPr>
              <a:t> </a:t>
            </a:r>
            <a:r>
              <a:rPr sz="2700" spc="-660" dirty="0" smtClean="0">
                <a:latin typeface="Times New Roman"/>
                <a:cs typeface="Times New Roman"/>
              </a:rPr>
              <a:t> </a:t>
            </a:r>
            <a:r>
              <a:rPr sz="2700" dirty="0">
                <a:latin typeface="Times New Roman"/>
                <a:cs typeface="Times New Roman"/>
              </a:rPr>
              <a:t>int</a:t>
            </a:r>
            <a:r>
              <a:rPr sz="2700" spc="-15" dirty="0">
                <a:latin typeface="Times New Roman"/>
                <a:cs typeface="Times New Roman"/>
              </a:rPr>
              <a:t> </a:t>
            </a:r>
            <a:r>
              <a:rPr sz="2700" dirty="0" err="1" smtClean="0">
                <a:latin typeface="Times New Roman"/>
                <a:cs typeface="Times New Roman"/>
              </a:rPr>
              <a:t>i</a:t>
            </a:r>
            <a:r>
              <a:rPr sz="2700" dirty="0" smtClean="0">
                <a:latin typeface="Times New Roman"/>
                <a:cs typeface="Times New Roman"/>
              </a:rPr>
              <a:t>;</a:t>
            </a:r>
          </a:p>
          <a:p>
            <a:pPr marL="1841500">
              <a:lnSpc>
                <a:spcPct val="100000"/>
              </a:lnSpc>
              <a:spcBef>
                <a:spcPts val="45"/>
              </a:spcBef>
            </a:pPr>
            <a:r>
              <a:rPr sz="2700" spc="-5" dirty="0" smtClean="0">
                <a:latin typeface="Times New Roman"/>
                <a:cs typeface="Times New Roman"/>
              </a:rPr>
              <a:t>for(</a:t>
            </a:r>
            <a:r>
              <a:rPr sz="2700" spc="-5" dirty="0" err="1" smtClean="0">
                <a:latin typeface="Times New Roman"/>
                <a:cs typeface="Times New Roman"/>
              </a:rPr>
              <a:t>i</a:t>
            </a:r>
            <a:r>
              <a:rPr sz="2700" spc="-5" dirty="0" smtClean="0">
                <a:latin typeface="Times New Roman"/>
                <a:cs typeface="Times New Roman"/>
              </a:rPr>
              <a:t>=0;</a:t>
            </a:r>
            <a:r>
              <a:rPr sz="2700" spc="-25" dirty="0" smtClean="0">
                <a:latin typeface="Times New Roman"/>
                <a:cs typeface="Times New Roman"/>
              </a:rPr>
              <a:t> </a:t>
            </a:r>
            <a:r>
              <a:rPr sz="2700" dirty="0" err="1" smtClean="0">
                <a:latin typeface="Times New Roman"/>
                <a:cs typeface="Times New Roman"/>
              </a:rPr>
              <a:t>i</a:t>
            </a:r>
            <a:r>
              <a:rPr sz="2700" dirty="0" smtClean="0">
                <a:latin typeface="Times New Roman"/>
                <a:cs typeface="Times New Roman"/>
              </a:rPr>
              <a:t>&lt;5;</a:t>
            </a:r>
            <a:r>
              <a:rPr sz="2700" spc="-20" dirty="0" smtClean="0">
                <a:latin typeface="Times New Roman"/>
                <a:cs typeface="Times New Roman"/>
              </a:rPr>
              <a:t> </a:t>
            </a:r>
            <a:r>
              <a:rPr sz="2700" spc="-5" dirty="0" err="1" smtClean="0">
                <a:latin typeface="Times New Roman"/>
                <a:cs typeface="Times New Roman"/>
              </a:rPr>
              <a:t>i</a:t>
            </a:r>
            <a:r>
              <a:rPr sz="2700" spc="-5" dirty="0" smtClean="0">
                <a:latin typeface="Times New Roman"/>
                <a:cs typeface="Times New Roman"/>
              </a:rPr>
              <a:t>++)</a:t>
            </a:r>
            <a:r>
              <a:rPr lang="en-US" sz="2700" spc="-5" dirty="0" smtClean="0">
                <a:latin typeface="Times New Roman"/>
                <a:cs typeface="Times New Roman"/>
              </a:rPr>
              <a:t>  or  </a:t>
            </a:r>
            <a:r>
              <a:rPr lang="en-IN" sz="2700" spc="-5" dirty="0" smtClean="0">
                <a:latin typeface="Times New Roman"/>
                <a:cs typeface="Times New Roman"/>
              </a:rPr>
              <a:t>for(</a:t>
            </a:r>
            <a:r>
              <a:rPr lang="en-IN" sz="2700" spc="-5" dirty="0" err="1" smtClean="0">
                <a:latin typeface="Times New Roman"/>
                <a:cs typeface="Times New Roman"/>
              </a:rPr>
              <a:t>i</a:t>
            </a:r>
            <a:r>
              <a:rPr lang="en-IN" sz="2700" spc="-5" dirty="0" smtClean="0">
                <a:latin typeface="Times New Roman"/>
                <a:cs typeface="Times New Roman"/>
              </a:rPr>
              <a:t>=0;</a:t>
            </a:r>
            <a:r>
              <a:rPr lang="en-IN" sz="2700" spc="-25" dirty="0" smtClean="0">
                <a:latin typeface="Times New Roman"/>
                <a:cs typeface="Times New Roman"/>
              </a:rPr>
              <a:t> </a:t>
            </a:r>
            <a:r>
              <a:rPr lang="en-IN" sz="2700" dirty="0" err="1" smtClean="0">
                <a:latin typeface="Times New Roman"/>
                <a:cs typeface="Times New Roman"/>
              </a:rPr>
              <a:t>i</a:t>
            </a:r>
            <a:r>
              <a:rPr lang="en-IN" sz="2700" dirty="0" smtClean="0">
                <a:latin typeface="Times New Roman"/>
                <a:cs typeface="Times New Roman"/>
              </a:rPr>
              <a:t>&lt;</a:t>
            </a:r>
            <a:r>
              <a:rPr lang="en-IN" sz="2700" dirty="0" err="1" smtClean="0">
                <a:latin typeface="Times New Roman"/>
                <a:cs typeface="Times New Roman"/>
              </a:rPr>
              <a:t>nums.length</a:t>
            </a:r>
            <a:r>
              <a:rPr lang="en-IN" sz="2700" dirty="0" smtClean="0">
                <a:latin typeface="Times New Roman"/>
                <a:cs typeface="Times New Roman"/>
              </a:rPr>
              <a:t>;</a:t>
            </a:r>
            <a:r>
              <a:rPr lang="en-IN" sz="2700" spc="-20" dirty="0" smtClean="0">
                <a:latin typeface="Times New Roman"/>
                <a:cs typeface="Times New Roman"/>
              </a:rPr>
              <a:t> </a:t>
            </a:r>
            <a:r>
              <a:rPr lang="en-IN" sz="2700" spc="-5" dirty="0" err="1" smtClean="0">
                <a:latin typeface="Times New Roman"/>
                <a:cs typeface="Times New Roman"/>
              </a:rPr>
              <a:t>i</a:t>
            </a:r>
            <a:r>
              <a:rPr lang="en-IN" sz="2700" spc="-5" dirty="0" smtClean="0">
                <a:latin typeface="Times New Roman"/>
                <a:cs typeface="Times New Roman"/>
              </a:rPr>
              <a:t>++) </a:t>
            </a:r>
            <a:endParaRPr sz="2700" dirty="0" smtClean="0">
              <a:latin typeface="Times New Roman"/>
              <a:cs typeface="Times New Roman"/>
            </a:endParaRPr>
          </a:p>
          <a:p>
            <a:pPr marL="1841500" marR="222885" indent="914400">
              <a:lnSpc>
                <a:spcPct val="101499"/>
              </a:lnSpc>
              <a:spcBef>
                <a:spcPts val="15"/>
              </a:spcBef>
            </a:pPr>
            <a:r>
              <a:rPr sz="2700" dirty="0" smtClean="0">
                <a:latin typeface="Times New Roman"/>
                <a:cs typeface="Times New Roman"/>
              </a:rPr>
              <a:t>result </a:t>
            </a:r>
            <a:r>
              <a:rPr sz="2700" dirty="0">
                <a:latin typeface="Times New Roman"/>
                <a:cs typeface="Times New Roman"/>
              </a:rPr>
              <a:t>= result + </a:t>
            </a:r>
            <a:r>
              <a:rPr sz="2700" spc="-10" dirty="0">
                <a:latin typeface="Times New Roman"/>
                <a:cs typeface="Times New Roman"/>
              </a:rPr>
              <a:t>nums[i]; </a:t>
            </a:r>
            <a:r>
              <a:rPr sz="2700" spc="-5" dirty="0">
                <a:latin typeface="Times New Roman"/>
                <a:cs typeface="Times New Roman"/>
              </a:rPr>
              <a:t> </a:t>
            </a:r>
            <a:r>
              <a:rPr sz="2700" spc="-10" dirty="0">
                <a:latin typeface="Times New Roman"/>
                <a:cs typeface="Times New Roman"/>
              </a:rPr>
              <a:t>System.out.println("Average</a:t>
            </a:r>
            <a:r>
              <a:rPr sz="2700" spc="-35" dirty="0">
                <a:latin typeface="Times New Roman"/>
                <a:cs typeface="Times New Roman"/>
              </a:rPr>
              <a:t> </a:t>
            </a:r>
            <a:r>
              <a:rPr sz="2700" spc="-5" dirty="0">
                <a:latin typeface="Times New Roman"/>
                <a:cs typeface="Times New Roman"/>
              </a:rPr>
              <a:t>is</a:t>
            </a:r>
            <a:r>
              <a:rPr sz="2700" spc="-10" dirty="0">
                <a:latin typeface="Times New Roman"/>
                <a:cs typeface="Times New Roman"/>
              </a:rPr>
              <a:t> </a:t>
            </a:r>
            <a:r>
              <a:rPr sz="2700" spc="-5" dirty="0">
                <a:latin typeface="Times New Roman"/>
                <a:cs typeface="Times New Roman"/>
              </a:rPr>
              <a:t>"</a:t>
            </a:r>
            <a:r>
              <a:rPr sz="2700" spc="5" dirty="0">
                <a:latin typeface="Times New Roman"/>
                <a:cs typeface="Times New Roman"/>
              </a:rPr>
              <a:t> </a:t>
            </a:r>
            <a:r>
              <a:rPr sz="2700" dirty="0">
                <a:latin typeface="Times New Roman"/>
                <a:cs typeface="Times New Roman"/>
              </a:rPr>
              <a:t>+</a:t>
            </a:r>
            <a:r>
              <a:rPr sz="2700" spc="5" dirty="0">
                <a:latin typeface="Times New Roman"/>
                <a:cs typeface="Times New Roman"/>
              </a:rPr>
              <a:t> </a:t>
            </a:r>
            <a:r>
              <a:rPr sz="2700" dirty="0">
                <a:latin typeface="Times New Roman"/>
                <a:cs typeface="Times New Roman"/>
              </a:rPr>
              <a:t>result</a:t>
            </a:r>
            <a:r>
              <a:rPr sz="2700" spc="-20" dirty="0">
                <a:latin typeface="Times New Roman"/>
                <a:cs typeface="Times New Roman"/>
              </a:rPr>
              <a:t> </a:t>
            </a:r>
            <a:r>
              <a:rPr sz="2700" dirty="0">
                <a:latin typeface="Times New Roman"/>
                <a:cs typeface="Times New Roman"/>
              </a:rPr>
              <a:t>/</a:t>
            </a:r>
            <a:r>
              <a:rPr sz="2700" spc="5" dirty="0">
                <a:latin typeface="Times New Roman"/>
                <a:cs typeface="Times New Roman"/>
              </a:rPr>
              <a:t> </a:t>
            </a:r>
            <a:r>
              <a:rPr sz="2700" dirty="0">
                <a:latin typeface="Times New Roman"/>
                <a:cs typeface="Times New Roman"/>
              </a:rPr>
              <a:t>5);</a:t>
            </a:r>
          </a:p>
          <a:p>
            <a:pPr marL="613410">
              <a:lnSpc>
                <a:spcPct val="100000"/>
              </a:lnSpc>
              <a:spcBef>
                <a:spcPts val="50"/>
              </a:spcBef>
            </a:pPr>
            <a:r>
              <a:rPr sz="2700" dirty="0">
                <a:latin typeface="Times New Roman"/>
                <a:cs typeface="Times New Roman"/>
              </a:rPr>
              <a:t>}</a:t>
            </a:r>
          </a:p>
          <a:p>
            <a:pPr marL="12700">
              <a:lnSpc>
                <a:spcPct val="100000"/>
              </a:lnSpc>
              <a:spcBef>
                <a:spcPts val="60"/>
              </a:spcBef>
            </a:pPr>
            <a:r>
              <a:rPr sz="2700" dirty="0">
                <a:latin typeface="Times New Roman"/>
                <a:cs typeface="Times New Roman"/>
              </a:rPr>
              <a:t>}</a:t>
            </a: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59</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634355" cy="696595"/>
          </a:xfrm>
          <a:prstGeom prst="rect">
            <a:avLst/>
          </a:prstGeom>
        </p:spPr>
        <p:txBody>
          <a:bodyPr vert="horz" wrap="square" lIns="0" tIns="13335" rIns="0" bIns="0" rtlCol="0">
            <a:spAutoFit/>
          </a:bodyPr>
          <a:lstStyle/>
          <a:p>
            <a:pPr marL="12700">
              <a:lnSpc>
                <a:spcPct val="100000"/>
              </a:lnSpc>
              <a:spcBef>
                <a:spcPts val="105"/>
              </a:spcBef>
            </a:pPr>
            <a:r>
              <a:rPr sz="4400" dirty="0"/>
              <a:t>Multi</a:t>
            </a:r>
            <a:r>
              <a:rPr sz="4400" spc="5" dirty="0"/>
              <a:t>d</a:t>
            </a:r>
            <a:r>
              <a:rPr sz="4400" dirty="0"/>
              <a:t>imensi</a:t>
            </a:r>
            <a:r>
              <a:rPr sz="4400" spc="15" dirty="0"/>
              <a:t>o</a:t>
            </a:r>
            <a:r>
              <a:rPr sz="4400" dirty="0"/>
              <a:t>nal</a:t>
            </a:r>
            <a:r>
              <a:rPr sz="4400" spc="-275" dirty="0"/>
              <a:t> </a:t>
            </a:r>
            <a:r>
              <a:rPr sz="4400" dirty="0"/>
              <a:t>Arra</a:t>
            </a:r>
            <a:r>
              <a:rPr sz="4400" spc="5" dirty="0"/>
              <a:t>y</a:t>
            </a:r>
            <a:r>
              <a:rPr sz="4400" dirty="0"/>
              <a:t>s</a:t>
            </a:r>
            <a:endParaRPr sz="4400"/>
          </a:p>
        </p:txBody>
      </p:sp>
      <p:sp>
        <p:nvSpPr>
          <p:cNvPr id="3" name="object 3"/>
          <p:cNvSpPr txBox="1"/>
          <p:nvPr/>
        </p:nvSpPr>
        <p:spPr>
          <a:xfrm>
            <a:off x="691387" y="1620138"/>
            <a:ext cx="7997190" cy="4478790"/>
          </a:xfrm>
          <a:prstGeom prst="rect">
            <a:avLst/>
          </a:prstGeom>
        </p:spPr>
        <p:txBody>
          <a:bodyPr vert="horz" wrap="square" lIns="0" tIns="13335" rIns="0" bIns="0" rtlCol="0">
            <a:spAutoFit/>
          </a:bodyPr>
          <a:lstStyle/>
          <a:p>
            <a:pPr marL="332740" marR="66675" indent="-320675">
              <a:lnSpc>
                <a:spcPct val="100000"/>
              </a:lnSpc>
              <a:spcBef>
                <a:spcPts val="105"/>
              </a:spcBef>
              <a:buClr>
                <a:srgbClr val="DD8046"/>
              </a:buClr>
              <a:buSzPct val="60344"/>
              <a:buFont typeface="Wingdings"/>
              <a:buChar char=""/>
              <a:tabLst>
                <a:tab pos="333375" algn="l"/>
              </a:tabLst>
            </a:pPr>
            <a:r>
              <a:rPr sz="2900" dirty="0">
                <a:latin typeface="Times New Roman"/>
                <a:cs typeface="Times New Roman"/>
              </a:rPr>
              <a:t>In</a:t>
            </a:r>
            <a:r>
              <a:rPr sz="2900" spc="-10" dirty="0">
                <a:latin typeface="Times New Roman"/>
                <a:cs typeface="Times New Roman"/>
              </a:rPr>
              <a:t> </a:t>
            </a:r>
            <a:r>
              <a:rPr sz="2900" spc="-5" dirty="0">
                <a:latin typeface="Times New Roman"/>
                <a:cs typeface="Times New Roman"/>
              </a:rPr>
              <a:t>Java,</a:t>
            </a:r>
            <a:r>
              <a:rPr sz="2900" spc="5" dirty="0">
                <a:latin typeface="Times New Roman"/>
                <a:cs typeface="Times New Roman"/>
              </a:rPr>
              <a:t> </a:t>
            </a:r>
            <a:r>
              <a:rPr sz="2900" spc="-10" dirty="0">
                <a:latin typeface="Times New Roman"/>
                <a:cs typeface="Times New Roman"/>
              </a:rPr>
              <a:t>multidimensional</a:t>
            </a:r>
            <a:r>
              <a:rPr sz="2900" spc="20" dirty="0">
                <a:latin typeface="Times New Roman"/>
                <a:cs typeface="Times New Roman"/>
              </a:rPr>
              <a:t> </a:t>
            </a:r>
            <a:r>
              <a:rPr sz="2900" dirty="0">
                <a:latin typeface="Times New Roman"/>
                <a:cs typeface="Times New Roman"/>
              </a:rPr>
              <a:t>arrays</a:t>
            </a:r>
            <a:r>
              <a:rPr sz="2900" spc="-10" dirty="0">
                <a:latin typeface="Times New Roman"/>
                <a:cs typeface="Times New Roman"/>
              </a:rPr>
              <a:t> </a:t>
            </a:r>
            <a:r>
              <a:rPr sz="2900" dirty="0">
                <a:latin typeface="Times New Roman"/>
                <a:cs typeface="Times New Roman"/>
              </a:rPr>
              <a:t>are</a:t>
            </a:r>
            <a:r>
              <a:rPr sz="2900" spc="5" dirty="0">
                <a:latin typeface="Times New Roman"/>
                <a:cs typeface="Times New Roman"/>
              </a:rPr>
              <a:t> </a:t>
            </a:r>
            <a:r>
              <a:rPr sz="2900" spc="-5" dirty="0">
                <a:latin typeface="Times New Roman"/>
                <a:cs typeface="Times New Roman"/>
              </a:rPr>
              <a:t>actually </a:t>
            </a:r>
            <a:r>
              <a:rPr sz="2900" dirty="0">
                <a:latin typeface="Times New Roman"/>
                <a:cs typeface="Times New Roman"/>
              </a:rPr>
              <a:t>arrays </a:t>
            </a:r>
            <a:r>
              <a:rPr sz="2900" spc="-710" dirty="0">
                <a:latin typeface="Times New Roman"/>
                <a:cs typeface="Times New Roman"/>
              </a:rPr>
              <a:t> </a:t>
            </a:r>
            <a:r>
              <a:rPr sz="2900" dirty="0">
                <a:latin typeface="Times New Roman"/>
                <a:cs typeface="Times New Roman"/>
              </a:rPr>
              <a:t>of</a:t>
            </a:r>
            <a:r>
              <a:rPr sz="2900" spc="-20" dirty="0">
                <a:latin typeface="Times New Roman"/>
                <a:cs typeface="Times New Roman"/>
              </a:rPr>
              <a:t> </a:t>
            </a:r>
            <a:r>
              <a:rPr sz="2900" dirty="0">
                <a:latin typeface="Times New Roman"/>
                <a:cs typeface="Times New Roman"/>
              </a:rPr>
              <a:t>arrays.</a:t>
            </a:r>
            <a:r>
              <a:rPr sz="2900" spc="-20" dirty="0">
                <a:latin typeface="Times New Roman"/>
                <a:cs typeface="Times New Roman"/>
              </a:rPr>
              <a:t> </a:t>
            </a:r>
            <a:r>
              <a:rPr lang="en-US" sz="2900" dirty="0" err="1">
                <a:latin typeface="Times New Roman"/>
                <a:cs typeface="Times New Roman"/>
              </a:rPr>
              <a:t>i</a:t>
            </a:r>
            <a:r>
              <a:rPr sz="2900" dirty="0" err="1" smtClean="0">
                <a:latin typeface="Times New Roman"/>
                <a:cs typeface="Times New Roman"/>
              </a:rPr>
              <a:t>e</a:t>
            </a:r>
            <a:r>
              <a:rPr sz="2900" dirty="0">
                <a:latin typeface="Times New Roman"/>
                <a:cs typeface="Times New Roman"/>
              </a:rPr>
              <a:t>.</a:t>
            </a:r>
            <a:r>
              <a:rPr sz="2900" spc="-20" dirty="0">
                <a:latin typeface="Times New Roman"/>
                <a:cs typeface="Times New Roman"/>
              </a:rPr>
              <a:t> </a:t>
            </a:r>
            <a:r>
              <a:rPr sz="2900" dirty="0">
                <a:latin typeface="Times New Roman"/>
                <a:cs typeface="Times New Roman"/>
              </a:rPr>
              <a:t>More </a:t>
            </a:r>
            <a:r>
              <a:rPr sz="2900" spc="-5" dirty="0">
                <a:latin typeface="Times New Roman"/>
                <a:cs typeface="Times New Roman"/>
              </a:rPr>
              <a:t>than</a:t>
            </a:r>
            <a:r>
              <a:rPr sz="2900" spc="-15" dirty="0">
                <a:latin typeface="Times New Roman"/>
                <a:cs typeface="Times New Roman"/>
              </a:rPr>
              <a:t> </a:t>
            </a:r>
            <a:r>
              <a:rPr sz="2900" dirty="0">
                <a:latin typeface="Times New Roman"/>
                <a:cs typeface="Times New Roman"/>
              </a:rPr>
              <a:t>one</a:t>
            </a:r>
            <a:r>
              <a:rPr sz="2900" spc="-20" dirty="0">
                <a:latin typeface="Times New Roman"/>
                <a:cs typeface="Times New Roman"/>
              </a:rPr>
              <a:t> </a:t>
            </a:r>
            <a:r>
              <a:rPr sz="2900" spc="-5" dirty="0">
                <a:latin typeface="Times New Roman"/>
                <a:cs typeface="Times New Roman"/>
              </a:rPr>
              <a:t>dimension.</a:t>
            </a:r>
            <a:endParaRPr sz="2900" dirty="0">
              <a:latin typeface="Times New Roman"/>
              <a:cs typeface="Times New Roman"/>
            </a:endParaRPr>
          </a:p>
          <a:p>
            <a:pPr marL="332740" marR="6350" indent="-320675">
              <a:lnSpc>
                <a:spcPct val="100000"/>
              </a:lnSpc>
              <a:spcBef>
                <a:spcPts val="705"/>
              </a:spcBef>
              <a:buClr>
                <a:srgbClr val="DD8046"/>
              </a:buClr>
              <a:buSzPct val="60344"/>
              <a:buFont typeface="Wingdings"/>
              <a:buChar char=""/>
              <a:tabLst>
                <a:tab pos="333375" algn="l"/>
                <a:tab pos="1178560" algn="l"/>
                <a:tab pos="2847340" algn="l"/>
                <a:tab pos="3630929" algn="l"/>
                <a:tab pos="5396230" algn="l"/>
                <a:tab pos="6935470" algn="l"/>
                <a:tab pos="7430770" algn="l"/>
              </a:tabLst>
            </a:pPr>
            <a:r>
              <a:rPr sz="2900" dirty="0">
                <a:latin typeface="Times New Roman"/>
                <a:cs typeface="Times New Roman"/>
              </a:rPr>
              <a:t>For	ex</a:t>
            </a:r>
            <a:r>
              <a:rPr sz="2900" spc="-25" dirty="0">
                <a:latin typeface="Times New Roman"/>
                <a:cs typeface="Times New Roman"/>
              </a:rPr>
              <a:t>a</a:t>
            </a:r>
            <a:r>
              <a:rPr sz="2900" spc="-30" dirty="0">
                <a:latin typeface="Times New Roman"/>
                <a:cs typeface="Times New Roman"/>
              </a:rPr>
              <a:t>m</a:t>
            </a:r>
            <a:r>
              <a:rPr sz="2900" dirty="0">
                <a:latin typeface="Times New Roman"/>
                <a:cs typeface="Times New Roman"/>
              </a:rPr>
              <a:t>ple,	the	fo</a:t>
            </a:r>
            <a:r>
              <a:rPr sz="2900" spc="-15" dirty="0">
                <a:latin typeface="Times New Roman"/>
                <a:cs typeface="Times New Roman"/>
              </a:rPr>
              <a:t>l</a:t>
            </a:r>
            <a:r>
              <a:rPr sz="2900" dirty="0">
                <a:latin typeface="Times New Roman"/>
                <a:cs typeface="Times New Roman"/>
              </a:rPr>
              <a:t>low</a:t>
            </a:r>
            <a:r>
              <a:rPr sz="2900" spc="-15" dirty="0">
                <a:latin typeface="Times New Roman"/>
                <a:cs typeface="Times New Roman"/>
              </a:rPr>
              <a:t>i</a:t>
            </a:r>
            <a:r>
              <a:rPr sz="2900" dirty="0">
                <a:latin typeface="Times New Roman"/>
                <a:cs typeface="Times New Roman"/>
              </a:rPr>
              <a:t>ng	de</a:t>
            </a:r>
            <a:r>
              <a:rPr sz="2900" spc="-15" dirty="0">
                <a:latin typeface="Times New Roman"/>
                <a:cs typeface="Times New Roman"/>
              </a:rPr>
              <a:t>c</a:t>
            </a:r>
            <a:r>
              <a:rPr sz="2900" dirty="0">
                <a:latin typeface="Times New Roman"/>
                <a:cs typeface="Times New Roman"/>
              </a:rPr>
              <a:t>lar</a:t>
            </a:r>
            <a:r>
              <a:rPr sz="2900" spc="-10" dirty="0">
                <a:latin typeface="Times New Roman"/>
                <a:cs typeface="Times New Roman"/>
              </a:rPr>
              <a:t>e</a:t>
            </a:r>
            <a:r>
              <a:rPr sz="2900" dirty="0">
                <a:latin typeface="Times New Roman"/>
                <a:cs typeface="Times New Roman"/>
              </a:rPr>
              <a:t>s	a	</a:t>
            </a:r>
            <a:r>
              <a:rPr sz="2900" spc="-15" dirty="0">
                <a:latin typeface="Times New Roman"/>
                <a:cs typeface="Times New Roman"/>
              </a:rPr>
              <a:t>t</a:t>
            </a:r>
            <a:r>
              <a:rPr sz="2900" dirty="0">
                <a:latin typeface="Times New Roman"/>
                <a:cs typeface="Times New Roman"/>
              </a:rPr>
              <a:t>wo  </a:t>
            </a:r>
            <a:r>
              <a:rPr sz="2900" spc="-5" dirty="0">
                <a:latin typeface="Times New Roman"/>
                <a:cs typeface="Times New Roman"/>
              </a:rPr>
              <a:t>dimensional</a:t>
            </a:r>
            <a:r>
              <a:rPr sz="2900" spc="10" dirty="0">
                <a:latin typeface="Times New Roman"/>
                <a:cs typeface="Times New Roman"/>
              </a:rPr>
              <a:t> </a:t>
            </a:r>
            <a:r>
              <a:rPr sz="2900" dirty="0">
                <a:latin typeface="Times New Roman"/>
                <a:cs typeface="Times New Roman"/>
              </a:rPr>
              <a:t>array</a:t>
            </a:r>
            <a:r>
              <a:rPr sz="2900" spc="-20" dirty="0">
                <a:latin typeface="Times New Roman"/>
                <a:cs typeface="Times New Roman"/>
              </a:rPr>
              <a:t> </a:t>
            </a:r>
            <a:r>
              <a:rPr sz="2900" dirty="0">
                <a:latin typeface="Times New Roman"/>
                <a:cs typeface="Times New Roman"/>
              </a:rPr>
              <a:t>variable</a:t>
            </a:r>
            <a:r>
              <a:rPr sz="2900" spc="-30" dirty="0">
                <a:latin typeface="Times New Roman"/>
                <a:cs typeface="Times New Roman"/>
              </a:rPr>
              <a:t> </a:t>
            </a:r>
            <a:r>
              <a:rPr sz="2900" spc="-5" dirty="0">
                <a:latin typeface="Times New Roman"/>
                <a:cs typeface="Times New Roman"/>
              </a:rPr>
              <a:t>called</a:t>
            </a:r>
            <a:r>
              <a:rPr sz="2900" spc="5" dirty="0">
                <a:latin typeface="Times New Roman"/>
                <a:cs typeface="Times New Roman"/>
              </a:rPr>
              <a:t> </a:t>
            </a:r>
            <a:r>
              <a:rPr sz="2900" dirty="0">
                <a:latin typeface="Times New Roman"/>
                <a:cs typeface="Times New Roman"/>
              </a:rPr>
              <a:t>twoD.</a:t>
            </a:r>
          </a:p>
          <a:p>
            <a:pPr marL="332740" indent="-320675">
              <a:lnSpc>
                <a:spcPct val="100000"/>
              </a:lnSpc>
              <a:spcBef>
                <a:spcPts val="700"/>
              </a:spcBef>
              <a:buClr>
                <a:srgbClr val="DD8046"/>
              </a:buClr>
              <a:buSzPct val="60344"/>
              <a:buFont typeface="Wingdings"/>
              <a:buChar char=""/>
              <a:tabLst>
                <a:tab pos="333375" algn="l"/>
              </a:tabLst>
            </a:pPr>
            <a:r>
              <a:rPr sz="2900" b="1" dirty="0">
                <a:solidFill>
                  <a:srgbClr val="006FC0"/>
                </a:solidFill>
                <a:latin typeface="Times New Roman"/>
                <a:cs typeface="Times New Roman"/>
              </a:rPr>
              <a:t>int</a:t>
            </a:r>
            <a:r>
              <a:rPr sz="2900" b="1" spc="-25" dirty="0">
                <a:solidFill>
                  <a:srgbClr val="006FC0"/>
                </a:solidFill>
                <a:latin typeface="Times New Roman"/>
                <a:cs typeface="Times New Roman"/>
              </a:rPr>
              <a:t> </a:t>
            </a:r>
            <a:r>
              <a:rPr sz="2900" b="1" spc="-5" dirty="0">
                <a:solidFill>
                  <a:srgbClr val="006FC0"/>
                </a:solidFill>
                <a:latin typeface="Times New Roman"/>
                <a:cs typeface="Times New Roman"/>
              </a:rPr>
              <a:t>twoD[</a:t>
            </a:r>
            <a:r>
              <a:rPr sz="2900" b="1" dirty="0">
                <a:solidFill>
                  <a:srgbClr val="006FC0"/>
                </a:solidFill>
                <a:latin typeface="Times New Roman"/>
                <a:cs typeface="Times New Roman"/>
              </a:rPr>
              <a:t> ][</a:t>
            </a:r>
            <a:r>
              <a:rPr sz="2900" b="1" spc="-20" dirty="0">
                <a:solidFill>
                  <a:srgbClr val="006FC0"/>
                </a:solidFill>
                <a:latin typeface="Times New Roman"/>
                <a:cs typeface="Times New Roman"/>
              </a:rPr>
              <a:t> </a:t>
            </a:r>
            <a:r>
              <a:rPr sz="2900" b="1" dirty="0">
                <a:solidFill>
                  <a:srgbClr val="006FC0"/>
                </a:solidFill>
                <a:latin typeface="Times New Roman"/>
                <a:cs typeface="Times New Roman"/>
              </a:rPr>
              <a:t>]</a:t>
            </a:r>
            <a:r>
              <a:rPr sz="2900" b="1" spc="-10" dirty="0">
                <a:solidFill>
                  <a:srgbClr val="006FC0"/>
                </a:solidFill>
                <a:latin typeface="Times New Roman"/>
                <a:cs typeface="Times New Roman"/>
              </a:rPr>
              <a:t> </a:t>
            </a:r>
            <a:r>
              <a:rPr sz="2900" b="1" dirty="0">
                <a:solidFill>
                  <a:srgbClr val="006FC0"/>
                </a:solidFill>
                <a:latin typeface="Times New Roman"/>
                <a:cs typeface="Times New Roman"/>
              </a:rPr>
              <a:t>=</a:t>
            </a:r>
            <a:r>
              <a:rPr sz="2900" b="1" spc="-10" dirty="0">
                <a:solidFill>
                  <a:srgbClr val="006FC0"/>
                </a:solidFill>
                <a:latin typeface="Times New Roman"/>
                <a:cs typeface="Times New Roman"/>
              </a:rPr>
              <a:t> </a:t>
            </a:r>
            <a:r>
              <a:rPr sz="2900" b="1" dirty="0">
                <a:solidFill>
                  <a:srgbClr val="006FC0"/>
                </a:solidFill>
                <a:latin typeface="Times New Roman"/>
                <a:cs typeface="Times New Roman"/>
              </a:rPr>
              <a:t>new</a:t>
            </a:r>
            <a:r>
              <a:rPr sz="2900" b="1" spc="-15" dirty="0">
                <a:solidFill>
                  <a:srgbClr val="006FC0"/>
                </a:solidFill>
                <a:latin typeface="Times New Roman"/>
                <a:cs typeface="Times New Roman"/>
              </a:rPr>
              <a:t> </a:t>
            </a:r>
            <a:r>
              <a:rPr sz="2900" b="1" dirty="0">
                <a:solidFill>
                  <a:srgbClr val="006FC0"/>
                </a:solidFill>
                <a:latin typeface="Times New Roman"/>
                <a:cs typeface="Times New Roman"/>
              </a:rPr>
              <a:t>int[4][5</a:t>
            </a:r>
            <a:r>
              <a:rPr sz="2900" b="1" dirty="0" smtClean="0">
                <a:solidFill>
                  <a:srgbClr val="006FC0"/>
                </a:solidFill>
                <a:latin typeface="Times New Roman"/>
                <a:cs typeface="Times New Roman"/>
              </a:rPr>
              <a:t>];</a:t>
            </a:r>
            <a:endParaRPr lang="en-US" sz="2900" b="1" dirty="0" smtClean="0">
              <a:solidFill>
                <a:srgbClr val="006FC0"/>
              </a:solidFill>
              <a:latin typeface="Times New Roman"/>
              <a:cs typeface="Times New Roman"/>
            </a:endParaRPr>
          </a:p>
          <a:p>
            <a:pPr marL="332740" indent="-320675">
              <a:lnSpc>
                <a:spcPct val="100000"/>
              </a:lnSpc>
              <a:spcBef>
                <a:spcPts val="700"/>
              </a:spcBef>
              <a:buClr>
                <a:srgbClr val="DD8046"/>
              </a:buClr>
              <a:buSzPct val="60344"/>
              <a:buFont typeface="Wingdings"/>
              <a:buChar char=""/>
              <a:tabLst>
                <a:tab pos="333375" algn="l"/>
              </a:tabLst>
            </a:pPr>
            <a:r>
              <a:rPr lang="en-US" sz="2900" b="1" dirty="0">
                <a:solidFill>
                  <a:srgbClr val="006FC0"/>
                </a:solidFill>
                <a:latin typeface="Times New Roman"/>
                <a:cs typeface="Times New Roman"/>
              </a:rPr>
              <a:t>i</a:t>
            </a:r>
            <a:r>
              <a:rPr lang="en-US" sz="2900" b="1" dirty="0" smtClean="0">
                <a:solidFill>
                  <a:srgbClr val="006FC0"/>
                </a:solidFill>
                <a:latin typeface="Times New Roman"/>
                <a:cs typeface="Times New Roman"/>
              </a:rPr>
              <a:t>nt [][] twoD=new int[4][5];</a:t>
            </a:r>
            <a:endParaRPr sz="2900" dirty="0">
              <a:latin typeface="Times New Roman"/>
              <a:cs typeface="Times New Roman"/>
            </a:endParaRPr>
          </a:p>
          <a:p>
            <a:pPr marL="332740" indent="-320675">
              <a:lnSpc>
                <a:spcPct val="100000"/>
              </a:lnSpc>
              <a:spcBef>
                <a:spcPts val="695"/>
              </a:spcBef>
              <a:buClr>
                <a:srgbClr val="DD8046"/>
              </a:buClr>
              <a:buSzPct val="60344"/>
              <a:buFont typeface="Wingdings"/>
              <a:buChar char=""/>
              <a:tabLst>
                <a:tab pos="333375" algn="l"/>
              </a:tabLst>
            </a:pPr>
            <a:r>
              <a:rPr sz="2900" dirty="0">
                <a:latin typeface="Times New Roman"/>
                <a:cs typeface="Times New Roman"/>
              </a:rPr>
              <a:t>This</a:t>
            </a:r>
            <a:r>
              <a:rPr sz="2900" spc="-15" dirty="0">
                <a:latin typeface="Times New Roman"/>
                <a:cs typeface="Times New Roman"/>
              </a:rPr>
              <a:t> </a:t>
            </a:r>
            <a:r>
              <a:rPr sz="2900" spc="-5" dirty="0">
                <a:latin typeface="Times New Roman"/>
                <a:cs typeface="Times New Roman"/>
              </a:rPr>
              <a:t>allocates</a:t>
            </a:r>
            <a:r>
              <a:rPr sz="2900" spc="-10" dirty="0">
                <a:latin typeface="Times New Roman"/>
                <a:cs typeface="Times New Roman"/>
              </a:rPr>
              <a:t> </a:t>
            </a:r>
            <a:r>
              <a:rPr sz="2900" dirty="0">
                <a:latin typeface="Times New Roman"/>
                <a:cs typeface="Times New Roman"/>
              </a:rPr>
              <a:t>a</a:t>
            </a:r>
            <a:r>
              <a:rPr sz="2900" spc="-15" dirty="0">
                <a:latin typeface="Times New Roman"/>
                <a:cs typeface="Times New Roman"/>
              </a:rPr>
              <a:t> </a:t>
            </a:r>
            <a:r>
              <a:rPr sz="2900" dirty="0">
                <a:latin typeface="Times New Roman"/>
                <a:cs typeface="Times New Roman"/>
              </a:rPr>
              <a:t>4</a:t>
            </a:r>
            <a:r>
              <a:rPr sz="2900" spc="10" dirty="0">
                <a:latin typeface="Times New Roman"/>
                <a:cs typeface="Times New Roman"/>
              </a:rPr>
              <a:t> </a:t>
            </a:r>
            <a:r>
              <a:rPr sz="2900" dirty="0">
                <a:latin typeface="Times New Roman"/>
                <a:cs typeface="Times New Roman"/>
              </a:rPr>
              <a:t>by</a:t>
            </a:r>
            <a:r>
              <a:rPr sz="2900" spc="-10" dirty="0">
                <a:latin typeface="Times New Roman"/>
                <a:cs typeface="Times New Roman"/>
              </a:rPr>
              <a:t> </a:t>
            </a:r>
            <a:r>
              <a:rPr sz="2900" dirty="0">
                <a:latin typeface="Times New Roman"/>
                <a:cs typeface="Times New Roman"/>
              </a:rPr>
              <a:t>5</a:t>
            </a:r>
            <a:r>
              <a:rPr sz="2900" spc="-10" dirty="0">
                <a:latin typeface="Times New Roman"/>
                <a:cs typeface="Times New Roman"/>
              </a:rPr>
              <a:t> </a:t>
            </a:r>
            <a:r>
              <a:rPr sz="2900" dirty="0">
                <a:latin typeface="Times New Roman"/>
                <a:cs typeface="Times New Roman"/>
              </a:rPr>
              <a:t>array</a:t>
            </a:r>
            <a:r>
              <a:rPr sz="2900" spc="-25" dirty="0">
                <a:latin typeface="Times New Roman"/>
                <a:cs typeface="Times New Roman"/>
              </a:rPr>
              <a:t> </a:t>
            </a:r>
            <a:r>
              <a:rPr sz="2900" dirty="0">
                <a:latin typeface="Times New Roman"/>
                <a:cs typeface="Times New Roman"/>
              </a:rPr>
              <a:t>and </a:t>
            </a:r>
            <a:r>
              <a:rPr sz="2900" spc="-5" dirty="0">
                <a:latin typeface="Times New Roman"/>
                <a:cs typeface="Times New Roman"/>
              </a:rPr>
              <a:t>assigns</a:t>
            </a:r>
            <a:r>
              <a:rPr sz="2900" spc="-20" dirty="0">
                <a:latin typeface="Times New Roman"/>
                <a:cs typeface="Times New Roman"/>
              </a:rPr>
              <a:t> </a:t>
            </a:r>
            <a:r>
              <a:rPr sz="2900" spc="-5" dirty="0">
                <a:latin typeface="Times New Roman"/>
                <a:cs typeface="Times New Roman"/>
              </a:rPr>
              <a:t>it</a:t>
            </a:r>
            <a:r>
              <a:rPr sz="2900" spc="-10" dirty="0">
                <a:latin typeface="Times New Roman"/>
                <a:cs typeface="Times New Roman"/>
              </a:rPr>
              <a:t> </a:t>
            </a:r>
            <a:r>
              <a:rPr sz="2900" dirty="0">
                <a:latin typeface="Times New Roman"/>
                <a:cs typeface="Times New Roman"/>
              </a:rPr>
              <a:t>to</a:t>
            </a:r>
            <a:r>
              <a:rPr sz="2900" spc="-5" dirty="0">
                <a:latin typeface="Times New Roman"/>
                <a:cs typeface="Times New Roman"/>
              </a:rPr>
              <a:t> </a:t>
            </a:r>
            <a:r>
              <a:rPr sz="2900" dirty="0">
                <a:latin typeface="Times New Roman"/>
                <a:cs typeface="Times New Roman"/>
              </a:rPr>
              <a:t>twoD.</a:t>
            </a:r>
          </a:p>
          <a:p>
            <a:pPr marL="332740" marR="5080" indent="-320675">
              <a:lnSpc>
                <a:spcPct val="100000"/>
              </a:lnSpc>
              <a:spcBef>
                <a:spcPts val="710"/>
              </a:spcBef>
              <a:buClr>
                <a:srgbClr val="DD8046"/>
              </a:buClr>
              <a:buSzPct val="60344"/>
              <a:buFont typeface="Wingdings"/>
              <a:buChar char=""/>
              <a:tabLst>
                <a:tab pos="333375" algn="l"/>
              </a:tabLst>
            </a:pPr>
            <a:r>
              <a:rPr sz="2900" spc="-5" dirty="0">
                <a:latin typeface="Times New Roman"/>
                <a:cs typeface="Times New Roman"/>
              </a:rPr>
              <a:t>Internally</a:t>
            </a:r>
            <a:r>
              <a:rPr sz="2900" spc="100" dirty="0">
                <a:latin typeface="Times New Roman"/>
                <a:cs typeface="Times New Roman"/>
              </a:rPr>
              <a:t> </a:t>
            </a:r>
            <a:r>
              <a:rPr sz="2900" dirty="0">
                <a:latin typeface="Times New Roman"/>
                <a:cs typeface="Times New Roman"/>
              </a:rPr>
              <a:t>this</a:t>
            </a:r>
            <a:r>
              <a:rPr sz="2900" spc="110" dirty="0">
                <a:latin typeface="Times New Roman"/>
                <a:cs typeface="Times New Roman"/>
              </a:rPr>
              <a:t> </a:t>
            </a:r>
            <a:r>
              <a:rPr sz="2900" spc="-10" dirty="0">
                <a:latin typeface="Times New Roman"/>
                <a:cs typeface="Times New Roman"/>
              </a:rPr>
              <a:t>matrix</a:t>
            </a:r>
            <a:r>
              <a:rPr sz="2900" spc="114" dirty="0">
                <a:latin typeface="Times New Roman"/>
                <a:cs typeface="Times New Roman"/>
              </a:rPr>
              <a:t> </a:t>
            </a:r>
            <a:r>
              <a:rPr sz="2900" spc="-5" dirty="0">
                <a:latin typeface="Times New Roman"/>
                <a:cs typeface="Times New Roman"/>
              </a:rPr>
              <a:t>is</a:t>
            </a:r>
            <a:r>
              <a:rPr sz="2900" spc="105" dirty="0">
                <a:latin typeface="Times New Roman"/>
                <a:cs typeface="Times New Roman"/>
              </a:rPr>
              <a:t> </a:t>
            </a:r>
            <a:r>
              <a:rPr sz="2900" spc="-5" dirty="0">
                <a:latin typeface="Times New Roman"/>
                <a:cs typeface="Times New Roman"/>
              </a:rPr>
              <a:t>implemented</a:t>
            </a:r>
            <a:r>
              <a:rPr sz="2900" spc="100" dirty="0">
                <a:latin typeface="Times New Roman"/>
                <a:cs typeface="Times New Roman"/>
              </a:rPr>
              <a:t> </a:t>
            </a:r>
            <a:r>
              <a:rPr sz="2900" spc="-5" dirty="0">
                <a:latin typeface="Times New Roman"/>
                <a:cs typeface="Times New Roman"/>
              </a:rPr>
              <a:t>as</a:t>
            </a:r>
            <a:r>
              <a:rPr sz="2900" spc="110" dirty="0">
                <a:latin typeface="Times New Roman"/>
                <a:cs typeface="Times New Roman"/>
              </a:rPr>
              <a:t> </a:t>
            </a:r>
            <a:r>
              <a:rPr sz="2900" spc="-5" dirty="0">
                <a:latin typeface="Times New Roman"/>
                <a:cs typeface="Times New Roman"/>
              </a:rPr>
              <a:t>an</a:t>
            </a:r>
            <a:r>
              <a:rPr sz="2900" spc="110" dirty="0">
                <a:latin typeface="Times New Roman"/>
                <a:cs typeface="Times New Roman"/>
              </a:rPr>
              <a:t> </a:t>
            </a:r>
            <a:r>
              <a:rPr sz="2900" dirty="0">
                <a:latin typeface="Times New Roman"/>
                <a:cs typeface="Times New Roman"/>
              </a:rPr>
              <a:t>array</a:t>
            </a:r>
            <a:r>
              <a:rPr sz="2900" spc="100" dirty="0">
                <a:latin typeface="Times New Roman"/>
                <a:cs typeface="Times New Roman"/>
              </a:rPr>
              <a:t> </a:t>
            </a:r>
            <a:r>
              <a:rPr sz="2900" dirty="0">
                <a:latin typeface="Times New Roman"/>
                <a:cs typeface="Times New Roman"/>
              </a:rPr>
              <a:t>of </a:t>
            </a:r>
            <a:r>
              <a:rPr sz="2900" spc="-710" dirty="0">
                <a:latin typeface="Times New Roman"/>
                <a:cs typeface="Times New Roman"/>
              </a:rPr>
              <a:t> </a:t>
            </a:r>
            <a:r>
              <a:rPr sz="2900" dirty="0">
                <a:latin typeface="Times New Roman"/>
                <a:cs typeface="Times New Roman"/>
              </a:rPr>
              <a:t>arrays</a:t>
            </a:r>
            <a:r>
              <a:rPr sz="2900" spc="-30" dirty="0">
                <a:latin typeface="Times New Roman"/>
                <a:cs typeface="Times New Roman"/>
              </a:rPr>
              <a:t> </a:t>
            </a:r>
            <a:r>
              <a:rPr sz="2900" dirty="0">
                <a:latin typeface="Times New Roman"/>
                <a:cs typeface="Times New Roman"/>
              </a:rPr>
              <a:t>of</a:t>
            </a:r>
            <a:r>
              <a:rPr sz="2900" spc="-15" dirty="0">
                <a:latin typeface="Times New Roman"/>
                <a:cs typeface="Times New Roman"/>
              </a:rPr>
              <a:t> </a:t>
            </a:r>
            <a:r>
              <a:rPr sz="2900" dirty="0">
                <a:latin typeface="Times New Roman"/>
                <a:cs typeface="Times New Roman"/>
              </a:rPr>
              <a:t>int.</a:t>
            </a: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60</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5634355" cy="696595"/>
          </a:xfrm>
          <a:prstGeom prst="rect">
            <a:avLst/>
          </a:prstGeom>
        </p:spPr>
        <p:txBody>
          <a:bodyPr vert="horz" wrap="square" lIns="0" tIns="13335" rIns="0" bIns="0" rtlCol="0">
            <a:spAutoFit/>
          </a:bodyPr>
          <a:lstStyle/>
          <a:p>
            <a:pPr marL="12700">
              <a:lnSpc>
                <a:spcPct val="100000"/>
              </a:lnSpc>
              <a:spcBef>
                <a:spcPts val="105"/>
              </a:spcBef>
            </a:pPr>
            <a:r>
              <a:rPr sz="4400" dirty="0"/>
              <a:t>Multi</a:t>
            </a:r>
            <a:r>
              <a:rPr sz="4400" spc="5" dirty="0"/>
              <a:t>d</a:t>
            </a:r>
            <a:r>
              <a:rPr sz="4400" dirty="0"/>
              <a:t>imensi</a:t>
            </a:r>
            <a:r>
              <a:rPr sz="4400" spc="15" dirty="0"/>
              <a:t>o</a:t>
            </a:r>
            <a:r>
              <a:rPr sz="4400" dirty="0"/>
              <a:t>nal</a:t>
            </a:r>
            <a:r>
              <a:rPr sz="4400" spc="-275" dirty="0"/>
              <a:t> </a:t>
            </a:r>
            <a:r>
              <a:rPr sz="4400" dirty="0"/>
              <a:t>Arra</a:t>
            </a:r>
            <a:r>
              <a:rPr sz="4400" spc="5" dirty="0"/>
              <a:t>y</a:t>
            </a:r>
            <a:r>
              <a:rPr sz="4400" dirty="0"/>
              <a:t>s</a:t>
            </a:r>
            <a:endParaRPr sz="4400"/>
          </a:p>
        </p:txBody>
      </p:sp>
      <p:sp>
        <p:nvSpPr>
          <p:cNvPr id="3" name="object 3"/>
          <p:cNvSpPr txBox="1"/>
          <p:nvPr/>
        </p:nvSpPr>
        <p:spPr>
          <a:xfrm>
            <a:off x="691387" y="1620138"/>
            <a:ext cx="7996555" cy="909955"/>
          </a:xfrm>
          <a:prstGeom prst="rect">
            <a:avLst/>
          </a:prstGeom>
        </p:spPr>
        <p:txBody>
          <a:bodyPr vert="horz" wrap="square" lIns="0" tIns="13335" rIns="0" bIns="0" rtlCol="0">
            <a:spAutoFit/>
          </a:bodyPr>
          <a:lstStyle/>
          <a:p>
            <a:pPr marL="332740" marR="5080" indent="-320675">
              <a:lnSpc>
                <a:spcPct val="100000"/>
              </a:lnSpc>
              <a:spcBef>
                <a:spcPts val="105"/>
              </a:spcBef>
              <a:buClr>
                <a:srgbClr val="DD8046"/>
              </a:buClr>
              <a:buSzPct val="60344"/>
              <a:buFont typeface="Wingdings"/>
              <a:buChar char=""/>
              <a:tabLst>
                <a:tab pos="333375" algn="l"/>
                <a:tab pos="2590165" algn="l"/>
                <a:tab pos="3344545" algn="l"/>
                <a:tab pos="4326255" algn="l"/>
                <a:tab pos="5121910" algn="l"/>
                <a:tab pos="6001385" algn="l"/>
                <a:tab pos="6777355" algn="l"/>
                <a:tab pos="7452359" algn="l"/>
              </a:tabLst>
            </a:pPr>
            <a:r>
              <a:rPr sz="2900" dirty="0">
                <a:latin typeface="Times New Roman"/>
                <a:cs typeface="Times New Roman"/>
              </a:rPr>
              <a:t>Con</a:t>
            </a:r>
            <a:r>
              <a:rPr sz="2900" spc="-15" dirty="0">
                <a:latin typeface="Times New Roman"/>
                <a:cs typeface="Times New Roman"/>
              </a:rPr>
              <a:t>c</a:t>
            </a:r>
            <a:r>
              <a:rPr sz="2900" dirty="0">
                <a:latin typeface="Times New Roman"/>
                <a:cs typeface="Times New Roman"/>
              </a:rPr>
              <a:t>eptu</a:t>
            </a:r>
            <a:r>
              <a:rPr sz="2900" spc="-15" dirty="0">
                <a:latin typeface="Times New Roman"/>
                <a:cs typeface="Times New Roman"/>
              </a:rPr>
              <a:t>a</a:t>
            </a:r>
            <a:r>
              <a:rPr sz="2900" dirty="0">
                <a:latin typeface="Times New Roman"/>
                <a:cs typeface="Times New Roman"/>
              </a:rPr>
              <a:t>ll</a:t>
            </a:r>
            <a:r>
              <a:rPr sz="2900" spc="-200" dirty="0">
                <a:latin typeface="Times New Roman"/>
                <a:cs typeface="Times New Roman"/>
              </a:rPr>
              <a:t>y</a:t>
            </a:r>
            <a:r>
              <a:rPr sz="2900" dirty="0">
                <a:latin typeface="Times New Roman"/>
                <a:cs typeface="Times New Roman"/>
              </a:rPr>
              <a:t>,	</a:t>
            </a:r>
            <a:r>
              <a:rPr sz="2900" spc="-15" dirty="0">
                <a:latin typeface="Times New Roman"/>
                <a:cs typeface="Times New Roman"/>
              </a:rPr>
              <a:t>t</a:t>
            </a:r>
            <a:r>
              <a:rPr sz="2900" dirty="0">
                <a:latin typeface="Times New Roman"/>
                <a:cs typeface="Times New Roman"/>
              </a:rPr>
              <a:t>his	a</a:t>
            </a:r>
            <a:r>
              <a:rPr sz="2900" spc="-15" dirty="0">
                <a:latin typeface="Times New Roman"/>
                <a:cs typeface="Times New Roman"/>
              </a:rPr>
              <a:t>r</a:t>
            </a:r>
            <a:r>
              <a:rPr sz="2900" dirty="0">
                <a:latin typeface="Times New Roman"/>
                <a:cs typeface="Times New Roman"/>
              </a:rPr>
              <a:t>ray	w</a:t>
            </a:r>
            <a:r>
              <a:rPr sz="2900" spc="-15" dirty="0">
                <a:latin typeface="Times New Roman"/>
                <a:cs typeface="Times New Roman"/>
              </a:rPr>
              <a:t>i</a:t>
            </a:r>
            <a:r>
              <a:rPr sz="2900" dirty="0">
                <a:latin typeface="Times New Roman"/>
                <a:cs typeface="Times New Roman"/>
              </a:rPr>
              <a:t>ll	look	</a:t>
            </a:r>
            <a:r>
              <a:rPr sz="2900" spc="-15" dirty="0">
                <a:latin typeface="Times New Roman"/>
                <a:cs typeface="Times New Roman"/>
              </a:rPr>
              <a:t>l</a:t>
            </a:r>
            <a:r>
              <a:rPr sz="2900" dirty="0">
                <a:latin typeface="Times New Roman"/>
                <a:cs typeface="Times New Roman"/>
              </a:rPr>
              <a:t>ike	the	</a:t>
            </a:r>
            <a:r>
              <a:rPr sz="2900" spc="-15" dirty="0">
                <a:latin typeface="Times New Roman"/>
                <a:cs typeface="Times New Roman"/>
              </a:rPr>
              <a:t>o</a:t>
            </a:r>
            <a:r>
              <a:rPr sz="2900" dirty="0">
                <a:latin typeface="Times New Roman"/>
                <a:cs typeface="Times New Roman"/>
              </a:rPr>
              <a:t>ne  shown</a:t>
            </a:r>
            <a:r>
              <a:rPr sz="2900" spc="-10" dirty="0">
                <a:latin typeface="Times New Roman"/>
                <a:cs typeface="Times New Roman"/>
              </a:rPr>
              <a:t> </a:t>
            </a:r>
            <a:r>
              <a:rPr sz="2900" spc="-5" dirty="0">
                <a:latin typeface="Times New Roman"/>
                <a:cs typeface="Times New Roman"/>
              </a:rPr>
              <a:t>in </a:t>
            </a:r>
            <a:r>
              <a:rPr sz="2900" dirty="0">
                <a:latin typeface="Times New Roman"/>
                <a:cs typeface="Times New Roman"/>
              </a:rPr>
              <a:t>Figure.</a:t>
            </a:r>
            <a:endParaRPr sz="2900">
              <a:latin typeface="Times New Roman"/>
              <a:cs typeface="Times New Roman"/>
            </a:endParaRPr>
          </a:p>
        </p:txBody>
      </p:sp>
      <p:pic>
        <p:nvPicPr>
          <p:cNvPr id="4" name="object 4"/>
          <p:cNvPicPr/>
          <p:nvPr/>
        </p:nvPicPr>
        <p:blipFill>
          <a:blip r:embed="rId2" cstate="print"/>
          <a:stretch>
            <a:fillRect/>
          </a:stretch>
        </p:blipFill>
        <p:spPr>
          <a:xfrm>
            <a:off x="2133600" y="2511551"/>
            <a:ext cx="6237732" cy="4149852"/>
          </a:xfrm>
          <a:prstGeom prst="rect">
            <a:avLst/>
          </a:prstGeom>
        </p:spPr>
      </p:pic>
      <p:sp>
        <p:nvSpPr>
          <p:cNvPr id="5" name="object 5"/>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61</a:t>
            </a:r>
            <a:endParaRPr sz="1200">
              <a:latin typeface="Times New Roman"/>
              <a:cs typeface="Times New Roman"/>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33655">
              <a:lnSpc>
                <a:spcPct val="100000"/>
              </a:lnSpc>
              <a:spcBef>
                <a:spcPts val="95"/>
              </a:spcBef>
            </a:pPr>
            <a:r>
              <a:rPr spc="-5" dirty="0"/>
              <a:t>Demonstrate</a:t>
            </a:r>
            <a:r>
              <a:rPr spc="20" dirty="0"/>
              <a:t> </a:t>
            </a:r>
            <a:r>
              <a:rPr spc="-5" dirty="0"/>
              <a:t>a</a:t>
            </a:r>
            <a:r>
              <a:rPr spc="10" dirty="0"/>
              <a:t> </a:t>
            </a:r>
            <a:r>
              <a:rPr spc="-5" dirty="0"/>
              <a:t>two-dimensional</a:t>
            </a:r>
            <a:r>
              <a:rPr spc="5" dirty="0"/>
              <a:t> </a:t>
            </a:r>
            <a:r>
              <a:rPr spc="-45" dirty="0"/>
              <a:t>array.</a:t>
            </a:r>
          </a:p>
        </p:txBody>
      </p:sp>
      <p:sp>
        <p:nvSpPr>
          <p:cNvPr id="3" name="object 3"/>
          <p:cNvSpPr txBox="1"/>
          <p:nvPr/>
        </p:nvSpPr>
        <p:spPr>
          <a:xfrm>
            <a:off x="307340" y="1536792"/>
            <a:ext cx="6094730" cy="4653280"/>
          </a:xfrm>
          <a:prstGeom prst="rect">
            <a:avLst/>
          </a:prstGeom>
        </p:spPr>
        <p:txBody>
          <a:bodyPr vert="horz" wrap="square" lIns="0" tIns="46990" rIns="0" bIns="0" rtlCol="0">
            <a:spAutoFit/>
          </a:bodyPr>
          <a:lstStyle/>
          <a:p>
            <a:pPr marL="12700">
              <a:lnSpc>
                <a:spcPct val="100000"/>
              </a:lnSpc>
              <a:spcBef>
                <a:spcPts val="370"/>
              </a:spcBef>
            </a:pPr>
            <a:r>
              <a:rPr sz="1800" dirty="0">
                <a:latin typeface="Times New Roman"/>
                <a:cs typeface="Times New Roman"/>
              </a:rPr>
              <a:t>class</a:t>
            </a:r>
            <a:r>
              <a:rPr sz="1800" spc="-70" dirty="0">
                <a:latin typeface="Times New Roman"/>
                <a:cs typeface="Times New Roman"/>
              </a:rPr>
              <a:t> </a:t>
            </a:r>
            <a:r>
              <a:rPr sz="1800" spc="-15" dirty="0">
                <a:latin typeface="Times New Roman"/>
                <a:cs typeface="Times New Roman"/>
              </a:rPr>
              <a:t>TwoDArray</a:t>
            </a:r>
            <a:r>
              <a:rPr sz="1800" spc="-40" dirty="0">
                <a:latin typeface="Times New Roman"/>
                <a:cs typeface="Times New Roman"/>
              </a:rPr>
              <a:t> </a:t>
            </a:r>
            <a:r>
              <a:rPr sz="1800" dirty="0">
                <a:latin typeface="Times New Roman"/>
                <a:cs typeface="Times New Roman"/>
              </a:rPr>
              <a:t>{</a:t>
            </a:r>
          </a:p>
          <a:p>
            <a:pPr marL="927100" indent="-915035">
              <a:lnSpc>
                <a:spcPct val="100000"/>
              </a:lnSpc>
              <a:spcBef>
                <a:spcPts val="265"/>
              </a:spcBef>
            </a:pPr>
            <a:r>
              <a:rPr sz="1800" dirty="0">
                <a:latin typeface="Times New Roman"/>
                <a:cs typeface="Times New Roman"/>
              </a:rPr>
              <a:t>public</a:t>
            </a:r>
            <a:r>
              <a:rPr sz="1800" spc="-20" dirty="0">
                <a:latin typeface="Times New Roman"/>
                <a:cs typeface="Times New Roman"/>
              </a:rPr>
              <a:t> </a:t>
            </a:r>
            <a:r>
              <a:rPr sz="1800" dirty="0">
                <a:latin typeface="Times New Roman"/>
                <a:cs typeface="Times New Roman"/>
              </a:rPr>
              <a:t>static</a:t>
            </a:r>
            <a:r>
              <a:rPr sz="1800" spc="-5" dirty="0">
                <a:latin typeface="Times New Roman"/>
                <a:cs typeface="Times New Roman"/>
              </a:rPr>
              <a:t> </a:t>
            </a:r>
            <a:r>
              <a:rPr sz="1800" dirty="0">
                <a:latin typeface="Times New Roman"/>
                <a:cs typeface="Times New Roman"/>
              </a:rPr>
              <a:t>void</a:t>
            </a:r>
            <a:r>
              <a:rPr sz="1800" spc="-5" dirty="0">
                <a:latin typeface="Times New Roman"/>
                <a:cs typeface="Times New Roman"/>
              </a:rPr>
              <a:t> main(String</a:t>
            </a:r>
            <a:r>
              <a:rPr sz="1800" spc="5" dirty="0">
                <a:latin typeface="Times New Roman"/>
                <a:cs typeface="Times New Roman"/>
              </a:rPr>
              <a:t> </a:t>
            </a:r>
            <a:r>
              <a:rPr sz="1800" spc="-10" dirty="0">
                <a:latin typeface="Times New Roman"/>
                <a:cs typeface="Times New Roman"/>
              </a:rPr>
              <a:t>args[])</a:t>
            </a:r>
            <a:r>
              <a:rPr sz="1800" spc="10" dirty="0">
                <a:latin typeface="Times New Roman"/>
                <a:cs typeface="Times New Roman"/>
              </a:rPr>
              <a:t> </a:t>
            </a:r>
            <a:r>
              <a:rPr sz="1800" dirty="0">
                <a:latin typeface="Times New Roman"/>
                <a:cs typeface="Times New Roman"/>
              </a:rPr>
              <a:t>{</a:t>
            </a:r>
          </a:p>
          <a:p>
            <a:pPr marL="927100" marR="2587625">
              <a:lnSpc>
                <a:spcPct val="112200"/>
              </a:lnSpc>
              <a:spcBef>
                <a:spcPts val="10"/>
              </a:spcBef>
            </a:pPr>
            <a:r>
              <a:rPr sz="1800" dirty="0">
                <a:latin typeface="Times New Roman"/>
                <a:cs typeface="Times New Roman"/>
              </a:rPr>
              <a:t>int</a:t>
            </a:r>
            <a:r>
              <a:rPr sz="1800" spc="-25" dirty="0">
                <a:latin typeface="Times New Roman"/>
                <a:cs typeface="Times New Roman"/>
              </a:rPr>
              <a:t> </a:t>
            </a:r>
            <a:r>
              <a:rPr sz="1800" spc="-5" dirty="0">
                <a:latin typeface="Times New Roman"/>
                <a:cs typeface="Times New Roman"/>
              </a:rPr>
              <a:t>twoD[][]=</a:t>
            </a:r>
            <a:r>
              <a:rPr sz="1800" dirty="0">
                <a:latin typeface="Times New Roman"/>
                <a:cs typeface="Times New Roman"/>
              </a:rPr>
              <a:t> new</a:t>
            </a:r>
            <a:r>
              <a:rPr sz="1800" spc="-15" dirty="0">
                <a:latin typeface="Times New Roman"/>
                <a:cs typeface="Times New Roman"/>
              </a:rPr>
              <a:t> </a:t>
            </a:r>
            <a:r>
              <a:rPr sz="1800" spc="-5" dirty="0">
                <a:latin typeface="Times New Roman"/>
                <a:cs typeface="Times New Roman"/>
              </a:rPr>
              <a:t>int[4][5]; </a:t>
            </a:r>
            <a:r>
              <a:rPr sz="1800" spc="-434" dirty="0">
                <a:latin typeface="Times New Roman"/>
                <a:cs typeface="Times New Roman"/>
              </a:rPr>
              <a:t> </a:t>
            </a:r>
            <a:r>
              <a:rPr sz="1800" dirty="0">
                <a:latin typeface="Times New Roman"/>
                <a:cs typeface="Times New Roman"/>
              </a:rPr>
              <a:t>int</a:t>
            </a:r>
            <a:r>
              <a:rPr sz="1800" spc="-5" dirty="0">
                <a:latin typeface="Times New Roman"/>
                <a:cs typeface="Times New Roman"/>
              </a:rPr>
              <a:t> </a:t>
            </a:r>
            <a:r>
              <a:rPr sz="1800" dirty="0">
                <a:latin typeface="Times New Roman"/>
                <a:cs typeface="Times New Roman"/>
              </a:rPr>
              <a:t>i,</a:t>
            </a:r>
            <a:r>
              <a:rPr sz="1800" spc="-20" dirty="0">
                <a:latin typeface="Times New Roman"/>
                <a:cs typeface="Times New Roman"/>
              </a:rPr>
              <a:t> </a:t>
            </a:r>
            <a:r>
              <a:rPr sz="1800" dirty="0">
                <a:latin typeface="Times New Roman"/>
                <a:cs typeface="Times New Roman"/>
              </a:rPr>
              <a:t>j,</a:t>
            </a:r>
            <a:r>
              <a:rPr sz="1800" spc="-5" dirty="0">
                <a:latin typeface="Times New Roman"/>
                <a:cs typeface="Times New Roman"/>
              </a:rPr>
              <a:t> </a:t>
            </a:r>
            <a:r>
              <a:rPr sz="1800" dirty="0">
                <a:latin typeface="Times New Roman"/>
                <a:cs typeface="Times New Roman"/>
              </a:rPr>
              <a:t>k =</a:t>
            </a:r>
            <a:r>
              <a:rPr sz="1800" spc="-5" dirty="0">
                <a:latin typeface="Times New Roman"/>
                <a:cs typeface="Times New Roman"/>
              </a:rPr>
              <a:t> </a:t>
            </a:r>
            <a:r>
              <a:rPr sz="1800" dirty="0">
                <a:latin typeface="Times New Roman"/>
                <a:cs typeface="Times New Roman"/>
              </a:rPr>
              <a:t>0;</a:t>
            </a:r>
          </a:p>
          <a:p>
            <a:pPr marL="927100">
              <a:lnSpc>
                <a:spcPct val="100000"/>
              </a:lnSpc>
              <a:spcBef>
                <a:spcPts val="265"/>
              </a:spcBef>
            </a:pPr>
            <a:r>
              <a:rPr sz="1800" spc="-5" dirty="0">
                <a:latin typeface="Times New Roman"/>
                <a:cs typeface="Times New Roman"/>
              </a:rPr>
              <a:t>for(i=0;</a:t>
            </a:r>
            <a:r>
              <a:rPr sz="1800" spc="-30" dirty="0">
                <a:latin typeface="Times New Roman"/>
                <a:cs typeface="Times New Roman"/>
              </a:rPr>
              <a:t> </a:t>
            </a:r>
            <a:r>
              <a:rPr sz="1800" dirty="0">
                <a:latin typeface="Times New Roman"/>
                <a:cs typeface="Times New Roman"/>
              </a:rPr>
              <a:t>i&lt;4;</a:t>
            </a:r>
            <a:r>
              <a:rPr sz="1800" spc="-30" dirty="0">
                <a:latin typeface="Times New Roman"/>
                <a:cs typeface="Times New Roman"/>
              </a:rPr>
              <a:t> </a:t>
            </a:r>
            <a:r>
              <a:rPr sz="1800" dirty="0">
                <a:latin typeface="Times New Roman"/>
                <a:cs typeface="Times New Roman"/>
              </a:rPr>
              <a:t>i++)</a:t>
            </a:r>
          </a:p>
          <a:p>
            <a:pPr marL="1841500">
              <a:lnSpc>
                <a:spcPct val="100000"/>
              </a:lnSpc>
              <a:spcBef>
                <a:spcPts val="280"/>
              </a:spcBef>
            </a:pPr>
            <a:r>
              <a:rPr sz="1800" dirty="0">
                <a:latin typeface="Times New Roman"/>
                <a:cs typeface="Times New Roman"/>
              </a:rPr>
              <a:t>for(j=0;</a:t>
            </a:r>
            <a:r>
              <a:rPr sz="1800" spc="-35" dirty="0">
                <a:latin typeface="Times New Roman"/>
                <a:cs typeface="Times New Roman"/>
              </a:rPr>
              <a:t> </a:t>
            </a:r>
            <a:r>
              <a:rPr sz="1800" dirty="0">
                <a:latin typeface="Times New Roman"/>
                <a:cs typeface="Times New Roman"/>
              </a:rPr>
              <a:t>j&lt;5;</a:t>
            </a:r>
            <a:r>
              <a:rPr sz="1800" spc="-30" dirty="0">
                <a:latin typeface="Times New Roman"/>
                <a:cs typeface="Times New Roman"/>
              </a:rPr>
              <a:t> </a:t>
            </a:r>
            <a:r>
              <a:rPr sz="1800" dirty="0">
                <a:latin typeface="Times New Roman"/>
                <a:cs typeface="Times New Roman"/>
              </a:rPr>
              <a:t>j++)</a:t>
            </a:r>
            <a:r>
              <a:rPr sz="1800" spc="-40" dirty="0">
                <a:latin typeface="Times New Roman"/>
                <a:cs typeface="Times New Roman"/>
              </a:rPr>
              <a:t> </a:t>
            </a:r>
            <a:r>
              <a:rPr sz="1800" dirty="0">
                <a:latin typeface="Times New Roman"/>
                <a:cs typeface="Times New Roman"/>
              </a:rPr>
              <a:t>{</a:t>
            </a:r>
          </a:p>
          <a:p>
            <a:pPr marL="2756535" marR="1969770">
              <a:lnSpc>
                <a:spcPct val="112200"/>
              </a:lnSpc>
            </a:pPr>
            <a:r>
              <a:rPr sz="1800" spc="-5" dirty="0">
                <a:latin typeface="Times New Roman"/>
                <a:cs typeface="Times New Roman"/>
              </a:rPr>
              <a:t>twoD[i][j]</a:t>
            </a:r>
            <a:r>
              <a:rPr sz="1800" spc="-30" dirty="0">
                <a:latin typeface="Times New Roman"/>
                <a:cs typeface="Times New Roman"/>
              </a:rPr>
              <a:t> </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k; </a:t>
            </a:r>
            <a:r>
              <a:rPr sz="1800" spc="-434" dirty="0">
                <a:latin typeface="Times New Roman"/>
                <a:cs typeface="Times New Roman"/>
              </a:rPr>
              <a:t> </a:t>
            </a:r>
            <a:r>
              <a:rPr sz="1800" dirty="0">
                <a:latin typeface="Times New Roman"/>
                <a:cs typeface="Times New Roman"/>
              </a:rPr>
              <a:t>k++;</a:t>
            </a:r>
          </a:p>
          <a:p>
            <a:pPr marL="2413000">
              <a:lnSpc>
                <a:spcPct val="100000"/>
              </a:lnSpc>
              <a:spcBef>
                <a:spcPts val="275"/>
              </a:spcBef>
            </a:pPr>
            <a:r>
              <a:rPr sz="1800" dirty="0">
                <a:latin typeface="Times New Roman"/>
                <a:cs typeface="Times New Roman"/>
              </a:rPr>
              <a:t>}</a:t>
            </a:r>
          </a:p>
          <a:p>
            <a:pPr marL="927100">
              <a:lnSpc>
                <a:spcPct val="100000"/>
              </a:lnSpc>
              <a:spcBef>
                <a:spcPts val="265"/>
              </a:spcBef>
            </a:pPr>
            <a:r>
              <a:rPr sz="1800" dirty="0">
                <a:latin typeface="Times New Roman"/>
                <a:cs typeface="Times New Roman"/>
              </a:rPr>
              <a:t>for(i=0;</a:t>
            </a:r>
            <a:r>
              <a:rPr sz="1800" spc="-35" dirty="0">
                <a:latin typeface="Times New Roman"/>
                <a:cs typeface="Times New Roman"/>
              </a:rPr>
              <a:t> </a:t>
            </a:r>
            <a:r>
              <a:rPr sz="1800" dirty="0">
                <a:latin typeface="Times New Roman"/>
                <a:cs typeface="Times New Roman"/>
              </a:rPr>
              <a:t>i&lt;4;</a:t>
            </a:r>
            <a:r>
              <a:rPr sz="1800" spc="-35" dirty="0">
                <a:latin typeface="Times New Roman"/>
                <a:cs typeface="Times New Roman"/>
              </a:rPr>
              <a:t> </a:t>
            </a:r>
            <a:r>
              <a:rPr sz="1800" dirty="0">
                <a:latin typeface="Times New Roman"/>
                <a:cs typeface="Times New Roman"/>
              </a:rPr>
              <a:t>i++)</a:t>
            </a:r>
            <a:r>
              <a:rPr sz="1800" spc="-40" dirty="0">
                <a:latin typeface="Times New Roman"/>
                <a:cs typeface="Times New Roman"/>
              </a:rPr>
              <a:t> </a:t>
            </a:r>
            <a:r>
              <a:rPr sz="1800" dirty="0">
                <a:latin typeface="Times New Roman"/>
                <a:cs typeface="Times New Roman"/>
              </a:rPr>
              <a:t>{</a:t>
            </a:r>
          </a:p>
          <a:p>
            <a:pPr marL="1841500">
              <a:lnSpc>
                <a:spcPct val="100000"/>
              </a:lnSpc>
              <a:spcBef>
                <a:spcPts val="265"/>
              </a:spcBef>
            </a:pPr>
            <a:r>
              <a:rPr sz="1800" dirty="0">
                <a:latin typeface="Times New Roman"/>
                <a:cs typeface="Times New Roman"/>
              </a:rPr>
              <a:t>for(j=0;</a:t>
            </a:r>
            <a:r>
              <a:rPr sz="1800" spc="-45" dirty="0">
                <a:latin typeface="Times New Roman"/>
                <a:cs typeface="Times New Roman"/>
              </a:rPr>
              <a:t> </a:t>
            </a:r>
            <a:r>
              <a:rPr sz="1800" dirty="0">
                <a:latin typeface="Times New Roman"/>
                <a:cs typeface="Times New Roman"/>
              </a:rPr>
              <a:t>j&lt;5;</a:t>
            </a:r>
            <a:r>
              <a:rPr sz="1800" spc="-35" dirty="0">
                <a:latin typeface="Times New Roman"/>
                <a:cs typeface="Times New Roman"/>
              </a:rPr>
              <a:t> </a:t>
            </a:r>
            <a:r>
              <a:rPr sz="1800" dirty="0">
                <a:latin typeface="Times New Roman"/>
                <a:cs typeface="Times New Roman"/>
              </a:rPr>
              <a:t>j++)</a:t>
            </a:r>
          </a:p>
          <a:p>
            <a:pPr marL="1841500" marR="5080" indent="914400">
              <a:lnSpc>
                <a:spcPct val="112200"/>
              </a:lnSpc>
              <a:spcBef>
                <a:spcPts val="15"/>
              </a:spcBef>
              <a:tabLst>
                <a:tab pos="5848985" algn="l"/>
              </a:tabLst>
            </a:pPr>
            <a:r>
              <a:rPr sz="1800" spc="-5" dirty="0">
                <a:latin typeface="Times New Roman"/>
                <a:cs typeface="Times New Roman"/>
              </a:rPr>
              <a:t>S</a:t>
            </a:r>
            <a:r>
              <a:rPr sz="1800" spc="10" dirty="0">
                <a:latin typeface="Times New Roman"/>
                <a:cs typeface="Times New Roman"/>
              </a:rPr>
              <a:t>y</a:t>
            </a:r>
            <a:r>
              <a:rPr sz="1800" spc="-5" dirty="0">
                <a:latin typeface="Times New Roman"/>
                <a:cs typeface="Times New Roman"/>
              </a:rPr>
              <a:t>stem.out</a:t>
            </a:r>
            <a:r>
              <a:rPr sz="1800" dirty="0">
                <a:latin typeface="Times New Roman"/>
                <a:cs typeface="Times New Roman"/>
              </a:rPr>
              <a:t>.prin</a:t>
            </a:r>
            <a:r>
              <a:rPr sz="1800" spc="15" dirty="0">
                <a:latin typeface="Times New Roman"/>
                <a:cs typeface="Times New Roman"/>
              </a:rPr>
              <a:t>t</a:t>
            </a:r>
            <a:r>
              <a:rPr sz="1800" dirty="0">
                <a:latin typeface="Times New Roman"/>
                <a:cs typeface="Times New Roman"/>
              </a:rPr>
              <a:t>(</a:t>
            </a:r>
            <a:r>
              <a:rPr sz="1800" spc="-10" dirty="0">
                <a:latin typeface="Times New Roman"/>
                <a:cs typeface="Times New Roman"/>
              </a:rPr>
              <a:t>t</a:t>
            </a:r>
            <a:r>
              <a:rPr sz="1800" spc="-5" dirty="0">
                <a:latin typeface="Times New Roman"/>
                <a:cs typeface="Times New Roman"/>
              </a:rPr>
              <a:t>wo</a:t>
            </a:r>
            <a:r>
              <a:rPr sz="1800" spc="-15" dirty="0">
                <a:latin typeface="Times New Roman"/>
                <a:cs typeface="Times New Roman"/>
              </a:rPr>
              <a:t>D</a:t>
            </a:r>
            <a:r>
              <a:rPr sz="1800" dirty="0">
                <a:latin typeface="Times New Roman"/>
                <a:cs typeface="Times New Roman"/>
              </a:rPr>
              <a:t>[i</a:t>
            </a:r>
            <a:r>
              <a:rPr sz="1800" spc="-15" dirty="0">
                <a:latin typeface="Times New Roman"/>
                <a:cs typeface="Times New Roman"/>
              </a:rPr>
              <a:t>]</a:t>
            </a:r>
            <a:r>
              <a:rPr sz="1800" dirty="0">
                <a:latin typeface="Times New Roman"/>
                <a:cs typeface="Times New Roman"/>
              </a:rPr>
              <a:t>[j]</a:t>
            </a:r>
            <a:r>
              <a:rPr sz="1800" spc="-15" dirty="0">
                <a:latin typeface="Times New Roman"/>
                <a:cs typeface="Times New Roman"/>
              </a:rPr>
              <a:t> </a:t>
            </a:r>
            <a:r>
              <a:rPr sz="1800" dirty="0">
                <a:latin typeface="Times New Roman"/>
                <a:cs typeface="Times New Roman"/>
              </a:rPr>
              <a:t>+ </a:t>
            </a:r>
            <a:r>
              <a:rPr sz="1800" spc="-5" dirty="0">
                <a:latin typeface="Times New Roman"/>
                <a:cs typeface="Times New Roman"/>
              </a:rPr>
              <a:t>"</a:t>
            </a:r>
            <a:r>
              <a:rPr sz="1800" dirty="0">
                <a:latin typeface="Times New Roman"/>
                <a:cs typeface="Times New Roman"/>
              </a:rPr>
              <a:t>	</a:t>
            </a:r>
            <a:r>
              <a:rPr sz="1800" spc="-15" dirty="0">
                <a:latin typeface="Times New Roman"/>
                <a:cs typeface="Times New Roman"/>
              </a:rPr>
              <a:t>"</a:t>
            </a:r>
            <a:r>
              <a:rPr sz="1800" dirty="0">
                <a:latin typeface="Times New Roman"/>
                <a:cs typeface="Times New Roman"/>
              </a:rPr>
              <a:t>);  System.out.println();</a:t>
            </a:r>
          </a:p>
          <a:p>
            <a:pPr marL="1669414">
              <a:lnSpc>
                <a:spcPct val="100000"/>
              </a:lnSpc>
              <a:spcBef>
                <a:spcPts val="265"/>
              </a:spcBef>
            </a:pPr>
            <a:r>
              <a:rPr sz="1800" dirty="0">
                <a:latin typeface="Times New Roman"/>
                <a:cs typeface="Times New Roman"/>
              </a:rPr>
              <a:t>}</a:t>
            </a:r>
          </a:p>
          <a:p>
            <a:pPr marL="469900">
              <a:lnSpc>
                <a:spcPct val="100000"/>
              </a:lnSpc>
              <a:spcBef>
                <a:spcPts val="275"/>
              </a:spcBef>
            </a:pPr>
            <a:r>
              <a:rPr sz="1800" dirty="0">
                <a:latin typeface="Times New Roman"/>
                <a:cs typeface="Times New Roman"/>
              </a:rPr>
              <a:t>}</a:t>
            </a:r>
          </a:p>
        </p:txBody>
      </p:sp>
      <p:sp>
        <p:nvSpPr>
          <p:cNvPr id="4" name="object 4"/>
          <p:cNvSpPr txBox="1"/>
          <p:nvPr/>
        </p:nvSpPr>
        <p:spPr>
          <a:xfrm>
            <a:off x="307340" y="6197600"/>
            <a:ext cx="1352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62</a:t>
            </a:r>
            <a:endParaRPr sz="1200">
              <a:latin typeface="Times New Roman"/>
              <a:cs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4939" y="1536792"/>
            <a:ext cx="5789295" cy="4653280"/>
          </a:xfrm>
          <a:prstGeom prst="rect">
            <a:avLst/>
          </a:prstGeom>
        </p:spPr>
        <p:txBody>
          <a:bodyPr vert="horz" wrap="square" lIns="0" tIns="46990" rIns="0" bIns="0" rtlCol="0">
            <a:spAutoFit/>
          </a:bodyPr>
          <a:lstStyle/>
          <a:p>
            <a:pPr marL="12700">
              <a:lnSpc>
                <a:spcPct val="100000"/>
              </a:lnSpc>
              <a:spcBef>
                <a:spcPts val="370"/>
              </a:spcBef>
            </a:pPr>
            <a:r>
              <a:rPr sz="1800" dirty="0">
                <a:latin typeface="Times New Roman"/>
                <a:cs typeface="Times New Roman"/>
              </a:rPr>
              <a:t>class</a:t>
            </a:r>
            <a:r>
              <a:rPr sz="1800" spc="-40" dirty="0">
                <a:latin typeface="Times New Roman"/>
                <a:cs typeface="Times New Roman"/>
              </a:rPr>
              <a:t> </a:t>
            </a:r>
            <a:r>
              <a:rPr sz="1800" dirty="0">
                <a:latin typeface="Times New Roman"/>
                <a:cs typeface="Times New Roman"/>
              </a:rPr>
              <a:t>Matrix</a:t>
            </a:r>
            <a:r>
              <a:rPr sz="1800" spc="-30" dirty="0">
                <a:latin typeface="Times New Roman"/>
                <a:cs typeface="Times New Roman"/>
              </a:rPr>
              <a:t> </a:t>
            </a:r>
            <a:r>
              <a:rPr sz="1800" dirty="0">
                <a:latin typeface="Times New Roman"/>
                <a:cs typeface="Times New Roman"/>
              </a:rPr>
              <a:t>{</a:t>
            </a:r>
          </a:p>
          <a:p>
            <a:pPr marL="1841500" marR="1299845" indent="-914400">
              <a:lnSpc>
                <a:spcPts val="2440"/>
              </a:lnSpc>
              <a:spcBef>
                <a:spcPts val="115"/>
              </a:spcBef>
            </a:pPr>
            <a:r>
              <a:rPr sz="1800" dirty="0">
                <a:latin typeface="Times New Roman"/>
                <a:cs typeface="Times New Roman"/>
              </a:rPr>
              <a:t>public</a:t>
            </a:r>
            <a:r>
              <a:rPr sz="1800" spc="-30" dirty="0">
                <a:latin typeface="Times New Roman"/>
                <a:cs typeface="Times New Roman"/>
              </a:rPr>
              <a:t> </a:t>
            </a:r>
            <a:r>
              <a:rPr sz="1800" dirty="0">
                <a:latin typeface="Times New Roman"/>
                <a:cs typeface="Times New Roman"/>
              </a:rPr>
              <a:t>static</a:t>
            </a:r>
            <a:r>
              <a:rPr sz="1800" spc="-10" dirty="0">
                <a:latin typeface="Times New Roman"/>
                <a:cs typeface="Times New Roman"/>
              </a:rPr>
              <a:t> </a:t>
            </a:r>
            <a:r>
              <a:rPr sz="1800" dirty="0">
                <a:latin typeface="Times New Roman"/>
                <a:cs typeface="Times New Roman"/>
              </a:rPr>
              <a:t>void</a:t>
            </a:r>
            <a:r>
              <a:rPr sz="1800" spc="-20" dirty="0">
                <a:latin typeface="Times New Roman"/>
                <a:cs typeface="Times New Roman"/>
              </a:rPr>
              <a:t> </a:t>
            </a:r>
            <a:r>
              <a:rPr sz="1800" dirty="0">
                <a:latin typeface="Times New Roman"/>
                <a:cs typeface="Times New Roman"/>
              </a:rPr>
              <a:t>main(String</a:t>
            </a:r>
            <a:r>
              <a:rPr sz="1800" spc="-30" dirty="0">
                <a:latin typeface="Times New Roman"/>
                <a:cs typeface="Times New Roman"/>
              </a:rPr>
              <a:t> </a:t>
            </a:r>
            <a:r>
              <a:rPr sz="1800" spc="-10" dirty="0">
                <a:latin typeface="Times New Roman"/>
                <a:cs typeface="Times New Roman"/>
              </a:rPr>
              <a:t>args[])</a:t>
            </a:r>
            <a:r>
              <a:rPr sz="1800" dirty="0">
                <a:latin typeface="Times New Roman"/>
                <a:cs typeface="Times New Roman"/>
              </a:rPr>
              <a:t> { </a:t>
            </a:r>
            <a:r>
              <a:rPr sz="1800" spc="-434" dirty="0">
                <a:latin typeface="Times New Roman"/>
                <a:cs typeface="Times New Roman"/>
              </a:rPr>
              <a:t> </a:t>
            </a:r>
            <a:r>
              <a:rPr sz="1800" dirty="0">
                <a:latin typeface="Times New Roman"/>
                <a:cs typeface="Times New Roman"/>
              </a:rPr>
              <a:t>int</a:t>
            </a:r>
            <a:r>
              <a:rPr sz="1800" spc="445" dirty="0">
                <a:latin typeface="Times New Roman"/>
                <a:cs typeface="Times New Roman"/>
              </a:rPr>
              <a:t> </a:t>
            </a:r>
            <a:r>
              <a:rPr sz="1800" spc="-5" dirty="0">
                <a:latin typeface="Times New Roman"/>
                <a:cs typeface="Times New Roman"/>
              </a:rPr>
              <a:t>m[</a:t>
            </a:r>
            <a:r>
              <a:rPr sz="1800" spc="-15" dirty="0">
                <a:latin typeface="Times New Roman"/>
                <a:cs typeface="Times New Roman"/>
              </a:rPr>
              <a:t> </a:t>
            </a:r>
            <a:r>
              <a:rPr sz="1800" spc="-5"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a:t>
            </a:r>
          </a:p>
          <a:p>
            <a:pPr marL="3670935">
              <a:lnSpc>
                <a:spcPct val="100000"/>
              </a:lnSpc>
              <a:spcBef>
                <a:spcPts val="130"/>
              </a:spcBef>
            </a:pP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0*0,</a:t>
            </a:r>
            <a:r>
              <a:rPr sz="1800" spc="-20" dirty="0">
                <a:latin typeface="Times New Roman"/>
                <a:cs typeface="Times New Roman"/>
              </a:rPr>
              <a:t> </a:t>
            </a:r>
            <a:r>
              <a:rPr sz="1800" dirty="0">
                <a:latin typeface="Times New Roman"/>
                <a:cs typeface="Times New Roman"/>
              </a:rPr>
              <a:t>1*0,</a:t>
            </a:r>
            <a:r>
              <a:rPr sz="1800" spc="-20" dirty="0">
                <a:latin typeface="Times New Roman"/>
                <a:cs typeface="Times New Roman"/>
              </a:rPr>
              <a:t> </a:t>
            </a:r>
            <a:r>
              <a:rPr sz="1800" dirty="0">
                <a:latin typeface="Times New Roman"/>
                <a:cs typeface="Times New Roman"/>
              </a:rPr>
              <a:t>2*0,</a:t>
            </a:r>
            <a:r>
              <a:rPr sz="1800" spc="-20" dirty="0">
                <a:latin typeface="Times New Roman"/>
                <a:cs typeface="Times New Roman"/>
              </a:rPr>
              <a:t> </a:t>
            </a:r>
            <a:r>
              <a:rPr sz="1800" dirty="0">
                <a:latin typeface="Times New Roman"/>
                <a:cs typeface="Times New Roman"/>
              </a:rPr>
              <a:t>3*0</a:t>
            </a:r>
            <a:r>
              <a:rPr sz="1800" spc="-15" dirty="0">
                <a:latin typeface="Times New Roman"/>
                <a:cs typeface="Times New Roman"/>
              </a:rPr>
              <a:t> </a:t>
            </a:r>
            <a:r>
              <a:rPr sz="1800" dirty="0">
                <a:latin typeface="Times New Roman"/>
                <a:cs typeface="Times New Roman"/>
              </a:rPr>
              <a:t>},</a:t>
            </a:r>
          </a:p>
          <a:p>
            <a:pPr marL="3670935">
              <a:lnSpc>
                <a:spcPct val="100000"/>
              </a:lnSpc>
              <a:spcBef>
                <a:spcPts val="265"/>
              </a:spcBef>
            </a:pP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0*1,</a:t>
            </a:r>
            <a:r>
              <a:rPr sz="1800" spc="-20" dirty="0">
                <a:latin typeface="Times New Roman"/>
                <a:cs typeface="Times New Roman"/>
              </a:rPr>
              <a:t> </a:t>
            </a:r>
            <a:r>
              <a:rPr sz="1800" dirty="0">
                <a:latin typeface="Times New Roman"/>
                <a:cs typeface="Times New Roman"/>
              </a:rPr>
              <a:t>1*1,</a:t>
            </a:r>
            <a:r>
              <a:rPr sz="1800" spc="-20" dirty="0">
                <a:latin typeface="Times New Roman"/>
                <a:cs typeface="Times New Roman"/>
              </a:rPr>
              <a:t> </a:t>
            </a:r>
            <a:r>
              <a:rPr sz="1800" dirty="0">
                <a:latin typeface="Times New Roman"/>
                <a:cs typeface="Times New Roman"/>
              </a:rPr>
              <a:t>2*1,</a:t>
            </a:r>
            <a:r>
              <a:rPr sz="1800" spc="-20" dirty="0">
                <a:latin typeface="Times New Roman"/>
                <a:cs typeface="Times New Roman"/>
              </a:rPr>
              <a:t> </a:t>
            </a:r>
            <a:r>
              <a:rPr sz="1800" dirty="0">
                <a:latin typeface="Times New Roman"/>
                <a:cs typeface="Times New Roman"/>
              </a:rPr>
              <a:t>3*1</a:t>
            </a:r>
            <a:r>
              <a:rPr sz="1800" spc="-15" dirty="0">
                <a:latin typeface="Times New Roman"/>
                <a:cs typeface="Times New Roman"/>
              </a:rPr>
              <a:t> </a:t>
            </a:r>
            <a:r>
              <a:rPr sz="1800" dirty="0">
                <a:latin typeface="Times New Roman"/>
                <a:cs typeface="Times New Roman"/>
              </a:rPr>
              <a:t>},</a:t>
            </a:r>
          </a:p>
          <a:p>
            <a:pPr marL="3670935">
              <a:lnSpc>
                <a:spcPct val="100000"/>
              </a:lnSpc>
              <a:spcBef>
                <a:spcPts val="275"/>
              </a:spcBef>
            </a:pP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0*2,</a:t>
            </a:r>
            <a:r>
              <a:rPr sz="1800" spc="-20" dirty="0">
                <a:latin typeface="Times New Roman"/>
                <a:cs typeface="Times New Roman"/>
              </a:rPr>
              <a:t> </a:t>
            </a:r>
            <a:r>
              <a:rPr sz="1800" dirty="0">
                <a:latin typeface="Times New Roman"/>
                <a:cs typeface="Times New Roman"/>
              </a:rPr>
              <a:t>1*2,</a:t>
            </a:r>
            <a:r>
              <a:rPr sz="1800" spc="-20" dirty="0">
                <a:latin typeface="Times New Roman"/>
                <a:cs typeface="Times New Roman"/>
              </a:rPr>
              <a:t> </a:t>
            </a:r>
            <a:r>
              <a:rPr sz="1800" dirty="0">
                <a:latin typeface="Times New Roman"/>
                <a:cs typeface="Times New Roman"/>
              </a:rPr>
              <a:t>2*2,</a:t>
            </a:r>
            <a:r>
              <a:rPr sz="1800" spc="-20" dirty="0">
                <a:latin typeface="Times New Roman"/>
                <a:cs typeface="Times New Roman"/>
              </a:rPr>
              <a:t> </a:t>
            </a:r>
            <a:r>
              <a:rPr sz="1800" dirty="0">
                <a:latin typeface="Times New Roman"/>
                <a:cs typeface="Times New Roman"/>
              </a:rPr>
              <a:t>3*2</a:t>
            </a:r>
            <a:r>
              <a:rPr sz="1800" spc="-15" dirty="0">
                <a:latin typeface="Times New Roman"/>
                <a:cs typeface="Times New Roman"/>
              </a:rPr>
              <a:t> </a:t>
            </a:r>
            <a:r>
              <a:rPr sz="1800" dirty="0">
                <a:latin typeface="Times New Roman"/>
                <a:cs typeface="Times New Roman"/>
              </a:rPr>
              <a:t>},</a:t>
            </a:r>
          </a:p>
          <a:p>
            <a:pPr marL="3670935">
              <a:lnSpc>
                <a:spcPct val="100000"/>
              </a:lnSpc>
              <a:spcBef>
                <a:spcPts val="265"/>
              </a:spcBef>
            </a:pP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0*3,</a:t>
            </a:r>
            <a:r>
              <a:rPr sz="1800" spc="-15" dirty="0">
                <a:latin typeface="Times New Roman"/>
                <a:cs typeface="Times New Roman"/>
              </a:rPr>
              <a:t> </a:t>
            </a:r>
            <a:r>
              <a:rPr sz="1800" dirty="0">
                <a:latin typeface="Times New Roman"/>
                <a:cs typeface="Times New Roman"/>
              </a:rPr>
              <a:t>1*3,</a:t>
            </a:r>
            <a:r>
              <a:rPr sz="1800" spc="-15" dirty="0">
                <a:latin typeface="Times New Roman"/>
                <a:cs typeface="Times New Roman"/>
              </a:rPr>
              <a:t> </a:t>
            </a:r>
            <a:r>
              <a:rPr sz="1800" dirty="0">
                <a:latin typeface="Times New Roman"/>
                <a:cs typeface="Times New Roman"/>
              </a:rPr>
              <a:t>2*3,</a:t>
            </a:r>
            <a:r>
              <a:rPr sz="1800" spc="-15" dirty="0">
                <a:latin typeface="Times New Roman"/>
                <a:cs typeface="Times New Roman"/>
              </a:rPr>
              <a:t> </a:t>
            </a:r>
            <a:r>
              <a:rPr sz="1800" dirty="0">
                <a:latin typeface="Times New Roman"/>
                <a:cs typeface="Times New Roman"/>
              </a:rPr>
              <a:t>3*3</a:t>
            </a:r>
            <a:r>
              <a:rPr sz="1800" spc="-15" dirty="0">
                <a:latin typeface="Times New Roman"/>
                <a:cs typeface="Times New Roman"/>
              </a:rPr>
              <a:t> </a:t>
            </a:r>
            <a:r>
              <a:rPr sz="1800" dirty="0">
                <a:latin typeface="Times New Roman"/>
                <a:cs typeface="Times New Roman"/>
              </a:rPr>
              <a:t>}</a:t>
            </a:r>
          </a:p>
          <a:p>
            <a:pPr marL="2812415">
              <a:lnSpc>
                <a:spcPct val="100000"/>
              </a:lnSpc>
              <a:spcBef>
                <a:spcPts val="265"/>
              </a:spcBef>
            </a:pPr>
            <a:r>
              <a:rPr sz="1800" dirty="0">
                <a:latin typeface="Times New Roman"/>
                <a:cs typeface="Times New Roman"/>
              </a:rPr>
              <a:t>};</a:t>
            </a:r>
          </a:p>
          <a:p>
            <a:pPr marL="927100">
              <a:lnSpc>
                <a:spcPct val="100000"/>
              </a:lnSpc>
              <a:spcBef>
                <a:spcPts val="275"/>
              </a:spcBef>
            </a:pPr>
            <a:r>
              <a:rPr sz="1800" dirty="0">
                <a:latin typeface="Times New Roman"/>
                <a:cs typeface="Times New Roman"/>
              </a:rPr>
              <a:t>int</a:t>
            </a:r>
            <a:r>
              <a:rPr sz="1800" spc="-35" dirty="0">
                <a:latin typeface="Times New Roman"/>
                <a:cs typeface="Times New Roman"/>
              </a:rPr>
              <a:t> </a:t>
            </a:r>
            <a:r>
              <a:rPr sz="1800" dirty="0">
                <a:latin typeface="Times New Roman"/>
                <a:cs typeface="Times New Roman"/>
              </a:rPr>
              <a:t>i,</a:t>
            </a:r>
            <a:r>
              <a:rPr sz="1800" spc="-40" dirty="0">
                <a:latin typeface="Times New Roman"/>
                <a:cs typeface="Times New Roman"/>
              </a:rPr>
              <a:t> </a:t>
            </a:r>
            <a:r>
              <a:rPr sz="1800" dirty="0">
                <a:latin typeface="Times New Roman"/>
                <a:cs typeface="Times New Roman"/>
              </a:rPr>
              <a:t>j;</a:t>
            </a:r>
          </a:p>
          <a:p>
            <a:pPr marL="927100">
              <a:lnSpc>
                <a:spcPct val="100000"/>
              </a:lnSpc>
              <a:spcBef>
                <a:spcPts val="265"/>
              </a:spcBef>
            </a:pPr>
            <a:r>
              <a:rPr sz="1800" spc="-5" dirty="0">
                <a:latin typeface="Times New Roman"/>
                <a:cs typeface="Times New Roman"/>
              </a:rPr>
              <a:t>for(i=0;</a:t>
            </a:r>
            <a:r>
              <a:rPr sz="1800" spc="-25" dirty="0">
                <a:latin typeface="Times New Roman"/>
                <a:cs typeface="Times New Roman"/>
              </a:rPr>
              <a:t> </a:t>
            </a:r>
            <a:r>
              <a:rPr sz="1800" spc="-5" dirty="0">
                <a:latin typeface="Times New Roman"/>
                <a:cs typeface="Times New Roman"/>
              </a:rPr>
              <a:t>i&lt;4;</a:t>
            </a:r>
            <a:r>
              <a:rPr sz="1800" spc="-25" dirty="0">
                <a:latin typeface="Times New Roman"/>
                <a:cs typeface="Times New Roman"/>
              </a:rPr>
              <a:t> </a:t>
            </a:r>
            <a:r>
              <a:rPr sz="1800" dirty="0">
                <a:latin typeface="Times New Roman"/>
                <a:cs typeface="Times New Roman"/>
              </a:rPr>
              <a:t>i++)</a:t>
            </a:r>
            <a:r>
              <a:rPr sz="1800" spc="-30" dirty="0">
                <a:latin typeface="Times New Roman"/>
                <a:cs typeface="Times New Roman"/>
              </a:rPr>
              <a:t> </a:t>
            </a:r>
            <a:r>
              <a:rPr sz="1800" dirty="0">
                <a:latin typeface="Times New Roman"/>
                <a:cs typeface="Times New Roman"/>
              </a:rPr>
              <a:t>{</a:t>
            </a:r>
          </a:p>
          <a:p>
            <a:pPr marL="1841500">
              <a:lnSpc>
                <a:spcPct val="100000"/>
              </a:lnSpc>
              <a:spcBef>
                <a:spcPts val="265"/>
              </a:spcBef>
            </a:pPr>
            <a:r>
              <a:rPr sz="1800" dirty="0">
                <a:latin typeface="Times New Roman"/>
                <a:cs typeface="Times New Roman"/>
              </a:rPr>
              <a:t>for(j=0;</a:t>
            </a:r>
            <a:r>
              <a:rPr sz="1800" spc="-40" dirty="0">
                <a:latin typeface="Times New Roman"/>
                <a:cs typeface="Times New Roman"/>
              </a:rPr>
              <a:t> </a:t>
            </a:r>
            <a:r>
              <a:rPr sz="1800" dirty="0">
                <a:latin typeface="Times New Roman"/>
                <a:cs typeface="Times New Roman"/>
              </a:rPr>
              <a:t>j&lt;4;</a:t>
            </a:r>
            <a:r>
              <a:rPr sz="1800" spc="-35" dirty="0">
                <a:latin typeface="Times New Roman"/>
                <a:cs typeface="Times New Roman"/>
              </a:rPr>
              <a:t> </a:t>
            </a:r>
            <a:r>
              <a:rPr sz="1800" dirty="0">
                <a:latin typeface="Times New Roman"/>
                <a:cs typeface="Times New Roman"/>
              </a:rPr>
              <a:t>j++)</a:t>
            </a:r>
          </a:p>
          <a:p>
            <a:pPr marL="1841500" marR="201295" indent="914400">
              <a:lnSpc>
                <a:spcPct val="112200"/>
              </a:lnSpc>
              <a:spcBef>
                <a:spcPts val="15"/>
              </a:spcBef>
            </a:pPr>
            <a:r>
              <a:rPr sz="1800" dirty="0">
                <a:latin typeface="Times New Roman"/>
                <a:cs typeface="Times New Roman"/>
              </a:rPr>
              <a:t>System.out.print(m[i][j]</a:t>
            </a:r>
            <a:r>
              <a:rPr sz="1800" spc="-60"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spc="-5" dirty="0">
                <a:latin typeface="Times New Roman"/>
                <a:cs typeface="Times New Roman"/>
              </a:rPr>
              <a:t>"</a:t>
            </a:r>
            <a:r>
              <a:rPr sz="1800" spc="-30" dirty="0">
                <a:latin typeface="Times New Roman"/>
                <a:cs typeface="Times New Roman"/>
              </a:rPr>
              <a:t> </a:t>
            </a:r>
            <a:r>
              <a:rPr sz="1800" spc="-5" dirty="0">
                <a:latin typeface="Times New Roman"/>
                <a:cs typeface="Times New Roman"/>
              </a:rPr>
              <a:t>"); </a:t>
            </a:r>
            <a:r>
              <a:rPr sz="1800" spc="-434" dirty="0">
                <a:latin typeface="Times New Roman"/>
                <a:cs typeface="Times New Roman"/>
              </a:rPr>
              <a:t> </a:t>
            </a:r>
            <a:r>
              <a:rPr sz="1800" dirty="0">
                <a:latin typeface="Times New Roman"/>
                <a:cs typeface="Times New Roman"/>
              </a:rPr>
              <a:t>System.out.println();</a:t>
            </a:r>
          </a:p>
          <a:p>
            <a:pPr marL="1041400">
              <a:lnSpc>
                <a:spcPct val="100000"/>
              </a:lnSpc>
              <a:spcBef>
                <a:spcPts val="265"/>
              </a:spcBef>
            </a:pPr>
            <a:r>
              <a:rPr sz="1800" dirty="0">
                <a:latin typeface="Times New Roman"/>
                <a:cs typeface="Times New Roman"/>
              </a:rPr>
              <a:t>}</a:t>
            </a:r>
          </a:p>
          <a:p>
            <a:pPr marL="525780">
              <a:lnSpc>
                <a:spcPct val="100000"/>
              </a:lnSpc>
              <a:spcBef>
                <a:spcPts val="275"/>
              </a:spcBef>
            </a:pPr>
            <a:r>
              <a:rPr sz="1800" dirty="0">
                <a:latin typeface="Times New Roman"/>
                <a:cs typeface="Times New Roman"/>
              </a:rPr>
              <a:t>}</a:t>
            </a:r>
          </a:p>
        </p:txBody>
      </p:sp>
      <p:sp>
        <p:nvSpPr>
          <p:cNvPr id="4" name="object 4"/>
          <p:cNvSpPr txBox="1"/>
          <p:nvPr/>
        </p:nvSpPr>
        <p:spPr>
          <a:xfrm>
            <a:off x="154939" y="6197600"/>
            <a:ext cx="1352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65</a:t>
            </a:r>
            <a:endParaRPr sz="1200">
              <a:latin typeface="Times New Roman"/>
              <a:cs typeface="Times New Roman"/>
            </a:endParaRPr>
          </a:p>
        </p:txBody>
      </p:sp>
      <p:sp>
        <p:nvSpPr>
          <p:cNvPr id="8" name="Rectangle 7"/>
          <p:cNvSpPr/>
          <p:nvPr/>
        </p:nvSpPr>
        <p:spPr>
          <a:xfrm>
            <a:off x="389320" y="330529"/>
            <a:ext cx="8297479" cy="830997"/>
          </a:xfrm>
          <a:prstGeom prst="rect">
            <a:avLst/>
          </a:prstGeom>
        </p:spPr>
        <p:txBody>
          <a:bodyPr wrap="square">
            <a:spAutoFit/>
          </a:bodyPr>
          <a:lstStyle/>
          <a:p>
            <a:pPr marL="332740" marR="5080" indent="-320675" algn="just">
              <a:lnSpc>
                <a:spcPct val="100000"/>
              </a:lnSpc>
              <a:spcBef>
                <a:spcPts val="705"/>
              </a:spcBef>
              <a:buClr>
                <a:srgbClr val="DD8046"/>
              </a:buClr>
              <a:buSzPct val="60344"/>
              <a:buFont typeface="Wingdings"/>
              <a:buChar char=""/>
              <a:tabLst>
                <a:tab pos="333375" algn="l"/>
              </a:tabLst>
            </a:pPr>
            <a:r>
              <a:rPr lang="en-US" sz="2400" spc="-5" dirty="0" smtClean="0">
                <a:latin typeface="Times New Roman"/>
                <a:cs typeface="Times New Roman"/>
              </a:rPr>
              <a:t>Program </a:t>
            </a:r>
            <a:r>
              <a:rPr lang="en-US" sz="2400" dirty="0">
                <a:latin typeface="Times New Roman"/>
                <a:cs typeface="Times New Roman"/>
              </a:rPr>
              <a:t>creates a </a:t>
            </a:r>
            <a:r>
              <a:rPr lang="en-US" sz="2400" spc="-5" dirty="0">
                <a:latin typeface="Times New Roman"/>
                <a:cs typeface="Times New Roman"/>
              </a:rPr>
              <a:t>matrix </a:t>
            </a:r>
            <a:r>
              <a:rPr lang="en-US" sz="2400" dirty="0">
                <a:latin typeface="Times New Roman"/>
                <a:cs typeface="Times New Roman"/>
              </a:rPr>
              <a:t>where </a:t>
            </a:r>
            <a:r>
              <a:rPr lang="en-US" sz="2400" spc="-10" dirty="0">
                <a:latin typeface="Times New Roman"/>
                <a:cs typeface="Times New Roman"/>
              </a:rPr>
              <a:t>each </a:t>
            </a:r>
            <a:r>
              <a:rPr lang="en-US" sz="2400" spc="-710" dirty="0">
                <a:latin typeface="Times New Roman"/>
                <a:cs typeface="Times New Roman"/>
              </a:rPr>
              <a:t> </a:t>
            </a:r>
            <a:r>
              <a:rPr lang="en-US" sz="2400" spc="-5" dirty="0">
                <a:latin typeface="Times New Roman"/>
                <a:cs typeface="Times New Roman"/>
              </a:rPr>
              <a:t>element</a:t>
            </a:r>
            <a:r>
              <a:rPr lang="en-US" sz="2400" dirty="0">
                <a:latin typeface="Times New Roman"/>
                <a:cs typeface="Times New Roman"/>
              </a:rPr>
              <a:t> </a:t>
            </a:r>
            <a:r>
              <a:rPr lang="en-US" sz="2400" spc="-5" dirty="0">
                <a:latin typeface="Times New Roman"/>
                <a:cs typeface="Times New Roman"/>
              </a:rPr>
              <a:t>contains</a:t>
            </a:r>
            <a:r>
              <a:rPr lang="en-US" sz="2400" dirty="0">
                <a:latin typeface="Times New Roman"/>
                <a:cs typeface="Times New Roman"/>
              </a:rPr>
              <a:t> the</a:t>
            </a:r>
            <a:r>
              <a:rPr lang="en-US" sz="2400" spc="5" dirty="0">
                <a:latin typeface="Times New Roman"/>
                <a:cs typeface="Times New Roman"/>
              </a:rPr>
              <a:t> </a:t>
            </a:r>
            <a:r>
              <a:rPr lang="en-US" sz="2400" spc="-5" dirty="0">
                <a:latin typeface="Times New Roman"/>
                <a:cs typeface="Times New Roman"/>
              </a:rPr>
              <a:t>product</a:t>
            </a:r>
            <a:r>
              <a:rPr lang="en-US" sz="2400" dirty="0">
                <a:latin typeface="Times New Roman"/>
                <a:cs typeface="Times New Roman"/>
              </a:rPr>
              <a:t> </a:t>
            </a:r>
            <a:r>
              <a:rPr lang="en-US" sz="2400" spc="-10" dirty="0">
                <a:latin typeface="Times New Roman"/>
                <a:cs typeface="Times New Roman"/>
              </a:rPr>
              <a:t>of</a:t>
            </a:r>
            <a:r>
              <a:rPr lang="en-US" sz="2400" spc="-5" dirty="0">
                <a:latin typeface="Times New Roman"/>
                <a:cs typeface="Times New Roman"/>
              </a:rPr>
              <a:t> the</a:t>
            </a:r>
            <a:r>
              <a:rPr lang="en-US" sz="2400" spc="715" dirty="0">
                <a:latin typeface="Times New Roman"/>
                <a:cs typeface="Times New Roman"/>
              </a:rPr>
              <a:t> </a:t>
            </a:r>
            <a:r>
              <a:rPr lang="en-US" sz="2400" dirty="0">
                <a:latin typeface="Times New Roman"/>
                <a:cs typeface="Times New Roman"/>
              </a:rPr>
              <a:t>row</a:t>
            </a:r>
            <a:r>
              <a:rPr lang="en-US" sz="2400" spc="725" dirty="0">
                <a:latin typeface="Times New Roman"/>
                <a:cs typeface="Times New Roman"/>
              </a:rPr>
              <a:t> </a:t>
            </a:r>
            <a:r>
              <a:rPr lang="en-US" sz="2400" dirty="0">
                <a:latin typeface="Times New Roman"/>
                <a:cs typeface="Times New Roman"/>
              </a:rPr>
              <a:t>and </a:t>
            </a:r>
            <a:r>
              <a:rPr lang="en-US" sz="2400" spc="5" dirty="0">
                <a:latin typeface="Times New Roman"/>
                <a:cs typeface="Times New Roman"/>
              </a:rPr>
              <a:t> </a:t>
            </a:r>
            <a:r>
              <a:rPr lang="en-US" sz="2400" spc="-10" dirty="0">
                <a:latin typeface="Times New Roman"/>
                <a:cs typeface="Times New Roman"/>
              </a:rPr>
              <a:t>column</a:t>
            </a:r>
            <a:r>
              <a:rPr lang="en-US" sz="2400" spc="15" dirty="0">
                <a:latin typeface="Times New Roman"/>
                <a:cs typeface="Times New Roman"/>
              </a:rPr>
              <a:t> </a:t>
            </a:r>
            <a:r>
              <a:rPr lang="en-US" sz="2400" spc="-5" dirty="0">
                <a:latin typeface="Times New Roman"/>
                <a:cs typeface="Times New Roman"/>
              </a:rPr>
              <a:t>indexes.</a:t>
            </a:r>
            <a:endParaRPr lang="en-US" sz="2400" dirty="0">
              <a:latin typeface="Times New Roman"/>
              <a:cs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89890"/>
            <a:ext cx="7633334" cy="635000"/>
          </a:xfrm>
          <a:prstGeom prst="rect">
            <a:avLst/>
          </a:prstGeom>
        </p:spPr>
        <p:txBody>
          <a:bodyPr vert="horz" wrap="square" lIns="0" tIns="12065" rIns="0" bIns="0" rtlCol="0">
            <a:spAutoFit/>
          </a:bodyPr>
          <a:lstStyle/>
          <a:p>
            <a:pPr marL="12700">
              <a:lnSpc>
                <a:spcPct val="100000"/>
              </a:lnSpc>
              <a:spcBef>
                <a:spcPts val="95"/>
              </a:spcBef>
            </a:pPr>
            <a:r>
              <a:rPr dirty="0"/>
              <a:t>Alternative</a:t>
            </a:r>
            <a:r>
              <a:rPr spc="-250" dirty="0"/>
              <a:t> </a:t>
            </a:r>
            <a:r>
              <a:rPr spc="-5" dirty="0"/>
              <a:t>Array</a:t>
            </a:r>
            <a:r>
              <a:rPr spc="-15" dirty="0"/>
              <a:t> </a:t>
            </a:r>
            <a:r>
              <a:rPr dirty="0"/>
              <a:t>Declaration</a:t>
            </a:r>
            <a:r>
              <a:rPr spc="-30" dirty="0"/>
              <a:t> </a:t>
            </a:r>
            <a:r>
              <a:rPr dirty="0"/>
              <a:t>Syntax</a:t>
            </a:r>
          </a:p>
        </p:txBody>
      </p:sp>
      <p:sp>
        <p:nvSpPr>
          <p:cNvPr id="3" name="object 3"/>
          <p:cNvSpPr txBox="1"/>
          <p:nvPr/>
        </p:nvSpPr>
        <p:spPr>
          <a:xfrm>
            <a:off x="307340" y="1529789"/>
            <a:ext cx="8365490" cy="4930140"/>
          </a:xfrm>
          <a:prstGeom prst="rect">
            <a:avLst/>
          </a:prstGeom>
        </p:spPr>
        <p:txBody>
          <a:bodyPr vert="horz" wrap="square" lIns="0" tIns="59054" rIns="0" bIns="0" rtlCol="0">
            <a:spAutoFit/>
          </a:bodyPr>
          <a:lstStyle/>
          <a:p>
            <a:pPr marL="332740" indent="-320040">
              <a:lnSpc>
                <a:spcPct val="100000"/>
              </a:lnSpc>
              <a:spcBef>
                <a:spcPts val="464"/>
              </a:spcBef>
              <a:buClr>
                <a:srgbClr val="DD8046"/>
              </a:buClr>
              <a:buSzPct val="60344"/>
              <a:buFont typeface="Wingdings"/>
              <a:buChar char=""/>
              <a:tabLst>
                <a:tab pos="332740" algn="l"/>
              </a:tabLst>
            </a:pPr>
            <a:r>
              <a:rPr sz="2900" spc="-5" dirty="0">
                <a:solidFill>
                  <a:srgbClr val="FF0000"/>
                </a:solidFill>
                <a:latin typeface="Times New Roman"/>
                <a:cs typeface="Times New Roman"/>
              </a:rPr>
              <a:t>type[</a:t>
            </a:r>
            <a:r>
              <a:rPr sz="2900" spc="-40" dirty="0">
                <a:solidFill>
                  <a:srgbClr val="FF0000"/>
                </a:solidFill>
                <a:latin typeface="Times New Roman"/>
                <a:cs typeface="Times New Roman"/>
              </a:rPr>
              <a:t> </a:t>
            </a:r>
            <a:r>
              <a:rPr sz="2900" dirty="0">
                <a:solidFill>
                  <a:srgbClr val="FF0000"/>
                </a:solidFill>
                <a:latin typeface="Times New Roman"/>
                <a:cs typeface="Times New Roman"/>
              </a:rPr>
              <a:t>]</a:t>
            </a:r>
            <a:r>
              <a:rPr sz="2900" spc="-25" dirty="0">
                <a:solidFill>
                  <a:srgbClr val="FF0000"/>
                </a:solidFill>
                <a:latin typeface="Times New Roman"/>
                <a:cs typeface="Times New Roman"/>
              </a:rPr>
              <a:t> </a:t>
            </a:r>
            <a:r>
              <a:rPr sz="2900" spc="-10" dirty="0">
                <a:solidFill>
                  <a:srgbClr val="FF0000"/>
                </a:solidFill>
                <a:latin typeface="Times New Roman"/>
                <a:cs typeface="Times New Roman"/>
              </a:rPr>
              <a:t>var-name;</a:t>
            </a:r>
            <a:endParaRPr sz="2900" dirty="0">
              <a:latin typeface="Times New Roman"/>
              <a:cs typeface="Times New Roman"/>
            </a:endParaRPr>
          </a:p>
          <a:p>
            <a:pPr marL="332740" indent="-320040">
              <a:lnSpc>
                <a:spcPct val="100000"/>
              </a:lnSpc>
              <a:spcBef>
                <a:spcPts val="360"/>
              </a:spcBef>
              <a:buClr>
                <a:srgbClr val="DD8046"/>
              </a:buClr>
              <a:buSzPct val="60344"/>
              <a:buFont typeface="Wingdings"/>
              <a:buChar char=""/>
              <a:tabLst>
                <a:tab pos="332740" algn="l"/>
              </a:tabLst>
            </a:pPr>
            <a:r>
              <a:rPr sz="2900" dirty="0">
                <a:latin typeface="Times New Roman"/>
                <a:cs typeface="Times New Roman"/>
              </a:rPr>
              <a:t>The</a:t>
            </a:r>
            <a:r>
              <a:rPr sz="2900" spc="-10" dirty="0">
                <a:latin typeface="Times New Roman"/>
                <a:cs typeface="Times New Roman"/>
              </a:rPr>
              <a:t> </a:t>
            </a:r>
            <a:r>
              <a:rPr sz="2900" dirty="0">
                <a:latin typeface="Times New Roman"/>
                <a:cs typeface="Times New Roman"/>
              </a:rPr>
              <a:t>following</a:t>
            </a:r>
            <a:r>
              <a:rPr sz="2900" spc="-30" dirty="0">
                <a:latin typeface="Times New Roman"/>
                <a:cs typeface="Times New Roman"/>
              </a:rPr>
              <a:t> </a:t>
            </a:r>
            <a:r>
              <a:rPr sz="2900" dirty="0">
                <a:latin typeface="Times New Roman"/>
                <a:cs typeface="Times New Roman"/>
              </a:rPr>
              <a:t>two</a:t>
            </a:r>
            <a:r>
              <a:rPr sz="2900" spc="5" dirty="0">
                <a:latin typeface="Times New Roman"/>
                <a:cs typeface="Times New Roman"/>
              </a:rPr>
              <a:t> </a:t>
            </a:r>
            <a:r>
              <a:rPr sz="2900" spc="-5" dirty="0">
                <a:latin typeface="Times New Roman"/>
                <a:cs typeface="Times New Roman"/>
              </a:rPr>
              <a:t>declarations</a:t>
            </a:r>
            <a:r>
              <a:rPr sz="2900" spc="-30" dirty="0">
                <a:latin typeface="Times New Roman"/>
                <a:cs typeface="Times New Roman"/>
              </a:rPr>
              <a:t> </a:t>
            </a:r>
            <a:r>
              <a:rPr sz="2900" dirty="0">
                <a:latin typeface="Times New Roman"/>
                <a:cs typeface="Times New Roman"/>
              </a:rPr>
              <a:t>are</a:t>
            </a:r>
            <a:r>
              <a:rPr sz="2900" spc="5" dirty="0">
                <a:latin typeface="Times New Roman"/>
                <a:cs typeface="Times New Roman"/>
              </a:rPr>
              <a:t> </a:t>
            </a:r>
            <a:r>
              <a:rPr sz="2900" spc="-5" dirty="0">
                <a:latin typeface="Times New Roman"/>
                <a:cs typeface="Times New Roman"/>
              </a:rPr>
              <a:t>equivalent:</a:t>
            </a:r>
            <a:endParaRPr sz="2900" dirty="0">
              <a:latin typeface="Times New Roman"/>
              <a:cs typeface="Times New Roman"/>
            </a:endParaRPr>
          </a:p>
          <a:p>
            <a:pPr marL="378460">
              <a:lnSpc>
                <a:spcPct val="100000"/>
              </a:lnSpc>
              <a:spcBef>
                <a:spcPts val="300"/>
              </a:spcBef>
            </a:pPr>
            <a:r>
              <a:rPr sz="1800" spc="-55" dirty="0">
                <a:solidFill>
                  <a:srgbClr val="93B6D2"/>
                </a:solidFill>
                <a:latin typeface="Microsoft Sans Serif"/>
                <a:cs typeface="Microsoft Sans Serif"/>
              </a:rPr>
              <a:t>🞑</a:t>
            </a:r>
            <a:r>
              <a:rPr sz="1800" spc="40" dirty="0">
                <a:solidFill>
                  <a:srgbClr val="93B6D2"/>
                </a:solidFill>
                <a:latin typeface="Microsoft Sans Serif"/>
                <a:cs typeface="Microsoft Sans Serif"/>
              </a:rPr>
              <a:t> </a:t>
            </a:r>
            <a:r>
              <a:rPr sz="2600" b="1" dirty="0">
                <a:solidFill>
                  <a:srgbClr val="006FC0"/>
                </a:solidFill>
                <a:latin typeface="Times New Roman"/>
                <a:cs typeface="Times New Roman"/>
              </a:rPr>
              <a:t>int</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al[]</a:t>
            </a:r>
            <a:r>
              <a:rPr sz="2600" b="1" spc="-25"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15" dirty="0">
                <a:solidFill>
                  <a:srgbClr val="006FC0"/>
                </a:solidFill>
                <a:latin typeface="Times New Roman"/>
                <a:cs typeface="Times New Roman"/>
              </a:rPr>
              <a:t> </a:t>
            </a:r>
            <a:r>
              <a:rPr sz="2600" b="1" dirty="0">
                <a:solidFill>
                  <a:srgbClr val="006FC0"/>
                </a:solidFill>
                <a:latin typeface="Times New Roman"/>
                <a:cs typeface="Times New Roman"/>
              </a:rPr>
              <a:t>new</a:t>
            </a:r>
            <a:r>
              <a:rPr sz="2600" b="1" spc="-25" dirty="0">
                <a:solidFill>
                  <a:srgbClr val="006FC0"/>
                </a:solidFill>
                <a:latin typeface="Times New Roman"/>
                <a:cs typeface="Times New Roman"/>
              </a:rPr>
              <a:t> </a:t>
            </a:r>
            <a:r>
              <a:rPr sz="2600" b="1" dirty="0">
                <a:solidFill>
                  <a:srgbClr val="006FC0"/>
                </a:solidFill>
                <a:latin typeface="Times New Roman"/>
                <a:cs typeface="Times New Roman"/>
              </a:rPr>
              <a:t>int[3];</a:t>
            </a:r>
            <a:endParaRPr sz="2600" dirty="0">
              <a:latin typeface="Times New Roman"/>
              <a:cs typeface="Times New Roman"/>
            </a:endParaRPr>
          </a:p>
          <a:p>
            <a:pPr marL="378460">
              <a:lnSpc>
                <a:spcPct val="100000"/>
              </a:lnSpc>
              <a:spcBef>
                <a:spcPts val="290"/>
              </a:spcBef>
            </a:pPr>
            <a:r>
              <a:rPr sz="1800" spc="-55" dirty="0">
                <a:solidFill>
                  <a:srgbClr val="93B6D2"/>
                </a:solidFill>
                <a:latin typeface="Microsoft Sans Serif"/>
                <a:cs typeface="Microsoft Sans Serif"/>
              </a:rPr>
              <a:t>🞑</a:t>
            </a:r>
            <a:r>
              <a:rPr sz="1800" spc="45" dirty="0">
                <a:solidFill>
                  <a:srgbClr val="93B6D2"/>
                </a:solidFill>
                <a:latin typeface="Microsoft Sans Serif"/>
                <a:cs typeface="Microsoft Sans Serif"/>
              </a:rPr>
              <a:t> </a:t>
            </a:r>
            <a:r>
              <a:rPr sz="2600" b="1" dirty="0">
                <a:solidFill>
                  <a:srgbClr val="006FC0"/>
                </a:solidFill>
                <a:latin typeface="Times New Roman"/>
                <a:cs typeface="Times New Roman"/>
              </a:rPr>
              <a:t>int</a:t>
            </a:r>
            <a:r>
              <a:rPr sz="2600" b="1" spc="-10" dirty="0">
                <a:solidFill>
                  <a:srgbClr val="006FC0"/>
                </a:solidFill>
                <a:latin typeface="Times New Roman"/>
                <a:cs typeface="Times New Roman"/>
              </a:rPr>
              <a:t> </a:t>
            </a:r>
            <a:r>
              <a:rPr sz="2600" b="1" spc="-5" dirty="0">
                <a:solidFill>
                  <a:srgbClr val="006FC0"/>
                </a:solidFill>
                <a:latin typeface="Times New Roman"/>
                <a:cs typeface="Times New Roman"/>
              </a:rPr>
              <a:t>[]a2</a:t>
            </a:r>
            <a:r>
              <a:rPr sz="2600" b="1" spc="-20"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new</a:t>
            </a:r>
            <a:r>
              <a:rPr sz="2600" b="1" spc="-20" dirty="0">
                <a:solidFill>
                  <a:srgbClr val="006FC0"/>
                </a:solidFill>
                <a:latin typeface="Times New Roman"/>
                <a:cs typeface="Times New Roman"/>
              </a:rPr>
              <a:t> </a:t>
            </a:r>
            <a:r>
              <a:rPr sz="2600" b="1" dirty="0">
                <a:solidFill>
                  <a:srgbClr val="006FC0"/>
                </a:solidFill>
                <a:latin typeface="Times New Roman"/>
                <a:cs typeface="Times New Roman"/>
              </a:rPr>
              <a:t>int[3];</a:t>
            </a:r>
            <a:endParaRPr sz="2600" dirty="0">
              <a:latin typeface="Times New Roman"/>
              <a:cs typeface="Times New Roman"/>
            </a:endParaRPr>
          </a:p>
          <a:p>
            <a:pPr marL="332740" indent="-320040">
              <a:lnSpc>
                <a:spcPct val="100000"/>
              </a:lnSpc>
              <a:spcBef>
                <a:spcPts val="335"/>
              </a:spcBef>
              <a:buClr>
                <a:srgbClr val="DD8046"/>
              </a:buClr>
              <a:buSzPct val="60344"/>
              <a:buFont typeface="Wingdings"/>
              <a:buChar char=""/>
              <a:tabLst>
                <a:tab pos="332740" algn="l"/>
              </a:tabLst>
            </a:pPr>
            <a:r>
              <a:rPr sz="2900" dirty="0">
                <a:latin typeface="Times New Roman"/>
                <a:cs typeface="Times New Roman"/>
              </a:rPr>
              <a:t>The</a:t>
            </a:r>
            <a:r>
              <a:rPr sz="2900" spc="-5" dirty="0">
                <a:latin typeface="Times New Roman"/>
                <a:cs typeface="Times New Roman"/>
              </a:rPr>
              <a:t> </a:t>
            </a:r>
            <a:r>
              <a:rPr sz="2900" dirty="0">
                <a:latin typeface="Times New Roman"/>
                <a:cs typeface="Times New Roman"/>
              </a:rPr>
              <a:t>following</a:t>
            </a:r>
            <a:r>
              <a:rPr sz="2900" spc="-30" dirty="0">
                <a:latin typeface="Times New Roman"/>
                <a:cs typeface="Times New Roman"/>
              </a:rPr>
              <a:t> </a:t>
            </a:r>
            <a:r>
              <a:rPr sz="2900" spc="-5" dirty="0">
                <a:latin typeface="Times New Roman"/>
                <a:cs typeface="Times New Roman"/>
              </a:rPr>
              <a:t>declarations</a:t>
            </a:r>
            <a:r>
              <a:rPr sz="2900" spc="-20" dirty="0">
                <a:latin typeface="Times New Roman"/>
                <a:cs typeface="Times New Roman"/>
              </a:rPr>
              <a:t> </a:t>
            </a:r>
            <a:r>
              <a:rPr sz="2900" dirty="0">
                <a:latin typeface="Times New Roman"/>
                <a:cs typeface="Times New Roman"/>
              </a:rPr>
              <a:t>are</a:t>
            </a:r>
            <a:r>
              <a:rPr sz="2900" spc="5" dirty="0">
                <a:latin typeface="Times New Roman"/>
                <a:cs typeface="Times New Roman"/>
              </a:rPr>
              <a:t> </a:t>
            </a:r>
            <a:r>
              <a:rPr sz="2900" spc="-5" dirty="0">
                <a:latin typeface="Times New Roman"/>
                <a:cs typeface="Times New Roman"/>
              </a:rPr>
              <a:t>also</a:t>
            </a:r>
            <a:r>
              <a:rPr sz="2900" spc="10" dirty="0">
                <a:latin typeface="Times New Roman"/>
                <a:cs typeface="Times New Roman"/>
              </a:rPr>
              <a:t> </a:t>
            </a:r>
            <a:r>
              <a:rPr sz="2900" spc="-5" dirty="0">
                <a:latin typeface="Times New Roman"/>
                <a:cs typeface="Times New Roman"/>
              </a:rPr>
              <a:t>equivalent:</a:t>
            </a:r>
            <a:endParaRPr sz="2900" dirty="0">
              <a:latin typeface="Times New Roman"/>
              <a:cs typeface="Times New Roman"/>
            </a:endParaRPr>
          </a:p>
          <a:p>
            <a:pPr marL="378460">
              <a:lnSpc>
                <a:spcPct val="100000"/>
              </a:lnSpc>
              <a:spcBef>
                <a:spcPts val="300"/>
              </a:spcBef>
            </a:pPr>
            <a:r>
              <a:rPr sz="1800" spc="-55" dirty="0">
                <a:solidFill>
                  <a:srgbClr val="93B6D2"/>
                </a:solidFill>
                <a:latin typeface="Microsoft Sans Serif"/>
                <a:cs typeface="Microsoft Sans Serif"/>
              </a:rPr>
              <a:t>🞑</a:t>
            </a:r>
            <a:r>
              <a:rPr sz="1800" spc="40" dirty="0">
                <a:solidFill>
                  <a:srgbClr val="93B6D2"/>
                </a:solidFill>
                <a:latin typeface="Microsoft Sans Serif"/>
                <a:cs typeface="Microsoft Sans Serif"/>
              </a:rPr>
              <a:t> </a:t>
            </a:r>
            <a:r>
              <a:rPr sz="2600" b="1" dirty="0">
                <a:solidFill>
                  <a:srgbClr val="006FC0"/>
                </a:solidFill>
                <a:latin typeface="Times New Roman"/>
                <a:cs typeface="Times New Roman"/>
              </a:rPr>
              <a:t>char</a:t>
            </a:r>
            <a:r>
              <a:rPr sz="2600" b="1" spc="-75" dirty="0">
                <a:solidFill>
                  <a:srgbClr val="006FC0"/>
                </a:solidFill>
                <a:latin typeface="Times New Roman"/>
                <a:cs typeface="Times New Roman"/>
              </a:rPr>
              <a:t> </a:t>
            </a:r>
            <a:r>
              <a:rPr sz="2600" b="1" dirty="0">
                <a:solidFill>
                  <a:srgbClr val="006FC0"/>
                </a:solidFill>
                <a:latin typeface="Times New Roman"/>
                <a:cs typeface="Times New Roman"/>
              </a:rPr>
              <a:t>twod1[][]</a:t>
            </a:r>
            <a:r>
              <a:rPr sz="2600" b="1" spc="-45"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5" dirty="0">
                <a:solidFill>
                  <a:srgbClr val="006FC0"/>
                </a:solidFill>
                <a:latin typeface="Times New Roman"/>
                <a:cs typeface="Times New Roman"/>
              </a:rPr>
              <a:t> </a:t>
            </a:r>
            <a:r>
              <a:rPr sz="2600" b="1" dirty="0">
                <a:solidFill>
                  <a:srgbClr val="006FC0"/>
                </a:solidFill>
                <a:latin typeface="Times New Roman"/>
                <a:cs typeface="Times New Roman"/>
              </a:rPr>
              <a:t>new</a:t>
            </a:r>
            <a:r>
              <a:rPr sz="2600" b="1" spc="-20" dirty="0">
                <a:solidFill>
                  <a:srgbClr val="006FC0"/>
                </a:solidFill>
                <a:latin typeface="Times New Roman"/>
                <a:cs typeface="Times New Roman"/>
              </a:rPr>
              <a:t> </a:t>
            </a:r>
            <a:r>
              <a:rPr sz="2600" b="1" dirty="0">
                <a:solidFill>
                  <a:srgbClr val="006FC0"/>
                </a:solidFill>
                <a:latin typeface="Times New Roman"/>
                <a:cs typeface="Times New Roman"/>
              </a:rPr>
              <a:t>char[3][4];</a:t>
            </a:r>
            <a:endParaRPr sz="2600" dirty="0">
              <a:latin typeface="Times New Roman"/>
              <a:cs typeface="Times New Roman"/>
            </a:endParaRPr>
          </a:p>
          <a:p>
            <a:pPr marL="378460">
              <a:lnSpc>
                <a:spcPct val="100000"/>
              </a:lnSpc>
              <a:spcBef>
                <a:spcPts val="295"/>
              </a:spcBef>
            </a:pPr>
            <a:r>
              <a:rPr sz="1800" spc="-55" dirty="0">
                <a:solidFill>
                  <a:srgbClr val="93B6D2"/>
                </a:solidFill>
                <a:latin typeface="Microsoft Sans Serif"/>
                <a:cs typeface="Microsoft Sans Serif"/>
              </a:rPr>
              <a:t>🞑</a:t>
            </a:r>
            <a:r>
              <a:rPr sz="1800" spc="45" dirty="0">
                <a:solidFill>
                  <a:srgbClr val="93B6D2"/>
                </a:solidFill>
                <a:latin typeface="Microsoft Sans Serif"/>
                <a:cs typeface="Microsoft Sans Serif"/>
              </a:rPr>
              <a:t> </a:t>
            </a:r>
            <a:r>
              <a:rPr sz="2600" b="1" dirty="0">
                <a:solidFill>
                  <a:srgbClr val="006FC0"/>
                </a:solidFill>
                <a:latin typeface="Times New Roman"/>
                <a:cs typeface="Times New Roman"/>
              </a:rPr>
              <a:t>char[][]</a:t>
            </a:r>
            <a:r>
              <a:rPr sz="2600" b="1" spc="-45" dirty="0">
                <a:solidFill>
                  <a:srgbClr val="006FC0"/>
                </a:solidFill>
                <a:latin typeface="Times New Roman"/>
                <a:cs typeface="Times New Roman"/>
              </a:rPr>
              <a:t> </a:t>
            </a:r>
            <a:r>
              <a:rPr sz="2600" b="1" spc="-5" dirty="0">
                <a:solidFill>
                  <a:srgbClr val="006FC0"/>
                </a:solidFill>
                <a:latin typeface="Times New Roman"/>
                <a:cs typeface="Times New Roman"/>
              </a:rPr>
              <a:t>twod2</a:t>
            </a:r>
            <a:r>
              <a:rPr sz="2600" b="1" spc="-15"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new</a:t>
            </a:r>
            <a:r>
              <a:rPr sz="2600" b="1" spc="-5" dirty="0">
                <a:solidFill>
                  <a:srgbClr val="006FC0"/>
                </a:solidFill>
                <a:latin typeface="Times New Roman"/>
                <a:cs typeface="Times New Roman"/>
              </a:rPr>
              <a:t> </a:t>
            </a:r>
            <a:r>
              <a:rPr sz="2600" b="1" dirty="0">
                <a:solidFill>
                  <a:srgbClr val="006FC0"/>
                </a:solidFill>
                <a:latin typeface="Times New Roman"/>
                <a:cs typeface="Times New Roman"/>
              </a:rPr>
              <a:t>char[3][4];</a:t>
            </a:r>
            <a:endParaRPr sz="2600" dirty="0">
              <a:latin typeface="Times New Roman"/>
              <a:cs typeface="Times New Roman"/>
            </a:endParaRPr>
          </a:p>
          <a:p>
            <a:pPr marL="332740" indent="-320040">
              <a:lnSpc>
                <a:spcPct val="100000"/>
              </a:lnSpc>
              <a:spcBef>
                <a:spcPts val="335"/>
              </a:spcBef>
              <a:buClr>
                <a:srgbClr val="DD8046"/>
              </a:buClr>
              <a:buSzPct val="60344"/>
              <a:buFont typeface="Wingdings"/>
              <a:buChar char=""/>
              <a:tabLst>
                <a:tab pos="332740" algn="l"/>
              </a:tabLst>
            </a:pPr>
            <a:r>
              <a:rPr sz="2900" dirty="0">
                <a:latin typeface="Times New Roman"/>
                <a:cs typeface="Times New Roman"/>
              </a:rPr>
              <a:t>Declaring</a:t>
            </a:r>
            <a:r>
              <a:rPr sz="2900" spc="-25" dirty="0">
                <a:latin typeface="Times New Roman"/>
                <a:cs typeface="Times New Roman"/>
              </a:rPr>
              <a:t> </a:t>
            </a:r>
            <a:r>
              <a:rPr sz="2900" spc="-5" dirty="0">
                <a:latin typeface="Times New Roman"/>
                <a:cs typeface="Times New Roman"/>
              </a:rPr>
              <a:t>several</a:t>
            </a:r>
            <a:r>
              <a:rPr sz="2900" spc="-15" dirty="0">
                <a:latin typeface="Times New Roman"/>
                <a:cs typeface="Times New Roman"/>
              </a:rPr>
              <a:t> </a:t>
            </a:r>
            <a:r>
              <a:rPr sz="2900" dirty="0">
                <a:latin typeface="Times New Roman"/>
                <a:cs typeface="Times New Roman"/>
              </a:rPr>
              <a:t>arrays</a:t>
            </a:r>
            <a:r>
              <a:rPr sz="2900" spc="-25" dirty="0">
                <a:latin typeface="Times New Roman"/>
                <a:cs typeface="Times New Roman"/>
              </a:rPr>
              <a:t> </a:t>
            </a:r>
            <a:r>
              <a:rPr sz="2900" dirty="0">
                <a:latin typeface="Times New Roman"/>
                <a:cs typeface="Times New Roman"/>
              </a:rPr>
              <a:t>at</a:t>
            </a:r>
            <a:r>
              <a:rPr sz="2900" spc="-5" dirty="0">
                <a:latin typeface="Times New Roman"/>
                <a:cs typeface="Times New Roman"/>
              </a:rPr>
              <a:t> </a:t>
            </a:r>
            <a:r>
              <a:rPr sz="2900" dirty="0">
                <a:latin typeface="Times New Roman"/>
                <a:cs typeface="Times New Roman"/>
              </a:rPr>
              <a:t>the</a:t>
            </a:r>
            <a:r>
              <a:rPr sz="2900" spc="-20" dirty="0">
                <a:latin typeface="Times New Roman"/>
                <a:cs typeface="Times New Roman"/>
              </a:rPr>
              <a:t> </a:t>
            </a:r>
            <a:r>
              <a:rPr sz="2900" spc="-15" dirty="0">
                <a:latin typeface="Times New Roman"/>
                <a:cs typeface="Times New Roman"/>
              </a:rPr>
              <a:t>same</a:t>
            </a:r>
            <a:r>
              <a:rPr sz="2900" spc="15" dirty="0">
                <a:latin typeface="Times New Roman"/>
                <a:cs typeface="Times New Roman"/>
              </a:rPr>
              <a:t> </a:t>
            </a:r>
            <a:r>
              <a:rPr sz="2900" spc="-10" dirty="0">
                <a:latin typeface="Times New Roman"/>
                <a:cs typeface="Times New Roman"/>
              </a:rPr>
              <a:t>time.</a:t>
            </a:r>
            <a:endParaRPr sz="2900" dirty="0">
              <a:latin typeface="Times New Roman"/>
              <a:cs typeface="Times New Roman"/>
            </a:endParaRPr>
          </a:p>
          <a:p>
            <a:pPr marR="5080" algn="r">
              <a:lnSpc>
                <a:spcPts val="2965"/>
              </a:lnSpc>
              <a:spcBef>
                <a:spcPts val="300"/>
              </a:spcBef>
            </a:pPr>
            <a:r>
              <a:rPr sz="1800" spc="-5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b="1" dirty="0">
                <a:solidFill>
                  <a:srgbClr val="006FC0"/>
                </a:solidFill>
                <a:latin typeface="Times New Roman"/>
                <a:cs typeface="Times New Roman"/>
              </a:rPr>
              <a:t>int</a:t>
            </a:r>
            <a:r>
              <a:rPr sz="2600" b="1" spc="5" dirty="0">
                <a:solidFill>
                  <a:srgbClr val="006FC0"/>
                </a:solidFill>
                <a:latin typeface="Times New Roman"/>
                <a:cs typeface="Times New Roman"/>
              </a:rPr>
              <a:t> </a:t>
            </a:r>
            <a:r>
              <a:rPr sz="2600" b="1" spc="-5" dirty="0">
                <a:solidFill>
                  <a:srgbClr val="006FC0"/>
                </a:solidFill>
                <a:latin typeface="Times New Roman"/>
                <a:cs typeface="Times New Roman"/>
              </a:rPr>
              <a:t>[] </a:t>
            </a:r>
            <a:r>
              <a:rPr sz="2600" b="1" dirty="0">
                <a:solidFill>
                  <a:srgbClr val="006FC0"/>
                </a:solidFill>
                <a:latin typeface="Times New Roman"/>
                <a:cs typeface="Times New Roman"/>
              </a:rPr>
              <a:t>nums, nums2,</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nums3;</a:t>
            </a:r>
            <a:r>
              <a:rPr sz="2600" b="1" spc="-15" dirty="0">
                <a:solidFill>
                  <a:srgbClr val="006FC0"/>
                </a:solidFill>
                <a:latin typeface="Times New Roman"/>
                <a:cs typeface="Times New Roman"/>
              </a:rPr>
              <a:t> </a:t>
            </a:r>
            <a:r>
              <a:rPr sz="2600" dirty="0">
                <a:latin typeface="Times New Roman"/>
                <a:cs typeface="Times New Roman"/>
              </a:rPr>
              <a:t>//</a:t>
            </a:r>
            <a:r>
              <a:rPr sz="2600" spc="-5" dirty="0">
                <a:latin typeface="Times New Roman"/>
                <a:cs typeface="Times New Roman"/>
              </a:rPr>
              <a:t> create</a:t>
            </a:r>
            <a:r>
              <a:rPr sz="2600" spc="5" dirty="0">
                <a:latin typeface="Times New Roman"/>
                <a:cs typeface="Times New Roman"/>
              </a:rPr>
              <a:t> </a:t>
            </a:r>
            <a:r>
              <a:rPr sz="2600" spc="-5" dirty="0">
                <a:latin typeface="Times New Roman"/>
                <a:cs typeface="Times New Roman"/>
              </a:rPr>
              <a:t>three arrays,</a:t>
            </a:r>
            <a:r>
              <a:rPr sz="2600" spc="-15" dirty="0">
                <a:latin typeface="Times New Roman"/>
                <a:cs typeface="Times New Roman"/>
              </a:rPr>
              <a:t> </a:t>
            </a:r>
            <a:r>
              <a:rPr sz="2600" spc="-5" dirty="0">
                <a:latin typeface="Times New Roman"/>
                <a:cs typeface="Times New Roman"/>
              </a:rPr>
              <a:t>creates</a:t>
            </a:r>
            <a:endParaRPr sz="2600" dirty="0">
              <a:latin typeface="Times New Roman"/>
              <a:cs typeface="Times New Roman"/>
            </a:endParaRPr>
          </a:p>
          <a:p>
            <a:pPr marR="80645" algn="r">
              <a:lnSpc>
                <a:spcPts val="2965"/>
              </a:lnSpc>
            </a:pPr>
            <a:r>
              <a:rPr sz="2600" spc="-5" dirty="0">
                <a:latin typeface="Times New Roman"/>
                <a:cs typeface="Times New Roman"/>
              </a:rPr>
              <a:t>//three array variables </a:t>
            </a:r>
            <a:r>
              <a:rPr sz="2600" dirty="0">
                <a:latin typeface="Times New Roman"/>
                <a:cs typeface="Times New Roman"/>
              </a:rPr>
              <a:t>of</a:t>
            </a:r>
            <a:r>
              <a:rPr sz="2600" spc="-10" dirty="0">
                <a:latin typeface="Times New Roman"/>
                <a:cs typeface="Times New Roman"/>
              </a:rPr>
              <a:t> </a:t>
            </a:r>
            <a:r>
              <a:rPr sz="2600" dirty="0">
                <a:latin typeface="Times New Roman"/>
                <a:cs typeface="Times New Roman"/>
              </a:rPr>
              <a:t>type</a:t>
            </a:r>
            <a:r>
              <a:rPr sz="2600" spc="-10" dirty="0">
                <a:latin typeface="Times New Roman"/>
                <a:cs typeface="Times New Roman"/>
              </a:rPr>
              <a:t> </a:t>
            </a:r>
            <a:r>
              <a:rPr sz="2600" dirty="0">
                <a:latin typeface="Times New Roman"/>
                <a:cs typeface="Times New Roman"/>
              </a:rPr>
              <a:t>int. It</a:t>
            </a:r>
            <a:r>
              <a:rPr sz="2600" spc="-5" dirty="0">
                <a:latin typeface="Times New Roman"/>
                <a:cs typeface="Times New Roman"/>
              </a:rPr>
              <a:t> is</a:t>
            </a:r>
            <a:r>
              <a:rPr sz="2600" spc="5" dirty="0">
                <a:latin typeface="Times New Roman"/>
                <a:cs typeface="Times New Roman"/>
              </a:rPr>
              <a:t> </a:t>
            </a:r>
            <a:r>
              <a:rPr sz="2600" dirty="0">
                <a:latin typeface="Times New Roman"/>
                <a:cs typeface="Times New Roman"/>
              </a:rPr>
              <a:t>the</a:t>
            </a:r>
            <a:r>
              <a:rPr sz="2600" spc="5" dirty="0">
                <a:latin typeface="Times New Roman"/>
                <a:cs typeface="Times New Roman"/>
              </a:rPr>
              <a:t> </a:t>
            </a:r>
            <a:r>
              <a:rPr sz="2600" spc="-10" dirty="0">
                <a:latin typeface="Times New Roman"/>
                <a:cs typeface="Times New Roman"/>
              </a:rPr>
              <a:t>same</a:t>
            </a:r>
            <a:r>
              <a:rPr sz="2600" spc="5" dirty="0">
                <a:latin typeface="Times New Roman"/>
                <a:cs typeface="Times New Roman"/>
              </a:rPr>
              <a:t> </a:t>
            </a:r>
            <a:r>
              <a:rPr sz="2600" dirty="0">
                <a:latin typeface="Times New Roman"/>
                <a:cs typeface="Times New Roman"/>
              </a:rPr>
              <a:t>as</a:t>
            </a:r>
            <a:r>
              <a:rPr sz="2600" spc="-5" dirty="0">
                <a:latin typeface="Times New Roman"/>
                <a:cs typeface="Times New Roman"/>
              </a:rPr>
              <a:t> writing</a:t>
            </a:r>
            <a:endParaRPr sz="2600" dirty="0">
              <a:latin typeface="Times New Roman"/>
              <a:cs typeface="Times New Roman"/>
            </a:endParaRPr>
          </a:p>
          <a:p>
            <a:pPr marL="378460">
              <a:lnSpc>
                <a:spcPct val="100000"/>
              </a:lnSpc>
              <a:spcBef>
                <a:spcPts val="290"/>
              </a:spcBef>
            </a:pPr>
            <a:r>
              <a:rPr sz="1800" spc="-5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b="1" dirty="0">
                <a:solidFill>
                  <a:srgbClr val="006FC0"/>
                </a:solidFill>
                <a:latin typeface="Times New Roman"/>
                <a:cs typeface="Times New Roman"/>
              </a:rPr>
              <a:t>int</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nums[],</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nums2[],</a:t>
            </a:r>
            <a:r>
              <a:rPr sz="2600" b="1" spc="-30" dirty="0">
                <a:solidFill>
                  <a:srgbClr val="006FC0"/>
                </a:solidFill>
                <a:latin typeface="Times New Roman"/>
                <a:cs typeface="Times New Roman"/>
              </a:rPr>
              <a:t> </a:t>
            </a:r>
            <a:r>
              <a:rPr sz="2600" b="1" dirty="0">
                <a:solidFill>
                  <a:srgbClr val="006FC0"/>
                </a:solidFill>
                <a:latin typeface="Times New Roman"/>
                <a:cs typeface="Times New Roman"/>
              </a:rPr>
              <a:t>nums3[];</a:t>
            </a:r>
            <a:r>
              <a:rPr sz="2600" b="1" spc="-10" dirty="0">
                <a:solidFill>
                  <a:srgbClr val="006FC0"/>
                </a:solidFill>
                <a:latin typeface="Times New Roman"/>
                <a:cs typeface="Times New Roman"/>
              </a:rPr>
              <a:t> </a:t>
            </a:r>
            <a:r>
              <a:rPr sz="2600" dirty="0">
                <a:latin typeface="Times New Roman"/>
                <a:cs typeface="Times New Roman"/>
              </a:rPr>
              <a:t>//</a:t>
            </a:r>
            <a:r>
              <a:rPr sz="2600" spc="-5" dirty="0">
                <a:latin typeface="Times New Roman"/>
                <a:cs typeface="Times New Roman"/>
              </a:rPr>
              <a:t> create</a:t>
            </a:r>
            <a:r>
              <a:rPr sz="2600" spc="-20" dirty="0">
                <a:latin typeface="Times New Roman"/>
                <a:cs typeface="Times New Roman"/>
              </a:rPr>
              <a:t> </a:t>
            </a:r>
            <a:r>
              <a:rPr sz="2600" dirty="0">
                <a:latin typeface="Times New Roman"/>
                <a:cs typeface="Times New Roman"/>
              </a:rPr>
              <a:t>three</a:t>
            </a:r>
            <a:r>
              <a:rPr sz="2600" spc="-5" dirty="0">
                <a:latin typeface="Times New Roman"/>
                <a:cs typeface="Times New Roman"/>
              </a:rPr>
              <a:t> arrays</a:t>
            </a:r>
            <a:endParaRPr sz="26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67</a:t>
            </a:r>
            <a:endParaRPr sz="1200">
              <a:latin typeface="Times New Roman"/>
              <a:cs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63124" y="1600200"/>
            <a:ext cx="7261675" cy="4857750"/>
          </a:xfrm>
          <a:prstGeom prst="rect">
            <a:avLst/>
          </a:prstGeom>
        </p:spPr>
      </p:pic>
      <p:sp>
        <p:nvSpPr>
          <p:cNvPr id="5" name="TextBox 4"/>
          <p:cNvSpPr txBox="1"/>
          <p:nvPr/>
        </p:nvSpPr>
        <p:spPr>
          <a:xfrm>
            <a:off x="7086600" y="4572000"/>
            <a:ext cx="1600200" cy="1477328"/>
          </a:xfrm>
          <a:prstGeom prst="rect">
            <a:avLst/>
          </a:prstGeom>
          <a:noFill/>
        </p:spPr>
        <p:txBody>
          <a:bodyPr wrap="square" rtlCol="0">
            <a:spAutoFit/>
          </a:bodyPr>
          <a:lstStyle/>
          <a:p>
            <a:r>
              <a:rPr lang="en-IN" dirty="0" smtClean="0"/>
              <a:t>OUTPUT:</a:t>
            </a:r>
          </a:p>
          <a:p>
            <a:pPr lvl="1"/>
            <a:r>
              <a:rPr lang="en-IN" dirty="0" smtClean="0"/>
              <a:t>0 </a:t>
            </a:r>
          </a:p>
          <a:p>
            <a:pPr lvl="1"/>
            <a:r>
              <a:rPr lang="en-IN" dirty="0" smtClean="0"/>
              <a:t>1 2</a:t>
            </a:r>
          </a:p>
          <a:p>
            <a:pPr lvl="1"/>
            <a:r>
              <a:rPr lang="en-IN" dirty="0" smtClean="0"/>
              <a:t>3 </a:t>
            </a:r>
            <a:r>
              <a:rPr lang="en-IN" dirty="0"/>
              <a:t>4 5 </a:t>
            </a:r>
            <a:endParaRPr lang="en-IN" dirty="0" smtClean="0"/>
          </a:p>
          <a:p>
            <a:pPr lvl="1"/>
            <a:r>
              <a:rPr lang="en-IN" dirty="0" smtClean="0"/>
              <a:t>6 </a:t>
            </a:r>
            <a:r>
              <a:rPr lang="en-IN" dirty="0"/>
              <a:t>7 8 9</a:t>
            </a:r>
          </a:p>
        </p:txBody>
      </p:sp>
    </p:spTree>
    <p:extLst>
      <p:ext uri="{BB962C8B-B14F-4D97-AF65-F5344CB8AC3E}">
        <p14:creationId xmlns:p14="http://schemas.microsoft.com/office/powerpoint/2010/main" val="42310618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1752600"/>
            <a:ext cx="8001000" cy="3416320"/>
          </a:xfrm>
          <a:prstGeom prst="rect">
            <a:avLst/>
          </a:prstGeom>
        </p:spPr>
        <p:txBody>
          <a:bodyPr wrap="square">
            <a:spAutoFit/>
          </a:bodyPr>
          <a:lstStyle/>
          <a:p>
            <a:pPr marL="342900" indent="-342900">
              <a:buFont typeface="Arial" panose="020B0604020202020204" pitchFamily="34" charset="0"/>
              <a:buChar char="•"/>
            </a:pPr>
            <a:r>
              <a:rPr lang="en-US" sz="2400" dirty="0" smtClean="0"/>
              <a:t>Following </a:t>
            </a:r>
            <a:r>
              <a:rPr lang="en-US" sz="2400" dirty="0"/>
              <a:t>code allocates memory for the first dimension of twoD when it is declared. It allocates the second dimension separately</a:t>
            </a:r>
            <a:r>
              <a:rPr lang="en-US" sz="2400" dirty="0" smtClean="0"/>
              <a:t>.</a:t>
            </a:r>
          </a:p>
          <a:p>
            <a:endParaRPr lang="en-US" sz="2400" dirty="0" smtClean="0"/>
          </a:p>
          <a:p>
            <a:r>
              <a:rPr lang="en-US" sz="2400" dirty="0" smtClean="0"/>
              <a:t> 	int </a:t>
            </a:r>
            <a:r>
              <a:rPr lang="en-US" sz="2400" dirty="0"/>
              <a:t>twoD[][] = new int[4][]; </a:t>
            </a:r>
            <a:endParaRPr lang="en-US" sz="2400" dirty="0" smtClean="0"/>
          </a:p>
          <a:p>
            <a:pPr lvl="1"/>
            <a:r>
              <a:rPr lang="en-US" sz="2400" dirty="0" smtClean="0"/>
              <a:t>		twoD[0</a:t>
            </a:r>
            <a:r>
              <a:rPr lang="en-US" sz="2400" dirty="0"/>
              <a:t>] = new int[5]; </a:t>
            </a:r>
            <a:endParaRPr lang="en-US" sz="2400" dirty="0" smtClean="0"/>
          </a:p>
          <a:p>
            <a:pPr lvl="4"/>
            <a:r>
              <a:rPr lang="en-US" sz="2400" dirty="0" smtClean="0"/>
              <a:t>twoD[1</a:t>
            </a:r>
            <a:r>
              <a:rPr lang="en-US" sz="2400" dirty="0"/>
              <a:t>] = new int[5</a:t>
            </a:r>
            <a:r>
              <a:rPr lang="en-US" sz="2400" dirty="0" smtClean="0"/>
              <a:t>];</a:t>
            </a:r>
          </a:p>
          <a:p>
            <a:pPr lvl="4"/>
            <a:r>
              <a:rPr lang="en-US" sz="2400" dirty="0" smtClean="0"/>
              <a:t> </a:t>
            </a:r>
            <a:r>
              <a:rPr lang="en-US" sz="2400" dirty="0"/>
              <a:t>twoD[2] = new int[5</a:t>
            </a:r>
            <a:r>
              <a:rPr lang="en-US" sz="2400" dirty="0" smtClean="0"/>
              <a:t>];</a:t>
            </a:r>
          </a:p>
          <a:p>
            <a:pPr lvl="4"/>
            <a:r>
              <a:rPr lang="en-US" sz="2400" dirty="0" smtClean="0"/>
              <a:t> </a:t>
            </a:r>
            <a:r>
              <a:rPr lang="en-US" sz="2400" dirty="0"/>
              <a:t>twoD[3] = new int[5</a:t>
            </a:r>
            <a:r>
              <a:rPr lang="en-US" sz="2400" dirty="0" smtClean="0"/>
              <a:t>];</a:t>
            </a:r>
          </a:p>
        </p:txBody>
      </p:sp>
      <p:sp>
        <p:nvSpPr>
          <p:cNvPr id="5" name="Rectangle 4"/>
          <p:cNvSpPr/>
          <p:nvPr/>
        </p:nvSpPr>
        <p:spPr>
          <a:xfrm>
            <a:off x="-762000" y="4953000"/>
            <a:ext cx="9296400" cy="1569660"/>
          </a:xfrm>
          <a:prstGeom prst="rect">
            <a:avLst/>
          </a:prstGeom>
        </p:spPr>
        <p:txBody>
          <a:bodyPr wrap="square">
            <a:spAutoFit/>
          </a:bodyPr>
          <a:lstStyle/>
          <a:p>
            <a:pPr marL="2114550" lvl="4" indent="-285750">
              <a:buFont typeface="Arial" panose="020B0604020202020204" pitchFamily="34" charset="0"/>
              <a:buChar char="•"/>
            </a:pPr>
            <a:r>
              <a:rPr lang="en-US" sz="2400" dirty="0"/>
              <a:t>When you allocate dimensions individually, you do not need to allocate the same number of dimensions individually, you do not need to allocate the same number of elements for each dimension</a:t>
            </a:r>
          </a:p>
        </p:txBody>
      </p:sp>
    </p:spTree>
    <p:extLst>
      <p:ext uri="{BB962C8B-B14F-4D97-AF65-F5344CB8AC3E}">
        <p14:creationId xmlns:p14="http://schemas.microsoft.com/office/powerpoint/2010/main" val="40491269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1612265" cy="696595"/>
          </a:xfrm>
          <a:prstGeom prst="rect">
            <a:avLst/>
          </a:prstGeom>
        </p:spPr>
        <p:txBody>
          <a:bodyPr vert="horz" wrap="square" lIns="0" tIns="13335" rIns="0" bIns="0" rtlCol="0">
            <a:spAutoFit/>
          </a:bodyPr>
          <a:lstStyle/>
          <a:p>
            <a:pPr marL="12700">
              <a:lnSpc>
                <a:spcPct val="100000"/>
              </a:lnSpc>
              <a:spcBef>
                <a:spcPts val="105"/>
              </a:spcBef>
            </a:pPr>
            <a:r>
              <a:rPr sz="4400" dirty="0"/>
              <a:t>Strin</a:t>
            </a:r>
            <a:r>
              <a:rPr sz="4400" spc="10" dirty="0"/>
              <a:t>g</a:t>
            </a:r>
            <a:r>
              <a:rPr sz="4400" dirty="0"/>
              <a:t>s</a:t>
            </a:r>
            <a:endParaRPr sz="4400"/>
          </a:p>
        </p:txBody>
      </p:sp>
      <p:sp>
        <p:nvSpPr>
          <p:cNvPr id="3" name="object 3"/>
          <p:cNvSpPr txBox="1"/>
          <p:nvPr/>
        </p:nvSpPr>
        <p:spPr>
          <a:xfrm>
            <a:off x="307340" y="1530832"/>
            <a:ext cx="8606155" cy="4926330"/>
          </a:xfrm>
          <a:prstGeom prst="rect">
            <a:avLst/>
          </a:prstGeom>
        </p:spPr>
        <p:txBody>
          <a:bodyPr vert="horz" wrap="square" lIns="0" tIns="102235" rIns="0" bIns="0" rtlCol="0">
            <a:spAutoFit/>
          </a:bodyPr>
          <a:lstStyle/>
          <a:p>
            <a:pPr marL="332740" indent="-320040">
              <a:lnSpc>
                <a:spcPct val="100000"/>
              </a:lnSpc>
              <a:spcBef>
                <a:spcPts val="805"/>
              </a:spcBef>
              <a:buClr>
                <a:srgbClr val="DD8046"/>
              </a:buClr>
              <a:buSzPct val="60344"/>
              <a:buFont typeface="Wingdings"/>
              <a:buChar char=""/>
              <a:tabLst>
                <a:tab pos="332740" algn="l"/>
                <a:tab pos="1631314" algn="l"/>
              </a:tabLst>
            </a:pPr>
            <a:r>
              <a:rPr sz="2900" dirty="0">
                <a:latin typeface="Times New Roman"/>
                <a:cs typeface="Times New Roman"/>
              </a:rPr>
              <a:t>String</a:t>
            </a:r>
            <a:r>
              <a:rPr sz="2900" spc="-25" dirty="0">
                <a:latin typeface="Times New Roman"/>
                <a:cs typeface="Times New Roman"/>
              </a:rPr>
              <a:t> </a:t>
            </a:r>
            <a:r>
              <a:rPr sz="2900" dirty="0">
                <a:latin typeface="Times New Roman"/>
                <a:cs typeface="Times New Roman"/>
              </a:rPr>
              <a:t>-	array</a:t>
            </a:r>
            <a:r>
              <a:rPr sz="2900" spc="-30" dirty="0">
                <a:latin typeface="Times New Roman"/>
                <a:cs typeface="Times New Roman"/>
              </a:rPr>
              <a:t> </a:t>
            </a:r>
            <a:r>
              <a:rPr sz="2900" dirty="0">
                <a:latin typeface="Times New Roman"/>
                <a:cs typeface="Times New Roman"/>
              </a:rPr>
              <a:t>of </a:t>
            </a:r>
            <a:r>
              <a:rPr sz="2900" spc="-5" dirty="0">
                <a:latin typeface="Times New Roman"/>
                <a:cs typeface="Times New Roman"/>
              </a:rPr>
              <a:t>characters,</a:t>
            </a:r>
            <a:r>
              <a:rPr sz="2900" spc="-10" dirty="0">
                <a:latin typeface="Times New Roman"/>
                <a:cs typeface="Times New Roman"/>
              </a:rPr>
              <a:t> </a:t>
            </a:r>
            <a:r>
              <a:rPr sz="2900" dirty="0">
                <a:latin typeface="Times New Roman"/>
                <a:cs typeface="Times New Roman"/>
              </a:rPr>
              <a:t>String</a:t>
            </a:r>
            <a:r>
              <a:rPr sz="2900" spc="-25" dirty="0">
                <a:latin typeface="Times New Roman"/>
                <a:cs typeface="Times New Roman"/>
              </a:rPr>
              <a:t> </a:t>
            </a:r>
            <a:r>
              <a:rPr sz="2900" dirty="0">
                <a:latin typeface="Times New Roman"/>
                <a:cs typeface="Times New Roman"/>
              </a:rPr>
              <a:t>defines</a:t>
            </a:r>
            <a:r>
              <a:rPr sz="2900" spc="-15" dirty="0">
                <a:latin typeface="Times New Roman"/>
                <a:cs typeface="Times New Roman"/>
              </a:rPr>
              <a:t> </a:t>
            </a:r>
            <a:r>
              <a:rPr sz="2900" spc="-5" dirty="0">
                <a:latin typeface="Times New Roman"/>
                <a:cs typeface="Times New Roman"/>
              </a:rPr>
              <a:t>an</a:t>
            </a:r>
            <a:r>
              <a:rPr sz="2900" spc="5" dirty="0">
                <a:latin typeface="Times New Roman"/>
                <a:cs typeface="Times New Roman"/>
              </a:rPr>
              <a:t> </a:t>
            </a:r>
            <a:r>
              <a:rPr sz="2900" spc="-5" dirty="0">
                <a:latin typeface="Times New Roman"/>
                <a:cs typeface="Times New Roman"/>
              </a:rPr>
              <a:t>object.</a:t>
            </a:r>
            <a:endParaRPr sz="2900">
              <a:latin typeface="Times New Roman"/>
              <a:cs typeface="Times New Roman"/>
            </a:endParaRPr>
          </a:p>
          <a:p>
            <a:pPr marL="332740" indent="-320040">
              <a:lnSpc>
                <a:spcPct val="100000"/>
              </a:lnSpc>
              <a:spcBef>
                <a:spcPts val="710"/>
              </a:spcBef>
              <a:buClr>
                <a:srgbClr val="DD8046"/>
              </a:buClr>
              <a:buSzPct val="60344"/>
              <a:buFont typeface="Wingdings"/>
              <a:buChar char=""/>
              <a:tabLst>
                <a:tab pos="332740" algn="l"/>
              </a:tabLst>
            </a:pPr>
            <a:r>
              <a:rPr sz="2900" dirty="0">
                <a:latin typeface="Times New Roman"/>
                <a:cs typeface="Times New Roman"/>
              </a:rPr>
              <a:t>String</a:t>
            </a:r>
            <a:r>
              <a:rPr sz="2900" spc="-25" dirty="0">
                <a:latin typeface="Times New Roman"/>
                <a:cs typeface="Times New Roman"/>
              </a:rPr>
              <a:t> </a:t>
            </a:r>
            <a:r>
              <a:rPr sz="2900" dirty="0">
                <a:latin typeface="Times New Roman"/>
                <a:cs typeface="Times New Roman"/>
              </a:rPr>
              <a:t>type</a:t>
            </a:r>
            <a:r>
              <a:rPr sz="2900" spc="-15" dirty="0">
                <a:latin typeface="Times New Roman"/>
                <a:cs typeface="Times New Roman"/>
              </a:rPr>
              <a:t> </a:t>
            </a:r>
            <a:r>
              <a:rPr sz="2900" spc="-5" dirty="0">
                <a:latin typeface="Times New Roman"/>
                <a:cs typeface="Times New Roman"/>
              </a:rPr>
              <a:t>is </a:t>
            </a:r>
            <a:r>
              <a:rPr sz="2900" dirty="0">
                <a:latin typeface="Times New Roman"/>
                <a:cs typeface="Times New Roman"/>
              </a:rPr>
              <a:t>used</a:t>
            </a:r>
            <a:r>
              <a:rPr sz="2900" spc="-10" dirty="0">
                <a:latin typeface="Times New Roman"/>
                <a:cs typeface="Times New Roman"/>
              </a:rPr>
              <a:t> </a:t>
            </a:r>
            <a:r>
              <a:rPr sz="2900" spc="-5" dirty="0">
                <a:latin typeface="Times New Roman"/>
                <a:cs typeface="Times New Roman"/>
              </a:rPr>
              <a:t>to</a:t>
            </a:r>
            <a:r>
              <a:rPr sz="2900" dirty="0">
                <a:latin typeface="Times New Roman"/>
                <a:cs typeface="Times New Roman"/>
              </a:rPr>
              <a:t> </a:t>
            </a:r>
            <a:r>
              <a:rPr sz="2900" spc="-5" dirty="0">
                <a:latin typeface="Times New Roman"/>
                <a:cs typeface="Times New Roman"/>
              </a:rPr>
              <a:t>declare</a:t>
            </a:r>
            <a:r>
              <a:rPr sz="2900" spc="-10" dirty="0">
                <a:latin typeface="Times New Roman"/>
                <a:cs typeface="Times New Roman"/>
              </a:rPr>
              <a:t> </a:t>
            </a:r>
            <a:r>
              <a:rPr sz="2900" dirty="0">
                <a:latin typeface="Times New Roman"/>
                <a:cs typeface="Times New Roman"/>
              </a:rPr>
              <a:t>string</a:t>
            </a:r>
            <a:r>
              <a:rPr sz="2900" spc="-15" dirty="0">
                <a:latin typeface="Times New Roman"/>
                <a:cs typeface="Times New Roman"/>
              </a:rPr>
              <a:t> </a:t>
            </a:r>
            <a:r>
              <a:rPr sz="2900" spc="-5" dirty="0">
                <a:latin typeface="Times New Roman"/>
                <a:cs typeface="Times New Roman"/>
              </a:rPr>
              <a:t>variables,</a:t>
            </a:r>
            <a:endParaRPr sz="2900">
              <a:latin typeface="Times New Roman"/>
              <a:cs typeface="Times New Roman"/>
            </a:endParaRPr>
          </a:p>
          <a:p>
            <a:pPr marL="378460">
              <a:lnSpc>
                <a:spcPct val="100000"/>
              </a:lnSpc>
              <a:spcBef>
                <a:spcPts val="610"/>
              </a:spcBef>
            </a:pPr>
            <a:r>
              <a:rPr sz="1800" spc="-55" dirty="0">
                <a:solidFill>
                  <a:srgbClr val="93B6D2"/>
                </a:solidFill>
                <a:latin typeface="Microsoft Sans Serif"/>
                <a:cs typeface="Microsoft Sans Serif"/>
              </a:rPr>
              <a:t>🞑</a:t>
            </a:r>
            <a:r>
              <a:rPr sz="1800" spc="25" dirty="0">
                <a:solidFill>
                  <a:srgbClr val="93B6D2"/>
                </a:solidFill>
                <a:latin typeface="Microsoft Sans Serif"/>
                <a:cs typeface="Microsoft Sans Serif"/>
              </a:rPr>
              <a:t> </a:t>
            </a:r>
            <a:r>
              <a:rPr sz="2600" b="1" dirty="0">
                <a:solidFill>
                  <a:srgbClr val="006FC0"/>
                </a:solidFill>
                <a:latin typeface="Times New Roman"/>
                <a:cs typeface="Times New Roman"/>
              </a:rPr>
              <a:t>String</a:t>
            </a:r>
            <a:r>
              <a:rPr sz="2600" b="1" spc="-40" dirty="0">
                <a:solidFill>
                  <a:srgbClr val="006FC0"/>
                </a:solidFill>
                <a:latin typeface="Times New Roman"/>
                <a:cs typeface="Times New Roman"/>
              </a:rPr>
              <a:t> </a:t>
            </a:r>
            <a:r>
              <a:rPr sz="2600" b="1" spc="-5" dirty="0">
                <a:solidFill>
                  <a:srgbClr val="006FC0"/>
                </a:solidFill>
                <a:latin typeface="Times New Roman"/>
                <a:cs typeface="Times New Roman"/>
              </a:rPr>
              <a:t>str;</a:t>
            </a:r>
            <a:endParaRPr sz="2600">
              <a:latin typeface="Times New Roman"/>
              <a:cs typeface="Times New Roman"/>
            </a:endParaRPr>
          </a:p>
          <a:p>
            <a:pPr marL="332740" marR="5715" indent="-320040">
              <a:lnSpc>
                <a:spcPct val="100000"/>
              </a:lnSpc>
              <a:spcBef>
                <a:spcPts val="685"/>
              </a:spcBef>
              <a:buClr>
                <a:srgbClr val="DD8046"/>
              </a:buClr>
              <a:buSzPct val="60344"/>
              <a:buFont typeface="Wingdings"/>
              <a:buChar char=""/>
              <a:tabLst>
                <a:tab pos="332740" algn="l"/>
                <a:tab pos="744220" algn="l"/>
                <a:tab pos="1908175" algn="l"/>
                <a:tab pos="2910205" algn="l"/>
                <a:tab pos="4300220" algn="l"/>
                <a:tab pos="4973955" algn="l"/>
                <a:tab pos="5485765" algn="l"/>
                <a:tab pos="6915784" algn="l"/>
                <a:tab pos="7366634" algn="l"/>
                <a:tab pos="7691755" algn="l"/>
              </a:tabLst>
            </a:pPr>
            <a:r>
              <a:rPr sz="2900" dirty="0">
                <a:latin typeface="Times New Roman"/>
                <a:cs typeface="Times New Roman"/>
              </a:rPr>
              <a:t>A	qu</a:t>
            </a:r>
            <a:r>
              <a:rPr sz="2900" spc="-15" dirty="0">
                <a:latin typeface="Times New Roman"/>
                <a:cs typeface="Times New Roman"/>
              </a:rPr>
              <a:t>o</a:t>
            </a:r>
            <a:r>
              <a:rPr sz="2900" dirty="0">
                <a:latin typeface="Times New Roman"/>
                <a:cs typeface="Times New Roman"/>
              </a:rPr>
              <a:t>ted	s</a:t>
            </a:r>
            <a:r>
              <a:rPr sz="2900" spc="-20" dirty="0">
                <a:latin typeface="Times New Roman"/>
                <a:cs typeface="Times New Roman"/>
              </a:rPr>
              <a:t>t</a:t>
            </a:r>
            <a:r>
              <a:rPr sz="2900" dirty="0">
                <a:latin typeface="Times New Roman"/>
                <a:cs typeface="Times New Roman"/>
              </a:rPr>
              <a:t>ri</a:t>
            </a:r>
            <a:r>
              <a:rPr sz="2900" spc="-15" dirty="0">
                <a:latin typeface="Times New Roman"/>
                <a:cs typeface="Times New Roman"/>
              </a:rPr>
              <a:t>n</a:t>
            </a:r>
            <a:r>
              <a:rPr sz="2900" dirty="0">
                <a:latin typeface="Times New Roman"/>
                <a:cs typeface="Times New Roman"/>
              </a:rPr>
              <a:t>g	c</a:t>
            </a:r>
            <a:r>
              <a:rPr sz="2900" spc="-20" dirty="0">
                <a:latin typeface="Times New Roman"/>
                <a:cs typeface="Times New Roman"/>
              </a:rPr>
              <a:t>o</a:t>
            </a:r>
            <a:r>
              <a:rPr sz="2900" dirty="0">
                <a:latin typeface="Times New Roman"/>
                <a:cs typeface="Times New Roman"/>
              </a:rPr>
              <a:t>nst</a:t>
            </a:r>
            <a:r>
              <a:rPr sz="2900" spc="-15" dirty="0">
                <a:latin typeface="Times New Roman"/>
                <a:cs typeface="Times New Roman"/>
              </a:rPr>
              <a:t>a</a:t>
            </a:r>
            <a:r>
              <a:rPr sz="2900" dirty="0">
                <a:latin typeface="Times New Roman"/>
                <a:cs typeface="Times New Roman"/>
              </a:rPr>
              <a:t>nt	</a:t>
            </a:r>
            <a:r>
              <a:rPr sz="2900" spc="-5" dirty="0">
                <a:latin typeface="Times New Roman"/>
                <a:cs typeface="Times New Roman"/>
              </a:rPr>
              <a:t>ca</a:t>
            </a:r>
            <a:r>
              <a:rPr sz="2900" dirty="0">
                <a:latin typeface="Times New Roman"/>
                <a:cs typeface="Times New Roman"/>
              </a:rPr>
              <a:t>n	be	ass</a:t>
            </a:r>
            <a:r>
              <a:rPr sz="2900" spc="-25" dirty="0">
                <a:latin typeface="Times New Roman"/>
                <a:cs typeface="Times New Roman"/>
              </a:rPr>
              <a:t>i</a:t>
            </a:r>
            <a:r>
              <a:rPr sz="2900" spc="-15" dirty="0">
                <a:latin typeface="Times New Roman"/>
                <a:cs typeface="Times New Roman"/>
              </a:rPr>
              <a:t>g</a:t>
            </a:r>
            <a:r>
              <a:rPr sz="2900" dirty="0">
                <a:latin typeface="Times New Roman"/>
                <a:cs typeface="Times New Roman"/>
              </a:rPr>
              <a:t>ned	</a:t>
            </a:r>
            <a:r>
              <a:rPr sz="2900" spc="-5" dirty="0">
                <a:latin typeface="Times New Roman"/>
                <a:cs typeface="Times New Roman"/>
              </a:rPr>
              <a:t>t</a:t>
            </a:r>
            <a:r>
              <a:rPr sz="2900" dirty="0">
                <a:latin typeface="Times New Roman"/>
                <a:cs typeface="Times New Roman"/>
              </a:rPr>
              <a:t>o	a	S</a:t>
            </a:r>
            <a:r>
              <a:rPr sz="2900" spc="-10" dirty="0">
                <a:latin typeface="Times New Roman"/>
                <a:cs typeface="Times New Roman"/>
              </a:rPr>
              <a:t>t</a:t>
            </a:r>
            <a:r>
              <a:rPr sz="2900" dirty="0">
                <a:latin typeface="Times New Roman"/>
                <a:cs typeface="Times New Roman"/>
              </a:rPr>
              <a:t>ring  </a:t>
            </a:r>
            <a:r>
              <a:rPr sz="2900" spc="-5" dirty="0">
                <a:latin typeface="Times New Roman"/>
                <a:cs typeface="Times New Roman"/>
              </a:rPr>
              <a:t>variable.</a:t>
            </a:r>
            <a:endParaRPr sz="2900">
              <a:latin typeface="Times New Roman"/>
              <a:cs typeface="Times New Roman"/>
            </a:endParaRPr>
          </a:p>
          <a:p>
            <a:pPr marL="378460">
              <a:lnSpc>
                <a:spcPct val="100000"/>
              </a:lnSpc>
              <a:spcBef>
                <a:spcPts val="615"/>
              </a:spcBef>
              <a:tabLst>
                <a:tab pos="3822700" algn="l"/>
                <a:tab pos="4428490" algn="l"/>
              </a:tabLst>
            </a:pPr>
            <a:r>
              <a:rPr sz="1800" spc="-5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b="1" spc="-5" dirty="0">
                <a:solidFill>
                  <a:srgbClr val="006FC0"/>
                </a:solidFill>
                <a:latin typeface="Times New Roman"/>
                <a:cs typeface="Times New Roman"/>
              </a:rPr>
              <a:t>str</a:t>
            </a:r>
            <a:r>
              <a:rPr sz="2600" b="1" spc="-45"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5" dirty="0">
                <a:solidFill>
                  <a:srgbClr val="006FC0"/>
                </a:solidFill>
                <a:latin typeface="Times New Roman"/>
                <a:cs typeface="Times New Roman"/>
              </a:rPr>
              <a:t> </a:t>
            </a:r>
            <a:r>
              <a:rPr sz="2600" b="1" dirty="0">
                <a:solidFill>
                  <a:srgbClr val="006FC0"/>
                </a:solidFill>
                <a:latin typeface="Times New Roman"/>
                <a:cs typeface="Times New Roman"/>
              </a:rPr>
              <a:t>“Dept</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of</a:t>
            </a:r>
            <a:r>
              <a:rPr sz="2600" b="1" spc="-10" dirty="0">
                <a:solidFill>
                  <a:srgbClr val="006FC0"/>
                </a:solidFill>
                <a:latin typeface="Times New Roman"/>
                <a:cs typeface="Times New Roman"/>
              </a:rPr>
              <a:t> </a:t>
            </a:r>
            <a:r>
              <a:rPr sz="2600" b="1" dirty="0">
                <a:solidFill>
                  <a:srgbClr val="006FC0"/>
                </a:solidFill>
                <a:latin typeface="Times New Roman"/>
                <a:cs typeface="Times New Roman"/>
              </a:rPr>
              <a:t>ISE";	</a:t>
            </a:r>
            <a:r>
              <a:rPr sz="2600" dirty="0">
                <a:latin typeface="Times New Roman"/>
                <a:cs typeface="Times New Roman"/>
              </a:rPr>
              <a:t>or	</a:t>
            </a:r>
            <a:r>
              <a:rPr sz="2600" b="1" dirty="0">
                <a:solidFill>
                  <a:srgbClr val="006FC0"/>
                </a:solidFill>
                <a:latin typeface="Times New Roman"/>
                <a:cs typeface="Times New Roman"/>
              </a:rPr>
              <a:t>String</a:t>
            </a:r>
            <a:r>
              <a:rPr sz="2600" b="1" spc="-10" dirty="0">
                <a:solidFill>
                  <a:srgbClr val="006FC0"/>
                </a:solidFill>
                <a:latin typeface="Times New Roman"/>
                <a:cs typeface="Times New Roman"/>
              </a:rPr>
              <a:t> </a:t>
            </a:r>
            <a:r>
              <a:rPr sz="2600" b="1" spc="-5" dirty="0">
                <a:solidFill>
                  <a:srgbClr val="006FC0"/>
                </a:solidFill>
                <a:latin typeface="Times New Roman"/>
                <a:cs typeface="Times New Roman"/>
              </a:rPr>
              <a:t>str</a:t>
            </a:r>
            <a:r>
              <a:rPr sz="2600" b="1" spc="-65" dirty="0">
                <a:solidFill>
                  <a:srgbClr val="006FC0"/>
                </a:solidFill>
                <a:latin typeface="Times New Roman"/>
                <a:cs typeface="Times New Roman"/>
              </a:rPr>
              <a:t> </a:t>
            </a:r>
            <a:r>
              <a:rPr sz="2600" b="1" dirty="0">
                <a:solidFill>
                  <a:srgbClr val="006FC0"/>
                </a:solidFill>
                <a:latin typeface="Times New Roman"/>
                <a:cs typeface="Times New Roman"/>
              </a:rPr>
              <a:t>=</a:t>
            </a:r>
            <a:r>
              <a:rPr sz="2600" b="1" spc="-15" dirty="0">
                <a:solidFill>
                  <a:srgbClr val="006FC0"/>
                </a:solidFill>
                <a:latin typeface="Times New Roman"/>
                <a:cs typeface="Times New Roman"/>
              </a:rPr>
              <a:t> </a:t>
            </a:r>
            <a:r>
              <a:rPr sz="2600" b="1" spc="5" dirty="0">
                <a:solidFill>
                  <a:srgbClr val="006FC0"/>
                </a:solidFill>
                <a:latin typeface="Times New Roman"/>
                <a:cs typeface="Times New Roman"/>
              </a:rPr>
              <a:t>“Dept</a:t>
            </a:r>
            <a:r>
              <a:rPr sz="2600" b="1" spc="-45" dirty="0">
                <a:solidFill>
                  <a:srgbClr val="006FC0"/>
                </a:solidFill>
                <a:latin typeface="Times New Roman"/>
                <a:cs typeface="Times New Roman"/>
              </a:rPr>
              <a:t> </a:t>
            </a:r>
            <a:r>
              <a:rPr sz="2600" b="1" dirty="0">
                <a:solidFill>
                  <a:srgbClr val="006FC0"/>
                </a:solidFill>
                <a:latin typeface="Times New Roman"/>
                <a:cs typeface="Times New Roman"/>
              </a:rPr>
              <a:t>of</a:t>
            </a:r>
            <a:r>
              <a:rPr sz="2600" b="1" spc="-25" dirty="0">
                <a:solidFill>
                  <a:srgbClr val="006FC0"/>
                </a:solidFill>
                <a:latin typeface="Times New Roman"/>
                <a:cs typeface="Times New Roman"/>
              </a:rPr>
              <a:t> </a:t>
            </a:r>
            <a:r>
              <a:rPr sz="2600" b="1" dirty="0">
                <a:solidFill>
                  <a:srgbClr val="006FC0"/>
                </a:solidFill>
                <a:latin typeface="Times New Roman"/>
                <a:cs typeface="Times New Roman"/>
              </a:rPr>
              <a:t>ISE";</a:t>
            </a:r>
            <a:endParaRPr sz="2600">
              <a:latin typeface="Times New Roman"/>
              <a:cs typeface="Times New Roman"/>
            </a:endParaRPr>
          </a:p>
          <a:p>
            <a:pPr marL="332740" marR="5080" indent="-320040">
              <a:lnSpc>
                <a:spcPct val="100000"/>
              </a:lnSpc>
              <a:spcBef>
                <a:spcPts val="685"/>
              </a:spcBef>
              <a:buClr>
                <a:srgbClr val="DD8046"/>
              </a:buClr>
              <a:buSzPct val="60344"/>
              <a:buFont typeface="Wingdings"/>
              <a:buChar char=""/>
              <a:tabLst>
                <a:tab pos="332740" algn="l"/>
                <a:tab pos="744220" algn="l"/>
                <a:tab pos="2091055" algn="l"/>
                <a:tab pos="2562860" algn="l"/>
                <a:tab pos="3359785" algn="l"/>
                <a:tab pos="4423410" algn="l"/>
                <a:tab pos="5097145" algn="l"/>
                <a:tab pos="5609590" algn="l"/>
                <a:tab pos="7038975" algn="l"/>
                <a:tab pos="7488555" algn="l"/>
              </a:tabLst>
            </a:pPr>
            <a:r>
              <a:rPr sz="2900" dirty="0">
                <a:latin typeface="Times New Roman"/>
                <a:cs typeface="Times New Roman"/>
              </a:rPr>
              <a:t>A	va</a:t>
            </a:r>
            <a:r>
              <a:rPr sz="2900" spc="-15" dirty="0">
                <a:latin typeface="Times New Roman"/>
                <a:cs typeface="Times New Roman"/>
              </a:rPr>
              <a:t>r</a:t>
            </a:r>
            <a:r>
              <a:rPr sz="2900" dirty="0">
                <a:latin typeface="Times New Roman"/>
                <a:cs typeface="Times New Roman"/>
              </a:rPr>
              <a:t>iab</a:t>
            </a:r>
            <a:r>
              <a:rPr sz="2900" spc="-25" dirty="0">
                <a:latin typeface="Times New Roman"/>
                <a:cs typeface="Times New Roman"/>
              </a:rPr>
              <a:t>l</a:t>
            </a:r>
            <a:r>
              <a:rPr sz="2900" dirty="0">
                <a:latin typeface="Times New Roman"/>
                <a:cs typeface="Times New Roman"/>
              </a:rPr>
              <a:t>e	of	type	S</a:t>
            </a:r>
            <a:r>
              <a:rPr sz="2900" spc="-10" dirty="0">
                <a:latin typeface="Times New Roman"/>
                <a:cs typeface="Times New Roman"/>
              </a:rPr>
              <a:t>t</a:t>
            </a:r>
            <a:r>
              <a:rPr sz="2900" dirty="0">
                <a:latin typeface="Times New Roman"/>
                <a:cs typeface="Times New Roman"/>
              </a:rPr>
              <a:t>r</a:t>
            </a:r>
            <a:r>
              <a:rPr sz="2900" spc="-15" dirty="0">
                <a:latin typeface="Times New Roman"/>
                <a:cs typeface="Times New Roman"/>
              </a:rPr>
              <a:t>i</a:t>
            </a:r>
            <a:r>
              <a:rPr sz="2900" dirty="0">
                <a:latin typeface="Times New Roman"/>
                <a:cs typeface="Times New Roman"/>
              </a:rPr>
              <a:t>ng	c</a:t>
            </a:r>
            <a:r>
              <a:rPr sz="2900" spc="-25" dirty="0">
                <a:latin typeface="Times New Roman"/>
                <a:cs typeface="Times New Roman"/>
              </a:rPr>
              <a:t>a</a:t>
            </a:r>
            <a:r>
              <a:rPr sz="2900" dirty="0">
                <a:latin typeface="Times New Roman"/>
                <a:cs typeface="Times New Roman"/>
              </a:rPr>
              <a:t>n	be	as</a:t>
            </a:r>
            <a:r>
              <a:rPr sz="2900" spc="-25" dirty="0">
                <a:latin typeface="Times New Roman"/>
                <a:cs typeface="Times New Roman"/>
              </a:rPr>
              <a:t>s</a:t>
            </a:r>
            <a:r>
              <a:rPr sz="2900" spc="-15" dirty="0">
                <a:latin typeface="Times New Roman"/>
                <a:cs typeface="Times New Roman"/>
              </a:rPr>
              <a:t>i</a:t>
            </a:r>
            <a:r>
              <a:rPr sz="2900" dirty="0">
                <a:latin typeface="Times New Roman"/>
                <a:cs typeface="Times New Roman"/>
              </a:rPr>
              <a:t>gned	</a:t>
            </a:r>
            <a:r>
              <a:rPr sz="2900" spc="-5" dirty="0">
                <a:latin typeface="Times New Roman"/>
                <a:cs typeface="Times New Roman"/>
              </a:rPr>
              <a:t>t</a:t>
            </a:r>
            <a:r>
              <a:rPr sz="2900" dirty="0">
                <a:latin typeface="Times New Roman"/>
                <a:cs typeface="Times New Roman"/>
              </a:rPr>
              <a:t>o	anoth</a:t>
            </a:r>
            <a:r>
              <a:rPr sz="2900" spc="-15" dirty="0">
                <a:latin typeface="Times New Roman"/>
                <a:cs typeface="Times New Roman"/>
              </a:rPr>
              <a:t>e</a:t>
            </a:r>
            <a:r>
              <a:rPr sz="2900" dirty="0">
                <a:latin typeface="Times New Roman"/>
                <a:cs typeface="Times New Roman"/>
              </a:rPr>
              <a:t>r  variable</a:t>
            </a:r>
            <a:r>
              <a:rPr sz="2900" spc="-30" dirty="0">
                <a:latin typeface="Times New Roman"/>
                <a:cs typeface="Times New Roman"/>
              </a:rPr>
              <a:t> </a:t>
            </a:r>
            <a:r>
              <a:rPr sz="2900" dirty="0">
                <a:latin typeface="Times New Roman"/>
                <a:cs typeface="Times New Roman"/>
              </a:rPr>
              <a:t>of type</a:t>
            </a:r>
            <a:r>
              <a:rPr sz="2900" spc="-15" dirty="0">
                <a:latin typeface="Times New Roman"/>
                <a:cs typeface="Times New Roman"/>
              </a:rPr>
              <a:t> </a:t>
            </a:r>
            <a:r>
              <a:rPr sz="2900" dirty="0">
                <a:latin typeface="Times New Roman"/>
                <a:cs typeface="Times New Roman"/>
              </a:rPr>
              <a:t>String.</a:t>
            </a:r>
            <a:endParaRPr sz="2900">
              <a:latin typeface="Times New Roman"/>
              <a:cs typeface="Times New Roman"/>
            </a:endParaRPr>
          </a:p>
          <a:p>
            <a:pPr marL="378460">
              <a:lnSpc>
                <a:spcPct val="100000"/>
              </a:lnSpc>
              <a:spcBef>
                <a:spcPts val="610"/>
              </a:spcBef>
              <a:tabLst>
                <a:tab pos="1697989" algn="l"/>
              </a:tabLst>
            </a:pPr>
            <a:r>
              <a:rPr sz="1800" spc="-5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b="1" dirty="0">
                <a:solidFill>
                  <a:srgbClr val="006FC0"/>
                </a:solidFill>
                <a:latin typeface="Times New Roman"/>
                <a:cs typeface="Times New Roman"/>
              </a:rPr>
              <a:t>String	</a:t>
            </a:r>
            <a:r>
              <a:rPr sz="2600" b="1" spc="-5" dirty="0">
                <a:solidFill>
                  <a:srgbClr val="006FC0"/>
                </a:solidFill>
                <a:latin typeface="Times New Roman"/>
                <a:cs typeface="Times New Roman"/>
              </a:rPr>
              <a:t>s;</a:t>
            </a:r>
            <a:endParaRPr sz="2600">
              <a:latin typeface="Times New Roman"/>
              <a:cs typeface="Times New Roman"/>
            </a:endParaRPr>
          </a:p>
          <a:p>
            <a:pPr marL="378460">
              <a:lnSpc>
                <a:spcPct val="100000"/>
              </a:lnSpc>
              <a:spcBef>
                <a:spcPts val="605"/>
              </a:spcBef>
            </a:pPr>
            <a:r>
              <a:rPr sz="1500" spc="-40" dirty="0">
                <a:solidFill>
                  <a:srgbClr val="93B6D2"/>
                </a:solidFill>
                <a:latin typeface="Microsoft Sans Serif"/>
                <a:cs typeface="Microsoft Sans Serif"/>
              </a:rPr>
              <a:t>🞑</a:t>
            </a:r>
            <a:r>
              <a:rPr sz="1500" spc="-10" dirty="0">
                <a:solidFill>
                  <a:srgbClr val="93B6D2"/>
                </a:solidFill>
                <a:latin typeface="Microsoft Sans Serif"/>
                <a:cs typeface="Microsoft Sans Serif"/>
              </a:rPr>
              <a:t> </a:t>
            </a:r>
            <a:r>
              <a:rPr sz="2200" b="1" spc="-5" dirty="0">
                <a:solidFill>
                  <a:srgbClr val="006FC0"/>
                </a:solidFill>
                <a:latin typeface="Times New Roman"/>
                <a:cs typeface="Times New Roman"/>
              </a:rPr>
              <a:t>s</a:t>
            </a:r>
            <a:r>
              <a:rPr sz="2600" b="1" spc="-5" dirty="0">
                <a:solidFill>
                  <a:srgbClr val="006FC0"/>
                </a:solidFill>
                <a:latin typeface="Times New Roman"/>
                <a:cs typeface="Times New Roman"/>
              </a:rPr>
              <a:t>=str;</a:t>
            </a:r>
            <a:endParaRPr sz="26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68</a:t>
            </a:r>
            <a:endParaRPr sz="1200">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308860" cy="696595"/>
          </a:xfrm>
          <a:prstGeom prst="rect">
            <a:avLst/>
          </a:prstGeom>
        </p:spPr>
        <p:txBody>
          <a:bodyPr vert="horz" wrap="square" lIns="0" tIns="13335" rIns="0" bIns="0" rtlCol="0">
            <a:spAutoFit/>
          </a:bodyPr>
          <a:lstStyle/>
          <a:p>
            <a:pPr marL="12700">
              <a:lnSpc>
                <a:spcPct val="100000"/>
              </a:lnSpc>
              <a:spcBef>
                <a:spcPts val="105"/>
              </a:spcBef>
            </a:pPr>
            <a:r>
              <a:rPr sz="4400" spc="-5" dirty="0"/>
              <a:t>Strings</a:t>
            </a:r>
            <a:r>
              <a:rPr sz="4400" spc="-85" dirty="0"/>
              <a:t> </a:t>
            </a:r>
            <a:r>
              <a:rPr sz="4400" dirty="0"/>
              <a:t>…</a:t>
            </a:r>
            <a:endParaRPr sz="4400"/>
          </a:p>
        </p:txBody>
      </p:sp>
      <p:sp>
        <p:nvSpPr>
          <p:cNvPr id="3" name="object 3"/>
          <p:cNvSpPr txBox="1"/>
          <p:nvPr/>
        </p:nvSpPr>
        <p:spPr>
          <a:xfrm>
            <a:off x="307340" y="1533700"/>
            <a:ext cx="8190230" cy="4711546"/>
          </a:xfrm>
          <a:prstGeom prst="rect">
            <a:avLst/>
          </a:prstGeom>
        </p:spPr>
        <p:txBody>
          <a:bodyPr vert="horz" wrap="square" lIns="0" tIns="101600" rIns="0" bIns="0" rtlCol="0">
            <a:spAutoFit/>
          </a:bodyPr>
          <a:lstStyle/>
          <a:p>
            <a:pPr marL="332740" indent="-320040">
              <a:lnSpc>
                <a:spcPct val="100000"/>
              </a:lnSpc>
              <a:spcBef>
                <a:spcPts val="800"/>
              </a:spcBef>
              <a:buClr>
                <a:srgbClr val="DD8046"/>
              </a:buClr>
              <a:buSzPct val="60416"/>
              <a:buFont typeface="Wingdings"/>
              <a:buChar char=""/>
              <a:tabLst>
                <a:tab pos="332105" algn="l"/>
                <a:tab pos="332740" algn="l"/>
              </a:tabLst>
            </a:pPr>
            <a:r>
              <a:rPr sz="2400" dirty="0">
                <a:latin typeface="Times New Roman"/>
                <a:cs typeface="Times New Roman"/>
              </a:rPr>
              <a:t>Declares</a:t>
            </a:r>
            <a:r>
              <a:rPr sz="2400" spc="-30" dirty="0">
                <a:latin typeface="Times New Roman"/>
                <a:cs typeface="Times New Roman"/>
              </a:rPr>
              <a:t> </a:t>
            </a:r>
            <a:r>
              <a:rPr sz="2400" dirty="0">
                <a:latin typeface="Times New Roman"/>
                <a:cs typeface="Times New Roman"/>
              </a:rPr>
              <a:t>arrays</a:t>
            </a:r>
            <a:r>
              <a:rPr sz="2400" spc="-25" dirty="0">
                <a:latin typeface="Times New Roman"/>
                <a:cs typeface="Times New Roman"/>
              </a:rPr>
              <a:t> </a:t>
            </a:r>
            <a:r>
              <a:rPr sz="2400" spc="-5" dirty="0">
                <a:latin typeface="Times New Roman"/>
                <a:cs typeface="Times New Roman"/>
              </a:rPr>
              <a:t>of</a:t>
            </a:r>
            <a:r>
              <a:rPr sz="2400" spc="-20" dirty="0">
                <a:latin typeface="Times New Roman"/>
                <a:cs typeface="Times New Roman"/>
              </a:rPr>
              <a:t> </a:t>
            </a:r>
            <a:r>
              <a:rPr sz="2400" dirty="0">
                <a:latin typeface="Times New Roman"/>
                <a:cs typeface="Times New Roman"/>
              </a:rPr>
              <a:t>strings.</a:t>
            </a:r>
          </a:p>
          <a:p>
            <a:pPr marL="927100" marR="5080">
              <a:lnSpc>
                <a:spcPts val="3590"/>
              </a:lnSpc>
              <a:spcBef>
                <a:spcPts val="225"/>
              </a:spcBef>
              <a:tabLst>
                <a:tab pos="3109595" algn="l"/>
              </a:tabLst>
            </a:pPr>
            <a:r>
              <a:rPr sz="2400" spc="-5" dirty="0">
                <a:solidFill>
                  <a:srgbClr val="006FC0"/>
                </a:solidFill>
                <a:latin typeface="Times New Roman"/>
                <a:cs typeface="Times New Roman"/>
              </a:rPr>
              <a:t>Str</a:t>
            </a:r>
            <a:r>
              <a:rPr sz="2400" dirty="0">
                <a:solidFill>
                  <a:srgbClr val="006FC0"/>
                </a:solidFill>
                <a:latin typeface="Times New Roman"/>
                <a:cs typeface="Times New Roman"/>
              </a:rPr>
              <a:t>ing[]</a:t>
            </a:r>
            <a:r>
              <a:rPr sz="2400" spc="-10" dirty="0">
                <a:solidFill>
                  <a:srgbClr val="006FC0"/>
                </a:solidFill>
                <a:latin typeface="Times New Roman"/>
                <a:cs typeface="Times New Roman"/>
              </a:rPr>
              <a:t> </a:t>
            </a:r>
            <a:r>
              <a:rPr sz="2400" spc="-5" dirty="0">
                <a:solidFill>
                  <a:srgbClr val="006FC0"/>
                </a:solidFill>
                <a:latin typeface="Times New Roman"/>
                <a:cs typeface="Times New Roman"/>
              </a:rPr>
              <a:t>st</a:t>
            </a:r>
            <a:r>
              <a:rPr sz="2400" dirty="0">
                <a:solidFill>
                  <a:srgbClr val="006FC0"/>
                </a:solidFill>
                <a:latin typeface="Times New Roman"/>
                <a:cs typeface="Times New Roman"/>
              </a:rPr>
              <a:t>ra</a:t>
            </a:r>
            <a:r>
              <a:rPr sz="2400" spc="10" dirty="0">
                <a:solidFill>
                  <a:srgbClr val="006FC0"/>
                </a:solidFill>
                <a:latin typeface="Times New Roman"/>
                <a:cs typeface="Times New Roman"/>
              </a:rPr>
              <a:t>r</a:t>
            </a:r>
            <a:r>
              <a:rPr sz="2400" dirty="0">
                <a:solidFill>
                  <a:srgbClr val="006FC0"/>
                </a:solidFill>
                <a:latin typeface="Times New Roman"/>
                <a:cs typeface="Times New Roman"/>
              </a:rPr>
              <a:t>1;	</a:t>
            </a:r>
            <a:r>
              <a:rPr sz="2400" dirty="0">
                <a:latin typeface="Times New Roman"/>
                <a:cs typeface="Times New Roman"/>
              </a:rPr>
              <a:t>/</a:t>
            </a:r>
            <a:r>
              <a:rPr sz="2400" spc="5" dirty="0">
                <a:latin typeface="Times New Roman"/>
                <a:cs typeface="Times New Roman"/>
              </a:rPr>
              <a:t>/</a:t>
            </a:r>
            <a:r>
              <a:rPr sz="2400" dirty="0">
                <a:latin typeface="Times New Roman"/>
                <a:cs typeface="Times New Roman"/>
              </a:rPr>
              <a:t>Decla</a:t>
            </a:r>
            <a:r>
              <a:rPr sz="2400" spc="5" dirty="0">
                <a:latin typeface="Times New Roman"/>
                <a:cs typeface="Times New Roman"/>
              </a:rPr>
              <a:t>r</a:t>
            </a:r>
            <a:r>
              <a:rPr sz="2400" dirty="0">
                <a:latin typeface="Times New Roman"/>
                <a:cs typeface="Times New Roman"/>
              </a:rPr>
              <a:t>at</a:t>
            </a:r>
            <a:r>
              <a:rPr sz="2400" spc="-15" dirty="0">
                <a:latin typeface="Times New Roman"/>
                <a:cs typeface="Times New Roman"/>
              </a:rPr>
              <a:t>i</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of </a:t>
            </a:r>
            <a:r>
              <a:rPr sz="2400" spc="-5" dirty="0">
                <a:latin typeface="Times New Roman"/>
                <a:cs typeface="Times New Roman"/>
              </a:rPr>
              <a:t>Str</a:t>
            </a:r>
            <a:r>
              <a:rPr sz="2400" dirty="0">
                <a:latin typeface="Times New Roman"/>
                <a:cs typeface="Times New Roman"/>
              </a:rPr>
              <a:t>ing</a:t>
            </a:r>
            <a:r>
              <a:rPr sz="2400" spc="-150" dirty="0">
                <a:latin typeface="Times New Roman"/>
                <a:cs typeface="Times New Roman"/>
              </a:rPr>
              <a:t> </a:t>
            </a:r>
            <a:r>
              <a:rPr sz="2400" dirty="0">
                <a:latin typeface="Times New Roman"/>
                <a:cs typeface="Times New Roman"/>
              </a:rPr>
              <a:t>Array</a:t>
            </a:r>
            <a:r>
              <a:rPr sz="2400" spc="10" dirty="0">
                <a:latin typeface="Times New Roman"/>
                <a:cs typeface="Times New Roman"/>
              </a:rPr>
              <a:t> </a:t>
            </a:r>
            <a:r>
              <a:rPr sz="2400" dirty="0">
                <a:latin typeface="Times New Roman"/>
                <a:cs typeface="Times New Roman"/>
              </a:rPr>
              <a:t>without</a:t>
            </a:r>
            <a:r>
              <a:rPr sz="2400" spc="-15" dirty="0">
                <a:latin typeface="Times New Roman"/>
                <a:cs typeface="Times New Roman"/>
              </a:rPr>
              <a:t> </a:t>
            </a:r>
            <a:r>
              <a:rPr sz="2400" spc="-5" dirty="0">
                <a:latin typeface="Times New Roman"/>
                <a:cs typeface="Times New Roman"/>
              </a:rPr>
              <a:t>si</a:t>
            </a:r>
            <a:r>
              <a:rPr sz="2400" dirty="0">
                <a:latin typeface="Times New Roman"/>
                <a:cs typeface="Times New Roman"/>
              </a:rPr>
              <a:t>ze  </a:t>
            </a:r>
            <a:r>
              <a:rPr sz="2400" spc="-5" dirty="0">
                <a:solidFill>
                  <a:srgbClr val="006FC0"/>
                </a:solidFill>
                <a:latin typeface="Times New Roman"/>
                <a:cs typeface="Times New Roman"/>
              </a:rPr>
              <a:t>String[]</a:t>
            </a:r>
            <a:r>
              <a:rPr sz="2400" spc="-10" dirty="0">
                <a:solidFill>
                  <a:srgbClr val="006FC0"/>
                </a:solidFill>
                <a:latin typeface="Times New Roman"/>
                <a:cs typeface="Times New Roman"/>
              </a:rPr>
              <a:t> </a:t>
            </a:r>
            <a:r>
              <a:rPr sz="2400" dirty="0">
                <a:solidFill>
                  <a:srgbClr val="006FC0"/>
                </a:solidFill>
                <a:latin typeface="Times New Roman"/>
                <a:cs typeface="Times New Roman"/>
              </a:rPr>
              <a:t>strar2</a:t>
            </a:r>
            <a:r>
              <a:rPr sz="2400" spc="-20" dirty="0">
                <a:solidFill>
                  <a:srgbClr val="006FC0"/>
                </a:solidFill>
                <a:latin typeface="Times New Roman"/>
                <a:cs typeface="Times New Roman"/>
              </a:rPr>
              <a:t> </a:t>
            </a:r>
            <a:r>
              <a:rPr sz="2400" dirty="0">
                <a:solidFill>
                  <a:srgbClr val="006FC0"/>
                </a:solidFill>
                <a:latin typeface="Times New Roman"/>
                <a:cs typeface="Times New Roman"/>
              </a:rPr>
              <a:t>=</a:t>
            </a:r>
            <a:r>
              <a:rPr sz="2400" spc="5" dirty="0">
                <a:solidFill>
                  <a:srgbClr val="006FC0"/>
                </a:solidFill>
                <a:latin typeface="Times New Roman"/>
                <a:cs typeface="Times New Roman"/>
              </a:rPr>
              <a:t> </a:t>
            </a:r>
            <a:r>
              <a:rPr sz="2400" b="1" spc="-5" dirty="0">
                <a:solidFill>
                  <a:srgbClr val="006FC0"/>
                </a:solidFill>
                <a:latin typeface="Times New Roman"/>
                <a:cs typeface="Times New Roman"/>
              </a:rPr>
              <a:t>new</a:t>
            </a:r>
            <a:r>
              <a:rPr sz="2400" b="1" dirty="0">
                <a:solidFill>
                  <a:srgbClr val="006FC0"/>
                </a:solidFill>
                <a:latin typeface="Times New Roman"/>
                <a:cs typeface="Times New Roman"/>
              </a:rPr>
              <a:t> </a:t>
            </a:r>
            <a:r>
              <a:rPr sz="2400" spc="-5" dirty="0">
                <a:solidFill>
                  <a:srgbClr val="006FC0"/>
                </a:solidFill>
                <a:latin typeface="Times New Roman"/>
                <a:cs typeface="Times New Roman"/>
              </a:rPr>
              <a:t>String[2]; </a:t>
            </a:r>
            <a:r>
              <a:rPr sz="2400" spc="-5" dirty="0">
                <a:latin typeface="Times New Roman"/>
                <a:cs typeface="Times New Roman"/>
              </a:rPr>
              <a:t>//Declaration</a:t>
            </a:r>
            <a:r>
              <a:rPr sz="2400" spc="-25"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dirty="0">
                <a:latin typeface="Times New Roman"/>
                <a:cs typeface="Times New Roman"/>
              </a:rPr>
              <a:t>size</a:t>
            </a:r>
          </a:p>
          <a:p>
            <a:pPr marL="332740" indent="-320040">
              <a:lnSpc>
                <a:spcPct val="100000"/>
              </a:lnSpc>
              <a:spcBef>
                <a:spcPts val="459"/>
              </a:spcBef>
              <a:buClr>
                <a:srgbClr val="DD8046"/>
              </a:buClr>
              <a:buSzPct val="60416"/>
              <a:buFont typeface="Wingdings"/>
              <a:buChar char=""/>
              <a:tabLst>
                <a:tab pos="332105" algn="l"/>
                <a:tab pos="332740" algn="l"/>
              </a:tabLst>
            </a:pPr>
            <a:r>
              <a:rPr sz="2400" dirty="0">
                <a:solidFill>
                  <a:srgbClr val="333333"/>
                </a:solidFill>
                <a:latin typeface="Times New Roman"/>
                <a:cs typeface="Times New Roman"/>
              </a:rPr>
              <a:t>String</a:t>
            </a:r>
            <a:r>
              <a:rPr sz="2400" spc="-20" dirty="0">
                <a:solidFill>
                  <a:srgbClr val="333333"/>
                </a:solidFill>
                <a:latin typeface="Times New Roman"/>
                <a:cs typeface="Times New Roman"/>
              </a:rPr>
              <a:t> </a:t>
            </a:r>
            <a:r>
              <a:rPr sz="2400" dirty="0">
                <a:solidFill>
                  <a:srgbClr val="333333"/>
                </a:solidFill>
                <a:latin typeface="Times New Roman"/>
                <a:cs typeface="Times New Roman"/>
              </a:rPr>
              <a:t>array</a:t>
            </a:r>
            <a:r>
              <a:rPr sz="2400" spc="-25" dirty="0">
                <a:solidFill>
                  <a:srgbClr val="333333"/>
                </a:solidFill>
                <a:latin typeface="Times New Roman"/>
                <a:cs typeface="Times New Roman"/>
              </a:rPr>
              <a:t> </a:t>
            </a:r>
            <a:r>
              <a:rPr sz="2400" spc="-5" dirty="0">
                <a:solidFill>
                  <a:srgbClr val="333333"/>
                </a:solidFill>
                <a:latin typeface="Times New Roman"/>
                <a:cs typeface="Times New Roman"/>
              </a:rPr>
              <a:t>Initialization:</a:t>
            </a:r>
            <a:endParaRPr sz="2400" dirty="0">
              <a:latin typeface="Times New Roman"/>
              <a:cs typeface="Times New Roman"/>
            </a:endParaRPr>
          </a:p>
          <a:p>
            <a:pPr marL="789940" lvl="1" indent="-457834">
              <a:lnSpc>
                <a:spcPct val="100000"/>
              </a:lnSpc>
              <a:spcBef>
                <a:spcPts val="585"/>
              </a:spcBef>
              <a:buClr>
                <a:srgbClr val="93B6D2"/>
              </a:buClr>
              <a:buSzPct val="68750"/>
              <a:buAutoNum type="arabicPeriod"/>
              <a:tabLst>
                <a:tab pos="789940" algn="l"/>
                <a:tab pos="790575" algn="l"/>
              </a:tabLst>
            </a:pPr>
            <a:r>
              <a:rPr sz="2400" spc="-5" dirty="0">
                <a:solidFill>
                  <a:srgbClr val="006FC0"/>
                </a:solidFill>
                <a:latin typeface="Times New Roman"/>
                <a:cs typeface="Times New Roman"/>
              </a:rPr>
              <a:t>String[]</a:t>
            </a:r>
            <a:r>
              <a:rPr sz="2400" spc="-15" dirty="0">
                <a:solidFill>
                  <a:srgbClr val="006FC0"/>
                </a:solidFill>
                <a:latin typeface="Times New Roman"/>
                <a:cs typeface="Times New Roman"/>
              </a:rPr>
              <a:t> </a:t>
            </a:r>
            <a:r>
              <a:rPr sz="2400" dirty="0">
                <a:solidFill>
                  <a:srgbClr val="006FC0"/>
                </a:solidFill>
                <a:latin typeface="Times New Roman"/>
                <a:cs typeface="Times New Roman"/>
              </a:rPr>
              <a:t>str1</a:t>
            </a:r>
            <a:r>
              <a:rPr sz="2400" spc="-20" dirty="0">
                <a:solidFill>
                  <a:srgbClr val="006FC0"/>
                </a:solidFill>
                <a:latin typeface="Times New Roman"/>
                <a:cs typeface="Times New Roman"/>
              </a:rPr>
              <a:t> </a:t>
            </a:r>
            <a:r>
              <a:rPr sz="2400" dirty="0">
                <a:solidFill>
                  <a:srgbClr val="006FC0"/>
                </a:solidFill>
                <a:latin typeface="Times New Roman"/>
                <a:cs typeface="Times New Roman"/>
              </a:rPr>
              <a:t>=</a:t>
            </a:r>
            <a:r>
              <a:rPr sz="2400" spc="-10" dirty="0">
                <a:solidFill>
                  <a:srgbClr val="006FC0"/>
                </a:solidFill>
                <a:latin typeface="Times New Roman"/>
                <a:cs typeface="Times New Roman"/>
              </a:rPr>
              <a:t> </a:t>
            </a:r>
            <a:r>
              <a:rPr sz="2400" spc="-5" dirty="0">
                <a:solidFill>
                  <a:srgbClr val="006FC0"/>
                </a:solidFill>
                <a:latin typeface="Times New Roman"/>
                <a:cs typeface="Times New Roman"/>
              </a:rPr>
              <a:t>{</a:t>
            </a:r>
            <a:r>
              <a:rPr sz="2800" spc="-5" dirty="0">
                <a:solidFill>
                  <a:srgbClr val="006FC0"/>
                </a:solidFill>
                <a:latin typeface="Times New Roman"/>
                <a:cs typeface="Times New Roman"/>
              </a:rPr>
              <a:t>"</a:t>
            </a:r>
            <a:r>
              <a:rPr sz="2400" spc="-5" dirty="0">
                <a:solidFill>
                  <a:srgbClr val="006FC0"/>
                </a:solidFill>
                <a:latin typeface="Times New Roman"/>
                <a:cs typeface="Times New Roman"/>
              </a:rPr>
              <a:t>mon</a:t>
            </a:r>
            <a:r>
              <a:rPr sz="2800" spc="-5" dirty="0">
                <a:solidFill>
                  <a:srgbClr val="006FC0"/>
                </a:solidFill>
                <a:latin typeface="Times New Roman"/>
                <a:cs typeface="Times New Roman"/>
              </a:rPr>
              <a:t>"</a:t>
            </a:r>
            <a:r>
              <a:rPr sz="2400" spc="-5" dirty="0">
                <a:solidFill>
                  <a:srgbClr val="006FC0"/>
                </a:solidFill>
                <a:latin typeface="Times New Roman"/>
                <a:cs typeface="Times New Roman"/>
              </a:rPr>
              <a:t>,</a:t>
            </a:r>
            <a:r>
              <a:rPr sz="2400" spc="5" dirty="0">
                <a:solidFill>
                  <a:srgbClr val="006FC0"/>
                </a:solidFill>
                <a:latin typeface="Times New Roman"/>
                <a:cs typeface="Times New Roman"/>
              </a:rPr>
              <a:t> </a:t>
            </a:r>
            <a:r>
              <a:rPr sz="2800" dirty="0">
                <a:solidFill>
                  <a:srgbClr val="006FC0"/>
                </a:solidFill>
                <a:latin typeface="Times New Roman"/>
                <a:cs typeface="Times New Roman"/>
              </a:rPr>
              <a:t>"</a:t>
            </a:r>
            <a:r>
              <a:rPr sz="2400" dirty="0">
                <a:solidFill>
                  <a:srgbClr val="006FC0"/>
                </a:solidFill>
                <a:latin typeface="Times New Roman"/>
                <a:cs typeface="Times New Roman"/>
              </a:rPr>
              <a:t>tue",</a:t>
            </a:r>
            <a:r>
              <a:rPr sz="2400" spc="-25" dirty="0">
                <a:solidFill>
                  <a:srgbClr val="006FC0"/>
                </a:solidFill>
                <a:latin typeface="Times New Roman"/>
                <a:cs typeface="Times New Roman"/>
              </a:rPr>
              <a:t> </a:t>
            </a:r>
            <a:r>
              <a:rPr sz="2400" spc="-5" dirty="0">
                <a:solidFill>
                  <a:srgbClr val="006FC0"/>
                </a:solidFill>
                <a:latin typeface="Times New Roman"/>
                <a:cs typeface="Times New Roman"/>
              </a:rPr>
              <a:t>"</a:t>
            </a:r>
            <a:r>
              <a:rPr sz="2400" spc="-15" dirty="0">
                <a:solidFill>
                  <a:srgbClr val="006FC0"/>
                </a:solidFill>
                <a:latin typeface="Times New Roman"/>
                <a:cs typeface="Times New Roman"/>
              </a:rPr>
              <a:t> </a:t>
            </a:r>
            <a:r>
              <a:rPr sz="2400" spc="-5" dirty="0">
                <a:solidFill>
                  <a:srgbClr val="006FC0"/>
                </a:solidFill>
                <a:latin typeface="Times New Roman"/>
                <a:cs typeface="Times New Roman"/>
              </a:rPr>
              <a:t>wed"};</a:t>
            </a:r>
            <a:endParaRPr sz="2400" dirty="0">
              <a:latin typeface="Times New Roman"/>
              <a:cs typeface="Times New Roman"/>
            </a:endParaRPr>
          </a:p>
          <a:p>
            <a:pPr marL="789940" lvl="1" indent="-457834">
              <a:lnSpc>
                <a:spcPct val="100000"/>
              </a:lnSpc>
              <a:spcBef>
                <a:spcPts val="600"/>
              </a:spcBef>
              <a:buClr>
                <a:srgbClr val="93B6D2"/>
              </a:buClr>
              <a:buSzPct val="68750"/>
              <a:buAutoNum type="arabicPeriod"/>
              <a:tabLst>
                <a:tab pos="789940" algn="l"/>
                <a:tab pos="790575" algn="l"/>
              </a:tabLst>
            </a:pPr>
            <a:r>
              <a:rPr sz="2400" spc="-5" dirty="0">
                <a:solidFill>
                  <a:srgbClr val="006FC0"/>
                </a:solidFill>
                <a:latin typeface="Times New Roman"/>
                <a:cs typeface="Times New Roman"/>
              </a:rPr>
              <a:t>String[] </a:t>
            </a:r>
            <a:r>
              <a:rPr sz="2400" dirty="0">
                <a:solidFill>
                  <a:srgbClr val="006FC0"/>
                </a:solidFill>
                <a:latin typeface="Times New Roman"/>
                <a:cs typeface="Times New Roman"/>
              </a:rPr>
              <a:t>str2=</a:t>
            </a:r>
            <a:r>
              <a:rPr sz="2400" b="1" dirty="0">
                <a:solidFill>
                  <a:srgbClr val="006FC0"/>
                </a:solidFill>
                <a:latin typeface="Times New Roman"/>
                <a:cs typeface="Times New Roman"/>
              </a:rPr>
              <a:t>new</a:t>
            </a:r>
            <a:r>
              <a:rPr sz="2400" b="1" spc="-10" dirty="0">
                <a:solidFill>
                  <a:srgbClr val="006FC0"/>
                </a:solidFill>
                <a:latin typeface="Times New Roman"/>
                <a:cs typeface="Times New Roman"/>
              </a:rPr>
              <a:t> </a:t>
            </a:r>
            <a:r>
              <a:rPr sz="2400" spc="-5" dirty="0">
                <a:solidFill>
                  <a:srgbClr val="006FC0"/>
                </a:solidFill>
                <a:latin typeface="Times New Roman"/>
                <a:cs typeface="Times New Roman"/>
              </a:rPr>
              <a:t>String[] {</a:t>
            </a:r>
            <a:r>
              <a:rPr sz="2800" spc="-5" dirty="0">
                <a:solidFill>
                  <a:srgbClr val="006FC0"/>
                </a:solidFill>
                <a:latin typeface="Times New Roman"/>
                <a:cs typeface="Times New Roman"/>
              </a:rPr>
              <a:t>"</a:t>
            </a:r>
            <a:r>
              <a:rPr sz="2400" spc="-5" dirty="0">
                <a:solidFill>
                  <a:srgbClr val="006FC0"/>
                </a:solidFill>
                <a:latin typeface="Times New Roman"/>
                <a:cs typeface="Times New Roman"/>
              </a:rPr>
              <a:t>mon",</a:t>
            </a:r>
            <a:r>
              <a:rPr sz="2400" spc="5" dirty="0">
                <a:solidFill>
                  <a:srgbClr val="006FC0"/>
                </a:solidFill>
                <a:latin typeface="Times New Roman"/>
                <a:cs typeface="Times New Roman"/>
              </a:rPr>
              <a:t> </a:t>
            </a:r>
            <a:r>
              <a:rPr sz="2400" dirty="0">
                <a:solidFill>
                  <a:srgbClr val="006FC0"/>
                </a:solidFill>
                <a:latin typeface="Times New Roman"/>
                <a:cs typeface="Times New Roman"/>
              </a:rPr>
              <a:t>“tue",</a:t>
            </a:r>
            <a:r>
              <a:rPr sz="2400" spc="-20" dirty="0">
                <a:solidFill>
                  <a:srgbClr val="006FC0"/>
                </a:solidFill>
                <a:latin typeface="Times New Roman"/>
                <a:cs typeface="Times New Roman"/>
              </a:rPr>
              <a:t> </a:t>
            </a:r>
            <a:r>
              <a:rPr sz="2400" spc="-5" dirty="0">
                <a:solidFill>
                  <a:srgbClr val="006FC0"/>
                </a:solidFill>
                <a:latin typeface="Times New Roman"/>
                <a:cs typeface="Times New Roman"/>
              </a:rPr>
              <a:t>" wed"};</a:t>
            </a:r>
            <a:endParaRPr sz="2400" dirty="0">
              <a:latin typeface="Times New Roman"/>
              <a:cs typeface="Times New Roman"/>
            </a:endParaRPr>
          </a:p>
          <a:p>
            <a:pPr marL="927100" marR="3876040" lvl="1" indent="-594995">
              <a:lnSpc>
                <a:spcPts val="3579"/>
              </a:lnSpc>
              <a:spcBef>
                <a:spcPts val="155"/>
              </a:spcBef>
              <a:buClr>
                <a:srgbClr val="93B6D2"/>
              </a:buClr>
              <a:buSzPct val="68750"/>
              <a:buAutoNum type="arabicPeriod"/>
              <a:tabLst>
                <a:tab pos="789940" algn="l"/>
                <a:tab pos="790575" algn="l"/>
              </a:tabLst>
            </a:pPr>
            <a:r>
              <a:rPr sz="2400" spc="-5" dirty="0">
                <a:solidFill>
                  <a:srgbClr val="006FC0"/>
                </a:solidFill>
                <a:latin typeface="Times New Roman"/>
                <a:cs typeface="Times New Roman"/>
              </a:rPr>
              <a:t>String[] </a:t>
            </a:r>
            <a:r>
              <a:rPr sz="2400" dirty="0">
                <a:solidFill>
                  <a:srgbClr val="006FC0"/>
                </a:solidFill>
                <a:latin typeface="Times New Roman"/>
                <a:cs typeface="Times New Roman"/>
              </a:rPr>
              <a:t>str3= </a:t>
            </a:r>
            <a:r>
              <a:rPr sz="2400" b="1" spc="-5" dirty="0">
                <a:solidFill>
                  <a:srgbClr val="006FC0"/>
                </a:solidFill>
                <a:latin typeface="Times New Roman"/>
                <a:cs typeface="Times New Roman"/>
              </a:rPr>
              <a:t>new </a:t>
            </a:r>
            <a:r>
              <a:rPr lang="en-US" sz="2400" b="1" spc="-5" dirty="0" smtClean="0">
                <a:solidFill>
                  <a:srgbClr val="006FC0"/>
                </a:solidFill>
                <a:latin typeface="Times New Roman"/>
                <a:cs typeface="Times New Roman"/>
              </a:rPr>
              <a:t>S</a:t>
            </a:r>
            <a:r>
              <a:rPr sz="2400" spc="-5" dirty="0" smtClean="0">
                <a:solidFill>
                  <a:srgbClr val="006FC0"/>
                </a:solidFill>
                <a:latin typeface="Times New Roman"/>
                <a:cs typeface="Times New Roman"/>
              </a:rPr>
              <a:t>tring[3</a:t>
            </a:r>
            <a:r>
              <a:rPr sz="2400" spc="-5" dirty="0">
                <a:solidFill>
                  <a:srgbClr val="006FC0"/>
                </a:solidFill>
                <a:latin typeface="Times New Roman"/>
                <a:cs typeface="Times New Roman"/>
              </a:rPr>
              <a:t>]; </a:t>
            </a:r>
            <a:r>
              <a:rPr sz="2400" spc="-585" dirty="0">
                <a:solidFill>
                  <a:srgbClr val="006FC0"/>
                </a:solidFill>
                <a:latin typeface="Times New Roman"/>
                <a:cs typeface="Times New Roman"/>
              </a:rPr>
              <a:t> </a:t>
            </a:r>
            <a:r>
              <a:rPr sz="2400" spc="-5" dirty="0">
                <a:solidFill>
                  <a:srgbClr val="006FC0"/>
                </a:solidFill>
                <a:latin typeface="Times New Roman"/>
                <a:cs typeface="Times New Roman"/>
              </a:rPr>
              <a:t>str3[0]=“mon”;</a:t>
            </a:r>
            <a:endParaRPr sz="2400" dirty="0">
              <a:latin typeface="Times New Roman"/>
              <a:cs typeface="Times New Roman"/>
            </a:endParaRPr>
          </a:p>
          <a:p>
            <a:pPr marL="927100">
              <a:lnSpc>
                <a:spcPct val="100000"/>
              </a:lnSpc>
              <a:spcBef>
                <a:spcPts val="465"/>
              </a:spcBef>
            </a:pPr>
            <a:r>
              <a:rPr sz="2400" dirty="0">
                <a:solidFill>
                  <a:srgbClr val="006FC0"/>
                </a:solidFill>
                <a:latin typeface="Times New Roman"/>
                <a:cs typeface="Times New Roman"/>
              </a:rPr>
              <a:t>str3[1]=“tue”;</a:t>
            </a:r>
            <a:endParaRPr sz="2400" dirty="0">
              <a:latin typeface="Times New Roman"/>
              <a:cs typeface="Times New Roman"/>
            </a:endParaRPr>
          </a:p>
          <a:p>
            <a:pPr marL="927100">
              <a:lnSpc>
                <a:spcPct val="100000"/>
              </a:lnSpc>
              <a:spcBef>
                <a:spcPts val="700"/>
              </a:spcBef>
            </a:pPr>
            <a:r>
              <a:rPr sz="2400" spc="-5" dirty="0">
                <a:solidFill>
                  <a:srgbClr val="006FC0"/>
                </a:solidFill>
                <a:latin typeface="Times New Roman"/>
                <a:cs typeface="Times New Roman"/>
              </a:rPr>
              <a:t>str3[2]=“wed”;</a:t>
            </a:r>
            <a:endParaRPr sz="2400" dirty="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69</a:t>
            </a:r>
            <a:endParaRPr sz="1200">
              <a:latin typeface="Times New Roman"/>
              <a:cs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171065" cy="696595"/>
          </a:xfrm>
          <a:prstGeom prst="rect">
            <a:avLst/>
          </a:prstGeom>
        </p:spPr>
        <p:txBody>
          <a:bodyPr vert="horz" wrap="square" lIns="0" tIns="13335" rIns="0" bIns="0" rtlCol="0">
            <a:spAutoFit/>
          </a:bodyPr>
          <a:lstStyle/>
          <a:p>
            <a:pPr marL="12700">
              <a:lnSpc>
                <a:spcPct val="100000"/>
              </a:lnSpc>
              <a:spcBef>
                <a:spcPts val="105"/>
              </a:spcBef>
            </a:pPr>
            <a:r>
              <a:rPr sz="4400" spc="-5" dirty="0"/>
              <a:t>Strings…</a:t>
            </a:r>
            <a:endParaRPr sz="4400"/>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spc="-5" dirty="0"/>
              <a:t>Dr</a:t>
            </a:r>
            <a:r>
              <a:rPr spc="-60" dirty="0"/>
              <a:t> </a:t>
            </a:r>
            <a:r>
              <a:rPr spc="-25" dirty="0"/>
              <a:t>Yogish</a:t>
            </a:r>
            <a:r>
              <a:rPr spc="-35" dirty="0"/>
              <a:t> </a:t>
            </a:r>
            <a:r>
              <a:rPr dirty="0"/>
              <a:t>H</a:t>
            </a:r>
            <a:r>
              <a:rPr spc="-10" dirty="0"/>
              <a:t> </a:t>
            </a:r>
            <a:r>
              <a:rPr spc="-5" dirty="0"/>
              <a:t>K, Professor,</a:t>
            </a:r>
            <a:r>
              <a:rPr spc="-50" dirty="0"/>
              <a:t> </a:t>
            </a:r>
            <a:r>
              <a:rPr dirty="0"/>
              <a:t>Dept.</a:t>
            </a:r>
            <a:r>
              <a:rPr spc="-15" dirty="0"/>
              <a:t> </a:t>
            </a:r>
            <a:r>
              <a:rPr dirty="0"/>
              <a:t>of</a:t>
            </a:r>
            <a:r>
              <a:rPr spc="-25" dirty="0"/>
              <a:t> </a:t>
            </a:r>
            <a:r>
              <a:rPr dirty="0"/>
              <a:t>ISE</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630"/>
              </a:lnSpc>
            </a:pPr>
            <a:r>
              <a:rPr spc="-5" dirty="0"/>
              <a:t>1/19/2023</a:t>
            </a:r>
          </a:p>
        </p:txBody>
      </p:sp>
      <p:sp>
        <p:nvSpPr>
          <p:cNvPr id="3" name="object 3"/>
          <p:cNvSpPr txBox="1"/>
          <p:nvPr/>
        </p:nvSpPr>
        <p:spPr>
          <a:xfrm>
            <a:off x="691387" y="1620138"/>
            <a:ext cx="7996555" cy="3801745"/>
          </a:xfrm>
          <a:prstGeom prst="rect">
            <a:avLst/>
          </a:prstGeom>
        </p:spPr>
        <p:txBody>
          <a:bodyPr vert="horz" wrap="square" lIns="0" tIns="13335" rIns="0" bIns="0" rtlCol="0">
            <a:spAutoFit/>
          </a:bodyPr>
          <a:lstStyle/>
          <a:p>
            <a:pPr marL="332740" marR="5080" indent="-320675" algn="just">
              <a:lnSpc>
                <a:spcPct val="100000"/>
              </a:lnSpc>
              <a:spcBef>
                <a:spcPts val="105"/>
              </a:spcBef>
              <a:buClr>
                <a:srgbClr val="DD8046"/>
              </a:buClr>
              <a:buSzPct val="60344"/>
              <a:buFont typeface="Wingdings"/>
              <a:buChar char=""/>
              <a:tabLst>
                <a:tab pos="333375" algn="l"/>
              </a:tabLst>
            </a:pPr>
            <a:r>
              <a:rPr sz="2900" spc="-95" dirty="0">
                <a:latin typeface="Times New Roman"/>
                <a:cs typeface="Times New Roman"/>
              </a:rPr>
              <a:t>You </a:t>
            </a:r>
            <a:r>
              <a:rPr sz="2900" spc="-5" dirty="0">
                <a:latin typeface="Times New Roman"/>
                <a:cs typeface="Times New Roman"/>
              </a:rPr>
              <a:t>can </a:t>
            </a:r>
            <a:r>
              <a:rPr sz="2900" dirty="0">
                <a:latin typeface="Times New Roman"/>
                <a:cs typeface="Times New Roman"/>
              </a:rPr>
              <a:t>use </a:t>
            </a:r>
            <a:r>
              <a:rPr sz="2900" spc="-5" dirty="0">
                <a:latin typeface="Times New Roman"/>
                <a:cs typeface="Times New Roman"/>
              </a:rPr>
              <a:t>an object </a:t>
            </a:r>
            <a:r>
              <a:rPr sz="2900" dirty="0">
                <a:latin typeface="Times New Roman"/>
                <a:cs typeface="Times New Roman"/>
              </a:rPr>
              <a:t>of type </a:t>
            </a:r>
            <a:r>
              <a:rPr sz="2900" spc="-5" dirty="0">
                <a:latin typeface="Times New Roman"/>
                <a:cs typeface="Times New Roman"/>
              </a:rPr>
              <a:t>String as an </a:t>
            </a:r>
            <a:r>
              <a:rPr sz="2900" spc="-15" dirty="0">
                <a:latin typeface="Times New Roman"/>
                <a:cs typeface="Times New Roman"/>
              </a:rPr>
              <a:t>argument </a:t>
            </a:r>
            <a:r>
              <a:rPr sz="2900" spc="-710" dirty="0">
                <a:latin typeface="Times New Roman"/>
                <a:cs typeface="Times New Roman"/>
              </a:rPr>
              <a:t> </a:t>
            </a:r>
            <a:r>
              <a:rPr sz="2900" spc="-5" dirty="0">
                <a:latin typeface="Times New Roman"/>
                <a:cs typeface="Times New Roman"/>
              </a:rPr>
              <a:t>to</a:t>
            </a:r>
            <a:r>
              <a:rPr sz="2900" spc="-15" dirty="0">
                <a:latin typeface="Times New Roman"/>
                <a:cs typeface="Times New Roman"/>
              </a:rPr>
              <a:t> </a:t>
            </a:r>
            <a:r>
              <a:rPr sz="2900" dirty="0">
                <a:latin typeface="Times New Roman"/>
                <a:cs typeface="Times New Roman"/>
              </a:rPr>
              <a:t>println(</a:t>
            </a:r>
            <a:r>
              <a:rPr sz="2900" spc="-40" dirty="0">
                <a:latin typeface="Times New Roman"/>
                <a:cs typeface="Times New Roman"/>
              </a:rPr>
              <a:t> </a:t>
            </a:r>
            <a:r>
              <a:rPr sz="2900" dirty="0">
                <a:latin typeface="Times New Roman"/>
                <a:cs typeface="Times New Roman"/>
              </a:rPr>
              <a:t>).</a:t>
            </a:r>
            <a:endParaRPr sz="2900">
              <a:latin typeface="Times New Roman"/>
              <a:cs typeface="Times New Roman"/>
            </a:endParaRPr>
          </a:p>
          <a:p>
            <a:pPr marL="332740" indent="-320675" algn="just">
              <a:lnSpc>
                <a:spcPct val="100000"/>
              </a:lnSpc>
              <a:spcBef>
                <a:spcPts val="705"/>
              </a:spcBef>
              <a:buClr>
                <a:srgbClr val="DD8046"/>
              </a:buClr>
              <a:buSzPct val="60344"/>
              <a:buFont typeface="Wingdings"/>
              <a:buChar char=""/>
              <a:tabLst>
                <a:tab pos="333375" algn="l"/>
              </a:tabLst>
            </a:pPr>
            <a:r>
              <a:rPr sz="2900" dirty="0">
                <a:latin typeface="Times New Roman"/>
                <a:cs typeface="Times New Roman"/>
              </a:rPr>
              <a:t>For</a:t>
            </a:r>
            <a:r>
              <a:rPr sz="2900" spc="-40" dirty="0">
                <a:latin typeface="Times New Roman"/>
                <a:cs typeface="Times New Roman"/>
              </a:rPr>
              <a:t> </a:t>
            </a:r>
            <a:r>
              <a:rPr sz="2900" spc="-10" dirty="0">
                <a:latin typeface="Times New Roman"/>
                <a:cs typeface="Times New Roman"/>
              </a:rPr>
              <a:t>example,</a:t>
            </a:r>
            <a:endParaRPr sz="2900">
              <a:latin typeface="Times New Roman"/>
              <a:cs typeface="Times New Roman"/>
            </a:endParaRPr>
          </a:p>
          <a:p>
            <a:pPr marL="378460" algn="just">
              <a:lnSpc>
                <a:spcPct val="100000"/>
              </a:lnSpc>
              <a:spcBef>
                <a:spcPts val="615"/>
              </a:spcBef>
            </a:pPr>
            <a:r>
              <a:rPr sz="1800" spc="-55" dirty="0">
                <a:solidFill>
                  <a:srgbClr val="93B6D2"/>
                </a:solidFill>
                <a:latin typeface="Microsoft Sans Serif"/>
                <a:cs typeface="Microsoft Sans Serif"/>
              </a:rPr>
              <a:t>🞑</a:t>
            </a:r>
            <a:r>
              <a:rPr sz="1800" spc="50" dirty="0">
                <a:solidFill>
                  <a:srgbClr val="93B6D2"/>
                </a:solidFill>
                <a:latin typeface="Microsoft Sans Serif"/>
                <a:cs typeface="Microsoft Sans Serif"/>
              </a:rPr>
              <a:t> </a:t>
            </a:r>
            <a:r>
              <a:rPr sz="2600" dirty="0">
                <a:solidFill>
                  <a:srgbClr val="006FC0"/>
                </a:solidFill>
                <a:latin typeface="Times New Roman"/>
                <a:cs typeface="Times New Roman"/>
              </a:rPr>
              <a:t>String</a:t>
            </a:r>
            <a:r>
              <a:rPr sz="2600" spc="-15" dirty="0">
                <a:solidFill>
                  <a:srgbClr val="006FC0"/>
                </a:solidFill>
                <a:latin typeface="Times New Roman"/>
                <a:cs typeface="Times New Roman"/>
              </a:rPr>
              <a:t> </a:t>
            </a:r>
            <a:r>
              <a:rPr sz="2600" spc="-5" dirty="0">
                <a:solidFill>
                  <a:srgbClr val="006FC0"/>
                </a:solidFill>
                <a:latin typeface="Times New Roman"/>
                <a:cs typeface="Times New Roman"/>
              </a:rPr>
              <a:t>str </a:t>
            </a:r>
            <a:r>
              <a:rPr sz="2600" dirty="0">
                <a:solidFill>
                  <a:srgbClr val="006FC0"/>
                </a:solidFill>
                <a:latin typeface="Times New Roman"/>
                <a:cs typeface="Times New Roman"/>
              </a:rPr>
              <a:t>=</a:t>
            </a:r>
            <a:r>
              <a:rPr sz="2600" spc="-10" dirty="0">
                <a:solidFill>
                  <a:srgbClr val="006FC0"/>
                </a:solidFill>
                <a:latin typeface="Times New Roman"/>
                <a:cs typeface="Times New Roman"/>
              </a:rPr>
              <a:t> </a:t>
            </a:r>
            <a:r>
              <a:rPr sz="2600" dirty="0">
                <a:solidFill>
                  <a:srgbClr val="006FC0"/>
                </a:solidFill>
                <a:latin typeface="Times New Roman"/>
                <a:cs typeface="Times New Roman"/>
              </a:rPr>
              <a:t>"Dept</a:t>
            </a:r>
            <a:r>
              <a:rPr sz="2600" spc="-20" dirty="0">
                <a:solidFill>
                  <a:srgbClr val="006FC0"/>
                </a:solidFill>
                <a:latin typeface="Times New Roman"/>
                <a:cs typeface="Times New Roman"/>
              </a:rPr>
              <a:t> </a:t>
            </a:r>
            <a:r>
              <a:rPr sz="2600" dirty="0">
                <a:solidFill>
                  <a:srgbClr val="006FC0"/>
                </a:solidFill>
                <a:latin typeface="Times New Roman"/>
                <a:cs typeface="Times New Roman"/>
              </a:rPr>
              <a:t>of</a:t>
            </a:r>
            <a:r>
              <a:rPr sz="2600" spc="-25" dirty="0">
                <a:solidFill>
                  <a:srgbClr val="006FC0"/>
                </a:solidFill>
                <a:latin typeface="Times New Roman"/>
                <a:cs typeface="Times New Roman"/>
              </a:rPr>
              <a:t> </a:t>
            </a:r>
            <a:r>
              <a:rPr sz="2600" dirty="0">
                <a:solidFill>
                  <a:srgbClr val="006FC0"/>
                </a:solidFill>
                <a:latin typeface="Times New Roman"/>
                <a:cs typeface="Times New Roman"/>
              </a:rPr>
              <a:t>ISE";</a:t>
            </a:r>
            <a:endParaRPr sz="2600">
              <a:latin typeface="Times New Roman"/>
              <a:cs typeface="Times New Roman"/>
            </a:endParaRPr>
          </a:p>
          <a:p>
            <a:pPr marL="378460" algn="just">
              <a:lnSpc>
                <a:spcPct val="100000"/>
              </a:lnSpc>
              <a:spcBef>
                <a:spcPts val="600"/>
              </a:spcBef>
            </a:pPr>
            <a:r>
              <a:rPr sz="1800" spc="-55" dirty="0">
                <a:solidFill>
                  <a:srgbClr val="93B6D2"/>
                </a:solidFill>
                <a:latin typeface="Microsoft Sans Serif"/>
                <a:cs typeface="Microsoft Sans Serif"/>
              </a:rPr>
              <a:t>🞑</a:t>
            </a:r>
            <a:r>
              <a:rPr sz="1800" spc="55" dirty="0">
                <a:solidFill>
                  <a:srgbClr val="93B6D2"/>
                </a:solidFill>
                <a:latin typeface="Microsoft Sans Serif"/>
                <a:cs typeface="Microsoft Sans Serif"/>
              </a:rPr>
              <a:t> </a:t>
            </a:r>
            <a:r>
              <a:rPr sz="2600" spc="-5" dirty="0">
                <a:solidFill>
                  <a:srgbClr val="006FC0"/>
                </a:solidFill>
                <a:latin typeface="Times New Roman"/>
                <a:cs typeface="Times New Roman"/>
              </a:rPr>
              <a:t>System.out.println(str);</a:t>
            </a:r>
            <a:endParaRPr sz="2600">
              <a:latin typeface="Times New Roman"/>
              <a:cs typeface="Times New Roman"/>
            </a:endParaRPr>
          </a:p>
          <a:p>
            <a:pPr marL="332740" marR="5080" indent="-320675" algn="just">
              <a:lnSpc>
                <a:spcPct val="100000"/>
              </a:lnSpc>
              <a:spcBef>
                <a:spcPts val="685"/>
              </a:spcBef>
              <a:buClr>
                <a:srgbClr val="DD8046"/>
              </a:buClr>
              <a:buSzPct val="60344"/>
              <a:buFont typeface="Wingdings"/>
              <a:buChar char=""/>
              <a:tabLst>
                <a:tab pos="333375" algn="l"/>
              </a:tabLst>
            </a:pPr>
            <a:r>
              <a:rPr sz="2900" dirty="0">
                <a:latin typeface="Times New Roman"/>
                <a:cs typeface="Times New Roman"/>
              </a:rPr>
              <a:t>Here, </a:t>
            </a:r>
            <a:r>
              <a:rPr sz="2900" spc="-5" dirty="0">
                <a:solidFill>
                  <a:srgbClr val="006FC0"/>
                </a:solidFill>
                <a:latin typeface="Times New Roman"/>
                <a:cs typeface="Times New Roman"/>
              </a:rPr>
              <a:t>str </a:t>
            </a:r>
            <a:r>
              <a:rPr sz="2900" spc="-10" dirty="0">
                <a:latin typeface="Times New Roman"/>
                <a:cs typeface="Times New Roman"/>
              </a:rPr>
              <a:t>is </a:t>
            </a:r>
            <a:r>
              <a:rPr sz="2900" spc="-5" dirty="0">
                <a:latin typeface="Times New Roman"/>
                <a:cs typeface="Times New Roman"/>
              </a:rPr>
              <a:t>an object of </a:t>
            </a:r>
            <a:r>
              <a:rPr sz="2900" dirty="0">
                <a:latin typeface="Times New Roman"/>
                <a:cs typeface="Times New Roman"/>
              </a:rPr>
              <a:t>type </a:t>
            </a:r>
            <a:r>
              <a:rPr sz="2900" spc="-5" dirty="0">
                <a:solidFill>
                  <a:srgbClr val="006FC0"/>
                </a:solidFill>
                <a:latin typeface="Times New Roman"/>
                <a:cs typeface="Times New Roman"/>
              </a:rPr>
              <a:t>String</a:t>
            </a:r>
            <a:r>
              <a:rPr sz="2900" spc="-5" dirty="0">
                <a:latin typeface="Times New Roman"/>
                <a:cs typeface="Times New Roman"/>
              </a:rPr>
              <a:t>. It is assigned </a:t>
            </a:r>
            <a:r>
              <a:rPr sz="2900" dirty="0">
                <a:latin typeface="Times New Roman"/>
                <a:cs typeface="Times New Roman"/>
              </a:rPr>
              <a:t> the </a:t>
            </a:r>
            <a:r>
              <a:rPr sz="2900" spc="-5" dirty="0">
                <a:latin typeface="Times New Roman"/>
                <a:cs typeface="Times New Roman"/>
              </a:rPr>
              <a:t>string </a:t>
            </a:r>
            <a:r>
              <a:rPr sz="2900" dirty="0">
                <a:latin typeface="Times New Roman"/>
                <a:cs typeface="Times New Roman"/>
              </a:rPr>
              <a:t>“</a:t>
            </a:r>
            <a:r>
              <a:rPr sz="2900" dirty="0">
                <a:solidFill>
                  <a:srgbClr val="006FC0"/>
                </a:solidFill>
                <a:latin typeface="Times New Roman"/>
                <a:cs typeface="Times New Roman"/>
              </a:rPr>
              <a:t>Dept of ISE</a:t>
            </a:r>
            <a:r>
              <a:rPr sz="2900" dirty="0">
                <a:latin typeface="Times New Roman"/>
                <a:cs typeface="Times New Roman"/>
              </a:rPr>
              <a:t>”. This </a:t>
            </a:r>
            <a:r>
              <a:rPr sz="2900" spc="-5" dirty="0">
                <a:latin typeface="Times New Roman"/>
                <a:cs typeface="Times New Roman"/>
              </a:rPr>
              <a:t>string is displayed </a:t>
            </a:r>
            <a:r>
              <a:rPr sz="2900" spc="-10" dirty="0">
                <a:latin typeface="Times New Roman"/>
                <a:cs typeface="Times New Roman"/>
              </a:rPr>
              <a:t>by </a:t>
            </a:r>
            <a:r>
              <a:rPr sz="2900" spc="-710" dirty="0">
                <a:latin typeface="Times New Roman"/>
                <a:cs typeface="Times New Roman"/>
              </a:rPr>
              <a:t> </a:t>
            </a:r>
            <a:r>
              <a:rPr sz="2900" dirty="0">
                <a:latin typeface="Times New Roman"/>
                <a:cs typeface="Times New Roman"/>
              </a:rPr>
              <a:t>the</a:t>
            </a:r>
            <a:r>
              <a:rPr sz="2900" spc="-20" dirty="0">
                <a:latin typeface="Times New Roman"/>
                <a:cs typeface="Times New Roman"/>
              </a:rPr>
              <a:t> </a:t>
            </a:r>
            <a:r>
              <a:rPr sz="2900" dirty="0">
                <a:latin typeface="Times New Roman"/>
                <a:cs typeface="Times New Roman"/>
              </a:rPr>
              <a:t>println(</a:t>
            </a:r>
            <a:r>
              <a:rPr sz="2900" spc="-25" dirty="0">
                <a:latin typeface="Times New Roman"/>
                <a:cs typeface="Times New Roman"/>
              </a:rPr>
              <a:t> </a:t>
            </a:r>
            <a:r>
              <a:rPr sz="2900" dirty="0">
                <a:latin typeface="Times New Roman"/>
                <a:cs typeface="Times New Roman"/>
              </a:rPr>
              <a:t>)</a:t>
            </a:r>
            <a:r>
              <a:rPr sz="2900" spc="-10" dirty="0">
                <a:latin typeface="Times New Roman"/>
                <a:cs typeface="Times New Roman"/>
              </a:rPr>
              <a:t> statement.</a:t>
            </a:r>
            <a:endParaRPr sz="29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70</a:t>
            </a:r>
            <a:endParaRPr sz="1200">
              <a:latin typeface="Times New Roman"/>
              <a:cs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308860" cy="696595"/>
          </a:xfrm>
          <a:prstGeom prst="rect">
            <a:avLst/>
          </a:prstGeom>
        </p:spPr>
        <p:txBody>
          <a:bodyPr vert="horz" wrap="square" lIns="0" tIns="13335" rIns="0" bIns="0" rtlCol="0">
            <a:spAutoFit/>
          </a:bodyPr>
          <a:lstStyle/>
          <a:p>
            <a:pPr marL="12700">
              <a:lnSpc>
                <a:spcPct val="100000"/>
              </a:lnSpc>
              <a:spcBef>
                <a:spcPts val="105"/>
              </a:spcBef>
            </a:pPr>
            <a:r>
              <a:rPr sz="4400" spc="-5" dirty="0"/>
              <a:t>Strings</a:t>
            </a:r>
            <a:r>
              <a:rPr sz="4400" spc="-85" dirty="0"/>
              <a:t> </a:t>
            </a:r>
            <a:r>
              <a:rPr sz="4400" dirty="0"/>
              <a:t>…</a:t>
            </a:r>
            <a:endParaRPr sz="4400"/>
          </a:p>
        </p:txBody>
      </p:sp>
      <p:sp>
        <p:nvSpPr>
          <p:cNvPr id="3" name="object 3"/>
          <p:cNvSpPr txBox="1"/>
          <p:nvPr/>
        </p:nvSpPr>
        <p:spPr>
          <a:xfrm>
            <a:off x="691387" y="1530832"/>
            <a:ext cx="7661909" cy="4275455"/>
          </a:xfrm>
          <a:prstGeom prst="rect">
            <a:avLst/>
          </a:prstGeom>
        </p:spPr>
        <p:txBody>
          <a:bodyPr vert="horz" wrap="square" lIns="0" tIns="102235" rIns="0" bIns="0" rtlCol="0">
            <a:spAutoFit/>
          </a:bodyPr>
          <a:lstStyle/>
          <a:p>
            <a:pPr marL="12700">
              <a:lnSpc>
                <a:spcPct val="100000"/>
              </a:lnSpc>
              <a:spcBef>
                <a:spcPts val="805"/>
              </a:spcBef>
            </a:pPr>
            <a:r>
              <a:rPr sz="2900" spc="-5" dirty="0">
                <a:latin typeface="Times New Roman"/>
                <a:cs typeface="Times New Roman"/>
              </a:rPr>
              <a:t>class</a:t>
            </a:r>
            <a:r>
              <a:rPr sz="2900" spc="-30" dirty="0">
                <a:latin typeface="Times New Roman"/>
                <a:cs typeface="Times New Roman"/>
              </a:rPr>
              <a:t> </a:t>
            </a:r>
            <a:r>
              <a:rPr sz="2900" spc="-10" dirty="0">
                <a:latin typeface="Times New Roman"/>
                <a:cs typeface="Times New Roman"/>
              </a:rPr>
              <a:t>mystr</a:t>
            </a:r>
            <a:r>
              <a:rPr sz="2900" spc="-5" dirty="0">
                <a:latin typeface="Times New Roman"/>
                <a:cs typeface="Times New Roman"/>
              </a:rPr>
              <a:t> </a:t>
            </a:r>
            <a:r>
              <a:rPr sz="2900" dirty="0">
                <a:latin typeface="Times New Roman"/>
                <a:cs typeface="Times New Roman"/>
              </a:rPr>
              <a:t>{</a:t>
            </a:r>
            <a:endParaRPr sz="2900">
              <a:latin typeface="Times New Roman"/>
              <a:cs typeface="Times New Roman"/>
            </a:endParaRPr>
          </a:p>
          <a:p>
            <a:pPr marL="196850">
              <a:lnSpc>
                <a:spcPct val="100000"/>
              </a:lnSpc>
              <a:spcBef>
                <a:spcPts val="710"/>
              </a:spcBef>
            </a:pPr>
            <a:r>
              <a:rPr sz="2900" dirty="0">
                <a:latin typeface="Times New Roman"/>
                <a:cs typeface="Times New Roman"/>
              </a:rPr>
              <a:t>public</a:t>
            </a:r>
            <a:r>
              <a:rPr sz="2900" spc="-35" dirty="0">
                <a:latin typeface="Times New Roman"/>
                <a:cs typeface="Times New Roman"/>
              </a:rPr>
              <a:t> </a:t>
            </a:r>
            <a:r>
              <a:rPr sz="2900" spc="-5" dirty="0">
                <a:latin typeface="Times New Roman"/>
                <a:cs typeface="Times New Roman"/>
              </a:rPr>
              <a:t>static</a:t>
            </a:r>
            <a:r>
              <a:rPr sz="2900" spc="-15" dirty="0">
                <a:latin typeface="Times New Roman"/>
                <a:cs typeface="Times New Roman"/>
              </a:rPr>
              <a:t> </a:t>
            </a:r>
            <a:r>
              <a:rPr sz="2900" spc="-5" dirty="0">
                <a:latin typeface="Times New Roman"/>
                <a:cs typeface="Times New Roman"/>
              </a:rPr>
              <a:t>void</a:t>
            </a:r>
            <a:r>
              <a:rPr sz="2900" dirty="0">
                <a:latin typeface="Times New Roman"/>
                <a:cs typeface="Times New Roman"/>
              </a:rPr>
              <a:t> </a:t>
            </a:r>
            <a:r>
              <a:rPr sz="2900" spc="-5" dirty="0">
                <a:latin typeface="Times New Roman"/>
                <a:cs typeface="Times New Roman"/>
              </a:rPr>
              <a:t>main(String[]</a:t>
            </a:r>
            <a:r>
              <a:rPr sz="2900" spc="-20" dirty="0">
                <a:latin typeface="Times New Roman"/>
                <a:cs typeface="Times New Roman"/>
              </a:rPr>
              <a:t> </a:t>
            </a:r>
            <a:r>
              <a:rPr sz="2900" spc="-10" dirty="0">
                <a:latin typeface="Times New Roman"/>
                <a:cs typeface="Times New Roman"/>
              </a:rPr>
              <a:t>args)</a:t>
            </a:r>
            <a:r>
              <a:rPr sz="2900" spc="-30" dirty="0">
                <a:latin typeface="Times New Roman"/>
                <a:cs typeface="Times New Roman"/>
              </a:rPr>
              <a:t> </a:t>
            </a:r>
            <a:r>
              <a:rPr sz="2900" dirty="0">
                <a:latin typeface="Times New Roman"/>
                <a:cs typeface="Times New Roman"/>
              </a:rPr>
              <a:t>{</a:t>
            </a:r>
            <a:endParaRPr sz="2900">
              <a:latin typeface="Times New Roman"/>
              <a:cs typeface="Times New Roman"/>
            </a:endParaRPr>
          </a:p>
          <a:p>
            <a:pPr marL="381635" marR="5080">
              <a:lnSpc>
                <a:spcPts val="4180"/>
              </a:lnSpc>
              <a:spcBef>
                <a:spcPts val="250"/>
              </a:spcBef>
            </a:pPr>
            <a:r>
              <a:rPr sz="2900" dirty="0">
                <a:latin typeface="Times New Roman"/>
                <a:cs typeface="Times New Roman"/>
              </a:rPr>
              <a:t>String</a:t>
            </a:r>
            <a:r>
              <a:rPr sz="2900" spc="-35" dirty="0">
                <a:latin typeface="Times New Roman"/>
                <a:cs typeface="Times New Roman"/>
              </a:rPr>
              <a:t> </a:t>
            </a:r>
            <a:r>
              <a:rPr sz="2900" spc="-10" dirty="0">
                <a:latin typeface="Times New Roman"/>
                <a:cs typeface="Times New Roman"/>
              </a:rPr>
              <a:t>[]months=</a:t>
            </a:r>
            <a:r>
              <a:rPr sz="2900" spc="20" dirty="0">
                <a:latin typeface="Times New Roman"/>
                <a:cs typeface="Times New Roman"/>
              </a:rPr>
              <a:t> </a:t>
            </a:r>
            <a:r>
              <a:rPr sz="2900" dirty="0">
                <a:latin typeface="Times New Roman"/>
                <a:cs typeface="Times New Roman"/>
              </a:rPr>
              <a:t>{"Jan", "Feb",</a:t>
            </a:r>
            <a:r>
              <a:rPr sz="2900" spc="-10" dirty="0">
                <a:latin typeface="Times New Roman"/>
                <a:cs typeface="Times New Roman"/>
              </a:rPr>
              <a:t> </a:t>
            </a:r>
            <a:r>
              <a:rPr sz="2900" dirty="0">
                <a:latin typeface="Times New Roman"/>
                <a:cs typeface="Times New Roman"/>
              </a:rPr>
              <a:t>"Mar",</a:t>
            </a:r>
            <a:r>
              <a:rPr sz="2900" spc="-10" dirty="0">
                <a:latin typeface="Times New Roman"/>
                <a:cs typeface="Times New Roman"/>
              </a:rPr>
              <a:t> </a:t>
            </a:r>
            <a:r>
              <a:rPr sz="2900" dirty="0">
                <a:latin typeface="Times New Roman"/>
                <a:cs typeface="Times New Roman"/>
              </a:rPr>
              <a:t>"April"}; </a:t>
            </a:r>
            <a:r>
              <a:rPr sz="2900" spc="-710" dirty="0">
                <a:latin typeface="Times New Roman"/>
                <a:cs typeface="Times New Roman"/>
              </a:rPr>
              <a:t> </a:t>
            </a:r>
            <a:r>
              <a:rPr sz="2900" dirty="0">
                <a:latin typeface="Times New Roman"/>
                <a:cs typeface="Times New Roman"/>
              </a:rPr>
              <a:t>for</a:t>
            </a:r>
            <a:r>
              <a:rPr sz="2900" spc="-30" dirty="0">
                <a:latin typeface="Times New Roman"/>
                <a:cs typeface="Times New Roman"/>
              </a:rPr>
              <a:t> </a:t>
            </a:r>
            <a:r>
              <a:rPr sz="2900" dirty="0">
                <a:latin typeface="Times New Roman"/>
                <a:cs typeface="Times New Roman"/>
              </a:rPr>
              <a:t>(String</a:t>
            </a:r>
            <a:r>
              <a:rPr sz="2900" spc="-30" dirty="0">
                <a:latin typeface="Times New Roman"/>
                <a:cs typeface="Times New Roman"/>
              </a:rPr>
              <a:t> </a:t>
            </a:r>
            <a:r>
              <a:rPr sz="2900" dirty="0">
                <a:latin typeface="Times New Roman"/>
                <a:cs typeface="Times New Roman"/>
              </a:rPr>
              <a:t>i</a:t>
            </a:r>
            <a:r>
              <a:rPr sz="2900" spc="-5" dirty="0">
                <a:latin typeface="Times New Roman"/>
                <a:cs typeface="Times New Roman"/>
              </a:rPr>
              <a:t> </a:t>
            </a:r>
            <a:r>
              <a:rPr sz="2900" dirty="0">
                <a:latin typeface="Times New Roman"/>
                <a:cs typeface="Times New Roman"/>
              </a:rPr>
              <a:t>:</a:t>
            </a:r>
            <a:r>
              <a:rPr sz="2900" spc="-15" dirty="0">
                <a:latin typeface="Times New Roman"/>
                <a:cs typeface="Times New Roman"/>
              </a:rPr>
              <a:t> </a:t>
            </a:r>
            <a:r>
              <a:rPr sz="2900" spc="-5" dirty="0">
                <a:latin typeface="Times New Roman"/>
                <a:cs typeface="Times New Roman"/>
              </a:rPr>
              <a:t>months)</a:t>
            </a:r>
            <a:r>
              <a:rPr sz="2900" dirty="0">
                <a:latin typeface="Times New Roman"/>
                <a:cs typeface="Times New Roman"/>
              </a:rPr>
              <a:t> {</a:t>
            </a:r>
            <a:endParaRPr sz="2900">
              <a:latin typeface="Times New Roman"/>
              <a:cs typeface="Times New Roman"/>
            </a:endParaRPr>
          </a:p>
          <a:p>
            <a:pPr marL="1118870">
              <a:lnSpc>
                <a:spcPct val="100000"/>
              </a:lnSpc>
              <a:spcBef>
                <a:spcPts val="450"/>
              </a:spcBef>
            </a:pPr>
            <a:r>
              <a:rPr sz="2900" spc="-5" dirty="0">
                <a:latin typeface="Times New Roman"/>
                <a:cs typeface="Times New Roman"/>
              </a:rPr>
              <a:t>System.out.println(i);</a:t>
            </a:r>
            <a:endParaRPr sz="2900">
              <a:latin typeface="Times New Roman"/>
              <a:cs typeface="Times New Roman"/>
            </a:endParaRPr>
          </a:p>
          <a:p>
            <a:pPr marL="750570">
              <a:lnSpc>
                <a:spcPct val="100000"/>
              </a:lnSpc>
              <a:spcBef>
                <a:spcPts val="695"/>
              </a:spcBef>
            </a:pPr>
            <a:r>
              <a:rPr sz="2900" dirty="0">
                <a:latin typeface="Times New Roman"/>
                <a:cs typeface="Times New Roman"/>
              </a:rPr>
              <a:t>}</a:t>
            </a:r>
            <a:endParaRPr sz="2900">
              <a:latin typeface="Times New Roman"/>
              <a:cs typeface="Times New Roman"/>
            </a:endParaRPr>
          </a:p>
          <a:p>
            <a:pPr marL="473075">
              <a:lnSpc>
                <a:spcPct val="100000"/>
              </a:lnSpc>
              <a:spcBef>
                <a:spcPts val="700"/>
              </a:spcBef>
            </a:pPr>
            <a:r>
              <a:rPr sz="2900" dirty="0">
                <a:latin typeface="Times New Roman"/>
                <a:cs typeface="Times New Roman"/>
              </a:rPr>
              <a:t>}</a:t>
            </a:r>
            <a:endParaRPr sz="2900">
              <a:latin typeface="Times New Roman"/>
              <a:cs typeface="Times New Roman"/>
            </a:endParaRPr>
          </a:p>
          <a:p>
            <a:pPr marL="12700">
              <a:lnSpc>
                <a:spcPct val="100000"/>
              </a:lnSpc>
              <a:spcBef>
                <a:spcPts val="710"/>
              </a:spcBef>
            </a:pPr>
            <a:r>
              <a:rPr sz="2900" dirty="0">
                <a:latin typeface="Times New Roman"/>
                <a:cs typeface="Times New Roman"/>
              </a:rPr>
              <a:t>}</a:t>
            </a:r>
            <a:endParaRPr sz="2900">
              <a:latin typeface="Times New Roman"/>
              <a:cs typeface="Times New Roman"/>
            </a:endParaRPr>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71</a:t>
            </a:r>
            <a:endParaRPr sz="1200">
              <a:latin typeface="Times New Roman"/>
              <a:cs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56362"/>
            <a:ext cx="2308860" cy="696595"/>
          </a:xfrm>
          <a:prstGeom prst="rect">
            <a:avLst/>
          </a:prstGeom>
        </p:spPr>
        <p:txBody>
          <a:bodyPr vert="horz" wrap="square" lIns="0" tIns="13335" rIns="0" bIns="0" rtlCol="0">
            <a:spAutoFit/>
          </a:bodyPr>
          <a:lstStyle/>
          <a:p>
            <a:pPr marL="12700">
              <a:lnSpc>
                <a:spcPct val="100000"/>
              </a:lnSpc>
              <a:spcBef>
                <a:spcPts val="105"/>
              </a:spcBef>
            </a:pPr>
            <a:r>
              <a:rPr sz="4400" spc="-5" dirty="0"/>
              <a:t>Strings</a:t>
            </a:r>
            <a:r>
              <a:rPr sz="4400" spc="-85" dirty="0"/>
              <a:t> </a:t>
            </a:r>
            <a:r>
              <a:rPr sz="4400" dirty="0"/>
              <a:t>…</a:t>
            </a:r>
            <a:endParaRPr sz="4400"/>
          </a:p>
        </p:txBody>
      </p:sp>
      <p:sp>
        <p:nvSpPr>
          <p:cNvPr id="4" name="object 4"/>
          <p:cNvSpPr txBox="1"/>
          <p:nvPr/>
        </p:nvSpPr>
        <p:spPr>
          <a:xfrm>
            <a:off x="176885" y="1267714"/>
            <a:ext cx="17780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Times New Roman"/>
                <a:cs typeface="Times New Roman"/>
              </a:rPr>
              <a:t>71</a:t>
            </a:r>
            <a:endParaRPr sz="1200">
              <a:latin typeface="Times New Roman"/>
              <a:cs typeface="Times New Roman"/>
            </a:endParaRPr>
          </a:p>
        </p:txBody>
      </p:sp>
      <p:sp>
        <p:nvSpPr>
          <p:cNvPr id="3" name="Rectangle 2"/>
          <p:cNvSpPr/>
          <p:nvPr/>
        </p:nvSpPr>
        <p:spPr>
          <a:xfrm>
            <a:off x="364989" y="1600200"/>
            <a:ext cx="8153399" cy="4401205"/>
          </a:xfrm>
          <a:prstGeom prst="rect">
            <a:avLst/>
          </a:prstGeom>
        </p:spPr>
        <p:txBody>
          <a:bodyPr wrap="square">
            <a:spAutoFit/>
          </a:bodyPr>
          <a:lstStyle/>
          <a:p>
            <a:pPr marL="457200" indent="-457200" algn="just">
              <a:buFont typeface="Arial" panose="020B0604020202020204" pitchFamily="34" charset="0"/>
              <a:buChar char="•"/>
            </a:pPr>
            <a:r>
              <a:rPr lang="en-US" sz="2800" dirty="0"/>
              <a:t>Java strings is that they must begin and end on the same line. </a:t>
            </a:r>
            <a:endParaRPr lang="en-US" sz="2800" dirty="0" smtClean="0"/>
          </a:p>
          <a:p>
            <a:pPr marL="457200" indent="-457200" algn="just">
              <a:buFont typeface="Arial" panose="020B0604020202020204" pitchFamily="34" charset="0"/>
              <a:buChar char="•"/>
            </a:pPr>
            <a:r>
              <a:rPr lang="en-US" sz="2800" dirty="0" smtClean="0"/>
              <a:t>There </a:t>
            </a:r>
            <a:r>
              <a:rPr lang="en-US" sz="2800" dirty="0"/>
              <a:t>is no line-continuation escape sequence as there is in some other languages</a:t>
            </a:r>
            <a:r>
              <a:rPr lang="en-US" sz="2800" dirty="0" smtClean="0"/>
              <a:t>.</a:t>
            </a:r>
          </a:p>
          <a:p>
            <a:pPr marL="457200" indent="-457200" algn="just">
              <a:buFont typeface="Arial" panose="020B0604020202020204" pitchFamily="34" charset="0"/>
              <a:buChar char="•"/>
            </a:pPr>
            <a:r>
              <a:rPr lang="en-US" sz="2800" dirty="0"/>
              <a:t>strings are implemented as arrays of characters. However, this is not the case in Java. </a:t>
            </a:r>
            <a:endParaRPr lang="en-US" sz="2800" dirty="0" smtClean="0"/>
          </a:p>
          <a:p>
            <a:pPr marL="457200" indent="-457200" algn="just">
              <a:buFont typeface="Arial" panose="020B0604020202020204" pitchFamily="34" charset="0"/>
              <a:buChar char="•"/>
            </a:pPr>
            <a:r>
              <a:rPr lang="en-US" sz="2800" dirty="0" smtClean="0"/>
              <a:t>Strings </a:t>
            </a:r>
            <a:r>
              <a:rPr lang="en-US" sz="2800" dirty="0"/>
              <a:t>are actually object types. </a:t>
            </a:r>
            <a:endParaRPr lang="en-US" sz="2800" dirty="0" smtClean="0"/>
          </a:p>
          <a:p>
            <a:pPr marL="457200" indent="-457200" algn="just">
              <a:buFont typeface="Arial" panose="020B0604020202020204" pitchFamily="34" charset="0"/>
              <a:buChar char="•"/>
            </a:pPr>
            <a:r>
              <a:rPr lang="en-US" sz="2800" dirty="0"/>
              <a:t>Java implements strings as objects, Java includes extensive string-handling capabilities that are both powerful and easy to use. </a:t>
            </a:r>
            <a:endParaRPr lang="en-IN" sz="2800" dirty="0"/>
          </a:p>
        </p:txBody>
      </p:sp>
    </p:spTree>
    <p:extLst>
      <p:ext uri="{BB962C8B-B14F-4D97-AF65-F5344CB8AC3E}">
        <p14:creationId xmlns:p14="http://schemas.microsoft.com/office/powerpoint/2010/main" val="2650293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3613</TotalTime>
  <Words>3051</Words>
  <Application>Microsoft Office PowerPoint</Application>
  <PresentationFormat>On-screen Show (4:3)</PresentationFormat>
  <Paragraphs>696</Paragraphs>
  <Slides>79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79</vt:i4>
      </vt:variant>
    </vt:vector>
  </HeadingPairs>
  <TitlesOfParts>
    <vt:vector size="91" baseType="lpstr">
      <vt:lpstr>-apple-system</vt:lpstr>
      <vt:lpstr>Arial</vt:lpstr>
      <vt:lpstr>Arial MT</vt:lpstr>
      <vt:lpstr>Calibri</vt:lpstr>
      <vt:lpstr>Courier New</vt:lpstr>
      <vt:lpstr>Lucida Sans Unicode</vt:lpstr>
      <vt:lpstr>Microsoft Sans Serif</vt:lpstr>
      <vt:lpstr>Montserrat</vt:lpstr>
      <vt:lpstr>Times New Roman</vt:lpstr>
      <vt:lpstr>Wingdings</vt:lpstr>
      <vt:lpstr>Office Theme</vt:lpstr>
      <vt:lpstr>1_Office Theme</vt:lpstr>
      <vt:lpstr>PowerPoint Presentation</vt:lpstr>
      <vt:lpstr>Syllabus</vt:lpstr>
      <vt:lpstr>Introduction to Java</vt:lpstr>
      <vt:lpstr>Object Oriented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vt:lpstr>
      <vt:lpstr>Class</vt:lpstr>
      <vt:lpstr>Inheritance</vt:lpstr>
      <vt:lpstr>Polymorphism</vt:lpstr>
      <vt:lpstr>Abstraction</vt:lpstr>
      <vt:lpstr>Encapsulation</vt:lpstr>
      <vt:lpstr>OOP Concepts …Finally</vt:lpstr>
      <vt:lpstr>Types of Java Applications</vt:lpstr>
      <vt:lpstr>Types of Java Applications</vt:lpstr>
      <vt:lpstr>Types of Java Applications</vt:lpstr>
      <vt:lpstr>First Java Program</vt:lpstr>
      <vt:lpstr>First Java Program ….</vt:lpstr>
      <vt:lpstr>First Java Program …</vt:lpstr>
      <vt:lpstr>PowerPoint Presentation</vt:lpstr>
      <vt:lpstr>PowerPoint Presentation</vt:lpstr>
      <vt:lpstr>PowerPoint Presentation</vt:lpstr>
      <vt:lpstr>Variants of main() in Java</vt:lpstr>
      <vt:lpstr>Example2</vt:lpstr>
      <vt:lpstr>PowerPoint Presentation</vt:lpstr>
      <vt:lpstr>PowerPoint Presentation</vt:lpstr>
      <vt:lpstr>PowerPoint Presentation</vt:lpstr>
      <vt:lpstr>PowerPoint Presentation</vt:lpstr>
      <vt:lpstr>Identifiers</vt:lpstr>
      <vt:lpstr>Literals</vt:lpstr>
      <vt:lpstr>Example3</vt:lpstr>
      <vt:lpstr>Java is a strongly Typed Language</vt:lpstr>
      <vt:lpstr>Java Data Types </vt:lpstr>
      <vt:lpstr>Java Data Types </vt:lpstr>
      <vt:lpstr>Primitive data types</vt:lpstr>
      <vt:lpstr>Java Primitive Data Types</vt:lpstr>
      <vt:lpstr>Variables</vt:lpstr>
      <vt:lpstr>Variables</vt:lpstr>
      <vt:lpstr>Variables … Scope and Lifetime</vt:lpstr>
      <vt:lpstr>Variables … Scope and Lifetime</vt:lpstr>
      <vt:lpstr>PowerPoint Presentation</vt:lpstr>
      <vt:lpstr>Program to compute area of Circle</vt:lpstr>
      <vt:lpstr>Demonstrate char data type.</vt:lpstr>
      <vt:lpstr>char variables behave like integers.</vt:lpstr>
      <vt:lpstr>Boolean</vt:lpstr>
      <vt:lpstr>Demonstrate boolean values.</vt:lpstr>
      <vt:lpstr>PowerPoint Presentation</vt:lpstr>
      <vt:lpstr>Widening Type Casting</vt:lpstr>
      <vt:lpstr>PowerPoint Presentation</vt:lpstr>
      <vt:lpstr>PowerPoint Presentation</vt:lpstr>
      <vt:lpstr>PowerPoint Presentation</vt:lpstr>
      <vt:lpstr>NOTE:</vt:lpstr>
      <vt:lpstr>Arrays</vt:lpstr>
      <vt:lpstr>One-Dimensional Arrays</vt:lpstr>
      <vt:lpstr>Arrays …</vt:lpstr>
      <vt:lpstr>Arrays …</vt:lpstr>
      <vt:lpstr>Demonstrate a one-dimensional array.</vt:lpstr>
      <vt:lpstr>Array initialization</vt:lpstr>
      <vt:lpstr>Program to find average of set of numbers</vt:lpstr>
      <vt:lpstr>Multidimensional Arrays</vt:lpstr>
      <vt:lpstr>Multidimensional Arrays</vt:lpstr>
      <vt:lpstr>Demonstrate a two-dimensional array.</vt:lpstr>
      <vt:lpstr>PowerPoint Presentation</vt:lpstr>
      <vt:lpstr>Alternative Array Declaration Syntax</vt:lpstr>
      <vt:lpstr>PowerPoint Presentation</vt:lpstr>
      <vt:lpstr>PowerPoint Presentation</vt:lpstr>
      <vt:lpstr>Strings</vt:lpstr>
      <vt:lpstr>Strings …</vt:lpstr>
      <vt:lpstr>Strings…</vt:lpstr>
      <vt:lpstr>Strings …</vt:lpstr>
      <vt:lpstr>Strings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for AI and Gaming Applications</dc:title>
  <dc:creator>Dr Yogish</dc:creator>
  <cp:lastModifiedBy>Admin</cp:lastModifiedBy>
  <cp:revision>73</cp:revision>
  <dcterms:created xsi:type="dcterms:W3CDTF">2023-06-13T09:01:52Z</dcterms:created>
  <dcterms:modified xsi:type="dcterms:W3CDTF">2024-11-14T06:54:24Z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2023-01-19T00:00:00Z</vt:filetime>
  </property>
  <property fmtid="{D5CDD505-2E9C-101B-9397-08002B2CF9AE}" pid="3" name="Creator">
    <vt:lpwstr>Microsoft® PowerPoint® 2019</vt:lpwstr>
  </property>
  <property fmtid="{D5CDD505-2E9C-101B-9397-08002B2CF9AE}" pid="4" name="LastSaved">
    <vt:filetime>2023-06-13T00:00:00Z</vt:filetime>
  </property>
</Properties>
</file>