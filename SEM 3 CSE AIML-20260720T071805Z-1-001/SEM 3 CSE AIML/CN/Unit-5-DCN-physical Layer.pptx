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66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65" r:id="rId91"/>
    <p:sldId id="345" r:id="rId92"/>
    <p:sldId id="346" r:id="rId93"/>
    <p:sldId id="347" r:id="rId94"/>
    <p:sldId id="348" r:id="rId95"/>
    <p:sldId id="349" r:id="rId96"/>
    <p:sldId id="350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  <p:sldId id="363" r:id="rId105"/>
    <p:sldId id="364" r:id="rId106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53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7/30/2023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 u="heavy">
                <a:solidFill>
                  <a:srgbClr val="3F3F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7/30/2023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 u="heavy">
                <a:solidFill>
                  <a:srgbClr val="3F3F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4539" y="1450340"/>
            <a:ext cx="3979545" cy="532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7/30/2023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 u="heavy">
                <a:solidFill>
                  <a:srgbClr val="3F3F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7/30/2023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7/30/2023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8782" y="701285"/>
            <a:ext cx="884083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 u="heavy">
                <a:solidFill>
                  <a:srgbClr val="3F3F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837" y="1736298"/>
            <a:ext cx="8706724" cy="311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7/30/2023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57932" y="7058621"/>
            <a:ext cx="213995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jpe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jpeg"/><Relationship Id="rId4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jpeg"/><Relationship Id="rId3" Type="http://schemas.openxmlformats.org/officeDocument/2006/relationships/image" Target="../media/image101.jpeg"/><Relationship Id="rId7" Type="http://schemas.openxmlformats.org/officeDocument/2006/relationships/image" Target="../media/image105.pn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109.jpeg"/><Relationship Id="rId5" Type="http://schemas.openxmlformats.org/officeDocument/2006/relationships/image" Target="../media/image103.png"/><Relationship Id="rId10" Type="http://schemas.openxmlformats.org/officeDocument/2006/relationships/image" Target="../media/image108.jpeg"/><Relationship Id="rId4" Type="http://schemas.openxmlformats.org/officeDocument/2006/relationships/image" Target="../media/image102.jpeg"/><Relationship Id="rId9" Type="http://schemas.openxmlformats.org/officeDocument/2006/relationships/image" Target="../media/image107.jpe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26" Type="http://schemas.openxmlformats.org/officeDocument/2006/relationships/image" Target="../media/image145.png"/><Relationship Id="rId39" Type="http://schemas.openxmlformats.org/officeDocument/2006/relationships/image" Target="../media/image158.jpeg"/><Relationship Id="rId21" Type="http://schemas.openxmlformats.org/officeDocument/2006/relationships/image" Target="../media/image140.png"/><Relationship Id="rId34" Type="http://schemas.openxmlformats.org/officeDocument/2006/relationships/image" Target="../media/image153.png"/><Relationship Id="rId42" Type="http://schemas.openxmlformats.org/officeDocument/2006/relationships/image" Target="../media/image161.png"/><Relationship Id="rId47" Type="http://schemas.openxmlformats.org/officeDocument/2006/relationships/image" Target="../media/image166.jpe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6" Type="http://schemas.openxmlformats.org/officeDocument/2006/relationships/image" Target="../media/image135.png"/><Relationship Id="rId29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24" Type="http://schemas.openxmlformats.org/officeDocument/2006/relationships/image" Target="../media/image143.png"/><Relationship Id="rId32" Type="http://schemas.openxmlformats.org/officeDocument/2006/relationships/image" Target="../media/image151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4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23" Type="http://schemas.openxmlformats.org/officeDocument/2006/relationships/image" Target="../media/image142.jpeg"/><Relationship Id="rId28" Type="http://schemas.openxmlformats.org/officeDocument/2006/relationships/image" Target="../media/image147.png"/><Relationship Id="rId36" Type="http://schemas.openxmlformats.org/officeDocument/2006/relationships/image" Target="../media/image155.png"/><Relationship Id="rId10" Type="http://schemas.openxmlformats.org/officeDocument/2006/relationships/image" Target="../media/image129.png"/><Relationship Id="rId19" Type="http://schemas.openxmlformats.org/officeDocument/2006/relationships/image" Target="../media/image138.jpeg"/><Relationship Id="rId31" Type="http://schemas.openxmlformats.org/officeDocument/2006/relationships/image" Target="../media/image150.jpeg"/><Relationship Id="rId44" Type="http://schemas.openxmlformats.org/officeDocument/2006/relationships/image" Target="../media/image163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Relationship Id="rId22" Type="http://schemas.openxmlformats.org/officeDocument/2006/relationships/image" Target="../media/image141.png"/><Relationship Id="rId27" Type="http://schemas.openxmlformats.org/officeDocument/2006/relationships/image" Target="../media/image146.jpeg"/><Relationship Id="rId30" Type="http://schemas.openxmlformats.org/officeDocument/2006/relationships/image" Target="../media/image149.png"/><Relationship Id="rId35" Type="http://schemas.openxmlformats.org/officeDocument/2006/relationships/image" Target="../media/image154.jpeg"/><Relationship Id="rId43" Type="http://schemas.openxmlformats.org/officeDocument/2006/relationships/image" Target="../media/image162.jpeg"/><Relationship Id="rId48" Type="http://schemas.openxmlformats.org/officeDocument/2006/relationships/image" Target="../media/image167.png"/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5" Type="http://schemas.openxmlformats.org/officeDocument/2006/relationships/image" Target="../media/image144.png"/><Relationship Id="rId33" Type="http://schemas.openxmlformats.org/officeDocument/2006/relationships/image" Target="../media/image152.png"/><Relationship Id="rId38" Type="http://schemas.openxmlformats.org/officeDocument/2006/relationships/image" Target="../media/image157.png"/><Relationship Id="rId46" Type="http://schemas.openxmlformats.org/officeDocument/2006/relationships/image" Target="../media/image165.png"/><Relationship Id="rId20" Type="http://schemas.openxmlformats.org/officeDocument/2006/relationships/image" Target="../media/image139.png"/><Relationship Id="rId41" Type="http://schemas.openxmlformats.org/officeDocument/2006/relationships/image" Target="../media/image160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980" y="3651503"/>
            <a:ext cx="7406640" cy="13970"/>
          </a:xfrm>
          <a:custGeom>
            <a:avLst/>
            <a:gdLst/>
            <a:ahLst/>
            <a:cxnLst/>
            <a:rect l="l" t="t" r="r" b="b"/>
            <a:pathLst>
              <a:path w="7406640" h="13970">
                <a:moveTo>
                  <a:pt x="7406639" y="0"/>
                </a:moveTo>
                <a:lnTo>
                  <a:pt x="0" y="0"/>
                </a:lnTo>
                <a:lnTo>
                  <a:pt x="0" y="13715"/>
                </a:lnTo>
                <a:lnTo>
                  <a:pt x="7406639" y="13715"/>
                </a:lnTo>
                <a:lnTo>
                  <a:pt x="74066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8900" y="2757932"/>
            <a:ext cx="474472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none" spc="-50" dirty="0">
                <a:solidFill>
                  <a:srgbClr val="BF0000"/>
                </a:solidFill>
                <a:latin typeface="Arial"/>
                <a:cs typeface="Arial"/>
              </a:rPr>
              <a:t>Physical</a:t>
            </a:r>
            <a:r>
              <a:rPr b="1" u="none" spc="-16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b="1" u="none" spc="-45" dirty="0">
                <a:solidFill>
                  <a:srgbClr val="BF0000"/>
                </a:solidFill>
                <a:latin typeface="Arial"/>
                <a:cs typeface="Arial"/>
              </a:rPr>
              <a:t>Layer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60247" y="6857999"/>
              <a:ext cx="9139555" cy="455930"/>
            </a:xfrm>
            <a:custGeom>
              <a:avLst/>
              <a:gdLst/>
              <a:ahLst/>
              <a:cxnLst/>
              <a:rect l="l" t="t" r="r" b="b"/>
              <a:pathLst>
                <a:path w="9139555" h="455929">
                  <a:moveTo>
                    <a:pt x="9139427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39427" y="455675"/>
                  </a:lnTo>
                  <a:lnTo>
                    <a:pt x="9139427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1460" cy="62865"/>
            </a:xfrm>
            <a:custGeom>
              <a:avLst/>
              <a:gdLst/>
              <a:ahLst/>
              <a:cxnLst/>
              <a:rect l="l" t="t" r="r" b="b"/>
              <a:pathLst>
                <a:path w="9141460" h="62865">
                  <a:moveTo>
                    <a:pt x="9140951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140951" y="62484"/>
                  </a:lnTo>
                  <a:lnTo>
                    <a:pt x="9140951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9600" y="4267200"/>
            <a:ext cx="8763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latin typeface="Calibri"/>
                <a:cs typeface="Calibri"/>
              </a:rPr>
              <a:t>AD42/AI42 </a:t>
            </a:r>
            <a:r>
              <a:rPr sz="3200" b="1" spc="-15" dirty="0">
                <a:latin typeface="Calibri"/>
                <a:cs typeface="Calibri"/>
              </a:rPr>
              <a:t>Data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Communications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Networking</a:t>
            </a:r>
            <a:endParaRPr sz="3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42" y="701285"/>
            <a:ext cx="5897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none" spc="-45" dirty="0">
                <a:latin typeface="Arial"/>
                <a:cs typeface="Arial"/>
              </a:rPr>
              <a:t>Outline</a:t>
            </a:r>
            <a:r>
              <a:rPr b="1" u="none" spc="-160" dirty="0">
                <a:latin typeface="Arial"/>
                <a:cs typeface="Arial"/>
              </a:rPr>
              <a:t> </a:t>
            </a:r>
            <a:r>
              <a:rPr b="1" u="none" spc="-45" dirty="0">
                <a:latin typeface="Arial"/>
                <a:cs typeface="Arial"/>
              </a:rPr>
              <a:t>Session-</a:t>
            </a:r>
            <a:r>
              <a:rPr b="1" u="none" spc="-155" dirty="0">
                <a:latin typeface="Arial"/>
                <a:cs typeface="Arial"/>
              </a:rPr>
              <a:t> </a:t>
            </a:r>
            <a:r>
              <a:rPr b="1" u="none" spc="-5" dirty="0">
                <a:latin typeface="Arial"/>
                <a:cs typeface="Arial"/>
              </a:rPr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40871"/>
            <a:ext cx="3521710" cy="4785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 indent="-177165">
              <a:lnSpc>
                <a:spcPts val="2300"/>
              </a:lnSpc>
              <a:spcBef>
                <a:spcPts val="1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endParaRPr sz="2000" dirty="0">
              <a:latin typeface="Calibri"/>
              <a:cs typeface="Calibri"/>
            </a:endParaRPr>
          </a:p>
          <a:p>
            <a:pPr marL="419100" lvl="1" indent="-183515">
              <a:lnSpc>
                <a:spcPts val="193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1700" spc="-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endParaRPr sz="1700" dirty="0">
              <a:latin typeface="Calibri"/>
              <a:cs typeface="Calibri"/>
            </a:endParaRPr>
          </a:p>
          <a:p>
            <a:pPr marL="419100" lvl="1" indent="-183515">
              <a:lnSpc>
                <a:spcPts val="203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17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endParaRPr sz="1700" dirty="0">
              <a:latin typeface="Calibri"/>
              <a:cs typeface="Calibri"/>
            </a:endParaRPr>
          </a:p>
          <a:p>
            <a:pPr marL="189230" indent="-177165">
              <a:lnSpc>
                <a:spcPts val="2290"/>
              </a:lnSpc>
              <a:spcBef>
                <a:spcPts val="87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0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IMPAIRMENT</a:t>
            </a:r>
            <a:endParaRPr sz="2000" dirty="0">
              <a:latin typeface="Calibri"/>
              <a:cs typeface="Calibri"/>
            </a:endParaRPr>
          </a:p>
          <a:p>
            <a:pPr marL="419100" lvl="1" indent="-183515">
              <a:lnSpc>
                <a:spcPts val="192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Attenuation</a:t>
            </a:r>
            <a:endParaRPr sz="1700" dirty="0">
              <a:latin typeface="Calibri"/>
              <a:cs typeface="Calibri"/>
            </a:endParaRPr>
          </a:p>
          <a:p>
            <a:pPr marL="419100" lvl="1" indent="-183515">
              <a:lnSpc>
                <a:spcPts val="203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Distortion</a:t>
            </a:r>
            <a:endParaRPr sz="1700" dirty="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13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300" spc="-5" dirty="0">
                <a:solidFill>
                  <a:srgbClr val="3F3F3F"/>
                </a:solidFill>
                <a:latin typeface="Calibri"/>
                <a:cs typeface="Calibri"/>
              </a:rPr>
              <a:t>Noise</a:t>
            </a:r>
            <a:endParaRPr sz="1300" dirty="0">
              <a:latin typeface="Calibri"/>
              <a:cs typeface="Calibri"/>
            </a:endParaRPr>
          </a:p>
          <a:p>
            <a:pPr marL="189230" indent="-177165">
              <a:lnSpc>
                <a:spcPts val="2300"/>
              </a:lnSpc>
              <a:spcBef>
                <a:spcPts val="869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000" spc="-15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-16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sz="2000" spc="-15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LI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endParaRPr sz="2000" dirty="0">
              <a:latin typeface="Calibri"/>
              <a:cs typeface="Calibri"/>
            </a:endParaRPr>
          </a:p>
          <a:p>
            <a:pPr marL="419100" lvl="1" indent="-183515">
              <a:lnSpc>
                <a:spcPts val="193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Noiseless</a:t>
            </a:r>
            <a:r>
              <a:rPr sz="17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Channel:</a:t>
            </a:r>
            <a:r>
              <a:rPr sz="17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Nyquist</a:t>
            </a:r>
            <a:r>
              <a:rPr sz="17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Rate</a:t>
            </a:r>
            <a:endParaRPr sz="1700" dirty="0">
              <a:latin typeface="Calibri"/>
              <a:cs typeface="Calibri"/>
            </a:endParaRPr>
          </a:p>
          <a:p>
            <a:pPr marL="419100" lvl="1" indent="-183515">
              <a:lnSpc>
                <a:spcPts val="203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Noisy</a:t>
            </a:r>
            <a:r>
              <a:rPr sz="17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Channel:</a:t>
            </a:r>
            <a:r>
              <a:rPr sz="17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Shannon</a:t>
            </a:r>
            <a:r>
              <a:rPr sz="17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endParaRPr sz="1700" dirty="0">
              <a:latin typeface="Calibri"/>
              <a:cs typeface="Calibri"/>
            </a:endParaRPr>
          </a:p>
          <a:p>
            <a:pPr marL="419100" lvl="1" indent="-183515">
              <a:lnSpc>
                <a:spcPts val="203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17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Both</a:t>
            </a:r>
            <a:r>
              <a:rPr sz="17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Limits</a:t>
            </a:r>
            <a:endParaRPr sz="1700" dirty="0">
              <a:latin typeface="Calibri"/>
              <a:cs typeface="Calibri"/>
            </a:endParaRPr>
          </a:p>
          <a:p>
            <a:pPr marL="189230" indent="-177165">
              <a:lnSpc>
                <a:spcPts val="2300"/>
              </a:lnSpc>
              <a:spcBef>
                <a:spcPts val="8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PERFORMANCE</a:t>
            </a:r>
            <a:endParaRPr sz="2000" dirty="0">
              <a:latin typeface="Calibri"/>
              <a:cs typeface="Calibri"/>
            </a:endParaRPr>
          </a:p>
          <a:p>
            <a:pPr marL="419100" lvl="1" indent="-183515">
              <a:lnSpc>
                <a:spcPts val="193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endParaRPr sz="1700" dirty="0">
              <a:latin typeface="Calibri"/>
              <a:cs typeface="Calibri"/>
            </a:endParaRPr>
          </a:p>
          <a:p>
            <a:pPr marL="419100" lvl="1" indent="-183515">
              <a:lnSpc>
                <a:spcPts val="203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Throughput</a:t>
            </a:r>
            <a:endParaRPr sz="1700" dirty="0">
              <a:latin typeface="Calibri"/>
              <a:cs typeface="Calibri"/>
            </a:endParaRPr>
          </a:p>
          <a:p>
            <a:pPr marL="419100" lvl="1" indent="-183515">
              <a:lnSpc>
                <a:spcPts val="203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Latency</a:t>
            </a:r>
            <a:r>
              <a:rPr sz="17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(Delay)</a:t>
            </a:r>
            <a:endParaRPr sz="1700" dirty="0">
              <a:latin typeface="Calibri"/>
              <a:cs typeface="Calibri"/>
            </a:endParaRPr>
          </a:p>
          <a:p>
            <a:pPr marL="419100" lvl="1" indent="-183515">
              <a:lnSpc>
                <a:spcPts val="203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Bandwidth-Delay</a:t>
            </a:r>
            <a:r>
              <a:rPr sz="1700" spc="-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Product</a:t>
            </a:r>
            <a:endParaRPr sz="1700" dirty="0">
              <a:latin typeface="Calibri"/>
              <a:cs typeface="Calibri"/>
            </a:endParaRPr>
          </a:p>
          <a:p>
            <a:pPr marL="419100" lvl="1" indent="-183515">
              <a:lnSpc>
                <a:spcPts val="203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Jitter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5163" y="1514957"/>
            <a:ext cx="3973195" cy="4094479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126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5" dirty="0">
                <a:latin typeface="Calibri"/>
                <a:cs typeface="Calibri"/>
              </a:rPr>
              <a:t>Digital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Transmission</a:t>
            </a:r>
            <a:endParaRPr sz="2000">
              <a:latin typeface="Calibri"/>
              <a:cs typeface="Calibri"/>
            </a:endParaRPr>
          </a:p>
          <a:p>
            <a:pPr marL="646430" lvl="1" indent="-177165">
              <a:lnSpc>
                <a:spcPct val="100000"/>
              </a:lnSpc>
              <a:spcBef>
                <a:spcPts val="1165"/>
              </a:spcBef>
              <a:buClr>
                <a:srgbClr val="1CACE4"/>
              </a:buClr>
              <a:buFont typeface="Arial MT"/>
              <a:buChar char="•"/>
              <a:tabLst>
                <a:tab pos="647065" algn="l"/>
              </a:tabLst>
            </a:pPr>
            <a:r>
              <a:rPr sz="2000" spc="-5" dirty="0">
                <a:latin typeface="Calibri"/>
                <a:cs typeface="Calibri"/>
              </a:rPr>
              <a:t>Digital-to-Digital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Conversion</a:t>
            </a:r>
            <a:endParaRPr sz="2000">
              <a:latin typeface="Calibri"/>
              <a:cs typeface="Calibri"/>
            </a:endParaRPr>
          </a:p>
          <a:p>
            <a:pPr marL="646430" lvl="1" indent="-177165">
              <a:lnSpc>
                <a:spcPct val="100000"/>
              </a:lnSpc>
              <a:spcBef>
                <a:spcPts val="1155"/>
              </a:spcBef>
              <a:buClr>
                <a:srgbClr val="1CACE4"/>
              </a:buClr>
              <a:buFont typeface="Arial MT"/>
              <a:buChar char="•"/>
              <a:tabLst>
                <a:tab pos="647065" algn="l"/>
              </a:tabLst>
            </a:pPr>
            <a:r>
              <a:rPr sz="2000" spc="-5" dirty="0">
                <a:latin typeface="Calibri"/>
                <a:cs typeface="Calibri"/>
              </a:rPr>
              <a:t>Analog-to-Digital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Conversion</a:t>
            </a:r>
            <a:endParaRPr sz="20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16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dirty="0">
                <a:latin typeface="Calibri"/>
                <a:cs typeface="Calibri"/>
              </a:rPr>
              <a:t>Analog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Transmission</a:t>
            </a:r>
            <a:endParaRPr sz="2000">
              <a:latin typeface="Calibri"/>
              <a:cs typeface="Calibri"/>
            </a:endParaRPr>
          </a:p>
          <a:p>
            <a:pPr marL="646430" lvl="1" indent="-177165">
              <a:lnSpc>
                <a:spcPct val="100000"/>
              </a:lnSpc>
              <a:spcBef>
                <a:spcPts val="1165"/>
              </a:spcBef>
              <a:buClr>
                <a:srgbClr val="1CACE4"/>
              </a:buClr>
              <a:buFont typeface="Arial MT"/>
              <a:buChar char="•"/>
              <a:tabLst>
                <a:tab pos="647065" algn="l"/>
              </a:tabLst>
            </a:pPr>
            <a:r>
              <a:rPr sz="2000" spc="-5" dirty="0">
                <a:latin typeface="Calibri"/>
                <a:cs typeface="Calibri"/>
              </a:rPr>
              <a:t>Digital-to-Analog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Conversion</a:t>
            </a:r>
            <a:endParaRPr sz="2000">
              <a:latin typeface="Calibri"/>
              <a:cs typeface="Calibri"/>
            </a:endParaRPr>
          </a:p>
          <a:p>
            <a:pPr marL="646430" lvl="1" indent="-177165">
              <a:lnSpc>
                <a:spcPct val="100000"/>
              </a:lnSpc>
              <a:spcBef>
                <a:spcPts val="1155"/>
              </a:spcBef>
              <a:buClr>
                <a:srgbClr val="1CACE4"/>
              </a:buClr>
              <a:buFont typeface="Arial MT"/>
              <a:buChar char="•"/>
              <a:tabLst>
                <a:tab pos="647065" algn="l"/>
              </a:tabLst>
            </a:pPr>
            <a:r>
              <a:rPr sz="2000" spc="-5" dirty="0">
                <a:latin typeface="Calibri"/>
                <a:cs typeface="Calibri"/>
              </a:rPr>
              <a:t>Analog-to-Analog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Conversion</a:t>
            </a:r>
            <a:endParaRPr sz="20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16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5" dirty="0">
                <a:latin typeface="Calibri"/>
                <a:cs typeface="Calibri"/>
              </a:rPr>
              <a:t>Multiplexing</a:t>
            </a:r>
            <a:endParaRPr sz="2000">
              <a:latin typeface="Calibri"/>
              <a:cs typeface="Calibri"/>
            </a:endParaRPr>
          </a:p>
          <a:p>
            <a:pPr marL="646430" lvl="1" indent="-177165">
              <a:lnSpc>
                <a:spcPct val="100000"/>
              </a:lnSpc>
              <a:spcBef>
                <a:spcPts val="1165"/>
              </a:spcBef>
              <a:buClr>
                <a:srgbClr val="1CACE4"/>
              </a:buClr>
              <a:buFont typeface="Arial MT"/>
              <a:buChar char="•"/>
              <a:tabLst>
                <a:tab pos="647065" algn="l"/>
              </a:tabLst>
            </a:pPr>
            <a:r>
              <a:rPr sz="2000" spc="-5" dirty="0">
                <a:latin typeface="Calibri"/>
                <a:cs typeface="Calibri"/>
              </a:rPr>
              <a:t>Frequency-Division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Multiplexing</a:t>
            </a:r>
            <a:endParaRPr sz="2000">
              <a:latin typeface="Calibri"/>
              <a:cs typeface="Calibri"/>
            </a:endParaRPr>
          </a:p>
          <a:p>
            <a:pPr marL="646430" lvl="1" indent="-177165">
              <a:lnSpc>
                <a:spcPct val="100000"/>
              </a:lnSpc>
              <a:spcBef>
                <a:spcPts val="1155"/>
              </a:spcBef>
              <a:buClr>
                <a:srgbClr val="1CACE4"/>
              </a:buClr>
              <a:buFont typeface="Arial MT"/>
              <a:buChar char="•"/>
              <a:tabLst>
                <a:tab pos="647065" algn="l"/>
              </a:tabLst>
            </a:pPr>
            <a:r>
              <a:rPr sz="2000" spc="-5" dirty="0">
                <a:latin typeface="Calibri"/>
                <a:cs typeface="Calibri"/>
              </a:rPr>
              <a:t>Time-Division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Multiplexing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Analog</a:t>
            </a:r>
            <a:r>
              <a:rPr b="1" spc="-150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signal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920" y="1719172"/>
            <a:ext cx="8049895" cy="360108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254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take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one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forms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55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periodic</a:t>
            </a:r>
            <a:r>
              <a:rPr sz="2000" i="1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-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commonly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use</a:t>
            </a:r>
            <a:endParaRPr sz="20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6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simple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-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F3F3F"/>
                </a:solidFill>
                <a:latin typeface="Calibri"/>
                <a:cs typeface="Calibri"/>
              </a:rPr>
              <a:t>sine</a:t>
            </a:r>
            <a:r>
              <a:rPr sz="2000" b="1" spc="-20" dirty="0">
                <a:solidFill>
                  <a:srgbClr val="3F3F3F"/>
                </a:solidFill>
                <a:latin typeface="Calibri"/>
                <a:cs typeface="Calibri"/>
              </a:rPr>
              <a:t> wave,</a:t>
            </a:r>
            <a:r>
              <a:rPr sz="2000" b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Calibri"/>
                <a:cs typeface="Calibri"/>
              </a:rPr>
              <a:t>cannot</a:t>
            </a:r>
            <a:r>
              <a:rPr sz="2000" b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000" b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decomposed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into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simpler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endParaRPr sz="20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6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Composite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-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Calibri"/>
                <a:cs typeface="Calibri"/>
              </a:rPr>
              <a:t>made</a:t>
            </a:r>
            <a:r>
              <a:rPr sz="2000" b="1" dirty="0">
                <a:solidFill>
                  <a:srgbClr val="3F3F3F"/>
                </a:solidFill>
                <a:latin typeface="Calibri"/>
                <a:cs typeface="Calibri"/>
              </a:rPr>
              <a:t> up</a:t>
            </a:r>
            <a:r>
              <a:rPr sz="20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b="1" spc="-10" dirty="0">
                <a:solidFill>
                  <a:srgbClr val="3F3F3F"/>
                </a:solidFill>
                <a:latin typeface="Calibri"/>
                <a:cs typeface="Calibri"/>
              </a:rPr>
              <a:t> many</a:t>
            </a:r>
            <a:r>
              <a:rPr sz="20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Calibri"/>
                <a:cs typeface="Calibri"/>
              </a:rPr>
              <a:t>simple</a:t>
            </a:r>
            <a:r>
              <a:rPr sz="2000" b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F3F3F"/>
                </a:solidFill>
                <a:latin typeface="Calibri"/>
                <a:cs typeface="Calibri"/>
              </a:rPr>
              <a:t>sine</a:t>
            </a:r>
            <a:endParaRPr sz="2000">
              <a:latin typeface="Calibri"/>
              <a:cs typeface="Calibri"/>
            </a:endParaRPr>
          </a:p>
          <a:p>
            <a:pPr marL="817244" lvl="3" indent="-183515">
              <a:lnSpc>
                <a:spcPts val="2280"/>
              </a:lnSpc>
              <a:spcBef>
                <a:spcPts val="360"/>
              </a:spcBef>
              <a:buClr>
                <a:srgbClr val="1CACE4"/>
              </a:buClr>
              <a:buChar char="◦"/>
              <a:tabLst>
                <a:tab pos="81788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range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frequencies </a:t>
            </a:r>
            <a:r>
              <a:rPr sz="2000" spc="-10" dirty="0">
                <a:latin typeface="Calibri"/>
                <a:cs typeface="Calibri"/>
              </a:rPr>
              <a:t>contained </a:t>
            </a:r>
            <a:r>
              <a:rPr sz="2000" spc="-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composite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signal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its</a:t>
            </a:r>
            <a:endParaRPr sz="2000">
              <a:latin typeface="Calibri"/>
              <a:cs typeface="Calibri"/>
            </a:endParaRPr>
          </a:p>
          <a:p>
            <a:pPr marL="817244">
              <a:lnSpc>
                <a:spcPts val="2280"/>
              </a:lnSpc>
            </a:pPr>
            <a:r>
              <a:rPr sz="2000" b="1" spc="-5" dirty="0">
                <a:latin typeface="Calibri"/>
                <a:cs typeface="Calibri"/>
              </a:rPr>
              <a:t>bandwidth.</a:t>
            </a:r>
            <a:endParaRPr sz="2000">
              <a:latin typeface="Calibri"/>
              <a:cs typeface="Calibri"/>
            </a:endParaRPr>
          </a:p>
          <a:p>
            <a:pPr marL="817244" marR="588010" lvl="3" indent="-182880">
              <a:lnSpc>
                <a:spcPts val="2160"/>
              </a:lnSpc>
              <a:spcBef>
                <a:spcPts val="630"/>
              </a:spcBef>
              <a:buClr>
                <a:srgbClr val="1CACE4"/>
              </a:buClr>
              <a:buChar char="◦"/>
              <a:tabLst>
                <a:tab pos="81788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bandwidth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difference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between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lowest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highest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frequencies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signal</a:t>
            </a:r>
            <a:endParaRPr sz="2000">
              <a:latin typeface="Calibri"/>
              <a:cs typeface="Calibri"/>
            </a:endParaRPr>
          </a:p>
          <a:p>
            <a:pPr marL="817244" marR="5080" lvl="3" indent="-182880">
              <a:lnSpc>
                <a:spcPts val="2160"/>
              </a:lnSpc>
              <a:spcBef>
                <a:spcPts val="600"/>
              </a:spcBef>
              <a:buClr>
                <a:srgbClr val="1CACE4"/>
              </a:buClr>
              <a:buChar char="◦"/>
              <a:tabLst>
                <a:tab pos="817880" algn="l"/>
              </a:tabLst>
            </a:pPr>
            <a:r>
              <a:rPr sz="2000" spc="-10" dirty="0">
                <a:latin typeface="Calibri"/>
                <a:cs typeface="Calibri"/>
              </a:rPr>
              <a:t>For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dirty="0">
                <a:latin typeface="Calibri"/>
                <a:cs typeface="Calibri"/>
              </a:rPr>
              <a:t> 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composite signal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frequencies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between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1000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5000,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bandwidth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5000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 1000,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dirty="0">
                <a:latin typeface="Calibri"/>
                <a:cs typeface="Calibri"/>
              </a:rPr>
              <a:t> 4000.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30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aperiodic</a:t>
            </a:r>
            <a:r>
              <a:rPr sz="2000" i="1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(nonperiodic)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0" dirty="0">
                <a:latin typeface="Arial"/>
                <a:cs typeface="Arial"/>
              </a:rPr>
              <a:t>Sine</a:t>
            </a:r>
            <a:r>
              <a:rPr b="1" spc="-165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wave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267" y="1640896"/>
            <a:ext cx="8903970" cy="459740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126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most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fundamental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form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periodic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signal.</a:t>
            </a:r>
            <a:endParaRPr sz="20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16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Represented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three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parameters: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55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000" i="1" spc="-10" dirty="0">
                <a:solidFill>
                  <a:srgbClr val="3F3F3F"/>
                </a:solidFill>
                <a:latin typeface="Calibri"/>
                <a:cs typeface="Calibri"/>
              </a:rPr>
              <a:t>Period</a:t>
            </a:r>
            <a:r>
              <a:rPr sz="2000" i="1" spc="43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(T)</a:t>
            </a:r>
            <a:r>
              <a:rPr sz="2000" b="1" i="1" spc="459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3F3F3F"/>
                </a:solidFill>
                <a:latin typeface="Calibri"/>
                <a:cs typeface="Calibri"/>
              </a:rPr>
              <a:t>-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 the </a:t>
            </a:r>
            <a:r>
              <a:rPr sz="2000" b="1" i="1" spc="-10" dirty="0">
                <a:solidFill>
                  <a:srgbClr val="3F3F3F"/>
                </a:solidFill>
                <a:latin typeface="Calibri"/>
                <a:cs typeface="Calibri"/>
              </a:rPr>
              <a:t>amount</a:t>
            </a:r>
            <a:r>
              <a:rPr sz="2000" b="1" i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of time, in</a:t>
            </a:r>
            <a:r>
              <a:rPr sz="2000" b="1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seconds,</a:t>
            </a:r>
            <a:r>
              <a:rPr sz="2000" b="1" i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b="1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000" b="1" i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needs</a:t>
            </a:r>
            <a:r>
              <a:rPr sz="2000" b="1" i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000" b="1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complete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cycle</a:t>
            </a:r>
            <a:endParaRPr sz="2000">
              <a:latin typeface="Calibri"/>
              <a:cs typeface="Calibri"/>
            </a:endParaRPr>
          </a:p>
          <a:p>
            <a:pPr marL="640080" marR="160655" lvl="2" indent="-182880">
              <a:lnSpc>
                <a:spcPts val="2160"/>
              </a:lnSpc>
              <a:spcBef>
                <a:spcPts val="63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000" b="1" i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5" dirty="0">
                <a:solidFill>
                  <a:srgbClr val="3F3F3F"/>
                </a:solidFill>
                <a:latin typeface="Calibri"/>
                <a:cs typeface="Calibri"/>
              </a:rPr>
              <a:t>(f),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measured</a:t>
            </a:r>
            <a:r>
              <a:rPr sz="2000" b="1" i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b="1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hertz</a:t>
            </a:r>
            <a:r>
              <a:rPr sz="2000" b="1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(Hz),</a:t>
            </a:r>
            <a:r>
              <a:rPr sz="2000" b="1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refers</a:t>
            </a:r>
            <a:r>
              <a:rPr sz="2000" b="1" i="1" spc="-15" dirty="0">
                <a:solidFill>
                  <a:srgbClr val="3F3F3F"/>
                </a:solidFill>
                <a:latin typeface="Calibri"/>
                <a:cs typeface="Calibri"/>
              </a:rPr>
              <a:t> to</a:t>
            </a:r>
            <a:r>
              <a:rPr sz="2000" b="1" i="1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b="1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periods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1 </a:t>
            </a:r>
            <a:r>
              <a:rPr sz="2000" spc="-4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s.</a:t>
            </a:r>
            <a:endParaRPr sz="20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2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Period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frequency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inverses</a:t>
            </a:r>
            <a:r>
              <a:rPr sz="20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each 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other,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in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other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words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(</a:t>
            </a:r>
            <a:r>
              <a:rPr sz="2000" i="1" spc="5" dirty="0">
                <a:solidFill>
                  <a:srgbClr val="3F3F3F"/>
                </a:solidFill>
                <a:latin typeface="Calibri"/>
                <a:cs typeface="Calibri"/>
              </a:rPr>
              <a:t>f </a:t>
            </a:r>
            <a:r>
              <a:rPr sz="2000" i="1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0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F3F3F"/>
                </a:solidFill>
                <a:latin typeface="Calibri"/>
                <a:cs typeface="Calibri"/>
              </a:rPr>
              <a:t>1/</a:t>
            </a:r>
            <a:r>
              <a:rPr sz="20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T).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60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peak</a:t>
            </a:r>
            <a:r>
              <a:rPr sz="2000" i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i="1" dirty="0">
                <a:solidFill>
                  <a:srgbClr val="3F3F3F"/>
                </a:solidFill>
                <a:latin typeface="Calibri"/>
                <a:cs typeface="Calibri"/>
              </a:rPr>
              <a:t> -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absolute</a:t>
            </a:r>
            <a:r>
              <a:rPr sz="2000" b="1" i="1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2000" b="1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Calibri"/>
                <a:cs typeface="Calibri"/>
              </a:rPr>
              <a:t>of its</a:t>
            </a:r>
            <a:r>
              <a:rPr sz="2000" b="1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3F3F3F"/>
                </a:solidFill>
                <a:latin typeface="Calibri"/>
                <a:cs typeface="Calibri"/>
              </a:rPr>
              <a:t>highest</a:t>
            </a:r>
            <a:r>
              <a:rPr sz="2000" b="1" i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i="1" spc="-20" dirty="0">
                <a:solidFill>
                  <a:srgbClr val="3F3F3F"/>
                </a:solidFill>
                <a:latin typeface="Calibri"/>
                <a:cs typeface="Calibri"/>
              </a:rPr>
              <a:t>intensity.</a:t>
            </a:r>
            <a:endParaRPr sz="20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6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electrical</a:t>
            </a:r>
            <a:r>
              <a:rPr sz="20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signals,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peak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normally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measured</a:t>
            </a:r>
            <a:r>
              <a:rPr sz="20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volts.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60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0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F3F3F"/>
                </a:solidFill>
                <a:latin typeface="Calibri"/>
                <a:cs typeface="Calibri"/>
              </a:rPr>
              <a:t>-</a:t>
            </a:r>
            <a:r>
              <a:rPr sz="20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position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waveform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relative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time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  <a:p>
            <a:pPr marL="640080" marR="285750" lvl="2" indent="-182880">
              <a:lnSpc>
                <a:spcPts val="2160"/>
              </a:lnSpc>
              <a:spcBef>
                <a:spcPts val="63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</a:t>
            </a:r>
            <a:r>
              <a:rPr sz="2000" spc="-5" dirty="0">
                <a:latin typeface="Calibri"/>
                <a:cs typeface="Calibri"/>
              </a:rPr>
              <a:t> think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wave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something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shifted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backward</a:t>
            </a:r>
            <a:r>
              <a:rPr sz="2000" spc="-5" dirty="0">
                <a:latin typeface="Calibri"/>
                <a:cs typeface="Calibri"/>
              </a:rPr>
              <a:t> or </a:t>
            </a:r>
            <a:r>
              <a:rPr sz="2000" spc="-15" dirty="0">
                <a:latin typeface="Calibri"/>
                <a:cs typeface="Calibri"/>
              </a:rPr>
              <a:t>forward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along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time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axis,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phase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describes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amount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that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shift</a:t>
            </a:r>
            <a:endParaRPr sz="20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2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indicates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status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first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cycle</a:t>
            </a:r>
            <a:endParaRPr sz="20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28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2000" spc="-5" dirty="0">
                <a:latin typeface="Calibri"/>
                <a:cs typeface="Calibri"/>
              </a:rPr>
              <a:t>Phase</a:t>
            </a:r>
            <a:r>
              <a:rPr sz="2000" dirty="0">
                <a:latin typeface="Calibri"/>
                <a:cs typeface="Calibri"/>
              </a:rPr>
              <a:t> is </a:t>
            </a:r>
            <a:r>
              <a:rPr sz="2000" spc="-5" dirty="0">
                <a:latin typeface="Calibri"/>
                <a:cs typeface="Calibri"/>
              </a:rPr>
              <a:t>measured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degrees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radians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60" dirty="0">
                <a:latin typeface="Calibri"/>
                <a:cs typeface="Calibri"/>
              </a:rPr>
              <a:t>(360</a:t>
            </a:r>
            <a:r>
              <a:rPr sz="2000" spc="-60" dirty="0">
                <a:latin typeface="Microsoft Sans Serif"/>
                <a:cs typeface="Microsoft Sans Serif"/>
              </a:rPr>
              <a:t>°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 2π </a:t>
            </a:r>
            <a:r>
              <a:rPr sz="2000" spc="-10" dirty="0">
                <a:latin typeface="Calibri"/>
                <a:cs typeface="Calibri"/>
              </a:rPr>
              <a:t>rad)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0" dirty="0">
                <a:latin typeface="Arial"/>
                <a:cs typeface="Arial"/>
              </a:rPr>
              <a:t>Sine</a:t>
            </a:r>
            <a:r>
              <a:rPr b="1" spc="-165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wave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50014"/>
            <a:ext cx="8350884" cy="17399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89230" marR="37465" indent="-177165" algn="just">
              <a:lnSpc>
                <a:spcPct val="80000"/>
              </a:lnSpc>
              <a:spcBef>
                <a:spcPts val="67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voltage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battery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constant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(for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example,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1.5 V). 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However,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this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considered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be periodic with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frequency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0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(and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period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infinity).</a:t>
            </a:r>
            <a:endParaRPr sz="2400">
              <a:latin typeface="Calibri"/>
              <a:cs typeface="Calibri"/>
            </a:endParaRPr>
          </a:p>
          <a:p>
            <a:pPr marL="189230" marR="5080" indent="-177165" algn="just">
              <a:lnSpc>
                <a:spcPts val="2300"/>
              </a:lnSpc>
              <a:spcBef>
                <a:spcPts val="139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electrical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voltage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our homes in 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United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States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 periodic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peak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value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110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120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25" dirty="0">
                <a:solidFill>
                  <a:srgbClr val="3F3F3F"/>
                </a:solidFill>
                <a:latin typeface="Calibri"/>
                <a:cs typeface="Calibri"/>
              </a:rPr>
              <a:t>V.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Its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Hz.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555" y="4114800"/>
            <a:ext cx="7229855" cy="25146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272" y="1889760"/>
            <a:ext cx="4782582" cy="3474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7667" y="1769826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1CACE4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12314" y="2590800"/>
            <a:ext cx="5457190" cy="1298575"/>
            <a:chOff x="2012314" y="2590800"/>
            <a:chExt cx="5457190" cy="1298575"/>
          </a:xfrm>
        </p:grpSpPr>
        <p:sp>
          <p:nvSpPr>
            <p:cNvPr id="6" name="object 6"/>
            <p:cNvSpPr/>
            <p:nvPr/>
          </p:nvSpPr>
          <p:spPr>
            <a:xfrm>
              <a:off x="3217659" y="3244595"/>
              <a:ext cx="3741420" cy="645160"/>
            </a:xfrm>
            <a:custGeom>
              <a:avLst/>
              <a:gdLst/>
              <a:ahLst/>
              <a:cxnLst/>
              <a:rect l="l" t="t" r="r" b="b"/>
              <a:pathLst>
                <a:path w="3741420" h="645160">
                  <a:moveTo>
                    <a:pt x="705612" y="643128"/>
                  </a:moveTo>
                  <a:lnTo>
                    <a:pt x="700532" y="627888"/>
                  </a:lnTo>
                  <a:lnTo>
                    <a:pt x="695960" y="609600"/>
                  </a:lnTo>
                  <a:lnTo>
                    <a:pt x="689864" y="591312"/>
                  </a:lnTo>
                  <a:lnTo>
                    <a:pt x="685292" y="574548"/>
                  </a:lnTo>
                  <a:lnTo>
                    <a:pt x="679196" y="556260"/>
                  </a:lnTo>
                  <a:lnTo>
                    <a:pt x="674624" y="537972"/>
                  </a:lnTo>
                  <a:lnTo>
                    <a:pt x="662432" y="504444"/>
                  </a:lnTo>
                  <a:lnTo>
                    <a:pt x="657860" y="487680"/>
                  </a:lnTo>
                  <a:lnTo>
                    <a:pt x="651764" y="469392"/>
                  </a:lnTo>
                  <a:lnTo>
                    <a:pt x="647192" y="454152"/>
                  </a:lnTo>
                  <a:lnTo>
                    <a:pt x="641096" y="438912"/>
                  </a:lnTo>
                  <a:lnTo>
                    <a:pt x="636524" y="422148"/>
                  </a:lnTo>
                  <a:lnTo>
                    <a:pt x="630428" y="406908"/>
                  </a:lnTo>
                  <a:lnTo>
                    <a:pt x="625856" y="391668"/>
                  </a:lnTo>
                  <a:lnTo>
                    <a:pt x="619760" y="376428"/>
                  </a:lnTo>
                  <a:lnTo>
                    <a:pt x="615188" y="361188"/>
                  </a:lnTo>
                  <a:lnTo>
                    <a:pt x="602996" y="330708"/>
                  </a:lnTo>
                  <a:lnTo>
                    <a:pt x="598424" y="316992"/>
                  </a:lnTo>
                  <a:lnTo>
                    <a:pt x="592328" y="303276"/>
                  </a:lnTo>
                  <a:lnTo>
                    <a:pt x="587756" y="289560"/>
                  </a:lnTo>
                  <a:lnTo>
                    <a:pt x="581660" y="275844"/>
                  </a:lnTo>
                  <a:lnTo>
                    <a:pt x="577088" y="263652"/>
                  </a:lnTo>
                  <a:lnTo>
                    <a:pt x="570992" y="249936"/>
                  </a:lnTo>
                  <a:lnTo>
                    <a:pt x="564896" y="237744"/>
                  </a:lnTo>
                  <a:lnTo>
                    <a:pt x="560324" y="225552"/>
                  </a:lnTo>
                  <a:lnTo>
                    <a:pt x="554228" y="213360"/>
                  </a:lnTo>
                  <a:lnTo>
                    <a:pt x="548132" y="199644"/>
                  </a:lnTo>
                  <a:lnTo>
                    <a:pt x="522224" y="147828"/>
                  </a:lnTo>
                  <a:lnTo>
                    <a:pt x="516128" y="137160"/>
                  </a:lnTo>
                  <a:lnTo>
                    <a:pt x="503936" y="118872"/>
                  </a:lnTo>
                  <a:lnTo>
                    <a:pt x="499364" y="109728"/>
                  </a:lnTo>
                  <a:lnTo>
                    <a:pt x="493268" y="100584"/>
                  </a:lnTo>
                  <a:lnTo>
                    <a:pt x="481076" y="85344"/>
                  </a:lnTo>
                  <a:lnTo>
                    <a:pt x="476504" y="77724"/>
                  </a:lnTo>
                  <a:lnTo>
                    <a:pt x="462788" y="60960"/>
                  </a:lnTo>
                  <a:lnTo>
                    <a:pt x="458216" y="54864"/>
                  </a:lnTo>
                  <a:lnTo>
                    <a:pt x="452120" y="50292"/>
                  </a:lnTo>
                  <a:lnTo>
                    <a:pt x="446024" y="42672"/>
                  </a:lnTo>
                  <a:lnTo>
                    <a:pt x="439928" y="38100"/>
                  </a:lnTo>
                  <a:lnTo>
                    <a:pt x="432308" y="30480"/>
                  </a:lnTo>
                  <a:lnTo>
                    <a:pt x="426212" y="27432"/>
                  </a:lnTo>
                  <a:lnTo>
                    <a:pt x="420116" y="22860"/>
                  </a:lnTo>
                  <a:lnTo>
                    <a:pt x="410972" y="16764"/>
                  </a:lnTo>
                  <a:lnTo>
                    <a:pt x="406400" y="15240"/>
                  </a:lnTo>
                  <a:lnTo>
                    <a:pt x="398780" y="10668"/>
                  </a:lnTo>
                  <a:lnTo>
                    <a:pt x="392684" y="7620"/>
                  </a:lnTo>
                  <a:lnTo>
                    <a:pt x="385064" y="6096"/>
                  </a:lnTo>
                  <a:lnTo>
                    <a:pt x="377444" y="3048"/>
                  </a:lnTo>
                  <a:lnTo>
                    <a:pt x="368300" y="1524"/>
                  </a:lnTo>
                  <a:lnTo>
                    <a:pt x="362204" y="1524"/>
                  </a:lnTo>
                  <a:lnTo>
                    <a:pt x="354584" y="0"/>
                  </a:lnTo>
                  <a:lnTo>
                    <a:pt x="345440" y="0"/>
                  </a:lnTo>
                  <a:lnTo>
                    <a:pt x="340868" y="1524"/>
                  </a:lnTo>
                  <a:lnTo>
                    <a:pt x="331724" y="1524"/>
                  </a:lnTo>
                  <a:lnTo>
                    <a:pt x="322580" y="3048"/>
                  </a:lnTo>
                  <a:lnTo>
                    <a:pt x="314960" y="6096"/>
                  </a:lnTo>
                  <a:lnTo>
                    <a:pt x="310388" y="9144"/>
                  </a:lnTo>
                  <a:lnTo>
                    <a:pt x="295148" y="15240"/>
                  </a:lnTo>
                  <a:lnTo>
                    <a:pt x="289052" y="18288"/>
                  </a:lnTo>
                  <a:lnTo>
                    <a:pt x="282956" y="22860"/>
                  </a:lnTo>
                  <a:lnTo>
                    <a:pt x="275336" y="28956"/>
                  </a:lnTo>
                  <a:lnTo>
                    <a:pt x="267716" y="33528"/>
                  </a:lnTo>
                  <a:lnTo>
                    <a:pt x="263144" y="39624"/>
                  </a:lnTo>
                  <a:lnTo>
                    <a:pt x="257048" y="44196"/>
                  </a:lnTo>
                  <a:lnTo>
                    <a:pt x="243332" y="57912"/>
                  </a:lnTo>
                  <a:lnTo>
                    <a:pt x="234188" y="70104"/>
                  </a:lnTo>
                  <a:lnTo>
                    <a:pt x="226568" y="77724"/>
                  </a:lnTo>
                  <a:lnTo>
                    <a:pt x="220472" y="86868"/>
                  </a:lnTo>
                  <a:lnTo>
                    <a:pt x="215900" y="94488"/>
                  </a:lnTo>
                  <a:lnTo>
                    <a:pt x="209804" y="102108"/>
                  </a:lnTo>
                  <a:lnTo>
                    <a:pt x="203708" y="111252"/>
                  </a:lnTo>
                  <a:lnTo>
                    <a:pt x="186944" y="140208"/>
                  </a:lnTo>
                  <a:lnTo>
                    <a:pt x="182372" y="149352"/>
                  </a:lnTo>
                  <a:lnTo>
                    <a:pt x="176276" y="160020"/>
                  </a:lnTo>
                  <a:lnTo>
                    <a:pt x="171704" y="170688"/>
                  </a:lnTo>
                  <a:lnTo>
                    <a:pt x="165608" y="181356"/>
                  </a:lnTo>
                  <a:lnTo>
                    <a:pt x="159512" y="193548"/>
                  </a:lnTo>
                  <a:lnTo>
                    <a:pt x="154940" y="204216"/>
                  </a:lnTo>
                  <a:lnTo>
                    <a:pt x="149453" y="215188"/>
                  </a:lnTo>
                  <a:lnTo>
                    <a:pt x="148844" y="214884"/>
                  </a:lnTo>
                  <a:lnTo>
                    <a:pt x="142748" y="228600"/>
                  </a:lnTo>
                  <a:lnTo>
                    <a:pt x="138176" y="240792"/>
                  </a:lnTo>
                  <a:lnTo>
                    <a:pt x="132080" y="252984"/>
                  </a:lnTo>
                  <a:lnTo>
                    <a:pt x="127508" y="265176"/>
                  </a:lnTo>
                  <a:lnTo>
                    <a:pt x="121412" y="278892"/>
                  </a:lnTo>
                  <a:lnTo>
                    <a:pt x="116840" y="292608"/>
                  </a:lnTo>
                  <a:lnTo>
                    <a:pt x="104648" y="320040"/>
                  </a:lnTo>
                  <a:lnTo>
                    <a:pt x="100076" y="335280"/>
                  </a:lnTo>
                  <a:lnTo>
                    <a:pt x="95504" y="348996"/>
                  </a:lnTo>
                  <a:lnTo>
                    <a:pt x="89408" y="362712"/>
                  </a:lnTo>
                  <a:lnTo>
                    <a:pt x="83312" y="379476"/>
                  </a:lnTo>
                  <a:lnTo>
                    <a:pt x="78740" y="394716"/>
                  </a:lnTo>
                  <a:lnTo>
                    <a:pt x="72644" y="409956"/>
                  </a:lnTo>
                  <a:lnTo>
                    <a:pt x="68072" y="425196"/>
                  </a:lnTo>
                  <a:lnTo>
                    <a:pt x="61976" y="441960"/>
                  </a:lnTo>
                  <a:lnTo>
                    <a:pt x="57404" y="457200"/>
                  </a:lnTo>
                  <a:lnTo>
                    <a:pt x="51308" y="473964"/>
                  </a:lnTo>
                  <a:lnTo>
                    <a:pt x="46736" y="490728"/>
                  </a:lnTo>
                  <a:lnTo>
                    <a:pt x="40640" y="507492"/>
                  </a:lnTo>
                  <a:lnTo>
                    <a:pt x="36068" y="524256"/>
                  </a:lnTo>
                  <a:lnTo>
                    <a:pt x="29972" y="541020"/>
                  </a:lnTo>
                  <a:lnTo>
                    <a:pt x="25400" y="559308"/>
                  </a:lnTo>
                  <a:lnTo>
                    <a:pt x="19304" y="577596"/>
                  </a:lnTo>
                  <a:lnTo>
                    <a:pt x="14732" y="594360"/>
                  </a:lnTo>
                  <a:lnTo>
                    <a:pt x="8636" y="612648"/>
                  </a:lnTo>
                  <a:lnTo>
                    <a:pt x="4064" y="630936"/>
                  </a:lnTo>
                  <a:lnTo>
                    <a:pt x="0" y="643128"/>
                  </a:lnTo>
                  <a:lnTo>
                    <a:pt x="68072" y="643128"/>
                  </a:lnTo>
                  <a:lnTo>
                    <a:pt x="71120" y="630936"/>
                  </a:lnTo>
                  <a:lnTo>
                    <a:pt x="77216" y="612648"/>
                  </a:lnTo>
                  <a:lnTo>
                    <a:pt x="81788" y="595884"/>
                  </a:lnTo>
                  <a:lnTo>
                    <a:pt x="87884" y="577596"/>
                  </a:lnTo>
                  <a:lnTo>
                    <a:pt x="92456" y="560832"/>
                  </a:lnTo>
                  <a:lnTo>
                    <a:pt x="98552" y="544068"/>
                  </a:lnTo>
                  <a:lnTo>
                    <a:pt x="103124" y="527304"/>
                  </a:lnTo>
                  <a:lnTo>
                    <a:pt x="109220" y="510540"/>
                  </a:lnTo>
                  <a:lnTo>
                    <a:pt x="113792" y="493776"/>
                  </a:lnTo>
                  <a:lnTo>
                    <a:pt x="119888" y="477012"/>
                  </a:lnTo>
                  <a:lnTo>
                    <a:pt x="129032" y="446532"/>
                  </a:lnTo>
                  <a:lnTo>
                    <a:pt x="135128" y="429768"/>
                  </a:lnTo>
                  <a:lnTo>
                    <a:pt x="139700" y="414528"/>
                  </a:lnTo>
                  <a:lnTo>
                    <a:pt x="145796" y="400812"/>
                  </a:lnTo>
                  <a:lnTo>
                    <a:pt x="150368" y="385572"/>
                  </a:lnTo>
                  <a:lnTo>
                    <a:pt x="156464" y="371856"/>
                  </a:lnTo>
                  <a:lnTo>
                    <a:pt x="161036" y="356616"/>
                  </a:lnTo>
                  <a:lnTo>
                    <a:pt x="165608" y="342900"/>
                  </a:lnTo>
                  <a:lnTo>
                    <a:pt x="171704" y="330708"/>
                  </a:lnTo>
                  <a:lnTo>
                    <a:pt x="176276" y="316992"/>
                  </a:lnTo>
                  <a:lnTo>
                    <a:pt x="182372" y="303276"/>
                  </a:lnTo>
                  <a:lnTo>
                    <a:pt x="186944" y="291084"/>
                  </a:lnTo>
                  <a:lnTo>
                    <a:pt x="193040" y="277368"/>
                  </a:lnTo>
                  <a:lnTo>
                    <a:pt x="197612" y="266700"/>
                  </a:lnTo>
                  <a:lnTo>
                    <a:pt x="203708" y="254508"/>
                  </a:lnTo>
                  <a:lnTo>
                    <a:pt x="208280" y="243840"/>
                  </a:lnTo>
                  <a:lnTo>
                    <a:pt x="212852" y="231648"/>
                  </a:lnTo>
                  <a:lnTo>
                    <a:pt x="218948" y="220980"/>
                  </a:lnTo>
                  <a:lnTo>
                    <a:pt x="223520" y="210312"/>
                  </a:lnTo>
                  <a:lnTo>
                    <a:pt x="229616" y="199644"/>
                  </a:lnTo>
                  <a:lnTo>
                    <a:pt x="238760" y="181356"/>
                  </a:lnTo>
                  <a:lnTo>
                    <a:pt x="249428" y="163068"/>
                  </a:lnTo>
                  <a:lnTo>
                    <a:pt x="255524" y="153924"/>
                  </a:lnTo>
                  <a:lnTo>
                    <a:pt x="264668" y="138684"/>
                  </a:lnTo>
                  <a:lnTo>
                    <a:pt x="269240" y="129540"/>
                  </a:lnTo>
                  <a:lnTo>
                    <a:pt x="278384" y="117348"/>
                  </a:lnTo>
                  <a:lnTo>
                    <a:pt x="282956" y="112776"/>
                  </a:lnTo>
                  <a:lnTo>
                    <a:pt x="289052" y="105156"/>
                  </a:lnTo>
                  <a:lnTo>
                    <a:pt x="293624" y="99060"/>
                  </a:lnTo>
                  <a:lnTo>
                    <a:pt x="298196" y="96012"/>
                  </a:lnTo>
                  <a:lnTo>
                    <a:pt x="311912" y="82296"/>
                  </a:lnTo>
                  <a:lnTo>
                    <a:pt x="316484" y="79248"/>
                  </a:lnTo>
                  <a:lnTo>
                    <a:pt x="319532" y="76200"/>
                  </a:lnTo>
                  <a:lnTo>
                    <a:pt x="324104" y="74676"/>
                  </a:lnTo>
                  <a:lnTo>
                    <a:pt x="328676" y="71628"/>
                  </a:lnTo>
                  <a:lnTo>
                    <a:pt x="334772" y="68580"/>
                  </a:lnTo>
                  <a:lnTo>
                    <a:pt x="339344" y="67056"/>
                  </a:lnTo>
                  <a:lnTo>
                    <a:pt x="342392" y="65532"/>
                  </a:lnTo>
                  <a:lnTo>
                    <a:pt x="362204" y="65532"/>
                  </a:lnTo>
                  <a:lnTo>
                    <a:pt x="363728" y="67056"/>
                  </a:lnTo>
                  <a:lnTo>
                    <a:pt x="365252" y="67056"/>
                  </a:lnTo>
                  <a:lnTo>
                    <a:pt x="369824" y="68580"/>
                  </a:lnTo>
                  <a:lnTo>
                    <a:pt x="374396" y="71628"/>
                  </a:lnTo>
                  <a:lnTo>
                    <a:pt x="375920" y="73152"/>
                  </a:lnTo>
                  <a:lnTo>
                    <a:pt x="382016" y="74676"/>
                  </a:lnTo>
                  <a:lnTo>
                    <a:pt x="388112" y="80772"/>
                  </a:lnTo>
                  <a:lnTo>
                    <a:pt x="394208" y="83820"/>
                  </a:lnTo>
                  <a:lnTo>
                    <a:pt x="401828" y="91440"/>
                  </a:lnTo>
                  <a:lnTo>
                    <a:pt x="404876" y="96012"/>
                  </a:lnTo>
                  <a:lnTo>
                    <a:pt x="410972" y="100584"/>
                  </a:lnTo>
                  <a:lnTo>
                    <a:pt x="415544" y="106680"/>
                  </a:lnTo>
                  <a:lnTo>
                    <a:pt x="420116" y="111252"/>
                  </a:lnTo>
                  <a:lnTo>
                    <a:pt x="424688" y="117348"/>
                  </a:lnTo>
                  <a:lnTo>
                    <a:pt x="429260" y="123444"/>
                  </a:lnTo>
                  <a:lnTo>
                    <a:pt x="435356" y="131064"/>
                  </a:lnTo>
                  <a:lnTo>
                    <a:pt x="439928" y="138684"/>
                  </a:lnTo>
                  <a:lnTo>
                    <a:pt x="444500" y="144780"/>
                  </a:lnTo>
                  <a:lnTo>
                    <a:pt x="449072" y="152400"/>
                  </a:lnTo>
                  <a:lnTo>
                    <a:pt x="455168" y="161544"/>
                  </a:lnTo>
                  <a:lnTo>
                    <a:pt x="464312" y="179832"/>
                  </a:lnTo>
                  <a:lnTo>
                    <a:pt x="470408" y="188976"/>
                  </a:lnTo>
                  <a:lnTo>
                    <a:pt x="474980" y="198120"/>
                  </a:lnTo>
                  <a:lnTo>
                    <a:pt x="479552" y="208788"/>
                  </a:lnTo>
                  <a:lnTo>
                    <a:pt x="484124" y="217932"/>
                  </a:lnTo>
                  <a:lnTo>
                    <a:pt x="491744" y="230124"/>
                  </a:lnTo>
                  <a:lnTo>
                    <a:pt x="494792" y="240792"/>
                  </a:lnTo>
                  <a:lnTo>
                    <a:pt x="500888" y="252984"/>
                  </a:lnTo>
                  <a:lnTo>
                    <a:pt x="505460" y="263652"/>
                  </a:lnTo>
                  <a:lnTo>
                    <a:pt x="511556" y="275844"/>
                  </a:lnTo>
                  <a:lnTo>
                    <a:pt x="516128" y="288036"/>
                  </a:lnTo>
                  <a:lnTo>
                    <a:pt x="522224" y="300228"/>
                  </a:lnTo>
                  <a:lnTo>
                    <a:pt x="526796" y="313944"/>
                  </a:lnTo>
                  <a:lnTo>
                    <a:pt x="532892" y="327660"/>
                  </a:lnTo>
                  <a:lnTo>
                    <a:pt x="542036" y="355092"/>
                  </a:lnTo>
                  <a:lnTo>
                    <a:pt x="554228" y="382524"/>
                  </a:lnTo>
                  <a:lnTo>
                    <a:pt x="563372" y="413004"/>
                  </a:lnTo>
                  <a:lnTo>
                    <a:pt x="569468" y="428244"/>
                  </a:lnTo>
                  <a:lnTo>
                    <a:pt x="574040" y="443484"/>
                  </a:lnTo>
                  <a:lnTo>
                    <a:pt x="580136" y="458724"/>
                  </a:lnTo>
                  <a:lnTo>
                    <a:pt x="584708" y="475488"/>
                  </a:lnTo>
                  <a:lnTo>
                    <a:pt x="590804" y="490728"/>
                  </a:lnTo>
                  <a:lnTo>
                    <a:pt x="595376" y="507492"/>
                  </a:lnTo>
                  <a:lnTo>
                    <a:pt x="601472" y="524256"/>
                  </a:lnTo>
                  <a:lnTo>
                    <a:pt x="606044" y="541020"/>
                  </a:lnTo>
                  <a:lnTo>
                    <a:pt x="612140" y="557784"/>
                  </a:lnTo>
                  <a:lnTo>
                    <a:pt x="616712" y="574548"/>
                  </a:lnTo>
                  <a:lnTo>
                    <a:pt x="622808" y="592836"/>
                  </a:lnTo>
                  <a:lnTo>
                    <a:pt x="627380" y="611124"/>
                  </a:lnTo>
                  <a:lnTo>
                    <a:pt x="633476" y="627888"/>
                  </a:lnTo>
                  <a:lnTo>
                    <a:pt x="637286" y="643128"/>
                  </a:lnTo>
                  <a:lnTo>
                    <a:pt x="705612" y="643128"/>
                  </a:lnTo>
                  <a:close/>
                </a:path>
                <a:path w="3741420" h="645160">
                  <a:moveTo>
                    <a:pt x="2477897" y="643128"/>
                  </a:moveTo>
                  <a:lnTo>
                    <a:pt x="2474468" y="629412"/>
                  </a:lnTo>
                  <a:lnTo>
                    <a:pt x="2462276" y="592836"/>
                  </a:lnTo>
                  <a:lnTo>
                    <a:pt x="2457704" y="576072"/>
                  </a:lnTo>
                  <a:lnTo>
                    <a:pt x="2451608" y="557784"/>
                  </a:lnTo>
                  <a:lnTo>
                    <a:pt x="2447036" y="541020"/>
                  </a:lnTo>
                  <a:lnTo>
                    <a:pt x="2440940" y="524256"/>
                  </a:lnTo>
                  <a:lnTo>
                    <a:pt x="2436368" y="505968"/>
                  </a:lnTo>
                  <a:lnTo>
                    <a:pt x="2430272" y="489204"/>
                  </a:lnTo>
                  <a:lnTo>
                    <a:pt x="2425700" y="472440"/>
                  </a:lnTo>
                  <a:lnTo>
                    <a:pt x="2419604" y="455676"/>
                  </a:lnTo>
                  <a:lnTo>
                    <a:pt x="2415032" y="440436"/>
                  </a:lnTo>
                  <a:lnTo>
                    <a:pt x="2408936" y="423672"/>
                  </a:lnTo>
                  <a:lnTo>
                    <a:pt x="2404364" y="408432"/>
                  </a:lnTo>
                  <a:lnTo>
                    <a:pt x="2398268" y="393192"/>
                  </a:lnTo>
                  <a:lnTo>
                    <a:pt x="2393696" y="376428"/>
                  </a:lnTo>
                  <a:lnTo>
                    <a:pt x="2387600" y="362712"/>
                  </a:lnTo>
                  <a:lnTo>
                    <a:pt x="2383028" y="347472"/>
                  </a:lnTo>
                  <a:lnTo>
                    <a:pt x="2376932" y="333756"/>
                  </a:lnTo>
                  <a:lnTo>
                    <a:pt x="2372360" y="318516"/>
                  </a:lnTo>
                  <a:lnTo>
                    <a:pt x="2366264" y="304800"/>
                  </a:lnTo>
                  <a:lnTo>
                    <a:pt x="2361692" y="291084"/>
                  </a:lnTo>
                  <a:lnTo>
                    <a:pt x="2349500" y="263652"/>
                  </a:lnTo>
                  <a:lnTo>
                    <a:pt x="2344928" y="251460"/>
                  </a:lnTo>
                  <a:lnTo>
                    <a:pt x="2338832" y="239268"/>
                  </a:lnTo>
                  <a:lnTo>
                    <a:pt x="2334260" y="227076"/>
                  </a:lnTo>
                  <a:lnTo>
                    <a:pt x="2323592" y="202692"/>
                  </a:lnTo>
                  <a:lnTo>
                    <a:pt x="2317496" y="190500"/>
                  </a:lnTo>
                  <a:lnTo>
                    <a:pt x="2311400" y="179832"/>
                  </a:lnTo>
                  <a:lnTo>
                    <a:pt x="2306828" y="169164"/>
                  </a:lnTo>
                  <a:lnTo>
                    <a:pt x="2300732" y="158496"/>
                  </a:lnTo>
                  <a:lnTo>
                    <a:pt x="2290064" y="137160"/>
                  </a:lnTo>
                  <a:lnTo>
                    <a:pt x="2283968" y="129540"/>
                  </a:lnTo>
                  <a:lnTo>
                    <a:pt x="2277872" y="118872"/>
                  </a:lnTo>
                  <a:lnTo>
                    <a:pt x="2273300" y="109728"/>
                  </a:lnTo>
                  <a:lnTo>
                    <a:pt x="2267204" y="100584"/>
                  </a:lnTo>
                  <a:lnTo>
                    <a:pt x="2255012" y="85344"/>
                  </a:lnTo>
                  <a:lnTo>
                    <a:pt x="2248916" y="76200"/>
                  </a:lnTo>
                  <a:lnTo>
                    <a:pt x="2244344" y="70104"/>
                  </a:lnTo>
                  <a:lnTo>
                    <a:pt x="2238248" y="64008"/>
                  </a:lnTo>
                  <a:lnTo>
                    <a:pt x="2232152" y="54864"/>
                  </a:lnTo>
                  <a:lnTo>
                    <a:pt x="2226056" y="48768"/>
                  </a:lnTo>
                  <a:lnTo>
                    <a:pt x="2219960" y="44196"/>
                  </a:lnTo>
                  <a:lnTo>
                    <a:pt x="2207768" y="32004"/>
                  </a:lnTo>
                  <a:lnTo>
                    <a:pt x="2200148" y="25908"/>
                  </a:lnTo>
                  <a:lnTo>
                    <a:pt x="2192528" y="21336"/>
                  </a:lnTo>
                  <a:lnTo>
                    <a:pt x="2187956" y="18288"/>
                  </a:lnTo>
                  <a:lnTo>
                    <a:pt x="2180336" y="13716"/>
                  </a:lnTo>
                  <a:lnTo>
                    <a:pt x="2172716" y="10668"/>
                  </a:lnTo>
                  <a:lnTo>
                    <a:pt x="2166620" y="9144"/>
                  </a:lnTo>
                  <a:lnTo>
                    <a:pt x="2151380" y="3048"/>
                  </a:lnTo>
                  <a:lnTo>
                    <a:pt x="2142236" y="1524"/>
                  </a:lnTo>
                  <a:lnTo>
                    <a:pt x="2136140" y="1524"/>
                  </a:lnTo>
                  <a:lnTo>
                    <a:pt x="2128520" y="0"/>
                  </a:lnTo>
                  <a:lnTo>
                    <a:pt x="2119376" y="0"/>
                  </a:lnTo>
                  <a:lnTo>
                    <a:pt x="2114804" y="1524"/>
                  </a:lnTo>
                  <a:lnTo>
                    <a:pt x="2105660" y="1524"/>
                  </a:lnTo>
                  <a:lnTo>
                    <a:pt x="2098040" y="3048"/>
                  </a:lnTo>
                  <a:lnTo>
                    <a:pt x="2090420" y="6096"/>
                  </a:lnTo>
                  <a:lnTo>
                    <a:pt x="2084324" y="9144"/>
                  </a:lnTo>
                  <a:lnTo>
                    <a:pt x="2076704" y="12192"/>
                  </a:lnTo>
                  <a:lnTo>
                    <a:pt x="2070608" y="13716"/>
                  </a:lnTo>
                  <a:lnTo>
                    <a:pt x="2066036" y="16764"/>
                  </a:lnTo>
                  <a:lnTo>
                    <a:pt x="2080514" y="45720"/>
                  </a:lnTo>
                  <a:lnTo>
                    <a:pt x="2062988" y="18288"/>
                  </a:lnTo>
                  <a:lnTo>
                    <a:pt x="2055368" y="22860"/>
                  </a:lnTo>
                  <a:lnTo>
                    <a:pt x="2050796" y="25908"/>
                  </a:lnTo>
                  <a:lnTo>
                    <a:pt x="2043176" y="33528"/>
                  </a:lnTo>
                  <a:lnTo>
                    <a:pt x="2038604" y="36576"/>
                  </a:lnTo>
                  <a:lnTo>
                    <a:pt x="2030984" y="44196"/>
                  </a:lnTo>
                  <a:lnTo>
                    <a:pt x="2024888" y="48768"/>
                  </a:lnTo>
                  <a:lnTo>
                    <a:pt x="2018792" y="54864"/>
                  </a:lnTo>
                  <a:lnTo>
                    <a:pt x="2006600" y="70104"/>
                  </a:lnTo>
                  <a:lnTo>
                    <a:pt x="2000504" y="76200"/>
                  </a:lnTo>
                  <a:lnTo>
                    <a:pt x="1995932" y="83820"/>
                  </a:lnTo>
                  <a:lnTo>
                    <a:pt x="1989836" y="91440"/>
                  </a:lnTo>
                  <a:lnTo>
                    <a:pt x="1977644" y="109728"/>
                  </a:lnTo>
                  <a:lnTo>
                    <a:pt x="1966976" y="128016"/>
                  </a:lnTo>
                  <a:lnTo>
                    <a:pt x="1960880" y="137160"/>
                  </a:lnTo>
                  <a:lnTo>
                    <a:pt x="1956308" y="147828"/>
                  </a:lnTo>
                  <a:lnTo>
                    <a:pt x="1950212" y="156972"/>
                  </a:lnTo>
                  <a:lnTo>
                    <a:pt x="1945640" y="167640"/>
                  </a:lnTo>
                  <a:lnTo>
                    <a:pt x="1939544" y="178308"/>
                  </a:lnTo>
                  <a:lnTo>
                    <a:pt x="1934972" y="188976"/>
                  </a:lnTo>
                  <a:lnTo>
                    <a:pt x="1922780" y="213360"/>
                  </a:lnTo>
                  <a:lnTo>
                    <a:pt x="1918208" y="224028"/>
                  </a:lnTo>
                  <a:lnTo>
                    <a:pt x="1912112" y="236220"/>
                  </a:lnTo>
                  <a:lnTo>
                    <a:pt x="1906016" y="249936"/>
                  </a:lnTo>
                  <a:lnTo>
                    <a:pt x="1901444" y="262128"/>
                  </a:lnTo>
                  <a:lnTo>
                    <a:pt x="1895348" y="275844"/>
                  </a:lnTo>
                  <a:lnTo>
                    <a:pt x="1890776" y="288036"/>
                  </a:lnTo>
                  <a:lnTo>
                    <a:pt x="1884680" y="303276"/>
                  </a:lnTo>
                  <a:lnTo>
                    <a:pt x="1880108" y="316992"/>
                  </a:lnTo>
                  <a:lnTo>
                    <a:pt x="1874012" y="330708"/>
                  </a:lnTo>
                  <a:lnTo>
                    <a:pt x="1869440" y="344424"/>
                  </a:lnTo>
                  <a:lnTo>
                    <a:pt x="1863344" y="359664"/>
                  </a:lnTo>
                  <a:lnTo>
                    <a:pt x="1858772" y="374904"/>
                  </a:lnTo>
                  <a:lnTo>
                    <a:pt x="1852676" y="390144"/>
                  </a:lnTo>
                  <a:lnTo>
                    <a:pt x="1848104" y="405384"/>
                  </a:lnTo>
                  <a:lnTo>
                    <a:pt x="1842008" y="422148"/>
                  </a:lnTo>
                  <a:lnTo>
                    <a:pt x="1837436" y="437388"/>
                  </a:lnTo>
                  <a:lnTo>
                    <a:pt x="1831340" y="452628"/>
                  </a:lnTo>
                  <a:lnTo>
                    <a:pt x="1825244" y="470916"/>
                  </a:lnTo>
                  <a:lnTo>
                    <a:pt x="1820672" y="487680"/>
                  </a:lnTo>
                  <a:lnTo>
                    <a:pt x="1814576" y="504444"/>
                  </a:lnTo>
                  <a:lnTo>
                    <a:pt x="1810004" y="519684"/>
                  </a:lnTo>
                  <a:lnTo>
                    <a:pt x="1803908" y="537972"/>
                  </a:lnTo>
                  <a:lnTo>
                    <a:pt x="1799336" y="556260"/>
                  </a:lnTo>
                  <a:lnTo>
                    <a:pt x="1793240" y="573024"/>
                  </a:lnTo>
                  <a:lnTo>
                    <a:pt x="1788668" y="589788"/>
                  </a:lnTo>
                  <a:lnTo>
                    <a:pt x="1782572" y="609600"/>
                  </a:lnTo>
                  <a:lnTo>
                    <a:pt x="1778000" y="626364"/>
                  </a:lnTo>
                  <a:lnTo>
                    <a:pt x="1772412" y="643128"/>
                  </a:lnTo>
                  <a:lnTo>
                    <a:pt x="1835277" y="643128"/>
                  </a:lnTo>
                  <a:lnTo>
                    <a:pt x="1840484" y="644652"/>
                  </a:lnTo>
                  <a:lnTo>
                    <a:pt x="1845056" y="626364"/>
                  </a:lnTo>
                  <a:lnTo>
                    <a:pt x="1851152" y="609600"/>
                  </a:lnTo>
                  <a:lnTo>
                    <a:pt x="1855724" y="591312"/>
                  </a:lnTo>
                  <a:lnTo>
                    <a:pt x="1861820" y="574548"/>
                  </a:lnTo>
                  <a:lnTo>
                    <a:pt x="1866392" y="556260"/>
                  </a:lnTo>
                  <a:lnTo>
                    <a:pt x="1872488" y="541020"/>
                  </a:lnTo>
                  <a:lnTo>
                    <a:pt x="1877060" y="522732"/>
                  </a:lnTo>
                  <a:lnTo>
                    <a:pt x="1883156" y="505968"/>
                  </a:lnTo>
                  <a:lnTo>
                    <a:pt x="1887728" y="489204"/>
                  </a:lnTo>
                  <a:lnTo>
                    <a:pt x="1893824" y="473964"/>
                  </a:lnTo>
                  <a:lnTo>
                    <a:pt x="1898396" y="458724"/>
                  </a:lnTo>
                  <a:lnTo>
                    <a:pt x="1904492" y="441960"/>
                  </a:lnTo>
                  <a:lnTo>
                    <a:pt x="1909064" y="426720"/>
                  </a:lnTo>
                  <a:lnTo>
                    <a:pt x="1915160" y="411480"/>
                  </a:lnTo>
                  <a:lnTo>
                    <a:pt x="1919732" y="396240"/>
                  </a:lnTo>
                  <a:lnTo>
                    <a:pt x="1924304" y="382524"/>
                  </a:lnTo>
                  <a:lnTo>
                    <a:pt x="1930400" y="368808"/>
                  </a:lnTo>
                  <a:lnTo>
                    <a:pt x="1934972" y="353568"/>
                  </a:lnTo>
                  <a:lnTo>
                    <a:pt x="1941068" y="339852"/>
                  </a:lnTo>
                  <a:lnTo>
                    <a:pt x="1945640" y="326136"/>
                  </a:lnTo>
                  <a:lnTo>
                    <a:pt x="1950212" y="313944"/>
                  </a:lnTo>
                  <a:lnTo>
                    <a:pt x="1956308" y="300228"/>
                  </a:lnTo>
                  <a:lnTo>
                    <a:pt x="1960880" y="286512"/>
                  </a:lnTo>
                  <a:lnTo>
                    <a:pt x="1966976" y="274320"/>
                  </a:lnTo>
                  <a:lnTo>
                    <a:pt x="1971548" y="263652"/>
                  </a:lnTo>
                  <a:lnTo>
                    <a:pt x="1977644" y="251460"/>
                  </a:lnTo>
                  <a:lnTo>
                    <a:pt x="1982216" y="239268"/>
                  </a:lnTo>
                  <a:lnTo>
                    <a:pt x="1988312" y="228600"/>
                  </a:lnTo>
                  <a:lnTo>
                    <a:pt x="1992884" y="217932"/>
                  </a:lnTo>
                  <a:lnTo>
                    <a:pt x="1997456" y="205740"/>
                  </a:lnTo>
                  <a:lnTo>
                    <a:pt x="2003552" y="196596"/>
                  </a:lnTo>
                  <a:lnTo>
                    <a:pt x="2012696" y="178308"/>
                  </a:lnTo>
                  <a:lnTo>
                    <a:pt x="2018792" y="169164"/>
                  </a:lnTo>
                  <a:lnTo>
                    <a:pt x="2023364" y="160020"/>
                  </a:lnTo>
                  <a:lnTo>
                    <a:pt x="2027936" y="152400"/>
                  </a:lnTo>
                  <a:lnTo>
                    <a:pt x="2034032" y="143256"/>
                  </a:lnTo>
                  <a:lnTo>
                    <a:pt x="2038604" y="135636"/>
                  </a:lnTo>
                  <a:lnTo>
                    <a:pt x="2047748" y="123444"/>
                  </a:lnTo>
                  <a:lnTo>
                    <a:pt x="2053844" y="115824"/>
                  </a:lnTo>
                  <a:lnTo>
                    <a:pt x="2062988" y="103632"/>
                  </a:lnTo>
                  <a:lnTo>
                    <a:pt x="2076704" y="89916"/>
                  </a:lnTo>
                  <a:lnTo>
                    <a:pt x="2081276" y="86868"/>
                  </a:lnTo>
                  <a:lnTo>
                    <a:pt x="2085848" y="80772"/>
                  </a:lnTo>
                  <a:lnTo>
                    <a:pt x="2088896" y="79248"/>
                  </a:lnTo>
                  <a:lnTo>
                    <a:pt x="2096211" y="74371"/>
                  </a:lnTo>
                  <a:lnTo>
                    <a:pt x="2101088" y="73152"/>
                  </a:lnTo>
                  <a:lnTo>
                    <a:pt x="2105660" y="70104"/>
                  </a:lnTo>
                  <a:lnTo>
                    <a:pt x="2108708" y="68580"/>
                  </a:lnTo>
                  <a:lnTo>
                    <a:pt x="2113280" y="67056"/>
                  </a:lnTo>
                  <a:lnTo>
                    <a:pt x="2116328" y="65532"/>
                  </a:lnTo>
                  <a:lnTo>
                    <a:pt x="2136140" y="65532"/>
                  </a:lnTo>
                  <a:lnTo>
                    <a:pt x="2137664" y="67056"/>
                  </a:lnTo>
                  <a:lnTo>
                    <a:pt x="2140712" y="67056"/>
                  </a:lnTo>
                  <a:lnTo>
                    <a:pt x="2142236" y="68580"/>
                  </a:lnTo>
                  <a:lnTo>
                    <a:pt x="2154428" y="74676"/>
                  </a:lnTo>
                  <a:lnTo>
                    <a:pt x="2163572" y="80772"/>
                  </a:lnTo>
                  <a:lnTo>
                    <a:pt x="2169668" y="86868"/>
                  </a:lnTo>
                  <a:lnTo>
                    <a:pt x="2175764" y="91440"/>
                  </a:lnTo>
                  <a:lnTo>
                    <a:pt x="2184908" y="100584"/>
                  </a:lnTo>
                  <a:lnTo>
                    <a:pt x="2187956" y="105156"/>
                  </a:lnTo>
                  <a:lnTo>
                    <a:pt x="2194052" y="112776"/>
                  </a:lnTo>
                  <a:lnTo>
                    <a:pt x="2198624" y="117348"/>
                  </a:lnTo>
                  <a:lnTo>
                    <a:pt x="2203196" y="123444"/>
                  </a:lnTo>
                  <a:lnTo>
                    <a:pt x="2207768" y="131064"/>
                  </a:lnTo>
                  <a:lnTo>
                    <a:pt x="2213864" y="138684"/>
                  </a:lnTo>
                  <a:lnTo>
                    <a:pt x="2238248" y="179832"/>
                  </a:lnTo>
                  <a:lnTo>
                    <a:pt x="2242820" y="188976"/>
                  </a:lnTo>
                  <a:lnTo>
                    <a:pt x="2248916" y="199644"/>
                  </a:lnTo>
                  <a:lnTo>
                    <a:pt x="2253488" y="210312"/>
                  </a:lnTo>
                  <a:lnTo>
                    <a:pt x="2259584" y="219456"/>
                  </a:lnTo>
                  <a:lnTo>
                    <a:pt x="2264156" y="230124"/>
                  </a:lnTo>
                  <a:lnTo>
                    <a:pt x="2270252" y="242316"/>
                  </a:lnTo>
                  <a:lnTo>
                    <a:pt x="2274824" y="252984"/>
                  </a:lnTo>
                  <a:lnTo>
                    <a:pt x="2283968" y="277368"/>
                  </a:lnTo>
                  <a:lnTo>
                    <a:pt x="2290064" y="289560"/>
                  </a:lnTo>
                  <a:lnTo>
                    <a:pt x="2294636" y="301752"/>
                  </a:lnTo>
                  <a:lnTo>
                    <a:pt x="2300732" y="315468"/>
                  </a:lnTo>
                  <a:lnTo>
                    <a:pt x="2305304" y="329184"/>
                  </a:lnTo>
                  <a:lnTo>
                    <a:pt x="2311400" y="342900"/>
                  </a:lnTo>
                  <a:lnTo>
                    <a:pt x="2315972" y="356616"/>
                  </a:lnTo>
                  <a:lnTo>
                    <a:pt x="2322068" y="370332"/>
                  </a:lnTo>
                  <a:lnTo>
                    <a:pt x="2326640" y="384048"/>
                  </a:lnTo>
                  <a:lnTo>
                    <a:pt x="2332736" y="399288"/>
                  </a:lnTo>
                  <a:lnTo>
                    <a:pt x="2341880" y="429768"/>
                  </a:lnTo>
                  <a:lnTo>
                    <a:pt x="2347976" y="445008"/>
                  </a:lnTo>
                  <a:lnTo>
                    <a:pt x="2352548" y="460248"/>
                  </a:lnTo>
                  <a:lnTo>
                    <a:pt x="2358644" y="477012"/>
                  </a:lnTo>
                  <a:lnTo>
                    <a:pt x="2363216" y="492252"/>
                  </a:lnTo>
                  <a:lnTo>
                    <a:pt x="2369312" y="510540"/>
                  </a:lnTo>
                  <a:lnTo>
                    <a:pt x="2373884" y="525780"/>
                  </a:lnTo>
                  <a:lnTo>
                    <a:pt x="2379980" y="542544"/>
                  </a:lnTo>
                  <a:lnTo>
                    <a:pt x="2384552" y="559308"/>
                  </a:lnTo>
                  <a:lnTo>
                    <a:pt x="2390648" y="577596"/>
                  </a:lnTo>
                  <a:lnTo>
                    <a:pt x="2395220" y="594360"/>
                  </a:lnTo>
                  <a:lnTo>
                    <a:pt x="2401316" y="612648"/>
                  </a:lnTo>
                  <a:lnTo>
                    <a:pt x="2405888" y="629412"/>
                  </a:lnTo>
                  <a:lnTo>
                    <a:pt x="2410117" y="643128"/>
                  </a:lnTo>
                  <a:lnTo>
                    <a:pt x="2477897" y="643128"/>
                  </a:lnTo>
                  <a:close/>
                </a:path>
                <a:path w="3741420" h="645160">
                  <a:moveTo>
                    <a:pt x="3740912" y="275844"/>
                  </a:moveTo>
                  <a:lnTo>
                    <a:pt x="3681476" y="249936"/>
                  </a:lnTo>
                  <a:lnTo>
                    <a:pt x="3675380" y="263652"/>
                  </a:lnTo>
                  <a:lnTo>
                    <a:pt x="3670808" y="275844"/>
                  </a:lnTo>
                  <a:lnTo>
                    <a:pt x="3658616" y="303276"/>
                  </a:lnTo>
                  <a:lnTo>
                    <a:pt x="3649472" y="330708"/>
                  </a:lnTo>
                  <a:lnTo>
                    <a:pt x="3637280" y="361188"/>
                  </a:lnTo>
                  <a:lnTo>
                    <a:pt x="3632708" y="374904"/>
                  </a:lnTo>
                  <a:lnTo>
                    <a:pt x="3626612" y="390144"/>
                  </a:lnTo>
                  <a:lnTo>
                    <a:pt x="3622040" y="406908"/>
                  </a:lnTo>
                  <a:lnTo>
                    <a:pt x="3615944" y="422148"/>
                  </a:lnTo>
                  <a:lnTo>
                    <a:pt x="3611372" y="437388"/>
                  </a:lnTo>
                  <a:lnTo>
                    <a:pt x="3605276" y="454152"/>
                  </a:lnTo>
                  <a:lnTo>
                    <a:pt x="3600704" y="470916"/>
                  </a:lnTo>
                  <a:lnTo>
                    <a:pt x="3594608" y="486156"/>
                  </a:lnTo>
                  <a:lnTo>
                    <a:pt x="3590036" y="502920"/>
                  </a:lnTo>
                  <a:lnTo>
                    <a:pt x="3583940" y="521208"/>
                  </a:lnTo>
                  <a:lnTo>
                    <a:pt x="3577844" y="537972"/>
                  </a:lnTo>
                  <a:lnTo>
                    <a:pt x="3568700" y="571500"/>
                  </a:lnTo>
                  <a:lnTo>
                    <a:pt x="3556508" y="608076"/>
                  </a:lnTo>
                  <a:lnTo>
                    <a:pt x="3551936" y="626364"/>
                  </a:lnTo>
                  <a:lnTo>
                    <a:pt x="3546348" y="643128"/>
                  </a:lnTo>
                  <a:lnTo>
                    <a:pt x="3614801" y="643128"/>
                  </a:lnTo>
                  <a:lnTo>
                    <a:pt x="3618992" y="626364"/>
                  </a:lnTo>
                  <a:lnTo>
                    <a:pt x="3625088" y="609600"/>
                  </a:lnTo>
                  <a:lnTo>
                    <a:pt x="3629660" y="591312"/>
                  </a:lnTo>
                  <a:lnTo>
                    <a:pt x="3635756" y="573024"/>
                  </a:lnTo>
                  <a:lnTo>
                    <a:pt x="3640328" y="556260"/>
                  </a:lnTo>
                  <a:lnTo>
                    <a:pt x="3646424" y="539496"/>
                  </a:lnTo>
                  <a:lnTo>
                    <a:pt x="3650996" y="522732"/>
                  </a:lnTo>
                  <a:lnTo>
                    <a:pt x="3657092" y="505968"/>
                  </a:lnTo>
                  <a:lnTo>
                    <a:pt x="3661664" y="490728"/>
                  </a:lnTo>
                  <a:lnTo>
                    <a:pt x="3667760" y="473964"/>
                  </a:lnTo>
                  <a:lnTo>
                    <a:pt x="3672332" y="458724"/>
                  </a:lnTo>
                  <a:lnTo>
                    <a:pt x="3678428" y="441960"/>
                  </a:lnTo>
                  <a:lnTo>
                    <a:pt x="3683000" y="426720"/>
                  </a:lnTo>
                  <a:lnTo>
                    <a:pt x="3689096" y="411480"/>
                  </a:lnTo>
                  <a:lnTo>
                    <a:pt x="3693668" y="397764"/>
                  </a:lnTo>
                  <a:lnTo>
                    <a:pt x="3699764" y="382524"/>
                  </a:lnTo>
                  <a:lnTo>
                    <a:pt x="3708908" y="355092"/>
                  </a:lnTo>
                  <a:lnTo>
                    <a:pt x="3715004" y="339852"/>
                  </a:lnTo>
                  <a:lnTo>
                    <a:pt x="3719576" y="326136"/>
                  </a:lnTo>
                  <a:lnTo>
                    <a:pt x="3725672" y="313944"/>
                  </a:lnTo>
                  <a:lnTo>
                    <a:pt x="3730244" y="300228"/>
                  </a:lnTo>
                  <a:lnTo>
                    <a:pt x="3736340" y="288036"/>
                  </a:lnTo>
                  <a:lnTo>
                    <a:pt x="3740912" y="275844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99147" y="3244595"/>
              <a:ext cx="325120" cy="276225"/>
            </a:xfrm>
            <a:custGeom>
              <a:avLst/>
              <a:gdLst/>
              <a:ahLst/>
              <a:cxnLst/>
              <a:rect l="l" t="t" r="r" b="b"/>
              <a:pathLst>
                <a:path w="325120" h="276225">
                  <a:moveTo>
                    <a:pt x="220979" y="0"/>
                  </a:moveTo>
                  <a:lnTo>
                    <a:pt x="211835" y="0"/>
                  </a:lnTo>
                  <a:lnTo>
                    <a:pt x="207263" y="1524"/>
                  </a:lnTo>
                  <a:lnTo>
                    <a:pt x="198119" y="1524"/>
                  </a:lnTo>
                  <a:lnTo>
                    <a:pt x="190500" y="3048"/>
                  </a:lnTo>
                  <a:lnTo>
                    <a:pt x="184403" y="6096"/>
                  </a:lnTo>
                  <a:lnTo>
                    <a:pt x="176783" y="7620"/>
                  </a:lnTo>
                  <a:lnTo>
                    <a:pt x="169163" y="10668"/>
                  </a:lnTo>
                  <a:lnTo>
                    <a:pt x="161543" y="15240"/>
                  </a:lnTo>
                  <a:lnTo>
                    <a:pt x="155448" y="18287"/>
                  </a:lnTo>
                  <a:lnTo>
                    <a:pt x="143255" y="27432"/>
                  </a:lnTo>
                  <a:lnTo>
                    <a:pt x="135635" y="32004"/>
                  </a:lnTo>
                  <a:lnTo>
                    <a:pt x="105155" y="62484"/>
                  </a:lnTo>
                  <a:lnTo>
                    <a:pt x="100583" y="68580"/>
                  </a:lnTo>
                  <a:lnTo>
                    <a:pt x="94487" y="76200"/>
                  </a:lnTo>
                  <a:lnTo>
                    <a:pt x="88391" y="85344"/>
                  </a:lnTo>
                  <a:lnTo>
                    <a:pt x="76200" y="100584"/>
                  </a:lnTo>
                  <a:lnTo>
                    <a:pt x="71627" y="108204"/>
                  </a:lnTo>
                  <a:lnTo>
                    <a:pt x="65531" y="118872"/>
                  </a:lnTo>
                  <a:lnTo>
                    <a:pt x="53339" y="137160"/>
                  </a:lnTo>
                  <a:lnTo>
                    <a:pt x="38100" y="167640"/>
                  </a:lnTo>
                  <a:lnTo>
                    <a:pt x="32003" y="178308"/>
                  </a:lnTo>
                  <a:lnTo>
                    <a:pt x="25907" y="190500"/>
                  </a:lnTo>
                  <a:lnTo>
                    <a:pt x="21335" y="201168"/>
                  </a:lnTo>
                  <a:lnTo>
                    <a:pt x="15239" y="213360"/>
                  </a:lnTo>
                  <a:lnTo>
                    <a:pt x="10667" y="225552"/>
                  </a:lnTo>
                  <a:lnTo>
                    <a:pt x="4572" y="237744"/>
                  </a:lnTo>
                  <a:lnTo>
                    <a:pt x="0" y="249936"/>
                  </a:lnTo>
                  <a:lnTo>
                    <a:pt x="59435" y="275844"/>
                  </a:lnTo>
                  <a:lnTo>
                    <a:pt x="64007" y="263652"/>
                  </a:lnTo>
                  <a:lnTo>
                    <a:pt x="70103" y="251460"/>
                  </a:lnTo>
                  <a:lnTo>
                    <a:pt x="74675" y="239268"/>
                  </a:lnTo>
                  <a:lnTo>
                    <a:pt x="80772" y="228600"/>
                  </a:lnTo>
                  <a:lnTo>
                    <a:pt x="85343" y="217932"/>
                  </a:lnTo>
                  <a:lnTo>
                    <a:pt x="89915" y="208787"/>
                  </a:lnTo>
                  <a:lnTo>
                    <a:pt x="96011" y="198120"/>
                  </a:lnTo>
                  <a:lnTo>
                    <a:pt x="100583" y="187452"/>
                  </a:lnTo>
                  <a:lnTo>
                    <a:pt x="105155" y="179832"/>
                  </a:lnTo>
                  <a:lnTo>
                    <a:pt x="111251" y="169164"/>
                  </a:lnTo>
                  <a:lnTo>
                    <a:pt x="115824" y="160020"/>
                  </a:lnTo>
                  <a:lnTo>
                    <a:pt x="121919" y="150875"/>
                  </a:lnTo>
                  <a:lnTo>
                    <a:pt x="124967" y="144780"/>
                  </a:lnTo>
                  <a:lnTo>
                    <a:pt x="131063" y="137160"/>
                  </a:lnTo>
                  <a:lnTo>
                    <a:pt x="137159" y="128016"/>
                  </a:lnTo>
                  <a:lnTo>
                    <a:pt x="141731" y="121920"/>
                  </a:lnTo>
                  <a:lnTo>
                    <a:pt x="144779" y="115824"/>
                  </a:lnTo>
                  <a:lnTo>
                    <a:pt x="150875" y="109728"/>
                  </a:lnTo>
                  <a:lnTo>
                    <a:pt x="155448" y="103632"/>
                  </a:lnTo>
                  <a:lnTo>
                    <a:pt x="160019" y="99060"/>
                  </a:lnTo>
                  <a:lnTo>
                    <a:pt x="164591" y="96012"/>
                  </a:lnTo>
                  <a:lnTo>
                    <a:pt x="169163" y="89916"/>
                  </a:lnTo>
                  <a:lnTo>
                    <a:pt x="178307" y="80772"/>
                  </a:lnTo>
                  <a:lnTo>
                    <a:pt x="187451" y="76200"/>
                  </a:lnTo>
                  <a:lnTo>
                    <a:pt x="190500" y="73152"/>
                  </a:lnTo>
                  <a:lnTo>
                    <a:pt x="195072" y="71628"/>
                  </a:lnTo>
                  <a:lnTo>
                    <a:pt x="198119" y="68580"/>
                  </a:lnTo>
                  <a:lnTo>
                    <a:pt x="201167" y="68580"/>
                  </a:lnTo>
                  <a:lnTo>
                    <a:pt x="204215" y="67056"/>
                  </a:lnTo>
                  <a:lnTo>
                    <a:pt x="208787" y="65532"/>
                  </a:lnTo>
                  <a:lnTo>
                    <a:pt x="316466" y="65532"/>
                  </a:lnTo>
                  <a:lnTo>
                    <a:pt x="324611" y="57912"/>
                  </a:lnTo>
                  <a:lnTo>
                    <a:pt x="318515" y="50292"/>
                  </a:lnTo>
                  <a:lnTo>
                    <a:pt x="312419" y="44196"/>
                  </a:lnTo>
                  <a:lnTo>
                    <a:pt x="306323" y="39624"/>
                  </a:lnTo>
                  <a:lnTo>
                    <a:pt x="300227" y="33528"/>
                  </a:lnTo>
                  <a:lnTo>
                    <a:pt x="292607" y="27432"/>
                  </a:lnTo>
                  <a:lnTo>
                    <a:pt x="286511" y="22860"/>
                  </a:lnTo>
                  <a:lnTo>
                    <a:pt x="280415" y="19812"/>
                  </a:lnTo>
                  <a:lnTo>
                    <a:pt x="272795" y="15240"/>
                  </a:lnTo>
                  <a:lnTo>
                    <a:pt x="268223" y="12192"/>
                  </a:lnTo>
                  <a:lnTo>
                    <a:pt x="262127" y="9144"/>
                  </a:lnTo>
                  <a:lnTo>
                    <a:pt x="260603" y="9144"/>
                  </a:lnTo>
                  <a:lnTo>
                    <a:pt x="259079" y="7620"/>
                  </a:lnTo>
                  <a:lnTo>
                    <a:pt x="257555" y="7620"/>
                  </a:lnTo>
                  <a:lnTo>
                    <a:pt x="251459" y="6096"/>
                  </a:lnTo>
                  <a:lnTo>
                    <a:pt x="243839" y="3048"/>
                  </a:lnTo>
                  <a:lnTo>
                    <a:pt x="237743" y="3048"/>
                  </a:lnTo>
                  <a:lnTo>
                    <a:pt x="230123" y="1524"/>
                  </a:lnTo>
                  <a:lnTo>
                    <a:pt x="220979" y="0"/>
                  </a:lnTo>
                  <a:close/>
                </a:path>
                <a:path w="325120" h="276225">
                  <a:moveTo>
                    <a:pt x="314837" y="67056"/>
                  </a:moveTo>
                  <a:lnTo>
                    <a:pt x="233171" y="67056"/>
                  </a:lnTo>
                  <a:lnTo>
                    <a:pt x="237743" y="70104"/>
                  </a:lnTo>
                  <a:lnTo>
                    <a:pt x="246887" y="74675"/>
                  </a:lnTo>
                  <a:lnTo>
                    <a:pt x="251459" y="77724"/>
                  </a:lnTo>
                  <a:lnTo>
                    <a:pt x="254507" y="80772"/>
                  </a:lnTo>
                  <a:lnTo>
                    <a:pt x="259079" y="83820"/>
                  </a:lnTo>
                  <a:lnTo>
                    <a:pt x="262127" y="86868"/>
                  </a:lnTo>
                  <a:lnTo>
                    <a:pt x="268223" y="91440"/>
                  </a:lnTo>
                  <a:lnTo>
                    <a:pt x="271271" y="96012"/>
                  </a:lnTo>
                  <a:lnTo>
                    <a:pt x="277367" y="102108"/>
                  </a:lnTo>
                  <a:lnTo>
                    <a:pt x="314837" y="67056"/>
                  </a:lnTo>
                  <a:close/>
                </a:path>
                <a:path w="325120" h="276225">
                  <a:moveTo>
                    <a:pt x="316466" y="65532"/>
                  </a:moveTo>
                  <a:lnTo>
                    <a:pt x="225551" y="65532"/>
                  </a:lnTo>
                  <a:lnTo>
                    <a:pt x="230123" y="67056"/>
                  </a:lnTo>
                  <a:lnTo>
                    <a:pt x="233171" y="68580"/>
                  </a:lnTo>
                  <a:lnTo>
                    <a:pt x="237743" y="70104"/>
                  </a:lnTo>
                  <a:lnTo>
                    <a:pt x="233171" y="67056"/>
                  </a:lnTo>
                  <a:lnTo>
                    <a:pt x="314837" y="67056"/>
                  </a:lnTo>
                  <a:lnTo>
                    <a:pt x="316466" y="65532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74991" y="3302507"/>
              <a:ext cx="294640" cy="585470"/>
            </a:xfrm>
            <a:custGeom>
              <a:avLst/>
              <a:gdLst/>
              <a:ahLst/>
              <a:cxnLst/>
              <a:rect l="l" t="t" r="r" b="b"/>
              <a:pathLst>
                <a:path w="294640" h="585470">
                  <a:moveTo>
                    <a:pt x="48768" y="0"/>
                  </a:moveTo>
                  <a:lnTo>
                    <a:pt x="0" y="42672"/>
                  </a:lnTo>
                  <a:lnTo>
                    <a:pt x="6096" y="48768"/>
                  </a:lnTo>
                  <a:lnTo>
                    <a:pt x="15240" y="60960"/>
                  </a:lnTo>
                  <a:lnTo>
                    <a:pt x="21336" y="68580"/>
                  </a:lnTo>
                  <a:lnTo>
                    <a:pt x="24384" y="73152"/>
                  </a:lnTo>
                  <a:lnTo>
                    <a:pt x="28956" y="80772"/>
                  </a:lnTo>
                  <a:lnTo>
                    <a:pt x="35051" y="89916"/>
                  </a:lnTo>
                  <a:lnTo>
                    <a:pt x="39624" y="96012"/>
                  </a:lnTo>
                  <a:lnTo>
                    <a:pt x="45720" y="105156"/>
                  </a:lnTo>
                  <a:lnTo>
                    <a:pt x="48768" y="112775"/>
                  </a:lnTo>
                  <a:lnTo>
                    <a:pt x="54864" y="123444"/>
                  </a:lnTo>
                  <a:lnTo>
                    <a:pt x="60960" y="132587"/>
                  </a:lnTo>
                  <a:lnTo>
                    <a:pt x="65532" y="141732"/>
                  </a:lnTo>
                  <a:lnTo>
                    <a:pt x="70104" y="152400"/>
                  </a:lnTo>
                  <a:lnTo>
                    <a:pt x="76200" y="163068"/>
                  </a:lnTo>
                  <a:lnTo>
                    <a:pt x="85344" y="184404"/>
                  </a:lnTo>
                  <a:lnTo>
                    <a:pt x="97536" y="208787"/>
                  </a:lnTo>
                  <a:lnTo>
                    <a:pt x="102108" y="219456"/>
                  </a:lnTo>
                  <a:lnTo>
                    <a:pt x="106680" y="231648"/>
                  </a:lnTo>
                  <a:lnTo>
                    <a:pt x="112775" y="245363"/>
                  </a:lnTo>
                  <a:lnTo>
                    <a:pt x="117348" y="259080"/>
                  </a:lnTo>
                  <a:lnTo>
                    <a:pt x="121920" y="271272"/>
                  </a:lnTo>
                  <a:lnTo>
                    <a:pt x="128016" y="284988"/>
                  </a:lnTo>
                  <a:lnTo>
                    <a:pt x="132588" y="300228"/>
                  </a:lnTo>
                  <a:lnTo>
                    <a:pt x="138684" y="313944"/>
                  </a:lnTo>
                  <a:lnTo>
                    <a:pt x="143256" y="327660"/>
                  </a:lnTo>
                  <a:lnTo>
                    <a:pt x="147828" y="342900"/>
                  </a:lnTo>
                  <a:lnTo>
                    <a:pt x="153924" y="358140"/>
                  </a:lnTo>
                  <a:lnTo>
                    <a:pt x="158496" y="373380"/>
                  </a:lnTo>
                  <a:lnTo>
                    <a:pt x="164592" y="388620"/>
                  </a:lnTo>
                  <a:lnTo>
                    <a:pt x="169164" y="403859"/>
                  </a:lnTo>
                  <a:lnTo>
                    <a:pt x="175260" y="420623"/>
                  </a:lnTo>
                  <a:lnTo>
                    <a:pt x="179832" y="435863"/>
                  </a:lnTo>
                  <a:lnTo>
                    <a:pt x="185928" y="452627"/>
                  </a:lnTo>
                  <a:lnTo>
                    <a:pt x="190500" y="469391"/>
                  </a:lnTo>
                  <a:lnTo>
                    <a:pt x="196596" y="486155"/>
                  </a:lnTo>
                  <a:lnTo>
                    <a:pt x="201168" y="502919"/>
                  </a:lnTo>
                  <a:lnTo>
                    <a:pt x="207264" y="521207"/>
                  </a:lnTo>
                  <a:lnTo>
                    <a:pt x="211836" y="537971"/>
                  </a:lnTo>
                  <a:lnTo>
                    <a:pt x="217932" y="554735"/>
                  </a:lnTo>
                  <a:lnTo>
                    <a:pt x="222504" y="573023"/>
                  </a:lnTo>
                  <a:lnTo>
                    <a:pt x="226568" y="585215"/>
                  </a:lnTo>
                  <a:lnTo>
                    <a:pt x="294132" y="585215"/>
                  </a:lnTo>
                  <a:lnTo>
                    <a:pt x="291084" y="573023"/>
                  </a:lnTo>
                  <a:lnTo>
                    <a:pt x="284988" y="554735"/>
                  </a:lnTo>
                  <a:lnTo>
                    <a:pt x="280416" y="536447"/>
                  </a:lnTo>
                  <a:lnTo>
                    <a:pt x="274320" y="518159"/>
                  </a:lnTo>
                  <a:lnTo>
                    <a:pt x="269748" y="501395"/>
                  </a:lnTo>
                  <a:lnTo>
                    <a:pt x="263651" y="484631"/>
                  </a:lnTo>
                  <a:lnTo>
                    <a:pt x="259080" y="466343"/>
                  </a:lnTo>
                  <a:lnTo>
                    <a:pt x="246888" y="432815"/>
                  </a:lnTo>
                  <a:lnTo>
                    <a:pt x="242316" y="416051"/>
                  </a:lnTo>
                  <a:lnTo>
                    <a:pt x="236220" y="399287"/>
                  </a:lnTo>
                  <a:lnTo>
                    <a:pt x="231648" y="384048"/>
                  </a:lnTo>
                  <a:lnTo>
                    <a:pt x="225551" y="367284"/>
                  </a:lnTo>
                  <a:lnTo>
                    <a:pt x="220980" y="352044"/>
                  </a:lnTo>
                  <a:lnTo>
                    <a:pt x="214884" y="336804"/>
                  </a:lnTo>
                  <a:lnTo>
                    <a:pt x="210312" y="321563"/>
                  </a:lnTo>
                  <a:lnTo>
                    <a:pt x="204216" y="304800"/>
                  </a:lnTo>
                  <a:lnTo>
                    <a:pt x="199644" y="291084"/>
                  </a:lnTo>
                  <a:lnTo>
                    <a:pt x="193548" y="275844"/>
                  </a:lnTo>
                  <a:lnTo>
                    <a:pt x="188975" y="262128"/>
                  </a:lnTo>
                  <a:lnTo>
                    <a:pt x="182880" y="248412"/>
                  </a:lnTo>
                  <a:lnTo>
                    <a:pt x="178308" y="233172"/>
                  </a:lnTo>
                  <a:lnTo>
                    <a:pt x="172212" y="220980"/>
                  </a:lnTo>
                  <a:lnTo>
                    <a:pt x="166116" y="207263"/>
                  </a:lnTo>
                  <a:lnTo>
                    <a:pt x="161544" y="195072"/>
                  </a:lnTo>
                  <a:lnTo>
                    <a:pt x="155448" y="181356"/>
                  </a:lnTo>
                  <a:lnTo>
                    <a:pt x="150875" y="169163"/>
                  </a:lnTo>
                  <a:lnTo>
                    <a:pt x="144780" y="158496"/>
                  </a:lnTo>
                  <a:lnTo>
                    <a:pt x="140208" y="146304"/>
                  </a:lnTo>
                  <a:lnTo>
                    <a:pt x="134112" y="134112"/>
                  </a:lnTo>
                  <a:lnTo>
                    <a:pt x="128016" y="123444"/>
                  </a:lnTo>
                  <a:lnTo>
                    <a:pt x="123444" y="112775"/>
                  </a:lnTo>
                  <a:lnTo>
                    <a:pt x="111251" y="91440"/>
                  </a:lnTo>
                  <a:lnTo>
                    <a:pt x="106680" y="82296"/>
                  </a:lnTo>
                  <a:lnTo>
                    <a:pt x="100584" y="71628"/>
                  </a:lnTo>
                  <a:lnTo>
                    <a:pt x="96012" y="62484"/>
                  </a:lnTo>
                  <a:lnTo>
                    <a:pt x="88392" y="51816"/>
                  </a:lnTo>
                  <a:lnTo>
                    <a:pt x="83820" y="45720"/>
                  </a:lnTo>
                  <a:lnTo>
                    <a:pt x="71628" y="27432"/>
                  </a:lnTo>
                  <a:lnTo>
                    <a:pt x="67056" y="21336"/>
                  </a:lnTo>
                  <a:lnTo>
                    <a:pt x="54864" y="6096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19299" y="3277361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>
                  <a:moveTo>
                    <a:pt x="0" y="0"/>
                  </a:moveTo>
                  <a:lnTo>
                    <a:pt x="1028699" y="0"/>
                  </a:lnTo>
                </a:path>
              </a:pathLst>
            </a:custGeom>
            <a:ln w="13715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099" y="3276600"/>
              <a:ext cx="76200" cy="2286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86099" y="2590800"/>
              <a:ext cx="76200" cy="1297305"/>
            </a:xfrm>
            <a:custGeom>
              <a:avLst/>
              <a:gdLst/>
              <a:ahLst/>
              <a:cxnLst/>
              <a:rect l="l" t="t" r="r" b="b"/>
              <a:pathLst>
                <a:path w="76200" h="1297304">
                  <a:moveTo>
                    <a:pt x="45719" y="64007"/>
                  </a:moveTo>
                  <a:lnTo>
                    <a:pt x="32003" y="64007"/>
                  </a:lnTo>
                  <a:lnTo>
                    <a:pt x="32003" y="1296923"/>
                  </a:lnTo>
                  <a:lnTo>
                    <a:pt x="45719" y="1296923"/>
                  </a:lnTo>
                  <a:lnTo>
                    <a:pt x="45719" y="64007"/>
                  </a:lnTo>
                  <a:close/>
                </a:path>
                <a:path w="76200" h="1297304">
                  <a:moveTo>
                    <a:pt x="38100" y="0"/>
                  </a:moveTo>
                  <a:lnTo>
                    <a:pt x="0" y="76200"/>
                  </a:lnTo>
                  <a:lnTo>
                    <a:pt x="32003" y="76200"/>
                  </a:lnTo>
                  <a:lnTo>
                    <a:pt x="32003" y="64007"/>
                  </a:lnTo>
                  <a:lnTo>
                    <a:pt x="70103" y="64007"/>
                  </a:lnTo>
                  <a:lnTo>
                    <a:pt x="38100" y="0"/>
                  </a:lnTo>
                  <a:close/>
                </a:path>
                <a:path w="76200" h="1297304">
                  <a:moveTo>
                    <a:pt x="70103" y="64007"/>
                  </a:moveTo>
                  <a:lnTo>
                    <a:pt x="45719" y="64007"/>
                  </a:lnTo>
                  <a:lnTo>
                    <a:pt x="45719" y="76200"/>
                  </a:lnTo>
                  <a:lnTo>
                    <a:pt x="76199" y="76200"/>
                  </a:lnTo>
                  <a:lnTo>
                    <a:pt x="70103" y="6400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575303" y="2819400"/>
            <a:ext cx="463550" cy="304800"/>
            <a:chOff x="3575303" y="2819400"/>
            <a:chExt cx="463550" cy="304800"/>
          </a:xfrm>
        </p:grpSpPr>
        <p:sp>
          <p:nvSpPr>
            <p:cNvPr id="13" name="object 13"/>
            <p:cNvSpPr/>
            <p:nvPr/>
          </p:nvSpPr>
          <p:spPr>
            <a:xfrm>
              <a:off x="3575291" y="2819399"/>
              <a:ext cx="13970" cy="304800"/>
            </a:xfrm>
            <a:custGeom>
              <a:avLst/>
              <a:gdLst/>
              <a:ahLst/>
              <a:cxnLst/>
              <a:rect l="l" t="t" r="r" b="b"/>
              <a:pathLst>
                <a:path w="13970" h="304800">
                  <a:moveTo>
                    <a:pt x="13716" y="254508"/>
                  </a:moveTo>
                  <a:lnTo>
                    <a:pt x="0" y="254508"/>
                  </a:lnTo>
                  <a:lnTo>
                    <a:pt x="0" y="304800"/>
                  </a:lnTo>
                  <a:lnTo>
                    <a:pt x="13716" y="304800"/>
                  </a:lnTo>
                  <a:lnTo>
                    <a:pt x="13716" y="254508"/>
                  </a:lnTo>
                  <a:close/>
                </a:path>
                <a:path w="13970" h="304800">
                  <a:moveTo>
                    <a:pt x="13716" y="166116"/>
                  </a:moveTo>
                  <a:lnTo>
                    <a:pt x="0" y="166116"/>
                  </a:lnTo>
                  <a:lnTo>
                    <a:pt x="0" y="216408"/>
                  </a:lnTo>
                  <a:lnTo>
                    <a:pt x="13716" y="216408"/>
                  </a:lnTo>
                  <a:lnTo>
                    <a:pt x="13716" y="166116"/>
                  </a:lnTo>
                  <a:close/>
                </a:path>
                <a:path w="13970" h="304800">
                  <a:moveTo>
                    <a:pt x="13716" y="76200"/>
                  </a:moveTo>
                  <a:lnTo>
                    <a:pt x="0" y="76200"/>
                  </a:lnTo>
                  <a:lnTo>
                    <a:pt x="0" y="128016"/>
                  </a:lnTo>
                  <a:lnTo>
                    <a:pt x="13716" y="128016"/>
                  </a:lnTo>
                  <a:lnTo>
                    <a:pt x="13716" y="76200"/>
                  </a:lnTo>
                  <a:close/>
                </a:path>
                <a:path w="13970" h="304800">
                  <a:moveTo>
                    <a:pt x="1371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3716" y="38100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81399" y="2933700"/>
              <a:ext cx="457200" cy="76200"/>
            </a:xfrm>
            <a:custGeom>
              <a:avLst/>
              <a:gdLst/>
              <a:ahLst/>
              <a:cxnLst/>
              <a:rect l="l" t="t" r="r" b="b"/>
              <a:pathLst>
                <a:path w="457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5719"/>
                  </a:lnTo>
                  <a:lnTo>
                    <a:pt x="64007" y="45719"/>
                  </a:lnTo>
                  <a:lnTo>
                    <a:pt x="64007" y="32003"/>
                  </a:lnTo>
                  <a:lnTo>
                    <a:pt x="76200" y="32003"/>
                  </a:lnTo>
                  <a:lnTo>
                    <a:pt x="76200" y="0"/>
                  </a:lnTo>
                  <a:close/>
                </a:path>
                <a:path w="457200" h="76200">
                  <a:moveTo>
                    <a:pt x="76200" y="32003"/>
                  </a:moveTo>
                  <a:lnTo>
                    <a:pt x="64007" y="32003"/>
                  </a:lnTo>
                  <a:lnTo>
                    <a:pt x="64007" y="45719"/>
                  </a:lnTo>
                  <a:lnTo>
                    <a:pt x="76200" y="45719"/>
                  </a:lnTo>
                  <a:lnTo>
                    <a:pt x="76200" y="32003"/>
                  </a:lnTo>
                  <a:close/>
                </a:path>
                <a:path w="457200" h="76200">
                  <a:moveTo>
                    <a:pt x="457199" y="32003"/>
                  </a:moveTo>
                  <a:lnTo>
                    <a:pt x="76200" y="32003"/>
                  </a:lnTo>
                  <a:lnTo>
                    <a:pt x="76200" y="45719"/>
                  </a:lnTo>
                  <a:lnTo>
                    <a:pt x="457199" y="45719"/>
                  </a:lnTo>
                  <a:lnTo>
                    <a:pt x="457199" y="3200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876800" y="2819400"/>
            <a:ext cx="464820" cy="304800"/>
            <a:chOff x="4876800" y="2819400"/>
            <a:chExt cx="464820" cy="304800"/>
          </a:xfrm>
        </p:grpSpPr>
        <p:sp>
          <p:nvSpPr>
            <p:cNvPr id="16" name="object 16"/>
            <p:cNvSpPr/>
            <p:nvPr/>
          </p:nvSpPr>
          <p:spPr>
            <a:xfrm>
              <a:off x="5327891" y="2819399"/>
              <a:ext cx="13970" cy="304800"/>
            </a:xfrm>
            <a:custGeom>
              <a:avLst/>
              <a:gdLst/>
              <a:ahLst/>
              <a:cxnLst/>
              <a:rect l="l" t="t" r="r" b="b"/>
              <a:pathLst>
                <a:path w="13970" h="304800">
                  <a:moveTo>
                    <a:pt x="13716" y="254508"/>
                  </a:moveTo>
                  <a:lnTo>
                    <a:pt x="0" y="254508"/>
                  </a:lnTo>
                  <a:lnTo>
                    <a:pt x="0" y="304800"/>
                  </a:lnTo>
                  <a:lnTo>
                    <a:pt x="13716" y="304800"/>
                  </a:lnTo>
                  <a:lnTo>
                    <a:pt x="13716" y="254508"/>
                  </a:lnTo>
                  <a:close/>
                </a:path>
                <a:path w="13970" h="304800">
                  <a:moveTo>
                    <a:pt x="13716" y="166116"/>
                  </a:moveTo>
                  <a:lnTo>
                    <a:pt x="0" y="166116"/>
                  </a:lnTo>
                  <a:lnTo>
                    <a:pt x="0" y="216408"/>
                  </a:lnTo>
                  <a:lnTo>
                    <a:pt x="13716" y="216408"/>
                  </a:lnTo>
                  <a:lnTo>
                    <a:pt x="13716" y="166116"/>
                  </a:lnTo>
                  <a:close/>
                </a:path>
                <a:path w="13970" h="304800">
                  <a:moveTo>
                    <a:pt x="13716" y="76200"/>
                  </a:moveTo>
                  <a:lnTo>
                    <a:pt x="0" y="76200"/>
                  </a:lnTo>
                  <a:lnTo>
                    <a:pt x="0" y="128016"/>
                  </a:lnTo>
                  <a:lnTo>
                    <a:pt x="13716" y="128016"/>
                  </a:lnTo>
                  <a:lnTo>
                    <a:pt x="13716" y="76200"/>
                  </a:lnTo>
                  <a:close/>
                </a:path>
                <a:path w="13970" h="304800">
                  <a:moveTo>
                    <a:pt x="1371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3716" y="38100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76800" y="2933700"/>
              <a:ext cx="457200" cy="76200"/>
            </a:xfrm>
            <a:custGeom>
              <a:avLst/>
              <a:gdLst/>
              <a:ahLst/>
              <a:cxnLst/>
              <a:rect l="l" t="t" r="r" b="b"/>
              <a:pathLst>
                <a:path w="457200" h="76200">
                  <a:moveTo>
                    <a:pt x="381000" y="0"/>
                  </a:moveTo>
                  <a:lnTo>
                    <a:pt x="381000" y="76200"/>
                  </a:lnTo>
                  <a:lnTo>
                    <a:pt x="441960" y="45719"/>
                  </a:lnTo>
                  <a:lnTo>
                    <a:pt x="394715" y="45719"/>
                  </a:lnTo>
                  <a:lnTo>
                    <a:pt x="394715" y="32003"/>
                  </a:lnTo>
                  <a:lnTo>
                    <a:pt x="445007" y="32003"/>
                  </a:lnTo>
                  <a:lnTo>
                    <a:pt x="381000" y="0"/>
                  </a:lnTo>
                  <a:close/>
                </a:path>
                <a:path w="457200" h="76200">
                  <a:moveTo>
                    <a:pt x="381000" y="32003"/>
                  </a:moveTo>
                  <a:lnTo>
                    <a:pt x="0" y="32003"/>
                  </a:lnTo>
                  <a:lnTo>
                    <a:pt x="0" y="45719"/>
                  </a:lnTo>
                  <a:lnTo>
                    <a:pt x="381000" y="45719"/>
                  </a:lnTo>
                  <a:lnTo>
                    <a:pt x="381000" y="32003"/>
                  </a:lnTo>
                  <a:close/>
                </a:path>
                <a:path w="457200" h="76200">
                  <a:moveTo>
                    <a:pt x="445007" y="32003"/>
                  </a:moveTo>
                  <a:lnTo>
                    <a:pt x="394715" y="32003"/>
                  </a:lnTo>
                  <a:lnTo>
                    <a:pt x="394715" y="45719"/>
                  </a:lnTo>
                  <a:lnTo>
                    <a:pt x="441960" y="45719"/>
                  </a:lnTo>
                  <a:lnTo>
                    <a:pt x="457200" y="38100"/>
                  </a:lnTo>
                  <a:lnTo>
                    <a:pt x="445007" y="3200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07381" y="2290064"/>
            <a:ext cx="2905125" cy="1680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0070BF"/>
                </a:solidFill>
                <a:latin typeface="Times New Roman"/>
                <a:cs typeface="Times New Roman"/>
              </a:rPr>
              <a:t>signal</a:t>
            </a:r>
            <a:r>
              <a:rPr sz="1800" i="1" spc="-35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1800" i="1" spc="-15" dirty="0">
                <a:solidFill>
                  <a:srgbClr val="0070BF"/>
                </a:solidFill>
                <a:latin typeface="Times New Roman"/>
                <a:cs typeface="Times New Roman"/>
              </a:rPr>
              <a:t>strength</a:t>
            </a:r>
            <a:endParaRPr sz="1800">
              <a:latin typeface="Times New Roman"/>
              <a:cs typeface="Times New Roman"/>
            </a:endParaRPr>
          </a:p>
          <a:p>
            <a:pPr marL="2284095">
              <a:lnSpc>
                <a:spcPts val="2105"/>
              </a:lnSpc>
              <a:spcBef>
                <a:spcPts val="1545"/>
              </a:spcBef>
            </a:pPr>
            <a:r>
              <a:rPr sz="1800" dirty="0">
                <a:solidFill>
                  <a:srgbClr val="0070BF"/>
                </a:solidFill>
                <a:latin typeface="Calibri"/>
                <a:cs typeface="Calibri"/>
              </a:rPr>
              <a:t>pe</a:t>
            </a:r>
            <a:r>
              <a:rPr sz="1800" spc="-5" dirty="0">
                <a:solidFill>
                  <a:srgbClr val="0070BF"/>
                </a:solidFill>
                <a:latin typeface="Calibri"/>
                <a:cs typeface="Calibri"/>
              </a:rPr>
              <a:t>riod</a:t>
            </a:r>
            <a:endParaRPr sz="1800">
              <a:latin typeface="Calibri"/>
              <a:cs typeface="Calibri"/>
            </a:endParaRPr>
          </a:p>
          <a:p>
            <a:pPr marL="2280920">
              <a:lnSpc>
                <a:spcPts val="2105"/>
              </a:lnSpc>
            </a:pPr>
            <a:r>
              <a:rPr sz="1800" i="1" dirty="0">
                <a:solidFill>
                  <a:srgbClr val="0070BF"/>
                </a:solidFill>
                <a:latin typeface="Times New Roman"/>
                <a:cs typeface="Times New Roman"/>
              </a:rPr>
              <a:t>T</a:t>
            </a:r>
            <a:r>
              <a:rPr sz="1800" i="1" spc="-65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70BF"/>
                </a:solidFill>
                <a:latin typeface="Times New Roman"/>
                <a:cs typeface="Times New Roman"/>
              </a:rPr>
              <a:t>=</a:t>
            </a:r>
            <a:r>
              <a:rPr sz="1800" spc="-55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70BF"/>
                </a:solidFill>
                <a:latin typeface="Times New Roman"/>
                <a:cs typeface="Times New Roman"/>
              </a:rPr>
              <a:t>1/</a:t>
            </a:r>
            <a:r>
              <a:rPr sz="1800" i="1" dirty="0">
                <a:solidFill>
                  <a:srgbClr val="0070BF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marL="12700" marR="2042795" indent="222250">
              <a:lnSpc>
                <a:spcPts val="1800"/>
              </a:lnSpc>
              <a:spcBef>
                <a:spcPts val="1555"/>
              </a:spcBef>
            </a:pPr>
            <a:r>
              <a:rPr sz="1600" spc="-5" dirty="0">
                <a:solidFill>
                  <a:srgbClr val="0070BF"/>
                </a:solidFill>
                <a:latin typeface="Calibri"/>
                <a:cs typeface="Calibri"/>
              </a:rPr>
              <a:t>peak </a:t>
            </a:r>
            <a:r>
              <a:rPr sz="1600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70BF"/>
                </a:solidFill>
                <a:latin typeface="Calibri"/>
                <a:cs typeface="Calibri"/>
              </a:rPr>
              <a:t>a</a:t>
            </a:r>
            <a:r>
              <a:rPr sz="1600" spc="-10" dirty="0">
                <a:solidFill>
                  <a:srgbClr val="0070BF"/>
                </a:solidFill>
                <a:latin typeface="Calibri"/>
                <a:cs typeface="Calibri"/>
              </a:rPr>
              <a:t>mp</a:t>
            </a:r>
            <a:r>
              <a:rPr sz="1600" spc="-5" dirty="0">
                <a:solidFill>
                  <a:srgbClr val="0070BF"/>
                </a:solidFill>
                <a:latin typeface="Calibri"/>
                <a:cs typeface="Calibri"/>
              </a:rPr>
              <a:t>lit</a:t>
            </a:r>
            <a:r>
              <a:rPr sz="1600" spc="-10" dirty="0">
                <a:solidFill>
                  <a:srgbClr val="0070BF"/>
                </a:solidFill>
                <a:latin typeface="Calibri"/>
                <a:cs typeface="Calibri"/>
              </a:rPr>
              <a:t>ude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34242" y="664709"/>
            <a:ext cx="67354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40" dirty="0"/>
              <a:t>Sine</a:t>
            </a:r>
            <a:r>
              <a:rPr u="none" spc="-155" dirty="0"/>
              <a:t> </a:t>
            </a:r>
            <a:r>
              <a:rPr u="none" spc="-75" dirty="0"/>
              <a:t>Waves:</a:t>
            </a:r>
            <a:r>
              <a:rPr u="none" spc="-145" dirty="0"/>
              <a:t> </a:t>
            </a:r>
            <a:r>
              <a:rPr u="none" spc="-45" dirty="0"/>
              <a:t>Revisited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457200" y="3352800"/>
            <a:ext cx="9142730" cy="3961129"/>
            <a:chOff x="457200" y="3352800"/>
            <a:chExt cx="9142730" cy="3961129"/>
          </a:xfrm>
        </p:grpSpPr>
        <p:sp>
          <p:nvSpPr>
            <p:cNvPr id="21" name="object 21"/>
            <p:cNvSpPr/>
            <p:nvPr/>
          </p:nvSpPr>
          <p:spPr>
            <a:xfrm>
              <a:off x="3576827" y="3352800"/>
              <a:ext cx="13970" cy="535305"/>
            </a:xfrm>
            <a:custGeom>
              <a:avLst/>
              <a:gdLst/>
              <a:ahLst/>
              <a:cxnLst/>
              <a:rect l="l" t="t" r="r" b="b"/>
              <a:pathLst>
                <a:path w="13970" h="535304">
                  <a:moveTo>
                    <a:pt x="13715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3715" y="38100"/>
                  </a:lnTo>
                  <a:lnTo>
                    <a:pt x="13715" y="0"/>
                  </a:lnTo>
                  <a:close/>
                </a:path>
                <a:path w="13970" h="535304">
                  <a:moveTo>
                    <a:pt x="13715" y="51815"/>
                  </a:moveTo>
                  <a:lnTo>
                    <a:pt x="0" y="51815"/>
                  </a:lnTo>
                  <a:lnTo>
                    <a:pt x="0" y="89915"/>
                  </a:lnTo>
                  <a:lnTo>
                    <a:pt x="13715" y="89915"/>
                  </a:lnTo>
                  <a:lnTo>
                    <a:pt x="13715" y="51815"/>
                  </a:lnTo>
                  <a:close/>
                </a:path>
                <a:path w="13970" h="535304">
                  <a:moveTo>
                    <a:pt x="13715" y="102107"/>
                  </a:moveTo>
                  <a:lnTo>
                    <a:pt x="0" y="102107"/>
                  </a:lnTo>
                  <a:lnTo>
                    <a:pt x="0" y="140207"/>
                  </a:lnTo>
                  <a:lnTo>
                    <a:pt x="13715" y="140207"/>
                  </a:lnTo>
                  <a:lnTo>
                    <a:pt x="13715" y="102107"/>
                  </a:lnTo>
                  <a:close/>
                </a:path>
                <a:path w="13970" h="535304">
                  <a:moveTo>
                    <a:pt x="13715" y="152400"/>
                  </a:moveTo>
                  <a:lnTo>
                    <a:pt x="0" y="152400"/>
                  </a:lnTo>
                  <a:lnTo>
                    <a:pt x="0" y="190500"/>
                  </a:lnTo>
                  <a:lnTo>
                    <a:pt x="12191" y="190500"/>
                  </a:lnTo>
                  <a:lnTo>
                    <a:pt x="13715" y="152400"/>
                  </a:lnTo>
                  <a:close/>
                </a:path>
                <a:path w="13970" h="535304">
                  <a:moveTo>
                    <a:pt x="12191" y="204215"/>
                  </a:moveTo>
                  <a:lnTo>
                    <a:pt x="0" y="204215"/>
                  </a:lnTo>
                  <a:lnTo>
                    <a:pt x="0" y="242315"/>
                  </a:lnTo>
                  <a:lnTo>
                    <a:pt x="12191" y="242315"/>
                  </a:lnTo>
                  <a:lnTo>
                    <a:pt x="12191" y="204215"/>
                  </a:lnTo>
                  <a:close/>
                </a:path>
                <a:path w="13970" h="535304">
                  <a:moveTo>
                    <a:pt x="12191" y="254507"/>
                  </a:moveTo>
                  <a:lnTo>
                    <a:pt x="0" y="254507"/>
                  </a:lnTo>
                  <a:lnTo>
                    <a:pt x="0" y="292607"/>
                  </a:lnTo>
                  <a:lnTo>
                    <a:pt x="12191" y="292607"/>
                  </a:lnTo>
                  <a:lnTo>
                    <a:pt x="12191" y="254507"/>
                  </a:lnTo>
                  <a:close/>
                </a:path>
                <a:path w="13970" h="535304">
                  <a:moveTo>
                    <a:pt x="12191" y="304800"/>
                  </a:moveTo>
                  <a:lnTo>
                    <a:pt x="0" y="304800"/>
                  </a:lnTo>
                  <a:lnTo>
                    <a:pt x="0" y="342899"/>
                  </a:lnTo>
                  <a:lnTo>
                    <a:pt x="12191" y="342899"/>
                  </a:lnTo>
                  <a:lnTo>
                    <a:pt x="12191" y="304800"/>
                  </a:lnTo>
                  <a:close/>
                </a:path>
                <a:path w="13970" h="535304">
                  <a:moveTo>
                    <a:pt x="12191" y="356615"/>
                  </a:moveTo>
                  <a:lnTo>
                    <a:pt x="0" y="356615"/>
                  </a:lnTo>
                  <a:lnTo>
                    <a:pt x="0" y="394715"/>
                  </a:lnTo>
                  <a:lnTo>
                    <a:pt x="12191" y="394715"/>
                  </a:lnTo>
                  <a:lnTo>
                    <a:pt x="12191" y="356615"/>
                  </a:lnTo>
                  <a:close/>
                </a:path>
                <a:path w="13970" h="535304">
                  <a:moveTo>
                    <a:pt x="12191" y="406907"/>
                  </a:moveTo>
                  <a:lnTo>
                    <a:pt x="0" y="406907"/>
                  </a:lnTo>
                  <a:lnTo>
                    <a:pt x="0" y="445007"/>
                  </a:lnTo>
                  <a:lnTo>
                    <a:pt x="12191" y="445007"/>
                  </a:lnTo>
                  <a:lnTo>
                    <a:pt x="12191" y="406907"/>
                  </a:lnTo>
                  <a:close/>
                </a:path>
                <a:path w="13970" h="535304">
                  <a:moveTo>
                    <a:pt x="12191" y="457199"/>
                  </a:moveTo>
                  <a:lnTo>
                    <a:pt x="0" y="457199"/>
                  </a:lnTo>
                  <a:lnTo>
                    <a:pt x="0" y="495299"/>
                  </a:lnTo>
                  <a:lnTo>
                    <a:pt x="12191" y="495299"/>
                  </a:lnTo>
                  <a:lnTo>
                    <a:pt x="12191" y="457199"/>
                  </a:lnTo>
                  <a:close/>
                </a:path>
                <a:path w="13970" h="535304">
                  <a:moveTo>
                    <a:pt x="12191" y="509015"/>
                  </a:moveTo>
                  <a:lnTo>
                    <a:pt x="0" y="509015"/>
                  </a:lnTo>
                  <a:lnTo>
                    <a:pt x="0" y="534923"/>
                  </a:lnTo>
                  <a:lnTo>
                    <a:pt x="12191" y="534923"/>
                  </a:lnTo>
                  <a:lnTo>
                    <a:pt x="12191" y="509015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187" y="3886199"/>
              <a:ext cx="9142730" cy="2971800"/>
            </a:xfrm>
            <a:custGeom>
              <a:avLst/>
              <a:gdLst/>
              <a:ahLst/>
              <a:cxnLst/>
              <a:rect l="l" t="t" r="r" b="b"/>
              <a:pathLst>
                <a:path w="9142730" h="2971800">
                  <a:moveTo>
                    <a:pt x="9142476" y="2970276"/>
                  </a:moveTo>
                  <a:lnTo>
                    <a:pt x="0" y="2970276"/>
                  </a:lnTo>
                  <a:lnTo>
                    <a:pt x="0" y="2971800"/>
                  </a:lnTo>
                  <a:lnTo>
                    <a:pt x="9142476" y="2971800"/>
                  </a:lnTo>
                  <a:lnTo>
                    <a:pt x="9142476" y="2970276"/>
                  </a:lnTo>
                  <a:close/>
                </a:path>
                <a:path w="9142730" h="2971800">
                  <a:moveTo>
                    <a:pt x="9142476" y="0"/>
                  </a:moveTo>
                  <a:lnTo>
                    <a:pt x="0" y="0"/>
                  </a:lnTo>
                  <a:lnTo>
                    <a:pt x="0" y="2906268"/>
                  </a:lnTo>
                  <a:lnTo>
                    <a:pt x="9142476" y="2906268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272" y="5760720"/>
              <a:ext cx="8784335" cy="40233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093719" y="3886200"/>
              <a:ext cx="192405" cy="474345"/>
            </a:xfrm>
            <a:custGeom>
              <a:avLst/>
              <a:gdLst/>
              <a:ahLst/>
              <a:cxnLst/>
              <a:rect l="l" t="t" r="r" b="b"/>
              <a:pathLst>
                <a:path w="192404" h="474345">
                  <a:moveTo>
                    <a:pt x="192404" y="0"/>
                  </a:moveTo>
                  <a:lnTo>
                    <a:pt x="124459" y="0"/>
                  </a:lnTo>
                  <a:lnTo>
                    <a:pt x="121919" y="7620"/>
                  </a:lnTo>
                  <a:lnTo>
                    <a:pt x="117347" y="25908"/>
                  </a:lnTo>
                  <a:lnTo>
                    <a:pt x="111251" y="44196"/>
                  </a:lnTo>
                  <a:lnTo>
                    <a:pt x="106679" y="64008"/>
                  </a:lnTo>
                  <a:lnTo>
                    <a:pt x="100583" y="82296"/>
                  </a:lnTo>
                  <a:lnTo>
                    <a:pt x="96011" y="100584"/>
                  </a:lnTo>
                  <a:lnTo>
                    <a:pt x="89915" y="120396"/>
                  </a:lnTo>
                  <a:lnTo>
                    <a:pt x="85343" y="138684"/>
                  </a:lnTo>
                  <a:lnTo>
                    <a:pt x="79247" y="158496"/>
                  </a:lnTo>
                  <a:lnTo>
                    <a:pt x="74675" y="178308"/>
                  </a:lnTo>
                  <a:lnTo>
                    <a:pt x="68579" y="198120"/>
                  </a:lnTo>
                  <a:lnTo>
                    <a:pt x="64007" y="217932"/>
                  </a:lnTo>
                  <a:lnTo>
                    <a:pt x="57911" y="237744"/>
                  </a:lnTo>
                  <a:lnTo>
                    <a:pt x="53339" y="256032"/>
                  </a:lnTo>
                  <a:lnTo>
                    <a:pt x="47243" y="277368"/>
                  </a:lnTo>
                  <a:lnTo>
                    <a:pt x="42671" y="297180"/>
                  </a:lnTo>
                  <a:lnTo>
                    <a:pt x="36575" y="316992"/>
                  </a:lnTo>
                  <a:lnTo>
                    <a:pt x="32003" y="336804"/>
                  </a:lnTo>
                  <a:lnTo>
                    <a:pt x="25907" y="356616"/>
                  </a:lnTo>
                  <a:lnTo>
                    <a:pt x="21336" y="376427"/>
                  </a:lnTo>
                  <a:lnTo>
                    <a:pt x="15239" y="397763"/>
                  </a:lnTo>
                  <a:lnTo>
                    <a:pt x="10668" y="416051"/>
                  </a:lnTo>
                  <a:lnTo>
                    <a:pt x="4571" y="437387"/>
                  </a:lnTo>
                  <a:lnTo>
                    <a:pt x="0" y="457199"/>
                  </a:lnTo>
                  <a:lnTo>
                    <a:pt x="62483" y="473963"/>
                  </a:lnTo>
                  <a:lnTo>
                    <a:pt x="68579" y="454151"/>
                  </a:lnTo>
                  <a:lnTo>
                    <a:pt x="73151" y="434339"/>
                  </a:lnTo>
                  <a:lnTo>
                    <a:pt x="79247" y="413003"/>
                  </a:lnTo>
                  <a:lnTo>
                    <a:pt x="83819" y="393191"/>
                  </a:lnTo>
                  <a:lnTo>
                    <a:pt x="89915" y="373380"/>
                  </a:lnTo>
                  <a:lnTo>
                    <a:pt x="94487" y="353568"/>
                  </a:lnTo>
                  <a:lnTo>
                    <a:pt x="100583" y="332232"/>
                  </a:lnTo>
                  <a:lnTo>
                    <a:pt x="105155" y="313944"/>
                  </a:lnTo>
                  <a:lnTo>
                    <a:pt x="109727" y="294132"/>
                  </a:lnTo>
                  <a:lnTo>
                    <a:pt x="121919" y="254508"/>
                  </a:lnTo>
                  <a:lnTo>
                    <a:pt x="131063" y="214884"/>
                  </a:lnTo>
                  <a:lnTo>
                    <a:pt x="137159" y="196596"/>
                  </a:lnTo>
                  <a:lnTo>
                    <a:pt x="141731" y="175260"/>
                  </a:lnTo>
                  <a:lnTo>
                    <a:pt x="147827" y="156972"/>
                  </a:lnTo>
                  <a:lnTo>
                    <a:pt x="152399" y="137160"/>
                  </a:lnTo>
                  <a:lnTo>
                    <a:pt x="158495" y="118872"/>
                  </a:lnTo>
                  <a:lnTo>
                    <a:pt x="163067" y="99060"/>
                  </a:lnTo>
                  <a:lnTo>
                    <a:pt x="169163" y="80772"/>
                  </a:lnTo>
                  <a:lnTo>
                    <a:pt x="173735" y="62484"/>
                  </a:lnTo>
                  <a:lnTo>
                    <a:pt x="179831" y="44196"/>
                  </a:lnTo>
                  <a:lnTo>
                    <a:pt x="184403" y="25908"/>
                  </a:lnTo>
                  <a:lnTo>
                    <a:pt x="190499" y="7620"/>
                  </a:lnTo>
                  <a:lnTo>
                    <a:pt x="192404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54576" y="3886200"/>
              <a:ext cx="116966" cy="19202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909047" y="3886199"/>
              <a:ext cx="2231390" cy="1557655"/>
            </a:xfrm>
            <a:custGeom>
              <a:avLst/>
              <a:gdLst/>
              <a:ahLst/>
              <a:cxnLst/>
              <a:rect l="l" t="t" r="r" b="b"/>
              <a:pathLst>
                <a:path w="2231390" h="1557654">
                  <a:moveTo>
                    <a:pt x="877824" y="990600"/>
                  </a:moveTo>
                  <a:lnTo>
                    <a:pt x="815340" y="972312"/>
                  </a:lnTo>
                  <a:lnTo>
                    <a:pt x="809244" y="989076"/>
                  </a:lnTo>
                  <a:lnTo>
                    <a:pt x="800100" y="1022604"/>
                  </a:lnTo>
                  <a:lnTo>
                    <a:pt x="787908" y="1056132"/>
                  </a:lnTo>
                  <a:lnTo>
                    <a:pt x="783336" y="1072896"/>
                  </a:lnTo>
                  <a:lnTo>
                    <a:pt x="778764" y="1088136"/>
                  </a:lnTo>
                  <a:lnTo>
                    <a:pt x="772668" y="1104900"/>
                  </a:lnTo>
                  <a:lnTo>
                    <a:pt x="768096" y="1120140"/>
                  </a:lnTo>
                  <a:lnTo>
                    <a:pt x="762000" y="1135380"/>
                  </a:lnTo>
                  <a:lnTo>
                    <a:pt x="757428" y="1150620"/>
                  </a:lnTo>
                  <a:lnTo>
                    <a:pt x="751332" y="1165860"/>
                  </a:lnTo>
                  <a:lnTo>
                    <a:pt x="746760" y="1179576"/>
                  </a:lnTo>
                  <a:lnTo>
                    <a:pt x="742188" y="1194816"/>
                  </a:lnTo>
                  <a:lnTo>
                    <a:pt x="736092" y="1208532"/>
                  </a:lnTo>
                  <a:lnTo>
                    <a:pt x="731520" y="1222248"/>
                  </a:lnTo>
                  <a:lnTo>
                    <a:pt x="725424" y="1235964"/>
                  </a:lnTo>
                  <a:lnTo>
                    <a:pt x="720852" y="1248156"/>
                  </a:lnTo>
                  <a:lnTo>
                    <a:pt x="714756" y="1261872"/>
                  </a:lnTo>
                  <a:lnTo>
                    <a:pt x="710184" y="1274064"/>
                  </a:lnTo>
                  <a:lnTo>
                    <a:pt x="704088" y="1286256"/>
                  </a:lnTo>
                  <a:lnTo>
                    <a:pt x="699516" y="1298448"/>
                  </a:lnTo>
                  <a:lnTo>
                    <a:pt x="693420" y="1310640"/>
                  </a:lnTo>
                  <a:lnTo>
                    <a:pt x="679704" y="1342644"/>
                  </a:lnTo>
                  <a:lnTo>
                    <a:pt x="673608" y="1353312"/>
                  </a:lnTo>
                  <a:lnTo>
                    <a:pt x="664464" y="1371600"/>
                  </a:lnTo>
                  <a:lnTo>
                    <a:pt x="658368" y="1382268"/>
                  </a:lnTo>
                  <a:lnTo>
                    <a:pt x="652272" y="1391412"/>
                  </a:lnTo>
                  <a:lnTo>
                    <a:pt x="647700" y="1399032"/>
                  </a:lnTo>
                  <a:lnTo>
                    <a:pt x="644652" y="1406652"/>
                  </a:lnTo>
                  <a:lnTo>
                    <a:pt x="638556" y="1415796"/>
                  </a:lnTo>
                  <a:lnTo>
                    <a:pt x="632460" y="1423416"/>
                  </a:lnTo>
                  <a:lnTo>
                    <a:pt x="623316" y="1435608"/>
                  </a:lnTo>
                  <a:lnTo>
                    <a:pt x="618744" y="1443228"/>
                  </a:lnTo>
                  <a:lnTo>
                    <a:pt x="612648" y="1449324"/>
                  </a:lnTo>
                  <a:lnTo>
                    <a:pt x="609600" y="1453896"/>
                  </a:lnTo>
                  <a:lnTo>
                    <a:pt x="592836" y="1470660"/>
                  </a:lnTo>
                  <a:lnTo>
                    <a:pt x="585216" y="1476756"/>
                  </a:lnTo>
                  <a:lnTo>
                    <a:pt x="583692" y="1478280"/>
                  </a:lnTo>
                  <a:lnTo>
                    <a:pt x="574548" y="1484376"/>
                  </a:lnTo>
                  <a:lnTo>
                    <a:pt x="573024" y="1484376"/>
                  </a:lnTo>
                  <a:lnTo>
                    <a:pt x="566928" y="1487424"/>
                  </a:lnTo>
                  <a:lnTo>
                    <a:pt x="562356" y="1488948"/>
                  </a:lnTo>
                  <a:lnTo>
                    <a:pt x="562711" y="1489849"/>
                  </a:lnTo>
                  <a:lnTo>
                    <a:pt x="560832" y="1490472"/>
                  </a:lnTo>
                  <a:lnTo>
                    <a:pt x="557784" y="1490472"/>
                  </a:lnTo>
                  <a:lnTo>
                    <a:pt x="554736" y="1491996"/>
                  </a:lnTo>
                  <a:lnTo>
                    <a:pt x="542544" y="1491996"/>
                  </a:lnTo>
                  <a:lnTo>
                    <a:pt x="536448" y="1490472"/>
                  </a:lnTo>
                  <a:lnTo>
                    <a:pt x="533400" y="1490472"/>
                  </a:lnTo>
                  <a:lnTo>
                    <a:pt x="528828" y="1487424"/>
                  </a:lnTo>
                  <a:lnTo>
                    <a:pt x="527304" y="1487424"/>
                  </a:lnTo>
                  <a:lnTo>
                    <a:pt x="522732" y="1484376"/>
                  </a:lnTo>
                  <a:lnTo>
                    <a:pt x="516636" y="1481328"/>
                  </a:lnTo>
                  <a:lnTo>
                    <a:pt x="515112" y="1481328"/>
                  </a:lnTo>
                  <a:lnTo>
                    <a:pt x="509016" y="1475232"/>
                  </a:lnTo>
                  <a:lnTo>
                    <a:pt x="505968" y="1473708"/>
                  </a:lnTo>
                  <a:lnTo>
                    <a:pt x="487680" y="1455420"/>
                  </a:lnTo>
                  <a:lnTo>
                    <a:pt x="483108" y="1449324"/>
                  </a:lnTo>
                  <a:lnTo>
                    <a:pt x="478536" y="1444752"/>
                  </a:lnTo>
                  <a:lnTo>
                    <a:pt x="473964" y="1437132"/>
                  </a:lnTo>
                  <a:lnTo>
                    <a:pt x="467868" y="1431036"/>
                  </a:lnTo>
                  <a:lnTo>
                    <a:pt x="463296" y="1423416"/>
                  </a:lnTo>
                  <a:lnTo>
                    <a:pt x="457200" y="1415796"/>
                  </a:lnTo>
                  <a:lnTo>
                    <a:pt x="437388" y="1382268"/>
                  </a:lnTo>
                  <a:lnTo>
                    <a:pt x="432816" y="1373124"/>
                  </a:lnTo>
                  <a:lnTo>
                    <a:pt x="428244" y="1365504"/>
                  </a:lnTo>
                  <a:lnTo>
                    <a:pt x="423672" y="1353312"/>
                  </a:lnTo>
                  <a:lnTo>
                    <a:pt x="417576" y="1342644"/>
                  </a:lnTo>
                  <a:lnTo>
                    <a:pt x="413004" y="1333500"/>
                  </a:lnTo>
                  <a:lnTo>
                    <a:pt x="406908" y="1322832"/>
                  </a:lnTo>
                  <a:lnTo>
                    <a:pt x="397764" y="1298448"/>
                  </a:lnTo>
                  <a:lnTo>
                    <a:pt x="391668" y="1287780"/>
                  </a:lnTo>
                  <a:lnTo>
                    <a:pt x="387096" y="1275588"/>
                  </a:lnTo>
                  <a:lnTo>
                    <a:pt x="381000" y="1261872"/>
                  </a:lnTo>
                  <a:lnTo>
                    <a:pt x="376428" y="1249680"/>
                  </a:lnTo>
                  <a:lnTo>
                    <a:pt x="370332" y="1235964"/>
                  </a:lnTo>
                  <a:lnTo>
                    <a:pt x="365760" y="1223772"/>
                  </a:lnTo>
                  <a:lnTo>
                    <a:pt x="361188" y="1208532"/>
                  </a:lnTo>
                  <a:lnTo>
                    <a:pt x="355092" y="1194816"/>
                  </a:lnTo>
                  <a:lnTo>
                    <a:pt x="350520" y="1181100"/>
                  </a:lnTo>
                  <a:lnTo>
                    <a:pt x="344424" y="1165860"/>
                  </a:lnTo>
                  <a:lnTo>
                    <a:pt x="339852" y="1150620"/>
                  </a:lnTo>
                  <a:lnTo>
                    <a:pt x="333756" y="1135380"/>
                  </a:lnTo>
                  <a:lnTo>
                    <a:pt x="333336" y="1135545"/>
                  </a:lnTo>
                  <a:lnTo>
                    <a:pt x="329184" y="1121664"/>
                  </a:lnTo>
                  <a:lnTo>
                    <a:pt x="323088" y="1104900"/>
                  </a:lnTo>
                  <a:lnTo>
                    <a:pt x="318516" y="1088136"/>
                  </a:lnTo>
                  <a:lnTo>
                    <a:pt x="312420" y="1072896"/>
                  </a:lnTo>
                  <a:lnTo>
                    <a:pt x="307848" y="1056132"/>
                  </a:lnTo>
                  <a:lnTo>
                    <a:pt x="301752" y="1039368"/>
                  </a:lnTo>
                  <a:lnTo>
                    <a:pt x="297180" y="1024128"/>
                  </a:lnTo>
                  <a:lnTo>
                    <a:pt x="291084" y="1007364"/>
                  </a:lnTo>
                  <a:lnTo>
                    <a:pt x="286512" y="990600"/>
                  </a:lnTo>
                  <a:lnTo>
                    <a:pt x="281940" y="972312"/>
                  </a:lnTo>
                  <a:lnTo>
                    <a:pt x="275844" y="954024"/>
                  </a:lnTo>
                  <a:lnTo>
                    <a:pt x="271272" y="937260"/>
                  </a:lnTo>
                  <a:lnTo>
                    <a:pt x="265176" y="918972"/>
                  </a:lnTo>
                  <a:lnTo>
                    <a:pt x="260604" y="900684"/>
                  </a:lnTo>
                  <a:lnTo>
                    <a:pt x="254508" y="882396"/>
                  </a:lnTo>
                  <a:lnTo>
                    <a:pt x="249936" y="864108"/>
                  </a:lnTo>
                  <a:lnTo>
                    <a:pt x="243840" y="845820"/>
                  </a:lnTo>
                  <a:lnTo>
                    <a:pt x="239268" y="826008"/>
                  </a:lnTo>
                  <a:lnTo>
                    <a:pt x="233172" y="809244"/>
                  </a:lnTo>
                  <a:lnTo>
                    <a:pt x="228600" y="789432"/>
                  </a:lnTo>
                  <a:lnTo>
                    <a:pt x="222504" y="769620"/>
                  </a:lnTo>
                  <a:lnTo>
                    <a:pt x="217932" y="751332"/>
                  </a:lnTo>
                  <a:lnTo>
                    <a:pt x="211836" y="731520"/>
                  </a:lnTo>
                  <a:lnTo>
                    <a:pt x="207264" y="713232"/>
                  </a:lnTo>
                  <a:lnTo>
                    <a:pt x="201168" y="691896"/>
                  </a:lnTo>
                  <a:lnTo>
                    <a:pt x="196596" y="673608"/>
                  </a:lnTo>
                  <a:lnTo>
                    <a:pt x="190500" y="653796"/>
                  </a:lnTo>
                  <a:lnTo>
                    <a:pt x="185928" y="633984"/>
                  </a:lnTo>
                  <a:lnTo>
                    <a:pt x="179832" y="614172"/>
                  </a:lnTo>
                  <a:lnTo>
                    <a:pt x="175260" y="594360"/>
                  </a:lnTo>
                  <a:lnTo>
                    <a:pt x="169164" y="574548"/>
                  </a:lnTo>
                  <a:lnTo>
                    <a:pt x="164592" y="553212"/>
                  </a:lnTo>
                  <a:lnTo>
                    <a:pt x="158496" y="533400"/>
                  </a:lnTo>
                  <a:lnTo>
                    <a:pt x="153924" y="513588"/>
                  </a:lnTo>
                  <a:lnTo>
                    <a:pt x="147828" y="493776"/>
                  </a:lnTo>
                  <a:lnTo>
                    <a:pt x="143256" y="473964"/>
                  </a:lnTo>
                  <a:lnTo>
                    <a:pt x="137160" y="454152"/>
                  </a:lnTo>
                  <a:lnTo>
                    <a:pt x="132588" y="434340"/>
                  </a:lnTo>
                  <a:lnTo>
                    <a:pt x="126492" y="413004"/>
                  </a:lnTo>
                  <a:lnTo>
                    <a:pt x="121920" y="393192"/>
                  </a:lnTo>
                  <a:lnTo>
                    <a:pt x="115824" y="373380"/>
                  </a:lnTo>
                  <a:lnTo>
                    <a:pt x="111252" y="353568"/>
                  </a:lnTo>
                  <a:lnTo>
                    <a:pt x="105156" y="333756"/>
                  </a:lnTo>
                  <a:lnTo>
                    <a:pt x="100584" y="312420"/>
                  </a:lnTo>
                  <a:lnTo>
                    <a:pt x="94488" y="292608"/>
                  </a:lnTo>
                  <a:lnTo>
                    <a:pt x="89916" y="272796"/>
                  </a:lnTo>
                  <a:lnTo>
                    <a:pt x="83820" y="252984"/>
                  </a:lnTo>
                  <a:lnTo>
                    <a:pt x="79248" y="233172"/>
                  </a:lnTo>
                  <a:lnTo>
                    <a:pt x="73152" y="213360"/>
                  </a:lnTo>
                  <a:lnTo>
                    <a:pt x="68580" y="193548"/>
                  </a:lnTo>
                  <a:lnTo>
                    <a:pt x="62484" y="175260"/>
                  </a:lnTo>
                  <a:lnTo>
                    <a:pt x="0" y="192024"/>
                  </a:lnTo>
                  <a:lnTo>
                    <a:pt x="6096" y="211836"/>
                  </a:lnTo>
                  <a:lnTo>
                    <a:pt x="10668" y="230124"/>
                  </a:lnTo>
                  <a:lnTo>
                    <a:pt x="16764" y="251460"/>
                  </a:lnTo>
                  <a:lnTo>
                    <a:pt x="21336" y="269748"/>
                  </a:lnTo>
                  <a:lnTo>
                    <a:pt x="27432" y="289560"/>
                  </a:lnTo>
                  <a:lnTo>
                    <a:pt x="32004" y="309372"/>
                  </a:lnTo>
                  <a:lnTo>
                    <a:pt x="38100" y="330708"/>
                  </a:lnTo>
                  <a:lnTo>
                    <a:pt x="42672" y="348996"/>
                  </a:lnTo>
                  <a:lnTo>
                    <a:pt x="48768" y="370332"/>
                  </a:lnTo>
                  <a:lnTo>
                    <a:pt x="53340" y="390144"/>
                  </a:lnTo>
                  <a:lnTo>
                    <a:pt x="59436" y="409956"/>
                  </a:lnTo>
                  <a:lnTo>
                    <a:pt x="64008" y="429768"/>
                  </a:lnTo>
                  <a:lnTo>
                    <a:pt x="70104" y="449580"/>
                  </a:lnTo>
                  <a:lnTo>
                    <a:pt x="74676" y="469392"/>
                  </a:lnTo>
                  <a:lnTo>
                    <a:pt x="80772" y="490728"/>
                  </a:lnTo>
                  <a:lnTo>
                    <a:pt x="85344" y="510540"/>
                  </a:lnTo>
                  <a:lnTo>
                    <a:pt x="91440" y="530352"/>
                  </a:lnTo>
                  <a:lnTo>
                    <a:pt x="96012" y="551688"/>
                  </a:lnTo>
                  <a:lnTo>
                    <a:pt x="102108" y="569976"/>
                  </a:lnTo>
                  <a:lnTo>
                    <a:pt x="106680" y="591312"/>
                  </a:lnTo>
                  <a:lnTo>
                    <a:pt x="112776" y="611124"/>
                  </a:lnTo>
                  <a:lnTo>
                    <a:pt x="117348" y="630936"/>
                  </a:lnTo>
                  <a:lnTo>
                    <a:pt x="123444" y="650748"/>
                  </a:lnTo>
                  <a:lnTo>
                    <a:pt x="132588" y="690372"/>
                  </a:lnTo>
                  <a:lnTo>
                    <a:pt x="138684" y="710184"/>
                  </a:lnTo>
                  <a:lnTo>
                    <a:pt x="144780" y="728472"/>
                  </a:lnTo>
                  <a:lnTo>
                    <a:pt x="153924" y="768096"/>
                  </a:lnTo>
                  <a:lnTo>
                    <a:pt x="160020" y="787908"/>
                  </a:lnTo>
                  <a:lnTo>
                    <a:pt x="166116" y="806196"/>
                  </a:lnTo>
                  <a:lnTo>
                    <a:pt x="170688" y="826008"/>
                  </a:lnTo>
                  <a:lnTo>
                    <a:pt x="176784" y="844296"/>
                  </a:lnTo>
                  <a:lnTo>
                    <a:pt x="181356" y="862584"/>
                  </a:lnTo>
                  <a:lnTo>
                    <a:pt x="187452" y="882396"/>
                  </a:lnTo>
                  <a:lnTo>
                    <a:pt x="192024" y="900684"/>
                  </a:lnTo>
                  <a:lnTo>
                    <a:pt x="198120" y="918972"/>
                  </a:lnTo>
                  <a:lnTo>
                    <a:pt x="202692" y="937260"/>
                  </a:lnTo>
                  <a:lnTo>
                    <a:pt x="208788" y="955548"/>
                  </a:lnTo>
                  <a:lnTo>
                    <a:pt x="213360" y="973836"/>
                  </a:lnTo>
                  <a:lnTo>
                    <a:pt x="219456" y="992124"/>
                  </a:lnTo>
                  <a:lnTo>
                    <a:pt x="224028" y="1008888"/>
                  </a:lnTo>
                  <a:lnTo>
                    <a:pt x="230124" y="1025652"/>
                  </a:lnTo>
                  <a:lnTo>
                    <a:pt x="234696" y="1042416"/>
                  </a:lnTo>
                  <a:lnTo>
                    <a:pt x="240792" y="1060704"/>
                  </a:lnTo>
                  <a:lnTo>
                    <a:pt x="245364" y="1075944"/>
                  </a:lnTo>
                  <a:lnTo>
                    <a:pt x="257556" y="1109472"/>
                  </a:lnTo>
                  <a:lnTo>
                    <a:pt x="262128" y="1124712"/>
                  </a:lnTo>
                  <a:lnTo>
                    <a:pt x="266700" y="1141476"/>
                  </a:lnTo>
                  <a:lnTo>
                    <a:pt x="272796" y="1156716"/>
                  </a:lnTo>
                  <a:lnTo>
                    <a:pt x="303276" y="1146810"/>
                  </a:lnTo>
                  <a:lnTo>
                    <a:pt x="272796" y="1158240"/>
                  </a:lnTo>
                  <a:lnTo>
                    <a:pt x="278892" y="1173480"/>
                  </a:lnTo>
                  <a:lnTo>
                    <a:pt x="283464" y="1187196"/>
                  </a:lnTo>
                  <a:lnTo>
                    <a:pt x="288036" y="1202436"/>
                  </a:lnTo>
                  <a:lnTo>
                    <a:pt x="300228" y="1232916"/>
                  </a:lnTo>
                  <a:lnTo>
                    <a:pt x="304800" y="1246632"/>
                  </a:lnTo>
                  <a:lnTo>
                    <a:pt x="310896" y="1260348"/>
                  </a:lnTo>
                  <a:lnTo>
                    <a:pt x="315468" y="1272540"/>
                  </a:lnTo>
                  <a:lnTo>
                    <a:pt x="321564" y="1287780"/>
                  </a:lnTo>
                  <a:lnTo>
                    <a:pt x="326136" y="1299972"/>
                  </a:lnTo>
                  <a:lnTo>
                    <a:pt x="332232" y="1312164"/>
                  </a:lnTo>
                  <a:lnTo>
                    <a:pt x="342900" y="1336548"/>
                  </a:lnTo>
                  <a:lnTo>
                    <a:pt x="347472" y="1348740"/>
                  </a:lnTo>
                  <a:lnTo>
                    <a:pt x="364236" y="1382268"/>
                  </a:lnTo>
                  <a:lnTo>
                    <a:pt x="376428" y="1403604"/>
                  </a:lnTo>
                  <a:lnTo>
                    <a:pt x="381000" y="1414272"/>
                  </a:lnTo>
                  <a:lnTo>
                    <a:pt x="387096" y="1423416"/>
                  </a:lnTo>
                  <a:lnTo>
                    <a:pt x="391668" y="1432560"/>
                  </a:lnTo>
                  <a:lnTo>
                    <a:pt x="397764" y="1443228"/>
                  </a:lnTo>
                  <a:lnTo>
                    <a:pt x="403860" y="1452372"/>
                  </a:lnTo>
                  <a:lnTo>
                    <a:pt x="408432" y="1459992"/>
                  </a:lnTo>
                  <a:lnTo>
                    <a:pt x="414528" y="1467612"/>
                  </a:lnTo>
                  <a:lnTo>
                    <a:pt x="420624" y="1476756"/>
                  </a:lnTo>
                  <a:lnTo>
                    <a:pt x="426720" y="1482852"/>
                  </a:lnTo>
                  <a:lnTo>
                    <a:pt x="432816" y="1490472"/>
                  </a:lnTo>
                  <a:lnTo>
                    <a:pt x="437388" y="1496568"/>
                  </a:lnTo>
                  <a:lnTo>
                    <a:pt x="461772" y="1520952"/>
                  </a:lnTo>
                  <a:lnTo>
                    <a:pt x="469392" y="1527048"/>
                  </a:lnTo>
                  <a:lnTo>
                    <a:pt x="473964" y="1531620"/>
                  </a:lnTo>
                  <a:lnTo>
                    <a:pt x="483108" y="1536192"/>
                  </a:lnTo>
                  <a:lnTo>
                    <a:pt x="487680" y="1540764"/>
                  </a:lnTo>
                  <a:lnTo>
                    <a:pt x="495300" y="1543812"/>
                  </a:lnTo>
                  <a:lnTo>
                    <a:pt x="504444" y="1548384"/>
                  </a:lnTo>
                  <a:lnTo>
                    <a:pt x="522732" y="1554480"/>
                  </a:lnTo>
                  <a:lnTo>
                    <a:pt x="530352" y="1556004"/>
                  </a:lnTo>
                  <a:lnTo>
                    <a:pt x="539496" y="1557528"/>
                  </a:lnTo>
                  <a:lnTo>
                    <a:pt x="553212" y="1557528"/>
                  </a:lnTo>
                  <a:lnTo>
                    <a:pt x="562356" y="1556004"/>
                  </a:lnTo>
                  <a:lnTo>
                    <a:pt x="569976" y="1554480"/>
                  </a:lnTo>
                  <a:lnTo>
                    <a:pt x="579120" y="1552956"/>
                  </a:lnTo>
                  <a:lnTo>
                    <a:pt x="583692" y="1551432"/>
                  </a:lnTo>
                  <a:lnTo>
                    <a:pt x="573709" y="1517357"/>
                  </a:lnTo>
                  <a:lnTo>
                    <a:pt x="586740" y="1549908"/>
                  </a:lnTo>
                  <a:lnTo>
                    <a:pt x="592836" y="1546860"/>
                  </a:lnTo>
                  <a:lnTo>
                    <a:pt x="597408" y="1545336"/>
                  </a:lnTo>
                  <a:lnTo>
                    <a:pt x="606552" y="1540764"/>
                  </a:lnTo>
                  <a:lnTo>
                    <a:pt x="612648" y="1536192"/>
                  </a:lnTo>
                  <a:lnTo>
                    <a:pt x="618744" y="1533144"/>
                  </a:lnTo>
                  <a:lnTo>
                    <a:pt x="626364" y="1527048"/>
                  </a:lnTo>
                  <a:lnTo>
                    <a:pt x="658368" y="1498092"/>
                  </a:lnTo>
                  <a:lnTo>
                    <a:pt x="669036" y="1484376"/>
                  </a:lnTo>
                  <a:lnTo>
                    <a:pt x="675132" y="1476756"/>
                  </a:lnTo>
                  <a:lnTo>
                    <a:pt x="681228" y="1467612"/>
                  </a:lnTo>
                  <a:lnTo>
                    <a:pt x="687324" y="1459992"/>
                  </a:lnTo>
                  <a:lnTo>
                    <a:pt x="691896" y="1450848"/>
                  </a:lnTo>
                  <a:lnTo>
                    <a:pt x="697992" y="1443228"/>
                  </a:lnTo>
                  <a:lnTo>
                    <a:pt x="704088" y="1434084"/>
                  </a:lnTo>
                  <a:lnTo>
                    <a:pt x="708660" y="1423416"/>
                  </a:lnTo>
                  <a:lnTo>
                    <a:pt x="720852" y="1405128"/>
                  </a:lnTo>
                  <a:lnTo>
                    <a:pt x="725424" y="1394460"/>
                  </a:lnTo>
                  <a:lnTo>
                    <a:pt x="731520" y="1382268"/>
                  </a:lnTo>
                  <a:lnTo>
                    <a:pt x="737616" y="1371600"/>
                  </a:lnTo>
                  <a:lnTo>
                    <a:pt x="742188" y="1360932"/>
                  </a:lnTo>
                  <a:lnTo>
                    <a:pt x="748284" y="1348740"/>
                  </a:lnTo>
                  <a:lnTo>
                    <a:pt x="752856" y="1336548"/>
                  </a:lnTo>
                  <a:lnTo>
                    <a:pt x="758952" y="1325880"/>
                  </a:lnTo>
                  <a:lnTo>
                    <a:pt x="765048" y="1312164"/>
                  </a:lnTo>
                  <a:lnTo>
                    <a:pt x="769620" y="1299972"/>
                  </a:lnTo>
                  <a:lnTo>
                    <a:pt x="775716" y="1286256"/>
                  </a:lnTo>
                  <a:lnTo>
                    <a:pt x="780288" y="1274064"/>
                  </a:lnTo>
                  <a:lnTo>
                    <a:pt x="786384" y="1258824"/>
                  </a:lnTo>
                  <a:lnTo>
                    <a:pt x="790956" y="1246632"/>
                  </a:lnTo>
                  <a:lnTo>
                    <a:pt x="797052" y="1231392"/>
                  </a:lnTo>
                  <a:lnTo>
                    <a:pt x="801624" y="1217676"/>
                  </a:lnTo>
                  <a:lnTo>
                    <a:pt x="813816" y="1187196"/>
                  </a:lnTo>
                  <a:lnTo>
                    <a:pt x="818388" y="1171956"/>
                  </a:lnTo>
                  <a:lnTo>
                    <a:pt x="824484" y="1156716"/>
                  </a:lnTo>
                  <a:lnTo>
                    <a:pt x="829056" y="1141476"/>
                  </a:lnTo>
                  <a:lnTo>
                    <a:pt x="835152" y="1124712"/>
                  </a:lnTo>
                  <a:lnTo>
                    <a:pt x="839724" y="1109472"/>
                  </a:lnTo>
                  <a:lnTo>
                    <a:pt x="845820" y="1092708"/>
                  </a:lnTo>
                  <a:lnTo>
                    <a:pt x="850392" y="1075944"/>
                  </a:lnTo>
                  <a:lnTo>
                    <a:pt x="856488" y="1059180"/>
                  </a:lnTo>
                  <a:lnTo>
                    <a:pt x="861060" y="1043940"/>
                  </a:lnTo>
                  <a:lnTo>
                    <a:pt x="867156" y="1025652"/>
                  </a:lnTo>
                  <a:lnTo>
                    <a:pt x="871728" y="1008888"/>
                  </a:lnTo>
                  <a:lnTo>
                    <a:pt x="877824" y="990600"/>
                  </a:lnTo>
                  <a:close/>
                </a:path>
                <a:path w="2231390" h="1557654">
                  <a:moveTo>
                    <a:pt x="1149858" y="0"/>
                  </a:moveTo>
                  <a:lnTo>
                    <a:pt x="1138682" y="0"/>
                  </a:lnTo>
                  <a:lnTo>
                    <a:pt x="1081532" y="0"/>
                  </a:lnTo>
                  <a:lnTo>
                    <a:pt x="1080516" y="3048"/>
                  </a:lnTo>
                  <a:lnTo>
                    <a:pt x="1075944" y="21336"/>
                  </a:lnTo>
                  <a:lnTo>
                    <a:pt x="1069848" y="41148"/>
                  </a:lnTo>
                  <a:lnTo>
                    <a:pt x="1065276" y="59436"/>
                  </a:lnTo>
                  <a:lnTo>
                    <a:pt x="1059180" y="77724"/>
                  </a:lnTo>
                  <a:lnTo>
                    <a:pt x="1054608" y="97536"/>
                  </a:lnTo>
                  <a:lnTo>
                    <a:pt x="1048512" y="115824"/>
                  </a:lnTo>
                  <a:lnTo>
                    <a:pt x="1043940" y="135636"/>
                  </a:lnTo>
                  <a:lnTo>
                    <a:pt x="1037844" y="153924"/>
                  </a:lnTo>
                  <a:lnTo>
                    <a:pt x="1033272" y="173736"/>
                  </a:lnTo>
                  <a:lnTo>
                    <a:pt x="1027176" y="193548"/>
                  </a:lnTo>
                  <a:lnTo>
                    <a:pt x="1018032" y="233172"/>
                  </a:lnTo>
                  <a:lnTo>
                    <a:pt x="1005840" y="272796"/>
                  </a:lnTo>
                  <a:lnTo>
                    <a:pt x="996696" y="312420"/>
                  </a:lnTo>
                  <a:lnTo>
                    <a:pt x="984504" y="352044"/>
                  </a:lnTo>
                  <a:lnTo>
                    <a:pt x="979932" y="371856"/>
                  </a:lnTo>
                  <a:lnTo>
                    <a:pt x="973836" y="393192"/>
                  </a:lnTo>
                  <a:lnTo>
                    <a:pt x="969264" y="413004"/>
                  </a:lnTo>
                  <a:lnTo>
                    <a:pt x="963168" y="432816"/>
                  </a:lnTo>
                  <a:lnTo>
                    <a:pt x="958596" y="452628"/>
                  </a:lnTo>
                  <a:lnTo>
                    <a:pt x="952500" y="473964"/>
                  </a:lnTo>
                  <a:lnTo>
                    <a:pt x="947928" y="493776"/>
                  </a:lnTo>
                  <a:lnTo>
                    <a:pt x="941832" y="513588"/>
                  </a:lnTo>
                  <a:lnTo>
                    <a:pt x="937260" y="533400"/>
                  </a:lnTo>
                  <a:lnTo>
                    <a:pt x="931164" y="553212"/>
                  </a:lnTo>
                  <a:lnTo>
                    <a:pt x="926592" y="573024"/>
                  </a:lnTo>
                  <a:lnTo>
                    <a:pt x="922020" y="594360"/>
                  </a:lnTo>
                  <a:lnTo>
                    <a:pt x="915924" y="612648"/>
                  </a:lnTo>
                  <a:lnTo>
                    <a:pt x="909828" y="633984"/>
                  </a:lnTo>
                  <a:lnTo>
                    <a:pt x="905256" y="653796"/>
                  </a:lnTo>
                  <a:lnTo>
                    <a:pt x="900684" y="672084"/>
                  </a:lnTo>
                  <a:lnTo>
                    <a:pt x="894588" y="691896"/>
                  </a:lnTo>
                  <a:lnTo>
                    <a:pt x="890016" y="711708"/>
                  </a:lnTo>
                  <a:lnTo>
                    <a:pt x="883920" y="731520"/>
                  </a:lnTo>
                  <a:lnTo>
                    <a:pt x="879348" y="749808"/>
                  </a:lnTo>
                  <a:lnTo>
                    <a:pt x="873252" y="769620"/>
                  </a:lnTo>
                  <a:lnTo>
                    <a:pt x="868680" y="787908"/>
                  </a:lnTo>
                  <a:lnTo>
                    <a:pt x="862584" y="807720"/>
                  </a:lnTo>
                  <a:lnTo>
                    <a:pt x="858012" y="826008"/>
                  </a:lnTo>
                  <a:lnTo>
                    <a:pt x="851916" y="845820"/>
                  </a:lnTo>
                  <a:lnTo>
                    <a:pt x="847344" y="864108"/>
                  </a:lnTo>
                  <a:lnTo>
                    <a:pt x="841248" y="882396"/>
                  </a:lnTo>
                  <a:lnTo>
                    <a:pt x="836676" y="899160"/>
                  </a:lnTo>
                  <a:lnTo>
                    <a:pt x="830580" y="918972"/>
                  </a:lnTo>
                  <a:lnTo>
                    <a:pt x="826008" y="935736"/>
                  </a:lnTo>
                  <a:lnTo>
                    <a:pt x="821436" y="954024"/>
                  </a:lnTo>
                  <a:lnTo>
                    <a:pt x="815340" y="970788"/>
                  </a:lnTo>
                  <a:lnTo>
                    <a:pt x="877824" y="990600"/>
                  </a:lnTo>
                  <a:lnTo>
                    <a:pt x="882396" y="973836"/>
                  </a:lnTo>
                  <a:lnTo>
                    <a:pt x="888492" y="955548"/>
                  </a:lnTo>
                  <a:lnTo>
                    <a:pt x="893064" y="937260"/>
                  </a:lnTo>
                  <a:lnTo>
                    <a:pt x="899160" y="918972"/>
                  </a:lnTo>
                  <a:lnTo>
                    <a:pt x="903732" y="900684"/>
                  </a:lnTo>
                  <a:lnTo>
                    <a:pt x="909828" y="880872"/>
                  </a:lnTo>
                  <a:lnTo>
                    <a:pt x="914400" y="862584"/>
                  </a:lnTo>
                  <a:lnTo>
                    <a:pt x="920496" y="844296"/>
                  </a:lnTo>
                  <a:lnTo>
                    <a:pt x="925068" y="824484"/>
                  </a:lnTo>
                  <a:lnTo>
                    <a:pt x="931164" y="806196"/>
                  </a:lnTo>
                  <a:lnTo>
                    <a:pt x="935736" y="787908"/>
                  </a:lnTo>
                  <a:lnTo>
                    <a:pt x="941832" y="768096"/>
                  </a:lnTo>
                  <a:lnTo>
                    <a:pt x="946404" y="748284"/>
                  </a:lnTo>
                  <a:lnTo>
                    <a:pt x="952500" y="728472"/>
                  </a:lnTo>
                  <a:lnTo>
                    <a:pt x="957072" y="708660"/>
                  </a:lnTo>
                  <a:lnTo>
                    <a:pt x="963168" y="690372"/>
                  </a:lnTo>
                  <a:lnTo>
                    <a:pt x="967740" y="670560"/>
                  </a:lnTo>
                  <a:lnTo>
                    <a:pt x="973836" y="650748"/>
                  </a:lnTo>
                  <a:lnTo>
                    <a:pt x="978408" y="630936"/>
                  </a:lnTo>
                  <a:lnTo>
                    <a:pt x="984504" y="609600"/>
                  </a:lnTo>
                  <a:lnTo>
                    <a:pt x="989076" y="589788"/>
                  </a:lnTo>
                  <a:lnTo>
                    <a:pt x="995172" y="569976"/>
                  </a:lnTo>
                  <a:lnTo>
                    <a:pt x="999744" y="550164"/>
                  </a:lnTo>
                  <a:lnTo>
                    <a:pt x="1005840" y="530352"/>
                  </a:lnTo>
                  <a:lnTo>
                    <a:pt x="1010412" y="510540"/>
                  </a:lnTo>
                  <a:lnTo>
                    <a:pt x="1016508" y="489204"/>
                  </a:lnTo>
                  <a:lnTo>
                    <a:pt x="1021080" y="469392"/>
                  </a:lnTo>
                  <a:lnTo>
                    <a:pt x="1027176" y="449580"/>
                  </a:lnTo>
                  <a:lnTo>
                    <a:pt x="1031748" y="429768"/>
                  </a:lnTo>
                  <a:lnTo>
                    <a:pt x="1037844" y="408432"/>
                  </a:lnTo>
                  <a:lnTo>
                    <a:pt x="1042416" y="390144"/>
                  </a:lnTo>
                  <a:lnTo>
                    <a:pt x="1048512" y="368808"/>
                  </a:lnTo>
                  <a:lnTo>
                    <a:pt x="1053084" y="348996"/>
                  </a:lnTo>
                  <a:lnTo>
                    <a:pt x="1059180" y="329184"/>
                  </a:lnTo>
                  <a:lnTo>
                    <a:pt x="1063752" y="309372"/>
                  </a:lnTo>
                  <a:lnTo>
                    <a:pt x="1069848" y="289560"/>
                  </a:lnTo>
                  <a:lnTo>
                    <a:pt x="1074420" y="269748"/>
                  </a:lnTo>
                  <a:lnTo>
                    <a:pt x="1080516" y="249936"/>
                  </a:lnTo>
                  <a:lnTo>
                    <a:pt x="1085088" y="230124"/>
                  </a:lnTo>
                  <a:lnTo>
                    <a:pt x="1091184" y="210312"/>
                  </a:lnTo>
                  <a:lnTo>
                    <a:pt x="1095756" y="192024"/>
                  </a:lnTo>
                  <a:lnTo>
                    <a:pt x="1101852" y="172212"/>
                  </a:lnTo>
                  <a:lnTo>
                    <a:pt x="1106424" y="152400"/>
                  </a:lnTo>
                  <a:lnTo>
                    <a:pt x="1112520" y="132588"/>
                  </a:lnTo>
                  <a:lnTo>
                    <a:pt x="1117092" y="114300"/>
                  </a:lnTo>
                  <a:lnTo>
                    <a:pt x="1123188" y="96012"/>
                  </a:lnTo>
                  <a:lnTo>
                    <a:pt x="1127760" y="76200"/>
                  </a:lnTo>
                  <a:lnTo>
                    <a:pt x="1132332" y="57912"/>
                  </a:lnTo>
                  <a:lnTo>
                    <a:pt x="1138428" y="39624"/>
                  </a:lnTo>
                  <a:lnTo>
                    <a:pt x="1143000" y="21336"/>
                  </a:lnTo>
                  <a:lnTo>
                    <a:pt x="1149096" y="3048"/>
                  </a:lnTo>
                  <a:lnTo>
                    <a:pt x="1149858" y="0"/>
                  </a:lnTo>
                  <a:close/>
                </a:path>
                <a:path w="2231390" h="1557654">
                  <a:moveTo>
                    <a:pt x="2231136" y="1415796"/>
                  </a:moveTo>
                  <a:lnTo>
                    <a:pt x="2226564" y="1409700"/>
                  </a:lnTo>
                  <a:lnTo>
                    <a:pt x="2221992" y="1400556"/>
                  </a:lnTo>
                  <a:lnTo>
                    <a:pt x="2215896" y="1391412"/>
                  </a:lnTo>
                  <a:lnTo>
                    <a:pt x="2205228" y="1373124"/>
                  </a:lnTo>
                  <a:lnTo>
                    <a:pt x="2196084" y="1354836"/>
                  </a:lnTo>
                  <a:lnTo>
                    <a:pt x="2189988" y="1345692"/>
                  </a:lnTo>
                  <a:lnTo>
                    <a:pt x="2185416" y="1333500"/>
                  </a:lnTo>
                  <a:lnTo>
                    <a:pt x="2168652" y="1299972"/>
                  </a:lnTo>
                  <a:lnTo>
                    <a:pt x="2164080" y="1289304"/>
                  </a:lnTo>
                  <a:lnTo>
                    <a:pt x="2159508" y="1275588"/>
                  </a:lnTo>
                  <a:lnTo>
                    <a:pt x="2153412" y="1263396"/>
                  </a:lnTo>
                  <a:lnTo>
                    <a:pt x="2148840" y="1251204"/>
                  </a:lnTo>
                  <a:lnTo>
                    <a:pt x="2142744" y="1237488"/>
                  </a:lnTo>
                  <a:lnTo>
                    <a:pt x="2138172" y="1223772"/>
                  </a:lnTo>
                  <a:lnTo>
                    <a:pt x="2132076" y="1210056"/>
                  </a:lnTo>
                  <a:lnTo>
                    <a:pt x="2122932" y="1182624"/>
                  </a:lnTo>
                  <a:lnTo>
                    <a:pt x="2116836" y="1167384"/>
                  </a:lnTo>
                  <a:lnTo>
                    <a:pt x="2112264" y="1152144"/>
                  </a:lnTo>
                  <a:lnTo>
                    <a:pt x="2106168" y="1138428"/>
                  </a:lnTo>
                  <a:lnTo>
                    <a:pt x="2101596" y="1121664"/>
                  </a:lnTo>
                  <a:lnTo>
                    <a:pt x="2095500" y="1107948"/>
                  </a:lnTo>
                  <a:lnTo>
                    <a:pt x="2090928" y="1091184"/>
                  </a:lnTo>
                  <a:lnTo>
                    <a:pt x="2084832" y="1075944"/>
                  </a:lnTo>
                  <a:lnTo>
                    <a:pt x="2080260" y="1059180"/>
                  </a:lnTo>
                  <a:lnTo>
                    <a:pt x="2074164" y="1042416"/>
                  </a:lnTo>
                  <a:lnTo>
                    <a:pt x="2065020" y="1008888"/>
                  </a:lnTo>
                  <a:lnTo>
                    <a:pt x="2058924" y="990600"/>
                  </a:lnTo>
                  <a:lnTo>
                    <a:pt x="2054352" y="975360"/>
                  </a:lnTo>
                  <a:lnTo>
                    <a:pt x="2048256" y="957072"/>
                  </a:lnTo>
                  <a:lnTo>
                    <a:pt x="2043684" y="938784"/>
                  </a:lnTo>
                  <a:lnTo>
                    <a:pt x="2037588" y="922020"/>
                  </a:lnTo>
                  <a:lnTo>
                    <a:pt x="2033016" y="903732"/>
                  </a:lnTo>
                  <a:lnTo>
                    <a:pt x="2026920" y="885444"/>
                  </a:lnTo>
                  <a:lnTo>
                    <a:pt x="2022348" y="867156"/>
                  </a:lnTo>
                  <a:lnTo>
                    <a:pt x="2016252" y="848868"/>
                  </a:lnTo>
                  <a:lnTo>
                    <a:pt x="2011680" y="829056"/>
                  </a:lnTo>
                  <a:lnTo>
                    <a:pt x="2005584" y="810768"/>
                  </a:lnTo>
                  <a:lnTo>
                    <a:pt x="2001012" y="790956"/>
                  </a:lnTo>
                  <a:lnTo>
                    <a:pt x="1994916" y="772668"/>
                  </a:lnTo>
                  <a:lnTo>
                    <a:pt x="1990344" y="754380"/>
                  </a:lnTo>
                  <a:lnTo>
                    <a:pt x="1984248" y="734568"/>
                  </a:lnTo>
                  <a:lnTo>
                    <a:pt x="1979676" y="714756"/>
                  </a:lnTo>
                  <a:lnTo>
                    <a:pt x="1973580" y="694944"/>
                  </a:lnTo>
                  <a:lnTo>
                    <a:pt x="1969008" y="676656"/>
                  </a:lnTo>
                  <a:lnTo>
                    <a:pt x="1962912" y="656844"/>
                  </a:lnTo>
                  <a:lnTo>
                    <a:pt x="1958340" y="637032"/>
                  </a:lnTo>
                  <a:lnTo>
                    <a:pt x="1952244" y="617220"/>
                  </a:lnTo>
                  <a:lnTo>
                    <a:pt x="1947672" y="597408"/>
                  </a:lnTo>
                  <a:lnTo>
                    <a:pt x="1941576" y="576072"/>
                  </a:lnTo>
                  <a:lnTo>
                    <a:pt x="1937004" y="557784"/>
                  </a:lnTo>
                  <a:lnTo>
                    <a:pt x="1930908" y="536448"/>
                  </a:lnTo>
                  <a:lnTo>
                    <a:pt x="1926336" y="518160"/>
                  </a:lnTo>
                  <a:lnTo>
                    <a:pt x="1920240" y="496824"/>
                  </a:lnTo>
                  <a:lnTo>
                    <a:pt x="1915668" y="477012"/>
                  </a:lnTo>
                  <a:lnTo>
                    <a:pt x="1909572" y="457200"/>
                  </a:lnTo>
                  <a:lnTo>
                    <a:pt x="1905000" y="437388"/>
                  </a:lnTo>
                  <a:lnTo>
                    <a:pt x="1898904" y="416052"/>
                  </a:lnTo>
                  <a:lnTo>
                    <a:pt x="1889760" y="376428"/>
                  </a:lnTo>
                  <a:lnTo>
                    <a:pt x="1883664" y="355092"/>
                  </a:lnTo>
                  <a:lnTo>
                    <a:pt x="1879092" y="335280"/>
                  </a:lnTo>
                  <a:lnTo>
                    <a:pt x="1872996" y="316992"/>
                  </a:lnTo>
                  <a:lnTo>
                    <a:pt x="1868424" y="295656"/>
                  </a:lnTo>
                  <a:lnTo>
                    <a:pt x="1856232" y="256032"/>
                  </a:lnTo>
                  <a:lnTo>
                    <a:pt x="1847088" y="216408"/>
                  </a:lnTo>
                  <a:lnTo>
                    <a:pt x="1840992" y="196596"/>
                  </a:lnTo>
                  <a:lnTo>
                    <a:pt x="1834896" y="178308"/>
                  </a:lnTo>
                  <a:lnTo>
                    <a:pt x="1825752" y="138684"/>
                  </a:lnTo>
                  <a:lnTo>
                    <a:pt x="1819656" y="118872"/>
                  </a:lnTo>
                  <a:lnTo>
                    <a:pt x="1815084" y="100584"/>
                  </a:lnTo>
                  <a:lnTo>
                    <a:pt x="1808988" y="80772"/>
                  </a:lnTo>
                  <a:lnTo>
                    <a:pt x="1804416" y="62484"/>
                  </a:lnTo>
                  <a:lnTo>
                    <a:pt x="1798320" y="42672"/>
                  </a:lnTo>
                  <a:lnTo>
                    <a:pt x="1792224" y="24384"/>
                  </a:lnTo>
                  <a:lnTo>
                    <a:pt x="1786128" y="0"/>
                  </a:lnTo>
                  <a:lnTo>
                    <a:pt x="1718259" y="0"/>
                  </a:lnTo>
                  <a:lnTo>
                    <a:pt x="1720596" y="7620"/>
                  </a:lnTo>
                  <a:lnTo>
                    <a:pt x="1725168" y="24384"/>
                  </a:lnTo>
                  <a:lnTo>
                    <a:pt x="1729740" y="42672"/>
                  </a:lnTo>
                  <a:lnTo>
                    <a:pt x="1735836" y="62484"/>
                  </a:lnTo>
                  <a:lnTo>
                    <a:pt x="1740408" y="79248"/>
                  </a:lnTo>
                  <a:lnTo>
                    <a:pt x="1746504" y="99060"/>
                  </a:lnTo>
                  <a:lnTo>
                    <a:pt x="1751076" y="117348"/>
                  </a:lnTo>
                  <a:lnTo>
                    <a:pt x="1757172" y="137160"/>
                  </a:lnTo>
                  <a:lnTo>
                    <a:pt x="1761744" y="155448"/>
                  </a:lnTo>
                  <a:lnTo>
                    <a:pt x="1767840" y="175260"/>
                  </a:lnTo>
                  <a:lnTo>
                    <a:pt x="1772412" y="195072"/>
                  </a:lnTo>
                  <a:lnTo>
                    <a:pt x="1778508" y="214884"/>
                  </a:lnTo>
                  <a:lnTo>
                    <a:pt x="1783080" y="233172"/>
                  </a:lnTo>
                  <a:lnTo>
                    <a:pt x="1789176" y="252984"/>
                  </a:lnTo>
                  <a:lnTo>
                    <a:pt x="1793748" y="272796"/>
                  </a:lnTo>
                  <a:lnTo>
                    <a:pt x="1799844" y="292608"/>
                  </a:lnTo>
                  <a:lnTo>
                    <a:pt x="1804416" y="312420"/>
                  </a:lnTo>
                  <a:lnTo>
                    <a:pt x="1810512" y="332232"/>
                  </a:lnTo>
                  <a:lnTo>
                    <a:pt x="1815084" y="353568"/>
                  </a:lnTo>
                  <a:lnTo>
                    <a:pt x="1821180" y="371856"/>
                  </a:lnTo>
                  <a:lnTo>
                    <a:pt x="1825752" y="393192"/>
                  </a:lnTo>
                  <a:lnTo>
                    <a:pt x="1831848" y="413004"/>
                  </a:lnTo>
                  <a:lnTo>
                    <a:pt x="1836420" y="432816"/>
                  </a:lnTo>
                  <a:lnTo>
                    <a:pt x="1842516" y="452628"/>
                  </a:lnTo>
                  <a:lnTo>
                    <a:pt x="1847088" y="473964"/>
                  </a:lnTo>
                  <a:lnTo>
                    <a:pt x="1853184" y="493776"/>
                  </a:lnTo>
                  <a:lnTo>
                    <a:pt x="1857756" y="513588"/>
                  </a:lnTo>
                  <a:lnTo>
                    <a:pt x="1863852" y="533400"/>
                  </a:lnTo>
                  <a:lnTo>
                    <a:pt x="1872996" y="573024"/>
                  </a:lnTo>
                  <a:lnTo>
                    <a:pt x="1879092" y="594360"/>
                  </a:lnTo>
                  <a:lnTo>
                    <a:pt x="1885188" y="614172"/>
                  </a:lnTo>
                  <a:lnTo>
                    <a:pt x="1889760" y="633984"/>
                  </a:lnTo>
                  <a:lnTo>
                    <a:pt x="1895856" y="653796"/>
                  </a:lnTo>
                  <a:lnTo>
                    <a:pt x="1900428" y="673608"/>
                  </a:lnTo>
                  <a:lnTo>
                    <a:pt x="1906524" y="693420"/>
                  </a:lnTo>
                  <a:lnTo>
                    <a:pt x="1911096" y="713232"/>
                  </a:lnTo>
                  <a:lnTo>
                    <a:pt x="1917192" y="733044"/>
                  </a:lnTo>
                  <a:lnTo>
                    <a:pt x="1921764" y="751332"/>
                  </a:lnTo>
                  <a:lnTo>
                    <a:pt x="1927860" y="771144"/>
                  </a:lnTo>
                  <a:lnTo>
                    <a:pt x="1932432" y="790956"/>
                  </a:lnTo>
                  <a:lnTo>
                    <a:pt x="1938528" y="809244"/>
                  </a:lnTo>
                  <a:lnTo>
                    <a:pt x="1943100" y="829056"/>
                  </a:lnTo>
                  <a:lnTo>
                    <a:pt x="1949196" y="847344"/>
                  </a:lnTo>
                  <a:lnTo>
                    <a:pt x="1953768" y="865632"/>
                  </a:lnTo>
                  <a:lnTo>
                    <a:pt x="1959864" y="885444"/>
                  </a:lnTo>
                  <a:lnTo>
                    <a:pt x="1964436" y="903732"/>
                  </a:lnTo>
                  <a:lnTo>
                    <a:pt x="1970532" y="922020"/>
                  </a:lnTo>
                  <a:lnTo>
                    <a:pt x="1975104" y="940308"/>
                  </a:lnTo>
                  <a:lnTo>
                    <a:pt x="1981200" y="957072"/>
                  </a:lnTo>
                  <a:lnTo>
                    <a:pt x="1985772" y="975360"/>
                  </a:lnTo>
                  <a:lnTo>
                    <a:pt x="1991868" y="993648"/>
                  </a:lnTo>
                  <a:lnTo>
                    <a:pt x="1996440" y="1011936"/>
                  </a:lnTo>
                  <a:lnTo>
                    <a:pt x="2002536" y="1028700"/>
                  </a:lnTo>
                  <a:lnTo>
                    <a:pt x="2007108" y="1045464"/>
                  </a:lnTo>
                  <a:lnTo>
                    <a:pt x="2013204" y="1062228"/>
                  </a:lnTo>
                  <a:lnTo>
                    <a:pt x="2017776" y="1078992"/>
                  </a:lnTo>
                  <a:lnTo>
                    <a:pt x="2023872" y="1095756"/>
                  </a:lnTo>
                  <a:lnTo>
                    <a:pt x="2028444" y="1110996"/>
                  </a:lnTo>
                  <a:lnTo>
                    <a:pt x="2040636" y="1144524"/>
                  </a:lnTo>
                  <a:lnTo>
                    <a:pt x="2049780" y="1175004"/>
                  </a:lnTo>
                  <a:lnTo>
                    <a:pt x="2055876" y="1190244"/>
                  </a:lnTo>
                  <a:lnTo>
                    <a:pt x="2060448" y="1203960"/>
                  </a:lnTo>
                  <a:lnTo>
                    <a:pt x="2066544" y="1219200"/>
                  </a:lnTo>
                  <a:lnTo>
                    <a:pt x="2072640" y="1232916"/>
                  </a:lnTo>
                  <a:lnTo>
                    <a:pt x="2077212" y="1248156"/>
                  </a:lnTo>
                  <a:lnTo>
                    <a:pt x="2083308" y="1261872"/>
                  </a:lnTo>
                  <a:lnTo>
                    <a:pt x="2087880" y="1274064"/>
                  </a:lnTo>
                  <a:lnTo>
                    <a:pt x="2100072" y="1301496"/>
                  </a:lnTo>
                  <a:lnTo>
                    <a:pt x="2109216" y="1325880"/>
                  </a:lnTo>
                  <a:lnTo>
                    <a:pt x="2121408" y="1350264"/>
                  </a:lnTo>
                  <a:lnTo>
                    <a:pt x="2125980" y="1360932"/>
                  </a:lnTo>
                  <a:lnTo>
                    <a:pt x="2142744" y="1394460"/>
                  </a:lnTo>
                  <a:lnTo>
                    <a:pt x="2148840" y="1405128"/>
                  </a:lnTo>
                  <a:lnTo>
                    <a:pt x="2153412" y="1414272"/>
                  </a:lnTo>
                  <a:lnTo>
                    <a:pt x="2159508" y="1424940"/>
                  </a:lnTo>
                  <a:lnTo>
                    <a:pt x="2165604" y="1434084"/>
                  </a:lnTo>
                  <a:lnTo>
                    <a:pt x="2170176" y="1443228"/>
                  </a:lnTo>
                  <a:lnTo>
                    <a:pt x="2176272" y="1452372"/>
                  </a:lnTo>
                  <a:lnTo>
                    <a:pt x="2231136" y="1415796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85332" y="5237988"/>
              <a:ext cx="327660" cy="205740"/>
            </a:xfrm>
            <a:custGeom>
              <a:avLst/>
              <a:gdLst/>
              <a:ahLst/>
              <a:cxnLst/>
              <a:rect l="l" t="t" r="r" b="b"/>
              <a:pathLst>
                <a:path w="327660" h="205739">
                  <a:moveTo>
                    <a:pt x="53339" y="64008"/>
                  </a:moveTo>
                  <a:lnTo>
                    <a:pt x="0" y="100584"/>
                  </a:lnTo>
                  <a:lnTo>
                    <a:pt x="6096" y="109728"/>
                  </a:lnTo>
                  <a:lnTo>
                    <a:pt x="10668" y="117348"/>
                  </a:lnTo>
                  <a:lnTo>
                    <a:pt x="16763" y="124968"/>
                  </a:lnTo>
                  <a:lnTo>
                    <a:pt x="22860" y="131064"/>
                  </a:lnTo>
                  <a:lnTo>
                    <a:pt x="28956" y="140208"/>
                  </a:lnTo>
                  <a:lnTo>
                    <a:pt x="33527" y="146304"/>
                  </a:lnTo>
                  <a:lnTo>
                    <a:pt x="47244" y="160019"/>
                  </a:lnTo>
                  <a:lnTo>
                    <a:pt x="53339" y="164591"/>
                  </a:lnTo>
                  <a:lnTo>
                    <a:pt x="57912" y="170687"/>
                  </a:lnTo>
                  <a:lnTo>
                    <a:pt x="65532" y="175259"/>
                  </a:lnTo>
                  <a:lnTo>
                    <a:pt x="73151" y="181355"/>
                  </a:lnTo>
                  <a:lnTo>
                    <a:pt x="77724" y="184403"/>
                  </a:lnTo>
                  <a:lnTo>
                    <a:pt x="85344" y="188975"/>
                  </a:lnTo>
                  <a:lnTo>
                    <a:pt x="91439" y="192023"/>
                  </a:lnTo>
                  <a:lnTo>
                    <a:pt x="99060" y="195071"/>
                  </a:lnTo>
                  <a:lnTo>
                    <a:pt x="105156" y="198119"/>
                  </a:lnTo>
                  <a:lnTo>
                    <a:pt x="112775" y="201167"/>
                  </a:lnTo>
                  <a:lnTo>
                    <a:pt x="121920" y="202691"/>
                  </a:lnTo>
                  <a:lnTo>
                    <a:pt x="128015" y="204215"/>
                  </a:lnTo>
                  <a:lnTo>
                    <a:pt x="135636" y="205739"/>
                  </a:lnTo>
                  <a:lnTo>
                    <a:pt x="153924" y="205739"/>
                  </a:lnTo>
                  <a:lnTo>
                    <a:pt x="155448" y="204215"/>
                  </a:lnTo>
                  <a:lnTo>
                    <a:pt x="166115" y="204215"/>
                  </a:lnTo>
                  <a:lnTo>
                    <a:pt x="167639" y="202691"/>
                  </a:lnTo>
                  <a:lnTo>
                    <a:pt x="170687" y="202691"/>
                  </a:lnTo>
                  <a:lnTo>
                    <a:pt x="188975" y="196595"/>
                  </a:lnTo>
                  <a:lnTo>
                    <a:pt x="196596" y="192023"/>
                  </a:lnTo>
                  <a:lnTo>
                    <a:pt x="201168" y="188975"/>
                  </a:lnTo>
                  <a:lnTo>
                    <a:pt x="208787" y="185927"/>
                  </a:lnTo>
                  <a:lnTo>
                    <a:pt x="224027" y="173735"/>
                  </a:lnTo>
                  <a:lnTo>
                    <a:pt x="228600" y="170687"/>
                  </a:lnTo>
                  <a:lnTo>
                    <a:pt x="257555" y="141732"/>
                  </a:lnTo>
                  <a:lnTo>
                    <a:pt x="143256" y="141732"/>
                  </a:lnTo>
                  <a:lnTo>
                    <a:pt x="149351" y="140208"/>
                  </a:lnTo>
                  <a:lnTo>
                    <a:pt x="140208" y="140208"/>
                  </a:lnTo>
                  <a:lnTo>
                    <a:pt x="134112" y="138684"/>
                  </a:lnTo>
                  <a:lnTo>
                    <a:pt x="129539" y="138684"/>
                  </a:lnTo>
                  <a:lnTo>
                    <a:pt x="126491" y="137160"/>
                  </a:lnTo>
                  <a:lnTo>
                    <a:pt x="121920" y="134112"/>
                  </a:lnTo>
                  <a:lnTo>
                    <a:pt x="118872" y="134112"/>
                  </a:lnTo>
                  <a:lnTo>
                    <a:pt x="115824" y="131064"/>
                  </a:lnTo>
                  <a:lnTo>
                    <a:pt x="109727" y="126492"/>
                  </a:lnTo>
                  <a:lnTo>
                    <a:pt x="106679" y="124968"/>
                  </a:lnTo>
                  <a:lnTo>
                    <a:pt x="102108" y="121920"/>
                  </a:lnTo>
                  <a:lnTo>
                    <a:pt x="92963" y="112776"/>
                  </a:lnTo>
                  <a:lnTo>
                    <a:pt x="88391" y="109728"/>
                  </a:lnTo>
                  <a:lnTo>
                    <a:pt x="83820" y="105156"/>
                  </a:lnTo>
                  <a:lnTo>
                    <a:pt x="79248" y="97536"/>
                  </a:lnTo>
                  <a:lnTo>
                    <a:pt x="74675" y="92964"/>
                  </a:lnTo>
                  <a:lnTo>
                    <a:pt x="68579" y="85344"/>
                  </a:lnTo>
                  <a:lnTo>
                    <a:pt x="64008" y="79248"/>
                  </a:lnTo>
                  <a:lnTo>
                    <a:pt x="59436" y="71628"/>
                  </a:lnTo>
                  <a:lnTo>
                    <a:pt x="53339" y="64008"/>
                  </a:lnTo>
                  <a:close/>
                </a:path>
                <a:path w="327660" h="205739">
                  <a:moveTo>
                    <a:pt x="260095" y="138684"/>
                  </a:moveTo>
                  <a:lnTo>
                    <a:pt x="156972" y="138684"/>
                  </a:lnTo>
                  <a:lnTo>
                    <a:pt x="150875" y="140208"/>
                  </a:lnTo>
                  <a:lnTo>
                    <a:pt x="149351" y="140208"/>
                  </a:lnTo>
                  <a:lnTo>
                    <a:pt x="143256" y="141732"/>
                  </a:lnTo>
                  <a:lnTo>
                    <a:pt x="257555" y="141732"/>
                  </a:lnTo>
                  <a:lnTo>
                    <a:pt x="259079" y="140208"/>
                  </a:lnTo>
                  <a:lnTo>
                    <a:pt x="150875" y="140208"/>
                  </a:lnTo>
                  <a:lnTo>
                    <a:pt x="153162" y="139446"/>
                  </a:lnTo>
                  <a:lnTo>
                    <a:pt x="259587" y="139446"/>
                  </a:lnTo>
                  <a:lnTo>
                    <a:pt x="260095" y="138684"/>
                  </a:lnTo>
                  <a:close/>
                </a:path>
                <a:path w="327660" h="205739">
                  <a:moveTo>
                    <a:pt x="156972" y="138684"/>
                  </a:moveTo>
                  <a:lnTo>
                    <a:pt x="153162" y="139446"/>
                  </a:lnTo>
                  <a:lnTo>
                    <a:pt x="150875" y="140208"/>
                  </a:lnTo>
                  <a:lnTo>
                    <a:pt x="156972" y="138684"/>
                  </a:lnTo>
                  <a:close/>
                </a:path>
                <a:path w="327660" h="205739">
                  <a:moveTo>
                    <a:pt x="269748" y="0"/>
                  </a:moveTo>
                  <a:lnTo>
                    <a:pt x="265175" y="9144"/>
                  </a:lnTo>
                  <a:lnTo>
                    <a:pt x="259079" y="19812"/>
                  </a:lnTo>
                  <a:lnTo>
                    <a:pt x="249936" y="38100"/>
                  </a:lnTo>
                  <a:lnTo>
                    <a:pt x="245363" y="45720"/>
                  </a:lnTo>
                  <a:lnTo>
                    <a:pt x="239268" y="54864"/>
                  </a:lnTo>
                  <a:lnTo>
                    <a:pt x="234696" y="64008"/>
                  </a:lnTo>
                  <a:lnTo>
                    <a:pt x="230124" y="70104"/>
                  </a:lnTo>
                  <a:lnTo>
                    <a:pt x="225551" y="77724"/>
                  </a:lnTo>
                  <a:lnTo>
                    <a:pt x="219456" y="85344"/>
                  </a:lnTo>
                  <a:lnTo>
                    <a:pt x="214884" y="89916"/>
                  </a:lnTo>
                  <a:lnTo>
                    <a:pt x="211836" y="96012"/>
                  </a:lnTo>
                  <a:lnTo>
                    <a:pt x="187451" y="120396"/>
                  </a:lnTo>
                  <a:lnTo>
                    <a:pt x="178308" y="126492"/>
                  </a:lnTo>
                  <a:lnTo>
                    <a:pt x="176784" y="129540"/>
                  </a:lnTo>
                  <a:lnTo>
                    <a:pt x="172212" y="131064"/>
                  </a:lnTo>
                  <a:lnTo>
                    <a:pt x="166115" y="134112"/>
                  </a:lnTo>
                  <a:lnTo>
                    <a:pt x="164591" y="135636"/>
                  </a:lnTo>
                  <a:lnTo>
                    <a:pt x="161544" y="137160"/>
                  </a:lnTo>
                  <a:lnTo>
                    <a:pt x="155448" y="138684"/>
                  </a:lnTo>
                  <a:lnTo>
                    <a:pt x="153162" y="139446"/>
                  </a:lnTo>
                  <a:lnTo>
                    <a:pt x="156972" y="138684"/>
                  </a:lnTo>
                  <a:lnTo>
                    <a:pt x="260095" y="138684"/>
                  </a:lnTo>
                  <a:lnTo>
                    <a:pt x="265175" y="131064"/>
                  </a:lnTo>
                  <a:lnTo>
                    <a:pt x="283463" y="108204"/>
                  </a:lnTo>
                  <a:lnTo>
                    <a:pt x="288036" y="99060"/>
                  </a:lnTo>
                  <a:lnTo>
                    <a:pt x="294132" y="89916"/>
                  </a:lnTo>
                  <a:lnTo>
                    <a:pt x="300227" y="82296"/>
                  </a:lnTo>
                  <a:lnTo>
                    <a:pt x="306324" y="71628"/>
                  </a:lnTo>
                  <a:lnTo>
                    <a:pt x="310896" y="60960"/>
                  </a:lnTo>
                  <a:lnTo>
                    <a:pt x="316991" y="50292"/>
                  </a:lnTo>
                  <a:lnTo>
                    <a:pt x="321563" y="42672"/>
                  </a:lnTo>
                  <a:lnTo>
                    <a:pt x="327660" y="2895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355067" y="3886199"/>
              <a:ext cx="478155" cy="1381125"/>
            </a:xfrm>
            <a:custGeom>
              <a:avLst/>
              <a:gdLst/>
              <a:ahLst/>
              <a:cxnLst/>
              <a:rect l="l" t="t" r="r" b="b"/>
              <a:pathLst>
                <a:path w="478154" h="1381125">
                  <a:moveTo>
                    <a:pt x="477774" y="0"/>
                  </a:moveTo>
                  <a:lnTo>
                    <a:pt x="409448" y="0"/>
                  </a:lnTo>
                  <a:lnTo>
                    <a:pt x="408432" y="3048"/>
                  </a:lnTo>
                  <a:lnTo>
                    <a:pt x="403860" y="21336"/>
                  </a:lnTo>
                  <a:lnTo>
                    <a:pt x="397764" y="39624"/>
                  </a:lnTo>
                  <a:lnTo>
                    <a:pt x="393192" y="57912"/>
                  </a:lnTo>
                  <a:lnTo>
                    <a:pt x="387096" y="77724"/>
                  </a:lnTo>
                  <a:lnTo>
                    <a:pt x="382524" y="96012"/>
                  </a:lnTo>
                  <a:lnTo>
                    <a:pt x="376428" y="115824"/>
                  </a:lnTo>
                  <a:lnTo>
                    <a:pt x="371856" y="134112"/>
                  </a:lnTo>
                  <a:lnTo>
                    <a:pt x="365760" y="153924"/>
                  </a:lnTo>
                  <a:lnTo>
                    <a:pt x="361188" y="173736"/>
                  </a:lnTo>
                  <a:lnTo>
                    <a:pt x="355092" y="193548"/>
                  </a:lnTo>
                  <a:lnTo>
                    <a:pt x="350520" y="211836"/>
                  </a:lnTo>
                  <a:lnTo>
                    <a:pt x="344424" y="231648"/>
                  </a:lnTo>
                  <a:lnTo>
                    <a:pt x="335280" y="271272"/>
                  </a:lnTo>
                  <a:lnTo>
                    <a:pt x="323088" y="310896"/>
                  </a:lnTo>
                  <a:lnTo>
                    <a:pt x="318516" y="332232"/>
                  </a:lnTo>
                  <a:lnTo>
                    <a:pt x="313944" y="350520"/>
                  </a:lnTo>
                  <a:lnTo>
                    <a:pt x="307848" y="371856"/>
                  </a:lnTo>
                  <a:lnTo>
                    <a:pt x="301752" y="391668"/>
                  </a:lnTo>
                  <a:lnTo>
                    <a:pt x="292608" y="431292"/>
                  </a:lnTo>
                  <a:lnTo>
                    <a:pt x="286512" y="451104"/>
                  </a:lnTo>
                  <a:lnTo>
                    <a:pt x="280416" y="472440"/>
                  </a:lnTo>
                  <a:lnTo>
                    <a:pt x="271272" y="512064"/>
                  </a:lnTo>
                  <a:lnTo>
                    <a:pt x="259080" y="551688"/>
                  </a:lnTo>
                  <a:lnTo>
                    <a:pt x="254508" y="571500"/>
                  </a:lnTo>
                  <a:lnTo>
                    <a:pt x="248412" y="591312"/>
                  </a:lnTo>
                  <a:lnTo>
                    <a:pt x="243840" y="611124"/>
                  </a:lnTo>
                  <a:lnTo>
                    <a:pt x="237744" y="632460"/>
                  </a:lnTo>
                  <a:lnTo>
                    <a:pt x="233172" y="650748"/>
                  </a:lnTo>
                  <a:lnTo>
                    <a:pt x="227076" y="670560"/>
                  </a:lnTo>
                  <a:lnTo>
                    <a:pt x="222504" y="690372"/>
                  </a:lnTo>
                  <a:lnTo>
                    <a:pt x="216408" y="710184"/>
                  </a:lnTo>
                  <a:lnTo>
                    <a:pt x="211836" y="728472"/>
                  </a:lnTo>
                  <a:lnTo>
                    <a:pt x="205740" y="749808"/>
                  </a:lnTo>
                  <a:lnTo>
                    <a:pt x="201168" y="768096"/>
                  </a:lnTo>
                  <a:lnTo>
                    <a:pt x="195072" y="786384"/>
                  </a:lnTo>
                  <a:lnTo>
                    <a:pt x="190500" y="806196"/>
                  </a:lnTo>
                  <a:lnTo>
                    <a:pt x="184404" y="824484"/>
                  </a:lnTo>
                  <a:lnTo>
                    <a:pt x="179832" y="844296"/>
                  </a:lnTo>
                  <a:lnTo>
                    <a:pt x="173736" y="861060"/>
                  </a:lnTo>
                  <a:lnTo>
                    <a:pt x="169164" y="880872"/>
                  </a:lnTo>
                  <a:lnTo>
                    <a:pt x="163068" y="899160"/>
                  </a:lnTo>
                  <a:lnTo>
                    <a:pt x="158496" y="917448"/>
                  </a:lnTo>
                  <a:lnTo>
                    <a:pt x="153924" y="934212"/>
                  </a:lnTo>
                  <a:lnTo>
                    <a:pt x="141732" y="970788"/>
                  </a:lnTo>
                  <a:lnTo>
                    <a:pt x="132588" y="1004316"/>
                  </a:lnTo>
                  <a:lnTo>
                    <a:pt x="120396" y="1037844"/>
                  </a:lnTo>
                  <a:lnTo>
                    <a:pt x="111252" y="1071372"/>
                  </a:lnTo>
                  <a:lnTo>
                    <a:pt x="105156" y="1088136"/>
                  </a:lnTo>
                  <a:lnTo>
                    <a:pt x="99060" y="1103376"/>
                  </a:lnTo>
                  <a:lnTo>
                    <a:pt x="94488" y="1118616"/>
                  </a:lnTo>
                  <a:lnTo>
                    <a:pt x="88392" y="1133856"/>
                  </a:lnTo>
                  <a:lnTo>
                    <a:pt x="79248" y="1164336"/>
                  </a:lnTo>
                  <a:lnTo>
                    <a:pt x="73152" y="1178052"/>
                  </a:lnTo>
                  <a:lnTo>
                    <a:pt x="67056" y="1193292"/>
                  </a:lnTo>
                  <a:lnTo>
                    <a:pt x="57912" y="1220724"/>
                  </a:lnTo>
                  <a:lnTo>
                    <a:pt x="51816" y="1232916"/>
                  </a:lnTo>
                  <a:lnTo>
                    <a:pt x="47244" y="1248156"/>
                  </a:lnTo>
                  <a:lnTo>
                    <a:pt x="41148" y="1260348"/>
                  </a:lnTo>
                  <a:lnTo>
                    <a:pt x="32004" y="1284732"/>
                  </a:lnTo>
                  <a:lnTo>
                    <a:pt x="25908" y="1296924"/>
                  </a:lnTo>
                  <a:lnTo>
                    <a:pt x="21336" y="1309116"/>
                  </a:lnTo>
                  <a:lnTo>
                    <a:pt x="15240" y="1319784"/>
                  </a:lnTo>
                  <a:lnTo>
                    <a:pt x="10668" y="1330452"/>
                  </a:lnTo>
                  <a:lnTo>
                    <a:pt x="4572" y="1341120"/>
                  </a:lnTo>
                  <a:lnTo>
                    <a:pt x="0" y="1351788"/>
                  </a:lnTo>
                  <a:lnTo>
                    <a:pt x="57912" y="1380744"/>
                  </a:lnTo>
                  <a:lnTo>
                    <a:pt x="64008" y="1370076"/>
                  </a:lnTo>
                  <a:lnTo>
                    <a:pt x="68580" y="1359408"/>
                  </a:lnTo>
                  <a:lnTo>
                    <a:pt x="74676" y="1347216"/>
                  </a:lnTo>
                  <a:lnTo>
                    <a:pt x="85344" y="1322832"/>
                  </a:lnTo>
                  <a:lnTo>
                    <a:pt x="91440" y="1310640"/>
                  </a:lnTo>
                  <a:lnTo>
                    <a:pt x="96012" y="1298448"/>
                  </a:lnTo>
                  <a:lnTo>
                    <a:pt x="102108" y="1284732"/>
                  </a:lnTo>
                  <a:lnTo>
                    <a:pt x="106680" y="1271016"/>
                  </a:lnTo>
                  <a:lnTo>
                    <a:pt x="112776" y="1258824"/>
                  </a:lnTo>
                  <a:lnTo>
                    <a:pt x="118872" y="1245108"/>
                  </a:lnTo>
                  <a:lnTo>
                    <a:pt x="123444" y="1229868"/>
                  </a:lnTo>
                  <a:lnTo>
                    <a:pt x="129540" y="1216152"/>
                  </a:lnTo>
                  <a:lnTo>
                    <a:pt x="134112" y="1202436"/>
                  </a:lnTo>
                  <a:lnTo>
                    <a:pt x="140208" y="1185672"/>
                  </a:lnTo>
                  <a:lnTo>
                    <a:pt x="144780" y="1170432"/>
                  </a:lnTo>
                  <a:lnTo>
                    <a:pt x="150876" y="1155192"/>
                  </a:lnTo>
                  <a:lnTo>
                    <a:pt x="155448" y="1139952"/>
                  </a:lnTo>
                  <a:lnTo>
                    <a:pt x="161544" y="1123188"/>
                  </a:lnTo>
                  <a:lnTo>
                    <a:pt x="166116" y="1107948"/>
                  </a:lnTo>
                  <a:lnTo>
                    <a:pt x="172212" y="1092708"/>
                  </a:lnTo>
                  <a:lnTo>
                    <a:pt x="178308" y="1074420"/>
                  </a:lnTo>
                  <a:lnTo>
                    <a:pt x="182880" y="1057656"/>
                  </a:lnTo>
                  <a:lnTo>
                    <a:pt x="188976" y="1040892"/>
                  </a:lnTo>
                  <a:lnTo>
                    <a:pt x="193548" y="1024128"/>
                  </a:lnTo>
                  <a:lnTo>
                    <a:pt x="199644" y="1007364"/>
                  </a:lnTo>
                  <a:lnTo>
                    <a:pt x="204216" y="989076"/>
                  </a:lnTo>
                  <a:lnTo>
                    <a:pt x="210312" y="970788"/>
                  </a:lnTo>
                  <a:lnTo>
                    <a:pt x="214884" y="954024"/>
                  </a:lnTo>
                  <a:lnTo>
                    <a:pt x="220980" y="935736"/>
                  </a:lnTo>
                  <a:lnTo>
                    <a:pt x="225552" y="917448"/>
                  </a:lnTo>
                  <a:lnTo>
                    <a:pt x="231648" y="899160"/>
                  </a:lnTo>
                  <a:lnTo>
                    <a:pt x="236220" y="880872"/>
                  </a:lnTo>
                  <a:lnTo>
                    <a:pt x="242316" y="862584"/>
                  </a:lnTo>
                  <a:lnTo>
                    <a:pt x="246888" y="842772"/>
                  </a:lnTo>
                  <a:lnTo>
                    <a:pt x="252984" y="824484"/>
                  </a:lnTo>
                  <a:lnTo>
                    <a:pt x="259080" y="804672"/>
                  </a:lnTo>
                  <a:lnTo>
                    <a:pt x="263652" y="786384"/>
                  </a:lnTo>
                  <a:lnTo>
                    <a:pt x="268224" y="766572"/>
                  </a:lnTo>
                  <a:lnTo>
                    <a:pt x="280416" y="726948"/>
                  </a:lnTo>
                  <a:lnTo>
                    <a:pt x="284988" y="707136"/>
                  </a:lnTo>
                  <a:lnTo>
                    <a:pt x="289560" y="688848"/>
                  </a:lnTo>
                  <a:lnTo>
                    <a:pt x="301752" y="649224"/>
                  </a:lnTo>
                  <a:lnTo>
                    <a:pt x="306324" y="627888"/>
                  </a:lnTo>
                  <a:lnTo>
                    <a:pt x="312420" y="608076"/>
                  </a:lnTo>
                  <a:lnTo>
                    <a:pt x="316992" y="589788"/>
                  </a:lnTo>
                  <a:lnTo>
                    <a:pt x="323088" y="568452"/>
                  </a:lnTo>
                  <a:lnTo>
                    <a:pt x="327660" y="548640"/>
                  </a:lnTo>
                  <a:lnTo>
                    <a:pt x="333756" y="528828"/>
                  </a:lnTo>
                  <a:lnTo>
                    <a:pt x="338328" y="509016"/>
                  </a:lnTo>
                  <a:lnTo>
                    <a:pt x="344424" y="487680"/>
                  </a:lnTo>
                  <a:lnTo>
                    <a:pt x="348996" y="467868"/>
                  </a:lnTo>
                  <a:lnTo>
                    <a:pt x="355092" y="449580"/>
                  </a:lnTo>
                  <a:lnTo>
                    <a:pt x="359664" y="428244"/>
                  </a:lnTo>
                  <a:lnTo>
                    <a:pt x="365760" y="408432"/>
                  </a:lnTo>
                  <a:lnTo>
                    <a:pt x="370332" y="388620"/>
                  </a:lnTo>
                  <a:lnTo>
                    <a:pt x="376428" y="368808"/>
                  </a:lnTo>
                  <a:lnTo>
                    <a:pt x="381000" y="347472"/>
                  </a:lnTo>
                  <a:lnTo>
                    <a:pt x="387096" y="327660"/>
                  </a:lnTo>
                  <a:lnTo>
                    <a:pt x="391668" y="307848"/>
                  </a:lnTo>
                  <a:lnTo>
                    <a:pt x="397764" y="289560"/>
                  </a:lnTo>
                  <a:lnTo>
                    <a:pt x="402336" y="268224"/>
                  </a:lnTo>
                  <a:lnTo>
                    <a:pt x="408432" y="248412"/>
                  </a:lnTo>
                  <a:lnTo>
                    <a:pt x="413004" y="230124"/>
                  </a:lnTo>
                  <a:lnTo>
                    <a:pt x="419100" y="208788"/>
                  </a:lnTo>
                  <a:lnTo>
                    <a:pt x="423672" y="190500"/>
                  </a:lnTo>
                  <a:lnTo>
                    <a:pt x="429768" y="170688"/>
                  </a:lnTo>
                  <a:lnTo>
                    <a:pt x="434340" y="152400"/>
                  </a:lnTo>
                  <a:lnTo>
                    <a:pt x="440436" y="132588"/>
                  </a:lnTo>
                  <a:lnTo>
                    <a:pt x="445008" y="114300"/>
                  </a:lnTo>
                  <a:lnTo>
                    <a:pt x="449580" y="94488"/>
                  </a:lnTo>
                  <a:lnTo>
                    <a:pt x="461772" y="57912"/>
                  </a:lnTo>
                  <a:lnTo>
                    <a:pt x="470916" y="21336"/>
                  </a:lnTo>
                  <a:lnTo>
                    <a:pt x="477012" y="3048"/>
                  </a:lnTo>
                  <a:lnTo>
                    <a:pt x="477774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1052" y="3886200"/>
              <a:ext cx="101600" cy="13716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440155" y="4006595"/>
              <a:ext cx="577850" cy="1437640"/>
            </a:xfrm>
            <a:custGeom>
              <a:avLst/>
              <a:gdLst/>
              <a:ahLst/>
              <a:cxnLst/>
              <a:rect l="l" t="t" r="r" b="b"/>
              <a:pathLst>
                <a:path w="577850" h="1437639">
                  <a:moveTo>
                    <a:pt x="577596" y="1435608"/>
                  </a:moveTo>
                  <a:lnTo>
                    <a:pt x="571500" y="1371600"/>
                  </a:lnTo>
                  <a:lnTo>
                    <a:pt x="559308" y="1371600"/>
                  </a:lnTo>
                  <a:lnTo>
                    <a:pt x="554736" y="1370076"/>
                  </a:lnTo>
                  <a:lnTo>
                    <a:pt x="548640" y="1370076"/>
                  </a:lnTo>
                  <a:lnTo>
                    <a:pt x="544068" y="1367028"/>
                  </a:lnTo>
                  <a:lnTo>
                    <a:pt x="541020" y="1367028"/>
                  </a:lnTo>
                  <a:lnTo>
                    <a:pt x="537972" y="1365504"/>
                  </a:lnTo>
                  <a:lnTo>
                    <a:pt x="528828" y="1359408"/>
                  </a:lnTo>
                  <a:lnTo>
                    <a:pt x="525780" y="1357884"/>
                  </a:lnTo>
                  <a:lnTo>
                    <a:pt x="516636" y="1348740"/>
                  </a:lnTo>
                  <a:lnTo>
                    <a:pt x="512064" y="1345692"/>
                  </a:lnTo>
                  <a:lnTo>
                    <a:pt x="507492" y="1341120"/>
                  </a:lnTo>
                  <a:lnTo>
                    <a:pt x="502920" y="1335024"/>
                  </a:lnTo>
                  <a:lnTo>
                    <a:pt x="493776" y="1325880"/>
                  </a:lnTo>
                  <a:lnTo>
                    <a:pt x="489204" y="1318260"/>
                  </a:lnTo>
                  <a:lnTo>
                    <a:pt x="484632" y="1312164"/>
                  </a:lnTo>
                  <a:lnTo>
                    <a:pt x="478536" y="1304544"/>
                  </a:lnTo>
                  <a:lnTo>
                    <a:pt x="473964" y="1298448"/>
                  </a:lnTo>
                  <a:lnTo>
                    <a:pt x="469392" y="1289304"/>
                  </a:lnTo>
                  <a:lnTo>
                    <a:pt x="463296" y="1280160"/>
                  </a:lnTo>
                  <a:lnTo>
                    <a:pt x="458724" y="1274064"/>
                  </a:lnTo>
                  <a:lnTo>
                    <a:pt x="454152" y="1264920"/>
                  </a:lnTo>
                  <a:lnTo>
                    <a:pt x="443484" y="1246632"/>
                  </a:lnTo>
                  <a:lnTo>
                    <a:pt x="438912" y="1235964"/>
                  </a:lnTo>
                  <a:lnTo>
                    <a:pt x="432816" y="1225296"/>
                  </a:lnTo>
                  <a:lnTo>
                    <a:pt x="428244" y="1214628"/>
                  </a:lnTo>
                  <a:lnTo>
                    <a:pt x="422148" y="1203960"/>
                  </a:lnTo>
                  <a:lnTo>
                    <a:pt x="417576" y="1193292"/>
                  </a:lnTo>
                  <a:lnTo>
                    <a:pt x="413004" y="1181100"/>
                  </a:lnTo>
                  <a:lnTo>
                    <a:pt x="406908" y="1168908"/>
                  </a:lnTo>
                  <a:lnTo>
                    <a:pt x="402336" y="1156716"/>
                  </a:lnTo>
                  <a:lnTo>
                    <a:pt x="396240" y="1144524"/>
                  </a:lnTo>
                  <a:lnTo>
                    <a:pt x="391668" y="1132332"/>
                  </a:lnTo>
                  <a:lnTo>
                    <a:pt x="387096" y="1118616"/>
                  </a:lnTo>
                  <a:lnTo>
                    <a:pt x="381000" y="1104900"/>
                  </a:lnTo>
                  <a:lnTo>
                    <a:pt x="376428" y="1091184"/>
                  </a:lnTo>
                  <a:lnTo>
                    <a:pt x="370332" y="1077468"/>
                  </a:lnTo>
                  <a:lnTo>
                    <a:pt x="365760" y="1063752"/>
                  </a:lnTo>
                  <a:lnTo>
                    <a:pt x="359664" y="1048512"/>
                  </a:lnTo>
                  <a:lnTo>
                    <a:pt x="355092" y="1034796"/>
                  </a:lnTo>
                  <a:lnTo>
                    <a:pt x="348996" y="1018032"/>
                  </a:lnTo>
                  <a:lnTo>
                    <a:pt x="344424" y="1002792"/>
                  </a:lnTo>
                  <a:lnTo>
                    <a:pt x="338328" y="987552"/>
                  </a:lnTo>
                  <a:lnTo>
                    <a:pt x="333756" y="972312"/>
                  </a:lnTo>
                  <a:lnTo>
                    <a:pt x="327660" y="955548"/>
                  </a:lnTo>
                  <a:lnTo>
                    <a:pt x="323088" y="940308"/>
                  </a:lnTo>
                  <a:lnTo>
                    <a:pt x="318516" y="923544"/>
                  </a:lnTo>
                  <a:lnTo>
                    <a:pt x="312420" y="906780"/>
                  </a:lnTo>
                  <a:lnTo>
                    <a:pt x="307848" y="890016"/>
                  </a:lnTo>
                  <a:lnTo>
                    <a:pt x="301752" y="873252"/>
                  </a:lnTo>
                  <a:lnTo>
                    <a:pt x="297180" y="854964"/>
                  </a:lnTo>
                  <a:lnTo>
                    <a:pt x="291084" y="836676"/>
                  </a:lnTo>
                  <a:lnTo>
                    <a:pt x="286512" y="819912"/>
                  </a:lnTo>
                  <a:lnTo>
                    <a:pt x="280416" y="803148"/>
                  </a:lnTo>
                  <a:lnTo>
                    <a:pt x="275844" y="784860"/>
                  </a:lnTo>
                  <a:lnTo>
                    <a:pt x="269748" y="766572"/>
                  </a:lnTo>
                  <a:lnTo>
                    <a:pt x="265176" y="748284"/>
                  </a:lnTo>
                  <a:lnTo>
                    <a:pt x="259080" y="729996"/>
                  </a:lnTo>
                  <a:lnTo>
                    <a:pt x="254508" y="710184"/>
                  </a:lnTo>
                  <a:lnTo>
                    <a:pt x="248412" y="691896"/>
                  </a:lnTo>
                  <a:lnTo>
                    <a:pt x="243840" y="672084"/>
                  </a:lnTo>
                  <a:lnTo>
                    <a:pt x="237744" y="653796"/>
                  </a:lnTo>
                  <a:lnTo>
                    <a:pt x="233172" y="635508"/>
                  </a:lnTo>
                  <a:lnTo>
                    <a:pt x="227076" y="614172"/>
                  </a:lnTo>
                  <a:lnTo>
                    <a:pt x="222504" y="595884"/>
                  </a:lnTo>
                  <a:lnTo>
                    <a:pt x="216408" y="577596"/>
                  </a:lnTo>
                  <a:lnTo>
                    <a:pt x="211836" y="556260"/>
                  </a:lnTo>
                  <a:lnTo>
                    <a:pt x="205740" y="537972"/>
                  </a:lnTo>
                  <a:lnTo>
                    <a:pt x="196596" y="498348"/>
                  </a:lnTo>
                  <a:lnTo>
                    <a:pt x="190500" y="478536"/>
                  </a:lnTo>
                  <a:lnTo>
                    <a:pt x="184404" y="457200"/>
                  </a:lnTo>
                  <a:lnTo>
                    <a:pt x="179832" y="438912"/>
                  </a:lnTo>
                  <a:lnTo>
                    <a:pt x="175260" y="417576"/>
                  </a:lnTo>
                  <a:lnTo>
                    <a:pt x="169164" y="397764"/>
                  </a:lnTo>
                  <a:lnTo>
                    <a:pt x="164592" y="377952"/>
                  </a:lnTo>
                  <a:lnTo>
                    <a:pt x="158496" y="356616"/>
                  </a:lnTo>
                  <a:lnTo>
                    <a:pt x="153924" y="338328"/>
                  </a:lnTo>
                  <a:lnTo>
                    <a:pt x="147828" y="316992"/>
                  </a:lnTo>
                  <a:lnTo>
                    <a:pt x="143256" y="297180"/>
                  </a:lnTo>
                  <a:lnTo>
                    <a:pt x="137160" y="277368"/>
                  </a:lnTo>
                  <a:lnTo>
                    <a:pt x="132588" y="256032"/>
                  </a:lnTo>
                  <a:lnTo>
                    <a:pt x="126492" y="237744"/>
                  </a:lnTo>
                  <a:lnTo>
                    <a:pt x="121920" y="216408"/>
                  </a:lnTo>
                  <a:lnTo>
                    <a:pt x="115824" y="196596"/>
                  </a:lnTo>
                  <a:lnTo>
                    <a:pt x="111252" y="176784"/>
                  </a:lnTo>
                  <a:lnTo>
                    <a:pt x="105156" y="156972"/>
                  </a:lnTo>
                  <a:lnTo>
                    <a:pt x="100584" y="137160"/>
                  </a:lnTo>
                  <a:lnTo>
                    <a:pt x="94488" y="117348"/>
                  </a:lnTo>
                  <a:lnTo>
                    <a:pt x="89916" y="97536"/>
                  </a:lnTo>
                  <a:lnTo>
                    <a:pt x="83820" y="77724"/>
                  </a:lnTo>
                  <a:lnTo>
                    <a:pt x="79248" y="57912"/>
                  </a:lnTo>
                  <a:lnTo>
                    <a:pt x="73152" y="39624"/>
                  </a:lnTo>
                  <a:lnTo>
                    <a:pt x="68580" y="18288"/>
                  </a:lnTo>
                  <a:lnTo>
                    <a:pt x="62484" y="0"/>
                  </a:lnTo>
                  <a:lnTo>
                    <a:pt x="0" y="18288"/>
                  </a:lnTo>
                  <a:lnTo>
                    <a:pt x="6096" y="36576"/>
                  </a:lnTo>
                  <a:lnTo>
                    <a:pt x="15240" y="76200"/>
                  </a:lnTo>
                  <a:lnTo>
                    <a:pt x="21336" y="94488"/>
                  </a:lnTo>
                  <a:lnTo>
                    <a:pt x="27432" y="114300"/>
                  </a:lnTo>
                  <a:lnTo>
                    <a:pt x="36576" y="153924"/>
                  </a:lnTo>
                  <a:lnTo>
                    <a:pt x="48768" y="193548"/>
                  </a:lnTo>
                  <a:lnTo>
                    <a:pt x="57912" y="233172"/>
                  </a:lnTo>
                  <a:lnTo>
                    <a:pt x="64008" y="252984"/>
                  </a:lnTo>
                  <a:lnTo>
                    <a:pt x="68580" y="274320"/>
                  </a:lnTo>
                  <a:lnTo>
                    <a:pt x="74676" y="294132"/>
                  </a:lnTo>
                  <a:lnTo>
                    <a:pt x="79248" y="313944"/>
                  </a:lnTo>
                  <a:lnTo>
                    <a:pt x="85344" y="333756"/>
                  </a:lnTo>
                  <a:lnTo>
                    <a:pt x="89916" y="353568"/>
                  </a:lnTo>
                  <a:lnTo>
                    <a:pt x="96012" y="373380"/>
                  </a:lnTo>
                  <a:lnTo>
                    <a:pt x="100584" y="394716"/>
                  </a:lnTo>
                  <a:lnTo>
                    <a:pt x="106680" y="414528"/>
                  </a:lnTo>
                  <a:lnTo>
                    <a:pt x="111252" y="434340"/>
                  </a:lnTo>
                  <a:lnTo>
                    <a:pt x="117348" y="454152"/>
                  </a:lnTo>
                  <a:lnTo>
                    <a:pt x="121920" y="473964"/>
                  </a:lnTo>
                  <a:lnTo>
                    <a:pt x="128016" y="495300"/>
                  </a:lnTo>
                  <a:lnTo>
                    <a:pt x="132588" y="515112"/>
                  </a:lnTo>
                  <a:lnTo>
                    <a:pt x="138684" y="534924"/>
                  </a:lnTo>
                  <a:lnTo>
                    <a:pt x="143256" y="554736"/>
                  </a:lnTo>
                  <a:lnTo>
                    <a:pt x="149352" y="574548"/>
                  </a:lnTo>
                  <a:lnTo>
                    <a:pt x="153924" y="592836"/>
                  </a:lnTo>
                  <a:lnTo>
                    <a:pt x="160020" y="612648"/>
                  </a:lnTo>
                  <a:lnTo>
                    <a:pt x="164592" y="632460"/>
                  </a:lnTo>
                  <a:lnTo>
                    <a:pt x="170688" y="652272"/>
                  </a:lnTo>
                  <a:lnTo>
                    <a:pt x="175260" y="670560"/>
                  </a:lnTo>
                  <a:lnTo>
                    <a:pt x="181356" y="690372"/>
                  </a:lnTo>
                  <a:lnTo>
                    <a:pt x="185928" y="710184"/>
                  </a:lnTo>
                  <a:lnTo>
                    <a:pt x="192024" y="728472"/>
                  </a:lnTo>
                  <a:lnTo>
                    <a:pt x="196596" y="746760"/>
                  </a:lnTo>
                  <a:lnTo>
                    <a:pt x="202692" y="765048"/>
                  </a:lnTo>
                  <a:lnTo>
                    <a:pt x="207264" y="784860"/>
                  </a:lnTo>
                  <a:lnTo>
                    <a:pt x="213360" y="803148"/>
                  </a:lnTo>
                  <a:lnTo>
                    <a:pt x="217932" y="821436"/>
                  </a:lnTo>
                  <a:lnTo>
                    <a:pt x="224028" y="838200"/>
                  </a:lnTo>
                  <a:lnTo>
                    <a:pt x="228600" y="856488"/>
                  </a:lnTo>
                  <a:lnTo>
                    <a:pt x="234696" y="873252"/>
                  </a:lnTo>
                  <a:lnTo>
                    <a:pt x="239268" y="891540"/>
                  </a:lnTo>
                  <a:lnTo>
                    <a:pt x="245364" y="909828"/>
                  </a:lnTo>
                  <a:lnTo>
                    <a:pt x="249936" y="926592"/>
                  </a:lnTo>
                  <a:lnTo>
                    <a:pt x="256032" y="943356"/>
                  </a:lnTo>
                  <a:lnTo>
                    <a:pt x="260604" y="960120"/>
                  </a:lnTo>
                  <a:lnTo>
                    <a:pt x="266700" y="976884"/>
                  </a:lnTo>
                  <a:lnTo>
                    <a:pt x="271272" y="992124"/>
                  </a:lnTo>
                  <a:lnTo>
                    <a:pt x="277368" y="1008888"/>
                  </a:lnTo>
                  <a:lnTo>
                    <a:pt x="281940" y="1024128"/>
                  </a:lnTo>
                  <a:lnTo>
                    <a:pt x="288036" y="1040892"/>
                  </a:lnTo>
                  <a:lnTo>
                    <a:pt x="292608" y="1054608"/>
                  </a:lnTo>
                  <a:lnTo>
                    <a:pt x="298704" y="1071372"/>
                  </a:lnTo>
                  <a:lnTo>
                    <a:pt x="303276" y="1085088"/>
                  </a:lnTo>
                  <a:lnTo>
                    <a:pt x="309372" y="1100328"/>
                  </a:lnTo>
                  <a:lnTo>
                    <a:pt x="315468" y="1114044"/>
                  </a:lnTo>
                  <a:lnTo>
                    <a:pt x="320040" y="1127760"/>
                  </a:lnTo>
                  <a:lnTo>
                    <a:pt x="326136" y="1143000"/>
                  </a:lnTo>
                  <a:lnTo>
                    <a:pt x="330708" y="1155192"/>
                  </a:lnTo>
                  <a:lnTo>
                    <a:pt x="336804" y="1168908"/>
                  </a:lnTo>
                  <a:lnTo>
                    <a:pt x="341376" y="1182624"/>
                  </a:lnTo>
                  <a:lnTo>
                    <a:pt x="347472" y="1194816"/>
                  </a:lnTo>
                  <a:lnTo>
                    <a:pt x="352044" y="1207008"/>
                  </a:lnTo>
                  <a:lnTo>
                    <a:pt x="358140" y="1219200"/>
                  </a:lnTo>
                  <a:lnTo>
                    <a:pt x="362712" y="1231392"/>
                  </a:lnTo>
                  <a:lnTo>
                    <a:pt x="368808" y="1243584"/>
                  </a:lnTo>
                  <a:lnTo>
                    <a:pt x="374904" y="1254252"/>
                  </a:lnTo>
                  <a:lnTo>
                    <a:pt x="379476" y="1264920"/>
                  </a:lnTo>
                  <a:lnTo>
                    <a:pt x="391668" y="1286256"/>
                  </a:lnTo>
                  <a:lnTo>
                    <a:pt x="396240" y="1295400"/>
                  </a:lnTo>
                  <a:lnTo>
                    <a:pt x="402336" y="1304544"/>
                  </a:lnTo>
                  <a:lnTo>
                    <a:pt x="408432" y="1316736"/>
                  </a:lnTo>
                  <a:lnTo>
                    <a:pt x="413004" y="1324356"/>
                  </a:lnTo>
                  <a:lnTo>
                    <a:pt x="419100" y="1331976"/>
                  </a:lnTo>
                  <a:lnTo>
                    <a:pt x="425196" y="1341120"/>
                  </a:lnTo>
                  <a:lnTo>
                    <a:pt x="431292" y="1348740"/>
                  </a:lnTo>
                  <a:lnTo>
                    <a:pt x="435864" y="1357884"/>
                  </a:lnTo>
                  <a:lnTo>
                    <a:pt x="441960" y="1363980"/>
                  </a:lnTo>
                  <a:lnTo>
                    <a:pt x="448056" y="1371600"/>
                  </a:lnTo>
                  <a:lnTo>
                    <a:pt x="455676" y="1379220"/>
                  </a:lnTo>
                  <a:lnTo>
                    <a:pt x="460248" y="1385316"/>
                  </a:lnTo>
                  <a:lnTo>
                    <a:pt x="472440" y="1397508"/>
                  </a:lnTo>
                  <a:lnTo>
                    <a:pt x="478536" y="1402080"/>
                  </a:lnTo>
                  <a:lnTo>
                    <a:pt x="484632" y="1408176"/>
                  </a:lnTo>
                  <a:lnTo>
                    <a:pt x="490728" y="1412748"/>
                  </a:lnTo>
                  <a:lnTo>
                    <a:pt x="498348" y="1417320"/>
                  </a:lnTo>
                  <a:lnTo>
                    <a:pt x="504444" y="1420368"/>
                  </a:lnTo>
                  <a:lnTo>
                    <a:pt x="512064" y="1424940"/>
                  </a:lnTo>
                  <a:lnTo>
                    <a:pt x="519684" y="1427988"/>
                  </a:lnTo>
                  <a:lnTo>
                    <a:pt x="525780" y="1431036"/>
                  </a:lnTo>
                  <a:lnTo>
                    <a:pt x="541020" y="1434084"/>
                  </a:lnTo>
                  <a:lnTo>
                    <a:pt x="547116" y="1435608"/>
                  </a:lnTo>
                  <a:lnTo>
                    <a:pt x="554736" y="1437132"/>
                  </a:lnTo>
                  <a:lnTo>
                    <a:pt x="563880" y="1437132"/>
                  </a:lnTo>
                  <a:lnTo>
                    <a:pt x="573024" y="1435608"/>
                  </a:lnTo>
                  <a:lnTo>
                    <a:pt x="577596" y="1435608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08619" y="4907279"/>
              <a:ext cx="307975" cy="533400"/>
            </a:xfrm>
            <a:custGeom>
              <a:avLst/>
              <a:gdLst/>
              <a:ahLst/>
              <a:cxnLst/>
              <a:rect l="l" t="t" r="r" b="b"/>
              <a:pathLst>
                <a:path w="307975" h="533400">
                  <a:moveTo>
                    <a:pt x="8229" y="466953"/>
                  </a:moveTo>
                  <a:lnTo>
                    <a:pt x="4572" y="467868"/>
                  </a:lnTo>
                  <a:lnTo>
                    <a:pt x="0" y="469392"/>
                  </a:lnTo>
                  <a:lnTo>
                    <a:pt x="12192" y="533399"/>
                  </a:lnTo>
                  <a:lnTo>
                    <a:pt x="16764" y="531875"/>
                  </a:lnTo>
                  <a:lnTo>
                    <a:pt x="22860" y="530351"/>
                  </a:lnTo>
                  <a:lnTo>
                    <a:pt x="27432" y="530351"/>
                  </a:lnTo>
                  <a:lnTo>
                    <a:pt x="28956" y="528827"/>
                  </a:lnTo>
                  <a:lnTo>
                    <a:pt x="33528" y="527303"/>
                  </a:lnTo>
                  <a:lnTo>
                    <a:pt x="39624" y="524255"/>
                  </a:lnTo>
                  <a:lnTo>
                    <a:pt x="47244" y="521207"/>
                  </a:lnTo>
                  <a:lnTo>
                    <a:pt x="53340" y="518159"/>
                  </a:lnTo>
                  <a:lnTo>
                    <a:pt x="59436" y="513587"/>
                  </a:lnTo>
                  <a:lnTo>
                    <a:pt x="67056" y="509015"/>
                  </a:lnTo>
                  <a:lnTo>
                    <a:pt x="74676" y="502919"/>
                  </a:lnTo>
                  <a:lnTo>
                    <a:pt x="79248" y="498347"/>
                  </a:lnTo>
                  <a:lnTo>
                    <a:pt x="86868" y="493775"/>
                  </a:lnTo>
                  <a:lnTo>
                    <a:pt x="91440" y="489204"/>
                  </a:lnTo>
                  <a:lnTo>
                    <a:pt x="99060" y="480060"/>
                  </a:lnTo>
                  <a:lnTo>
                    <a:pt x="105156" y="473963"/>
                  </a:lnTo>
                  <a:lnTo>
                    <a:pt x="108813" y="469392"/>
                  </a:lnTo>
                  <a:lnTo>
                    <a:pt x="4572" y="469392"/>
                  </a:lnTo>
                  <a:lnTo>
                    <a:pt x="8229" y="466953"/>
                  </a:lnTo>
                  <a:close/>
                </a:path>
                <a:path w="307975" h="533400">
                  <a:moveTo>
                    <a:pt x="10668" y="466344"/>
                  </a:moveTo>
                  <a:lnTo>
                    <a:pt x="8229" y="466953"/>
                  </a:lnTo>
                  <a:lnTo>
                    <a:pt x="4572" y="469392"/>
                  </a:lnTo>
                  <a:lnTo>
                    <a:pt x="10668" y="466344"/>
                  </a:lnTo>
                  <a:close/>
                </a:path>
                <a:path w="307975" h="533400">
                  <a:moveTo>
                    <a:pt x="111252" y="466344"/>
                  </a:moveTo>
                  <a:lnTo>
                    <a:pt x="10668" y="466344"/>
                  </a:lnTo>
                  <a:lnTo>
                    <a:pt x="4572" y="469392"/>
                  </a:lnTo>
                  <a:lnTo>
                    <a:pt x="108813" y="469392"/>
                  </a:lnTo>
                  <a:lnTo>
                    <a:pt x="111252" y="466344"/>
                  </a:lnTo>
                  <a:close/>
                </a:path>
                <a:path w="307975" h="533400">
                  <a:moveTo>
                    <a:pt x="246887" y="0"/>
                  </a:moveTo>
                  <a:lnTo>
                    <a:pt x="240791" y="15239"/>
                  </a:lnTo>
                  <a:lnTo>
                    <a:pt x="236219" y="32004"/>
                  </a:lnTo>
                  <a:lnTo>
                    <a:pt x="230123" y="48768"/>
                  </a:lnTo>
                  <a:lnTo>
                    <a:pt x="225552" y="65531"/>
                  </a:lnTo>
                  <a:lnTo>
                    <a:pt x="219456" y="80772"/>
                  </a:lnTo>
                  <a:lnTo>
                    <a:pt x="214884" y="96012"/>
                  </a:lnTo>
                  <a:lnTo>
                    <a:pt x="208788" y="111251"/>
                  </a:lnTo>
                  <a:lnTo>
                    <a:pt x="199644" y="141731"/>
                  </a:lnTo>
                  <a:lnTo>
                    <a:pt x="193548" y="156972"/>
                  </a:lnTo>
                  <a:lnTo>
                    <a:pt x="187452" y="170687"/>
                  </a:lnTo>
                  <a:lnTo>
                    <a:pt x="178308" y="198119"/>
                  </a:lnTo>
                  <a:lnTo>
                    <a:pt x="172212" y="211836"/>
                  </a:lnTo>
                  <a:lnTo>
                    <a:pt x="167640" y="225551"/>
                  </a:lnTo>
                  <a:lnTo>
                    <a:pt x="163068" y="237744"/>
                  </a:lnTo>
                  <a:lnTo>
                    <a:pt x="150876" y="262127"/>
                  </a:lnTo>
                  <a:lnTo>
                    <a:pt x="146304" y="274319"/>
                  </a:lnTo>
                  <a:lnTo>
                    <a:pt x="141732" y="284988"/>
                  </a:lnTo>
                  <a:lnTo>
                    <a:pt x="135636" y="297180"/>
                  </a:lnTo>
                  <a:lnTo>
                    <a:pt x="131064" y="309372"/>
                  </a:lnTo>
                  <a:lnTo>
                    <a:pt x="124968" y="320039"/>
                  </a:lnTo>
                  <a:lnTo>
                    <a:pt x="121920" y="329183"/>
                  </a:lnTo>
                  <a:lnTo>
                    <a:pt x="115824" y="339851"/>
                  </a:lnTo>
                  <a:lnTo>
                    <a:pt x="109728" y="348995"/>
                  </a:lnTo>
                  <a:lnTo>
                    <a:pt x="100584" y="367283"/>
                  </a:lnTo>
                  <a:lnTo>
                    <a:pt x="94488" y="376427"/>
                  </a:lnTo>
                  <a:lnTo>
                    <a:pt x="80772" y="399288"/>
                  </a:lnTo>
                  <a:lnTo>
                    <a:pt x="74676" y="406907"/>
                  </a:lnTo>
                  <a:lnTo>
                    <a:pt x="70104" y="413004"/>
                  </a:lnTo>
                  <a:lnTo>
                    <a:pt x="67056" y="419100"/>
                  </a:lnTo>
                  <a:lnTo>
                    <a:pt x="60960" y="425195"/>
                  </a:lnTo>
                  <a:lnTo>
                    <a:pt x="56388" y="431292"/>
                  </a:lnTo>
                  <a:lnTo>
                    <a:pt x="42672" y="445007"/>
                  </a:lnTo>
                  <a:lnTo>
                    <a:pt x="38100" y="448056"/>
                  </a:lnTo>
                  <a:lnTo>
                    <a:pt x="30480" y="455675"/>
                  </a:lnTo>
                  <a:lnTo>
                    <a:pt x="25908" y="458724"/>
                  </a:lnTo>
                  <a:lnTo>
                    <a:pt x="22860" y="460248"/>
                  </a:lnTo>
                  <a:lnTo>
                    <a:pt x="18288" y="463295"/>
                  </a:lnTo>
                  <a:lnTo>
                    <a:pt x="15240" y="464819"/>
                  </a:lnTo>
                  <a:lnTo>
                    <a:pt x="9144" y="466344"/>
                  </a:lnTo>
                  <a:lnTo>
                    <a:pt x="8229" y="466953"/>
                  </a:lnTo>
                  <a:lnTo>
                    <a:pt x="10668" y="466344"/>
                  </a:lnTo>
                  <a:lnTo>
                    <a:pt x="111252" y="466344"/>
                  </a:lnTo>
                  <a:lnTo>
                    <a:pt x="115824" y="461772"/>
                  </a:lnTo>
                  <a:lnTo>
                    <a:pt x="128016" y="443483"/>
                  </a:lnTo>
                  <a:lnTo>
                    <a:pt x="134112" y="435863"/>
                  </a:lnTo>
                  <a:lnTo>
                    <a:pt x="138684" y="428244"/>
                  </a:lnTo>
                  <a:lnTo>
                    <a:pt x="150876" y="409956"/>
                  </a:lnTo>
                  <a:lnTo>
                    <a:pt x="155448" y="400812"/>
                  </a:lnTo>
                  <a:lnTo>
                    <a:pt x="173736" y="368807"/>
                  </a:lnTo>
                  <a:lnTo>
                    <a:pt x="184404" y="347472"/>
                  </a:lnTo>
                  <a:lnTo>
                    <a:pt x="188976" y="336804"/>
                  </a:lnTo>
                  <a:lnTo>
                    <a:pt x="195072" y="324612"/>
                  </a:lnTo>
                  <a:lnTo>
                    <a:pt x="199644" y="313944"/>
                  </a:lnTo>
                  <a:lnTo>
                    <a:pt x="205740" y="301751"/>
                  </a:lnTo>
                  <a:lnTo>
                    <a:pt x="211836" y="288036"/>
                  </a:lnTo>
                  <a:lnTo>
                    <a:pt x="216408" y="275844"/>
                  </a:lnTo>
                  <a:lnTo>
                    <a:pt x="222504" y="263651"/>
                  </a:lnTo>
                  <a:lnTo>
                    <a:pt x="227076" y="249936"/>
                  </a:lnTo>
                  <a:lnTo>
                    <a:pt x="233171" y="236219"/>
                  </a:lnTo>
                  <a:lnTo>
                    <a:pt x="237743" y="222504"/>
                  </a:lnTo>
                  <a:lnTo>
                    <a:pt x="243839" y="207263"/>
                  </a:lnTo>
                  <a:lnTo>
                    <a:pt x="249935" y="193548"/>
                  </a:lnTo>
                  <a:lnTo>
                    <a:pt x="254507" y="178307"/>
                  </a:lnTo>
                  <a:lnTo>
                    <a:pt x="260603" y="163068"/>
                  </a:lnTo>
                  <a:lnTo>
                    <a:pt x="265175" y="147827"/>
                  </a:lnTo>
                  <a:lnTo>
                    <a:pt x="271271" y="132587"/>
                  </a:lnTo>
                  <a:lnTo>
                    <a:pt x="275843" y="117348"/>
                  </a:lnTo>
                  <a:lnTo>
                    <a:pt x="281939" y="102107"/>
                  </a:lnTo>
                  <a:lnTo>
                    <a:pt x="286511" y="85343"/>
                  </a:lnTo>
                  <a:lnTo>
                    <a:pt x="292607" y="68580"/>
                  </a:lnTo>
                  <a:lnTo>
                    <a:pt x="297179" y="53339"/>
                  </a:lnTo>
                  <a:lnTo>
                    <a:pt x="303275" y="35051"/>
                  </a:lnTo>
                  <a:lnTo>
                    <a:pt x="307847" y="18287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24200" y="4305300"/>
              <a:ext cx="5181600" cy="76200"/>
            </a:xfrm>
            <a:custGeom>
              <a:avLst/>
              <a:gdLst/>
              <a:ahLst/>
              <a:cxnLst/>
              <a:rect l="l" t="t" r="r" b="b"/>
              <a:pathLst>
                <a:path w="5181600" h="76200">
                  <a:moveTo>
                    <a:pt x="5105399" y="0"/>
                  </a:moveTo>
                  <a:lnTo>
                    <a:pt x="5105399" y="76200"/>
                  </a:lnTo>
                  <a:lnTo>
                    <a:pt x="5166359" y="45719"/>
                  </a:lnTo>
                  <a:lnTo>
                    <a:pt x="5119115" y="45719"/>
                  </a:lnTo>
                  <a:lnTo>
                    <a:pt x="5119115" y="32003"/>
                  </a:lnTo>
                  <a:lnTo>
                    <a:pt x="5169407" y="32003"/>
                  </a:lnTo>
                  <a:lnTo>
                    <a:pt x="5105399" y="0"/>
                  </a:lnTo>
                  <a:close/>
                </a:path>
                <a:path w="5181600" h="76200">
                  <a:moveTo>
                    <a:pt x="5105399" y="32003"/>
                  </a:moveTo>
                  <a:lnTo>
                    <a:pt x="0" y="32003"/>
                  </a:lnTo>
                  <a:lnTo>
                    <a:pt x="0" y="45719"/>
                  </a:lnTo>
                  <a:lnTo>
                    <a:pt x="5105399" y="45719"/>
                  </a:lnTo>
                  <a:lnTo>
                    <a:pt x="5105399" y="32003"/>
                  </a:lnTo>
                  <a:close/>
                </a:path>
                <a:path w="5181600" h="76200">
                  <a:moveTo>
                    <a:pt x="5169407" y="32003"/>
                  </a:moveTo>
                  <a:lnTo>
                    <a:pt x="5119115" y="32003"/>
                  </a:lnTo>
                  <a:lnTo>
                    <a:pt x="5119115" y="45719"/>
                  </a:lnTo>
                  <a:lnTo>
                    <a:pt x="5166359" y="45719"/>
                  </a:lnTo>
                  <a:lnTo>
                    <a:pt x="5181599" y="38100"/>
                  </a:lnTo>
                  <a:lnTo>
                    <a:pt x="5169407" y="3200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9300" y="4344161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>
                  <a:moveTo>
                    <a:pt x="0" y="0"/>
                  </a:moveTo>
                  <a:lnTo>
                    <a:pt x="1028699" y="0"/>
                  </a:lnTo>
                </a:path>
              </a:pathLst>
            </a:custGeom>
            <a:ln w="13715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24100" y="403860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32003" y="228599"/>
                  </a:moveTo>
                  <a:lnTo>
                    <a:pt x="0" y="228599"/>
                  </a:lnTo>
                  <a:lnTo>
                    <a:pt x="38100" y="304799"/>
                  </a:lnTo>
                  <a:lnTo>
                    <a:pt x="69342" y="242315"/>
                  </a:lnTo>
                  <a:lnTo>
                    <a:pt x="32003" y="242315"/>
                  </a:lnTo>
                  <a:lnTo>
                    <a:pt x="32003" y="228599"/>
                  </a:lnTo>
                  <a:close/>
                </a:path>
                <a:path w="76200" h="304800">
                  <a:moveTo>
                    <a:pt x="45719" y="0"/>
                  </a:moveTo>
                  <a:lnTo>
                    <a:pt x="32003" y="0"/>
                  </a:lnTo>
                  <a:lnTo>
                    <a:pt x="32003" y="242315"/>
                  </a:lnTo>
                  <a:lnTo>
                    <a:pt x="45719" y="242315"/>
                  </a:lnTo>
                  <a:lnTo>
                    <a:pt x="45719" y="0"/>
                  </a:lnTo>
                  <a:close/>
                </a:path>
                <a:path w="76200" h="304800">
                  <a:moveTo>
                    <a:pt x="76200" y="228599"/>
                  </a:moveTo>
                  <a:lnTo>
                    <a:pt x="45719" y="228599"/>
                  </a:lnTo>
                  <a:lnTo>
                    <a:pt x="45719" y="242315"/>
                  </a:lnTo>
                  <a:lnTo>
                    <a:pt x="69342" y="242315"/>
                  </a:lnTo>
                  <a:lnTo>
                    <a:pt x="76200" y="2285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959090" y="4350600"/>
            <a:ext cx="4197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70BF"/>
                </a:solidFill>
                <a:latin typeface="Times New Roman"/>
                <a:cs typeface="Times New Roman"/>
              </a:rPr>
              <a:t>ti</a:t>
            </a:r>
            <a:r>
              <a:rPr sz="1800" i="1" spc="-5" dirty="0">
                <a:solidFill>
                  <a:srgbClr val="0070BF"/>
                </a:solidFill>
                <a:latin typeface="Times New Roman"/>
                <a:cs typeface="Times New Roman"/>
              </a:rPr>
              <a:t>m</a:t>
            </a:r>
            <a:r>
              <a:rPr sz="1800" i="1" dirty="0">
                <a:solidFill>
                  <a:srgbClr val="0070BF"/>
                </a:solidFill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118103" y="3886200"/>
            <a:ext cx="5506720" cy="2931160"/>
            <a:chOff x="3118103" y="3886200"/>
            <a:chExt cx="5506720" cy="2931160"/>
          </a:xfrm>
        </p:grpSpPr>
        <p:sp>
          <p:nvSpPr>
            <p:cNvPr id="39" name="object 39"/>
            <p:cNvSpPr/>
            <p:nvPr/>
          </p:nvSpPr>
          <p:spPr>
            <a:xfrm>
              <a:off x="3118103" y="3886200"/>
              <a:ext cx="13970" cy="1676400"/>
            </a:xfrm>
            <a:custGeom>
              <a:avLst/>
              <a:gdLst/>
              <a:ahLst/>
              <a:cxnLst/>
              <a:rect l="l" t="t" r="r" b="b"/>
              <a:pathLst>
                <a:path w="13969" h="1676400">
                  <a:moveTo>
                    <a:pt x="0" y="1676399"/>
                  </a:moveTo>
                  <a:lnTo>
                    <a:pt x="0" y="0"/>
                  </a:lnTo>
                  <a:lnTo>
                    <a:pt x="13715" y="0"/>
                  </a:lnTo>
                  <a:lnTo>
                    <a:pt x="13715" y="1676399"/>
                  </a:lnTo>
                  <a:lnTo>
                    <a:pt x="0" y="16763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36791" y="6164580"/>
              <a:ext cx="2287523" cy="65227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36791" y="6164580"/>
              <a:ext cx="2287523" cy="652271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587620" y="6399314"/>
            <a:ext cx="1785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80808"/>
                </a:solidFill>
                <a:latin typeface="Calibri"/>
                <a:cs typeface="Calibri"/>
              </a:rPr>
              <a:t>phase</a:t>
            </a:r>
            <a:r>
              <a:rPr sz="1800" spc="-35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80808"/>
                </a:solidFill>
                <a:latin typeface="Calibri"/>
                <a:cs typeface="Calibri"/>
              </a:rPr>
              <a:t>/</a:t>
            </a:r>
            <a:r>
              <a:rPr sz="1800" spc="-15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80808"/>
                </a:solidFill>
                <a:latin typeface="Calibri"/>
                <a:cs typeface="Calibri"/>
              </a:rPr>
              <a:t>phase</a:t>
            </a:r>
            <a:r>
              <a:rPr sz="1800" spc="-25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80808"/>
                </a:solidFill>
                <a:latin typeface="Calibri"/>
                <a:cs typeface="Calibri"/>
              </a:rPr>
              <a:t>shift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79703" y="4325902"/>
            <a:ext cx="440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8450" algn="l"/>
              </a:tabLst>
            </a:pPr>
            <a:r>
              <a:rPr sz="1000" spc="-5" dirty="0">
                <a:latin typeface="Calibri"/>
                <a:cs typeface="Calibri"/>
              </a:rPr>
              <a:t>0	</a:t>
            </a:r>
            <a:r>
              <a:rPr sz="1000" spc="-10" dirty="0">
                <a:latin typeface="Calibri"/>
                <a:cs typeface="Calibri"/>
              </a:rPr>
              <a:t>9</a:t>
            </a: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52168" y="4173502"/>
            <a:ext cx="2178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180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17905" y="4155880"/>
            <a:ext cx="2178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270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51305" y="4308280"/>
            <a:ext cx="2178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360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53983" y="5644388"/>
            <a:ext cx="514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P</a:t>
            </a:r>
            <a:r>
              <a:rPr sz="1600" spc="-10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se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8" name="object 4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97351" y="3886200"/>
            <a:ext cx="1839467" cy="1908047"/>
          </a:xfrm>
          <a:prstGeom prst="rect">
            <a:avLst/>
          </a:prstGeom>
        </p:spPr>
      </p:pic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0" dirty="0">
                <a:latin typeface="Arial"/>
                <a:cs typeface="Arial"/>
              </a:rPr>
              <a:t>Sine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90" dirty="0">
                <a:latin typeface="Arial"/>
                <a:cs typeface="Arial"/>
              </a:rPr>
              <a:t>Wave</a:t>
            </a:r>
            <a:r>
              <a:rPr b="1" spc="-10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-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70" dirty="0">
                <a:latin typeface="Arial"/>
                <a:cs typeface="Arial"/>
              </a:rPr>
              <a:t>Wavelength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713439"/>
            <a:ext cx="8552815" cy="234251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89230" marR="569595" indent="-177165">
              <a:lnSpc>
                <a:spcPct val="70000"/>
              </a:lnSpc>
              <a:spcBef>
                <a:spcPts val="104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b="1" spc="-15" dirty="0">
                <a:solidFill>
                  <a:srgbClr val="3F3F3F"/>
                </a:solidFill>
                <a:latin typeface="Calibri"/>
                <a:cs typeface="Calibri"/>
              </a:rPr>
              <a:t>Characteristic</a:t>
            </a:r>
            <a:r>
              <a:rPr sz="26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6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b="1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6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3F3F3F"/>
                </a:solidFill>
                <a:latin typeface="Calibri"/>
                <a:cs typeface="Calibri"/>
              </a:rPr>
              <a:t>traveling</a:t>
            </a:r>
            <a:r>
              <a:rPr sz="26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3F3F3F"/>
                </a:solidFill>
                <a:latin typeface="Calibri"/>
                <a:cs typeface="Calibri"/>
              </a:rPr>
              <a:t>through</a:t>
            </a:r>
            <a:r>
              <a:rPr sz="2600" b="1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transmission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medium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4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distance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6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simple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6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travel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in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one period</a:t>
            </a:r>
            <a:endParaRPr sz="2600">
              <a:latin typeface="Calibri"/>
              <a:cs typeface="Calibri"/>
            </a:endParaRPr>
          </a:p>
          <a:p>
            <a:pPr marL="189230" marR="121920" indent="-177165">
              <a:lnSpc>
                <a:spcPct val="70000"/>
              </a:lnSpc>
              <a:spcBef>
                <a:spcPts val="14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wavelength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binds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period or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frequency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simple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sine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wave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propagation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speed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medium.\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46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While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frequency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independent</a:t>
            </a:r>
            <a:r>
              <a:rPr sz="26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medium,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7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697667" y="3911046"/>
            <a:ext cx="8406130" cy="242506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89230" marR="751840">
              <a:lnSpc>
                <a:spcPct val="70000"/>
              </a:lnSpc>
              <a:spcBef>
                <a:spcPts val="1040"/>
              </a:spcBef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wavelength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depends on both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frequency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medium</a:t>
            </a:r>
            <a:endParaRPr sz="2600">
              <a:latin typeface="Calibri"/>
              <a:cs typeface="Calibri"/>
            </a:endParaRPr>
          </a:p>
          <a:p>
            <a:pPr marL="189230" marR="248920" indent="-177165">
              <a:lnSpc>
                <a:spcPct val="70000"/>
              </a:lnSpc>
              <a:spcBef>
                <a:spcPts val="139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wavelength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calculated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if one is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given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propagation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speed 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medium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and the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frequency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 the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600">
              <a:latin typeface="Calibri"/>
              <a:cs typeface="Calibri"/>
            </a:endParaRPr>
          </a:p>
          <a:p>
            <a:pPr marL="189230" marR="5080" indent="-177165">
              <a:lnSpc>
                <a:spcPct val="65800"/>
              </a:lnSpc>
              <a:spcBef>
                <a:spcPts val="153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represent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wavelength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λ,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propagation</a:t>
            </a:r>
            <a:r>
              <a:rPr sz="26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speed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i="1" spc="-5" dirty="0">
                <a:solidFill>
                  <a:srgbClr val="3F3F3F"/>
                </a:solidFill>
                <a:latin typeface="Calibri"/>
                <a:cs typeface="Calibri"/>
              </a:rPr>
              <a:t>c,</a:t>
            </a:r>
            <a:r>
              <a:rPr sz="26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600" i="1" spc="-5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i="1" spc="-5" dirty="0">
                <a:solidFill>
                  <a:srgbClr val="3F3F3F"/>
                </a:solidFill>
                <a:latin typeface="Calibri"/>
                <a:cs typeface="Calibri"/>
              </a:rPr>
              <a:t>fr</a:t>
            </a:r>
            <a:r>
              <a:rPr sz="2600" i="1" spc="-1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600" i="1" dirty="0">
                <a:solidFill>
                  <a:srgbClr val="3F3F3F"/>
                </a:solidFill>
                <a:latin typeface="Calibri"/>
                <a:cs typeface="Calibri"/>
              </a:rPr>
              <a:t>q</a:t>
            </a:r>
            <a:r>
              <a:rPr sz="2600" i="1" spc="-10" dirty="0">
                <a:solidFill>
                  <a:srgbClr val="3F3F3F"/>
                </a:solidFill>
                <a:latin typeface="Calibri"/>
                <a:cs typeface="Calibri"/>
              </a:rPr>
              <a:t>ue</a:t>
            </a:r>
            <a:r>
              <a:rPr sz="2600" i="1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600" i="1" spc="-5" dirty="0">
                <a:solidFill>
                  <a:srgbClr val="3F3F3F"/>
                </a:solidFill>
                <a:latin typeface="Calibri"/>
                <a:cs typeface="Calibri"/>
              </a:rPr>
              <a:t>c</a:t>
            </a:r>
            <a:r>
              <a:rPr sz="2600" i="1" dirty="0">
                <a:solidFill>
                  <a:srgbClr val="3F3F3F"/>
                </a:solidFill>
                <a:latin typeface="Calibri"/>
                <a:cs typeface="Calibri"/>
              </a:rPr>
              <a:t>y</a:t>
            </a:r>
            <a:r>
              <a:rPr sz="26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i="1" spc="-10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600" i="1" dirty="0">
                <a:solidFill>
                  <a:srgbClr val="3F3F3F"/>
                </a:solidFill>
                <a:latin typeface="Calibri"/>
                <a:cs typeface="Calibri"/>
              </a:rPr>
              <a:t>y</a:t>
            </a:r>
            <a:r>
              <a:rPr sz="26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i="1" spc="-125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r>
              <a:rPr sz="2600" i="1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26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i="1" spc="-20" dirty="0">
                <a:solidFill>
                  <a:srgbClr val="3F3F3F"/>
                </a:solidFill>
                <a:latin typeface="Calibri"/>
                <a:cs typeface="Calibri"/>
              </a:rPr>
              <a:t>w</a:t>
            </a:r>
            <a:r>
              <a:rPr sz="2600" i="1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6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i="1" spc="-10" dirty="0">
                <a:solidFill>
                  <a:srgbClr val="3F3F3F"/>
                </a:solidFill>
                <a:latin typeface="Calibri"/>
                <a:cs typeface="Calibri"/>
              </a:rPr>
              <a:t>ge</a:t>
            </a:r>
            <a:r>
              <a:rPr sz="2600" i="1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6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λ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= </a:t>
            </a:r>
            <a:r>
              <a:rPr sz="2600" b="1" i="1" dirty="0">
                <a:solidFill>
                  <a:srgbClr val="3F3F3F"/>
                </a:solidFill>
                <a:latin typeface="Calibri"/>
                <a:cs typeface="Calibri"/>
              </a:rPr>
              <a:t>c</a:t>
            </a:r>
            <a:r>
              <a:rPr sz="2600" b="1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3F3F3F"/>
                </a:solidFill>
                <a:latin typeface="Calibri"/>
                <a:cs typeface="Calibri"/>
              </a:rPr>
              <a:t>/ f = c</a:t>
            </a:r>
            <a:r>
              <a:rPr sz="2600" b="1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i="1" spc="-605" dirty="0">
                <a:solidFill>
                  <a:srgbClr val="3F3F3F"/>
                </a:solidFill>
                <a:latin typeface="Arial"/>
                <a:cs typeface="Arial"/>
              </a:rPr>
              <a:t>×</a:t>
            </a:r>
            <a:r>
              <a:rPr sz="2600" b="1" i="1" spc="-14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1042660"/>
            <a:ext cx="79324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u="none" spc="-40" dirty="0">
                <a:latin typeface="Arial"/>
                <a:cs typeface="Arial"/>
              </a:rPr>
              <a:t>Sine</a:t>
            </a:r>
            <a:r>
              <a:rPr sz="3200" b="1" u="none" spc="-140" dirty="0">
                <a:latin typeface="Arial"/>
                <a:cs typeface="Arial"/>
              </a:rPr>
              <a:t> </a:t>
            </a:r>
            <a:r>
              <a:rPr sz="3200" b="1" u="none" spc="-70" dirty="0">
                <a:latin typeface="Arial"/>
                <a:cs typeface="Arial"/>
              </a:rPr>
              <a:t>Wave</a:t>
            </a:r>
            <a:r>
              <a:rPr sz="3200" b="1" u="none" spc="-125" dirty="0">
                <a:latin typeface="Arial"/>
                <a:cs typeface="Arial"/>
              </a:rPr>
              <a:t> </a:t>
            </a:r>
            <a:r>
              <a:rPr sz="3200" b="1" u="none" dirty="0">
                <a:latin typeface="Arial"/>
                <a:cs typeface="Arial"/>
              </a:rPr>
              <a:t>-</a:t>
            </a:r>
            <a:r>
              <a:rPr sz="3200" b="1" u="none" spc="-120" dirty="0">
                <a:latin typeface="Arial"/>
                <a:cs typeface="Arial"/>
              </a:rPr>
              <a:t> </a:t>
            </a:r>
            <a:r>
              <a:rPr sz="3200" b="1" i="1" u="none" spc="-55" dirty="0">
                <a:latin typeface="Arial"/>
                <a:cs typeface="Arial"/>
              </a:rPr>
              <a:t>Time</a:t>
            </a:r>
            <a:r>
              <a:rPr sz="3200" b="1" i="1" u="none" spc="-125" dirty="0">
                <a:latin typeface="Arial"/>
                <a:cs typeface="Arial"/>
              </a:rPr>
              <a:t> </a:t>
            </a:r>
            <a:r>
              <a:rPr sz="3200" b="1" i="1" u="none" spc="-35" dirty="0">
                <a:latin typeface="Arial"/>
                <a:cs typeface="Arial"/>
              </a:rPr>
              <a:t>and</a:t>
            </a:r>
            <a:r>
              <a:rPr sz="3200" b="1" i="1" u="none" spc="-130" dirty="0">
                <a:latin typeface="Arial"/>
                <a:cs typeface="Arial"/>
              </a:rPr>
              <a:t> </a:t>
            </a:r>
            <a:r>
              <a:rPr sz="3200" b="1" i="1" u="none" spc="-45" dirty="0">
                <a:latin typeface="Arial"/>
                <a:cs typeface="Arial"/>
              </a:rPr>
              <a:t>Frequency</a:t>
            </a:r>
            <a:r>
              <a:rPr sz="3200" b="1" i="1" u="none" spc="-160" dirty="0">
                <a:latin typeface="Arial"/>
                <a:cs typeface="Arial"/>
              </a:rPr>
              <a:t> </a:t>
            </a:r>
            <a:r>
              <a:rPr sz="3200" b="1" i="1" u="none" spc="-45" dirty="0">
                <a:latin typeface="Arial"/>
                <a:cs typeface="Arial"/>
              </a:rPr>
              <a:t>Domains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5" name="object 5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7667" y="1722582"/>
            <a:ext cx="8555355" cy="24612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89230" marR="106680" indent="-177165">
              <a:lnSpc>
                <a:spcPct val="70000"/>
              </a:lnSpc>
              <a:spcBef>
                <a:spcPts val="96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Sine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wave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shown by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using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called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timedomain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plot,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which </a:t>
            </a:r>
            <a:r>
              <a:rPr sz="2400" b="1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shows</a:t>
            </a:r>
            <a:r>
              <a:rPr sz="2400" b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changes in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4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respect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 to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189230" marR="5080" indent="-177165">
              <a:lnSpc>
                <a:spcPct val="70000"/>
              </a:lnSpc>
              <a:spcBef>
                <a:spcPts val="14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114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show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relationship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frequency,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400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frequency-domain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plot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53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domain,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sine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wave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represented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4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spike</a:t>
            </a:r>
            <a:endParaRPr sz="2400">
              <a:latin typeface="Calibri"/>
              <a:cs typeface="Calibri"/>
            </a:endParaRPr>
          </a:p>
          <a:p>
            <a:pPr marL="189230" marR="75565" indent="-177165">
              <a:lnSpc>
                <a:spcPct val="70000"/>
              </a:lnSpc>
              <a:spcBef>
                <a:spcPts val="14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position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spike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shows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frequency;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its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height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shows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the </a:t>
            </a:r>
            <a:r>
              <a:rPr sz="2400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peak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419600"/>
            <a:ext cx="8813291" cy="22860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Digital</a:t>
            </a:r>
            <a:r>
              <a:rPr b="1" spc="-150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signal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967" y="1768912"/>
            <a:ext cx="8634095" cy="23317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01930" indent="-177165">
              <a:lnSpc>
                <a:spcPct val="100000"/>
              </a:lnSpc>
              <a:spcBef>
                <a:spcPts val="254"/>
              </a:spcBef>
              <a:buClr>
                <a:srgbClr val="1CACE4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Information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also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be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represented</a:t>
            </a:r>
            <a:r>
              <a:rPr sz="20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digital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000">
              <a:latin typeface="Calibri"/>
              <a:cs typeface="Calibri"/>
            </a:endParaRPr>
          </a:p>
          <a:p>
            <a:pPr marL="431800" marR="372110" lvl="1" indent="-182880">
              <a:lnSpc>
                <a:spcPts val="2160"/>
              </a:lnSpc>
              <a:spcBef>
                <a:spcPts val="425"/>
              </a:spcBef>
              <a:buClr>
                <a:srgbClr val="1CACE4"/>
              </a:buClr>
              <a:buChar char="◦"/>
              <a:tabLst>
                <a:tab pos="432434" algn="l"/>
              </a:tabLst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example,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1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encoded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positive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voltage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value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0 as </a:t>
            </a:r>
            <a:r>
              <a:rPr sz="2000" spc="-43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zero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voltage.</a:t>
            </a:r>
            <a:endParaRPr sz="2000">
              <a:latin typeface="Calibri"/>
              <a:cs typeface="Calibri"/>
            </a:endParaRPr>
          </a:p>
          <a:p>
            <a:pPr marL="201930" indent="-177165">
              <a:lnSpc>
                <a:spcPct val="100000"/>
              </a:lnSpc>
              <a:spcBef>
                <a:spcPts val="1340"/>
              </a:spcBef>
              <a:buClr>
                <a:srgbClr val="1CACE4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more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than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levels-</a:t>
            </a:r>
            <a:r>
              <a:rPr sz="20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more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than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bit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each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level</a:t>
            </a:r>
            <a:endParaRPr sz="2000">
              <a:latin typeface="Calibri"/>
              <a:cs typeface="Calibri"/>
            </a:endParaRPr>
          </a:p>
          <a:p>
            <a:pPr marL="201930" indent="-177165">
              <a:lnSpc>
                <a:spcPct val="100000"/>
              </a:lnSpc>
              <a:spcBef>
                <a:spcPts val="1150"/>
              </a:spcBef>
              <a:buClr>
                <a:srgbClr val="1CACE4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send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bit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level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Figure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 and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bits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level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Figure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b.</a:t>
            </a:r>
            <a:endParaRPr sz="2000">
              <a:latin typeface="Calibri"/>
              <a:cs typeface="Calibri"/>
            </a:endParaRPr>
          </a:p>
          <a:p>
            <a:pPr marL="201930" indent="-177165">
              <a:lnSpc>
                <a:spcPct val="100000"/>
              </a:lnSpc>
              <a:spcBef>
                <a:spcPts val="1165"/>
              </a:spcBef>
              <a:buClr>
                <a:srgbClr val="1CACE4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general,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has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0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levels,</a:t>
            </a:r>
            <a:r>
              <a:rPr sz="20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each level</a:t>
            </a:r>
            <a:r>
              <a:rPr sz="20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needs</a:t>
            </a:r>
            <a:r>
              <a:rPr sz="2000" i="1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5" dirty="0">
                <a:solidFill>
                  <a:srgbClr val="3F3F3F"/>
                </a:solidFill>
                <a:latin typeface="Calibri"/>
                <a:cs typeface="Calibri"/>
              </a:rPr>
              <a:t>log</a:t>
            </a:r>
            <a:r>
              <a:rPr sz="1950" i="1" spc="7" baseline="-21367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1950" i="1" spc="217" baseline="-21367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0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bits.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4495800"/>
            <a:ext cx="5631179" cy="22098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Digital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signal</a:t>
            </a:r>
            <a:r>
              <a:rPr b="1" spc="-114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–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-35" dirty="0">
                <a:latin typeface="Arial"/>
                <a:cs typeface="Arial"/>
              </a:rPr>
              <a:t>Bit</a:t>
            </a:r>
            <a:r>
              <a:rPr b="1" spc="-100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rate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78970"/>
            <a:ext cx="8714740" cy="46558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9230" marR="5080" indent="-177165">
              <a:lnSpc>
                <a:spcPts val="2590"/>
              </a:lnSpc>
              <a:spcBef>
                <a:spcPts val="4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nonperiodic,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thus period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4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no </a:t>
            </a:r>
            <a:r>
              <a:rPr sz="2400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tappropriate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characteristics</a:t>
            </a:r>
            <a:r>
              <a:rPr sz="24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ts val="2735"/>
              </a:lnSpc>
              <a:spcBef>
                <a:spcPts val="10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  <a:tab pos="8211184" algn="l"/>
              </a:tabLst>
            </a:pP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4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(instead</a:t>
            </a:r>
            <a:r>
              <a:rPr sz="24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frequency)—is</a:t>
            </a:r>
            <a:r>
              <a:rPr sz="2400" i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used</a:t>
            </a:r>
            <a:r>
              <a:rPr sz="24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describe</a:t>
            </a:r>
            <a:r>
              <a:rPr sz="2400" i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4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signals.	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 marL="189230">
              <a:lnSpc>
                <a:spcPts val="2735"/>
              </a:lnSpc>
            </a:pPr>
            <a:r>
              <a:rPr sz="2400" b="1" i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b="1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2400" b="1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sent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s,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expressed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in bits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per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second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(bps).</a:t>
            </a:r>
            <a:endParaRPr sz="2400">
              <a:latin typeface="Calibri"/>
              <a:cs typeface="Calibri"/>
            </a:endParaRPr>
          </a:p>
          <a:p>
            <a:pPr marL="189230" marR="180975" indent="-177165">
              <a:lnSpc>
                <a:spcPts val="2590"/>
              </a:lnSpc>
              <a:spcBef>
                <a:spcPts val="144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can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represented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kbps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(kilo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bits per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second,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where </a:t>
            </a:r>
            <a:r>
              <a:rPr sz="2400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kilo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means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one thousand) or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Mbps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(mega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bits per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second, where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mega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means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million)</a:t>
            </a:r>
            <a:endParaRPr sz="2400">
              <a:latin typeface="Calibri"/>
              <a:cs typeface="Calibri"/>
            </a:endParaRPr>
          </a:p>
          <a:p>
            <a:pPr marL="189230" marR="579120" indent="-177165">
              <a:lnSpc>
                <a:spcPts val="2590"/>
              </a:lnSpc>
              <a:spcBef>
                <a:spcPts val="140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Assume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need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download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text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documents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at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100 </a:t>
            </a:r>
            <a:r>
              <a:rPr sz="2400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pages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per minute.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What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required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the channel?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8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page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average</a:t>
            </a:r>
            <a:r>
              <a:rPr sz="24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24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lines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with 80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characters</a:t>
            </a: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each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line.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ts val="2735"/>
              </a:lnSpc>
              <a:spcBef>
                <a:spcPts val="16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If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assume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one</a:t>
            </a:r>
            <a:r>
              <a:rPr sz="24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character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requires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8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bits, 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 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4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100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60" dirty="0">
                <a:solidFill>
                  <a:srgbClr val="3F3F3F"/>
                </a:solidFill>
                <a:latin typeface="Arial"/>
                <a:cs typeface="Arial"/>
              </a:rPr>
              <a:t>×</a:t>
            </a:r>
            <a:endParaRPr sz="2400">
              <a:latin typeface="Arial"/>
              <a:cs typeface="Arial"/>
            </a:endParaRPr>
          </a:p>
          <a:p>
            <a:pPr marL="419100">
              <a:lnSpc>
                <a:spcPts val="2735"/>
              </a:lnSpc>
            </a:pP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4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60" dirty="0">
                <a:solidFill>
                  <a:srgbClr val="3F3F3F"/>
                </a:solidFill>
                <a:latin typeface="Arial"/>
                <a:cs typeface="Arial"/>
              </a:rPr>
              <a:t>×</a:t>
            </a:r>
            <a:r>
              <a:rPr sz="2400" b="1" spc="-1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8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60" dirty="0">
                <a:solidFill>
                  <a:srgbClr val="3F3F3F"/>
                </a:solidFill>
                <a:latin typeface="Arial"/>
                <a:cs typeface="Arial"/>
              </a:rPr>
              <a:t>×</a:t>
            </a:r>
            <a:r>
              <a:rPr sz="2400" b="1" spc="-1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8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=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400" b="1" spc="5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536</a:t>
            </a:r>
            <a:r>
              <a:rPr sz="2400" b="1" spc="5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00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5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4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1.53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6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Mb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Digital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signal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–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i="1" spc="-35" dirty="0">
                <a:latin typeface="Arial"/>
                <a:cs typeface="Arial"/>
              </a:rPr>
              <a:t>Bit</a:t>
            </a:r>
            <a:r>
              <a:rPr b="1" i="1" spc="-105" dirty="0">
                <a:latin typeface="Arial"/>
                <a:cs typeface="Arial"/>
              </a:rPr>
              <a:t> </a:t>
            </a:r>
            <a:r>
              <a:rPr b="1" i="1" spc="-45" dirty="0">
                <a:latin typeface="Arial"/>
                <a:cs typeface="Arial"/>
              </a:rPr>
              <a:t>Length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78970"/>
            <a:ext cx="8729980" cy="33051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9230" marR="5080" indent="-177165">
              <a:lnSpc>
                <a:spcPts val="2590"/>
              </a:lnSpc>
              <a:spcBef>
                <a:spcPts val="4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We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discussed 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concept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the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wavelength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analog signal: the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distance</a:t>
            </a: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4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cycle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occupies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 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medium.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define</a:t>
            </a:r>
            <a:r>
              <a:rPr sz="24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something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similar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digital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signal: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bit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length.</a:t>
            </a:r>
            <a:endParaRPr sz="2400">
              <a:latin typeface="Calibri"/>
              <a:cs typeface="Calibri"/>
            </a:endParaRPr>
          </a:p>
          <a:p>
            <a:pPr marL="189230" marR="616585" indent="-177165">
              <a:lnSpc>
                <a:spcPts val="2590"/>
              </a:lnSpc>
              <a:spcBef>
                <a:spcPts val="144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length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distance</a:t>
            </a:r>
            <a:r>
              <a:rPr sz="2400" b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occupies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transmission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medium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75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length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(bit</a:t>
            </a:r>
            <a:r>
              <a:rPr sz="24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3F3F3F"/>
                </a:solidFill>
                <a:latin typeface="Calibri"/>
                <a:cs typeface="Calibri"/>
              </a:rPr>
              <a:t>rate)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ts val="2735"/>
              </a:lnSpc>
              <a:spcBef>
                <a:spcPts val="13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  <a:tab pos="425640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length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Example	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download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text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documents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189230">
              <a:lnSpc>
                <a:spcPts val="2735"/>
              </a:lnSpc>
            </a:pP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1/1,536,000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0.000000651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0.651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μs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856733"/>
            <a:ext cx="81508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i="1" u="none" spc="-55" dirty="0">
                <a:latin typeface="Arial"/>
                <a:cs typeface="Arial"/>
              </a:rPr>
              <a:t>Transmission</a:t>
            </a:r>
            <a:r>
              <a:rPr sz="4400" b="1" i="1" u="none" spc="-130" dirty="0">
                <a:latin typeface="Arial"/>
                <a:cs typeface="Arial"/>
              </a:rPr>
              <a:t> </a:t>
            </a:r>
            <a:r>
              <a:rPr sz="4400" b="1" i="1" u="none" spc="-25" dirty="0">
                <a:latin typeface="Arial"/>
                <a:cs typeface="Arial"/>
              </a:rPr>
              <a:t>of</a:t>
            </a:r>
            <a:r>
              <a:rPr sz="4400" b="1" i="1" u="none" spc="-114" dirty="0">
                <a:latin typeface="Arial"/>
                <a:cs typeface="Arial"/>
              </a:rPr>
              <a:t> </a:t>
            </a:r>
            <a:r>
              <a:rPr sz="4400" b="1" i="1" u="none" spc="-45" dirty="0">
                <a:latin typeface="Arial"/>
                <a:cs typeface="Arial"/>
              </a:rPr>
              <a:t>Digital</a:t>
            </a:r>
            <a:r>
              <a:rPr sz="4400" b="1" i="1" u="none" spc="-105" dirty="0">
                <a:latin typeface="Arial"/>
                <a:cs typeface="Arial"/>
              </a:rPr>
              <a:t> </a:t>
            </a:r>
            <a:r>
              <a:rPr sz="4400" b="1" i="1" u="none" spc="-45" dirty="0">
                <a:latin typeface="Arial"/>
                <a:cs typeface="Arial"/>
              </a:rPr>
              <a:t>Signals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667" y="1778970"/>
            <a:ext cx="8638540" cy="35077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9230" marR="1032510" indent="-177165">
              <a:lnSpc>
                <a:spcPts val="2590"/>
              </a:lnSpc>
              <a:spcBef>
                <a:spcPts val="4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 is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composite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analog signal with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frequencies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zero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infinity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how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from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point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to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point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B?</a:t>
            </a:r>
            <a:endParaRPr sz="2400">
              <a:latin typeface="Calibri"/>
              <a:cs typeface="Calibri"/>
            </a:endParaRPr>
          </a:p>
          <a:p>
            <a:pPr marL="189230" marR="975994" indent="-177165">
              <a:lnSpc>
                <a:spcPts val="2590"/>
              </a:lnSpc>
              <a:spcBef>
                <a:spcPts val="144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We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can transmit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by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using one of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different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approaches:</a:t>
            </a:r>
            <a:endParaRPr sz="2400">
              <a:latin typeface="Calibri"/>
              <a:cs typeface="Calibri"/>
            </a:endParaRPr>
          </a:p>
          <a:p>
            <a:pPr marL="419100" marR="705485" lvl="1" indent="-182880">
              <a:lnSpc>
                <a:spcPts val="2590"/>
              </a:lnSpc>
              <a:spcBef>
                <a:spcPts val="400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400" b="1" i="1" spc="-5" dirty="0">
                <a:solidFill>
                  <a:srgbClr val="3F3F3F"/>
                </a:solidFill>
                <a:latin typeface="Calibri"/>
                <a:cs typeface="Calibri"/>
              </a:rPr>
              <a:t>Baseband transmission means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sending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over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without changing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4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  <a:p>
            <a:pPr marL="419100" marR="5080" lvl="1" indent="-182880">
              <a:lnSpc>
                <a:spcPts val="2590"/>
              </a:lnSpc>
              <a:spcBef>
                <a:spcPts val="6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Broadband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transmission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or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modulation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means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changing 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analog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4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447800"/>
            <a:ext cx="9145905" cy="5866130"/>
            <a:chOff x="457200" y="1447800"/>
            <a:chExt cx="9145905" cy="5866130"/>
          </a:xfrm>
        </p:grpSpPr>
        <p:sp>
          <p:nvSpPr>
            <p:cNvPr id="3" name="object 3"/>
            <p:cNvSpPr/>
            <p:nvPr/>
          </p:nvSpPr>
          <p:spPr>
            <a:xfrm>
              <a:off x="679691" y="1517903"/>
              <a:ext cx="8923020" cy="2369820"/>
            </a:xfrm>
            <a:custGeom>
              <a:avLst/>
              <a:gdLst/>
              <a:ahLst/>
              <a:cxnLst/>
              <a:rect l="l" t="t" r="r" b="b"/>
              <a:pathLst>
                <a:path w="8923020" h="2369820">
                  <a:moveTo>
                    <a:pt x="8923020" y="0"/>
                  </a:moveTo>
                  <a:lnTo>
                    <a:pt x="8915400" y="0"/>
                  </a:lnTo>
                  <a:lnTo>
                    <a:pt x="8915400" y="13716"/>
                  </a:lnTo>
                  <a:lnTo>
                    <a:pt x="8915400" y="365760"/>
                  </a:lnTo>
                  <a:lnTo>
                    <a:pt x="8915400" y="2011680"/>
                  </a:lnTo>
                  <a:lnTo>
                    <a:pt x="4204716" y="2011680"/>
                  </a:lnTo>
                  <a:lnTo>
                    <a:pt x="4204716" y="1385316"/>
                  </a:lnTo>
                  <a:lnTo>
                    <a:pt x="8915400" y="1385316"/>
                  </a:lnTo>
                  <a:lnTo>
                    <a:pt x="8915400" y="1371600"/>
                  </a:lnTo>
                  <a:lnTo>
                    <a:pt x="4204716" y="1371600"/>
                  </a:lnTo>
                  <a:lnTo>
                    <a:pt x="4204716" y="1019556"/>
                  </a:lnTo>
                  <a:lnTo>
                    <a:pt x="8915400" y="1019556"/>
                  </a:lnTo>
                  <a:lnTo>
                    <a:pt x="8915400" y="1005840"/>
                  </a:lnTo>
                  <a:lnTo>
                    <a:pt x="4204716" y="1005840"/>
                  </a:lnTo>
                  <a:lnTo>
                    <a:pt x="4204716" y="379476"/>
                  </a:lnTo>
                  <a:lnTo>
                    <a:pt x="8915400" y="379476"/>
                  </a:lnTo>
                  <a:lnTo>
                    <a:pt x="8915400" y="365760"/>
                  </a:lnTo>
                  <a:lnTo>
                    <a:pt x="4204716" y="365760"/>
                  </a:lnTo>
                  <a:lnTo>
                    <a:pt x="4204716" y="13716"/>
                  </a:lnTo>
                  <a:lnTo>
                    <a:pt x="8915400" y="13716"/>
                  </a:lnTo>
                  <a:lnTo>
                    <a:pt x="8915400" y="0"/>
                  </a:lnTo>
                  <a:lnTo>
                    <a:pt x="4204716" y="0"/>
                  </a:lnTo>
                  <a:lnTo>
                    <a:pt x="4191000" y="0"/>
                  </a:lnTo>
                  <a:lnTo>
                    <a:pt x="4191000" y="13716"/>
                  </a:lnTo>
                  <a:lnTo>
                    <a:pt x="4191000" y="2011680"/>
                  </a:lnTo>
                  <a:lnTo>
                    <a:pt x="13716" y="2011680"/>
                  </a:lnTo>
                  <a:lnTo>
                    <a:pt x="13716" y="1385316"/>
                  </a:lnTo>
                  <a:lnTo>
                    <a:pt x="4191000" y="1385316"/>
                  </a:lnTo>
                  <a:lnTo>
                    <a:pt x="4191000" y="1371600"/>
                  </a:lnTo>
                  <a:lnTo>
                    <a:pt x="13716" y="1371600"/>
                  </a:lnTo>
                  <a:lnTo>
                    <a:pt x="13716" y="1019556"/>
                  </a:lnTo>
                  <a:lnTo>
                    <a:pt x="4191000" y="1019556"/>
                  </a:lnTo>
                  <a:lnTo>
                    <a:pt x="4191000" y="1005840"/>
                  </a:lnTo>
                  <a:lnTo>
                    <a:pt x="13716" y="1005840"/>
                  </a:lnTo>
                  <a:lnTo>
                    <a:pt x="13716" y="379476"/>
                  </a:lnTo>
                  <a:lnTo>
                    <a:pt x="4191000" y="379476"/>
                  </a:lnTo>
                  <a:lnTo>
                    <a:pt x="4191000" y="365760"/>
                  </a:lnTo>
                  <a:lnTo>
                    <a:pt x="13716" y="365760"/>
                  </a:lnTo>
                  <a:lnTo>
                    <a:pt x="13716" y="13716"/>
                  </a:lnTo>
                  <a:lnTo>
                    <a:pt x="4191000" y="13716"/>
                  </a:lnTo>
                  <a:lnTo>
                    <a:pt x="4191000" y="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13716"/>
                  </a:lnTo>
                  <a:lnTo>
                    <a:pt x="0" y="2369820"/>
                  </a:lnTo>
                  <a:lnTo>
                    <a:pt x="13716" y="2369820"/>
                  </a:lnTo>
                  <a:lnTo>
                    <a:pt x="13716" y="2025396"/>
                  </a:lnTo>
                  <a:lnTo>
                    <a:pt x="4191000" y="2025396"/>
                  </a:lnTo>
                  <a:lnTo>
                    <a:pt x="4191000" y="2369820"/>
                  </a:lnTo>
                  <a:lnTo>
                    <a:pt x="4204716" y="2369820"/>
                  </a:lnTo>
                  <a:lnTo>
                    <a:pt x="4204716" y="2025396"/>
                  </a:lnTo>
                  <a:lnTo>
                    <a:pt x="8915400" y="2025396"/>
                  </a:lnTo>
                  <a:lnTo>
                    <a:pt x="8915400" y="2369820"/>
                  </a:lnTo>
                  <a:lnTo>
                    <a:pt x="8923020" y="2369820"/>
                  </a:lnTo>
                  <a:lnTo>
                    <a:pt x="8923020" y="13716"/>
                  </a:lnTo>
                  <a:lnTo>
                    <a:pt x="89230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0" y="1447800"/>
              <a:ext cx="790955" cy="381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7200" y="1524000"/>
              <a:ext cx="987551" cy="3962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9691" y="3886199"/>
              <a:ext cx="8923020" cy="2948940"/>
            </a:xfrm>
            <a:custGeom>
              <a:avLst/>
              <a:gdLst/>
              <a:ahLst/>
              <a:cxnLst/>
              <a:rect l="l" t="t" r="r" b="b"/>
              <a:pathLst>
                <a:path w="8923020" h="2948940">
                  <a:moveTo>
                    <a:pt x="8923020" y="0"/>
                  </a:moveTo>
                  <a:lnTo>
                    <a:pt x="8915400" y="0"/>
                  </a:lnTo>
                  <a:lnTo>
                    <a:pt x="8915400" y="9144"/>
                  </a:lnTo>
                  <a:lnTo>
                    <a:pt x="8915400" y="22860"/>
                  </a:lnTo>
                  <a:lnTo>
                    <a:pt x="8915400" y="2935224"/>
                  </a:lnTo>
                  <a:lnTo>
                    <a:pt x="4204716" y="2935224"/>
                  </a:lnTo>
                  <a:lnTo>
                    <a:pt x="4204716" y="2034540"/>
                  </a:lnTo>
                  <a:lnTo>
                    <a:pt x="8915400" y="2034540"/>
                  </a:lnTo>
                  <a:lnTo>
                    <a:pt x="8915400" y="2020824"/>
                  </a:lnTo>
                  <a:lnTo>
                    <a:pt x="4204716" y="2020824"/>
                  </a:lnTo>
                  <a:lnTo>
                    <a:pt x="4204716" y="1394460"/>
                  </a:lnTo>
                  <a:lnTo>
                    <a:pt x="8915400" y="1394460"/>
                  </a:lnTo>
                  <a:lnTo>
                    <a:pt x="8915400" y="1380744"/>
                  </a:lnTo>
                  <a:lnTo>
                    <a:pt x="4204716" y="1380744"/>
                  </a:lnTo>
                  <a:lnTo>
                    <a:pt x="4204716" y="754380"/>
                  </a:lnTo>
                  <a:lnTo>
                    <a:pt x="8915400" y="754380"/>
                  </a:lnTo>
                  <a:lnTo>
                    <a:pt x="8915400" y="740664"/>
                  </a:lnTo>
                  <a:lnTo>
                    <a:pt x="4204716" y="740664"/>
                  </a:lnTo>
                  <a:lnTo>
                    <a:pt x="4204716" y="388620"/>
                  </a:lnTo>
                  <a:lnTo>
                    <a:pt x="8915400" y="388620"/>
                  </a:lnTo>
                  <a:lnTo>
                    <a:pt x="8915400" y="374904"/>
                  </a:lnTo>
                  <a:lnTo>
                    <a:pt x="4204716" y="374904"/>
                  </a:lnTo>
                  <a:lnTo>
                    <a:pt x="4204716" y="22860"/>
                  </a:lnTo>
                  <a:lnTo>
                    <a:pt x="8915400" y="22860"/>
                  </a:lnTo>
                  <a:lnTo>
                    <a:pt x="8915400" y="9144"/>
                  </a:lnTo>
                  <a:lnTo>
                    <a:pt x="4204716" y="9144"/>
                  </a:lnTo>
                  <a:lnTo>
                    <a:pt x="4204716" y="0"/>
                  </a:lnTo>
                  <a:lnTo>
                    <a:pt x="4191000" y="0"/>
                  </a:lnTo>
                  <a:lnTo>
                    <a:pt x="4191000" y="2935224"/>
                  </a:lnTo>
                  <a:lnTo>
                    <a:pt x="13716" y="2935224"/>
                  </a:lnTo>
                  <a:lnTo>
                    <a:pt x="13716" y="2034540"/>
                  </a:lnTo>
                  <a:lnTo>
                    <a:pt x="4191000" y="2034540"/>
                  </a:lnTo>
                  <a:lnTo>
                    <a:pt x="4191000" y="2020824"/>
                  </a:lnTo>
                  <a:lnTo>
                    <a:pt x="13716" y="2020824"/>
                  </a:lnTo>
                  <a:lnTo>
                    <a:pt x="13716" y="1394460"/>
                  </a:lnTo>
                  <a:lnTo>
                    <a:pt x="4191000" y="1394460"/>
                  </a:lnTo>
                  <a:lnTo>
                    <a:pt x="4191000" y="1380744"/>
                  </a:lnTo>
                  <a:lnTo>
                    <a:pt x="13716" y="1380744"/>
                  </a:lnTo>
                  <a:lnTo>
                    <a:pt x="13716" y="754380"/>
                  </a:lnTo>
                  <a:lnTo>
                    <a:pt x="4191000" y="754380"/>
                  </a:lnTo>
                  <a:lnTo>
                    <a:pt x="4191000" y="740664"/>
                  </a:lnTo>
                  <a:lnTo>
                    <a:pt x="13716" y="740664"/>
                  </a:lnTo>
                  <a:lnTo>
                    <a:pt x="13716" y="388620"/>
                  </a:lnTo>
                  <a:lnTo>
                    <a:pt x="4191000" y="388620"/>
                  </a:lnTo>
                  <a:lnTo>
                    <a:pt x="4191000" y="374904"/>
                  </a:lnTo>
                  <a:lnTo>
                    <a:pt x="13716" y="374904"/>
                  </a:lnTo>
                  <a:lnTo>
                    <a:pt x="13716" y="22860"/>
                  </a:lnTo>
                  <a:lnTo>
                    <a:pt x="4191000" y="22860"/>
                  </a:lnTo>
                  <a:lnTo>
                    <a:pt x="4191000" y="9144"/>
                  </a:lnTo>
                  <a:lnTo>
                    <a:pt x="13716" y="9144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2948940"/>
                  </a:lnTo>
                  <a:lnTo>
                    <a:pt x="13716" y="2948940"/>
                  </a:lnTo>
                  <a:lnTo>
                    <a:pt x="4191000" y="2948940"/>
                  </a:lnTo>
                  <a:lnTo>
                    <a:pt x="4204716" y="2948940"/>
                  </a:lnTo>
                  <a:lnTo>
                    <a:pt x="8915400" y="2948940"/>
                  </a:lnTo>
                  <a:lnTo>
                    <a:pt x="8923020" y="2948940"/>
                  </a:lnTo>
                  <a:lnTo>
                    <a:pt x="8923020" y="2935224"/>
                  </a:lnTo>
                  <a:lnTo>
                    <a:pt x="8923020" y="9144"/>
                  </a:lnTo>
                  <a:lnTo>
                    <a:pt x="89230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34242" y="472685"/>
            <a:ext cx="52336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15" dirty="0">
                <a:solidFill>
                  <a:srgbClr val="000000"/>
                </a:solidFill>
              </a:rPr>
              <a:t>Analog</a:t>
            </a:r>
            <a:r>
              <a:rPr u="none" spc="-60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Vs</a:t>
            </a:r>
            <a:r>
              <a:rPr u="none" spc="-4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Digital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13</a:t>
            </a:fld>
            <a:endParaRPr dirty="0"/>
          </a:p>
        </p:txBody>
      </p:sp>
      <p:sp>
        <p:nvSpPr>
          <p:cNvPr id="10" name="object 10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378585">
              <a:lnSpc>
                <a:spcPct val="100000"/>
              </a:lnSpc>
              <a:spcBef>
                <a:spcPts val="820"/>
              </a:spcBef>
            </a:pPr>
            <a:r>
              <a:rPr spc="-5" dirty="0"/>
              <a:t>Analog</a:t>
            </a:r>
            <a:r>
              <a:rPr spc="-60" dirty="0"/>
              <a:t> </a:t>
            </a:r>
            <a:r>
              <a:rPr spc="-5" dirty="0"/>
              <a:t>Signal</a:t>
            </a:r>
          </a:p>
          <a:p>
            <a:pPr marL="12700" marR="361950">
              <a:lnSpc>
                <a:spcPct val="100000"/>
              </a:lnSpc>
              <a:spcBef>
                <a:spcPts val="720"/>
              </a:spcBef>
            </a:pPr>
            <a:r>
              <a:rPr b="0" dirty="0">
                <a:latin typeface="Calibri"/>
                <a:cs typeface="Calibri"/>
              </a:rPr>
              <a:t>a </a:t>
            </a:r>
            <a:r>
              <a:rPr b="0" spc="-5" dirty="0">
                <a:latin typeface="Calibri"/>
                <a:cs typeface="Calibri"/>
              </a:rPr>
              <a:t>continuous </a:t>
            </a:r>
            <a:r>
              <a:rPr b="0" spc="-20" dirty="0">
                <a:latin typeface="Calibri"/>
                <a:cs typeface="Calibri"/>
              </a:rPr>
              <a:t>wave </a:t>
            </a:r>
            <a:r>
              <a:rPr b="0" spc="-5" dirty="0">
                <a:latin typeface="Calibri"/>
                <a:cs typeface="Calibri"/>
              </a:rPr>
              <a:t>that changes </a:t>
            </a:r>
            <a:r>
              <a:rPr b="0" spc="-10" dirty="0">
                <a:latin typeface="Calibri"/>
                <a:cs typeface="Calibri"/>
              </a:rPr>
              <a:t>over </a:t>
            </a:r>
            <a:r>
              <a:rPr b="0" dirty="0">
                <a:latin typeface="Calibri"/>
                <a:cs typeface="Calibri"/>
              </a:rPr>
              <a:t>a </a:t>
            </a:r>
            <a:r>
              <a:rPr b="0" spc="-39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time period.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b="0" spc="-10" dirty="0">
                <a:latin typeface="Calibri"/>
                <a:cs typeface="Calibri"/>
              </a:rPr>
              <a:t>represented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by</a:t>
            </a:r>
            <a:r>
              <a:rPr b="0" dirty="0">
                <a:latin typeface="Calibri"/>
                <a:cs typeface="Calibri"/>
              </a:rPr>
              <a:t> a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sine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spc="-15" dirty="0">
                <a:latin typeface="Calibri"/>
                <a:cs typeface="Calibri"/>
              </a:rPr>
              <a:t>wave.</a:t>
            </a:r>
          </a:p>
          <a:p>
            <a:pPr marL="12700" marR="445770">
              <a:lnSpc>
                <a:spcPct val="100000"/>
              </a:lnSpc>
              <a:spcBef>
                <a:spcPts val="720"/>
              </a:spcBef>
            </a:pPr>
            <a:r>
              <a:rPr b="0" spc="-5" dirty="0">
                <a:latin typeface="Calibri"/>
                <a:cs typeface="Calibri"/>
              </a:rPr>
              <a:t>described by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the</a:t>
            </a:r>
            <a:r>
              <a:rPr b="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amplitude,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period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or </a:t>
            </a:r>
            <a:r>
              <a:rPr b="0" spc="-39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frequency,</a:t>
            </a:r>
            <a:r>
              <a:rPr b="0" dirty="0">
                <a:latin typeface="Calibri"/>
                <a:cs typeface="Calibri"/>
              </a:rPr>
              <a:t> and phase.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b="0" dirty="0">
                <a:latin typeface="Calibri"/>
                <a:cs typeface="Calibri"/>
              </a:rPr>
              <a:t>has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5" dirty="0">
                <a:latin typeface="Calibri"/>
                <a:cs typeface="Calibri"/>
              </a:rPr>
              <a:t>fixed</a:t>
            </a:r>
            <a:r>
              <a:rPr b="0" spc="-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range.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b="0" spc="-10" dirty="0">
                <a:latin typeface="Calibri"/>
                <a:cs typeface="Calibri"/>
              </a:rPr>
              <a:t>more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prone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to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distortion.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b="0" spc="-10" dirty="0">
                <a:latin typeface="Calibri"/>
                <a:cs typeface="Calibri"/>
              </a:rPr>
              <a:t>transmit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data </a:t>
            </a:r>
            <a:r>
              <a:rPr b="0" spc="-5" dirty="0">
                <a:latin typeface="Calibri"/>
                <a:cs typeface="Calibri"/>
              </a:rPr>
              <a:t>in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the </a:t>
            </a:r>
            <a:r>
              <a:rPr b="0" spc="-15" dirty="0">
                <a:latin typeface="Calibri"/>
                <a:cs typeface="Calibri"/>
              </a:rPr>
              <a:t>form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of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spc="-15" dirty="0">
                <a:latin typeface="Calibri"/>
                <a:cs typeface="Calibri"/>
              </a:rPr>
              <a:t>wave.</a:t>
            </a:r>
          </a:p>
          <a:p>
            <a:pPr marL="12700" marR="5080">
              <a:lnSpc>
                <a:spcPct val="100000"/>
              </a:lnSpc>
              <a:spcBef>
                <a:spcPts val="720"/>
              </a:spcBef>
            </a:pPr>
            <a:r>
              <a:rPr b="0" spc="-5" dirty="0">
                <a:latin typeface="Calibri"/>
                <a:cs typeface="Calibri"/>
              </a:rPr>
              <a:t>The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human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voice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is the best</a:t>
            </a:r>
            <a:r>
              <a:rPr b="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example</a:t>
            </a:r>
            <a:r>
              <a:rPr b="0" spc="-5" dirty="0">
                <a:latin typeface="Calibri"/>
                <a:cs typeface="Calibri"/>
              </a:rPr>
              <a:t> of </a:t>
            </a:r>
            <a:r>
              <a:rPr b="0" dirty="0">
                <a:latin typeface="Calibri"/>
                <a:cs typeface="Calibri"/>
              </a:rPr>
              <a:t>an </a:t>
            </a:r>
            <a:r>
              <a:rPr b="0" spc="-39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analog signal.</a:t>
            </a:r>
          </a:p>
          <a:p>
            <a:pPr marL="12700" marR="278765">
              <a:lnSpc>
                <a:spcPct val="100000"/>
              </a:lnSpc>
              <a:spcBef>
                <a:spcPts val="720"/>
              </a:spcBef>
            </a:pPr>
            <a:r>
              <a:rPr b="0" spc="-5" dirty="0">
                <a:latin typeface="Calibri"/>
                <a:cs typeface="Calibri"/>
              </a:rPr>
              <a:t>analog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transmission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is the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only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choice</a:t>
            </a:r>
            <a:r>
              <a:rPr b="0" spc="2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if </a:t>
            </a:r>
            <a:r>
              <a:rPr b="0" spc="-39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we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have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bandpass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channel.</a:t>
            </a:r>
          </a:p>
          <a:p>
            <a:pPr marL="12700" marR="255270">
              <a:lnSpc>
                <a:spcPct val="100000"/>
              </a:lnSpc>
              <a:spcBef>
                <a:spcPts val="720"/>
              </a:spcBef>
            </a:pPr>
            <a:r>
              <a:rPr b="0" spc="-10" dirty="0">
                <a:latin typeface="Calibri"/>
                <a:cs typeface="Calibri"/>
              </a:rPr>
              <a:t>Converting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5" dirty="0">
                <a:latin typeface="Calibri"/>
                <a:cs typeface="Calibri"/>
              </a:rPr>
              <a:t> low-pass</a:t>
            </a:r>
            <a:r>
              <a:rPr b="0" spc="2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analog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signal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to</a:t>
            </a:r>
            <a:r>
              <a:rPr b="0" spc="-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 </a:t>
            </a:r>
            <a:r>
              <a:rPr b="0" spc="-3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bandpass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analog</a:t>
            </a:r>
            <a:r>
              <a:rPr b="0" spc="1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signal is</a:t>
            </a:r>
            <a:r>
              <a:rPr b="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traditionally </a:t>
            </a:r>
            <a:r>
              <a:rPr b="0" spc="-5" dirty="0">
                <a:latin typeface="Calibri"/>
                <a:cs typeface="Calibri"/>
              </a:rPr>
              <a:t> called analog-to-analog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conversion.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955539" y="1450340"/>
            <a:ext cx="4398645" cy="53289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669414">
              <a:lnSpc>
                <a:spcPct val="100000"/>
              </a:lnSpc>
              <a:spcBef>
                <a:spcPts val="820"/>
              </a:spcBef>
            </a:pPr>
            <a:r>
              <a:rPr sz="1800" b="1" spc="-5" dirty="0">
                <a:latin typeface="Calibri"/>
                <a:cs typeface="Calibri"/>
              </a:rPr>
              <a:t>Digital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  <a:p>
            <a:pPr marL="12700" marR="470534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discrete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wave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 carries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binary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form.</a:t>
            </a:r>
            <a:endParaRPr sz="1800">
              <a:latin typeface="Calibri"/>
              <a:cs typeface="Calibri"/>
            </a:endParaRPr>
          </a:p>
          <a:p>
            <a:pPr marL="12700" marR="869950">
              <a:lnSpc>
                <a:spcPct val="133300"/>
              </a:lnSpc>
            </a:pPr>
            <a:r>
              <a:rPr sz="1800" spc="-10" dirty="0">
                <a:latin typeface="Calibri"/>
                <a:cs typeface="Calibri"/>
              </a:rPr>
              <a:t>represented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square </a:t>
            </a:r>
            <a:r>
              <a:rPr sz="1800" spc="-15" dirty="0">
                <a:latin typeface="Calibri"/>
                <a:cs typeface="Calibri"/>
              </a:rPr>
              <a:t>waves.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described by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rate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" dirty="0">
                <a:latin typeface="Calibri"/>
                <a:cs typeface="Calibri"/>
              </a:rPr>
              <a:t> bit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intervals.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12700" marR="786765">
              <a:lnSpc>
                <a:spcPct val="133300"/>
              </a:lnSpc>
            </a:pPr>
            <a:r>
              <a:rPr sz="1800" dirty="0">
                <a:latin typeface="Calibri"/>
                <a:cs typeface="Calibri"/>
              </a:rPr>
              <a:t>has a </a:t>
            </a:r>
            <a:r>
              <a:rPr sz="1800" spc="-10" dirty="0">
                <a:latin typeface="Calibri"/>
                <a:cs typeface="Calibri"/>
              </a:rPr>
              <a:t>finite range </a:t>
            </a:r>
            <a:r>
              <a:rPr sz="1800" spc="-5" dirty="0">
                <a:latin typeface="Calibri"/>
                <a:cs typeface="Calibri"/>
              </a:rPr>
              <a:t>i.e. between </a:t>
            </a:r>
            <a:r>
              <a:rPr sz="1800" dirty="0">
                <a:latin typeface="Calibri"/>
                <a:cs typeface="Calibri"/>
              </a:rPr>
              <a:t>0 and </a:t>
            </a:r>
            <a:r>
              <a:rPr sz="1800" spc="-5" dirty="0">
                <a:latin typeface="Calibri"/>
                <a:cs typeface="Calibri"/>
              </a:rPr>
              <a:t>1.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less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prone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distortion.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spc="-5" dirty="0">
                <a:latin typeface="Calibri"/>
                <a:cs typeface="Calibri"/>
              </a:rPr>
              <a:t>carries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binary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i.e.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 and</a:t>
            </a:r>
            <a:r>
              <a:rPr sz="1800" spc="-5" dirty="0">
                <a:latin typeface="Calibri"/>
                <a:cs typeface="Calibri"/>
              </a:rPr>
              <a:t> 1.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20"/>
              </a:spcBef>
            </a:pPr>
            <a:r>
              <a:rPr sz="1800" spc="-5" dirty="0">
                <a:latin typeface="Calibri"/>
                <a:cs typeface="Calibri"/>
              </a:rPr>
              <a:t>Signals </a:t>
            </a:r>
            <a:r>
              <a:rPr sz="1800" dirty="0">
                <a:latin typeface="Calibri"/>
                <a:cs typeface="Calibri"/>
              </a:rPr>
              <a:t>used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spc="-5" dirty="0">
                <a:latin typeface="Calibri"/>
                <a:cs typeface="Calibri"/>
              </a:rPr>
              <a:t>transmission in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computer are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digital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signal.</a:t>
            </a:r>
            <a:endParaRPr sz="1800">
              <a:latin typeface="Calibri"/>
              <a:cs typeface="Calibri"/>
            </a:endParaRPr>
          </a:p>
          <a:p>
            <a:pPr marL="12700" marR="264795">
              <a:lnSpc>
                <a:spcPct val="100000"/>
              </a:lnSpc>
              <a:spcBef>
                <a:spcPts val="720"/>
              </a:spcBef>
            </a:pPr>
            <a:r>
              <a:rPr sz="1800" spc="-5" dirty="0">
                <a:latin typeface="Calibri"/>
                <a:cs typeface="Calibri"/>
              </a:rPr>
              <a:t>while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digital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transmission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very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desirable,</a:t>
            </a:r>
            <a:r>
              <a:rPr sz="1800" dirty="0">
                <a:latin typeface="Calibri"/>
                <a:cs typeface="Calibri"/>
              </a:rPr>
              <a:t> a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low-pass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channel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needed.</a:t>
            </a:r>
            <a:endParaRPr sz="1800">
              <a:latin typeface="Calibri"/>
              <a:cs typeface="Calibri"/>
            </a:endParaRPr>
          </a:p>
          <a:p>
            <a:pPr marL="12700" marR="269875" algn="just">
              <a:lnSpc>
                <a:spcPct val="100000"/>
              </a:lnSpc>
              <a:spcBef>
                <a:spcPts val="720"/>
              </a:spcBef>
            </a:pPr>
            <a:r>
              <a:rPr sz="1800" spc="-10" dirty="0">
                <a:latin typeface="Calibri"/>
                <a:cs typeface="Calibri"/>
              </a:rPr>
              <a:t>Converting digital data to </a:t>
            </a:r>
            <a:r>
              <a:rPr sz="1800" dirty="0">
                <a:latin typeface="Calibri"/>
                <a:cs typeface="Calibri"/>
              </a:rPr>
              <a:t>a bandpass </a:t>
            </a:r>
            <a:r>
              <a:rPr sz="1800" spc="-5" dirty="0">
                <a:latin typeface="Calibri"/>
                <a:cs typeface="Calibri"/>
              </a:rPr>
              <a:t>analog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signal is </a:t>
            </a:r>
            <a:r>
              <a:rPr sz="1800" spc="-10" dirty="0">
                <a:latin typeface="Calibri"/>
                <a:cs typeface="Calibri"/>
              </a:rPr>
              <a:t>traditionally </a:t>
            </a:r>
            <a:r>
              <a:rPr sz="1800" spc="-5" dirty="0">
                <a:latin typeface="Calibri"/>
                <a:cs typeface="Calibri"/>
              </a:rPr>
              <a:t>called digital-to-analog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conversion.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42" y="701285"/>
            <a:ext cx="85686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75" dirty="0">
                <a:latin typeface="Arial"/>
                <a:cs typeface="Arial"/>
              </a:rPr>
              <a:t>Signal </a:t>
            </a:r>
            <a:r>
              <a:rPr b="1" spc="-50" dirty="0">
                <a:latin typeface="Arial"/>
                <a:cs typeface="Arial"/>
              </a:rPr>
              <a:t>Impairments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636629"/>
            <a:ext cx="8684260" cy="404367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116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travel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through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8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media</a:t>
            </a:r>
            <a:r>
              <a:rPr sz="2800" spc="-5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800" spc="-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perfect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7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Imperfection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800" spc="-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causes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impairment</a:t>
            </a:r>
            <a:endParaRPr sz="2800">
              <a:latin typeface="Calibri"/>
              <a:cs typeface="Calibri"/>
            </a:endParaRPr>
          </a:p>
          <a:p>
            <a:pPr marL="419100" marR="5080" lvl="1" indent="-182880">
              <a:lnSpc>
                <a:spcPts val="2590"/>
              </a:lnSpc>
              <a:spcBef>
                <a:spcPts val="44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at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beginning of the medium is not the same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signal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end 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medium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27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sent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received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24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Three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causes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impairment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3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20" dirty="0">
                <a:latin typeface="Calibri"/>
                <a:cs typeface="Calibri"/>
              </a:rPr>
              <a:t>Attenuation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1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latin typeface="Calibri"/>
                <a:cs typeface="Calibri"/>
              </a:rPr>
              <a:t>Distortion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1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latin typeface="Calibri"/>
                <a:cs typeface="Calibri"/>
              </a:rPr>
              <a:t>Noise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6600" y="4876800"/>
            <a:ext cx="5789675" cy="18288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8782" y="701285"/>
            <a:ext cx="884083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z="4800" b="1" spc="-45" dirty="0">
                <a:solidFill>
                  <a:srgbClr val="702FA0"/>
                </a:solidFill>
                <a:latin typeface="Arial"/>
                <a:cs typeface="Arial"/>
              </a:rPr>
              <a:t>Attenuation</a:t>
            </a:r>
            <a:r>
              <a:rPr lang="en-US" sz="4800" b="1" spc="-45" dirty="0">
                <a:solidFill>
                  <a:srgbClr val="702FA0"/>
                </a:solidFill>
                <a:latin typeface="Arial"/>
                <a:cs typeface="Arial"/>
              </a:rPr>
              <a:t> and Amplification</a:t>
            </a:r>
            <a:r>
              <a:rPr b="1" spc="-45" dirty="0">
                <a:solidFill>
                  <a:srgbClr val="702FA0"/>
                </a:solidFill>
                <a:latin typeface="Arial"/>
                <a:cs typeface="Arial"/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3166" y="2895600"/>
            <a:ext cx="4588745" cy="685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7667" y="1656136"/>
            <a:ext cx="8477885" cy="365760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5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b="1" spc="-20" dirty="0">
                <a:solidFill>
                  <a:srgbClr val="3F3F3F"/>
                </a:solidFill>
                <a:latin typeface="Calibri"/>
                <a:cs typeface="Calibri"/>
              </a:rPr>
              <a:t>Attenuation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3F3F3F"/>
                </a:solidFill>
                <a:latin typeface="Calibri"/>
                <a:cs typeface="Calibri"/>
              </a:rPr>
              <a:t>means</a:t>
            </a:r>
            <a:r>
              <a:rPr sz="26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loss</a:t>
            </a:r>
            <a:r>
              <a:rPr sz="26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6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3F3F3F"/>
                </a:solidFill>
                <a:latin typeface="Calibri"/>
                <a:cs typeface="Calibri"/>
              </a:rPr>
              <a:t>energy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ts val="2650"/>
              </a:lnSpc>
              <a:spcBef>
                <a:spcPts val="4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b="1" spc="-5" dirty="0">
                <a:solidFill>
                  <a:srgbClr val="3F3F3F"/>
                </a:solidFill>
                <a:latin typeface="Calibri"/>
                <a:cs typeface="Calibri"/>
              </a:rPr>
              <a:t>When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 a </a:t>
            </a:r>
            <a:r>
              <a:rPr sz="2600" b="1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6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(</a:t>
            </a:r>
            <a:r>
              <a:rPr sz="26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3F3F3F"/>
                </a:solidFill>
                <a:latin typeface="Calibri"/>
                <a:cs typeface="Calibri"/>
              </a:rPr>
              <a:t>simple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 or </a:t>
            </a:r>
            <a:r>
              <a:rPr sz="2600" b="1" spc="-10" dirty="0">
                <a:solidFill>
                  <a:srgbClr val="3F3F3F"/>
                </a:solidFill>
                <a:latin typeface="Calibri"/>
                <a:cs typeface="Calibri"/>
              </a:rPr>
              <a:t>composite 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)</a:t>
            </a:r>
            <a:r>
              <a:rPr sz="26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3F3F3F"/>
                </a:solidFill>
                <a:latin typeface="Calibri"/>
                <a:cs typeface="Calibri"/>
              </a:rPr>
              <a:t>travels</a:t>
            </a:r>
            <a:r>
              <a:rPr sz="2600" b="1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through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endParaRPr sz="2600">
              <a:latin typeface="Calibri"/>
              <a:cs typeface="Calibri"/>
            </a:endParaRPr>
          </a:p>
          <a:p>
            <a:pPr marL="189230" marR="1052830">
              <a:lnSpc>
                <a:spcPct val="70000"/>
              </a:lnSpc>
              <a:spcBef>
                <a:spcPts val="470"/>
              </a:spcBef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medium, it loses some of its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energy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overcoming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resistance</a:t>
            </a:r>
            <a:r>
              <a:rPr sz="26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medium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Calibri"/>
              <a:cs typeface="Calibri"/>
            </a:endParaRPr>
          </a:p>
          <a:p>
            <a:pPr marL="419100" lvl="1" indent="-183515">
              <a:lnSpc>
                <a:spcPts val="264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Why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wire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carrying electric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gets</a:t>
            </a:r>
            <a:r>
              <a:rPr sz="22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warm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after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while?</a:t>
            </a:r>
            <a:endParaRPr sz="2200">
              <a:latin typeface="Calibri"/>
              <a:cs typeface="Calibri"/>
            </a:endParaRPr>
          </a:p>
          <a:p>
            <a:pPr marL="640080" lvl="2" indent="-183515">
              <a:lnSpc>
                <a:spcPts val="2039"/>
              </a:lnSpc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Some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 electrical</a:t>
            </a:r>
            <a:r>
              <a:rPr sz="17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energy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7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17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converted</a:t>
            </a:r>
            <a:r>
              <a:rPr sz="17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heat</a:t>
            </a:r>
            <a:endParaRPr sz="17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Clr>
                <a:srgbClr val="1CACE4"/>
              </a:buClr>
              <a:buFont typeface="Calibri"/>
              <a:buChar char="◦"/>
            </a:pPr>
            <a:endParaRPr sz="1300">
              <a:latin typeface="Calibri"/>
              <a:cs typeface="Calibri"/>
            </a:endParaRPr>
          </a:p>
          <a:p>
            <a:pPr marL="189230" marR="5080" indent="-177165">
              <a:lnSpc>
                <a:spcPct val="70000"/>
              </a:lnSpc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114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compensate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for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loss,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amplifiers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are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used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amplify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6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higher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F3F3F"/>
                </a:solidFill>
                <a:latin typeface="Calibri"/>
                <a:cs typeface="Calibri"/>
              </a:rPr>
              <a:t>frequency,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higher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attenuation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5422391"/>
            <a:ext cx="9142730" cy="1891664"/>
            <a:chOff x="457200" y="5422391"/>
            <a:chExt cx="9142730" cy="189166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800" y="5422391"/>
              <a:ext cx="3581400" cy="135940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solidFill>
                  <a:srgbClr val="702FA0"/>
                </a:solidFill>
                <a:latin typeface="Arial"/>
                <a:cs typeface="Arial"/>
              </a:rPr>
              <a:t>Attenuation…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47810"/>
            <a:ext cx="8336280" cy="221170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27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How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show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has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lost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gained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strength?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4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engineers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use the unit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decibel</a:t>
            </a:r>
            <a:endParaRPr sz="2400">
              <a:latin typeface="Calibri"/>
              <a:cs typeface="Calibri"/>
            </a:endParaRPr>
          </a:p>
          <a:p>
            <a:pPr marL="189230" marR="5080" indent="-177165">
              <a:lnSpc>
                <a:spcPts val="3020"/>
              </a:lnSpc>
              <a:spcBef>
                <a:spcPts val="1614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decibel</a:t>
            </a:r>
            <a:r>
              <a:rPr sz="2800" b="1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(dB)</a:t>
            </a:r>
            <a:r>
              <a:rPr sz="28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measures</a:t>
            </a:r>
            <a:r>
              <a:rPr sz="2800" b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b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3F3F3F"/>
                </a:solidFill>
                <a:latin typeface="Calibri"/>
                <a:cs typeface="Calibri"/>
              </a:rPr>
              <a:t>relative</a:t>
            </a:r>
            <a:r>
              <a:rPr sz="2800" b="1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3F3F3F"/>
                </a:solidFill>
                <a:latin typeface="Calibri"/>
                <a:cs typeface="Calibri"/>
              </a:rPr>
              <a:t>strengths</a:t>
            </a:r>
            <a:r>
              <a:rPr sz="2800" b="1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two </a:t>
            </a:r>
            <a:r>
              <a:rPr sz="2800" b="1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 or</a:t>
            </a:r>
            <a:r>
              <a:rPr sz="28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b="1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8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r>
              <a:rPr sz="2800" b="1" spc="10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points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2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5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siti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65" dirty="0">
                <a:solidFill>
                  <a:srgbClr val="3F3F3F"/>
                </a:solidFill>
                <a:latin typeface="Microsoft Sans Serif"/>
                <a:cs typeface="Microsoft Sans Serif"/>
              </a:rPr>
              <a:t>🠦</a:t>
            </a:r>
            <a:r>
              <a:rPr sz="2400" spc="-105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am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plifi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ed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(</a:t>
            </a:r>
            <a:r>
              <a:rPr sz="2400" spc="-50" dirty="0">
                <a:solidFill>
                  <a:srgbClr val="3F3F3F"/>
                </a:solidFill>
                <a:latin typeface="Calibri"/>
                <a:cs typeface="Calibri"/>
              </a:rPr>
              <a:t>g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ains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g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5" name="object 5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7667" y="3814825"/>
            <a:ext cx="7677784" cy="151511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419100" indent="-183515">
              <a:lnSpc>
                <a:spcPct val="100000"/>
              </a:lnSpc>
              <a:spcBef>
                <a:spcPts val="125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50" dirty="0">
                <a:solidFill>
                  <a:srgbClr val="3F3F3F"/>
                </a:solidFill>
                <a:latin typeface="Calibri"/>
                <a:cs typeface="Calibri"/>
              </a:rPr>
              <a:t>g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ti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65" dirty="0">
                <a:solidFill>
                  <a:srgbClr val="3F3F3F"/>
                </a:solidFill>
                <a:latin typeface="Microsoft Sans Serif"/>
                <a:cs typeface="Microsoft Sans Serif"/>
              </a:rPr>
              <a:t>🠦</a:t>
            </a:r>
            <a:r>
              <a:rPr sz="2400" spc="-105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i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nu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ed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(l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g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34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Decibel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800" spc="-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defined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terms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voltage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14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because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power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proportional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square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voltage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893308"/>
            <a:ext cx="8263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50" dirty="0"/>
              <a:t>Attenuation</a:t>
            </a:r>
            <a:r>
              <a:rPr sz="4000" u="none" spc="-135" dirty="0"/>
              <a:t> </a:t>
            </a:r>
            <a:r>
              <a:rPr sz="4000" u="none" spc="-5" dirty="0"/>
              <a:t>-</a:t>
            </a:r>
            <a:r>
              <a:rPr sz="4000" u="none" spc="-100" dirty="0"/>
              <a:t> </a:t>
            </a:r>
            <a:r>
              <a:rPr sz="4000" u="none" spc="-45" dirty="0"/>
              <a:t>Relative</a:t>
            </a:r>
            <a:r>
              <a:rPr sz="4000" u="none" spc="-125" dirty="0"/>
              <a:t> </a:t>
            </a:r>
            <a:r>
              <a:rPr sz="4000" u="none" spc="-45" dirty="0"/>
              <a:t>Signal</a:t>
            </a:r>
            <a:r>
              <a:rPr sz="4000" u="none" spc="-100" dirty="0"/>
              <a:t> </a:t>
            </a:r>
            <a:r>
              <a:rPr sz="4000" u="none" spc="-45" dirty="0"/>
              <a:t>Strength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56563" y="1540256"/>
            <a:ext cx="6900545" cy="895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Measured</a:t>
            </a:r>
            <a:r>
              <a:rPr sz="26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600" i="1" dirty="0">
                <a:solidFill>
                  <a:srgbClr val="3F3F3F"/>
                </a:solidFill>
                <a:latin typeface="Calibri"/>
                <a:cs typeface="Calibri"/>
              </a:rPr>
              <a:t>Decibel</a:t>
            </a:r>
            <a:r>
              <a:rPr sz="2600" i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i="1" spc="-5" dirty="0">
                <a:solidFill>
                  <a:srgbClr val="3F3F3F"/>
                </a:solidFill>
                <a:latin typeface="Calibri"/>
                <a:cs typeface="Calibri"/>
              </a:rPr>
              <a:t>(dB)</a:t>
            </a:r>
            <a:endParaRPr sz="2600">
              <a:latin typeface="Calibri"/>
              <a:cs typeface="Calibri"/>
            </a:endParaRPr>
          </a:p>
          <a:p>
            <a:pPr marL="887094">
              <a:lnSpc>
                <a:spcPct val="100000"/>
              </a:lnSpc>
              <a:spcBef>
                <a:spcPts val="1565"/>
              </a:spcBef>
              <a:tabLst>
                <a:tab pos="6239510" algn="l"/>
              </a:tabLst>
            </a:pPr>
            <a:r>
              <a:rPr sz="1800" spc="-15" dirty="0">
                <a:solidFill>
                  <a:srgbClr val="335B74"/>
                </a:solidFill>
                <a:latin typeface="Calibri"/>
                <a:cs typeface="Calibri"/>
              </a:rPr>
              <a:t>Point</a:t>
            </a:r>
            <a:r>
              <a:rPr sz="1800" spc="-5" dirty="0">
                <a:solidFill>
                  <a:srgbClr val="335B7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5B74"/>
                </a:solidFill>
                <a:latin typeface="Calibri"/>
                <a:cs typeface="Calibri"/>
              </a:rPr>
              <a:t>1	</a:t>
            </a:r>
            <a:r>
              <a:rPr sz="1800" spc="-15" dirty="0">
                <a:solidFill>
                  <a:srgbClr val="335B74"/>
                </a:solidFill>
                <a:latin typeface="Calibri"/>
                <a:cs typeface="Calibri"/>
              </a:rPr>
              <a:t>Point</a:t>
            </a:r>
            <a:r>
              <a:rPr sz="1800" spc="-75" dirty="0">
                <a:solidFill>
                  <a:srgbClr val="335B7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5B74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2600" y="2551175"/>
            <a:ext cx="6022975" cy="1343025"/>
            <a:chOff x="1752600" y="2551175"/>
            <a:chExt cx="6022975" cy="1343025"/>
          </a:xfrm>
        </p:grpSpPr>
        <p:sp>
          <p:nvSpPr>
            <p:cNvPr id="6" name="object 6"/>
            <p:cNvSpPr/>
            <p:nvPr/>
          </p:nvSpPr>
          <p:spPr>
            <a:xfrm>
              <a:off x="7607807" y="2551175"/>
              <a:ext cx="167640" cy="334010"/>
            </a:xfrm>
            <a:custGeom>
              <a:avLst/>
              <a:gdLst/>
              <a:ahLst/>
              <a:cxnLst/>
              <a:rect l="l" t="t" r="r" b="b"/>
              <a:pathLst>
                <a:path w="167640" h="334010">
                  <a:moveTo>
                    <a:pt x="83819" y="0"/>
                  </a:moveTo>
                  <a:lnTo>
                    <a:pt x="50792" y="13120"/>
                  </a:lnTo>
                  <a:lnTo>
                    <a:pt x="24193" y="48958"/>
                  </a:lnTo>
                  <a:lnTo>
                    <a:pt x="6453" y="102227"/>
                  </a:lnTo>
                  <a:lnTo>
                    <a:pt x="0" y="167639"/>
                  </a:lnTo>
                  <a:lnTo>
                    <a:pt x="6453" y="232171"/>
                  </a:lnTo>
                  <a:lnTo>
                    <a:pt x="24193" y="284987"/>
                  </a:lnTo>
                  <a:lnTo>
                    <a:pt x="50792" y="320659"/>
                  </a:lnTo>
                  <a:lnTo>
                    <a:pt x="83819" y="333755"/>
                  </a:lnTo>
                  <a:lnTo>
                    <a:pt x="116204" y="320659"/>
                  </a:lnTo>
                  <a:lnTo>
                    <a:pt x="142874" y="284987"/>
                  </a:lnTo>
                  <a:lnTo>
                    <a:pt x="160972" y="232171"/>
                  </a:lnTo>
                  <a:lnTo>
                    <a:pt x="167639" y="167639"/>
                  </a:lnTo>
                  <a:lnTo>
                    <a:pt x="160972" y="102227"/>
                  </a:lnTo>
                  <a:lnTo>
                    <a:pt x="142874" y="48958"/>
                  </a:lnTo>
                  <a:lnTo>
                    <a:pt x="116204" y="13120"/>
                  </a:lnTo>
                  <a:lnTo>
                    <a:pt x="83819" y="0"/>
                  </a:lnTo>
                  <a:close/>
                </a:path>
              </a:pathLst>
            </a:custGeom>
            <a:solidFill>
              <a:srgbClr val="99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36419" y="2551175"/>
              <a:ext cx="5854065" cy="332740"/>
            </a:xfrm>
            <a:custGeom>
              <a:avLst/>
              <a:gdLst/>
              <a:ahLst/>
              <a:cxnLst/>
              <a:rect l="l" t="t" r="r" b="b"/>
              <a:pathLst>
                <a:path w="5854065" h="332739">
                  <a:moveTo>
                    <a:pt x="5853683" y="0"/>
                  </a:moveTo>
                  <a:lnTo>
                    <a:pt x="0" y="0"/>
                  </a:lnTo>
                  <a:lnTo>
                    <a:pt x="0" y="332231"/>
                  </a:lnTo>
                  <a:lnTo>
                    <a:pt x="5853683" y="332231"/>
                  </a:lnTo>
                  <a:lnTo>
                    <a:pt x="5853683" y="0"/>
                  </a:lnTo>
                  <a:close/>
                </a:path>
              </a:pathLst>
            </a:custGeom>
            <a:solidFill>
              <a:srgbClr val="99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52600" y="2551175"/>
              <a:ext cx="167640" cy="334010"/>
            </a:xfrm>
            <a:custGeom>
              <a:avLst/>
              <a:gdLst/>
              <a:ahLst/>
              <a:cxnLst/>
              <a:rect l="l" t="t" r="r" b="b"/>
              <a:pathLst>
                <a:path w="167639" h="334010">
                  <a:moveTo>
                    <a:pt x="83819" y="0"/>
                  </a:moveTo>
                  <a:lnTo>
                    <a:pt x="51435" y="13120"/>
                  </a:lnTo>
                  <a:lnTo>
                    <a:pt x="24765" y="48958"/>
                  </a:lnTo>
                  <a:lnTo>
                    <a:pt x="6667" y="102227"/>
                  </a:lnTo>
                  <a:lnTo>
                    <a:pt x="0" y="167639"/>
                  </a:lnTo>
                  <a:lnTo>
                    <a:pt x="6667" y="232171"/>
                  </a:lnTo>
                  <a:lnTo>
                    <a:pt x="24765" y="284987"/>
                  </a:lnTo>
                  <a:lnTo>
                    <a:pt x="51435" y="320659"/>
                  </a:lnTo>
                  <a:lnTo>
                    <a:pt x="83819" y="333755"/>
                  </a:lnTo>
                  <a:lnTo>
                    <a:pt x="116847" y="320659"/>
                  </a:lnTo>
                  <a:lnTo>
                    <a:pt x="143446" y="284987"/>
                  </a:lnTo>
                  <a:lnTo>
                    <a:pt x="161186" y="232171"/>
                  </a:lnTo>
                  <a:lnTo>
                    <a:pt x="167639" y="167639"/>
                  </a:lnTo>
                  <a:lnTo>
                    <a:pt x="161186" y="102227"/>
                  </a:lnTo>
                  <a:lnTo>
                    <a:pt x="143446" y="48958"/>
                  </a:lnTo>
                  <a:lnTo>
                    <a:pt x="116847" y="13120"/>
                  </a:lnTo>
                  <a:lnTo>
                    <a:pt x="8381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2179" y="2894075"/>
              <a:ext cx="1473707" cy="99364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8755" y="2962655"/>
              <a:ext cx="1444751" cy="9250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91740" y="3886199"/>
              <a:ext cx="1031875" cy="0"/>
            </a:xfrm>
            <a:custGeom>
              <a:avLst/>
              <a:gdLst/>
              <a:ahLst/>
              <a:cxnLst/>
              <a:rect l="l" t="t" r="r" b="b"/>
              <a:pathLst>
                <a:path w="1031875">
                  <a:moveTo>
                    <a:pt x="1031747" y="0"/>
                  </a:moveTo>
                  <a:lnTo>
                    <a:pt x="0" y="0"/>
                  </a:lnTo>
                  <a:lnTo>
                    <a:pt x="1031747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44495" y="3886199"/>
              <a:ext cx="1126490" cy="7620"/>
            </a:xfrm>
            <a:custGeom>
              <a:avLst/>
              <a:gdLst/>
              <a:ahLst/>
              <a:cxnLst/>
              <a:rect l="l" t="t" r="r" b="b"/>
              <a:pathLst>
                <a:path w="1126489" h="7620">
                  <a:moveTo>
                    <a:pt x="1126235" y="0"/>
                  </a:moveTo>
                  <a:lnTo>
                    <a:pt x="0" y="0"/>
                  </a:lnTo>
                  <a:lnTo>
                    <a:pt x="30480" y="6095"/>
                  </a:lnTo>
                  <a:lnTo>
                    <a:pt x="47244" y="7619"/>
                  </a:lnTo>
                  <a:lnTo>
                    <a:pt x="1078991" y="7619"/>
                  </a:lnTo>
                  <a:lnTo>
                    <a:pt x="1095755" y="6095"/>
                  </a:lnTo>
                  <a:lnTo>
                    <a:pt x="1126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72200" y="3886199"/>
              <a:ext cx="1031875" cy="0"/>
            </a:xfrm>
            <a:custGeom>
              <a:avLst/>
              <a:gdLst/>
              <a:ahLst/>
              <a:cxnLst/>
              <a:rect l="l" t="t" r="r" b="b"/>
              <a:pathLst>
                <a:path w="1031875">
                  <a:moveTo>
                    <a:pt x="1031747" y="0"/>
                  </a:moveTo>
                  <a:lnTo>
                    <a:pt x="0" y="0"/>
                  </a:lnTo>
                  <a:lnTo>
                    <a:pt x="1031747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23432" y="3886199"/>
              <a:ext cx="1127760" cy="7620"/>
            </a:xfrm>
            <a:custGeom>
              <a:avLst/>
              <a:gdLst/>
              <a:ahLst/>
              <a:cxnLst/>
              <a:rect l="l" t="t" r="r" b="b"/>
              <a:pathLst>
                <a:path w="1127759" h="7620">
                  <a:moveTo>
                    <a:pt x="1127759" y="0"/>
                  </a:moveTo>
                  <a:lnTo>
                    <a:pt x="0" y="0"/>
                  </a:lnTo>
                  <a:lnTo>
                    <a:pt x="16763" y="3048"/>
                  </a:lnTo>
                  <a:lnTo>
                    <a:pt x="32003" y="6095"/>
                  </a:lnTo>
                  <a:lnTo>
                    <a:pt x="47243" y="7619"/>
                  </a:lnTo>
                  <a:lnTo>
                    <a:pt x="1080515" y="7619"/>
                  </a:lnTo>
                  <a:lnTo>
                    <a:pt x="1095755" y="6095"/>
                  </a:lnTo>
                  <a:lnTo>
                    <a:pt x="1112519" y="3048"/>
                  </a:lnTo>
                  <a:lnTo>
                    <a:pt x="11277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16" name="object 1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03504" y="4261103"/>
          <a:ext cx="8839200" cy="19507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2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marL="90170" marR="21590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dB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terms </a:t>
                      </a:r>
                      <a:r>
                        <a:rPr sz="1800" b="1" spc="-3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Formula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variables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Power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log</a:t>
                      </a:r>
                      <a:r>
                        <a:rPr sz="1950" spc="7" baseline="-21367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950" spc="217" baseline="-21367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2000" i="1" spc="-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/P</a:t>
                      </a:r>
                      <a:r>
                        <a:rPr sz="2000" i="1" spc="-5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182245">
                        <a:lnSpc>
                          <a:spcPts val="2140"/>
                        </a:lnSpc>
                        <a:spcBef>
                          <a:spcPts val="345"/>
                        </a:spcBef>
                      </a:pPr>
                      <a:r>
                        <a:rPr sz="1800" i="1" spc="-1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9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signa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poi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and  2,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respectively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5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voltage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20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log</a:t>
                      </a:r>
                      <a:r>
                        <a:rPr sz="1950" spc="7" baseline="-21367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950" spc="209" baseline="-21367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2000" i="1" spc="-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/V</a:t>
                      </a:r>
                      <a:r>
                        <a:rPr sz="2000" i="1" spc="-5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140970">
                        <a:lnSpc>
                          <a:spcPts val="2140"/>
                        </a:lnSpc>
                        <a:spcBef>
                          <a:spcPts val="345"/>
                        </a:spcBef>
                      </a:pPr>
                      <a:r>
                        <a:rPr sz="1800" i="1" spc="-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an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V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9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ol</a:t>
                      </a:r>
                      <a:r>
                        <a:rPr sz="1800" i="1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ag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e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signa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poi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and  2,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respectively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50" dirty="0"/>
              <a:t>Attenuation</a:t>
            </a:r>
            <a:r>
              <a:rPr spc="-145" dirty="0"/>
              <a:t> </a:t>
            </a:r>
            <a:r>
              <a:rPr spc="-45" dirty="0"/>
              <a:t>Example</a:t>
            </a:r>
            <a:r>
              <a:rPr spc="-145" dirty="0"/>
              <a:t> </a:t>
            </a:r>
            <a:r>
              <a:rPr spc="-5" dirty="0"/>
              <a:t>1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69826"/>
            <a:ext cx="8291195" cy="21875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Suppose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travels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through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medium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its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reduced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one-half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Means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P2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(1/2)P1</a:t>
            </a:r>
            <a:endParaRPr sz="2400">
              <a:latin typeface="Calibri"/>
              <a:cs typeface="Calibri"/>
            </a:endParaRPr>
          </a:p>
          <a:p>
            <a:pPr marL="189230" marR="826135" indent="-177165">
              <a:lnSpc>
                <a:spcPts val="3020"/>
              </a:lnSpc>
              <a:spcBef>
                <a:spcPts val="162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case,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attenuation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(loss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power)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calculated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5" name="object 5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7667" y="5191207"/>
            <a:ext cx="831088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loss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3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dB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(–3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dB)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equivalent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losing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one-half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59408" y="4320540"/>
            <a:ext cx="7341234" cy="843280"/>
            <a:chOff x="1359408" y="4320540"/>
            <a:chExt cx="7341234" cy="8432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7320" y="4376928"/>
              <a:ext cx="7225283" cy="7284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59395" y="4320539"/>
              <a:ext cx="7341234" cy="843280"/>
            </a:xfrm>
            <a:custGeom>
              <a:avLst/>
              <a:gdLst/>
              <a:ahLst/>
              <a:cxnLst/>
              <a:rect l="l" t="t" r="r" b="b"/>
              <a:pathLst>
                <a:path w="7341234" h="843279">
                  <a:moveTo>
                    <a:pt x="7295388" y="45720"/>
                  </a:moveTo>
                  <a:lnTo>
                    <a:pt x="45720" y="45720"/>
                  </a:lnTo>
                  <a:lnTo>
                    <a:pt x="45720" y="55880"/>
                  </a:lnTo>
                  <a:lnTo>
                    <a:pt x="45720" y="784860"/>
                  </a:lnTo>
                  <a:lnTo>
                    <a:pt x="45720" y="797560"/>
                  </a:lnTo>
                  <a:lnTo>
                    <a:pt x="7295388" y="797560"/>
                  </a:lnTo>
                  <a:lnTo>
                    <a:pt x="7295388" y="784860"/>
                  </a:lnTo>
                  <a:lnTo>
                    <a:pt x="7295388" y="56388"/>
                  </a:lnTo>
                  <a:lnTo>
                    <a:pt x="7283196" y="56388"/>
                  </a:lnTo>
                  <a:lnTo>
                    <a:pt x="7283196" y="784860"/>
                  </a:lnTo>
                  <a:lnTo>
                    <a:pt x="57912" y="784860"/>
                  </a:lnTo>
                  <a:lnTo>
                    <a:pt x="57912" y="55880"/>
                  </a:lnTo>
                  <a:lnTo>
                    <a:pt x="7295388" y="55880"/>
                  </a:lnTo>
                  <a:lnTo>
                    <a:pt x="7295388" y="45720"/>
                  </a:lnTo>
                  <a:close/>
                </a:path>
                <a:path w="7341234" h="843279">
                  <a:moveTo>
                    <a:pt x="7341108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807720"/>
                  </a:lnTo>
                  <a:lnTo>
                    <a:pt x="0" y="843280"/>
                  </a:lnTo>
                  <a:lnTo>
                    <a:pt x="7341108" y="843280"/>
                  </a:lnTo>
                  <a:lnTo>
                    <a:pt x="7341108" y="807720"/>
                  </a:lnTo>
                  <a:lnTo>
                    <a:pt x="7341108" y="33528"/>
                  </a:lnTo>
                  <a:lnTo>
                    <a:pt x="7306056" y="33528"/>
                  </a:lnTo>
                  <a:lnTo>
                    <a:pt x="7306056" y="807720"/>
                  </a:lnTo>
                  <a:lnTo>
                    <a:pt x="35052" y="807720"/>
                  </a:lnTo>
                  <a:lnTo>
                    <a:pt x="35052" y="33020"/>
                  </a:lnTo>
                  <a:lnTo>
                    <a:pt x="7341108" y="33020"/>
                  </a:lnTo>
                  <a:lnTo>
                    <a:pt x="7341108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50" dirty="0"/>
              <a:t>Attenuation</a:t>
            </a:r>
            <a:r>
              <a:rPr spc="-145" dirty="0"/>
              <a:t> </a:t>
            </a:r>
            <a:r>
              <a:rPr spc="-45" dirty="0"/>
              <a:t>Example</a:t>
            </a:r>
            <a:r>
              <a:rPr spc="-145" dirty="0"/>
              <a:t> </a:t>
            </a:r>
            <a:r>
              <a:rPr spc="-5" dirty="0"/>
              <a:t>2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69826"/>
            <a:ext cx="7796530" cy="21875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signal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travels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through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800" spc="-35" dirty="0">
                <a:solidFill>
                  <a:srgbClr val="3F3F3F"/>
                </a:solidFill>
                <a:latin typeface="Calibri"/>
                <a:cs typeface="Calibri"/>
              </a:rPr>
              <a:t>amplifier,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its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increased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times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Means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P2</a:t>
            </a:r>
            <a:r>
              <a:rPr sz="24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P1</a:t>
            </a:r>
            <a:endParaRPr sz="2400">
              <a:latin typeface="Calibri"/>
              <a:cs typeface="Calibri"/>
            </a:endParaRPr>
          </a:p>
          <a:p>
            <a:pPr marL="189230" marR="96520" indent="-177165">
              <a:lnSpc>
                <a:spcPts val="3020"/>
              </a:lnSpc>
              <a:spcBef>
                <a:spcPts val="162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case,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amplification</a:t>
            </a:r>
            <a:r>
              <a:rPr sz="2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(gain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2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power)</a:t>
            </a:r>
            <a:r>
              <a:rPr sz="2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2800" i="1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calculated</a:t>
            </a:r>
            <a:r>
              <a:rPr sz="2800" i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5" name="object 5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800" y="4191000"/>
              <a:ext cx="3410711" cy="81991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91399" y="4135119"/>
              <a:ext cx="3523615" cy="932180"/>
            </a:xfrm>
            <a:custGeom>
              <a:avLst/>
              <a:gdLst/>
              <a:ahLst/>
              <a:cxnLst/>
              <a:rect l="l" t="t" r="r" b="b"/>
              <a:pathLst>
                <a:path w="3523615" h="932179">
                  <a:moveTo>
                    <a:pt x="3500628" y="22860"/>
                  </a:moveTo>
                  <a:lnTo>
                    <a:pt x="22860" y="22860"/>
                  </a:lnTo>
                  <a:lnTo>
                    <a:pt x="22860" y="55880"/>
                  </a:lnTo>
                  <a:lnTo>
                    <a:pt x="22860" y="876300"/>
                  </a:lnTo>
                  <a:lnTo>
                    <a:pt x="22860" y="909320"/>
                  </a:lnTo>
                  <a:lnTo>
                    <a:pt x="3500628" y="909320"/>
                  </a:lnTo>
                  <a:lnTo>
                    <a:pt x="3500628" y="876300"/>
                  </a:lnTo>
                  <a:lnTo>
                    <a:pt x="56388" y="876300"/>
                  </a:lnTo>
                  <a:lnTo>
                    <a:pt x="56388" y="55880"/>
                  </a:lnTo>
                  <a:lnTo>
                    <a:pt x="3467100" y="55880"/>
                  </a:lnTo>
                  <a:lnTo>
                    <a:pt x="3467100" y="875792"/>
                  </a:lnTo>
                  <a:lnTo>
                    <a:pt x="3500628" y="875792"/>
                  </a:lnTo>
                  <a:lnTo>
                    <a:pt x="3500628" y="55880"/>
                  </a:lnTo>
                  <a:lnTo>
                    <a:pt x="3500628" y="22860"/>
                  </a:lnTo>
                  <a:close/>
                </a:path>
                <a:path w="3523615" h="932179">
                  <a:moveTo>
                    <a:pt x="3523488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922020"/>
                  </a:lnTo>
                  <a:lnTo>
                    <a:pt x="0" y="932180"/>
                  </a:lnTo>
                  <a:lnTo>
                    <a:pt x="3523488" y="932180"/>
                  </a:lnTo>
                  <a:lnTo>
                    <a:pt x="3523488" y="922020"/>
                  </a:lnTo>
                  <a:lnTo>
                    <a:pt x="10668" y="922020"/>
                  </a:lnTo>
                  <a:lnTo>
                    <a:pt x="10668" y="10160"/>
                  </a:lnTo>
                  <a:lnTo>
                    <a:pt x="3512820" y="10160"/>
                  </a:lnTo>
                  <a:lnTo>
                    <a:pt x="3512820" y="921512"/>
                  </a:lnTo>
                  <a:lnTo>
                    <a:pt x="3523488" y="921512"/>
                  </a:lnTo>
                  <a:lnTo>
                    <a:pt x="3523488" y="10160"/>
                  </a:lnTo>
                  <a:lnTo>
                    <a:pt x="3523488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800" y="5184647"/>
              <a:ext cx="3448811" cy="6294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915399" y="5125719"/>
              <a:ext cx="3560445" cy="744220"/>
            </a:xfrm>
            <a:custGeom>
              <a:avLst/>
              <a:gdLst/>
              <a:ahLst/>
              <a:cxnLst/>
              <a:rect l="l" t="t" r="r" b="b"/>
              <a:pathLst>
                <a:path w="3560445" h="744220">
                  <a:moveTo>
                    <a:pt x="3537204" y="22860"/>
                  </a:moveTo>
                  <a:lnTo>
                    <a:pt x="22860" y="22860"/>
                  </a:lnTo>
                  <a:lnTo>
                    <a:pt x="22860" y="55880"/>
                  </a:lnTo>
                  <a:lnTo>
                    <a:pt x="22860" y="687070"/>
                  </a:lnTo>
                  <a:lnTo>
                    <a:pt x="22860" y="721360"/>
                  </a:lnTo>
                  <a:lnTo>
                    <a:pt x="3537204" y="721360"/>
                  </a:lnTo>
                  <a:lnTo>
                    <a:pt x="3537204" y="687070"/>
                  </a:lnTo>
                  <a:lnTo>
                    <a:pt x="56388" y="687070"/>
                  </a:lnTo>
                  <a:lnTo>
                    <a:pt x="56388" y="55880"/>
                  </a:lnTo>
                  <a:lnTo>
                    <a:pt x="3503676" y="55880"/>
                  </a:lnTo>
                  <a:lnTo>
                    <a:pt x="3503676" y="686816"/>
                  </a:lnTo>
                  <a:lnTo>
                    <a:pt x="3537204" y="686816"/>
                  </a:lnTo>
                  <a:lnTo>
                    <a:pt x="3537204" y="55880"/>
                  </a:lnTo>
                  <a:lnTo>
                    <a:pt x="3537204" y="22860"/>
                  </a:lnTo>
                  <a:close/>
                </a:path>
                <a:path w="3560445" h="744220">
                  <a:moveTo>
                    <a:pt x="3560064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732790"/>
                  </a:lnTo>
                  <a:lnTo>
                    <a:pt x="0" y="744220"/>
                  </a:lnTo>
                  <a:lnTo>
                    <a:pt x="3560064" y="744220"/>
                  </a:lnTo>
                  <a:lnTo>
                    <a:pt x="3560064" y="732790"/>
                  </a:lnTo>
                  <a:lnTo>
                    <a:pt x="10668" y="732790"/>
                  </a:lnTo>
                  <a:lnTo>
                    <a:pt x="10668" y="10160"/>
                  </a:lnTo>
                  <a:lnTo>
                    <a:pt x="3549396" y="10160"/>
                  </a:lnTo>
                  <a:lnTo>
                    <a:pt x="3549396" y="732536"/>
                  </a:lnTo>
                  <a:lnTo>
                    <a:pt x="3560064" y="732536"/>
                  </a:lnTo>
                  <a:lnTo>
                    <a:pt x="3560064" y="10160"/>
                  </a:lnTo>
                  <a:lnTo>
                    <a:pt x="3560064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50" dirty="0"/>
              <a:t>Attenuation</a:t>
            </a:r>
            <a:r>
              <a:rPr spc="-145" dirty="0"/>
              <a:t> </a:t>
            </a:r>
            <a:r>
              <a:rPr spc="-45" dirty="0"/>
              <a:t>Example</a:t>
            </a:r>
            <a:r>
              <a:rPr spc="-145" dirty="0"/>
              <a:t> </a:t>
            </a:r>
            <a:r>
              <a:rPr spc="-5" dirty="0"/>
              <a:t>3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13439"/>
            <a:ext cx="8406130" cy="1708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 indent="-177165">
              <a:lnSpc>
                <a:spcPts val="2650"/>
              </a:lnSpc>
              <a:spcBef>
                <a:spcPts val="1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reason that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engineers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use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decibel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measure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  <a:p>
            <a:pPr marL="189230">
              <a:lnSpc>
                <a:spcPts val="2185"/>
              </a:lnSpc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strength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6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600" spc="-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decibel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numbers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endParaRPr sz="2600">
              <a:latin typeface="Calibri"/>
              <a:cs typeface="Calibri"/>
            </a:endParaRPr>
          </a:p>
          <a:p>
            <a:pPr marL="189230" marR="89535">
              <a:lnSpc>
                <a:spcPct val="70000"/>
              </a:lnSpc>
              <a:spcBef>
                <a:spcPts val="465"/>
              </a:spcBef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added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(or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subtracted)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when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we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are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measuring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several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points </a:t>
            </a:r>
            <a:r>
              <a:rPr sz="2600" spc="-5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(cascading)</a:t>
            </a:r>
            <a:r>
              <a:rPr sz="26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instead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just two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4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travels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point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1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to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point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4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336" y="3429000"/>
            <a:ext cx="4855463" cy="129540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34211" y="6268720"/>
            <a:ext cx="3162300" cy="458470"/>
            <a:chOff x="934211" y="6268720"/>
            <a:chExt cx="3162300" cy="4584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599" y="6324600"/>
              <a:ext cx="3048000" cy="3444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34199" y="6268720"/>
              <a:ext cx="3162300" cy="458470"/>
            </a:xfrm>
            <a:custGeom>
              <a:avLst/>
              <a:gdLst/>
              <a:ahLst/>
              <a:cxnLst/>
              <a:rect l="l" t="t" r="r" b="b"/>
              <a:pathLst>
                <a:path w="3162300" h="458470">
                  <a:moveTo>
                    <a:pt x="3139440" y="22860"/>
                  </a:moveTo>
                  <a:lnTo>
                    <a:pt x="3104388" y="22860"/>
                  </a:lnTo>
                  <a:lnTo>
                    <a:pt x="3104388" y="55880"/>
                  </a:lnTo>
                  <a:lnTo>
                    <a:pt x="3104388" y="400050"/>
                  </a:lnTo>
                  <a:lnTo>
                    <a:pt x="56388" y="400050"/>
                  </a:lnTo>
                  <a:lnTo>
                    <a:pt x="56388" y="55880"/>
                  </a:lnTo>
                  <a:lnTo>
                    <a:pt x="3104388" y="55880"/>
                  </a:lnTo>
                  <a:lnTo>
                    <a:pt x="3104388" y="22860"/>
                  </a:lnTo>
                  <a:lnTo>
                    <a:pt x="22860" y="22860"/>
                  </a:lnTo>
                  <a:lnTo>
                    <a:pt x="22860" y="55880"/>
                  </a:lnTo>
                  <a:lnTo>
                    <a:pt x="22860" y="400050"/>
                  </a:lnTo>
                  <a:lnTo>
                    <a:pt x="22860" y="435610"/>
                  </a:lnTo>
                  <a:lnTo>
                    <a:pt x="3139440" y="435610"/>
                  </a:lnTo>
                  <a:lnTo>
                    <a:pt x="3139440" y="400304"/>
                  </a:lnTo>
                  <a:lnTo>
                    <a:pt x="3139440" y="400050"/>
                  </a:lnTo>
                  <a:lnTo>
                    <a:pt x="3139440" y="55880"/>
                  </a:lnTo>
                  <a:lnTo>
                    <a:pt x="3139440" y="22860"/>
                  </a:lnTo>
                  <a:close/>
                </a:path>
                <a:path w="3162300" h="458470">
                  <a:moveTo>
                    <a:pt x="3162300" y="0"/>
                  </a:moveTo>
                  <a:lnTo>
                    <a:pt x="3150108" y="0"/>
                  </a:lnTo>
                  <a:lnTo>
                    <a:pt x="3150108" y="10160"/>
                  </a:lnTo>
                  <a:lnTo>
                    <a:pt x="3150108" y="445770"/>
                  </a:lnTo>
                  <a:lnTo>
                    <a:pt x="10668" y="445770"/>
                  </a:lnTo>
                  <a:lnTo>
                    <a:pt x="10668" y="10160"/>
                  </a:lnTo>
                  <a:lnTo>
                    <a:pt x="3150108" y="10160"/>
                  </a:lnTo>
                  <a:lnTo>
                    <a:pt x="3150108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445770"/>
                  </a:lnTo>
                  <a:lnTo>
                    <a:pt x="0" y="458470"/>
                  </a:lnTo>
                  <a:lnTo>
                    <a:pt x="3162300" y="458470"/>
                  </a:lnTo>
                  <a:lnTo>
                    <a:pt x="3162300" y="446024"/>
                  </a:lnTo>
                  <a:lnTo>
                    <a:pt x="3162300" y="445770"/>
                  </a:lnTo>
                  <a:lnTo>
                    <a:pt x="3162300" y="10160"/>
                  </a:lnTo>
                  <a:lnTo>
                    <a:pt x="316230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97667" y="4714195"/>
            <a:ext cx="6861809" cy="1928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0" indent="-183515">
              <a:lnSpc>
                <a:spcPts val="2545"/>
              </a:lnSpc>
              <a:spcBef>
                <a:spcPts val="9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attenuated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reaches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point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  <a:p>
            <a:pPr marL="419100" indent="-183515">
              <a:lnSpc>
                <a:spcPts val="245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points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2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3,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amplified</a:t>
            </a:r>
            <a:endParaRPr sz="2200">
              <a:latin typeface="Calibri"/>
              <a:cs typeface="Calibri"/>
            </a:endParaRPr>
          </a:p>
          <a:p>
            <a:pPr marL="419100" indent="-183515">
              <a:lnSpc>
                <a:spcPts val="254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Again,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2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points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3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4,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attenuated</a:t>
            </a:r>
            <a:endParaRPr sz="22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6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case,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decibel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calculated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endParaRPr sz="2600">
              <a:latin typeface="Calibri"/>
              <a:cs typeface="Calibri"/>
            </a:endParaRPr>
          </a:p>
          <a:p>
            <a:pPr marL="3508375">
              <a:lnSpc>
                <a:spcPct val="100000"/>
              </a:lnSpc>
              <a:spcBef>
                <a:spcPts val="1515"/>
              </a:spcBef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signal</a:t>
            </a:r>
            <a:r>
              <a:rPr sz="1800" dirty="0">
                <a:latin typeface="Calibri"/>
                <a:cs typeface="Calibri"/>
              </a:rPr>
              <a:t> has </a:t>
            </a:r>
            <a:r>
              <a:rPr sz="1800" spc="-10" dirty="0">
                <a:latin typeface="Calibri"/>
                <a:cs typeface="Calibri"/>
              </a:rPr>
              <a:t>gained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 </a:t>
            </a:r>
            <a:r>
              <a:rPr sz="1800" spc="-40" dirty="0">
                <a:latin typeface="Calibri"/>
                <a:cs typeface="Calibri"/>
              </a:rPr>
              <a:t>power.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50" dirty="0"/>
              <a:t>Attenuation</a:t>
            </a:r>
            <a:r>
              <a:rPr spc="-150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b="1" spc="-40" dirty="0">
                <a:latin typeface="Arial"/>
                <a:cs typeface="Arial"/>
              </a:rPr>
              <a:t>Link</a:t>
            </a:r>
            <a:r>
              <a:rPr b="1" spc="-114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Budget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583" y="1700784"/>
            <a:ext cx="8058911" cy="9387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98054" y="1779452"/>
            <a:ext cx="73444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4965" marR="5080" indent="-16129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FF0000"/>
                </a:solidFill>
                <a:latin typeface="Arial"/>
                <a:cs typeface="Arial"/>
              </a:rPr>
              <a:t>Accounting of all gains and losses of signal power </a:t>
            </a:r>
            <a:r>
              <a:rPr sz="2400" b="1" i="1" spc="-6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FF0000"/>
                </a:solidFill>
                <a:latin typeface="Arial"/>
                <a:cs typeface="Arial"/>
              </a:rPr>
              <a:t>throughout</a:t>
            </a:r>
            <a:r>
              <a:rPr sz="2400" b="1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b="1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FF0000"/>
                </a:solidFill>
                <a:latin typeface="Arial"/>
                <a:cs typeface="Arial"/>
              </a:rPr>
              <a:t>signal's</a:t>
            </a:r>
            <a:r>
              <a:rPr sz="2400" b="1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FF0000"/>
                </a:solidFill>
                <a:latin typeface="Arial"/>
                <a:cs typeface="Arial"/>
              </a:rPr>
              <a:t>path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42287" y="2798063"/>
            <a:ext cx="7091680" cy="413384"/>
            <a:chOff x="1542287" y="2798063"/>
            <a:chExt cx="7091680" cy="41338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383" y="2804160"/>
              <a:ext cx="7083551" cy="402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42287" y="2798063"/>
              <a:ext cx="7091680" cy="413384"/>
            </a:xfrm>
            <a:custGeom>
              <a:avLst/>
              <a:gdLst/>
              <a:ahLst/>
              <a:cxnLst/>
              <a:rect l="l" t="t" r="r" b="b"/>
              <a:pathLst>
                <a:path w="7091680" h="413385">
                  <a:moveTo>
                    <a:pt x="7088123" y="0"/>
                  </a:moveTo>
                  <a:lnTo>
                    <a:pt x="3047" y="0"/>
                  </a:lnTo>
                  <a:lnTo>
                    <a:pt x="0" y="3048"/>
                  </a:lnTo>
                  <a:lnTo>
                    <a:pt x="0" y="409955"/>
                  </a:lnTo>
                  <a:lnTo>
                    <a:pt x="3047" y="413003"/>
                  </a:lnTo>
                  <a:lnTo>
                    <a:pt x="7088123" y="413003"/>
                  </a:lnTo>
                  <a:lnTo>
                    <a:pt x="7091171" y="409955"/>
                  </a:lnTo>
                  <a:lnTo>
                    <a:pt x="7091171" y="406907"/>
                  </a:lnTo>
                  <a:lnTo>
                    <a:pt x="13715" y="406907"/>
                  </a:lnTo>
                  <a:lnTo>
                    <a:pt x="6095" y="400811"/>
                  </a:lnTo>
                  <a:lnTo>
                    <a:pt x="13715" y="400811"/>
                  </a:lnTo>
                  <a:lnTo>
                    <a:pt x="13715" y="13715"/>
                  </a:lnTo>
                  <a:lnTo>
                    <a:pt x="6095" y="13715"/>
                  </a:lnTo>
                  <a:lnTo>
                    <a:pt x="13715" y="6096"/>
                  </a:lnTo>
                  <a:lnTo>
                    <a:pt x="7091171" y="6096"/>
                  </a:lnTo>
                  <a:lnTo>
                    <a:pt x="7091171" y="3048"/>
                  </a:lnTo>
                  <a:lnTo>
                    <a:pt x="7088123" y="0"/>
                  </a:lnTo>
                  <a:close/>
                </a:path>
                <a:path w="7091680" h="413385">
                  <a:moveTo>
                    <a:pt x="13715" y="400811"/>
                  </a:moveTo>
                  <a:lnTo>
                    <a:pt x="6095" y="400811"/>
                  </a:lnTo>
                  <a:lnTo>
                    <a:pt x="13715" y="406907"/>
                  </a:lnTo>
                  <a:lnTo>
                    <a:pt x="13715" y="400811"/>
                  </a:lnTo>
                  <a:close/>
                </a:path>
                <a:path w="7091680" h="413385">
                  <a:moveTo>
                    <a:pt x="7078979" y="400811"/>
                  </a:moveTo>
                  <a:lnTo>
                    <a:pt x="13715" y="400811"/>
                  </a:lnTo>
                  <a:lnTo>
                    <a:pt x="13715" y="406907"/>
                  </a:lnTo>
                  <a:lnTo>
                    <a:pt x="7078979" y="406907"/>
                  </a:lnTo>
                  <a:lnTo>
                    <a:pt x="7078979" y="400811"/>
                  </a:lnTo>
                  <a:close/>
                </a:path>
                <a:path w="7091680" h="413385">
                  <a:moveTo>
                    <a:pt x="7078979" y="6096"/>
                  </a:moveTo>
                  <a:lnTo>
                    <a:pt x="7078979" y="406907"/>
                  </a:lnTo>
                  <a:lnTo>
                    <a:pt x="7085075" y="400811"/>
                  </a:lnTo>
                  <a:lnTo>
                    <a:pt x="7091171" y="400811"/>
                  </a:lnTo>
                  <a:lnTo>
                    <a:pt x="7091171" y="13715"/>
                  </a:lnTo>
                  <a:lnTo>
                    <a:pt x="7085075" y="13715"/>
                  </a:lnTo>
                  <a:lnTo>
                    <a:pt x="7078979" y="6096"/>
                  </a:lnTo>
                  <a:close/>
                </a:path>
                <a:path w="7091680" h="413385">
                  <a:moveTo>
                    <a:pt x="7091171" y="400811"/>
                  </a:moveTo>
                  <a:lnTo>
                    <a:pt x="7085075" y="400811"/>
                  </a:lnTo>
                  <a:lnTo>
                    <a:pt x="7078979" y="406907"/>
                  </a:lnTo>
                  <a:lnTo>
                    <a:pt x="7091171" y="406907"/>
                  </a:lnTo>
                  <a:lnTo>
                    <a:pt x="7091171" y="400811"/>
                  </a:lnTo>
                  <a:close/>
                </a:path>
                <a:path w="7091680" h="413385">
                  <a:moveTo>
                    <a:pt x="13715" y="6096"/>
                  </a:moveTo>
                  <a:lnTo>
                    <a:pt x="6095" y="13715"/>
                  </a:lnTo>
                  <a:lnTo>
                    <a:pt x="13715" y="13715"/>
                  </a:lnTo>
                  <a:lnTo>
                    <a:pt x="13715" y="6096"/>
                  </a:lnTo>
                  <a:close/>
                </a:path>
                <a:path w="7091680" h="413385">
                  <a:moveTo>
                    <a:pt x="7078979" y="6096"/>
                  </a:moveTo>
                  <a:lnTo>
                    <a:pt x="13715" y="6096"/>
                  </a:lnTo>
                  <a:lnTo>
                    <a:pt x="13715" y="13715"/>
                  </a:lnTo>
                  <a:lnTo>
                    <a:pt x="7078979" y="13715"/>
                  </a:lnTo>
                  <a:lnTo>
                    <a:pt x="7078979" y="6096"/>
                  </a:lnTo>
                  <a:close/>
                </a:path>
                <a:path w="7091680" h="413385">
                  <a:moveTo>
                    <a:pt x="7091171" y="6096"/>
                  </a:moveTo>
                  <a:lnTo>
                    <a:pt x="7078979" y="6096"/>
                  </a:lnTo>
                  <a:lnTo>
                    <a:pt x="7085075" y="13715"/>
                  </a:lnTo>
                  <a:lnTo>
                    <a:pt x="7091171" y="13715"/>
                  </a:lnTo>
                  <a:lnTo>
                    <a:pt x="7091171" y="6096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748027" y="3784091"/>
            <a:ext cx="6661784" cy="104139"/>
            <a:chOff x="1748027" y="3784091"/>
            <a:chExt cx="6661784" cy="104139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8855" y="3874008"/>
              <a:ext cx="4081271" cy="91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8855" y="3874008"/>
              <a:ext cx="4081271" cy="137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34283" y="3869435"/>
              <a:ext cx="4055110" cy="18415"/>
            </a:xfrm>
            <a:custGeom>
              <a:avLst/>
              <a:gdLst/>
              <a:ahLst/>
              <a:cxnLst/>
              <a:rect l="l" t="t" r="r" b="b"/>
              <a:pathLst>
                <a:path w="4055109" h="18414">
                  <a:moveTo>
                    <a:pt x="7619" y="0"/>
                  </a:moveTo>
                  <a:lnTo>
                    <a:pt x="6095" y="12191"/>
                  </a:lnTo>
                  <a:lnTo>
                    <a:pt x="12192" y="13715"/>
                  </a:lnTo>
                  <a:lnTo>
                    <a:pt x="9143" y="13715"/>
                  </a:lnTo>
                  <a:lnTo>
                    <a:pt x="15239" y="15239"/>
                  </a:lnTo>
                  <a:lnTo>
                    <a:pt x="13716" y="15239"/>
                  </a:lnTo>
                  <a:lnTo>
                    <a:pt x="17780" y="18287"/>
                  </a:lnTo>
                  <a:lnTo>
                    <a:pt x="35813" y="18287"/>
                  </a:lnTo>
                  <a:lnTo>
                    <a:pt x="35051" y="16763"/>
                  </a:lnTo>
                  <a:lnTo>
                    <a:pt x="33527" y="16763"/>
                  </a:lnTo>
                  <a:lnTo>
                    <a:pt x="28956" y="10667"/>
                  </a:lnTo>
                  <a:lnTo>
                    <a:pt x="27431" y="10667"/>
                  </a:lnTo>
                  <a:lnTo>
                    <a:pt x="27431" y="9143"/>
                  </a:lnTo>
                  <a:lnTo>
                    <a:pt x="22860" y="4571"/>
                  </a:lnTo>
                  <a:lnTo>
                    <a:pt x="21336" y="4571"/>
                  </a:lnTo>
                  <a:lnTo>
                    <a:pt x="15239" y="1523"/>
                  </a:lnTo>
                  <a:lnTo>
                    <a:pt x="13716" y="1523"/>
                  </a:lnTo>
                  <a:lnTo>
                    <a:pt x="7619" y="0"/>
                  </a:lnTo>
                  <a:close/>
                </a:path>
                <a:path w="4055109" h="18414">
                  <a:moveTo>
                    <a:pt x="4049267" y="10667"/>
                  </a:moveTo>
                  <a:lnTo>
                    <a:pt x="28956" y="10667"/>
                  </a:lnTo>
                  <a:lnTo>
                    <a:pt x="30099" y="12191"/>
                  </a:lnTo>
                  <a:lnTo>
                    <a:pt x="4026407" y="12191"/>
                  </a:lnTo>
                  <a:lnTo>
                    <a:pt x="4030979" y="13715"/>
                  </a:lnTo>
                  <a:lnTo>
                    <a:pt x="4029455" y="13715"/>
                  </a:lnTo>
                  <a:lnTo>
                    <a:pt x="4035551" y="15239"/>
                  </a:lnTo>
                  <a:lnTo>
                    <a:pt x="4034027" y="15239"/>
                  </a:lnTo>
                  <a:lnTo>
                    <a:pt x="4038091" y="18287"/>
                  </a:lnTo>
                  <a:lnTo>
                    <a:pt x="4055059" y="18287"/>
                  </a:lnTo>
                  <a:lnTo>
                    <a:pt x="4053839" y="16763"/>
                  </a:lnTo>
                  <a:lnTo>
                    <a:pt x="4049267" y="10667"/>
                  </a:lnTo>
                  <a:close/>
                </a:path>
                <a:path w="4055109" h="18414">
                  <a:moveTo>
                    <a:pt x="7619" y="0"/>
                  </a:moveTo>
                  <a:lnTo>
                    <a:pt x="3048" y="0"/>
                  </a:lnTo>
                  <a:lnTo>
                    <a:pt x="0" y="3047"/>
                  </a:lnTo>
                  <a:lnTo>
                    <a:pt x="0" y="9143"/>
                  </a:lnTo>
                  <a:lnTo>
                    <a:pt x="3048" y="12191"/>
                  </a:lnTo>
                  <a:lnTo>
                    <a:pt x="6095" y="12191"/>
                  </a:lnTo>
                  <a:lnTo>
                    <a:pt x="7619" y="0"/>
                  </a:lnTo>
                  <a:close/>
                </a:path>
                <a:path w="4055109" h="18414">
                  <a:moveTo>
                    <a:pt x="4035551" y="1523"/>
                  </a:moveTo>
                  <a:lnTo>
                    <a:pt x="15239" y="1523"/>
                  </a:lnTo>
                  <a:lnTo>
                    <a:pt x="21336" y="4571"/>
                  </a:lnTo>
                  <a:lnTo>
                    <a:pt x="22860" y="4571"/>
                  </a:lnTo>
                  <a:lnTo>
                    <a:pt x="27431" y="9143"/>
                  </a:lnTo>
                  <a:lnTo>
                    <a:pt x="27431" y="10667"/>
                  </a:lnTo>
                  <a:lnTo>
                    <a:pt x="4047743" y="10667"/>
                  </a:lnTo>
                  <a:lnTo>
                    <a:pt x="4047743" y="9143"/>
                  </a:lnTo>
                  <a:lnTo>
                    <a:pt x="4041647" y="4571"/>
                  </a:lnTo>
                  <a:lnTo>
                    <a:pt x="4035551" y="1523"/>
                  </a:lnTo>
                  <a:close/>
                </a:path>
                <a:path w="4055109" h="18414">
                  <a:moveTo>
                    <a:pt x="4027931" y="0"/>
                  </a:moveTo>
                  <a:lnTo>
                    <a:pt x="7619" y="0"/>
                  </a:lnTo>
                  <a:lnTo>
                    <a:pt x="13716" y="1523"/>
                  </a:lnTo>
                  <a:lnTo>
                    <a:pt x="4034027" y="1523"/>
                  </a:lnTo>
                  <a:lnTo>
                    <a:pt x="4027931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91611" y="3874008"/>
              <a:ext cx="123443" cy="137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1611" y="3874008"/>
              <a:ext cx="123443" cy="1371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24123" y="3869435"/>
              <a:ext cx="59055" cy="18415"/>
            </a:xfrm>
            <a:custGeom>
              <a:avLst/>
              <a:gdLst/>
              <a:ahLst/>
              <a:cxnLst/>
              <a:rect l="l" t="t" r="r" b="b"/>
              <a:pathLst>
                <a:path w="59055" h="18414">
                  <a:moveTo>
                    <a:pt x="45212" y="4571"/>
                  </a:moveTo>
                  <a:lnTo>
                    <a:pt x="13208" y="4571"/>
                  </a:lnTo>
                  <a:lnTo>
                    <a:pt x="7112" y="9143"/>
                  </a:lnTo>
                  <a:lnTo>
                    <a:pt x="7112" y="10667"/>
                  </a:lnTo>
                  <a:lnTo>
                    <a:pt x="1016" y="16763"/>
                  </a:lnTo>
                  <a:lnTo>
                    <a:pt x="0" y="18287"/>
                  </a:lnTo>
                  <a:lnTo>
                    <a:pt x="16764" y="18287"/>
                  </a:lnTo>
                  <a:lnTo>
                    <a:pt x="20828" y="15239"/>
                  </a:lnTo>
                  <a:lnTo>
                    <a:pt x="19304" y="15239"/>
                  </a:lnTo>
                  <a:lnTo>
                    <a:pt x="25400" y="13715"/>
                  </a:lnTo>
                  <a:lnTo>
                    <a:pt x="23876" y="13715"/>
                  </a:lnTo>
                  <a:lnTo>
                    <a:pt x="29210" y="12382"/>
                  </a:lnTo>
                  <a:lnTo>
                    <a:pt x="28448" y="12191"/>
                  </a:lnTo>
                  <a:lnTo>
                    <a:pt x="52832" y="12191"/>
                  </a:lnTo>
                  <a:lnTo>
                    <a:pt x="51308" y="10667"/>
                  </a:lnTo>
                  <a:lnTo>
                    <a:pt x="51308" y="9143"/>
                  </a:lnTo>
                  <a:lnTo>
                    <a:pt x="45212" y="4571"/>
                  </a:lnTo>
                  <a:close/>
                </a:path>
                <a:path w="59055" h="18414">
                  <a:moveTo>
                    <a:pt x="52832" y="12191"/>
                  </a:moveTo>
                  <a:lnTo>
                    <a:pt x="29972" y="12191"/>
                  </a:lnTo>
                  <a:lnTo>
                    <a:pt x="29210" y="12382"/>
                  </a:lnTo>
                  <a:lnTo>
                    <a:pt x="34543" y="13715"/>
                  </a:lnTo>
                  <a:lnTo>
                    <a:pt x="33020" y="13715"/>
                  </a:lnTo>
                  <a:lnTo>
                    <a:pt x="39116" y="15239"/>
                  </a:lnTo>
                  <a:lnTo>
                    <a:pt x="37592" y="15239"/>
                  </a:lnTo>
                  <a:lnTo>
                    <a:pt x="41656" y="18287"/>
                  </a:lnTo>
                  <a:lnTo>
                    <a:pt x="58623" y="18287"/>
                  </a:lnTo>
                  <a:lnTo>
                    <a:pt x="57404" y="16763"/>
                  </a:lnTo>
                  <a:lnTo>
                    <a:pt x="52832" y="12191"/>
                  </a:lnTo>
                  <a:close/>
                </a:path>
                <a:path w="59055" h="18414">
                  <a:moveTo>
                    <a:pt x="29972" y="12191"/>
                  </a:moveTo>
                  <a:lnTo>
                    <a:pt x="28448" y="12191"/>
                  </a:lnTo>
                  <a:lnTo>
                    <a:pt x="29210" y="12382"/>
                  </a:lnTo>
                  <a:lnTo>
                    <a:pt x="29972" y="12191"/>
                  </a:lnTo>
                  <a:close/>
                </a:path>
                <a:path w="59055" h="18414">
                  <a:moveTo>
                    <a:pt x="37592" y="1523"/>
                  </a:moveTo>
                  <a:lnTo>
                    <a:pt x="20828" y="1523"/>
                  </a:lnTo>
                  <a:lnTo>
                    <a:pt x="14732" y="4571"/>
                  </a:lnTo>
                  <a:lnTo>
                    <a:pt x="43687" y="4571"/>
                  </a:lnTo>
                  <a:lnTo>
                    <a:pt x="37592" y="1523"/>
                  </a:lnTo>
                  <a:close/>
                </a:path>
                <a:path w="59055" h="18414">
                  <a:moveTo>
                    <a:pt x="29972" y="0"/>
                  </a:moveTo>
                  <a:lnTo>
                    <a:pt x="28448" y="0"/>
                  </a:lnTo>
                  <a:lnTo>
                    <a:pt x="22352" y="1523"/>
                  </a:lnTo>
                  <a:lnTo>
                    <a:pt x="36068" y="1523"/>
                  </a:lnTo>
                  <a:lnTo>
                    <a:pt x="2997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54123" y="3791711"/>
              <a:ext cx="989330" cy="96520"/>
            </a:xfrm>
            <a:custGeom>
              <a:avLst/>
              <a:gdLst/>
              <a:ahLst/>
              <a:cxnLst/>
              <a:rect l="l" t="t" r="r" b="b"/>
              <a:pathLst>
                <a:path w="989330" h="96520">
                  <a:moveTo>
                    <a:pt x="989075" y="0"/>
                  </a:moveTo>
                  <a:lnTo>
                    <a:pt x="0" y="0"/>
                  </a:lnTo>
                  <a:lnTo>
                    <a:pt x="0" y="96012"/>
                  </a:lnTo>
                  <a:lnTo>
                    <a:pt x="989075" y="96012"/>
                  </a:lnTo>
                  <a:lnTo>
                    <a:pt x="989075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48027" y="3784091"/>
              <a:ext cx="1004569" cy="104139"/>
            </a:xfrm>
            <a:custGeom>
              <a:avLst/>
              <a:gdLst/>
              <a:ahLst/>
              <a:cxnLst/>
              <a:rect l="l" t="t" r="r" b="b"/>
              <a:pathLst>
                <a:path w="1004569" h="104139">
                  <a:moveTo>
                    <a:pt x="1004315" y="0"/>
                  </a:moveTo>
                  <a:lnTo>
                    <a:pt x="0" y="0"/>
                  </a:lnTo>
                  <a:lnTo>
                    <a:pt x="0" y="103632"/>
                  </a:lnTo>
                  <a:lnTo>
                    <a:pt x="13716" y="103632"/>
                  </a:lnTo>
                  <a:lnTo>
                    <a:pt x="13716" y="13715"/>
                  </a:lnTo>
                  <a:lnTo>
                    <a:pt x="6096" y="13715"/>
                  </a:lnTo>
                  <a:lnTo>
                    <a:pt x="13716" y="7620"/>
                  </a:lnTo>
                  <a:lnTo>
                    <a:pt x="1004315" y="7620"/>
                  </a:lnTo>
                  <a:lnTo>
                    <a:pt x="1004315" y="0"/>
                  </a:lnTo>
                  <a:close/>
                </a:path>
                <a:path w="1004569" h="104139">
                  <a:moveTo>
                    <a:pt x="990599" y="7620"/>
                  </a:moveTo>
                  <a:lnTo>
                    <a:pt x="990599" y="103632"/>
                  </a:lnTo>
                  <a:lnTo>
                    <a:pt x="1004315" y="103632"/>
                  </a:lnTo>
                  <a:lnTo>
                    <a:pt x="1004315" y="13715"/>
                  </a:lnTo>
                  <a:lnTo>
                    <a:pt x="996695" y="13715"/>
                  </a:lnTo>
                  <a:lnTo>
                    <a:pt x="990599" y="7620"/>
                  </a:lnTo>
                  <a:close/>
                </a:path>
                <a:path w="1004569" h="104139">
                  <a:moveTo>
                    <a:pt x="13716" y="7620"/>
                  </a:moveTo>
                  <a:lnTo>
                    <a:pt x="6096" y="13715"/>
                  </a:lnTo>
                  <a:lnTo>
                    <a:pt x="13716" y="13715"/>
                  </a:lnTo>
                  <a:lnTo>
                    <a:pt x="13716" y="7620"/>
                  </a:lnTo>
                  <a:close/>
                </a:path>
                <a:path w="1004569" h="104139">
                  <a:moveTo>
                    <a:pt x="990599" y="7620"/>
                  </a:moveTo>
                  <a:lnTo>
                    <a:pt x="13716" y="7620"/>
                  </a:lnTo>
                  <a:lnTo>
                    <a:pt x="13716" y="13715"/>
                  </a:lnTo>
                  <a:lnTo>
                    <a:pt x="990599" y="13715"/>
                  </a:lnTo>
                  <a:lnTo>
                    <a:pt x="990599" y="7620"/>
                  </a:lnTo>
                  <a:close/>
                </a:path>
                <a:path w="1004569" h="104139">
                  <a:moveTo>
                    <a:pt x="1004315" y="7620"/>
                  </a:moveTo>
                  <a:lnTo>
                    <a:pt x="990599" y="7620"/>
                  </a:lnTo>
                  <a:lnTo>
                    <a:pt x="996695" y="13715"/>
                  </a:lnTo>
                  <a:lnTo>
                    <a:pt x="1004315" y="13715"/>
                  </a:lnTo>
                  <a:lnTo>
                    <a:pt x="100431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1211" y="3791711"/>
              <a:ext cx="989330" cy="96520"/>
            </a:xfrm>
            <a:custGeom>
              <a:avLst/>
              <a:gdLst/>
              <a:ahLst/>
              <a:cxnLst/>
              <a:rect l="l" t="t" r="r" b="b"/>
              <a:pathLst>
                <a:path w="989329" h="96520">
                  <a:moveTo>
                    <a:pt x="989075" y="0"/>
                  </a:moveTo>
                  <a:lnTo>
                    <a:pt x="0" y="0"/>
                  </a:lnTo>
                  <a:lnTo>
                    <a:pt x="0" y="96012"/>
                  </a:lnTo>
                  <a:lnTo>
                    <a:pt x="989075" y="96012"/>
                  </a:lnTo>
                  <a:lnTo>
                    <a:pt x="989075" y="0"/>
                  </a:lnTo>
                  <a:close/>
                </a:path>
              </a:pathLst>
            </a:custGeom>
            <a:solidFill>
              <a:srgbClr val="00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05116" y="3784091"/>
              <a:ext cx="1004569" cy="104139"/>
            </a:xfrm>
            <a:custGeom>
              <a:avLst/>
              <a:gdLst/>
              <a:ahLst/>
              <a:cxnLst/>
              <a:rect l="l" t="t" r="r" b="b"/>
              <a:pathLst>
                <a:path w="1004570" h="104139">
                  <a:moveTo>
                    <a:pt x="1004315" y="0"/>
                  </a:moveTo>
                  <a:lnTo>
                    <a:pt x="0" y="0"/>
                  </a:lnTo>
                  <a:lnTo>
                    <a:pt x="0" y="103632"/>
                  </a:lnTo>
                  <a:lnTo>
                    <a:pt x="13716" y="103632"/>
                  </a:lnTo>
                  <a:lnTo>
                    <a:pt x="13716" y="13715"/>
                  </a:lnTo>
                  <a:lnTo>
                    <a:pt x="6096" y="13715"/>
                  </a:lnTo>
                  <a:lnTo>
                    <a:pt x="13716" y="7620"/>
                  </a:lnTo>
                  <a:lnTo>
                    <a:pt x="1004315" y="7620"/>
                  </a:lnTo>
                  <a:lnTo>
                    <a:pt x="1004315" y="0"/>
                  </a:lnTo>
                  <a:close/>
                </a:path>
                <a:path w="1004570" h="104139">
                  <a:moveTo>
                    <a:pt x="990599" y="7620"/>
                  </a:moveTo>
                  <a:lnTo>
                    <a:pt x="990599" y="103632"/>
                  </a:lnTo>
                  <a:lnTo>
                    <a:pt x="1004315" y="103632"/>
                  </a:lnTo>
                  <a:lnTo>
                    <a:pt x="1004315" y="13715"/>
                  </a:lnTo>
                  <a:lnTo>
                    <a:pt x="996695" y="13715"/>
                  </a:lnTo>
                  <a:lnTo>
                    <a:pt x="990599" y="7620"/>
                  </a:lnTo>
                  <a:close/>
                </a:path>
                <a:path w="1004570" h="104139">
                  <a:moveTo>
                    <a:pt x="13716" y="7620"/>
                  </a:moveTo>
                  <a:lnTo>
                    <a:pt x="6096" y="13715"/>
                  </a:lnTo>
                  <a:lnTo>
                    <a:pt x="13716" y="13715"/>
                  </a:lnTo>
                  <a:lnTo>
                    <a:pt x="13716" y="7620"/>
                  </a:lnTo>
                  <a:close/>
                </a:path>
                <a:path w="1004570" h="104139">
                  <a:moveTo>
                    <a:pt x="990599" y="7620"/>
                  </a:moveTo>
                  <a:lnTo>
                    <a:pt x="13716" y="7620"/>
                  </a:lnTo>
                  <a:lnTo>
                    <a:pt x="13716" y="13715"/>
                  </a:lnTo>
                  <a:lnTo>
                    <a:pt x="990599" y="13715"/>
                  </a:lnTo>
                  <a:lnTo>
                    <a:pt x="990599" y="7620"/>
                  </a:lnTo>
                  <a:close/>
                </a:path>
                <a:path w="1004570" h="104139">
                  <a:moveTo>
                    <a:pt x="1004315" y="7620"/>
                  </a:moveTo>
                  <a:lnTo>
                    <a:pt x="990599" y="7620"/>
                  </a:lnTo>
                  <a:lnTo>
                    <a:pt x="996695" y="13715"/>
                  </a:lnTo>
                  <a:lnTo>
                    <a:pt x="1004315" y="13715"/>
                  </a:lnTo>
                  <a:lnTo>
                    <a:pt x="100431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846942" y="3495296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45" dirty="0">
                <a:latin typeface="Calibri"/>
                <a:cs typeface="Calibri"/>
              </a:rPr>
              <a:t>P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70187" y="3495296"/>
            <a:ext cx="885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Rx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Power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22" name="object 22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034283" y="3886200"/>
            <a:ext cx="4090670" cy="358140"/>
            <a:chOff x="3034283" y="3886200"/>
            <a:chExt cx="4090670" cy="358140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38856" y="3886200"/>
              <a:ext cx="4081271" cy="3535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38856" y="3886200"/>
              <a:ext cx="4081271" cy="35356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034283" y="3886200"/>
              <a:ext cx="4090670" cy="358140"/>
            </a:xfrm>
            <a:custGeom>
              <a:avLst/>
              <a:gdLst/>
              <a:ahLst/>
              <a:cxnLst/>
              <a:rect l="l" t="t" r="r" b="b"/>
              <a:pathLst>
                <a:path w="4090670" h="358139">
                  <a:moveTo>
                    <a:pt x="6095" y="345948"/>
                  </a:moveTo>
                  <a:lnTo>
                    <a:pt x="3048" y="345948"/>
                  </a:lnTo>
                  <a:lnTo>
                    <a:pt x="0" y="348996"/>
                  </a:lnTo>
                  <a:lnTo>
                    <a:pt x="0" y="356616"/>
                  </a:lnTo>
                  <a:lnTo>
                    <a:pt x="3048" y="358140"/>
                  </a:lnTo>
                  <a:lnTo>
                    <a:pt x="7619" y="358140"/>
                  </a:lnTo>
                  <a:lnTo>
                    <a:pt x="6095" y="345948"/>
                  </a:lnTo>
                  <a:close/>
                </a:path>
                <a:path w="4090670" h="358139">
                  <a:moveTo>
                    <a:pt x="15239" y="342900"/>
                  </a:moveTo>
                  <a:lnTo>
                    <a:pt x="9143" y="345948"/>
                  </a:lnTo>
                  <a:lnTo>
                    <a:pt x="6095" y="345948"/>
                  </a:lnTo>
                  <a:lnTo>
                    <a:pt x="7619" y="358140"/>
                  </a:lnTo>
                  <a:lnTo>
                    <a:pt x="15239" y="358140"/>
                  </a:lnTo>
                  <a:lnTo>
                    <a:pt x="15239" y="356616"/>
                  </a:lnTo>
                  <a:lnTo>
                    <a:pt x="21336" y="355092"/>
                  </a:lnTo>
                  <a:lnTo>
                    <a:pt x="21336" y="353568"/>
                  </a:lnTo>
                  <a:lnTo>
                    <a:pt x="22860" y="353568"/>
                  </a:lnTo>
                  <a:lnTo>
                    <a:pt x="27431" y="348996"/>
                  </a:lnTo>
                  <a:lnTo>
                    <a:pt x="28956" y="348996"/>
                  </a:lnTo>
                  <a:lnTo>
                    <a:pt x="31241" y="345948"/>
                  </a:lnTo>
                  <a:lnTo>
                    <a:pt x="9143" y="345948"/>
                  </a:lnTo>
                  <a:lnTo>
                    <a:pt x="12192" y="344424"/>
                  </a:lnTo>
                  <a:lnTo>
                    <a:pt x="13716" y="344424"/>
                  </a:lnTo>
                  <a:lnTo>
                    <a:pt x="15239" y="342900"/>
                  </a:lnTo>
                  <a:close/>
                </a:path>
                <a:path w="4090670" h="358139">
                  <a:moveTo>
                    <a:pt x="4047743" y="348996"/>
                  </a:moveTo>
                  <a:lnTo>
                    <a:pt x="27431" y="348996"/>
                  </a:lnTo>
                  <a:lnTo>
                    <a:pt x="22860" y="353568"/>
                  </a:lnTo>
                  <a:lnTo>
                    <a:pt x="21336" y="353568"/>
                  </a:lnTo>
                  <a:lnTo>
                    <a:pt x="21336" y="355092"/>
                  </a:lnTo>
                  <a:lnTo>
                    <a:pt x="15239" y="356616"/>
                  </a:lnTo>
                  <a:lnTo>
                    <a:pt x="15239" y="358140"/>
                  </a:lnTo>
                  <a:lnTo>
                    <a:pt x="4035551" y="358140"/>
                  </a:lnTo>
                  <a:lnTo>
                    <a:pt x="4035551" y="356616"/>
                  </a:lnTo>
                  <a:lnTo>
                    <a:pt x="4041647" y="355092"/>
                  </a:lnTo>
                  <a:lnTo>
                    <a:pt x="4041647" y="353568"/>
                  </a:lnTo>
                  <a:lnTo>
                    <a:pt x="4047743" y="348996"/>
                  </a:lnTo>
                  <a:close/>
                </a:path>
                <a:path w="4090670" h="358139">
                  <a:moveTo>
                    <a:pt x="4035551" y="342900"/>
                  </a:moveTo>
                  <a:lnTo>
                    <a:pt x="4029455" y="345948"/>
                  </a:lnTo>
                  <a:lnTo>
                    <a:pt x="31241" y="345948"/>
                  </a:lnTo>
                  <a:lnTo>
                    <a:pt x="28956" y="348996"/>
                  </a:lnTo>
                  <a:lnTo>
                    <a:pt x="4049267" y="348996"/>
                  </a:lnTo>
                  <a:lnTo>
                    <a:pt x="4052696" y="344424"/>
                  </a:lnTo>
                  <a:lnTo>
                    <a:pt x="4034027" y="344424"/>
                  </a:lnTo>
                  <a:lnTo>
                    <a:pt x="4035551" y="342900"/>
                  </a:lnTo>
                  <a:close/>
                </a:path>
                <a:path w="4090670" h="358139">
                  <a:moveTo>
                    <a:pt x="4030979" y="344424"/>
                  </a:moveTo>
                  <a:lnTo>
                    <a:pt x="4026407" y="345948"/>
                  </a:lnTo>
                  <a:lnTo>
                    <a:pt x="4029455" y="345948"/>
                  </a:lnTo>
                  <a:lnTo>
                    <a:pt x="4030979" y="344424"/>
                  </a:lnTo>
                  <a:close/>
                </a:path>
                <a:path w="4090670" h="358139">
                  <a:moveTo>
                    <a:pt x="24383" y="333756"/>
                  </a:moveTo>
                  <a:lnTo>
                    <a:pt x="18287" y="339852"/>
                  </a:lnTo>
                  <a:lnTo>
                    <a:pt x="19812" y="339852"/>
                  </a:lnTo>
                  <a:lnTo>
                    <a:pt x="13716" y="344424"/>
                  </a:lnTo>
                  <a:lnTo>
                    <a:pt x="32384" y="344424"/>
                  </a:lnTo>
                  <a:lnTo>
                    <a:pt x="33527" y="342900"/>
                  </a:lnTo>
                  <a:lnTo>
                    <a:pt x="33527" y="341376"/>
                  </a:lnTo>
                  <a:lnTo>
                    <a:pt x="35051" y="341376"/>
                  </a:lnTo>
                  <a:lnTo>
                    <a:pt x="38709" y="335280"/>
                  </a:lnTo>
                  <a:lnTo>
                    <a:pt x="24383" y="335280"/>
                  </a:lnTo>
                  <a:lnTo>
                    <a:pt x="24383" y="333756"/>
                  </a:lnTo>
                  <a:close/>
                </a:path>
                <a:path w="4090670" h="358139">
                  <a:moveTo>
                    <a:pt x="4059935" y="333756"/>
                  </a:moveTo>
                  <a:lnTo>
                    <a:pt x="4044695" y="333756"/>
                  </a:lnTo>
                  <a:lnTo>
                    <a:pt x="4038599" y="339852"/>
                  </a:lnTo>
                  <a:lnTo>
                    <a:pt x="4040123" y="339852"/>
                  </a:lnTo>
                  <a:lnTo>
                    <a:pt x="4034027" y="344424"/>
                  </a:lnTo>
                  <a:lnTo>
                    <a:pt x="4052696" y="344424"/>
                  </a:lnTo>
                  <a:lnTo>
                    <a:pt x="4053839" y="342900"/>
                  </a:lnTo>
                  <a:lnTo>
                    <a:pt x="4053839" y="341376"/>
                  </a:lnTo>
                  <a:lnTo>
                    <a:pt x="4059935" y="333756"/>
                  </a:lnTo>
                  <a:close/>
                </a:path>
                <a:path w="4090670" h="358139">
                  <a:moveTo>
                    <a:pt x="35813" y="1524"/>
                  </a:moveTo>
                  <a:lnTo>
                    <a:pt x="18287" y="1524"/>
                  </a:lnTo>
                  <a:lnTo>
                    <a:pt x="24383" y="7620"/>
                  </a:lnTo>
                  <a:lnTo>
                    <a:pt x="33527" y="22860"/>
                  </a:lnTo>
                  <a:lnTo>
                    <a:pt x="36575" y="33528"/>
                  </a:lnTo>
                  <a:lnTo>
                    <a:pt x="41148" y="44196"/>
                  </a:lnTo>
                  <a:lnTo>
                    <a:pt x="44195" y="57912"/>
                  </a:lnTo>
                  <a:lnTo>
                    <a:pt x="48768" y="70104"/>
                  </a:lnTo>
                  <a:lnTo>
                    <a:pt x="50292" y="85344"/>
                  </a:lnTo>
                  <a:lnTo>
                    <a:pt x="53339" y="100584"/>
                  </a:lnTo>
                  <a:lnTo>
                    <a:pt x="56514" y="135636"/>
                  </a:lnTo>
                  <a:lnTo>
                    <a:pt x="57912" y="152400"/>
                  </a:lnTo>
                  <a:lnTo>
                    <a:pt x="57785" y="190500"/>
                  </a:lnTo>
                  <a:lnTo>
                    <a:pt x="56387" y="207264"/>
                  </a:lnTo>
                  <a:lnTo>
                    <a:pt x="53339" y="240792"/>
                  </a:lnTo>
                  <a:lnTo>
                    <a:pt x="50292" y="256032"/>
                  </a:lnTo>
                  <a:lnTo>
                    <a:pt x="48768" y="271272"/>
                  </a:lnTo>
                  <a:lnTo>
                    <a:pt x="44195" y="284988"/>
                  </a:lnTo>
                  <a:lnTo>
                    <a:pt x="41148" y="297180"/>
                  </a:lnTo>
                  <a:lnTo>
                    <a:pt x="38100" y="307848"/>
                  </a:lnTo>
                  <a:lnTo>
                    <a:pt x="33527" y="318516"/>
                  </a:lnTo>
                  <a:lnTo>
                    <a:pt x="28956" y="327660"/>
                  </a:lnTo>
                  <a:lnTo>
                    <a:pt x="24383" y="335280"/>
                  </a:lnTo>
                  <a:lnTo>
                    <a:pt x="38709" y="335280"/>
                  </a:lnTo>
                  <a:lnTo>
                    <a:pt x="56387" y="288036"/>
                  </a:lnTo>
                  <a:lnTo>
                    <a:pt x="60960" y="274320"/>
                  </a:lnTo>
                  <a:lnTo>
                    <a:pt x="64007" y="259080"/>
                  </a:lnTo>
                  <a:lnTo>
                    <a:pt x="68706" y="207264"/>
                  </a:lnTo>
                  <a:lnTo>
                    <a:pt x="70104" y="190500"/>
                  </a:lnTo>
                  <a:lnTo>
                    <a:pt x="70104" y="152400"/>
                  </a:lnTo>
                  <a:lnTo>
                    <a:pt x="68580" y="134112"/>
                  </a:lnTo>
                  <a:lnTo>
                    <a:pt x="66929" y="115824"/>
                  </a:lnTo>
                  <a:lnTo>
                    <a:pt x="65531" y="99060"/>
                  </a:lnTo>
                  <a:lnTo>
                    <a:pt x="64007" y="83820"/>
                  </a:lnTo>
                  <a:lnTo>
                    <a:pt x="60960" y="68580"/>
                  </a:lnTo>
                  <a:lnTo>
                    <a:pt x="56387" y="54864"/>
                  </a:lnTo>
                  <a:lnTo>
                    <a:pt x="53339" y="41148"/>
                  </a:lnTo>
                  <a:lnTo>
                    <a:pt x="48768" y="28956"/>
                  </a:lnTo>
                  <a:lnTo>
                    <a:pt x="44195" y="18288"/>
                  </a:lnTo>
                  <a:lnTo>
                    <a:pt x="35813" y="1524"/>
                  </a:lnTo>
                  <a:close/>
                </a:path>
                <a:path w="4090670" h="358139">
                  <a:moveTo>
                    <a:pt x="4055059" y="1524"/>
                  </a:moveTo>
                  <a:lnTo>
                    <a:pt x="4038599" y="1524"/>
                  </a:lnTo>
                  <a:lnTo>
                    <a:pt x="4044695" y="7620"/>
                  </a:lnTo>
                  <a:lnTo>
                    <a:pt x="4043171" y="7620"/>
                  </a:lnTo>
                  <a:lnTo>
                    <a:pt x="4049267" y="15240"/>
                  </a:lnTo>
                  <a:lnTo>
                    <a:pt x="4053839" y="22860"/>
                  </a:lnTo>
                  <a:lnTo>
                    <a:pt x="4056887" y="33528"/>
                  </a:lnTo>
                  <a:lnTo>
                    <a:pt x="4061459" y="44196"/>
                  </a:lnTo>
                  <a:lnTo>
                    <a:pt x="4070603" y="85344"/>
                  </a:lnTo>
                  <a:lnTo>
                    <a:pt x="4073651" y="102108"/>
                  </a:lnTo>
                  <a:lnTo>
                    <a:pt x="4075175" y="117348"/>
                  </a:lnTo>
                  <a:lnTo>
                    <a:pt x="4076699" y="135636"/>
                  </a:lnTo>
                  <a:lnTo>
                    <a:pt x="4078223" y="152400"/>
                  </a:lnTo>
                  <a:lnTo>
                    <a:pt x="4078096" y="190500"/>
                  </a:lnTo>
                  <a:lnTo>
                    <a:pt x="4073651" y="240792"/>
                  </a:lnTo>
                  <a:lnTo>
                    <a:pt x="4064507" y="284988"/>
                  </a:lnTo>
                  <a:lnTo>
                    <a:pt x="4047743" y="327660"/>
                  </a:lnTo>
                  <a:lnTo>
                    <a:pt x="4043171" y="335280"/>
                  </a:lnTo>
                  <a:lnTo>
                    <a:pt x="4044695" y="333756"/>
                  </a:lnTo>
                  <a:lnTo>
                    <a:pt x="4059935" y="333756"/>
                  </a:lnTo>
                  <a:lnTo>
                    <a:pt x="4064507" y="324612"/>
                  </a:lnTo>
                  <a:lnTo>
                    <a:pt x="4073651" y="300228"/>
                  </a:lnTo>
                  <a:lnTo>
                    <a:pt x="4076699" y="288036"/>
                  </a:lnTo>
                  <a:lnTo>
                    <a:pt x="4081271" y="274320"/>
                  </a:lnTo>
                  <a:lnTo>
                    <a:pt x="4082795" y="259080"/>
                  </a:lnTo>
                  <a:lnTo>
                    <a:pt x="4085843" y="242316"/>
                  </a:lnTo>
                  <a:lnTo>
                    <a:pt x="4087367" y="225552"/>
                  </a:lnTo>
                  <a:lnTo>
                    <a:pt x="4090288" y="190500"/>
                  </a:lnTo>
                  <a:lnTo>
                    <a:pt x="4090415" y="152400"/>
                  </a:lnTo>
                  <a:lnTo>
                    <a:pt x="4087367" y="115824"/>
                  </a:lnTo>
                  <a:lnTo>
                    <a:pt x="4085843" y="99060"/>
                  </a:lnTo>
                  <a:lnTo>
                    <a:pt x="4082795" y="83820"/>
                  </a:lnTo>
                  <a:lnTo>
                    <a:pt x="4081271" y="68580"/>
                  </a:lnTo>
                  <a:lnTo>
                    <a:pt x="4076699" y="53340"/>
                  </a:lnTo>
                  <a:lnTo>
                    <a:pt x="4073651" y="41148"/>
                  </a:lnTo>
                  <a:lnTo>
                    <a:pt x="4069079" y="28956"/>
                  </a:lnTo>
                  <a:lnTo>
                    <a:pt x="4059935" y="7620"/>
                  </a:lnTo>
                  <a:lnTo>
                    <a:pt x="4055059" y="1524"/>
                  </a:lnTo>
                  <a:close/>
                </a:path>
                <a:path w="4090670" h="358139">
                  <a:moveTo>
                    <a:pt x="35051" y="0"/>
                  </a:moveTo>
                  <a:lnTo>
                    <a:pt x="15747" y="0"/>
                  </a:lnTo>
                  <a:lnTo>
                    <a:pt x="19812" y="3048"/>
                  </a:lnTo>
                  <a:lnTo>
                    <a:pt x="18287" y="1524"/>
                  </a:lnTo>
                  <a:lnTo>
                    <a:pt x="35813" y="1524"/>
                  </a:lnTo>
                  <a:lnTo>
                    <a:pt x="35051" y="0"/>
                  </a:lnTo>
                  <a:close/>
                </a:path>
                <a:path w="4090670" h="358139">
                  <a:moveTo>
                    <a:pt x="4053839" y="0"/>
                  </a:moveTo>
                  <a:lnTo>
                    <a:pt x="4036059" y="0"/>
                  </a:lnTo>
                  <a:lnTo>
                    <a:pt x="4040123" y="3048"/>
                  </a:lnTo>
                  <a:lnTo>
                    <a:pt x="4038599" y="1524"/>
                  </a:lnTo>
                  <a:lnTo>
                    <a:pt x="4055059" y="1524"/>
                  </a:lnTo>
                  <a:lnTo>
                    <a:pt x="405383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609517" y="3549320"/>
            <a:ext cx="946785" cy="6419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Cable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endParaRPr sz="1800">
              <a:latin typeface="Calibri"/>
              <a:cs typeface="Calibri"/>
            </a:endParaRPr>
          </a:p>
          <a:p>
            <a:pPr marR="1270" algn="ctr">
              <a:lnSpc>
                <a:spcPct val="100000"/>
              </a:lnSpc>
              <a:spcBef>
                <a:spcPts val="265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Cable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48027" y="3886200"/>
            <a:ext cx="1371600" cy="445134"/>
            <a:chOff x="1748027" y="3886200"/>
            <a:chExt cx="1371600" cy="445134"/>
          </a:xfrm>
        </p:grpSpPr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1611" y="3886200"/>
              <a:ext cx="123443" cy="35356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91611" y="3886200"/>
              <a:ext cx="123443" cy="35356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987039" y="3886200"/>
              <a:ext cx="132715" cy="358140"/>
            </a:xfrm>
            <a:custGeom>
              <a:avLst/>
              <a:gdLst/>
              <a:ahLst/>
              <a:cxnLst/>
              <a:rect l="l" t="t" r="r" b="b"/>
              <a:pathLst>
                <a:path w="132714" h="358139">
                  <a:moveTo>
                    <a:pt x="55880" y="0"/>
                  </a:moveTo>
                  <a:lnTo>
                    <a:pt x="38100" y="0"/>
                  </a:lnTo>
                  <a:lnTo>
                    <a:pt x="32004" y="9144"/>
                  </a:lnTo>
                  <a:lnTo>
                    <a:pt x="27431" y="18288"/>
                  </a:lnTo>
                  <a:lnTo>
                    <a:pt x="21336" y="28956"/>
                  </a:lnTo>
                  <a:lnTo>
                    <a:pt x="18287" y="41148"/>
                  </a:lnTo>
                  <a:lnTo>
                    <a:pt x="13716" y="54864"/>
                  </a:lnTo>
                  <a:lnTo>
                    <a:pt x="10668" y="68580"/>
                  </a:lnTo>
                  <a:lnTo>
                    <a:pt x="4571" y="99060"/>
                  </a:lnTo>
                  <a:lnTo>
                    <a:pt x="3048" y="117348"/>
                  </a:lnTo>
                  <a:lnTo>
                    <a:pt x="1397" y="135636"/>
                  </a:lnTo>
                  <a:lnTo>
                    <a:pt x="0" y="152400"/>
                  </a:lnTo>
                  <a:lnTo>
                    <a:pt x="0" y="190500"/>
                  </a:lnTo>
                  <a:lnTo>
                    <a:pt x="4571" y="242316"/>
                  </a:lnTo>
                  <a:lnTo>
                    <a:pt x="13716" y="288036"/>
                  </a:lnTo>
                  <a:lnTo>
                    <a:pt x="27431" y="324612"/>
                  </a:lnTo>
                  <a:lnTo>
                    <a:pt x="50292" y="353568"/>
                  </a:lnTo>
                  <a:lnTo>
                    <a:pt x="51816" y="355092"/>
                  </a:lnTo>
                  <a:lnTo>
                    <a:pt x="57912" y="356616"/>
                  </a:lnTo>
                  <a:lnTo>
                    <a:pt x="57912" y="358140"/>
                  </a:lnTo>
                  <a:lnTo>
                    <a:pt x="74675" y="358140"/>
                  </a:lnTo>
                  <a:lnTo>
                    <a:pt x="74675" y="356616"/>
                  </a:lnTo>
                  <a:lnTo>
                    <a:pt x="80771" y="355092"/>
                  </a:lnTo>
                  <a:lnTo>
                    <a:pt x="80771" y="353568"/>
                  </a:lnTo>
                  <a:lnTo>
                    <a:pt x="82295" y="353568"/>
                  </a:lnTo>
                  <a:lnTo>
                    <a:pt x="88392" y="348996"/>
                  </a:lnTo>
                  <a:lnTo>
                    <a:pt x="90830" y="345948"/>
                  </a:lnTo>
                  <a:lnTo>
                    <a:pt x="62483" y="345948"/>
                  </a:lnTo>
                  <a:lnTo>
                    <a:pt x="59436" y="344424"/>
                  </a:lnTo>
                  <a:lnTo>
                    <a:pt x="57912" y="344424"/>
                  </a:lnTo>
                  <a:lnTo>
                    <a:pt x="51816" y="339852"/>
                  </a:lnTo>
                  <a:lnTo>
                    <a:pt x="53339" y="339852"/>
                  </a:lnTo>
                  <a:lnTo>
                    <a:pt x="47243" y="333756"/>
                  </a:lnTo>
                  <a:lnTo>
                    <a:pt x="28956" y="297180"/>
                  </a:lnTo>
                  <a:lnTo>
                    <a:pt x="16763" y="240792"/>
                  </a:lnTo>
                  <a:lnTo>
                    <a:pt x="12318" y="190500"/>
                  </a:lnTo>
                  <a:lnTo>
                    <a:pt x="12192" y="152400"/>
                  </a:lnTo>
                  <a:lnTo>
                    <a:pt x="13716" y="134112"/>
                  </a:lnTo>
                  <a:lnTo>
                    <a:pt x="16763" y="100584"/>
                  </a:lnTo>
                  <a:lnTo>
                    <a:pt x="22860" y="70104"/>
                  </a:lnTo>
                  <a:lnTo>
                    <a:pt x="25907" y="57912"/>
                  </a:lnTo>
                  <a:lnTo>
                    <a:pt x="30480" y="44196"/>
                  </a:lnTo>
                  <a:lnTo>
                    <a:pt x="33527" y="33528"/>
                  </a:lnTo>
                  <a:lnTo>
                    <a:pt x="38100" y="22860"/>
                  </a:lnTo>
                  <a:lnTo>
                    <a:pt x="42671" y="15240"/>
                  </a:lnTo>
                  <a:lnTo>
                    <a:pt x="48768" y="7620"/>
                  </a:lnTo>
                  <a:lnTo>
                    <a:pt x="52196" y="3048"/>
                  </a:lnTo>
                  <a:lnTo>
                    <a:pt x="51815" y="3048"/>
                  </a:lnTo>
                  <a:lnTo>
                    <a:pt x="53339" y="1524"/>
                  </a:lnTo>
                  <a:lnTo>
                    <a:pt x="53848" y="1524"/>
                  </a:lnTo>
                  <a:lnTo>
                    <a:pt x="55880" y="0"/>
                  </a:lnTo>
                  <a:close/>
                </a:path>
                <a:path w="132714" h="358139">
                  <a:moveTo>
                    <a:pt x="60960" y="344424"/>
                  </a:moveTo>
                  <a:lnTo>
                    <a:pt x="62483" y="345948"/>
                  </a:lnTo>
                  <a:lnTo>
                    <a:pt x="65531" y="345948"/>
                  </a:lnTo>
                  <a:lnTo>
                    <a:pt x="66293" y="345757"/>
                  </a:lnTo>
                  <a:lnTo>
                    <a:pt x="60960" y="344424"/>
                  </a:lnTo>
                  <a:close/>
                </a:path>
                <a:path w="132714" h="358139">
                  <a:moveTo>
                    <a:pt x="66293" y="345757"/>
                  </a:moveTo>
                  <a:lnTo>
                    <a:pt x="65531" y="345948"/>
                  </a:lnTo>
                  <a:lnTo>
                    <a:pt x="67056" y="345948"/>
                  </a:lnTo>
                  <a:lnTo>
                    <a:pt x="66293" y="345757"/>
                  </a:lnTo>
                  <a:close/>
                </a:path>
                <a:path w="132714" h="358139">
                  <a:moveTo>
                    <a:pt x="71627" y="344424"/>
                  </a:moveTo>
                  <a:lnTo>
                    <a:pt x="66293" y="345757"/>
                  </a:lnTo>
                  <a:lnTo>
                    <a:pt x="67056" y="345948"/>
                  </a:lnTo>
                  <a:lnTo>
                    <a:pt x="70104" y="345948"/>
                  </a:lnTo>
                  <a:lnTo>
                    <a:pt x="71627" y="344424"/>
                  </a:lnTo>
                  <a:close/>
                </a:path>
                <a:path w="132714" h="358139">
                  <a:moveTo>
                    <a:pt x="95707" y="1524"/>
                  </a:moveTo>
                  <a:lnTo>
                    <a:pt x="79248" y="1524"/>
                  </a:lnTo>
                  <a:lnTo>
                    <a:pt x="85343" y="7620"/>
                  </a:lnTo>
                  <a:lnTo>
                    <a:pt x="89916" y="15240"/>
                  </a:lnTo>
                  <a:lnTo>
                    <a:pt x="99060" y="33528"/>
                  </a:lnTo>
                  <a:lnTo>
                    <a:pt x="102107" y="44196"/>
                  </a:lnTo>
                  <a:lnTo>
                    <a:pt x="106680" y="57912"/>
                  </a:lnTo>
                  <a:lnTo>
                    <a:pt x="115824" y="102108"/>
                  </a:lnTo>
                  <a:lnTo>
                    <a:pt x="118871" y="152400"/>
                  </a:lnTo>
                  <a:lnTo>
                    <a:pt x="120395" y="170688"/>
                  </a:lnTo>
                  <a:lnTo>
                    <a:pt x="118871" y="188976"/>
                  </a:lnTo>
                  <a:lnTo>
                    <a:pt x="118871" y="207264"/>
                  </a:lnTo>
                  <a:lnTo>
                    <a:pt x="115824" y="240792"/>
                  </a:lnTo>
                  <a:lnTo>
                    <a:pt x="109727" y="271272"/>
                  </a:lnTo>
                  <a:lnTo>
                    <a:pt x="106680" y="284988"/>
                  </a:lnTo>
                  <a:lnTo>
                    <a:pt x="102107" y="297180"/>
                  </a:lnTo>
                  <a:lnTo>
                    <a:pt x="99060" y="309372"/>
                  </a:lnTo>
                  <a:lnTo>
                    <a:pt x="89916" y="327660"/>
                  </a:lnTo>
                  <a:lnTo>
                    <a:pt x="83819" y="333756"/>
                  </a:lnTo>
                  <a:lnTo>
                    <a:pt x="79248" y="339852"/>
                  </a:lnTo>
                  <a:lnTo>
                    <a:pt x="80771" y="339852"/>
                  </a:lnTo>
                  <a:lnTo>
                    <a:pt x="74675" y="342900"/>
                  </a:lnTo>
                  <a:lnTo>
                    <a:pt x="76200" y="342900"/>
                  </a:lnTo>
                  <a:lnTo>
                    <a:pt x="70104" y="345948"/>
                  </a:lnTo>
                  <a:lnTo>
                    <a:pt x="90830" y="345948"/>
                  </a:lnTo>
                  <a:lnTo>
                    <a:pt x="100583" y="333756"/>
                  </a:lnTo>
                  <a:lnTo>
                    <a:pt x="105156" y="324612"/>
                  </a:lnTo>
                  <a:lnTo>
                    <a:pt x="109727" y="312420"/>
                  </a:lnTo>
                  <a:lnTo>
                    <a:pt x="114300" y="301752"/>
                  </a:lnTo>
                  <a:lnTo>
                    <a:pt x="124968" y="259080"/>
                  </a:lnTo>
                  <a:lnTo>
                    <a:pt x="132461" y="190500"/>
                  </a:lnTo>
                  <a:lnTo>
                    <a:pt x="132587" y="152400"/>
                  </a:lnTo>
                  <a:lnTo>
                    <a:pt x="129539" y="115824"/>
                  </a:lnTo>
                  <a:lnTo>
                    <a:pt x="128016" y="99060"/>
                  </a:lnTo>
                  <a:lnTo>
                    <a:pt x="118871" y="53340"/>
                  </a:lnTo>
                  <a:lnTo>
                    <a:pt x="109727" y="28956"/>
                  </a:lnTo>
                  <a:lnTo>
                    <a:pt x="100583" y="7620"/>
                  </a:lnTo>
                  <a:lnTo>
                    <a:pt x="95707" y="1524"/>
                  </a:lnTo>
                  <a:close/>
                </a:path>
                <a:path w="132714" h="358139">
                  <a:moveTo>
                    <a:pt x="56387" y="342900"/>
                  </a:moveTo>
                  <a:lnTo>
                    <a:pt x="57912" y="344424"/>
                  </a:lnTo>
                  <a:lnTo>
                    <a:pt x="59436" y="344424"/>
                  </a:lnTo>
                  <a:lnTo>
                    <a:pt x="56387" y="342900"/>
                  </a:lnTo>
                  <a:close/>
                </a:path>
                <a:path w="132714" h="358139">
                  <a:moveTo>
                    <a:pt x="53339" y="1524"/>
                  </a:moveTo>
                  <a:lnTo>
                    <a:pt x="51815" y="3048"/>
                  </a:lnTo>
                  <a:lnTo>
                    <a:pt x="52686" y="2394"/>
                  </a:lnTo>
                  <a:lnTo>
                    <a:pt x="53339" y="1524"/>
                  </a:lnTo>
                  <a:close/>
                </a:path>
                <a:path w="132714" h="358139">
                  <a:moveTo>
                    <a:pt x="52686" y="2394"/>
                  </a:moveTo>
                  <a:lnTo>
                    <a:pt x="51815" y="3048"/>
                  </a:lnTo>
                  <a:lnTo>
                    <a:pt x="52196" y="3048"/>
                  </a:lnTo>
                  <a:lnTo>
                    <a:pt x="52686" y="2394"/>
                  </a:lnTo>
                  <a:close/>
                </a:path>
                <a:path w="132714" h="358139">
                  <a:moveTo>
                    <a:pt x="94487" y="0"/>
                  </a:moveTo>
                  <a:lnTo>
                    <a:pt x="76707" y="0"/>
                  </a:lnTo>
                  <a:lnTo>
                    <a:pt x="80772" y="3048"/>
                  </a:lnTo>
                  <a:lnTo>
                    <a:pt x="79248" y="1524"/>
                  </a:lnTo>
                  <a:lnTo>
                    <a:pt x="95707" y="1524"/>
                  </a:lnTo>
                  <a:lnTo>
                    <a:pt x="94487" y="0"/>
                  </a:lnTo>
                  <a:close/>
                </a:path>
                <a:path w="132714" h="358139">
                  <a:moveTo>
                    <a:pt x="53848" y="1524"/>
                  </a:moveTo>
                  <a:lnTo>
                    <a:pt x="53339" y="1524"/>
                  </a:lnTo>
                  <a:lnTo>
                    <a:pt x="52686" y="2394"/>
                  </a:lnTo>
                  <a:lnTo>
                    <a:pt x="53848" y="15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54123" y="3886200"/>
              <a:ext cx="989330" cy="437515"/>
            </a:xfrm>
            <a:custGeom>
              <a:avLst/>
              <a:gdLst/>
              <a:ahLst/>
              <a:cxnLst/>
              <a:rect l="l" t="t" r="r" b="b"/>
              <a:pathLst>
                <a:path w="989330" h="437514">
                  <a:moveTo>
                    <a:pt x="0" y="437387"/>
                  </a:moveTo>
                  <a:lnTo>
                    <a:pt x="989075" y="437387"/>
                  </a:lnTo>
                  <a:lnTo>
                    <a:pt x="989075" y="0"/>
                  </a:lnTo>
                  <a:lnTo>
                    <a:pt x="0" y="0"/>
                  </a:lnTo>
                  <a:lnTo>
                    <a:pt x="0" y="43738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48027" y="3886200"/>
              <a:ext cx="1004569" cy="445134"/>
            </a:xfrm>
            <a:custGeom>
              <a:avLst/>
              <a:gdLst/>
              <a:ahLst/>
              <a:cxnLst/>
              <a:rect l="l" t="t" r="r" b="b"/>
              <a:pathLst>
                <a:path w="1004569" h="445135">
                  <a:moveTo>
                    <a:pt x="13716" y="0"/>
                  </a:moveTo>
                  <a:lnTo>
                    <a:pt x="0" y="0"/>
                  </a:lnTo>
                  <a:lnTo>
                    <a:pt x="0" y="445007"/>
                  </a:lnTo>
                  <a:lnTo>
                    <a:pt x="1004315" y="445007"/>
                  </a:lnTo>
                  <a:lnTo>
                    <a:pt x="1004315" y="438911"/>
                  </a:lnTo>
                  <a:lnTo>
                    <a:pt x="13716" y="438911"/>
                  </a:lnTo>
                  <a:lnTo>
                    <a:pt x="6096" y="431291"/>
                  </a:lnTo>
                  <a:lnTo>
                    <a:pt x="13716" y="431291"/>
                  </a:lnTo>
                  <a:lnTo>
                    <a:pt x="13716" y="0"/>
                  </a:lnTo>
                  <a:close/>
                </a:path>
                <a:path w="1004569" h="445135">
                  <a:moveTo>
                    <a:pt x="13716" y="431291"/>
                  </a:moveTo>
                  <a:lnTo>
                    <a:pt x="6096" y="431291"/>
                  </a:lnTo>
                  <a:lnTo>
                    <a:pt x="13716" y="438911"/>
                  </a:lnTo>
                  <a:lnTo>
                    <a:pt x="13716" y="431291"/>
                  </a:lnTo>
                  <a:close/>
                </a:path>
                <a:path w="1004569" h="445135">
                  <a:moveTo>
                    <a:pt x="990599" y="431291"/>
                  </a:moveTo>
                  <a:lnTo>
                    <a:pt x="13716" y="431291"/>
                  </a:lnTo>
                  <a:lnTo>
                    <a:pt x="13716" y="438911"/>
                  </a:lnTo>
                  <a:lnTo>
                    <a:pt x="990599" y="438911"/>
                  </a:lnTo>
                  <a:lnTo>
                    <a:pt x="990599" y="431291"/>
                  </a:lnTo>
                  <a:close/>
                </a:path>
                <a:path w="1004569" h="445135">
                  <a:moveTo>
                    <a:pt x="1004315" y="0"/>
                  </a:moveTo>
                  <a:lnTo>
                    <a:pt x="990599" y="0"/>
                  </a:lnTo>
                  <a:lnTo>
                    <a:pt x="990599" y="438911"/>
                  </a:lnTo>
                  <a:lnTo>
                    <a:pt x="996695" y="431291"/>
                  </a:lnTo>
                  <a:lnTo>
                    <a:pt x="1004315" y="431291"/>
                  </a:lnTo>
                  <a:lnTo>
                    <a:pt x="1004315" y="0"/>
                  </a:lnTo>
                  <a:close/>
                </a:path>
                <a:path w="1004569" h="445135">
                  <a:moveTo>
                    <a:pt x="1004315" y="431291"/>
                  </a:moveTo>
                  <a:lnTo>
                    <a:pt x="996695" y="431291"/>
                  </a:lnTo>
                  <a:lnTo>
                    <a:pt x="990599" y="438911"/>
                  </a:lnTo>
                  <a:lnTo>
                    <a:pt x="1004315" y="438911"/>
                  </a:lnTo>
                  <a:lnTo>
                    <a:pt x="1004315" y="4312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754123" y="3791711"/>
            <a:ext cx="989330" cy="53213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1030"/>
              </a:spcBef>
            </a:pPr>
            <a:r>
              <a:rPr sz="1600" b="1" spc="-10" dirty="0">
                <a:latin typeface="Calibri"/>
                <a:cs typeface="Calibri"/>
              </a:rPr>
              <a:t>Sender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744723" y="3886200"/>
            <a:ext cx="5664835" cy="445134"/>
            <a:chOff x="2744723" y="3886200"/>
            <a:chExt cx="5664835" cy="445134"/>
          </a:xfrm>
        </p:grpSpPr>
        <p:sp>
          <p:nvSpPr>
            <p:cNvPr id="37" name="object 37"/>
            <p:cNvSpPr/>
            <p:nvPr/>
          </p:nvSpPr>
          <p:spPr>
            <a:xfrm>
              <a:off x="2744723" y="4000500"/>
              <a:ext cx="314325" cy="114300"/>
            </a:xfrm>
            <a:custGeom>
              <a:avLst/>
              <a:gdLst/>
              <a:ahLst/>
              <a:cxnLst/>
              <a:rect l="l" t="t" r="r" b="b"/>
              <a:pathLst>
                <a:path w="314325" h="114300">
                  <a:moveTo>
                    <a:pt x="199644" y="0"/>
                  </a:moveTo>
                  <a:lnTo>
                    <a:pt x="199644" y="114300"/>
                  </a:lnTo>
                  <a:lnTo>
                    <a:pt x="276873" y="76200"/>
                  </a:lnTo>
                  <a:lnTo>
                    <a:pt x="217932" y="76200"/>
                  </a:lnTo>
                  <a:lnTo>
                    <a:pt x="217932" y="38100"/>
                  </a:lnTo>
                  <a:lnTo>
                    <a:pt x="274841" y="38100"/>
                  </a:lnTo>
                  <a:lnTo>
                    <a:pt x="199644" y="0"/>
                  </a:lnTo>
                  <a:close/>
                </a:path>
                <a:path w="314325" h="114300">
                  <a:moveTo>
                    <a:pt x="1996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99644" y="76200"/>
                  </a:lnTo>
                  <a:lnTo>
                    <a:pt x="199644" y="38100"/>
                  </a:lnTo>
                  <a:close/>
                </a:path>
                <a:path w="314325" h="114300">
                  <a:moveTo>
                    <a:pt x="274841" y="38100"/>
                  </a:moveTo>
                  <a:lnTo>
                    <a:pt x="217932" y="38100"/>
                  </a:lnTo>
                  <a:lnTo>
                    <a:pt x="217932" y="76200"/>
                  </a:lnTo>
                  <a:lnTo>
                    <a:pt x="276873" y="76200"/>
                  </a:lnTo>
                  <a:lnTo>
                    <a:pt x="313944" y="57912"/>
                  </a:lnTo>
                  <a:lnTo>
                    <a:pt x="27484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11211" y="3886200"/>
              <a:ext cx="989330" cy="437515"/>
            </a:xfrm>
            <a:custGeom>
              <a:avLst/>
              <a:gdLst/>
              <a:ahLst/>
              <a:cxnLst/>
              <a:rect l="l" t="t" r="r" b="b"/>
              <a:pathLst>
                <a:path w="989329" h="437514">
                  <a:moveTo>
                    <a:pt x="0" y="437387"/>
                  </a:moveTo>
                  <a:lnTo>
                    <a:pt x="989075" y="437387"/>
                  </a:lnTo>
                  <a:lnTo>
                    <a:pt x="989075" y="0"/>
                  </a:lnTo>
                  <a:lnTo>
                    <a:pt x="0" y="0"/>
                  </a:lnTo>
                  <a:lnTo>
                    <a:pt x="0" y="437387"/>
                  </a:lnTo>
                  <a:close/>
                </a:path>
              </a:pathLst>
            </a:custGeom>
            <a:solidFill>
              <a:srgbClr val="00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405115" y="3886200"/>
              <a:ext cx="1004569" cy="445134"/>
            </a:xfrm>
            <a:custGeom>
              <a:avLst/>
              <a:gdLst/>
              <a:ahLst/>
              <a:cxnLst/>
              <a:rect l="l" t="t" r="r" b="b"/>
              <a:pathLst>
                <a:path w="1004570" h="445135">
                  <a:moveTo>
                    <a:pt x="13716" y="0"/>
                  </a:moveTo>
                  <a:lnTo>
                    <a:pt x="0" y="0"/>
                  </a:lnTo>
                  <a:lnTo>
                    <a:pt x="0" y="445007"/>
                  </a:lnTo>
                  <a:lnTo>
                    <a:pt x="1004315" y="445007"/>
                  </a:lnTo>
                  <a:lnTo>
                    <a:pt x="1004315" y="438911"/>
                  </a:lnTo>
                  <a:lnTo>
                    <a:pt x="13716" y="438911"/>
                  </a:lnTo>
                  <a:lnTo>
                    <a:pt x="6096" y="431291"/>
                  </a:lnTo>
                  <a:lnTo>
                    <a:pt x="13716" y="431291"/>
                  </a:lnTo>
                  <a:lnTo>
                    <a:pt x="13716" y="0"/>
                  </a:lnTo>
                  <a:close/>
                </a:path>
                <a:path w="1004570" h="445135">
                  <a:moveTo>
                    <a:pt x="13716" y="431291"/>
                  </a:moveTo>
                  <a:lnTo>
                    <a:pt x="6096" y="431291"/>
                  </a:lnTo>
                  <a:lnTo>
                    <a:pt x="13716" y="438911"/>
                  </a:lnTo>
                  <a:lnTo>
                    <a:pt x="13716" y="431291"/>
                  </a:lnTo>
                  <a:close/>
                </a:path>
                <a:path w="1004570" h="445135">
                  <a:moveTo>
                    <a:pt x="990599" y="431291"/>
                  </a:moveTo>
                  <a:lnTo>
                    <a:pt x="13716" y="431291"/>
                  </a:lnTo>
                  <a:lnTo>
                    <a:pt x="13716" y="438911"/>
                  </a:lnTo>
                  <a:lnTo>
                    <a:pt x="990599" y="438911"/>
                  </a:lnTo>
                  <a:lnTo>
                    <a:pt x="990599" y="431291"/>
                  </a:lnTo>
                  <a:close/>
                </a:path>
                <a:path w="1004570" h="445135">
                  <a:moveTo>
                    <a:pt x="1004315" y="0"/>
                  </a:moveTo>
                  <a:lnTo>
                    <a:pt x="990599" y="0"/>
                  </a:lnTo>
                  <a:lnTo>
                    <a:pt x="990599" y="438911"/>
                  </a:lnTo>
                  <a:lnTo>
                    <a:pt x="996695" y="431291"/>
                  </a:lnTo>
                  <a:lnTo>
                    <a:pt x="1004315" y="431291"/>
                  </a:lnTo>
                  <a:lnTo>
                    <a:pt x="1004315" y="0"/>
                  </a:lnTo>
                  <a:close/>
                </a:path>
                <a:path w="1004570" h="445135">
                  <a:moveTo>
                    <a:pt x="1004315" y="431291"/>
                  </a:moveTo>
                  <a:lnTo>
                    <a:pt x="996695" y="431291"/>
                  </a:lnTo>
                  <a:lnTo>
                    <a:pt x="990599" y="438911"/>
                  </a:lnTo>
                  <a:lnTo>
                    <a:pt x="1004315" y="438911"/>
                  </a:lnTo>
                  <a:lnTo>
                    <a:pt x="1004315" y="4312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411211" y="3791711"/>
            <a:ext cx="989330" cy="53213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30"/>
              </a:spcBef>
            </a:pPr>
            <a:r>
              <a:rPr sz="1600" b="1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106411" y="4000500"/>
            <a:ext cx="304800" cy="114300"/>
          </a:xfrm>
          <a:custGeom>
            <a:avLst/>
            <a:gdLst/>
            <a:ahLst/>
            <a:cxnLst/>
            <a:rect l="l" t="t" r="r" b="b"/>
            <a:pathLst>
              <a:path w="304800" h="114300">
                <a:moveTo>
                  <a:pt x="190500" y="0"/>
                </a:moveTo>
                <a:lnTo>
                  <a:pt x="190500" y="114300"/>
                </a:lnTo>
                <a:lnTo>
                  <a:pt x="267729" y="76200"/>
                </a:lnTo>
                <a:lnTo>
                  <a:pt x="210312" y="76200"/>
                </a:lnTo>
                <a:lnTo>
                  <a:pt x="210312" y="38100"/>
                </a:lnTo>
                <a:lnTo>
                  <a:pt x="265697" y="38100"/>
                </a:lnTo>
                <a:lnTo>
                  <a:pt x="190500" y="0"/>
                </a:lnTo>
                <a:close/>
              </a:path>
              <a:path w="304800" h="114300">
                <a:moveTo>
                  <a:pt x="1905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304800" h="114300">
                <a:moveTo>
                  <a:pt x="265697" y="38100"/>
                </a:moveTo>
                <a:lnTo>
                  <a:pt x="210312" y="38100"/>
                </a:lnTo>
                <a:lnTo>
                  <a:pt x="210312" y="76200"/>
                </a:lnTo>
                <a:lnTo>
                  <a:pt x="267729" y="76200"/>
                </a:lnTo>
                <a:lnTo>
                  <a:pt x="304800" y="57912"/>
                </a:lnTo>
                <a:lnTo>
                  <a:pt x="265697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73351" y="4870703"/>
            <a:ext cx="6801611" cy="1613915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1680951" y="5643110"/>
            <a:ext cx="86233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45" dirty="0">
                <a:latin typeface="Calibri"/>
                <a:cs typeface="Calibri"/>
              </a:rPr>
              <a:t>P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er</a:t>
            </a:r>
            <a:endParaRPr sz="1800">
              <a:latin typeface="Calibri"/>
              <a:cs typeface="Calibri"/>
            </a:endParaRPr>
          </a:p>
          <a:p>
            <a:pPr marR="67945" algn="r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latin typeface="Calibri"/>
                <a:cs typeface="Calibri"/>
              </a:rPr>
              <a:t>Sender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21</a:t>
            </a:fld>
            <a:endParaRPr dirty="0"/>
          </a:p>
        </p:txBody>
      </p:sp>
      <p:sp>
        <p:nvSpPr>
          <p:cNvPr id="44" name="object 44"/>
          <p:cNvSpPr txBox="1"/>
          <p:nvPr/>
        </p:nvSpPr>
        <p:spPr>
          <a:xfrm>
            <a:off x="7599525" y="5643110"/>
            <a:ext cx="90170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Rx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Power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806043" y="5341950"/>
            <a:ext cx="1075690" cy="111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marR="392430" indent="-139065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00AF4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AF4F"/>
                </a:solidFill>
                <a:latin typeface="Calibri"/>
                <a:cs typeface="Calibri"/>
              </a:rPr>
              <a:t>x</a:t>
            </a:r>
            <a:r>
              <a:rPr sz="1800" spc="-15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4F"/>
                </a:solidFill>
                <a:latin typeface="Calibri"/>
                <a:cs typeface="Calibri"/>
              </a:rPr>
              <a:t>amp  </a:t>
            </a:r>
            <a:r>
              <a:rPr sz="1800" spc="-10" dirty="0">
                <a:solidFill>
                  <a:srgbClr val="00AF4F"/>
                </a:solidFill>
                <a:latin typeface="Calibri"/>
                <a:cs typeface="Calibri"/>
              </a:rPr>
              <a:t>gain</a:t>
            </a:r>
            <a:endParaRPr sz="1800">
              <a:latin typeface="Calibri"/>
              <a:cs typeface="Calibri"/>
            </a:endParaRPr>
          </a:p>
          <a:p>
            <a:pPr marL="266065" algn="ctr">
              <a:lnSpc>
                <a:spcPct val="100000"/>
              </a:lnSpc>
              <a:spcBef>
                <a:spcPts val="395"/>
              </a:spcBef>
            </a:pPr>
            <a:r>
              <a:rPr sz="1600" b="1" spc="-5" dirty="0">
                <a:latin typeface="Calibri"/>
                <a:cs typeface="Calibri"/>
              </a:rPr>
              <a:t>TX</a:t>
            </a:r>
            <a:endParaRPr sz="1600">
              <a:latin typeface="Calibri"/>
              <a:cs typeface="Calibri"/>
            </a:endParaRPr>
          </a:p>
          <a:p>
            <a:pPr marL="265430" algn="ctr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Amplifier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72121" y="5341950"/>
            <a:ext cx="1068705" cy="111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065" marR="5080" indent="-14986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AF4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00AF4F"/>
                </a:solidFill>
                <a:latin typeface="Calibri"/>
                <a:cs typeface="Calibri"/>
              </a:rPr>
              <a:t>x</a:t>
            </a:r>
            <a:r>
              <a:rPr sz="1800" spc="-15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4F"/>
                </a:solidFill>
                <a:latin typeface="Calibri"/>
                <a:cs typeface="Calibri"/>
              </a:rPr>
              <a:t>amp  </a:t>
            </a:r>
            <a:r>
              <a:rPr sz="1800" spc="-10" dirty="0">
                <a:solidFill>
                  <a:srgbClr val="00AF4F"/>
                </a:solidFill>
                <a:latin typeface="Calibri"/>
                <a:cs typeface="Calibri"/>
              </a:rPr>
              <a:t>gain</a:t>
            </a:r>
            <a:endParaRPr sz="1800">
              <a:latin typeface="Calibri"/>
              <a:cs typeface="Calibri"/>
            </a:endParaRPr>
          </a:p>
          <a:p>
            <a:pPr marR="252095" algn="ctr">
              <a:lnSpc>
                <a:spcPct val="100000"/>
              </a:lnSpc>
              <a:spcBef>
                <a:spcPts val="395"/>
              </a:spcBef>
            </a:pPr>
            <a:r>
              <a:rPr sz="1600" b="1" spc="-10" dirty="0">
                <a:latin typeface="Calibri"/>
                <a:cs typeface="Calibri"/>
              </a:rPr>
              <a:t>RX</a:t>
            </a:r>
            <a:endParaRPr sz="1600">
              <a:latin typeface="Calibri"/>
              <a:cs typeface="Calibri"/>
            </a:endParaRPr>
          </a:p>
          <a:p>
            <a:pPr marR="250825" algn="ctr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Amplifier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08714" y="4732820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00AF4F"/>
                </a:solidFill>
                <a:latin typeface="Calibri"/>
                <a:cs typeface="Calibri"/>
              </a:rPr>
              <a:t>Tx </a:t>
            </a:r>
            <a:r>
              <a:rPr sz="1800" spc="-10" dirty="0">
                <a:solidFill>
                  <a:srgbClr val="00AF4F"/>
                </a:solidFill>
                <a:latin typeface="Calibri"/>
                <a:cs typeface="Calibri"/>
              </a:rPr>
              <a:t>antenna</a:t>
            </a:r>
            <a:r>
              <a:rPr sz="1800" spc="-25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Calibri"/>
                <a:cs typeface="Calibri"/>
              </a:rPr>
              <a:t>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01209" y="4741819"/>
            <a:ext cx="150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AF4F"/>
                </a:solidFill>
                <a:latin typeface="Calibri"/>
                <a:cs typeface="Calibri"/>
              </a:rPr>
              <a:t>Rx</a:t>
            </a:r>
            <a:r>
              <a:rPr sz="1800" spc="-45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Calibri"/>
                <a:cs typeface="Calibri"/>
              </a:rPr>
              <a:t>antenna</a:t>
            </a:r>
            <a:r>
              <a:rPr sz="1800" spc="-25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Calibri"/>
                <a:cs typeface="Calibri"/>
              </a:rPr>
              <a:t>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621726" y="4972618"/>
            <a:ext cx="85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path</a:t>
            </a:r>
            <a:r>
              <a:rPr sz="1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919217"/>
            <a:ext cx="50095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50" dirty="0"/>
              <a:t>Attenuation</a:t>
            </a:r>
            <a:r>
              <a:rPr sz="4000" u="none" spc="-145" dirty="0"/>
              <a:t> </a:t>
            </a:r>
            <a:r>
              <a:rPr sz="4000" u="none" spc="-45" dirty="0"/>
              <a:t>Example</a:t>
            </a:r>
            <a:r>
              <a:rPr sz="4000" u="none" spc="-120" dirty="0"/>
              <a:t> </a:t>
            </a:r>
            <a:r>
              <a:rPr sz="4000" u="none" spc="-5" dirty="0"/>
              <a:t>4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72267" y="1774398"/>
            <a:ext cx="7986395" cy="314579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14629" marR="30480" indent="-177165">
              <a:lnSpc>
                <a:spcPts val="2810"/>
              </a:lnSpc>
              <a:spcBef>
                <a:spcPts val="455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Sometimes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decibel is used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measure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power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milliwatts</a:t>
            </a:r>
            <a:endParaRPr sz="2600">
              <a:latin typeface="Calibri"/>
              <a:cs typeface="Calibri"/>
            </a:endParaRPr>
          </a:p>
          <a:p>
            <a:pPr marL="444500" lvl="1" indent="-183515">
              <a:lnSpc>
                <a:spcPct val="100000"/>
              </a:lnSpc>
              <a:spcBef>
                <a:spcPts val="40"/>
              </a:spcBef>
              <a:buClr>
                <a:srgbClr val="1CACE4"/>
              </a:buClr>
              <a:buChar char="◦"/>
              <a:tabLst>
                <a:tab pos="445134" algn="l"/>
                <a:tab pos="1682114" algn="l"/>
              </a:tabLst>
            </a:pP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referred	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dB</a:t>
            </a:r>
            <a:r>
              <a:rPr sz="2550" spc="7" baseline="-21241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endParaRPr sz="2550" baseline="-21241">
              <a:latin typeface="Calibri"/>
              <a:cs typeface="Calibri"/>
            </a:endParaRPr>
          </a:p>
          <a:p>
            <a:pPr marL="444500" lvl="1" indent="-183515">
              <a:lnSpc>
                <a:spcPct val="100000"/>
              </a:lnSpc>
              <a:spcBef>
                <a:spcPts val="290"/>
              </a:spcBef>
              <a:buClr>
                <a:srgbClr val="1CACE4"/>
              </a:buClr>
              <a:buChar char="◦"/>
              <a:tabLst>
                <a:tab pos="445134" algn="l"/>
              </a:tabLst>
            </a:pP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calculated</a:t>
            </a:r>
            <a:r>
              <a:rPr sz="26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as 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dB</a:t>
            </a:r>
            <a:r>
              <a:rPr sz="2550" spc="7" baseline="-21241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550" spc="292" baseline="-2124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10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log</a:t>
            </a:r>
            <a:r>
              <a:rPr sz="2550" baseline="-21241" dirty="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r>
              <a:rPr sz="2550" spc="315" baseline="-2124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2550" spc="7" baseline="-21241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endParaRPr sz="2550" baseline="-21241">
              <a:latin typeface="Calibri"/>
              <a:cs typeface="Calibri"/>
            </a:endParaRPr>
          </a:p>
          <a:p>
            <a:pPr marL="665480" lvl="2" indent="-183515">
              <a:lnSpc>
                <a:spcPct val="100000"/>
              </a:lnSpc>
              <a:spcBef>
                <a:spcPts val="285"/>
              </a:spcBef>
              <a:buClr>
                <a:srgbClr val="1CACE4"/>
              </a:buClr>
              <a:buChar char="◦"/>
              <a:tabLst>
                <a:tab pos="666115" algn="l"/>
              </a:tabLst>
            </a:pP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where</a:t>
            </a:r>
            <a:r>
              <a:rPr sz="26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2550" spc="15" baseline="-21241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550" spc="284" baseline="-2124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milliwatts</a:t>
            </a:r>
            <a:endParaRPr sz="2600">
              <a:latin typeface="Calibri"/>
              <a:cs typeface="Calibri"/>
            </a:endParaRPr>
          </a:p>
          <a:p>
            <a:pPr marL="287655" indent="-250190">
              <a:lnSpc>
                <a:spcPct val="100000"/>
              </a:lnSpc>
              <a:spcBef>
                <a:spcPts val="1295"/>
              </a:spcBef>
              <a:buClr>
                <a:srgbClr val="1CACE4"/>
              </a:buClr>
              <a:buFont typeface="Arial MT"/>
              <a:buChar char="•"/>
              <a:tabLst>
                <a:tab pos="288290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Calculate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6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dB</a:t>
            </a:r>
            <a:r>
              <a:rPr sz="2550" spc="7" baseline="-21241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550" spc="277" baseline="-2124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−30</a:t>
            </a:r>
            <a:endParaRPr sz="2600">
              <a:latin typeface="Calibri"/>
              <a:cs typeface="Calibri"/>
            </a:endParaRPr>
          </a:p>
          <a:p>
            <a:pPr marL="214629" indent="-177165">
              <a:lnSpc>
                <a:spcPct val="100000"/>
              </a:lnSpc>
              <a:spcBef>
                <a:spcPts val="1080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600" spc="-50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calculate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power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924811" y="5201920"/>
            <a:ext cx="5059680" cy="984250"/>
            <a:chOff x="1924811" y="5201920"/>
            <a:chExt cx="5059680" cy="9842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00" y="5257799"/>
              <a:ext cx="4945379" cy="8702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924799" y="5201919"/>
              <a:ext cx="5059680" cy="984250"/>
            </a:xfrm>
            <a:custGeom>
              <a:avLst/>
              <a:gdLst/>
              <a:ahLst/>
              <a:cxnLst/>
              <a:rect l="l" t="t" r="r" b="b"/>
              <a:pathLst>
                <a:path w="5059680" h="984250">
                  <a:moveTo>
                    <a:pt x="5013960" y="45720"/>
                  </a:moveTo>
                  <a:lnTo>
                    <a:pt x="5001768" y="45720"/>
                  </a:lnTo>
                  <a:lnTo>
                    <a:pt x="5001768" y="55880"/>
                  </a:lnTo>
                  <a:lnTo>
                    <a:pt x="5001768" y="925830"/>
                  </a:lnTo>
                  <a:lnTo>
                    <a:pt x="56388" y="925830"/>
                  </a:lnTo>
                  <a:lnTo>
                    <a:pt x="56388" y="55880"/>
                  </a:lnTo>
                  <a:lnTo>
                    <a:pt x="5001768" y="55880"/>
                  </a:lnTo>
                  <a:lnTo>
                    <a:pt x="5001768" y="45720"/>
                  </a:lnTo>
                  <a:lnTo>
                    <a:pt x="45720" y="45720"/>
                  </a:lnTo>
                  <a:lnTo>
                    <a:pt x="45720" y="55880"/>
                  </a:lnTo>
                  <a:lnTo>
                    <a:pt x="45720" y="925830"/>
                  </a:lnTo>
                  <a:lnTo>
                    <a:pt x="45720" y="938530"/>
                  </a:lnTo>
                  <a:lnTo>
                    <a:pt x="5013960" y="938530"/>
                  </a:lnTo>
                  <a:lnTo>
                    <a:pt x="5013960" y="926084"/>
                  </a:lnTo>
                  <a:lnTo>
                    <a:pt x="5013960" y="925830"/>
                  </a:lnTo>
                  <a:lnTo>
                    <a:pt x="5013960" y="55880"/>
                  </a:lnTo>
                  <a:lnTo>
                    <a:pt x="5013960" y="45720"/>
                  </a:lnTo>
                  <a:close/>
                </a:path>
                <a:path w="5059680" h="984250">
                  <a:moveTo>
                    <a:pt x="5059680" y="0"/>
                  </a:moveTo>
                  <a:lnTo>
                    <a:pt x="5024628" y="0"/>
                  </a:lnTo>
                  <a:lnTo>
                    <a:pt x="5024628" y="33020"/>
                  </a:lnTo>
                  <a:lnTo>
                    <a:pt x="5024628" y="948690"/>
                  </a:lnTo>
                  <a:lnTo>
                    <a:pt x="33528" y="948690"/>
                  </a:lnTo>
                  <a:lnTo>
                    <a:pt x="33528" y="33020"/>
                  </a:lnTo>
                  <a:lnTo>
                    <a:pt x="5024628" y="33020"/>
                  </a:lnTo>
                  <a:lnTo>
                    <a:pt x="5024628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948690"/>
                  </a:lnTo>
                  <a:lnTo>
                    <a:pt x="0" y="984250"/>
                  </a:lnTo>
                  <a:lnTo>
                    <a:pt x="5059680" y="984250"/>
                  </a:lnTo>
                  <a:lnTo>
                    <a:pt x="5059680" y="948944"/>
                  </a:lnTo>
                  <a:lnTo>
                    <a:pt x="5059680" y="948690"/>
                  </a:lnTo>
                  <a:lnTo>
                    <a:pt x="5059680" y="33020"/>
                  </a:lnTo>
                  <a:lnTo>
                    <a:pt x="505968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50" dirty="0"/>
              <a:t>Attenuation</a:t>
            </a:r>
            <a:r>
              <a:rPr spc="-145" dirty="0"/>
              <a:t> </a:t>
            </a:r>
            <a:r>
              <a:rPr spc="-45" dirty="0"/>
              <a:t>Example</a:t>
            </a:r>
            <a:r>
              <a:rPr spc="-125" dirty="0"/>
              <a:t> </a:t>
            </a:r>
            <a:r>
              <a:rPr spc="-5" dirty="0"/>
              <a:t>5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769826"/>
            <a:ext cx="8749030" cy="31127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 algn="just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loss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cable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usually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defined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in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decibels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per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kilometer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(dB/km)</a:t>
            </a:r>
            <a:endParaRPr sz="2800">
              <a:latin typeface="Calibri"/>
              <a:cs typeface="Calibri"/>
            </a:endParaRPr>
          </a:p>
          <a:p>
            <a:pPr marL="189230" marR="5080" indent="-177165" algn="just">
              <a:lnSpc>
                <a:spcPts val="3020"/>
              </a:lnSpc>
              <a:spcBef>
                <a:spcPts val="141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800" spc="3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3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3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800" spc="3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3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beginning</a:t>
            </a:r>
            <a:r>
              <a:rPr sz="2800" spc="3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3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3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cable</a:t>
            </a:r>
            <a:r>
              <a:rPr sz="2800" spc="3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3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−0.3</a:t>
            </a:r>
            <a:r>
              <a:rPr sz="2800" spc="3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dB/km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has a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power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2 </a:t>
            </a:r>
            <a:r>
              <a:rPr sz="2800" spc="-110" dirty="0">
                <a:solidFill>
                  <a:srgbClr val="3F3F3F"/>
                </a:solidFill>
                <a:latin typeface="Calibri"/>
                <a:cs typeface="Calibri"/>
              </a:rPr>
              <a:t>mW,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what is the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power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at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5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km?</a:t>
            </a:r>
            <a:endParaRPr sz="2800">
              <a:latin typeface="Calibri"/>
              <a:cs typeface="Calibri"/>
            </a:endParaRPr>
          </a:p>
          <a:p>
            <a:pPr marL="189230" indent="-177165" algn="just">
              <a:lnSpc>
                <a:spcPts val="3250"/>
              </a:lnSpc>
              <a:spcBef>
                <a:spcPts val="91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Solution:</a:t>
            </a:r>
            <a:r>
              <a:rPr sz="2800" spc="4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4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loss</a:t>
            </a:r>
            <a:r>
              <a:rPr sz="2800" spc="4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4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4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cable</a:t>
            </a:r>
            <a:r>
              <a:rPr sz="2800" spc="4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4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decibels</a:t>
            </a:r>
            <a:r>
              <a:rPr sz="2800" spc="459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459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sz="2800" spc="4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615" dirty="0">
                <a:solidFill>
                  <a:srgbClr val="3F3F3F"/>
                </a:solidFill>
                <a:latin typeface="Microsoft Sans Serif"/>
                <a:cs typeface="Microsoft Sans Serif"/>
              </a:rPr>
              <a:t>×</a:t>
            </a:r>
            <a:r>
              <a:rPr sz="2800" spc="220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(−0.3)</a:t>
            </a:r>
            <a:r>
              <a:rPr sz="2800" spc="4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endParaRPr sz="2800">
              <a:latin typeface="Calibri"/>
              <a:cs typeface="Calibri"/>
            </a:endParaRPr>
          </a:p>
          <a:p>
            <a:pPr marL="189230" algn="just">
              <a:lnSpc>
                <a:spcPts val="3250"/>
              </a:lnSpc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−1.5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dB.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calculate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67811" y="5049520"/>
            <a:ext cx="3421379" cy="1673860"/>
            <a:chOff x="3067811" y="5049520"/>
            <a:chExt cx="3421379" cy="16738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0" y="5105400"/>
              <a:ext cx="3307079" cy="15621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67799" y="5049519"/>
              <a:ext cx="3421379" cy="1673860"/>
            </a:xfrm>
            <a:custGeom>
              <a:avLst/>
              <a:gdLst/>
              <a:ahLst/>
              <a:cxnLst/>
              <a:rect l="l" t="t" r="r" b="b"/>
              <a:pathLst>
                <a:path w="3421379" h="1673859">
                  <a:moveTo>
                    <a:pt x="3398520" y="22860"/>
                  </a:moveTo>
                  <a:lnTo>
                    <a:pt x="3363468" y="22860"/>
                  </a:lnTo>
                  <a:lnTo>
                    <a:pt x="3363468" y="55880"/>
                  </a:lnTo>
                  <a:lnTo>
                    <a:pt x="3363468" y="1617980"/>
                  </a:lnTo>
                  <a:lnTo>
                    <a:pt x="56388" y="1617980"/>
                  </a:lnTo>
                  <a:lnTo>
                    <a:pt x="56388" y="55880"/>
                  </a:lnTo>
                  <a:lnTo>
                    <a:pt x="3363468" y="55880"/>
                  </a:lnTo>
                  <a:lnTo>
                    <a:pt x="3363468" y="22860"/>
                  </a:lnTo>
                  <a:lnTo>
                    <a:pt x="22860" y="22860"/>
                  </a:lnTo>
                  <a:lnTo>
                    <a:pt x="22860" y="55880"/>
                  </a:lnTo>
                  <a:lnTo>
                    <a:pt x="22860" y="1617980"/>
                  </a:lnTo>
                  <a:lnTo>
                    <a:pt x="22860" y="1651000"/>
                  </a:lnTo>
                  <a:lnTo>
                    <a:pt x="3398520" y="1651000"/>
                  </a:lnTo>
                  <a:lnTo>
                    <a:pt x="3398520" y="1617980"/>
                  </a:lnTo>
                  <a:lnTo>
                    <a:pt x="3398520" y="55880"/>
                  </a:lnTo>
                  <a:lnTo>
                    <a:pt x="3398520" y="22860"/>
                  </a:lnTo>
                  <a:close/>
                </a:path>
                <a:path w="3421379" h="1673859">
                  <a:moveTo>
                    <a:pt x="3421380" y="0"/>
                  </a:moveTo>
                  <a:lnTo>
                    <a:pt x="3409188" y="0"/>
                  </a:lnTo>
                  <a:lnTo>
                    <a:pt x="3409188" y="10160"/>
                  </a:lnTo>
                  <a:lnTo>
                    <a:pt x="3409188" y="1663700"/>
                  </a:lnTo>
                  <a:lnTo>
                    <a:pt x="10668" y="1663700"/>
                  </a:lnTo>
                  <a:lnTo>
                    <a:pt x="10668" y="10160"/>
                  </a:lnTo>
                  <a:lnTo>
                    <a:pt x="3409188" y="10160"/>
                  </a:lnTo>
                  <a:lnTo>
                    <a:pt x="3409188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663700"/>
                  </a:lnTo>
                  <a:lnTo>
                    <a:pt x="0" y="1673860"/>
                  </a:lnTo>
                  <a:lnTo>
                    <a:pt x="3421380" y="1673860"/>
                  </a:lnTo>
                  <a:lnTo>
                    <a:pt x="3421380" y="1663700"/>
                  </a:lnTo>
                  <a:lnTo>
                    <a:pt x="3421380" y="10160"/>
                  </a:lnTo>
                  <a:lnTo>
                    <a:pt x="342138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Distortion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747810"/>
            <a:ext cx="8595995" cy="27781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27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Distortion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means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its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form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or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shape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4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occur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composite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made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frequencies.</a:t>
            </a:r>
            <a:endParaRPr sz="2400">
              <a:latin typeface="Calibri"/>
              <a:cs typeface="Calibri"/>
            </a:endParaRPr>
          </a:p>
          <a:p>
            <a:pPr marL="189230" marR="598170" indent="-177165">
              <a:lnSpc>
                <a:spcPts val="3020"/>
              </a:lnSpc>
              <a:spcBef>
                <a:spcPts val="1614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Each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component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has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its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own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propagation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speed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through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medium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0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its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own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delay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arriving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final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destination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12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Propagation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velocity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varies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with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Distortion</a:t>
            </a:r>
            <a:r>
              <a:rPr b="1" spc="-17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…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40871"/>
            <a:ext cx="8331834" cy="103505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89230" marR="581025" indent="-177165">
              <a:lnSpc>
                <a:spcPct val="70000"/>
              </a:lnSpc>
              <a:spcBef>
                <a:spcPts val="8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delay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not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exactly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same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period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duration,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may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create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000" spc="-43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difference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phase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ts val="183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 components</a:t>
            </a:r>
            <a:r>
              <a:rPr sz="17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17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 receiver</a:t>
            </a:r>
            <a:r>
              <a:rPr sz="17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17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phases</a:t>
            </a:r>
            <a:r>
              <a:rPr sz="17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different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17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they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had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17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sender</a:t>
            </a:r>
            <a:endParaRPr sz="1700">
              <a:latin typeface="Calibri"/>
              <a:cs typeface="Calibri"/>
            </a:endParaRPr>
          </a:p>
          <a:p>
            <a:pPr marL="419100" lvl="1" indent="-183515">
              <a:lnSpc>
                <a:spcPts val="203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shape</a:t>
            </a:r>
            <a:r>
              <a:rPr sz="17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composite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17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therefore</a:t>
            </a:r>
            <a:r>
              <a:rPr sz="17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same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2866644"/>
            <a:ext cx="4724400" cy="37627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0" dirty="0">
                <a:latin typeface="Arial"/>
                <a:cs typeface="Arial"/>
              </a:rPr>
              <a:t>Noise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40871"/>
            <a:ext cx="8114665" cy="564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 indent="-177165">
              <a:lnSpc>
                <a:spcPts val="2300"/>
              </a:lnSpc>
              <a:spcBef>
                <a:spcPts val="1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Noise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Wingdings"/>
                <a:cs typeface="Wingdings"/>
              </a:rPr>
              <a:t></a:t>
            </a:r>
            <a:r>
              <a:rPr sz="1700" spc="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Undesirable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added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transmitter</a:t>
            </a:r>
            <a:r>
              <a:rPr sz="20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receiver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ts val="1939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may</a:t>
            </a:r>
            <a:r>
              <a:rPr sz="17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corrupt</a:t>
            </a:r>
            <a:r>
              <a:rPr sz="17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36007" y="2045207"/>
            <a:ext cx="3602990" cy="1231900"/>
            <a:chOff x="4636007" y="2045207"/>
            <a:chExt cx="3602990" cy="1231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199" y="2057399"/>
              <a:ext cx="3576827" cy="12054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6007" y="2045207"/>
              <a:ext cx="3602735" cy="12313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36007" y="2045207"/>
              <a:ext cx="3602990" cy="1231900"/>
            </a:xfrm>
            <a:custGeom>
              <a:avLst/>
              <a:gdLst/>
              <a:ahLst/>
              <a:cxnLst/>
              <a:rect l="l" t="t" r="r" b="b"/>
              <a:pathLst>
                <a:path w="3602990" h="1231900">
                  <a:moveTo>
                    <a:pt x="3602735" y="0"/>
                  </a:moveTo>
                  <a:lnTo>
                    <a:pt x="0" y="0"/>
                  </a:lnTo>
                  <a:lnTo>
                    <a:pt x="0" y="1231391"/>
                  </a:lnTo>
                  <a:lnTo>
                    <a:pt x="3602735" y="1231391"/>
                  </a:lnTo>
                  <a:lnTo>
                    <a:pt x="3602735" y="1225295"/>
                  </a:lnTo>
                  <a:lnTo>
                    <a:pt x="12192" y="1225295"/>
                  </a:lnTo>
                  <a:lnTo>
                    <a:pt x="6096" y="1217675"/>
                  </a:lnTo>
                  <a:lnTo>
                    <a:pt x="12192" y="1217675"/>
                  </a:lnTo>
                  <a:lnTo>
                    <a:pt x="12192" y="12192"/>
                  </a:lnTo>
                  <a:lnTo>
                    <a:pt x="6096" y="12192"/>
                  </a:lnTo>
                  <a:lnTo>
                    <a:pt x="12192" y="6096"/>
                  </a:lnTo>
                  <a:lnTo>
                    <a:pt x="3602735" y="6096"/>
                  </a:lnTo>
                  <a:lnTo>
                    <a:pt x="3602735" y="0"/>
                  </a:lnTo>
                  <a:close/>
                </a:path>
                <a:path w="3602990" h="1231900">
                  <a:moveTo>
                    <a:pt x="12192" y="1217675"/>
                  </a:moveTo>
                  <a:lnTo>
                    <a:pt x="6096" y="1217675"/>
                  </a:lnTo>
                  <a:lnTo>
                    <a:pt x="12192" y="1225295"/>
                  </a:lnTo>
                  <a:lnTo>
                    <a:pt x="12192" y="1217675"/>
                  </a:lnTo>
                  <a:close/>
                </a:path>
                <a:path w="3602990" h="1231900">
                  <a:moveTo>
                    <a:pt x="3589019" y="1217675"/>
                  </a:moveTo>
                  <a:lnTo>
                    <a:pt x="12192" y="1217675"/>
                  </a:lnTo>
                  <a:lnTo>
                    <a:pt x="12192" y="1225295"/>
                  </a:lnTo>
                  <a:lnTo>
                    <a:pt x="3589019" y="1225295"/>
                  </a:lnTo>
                  <a:lnTo>
                    <a:pt x="3589019" y="1217675"/>
                  </a:lnTo>
                  <a:close/>
                </a:path>
                <a:path w="3602990" h="1231900">
                  <a:moveTo>
                    <a:pt x="3589019" y="6096"/>
                  </a:moveTo>
                  <a:lnTo>
                    <a:pt x="3589019" y="1225295"/>
                  </a:lnTo>
                  <a:lnTo>
                    <a:pt x="3595115" y="1217675"/>
                  </a:lnTo>
                  <a:lnTo>
                    <a:pt x="3602735" y="1217675"/>
                  </a:lnTo>
                  <a:lnTo>
                    <a:pt x="3602735" y="12192"/>
                  </a:lnTo>
                  <a:lnTo>
                    <a:pt x="3595115" y="12192"/>
                  </a:lnTo>
                  <a:lnTo>
                    <a:pt x="3589019" y="6096"/>
                  </a:lnTo>
                  <a:close/>
                </a:path>
                <a:path w="3602990" h="1231900">
                  <a:moveTo>
                    <a:pt x="3602735" y="1217675"/>
                  </a:moveTo>
                  <a:lnTo>
                    <a:pt x="3595115" y="1217675"/>
                  </a:lnTo>
                  <a:lnTo>
                    <a:pt x="3589019" y="1225295"/>
                  </a:lnTo>
                  <a:lnTo>
                    <a:pt x="3602735" y="1225295"/>
                  </a:lnTo>
                  <a:lnTo>
                    <a:pt x="3602735" y="1217675"/>
                  </a:lnTo>
                  <a:close/>
                </a:path>
                <a:path w="3602990" h="1231900">
                  <a:moveTo>
                    <a:pt x="12192" y="6096"/>
                  </a:moveTo>
                  <a:lnTo>
                    <a:pt x="6096" y="12192"/>
                  </a:lnTo>
                  <a:lnTo>
                    <a:pt x="12192" y="12192"/>
                  </a:lnTo>
                  <a:lnTo>
                    <a:pt x="12192" y="6096"/>
                  </a:lnTo>
                  <a:close/>
                </a:path>
                <a:path w="3602990" h="1231900">
                  <a:moveTo>
                    <a:pt x="3589019" y="6096"/>
                  </a:moveTo>
                  <a:lnTo>
                    <a:pt x="12192" y="6096"/>
                  </a:lnTo>
                  <a:lnTo>
                    <a:pt x="12192" y="12192"/>
                  </a:lnTo>
                  <a:lnTo>
                    <a:pt x="3589019" y="12192"/>
                  </a:lnTo>
                  <a:lnTo>
                    <a:pt x="3589019" y="6096"/>
                  </a:lnTo>
                  <a:close/>
                </a:path>
                <a:path w="3602990" h="1231900">
                  <a:moveTo>
                    <a:pt x="3602735" y="6096"/>
                  </a:moveTo>
                  <a:lnTo>
                    <a:pt x="3589019" y="6096"/>
                  </a:lnTo>
                  <a:lnTo>
                    <a:pt x="3595115" y="12192"/>
                  </a:lnTo>
                  <a:lnTo>
                    <a:pt x="3602735" y="12192"/>
                  </a:lnTo>
                  <a:lnTo>
                    <a:pt x="3602735" y="6096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3504" y="3346703"/>
            <a:ext cx="8853170" cy="541020"/>
            <a:chOff x="603504" y="3346703"/>
            <a:chExt cx="8853170" cy="541020"/>
          </a:xfrm>
        </p:grpSpPr>
        <p:sp>
          <p:nvSpPr>
            <p:cNvPr id="9" name="object 9"/>
            <p:cNvSpPr/>
            <p:nvPr/>
          </p:nvSpPr>
          <p:spPr>
            <a:xfrm>
              <a:off x="609587" y="3352799"/>
              <a:ext cx="8837930" cy="329565"/>
            </a:xfrm>
            <a:custGeom>
              <a:avLst/>
              <a:gdLst/>
              <a:ahLst/>
              <a:cxnLst/>
              <a:rect l="l" t="t" r="r" b="b"/>
              <a:pathLst>
                <a:path w="8837930" h="329564">
                  <a:moveTo>
                    <a:pt x="1446276" y="0"/>
                  </a:moveTo>
                  <a:lnTo>
                    <a:pt x="0" y="0"/>
                  </a:lnTo>
                  <a:lnTo>
                    <a:pt x="0" y="329184"/>
                  </a:lnTo>
                  <a:lnTo>
                    <a:pt x="1446276" y="329184"/>
                  </a:lnTo>
                  <a:lnTo>
                    <a:pt x="1446276" y="0"/>
                  </a:lnTo>
                  <a:close/>
                </a:path>
                <a:path w="8837930" h="329564">
                  <a:moveTo>
                    <a:pt x="8837676" y="0"/>
                  </a:moveTo>
                  <a:lnTo>
                    <a:pt x="1447800" y="0"/>
                  </a:lnTo>
                  <a:lnTo>
                    <a:pt x="1447800" y="329184"/>
                  </a:lnTo>
                  <a:lnTo>
                    <a:pt x="8837676" y="329184"/>
                  </a:lnTo>
                  <a:lnTo>
                    <a:pt x="8837676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587" y="3720083"/>
              <a:ext cx="8837930" cy="167640"/>
            </a:xfrm>
            <a:custGeom>
              <a:avLst/>
              <a:gdLst/>
              <a:ahLst/>
              <a:cxnLst/>
              <a:rect l="l" t="t" r="r" b="b"/>
              <a:pathLst>
                <a:path w="8837930" h="167639">
                  <a:moveTo>
                    <a:pt x="1446276" y="0"/>
                  </a:moveTo>
                  <a:lnTo>
                    <a:pt x="0" y="0"/>
                  </a:lnTo>
                  <a:lnTo>
                    <a:pt x="0" y="167640"/>
                  </a:lnTo>
                  <a:lnTo>
                    <a:pt x="1446276" y="167640"/>
                  </a:lnTo>
                  <a:lnTo>
                    <a:pt x="1446276" y="0"/>
                  </a:lnTo>
                  <a:close/>
                </a:path>
                <a:path w="8837930" h="167639">
                  <a:moveTo>
                    <a:pt x="8837676" y="0"/>
                  </a:moveTo>
                  <a:lnTo>
                    <a:pt x="1447800" y="0"/>
                  </a:lnTo>
                  <a:lnTo>
                    <a:pt x="1447800" y="167640"/>
                  </a:lnTo>
                  <a:lnTo>
                    <a:pt x="8837676" y="167640"/>
                  </a:lnTo>
                  <a:lnTo>
                    <a:pt x="8837676" y="0"/>
                  </a:lnTo>
                  <a:close/>
                </a:path>
              </a:pathLst>
            </a:custGeom>
            <a:solidFill>
              <a:srgbClr val="CCE2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3491" y="3346703"/>
              <a:ext cx="8853170" cy="541020"/>
            </a:xfrm>
            <a:custGeom>
              <a:avLst/>
              <a:gdLst/>
              <a:ahLst/>
              <a:cxnLst/>
              <a:rect l="l" t="t" r="r" b="b"/>
              <a:pathLst>
                <a:path w="8853170" h="541020">
                  <a:moveTo>
                    <a:pt x="8852916" y="0"/>
                  </a:moveTo>
                  <a:lnTo>
                    <a:pt x="8839200" y="0"/>
                  </a:lnTo>
                  <a:lnTo>
                    <a:pt x="8839200" y="13716"/>
                  </a:lnTo>
                  <a:lnTo>
                    <a:pt x="8839200" y="335280"/>
                  </a:lnTo>
                  <a:lnTo>
                    <a:pt x="1461516" y="335280"/>
                  </a:lnTo>
                  <a:lnTo>
                    <a:pt x="1461516" y="13716"/>
                  </a:lnTo>
                  <a:lnTo>
                    <a:pt x="8839200" y="13716"/>
                  </a:lnTo>
                  <a:lnTo>
                    <a:pt x="8839200" y="0"/>
                  </a:lnTo>
                  <a:lnTo>
                    <a:pt x="1461516" y="0"/>
                  </a:lnTo>
                  <a:lnTo>
                    <a:pt x="1447800" y="0"/>
                  </a:lnTo>
                  <a:lnTo>
                    <a:pt x="1447800" y="13716"/>
                  </a:lnTo>
                  <a:lnTo>
                    <a:pt x="1447800" y="335280"/>
                  </a:lnTo>
                  <a:lnTo>
                    <a:pt x="13716" y="335280"/>
                  </a:lnTo>
                  <a:lnTo>
                    <a:pt x="13716" y="13716"/>
                  </a:lnTo>
                  <a:lnTo>
                    <a:pt x="1447800" y="13716"/>
                  </a:lnTo>
                  <a:lnTo>
                    <a:pt x="1447800" y="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13716"/>
                  </a:lnTo>
                  <a:lnTo>
                    <a:pt x="0" y="335280"/>
                  </a:lnTo>
                  <a:lnTo>
                    <a:pt x="0" y="373380"/>
                  </a:lnTo>
                  <a:lnTo>
                    <a:pt x="0" y="541020"/>
                  </a:lnTo>
                  <a:lnTo>
                    <a:pt x="13716" y="541020"/>
                  </a:lnTo>
                  <a:lnTo>
                    <a:pt x="13716" y="373380"/>
                  </a:lnTo>
                  <a:lnTo>
                    <a:pt x="1447800" y="373380"/>
                  </a:lnTo>
                  <a:lnTo>
                    <a:pt x="1447800" y="541020"/>
                  </a:lnTo>
                  <a:lnTo>
                    <a:pt x="1461516" y="541020"/>
                  </a:lnTo>
                  <a:lnTo>
                    <a:pt x="1461516" y="373380"/>
                  </a:lnTo>
                  <a:lnTo>
                    <a:pt x="8839200" y="373380"/>
                  </a:lnTo>
                  <a:lnTo>
                    <a:pt x="8839200" y="541020"/>
                  </a:lnTo>
                  <a:lnTo>
                    <a:pt x="8852916" y="541020"/>
                  </a:lnTo>
                  <a:lnTo>
                    <a:pt x="8852916" y="373380"/>
                  </a:lnTo>
                  <a:lnTo>
                    <a:pt x="8852916" y="335280"/>
                  </a:lnTo>
                  <a:lnTo>
                    <a:pt x="8852916" y="13716"/>
                  </a:lnTo>
                  <a:lnTo>
                    <a:pt x="8852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8339" y="3373628"/>
            <a:ext cx="1223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noise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6139" y="3373628"/>
            <a:ext cx="988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8339" y="3720688"/>
            <a:ext cx="11614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thermal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91003" y="3696305"/>
            <a:ext cx="32619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1600" spc="-15" dirty="0">
                <a:latin typeface="Calibri"/>
                <a:cs typeface="Calibri"/>
              </a:rPr>
              <a:t>random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motion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electrons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wire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17" name="object 17"/>
            <p:cNvSpPr/>
            <p:nvPr/>
          </p:nvSpPr>
          <p:spPr>
            <a:xfrm>
              <a:off x="457187" y="3886199"/>
              <a:ext cx="9142730" cy="2971800"/>
            </a:xfrm>
            <a:custGeom>
              <a:avLst/>
              <a:gdLst/>
              <a:ahLst/>
              <a:cxnLst/>
              <a:rect l="l" t="t" r="r" b="b"/>
              <a:pathLst>
                <a:path w="9142730" h="2971800">
                  <a:moveTo>
                    <a:pt x="9142476" y="2970276"/>
                  </a:moveTo>
                  <a:lnTo>
                    <a:pt x="0" y="2970276"/>
                  </a:lnTo>
                  <a:lnTo>
                    <a:pt x="0" y="2971800"/>
                  </a:lnTo>
                  <a:lnTo>
                    <a:pt x="9142476" y="2971800"/>
                  </a:lnTo>
                  <a:lnTo>
                    <a:pt x="9142476" y="2970276"/>
                  </a:lnTo>
                  <a:close/>
                </a:path>
                <a:path w="9142730" h="2971800">
                  <a:moveTo>
                    <a:pt x="9142476" y="0"/>
                  </a:moveTo>
                  <a:lnTo>
                    <a:pt x="0" y="0"/>
                  </a:lnTo>
                  <a:lnTo>
                    <a:pt x="0" y="2906268"/>
                  </a:lnTo>
                  <a:lnTo>
                    <a:pt x="9142476" y="2906268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587" y="3886199"/>
              <a:ext cx="8837930" cy="408940"/>
            </a:xfrm>
            <a:custGeom>
              <a:avLst/>
              <a:gdLst/>
              <a:ahLst/>
              <a:cxnLst/>
              <a:rect l="l" t="t" r="r" b="b"/>
              <a:pathLst>
                <a:path w="8837930" h="408939">
                  <a:moveTo>
                    <a:pt x="1446276" y="0"/>
                  </a:moveTo>
                  <a:lnTo>
                    <a:pt x="0" y="0"/>
                  </a:lnTo>
                  <a:lnTo>
                    <a:pt x="0" y="408432"/>
                  </a:lnTo>
                  <a:lnTo>
                    <a:pt x="1446276" y="408432"/>
                  </a:lnTo>
                  <a:lnTo>
                    <a:pt x="1446276" y="0"/>
                  </a:lnTo>
                  <a:close/>
                </a:path>
                <a:path w="8837930" h="408939">
                  <a:moveTo>
                    <a:pt x="8837676" y="0"/>
                  </a:moveTo>
                  <a:lnTo>
                    <a:pt x="1447800" y="0"/>
                  </a:lnTo>
                  <a:lnTo>
                    <a:pt x="1447800" y="408432"/>
                  </a:lnTo>
                  <a:lnTo>
                    <a:pt x="8837676" y="408432"/>
                  </a:lnTo>
                  <a:lnTo>
                    <a:pt x="8837676" y="0"/>
                  </a:lnTo>
                  <a:close/>
                </a:path>
              </a:pathLst>
            </a:custGeom>
            <a:solidFill>
              <a:srgbClr val="CCE2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587" y="4296155"/>
              <a:ext cx="8837930" cy="896619"/>
            </a:xfrm>
            <a:custGeom>
              <a:avLst/>
              <a:gdLst/>
              <a:ahLst/>
              <a:cxnLst/>
              <a:rect l="l" t="t" r="r" b="b"/>
              <a:pathLst>
                <a:path w="8837930" h="896620">
                  <a:moveTo>
                    <a:pt x="1446276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1446276" y="896112"/>
                  </a:lnTo>
                  <a:lnTo>
                    <a:pt x="1446276" y="0"/>
                  </a:lnTo>
                  <a:close/>
                </a:path>
                <a:path w="8837930" h="896620">
                  <a:moveTo>
                    <a:pt x="8837676" y="0"/>
                  </a:moveTo>
                  <a:lnTo>
                    <a:pt x="1447800" y="0"/>
                  </a:lnTo>
                  <a:lnTo>
                    <a:pt x="1447800" y="896112"/>
                  </a:lnTo>
                  <a:lnTo>
                    <a:pt x="8837676" y="896112"/>
                  </a:lnTo>
                  <a:lnTo>
                    <a:pt x="8837676" y="0"/>
                  </a:lnTo>
                  <a:close/>
                </a:path>
              </a:pathLst>
            </a:custGeom>
            <a:solidFill>
              <a:srgbClr val="E6F0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9587" y="5193791"/>
              <a:ext cx="8837930" cy="896619"/>
            </a:xfrm>
            <a:custGeom>
              <a:avLst/>
              <a:gdLst/>
              <a:ahLst/>
              <a:cxnLst/>
              <a:rect l="l" t="t" r="r" b="b"/>
              <a:pathLst>
                <a:path w="8837930" h="896620">
                  <a:moveTo>
                    <a:pt x="1446276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1446276" y="896112"/>
                  </a:lnTo>
                  <a:lnTo>
                    <a:pt x="1446276" y="0"/>
                  </a:lnTo>
                  <a:close/>
                </a:path>
                <a:path w="8837930" h="896620">
                  <a:moveTo>
                    <a:pt x="8837676" y="0"/>
                  </a:moveTo>
                  <a:lnTo>
                    <a:pt x="1447800" y="0"/>
                  </a:lnTo>
                  <a:lnTo>
                    <a:pt x="1447800" y="896112"/>
                  </a:lnTo>
                  <a:lnTo>
                    <a:pt x="8837676" y="896112"/>
                  </a:lnTo>
                  <a:lnTo>
                    <a:pt x="8837676" y="0"/>
                  </a:lnTo>
                  <a:close/>
                </a:path>
              </a:pathLst>
            </a:custGeom>
            <a:solidFill>
              <a:srgbClr val="CCE2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9587" y="6091427"/>
              <a:ext cx="8837930" cy="597535"/>
            </a:xfrm>
            <a:custGeom>
              <a:avLst/>
              <a:gdLst/>
              <a:ahLst/>
              <a:cxnLst/>
              <a:rect l="l" t="t" r="r" b="b"/>
              <a:pathLst>
                <a:path w="8837930" h="597534">
                  <a:moveTo>
                    <a:pt x="1446276" y="0"/>
                  </a:moveTo>
                  <a:lnTo>
                    <a:pt x="0" y="0"/>
                  </a:lnTo>
                  <a:lnTo>
                    <a:pt x="0" y="597408"/>
                  </a:lnTo>
                  <a:lnTo>
                    <a:pt x="1446276" y="597408"/>
                  </a:lnTo>
                  <a:lnTo>
                    <a:pt x="1446276" y="0"/>
                  </a:lnTo>
                  <a:close/>
                </a:path>
                <a:path w="8837930" h="597534">
                  <a:moveTo>
                    <a:pt x="8837676" y="0"/>
                  </a:moveTo>
                  <a:lnTo>
                    <a:pt x="1447800" y="0"/>
                  </a:lnTo>
                  <a:lnTo>
                    <a:pt x="1447800" y="597408"/>
                  </a:lnTo>
                  <a:lnTo>
                    <a:pt x="8837676" y="597408"/>
                  </a:lnTo>
                  <a:lnTo>
                    <a:pt x="8837676" y="0"/>
                  </a:lnTo>
                  <a:close/>
                </a:path>
              </a:pathLst>
            </a:custGeom>
            <a:solidFill>
              <a:srgbClr val="E6F0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3491" y="3886199"/>
              <a:ext cx="8853170" cy="2810510"/>
            </a:xfrm>
            <a:custGeom>
              <a:avLst/>
              <a:gdLst/>
              <a:ahLst/>
              <a:cxnLst/>
              <a:rect l="l" t="t" r="r" b="b"/>
              <a:pathLst>
                <a:path w="8853170" h="2810509">
                  <a:moveTo>
                    <a:pt x="8852916" y="0"/>
                  </a:moveTo>
                  <a:lnTo>
                    <a:pt x="8839200" y="0"/>
                  </a:lnTo>
                  <a:lnTo>
                    <a:pt x="8839200" y="403860"/>
                  </a:lnTo>
                  <a:lnTo>
                    <a:pt x="8839200" y="416052"/>
                  </a:lnTo>
                  <a:lnTo>
                    <a:pt x="8839200" y="2798064"/>
                  </a:lnTo>
                  <a:lnTo>
                    <a:pt x="1461516" y="2798064"/>
                  </a:lnTo>
                  <a:lnTo>
                    <a:pt x="1461516" y="2211324"/>
                  </a:lnTo>
                  <a:lnTo>
                    <a:pt x="8839200" y="2211324"/>
                  </a:lnTo>
                  <a:lnTo>
                    <a:pt x="8839200" y="2199132"/>
                  </a:lnTo>
                  <a:lnTo>
                    <a:pt x="1461516" y="2199132"/>
                  </a:lnTo>
                  <a:lnTo>
                    <a:pt x="1461516" y="1313688"/>
                  </a:lnTo>
                  <a:lnTo>
                    <a:pt x="8839200" y="1313688"/>
                  </a:lnTo>
                  <a:lnTo>
                    <a:pt x="8839200" y="1301496"/>
                  </a:lnTo>
                  <a:lnTo>
                    <a:pt x="1461516" y="1301496"/>
                  </a:lnTo>
                  <a:lnTo>
                    <a:pt x="1461516" y="416052"/>
                  </a:lnTo>
                  <a:lnTo>
                    <a:pt x="8839200" y="416052"/>
                  </a:lnTo>
                  <a:lnTo>
                    <a:pt x="8839200" y="403860"/>
                  </a:lnTo>
                  <a:lnTo>
                    <a:pt x="1461516" y="403860"/>
                  </a:lnTo>
                  <a:lnTo>
                    <a:pt x="1461516" y="0"/>
                  </a:lnTo>
                  <a:lnTo>
                    <a:pt x="1447800" y="0"/>
                  </a:lnTo>
                  <a:lnTo>
                    <a:pt x="1447800" y="2798064"/>
                  </a:lnTo>
                  <a:lnTo>
                    <a:pt x="13716" y="2798064"/>
                  </a:lnTo>
                  <a:lnTo>
                    <a:pt x="13716" y="2211324"/>
                  </a:lnTo>
                  <a:lnTo>
                    <a:pt x="1447800" y="2211324"/>
                  </a:lnTo>
                  <a:lnTo>
                    <a:pt x="1447800" y="2199132"/>
                  </a:lnTo>
                  <a:lnTo>
                    <a:pt x="13716" y="2199132"/>
                  </a:lnTo>
                  <a:lnTo>
                    <a:pt x="13716" y="1313688"/>
                  </a:lnTo>
                  <a:lnTo>
                    <a:pt x="1447800" y="1313688"/>
                  </a:lnTo>
                  <a:lnTo>
                    <a:pt x="1447800" y="1301496"/>
                  </a:lnTo>
                  <a:lnTo>
                    <a:pt x="13716" y="1301496"/>
                  </a:lnTo>
                  <a:lnTo>
                    <a:pt x="13716" y="416052"/>
                  </a:lnTo>
                  <a:lnTo>
                    <a:pt x="1447800" y="416052"/>
                  </a:lnTo>
                  <a:lnTo>
                    <a:pt x="1447800" y="403860"/>
                  </a:lnTo>
                  <a:lnTo>
                    <a:pt x="13716" y="40386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2810256"/>
                  </a:lnTo>
                  <a:lnTo>
                    <a:pt x="13716" y="2810256"/>
                  </a:lnTo>
                  <a:lnTo>
                    <a:pt x="1447800" y="2810256"/>
                  </a:lnTo>
                  <a:lnTo>
                    <a:pt x="1461516" y="2810256"/>
                  </a:lnTo>
                  <a:lnTo>
                    <a:pt x="8839200" y="2810256"/>
                  </a:lnTo>
                  <a:lnTo>
                    <a:pt x="8852916" y="2810256"/>
                  </a:lnTo>
                  <a:lnTo>
                    <a:pt x="8852916" y="2798064"/>
                  </a:lnTo>
                  <a:lnTo>
                    <a:pt x="8852916" y="403860"/>
                  </a:lnTo>
                  <a:lnTo>
                    <a:pt x="8852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15031" y="3966052"/>
            <a:ext cx="5099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95"/>
              </a:spcBef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1600" spc="-15" dirty="0">
                <a:latin typeface="Calibri"/>
                <a:cs typeface="Calibri"/>
              </a:rPr>
              <a:t>creates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extra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signal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originally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transmitter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8339" y="4315922"/>
            <a:ext cx="11671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induced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91003" y="4265021"/>
            <a:ext cx="4657090" cy="8610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3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1600" spc="-10" dirty="0">
                <a:latin typeface="Calibri"/>
                <a:cs typeface="Calibri"/>
              </a:rPr>
              <a:t>comes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from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sources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such</a:t>
            </a:r>
            <a:r>
              <a:rPr sz="1600" spc="-5" dirty="0">
                <a:latin typeface="Calibri"/>
                <a:cs typeface="Calibri"/>
              </a:rPr>
              <a:t> as </a:t>
            </a:r>
            <a:r>
              <a:rPr sz="1600" spc="-15" dirty="0">
                <a:latin typeface="Calibri"/>
                <a:cs typeface="Calibri"/>
              </a:rPr>
              <a:t>motors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appliances</a:t>
            </a:r>
            <a:endParaRPr sz="16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20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600" spc="-10" dirty="0">
                <a:latin typeface="Calibri"/>
                <a:cs typeface="Calibri"/>
              </a:rPr>
              <a:t>Devices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sending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antenna</a:t>
            </a:r>
            <a:endParaRPr sz="16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409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600" spc="-20" dirty="0">
                <a:latin typeface="Calibri"/>
                <a:cs typeface="Calibri"/>
              </a:rPr>
              <a:t>Transmission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medium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acts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receiving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antenna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8339" y="5213527"/>
            <a:ext cx="7442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crosstalk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91003" y="5162625"/>
            <a:ext cx="3379470" cy="8610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3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1600" spc="-15" dirty="0">
                <a:latin typeface="Calibri"/>
                <a:cs typeface="Calibri"/>
              </a:rPr>
              <a:t>effect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one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wire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other</a:t>
            </a:r>
            <a:endParaRPr sz="16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20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600" spc="-10" dirty="0">
                <a:latin typeface="Calibri"/>
                <a:cs typeface="Calibri"/>
              </a:rPr>
              <a:t>One </a:t>
            </a:r>
            <a:r>
              <a:rPr sz="1600" spc="-15" dirty="0">
                <a:latin typeface="Calibri"/>
                <a:cs typeface="Calibri"/>
              </a:rPr>
              <a:t>wire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acts as a </a:t>
            </a:r>
            <a:r>
              <a:rPr sz="1600" spc="-10" dirty="0">
                <a:latin typeface="Calibri"/>
                <a:cs typeface="Calibri"/>
              </a:rPr>
              <a:t>sending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antenna</a:t>
            </a:r>
            <a:endParaRPr sz="16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409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1600" spc="-5" dirty="0">
                <a:latin typeface="Calibri"/>
                <a:cs typeface="Calibri"/>
              </a:rPr>
              <a:t>Other </a:t>
            </a:r>
            <a:r>
              <a:rPr sz="1600" spc="-15" dirty="0">
                <a:latin typeface="Calibri"/>
                <a:cs typeface="Calibri"/>
              </a:rPr>
              <a:t>wire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receiving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antenna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8339" y="6111132"/>
            <a:ext cx="11569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impulse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36139" y="6111132"/>
            <a:ext cx="68973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spike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signal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with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high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energy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 very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short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time)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 comes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from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power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lines,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lightning,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779007" y="5257800"/>
            <a:ext cx="3644265" cy="1358265"/>
            <a:chOff x="5779007" y="5257800"/>
            <a:chExt cx="3644265" cy="1358265"/>
          </a:xfrm>
        </p:grpSpPr>
        <p:sp>
          <p:nvSpPr>
            <p:cNvPr id="33" name="object 33"/>
            <p:cNvSpPr/>
            <p:nvPr/>
          </p:nvSpPr>
          <p:spPr>
            <a:xfrm>
              <a:off x="5780531" y="5672327"/>
              <a:ext cx="401320" cy="245745"/>
            </a:xfrm>
            <a:custGeom>
              <a:avLst/>
              <a:gdLst/>
              <a:ahLst/>
              <a:cxnLst/>
              <a:rect l="l" t="t" r="r" b="b"/>
              <a:pathLst>
                <a:path w="401320" h="245745">
                  <a:moveTo>
                    <a:pt x="186842" y="42671"/>
                  </a:moveTo>
                  <a:lnTo>
                    <a:pt x="147827" y="42671"/>
                  </a:lnTo>
                  <a:lnTo>
                    <a:pt x="145923" y="44576"/>
                  </a:lnTo>
                  <a:lnTo>
                    <a:pt x="149351" y="45719"/>
                  </a:lnTo>
                  <a:lnTo>
                    <a:pt x="155448" y="51815"/>
                  </a:lnTo>
                  <a:lnTo>
                    <a:pt x="160020" y="54863"/>
                  </a:lnTo>
                  <a:lnTo>
                    <a:pt x="173736" y="73151"/>
                  </a:lnTo>
                  <a:lnTo>
                    <a:pt x="185927" y="88391"/>
                  </a:lnTo>
                  <a:lnTo>
                    <a:pt x="196595" y="105156"/>
                  </a:lnTo>
                  <a:lnTo>
                    <a:pt x="245363" y="178307"/>
                  </a:lnTo>
                  <a:lnTo>
                    <a:pt x="257555" y="195071"/>
                  </a:lnTo>
                  <a:lnTo>
                    <a:pt x="269747" y="210312"/>
                  </a:lnTo>
                  <a:lnTo>
                    <a:pt x="274319" y="216408"/>
                  </a:lnTo>
                  <a:lnTo>
                    <a:pt x="291083" y="233171"/>
                  </a:lnTo>
                  <a:lnTo>
                    <a:pt x="303275" y="242315"/>
                  </a:lnTo>
                  <a:lnTo>
                    <a:pt x="304799" y="242315"/>
                  </a:lnTo>
                  <a:lnTo>
                    <a:pt x="309371" y="243839"/>
                  </a:lnTo>
                  <a:lnTo>
                    <a:pt x="310895" y="245363"/>
                  </a:lnTo>
                  <a:lnTo>
                    <a:pt x="324611" y="245363"/>
                  </a:lnTo>
                  <a:lnTo>
                    <a:pt x="329183" y="243839"/>
                  </a:lnTo>
                  <a:lnTo>
                    <a:pt x="332231" y="243839"/>
                  </a:lnTo>
                  <a:lnTo>
                    <a:pt x="338327" y="239267"/>
                  </a:lnTo>
                  <a:lnTo>
                    <a:pt x="341375" y="239267"/>
                  </a:lnTo>
                  <a:lnTo>
                    <a:pt x="341375" y="237744"/>
                  </a:lnTo>
                  <a:lnTo>
                    <a:pt x="347471" y="231647"/>
                  </a:lnTo>
                  <a:lnTo>
                    <a:pt x="348995" y="231647"/>
                  </a:lnTo>
                  <a:lnTo>
                    <a:pt x="348995" y="230123"/>
                  </a:lnTo>
                  <a:lnTo>
                    <a:pt x="355091" y="222503"/>
                  </a:lnTo>
                  <a:lnTo>
                    <a:pt x="357704" y="217931"/>
                  </a:lnTo>
                  <a:lnTo>
                    <a:pt x="316991" y="217931"/>
                  </a:lnTo>
                  <a:lnTo>
                    <a:pt x="313943" y="214883"/>
                  </a:lnTo>
                  <a:lnTo>
                    <a:pt x="310895" y="213360"/>
                  </a:lnTo>
                  <a:lnTo>
                    <a:pt x="301751" y="204215"/>
                  </a:lnTo>
                  <a:lnTo>
                    <a:pt x="297179" y="198119"/>
                  </a:lnTo>
                  <a:lnTo>
                    <a:pt x="291083" y="192023"/>
                  </a:lnTo>
                  <a:lnTo>
                    <a:pt x="286511" y="185927"/>
                  </a:lnTo>
                  <a:lnTo>
                    <a:pt x="280415" y="178307"/>
                  </a:lnTo>
                  <a:lnTo>
                    <a:pt x="269747" y="161544"/>
                  </a:lnTo>
                  <a:lnTo>
                    <a:pt x="220979" y="88391"/>
                  </a:lnTo>
                  <a:lnTo>
                    <a:pt x="196595" y="54863"/>
                  </a:lnTo>
                  <a:lnTo>
                    <a:pt x="190499" y="48767"/>
                  </a:lnTo>
                  <a:lnTo>
                    <a:pt x="186842" y="42671"/>
                  </a:lnTo>
                  <a:close/>
                </a:path>
                <a:path w="401320" h="245745">
                  <a:moveTo>
                    <a:pt x="315467" y="216408"/>
                  </a:moveTo>
                  <a:lnTo>
                    <a:pt x="316991" y="217931"/>
                  </a:lnTo>
                  <a:lnTo>
                    <a:pt x="318515" y="217424"/>
                  </a:lnTo>
                  <a:lnTo>
                    <a:pt x="315467" y="216408"/>
                  </a:lnTo>
                  <a:close/>
                </a:path>
                <a:path w="401320" h="245745">
                  <a:moveTo>
                    <a:pt x="318515" y="217424"/>
                  </a:moveTo>
                  <a:lnTo>
                    <a:pt x="316991" y="217931"/>
                  </a:lnTo>
                  <a:lnTo>
                    <a:pt x="318515" y="217931"/>
                  </a:lnTo>
                  <a:lnTo>
                    <a:pt x="319070" y="217654"/>
                  </a:lnTo>
                  <a:lnTo>
                    <a:pt x="318515" y="217424"/>
                  </a:lnTo>
                  <a:close/>
                </a:path>
                <a:path w="401320" h="245745">
                  <a:moveTo>
                    <a:pt x="319125" y="217627"/>
                  </a:moveTo>
                  <a:lnTo>
                    <a:pt x="318515" y="217931"/>
                  </a:lnTo>
                  <a:lnTo>
                    <a:pt x="319208" y="217654"/>
                  </a:lnTo>
                  <a:close/>
                </a:path>
                <a:path w="401320" h="245745">
                  <a:moveTo>
                    <a:pt x="319208" y="217654"/>
                  </a:moveTo>
                  <a:lnTo>
                    <a:pt x="318515" y="217931"/>
                  </a:lnTo>
                  <a:lnTo>
                    <a:pt x="320039" y="217931"/>
                  </a:lnTo>
                  <a:lnTo>
                    <a:pt x="319208" y="217654"/>
                  </a:lnTo>
                  <a:close/>
                </a:path>
                <a:path w="401320" h="245745">
                  <a:moveTo>
                    <a:pt x="319362" y="217593"/>
                  </a:moveTo>
                  <a:lnTo>
                    <a:pt x="319208" y="217654"/>
                  </a:lnTo>
                  <a:lnTo>
                    <a:pt x="320039" y="217931"/>
                  </a:lnTo>
                  <a:lnTo>
                    <a:pt x="319362" y="217593"/>
                  </a:lnTo>
                  <a:close/>
                </a:path>
                <a:path w="401320" h="245745">
                  <a:moveTo>
                    <a:pt x="323595" y="215900"/>
                  </a:moveTo>
                  <a:lnTo>
                    <a:pt x="319468" y="217550"/>
                  </a:lnTo>
                  <a:lnTo>
                    <a:pt x="320039" y="217931"/>
                  </a:lnTo>
                  <a:lnTo>
                    <a:pt x="357704" y="217931"/>
                  </a:lnTo>
                  <a:lnTo>
                    <a:pt x="358575" y="216408"/>
                  </a:lnTo>
                  <a:lnTo>
                    <a:pt x="323087" y="216408"/>
                  </a:lnTo>
                  <a:lnTo>
                    <a:pt x="323595" y="215900"/>
                  </a:lnTo>
                  <a:close/>
                </a:path>
                <a:path w="401320" h="245745">
                  <a:moveTo>
                    <a:pt x="318820" y="217322"/>
                  </a:moveTo>
                  <a:lnTo>
                    <a:pt x="318515" y="217424"/>
                  </a:lnTo>
                  <a:lnTo>
                    <a:pt x="319125" y="217627"/>
                  </a:lnTo>
                  <a:lnTo>
                    <a:pt x="319277" y="217550"/>
                  </a:lnTo>
                  <a:lnTo>
                    <a:pt x="318820" y="217322"/>
                  </a:lnTo>
                  <a:close/>
                </a:path>
                <a:path w="401320" h="245745">
                  <a:moveTo>
                    <a:pt x="321563" y="216408"/>
                  </a:moveTo>
                  <a:lnTo>
                    <a:pt x="318820" y="217322"/>
                  </a:lnTo>
                  <a:lnTo>
                    <a:pt x="319277" y="217550"/>
                  </a:lnTo>
                  <a:lnTo>
                    <a:pt x="321563" y="216408"/>
                  </a:lnTo>
                  <a:close/>
                </a:path>
                <a:path w="401320" h="245745">
                  <a:moveTo>
                    <a:pt x="326135" y="214883"/>
                  </a:moveTo>
                  <a:lnTo>
                    <a:pt x="323595" y="215900"/>
                  </a:lnTo>
                  <a:lnTo>
                    <a:pt x="323087" y="216408"/>
                  </a:lnTo>
                  <a:lnTo>
                    <a:pt x="326135" y="214883"/>
                  </a:lnTo>
                  <a:close/>
                </a:path>
                <a:path w="401320" h="245745">
                  <a:moveTo>
                    <a:pt x="359446" y="214883"/>
                  </a:moveTo>
                  <a:lnTo>
                    <a:pt x="326135" y="214883"/>
                  </a:lnTo>
                  <a:lnTo>
                    <a:pt x="323087" y="216408"/>
                  </a:lnTo>
                  <a:lnTo>
                    <a:pt x="358575" y="216408"/>
                  </a:lnTo>
                  <a:lnTo>
                    <a:pt x="359446" y="214883"/>
                  </a:lnTo>
                  <a:close/>
                </a:path>
                <a:path w="401320" h="245745">
                  <a:moveTo>
                    <a:pt x="361949" y="210312"/>
                  </a:moveTo>
                  <a:lnTo>
                    <a:pt x="329183" y="210312"/>
                  </a:lnTo>
                  <a:lnTo>
                    <a:pt x="323595" y="215900"/>
                  </a:lnTo>
                  <a:lnTo>
                    <a:pt x="326135" y="214883"/>
                  </a:lnTo>
                  <a:lnTo>
                    <a:pt x="359446" y="214883"/>
                  </a:lnTo>
                  <a:lnTo>
                    <a:pt x="361187" y="211835"/>
                  </a:lnTo>
                  <a:lnTo>
                    <a:pt x="361949" y="210312"/>
                  </a:lnTo>
                  <a:close/>
                </a:path>
                <a:path w="401320" h="245745">
                  <a:moveTo>
                    <a:pt x="371855" y="27431"/>
                  </a:moveTo>
                  <a:lnTo>
                    <a:pt x="367283" y="65531"/>
                  </a:lnTo>
                  <a:lnTo>
                    <a:pt x="355091" y="135635"/>
                  </a:lnTo>
                  <a:lnTo>
                    <a:pt x="344423" y="176783"/>
                  </a:lnTo>
                  <a:lnTo>
                    <a:pt x="341375" y="188975"/>
                  </a:lnTo>
                  <a:lnTo>
                    <a:pt x="336803" y="198119"/>
                  </a:lnTo>
                  <a:lnTo>
                    <a:pt x="332231" y="205739"/>
                  </a:lnTo>
                  <a:lnTo>
                    <a:pt x="326135" y="213360"/>
                  </a:lnTo>
                  <a:lnTo>
                    <a:pt x="329183" y="210312"/>
                  </a:lnTo>
                  <a:lnTo>
                    <a:pt x="361949" y="210312"/>
                  </a:lnTo>
                  <a:lnTo>
                    <a:pt x="367283" y="199644"/>
                  </a:lnTo>
                  <a:lnTo>
                    <a:pt x="371855" y="187451"/>
                  </a:lnTo>
                  <a:lnTo>
                    <a:pt x="376427" y="172212"/>
                  </a:lnTo>
                  <a:lnTo>
                    <a:pt x="382523" y="141731"/>
                  </a:lnTo>
                  <a:lnTo>
                    <a:pt x="387095" y="123443"/>
                  </a:lnTo>
                  <a:lnTo>
                    <a:pt x="390143" y="106679"/>
                  </a:lnTo>
                  <a:lnTo>
                    <a:pt x="393191" y="88391"/>
                  </a:lnTo>
                  <a:lnTo>
                    <a:pt x="394715" y="70103"/>
                  </a:lnTo>
                  <a:lnTo>
                    <a:pt x="400811" y="32003"/>
                  </a:lnTo>
                  <a:lnTo>
                    <a:pt x="371855" y="27431"/>
                  </a:lnTo>
                  <a:close/>
                </a:path>
                <a:path w="401320" h="245745">
                  <a:moveTo>
                    <a:pt x="85344" y="204215"/>
                  </a:moveTo>
                  <a:lnTo>
                    <a:pt x="74675" y="204215"/>
                  </a:lnTo>
                  <a:lnTo>
                    <a:pt x="76200" y="205739"/>
                  </a:lnTo>
                  <a:lnTo>
                    <a:pt x="83820" y="205739"/>
                  </a:lnTo>
                  <a:lnTo>
                    <a:pt x="85344" y="204215"/>
                  </a:lnTo>
                  <a:close/>
                </a:path>
                <a:path w="401320" h="245745">
                  <a:moveTo>
                    <a:pt x="59436" y="27431"/>
                  </a:moveTo>
                  <a:lnTo>
                    <a:pt x="35051" y="27431"/>
                  </a:lnTo>
                  <a:lnTo>
                    <a:pt x="30480" y="30480"/>
                  </a:lnTo>
                  <a:lnTo>
                    <a:pt x="30480" y="32003"/>
                  </a:lnTo>
                  <a:lnTo>
                    <a:pt x="32003" y="36575"/>
                  </a:lnTo>
                  <a:lnTo>
                    <a:pt x="33527" y="38100"/>
                  </a:lnTo>
                  <a:lnTo>
                    <a:pt x="33527" y="41147"/>
                  </a:lnTo>
                  <a:lnTo>
                    <a:pt x="35051" y="47243"/>
                  </a:lnTo>
                  <a:lnTo>
                    <a:pt x="38100" y="57912"/>
                  </a:lnTo>
                  <a:lnTo>
                    <a:pt x="39624" y="68579"/>
                  </a:lnTo>
                  <a:lnTo>
                    <a:pt x="41148" y="80771"/>
                  </a:lnTo>
                  <a:lnTo>
                    <a:pt x="45720" y="121919"/>
                  </a:lnTo>
                  <a:lnTo>
                    <a:pt x="48768" y="135635"/>
                  </a:lnTo>
                  <a:lnTo>
                    <a:pt x="57912" y="182879"/>
                  </a:lnTo>
                  <a:lnTo>
                    <a:pt x="60960" y="190500"/>
                  </a:lnTo>
                  <a:lnTo>
                    <a:pt x="62484" y="195071"/>
                  </a:lnTo>
                  <a:lnTo>
                    <a:pt x="65532" y="198119"/>
                  </a:lnTo>
                  <a:lnTo>
                    <a:pt x="65532" y="199644"/>
                  </a:lnTo>
                  <a:lnTo>
                    <a:pt x="67056" y="201167"/>
                  </a:lnTo>
                  <a:lnTo>
                    <a:pt x="68580" y="201167"/>
                  </a:lnTo>
                  <a:lnTo>
                    <a:pt x="71627" y="204215"/>
                  </a:lnTo>
                  <a:lnTo>
                    <a:pt x="86868" y="204215"/>
                  </a:lnTo>
                  <a:lnTo>
                    <a:pt x="89915" y="202691"/>
                  </a:lnTo>
                  <a:lnTo>
                    <a:pt x="94487" y="198119"/>
                  </a:lnTo>
                  <a:lnTo>
                    <a:pt x="94487" y="196595"/>
                  </a:lnTo>
                  <a:lnTo>
                    <a:pt x="96012" y="195071"/>
                  </a:lnTo>
                  <a:lnTo>
                    <a:pt x="99060" y="190500"/>
                  </a:lnTo>
                  <a:lnTo>
                    <a:pt x="100584" y="185927"/>
                  </a:lnTo>
                  <a:lnTo>
                    <a:pt x="101726" y="181356"/>
                  </a:lnTo>
                  <a:lnTo>
                    <a:pt x="71627" y="181356"/>
                  </a:lnTo>
                  <a:lnTo>
                    <a:pt x="72389" y="179831"/>
                  </a:lnTo>
                  <a:lnTo>
                    <a:pt x="71627" y="179831"/>
                  </a:lnTo>
                  <a:lnTo>
                    <a:pt x="73151" y="178307"/>
                  </a:lnTo>
                  <a:lnTo>
                    <a:pt x="74675" y="175259"/>
                  </a:lnTo>
                  <a:lnTo>
                    <a:pt x="74675" y="170687"/>
                  </a:lnTo>
                  <a:lnTo>
                    <a:pt x="77724" y="161544"/>
                  </a:lnTo>
                  <a:lnTo>
                    <a:pt x="79819" y="153162"/>
                  </a:lnTo>
                  <a:lnTo>
                    <a:pt x="77724" y="144779"/>
                  </a:lnTo>
                  <a:lnTo>
                    <a:pt x="76200" y="132587"/>
                  </a:lnTo>
                  <a:lnTo>
                    <a:pt x="71627" y="91439"/>
                  </a:lnTo>
                  <a:lnTo>
                    <a:pt x="68580" y="77723"/>
                  </a:lnTo>
                  <a:lnTo>
                    <a:pt x="67056" y="64007"/>
                  </a:lnTo>
                  <a:lnTo>
                    <a:pt x="65532" y="51815"/>
                  </a:lnTo>
                  <a:lnTo>
                    <a:pt x="64008" y="41147"/>
                  </a:lnTo>
                  <a:lnTo>
                    <a:pt x="59436" y="27431"/>
                  </a:lnTo>
                  <a:close/>
                </a:path>
                <a:path w="401320" h="245745">
                  <a:moveTo>
                    <a:pt x="77724" y="176783"/>
                  </a:moveTo>
                  <a:lnTo>
                    <a:pt x="73151" y="179069"/>
                  </a:lnTo>
                  <a:lnTo>
                    <a:pt x="73151" y="179831"/>
                  </a:lnTo>
                  <a:lnTo>
                    <a:pt x="71627" y="181356"/>
                  </a:lnTo>
                  <a:lnTo>
                    <a:pt x="86868" y="181356"/>
                  </a:lnTo>
                  <a:lnTo>
                    <a:pt x="86868" y="179831"/>
                  </a:lnTo>
                  <a:lnTo>
                    <a:pt x="84582" y="178307"/>
                  </a:lnTo>
                  <a:lnTo>
                    <a:pt x="76200" y="178307"/>
                  </a:lnTo>
                  <a:lnTo>
                    <a:pt x="77724" y="176783"/>
                  </a:lnTo>
                  <a:close/>
                </a:path>
                <a:path w="401320" h="245745">
                  <a:moveTo>
                    <a:pt x="86868" y="179831"/>
                  </a:moveTo>
                  <a:lnTo>
                    <a:pt x="86868" y="181356"/>
                  </a:lnTo>
                  <a:lnTo>
                    <a:pt x="88391" y="181356"/>
                  </a:lnTo>
                  <a:lnTo>
                    <a:pt x="86868" y="179831"/>
                  </a:lnTo>
                  <a:close/>
                </a:path>
                <a:path w="401320" h="245745">
                  <a:moveTo>
                    <a:pt x="155448" y="16763"/>
                  </a:moveTo>
                  <a:lnTo>
                    <a:pt x="135636" y="16763"/>
                  </a:lnTo>
                  <a:lnTo>
                    <a:pt x="134112" y="18287"/>
                  </a:lnTo>
                  <a:lnTo>
                    <a:pt x="131063" y="19812"/>
                  </a:lnTo>
                  <a:lnTo>
                    <a:pt x="129539" y="19812"/>
                  </a:lnTo>
                  <a:lnTo>
                    <a:pt x="129539" y="21335"/>
                  </a:lnTo>
                  <a:lnTo>
                    <a:pt x="128015" y="21335"/>
                  </a:lnTo>
                  <a:lnTo>
                    <a:pt x="124968" y="24383"/>
                  </a:lnTo>
                  <a:lnTo>
                    <a:pt x="123444" y="24383"/>
                  </a:lnTo>
                  <a:lnTo>
                    <a:pt x="123444" y="25907"/>
                  </a:lnTo>
                  <a:lnTo>
                    <a:pt x="103632" y="59435"/>
                  </a:lnTo>
                  <a:lnTo>
                    <a:pt x="96012" y="89915"/>
                  </a:lnTo>
                  <a:lnTo>
                    <a:pt x="91439" y="105156"/>
                  </a:lnTo>
                  <a:lnTo>
                    <a:pt x="88391" y="120395"/>
                  </a:lnTo>
                  <a:lnTo>
                    <a:pt x="83820" y="135635"/>
                  </a:lnTo>
                  <a:lnTo>
                    <a:pt x="80772" y="149351"/>
                  </a:lnTo>
                  <a:lnTo>
                    <a:pt x="79819" y="153162"/>
                  </a:lnTo>
                  <a:lnTo>
                    <a:pt x="80772" y="156971"/>
                  </a:lnTo>
                  <a:lnTo>
                    <a:pt x="82296" y="167639"/>
                  </a:lnTo>
                  <a:lnTo>
                    <a:pt x="85344" y="175259"/>
                  </a:lnTo>
                  <a:lnTo>
                    <a:pt x="85344" y="178307"/>
                  </a:lnTo>
                  <a:lnTo>
                    <a:pt x="88391" y="181356"/>
                  </a:lnTo>
                  <a:lnTo>
                    <a:pt x="101726" y="181356"/>
                  </a:lnTo>
                  <a:lnTo>
                    <a:pt x="102108" y="179831"/>
                  </a:lnTo>
                  <a:lnTo>
                    <a:pt x="103632" y="175259"/>
                  </a:lnTo>
                  <a:lnTo>
                    <a:pt x="105156" y="169163"/>
                  </a:lnTo>
                  <a:lnTo>
                    <a:pt x="108203" y="155447"/>
                  </a:lnTo>
                  <a:lnTo>
                    <a:pt x="112775" y="141731"/>
                  </a:lnTo>
                  <a:lnTo>
                    <a:pt x="118872" y="111251"/>
                  </a:lnTo>
                  <a:lnTo>
                    <a:pt x="123444" y="96012"/>
                  </a:lnTo>
                  <a:lnTo>
                    <a:pt x="126491" y="82295"/>
                  </a:lnTo>
                  <a:lnTo>
                    <a:pt x="131063" y="68579"/>
                  </a:lnTo>
                  <a:lnTo>
                    <a:pt x="135636" y="57912"/>
                  </a:lnTo>
                  <a:lnTo>
                    <a:pt x="138684" y="53339"/>
                  </a:lnTo>
                  <a:lnTo>
                    <a:pt x="140208" y="48767"/>
                  </a:lnTo>
                  <a:lnTo>
                    <a:pt x="143256" y="47243"/>
                  </a:lnTo>
                  <a:lnTo>
                    <a:pt x="144018" y="45719"/>
                  </a:lnTo>
                  <a:lnTo>
                    <a:pt x="143256" y="45719"/>
                  </a:lnTo>
                  <a:lnTo>
                    <a:pt x="144780" y="44195"/>
                  </a:lnTo>
                  <a:lnTo>
                    <a:pt x="143256" y="44195"/>
                  </a:lnTo>
                  <a:lnTo>
                    <a:pt x="147827" y="42671"/>
                  </a:lnTo>
                  <a:lnTo>
                    <a:pt x="186842" y="42671"/>
                  </a:lnTo>
                  <a:lnTo>
                    <a:pt x="185927" y="41147"/>
                  </a:lnTo>
                  <a:lnTo>
                    <a:pt x="169163" y="24383"/>
                  </a:lnTo>
                  <a:lnTo>
                    <a:pt x="163068" y="21335"/>
                  </a:lnTo>
                  <a:lnTo>
                    <a:pt x="158496" y="18287"/>
                  </a:lnTo>
                  <a:lnTo>
                    <a:pt x="156972" y="18287"/>
                  </a:lnTo>
                  <a:lnTo>
                    <a:pt x="155448" y="16763"/>
                  </a:lnTo>
                  <a:close/>
                </a:path>
                <a:path w="401320" h="245745">
                  <a:moveTo>
                    <a:pt x="73151" y="178307"/>
                  </a:moveTo>
                  <a:lnTo>
                    <a:pt x="71627" y="179831"/>
                  </a:lnTo>
                  <a:lnTo>
                    <a:pt x="72643" y="179324"/>
                  </a:lnTo>
                  <a:lnTo>
                    <a:pt x="73151" y="178307"/>
                  </a:lnTo>
                  <a:close/>
                </a:path>
                <a:path w="401320" h="245745">
                  <a:moveTo>
                    <a:pt x="72643" y="179324"/>
                  </a:moveTo>
                  <a:lnTo>
                    <a:pt x="71627" y="179831"/>
                  </a:lnTo>
                  <a:lnTo>
                    <a:pt x="72389" y="179831"/>
                  </a:lnTo>
                  <a:lnTo>
                    <a:pt x="72643" y="179324"/>
                  </a:lnTo>
                  <a:close/>
                </a:path>
                <a:path w="401320" h="245745">
                  <a:moveTo>
                    <a:pt x="85344" y="176783"/>
                  </a:moveTo>
                  <a:lnTo>
                    <a:pt x="83820" y="176783"/>
                  </a:lnTo>
                  <a:lnTo>
                    <a:pt x="82647" y="177018"/>
                  </a:lnTo>
                  <a:lnTo>
                    <a:pt x="86868" y="179831"/>
                  </a:lnTo>
                  <a:lnTo>
                    <a:pt x="85344" y="178307"/>
                  </a:lnTo>
                  <a:lnTo>
                    <a:pt x="85344" y="176783"/>
                  </a:lnTo>
                  <a:close/>
                </a:path>
                <a:path w="401320" h="245745">
                  <a:moveTo>
                    <a:pt x="73151" y="178307"/>
                  </a:moveTo>
                  <a:lnTo>
                    <a:pt x="72643" y="179324"/>
                  </a:lnTo>
                  <a:lnTo>
                    <a:pt x="73151" y="179069"/>
                  </a:lnTo>
                  <a:lnTo>
                    <a:pt x="73151" y="178307"/>
                  </a:lnTo>
                  <a:close/>
                </a:path>
                <a:path w="401320" h="245745">
                  <a:moveTo>
                    <a:pt x="79819" y="153162"/>
                  </a:moveTo>
                  <a:lnTo>
                    <a:pt x="77724" y="161544"/>
                  </a:lnTo>
                  <a:lnTo>
                    <a:pt x="74675" y="170687"/>
                  </a:lnTo>
                  <a:lnTo>
                    <a:pt x="74675" y="175259"/>
                  </a:lnTo>
                  <a:lnTo>
                    <a:pt x="73151" y="178307"/>
                  </a:lnTo>
                  <a:lnTo>
                    <a:pt x="73151" y="179069"/>
                  </a:lnTo>
                  <a:lnTo>
                    <a:pt x="77724" y="176783"/>
                  </a:lnTo>
                  <a:lnTo>
                    <a:pt x="85344" y="176783"/>
                  </a:lnTo>
                  <a:lnTo>
                    <a:pt x="85344" y="175259"/>
                  </a:lnTo>
                  <a:lnTo>
                    <a:pt x="82296" y="167639"/>
                  </a:lnTo>
                  <a:lnTo>
                    <a:pt x="80772" y="156971"/>
                  </a:lnTo>
                  <a:lnTo>
                    <a:pt x="79819" y="153162"/>
                  </a:lnTo>
                  <a:close/>
                </a:path>
                <a:path w="401320" h="245745">
                  <a:moveTo>
                    <a:pt x="82296" y="176783"/>
                  </a:moveTo>
                  <a:lnTo>
                    <a:pt x="77724" y="176783"/>
                  </a:lnTo>
                  <a:lnTo>
                    <a:pt x="76200" y="178307"/>
                  </a:lnTo>
                  <a:lnTo>
                    <a:pt x="82647" y="177018"/>
                  </a:lnTo>
                  <a:lnTo>
                    <a:pt x="82296" y="176783"/>
                  </a:lnTo>
                  <a:close/>
                </a:path>
                <a:path w="401320" h="245745">
                  <a:moveTo>
                    <a:pt x="82647" y="177018"/>
                  </a:moveTo>
                  <a:lnTo>
                    <a:pt x="76200" y="178307"/>
                  </a:lnTo>
                  <a:lnTo>
                    <a:pt x="84582" y="178307"/>
                  </a:lnTo>
                  <a:lnTo>
                    <a:pt x="82647" y="177018"/>
                  </a:lnTo>
                  <a:close/>
                </a:path>
                <a:path w="401320" h="245745">
                  <a:moveTo>
                    <a:pt x="83820" y="176783"/>
                  </a:moveTo>
                  <a:lnTo>
                    <a:pt x="82296" y="176783"/>
                  </a:lnTo>
                  <a:lnTo>
                    <a:pt x="82647" y="177018"/>
                  </a:lnTo>
                  <a:lnTo>
                    <a:pt x="83820" y="176783"/>
                  </a:lnTo>
                  <a:close/>
                </a:path>
                <a:path w="401320" h="245745">
                  <a:moveTo>
                    <a:pt x="144780" y="44195"/>
                  </a:moveTo>
                  <a:lnTo>
                    <a:pt x="143256" y="45719"/>
                  </a:lnTo>
                  <a:lnTo>
                    <a:pt x="144272" y="45211"/>
                  </a:lnTo>
                  <a:lnTo>
                    <a:pt x="144780" y="44195"/>
                  </a:lnTo>
                  <a:close/>
                </a:path>
                <a:path w="401320" h="245745">
                  <a:moveTo>
                    <a:pt x="144272" y="45211"/>
                  </a:moveTo>
                  <a:lnTo>
                    <a:pt x="143256" y="45719"/>
                  </a:lnTo>
                  <a:lnTo>
                    <a:pt x="144018" y="45719"/>
                  </a:lnTo>
                  <a:lnTo>
                    <a:pt x="144272" y="45211"/>
                  </a:lnTo>
                  <a:close/>
                </a:path>
                <a:path w="401320" h="245745">
                  <a:moveTo>
                    <a:pt x="144780" y="44195"/>
                  </a:moveTo>
                  <a:lnTo>
                    <a:pt x="144272" y="45211"/>
                  </a:lnTo>
                  <a:lnTo>
                    <a:pt x="145694" y="44500"/>
                  </a:lnTo>
                  <a:lnTo>
                    <a:pt x="144780" y="44195"/>
                  </a:lnTo>
                  <a:close/>
                </a:path>
                <a:path w="401320" h="245745">
                  <a:moveTo>
                    <a:pt x="146303" y="44195"/>
                  </a:moveTo>
                  <a:lnTo>
                    <a:pt x="145694" y="44500"/>
                  </a:lnTo>
                  <a:lnTo>
                    <a:pt x="145923" y="44576"/>
                  </a:lnTo>
                  <a:lnTo>
                    <a:pt x="146303" y="44195"/>
                  </a:lnTo>
                  <a:close/>
                </a:path>
                <a:path w="401320" h="245745">
                  <a:moveTo>
                    <a:pt x="147827" y="42671"/>
                  </a:moveTo>
                  <a:lnTo>
                    <a:pt x="143256" y="44195"/>
                  </a:lnTo>
                  <a:lnTo>
                    <a:pt x="144780" y="44195"/>
                  </a:lnTo>
                  <a:lnTo>
                    <a:pt x="145694" y="44500"/>
                  </a:lnTo>
                  <a:lnTo>
                    <a:pt x="146303" y="44195"/>
                  </a:lnTo>
                  <a:lnTo>
                    <a:pt x="147827" y="42671"/>
                  </a:lnTo>
                  <a:close/>
                </a:path>
                <a:path w="401320" h="245745">
                  <a:moveTo>
                    <a:pt x="45720" y="4571"/>
                  </a:moveTo>
                  <a:lnTo>
                    <a:pt x="15239" y="4571"/>
                  </a:lnTo>
                  <a:lnTo>
                    <a:pt x="15239" y="6095"/>
                  </a:lnTo>
                  <a:lnTo>
                    <a:pt x="9144" y="10667"/>
                  </a:lnTo>
                  <a:lnTo>
                    <a:pt x="4572" y="15239"/>
                  </a:lnTo>
                  <a:lnTo>
                    <a:pt x="0" y="21335"/>
                  </a:lnTo>
                  <a:lnTo>
                    <a:pt x="22860" y="39623"/>
                  </a:lnTo>
                  <a:lnTo>
                    <a:pt x="25908" y="35051"/>
                  </a:lnTo>
                  <a:lnTo>
                    <a:pt x="30479" y="30480"/>
                  </a:lnTo>
                  <a:lnTo>
                    <a:pt x="27432" y="27431"/>
                  </a:lnTo>
                  <a:lnTo>
                    <a:pt x="59436" y="27431"/>
                  </a:lnTo>
                  <a:lnTo>
                    <a:pt x="57912" y="24383"/>
                  </a:lnTo>
                  <a:lnTo>
                    <a:pt x="56387" y="18287"/>
                  </a:lnTo>
                  <a:lnTo>
                    <a:pt x="53339" y="13715"/>
                  </a:lnTo>
                  <a:lnTo>
                    <a:pt x="50291" y="10667"/>
                  </a:lnTo>
                  <a:lnTo>
                    <a:pt x="50291" y="9143"/>
                  </a:lnTo>
                  <a:lnTo>
                    <a:pt x="48768" y="9143"/>
                  </a:lnTo>
                  <a:lnTo>
                    <a:pt x="47244" y="6095"/>
                  </a:lnTo>
                  <a:lnTo>
                    <a:pt x="45720" y="6095"/>
                  </a:lnTo>
                  <a:lnTo>
                    <a:pt x="45720" y="4571"/>
                  </a:lnTo>
                  <a:close/>
                </a:path>
                <a:path w="401320" h="245745">
                  <a:moveTo>
                    <a:pt x="27432" y="27431"/>
                  </a:moveTo>
                  <a:lnTo>
                    <a:pt x="30480" y="30480"/>
                  </a:lnTo>
                  <a:lnTo>
                    <a:pt x="32003" y="28956"/>
                  </a:lnTo>
                  <a:lnTo>
                    <a:pt x="30480" y="28956"/>
                  </a:lnTo>
                  <a:lnTo>
                    <a:pt x="27432" y="27431"/>
                  </a:lnTo>
                  <a:close/>
                </a:path>
                <a:path w="401320" h="245745">
                  <a:moveTo>
                    <a:pt x="35051" y="27431"/>
                  </a:moveTo>
                  <a:lnTo>
                    <a:pt x="32765" y="28193"/>
                  </a:lnTo>
                  <a:lnTo>
                    <a:pt x="30480" y="30480"/>
                  </a:lnTo>
                  <a:lnTo>
                    <a:pt x="35051" y="27431"/>
                  </a:lnTo>
                  <a:close/>
                </a:path>
                <a:path w="401320" h="245745">
                  <a:moveTo>
                    <a:pt x="27432" y="27431"/>
                  </a:moveTo>
                  <a:lnTo>
                    <a:pt x="30480" y="28956"/>
                  </a:lnTo>
                  <a:lnTo>
                    <a:pt x="31242" y="28702"/>
                  </a:lnTo>
                  <a:lnTo>
                    <a:pt x="27432" y="27431"/>
                  </a:lnTo>
                  <a:close/>
                </a:path>
                <a:path w="401320" h="245745">
                  <a:moveTo>
                    <a:pt x="31242" y="28702"/>
                  </a:moveTo>
                  <a:lnTo>
                    <a:pt x="30479" y="28956"/>
                  </a:lnTo>
                  <a:lnTo>
                    <a:pt x="32004" y="28956"/>
                  </a:lnTo>
                  <a:lnTo>
                    <a:pt x="31242" y="28702"/>
                  </a:lnTo>
                  <a:close/>
                </a:path>
                <a:path w="401320" h="245745">
                  <a:moveTo>
                    <a:pt x="32765" y="28193"/>
                  </a:moveTo>
                  <a:lnTo>
                    <a:pt x="31242" y="28702"/>
                  </a:lnTo>
                  <a:lnTo>
                    <a:pt x="32004" y="28956"/>
                  </a:lnTo>
                  <a:lnTo>
                    <a:pt x="32765" y="28193"/>
                  </a:lnTo>
                  <a:close/>
                </a:path>
                <a:path w="401320" h="245745">
                  <a:moveTo>
                    <a:pt x="33527" y="27431"/>
                  </a:moveTo>
                  <a:lnTo>
                    <a:pt x="27432" y="27431"/>
                  </a:lnTo>
                  <a:lnTo>
                    <a:pt x="31242" y="28702"/>
                  </a:lnTo>
                  <a:lnTo>
                    <a:pt x="32765" y="28193"/>
                  </a:lnTo>
                  <a:lnTo>
                    <a:pt x="33527" y="27431"/>
                  </a:lnTo>
                  <a:close/>
                </a:path>
                <a:path w="401320" h="245745">
                  <a:moveTo>
                    <a:pt x="35051" y="27431"/>
                  </a:moveTo>
                  <a:lnTo>
                    <a:pt x="33527" y="27431"/>
                  </a:lnTo>
                  <a:lnTo>
                    <a:pt x="32765" y="28193"/>
                  </a:lnTo>
                  <a:lnTo>
                    <a:pt x="35051" y="27431"/>
                  </a:lnTo>
                  <a:close/>
                </a:path>
                <a:path w="401320" h="245745">
                  <a:moveTo>
                    <a:pt x="150875" y="15239"/>
                  </a:moveTo>
                  <a:lnTo>
                    <a:pt x="141732" y="15239"/>
                  </a:lnTo>
                  <a:lnTo>
                    <a:pt x="137160" y="16763"/>
                  </a:lnTo>
                  <a:lnTo>
                    <a:pt x="152400" y="16763"/>
                  </a:lnTo>
                  <a:lnTo>
                    <a:pt x="150875" y="15239"/>
                  </a:lnTo>
                  <a:close/>
                </a:path>
                <a:path w="401320" h="245745">
                  <a:moveTo>
                    <a:pt x="41148" y="1523"/>
                  </a:moveTo>
                  <a:lnTo>
                    <a:pt x="21336" y="1523"/>
                  </a:lnTo>
                  <a:lnTo>
                    <a:pt x="18287" y="4571"/>
                  </a:lnTo>
                  <a:lnTo>
                    <a:pt x="44196" y="4571"/>
                  </a:lnTo>
                  <a:lnTo>
                    <a:pt x="42672" y="3047"/>
                  </a:lnTo>
                  <a:lnTo>
                    <a:pt x="41148" y="3047"/>
                  </a:lnTo>
                  <a:lnTo>
                    <a:pt x="41148" y="1523"/>
                  </a:lnTo>
                  <a:close/>
                </a:path>
                <a:path w="401320" h="245745">
                  <a:moveTo>
                    <a:pt x="36575" y="0"/>
                  </a:moveTo>
                  <a:lnTo>
                    <a:pt x="25908" y="0"/>
                  </a:lnTo>
                  <a:lnTo>
                    <a:pt x="24384" y="1523"/>
                  </a:lnTo>
                  <a:lnTo>
                    <a:pt x="38100" y="1523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A3C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85091" y="5622036"/>
              <a:ext cx="416559" cy="321945"/>
            </a:xfrm>
            <a:custGeom>
              <a:avLst/>
              <a:gdLst/>
              <a:ahLst/>
              <a:cxnLst/>
              <a:rect l="l" t="t" r="r" b="b"/>
              <a:pathLst>
                <a:path w="416560" h="321945">
                  <a:moveTo>
                    <a:pt x="416052" y="161544"/>
                  </a:moveTo>
                  <a:lnTo>
                    <a:pt x="400812" y="153924"/>
                  </a:lnTo>
                  <a:lnTo>
                    <a:pt x="339852" y="123444"/>
                  </a:lnTo>
                  <a:lnTo>
                    <a:pt x="339852" y="153924"/>
                  </a:lnTo>
                  <a:lnTo>
                    <a:pt x="13716" y="153924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321564"/>
                  </a:lnTo>
                  <a:lnTo>
                    <a:pt x="13716" y="321564"/>
                  </a:lnTo>
                  <a:lnTo>
                    <a:pt x="13716" y="167640"/>
                  </a:lnTo>
                  <a:lnTo>
                    <a:pt x="339852" y="167640"/>
                  </a:lnTo>
                  <a:lnTo>
                    <a:pt x="339852" y="199644"/>
                  </a:lnTo>
                  <a:lnTo>
                    <a:pt x="403860" y="167640"/>
                  </a:lnTo>
                  <a:lnTo>
                    <a:pt x="416052" y="161544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79007" y="5283707"/>
              <a:ext cx="367665" cy="231775"/>
            </a:xfrm>
            <a:custGeom>
              <a:avLst/>
              <a:gdLst/>
              <a:ahLst/>
              <a:cxnLst/>
              <a:rect l="l" t="t" r="r" b="b"/>
              <a:pathLst>
                <a:path w="367664" h="231775">
                  <a:moveTo>
                    <a:pt x="259079" y="230123"/>
                  </a:moveTo>
                  <a:lnTo>
                    <a:pt x="248411" y="230123"/>
                  </a:lnTo>
                  <a:lnTo>
                    <a:pt x="249935" y="231647"/>
                  </a:lnTo>
                  <a:lnTo>
                    <a:pt x="257555" y="231647"/>
                  </a:lnTo>
                  <a:lnTo>
                    <a:pt x="259079" y="230123"/>
                  </a:lnTo>
                  <a:close/>
                </a:path>
                <a:path w="367664" h="231775">
                  <a:moveTo>
                    <a:pt x="262127" y="228599"/>
                  </a:moveTo>
                  <a:lnTo>
                    <a:pt x="243839" y="228599"/>
                  </a:lnTo>
                  <a:lnTo>
                    <a:pt x="246887" y="230123"/>
                  </a:lnTo>
                  <a:lnTo>
                    <a:pt x="260603" y="230123"/>
                  </a:lnTo>
                  <a:lnTo>
                    <a:pt x="262127" y="228599"/>
                  </a:lnTo>
                  <a:close/>
                </a:path>
                <a:path w="367664" h="231775">
                  <a:moveTo>
                    <a:pt x="152400" y="28956"/>
                  </a:moveTo>
                  <a:lnTo>
                    <a:pt x="112775" y="28956"/>
                  </a:lnTo>
                  <a:lnTo>
                    <a:pt x="115824" y="30480"/>
                  </a:lnTo>
                  <a:lnTo>
                    <a:pt x="129539" y="44196"/>
                  </a:lnTo>
                  <a:lnTo>
                    <a:pt x="134112" y="50292"/>
                  </a:lnTo>
                  <a:lnTo>
                    <a:pt x="137160" y="56388"/>
                  </a:lnTo>
                  <a:lnTo>
                    <a:pt x="155448" y="86868"/>
                  </a:lnTo>
                  <a:lnTo>
                    <a:pt x="166115" y="105156"/>
                  </a:lnTo>
                  <a:lnTo>
                    <a:pt x="175260" y="123443"/>
                  </a:lnTo>
                  <a:lnTo>
                    <a:pt x="184404" y="140207"/>
                  </a:lnTo>
                  <a:lnTo>
                    <a:pt x="193547" y="158495"/>
                  </a:lnTo>
                  <a:lnTo>
                    <a:pt x="202691" y="175259"/>
                  </a:lnTo>
                  <a:lnTo>
                    <a:pt x="216407" y="198119"/>
                  </a:lnTo>
                  <a:lnTo>
                    <a:pt x="219455" y="204215"/>
                  </a:lnTo>
                  <a:lnTo>
                    <a:pt x="224027" y="210311"/>
                  </a:lnTo>
                  <a:lnTo>
                    <a:pt x="228599" y="214883"/>
                  </a:lnTo>
                  <a:lnTo>
                    <a:pt x="231647" y="219455"/>
                  </a:lnTo>
                  <a:lnTo>
                    <a:pt x="237743" y="225551"/>
                  </a:lnTo>
                  <a:lnTo>
                    <a:pt x="240791" y="227075"/>
                  </a:lnTo>
                  <a:lnTo>
                    <a:pt x="240791" y="228599"/>
                  </a:lnTo>
                  <a:lnTo>
                    <a:pt x="263651" y="228599"/>
                  </a:lnTo>
                  <a:lnTo>
                    <a:pt x="265175" y="227075"/>
                  </a:lnTo>
                  <a:lnTo>
                    <a:pt x="268223" y="225551"/>
                  </a:lnTo>
                  <a:lnTo>
                    <a:pt x="268223" y="224027"/>
                  </a:lnTo>
                  <a:lnTo>
                    <a:pt x="269747" y="224027"/>
                  </a:lnTo>
                  <a:lnTo>
                    <a:pt x="269747" y="222503"/>
                  </a:lnTo>
                  <a:lnTo>
                    <a:pt x="272795" y="220979"/>
                  </a:lnTo>
                  <a:lnTo>
                    <a:pt x="272795" y="217931"/>
                  </a:lnTo>
                  <a:lnTo>
                    <a:pt x="274319" y="214883"/>
                  </a:lnTo>
                  <a:lnTo>
                    <a:pt x="277367" y="210311"/>
                  </a:lnTo>
                  <a:lnTo>
                    <a:pt x="278510" y="205739"/>
                  </a:lnTo>
                  <a:lnTo>
                    <a:pt x="246887" y="205739"/>
                  </a:lnTo>
                  <a:lnTo>
                    <a:pt x="248411" y="202691"/>
                  </a:lnTo>
                  <a:lnTo>
                    <a:pt x="249935" y="202691"/>
                  </a:lnTo>
                  <a:lnTo>
                    <a:pt x="251459" y="199643"/>
                  </a:lnTo>
                  <a:lnTo>
                    <a:pt x="249935" y="198119"/>
                  </a:lnTo>
                  <a:lnTo>
                    <a:pt x="243839" y="188975"/>
                  </a:lnTo>
                  <a:lnTo>
                    <a:pt x="240791" y="182879"/>
                  </a:lnTo>
                  <a:lnTo>
                    <a:pt x="236219" y="176783"/>
                  </a:lnTo>
                  <a:lnTo>
                    <a:pt x="228599" y="161543"/>
                  </a:lnTo>
                  <a:lnTo>
                    <a:pt x="210311" y="128015"/>
                  </a:lnTo>
                  <a:lnTo>
                    <a:pt x="201167" y="109728"/>
                  </a:lnTo>
                  <a:lnTo>
                    <a:pt x="190499" y="91440"/>
                  </a:lnTo>
                  <a:lnTo>
                    <a:pt x="181356" y="73152"/>
                  </a:lnTo>
                  <a:lnTo>
                    <a:pt x="170687" y="56388"/>
                  </a:lnTo>
                  <a:lnTo>
                    <a:pt x="156972" y="33528"/>
                  </a:lnTo>
                  <a:lnTo>
                    <a:pt x="152400" y="28956"/>
                  </a:lnTo>
                  <a:close/>
                </a:path>
                <a:path w="367664" h="231775">
                  <a:moveTo>
                    <a:pt x="313334" y="64008"/>
                  </a:moveTo>
                  <a:lnTo>
                    <a:pt x="295655" y="64008"/>
                  </a:lnTo>
                  <a:lnTo>
                    <a:pt x="295655" y="65532"/>
                  </a:lnTo>
                  <a:lnTo>
                    <a:pt x="294131" y="67056"/>
                  </a:lnTo>
                  <a:lnTo>
                    <a:pt x="294131" y="68580"/>
                  </a:lnTo>
                  <a:lnTo>
                    <a:pt x="292607" y="73152"/>
                  </a:lnTo>
                  <a:lnTo>
                    <a:pt x="292607" y="77724"/>
                  </a:lnTo>
                  <a:lnTo>
                    <a:pt x="291083" y="83820"/>
                  </a:lnTo>
                  <a:lnTo>
                    <a:pt x="295655" y="91440"/>
                  </a:lnTo>
                  <a:lnTo>
                    <a:pt x="298703" y="100584"/>
                  </a:lnTo>
                  <a:lnTo>
                    <a:pt x="303275" y="111252"/>
                  </a:lnTo>
                  <a:lnTo>
                    <a:pt x="316991" y="147827"/>
                  </a:lnTo>
                  <a:lnTo>
                    <a:pt x="321563" y="161543"/>
                  </a:lnTo>
                  <a:lnTo>
                    <a:pt x="330707" y="192023"/>
                  </a:lnTo>
                  <a:lnTo>
                    <a:pt x="339851" y="220979"/>
                  </a:lnTo>
                  <a:lnTo>
                    <a:pt x="367283" y="213359"/>
                  </a:lnTo>
                  <a:lnTo>
                    <a:pt x="348995" y="152399"/>
                  </a:lnTo>
                  <a:lnTo>
                    <a:pt x="339851" y="124967"/>
                  </a:lnTo>
                  <a:lnTo>
                    <a:pt x="330707" y="100584"/>
                  </a:lnTo>
                  <a:lnTo>
                    <a:pt x="321563" y="79248"/>
                  </a:lnTo>
                  <a:lnTo>
                    <a:pt x="316991" y="70104"/>
                  </a:lnTo>
                  <a:lnTo>
                    <a:pt x="313334" y="64008"/>
                  </a:lnTo>
                  <a:close/>
                </a:path>
                <a:path w="367664" h="231775">
                  <a:moveTo>
                    <a:pt x="248411" y="202691"/>
                  </a:moveTo>
                  <a:lnTo>
                    <a:pt x="246887" y="205739"/>
                  </a:lnTo>
                  <a:lnTo>
                    <a:pt x="248411" y="204215"/>
                  </a:lnTo>
                  <a:lnTo>
                    <a:pt x="248411" y="202691"/>
                  </a:lnTo>
                  <a:close/>
                </a:path>
                <a:path w="367664" h="231775">
                  <a:moveTo>
                    <a:pt x="248411" y="204215"/>
                  </a:moveTo>
                  <a:lnTo>
                    <a:pt x="246887" y="205739"/>
                  </a:lnTo>
                  <a:lnTo>
                    <a:pt x="248411" y="204723"/>
                  </a:lnTo>
                  <a:lnTo>
                    <a:pt x="248411" y="204215"/>
                  </a:lnTo>
                  <a:close/>
                </a:path>
                <a:path w="367664" h="231775">
                  <a:moveTo>
                    <a:pt x="248411" y="204723"/>
                  </a:moveTo>
                  <a:lnTo>
                    <a:pt x="246887" y="205739"/>
                  </a:lnTo>
                  <a:lnTo>
                    <a:pt x="248411" y="205739"/>
                  </a:lnTo>
                  <a:lnTo>
                    <a:pt x="248411" y="204723"/>
                  </a:lnTo>
                  <a:close/>
                </a:path>
                <a:path w="367664" h="231775">
                  <a:moveTo>
                    <a:pt x="251459" y="202691"/>
                  </a:moveTo>
                  <a:lnTo>
                    <a:pt x="249173" y="204215"/>
                  </a:lnTo>
                  <a:lnTo>
                    <a:pt x="248411" y="205739"/>
                  </a:lnTo>
                  <a:lnTo>
                    <a:pt x="278510" y="205739"/>
                  </a:lnTo>
                  <a:lnTo>
                    <a:pt x="278891" y="204215"/>
                  </a:lnTo>
                  <a:lnTo>
                    <a:pt x="249935" y="204215"/>
                  </a:lnTo>
                  <a:lnTo>
                    <a:pt x="251459" y="202691"/>
                  </a:lnTo>
                  <a:close/>
                </a:path>
                <a:path w="367664" h="231775">
                  <a:moveTo>
                    <a:pt x="249935" y="202691"/>
                  </a:moveTo>
                  <a:lnTo>
                    <a:pt x="248411" y="204215"/>
                  </a:lnTo>
                  <a:lnTo>
                    <a:pt x="248411" y="204723"/>
                  </a:lnTo>
                  <a:lnTo>
                    <a:pt x="249173" y="204215"/>
                  </a:lnTo>
                  <a:lnTo>
                    <a:pt x="249935" y="202691"/>
                  </a:lnTo>
                  <a:close/>
                </a:path>
                <a:path w="367664" h="231775">
                  <a:moveTo>
                    <a:pt x="249935" y="202691"/>
                  </a:moveTo>
                  <a:lnTo>
                    <a:pt x="248411" y="202691"/>
                  </a:lnTo>
                  <a:lnTo>
                    <a:pt x="248411" y="204215"/>
                  </a:lnTo>
                  <a:lnTo>
                    <a:pt x="249935" y="202691"/>
                  </a:lnTo>
                  <a:close/>
                </a:path>
                <a:path w="367664" h="231775">
                  <a:moveTo>
                    <a:pt x="251459" y="199643"/>
                  </a:moveTo>
                  <a:lnTo>
                    <a:pt x="249173" y="204215"/>
                  </a:lnTo>
                  <a:lnTo>
                    <a:pt x="251459" y="202691"/>
                  </a:lnTo>
                  <a:lnTo>
                    <a:pt x="256031" y="202691"/>
                  </a:lnTo>
                  <a:lnTo>
                    <a:pt x="252983" y="201167"/>
                  </a:lnTo>
                  <a:lnTo>
                    <a:pt x="251459" y="199643"/>
                  </a:lnTo>
                  <a:close/>
                </a:path>
                <a:path w="367664" h="231775">
                  <a:moveTo>
                    <a:pt x="252983" y="202691"/>
                  </a:moveTo>
                  <a:lnTo>
                    <a:pt x="251459" y="202691"/>
                  </a:lnTo>
                  <a:lnTo>
                    <a:pt x="249935" y="204215"/>
                  </a:lnTo>
                  <a:lnTo>
                    <a:pt x="253745" y="202945"/>
                  </a:lnTo>
                  <a:lnTo>
                    <a:pt x="252983" y="202691"/>
                  </a:lnTo>
                  <a:close/>
                </a:path>
                <a:path w="367664" h="231775">
                  <a:moveTo>
                    <a:pt x="253745" y="202945"/>
                  </a:moveTo>
                  <a:lnTo>
                    <a:pt x="249935" y="204215"/>
                  </a:lnTo>
                  <a:lnTo>
                    <a:pt x="257555" y="204215"/>
                  </a:lnTo>
                  <a:lnTo>
                    <a:pt x="253745" y="202945"/>
                  </a:lnTo>
                  <a:close/>
                </a:path>
                <a:path w="367664" h="231775">
                  <a:moveTo>
                    <a:pt x="254507" y="202691"/>
                  </a:moveTo>
                  <a:lnTo>
                    <a:pt x="253745" y="202945"/>
                  </a:lnTo>
                  <a:lnTo>
                    <a:pt x="257555" y="204215"/>
                  </a:lnTo>
                  <a:lnTo>
                    <a:pt x="254507" y="202691"/>
                  </a:lnTo>
                  <a:close/>
                </a:path>
                <a:path w="367664" h="231775">
                  <a:moveTo>
                    <a:pt x="294131" y="42672"/>
                  </a:moveTo>
                  <a:lnTo>
                    <a:pt x="277367" y="42672"/>
                  </a:lnTo>
                  <a:lnTo>
                    <a:pt x="271271" y="48768"/>
                  </a:lnTo>
                  <a:lnTo>
                    <a:pt x="271271" y="50292"/>
                  </a:lnTo>
                  <a:lnTo>
                    <a:pt x="269747" y="50292"/>
                  </a:lnTo>
                  <a:lnTo>
                    <a:pt x="265175" y="64008"/>
                  </a:lnTo>
                  <a:lnTo>
                    <a:pt x="265175" y="68580"/>
                  </a:lnTo>
                  <a:lnTo>
                    <a:pt x="263651" y="74676"/>
                  </a:lnTo>
                  <a:lnTo>
                    <a:pt x="263651" y="80772"/>
                  </a:lnTo>
                  <a:lnTo>
                    <a:pt x="262127" y="92964"/>
                  </a:lnTo>
                  <a:lnTo>
                    <a:pt x="260603" y="108204"/>
                  </a:lnTo>
                  <a:lnTo>
                    <a:pt x="259079" y="121919"/>
                  </a:lnTo>
                  <a:lnTo>
                    <a:pt x="259079" y="137159"/>
                  </a:lnTo>
                  <a:lnTo>
                    <a:pt x="256031" y="167639"/>
                  </a:lnTo>
                  <a:lnTo>
                    <a:pt x="254507" y="179831"/>
                  </a:lnTo>
                  <a:lnTo>
                    <a:pt x="252983" y="190499"/>
                  </a:lnTo>
                  <a:lnTo>
                    <a:pt x="251459" y="195071"/>
                  </a:lnTo>
                  <a:lnTo>
                    <a:pt x="251459" y="199643"/>
                  </a:lnTo>
                  <a:lnTo>
                    <a:pt x="252983" y="201167"/>
                  </a:lnTo>
                  <a:lnTo>
                    <a:pt x="256031" y="202691"/>
                  </a:lnTo>
                  <a:lnTo>
                    <a:pt x="254507" y="202691"/>
                  </a:lnTo>
                  <a:lnTo>
                    <a:pt x="257555" y="204215"/>
                  </a:lnTo>
                  <a:lnTo>
                    <a:pt x="278891" y="204215"/>
                  </a:lnTo>
                  <a:lnTo>
                    <a:pt x="280415" y="198119"/>
                  </a:lnTo>
                  <a:lnTo>
                    <a:pt x="283463" y="184403"/>
                  </a:lnTo>
                  <a:lnTo>
                    <a:pt x="284987" y="170687"/>
                  </a:lnTo>
                  <a:lnTo>
                    <a:pt x="288035" y="140207"/>
                  </a:lnTo>
                  <a:lnTo>
                    <a:pt x="288035" y="124967"/>
                  </a:lnTo>
                  <a:lnTo>
                    <a:pt x="289559" y="109728"/>
                  </a:lnTo>
                  <a:lnTo>
                    <a:pt x="291083" y="96012"/>
                  </a:lnTo>
                  <a:lnTo>
                    <a:pt x="291083" y="83820"/>
                  </a:lnTo>
                  <a:lnTo>
                    <a:pt x="288035" y="77724"/>
                  </a:lnTo>
                  <a:lnTo>
                    <a:pt x="281939" y="68580"/>
                  </a:lnTo>
                  <a:lnTo>
                    <a:pt x="280415" y="67056"/>
                  </a:lnTo>
                  <a:lnTo>
                    <a:pt x="292099" y="67056"/>
                  </a:lnTo>
                  <a:lnTo>
                    <a:pt x="294131" y="65532"/>
                  </a:lnTo>
                  <a:lnTo>
                    <a:pt x="294893" y="65532"/>
                  </a:lnTo>
                  <a:lnTo>
                    <a:pt x="295655" y="64008"/>
                  </a:lnTo>
                  <a:lnTo>
                    <a:pt x="313334" y="64008"/>
                  </a:lnTo>
                  <a:lnTo>
                    <a:pt x="307847" y="54864"/>
                  </a:lnTo>
                  <a:lnTo>
                    <a:pt x="303275" y="50292"/>
                  </a:lnTo>
                  <a:lnTo>
                    <a:pt x="303275" y="48768"/>
                  </a:lnTo>
                  <a:lnTo>
                    <a:pt x="301751" y="48768"/>
                  </a:lnTo>
                  <a:lnTo>
                    <a:pt x="301751" y="47244"/>
                  </a:lnTo>
                  <a:lnTo>
                    <a:pt x="297179" y="45720"/>
                  </a:lnTo>
                  <a:lnTo>
                    <a:pt x="297179" y="44196"/>
                  </a:lnTo>
                  <a:lnTo>
                    <a:pt x="294131" y="42672"/>
                  </a:lnTo>
                  <a:close/>
                </a:path>
                <a:path w="367664" h="231775">
                  <a:moveTo>
                    <a:pt x="254507" y="202691"/>
                  </a:moveTo>
                  <a:lnTo>
                    <a:pt x="252983" y="202691"/>
                  </a:lnTo>
                  <a:lnTo>
                    <a:pt x="253745" y="202945"/>
                  </a:lnTo>
                  <a:lnTo>
                    <a:pt x="254507" y="202691"/>
                  </a:lnTo>
                  <a:close/>
                </a:path>
                <a:path w="367664" h="231775">
                  <a:moveTo>
                    <a:pt x="126492" y="3048"/>
                  </a:moveTo>
                  <a:lnTo>
                    <a:pt x="94487" y="3048"/>
                  </a:lnTo>
                  <a:lnTo>
                    <a:pt x="94487" y="4572"/>
                  </a:lnTo>
                  <a:lnTo>
                    <a:pt x="86868" y="7620"/>
                  </a:lnTo>
                  <a:lnTo>
                    <a:pt x="85344" y="9144"/>
                  </a:lnTo>
                  <a:lnTo>
                    <a:pt x="76200" y="15240"/>
                  </a:lnTo>
                  <a:lnTo>
                    <a:pt x="68580" y="24384"/>
                  </a:lnTo>
                  <a:lnTo>
                    <a:pt x="62484" y="33528"/>
                  </a:lnTo>
                  <a:lnTo>
                    <a:pt x="54863" y="44196"/>
                  </a:lnTo>
                  <a:lnTo>
                    <a:pt x="48768" y="54864"/>
                  </a:lnTo>
                  <a:lnTo>
                    <a:pt x="41148" y="67056"/>
                  </a:lnTo>
                  <a:lnTo>
                    <a:pt x="28956" y="94488"/>
                  </a:lnTo>
                  <a:lnTo>
                    <a:pt x="10668" y="140207"/>
                  </a:lnTo>
                  <a:lnTo>
                    <a:pt x="0" y="172211"/>
                  </a:lnTo>
                  <a:lnTo>
                    <a:pt x="25908" y="181355"/>
                  </a:lnTo>
                  <a:lnTo>
                    <a:pt x="50292" y="120395"/>
                  </a:lnTo>
                  <a:lnTo>
                    <a:pt x="56387" y="106680"/>
                  </a:lnTo>
                  <a:lnTo>
                    <a:pt x="79248" y="57912"/>
                  </a:lnTo>
                  <a:lnTo>
                    <a:pt x="102108" y="32004"/>
                  </a:lnTo>
                  <a:lnTo>
                    <a:pt x="102616" y="32004"/>
                  </a:lnTo>
                  <a:lnTo>
                    <a:pt x="104648" y="30480"/>
                  </a:lnTo>
                  <a:lnTo>
                    <a:pt x="103632" y="30480"/>
                  </a:lnTo>
                  <a:lnTo>
                    <a:pt x="106680" y="28956"/>
                  </a:lnTo>
                  <a:lnTo>
                    <a:pt x="152400" y="28956"/>
                  </a:lnTo>
                  <a:lnTo>
                    <a:pt x="150875" y="27432"/>
                  </a:lnTo>
                  <a:lnTo>
                    <a:pt x="146304" y="19812"/>
                  </a:lnTo>
                  <a:lnTo>
                    <a:pt x="141732" y="15240"/>
                  </a:lnTo>
                  <a:lnTo>
                    <a:pt x="129539" y="6096"/>
                  </a:lnTo>
                  <a:lnTo>
                    <a:pt x="126492" y="3048"/>
                  </a:lnTo>
                  <a:close/>
                </a:path>
                <a:path w="367664" h="231775">
                  <a:moveTo>
                    <a:pt x="281939" y="68580"/>
                  </a:moveTo>
                  <a:lnTo>
                    <a:pt x="288035" y="77724"/>
                  </a:lnTo>
                  <a:lnTo>
                    <a:pt x="291083" y="83820"/>
                  </a:lnTo>
                  <a:lnTo>
                    <a:pt x="292607" y="77724"/>
                  </a:lnTo>
                  <a:lnTo>
                    <a:pt x="292607" y="73152"/>
                  </a:lnTo>
                  <a:lnTo>
                    <a:pt x="293623" y="70104"/>
                  </a:lnTo>
                  <a:lnTo>
                    <a:pt x="283463" y="70104"/>
                  </a:lnTo>
                  <a:lnTo>
                    <a:pt x="281939" y="68580"/>
                  </a:lnTo>
                  <a:close/>
                </a:path>
                <a:path w="367664" h="231775">
                  <a:moveTo>
                    <a:pt x="281939" y="68580"/>
                  </a:moveTo>
                  <a:lnTo>
                    <a:pt x="283463" y="70104"/>
                  </a:lnTo>
                  <a:lnTo>
                    <a:pt x="284987" y="70104"/>
                  </a:lnTo>
                  <a:lnTo>
                    <a:pt x="281939" y="68580"/>
                  </a:lnTo>
                  <a:close/>
                </a:path>
                <a:path w="367664" h="231775">
                  <a:moveTo>
                    <a:pt x="280415" y="67056"/>
                  </a:moveTo>
                  <a:lnTo>
                    <a:pt x="281939" y="68580"/>
                  </a:lnTo>
                  <a:lnTo>
                    <a:pt x="284987" y="70104"/>
                  </a:lnTo>
                  <a:lnTo>
                    <a:pt x="280415" y="67056"/>
                  </a:lnTo>
                  <a:close/>
                </a:path>
                <a:path w="367664" h="231775">
                  <a:moveTo>
                    <a:pt x="292099" y="67056"/>
                  </a:moveTo>
                  <a:lnTo>
                    <a:pt x="280415" y="67056"/>
                  </a:lnTo>
                  <a:lnTo>
                    <a:pt x="284987" y="70104"/>
                  </a:lnTo>
                  <a:lnTo>
                    <a:pt x="288035" y="70104"/>
                  </a:lnTo>
                  <a:lnTo>
                    <a:pt x="289559" y="68580"/>
                  </a:lnTo>
                  <a:lnTo>
                    <a:pt x="290067" y="68580"/>
                  </a:lnTo>
                  <a:lnTo>
                    <a:pt x="292099" y="67056"/>
                  </a:lnTo>
                  <a:close/>
                </a:path>
                <a:path w="367664" h="231775">
                  <a:moveTo>
                    <a:pt x="290067" y="68580"/>
                  </a:moveTo>
                  <a:lnTo>
                    <a:pt x="289559" y="68580"/>
                  </a:lnTo>
                  <a:lnTo>
                    <a:pt x="288035" y="70104"/>
                  </a:lnTo>
                  <a:lnTo>
                    <a:pt x="290067" y="68580"/>
                  </a:lnTo>
                  <a:close/>
                </a:path>
                <a:path w="367664" h="231775">
                  <a:moveTo>
                    <a:pt x="294131" y="65532"/>
                  </a:moveTo>
                  <a:lnTo>
                    <a:pt x="288035" y="70104"/>
                  </a:lnTo>
                  <a:lnTo>
                    <a:pt x="293623" y="70104"/>
                  </a:lnTo>
                  <a:lnTo>
                    <a:pt x="294131" y="68580"/>
                  </a:lnTo>
                  <a:lnTo>
                    <a:pt x="294131" y="65532"/>
                  </a:lnTo>
                  <a:close/>
                </a:path>
                <a:path w="367664" h="231775">
                  <a:moveTo>
                    <a:pt x="294893" y="65532"/>
                  </a:moveTo>
                  <a:lnTo>
                    <a:pt x="294131" y="65532"/>
                  </a:lnTo>
                  <a:lnTo>
                    <a:pt x="294131" y="67056"/>
                  </a:lnTo>
                  <a:lnTo>
                    <a:pt x="294893" y="65532"/>
                  </a:lnTo>
                  <a:close/>
                </a:path>
                <a:path w="367664" h="231775">
                  <a:moveTo>
                    <a:pt x="295655" y="64008"/>
                  </a:moveTo>
                  <a:lnTo>
                    <a:pt x="294131" y="67056"/>
                  </a:lnTo>
                  <a:lnTo>
                    <a:pt x="295655" y="65532"/>
                  </a:lnTo>
                  <a:lnTo>
                    <a:pt x="295655" y="64008"/>
                  </a:lnTo>
                  <a:close/>
                </a:path>
                <a:path w="367664" h="231775">
                  <a:moveTo>
                    <a:pt x="289559" y="41148"/>
                  </a:moveTo>
                  <a:lnTo>
                    <a:pt x="283463" y="41148"/>
                  </a:lnTo>
                  <a:lnTo>
                    <a:pt x="281939" y="42672"/>
                  </a:lnTo>
                  <a:lnTo>
                    <a:pt x="292607" y="42672"/>
                  </a:lnTo>
                  <a:lnTo>
                    <a:pt x="289559" y="41148"/>
                  </a:lnTo>
                  <a:close/>
                </a:path>
                <a:path w="367664" h="231775">
                  <a:moveTo>
                    <a:pt x="102616" y="32004"/>
                  </a:moveTo>
                  <a:lnTo>
                    <a:pt x="102108" y="32004"/>
                  </a:lnTo>
                  <a:lnTo>
                    <a:pt x="100584" y="33528"/>
                  </a:lnTo>
                  <a:lnTo>
                    <a:pt x="102616" y="32004"/>
                  </a:lnTo>
                  <a:close/>
                </a:path>
                <a:path w="367664" h="231775">
                  <a:moveTo>
                    <a:pt x="106680" y="28956"/>
                  </a:moveTo>
                  <a:lnTo>
                    <a:pt x="103632" y="30480"/>
                  </a:lnTo>
                  <a:lnTo>
                    <a:pt x="105017" y="30202"/>
                  </a:lnTo>
                  <a:lnTo>
                    <a:pt x="106680" y="28956"/>
                  </a:lnTo>
                  <a:close/>
                </a:path>
                <a:path w="367664" h="231775">
                  <a:moveTo>
                    <a:pt x="105017" y="30202"/>
                  </a:moveTo>
                  <a:lnTo>
                    <a:pt x="103632" y="30480"/>
                  </a:lnTo>
                  <a:lnTo>
                    <a:pt x="104648" y="30480"/>
                  </a:lnTo>
                  <a:lnTo>
                    <a:pt x="105017" y="30202"/>
                  </a:lnTo>
                  <a:close/>
                </a:path>
                <a:path w="367664" h="231775">
                  <a:moveTo>
                    <a:pt x="112775" y="28956"/>
                  </a:moveTo>
                  <a:lnTo>
                    <a:pt x="111251" y="28956"/>
                  </a:lnTo>
                  <a:lnTo>
                    <a:pt x="114300" y="30480"/>
                  </a:lnTo>
                  <a:lnTo>
                    <a:pt x="112775" y="28956"/>
                  </a:lnTo>
                  <a:close/>
                </a:path>
                <a:path w="367664" h="231775">
                  <a:moveTo>
                    <a:pt x="111251" y="28956"/>
                  </a:moveTo>
                  <a:lnTo>
                    <a:pt x="106680" y="28956"/>
                  </a:lnTo>
                  <a:lnTo>
                    <a:pt x="105017" y="30202"/>
                  </a:lnTo>
                  <a:lnTo>
                    <a:pt x="111251" y="28956"/>
                  </a:lnTo>
                  <a:close/>
                </a:path>
                <a:path w="367664" h="231775">
                  <a:moveTo>
                    <a:pt x="108204" y="0"/>
                  </a:moveTo>
                  <a:lnTo>
                    <a:pt x="106680" y="0"/>
                  </a:lnTo>
                  <a:lnTo>
                    <a:pt x="105156" y="1524"/>
                  </a:lnTo>
                  <a:lnTo>
                    <a:pt x="97536" y="3048"/>
                  </a:lnTo>
                  <a:lnTo>
                    <a:pt x="123444" y="3048"/>
                  </a:lnTo>
                  <a:lnTo>
                    <a:pt x="118872" y="1524"/>
                  </a:lnTo>
                  <a:lnTo>
                    <a:pt x="115824" y="1524"/>
                  </a:lnTo>
                  <a:lnTo>
                    <a:pt x="10820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85091" y="5257799"/>
              <a:ext cx="416559" cy="323215"/>
            </a:xfrm>
            <a:custGeom>
              <a:avLst/>
              <a:gdLst/>
              <a:ahLst/>
              <a:cxnLst/>
              <a:rect l="l" t="t" r="r" b="b"/>
              <a:pathLst>
                <a:path w="416560" h="323214">
                  <a:moveTo>
                    <a:pt x="416052" y="161544"/>
                  </a:moveTo>
                  <a:lnTo>
                    <a:pt x="403860" y="155448"/>
                  </a:lnTo>
                  <a:lnTo>
                    <a:pt x="339852" y="123444"/>
                  </a:lnTo>
                  <a:lnTo>
                    <a:pt x="339852" y="155448"/>
                  </a:lnTo>
                  <a:lnTo>
                    <a:pt x="13716" y="155448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323088"/>
                  </a:lnTo>
                  <a:lnTo>
                    <a:pt x="13716" y="323088"/>
                  </a:lnTo>
                  <a:lnTo>
                    <a:pt x="13716" y="169164"/>
                  </a:lnTo>
                  <a:lnTo>
                    <a:pt x="339852" y="169164"/>
                  </a:lnTo>
                  <a:lnTo>
                    <a:pt x="339852" y="199644"/>
                  </a:lnTo>
                  <a:lnTo>
                    <a:pt x="400812" y="169164"/>
                  </a:lnTo>
                  <a:lnTo>
                    <a:pt x="416052" y="161544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36435" y="5497067"/>
              <a:ext cx="141731" cy="20878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44283" y="5497067"/>
              <a:ext cx="141731" cy="20878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5659" y="5497067"/>
              <a:ext cx="141731" cy="20878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56319" y="5378196"/>
              <a:ext cx="36575" cy="8381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6319" y="5378196"/>
              <a:ext cx="36575" cy="8381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286499" y="5379719"/>
              <a:ext cx="2390140" cy="82550"/>
            </a:xfrm>
            <a:custGeom>
              <a:avLst/>
              <a:gdLst/>
              <a:ahLst/>
              <a:cxnLst/>
              <a:rect l="l" t="t" r="r" b="b"/>
              <a:pathLst>
                <a:path w="2390140" h="82550">
                  <a:moveTo>
                    <a:pt x="2389631" y="0"/>
                  </a:moveTo>
                  <a:lnTo>
                    <a:pt x="0" y="0"/>
                  </a:lnTo>
                  <a:lnTo>
                    <a:pt x="0" y="82295"/>
                  </a:lnTo>
                  <a:lnTo>
                    <a:pt x="2389631" y="82295"/>
                  </a:lnTo>
                  <a:lnTo>
                    <a:pt x="23896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69735" y="5379720"/>
              <a:ext cx="33655" cy="81280"/>
            </a:xfrm>
            <a:custGeom>
              <a:avLst/>
              <a:gdLst/>
              <a:ahLst/>
              <a:cxnLst/>
              <a:rect l="l" t="t" r="r" b="b"/>
              <a:pathLst>
                <a:path w="33654" h="81279">
                  <a:moveTo>
                    <a:pt x="16764" y="0"/>
                  </a:moveTo>
                  <a:lnTo>
                    <a:pt x="10287" y="3190"/>
                  </a:lnTo>
                  <a:lnTo>
                    <a:pt x="4953" y="11810"/>
                  </a:lnTo>
                  <a:lnTo>
                    <a:pt x="1333" y="24431"/>
                  </a:lnTo>
                  <a:lnTo>
                    <a:pt x="0" y="39623"/>
                  </a:lnTo>
                  <a:lnTo>
                    <a:pt x="1333" y="55697"/>
                  </a:lnTo>
                  <a:lnTo>
                    <a:pt x="4953" y="68770"/>
                  </a:lnTo>
                  <a:lnTo>
                    <a:pt x="10287" y="77557"/>
                  </a:lnTo>
                  <a:lnTo>
                    <a:pt x="16764" y="80771"/>
                  </a:lnTo>
                  <a:lnTo>
                    <a:pt x="23240" y="77557"/>
                  </a:lnTo>
                  <a:lnTo>
                    <a:pt x="28575" y="68770"/>
                  </a:lnTo>
                  <a:lnTo>
                    <a:pt x="32194" y="55697"/>
                  </a:lnTo>
                  <a:lnTo>
                    <a:pt x="33528" y="39623"/>
                  </a:lnTo>
                  <a:lnTo>
                    <a:pt x="32194" y="24431"/>
                  </a:lnTo>
                  <a:lnTo>
                    <a:pt x="28575" y="11810"/>
                  </a:lnTo>
                  <a:lnTo>
                    <a:pt x="23241" y="3190"/>
                  </a:lnTo>
                  <a:lnTo>
                    <a:pt x="1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56319" y="5740908"/>
              <a:ext cx="36575" cy="8381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56319" y="5740908"/>
              <a:ext cx="36575" cy="8381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286499" y="5742431"/>
              <a:ext cx="2390140" cy="82550"/>
            </a:xfrm>
            <a:custGeom>
              <a:avLst/>
              <a:gdLst/>
              <a:ahLst/>
              <a:cxnLst/>
              <a:rect l="l" t="t" r="r" b="b"/>
              <a:pathLst>
                <a:path w="2390140" h="82550">
                  <a:moveTo>
                    <a:pt x="2389631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2389631" y="82296"/>
                  </a:lnTo>
                  <a:lnTo>
                    <a:pt x="23896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69735" y="5742431"/>
              <a:ext cx="33655" cy="81280"/>
            </a:xfrm>
            <a:custGeom>
              <a:avLst/>
              <a:gdLst/>
              <a:ahLst/>
              <a:cxnLst/>
              <a:rect l="l" t="t" r="r" b="b"/>
              <a:pathLst>
                <a:path w="33654" h="81279">
                  <a:moveTo>
                    <a:pt x="16764" y="0"/>
                  </a:moveTo>
                  <a:lnTo>
                    <a:pt x="10287" y="3214"/>
                  </a:lnTo>
                  <a:lnTo>
                    <a:pt x="4953" y="12001"/>
                  </a:lnTo>
                  <a:lnTo>
                    <a:pt x="1333" y="25074"/>
                  </a:lnTo>
                  <a:lnTo>
                    <a:pt x="0" y="41148"/>
                  </a:lnTo>
                  <a:lnTo>
                    <a:pt x="1333" y="56340"/>
                  </a:lnTo>
                  <a:lnTo>
                    <a:pt x="4953" y="68961"/>
                  </a:lnTo>
                  <a:lnTo>
                    <a:pt x="10287" y="77581"/>
                  </a:lnTo>
                  <a:lnTo>
                    <a:pt x="16764" y="80772"/>
                  </a:lnTo>
                  <a:lnTo>
                    <a:pt x="23240" y="77581"/>
                  </a:lnTo>
                  <a:lnTo>
                    <a:pt x="28575" y="68961"/>
                  </a:lnTo>
                  <a:lnTo>
                    <a:pt x="32194" y="56340"/>
                  </a:lnTo>
                  <a:lnTo>
                    <a:pt x="33528" y="41148"/>
                  </a:lnTo>
                  <a:lnTo>
                    <a:pt x="32194" y="25074"/>
                  </a:lnTo>
                  <a:lnTo>
                    <a:pt x="28575" y="12001"/>
                  </a:lnTo>
                  <a:lnTo>
                    <a:pt x="23241" y="3214"/>
                  </a:lnTo>
                  <a:lnTo>
                    <a:pt x="1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22079" y="6240780"/>
              <a:ext cx="400811" cy="374903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8769208" y="5252270"/>
            <a:ext cx="638175" cy="7518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800" spc="-5" dirty="0">
                <a:solidFill>
                  <a:srgbClr val="B16B01"/>
                </a:solidFill>
                <a:latin typeface="Calibri"/>
                <a:cs typeface="Calibri"/>
              </a:rPr>
              <a:t>Wi</a:t>
            </a:r>
            <a:r>
              <a:rPr sz="1800" spc="-30" dirty="0">
                <a:solidFill>
                  <a:srgbClr val="B16B01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B16B01"/>
                </a:solidFill>
                <a:latin typeface="Calibri"/>
                <a:cs typeface="Calibri"/>
              </a:rPr>
              <a:t>e 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800" spc="-5" dirty="0">
                <a:solidFill>
                  <a:srgbClr val="B16B01"/>
                </a:solidFill>
                <a:latin typeface="Calibri"/>
                <a:cs typeface="Calibri"/>
              </a:rPr>
              <a:t>Wi</a:t>
            </a:r>
            <a:r>
              <a:rPr sz="1800" spc="-30" dirty="0">
                <a:solidFill>
                  <a:srgbClr val="B16B01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B16B01"/>
                </a:solidFill>
                <a:latin typeface="Calibri"/>
                <a:cs typeface="Calibri"/>
              </a:rPr>
              <a:t>e 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79770"/>
            <a:ext cx="8385809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b="1" u="none" spc="-45" dirty="0">
                <a:latin typeface="Arial"/>
                <a:cs typeface="Arial"/>
              </a:rPr>
              <a:t>Noise</a:t>
            </a:r>
            <a:r>
              <a:rPr sz="4900" b="1" u="none" spc="-140" dirty="0">
                <a:latin typeface="Arial"/>
                <a:cs typeface="Arial"/>
              </a:rPr>
              <a:t> </a:t>
            </a:r>
            <a:r>
              <a:rPr sz="4900" b="1" u="none" spc="-5" dirty="0">
                <a:latin typeface="Arial"/>
                <a:cs typeface="Arial"/>
              </a:rPr>
              <a:t>:</a:t>
            </a:r>
            <a:r>
              <a:rPr sz="4900" b="1" u="none" spc="-110" dirty="0">
                <a:latin typeface="Arial"/>
                <a:cs typeface="Arial"/>
              </a:rPr>
              <a:t> </a:t>
            </a:r>
            <a:r>
              <a:rPr sz="4900" b="1" u="none" spc="-50" dirty="0">
                <a:latin typeface="Arial"/>
                <a:cs typeface="Arial"/>
              </a:rPr>
              <a:t>Signal-to-Noise</a:t>
            </a:r>
            <a:r>
              <a:rPr sz="4900" b="1" u="none" spc="-125" dirty="0">
                <a:latin typeface="Arial"/>
                <a:cs typeface="Arial"/>
              </a:rPr>
              <a:t> </a:t>
            </a:r>
            <a:r>
              <a:rPr sz="4900" b="1" u="none" spc="-40" dirty="0">
                <a:latin typeface="Arial"/>
                <a:cs typeface="Arial"/>
              </a:rPr>
              <a:t>Ratio</a:t>
            </a:r>
            <a:endParaRPr sz="4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2267" y="1769826"/>
            <a:ext cx="8284209" cy="15481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14629" marR="304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SNR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ratio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wanted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(signal)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not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wanted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(noise).</a:t>
            </a:r>
            <a:endParaRPr sz="2800">
              <a:latin typeface="Calibri"/>
              <a:cs typeface="Calibri"/>
            </a:endParaRPr>
          </a:p>
          <a:p>
            <a:pPr marL="511809" lvl="1" indent="-25082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511809" algn="l"/>
                <a:tab pos="512445" algn="l"/>
              </a:tabLst>
            </a:pP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measurement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reception's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quality</a:t>
            </a:r>
            <a:endParaRPr sz="2400">
              <a:latin typeface="Calibri"/>
              <a:cs typeface="Calibri"/>
            </a:endParaRPr>
          </a:p>
          <a:p>
            <a:pPr marL="665480" lvl="2" indent="-183515">
              <a:lnSpc>
                <a:spcPct val="100000"/>
              </a:lnSpc>
              <a:spcBef>
                <a:spcPts val="420"/>
              </a:spcBef>
              <a:buClr>
                <a:srgbClr val="1CACE4"/>
              </a:buClr>
              <a:buChar char="◦"/>
              <a:tabLst>
                <a:tab pos="666115" algn="l"/>
              </a:tabLst>
            </a:pP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often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described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decibel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units,</a:t>
            </a:r>
            <a:r>
              <a:rPr sz="1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SNR</a:t>
            </a:r>
            <a:r>
              <a:rPr sz="1800" spc="-7" baseline="-20833" dirty="0">
                <a:solidFill>
                  <a:srgbClr val="3F3F3F"/>
                </a:solidFill>
                <a:latin typeface="Calibri"/>
                <a:cs typeface="Calibri"/>
              </a:rPr>
              <a:t>dB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72267" y="4284979"/>
            <a:ext cx="7954009" cy="1297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830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SNR</a:t>
            </a:r>
            <a:r>
              <a:rPr sz="1800" b="1" spc="-7" baseline="-20833" dirty="0">
                <a:latin typeface="Calibri"/>
                <a:cs typeface="Calibri"/>
              </a:rPr>
              <a:t>dB</a:t>
            </a:r>
            <a:r>
              <a:rPr sz="1800" b="1" spc="179" baseline="-20833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10 </a:t>
            </a:r>
            <a:r>
              <a:rPr sz="1800" b="1" dirty="0">
                <a:latin typeface="Calibri"/>
                <a:cs typeface="Calibri"/>
              </a:rPr>
              <a:t>log</a:t>
            </a:r>
            <a:r>
              <a:rPr sz="1800" b="1" baseline="-20833" dirty="0">
                <a:latin typeface="Calibri"/>
                <a:cs typeface="Calibri"/>
              </a:rPr>
              <a:t>10</a:t>
            </a:r>
            <a:r>
              <a:rPr sz="1800" b="1" spc="172" baseline="-20833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SNR</a:t>
            </a:r>
            <a:endParaRPr sz="1800">
              <a:latin typeface="Calibri"/>
              <a:cs typeface="Calibri"/>
            </a:endParaRPr>
          </a:p>
          <a:p>
            <a:pPr marL="214629" indent="-177165">
              <a:lnSpc>
                <a:spcPct val="100000"/>
              </a:lnSpc>
              <a:spcBef>
                <a:spcPts val="60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high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SNR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means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less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corrupted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noise.</a:t>
            </a:r>
            <a:endParaRPr sz="2800">
              <a:latin typeface="Calibri"/>
              <a:cs typeface="Calibri"/>
            </a:endParaRPr>
          </a:p>
          <a:p>
            <a:pPr marL="214629" indent="-177165">
              <a:lnSpc>
                <a:spcPct val="100000"/>
              </a:lnSpc>
              <a:spcBef>
                <a:spcPts val="1070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Low SNR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means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more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corrupted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noise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3352800"/>
            <a:ext cx="3877055" cy="9144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79770"/>
            <a:ext cx="8385809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b="1" u="none" spc="-45" dirty="0">
                <a:latin typeface="Arial"/>
                <a:cs typeface="Arial"/>
              </a:rPr>
              <a:t>Noise</a:t>
            </a:r>
            <a:r>
              <a:rPr sz="4900" b="1" u="none" spc="-140" dirty="0">
                <a:latin typeface="Arial"/>
                <a:cs typeface="Arial"/>
              </a:rPr>
              <a:t> </a:t>
            </a:r>
            <a:r>
              <a:rPr sz="4900" b="1" u="none" spc="-5" dirty="0">
                <a:latin typeface="Arial"/>
                <a:cs typeface="Arial"/>
              </a:rPr>
              <a:t>:</a:t>
            </a:r>
            <a:r>
              <a:rPr sz="4900" b="1" u="none" spc="-110" dirty="0">
                <a:latin typeface="Arial"/>
                <a:cs typeface="Arial"/>
              </a:rPr>
              <a:t> </a:t>
            </a:r>
            <a:r>
              <a:rPr sz="4900" b="1" u="none" spc="-50" dirty="0">
                <a:latin typeface="Arial"/>
                <a:cs typeface="Arial"/>
              </a:rPr>
              <a:t>Signal-to-Noise</a:t>
            </a:r>
            <a:r>
              <a:rPr sz="4900" b="1" u="none" spc="-120" dirty="0">
                <a:latin typeface="Arial"/>
                <a:cs typeface="Arial"/>
              </a:rPr>
              <a:t> </a:t>
            </a:r>
            <a:r>
              <a:rPr sz="4900" b="1" u="none" spc="-40" dirty="0">
                <a:latin typeface="Arial"/>
                <a:cs typeface="Arial"/>
              </a:rPr>
              <a:t>Ratio</a:t>
            </a:r>
            <a:endParaRPr sz="4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5893308"/>
            <a:ext cx="9142730" cy="1420495"/>
            <a:chOff x="457200" y="5893308"/>
            <a:chExt cx="9142730" cy="1420495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3311" y="5893308"/>
              <a:ext cx="3461003" cy="9128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8635" y="6048756"/>
              <a:ext cx="3881627" cy="51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73669" y="4844412"/>
            <a:ext cx="873315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14629" marR="304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a 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mW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noise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1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F3F3F"/>
                </a:solidFill>
                <a:latin typeface="Calibri"/>
                <a:cs typeface="Calibri"/>
              </a:rPr>
              <a:t>μW;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values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SNR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SNR</a:t>
            </a:r>
            <a:r>
              <a:rPr sz="2775" baseline="-21021" dirty="0">
                <a:solidFill>
                  <a:srgbClr val="3F3F3F"/>
                </a:solidFill>
                <a:latin typeface="Calibri"/>
                <a:cs typeface="Calibri"/>
              </a:rPr>
              <a:t>dB</a:t>
            </a:r>
            <a:r>
              <a:rPr sz="2775" spc="330" baseline="-2102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0" y="1981200"/>
            <a:ext cx="4953000" cy="26670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79770"/>
            <a:ext cx="8385809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b="1" u="none" spc="-45" dirty="0">
                <a:latin typeface="Arial"/>
                <a:cs typeface="Arial"/>
              </a:rPr>
              <a:t>Noise</a:t>
            </a:r>
            <a:r>
              <a:rPr sz="4900" b="1" u="none" spc="-140" dirty="0">
                <a:latin typeface="Arial"/>
                <a:cs typeface="Arial"/>
              </a:rPr>
              <a:t> </a:t>
            </a:r>
            <a:r>
              <a:rPr sz="4900" b="1" u="none" spc="-5" dirty="0">
                <a:latin typeface="Arial"/>
                <a:cs typeface="Arial"/>
              </a:rPr>
              <a:t>:</a:t>
            </a:r>
            <a:r>
              <a:rPr sz="4900" b="1" u="none" spc="-110" dirty="0">
                <a:latin typeface="Arial"/>
                <a:cs typeface="Arial"/>
              </a:rPr>
              <a:t> </a:t>
            </a:r>
            <a:r>
              <a:rPr sz="4900" b="1" u="none" spc="-50" dirty="0">
                <a:latin typeface="Arial"/>
                <a:cs typeface="Arial"/>
              </a:rPr>
              <a:t>Signal-to-Noise</a:t>
            </a:r>
            <a:r>
              <a:rPr sz="4900" b="1" u="none" spc="-120" dirty="0">
                <a:latin typeface="Arial"/>
                <a:cs typeface="Arial"/>
              </a:rPr>
              <a:t> </a:t>
            </a:r>
            <a:r>
              <a:rPr sz="4900" b="1" u="none" spc="-40" dirty="0">
                <a:latin typeface="Arial"/>
                <a:cs typeface="Arial"/>
              </a:rPr>
              <a:t>Ratio</a:t>
            </a:r>
            <a:endParaRPr sz="4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2267" y="1769826"/>
            <a:ext cx="82657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95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values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SNR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SNR</a:t>
            </a:r>
            <a:r>
              <a:rPr sz="2775" baseline="-21021" dirty="0">
                <a:solidFill>
                  <a:srgbClr val="3F3F3F"/>
                </a:solidFill>
                <a:latin typeface="Calibri"/>
                <a:cs typeface="Calibri"/>
              </a:rPr>
              <a:t>dB</a:t>
            </a:r>
            <a:r>
              <a:rPr sz="2775" spc="322" baseline="-2102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noiseless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91611" y="2611120"/>
            <a:ext cx="3274060" cy="1112520"/>
            <a:chOff x="2991611" y="2611120"/>
            <a:chExt cx="3274060" cy="11125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4095" y="2670048"/>
              <a:ext cx="3154679" cy="99821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91599" y="2611119"/>
              <a:ext cx="3274060" cy="1112520"/>
            </a:xfrm>
            <a:custGeom>
              <a:avLst/>
              <a:gdLst/>
              <a:ahLst/>
              <a:cxnLst/>
              <a:rect l="l" t="t" r="r" b="b"/>
              <a:pathLst>
                <a:path w="3274060" h="1112520">
                  <a:moveTo>
                    <a:pt x="3250692" y="22860"/>
                  </a:moveTo>
                  <a:lnTo>
                    <a:pt x="3215640" y="22860"/>
                  </a:lnTo>
                  <a:lnTo>
                    <a:pt x="3215640" y="55880"/>
                  </a:lnTo>
                  <a:lnTo>
                    <a:pt x="3215640" y="1055370"/>
                  </a:lnTo>
                  <a:lnTo>
                    <a:pt x="56388" y="1055370"/>
                  </a:lnTo>
                  <a:lnTo>
                    <a:pt x="56388" y="55880"/>
                  </a:lnTo>
                  <a:lnTo>
                    <a:pt x="3215640" y="55880"/>
                  </a:lnTo>
                  <a:lnTo>
                    <a:pt x="3215640" y="22860"/>
                  </a:lnTo>
                  <a:lnTo>
                    <a:pt x="22860" y="22860"/>
                  </a:lnTo>
                  <a:lnTo>
                    <a:pt x="22860" y="55880"/>
                  </a:lnTo>
                  <a:lnTo>
                    <a:pt x="22860" y="1055370"/>
                  </a:lnTo>
                  <a:lnTo>
                    <a:pt x="22860" y="1089660"/>
                  </a:lnTo>
                  <a:lnTo>
                    <a:pt x="3250692" y="1089660"/>
                  </a:lnTo>
                  <a:lnTo>
                    <a:pt x="3250692" y="1055624"/>
                  </a:lnTo>
                  <a:lnTo>
                    <a:pt x="3250692" y="1055370"/>
                  </a:lnTo>
                  <a:lnTo>
                    <a:pt x="3250692" y="55880"/>
                  </a:lnTo>
                  <a:lnTo>
                    <a:pt x="3250692" y="22860"/>
                  </a:lnTo>
                  <a:close/>
                </a:path>
                <a:path w="3274060" h="1112520">
                  <a:moveTo>
                    <a:pt x="3273552" y="0"/>
                  </a:moveTo>
                  <a:lnTo>
                    <a:pt x="3261360" y="0"/>
                  </a:lnTo>
                  <a:lnTo>
                    <a:pt x="3261360" y="10160"/>
                  </a:lnTo>
                  <a:lnTo>
                    <a:pt x="3261360" y="1101090"/>
                  </a:lnTo>
                  <a:lnTo>
                    <a:pt x="10668" y="1101090"/>
                  </a:lnTo>
                  <a:lnTo>
                    <a:pt x="10668" y="10160"/>
                  </a:lnTo>
                  <a:lnTo>
                    <a:pt x="3261360" y="10160"/>
                  </a:lnTo>
                  <a:lnTo>
                    <a:pt x="3261360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101090"/>
                  </a:lnTo>
                  <a:lnTo>
                    <a:pt x="0" y="1112520"/>
                  </a:lnTo>
                  <a:lnTo>
                    <a:pt x="3273552" y="1112520"/>
                  </a:lnTo>
                  <a:lnTo>
                    <a:pt x="3273552" y="1101344"/>
                  </a:lnTo>
                  <a:lnTo>
                    <a:pt x="3273552" y="1101090"/>
                  </a:lnTo>
                  <a:lnTo>
                    <a:pt x="3273552" y="10160"/>
                  </a:lnTo>
                  <a:lnTo>
                    <a:pt x="3273552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9" name="object 9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97667" y="4017727"/>
            <a:ext cx="8081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6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can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never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achieve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ratio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real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life;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ideal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0" dirty="0">
                <a:latin typeface="Arial"/>
                <a:cs typeface="Arial"/>
              </a:rPr>
              <a:t>Data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Rate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Limits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769826"/>
            <a:ext cx="8489950" cy="43491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22479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rate: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How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fast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second,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over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channel?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depends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three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factors:</a:t>
            </a:r>
            <a:endParaRPr sz="2800">
              <a:latin typeface="Calibri"/>
              <a:cs typeface="Calibri"/>
            </a:endParaRPr>
          </a:p>
          <a:p>
            <a:pPr marL="693420" lvl="1" indent="-457834">
              <a:lnSpc>
                <a:spcPct val="100000"/>
              </a:lnSpc>
              <a:spcBef>
                <a:spcPts val="140"/>
              </a:spcBef>
              <a:buClr>
                <a:srgbClr val="1CACE4"/>
              </a:buClr>
              <a:buAutoNum type="arabicPeriod"/>
              <a:tabLst>
                <a:tab pos="693420" algn="l"/>
                <a:tab pos="694055" algn="l"/>
              </a:tabLst>
            </a:pP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available</a:t>
            </a:r>
            <a:endParaRPr sz="2400">
              <a:latin typeface="Calibri"/>
              <a:cs typeface="Calibri"/>
            </a:endParaRPr>
          </a:p>
          <a:p>
            <a:pPr marL="693420" lvl="1" indent="-457834">
              <a:lnSpc>
                <a:spcPct val="100000"/>
              </a:lnSpc>
              <a:spcBef>
                <a:spcPts val="310"/>
              </a:spcBef>
              <a:buClr>
                <a:srgbClr val="1CACE4"/>
              </a:buClr>
              <a:buAutoNum type="arabicPeriod"/>
              <a:tabLst>
                <a:tab pos="693420" algn="l"/>
                <a:tab pos="694055" algn="l"/>
              </a:tabLst>
            </a:pP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level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we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use</a:t>
            </a:r>
            <a:endParaRPr sz="2400">
              <a:latin typeface="Calibri"/>
              <a:cs typeface="Calibri"/>
            </a:endParaRPr>
          </a:p>
          <a:p>
            <a:pPr marL="693420" lvl="1" indent="-457834">
              <a:lnSpc>
                <a:spcPct val="100000"/>
              </a:lnSpc>
              <a:spcBef>
                <a:spcPts val="310"/>
              </a:spcBef>
              <a:buClr>
                <a:srgbClr val="1CACE4"/>
              </a:buClr>
              <a:buAutoNum type="arabicPeriod"/>
              <a:tabLst>
                <a:tab pos="693420" algn="l"/>
                <a:tab pos="694055" algn="l"/>
              </a:tabLst>
            </a:pP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quality</a:t>
            </a:r>
            <a:r>
              <a:rPr sz="24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the channel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(the</a:t>
            </a:r>
            <a:r>
              <a:rPr sz="2400" b="1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level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noise)</a:t>
            </a:r>
            <a:endParaRPr sz="2400">
              <a:latin typeface="Calibri"/>
              <a:cs typeface="Calibri"/>
            </a:endParaRPr>
          </a:p>
          <a:p>
            <a:pPr marL="189230" marR="5080" indent="-177165">
              <a:lnSpc>
                <a:spcPts val="3020"/>
              </a:lnSpc>
              <a:spcBef>
                <a:spcPts val="163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theoretical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formulas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were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developed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calculate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rate:</a:t>
            </a:r>
            <a:endParaRPr sz="2800">
              <a:latin typeface="Calibri"/>
              <a:cs typeface="Calibri"/>
            </a:endParaRPr>
          </a:p>
          <a:p>
            <a:pPr marL="419100" indent="-183515">
              <a:lnSpc>
                <a:spcPct val="100000"/>
              </a:lnSpc>
              <a:spcBef>
                <a:spcPts val="9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Nyquist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noiseless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endParaRPr sz="2400">
              <a:latin typeface="Calibri"/>
              <a:cs typeface="Calibri"/>
            </a:endParaRPr>
          </a:p>
          <a:p>
            <a:pPr marL="419100" indent="-183515">
              <a:lnSpc>
                <a:spcPct val="100000"/>
              </a:lnSpc>
              <a:spcBef>
                <a:spcPts val="31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Shannon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noisy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channel.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8368" y="1572767"/>
            <a:ext cx="8778240" cy="1550035"/>
            <a:chOff x="658368" y="1572767"/>
            <a:chExt cx="8778240" cy="1550035"/>
          </a:xfrm>
        </p:grpSpPr>
        <p:sp>
          <p:nvSpPr>
            <p:cNvPr id="3" name="object 3"/>
            <p:cNvSpPr/>
            <p:nvPr/>
          </p:nvSpPr>
          <p:spPr>
            <a:xfrm>
              <a:off x="658368" y="1595627"/>
              <a:ext cx="8778240" cy="21590"/>
            </a:xfrm>
            <a:custGeom>
              <a:avLst/>
              <a:gdLst/>
              <a:ahLst/>
              <a:cxnLst/>
              <a:rect l="l" t="t" r="r" b="b"/>
              <a:pathLst>
                <a:path w="8778240" h="21590">
                  <a:moveTo>
                    <a:pt x="8778239" y="0"/>
                  </a:moveTo>
                  <a:lnTo>
                    <a:pt x="0" y="7620"/>
                  </a:lnTo>
                  <a:lnTo>
                    <a:pt x="0" y="21336"/>
                  </a:lnTo>
                  <a:lnTo>
                    <a:pt x="8778239" y="12191"/>
                  </a:lnTo>
                  <a:lnTo>
                    <a:pt x="877823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2399" y="1600199"/>
              <a:ext cx="1219200" cy="14935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44968" y="1572767"/>
              <a:ext cx="1275715" cy="1550035"/>
            </a:xfrm>
            <a:custGeom>
              <a:avLst/>
              <a:gdLst/>
              <a:ahLst/>
              <a:cxnLst/>
              <a:rect l="l" t="t" r="r" b="b"/>
              <a:pathLst>
                <a:path w="1275715" h="1550035">
                  <a:moveTo>
                    <a:pt x="1275587" y="0"/>
                  </a:moveTo>
                  <a:lnTo>
                    <a:pt x="0" y="0"/>
                  </a:lnTo>
                  <a:lnTo>
                    <a:pt x="0" y="1549907"/>
                  </a:lnTo>
                  <a:lnTo>
                    <a:pt x="1275587" y="1549907"/>
                  </a:lnTo>
                  <a:lnTo>
                    <a:pt x="1275587" y="1534667"/>
                  </a:lnTo>
                  <a:lnTo>
                    <a:pt x="27432" y="1534667"/>
                  </a:lnTo>
                  <a:lnTo>
                    <a:pt x="13716" y="1520951"/>
                  </a:lnTo>
                  <a:lnTo>
                    <a:pt x="27432" y="1520951"/>
                  </a:lnTo>
                  <a:lnTo>
                    <a:pt x="27432" y="27432"/>
                  </a:lnTo>
                  <a:lnTo>
                    <a:pt x="13716" y="27432"/>
                  </a:lnTo>
                  <a:lnTo>
                    <a:pt x="27432" y="13716"/>
                  </a:lnTo>
                  <a:lnTo>
                    <a:pt x="1275587" y="13716"/>
                  </a:lnTo>
                  <a:lnTo>
                    <a:pt x="1275587" y="0"/>
                  </a:lnTo>
                  <a:close/>
                </a:path>
                <a:path w="1275715" h="1550035">
                  <a:moveTo>
                    <a:pt x="27432" y="1520951"/>
                  </a:moveTo>
                  <a:lnTo>
                    <a:pt x="13716" y="1520951"/>
                  </a:lnTo>
                  <a:lnTo>
                    <a:pt x="27432" y="1534667"/>
                  </a:lnTo>
                  <a:lnTo>
                    <a:pt x="27432" y="1520951"/>
                  </a:lnTo>
                  <a:close/>
                </a:path>
                <a:path w="1275715" h="1550035">
                  <a:moveTo>
                    <a:pt x="1246631" y="1520951"/>
                  </a:moveTo>
                  <a:lnTo>
                    <a:pt x="27432" y="1520951"/>
                  </a:lnTo>
                  <a:lnTo>
                    <a:pt x="27432" y="1534667"/>
                  </a:lnTo>
                  <a:lnTo>
                    <a:pt x="1246631" y="1534667"/>
                  </a:lnTo>
                  <a:lnTo>
                    <a:pt x="1246631" y="1520951"/>
                  </a:lnTo>
                  <a:close/>
                </a:path>
                <a:path w="1275715" h="1550035">
                  <a:moveTo>
                    <a:pt x="1246631" y="13716"/>
                  </a:moveTo>
                  <a:lnTo>
                    <a:pt x="1246631" y="1534667"/>
                  </a:lnTo>
                  <a:lnTo>
                    <a:pt x="1261871" y="1520951"/>
                  </a:lnTo>
                  <a:lnTo>
                    <a:pt x="1275587" y="1520951"/>
                  </a:lnTo>
                  <a:lnTo>
                    <a:pt x="1275587" y="27432"/>
                  </a:lnTo>
                  <a:lnTo>
                    <a:pt x="1261871" y="27432"/>
                  </a:lnTo>
                  <a:lnTo>
                    <a:pt x="1246631" y="13716"/>
                  </a:lnTo>
                  <a:close/>
                </a:path>
                <a:path w="1275715" h="1550035">
                  <a:moveTo>
                    <a:pt x="1275587" y="1520951"/>
                  </a:moveTo>
                  <a:lnTo>
                    <a:pt x="1261871" y="1520951"/>
                  </a:lnTo>
                  <a:lnTo>
                    <a:pt x="1246631" y="1534667"/>
                  </a:lnTo>
                  <a:lnTo>
                    <a:pt x="1275587" y="1534667"/>
                  </a:lnTo>
                  <a:lnTo>
                    <a:pt x="1275587" y="1520951"/>
                  </a:lnTo>
                  <a:close/>
                </a:path>
                <a:path w="1275715" h="1550035">
                  <a:moveTo>
                    <a:pt x="27432" y="13716"/>
                  </a:moveTo>
                  <a:lnTo>
                    <a:pt x="13716" y="27432"/>
                  </a:lnTo>
                  <a:lnTo>
                    <a:pt x="27432" y="27432"/>
                  </a:lnTo>
                  <a:lnTo>
                    <a:pt x="27432" y="13716"/>
                  </a:lnTo>
                  <a:close/>
                </a:path>
                <a:path w="1275715" h="1550035">
                  <a:moveTo>
                    <a:pt x="1246631" y="13716"/>
                  </a:moveTo>
                  <a:lnTo>
                    <a:pt x="27432" y="13716"/>
                  </a:lnTo>
                  <a:lnTo>
                    <a:pt x="27432" y="27432"/>
                  </a:lnTo>
                  <a:lnTo>
                    <a:pt x="1246631" y="27432"/>
                  </a:lnTo>
                  <a:lnTo>
                    <a:pt x="1246631" y="13716"/>
                  </a:lnTo>
                  <a:close/>
                </a:path>
                <a:path w="1275715" h="1550035">
                  <a:moveTo>
                    <a:pt x="1275587" y="13716"/>
                  </a:moveTo>
                  <a:lnTo>
                    <a:pt x="1246631" y="13716"/>
                  </a:lnTo>
                  <a:lnTo>
                    <a:pt x="1261871" y="27432"/>
                  </a:lnTo>
                  <a:lnTo>
                    <a:pt x="1275587" y="27432"/>
                  </a:lnTo>
                  <a:lnTo>
                    <a:pt x="1275587" y="13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47987" y="2590799"/>
              <a:ext cx="4349750" cy="460375"/>
            </a:xfrm>
            <a:custGeom>
              <a:avLst/>
              <a:gdLst/>
              <a:ahLst/>
              <a:cxnLst/>
              <a:rect l="l" t="t" r="r" b="b"/>
              <a:pathLst>
                <a:path w="4349750" h="460375">
                  <a:moveTo>
                    <a:pt x="4349496" y="0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460248"/>
                  </a:lnTo>
                  <a:lnTo>
                    <a:pt x="1524" y="460248"/>
                  </a:lnTo>
                  <a:lnTo>
                    <a:pt x="1524" y="1524"/>
                  </a:lnTo>
                  <a:lnTo>
                    <a:pt x="4349496" y="1524"/>
                  </a:lnTo>
                  <a:lnTo>
                    <a:pt x="434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29712" y="2572511"/>
              <a:ext cx="4389120" cy="500380"/>
            </a:xfrm>
            <a:custGeom>
              <a:avLst/>
              <a:gdLst/>
              <a:ahLst/>
              <a:cxnLst/>
              <a:rect l="l" t="t" r="r" b="b"/>
              <a:pathLst>
                <a:path w="4389120" h="500380">
                  <a:moveTo>
                    <a:pt x="4389119" y="0"/>
                  </a:moveTo>
                  <a:lnTo>
                    <a:pt x="0" y="0"/>
                  </a:lnTo>
                  <a:lnTo>
                    <a:pt x="0" y="499871"/>
                  </a:lnTo>
                  <a:lnTo>
                    <a:pt x="4389119" y="499871"/>
                  </a:lnTo>
                  <a:lnTo>
                    <a:pt x="4389119" y="481583"/>
                  </a:lnTo>
                  <a:lnTo>
                    <a:pt x="19811" y="481583"/>
                  </a:lnTo>
                  <a:lnTo>
                    <a:pt x="19811" y="463178"/>
                  </a:lnTo>
                  <a:lnTo>
                    <a:pt x="18288" y="461771"/>
                  </a:lnTo>
                  <a:lnTo>
                    <a:pt x="19811" y="461771"/>
                  </a:lnTo>
                  <a:lnTo>
                    <a:pt x="19811" y="38100"/>
                  </a:lnTo>
                  <a:lnTo>
                    <a:pt x="18288" y="38100"/>
                  </a:lnTo>
                  <a:lnTo>
                    <a:pt x="19811" y="36576"/>
                  </a:lnTo>
                  <a:lnTo>
                    <a:pt x="19811" y="18288"/>
                  </a:lnTo>
                  <a:lnTo>
                    <a:pt x="38100" y="18288"/>
                  </a:lnTo>
                  <a:lnTo>
                    <a:pt x="4389119" y="18287"/>
                  </a:lnTo>
                  <a:lnTo>
                    <a:pt x="4389119" y="0"/>
                  </a:lnTo>
                  <a:close/>
                </a:path>
                <a:path w="4389120" h="500380">
                  <a:moveTo>
                    <a:pt x="38099" y="480059"/>
                  </a:moveTo>
                  <a:lnTo>
                    <a:pt x="19811" y="480059"/>
                  </a:lnTo>
                  <a:lnTo>
                    <a:pt x="19811" y="481583"/>
                  </a:lnTo>
                  <a:lnTo>
                    <a:pt x="4369307" y="481583"/>
                  </a:lnTo>
                  <a:lnTo>
                    <a:pt x="4369307" y="480060"/>
                  </a:lnTo>
                  <a:lnTo>
                    <a:pt x="38099" y="480059"/>
                  </a:lnTo>
                  <a:close/>
                </a:path>
                <a:path w="4389120" h="500380">
                  <a:moveTo>
                    <a:pt x="4389119" y="18288"/>
                  </a:moveTo>
                  <a:lnTo>
                    <a:pt x="4369307" y="18288"/>
                  </a:lnTo>
                  <a:lnTo>
                    <a:pt x="4369307" y="481583"/>
                  </a:lnTo>
                  <a:lnTo>
                    <a:pt x="4389119" y="481583"/>
                  </a:lnTo>
                  <a:lnTo>
                    <a:pt x="4389119" y="18288"/>
                  </a:lnTo>
                  <a:close/>
                </a:path>
                <a:path w="4389120" h="500380">
                  <a:moveTo>
                    <a:pt x="4351019" y="480059"/>
                  </a:moveTo>
                  <a:lnTo>
                    <a:pt x="38100" y="480059"/>
                  </a:lnTo>
                  <a:lnTo>
                    <a:pt x="4351019" y="480060"/>
                  </a:lnTo>
                  <a:close/>
                </a:path>
                <a:path w="4389120" h="500380">
                  <a:moveTo>
                    <a:pt x="4369307" y="480059"/>
                  </a:moveTo>
                  <a:lnTo>
                    <a:pt x="4351019" y="480059"/>
                  </a:lnTo>
                  <a:lnTo>
                    <a:pt x="4369307" y="480060"/>
                  </a:lnTo>
                  <a:close/>
                </a:path>
                <a:path w="4389120" h="500380">
                  <a:moveTo>
                    <a:pt x="19811" y="461771"/>
                  </a:moveTo>
                  <a:lnTo>
                    <a:pt x="18288" y="461771"/>
                  </a:lnTo>
                  <a:lnTo>
                    <a:pt x="19811" y="463178"/>
                  </a:lnTo>
                  <a:lnTo>
                    <a:pt x="19811" y="461771"/>
                  </a:lnTo>
                  <a:close/>
                </a:path>
                <a:path w="4389120" h="500380">
                  <a:moveTo>
                    <a:pt x="19811" y="36576"/>
                  </a:moveTo>
                  <a:lnTo>
                    <a:pt x="18288" y="38100"/>
                  </a:lnTo>
                  <a:lnTo>
                    <a:pt x="19811" y="38100"/>
                  </a:lnTo>
                  <a:lnTo>
                    <a:pt x="19811" y="36576"/>
                  </a:lnTo>
                  <a:close/>
                </a:path>
                <a:path w="4389120" h="500380">
                  <a:moveTo>
                    <a:pt x="38099" y="18288"/>
                  </a:moveTo>
                  <a:lnTo>
                    <a:pt x="19811" y="18288"/>
                  </a:lnTo>
                  <a:lnTo>
                    <a:pt x="19811" y="19812"/>
                  </a:lnTo>
                  <a:lnTo>
                    <a:pt x="36575" y="19812"/>
                  </a:lnTo>
                  <a:lnTo>
                    <a:pt x="38099" y="18288"/>
                  </a:lnTo>
                  <a:close/>
                </a:path>
                <a:path w="4389120" h="500380">
                  <a:moveTo>
                    <a:pt x="4389119" y="18287"/>
                  </a:moveTo>
                  <a:lnTo>
                    <a:pt x="38100" y="18287"/>
                  </a:lnTo>
                  <a:lnTo>
                    <a:pt x="38100" y="19812"/>
                  </a:lnTo>
                  <a:lnTo>
                    <a:pt x="4351019" y="19812"/>
                  </a:lnTo>
                  <a:lnTo>
                    <a:pt x="4351019" y="18288"/>
                  </a:lnTo>
                  <a:lnTo>
                    <a:pt x="4389119" y="18288"/>
                  </a:lnTo>
                  <a:close/>
                </a:path>
                <a:path w="4389120" h="500380">
                  <a:moveTo>
                    <a:pt x="4369307" y="18288"/>
                  </a:moveTo>
                  <a:lnTo>
                    <a:pt x="4351019" y="18288"/>
                  </a:lnTo>
                  <a:lnTo>
                    <a:pt x="4352426" y="19812"/>
                  </a:lnTo>
                  <a:lnTo>
                    <a:pt x="4369307" y="19812"/>
                  </a:lnTo>
                  <a:lnTo>
                    <a:pt x="4369307" y="18288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47999" y="2590799"/>
              <a:ext cx="4349750" cy="460375"/>
            </a:xfrm>
            <a:custGeom>
              <a:avLst/>
              <a:gdLst/>
              <a:ahLst/>
              <a:cxnLst/>
              <a:rect l="l" t="t" r="r" b="b"/>
              <a:pathLst>
                <a:path w="4349750" h="460375">
                  <a:moveTo>
                    <a:pt x="4349495" y="0"/>
                  </a:moveTo>
                  <a:lnTo>
                    <a:pt x="0" y="0"/>
                  </a:lnTo>
                  <a:lnTo>
                    <a:pt x="0" y="460247"/>
                  </a:lnTo>
                  <a:lnTo>
                    <a:pt x="4349495" y="460247"/>
                  </a:lnTo>
                  <a:lnTo>
                    <a:pt x="4349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29712" y="2572511"/>
              <a:ext cx="4389120" cy="500380"/>
            </a:xfrm>
            <a:custGeom>
              <a:avLst/>
              <a:gdLst/>
              <a:ahLst/>
              <a:cxnLst/>
              <a:rect l="l" t="t" r="r" b="b"/>
              <a:pathLst>
                <a:path w="4389120" h="500380">
                  <a:moveTo>
                    <a:pt x="4389119" y="0"/>
                  </a:moveTo>
                  <a:lnTo>
                    <a:pt x="0" y="0"/>
                  </a:lnTo>
                  <a:lnTo>
                    <a:pt x="0" y="499871"/>
                  </a:lnTo>
                  <a:lnTo>
                    <a:pt x="4389119" y="499871"/>
                  </a:lnTo>
                  <a:lnTo>
                    <a:pt x="4389119" y="480060"/>
                  </a:lnTo>
                  <a:lnTo>
                    <a:pt x="38100" y="480060"/>
                  </a:lnTo>
                  <a:lnTo>
                    <a:pt x="18288" y="461771"/>
                  </a:lnTo>
                  <a:lnTo>
                    <a:pt x="38100" y="461771"/>
                  </a:lnTo>
                  <a:lnTo>
                    <a:pt x="38100" y="38100"/>
                  </a:lnTo>
                  <a:lnTo>
                    <a:pt x="18288" y="38100"/>
                  </a:lnTo>
                  <a:lnTo>
                    <a:pt x="38100" y="18287"/>
                  </a:lnTo>
                  <a:lnTo>
                    <a:pt x="4389119" y="18287"/>
                  </a:lnTo>
                  <a:lnTo>
                    <a:pt x="4389119" y="0"/>
                  </a:lnTo>
                  <a:close/>
                </a:path>
                <a:path w="4389120" h="500380">
                  <a:moveTo>
                    <a:pt x="38100" y="461771"/>
                  </a:moveTo>
                  <a:lnTo>
                    <a:pt x="18288" y="461771"/>
                  </a:lnTo>
                  <a:lnTo>
                    <a:pt x="38100" y="480060"/>
                  </a:lnTo>
                  <a:lnTo>
                    <a:pt x="38100" y="461771"/>
                  </a:lnTo>
                  <a:close/>
                </a:path>
                <a:path w="4389120" h="500380">
                  <a:moveTo>
                    <a:pt x="4351019" y="461771"/>
                  </a:moveTo>
                  <a:lnTo>
                    <a:pt x="38100" y="461771"/>
                  </a:lnTo>
                  <a:lnTo>
                    <a:pt x="38100" y="480060"/>
                  </a:lnTo>
                  <a:lnTo>
                    <a:pt x="4351019" y="480060"/>
                  </a:lnTo>
                  <a:lnTo>
                    <a:pt x="4351019" y="461771"/>
                  </a:lnTo>
                  <a:close/>
                </a:path>
                <a:path w="4389120" h="500380">
                  <a:moveTo>
                    <a:pt x="4351019" y="18287"/>
                  </a:moveTo>
                  <a:lnTo>
                    <a:pt x="4351019" y="480060"/>
                  </a:lnTo>
                  <a:lnTo>
                    <a:pt x="4369307" y="461771"/>
                  </a:lnTo>
                  <a:lnTo>
                    <a:pt x="4389119" y="461771"/>
                  </a:lnTo>
                  <a:lnTo>
                    <a:pt x="4389119" y="38100"/>
                  </a:lnTo>
                  <a:lnTo>
                    <a:pt x="4369307" y="38100"/>
                  </a:lnTo>
                  <a:lnTo>
                    <a:pt x="4351019" y="18287"/>
                  </a:lnTo>
                  <a:close/>
                </a:path>
                <a:path w="4389120" h="500380">
                  <a:moveTo>
                    <a:pt x="4389119" y="461771"/>
                  </a:moveTo>
                  <a:lnTo>
                    <a:pt x="4369307" y="461771"/>
                  </a:lnTo>
                  <a:lnTo>
                    <a:pt x="4351019" y="480060"/>
                  </a:lnTo>
                  <a:lnTo>
                    <a:pt x="4389119" y="480060"/>
                  </a:lnTo>
                  <a:lnTo>
                    <a:pt x="4389119" y="461771"/>
                  </a:lnTo>
                  <a:close/>
                </a:path>
                <a:path w="4389120" h="500380">
                  <a:moveTo>
                    <a:pt x="38100" y="18287"/>
                  </a:moveTo>
                  <a:lnTo>
                    <a:pt x="18288" y="38100"/>
                  </a:lnTo>
                  <a:lnTo>
                    <a:pt x="38100" y="38100"/>
                  </a:lnTo>
                  <a:lnTo>
                    <a:pt x="38100" y="18287"/>
                  </a:lnTo>
                  <a:close/>
                </a:path>
                <a:path w="4389120" h="500380">
                  <a:moveTo>
                    <a:pt x="4351019" y="18287"/>
                  </a:moveTo>
                  <a:lnTo>
                    <a:pt x="38100" y="18287"/>
                  </a:lnTo>
                  <a:lnTo>
                    <a:pt x="38100" y="38100"/>
                  </a:lnTo>
                  <a:lnTo>
                    <a:pt x="4351019" y="38100"/>
                  </a:lnTo>
                  <a:lnTo>
                    <a:pt x="4351019" y="18287"/>
                  </a:lnTo>
                  <a:close/>
                </a:path>
                <a:path w="4389120" h="500380">
                  <a:moveTo>
                    <a:pt x="4389119" y="18287"/>
                  </a:moveTo>
                  <a:lnTo>
                    <a:pt x="4351019" y="18287"/>
                  </a:lnTo>
                  <a:lnTo>
                    <a:pt x="4369307" y="38100"/>
                  </a:lnTo>
                  <a:lnTo>
                    <a:pt x="4389119" y="38100"/>
                  </a:lnTo>
                  <a:lnTo>
                    <a:pt x="4389119" y="18287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34242" y="919217"/>
            <a:ext cx="7967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45" dirty="0"/>
              <a:t>Noiseless</a:t>
            </a:r>
            <a:r>
              <a:rPr sz="4000" u="none" spc="-120" dirty="0"/>
              <a:t> </a:t>
            </a:r>
            <a:r>
              <a:rPr sz="4000" u="none" spc="-50" dirty="0"/>
              <a:t>Channel:</a:t>
            </a:r>
            <a:r>
              <a:rPr sz="4000" u="none" spc="-130" dirty="0"/>
              <a:t> </a:t>
            </a:r>
            <a:r>
              <a:rPr sz="4000" u="none" spc="-45" dirty="0"/>
              <a:t>Nyquist</a:t>
            </a:r>
            <a:r>
              <a:rPr sz="4000" u="none" spc="-125" dirty="0"/>
              <a:t> </a:t>
            </a:r>
            <a:r>
              <a:rPr sz="4000" u="none" spc="-35" dirty="0"/>
              <a:t>Bit</a:t>
            </a:r>
            <a:r>
              <a:rPr sz="4000" u="none" spc="-114" dirty="0"/>
              <a:t> </a:t>
            </a:r>
            <a:r>
              <a:rPr sz="4000" u="none" spc="-40" dirty="0"/>
              <a:t>Rate</a:t>
            </a:r>
            <a:endParaRPr sz="4000"/>
          </a:p>
        </p:txBody>
      </p:sp>
      <p:sp>
        <p:nvSpPr>
          <p:cNvPr id="11" name="object 11"/>
          <p:cNvSpPr txBox="1"/>
          <p:nvPr/>
        </p:nvSpPr>
        <p:spPr>
          <a:xfrm>
            <a:off x="684967" y="1644859"/>
            <a:ext cx="6750684" cy="1330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930" marR="739140" indent="-177165">
              <a:lnSpc>
                <a:spcPct val="128699"/>
              </a:lnSpc>
              <a:spcBef>
                <a:spcPts val="100"/>
              </a:spcBef>
              <a:buClr>
                <a:srgbClr val="1CACE4"/>
              </a:buClr>
              <a:buFont typeface="Arial MT"/>
              <a:buChar char="•"/>
              <a:tabLst>
                <a:tab pos="20256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Nyquist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formula defines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theoretical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maximum</a:t>
            </a:r>
            <a:r>
              <a:rPr sz="24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endParaRPr sz="2400">
              <a:latin typeface="Calibri"/>
              <a:cs typeface="Calibri"/>
            </a:endParaRPr>
          </a:p>
          <a:p>
            <a:pPr marL="2454275">
              <a:lnSpc>
                <a:spcPts val="2860"/>
              </a:lnSpc>
            </a:pPr>
            <a:r>
              <a:rPr sz="2400" spc="-5" dirty="0">
                <a:solidFill>
                  <a:srgbClr val="0070BF"/>
                </a:solidFill>
                <a:latin typeface="Times New Roman"/>
                <a:cs typeface="Times New Roman"/>
              </a:rPr>
              <a:t>Bit </a:t>
            </a:r>
            <a:r>
              <a:rPr sz="2400" spc="-10" dirty="0">
                <a:solidFill>
                  <a:srgbClr val="0070BF"/>
                </a:solidFill>
                <a:latin typeface="Times New Roman"/>
                <a:cs typeface="Times New Roman"/>
              </a:rPr>
              <a:t>Rate</a:t>
            </a:r>
            <a:r>
              <a:rPr sz="2400" spc="-5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70BF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70BF"/>
                </a:solidFill>
                <a:latin typeface="Times New Roman"/>
                <a:cs typeface="Times New Roman"/>
              </a:rPr>
              <a:t>2</a:t>
            </a:r>
            <a:r>
              <a:rPr sz="2400" spc="-20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70BF"/>
                </a:solidFill>
                <a:latin typeface="Times New Roman"/>
                <a:cs typeface="Times New Roman"/>
              </a:rPr>
              <a:t>×</a:t>
            </a:r>
            <a:r>
              <a:rPr sz="2400" spc="-15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70BF"/>
                </a:solidFill>
                <a:latin typeface="Times New Roman"/>
                <a:cs typeface="Times New Roman"/>
              </a:rPr>
              <a:t>Bandwidth </a:t>
            </a:r>
            <a:r>
              <a:rPr sz="2400" dirty="0">
                <a:solidFill>
                  <a:srgbClr val="0070BF"/>
                </a:solidFill>
                <a:latin typeface="Times New Roman"/>
                <a:cs typeface="Times New Roman"/>
              </a:rPr>
              <a:t>×</a:t>
            </a:r>
            <a:r>
              <a:rPr sz="2400" spc="-15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70BF"/>
                </a:solidFill>
                <a:latin typeface="Times New Roman"/>
                <a:cs typeface="Times New Roman"/>
              </a:rPr>
              <a:t>log</a:t>
            </a:r>
            <a:r>
              <a:rPr sz="2400" baseline="-20833" dirty="0">
                <a:solidFill>
                  <a:srgbClr val="0070BF"/>
                </a:solidFill>
                <a:latin typeface="Times New Roman"/>
                <a:cs typeface="Times New Roman"/>
              </a:rPr>
              <a:t>2</a:t>
            </a:r>
            <a:r>
              <a:rPr sz="2400" i="1" dirty="0">
                <a:solidFill>
                  <a:srgbClr val="0070B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1695" y="3048462"/>
            <a:ext cx="5743575" cy="970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channel</a:t>
            </a:r>
            <a:endParaRPr sz="2000">
              <a:latin typeface="Calibri"/>
              <a:cs typeface="Calibri"/>
            </a:endParaRPr>
          </a:p>
          <a:p>
            <a:pPr marL="195580" indent="-182880">
              <a:lnSpc>
                <a:spcPct val="100000"/>
              </a:lnSpc>
              <a:spcBef>
                <a:spcPts val="120"/>
              </a:spcBef>
              <a:buClr>
                <a:srgbClr val="1CACE4"/>
              </a:buClr>
              <a:buFont typeface="Calibri"/>
              <a:buChar char="◦"/>
              <a:tabLst>
                <a:tab pos="195580" algn="l"/>
              </a:tabLst>
            </a:pPr>
            <a:r>
              <a:rPr sz="2000" i="1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0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20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r>
              <a:rPr sz="20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used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represent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195580" indent="-182880">
              <a:lnSpc>
                <a:spcPct val="100000"/>
              </a:lnSpc>
              <a:spcBef>
                <a:spcPts val="120"/>
              </a:spcBef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BitRate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bit 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second.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27263" y="3145027"/>
            <a:ext cx="11868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libri"/>
                <a:cs typeface="Calibri"/>
              </a:rPr>
              <a:t>Harry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Nyquist </a:t>
            </a:r>
            <a:r>
              <a:rPr sz="1600" b="1" spc="-3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(1889-1976)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15" name="object 1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97667" y="4121358"/>
            <a:ext cx="8569960" cy="24136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89230" marR="924560" indent="-177165">
              <a:lnSpc>
                <a:spcPts val="2300"/>
              </a:lnSpc>
              <a:spcBef>
                <a:spcPts val="66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theoretically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,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given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specific bandwidth,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any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calculated</a:t>
            </a:r>
            <a:r>
              <a:rPr sz="24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increasing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number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ts val="2845"/>
              </a:lnSpc>
              <a:spcBef>
                <a:spcPts val="85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Practically</a:t>
            </a:r>
            <a:r>
              <a:rPr sz="24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there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limit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ts val="236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Increase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signal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levels,</a:t>
            </a:r>
            <a:r>
              <a:rPr sz="20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burden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receiver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imposed</a:t>
            </a:r>
            <a:endParaRPr sz="20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26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15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 number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r>
              <a:rPr sz="15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in a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15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5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just</a:t>
            </a:r>
            <a:r>
              <a:rPr sz="15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2,</a:t>
            </a:r>
            <a:r>
              <a:rPr sz="15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receiver</a:t>
            </a:r>
            <a:r>
              <a:rPr sz="15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easily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distinguish</a:t>
            </a:r>
            <a:r>
              <a:rPr sz="15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15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5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a 1</a:t>
            </a:r>
            <a:endParaRPr sz="1500">
              <a:latin typeface="Calibri"/>
              <a:cs typeface="Calibri"/>
            </a:endParaRPr>
          </a:p>
          <a:p>
            <a:pPr marL="640080" marR="5080" lvl="2" indent="-182880">
              <a:lnSpc>
                <a:spcPts val="1440"/>
              </a:lnSpc>
              <a:spcBef>
                <a:spcPts val="59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level</a:t>
            </a:r>
            <a:r>
              <a:rPr sz="15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5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64,</a:t>
            </a:r>
            <a:r>
              <a:rPr sz="15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receiver</a:t>
            </a:r>
            <a:r>
              <a:rPr sz="15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must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very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sophisticated</a:t>
            </a:r>
            <a:r>
              <a:rPr sz="15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distinguish</a:t>
            </a:r>
            <a:r>
              <a:rPr sz="15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1500" spc="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64</a:t>
            </a:r>
            <a:r>
              <a:rPr sz="15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different </a:t>
            </a:r>
            <a:r>
              <a:rPr sz="1500" spc="-3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levels.</a:t>
            </a:r>
            <a:endParaRPr sz="1500">
              <a:latin typeface="Calibri"/>
              <a:cs typeface="Calibri"/>
            </a:endParaRPr>
          </a:p>
          <a:p>
            <a:pPr marL="817244" lvl="3" indent="-183515">
              <a:lnSpc>
                <a:spcPct val="100000"/>
              </a:lnSpc>
              <a:spcBef>
                <a:spcPts val="250"/>
              </a:spcBef>
              <a:buClr>
                <a:srgbClr val="1CACE4"/>
              </a:buClr>
              <a:buChar char="◦"/>
              <a:tabLst>
                <a:tab pos="817880" algn="l"/>
              </a:tabLst>
            </a:pP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increasing</a:t>
            </a:r>
            <a:r>
              <a:rPr sz="15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levels</a:t>
            </a:r>
            <a:r>
              <a:rPr sz="15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15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reduces</a:t>
            </a:r>
            <a:r>
              <a:rPr sz="15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reliability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5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system.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919217"/>
            <a:ext cx="7967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45" dirty="0"/>
              <a:t>Noiseless</a:t>
            </a:r>
            <a:r>
              <a:rPr sz="4000" u="none" spc="-120" dirty="0"/>
              <a:t> </a:t>
            </a:r>
            <a:r>
              <a:rPr sz="4000" u="none" spc="-50" dirty="0"/>
              <a:t>Channel:</a:t>
            </a:r>
            <a:r>
              <a:rPr sz="4000" u="none" spc="-130" dirty="0"/>
              <a:t> </a:t>
            </a:r>
            <a:r>
              <a:rPr sz="4000" u="none" spc="-45" dirty="0"/>
              <a:t>Nyquist</a:t>
            </a:r>
            <a:r>
              <a:rPr sz="4000" u="none" spc="-125" dirty="0"/>
              <a:t> </a:t>
            </a:r>
            <a:r>
              <a:rPr sz="4000" u="none" spc="-35" dirty="0"/>
              <a:t>Bit</a:t>
            </a:r>
            <a:r>
              <a:rPr sz="4000" u="none" spc="-114" dirty="0"/>
              <a:t> </a:t>
            </a:r>
            <a:r>
              <a:rPr sz="4000" u="none" spc="-40" dirty="0"/>
              <a:t>Rate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97667" y="1769826"/>
            <a:ext cx="8549005" cy="309499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Does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Nyquist</a:t>
            </a:r>
            <a:r>
              <a:rPr sz="28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theorem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agree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intuitive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described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baseband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transmission?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They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match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when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only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levels.</a:t>
            </a:r>
            <a:endParaRPr sz="2400">
              <a:latin typeface="Calibri"/>
              <a:cs typeface="Calibri"/>
            </a:endParaRPr>
          </a:p>
          <a:p>
            <a:pPr marL="419100" marR="106680" lvl="1" indent="-182880">
              <a:lnSpc>
                <a:spcPts val="2590"/>
              </a:lnSpc>
              <a:spcBef>
                <a:spcPts val="64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baseband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transmission,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bit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2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times the bandwidth if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first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harmonic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the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worst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case</a:t>
            </a:r>
            <a:endParaRPr sz="2400">
              <a:latin typeface="Calibri"/>
              <a:cs typeface="Calibri"/>
            </a:endParaRPr>
          </a:p>
          <a:p>
            <a:pPr marL="419100" marR="59055" lvl="1" indent="-182880">
              <a:lnSpc>
                <a:spcPts val="2590"/>
              </a:lnSpc>
              <a:spcBef>
                <a:spcPts val="6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However,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Nyquist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formula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more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general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be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applied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baseband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27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be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applied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when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more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signals.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919217"/>
            <a:ext cx="7967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45" dirty="0"/>
              <a:t>Noiseless</a:t>
            </a:r>
            <a:r>
              <a:rPr sz="4000" u="none" spc="-120" dirty="0"/>
              <a:t> </a:t>
            </a:r>
            <a:r>
              <a:rPr sz="4000" u="none" spc="-50" dirty="0"/>
              <a:t>Channel:</a:t>
            </a:r>
            <a:r>
              <a:rPr sz="4000" u="none" spc="-130" dirty="0"/>
              <a:t> </a:t>
            </a:r>
            <a:r>
              <a:rPr sz="4000" u="none" spc="-45" dirty="0"/>
              <a:t>Nyquist</a:t>
            </a:r>
            <a:r>
              <a:rPr sz="4000" u="none" spc="-125" dirty="0"/>
              <a:t> </a:t>
            </a:r>
            <a:r>
              <a:rPr sz="4000" u="none" spc="-35" dirty="0"/>
              <a:t>Bit</a:t>
            </a:r>
            <a:r>
              <a:rPr sz="4000" u="none" spc="-114" dirty="0"/>
              <a:t> </a:t>
            </a:r>
            <a:r>
              <a:rPr sz="4000" u="none" spc="-40" dirty="0"/>
              <a:t>Rate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2686811" y="3220720"/>
            <a:ext cx="4460875" cy="464820"/>
            <a:chOff x="2686811" y="3220720"/>
            <a:chExt cx="4460875" cy="4648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200" y="3282696"/>
              <a:ext cx="4349495" cy="3474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86799" y="3220719"/>
              <a:ext cx="4460875" cy="464820"/>
            </a:xfrm>
            <a:custGeom>
              <a:avLst/>
              <a:gdLst/>
              <a:ahLst/>
              <a:cxnLst/>
              <a:rect l="l" t="t" r="r" b="b"/>
              <a:pathLst>
                <a:path w="4460875" h="464820">
                  <a:moveTo>
                    <a:pt x="4415028" y="45720"/>
                  </a:moveTo>
                  <a:lnTo>
                    <a:pt x="4404360" y="45720"/>
                  </a:lnTo>
                  <a:lnTo>
                    <a:pt x="4404360" y="55880"/>
                  </a:lnTo>
                  <a:lnTo>
                    <a:pt x="4404360" y="407670"/>
                  </a:lnTo>
                  <a:lnTo>
                    <a:pt x="56388" y="407670"/>
                  </a:lnTo>
                  <a:lnTo>
                    <a:pt x="56388" y="55880"/>
                  </a:lnTo>
                  <a:lnTo>
                    <a:pt x="4404360" y="55880"/>
                  </a:lnTo>
                  <a:lnTo>
                    <a:pt x="4404360" y="45720"/>
                  </a:lnTo>
                  <a:lnTo>
                    <a:pt x="45720" y="45720"/>
                  </a:lnTo>
                  <a:lnTo>
                    <a:pt x="45720" y="55880"/>
                  </a:lnTo>
                  <a:lnTo>
                    <a:pt x="45720" y="407670"/>
                  </a:lnTo>
                  <a:lnTo>
                    <a:pt x="45720" y="419100"/>
                  </a:lnTo>
                  <a:lnTo>
                    <a:pt x="4415028" y="419100"/>
                  </a:lnTo>
                  <a:lnTo>
                    <a:pt x="4415028" y="407924"/>
                  </a:lnTo>
                  <a:lnTo>
                    <a:pt x="4415028" y="407670"/>
                  </a:lnTo>
                  <a:lnTo>
                    <a:pt x="4415028" y="55880"/>
                  </a:lnTo>
                  <a:lnTo>
                    <a:pt x="4415028" y="45720"/>
                  </a:lnTo>
                  <a:close/>
                </a:path>
                <a:path w="4460875" h="464820">
                  <a:moveTo>
                    <a:pt x="4460748" y="0"/>
                  </a:moveTo>
                  <a:lnTo>
                    <a:pt x="4427220" y="0"/>
                  </a:lnTo>
                  <a:lnTo>
                    <a:pt x="4427220" y="33020"/>
                  </a:lnTo>
                  <a:lnTo>
                    <a:pt x="4427220" y="430530"/>
                  </a:lnTo>
                  <a:lnTo>
                    <a:pt x="33528" y="430530"/>
                  </a:lnTo>
                  <a:lnTo>
                    <a:pt x="33528" y="33020"/>
                  </a:lnTo>
                  <a:lnTo>
                    <a:pt x="4427220" y="33020"/>
                  </a:lnTo>
                  <a:lnTo>
                    <a:pt x="4427220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430530"/>
                  </a:lnTo>
                  <a:lnTo>
                    <a:pt x="0" y="464820"/>
                  </a:lnTo>
                  <a:lnTo>
                    <a:pt x="4460748" y="464820"/>
                  </a:lnTo>
                  <a:lnTo>
                    <a:pt x="4460748" y="430784"/>
                  </a:lnTo>
                  <a:lnTo>
                    <a:pt x="4460748" y="430530"/>
                  </a:lnTo>
                  <a:lnTo>
                    <a:pt x="4460748" y="33020"/>
                  </a:lnTo>
                  <a:lnTo>
                    <a:pt x="4460748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7667" y="1769826"/>
            <a:ext cx="8562340" cy="33813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Consider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noiseless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3000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Hz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transmitting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levels.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maximum</a:t>
            </a: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calculated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1CACE4"/>
              </a:buClr>
              <a:buFont typeface="Calibri"/>
              <a:buChar char="◦"/>
            </a:pP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1CACE4"/>
              </a:buClr>
              <a:buFont typeface="Calibri"/>
              <a:buChar char="◦"/>
            </a:pPr>
            <a:endParaRPr sz="2400">
              <a:latin typeface="Calibri"/>
              <a:cs typeface="Calibri"/>
            </a:endParaRPr>
          </a:p>
          <a:p>
            <a:pPr marL="189230" marR="75565" indent="-177165">
              <a:lnSpc>
                <a:spcPts val="3020"/>
              </a:lnSpc>
              <a:spcBef>
                <a:spcPts val="214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Consider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same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noiseless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transmitting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four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(for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each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level,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bits).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0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maximum</a:t>
            </a: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calculated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9" name="object 9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229611" y="5201920"/>
            <a:ext cx="5684520" cy="482600"/>
            <a:chOff x="2229611" y="5201920"/>
            <a:chExt cx="5684520" cy="4826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0" y="5257799"/>
              <a:ext cx="5573267" cy="37033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29599" y="5201919"/>
              <a:ext cx="5684520" cy="482600"/>
            </a:xfrm>
            <a:custGeom>
              <a:avLst/>
              <a:gdLst/>
              <a:ahLst/>
              <a:cxnLst/>
              <a:rect l="l" t="t" r="r" b="b"/>
              <a:pathLst>
                <a:path w="5684520" h="482600">
                  <a:moveTo>
                    <a:pt x="5638800" y="45720"/>
                  </a:moveTo>
                  <a:lnTo>
                    <a:pt x="5628132" y="45720"/>
                  </a:lnTo>
                  <a:lnTo>
                    <a:pt x="5628132" y="55880"/>
                  </a:lnTo>
                  <a:lnTo>
                    <a:pt x="5628132" y="424180"/>
                  </a:lnTo>
                  <a:lnTo>
                    <a:pt x="56388" y="424180"/>
                  </a:lnTo>
                  <a:lnTo>
                    <a:pt x="56388" y="55880"/>
                  </a:lnTo>
                  <a:lnTo>
                    <a:pt x="5628132" y="55880"/>
                  </a:lnTo>
                  <a:lnTo>
                    <a:pt x="5628132" y="45720"/>
                  </a:lnTo>
                  <a:lnTo>
                    <a:pt x="45720" y="45720"/>
                  </a:lnTo>
                  <a:lnTo>
                    <a:pt x="45720" y="55880"/>
                  </a:lnTo>
                  <a:lnTo>
                    <a:pt x="45720" y="424180"/>
                  </a:lnTo>
                  <a:lnTo>
                    <a:pt x="45720" y="436880"/>
                  </a:lnTo>
                  <a:lnTo>
                    <a:pt x="5638800" y="436880"/>
                  </a:lnTo>
                  <a:lnTo>
                    <a:pt x="5638800" y="424688"/>
                  </a:lnTo>
                  <a:lnTo>
                    <a:pt x="5638800" y="424180"/>
                  </a:lnTo>
                  <a:lnTo>
                    <a:pt x="5638800" y="55880"/>
                  </a:lnTo>
                  <a:lnTo>
                    <a:pt x="5638800" y="45720"/>
                  </a:lnTo>
                  <a:close/>
                </a:path>
                <a:path w="5684520" h="482600">
                  <a:moveTo>
                    <a:pt x="5684520" y="0"/>
                  </a:moveTo>
                  <a:lnTo>
                    <a:pt x="5650992" y="0"/>
                  </a:lnTo>
                  <a:lnTo>
                    <a:pt x="5650992" y="33020"/>
                  </a:lnTo>
                  <a:lnTo>
                    <a:pt x="5650992" y="447040"/>
                  </a:lnTo>
                  <a:lnTo>
                    <a:pt x="33528" y="447040"/>
                  </a:lnTo>
                  <a:lnTo>
                    <a:pt x="33528" y="33020"/>
                  </a:lnTo>
                  <a:lnTo>
                    <a:pt x="5650992" y="33020"/>
                  </a:lnTo>
                  <a:lnTo>
                    <a:pt x="5650992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447040"/>
                  </a:lnTo>
                  <a:lnTo>
                    <a:pt x="0" y="482600"/>
                  </a:lnTo>
                  <a:lnTo>
                    <a:pt x="5684520" y="482600"/>
                  </a:lnTo>
                  <a:lnTo>
                    <a:pt x="5684520" y="447548"/>
                  </a:lnTo>
                  <a:lnTo>
                    <a:pt x="5684520" y="447040"/>
                  </a:lnTo>
                  <a:lnTo>
                    <a:pt x="5684520" y="33020"/>
                  </a:lnTo>
                  <a:lnTo>
                    <a:pt x="5684520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919217"/>
            <a:ext cx="7967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45" dirty="0"/>
              <a:t>Noiseless</a:t>
            </a:r>
            <a:r>
              <a:rPr sz="4000" u="none" spc="-120" dirty="0"/>
              <a:t> </a:t>
            </a:r>
            <a:r>
              <a:rPr sz="4000" u="none" spc="-50" dirty="0"/>
              <a:t>Channel:</a:t>
            </a:r>
            <a:r>
              <a:rPr sz="4000" u="none" spc="-130" dirty="0"/>
              <a:t> </a:t>
            </a:r>
            <a:r>
              <a:rPr sz="4000" u="none" spc="-45" dirty="0"/>
              <a:t>Nyquist</a:t>
            </a:r>
            <a:r>
              <a:rPr sz="4000" u="none" spc="-125" dirty="0"/>
              <a:t> </a:t>
            </a:r>
            <a:r>
              <a:rPr sz="4000" u="none" spc="-35" dirty="0"/>
              <a:t>Bit</a:t>
            </a:r>
            <a:r>
              <a:rPr sz="4000" u="none" spc="-114" dirty="0"/>
              <a:t> </a:t>
            </a:r>
            <a:r>
              <a:rPr sz="4000" u="none" spc="-40" dirty="0"/>
              <a:t>Rate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97667" y="1769826"/>
            <a:ext cx="8621395" cy="12204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6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need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265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kbps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over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noiseless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kHz.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How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many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do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need?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use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Nyquist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formula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shown: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34411" y="3220720"/>
            <a:ext cx="5541645" cy="869950"/>
            <a:chOff x="2534411" y="3220720"/>
            <a:chExt cx="5541645" cy="869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6895" y="3282696"/>
              <a:ext cx="5423915" cy="6050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34399" y="3220719"/>
              <a:ext cx="5541645" cy="667385"/>
            </a:xfrm>
            <a:custGeom>
              <a:avLst/>
              <a:gdLst/>
              <a:ahLst/>
              <a:cxnLst/>
              <a:rect l="l" t="t" r="r" b="b"/>
              <a:pathLst>
                <a:path w="5541645" h="667385">
                  <a:moveTo>
                    <a:pt x="5495544" y="45720"/>
                  </a:moveTo>
                  <a:lnTo>
                    <a:pt x="45720" y="45720"/>
                  </a:lnTo>
                  <a:lnTo>
                    <a:pt x="45720" y="55880"/>
                  </a:lnTo>
                  <a:lnTo>
                    <a:pt x="45720" y="666750"/>
                  </a:lnTo>
                  <a:lnTo>
                    <a:pt x="56388" y="666750"/>
                  </a:lnTo>
                  <a:lnTo>
                    <a:pt x="56388" y="55880"/>
                  </a:lnTo>
                  <a:lnTo>
                    <a:pt x="5484876" y="55880"/>
                  </a:lnTo>
                  <a:lnTo>
                    <a:pt x="5484876" y="667004"/>
                  </a:lnTo>
                  <a:lnTo>
                    <a:pt x="5495544" y="667004"/>
                  </a:lnTo>
                  <a:lnTo>
                    <a:pt x="5495544" y="55880"/>
                  </a:lnTo>
                  <a:lnTo>
                    <a:pt x="5495544" y="45720"/>
                  </a:lnTo>
                  <a:close/>
                </a:path>
                <a:path w="5541645" h="667385">
                  <a:moveTo>
                    <a:pt x="5541264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666750"/>
                  </a:lnTo>
                  <a:lnTo>
                    <a:pt x="33528" y="666750"/>
                  </a:lnTo>
                  <a:lnTo>
                    <a:pt x="33528" y="33020"/>
                  </a:lnTo>
                  <a:lnTo>
                    <a:pt x="5507736" y="33020"/>
                  </a:lnTo>
                  <a:lnTo>
                    <a:pt x="5507736" y="667004"/>
                  </a:lnTo>
                  <a:lnTo>
                    <a:pt x="5541264" y="667004"/>
                  </a:lnTo>
                  <a:lnTo>
                    <a:pt x="5541264" y="33020"/>
                  </a:lnTo>
                  <a:lnTo>
                    <a:pt x="5541264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6895" y="3886200"/>
              <a:ext cx="5423915" cy="1478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34399" y="3886199"/>
              <a:ext cx="5541645" cy="204470"/>
            </a:xfrm>
            <a:custGeom>
              <a:avLst/>
              <a:gdLst/>
              <a:ahLst/>
              <a:cxnLst/>
              <a:rect l="l" t="t" r="r" b="b"/>
              <a:pathLst>
                <a:path w="5541645" h="204470">
                  <a:moveTo>
                    <a:pt x="5495544" y="0"/>
                  </a:moveTo>
                  <a:lnTo>
                    <a:pt x="5484876" y="0"/>
                  </a:lnTo>
                  <a:lnTo>
                    <a:pt x="5484876" y="146050"/>
                  </a:lnTo>
                  <a:lnTo>
                    <a:pt x="56388" y="146050"/>
                  </a:lnTo>
                  <a:lnTo>
                    <a:pt x="56388" y="0"/>
                  </a:lnTo>
                  <a:lnTo>
                    <a:pt x="45720" y="0"/>
                  </a:lnTo>
                  <a:lnTo>
                    <a:pt x="45720" y="146050"/>
                  </a:lnTo>
                  <a:lnTo>
                    <a:pt x="45720" y="158750"/>
                  </a:lnTo>
                  <a:lnTo>
                    <a:pt x="5495544" y="158750"/>
                  </a:lnTo>
                  <a:lnTo>
                    <a:pt x="5495544" y="146304"/>
                  </a:lnTo>
                  <a:lnTo>
                    <a:pt x="5495544" y="146050"/>
                  </a:lnTo>
                  <a:lnTo>
                    <a:pt x="5495544" y="0"/>
                  </a:lnTo>
                  <a:close/>
                </a:path>
                <a:path w="5541645" h="204470">
                  <a:moveTo>
                    <a:pt x="5541264" y="0"/>
                  </a:moveTo>
                  <a:lnTo>
                    <a:pt x="5507736" y="0"/>
                  </a:lnTo>
                  <a:lnTo>
                    <a:pt x="5507736" y="168910"/>
                  </a:lnTo>
                  <a:lnTo>
                    <a:pt x="33528" y="168910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68910"/>
                  </a:lnTo>
                  <a:lnTo>
                    <a:pt x="0" y="204470"/>
                  </a:lnTo>
                  <a:lnTo>
                    <a:pt x="5541264" y="204470"/>
                  </a:lnTo>
                  <a:lnTo>
                    <a:pt x="5541264" y="169164"/>
                  </a:lnTo>
                  <a:lnTo>
                    <a:pt x="5541264" y="168910"/>
                  </a:lnTo>
                  <a:lnTo>
                    <a:pt x="5541264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11" name="object 11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1695" y="4220419"/>
            <a:ext cx="8338820" cy="13716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>
              <a:lnSpc>
                <a:spcPts val="2590"/>
              </a:lnSpc>
              <a:spcBef>
                <a:spcPts val="425"/>
              </a:spcBef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Since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result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(L)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power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2,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need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either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increase </a:t>
            </a:r>
            <a:r>
              <a:rPr sz="2400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levels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or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reduce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endParaRPr sz="2400">
              <a:latin typeface="Calibri"/>
              <a:cs typeface="Calibri"/>
            </a:endParaRPr>
          </a:p>
          <a:p>
            <a:pPr marL="416559" lvl="1" indent="-182880">
              <a:lnSpc>
                <a:spcPct val="100000"/>
              </a:lnSpc>
              <a:spcBef>
                <a:spcPts val="385"/>
              </a:spcBef>
              <a:buClr>
                <a:srgbClr val="1CACE4"/>
              </a:buClr>
              <a:buChar char="◦"/>
              <a:tabLst>
                <a:tab pos="416559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128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levels,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280 kbps</a:t>
            </a:r>
            <a:endParaRPr sz="1800">
              <a:latin typeface="Calibri"/>
              <a:cs typeface="Calibri"/>
            </a:endParaRPr>
          </a:p>
          <a:p>
            <a:pPr marL="416559" lvl="1" indent="-182880">
              <a:lnSpc>
                <a:spcPct val="100000"/>
              </a:lnSpc>
              <a:spcBef>
                <a:spcPts val="385"/>
              </a:spcBef>
              <a:buClr>
                <a:srgbClr val="1CACE4"/>
              </a:buClr>
              <a:buChar char="◦"/>
              <a:tabLst>
                <a:tab pos="416559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64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levels,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240 kbps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893308"/>
            <a:ext cx="79108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45" dirty="0"/>
              <a:t>Noisy</a:t>
            </a:r>
            <a:r>
              <a:rPr sz="4000" u="none" spc="-114" dirty="0"/>
              <a:t> </a:t>
            </a:r>
            <a:r>
              <a:rPr sz="4000" u="none" spc="-50" dirty="0"/>
              <a:t>Channel:</a:t>
            </a:r>
            <a:r>
              <a:rPr sz="4000" u="none" spc="-100" dirty="0"/>
              <a:t> </a:t>
            </a:r>
            <a:r>
              <a:rPr sz="4000" i="1" u="none" spc="-50" dirty="0">
                <a:latin typeface="Arial"/>
                <a:cs typeface="Arial"/>
              </a:rPr>
              <a:t>Shannon's</a:t>
            </a:r>
            <a:r>
              <a:rPr sz="4000" i="1" u="none" spc="-105" dirty="0">
                <a:latin typeface="Arial"/>
                <a:cs typeface="Arial"/>
              </a:rPr>
              <a:t> </a:t>
            </a:r>
            <a:r>
              <a:rPr sz="4000" i="1" u="none" spc="-45" dirty="0">
                <a:latin typeface="Arial"/>
                <a:cs typeface="Arial"/>
              </a:rPr>
              <a:t>Capacity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4699" y="3334511"/>
            <a:ext cx="5372100" cy="500380"/>
          </a:xfrm>
          <a:custGeom>
            <a:avLst/>
            <a:gdLst/>
            <a:ahLst/>
            <a:cxnLst/>
            <a:rect l="l" t="t" r="r" b="b"/>
            <a:pathLst>
              <a:path w="5372100" h="500379">
                <a:moveTo>
                  <a:pt x="5372100" y="0"/>
                </a:moveTo>
                <a:lnTo>
                  <a:pt x="5334000" y="0"/>
                </a:lnTo>
                <a:lnTo>
                  <a:pt x="5334000" y="38100"/>
                </a:lnTo>
                <a:lnTo>
                  <a:pt x="5334000" y="461772"/>
                </a:lnTo>
                <a:lnTo>
                  <a:pt x="38100" y="461772"/>
                </a:lnTo>
                <a:lnTo>
                  <a:pt x="38100" y="38100"/>
                </a:lnTo>
                <a:lnTo>
                  <a:pt x="5334000" y="38100"/>
                </a:lnTo>
                <a:lnTo>
                  <a:pt x="5334000" y="0"/>
                </a:lnTo>
                <a:lnTo>
                  <a:pt x="0" y="0"/>
                </a:lnTo>
                <a:lnTo>
                  <a:pt x="0" y="499872"/>
                </a:lnTo>
                <a:lnTo>
                  <a:pt x="5372100" y="499872"/>
                </a:lnTo>
                <a:lnTo>
                  <a:pt x="5372100" y="480060"/>
                </a:lnTo>
                <a:lnTo>
                  <a:pt x="5372100" y="461772"/>
                </a:lnTo>
                <a:lnTo>
                  <a:pt x="5372100" y="38100"/>
                </a:lnTo>
                <a:lnTo>
                  <a:pt x="5372100" y="18288"/>
                </a:lnTo>
                <a:lnTo>
                  <a:pt x="5372100" y="0"/>
                </a:lnTo>
                <a:close/>
              </a:path>
            </a:pathLst>
          </a:custGeom>
          <a:solidFill>
            <a:srgbClr val="B16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3963" y="1644859"/>
            <a:ext cx="5475605" cy="20929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925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reality,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always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noisy.</a:t>
            </a:r>
            <a:endParaRPr sz="2400">
              <a:latin typeface="Calibri"/>
              <a:cs typeface="Calibri"/>
            </a:endParaRPr>
          </a:p>
          <a:p>
            <a:pPr marL="214629" indent="-177165">
              <a:lnSpc>
                <a:spcPts val="2845"/>
              </a:lnSpc>
              <a:spcBef>
                <a:spcPts val="830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Claude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Shannon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introduced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formula</a:t>
            </a:r>
            <a:endParaRPr sz="2400">
              <a:latin typeface="Calibri"/>
              <a:cs typeface="Calibri"/>
            </a:endParaRPr>
          </a:p>
          <a:p>
            <a:pPr marL="444500" lvl="1" indent="-183515">
              <a:lnSpc>
                <a:spcPts val="2365"/>
              </a:lnSpc>
              <a:buClr>
                <a:srgbClr val="1CACE4"/>
              </a:buClr>
              <a:buChar char="◦"/>
              <a:tabLst>
                <a:tab pos="445134" algn="l"/>
              </a:tabLst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determine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theoretical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highest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431165">
              <a:lnSpc>
                <a:spcPct val="100000"/>
              </a:lnSpc>
              <a:spcBef>
                <a:spcPts val="120"/>
              </a:spcBef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noisy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channel: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Shannon's</a:t>
            </a:r>
            <a:r>
              <a:rPr sz="2000" i="1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endParaRPr sz="2000">
              <a:latin typeface="Calibri"/>
              <a:cs typeface="Calibri"/>
            </a:endParaRPr>
          </a:p>
          <a:p>
            <a:pPr marL="721995" algn="ctr">
              <a:lnSpc>
                <a:spcPct val="100000"/>
              </a:lnSpc>
              <a:spcBef>
                <a:spcPts val="1130"/>
              </a:spcBef>
            </a:pPr>
            <a:r>
              <a:rPr sz="2400" spc="-5" dirty="0">
                <a:solidFill>
                  <a:srgbClr val="0070BF"/>
                </a:solidFill>
                <a:latin typeface="Times New Roman"/>
                <a:cs typeface="Times New Roman"/>
              </a:rPr>
              <a:t>Capacity </a:t>
            </a:r>
            <a:r>
              <a:rPr sz="2400" dirty="0">
                <a:solidFill>
                  <a:srgbClr val="0070BF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70BF"/>
                </a:solidFill>
                <a:latin typeface="Times New Roman"/>
                <a:cs typeface="Times New Roman"/>
              </a:rPr>
              <a:t>Bandwidth</a:t>
            </a:r>
            <a:r>
              <a:rPr sz="2400" spc="-10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70BF"/>
                </a:solidFill>
                <a:latin typeface="Times New Roman"/>
                <a:cs typeface="Times New Roman"/>
              </a:rPr>
              <a:t>×</a:t>
            </a:r>
            <a:r>
              <a:rPr sz="2400" spc="-15" dirty="0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70BF"/>
                </a:solidFill>
                <a:latin typeface="Times New Roman"/>
                <a:cs typeface="Times New Roman"/>
              </a:rPr>
              <a:t>log</a:t>
            </a:r>
            <a:r>
              <a:rPr sz="2400" spc="-7" baseline="-20833" dirty="0">
                <a:solidFill>
                  <a:srgbClr val="0070BF"/>
                </a:solidFill>
                <a:latin typeface="Times New Roman"/>
                <a:cs typeface="Times New Roman"/>
              </a:rPr>
              <a:t>2</a:t>
            </a:r>
            <a:r>
              <a:rPr sz="2400" spc="-5" dirty="0">
                <a:solidFill>
                  <a:srgbClr val="0070BF"/>
                </a:solidFill>
                <a:latin typeface="Times New Roman"/>
                <a:cs typeface="Times New Roman"/>
              </a:rPr>
              <a:t>(1+SNR)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67600" y="1752600"/>
            <a:ext cx="1781810" cy="2514600"/>
            <a:chOff x="7467600" y="1752600"/>
            <a:chExt cx="1781810" cy="25146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7600" y="1752600"/>
              <a:ext cx="1781555" cy="2514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7600" y="3886200"/>
              <a:ext cx="1781555" cy="3810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10" name="object 10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3391" y="4157934"/>
            <a:ext cx="6005195" cy="970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(Hz)</a:t>
            </a:r>
            <a:endParaRPr sz="2000">
              <a:latin typeface="Calibri"/>
              <a:cs typeface="Calibri"/>
            </a:endParaRPr>
          </a:p>
          <a:p>
            <a:pPr marL="195580" indent="-182880">
              <a:lnSpc>
                <a:spcPct val="100000"/>
              </a:lnSpc>
              <a:spcBef>
                <a:spcPts val="114"/>
              </a:spcBef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SNR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signal-to-noise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ratio</a:t>
            </a:r>
            <a:endParaRPr sz="2000">
              <a:latin typeface="Calibri"/>
              <a:cs typeface="Calibri"/>
            </a:endParaRPr>
          </a:p>
          <a:p>
            <a:pPr marL="195580" indent="-182880">
              <a:lnSpc>
                <a:spcPct val="100000"/>
              </a:lnSpc>
              <a:spcBef>
                <a:spcPts val="120"/>
              </a:spcBef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channel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second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35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499363" y="5232355"/>
            <a:ext cx="8886190" cy="1445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89230" marR="5080" indent="-177165">
              <a:lnSpc>
                <a:spcPct val="80000"/>
              </a:lnSpc>
              <a:spcBef>
                <a:spcPts val="67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No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indication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the signal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level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- means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that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no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matter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how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many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levels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we have, we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cannot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achieve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data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higher than the capacity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channel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81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characteristic</a:t>
            </a:r>
            <a:r>
              <a:rPr sz="24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the channel,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method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28490" y="4316602"/>
            <a:ext cx="20574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5780" marR="5080" indent="-51371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libri"/>
                <a:cs typeface="Calibri"/>
              </a:rPr>
              <a:t>Claude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Elwood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Shannon </a:t>
            </a:r>
            <a:r>
              <a:rPr sz="1600" b="1" spc="-3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(1916-2001)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856733"/>
            <a:ext cx="80645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spc="-40" dirty="0"/>
              <a:t>Example</a:t>
            </a:r>
            <a:r>
              <a:rPr sz="4400" u="none" spc="-160" dirty="0"/>
              <a:t> </a:t>
            </a:r>
            <a:r>
              <a:rPr sz="4400" u="none" dirty="0"/>
              <a:t>1</a:t>
            </a:r>
            <a:r>
              <a:rPr sz="4400" u="none" spc="-114" dirty="0"/>
              <a:t> </a:t>
            </a:r>
            <a:r>
              <a:rPr sz="4400" u="none" dirty="0"/>
              <a:t>–</a:t>
            </a:r>
            <a:r>
              <a:rPr sz="4400" u="none" spc="-110" dirty="0"/>
              <a:t> </a:t>
            </a:r>
            <a:r>
              <a:rPr sz="4400" i="1" u="none" spc="-45" dirty="0">
                <a:latin typeface="Arial"/>
                <a:cs typeface="Arial"/>
              </a:rPr>
              <a:t>Shannon's</a:t>
            </a:r>
            <a:r>
              <a:rPr sz="4400" i="1" u="none" spc="-130" dirty="0">
                <a:latin typeface="Arial"/>
                <a:cs typeface="Arial"/>
              </a:rPr>
              <a:t> </a:t>
            </a:r>
            <a:r>
              <a:rPr sz="4400" i="1" u="none" spc="-40" dirty="0">
                <a:latin typeface="Arial"/>
                <a:cs typeface="Arial"/>
              </a:rPr>
              <a:t>Capacity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15211" y="3677920"/>
            <a:ext cx="6837045" cy="210185"/>
            <a:chOff x="1315211" y="3677920"/>
            <a:chExt cx="6837045" cy="2101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599" y="3733800"/>
              <a:ext cx="6723888" cy="1539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15199" y="3677919"/>
              <a:ext cx="6837045" cy="210185"/>
            </a:xfrm>
            <a:custGeom>
              <a:avLst/>
              <a:gdLst/>
              <a:ahLst/>
              <a:cxnLst/>
              <a:rect l="l" t="t" r="r" b="b"/>
              <a:pathLst>
                <a:path w="6837045" h="210185">
                  <a:moveTo>
                    <a:pt x="6790944" y="45720"/>
                  </a:moveTo>
                  <a:lnTo>
                    <a:pt x="45720" y="45720"/>
                  </a:lnTo>
                  <a:lnTo>
                    <a:pt x="45720" y="55880"/>
                  </a:lnTo>
                  <a:lnTo>
                    <a:pt x="45720" y="209550"/>
                  </a:lnTo>
                  <a:lnTo>
                    <a:pt x="56388" y="209550"/>
                  </a:lnTo>
                  <a:lnTo>
                    <a:pt x="56388" y="55880"/>
                  </a:lnTo>
                  <a:lnTo>
                    <a:pt x="6780276" y="55880"/>
                  </a:lnTo>
                  <a:lnTo>
                    <a:pt x="6780276" y="209804"/>
                  </a:lnTo>
                  <a:lnTo>
                    <a:pt x="6790944" y="209804"/>
                  </a:lnTo>
                  <a:lnTo>
                    <a:pt x="6790944" y="55880"/>
                  </a:lnTo>
                  <a:lnTo>
                    <a:pt x="6790944" y="45720"/>
                  </a:lnTo>
                  <a:close/>
                </a:path>
                <a:path w="6837045" h="210185">
                  <a:moveTo>
                    <a:pt x="6836664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209550"/>
                  </a:lnTo>
                  <a:lnTo>
                    <a:pt x="33528" y="209550"/>
                  </a:lnTo>
                  <a:lnTo>
                    <a:pt x="33528" y="33020"/>
                  </a:lnTo>
                  <a:lnTo>
                    <a:pt x="6803136" y="33020"/>
                  </a:lnTo>
                  <a:lnTo>
                    <a:pt x="6803136" y="209804"/>
                  </a:lnTo>
                  <a:lnTo>
                    <a:pt x="6836664" y="209804"/>
                  </a:lnTo>
                  <a:lnTo>
                    <a:pt x="6836664" y="33020"/>
                  </a:lnTo>
                  <a:lnTo>
                    <a:pt x="6836664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7667" y="1769826"/>
            <a:ext cx="8558530" cy="36957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Consider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extremely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noisy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which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signal-to-noise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ratio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almost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zero.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noise is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so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strong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faint.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23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this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C</a:t>
            </a:r>
            <a:r>
              <a:rPr sz="2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calculated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1CACE4"/>
              </a:buClr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189230" marR="1046480" indent="-177165">
              <a:lnSpc>
                <a:spcPts val="3020"/>
              </a:lnSpc>
              <a:spcBef>
                <a:spcPts val="196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means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F3F3F"/>
                </a:solidFill>
                <a:latin typeface="Calibri"/>
                <a:cs typeface="Calibri"/>
              </a:rPr>
              <a:t>zero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regardless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1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cannot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receive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any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through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9" name="object 9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315211" y="3886200"/>
            <a:ext cx="6837045" cy="238760"/>
            <a:chOff x="1315211" y="3886200"/>
            <a:chExt cx="6837045" cy="23876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599" y="3886200"/>
              <a:ext cx="6723888" cy="1813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15199" y="3886199"/>
              <a:ext cx="6837045" cy="238760"/>
            </a:xfrm>
            <a:custGeom>
              <a:avLst/>
              <a:gdLst/>
              <a:ahLst/>
              <a:cxnLst/>
              <a:rect l="l" t="t" r="r" b="b"/>
              <a:pathLst>
                <a:path w="6837045" h="238760">
                  <a:moveTo>
                    <a:pt x="6790944" y="181610"/>
                  </a:moveTo>
                  <a:lnTo>
                    <a:pt x="56388" y="181610"/>
                  </a:lnTo>
                  <a:lnTo>
                    <a:pt x="56388" y="0"/>
                  </a:lnTo>
                  <a:lnTo>
                    <a:pt x="45720" y="0"/>
                  </a:lnTo>
                  <a:lnTo>
                    <a:pt x="45720" y="181610"/>
                  </a:lnTo>
                  <a:lnTo>
                    <a:pt x="45720" y="193040"/>
                  </a:lnTo>
                  <a:lnTo>
                    <a:pt x="6790944" y="193040"/>
                  </a:lnTo>
                  <a:lnTo>
                    <a:pt x="6790944" y="181610"/>
                  </a:lnTo>
                  <a:close/>
                </a:path>
                <a:path w="6837045" h="238760">
                  <a:moveTo>
                    <a:pt x="6790944" y="0"/>
                  </a:moveTo>
                  <a:lnTo>
                    <a:pt x="6780276" y="0"/>
                  </a:lnTo>
                  <a:lnTo>
                    <a:pt x="6780276" y="181356"/>
                  </a:lnTo>
                  <a:lnTo>
                    <a:pt x="6790944" y="181356"/>
                  </a:lnTo>
                  <a:lnTo>
                    <a:pt x="6790944" y="0"/>
                  </a:lnTo>
                  <a:close/>
                </a:path>
                <a:path w="6837045" h="238760">
                  <a:moveTo>
                    <a:pt x="6836664" y="204470"/>
                  </a:moveTo>
                  <a:lnTo>
                    <a:pt x="33528" y="204470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204470"/>
                  </a:lnTo>
                  <a:lnTo>
                    <a:pt x="0" y="238760"/>
                  </a:lnTo>
                  <a:lnTo>
                    <a:pt x="6836664" y="238760"/>
                  </a:lnTo>
                  <a:lnTo>
                    <a:pt x="6836664" y="204470"/>
                  </a:lnTo>
                  <a:close/>
                </a:path>
                <a:path w="6837045" h="238760">
                  <a:moveTo>
                    <a:pt x="6836664" y="0"/>
                  </a:moveTo>
                  <a:lnTo>
                    <a:pt x="6803136" y="0"/>
                  </a:lnTo>
                  <a:lnTo>
                    <a:pt x="6803136" y="204216"/>
                  </a:lnTo>
                  <a:lnTo>
                    <a:pt x="6836664" y="204216"/>
                  </a:lnTo>
                  <a:lnTo>
                    <a:pt x="6836664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856733"/>
            <a:ext cx="80645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spc="-40" dirty="0"/>
              <a:t>Example</a:t>
            </a:r>
            <a:r>
              <a:rPr sz="4400" u="none" spc="-165" dirty="0"/>
              <a:t> </a:t>
            </a:r>
            <a:r>
              <a:rPr sz="4400" u="none" dirty="0"/>
              <a:t>2</a:t>
            </a:r>
            <a:r>
              <a:rPr sz="4400" u="none" spc="-114" dirty="0"/>
              <a:t> </a:t>
            </a:r>
            <a:r>
              <a:rPr sz="4400" u="none" dirty="0"/>
              <a:t>–</a:t>
            </a:r>
            <a:r>
              <a:rPr sz="4400" u="none" spc="-110" dirty="0"/>
              <a:t> </a:t>
            </a:r>
            <a:r>
              <a:rPr sz="4400" i="1" u="none" spc="-45" dirty="0">
                <a:latin typeface="Arial"/>
                <a:cs typeface="Arial"/>
              </a:rPr>
              <a:t>Shannon's</a:t>
            </a:r>
            <a:r>
              <a:rPr sz="4400" i="1" u="none" spc="-130" dirty="0">
                <a:latin typeface="Arial"/>
                <a:cs typeface="Arial"/>
              </a:rPr>
              <a:t> </a:t>
            </a:r>
            <a:r>
              <a:rPr sz="4400" i="1" u="none" spc="-40" dirty="0">
                <a:latin typeface="Arial"/>
                <a:cs typeface="Arial"/>
              </a:rPr>
              <a:t>Capacity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667" y="1774398"/>
            <a:ext cx="8591550" cy="14922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89230" marR="5080" indent="-177165">
              <a:lnSpc>
                <a:spcPts val="2810"/>
              </a:lnSpc>
              <a:spcBef>
                <a:spcPts val="4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0" dirty="0">
                <a:solidFill>
                  <a:srgbClr val="3F3F3F"/>
                </a:solidFill>
                <a:latin typeface="Calibri"/>
                <a:cs typeface="Calibri"/>
              </a:rPr>
              <a:t>We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 calculate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theoretical highest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bit 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rate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regular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telephone line.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telephone line normally has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bandwidth 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3000.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signal-to-noise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ratio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 usually 3162.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this channel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calculated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67611" y="3449320"/>
            <a:ext cx="7161530" cy="788670"/>
            <a:chOff x="1467611" y="3449320"/>
            <a:chExt cx="7161530" cy="7886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7047" y="3511296"/>
              <a:ext cx="7045451" cy="3764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67599" y="3449319"/>
              <a:ext cx="7161530" cy="438784"/>
            </a:xfrm>
            <a:custGeom>
              <a:avLst/>
              <a:gdLst/>
              <a:ahLst/>
              <a:cxnLst/>
              <a:rect l="l" t="t" r="r" b="b"/>
              <a:pathLst>
                <a:path w="7161530" h="438785">
                  <a:moveTo>
                    <a:pt x="7115556" y="45720"/>
                  </a:moveTo>
                  <a:lnTo>
                    <a:pt x="45720" y="45720"/>
                  </a:lnTo>
                  <a:lnTo>
                    <a:pt x="45720" y="55880"/>
                  </a:lnTo>
                  <a:lnTo>
                    <a:pt x="45720" y="438150"/>
                  </a:lnTo>
                  <a:lnTo>
                    <a:pt x="56388" y="438150"/>
                  </a:lnTo>
                  <a:lnTo>
                    <a:pt x="56388" y="55880"/>
                  </a:lnTo>
                  <a:lnTo>
                    <a:pt x="7103364" y="55880"/>
                  </a:lnTo>
                  <a:lnTo>
                    <a:pt x="7103364" y="438404"/>
                  </a:lnTo>
                  <a:lnTo>
                    <a:pt x="7115556" y="438404"/>
                  </a:lnTo>
                  <a:lnTo>
                    <a:pt x="7115556" y="55880"/>
                  </a:lnTo>
                  <a:lnTo>
                    <a:pt x="7115556" y="45720"/>
                  </a:lnTo>
                  <a:close/>
                </a:path>
                <a:path w="7161530" h="438785">
                  <a:moveTo>
                    <a:pt x="7161276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438150"/>
                  </a:lnTo>
                  <a:lnTo>
                    <a:pt x="33528" y="438150"/>
                  </a:lnTo>
                  <a:lnTo>
                    <a:pt x="33528" y="33020"/>
                  </a:lnTo>
                  <a:lnTo>
                    <a:pt x="7126224" y="33020"/>
                  </a:lnTo>
                  <a:lnTo>
                    <a:pt x="7126224" y="438404"/>
                  </a:lnTo>
                  <a:lnTo>
                    <a:pt x="7161276" y="438404"/>
                  </a:lnTo>
                  <a:lnTo>
                    <a:pt x="7161276" y="33020"/>
                  </a:lnTo>
                  <a:lnTo>
                    <a:pt x="7161276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7047" y="3886200"/>
              <a:ext cx="7045451" cy="2956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67599" y="3886199"/>
              <a:ext cx="7161530" cy="351790"/>
            </a:xfrm>
            <a:custGeom>
              <a:avLst/>
              <a:gdLst/>
              <a:ahLst/>
              <a:cxnLst/>
              <a:rect l="l" t="t" r="r" b="b"/>
              <a:pathLst>
                <a:path w="7161530" h="351789">
                  <a:moveTo>
                    <a:pt x="7115556" y="294640"/>
                  </a:moveTo>
                  <a:lnTo>
                    <a:pt x="56388" y="294640"/>
                  </a:lnTo>
                  <a:lnTo>
                    <a:pt x="56388" y="0"/>
                  </a:lnTo>
                  <a:lnTo>
                    <a:pt x="45720" y="0"/>
                  </a:lnTo>
                  <a:lnTo>
                    <a:pt x="45720" y="294640"/>
                  </a:lnTo>
                  <a:lnTo>
                    <a:pt x="45720" y="306070"/>
                  </a:lnTo>
                  <a:lnTo>
                    <a:pt x="7115556" y="306070"/>
                  </a:lnTo>
                  <a:lnTo>
                    <a:pt x="7115556" y="294640"/>
                  </a:lnTo>
                  <a:close/>
                </a:path>
                <a:path w="7161530" h="351789">
                  <a:moveTo>
                    <a:pt x="7115556" y="0"/>
                  </a:moveTo>
                  <a:lnTo>
                    <a:pt x="7103364" y="0"/>
                  </a:lnTo>
                  <a:lnTo>
                    <a:pt x="7103364" y="294132"/>
                  </a:lnTo>
                  <a:lnTo>
                    <a:pt x="7115556" y="294132"/>
                  </a:lnTo>
                  <a:lnTo>
                    <a:pt x="7115556" y="0"/>
                  </a:lnTo>
                  <a:close/>
                </a:path>
                <a:path w="7161530" h="351789">
                  <a:moveTo>
                    <a:pt x="7161276" y="317500"/>
                  </a:moveTo>
                  <a:lnTo>
                    <a:pt x="33528" y="317500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317500"/>
                  </a:lnTo>
                  <a:lnTo>
                    <a:pt x="0" y="351790"/>
                  </a:lnTo>
                  <a:lnTo>
                    <a:pt x="7161276" y="351790"/>
                  </a:lnTo>
                  <a:lnTo>
                    <a:pt x="7161276" y="317500"/>
                  </a:lnTo>
                  <a:close/>
                </a:path>
                <a:path w="7161530" h="351789">
                  <a:moveTo>
                    <a:pt x="7161276" y="0"/>
                  </a:moveTo>
                  <a:lnTo>
                    <a:pt x="7126224" y="0"/>
                  </a:lnTo>
                  <a:lnTo>
                    <a:pt x="7126224" y="316992"/>
                  </a:lnTo>
                  <a:lnTo>
                    <a:pt x="7161276" y="316992"/>
                  </a:lnTo>
                  <a:lnTo>
                    <a:pt x="7161276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11" name="object 11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97667" y="4447494"/>
            <a:ext cx="8594725" cy="167068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89230" marR="685165" indent="-177165">
              <a:lnSpc>
                <a:spcPts val="2810"/>
              </a:lnSpc>
              <a:spcBef>
                <a:spcPts val="4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This means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that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highest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bit 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rate for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telephone line is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34.860</a:t>
            </a:r>
            <a:r>
              <a:rPr sz="26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kbps</a:t>
            </a:r>
            <a:endParaRPr sz="2600">
              <a:latin typeface="Calibri"/>
              <a:cs typeface="Calibri"/>
            </a:endParaRPr>
          </a:p>
          <a:p>
            <a:pPr marL="189230" marR="5080" indent="-177165">
              <a:lnSpc>
                <a:spcPts val="2810"/>
              </a:lnSpc>
              <a:spcBef>
                <a:spcPts val="140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want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faster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than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this,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either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increase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line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6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improve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signal-to-noise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ratio.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856733"/>
            <a:ext cx="80645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spc="-40" dirty="0"/>
              <a:t>Example</a:t>
            </a:r>
            <a:r>
              <a:rPr sz="4400" u="none" spc="-165" dirty="0"/>
              <a:t> </a:t>
            </a:r>
            <a:r>
              <a:rPr sz="4400" u="none" dirty="0"/>
              <a:t>3</a:t>
            </a:r>
            <a:r>
              <a:rPr sz="4400" u="none" spc="-114" dirty="0"/>
              <a:t> </a:t>
            </a:r>
            <a:r>
              <a:rPr sz="4400" u="none" dirty="0"/>
              <a:t>–</a:t>
            </a:r>
            <a:r>
              <a:rPr sz="4400" u="none" spc="-110" dirty="0"/>
              <a:t> </a:t>
            </a:r>
            <a:r>
              <a:rPr sz="4400" i="1" u="none" spc="-45" dirty="0">
                <a:latin typeface="Arial"/>
                <a:cs typeface="Arial"/>
              </a:rPr>
              <a:t>Shannon's</a:t>
            </a:r>
            <a:r>
              <a:rPr sz="4400" i="1" u="none" spc="-130" dirty="0">
                <a:latin typeface="Arial"/>
                <a:cs typeface="Arial"/>
              </a:rPr>
              <a:t> </a:t>
            </a:r>
            <a:r>
              <a:rPr sz="4400" i="1" u="none" spc="-40" dirty="0">
                <a:latin typeface="Arial"/>
                <a:cs typeface="Arial"/>
              </a:rPr>
              <a:t>Capacity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2267" y="1769826"/>
            <a:ext cx="8648700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14629" marR="304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signal-to-noise</a:t>
            </a:r>
            <a:r>
              <a:rPr sz="2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ratio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often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given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decibels.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Assume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SNR</a:t>
            </a:r>
            <a:r>
              <a:rPr sz="2775" baseline="-21021" dirty="0">
                <a:solidFill>
                  <a:srgbClr val="3F3F3F"/>
                </a:solidFill>
                <a:latin typeface="Calibri"/>
                <a:cs typeface="Calibri"/>
              </a:rPr>
              <a:t>dB</a:t>
            </a:r>
            <a:r>
              <a:rPr sz="2775" spc="330" baseline="-2102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36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channel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MHz.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theoretical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be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calculated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05611" y="3068320"/>
            <a:ext cx="8479790" cy="923290"/>
            <a:chOff x="705611" y="3068320"/>
            <a:chExt cx="8479790" cy="9232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095" y="3127248"/>
              <a:ext cx="8360663" cy="7604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5599" y="3068319"/>
              <a:ext cx="8479790" cy="819785"/>
            </a:xfrm>
            <a:custGeom>
              <a:avLst/>
              <a:gdLst/>
              <a:ahLst/>
              <a:cxnLst/>
              <a:rect l="l" t="t" r="r" b="b"/>
              <a:pathLst>
                <a:path w="8479790" h="819785">
                  <a:moveTo>
                    <a:pt x="8433816" y="45720"/>
                  </a:moveTo>
                  <a:lnTo>
                    <a:pt x="45720" y="45720"/>
                  </a:lnTo>
                  <a:lnTo>
                    <a:pt x="45720" y="55880"/>
                  </a:lnTo>
                  <a:lnTo>
                    <a:pt x="45720" y="819150"/>
                  </a:lnTo>
                  <a:lnTo>
                    <a:pt x="56388" y="819150"/>
                  </a:lnTo>
                  <a:lnTo>
                    <a:pt x="56388" y="55880"/>
                  </a:lnTo>
                  <a:lnTo>
                    <a:pt x="8421624" y="55880"/>
                  </a:lnTo>
                  <a:lnTo>
                    <a:pt x="8421624" y="819404"/>
                  </a:lnTo>
                  <a:lnTo>
                    <a:pt x="8433816" y="819404"/>
                  </a:lnTo>
                  <a:lnTo>
                    <a:pt x="8433816" y="55880"/>
                  </a:lnTo>
                  <a:lnTo>
                    <a:pt x="8433816" y="45720"/>
                  </a:lnTo>
                  <a:close/>
                </a:path>
                <a:path w="8479790" h="819785">
                  <a:moveTo>
                    <a:pt x="8479536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819150"/>
                  </a:lnTo>
                  <a:lnTo>
                    <a:pt x="33528" y="819150"/>
                  </a:lnTo>
                  <a:lnTo>
                    <a:pt x="33528" y="33020"/>
                  </a:lnTo>
                  <a:lnTo>
                    <a:pt x="8444484" y="33020"/>
                  </a:lnTo>
                  <a:lnTo>
                    <a:pt x="8444484" y="819404"/>
                  </a:lnTo>
                  <a:lnTo>
                    <a:pt x="8479536" y="819404"/>
                  </a:lnTo>
                  <a:lnTo>
                    <a:pt x="8479536" y="33020"/>
                  </a:lnTo>
                  <a:lnTo>
                    <a:pt x="8479536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095" y="3886200"/>
              <a:ext cx="8360663" cy="502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5599" y="3886199"/>
              <a:ext cx="8479790" cy="105410"/>
            </a:xfrm>
            <a:custGeom>
              <a:avLst/>
              <a:gdLst/>
              <a:ahLst/>
              <a:cxnLst/>
              <a:rect l="l" t="t" r="r" b="b"/>
              <a:pathLst>
                <a:path w="8479790" h="105410">
                  <a:moveTo>
                    <a:pt x="8433816" y="0"/>
                  </a:moveTo>
                  <a:lnTo>
                    <a:pt x="8421624" y="0"/>
                  </a:lnTo>
                  <a:lnTo>
                    <a:pt x="8421624" y="48260"/>
                  </a:lnTo>
                  <a:lnTo>
                    <a:pt x="56388" y="48260"/>
                  </a:lnTo>
                  <a:lnTo>
                    <a:pt x="56388" y="0"/>
                  </a:lnTo>
                  <a:lnTo>
                    <a:pt x="45720" y="0"/>
                  </a:lnTo>
                  <a:lnTo>
                    <a:pt x="45720" y="48260"/>
                  </a:lnTo>
                  <a:lnTo>
                    <a:pt x="45720" y="59690"/>
                  </a:lnTo>
                  <a:lnTo>
                    <a:pt x="8433816" y="59690"/>
                  </a:lnTo>
                  <a:lnTo>
                    <a:pt x="8433816" y="48768"/>
                  </a:lnTo>
                  <a:lnTo>
                    <a:pt x="8433816" y="48260"/>
                  </a:lnTo>
                  <a:lnTo>
                    <a:pt x="8433816" y="0"/>
                  </a:lnTo>
                  <a:close/>
                </a:path>
                <a:path w="8479790" h="105410">
                  <a:moveTo>
                    <a:pt x="8479536" y="0"/>
                  </a:moveTo>
                  <a:lnTo>
                    <a:pt x="8444484" y="0"/>
                  </a:lnTo>
                  <a:lnTo>
                    <a:pt x="8444484" y="71120"/>
                  </a:lnTo>
                  <a:lnTo>
                    <a:pt x="33528" y="71120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71120"/>
                  </a:lnTo>
                  <a:lnTo>
                    <a:pt x="0" y="105410"/>
                  </a:lnTo>
                  <a:lnTo>
                    <a:pt x="8479536" y="105410"/>
                  </a:lnTo>
                  <a:lnTo>
                    <a:pt x="8479536" y="71628"/>
                  </a:lnTo>
                  <a:lnTo>
                    <a:pt x="8479536" y="71120"/>
                  </a:lnTo>
                  <a:lnTo>
                    <a:pt x="8479536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11" name="object 11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856733"/>
            <a:ext cx="80645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spc="-40" dirty="0"/>
              <a:t>Example</a:t>
            </a:r>
            <a:r>
              <a:rPr sz="4400" u="none" spc="-165" dirty="0"/>
              <a:t> </a:t>
            </a:r>
            <a:r>
              <a:rPr sz="4400" u="none" dirty="0"/>
              <a:t>4</a:t>
            </a:r>
            <a:r>
              <a:rPr sz="4400" u="none" spc="-114" dirty="0"/>
              <a:t> </a:t>
            </a:r>
            <a:r>
              <a:rPr sz="4400" u="none" dirty="0"/>
              <a:t>–</a:t>
            </a:r>
            <a:r>
              <a:rPr sz="4400" u="none" spc="-110" dirty="0"/>
              <a:t> </a:t>
            </a:r>
            <a:r>
              <a:rPr sz="4400" i="1" u="none" spc="-45" dirty="0">
                <a:latin typeface="Arial"/>
                <a:cs typeface="Arial"/>
              </a:rPr>
              <a:t>Shannon's</a:t>
            </a:r>
            <a:r>
              <a:rPr sz="4400" i="1" u="none" spc="-130" dirty="0">
                <a:latin typeface="Arial"/>
                <a:cs typeface="Arial"/>
              </a:rPr>
              <a:t> </a:t>
            </a:r>
            <a:r>
              <a:rPr sz="4400" i="1" u="none" spc="-40" dirty="0">
                <a:latin typeface="Arial"/>
                <a:cs typeface="Arial"/>
              </a:rPr>
              <a:t>Capacity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667" y="1769826"/>
            <a:ext cx="8652510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practical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purposes,</a:t>
            </a:r>
            <a:r>
              <a:rPr sz="2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when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SNR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very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high,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assume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SNR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+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almost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same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SNR.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these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cases,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theoretical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channel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simplified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48811" y="3144520"/>
            <a:ext cx="2336800" cy="754380"/>
            <a:chOff x="3448811" y="3144520"/>
            <a:chExt cx="2336800" cy="7543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200" y="3200400"/>
              <a:ext cx="2223516" cy="640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48799" y="3144519"/>
              <a:ext cx="2336800" cy="754380"/>
            </a:xfrm>
            <a:custGeom>
              <a:avLst/>
              <a:gdLst/>
              <a:ahLst/>
              <a:cxnLst/>
              <a:rect l="l" t="t" r="r" b="b"/>
              <a:pathLst>
                <a:path w="2336800" h="754379">
                  <a:moveTo>
                    <a:pt x="2290572" y="45720"/>
                  </a:moveTo>
                  <a:lnTo>
                    <a:pt x="2279904" y="45720"/>
                  </a:lnTo>
                  <a:lnTo>
                    <a:pt x="2279904" y="55880"/>
                  </a:lnTo>
                  <a:lnTo>
                    <a:pt x="2279904" y="695960"/>
                  </a:lnTo>
                  <a:lnTo>
                    <a:pt x="56388" y="695960"/>
                  </a:lnTo>
                  <a:lnTo>
                    <a:pt x="56388" y="55880"/>
                  </a:lnTo>
                  <a:lnTo>
                    <a:pt x="2279904" y="55880"/>
                  </a:lnTo>
                  <a:lnTo>
                    <a:pt x="2279904" y="45720"/>
                  </a:lnTo>
                  <a:lnTo>
                    <a:pt x="45720" y="45720"/>
                  </a:lnTo>
                  <a:lnTo>
                    <a:pt x="45720" y="55880"/>
                  </a:lnTo>
                  <a:lnTo>
                    <a:pt x="45720" y="695960"/>
                  </a:lnTo>
                  <a:lnTo>
                    <a:pt x="45720" y="708660"/>
                  </a:lnTo>
                  <a:lnTo>
                    <a:pt x="2290572" y="708660"/>
                  </a:lnTo>
                  <a:lnTo>
                    <a:pt x="2290572" y="695960"/>
                  </a:lnTo>
                  <a:lnTo>
                    <a:pt x="2290572" y="55880"/>
                  </a:lnTo>
                  <a:lnTo>
                    <a:pt x="2290572" y="45720"/>
                  </a:lnTo>
                  <a:close/>
                </a:path>
                <a:path w="2336800" h="754379">
                  <a:moveTo>
                    <a:pt x="2336292" y="0"/>
                  </a:moveTo>
                  <a:lnTo>
                    <a:pt x="2302764" y="0"/>
                  </a:lnTo>
                  <a:lnTo>
                    <a:pt x="2302764" y="33020"/>
                  </a:lnTo>
                  <a:lnTo>
                    <a:pt x="2302764" y="718820"/>
                  </a:lnTo>
                  <a:lnTo>
                    <a:pt x="33528" y="718820"/>
                  </a:lnTo>
                  <a:lnTo>
                    <a:pt x="33528" y="33020"/>
                  </a:lnTo>
                  <a:lnTo>
                    <a:pt x="2302764" y="33020"/>
                  </a:lnTo>
                  <a:lnTo>
                    <a:pt x="2302764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718820"/>
                  </a:lnTo>
                  <a:lnTo>
                    <a:pt x="0" y="741680"/>
                  </a:lnTo>
                  <a:lnTo>
                    <a:pt x="0" y="742950"/>
                  </a:lnTo>
                  <a:lnTo>
                    <a:pt x="0" y="753872"/>
                  </a:lnTo>
                  <a:lnTo>
                    <a:pt x="2336292" y="753872"/>
                  </a:lnTo>
                  <a:lnTo>
                    <a:pt x="2336292" y="742950"/>
                  </a:lnTo>
                  <a:lnTo>
                    <a:pt x="2336292" y="741680"/>
                  </a:lnTo>
                  <a:lnTo>
                    <a:pt x="2336292" y="718820"/>
                  </a:lnTo>
                  <a:lnTo>
                    <a:pt x="2336292" y="33020"/>
                  </a:lnTo>
                  <a:lnTo>
                    <a:pt x="2336292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9" name="object 9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97667" y="4223467"/>
            <a:ext cx="835025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example,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calculate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theoretical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previous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example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86811" y="5201920"/>
            <a:ext cx="3418840" cy="652780"/>
            <a:chOff x="2686811" y="5201920"/>
            <a:chExt cx="3418840" cy="6527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3200" y="5257799"/>
              <a:ext cx="3304032" cy="54101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686799" y="5201919"/>
              <a:ext cx="3418840" cy="652780"/>
            </a:xfrm>
            <a:custGeom>
              <a:avLst/>
              <a:gdLst/>
              <a:ahLst/>
              <a:cxnLst/>
              <a:rect l="l" t="t" r="r" b="b"/>
              <a:pathLst>
                <a:path w="3418840" h="652779">
                  <a:moveTo>
                    <a:pt x="3372612" y="45720"/>
                  </a:moveTo>
                  <a:lnTo>
                    <a:pt x="3360420" y="45720"/>
                  </a:lnTo>
                  <a:lnTo>
                    <a:pt x="3360420" y="55880"/>
                  </a:lnTo>
                  <a:lnTo>
                    <a:pt x="3360420" y="596900"/>
                  </a:lnTo>
                  <a:lnTo>
                    <a:pt x="56388" y="596900"/>
                  </a:lnTo>
                  <a:lnTo>
                    <a:pt x="56388" y="55880"/>
                  </a:lnTo>
                  <a:lnTo>
                    <a:pt x="3360420" y="55880"/>
                  </a:lnTo>
                  <a:lnTo>
                    <a:pt x="3360420" y="45720"/>
                  </a:lnTo>
                  <a:lnTo>
                    <a:pt x="45720" y="45720"/>
                  </a:lnTo>
                  <a:lnTo>
                    <a:pt x="45720" y="55880"/>
                  </a:lnTo>
                  <a:lnTo>
                    <a:pt x="45720" y="596900"/>
                  </a:lnTo>
                  <a:lnTo>
                    <a:pt x="45720" y="607060"/>
                  </a:lnTo>
                  <a:lnTo>
                    <a:pt x="3372612" y="607060"/>
                  </a:lnTo>
                  <a:lnTo>
                    <a:pt x="3372612" y="596900"/>
                  </a:lnTo>
                  <a:lnTo>
                    <a:pt x="3372612" y="55880"/>
                  </a:lnTo>
                  <a:lnTo>
                    <a:pt x="3372612" y="45720"/>
                  </a:lnTo>
                  <a:close/>
                </a:path>
                <a:path w="3418840" h="652779">
                  <a:moveTo>
                    <a:pt x="3418332" y="0"/>
                  </a:moveTo>
                  <a:lnTo>
                    <a:pt x="3383280" y="0"/>
                  </a:lnTo>
                  <a:lnTo>
                    <a:pt x="3383280" y="33020"/>
                  </a:lnTo>
                  <a:lnTo>
                    <a:pt x="3383280" y="619760"/>
                  </a:lnTo>
                  <a:lnTo>
                    <a:pt x="33528" y="619760"/>
                  </a:lnTo>
                  <a:lnTo>
                    <a:pt x="33528" y="33020"/>
                  </a:lnTo>
                  <a:lnTo>
                    <a:pt x="3383280" y="33020"/>
                  </a:lnTo>
                  <a:lnTo>
                    <a:pt x="3383280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619760"/>
                  </a:lnTo>
                  <a:lnTo>
                    <a:pt x="0" y="652780"/>
                  </a:lnTo>
                  <a:lnTo>
                    <a:pt x="3418332" y="652780"/>
                  </a:lnTo>
                  <a:lnTo>
                    <a:pt x="3418332" y="619760"/>
                  </a:lnTo>
                  <a:lnTo>
                    <a:pt x="3418332" y="33020"/>
                  </a:lnTo>
                  <a:lnTo>
                    <a:pt x="3418332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0" dirty="0">
                <a:latin typeface="Arial"/>
                <a:cs typeface="Arial"/>
              </a:rPr>
              <a:t>Using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Both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Limits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6611" y="3754120"/>
            <a:ext cx="7484745" cy="556260"/>
            <a:chOff x="1086611" y="3754120"/>
            <a:chExt cx="7484745" cy="5562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813048"/>
              <a:ext cx="7373111" cy="746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6599" y="3754119"/>
              <a:ext cx="7484745" cy="133985"/>
            </a:xfrm>
            <a:custGeom>
              <a:avLst/>
              <a:gdLst/>
              <a:ahLst/>
              <a:cxnLst/>
              <a:rect l="l" t="t" r="r" b="b"/>
              <a:pathLst>
                <a:path w="7484745" h="133985">
                  <a:moveTo>
                    <a:pt x="7438644" y="45720"/>
                  </a:moveTo>
                  <a:lnTo>
                    <a:pt x="45720" y="45720"/>
                  </a:lnTo>
                  <a:lnTo>
                    <a:pt x="45720" y="55880"/>
                  </a:lnTo>
                  <a:lnTo>
                    <a:pt x="45720" y="133350"/>
                  </a:lnTo>
                  <a:lnTo>
                    <a:pt x="56388" y="133350"/>
                  </a:lnTo>
                  <a:lnTo>
                    <a:pt x="56388" y="55880"/>
                  </a:lnTo>
                  <a:lnTo>
                    <a:pt x="7427976" y="55880"/>
                  </a:lnTo>
                  <a:lnTo>
                    <a:pt x="7427976" y="133604"/>
                  </a:lnTo>
                  <a:lnTo>
                    <a:pt x="7438644" y="133604"/>
                  </a:lnTo>
                  <a:lnTo>
                    <a:pt x="7438644" y="55880"/>
                  </a:lnTo>
                  <a:lnTo>
                    <a:pt x="7438644" y="45720"/>
                  </a:lnTo>
                  <a:close/>
                </a:path>
                <a:path w="7484745" h="133985">
                  <a:moveTo>
                    <a:pt x="7484364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133350"/>
                  </a:lnTo>
                  <a:lnTo>
                    <a:pt x="33528" y="133350"/>
                  </a:lnTo>
                  <a:lnTo>
                    <a:pt x="33528" y="33020"/>
                  </a:lnTo>
                  <a:lnTo>
                    <a:pt x="7450836" y="33020"/>
                  </a:lnTo>
                  <a:lnTo>
                    <a:pt x="7450836" y="133604"/>
                  </a:lnTo>
                  <a:lnTo>
                    <a:pt x="7484364" y="133604"/>
                  </a:lnTo>
                  <a:lnTo>
                    <a:pt x="7484364" y="33020"/>
                  </a:lnTo>
                  <a:lnTo>
                    <a:pt x="7484364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999" y="3886200"/>
              <a:ext cx="7373111" cy="36728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86599" y="3886199"/>
              <a:ext cx="7484745" cy="424180"/>
            </a:xfrm>
            <a:custGeom>
              <a:avLst/>
              <a:gdLst/>
              <a:ahLst/>
              <a:cxnLst/>
              <a:rect l="l" t="t" r="r" b="b"/>
              <a:pathLst>
                <a:path w="7484745" h="424179">
                  <a:moveTo>
                    <a:pt x="7438644" y="0"/>
                  </a:moveTo>
                  <a:lnTo>
                    <a:pt x="7427976" y="0"/>
                  </a:lnTo>
                  <a:lnTo>
                    <a:pt x="7427976" y="365760"/>
                  </a:lnTo>
                  <a:lnTo>
                    <a:pt x="56388" y="365760"/>
                  </a:lnTo>
                  <a:lnTo>
                    <a:pt x="56388" y="0"/>
                  </a:lnTo>
                  <a:lnTo>
                    <a:pt x="45720" y="0"/>
                  </a:lnTo>
                  <a:lnTo>
                    <a:pt x="45720" y="365760"/>
                  </a:lnTo>
                  <a:lnTo>
                    <a:pt x="45720" y="378460"/>
                  </a:lnTo>
                  <a:lnTo>
                    <a:pt x="7438644" y="378460"/>
                  </a:lnTo>
                  <a:lnTo>
                    <a:pt x="7438644" y="365760"/>
                  </a:lnTo>
                  <a:lnTo>
                    <a:pt x="7438644" y="0"/>
                  </a:lnTo>
                  <a:close/>
                </a:path>
                <a:path w="7484745" h="424179">
                  <a:moveTo>
                    <a:pt x="7484364" y="0"/>
                  </a:moveTo>
                  <a:lnTo>
                    <a:pt x="7450836" y="0"/>
                  </a:lnTo>
                  <a:lnTo>
                    <a:pt x="7450836" y="388620"/>
                  </a:lnTo>
                  <a:lnTo>
                    <a:pt x="33528" y="388620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388620"/>
                  </a:lnTo>
                  <a:lnTo>
                    <a:pt x="0" y="424180"/>
                  </a:lnTo>
                  <a:lnTo>
                    <a:pt x="7484364" y="424180"/>
                  </a:lnTo>
                  <a:lnTo>
                    <a:pt x="7484364" y="388620"/>
                  </a:lnTo>
                  <a:lnTo>
                    <a:pt x="7484364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9" name="object 9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96211" y="5278120"/>
            <a:ext cx="5145405" cy="464820"/>
            <a:chOff x="1696211" y="5278120"/>
            <a:chExt cx="5145405" cy="46482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5647" y="5340096"/>
              <a:ext cx="5030723" cy="3474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96199" y="5278119"/>
              <a:ext cx="5145405" cy="464820"/>
            </a:xfrm>
            <a:custGeom>
              <a:avLst/>
              <a:gdLst/>
              <a:ahLst/>
              <a:cxnLst/>
              <a:rect l="l" t="t" r="r" b="b"/>
              <a:pathLst>
                <a:path w="5145405" h="464820">
                  <a:moveTo>
                    <a:pt x="5099304" y="45720"/>
                  </a:moveTo>
                  <a:lnTo>
                    <a:pt x="5088636" y="45720"/>
                  </a:lnTo>
                  <a:lnTo>
                    <a:pt x="5088636" y="55880"/>
                  </a:lnTo>
                  <a:lnTo>
                    <a:pt x="5088636" y="407670"/>
                  </a:lnTo>
                  <a:lnTo>
                    <a:pt x="56388" y="407670"/>
                  </a:lnTo>
                  <a:lnTo>
                    <a:pt x="56388" y="55880"/>
                  </a:lnTo>
                  <a:lnTo>
                    <a:pt x="5088636" y="55880"/>
                  </a:lnTo>
                  <a:lnTo>
                    <a:pt x="5088636" y="45720"/>
                  </a:lnTo>
                  <a:lnTo>
                    <a:pt x="45720" y="45720"/>
                  </a:lnTo>
                  <a:lnTo>
                    <a:pt x="45720" y="55880"/>
                  </a:lnTo>
                  <a:lnTo>
                    <a:pt x="45720" y="407670"/>
                  </a:lnTo>
                  <a:lnTo>
                    <a:pt x="45720" y="419100"/>
                  </a:lnTo>
                  <a:lnTo>
                    <a:pt x="5099304" y="419100"/>
                  </a:lnTo>
                  <a:lnTo>
                    <a:pt x="5099304" y="407924"/>
                  </a:lnTo>
                  <a:lnTo>
                    <a:pt x="5099304" y="407670"/>
                  </a:lnTo>
                  <a:lnTo>
                    <a:pt x="5099304" y="55880"/>
                  </a:lnTo>
                  <a:lnTo>
                    <a:pt x="5099304" y="45720"/>
                  </a:lnTo>
                  <a:close/>
                </a:path>
                <a:path w="5145405" h="464820">
                  <a:moveTo>
                    <a:pt x="5145024" y="0"/>
                  </a:moveTo>
                  <a:lnTo>
                    <a:pt x="5111496" y="0"/>
                  </a:lnTo>
                  <a:lnTo>
                    <a:pt x="5111496" y="33020"/>
                  </a:lnTo>
                  <a:lnTo>
                    <a:pt x="5111496" y="430530"/>
                  </a:lnTo>
                  <a:lnTo>
                    <a:pt x="33528" y="430530"/>
                  </a:lnTo>
                  <a:lnTo>
                    <a:pt x="33528" y="33020"/>
                  </a:lnTo>
                  <a:lnTo>
                    <a:pt x="5111496" y="33020"/>
                  </a:lnTo>
                  <a:lnTo>
                    <a:pt x="5111496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430530"/>
                  </a:lnTo>
                  <a:lnTo>
                    <a:pt x="0" y="464820"/>
                  </a:lnTo>
                  <a:lnTo>
                    <a:pt x="5145024" y="464820"/>
                  </a:lnTo>
                  <a:lnTo>
                    <a:pt x="5145024" y="430784"/>
                  </a:lnTo>
                  <a:lnTo>
                    <a:pt x="5145024" y="430530"/>
                  </a:lnTo>
                  <a:lnTo>
                    <a:pt x="5145024" y="33020"/>
                  </a:lnTo>
                  <a:lnTo>
                    <a:pt x="5145024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7136" y="5864352"/>
            <a:ext cx="8266175" cy="81686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88416" y="1643944"/>
            <a:ext cx="8923020" cy="492950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8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practice,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both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methods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used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find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limits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levels</a:t>
            </a:r>
            <a:endParaRPr sz="2600">
              <a:latin typeface="Calibri"/>
              <a:cs typeface="Calibri"/>
            </a:endParaRPr>
          </a:p>
          <a:p>
            <a:pPr marL="189230" marR="5080" indent="-177165">
              <a:lnSpc>
                <a:spcPct val="80000"/>
              </a:lnSpc>
              <a:spcBef>
                <a:spcPts val="140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Example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1: </a:t>
            </a:r>
            <a:r>
              <a:rPr sz="2600" spc="-50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6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1-MHz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bandwidth.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SNR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6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63.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What</a:t>
            </a:r>
            <a:r>
              <a:rPr sz="26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appropriate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and 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level?</a:t>
            </a:r>
            <a:endParaRPr sz="2600">
              <a:latin typeface="Calibri"/>
              <a:cs typeface="Calibri"/>
            </a:endParaRPr>
          </a:p>
          <a:p>
            <a:pPr marL="419100" lvl="1" indent="-183515">
              <a:lnSpc>
                <a:spcPts val="252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Use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Shannon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formula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find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upper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limit.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1CACE4"/>
              </a:buClr>
              <a:buFont typeface="Calibri"/>
              <a:buChar char="◦"/>
            </a:pP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1CACE4"/>
              </a:buClr>
              <a:buFont typeface="Calibri"/>
              <a:buChar char="◦"/>
            </a:pPr>
            <a:endParaRPr sz="2400">
              <a:latin typeface="Calibri"/>
              <a:cs typeface="Calibri"/>
            </a:endParaRPr>
          </a:p>
          <a:p>
            <a:pPr marL="641350" lvl="2" indent="-183515">
              <a:lnSpc>
                <a:spcPct val="100000"/>
              </a:lnSpc>
              <a:spcBef>
                <a:spcPts val="5"/>
              </a:spcBef>
              <a:buClr>
                <a:srgbClr val="1CACE4"/>
              </a:buClr>
              <a:buChar char="◦"/>
              <a:tabLst>
                <a:tab pos="641985" algn="l"/>
              </a:tabLst>
            </a:pP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Shannon</a:t>
            </a:r>
            <a:r>
              <a:rPr sz="17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formula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gives</a:t>
            </a:r>
            <a:r>
              <a:rPr sz="17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us</a:t>
            </a:r>
            <a:r>
              <a:rPr sz="17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6</a:t>
            </a:r>
            <a:r>
              <a:rPr sz="17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Mbps,</a:t>
            </a:r>
            <a:r>
              <a:rPr sz="17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upper</a:t>
            </a:r>
            <a:r>
              <a:rPr sz="17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limit</a:t>
            </a:r>
            <a:endParaRPr sz="1700">
              <a:latin typeface="Calibri"/>
              <a:cs typeface="Calibri"/>
            </a:endParaRPr>
          </a:p>
          <a:p>
            <a:pPr marL="818515" lvl="3" indent="-183515">
              <a:lnSpc>
                <a:spcPct val="100000"/>
              </a:lnSpc>
              <a:spcBef>
                <a:spcPts val="190"/>
              </a:spcBef>
              <a:buClr>
                <a:srgbClr val="1CACE4"/>
              </a:buClr>
              <a:buChar char="◦"/>
              <a:tabLst>
                <a:tab pos="819150" algn="l"/>
              </a:tabLst>
            </a:pP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better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performance</a:t>
            </a:r>
            <a:r>
              <a:rPr sz="17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choose</a:t>
            </a:r>
            <a:r>
              <a:rPr sz="17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something</a:t>
            </a:r>
            <a:r>
              <a:rPr sz="1700" spc="-30" dirty="0">
                <a:solidFill>
                  <a:srgbClr val="3F3F3F"/>
                </a:solidFill>
                <a:latin typeface="Calibri"/>
                <a:cs typeface="Calibri"/>
              </a:rPr>
              <a:t> lower,</a:t>
            </a:r>
            <a:r>
              <a:rPr sz="17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4</a:t>
            </a:r>
            <a:r>
              <a:rPr sz="17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Mbps,</a:t>
            </a:r>
            <a:r>
              <a:rPr sz="17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7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example.</a:t>
            </a:r>
            <a:endParaRPr sz="1700">
              <a:latin typeface="Calibri"/>
              <a:cs typeface="Calibri"/>
            </a:endParaRPr>
          </a:p>
          <a:p>
            <a:pPr marL="420370" lvl="1" indent="-183515">
              <a:lnSpc>
                <a:spcPct val="100000"/>
              </a:lnSpc>
              <a:spcBef>
                <a:spcPts val="50"/>
              </a:spcBef>
              <a:buClr>
                <a:srgbClr val="1CACE4"/>
              </a:buClr>
              <a:buChar char="◦"/>
              <a:tabLst>
                <a:tab pos="421005" algn="l"/>
              </a:tabLst>
            </a:pPr>
            <a:r>
              <a:rPr sz="2200" u="heavy" spc="-5" dirty="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U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Nyquist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formula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find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Calibri"/>
              <a:cs typeface="Calibri"/>
            </a:endParaRPr>
          </a:p>
          <a:p>
            <a:pPr marL="2529840" marR="774065" indent="-2174875">
              <a:lnSpc>
                <a:spcPct val="100000"/>
              </a:lnSpc>
            </a:pP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Shannon</a:t>
            </a: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capacity</a:t>
            </a: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gives us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upper</a:t>
            </a:r>
            <a:r>
              <a:rPr sz="20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limit;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Nyquist</a:t>
            </a:r>
            <a:r>
              <a:rPr sz="20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formula</a:t>
            </a:r>
            <a:r>
              <a:rPr sz="20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tells</a:t>
            </a:r>
            <a:r>
              <a:rPr sz="20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us </a:t>
            </a:r>
            <a:r>
              <a:rPr sz="2000" b="1" i="1" spc="-4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0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15" dirty="0">
                <a:solidFill>
                  <a:srgbClr val="FF0000"/>
                </a:solidFill>
                <a:latin typeface="Calibri"/>
                <a:cs typeface="Calibri"/>
              </a:rPr>
              <a:t>many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signal</a:t>
            </a:r>
            <a:r>
              <a:rPr sz="20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levels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we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alibri"/>
                <a:cs typeface="Calibri"/>
              </a:rPr>
              <a:t>need.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Network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Performance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72874"/>
            <a:ext cx="7840980" cy="38862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89230" marR="5080" indent="-177165">
              <a:lnSpc>
                <a:spcPts val="3000"/>
              </a:lnSpc>
              <a:spcBef>
                <a:spcPts val="4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important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issue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networking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800" spc="-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0070BF"/>
                </a:solidFill>
                <a:latin typeface="Calibri"/>
                <a:cs typeface="Calibri"/>
              </a:rPr>
              <a:t>performance</a:t>
            </a:r>
            <a:r>
              <a:rPr sz="2800" spc="1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network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Performance parameters: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4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endParaRPr sz="24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42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00AF4F"/>
                </a:solidFill>
                <a:latin typeface="Calibri"/>
                <a:cs typeface="Calibri"/>
              </a:rPr>
              <a:t>Analog</a:t>
            </a:r>
            <a:r>
              <a:rPr sz="1800" spc="-30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–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Hertz</a:t>
            </a:r>
            <a:endParaRPr sz="18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8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10" dirty="0">
                <a:solidFill>
                  <a:srgbClr val="0070BF"/>
                </a:solidFill>
                <a:latin typeface="Calibri"/>
                <a:cs typeface="Calibri"/>
              </a:rPr>
              <a:t>Digital</a:t>
            </a:r>
            <a:r>
              <a:rPr sz="1800" spc="-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–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Bits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second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(bps)</a:t>
            </a:r>
            <a:endParaRPr sz="1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28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Throughput</a:t>
            </a:r>
            <a:endParaRPr sz="24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42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Actual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endParaRPr sz="1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27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Latency</a:t>
            </a:r>
            <a:r>
              <a:rPr sz="24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(delay)</a:t>
            </a:r>
            <a:endParaRPr sz="24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42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takes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entire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message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completely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arrive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destination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Bandwidth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644859"/>
            <a:ext cx="8702040" cy="458724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9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used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contexts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measuring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values: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ts val="2845"/>
              </a:lnSpc>
              <a:spcBef>
                <a:spcPts val="83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hertz</a:t>
            </a:r>
            <a:endParaRPr sz="2400">
              <a:latin typeface="Calibri"/>
              <a:cs typeface="Calibri"/>
            </a:endParaRPr>
          </a:p>
          <a:p>
            <a:pPr marL="419100" marR="5080" lvl="1" indent="-182880">
              <a:lnSpc>
                <a:spcPct val="80000"/>
              </a:lnSpc>
              <a:spcBef>
                <a:spcPts val="44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range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frequencies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contained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composite signal or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range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frequencies </a:t>
            </a:r>
            <a:r>
              <a:rPr sz="2000" spc="-4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pass</a:t>
            </a:r>
            <a:endParaRPr sz="20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26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Ex.</a:t>
            </a:r>
            <a:r>
              <a:rPr sz="15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15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 subscriber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telephone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line</a:t>
            </a:r>
            <a:r>
              <a:rPr sz="15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5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4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kHz</a:t>
            </a:r>
            <a:endParaRPr sz="1500">
              <a:latin typeface="Calibri"/>
              <a:cs typeface="Calibri"/>
            </a:endParaRPr>
          </a:p>
          <a:p>
            <a:pPr marL="189230" indent="-177165">
              <a:lnSpc>
                <a:spcPts val="2850"/>
              </a:lnSpc>
              <a:spcBef>
                <a:spcPts val="98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second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ts val="237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bits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per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second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channel, 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link,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even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network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transmit</a:t>
            </a:r>
            <a:endParaRPr sz="2000">
              <a:latin typeface="Calibri"/>
              <a:cs typeface="Calibri"/>
            </a:endParaRPr>
          </a:p>
          <a:p>
            <a:pPr marL="640080" marR="412750" lvl="2" indent="-182880">
              <a:lnSpc>
                <a:spcPct val="80000"/>
              </a:lnSpc>
              <a:spcBef>
                <a:spcPts val="62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Ex.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15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Fast</a:t>
            </a:r>
            <a:r>
              <a:rPr sz="15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Ethernet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network</a:t>
            </a:r>
            <a:r>
              <a:rPr sz="15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(or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links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 in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15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network)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 is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maximum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500" spc="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100</a:t>
            </a:r>
            <a:r>
              <a:rPr sz="15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Mbps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 - </a:t>
            </a:r>
            <a:r>
              <a:rPr sz="1500" spc="-3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means</a:t>
            </a:r>
            <a:r>
              <a:rPr sz="15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15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15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network</a:t>
            </a:r>
            <a:r>
              <a:rPr sz="15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15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100</a:t>
            </a:r>
            <a:r>
              <a:rPr sz="15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Mbps.</a:t>
            </a:r>
            <a:endParaRPr sz="15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Clr>
                <a:srgbClr val="1CACE4"/>
              </a:buClr>
              <a:buFont typeface="Calibri"/>
              <a:buChar char="◦"/>
            </a:pPr>
            <a:endParaRPr sz="1250">
              <a:latin typeface="Calibri"/>
              <a:cs typeface="Calibri"/>
            </a:endParaRPr>
          </a:p>
          <a:p>
            <a:pPr marL="189230" marR="233045" indent="-177165">
              <a:lnSpc>
                <a:spcPct val="80000"/>
              </a:lnSpc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relationship between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bandwidth in hertz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bandwidth in bits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second</a:t>
            </a:r>
            <a:endParaRPr sz="2400">
              <a:latin typeface="Calibri"/>
              <a:cs typeface="Calibri"/>
            </a:endParaRPr>
          </a:p>
          <a:p>
            <a:pPr marL="419100" marR="674370" lvl="1" indent="-182880">
              <a:lnSpc>
                <a:spcPts val="1920"/>
              </a:lnSpc>
              <a:spcBef>
                <a:spcPts val="39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increase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hertz means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increase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per </a:t>
            </a:r>
            <a:r>
              <a:rPr sz="2000" spc="-4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second</a:t>
            </a:r>
            <a:endParaRPr sz="20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27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depends</a:t>
            </a:r>
            <a:r>
              <a:rPr sz="15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whether</a:t>
            </a:r>
            <a:r>
              <a:rPr sz="15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15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have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baseband</a:t>
            </a:r>
            <a:r>
              <a:rPr sz="15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15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F3F3F"/>
                </a:solidFill>
                <a:latin typeface="Calibri"/>
                <a:cs typeface="Calibri"/>
              </a:rPr>
              <a:t>with modulation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Bandwidth</a:t>
            </a:r>
            <a:r>
              <a:rPr b="1" spc="-16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–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examples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769826"/>
            <a:ext cx="8749665" cy="34969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 algn="just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 bandwidth of a subscriber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line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is 4 kHz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voice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or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  <a:p>
            <a:pPr marL="189230" marR="5080" indent="-177165" algn="just">
              <a:lnSpc>
                <a:spcPts val="3020"/>
              </a:lnSpc>
              <a:spcBef>
                <a:spcPts val="141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 bandwidth of this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line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transmission can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be up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56,000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bps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using a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sophisticated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modem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change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analog.</a:t>
            </a:r>
            <a:endParaRPr sz="2800">
              <a:latin typeface="Calibri"/>
              <a:cs typeface="Calibri"/>
            </a:endParaRPr>
          </a:p>
          <a:p>
            <a:pPr marL="189230" marR="6350" indent="-177165" algn="just">
              <a:lnSpc>
                <a:spcPts val="3020"/>
              </a:lnSpc>
              <a:spcBef>
                <a:spcPts val="141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telephone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company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improves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quality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line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and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increases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8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kHz,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can</a:t>
            </a:r>
            <a:r>
              <a:rPr sz="2800" spc="6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send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112,000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bps.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Throughput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713439"/>
            <a:ext cx="8511540" cy="413829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89230" marR="676910" indent="-177165">
              <a:lnSpc>
                <a:spcPct val="70000"/>
              </a:lnSpc>
              <a:spcBef>
                <a:spcPts val="104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Measure</a:t>
            </a:r>
            <a:r>
              <a:rPr sz="26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how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fast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actually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through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5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network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ts val="2930"/>
              </a:lnSpc>
              <a:spcBef>
                <a:spcPts val="4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second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throughput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endParaRPr sz="2600">
              <a:latin typeface="Calibri"/>
              <a:cs typeface="Calibri"/>
            </a:endParaRPr>
          </a:p>
          <a:p>
            <a:pPr marL="419100" lvl="1" indent="-183515">
              <a:lnSpc>
                <a:spcPts val="205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link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may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22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2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3F3F3F"/>
                </a:solidFill>
                <a:latin typeface="Calibri"/>
                <a:cs typeface="Calibri"/>
              </a:rPr>
              <a:t>bps,</a:t>
            </a:r>
            <a:r>
              <a:rPr sz="22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3F3F3F"/>
                </a:solidFill>
                <a:latin typeface="Calibri"/>
                <a:cs typeface="Calibri"/>
              </a:rPr>
              <a:t>but</a:t>
            </a:r>
            <a:r>
              <a:rPr sz="22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200" i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3F3F3F"/>
                </a:solidFill>
                <a:latin typeface="Calibri"/>
                <a:cs typeface="Calibri"/>
              </a:rPr>
              <a:t>can only</a:t>
            </a:r>
            <a:r>
              <a:rPr sz="22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200" i="1" spc="-5" dirty="0">
                <a:solidFill>
                  <a:srgbClr val="3F3F3F"/>
                </a:solidFill>
                <a:latin typeface="Calibri"/>
                <a:cs typeface="Calibri"/>
              </a:rPr>
              <a:t> T</a:t>
            </a:r>
            <a:r>
              <a:rPr sz="22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3F3F3F"/>
                </a:solidFill>
                <a:latin typeface="Calibri"/>
                <a:cs typeface="Calibri"/>
              </a:rPr>
              <a:t>bps</a:t>
            </a:r>
            <a:endParaRPr sz="2200">
              <a:latin typeface="Calibri"/>
              <a:cs typeface="Calibri"/>
            </a:endParaRPr>
          </a:p>
          <a:p>
            <a:pPr marL="419100">
              <a:lnSpc>
                <a:spcPts val="2150"/>
              </a:lnSpc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through this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link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2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3F3F3F"/>
                </a:solidFill>
                <a:latin typeface="Calibri"/>
                <a:cs typeface="Calibri"/>
              </a:rPr>
              <a:t>always</a:t>
            </a:r>
            <a:r>
              <a:rPr sz="22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3F3F3F"/>
                </a:solidFill>
                <a:latin typeface="Calibri"/>
                <a:cs typeface="Calibri"/>
              </a:rPr>
              <a:t>less than</a:t>
            </a:r>
            <a:r>
              <a:rPr sz="2200" i="1" spc="-5" dirty="0">
                <a:solidFill>
                  <a:srgbClr val="3F3F3F"/>
                </a:solidFill>
                <a:latin typeface="Calibri"/>
                <a:cs typeface="Calibri"/>
              </a:rPr>
              <a:t> B.</a:t>
            </a:r>
            <a:endParaRPr sz="2200">
              <a:latin typeface="Calibri"/>
              <a:cs typeface="Calibri"/>
            </a:endParaRPr>
          </a:p>
          <a:p>
            <a:pPr marL="419100" marR="288925" lvl="1" indent="-182880">
              <a:lnSpc>
                <a:spcPct val="70000"/>
              </a:lnSpc>
              <a:spcBef>
                <a:spcPts val="695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200" i="1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2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3F3F3F"/>
                </a:solidFill>
                <a:latin typeface="Calibri"/>
                <a:cs typeface="Calibri"/>
              </a:rPr>
              <a:t>is a </a:t>
            </a:r>
            <a:r>
              <a:rPr sz="2200" i="1" spc="-15" dirty="0">
                <a:solidFill>
                  <a:srgbClr val="3F3F3F"/>
                </a:solidFill>
                <a:latin typeface="Calibri"/>
                <a:cs typeface="Calibri"/>
              </a:rPr>
              <a:t>potential</a:t>
            </a:r>
            <a:r>
              <a:rPr sz="2200" i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measurement</a:t>
            </a:r>
            <a:r>
              <a:rPr sz="22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link;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throughput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200" spc="-48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actual</a:t>
            </a:r>
            <a:r>
              <a:rPr sz="22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measurement</a:t>
            </a:r>
            <a:r>
              <a:rPr sz="22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how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fast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  <a:p>
            <a:pPr marL="419100" marR="209550" lvl="1" indent="-182880">
              <a:lnSpc>
                <a:spcPct val="70000"/>
              </a:lnSpc>
              <a:spcBef>
                <a:spcPts val="60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example,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may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link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bandwidth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Mbps,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but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200" spc="-4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devices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connected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end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link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may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handle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only</a:t>
            </a:r>
            <a:r>
              <a:rPr sz="22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200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kbps</a:t>
            </a:r>
            <a:endParaRPr sz="2200">
              <a:latin typeface="Calibri"/>
              <a:cs typeface="Calibri"/>
            </a:endParaRPr>
          </a:p>
          <a:p>
            <a:pPr marL="640080" lvl="2" indent="-183515">
              <a:lnSpc>
                <a:spcPts val="1930"/>
              </a:lnSpc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cannot</a:t>
            </a:r>
            <a:r>
              <a:rPr sz="17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17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more</a:t>
            </a:r>
            <a:r>
              <a:rPr sz="17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than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200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kbps</a:t>
            </a:r>
            <a:r>
              <a:rPr sz="17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through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17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link.</a:t>
            </a:r>
            <a:endParaRPr sz="1700">
              <a:latin typeface="Calibri"/>
              <a:cs typeface="Calibri"/>
            </a:endParaRPr>
          </a:p>
          <a:p>
            <a:pPr marL="419100" marR="5080" lvl="1" indent="-182880">
              <a:lnSpc>
                <a:spcPct val="70000"/>
              </a:lnSpc>
              <a:spcBef>
                <a:spcPts val="70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Imagine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highway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designed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transmit</a:t>
            </a:r>
            <a:r>
              <a:rPr sz="22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1000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cars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minute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one </a:t>
            </a:r>
            <a:r>
              <a:rPr sz="2200" spc="-48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point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3F3F3F"/>
                </a:solidFill>
                <a:latin typeface="Calibri"/>
                <a:cs typeface="Calibri"/>
              </a:rPr>
              <a:t>another.</a:t>
            </a:r>
            <a:endParaRPr sz="2200">
              <a:latin typeface="Calibri"/>
              <a:cs typeface="Calibri"/>
            </a:endParaRPr>
          </a:p>
          <a:p>
            <a:pPr marL="419100" lvl="1" indent="-183515">
              <a:lnSpc>
                <a:spcPts val="244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Due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congestion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road,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100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cars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minute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transmitted</a:t>
            </a:r>
            <a:endParaRPr sz="2200">
              <a:latin typeface="Calibri"/>
              <a:cs typeface="Calibri"/>
            </a:endParaRPr>
          </a:p>
          <a:p>
            <a:pPr marL="640080" lvl="2" indent="-183515">
              <a:lnSpc>
                <a:spcPts val="2030"/>
              </a:lnSpc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17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7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1000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cars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 minute;</a:t>
            </a:r>
            <a:r>
              <a:rPr sz="17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 throughput</a:t>
            </a:r>
            <a:r>
              <a:rPr sz="17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7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100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cars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minute.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Throughput</a:t>
            </a:r>
            <a:r>
              <a:rPr b="1" spc="-1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-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69826"/>
            <a:ext cx="8606790" cy="1604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network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Mbps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pass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average</a:t>
            </a:r>
            <a:r>
              <a:rPr sz="2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12,000</a:t>
            </a:r>
            <a:r>
              <a:rPr sz="28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frames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minute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each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frame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carrying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average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10,000</a:t>
            </a:r>
            <a:r>
              <a:rPr sz="28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bits.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throughput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network?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29611" y="3754120"/>
            <a:ext cx="4892040" cy="734060"/>
            <a:chOff x="2229611" y="3754120"/>
            <a:chExt cx="4892040" cy="734060"/>
          </a:xfrm>
        </p:grpSpPr>
        <p:sp>
          <p:nvSpPr>
            <p:cNvPr id="5" name="object 5"/>
            <p:cNvSpPr/>
            <p:nvPr/>
          </p:nvSpPr>
          <p:spPr>
            <a:xfrm>
              <a:off x="2229599" y="3754119"/>
              <a:ext cx="4892040" cy="133985"/>
            </a:xfrm>
            <a:custGeom>
              <a:avLst/>
              <a:gdLst/>
              <a:ahLst/>
              <a:cxnLst/>
              <a:rect l="l" t="t" r="r" b="b"/>
              <a:pathLst>
                <a:path w="4892040" h="133985">
                  <a:moveTo>
                    <a:pt x="4846320" y="45720"/>
                  </a:moveTo>
                  <a:lnTo>
                    <a:pt x="45720" y="45720"/>
                  </a:lnTo>
                  <a:lnTo>
                    <a:pt x="45720" y="55880"/>
                  </a:lnTo>
                  <a:lnTo>
                    <a:pt x="45720" y="133350"/>
                  </a:lnTo>
                  <a:lnTo>
                    <a:pt x="56388" y="133350"/>
                  </a:lnTo>
                  <a:lnTo>
                    <a:pt x="56388" y="55880"/>
                  </a:lnTo>
                  <a:lnTo>
                    <a:pt x="4835652" y="55880"/>
                  </a:lnTo>
                  <a:lnTo>
                    <a:pt x="4835652" y="133604"/>
                  </a:lnTo>
                  <a:lnTo>
                    <a:pt x="4846320" y="133604"/>
                  </a:lnTo>
                  <a:lnTo>
                    <a:pt x="4846320" y="55880"/>
                  </a:lnTo>
                  <a:lnTo>
                    <a:pt x="4846320" y="45720"/>
                  </a:lnTo>
                  <a:close/>
                </a:path>
                <a:path w="4892040" h="133985">
                  <a:moveTo>
                    <a:pt x="489204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133350"/>
                  </a:lnTo>
                  <a:lnTo>
                    <a:pt x="33528" y="133350"/>
                  </a:lnTo>
                  <a:lnTo>
                    <a:pt x="33528" y="33020"/>
                  </a:lnTo>
                  <a:lnTo>
                    <a:pt x="4858512" y="33020"/>
                  </a:lnTo>
                  <a:lnTo>
                    <a:pt x="4858512" y="133604"/>
                  </a:lnTo>
                  <a:lnTo>
                    <a:pt x="4892040" y="133604"/>
                  </a:lnTo>
                  <a:lnTo>
                    <a:pt x="4892040" y="33020"/>
                  </a:lnTo>
                  <a:lnTo>
                    <a:pt x="4892040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3810000"/>
              <a:ext cx="4779263" cy="6217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29599" y="3886199"/>
              <a:ext cx="4892040" cy="601980"/>
            </a:xfrm>
            <a:custGeom>
              <a:avLst/>
              <a:gdLst/>
              <a:ahLst/>
              <a:cxnLst/>
              <a:rect l="l" t="t" r="r" b="b"/>
              <a:pathLst>
                <a:path w="4892040" h="601979">
                  <a:moveTo>
                    <a:pt x="4846320" y="546100"/>
                  </a:moveTo>
                  <a:lnTo>
                    <a:pt x="56388" y="546100"/>
                  </a:lnTo>
                  <a:lnTo>
                    <a:pt x="56388" y="0"/>
                  </a:lnTo>
                  <a:lnTo>
                    <a:pt x="45720" y="0"/>
                  </a:lnTo>
                  <a:lnTo>
                    <a:pt x="45720" y="546100"/>
                  </a:lnTo>
                  <a:lnTo>
                    <a:pt x="45720" y="556260"/>
                  </a:lnTo>
                  <a:lnTo>
                    <a:pt x="4846320" y="556260"/>
                  </a:lnTo>
                  <a:lnTo>
                    <a:pt x="4846320" y="546100"/>
                  </a:lnTo>
                  <a:close/>
                </a:path>
                <a:path w="4892040" h="601979">
                  <a:moveTo>
                    <a:pt x="4846320" y="0"/>
                  </a:moveTo>
                  <a:lnTo>
                    <a:pt x="4835652" y="0"/>
                  </a:lnTo>
                  <a:lnTo>
                    <a:pt x="4835652" y="545592"/>
                  </a:lnTo>
                  <a:lnTo>
                    <a:pt x="4846320" y="545592"/>
                  </a:lnTo>
                  <a:lnTo>
                    <a:pt x="4846320" y="0"/>
                  </a:lnTo>
                  <a:close/>
                </a:path>
                <a:path w="4892040" h="601979">
                  <a:moveTo>
                    <a:pt x="4892040" y="568960"/>
                  </a:moveTo>
                  <a:lnTo>
                    <a:pt x="33528" y="568960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568960"/>
                  </a:lnTo>
                  <a:lnTo>
                    <a:pt x="0" y="601980"/>
                  </a:lnTo>
                  <a:lnTo>
                    <a:pt x="4892040" y="601980"/>
                  </a:lnTo>
                  <a:lnTo>
                    <a:pt x="4892040" y="568960"/>
                  </a:lnTo>
                  <a:close/>
                </a:path>
                <a:path w="4892040" h="601979">
                  <a:moveTo>
                    <a:pt x="4892040" y="0"/>
                  </a:moveTo>
                  <a:lnTo>
                    <a:pt x="4858512" y="0"/>
                  </a:lnTo>
                  <a:lnTo>
                    <a:pt x="4858512" y="568452"/>
                  </a:lnTo>
                  <a:lnTo>
                    <a:pt x="4892040" y="568452"/>
                  </a:lnTo>
                  <a:lnTo>
                    <a:pt x="4892040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9" name="object 9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97667" y="4607514"/>
            <a:ext cx="870140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throughput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almost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one-fifth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this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case.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Latency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13439"/>
            <a:ext cx="8630920" cy="1431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 indent="-177165">
              <a:lnSpc>
                <a:spcPts val="2650"/>
              </a:lnSpc>
              <a:spcBef>
                <a:spcPts val="1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b="1" spc="-10" dirty="0">
                <a:solidFill>
                  <a:srgbClr val="3F3F3F"/>
                </a:solidFill>
                <a:latin typeface="Calibri"/>
                <a:cs typeface="Calibri"/>
              </a:rPr>
              <a:t>Defines</a:t>
            </a:r>
            <a:r>
              <a:rPr sz="26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3F3F3F"/>
                </a:solidFill>
                <a:latin typeface="Calibri"/>
                <a:cs typeface="Calibri"/>
              </a:rPr>
              <a:t>how long</a:t>
            </a:r>
            <a:r>
              <a:rPr sz="26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6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3F3F3F"/>
                </a:solidFill>
                <a:latin typeface="Calibri"/>
                <a:cs typeface="Calibri"/>
              </a:rPr>
              <a:t>takes</a:t>
            </a:r>
            <a:r>
              <a:rPr sz="26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1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6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6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15" dirty="0">
                <a:solidFill>
                  <a:srgbClr val="3F3F3F"/>
                </a:solidFill>
                <a:latin typeface="Calibri"/>
                <a:cs typeface="Calibri"/>
              </a:rPr>
              <a:t>entire</a:t>
            </a:r>
            <a:r>
              <a:rPr sz="26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3F3F3F"/>
                </a:solidFill>
                <a:latin typeface="Calibri"/>
                <a:cs typeface="Calibri"/>
              </a:rPr>
              <a:t>message</a:t>
            </a:r>
            <a:r>
              <a:rPr sz="26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6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3F3F3F"/>
                </a:solidFill>
                <a:latin typeface="Calibri"/>
                <a:cs typeface="Calibri"/>
              </a:rPr>
              <a:t>completely</a:t>
            </a:r>
            <a:endParaRPr sz="2600">
              <a:latin typeface="Calibri"/>
              <a:cs typeface="Calibri"/>
            </a:endParaRPr>
          </a:p>
          <a:p>
            <a:pPr marL="189230" marR="268605">
              <a:lnSpc>
                <a:spcPct val="70000"/>
              </a:lnSpc>
              <a:spcBef>
                <a:spcPts val="465"/>
              </a:spcBef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arrive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at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destination from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time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first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bit is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sent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out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source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4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Composed</a:t>
            </a:r>
            <a:r>
              <a:rPr sz="26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1695" y="3071322"/>
            <a:ext cx="2250440" cy="1292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ts val="2545"/>
              </a:lnSpc>
              <a:spcBef>
                <a:spcPts val="95"/>
              </a:spcBef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Propagation</a:t>
            </a:r>
            <a:r>
              <a:rPr sz="2200" spc="-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marL="195580" indent="-182880">
              <a:lnSpc>
                <a:spcPts val="2450"/>
              </a:lnSpc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200" spc="-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marL="195580" indent="-182880">
              <a:lnSpc>
                <a:spcPts val="2450"/>
              </a:lnSpc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Queuing</a:t>
            </a:r>
            <a:r>
              <a:rPr sz="22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marL="195580" indent="-182880">
              <a:lnSpc>
                <a:spcPts val="2545"/>
              </a:lnSpc>
              <a:buClr>
                <a:srgbClr val="1CACE4"/>
              </a:buClr>
              <a:buChar char="◦"/>
              <a:tabLst>
                <a:tab pos="195580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Processing</a:t>
            </a:r>
            <a:r>
              <a:rPr sz="22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1739" y="3218179"/>
            <a:ext cx="28232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Latency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39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propagation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  <a:p>
            <a:pPr marL="954405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+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transmission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  <a:p>
            <a:pPr marL="954405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+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queuing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  <a:p>
            <a:pPr marL="954405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+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processing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delay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7" name="object 7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60703" y="4870703"/>
            <a:ext cx="7405370" cy="1842770"/>
            <a:chOff x="1060703" y="4870703"/>
            <a:chExt cx="7405370" cy="184277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199" y="4876799"/>
              <a:ext cx="534923" cy="4861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4499" y="4928615"/>
              <a:ext cx="307847" cy="2042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6147" y="5244083"/>
              <a:ext cx="153923" cy="1828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594091" y="4870703"/>
              <a:ext cx="547370" cy="497205"/>
            </a:xfrm>
            <a:custGeom>
              <a:avLst/>
              <a:gdLst/>
              <a:ahLst/>
              <a:cxnLst/>
              <a:rect l="l" t="t" r="r" b="b"/>
              <a:pathLst>
                <a:path w="547369" h="497204">
                  <a:moveTo>
                    <a:pt x="432816" y="51816"/>
                  </a:moveTo>
                  <a:lnTo>
                    <a:pt x="420624" y="51816"/>
                  </a:lnTo>
                  <a:lnTo>
                    <a:pt x="420624" y="64008"/>
                  </a:lnTo>
                  <a:lnTo>
                    <a:pt x="420624" y="252984"/>
                  </a:lnTo>
                  <a:lnTo>
                    <a:pt x="126492" y="252984"/>
                  </a:lnTo>
                  <a:lnTo>
                    <a:pt x="126492" y="64008"/>
                  </a:lnTo>
                  <a:lnTo>
                    <a:pt x="420624" y="64008"/>
                  </a:lnTo>
                  <a:lnTo>
                    <a:pt x="420624" y="51816"/>
                  </a:lnTo>
                  <a:lnTo>
                    <a:pt x="114300" y="51816"/>
                  </a:lnTo>
                  <a:lnTo>
                    <a:pt x="114300" y="260604"/>
                  </a:lnTo>
                  <a:lnTo>
                    <a:pt x="120396" y="260604"/>
                  </a:lnTo>
                  <a:lnTo>
                    <a:pt x="120396" y="266700"/>
                  </a:lnTo>
                  <a:lnTo>
                    <a:pt x="432816" y="266700"/>
                  </a:lnTo>
                  <a:lnTo>
                    <a:pt x="432816" y="260604"/>
                  </a:lnTo>
                  <a:lnTo>
                    <a:pt x="432816" y="252984"/>
                  </a:lnTo>
                  <a:lnTo>
                    <a:pt x="432816" y="64008"/>
                  </a:lnTo>
                  <a:lnTo>
                    <a:pt x="432816" y="57912"/>
                  </a:lnTo>
                  <a:lnTo>
                    <a:pt x="432816" y="51816"/>
                  </a:lnTo>
                  <a:close/>
                </a:path>
                <a:path w="547369" h="497204">
                  <a:moveTo>
                    <a:pt x="510540" y="367284"/>
                  </a:moveTo>
                  <a:lnTo>
                    <a:pt x="498348" y="367284"/>
                  </a:lnTo>
                  <a:lnTo>
                    <a:pt x="498348" y="381000"/>
                  </a:lnTo>
                  <a:lnTo>
                    <a:pt x="498348" y="384048"/>
                  </a:lnTo>
                  <a:lnTo>
                    <a:pt x="358140" y="384048"/>
                  </a:lnTo>
                  <a:lnTo>
                    <a:pt x="358140" y="381000"/>
                  </a:lnTo>
                  <a:lnTo>
                    <a:pt x="498348" y="381000"/>
                  </a:lnTo>
                  <a:lnTo>
                    <a:pt x="498348" y="367284"/>
                  </a:lnTo>
                  <a:lnTo>
                    <a:pt x="345948" y="367284"/>
                  </a:lnTo>
                  <a:lnTo>
                    <a:pt x="345948" y="390144"/>
                  </a:lnTo>
                  <a:lnTo>
                    <a:pt x="352044" y="390144"/>
                  </a:lnTo>
                  <a:lnTo>
                    <a:pt x="352044" y="396240"/>
                  </a:lnTo>
                  <a:lnTo>
                    <a:pt x="510540" y="396240"/>
                  </a:lnTo>
                  <a:lnTo>
                    <a:pt x="510540" y="390144"/>
                  </a:lnTo>
                  <a:lnTo>
                    <a:pt x="510540" y="384048"/>
                  </a:lnTo>
                  <a:lnTo>
                    <a:pt x="510540" y="381000"/>
                  </a:lnTo>
                  <a:lnTo>
                    <a:pt x="510540" y="373380"/>
                  </a:lnTo>
                  <a:lnTo>
                    <a:pt x="510540" y="367284"/>
                  </a:lnTo>
                  <a:close/>
                </a:path>
                <a:path w="547369" h="497204">
                  <a:moveTo>
                    <a:pt x="547116" y="345948"/>
                  </a:moveTo>
                  <a:lnTo>
                    <a:pt x="533400" y="345948"/>
                  </a:lnTo>
                  <a:lnTo>
                    <a:pt x="533400" y="358140"/>
                  </a:lnTo>
                  <a:lnTo>
                    <a:pt x="533400" y="484632"/>
                  </a:lnTo>
                  <a:lnTo>
                    <a:pt x="13716" y="484632"/>
                  </a:lnTo>
                  <a:lnTo>
                    <a:pt x="13716" y="358140"/>
                  </a:lnTo>
                  <a:lnTo>
                    <a:pt x="120396" y="358140"/>
                  </a:lnTo>
                  <a:lnTo>
                    <a:pt x="126492" y="358140"/>
                  </a:lnTo>
                  <a:lnTo>
                    <a:pt x="420624" y="358140"/>
                  </a:lnTo>
                  <a:lnTo>
                    <a:pt x="432816" y="358140"/>
                  </a:lnTo>
                  <a:lnTo>
                    <a:pt x="533400" y="358140"/>
                  </a:lnTo>
                  <a:lnTo>
                    <a:pt x="533400" y="345948"/>
                  </a:lnTo>
                  <a:lnTo>
                    <a:pt x="432816" y="345948"/>
                  </a:lnTo>
                  <a:lnTo>
                    <a:pt x="432816" y="316992"/>
                  </a:lnTo>
                  <a:lnTo>
                    <a:pt x="495300" y="316992"/>
                  </a:lnTo>
                  <a:lnTo>
                    <a:pt x="495300" y="304800"/>
                  </a:lnTo>
                  <a:lnTo>
                    <a:pt x="495300" y="13716"/>
                  </a:lnTo>
                  <a:lnTo>
                    <a:pt x="495300" y="6096"/>
                  </a:lnTo>
                  <a:lnTo>
                    <a:pt x="495300" y="0"/>
                  </a:lnTo>
                  <a:lnTo>
                    <a:pt x="483108" y="0"/>
                  </a:lnTo>
                  <a:lnTo>
                    <a:pt x="483108" y="13716"/>
                  </a:lnTo>
                  <a:lnTo>
                    <a:pt x="483108" y="304800"/>
                  </a:lnTo>
                  <a:lnTo>
                    <a:pt x="432816" y="304800"/>
                  </a:lnTo>
                  <a:lnTo>
                    <a:pt x="420624" y="304800"/>
                  </a:lnTo>
                  <a:lnTo>
                    <a:pt x="420624" y="316992"/>
                  </a:lnTo>
                  <a:lnTo>
                    <a:pt x="420624" y="345948"/>
                  </a:lnTo>
                  <a:lnTo>
                    <a:pt x="126492" y="345948"/>
                  </a:lnTo>
                  <a:lnTo>
                    <a:pt x="126492" y="316992"/>
                  </a:lnTo>
                  <a:lnTo>
                    <a:pt x="420624" y="316992"/>
                  </a:lnTo>
                  <a:lnTo>
                    <a:pt x="420624" y="304800"/>
                  </a:lnTo>
                  <a:lnTo>
                    <a:pt x="126492" y="304800"/>
                  </a:lnTo>
                  <a:lnTo>
                    <a:pt x="114300" y="304800"/>
                  </a:lnTo>
                  <a:lnTo>
                    <a:pt x="64008" y="304800"/>
                  </a:lnTo>
                  <a:lnTo>
                    <a:pt x="64008" y="13716"/>
                  </a:lnTo>
                  <a:lnTo>
                    <a:pt x="483108" y="13716"/>
                  </a:lnTo>
                  <a:lnTo>
                    <a:pt x="483108" y="0"/>
                  </a:lnTo>
                  <a:lnTo>
                    <a:pt x="51816" y="0"/>
                  </a:lnTo>
                  <a:lnTo>
                    <a:pt x="51816" y="316992"/>
                  </a:lnTo>
                  <a:lnTo>
                    <a:pt x="114300" y="316992"/>
                  </a:lnTo>
                  <a:lnTo>
                    <a:pt x="114300" y="345948"/>
                  </a:lnTo>
                  <a:lnTo>
                    <a:pt x="0" y="345948"/>
                  </a:lnTo>
                  <a:lnTo>
                    <a:pt x="0" y="496824"/>
                  </a:lnTo>
                  <a:lnTo>
                    <a:pt x="547116" y="496824"/>
                  </a:lnTo>
                  <a:lnTo>
                    <a:pt x="547116" y="490728"/>
                  </a:lnTo>
                  <a:lnTo>
                    <a:pt x="547116" y="484632"/>
                  </a:lnTo>
                  <a:lnTo>
                    <a:pt x="547116" y="358140"/>
                  </a:lnTo>
                  <a:lnTo>
                    <a:pt x="547116" y="3459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24787" y="4876799"/>
              <a:ext cx="533400" cy="485140"/>
            </a:xfrm>
            <a:custGeom>
              <a:avLst/>
              <a:gdLst/>
              <a:ahLst/>
              <a:cxnLst/>
              <a:rect l="l" t="t" r="r" b="b"/>
              <a:pathLst>
                <a:path w="533400" h="485139">
                  <a:moveTo>
                    <a:pt x="533400" y="345440"/>
                  </a:moveTo>
                  <a:lnTo>
                    <a:pt x="420624" y="345440"/>
                  </a:lnTo>
                  <a:lnTo>
                    <a:pt x="420624" y="304800"/>
                  </a:lnTo>
                  <a:lnTo>
                    <a:pt x="483108" y="304800"/>
                  </a:lnTo>
                  <a:lnTo>
                    <a:pt x="483108" y="0"/>
                  </a:lnTo>
                  <a:lnTo>
                    <a:pt x="51816" y="0"/>
                  </a:lnTo>
                  <a:lnTo>
                    <a:pt x="51816" y="304800"/>
                  </a:lnTo>
                  <a:lnTo>
                    <a:pt x="114300" y="304800"/>
                  </a:lnTo>
                  <a:lnTo>
                    <a:pt x="114300" y="344424"/>
                  </a:lnTo>
                  <a:lnTo>
                    <a:pt x="114300" y="345440"/>
                  </a:lnTo>
                  <a:lnTo>
                    <a:pt x="0" y="345440"/>
                  </a:lnTo>
                  <a:lnTo>
                    <a:pt x="0" y="485140"/>
                  </a:lnTo>
                  <a:lnTo>
                    <a:pt x="533400" y="485140"/>
                  </a:lnTo>
                  <a:lnTo>
                    <a:pt x="533400" y="34544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3663" y="4870703"/>
              <a:ext cx="4962525" cy="497205"/>
            </a:xfrm>
            <a:custGeom>
              <a:avLst/>
              <a:gdLst/>
              <a:ahLst/>
              <a:cxnLst/>
              <a:rect l="l" t="t" r="r" b="b"/>
              <a:pathLst>
                <a:path w="4962525" h="497204">
                  <a:moveTo>
                    <a:pt x="4847844" y="51816"/>
                  </a:moveTo>
                  <a:lnTo>
                    <a:pt x="4835652" y="51816"/>
                  </a:lnTo>
                  <a:lnTo>
                    <a:pt x="4835652" y="64008"/>
                  </a:lnTo>
                  <a:lnTo>
                    <a:pt x="4835652" y="252984"/>
                  </a:lnTo>
                  <a:lnTo>
                    <a:pt x="4541520" y="252984"/>
                  </a:lnTo>
                  <a:lnTo>
                    <a:pt x="4541520" y="64008"/>
                  </a:lnTo>
                  <a:lnTo>
                    <a:pt x="4835652" y="64008"/>
                  </a:lnTo>
                  <a:lnTo>
                    <a:pt x="4835652" y="51816"/>
                  </a:lnTo>
                  <a:lnTo>
                    <a:pt x="4529328" y="51816"/>
                  </a:lnTo>
                  <a:lnTo>
                    <a:pt x="4529328" y="260604"/>
                  </a:lnTo>
                  <a:lnTo>
                    <a:pt x="4535424" y="260604"/>
                  </a:lnTo>
                  <a:lnTo>
                    <a:pt x="4535424" y="266700"/>
                  </a:lnTo>
                  <a:lnTo>
                    <a:pt x="4847844" y="266700"/>
                  </a:lnTo>
                  <a:lnTo>
                    <a:pt x="4847844" y="260604"/>
                  </a:lnTo>
                  <a:lnTo>
                    <a:pt x="4847844" y="252984"/>
                  </a:lnTo>
                  <a:lnTo>
                    <a:pt x="4847844" y="64008"/>
                  </a:lnTo>
                  <a:lnTo>
                    <a:pt x="4847844" y="57912"/>
                  </a:lnTo>
                  <a:lnTo>
                    <a:pt x="4847844" y="51816"/>
                  </a:lnTo>
                  <a:close/>
                </a:path>
                <a:path w="4962525" h="497204">
                  <a:moveTo>
                    <a:pt x="4925568" y="367284"/>
                  </a:moveTo>
                  <a:lnTo>
                    <a:pt x="4913376" y="367284"/>
                  </a:lnTo>
                  <a:lnTo>
                    <a:pt x="4913376" y="381000"/>
                  </a:lnTo>
                  <a:lnTo>
                    <a:pt x="4913376" y="384048"/>
                  </a:lnTo>
                  <a:lnTo>
                    <a:pt x="4773168" y="384048"/>
                  </a:lnTo>
                  <a:lnTo>
                    <a:pt x="4773168" y="381000"/>
                  </a:lnTo>
                  <a:lnTo>
                    <a:pt x="4913376" y="381000"/>
                  </a:lnTo>
                  <a:lnTo>
                    <a:pt x="4913376" y="367284"/>
                  </a:lnTo>
                  <a:lnTo>
                    <a:pt x="4760976" y="367284"/>
                  </a:lnTo>
                  <a:lnTo>
                    <a:pt x="4760976" y="390144"/>
                  </a:lnTo>
                  <a:lnTo>
                    <a:pt x="4767072" y="390144"/>
                  </a:lnTo>
                  <a:lnTo>
                    <a:pt x="4767072" y="396240"/>
                  </a:lnTo>
                  <a:lnTo>
                    <a:pt x="4925568" y="396240"/>
                  </a:lnTo>
                  <a:lnTo>
                    <a:pt x="4925568" y="390144"/>
                  </a:lnTo>
                  <a:lnTo>
                    <a:pt x="4925568" y="384048"/>
                  </a:lnTo>
                  <a:lnTo>
                    <a:pt x="4925568" y="381000"/>
                  </a:lnTo>
                  <a:lnTo>
                    <a:pt x="4925568" y="373380"/>
                  </a:lnTo>
                  <a:lnTo>
                    <a:pt x="4925568" y="367284"/>
                  </a:lnTo>
                  <a:close/>
                </a:path>
                <a:path w="4962525" h="497204">
                  <a:moveTo>
                    <a:pt x="4962144" y="345948"/>
                  </a:moveTo>
                  <a:lnTo>
                    <a:pt x="4948428" y="345948"/>
                  </a:lnTo>
                  <a:lnTo>
                    <a:pt x="4948428" y="358140"/>
                  </a:lnTo>
                  <a:lnTo>
                    <a:pt x="4948428" y="484632"/>
                  </a:lnTo>
                  <a:lnTo>
                    <a:pt x="4428744" y="484632"/>
                  </a:lnTo>
                  <a:lnTo>
                    <a:pt x="4428744" y="358140"/>
                  </a:lnTo>
                  <a:lnTo>
                    <a:pt x="4535424" y="358140"/>
                  </a:lnTo>
                  <a:lnTo>
                    <a:pt x="4541520" y="358140"/>
                  </a:lnTo>
                  <a:lnTo>
                    <a:pt x="4835652" y="358140"/>
                  </a:lnTo>
                  <a:lnTo>
                    <a:pt x="4847844" y="358140"/>
                  </a:lnTo>
                  <a:lnTo>
                    <a:pt x="4948428" y="358140"/>
                  </a:lnTo>
                  <a:lnTo>
                    <a:pt x="4948428" y="345948"/>
                  </a:lnTo>
                  <a:lnTo>
                    <a:pt x="4847844" y="345948"/>
                  </a:lnTo>
                  <a:lnTo>
                    <a:pt x="4847844" y="316992"/>
                  </a:lnTo>
                  <a:lnTo>
                    <a:pt x="4910328" y="316992"/>
                  </a:lnTo>
                  <a:lnTo>
                    <a:pt x="4910328" y="304800"/>
                  </a:lnTo>
                  <a:lnTo>
                    <a:pt x="4910328" y="13716"/>
                  </a:lnTo>
                  <a:lnTo>
                    <a:pt x="4910328" y="6096"/>
                  </a:lnTo>
                  <a:lnTo>
                    <a:pt x="4910328" y="0"/>
                  </a:lnTo>
                  <a:lnTo>
                    <a:pt x="4898136" y="0"/>
                  </a:lnTo>
                  <a:lnTo>
                    <a:pt x="4898136" y="13716"/>
                  </a:lnTo>
                  <a:lnTo>
                    <a:pt x="4898136" y="304800"/>
                  </a:lnTo>
                  <a:lnTo>
                    <a:pt x="4847844" y="304800"/>
                  </a:lnTo>
                  <a:lnTo>
                    <a:pt x="4835652" y="304800"/>
                  </a:lnTo>
                  <a:lnTo>
                    <a:pt x="4835652" y="316992"/>
                  </a:lnTo>
                  <a:lnTo>
                    <a:pt x="4835652" y="345948"/>
                  </a:lnTo>
                  <a:lnTo>
                    <a:pt x="4541520" y="345948"/>
                  </a:lnTo>
                  <a:lnTo>
                    <a:pt x="4541520" y="316992"/>
                  </a:lnTo>
                  <a:lnTo>
                    <a:pt x="4835652" y="316992"/>
                  </a:lnTo>
                  <a:lnTo>
                    <a:pt x="4835652" y="304800"/>
                  </a:lnTo>
                  <a:lnTo>
                    <a:pt x="4541520" y="304800"/>
                  </a:lnTo>
                  <a:lnTo>
                    <a:pt x="4529328" y="304800"/>
                  </a:lnTo>
                  <a:lnTo>
                    <a:pt x="4479036" y="304800"/>
                  </a:lnTo>
                  <a:lnTo>
                    <a:pt x="4479036" y="187452"/>
                  </a:lnTo>
                  <a:lnTo>
                    <a:pt x="4497324" y="187452"/>
                  </a:lnTo>
                  <a:lnTo>
                    <a:pt x="4497324" y="131064"/>
                  </a:lnTo>
                  <a:lnTo>
                    <a:pt x="4479036" y="131064"/>
                  </a:lnTo>
                  <a:lnTo>
                    <a:pt x="4479036" y="13716"/>
                  </a:lnTo>
                  <a:lnTo>
                    <a:pt x="4898136" y="13716"/>
                  </a:lnTo>
                  <a:lnTo>
                    <a:pt x="4898136" y="0"/>
                  </a:lnTo>
                  <a:lnTo>
                    <a:pt x="4466844" y="0"/>
                  </a:lnTo>
                  <a:lnTo>
                    <a:pt x="4466844" y="131064"/>
                  </a:lnTo>
                  <a:lnTo>
                    <a:pt x="0" y="131064"/>
                  </a:lnTo>
                  <a:lnTo>
                    <a:pt x="0" y="187452"/>
                  </a:lnTo>
                  <a:lnTo>
                    <a:pt x="4466844" y="187452"/>
                  </a:lnTo>
                  <a:lnTo>
                    <a:pt x="4466844" y="316992"/>
                  </a:lnTo>
                  <a:lnTo>
                    <a:pt x="4529328" y="316992"/>
                  </a:lnTo>
                  <a:lnTo>
                    <a:pt x="4529328" y="345948"/>
                  </a:lnTo>
                  <a:lnTo>
                    <a:pt x="4415028" y="345948"/>
                  </a:lnTo>
                  <a:lnTo>
                    <a:pt x="4415028" y="496824"/>
                  </a:lnTo>
                  <a:lnTo>
                    <a:pt x="4962144" y="496824"/>
                  </a:lnTo>
                  <a:lnTo>
                    <a:pt x="4962144" y="490728"/>
                  </a:lnTo>
                  <a:lnTo>
                    <a:pt x="4962144" y="484632"/>
                  </a:lnTo>
                  <a:lnTo>
                    <a:pt x="4962144" y="358140"/>
                  </a:lnTo>
                  <a:lnTo>
                    <a:pt x="4962144" y="3459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57399" y="4952999"/>
              <a:ext cx="1446530" cy="151130"/>
            </a:xfrm>
            <a:custGeom>
              <a:avLst/>
              <a:gdLst/>
              <a:ahLst/>
              <a:cxnLst/>
              <a:rect l="l" t="t" r="r" b="b"/>
              <a:pathLst>
                <a:path w="1446529" h="151129">
                  <a:moveTo>
                    <a:pt x="1446275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1446275" y="150875"/>
                  </a:lnTo>
                  <a:lnTo>
                    <a:pt x="14462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43671" y="4946903"/>
              <a:ext cx="1477010" cy="1225550"/>
            </a:xfrm>
            <a:custGeom>
              <a:avLst/>
              <a:gdLst/>
              <a:ahLst/>
              <a:cxnLst/>
              <a:rect l="l" t="t" r="r" b="b"/>
              <a:pathLst>
                <a:path w="1477010" h="1225550">
                  <a:moveTo>
                    <a:pt x="28956" y="539496"/>
                  </a:moveTo>
                  <a:lnTo>
                    <a:pt x="0" y="539496"/>
                  </a:lnTo>
                  <a:lnTo>
                    <a:pt x="0" y="1225296"/>
                  </a:lnTo>
                  <a:lnTo>
                    <a:pt x="28956" y="1225296"/>
                  </a:lnTo>
                  <a:lnTo>
                    <a:pt x="28956" y="539496"/>
                  </a:lnTo>
                  <a:close/>
                </a:path>
                <a:path w="1477010" h="1225550">
                  <a:moveTo>
                    <a:pt x="1469136" y="0"/>
                  </a:moveTo>
                  <a:lnTo>
                    <a:pt x="1455420" y="0"/>
                  </a:lnTo>
                  <a:lnTo>
                    <a:pt x="1455420" y="13716"/>
                  </a:lnTo>
                  <a:lnTo>
                    <a:pt x="1455420" y="152400"/>
                  </a:lnTo>
                  <a:lnTo>
                    <a:pt x="21336" y="152400"/>
                  </a:lnTo>
                  <a:lnTo>
                    <a:pt x="21336" y="13716"/>
                  </a:lnTo>
                  <a:lnTo>
                    <a:pt x="1455420" y="13716"/>
                  </a:lnTo>
                  <a:lnTo>
                    <a:pt x="1455420" y="0"/>
                  </a:lnTo>
                  <a:lnTo>
                    <a:pt x="7620" y="0"/>
                  </a:lnTo>
                  <a:lnTo>
                    <a:pt x="7620" y="166116"/>
                  </a:lnTo>
                  <a:lnTo>
                    <a:pt x="1469136" y="166116"/>
                  </a:lnTo>
                  <a:lnTo>
                    <a:pt x="1469136" y="158496"/>
                  </a:lnTo>
                  <a:lnTo>
                    <a:pt x="1469136" y="152400"/>
                  </a:lnTo>
                  <a:lnTo>
                    <a:pt x="1469136" y="13716"/>
                  </a:lnTo>
                  <a:lnTo>
                    <a:pt x="1469136" y="6096"/>
                  </a:lnTo>
                  <a:lnTo>
                    <a:pt x="1469136" y="0"/>
                  </a:lnTo>
                  <a:close/>
                </a:path>
                <a:path w="1477010" h="1225550">
                  <a:moveTo>
                    <a:pt x="1476756" y="539496"/>
                  </a:moveTo>
                  <a:lnTo>
                    <a:pt x="1447800" y="539496"/>
                  </a:lnTo>
                  <a:lnTo>
                    <a:pt x="1447800" y="844296"/>
                  </a:lnTo>
                  <a:lnTo>
                    <a:pt x="1476756" y="844296"/>
                  </a:lnTo>
                  <a:lnTo>
                    <a:pt x="1476756" y="539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57399" y="5568695"/>
              <a:ext cx="1447800" cy="142240"/>
            </a:xfrm>
            <a:custGeom>
              <a:avLst/>
              <a:gdLst/>
              <a:ahLst/>
              <a:cxnLst/>
              <a:rect l="l" t="t" r="r" b="b"/>
              <a:pathLst>
                <a:path w="1447800" h="142239">
                  <a:moveTo>
                    <a:pt x="143256" y="0"/>
                  </a:moveTo>
                  <a:lnTo>
                    <a:pt x="0" y="70104"/>
                  </a:lnTo>
                  <a:lnTo>
                    <a:pt x="143256" y="141732"/>
                  </a:lnTo>
                  <a:lnTo>
                    <a:pt x="143256" y="85344"/>
                  </a:lnTo>
                  <a:lnTo>
                    <a:pt x="129539" y="85344"/>
                  </a:lnTo>
                  <a:lnTo>
                    <a:pt x="129539" y="56388"/>
                  </a:lnTo>
                  <a:lnTo>
                    <a:pt x="143256" y="56388"/>
                  </a:lnTo>
                  <a:lnTo>
                    <a:pt x="143256" y="0"/>
                  </a:lnTo>
                  <a:close/>
                </a:path>
                <a:path w="1447800" h="142239">
                  <a:moveTo>
                    <a:pt x="1306067" y="0"/>
                  </a:moveTo>
                  <a:lnTo>
                    <a:pt x="1306067" y="141732"/>
                  </a:lnTo>
                  <a:lnTo>
                    <a:pt x="1417644" y="85344"/>
                  </a:lnTo>
                  <a:lnTo>
                    <a:pt x="1319783" y="85344"/>
                  </a:lnTo>
                  <a:lnTo>
                    <a:pt x="1319783" y="56388"/>
                  </a:lnTo>
                  <a:lnTo>
                    <a:pt x="1420069" y="56388"/>
                  </a:lnTo>
                  <a:lnTo>
                    <a:pt x="1306067" y="0"/>
                  </a:lnTo>
                  <a:close/>
                </a:path>
                <a:path w="1447800" h="142239">
                  <a:moveTo>
                    <a:pt x="143256" y="56388"/>
                  </a:moveTo>
                  <a:lnTo>
                    <a:pt x="129539" y="56388"/>
                  </a:lnTo>
                  <a:lnTo>
                    <a:pt x="129539" y="85344"/>
                  </a:lnTo>
                  <a:lnTo>
                    <a:pt x="143256" y="85344"/>
                  </a:lnTo>
                  <a:lnTo>
                    <a:pt x="143256" y="56388"/>
                  </a:lnTo>
                  <a:close/>
                </a:path>
                <a:path w="1447800" h="142239">
                  <a:moveTo>
                    <a:pt x="1306067" y="56388"/>
                  </a:moveTo>
                  <a:lnTo>
                    <a:pt x="143256" y="56388"/>
                  </a:lnTo>
                  <a:lnTo>
                    <a:pt x="143256" y="85344"/>
                  </a:lnTo>
                  <a:lnTo>
                    <a:pt x="1306067" y="85344"/>
                  </a:lnTo>
                  <a:lnTo>
                    <a:pt x="1306067" y="56388"/>
                  </a:lnTo>
                  <a:close/>
                </a:path>
                <a:path w="1447800" h="142239">
                  <a:moveTo>
                    <a:pt x="1420069" y="56388"/>
                  </a:moveTo>
                  <a:lnTo>
                    <a:pt x="1319783" y="56388"/>
                  </a:lnTo>
                  <a:lnTo>
                    <a:pt x="1319783" y="85344"/>
                  </a:lnTo>
                  <a:lnTo>
                    <a:pt x="1417644" y="85344"/>
                  </a:lnTo>
                  <a:lnTo>
                    <a:pt x="1447799" y="70104"/>
                  </a:lnTo>
                  <a:lnTo>
                    <a:pt x="1420069" y="56388"/>
                  </a:lnTo>
                  <a:close/>
                </a:path>
              </a:pathLst>
            </a:custGeom>
            <a:solidFill>
              <a:srgbClr val="66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87283" y="5486399"/>
              <a:ext cx="29209" cy="685800"/>
            </a:xfrm>
            <a:custGeom>
              <a:avLst/>
              <a:gdLst/>
              <a:ahLst/>
              <a:cxnLst/>
              <a:rect l="l" t="t" r="r" b="b"/>
              <a:pathLst>
                <a:path w="29209" h="685800">
                  <a:moveTo>
                    <a:pt x="28955" y="0"/>
                  </a:moveTo>
                  <a:lnTo>
                    <a:pt x="0" y="0"/>
                  </a:lnTo>
                  <a:lnTo>
                    <a:pt x="0" y="685799"/>
                  </a:lnTo>
                  <a:lnTo>
                    <a:pt x="28955" y="685799"/>
                  </a:lnTo>
                  <a:lnTo>
                    <a:pt x="289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57399" y="5797295"/>
              <a:ext cx="5943600" cy="142240"/>
            </a:xfrm>
            <a:custGeom>
              <a:avLst/>
              <a:gdLst/>
              <a:ahLst/>
              <a:cxnLst/>
              <a:rect l="l" t="t" r="r" b="b"/>
              <a:pathLst>
                <a:path w="5943600" h="142239">
                  <a:moveTo>
                    <a:pt x="143256" y="0"/>
                  </a:moveTo>
                  <a:lnTo>
                    <a:pt x="0" y="70104"/>
                  </a:lnTo>
                  <a:lnTo>
                    <a:pt x="143256" y="141732"/>
                  </a:lnTo>
                  <a:lnTo>
                    <a:pt x="143256" y="85344"/>
                  </a:lnTo>
                  <a:lnTo>
                    <a:pt x="129539" y="85344"/>
                  </a:lnTo>
                  <a:lnTo>
                    <a:pt x="129539" y="56388"/>
                  </a:lnTo>
                  <a:lnTo>
                    <a:pt x="143256" y="56388"/>
                  </a:lnTo>
                  <a:lnTo>
                    <a:pt x="143256" y="0"/>
                  </a:lnTo>
                  <a:close/>
                </a:path>
                <a:path w="5943600" h="142239">
                  <a:moveTo>
                    <a:pt x="5801867" y="0"/>
                  </a:moveTo>
                  <a:lnTo>
                    <a:pt x="5801867" y="141732"/>
                  </a:lnTo>
                  <a:lnTo>
                    <a:pt x="5913444" y="85344"/>
                  </a:lnTo>
                  <a:lnTo>
                    <a:pt x="5815583" y="85344"/>
                  </a:lnTo>
                  <a:lnTo>
                    <a:pt x="5815583" y="56388"/>
                  </a:lnTo>
                  <a:lnTo>
                    <a:pt x="5915869" y="56388"/>
                  </a:lnTo>
                  <a:lnTo>
                    <a:pt x="5801867" y="0"/>
                  </a:lnTo>
                  <a:close/>
                </a:path>
                <a:path w="5943600" h="142239">
                  <a:moveTo>
                    <a:pt x="143256" y="56388"/>
                  </a:moveTo>
                  <a:lnTo>
                    <a:pt x="129539" y="56388"/>
                  </a:lnTo>
                  <a:lnTo>
                    <a:pt x="129539" y="85344"/>
                  </a:lnTo>
                  <a:lnTo>
                    <a:pt x="143256" y="85344"/>
                  </a:lnTo>
                  <a:lnTo>
                    <a:pt x="143256" y="56388"/>
                  </a:lnTo>
                  <a:close/>
                </a:path>
                <a:path w="5943600" h="142239">
                  <a:moveTo>
                    <a:pt x="5801867" y="56388"/>
                  </a:moveTo>
                  <a:lnTo>
                    <a:pt x="143256" y="56388"/>
                  </a:lnTo>
                  <a:lnTo>
                    <a:pt x="143256" y="85344"/>
                  </a:lnTo>
                  <a:lnTo>
                    <a:pt x="5801867" y="85344"/>
                  </a:lnTo>
                  <a:lnTo>
                    <a:pt x="5801867" y="56388"/>
                  </a:lnTo>
                  <a:close/>
                </a:path>
                <a:path w="5943600" h="142239">
                  <a:moveTo>
                    <a:pt x="5915869" y="56388"/>
                  </a:moveTo>
                  <a:lnTo>
                    <a:pt x="5815583" y="56388"/>
                  </a:lnTo>
                  <a:lnTo>
                    <a:pt x="5815583" y="85344"/>
                  </a:lnTo>
                  <a:lnTo>
                    <a:pt x="5913444" y="85344"/>
                  </a:lnTo>
                  <a:lnTo>
                    <a:pt x="5943599" y="70104"/>
                  </a:lnTo>
                  <a:lnTo>
                    <a:pt x="5915869" y="56388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275" y="5650992"/>
              <a:ext cx="2744723" cy="10546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5275" y="5650992"/>
              <a:ext cx="2744723" cy="105460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60703" y="5640323"/>
              <a:ext cx="2757170" cy="1073150"/>
            </a:xfrm>
            <a:custGeom>
              <a:avLst/>
              <a:gdLst/>
              <a:ahLst/>
              <a:cxnLst/>
              <a:rect l="l" t="t" r="r" b="b"/>
              <a:pathLst>
                <a:path w="2757170" h="1073150">
                  <a:moveTo>
                    <a:pt x="2682239" y="1071371"/>
                  </a:moveTo>
                  <a:lnTo>
                    <a:pt x="74675" y="1071371"/>
                  </a:lnTo>
                  <a:lnTo>
                    <a:pt x="82296" y="1072895"/>
                  </a:lnTo>
                  <a:lnTo>
                    <a:pt x="2674619" y="1072895"/>
                  </a:lnTo>
                  <a:lnTo>
                    <a:pt x="2682239" y="1071371"/>
                  </a:lnTo>
                  <a:close/>
                </a:path>
                <a:path w="2757170" h="1073150">
                  <a:moveTo>
                    <a:pt x="1603397" y="601979"/>
                  </a:moveTo>
                  <a:lnTo>
                    <a:pt x="82296" y="601979"/>
                  </a:lnTo>
                  <a:lnTo>
                    <a:pt x="74675" y="603503"/>
                  </a:lnTo>
                  <a:lnTo>
                    <a:pt x="67056" y="603503"/>
                  </a:lnTo>
                  <a:lnTo>
                    <a:pt x="24384" y="626363"/>
                  </a:lnTo>
                  <a:lnTo>
                    <a:pt x="4571" y="659891"/>
                  </a:lnTo>
                  <a:lnTo>
                    <a:pt x="1524" y="669035"/>
                  </a:lnTo>
                  <a:lnTo>
                    <a:pt x="1524" y="676655"/>
                  </a:lnTo>
                  <a:lnTo>
                    <a:pt x="0" y="684275"/>
                  </a:lnTo>
                  <a:lnTo>
                    <a:pt x="0" y="990599"/>
                  </a:lnTo>
                  <a:lnTo>
                    <a:pt x="1524" y="998219"/>
                  </a:lnTo>
                  <a:lnTo>
                    <a:pt x="1524" y="1005839"/>
                  </a:lnTo>
                  <a:lnTo>
                    <a:pt x="24384" y="1048511"/>
                  </a:lnTo>
                  <a:lnTo>
                    <a:pt x="57912" y="1068323"/>
                  </a:lnTo>
                  <a:lnTo>
                    <a:pt x="67056" y="1071371"/>
                  </a:lnTo>
                  <a:lnTo>
                    <a:pt x="2689859" y="1071371"/>
                  </a:lnTo>
                  <a:lnTo>
                    <a:pt x="2699003" y="1068323"/>
                  </a:lnTo>
                  <a:lnTo>
                    <a:pt x="2706623" y="1065275"/>
                  </a:lnTo>
                  <a:lnTo>
                    <a:pt x="2712719" y="1062227"/>
                  </a:lnTo>
                  <a:lnTo>
                    <a:pt x="2717799" y="1059179"/>
                  </a:lnTo>
                  <a:lnTo>
                    <a:pt x="76200" y="1059179"/>
                  </a:lnTo>
                  <a:lnTo>
                    <a:pt x="68580" y="1057655"/>
                  </a:lnTo>
                  <a:lnTo>
                    <a:pt x="62484" y="1056131"/>
                  </a:lnTo>
                  <a:lnTo>
                    <a:pt x="54863" y="1054607"/>
                  </a:lnTo>
                  <a:lnTo>
                    <a:pt x="56387" y="1054607"/>
                  </a:lnTo>
                  <a:lnTo>
                    <a:pt x="48768" y="1051559"/>
                  </a:lnTo>
                  <a:lnTo>
                    <a:pt x="50291" y="1051559"/>
                  </a:lnTo>
                  <a:lnTo>
                    <a:pt x="46227" y="1048511"/>
                  </a:lnTo>
                  <a:lnTo>
                    <a:pt x="44196" y="1048511"/>
                  </a:lnTo>
                  <a:lnTo>
                    <a:pt x="33528" y="1039367"/>
                  </a:lnTo>
                  <a:lnTo>
                    <a:pt x="24384" y="1028699"/>
                  </a:lnTo>
                  <a:lnTo>
                    <a:pt x="25907" y="1028699"/>
                  </a:lnTo>
                  <a:lnTo>
                    <a:pt x="21335" y="1022603"/>
                  </a:lnTo>
                  <a:lnTo>
                    <a:pt x="18287" y="1016507"/>
                  </a:lnTo>
                  <a:lnTo>
                    <a:pt x="16763" y="1010411"/>
                  </a:lnTo>
                  <a:lnTo>
                    <a:pt x="15544" y="1004315"/>
                  </a:lnTo>
                  <a:lnTo>
                    <a:pt x="15240" y="1004315"/>
                  </a:lnTo>
                  <a:lnTo>
                    <a:pt x="13715" y="996695"/>
                  </a:lnTo>
                  <a:lnTo>
                    <a:pt x="13715" y="678179"/>
                  </a:lnTo>
                  <a:lnTo>
                    <a:pt x="15240" y="670559"/>
                  </a:lnTo>
                  <a:lnTo>
                    <a:pt x="16763" y="664463"/>
                  </a:lnTo>
                  <a:lnTo>
                    <a:pt x="18287" y="656843"/>
                  </a:lnTo>
                  <a:lnTo>
                    <a:pt x="18897" y="656843"/>
                  </a:lnTo>
                  <a:lnTo>
                    <a:pt x="21335" y="650747"/>
                  </a:lnTo>
                  <a:lnTo>
                    <a:pt x="22478" y="650747"/>
                  </a:lnTo>
                  <a:lnTo>
                    <a:pt x="25907" y="646175"/>
                  </a:lnTo>
                  <a:lnTo>
                    <a:pt x="24384" y="646175"/>
                  </a:lnTo>
                  <a:lnTo>
                    <a:pt x="33528" y="635507"/>
                  </a:lnTo>
                  <a:lnTo>
                    <a:pt x="44196" y="626363"/>
                  </a:lnTo>
                  <a:lnTo>
                    <a:pt x="46228" y="626363"/>
                  </a:lnTo>
                  <a:lnTo>
                    <a:pt x="50291" y="623315"/>
                  </a:lnTo>
                  <a:lnTo>
                    <a:pt x="48768" y="623315"/>
                  </a:lnTo>
                  <a:lnTo>
                    <a:pt x="56387" y="620267"/>
                  </a:lnTo>
                  <a:lnTo>
                    <a:pt x="54863" y="620267"/>
                  </a:lnTo>
                  <a:lnTo>
                    <a:pt x="62484" y="618743"/>
                  </a:lnTo>
                  <a:lnTo>
                    <a:pt x="68580" y="617219"/>
                  </a:lnTo>
                  <a:lnTo>
                    <a:pt x="76200" y="615695"/>
                  </a:lnTo>
                  <a:lnTo>
                    <a:pt x="1610867" y="615695"/>
                  </a:lnTo>
                  <a:lnTo>
                    <a:pt x="1616716" y="605027"/>
                  </a:lnTo>
                  <a:lnTo>
                    <a:pt x="1601723" y="605027"/>
                  </a:lnTo>
                  <a:lnTo>
                    <a:pt x="1603397" y="601979"/>
                  </a:lnTo>
                  <a:close/>
                </a:path>
                <a:path w="2757170" h="1073150">
                  <a:moveTo>
                    <a:pt x="2712719" y="1046987"/>
                  </a:moveTo>
                  <a:lnTo>
                    <a:pt x="2706623" y="1051559"/>
                  </a:lnTo>
                  <a:lnTo>
                    <a:pt x="2700527" y="1054607"/>
                  </a:lnTo>
                  <a:lnTo>
                    <a:pt x="2694431" y="1056131"/>
                  </a:lnTo>
                  <a:lnTo>
                    <a:pt x="2686811" y="1057655"/>
                  </a:lnTo>
                  <a:lnTo>
                    <a:pt x="2688335" y="1057655"/>
                  </a:lnTo>
                  <a:lnTo>
                    <a:pt x="2680715" y="1059179"/>
                  </a:lnTo>
                  <a:lnTo>
                    <a:pt x="2717799" y="1059179"/>
                  </a:lnTo>
                  <a:lnTo>
                    <a:pt x="2720339" y="1057655"/>
                  </a:lnTo>
                  <a:lnTo>
                    <a:pt x="2732531" y="1048511"/>
                  </a:lnTo>
                  <a:lnTo>
                    <a:pt x="2712719" y="1048511"/>
                  </a:lnTo>
                  <a:lnTo>
                    <a:pt x="2712719" y="1046987"/>
                  </a:lnTo>
                  <a:close/>
                </a:path>
                <a:path w="2757170" h="1073150">
                  <a:moveTo>
                    <a:pt x="44196" y="1046987"/>
                  </a:moveTo>
                  <a:lnTo>
                    <a:pt x="44196" y="1048511"/>
                  </a:lnTo>
                  <a:lnTo>
                    <a:pt x="46227" y="1048511"/>
                  </a:lnTo>
                  <a:lnTo>
                    <a:pt x="44196" y="1046987"/>
                  </a:lnTo>
                  <a:close/>
                </a:path>
                <a:path w="2757170" h="1073150">
                  <a:moveTo>
                    <a:pt x="2741675" y="1002791"/>
                  </a:moveTo>
                  <a:lnTo>
                    <a:pt x="2740151" y="1010411"/>
                  </a:lnTo>
                  <a:lnTo>
                    <a:pt x="2738627" y="1016507"/>
                  </a:lnTo>
                  <a:lnTo>
                    <a:pt x="2735579" y="1022603"/>
                  </a:lnTo>
                  <a:lnTo>
                    <a:pt x="2731007" y="1028699"/>
                  </a:lnTo>
                  <a:lnTo>
                    <a:pt x="2732531" y="1028699"/>
                  </a:lnTo>
                  <a:lnTo>
                    <a:pt x="2723387" y="1039367"/>
                  </a:lnTo>
                  <a:lnTo>
                    <a:pt x="2712719" y="1048511"/>
                  </a:lnTo>
                  <a:lnTo>
                    <a:pt x="2732531" y="1048511"/>
                  </a:lnTo>
                  <a:lnTo>
                    <a:pt x="2752343" y="1014983"/>
                  </a:lnTo>
                  <a:lnTo>
                    <a:pt x="2755391" y="1005839"/>
                  </a:lnTo>
                  <a:lnTo>
                    <a:pt x="2755391" y="1004315"/>
                  </a:lnTo>
                  <a:lnTo>
                    <a:pt x="2741675" y="1004315"/>
                  </a:lnTo>
                  <a:lnTo>
                    <a:pt x="2741675" y="1002791"/>
                  </a:lnTo>
                  <a:close/>
                </a:path>
                <a:path w="2757170" h="1073150">
                  <a:moveTo>
                    <a:pt x="15240" y="1002791"/>
                  </a:moveTo>
                  <a:lnTo>
                    <a:pt x="15240" y="1004315"/>
                  </a:lnTo>
                  <a:lnTo>
                    <a:pt x="15544" y="1004315"/>
                  </a:lnTo>
                  <a:lnTo>
                    <a:pt x="15240" y="1002791"/>
                  </a:lnTo>
                  <a:close/>
                </a:path>
                <a:path w="2757170" h="1073150">
                  <a:moveTo>
                    <a:pt x="2751124" y="656843"/>
                  </a:moveTo>
                  <a:lnTo>
                    <a:pt x="2738627" y="656843"/>
                  </a:lnTo>
                  <a:lnTo>
                    <a:pt x="2740151" y="664463"/>
                  </a:lnTo>
                  <a:lnTo>
                    <a:pt x="2741675" y="670559"/>
                  </a:lnTo>
                  <a:lnTo>
                    <a:pt x="2743199" y="678179"/>
                  </a:lnTo>
                  <a:lnTo>
                    <a:pt x="2743199" y="996695"/>
                  </a:lnTo>
                  <a:lnTo>
                    <a:pt x="2741675" y="1004315"/>
                  </a:lnTo>
                  <a:lnTo>
                    <a:pt x="2755391" y="1004315"/>
                  </a:lnTo>
                  <a:lnTo>
                    <a:pt x="2755391" y="998219"/>
                  </a:lnTo>
                  <a:lnTo>
                    <a:pt x="2756915" y="990599"/>
                  </a:lnTo>
                  <a:lnTo>
                    <a:pt x="2756915" y="684275"/>
                  </a:lnTo>
                  <a:lnTo>
                    <a:pt x="2755391" y="676655"/>
                  </a:lnTo>
                  <a:lnTo>
                    <a:pt x="2755391" y="669035"/>
                  </a:lnTo>
                  <a:lnTo>
                    <a:pt x="2752343" y="659891"/>
                  </a:lnTo>
                  <a:lnTo>
                    <a:pt x="2751124" y="656843"/>
                  </a:lnTo>
                  <a:close/>
                </a:path>
                <a:path w="2757170" h="1073150">
                  <a:moveTo>
                    <a:pt x="18897" y="656843"/>
                  </a:moveTo>
                  <a:lnTo>
                    <a:pt x="18287" y="656843"/>
                  </a:lnTo>
                  <a:lnTo>
                    <a:pt x="18287" y="658367"/>
                  </a:lnTo>
                  <a:lnTo>
                    <a:pt x="18897" y="656843"/>
                  </a:lnTo>
                  <a:close/>
                </a:path>
                <a:path w="2757170" h="1073150">
                  <a:moveTo>
                    <a:pt x="2748533" y="650747"/>
                  </a:moveTo>
                  <a:lnTo>
                    <a:pt x="2735579" y="650747"/>
                  </a:lnTo>
                  <a:lnTo>
                    <a:pt x="2738627" y="658367"/>
                  </a:lnTo>
                  <a:lnTo>
                    <a:pt x="2738627" y="656843"/>
                  </a:lnTo>
                  <a:lnTo>
                    <a:pt x="2751124" y="656843"/>
                  </a:lnTo>
                  <a:lnTo>
                    <a:pt x="2749295" y="652271"/>
                  </a:lnTo>
                  <a:lnTo>
                    <a:pt x="2748533" y="650747"/>
                  </a:lnTo>
                  <a:close/>
                </a:path>
                <a:path w="2757170" h="1073150">
                  <a:moveTo>
                    <a:pt x="22478" y="650747"/>
                  </a:moveTo>
                  <a:lnTo>
                    <a:pt x="21335" y="650747"/>
                  </a:lnTo>
                  <a:lnTo>
                    <a:pt x="21335" y="652271"/>
                  </a:lnTo>
                  <a:lnTo>
                    <a:pt x="22478" y="650747"/>
                  </a:lnTo>
                  <a:close/>
                </a:path>
                <a:path w="2757170" h="1073150">
                  <a:moveTo>
                    <a:pt x="2732531" y="626363"/>
                  </a:moveTo>
                  <a:lnTo>
                    <a:pt x="2712719" y="626363"/>
                  </a:lnTo>
                  <a:lnTo>
                    <a:pt x="2723387" y="635507"/>
                  </a:lnTo>
                  <a:lnTo>
                    <a:pt x="2732531" y="646175"/>
                  </a:lnTo>
                  <a:lnTo>
                    <a:pt x="2731007" y="646175"/>
                  </a:lnTo>
                  <a:lnTo>
                    <a:pt x="2735579" y="652271"/>
                  </a:lnTo>
                  <a:lnTo>
                    <a:pt x="2735579" y="650747"/>
                  </a:lnTo>
                  <a:lnTo>
                    <a:pt x="2748533" y="650747"/>
                  </a:lnTo>
                  <a:lnTo>
                    <a:pt x="2746247" y="646175"/>
                  </a:lnTo>
                  <a:lnTo>
                    <a:pt x="2741675" y="638555"/>
                  </a:lnTo>
                  <a:lnTo>
                    <a:pt x="2732531" y="626363"/>
                  </a:lnTo>
                  <a:close/>
                </a:path>
                <a:path w="2757170" h="1073150">
                  <a:moveTo>
                    <a:pt x="46228" y="626363"/>
                  </a:moveTo>
                  <a:lnTo>
                    <a:pt x="44196" y="626363"/>
                  </a:lnTo>
                  <a:lnTo>
                    <a:pt x="44196" y="627887"/>
                  </a:lnTo>
                  <a:lnTo>
                    <a:pt x="46228" y="626363"/>
                  </a:lnTo>
                  <a:close/>
                </a:path>
                <a:path w="2757170" h="1073150">
                  <a:moveTo>
                    <a:pt x="1943130" y="15239"/>
                  </a:moveTo>
                  <a:lnTo>
                    <a:pt x="1940051" y="15239"/>
                  </a:lnTo>
                  <a:lnTo>
                    <a:pt x="1934238" y="25844"/>
                  </a:lnTo>
                  <a:lnTo>
                    <a:pt x="2289047" y="615695"/>
                  </a:lnTo>
                  <a:lnTo>
                    <a:pt x="2680715" y="615695"/>
                  </a:lnTo>
                  <a:lnTo>
                    <a:pt x="2688335" y="617219"/>
                  </a:lnTo>
                  <a:lnTo>
                    <a:pt x="2686811" y="617219"/>
                  </a:lnTo>
                  <a:lnTo>
                    <a:pt x="2694431" y="618743"/>
                  </a:lnTo>
                  <a:lnTo>
                    <a:pt x="2700527" y="620267"/>
                  </a:lnTo>
                  <a:lnTo>
                    <a:pt x="2706623" y="623315"/>
                  </a:lnTo>
                  <a:lnTo>
                    <a:pt x="2712719" y="627887"/>
                  </a:lnTo>
                  <a:lnTo>
                    <a:pt x="2712719" y="626363"/>
                  </a:lnTo>
                  <a:lnTo>
                    <a:pt x="2732531" y="626363"/>
                  </a:lnTo>
                  <a:lnTo>
                    <a:pt x="2720339" y="617219"/>
                  </a:lnTo>
                  <a:lnTo>
                    <a:pt x="2712719" y="612647"/>
                  </a:lnTo>
                  <a:lnTo>
                    <a:pt x="2706623" y="609599"/>
                  </a:lnTo>
                  <a:lnTo>
                    <a:pt x="2699003" y="606551"/>
                  </a:lnTo>
                  <a:lnTo>
                    <a:pt x="2694431" y="605027"/>
                  </a:lnTo>
                  <a:lnTo>
                    <a:pt x="2298191" y="605027"/>
                  </a:lnTo>
                  <a:lnTo>
                    <a:pt x="2292095" y="601979"/>
                  </a:lnTo>
                  <a:lnTo>
                    <a:pt x="2296357" y="601979"/>
                  </a:lnTo>
                  <a:lnTo>
                    <a:pt x="1943130" y="15239"/>
                  </a:lnTo>
                  <a:close/>
                </a:path>
                <a:path w="2757170" h="1073150">
                  <a:moveTo>
                    <a:pt x="1933955" y="0"/>
                  </a:moveTo>
                  <a:lnTo>
                    <a:pt x="1601723" y="605027"/>
                  </a:lnTo>
                  <a:lnTo>
                    <a:pt x="1606295" y="601979"/>
                  </a:lnTo>
                  <a:lnTo>
                    <a:pt x="1618387" y="601979"/>
                  </a:lnTo>
                  <a:lnTo>
                    <a:pt x="1934238" y="25844"/>
                  </a:lnTo>
                  <a:lnTo>
                    <a:pt x="1927859" y="15239"/>
                  </a:lnTo>
                  <a:lnTo>
                    <a:pt x="1943130" y="15239"/>
                  </a:lnTo>
                  <a:lnTo>
                    <a:pt x="1933955" y="0"/>
                  </a:lnTo>
                  <a:close/>
                </a:path>
                <a:path w="2757170" h="1073150">
                  <a:moveTo>
                    <a:pt x="1618387" y="601979"/>
                  </a:moveTo>
                  <a:lnTo>
                    <a:pt x="1606295" y="601979"/>
                  </a:lnTo>
                  <a:lnTo>
                    <a:pt x="1601723" y="605027"/>
                  </a:lnTo>
                  <a:lnTo>
                    <a:pt x="1616716" y="605027"/>
                  </a:lnTo>
                  <a:lnTo>
                    <a:pt x="1618387" y="601979"/>
                  </a:lnTo>
                  <a:close/>
                </a:path>
                <a:path w="2757170" h="1073150">
                  <a:moveTo>
                    <a:pt x="2296357" y="601979"/>
                  </a:moveTo>
                  <a:lnTo>
                    <a:pt x="2292095" y="601979"/>
                  </a:lnTo>
                  <a:lnTo>
                    <a:pt x="2298191" y="605027"/>
                  </a:lnTo>
                  <a:lnTo>
                    <a:pt x="2296357" y="601979"/>
                  </a:lnTo>
                  <a:close/>
                </a:path>
                <a:path w="2757170" h="1073150">
                  <a:moveTo>
                    <a:pt x="2674619" y="601979"/>
                  </a:moveTo>
                  <a:lnTo>
                    <a:pt x="2296357" y="601979"/>
                  </a:lnTo>
                  <a:lnTo>
                    <a:pt x="2298191" y="605027"/>
                  </a:lnTo>
                  <a:lnTo>
                    <a:pt x="2694431" y="605027"/>
                  </a:lnTo>
                  <a:lnTo>
                    <a:pt x="2689859" y="603503"/>
                  </a:lnTo>
                  <a:lnTo>
                    <a:pt x="2682239" y="603503"/>
                  </a:lnTo>
                  <a:lnTo>
                    <a:pt x="2674619" y="601979"/>
                  </a:lnTo>
                  <a:close/>
                </a:path>
                <a:path w="2757170" h="1073150">
                  <a:moveTo>
                    <a:pt x="1940051" y="15239"/>
                  </a:moveTo>
                  <a:lnTo>
                    <a:pt x="1927859" y="15239"/>
                  </a:lnTo>
                  <a:lnTo>
                    <a:pt x="1934238" y="25844"/>
                  </a:lnTo>
                  <a:lnTo>
                    <a:pt x="1940051" y="152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589023" y="6288499"/>
            <a:ext cx="16979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AF4F"/>
                </a:solidFill>
                <a:latin typeface="Calibri"/>
                <a:cs typeface="Calibri"/>
              </a:rPr>
              <a:t>Transmission</a:t>
            </a:r>
            <a:r>
              <a:rPr sz="1800" spc="-85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AF4F"/>
                </a:solidFill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642103" y="5175503"/>
            <a:ext cx="2071370" cy="670560"/>
            <a:chOff x="4642103" y="5175503"/>
            <a:chExt cx="2071370" cy="670560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6676" y="5180076"/>
              <a:ext cx="2058923" cy="65684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46676" y="5180076"/>
              <a:ext cx="2058923" cy="65684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642103" y="5175503"/>
              <a:ext cx="2071370" cy="670560"/>
            </a:xfrm>
            <a:custGeom>
              <a:avLst/>
              <a:gdLst/>
              <a:ahLst/>
              <a:cxnLst/>
              <a:rect l="l" t="t" r="r" b="b"/>
              <a:pathLst>
                <a:path w="2071370" h="670560">
                  <a:moveTo>
                    <a:pt x="345947" y="469391"/>
                  </a:moveTo>
                  <a:lnTo>
                    <a:pt x="582167" y="670559"/>
                  </a:lnTo>
                  <a:lnTo>
                    <a:pt x="601598" y="656843"/>
                  </a:lnTo>
                  <a:lnTo>
                    <a:pt x="579119" y="656843"/>
                  </a:lnTo>
                  <a:lnTo>
                    <a:pt x="583288" y="653908"/>
                  </a:lnTo>
                  <a:lnTo>
                    <a:pt x="368168" y="470915"/>
                  </a:lnTo>
                  <a:lnTo>
                    <a:pt x="348995" y="470915"/>
                  </a:lnTo>
                  <a:lnTo>
                    <a:pt x="345947" y="469391"/>
                  </a:lnTo>
                  <a:close/>
                </a:path>
                <a:path w="2071370" h="670560">
                  <a:moveTo>
                    <a:pt x="583288" y="653908"/>
                  </a:moveTo>
                  <a:lnTo>
                    <a:pt x="579119" y="656843"/>
                  </a:lnTo>
                  <a:lnTo>
                    <a:pt x="586739" y="656843"/>
                  </a:lnTo>
                  <a:lnTo>
                    <a:pt x="583288" y="653908"/>
                  </a:lnTo>
                  <a:close/>
                </a:path>
                <a:path w="2071370" h="670560">
                  <a:moveTo>
                    <a:pt x="2026919" y="445007"/>
                  </a:moveTo>
                  <a:lnTo>
                    <a:pt x="2020823" y="449579"/>
                  </a:lnTo>
                  <a:lnTo>
                    <a:pt x="2014727" y="452627"/>
                  </a:lnTo>
                  <a:lnTo>
                    <a:pt x="2008631" y="454151"/>
                  </a:lnTo>
                  <a:lnTo>
                    <a:pt x="2001011" y="455675"/>
                  </a:lnTo>
                  <a:lnTo>
                    <a:pt x="2002535" y="455675"/>
                  </a:lnTo>
                  <a:lnTo>
                    <a:pt x="1994915" y="457199"/>
                  </a:lnTo>
                  <a:lnTo>
                    <a:pt x="862583" y="457199"/>
                  </a:lnTo>
                  <a:lnTo>
                    <a:pt x="583288" y="653908"/>
                  </a:lnTo>
                  <a:lnTo>
                    <a:pt x="586739" y="656843"/>
                  </a:lnTo>
                  <a:lnTo>
                    <a:pt x="601598" y="656843"/>
                  </a:lnTo>
                  <a:lnTo>
                    <a:pt x="864996" y="470915"/>
                  </a:lnTo>
                  <a:lnTo>
                    <a:pt x="864107" y="470915"/>
                  </a:lnTo>
                  <a:lnTo>
                    <a:pt x="867155" y="469391"/>
                  </a:lnTo>
                  <a:lnTo>
                    <a:pt x="2004059" y="469391"/>
                  </a:lnTo>
                  <a:lnTo>
                    <a:pt x="2013203" y="466343"/>
                  </a:lnTo>
                  <a:lnTo>
                    <a:pt x="2020823" y="463295"/>
                  </a:lnTo>
                  <a:lnTo>
                    <a:pt x="2026919" y="460247"/>
                  </a:lnTo>
                  <a:lnTo>
                    <a:pt x="2034539" y="455675"/>
                  </a:lnTo>
                  <a:lnTo>
                    <a:pt x="2046731" y="446531"/>
                  </a:lnTo>
                  <a:lnTo>
                    <a:pt x="2026919" y="446531"/>
                  </a:lnTo>
                  <a:lnTo>
                    <a:pt x="2026919" y="445007"/>
                  </a:lnTo>
                  <a:close/>
                </a:path>
                <a:path w="2071370" h="670560">
                  <a:moveTo>
                    <a:pt x="345947" y="469391"/>
                  </a:moveTo>
                  <a:lnTo>
                    <a:pt x="74675" y="469391"/>
                  </a:lnTo>
                  <a:lnTo>
                    <a:pt x="82296" y="470915"/>
                  </a:lnTo>
                  <a:lnTo>
                    <a:pt x="347737" y="470915"/>
                  </a:lnTo>
                  <a:lnTo>
                    <a:pt x="345947" y="469391"/>
                  </a:lnTo>
                  <a:close/>
                </a:path>
                <a:path w="2071370" h="670560">
                  <a:moveTo>
                    <a:pt x="2004059" y="1524"/>
                  </a:moveTo>
                  <a:lnTo>
                    <a:pt x="67055" y="1524"/>
                  </a:lnTo>
                  <a:lnTo>
                    <a:pt x="57912" y="4571"/>
                  </a:lnTo>
                  <a:lnTo>
                    <a:pt x="24384" y="24383"/>
                  </a:lnTo>
                  <a:lnTo>
                    <a:pt x="4572" y="57912"/>
                  </a:lnTo>
                  <a:lnTo>
                    <a:pt x="1524" y="67056"/>
                  </a:lnTo>
                  <a:lnTo>
                    <a:pt x="1524" y="74675"/>
                  </a:lnTo>
                  <a:lnTo>
                    <a:pt x="0" y="82295"/>
                  </a:lnTo>
                  <a:lnTo>
                    <a:pt x="0" y="388619"/>
                  </a:lnTo>
                  <a:lnTo>
                    <a:pt x="1524" y="396239"/>
                  </a:lnTo>
                  <a:lnTo>
                    <a:pt x="1524" y="403859"/>
                  </a:lnTo>
                  <a:lnTo>
                    <a:pt x="24384" y="446531"/>
                  </a:lnTo>
                  <a:lnTo>
                    <a:pt x="57912" y="466343"/>
                  </a:lnTo>
                  <a:lnTo>
                    <a:pt x="67055" y="469391"/>
                  </a:lnTo>
                  <a:lnTo>
                    <a:pt x="345947" y="469391"/>
                  </a:lnTo>
                  <a:lnTo>
                    <a:pt x="348995" y="470915"/>
                  </a:lnTo>
                  <a:lnTo>
                    <a:pt x="368168" y="470915"/>
                  </a:lnTo>
                  <a:lnTo>
                    <a:pt x="352043" y="457199"/>
                  </a:lnTo>
                  <a:lnTo>
                    <a:pt x="76200" y="457199"/>
                  </a:lnTo>
                  <a:lnTo>
                    <a:pt x="68579" y="455675"/>
                  </a:lnTo>
                  <a:lnTo>
                    <a:pt x="62484" y="454151"/>
                  </a:lnTo>
                  <a:lnTo>
                    <a:pt x="54863" y="452627"/>
                  </a:lnTo>
                  <a:lnTo>
                    <a:pt x="56387" y="452627"/>
                  </a:lnTo>
                  <a:lnTo>
                    <a:pt x="48767" y="449579"/>
                  </a:lnTo>
                  <a:lnTo>
                    <a:pt x="50291" y="449579"/>
                  </a:lnTo>
                  <a:lnTo>
                    <a:pt x="46227" y="446531"/>
                  </a:lnTo>
                  <a:lnTo>
                    <a:pt x="44196" y="446531"/>
                  </a:lnTo>
                  <a:lnTo>
                    <a:pt x="33527" y="437387"/>
                  </a:lnTo>
                  <a:lnTo>
                    <a:pt x="24384" y="426719"/>
                  </a:lnTo>
                  <a:lnTo>
                    <a:pt x="25908" y="426719"/>
                  </a:lnTo>
                  <a:lnTo>
                    <a:pt x="21336" y="420623"/>
                  </a:lnTo>
                  <a:lnTo>
                    <a:pt x="18287" y="414527"/>
                  </a:lnTo>
                  <a:lnTo>
                    <a:pt x="16763" y="408431"/>
                  </a:lnTo>
                  <a:lnTo>
                    <a:pt x="15544" y="402335"/>
                  </a:lnTo>
                  <a:lnTo>
                    <a:pt x="15239" y="402335"/>
                  </a:lnTo>
                  <a:lnTo>
                    <a:pt x="13715" y="394715"/>
                  </a:lnTo>
                  <a:lnTo>
                    <a:pt x="13715" y="76200"/>
                  </a:lnTo>
                  <a:lnTo>
                    <a:pt x="15239" y="68580"/>
                  </a:lnTo>
                  <a:lnTo>
                    <a:pt x="16763" y="62483"/>
                  </a:lnTo>
                  <a:lnTo>
                    <a:pt x="18287" y="54863"/>
                  </a:lnTo>
                  <a:lnTo>
                    <a:pt x="18897" y="54863"/>
                  </a:lnTo>
                  <a:lnTo>
                    <a:pt x="21336" y="48768"/>
                  </a:lnTo>
                  <a:lnTo>
                    <a:pt x="22478" y="48768"/>
                  </a:lnTo>
                  <a:lnTo>
                    <a:pt x="25908" y="44195"/>
                  </a:lnTo>
                  <a:lnTo>
                    <a:pt x="24384" y="44195"/>
                  </a:lnTo>
                  <a:lnTo>
                    <a:pt x="33527" y="33527"/>
                  </a:lnTo>
                  <a:lnTo>
                    <a:pt x="44196" y="24383"/>
                  </a:lnTo>
                  <a:lnTo>
                    <a:pt x="46228" y="24383"/>
                  </a:lnTo>
                  <a:lnTo>
                    <a:pt x="50291" y="21336"/>
                  </a:lnTo>
                  <a:lnTo>
                    <a:pt x="48767" y="21336"/>
                  </a:lnTo>
                  <a:lnTo>
                    <a:pt x="56387" y="18287"/>
                  </a:lnTo>
                  <a:lnTo>
                    <a:pt x="54863" y="18287"/>
                  </a:lnTo>
                  <a:lnTo>
                    <a:pt x="62484" y="16763"/>
                  </a:lnTo>
                  <a:lnTo>
                    <a:pt x="68579" y="15239"/>
                  </a:lnTo>
                  <a:lnTo>
                    <a:pt x="76200" y="13715"/>
                  </a:lnTo>
                  <a:lnTo>
                    <a:pt x="2031999" y="13715"/>
                  </a:lnTo>
                  <a:lnTo>
                    <a:pt x="2026919" y="10668"/>
                  </a:lnTo>
                  <a:lnTo>
                    <a:pt x="2020823" y="7619"/>
                  </a:lnTo>
                  <a:lnTo>
                    <a:pt x="2013203" y="4571"/>
                  </a:lnTo>
                  <a:lnTo>
                    <a:pt x="2004059" y="1524"/>
                  </a:lnTo>
                  <a:close/>
                </a:path>
                <a:path w="2071370" h="670560">
                  <a:moveTo>
                    <a:pt x="867155" y="469391"/>
                  </a:moveTo>
                  <a:lnTo>
                    <a:pt x="864107" y="470915"/>
                  </a:lnTo>
                  <a:lnTo>
                    <a:pt x="864996" y="470915"/>
                  </a:lnTo>
                  <a:lnTo>
                    <a:pt x="867155" y="469391"/>
                  </a:lnTo>
                  <a:close/>
                </a:path>
                <a:path w="2071370" h="670560">
                  <a:moveTo>
                    <a:pt x="1996439" y="469391"/>
                  </a:moveTo>
                  <a:lnTo>
                    <a:pt x="867155" y="469391"/>
                  </a:lnTo>
                  <a:lnTo>
                    <a:pt x="864996" y="470915"/>
                  </a:lnTo>
                  <a:lnTo>
                    <a:pt x="1988819" y="470915"/>
                  </a:lnTo>
                  <a:lnTo>
                    <a:pt x="1996439" y="469391"/>
                  </a:lnTo>
                  <a:close/>
                </a:path>
                <a:path w="2071370" h="670560">
                  <a:moveTo>
                    <a:pt x="44196" y="445007"/>
                  </a:moveTo>
                  <a:lnTo>
                    <a:pt x="44196" y="446531"/>
                  </a:lnTo>
                  <a:lnTo>
                    <a:pt x="46227" y="446531"/>
                  </a:lnTo>
                  <a:lnTo>
                    <a:pt x="44196" y="445007"/>
                  </a:lnTo>
                  <a:close/>
                </a:path>
                <a:path w="2071370" h="670560">
                  <a:moveTo>
                    <a:pt x="2055875" y="400811"/>
                  </a:moveTo>
                  <a:lnTo>
                    <a:pt x="2054351" y="408431"/>
                  </a:lnTo>
                  <a:lnTo>
                    <a:pt x="2052827" y="414527"/>
                  </a:lnTo>
                  <a:lnTo>
                    <a:pt x="2049779" y="420623"/>
                  </a:lnTo>
                  <a:lnTo>
                    <a:pt x="2045207" y="426719"/>
                  </a:lnTo>
                  <a:lnTo>
                    <a:pt x="2046731" y="426719"/>
                  </a:lnTo>
                  <a:lnTo>
                    <a:pt x="2037587" y="437387"/>
                  </a:lnTo>
                  <a:lnTo>
                    <a:pt x="2026919" y="446531"/>
                  </a:lnTo>
                  <a:lnTo>
                    <a:pt x="2046731" y="446531"/>
                  </a:lnTo>
                  <a:lnTo>
                    <a:pt x="2066543" y="413003"/>
                  </a:lnTo>
                  <a:lnTo>
                    <a:pt x="2069591" y="403859"/>
                  </a:lnTo>
                  <a:lnTo>
                    <a:pt x="2069591" y="402335"/>
                  </a:lnTo>
                  <a:lnTo>
                    <a:pt x="2055875" y="402335"/>
                  </a:lnTo>
                  <a:lnTo>
                    <a:pt x="2055875" y="400811"/>
                  </a:lnTo>
                  <a:close/>
                </a:path>
                <a:path w="2071370" h="670560">
                  <a:moveTo>
                    <a:pt x="15239" y="400811"/>
                  </a:moveTo>
                  <a:lnTo>
                    <a:pt x="15239" y="402335"/>
                  </a:lnTo>
                  <a:lnTo>
                    <a:pt x="15544" y="402335"/>
                  </a:lnTo>
                  <a:lnTo>
                    <a:pt x="15239" y="400811"/>
                  </a:lnTo>
                  <a:close/>
                </a:path>
                <a:path w="2071370" h="670560">
                  <a:moveTo>
                    <a:pt x="2065324" y="54863"/>
                  </a:moveTo>
                  <a:lnTo>
                    <a:pt x="2052827" y="54863"/>
                  </a:lnTo>
                  <a:lnTo>
                    <a:pt x="2054351" y="62483"/>
                  </a:lnTo>
                  <a:lnTo>
                    <a:pt x="2055875" y="68580"/>
                  </a:lnTo>
                  <a:lnTo>
                    <a:pt x="2057399" y="76200"/>
                  </a:lnTo>
                  <a:lnTo>
                    <a:pt x="2057399" y="394715"/>
                  </a:lnTo>
                  <a:lnTo>
                    <a:pt x="2055875" y="402335"/>
                  </a:lnTo>
                  <a:lnTo>
                    <a:pt x="2069591" y="402335"/>
                  </a:lnTo>
                  <a:lnTo>
                    <a:pt x="2069591" y="396239"/>
                  </a:lnTo>
                  <a:lnTo>
                    <a:pt x="2071115" y="388619"/>
                  </a:lnTo>
                  <a:lnTo>
                    <a:pt x="2071115" y="82295"/>
                  </a:lnTo>
                  <a:lnTo>
                    <a:pt x="2069591" y="74675"/>
                  </a:lnTo>
                  <a:lnTo>
                    <a:pt x="2069591" y="67056"/>
                  </a:lnTo>
                  <a:lnTo>
                    <a:pt x="2066543" y="57912"/>
                  </a:lnTo>
                  <a:lnTo>
                    <a:pt x="2065324" y="54863"/>
                  </a:lnTo>
                  <a:close/>
                </a:path>
                <a:path w="2071370" h="670560">
                  <a:moveTo>
                    <a:pt x="18897" y="54863"/>
                  </a:moveTo>
                  <a:lnTo>
                    <a:pt x="18287" y="54863"/>
                  </a:lnTo>
                  <a:lnTo>
                    <a:pt x="18287" y="56387"/>
                  </a:lnTo>
                  <a:lnTo>
                    <a:pt x="18897" y="54863"/>
                  </a:lnTo>
                  <a:close/>
                </a:path>
                <a:path w="2071370" h="670560">
                  <a:moveTo>
                    <a:pt x="2062733" y="48768"/>
                  </a:moveTo>
                  <a:lnTo>
                    <a:pt x="2049779" y="48768"/>
                  </a:lnTo>
                  <a:lnTo>
                    <a:pt x="2052827" y="56387"/>
                  </a:lnTo>
                  <a:lnTo>
                    <a:pt x="2052827" y="54863"/>
                  </a:lnTo>
                  <a:lnTo>
                    <a:pt x="2065324" y="54863"/>
                  </a:lnTo>
                  <a:lnTo>
                    <a:pt x="2063495" y="50292"/>
                  </a:lnTo>
                  <a:lnTo>
                    <a:pt x="2062733" y="48768"/>
                  </a:lnTo>
                  <a:close/>
                </a:path>
                <a:path w="2071370" h="670560">
                  <a:moveTo>
                    <a:pt x="22478" y="48768"/>
                  </a:moveTo>
                  <a:lnTo>
                    <a:pt x="21336" y="48768"/>
                  </a:lnTo>
                  <a:lnTo>
                    <a:pt x="21336" y="50292"/>
                  </a:lnTo>
                  <a:lnTo>
                    <a:pt x="22478" y="48768"/>
                  </a:lnTo>
                  <a:close/>
                </a:path>
                <a:path w="2071370" h="670560">
                  <a:moveTo>
                    <a:pt x="2046731" y="24383"/>
                  </a:moveTo>
                  <a:lnTo>
                    <a:pt x="2026919" y="24383"/>
                  </a:lnTo>
                  <a:lnTo>
                    <a:pt x="2037587" y="33527"/>
                  </a:lnTo>
                  <a:lnTo>
                    <a:pt x="2046731" y="44195"/>
                  </a:lnTo>
                  <a:lnTo>
                    <a:pt x="2045207" y="44195"/>
                  </a:lnTo>
                  <a:lnTo>
                    <a:pt x="2049779" y="50292"/>
                  </a:lnTo>
                  <a:lnTo>
                    <a:pt x="2049779" y="48768"/>
                  </a:lnTo>
                  <a:lnTo>
                    <a:pt x="2062733" y="48768"/>
                  </a:lnTo>
                  <a:lnTo>
                    <a:pt x="2060447" y="44195"/>
                  </a:lnTo>
                  <a:lnTo>
                    <a:pt x="2055875" y="36575"/>
                  </a:lnTo>
                  <a:lnTo>
                    <a:pt x="2046731" y="24383"/>
                  </a:lnTo>
                  <a:close/>
                </a:path>
                <a:path w="2071370" h="670560">
                  <a:moveTo>
                    <a:pt x="46228" y="24383"/>
                  </a:moveTo>
                  <a:lnTo>
                    <a:pt x="44196" y="24383"/>
                  </a:lnTo>
                  <a:lnTo>
                    <a:pt x="44196" y="25907"/>
                  </a:lnTo>
                  <a:lnTo>
                    <a:pt x="46228" y="24383"/>
                  </a:lnTo>
                  <a:close/>
                </a:path>
                <a:path w="2071370" h="670560">
                  <a:moveTo>
                    <a:pt x="2031999" y="13715"/>
                  </a:moveTo>
                  <a:lnTo>
                    <a:pt x="1994915" y="13715"/>
                  </a:lnTo>
                  <a:lnTo>
                    <a:pt x="2002535" y="15239"/>
                  </a:lnTo>
                  <a:lnTo>
                    <a:pt x="2001011" y="15239"/>
                  </a:lnTo>
                  <a:lnTo>
                    <a:pt x="2008631" y="16763"/>
                  </a:lnTo>
                  <a:lnTo>
                    <a:pt x="2014727" y="18287"/>
                  </a:lnTo>
                  <a:lnTo>
                    <a:pt x="2020823" y="21336"/>
                  </a:lnTo>
                  <a:lnTo>
                    <a:pt x="2026919" y="25907"/>
                  </a:lnTo>
                  <a:lnTo>
                    <a:pt x="2026919" y="24383"/>
                  </a:lnTo>
                  <a:lnTo>
                    <a:pt x="2046731" y="24383"/>
                  </a:lnTo>
                  <a:lnTo>
                    <a:pt x="2034539" y="15239"/>
                  </a:lnTo>
                  <a:lnTo>
                    <a:pt x="2031999" y="13715"/>
                  </a:lnTo>
                  <a:close/>
                </a:path>
                <a:path w="2071370" h="670560">
                  <a:moveTo>
                    <a:pt x="1988819" y="0"/>
                  </a:moveTo>
                  <a:lnTo>
                    <a:pt x="82296" y="0"/>
                  </a:lnTo>
                  <a:lnTo>
                    <a:pt x="74675" y="1524"/>
                  </a:lnTo>
                  <a:lnTo>
                    <a:pt x="1996439" y="1524"/>
                  </a:lnTo>
                  <a:lnTo>
                    <a:pt x="19888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139822" y="4589779"/>
            <a:ext cx="4349115" cy="93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Entire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message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Calibri"/>
              <a:cs typeface="Calibri"/>
            </a:endParaRPr>
          </a:p>
          <a:p>
            <a:pPr marL="2734945">
              <a:lnSpc>
                <a:spcPct val="100000"/>
              </a:lnSpc>
            </a:pPr>
            <a:r>
              <a:rPr sz="1800" spc="-10" dirty="0">
                <a:solidFill>
                  <a:srgbClr val="BF0000"/>
                </a:solidFill>
                <a:latin typeface="Calibri"/>
                <a:cs typeface="Calibri"/>
              </a:rPr>
              <a:t>Propagation</a:t>
            </a:r>
            <a:r>
              <a:rPr sz="1800" spc="-6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BF0000"/>
                </a:solidFill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46</a:t>
            </a:fld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79770"/>
            <a:ext cx="784987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b="1" u="none" spc="-45" dirty="0">
                <a:latin typeface="Arial"/>
                <a:cs typeface="Arial"/>
              </a:rPr>
              <a:t>Latency</a:t>
            </a:r>
            <a:r>
              <a:rPr sz="4900" b="1" u="none" spc="-145" dirty="0">
                <a:latin typeface="Arial"/>
                <a:cs typeface="Arial"/>
              </a:rPr>
              <a:t> </a:t>
            </a:r>
            <a:r>
              <a:rPr sz="4900" b="1" u="none" spc="-5" dirty="0">
                <a:latin typeface="Arial"/>
                <a:cs typeface="Arial"/>
              </a:rPr>
              <a:t>-</a:t>
            </a:r>
            <a:r>
              <a:rPr sz="4900" b="1" u="none" spc="-110" dirty="0">
                <a:latin typeface="Arial"/>
                <a:cs typeface="Arial"/>
              </a:rPr>
              <a:t> </a:t>
            </a:r>
            <a:r>
              <a:rPr sz="4900" b="1" i="1" u="none" spc="-50" dirty="0">
                <a:latin typeface="Arial"/>
                <a:cs typeface="Arial"/>
              </a:rPr>
              <a:t>Propagation</a:t>
            </a:r>
            <a:r>
              <a:rPr sz="4900" b="1" i="1" u="none" spc="-125" dirty="0">
                <a:latin typeface="Arial"/>
                <a:cs typeface="Arial"/>
              </a:rPr>
              <a:t> </a:t>
            </a:r>
            <a:r>
              <a:rPr sz="4900" b="1" u="none" spc="-40" dirty="0">
                <a:latin typeface="Arial"/>
                <a:cs typeface="Arial"/>
              </a:rPr>
              <a:t>time</a:t>
            </a:r>
            <a:endParaRPr sz="4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667" y="1769826"/>
            <a:ext cx="8672195" cy="3056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230" indent="-177165">
              <a:lnSpc>
                <a:spcPts val="3190"/>
              </a:lnSpc>
              <a:spcBef>
                <a:spcPts val="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required</a:t>
            </a:r>
            <a:r>
              <a:rPr sz="2800" b="1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8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3F3F3F"/>
                </a:solidFill>
                <a:latin typeface="Calibri"/>
                <a:cs typeface="Calibri"/>
              </a:rPr>
              <a:t>travel</a:t>
            </a:r>
            <a:r>
              <a:rPr sz="2800" b="1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source</a:t>
            </a:r>
            <a:r>
              <a:rPr sz="28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  <a:p>
            <a:pPr marL="189230">
              <a:lnSpc>
                <a:spcPts val="3190"/>
              </a:lnSpc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destination.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6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b="1" spc="-20" dirty="0">
                <a:solidFill>
                  <a:srgbClr val="3F3F3F"/>
                </a:solidFill>
                <a:latin typeface="Calibri"/>
                <a:cs typeface="Calibri"/>
              </a:rPr>
              <a:t>Propagation</a:t>
            </a:r>
            <a:r>
              <a:rPr sz="2800" b="1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8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8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Distance</a:t>
            </a:r>
            <a:r>
              <a:rPr sz="2800" b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/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(Propagation</a:t>
            </a:r>
            <a:r>
              <a:rPr sz="2800" b="1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Speed)</a:t>
            </a:r>
            <a:endParaRPr sz="2800">
              <a:latin typeface="Calibri"/>
              <a:cs typeface="Calibri"/>
            </a:endParaRPr>
          </a:p>
          <a:p>
            <a:pPr marL="189230" marR="5080" indent="-177165">
              <a:lnSpc>
                <a:spcPts val="3020"/>
              </a:lnSpc>
              <a:spcBef>
                <a:spcPts val="14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propagation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speed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electromagnetic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depends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medium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ts val="278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example,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in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vacuum,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light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propagated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speed of</a:t>
            </a:r>
            <a:r>
              <a:rPr sz="24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3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25" dirty="0">
                <a:solidFill>
                  <a:srgbClr val="3F3F3F"/>
                </a:solidFill>
                <a:latin typeface="Microsoft Sans Serif"/>
                <a:cs typeface="Microsoft Sans Serif"/>
              </a:rPr>
              <a:t>×</a:t>
            </a:r>
            <a:endParaRPr sz="2400">
              <a:latin typeface="Microsoft Sans Serif"/>
              <a:cs typeface="Microsoft Sans Serif"/>
            </a:endParaRPr>
          </a:p>
          <a:p>
            <a:pPr marL="419100">
              <a:lnSpc>
                <a:spcPts val="2785"/>
              </a:lnSpc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108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m/s.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lower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in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air;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much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lower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cable.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47</a:t>
            </a:fld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919217"/>
            <a:ext cx="80060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45" dirty="0"/>
              <a:t>Example</a:t>
            </a:r>
            <a:r>
              <a:rPr sz="4000" u="none" spc="-114" dirty="0"/>
              <a:t> </a:t>
            </a:r>
            <a:r>
              <a:rPr sz="4000" u="none" spc="-45" dirty="0"/>
              <a:t>Latency</a:t>
            </a:r>
            <a:r>
              <a:rPr sz="4000" u="none" spc="-125" dirty="0"/>
              <a:t> </a:t>
            </a:r>
            <a:r>
              <a:rPr sz="4000" u="none" spc="-5" dirty="0"/>
              <a:t>-</a:t>
            </a:r>
            <a:r>
              <a:rPr sz="4000" u="none" spc="-100" dirty="0"/>
              <a:t> </a:t>
            </a:r>
            <a:r>
              <a:rPr sz="4000" i="1" u="none" spc="-50" dirty="0">
                <a:latin typeface="Arial"/>
                <a:cs typeface="Arial"/>
              </a:rPr>
              <a:t>Propagation</a:t>
            </a:r>
            <a:r>
              <a:rPr sz="4000" i="1" u="none" spc="-105" dirty="0">
                <a:latin typeface="Arial"/>
                <a:cs typeface="Arial"/>
              </a:rPr>
              <a:t> </a:t>
            </a:r>
            <a:r>
              <a:rPr sz="4000" u="none" spc="-40" dirty="0"/>
              <a:t>time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667" y="1769826"/>
            <a:ext cx="8740775" cy="12065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89230" marR="5080" indent="-177165">
              <a:lnSpc>
                <a:spcPct val="88400"/>
              </a:lnSpc>
              <a:spcBef>
                <a:spcPts val="484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propagation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distance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points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12,000</a:t>
            </a:r>
            <a:r>
              <a:rPr sz="2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km?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Assume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propagation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speed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2.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4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615" dirty="0">
                <a:solidFill>
                  <a:srgbClr val="3F3F3F"/>
                </a:solidFill>
                <a:latin typeface="Microsoft Sans Serif"/>
                <a:cs typeface="Microsoft Sans Serif"/>
              </a:rPr>
              <a:t>×</a:t>
            </a:r>
            <a:r>
              <a:rPr sz="2800" spc="-114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8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800" spc="-45" dirty="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e.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24811" y="3220720"/>
            <a:ext cx="5108575" cy="932180"/>
            <a:chOff x="1924811" y="3220720"/>
            <a:chExt cx="5108575" cy="9321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4247" y="3282696"/>
              <a:ext cx="4994147" cy="6050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24799" y="3220719"/>
              <a:ext cx="5108575" cy="667385"/>
            </a:xfrm>
            <a:custGeom>
              <a:avLst/>
              <a:gdLst/>
              <a:ahLst/>
              <a:cxnLst/>
              <a:rect l="l" t="t" r="r" b="b"/>
              <a:pathLst>
                <a:path w="5108575" h="667385">
                  <a:moveTo>
                    <a:pt x="5062728" y="45720"/>
                  </a:moveTo>
                  <a:lnTo>
                    <a:pt x="45720" y="45720"/>
                  </a:lnTo>
                  <a:lnTo>
                    <a:pt x="45720" y="55880"/>
                  </a:lnTo>
                  <a:lnTo>
                    <a:pt x="45720" y="666750"/>
                  </a:lnTo>
                  <a:lnTo>
                    <a:pt x="56388" y="666750"/>
                  </a:lnTo>
                  <a:lnTo>
                    <a:pt x="56388" y="55880"/>
                  </a:lnTo>
                  <a:lnTo>
                    <a:pt x="5052060" y="55880"/>
                  </a:lnTo>
                  <a:lnTo>
                    <a:pt x="5052060" y="667004"/>
                  </a:lnTo>
                  <a:lnTo>
                    <a:pt x="5062728" y="667004"/>
                  </a:lnTo>
                  <a:lnTo>
                    <a:pt x="5062728" y="55880"/>
                  </a:lnTo>
                  <a:lnTo>
                    <a:pt x="5062728" y="45720"/>
                  </a:lnTo>
                  <a:close/>
                </a:path>
                <a:path w="5108575" h="667385">
                  <a:moveTo>
                    <a:pt x="5108448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666750"/>
                  </a:lnTo>
                  <a:lnTo>
                    <a:pt x="33528" y="666750"/>
                  </a:lnTo>
                  <a:lnTo>
                    <a:pt x="33528" y="33020"/>
                  </a:lnTo>
                  <a:lnTo>
                    <a:pt x="5074920" y="33020"/>
                  </a:lnTo>
                  <a:lnTo>
                    <a:pt x="5074920" y="667004"/>
                  </a:lnTo>
                  <a:lnTo>
                    <a:pt x="5108448" y="667004"/>
                  </a:lnTo>
                  <a:lnTo>
                    <a:pt x="5108448" y="33020"/>
                  </a:lnTo>
                  <a:lnTo>
                    <a:pt x="5108448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4247" y="3886200"/>
              <a:ext cx="4994147" cy="2118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24799" y="3886199"/>
              <a:ext cx="5108575" cy="266700"/>
            </a:xfrm>
            <a:custGeom>
              <a:avLst/>
              <a:gdLst/>
              <a:ahLst/>
              <a:cxnLst/>
              <a:rect l="l" t="t" r="r" b="b"/>
              <a:pathLst>
                <a:path w="5108575" h="266700">
                  <a:moveTo>
                    <a:pt x="5062728" y="210820"/>
                  </a:moveTo>
                  <a:lnTo>
                    <a:pt x="56388" y="210820"/>
                  </a:lnTo>
                  <a:lnTo>
                    <a:pt x="56388" y="0"/>
                  </a:lnTo>
                  <a:lnTo>
                    <a:pt x="45720" y="0"/>
                  </a:lnTo>
                  <a:lnTo>
                    <a:pt x="45720" y="210820"/>
                  </a:lnTo>
                  <a:lnTo>
                    <a:pt x="45720" y="220980"/>
                  </a:lnTo>
                  <a:lnTo>
                    <a:pt x="5062728" y="220980"/>
                  </a:lnTo>
                  <a:lnTo>
                    <a:pt x="5062728" y="210820"/>
                  </a:lnTo>
                  <a:close/>
                </a:path>
                <a:path w="5108575" h="266700">
                  <a:moveTo>
                    <a:pt x="5062728" y="0"/>
                  </a:moveTo>
                  <a:lnTo>
                    <a:pt x="5052060" y="0"/>
                  </a:lnTo>
                  <a:lnTo>
                    <a:pt x="5052060" y="210312"/>
                  </a:lnTo>
                  <a:lnTo>
                    <a:pt x="5062728" y="210312"/>
                  </a:lnTo>
                  <a:lnTo>
                    <a:pt x="5062728" y="0"/>
                  </a:lnTo>
                  <a:close/>
                </a:path>
                <a:path w="5108575" h="266700">
                  <a:moveTo>
                    <a:pt x="5108448" y="233680"/>
                  </a:moveTo>
                  <a:lnTo>
                    <a:pt x="33528" y="233680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233680"/>
                  </a:lnTo>
                  <a:lnTo>
                    <a:pt x="0" y="266700"/>
                  </a:lnTo>
                  <a:lnTo>
                    <a:pt x="5108448" y="266700"/>
                  </a:lnTo>
                  <a:lnTo>
                    <a:pt x="5108448" y="233680"/>
                  </a:lnTo>
                  <a:close/>
                </a:path>
                <a:path w="5108575" h="266700">
                  <a:moveTo>
                    <a:pt x="5108448" y="0"/>
                  </a:moveTo>
                  <a:lnTo>
                    <a:pt x="5074920" y="0"/>
                  </a:lnTo>
                  <a:lnTo>
                    <a:pt x="5074920" y="233172"/>
                  </a:lnTo>
                  <a:lnTo>
                    <a:pt x="5108448" y="233172"/>
                  </a:lnTo>
                  <a:lnTo>
                    <a:pt x="5108448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11" name="object 11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97667" y="4223467"/>
            <a:ext cx="8460105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example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shows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go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over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Atlantic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Ocean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ms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there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direct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cable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source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destination.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48</a:t>
            </a:fld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79770"/>
            <a:ext cx="822769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b="1" u="none" spc="-45" dirty="0">
                <a:latin typeface="Arial"/>
                <a:cs typeface="Arial"/>
              </a:rPr>
              <a:t>Latency</a:t>
            </a:r>
            <a:r>
              <a:rPr sz="4900" b="1" u="none" spc="-135" dirty="0">
                <a:latin typeface="Arial"/>
                <a:cs typeface="Arial"/>
              </a:rPr>
              <a:t> </a:t>
            </a:r>
            <a:r>
              <a:rPr sz="4900" b="1" u="none" spc="-5" dirty="0">
                <a:latin typeface="Arial"/>
                <a:cs typeface="Arial"/>
              </a:rPr>
              <a:t>-</a:t>
            </a:r>
            <a:r>
              <a:rPr sz="4900" b="1" u="none" spc="-100" dirty="0">
                <a:latin typeface="Arial"/>
                <a:cs typeface="Arial"/>
              </a:rPr>
              <a:t> </a:t>
            </a:r>
            <a:r>
              <a:rPr sz="4900" b="1" u="none" spc="-75" dirty="0">
                <a:latin typeface="Arial"/>
                <a:cs typeface="Arial"/>
              </a:rPr>
              <a:t>Transmission</a:t>
            </a:r>
            <a:r>
              <a:rPr sz="4900" b="1" u="none" spc="-105" dirty="0">
                <a:latin typeface="Arial"/>
                <a:cs typeface="Arial"/>
              </a:rPr>
              <a:t> </a:t>
            </a:r>
            <a:r>
              <a:rPr sz="4900" b="1" u="none" spc="-40" dirty="0">
                <a:latin typeface="Arial"/>
                <a:cs typeface="Arial"/>
              </a:rPr>
              <a:t>time</a:t>
            </a:r>
            <a:endParaRPr sz="4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667" y="1747810"/>
            <a:ext cx="8724900" cy="39852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27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communications</a:t>
            </a:r>
            <a:r>
              <a:rPr sz="2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message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sent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just</a:t>
            </a:r>
            <a:r>
              <a:rPr sz="2800" spc="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endParaRPr sz="2800">
              <a:latin typeface="Calibri"/>
              <a:cs typeface="Calibri"/>
            </a:endParaRPr>
          </a:p>
          <a:p>
            <a:pPr marL="419100" marR="55880" lvl="1" indent="-182880">
              <a:lnSpc>
                <a:spcPts val="2590"/>
              </a:lnSpc>
              <a:spcBef>
                <a:spcPts val="47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first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last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may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take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time equal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propagation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time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reach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its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destination</a:t>
            </a:r>
            <a:endParaRPr sz="24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84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first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leaves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earlier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arrives earlier;</a:t>
            </a:r>
            <a:r>
              <a:rPr sz="1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last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leaves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later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arrives 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later.</a:t>
            </a:r>
            <a:endParaRPr sz="1800">
              <a:latin typeface="Calibri"/>
              <a:cs typeface="Calibri"/>
            </a:endParaRPr>
          </a:p>
          <a:p>
            <a:pPr marL="189230" marR="5080" indent="-177165">
              <a:lnSpc>
                <a:spcPts val="3000"/>
              </a:lnSpc>
              <a:spcBef>
                <a:spcPts val="162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b="1" spc="-25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 time</a:t>
            </a:r>
            <a:r>
              <a:rPr sz="2800" b="1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800" spc="-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first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leaving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sender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last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arriving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receiver</a:t>
            </a:r>
            <a:endParaRPr sz="2800">
              <a:latin typeface="Calibri"/>
              <a:cs typeface="Calibri"/>
            </a:endParaRPr>
          </a:p>
          <a:p>
            <a:pPr marL="189230" marR="329565" indent="-177165">
              <a:lnSpc>
                <a:spcPts val="3020"/>
              </a:lnSpc>
              <a:spcBef>
                <a:spcPts val="141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8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8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message</a:t>
            </a:r>
            <a:r>
              <a:rPr sz="2800" b="1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depends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size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message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and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endParaRPr sz="2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015"/>
              </a:spcBef>
              <a:tabLst>
                <a:tab pos="3181350" algn="l"/>
              </a:tabLst>
            </a:pPr>
            <a:r>
              <a:rPr sz="2800" b="1" spc="-25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8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800" b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=	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(Message</a:t>
            </a:r>
            <a:r>
              <a:rPr sz="28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size) </a:t>
            </a:r>
            <a:r>
              <a:rPr sz="2800" b="1" spc="-5" dirty="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279903" y="2127503"/>
            <a:ext cx="3290570" cy="1760220"/>
            <a:chOff x="2279903" y="2127503"/>
            <a:chExt cx="3290570" cy="1760220"/>
          </a:xfrm>
        </p:grpSpPr>
        <p:sp>
          <p:nvSpPr>
            <p:cNvPr id="4" name="object 4"/>
            <p:cNvSpPr/>
            <p:nvPr/>
          </p:nvSpPr>
          <p:spPr>
            <a:xfrm>
              <a:off x="2590799" y="3124199"/>
              <a:ext cx="2667000" cy="763905"/>
            </a:xfrm>
            <a:custGeom>
              <a:avLst/>
              <a:gdLst/>
              <a:ahLst/>
              <a:cxnLst/>
              <a:rect l="l" t="t" r="r" b="b"/>
              <a:pathLst>
                <a:path w="2667000" h="763904">
                  <a:moveTo>
                    <a:pt x="0" y="0"/>
                  </a:moveTo>
                  <a:lnTo>
                    <a:pt x="0" y="763523"/>
                  </a:lnTo>
                  <a:lnTo>
                    <a:pt x="2666999" y="763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4703" y="3116579"/>
              <a:ext cx="2680970" cy="771525"/>
            </a:xfrm>
            <a:custGeom>
              <a:avLst/>
              <a:gdLst/>
              <a:ahLst/>
              <a:cxnLst/>
              <a:rect l="l" t="t" r="r" b="b"/>
              <a:pathLst>
                <a:path w="2680970" h="771525">
                  <a:moveTo>
                    <a:pt x="0" y="0"/>
                  </a:moveTo>
                  <a:lnTo>
                    <a:pt x="0" y="771143"/>
                  </a:lnTo>
                  <a:lnTo>
                    <a:pt x="13716" y="771143"/>
                  </a:lnTo>
                  <a:lnTo>
                    <a:pt x="13716" y="16333"/>
                  </a:lnTo>
                  <a:lnTo>
                    <a:pt x="4572" y="13715"/>
                  </a:lnTo>
                  <a:lnTo>
                    <a:pt x="13716" y="7620"/>
                  </a:lnTo>
                  <a:lnTo>
                    <a:pt x="26647" y="7620"/>
                  </a:lnTo>
                  <a:lnTo>
                    <a:pt x="0" y="0"/>
                  </a:lnTo>
                  <a:close/>
                </a:path>
                <a:path w="2680970" h="771525">
                  <a:moveTo>
                    <a:pt x="26647" y="7620"/>
                  </a:moveTo>
                  <a:lnTo>
                    <a:pt x="13716" y="7620"/>
                  </a:lnTo>
                  <a:lnTo>
                    <a:pt x="13716" y="16333"/>
                  </a:lnTo>
                  <a:lnTo>
                    <a:pt x="2650278" y="771143"/>
                  </a:lnTo>
                  <a:lnTo>
                    <a:pt x="2680715" y="771143"/>
                  </a:lnTo>
                  <a:lnTo>
                    <a:pt x="2680715" y="766571"/>
                  </a:lnTo>
                  <a:lnTo>
                    <a:pt x="26647" y="7620"/>
                  </a:lnTo>
                  <a:close/>
                </a:path>
                <a:path w="2680970" h="771525">
                  <a:moveTo>
                    <a:pt x="13716" y="7620"/>
                  </a:moveTo>
                  <a:lnTo>
                    <a:pt x="4572" y="13715"/>
                  </a:lnTo>
                  <a:lnTo>
                    <a:pt x="13716" y="16333"/>
                  </a:lnTo>
                  <a:lnTo>
                    <a:pt x="13716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5987" y="2133599"/>
              <a:ext cx="609600" cy="554990"/>
            </a:xfrm>
            <a:custGeom>
              <a:avLst/>
              <a:gdLst/>
              <a:ahLst/>
              <a:cxnLst/>
              <a:rect l="l" t="t" r="r" b="b"/>
              <a:pathLst>
                <a:path w="609600" h="554989">
                  <a:moveTo>
                    <a:pt x="609600" y="394970"/>
                  </a:moveTo>
                  <a:lnTo>
                    <a:pt x="480060" y="394970"/>
                  </a:lnTo>
                  <a:lnTo>
                    <a:pt x="480060" y="349250"/>
                  </a:lnTo>
                  <a:lnTo>
                    <a:pt x="551688" y="349250"/>
                  </a:lnTo>
                  <a:lnTo>
                    <a:pt x="551688" y="0"/>
                  </a:lnTo>
                  <a:lnTo>
                    <a:pt x="59436" y="0"/>
                  </a:lnTo>
                  <a:lnTo>
                    <a:pt x="59436" y="349250"/>
                  </a:lnTo>
                  <a:lnTo>
                    <a:pt x="131064" y="349250"/>
                  </a:lnTo>
                  <a:lnTo>
                    <a:pt x="131064" y="393192"/>
                  </a:lnTo>
                  <a:lnTo>
                    <a:pt x="131064" y="394970"/>
                  </a:lnTo>
                  <a:lnTo>
                    <a:pt x="0" y="394970"/>
                  </a:lnTo>
                  <a:lnTo>
                    <a:pt x="0" y="554990"/>
                  </a:lnTo>
                  <a:lnTo>
                    <a:pt x="609600" y="554990"/>
                  </a:lnTo>
                  <a:lnTo>
                    <a:pt x="609600" y="394970"/>
                  </a:lnTo>
                  <a:close/>
                </a:path>
              </a:pathLst>
            </a:custGeom>
            <a:solidFill>
              <a:srgbClr val="A3C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79891" y="2127503"/>
              <a:ext cx="623570" cy="567055"/>
            </a:xfrm>
            <a:custGeom>
              <a:avLst/>
              <a:gdLst/>
              <a:ahLst/>
              <a:cxnLst/>
              <a:rect l="l" t="t" r="r" b="b"/>
              <a:pathLst>
                <a:path w="623569" h="567055">
                  <a:moveTo>
                    <a:pt x="492252" y="57912"/>
                  </a:moveTo>
                  <a:lnTo>
                    <a:pt x="480060" y="57912"/>
                  </a:lnTo>
                  <a:lnTo>
                    <a:pt x="480060" y="71628"/>
                  </a:lnTo>
                  <a:lnTo>
                    <a:pt x="480060" y="289560"/>
                  </a:lnTo>
                  <a:lnTo>
                    <a:pt x="143256" y="289560"/>
                  </a:lnTo>
                  <a:lnTo>
                    <a:pt x="143256" y="71628"/>
                  </a:lnTo>
                  <a:lnTo>
                    <a:pt x="480060" y="71628"/>
                  </a:lnTo>
                  <a:lnTo>
                    <a:pt x="480060" y="57912"/>
                  </a:lnTo>
                  <a:lnTo>
                    <a:pt x="131064" y="57912"/>
                  </a:lnTo>
                  <a:lnTo>
                    <a:pt x="131064" y="297180"/>
                  </a:lnTo>
                  <a:lnTo>
                    <a:pt x="137160" y="297180"/>
                  </a:lnTo>
                  <a:lnTo>
                    <a:pt x="137160" y="303276"/>
                  </a:lnTo>
                  <a:lnTo>
                    <a:pt x="492252" y="303276"/>
                  </a:lnTo>
                  <a:lnTo>
                    <a:pt x="492252" y="297180"/>
                  </a:lnTo>
                  <a:lnTo>
                    <a:pt x="492252" y="289560"/>
                  </a:lnTo>
                  <a:lnTo>
                    <a:pt x="492252" y="71628"/>
                  </a:lnTo>
                  <a:lnTo>
                    <a:pt x="492252" y="64008"/>
                  </a:lnTo>
                  <a:lnTo>
                    <a:pt x="492252" y="57912"/>
                  </a:lnTo>
                  <a:close/>
                </a:path>
                <a:path w="623569" h="567055">
                  <a:moveTo>
                    <a:pt x="582168" y="420624"/>
                  </a:moveTo>
                  <a:lnTo>
                    <a:pt x="569976" y="420624"/>
                  </a:lnTo>
                  <a:lnTo>
                    <a:pt x="569976" y="432816"/>
                  </a:lnTo>
                  <a:lnTo>
                    <a:pt x="569976" y="438912"/>
                  </a:lnTo>
                  <a:lnTo>
                    <a:pt x="406908" y="438912"/>
                  </a:lnTo>
                  <a:lnTo>
                    <a:pt x="406908" y="432816"/>
                  </a:lnTo>
                  <a:lnTo>
                    <a:pt x="569976" y="432816"/>
                  </a:lnTo>
                  <a:lnTo>
                    <a:pt x="569976" y="420624"/>
                  </a:lnTo>
                  <a:lnTo>
                    <a:pt x="394716" y="420624"/>
                  </a:lnTo>
                  <a:lnTo>
                    <a:pt x="394716" y="445008"/>
                  </a:lnTo>
                  <a:lnTo>
                    <a:pt x="400812" y="445008"/>
                  </a:lnTo>
                  <a:lnTo>
                    <a:pt x="400812" y="451104"/>
                  </a:lnTo>
                  <a:lnTo>
                    <a:pt x="582168" y="451104"/>
                  </a:lnTo>
                  <a:lnTo>
                    <a:pt x="582168" y="445008"/>
                  </a:lnTo>
                  <a:lnTo>
                    <a:pt x="582168" y="438912"/>
                  </a:lnTo>
                  <a:lnTo>
                    <a:pt x="582168" y="432816"/>
                  </a:lnTo>
                  <a:lnTo>
                    <a:pt x="582168" y="426720"/>
                  </a:lnTo>
                  <a:lnTo>
                    <a:pt x="582168" y="420624"/>
                  </a:lnTo>
                  <a:close/>
                </a:path>
                <a:path w="623569" h="567055">
                  <a:moveTo>
                    <a:pt x="623316" y="394716"/>
                  </a:moveTo>
                  <a:lnTo>
                    <a:pt x="609600" y="394716"/>
                  </a:lnTo>
                  <a:lnTo>
                    <a:pt x="609600" y="408432"/>
                  </a:lnTo>
                  <a:lnTo>
                    <a:pt x="609600" y="554736"/>
                  </a:lnTo>
                  <a:lnTo>
                    <a:pt x="13716" y="554736"/>
                  </a:lnTo>
                  <a:lnTo>
                    <a:pt x="13716" y="408432"/>
                  </a:lnTo>
                  <a:lnTo>
                    <a:pt x="137160" y="408432"/>
                  </a:lnTo>
                  <a:lnTo>
                    <a:pt x="143256" y="408432"/>
                  </a:lnTo>
                  <a:lnTo>
                    <a:pt x="480060" y="408432"/>
                  </a:lnTo>
                  <a:lnTo>
                    <a:pt x="492252" y="408432"/>
                  </a:lnTo>
                  <a:lnTo>
                    <a:pt x="609600" y="408432"/>
                  </a:lnTo>
                  <a:lnTo>
                    <a:pt x="609600" y="394716"/>
                  </a:lnTo>
                  <a:lnTo>
                    <a:pt x="492252" y="394716"/>
                  </a:lnTo>
                  <a:lnTo>
                    <a:pt x="492252" y="361188"/>
                  </a:lnTo>
                  <a:lnTo>
                    <a:pt x="563880" y="361188"/>
                  </a:lnTo>
                  <a:lnTo>
                    <a:pt x="563880" y="347472"/>
                  </a:lnTo>
                  <a:lnTo>
                    <a:pt x="563880" y="13716"/>
                  </a:lnTo>
                  <a:lnTo>
                    <a:pt x="563880" y="6096"/>
                  </a:lnTo>
                  <a:lnTo>
                    <a:pt x="563880" y="0"/>
                  </a:lnTo>
                  <a:lnTo>
                    <a:pt x="551688" y="0"/>
                  </a:lnTo>
                  <a:lnTo>
                    <a:pt x="551688" y="13716"/>
                  </a:lnTo>
                  <a:lnTo>
                    <a:pt x="551688" y="347472"/>
                  </a:lnTo>
                  <a:lnTo>
                    <a:pt x="492252" y="347472"/>
                  </a:lnTo>
                  <a:lnTo>
                    <a:pt x="480060" y="347472"/>
                  </a:lnTo>
                  <a:lnTo>
                    <a:pt x="480060" y="361188"/>
                  </a:lnTo>
                  <a:lnTo>
                    <a:pt x="480060" y="394716"/>
                  </a:lnTo>
                  <a:lnTo>
                    <a:pt x="143256" y="394716"/>
                  </a:lnTo>
                  <a:lnTo>
                    <a:pt x="143256" y="361188"/>
                  </a:lnTo>
                  <a:lnTo>
                    <a:pt x="480060" y="361188"/>
                  </a:lnTo>
                  <a:lnTo>
                    <a:pt x="480060" y="347472"/>
                  </a:lnTo>
                  <a:lnTo>
                    <a:pt x="143256" y="347472"/>
                  </a:lnTo>
                  <a:lnTo>
                    <a:pt x="131064" y="347472"/>
                  </a:lnTo>
                  <a:lnTo>
                    <a:pt x="71628" y="347472"/>
                  </a:lnTo>
                  <a:lnTo>
                    <a:pt x="71628" y="13716"/>
                  </a:lnTo>
                  <a:lnTo>
                    <a:pt x="551688" y="13716"/>
                  </a:lnTo>
                  <a:lnTo>
                    <a:pt x="551688" y="0"/>
                  </a:lnTo>
                  <a:lnTo>
                    <a:pt x="59436" y="0"/>
                  </a:lnTo>
                  <a:lnTo>
                    <a:pt x="59436" y="361188"/>
                  </a:lnTo>
                  <a:lnTo>
                    <a:pt x="131064" y="361188"/>
                  </a:lnTo>
                  <a:lnTo>
                    <a:pt x="131064" y="394716"/>
                  </a:lnTo>
                  <a:lnTo>
                    <a:pt x="0" y="394716"/>
                  </a:lnTo>
                  <a:lnTo>
                    <a:pt x="0" y="566928"/>
                  </a:lnTo>
                  <a:lnTo>
                    <a:pt x="623316" y="566928"/>
                  </a:lnTo>
                  <a:lnTo>
                    <a:pt x="623316" y="560832"/>
                  </a:lnTo>
                  <a:lnTo>
                    <a:pt x="623316" y="554736"/>
                  </a:lnTo>
                  <a:lnTo>
                    <a:pt x="623316" y="408432"/>
                  </a:lnTo>
                  <a:lnTo>
                    <a:pt x="623316" y="394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48127" y="2700527"/>
              <a:ext cx="86995" cy="1187450"/>
            </a:xfrm>
            <a:custGeom>
              <a:avLst/>
              <a:gdLst/>
              <a:ahLst/>
              <a:cxnLst/>
              <a:rect l="l" t="t" r="r" b="b"/>
              <a:pathLst>
                <a:path w="86994" h="1187450">
                  <a:moveTo>
                    <a:pt x="28955" y="83944"/>
                  </a:moveTo>
                  <a:lnTo>
                    <a:pt x="28955" y="1187195"/>
                  </a:lnTo>
                  <a:lnTo>
                    <a:pt x="57911" y="1187195"/>
                  </a:lnTo>
                  <a:lnTo>
                    <a:pt x="57911" y="86867"/>
                  </a:lnTo>
                  <a:lnTo>
                    <a:pt x="42671" y="86867"/>
                  </a:lnTo>
                  <a:lnTo>
                    <a:pt x="28955" y="83944"/>
                  </a:lnTo>
                  <a:close/>
                </a:path>
                <a:path w="86994" h="1187450">
                  <a:moveTo>
                    <a:pt x="57911" y="42672"/>
                  </a:moveTo>
                  <a:lnTo>
                    <a:pt x="28955" y="42672"/>
                  </a:lnTo>
                  <a:lnTo>
                    <a:pt x="28955" y="83944"/>
                  </a:lnTo>
                  <a:lnTo>
                    <a:pt x="42671" y="86867"/>
                  </a:lnTo>
                  <a:lnTo>
                    <a:pt x="57911" y="83786"/>
                  </a:lnTo>
                  <a:lnTo>
                    <a:pt x="57911" y="42672"/>
                  </a:lnTo>
                  <a:close/>
                </a:path>
                <a:path w="86994" h="1187450">
                  <a:moveTo>
                    <a:pt x="57911" y="83786"/>
                  </a:moveTo>
                  <a:lnTo>
                    <a:pt x="42671" y="86867"/>
                  </a:lnTo>
                  <a:lnTo>
                    <a:pt x="57911" y="86867"/>
                  </a:lnTo>
                  <a:lnTo>
                    <a:pt x="57911" y="83786"/>
                  </a:lnTo>
                  <a:close/>
                </a:path>
                <a:path w="86994" h="1187450">
                  <a:moveTo>
                    <a:pt x="42671" y="0"/>
                  </a:moveTo>
                  <a:lnTo>
                    <a:pt x="26360" y="3452"/>
                  </a:lnTo>
                  <a:lnTo>
                    <a:pt x="12763" y="12763"/>
                  </a:lnTo>
                  <a:lnTo>
                    <a:pt x="3452" y="26360"/>
                  </a:lnTo>
                  <a:lnTo>
                    <a:pt x="0" y="42672"/>
                  </a:lnTo>
                  <a:lnTo>
                    <a:pt x="3452" y="59864"/>
                  </a:lnTo>
                  <a:lnTo>
                    <a:pt x="12763" y="73913"/>
                  </a:lnTo>
                  <a:lnTo>
                    <a:pt x="26360" y="83391"/>
                  </a:lnTo>
                  <a:lnTo>
                    <a:pt x="28955" y="83944"/>
                  </a:lnTo>
                  <a:lnTo>
                    <a:pt x="28955" y="42672"/>
                  </a:lnTo>
                  <a:lnTo>
                    <a:pt x="86867" y="42672"/>
                  </a:lnTo>
                  <a:lnTo>
                    <a:pt x="83391" y="26360"/>
                  </a:lnTo>
                  <a:lnTo>
                    <a:pt x="73913" y="12763"/>
                  </a:lnTo>
                  <a:lnTo>
                    <a:pt x="59864" y="3452"/>
                  </a:lnTo>
                  <a:lnTo>
                    <a:pt x="42671" y="0"/>
                  </a:lnTo>
                  <a:close/>
                </a:path>
                <a:path w="86994" h="1187450">
                  <a:moveTo>
                    <a:pt x="86867" y="42672"/>
                  </a:moveTo>
                  <a:lnTo>
                    <a:pt x="57911" y="42672"/>
                  </a:lnTo>
                  <a:lnTo>
                    <a:pt x="57911" y="83786"/>
                  </a:lnTo>
                  <a:lnTo>
                    <a:pt x="59864" y="83391"/>
                  </a:lnTo>
                  <a:lnTo>
                    <a:pt x="73913" y="73913"/>
                  </a:lnTo>
                  <a:lnTo>
                    <a:pt x="83391" y="59864"/>
                  </a:lnTo>
                  <a:lnTo>
                    <a:pt x="86867" y="426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52987" y="2133599"/>
              <a:ext cx="609600" cy="554990"/>
            </a:xfrm>
            <a:custGeom>
              <a:avLst/>
              <a:gdLst/>
              <a:ahLst/>
              <a:cxnLst/>
              <a:rect l="l" t="t" r="r" b="b"/>
              <a:pathLst>
                <a:path w="609600" h="554989">
                  <a:moveTo>
                    <a:pt x="609600" y="394970"/>
                  </a:moveTo>
                  <a:lnTo>
                    <a:pt x="480060" y="394970"/>
                  </a:lnTo>
                  <a:lnTo>
                    <a:pt x="480060" y="349250"/>
                  </a:lnTo>
                  <a:lnTo>
                    <a:pt x="551688" y="349250"/>
                  </a:lnTo>
                  <a:lnTo>
                    <a:pt x="551688" y="0"/>
                  </a:lnTo>
                  <a:lnTo>
                    <a:pt x="59436" y="0"/>
                  </a:lnTo>
                  <a:lnTo>
                    <a:pt x="59436" y="349250"/>
                  </a:lnTo>
                  <a:lnTo>
                    <a:pt x="131064" y="349250"/>
                  </a:lnTo>
                  <a:lnTo>
                    <a:pt x="131064" y="393192"/>
                  </a:lnTo>
                  <a:lnTo>
                    <a:pt x="131064" y="394970"/>
                  </a:lnTo>
                  <a:lnTo>
                    <a:pt x="0" y="394970"/>
                  </a:lnTo>
                  <a:lnTo>
                    <a:pt x="0" y="554990"/>
                  </a:lnTo>
                  <a:lnTo>
                    <a:pt x="609600" y="554990"/>
                  </a:lnTo>
                  <a:lnTo>
                    <a:pt x="609600" y="39497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46891" y="2127503"/>
              <a:ext cx="623570" cy="567055"/>
            </a:xfrm>
            <a:custGeom>
              <a:avLst/>
              <a:gdLst/>
              <a:ahLst/>
              <a:cxnLst/>
              <a:rect l="l" t="t" r="r" b="b"/>
              <a:pathLst>
                <a:path w="623570" h="567055">
                  <a:moveTo>
                    <a:pt x="492252" y="57912"/>
                  </a:moveTo>
                  <a:lnTo>
                    <a:pt x="480060" y="57912"/>
                  </a:lnTo>
                  <a:lnTo>
                    <a:pt x="480060" y="71628"/>
                  </a:lnTo>
                  <a:lnTo>
                    <a:pt x="480060" y="289560"/>
                  </a:lnTo>
                  <a:lnTo>
                    <a:pt x="143256" y="289560"/>
                  </a:lnTo>
                  <a:lnTo>
                    <a:pt x="143256" y="71628"/>
                  </a:lnTo>
                  <a:lnTo>
                    <a:pt x="480060" y="71628"/>
                  </a:lnTo>
                  <a:lnTo>
                    <a:pt x="480060" y="57912"/>
                  </a:lnTo>
                  <a:lnTo>
                    <a:pt x="131064" y="57912"/>
                  </a:lnTo>
                  <a:lnTo>
                    <a:pt x="131064" y="297180"/>
                  </a:lnTo>
                  <a:lnTo>
                    <a:pt x="137160" y="297180"/>
                  </a:lnTo>
                  <a:lnTo>
                    <a:pt x="137160" y="303276"/>
                  </a:lnTo>
                  <a:lnTo>
                    <a:pt x="492252" y="303276"/>
                  </a:lnTo>
                  <a:lnTo>
                    <a:pt x="492252" y="297180"/>
                  </a:lnTo>
                  <a:lnTo>
                    <a:pt x="492252" y="289560"/>
                  </a:lnTo>
                  <a:lnTo>
                    <a:pt x="492252" y="71628"/>
                  </a:lnTo>
                  <a:lnTo>
                    <a:pt x="492252" y="64008"/>
                  </a:lnTo>
                  <a:lnTo>
                    <a:pt x="492252" y="57912"/>
                  </a:lnTo>
                  <a:close/>
                </a:path>
                <a:path w="623570" h="567055">
                  <a:moveTo>
                    <a:pt x="582168" y="420624"/>
                  </a:moveTo>
                  <a:lnTo>
                    <a:pt x="569976" y="420624"/>
                  </a:lnTo>
                  <a:lnTo>
                    <a:pt x="569976" y="432816"/>
                  </a:lnTo>
                  <a:lnTo>
                    <a:pt x="569976" y="438912"/>
                  </a:lnTo>
                  <a:lnTo>
                    <a:pt x="406908" y="438912"/>
                  </a:lnTo>
                  <a:lnTo>
                    <a:pt x="406908" y="432816"/>
                  </a:lnTo>
                  <a:lnTo>
                    <a:pt x="569976" y="432816"/>
                  </a:lnTo>
                  <a:lnTo>
                    <a:pt x="569976" y="420624"/>
                  </a:lnTo>
                  <a:lnTo>
                    <a:pt x="394716" y="420624"/>
                  </a:lnTo>
                  <a:lnTo>
                    <a:pt x="394716" y="445008"/>
                  </a:lnTo>
                  <a:lnTo>
                    <a:pt x="400812" y="445008"/>
                  </a:lnTo>
                  <a:lnTo>
                    <a:pt x="400812" y="451104"/>
                  </a:lnTo>
                  <a:lnTo>
                    <a:pt x="582168" y="451104"/>
                  </a:lnTo>
                  <a:lnTo>
                    <a:pt x="582168" y="445008"/>
                  </a:lnTo>
                  <a:lnTo>
                    <a:pt x="582168" y="438912"/>
                  </a:lnTo>
                  <a:lnTo>
                    <a:pt x="582168" y="432816"/>
                  </a:lnTo>
                  <a:lnTo>
                    <a:pt x="582168" y="426720"/>
                  </a:lnTo>
                  <a:lnTo>
                    <a:pt x="582168" y="420624"/>
                  </a:lnTo>
                  <a:close/>
                </a:path>
                <a:path w="623570" h="567055">
                  <a:moveTo>
                    <a:pt x="623316" y="394716"/>
                  </a:moveTo>
                  <a:lnTo>
                    <a:pt x="609600" y="394716"/>
                  </a:lnTo>
                  <a:lnTo>
                    <a:pt x="609600" y="408432"/>
                  </a:lnTo>
                  <a:lnTo>
                    <a:pt x="609600" y="554736"/>
                  </a:lnTo>
                  <a:lnTo>
                    <a:pt x="13716" y="554736"/>
                  </a:lnTo>
                  <a:lnTo>
                    <a:pt x="13716" y="408432"/>
                  </a:lnTo>
                  <a:lnTo>
                    <a:pt x="137160" y="408432"/>
                  </a:lnTo>
                  <a:lnTo>
                    <a:pt x="143256" y="408432"/>
                  </a:lnTo>
                  <a:lnTo>
                    <a:pt x="480060" y="408432"/>
                  </a:lnTo>
                  <a:lnTo>
                    <a:pt x="492252" y="408432"/>
                  </a:lnTo>
                  <a:lnTo>
                    <a:pt x="609600" y="408432"/>
                  </a:lnTo>
                  <a:lnTo>
                    <a:pt x="609600" y="394716"/>
                  </a:lnTo>
                  <a:lnTo>
                    <a:pt x="492252" y="394716"/>
                  </a:lnTo>
                  <a:lnTo>
                    <a:pt x="492252" y="361188"/>
                  </a:lnTo>
                  <a:lnTo>
                    <a:pt x="563880" y="361188"/>
                  </a:lnTo>
                  <a:lnTo>
                    <a:pt x="563880" y="347472"/>
                  </a:lnTo>
                  <a:lnTo>
                    <a:pt x="563880" y="13716"/>
                  </a:lnTo>
                  <a:lnTo>
                    <a:pt x="563880" y="6096"/>
                  </a:lnTo>
                  <a:lnTo>
                    <a:pt x="563880" y="0"/>
                  </a:lnTo>
                  <a:lnTo>
                    <a:pt x="551688" y="0"/>
                  </a:lnTo>
                  <a:lnTo>
                    <a:pt x="551688" y="13716"/>
                  </a:lnTo>
                  <a:lnTo>
                    <a:pt x="551688" y="347472"/>
                  </a:lnTo>
                  <a:lnTo>
                    <a:pt x="492252" y="347472"/>
                  </a:lnTo>
                  <a:lnTo>
                    <a:pt x="480060" y="347472"/>
                  </a:lnTo>
                  <a:lnTo>
                    <a:pt x="480060" y="361188"/>
                  </a:lnTo>
                  <a:lnTo>
                    <a:pt x="480060" y="394716"/>
                  </a:lnTo>
                  <a:lnTo>
                    <a:pt x="143256" y="394716"/>
                  </a:lnTo>
                  <a:lnTo>
                    <a:pt x="143256" y="361188"/>
                  </a:lnTo>
                  <a:lnTo>
                    <a:pt x="480060" y="361188"/>
                  </a:lnTo>
                  <a:lnTo>
                    <a:pt x="480060" y="347472"/>
                  </a:lnTo>
                  <a:lnTo>
                    <a:pt x="143256" y="347472"/>
                  </a:lnTo>
                  <a:lnTo>
                    <a:pt x="131064" y="347472"/>
                  </a:lnTo>
                  <a:lnTo>
                    <a:pt x="71628" y="347472"/>
                  </a:lnTo>
                  <a:lnTo>
                    <a:pt x="71628" y="13716"/>
                  </a:lnTo>
                  <a:lnTo>
                    <a:pt x="551688" y="13716"/>
                  </a:lnTo>
                  <a:lnTo>
                    <a:pt x="551688" y="0"/>
                  </a:lnTo>
                  <a:lnTo>
                    <a:pt x="59436" y="0"/>
                  </a:lnTo>
                  <a:lnTo>
                    <a:pt x="59436" y="361188"/>
                  </a:lnTo>
                  <a:lnTo>
                    <a:pt x="131064" y="361188"/>
                  </a:lnTo>
                  <a:lnTo>
                    <a:pt x="131064" y="394716"/>
                  </a:lnTo>
                  <a:lnTo>
                    <a:pt x="0" y="394716"/>
                  </a:lnTo>
                  <a:lnTo>
                    <a:pt x="0" y="566928"/>
                  </a:lnTo>
                  <a:lnTo>
                    <a:pt x="623316" y="566928"/>
                  </a:lnTo>
                  <a:lnTo>
                    <a:pt x="623316" y="560832"/>
                  </a:lnTo>
                  <a:lnTo>
                    <a:pt x="623316" y="554736"/>
                  </a:lnTo>
                  <a:lnTo>
                    <a:pt x="623316" y="408432"/>
                  </a:lnTo>
                  <a:lnTo>
                    <a:pt x="623316" y="394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15127" y="2700527"/>
              <a:ext cx="86995" cy="1187450"/>
            </a:xfrm>
            <a:custGeom>
              <a:avLst/>
              <a:gdLst/>
              <a:ahLst/>
              <a:cxnLst/>
              <a:rect l="l" t="t" r="r" b="b"/>
              <a:pathLst>
                <a:path w="86995" h="1187450">
                  <a:moveTo>
                    <a:pt x="28955" y="83944"/>
                  </a:moveTo>
                  <a:lnTo>
                    <a:pt x="28955" y="1187195"/>
                  </a:lnTo>
                  <a:lnTo>
                    <a:pt x="57912" y="1187195"/>
                  </a:lnTo>
                  <a:lnTo>
                    <a:pt x="57912" y="86867"/>
                  </a:lnTo>
                  <a:lnTo>
                    <a:pt x="42672" y="86867"/>
                  </a:lnTo>
                  <a:lnTo>
                    <a:pt x="28955" y="83944"/>
                  </a:lnTo>
                  <a:close/>
                </a:path>
                <a:path w="86995" h="1187450">
                  <a:moveTo>
                    <a:pt x="57912" y="42672"/>
                  </a:moveTo>
                  <a:lnTo>
                    <a:pt x="28955" y="42672"/>
                  </a:lnTo>
                  <a:lnTo>
                    <a:pt x="28955" y="83944"/>
                  </a:lnTo>
                  <a:lnTo>
                    <a:pt x="42672" y="86867"/>
                  </a:lnTo>
                  <a:lnTo>
                    <a:pt x="57912" y="83786"/>
                  </a:lnTo>
                  <a:lnTo>
                    <a:pt x="57912" y="42672"/>
                  </a:lnTo>
                  <a:close/>
                </a:path>
                <a:path w="86995" h="1187450">
                  <a:moveTo>
                    <a:pt x="57912" y="83786"/>
                  </a:moveTo>
                  <a:lnTo>
                    <a:pt x="42672" y="86867"/>
                  </a:lnTo>
                  <a:lnTo>
                    <a:pt x="57912" y="86867"/>
                  </a:lnTo>
                  <a:lnTo>
                    <a:pt x="57912" y="83786"/>
                  </a:lnTo>
                  <a:close/>
                </a:path>
                <a:path w="86995" h="1187450">
                  <a:moveTo>
                    <a:pt x="42672" y="0"/>
                  </a:moveTo>
                  <a:lnTo>
                    <a:pt x="26360" y="3452"/>
                  </a:lnTo>
                  <a:lnTo>
                    <a:pt x="12763" y="12763"/>
                  </a:lnTo>
                  <a:lnTo>
                    <a:pt x="3452" y="26360"/>
                  </a:lnTo>
                  <a:lnTo>
                    <a:pt x="0" y="42672"/>
                  </a:lnTo>
                  <a:lnTo>
                    <a:pt x="3452" y="59864"/>
                  </a:lnTo>
                  <a:lnTo>
                    <a:pt x="12763" y="73913"/>
                  </a:lnTo>
                  <a:lnTo>
                    <a:pt x="26360" y="83391"/>
                  </a:lnTo>
                  <a:lnTo>
                    <a:pt x="28955" y="83944"/>
                  </a:lnTo>
                  <a:lnTo>
                    <a:pt x="28955" y="42672"/>
                  </a:lnTo>
                  <a:lnTo>
                    <a:pt x="86867" y="42672"/>
                  </a:lnTo>
                  <a:lnTo>
                    <a:pt x="83391" y="26360"/>
                  </a:lnTo>
                  <a:lnTo>
                    <a:pt x="73913" y="12763"/>
                  </a:lnTo>
                  <a:lnTo>
                    <a:pt x="59864" y="3452"/>
                  </a:lnTo>
                  <a:lnTo>
                    <a:pt x="42672" y="0"/>
                  </a:lnTo>
                  <a:close/>
                </a:path>
                <a:path w="86995" h="1187450">
                  <a:moveTo>
                    <a:pt x="86867" y="42672"/>
                  </a:moveTo>
                  <a:lnTo>
                    <a:pt x="57912" y="42672"/>
                  </a:lnTo>
                  <a:lnTo>
                    <a:pt x="57912" y="83786"/>
                  </a:lnTo>
                  <a:lnTo>
                    <a:pt x="59864" y="83391"/>
                  </a:lnTo>
                  <a:lnTo>
                    <a:pt x="73913" y="73913"/>
                  </a:lnTo>
                  <a:lnTo>
                    <a:pt x="83391" y="59864"/>
                  </a:lnTo>
                  <a:lnTo>
                    <a:pt x="86867" y="426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34242" y="779770"/>
            <a:ext cx="822769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b="1" u="none" spc="-45" dirty="0">
                <a:latin typeface="Arial"/>
                <a:cs typeface="Arial"/>
              </a:rPr>
              <a:t>Latency</a:t>
            </a:r>
            <a:r>
              <a:rPr sz="4900" b="1" u="none" spc="-135" dirty="0">
                <a:latin typeface="Arial"/>
                <a:cs typeface="Arial"/>
              </a:rPr>
              <a:t> </a:t>
            </a:r>
            <a:r>
              <a:rPr sz="4900" b="1" u="none" spc="-5" dirty="0">
                <a:latin typeface="Arial"/>
                <a:cs typeface="Arial"/>
              </a:rPr>
              <a:t>-</a:t>
            </a:r>
            <a:r>
              <a:rPr sz="4900" b="1" u="none" spc="-100" dirty="0">
                <a:latin typeface="Arial"/>
                <a:cs typeface="Arial"/>
              </a:rPr>
              <a:t> </a:t>
            </a:r>
            <a:r>
              <a:rPr sz="4900" b="1" u="none" spc="-75" dirty="0">
                <a:latin typeface="Arial"/>
                <a:cs typeface="Arial"/>
              </a:rPr>
              <a:t>Transmission</a:t>
            </a:r>
            <a:r>
              <a:rPr sz="4900" b="1" u="none" spc="-105" dirty="0">
                <a:latin typeface="Arial"/>
                <a:cs typeface="Arial"/>
              </a:rPr>
              <a:t> </a:t>
            </a:r>
            <a:r>
              <a:rPr sz="4900" b="1" u="none" spc="-40" dirty="0">
                <a:latin typeface="Arial"/>
                <a:cs typeface="Arial"/>
              </a:rPr>
              <a:t>time</a:t>
            </a:r>
            <a:endParaRPr sz="4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5854" y="2760979"/>
            <a:ext cx="1351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First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leaves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36539" y="3522979"/>
            <a:ext cx="1399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First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arrives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9738" y="1727518"/>
            <a:ext cx="678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70BF"/>
                </a:solidFill>
                <a:latin typeface="Calibri"/>
                <a:cs typeface="Calibri"/>
              </a:rPr>
              <a:t>Sender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49526" y="1694179"/>
            <a:ext cx="816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BF0000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BF0000"/>
                </a:solidFill>
                <a:latin typeface="Calibri"/>
                <a:cs typeface="Calibri"/>
              </a:rPr>
              <a:t>e</a:t>
            </a:r>
            <a:r>
              <a:rPr sz="1800" spc="-10" dirty="0">
                <a:solidFill>
                  <a:srgbClr val="BF0000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BF0000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BF0000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BF0000"/>
                </a:solidFill>
                <a:latin typeface="Calibri"/>
                <a:cs typeface="Calibri"/>
              </a:rPr>
              <a:t>v</a:t>
            </a:r>
            <a:r>
              <a:rPr sz="1800" dirty="0">
                <a:solidFill>
                  <a:srgbClr val="BF0000"/>
                </a:solidFill>
                <a:latin typeface="Calibri"/>
                <a:cs typeface="Calibri"/>
              </a:rPr>
              <a:t>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57400" y="3086100"/>
            <a:ext cx="5410200" cy="802005"/>
            <a:chOff x="2057400" y="3086100"/>
            <a:chExt cx="5410200" cy="802005"/>
          </a:xfrm>
        </p:grpSpPr>
        <p:sp>
          <p:nvSpPr>
            <p:cNvPr id="18" name="object 18"/>
            <p:cNvSpPr/>
            <p:nvPr/>
          </p:nvSpPr>
          <p:spPr>
            <a:xfrm>
              <a:off x="2057387" y="3086099"/>
              <a:ext cx="3657600" cy="802005"/>
            </a:xfrm>
            <a:custGeom>
              <a:avLst/>
              <a:gdLst/>
              <a:ahLst/>
              <a:cxnLst/>
              <a:rect l="l" t="t" r="r" b="b"/>
              <a:pathLst>
                <a:path w="3657600" h="802004">
                  <a:moveTo>
                    <a:pt x="457200" y="38100"/>
                  </a:moveTo>
                  <a:lnTo>
                    <a:pt x="445008" y="32004"/>
                  </a:lnTo>
                  <a:lnTo>
                    <a:pt x="381000" y="0"/>
                  </a:lnTo>
                  <a:lnTo>
                    <a:pt x="381000" y="32004"/>
                  </a:lnTo>
                  <a:lnTo>
                    <a:pt x="0" y="32004"/>
                  </a:lnTo>
                  <a:lnTo>
                    <a:pt x="0" y="45720"/>
                  </a:lnTo>
                  <a:lnTo>
                    <a:pt x="381000" y="45720"/>
                  </a:lnTo>
                  <a:lnTo>
                    <a:pt x="381000" y="76200"/>
                  </a:lnTo>
                  <a:lnTo>
                    <a:pt x="441960" y="45720"/>
                  </a:lnTo>
                  <a:lnTo>
                    <a:pt x="457200" y="38100"/>
                  </a:lnTo>
                  <a:close/>
                </a:path>
                <a:path w="3657600" h="802004">
                  <a:moveTo>
                    <a:pt x="3657600" y="794004"/>
                  </a:moveTo>
                  <a:lnTo>
                    <a:pt x="3276600" y="794004"/>
                  </a:lnTo>
                  <a:lnTo>
                    <a:pt x="3276600" y="762000"/>
                  </a:lnTo>
                  <a:lnTo>
                    <a:pt x="3200400" y="800100"/>
                  </a:lnTo>
                  <a:lnTo>
                    <a:pt x="3203448" y="801624"/>
                  </a:lnTo>
                  <a:lnTo>
                    <a:pt x="3264408" y="801624"/>
                  </a:lnTo>
                  <a:lnTo>
                    <a:pt x="3276600" y="801624"/>
                  </a:lnTo>
                  <a:lnTo>
                    <a:pt x="3657600" y="801624"/>
                  </a:lnTo>
                  <a:lnTo>
                    <a:pt x="3657600" y="794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0" y="3124961"/>
              <a:ext cx="4674235" cy="0"/>
            </a:xfrm>
            <a:custGeom>
              <a:avLst/>
              <a:gdLst/>
              <a:ahLst/>
              <a:cxnLst/>
              <a:rect l="l" t="t" r="r" b="b"/>
              <a:pathLst>
                <a:path w="4674234">
                  <a:moveTo>
                    <a:pt x="0" y="0"/>
                  </a:moveTo>
                  <a:lnTo>
                    <a:pt x="4674107" y="0"/>
                  </a:lnTo>
                </a:path>
              </a:pathLst>
            </a:custGeom>
            <a:ln w="13715">
              <a:solidFill>
                <a:srgbClr val="00AF4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67387" y="3118103"/>
              <a:ext cx="1600200" cy="769620"/>
            </a:xfrm>
            <a:custGeom>
              <a:avLst/>
              <a:gdLst/>
              <a:ahLst/>
              <a:cxnLst/>
              <a:rect l="l" t="t" r="r" b="b"/>
              <a:pathLst>
                <a:path w="1600200" h="769620">
                  <a:moveTo>
                    <a:pt x="51816" y="762000"/>
                  </a:moveTo>
                  <a:lnTo>
                    <a:pt x="0" y="762000"/>
                  </a:lnTo>
                  <a:lnTo>
                    <a:pt x="0" y="769620"/>
                  </a:lnTo>
                  <a:lnTo>
                    <a:pt x="51816" y="769620"/>
                  </a:lnTo>
                  <a:lnTo>
                    <a:pt x="51816" y="762000"/>
                  </a:lnTo>
                  <a:close/>
                </a:path>
                <a:path w="1600200" h="769620">
                  <a:moveTo>
                    <a:pt x="1600200" y="0"/>
                  </a:moveTo>
                  <a:lnTo>
                    <a:pt x="1588008" y="0"/>
                  </a:lnTo>
                  <a:lnTo>
                    <a:pt x="1588008" y="13716"/>
                  </a:lnTo>
                  <a:lnTo>
                    <a:pt x="1600200" y="13716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57315" y="3883913"/>
              <a:ext cx="1472565" cy="0"/>
            </a:xfrm>
            <a:custGeom>
              <a:avLst/>
              <a:gdLst/>
              <a:ahLst/>
              <a:cxnLst/>
              <a:rect l="l" t="t" r="r" b="b"/>
              <a:pathLst>
                <a:path w="1472565">
                  <a:moveTo>
                    <a:pt x="0" y="0"/>
                  </a:moveTo>
                  <a:lnTo>
                    <a:pt x="1472183" y="0"/>
                  </a:lnTo>
                </a:path>
              </a:pathLst>
            </a:custGeom>
            <a:ln w="7620">
              <a:solidFill>
                <a:srgbClr val="00AF4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21651" y="3124200"/>
              <a:ext cx="114300" cy="762000"/>
            </a:xfrm>
            <a:custGeom>
              <a:avLst/>
              <a:gdLst/>
              <a:ahLst/>
              <a:cxnLst/>
              <a:rect l="l" t="t" r="r" b="b"/>
              <a:pathLst>
                <a:path w="114300" h="762000">
                  <a:moveTo>
                    <a:pt x="38100" y="647699"/>
                  </a:moveTo>
                  <a:lnTo>
                    <a:pt x="0" y="647699"/>
                  </a:lnTo>
                  <a:lnTo>
                    <a:pt x="57911" y="761999"/>
                  </a:lnTo>
                  <a:lnTo>
                    <a:pt x="104526" y="667511"/>
                  </a:lnTo>
                  <a:lnTo>
                    <a:pt x="38100" y="667511"/>
                  </a:lnTo>
                  <a:lnTo>
                    <a:pt x="38100" y="647699"/>
                  </a:lnTo>
                  <a:close/>
                </a:path>
                <a:path w="114300" h="762000">
                  <a:moveTo>
                    <a:pt x="76200" y="96011"/>
                  </a:moveTo>
                  <a:lnTo>
                    <a:pt x="38100" y="96011"/>
                  </a:lnTo>
                  <a:lnTo>
                    <a:pt x="38100" y="667511"/>
                  </a:lnTo>
                  <a:lnTo>
                    <a:pt x="76200" y="667511"/>
                  </a:lnTo>
                  <a:lnTo>
                    <a:pt x="76200" y="96011"/>
                  </a:lnTo>
                  <a:close/>
                </a:path>
                <a:path w="114300" h="762000">
                  <a:moveTo>
                    <a:pt x="114300" y="647699"/>
                  </a:moveTo>
                  <a:lnTo>
                    <a:pt x="76200" y="647699"/>
                  </a:lnTo>
                  <a:lnTo>
                    <a:pt x="76200" y="667511"/>
                  </a:lnTo>
                  <a:lnTo>
                    <a:pt x="104526" y="667511"/>
                  </a:lnTo>
                  <a:lnTo>
                    <a:pt x="114300" y="647699"/>
                  </a:lnTo>
                  <a:close/>
                </a:path>
                <a:path w="114300" h="762000">
                  <a:moveTo>
                    <a:pt x="57911" y="0"/>
                  </a:moveTo>
                  <a:lnTo>
                    <a:pt x="0" y="114299"/>
                  </a:lnTo>
                  <a:lnTo>
                    <a:pt x="38100" y="114299"/>
                  </a:lnTo>
                  <a:lnTo>
                    <a:pt x="38100" y="96011"/>
                  </a:lnTo>
                  <a:lnTo>
                    <a:pt x="105277" y="96011"/>
                  </a:lnTo>
                  <a:lnTo>
                    <a:pt x="57911" y="0"/>
                  </a:lnTo>
                  <a:close/>
                </a:path>
                <a:path w="114300" h="762000">
                  <a:moveTo>
                    <a:pt x="105277" y="96011"/>
                  </a:moveTo>
                  <a:lnTo>
                    <a:pt x="76200" y="96011"/>
                  </a:lnTo>
                  <a:lnTo>
                    <a:pt x="76200" y="114299"/>
                  </a:lnTo>
                  <a:lnTo>
                    <a:pt x="114300" y="114299"/>
                  </a:lnTo>
                  <a:lnTo>
                    <a:pt x="105277" y="96011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41540" y="3370579"/>
            <a:ext cx="162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AF4F"/>
                </a:solidFill>
                <a:latin typeface="Calibri"/>
                <a:cs typeface="Calibri"/>
              </a:rPr>
              <a:t>Propagation</a:t>
            </a:r>
            <a:r>
              <a:rPr sz="1800" spc="-65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AF4F"/>
                </a:solidFill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584703" y="3886200"/>
            <a:ext cx="4596130" cy="1990725"/>
            <a:chOff x="2584703" y="3886200"/>
            <a:chExt cx="4596130" cy="1990725"/>
          </a:xfrm>
        </p:grpSpPr>
        <p:sp>
          <p:nvSpPr>
            <p:cNvPr id="25" name="object 25"/>
            <p:cNvSpPr/>
            <p:nvPr/>
          </p:nvSpPr>
          <p:spPr>
            <a:xfrm>
              <a:off x="7178791" y="388620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772" y="0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90799" y="3886200"/>
              <a:ext cx="2667000" cy="1981200"/>
            </a:xfrm>
            <a:custGeom>
              <a:avLst/>
              <a:gdLst/>
              <a:ahLst/>
              <a:cxnLst/>
              <a:rect l="l" t="t" r="r" b="b"/>
              <a:pathLst>
                <a:path w="2667000" h="1981200">
                  <a:moveTo>
                    <a:pt x="2661676" y="0"/>
                  </a:moveTo>
                  <a:lnTo>
                    <a:pt x="0" y="0"/>
                  </a:lnTo>
                  <a:lnTo>
                    <a:pt x="0" y="1217675"/>
                  </a:lnTo>
                  <a:lnTo>
                    <a:pt x="2666999" y="1981199"/>
                  </a:lnTo>
                  <a:lnTo>
                    <a:pt x="2666999" y="1524"/>
                  </a:lnTo>
                  <a:lnTo>
                    <a:pt x="2661676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84703" y="3886200"/>
              <a:ext cx="2680970" cy="1990725"/>
            </a:xfrm>
            <a:custGeom>
              <a:avLst/>
              <a:gdLst/>
              <a:ahLst/>
              <a:cxnLst/>
              <a:rect l="l" t="t" r="r" b="b"/>
              <a:pathLst>
                <a:path w="2680970" h="1990725">
                  <a:moveTo>
                    <a:pt x="13716" y="0"/>
                  </a:moveTo>
                  <a:lnTo>
                    <a:pt x="0" y="0"/>
                  </a:lnTo>
                  <a:lnTo>
                    <a:pt x="0" y="1223771"/>
                  </a:lnTo>
                  <a:lnTo>
                    <a:pt x="2680715" y="1990343"/>
                  </a:lnTo>
                  <a:lnTo>
                    <a:pt x="2680715" y="1981199"/>
                  </a:lnTo>
                  <a:lnTo>
                    <a:pt x="2666999" y="1981199"/>
                  </a:lnTo>
                  <a:lnTo>
                    <a:pt x="2666999" y="1972486"/>
                  </a:lnTo>
                  <a:lnTo>
                    <a:pt x="30437" y="1217675"/>
                  </a:lnTo>
                  <a:lnTo>
                    <a:pt x="13716" y="1217675"/>
                  </a:lnTo>
                  <a:lnTo>
                    <a:pt x="9143" y="1211579"/>
                  </a:lnTo>
                  <a:lnTo>
                    <a:pt x="13716" y="1211579"/>
                  </a:lnTo>
                  <a:lnTo>
                    <a:pt x="13716" y="0"/>
                  </a:lnTo>
                  <a:close/>
                </a:path>
                <a:path w="2680970" h="1990725">
                  <a:moveTo>
                    <a:pt x="2666999" y="1972486"/>
                  </a:moveTo>
                  <a:lnTo>
                    <a:pt x="2666999" y="1981199"/>
                  </a:lnTo>
                  <a:lnTo>
                    <a:pt x="2676143" y="1975103"/>
                  </a:lnTo>
                  <a:lnTo>
                    <a:pt x="2666999" y="1972486"/>
                  </a:lnTo>
                  <a:close/>
                </a:path>
                <a:path w="2680970" h="1990725">
                  <a:moveTo>
                    <a:pt x="2666999" y="6311"/>
                  </a:moveTo>
                  <a:lnTo>
                    <a:pt x="2666999" y="1972486"/>
                  </a:lnTo>
                  <a:lnTo>
                    <a:pt x="2676143" y="1975103"/>
                  </a:lnTo>
                  <a:lnTo>
                    <a:pt x="2666999" y="1981199"/>
                  </a:lnTo>
                  <a:lnTo>
                    <a:pt x="2680715" y="1981199"/>
                  </a:lnTo>
                  <a:lnTo>
                    <a:pt x="2680715" y="7620"/>
                  </a:lnTo>
                  <a:lnTo>
                    <a:pt x="2671571" y="7620"/>
                  </a:lnTo>
                  <a:lnTo>
                    <a:pt x="2666999" y="6311"/>
                  </a:lnTo>
                  <a:close/>
                </a:path>
                <a:path w="2680970" h="1990725">
                  <a:moveTo>
                    <a:pt x="9143" y="1211579"/>
                  </a:moveTo>
                  <a:lnTo>
                    <a:pt x="13716" y="1217675"/>
                  </a:lnTo>
                  <a:lnTo>
                    <a:pt x="13716" y="1212888"/>
                  </a:lnTo>
                  <a:lnTo>
                    <a:pt x="9143" y="1211579"/>
                  </a:lnTo>
                  <a:close/>
                </a:path>
                <a:path w="2680970" h="1990725">
                  <a:moveTo>
                    <a:pt x="13716" y="1212888"/>
                  </a:moveTo>
                  <a:lnTo>
                    <a:pt x="13716" y="1217675"/>
                  </a:lnTo>
                  <a:lnTo>
                    <a:pt x="30437" y="1217675"/>
                  </a:lnTo>
                  <a:lnTo>
                    <a:pt x="13716" y="1212888"/>
                  </a:lnTo>
                  <a:close/>
                </a:path>
                <a:path w="2680970" h="1990725">
                  <a:moveTo>
                    <a:pt x="13716" y="1211579"/>
                  </a:moveTo>
                  <a:lnTo>
                    <a:pt x="9143" y="1211579"/>
                  </a:lnTo>
                  <a:lnTo>
                    <a:pt x="13716" y="1212888"/>
                  </a:lnTo>
                  <a:lnTo>
                    <a:pt x="13716" y="1211579"/>
                  </a:lnTo>
                  <a:close/>
                </a:path>
                <a:path w="2680970" h="1990725">
                  <a:moveTo>
                    <a:pt x="2666999" y="1524"/>
                  </a:moveTo>
                  <a:lnTo>
                    <a:pt x="2666999" y="6311"/>
                  </a:lnTo>
                  <a:lnTo>
                    <a:pt x="2671571" y="7620"/>
                  </a:lnTo>
                  <a:lnTo>
                    <a:pt x="2666999" y="1524"/>
                  </a:lnTo>
                  <a:close/>
                </a:path>
                <a:path w="2680970" h="1990725">
                  <a:moveTo>
                    <a:pt x="2680715" y="1524"/>
                  </a:moveTo>
                  <a:lnTo>
                    <a:pt x="2666999" y="1524"/>
                  </a:lnTo>
                  <a:lnTo>
                    <a:pt x="2671571" y="7620"/>
                  </a:lnTo>
                  <a:lnTo>
                    <a:pt x="2680715" y="7620"/>
                  </a:lnTo>
                  <a:lnTo>
                    <a:pt x="2680715" y="1524"/>
                  </a:lnTo>
                  <a:close/>
                </a:path>
                <a:path w="2680970" h="1990725">
                  <a:moveTo>
                    <a:pt x="2680715" y="0"/>
                  </a:moveTo>
                  <a:lnTo>
                    <a:pt x="2644955" y="0"/>
                  </a:lnTo>
                  <a:lnTo>
                    <a:pt x="2666999" y="6311"/>
                  </a:lnTo>
                  <a:lnTo>
                    <a:pt x="2666999" y="1524"/>
                  </a:lnTo>
                  <a:lnTo>
                    <a:pt x="2680715" y="1524"/>
                  </a:lnTo>
                  <a:lnTo>
                    <a:pt x="2680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29" name="object 29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00373" y="4330700"/>
            <a:ext cx="846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48115" y="3886200"/>
            <a:ext cx="2753995" cy="2590800"/>
          </a:xfrm>
          <a:custGeom>
            <a:avLst/>
            <a:gdLst/>
            <a:ahLst/>
            <a:cxnLst/>
            <a:rect l="l" t="t" r="r" b="b"/>
            <a:pathLst>
              <a:path w="2753995" h="2590800">
                <a:moveTo>
                  <a:pt x="86868" y="2505456"/>
                </a:moveTo>
                <a:lnTo>
                  <a:pt x="57912" y="2505456"/>
                </a:lnTo>
                <a:lnTo>
                  <a:pt x="57912" y="0"/>
                </a:lnTo>
                <a:lnTo>
                  <a:pt x="28956" y="0"/>
                </a:lnTo>
                <a:lnTo>
                  <a:pt x="28956" y="2505456"/>
                </a:lnTo>
                <a:lnTo>
                  <a:pt x="0" y="2505456"/>
                </a:lnTo>
                <a:lnTo>
                  <a:pt x="42672" y="2590800"/>
                </a:lnTo>
                <a:lnTo>
                  <a:pt x="78981" y="2520696"/>
                </a:lnTo>
                <a:lnTo>
                  <a:pt x="86868" y="2505456"/>
                </a:lnTo>
                <a:close/>
              </a:path>
              <a:path w="2753995" h="2590800">
                <a:moveTo>
                  <a:pt x="2753868" y="2505456"/>
                </a:moveTo>
                <a:lnTo>
                  <a:pt x="2724912" y="2505456"/>
                </a:lnTo>
                <a:lnTo>
                  <a:pt x="2724912" y="0"/>
                </a:lnTo>
                <a:lnTo>
                  <a:pt x="2695956" y="0"/>
                </a:lnTo>
                <a:lnTo>
                  <a:pt x="2695956" y="2505456"/>
                </a:lnTo>
                <a:lnTo>
                  <a:pt x="2667000" y="2505456"/>
                </a:lnTo>
                <a:lnTo>
                  <a:pt x="2709672" y="2590800"/>
                </a:lnTo>
                <a:lnTo>
                  <a:pt x="2745981" y="2520696"/>
                </a:lnTo>
                <a:lnTo>
                  <a:pt x="2753868" y="2505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288539" y="6418579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Ti</a:t>
            </a:r>
            <a:r>
              <a:rPr sz="1800" dirty="0">
                <a:latin typeface="Calibri"/>
                <a:cs typeface="Calibri"/>
              </a:rPr>
              <a:t>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55539" y="6418579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Ti</a:t>
            </a:r>
            <a:r>
              <a:rPr sz="1800" dirty="0">
                <a:latin typeface="Calibri"/>
                <a:cs typeface="Calibri"/>
              </a:rPr>
              <a:t>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31823" y="4742179"/>
            <a:ext cx="1323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Last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leaves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36539" y="5504179"/>
            <a:ext cx="137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Last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arrives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057400" y="3886200"/>
            <a:ext cx="5375910" cy="2019300"/>
            <a:chOff x="2057400" y="3886200"/>
            <a:chExt cx="5375910" cy="2019300"/>
          </a:xfrm>
        </p:grpSpPr>
        <p:sp>
          <p:nvSpPr>
            <p:cNvPr id="38" name="object 38"/>
            <p:cNvSpPr/>
            <p:nvPr/>
          </p:nvSpPr>
          <p:spPr>
            <a:xfrm>
              <a:off x="2057387" y="3886199"/>
              <a:ext cx="3657600" cy="2019300"/>
            </a:xfrm>
            <a:custGeom>
              <a:avLst/>
              <a:gdLst/>
              <a:ahLst/>
              <a:cxnLst/>
              <a:rect l="l" t="t" r="r" b="b"/>
              <a:pathLst>
                <a:path w="3657600" h="2019300">
                  <a:moveTo>
                    <a:pt x="457200" y="1219200"/>
                  </a:moveTo>
                  <a:lnTo>
                    <a:pt x="445008" y="1213104"/>
                  </a:lnTo>
                  <a:lnTo>
                    <a:pt x="381000" y="1181100"/>
                  </a:lnTo>
                  <a:lnTo>
                    <a:pt x="381000" y="1213104"/>
                  </a:lnTo>
                  <a:lnTo>
                    <a:pt x="0" y="1213104"/>
                  </a:lnTo>
                  <a:lnTo>
                    <a:pt x="0" y="1226820"/>
                  </a:lnTo>
                  <a:lnTo>
                    <a:pt x="381000" y="1226820"/>
                  </a:lnTo>
                  <a:lnTo>
                    <a:pt x="381000" y="1257300"/>
                  </a:lnTo>
                  <a:lnTo>
                    <a:pt x="441960" y="1226820"/>
                  </a:lnTo>
                  <a:lnTo>
                    <a:pt x="457200" y="1219200"/>
                  </a:lnTo>
                  <a:close/>
                </a:path>
                <a:path w="3657600" h="2019300">
                  <a:moveTo>
                    <a:pt x="3657600" y="1975104"/>
                  </a:moveTo>
                  <a:lnTo>
                    <a:pt x="3276600" y="1975104"/>
                  </a:lnTo>
                  <a:lnTo>
                    <a:pt x="3276600" y="1943100"/>
                  </a:lnTo>
                  <a:lnTo>
                    <a:pt x="3200400" y="1981200"/>
                  </a:lnTo>
                  <a:lnTo>
                    <a:pt x="3276600" y="2019300"/>
                  </a:lnTo>
                  <a:lnTo>
                    <a:pt x="3276600" y="1988820"/>
                  </a:lnTo>
                  <a:lnTo>
                    <a:pt x="3657600" y="1988820"/>
                  </a:lnTo>
                  <a:lnTo>
                    <a:pt x="3657600" y="1975104"/>
                  </a:lnTo>
                  <a:close/>
                </a:path>
                <a:path w="3657600" h="2019300">
                  <a:moveTo>
                    <a:pt x="3657600" y="0"/>
                  </a:moveTo>
                  <a:lnTo>
                    <a:pt x="3276600" y="0"/>
                  </a:lnTo>
                  <a:lnTo>
                    <a:pt x="3264408" y="0"/>
                  </a:lnTo>
                  <a:lnTo>
                    <a:pt x="3200400" y="0"/>
                  </a:lnTo>
                  <a:lnTo>
                    <a:pt x="3276600" y="38100"/>
                  </a:lnTo>
                  <a:lnTo>
                    <a:pt x="3276600" y="7620"/>
                  </a:lnTo>
                  <a:lnTo>
                    <a:pt x="3657600" y="7620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67400" y="3890010"/>
              <a:ext cx="1562100" cy="0"/>
            </a:xfrm>
            <a:custGeom>
              <a:avLst/>
              <a:gdLst/>
              <a:ahLst/>
              <a:cxnLst/>
              <a:rect l="l" t="t" r="r" b="b"/>
              <a:pathLst>
                <a:path w="1562100">
                  <a:moveTo>
                    <a:pt x="0" y="0"/>
                  </a:moveTo>
                  <a:lnTo>
                    <a:pt x="1562099" y="0"/>
                  </a:lnTo>
                </a:path>
              </a:pathLst>
            </a:custGeom>
            <a:ln w="7620">
              <a:solidFill>
                <a:srgbClr val="00AF4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121651" y="3886200"/>
              <a:ext cx="114300" cy="1981200"/>
            </a:xfrm>
            <a:custGeom>
              <a:avLst/>
              <a:gdLst/>
              <a:ahLst/>
              <a:cxnLst/>
              <a:rect l="l" t="t" r="r" b="b"/>
              <a:pathLst>
                <a:path w="114300" h="1981200">
                  <a:moveTo>
                    <a:pt x="38100" y="1866899"/>
                  </a:moveTo>
                  <a:lnTo>
                    <a:pt x="0" y="1866899"/>
                  </a:lnTo>
                  <a:lnTo>
                    <a:pt x="57911" y="1981199"/>
                  </a:lnTo>
                  <a:lnTo>
                    <a:pt x="104526" y="1886711"/>
                  </a:lnTo>
                  <a:lnTo>
                    <a:pt x="38100" y="1886711"/>
                  </a:lnTo>
                  <a:lnTo>
                    <a:pt x="38100" y="1866899"/>
                  </a:lnTo>
                  <a:close/>
                </a:path>
                <a:path w="114300" h="1981200">
                  <a:moveTo>
                    <a:pt x="76200" y="96012"/>
                  </a:moveTo>
                  <a:lnTo>
                    <a:pt x="38100" y="96012"/>
                  </a:lnTo>
                  <a:lnTo>
                    <a:pt x="38100" y="1886711"/>
                  </a:lnTo>
                  <a:lnTo>
                    <a:pt x="76200" y="1886711"/>
                  </a:lnTo>
                  <a:lnTo>
                    <a:pt x="76200" y="96012"/>
                  </a:lnTo>
                  <a:close/>
                </a:path>
                <a:path w="114300" h="1981200">
                  <a:moveTo>
                    <a:pt x="114300" y="1866899"/>
                  </a:moveTo>
                  <a:lnTo>
                    <a:pt x="76200" y="1866899"/>
                  </a:lnTo>
                  <a:lnTo>
                    <a:pt x="76200" y="1886711"/>
                  </a:lnTo>
                  <a:lnTo>
                    <a:pt x="104526" y="1886711"/>
                  </a:lnTo>
                  <a:lnTo>
                    <a:pt x="114300" y="1866899"/>
                  </a:lnTo>
                  <a:close/>
                </a:path>
                <a:path w="114300" h="1981200">
                  <a:moveTo>
                    <a:pt x="57911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6012"/>
                  </a:lnTo>
                  <a:lnTo>
                    <a:pt x="105277" y="96012"/>
                  </a:lnTo>
                  <a:lnTo>
                    <a:pt x="57911" y="0"/>
                  </a:lnTo>
                  <a:close/>
                </a:path>
                <a:path w="114300" h="1981200">
                  <a:moveTo>
                    <a:pt x="105277" y="96012"/>
                  </a:moveTo>
                  <a:lnTo>
                    <a:pt x="76200" y="96012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5277" y="96012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241540" y="4818379"/>
            <a:ext cx="16979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AF4F"/>
                </a:solidFill>
                <a:latin typeface="Calibri"/>
                <a:cs typeface="Calibri"/>
              </a:rPr>
              <a:t>Transmission</a:t>
            </a:r>
            <a:r>
              <a:rPr sz="1800" spc="-85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AF4F"/>
                </a:solidFill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867400" y="5868161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099" y="0"/>
                </a:lnTo>
              </a:path>
            </a:pathLst>
          </a:custGeom>
          <a:ln w="13715">
            <a:solidFill>
              <a:srgbClr val="00AF4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50</a:t>
            </a:fld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919217"/>
            <a:ext cx="67951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45" dirty="0"/>
              <a:t>Example</a:t>
            </a:r>
            <a:r>
              <a:rPr sz="4000" u="none" spc="-130" dirty="0"/>
              <a:t> </a:t>
            </a:r>
            <a:r>
              <a:rPr sz="4000" u="none" spc="-5" dirty="0"/>
              <a:t>1</a:t>
            </a:r>
            <a:r>
              <a:rPr sz="4000" u="none" spc="-110" dirty="0"/>
              <a:t> </a:t>
            </a:r>
            <a:r>
              <a:rPr sz="4000" u="none" spc="-5" dirty="0"/>
              <a:t>-</a:t>
            </a:r>
            <a:r>
              <a:rPr sz="4000" u="none" spc="-175" dirty="0"/>
              <a:t> </a:t>
            </a:r>
            <a:r>
              <a:rPr sz="4000" u="none" spc="-60" dirty="0"/>
              <a:t>Transmission</a:t>
            </a:r>
            <a:r>
              <a:rPr sz="4000" u="none" spc="-120" dirty="0"/>
              <a:t> </a:t>
            </a:r>
            <a:r>
              <a:rPr sz="4000" u="none" spc="-40" dirty="0"/>
              <a:t>time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72267" y="1769826"/>
            <a:ext cx="8733790" cy="197421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14629" marR="30480" indent="-177165">
              <a:lnSpc>
                <a:spcPct val="89200"/>
              </a:lnSpc>
              <a:spcBef>
                <a:spcPts val="455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propagation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time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2.5-kbyte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message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(an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e-mail)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network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Gbps?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Assume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distance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sender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receiver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12,000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km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light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travels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2.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4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615" dirty="0">
                <a:solidFill>
                  <a:srgbClr val="3F3F3F"/>
                </a:solidFill>
                <a:latin typeface="Microsoft Sans Serif"/>
                <a:cs typeface="Microsoft Sans Serif"/>
              </a:rPr>
              <a:t>×</a:t>
            </a:r>
            <a:r>
              <a:rPr sz="2800" spc="-114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r>
              <a:rPr sz="2775" spc="15" baseline="25525" dirty="0">
                <a:solidFill>
                  <a:srgbClr val="3F3F3F"/>
                </a:solidFill>
                <a:latin typeface="Calibri"/>
                <a:cs typeface="Calibri"/>
              </a:rPr>
              <a:t>8</a:t>
            </a:r>
            <a:r>
              <a:rPr sz="2775" baseline="25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775" spc="-307" baseline="25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800" spc="-45" dirty="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01011" y="3830320"/>
            <a:ext cx="5576570" cy="1760220"/>
            <a:chOff x="2001011" y="3830320"/>
            <a:chExt cx="5576570" cy="1760220"/>
          </a:xfrm>
        </p:grpSpPr>
        <p:sp>
          <p:nvSpPr>
            <p:cNvPr id="6" name="object 6"/>
            <p:cNvSpPr/>
            <p:nvPr/>
          </p:nvSpPr>
          <p:spPr>
            <a:xfrm>
              <a:off x="2000999" y="3830319"/>
              <a:ext cx="5576570" cy="57785"/>
            </a:xfrm>
            <a:custGeom>
              <a:avLst/>
              <a:gdLst/>
              <a:ahLst/>
              <a:cxnLst/>
              <a:rect l="l" t="t" r="r" b="b"/>
              <a:pathLst>
                <a:path w="5576570" h="57785">
                  <a:moveTo>
                    <a:pt x="5530596" y="45720"/>
                  </a:moveTo>
                  <a:lnTo>
                    <a:pt x="45720" y="45720"/>
                  </a:lnTo>
                  <a:lnTo>
                    <a:pt x="45720" y="55880"/>
                  </a:lnTo>
                  <a:lnTo>
                    <a:pt x="45720" y="57150"/>
                  </a:lnTo>
                  <a:lnTo>
                    <a:pt x="56388" y="57150"/>
                  </a:lnTo>
                  <a:lnTo>
                    <a:pt x="56388" y="55880"/>
                  </a:lnTo>
                  <a:lnTo>
                    <a:pt x="5519928" y="55880"/>
                  </a:lnTo>
                  <a:lnTo>
                    <a:pt x="5519928" y="57404"/>
                  </a:lnTo>
                  <a:lnTo>
                    <a:pt x="5530596" y="57404"/>
                  </a:lnTo>
                  <a:lnTo>
                    <a:pt x="5530596" y="55880"/>
                  </a:lnTo>
                  <a:lnTo>
                    <a:pt x="5530596" y="45720"/>
                  </a:lnTo>
                  <a:close/>
                </a:path>
                <a:path w="5576570" h="57785">
                  <a:moveTo>
                    <a:pt x="5576316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57150"/>
                  </a:lnTo>
                  <a:lnTo>
                    <a:pt x="33528" y="57150"/>
                  </a:lnTo>
                  <a:lnTo>
                    <a:pt x="33528" y="33020"/>
                  </a:lnTo>
                  <a:lnTo>
                    <a:pt x="5542788" y="33020"/>
                  </a:lnTo>
                  <a:lnTo>
                    <a:pt x="5542788" y="57404"/>
                  </a:lnTo>
                  <a:lnTo>
                    <a:pt x="5576316" y="57404"/>
                  </a:lnTo>
                  <a:lnTo>
                    <a:pt x="5576316" y="33020"/>
                  </a:lnTo>
                  <a:lnTo>
                    <a:pt x="5576316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3886200"/>
              <a:ext cx="5463539" cy="16474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00999" y="3886199"/>
              <a:ext cx="5576570" cy="1704339"/>
            </a:xfrm>
            <a:custGeom>
              <a:avLst/>
              <a:gdLst/>
              <a:ahLst/>
              <a:cxnLst/>
              <a:rect l="l" t="t" r="r" b="b"/>
              <a:pathLst>
                <a:path w="5576570" h="1704339">
                  <a:moveTo>
                    <a:pt x="5530596" y="0"/>
                  </a:moveTo>
                  <a:lnTo>
                    <a:pt x="5519928" y="0"/>
                  </a:lnTo>
                  <a:lnTo>
                    <a:pt x="5519928" y="1647190"/>
                  </a:lnTo>
                  <a:lnTo>
                    <a:pt x="56388" y="1647190"/>
                  </a:lnTo>
                  <a:lnTo>
                    <a:pt x="56388" y="0"/>
                  </a:lnTo>
                  <a:lnTo>
                    <a:pt x="45720" y="0"/>
                  </a:lnTo>
                  <a:lnTo>
                    <a:pt x="45720" y="1647190"/>
                  </a:lnTo>
                  <a:lnTo>
                    <a:pt x="45720" y="1658620"/>
                  </a:lnTo>
                  <a:lnTo>
                    <a:pt x="5530596" y="1658620"/>
                  </a:lnTo>
                  <a:lnTo>
                    <a:pt x="5530596" y="1647444"/>
                  </a:lnTo>
                  <a:lnTo>
                    <a:pt x="5530596" y="1647190"/>
                  </a:lnTo>
                  <a:lnTo>
                    <a:pt x="5530596" y="0"/>
                  </a:lnTo>
                  <a:close/>
                </a:path>
                <a:path w="5576570" h="1704339">
                  <a:moveTo>
                    <a:pt x="5576316" y="0"/>
                  </a:moveTo>
                  <a:lnTo>
                    <a:pt x="5542788" y="0"/>
                  </a:lnTo>
                  <a:lnTo>
                    <a:pt x="5542788" y="1670050"/>
                  </a:lnTo>
                  <a:lnTo>
                    <a:pt x="33528" y="1670050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670050"/>
                  </a:lnTo>
                  <a:lnTo>
                    <a:pt x="0" y="1704340"/>
                  </a:lnTo>
                  <a:lnTo>
                    <a:pt x="5576316" y="1704340"/>
                  </a:lnTo>
                  <a:lnTo>
                    <a:pt x="5576316" y="1670304"/>
                  </a:lnTo>
                  <a:lnTo>
                    <a:pt x="5576316" y="1670050"/>
                  </a:lnTo>
                  <a:lnTo>
                    <a:pt x="5576316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10" name="object 10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8339" y="5772248"/>
            <a:ext cx="8603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Note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Message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short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bandwidth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dominant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factor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propagation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transmission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time.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transmission time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ignored.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51</a:t>
            </a:fld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79770"/>
            <a:ext cx="835977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u="none" spc="-45" dirty="0"/>
              <a:t>Example</a:t>
            </a:r>
            <a:r>
              <a:rPr sz="4900" u="none" spc="-140" dirty="0"/>
              <a:t> </a:t>
            </a:r>
            <a:r>
              <a:rPr sz="4900" u="none" spc="-5" dirty="0"/>
              <a:t>2</a:t>
            </a:r>
            <a:r>
              <a:rPr sz="4900" u="none" spc="-110" dirty="0"/>
              <a:t> </a:t>
            </a:r>
            <a:r>
              <a:rPr sz="4900" u="none" spc="-5" dirty="0"/>
              <a:t>-</a:t>
            </a:r>
            <a:r>
              <a:rPr sz="4900" u="none" spc="-195" dirty="0"/>
              <a:t> </a:t>
            </a:r>
            <a:r>
              <a:rPr sz="4900" u="none" spc="-60" dirty="0"/>
              <a:t>Transmission</a:t>
            </a:r>
            <a:r>
              <a:rPr sz="4900" u="none" spc="-110" dirty="0"/>
              <a:t> </a:t>
            </a:r>
            <a:r>
              <a:rPr sz="4900" u="none" spc="-40" dirty="0"/>
              <a:t>time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672267" y="1769826"/>
            <a:ext cx="8726170" cy="197421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14629" marR="30480" indent="-177165">
              <a:lnSpc>
                <a:spcPct val="89200"/>
              </a:lnSpc>
              <a:spcBef>
                <a:spcPts val="455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propagation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time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5-Mbyte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message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(an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image) if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network 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Mbps?</a:t>
            </a:r>
            <a:r>
              <a:rPr sz="2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Assume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distance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sender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receiver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12,000</a:t>
            </a:r>
            <a:r>
              <a:rPr sz="28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km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light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travels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.4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615" dirty="0">
                <a:solidFill>
                  <a:srgbClr val="3F3F3F"/>
                </a:solidFill>
                <a:latin typeface="Microsoft Sans Serif"/>
                <a:cs typeface="Microsoft Sans Serif"/>
              </a:rPr>
              <a:t>×</a:t>
            </a:r>
            <a:r>
              <a:rPr sz="2800" spc="-114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r>
              <a:rPr sz="2775" spc="15" baseline="25525" dirty="0">
                <a:solidFill>
                  <a:srgbClr val="3F3F3F"/>
                </a:solidFill>
                <a:latin typeface="Calibri"/>
                <a:cs typeface="Calibri"/>
              </a:rPr>
              <a:t>8</a:t>
            </a:r>
            <a:r>
              <a:rPr sz="2775" baseline="25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775" spc="-307" baseline="25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800" spc="-45" dirty="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67611" y="3830320"/>
            <a:ext cx="6117590" cy="1687830"/>
            <a:chOff x="1467611" y="3830320"/>
            <a:chExt cx="6117590" cy="1687830"/>
          </a:xfrm>
        </p:grpSpPr>
        <p:sp>
          <p:nvSpPr>
            <p:cNvPr id="6" name="object 6"/>
            <p:cNvSpPr/>
            <p:nvPr/>
          </p:nvSpPr>
          <p:spPr>
            <a:xfrm>
              <a:off x="1467599" y="3830319"/>
              <a:ext cx="6117590" cy="57785"/>
            </a:xfrm>
            <a:custGeom>
              <a:avLst/>
              <a:gdLst/>
              <a:ahLst/>
              <a:cxnLst/>
              <a:rect l="l" t="t" r="r" b="b"/>
              <a:pathLst>
                <a:path w="6117590" h="57785">
                  <a:moveTo>
                    <a:pt x="6071616" y="45720"/>
                  </a:moveTo>
                  <a:lnTo>
                    <a:pt x="45720" y="45720"/>
                  </a:lnTo>
                  <a:lnTo>
                    <a:pt x="45720" y="55880"/>
                  </a:lnTo>
                  <a:lnTo>
                    <a:pt x="45720" y="57150"/>
                  </a:lnTo>
                  <a:lnTo>
                    <a:pt x="56388" y="57150"/>
                  </a:lnTo>
                  <a:lnTo>
                    <a:pt x="56388" y="55880"/>
                  </a:lnTo>
                  <a:lnTo>
                    <a:pt x="6059424" y="55880"/>
                  </a:lnTo>
                  <a:lnTo>
                    <a:pt x="6059424" y="57404"/>
                  </a:lnTo>
                  <a:lnTo>
                    <a:pt x="6071616" y="57404"/>
                  </a:lnTo>
                  <a:lnTo>
                    <a:pt x="6071616" y="55880"/>
                  </a:lnTo>
                  <a:lnTo>
                    <a:pt x="6071616" y="45720"/>
                  </a:lnTo>
                  <a:close/>
                </a:path>
                <a:path w="6117590" h="57785">
                  <a:moveTo>
                    <a:pt x="6117336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57150"/>
                  </a:lnTo>
                  <a:lnTo>
                    <a:pt x="33528" y="57150"/>
                  </a:lnTo>
                  <a:lnTo>
                    <a:pt x="33528" y="33020"/>
                  </a:lnTo>
                  <a:lnTo>
                    <a:pt x="6082284" y="33020"/>
                  </a:lnTo>
                  <a:lnTo>
                    <a:pt x="6082284" y="57404"/>
                  </a:lnTo>
                  <a:lnTo>
                    <a:pt x="6117336" y="57404"/>
                  </a:lnTo>
                  <a:lnTo>
                    <a:pt x="6117336" y="33020"/>
                  </a:lnTo>
                  <a:lnTo>
                    <a:pt x="6117336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7047" y="3886200"/>
              <a:ext cx="6001511" cy="15773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67599" y="3886199"/>
              <a:ext cx="6117590" cy="1631950"/>
            </a:xfrm>
            <a:custGeom>
              <a:avLst/>
              <a:gdLst/>
              <a:ahLst/>
              <a:cxnLst/>
              <a:rect l="l" t="t" r="r" b="b"/>
              <a:pathLst>
                <a:path w="6117590" h="1631950">
                  <a:moveTo>
                    <a:pt x="6071616" y="1576070"/>
                  </a:moveTo>
                  <a:lnTo>
                    <a:pt x="56388" y="1576070"/>
                  </a:lnTo>
                  <a:lnTo>
                    <a:pt x="56388" y="0"/>
                  </a:lnTo>
                  <a:lnTo>
                    <a:pt x="45720" y="0"/>
                  </a:lnTo>
                  <a:lnTo>
                    <a:pt x="45720" y="1576070"/>
                  </a:lnTo>
                  <a:lnTo>
                    <a:pt x="45720" y="1586230"/>
                  </a:lnTo>
                  <a:lnTo>
                    <a:pt x="6071616" y="1586230"/>
                  </a:lnTo>
                  <a:lnTo>
                    <a:pt x="6071616" y="1576070"/>
                  </a:lnTo>
                  <a:close/>
                </a:path>
                <a:path w="6117590" h="1631950">
                  <a:moveTo>
                    <a:pt x="6071616" y="0"/>
                  </a:moveTo>
                  <a:lnTo>
                    <a:pt x="6059424" y="0"/>
                  </a:lnTo>
                  <a:lnTo>
                    <a:pt x="6059424" y="1575816"/>
                  </a:lnTo>
                  <a:lnTo>
                    <a:pt x="6071616" y="1575816"/>
                  </a:lnTo>
                  <a:lnTo>
                    <a:pt x="6071616" y="0"/>
                  </a:lnTo>
                  <a:close/>
                </a:path>
                <a:path w="6117590" h="1631950">
                  <a:moveTo>
                    <a:pt x="6117336" y="1598930"/>
                  </a:moveTo>
                  <a:lnTo>
                    <a:pt x="33528" y="1598930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598930"/>
                  </a:lnTo>
                  <a:lnTo>
                    <a:pt x="0" y="1631950"/>
                  </a:lnTo>
                  <a:lnTo>
                    <a:pt x="6117336" y="1631950"/>
                  </a:lnTo>
                  <a:lnTo>
                    <a:pt x="6117336" y="1598930"/>
                  </a:lnTo>
                  <a:close/>
                </a:path>
                <a:path w="6117590" h="1631950">
                  <a:moveTo>
                    <a:pt x="6117336" y="0"/>
                  </a:moveTo>
                  <a:lnTo>
                    <a:pt x="6082284" y="0"/>
                  </a:lnTo>
                  <a:lnTo>
                    <a:pt x="6082284" y="1598676"/>
                  </a:lnTo>
                  <a:lnTo>
                    <a:pt x="6117336" y="1598676"/>
                  </a:lnTo>
                  <a:lnTo>
                    <a:pt x="6117336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10" name="object 10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8339" y="5924648"/>
            <a:ext cx="8677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Note: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Message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very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long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bandwidth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very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high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dominant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factor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transmission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propagation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time.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propagation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ignored.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52</a:t>
            </a:fld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Latency</a:t>
            </a:r>
            <a:r>
              <a:rPr b="1" spc="-14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–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Queuing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time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69826"/>
            <a:ext cx="8649335" cy="26835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282575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needed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each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intermediate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or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end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device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hold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message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before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be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processed.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fixed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factor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-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load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imposed on the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network.</a:t>
            </a:r>
            <a:endParaRPr sz="24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42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When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there</a:t>
            </a:r>
            <a:r>
              <a:rPr sz="1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heavy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traffic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network,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queuing</a:t>
            </a:r>
            <a:r>
              <a:rPr sz="1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increases</a:t>
            </a:r>
            <a:endParaRPr sz="1800">
              <a:latin typeface="Calibri"/>
              <a:cs typeface="Calibri"/>
            </a:endParaRPr>
          </a:p>
          <a:p>
            <a:pPr marL="419100" marR="795020" lvl="1" indent="-182880">
              <a:lnSpc>
                <a:spcPts val="2590"/>
              </a:lnSpc>
              <a:spcBef>
                <a:spcPts val="6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intermediate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device, such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 a 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router,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queues the arrived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messages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processes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them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27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there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many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messages,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each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message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will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wait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53</a:t>
            </a:fld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50" dirty="0">
                <a:latin typeface="Arial"/>
                <a:cs typeface="Arial"/>
              </a:rPr>
              <a:t>Bandwidth-Delay</a:t>
            </a:r>
            <a:r>
              <a:rPr b="1" spc="-160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Product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69826"/>
            <a:ext cx="851535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product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bandwidth</a:t>
            </a:r>
            <a:r>
              <a:rPr sz="2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delay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bits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can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fill 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link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590800"/>
            <a:ext cx="7917179" cy="126796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3839419"/>
            <a:ext cx="8007350" cy="2425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two hypothetical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cases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examples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7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Filling 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links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26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Filling 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pipe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endParaRPr sz="2800">
              <a:latin typeface="Calibri"/>
              <a:cs typeface="Calibri"/>
            </a:endParaRPr>
          </a:p>
          <a:p>
            <a:pPr marL="189230" marR="5080" indent="-177165">
              <a:lnSpc>
                <a:spcPts val="3460"/>
              </a:lnSpc>
              <a:spcBef>
                <a:spcPts val="1614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3200" spc="-5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32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cases</a:t>
            </a:r>
            <a:r>
              <a:rPr sz="3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show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 that</a:t>
            </a:r>
            <a:r>
              <a:rPr sz="3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product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 of bandwidth</a:t>
            </a:r>
            <a:r>
              <a:rPr sz="32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3200" spc="-7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3F3F3F"/>
                </a:solidFill>
                <a:latin typeface="Calibri"/>
                <a:cs typeface="Calibri"/>
              </a:rPr>
              <a:t>delay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3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3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3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3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3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3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fill</a:t>
            </a:r>
            <a:r>
              <a:rPr sz="3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link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54</a:t>
            </a:fld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50" dirty="0">
                <a:latin typeface="Arial"/>
                <a:cs typeface="Arial"/>
              </a:rPr>
              <a:t>Bandwidth-Delay</a:t>
            </a:r>
            <a:r>
              <a:rPr b="1" spc="-160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Product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49821"/>
            <a:ext cx="8451215" cy="23145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2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Filling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links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endParaRPr sz="26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6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assuming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a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link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with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bandwidth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1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bps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(unrealistic).</a:t>
            </a:r>
            <a:endParaRPr sz="22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3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50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also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assume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delay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link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(also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unrealistic).</a:t>
            </a:r>
            <a:endParaRPr sz="22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4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50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want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see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bandwidth-delay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product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means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case?</a:t>
            </a:r>
            <a:endParaRPr sz="22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25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product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484" dirty="0">
                <a:solidFill>
                  <a:srgbClr val="3F3F3F"/>
                </a:solidFill>
                <a:latin typeface="Microsoft Sans Serif"/>
                <a:cs typeface="Microsoft Sans Serif"/>
              </a:rPr>
              <a:t>× </a:t>
            </a:r>
            <a:r>
              <a:rPr sz="2200" spc="-480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maximum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fill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link.</a:t>
            </a:r>
            <a:endParaRPr sz="22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42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There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more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than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any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link.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4110227"/>
            <a:ext cx="5791200" cy="26349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55</a:t>
            </a:fld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50" dirty="0">
                <a:latin typeface="Arial"/>
                <a:cs typeface="Arial"/>
              </a:rPr>
              <a:t>Bandwidth-Delay</a:t>
            </a:r>
            <a:r>
              <a:rPr b="1" spc="-160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Product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363" y="1747810"/>
            <a:ext cx="8564880" cy="207454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27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Filling the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pipe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4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Assuming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have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4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bps,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delay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link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4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204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h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 m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x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u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25" dirty="0">
                <a:solidFill>
                  <a:srgbClr val="3F3F3F"/>
                </a:solidFill>
                <a:latin typeface="Microsoft Sans Serif"/>
                <a:cs typeface="Microsoft Sans Serif"/>
              </a:rPr>
              <a:t>×</a:t>
            </a:r>
            <a:r>
              <a:rPr sz="2400" spc="-105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=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o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th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lin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e.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42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reason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that,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each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second,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there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4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 the line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1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duration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each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is: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1/5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0.20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605" y="3907536"/>
            <a:ext cx="5041726" cy="277679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56</a:t>
            </a:fld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50" dirty="0">
                <a:latin typeface="Arial"/>
                <a:cs typeface="Arial"/>
              </a:rPr>
              <a:t>Bandwidth-Delay</a:t>
            </a:r>
            <a:r>
              <a:rPr b="1" spc="-160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Product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36298"/>
            <a:ext cx="8498205" cy="434594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89230" marR="104775" indent="-177165">
              <a:lnSpc>
                <a:spcPct val="80000"/>
              </a:lnSpc>
              <a:spcBef>
                <a:spcPts val="76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number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fill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link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important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we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need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bursts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wait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acknowledgment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each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burst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before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sending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next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one</a:t>
            </a:r>
            <a:endParaRPr sz="2800">
              <a:latin typeface="Calibri"/>
              <a:cs typeface="Calibri"/>
            </a:endParaRPr>
          </a:p>
          <a:p>
            <a:pPr marL="189230" marR="523875" indent="-177165">
              <a:lnSpc>
                <a:spcPts val="2690"/>
              </a:lnSpc>
              <a:spcBef>
                <a:spcPts val="13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3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use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maximum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capability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link,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need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make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size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our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burst</a:t>
            </a:r>
            <a:r>
              <a:rPr sz="2800" spc="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times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product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delay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ts val="265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er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sh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u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s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bu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o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d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30" dirty="0">
                <a:solidFill>
                  <a:srgbClr val="3F3F3F"/>
                </a:solidFill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25" dirty="0">
                <a:solidFill>
                  <a:srgbClr val="3F3F3F"/>
                </a:solidFill>
                <a:latin typeface="Microsoft Sans Serif"/>
                <a:cs typeface="Microsoft Sans Serif"/>
              </a:rPr>
              <a:t>×</a:t>
            </a:r>
            <a:r>
              <a:rPr sz="2400" spc="-105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bandwidt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h </a:t>
            </a:r>
            <a:r>
              <a:rPr sz="2400" spc="-525" dirty="0">
                <a:solidFill>
                  <a:srgbClr val="3F3F3F"/>
                </a:solidFill>
                <a:latin typeface="Microsoft Sans Serif"/>
                <a:cs typeface="Microsoft Sans Serif"/>
              </a:rPr>
              <a:t>×</a:t>
            </a:r>
            <a:r>
              <a:rPr sz="2400" spc="-105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400" spc="-5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y)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bits</a:t>
            </a:r>
            <a:endParaRPr sz="2400">
              <a:latin typeface="Calibri"/>
              <a:cs typeface="Calibri"/>
            </a:endParaRPr>
          </a:p>
          <a:p>
            <a:pPr marL="419100" marR="372110" lvl="1" indent="-182880">
              <a:lnSpc>
                <a:spcPct val="80000"/>
              </a:lnSpc>
              <a:spcBef>
                <a:spcPts val="68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sender then waits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receiver acknowledgment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part of the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burst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before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sending another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burst</a:t>
            </a:r>
            <a:endParaRPr sz="2400">
              <a:latin typeface="Calibri"/>
              <a:cs typeface="Calibri"/>
            </a:endParaRPr>
          </a:p>
          <a:p>
            <a:pPr marL="419100" marR="5080" lvl="1" indent="-182880">
              <a:lnSpc>
                <a:spcPts val="2390"/>
              </a:lnSpc>
              <a:spcBef>
                <a:spcPts val="43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am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t 2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25" dirty="0">
                <a:solidFill>
                  <a:srgbClr val="3F3F3F"/>
                </a:solidFill>
                <a:latin typeface="Microsoft Sans Serif"/>
                <a:cs typeface="Microsoft Sans Serif"/>
              </a:rPr>
              <a:t>×</a:t>
            </a:r>
            <a:r>
              <a:rPr sz="2400" spc="-105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bandwidt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h </a:t>
            </a:r>
            <a:r>
              <a:rPr sz="2400" spc="-525" dirty="0">
                <a:solidFill>
                  <a:srgbClr val="3F3F3F"/>
                </a:solidFill>
                <a:latin typeface="Microsoft Sans Serif"/>
                <a:cs typeface="Microsoft Sans Serif"/>
              </a:rPr>
              <a:t>×</a:t>
            </a:r>
            <a:r>
              <a:rPr sz="2400" spc="-105" dirty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400" spc="-5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y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nu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er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bit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c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transition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any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57</a:t>
            </a:fld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Jitter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633581"/>
            <a:ext cx="8347709" cy="363283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116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Related</a:t>
            </a:r>
            <a:r>
              <a:rPr sz="2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delay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3F3F3F"/>
                </a:solidFill>
                <a:latin typeface="Calibri"/>
                <a:cs typeface="Calibri"/>
              </a:rPr>
              <a:t>jitter</a:t>
            </a:r>
            <a:endParaRPr sz="2800" dirty="0">
              <a:latin typeface="Calibri"/>
              <a:cs typeface="Calibri"/>
            </a:endParaRPr>
          </a:p>
          <a:p>
            <a:pPr marL="189230" marR="5080" indent="-177165">
              <a:lnSpc>
                <a:spcPts val="3020"/>
              </a:lnSpc>
              <a:spcBef>
                <a:spcPts val="14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b="1" spc="-20" dirty="0">
                <a:solidFill>
                  <a:srgbClr val="3F3F3F"/>
                </a:solidFill>
                <a:latin typeface="Calibri"/>
                <a:cs typeface="Calibri"/>
              </a:rPr>
              <a:t>Jitter</a:t>
            </a:r>
            <a:r>
              <a:rPr sz="28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problem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packets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of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encounter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delays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application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receiver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site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time-sensitive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(audio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video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data,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example)</a:t>
            </a:r>
            <a:endParaRPr sz="2800" dirty="0">
              <a:latin typeface="Calibri"/>
              <a:cs typeface="Calibri"/>
            </a:endParaRPr>
          </a:p>
          <a:p>
            <a:pPr marL="189230" marR="11430" indent="-177165">
              <a:lnSpc>
                <a:spcPts val="3020"/>
              </a:lnSpc>
              <a:spcBef>
                <a:spcPts val="142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delay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first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packet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ms,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second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45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ms,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third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ms,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then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real-time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application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uses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packets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endures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rgbClr val="3F3F3F"/>
                </a:solidFill>
                <a:latin typeface="Calibri"/>
                <a:cs typeface="Calibri"/>
              </a:rPr>
              <a:t>jitter.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58</a:t>
            </a:fld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584BB-3C0F-72B2-55FF-E051C772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CIE -2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142CE-0404-9D37-ACA8-29E098428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78926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Analog</a:t>
            </a:r>
            <a:r>
              <a:rPr spc="-150" dirty="0"/>
              <a:t> </a:t>
            </a:r>
            <a:r>
              <a:rPr spc="-35" dirty="0"/>
              <a:t>and</a:t>
            </a:r>
            <a:r>
              <a:rPr spc="-130" dirty="0"/>
              <a:t> </a:t>
            </a:r>
            <a:r>
              <a:rPr spc="-45" dirty="0"/>
              <a:t>Digital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4" name="object 4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855" y="1696212"/>
            <a:ext cx="8467343" cy="47807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60</a:t>
            </a:fld>
            <a:endParaRPr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363" y="1871573"/>
            <a:ext cx="3526790" cy="288036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254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Digital-to-digital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5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Line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Coding</a:t>
            </a:r>
            <a:endParaRPr sz="20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6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Line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Coding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Schemes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6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Block</a:t>
            </a:r>
            <a:r>
              <a:rPr sz="20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Coding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6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Scrambling</a:t>
            </a:r>
            <a:endParaRPr sz="20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37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Analog-to-digital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5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Pulse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Code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(PCM)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6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Delta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(DM)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7939" y="1921256"/>
            <a:ext cx="4168140" cy="3378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2235" indent="-90170">
              <a:lnSpc>
                <a:spcPct val="100000"/>
              </a:lnSpc>
              <a:spcBef>
                <a:spcPts val="10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Digital-to-analog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endParaRPr sz="2000">
              <a:latin typeface="Calibri"/>
              <a:cs typeface="Calibri"/>
            </a:endParaRPr>
          </a:p>
          <a:p>
            <a:pPr marL="469900" marR="731520" lvl="1">
              <a:lnSpc>
                <a:spcPct val="100000"/>
              </a:lnSpc>
              <a:buSzPct val="95000"/>
              <a:buChar char="◦"/>
              <a:tabLst>
                <a:tab pos="56070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Aspects of Digital-to-Analog </a:t>
            </a:r>
            <a:r>
              <a:rPr sz="2000" spc="-4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endParaRPr sz="2000">
              <a:latin typeface="Calibri"/>
              <a:cs typeface="Calibri"/>
            </a:endParaRPr>
          </a:p>
          <a:p>
            <a:pPr marL="560070" lvl="1" indent="-90805">
              <a:lnSpc>
                <a:spcPct val="100000"/>
              </a:lnSpc>
              <a:buSzPct val="95000"/>
              <a:buChar char="◦"/>
              <a:tabLst>
                <a:tab pos="56070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Shift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Keying</a:t>
            </a:r>
            <a:endParaRPr sz="2000">
              <a:latin typeface="Calibri"/>
              <a:cs typeface="Calibri"/>
            </a:endParaRPr>
          </a:p>
          <a:p>
            <a:pPr marL="560070" lvl="1" indent="-90805">
              <a:lnSpc>
                <a:spcPct val="100000"/>
              </a:lnSpc>
              <a:buSzPct val="95000"/>
              <a:buChar char="◦"/>
              <a:tabLst>
                <a:tab pos="56070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0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Shift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Keying</a:t>
            </a:r>
            <a:endParaRPr sz="2000">
              <a:latin typeface="Calibri"/>
              <a:cs typeface="Calibri"/>
            </a:endParaRPr>
          </a:p>
          <a:p>
            <a:pPr marL="560070" lvl="1" indent="-90805">
              <a:lnSpc>
                <a:spcPct val="100000"/>
              </a:lnSpc>
              <a:buSzPct val="95000"/>
              <a:buChar char="◦"/>
              <a:tabLst>
                <a:tab pos="56070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Shift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Keying</a:t>
            </a:r>
            <a:endParaRPr sz="2000">
              <a:latin typeface="Calibri"/>
              <a:cs typeface="Calibri"/>
            </a:endParaRPr>
          </a:p>
          <a:p>
            <a:pPr marL="560070" lvl="1" indent="-90805">
              <a:lnSpc>
                <a:spcPct val="100000"/>
              </a:lnSpc>
              <a:buSzPct val="95000"/>
              <a:buChar char="◦"/>
              <a:tabLst>
                <a:tab pos="560705" algn="l"/>
              </a:tabLst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Quadrature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endParaRPr sz="2000">
              <a:latin typeface="Calibri"/>
              <a:cs typeface="Calibri"/>
            </a:endParaRPr>
          </a:p>
          <a:p>
            <a:pPr marL="102235" indent="-90170">
              <a:lnSpc>
                <a:spcPct val="100000"/>
              </a:lnSpc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Analog-to-analog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endParaRPr sz="2000">
              <a:latin typeface="Calibri"/>
              <a:cs typeface="Calibri"/>
            </a:endParaRPr>
          </a:p>
          <a:p>
            <a:pPr marL="560070" lvl="1" indent="-90805">
              <a:lnSpc>
                <a:spcPct val="100000"/>
              </a:lnSpc>
              <a:buSzPct val="95000"/>
              <a:buChar char="◦"/>
              <a:tabLst>
                <a:tab pos="56070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(AM)</a:t>
            </a:r>
            <a:endParaRPr sz="2000">
              <a:latin typeface="Calibri"/>
              <a:cs typeface="Calibri"/>
            </a:endParaRPr>
          </a:p>
          <a:p>
            <a:pPr marL="560070" lvl="1" indent="-90805">
              <a:lnSpc>
                <a:spcPct val="100000"/>
              </a:lnSpc>
              <a:buSzPct val="95000"/>
              <a:buChar char="◦"/>
              <a:tabLst>
                <a:tab pos="56070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0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(FM)</a:t>
            </a:r>
            <a:endParaRPr sz="2000">
              <a:latin typeface="Calibri"/>
              <a:cs typeface="Calibri"/>
            </a:endParaRPr>
          </a:p>
          <a:p>
            <a:pPr marL="560070" lvl="1" indent="-90805">
              <a:lnSpc>
                <a:spcPct val="100000"/>
              </a:lnSpc>
              <a:buSzPct val="95000"/>
              <a:buChar char="◦"/>
              <a:tabLst>
                <a:tab pos="56070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(PM)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61</a:t>
            </a:fld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856733"/>
            <a:ext cx="49110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spc="-40" dirty="0"/>
              <a:t>Digital</a:t>
            </a:r>
            <a:r>
              <a:rPr sz="4400" u="none" spc="-265" dirty="0"/>
              <a:t> </a:t>
            </a:r>
            <a:r>
              <a:rPr sz="4400" u="none" spc="-60" dirty="0"/>
              <a:t>Transmission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5" name="object 5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7667" y="1772874"/>
            <a:ext cx="8470900" cy="35566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89230" marR="5080" indent="-177165">
              <a:lnSpc>
                <a:spcPts val="3000"/>
              </a:lnSpc>
              <a:spcBef>
                <a:spcPts val="4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Computer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network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information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point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another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can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be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either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digital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4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Analog: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Continuous value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data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(sound,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light,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temperature)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1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Digital:</a:t>
            </a:r>
            <a:r>
              <a:rPr sz="24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Discrete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(text,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integers,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Symbols)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24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represent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also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3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Analog: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Continuously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varying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electromagnetic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wave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1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Digital:</a:t>
            </a:r>
            <a:r>
              <a:rPr sz="24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Series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voltage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pulses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(square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wave)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62</a:t>
            </a:fld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Digital</a:t>
            </a:r>
            <a:r>
              <a:rPr spc="-229" dirty="0"/>
              <a:t> </a:t>
            </a:r>
            <a:r>
              <a:rPr spc="-65" dirty="0"/>
              <a:t>Transmission</a:t>
            </a:r>
            <a:r>
              <a:rPr spc="-130" dirty="0"/>
              <a:t> </a:t>
            </a:r>
            <a:r>
              <a:rPr dirty="0"/>
              <a:t>…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803" y="1763730"/>
            <a:ext cx="8223250" cy="18859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54025" marR="5080" indent="-387350">
              <a:lnSpc>
                <a:spcPct val="89700"/>
              </a:lnSpc>
              <a:spcBef>
                <a:spcPts val="500"/>
              </a:spcBef>
              <a:buClr>
                <a:srgbClr val="1CACE4"/>
              </a:buClr>
              <a:buFont typeface="Arial MT"/>
              <a:buChar char="•"/>
              <a:tabLst>
                <a:tab pos="454025" algn="l"/>
                <a:tab pos="454659" algn="l"/>
              </a:tabLst>
            </a:pPr>
            <a:r>
              <a:rPr sz="3200" spc="-15" dirty="0">
                <a:solidFill>
                  <a:srgbClr val="3F3F3F"/>
                </a:solidFill>
                <a:latin typeface="Calibri"/>
                <a:cs typeface="Calibri"/>
              </a:rPr>
              <a:t>Information</a:t>
            </a:r>
            <a:r>
              <a:rPr sz="3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F3F3F"/>
                </a:solidFill>
                <a:latin typeface="Calibri"/>
                <a:cs typeface="Calibri"/>
              </a:rPr>
              <a:t>(analog</a:t>
            </a:r>
            <a:r>
              <a:rPr sz="3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3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3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32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data)</a:t>
            </a:r>
            <a:r>
              <a:rPr sz="3200" spc="-1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3200" spc="-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3F3F3F"/>
                </a:solidFill>
                <a:latin typeface="Calibri"/>
                <a:cs typeface="Calibri"/>
              </a:rPr>
              <a:t>converted</a:t>
            </a:r>
            <a:r>
              <a:rPr sz="32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3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either</a:t>
            </a:r>
            <a:r>
              <a:rPr sz="3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32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32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3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3200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analog </a:t>
            </a:r>
            <a:r>
              <a:rPr sz="3200" spc="-70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3200" spc="-3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3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endParaRPr sz="3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How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represent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362200" y="4572000"/>
            <a:ext cx="2118360" cy="582295"/>
            <a:chOff x="2362200" y="4572000"/>
            <a:chExt cx="2118360" cy="582295"/>
          </a:xfrm>
        </p:grpSpPr>
        <p:sp>
          <p:nvSpPr>
            <p:cNvPr id="8" name="object 8"/>
            <p:cNvSpPr/>
            <p:nvPr/>
          </p:nvSpPr>
          <p:spPr>
            <a:xfrm>
              <a:off x="2362200" y="4572000"/>
              <a:ext cx="2118360" cy="73660"/>
            </a:xfrm>
            <a:custGeom>
              <a:avLst/>
              <a:gdLst/>
              <a:ahLst/>
              <a:cxnLst/>
              <a:rect l="l" t="t" r="r" b="b"/>
              <a:pathLst>
                <a:path w="2118360" h="73660">
                  <a:moveTo>
                    <a:pt x="2118359" y="0"/>
                  </a:moveTo>
                  <a:lnTo>
                    <a:pt x="0" y="0"/>
                  </a:lnTo>
                  <a:lnTo>
                    <a:pt x="73151" y="73151"/>
                  </a:lnTo>
                  <a:lnTo>
                    <a:pt x="2045207" y="73151"/>
                  </a:lnTo>
                  <a:lnTo>
                    <a:pt x="2118359" y="0"/>
                  </a:lnTo>
                  <a:close/>
                </a:path>
              </a:pathLst>
            </a:custGeom>
            <a:solidFill>
              <a:srgbClr val="99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62200" y="5081015"/>
              <a:ext cx="2118360" cy="73660"/>
            </a:xfrm>
            <a:custGeom>
              <a:avLst/>
              <a:gdLst/>
              <a:ahLst/>
              <a:cxnLst/>
              <a:rect l="l" t="t" r="r" b="b"/>
              <a:pathLst>
                <a:path w="2118360" h="73660">
                  <a:moveTo>
                    <a:pt x="2045207" y="0"/>
                  </a:moveTo>
                  <a:lnTo>
                    <a:pt x="73151" y="0"/>
                  </a:lnTo>
                  <a:lnTo>
                    <a:pt x="0" y="73151"/>
                  </a:lnTo>
                  <a:lnTo>
                    <a:pt x="2118359" y="73151"/>
                  </a:lnTo>
                  <a:lnTo>
                    <a:pt x="2045207" y="0"/>
                  </a:lnTo>
                  <a:close/>
                </a:path>
              </a:pathLst>
            </a:custGeom>
            <a:solidFill>
              <a:srgbClr val="6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62200" y="4572000"/>
              <a:ext cx="73660" cy="582295"/>
            </a:xfrm>
            <a:custGeom>
              <a:avLst/>
              <a:gdLst/>
              <a:ahLst/>
              <a:cxnLst/>
              <a:rect l="l" t="t" r="r" b="b"/>
              <a:pathLst>
                <a:path w="73660" h="582295">
                  <a:moveTo>
                    <a:pt x="0" y="0"/>
                  </a:moveTo>
                  <a:lnTo>
                    <a:pt x="0" y="582167"/>
                  </a:lnTo>
                  <a:lnTo>
                    <a:pt x="73151" y="509015"/>
                  </a:lnTo>
                  <a:lnTo>
                    <a:pt x="73151" y="73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07407" y="4572000"/>
              <a:ext cx="73660" cy="582295"/>
            </a:xfrm>
            <a:custGeom>
              <a:avLst/>
              <a:gdLst/>
              <a:ahLst/>
              <a:cxnLst/>
              <a:rect l="l" t="t" r="r" b="b"/>
              <a:pathLst>
                <a:path w="73660" h="582295">
                  <a:moveTo>
                    <a:pt x="73151" y="0"/>
                  </a:moveTo>
                  <a:lnTo>
                    <a:pt x="0" y="73151"/>
                  </a:lnTo>
                  <a:lnTo>
                    <a:pt x="0" y="509015"/>
                  </a:lnTo>
                  <a:lnTo>
                    <a:pt x="73151" y="58216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4D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35351" y="4645151"/>
            <a:ext cx="1971039" cy="434340"/>
          </a:xfrm>
          <a:prstGeom prst="rect">
            <a:avLst/>
          </a:prstGeom>
          <a:solidFill>
            <a:srgbClr val="800000"/>
          </a:solidFill>
        </p:spPr>
        <p:txBody>
          <a:bodyPr vert="horz" wrap="square" lIns="0" tIns="254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00"/>
              </a:spcBef>
            </a:pPr>
            <a:r>
              <a:rPr sz="2400" spc="-10" dirty="0">
                <a:solidFill>
                  <a:srgbClr val="00FF00"/>
                </a:solidFill>
                <a:latin typeface="Calibri"/>
                <a:cs typeface="Calibri"/>
              </a:rPr>
              <a:t>Digital</a:t>
            </a:r>
            <a:r>
              <a:rPr sz="2400" spc="-7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FF00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67400" y="4981955"/>
            <a:ext cx="2016760" cy="581025"/>
            <a:chOff x="5867400" y="4981955"/>
            <a:chExt cx="2016760" cy="581025"/>
          </a:xfrm>
        </p:grpSpPr>
        <p:sp>
          <p:nvSpPr>
            <p:cNvPr id="14" name="object 14"/>
            <p:cNvSpPr/>
            <p:nvPr/>
          </p:nvSpPr>
          <p:spPr>
            <a:xfrm>
              <a:off x="5867400" y="4981955"/>
              <a:ext cx="2016760" cy="73660"/>
            </a:xfrm>
            <a:custGeom>
              <a:avLst/>
              <a:gdLst/>
              <a:ahLst/>
              <a:cxnLst/>
              <a:rect l="l" t="t" r="r" b="b"/>
              <a:pathLst>
                <a:path w="2016759" h="73660">
                  <a:moveTo>
                    <a:pt x="2016251" y="0"/>
                  </a:moveTo>
                  <a:lnTo>
                    <a:pt x="0" y="0"/>
                  </a:lnTo>
                  <a:lnTo>
                    <a:pt x="73151" y="73151"/>
                  </a:lnTo>
                  <a:lnTo>
                    <a:pt x="1944623" y="73151"/>
                  </a:lnTo>
                  <a:lnTo>
                    <a:pt x="2016251" y="0"/>
                  </a:lnTo>
                  <a:close/>
                </a:path>
              </a:pathLst>
            </a:custGeom>
            <a:solidFill>
              <a:srgbClr val="99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67400" y="5490971"/>
              <a:ext cx="2016760" cy="71755"/>
            </a:xfrm>
            <a:custGeom>
              <a:avLst/>
              <a:gdLst/>
              <a:ahLst/>
              <a:cxnLst/>
              <a:rect l="l" t="t" r="r" b="b"/>
              <a:pathLst>
                <a:path w="2016759" h="71754">
                  <a:moveTo>
                    <a:pt x="1944623" y="0"/>
                  </a:moveTo>
                  <a:lnTo>
                    <a:pt x="73151" y="0"/>
                  </a:lnTo>
                  <a:lnTo>
                    <a:pt x="0" y="71627"/>
                  </a:lnTo>
                  <a:lnTo>
                    <a:pt x="2016251" y="71627"/>
                  </a:lnTo>
                  <a:lnTo>
                    <a:pt x="1944623" y="0"/>
                  </a:lnTo>
                  <a:close/>
                </a:path>
              </a:pathLst>
            </a:custGeom>
            <a:solidFill>
              <a:srgbClr val="6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67400" y="4981955"/>
              <a:ext cx="73660" cy="581025"/>
            </a:xfrm>
            <a:custGeom>
              <a:avLst/>
              <a:gdLst/>
              <a:ahLst/>
              <a:cxnLst/>
              <a:rect l="l" t="t" r="r" b="b"/>
              <a:pathLst>
                <a:path w="73660" h="581025">
                  <a:moveTo>
                    <a:pt x="0" y="0"/>
                  </a:moveTo>
                  <a:lnTo>
                    <a:pt x="0" y="580643"/>
                  </a:lnTo>
                  <a:lnTo>
                    <a:pt x="73151" y="509015"/>
                  </a:lnTo>
                  <a:lnTo>
                    <a:pt x="73151" y="73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12023" y="4981955"/>
              <a:ext cx="71755" cy="581025"/>
            </a:xfrm>
            <a:custGeom>
              <a:avLst/>
              <a:gdLst/>
              <a:ahLst/>
              <a:cxnLst/>
              <a:rect l="l" t="t" r="r" b="b"/>
              <a:pathLst>
                <a:path w="71754" h="581025">
                  <a:moveTo>
                    <a:pt x="71627" y="0"/>
                  </a:moveTo>
                  <a:lnTo>
                    <a:pt x="0" y="73151"/>
                  </a:lnTo>
                  <a:lnTo>
                    <a:pt x="0" y="509015"/>
                  </a:lnTo>
                  <a:lnTo>
                    <a:pt x="71627" y="580643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4D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40551" y="5055107"/>
            <a:ext cx="1870075" cy="434340"/>
          </a:xfrm>
          <a:prstGeom prst="rect">
            <a:avLst/>
          </a:prstGeom>
          <a:solidFill>
            <a:srgbClr val="800000"/>
          </a:solidFill>
        </p:spPr>
        <p:txBody>
          <a:bodyPr vert="horz" wrap="square" lIns="0" tIns="247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95"/>
              </a:spcBef>
            </a:pPr>
            <a:r>
              <a:rPr sz="2400" spc="-10" dirty="0">
                <a:solidFill>
                  <a:srgbClr val="00FF00"/>
                </a:solidFill>
                <a:latin typeface="Calibri"/>
                <a:cs typeface="Calibri"/>
              </a:rPr>
              <a:t>Digital</a:t>
            </a:r>
            <a:r>
              <a:rPr sz="2400" spc="-7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FF00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62200" y="4991100"/>
            <a:ext cx="3505200" cy="957580"/>
            <a:chOff x="2362200" y="4991100"/>
            <a:chExt cx="3505200" cy="957580"/>
          </a:xfrm>
        </p:grpSpPr>
        <p:sp>
          <p:nvSpPr>
            <p:cNvPr id="20" name="object 20"/>
            <p:cNvSpPr/>
            <p:nvPr/>
          </p:nvSpPr>
          <p:spPr>
            <a:xfrm>
              <a:off x="5334000" y="4991100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304799" y="0"/>
                  </a:moveTo>
                  <a:lnTo>
                    <a:pt x="304799" y="228599"/>
                  </a:lnTo>
                  <a:lnTo>
                    <a:pt x="457199" y="152399"/>
                  </a:lnTo>
                  <a:lnTo>
                    <a:pt x="342899" y="152399"/>
                  </a:lnTo>
                  <a:lnTo>
                    <a:pt x="342899" y="76199"/>
                  </a:lnTo>
                  <a:lnTo>
                    <a:pt x="457199" y="76199"/>
                  </a:lnTo>
                  <a:lnTo>
                    <a:pt x="304799" y="0"/>
                  </a:lnTo>
                  <a:close/>
                </a:path>
                <a:path w="533400" h="228600">
                  <a:moveTo>
                    <a:pt x="304799" y="76199"/>
                  </a:moveTo>
                  <a:lnTo>
                    <a:pt x="0" y="76199"/>
                  </a:lnTo>
                  <a:lnTo>
                    <a:pt x="0" y="152399"/>
                  </a:lnTo>
                  <a:lnTo>
                    <a:pt x="304799" y="152399"/>
                  </a:lnTo>
                  <a:lnTo>
                    <a:pt x="304799" y="76199"/>
                  </a:lnTo>
                  <a:close/>
                </a:path>
                <a:path w="533400" h="228600">
                  <a:moveTo>
                    <a:pt x="457199" y="76199"/>
                  </a:moveTo>
                  <a:lnTo>
                    <a:pt x="342899" y="76199"/>
                  </a:lnTo>
                  <a:lnTo>
                    <a:pt x="342899" y="152399"/>
                  </a:lnTo>
                  <a:lnTo>
                    <a:pt x="457199" y="152399"/>
                  </a:lnTo>
                  <a:lnTo>
                    <a:pt x="533399" y="114299"/>
                  </a:lnTo>
                  <a:lnTo>
                    <a:pt x="457199" y="761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62200" y="5334000"/>
              <a:ext cx="2133600" cy="78105"/>
            </a:xfrm>
            <a:custGeom>
              <a:avLst/>
              <a:gdLst/>
              <a:ahLst/>
              <a:cxnLst/>
              <a:rect l="l" t="t" r="r" b="b"/>
              <a:pathLst>
                <a:path w="2133600" h="78104">
                  <a:moveTo>
                    <a:pt x="2133599" y="0"/>
                  </a:moveTo>
                  <a:lnTo>
                    <a:pt x="0" y="0"/>
                  </a:lnTo>
                  <a:lnTo>
                    <a:pt x="77723" y="77723"/>
                  </a:lnTo>
                  <a:lnTo>
                    <a:pt x="2057399" y="77723"/>
                  </a:lnTo>
                  <a:lnTo>
                    <a:pt x="2133599" y="0"/>
                  </a:lnTo>
                  <a:close/>
                </a:path>
              </a:pathLst>
            </a:custGeom>
            <a:solidFill>
              <a:srgbClr val="99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62200" y="5871972"/>
              <a:ext cx="2133600" cy="76200"/>
            </a:xfrm>
            <a:custGeom>
              <a:avLst/>
              <a:gdLst/>
              <a:ahLst/>
              <a:cxnLst/>
              <a:rect l="l" t="t" r="r" b="b"/>
              <a:pathLst>
                <a:path w="2133600" h="76200">
                  <a:moveTo>
                    <a:pt x="2057399" y="0"/>
                  </a:moveTo>
                  <a:lnTo>
                    <a:pt x="77723" y="0"/>
                  </a:lnTo>
                  <a:lnTo>
                    <a:pt x="0" y="76199"/>
                  </a:lnTo>
                  <a:lnTo>
                    <a:pt x="2133599" y="76199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6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62200" y="5334000"/>
              <a:ext cx="78105" cy="614680"/>
            </a:xfrm>
            <a:custGeom>
              <a:avLst/>
              <a:gdLst/>
              <a:ahLst/>
              <a:cxnLst/>
              <a:rect l="l" t="t" r="r" b="b"/>
              <a:pathLst>
                <a:path w="78105" h="614679">
                  <a:moveTo>
                    <a:pt x="0" y="0"/>
                  </a:moveTo>
                  <a:lnTo>
                    <a:pt x="0" y="614171"/>
                  </a:lnTo>
                  <a:lnTo>
                    <a:pt x="77723" y="537971"/>
                  </a:lnTo>
                  <a:lnTo>
                    <a:pt x="77723" y="77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19600" y="5334000"/>
              <a:ext cx="76200" cy="614680"/>
            </a:xfrm>
            <a:custGeom>
              <a:avLst/>
              <a:gdLst/>
              <a:ahLst/>
              <a:cxnLst/>
              <a:rect l="l" t="t" r="r" b="b"/>
              <a:pathLst>
                <a:path w="76200" h="614679">
                  <a:moveTo>
                    <a:pt x="76200" y="0"/>
                  </a:moveTo>
                  <a:lnTo>
                    <a:pt x="0" y="77723"/>
                  </a:lnTo>
                  <a:lnTo>
                    <a:pt x="0" y="537971"/>
                  </a:lnTo>
                  <a:lnTo>
                    <a:pt x="76200" y="61417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D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39923" y="5411723"/>
            <a:ext cx="1978660" cy="459105"/>
          </a:xfrm>
          <a:prstGeom prst="rect">
            <a:avLst/>
          </a:prstGeom>
          <a:solidFill>
            <a:srgbClr val="800000"/>
          </a:solidFill>
        </p:spPr>
        <p:txBody>
          <a:bodyPr vert="horz" wrap="square" lIns="0" tIns="2476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95"/>
              </a:spcBef>
            </a:pPr>
            <a:r>
              <a:rPr sz="2400" spc="-5" dirty="0">
                <a:solidFill>
                  <a:srgbClr val="00FF00"/>
                </a:solidFill>
                <a:latin typeface="Calibri"/>
                <a:cs typeface="Calibri"/>
              </a:rPr>
              <a:t>Analog</a:t>
            </a:r>
            <a:r>
              <a:rPr sz="2400" spc="-65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FF00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95787" y="4826507"/>
            <a:ext cx="1371600" cy="850900"/>
          </a:xfrm>
          <a:custGeom>
            <a:avLst/>
            <a:gdLst/>
            <a:ahLst/>
            <a:cxnLst/>
            <a:rect l="l" t="t" r="r" b="b"/>
            <a:pathLst>
              <a:path w="1371600" h="850900">
                <a:moveTo>
                  <a:pt x="876300" y="12192"/>
                </a:moveTo>
                <a:lnTo>
                  <a:pt x="838200" y="12192"/>
                </a:lnTo>
                <a:lnTo>
                  <a:pt x="838200" y="0"/>
                </a:lnTo>
                <a:lnTo>
                  <a:pt x="0" y="0"/>
                </a:lnTo>
                <a:lnTo>
                  <a:pt x="0" y="76200"/>
                </a:lnTo>
                <a:lnTo>
                  <a:pt x="800100" y="76200"/>
                </a:lnTo>
                <a:lnTo>
                  <a:pt x="800100" y="316992"/>
                </a:lnTo>
                <a:lnTo>
                  <a:pt x="876300" y="316992"/>
                </a:lnTo>
                <a:lnTo>
                  <a:pt x="876300" y="12192"/>
                </a:lnTo>
                <a:close/>
              </a:path>
              <a:path w="1371600" h="850900">
                <a:moveTo>
                  <a:pt x="1371600" y="583692"/>
                </a:moveTo>
                <a:lnTo>
                  <a:pt x="1295400" y="545592"/>
                </a:lnTo>
                <a:lnTo>
                  <a:pt x="1143000" y="469392"/>
                </a:lnTo>
                <a:lnTo>
                  <a:pt x="1143000" y="545592"/>
                </a:lnTo>
                <a:lnTo>
                  <a:pt x="876300" y="545592"/>
                </a:lnTo>
                <a:lnTo>
                  <a:pt x="838200" y="545592"/>
                </a:lnTo>
                <a:lnTo>
                  <a:pt x="800100" y="545592"/>
                </a:lnTo>
                <a:lnTo>
                  <a:pt x="800100" y="774192"/>
                </a:lnTo>
                <a:lnTo>
                  <a:pt x="13716" y="774192"/>
                </a:lnTo>
                <a:lnTo>
                  <a:pt x="13716" y="850392"/>
                </a:lnTo>
                <a:lnTo>
                  <a:pt x="800100" y="850392"/>
                </a:lnTo>
                <a:lnTo>
                  <a:pt x="851916" y="850392"/>
                </a:lnTo>
                <a:lnTo>
                  <a:pt x="876300" y="850392"/>
                </a:lnTo>
                <a:lnTo>
                  <a:pt x="876300" y="621792"/>
                </a:lnTo>
                <a:lnTo>
                  <a:pt x="1143000" y="621792"/>
                </a:lnTo>
                <a:lnTo>
                  <a:pt x="1143000" y="697992"/>
                </a:lnTo>
                <a:lnTo>
                  <a:pt x="1295400" y="621792"/>
                </a:lnTo>
                <a:lnTo>
                  <a:pt x="1371600" y="583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63</a:t>
            </a:fld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Digital</a:t>
            </a:r>
            <a:r>
              <a:rPr spc="-250" dirty="0"/>
              <a:t> </a:t>
            </a:r>
            <a:r>
              <a:rPr spc="-60" dirty="0"/>
              <a:t>Transmission…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769826"/>
            <a:ext cx="8689340" cy="48660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110490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schemes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techniques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used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transmit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digitally</a:t>
            </a:r>
            <a:endParaRPr sz="2800">
              <a:latin typeface="Calibri"/>
              <a:cs typeface="Calibri"/>
            </a:endParaRPr>
          </a:p>
          <a:p>
            <a:pPr marL="419100" marR="140335" lvl="1" indent="-182880">
              <a:lnSpc>
                <a:spcPts val="2580"/>
              </a:lnSpc>
              <a:spcBef>
                <a:spcPts val="455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Digital-to-digital</a:t>
            </a:r>
            <a:r>
              <a:rPr sz="2400" b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techniques</a:t>
            </a:r>
            <a:r>
              <a:rPr sz="2400" b="1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3F3F3F"/>
                </a:solidFill>
                <a:latin typeface="Calibri"/>
                <a:cs typeface="Calibri"/>
              </a:rPr>
              <a:t>represent</a:t>
            </a:r>
            <a:r>
              <a:rPr sz="2400" b="1" i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F3F3F"/>
                </a:solidFill>
                <a:latin typeface="Calibri"/>
                <a:cs typeface="Calibri"/>
              </a:rPr>
              <a:t>digital data </a:t>
            </a:r>
            <a:r>
              <a:rPr sz="2400" b="1" i="1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400" b="1" i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2400" b="1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400" b="1" i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endParaRPr sz="24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8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Line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coding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(always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needed)</a:t>
            </a:r>
            <a:endParaRPr sz="18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84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block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coding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(may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 may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be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needed)</a:t>
            </a:r>
            <a:endParaRPr sz="18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8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Scrambling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(may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may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needed)</a:t>
            </a:r>
            <a:endParaRPr sz="1800">
              <a:latin typeface="Calibri"/>
              <a:cs typeface="Calibri"/>
            </a:endParaRPr>
          </a:p>
          <a:p>
            <a:pPr marL="419100" marR="5080" lvl="1" indent="-182880">
              <a:lnSpc>
                <a:spcPts val="2580"/>
              </a:lnSpc>
              <a:spcBef>
                <a:spcPts val="625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Analog-to-digital</a:t>
            </a:r>
            <a:r>
              <a:rPr sz="2400" b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techniques</a:t>
            </a:r>
            <a:r>
              <a:rPr sz="2400" b="1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400" spc="-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3F3F3F"/>
                </a:solidFill>
                <a:latin typeface="Calibri"/>
                <a:cs typeface="Calibri"/>
              </a:rPr>
              <a:t>represent</a:t>
            </a:r>
            <a:r>
              <a:rPr sz="2400" b="1" i="1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3F3F3F"/>
                </a:solidFill>
                <a:latin typeface="Calibri"/>
                <a:cs typeface="Calibri"/>
              </a:rPr>
              <a:t>analog </a:t>
            </a:r>
            <a:r>
              <a:rPr sz="2400" b="1" i="1" spc="-10" dirty="0">
                <a:solidFill>
                  <a:srgbClr val="3F3F3F"/>
                </a:solidFill>
                <a:latin typeface="Calibri"/>
                <a:cs typeface="Calibri"/>
              </a:rPr>
              <a:t>data </a:t>
            </a:r>
            <a:r>
              <a:rPr sz="2400" b="1" i="1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400" b="1" i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2400" b="1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400" b="1" i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endParaRPr sz="24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8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Pulse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code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modulation</a:t>
            </a:r>
            <a:endParaRPr sz="18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8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Delta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endParaRPr sz="1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1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Transmission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modes: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3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parallel</a:t>
            </a:r>
            <a:r>
              <a:rPr sz="24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serial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64</a:t>
            </a:fld>
            <a:endParaRPr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664709"/>
            <a:ext cx="863835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u="none" spc="-40" dirty="0"/>
              <a:t>Digital-to-Digital Conversion - </a:t>
            </a:r>
            <a:r>
              <a:rPr sz="3600" u="none" spc="-40" dirty="0"/>
              <a:t>Line Coding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5" name="object 5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9363" y="1772874"/>
            <a:ext cx="8819515" cy="2534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-2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800" spc="-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text,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numbers,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graphical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images,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audio,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or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video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2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stored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computer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memory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sequences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23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Line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coding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converts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sequence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3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sender,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encoded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into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  <a:p>
            <a:pPr marL="419100" marR="5080" lvl="1" indent="-182880">
              <a:lnSpc>
                <a:spcPts val="2590"/>
              </a:lnSpc>
              <a:spcBef>
                <a:spcPts val="64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At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receiver,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recreated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decoding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digital </a:t>
            </a:r>
            <a:r>
              <a:rPr sz="2400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4271772"/>
            <a:ext cx="7696200" cy="235762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65</a:t>
            </a:fld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01285"/>
            <a:ext cx="39973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40" dirty="0"/>
              <a:t>Block</a:t>
            </a:r>
            <a:r>
              <a:rPr u="none" spc="-190" dirty="0"/>
              <a:t> </a:t>
            </a:r>
            <a:r>
              <a:rPr u="none" spc="-45" dirty="0"/>
              <a:t>Coding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5" name="object 5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7667" y="1610360"/>
            <a:ext cx="8639810" cy="47332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89230" marR="239395" indent="-177165">
              <a:lnSpc>
                <a:spcPts val="2690"/>
              </a:lnSpc>
              <a:spcBef>
                <a:spcPts val="74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How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ensure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synchronization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provide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some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kind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inherent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error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detecting?</a:t>
            </a:r>
            <a:endParaRPr sz="2800" dirty="0">
              <a:latin typeface="Calibri"/>
              <a:cs typeface="Calibri"/>
            </a:endParaRPr>
          </a:p>
          <a:p>
            <a:pPr marL="419100" lvl="1" indent="-183515">
              <a:lnSpc>
                <a:spcPts val="2735"/>
              </a:lnSpc>
              <a:spcBef>
                <a:spcPts val="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Solution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–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need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redundancy</a:t>
            </a:r>
            <a:endParaRPr sz="2400" dirty="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19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Block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coding</a:t>
            </a:r>
            <a:r>
              <a:rPr sz="1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1800" spc="-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give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redundancy</a:t>
            </a:r>
            <a:r>
              <a:rPr sz="1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improve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performance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line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coding</a:t>
            </a:r>
            <a:endParaRPr sz="1800" dirty="0">
              <a:latin typeface="Calibri"/>
              <a:cs typeface="Calibri"/>
            </a:endParaRPr>
          </a:p>
          <a:p>
            <a:pPr marL="189230" marR="555625" indent="-177165">
              <a:lnSpc>
                <a:spcPts val="2690"/>
              </a:lnSpc>
              <a:spcBef>
                <a:spcPts val="154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Block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coding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block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m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20" dirty="0">
                <a:solidFill>
                  <a:srgbClr val="3F3F3F"/>
                </a:solidFill>
                <a:latin typeface="Calibri"/>
                <a:cs typeface="Calibri"/>
              </a:rPr>
              <a:t>into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block</a:t>
            </a:r>
            <a:r>
              <a:rPr sz="2800" i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n </a:t>
            </a:r>
            <a:r>
              <a:rPr sz="2800" i="1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bits,</a:t>
            </a:r>
            <a:r>
              <a:rPr sz="28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where</a:t>
            </a:r>
            <a:r>
              <a:rPr sz="2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&gt;</a:t>
            </a:r>
            <a:r>
              <a:rPr sz="28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endParaRPr sz="2800" dirty="0">
              <a:latin typeface="Calibri"/>
              <a:cs typeface="Calibri"/>
            </a:endParaRPr>
          </a:p>
          <a:p>
            <a:pPr marL="419100" marR="5080" lvl="1" indent="-182880">
              <a:lnSpc>
                <a:spcPct val="80000"/>
              </a:lnSpc>
              <a:spcBef>
                <a:spcPts val="430"/>
              </a:spcBef>
              <a:buClr>
                <a:srgbClr val="1CACE4"/>
              </a:buClr>
              <a:buFont typeface="Calibri"/>
              <a:buChar char="◦"/>
              <a:tabLst>
                <a:tab pos="419734" algn="l"/>
              </a:tabLst>
            </a:pP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referred </a:t>
            </a:r>
            <a:r>
              <a:rPr sz="2400" i="1" spc="-15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as an mB/nB encoding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) </a:t>
            </a:r>
            <a:r>
              <a:rPr sz="24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distinguishes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block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encoding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multilevel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encoding</a:t>
            </a:r>
            <a:endParaRPr sz="2400" dirty="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19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multilevel encoding</a:t>
            </a:r>
            <a:r>
              <a:rPr sz="1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1800" spc="3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written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without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slash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eg.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8B6T</a:t>
            </a:r>
            <a:endParaRPr sz="1800" dirty="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190"/>
              </a:spcBef>
              <a:buClr>
                <a:srgbClr val="1CACE4"/>
              </a:buClr>
              <a:buFont typeface="Calibri"/>
              <a:buChar char="◦"/>
              <a:tabLst>
                <a:tab pos="640715" algn="l"/>
              </a:tabLst>
            </a:pP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it</a:t>
            </a:r>
            <a:r>
              <a:rPr sz="1800" spc="-1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replaces</a:t>
            </a:r>
            <a:r>
              <a:rPr sz="1800" spc="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each</a:t>
            </a:r>
            <a:r>
              <a:rPr sz="1800" spc="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i="1" spc="-10" dirty="0">
                <a:solidFill>
                  <a:srgbClr val="3F3F3F"/>
                </a:solidFill>
                <a:latin typeface="Arial"/>
                <a:cs typeface="Arial"/>
              </a:rPr>
              <a:t>m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-bit</a:t>
            </a:r>
            <a:r>
              <a:rPr sz="1800" spc="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group</a:t>
            </a:r>
            <a:r>
              <a:rPr sz="1800" spc="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Arial MT"/>
                <a:cs typeface="Arial MT"/>
              </a:rPr>
              <a:t>with</a:t>
            </a:r>
            <a:r>
              <a:rPr sz="1800" spc="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an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Arial"/>
                <a:cs typeface="Arial"/>
              </a:rPr>
              <a:t>n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-bit</a:t>
            </a:r>
            <a:r>
              <a:rPr sz="1800" spc="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group</a:t>
            </a:r>
            <a:endParaRPr sz="1800" dirty="0">
              <a:latin typeface="Arial MT"/>
              <a:cs typeface="Arial MT"/>
            </a:endParaRPr>
          </a:p>
          <a:p>
            <a:pPr marL="640080" lvl="2" indent="-183515">
              <a:lnSpc>
                <a:spcPct val="100000"/>
              </a:lnSpc>
              <a:spcBef>
                <a:spcPts val="14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involves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three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steps:</a:t>
            </a:r>
            <a:endParaRPr sz="1800" dirty="0">
              <a:latin typeface="Calibri"/>
              <a:cs typeface="Calibri"/>
            </a:endParaRPr>
          </a:p>
          <a:p>
            <a:pPr marL="817244" lvl="3" indent="-183515">
              <a:lnSpc>
                <a:spcPct val="100000"/>
              </a:lnSpc>
              <a:spcBef>
                <a:spcPts val="165"/>
              </a:spcBef>
              <a:buClr>
                <a:srgbClr val="1CACE4"/>
              </a:buClr>
              <a:buFont typeface="Calibri"/>
              <a:buChar char="◦"/>
              <a:tabLst>
                <a:tab pos="817880" algn="l"/>
              </a:tabLst>
            </a:pPr>
            <a:r>
              <a:rPr sz="1800" b="1" spc="-5" dirty="0">
                <a:solidFill>
                  <a:srgbClr val="3F3F3F"/>
                </a:solidFill>
                <a:latin typeface="Calibri"/>
                <a:cs typeface="Calibri"/>
              </a:rPr>
              <a:t>Division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sequence</a:t>
            </a:r>
            <a:r>
              <a:rPr sz="1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divided</a:t>
            </a:r>
            <a:r>
              <a:rPr sz="1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into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groups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m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endParaRPr sz="1800" dirty="0">
              <a:latin typeface="Calibri"/>
              <a:cs typeface="Calibri"/>
            </a:endParaRPr>
          </a:p>
          <a:p>
            <a:pPr marL="817244" lvl="3" indent="-183515">
              <a:lnSpc>
                <a:spcPct val="100000"/>
              </a:lnSpc>
              <a:spcBef>
                <a:spcPts val="170"/>
              </a:spcBef>
              <a:buClr>
                <a:srgbClr val="1CACE4"/>
              </a:buClr>
              <a:buFont typeface="Calibri"/>
              <a:buChar char="◦"/>
              <a:tabLst>
                <a:tab pos="817880" algn="l"/>
              </a:tabLst>
            </a:pPr>
            <a:r>
              <a:rPr sz="1800" b="1" spc="-5" dirty="0">
                <a:solidFill>
                  <a:srgbClr val="3F3F3F"/>
                </a:solidFill>
                <a:latin typeface="Calibri"/>
                <a:cs typeface="Calibri"/>
              </a:rPr>
              <a:t>Substitution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substitute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m-bit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group with</a:t>
            </a:r>
            <a:r>
              <a:rPr sz="1800" i="1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18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n-bit</a:t>
            </a:r>
            <a:r>
              <a:rPr sz="1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group</a:t>
            </a:r>
            <a:endParaRPr sz="1800" dirty="0">
              <a:latin typeface="Calibri"/>
              <a:cs typeface="Calibri"/>
            </a:endParaRPr>
          </a:p>
          <a:p>
            <a:pPr marL="817244" lvl="3" indent="-183515">
              <a:lnSpc>
                <a:spcPct val="100000"/>
              </a:lnSpc>
              <a:spcBef>
                <a:spcPts val="170"/>
              </a:spcBef>
              <a:buClr>
                <a:srgbClr val="1CACE4"/>
              </a:buClr>
              <a:buFont typeface="Calibri"/>
              <a:buChar char="◦"/>
              <a:tabLst>
                <a:tab pos="817880" algn="l"/>
              </a:tabLst>
            </a:pPr>
            <a:r>
              <a:rPr sz="1800" b="1" spc="-5" dirty="0">
                <a:solidFill>
                  <a:srgbClr val="3F3F3F"/>
                </a:solidFill>
                <a:latin typeface="Calibri"/>
                <a:cs typeface="Calibri"/>
              </a:rPr>
              <a:t>Combination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n-bit </a:t>
            </a:r>
            <a:r>
              <a:rPr sz="1800" i="1" spc="-10" dirty="0">
                <a:solidFill>
                  <a:srgbClr val="3F3F3F"/>
                </a:solidFill>
                <a:latin typeface="Calibri"/>
                <a:cs typeface="Calibri"/>
              </a:rPr>
              <a:t>groups</a:t>
            </a:r>
            <a:r>
              <a:rPr sz="1800" i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are combined</a:t>
            </a:r>
            <a:r>
              <a:rPr sz="18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8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3F3F3F"/>
                </a:solidFill>
                <a:latin typeface="Calibri"/>
                <a:cs typeface="Calibri"/>
              </a:rPr>
              <a:t>form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3F3F3F"/>
                </a:solidFill>
                <a:latin typeface="Calibri"/>
                <a:cs typeface="Calibri"/>
              </a:rPr>
              <a:t>stream</a:t>
            </a:r>
            <a:r>
              <a:rPr sz="1800" i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(n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&gt; m)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66</a:t>
            </a:fld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42" y="664709"/>
            <a:ext cx="39973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40" dirty="0"/>
              <a:t>Block</a:t>
            </a:r>
            <a:r>
              <a:rPr u="none" spc="-190" dirty="0"/>
              <a:t> </a:t>
            </a:r>
            <a:r>
              <a:rPr u="none" spc="-45" dirty="0"/>
              <a:t>Coding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4" name="object 4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1716023"/>
            <a:ext cx="6019799" cy="491337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67</a:t>
            </a:fld>
            <a:endParaRPr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Analog</a:t>
            </a:r>
            <a:r>
              <a:rPr spc="-135" dirty="0"/>
              <a:t> </a:t>
            </a:r>
            <a:r>
              <a:rPr spc="-25" dirty="0"/>
              <a:t>to</a:t>
            </a:r>
            <a:r>
              <a:rPr spc="-125" dirty="0"/>
              <a:t> </a:t>
            </a:r>
            <a:r>
              <a:rPr spc="-45" dirty="0"/>
              <a:t>Digital</a:t>
            </a:r>
            <a:r>
              <a:rPr spc="-120" dirty="0"/>
              <a:t> </a:t>
            </a:r>
            <a:r>
              <a:rPr spc="-45" dirty="0"/>
              <a:t>Conversion</a:t>
            </a:r>
            <a:r>
              <a:rPr spc="114" dirty="0"/>
              <a:t>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643944"/>
            <a:ext cx="8138159" cy="48564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8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600" spc="-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created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microphone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camera</a:t>
            </a:r>
            <a:endParaRPr sz="2600">
              <a:latin typeface="Calibri"/>
              <a:cs typeface="Calibri"/>
            </a:endParaRPr>
          </a:p>
          <a:p>
            <a:pPr marL="189230" marR="408940" indent="-177165">
              <a:lnSpc>
                <a:spcPct val="80000"/>
              </a:lnSpc>
              <a:spcBef>
                <a:spcPts val="140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amplitude 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analog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take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any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value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over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continuous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range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i.e.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take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on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an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infinite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values.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77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take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finite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values.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7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Digital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superior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6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endParaRPr sz="2600">
              <a:latin typeface="Calibri"/>
              <a:cs typeface="Calibri"/>
            </a:endParaRPr>
          </a:p>
          <a:p>
            <a:pPr marL="189230" marR="41910" indent="-177165">
              <a:lnSpc>
                <a:spcPts val="2500"/>
              </a:lnSpc>
              <a:spcBef>
                <a:spcPts val="13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Analog signal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converted into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digital by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sampling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quantizing--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digitization</a:t>
            </a:r>
            <a:endParaRPr sz="2600">
              <a:latin typeface="Calibri"/>
              <a:cs typeface="Calibri"/>
            </a:endParaRPr>
          </a:p>
          <a:p>
            <a:pPr marL="419100" lvl="1" indent="-183515">
              <a:lnSpc>
                <a:spcPts val="254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2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techniques</a:t>
            </a:r>
            <a:endParaRPr sz="22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21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pulse</a:t>
            </a:r>
            <a:r>
              <a:rPr sz="17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code</a:t>
            </a:r>
            <a:r>
              <a:rPr sz="17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endParaRPr sz="17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19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delta</a:t>
            </a:r>
            <a:r>
              <a:rPr sz="17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endParaRPr sz="17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Clr>
                <a:srgbClr val="1CACE4"/>
              </a:buClr>
              <a:buFont typeface="Calibri"/>
              <a:buChar char="◦"/>
            </a:pPr>
            <a:endParaRPr sz="1250">
              <a:latin typeface="Calibri"/>
              <a:cs typeface="Calibri"/>
            </a:endParaRPr>
          </a:p>
          <a:p>
            <a:pPr marL="189230" marR="5080" indent="-177165">
              <a:lnSpc>
                <a:spcPct val="80000"/>
              </a:lnSpc>
              <a:spcBef>
                <a:spcPts val="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Digital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converted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line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coding,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block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coding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scrambling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techniques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68</a:t>
            </a:fld>
            <a:endParaRPr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62244"/>
            <a:ext cx="81070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-45" dirty="0"/>
              <a:t>Pulse</a:t>
            </a:r>
            <a:r>
              <a:rPr sz="4800" u="none" spc="-120" dirty="0"/>
              <a:t> </a:t>
            </a:r>
            <a:r>
              <a:rPr sz="4800" u="none" spc="-40" dirty="0"/>
              <a:t>Code</a:t>
            </a:r>
            <a:r>
              <a:rPr sz="4800" u="none" spc="-110" dirty="0"/>
              <a:t> </a:t>
            </a:r>
            <a:r>
              <a:rPr sz="4800" u="none" spc="-50" dirty="0"/>
              <a:t>Modulation</a:t>
            </a:r>
            <a:r>
              <a:rPr sz="4800" u="none" spc="-75" dirty="0"/>
              <a:t> </a:t>
            </a:r>
            <a:r>
              <a:rPr sz="4800" u="none" spc="-30" dirty="0"/>
              <a:t>(PCM)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697667" y="1516787"/>
            <a:ext cx="7760970" cy="213677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83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Change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(digitization)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ts val="3279"/>
              </a:lnSpc>
              <a:spcBef>
                <a:spcPts val="73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PCM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encoder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has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three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processes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ts val="280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Sampling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-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sampled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ts val="2850"/>
              </a:lnSpc>
              <a:spcBef>
                <a:spcPts val="2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Quantization-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sampled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quantized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ts val="2850"/>
              </a:lnSpc>
              <a:buClr>
                <a:srgbClr val="1CACE4"/>
              </a:buClr>
              <a:buChar char="◦"/>
              <a:tabLst>
                <a:tab pos="419734" algn="l"/>
                <a:tab pos="168719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encoding	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-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quantized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values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encoded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streams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bits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991" y="3733800"/>
            <a:ext cx="6408419" cy="28956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69</a:t>
            </a:fld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35" dirty="0"/>
              <a:t>PCM</a:t>
            </a:r>
            <a:r>
              <a:rPr spc="-145" dirty="0"/>
              <a:t> </a:t>
            </a:r>
            <a:r>
              <a:rPr dirty="0"/>
              <a:t>-</a:t>
            </a:r>
            <a:r>
              <a:rPr spc="-120" dirty="0"/>
              <a:t> </a:t>
            </a:r>
            <a:r>
              <a:rPr spc="-45" dirty="0"/>
              <a:t>Sampling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72267" y="1769826"/>
            <a:ext cx="8568055" cy="29762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14629" marR="615315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analog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sampled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every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775" i="1" spc="-150" baseline="-21021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775" i="1" spc="307" baseline="-2102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s, where</a:t>
            </a:r>
            <a:r>
              <a:rPr sz="2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9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775" i="1" spc="-135" baseline="-21021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775" i="1" spc="-15" baseline="-2102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sample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interval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period</a:t>
            </a:r>
            <a:endParaRPr sz="2800">
              <a:latin typeface="Calibri"/>
              <a:cs typeface="Calibri"/>
            </a:endParaRPr>
          </a:p>
          <a:p>
            <a:pPr marL="444500" lvl="1" indent="-18351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Font typeface="Calibri"/>
              <a:buChar char="◦"/>
              <a:tabLst>
                <a:tab pos="445134" algn="l"/>
              </a:tabLst>
            </a:pP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Called</a:t>
            </a:r>
            <a:r>
              <a:rPr sz="2400" b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4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pulse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amplitude modulation</a:t>
            </a:r>
            <a:r>
              <a:rPr sz="24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spc="-40" dirty="0">
                <a:solidFill>
                  <a:srgbClr val="3F3F3F"/>
                </a:solidFill>
                <a:latin typeface="Calibri"/>
                <a:cs typeface="Calibri"/>
              </a:rPr>
              <a:t>(PAM)</a:t>
            </a:r>
            <a:endParaRPr sz="2400">
              <a:latin typeface="Calibri"/>
              <a:cs typeface="Calibri"/>
            </a:endParaRPr>
          </a:p>
          <a:p>
            <a:pPr marL="444500" lvl="1" indent="-183515">
              <a:lnSpc>
                <a:spcPct val="100000"/>
              </a:lnSpc>
              <a:spcBef>
                <a:spcPts val="325"/>
              </a:spcBef>
              <a:buClr>
                <a:srgbClr val="1CACE4"/>
              </a:buClr>
              <a:buChar char="◦"/>
              <a:tabLst>
                <a:tab pos="4451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Result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analog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nonintegral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values</a:t>
            </a:r>
            <a:endParaRPr sz="2400">
              <a:latin typeface="Calibri"/>
              <a:cs typeface="Calibri"/>
            </a:endParaRPr>
          </a:p>
          <a:p>
            <a:pPr marL="214629" marR="30480" indent="-177165">
              <a:lnSpc>
                <a:spcPts val="3020"/>
              </a:lnSpc>
              <a:spcBef>
                <a:spcPts val="1605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inverse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sampling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interval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called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sampling </a:t>
            </a:r>
            <a:r>
              <a:rPr sz="2800" i="1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5" dirty="0">
                <a:solidFill>
                  <a:srgbClr val="3F3F3F"/>
                </a:solidFill>
                <a:latin typeface="Calibri"/>
                <a:cs typeface="Calibri"/>
              </a:rPr>
              <a:t>rate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or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sampling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denoted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800" i="1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r>
              <a:rPr sz="2775" i="1" spc="-7" baseline="-21021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endParaRPr sz="2775" baseline="-21021">
              <a:latin typeface="Calibri"/>
              <a:cs typeface="Calibri"/>
            </a:endParaRPr>
          </a:p>
          <a:p>
            <a:pPr marL="511809" lvl="1" indent="-250825">
              <a:lnSpc>
                <a:spcPct val="100000"/>
              </a:lnSpc>
              <a:spcBef>
                <a:spcPts val="95"/>
              </a:spcBef>
              <a:buClr>
                <a:srgbClr val="1CACE4"/>
              </a:buClr>
              <a:buFont typeface="Calibri"/>
              <a:buChar char="◦"/>
              <a:tabLst>
                <a:tab pos="511809" algn="l"/>
                <a:tab pos="512445" algn="l"/>
              </a:tabLst>
            </a:pP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r>
              <a:rPr sz="2400" i="1" spc="-15" baseline="-20833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i="1" spc="225" baseline="-20833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4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0" dirty="0">
                <a:solidFill>
                  <a:srgbClr val="3F3F3F"/>
                </a:solidFill>
                <a:latin typeface="Calibri"/>
                <a:cs typeface="Calibri"/>
              </a:rPr>
              <a:t>1/T</a:t>
            </a:r>
            <a:r>
              <a:rPr sz="2400" i="1" spc="-75" baseline="-20833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endParaRPr sz="2400" baseline="-20833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70</a:t>
            </a:fld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0" dirty="0"/>
              <a:t>PCM:</a:t>
            </a:r>
            <a:r>
              <a:rPr spc="-145" dirty="0"/>
              <a:t> </a:t>
            </a:r>
            <a:r>
              <a:rPr spc="-45" dirty="0"/>
              <a:t>Encoding</a:t>
            </a:r>
            <a:r>
              <a:rPr spc="-130" dirty="0"/>
              <a:t> </a:t>
            </a:r>
            <a:r>
              <a:rPr spc="-45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69826"/>
            <a:ext cx="8747125" cy="332295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25654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6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want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digitize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human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voice.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rate,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assuming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8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sample?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b="1" spc="-10" dirty="0">
                <a:solidFill>
                  <a:srgbClr val="A3CDED"/>
                </a:solidFill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  <a:p>
            <a:pPr marL="189230" marR="5080" indent="-177165">
              <a:lnSpc>
                <a:spcPts val="3020"/>
              </a:lnSpc>
              <a:spcBef>
                <a:spcPts val="172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365" dirty="0">
                <a:solidFill>
                  <a:srgbClr val="3F3F3F"/>
                </a:solidFill>
                <a:latin typeface="SimSun"/>
                <a:cs typeface="SimSun"/>
              </a:rPr>
              <a:t>The </a:t>
            </a:r>
            <a:r>
              <a:rPr sz="2800" spc="330" dirty="0">
                <a:solidFill>
                  <a:srgbClr val="3F3F3F"/>
                </a:solidFill>
                <a:latin typeface="SimSun"/>
                <a:cs typeface="SimSun"/>
              </a:rPr>
              <a:t>human </a:t>
            </a:r>
            <a:r>
              <a:rPr sz="2800" spc="30" dirty="0">
                <a:solidFill>
                  <a:srgbClr val="3F3F3F"/>
                </a:solidFill>
                <a:latin typeface="SimSun"/>
                <a:cs typeface="SimSun"/>
              </a:rPr>
              <a:t>voice </a:t>
            </a:r>
            <a:r>
              <a:rPr sz="2800" spc="50" dirty="0">
                <a:solidFill>
                  <a:srgbClr val="3F3F3F"/>
                </a:solidFill>
                <a:latin typeface="SimSun"/>
                <a:cs typeface="SimSun"/>
              </a:rPr>
              <a:t>normally </a:t>
            </a:r>
            <a:r>
              <a:rPr sz="2800" spc="-15" dirty="0">
                <a:solidFill>
                  <a:srgbClr val="3F3F3F"/>
                </a:solidFill>
                <a:latin typeface="SimSun"/>
                <a:cs typeface="SimSun"/>
              </a:rPr>
              <a:t>contains </a:t>
            </a:r>
            <a:r>
              <a:rPr sz="2800" spc="15" dirty="0">
                <a:solidFill>
                  <a:srgbClr val="3F3F3F"/>
                </a:solidFill>
                <a:latin typeface="SimSun"/>
                <a:cs typeface="SimSun"/>
              </a:rPr>
              <a:t>frequencies </a:t>
            </a:r>
            <a:r>
              <a:rPr sz="2800" spc="-1385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-280" dirty="0">
                <a:solidFill>
                  <a:srgbClr val="3F3F3F"/>
                </a:solidFill>
                <a:latin typeface="SimSun"/>
                <a:cs typeface="SimSun"/>
              </a:rPr>
              <a:t>fr</a:t>
            </a:r>
            <a:r>
              <a:rPr sz="2800" spc="595" dirty="0">
                <a:solidFill>
                  <a:srgbClr val="3F3F3F"/>
                </a:solidFill>
                <a:latin typeface="SimSun"/>
                <a:cs typeface="SimSun"/>
              </a:rPr>
              <a:t>om</a:t>
            </a:r>
            <a:r>
              <a:rPr sz="2800" spc="-465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265" dirty="0">
                <a:solidFill>
                  <a:srgbClr val="3F3F3F"/>
                </a:solidFill>
                <a:latin typeface="SimSun"/>
                <a:cs typeface="SimSun"/>
              </a:rPr>
              <a:t>0</a:t>
            </a:r>
            <a:r>
              <a:rPr sz="2800" spc="-465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-400" dirty="0">
                <a:solidFill>
                  <a:srgbClr val="3F3F3F"/>
                </a:solidFill>
                <a:latin typeface="SimSun"/>
                <a:cs typeface="SimSun"/>
              </a:rPr>
              <a:t>t</a:t>
            </a:r>
            <a:r>
              <a:rPr sz="2800" spc="229" dirty="0">
                <a:solidFill>
                  <a:srgbClr val="3F3F3F"/>
                </a:solidFill>
                <a:latin typeface="SimSun"/>
                <a:cs typeface="SimSun"/>
              </a:rPr>
              <a:t>o</a:t>
            </a:r>
            <a:r>
              <a:rPr sz="2800" spc="-450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260" dirty="0">
                <a:solidFill>
                  <a:srgbClr val="3F3F3F"/>
                </a:solidFill>
                <a:latin typeface="SimSun"/>
                <a:cs typeface="SimSun"/>
              </a:rPr>
              <a:t>400</a:t>
            </a:r>
            <a:r>
              <a:rPr sz="2800" spc="265" dirty="0">
                <a:solidFill>
                  <a:srgbClr val="3F3F3F"/>
                </a:solidFill>
                <a:latin typeface="SimSun"/>
                <a:cs typeface="SimSun"/>
              </a:rPr>
              <a:t>0</a:t>
            </a:r>
            <a:r>
              <a:rPr sz="2800" spc="-475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735" dirty="0">
                <a:solidFill>
                  <a:srgbClr val="3F3F3F"/>
                </a:solidFill>
                <a:latin typeface="SimSun"/>
                <a:cs typeface="SimSun"/>
              </a:rPr>
              <a:t>H</a:t>
            </a:r>
            <a:r>
              <a:rPr sz="2800" spc="-5" dirty="0">
                <a:solidFill>
                  <a:srgbClr val="3F3F3F"/>
                </a:solidFill>
                <a:latin typeface="SimSun"/>
                <a:cs typeface="SimSun"/>
              </a:rPr>
              <a:t>z</a:t>
            </a:r>
            <a:endParaRPr sz="2800">
              <a:latin typeface="SimSun"/>
              <a:cs typeface="SimSun"/>
            </a:endParaRPr>
          </a:p>
          <a:p>
            <a:pPr marL="189230" marR="5715" indent="-177165">
              <a:lnSpc>
                <a:spcPts val="3020"/>
              </a:lnSpc>
              <a:spcBef>
                <a:spcPts val="140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285" dirty="0">
                <a:solidFill>
                  <a:srgbClr val="3F3F3F"/>
                </a:solidFill>
                <a:latin typeface="SimSun"/>
                <a:cs typeface="SimSun"/>
              </a:rPr>
              <a:t>So</a:t>
            </a:r>
            <a:r>
              <a:rPr sz="2800" spc="-10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5" dirty="0">
                <a:solidFill>
                  <a:srgbClr val="3F3F3F"/>
                </a:solidFill>
                <a:latin typeface="SimSun"/>
                <a:cs typeface="SimSun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65" dirty="0">
                <a:solidFill>
                  <a:srgbClr val="3F3F3F"/>
                </a:solidFill>
                <a:latin typeface="SimSun"/>
                <a:cs typeface="SimSun"/>
              </a:rPr>
              <a:t>sampling</a:t>
            </a:r>
            <a:r>
              <a:rPr sz="2800" spc="20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-65" dirty="0">
                <a:solidFill>
                  <a:srgbClr val="3F3F3F"/>
                </a:solidFill>
                <a:latin typeface="SimSun"/>
                <a:cs typeface="SimSun"/>
              </a:rPr>
              <a:t>rate</a:t>
            </a:r>
            <a:r>
              <a:rPr sz="2800" spc="-10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170" dirty="0">
                <a:solidFill>
                  <a:srgbClr val="3F3F3F"/>
                </a:solidFill>
                <a:latin typeface="SimSun"/>
                <a:cs typeface="SimSun"/>
              </a:rPr>
              <a:t>and</a:t>
            </a:r>
            <a:r>
              <a:rPr sz="2800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-265" dirty="0">
                <a:solidFill>
                  <a:srgbClr val="3F3F3F"/>
                </a:solidFill>
                <a:latin typeface="SimSun"/>
                <a:cs typeface="SimSun"/>
              </a:rPr>
              <a:t>bit</a:t>
            </a:r>
            <a:r>
              <a:rPr sz="2800" spc="5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-65" dirty="0">
                <a:solidFill>
                  <a:srgbClr val="3F3F3F"/>
                </a:solidFill>
                <a:latin typeface="SimSun"/>
                <a:cs typeface="SimSun"/>
              </a:rPr>
              <a:t>rate</a:t>
            </a:r>
            <a:r>
              <a:rPr sz="2800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45" dirty="0">
                <a:solidFill>
                  <a:srgbClr val="3F3F3F"/>
                </a:solidFill>
                <a:latin typeface="SimSun"/>
                <a:cs typeface="SimSun"/>
              </a:rPr>
              <a:t>are</a:t>
            </a:r>
            <a:r>
              <a:rPr sz="2800" spc="-10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-55" dirty="0">
                <a:solidFill>
                  <a:srgbClr val="3F3F3F"/>
                </a:solidFill>
                <a:latin typeface="SimSun"/>
                <a:cs typeface="SimSun"/>
              </a:rPr>
              <a:t>calculated </a:t>
            </a:r>
            <a:r>
              <a:rPr sz="2800" spc="-1385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105" dirty="0">
                <a:solidFill>
                  <a:srgbClr val="3F3F3F"/>
                </a:solidFill>
                <a:latin typeface="SimSun"/>
                <a:cs typeface="SimSun"/>
              </a:rPr>
              <a:t>a</a:t>
            </a:r>
            <a:r>
              <a:rPr sz="2800" spc="50" dirty="0">
                <a:solidFill>
                  <a:srgbClr val="3F3F3F"/>
                </a:solidFill>
                <a:latin typeface="SimSun"/>
                <a:cs typeface="SimSun"/>
              </a:rPr>
              <a:t>s</a:t>
            </a:r>
            <a:r>
              <a:rPr sz="2800" spc="-475" dirty="0">
                <a:solidFill>
                  <a:srgbClr val="3F3F3F"/>
                </a:solidFill>
                <a:latin typeface="SimSun"/>
                <a:cs typeface="SimSun"/>
              </a:rPr>
              <a:t> </a:t>
            </a:r>
            <a:r>
              <a:rPr sz="2800" spc="-45" dirty="0">
                <a:solidFill>
                  <a:srgbClr val="3F3F3F"/>
                </a:solidFill>
                <a:latin typeface="SimSun"/>
                <a:cs typeface="SimSun"/>
              </a:rPr>
              <a:t>follow</a:t>
            </a:r>
            <a:r>
              <a:rPr sz="2800" spc="50" dirty="0">
                <a:solidFill>
                  <a:srgbClr val="3F3F3F"/>
                </a:solidFill>
                <a:latin typeface="SimSun"/>
                <a:cs typeface="SimSun"/>
              </a:rPr>
              <a:t>s</a:t>
            </a:r>
            <a:r>
              <a:rPr sz="2800" spc="-470" dirty="0">
                <a:solidFill>
                  <a:srgbClr val="3F3F3F"/>
                </a:solidFill>
                <a:latin typeface="SimSun"/>
                <a:cs typeface="SimSun"/>
              </a:rPr>
              <a:t>:</a:t>
            </a:r>
            <a:endParaRPr sz="2800">
              <a:latin typeface="SimSun"/>
              <a:cs typeface="SimSu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29839" y="5458459"/>
            <a:ext cx="5000625" cy="772160"/>
            <a:chOff x="2529839" y="5458459"/>
            <a:chExt cx="5000625" cy="7721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751" y="5522975"/>
              <a:ext cx="4887467" cy="6507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29827" y="5458459"/>
              <a:ext cx="5000625" cy="772160"/>
            </a:xfrm>
            <a:custGeom>
              <a:avLst/>
              <a:gdLst/>
              <a:ahLst/>
              <a:cxnLst/>
              <a:rect l="l" t="t" r="r" b="b"/>
              <a:pathLst>
                <a:path w="5000625" h="772160">
                  <a:moveTo>
                    <a:pt x="4954524" y="45720"/>
                  </a:moveTo>
                  <a:lnTo>
                    <a:pt x="4943856" y="45720"/>
                  </a:lnTo>
                  <a:lnTo>
                    <a:pt x="4943856" y="57150"/>
                  </a:lnTo>
                  <a:lnTo>
                    <a:pt x="4943856" y="713740"/>
                  </a:lnTo>
                  <a:lnTo>
                    <a:pt x="56388" y="713740"/>
                  </a:lnTo>
                  <a:lnTo>
                    <a:pt x="56388" y="57150"/>
                  </a:lnTo>
                  <a:lnTo>
                    <a:pt x="4943856" y="57150"/>
                  </a:lnTo>
                  <a:lnTo>
                    <a:pt x="4943856" y="45720"/>
                  </a:lnTo>
                  <a:lnTo>
                    <a:pt x="45720" y="45720"/>
                  </a:lnTo>
                  <a:lnTo>
                    <a:pt x="45720" y="57150"/>
                  </a:lnTo>
                  <a:lnTo>
                    <a:pt x="45720" y="713740"/>
                  </a:lnTo>
                  <a:lnTo>
                    <a:pt x="45720" y="726440"/>
                  </a:lnTo>
                  <a:lnTo>
                    <a:pt x="4954524" y="726440"/>
                  </a:lnTo>
                  <a:lnTo>
                    <a:pt x="4954524" y="713740"/>
                  </a:lnTo>
                  <a:lnTo>
                    <a:pt x="4954524" y="57150"/>
                  </a:lnTo>
                  <a:lnTo>
                    <a:pt x="4954524" y="56896"/>
                  </a:lnTo>
                  <a:lnTo>
                    <a:pt x="4954524" y="45720"/>
                  </a:lnTo>
                  <a:close/>
                </a:path>
                <a:path w="5000625" h="772160">
                  <a:moveTo>
                    <a:pt x="5000244" y="0"/>
                  </a:moveTo>
                  <a:lnTo>
                    <a:pt x="4966716" y="0"/>
                  </a:lnTo>
                  <a:lnTo>
                    <a:pt x="4966716" y="34290"/>
                  </a:lnTo>
                  <a:lnTo>
                    <a:pt x="4966716" y="736600"/>
                  </a:lnTo>
                  <a:lnTo>
                    <a:pt x="33528" y="736600"/>
                  </a:lnTo>
                  <a:lnTo>
                    <a:pt x="33528" y="34290"/>
                  </a:lnTo>
                  <a:lnTo>
                    <a:pt x="4966716" y="34290"/>
                  </a:lnTo>
                  <a:lnTo>
                    <a:pt x="4966716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0" y="736600"/>
                  </a:lnTo>
                  <a:lnTo>
                    <a:pt x="0" y="772160"/>
                  </a:lnTo>
                  <a:lnTo>
                    <a:pt x="5000244" y="772160"/>
                  </a:lnTo>
                  <a:lnTo>
                    <a:pt x="5000244" y="736600"/>
                  </a:lnTo>
                  <a:lnTo>
                    <a:pt x="5000244" y="34290"/>
                  </a:lnTo>
                  <a:lnTo>
                    <a:pt x="5000244" y="34036"/>
                  </a:lnTo>
                  <a:lnTo>
                    <a:pt x="5000244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71</a:t>
            </a:fld>
            <a:endParaRPr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42" y="650992"/>
            <a:ext cx="81603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none" spc="-40" dirty="0">
                <a:latin typeface="Arial"/>
                <a:cs typeface="Arial"/>
              </a:rPr>
              <a:t>PCM:</a:t>
            </a:r>
            <a:r>
              <a:rPr b="1" u="none" spc="-145" dirty="0">
                <a:latin typeface="Arial"/>
                <a:cs typeface="Arial"/>
              </a:rPr>
              <a:t> </a:t>
            </a:r>
            <a:r>
              <a:rPr b="1" u="none" spc="-35" dirty="0">
                <a:latin typeface="Arial"/>
                <a:cs typeface="Arial"/>
              </a:rPr>
              <a:t>The</a:t>
            </a:r>
            <a:r>
              <a:rPr b="1" u="none" spc="-125" dirty="0">
                <a:latin typeface="Arial"/>
                <a:cs typeface="Arial"/>
              </a:rPr>
              <a:t> </a:t>
            </a:r>
            <a:r>
              <a:rPr b="1" u="none" spc="-40" dirty="0">
                <a:latin typeface="Arial"/>
                <a:cs typeface="Arial"/>
              </a:rPr>
              <a:t>Whole</a:t>
            </a:r>
            <a:r>
              <a:rPr b="1" u="none" spc="-140" dirty="0">
                <a:latin typeface="Arial"/>
                <a:cs typeface="Arial"/>
              </a:rPr>
              <a:t> </a:t>
            </a:r>
            <a:r>
              <a:rPr b="1" u="none" spc="-45" dirty="0">
                <a:latin typeface="Arial"/>
                <a:cs typeface="Arial"/>
              </a:rPr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4" name="object 4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455" y="1981199"/>
            <a:ext cx="7367016" cy="451103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72</a:t>
            </a:fld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94248"/>
            <a:ext cx="80035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-45" dirty="0"/>
              <a:t>Minimum</a:t>
            </a:r>
            <a:r>
              <a:rPr sz="4800" u="none" spc="-114" dirty="0"/>
              <a:t> </a:t>
            </a:r>
            <a:r>
              <a:rPr sz="4800" u="none" spc="-50" dirty="0"/>
              <a:t>Required</a:t>
            </a:r>
            <a:r>
              <a:rPr sz="4800" u="none" spc="-80" dirty="0"/>
              <a:t> </a:t>
            </a:r>
            <a:r>
              <a:rPr sz="4800" u="none" spc="-50" dirty="0"/>
              <a:t>Bandwidth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672267" y="1769826"/>
            <a:ext cx="7862570" cy="8178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14629" marR="30480" indent="-177165">
              <a:lnSpc>
                <a:spcPts val="2880"/>
              </a:lnSpc>
              <a:spcBef>
                <a:spcPts val="590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be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proved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minimum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g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800" spc="-4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al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s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g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nal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775" b="1" i="1" spc="7" baseline="-21021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2775" b="1" i="1" spc="15" baseline="-21021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775" b="1" i="1" baseline="-2102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775" b="1" i="1" spc="-307" baseline="-2102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800" b="1" i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775" b="1" i="1" spc="15" baseline="-21021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775" b="1" i="1" baseline="-2102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775" b="1" i="1" spc="-307" baseline="-2102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b="1" i="1" spc="-655" dirty="0">
                <a:solidFill>
                  <a:srgbClr val="3F3F3F"/>
                </a:solidFill>
                <a:latin typeface="Arial"/>
                <a:cs typeface="Arial"/>
              </a:rPr>
              <a:t>×</a:t>
            </a:r>
            <a:r>
              <a:rPr sz="2800" b="1" i="1" spc="-13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775" b="1" i="1" baseline="-21021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775" b="1" i="1" spc="7" baseline="-21021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775" b="1" i="1" baseline="-21021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775" b="1" i="1" spc="15" baseline="-21021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775" b="1" i="1" spc="7" baseline="-21021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775" b="1" i="1" spc="15" baseline="-21021" dirty="0">
                <a:solidFill>
                  <a:srgbClr val="3F3F3F"/>
                </a:solidFill>
                <a:latin typeface="Calibri"/>
                <a:cs typeface="Calibri"/>
              </a:rPr>
              <a:t>g</a:t>
            </a:r>
            <a:endParaRPr sz="2775" baseline="-21021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73</a:t>
            </a:fld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01285"/>
            <a:ext cx="67659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40" dirty="0"/>
              <a:t>Delta</a:t>
            </a:r>
            <a:r>
              <a:rPr u="none" spc="-165" dirty="0"/>
              <a:t> </a:t>
            </a:r>
            <a:r>
              <a:rPr u="none" spc="-45" dirty="0"/>
              <a:t>Modulation</a:t>
            </a:r>
            <a:r>
              <a:rPr u="none" spc="-160" dirty="0"/>
              <a:t> </a:t>
            </a:r>
            <a:r>
              <a:rPr u="none" spc="-25" dirty="0"/>
              <a:t>(DM)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5" name="object 5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7667" y="1510385"/>
            <a:ext cx="8519160" cy="512699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119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PCM</a:t>
            </a:r>
            <a:r>
              <a:rPr sz="26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very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complex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technique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9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Delta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modulation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reduce</a:t>
            </a:r>
            <a:r>
              <a:rPr sz="26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complexity</a:t>
            </a:r>
            <a:r>
              <a:rPr sz="26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PCM</a:t>
            </a:r>
            <a:endParaRPr sz="2600">
              <a:latin typeface="Calibri"/>
              <a:cs typeface="Calibri"/>
            </a:endParaRPr>
          </a:p>
          <a:p>
            <a:pPr marL="189230" marR="5080" indent="-177165">
              <a:lnSpc>
                <a:spcPts val="2830"/>
              </a:lnSpc>
              <a:spcBef>
                <a:spcPts val="142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PCM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finds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value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 amplitude 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each sample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whereas</a:t>
            </a:r>
            <a:r>
              <a:rPr sz="26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DM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finds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change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previous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sample</a:t>
            </a:r>
            <a:r>
              <a:rPr sz="26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600" spc="-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endParaRPr sz="26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4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DM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600" spc="-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code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words;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sent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after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another</a:t>
            </a:r>
            <a:endParaRPr sz="2600">
              <a:latin typeface="Calibri"/>
              <a:cs typeface="Calibri"/>
            </a:endParaRPr>
          </a:p>
          <a:p>
            <a:pPr marL="419100" marR="154940" lvl="1" indent="-182880">
              <a:lnSpc>
                <a:spcPts val="2380"/>
              </a:lnSpc>
              <a:spcBef>
                <a:spcPts val="434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Modulator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used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sender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site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create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stream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from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200" spc="-48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2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200">
              <a:latin typeface="Calibri"/>
              <a:cs typeface="Calibri"/>
            </a:endParaRPr>
          </a:p>
          <a:p>
            <a:pPr marL="419100" marR="181610" lvl="1" indent="-182880">
              <a:lnSpc>
                <a:spcPts val="2380"/>
              </a:lnSpc>
              <a:spcBef>
                <a:spcPts val="59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Demodulator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used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at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receiver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site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creates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from </a:t>
            </a:r>
            <a:r>
              <a:rPr sz="2200" spc="-48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received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digital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  <a:p>
            <a:pPr marL="189230" marR="655320" indent="-177165">
              <a:lnSpc>
                <a:spcPts val="2800"/>
              </a:lnSpc>
              <a:spcBef>
                <a:spcPts val="160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DM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perfect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600" spc="-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Quantization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error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introduced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in the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process</a:t>
            </a:r>
            <a:endParaRPr sz="26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14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quantization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error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DM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much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less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than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PCM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74</a:t>
            </a:fld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0" dirty="0"/>
              <a:t>DM...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769826"/>
            <a:ext cx="8715375" cy="29210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process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records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small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positive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negative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changes,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called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delta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δ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0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delta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positive,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process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records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31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negative,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process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records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23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better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performance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achieved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δ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fixed</a:t>
            </a:r>
            <a:endParaRPr sz="2800">
              <a:latin typeface="Calibri"/>
              <a:cs typeface="Calibri"/>
            </a:endParaRPr>
          </a:p>
          <a:p>
            <a:pPr marL="419100" marR="406400" lvl="1" indent="-182880">
              <a:lnSpc>
                <a:spcPts val="2590"/>
              </a:lnSpc>
              <a:spcBef>
                <a:spcPts val="46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Adaptive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delta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4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-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δ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changes according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the</a:t>
            </a:r>
            <a:r>
              <a:rPr sz="24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4724400"/>
            <a:ext cx="5943599" cy="226771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75</a:t>
            </a:fld>
            <a:endParaRPr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99" y="777092"/>
            <a:ext cx="77825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-5" dirty="0"/>
              <a:t>Digital-to-Analog</a:t>
            </a:r>
            <a:r>
              <a:rPr sz="4800" u="none" dirty="0"/>
              <a:t> </a:t>
            </a:r>
            <a:r>
              <a:rPr sz="4800" u="none" spc="-5" dirty="0"/>
              <a:t>Conversion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4951"/>
              <a:ext cx="9142730" cy="3175"/>
            </a:xfrm>
            <a:custGeom>
              <a:avLst/>
              <a:gdLst/>
              <a:ahLst/>
              <a:cxnLst/>
              <a:rect l="l" t="t" r="r" b="b"/>
              <a:pathLst>
                <a:path w="9142730" h="3175">
                  <a:moveTo>
                    <a:pt x="0" y="3047"/>
                  </a:moveTo>
                  <a:lnTo>
                    <a:pt x="9142475" y="304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0247" y="6858000"/>
              <a:ext cx="9139555" cy="455930"/>
            </a:xfrm>
            <a:custGeom>
              <a:avLst/>
              <a:gdLst/>
              <a:ahLst/>
              <a:cxnLst/>
              <a:rect l="l" t="t" r="r" b="b"/>
              <a:pathLst>
                <a:path w="9139555" h="455929">
                  <a:moveTo>
                    <a:pt x="9139427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39427" y="455675"/>
                  </a:lnTo>
                  <a:lnTo>
                    <a:pt x="9139427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1460" cy="62865"/>
            </a:xfrm>
            <a:custGeom>
              <a:avLst/>
              <a:gdLst/>
              <a:ahLst/>
              <a:cxnLst/>
              <a:rect l="l" t="t" r="r" b="b"/>
              <a:pathLst>
                <a:path w="9141460" h="62865">
                  <a:moveTo>
                    <a:pt x="9140951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140951" y="62484"/>
                  </a:lnTo>
                  <a:lnTo>
                    <a:pt x="9140951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2859" y="1812319"/>
            <a:ext cx="8662670" cy="2527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6055" marR="5080" indent="-17399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6690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Digital-to-analog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process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changing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one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characteristics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based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information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when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band-pass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available</a:t>
            </a:r>
            <a:endParaRPr sz="2800">
              <a:latin typeface="Calibri"/>
              <a:cs typeface="Calibri"/>
            </a:endParaRPr>
          </a:p>
          <a:p>
            <a:pPr marL="192405" indent="-180340">
              <a:lnSpc>
                <a:spcPct val="100000"/>
              </a:lnSpc>
              <a:buFont typeface="Arial MT"/>
              <a:buChar char="•"/>
              <a:tabLst>
                <a:tab pos="193040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Required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send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over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band-pass</a:t>
            </a:r>
            <a:r>
              <a:rPr sz="28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endParaRPr sz="2800">
              <a:latin typeface="Calibri"/>
              <a:cs typeface="Calibri"/>
            </a:endParaRPr>
          </a:p>
          <a:p>
            <a:pPr marL="577850" lvl="1" indent="-108585">
              <a:lnSpc>
                <a:spcPct val="100000"/>
              </a:lnSpc>
              <a:spcBef>
                <a:spcPts val="25"/>
              </a:spcBef>
              <a:buSzPct val="95833"/>
              <a:buChar char="◦"/>
              <a:tabLst>
                <a:tab pos="57848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Also</a:t>
            </a: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known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00AF4F"/>
                </a:solidFill>
                <a:latin typeface="Calibri"/>
                <a:cs typeface="Calibri"/>
              </a:rPr>
              <a:t>modulation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4419600"/>
            <a:ext cx="6309359" cy="184403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649299" y="6265459"/>
            <a:ext cx="1896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80808"/>
                </a:solidFill>
                <a:latin typeface="Calibri"/>
                <a:cs typeface="Calibri"/>
              </a:rPr>
              <a:t>(band-pass</a:t>
            </a:r>
            <a:r>
              <a:rPr sz="1800" spc="-35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80808"/>
                </a:solidFill>
                <a:latin typeface="Calibri"/>
                <a:cs typeface="Calibri"/>
              </a:rPr>
              <a:t>channel)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6324600"/>
            <a:ext cx="717803" cy="58674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99" y="777092"/>
            <a:ext cx="75819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-5" dirty="0"/>
              <a:t>Digital-to-analog</a:t>
            </a:r>
            <a:r>
              <a:rPr sz="4800" u="none" spc="5" dirty="0"/>
              <a:t> </a:t>
            </a:r>
            <a:r>
              <a:rPr sz="4800" u="none" spc="-5" dirty="0"/>
              <a:t>conversion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4951"/>
              <a:ext cx="9142730" cy="3175"/>
            </a:xfrm>
            <a:custGeom>
              <a:avLst/>
              <a:gdLst/>
              <a:ahLst/>
              <a:cxnLst/>
              <a:rect l="l" t="t" r="r" b="b"/>
              <a:pathLst>
                <a:path w="9142730" h="3175">
                  <a:moveTo>
                    <a:pt x="0" y="3047"/>
                  </a:moveTo>
                  <a:lnTo>
                    <a:pt x="9142475" y="304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0247" y="6858000"/>
              <a:ext cx="9139555" cy="455930"/>
            </a:xfrm>
            <a:custGeom>
              <a:avLst/>
              <a:gdLst/>
              <a:ahLst/>
              <a:cxnLst/>
              <a:rect l="l" t="t" r="r" b="b"/>
              <a:pathLst>
                <a:path w="9139555" h="455929">
                  <a:moveTo>
                    <a:pt x="9139427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39427" y="455675"/>
                  </a:lnTo>
                  <a:lnTo>
                    <a:pt x="9139427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1460" cy="62865"/>
            </a:xfrm>
            <a:custGeom>
              <a:avLst/>
              <a:gdLst/>
              <a:ahLst/>
              <a:cxnLst/>
              <a:rect l="l" t="t" r="r" b="b"/>
              <a:pathLst>
                <a:path w="9141460" h="62865">
                  <a:moveTo>
                    <a:pt x="9140951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140951" y="62484"/>
                  </a:lnTo>
                  <a:lnTo>
                    <a:pt x="9140951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9300" y="1610360"/>
            <a:ext cx="8495030" cy="3020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indent="-18034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93040" algn="l"/>
              </a:tabLst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Four</a:t>
            </a:r>
            <a:r>
              <a:rPr sz="2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methods:</a:t>
            </a:r>
            <a:endParaRPr sz="2800">
              <a:latin typeface="Calibri"/>
              <a:cs typeface="Calibri"/>
            </a:endParaRPr>
          </a:p>
          <a:p>
            <a:pPr marL="731520" marR="162560" lvl="1" indent="-262255">
              <a:lnSpc>
                <a:spcPts val="2320"/>
              </a:lnSpc>
              <a:spcBef>
                <a:spcPts val="570"/>
              </a:spcBef>
              <a:buChar char="◦"/>
              <a:tabLst>
                <a:tab pos="731520" algn="l"/>
                <a:tab pos="73215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shift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keying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(ASK):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1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changed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1800" spc="-3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731520" marR="214629" lvl="1" indent="-262255">
              <a:lnSpc>
                <a:spcPts val="2320"/>
              </a:lnSpc>
              <a:spcBef>
                <a:spcPts val="400"/>
              </a:spcBef>
              <a:buChar char="◦"/>
              <a:tabLst>
                <a:tab pos="731520" algn="l"/>
                <a:tab pos="73215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shift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keying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(FSK):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1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changed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1800" spc="-3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731520" marR="257175" lvl="1" indent="-262255">
              <a:lnSpc>
                <a:spcPts val="2320"/>
              </a:lnSpc>
              <a:spcBef>
                <a:spcPts val="400"/>
              </a:spcBef>
              <a:buChar char="◦"/>
              <a:tabLst>
                <a:tab pos="731520" algn="l"/>
                <a:tab pos="73215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shift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keying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(PSK):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a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signal is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changed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represent </a:t>
            </a:r>
            <a:r>
              <a:rPr sz="1800" spc="-3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731520" marR="5080" lvl="1" indent="-262255">
              <a:lnSpc>
                <a:spcPts val="2320"/>
              </a:lnSpc>
              <a:spcBef>
                <a:spcPts val="395"/>
              </a:spcBef>
              <a:buChar char="◦"/>
              <a:tabLst>
                <a:tab pos="731520" algn="l"/>
                <a:tab pos="732155" algn="l"/>
              </a:tabLst>
            </a:pP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Quadrature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modulation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(QAM):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both</a:t>
            </a:r>
            <a:r>
              <a:rPr sz="1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1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phase </a:t>
            </a:r>
            <a:r>
              <a:rPr sz="1800" spc="-3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changed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represent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4876800"/>
            <a:ext cx="4953000" cy="1702307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99" y="777092"/>
            <a:ext cx="59537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-5" dirty="0"/>
              <a:t>Amplitude shift</a:t>
            </a:r>
            <a:r>
              <a:rPr sz="4800" u="none" spc="-10" dirty="0"/>
              <a:t> </a:t>
            </a:r>
            <a:r>
              <a:rPr sz="4800" u="none" spc="-5" dirty="0"/>
              <a:t>keying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4951"/>
              <a:ext cx="9142730" cy="3175"/>
            </a:xfrm>
            <a:custGeom>
              <a:avLst/>
              <a:gdLst/>
              <a:ahLst/>
              <a:cxnLst/>
              <a:rect l="l" t="t" r="r" b="b"/>
              <a:pathLst>
                <a:path w="9142730" h="3175">
                  <a:moveTo>
                    <a:pt x="0" y="3047"/>
                  </a:moveTo>
                  <a:lnTo>
                    <a:pt x="9142475" y="304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0247" y="6858000"/>
              <a:ext cx="9139555" cy="455930"/>
            </a:xfrm>
            <a:custGeom>
              <a:avLst/>
              <a:gdLst/>
              <a:ahLst/>
              <a:cxnLst/>
              <a:rect l="l" t="t" r="r" b="b"/>
              <a:pathLst>
                <a:path w="9139555" h="455929">
                  <a:moveTo>
                    <a:pt x="9139427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39427" y="455675"/>
                  </a:lnTo>
                  <a:lnTo>
                    <a:pt x="9139427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1460" cy="62865"/>
            </a:xfrm>
            <a:custGeom>
              <a:avLst/>
              <a:gdLst/>
              <a:ahLst/>
              <a:cxnLst/>
              <a:rect l="l" t="t" r="r" b="b"/>
              <a:pathLst>
                <a:path w="9141460" h="62865">
                  <a:moveTo>
                    <a:pt x="9140951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140951" y="62484"/>
                  </a:lnTo>
                  <a:lnTo>
                    <a:pt x="9140951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2859" y="1812319"/>
            <a:ext cx="8131175" cy="3320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93040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varied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create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elements</a:t>
            </a:r>
            <a:endParaRPr sz="2800">
              <a:latin typeface="Calibri"/>
              <a:cs typeface="Calibri"/>
            </a:endParaRPr>
          </a:p>
          <a:p>
            <a:pPr marL="192405" marR="301625" indent="-180340">
              <a:lnSpc>
                <a:spcPct val="100000"/>
              </a:lnSpc>
              <a:buFont typeface="Arial MT"/>
              <a:buChar char="•"/>
              <a:tabLst>
                <a:tab pos="193040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Both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remain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constant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while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endParaRPr sz="2800">
              <a:latin typeface="Calibri"/>
              <a:cs typeface="Calibri"/>
            </a:endParaRPr>
          </a:p>
          <a:p>
            <a:pPr marL="192405" indent="-180340">
              <a:lnSpc>
                <a:spcPct val="100000"/>
              </a:lnSpc>
              <a:buFont typeface="Arial MT"/>
              <a:buChar char="•"/>
              <a:tabLst>
                <a:tab pos="193040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Binary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ASK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(BASK)</a:t>
            </a:r>
            <a:endParaRPr sz="2800">
              <a:latin typeface="Calibri"/>
              <a:cs typeface="Calibri"/>
            </a:endParaRPr>
          </a:p>
          <a:p>
            <a:pPr marL="577850" lvl="1" indent="-108585">
              <a:lnSpc>
                <a:spcPts val="2865"/>
              </a:lnSpc>
              <a:spcBef>
                <a:spcPts val="25"/>
              </a:spcBef>
              <a:buSzPct val="95833"/>
              <a:buChar char="◦"/>
              <a:tabLst>
                <a:tab pos="57848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uses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endParaRPr sz="2400">
              <a:latin typeface="Calibri"/>
              <a:cs typeface="Calibri"/>
            </a:endParaRPr>
          </a:p>
          <a:p>
            <a:pPr marL="192405" indent="-180340">
              <a:lnSpc>
                <a:spcPts val="3345"/>
              </a:lnSpc>
              <a:buFont typeface="Arial MT"/>
              <a:buChar char="•"/>
              <a:tabLst>
                <a:tab pos="193040" algn="l"/>
              </a:tabLst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Multilevel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ASK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(implemented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QAM)</a:t>
            </a:r>
            <a:endParaRPr sz="2800">
              <a:latin typeface="Calibri"/>
              <a:cs typeface="Calibri"/>
            </a:endParaRPr>
          </a:p>
          <a:p>
            <a:pPr marL="577850" lvl="1" indent="-108585">
              <a:lnSpc>
                <a:spcPct val="100000"/>
              </a:lnSpc>
              <a:spcBef>
                <a:spcPts val="30"/>
              </a:spcBef>
              <a:buSzPct val="95833"/>
              <a:buChar char="◦"/>
              <a:tabLst>
                <a:tab pos="578485" algn="l"/>
              </a:tabLst>
            </a:pP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more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than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99" y="777092"/>
            <a:ext cx="80168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-5" dirty="0"/>
              <a:t>Binary</a:t>
            </a:r>
            <a:r>
              <a:rPr sz="4800" u="none" spc="-275" dirty="0"/>
              <a:t> </a:t>
            </a:r>
            <a:r>
              <a:rPr sz="4800" u="none" spc="-5" dirty="0"/>
              <a:t>Amplitude Shift</a:t>
            </a:r>
            <a:r>
              <a:rPr sz="4800" u="none" spc="-10" dirty="0"/>
              <a:t> </a:t>
            </a:r>
            <a:r>
              <a:rPr sz="4800" u="none" spc="-5" dirty="0"/>
              <a:t>Keying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4951"/>
              <a:ext cx="9142730" cy="3175"/>
            </a:xfrm>
            <a:custGeom>
              <a:avLst/>
              <a:gdLst/>
              <a:ahLst/>
              <a:cxnLst/>
              <a:rect l="l" t="t" r="r" b="b"/>
              <a:pathLst>
                <a:path w="9142730" h="3175">
                  <a:moveTo>
                    <a:pt x="0" y="3047"/>
                  </a:moveTo>
                  <a:lnTo>
                    <a:pt x="9142475" y="304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0247" y="6858000"/>
              <a:ext cx="9139555" cy="455930"/>
            </a:xfrm>
            <a:custGeom>
              <a:avLst/>
              <a:gdLst/>
              <a:ahLst/>
              <a:cxnLst/>
              <a:rect l="l" t="t" r="r" b="b"/>
              <a:pathLst>
                <a:path w="9139555" h="455929">
                  <a:moveTo>
                    <a:pt x="9139427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39427" y="455675"/>
                  </a:lnTo>
                  <a:lnTo>
                    <a:pt x="9139427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1460" cy="62865"/>
            </a:xfrm>
            <a:custGeom>
              <a:avLst/>
              <a:gdLst/>
              <a:ahLst/>
              <a:cxnLst/>
              <a:rect l="l" t="t" r="r" b="b"/>
              <a:pathLst>
                <a:path w="9141460" h="62865">
                  <a:moveTo>
                    <a:pt x="9140951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140951" y="62484"/>
                  </a:lnTo>
                  <a:lnTo>
                    <a:pt x="9140951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2859" y="1686560"/>
            <a:ext cx="8267065" cy="2501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1940" marR="5080" indent="-2698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8257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Several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(kinds)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elements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different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exists</a:t>
            </a:r>
            <a:endParaRPr sz="2800">
              <a:latin typeface="Calibri"/>
              <a:cs typeface="Calibri"/>
            </a:endParaRPr>
          </a:p>
          <a:p>
            <a:pPr marL="281940" indent="-2698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8257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ASK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800" spc="-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normally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implemented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levels</a:t>
            </a:r>
            <a:endParaRPr sz="2800">
              <a:latin typeface="Calibri"/>
              <a:cs typeface="Calibri"/>
            </a:endParaRPr>
          </a:p>
          <a:p>
            <a:pPr marL="643255" lvl="1" indent="-173990">
              <a:lnSpc>
                <a:spcPct val="100000"/>
              </a:lnSpc>
              <a:buFont typeface="Calibri"/>
              <a:buChar char="◦"/>
              <a:tabLst>
                <a:tab pos="643890" algn="l"/>
              </a:tabLst>
            </a:pP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Binary</a:t>
            </a:r>
            <a:r>
              <a:rPr sz="24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4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shift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20" dirty="0">
                <a:solidFill>
                  <a:srgbClr val="3F3F3F"/>
                </a:solidFill>
                <a:latin typeface="Calibri"/>
                <a:cs typeface="Calibri"/>
              </a:rPr>
              <a:t>keying</a:t>
            </a:r>
            <a:r>
              <a:rPr sz="24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5" dirty="0">
                <a:solidFill>
                  <a:srgbClr val="3F3F3F"/>
                </a:solidFill>
                <a:latin typeface="Calibri"/>
                <a:cs typeface="Calibri"/>
              </a:rPr>
              <a:t>on-off</a:t>
            </a:r>
            <a:r>
              <a:rPr sz="24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20" dirty="0">
                <a:solidFill>
                  <a:srgbClr val="3F3F3F"/>
                </a:solidFill>
                <a:latin typeface="Calibri"/>
                <a:cs typeface="Calibri"/>
              </a:rPr>
              <a:t>keying</a:t>
            </a:r>
            <a:r>
              <a:rPr sz="24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(OOK)</a:t>
            </a:r>
            <a:endParaRPr sz="2400">
              <a:latin typeface="Calibri"/>
              <a:cs typeface="Calibri"/>
            </a:endParaRPr>
          </a:p>
          <a:p>
            <a:pPr marL="643255" lvl="1" indent="-173990">
              <a:lnSpc>
                <a:spcPct val="100000"/>
              </a:lnSpc>
              <a:spcBef>
                <a:spcPts val="40"/>
              </a:spcBef>
              <a:buChar char="◦"/>
              <a:tabLst>
                <a:tab pos="643890" algn="l"/>
              </a:tabLst>
            </a:pP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Peak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1091565" lvl="2" indent="-165100">
              <a:lnSpc>
                <a:spcPct val="100000"/>
              </a:lnSpc>
              <a:buChar char="◦"/>
              <a:tabLst>
                <a:tab pos="1092200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signal level</a:t>
            </a:r>
            <a:r>
              <a:rPr sz="1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091565" lvl="2" indent="-165100">
              <a:lnSpc>
                <a:spcPct val="100000"/>
              </a:lnSpc>
              <a:buChar char="◦"/>
              <a:tabLst>
                <a:tab pos="1092200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Other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signal level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same as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1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323" y="4267200"/>
            <a:ext cx="8075676" cy="220065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15499" y="6420907"/>
            <a:ext cx="4457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middle 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 bandwidth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i="1" spc="-15" dirty="0">
                <a:latin typeface="Calibri"/>
                <a:cs typeface="Calibri"/>
              </a:rPr>
              <a:t>fc</a:t>
            </a:r>
            <a:r>
              <a:rPr sz="1800" i="1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Carrier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frequency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06116" y="6420907"/>
            <a:ext cx="869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r>
              <a:rPr sz="1800" spc="4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d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99" y="777092"/>
            <a:ext cx="5105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-5" dirty="0"/>
              <a:t>Bandwidth</a:t>
            </a:r>
            <a:r>
              <a:rPr sz="4800" u="none" spc="-30" dirty="0"/>
              <a:t> </a:t>
            </a:r>
            <a:r>
              <a:rPr sz="4800" u="none" spc="-5" dirty="0"/>
              <a:t>for</a:t>
            </a:r>
            <a:r>
              <a:rPr sz="4800" u="none" spc="-285" dirty="0"/>
              <a:t> </a:t>
            </a:r>
            <a:r>
              <a:rPr sz="4800" u="none" spc="-5" dirty="0"/>
              <a:t>ASK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4951"/>
              <a:ext cx="9142730" cy="3175"/>
            </a:xfrm>
            <a:custGeom>
              <a:avLst/>
              <a:gdLst/>
              <a:ahLst/>
              <a:cxnLst/>
              <a:rect l="l" t="t" r="r" b="b"/>
              <a:pathLst>
                <a:path w="9142730" h="3175">
                  <a:moveTo>
                    <a:pt x="0" y="3047"/>
                  </a:moveTo>
                  <a:lnTo>
                    <a:pt x="9142475" y="304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0247" y="6858000"/>
              <a:ext cx="9139555" cy="455930"/>
            </a:xfrm>
            <a:custGeom>
              <a:avLst/>
              <a:gdLst/>
              <a:ahLst/>
              <a:cxnLst/>
              <a:rect l="l" t="t" r="r" b="b"/>
              <a:pathLst>
                <a:path w="9139555" h="455929">
                  <a:moveTo>
                    <a:pt x="9139427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39427" y="455675"/>
                  </a:lnTo>
                  <a:lnTo>
                    <a:pt x="9139427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1460" cy="62865"/>
            </a:xfrm>
            <a:custGeom>
              <a:avLst/>
              <a:gdLst/>
              <a:ahLst/>
              <a:cxnLst/>
              <a:rect l="l" t="t" r="r" b="b"/>
              <a:pathLst>
                <a:path w="9141460" h="62865">
                  <a:moveTo>
                    <a:pt x="9140951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140951" y="62484"/>
                  </a:lnTo>
                  <a:lnTo>
                    <a:pt x="9140951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2859" y="1812319"/>
            <a:ext cx="8204834" cy="3538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750570" indent="-2317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simple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sine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wave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-&gt;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has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continuous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set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frequencies</a:t>
            </a:r>
            <a:endParaRPr sz="28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buFont typeface="Arial MT"/>
              <a:buChar char="•"/>
              <a:tabLst>
                <a:tab pos="24447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produces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nonperiodic</a:t>
            </a:r>
            <a:r>
              <a:rPr sz="28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composite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8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buFont typeface="Arial MT"/>
              <a:buChar char="•"/>
              <a:tabLst>
                <a:tab pos="24447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proportional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(baud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rate)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8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(1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+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d)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x</a:t>
            </a:r>
            <a:r>
              <a:rPr sz="28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  <a:p>
            <a:pPr marL="731520" lvl="1" indent="-262255">
              <a:lnSpc>
                <a:spcPct val="100000"/>
              </a:lnSpc>
              <a:spcBef>
                <a:spcPts val="25"/>
              </a:spcBef>
              <a:buChar char="◦"/>
              <a:tabLst>
                <a:tab pos="731520" algn="l"/>
                <a:tab pos="732155" algn="l"/>
              </a:tabLst>
            </a:pP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endParaRPr sz="2400">
              <a:latin typeface="Calibri"/>
              <a:cs typeface="Calibri"/>
            </a:endParaRPr>
          </a:p>
          <a:p>
            <a:pPr marL="731520" lvl="1" indent="-262255">
              <a:lnSpc>
                <a:spcPct val="100000"/>
              </a:lnSpc>
              <a:spcBef>
                <a:spcPts val="5"/>
              </a:spcBef>
              <a:buFont typeface="Calibri"/>
              <a:buChar char="◦"/>
              <a:tabLst>
                <a:tab pos="731520" algn="l"/>
                <a:tab pos="732155" algn="l"/>
              </a:tabLst>
            </a:pP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400" i="1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i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endParaRPr sz="2400">
              <a:latin typeface="Calibri"/>
              <a:cs typeface="Calibri"/>
            </a:endParaRPr>
          </a:p>
          <a:p>
            <a:pPr marL="731520" lvl="1" indent="-262255">
              <a:lnSpc>
                <a:spcPct val="100000"/>
              </a:lnSpc>
              <a:buFont typeface="Calibri"/>
              <a:buChar char="◦"/>
              <a:tabLst>
                <a:tab pos="731520" algn="l"/>
                <a:tab pos="732155" algn="l"/>
              </a:tabLst>
            </a:pP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4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depends 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4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4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filtering</a:t>
            </a:r>
            <a:r>
              <a:rPr sz="2400" i="1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process</a:t>
            </a:r>
            <a:endParaRPr sz="2400">
              <a:latin typeface="Calibri"/>
              <a:cs typeface="Calibri"/>
            </a:endParaRPr>
          </a:p>
          <a:p>
            <a:pPr marL="782320" lvl="1" indent="-312420">
              <a:lnSpc>
                <a:spcPct val="100000"/>
              </a:lnSpc>
              <a:spcBef>
                <a:spcPts val="35"/>
              </a:spcBef>
              <a:buChar char="◦"/>
              <a:tabLst>
                <a:tab pos="781685" algn="l"/>
                <a:tab pos="782320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1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1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 and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 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0807" y="5521736"/>
            <a:ext cx="39560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0" dirty="0">
                <a:solidFill>
                  <a:srgbClr val="3F3F3F"/>
                </a:solidFill>
                <a:latin typeface="Calibri"/>
                <a:cs typeface="Calibri"/>
              </a:rPr>
              <a:t>min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7259" y="5317519"/>
            <a:ext cx="929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594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	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=S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31859" y="5744240"/>
            <a:ext cx="1196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775" baseline="-21021" dirty="0">
                <a:solidFill>
                  <a:srgbClr val="3F3F3F"/>
                </a:solidFill>
                <a:latin typeface="Calibri"/>
                <a:cs typeface="Calibri"/>
              </a:rPr>
              <a:t>max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=2S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07279" y="5454395"/>
            <a:ext cx="4119879" cy="1280160"/>
            <a:chOff x="4907279" y="5454395"/>
            <a:chExt cx="4119879" cy="1280160"/>
          </a:xfrm>
        </p:grpSpPr>
        <p:sp>
          <p:nvSpPr>
            <p:cNvPr id="13" name="object 13"/>
            <p:cNvSpPr/>
            <p:nvPr/>
          </p:nvSpPr>
          <p:spPr>
            <a:xfrm>
              <a:off x="4907267" y="5454395"/>
              <a:ext cx="4119879" cy="1280160"/>
            </a:xfrm>
            <a:custGeom>
              <a:avLst/>
              <a:gdLst/>
              <a:ahLst/>
              <a:cxnLst/>
              <a:rect l="l" t="t" r="r" b="b"/>
              <a:pathLst>
                <a:path w="4119879" h="1280159">
                  <a:moveTo>
                    <a:pt x="4119372" y="1242060"/>
                  </a:moveTo>
                  <a:lnTo>
                    <a:pt x="4104132" y="1234440"/>
                  </a:lnTo>
                  <a:lnTo>
                    <a:pt x="4043172" y="1203960"/>
                  </a:lnTo>
                  <a:lnTo>
                    <a:pt x="4043172" y="1234440"/>
                  </a:lnTo>
                  <a:lnTo>
                    <a:pt x="1964436" y="1234440"/>
                  </a:lnTo>
                  <a:lnTo>
                    <a:pt x="1964436" y="347472"/>
                  </a:lnTo>
                  <a:lnTo>
                    <a:pt x="1993392" y="347472"/>
                  </a:lnTo>
                  <a:lnTo>
                    <a:pt x="1985772" y="332232"/>
                  </a:lnTo>
                  <a:lnTo>
                    <a:pt x="1950720" y="262128"/>
                  </a:lnTo>
                  <a:lnTo>
                    <a:pt x="1908048" y="347472"/>
                  </a:lnTo>
                  <a:lnTo>
                    <a:pt x="1937004" y="347472"/>
                  </a:lnTo>
                  <a:lnTo>
                    <a:pt x="1937004" y="1234440"/>
                  </a:lnTo>
                  <a:lnTo>
                    <a:pt x="44196" y="1234440"/>
                  </a:lnTo>
                  <a:lnTo>
                    <a:pt x="44196" y="76200"/>
                  </a:lnTo>
                  <a:lnTo>
                    <a:pt x="76200" y="76200"/>
                  </a:lnTo>
                  <a:lnTo>
                    <a:pt x="70104" y="64008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0480" y="76200"/>
                  </a:lnTo>
                  <a:lnTo>
                    <a:pt x="30480" y="1242060"/>
                  </a:lnTo>
                  <a:lnTo>
                    <a:pt x="38100" y="1242060"/>
                  </a:lnTo>
                  <a:lnTo>
                    <a:pt x="38100" y="1248156"/>
                  </a:lnTo>
                  <a:lnTo>
                    <a:pt x="4043172" y="1248156"/>
                  </a:lnTo>
                  <a:lnTo>
                    <a:pt x="4043172" y="1280160"/>
                  </a:lnTo>
                  <a:lnTo>
                    <a:pt x="4107180" y="1248156"/>
                  </a:lnTo>
                  <a:lnTo>
                    <a:pt x="4119372" y="1242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49327" y="5780531"/>
              <a:ext cx="1416050" cy="916305"/>
            </a:xfrm>
            <a:custGeom>
              <a:avLst/>
              <a:gdLst/>
              <a:ahLst/>
              <a:cxnLst/>
              <a:rect l="l" t="t" r="r" b="b"/>
              <a:pathLst>
                <a:path w="1416050" h="916304">
                  <a:moveTo>
                    <a:pt x="13716" y="96012"/>
                  </a:moveTo>
                  <a:lnTo>
                    <a:pt x="0" y="96012"/>
                  </a:lnTo>
                  <a:lnTo>
                    <a:pt x="0" y="915924"/>
                  </a:lnTo>
                  <a:lnTo>
                    <a:pt x="13716" y="915924"/>
                  </a:lnTo>
                  <a:lnTo>
                    <a:pt x="13716" y="96012"/>
                  </a:lnTo>
                  <a:close/>
                </a:path>
                <a:path w="1416050" h="916304">
                  <a:moveTo>
                    <a:pt x="77724" y="82296"/>
                  </a:moveTo>
                  <a:lnTo>
                    <a:pt x="64008" y="82296"/>
                  </a:lnTo>
                  <a:lnTo>
                    <a:pt x="64008" y="915924"/>
                  </a:lnTo>
                  <a:lnTo>
                    <a:pt x="77724" y="915924"/>
                  </a:lnTo>
                  <a:lnTo>
                    <a:pt x="77724" y="82296"/>
                  </a:lnTo>
                  <a:close/>
                </a:path>
                <a:path w="1416050" h="916304">
                  <a:moveTo>
                    <a:pt x="140208" y="68580"/>
                  </a:moveTo>
                  <a:lnTo>
                    <a:pt x="128016" y="68580"/>
                  </a:lnTo>
                  <a:lnTo>
                    <a:pt x="128016" y="915924"/>
                  </a:lnTo>
                  <a:lnTo>
                    <a:pt x="140208" y="915924"/>
                  </a:lnTo>
                  <a:lnTo>
                    <a:pt x="140208" y="68580"/>
                  </a:lnTo>
                  <a:close/>
                </a:path>
                <a:path w="1416050" h="916304">
                  <a:moveTo>
                    <a:pt x="204216" y="62484"/>
                  </a:moveTo>
                  <a:lnTo>
                    <a:pt x="192024" y="62484"/>
                  </a:lnTo>
                  <a:lnTo>
                    <a:pt x="192024" y="915924"/>
                  </a:lnTo>
                  <a:lnTo>
                    <a:pt x="204216" y="915924"/>
                  </a:lnTo>
                  <a:lnTo>
                    <a:pt x="204216" y="62484"/>
                  </a:lnTo>
                  <a:close/>
                </a:path>
                <a:path w="1416050" h="916304">
                  <a:moveTo>
                    <a:pt x="268224" y="54864"/>
                  </a:moveTo>
                  <a:lnTo>
                    <a:pt x="256032" y="54864"/>
                  </a:lnTo>
                  <a:lnTo>
                    <a:pt x="256032" y="915924"/>
                  </a:lnTo>
                  <a:lnTo>
                    <a:pt x="268224" y="915924"/>
                  </a:lnTo>
                  <a:lnTo>
                    <a:pt x="268224" y="54864"/>
                  </a:lnTo>
                  <a:close/>
                </a:path>
                <a:path w="1416050" h="916304">
                  <a:moveTo>
                    <a:pt x="332232" y="48768"/>
                  </a:moveTo>
                  <a:lnTo>
                    <a:pt x="320040" y="48768"/>
                  </a:lnTo>
                  <a:lnTo>
                    <a:pt x="320040" y="915924"/>
                  </a:lnTo>
                  <a:lnTo>
                    <a:pt x="332232" y="915924"/>
                  </a:lnTo>
                  <a:lnTo>
                    <a:pt x="332232" y="48768"/>
                  </a:lnTo>
                  <a:close/>
                </a:path>
                <a:path w="1416050" h="916304">
                  <a:moveTo>
                    <a:pt x="396240" y="41148"/>
                  </a:moveTo>
                  <a:lnTo>
                    <a:pt x="384048" y="41148"/>
                  </a:lnTo>
                  <a:lnTo>
                    <a:pt x="384048" y="915924"/>
                  </a:lnTo>
                  <a:lnTo>
                    <a:pt x="396240" y="915924"/>
                  </a:lnTo>
                  <a:lnTo>
                    <a:pt x="396240" y="41148"/>
                  </a:lnTo>
                  <a:close/>
                </a:path>
                <a:path w="1416050" h="916304">
                  <a:moveTo>
                    <a:pt x="460248" y="35052"/>
                  </a:moveTo>
                  <a:lnTo>
                    <a:pt x="446532" y="35052"/>
                  </a:lnTo>
                  <a:lnTo>
                    <a:pt x="446532" y="915924"/>
                  </a:lnTo>
                  <a:lnTo>
                    <a:pt x="460248" y="915924"/>
                  </a:lnTo>
                  <a:lnTo>
                    <a:pt x="460248" y="35052"/>
                  </a:lnTo>
                  <a:close/>
                </a:path>
                <a:path w="1416050" h="916304">
                  <a:moveTo>
                    <a:pt x="524256" y="21336"/>
                  </a:moveTo>
                  <a:lnTo>
                    <a:pt x="510540" y="21336"/>
                  </a:lnTo>
                  <a:lnTo>
                    <a:pt x="510540" y="915924"/>
                  </a:lnTo>
                  <a:lnTo>
                    <a:pt x="524256" y="915924"/>
                  </a:lnTo>
                  <a:lnTo>
                    <a:pt x="524256" y="21336"/>
                  </a:lnTo>
                  <a:close/>
                </a:path>
                <a:path w="1416050" h="916304">
                  <a:moveTo>
                    <a:pt x="586740" y="13716"/>
                  </a:moveTo>
                  <a:lnTo>
                    <a:pt x="574548" y="13716"/>
                  </a:lnTo>
                  <a:lnTo>
                    <a:pt x="574548" y="915924"/>
                  </a:lnTo>
                  <a:lnTo>
                    <a:pt x="586740" y="915924"/>
                  </a:lnTo>
                  <a:lnTo>
                    <a:pt x="586740" y="13716"/>
                  </a:lnTo>
                  <a:close/>
                </a:path>
                <a:path w="1416050" h="916304">
                  <a:moveTo>
                    <a:pt x="650748" y="0"/>
                  </a:moveTo>
                  <a:lnTo>
                    <a:pt x="638556" y="0"/>
                  </a:lnTo>
                  <a:lnTo>
                    <a:pt x="638556" y="915924"/>
                  </a:lnTo>
                  <a:lnTo>
                    <a:pt x="650748" y="915924"/>
                  </a:lnTo>
                  <a:lnTo>
                    <a:pt x="650748" y="0"/>
                  </a:lnTo>
                  <a:close/>
                </a:path>
                <a:path w="1416050" h="916304">
                  <a:moveTo>
                    <a:pt x="778764" y="0"/>
                  </a:moveTo>
                  <a:lnTo>
                    <a:pt x="766572" y="0"/>
                  </a:lnTo>
                  <a:lnTo>
                    <a:pt x="766572" y="915924"/>
                  </a:lnTo>
                  <a:lnTo>
                    <a:pt x="778764" y="915924"/>
                  </a:lnTo>
                  <a:lnTo>
                    <a:pt x="778764" y="0"/>
                  </a:lnTo>
                  <a:close/>
                </a:path>
                <a:path w="1416050" h="916304">
                  <a:moveTo>
                    <a:pt x="842772" y="13716"/>
                  </a:moveTo>
                  <a:lnTo>
                    <a:pt x="829056" y="13716"/>
                  </a:lnTo>
                  <a:lnTo>
                    <a:pt x="829056" y="915924"/>
                  </a:lnTo>
                  <a:lnTo>
                    <a:pt x="842772" y="915924"/>
                  </a:lnTo>
                  <a:lnTo>
                    <a:pt x="842772" y="13716"/>
                  </a:lnTo>
                  <a:close/>
                </a:path>
                <a:path w="1416050" h="916304">
                  <a:moveTo>
                    <a:pt x="906780" y="21336"/>
                  </a:moveTo>
                  <a:lnTo>
                    <a:pt x="893064" y="21336"/>
                  </a:lnTo>
                  <a:lnTo>
                    <a:pt x="893064" y="915924"/>
                  </a:lnTo>
                  <a:lnTo>
                    <a:pt x="906780" y="915924"/>
                  </a:lnTo>
                  <a:lnTo>
                    <a:pt x="906780" y="21336"/>
                  </a:lnTo>
                  <a:close/>
                </a:path>
                <a:path w="1416050" h="916304">
                  <a:moveTo>
                    <a:pt x="969264" y="35052"/>
                  </a:moveTo>
                  <a:lnTo>
                    <a:pt x="957072" y="35052"/>
                  </a:lnTo>
                  <a:lnTo>
                    <a:pt x="957072" y="915924"/>
                  </a:lnTo>
                  <a:lnTo>
                    <a:pt x="969264" y="915924"/>
                  </a:lnTo>
                  <a:lnTo>
                    <a:pt x="969264" y="35052"/>
                  </a:lnTo>
                  <a:close/>
                </a:path>
                <a:path w="1416050" h="916304">
                  <a:moveTo>
                    <a:pt x="1033272" y="41148"/>
                  </a:moveTo>
                  <a:lnTo>
                    <a:pt x="1021080" y="41148"/>
                  </a:lnTo>
                  <a:lnTo>
                    <a:pt x="1021080" y="915924"/>
                  </a:lnTo>
                  <a:lnTo>
                    <a:pt x="1033272" y="915924"/>
                  </a:lnTo>
                  <a:lnTo>
                    <a:pt x="1033272" y="41148"/>
                  </a:lnTo>
                  <a:close/>
                </a:path>
                <a:path w="1416050" h="916304">
                  <a:moveTo>
                    <a:pt x="1097280" y="48768"/>
                  </a:moveTo>
                  <a:lnTo>
                    <a:pt x="1085088" y="48768"/>
                  </a:lnTo>
                  <a:lnTo>
                    <a:pt x="1085088" y="915924"/>
                  </a:lnTo>
                  <a:lnTo>
                    <a:pt x="1097280" y="915924"/>
                  </a:lnTo>
                  <a:lnTo>
                    <a:pt x="1097280" y="48768"/>
                  </a:lnTo>
                  <a:close/>
                </a:path>
                <a:path w="1416050" h="916304">
                  <a:moveTo>
                    <a:pt x="1161288" y="54864"/>
                  </a:moveTo>
                  <a:lnTo>
                    <a:pt x="1149096" y="54864"/>
                  </a:lnTo>
                  <a:lnTo>
                    <a:pt x="1149096" y="915924"/>
                  </a:lnTo>
                  <a:lnTo>
                    <a:pt x="1161288" y="915924"/>
                  </a:lnTo>
                  <a:lnTo>
                    <a:pt x="1161288" y="54864"/>
                  </a:lnTo>
                  <a:close/>
                </a:path>
                <a:path w="1416050" h="916304">
                  <a:moveTo>
                    <a:pt x="1225296" y="62484"/>
                  </a:moveTo>
                  <a:lnTo>
                    <a:pt x="1213104" y="62484"/>
                  </a:lnTo>
                  <a:lnTo>
                    <a:pt x="1213104" y="915924"/>
                  </a:lnTo>
                  <a:lnTo>
                    <a:pt x="1225296" y="915924"/>
                  </a:lnTo>
                  <a:lnTo>
                    <a:pt x="1225296" y="62484"/>
                  </a:lnTo>
                  <a:close/>
                </a:path>
                <a:path w="1416050" h="916304">
                  <a:moveTo>
                    <a:pt x="1289304" y="68580"/>
                  </a:moveTo>
                  <a:lnTo>
                    <a:pt x="1275588" y="68580"/>
                  </a:lnTo>
                  <a:lnTo>
                    <a:pt x="1275588" y="915924"/>
                  </a:lnTo>
                  <a:lnTo>
                    <a:pt x="1289304" y="915924"/>
                  </a:lnTo>
                  <a:lnTo>
                    <a:pt x="1289304" y="68580"/>
                  </a:lnTo>
                  <a:close/>
                </a:path>
                <a:path w="1416050" h="916304">
                  <a:moveTo>
                    <a:pt x="1353312" y="82296"/>
                  </a:moveTo>
                  <a:lnTo>
                    <a:pt x="1339596" y="82296"/>
                  </a:lnTo>
                  <a:lnTo>
                    <a:pt x="1339596" y="915924"/>
                  </a:lnTo>
                  <a:lnTo>
                    <a:pt x="1353312" y="915924"/>
                  </a:lnTo>
                  <a:lnTo>
                    <a:pt x="1353312" y="82296"/>
                  </a:lnTo>
                  <a:close/>
                </a:path>
                <a:path w="1416050" h="916304">
                  <a:moveTo>
                    <a:pt x="1415796" y="914400"/>
                  </a:moveTo>
                  <a:lnTo>
                    <a:pt x="1402080" y="240792"/>
                  </a:lnTo>
                  <a:lnTo>
                    <a:pt x="1388364" y="240792"/>
                  </a:lnTo>
                  <a:lnTo>
                    <a:pt x="1403604" y="915924"/>
                  </a:lnTo>
                  <a:lnTo>
                    <a:pt x="1415796" y="914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49327" y="5519927"/>
              <a:ext cx="1416050" cy="131445"/>
            </a:xfrm>
            <a:custGeom>
              <a:avLst/>
              <a:gdLst/>
              <a:ahLst/>
              <a:cxnLst/>
              <a:rect l="l" t="t" r="r" b="b"/>
              <a:pathLst>
                <a:path w="1416050" h="131445">
                  <a:moveTo>
                    <a:pt x="1415796" y="0"/>
                  </a:moveTo>
                  <a:lnTo>
                    <a:pt x="1403604" y="0"/>
                  </a:lnTo>
                  <a:lnTo>
                    <a:pt x="1403604" y="59436"/>
                  </a:lnTo>
                  <a:lnTo>
                    <a:pt x="13716" y="59436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131064"/>
                  </a:lnTo>
                  <a:lnTo>
                    <a:pt x="13716" y="131064"/>
                  </a:lnTo>
                  <a:lnTo>
                    <a:pt x="13716" y="71628"/>
                  </a:lnTo>
                  <a:lnTo>
                    <a:pt x="1403604" y="71628"/>
                  </a:lnTo>
                  <a:lnTo>
                    <a:pt x="1403604" y="131064"/>
                  </a:lnTo>
                  <a:lnTo>
                    <a:pt x="1415796" y="131064"/>
                  </a:lnTo>
                  <a:lnTo>
                    <a:pt x="1415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0652" y="5370306"/>
            <a:ext cx="1329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Calibri"/>
                <a:cs typeface="Calibri"/>
              </a:rPr>
              <a:t>Minimum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spc="-5" dirty="0">
                <a:latin typeface="Calibri"/>
                <a:cs typeface="Calibri"/>
              </a:rPr>
              <a:t>Bandwidth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spc="-5" dirty="0">
                <a:latin typeface="Calibri"/>
                <a:cs typeface="Calibri"/>
              </a:rPr>
              <a:t>=</a:t>
            </a:r>
            <a:r>
              <a:rPr sz="1000" b="1" spc="5" dirty="0">
                <a:latin typeface="Calibri"/>
                <a:cs typeface="Calibri"/>
              </a:rPr>
              <a:t> </a:t>
            </a:r>
            <a:r>
              <a:rPr sz="1000" b="1" spc="-5" dirty="0">
                <a:latin typeface="Calibri"/>
                <a:cs typeface="Calibri"/>
              </a:rPr>
              <a:t>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02905" y="6630755"/>
            <a:ext cx="215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Roboto Cn"/>
                <a:cs typeface="Roboto Cn"/>
              </a:rPr>
              <a:t>f</a:t>
            </a:r>
            <a:r>
              <a:rPr sz="1800" b="1" spc="-15" baseline="-20833" dirty="0">
                <a:latin typeface="Roboto Cn"/>
                <a:cs typeface="Roboto Cn"/>
              </a:rPr>
              <a:t>c</a:t>
            </a:r>
            <a:endParaRPr sz="1800" baseline="-20833">
              <a:latin typeface="Roboto Cn"/>
              <a:cs typeface="Roboto C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62616" y="6773665"/>
            <a:ext cx="618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Roboto Cn"/>
                <a:cs typeface="Roboto Cn"/>
              </a:rPr>
              <a:t>f</a:t>
            </a:r>
            <a:r>
              <a:rPr sz="1800" b="1" spc="-7" baseline="-20833" dirty="0">
                <a:latin typeface="Roboto Cn"/>
                <a:cs typeface="Roboto Cn"/>
              </a:rPr>
              <a:t>c</a:t>
            </a:r>
            <a:r>
              <a:rPr sz="1400" spc="-5" dirty="0">
                <a:latin typeface="Calibri"/>
                <a:cs typeface="Calibri"/>
              </a:rPr>
              <a:t>-</a:t>
            </a:r>
            <a:r>
              <a:rPr sz="1400" i="1" spc="-5" dirty="0">
                <a:latin typeface="Calibri"/>
                <a:cs typeface="Calibri"/>
              </a:rPr>
              <a:t>(S/2)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27776" y="6751319"/>
            <a:ext cx="657225" cy="76200"/>
          </a:xfrm>
          <a:custGeom>
            <a:avLst/>
            <a:gdLst/>
            <a:ahLst/>
            <a:cxnLst/>
            <a:rect l="l" t="t" r="r" b="b"/>
            <a:pathLst>
              <a:path w="657225" h="76200">
                <a:moveTo>
                  <a:pt x="38100" y="56388"/>
                </a:moveTo>
                <a:lnTo>
                  <a:pt x="6095" y="56388"/>
                </a:lnTo>
                <a:lnTo>
                  <a:pt x="6095" y="57912"/>
                </a:lnTo>
                <a:lnTo>
                  <a:pt x="3047" y="64008"/>
                </a:lnTo>
                <a:lnTo>
                  <a:pt x="1524" y="65532"/>
                </a:lnTo>
                <a:lnTo>
                  <a:pt x="1524" y="67056"/>
                </a:lnTo>
                <a:lnTo>
                  <a:pt x="0" y="73152"/>
                </a:lnTo>
                <a:lnTo>
                  <a:pt x="19812" y="76200"/>
                </a:lnTo>
                <a:lnTo>
                  <a:pt x="19812" y="70104"/>
                </a:lnTo>
                <a:lnTo>
                  <a:pt x="21335" y="70104"/>
                </a:lnTo>
                <a:lnTo>
                  <a:pt x="22097" y="68580"/>
                </a:lnTo>
                <a:lnTo>
                  <a:pt x="21336" y="68580"/>
                </a:lnTo>
                <a:lnTo>
                  <a:pt x="25907" y="64008"/>
                </a:lnTo>
                <a:lnTo>
                  <a:pt x="24383" y="64008"/>
                </a:lnTo>
                <a:lnTo>
                  <a:pt x="32003" y="59436"/>
                </a:lnTo>
                <a:lnTo>
                  <a:pt x="33019" y="59436"/>
                </a:lnTo>
                <a:lnTo>
                  <a:pt x="38100" y="56388"/>
                </a:lnTo>
                <a:close/>
              </a:path>
              <a:path w="657225" h="76200">
                <a:moveTo>
                  <a:pt x="637031" y="70104"/>
                </a:moveTo>
                <a:lnTo>
                  <a:pt x="638555" y="76200"/>
                </a:lnTo>
                <a:lnTo>
                  <a:pt x="656843" y="73152"/>
                </a:lnTo>
                <a:lnTo>
                  <a:pt x="638555" y="73152"/>
                </a:lnTo>
                <a:lnTo>
                  <a:pt x="637031" y="70104"/>
                </a:lnTo>
                <a:close/>
              </a:path>
              <a:path w="657225" h="76200">
                <a:moveTo>
                  <a:pt x="21335" y="70104"/>
                </a:moveTo>
                <a:lnTo>
                  <a:pt x="19812" y="70104"/>
                </a:lnTo>
                <a:lnTo>
                  <a:pt x="19812" y="73152"/>
                </a:lnTo>
                <a:lnTo>
                  <a:pt x="21335" y="70104"/>
                </a:lnTo>
                <a:close/>
              </a:path>
              <a:path w="657225" h="76200">
                <a:moveTo>
                  <a:pt x="655319" y="67056"/>
                </a:moveTo>
                <a:lnTo>
                  <a:pt x="635507" y="67056"/>
                </a:lnTo>
                <a:lnTo>
                  <a:pt x="638555" y="73152"/>
                </a:lnTo>
                <a:lnTo>
                  <a:pt x="656843" y="73152"/>
                </a:lnTo>
                <a:lnTo>
                  <a:pt x="655319" y="67056"/>
                </a:lnTo>
                <a:close/>
              </a:path>
              <a:path w="657225" h="76200">
                <a:moveTo>
                  <a:pt x="22859" y="67056"/>
                </a:moveTo>
                <a:lnTo>
                  <a:pt x="21336" y="68580"/>
                </a:lnTo>
                <a:lnTo>
                  <a:pt x="22097" y="68580"/>
                </a:lnTo>
                <a:lnTo>
                  <a:pt x="22859" y="67056"/>
                </a:lnTo>
                <a:close/>
              </a:path>
              <a:path w="657225" h="76200">
                <a:moveTo>
                  <a:pt x="653033" y="59436"/>
                </a:moveTo>
                <a:lnTo>
                  <a:pt x="626363" y="59436"/>
                </a:lnTo>
                <a:lnTo>
                  <a:pt x="632459" y="64008"/>
                </a:lnTo>
                <a:lnTo>
                  <a:pt x="630935" y="64008"/>
                </a:lnTo>
                <a:lnTo>
                  <a:pt x="635507" y="68580"/>
                </a:lnTo>
                <a:lnTo>
                  <a:pt x="635507" y="67056"/>
                </a:lnTo>
                <a:lnTo>
                  <a:pt x="655319" y="67056"/>
                </a:lnTo>
                <a:lnTo>
                  <a:pt x="655319" y="64008"/>
                </a:lnTo>
                <a:lnTo>
                  <a:pt x="653033" y="59436"/>
                </a:lnTo>
                <a:close/>
              </a:path>
              <a:path w="657225" h="76200">
                <a:moveTo>
                  <a:pt x="33019" y="59436"/>
                </a:moveTo>
                <a:lnTo>
                  <a:pt x="32003" y="59436"/>
                </a:lnTo>
                <a:lnTo>
                  <a:pt x="30479" y="60960"/>
                </a:lnTo>
                <a:lnTo>
                  <a:pt x="33019" y="59436"/>
                </a:lnTo>
                <a:close/>
              </a:path>
              <a:path w="657225" h="76200">
                <a:moveTo>
                  <a:pt x="355091" y="27432"/>
                </a:moveTo>
                <a:lnTo>
                  <a:pt x="356615" y="28956"/>
                </a:lnTo>
                <a:lnTo>
                  <a:pt x="330707" y="28956"/>
                </a:lnTo>
                <a:lnTo>
                  <a:pt x="328421" y="32004"/>
                </a:lnTo>
                <a:lnTo>
                  <a:pt x="330707" y="35052"/>
                </a:lnTo>
                <a:lnTo>
                  <a:pt x="332231" y="35052"/>
                </a:lnTo>
                <a:lnTo>
                  <a:pt x="332231" y="36576"/>
                </a:lnTo>
                <a:lnTo>
                  <a:pt x="339851" y="41148"/>
                </a:lnTo>
                <a:lnTo>
                  <a:pt x="348995" y="45720"/>
                </a:lnTo>
                <a:lnTo>
                  <a:pt x="370331" y="51816"/>
                </a:lnTo>
                <a:lnTo>
                  <a:pt x="592835" y="51816"/>
                </a:lnTo>
                <a:lnTo>
                  <a:pt x="603503" y="53340"/>
                </a:lnTo>
                <a:lnTo>
                  <a:pt x="612647" y="54864"/>
                </a:lnTo>
                <a:lnTo>
                  <a:pt x="620267" y="56388"/>
                </a:lnTo>
                <a:lnTo>
                  <a:pt x="618743" y="56388"/>
                </a:lnTo>
                <a:lnTo>
                  <a:pt x="627887" y="60960"/>
                </a:lnTo>
                <a:lnTo>
                  <a:pt x="626363" y="59436"/>
                </a:lnTo>
                <a:lnTo>
                  <a:pt x="653033" y="59436"/>
                </a:lnTo>
                <a:lnTo>
                  <a:pt x="652271" y="57912"/>
                </a:lnTo>
                <a:lnTo>
                  <a:pt x="650747" y="57912"/>
                </a:lnTo>
                <a:lnTo>
                  <a:pt x="650747" y="56388"/>
                </a:lnTo>
                <a:lnTo>
                  <a:pt x="643127" y="48768"/>
                </a:lnTo>
                <a:lnTo>
                  <a:pt x="637031" y="44196"/>
                </a:lnTo>
                <a:lnTo>
                  <a:pt x="635507" y="44196"/>
                </a:lnTo>
                <a:lnTo>
                  <a:pt x="627887" y="39624"/>
                </a:lnTo>
                <a:lnTo>
                  <a:pt x="626363" y="39624"/>
                </a:lnTo>
                <a:lnTo>
                  <a:pt x="615695" y="35052"/>
                </a:lnTo>
                <a:lnTo>
                  <a:pt x="605027" y="33528"/>
                </a:lnTo>
                <a:lnTo>
                  <a:pt x="384047" y="33528"/>
                </a:lnTo>
                <a:lnTo>
                  <a:pt x="373379" y="32004"/>
                </a:lnTo>
                <a:lnTo>
                  <a:pt x="364235" y="30480"/>
                </a:lnTo>
                <a:lnTo>
                  <a:pt x="355091" y="27432"/>
                </a:lnTo>
                <a:close/>
              </a:path>
              <a:path w="657225" h="76200">
                <a:moveTo>
                  <a:pt x="307847" y="24384"/>
                </a:moveTo>
                <a:lnTo>
                  <a:pt x="301751" y="27432"/>
                </a:lnTo>
                <a:lnTo>
                  <a:pt x="294131" y="30480"/>
                </a:lnTo>
                <a:lnTo>
                  <a:pt x="284987" y="32004"/>
                </a:lnTo>
                <a:lnTo>
                  <a:pt x="274319" y="33528"/>
                </a:lnTo>
                <a:lnTo>
                  <a:pt x="51815" y="33528"/>
                </a:lnTo>
                <a:lnTo>
                  <a:pt x="39624" y="36576"/>
                </a:lnTo>
                <a:lnTo>
                  <a:pt x="30479" y="39624"/>
                </a:lnTo>
                <a:lnTo>
                  <a:pt x="28955" y="39624"/>
                </a:lnTo>
                <a:lnTo>
                  <a:pt x="21336" y="44196"/>
                </a:lnTo>
                <a:lnTo>
                  <a:pt x="19812" y="44196"/>
                </a:lnTo>
                <a:lnTo>
                  <a:pt x="13715" y="48768"/>
                </a:lnTo>
                <a:lnTo>
                  <a:pt x="13715" y="50292"/>
                </a:lnTo>
                <a:lnTo>
                  <a:pt x="12191" y="50292"/>
                </a:lnTo>
                <a:lnTo>
                  <a:pt x="7619" y="56388"/>
                </a:lnTo>
                <a:lnTo>
                  <a:pt x="36575" y="56388"/>
                </a:lnTo>
                <a:lnTo>
                  <a:pt x="45719" y="54864"/>
                </a:lnTo>
                <a:lnTo>
                  <a:pt x="54863" y="51816"/>
                </a:lnTo>
                <a:lnTo>
                  <a:pt x="286511" y="51816"/>
                </a:lnTo>
                <a:lnTo>
                  <a:pt x="307847" y="45720"/>
                </a:lnTo>
                <a:lnTo>
                  <a:pt x="316991" y="41148"/>
                </a:lnTo>
                <a:lnTo>
                  <a:pt x="318515" y="41148"/>
                </a:lnTo>
                <a:lnTo>
                  <a:pt x="324611" y="36576"/>
                </a:lnTo>
                <a:lnTo>
                  <a:pt x="326135" y="35052"/>
                </a:lnTo>
                <a:lnTo>
                  <a:pt x="328421" y="32004"/>
                </a:lnTo>
                <a:lnTo>
                  <a:pt x="326135" y="28956"/>
                </a:lnTo>
                <a:lnTo>
                  <a:pt x="324611" y="28956"/>
                </a:lnTo>
                <a:lnTo>
                  <a:pt x="324611" y="27432"/>
                </a:lnTo>
                <a:lnTo>
                  <a:pt x="323849" y="25908"/>
                </a:lnTo>
                <a:lnTo>
                  <a:pt x="307847" y="25908"/>
                </a:lnTo>
                <a:lnTo>
                  <a:pt x="307847" y="24384"/>
                </a:lnTo>
                <a:close/>
              </a:path>
              <a:path w="657225" h="76200">
                <a:moveTo>
                  <a:pt x="330707" y="28956"/>
                </a:moveTo>
                <a:lnTo>
                  <a:pt x="326135" y="28956"/>
                </a:lnTo>
                <a:lnTo>
                  <a:pt x="328421" y="32004"/>
                </a:lnTo>
                <a:lnTo>
                  <a:pt x="330707" y="28956"/>
                </a:lnTo>
                <a:close/>
              </a:path>
              <a:path w="657225" h="76200">
                <a:moveTo>
                  <a:pt x="333755" y="0"/>
                </a:moveTo>
                <a:lnTo>
                  <a:pt x="324611" y="0"/>
                </a:lnTo>
                <a:lnTo>
                  <a:pt x="320039" y="3048"/>
                </a:lnTo>
                <a:lnTo>
                  <a:pt x="318515" y="7620"/>
                </a:lnTo>
                <a:lnTo>
                  <a:pt x="318515" y="12192"/>
                </a:lnTo>
                <a:lnTo>
                  <a:pt x="320039" y="18288"/>
                </a:lnTo>
                <a:lnTo>
                  <a:pt x="321563" y="19812"/>
                </a:lnTo>
                <a:lnTo>
                  <a:pt x="321563" y="21336"/>
                </a:lnTo>
                <a:lnTo>
                  <a:pt x="324611" y="27432"/>
                </a:lnTo>
                <a:lnTo>
                  <a:pt x="324611" y="28956"/>
                </a:lnTo>
                <a:lnTo>
                  <a:pt x="332231" y="28956"/>
                </a:lnTo>
                <a:lnTo>
                  <a:pt x="332231" y="27432"/>
                </a:lnTo>
                <a:lnTo>
                  <a:pt x="335279" y="21336"/>
                </a:lnTo>
                <a:lnTo>
                  <a:pt x="336803" y="19812"/>
                </a:lnTo>
                <a:lnTo>
                  <a:pt x="336803" y="18288"/>
                </a:lnTo>
                <a:lnTo>
                  <a:pt x="338327" y="12192"/>
                </a:lnTo>
                <a:lnTo>
                  <a:pt x="339242" y="12192"/>
                </a:lnTo>
                <a:lnTo>
                  <a:pt x="338327" y="7620"/>
                </a:lnTo>
                <a:lnTo>
                  <a:pt x="336803" y="3048"/>
                </a:lnTo>
                <a:lnTo>
                  <a:pt x="333755" y="0"/>
                </a:lnTo>
                <a:close/>
              </a:path>
              <a:path w="657225" h="76200">
                <a:moveTo>
                  <a:pt x="338327" y="12192"/>
                </a:moveTo>
                <a:lnTo>
                  <a:pt x="336803" y="18288"/>
                </a:lnTo>
                <a:lnTo>
                  <a:pt x="336803" y="19812"/>
                </a:lnTo>
                <a:lnTo>
                  <a:pt x="335279" y="21336"/>
                </a:lnTo>
                <a:lnTo>
                  <a:pt x="332231" y="27432"/>
                </a:lnTo>
                <a:lnTo>
                  <a:pt x="332231" y="28956"/>
                </a:lnTo>
                <a:lnTo>
                  <a:pt x="356615" y="28956"/>
                </a:lnTo>
                <a:lnTo>
                  <a:pt x="351535" y="25908"/>
                </a:lnTo>
                <a:lnTo>
                  <a:pt x="350519" y="25908"/>
                </a:lnTo>
                <a:lnTo>
                  <a:pt x="344804" y="21336"/>
                </a:lnTo>
                <a:lnTo>
                  <a:pt x="344423" y="21336"/>
                </a:lnTo>
                <a:lnTo>
                  <a:pt x="339851" y="16764"/>
                </a:lnTo>
                <a:lnTo>
                  <a:pt x="340613" y="16764"/>
                </a:lnTo>
                <a:lnTo>
                  <a:pt x="338327" y="12192"/>
                </a:lnTo>
                <a:close/>
              </a:path>
              <a:path w="657225" h="76200">
                <a:moveTo>
                  <a:pt x="319658" y="16764"/>
                </a:moveTo>
                <a:lnTo>
                  <a:pt x="316991" y="16764"/>
                </a:lnTo>
                <a:lnTo>
                  <a:pt x="307847" y="25908"/>
                </a:lnTo>
                <a:lnTo>
                  <a:pt x="323849" y="25908"/>
                </a:lnTo>
                <a:lnTo>
                  <a:pt x="321563" y="21336"/>
                </a:lnTo>
                <a:lnTo>
                  <a:pt x="321563" y="19812"/>
                </a:lnTo>
                <a:lnTo>
                  <a:pt x="320039" y="18288"/>
                </a:lnTo>
                <a:lnTo>
                  <a:pt x="319658" y="16764"/>
                </a:lnTo>
                <a:close/>
              </a:path>
              <a:path w="657225" h="76200">
                <a:moveTo>
                  <a:pt x="348995" y="24384"/>
                </a:moveTo>
                <a:lnTo>
                  <a:pt x="350519" y="25908"/>
                </a:lnTo>
                <a:lnTo>
                  <a:pt x="351535" y="25908"/>
                </a:lnTo>
                <a:lnTo>
                  <a:pt x="348995" y="24384"/>
                </a:lnTo>
                <a:close/>
              </a:path>
              <a:path w="657225" h="76200">
                <a:moveTo>
                  <a:pt x="342899" y="19812"/>
                </a:moveTo>
                <a:lnTo>
                  <a:pt x="344423" y="21336"/>
                </a:lnTo>
                <a:lnTo>
                  <a:pt x="344804" y="21336"/>
                </a:lnTo>
                <a:lnTo>
                  <a:pt x="342899" y="19812"/>
                </a:lnTo>
                <a:close/>
              </a:path>
              <a:path w="657225" h="76200">
                <a:moveTo>
                  <a:pt x="318515" y="12192"/>
                </a:moveTo>
                <a:lnTo>
                  <a:pt x="315467" y="18288"/>
                </a:lnTo>
                <a:lnTo>
                  <a:pt x="316991" y="16764"/>
                </a:lnTo>
                <a:lnTo>
                  <a:pt x="319658" y="16764"/>
                </a:lnTo>
                <a:lnTo>
                  <a:pt x="319277" y="15240"/>
                </a:lnTo>
                <a:lnTo>
                  <a:pt x="318515" y="15240"/>
                </a:lnTo>
                <a:lnTo>
                  <a:pt x="318515" y="12192"/>
                </a:lnTo>
                <a:close/>
              </a:path>
              <a:path w="657225" h="76200">
                <a:moveTo>
                  <a:pt x="340613" y="16764"/>
                </a:moveTo>
                <a:lnTo>
                  <a:pt x="339851" y="16764"/>
                </a:lnTo>
                <a:lnTo>
                  <a:pt x="341375" y="18288"/>
                </a:lnTo>
                <a:lnTo>
                  <a:pt x="340613" y="16764"/>
                </a:lnTo>
                <a:close/>
              </a:path>
              <a:path w="657225" h="76200">
                <a:moveTo>
                  <a:pt x="318515" y="12192"/>
                </a:moveTo>
                <a:lnTo>
                  <a:pt x="318515" y="15240"/>
                </a:lnTo>
                <a:lnTo>
                  <a:pt x="319277" y="15240"/>
                </a:lnTo>
                <a:lnTo>
                  <a:pt x="318515" y="12192"/>
                </a:lnTo>
                <a:close/>
              </a:path>
              <a:path w="657225" h="76200">
                <a:moveTo>
                  <a:pt x="339242" y="12192"/>
                </a:moveTo>
                <a:lnTo>
                  <a:pt x="338327" y="12192"/>
                </a:lnTo>
                <a:lnTo>
                  <a:pt x="339851" y="15240"/>
                </a:lnTo>
                <a:lnTo>
                  <a:pt x="339242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168270" y="6773665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Roboto Cn"/>
                <a:cs typeface="Roboto Cn"/>
              </a:rPr>
              <a:t>f</a:t>
            </a:r>
            <a:r>
              <a:rPr sz="1800" b="1" spc="-7" baseline="-20833" dirty="0">
                <a:latin typeface="Roboto Cn"/>
                <a:cs typeface="Roboto Cn"/>
              </a:rPr>
              <a:t>c</a:t>
            </a:r>
            <a:r>
              <a:rPr sz="1400" spc="-5" dirty="0">
                <a:latin typeface="Calibri"/>
                <a:cs typeface="Calibri"/>
              </a:rPr>
              <a:t>+</a:t>
            </a:r>
            <a:r>
              <a:rPr sz="1400" i="1" spc="-5" dirty="0">
                <a:latin typeface="Calibri"/>
                <a:cs typeface="Calibri"/>
              </a:rPr>
              <a:t>(S/2)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34428" y="6751319"/>
            <a:ext cx="655320" cy="76200"/>
          </a:xfrm>
          <a:custGeom>
            <a:avLst/>
            <a:gdLst/>
            <a:ahLst/>
            <a:cxnLst/>
            <a:rect l="l" t="t" r="r" b="b"/>
            <a:pathLst>
              <a:path w="655320" h="76200">
                <a:moveTo>
                  <a:pt x="307848" y="24384"/>
                </a:moveTo>
                <a:lnTo>
                  <a:pt x="292607" y="30480"/>
                </a:lnTo>
                <a:lnTo>
                  <a:pt x="283463" y="32004"/>
                </a:lnTo>
                <a:lnTo>
                  <a:pt x="272796" y="33528"/>
                </a:lnTo>
                <a:lnTo>
                  <a:pt x="50292" y="33528"/>
                </a:lnTo>
                <a:lnTo>
                  <a:pt x="39624" y="36576"/>
                </a:lnTo>
                <a:lnTo>
                  <a:pt x="30479" y="39624"/>
                </a:lnTo>
                <a:lnTo>
                  <a:pt x="28955" y="39624"/>
                </a:lnTo>
                <a:lnTo>
                  <a:pt x="19811" y="44196"/>
                </a:lnTo>
                <a:lnTo>
                  <a:pt x="12192" y="48768"/>
                </a:lnTo>
                <a:lnTo>
                  <a:pt x="12192" y="50292"/>
                </a:lnTo>
                <a:lnTo>
                  <a:pt x="10668" y="50292"/>
                </a:lnTo>
                <a:lnTo>
                  <a:pt x="6096" y="56388"/>
                </a:lnTo>
                <a:lnTo>
                  <a:pt x="4572" y="57912"/>
                </a:lnTo>
                <a:lnTo>
                  <a:pt x="1524" y="64008"/>
                </a:lnTo>
                <a:lnTo>
                  <a:pt x="1524" y="65532"/>
                </a:lnTo>
                <a:lnTo>
                  <a:pt x="0" y="65532"/>
                </a:lnTo>
                <a:lnTo>
                  <a:pt x="0" y="73152"/>
                </a:lnTo>
                <a:lnTo>
                  <a:pt x="18287" y="76200"/>
                </a:lnTo>
                <a:lnTo>
                  <a:pt x="19049" y="73152"/>
                </a:lnTo>
                <a:lnTo>
                  <a:pt x="18287" y="73152"/>
                </a:lnTo>
                <a:lnTo>
                  <a:pt x="20573" y="68580"/>
                </a:lnTo>
                <a:lnTo>
                  <a:pt x="19811" y="68580"/>
                </a:lnTo>
                <a:lnTo>
                  <a:pt x="21335" y="67056"/>
                </a:lnTo>
                <a:lnTo>
                  <a:pt x="21843" y="67056"/>
                </a:lnTo>
                <a:lnTo>
                  <a:pt x="25907" y="64008"/>
                </a:lnTo>
                <a:lnTo>
                  <a:pt x="24383" y="64008"/>
                </a:lnTo>
                <a:lnTo>
                  <a:pt x="30479" y="59436"/>
                </a:lnTo>
                <a:lnTo>
                  <a:pt x="31496" y="59436"/>
                </a:lnTo>
                <a:lnTo>
                  <a:pt x="36575" y="56388"/>
                </a:lnTo>
                <a:lnTo>
                  <a:pt x="35051" y="56388"/>
                </a:lnTo>
                <a:lnTo>
                  <a:pt x="44196" y="54864"/>
                </a:lnTo>
                <a:lnTo>
                  <a:pt x="53339" y="51816"/>
                </a:lnTo>
                <a:lnTo>
                  <a:pt x="284987" y="51816"/>
                </a:lnTo>
                <a:lnTo>
                  <a:pt x="306324" y="45720"/>
                </a:lnTo>
                <a:lnTo>
                  <a:pt x="315468" y="41148"/>
                </a:lnTo>
                <a:lnTo>
                  <a:pt x="316992" y="41148"/>
                </a:lnTo>
                <a:lnTo>
                  <a:pt x="324611" y="36576"/>
                </a:lnTo>
                <a:lnTo>
                  <a:pt x="324611" y="35052"/>
                </a:lnTo>
                <a:lnTo>
                  <a:pt x="326135" y="35052"/>
                </a:lnTo>
                <a:lnTo>
                  <a:pt x="327659" y="33020"/>
                </a:lnTo>
                <a:lnTo>
                  <a:pt x="324611" y="28956"/>
                </a:lnTo>
                <a:lnTo>
                  <a:pt x="324611" y="27432"/>
                </a:lnTo>
                <a:lnTo>
                  <a:pt x="323087" y="27432"/>
                </a:lnTo>
                <a:lnTo>
                  <a:pt x="322325" y="25908"/>
                </a:lnTo>
                <a:lnTo>
                  <a:pt x="306324" y="25908"/>
                </a:lnTo>
                <a:lnTo>
                  <a:pt x="307848" y="24384"/>
                </a:lnTo>
                <a:close/>
              </a:path>
              <a:path w="655320" h="76200">
                <a:moveTo>
                  <a:pt x="635507" y="70104"/>
                </a:moveTo>
                <a:lnTo>
                  <a:pt x="637031" y="76200"/>
                </a:lnTo>
                <a:lnTo>
                  <a:pt x="655319" y="73152"/>
                </a:lnTo>
                <a:lnTo>
                  <a:pt x="637031" y="73152"/>
                </a:lnTo>
                <a:lnTo>
                  <a:pt x="635507" y="70104"/>
                </a:lnTo>
                <a:close/>
              </a:path>
              <a:path w="655320" h="76200">
                <a:moveTo>
                  <a:pt x="19811" y="70104"/>
                </a:moveTo>
                <a:lnTo>
                  <a:pt x="18287" y="73152"/>
                </a:lnTo>
                <a:lnTo>
                  <a:pt x="19049" y="73152"/>
                </a:lnTo>
                <a:lnTo>
                  <a:pt x="19811" y="70104"/>
                </a:lnTo>
                <a:close/>
              </a:path>
              <a:path w="655320" h="76200">
                <a:moveTo>
                  <a:pt x="634288" y="67665"/>
                </a:moveTo>
                <a:lnTo>
                  <a:pt x="637031" y="73152"/>
                </a:lnTo>
                <a:lnTo>
                  <a:pt x="655319" y="73152"/>
                </a:lnTo>
                <a:lnTo>
                  <a:pt x="655319" y="68580"/>
                </a:lnTo>
                <a:lnTo>
                  <a:pt x="635507" y="68580"/>
                </a:lnTo>
                <a:lnTo>
                  <a:pt x="634288" y="67665"/>
                </a:lnTo>
                <a:close/>
              </a:path>
              <a:path w="655320" h="76200">
                <a:moveTo>
                  <a:pt x="21335" y="67056"/>
                </a:moveTo>
                <a:lnTo>
                  <a:pt x="19811" y="68580"/>
                </a:lnTo>
                <a:lnTo>
                  <a:pt x="21031" y="67665"/>
                </a:lnTo>
                <a:lnTo>
                  <a:pt x="21335" y="67056"/>
                </a:lnTo>
                <a:close/>
              </a:path>
              <a:path w="655320" h="76200">
                <a:moveTo>
                  <a:pt x="21031" y="67665"/>
                </a:moveTo>
                <a:lnTo>
                  <a:pt x="19811" y="68580"/>
                </a:lnTo>
                <a:lnTo>
                  <a:pt x="20573" y="68580"/>
                </a:lnTo>
                <a:lnTo>
                  <a:pt x="21031" y="67665"/>
                </a:lnTo>
                <a:close/>
              </a:path>
              <a:path w="655320" h="76200">
                <a:moveTo>
                  <a:pt x="633983" y="67056"/>
                </a:moveTo>
                <a:lnTo>
                  <a:pt x="634288" y="67665"/>
                </a:lnTo>
                <a:lnTo>
                  <a:pt x="635507" y="68580"/>
                </a:lnTo>
                <a:lnTo>
                  <a:pt x="633983" y="67056"/>
                </a:lnTo>
                <a:close/>
              </a:path>
              <a:path w="655320" h="76200">
                <a:moveTo>
                  <a:pt x="655319" y="67056"/>
                </a:moveTo>
                <a:lnTo>
                  <a:pt x="633983" y="67056"/>
                </a:lnTo>
                <a:lnTo>
                  <a:pt x="635507" y="68580"/>
                </a:lnTo>
                <a:lnTo>
                  <a:pt x="655319" y="68580"/>
                </a:lnTo>
                <a:lnTo>
                  <a:pt x="655319" y="67056"/>
                </a:lnTo>
                <a:close/>
              </a:path>
              <a:path w="655320" h="76200">
                <a:moveTo>
                  <a:pt x="21843" y="67056"/>
                </a:moveTo>
                <a:lnTo>
                  <a:pt x="21335" y="67056"/>
                </a:lnTo>
                <a:lnTo>
                  <a:pt x="21031" y="67665"/>
                </a:lnTo>
                <a:lnTo>
                  <a:pt x="21843" y="67056"/>
                </a:lnTo>
                <a:close/>
              </a:path>
              <a:path w="655320" h="76200">
                <a:moveTo>
                  <a:pt x="651509" y="59436"/>
                </a:moveTo>
                <a:lnTo>
                  <a:pt x="624839" y="59436"/>
                </a:lnTo>
                <a:lnTo>
                  <a:pt x="630935" y="64008"/>
                </a:lnTo>
                <a:lnTo>
                  <a:pt x="629411" y="64008"/>
                </a:lnTo>
                <a:lnTo>
                  <a:pt x="634288" y="67665"/>
                </a:lnTo>
                <a:lnTo>
                  <a:pt x="633983" y="67056"/>
                </a:lnTo>
                <a:lnTo>
                  <a:pt x="655319" y="67056"/>
                </a:lnTo>
                <a:lnTo>
                  <a:pt x="655319" y="65532"/>
                </a:lnTo>
                <a:lnTo>
                  <a:pt x="653795" y="65532"/>
                </a:lnTo>
                <a:lnTo>
                  <a:pt x="653795" y="64008"/>
                </a:lnTo>
                <a:lnTo>
                  <a:pt x="651509" y="59436"/>
                </a:lnTo>
                <a:close/>
              </a:path>
              <a:path w="655320" h="76200">
                <a:moveTo>
                  <a:pt x="31496" y="59436"/>
                </a:moveTo>
                <a:lnTo>
                  <a:pt x="30479" y="59436"/>
                </a:lnTo>
                <a:lnTo>
                  <a:pt x="28955" y="60960"/>
                </a:lnTo>
                <a:lnTo>
                  <a:pt x="31496" y="59436"/>
                </a:lnTo>
                <a:close/>
              </a:path>
              <a:path w="655320" h="76200">
                <a:moveTo>
                  <a:pt x="336803" y="12192"/>
                </a:moveTo>
                <a:lnTo>
                  <a:pt x="335279" y="18288"/>
                </a:lnTo>
                <a:lnTo>
                  <a:pt x="335279" y="21336"/>
                </a:lnTo>
                <a:lnTo>
                  <a:pt x="332231" y="27432"/>
                </a:lnTo>
                <a:lnTo>
                  <a:pt x="330707" y="28956"/>
                </a:lnTo>
                <a:lnTo>
                  <a:pt x="327659" y="33020"/>
                </a:lnTo>
                <a:lnTo>
                  <a:pt x="329183" y="35052"/>
                </a:lnTo>
                <a:lnTo>
                  <a:pt x="330707" y="35052"/>
                </a:lnTo>
                <a:lnTo>
                  <a:pt x="330707" y="36576"/>
                </a:lnTo>
                <a:lnTo>
                  <a:pt x="338327" y="41148"/>
                </a:lnTo>
                <a:lnTo>
                  <a:pt x="339851" y="41148"/>
                </a:lnTo>
                <a:lnTo>
                  <a:pt x="347472" y="45720"/>
                </a:lnTo>
                <a:lnTo>
                  <a:pt x="348996" y="45720"/>
                </a:lnTo>
                <a:lnTo>
                  <a:pt x="358139" y="48768"/>
                </a:lnTo>
                <a:lnTo>
                  <a:pt x="368807" y="51816"/>
                </a:lnTo>
                <a:lnTo>
                  <a:pt x="592835" y="51816"/>
                </a:lnTo>
                <a:lnTo>
                  <a:pt x="620267" y="56388"/>
                </a:lnTo>
                <a:lnTo>
                  <a:pt x="618743" y="56388"/>
                </a:lnTo>
                <a:lnTo>
                  <a:pt x="626363" y="60960"/>
                </a:lnTo>
                <a:lnTo>
                  <a:pt x="624839" y="59436"/>
                </a:lnTo>
                <a:lnTo>
                  <a:pt x="651509" y="59436"/>
                </a:lnTo>
                <a:lnTo>
                  <a:pt x="650747" y="57912"/>
                </a:lnTo>
                <a:lnTo>
                  <a:pt x="649223" y="56388"/>
                </a:lnTo>
                <a:lnTo>
                  <a:pt x="644651" y="50292"/>
                </a:lnTo>
                <a:lnTo>
                  <a:pt x="643127" y="50292"/>
                </a:lnTo>
                <a:lnTo>
                  <a:pt x="643127" y="48768"/>
                </a:lnTo>
                <a:lnTo>
                  <a:pt x="635507" y="44196"/>
                </a:lnTo>
                <a:lnTo>
                  <a:pt x="626363" y="39624"/>
                </a:lnTo>
                <a:lnTo>
                  <a:pt x="624839" y="39624"/>
                </a:lnTo>
                <a:lnTo>
                  <a:pt x="615695" y="35052"/>
                </a:lnTo>
                <a:lnTo>
                  <a:pt x="603503" y="33528"/>
                </a:lnTo>
                <a:lnTo>
                  <a:pt x="382524" y="33528"/>
                </a:lnTo>
                <a:lnTo>
                  <a:pt x="364235" y="30480"/>
                </a:lnTo>
                <a:lnTo>
                  <a:pt x="359663" y="28956"/>
                </a:lnTo>
                <a:lnTo>
                  <a:pt x="356615" y="28956"/>
                </a:lnTo>
                <a:lnTo>
                  <a:pt x="350520" y="25908"/>
                </a:lnTo>
                <a:lnTo>
                  <a:pt x="348996" y="25908"/>
                </a:lnTo>
                <a:lnTo>
                  <a:pt x="341375" y="18288"/>
                </a:lnTo>
                <a:lnTo>
                  <a:pt x="339851" y="18288"/>
                </a:lnTo>
                <a:lnTo>
                  <a:pt x="336803" y="12192"/>
                </a:lnTo>
                <a:close/>
              </a:path>
              <a:path w="655320" h="76200">
                <a:moveTo>
                  <a:pt x="336803" y="12192"/>
                </a:moveTo>
                <a:lnTo>
                  <a:pt x="318515" y="12192"/>
                </a:lnTo>
                <a:lnTo>
                  <a:pt x="320039" y="18288"/>
                </a:lnTo>
                <a:lnTo>
                  <a:pt x="320039" y="21336"/>
                </a:lnTo>
                <a:lnTo>
                  <a:pt x="323087" y="27432"/>
                </a:lnTo>
                <a:lnTo>
                  <a:pt x="324611" y="27432"/>
                </a:lnTo>
                <a:lnTo>
                  <a:pt x="324611" y="28956"/>
                </a:lnTo>
                <a:lnTo>
                  <a:pt x="327659" y="33020"/>
                </a:lnTo>
                <a:lnTo>
                  <a:pt x="330707" y="28956"/>
                </a:lnTo>
                <a:lnTo>
                  <a:pt x="332231" y="27432"/>
                </a:lnTo>
                <a:lnTo>
                  <a:pt x="335279" y="21336"/>
                </a:lnTo>
                <a:lnTo>
                  <a:pt x="335279" y="18288"/>
                </a:lnTo>
                <a:lnTo>
                  <a:pt x="336803" y="12192"/>
                </a:lnTo>
                <a:close/>
              </a:path>
              <a:path w="655320" h="76200">
                <a:moveTo>
                  <a:pt x="355092" y="27432"/>
                </a:moveTo>
                <a:lnTo>
                  <a:pt x="356615" y="28956"/>
                </a:lnTo>
                <a:lnTo>
                  <a:pt x="359663" y="28956"/>
                </a:lnTo>
                <a:lnTo>
                  <a:pt x="355092" y="27432"/>
                </a:lnTo>
                <a:close/>
              </a:path>
              <a:path w="655320" h="76200">
                <a:moveTo>
                  <a:pt x="315772" y="17678"/>
                </a:moveTo>
                <a:lnTo>
                  <a:pt x="310896" y="21336"/>
                </a:lnTo>
                <a:lnTo>
                  <a:pt x="306324" y="25908"/>
                </a:lnTo>
                <a:lnTo>
                  <a:pt x="322325" y="25908"/>
                </a:lnTo>
                <a:lnTo>
                  <a:pt x="320039" y="21336"/>
                </a:lnTo>
                <a:lnTo>
                  <a:pt x="320039" y="18288"/>
                </a:lnTo>
                <a:lnTo>
                  <a:pt x="315468" y="18288"/>
                </a:lnTo>
                <a:lnTo>
                  <a:pt x="315772" y="17678"/>
                </a:lnTo>
                <a:close/>
              </a:path>
              <a:path w="655320" h="76200">
                <a:moveTo>
                  <a:pt x="347472" y="24384"/>
                </a:moveTo>
                <a:lnTo>
                  <a:pt x="348996" y="25908"/>
                </a:lnTo>
                <a:lnTo>
                  <a:pt x="350520" y="25908"/>
                </a:lnTo>
                <a:lnTo>
                  <a:pt x="347472" y="24384"/>
                </a:lnTo>
                <a:close/>
              </a:path>
              <a:path w="655320" h="76200">
                <a:moveTo>
                  <a:pt x="316992" y="16764"/>
                </a:moveTo>
                <a:lnTo>
                  <a:pt x="315772" y="17678"/>
                </a:lnTo>
                <a:lnTo>
                  <a:pt x="315468" y="18288"/>
                </a:lnTo>
                <a:lnTo>
                  <a:pt x="316992" y="16764"/>
                </a:lnTo>
                <a:close/>
              </a:path>
              <a:path w="655320" h="76200">
                <a:moveTo>
                  <a:pt x="319658" y="16764"/>
                </a:moveTo>
                <a:lnTo>
                  <a:pt x="316992" y="16764"/>
                </a:lnTo>
                <a:lnTo>
                  <a:pt x="315468" y="18288"/>
                </a:lnTo>
                <a:lnTo>
                  <a:pt x="320039" y="18288"/>
                </a:lnTo>
                <a:lnTo>
                  <a:pt x="319658" y="16764"/>
                </a:lnTo>
                <a:close/>
              </a:path>
              <a:path w="655320" h="76200">
                <a:moveTo>
                  <a:pt x="339851" y="16764"/>
                </a:moveTo>
                <a:lnTo>
                  <a:pt x="339851" y="18288"/>
                </a:lnTo>
                <a:lnTo>
                  <a:pt x="341375" y="18288"/>
                </a:lnTo>
                <a:lnTo>
                  <a:pt x="339851" y="16764"/>
                </a:lnTo>
                <a:close/>
              </a:path>
              <a:path w="655320" h="76200">
                <a:moveTo>
                  <a:pt x="318515" y="12192"/>
                </a:moveTo>
                <a:lnTo>
                  <a:pt x="315772" y="17678"/>
                </a:lnTo>
                <a:lnTo>
                  <a:pt x="316992" y="16764"/>
                </a:lnTo>
                <a:lnTo>
                  <a:pt x="319658" y="16764"/>
                </a:lnTo>
                <a:lnTo>
                  <a:pt x="318515" y="12192"/>
                </a:lnTo>
                <a:close/>
              </a:path>
              <a:path w="655320" h="76200">
                <a:moveTo>
                  <a:pt x="332231" y="0"/>
                </a:moveTo>
                <a:lnTo>
                  <a:pt x="323087" y="0"/>
                </a:lnTo>
                <a:lnTo>
                  <a:pt x="318515" y="3048"/>
                </a:lnTo>
                <a:lnTo>
                  <a:pt x="318515" y="7620"/>
                </a:lnTo>
                <a:lnTo>
                  <a:pt x="316992" y="15240"/>
                </a:lnTo>
                <a:lnTo>
                  <a:pt x="318515" y="12192"/>
                </a:lnTo>
                <a:lnTo>
                  <a:pt x="337718" y="12192"/>
                </a:lnTo>
                <a:lnTo>
                  <a:pt x="336803" y="7620"/>
                </a:lnTo>
                <a:lnTo>
                  <a:pt x="336803" y="3048"/>
                </a:lnTo>
                <a:lnTo>
                  <a:pt x="332231" y="0"/>
                </a:lnTo>
                <a:close/>
              </a:path>
              <a:path w="655320" h="76200">
                <a:moveTo>
                  <a:pt x="337718" y="12192"/>
                </a:moveTo>
                <a:lnTo>
                  <a:pt x="336803" y="12192"/>
                </a:lnTo>
                <a:lnTo>
                  <a:pt x="338327" y="15240"/>
                </a:lnTo>
                <a:lnTo>
                  <a:pt x="337718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849097" y="6457624"/>
            <a:ext cx="673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F</a:t>
            </a:r>
            <a:r>
              <a:rPr sz="1200" spc="-1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eque</a:t>
            </a:r>
            <a:r>
              <a:rPr sz="1200" spc="-10" dirty="0">
                <a:latin typeface="Calibri"/>
                <a:cs typeface="Calibri"/>
              </a:rPr>
              <a:t>n</a:t>
            </a:r>
            <a:r>
              <a:rPr sz="1200" spc="-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0739" y="5281676"/>
            <a:ext cx="675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Amplitude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99" y="777092"/>
            <a:ext cx="63265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-5" dirty="0"/>
              <a:t>Frequency Shift</a:t>
            </a:r>
            <a:r>
              <a:rPr sz="4800" u="none" spc="-20" dirty="0"/>
              <a:t> </a:t>
            </a:r>
            <a:r>
              <a:rPr sz="4800" u="none" spc="-5" dirty="0"/>
              <a:t>Keying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42859" y="1812319"/>
            <a:ext cx="8472805" cy="4356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85115" algn="l"/>
                <a:tab pos="285750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varied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represent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814069" marR="588645" lvl="1" indent="-344805">
              <a:lnSpc>
                <a:spcPct val="100000"/>
              </a:lnSpc>
              <a:spcBef>
                <a:spcPts val="30"/>
              </a:spcBef>
              <a:buChar char="◦"/>
              <a:tabLst>
                <a:tab pos="814069" algn="l"/>
                <a:tab pos="81470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frequency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modulated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 is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constant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duration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one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element</a:t>
            </a:r>
            <a:endParaRPr sz="2400">
              <a:latin typeface="Calibri"/>
              <a:cs typeface="Calibri"/>
            </a:endParaRPr>
          </a:p>
          <a:p>
            <a:pPr marL="814069" marR="347980" lvl="1" indent="-344805">
              <a:lnSpc>
                <a:spcPct val="100000"/>
              </a:lnSpc>
              <a:buChar char="◦"/>
              <a:tabLst>
                <a:tab pos="814069" algn="l"/>
                <a:tab pos="81470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but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changes 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next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 element if the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data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element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endParaRPr sz="2400">
              <a:latin typeface="Calibri"/>
              <a:cs typeface="Calibri"/>
            </a:endParaRPr>
          </a:p>
          <a:p>
            <a:pPr marL="285115" marR="271780" indent="-273050">
              <a:lnSpc>
                <a:spcPts val="3360"/>
              </a:lnSpc>
              <a:spcBef>
                <a:spcPts val="80"/>
              </a:spcBef>
              <a:buFont typeface="Arial MT"/>
              <a:buChar char="•"/>
              <a:tabLst>
                <a:tab pos="285115" algn="l"/>
                <a:tab pos="285750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Both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peak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remain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constant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all </a:t>
            </a:r>
            <a:r>
              <a:rPr sz="2800" spc="-6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elements</a:t>
            </a:r>
            <a:endParaRPr sz="2800">
              <a:latin typeface="Calibri"/>
              <a:cs typeface="Calibri"/>
            </a:endParaRPr>
          </a:p>
          <a:p>
            <a:pPr marL="285115" indent="-273050">
              <a:lnSpc>
                <a:spcPts val="3250"/>
              </a:lnSpc>
              <a:buFont typeface="Arial MT"/>
              <a:buChar char="•"/>
              <a:tabLst>
                <a:tab pos="285115" algn="l"/>
                <a:tab pos="285750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Binary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FSK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(or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BFSK)</a:t>
            </a:r>
            <a:endParaRPr sz="2800">
              <a:latin typeface="Calibri"/>
              <a:cs typeface="Calibri"/>
            </a:endParaRPr>
          </a:p>
          <a:p>
            <a:pPr marL="814069" lvl="1" indent="-344805">
              <a:lnSpc>
                <a:spcPts val="2865"/>
              </a:lnSpc>
              <a:spcBef>
                <a:spcPts val="30"/>
              </a:spcBef>
              <a:buChar char="◦"/>
              <a:tabLst>
                <a:tab pos="814069" algn="l"/>
                <a:tab pos="814705" algn="l"/>
                <a:tab pos="494982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consider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frequencies	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f1</a:t>
            </a:r>
            <a:r>
              <a:rPr sz="2400" i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4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5" dirty="0">
                <a:solidFill>
                  <a:srgbClr val="3F3F3F"/>
                </a:solidFill>
                <a:latin typeface="Calibri"/>
                <a:cs typeface="Calibri"/>
              </a:rPr>
              <a:t>f2</a:t>
            </a:r>
            <a:endParaRPr sz="2400">
              <a:latin typeface="Calibri"/>
              <a:cs typeface="Calibri"/>
            </a:endParaRPr>
          </a:p>
          <a:p>
            <a:pPr marL="285115" indent="-273050">
              <a:lnSpc>
                <a:spcPts val="3345"/>
              </a:lnSpc>
              <a:buFont typeface="Arial MT"/>
              <a:buChar char="•"/>
              <a:tabLst>
                <a:tab pos="285115" algn="l"/>
                <a:tab pos="285750" algn="l"/>
              </a:tabLst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Multilevel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FSK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(MFSK)</a:t>
            </a:r>
            <a:endParaRPr sz="2800">
              <a:latin typeface="Calibri"/>
              <a:cs typeface="Calibri"/>
            </a:endParaRPr>
          </a:p>
          <a:p>
            <a:pPr marL="814069" lvl="1" indent="-344805">
              <a:lnSpc>
                <a:spcPct val="100000"/>
              </a:lnSpc>
              <a:spcBef>
                <a:spcPts val="30"/>
              </a:spcBef>
              <a:buChar char="◦"/>
              <a:tabLst>
                <a:tab pos="814069" algn="l"/>
                <a:tab pos="814705" algn="l"/>
              </a:tabLst>
            </a:pP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more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than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frequencies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60247" y="6857999"/>
              <a:ext cx="9139555" cy="455930"/>
            </a:xfrm>
            <a:custGeom>
              <a:avLst/>
              <a:gdLst/>
              <a:ahLst/>
              <a:cxnLst/>
              <a:rect l="l" t="t" r="r" b="b"/>
              <a:pathLst>
                <a:path w="9139555" h="455929">
                  <a:moveTo>
                    <a:pt x="9139427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39427" y="455675"/>
                  </a:lnTo>
                  <a:lnTo>
                    <a:pt x="9139427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1460" cy="62865"/>
            </a:xfrm>
            <a:custGeom>
              <a:avLst/>
              <a:gdLst/>
              <a:ahLst/>
              <a:cxnLst/>
              <a:rect l="l" t="t" r="r" b="b"/>
              <a:pathLst>
                <a:path w="9141460" h="62865">
                  <a:moveTo>
                    <a:pt x="9140951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140951" y="62484"/>
                  </a:lnTo>
                  <a:lnTo>
                    <a:pt x="9140951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99" y="841099"/>
            <a:ext cx="75355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dirty="0"/>
              <a:t>Binary</a:t>
            </a:r>
            <a:r>
              <a:rPr sz="4400" u="none" spc="-35" dirty="0"/>
              <a:t> </a:t>
            </a:r>
            <a:r>
              <a:rPr sz="4400" u="none" spc="-5" dirty="0"/>
              <a:t>Frequency</a:t>
            </a:r>
            <a:r>
              <a:rPr sz="4400" u="none" spc="-20" dirty="0"/>
              <a:t> </a:t>
            </a:r>
            <a:r>
              <a:rPr sz="4400" u="none" spc="-5" dirty="0"/>
              <a:t>Shift</a:t>
            </a:r>
            <a:r>
              <a:rPr sz="4400" u="none" spc="-25" dirty="0"/>
              <a:t> </a:t>
            </a:r>
            <a:r>
              <a:rPr sz="4400" u="none" spc="-5" dirty="0"/>
              <a:t>Keying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4951"/>
              <a:ext cx="9142730" cy="3175"/>
            </a:xfrm>
            <a:custGeom>
              <a:avLst/>
              <a:gdLst/>
              <a:ahLst/>
              <a:cxnLst/>
              <a:rect l="l" t="t" r="r" b="b"/>
              <a:pathLst>
                <a:path w="9142730" h="3175">
                  <a:moveTo>
                    <a:pt x="0" y="3047"/>
                  </a:moveTo>
                  <a:lnTo>
                    <a:pt x="9142475" y="304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0247" y="6858000"/>
              <a:ext cx="9139555" cy="455930"/>
            </a:xfrm>
            <a:custGeom>
              <a:avLst/>
              <a:gdLst/>
              <a:ahLst/>
              <a:cxnLst/>
              <a:rect l="l" t="t" r="r" b="b"/>
              <a:pathLst>
                <a:path w="9139555" h="455929">
                  <a:moveTo>
                    <a:pt x="9139427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39427" y="455675"/>
                  </a:lnTo>
                  <a:lnTo>
                    <a:pt x="9139427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1460" cy="62865"/>
            </a:xfrm>
            <a:custGeom>
              <a:avLst/>
              <a:gdLst/>
              <a:ahLst/>
              <a:cxnLst/>
              <a:rect l="l" t="t" r="r" b="b"/>
              <a:pathLst>
                <a:path w="9141460" h="62865">
                  <a:moveTo>
                    <a:pt x="9140951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140951" y="62484"/>
                  </a:lnTo>
                  <a:lnTo>
                    <a:pt x="9140951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04759" y="1610360"/>
            <a:ext cx="8657590" cy="3195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329" indent="-1771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27965" algn="l"/>
                <a:tab pos="509460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Consider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frequencies	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f1</a:t>
            </a:r>
            <a:r>
              <a:rPr sz="28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i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f2</a:t>
            </a:r>
            <a:endParaRPr sz="2800">
              <a:latin typeface="Calibri"/>
              <a:cs typeface="Calibri"/>
            </a:endParaRPr>
          </a:p>
          <a:p>
            <a:pPr marL="772795" lvl="1" indent="-265430">
              <a:lnSpc>
                <a:spcPct val="100000"/>
              </a:lnSpc>
              <a:spcBef>
                <a:spcPts val="25"/>
              </a:spcBef>
              <a:buFont typeface="Calibri"/>
              <a:buChar char="◦"/>
              <a:tabLst>
                <a:tab pos="772795" algn="l"/>
                <a:tab pos="773430" algn="l"/>
              </a:tabLst>
            </a:pP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first</a:t>
            </a:r>
            <a:r>
              <a:rPr sz="2400" i="1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4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frequency 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400" i="1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data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element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0</a:t>
            </a:r>
            <a:endParaRPr sz="2400">
              <a:latin typeface="Calibri"/>
              <a:cs typeface="Calibri"/>
            </a:endParaRPr>
          </a:p>
          <a:p>
            <a:pPr marL="772795" lvl="1" indent="-265430">
              <a:lnSpc>
                <a:spcPct val="100000"/>
              </a:lnSpc>
              <a:buChar char="◦"/>
              <a:tabLst>
                <a:tab pos="772795" algn="l"/>
                <a:tab pos="773430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Second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4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400" i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he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element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772795" marR="372745" lvl="1" indent="-265430">
              <a:lnSpc>
                <a:spcPct val="100000"/>
              </a:lnSpc>
              <a:buChar char="◦"/>
              <a:tabLst>
                <a:tab pos="772795" algn="l"/>
                <a:tab pos="773430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frequencies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very</a:t>
            </a:r>
            <a:r>
              <a:rPr sz="24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high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difference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between </a:t>
            </a:r>
            <a:r>
              <a:rPr sz="2400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them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very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small</a:t>
            </a:r>
            <a:endParaRPr sz="2400">
              <a:latin typeface="Calibri"/>
              <a:cs typeface="Calibri"/>
            </a:endParaRPr>
          </a:p>
          <a:p>
            <a:pPr marL="227329" marR="30480" indent="-177165">
              <a:lnSpc>
                <a:spcPts val="3360"/>
              </a:lnSpc>
              <a:spcBef>
                <a:spcPts val="85"/>
              </a:spcBef>
              <a:buFont typeface="Arial MT"/>
              <a:buChar char="•"/>
              <a:tabLst>
                <a:tab pos="227965" algn="l"/>
              </a:tabLst>
            </a:pP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Both f1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f2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are 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Δ</a:t>
            </a:r>
            <a:r>
              <a:rPr sz="2775" i="1" baseline="-21021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r>
              <a:rPr sz="2775" i="1" spc="7" baseline="-2102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apart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from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the midpoint between the </a:t>
            </a:r>
            <a:r>
              <a:rPr sz="2800" i="1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 bands</a:t>
            </a:r>
            <a:endParaRPr sz="2800">
              <a:latin typeface="Calibri"/>
              <a:cs typeface="Calibri"/>
            </a:endParaRPr>
          </a:p>
          <a:p>
            <a:pPr marL="227329" indent="-177165">
              <a:lnSpc>
                <a:spcPts val="3250"/>
              </a:lnSpc>
              <a:buFont typeface="Arial MT"/>
              <a:buChar char="•"/>
              <a:tabLst>
                <a:tab pos="227965" algn="l"/>
              </a:tabLst>
            </a:pP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i="1" spc="-15" dirty="0">
                <a:solidFill>
                  <a:srgbClr val="3F3F3F"/>
                </a:solidFill>
                <a:latin typeface="Calibri"/>
                <a:cs typeface="Calibri"/>
              </a:rPr>
              <a:t> difference</a:t>
            </a:r>
            <a:r>
              <a:rPr sz="2800" i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frequencies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2Δ</a:t>
            </a:r>
            <a:r>
              <a:rPr sz="2775" i="1" baseline="-21021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endParaRPr sz="2775" baseline="-21021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5800" y="4952999"/>
            <a:ext cx="6535420" cy="2019300"/>
            <a:chOff x="685800" y="4952999"/>
            <a:chExt cx="6535420" cy="20193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4952999"/>
              <a:ext cx="3953255" cy="19720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953000"/>
              <a:ext cx="2115311" cy="2019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99" y="777092"/>
            <a:ext cx="55156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-5" dirty="0"/>
              <a:t>Bandwidth</a:t>
            </a:r>
            <a:r>
              <a:rPr sz="4800" u="none" spc="-25" dirty="0"/>
              <a:t> </a:t>
            </a:r>
            <a:r>
              <a:rPr sz="4800" u="none" spc="-5" dirty="0"/>
              <a:t>for</a:t>
            </a:r>
            <a:r>
              <a:rPr sz="4800" u="none" spc="10" dirty="0"/>
              <a:t> </a:t>
            </a:r>
            <a:r>
              <a:rPr sz="4800" i="1" u="none" spc="-5" dirty="0">
                <a:latin typeface="Arial"/>
                <a:cs typeface="Arial"/>
              </a:rPr>
              <a:t>BFSK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0159" y="1613408"/>
            <a:ext cx="8715375" cy="4754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755" marR="136525" indent="-1739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99390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carrier signal is only one simple sine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wave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-&gt; has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continuous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set of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frequencies</a:t>
            </a:r>
            <a:endParaRPr sz="2400">
              <a:latin typeface="Calibri"/>
              <a:cs typeface="Calibri"/>
            </a:endParaRPr>
          </a:p>
          <a:p>
            <a:pPr marL="198755" indent="-173990">
              <a:lnSpc>
                <a:spcPct val="100000"/>
              </a:lnSpc>
              <a:buFont typeface="Arial MT"/>
              <a:buChar char="•"/>
              <a:tabLst>
                <a:tab pos="199390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produces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nonperiodic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composite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  <a:p>
            <a:pPr marL="198755" indent="-173990">
              <a:lnSpc>
                <a:spcPct val="100000"/>
              </a:lnSpc>
              <a:buFont typeface="Arial MT"/>
              <a:buChar char="•"/>
              <a:tabLst>
                <a:tab pos="199390" algn="l"/>
              </a:tabLst>
            </a:pPr>
            <a:r>
              <a:rPr sz="2400" spc="-5" dirty="0">
                <a:latin typeface="Calibri"/>
                <a:cs typeface="Calibri"/>
              </a:rPr>
              <a:t>Consider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FSK</a:t>
            </a:r>
            <a:r>
              <a:rPr sz="2400" spc="-5" dirty="0">
                <a:latin typeface="Calibri"/>
                <a:cs typeface="Calibri"/>
              </a:rPr>
              <a:t> is</a:t>
            </a:r>
            <a:r>
              <a:rPr sz="2400" spc="-10" dirty="0">
                <a:latin typeface="Calibri"/>
                <a:cs typeface="Calibri"/>
              </a:rPr>
              <a:t> two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ASK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signals,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its</a:t>
            </a:r>
            <a:r>
              <a:rPr sz="2400" spc="-10" dirty="0">
                <a:latin typeface="Calibri"/>
                <a:cs typeface="Calibri"/>
              </a:rPr>
              <a:t> own </a:t>
            </a:r>
            <a:r>
              <a:rPr sz="2400" spc="-5" dirty="0">
                <a:latin typeface="Calibri"/>
                <a:cs typeface="Calibri"/>
              </a:rPr>
              <a:t>carrier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frequency</a:t>
            </a:r>
            <a:r>
              <a:rPr sz="2400" dirty="0">
                <a:latin typeface="Calibri"/>
                <a:cs typeface="Calibri"/>
              </a:rPr>
              <a:t> (</a:t>
            </a:r>
            <a:endParaRPr sz="2400">
              <a:latin typeface="Calibri"/>
              <a:cs typeface="Calibri"/>
            </a:endParaRPr>
          </a:p>
          <a:p>
            <a:pPr marL="198755">
              <a:lnSpc>
                <a:spcPct val="100000"/>
              </a:lnSpc>
            </a:pPr>
            <a:r>
              <a:rPr sz="2400" i="1" spc="-5" dirty="0">
                <a:latin typeface="Calibri"/>
                <a:cs typeface="Calibri"/>
              </a:rPr>
              <a:t>f1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or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f2)</a:t>
            </a:r>
            <a:endParaRPr sz="2400">
              <a:latin typeface="Calibri"/>
              <a:cs typeface="Calibri"/>
            </a:endParaRPr>
          </a:p>
          <a:p>
            <a:pPr marL="198755" indent="-173990">
              <a:lnSpc>
                <a:spcPct val="100000"/>
              </a:lnSpc>
              <a:buFont typeface="Arial MT"/>
              <a:buChar char="•"/>
              <a:tabLst>
                <a:tab pos="199390" algn="l"/>
              </a:tabLst>
            </a:pPr>
            <a:r>
              <a:rPr sz="2400" i="1" spc="-10" dirty="0">
                <a:latin typeface="Calibri"/>
                <a:cs typeface="Calibri"/>
              </a:rPr>
              <a:t>difference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between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the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two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frequencies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is</a:t>
            </a:r>
            <a:r>
              <a:rPr sz="2400" i="1" spc="7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2Δ</a:t>
            </a:r>
            <a:r>
              <a:rPr sz="2400" i="1" spc="-7" baseline="-20833" dirty="0">
                <a:latin typeface="Calibri"/>
                <a:cs typeface="Calibri"/>
              </a:rPr>
              <a:t>f</a:t>
            </a:r>
            <a:endParaRPr sz="2400" baseline="-20833">
              <a:latin typeface="Calibri"/>
              <a:cs typeface="Calibri"/>
            </a:endParaRPr>
          </a:p>
          <a:p>
            <a:pPr marL="649605" marR="1096645" lvl="1" indent="-167640">
              <a:lnSpc>
                <a:spcPct val="100000"/>
              </a:lnSpc>
              <a:buChar char="◦"/>
              <a:tabLst>
                <a:tab pos="650240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minimum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2Δ</a:t>
            </a:r>
            <a:r>
              <a:rPr sz="2400" i="1" spc="-7" baseline="-20833" dirty="0">
                <a:latin typeface="Calibri"/>
                <a:cs typeface="Calibri"/>
              </a:rPr>
              <a:t>f</a:t>
            </a:r>
            <a:r>
              <a:rPr sz="2400" i="1" spc="254" baseline="-20833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should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at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least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4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proper </a:t>
            </a:r>
            <a:r>
              <a:rPr sz="2400" spc="-5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operation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demodulation.</a:t>
            </a:r>
            <a:endParaRPr sz="2400">
              <a:latin typeface="Calibri"/>
              <a:cs typeface="Calibri"/>
            </a:endParaRPr>
          </a:p>
          <a:p>
            <a:pPr marL="346710">
              <a:lnSpc>
                <a:spcPts val="3329"/>
              </a:lnSpc>
            </a:pP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800" i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(1</a:t>
            </a:r>
            <a:r>
              <a:rPr sz="28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+</a:t>
            </a:r>
            <a:r>
              <a:rPr sz="28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d)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x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8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+</a:t>
            </a:r>
            <a:r>
              <a:rPr sz="28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8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F3F3F"/>
                </a:solidFill>
                <a:latin typeface="Calibri"/>
                <a:cs typeface="Calibri"/>
              </a:rPr>
              <a:t>shift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8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5" dirty="0">
                <a:solidFill>
                  <a:srgbClr val="3F3F3F"/>
                </a:solidFill>
                <a:latin typeface="Calibri"/>
                <a:cs typeface="Calibri"/>
              </a:rPr>
              <a:t>(1</a:t>
            </a:r>
            <a:r>
              <a:rPr sz="2800" i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+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d)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x</a:t>
            </a:r>
            <a:r>
              <a:rPr sz="2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F3F3F"/>
                </a:solidFill>
                <a:latin typeface="Calibri"/>
                <a:cs typeface="Calibri"/>
              </a:rPr>
              <a:t>+</a:t>
            </a:r>
            <a:r>
              <a:rPr sz="2800" i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2Δ</a:t>
            </a:r>
            <a:r>
              <a:rPr sz="2775" i="1" baseline="-21021" dirty="0">
                <a:latin typeface="Calibri"/>
                <a:cs typeface="Calibri"/>
              </a:rPr>
              <a:t>f</a:t>
            </a:r>
            <a:endParaRPr sz="2775" baseline="-21021">
              <a:latin typeface="Calibri"/>
              <a:cs typeface="Calibri"/>
            </a:endParaRPr>
          </a:p>
          <a:p>
            <a:pPr marL="650240" lvl="1" indent="-167640">
              <a:lnSpc>
                <a:spcPct val="100000"/>
              </a:lnSpc>
              <a:spcBef>
                <a:spcPts val="25"/>
              </a:spcBef>
              <a:buChar char="◦"/>
              <a:tabLst>
                <a:tab pos="650240" algn="l"/>
              </a:tabLst>
            </a:pP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endParaRPr sz="2400">
              <a:latin typeface="Calibri"/>
              <a:cs typeface="Calibri"/>
            </a:endParaRPr>
          </a:p>
          <a:p>
            <a:pPr marL="650240" lvl="1" indent="-167640">
              <a:lnSpc>
                <a:spcPct val="100000"/>
              </a:lnSpc>
              <a:buFont typeface="Calibri"/>
              <a:buChar char="◦"/>
              <a:tabLst>
                <a:tab pos="650240" algn="l"/>
              </a:tabLst>
            </a:pP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400" i="1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i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endParaRPr sz="2400">
              <a:latin typeface="Calibri"/>
              <a:cs typeface="Calibri"/>
            </a:endParaRPr>
          </a:p>
          <a:p>
            <a:pPr marL="650240" lvl="1" indent="-167640">
              <a:lnSpc>
                <a:spcPct val="100000"/>
              </a:lnSpc>
              <a:buFont typeface="Calibri"/>
              <a:buChar char="◦"/>
              <a:tabLst>
                <a:tab pos="650240" algn="l"/>
              </a:tabLst>
            </a:pP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400" i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depends 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400" i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4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filtering</a:t>
            </a:r>
            <a:r>
              <a:rPr sz="2400" i="1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process</a:t>
            </a:r>
            <a:endParaRPr sz="2400">
              <a:latin typeface="Calibri"/>
              <a:cs typeface="Calibri"/>
            </a:endParaRPr>
          </a:p>
          <a:p>
            <a:pPr marL="700405" lvl="1" indent="-218440">
              <a:lnSpc>
                <a:spcPct val="100000"/>
              </a:lnSpc>
              <a:spcBef>
                <a:spcPts val="35"/>
              </a:spcBef>
              <a:buChar char="◦"/>
              <a:tabLst>
                <a:tab pos="700405" algn="l"/>
                <a:tab pos="701040" algn="l"/>
              </a:tabLst>
            </a:pP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1800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1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between</a:t>
            </a:r>
            <a:r>
              <a:rPr sz="1800" i="1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r>
              <a:rPr sz="1800" i="1" spc="-5" dirty="0">
                <a:solidFill>
                  <a:srgbClr val="3F3F3F"/>
                </a:solidFill>
                <a:latin typeface="Calibri"/>
                <a:cs typeface="Calibri"/>
              </a:rPr>
              <a:t> and</a:t>
            </a:r>
            <a:r>
              <a:rPr sz="1800" i="1" dirty="0">
                <a:solidFill>
                  <a:srgbClr val="3F3F3F"/>
                </a:solidFill>
                <a:latin typeface="Calibri"/>
                <a:cs typeface="Calibri"/>
              </a:rPr>
              <a:t> 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60247" y="6857999"/>
              <a:ext cx="9139555" cy="455930"/>
            </a:xfrm>
            <a:custGeom>
              <a:avLst/>
              <a:gdLst/>
              <a:ahLst/>
              <a:cxnLst/>
              <a:rect l="l" t="t" r="r" b="b"/>
              <a:pathLst>
                <a:path w="9139555" h="455929">
                  <a:moveTo>
                    <a:pt x="9139427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39427" y="455675"/>
                  </a:lnTo>
                  <a:lnTo>
                    <a:pt x="9139427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1460" cy="62865"/>
            </a:xfrm>
            <a:custGeom>
              <a:avLst/>
              <a:gdLst/>
              <a:ahLst/>
              <a:cxnLst/>
              <a:rect l="l" t="t" r="r" b="b"/>
              <a:pathLst>
                <a:path w="9141460" h="62865">
                  <a:moveTo>
                    <a:pt x="9140951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140951" y="62484"/>
                  </a:lnTo>
                  <a:lnTo>
                    <a:pt x="9140951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Phase</a:t>
            </a:r>
            <a:r>
              <a:rPr spc="-145" dirty="0"/>
              <a:t> </a:t>
            </a:r>
            <a:r>
              <a:rPr spc="-40" dirty="0"/>
              <a:t>Shift</a:t>
            </a:r>
            <a:r>
              <a:rPr spc="-130" dirty="0"/>
              <a:t> </a:t>
            </a:r>
            <a:r>
              <a:rPr spc="-45" dirty="0"/>
              <a:t>Keying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69826"/>
            <a:ext cx="8187055" cy="42564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16002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varied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represent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or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more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elements</a:t>
            </a:r>
            <a:endParaRPr sz="2800">
              <a:latin typeface="Calibri"/>
              <a:cs typeface="Calibri"/>
            </a:endParaRPr>
          </a:p>
          <a:p>
            <a:pPr marL="189230" marR="5080" indent="-177165">
              <a:lnSpc>
                <a:spcPts val="3020"/>
              </a:lnSpc>
              <a:spcBef>
                <a:spcPts val="141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Both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peak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remain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constant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as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3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90" dirty="0">
                <a:solidFill>
                  <a:srgbClr val="3F3F3F"/>
                </a:solidFill>
                <a:latin typeface="Calibri"/>
                <a:cs typeface="Calibri"/>
              </a:rPr>
              <a:t>Today,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PSK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more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common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than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ASK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or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FSK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Binary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Shift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Keying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5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4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elements</a:t>
            </a:r>
            <a:endParaRPr sz="24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23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Quadrature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PSK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(QPSK)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3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uses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separate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BPSK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modulations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57932" y="7058621"/>
            <a:ext cx="21272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100"/>
                </a:lnSpc>
              </a:pPr>
              <a:t>84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Binary</a:t>
            </a:r>
            <a:r>
              <a:rPr spc="-130" dirty="0"/>
              <a:t> </a:t>
            </a:r>
            <a:r>
              <a:rPr spc="-45" dirty="0"/>
              <a:t>Phase</a:t>
            </a:r>
            <a:r>
              <a:rPr spc="-125" dirty="0"/>
              <a:t> </a:t>
            </a:r>
            <a:r>
              <a:rPr spc="-40" dirty="0"/>
              <a:t>Shift</a:t>
            </a:r>
            <a:r>
              <a:rPr spc="-120" dirty="0"/>
              <a:t> </a:t>
            </a:r>
            <a:r>
              <a:rPr spc="-45" dirty="0"/>
              <a:t>Keying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633581"/>
            <a:ext cx="3773804" cy="192658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116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Binary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PSK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7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two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elements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4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phase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85" dirty="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r>
              <a:rPr sz="2400" spc="-185" dirty="0">
                <a:solidFill>
                  <a:srgbClr val="3F3F3F"/>
                </a:solidFill>
                <a:latin typeface="Microsoft Sans Serif"/>
                <a:cs typeface="Microsoft Sans Serif"/>
              </a:rPr>
              <a:t>°</a:t>
            </a:r>
            <a:endParaRPr sz="2400">
              <a:latin typeface="Microsoft Sans Serif"/>
              <a:cs typeface="Microsoft Sans Serif"/>
            </a:endParaRPr>
          </a:p>
          <a:p>
            <a:pPr marL="419100" lvl="1" indent="-183515">
              <a:lnSpc>
                <a:spcPct val="100000"/>
              </a:lnSpc>
              <a:spcBef>
                <a:spcPts val="31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other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95" dirty="0">
                <a:solidFill>
                  <a:srgbClr val="3F3F3F"/>
                </a:solidFill>
                <a:latin typeface="Calibri"/>
                <a:cs typeface="Calibri"/>
              </a:rPr>
              <a:t>180</a:t>
            </a:r>
            <a:r>
              <a:rPr sz="2400" spc="-95" dirty="0">
                <a:solidFill>
                  <a:srgbClr val="3F3F3F"/>
                </a:solidFill>
                <a:latin typeface="Microsoft Sans Serif"/>
                <a:cs typeface="Microsoft Sans Serif"/>
              </a:rPr>
              <a:t>°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4190999"/>
            <a:ext cx="8382000" cy="22478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257932" y="7058621"/>
            <a:ext cx="21272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100"/>
                </a:lnSpc>
              </a:pPr>
              <a:t>85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Binary</a:t>
            </a:r>
            <a:r>
              <a:rPr spc="-150" dirty="0"/>
              <a:t> </a:t>
            </a:r>
            <a:r>
              <a:rPr spc="-40" dirty="0"/>
              <a:t>PSK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69826"/>
            <a:ext cx="8549005" cy="13982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9230" marR="5080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bandwidth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same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binary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ASK,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but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less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than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BFSK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wasted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separating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3504" y="3575303"/>
            <a:ext cx="8624570" cy="312420"/>
            <a:chOff x="603504" y="3575303"/>
            <a:chExt cx="8624570" cy="312420"/>
          </a:xfrm>
        </p:grpSpPr>
        <p:sp>
          <p:nvSpPr>
            <p:cNvPr id="5" name="object 5"/>
            <p:cNvSpPr/>
            <p:nvPr/>
          </p:nvSpPr>
          <p:spPr>
            <a:xfrm>
              <a:off x="609587" y="3581399"/>
              <a:ext cx="8609330" cy="306705"/>
            </a:xfrm>
            <a:custGeom>
              <a:avLst/>
              <a:gdLst/>
              <a:ahLst/>
              <a:cxnLst/>
              <a:rect l="l" t="t" r="r" b="b"/>
              <a:pathLst>
                <a:path w="8609330" h="306704">
                  <a:moveTo>
                    <a:pt x="4303776" y="0"/>
                  </a:moveTo>
                  <a:lnTo>
                    <a:pt x="0" y="0"/>
                  </a:lnTo>
                  <a:lnTo>
                    <a:pt x="0" y="306324"/>
                  </a:lnTo>
                  <a:lnTo>
                    <a:pt x="4303776" y="306324"/>
                  </a:lnTo>
                  <a:lnTo>
                    <a:pt x="4303776" y="0"/>
                  </a:lnTo>
                  <a:close/>
                </a:path>
                <a:path w="8609330" h="306704">
                  <a:moveTo>
                    <a:pt x="8609076" y="0"/>
                  </a:moveTo>
                  <a:lnTo>
                    <a:pt x="4305300" y="0"/>
                  </a:lnTo>
                  <a:lnTo>
                    <a:pt x="4305300" y="306324"/>
                  </a:lnTo>
                  <a:lnTo>
                    <a:pt x="8609076" y="306324"/>
                  </a:lnTo>
                  <a:lnTo>
                    <a:pt x="8609076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491" y="3575303"/>
              <a:ext cx="8624570" cy="312420"/>
            </a:xfrm>
            <a:custGeom>
              <a:avLst/>
              <a:gdLst/>
              <a:ahLst/>
              <a:cxnLst/>
              <a:rect l="l" t="t" r="r" b="b"/>
              <a:pathLst>
                <a:path w="8624570" h="312420">
                  <a:moveTo>
                    <a:pt x="8624316" y="0"/>
                  </a:moveTo>
                  <a:lnTo>
                    <a:pt x="8624316" y="0"/>
                  </a:lnTo>
                  <a:lnTo>
                    <a:pt x="0" y="0"/>
                  </a:lnTo>
                  <a:lnTo>
                    <a:pt x="0" y="13716"/>
                  </a:lnTo>
                  <a:lnTo>
                    <a:pt x="0" y="312420"/>
                  </a:lnTo>
                  <a:lnTo>
                    <a:pt x="13716" y="312420"/>
                  </a:lnTo>
                  <a:lnTo>
                    <a:pt x="13716" y="13716"/>
                  </a:lnTo>
                  <a:lnTo>
                    <a:pt x="4305300" y="13716"/>
                  </a:lnTo>
                  <a:lnTo>
                    <a:pt x="4305300" y="312420"/>
                  </a:lnTo>
                  <a:lnTo>
                    <a:pt x="4319016" y="312420"/>
                  </a:lnTo>
                  <a:lnTo>
                    <a:pt x="4319016" y="13716"/>
                  </a:lnTo>
                  <a:lnTo>
                    <a:pt x="8610600" y="13716"/>
                  </a:lnTo>
                  <a:lnTo>
                    <a:pt x="8610600" y="312420"/>
                  </a:lnTo>
                  <a:lnTo>
                    <a:pt x="8624316" y="312420"/>
                  </a:lnTo>
                  <a:lnTo>
                    <a:pt x="8624316" y="13716"/>
                  </a:lnTo>
                  <a:lnTo>
                    <a:pt x="86243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88339" y="3599179"/>
            <a:ext cx="380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SK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3639" y="3599179"/>
            <a:ext cx="39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ASK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10" name="object 10"/>
            <p:cNvSpPr/>
            <p:nvPr/>
          </p:nvSpPr>
          <p:spPr>
            <a:xfrm>
              <a:off x="457187" y="3886199"/>
              <a:ext cx="9142730" cy="2971800"/>
            </a:xfrm>
            <a:custGeom>
              <a:avLst/>
              <a:gdLst/>
              <a:ahLst/>
              <a:cxnLst/>
              <a:rect l="l" t="t" r="r" b="b"/>
              <a:pathLst>
                <a:path w="9142730" h="2971800">
                  <a:moveTo>
                    <a:pt x="9142476" y="2970276"/>
                  </a:moveTo>
                  <a:lnTo>
                    <a:pt x="0" y="2970276"/>
                  </a:lnTo>
                  <a:lnTo>
                    <a:pt x="0" y="2971800"/>
                  </a:lnTo>
                  <a:lnTo>
                    <a:pt x="9142476" y="2971800"/>
                  </a:lnTo>
                  <a:lnTo>
                    <a:pt x="9142476" y="2970276"/>
                  </a:lnTo>
                  <a:close/>
                </a:path>
                <a:path w="9142730" h="2971800">
                  <a:moveTo>
                    <a:pt x="9142476" y="0"/>
                  </a:moveTo>
                  <a:lnTo>
                    <a:pt x="0" y="0"/>
                  </a:lnTo>
                  <a:lnTo>
                    <a:pt x="0" y="2906268"/>
                  </a:lnTo>
                  <a:lnTo>
                    <a:pt x="9142476" y="2906268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187" y="3886199"/>
              <a:ext cx="9142730" cy="2970530"/>
            </a:xfrm>
            <a:custGeom>
              <a:avLst/>
              <a:gdLst/>
              <a:ahLst/>
              <a:cxnLst/>
              <a:rect l="l" t="t" r="r" b="b"/>
              <a:pathLst>
                <a:path w="9142730" h="2970529">
                  <a:moveTo>
                    <a:pt x="4456176" y="0"/>
                  </a:moveTo>
                  <a:lnTo>
                    <a:pt x="152400" y="0"/>
                  </a:lnTo>
                  <a:lnTo>
                    <a:pt x="152400" y="42672"/>
                  </a:lnTo>
                  <a:lnTo>
                    <a:pt x="4456176" y="42672"/>
                  </a:lnTo>
                  <a:lnTo>
                    <a:pt x="4456176" y="0"/>
                  </a:lnTo>
                  <a:close/>
                </a:path>
                <a:path w="9142730" h="2970529">
                  <a:moveTo>
                    <a:pt x="8761476" y="0"/>
                  </a:moveTo>
                  <a:lnTo>
                    <a:pt x="4457700" y="0"/>
                  </a:lnTo>
                  <a:lnTo>
                    <a:pt x="4457700" y="42672"/>
                  </a:lnTo>
                  <a:lnTo>
                    <a:pt x="8761476" y="42672"/>
                  </a:lnTo>
                  <a:lnTo>
                    <a:pt x="8761476" y="0"/>
                  </a:lnTo>
                  <a:close/>
                </a:path>
                <a:path w="9142730" h="2970529">
                  <a:moveTo>
                    <a:pt x="9142476" y="2906268"/>
                  </a:moveTo>
                  <a:lnTo>
                    <a:pt x="0" y="2906268"/>
                  </a:lnTo>
                  <a:lnTo>
                    <a:pt x="0" y="2970276"/>
                  </a:lnTo>
                  <a:lnTo>
                    <a:pt x="9142476" y="2970276"/>
                  </a:lnTo>
                  <a:lnTo>
                    <a:pt x="9142476" y="2906268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587" y="3966971"/>
              <a:ext cx="8609330" cy="893444"/>
            </a:xfrm>
            <a:custGeom>
              <a:avLst/>
              <a:gdLst/>
              <a:ahLst/>
              <a:cxnLst/>
              <a:rect l="l" t="t" r="r" b="b"/>
              <a:pathLst>
                <a:path w="8609330" h="893445">
                  <a:moveTo>
                    <a:pt x="4303776" y="0"/>
                  </a:moveTo>
                  <a:lnTo>
                    <a:pt x="0" y="0"/>
                  </a:lnTo>
                  <a:lnTo>
                    <a:pt x="0" y="893064"/>
                  </a:lnTo>
                  <a:lnTo>
                    <a:pt x="4303776" y="893064"/>
                  </a:lnTo>
                  <a:lnTo>
                    <a:pt x="4303776" y="0"/>
                  </a:lnTo>
                  <a:close/>
                </a:path>
                <a:path w="8609330" h="893445">
                  <a:moveTo>
                    <a:pt x="8609076" y="0"/>
                  </a:moveTo>
                  <a:lnTo>
                    <a:pt x="4305300" y="0"/>
                  </a:lnTo>
                  <a:lnTo>
                    <a:pt x="4305300" y="893064"/>
                  </a:lnTo>
                  <a:lnTo>
                    <a:pt x="8609076" y="893064"/>
                  </a:lnTo>
                  <a:lnTo>
                    <a:pt x="8609076" y="0"/>
                  </a:lnTo>
                  <a:close/>
                </a:path>
              </a:pathLst>
            </a:custGeom>
            <a:solidFill>
              <a:srgbClr val="CCE2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587" y="4861559"/>
              <a:ext cx="8609330" cy="638810"/>
            </a:xfrm>
            <a:custGeom>
              <a:avLst/>
              <a:gdLst/>
              <a:ahLst/>
              <a:cxnLst/>
              <a:rect l="l" t="t" r="r" b="b"/>
              <a:pathLst>
                <a:path w="8609330" h="638810">
                  <a:moveTo>
                    <a:pt x="4303776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4303776" y="638556"/>
                  </a:lnTo>
                  <a:lnTo>
                    <a:pt x="4303776" y="0"/>
                  </a:lnTo>
                  <a:close/>
                </a:path>
                <a:path w="8609330" h="638810">
                  <a:moveTo>
                    <a:pt x="8609076" y="0"/>
                  </a:moveTo>
                  <a:lnTo>
                    <a:pt x="4305300" y="0"/>
                  </a:lnTo>
                  <a:lnTo>
                    <a:pt x="4305300" y="638556"/>
                  </a:lnTo>
                  <a:lnTo>
                    <a:pt x="8609076" y="638556"/>
                  </a:lnTo>
                  <a:lnTo>
                    <a:pt x="8609076" y="0"/>
                  </a:lnTo>
                  <a:close/>
                </a:path>
              </a:pathLst>
            </a:custGeom>
            <a:solidFill>
              <a:srgbClr val="E6F0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587" y="5501639"/>
              <a:ext cx="8609330" cy="638810"/>
            </a:xfrm>
            <a:custGeom>
              <a:avLst/>
              <a:gdLst/>
              <a:ahLst/>
              <a:cxnLst/>
              <a:rect l="l" t="t" r="r" b="b"/>
              <a:pathLst>
                <a:path w="8609330" h="638810">
                  <a:moveTo>
                    <a:pt x="4303776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4303776" y="638556"/>
                  </a:lnTo>
                  <a:lnTo>
                    <a:pt x="4303776" y="0"/>
                  </a:lnTo>
                  <a:close/>
                </a:path>
                <a:path w="8609330" h="638810">
                  <a:moveTo>
                    <a:pt x="8609076" y="0"/>
                  </a:moveTo>
                  <a:lnTo>
                    <a:pt x="4305300" y="0"/>
                  </a:lnTo>
                  <a:lnTo>
                    <a:pt x="4305300" y="638556"/>
                  </a:lnTo>
                  <a:lnTo>
                    <a:pt x="8609076" y="638556"/>
                  </a:lnTo>
                  <a:lnTo>
                    <a:pt x="8609076" y="0"/>
                  </a:lnTo>
                  <a:close/>
                </a:path>
              </a:pathLst>
            </a:custGeom>
            <a:solidFill>
              <a:srgbClr val="CCE2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587" y="6141720"/>
              <a:ext cx="8609330" cy="638810"/>
            </a:xfrm>
            <a:custGeom>
              <a:avLst/>
              <a:gdLst/>
              <a:ahLst/>
              <a:cxnLst/>
              <a:rect l="l" t="t" r="r" b="b"/>
              <a:pathLst>
                <a:path w="8609330" h="638809">
                  <a:moveTo>
                    <a:pt x="4303776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4303776" y="638556"/>
                  </a:lnTo>
                  <a:lnTo>
                    <a:pt x="4303776" y="0"/>
                  </a:lnTo>
                  <a:close/>
                </a:path>
                <a:path w="8609330" h="638809">
                  <a:moveTo>
                    <a:pt x="8609076" y="0"/>
                  </a:moveTo>
                  <a:lnTo>
                    <a:pt x="4305300" y="0"/>
                  </a:lnTo>
                  <a:lnTo>
                    <a:pt x="4305300" y="638556"/>
                  </a:lnTo>
                  <a:lnTo>
                    <a:pt x="8609076" y="638556"/>
                  </a:lnTo>
                  <a:lnTo>
                    <a:pt x="8609076" y="0"/>
                  </a:lnTo>
                  <a:close/>
                </a:path>
              </a:pathLst>
            </a:custGeom>
            <a:solidFill>
              <a:srgbClr val="E6F0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3491" y="3886199"/>
              <a:ext cx="8624570" cy="2903220"/>
            </a:xfrm>
            <a:custGeom>
              <a:avLst/>
              <a:gdLst/>
              <a:ahLst/>
              <a:cxnLst/>
              <a:rect l="l" t="t" r="r" b="b"/>
              <a:pathLst>
                <a:path w="8624570" h="2903220">
                  <a:moveTo>
                    <a:pt x="8624316" y="0"/>
                  </a:moveTo>
                  <a:lnTo>
                    <a:pt x="8610600" y="0"/>
                  </a:lnTo>
                  <a:lnTo>
                    <a:pt x="8610600" y="42672"/>
                  </a:lnTo>
                  <a:lnTo>
                    <a:pt x="8610600" y="80772"/>
                  </a:lnTo>
                  <a:lnTo>
                    <a:pt x="8610600" y="2889504"/>
                  </a:lnTo>
                  <a:lnTo>
                    <a:pt x="4319016" y="2889504"/>
                  </a:lnTo>
                  <a:lnTo>
                    <a:pt x="4319016" y="2263140"/>
                  </a:lnTo>
                  <a:lnTo>
                    <a:pt x="8610600" y="2263140"/>
                  </a:lnTo>
                  <a:lnTo>
                    <a:pt x="8610600" y="2249424"/>
                  </a:lnTo>
                  <a:lnTo>
                    <a:pt x="4319016" y="2249424"/>
                  </a:lnTo>
                  <a:lnTo>
                    <a:pt x="4319016" y="1623060"/>
                  </a:lnTo>
                  <a:lnTo>
                    <a:pt x="8610600" y="1623060"/>
                  </a:lnTo>
                  <a:lnTo>
                    <a:pt x="8610600" y="1609344"/>
                  </a:lnTo>
                  <a:lnTo>
                    <a:pt x="4319016" y="1609344"/>
                  </a:lnTo>
                  <a:lnTo>
                    <a:pt x="4319016" y="982980"/>
                  </a:lnTo>
                  <a:lnTo>
                    <a:pt x="8610600" y="982980"/>
                  </a:lnTo>
                  <a:lnTo>
                    <a:pt x="8610600" y="969264"/>
                  </a:lnTo>
                  <a:lnTo>
                    <a:pt x="4319016" y="969264"/>
                  </a:lnTo>
                  <a:lnTo>
                    <a:pt x="4319016" y="80772"/>
                  </a:lnTo>
                  <a:lnTo>
                    <a:pt x="8610600" y="80772"/>
                  </a:lnTo>
                  <a:lnTo>
                    <a:pt x="8610600" y="42672"/>
                  </a:lnTo>
                  <a:lnTo>
                    <a:pt x="4319016" y="42672"/>
                  </a:lnTo>
                  <a:lnTo>
                    <a:pt x="4319016" y="0"/>
                  </a:lnTo>
                  <a:lnTo>
                    <a:pt x="4305300" y="0"/>
                  </a:lnTo>
                  <a:lnTo>
                    <a:pt x="4305300" y="2889504"/>
                  </a:lnTo>
                  <a:lnTo>
                    <a:pt x="13716" y="2889504"/>
                  </a:lnTo>
                  <a:lnTo>
                    <a:pt x="13716" y="2263140"/>
                  </a:lnTo>
                  <a:lnTo>
                    <a:pt x="4305300" y="2263140"/>
                  </a:lnTo>
                  <a:lnTo>
                    <a:pt x="4305300" y="2249424"/>
                  </a:lnTo>
                  <a:lnTo>
                    <a:pt x="13716" y="2249424"/>
                  </a:lnTo>
                  <a:lnTo>
                    <a:pt x="13716" y="1623060"/>
                  </a:lnTo>
                  <a:lnTo>
                    <a:pt x="4305300" y="1623060"/>
                  </a:lnTo>
                  <a:lnTo>
                    <a:pt x="4305300" y="1609344"/>
                  </a:lnTo>
                  <a:lnTo>
                    <a:pt x="13716" y="1609344"/>
                  </a:lnTo>
                  <a:lnTo>
                    <a:pt x="13716" y="982980"/>
                  </a:lnTo>
                  <a:lnTo>
                    <a:pt x="4305300" y="982980"/>
                  </a:lnTo>
                  <a:lnTo>
                    <a:pt x="4305300" y="969264"/>
                  </a:lnTo>
                  <a:lnTo>
                    <a:pt x="13716" y="969264"/>
                  </a:lnTo>
                  <a:lnTo>
                    <a:pt x="13716" y="80772"/>
                  </a:lnTo>
                  <a:lnTo>
                    <a:pt x="4305300" y="80772"/>
                  </a:lnTo>
                  <a:lnTo>
                    <a:pt x="4305300" y="42672"/>
                  </a:lnTo>
                  <a:lnTo>
                    <a:pt x="13716" y="42672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2903220"/>
                  </a:lnTo>
                  <a:lnTo>
                    <a:pt x="13716" y="2903220"/>
                  </a:lnTo>
                  <a:lnTo>
                    <a:pt x="4305300" y="2903220"/>
                  </a:lnTo>
                  <a:lnTo>
                    <a:pt x="4319016" y="2903220"/>
                  </a:lnTo>
                  <a:lnTo>
                    <a:pt x="8610600" y="2903220"/>
                  </a:lnTo>
                  <a:lnTo>
                    <a:pt x="8624316" y="2903220"/>
                  </a:lnTo>
                  <a:lnTo>
                    <a:pt x="8624316" y="2889504"/>
                  </a:lnTo>
                  <a:lnTo>
                    <a:pt x="8624316" y="42672"/>
                  </a:lnTo>
                  <a:lnTo>
                    <a:pt x="86243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88339" y="3964939"/>
            <a:ext cx="40703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PSK is less susceptible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noise than ASK</a:t>
            </a:r>
            <a:r>
              <a:rPr sz="1800" dirty="0">
                <a:latin typeface="Calibri"/>
                <a:cs typeface="Calibri"/>
              </a:rPr>
              <a:t> as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spc="-10" dirty="0">
                <a:latin typeface="Calibri"/>
                <a:cs typeface="Calibri"/>
              </a:rPr>
              <a:t>can </a:t>
            </a:r>
            <a:r>
              <a:rPr sz="1800" spc="-5" dirty="0">
                <a:latin typeface="Calibri"/>
                <a:cs typeface="Calibri"/>
              </a:rPr>
              <a:t>change the amplitude easier than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spc="-10" dirty="0">
                <a:latin typeface="Calibri"/>
                <a:cs typeface="Calibri"/>
              </a:rPr>
              <a:t> can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change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phase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57932" y="7058621"/>
            <a:ext cx="21272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100"/>
                </a:lnSpc>
              </a:pPr>
              <a:t>86</a:t>
            </a:fld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93639" y="3964939"/>
            <a:ext cx="3883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ASK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more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susceptible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noise than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PSK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8339" y="4879340"/>
            <a:ext cx="414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criterion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bit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detection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phase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 signal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93639" y="4879340"/>
            <a:ext cx="3292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criterion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bit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detection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amplitude 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8339" y="5519419"/>
            <a:ext cx="3750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superior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FSK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because 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 </a:t>
            </a:r>
            <a:r>
              <a:rPr sz="1800" spc="-5" dirty="0">
                <a:latin typeface="Calibri"/>
                <a:cs typeface="Calibri"/>
              </a:rPr>
              <a:t>not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carrier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signals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93639" y="5519419"/>
            <a:ext cx="2237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need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carrier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signals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8339" y="6159500"/>
            <a:ext cx="38817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needs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sophisticated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hardware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be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able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distinguish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between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phases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93639" y="6159500"/>
            <a:ext cx="2510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sophisticated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hardware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42" y="701285"/>
            <a:ext cx="85655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</a:t>
            </a:r>
            <a:r>
              <a:rPr spc="-55" dirty="0"/>
              <a:t>o</a:t>
            </a:r>
            <a:r>
              <a:rPr spc="-45" dirty="0"/>
              <a:t>m</a:t>
            </a:r>
            <a:r>
              <a:rPr spc="-55" dirty="0"/>
              <a:t>pa</a:t>
            </a:r>
            <a:r>
              <a:rPr spc="-45" dirty="0"/>
              <a:t>r</a:t>
            </a:r>
            <a:r>
              <a:rPr spc="-50" dirty="0"/>
              <a:t>i</a:t>
            </a:r>
            <a:r>
              <a:rPr spc="-45" dirty="0"/>
              <a:t>s</a:t>
            </a:r>
            <a:r>
              <a:rPr spc="-55" dirty="0"/>
              <a:t>o</a:t>
            </a:r>
            <a:r>
              <a:rPr spc="-5" dirty="0"/>
              <a:t>n</a:t>
            </a:r>
            <a:r>
              <a:rPr spc="-440" dirty="0"/>
              <a:t> </a:t>
            </a:r>
            <a:r>
              <a:rPr spc="-55" dirty="0"/>
              <a:t>ASK</a:t>
            </a:r>
            <a:r>
              <a:rPr dirty="0"/>
              <a:t>,</a:t>
            </a:r>
            <a:r>
              <a:rPr spc="-100" dirty="0"/>
              <a:t> </a:t>
            </a:r>
            <a:r>
              <a:rPr spc="-50" dirty="0"/>
              <a:t>F</a:t>
            </a:r>
            <a:r>
              <a:rPr spc="-55" dirty="0"/>
              <a:t>SK</a:t>
            </a:r>
            <a:r>
              <a:rPr dirty="0"/>
              <a:t>,</a:t>
            </a:r>
            <a:r>
              <a:rPr spc="-114" dirty="0"/>
              <a:t> </a:t>
            </a:r>
            <a:r>
              <a:rPr spc="-55" dirty="0"/>
              <a:t>PS</a:t>
            </a:r>
            <a:r>
              <a:rPr dirty="0"/>
              <a:t>K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1009" y="1677161"/>
          <a:ext cx="9137650" cy="50573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19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FSK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PSK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39">
                <a:tc>
                  <a:txBody>
                    <a:bodyPr/>
                    <a:lstStyle/>
                    <a:p>
                      <a:pPr marL="72390" marR="877569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Variable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c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ri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ti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Amplitude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Frequency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Phase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CE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917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Bandwidth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=(1+d)S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74930" marR="11239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modulation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filtering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,lies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35" dirty="0">
                          <a:latin typeface="Calibri"/>
                          <a:cs typeface="Calibri"/>
                        </a:rPr>
                        <a:t>B=(1+d)</a:t>
                      </a:r>
                      <a:r>
                        <a:rPr sz="2700" spc="-52" baseline="6172" dirty="0">
                          <a:latin typeface="Microsoft Sans Serif"/>
                          <a:cs typeface="Microsoft Sans Serif"/>
                        </a:rPr>
                        <a:t>×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S+2Δf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45" dirty="0">
                          <a:latin typeface="Calibri"/>
                          <a:cs typeface="Calibri"/>
                        </a:rPr>
                        <a:t>B=(1+d)</a:t>
                      </a:r>
                      <a:r>
                        <a:rPr sz="2700" spc="-67" baseline="6172" dirty="0">
                          <a:latin typeface="Microsoft Sans Serif"/>
                          <a:cs typeface="Microsoft Sans Serif"/>
                        </a:rPr>
                        <a:t>×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6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Noise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immunity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Complexity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Simple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Moderately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complex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complex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E6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Error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probability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039">
                <a:tc>
                  <a:txBody>
                    <a:bodyPr/>
                    <a:lstStyle/>
                    <a:p>
                      <a:pPr marL="72390" marR="5683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Performance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presence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noise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Poor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Better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than ASK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E6F0F9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Better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than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FSK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E6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951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5708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Suitable upto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100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bits/sec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3708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Suitable upto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about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1200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bits/sec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38227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Suitable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for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bit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rates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solidFill>
                      <a:srgbClr val="CCE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57200" y="1670304"/>
            <a:ext cx="9145905" cy="5643880"/>
            <a:chOff x="457200" y="1670304"/>
            <a:chExt cx="9145905" cy="5643880"/>
          </a:xfrm>
        </p:grpSpPr>
        <p:sp>
          <p:nvSpPr>
            <p:cNvPr id="5" name="object 5"/>
            <p:cNvSpPr/>
            <p:nvPr/>
          </p:nvSpPr>
          <p:spPr>
            <a:xfrm>
              <a:off x="457187" y="2804159"/>
              <a:ext cx="9142730" cy="1083945"/>
            </a:xfrm>
            <a:custGeom>
              <a:avLst/>
              <a:gdLst/>
              <a:ahLst/>
              <a:cxnLst/>
              <a:rect l="l" t="t" r="r" b="b"/>
              <a:pathLst>
                <a:path w="9142730" h="1083945">
                  <a:moveTo>
                    <a:pt x="2284476" y="0"/>
                  </a:moveTo>
                  <a:lnTo>
                    <a:pt x="0" y="0"/>
                  </a:lnTo>
                  <a:lnTo>
                    <a:pt x="0" y="1083564"/>
                  </a:lnTo>
                  <a:lnTo>
                    <a:pt x="2284476" y="1083564"/>
                  </a:lnTo>
                  <a:lnTo>
                    <a:pt x="2284476" y="0"/>
                  </a:lnTo>
                  <a:close/>
                </a:path>
                <a:path w="9142730" h="1083945">
                  <a:moveTo>
                    <a:pt x="4570476" y="0"/>
                  </a:moveTo>
                  <a:lnTo>
                    <a:pt x="2286000" y="0"/>
                  </a:lnTo>
                  <a:lnTo>
                    <a:pt x="2286000" y="1083564"/>
                  </a:lnTo>
                  <a:lnTo>
                    <a:pt x="4570476" y="1083564"/>
                  </a:lnTo>
                  <a:lnTo>
                    <a:pt x="4570476" y="0"/>
                  </a:lnTo>
                  <a:close/>
                </a:path>
                <a:path w="9142730" h="1083945">
                  <a:moveTo>
                    <a:pt x="6856476" y="0"/>
                  </a:moveTo>
                  <a:lnTo>
                    <a:pt x="4572000" y="0"/>
                  </a:lnTo>
                  <a:lnTo>
                    <a:pt x="4572000" y="1083564"/>
                  </a:lnTo>
                  <a:lnTo>
                    <a:pt x="6856476" y="1083564"/>
                  </a:lnTo>
                  <a:lnTo>
                    <a:pt x="6856476" y="0"/>
                  </a:lnTo>
                  <a:close/>
                </a:path>
                <a:path w="9142730" h="1083945">
                  <a:moveTo>
                    <a:pt x="9142476" y="0"/>
                  </a:moveTo>
                  <a:lnTo>
                    <a:pt x="6858000" y="0"/>
                  </a:lnTo>
                  <a:lnTo>
                    <a:pt x="6858000" y="1083564"/>
                  </a:lnTo>
                  <a:lnTo>
                    <a:pt x="9142476" y="1083564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E6F0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187" y="1670303"/>
              <a:ext cx="9145905" cy="5187950"/>
            </a:xfrm>
            <a:custGeom>
              <a:avLst/>
              <a:gdLst/>
              <a:ahLst/>
              <a:cxnLst/>
              <a:rect l="l" t="t" r="r" b="b"/>
              <a:pathLst>
                <a:path w="9145905" h="5187950">
                  <a:moveTo>
                    <a:pt x="9142476" y="5186172"/>
                  </a:moveTo>
                  <a:lnTo>
                    <a:pt x="0" y="5186172"/>
                  </a:lnTo>
                  <a:lnTo>
                    <a:pt x="0" y="5187696"/>
                  </a:lnTo>
                  <a:lnTo>
                    <a:pt x="9142476" y="5187696"/>
                  </a:lnTo>
                  <a:lnTo>
                    <a:pt x="9142476" y="5186172"/>
                  </a:lnTo>
                  <a:close/>
                </a:path>
                <a:path w="9145905" h="5187950">
                  <a:moveTo>
                    <a:pt x="9145524" y="0"/>
                  </a:moveTo>
                  <a:lnTo>
                    <a:pt x="9137904" y="0"/>
                  </a:lnTo>
                  <a:lnTo>
                    <a:pt x="9137904" y="1127760"/>
                  </a:lnTo>
                  <a:lnTo>
                    <a:pt x="9137904" y="1141476"/>
                  </a:lnTo>
                  <a:lnTo>
                    <a:pt x="9137904" y="2215896"/>
                  </a:lnTo>
                  <a:lnTo>
                    <a:pt x="7620" y="2215896"/>
                  </a:lnTo>
                  <a:lnTo>
                    <a:pt x="7620" y="1141476"/>
                  </a:lnTo>
                  <a:lnTo>
                    <a:pt x="9137904" y="1141476"/>
                  </a:lnTo>
                  <a:lnTo>
                    <a:pt x="9137904" y="1127760"/>
                  </a:lnTo>
                  <a:lnTo>
                    <a:pt x="7620" y="112776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5122164"/>
                  </a:lnTo>
                  <a:lnTo>
                    <a:pt x="9142476" y="5122164"/>
                  </a:lnTo>
                  <a:lnTo>
                    <a:pt x="9142476" y="2217420"/>
                  </a:lnTo>
                  <a:lnTo>
                    <a:pt x="9145524" y="2217420"/>
                  </a:lnTo>
                  <a:lnTo>
                    <a:pt x="9145524" y="1141476"/>
                  </a:lnTo>
                  <a:lnTo>
                    <a:pt x="9145524" y="1127760"/>
                  </a:lnTo>
                  <a:lnTo>
                    <a:pt x="9145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3886200"/>
            <a:ext cx="9145905" cy="2857500"/>
            <a:chOff x="457200" y="3886200"/>
            <a:chExt cx="9145905" cy="2857500"/>
          </a:xfrm>
        </p:grpSpPr>
        <p:sp>
          <p:nvSpPr>
            <p:cNvPr id="10" name="object 10"/>
            <p:cNvSpPr/>
            <p:nvPr/>
          </p:nvSpPr>
          <p:spPr>
            <a:xfrm>
              <a:off x="457187" y="3886199"/>
              <a:ext cx="9142730" cy="166370"/>
            </a:xfrm>
            <a:custGeom>
              <a:avLst/>
              <a:gdLst/>
              <a:ahLst/>
              <a:cxnLst/>
              <a:rect l="l" t="t" r="r" b="b"/>
              <a:pathLst>
                <a:path w="9142730" h="166370">
                  <a:moveTo>
                    <a:pt x="2284476" y="0"/>
                  </a:moveTo>
                  <a:lnTo>
                    <a:pt x="0" y="0"/>
                  </a:lnTo>
                  <a:lnTo>
                    <a:pt x="0" y="166116"/>
                  </a:lnTo>
                  <a:lnTo>
                    <a:pt x="2284476" y="166116"/>
                  </a:lnTo>
                  <a:lnTo>
                    <a:pt x="2284476" y="0"/>
                  </a:lnTo>
                  <a:close/>
                </a:path>
                <a:path w="9142730" h="166370">
                  <a:moveTo>
                    <a:pt x="4570476" y="0"/>
                  </a:moveTo>
                  <a:lnTo>
                    <a:pt x="2286000" y="0"/>
                  </a:lnTo>
                  <a:lnTo>
                    <a:pt x="2286000" y="166116"/>
                  </a:lnTo>
                  <a:lnTo>
                    <a:pt x="4570476" y="166116"/>
                  </a:lnTo>
                  <a:lnTo>
                    <a:pt x="4570476" y="0"/>
                  </a:lnTo>
                  <a:close/>
                </a:path>
                <a:path w="9142730" h="166370">
                  <a:moveTo>
                    <a:pt x="6856476" y="0"/>
                  </a:moveTo>
                  <a:lnTo>
                    <a:pt x="4572000" y="0"/>
                  </a:lnTo>
                  <a:lnTo>
                    <a:pt x="4572000" y="166116"/>
                  </a:lnTo>
                  <a:lnTo>
                    <a:pt x="6856476" y="166116"/>
                  </a:lnTo>
                  <a:lnTo>
                    <a:pt x="6856476" y="0"/>
                  </a:lnTo>
                  <a:close/>
                </a:path>
                <a:path w="9142730" h="166370">
                  <a:moveTo>
                    <a:pt x="9142476" y="0"/>
                  </a:moveTo>
                  <a:lnTo>
                    <a:pt x="6858000" y="0"/>
                  </a:lnTo>
                  <a:lnTo>
                    <a:pt x="6858000" y="166116"/>
                  </a:lnTo>
                  <a:lnTo>
                    <a:pt x="9142476" y="166116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E6F0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187" y="3886199"/>
              <a:ext cx="9145905" cy="2857500"/>
            </a:xfrm>
            <a:custGeom>
              <a:avLst/>
              <a:gdLst/>
              <a:ahLst/>
              <a:cxnLst/>
              <a:rect l="l" t="t" r="r" b="b"/>
              <a:pathLst>
                <a:path w="9145905" h="2857500">
                  <a:moveTo>
                    <a:pt x="9145524" y="0"/>
                  </a:moveTo>
                  <a:lnTo>
                    <a:pt x="9137904" y="0"/>
                  </a:lnTo>
                  <a:lnTo>
                    <a:pt x="9137904" y="161544"/>
                  </a:lnTo>
                  <a:lnTo>
                    <a:pt x="9137904" y="175260"/>
                  </a:lnTo>
                  <a:lnTo>
                    <a:pt x="9137904" y="2843784"/>
                  </a:lnTo>
                  <a:lnTo>
                    <a:pt x="6865620" y="2843784"/>
                  </a:lnTo>
                  <a:lnTo>
                    <a:pt x="6865620" y="2156460"/>
                  </a:lnTo>
                  <a:lnTo>
                    <a:pt x="9137904" y="2156460"/>
                  </a:lnTo>
                  <a:lnTo>
                    <a:pt x="9137904" y="2142744"/>
                  </a:lnTo>
                  <a:lnTo>
                    <a:pt x="6865620" y="2142744"/>
                  </a:lnTo>
                  <a:lnTo>
                    <a:pt x="6865620" y="1455420"/>
                  </a:lnTo>
                  <a:lnTo>
                    <a:pt x="9137904" y="1455420"/>
                  </a:lnTo>
                  <a:lnTo>
                    <a:pt x="9137904" y="1441704"/>
                  </a:lnTo>
                  <a:lnTo>
                    <a:pt x="6865620" y="1441704"/>
                  </a:lnTo>
                  <a:lnTo>
                    <a:pt x="6865620" y="1028700"/>
                  </a:lnTo>
                  <a:lnTo>
                    <a:pt x="9137904" y="1028700"/>
                  </a:lnTo>
                  <a:lnTo>
                    <a:pt x="9137904" y="1014984"/>
                  </a:lnTo>
                  <a:lnTo>
                    <a:pt x="6865620" y="1014984"/>
                  </a:lnTo>
                  <a:lnTo>
                    <a:pt x="6865620" y="601980"/>
                  </a:lnTo>
                  <a:lnTo>
                    <a:pt x="9137904" y="601980"/>
                  </a:lnTo>
                  <a:lnTo>
                    <a:pt x="9137904" y="588264"/>
                  </a:lnTo>
                  <a:lnTo>
                    <a:pt x="6865620" y="588264"/>
                  </a:lnTo>
                  <a:lnTo>
                    <a:pt x="6865620" y="175260"/>
                  </a:lnTo>
                  <a:lnTo>
                    <a:pt x="9137904" y="175260"/>
                  </a:lnTo>
                  <a:lnTo>
                    <a:pt x="9137904" y="161544"/>
                  </a:lnTo>
                  <a:lnTo>
                    <a:pt x="6865620" y="161544"/>
                  </a:lnTo>
                  <a:lnTo>
                    <a:pt x="6865620" y="0"/>
                  </a:lnTo>
                  <a:lnTo>
                    <a:pt x="6851904" y="0"/>
                  </a:lnTo>
                  <a:lnTo>
                    <a:pt x="6851904" y="2843784"/>
                  </a:lnTo>
                  <a:lnTo>
                    <a:pt x="4579620" y="2843784"/>
                  </a:lnTo>
                  <a:lnTo>
                    <a:pt x="4579620" y="2156460"/>
                  </a:lnTo>
                  <a:lnTo>
                    <a:pt x="6851904" y="2156460"/>
                  </a:lnTo>
                  <a:lnTo>
                    <a:pt x="6851904" y="2142744"/>
                  </a:lnTo>
                  <a:lnTo>
                    <a:pt x="4579620" y="2142744"/>
                  </a:lnTo>
                  <a:lnTo>
                    <a:pt x="4579620" y="1455420"/>
                  </a:lnTo>
                  <a:lnTo>
                    <a:pt x="6851904" y="1455420"/>
                  </a:lnTo>
                  <a:lnTo>
                    <a:pt x="6851904" y="1441704"/>
                  </a:lnTo>
                  <a:lnTo>
                    <a:pt x="4579620" y="1441704"/>
                  </a:lnTo>
                  <a:lnTo>
                    <a:pt x="4579620" y="1028700"/>
                  </a:lnTo>
                  <a:lnTo>
                    <a:pt x="6851904" y="1028700"/>
                  </a:lnTo>
                  <a:lnTo>
                    <a:pt x="6851904" y="1014984"/>
                  </a:lnTo>
                  <a:lnTo>
                    <a:pt x="4579620" y="1014984"/>
                  </a:lnTo>
                  <a:lnTo>
                    <a:pt x="4579620" y="601980"/>
                  </a:lnTo>
                  <a:lnTo>
                    <a:pt x="6851904" y="601980"/>
                  </a:lnTo>
                  <a:lnTo>
                    <a:pt x="6851904" y="588264"/>
                  </a:lnTo>
                  <a:lnTo>
                    <a:pt x="4579620" y="588264"/>
                  </a:lnTo>
                  <a:lnTo>
                    <a:pt x="4579620" y="175260"/>
                  </a:lnTo>
                  <a:lnTo>
                    <a:pt x="6851904" y="175260"/>
                  </a:lnTo>
                  <a:lnTo>
                    <a:pt x="6851904" y="161544"/>
                  </a:lnTo>
                  <a:lnTo>
                    <a:pt x="4579620" y="161544"/>
                  </a:lnTo>
                  <a:lnTo>
                    <a:pt x="4579620" y="0"/>
                  </a:lnTo>
                  <a:lnTo>
                    <a:pt x="4565904" y="0"/>
                  </a:lnTo>
                  <a:lnTo>
                    <a:pt x="4565904" y="2843784"/>
                  </a:lnTo>
                  <a:lnTo>
                    <a:pt x="2293620" y="2843784"/>
                  </a:lnTo>
                  <a:lnTo>
                    <a:pt x="2293620" y="2156460"/>
                  </a:lnTo>
                  <a:lnTo>
                    <a:pt x="4565904" y="2156460"/>
                  </a:lnTo>
                  <a:lnTo>
                    <a:pt x="4565904" y="2142744"/>
                  </a:lnTo>
                  <a:lnTo>
                    <a:pt x="2293620" y="2142744"/>
                  </a:lnTo>
                  <a:lnTo>
                    <a:pt x="2293620" y="1455420"/>
                  </a:lnTo>
                  <a:lnTo>
                    <a:pt x="4565904" y="1455420"/>
                  </a:lnTo>
                  <a:lnTo>
                    <a:pt x="4565904" y="1441704"/>
                  </a:lnTo>
                  <a:lnTo>
                    <a:pt x="2293620" y="1441704"/>
                  </a:lnTo>
                  <a:lnTo>
                    <a:pt x="2293620" y="1028700"/>
                  </a:lnTo>
                  <a:lnTo>
                    <a:pt x="4565904" y="1028700"/>
                  </a:lnTo>
                  <a:lnTo>
                    <a:pt x="4565904" y="1014984"/>
                  </a:lnTo>
                  <a:lnTo>
                    <a:pt x="2293620" y="1014984"/>
                  </a:lnTo>
                  <a:lnTo>
                    <a:pt x="2293620" y="601980"/>
                  </a:lnTo>
                  <a:lnTo>
                    <a:pt x="4565904" y="601980"/>
                  </a:lnTo>
                  <a:lnTo>
                    <a:pt x="4565904" y="588264"/>
                  </a:lnTo>
                  <a:lnTo>
                    <a:pt x="2293620" y="588264"/>
                  </a:lnTo>
                  <a:lnTo>
                    <a:pt x="2293620" y="175260"/>
                  </a:lnTo>
                  <a:lnTo>
                    <a:pt x="4565904" y="175260"/>
                  </a:lnTo>
                  <a:lnTo>
                    <a:pt x="4565904" y="161544"/>
                  </a:lnTo>
                  <a:lnTo>
                    <a:pt x="2293620" y="161544"/>
                  </a:lnTo>
                  <a:lnTo>
                    <a:pt x="2293620" y="0"/>
                  </a:lnTo>
                  <a:lnTo>
                    <a:pt x="2279904" y="0"/>
                  </a:lnTo>
                  <a:lnTo>
                    <a:pt x="2279904" y="2843784"/>
                  </a:lnTo>
                  <a:lnTo>
                    <a:pt x="7620" y="2843784"/>
                  </a:lnTo>
                  <a:lnTo>
                    <a:pt x="7620" y="2156460"/>
                  </a:lnTo>
                  <a:lnTo>
                    <a:pt x="2279904" y="2156460"/>
                  </a:lnTo>
                  <a:lnTo>
                    <a:pt x="2279904" y="2142744"/>
                  </a:lnTo>
                  <a:lnTo>
                    <a:pt x="7620" y="2142744"/>
                  </a:lnTo>
                  <a:lnTo>
                    <a:pt x="7620" y="1455420"/>
                  </a:lnTo>
                  <a:lnTo>
                    <a:pt x="2279904" y="1455420"/>
                  </a:lnTo>
                  <a:lnTo>
                    <a:pt x="2279904" y="1441704"/>
                  </a:lnTo>
                  <a:lnTo>
                    <a:pt x="7620" y="1441704"/>
                  </a:lnTo>
                  <a:lnTo>
                    <a:pt x="7620" y="1028700"/>
                  </a:lnTo>
                  <a:lnTo>
                    <a:pt x="2279904" y="1028700"/>
                  </a:lnTo>
                  <a:lnTo>
                    <a:pt x="2279904" y="1014984"/>
                  </a:lnTo>
                  <a:lnTo>
                    <a:pt x="7620" y="1014984"/>
                  </a:lnTo>
                  <a:lnTo>
                    <a:pt x="7620" y="601980"/>
                  </a:lnTo>
                  <a:lnTo>
                    <a:pt x="2279904" y="601980"/>
                  </a:lnTo>
                  <a:lnTo>
                    <a:pt x="2279904" y="588264"/>
                  </a:lnTo>
                  <a:lnTo>
                    <a:pt x="7620" y="588264"/>
                  </a:lnTo>
                  <a:lnTo>
                    <a:pt x="7620" y="175260"/>
                  </a:lnTo>
                  <a:lnTo>
                    <a:pt x="2279904" y="175260"/>
                  </a:lnTo>
                  <a:lnTo>
                    <a:pt x="2279904" y="161544"/>
                  </a:lnTo>
                  <a:lnTo>
                    <a:pt x="7620" y="161544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2857500"/>
                  </a:lnTo>
                  <a:lnTo>
                    <a:pt x="7620" y="2857500"/>
                  </a:lnTo>
                  <a:lnTo>
                    <a:pt x="9145524" y="2857500"/>
                  </a:lnTo>
                  <a:lnTo>
                    <a:pt x="9145524" y="2843784"/>
                  </a:lnTo>
                  <a:lnTo>
                    <a:pt x="9145524" y="161544"/>
                  </a:lnTo>
                  <a:lnTo>
                    <a:pt x="9145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935883" y="6991915"/>
            <a:ext cx="3079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dirty="0">
                <a:latin typeface="Calibri"/>
                <a:cs typeface="Calibri"/>
              </a:rPr>
              <a:pPr marL="38100">
                <a:lnSpc>
                  <a:spcPts val="1810"/>
                </a:lnSpc>
              </a:pPr>
              <a:t>87</a:t>
            </a:fld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83332" y="7058621"/>
            <a:ext cx="16192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87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8368" y="1595627"/>
            <a:ext cx="8778240" cy="2292350"/>
            <a:chOff x="658368" y="1595627"/>
            <a:chExt cx="8778240" cy="2292350"/>
          </a:xfrm>
        </p:grpSpPr>
        <p:sp>
          <p:nvSpPr>
            <p:cNvPr id="3" name="object 3"/>
            <p:cNvSpPr/>
            <p:nvPr/>
          </p:nvSpPr>
          <p:spPr>
            <a:xfrm>
              <a:off x="658368" y="1595627"/>
              <a:ext cx="8778240" cy="21590"/>
            </a:xfrm>
            <a:custGeom>
              <a:avLst/>
              <a:gdLst/>
              <a:ahLst/>
              <a:cxnLst/>
              <a:rect l="l" t="t" r="r" b="b"/>
              <a:pathLst>
                <a:path w="8778240" h="21590">
                  <a:moveTo>
                    <a:pt x="8778239" y="0"/>
                  </a:moveTo>
                  <a:lnTo>
                    <a:pt x="0" y="7620"/>
                  </a:lnTo>
                  <a:lnTo>
                    <a:pt x="0" y="21336"/>
                  </a:lnTo>
                  <a:lnTo>
                    <a:pt x="8778239" y="12191"/>
                  </a:lnTo>
                  <a:lnTo>
                    <a:pt x="877823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99091" y="1600199"/>
              <a:ext cx="2985770" cy="2287905"/>
            </a:xfrm>
            <a:custGeom>
              <a:avLst/>
              <a:gdLst/>
              <a:ahLst/>
              <a:cxnLst/>
              <a:rect l="l" t="t" r="r" b="b"/>
              <a:pathLst>
                <a:path w="2985770" h="2287904">
                  <a:moveTo>
                    <a:pt x="13716" y="0"/>
                  </a:moveTo>
                  <a:lnTo>
                    <a:pt x="0" y="0"/>
                  </a:lnTo>
                  <a:lnTo>
                    <a:pt x="0" y="2287524"/>
                  </a:lnTo>
                  <a:lnTo>
                    <a:pt x="13716" y="2287524"/>
                  </a:lnTo>
                  <a:lnTo>
                    <a:pt x="13716" y="0"/>
                  </a:lnTo>
                  <a:close/>
                </a:path>
                <a:path w="2985770" h="2287904">
                  <a:moveTo>
                    <a:pt x="2985516" y="0"/>
                  </a:moveTo>
                  <a:lnTo>
                    <a:pt x="2971800" y="0"/>
                  </a:lnTo>
                  <a:lnTo>
                    <a:pt x="2971800" y="2287524"/>
                  </a:lnTo>
                  <a:lnTo>
                    <a:pt x="2985516" y="2287524"/>
                  </a:lnTo>
                  <a:lnTo>
                    <a:pt x="2985516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4242" y="701285"/>
            <a:ext cx="85655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50" dirty="0"/>
              <a:t>C</a:t>
            </a:r>
            <a:r>
              <a:rPr u="none" spc="-55" dirty="0"/>
              <a:t>o</a:t>
            </a:r>
            <a:r>
              <a:rPr u="none" spc="-45" dirty="0"/>
              <a:t>m</a:t>
            </a:r>
            <a:r>
              <a:rPr u="none" spc="-55" dirty="0"/>
              <a:t>pa</a:t>
            </a:r>
            <a:r>
              <a:rPr u="none" spc="-45" dirty="0"/>
              <a:t>r</a:t>
            </a:r>
            <a:r>
              <a:rPr u="none" spc="-50" dirty="0"/>
              <a:t>i</a:t>
            </a:r>
            <a:r>
              <a:rPr u="none" spc="-45" dirty="0"/>
              <a:t>s</a:t>
            </a:r>
            <a:r>
              <a:rPr u="none" spc="-55" dirty="0"/>
              <a:t>o</a:t>
            </a:r>
            <a:r>
              <a:rPr u="none" spc="-5" dirty="0"/>
              <a:t>n</a:t>
            </a:r>
            <a:r>
              <a:rPr u="none" spc="-440" dirty="0"/>
              <a:t> </a:t>
            </a:r>
            <a:r>
              <a:rPr u="none" spc="-55" dirty="0"/>
              <a:t>ASK</a:t>
            </a:r>
            <a:r>
              <a:rPr u="none" dirty="0"/>
              <a:t>,</a:t>
            </a:r>
            <a:r>
              <a:rPr u="none" spc="-100" dirty="0"/>
              <a:t> </a:t>
            </a:r>
            <a:r>
              <a:rPr u="none" spc="-50" dirty="0"/>
              <a:t>F</a:t>
            </a:r>
            <a:r>
              <a:rPr u="none" spc="-55" dirty="0"/>
              <a:t>SK</a:t>
            </a:r>
            <a:r>
              <a:rPr u="none" dirty="0"/>
              <a:t>,</a:t>
            </a:r>
            <a:r>
              <a:rPr u="none" spc="-114" dirty="0"/>
              <a:t> </a:t>
            </a:r>
            <a:r>
              <a:rPr u="none" spc="-55" dirty="0"/>
              <a:t>PS</a:t>
            </a:r>
            <a:r>
              <a:rPr u="none" dirty="0"/>
              <a:t>K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057400"/>
            <a:ext cx="2885073" cy="12192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0" y="2039111"/>
            <a:ext cx="2514600" cy="127702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5600" y="1981200"/>
            <a:ext cx="2874194" cy="12954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7139" y="1770379"/>
            <a:ext cx="3829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4865" algn="l"/>
              </a:tabLst>
            </a:pPr>
            <a:r>
              <a:rPr sz="1800" spc="-10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K	B</a:t>
            </a:r>
            <a:r>
              <a:rPr sz="1800" spc="-25" dirty="0"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SK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41740" y="1617979"/>
            <a:ext cx="490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SK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505200"/>
            <a:ext cx="9142730" cy="3808729"/>
            <a:chOff x="457200" y="3505200"/>
            <a:chExt cx="9142730" cy="3808729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4200" y="3505200"/>
              <a:ext cx="2438400" cy="14264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000" y="3695700"/>
              <a:ext cx="2476500" cy="876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" y="3581400"/>
              <a:ext cx="2724911" cy="159105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86600" y="4953000"/>
              <a:ext cx="2346960" cy="19050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499091" y="3886199"/>
              <a:ext cx="6026150" cy="2971800"/>
            </a:xfrm>
            <a:custGeom>
              <a:avLst/>
              <a:gdLst/>
              <a:ahLst/>
              <a:cxnLst/>
              <a:rect l="l" t="t" r="r" b="b"/>
              <a:pathLst>
                <a:path w="6026150" h="2971800">
                  <a:moveTo>
                    <a:pt x="13716" y="0"/>
                  </a:moveTo>
                  <a:lnTo>
                    <a:pt x="0" y="0"/>
                  </a:lnTo>
                  <a:lnTo>
                    <a:pt x="0" y="2971800"/>
                  </a:lnTo>
                  <a:lnTo>
                    <a:pt x="13716" y="2971800"/>
                  </a:lnTo>
                  <a:lnTo>
                    <a:pt x="13716" y="0"/>
                  </a:lnTo>
                  <a:close/>
                </a:path>
                <a:path w="6026150" h="2971800">
                  <a:moveTo>
                    <a:pt x="6025896" y="1060704"/>
                  </a:moveTo>
                  <a:lnTo>
                    <a:pt x="2985516" y="1060704"/>
                  </a:lnTo>
                  <a:lnTo>
                    <a:pt x="2985516" y="0"/>
                  </a:lnTo>
                  <a:lnTo>
                    <a:pt x="2971800" y="0"/>
                  </a:lnTo>
                  <a:lnTo>
                    <a:pt x="2971800" y="2971800"/>
                  </a:lnTo>
                  <a:lnTo>
                    <a:pt x="2985516" y="2971800"/>
                  </a:lnTo>
                  <a:lnTo>
                    <a:pt x="2985516" y="1074420"/>
                  </a:lnTo>
                  <a:lnTo>
                    <a:pt x="6025896" y="1074420"/>
                  </a:lnTo>
                  <a:lnTo>
                    <a:pt x="6025896" y="1060704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860540" y="5275579"/>
            <a:ext cx="520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Q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SK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98987" y="4114800"/>
            <a:ext cx="6396355" cy="2967355"/>
            <a:chOff x="1098987" y="4114800"/>
            <a:chExt cx="6396355" cy="296735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8987" y="5927616"/>
              <a:ext cx="1138068" cy="77798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3199" y="6172200"/>
              <a:ext cx="941831" cy="9098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29399" y="4114800"/>
              <a:ext cx="803147" cy="6858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935883" y="6991915"/>
            <a:ext cx="3079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dirty="0">
                <a:latin typeface="Calibri"/>
                <a:cs typeface="Calibri"/>
              </a:rPr>
              <a:pPr marL="38100">
                <a:lnSpc>
                  <a:spcPts val="1810"/>
                </a:lnSpc>
              </a:pPr>
              <a:t>88</a:t>
            </a:fld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83332" y="7058621"/>
            <a:ext cx="16192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87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779770"/>
            <a:ext cx="799401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u="none" spc="-50" dirty="0"/>
              <a:t>Analog-to-Analog</a:t>
            </a:r>
            <a:r>
              <a:rPr sz="4900" u="none" spc="-155" dirty="0"/>
              <a:t> </a:t>
            </a:r>
            <a:r>
              <a:rPr sz="4900" u="none" spc="-45" dirty="0"/>
              <a:t>Conversion</a:t>
            </a:r>
            <a:endParaRPr sz="4900"/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5" name="object 5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7667" y="1643944"/>
            <a:ext cx="8659495" cy="28943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8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Process</a:t>
            </a:r>
            <a:r>
              <a:rPr sz="26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transmitting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6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information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analog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600">
              <a:latin typeface="Calibri"/>
              <a:cs typeface="Calibri"/>
            </a:endParaRPr>
          </a:p>
          <a:p>
            <a:pPr marL="189230" marR="5080" indent="-177165">
              <a:lnSpc>
                <a:spcPct val="80000"/>
              </a:lnSpc>
              <a:spcBef>
                <a:spcPts val="140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Although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 is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already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analog,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modulation is needed if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band-pass</a:t>
            </a:r>
            <a:r>
              <a:rPr sz="26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6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available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6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us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eg.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Radio</a:t>
            </a:r>
            <a:endParaRPr sz="2600">
              <a:latin typeface="Calibri"/>
              <a:cs typeface="Calibri"/>
            </a:endParaRPr>
          </a:p>
          <a:p>
            <a:pPr marL="419100" lvl="1" indent="-183515">
              <a:lnSpc>
                <a:spcPts val="252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government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assigns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narrow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each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radio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station</a:t>
            </a:r>
            <a:endParaRPr sz="22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7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each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radio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station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–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produces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low-pass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2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21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all</a:t>
            </a:r>
            <a:r>
              <a:rPr sz="17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stations</a:t>
            </a:r>
            <a:r>
              <a:rPr sz="17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low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17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pass</a:t>
            </a:r>
            <a:r>
              <a:rPr sz="17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17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7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F3F3F"/>
                </a:solidFill>
                <a:latin typeface="Calibri"/>
                <a:cs typeface="Calibri"/>
              </a:rPr>
              <a:t>same</a:t>
            </a:r>
            <a:r>
              <a:rPr sz="17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F3F3F"/>
                </a:solidFill>
                <a:latin typeface="Calibri"/>
                <a:cs typeface="Calibri"/>
              </a:rPr>
              <a:t>range</a:t>
            </a:r>
            <a:endParaRPr sz="1700">
              <a:latin typeface="Calibri"/>
              <a:cs typeface="Calibri"/>
            </a:endParaRPr>
          </a:p>
          <a:p>
            <a:pPr marL="419100" marR="342900" lvl="1" indent="-182880">
              <a:lnSpc>
                <a:spcPct val="80000"/>
              </a:lnSpc>
              <a:spcBef>
                <a:spcPts val="58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Listening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r>
              <a:rPr sz="22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stations,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low-pass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need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shifted, </a:t>
            </a:r>
            <a:r>
              <a:rPr sz="2200" spc="-4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each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range</a:t>
            </a:r>
            <a:r>
              <a:rPr sz="22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2200" spc="-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bans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pass signal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4800600"/>
            <a:ext cx="7010400" cy="180746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89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242" y="701285"/>
            <a:ext cx="85915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Analog-to-analog</a:t>
            </a:r>
            <a:r>
              <a:rPr spc="-190" dirty="0"/>
              <a:t> </a:t>
            </a:r>
            <a:r>
              <a:rPr spc="-45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803" y="1812498"/>
            <a:ext cx="8754745" cy="4326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1940" marR="751840" indent="-269875">
              <a:lnSpc>
                <a:spcPct val="100000"/>
              </a:lnSpc>
              <a:spcBef>
                <a:spcPts val="95"/>
              </a:spcBef>
              <a:buClr>
                <a:srgbClr val="1CACE4"/>
              </a:buClr>
              <a:buFont typeface="Arial MT"/>
              <a:buChar char="•"/>
              <a:tabLst>
                <a:tab pos="282575" algn="l"/>
              </a:tabLst>
            </a:pP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Change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new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smaller bandwidth</a:t>
            </a:r>
            <a:endParaRPr sz="2800" dirty="0">
              <a:latin typeface="Calibri"/>
              <a:cs typeface="Calibri"/>
            </a:endParaRPr>
          </a:p>
          <a:p>
            <a:pPr marL="913130" lvl="1" indent="-443865">
              <a:lnSpc>
                <a:spcPct val="100000"/>
              </a:lnSpc>
              <a:spcBef>
                <a:spcPts val="434"/>
              </a:spcBef>
              <a:buClr>
                <a:srgbClr val="1CACE4"/>
              </a:buClr>
              <a:buChar char="◦"/>
              <a:tabLst>
                <a:tab pos="913130" algn="l"/>
                <a:tab pos="9137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used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when only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band-pass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channel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available</a:t>
            </a:r>
            <a:endParaRPr sz="2400" dirty="0">
              <a:latin typeface="Calibri"/>
              <a:cs typeface="Calibri"/>
            </a:endParaRPr>
          </a:p>
          <a:p>
            <a:pPr marL="281940" indent="-269875">
              <a:lnSpc>
                <a:spcPct val="100000"/>
              </a:lnSpc>
              <a:spcBef>
                <a:spcPts val="1570"/>
              </a:spcBef>
              <a:buClr>
                <a:srgbClr val="1CACE4"/>
              </a:buClr>
              <a:buFont typeface="Arial MT"/>
              <a:buChar char="•"/>
              <a:tabLst>
                <a:tab pos="282575" algn="l"/>
              </a:tabLst>
            </a:pP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Three</a:t>
            </a:r>
            <a:r>
              <a:rPr sz="2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methods:</a:t>
            </a:r>
            <a:endParaRPr sz="2800" dirty="0">
              <a:latin typeface="Calibri"/>
              <a:cs typeface="Calibri"/>
            </a:endParaRPr>
          </a:p>
          <a:p>
            <a:pPr marL="913130" marR="90170" lvl="1" indent="-443865">
              <a:lnSpc>
                <a:spcPct val="100000"/>
              </a:lnSpc>
              <a:spcBef>
                <a:spcPts val="425"/>
              </a:spcBef>
              <a:buClr>
                <a:srgbClr val="1CACE4"/>
              </a:buClr>
              <a:buChar char="◦"/>
              <a:tabLst>
                <a:tab pos="913130" algn="l"/>
                <a:tab pos="9137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modulation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(AM)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: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 of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carrier is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changed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based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 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the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original</a:t>
            </a:r>
            <a:r>
              <a:rPr sz="24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400" dirty="0">
              <a:latin typeface="Calibri"/>
              <a:cs typeface="Calibri"/>
            </a:endParaRPr>
          </a:p>
          <a:p>
            <a:pPr marL="913130" marR="238125" lvl="1" indent="-443865">
              <a:lnSpc>
                <a:spcPct val="100000"/>
              </a:lnSpc>
              <a:spcBef>
                <a:spcPts val="600"/>
              </a:spcBef>
              <a:buClr>
                <a:srgbClr val="1CACE4"/>
              </a:buClr>
              <a:buChar char="◦"/>
              <a:tabLst>
                <a:tab pos="913130" algn="l"/>
                <a:tab pos="91376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Frequency modulation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(FM): the phase of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carrier is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changed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based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on 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changes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the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original</a:t>
            </a:r>
            <a:r>
              <a:rPr sz="24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400" dirty="0">
              <a:latin typeface="Calibri"/>
              <a:cs typeface="Calibri"/>
            </a:endParaRPr>
          </a:p>
          <a:p>
            <a:pPr marL="913130" marR="5080" lvl="1" indent="-443865">
              <a:lnSpc>
                <a:spcPct val="100000"/>
              </a:lnSpc>
              <a:spcBef>
                <a:spcPts val="600"/>
              </a:spcBef>
              <a:buClr>
                <a:srgbClr val="1CACE4"/>
              </a:buClr>
              <a:buChar char="◦"/>
              <a:tabLst>
                <a:tab pos="913130" algn="l"/>
                <a:tab pos="9137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Phase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modulation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(PM): the phase of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carrier signal is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changed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show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 the original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pPr marL="38100">
                <a:lnSpc>
                  <a:spcPts val="1100"/>
                </a:lnSpc>
              </a:pPr>
              <a:t>90</a:t>
            </a:fld>
            <a:endParaRPr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Amplitude</a:t>
            </a:r>
            <a:r>
              <a:rPr spc="-160" dirty="0"/>
              <a:t> </a:t>
            </a:r>
            <a:r>
              <a:rPr spc="-45" dirty="0"/>
              <a:t>Modulation</a:t>
            </a:r>
            <a:r>
              <a:rPr spc="-140" dirty="0"/>
              <a:t> </a:t>
            </a:r>
            <a:r>
              <a:rPr spc="-25" dirty="0"/>
              <a:t>(AM)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22582"/>
            <a:ext cx="8442960" cy="234950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89230" marR="5080" indent="-177165">
              <a:lnSpc>
                <a:spcPct val="70000"/>
              </a:lnSpc>
              <a:spcBef>
                <a:spcPts val="96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 of the carrier signal is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modulated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 follow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changing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amplitudes</a:t>
            </a:r>
            <a:r>
              <a:rPr sz="24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ts val="202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follow variations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information</a:t>
            </a:r>
            <a:endParaRPr sz="2000">
              <a:latin typeface="Calibri"/>
              <a:cs typeface="Calibri"/>
            </a:endParaRPr>
          </a:p>
          <a:p>
            <a:pPr marL="419100" lvl="1" indent="-183515">
              <a:lnSpc>
                <a:spcPts val="234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phase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remain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same</a:t>
            </a:r>
            <a:endParaRPr sz="20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74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envelope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endParaRPr sz="2400">
              <a:latin typeface="Calibri"/>
              <a:cs typeface="Calibri"/>
            </a:endParaRPr>
          </a:p>
          <a:p>
            <a:pPr marL="189230" marR="808355" indent="-177165">
              <a:lnSpc>
                <a:spcPct val="70000"/>
              </a:lnSpc>
              <a:spcBef>
                <a:spcPts val="13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amplitude of the carrier signal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changed according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simple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multiplier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4191000"/>
            <a:ext cx="9142730" cy="3122930"/>
            <a:chOff x="457200" y="4191000"/>
            <a:chExt cx="9142730" cy="3122930"/>
          </a:xfrm>
        </p:grpSpPr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800" y="4191000"/>
              <a:ext cx="5791199" cy="259537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91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30" dirty="0"/>
              <a:t>AM</a:t>
            </a:r>
            <a:r>
              <a:rPr spc="-160" dirty="0"/>
              <a:t> </a:t>
            </a:r>
            <a:r>
              <a:rPr spc="-45" dirty="0"/>
              <a:t>Bandwidth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72267" y="1769826"/>
            <a:ext cx="8233409" cy="33401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14629" marR="107314" indent="-177165">
              <a:lnSpc>
                <a:spcPts val="3020"/>
              </a:lnSpc>
              <a:spcBef>
                <a:spcPts val="480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modulation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creates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twice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modulating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covers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range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centered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endParaRPr sz="2800">
              <a:latin typeface="Calibri"/>
              <a:cs typeface="Calibri"/>
            </a:endParaRPr>
          </a:p>
          <a:p>
            <a:pPr marL="444500" lvl="1" indent="-183515">
              <a:lnSpc>
                <a:spcPct val="100000"/>
              </a:lnSpc>
              <a:spcBef>
                <a:spcPts val="110"/>
              </a:spcBef>
              <a:buClr>
                <a:srgbClr val="1CACE4"/>
              </a:buClr>
              <a:buChar char="◦"/>
              <a:tabLst>
                <a:tab pos="445134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2400" spc="-15" baseline="-20833" dirty="0">
                <a:solidFill>
                  <a:srgbClr val="3F3F3F"/>
                </a:solidFill>
                <a:latin typeface="Calibri"/>
                <a:cs typeface="Calibri"/>
              </a:rPr>
              <a:t>AM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=2B</a:t>
            </a:r>
            <a:endParaRPr sz="2400">
              <a:latin typeface="Calibri"/>
              <a:cs typeface="Calibri"/>
            </a:endParaRPr>
          </a:p>
          <a:p>
            <a:pPr marL="214629" marR="17780" indent="-177165">
              <a:lnSpc>
                <a:spcPts val="3020"/>
              </a:lnSpc>
              <a:spcBef>
                <a:spcPts val="1614"/>
              </a:spcBef>
              <a:buClr>
                <a:srgbClr val="1CACE4"/>
              </a:buClr>
              <a:buFont typeface="Arial MT"/>
              <a:buChar char="•"/>
              <a:tabLst>
                <a:tab pos="2152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As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components</a:t>
            </a:r>
            <a:r>
              <a:rPr sz="28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above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and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below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carrier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carry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exactly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same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information,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some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implementations</a:t>
            </a:r>
            <a:r>
              <a:rPr sz="28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discard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one-half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cut </a:t>
            </a:r>
            <a:r>
              <a:rPr sz="2800" spc="-6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the bandwidth</a:t>
            </a:r>
            <a:r>
              <a:rPr sz="2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3F3F3F"/>
                </a:solidFill>
                <a:latin typeface="Calibri"/>
                <a:cs typeface="Calibri"/>
              </a:rPr>
              <a:t>half.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92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Frequency</a:t>
            </a:r>
            <a:r>
              <a:rPr spc="-155" dirty="0"/>
              <a:t> </a:t>
            </a:r>
            <a:r>
              <a:rPr spc="-45" dirty="0"/>
              <a:t>Modulation</a:t>
            </a:r>
            <a:r>
              <a:rPr spc="-135" dirty="0"/>
              <a:t> </a:t>
            </a:r>
            <a:r>
              <a:rPr spc="-25" dirty="0"/>
              <a:t>(FM)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22582"/>
            <a:ext cx="8653145" cy="235204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89230" marR="213360" indent="-177165">
              <a:lnSpc>
                <a:spcPct val="70000"/>
              </a:lnSpc>
              <a:spcBef>
                <a:spcPts val="96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Frequency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the carrier signal is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modulated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to follow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 changing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voltage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level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(amplitude)</a:t>
            </a:r>
            <a:r>
              <a:rPr sz="24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the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modulating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  <a:p>
            <a:pPr marL="419100" lvl="1" indent="-183515">
              <a:lnSpc>
                <a:spcPts val="202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Peak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carrier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remain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constant,</a:t>
            </a:r>
            <a:endParaRPr sz="2000">
              <a:latin typeface="Calibri"/>
              <a:cs typeface="Calibri"/>
            </a:endParaRPr>
          </a:p>
          <a:p>
            <a:pPr marL="419100" marR="5080" lvl="1" indent="-182880">
              <a:lnSpc>
                <a:spcPct val="70000"/>
              </a:lnSpc>
              <a:spcBef>
                <a:spcPts val="66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information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changes,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carrier </a:t>
            </a:r>
            <a:r>
              <a:rPr sz="2000" spc="-4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correspondingly</a:t>
            </a:r>
            <a:endParaRPr sz="2000">
              <a:latin typeface="Calibri"/>
              <a:cs typeface="Calibri"/>
            </a:endParaRPr>
          </a:p>
          <a:p>
            <a:pPr marL="189230" indent="-177165">
              <a:lnSpc>
                <a:spcPts val="2720"/>
              </a:lnSpc>
              <a:spcBef>
                <a:spcPts val="74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Implemented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by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a 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voltage-controlled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oscillator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FSK</a:t>
            </a:r>
            <a:endParaRPr sz="2400">
              <a:latin typeface="Calibri"/>
              <a:cs typeface="Calibri"/>
            </a:endParaRPr>
          </a:p>
          <a:p>
            <a:pPr marL="419100" marR="151130" lvl="1" indent="-182880">
              <a:lnSpc>
                <a:spcPct val="70000"/>
              </a:lnSpc>
              <a:spcBef>
                <a:spcPts val="56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frequency of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oscillator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changes according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input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voltage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which is </a:t>
            </a:r>
            <a:r>
              <a:rPr sz="2000" spc="-4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modulating signal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4184904"/>
            <a:ext cx="5181599" cy="254050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93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25" dirty="0"/>
              <a:t>FM</a:t>
            </a:r>
            <a:r>
              <a:rPr spc="-165" dirty="0"/>
              <a:t> </a:t>
            </a:r>
            <a:r>
              <a:rPr spc="-45" dirty="0"/>
              <a:t>Bandwidth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633581"/>
            <a:ext cx="7865109" cy="226822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116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actual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80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difficult</a:t>
            </a:r>
            <a:r>
              <a:rPr sz="28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determine</a:t>
            </a:r>
            <a:r>
              <a:rPr sz="2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exactly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7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shown</a:t>
            </a:r>
            <a:r>
              <a:rPr sz="2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empirically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28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3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several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times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419100" marR="417195" lvl="1" indent="-182880">
              <a:lnSpc>
                <a:spcPts val="2590"/>
              </a:lnSpc>
              <a:spcBef>
                <a:spcPts val="64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2(1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+ β)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B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where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β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factor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that depends </a:t>
            </a:r>
            <a:r>
              <a:rPr sz="2400" i="1" dirty="0">
                <a:solidFill>
                  <a:srgbClr val="3F3F3F"/>
                </a:solidFill>
                <a:latin typeface="Calibri"/>
                <a:cs typeface="Calibri"/>
              </a:rPr>
              <a:t>on 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modulation </a:t>
            </a:r>
            <a:r>
              <a:rPr sz="2400" i="1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3F3F3F"/>
                </a:solidFill>
                <a:latin typeface="Calibri"/>
                <a:cs typeface="Calibri"/>
              </a:rPr>
              <a:t>technique</a:t>
            </a:r>
            <a:r>
              <a:rPr sz="2400" i="1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common</a:t>
            </a:r>
            <a:r>
              <a:rPr sz="2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value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of 4.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5" name="object 5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94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Phase</a:t>
            </a:r>
            <a:r>
              <a:rPr spc="-150" dirty="0"/>
              <a:t> </a:t>
            </a:r>
            <a:r>
              <a:rPr spc="-45" dirty="0"/>
              <a:t>Modulation</a:t>
            </a:r>
            <a:r>
              <a:rPr spc="-145" dirty="0"/>
              <a:t> </a:t>
            </a:r>
            <a:r>
              <a:rPr spc="-25" dirty="0"/>
              <a:t>(PM)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4" name="object 4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667" y="1742395"/>
            <a:ext cx="8609330" cy="371030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89230" marR="74930" indent="-177165">
              <a:lnSpc>
                <a:spcPct val="80000"/>
              </a:lnSpc>
              <a:spcBef>
                <a:spcPts val="7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phase 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carrier signal is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modulated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 follow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changing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voltage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level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(amplitude)</a:t>
            </a:r>
            <a:r>
              <a:rPr sz="26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modulating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600">
              <a:latin typeface="Calibri"/>
              <a:cs typeface="Calibri"/>
            </a:endParaRPr>
          </a:p>
          <a:p>
            <a:pPr marL="419100" lvl="1" indent="-183515">
              <a:lnSpc>
                <a:spcPts val="2525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peak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amplitude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frequency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remain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constant</a:t>
            </a:r>
            <a:endParaRPr sz="2200">
              <a:latin typeface="Calibri"/>
              <a:cs typeface="Calibri"/>
            </a:endParaRPr>
          </a:p>
          <a:p>
            <a:pPr marL="419100" marR="431165" lvl="1" indent="-182880">
              <a:lnSpc>
                <a:spcPts val="2110"/>
              </a:lnSpc>
              <a:spcBef>
                <a:spcPts val="58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information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changes,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phase of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200" spc="-48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2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changes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correspondingly</a:t>
            </a:r>
            <a:endParaRPr sz="2200">
              <a:latin typeface="Calibri"/>
              <a:cs typeface="Calibri"/>
            </a:endParaRPr>
          </a:p>
          <a:p>
            <a:pPr marL="189230" marR="497840" indent="-177165">
              <a:lnSpc>
                <a:spcPct val="80000"/>
              </a:lnSpc>
              <a:spcBef>
                <a:spcPts val="161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It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proved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mathematically that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PM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same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as FM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6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difference</a:t>
            </a:r>
            <a:endParaRPr sz="2600">
              <a:latin typeface="Calibri"/>
              <a:cs typeface="Calibri"/>
            </a:endParaRPr>
          </a:p>
          <a:p>
            <a:pPr marL="419100" marR="20955" lvl="1" indent="-182880">
              <a:lnSpc>
                <a:spcPct val="80000"/>
              </a:lnSpc>
              <a:spcBef>
                <a:spcPts val="409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FM: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instantaneous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change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proportional</a:t>
            </a:r>
            <a:r>
              <a:rPr sz="22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200" spc="-4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modulating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200">
              <a:latin typeface="Calibri"/>
              <a:cs typeface="Calibri"/>
            </a:endParaRPr>
          </a:p>
          <a:p>
            <a:pPr marL="419100" marR="5080" lvl="1" indent="-182880">
              <a:lnSpc>
                <a:spcPct val="80000"/>
              </a:lnSpc>
              <a:spcBef>
                <a:spcPts val="60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PM: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instantaneous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change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carrier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proportional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200" spc="-4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derivative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modulating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95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Phase</a:t>
            </a:r>
            <a:r>
              <a:rPr spc="-150" dirty="0"/>
              <a:t> </a:t>
            </a:r>
            <a:r>
              <a:rPr spc="-45" dirty="0"/>
              <a:t>Modulation</a:t>
            </a:r>
            <a:r>
              <a:rPr spc="-145" dirty="0"/>
              <a:t> </a:t>
            </a:r>
            <a:r>
              <a:rPr spc="-25" dirty="0"/>
              <a:t>(PM)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42395"/>
            <a:ext cx="8583295" cy="18688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89230" marR="594995" indent="-177165">
              <a:lnSpc>
                <a:spcPct val="80000"/>
              </a:lnSpc>
              <a:spcBef>
                <a:spcPts val="7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PM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is normally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implemented by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using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voltage-controlled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oscillator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along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derivative</a:t>
            </a:r>
            <a:endParaRPr sz="2600">
              <a:latin typeface="Calibri"/>
              <a:cs typeface="Calibri"/>
            </a:endParaRPr>
          </a:p>
          <a:p>
            <a:pPr marL="189230" marR="5080" indent="-177165" algn="just">
              <a:lnSpc>
                <a:spcPts val="2500"/>
              </a:lnSpc>
              <a:spcBef>
                <a:spcPts val="13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Frequency 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oscillator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changes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according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derivative </a:t>
            </a:r>
            <a:r>
              <a:rPr sz="2600" spc="-5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input 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voltage,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which is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amplitude of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modulating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signal.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3733800"/>
            <a:ext cx="6185915" cy="29413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96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>
                <a:solidFill>
                  <a:srgbClr val="000000"/>
                </a:solidFill>
              </a:rPr>
              <a:t>Multiplexing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42395"/>
            <a:ext cx="8508365" cy="468185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89230" marR="803275" indent="-177165">
              <a:lnSpc>
                <a:spcPct val="80000"/>
              </a:lnSpc>
              <a:spcBef>
                <a:spcPts val="7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of combining multiple signals </a:t>
            </a:r>
            <a:r>
              <a:rPr sz="2600" dirty="0">
                <a:latin typeface="Calibri"/>
                <a:cs typeface="Calibri"/>
              </a:rPr>
              <a:t>(analog </a:t>
            </a:r>
            <a:r>
              <a:rPr sz="2600" spc="-5" dirty="0">
                <a:latin typeface="Calibri"/>
                <a:cs typeface="Calibri"/>
              </a:rPr>
              <a:t>or </a:t>
            </a:r>
            <a:r>
              <a:rPr sz="2600" spc="-10" dirty="0">
                <a:latin typeface="Calibri"/>
                <a:cs typeface="Calibri"/>
              </a:rPr>
              <a:t>digital),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commonly </a:t>
            </a:r>
            <a:r>
              <a:rPr sz="2600" spc="-10" dirty="0">
                <a:latin typeface="Calibri"/>
                <a:cs typeface="Calibri"/>
              </a:rPr>
              <a:t>from slow </a:t>
            </a:r>
            <a:r>
              <a:rPr sz="2600" spc="-5" dirty="0">
                <a:latin typeface="Calibri"/>
                <a:cs typeface="Calibri"/>
              </a:rPr>
              <a:t>devices, </a:t>
            </a:r>
            <a:r>
              <a:rPr sz="2600" spc="-15" dirty="0">
                <a:latin typeface="Calibri"/>
                <a:cs typeface="Calibri"/>
              </a:rPr>
              <a:t>onto </a:t>
            </a:r>
            <a:r>
              <a:rPr sz="2600" spc="-5" dirty="0">
                <a:latin typeface="Calibri"/>
                <a:cs typeface="Calibri"/>
              </a:rPr>
              <a:t>one very </a:t>
            </a:r>
            <a:r>
              <a:rPr sz="2600" spc="-20" dirty="0">
                <a:latin typeface="Calibri"/>
                <a:cs typeface="Calibri"/>
              </a:rPr>
              <a:t>fast 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communications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link</a:t>
            </a:r>
            <a:endParaRPr sz="2600">
              <a:latin typeface="Calibri"/>
              <a:cs typeface="Calibri"/>
            </a:endParaRPr>
          </a:p>
          <a:p>
            <a:pPr marL="419100" marR="523875" lvl="1" indent="-182880">
              <a:lnSpc>
                <a:spcPct val="80000"/>
              </a:lnSpc>
              <a:spcBef>
                <a:spcPts val="41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latin typeface="Calibri"/>
                <a:cs typeface="Calibri"/>
              </a:rPr>
              <a:t>achieved by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device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called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20" dirty="0">
                <a:latin typeface="Calibri"/>
                <a:cs typeface="Calibri"/>
              </a:rPr>
              <a:t>Multiplexer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(MUX)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Demultiplexer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(DEMUX)</a:t>
            </a:r>
            <a:endParaRPr sz="2200">
              <a:latin typeface="Calibri"/>
              <a:cs typeface="Calibri"/>
            </a:endParaRPr>
          </a:p>
          <a:p>
            <a:pPr marL="640080" marR="96520" lvl="2" indent="-182880">
              <a:lnSpc>
                <a:spcPts val="1630"/>
              </a:lnSpc>
              <a:spcBef>
                <a:spcPts val="605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700" spc="-5" dirty="0">
                <a:latin typeface="Calibri"/>
                <a:cs typeface="Calibri"/>
              </a:rPr>
              <a:t>MUX: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combines </a:t>
            </a:r>
            <a:r>
              <a:rPr sz="1700" dirty="0">
                <a:latin typeface="Calibri"/>
                <a:cs typeface="Calibri"/>
              </a:rPr>
              <a:t>the lines </a:t>
            </a:r>
            <a:r>
              <a:rPr sz="1700" spc="-10" dirty="0">
                <a:latin typeface="Calibri"/>
                <a:cs typeface="Calibri"/>
              </a:rPr>
              <a:t>at </a:t>
            </a:r>
            <a:r>
              <a:rPr sz="1700" dirty="0">
                <a:latin typeface="Calibri"/>
                <a:cs typeface="Calibri"/>
              </a:rPr>
              <a:t>sender </a:t>
            </a:r>
            <a:r>
              <a:rPr sz="1700" spc="-5" dirty="0">
                <a:latin typeface="Calibri"/>
                <a:cs typeface="Calibri"/>
              </a:rPr>
              <a:t>on </a:t>
            </a:r>
            <a:r>
              <a:rPr sz="1700" dirty="0">
                <a:latin typeface="Calibri"/>
                <a:cs typeface="Calibri"/>
              </a:rPr>
              <a:t>the </a:t>
            </a:r>
            <a:r>
              <a:rPr sz="1700" spc="-5" dirty="0">
                <a:latin typeface="Calibri"/>
                <a:cs typeface="Calibri"/>
              </a:rPr>
              <a:t>left to direct </a:t>
            </a:r>
            <a:r>
              <a:rPr sz="1700" dirty="0">
                <a:latin typeface="Calibri"/>
                <a:cs typeface="Calibri"/>
              </a:rPr>
              <a:t>their </a:t>
            </a:r>
            <a:r>
              <a:rPr sz="1700" spc="-5" dirty="0">
                <a:latin typeface="Calibri"/>
                <a:cs typeface="Calibri"/>
              </a:rPr>
              <a:t>transmission </a:t>
            </a:r>
            <a:r>
              <a:rPr sz="1700" spc="-10" dirty="0">
                <a:latin typeface="Calibri"/>
                <a:cs typeface="Calibri"/>
              </a:rPr>
              <a:t>streams </a:t>
            </a:r>
            <a:r>
              <a:rPr sz="1700" spc="-5" dirty="0">
                <a:latin typeface="Calibri"/>
                <a:cs typeface="Calibri"/>
              </a:rPr>
              <a:t>into </a:t>
            </a:r>
            <a:r>
              <a:rPr sz="1700" dirty="0">
                <a:latin typeface="Calibri"/>
                <a:cs typeface="Calibri"/>
              </a:rPr>
              <a:t>a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single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stream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(many-to-one)</a:t>
            </a:r>
            <a:endParaRPr sz="1700">
              <a:latin typeface="Calibri"/>
              <a:cs typeface="Calibri"/>
            </a:endParaRPr>
          </a:p>
          <a:p>
            <a:pPr marL="640080" marR="81915" lvl="2" indent="-182880">
              <a:lnSpc>
                <a:spcPct val="80000"/>
              </a:lnSpc>
              <a:spcBef>
                <a:spcPts val="62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700" spc="-5" dirty="0">
                <a:latin typeface="Calibri"/>
                <a:cs typeface="Calibri"/>
              </a:rPr>
              <a:t>DEMUX: </a:t>
            </a:r>
            <a:r>
              <a:rPr sz="1700" spc="-10" dirty="0">
                <a:latin typeface="Calibri"/>
                <a:cs typeface="Calibri"/>
              </a:rPr>
              <a:t>separates </a:t>
            </a:r>
            <a:r>
              <a:rPr sz="1700" dirty="0">
                <a:latin typeface="Calibri"/>
                <a:cs typeface="Calibri"/>
              </a:rPr>
              <a:t>the </a:t>
            </a:r>
            <a:r>
              <a:rPr sz="1700" spc="-5" dirty="0">
                <a:latin typeface="Calibri"/>
                <a:cs typeface="Calibri"/>
              </a:rPr>
              <a:t>stream </a:t>
            </a:r>
            <a:r>
              <a:rPr sz="1700" spc="-10" dirty="0">
                <a:latin typeface="Calibri"/>
                <a:cs typeface="Calibri"/>
              </a:rPr>
              <a:t>at </a:t>
            </a:r>
            <a:r>
              <a:rPr sz="1700" spc="-5" dirty="0">
                <a:latin typeface="Calibri"/>
                <a:cs typeface="Calibri"/>
              </a:rPr>
              <a:t>receiver </a:t>
            </a:r>
            <a:r>
              <a:rPr sz="1700" dirty="0">
                <a:latin typeface="Calibri"/>
                <a:cs typeface="Calibri"/>
              </a:rPr>
              <a:t>back </a:t>
            </a:r>
            <a:r>
              <a:rPr sz="1700" spc="-5" dirty="0">
                <a:latin typeface="Calibri"/>
                <a:cs typeface="Calibri"/>
              </a:rPr>
              <a:t>into </a:t>
            </a:r>
            <a:r>
              <a:rPr sz="1700" dirty="0">
                <a:latin typeface="Calibri"/>
                <a:cs typeface="Calibri"/>
              </a:rPr>
              <a:t>its </a:t>
            </a:r>
            <a:r>
              <a:rPr sz="1700" spc="-5" dirty="0">
                <a:latin typeface="Calibri"/>
                <a:cs typeface="Calibri"/>
              </a:rPr>
              <a:t>component transmissions </a:t>
            </a:r>
            <a:r>
              <a:rPr sz="1700" dirty="0">
                <a:latin typeface="Calibri"/>
                <a:cs typeface="Calibri"/>
              </a:rPr>
              <a:t>(one-to-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many)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directs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them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to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their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corresponding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lines</a:t>
            </a:r>
            <a:endParaRPr sz="17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20"/>
              </a:spcBef>
              <a:buClr>
                <a:srgbClr val="1CACE4"/>
              </a:buClr>
              <a:buFont typeface="Calibri"/>
              <a:buChar char="◦"/>
            </a:pPr>
            <a:endParaRPr sz="1250">
              <a:latin typeface="Calibri"/>
              <a:cs typeface="Calibri"/>
            </a:endParaRPr>
          </a:p>
          <a:p>
            <a:pPr marL="189230" marR="5080" indent="-177165">
              <a:lnSpc>
                <a:spcPts val="2500"/>
              </a:lnSpc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600" spc="-5" dirty="0">
                <a:latin typeface="Calibri"/>
                <a:cs typeface="Calibri"/>
              </a:rPr>
              <a:t>allow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simultaneous transmission of multiple signals </a:t>
            </a:r>
            <a:r>
              <a:rPr sz="2600" spc="-10" dirty="0">
                <a:latin typeface="Calibri"/>
                <a:cs typeface="Calibri"/>
              </a:rPr>
              <a:t>across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single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data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link</a:t>
            </a:r>
            <a:endParaRPr sz="2600">
              <a:latin typeface="Calibri"/>
              <a:cs typeface="Calibri"/>
            </a:endParaRPr>
          </a:p>
          <a:p>
            <a:pPr marL="419100" lvl="1" indent="-183515">
              <a:lnSpc>
                <a:spcPts val="2540"/>
              </a:lnSpc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10" dirty="0">
                <a:latin typeface="Calibri"/>
                <a:cs typeface="Calibri"/>
              </a:rPr>
              <a:t>Link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Wingdings"/>
                <a:cs typeface="Wingdings"/>
              </a:rPr>
              <a:t>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Calibri"/>
                <a:cs typeface="Calibri"/>
              </a:rPr>
              <a:t>physical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path</a:t>
            </a:r>
            <a:endParaRPr sz="2200">
              <a:latin typeface="Calibri"/>
              <a:cs typeface="Calibri"/>
            </a:endParaRPr>
          </a:p>
          <a:p>
            <a:pPr marL="419100" marR="57785" lvl="1" indent="-182880">
              <a:lnSpc>
                <a:spcPts val="2110"/>
              </a:lnSpc>
              <a:spcBef>
                <a:spcPts val="58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200" spc="-5" dirty="0">
                <a:latin typeface="Calibri"/>
                <a:cs typeface="Calibri"/>
              </a:rPr>
              <a:t>Channel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Wingdings"/>
                <a:cs typeface="Wingdings"/>
              </a:rPr>
              <a:t></a:t>
            </a:r>
            <a:r>
              <a:rPr sz="2200" spc="-5" dirty="0">
                <a:latin typeface="Calibri"/>
                <a:cs typeface="Calibri"/>
              </a:rPr>
              <a:t>portion 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link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that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carries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transmission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between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given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pair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lines</a:t>
            </a:r>
            <a:endParaRPr sz="22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229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700" dirty="0">
                <a:latin typeface="Calibri"/>
                <a:cs typeface="Calibri"/>
              </a:rPr>
              <a:t>One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link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can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have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many</a:t>
            </a:r>
            <a:r>
              <a:rPr sz="1700" dirty="0">
                <a:latin typeface="Calibri"/>
                <a:cs typeface="Calibri"/>
              </a:rPr>
              <a:t> (</a:t>
            </a:r>
            <a:r>
              <a:rPr sz="1700" i="1" dirty="0">
                <a:latin typeface="Calibri"/>
                <a:cs typeface="Calibri"/>
              </a:rPr>
              <a:t>n)</a:t>
            </a:r>
            <a:r>
              <a:rPr sz="1700" i="1" spc="-25" dirty="0">
                <a:latin typeface="Calibri"/>
                <a:cs typeface="Calibri"/>
              </a:rPr>
              <a:t> </a:t>
            </a:r>
            <a:r>
              <a:rPr sz="1700" i="1" dirty="0">
                <a:latin typeface="Calibri"/>
                <a:cs typeface="Calibri"/>
              </a:rPr>
              <a:t>channels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97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>
                <a:solidFill>
                  <a:srgbClr val="000000"/>
                </a:solidFill>
              </a:rPr>
              <a:t>Multiplexing</a:t>
            </a:r>
            <a:r>
              <a:rPr spc="-1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…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3400" y="2133599"/>
            <a:ext cx="8770620" cy="1754505"/>
            <a:chOff x="533400" y="2133599"/>
            <a:chExt cx="8770620" cy="1754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2133599"/>
              <a:ext cx="7315200" cy="17541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27847" y="3200399"/>
              <a:ext cx="1367155" cy="368935"/>
            </a:xfrm>
            <a:custGeom>
              <a:avLst/>
              <a:gdLst/>
              <a:ahLst/>
              <a:cxnLst/>
              <a:rect l="l" t="t" r="r" b="b"/>
              <a:pathLst>
                <a:path w="1367154" h="368935">
                  <a:moveTo>
                    <a:pt x="1367027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1367027" y="368807"/>
                  </a:lnTo>
                  <a:lnTo>
                    <a:pt x="136702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21752" y="3194303"/>
              <a:ext cx="1382395" cy="382905"/>
            </a:xfrm>
            <a:custGeom>
              <a:avLst/>
              <a:gdLst/>
              <a:ahLst/>
              <a:cxnLst/>
              <a:rect l="l" t="t" r="r" b="b"/>
              <a:pathLst>
                <a:path w="1382395" h="382904">
                  <a:moveTo>
                    <a:pt x="1379219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79475"/>
                  </a:lnTo>
                  <a:lnTo>
                    <a:pt x="3048" y="382524"/>
                  </a:lnTo>
                  <a:lnTo>
                    <a:pt x="1379219" y="382524"/>
                  </a:lnTo>
                  <a:lnTo>
                    <a:pt x="1382267" y="379475"/>
                  </a:lnTo>
                  <a:lnTo>
                    <a:pt x="1382267" y="376427"/>
                  </a:lnTo>
                  <a:lnTo>
                    <a:pt x="12191" y="376427"/>
                  </a:lnTo>
                  <a:lnTo>
                    <a:pt x="6096" y="370332"/>
                  </a:lnTo>
                  <a:lnTo>
                    <a:pt x="12191" y="370332"/>
                  </a:lnTo>
                  <a:lnTo>
                    <a:pt x="12191" y="13715"/>
                  </a:lnTo>
                  <a:lnTo>
                    <a:pt x="6096" y="13715"/>
                  </a:lnTo>
                  <a:lnTo>
                    <a:pt x="12191" y="6096"/>
                  </a:lnTo>
                  <a:lnTo>
                    <a:pt x="1382267" y="6096"/>
                  </a:lnTo>
                  <a:lnTo>
                    <a:pt x="1382267" y="3048"/>
                  </a:lnTo>
                  <a:lnTo>
                    <a:pt x="1379219" y="0"/>
                  </a:lnTo>
                  <a:close/>
                </a:path>
                <a:path w="1382395" h="382904">
                  <a:moveTo>
                    <a:pt x="12191" y="370332"/>
                  </a:moveTo>
                  <a:lnTo>
                    <a:pt x="6096" y="370332"/>
                  </a:lnTo>
                  <a:lnTo>
                    <a:pt x="12191" y="376427"/>
                  </a:lnTo>
                  <a:lnTo>
                    <a:pt x="12191" y="370332"/>
                  </a:lnTo>
                  <a:close/>
                </a:path>
                <a:path w="1382395" h="382904">
                  <a:moveTo>
                    <a:pt x="1368551" y="370332"/>
                  </a:moveTo>
                  <a:lnTo>
                    <a:pt x="12191" y="370332"/>
                  </a:lnTo>
                  <a:lnTo>
                    <a:pt x="12191" y="376427"/>
                  </a:lnTo>
                  <a:lnTo>
                    <a:pt x="1368551" y="376427"/>
                  </a:lnTo>
                  <a:lnTo>
                    <a:pt x="1368551" y="370332"/>
                  </a:lnTo>
                  <a:close/>
                </a:path>
                <a:path w="1382395" h="382904">
                  <a:moveTo>
                    <a:pt x="1368551" y="6096"/>
                  </a:moveTo>
                  <a:lnTo>
                    <a:pt x="1368551" y="376427"/>
                  </a:lnTo>
                  <a:lnTo>
                    <a:pt x="1374647" y="370332"/>
                  </a:lnTo>
                  <a:lnTo>
                    <a:pt x="1382267" y="370332"/>
                  </a:lnTo>
                  <a:lnTo>
                    <a:pt x="1382267" y="13715"/>
                  </a:lnTo>
                  <a:lnTo>
                    <a:pt x="1374647" y="13715"/>
                  </a:lnTo>
                  <a:lnTo>
                    <a:pt x="1368551" y="6096"/>
                  </a:lnTo>
                  <a:close/>
                </a:path>
                <a:path w="1382395" h="382904">
                  <a:moveTo>
                    <a:pt x="1382267" y="370332"/>
                  </a:moveTo>
                  <a:lnTo>
                    <a:pt x="1374647" y="370332"/>
                  </a:lnTo>
                  <a:lnTo>
                    <a:pt x="1368551" y="376427"/>
                  </a:lnTo>
                  <a:lnTo>
                    <a:pt x="1382267" y="376427"/>
                  </a:lnTo>
                  <a:lnTo>
                    <a:pt x="1382267" y="370332"/>
                  </a:lnTo>
                  <a:close/>
                </a:path>
                <a:path w="1382395" h="382904">
                  <a:moveTo>
                    <a:pt x="12191" y="6096"/>
                  </a:moveTo>
                  <a:lnTo>
                    <a:pt x="6096" y="13715"/>
                  </a:lnTo>
                  <a:lnTo>
                    <a:pt x="12191" y="13715"/>
                  </a:lnTo>
                  <a:lnTo>
                    <a:pt x="12191" y="6096"/>
                  </a:lnTo>
                  <a:close/>
                </a:path>
                <a:path w="1382395" h="382904">
                  <a:moveTo>
                    <a:pt x="1368551" y="6096"/>
                  </a:moveTo>
                  <a:lnTo>
                    <a:pt x="12191" y="6096"/>
                  </a:lnTo>
                  <a:lnTo>
                    <a:pt x="12191" y="13715"/>
                  </a:lnTo>
                  <a:lnTo>
                    <a:pt x="1368551" y="13715"/>
                  </a:lnTo>
                  <a:lnTo>
                    <a:pt x="1368551" y="6096"/>
                  </a:lnTo>
                  <a:close/>
                </a:path>
                <a:path w="1382395" h="382904">
                  <a:moveTo>
                    <a:pt x="1382267" y="6096"/>
                  </a:moveTo>
                  <a:lnTo>
                    <a:pt x="1368551" y="6096"/>
                  </a:lnTo>
                  <a:lnTo>
                    <a:pt x="1374647" y="13715"/>
                  </a:lnTo>
                  <a:lnTo>
                    <a:pt x="1382267" y="13715"/>
                  </a:lnTo>
                  <a:lnTo>
                    <a:pt x="1382267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05726" y="3218179"/>
            <a:ext cx="1198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synchronous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3400" y="3465576"/>
            <a:ext cx="8990330" cy="788035"/>
            <a:chOff x="533400" y="3465576"/>
            <a:chExt cx="8990330" cy="788035"/>
          </a:xfrm>
        </p:grpSpPr>
        <p:sp>
          <p:nvSpPr>
            <p:cNvPr id="9" name="object 9"/>
            <p:cNvSpPr/>
            <p:nvPr/>
          </p:nvSpPr>
          <p:spPr>
            <a:xfrm>
              <a:off x="7769352" y="3465576"/>
              <a:ext cx="309880" cy="140335"/>
            </a:xfrm>
            <a:custGeom>
              <a:avLst/>
              <a:gdLst/>
              <a:ahLst/>
              <a:cxnLst/>
              <a:rect l="l" t="t" r="r" b="b"/>
              <a:pathLst>
                <a:path w="309879" h="140335">
                  <a:moveTo>
                    <a:pt x="282854" y="32003"/>
                  </a:moveTo>
                  <a:lnTo>
                    <a:pt x="274320" y="32003"/>
                  </a:lnTo>
                  <a:lnTo>
                    <a:pt x="281939" y="64007"/>
                  </a:lnTo>
                  <a:lnTo>
                    <a:pt x="223947" y="78506"/>
                  </a:lnTo>
                  <a:lnTo>
                    <a:pt x="187451" y="114300"/>
                  </a:lnTo>
                  <a:lnTo>
                    <a:pt x="181355" y="120395"/>
                  </a:lnTo>
                  <a:lnTo>
                    <a:pt x="181355" y="129539"/>
                  </a:lnTo>
                  <a:lnTo>
                    <a:pt x="187451" y="135636"/>
                  </a:lnTo>
                  <a:lnTo>
                    <a:pt x="192738" y="139064"/>
                  </a:lnTo>
                  <a:lnTo>
                    <a:pt x="198881" y="140207"/>
                  </a:lnTo>
                  <a:lnTo>
                    <a:pt x="205025" y="139064"/>
                  </a:lnTo>
                  <a:lnTo>
                    <a:pt x="210311" y="135636"/>
                  </a:lnTo>
                  <a:lnTo>
                    <a:pt x="309372" y="39624"/>
                  </a:lnTo>
                  <a:lnTo>
                    <a:pt x="282854" y="32003"/>
                  </a:lnTo>
                  <a:close/>
                </a:path>
                <a:path w="309879" h="140335">
                  <a:moveTo>
                    <a:pt x="217424" y="46227"/>
                  </a:moveTo>
                  <a:lnTo>
                    <a:pt x="0" y="100584"/>
                  </a:lnTo>
                  <a:lnTo>
                    <a:pt x="7620" y="132587"/>
                  </a:lnTo>
                  <a:lnTo>
                    <a:pt x="223947" y="78506"/>
                  </a:lnTo>
                  <a:lnTo>
                    <a:pt x="247962" y="54953"/>
                  </a:lnTo>
                  <a:lnTo>
                    <a:pt x="217424" y="46227"/>
                  </a:lnTo>
                  <a:close/>
                </a:path>
                <a:path w="309879" h="140335">
                  <a:moveTo>
                    <a:pt x="247962" y="54953"/>
                  </a:moveTo>
                  <a:lnTo>
                    <a:pt x="223947" y="78506"/>
                  </a:lnTo>
                  <a:lnTo>
                    <a:pt x="281939" y="64007"/>
                  </a:lnTo>
                  <a:lnTo>
                    <a:pt x="281577" y="62484"/>
                  </a:lnTo>
                  <a:lnTo>
                    <a:pt x="274320" y="62484"/>
                  </a:lnTo>
                  <a:lnTo>
                    <a:pt x="247962" y="54953"/>
                  </a:lnTo>
                  <a:close/>
                </a:path>
                <a:path w="309879" h="140335">
                  <a:moveTo>
                    <a:pt x="266700" y="36575"/>
                  </a:moveTo>
                  <a:lnTo>
                    <a:pt x="247962" y="54953"/>
                  </a:lnTo>
                  <a:lnTo>
                    <a:pt x="274320" y="62484"/>
                  </a:lnTo>
                  <a:lnTo>
                    <a:pt x="266700" y="36575"/>
                  </a:lnTo>
                  <a:close/>
                </a:path>
                <a:path w="309879" h="140335">
                  <a:moveTo>
                    <a:pt x="275408" y="36575"/>
                  </a:moveTo>
                  <a:lnTo>
                    <a:pt x="266700" y="36575"/>
                  </a:lnTo>
                  <a:lnTo>
                    <a:pt x="274320" y="62484"/>
                  </a:lnTo>
                  <a:lnTo>
                    <a:pt x="281577" y="62484"/>
                  </a:lnTo>
                  <a:lnTo>
                    <a:pt x="275408" y="36575"/>
                  </a:lnTo>
                  <a:close/>
                </a:path>
                <a:path w="309879" h="140335">
                  <a:moveTo>
                    <a:pt x="274320" y="32003"/>
                  </a:moveTo>
                  <a:lnTo>
                    <a:pt x="217424" y="46227"/>
                  </a:lnTo>
                  <a:lnTo>
                    <a:pt x="247962" y="54953"/>
                  </a:lnTo>
                  <a:lnTo>
                    <a:pt x="266700" y="36575"/>
                  </a:lnTo>
                  <a:lnTo>
                    <a:pt x="275408" y="36575"/>
                  </a:lnTo>
                  <a:lnTo>
                    <a:pt x="274320" y="32003"/>
                  </a:lnTo>
                  <a:close/>
                </a:path>
                <a:path w="309879" h="140335">
                  <a:moveTo>
                    <a:pt x="167639" y="0"/>
                  </a:moveTo>
                  <a:lnTo>
                    <a:pt x="160020" y="4572"/>
                  </a:lnTo>
                  <a:lnTo>
                    <a:pt x="156972" y="12191"/>
                  </a:lnTo>
                  <a:lnTo>
                    <a:pt x="156281" y="18930"/>
                  </a:lnTo>
                  <a:lnTo>
                    <a:pt x="158305" y="24955"/>
                  </a:lnTo>
                  <a:lnTo>
                    <a:pt x="162329" y="29551"/>
                  </a:lnTo>
                  <a:lnTo>
                    <a:pt x="167639" y="32003"/>
                  </a:lnTo>
                  <a:lnTo>
                    <a:pt x="217424" y="46227"/>
                  </a:lnTo>
                  <a:lnTo>
                    <a:pt x="274320" y="32003"/>
                  </a:lnTo>
                  <a:lnTo>
                    <a:pt x="282854" y="32003"/>
                  </a:lnTo>
                  <a:lnTo>
                    <a:pt x="176783" y="1524"/>
                  </a:lnTo>
                  <a:lnTo>
                    <a:pt x="167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24800" y="3810000"/>
              <a:ext cx="1591310" cy="78105"/>
            </a:xfrm>
            <a:custGeom>
              <a:avLst/>
              <a:gdLst/>
              <a:ahLst/>
              <a:cxnLst/>
              <a:rect l="l" t="t" r="r" b="b"/>
              <a:pathLst>
                <a:path w="1591309" h="78104">
                  <a:moveTo>
                    <a:pt x="1591055" y="0"/>
                  </a:moveTo>
                  <a:lnTo>
                    <a:pt x="0" y="0"/>
                  </a:lnTo>
                  <a:lnTo>
                    <a:pt x="0" y="77724"/>
                  </a:lnTo>
                  <a:lnTo>
                    <a:pt x="1591055" y="77724"/>
                  </a:lnTo>
                  <a:lnTo>
                    <a:pt x="159105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18703" y="3803904"/>
              <a:ext cx="1605280" cy="83820"/>
            </a:xfrm>
            <a:custGeom>
              <a:avLst/>
              <a:gdLst/>
              <a:ahLst/>
              <a:cxnLst/>
              <a:rect l="l" t="t" r="r" b="b"/>
              <a:pathLst>
                <a:path w="1605279" h="83820">
                  <a:moveTo>
                    <a:pt x="1603247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3820"/>
                  </a:lnTo>
                  <a:lnTo>
                    <a:pt x="13715" y="83820"/>
                  </a:lnTo>
                  <a:lnTo>
                    <a:pt x="13715" y="13715"/>
                  </a:lnTo>
                  <a:lnTo>
                    <a:pt x="6096" y="13715"/>
                  </a:lnTo>
                  <a:lnTo>
                    <a:pt x="13715" y="6096"/>
                  </a:lnTo>
                  <a:lnTo>
                    <a:pt x="1604771" y="6096"/>
                  </a:lnTo>
                  <a:lnTo>
                    <a:pt x="1604771" y="3048"/>
                  </a:lnTo>
                  <a:lnTo>
                    <a:pt x="1603247" y="0"/>
                  </a:lnTo>
                  <a:close/>
                </a:path>
                <a:path w="1605279" h="83820">
                  <a:moveTo>
                    <a:pt x="1592579" y="6096"/>
                  </a:moveTo>
                  <a:lnTo>
                    <a:pt x="1592579" y="83820"/>
                  </a:lnTo>
                  <a:lnTo>
                    <a:pt x="1604771" y="83820"/>
                  </a:lnTo>
                  <a:lnTo>
                    <a:pt x="1604771" y="13715"/>
                  </a:lnTo>
                  <a:lnTo>
                    <a:pt x="1598675" y="13715"/>
                  </a:lnTo>
                  <a:lnTo>
                    <a:pt x="1592579" y="6096"/>
                  </a:lnTo>
                  <a:close/>
                </a:path>
                <a:path w="1605279" h="83820">
                  <a:moveTo>
                    <a:pt x="13715" y="6096"/>
                  </a:moveTo>
                  <a:lnTo>
                    <a:pt x="6096" y="13715"/>
                  </a:lnTo>
                  <a:lnTo>
                    <a:pt x="13715" y="13715"/>
                  </a:lnTo>
                  <a:lnTo>
                    <a:pt x="13715" y="6096"/>
                  </a:lnTo>
                  <a:close/>
                </a:path>
                <a:path w="1605279" h="83820">
                  <a:moveTo>
                    <a:pt x="1592579" y="6096"/>
                  </a:moveTo>
                  <a:lnTo>
                    <a:pt x="13715" y="6096"/>
                  </a:lnTo>
                  <a:lnTo>
                    <a:pt x="13715" y="13715"/>
                  </a:lnTo>
                  <a:lnTo>
                    <a:pt x="1592579" y="13715"/>
                  </a:lnTo>
                  <a:lnTo>
                    <a:pt x="1592579" y="6096"/>
                  </a:lnTo>
                  <a:close/>
                </a:path>
                <a:path w="1605279" h="83820">
                  <a:moveTo>
                    <a:pt x="1604771" y="6096"/>
                  </a:moveTo>
                  <a:lnTo>
                    <a:pt x="1592579" y="6096"/>
                  </a:lnTo>
                  <a:lnTo>
                    <a:pt x="1598675" y="13715"/>
                  </a:lnTo>
                  <a:lnTo>
                    <a:pt x="1604771" y="13715"/>
                  </a:lnTo>
                  <a:lnTo>
                    <a:pt x="1604771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61731" y="3570732"/>
              <a:ext cx="240792" cy="2407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3886200"/>
              <a:ext cx="7315200" cy="367283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15" name="object 1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7963" y="5940043"/>
            <a:ext cx="8131809" cy="64770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89230" marR="5080" indent="-177165">
              <a:lnSpc>
                <a:spcPct val="70000"/>
              </a:lnSpc>
              <a:spcBef>
                <a:spcPts val="96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400" spc="-5" dirty="0">
                <a:latin typeface="Calibri"/>
                <a:cs typeface="Calibri"/>
              </a:rPr>
              <a:t>Carrier division multiple access (CDMA) is </a:t>
            </a:r>
            <a:r>
              <a:rPr sz="2400" spc="-10" dirty="0">
                <a:latin typeface="Calibri"/>
                <a:cs typeface="Calibri"/>
              </a:rPr>
              <a:t>considered </a:t>
            </a:r>
            <a:r>
              <a:rPr sz="2400" dirty="0">
                <a:latin typeface="Calibri"/>
                <a:cs typeface="Calibri"/>
              </a:rPr>
              <a:t>as a </a:t>
            </a:r>
            <a:r>
              <a:rPr sz="2400" spc="-15" dirty="0">
                <a:latin typeface="Calibri"/>
                <a:cs typeface="Calibri"/>
              </a:rPr>
              <a:t>fourth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multiplexing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category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939" y="4284979"/>
            <a:ext cx="187578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Analog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Multiplexing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technique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 combine analog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signals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31539" y="4303850"/>
            <a:ext cx="187578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Analog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Multiplexing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technique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 combine </a:t>
            </a:r>
            <a:r>
              <a:rPr sz="1800" spc="-10" dirty="0">
                <a:latin typeface="Calibri"/>
                <a:cs typeface="Calibri"/>
              </a:rPr>
              <a:t>optical </a:t>
            </a:r>
            <a:r>
              <a:rPr sz="1800" spc="-5" dirty="0">
                <a:latin typeface="Calibri"/>
                <a:cs typeface="Calibri"/>
              </a:rPr>
              <a:t> signals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93739" y="4284979"/>
            <a:ext cx="2059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Digital </a:t>
            </a:r>
            <a:r>
              <a:rPr sz="1800" spc="-5" dirty="0">
                <a:latin typeface="Calibri"/>
                <a:cs typeface="Calibri"/>
              </a:rPr>
              <a:t>multiplexing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technique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combine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93739" y="4833619"/>
            <a:ext cx="2361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several low </a:t>
            </a:r>
            <a:r>
              <a:rPr sz="1800" spc="-20" dirty="0">
                <a:latin typeface="Calibri"/>
                <a:cs typeface="Calibri"/>
              </a:rPr>
              <a:t>rate </a:t>
            </a:r>
            <a:r>
              <a:rPr sz="1800" spc="-5" dirty="0">
                <a:latin typeface="Calibri"/>
                <a:cs typeface="Calibri"/>
              </a:rPr>
              <a:t>channels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high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rate</a:t>
            </a:r>
            <a:r>
              <a:rPr sz="1800" spc="-5" dirty="0">
                <a:latin typeface="Calibri"/>
                <a:cs typeface="Calibri"/>
              </a:rPr>
              <a:t> one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918703" y="3886200"/>
            <a:ext cx="1605280" cy="577850"/>
            <a:chOff x="7918703" y="3886200"/>
            <a:chExt cx="1605280" cy="577850"/>
          </a:xfrm>
        </p:grpSpPr>
        <p:sp>
          <p:nvSpPr>
            <p:cNvPr id="23" name="object 23"/>
            <p:cNvSpPr/>
            <p:nvPr/>
          </p:nvSpPr>
          <p:spPr>
            <a:xfrm>
              <a:off x="7924799" y="3886200"/>
              <a:ext cx="1591310" cy="570230"/>
            </a:xfrm>
            <a:custGeom>
              <a:avLst/>
              <a:gdLst/>
              <a:ahLst/>
              <a:cxnLst/>
              <a:rect l="l" t="t" r="r" b="b"/>
              <a:pathLst>
                <a:path w="1591309" h="570229">
                  <a:moveTo>
                    <a:pt x="0" y="569975"/>
                  </a:moveTo>
                  <a:lnTo>
                    <a:pt x="1591055" y="569975"/>
                  </a:lnTo>
                  <a:lnTo>
                    <a:pt x="1591055" y="0"/>
                  </a:lnTo>
                  <a:lnTo>
                    <a:pt x="0" y="0"/>
                  </a:lnTo>
                  <a:lnTo>
                    <a:pt x="0" y="56997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18691" y="3886199"/>
              <a:ext cx="1605280" cy="577850"/>
            </a:xfrm>
            <a:custGeom>
              <a:avLst/>
              <a:gdLst/>
              <a:ahLst/>
              <a:cxnLst/>
              <a:rect l="l" t="t" r="r" b="b"/>
              <a:pathLst>
                <a:path w="1605279" h="577850">
                  <a:moveTo>
                    <a:pt x="1604772" y="0"/>
                  </a:moveTo>
                  <a:lnTo>
                    <a:pt x="1598676" y="0"/>
                  </a:lnTo>
                  <a:lnTo>
                    <a:pt x="1598676" y="563880"/>
                  </a:lnTo>
                  <a:lnTo>
                    <a:pt x="1595628" y="567690"/>
                  </a:lnTo>
                  <a:lnTo>
                    <a:pt x="1595628" y="563880"/>
                  </a:lnTo>
                  <a:lnTo>
                    <a:pt x="1598676" y="563880"/>
                  </a:lnTo>
                  <a:lnTo>
                    <a:pt x="1598676" y="0"/>
                  </a:lnTo>
                  <a:lnTo>
                    <a:pt x="1592580" y="0"/>
                  </a:lnTo>
                  <a:lnTo>
                    <a:pt x="1592580" y="563880"/>
                  </a:lnTo>
                  <a:lnTo>
                    <a:pt x="13716" y="563880"/>
                  </a:lnTo>
                  <a:lnTo>
                    <a:pt x="13716" y="571500"/>
                  </a:lnTo>
                  <a:lnTo>
                    <a:pt x="9906" y="571500"/>
                  </a:lnTo>
                  <a:lnTo>
                    <a:pt x="9906" y="567690"/>
                  </a:lnTo>
                  <a:lnTo>
                    <a:pt x="13716" y="571500"/>
                  </a:lnTo>
                  <a:lnTo>
                    <a:pt x="13716" y="56388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563880"/>
                  </a:lnTo>
                  <a:lnTo>
                    <a:pt x="0" y="571500"/>
                  </a:lnTo>
                  <a:lnTo>
                    <a:pt x="0" y="574040"/>
                  </a:lnTo>
                  <a:lnTo>
                    <a:pt x="1397" y="574040"/>
                  </a:lnTo>
                  <a:lnTo>
                    <a:pt x="1397" y="577850"/>
                  </a:lnTo>
                  <a:lnTo>
                    <a:pt x="1604073" y="577850"/>
                  </a:lnTo>
                  <a:lnTo>
                    <a:pt x="1604073" y="574040"/>
                  </a:lnTo>
                  <a:lnTo>
                    <a:pt x="1604772" y="574040"/>
                  </a:lnTo>
                  <a:lnTo>
                    <a:pt x="1604772" y="571500"/>
                  </a:lnTo>
                  <a:lnTo>
                    <a:pt x="1604772" y="563880"/>
                  </a:lnTo>
                  <a:lnTo>
                    <a:pt x="1604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32419" y="3827779"/>
            <a:ext cx="1579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 marR="939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us/  </a:t>
            </a:r>
            <a:r>
              <a:rPr sz="1800" spc="-15" dirty="0">
                <a:latin typeface="Calibri"/>
                <a:cs typeface="Calibri"/>
              </a:rPr>
              <a:t>statistical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98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1" y="894761"/>
            <a:ext cx="85299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50" dirty="0">
                <a:solidFill>
                  <a:srgbClr val="000000"/>
                </a:solidFill>
              </a:rPr>
              <a:t>Frequency</a:t>
            </a:r>
            <a:r>
              <a:rPr sz="4000" u="none" spc="-95" dirty="0">
                <a:solidFill>
                  <a:srgbClr val="000000"/>
                </a:solidFill>
              </a:rPr>
              <a:t> </a:t>
            </a:r>
            <a:r>
              <a:rPr sz="4000" u="none" spc="-45" dirty="0">
                <a:solidFill>
                  <a:srgbClr val="000000"/>
                </a:solidFill>
              </a:rPr>
              <a:t>Division</a:t>
            </a:r>
            <a:r>
              <a:rPr sz="4000" u="none" spc="-95" dirty="0">
                <a:solidFill>
                  <a:srgbClr val="000000"/>
                </a:solidFill>
              </a:rPr>
              <a:t> </a:t>
            </a:r>
            <a:r>
              <a:rPr sz="4000" u="none" spc="-50" dirty="0">
                <a:solidFill>
                  <a:srgbClr val="000000"/>
                </a:solidFill>
              </a:rPr>
              <a:t>Multiplexing</a:t>
            </a:r>
            <a:r>
              <a:rPr sz="4000" u="none" spc="-85" dirty="0">
                <a:solidFill>
                  <a:srgbClr val="000000"/>
                </a:solidFill>
              </a:rPr>
              <a:t> </a:t>
            </a:r>
            <a:r>
              <a:rPr sz="4000" u="none" spc="-40" dirty="0">
                <a:solidFill>
                  <a:srgbClr val="000000"/>
                </a:solidFill>
              </a:rPr>
              <a:t>(FDM)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3" y="1737360"/>
            <a:ext cx="8339327" cy="10607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7667" y="1814421"/>
            <a:ext cx="8521700" cy="362013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735704" marR="330200" indent="-3230880">
              <a:lnSpc>
                <a:spcPts val="3050"/>
              </a:lnSpc>
              <a:spcBef>
                <a:spcPts val="455"/>
              </a:spcBef>
            </a:pP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An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analog</a:t>
            </a:r>
            <a:r>
              <a:rPr sz="2800" b="1" i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multiplexing</a:t>
            </a:r>
            <a:r>
              <a:rPr sz="2800" b="1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technique</a:t>
            </a:r>
            <a:r>
              <a:rPr sz="2800" b="1" i="1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800" b="1" i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combine </a:t>
            </a:r>
            <a:r>
              <a:rPr sz="2800" b="1" i="1" spc="-7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signals</a:t>
            </a:r>
            <a:endParaRPr sz="2800">
              <a:latin typeface="Arial"/>
              <a:cs typeface="Arial"/>
            </a:endParaRPr>
          </a:p>
          <a:p>
            <a:pPr marL="189230" marR="5080" indent="-175895">
              <a:lnSpc>
                <a:spcPct val="89800"/>
              </a:lnSpc>
              <a:spcBef>
                <a:spcPts val="2150"/>
              </a:spcBef>
              <a:buClr>
                <a:srgbClr val="1CACE4"/>
              </a:buClr>
              <a:buFont typeface="Arial MT"/>
              <a:buChar char="•"/>
              <a:tabLst>
                <a:tab pos="191135" algn="l"/>
              </a:tabLst>
            </a:pPr>
            <a:r>
              <a:rPr sz="2800" spc="-5" dirty="0">
                <a:latin typeface="Calibri"/>
                <a:cs typeface="Calibri"/>
              </a:rPr>
              <a:t>Can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bandwidth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link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(hertz)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greater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bandwidths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signal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be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transmitted</a:t>
            </a:r>
            <a:endParaRPr sz="2800">
              <a:latin typeface="Calibri"/>
              <a:cs typeface="Calibri"/>
            </a:endParaRPr>
          </a:p>
          <a:p>
            <a:pPr marL="419100" lvl="1" indent="-183515">
              <a:lnSpc>
                <a:spcPct val="100000"/>
              </a:lnSpc>
              <a:spcBef>
                <a:spcPts val="15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latin typeface="Calibri"/>
                <a:cs typeface="Calibri"/>
              </a:rPr>
              <a:t>Medium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Channel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BW</a:t>
            </a:r>
            <a:endParaRPr sz="2400">
              <a:latin typeface="Calibri"/>
              <a:cs typeface="Calibri"/>
            </a:endParaRPr>
          </a:p>
          <a:p>
            <a:pPr marL="189230" marR="201295" indent="-177165">
              <a:lnSpc>
                <a:spcPts val="3020"/>
              </a:lnSpc>
              <a:spcBef>
                <a:spcPts val="1614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30" dirty="0">
                <a:latin typeface="Calibri"/>
                <a:cs typeface="Calibri"/>
              </a:rPr>
              <a:t>Transmitting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 of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signals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along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same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high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speed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link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simultaneously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7" name="object 7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99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919217"/>
            <a:ext cx="1747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45" dirty="0">
                <a:solidFill>
                  <a:srgbClr val="000000"/>
                </a:solidFill>
              </a:rPr>
              <a:t>FDM</a:t>
            </a:r>
            <a:r>
              <a:rPr sz="4000" u="none" spc="-180" dirty="0">
                <a:solidFill>
                  <a:srgbClr val="000000"/>
                </a:solidFill>
              </a:rPr>
              <a:t> </a:t>
            </a:r>
            <a:r>
              <a:rPr sz="4000" u="none" spc="-5" dirty="0">
                <a:solidFill>
                  <a:srgbClr val="000000"/>
                </a:solidFill>
              </a:rPr>
              <a:t>…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97667" y="1747810"/>
            <a:ext cx="8547735" cy="449389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27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5" dirty="0">
                <a:latin typeface="Calibri"/>
                <a:cs typeface="Calibri"/>
              </a:rPr>
              <a:t>Each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signal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modulated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carrier frequency</a:t>
            </a:r>
            <a:endParaRPr sz="2800">
              <a:latin typeface="Calibri"/>
              <a:cs typeface="Calibri"/>
            </a:endParaRPr>
          </a:p>
          <a:p>
            <a:pPr marL="419100" marR="681355" lvl="1" indent="-182880">
              <a:lnSpc>
                <a:spcPts val="2590"/>
              </a:lnSpc>
              <a:spcBef>
                <a:spcPts val="475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latin typeface="Calibri"/>
                <a:cs typeface="Calibri"/>
              </a:rPr>
              <a:t>Carrier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frequencies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separated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 sufficient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bandwidth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accommodate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modulated</a:t>
            </a:r>
            <a:r>
              <a:rPr sz="2400" spc="-5" dirty="0">
                <a:latin typeface="Calibri"/>
                <a:cs typeface="Calibri"/>
              </a:rPr>
              <a:t> signal</a:t>
            </a:r>
            <a:endParaRPr sz="24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84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spc="-5" dirty="0">
                <a:latin typeface="Calibri"/>
                <a:cs typeface="Calibri"/>
              </a:rPr>
              <a:t>These bandwidth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ranges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channels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various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signals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travel</a:t>
            </a:r>
            <a:endParaRPr sz="1800">
              <a:latin typeface="Calibri"/>
              <a:cs typeface="Calibri"/>
            </a:endParaRPr>
          </a:p>
          <a:p>
            <a:pPr marL="817244" marR="5080" lvl="3" indent="-182880">
              <a:lnSpc>
                <a:spcPts val="1939"/>
              </a:lnSpc>
              <a:spcBef>
                <a:spcPts val="630"/>
              </a:spcBef>
              <a:buClr>
                <a:srgbClr val="1CACE4"/>
              </a:buClr>
              <a:buChar char="◦"/>
              <a:tabLst>
                <a:tab pos="817880" algn="l"/>
              </a:tabLst>
            </a:pPr>
            <a:r>
              <a:rPr sz="1800" spc="-5" dirty="0">
                <a:latin typeface="Calibri"/>
                <a:cs typeface="Calibri"/>
              </a:rPr>
              <a:t>Channels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dirty="0">
                <a:latin typeface="Calibri"/>
                <a:cs typeface="Calibri"/>
              </a:rPr>
              <a:t> 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separated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 </a:t>
            </a:r>
            <a:r>
              <a:rPr sz="1800" spc="-10" dirty="0">
                <a:latin typeface="Calibri"/>
                <a:cs typeface="Calibri"/>
              </a:rPr>
              <a:t>strips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unused </a:t>
            </a:r>
            <a:r>
              <a:rPr sz="1800" spc="-5" dirty="0">
                <a:latin typeface="Calibri"/>
                <a:cs typeface="Calibri"/>
              </a:rPr>
              <a:t>bandwidth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-guard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bands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-to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prevent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signals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 </a:t>
            </a:r>
            <a:r>
              <a:rPr sz="1800" spc="-5" dirty="0">
                <a:latin typeface="Calibri"/>
                <a:cs typeface="Calibri"/>
              </a:rPr>
              <a:t>overlapping</a:t>
            </a:r>
            <a:endParaRPr sz="1800">
              <a:latin typeface="Calibri"/>
              <a:cs typeface="Calibri"/>
            </a:endParaRPr>
          </a:p>
          <a:p>
            <a:pPr marL="640080" lvl="2" indent="-183515">
              <a:lnSpc>
                <a:spcPct val="100000"/>
              </a:lnSpc>
              <a:spcBef>
                <a:spcPts val="360"/>
              </a:spcBef>
              <a:buClr>
                <a:srgbClr val="1CACE4"/>
              </a:buClr>
              <a:buChar char="◦"/>
              <a:tabLst>
                <a:tab pos="640715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addition,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carrier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frequencies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must not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interfere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original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frequencies</a:t>
            </a:r>
            <a:endParaRPr sz="1800">
              <a:latin typeface="Calibri"/>
              <a:cs typeface="Calibri"/>
            </a:endParaRPr>
          </a:p>
          <a:p>
            <a:pPr marL="189230" marR="178435" indent="-177165">
              <a:lnSpc>
                <a:spcPts val="3020"/>
              </a:lnSpc>
              <a:spcBef>
                <a:spcPts val="15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latin typeface="Calibri"/>
                <a:cs typeface="Calibri"/>
              </a:rPr>
              <a:t>These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modulated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signals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then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single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composite</a:t>
            </a:r>
            <a:r>
              <a:rPr sz="2800" spc="-5" dirty="0">
                <a:latin typeface="Calibri"/>
                <a:cs typeface="Calibri"/>
              </a:rPr>
              <a:t> signal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that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-5" dirty="0">
                <a:latin typeface="Calibri"/>
                <a:cs typeface="Calibri"/>
              </a:rPr>
              <a:t> 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transported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link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3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dirty="0">
                <a:latin typeface="Calibri"/>
                <a:cs typeface="Calibri"/>
              </a:rPr>
              <a:t>E.g.,</a:t>
            </a:r>
            <a:r>
              <a:rPr sz="2800" spc="-20" dirty="0">
                <a:latin typeface="Calibri"/>
                <a:cs typeface="Calibri"/>
              </a:rPr>
              <a:t> broadcast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radio</a:t>
            </a:r>
            <a:endParaRPr sz="28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105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latin typeface="Calibri"/>
                <a:cs typeface="Calibri"/>
              </a:rPr>
              <a:t>Channel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allocated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even</a:t>
            </a:r>
            <a:r>
              <a:rPr sz="2800" spc="-10" dirty="0">
                <a:latin typeface="Calibri"/>
                <a:cs typeface="Calibri"/>
              </a:rPr>
              <a:t> if</a:t>
            </a:r>
            <a:r>
              <a:rPr sz="2800" spc="-5" dirty="0">
                <a:latin typeface="Calibri"/>
                <a:cs typeface="Calibri"/>
              </a:rPr>
              <a:t> no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100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664709"/>
            <a:ext cx="74650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45" dirty="0">
                <a:solidFill>
                  <a:srgbClr val="000000"/>
                </a:solidFill>
              </a:rPr>
              <a:t>Conceptual</a:t>
            </a:r>
            <a:r>
              <a:rPr u="none" spc="-155" dirty="0">
                <a:solidFill>
                  <a:srgbClr val="000000"/>
                </a:solidFill>
              </a:rPr>
              <a:t> </a:t>
            </a:r>
            <a:r>
              <a:rPr u="none" spc="-65" dirty="0">
                <a:solidFill>
                  <a:srgbClr val="000000"/>
                </a:solidFill>
              </a:rPr>
              <a:t>View</a:t>
            </a:r>
            <a:r>
              <a:rPr u="none" spc="-135" dirty="0">
                <a:solidFill>
                  <a:srgbClr val="000000"/>
                </a:solidFill>
              </a:rPr>
              <a:t> </a:t>
            </a:r>
            <a:r>
              <a:rPr u="none" spc="-25" dirty="0">
                <a:solidFill>
                  <a:srgbClr val="000000"/>
                </a:solidFill>
              </a:rPr>
              <a:t>of</a:t>
            </a:r>
            <a:r>
              <a:rPr u="none" spc="-125" dirty="0">
                <a:solidFill>
                  <a:srgbClr val="000000"/>
                </a:solidFill>
              </a:rPr>
              <a:t> </a:t>
            </a:r>
            <a:r>
              <a:rPr u="none" spc="-35" dirty="0">
                <a:solidFill>
                  <a:srgbClr val="000000"/>
                </a:solidFill>
              </a:rPr>
              <a:t>FDM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828800"/>
            <a:ext cx="6999731" cy="176326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6" name="object 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194303" y="4032503"/>
            <a:ext cx="3214370" cy="2165985"/>
            <a:chOff x="3194303" y="4032503"/>
            <a:chExt cx="3214370" cy="2165985"/>
          </a:xfrm>
        </p:grpSpPr>
        <p:sp>
          <p:nvSpPr>
            <p:cNvPr id="9" name="object 9"/>
            <p:cNvSpPr/>
            <p:nvPr/>
          </p:nvSpPr>
          <p:spPr>
            <a:xfrm>
              <a:off x="4114799" y="4040123"/>
              <a:ext cx="2286000" cy="1728470"/>
            </a:xfrm>
            <a:custGeom>
              <a:avLst/>
              <a:gdLst/>
              <a:ahLst/>
              <a:cxnLst/>
              <a:rect l="l" t="t" r="r" b="b"/>
              <a:pathLst>
                <a:path w="2286000" h="1728470">
                  <a:moveTo>
                    <a:pt x="0" y="0"/>
                  </a:moveTo>
                  <a:lnTo>
                    <a:pt x="0" y="1303019"/>
                  </a:lnTo>
                  <a:lnTo>
                    <a:pt x="2285999" y="1728215"/>
                  </a:lnTo>
                  <a:lnTo>
                    <a:pt x="2285999" y="425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08703" y="4032503"/>
              <a:ext cx="2298700" cy="1743710"/>
            </a:xfrm>
            <a:custGeom>
              <a:avLst/>
              <a:gdLst/>
              <a:ahLst/>
              <a:cxnLst/>
              <a:rect l="l" t="t" r="r" b="b"/>
              <a:pathLst>
                <a:path w="2298700" h="1743710">
                  <a:moveTo>
                    <a:pt x="0" y="0"/>
                  </a:moveTo>
                  <a:lnTo>
                    <a:pt x="0" y="1316735"/>
                  </a:lnTo>
                  <a:lnTo>
                    <a:pt x="2298191" y="1743455"/>
                  </a:lnTo>
                  <a:lnTo>
                    <a:pt x="2298191" y="1735835"/>
                  </a:lnTo>
                  <a:lnTo>
                    <a:pt x="2285999" y="1735835"/>
                  </a:lnTo>
                  <a:lnTo>
                    <a:pt x="2285999" y="1728322"/>
                  </a:lnTo>
                  <a:lnTo>
                    <a:pt x="40394" y="1310639"/>
                  </a:lnTo>
                  <a:lnTo>
                    <a:pt x="12191" y="1310639"/>
                  </a:lnTo>
                  <a:lnTo>
                    <a:pt x="7620" y="1304543"/>
                  </a:lnTo>
                  <a:lnTo>
                    <a:pt x="12191" y="1304543"/>
                  </a:lnTo>
                  <a:lnTo>
                    <a:pt x="12191" y="15133"/>
                  </a:lnTo>
                  <a:lnTo>
                    <a:pt x="4572" y="13715"/>
                  </a:lnTo>
                  <a:lnTo>
                    <a:pt x="12191" y="7620"/>
                  </a:lnTo>
                  <a:lnTo>
                    <a:pt x="40893" y="7620"/>
                  </a:lnTo>
                  <a:lnTo>
                    <a:pt x="0" y="0"/>
                  </a:lnTo>
                  <a:close/>
                </a:path>
                <a:path w="2298700" h="1743710">
                  <a:moveTo>
                    <a:pt x="2285999" y="1728322"/>
                  </a:moveTo>
                  <a:lnTo>
                    <a:pt x="2285999" y="1735835"/>
                  </a:lnTo>
                  <a:lnTo>
                    <a:pt x="2293619" y="1729739"/>
                  </a:lnTo>
                  <a:lnTo>
                    <a:pt x="2285999" y="1728322"/>
                  </a:lnTo>
                  <a:close/>
                </a:path>
                <a:path w="2298700" h="1743710">
                  <a:moveTo>
                    <a:pt x="2285999" y="438061"/>
                  </a:moveTo>
                  <a:lnTo>
                    <a:pt x="2285999" y="1728322"/>
                  </a:lnTo>
                  <a:lnTo>
                    <a:pt x="2293619" y="1729739"/>
                  </a:lnTo>
                  <a:lnTo>
                    <a:pt x="2285999" y="1735835"/>
                  </a:lnTo>
                  <a:lnTo>
                    <a:pt x="2298191" y="1735835"/>
                  </a:lnTo>
                  <a:lnTo>
                    <a:pt x="2298191" y="438911"/>
                  </a:lnTo>
                  <a:lnTo>
                    <a:pt x="2290571" y="438911"/>
                  </a:lnTo>
                  <a:lnTo>
                    <a:pt x="2285999" y="438061"/>
                  </a:lnTo>
                  <a:close/>
                </a:path>
                <a:path w="2298700" h="1743710">
                  <a:moveTo>
                    <a:pt x="7620" y="1304543"/>
                  </a:moveTo>
                  <a:lnTo>
                    <a:pt x="12191" y="1310639"/>
                  </a:lnTo>
                  <a:lnTo>
                    <a:pt x="12191" y="1305394"/>
                  </a:lnTo>
                  <a:lnTo>
                    <a:pt x="7620" y="1304543"/>
                  </a:lnTo>
                  <a:close/>
                </a:path>
                <a:path w="2298700" h="1743710">
                  <a:moveTo>
                    <a:pt x="12191" y="1305394"/>
                  </a:moveTo>
                  <a:lnTo>
                    <a:pt x="12191" y="1310639"/>
                  </a:lnTo>
                  <a:lnTo>
                    <a:pt x="40394" y="1310639"/>
                  </a:lnTo>
                  <a:lnTo>
                    <a:pt x="12191" y="1305394"/>
                  </a:lnTo>
                  <a:close/>
                </a:path>
                <a:path w="2298700" h="1743710">
                  <a:moveTo>
                    <a:pt x="12191" y="1304543"/>
                  </a:moveTo>
                  <a:lnTo>
                    <a:pt x="7620" y="1304543"/>
                  </a:lnTo>
                  <a:lnTo>
                    <a:pt x="12191" y="1305394"/>
                  </a:lnTo>
                  <a:lnTo>
                    <a:pt x="12191" y="1304543"/>
                  </a:lnTo>
                  <a:close/>
                </a:path>
                <a:path w="2298700" h="1743710">
                  <a:moveTo>
                    <a:pt x="2285999" y="432815"/>
                  </a:moveTo>
                  <a:lnTo>
                    <a:pt x="2285999" y="438061"/>
                  </a:lnTo>
                  <a:lnTo>
                    <a:pt x="2290571" y="438911"/>
                  </a:lnTo>
                  <a:lnTo>
                    <a:pt x="2285999" y="432815"/>
                  </a:lnTo>
                  <a:close/>
                </a:path>
                <a:path w="2298700" h="1743710">
                  <a:moveTo>
                    <a:pt x="2298191" y="432815"/>
                  </a:moveTo>
                  <a:lnTo>
                    <a:pt x="2285999" y="432815"/>
                  </a:lnTo>
                  <a:lnTo>
                    <a:pt x="2290571" y="438911"/>
                  </a:lnTo>
                  <a:lnTo>
                    <a:pt x="2298191" y="438911"/>
                  </a:lnTo>
                  <a:lnTo>
                    <a:pt x="2298191" y="432815"/>
                  </a:lnTo>
                  <a:close/>
                </a:path>
                <a:path w="2298700" h="1743710">
                  <a:moveTo>
                    <a:pt x="40893" y="7620"/>
                  </a:moveTo>
                  <a:lnTo>
                    <a:pt x="12191" y="7620"/>
                  </a:lnTo>
                  <a:lnTo>
                    <a:pt x="12192" y="15133"/>
                  </a:lnTo>
                  <a:lnTo>
                    <a:pt x="2285999" y="438061"/>
                  </a:lnTo>
                  <a:lnTo>
                    <a:pt x="2285999" y="432815"/>
                  </a:lnTo>
                  <a:lnTo>
                    <a:pt x="2298191" y="432815"/>
                  </a:lnTo>
                  <a:lnTo>
                    <a:pt x="2298191" y="428243"/>
                  </a:lnTo>
                  <a:lnTo>
                    <a:pt x="40893" y="7620"/>
                  </a:lnTo>
                  <a:close/>
                </a:path>
                <a:path w="2298700" h="1743710">
                  <a:moveTo>
                    <a:pt x="12191" y="7620"/>
                  </a:moveTo>
                  <a:lnTo>
                    <a:pt x="4572" y="13715"/>
                  </a:lnTo>
                  <a:lnTo>
                    <a:pt x="12192" y="15133"/>
                  </a:lnTo>
                  <a:lnTo>
                    <a:pt x="12191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09999" y="4180331"/>
              <a:ext cx="2286000" cy="1728470"/>
            </a:xfrm>
            <a:custGeom>
              <a:avLst/>
              <a:gdLst/>
              <a:ahLst/>
              <a:cxnLst/>
              <a:rect l="l" t="t" r="r" b="b"/>
              <a:pathLst>
                <a:path w="2286000" h="1728470">
                  <a:moveTo>
                    <a:pt x="0" y="0"/>
                  </a:moveTo>
                  <a:lnTo>
                    <a:pt x="0" y="1303019"/>
                  </a:lnTo>
                  <a:lnTo>
                    <a:pt x="2285999" y="1728215"/>
                  </a:lnTo>
                  <a:lnTo>
                    <a:pt x="2285999" y="425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3903" y="4172711"/>
              <a:ext cx="2299970" cy="1743710"/>
            </a:xfrm>
            <a:custGeom>
              <a:avLst/>
              <a:gdLst/>
              <a:ahLst/>
              <a:cxnLst/>
              <a:rect l="l" t="t" r="r" b="b"/>
              <a:pathLst>
                <a:path w="2299970" h="1743710">
                  <a:moveTo>
                    <a:pt x="0" y="0"/>
                  </a:moveTo>
                  <a:lnTo>
                    <a:pt x="0" y="1315211"/>
                  </a:lnTo>
                  <a:lnTo>
                    <a:pt x="2299715" y="1743455"/>
                  </a:lnTo>
                  <a:lnTo>
                    <a:pt x="2299715" y="1735835"/>
                  </a:lnTo>
                  <a:lnTo>
                    <a:pt x="2285999" y="1735835"/>
                  </a:lnTo>
                  <a:lnTo>
                    <a:pt x="2285999" y="1726803"/>
                  </a:lnTo>
                  <a:lnTo>
                    <a:pt x="40512" y="1310639"/>
                  </a:lnTo>
                  <a:lnTo>
                    <a:pt x="13715" y="1310639"/>
                  </a:lnTo>
                  <a:lnTo>
                    <a:pt x="7620" y="1304543"/>
                  </a:lnTo>
                  <a:lnTo>
                    <a:pt x="13715" y="1304543"/>
                  </a:lnTo>
                  <a:lnTo>
                    <a:pt x="13715" y="15133"/>
                  </a:lnTo>
                  <a:lnTo>
                    <a:pt x="6096" y="13715"/>
                  </a:lnTo>
                  <a:lnTo>
                    <a:pt x="13715" y="7619"/>
                  </a:lnTo>
                  <a:lnTo>
                    <a:pt x="40920" y="7619"/>
                  </a:lnTo>
                  <a:lnTo>
                    <a:pt x="0" y="0"/>
                  </a:lnTo>
                  <a:close/>
                </a:path>
                <a:path w="2299970" h="1743710">
                  <a:moveTo>
                    <a:pt x="2285999" y="1726803"/>
                  </a:moveTo>
                  <a:lnTo>
                    <a:pt x="2285999" y="1735835"/>
                  </a:lnTo>
                  <a:lnTo>
                    <a:pt x="2293619" y="1728215"/>
                  </a:lnTo>
                  <a:lnTo>
                    <a:pt x="2285999" y="1726803"/>
                  </a:lnTo>
                  <a:close/>
                </a:path>
                <a:path w="2299970" h="1743710">
                  <a:moveTo>
                    <a:pt x="2285999" y="437778"/>
                  </a:moveTo>
                  <a:lnTo>
                    <a:pt x="2285999" y="1726803"/>
                  </a:lnTo>
                  <a:lnTo>
                    <a:pt x="2293619" y="1728215"/>
                  </a:lnTo>
                  <a:lnTo>
                    <a:pt x="2285999" y="1735835"/>
                  </a:lnTo>
                  <a:lnTo>
                    <a:pt x="2299715" y="1735835"/>
                  </a:lnTo>
                  <a:lnTo>
                    <a:pt x="2299715" y="438911"/>
                  </a:lnTo>
                  <a:lnTo>
                    <a:pt x="2292095" y="438911"/>
                  </a:lnTo>
                  <a:lnTo>
                    <a:pt x="2285999" y="437778"/>
                  </a:lnTo>
                  <a:close/>
                </a:path>
                <a:path w="2299970" h="1743710">
                  <a:moveTo>
                    <a:pt x="7620" y="1304543"/>
                  </a:moveTo>
                  <a:lnTo>
                    <a:pt x="13715" y="1310639"/>
                  </a:lnTo>
                  <a:lnTo>
                    <a:pt x="13715" y="1305673"/>
                  </a:lnTo>
                  <a:lnTo>
                    <a:pt x="7620" y="1304543"/>
                  </a:lnTo>
                  <a:close/>
                </a:path>
                <a:path w="2299970" h="1743710">
                  <a:moveTo>
                    <a:pt x="13715" y="1305673"/>
                  </a:moveTo>
                  <a:lnTo>
                    <a:pt x="13715" y="1310639"/>
                  </a:lnTo>
                  <a:lnTo>
                    <a:pt x="40512" y="1310639"/>
                  </a:lnTo>
                  <a:lnTo>
                    <a:pt x="13715" y="1305673"/>
                  </a:lnTo>
                  <a:close/>
                </a:path>
                <a:path w="2299970" h="1743710">
                  <a:moveTo>
                    <a:pt x="13715" y="1304543"/>
                  </a:moveTo>
                  <a:lnTo>
                    <a:pt x="7620" y="1304543"/>
                  </a:lnTo>
                  <a:lnTo>
                    <a:pt x="13715" y="1305673"/>
                  </a:lnTo>
                  <a:lnTo>
                    <a:pt x="13715" y="1304543"/>
                  </a:lnTo>
                  <a:close/>
                </a:path>
                <a:path w="2299970" h="1743710">
                  <a:moveTo>
                    <a:pt x="2285999" y="432815"/>
                  </a:moveTo>
                  <a:lnTo>
                    <a:pt x="2285999" y="437778"/>
                  </a:lnTo>
                  <a:lnTo>
                    <a:pt x="2292095" y="438911"/>
                  </a:lnTo>
                  <a:lnTo>
                    <a:pt x="2285999" y="432815"/>
                  </a:lnTo>
                  <a:close/>
                </a:path>
                <a:path w="2299970" h="1743710">
                  <a:moveTo>
                    <a:pt x="2299715" y="432815"/>
                  </a:moveTo>
                  <a:lnTo>
                    <a:pt x="2285999" y="432815"/>
                  </a:lnTo>
                  <a:lnTo>
                    <a:pt x="2292095" y="438911"/>
                  </a:lnTo>
                  <a:lnTo>
                    <a:pt x="2299715" y="438911"/>
                  </a:lnTo>
                  <a:lnTo>
                    <a:pt x="2299715" y="432815"/>
                  </a:lnTo>
                  <a:close/>
                </a:path>
                <a:path w="2299970" h="1743710">
                  <a:moveTo>
                    <a:pt x="40920" y="7619"/>
                  </a:moveTo>
                  <a:lnTo>
                    <a:pt x="13715" y="7619"/>
                  </a:lnTo>
                  <a:lnTo>
                    <a:pt x="13716" y="15133"/>
                  </a:lnTo>
                  <a:lnTo>
                    <a:pt x="2285999" y="437778"/>
                  </a:lnTo>
                  <a:lnTo>
                    <a:pt x="2285999" y="432815"/>
                  </a:lnTo>
                  <a:lnTo>
                    <a:pt x="2299715" y="432815"/>
                  </a:lnTo>
                  <a:lnTo>
                    <a:pt x="2299715" y="428243"/>
                  </a:lnTo>
                  <a:lnTo>
                    <a:pt x="40920" y="7619"/>
                  </a:lnTo>
                  <a:close/>
                </a:path>
                <a:path w="2299970" h="1743710">
                  <a:moveTo>
                    <a:pt x="13715" y="7619"/>
                  </a:moveTo>
                  <a:lnTo>
                    <a:pt x="6096" y="13715"/>
                  </a:lnTo>
                  <a:lnTo>
                    <a:pt x="13716" y="15133"/>
                  </a:lnTo>
                  <a:lnTo>
                    <a:pt x="13715" y="7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05199" y="4320539"/>
              <a:ext cx="2286000" cy="1727200"/>
            </a:xfrm>
            <a:custGeom>
              <a:avLst/>
              <a:gdLst/>
              <a:ahLst/>
              <a:cxnLst/>
              <a:rect l="l" t="t" r="r" b="b"/>
              <a:pathLst>
                <a:path w="2286000" h="1727200">
                  <a:moveTo>
                    <a:pt x="0" y="0"/>
                  </a:moveTo>
                  <a:lnTo>
                    <a:pt x="0" y="1301495"/>
                  </a:lnTo>
                  <a:lnTo>
                    <a:pt x="2285999" y="1726691"/>
                  </a:lnTo>
                  <a:lnTo>
                    <a:pt x="2285999" y="425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99103" y="4312919"/>
              <a:ext cx="2299970" cy="1742439"/>
            </a:xfrm>
            <a:custGeom>
              <a:avLst/>
              <a:gdLst/>
              <a:ahLst/>
              <a:cxnLst/>
              <a:rect l="l" t="t" r="r" b="b"/>
              <a:pathLst>
                <a:path w="2299970" h="1742439">
                  <a:moveTo>
                    <a:pt x="0" y="0"/>
                  </a:moveTo>
                  <a:lnTo>
                    <a:pt x="0" y="1315211"/>
                  </a:lnTo>
                  <a:lnTo>
                    <a:pt x="2299715" y="1741931"/>
                  </a:lnTo>
                  <a:lnTo>
                    <a:pt x="2299715" y="1734311"/>
                  </a:lnTo>
                  <a:lnTo>
                    <a:pt x="2285999" y="1734311"/>
                  </a:lnTo>
                  <a:lnTo>
                    <a:pt x="2285999" y="1726798"/>
                  </a:lnTo>
                  <a:lnTo>
                    <a:pt x="40394" y="1309115"/>
                  </a:lnTo>
                  <a:lnTo>
                    <a:pt x="13715" y="1309115"/>
                  </a:lnTo>
                  <a:lnTo>
                    <a:pt x="7620" y="1303019"/>
                  </a:lnTo>
                  <a:lnTo>
                    <a:pt x="13715" y="1303019"/>
                  </a:lnTo>
                  <a:lnTo>
                    <a:pt x="13715" y="15133"/>
                  </a:lnTo>
                  <a:lnTo>
                    <a:pt x="6096" y="13716"/>
                  </a:lnTo>
                  <a:lnTo>
                    <a:pt x="13715" y="7620"/>
                  </a:lnTo>
                  <a:lnTo>
                    <a:pt x="41066" y="7620"/>
                  </a:lnTo>
                  <a:lnTo>
                    <a:pt x="0" y="0"/>
                  </a:lnTo>
                  <a:close/>
                </a:path>
                <a:path w="2299970" h="1742439">
                  <a:moveTo>
                    <a:pt x="2285999" y="1726798"/>
                  </a:moveTo>
                  <a:lnTo>
                    <a:pt x="2285999" y="1734311"/>
                  </a:lnTo>
                  <a:lnTo>
                    <a:pt x="2293619" y="1728215"/>
                  </a:lnTo>
                  <a:lnTo>
                    <a:pt x="2285999" y="1726798"/>
                  </a:lnTo>
                  <a:close/>
                </a:path>
                <a:path w="2299970" h="1742439">
                  <a:moveTo>
                    <a:pt x="2285999" y="437778"/>
                  </a:moveTo>
                  <a:lnTo>
                    <a:pt x="2285999" y="1726798"/>
                  </a:lnTo>
                  <a:lnTo>
                    <a:pt x="2293619" y="1728215"/>
                  </a:lnTo>
                  <a:lnTo>
                    <a:pt x="2285999" y="1734311"/>
                  </a:lnTo>
                  <a:lnTo>
                    <a:pt x="2299715" y="1734311"/>
                  </a:lnTo>
                  <a:lnTo>
                    <a:pt x="2299715" y="438912"/>
                  </a:lnTo>
                  <a:lnTo>
                    <a:pt x="2292095" y="438912"/>
                  </a:lnTo>
                  <a:lnTo>
                    <a:pt x="2285999" y="437778"/>
                  </a:lnTo>
                  <a:close/>
                </a:path>
                <a:path w="2299970" h="1742439">
                  <a:moveTo>
                    <a:pt x="7620" y="1303019"/>
                  </a:moveTo>
                  <a:lnTo>
                    <a:pt x="13715" y="1309115"/>
                  </a:lnTo>
                  <a:lnTo>
                    <a:pt x="13715" y="1304153"/>
                  </a:lnTo>
                  <a:lnTo>
                    <a:pt x="7620" y="1303019"/>
                  </a:lnTo>
                  <a:close/>
                </a:path>
                <a:path w="2299970" h="1742439">
                  <a:moveTo>
                    <a:pt x="13716" y="1304153"/>
                  </a:moveTo>
                  <a:lnTo>
                    <a:pt x="13715" y="1309115"/>
                  </a:lnTo>
                  <a:lnTo>
                    <a:pt x="40394" y="1309115"/>
                  </a:lnTo>
                  <a:lnTo>
                    <a:pt x="13716" y="1304153"/>
                  </a:lnTo>
                  <a:close/>
                </a:path>
                <a:path w="2299970" h="1742439">
                  <a:moveTo>
                    <a:pt x="13715" y="1303019"/>
                  </a:moveTo>
                  <a:lnTo>
                    <a:pt x="7620" y="1303019"/>
                  </a:lnTo>
                  <a:lnTo>
                    <a:pt x="13716" y="1304153"/>
                  </a:lnTo>
                  <a:lnTo>
                    <a:pt x="13715" y="1303019"/>
                  </a:lnTo>
                  <a:close/>
                </a:path>
                <a:path w="2299970" h="1742439">
                  <a:moveTo>
                    <a:pt x="2285999" y="432816"/>
                  </a:moveTo>
                  <a:lnTo>
                    <a:pt x="2285999" y="437778"/>
                  </a:lnTo>
                  <a:lnTo>
                    <a:pt x="2292095" y="438912"/>
                  </a:lnTo>
                  <a:lnTo>
                    <a:pt x="2285999" y="432816"/>
                  </a:lnTo>
                  <a:close/>
                </a:path>
                <a:path w="2299970" h="1742439">
                  <a:moveTo>
                    <a:pt x="2299715" y="432816"/>
                  </a:moveTo>
                  <a:lnTo>
                    <a:pt x="2285999" y="432816"/>
                  </a:lnTo>
                  <a:lnTo>
                    <a:pt x="2292095" y="438912"/>
                  </a:lnTo>
                  <a:lnTo>
                    <a:pt x="2299715" y="438912"/>
                  </a:lnTo>
                  <a:lnTo>
                    <a:pt x="2299715" y="432816"/>
                  </a:lnTo>
                  <a:close/>
                </a:path>
                <a:path w="2299970" h="1742439">
                  <a:moveTo>
                    <a:pt x="41066" y="7620"/>
                  </a:moveTo>
                  <a:lnTo>
                    <a:pt x="13715" y="7620"/>
                  </a:lnTo>
                  <a:lnTo>
                    <a:pt x="13716" y="15133"/>
                  </a:lnTo>
                  <a:lnTo>
                    <a:pt x="2285999" y="437778"/>
                  </a:lnTo>
                  <a:lnTo>
                    <a:pt x="2285999" y="432816"/>
                  </a:lnTo>
                  <a:lnTo>
                    <a:pt x="2299715" y="432816"/>
                  </a:lnTo>
                  <a:lnTo>
                    <a:pt x="2299715" y="426720"/>
                  </a:lnTo>
                  <a:lnTo>
                    <a:pt x="41066" y="7620"/>
                  </a:lnTo>
                  <a:close/>
                </a:path>
                <a:path w="2299970" h="1742439">
                  <a:moveTo>
                    <a:pt x="13715" y="7620"/>
                  </a:moveTo>
                  <a:lnTo>
                    <a:pt x="6096" y="13716"/>
                  </a:lnTo>
                  <a:lnTo>
                    <a:pt x="13716" y="15133"/>
                  </a:lnTo>
                  <a:lnTo>
                    <a:pt x="1371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399" y="4460747"/>
              <a:ext cx="2286000" cy="1728470"/>
            </a:xfrm>
            <a:custGeom>
              <a:avLst/>
              <a:gdLst/>
              <a:ahLst/>
              <a:cxnLst/>
              <a:rect l="l" t="t" r="r" b="b"/>
              <a:pathLst>
                <a:path w="2286000" h="1728470">
                  <a:moveTo>
                    <a:pt x="0" y="0"/>
                  </a:moveTo>
                  <a:lnTo>
                    <a:pt x="0" y="1303019"/>
                  </a:lnTo>
                  <a:lnTo>
                    <a:pt x="2285999" y="1728215"/>
                  </a:lnTo>
                  <a:lnTo>
                    <a:pt x="2285999" y="425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94303" y="4453127"/>
              <a:ext cx="2298700" cy="1743710"/>
            </a:xfrm>
            <a:custGeom>
              <a:avLst/>
              <a:gdLst/>
              <a:ahLst/>
              <a:cxnLst/>
              <a:rect l="l" t="t" r="r" b="b"/>
              <a:pathLst>
                <a:path w="2298700" h="1743710">
                  <a:moveTo>
                    <a:pt x="0" y="0"/>
                  </a:moveTo>
                  <a:lnTo>
                    <a:pt x="0" y="1316735"/>
                  </a:lnTo>
                  <a:lnTo>
                    <a:pt x="2298191" y="1743455"/>
                  </a:lnTo>
                  <a:lnTo>
                    <a:pt x="2298191" y="1735835"/>
                  </a:lnTo>
                  <a:lnTo>
                    <a:pt x="2285999" y="1735835"/>
                  </a:lnTo>
                  <a:lnTo>
                    <a:pt x="2285999" y="1728322"/>
                  </a:lnTo>
                  <a:lnTo>
                    <a:pt x="40394" y="1310639"/>
                  </a:lnTo>
                  <a:lnTo>
                    <a:pt x="12192" y="1310639"/>
                  </a:lnTo>
                  <a:lnTo>
                    <a:pt x="7619" y="1304543"/>
                  </a:lnTo>
                  <a:lnTo>
                    <a:pt x="12192" y="1304543"/>
                  </a:lnTo>
                  <a:lnTo>
                    <a:pt x="12192" y="15133"/>
                  </a:lnTo>
                  <a:lnTo>
                    <a:pt x="4572" y="13715"/>
                  </a:lnTo>
                  <a:lnTo>
                    <a:pt x="12192" y="7619"/>
                  </a:lnTo>
                  <a:lnTo>
                    <a:pt x="40893" y="7619"/>
                  </a:lnTo>
                  <a:lnTo>
                    <a:pt x="0" y="0"/>
                  </a:lnTo>
                  <a:close/>
                </a:path>
                <a:path w="2298700" h="1743710">
                  <a:moveTo>
                    <a:pt x="2285999" y="1728322"/>
                  </a:moveTo>
                  <a:lnTo>
                    <a:pt x="2285999" y="1735835"/>
                  </a:lnTo>
                  <a:lnTo>
                    <a:pt x="2293619" y="1729739"/>
                  </a:lnTo>
                  <a:lnTo>
                    <a:pt x="2285999" y="1728322"/>
                  </a:lnTo>
                  <a:close/>
                </a:path>
                <a:path w="2298700" h="1743710">
                  <a:moveTo>
                    <a:pt x="2285999" y="438061"/>
                  </a:moveTo>
                  <a:lnTo>
                    <a:pt x="2285999" y="1728322"/>
                  </a:lnTo>
                  <a:lnTo>
                    <a:pt x="2293619" y="1729739"/>
                  </a:lnTo>
                  <a:lnTo>
                    <a:pt x="2285999" y="1735835"/>
                  </a:lnTo>
                  <a:lnTo>
                    <a:pt x="2298191" y="1735835"/>
                  </a:lnTo>
                  <a:lnTo>
                    <a:pt x="2298191" y="438911"/>
                  </a:lnTo>
                  <a:lnTo>
                    <a:pt x="2290571" y="438911"/>
                  </a:lnTo>
                  <a:lnTo>
                    <a:pt x="2285999" y="438061"/>
                  </a:lnTo>
                  <a:close/>
                </a:path>
                <a:path w="2298700" h="1743710">
                  <a:moveTo>
                    <a:pt x="7619" y="1304543"/>
                  </a:moveTo>
                  <a:lnTo>
                    <a:pt x="12192" y="1310639"/>
                  </a:lnTo>
                  <a:lnTo>
                    <a:pt x="12192" y="1305394"/>
                  </a:lnTo>
                  <a:lnTo>
                    <a:pt x="7619" y="1304543"/>
                  </a:lnTo>
                  <a:close/>
                </a:path>
                <a:path w="2298700" h="1743710">
                  <a:moveTo>
                    <a:pt x="12192" y="1305394"/>
                  </a:moveTo>
                  <a:lnTo>
                    <a:pt x="12192" y="1310639"/>
                  </a:lnTo>
                  <a:lnTo>
                    <a:pt x="40394" y="1310639"/>
                  </a:lnTo>
                  <a:lnTo>
                    <a:pt x="12192" y="1305394"/>
                  </a:lnTo>
                  <a:close/>
                </a:path>
                <a:path w="2298700" h="1743710">
                  <a:moveTo>
                    <a:pt x="12192" y="1304543"/>
                  </a:moveTo>
                  <a:lnTo>
                    <a:pt x="7619" y="1304543"/>
                  </a:lnTo>
                  <a:lnTo>
                    <a:pt x="12192" y="1305394"/>
                  </a:lnTo>
                  <a:lnTo>
                    <a:pt x="12192" y="1304543"/>
                  </a:lnTo>
                  <a:close/>
                </a:path>
                <a:path w="2298700" h="1743710">
                  <a:moveTo>
                    <a:pt x="2285999" y="432815"/>
                  </a:moveTo>
                  <a:lnTo>
                    <a:pt x="2285999" y="438061"/>
                  </a:lnTo>
                  <a:lnTo>
                    <a:pt x="2290571" y="438911"/>
                  </a:lnTo>
                  <a:lnTo>
                    <a:pt x="2285999" y="432815"/>
                  </a:lnTo>
                  <a:close/>
                </a:path>
                <a:path w="2298700" h="1743710">
                  <a:moveTo>
                    <a:pt x="2298191" y="432815"/>
                  </a:moveTo>
                  <a:lnTo>
                    <a:pt x="2285999" y="432815"/>
                  </a:lnTo>
                  <a:lnTo>
                    <a:pt x="2290571" y="438911"/>
                  </a:lnTo>
                  <a:lnTo>
                    <a:pt x="2298191" y="438911"/>
                  </a:lnTo>
                  <a:lnTo>
                    <a:pt x="2298191" y="432815"/>
                  </a:lnTo>
                  <a:close/>
                </a:path>
                <a:path w="2298700" h="1743710">
                  <a:moveTo>
                    <a:pt x="40893" y="7619"/>
                  </a:moveTo>
                  <a:lnTo>
                    <a:pt x="12192" y="7619"/>
                  </a:lnTo>
                  <a:lnTo>
                    <a:pt x="12192" y="15133"/>
                  </a:lnTo>
                  <a:lnTo>
                    <a:pt x="2285999" y="438061"/>
                  </a:lnTo>
                  <a:lnTo>
                    <a:pt x="2285999" y="432815"/>
                  </a:lnTo>
                  <a:lnTo>
                    <a:pt x="2298191" y="432815"/>
                  </a:lnTo>
                  <a:lnTo>
                    <a:pt x="2298191" y="428243"/>
                  </a:lnTo>
                  <a:lnTo>
                    <a:pt x="40893" y="7619"/>
                  </a:lnTo>
                  <a:close/>
                </a:path>
                <a:path w="2298700" h="1743710">
                  <a:moveTo>
                    <a:pt x="12192" y="7619"/>
                  </a:moveTo>
                  <a:lnTo>
                    <a:pt x="4572" y="13715"/>
                  </a:lnTo>
                  <a:lnTo>
                    <a:pt x="12192" y="15133"/>
                  </a:lnTo>
                  <a:lnTo>
                    <a:pt x="12192" y="7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95999" y="4460747"/>
              <a:ext cx="304800" cy="1447800"/>
            </a:xfrm>
            <a:custGeom>
              <a:avLst/>
              <a:gdLst/>
              <a:ahLst/>
              <a:cxnLst/>
              <a:rect l="l" t="t" r="r" b="b"/>
              <a:pathLst>
                <a:path w="304800" h="1447800">
                  <a:moveTo>
                    <a:pt x="304800" y="0"/>
                  </a:moveTo>
                  <a:lnTo>
                    <a:pt x="0" y="144780"/>
                  </a:lnTo>
                  <a:lnTo>
                    <a:pt x="0" y="1447799"/>
                  </a:lnTo>
                  <a:lnTo>
                    <a:pt x="304800" y="130149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89903" y="4450079"/>
              <a:ext cx="318770" cy="1468120"/>
            </a:xfrm>
            <a:custGeom>
              <a:avLst/>
              <a:gdLst/>
              <a:ahLst/>
              <a:cxnLst/>
              <a:rect l="l" t="t" r="r" b="b"/>
              <a:pathLst>
                <a:path w="318770" h="1468120">
                  <a:moveTo>
                    <a:pt x="318515" y="0"/>
                  </a:moveTo>
                  <a:lnTo>
                    <a:pt x="0" y="152400"/>
                  </a:lnTo>
                  <a:lnTo>
                    <a:pt x="0" y="1467611"/>
                  </a:lnTo>
                  <a:lnTo>
                    <a:pt x="19110" y="1458467"/>
                  </a:lnTo>
                  <a:lnTo>
                    <a:pt x="13715" y="1458467"/>
                  </a:lnTo>
                  <a:lnTo>
                    <a:pt x="4572" y="1452371"/>
                  </a:lnTo>
                  <a:lnTo>
                    <a:pt x="13715" y="1447982"/>
                  </a:lnTo>
                  <a:lnTo>
                    <a:pt x="13715" y="161544"/>
                  </a:lnTo>
                  <a:lnTo>
                    <a:pt x="9143" y="161544"/>
                  </a:lnTo>
                  <a:lnTo>
                    <a:pt x="13715" y="155448"/>
                  </a:lnTo>
                  <a:lnTo>
                    <a:pt x="21843" y="155448"/>
                  </a:lnTo>
                  <a:lnTo>
                    <a:pt x="304800" y="19629"/>
                  </a:lnTo>
                  <a:lnTo>
                    <a:pt x="304800" y="10667"/>
                  </a:lnTo>
                  <a:lnTo>
                    <a:pt x="318515" y="10667"/>
                  </a:lnTo>
                  <a:lnTo>
                    <a:pt x="318515" y="0"/>
                  </a:lnTo>
                  <a:close/>
                </a:path>
                <a:path w="318770" h="1468120">
                  <a:moveTo>
                    <a:pt x="13715" y="1447982"/>
                  </a:moveTo>
                  <a:lnTo>
                    <a:pt x="4572" y="1452371"/>
                  </a:lnTo>
                  <a:lnTo>
                    <a:pt x="13715" y="1458467"/>
                  </a:lnTo>
                  <a:lnTo>
                    <a:pt x="13715" y="1447982"/>
                  </a:lnTo>
                  <a:close/>
                </a:path>
                <a:path w="318770" h="1468120">
                  <a:moveTo>
                    <a:pt x="304800" y="1308262"/>
                  </a:moveTo>
                  <a:lnTo>
                    <a:pt x="13715" y="1447982"/>
                  </a:lnTo>
                  <a:lnTo>
                    <a:pt x="13715" y="1458467"/>
                  </a:lnTo>
                  <a:lnTo>
                    <a:pt x="19110" y="1458467"/>
                  </a:lnTo>
                  <a:lnTo>
                    <a:pt x="318515" y="1315211"/>
                  </a:lnTo>
                  <a:lnTo>
                    <a:pt x="318515" y="1312163"/>
                  </a:lnTo>
                  <a:lnTo>
                    <a:pt x="304800" y="1312163"/>
                  </a:lnTo>
                  <a:lnTo>
                    <a:pt x="304800" y="1308262"/>
                  </a:lnTo>
                  <a:close/>
                </a:path>
                <a:path w="318770" h="1468120">
                  <a:moveTo>
                    <a:pt x="309372" y="1306067"/>
                  </a:moveTo>
                  <a:lnTo>
                    <a:pt x="304800" y="1308262"/>
                  </a:lnTo>
                  <a:lnTo>
                    <a:pt x="304800" y="1312163"/>
                  </a:lnTo>
                  <a:lnTo>
                    <a:pt x="309372" y="1306067"/>
                  </a:lnTo>
                  <a:close/>
                </a:path>
                <a:path w="318770" h="1468120">
                  <a:moveTo>
                    <a:pt x="318515" y="1306067"/>
                  </a:moveTo>
                  <a:lnTo>
                    <a:pt x="309372" y="1306067"/>
                  </a:lnTo>
                  <a:lnTo>
                    <a:pt x="304800" y="1312163"/>
                  </a:lnTo>
                  <a:lnTo>
                    <a:pt x="318515" y="1312163"/>
                  </a:lnTo>
                  <a:lnTo>
                    <a:pt x="318515" y="1306067"/>
                  </a:lnTo>
                  <a:close/>
                </a:path>
                <a:path w="318770" h="1468120">
                  <a:moveTo>
                    <a:pt x="318515" y="10667"/>
                  </a:moveTo>
                  <a:lnTo>
                    <a:pt x="304800" y="10667"/>
                  </a:lnTo>
                  <a:lnTo>
                    <a:pt x="313943" y="15239"/>
                  </a:lnTo>
                  <a:lnTo>
                    <a:pt x="304800" y="19629"/>
                  </a:lnTo>
                  <a:lnTo>
                    <a:pt x="304800" y="1308262"/>
                  </a:lnTo>
                  <a:lnTo>
                    <a:pt x="309372" y="1306067"/>
                  </a:lnTo>
                  <a:lnTo>
                    <a:pt x="318515" y="1306067"/>
                  </a:lnTo>
                  <a:lnTo>
                    <a:pt x="318515" y="10667"/>
                  </a:lnTo>
                  <a:close/>
                </a:path>
                <a:path w="318770" h="1468120">
                  <a:moveTo>
                    <a:pt x="13715" y="155448"/>
                  </a:moveTo>
                  <a:lnTo>
                    <a:pt x="9143" y="161544"/>
                  </a:lnTo>
                  <a:lnTo>
                    <a:pt x="13715" y="159349"/>
                  </a:lnTo>
                  <a:lnTo>
                    <a:pt x="13715" y="155448"/>
                  </a:lnTo>
                  <a:close/>
                </a:path>
                <a:path w="318770" h="1468120">
                  <a:moveTo>
                    <a:pt x="13715" y="159349"/>
                  </a:moveTo>
                  <a:lnTo>
                    <a:pt x="9143" y="161544"/>
                  </a:lnTo>
                  <a:lnTo>
                    <a:pt x="13715" y="161544"/>
                  </a:lnTo>
                  <a:lnTo>
                    <a:pt x="13715" y="159349"/>
                  </a:lnTo>
                  <a:close/>
                </a:path>
                <a:path w="318770" h="1468120">
                  <a:moveTo>
                    <a:pt x="21843" y="155448"/>
                  </a:moveTo>
                  <a:lnTo>
                    <a:pt x="13715" y="155448"/>
                  </a:lnTo>
                  <a:lnTo>
                    <a:pt x="13715" y="159349"/>
                  </a:lnTo>
                  <a:lnTo>
                    <a:pt x="21843" y="155448"/>
                  </a:lnTo>
                  <a:close/>
                </a:path>
                <a:path w="318770" h="1468120">
                  <a:moveTo>
                    <a:pt x="304800" y="10667"/>
                  </a:moveTo>
                  <a:lnTo>
                    <a:pt x="304800" y="19629"/>
                  </a:lnTo>
                  <a:lnTo>
                    <a:pt x="313943" y="15239"/>
                  </a:lnTo>
                  <a:lnTo>
                    <a:pt x="304800" y="10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91199" y="4599431"/>
              <a:ext cx="304800" cy="1447800"/>
            </a:xfrm>
            <a:custGeom>
              <a:avLst/>
              <a:gdLst/>
              <a:ahLst/>
              <a:cxnLst/>
              <a:rect l="l" t="t" r="r" b="b"/>
              <a:pathLst>
                <a:path w="304800" h="1447800">
                  <a:moveTo>
                    <a:pt x="304799" y="0"/>
                  </a:moveTo>
                  <a:lnTo>
                    <a:pt x="0" y="146304"/>
                  </a:lnTo>
                  <a:lnTo>
                    <a:pt x="0" y="1447799"/>
                  </a:lnTo>
                  <a:lnTo>
                    <a:pt x="304799" y="1301495"/>
                  </a:lnTo>
                  <a:lnTo>
                    <a:pt x="304799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85103" y="4590287"/>
              <a:ext cx="318770" cy="1468120"/>
            </a:xfrm>
            <a:custGeom>
              <a:avLst/>
              <a:gdLst/>
              <a:ahLst/>
              <a:cxnLst/>
              <a:rect l="l" t="t" r="r" b="b"/>
              <a:pathLst>
                <a:path w="318770" h="1468120">
                  <a:moveTo>
                    <a:pt x="318515" y="0"/>
                  </a:moveTo>
                  <a:lnTo>
                    <a:pt x="0" y="150876"/>
                  </a:lnTo>
                  <a:lnTo>
                    <a:pt x="0" y="1467611"/>
                  </a:lnTo>
                  <a:lnTo>
                    <a:pt x="22296" y="1456943"/>
                  </a:lnTo>
                  <a:lnTo>
                    <a:pt x="13715" y="1456943"/>
                  </a:lnTo>
                  <a:lnTo>
                    <a:pt x="4572" y="1450847"/>
                  </a:lnTo>
                  <a:lnTo>
                    <a:pt x="13715" y="1446504"/>
                  </a:lnTo>
                  <a:lnTo>
                    <a:pt x="13715" y="161544"/>
                  </a:lnTo>
                  <a:lnTo>
                    <a:pt x="9143" y="161544"/>
                  </a:lnTo>
                  <a:lnTo>
                    <a:pt x="13715" y="155448"/>
                  </a:lnTo>
                  <a:lnTo>
                    <a:pt x="21843" y="155448"/>
                  </a:lnTo>
                  <a:lnTo>
                    <a:pt x="304799" y="19629"/>
                  </a:lnTo>
                  <a:lnTo>
                    <a:pt x="304799" y="9144"/>
                  </a:lnTo>
                  <a:lnTo>
                    <a:pt x="318515" y="9144"/>
                  </a:lnTo>
                  <a:lnTo>
                    <a:pt x="318515" y="0"/>
                  </a:lnTo>
                  <a:close/>
                </a:path>
                <a:path w="318770" h="1468120">
                  <a:moveTo>
                    <a:pt x="13715" y="1446504"/>
                  </a:moveTo>
                  <a:lnTo>
                    <a:pt x="4572" y="1450847"/>
                  </a:lnTo>
                  <a:lnTo>
                    <a:pt x="13715" y="1456943"/>
                  </a:lnTo>
                  <a:lnTo>
                    <a:pt x="13715" y="1446504"/>
                  </a:lnTo>
                  <a:close/>
                </a:path>
                <a:path w="318770" h="1468120">
                  <a:moveTo>
                    <a:pt x="304799" y="1308239"/>
                  </a:moveTo>
                  <a:lnTo>
                    <a:pt x="13715" y="1446504"/>
                  </a:lnTo>
                  <a:lnTo>
                    <a:pt x="13715" y="1456943"/>
                  </a:lnTo>
                  <a:lnTo>
                    <a:pt x="22296" y="1456943"/>
                  </a:lnTo>
                  <a:lnTo>
                    <a:pt x="318515" y="1315211"/>
                  </a:lnTo>
                  <a:lnTo>
                    <a:pt x="318515" y="1310639"/>
                  </a:lnTo>
                  <a:lnTo>
                    <a:pt x="304799" y="1310639"/>
                  </a:lnTo>
                  <a:lnTo>
                    <a:pt x="304799" y="1308239"/>
                  </a:lnTo>
                  <a:close/>
                </a:path>
                <a:path w="318770" h="1468120">
                  <a:moveTo>
                    <a:pt x="309371" y="1306067"/>
                  </a:moveTo>
                  <a:lnTo>
                    <a:pt x="304799" y="1308239"/>
                  </a:lnTo>
                  <a:lnTo>
                    <a:pt x="304799" y="1310639"/>
                  </a:lnTo>
                  <a:lnTo>
                    <a:pt x="309371" y="1306067"/>
                  </a:lnTo>
                  <a:close/>
                </a:path>
                <a:path w="318770" h="1468120">
                  <a:moveTo>
                    <a:pt x="318515" y="1306067"/>
                  </a:moveTo>
                  <a:lnTo>
                    <a:pt x="309371" y="1306067"/>
                  </a:lnTo>
                  <a:lnTo>
                    <a:pt x="304799" y="1310639"/>
                  </a:lnTo>
                  <a:lnTo>
                    <a:pt x="318515" y="1310639"/>
                  </a:lnTo>
                  <a:lnTo>
                    <a:pt x="318515" y="1306067"/>
                  </a:lnTo>
                  <a:close/>
                </a:path>
                <a:path w="318770" h="1468120">
                  <a:moveTo>
                    <a:pt x="318515" y="9144"/>
                  </a:moveTo>
                  <a:lnTo>
                    <a:pt x="304799" y="9144"/>
                  </a:lnTo>
                  <a:lnTo>
                    <a:pt x="313943" y="15240"/>
                  </a:lnTo>
                  <a:lnTo>
                    <a:pt x="304799" y="19629"/>
                  </a:lnTo>
                  <a:lnTo>
                    <a:pt x="304799" y="1308239"/>
                  </a:lnTo>
                  <a:lnTo>
                    <a:pt x="309371" y="1306067"/>
                  </a:lnTo>
                  <a:lnTo>
                    <a:pt x="318515" y="1306067"/>
                  </a:lnTo>
                  <a:lnTo>
                    <a:pt x="318515" y="9144"/>
                  </a:lnTo>
                  <a:close/>
                </a:path>
                <a:path w="318770" h="1468120">
                  <a:moveTo>
                    <a:pt x="13715" y="155448"/>
                  </a:moveTo>
                  <a:lnTo>
                    <a:pt x="9143" y="161544"/>
                  </a:lnTo>
                  <a:lnTo>
                    <a:pt x="13715" y="159349"/>
                  </a:lnTo>
                  <a:lnTo>
                    <a:pt x="13715" y="155448"/>
                  </a:lnTo>
                  <a:close/>
                </a:path>
                <a:path w="318770" h="1468120">
                  <a:moveTo>
                    <a:pt x="13715" y="159349"/>
                  </a:moveTo>
                  <a:lnTo>
                    <a:pt x="9143" y="161544"/>
                  </a:lnTo>
                  <a:lnTo>
                    <a:pt x="13715" y="161544"/>
                  </a:lnTo>
                  <a:lnTo>
                    <a:pt x="13715" y="159349"/>
                  </a:lnTo>
                  <a:close/>
                </a:path>
                <a:path w="318770" h="1468120">
                  <a:moveTo>
                    <a:pt x="21843" y="155448"/>
                  </a:moveTo>
                  <a:lnTo>
                    <a:pt x="13715" y="155448"/>
                  </a:lnTo>
                  <a:lnTo>
                    <a:pt x="13715" y="159349"/>
                  </a:lnTo>
                  <a:lnTo>
                    <a:pt x="21843" y="155448"/>
                  </a:lnTo>
                  <a:close/>
                </a:path>
                <a:path w="318770" h="1468120">
                  <a:moveTo>
                    <a:pt x="304799" y="9144"/>
                  </a:moveTo>
                  <a:lnTo>
                    <a:pt x="304799" y="19629"/>
                  </a:lnTo>
                  <a:lnTo>
                    <a:pt x="313943" y="15240"/>
                  </a:lnTo>
                  <a:lnTo>
                    <a:pt x="304799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86399" y="4741163"/>
              <a:ext cx="304800" cy="1447800"/>
            </a:xfrm>
            <a:custGeom>
              <a:avLst/>
              <a:gdLst/>
              <a:ahLst/>
              <a:cxnLst/>
              <a:rect l="l" t="t" r="r" b="b"/>
              <a:pathLst>
                <a:path w="304800" h="1447800">
                  <a:moveTo>
                    <a:pt x="304800" y="0"/>
                  </a:moveTo>
                  <a:lnTo>
                    <a:pt x="0" y="146303"/>
                  </a:lnTo>
                  <a:lnTo>
                    <a:pt x="0" y="1447799"/>
                  </a:lnTo>
                  <a:lnTo>
                    <a:pt x="304800" y="130149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80303" y="4730495"/>
              <a:ext cx="318770" cy="1468120"/>
            </a:xfrm>
            <a:custGeom>
              <a:avLst/>
              <a:gdLst/>
              <a:ahLst/>
              <a:cxnLst/>
              <a:rect l="l" t="t" r="r" b="b"/>
              <a:pathLst>
                <a:path w="318770" h="1468120">
                  <a:moveTo>
                    <a:pt x="318515" y="0"/>
                  </a:moveTo>
                  <a:lnTo>
                    <a:pt x="0" y="152399"/>
                  </a:lnTo>
                  <a:lnTo>
                    <a:pt x="0" y="1467611"/>
                  </a:lnTo>
                  <a:lnTo>
                    <a:pt x="19303" y="1458467"/>
                  </a:lnTo>
                  <a:lnTo>
                    <a:pt x="13715" y="1458467"/>
                  </a:lnTo>
                  <a:lnTo>
                    <a:pt x="4572" y="1452371"/>
                  </a:lnTo>
                  <a:lnTo>
                    <a:pt x="13715" y="1447982"/>
                  </a:lnTo>
                  <a:lnTo>
                    <a:pt x="13715" y="161543"/>
                  </a:lnTo>
                  <a:lnTo>
                    <a:pt x="9143" y="161543"/>
                  </a:lnTo>
                  <a:lnTo>
                    <a:pt x="13715" y="156971"/>
                  </a:lnTo>
                  <a:lnTo>
                    <a:pt x="18769" y="156971"/>
                  </a:lnTo>
                  <a:lnTo>
                    <a:pt x="304800" y="21107"/>
                  </a:lnTo>
                  <a:lnTo>
                    <a:pt x="304800" y="10667"/>
                  </a:lnTo>
                  <a:lnTo>
                    <a:pt x="318515" y="10667"/>
                  </a:lnTo>
                  <a:lnTo>
                    <a:pt x="318515" y="0"/>
                  </a:lnTo>
                  <a:close/>
                </a:path>
                <a:path w="318770" h="1468120">
                  <a:moveTo>
                    <a:pt x="13715" y="1447982"/>
                  </a:moveTo>
                  <a:lnTo>
                    <a:pt x="4572" y="1452371"/>
                  </a:lnTo>
                  <a:lnTo>
                    <a:pt x="13715" y="1458467"/>
                  </a:lnTo>
                  <a:lnTo>
                    <a:pt x="13715" y="1447982"/>
                  </a:lnTo>
                  <a:close/>
                </a:path>
                <a:path w="318770" h="1468120">
                  <a:moveTo>
                    <a:pt x="304800" y="1308262"/>
                  </a:moveTo>
                  <a:lnTo>
                    <a:pt x="13715" y="1447982"/>
                  </a:lnTo>
                  <a:lnTo>
                    <a:pt x="13715" y="1458467"/>
                  </a:lnTo>
                  <a:lnTo>
                    <a:pt x="19303" y="1458467"/>
                  </a:lnTo>
                  <a:lnTo>
                    <a:pt x="318515" y="1316735"/>
                  </a:lnTo>
                  <a:lnTo>
                    <a:pt x="318515" y="1312163"/>
                  </a:lnTo>
                  <a:lnTo>
                    <a:pt x="304800" y="1312163"/>
                  </a:lnTo>
                  <a:lnTo>
                    <a:pt x="304800" y="1308262"/>
                  </a:lnTo>
                  <a:close/>
                </a:path>
                <a:path w="318770" h="1468120">
                  <a:moveTo>
                    <a:pt x="309372" y="1306067"/>
                  </a:moveTo>
                  <a:lnTo>
                    <a:pt x="304800" y="1308262"/>
                  </a:lnTo>
                  <a:lnTo>
                    <a:pt x="304800" y="1312163"/>
                  </a:lnTo>
                  <a:lnTo>
                    <a:pt x="309372" y="1306067"/>
                  </a:lnTo>
                  <a:close/>
                </a:path>
                <a:path w="318770" h="1468120">
                  <a:moveTo>
                    <a:pt x="318515" y="1306067"/>
                  </a:moveTo>
                  <a:lnTo>
                    <a:pt x="309372" y="1306067"/>
                  </a:lnTo>
                  <a:lnTo>
                    <a:pt x="304800" y="1312163"/>
                  </a:lnTo>
                  <a:lnTo>
                    <a:pt x="318515" y="1312163"/>
                  </a:lnTo>
                  <a:lnTo>
                    <a:pt x="318515" y="1306067"/>
                  </a:lnTo>
                  <a:close/>
                </a:path>
                <a:path w="318770" h="1468120">
                  <a:moveTo>
                    <a:pt x="318515" y="10667"/>
                  </a:moveTo>
                  <a:lnTo>
                    <a:pt x="304800" y="10667"/>
                  </a:lnTo>
                  <a:lnTo>
                    <a:pt x="313943" y="16763"/>
                  </a:lnTo>
                  <a:lnTo>
                    <a:pt x="304800" y="21107"/>
                  </a:lnTo>
                  <a:lnTo>
                    <a:pt x="304800" y="1308262"/>
                  </a:lnTo>
                  <a:lnTo>
                    <a:pt x="309372" y="1306067"/>
                  </a:lnTo>
                  <a:lnTo>
                    <a:pt x="318515" y="1306067"/>
                  </a:lnTo>
                  <a:lnTo>
                    <a:pt x="318515" y="10667"/>
                  </a:lnTo>
                  <a:close/>
                </a:path>
                <a:path w="318770" h="1468120">
                  <a:moveTo>
                    <a:pt x="13715" y="156971"/>
                  </a:moveTo>
                  <a:lnTo>
                    <a:pt x="9143" y="161543"/>
                  </a:lnTo>
                  <a:lnTo>
                    <a:pt x="13715" y="159372"/>
                  </a:lnTo>
                  <a:lnTo>
                    <a:pt x="13715" y="156971"/>
                  </a:lnTo>
                  <a:close/>
                </a:path>
                <a:path w="318770" h="1468120">
                  <a:moveTo>
                    <a:pt x="13715" y="159372"/>
                  </a:moveTo>
                  <a:lnTo>
                    <a:pt x="9143" y="161543"/>
                  </a:lnTo>
                  <a:lnTo>
                    <a:pt x="13715" y="161543"/>
                  </a:lnTo>
                  <a:lnTo>
                    <a:pt x="13715" y="159372"/>
                  </a:lnTo>
                  <a:close/>
                </a:path>
                <a:path w="318770" h="1468120">
                  <a:moveTo>
                    <a:pt x="18769" y="156971"/>
                  </a:moveTo>
                  <a:lnTo>
                    <a:pt x="13715" y="156971"/>
                  </a:lnTo>
                  <a:lnTo>
                    <a:pt x="13715" y="159372"/>
                  </a:lnTo>
                  <a:lnTo>
                    <a:pt x="18769" y="156971"/>
                  </a:lnTo>
                  <a:close/>
                </a:path>
                <a:path w="318770" h="1468120">
                  <a:moveTo>
                    <a:pt x="304800" y="10667"/>
                  </a:moveTo>
                  <a:lnTo>
                    <a:pt x="304800" y="21107"/>
                  </a:lnTo>
                  <a:lnTo>
                    <a:pt x="313943" y="16763"/>
                  </a:lnTo>
                  <a:lnTo>
                    <a:pt x="304800" y="10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507989" y="4681538"/>
            <a:ext cx="863600" cy="125920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5" dirty="0">
                <a:latin typeface="Calibri"/>
                <a:cs typeface="Calibri"/>
              </a:rPr>
              <a:t>Channel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151765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alibri"/>
                <a:cs typeface="Calibri"/>
              </a:rPr>
              <a:t>Channel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319405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alibri"/>
                <a:cs typeface="Calibri"/>
              </a:rPr>
              <a:t>Channel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94303" y="4032503"/>
            <a:ext cx="3214370" cy="2132330"/>
            <a:chOff x="3194303" y="4032503"/>
            <a:chExt cx="3214370" cy="2132330"/>
          </a:xfrm>
        </p:grpSpPr>
        <p:sp>
          <p:nvSpPr>
            <p:cNvPr id="25" name="object 25"/>
            <p:cNvSpPr/>
            <p:nvPr/>
          </p:nvSpPr>
          <p:spPr>
            <a:xfrm>
              <a:off x="3809999" y="4038599"/>
              <a:ext cx="2590800" cy="561340"/>
            </a:xfrm>
            <a:custGeom>
              <a:avLst/>
              <a:gdLst/>
              <a:ahLst/>
              <a:cxnLst/>
              <a:rect l="l" t="t" r="r" b="b"/>
              <a:pathLst>
                <a:path w="2590800" h="561339">
                  <a:moveTo>
                    <a:pt x="304800" y="0"/>
                  </a:moveTo>
                  <a:lnTo>
                    <a:pt x="0" y="140207"/>
                  </a:lnTo>
                  <a:lnTo>
                    <a:pt x="2285999" y="560831"/>
                  </a:lnTo>
                  <a:lnTo>
                    <a:pt x="2590799" y="420623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03903" y="4032503"/>
              <a:ext cx="2604770" cy="573405"/>
            </a:xfrm>
            <a:custGeom>
              <a:avLst/>
              <a:gdLst/>
              <a:ahLst/>
              <a:cxnLst/>
              <a:rect l="l" t="t" r="r" b="b"/>
              <a:pathLst>
                <a:path w="2604770" h="573404">
                  <a:moveTo>
                    <a:pt x="27640" y="143891"/>
                  </a:moveTo>
                  <a:lnTo>
                    <a:pt x="9144" y="152400"/>
                  </a:lnTo>
                  <a:lnTo>
                    <a:pt x="6096" y="152400"/>
                  </a:lnTo>
                  <a:lnTo>
                    <a:pt x="2292095" y="573023"/>
                  </a:lnTo>
                  <a:lnTo>
                    <a:pt x="2295143" y="573023"/>
                  </a:lnTo>
                  <a:lnTo>
                    <a:pt x="2321648" y="560831"/>
                  </a:lnTo>
                  <a:lnTo>
                    <a:pt x="2290571" y="560831"/>
                  </a:lnTo>
                  <a:lnTo>
                    <a:pt x="2291442" y="560431"/>
                  </a:lnTo>
                  <a:lnTo>
                    <a:pt x="27640" y="143891"/>
                  </a:lnTo>
                  <a:close/>
                </a:path>
                <a:path w="2604770" h="573404">
                  <a:moveTo>
                    <a:pt x="2291442" y="560431"/>
                  </a:moveTo>
                  <a:lnTo>
                    <a:pt x="2290571" y="560831"/>
                  </a:lnTo>
                  <a:lnTo>
                    <a:pt x="2293619" y="560831"/>
                  </a:lnTo>
                  <a:lnTo>
                    <a:pt x="2291442" y="560431"/>
                  </a:lnTo>
                  <a:close/>
                </a:path>
                <a:path w="2604770" h="573404">
                  <a:moveTo>
                    <a:pt x="2576854" y="429141"/>
                  </a:moveTo>
                  <a:lnTo>
                    <a:pt x="2291442" y="560431"/>
                  </a:lnTo>
                  <a:lnTo>
                    <a:pt x="2293619" y="560831"/>
                  </a:lnTo>
                  <a:lnTo>
                    <a:pt x="2321648" y="560831"/>
                  </a:lnTo>
                  <a:lnTo>
                    <a:pt x="2599943" y="432815"/>
                  </a:lnTo>
                  <a:lnTo>
                    <a:pt x="2596895" y="432815"/>
                  </a:lnTo>
                  <a:lnTo>
                    <a:pt x="2576854" y="429141"/>
                  </a:lnTo>
                  <a:close/>
                </a:path>
                <a:path w="2604770" h="573404">
                  <a:moveTo>
                    <a:pt x="2595371" y="420623"/>
                  </a:moveTo>
                  <a:lnTo>
                    <a:pt x="2576854" y="429141"/>
                  </a:lnTo>
                  <a:lnTo>
                    <a:pt x="2596895" y="432815"/>
                  </a:lnTo>
                  <a:lnTo>
                    <a:pt x="2595371" y="420623"/>
                  </a:lnTo>
                  <a:close/>
                </a:path>
                <a:path w="2604770" h="573404">
                  <a:moveTo>
                    <a:pt x="2601467" y="420623"/>
                  </a:moveTo>
                  <a:lnTo>
                    <a:pt x="2595371" y="420623"/>
                  </a:lnTo>
                  <a:lnTo>
                    <a:pt x="2596895" y="432815"/>
                  </a:lnTo>
                  <a:lnTo>
                    <a:pt x="2599943" y="432815"/>
                  </a:lnTo>
                  <a:lnTo>
                    <a:pt x="2602991" y="431291"/>
                  </a:lnTo>
                  <a:lnTo>
                    <a:pt x="2604515" y="429767"/>
                  </a:lnTo>
                  <a:lnTo>
                    <a:pt x="2604515" y="426719"/>
                  </a:lnTo>
                  <a:lnTo>
                    <a:pt x="2601467" y="420623"/>
                  </a:lnTo>
                  <a:close/>
                </a:path>
                <a:path w="2604770" h="573404">
                  <a:moveTo>
                    <a:pt x="378680" y="12191"/>
                  </a:moveTo>
                  <a:lnTo>
                    <a:pt x="313944" y="12191"/>
                  </a:lnTo>
                  <a:lnTo>
                    <a:pt x="310896" y="13715"/>
                  </a:lnTo>
                  <a:lnTo>
                    <a:pt x="2576854" y="429141"/>
                  </a:lnTo>
                  <a:lnTo>
                    <a:pt x="2595371" y="420623"/>
                  </a:lnTo>
                  <a:lnTo>
                    <a:pt x="2598419" y="420623"/>
                  </a:lnTo>
                  <a:lnTo>
                    <a:pt x="378680" y="12191"/>
                  </a:lnTo>
                  <a:close/>
                </a:path>
                <a:path w="2604770" h="573404">
                  <a:moveTo>
                    <a:pt x="7634" y="140323"/>
                  </a:moveTo>
                  <a:lnTo>
                    <a:pt x="4572" y="141732"/>
                  </a:lnTo>
                  <a:lnTo>
                    <a:pt x="1524" y="141732"/>
                  </a:lnTo>
                  <a:lnTo>
                    <a:pt x="0" y="144779"/>
                  </a:lnTo>
                  <a:lnTo>
                    <a:pt x="0" y="147827"/>
                  </a:lnTo>
                  <a:lnTo>
                    <a:pt x="1524" y="150875"/>
                  </a:lnTo>
                  <a:lnTo>
                    <a:pt x="3048" y="152400"/>
                  </a:lnTo>
                  <a:lnTo>
                    <a:pt x="9144" y="152400"/>
                  </a:lnTo>
                  <a:lnTo>
                    <a:pt x="7634" y="140323"/>
                  </a:lnTo>
                  <a:close/>
                </a:path>
                <a:path w="2604770" h="573404">
                  <a:moveTo>
                    <a:pt x="7809" y="140242"/>
                  </a:moveTo>
                  <a:lnTo>
                    <a:pt x="7634" y="140323"/>
                  </a:lnTo>
                  <a:lnTo>
                    <a:pt x="9144" y="152400"/>
                  </a:lnTo>
                  <a:lnTo>
                    <a:pt x="27640" y="143891"/>
                  </a:lnTo>
                  <a:lnTo>
                    <a:pt x="7809" y="140242"/>
                  </a:lnTo>
                  <a:close/>
                </a:path>
                <a:path w="2604770" h="573404">
                  <a:moveTo>
                    <a:pt x="312420" y="0"/>
                  </a:moveTo>
                  <a:lnTo>
                    <a:pt x="310896" y="0"/>
                  </a:lnTo>
                  <a:lnTo>
                    <a:pt x="309372" y="1524"/>
                  </a:lnTo>
                  <a:lnTo>
                    <a:pt x="7809" y="140242"/>
                  </a:lnTo>
                  <a:lnTo>
                    <a:pt x="27640" y="143891"/>
                  </a:lnTo>
                  <a:lnTo>
                    <a:pt x="313944" y="12191"/>
                  </a:lnTo>
                  <a:lnTo>
                    <a:pt x="378680" y="12191"/>
                  </a:lnTo>
                  <a:lnTo>
                    <a:pt x="312420" y="0"/>
                  </a:lnTo>
                  <a:close/>
                </a:path>
                <a:path w="2604770" h="573404">
                  <a:moveTo>
                    <a:pt x="7620" y="140208"/>
                  </a:moveTo>
                  <a:lnTo>
                    <a:pt x="7809" y="140242"/>
                  </a:lnTo>
                  <a:lnTo>
                    <a:pt x="7620" y="140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05199" y="4180331"/>
              <a:ext cx="2590800" cy="561340"/>
            </a:xfrm>
            <a:custGeom>
              <a:avLst/>
              <a:gdLst/>
              <a:ahLst/>
              <a:cxnLst/>
              <a:rect l="l" t="t" r="r" b="b"/>
              <a:pathLst>
                <a:path w="2590800" h="561339">
                  <a:moveTo>
                    <a:pt x="304799" y="0"/>
                  </a:moveTo>
                  <a:lnTo>
                    <a:pt x="0" y="140207"/>
                  </a:lnTo>
                  <a:lnTo>
                    <a:pt x="2285999" y="560831"/>
                  </a:lnTo>
                  <a:lnTo>
                    <a:pt x="2590799" y="420623"/>
                  </a:lnTo>
                  <a:lnTo>
                    <a:pt x="304799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99103" y="4174235"/>
              <a:ext cx="2604770" cy="573405"/>
            </a:xfrm>
            <a:custGeom>
              <a:avLst/>
              <a:gdLst/>
              <a:ahLst/>
              <a:cxnLst/>
              <a:rect l="l" t="t" r="r" b="b"/>
              <a:pathLst>
                <a:path w="2604770" h="573404">
                  <a:moveTo>
                    <a:pt x="27640" y="143891"/>
                  </a:moveTo>
                  <a:lnTo>
                    <a:pt x="9144" y="152399"/>
                  </a:lnTo>
                  <a:lnTo>
                    <a:pt x="6096" y="152399"/>
                  </a:lnTo>
                  <a:lnTo>
                    <a:pt x="2292095" y="573023"/>
                  </a:lnTo>
                  <a:lnTo>
                    <a:pt x="2295143" y="573023"/>
                  </a:lnTo>
                  <a:lnTo>
                    <a:pt x="2321648" y="560831"/>
                  </a:lnTo>
                  <a:lnTo>
                    <a:pt x="2290571" y="560831"/>
                  </a:lnTo>
                  <a:lnTo>
                    <a:pt x="2291442" y="560431"/>
                  </a:lnTo>
                  <a:lnTo>
                    <a:pt x="27640" y="143891"/>
                  </a:lnTo>
                  <a:close/>
                </a:path>
                <a:path w="2604770" h="573404">
                  <a:moveTo>
                    <a:pt x="2291442" y="560431"/>
                  </a:moveTo>
                  <a:lnTo>
                    <a:pt x="2290571" y="560831"/>
                  </a:lnTo>
                  <a:lnTo>
                    <a:pt x="2293619" y="560831"/>
                  </a:lnTo>
                  <a:lnTo>
                    <a:pt x="2291442" y="560431"/>
                  </a:lnTo>
                  <a:close/>
                </a:path>
                <a:path w="2604770" h="573404">
                  <a:moveTo>
                    <a:pt x="2576875" y="429132"/>
                  </a:moveTo>
                  <a:lnTo>
                    <a:pt x="2291442" y="560431"/>
                  </a:lnTo>
                  <a:lnTo>
                    <a:pt x="2293619" y="560831"/>
                  </a:lnTo>
                  <a:lnTo>
                    <a:pt x="2321648" y="560831"/>
                  </a:lnTo>
                  <a:lnTo>
                    <a:pt x="2599943" y="432815"/>
                  </a:lnTo>
                  <a:lnTo>
                    <a:pt x="2596895" y="432815"/>
                  </a:lnTo>
                  <a:lnTo>
                    <a:pt x="2576875" y="429132"/>
                  </a:lnTo>
                  <a:close/>
                </a:path>
                <a:path w="2604770" h="573404">
                  <a:moveTo>
                    <a:pt x="2595371" y="420623"/>
                  </a:moveTo>
                  <a:lnTo>
                    <a:pt x="2576875" y="429132"/>
                  </a:lnTo>
                  <a:lnTo>
                    <a:pt x="2596895" y="432815"/>
                  </a:lnTo>
                  <a:lnTo>
                    <a:pt x="2595371" y="420623"/>
                  </a:lnTo>
                  <a:close/>
                </a:path>
                <a:path w="2604770" h="573404">
                  <a:moveTo>
                    <a:pt x="2601467" y="420623"/>
                  </a:moveTo>
                  <a:lnTo>
                    <a:pt x="2595371" y="420623"/>
                  </a:lnTo>
                  <a:lnTo>
                    <a:pt x="2596895" y="432815"/>
                  </a:lnTo>
                  <a:lnTo>
                    <a:pt x="2599943" y="432815"/>
                  </a:lnTo>
                  <a:lnTo>
                    <a:pt x="2602991" y="431291"/>
                  </a:lnTo>
                  <a:lnTo>
                    <a:pt x="2604515" y="428243"/>
                  </a:lnTo>
                  <a:lnTo>
                    <a:pt x="2604515" y="425195"/>
                  </a:lnTo>
                  <a:lnTo>
                    <a:pt x="2602991" y="423671"/>
                  </a:lnTo>
                  <a:lnTo>
                    <a:pt x="2601467" y="420623"/>
                  </a:lnTo>
                  <a:close/>
                </a:path>
                <a:path w="2604770" h="573404">
                  <a:moveTo>
                    <a:pt x="378680" y="12191"/>
                  </a:moveTo>
                  <a:lnTo>
                    <a:pt x="313943" y="12191"/>
                  </a:lnTo>
                  <a:lnTo>
                    <a:pt x="313073" y="12592"/>
                  </a:lnTo>
                  <a:lnTo>
                    <a:pt x="2576875" y="429132"/>
                  </a:lnTo>
                  <a:lnTo>
                    <a:pt x="2595371" y="420623"/>
                  </a:lnTo>
                  <a:lnTo>
                    <a:pt x="2598419" y="420623"/>
                  </a:lnTo>
                  <a:lnTo>
                    <a:pt x="378680" y="12191"/>
                  </a:lnTo>
                  <a:close/>
                </a:path>
                <a:path w="2604770" h="573404">
                  <a:moveTo>
                    <a:pt x="312419" y="0"/>
                  </a:moveTo>
                  <a:lnTo>
                    <a:pt x="309371" y="0"/>
                  </a:lnTo>
                  <a:lnTo>
                    <a:pt x="4572" y="140207"/>
                  </a:lnTo>
                  <a:lnTo>
                    <a:pt x="1524" y="141731"/>
                  </a:lnTo>
                  <a:lnTo>
                    <a:pt x="0" y="144779"/>
                  </a:lnTo>
                  <a:lnTo>
                    <a:pt x="0" y="147827"/>
                  </a:lnTo>
                  <a:lnTo>
                    <a:pt x="1524" y="149351"/>
                  </a:lnTo>
                  <a:lnTo>
                    <a:pt x="3048" y="152399"/>
                  </a:lnTo>
                  <a:lnTo>
                    <a:pt x="9144" y="152399"/>
                  </a:lnTo>
                  <a:lnTo>
                    <a:pt x="7620" y="140207"/>
                  </a:lnTo>
                  <a:lnTo>
                    <a:pt x="35648" y="140207"/>
                  </a:lnTo>
                  <a:lnTo>
                    <a:pt x="313073" y="12592"/>
                  </a:lnTo>
                  <a:lnTo>
                    <a:pt x="310895" y="12191"/>
                  </a:lnTo>
                  <a:lnTo>
                    <a:pt x="378680" y="12191"/>
                  </a:lnTo>
                  <a:lnTo>
                    <a:pt x="312419" y="0"/>
                  </a:lnTo>
                  <a:close/>
                </a:path>
                <a:path w="2604770" h="573404">
                  <a:moveTo>
                    <a:pt x="7620" y="140207"/>
                  </a:moveTo>
                  <a:lnTo>
                    <a:pt x="9144" y="152399"/>
                  </a:lnTo>
                  <a:lnTo>
                    <a:pt x="27640" y="143891"/>
                  </a:lnTo>
                  <a:lnTo>
                    <a:pt x="7620" y="140207"/>
                  </a:lnTo>
                  <a:close/>
                </a:path>
                <a:path w="2604770" h="573404">
                  <a:moveTo>
                    <a:pt x="35648" y="140207"/>
                  </a:moveTo>
                  <a:lnTo>
                    <a:pt x="7620" y="140207"/>
                  </a:lnTo>
                  <a:lnTo>
                    <a:pt x="27640" y="143891"/>
                  </a:lnTo>
                  <a:lnTo>
                    <a:pt x="35648" y="140207"/>
                  </a:lnTo>
                  <a:close/>
                </a:path>
                <a:path w="2604770" h="573404">
                  <a:moveTo>
                    <a:pt x="313943" y="12191"/>
                  </a:moveTo>
                  <a:lnTo>
                    <a:pt x="310895" y="12191"/>
                  </a:lnTo>
                  <a:lnTo>
                    <a:pt x="313073" y="12592"/>
                  </a:lnTo>
                  <a:lnTo>
                    <a:pt x="313943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00399" y="4320539"/>
              <a:ext cx="2590800" cy="561340"/>
            </a:xfrm>
            <a:custGeom>
              <a:avLst/>
              <a:gdLst/>
              <a:ahLst/>
              <a:cxnLst/>
              <a:rect l="l" t="t" r="r" b="b"/>
              <a:pathLst>
                <a:path w="2590800" h="561339">
                  <a:moveTo>
                    <a:pt x="304800" y="0"/>
                  </a:moveTo>
                  <a:lnTo>
                    <a:pt x="0" y="140207"/>
                  </a:lnTo>
                  <a:lnTo>
                    <a:pt x="2285999" y="560831"/>
                  </a:lnTo>
                  <a:lnTo>
                    <a:pt x="2590799" y="420624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94303" y="4314443"/>
              <a:ext cx="2604770" cy="573405"/>
            </a:xfrm>
            <a:custGeom>
              <a:avLst/>
              <a:gdLst/>
              <a:ahLst/>
              <a:cxnLst/>
              <a:rect l="l" t="t" r="r" b="b"/>
              <a:pathLst>
                <a:path w="2604770" h="573404">
                  <a:moveTo>
                    <a:pt x="27660" y="143882"/>
                  </a:moveTo>
                  <a:lnTo>
                    <a:pt x="9143" y="152400"/>
                  </a:lnTo>
                  <a:lnTo>
                    <a:pt x="6095" y="152400"/>
                  </a:lnTo>
                  <a:lnTo>
                    <a:pt x="2292095" y="573023"/>
                  </a:lnTo>
                  <a:lnTo>
                    <a:pt x="2293619" y="573023"/>
                  </a:lnTo>
                  <a:lnTo>
                    <a:pt x="2295143" y="571499"/>
                  </a:lnTo>
                  <a:lnTo>
                    <a:pt x="2318335" y="560831"/>
                  </a:lnTo>
                  <a:lnTo>
                    <a:pt x="2290571" y="560831"/>
                  </a:lnTo>
                  <a:lnTo>
                    <a:pt x="2293619" y="559307"/>
                  </a:lnTo>
                  <a:lnTo>
                    <a:pt x="27660" y="143882"/>
                  </a:lnTo>
                  <a:close/>
                </a:path>
                <a:path w="2604770" h="573404">
                  <a:moveTo>
                    <a:pt x="2576875" y="429132"/>
                  </a:moveTo>
                  <a:lnTo>
                    <a:pt x="2290571" y="560831"/>
                  </a:lnTo>
                  <a:lnTo>
                    <a:pt x="2318335" y="560831"/>
                  </a:lnTo>
                  <a:lnTo>
                    <a:pt x="2596706" y="432781"/>
                  </a:lnTo>
                  <a:lnTo>
                    <a:pt x="2576875" y="429132"/>
                  </a:lnTo>
                  <a:close/>
                </a:path>
                <a:path w="2604770" h="573404">
                  <a:moveTo>
                    <a:pt x="2596881" y="432700"/>
                  </a:moveTo>
                  <a:lnTo>
                    <a:pt x="2596706" y="432781"/>
                  </a:lnTo>
                  <a:lnTo>
                    <a:pt x="2596895" y="432816"/>
                  </a:lnTo>
                  <a:close/>
                </a:path>
                <a:path w="2604770" h="573404">
                  <a:moveTo>
                    <a:pt x="2595371" y="420624"/>
                  </a:moveTo>
                  <a:lnTo>
                    <a:pt x="2576875" y="429132"/>
                  </a:lnTo>
                  <a:lnTo>
                    <a:pt x="2596706" y="432781"/>
                  </a:lnTo>
                  <a:lnTo>
                    <a:pt x="2596881" y="432700"/>
                  </a:lnTo>
                  <a:lnTo>
                    <a:pt x="2595371" y="420624"/>
                  </a:lnTo>
                  <a:close/>
                </a:path>
                <a:path w="2604770" h="573404">
                  <a:moveTo>
                    <a:pt x="2601467" y="420624"/>
                  </a:moveTo>
                  <a:lnTo>
                    <a:pt x="2595371" y="420624"/>
                  </a:lnTo>
                  <a:lnTo>
                    <a:pt x="2596881" y="432700"/>
                  </a:lnTo>
                  <a:lnTo>
                    <a:pt x="2599943" y="431292"/>
                  </a:lnTo>
                  <a:lnTo>
                    <a:pt x="2602991" y="431292"/>
                  </a:lnTo>
                  <a:lnTo>
                    <a:pt x="2604515" y="428244"/>
                  </a:lnTo>
                  <a:lnTo>
                    <a:pt x="2604515" y="425196"/>
                  </a:lnTo>
                  <a:lnTo>
                    <a:pt x="2602991" y="422148"/>
                  </a:lnTo>
                  <a:lnTo>
                    <a:pt x="2601467" y="420624"/>
                  </a:lnTo>
                  <a:close/>
                </a:path>
                <a:path w="2604770" h="573404">
                  <a:moveTo>
                    <a:pt x="378680" y="12192"/>
                  </a:moveTo>
                  <a:lnTo>
                    <a:pt x="313944" y="12192"/>
                  </a:lnTo>
                  <a:lnTo>
                    <a:pt x="313073" y="12592"/>
                  </a:lnTo>
                  <a:lnTo>
                    <a:pt x="2576875" y="429132"/>
                  </a:lnTo>
                  <a:lnTo>
                    <a:pt x="2595371" y="420624"/>
                  </a:lnTo>
                  <a:lnTo>
                    <a:pt x="2598419" y="420624"/>
                  </a:lnTo>
                  <a:lnTo>
                    <a:pt x="378680" y="12192"/>
                  </a:lnTo>
                  <a:close/>
                </a:path>
                <a:path w="2604770" h="573404">
                  <a:moveTo>
                    <a:pt x="312420" y="0"/>
                  </a:moveTo>
                  <a:lnTo>
                    <a:pt x="309372" y="0"/>
                  </a:lnTo>
                  <a:lnTo>
                    <a:pt x="4572" y="140208"/>
                  </a:lnTo>
                  <a:lnTo>
                    <a:pt x="1524" y="141732"/>
                  </a:lnTo>
                  <a:lnTo>
                    <a:pt x="0" y="143256"/>
                  </a:lnTo>
                  <a:lnTo>
                    <a:pt x="0" y="146303"/>
                  </a:lnTo>
                  <a:lnTo>
                    <a:pt x="3048" y="152400"/>
                  </a:lnTo>
                  <a:lnTo>
                    <a:pt x="9143" y="152400"/>
                  </a:lnTo>
                  <a:lnTo>
                    <a:pt x="7619" y="140208"/>
                  </a:lnTo>
                  <a:lnTo>
                    <a:pt x="35648" y="140208"/>
                  </a:lnTo>
                  <a:lnTo>
                    <a:pt x="313073" y="12592"/>
                  </a:lnTo>
                  <a:lnTo>
                    <a:pt x="310896" y="12192"/>
                  </a:lnTo>
                  <a:lnTo>
                    <a:pt x="378680" y="12192"/>
                  </a:lnTo>
                  <a:lnTo>
                    <a:pt x="312420" y="0"/>
                  </a:lnTo>
                  <a:close/>
                </a:path>
                <a:path w="2604770" h="573404">
                  <a:moveTo>
                    <a:pt x="7619" y="140208"/>
                  </a:moveTo>
                  <a:lnTo>
                    <a:pt x="9143" y="152400"/>
                  </a:lnTo>
                  <a:lnTo>
                    <a:pt x="27660" y="143882"/>
                  </a:lnTo>
                  <a:lnTo>
                    <a:pt x="7619" y="140208"/>
                  </a:lnTo>
                  <a:close/>
                </a:path>
                <a:path w="2604770" h="573404">
                  <a:moveTo>
                    <a:pt x="35648" y="140208"/>
                  </a:moveTo>
                  <a:lnTo>
                    <a:pt x="7619" y="140208"/>
                  </a:lnTo>
                  <a:lnTo>
                    <a:pt x="27660" y="143882"/>
                  </a:lnTo>
                  <a:lnTo>
                    <a:pt x="35648" y="140208"/>
                  </a:lnTo>
                  <a:close/>
                </a:path>
                <a:path w="2604770" h="573404">
                  <a:moveTo>
                    <a:pt x="313944" y="12192"/>
                  </a:moveTo>
                  <a:lnTo>
                    <a:pt x="310896" y="12192"/>
                  </a:lnTo>
                  <a:lnTo>
                    <a:pt x="313073" y="12592"/>
                  </a:lnTo>
                  <a:lnTo>
                    <a:pt x="313944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47931" y="5934455"/>
              <a:ext cx="303530" cy="230504"/>
            </a:xfrm>
            <a:custGeom>
              <a:avLst/>
              <a:gdLst/>
              <a:ahLst/>
              <a:cxnLst/>
              <a:rect l="l" t="t" r="r" b="b"/>
              <a:pathLst>
                <a:path w="303529" h="230504">
                  <a:moveTo>
                    <a:pt x="12192" y="137160"/>
                  </a:moveTo>
                  <a:lnTo>
                    <a:pt x="0" y="137160"/>
                  </a:lnTo>
                  <a:lnTo>
                    <a:pt x="0" y="230124"/>
                  </a:lnTo>
                  <a:lnTo>
                    <a:pt x="12192" y="230124"/>
                  </a:lnTo>
                  <a:lnTo>
                    <a:pt x="12192" y="137160"/>
                  </a:lnTo>
                  <a:close/>
                </a:path>
                <a:path w="303529" h="230504">
                  <a:moveTo>
                    <a:pt x="303276" y="0"/>
                  </a:moveTo>
                  <a:lnTo>
                    <a:pt x="289560" y="0"/>
                  </a:lnTo>
                  <a:lnTo>
                    <a:pt x="289560" y="92964"/>
                  </a:lnTo>
                  <a:lnTo>
                    <a:pt x="303276" y="92964"/>
                  </a:lnTo>
                  <a:lnTo>
                    <a:pt x="3032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6252971" y="5789676"/>
            <a:ext cx="12700" cy="94615"/>
          </a:xfrm>
          <a:custGeom>
            <a:avLst/>
            <a:gdLst/>
            <a:ahLst/>
            <a:cxnLst/>
            <a:rect l="l" t="t" r="r" b="b"/>
            <a:pathLst>
              <a:path w="12700" h="94614">
                <a:moveTo>
                  <a:pt x="12192" y="0"/>
                </a:moveTo>
                <a:lnTo>
                  <a:pt x="0" y="0"/>
                </a:lnTo>
                <a:lnTo>
                  <a:pt x="0" y="94487"/>
                </a:lnTo>
                <a:lnTo>
                  <a:pt x="12192" y="94487"/>
                </a:lnTo>
                <a:lnTo>
                  <a:pt x="121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00064" y="6156325"/>
            <a:ext cx="200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Times New Roman"/>
                <a:cs typeface="Times New Roman"/>
              </a:rPr>
              <a:t>f</a:t>
            </a:r>
            <a:r>
              <a:rPr sz="1575" baseline="-21164" dirty="0">
                <a:latin typeface="Times New Roman"/>
                <a:cs typeface="Times New Roman"/>
              </a:rPr>
              <a:t>1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44539" y="6024562"/>
            <a:ext cx="200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Times New Roman"/>
                <a:cs typeface="Times New Roman"/>
              </a:rPr>
              <a:t>f</a:t>
            </a:r>
            <a:r>
              <a:rPr sz="1575" baseline="-21164" dirty="0">
                <a:latin typeface="Times New Roman"/>
                <a:cs typeface="Times New Roman"/>
              </a:rPr>
              <a:t>2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49339" y="5886449"/>
            <a:ext cx="200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Times New Roman"/>
                <a:cs typeface="Times New Roman"/>
              </a:rPr>
              <a:t>f</a:t>
            </a:r>
            <a:r>
              <a:rPr sz="1575" baseline="-21164" dirty="0">
                <a:latin typeface="Times New Roman"/>
                <a:cs typeface="Times New Roman"/>
              </a:rPr>
              <a:t>3</a:t>
            </a:r>
            <a:endParaRPr sz="1575" baseline="-21164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971800" y="5948171"/>
            <a:ext cx="2286000" cy="527685"/>
            <a:chOff x="2971800" y="5948171"/>
            <a:chExt cx="2286000" cy="527685"/>
          </a:xfrm>
        </p:grpSpPr>
        <p:sp>
          <p:nvSpPr>
            <p:cNvPr id="37" name="object 37"/>
            <p:cNvSpPr/>
            <p:nvPr/>
          </p:nvSpPr>
          <p:spPr>
            <a:xfrm>
              <a:off x="2971800" y="5948171"/>
              <a:ext cx="2286000" cy="527685"/>
            </a:xfrm>
            <a:custGeom>
              <a:avLst/>
              <a:gdLst/>
              <a:ahLst/>
              <a:cxnLst/>
              <a:rect l="l" t="t" r="r" b="b"/>
              <a:pathLst>
                <a:path w="2286000" h="527685">
                  <a:moveTo>
                    <a:pt x="2113378" y="470368"/>
                  </a:moveTo>
                  <a:lnTo>
                    <a:pt x="2103119" y="527303"/>
                  </a:lnTo>
                  <a:lnTo>
                    <a:pt x="2280774" y="475487"/>
                  </a:lnTo>
                  <a:lnTo>
                    <a:pt x="2141219" y="475487"/>
                  </a:lnTo>
                  <a:lnTo>
                    <a:pt x="2113378" y="470368"/>
                  </a:lnTo>
                  <a:close/>
                </a:path>
                <a:path w="2286000" h="527685">
                  <a:moveTo>
                    <a:pt x="2123292" y="415343"/>
                  </a:moveTo>
                  <a:lnTo>
                    <a:pt x="2113378" y="470368"/>
                  </a:lnTo>
                  <a:lnTo>
                    <a:pt x="2141219" y="475487"/>
                  </a:lnTo>
                  <a:lnTo>
                    <a:pt x="2151887" y="420623"/>
                  </a:lnTo>
                  <a:lnTo>
                    <a:pt x="2123292" y="415343"/>
                  </a:lnTo>
                  <a:close/>
                </a:path>
                <a:path w="2286000" h="527685">
                  <a:moveTo>
                    <a:pt x="2133599" y="358139"/>
                  </a:moveTo>
                  <a:lnTo>
                    <a:pt x="2123292" y="415343"/>
                  </a:lnTo>
                  <a:lnTo>
                    <a:pt x="2151887" y="420623"/>
                  </a:lnTo>
                  <a:lnTo>
                    <a:pt x="2141219" y="475487"/>
                  </a:lnTo>
                  <a:lnTo>
                    <a:pt x="2280774" y="475487"/>
                  </a:lnTo>
                  <a:lnTo>
                    <a:pt x="2285999" y="473963"/>
                  </a:lnTo>
                  <a:lnTo>
                    <a:pt x="2133599" y="358139"/>
                  </a:lnTo>
                  <a:close/>
                </a:path>
                <a:path w="2286000" h="527685">
                  <a:moveTo>
                    <a:pt x="174407" y="55481"/>
                  </a:moveTo>
                  <a:lnTo>
                    <a:pt x="164234" y="111939"/>
                  </a:lnTo>
                  <a:lnTo>
                    <a:pt x="2113378" y="470368"/>
                  </a:lnTo>
                  <a:lnTo>
                    <a:pt x="2123292" y="415343"/>
                  </a:lnTo>
                  <a:lnTo>
                    <a:pt x="174407" y="55481"/>
                  </a:lnTo>
                  <a:close/>
                </a:path>
                <a:path w="2286000" h="527685">
                  <a:moveTo>
                    <a:pt x="184403" y="0"/>
                  </a:moveTo>
                  <a:lnTo>
                    <a:pt x="0" y="53339"/>
                  </a:lnTo>
                  <a:lnTo>
                    <a:pt x="153923" y="169163"/>
                  </a:lnTo>
                  <a:lnTo>
                    <a:pt x="164234" y="111939"/>
                  </a:lnTo>
                  <a:lnTo>
                    <a:pt x="135635" y="106679"/>
                  </a:lnTo>
                  <a:lnTo>
                    <a:pt x="146303" y="50291"/>
                  </a:lnTo>
                  <a:lnTo>
                    <a:pt x="175342" y="50291"/>
                  </a:lnTo>
                  <a:lnTo>
                    <a:pt x="184403" y="0"/>
                  </a:lnTo>
                  <a:close/>
                </a:path>
                <a:path w="2286000" h="527685">
                  <a:moveTo>
                    <a:pt x="146303" y="50291"/>
                  </a:moveTo>
                  <a:lnTo>
                    <a:pt x="135635" y="106679"/>
                  </a:lnTo>
                  <a:lnTo>
                    <a:pt x="164234" y="111939"/>
                  </a:lnTo>
                  <a:lnTo>
                    <a:pt x="174407" y="55481"/>
                  </a:lnTo>
                  <a:lnTo>
                    <a:pt x="146303" y="50291"/>
                  </a:lnTo>
                  <a:close/>
                </a:path>
                <a:path w="2286000" h="527685">
                  <a:moveTo>
                    <a:pt x="175342" y="50291"/>
                  </a:moveTo>
                  <a:lnTo>
                    <a:pt x="146303" y="50291"/>
                  </a:lnTo>
                  <a:lnTo>
                    <a:pt x="174407" y="55481"/>
                  </a:lnTo>
                  <a:lnTo>
                    <a:pt x="175342" y="502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68268" y="6202679"/>
              <a:ext cx="428625" cy="215265"/>
            </a:xfrm>
            <a:custGeom>
              <a:avLst/>
              <a:gdLst/>
              <a:ahLst/>
              <a:cxnLst/>
              <a:rect l="l" t="t" r="r" b="b"/>
              <a:pathLst>
                <a:path w="428625" h="215264">
                  <a:moveTo>
                    <a:pt x="131063" y="59435"/>
                  </a:moveTo>
                  <a:lnTo>
                    <a:pt x="120395" y="59435"/>
                  </a:lnTo>
                  <a:lnTo>
                    <a:pt x="118871" y="60959"/>
                  </a:lnTo>
                  <a:lnTo>
                    <a:pt x="102107" y="160019"/>
                  </a:lnTo>
                  <a:lnTo>
                    <a:pt x="102107" y="163067"/>
                  </a:lnTo>
                  <a:lnTo>
                    <a:pt x="103631" y="163067"/>
                  </a:lnTo>
                  <a:lnTo>
                    <a:pt x="105155" y="164591"/>
                  </a:lnTo>
                  <a:lnTo>
                    <a:pt x="108203" y="164591"/>
                  </a:lnTo>
                  <a:lnTo>
                    <a:pt x="109727" y="166115"/>
                  </a:lnTo>
                  <a:lnTo>
                    <a:pt x="118871" y="166115"/>
                  </a:lnTo>
                  <a:lnTo>
                    <a:pt x="118871" y="164591"/>
                  </a:lnTo>
                  <a:lnTo>
                    <a:pt x="120395" y="163067"/>
                  </a:lnTo>
                  <a:lnTo>
                    <a:pt x="137159" y="65531"/>
                  </a:lnTo>
                  <a:lnTo>
                    <a:pt x="137159" y="62484"/>
                  </a:lnTo>
                  <a:lnTo>
                    <a:pt x="135635" y="62484"/>
                  </a:lnTo>
                  <a:lnTo>
                    <a:pt x="135635" y="60959"/>
                  </a:lnTo>
                  <a:lnTo>
                    <a:pt x="132587" y="60959"/>
                  </a:lnTo>
                  <a:lnTo>
                    <a:pt x="131063" y="59435"/>
                  </a:lnTo>
                  <a:close/>
                </a:path>
                <a:path w="428625" h="215264">
                  <a:moveTo>
                    <a:pt x="6096" y="0"/>
                  </a:moveTo>
                  <a:lnTo>
                    <a:pt x="3048" y="0"/>
                  </a:lnTo>
                  <a:lnTo>
                    <a:pt x="1524" y="1523"/>
                  </a:lnTo>
                  <a:lnTo>
                    <a:pt x="1524" y="4571"/>
                  </a:lnTo>
                  <a:lnTo>
                    <a:pt x="0" y="6095"/>
                  </a:lnTo>
                  <a:lnTo>
                    <a:pt x="0" y="13715"/>
                  </a:lnTo>
                  <a:lnTo>
                    <a:pt x="1524" y="15239"/>
                  </a:lnTo>
                  <a:lnTo>
                    <a:pt x="3048" y="15239"/>
                  </a:lnTo>
                  <a:lnTo>
                    <a:pt x="42671" y="22859"/>
                  </a:lnTo>
                  <a:lnTo>
                    <a:pt x="21336" y="146303"/>
                  </a:lnTo>
                  <a:lnTo>
                    <a:pt x="19812" y="146303"/>
                  </a:lnTo>
                  <a:lnTo>
                    <a:pt x="22860" y="149351"/>
                  </a:lnTo>
                  <a:lnTo>
                    <a:pt x="24384" y="149351"/>
                  </a:lnTo>
                  <a:lnTo>
                    <a:pt x="25907" y="150875"/>
                  </a:lnTo>
                  <a:lnTo>
                    <a:pt x="39623" y="150875"/>
                  </a:lnTo>
                  <a:lnTo>
                    <a:pt x="39623" y="149351"/>
                  </a:lnTo>
                  <a:lnTo>
                    <a:pt x="60959" y="25907"/>
                  </a:lnTo>
                  <a:lnTo>
                    <a:pt x="106679" y="25907"/>
                  </a:lnTo>
                  <a:lnTo>
                    <a:pt x="106679" y="18287"/>
                  </a:lnTo>
                  <a:lnTo>
                    <a:pt x="105155" y="16763"/>
                  </a:lnTo>
                  <a:lnTo>
                    <a:pt x="6096" y="0"/>
                  </a:lnTo>
                  <a:close/>
                </a:path>
                <a:path w="428625" h="215264">
                  <a:moveTo>
                    <a:pt x="135635" y="18287"/>
                  </a:moveTo>
                  <a:lnTo>
                    <a:pt x="129539" y="18287"/>
                  </a:lnTo>
                  <a:lnTo>
                    <a:pt x="126491" y="19811"/>
                  </a:lnTo>
                  <a:lnTo>
                    <a:pt x="124967" y="21335"/>
                  </a:lnTo>
                  <a:lnTo>
                    <a:pt x="123443" y="24384"/>
                  </a:lnTo>
                  <a:lnTo>
                    <a:pt x="123443" y="27431"/>
                  </a:lnTo>
                  <a:lnTo>
                    <a:pt x="121919" y="32003"/>
                  </a:lnTo>
                  <a:lnTo>
                    <a:pt x="121919" y="35051"/>
                  </a:lnTo>
                  <a:lnTo>
                    <a:pt x="124967" y="38100"/>
                  </a:lnTo>
                  <a:lnTo>
                    <a:pt x="128015" y="39623"/>
                  </a:lnTo>
                  <a:lnTo>
                    <a:pt x="132587" y="41147"/>
                  </a:lnTo>
                  <a:lnTo>
                    <a:pt x="140207" y="41147"/>
                  </a:lnTo>
                  <a:lnTo>
                    <a:pt x="144779" y="36575"/>
                  </a:lnTo>
                  <a:lnTo>
                    <a:pt x="144779" y="32003"/>
                  </a:lnTo>
                  <a:lnTo>
                    <a:pt x="146303" y="27431"/>
                  </a:lnTo>
                  <a:lnTo>
                    <a:pt x="146303" y="24384"/>
                  </a:lnTo>
                  <a:lnTo>
                    <a:pt x="143255" y="21335"/>
                  </a:lnTo>
                  <a:lnTo>
                    <a:pt x="140207" y="19811"/>
                  </a:lnTo>
                  <a:lnTo>
                    <a:pt x="135635" y="18287"/>
                  </a:lnTo>
                  <a:close/>
                </a:path>
                <a:path w="428625" h="215264">
                  <a:moveTo>
                    <a:pt x="106679" y="25907"/>
                  </a:moveTo>
                  <a:lnTo>
                    <a:pt x="60959" y="25907"/>
                  </a:lnTo>
                  <a:lnTo>
                    <a:pt x="102107" y="33528"/>
                  </a:lnTo>
                  <a:lnTo>
                    <a:pt x="103631" y="33528"/>
                  </a:lnTo>
                  <a:lnTo>
                    <a:pt x="103631" y="32003"/>
                  </a:lnTo>
                  <a:lnTo>
                    <a:pt x="105155" y="32003"/>
                  </a:lnTo>
                  <a:lnTo>
                    <a:pt x="105155" y="28956"/>
                  </a:lnTo>
                  <a:lnTo>
                    <a:pt x="106679" y="28956"/>
                  </a:lnTo>
                  <a:lnTo>
                    <a:pt x="106679" y="25907"/>
                  </a:lnTo>
                  <a:close/>
                </a:path>
                <a:path w="428625" h="215264">
                  <a:moveTo>
                    <a:pt x="306831" y="100584"/>
                  </a:moveTo>
                  <a:lnTo>
                    <a:pt x="277367" y="100584"/>
                  </a:lnTo>
                  <a:lnTo>
                    <a:pt x="280415" y="102107"/>
                  </a:lnTo>
                  <a:lnTo>
                    <a:pt x="283463" y="102107"/>
                  </a:lnTo>
                  <a:lnTo>
                    <a:pt x="284987" y="105156"/>
                  </a:lnTo>
                  <a:lnTo>
                    <a:pt x="288035" y="106679"/>
                  </a:lnTo>
                  <a:lnTo>
                    <a:pt x="289559" y="108203"/>
                  </a:lnTo>
                  <a:lnTo>
                    <a:pt x="292607" y="114300"/>
                  </a:lnTo>
                  <a:lnTo>
                    <a:pt x="292607" y="128015"/>
                  </a:lnTo>
                  <a:lnTo>
                    <a:pt x="291083" y="132587"/>
                  </a:lnTo>
                  <a:lnTo>
                    <a:pt x="280415" y="192023"/>
                  </a:lnTo>
                  <a:lnTo>
                    <a:pt x="280415" y="193547"/>
                  </a:lnTo>
                  <a:lnTo>
                    <a:pt x="281939" y="193547"/>
                  </a:lnTo>
                  <a:lnTo>
                    <a:pt x="281939" y="195072"/>
                  </a:lnTo>
                  <a:lnTo>
                    <a:pt x="283463" y="195072"/>
                  </a:lnTo>
                  <a:lnTo>
                    <a:pt x="283463" y="196595"/>
                  </a:lnTo>
                  <a:lnTo>
                    <a:pt x="288035" y="196595"/>
                  </a:lnTo>
                  <a:lnTo>
                    <a:pt x="289559" y="198119"/>
                  </a:lnTo>
                  <a:lnTo>
                    <a:pt x="298703" y="198119"/>
                  </a:lnTo>
                  <a:lnTo>
                    <a:pt x="298703" y="195072"/>
                  </a:lnTo>
                  <a:lnTo>
                    <a:pt x="310895" y="132587"/>
                  </a:lnTo>
                  <a:lnTo>
                    <a:pt x="310895" y="128015"/>
                  </a:lnTo>
                  <a:lnTo>
                    <a:pt x="312419" y="121919"/>
                  </a:lnTo>
                  <a:lnTo>
                    <a:pt x="310895" y="117347"/>
                  </a:lnTo>
                  <a:lnTo>
                    <a:pt x="310895" y="106679"/>
                  </a:lnTo>
                  <a:lnTo>
                    <a:pt x="307847" y="103631"/>
                  </a:lnTo>
                  <a:lnTo>
                    <a:pt x="306831" y="100584"/>
                  </a:lnTo>
                  <a:close/>
                </a:path>
                <a:path w="428625" h="215264">
                  <a:moveTo>
                    <a:pt x="242315" y="88391"/>
                  </a:moveTo>
                  <a:lnTo>
                    <a:pt x="208787" y="88391"/>
                  </a:lnTo>
                  <a:lnTo>
                    <a:pt x="213359" y="89915"/>
                  </a:lnTo>
                  <a:lnTo>
                    <a:pt x="216407" y="89915"/>
                  </a:lnTo>
                  <a:lnTo>
                    <a:pt x="219455" y="91439"/>
                  </a:lnTo>
                  <a:lnTo>
                    <a:pt x="220979" y="92963"/>
                  </a:lnTo>
                  <a:lnTo>
                    <a:pt x="224027" y="94487"/>
                  </a:lnTo>
                  <a:lnTo>
                    <a:pt x="225551" y="97535"/>
                  </a:lnTo>
                  <a:lnTo>
                    <a:pt x="227075" y="99059"/>
                  </a:lnTo>
                  <a:lnTo>
                    <a:pt x="227075" y="102107"/>
                  </a:lnTo>
                  <a:lnTo>
                    <a:pt x="228599" y="105156"/>
                  </a:lnTo>
                  <a:lnTo>
                    <a:pt x="228599" y="117347"/>
                  </a:lnTo>
                  <a:lnTo>
                    <a:pt x="227075" y="120395"/>
                  </a:lnTo>
                  <a:lnTo>
                    <a:pt x="216407" y="181356"/>
                  </a:lnTo>
                  <a:lnTo>
                    <a:pt x="216407" y="182879"/>
                  </a:lnTo>
                  <a:lnTo>
                    <a:pt x="217931" y="182879"/>
                  </a:lnTo>
                  <a:lnTo>
                    <a:pt x="217931" y="184403"/>
                  </a:lnTo>
                  <a:lnTo>
                    <a:pt x="220979" y="184403"/>
                  </a:lnTo>
                  <a:lnTo>
                    <a:pt x="222503" y="185928"/>
                  </a:lnTo>
                  <a:lnTo>
                    <a:pt x="234695" y="185928"/>
                  </a:lnTo>
                  <a:lnTo>
                    <a:pt x="234695" y="184403"/>
                  </a:lnTo>
                  <a:lnTo>
                    <a:pt x="246887" y="115823"/>
                  </a:lnTo>
                  <a:lnTo>
                    <a:pt x="252983" y="109728"/>
                  </a:lnTo>
                  <a:lnTo>
                    <a:pt x="259079" y="106679"/>
                  </a:lnTo>
                  <a:lnTo>
                    <a:pt x="268223" y="100584"/>
                  </a:lnTo>
                  <a:lnTo>
                    <a:pt x="306831" y="100584"/>
                  </a:lnTo>
                  <a:lnTo>
                    <a:pt x="306323" y="99059"/>
                  </a:lnTo>
                  <a:lnTo>
                    <a:pt x="246887" y="99059"/>
                  </a:lnTo>
                  <a:lnTo>
                    <a:pt x="245363" y="96011"/>
                  </a:lnTo>
                  <a:lnTo>
                    <a:pt x="245363" y="92963"/>
                  </a:lnTo>
                  <a:lnTo>
                    <a:pt x="243839" y="89915"/>
                  </a:lnTo>
                  <a:lnTo>
                    <a:pt x="242315" y="88391"/>
                  </a:lnTo>
                  <a:close/>
                </a:path>
                <a:path w="428625" h="215264">
                  <a:moveTo>
                    <a:pt x="181355" y="68579"/>
                  </a:moveTo>
                  <a:lnTo>
                    <a:pt x="170687" y="68579"/>
                  </a:lnTo>
                  <a:lnTo>
                    <a:pt x="170687" y="70103"/>
                  </a:lnTo>
                  <a:lnTo>
                    <a:pt x="152399" y="169163"/>
                  </a:lnTo>
                  <a:lnTo>
                    <a:pt x="152399" y="172211"/>
                  </a:lnTo>
                  <a:lnTo>
                    <a:pt x="153923" y="172211"/>
                  </a:lnTo>
                  <a:lnTo>
                    <a:pt x="155447" y="173735"/>
                  </a:lnTo>
                  <a:lnTo>
                    <a:pt x="158495" y="173735"/>
                  </a:lnTo>
                  <a:lnTo>
                    <a:pt x="161543" y="175259"/>
                  </a:lnTo>
                  <a:lnTo>
                    <a:pt x="169163" y="175259"/>
                  </a:lnTo>
                  <a:lnTo>
                    <a:pt x="170687" y="173735"/>
                  </a:lnTo>
                  <a:lnTo>
                    <a:pt x="170687" y="172211"/>
                  </a:lnTo>
                  <a:lnTo>
                    <a:pt x="182879" y="103631"/>
                  </a:lnTo>
                  <a:lnTo>
                    <a:pt x="195071" y="94487"/>
                  </a:lnTo>
                  <a:lnTo>
                    <a:pt x="199643" y="91439"/>
                  </a:lnTo>
                  <a:lnTo>
                    <a:pt x="208787" y="88391"/>
                  </a:lnTo>
                  <a:lnTo>
                    <a:pt x="242315" y="88391"/>
                  </a:lnTo>
                  <a:lnTo>
                    <a:pt x="241553" y="86867"/>
                  </a:lnTo>
                  <a:lnTo>
                    <a:pt x="184403" y="86867"/>
                  </a:lnTo>
                  <a:lnTo>
                    <a:pt x="185927" y="73151"/>
                  </a:lnTo>
                  <a:lnTo>
                    <a:pt x="185927" y="70103"/>
                  </a:lnTo>
                  <a:lnTo>
                    <a:pt x="182879" y="70103"/>
                  </a:lnTo>
                  <a:lnTo>
                    <a:pt x="181355" y="68579"/>
                  </a:lnTo>
                  <a:close/>
                </a:path>
                <a:path w="428625" h="215264">
                  <a:moveTo>
                    <a:pt x="283463" y="85343"/>
                  </a:moveTo>
                  <a:lnTo>
                    <a:pt x="272795" y="85343"/>
                  </a:lnTo>
                  <a:lnTo>
                    <a:pt x="269747" y="86867"/>
                  </a:lnTo>
                  <a:lnTo>
                    <a:pt x="266699" y="86867"/>
                  </a:lnTo>
                  <a:lnTo>
                    <a:pt x="257555" y="91439"/>
                  </a:lnTo>
                  <a:lnTo>
                    <a:pt x="254507" y="94487"/>
                  </a:lnTo>
                  <a:lnTo>
                    <a:pt x="249935" y="96011"/>
                  </a:lnTo>
                  <a:lnTo>
                    <a:pt x="246887" y="99059"/>
                  </a:lnTo>
                  <a:lnTo>
                    <a:pt x="306323" y="99059"/>
                  </a:lnTo>
                  <a:lnTo>
                    <a:pt x="303275" y="94487"/>
                  </a:lnTo>
                  <a:lnTo>
                    <a:pt x="298703" y="91439"/>
                  </a:lnTo>
                  <a:lnTo>
                    <a:pt x="295655" y="88391"/>
                  </a:lnTo>
                  <a:lnTo>
                    <a:pt x="283463" y="85343"/>
                  </a:lnTo>
                  <a:close/>
                </a:path>
                <a:path w="428625" h="215264">
                  <a:moveTo>
                    <a:pt x="214883" y="73151"/>
                  </a:moveTo>
                  <a:lnTo>
                    <a:pt x="208787" y="73151"/>
                  </a:lnTo>
                  <a:lnTo>
                    <a:pt x="202691" y="76200"/>
                  </a:lnTo>
                  <a:lnTo>
                    <a:pt x="196595" y="77723"/>
                  </a:lnTo>
                  <a:lnTo>
                    <a:pt x="190499" y="80772"/>
                  </a:lnTo>
                  <a:lnTo>
                    <a:pt x="184403" y="86867"/>
                  </a:lnTo>
                  <a:lnTo>
                    <a:pt x="241553" y="86867"/>
                  </a:lnTo>
                  <a:lnTo>
                    <a:pt x="240791" y="85343"/>
                  </a:lnTo>
                  <a:lnTo>
                    <a:pt x="237743" y="83819"/>
                  </a:lnTo>
                  <a:lnTo>
                    <a:pt x="236219" y="80772"/>
                  </a:lnTo>
                  <a:lnTo>
                    <a:pt x="224027" y="74675"/>
                  </a:lnTo>
                  <a:lnTo>
                    <a:pt x="219455" y="74675"/>
                  </a:lnTo>
                  <a:lnTo>
                    <a:pt x="214883" y="73151"/>
                  </a:lnTo>
                  <a:close/>
                </a:path>
                <a:path w="428625" h="215264">
                  <a:moveTo>
                    <a:pt x="384047" y="103631"/>
                  </a:moveTo>
                  <a:lnTo>
                    <a:pt x="377951" y="103631"/>
                  </a:lnTo>
                  <a:lnTo>
                    <a:pt x="365759" y="106679"/>
                  </a:lnTo>
                  <a:lnTo>
                    <a:pt x="359663" y="109728"/>
                  </a:lnTo>
                  <a:lnTo>
                    <a:pt x="355091" y="114300"/>
                  </a:lnTo>
                  <a:lnTo>
                    <a:pt x="348995" y="117347"/>
                  </a:lnTo>
                  <a:lnTo>
                    <a:pt x="342899" y="129539"/>
                  </a:lnTo>
                  <a:lnTo>
                    <a:pt x="338327" y="135635"/>
                  </a:lnTo>
                  <a:lnTo>
                    <a:pt x="335279" y="150875"/>
                  </a:lnTo>
                  <a:lnTo>
                    <a:pt x="332231" y="169163"/>
                  </a:lnTo>
                  <a:lnTo>
                    <a:pt x="333755" y="175259"/>
                  </a:lnTo>
                  <a:lnTo>
                    <a:pt x="335279" y="182879"/>
                  </a:lnTo>
                  <a:lnTo>
                    <a:pt x="336803" y="188975"/>
                  </a:lnTo>
                  <a:lnTo>
                    <a:pt x="339851" y="193547"/>
                  </a:lnTo>
                  <a:lnTo>
                    <a:pt x="342899" y="199644"/>
                  </a:lnTo>
                  <a:lnTo>
                    <a:pt x="347471" y="204215"/>
                  </a:lnTo>
                  <a:lnTo>
                    <a:pt x="365759" y="213359"/>
                  </a:lnTo>
                  <a:lnTo>
                    <a:pt x="374903" y="214884"/>
                  </a:lnTo>
                  <a:lnTo>
                    <a:pt x="405383" y="214884"/>
                  </a:lnTo>
                  <a:lnTo>
                    <a:pt x="406907" y="213359"/>
                  </a:lnTo>
                  <a:lnTo>
                    <a:pt x="411479" y="213359"/>
                  </a:lnTo>
                  <a:lnTo>
                    <a:pt x="411479" y="211835"/>
                  </a:lnTo>
                  <a:lnTo>
                    <a:pt x="413003" y="211835"/>
                  </a:lnTo>
                  <a:lnTo>
                    <a:pt x="413003" y="208787"/>
                  </a:lnTo>
                  <a:lnTo>
                    <a:pt x="414527" y="208787"/>
                  </a:lnTo>
                  <a:lnTo>
                    <a:pt x="414527" y="201167"/>
                  </a:lnTo>
                  <a:lnTo>
                    <a:pt x="384047" y="201167"/>
                  </a:lnTo>
                  <a:lnTo>
                    <a:pt x="379475" y="199644"/>
                  </a:lnTo>
                  <a:lnTo>
                    <a:pt x="373379" y="198119"/>
                  </a:lnTo>
                  <a:lnTo>
                    <a:pt x="364235" y="195072"/>
                  </a:lnTo>
                  <a:lnTo>
                    <a:pt x="359663" y="192023"/>
                  </a:lnTo>
                  <a:lnTo>
                    <a:pt x="358139" y="188975"/>
                  </a:lnTo>
                  <a:lnTo>
                    <a:pt x="355091" y="185928"/>
                  </a:lnTo>
                  <a:lnTo>
                    <a:pt x="353567" y="181356"/>
                  </a:lnTo>
                  <a:lnTo>
                    <a:pt x="352043" y="178307"/>
                  </a:lnTo>
                  <a:lnTo>
                    <a:pt x="352043" y="163067"/>
                  </a:lnTo>
                  <a:lnTo>
                    <a:pt x="353567" y="158495"/>
                  </a:lnTo>
                  <a:lnTo>
                    <a:pt x="427100" y="158495"/>
                  </a:lnTo>
                  <a:lnTo>
                    <a:pt x="428243" y="153923"/>
                  </a:lnTo>
                  <a:lnTo>
                    <a:pt x="409955" y="153923"/>
                  </a:lnTo>
                  <a:lnTo>
                    <a:pt x="355091" y="144779"/>
                  </a:lnTo>
                  <a:lnTo>
                    <a:pt x="356615" y="140207"/>
                  </a:lnTo>
                  <a:lnTo>
                    <a:pt x="359663" y="134111"/>
                  </a:lnTo>
                  <a:lnTo>
                    <a:pt x="361187" y="129539"/>
                  </a:lnTo>
                  <a:lnTo>
                    <a:pt x="364235" y="126491"/>
                  </a:lnTo>
                  <a:lnTo>
                    <a:pt x="367283" y="124967"/>
                  </a:lnTo>
                  <a:lnTo>
                    <a:pt x="368807" y="121919"/>
                  </a:lnTo>
                  <a:lnTo>
                    <a:pt x="371855" y="120395"/>
                  </a:lnTo>
                  <a:lnTo>
                    <a:pt x="376427" y="118872"/>
                  </a:lnTo>
                  <a:lnTo>
                    <a:pt x="419099" y="118872"/>
                  </a:lnTo>
                  <a:lnTo>
                    <a:pt x="416051" y="115823"/>
                  </a:lnTo>
                  <a:lnTo>
                    <a:pt x="406907" y="109728"/>
                  </a:lnTo>
                  <a:lnTo>
                    <a:pt x="399287" y="106679"/>
                  </a:lnTo>
                  <a:lnTo>
                    <a:pt x="384047" y="103631"/>
                  </a:lnTo>
                  <a:close/>
                </a:path>
                <a:path w="428625" h="215264">
                  <a:moveTo>
                    <a:pt x="414527" y="198119"/>
                  </a:moveTo>
                  <a:lnTo>
                    <a:pt x="408431" y="198119"/>
                  </a:lnTo>
                  <a:lnTo>
                    <a:pt x="406907" y="199644"/>
                  </a:lnTo>
                  <a:lnTo>
                    <a:pt x="402335" y="199644"/>
                  </a:lnTo>
                  <a:lnTo>
                    <a:pt x="399287" y="201167"/>
                  </a:lnTo>
                  <a:lnTo>
                    <a:pt x="414527" y="201167"/>
                  </a:lnTo>
                  <a:lnTo>
                    <a:pt x="414527" y="198119"/>
                  </a:lnTo>
                  <a:close/>
                </a:path>
                <a:path w="428625" h="215264">
                  <a:moveTo>
                    <a:pt x="427100" y="158495"/>
                  </a:moveTo>
                  <a:lnTo>
                    <a:pt x="353567" y="158495"/>
                  </a:lnTo>
                  <a:lnTo>
                    <a:pt x="417575" y="169163"/>
                  </a:lnTo>
                  <a:lnTo>
                    <a:pt x="420623" y="170687"/>
                  </a:lnTo>
                  <a:lnTo>
                    <a:pt x="422147" y="169163"/>
                  </a:lnTo>
                  <a:lnTo>
                    <a:pt x="423671" y="169163"/>
                  </a:lnTo>
                  <a:lnTo>
                    <a:pt x="426719" y="166115"/>
                  </a:lnTo>
                  <a:lnTo>
                    <a:pt x="426719" y="160019"/>
                  </a:lnTo>
                  <a:lnTo>
                    <a:pt x="427100" y="158495"/>
                  </a:lnTo>
                  <a:close/>
                </a:path>
                <a:path w="428625" h="215264">
                  <a:moveTo>
                    <a:pt x="419099" y="118872"/>
                  </a:moveTo>
                  <a:lnTo>
                    <a:pt x="388619" y="118872"/>
                  </a:lnTo>
                  <a:lnTo>
                    <a:pt x="397763" y="120395"/>
                  </a:lnTo>
                  <a:lnTo>
                    <a:pt x="403859" y="124967"/>
                  </a:lnTo>
                  <a:lnTo>
                    <a:pt x="409955" y="137159"/>
                  </a:lnTo>
                  <a:lnTo>
                    <a:pt x="411479" y="144779"/>
                  </a:lnTo>
                  <a:lnTo>
                    <a:pt x="409955" y="153923"/>
                  </a:lnTo>
                  <a:lnTo>
                    <a:pt x="428243" y="153923"/>
                  </a:lnTo>
                  <a:lnTo>
                    <a:pt x="428243" y="141731"/>
                  </a:lnTo>
                  <a:lnTo>
                    <a:pt x="425195" y="129539"/>
                  </a:lnTo>
                  <a:lnTo>
                    <a:pt x="422147" y="124967"/>
                  </a:lnTo>
                  <a:lnTo>
                    <a:pt x="420623" y="120395"/>
                  </a:lnTo>
                  <a:lnTo>
                    <a:pt x="419099" y="118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5867400" y="6092951"/>
            <a:ext cx="909955" cy="594360"/>
            <a:chOff x="5867400" y="6092951"/>
            <a:chExt cx="909955" cy="594360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2471" y="6297675"/>
              <a:ext cx="687323" cy="3896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867400" y="6092951"/>
              <a:ext cx="909955" cy="426720"/>
            </a:xfrm>
            <a:custGeom>
              <a:avLst/>
              <a:gdLst/>
              <a:ahLst/>
              <a:cxnLst/>
              <a:rect l="l" t="t" r="r" b="b"/>
              <a:pathLst>
                <a:path w="909954" h="426720">
                  <a:moveTo>
                    <a:pt x="80771" y="323087"/>
                  </a:moveTo>
                  <a:lnTo>
                    <a:pt x="0" y="422147"/>
                  </a:lnTo>
                  <a:lnTo>
                    <a:pt x="128015" y="426719"/>
                  </a:lnTo>
                  <a:lnTo>
                    <a:pt x="116204" y="400811"/>
                  </a:lnTo>
                  <a:lnTo>
                    <a:pt x="94487" y="400811"/>
                  </a:lnTo>
                  <a:lnTo>
                    <a:pt x="79247" y="365759"/>
                  </a:lnTo>
                  <a:lnTo>
                    <a:pt x="96577" y="357758"/>
                  </a:lnTo>
                  <a:lnTo>
                    <a:pt x="80771" y="323087"/>
                  </a:lnTo>
                  <a:close/>
                </a:path>
                <a:path w="909954" h="426720">
                  <a:moveTo>
                    <a:pt x="96577" y="357758"/>
                  </a:moveTo>
                  <a:lnTo>
                    <a:pt x="79247" y="365759"/>
                  </a:lnTo>
                  <a:lnTo>
                    <a:pt x="94487" y="400811"/>
                  </a:lnTo>
                  <a:lnTo>
                    <a:pt x="112435" y="392542"/>
                  </a:lnTo>
                  <a:lnTo>
                    <a:pt x="96577" y="357758"/>
                  </a:lnTo>
                  <a:close/>
                </a:path>
                <a:path w="909954" h="426720">
                  <a:moveTo>
                    <a:pt x="112435" y="392542"/>
                  </a:moveTo>
                  <a:lnTo>
                    <a:pt x="94487" y="400811"/>
                  </a:lnTo>
                  <a:lnTo>
                    <a:pt x="116204" y="400811"/>
                  </a:lnTo>
                  <a:lnTo>
                    <a:pt x="112435" y="392542"/>
                  </a:lnTo>
                  <a:close/>
                </a:path>
                <a:path w="909954" h="426720">
                  <a:moveTo>
                    <a:pt x="798658" y="33609"/>
                  </a:moveTo>
                  <a:lnTo>
                    <a:pt x="96577" y="357758"/>
                  </a:lnTo>
                  <a:lnTo>
                    <a:pt x="112435" y="392542"/>
                  </a:lnTo>
                  <a:lnTo>
                    <a:pt x="814767" y="68947"/>
                  </a:lnTo>
                  <a:lnTo>
                    <a:pt x="798658" y="33609"/>
                  </a:lnTo>
                  <a:close/>
                </a:path>
                <a:path w="909954" h="426720">
                  <a:moveTo>
                    <a:pt x="891817" y="25907"/>
                  </a:moveTo>
                  <a:lnTo>
                    <a:pt x="815339" y="25907"/>
                  </a:lnTo>
                  <a:lnTo>
                    <a:pt x="832103" y="60959"/>
                  </a:lnTo>
                  <a:lnTo>
                    <a:pt x="814767" y="68947"/>
                  </a:lnTo>
                  <a:lnTo>
                    <a:pt x="830579" y="103631"/>
                  </a:lnTo>
                  <a:lnTo>
                    <a:pt x="891817" y="25907"/>
                  </a:lnTo>
                  <a:close/>
                </a:path>
                <a:path w="909954" h="426720">
                  <a:moveTo>
                    <a:pt x="815339" y="25907"/>
                  </a:moveTo>
                  <a:lnTo>
                    <a:pt x="798658" y="33609"/>
                  </a:lnTo>
                  <a:lnTo>
                    <a:pt x="814767" y="68947"/>
                  </a:lnTo>
                  <a:lnTo>
                    <a:pt x="832103" y="60959"/>
                  </a:lnTo>
                  <a:lnTo>
                    <a:pt x="815339" y="25907"/>
                  </a:lnTo>
                  <a:close/>
                </a:path>
                <a:path w="909954" h="426720">
                  <a:moveTo>
                    <a:pt x="783335" y="0"/>
                  </a:moveTo>
                  <a:lnTo>
                    <a:pt x="798658" y="33609"/>
                  </a:lnTo>
                  <a:lnTo>
                    <a:pt x="815339" y="25907"/>
                  </a:lnTo>
                  <a:lnTo>
                    <a:pt x="891817" y="25907"/>
                  </a:lnTo>
                  <a:lnTo>
                    <a:pt x="909827" y="3047"/>
                  </a:lnTo>
                  <a:lnTo>
                    <a:pt x="783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101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1" y="858185"/>
            <a:ext cx="80168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spc="-80" dirty="0">
                <a:solidFill>
                  <a:srgbClr val="000000"/>
                </a:solidFill>
              </a:rPr>
              <a:t>Time</a:t>
            </a:r>
            <a:r>
              <a:rPr sz="4400" u="none" spc="-140" dirty="0">
                <a:solidFill>
                  <a:srgbClr val="000000"/>
                </a:solidFill>
              </a:rPr>
              <a:t> </a:t>
            </a:r>
            <a:r>
              <a:rPr sz="4400" u="none" spc="-40" dirty="0">
                <a:solidFill>
                  <a:srgbClr val="000000"/>
                </a:solidFill>
              </a:rPr>
              <a:t>Division</a:t>
            </a:r>
            <a:r>
              <a:rPr sz="4400" u="none" spc="-145" dirty="0">
                <a:solidFill>
                  <a:srgbClr val="000000"/>
                </a:solidFill>
              </a:rPr>
              <a:t> </a:t>
            </a:r>
            <a:r>
              <a:rPr sz="4400" u="none" spc="-45" dirty="0">
                <a:solidFill>
                  <a:srgbClr val="000000"/>
                </a:solidFill>
              </a:rPr>
              <a:t>Multiplexing</a:t>
            </a:r>
            <a:r>
              <a:rPr sz="4400" u="none" spc="-145" dirty="0">
                <a:solidFill>
                  <a:srgbClr val="000000"/>
                </a:solidFill>
              </a:rPr>
              <a:t> </a:t>
            </a:r>
            <a:r>
              <a:rPr sz="4400" u="none" spc="-30" dirty="0">
                <a:solidFill>
                  <a:srgbClr val="000000"/>
                </a:solidFill>
              </a:rPr>
              <a:t>(TDM)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773936"/>
            <a:ext cx="9143999" cy="6339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57200" y="3886200"/>
            <a:ext cx="9142730" cy="3427729"/>
            <a:chOff x="457200" y="3886200"/>
            <a:chExt cx="9142730" cy="3427729"/>
          </a:xfrm>
        </p:grpSpPr>
        <p:sp>
          <p:nvSpPr>
            <p:cNvPr id="6" name="object 6"/>
            <p:cNvSpPr/>
            <p:nvPr/>
          </p:nvSpPr>
          <p:spPr>
            <a:xfrm>
              <a:off x="457200" y="6856475"/>
              <a:ext cx="9142730" cy="1905"/>
            </a:xfrm>
            <a:custGeom>
              <a:avLst/>
              <a:gdLst/>
              <a:ahLst/>
              <a:cxnLst/>
              <a:rect l="l" t="t" r="r" b="b"/>
              <a:pathLst>
                <a:path w="9142730" h="1904">
                  <a:moveTo>
                    <a:pt x="0" y="1523"/>
                  </a:moveTo>
                  <a:lnTo>
                    <a:pt x="9142475" y="1523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1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858000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200"/>
              <a:ext cx="9142730" cy="2906395"/>
            </a:xfrm>
            <a:custGeom>
              <a:avLst/>
              <a:gdLst/>
              <a:ahLst/>
              <a:cxnLst/>
              <a:rect l="l" t="t" r="r" b="b"/>
              <a:pathLst>
                <a:path w="9142730" h="2906395">
                  <a:moveTo>
                    <a:pt x="0" y="2906267"/>
                  </a:moveTo>
                  <a:lnTo>
                    <a:pt x="9142475" y="2906267"/>
                  </a:lnTo>
                  <a:lnTo>
                    <a:pt x="9142475" y="0"/>
                  </a:lnTo>
                  <a:lnTo>
                    <a:pt x="0" y="0"/>
                  </a:lnTo>
                  <a:lnTo>
                    <a:pt x="0" y="2906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7667" y="1677591"/>
            <a:ext cx="8458835" cy="47586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160"/>
              </a:spcBef>
            </a:pP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800" b="1" i="1" spc="-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digital multiplexing</a:t>
            </a:r>
            <a:r>
              <a:rPr sz="2800" b="1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technique</a:t>
            </a:r>
            <a:r>
              <a:rPr sz="2800" b="1" i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combine</a:t>
            </a:r>
            <a:r>
              <a:rPr sz="2800" b="1" i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  <a:p>
            <a:pPr marL="190500" marR="186055" indent="-177165">
              <a:lnSpc>
                <a:spcPts val="2690"/>
              </a:lnSpc>
              <a:spcBef>
                <a:spcPts val="1705"/>
              </a:spcBef>
              <a:buClr>
                <a:srgbClr val="1CACE4"/>
              </a:buClr>
              <a:buFont typeface="Arial MT"/>
              <a:buChar char="•"/>
              <a:tabLst>
                <a:tab pos="191135" algn="l"/>
              </a:tabLst>
            </a:pPr>
            <a:r>
              <a:rPr sz="2800" b="1" spc="-10" dirty="0">
                <a:latin typeface="Calibri"/>
                <a:cs typeface="Calibri"/>
              </a:rPr>
              <a:t>digital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process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that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allows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several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connections</a:t>
            </a:r>
            <a:r>
              <a:rPr sz="2800" b="1" spc="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share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 high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bandwidth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link</a:t>
            </a:r>
            <a:endParaRPr sz="2800">
              <a:latin typeface="Calibri"/>
              <a:cs typeface="Calibri"/>
            </a:endParaRPr>
          </a:p>
          <a:p>
            <a:pPr marL="190500" indent="-177165">
              <a:lnSpc>
                <a:spcPts val="3279"/>
              </a:lnSpc>
              <a:spcBef>
                <a:spcPts val="750"/>
              </a:spcBef>
              <a:buClr>
                <a:srgbClr val="1CACE4"/>
              </a:buClr>
              <a:buFont typeface="Arial MT"/>
              <a:buChar char="•"/>
              <a:tabLst>
                <a:tab pos="191135" algn="l"/>
              </a:tabLst>
            </a:pPr>
            <a:r>
              <a:rPr sz="2800" spc="-10" dirty="0">
                <a:latin typeface="Calibri"/>
                <a:cs typeface="Calibri"/>
              </a:rPr>
              <a:t>Time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shared</a:t>
            </a:r>
            <a:endParaRPr sz="2800">
              <a:latin typeface="Calibri"/>
              <a:cs typeface="Calibri"/>
            </a:endParaRPr>
          </a:p>
          <a:p>
            <a:pPr marL="420370" lvl="1" indent="-183515">
              <a:lnSpc>
                <a:spcPts val="2800"/>
              </a:lnSpc>
              <a:buClr>
                <a:srgbClr val="1CACE4"/>
              </a:buClr>
              <a:buChar char="◦"/>
              <a:tabLst>
                <a:tab pos="421005" algn="l"/>
              </a:tabLst>
            </a:pPr>
            <a:r>
              <a:rPr sz="2400" spc="-10" dirty="0">
                <a:latin typeface="Calibri"/>
                <a:cs typeface="Calibri"/>
              </a:rPr>
              <a:t>Each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connection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occupies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portion 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time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link</a:t>
            </a:r>
            <a:endParaRPr sz="2400">
              <a:latin typeface="Calibri"/>
              <a:cs typeface="Calibri"/>
            </a:endParaRPr>
          </a:p>
          <a:p>
            <a:pPr marL="419100" marR="631825" lvl="1" indent="-182880">
              <a:lnSpc>
                <a:spcPct val="80000"/>
              </a:lnSpc>
              <a:spcBef>
                <a:spcPts val="590"/>
              </a:spcBef>
              <a:buClr>
                <a:srgbClr val="1CACE4"/>
              </a:buClr>
              <a:buChar char="◦"/>
              <a:tabLst>
                <a:tab pos="419734" algn="l"/>
              </a:tabLst>
            </a:pPr>
            <a:r>
              <a:rPr sz="2400" spc="-5" dirty="0">
                <a:latin typeface="Calibri"/>
                <a:cs typeface="Calibri"/>
              </a:rPr>
              <a:t>Same link of FDM is </a:t>
            </a:r>
            <a:r>
              <a:rPr sz="2400" spc="-10" dirty="0">
                <a:latin typeface="Calibri"/>
                <a:cs typeface="Calibri"/>
              </a:rPr>
              <a:t>shown </a:t>
            </a:r>
            <a:r>
              <a:rPr sz="2400" spc="-5" dirty="0">
                <a:latin typeface="Calibri"/>
                <a:cs typeface="Calibri"/>
              </a:rPr>
              <a:t>sectioned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spc="-5" dirty="0">
                <a:latin typeface="Calibri"/>
                <a:cs typeface="Calibri"/>
              </a:rPr>
              <a:t>time </a:t>
            </a:r>
            <a:r>
              <a:rPr sz="2400" spc="-15" dirty="0">
                <a:latin typeface="Calibri"/>
                <a:cs typeface="Calibri"/>
              </a:rPr>
              <a:t>rather </a:t>
            </a:r>
            <a:r>
              <a:rPr sz="2400" spc="-5" dirty="0">
                <a:latin typeface="Calibri"/>
                <a:cs typeface="Calibri"/>
              </a:rPr>
              <a:t>than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frequency</a:t>
            </a:r>
            <a:endParaRPr sz="2400">
              <a:latin typeface="Calibri"/>
              <a:cs typeface="Calibri"/>
            </a:endParaRPr>
          </a:p>
          <a:p>
            <a:pPr marL="189230" marR="5080" indent="-177165">
              <a:lnSpc>
                <a:spcPct val="80000"/>
              </a:lnSpc>
              <a:spcBef>
                <a:spcPts val="15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5" dirty="0">
                <a:latin typeface="Calibri"/>
                <a:cs typeface="Calibri"/>
              </a:rPr>
              <a:t>Digital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sources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timeshared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link</a:t>
            </a:r>
            <a:endParaRPr sz="2800">
              <a:latin typeface="Calibri"/>
              <a:cs typeface="Calibri"/>
            </a:endParaRPr>
          </a:p>
          <a:p>
            <a:pPr marL="189230" marR="44450" indent="-177165">
              <a:lnSpc>
                <a:spcPts val="2690"/>
              </a:lnSpc>
              <a:spcBef>
                <a:spcPts val="138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800" spc="-10" dirty="0">
                <a:latin typeface="Calibri"/>
                <a:cs typeface="Calibri"/>
              </a:rPr>
              <a:t>Analog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sampled,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changed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digital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data,</a:t>
            </a:r>
            <a:r>
              <a:rPr sz="2800" spc="-5" dirty="0">
                <a:latin typeface="Calibri"/>
                <a:cs typeface="Calibri"/>
              </a:rPr>
              <a:t> and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multiplexed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TDM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57932" y="7058621"/>
            <a:ext cx="28257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105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9370">
                <a:lnSpc>
                  <a:spcPts val="1105"/>
                </a:lnSpc>
              </a:pPr>
              <a:t>102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1595627"/>
            <a:ext cx="8778240" cy="21590"/>
          </a:xfrm>
          <a:custGeom>
            <a:avLst/>
            <a:gdLst/>
            <a:ahLst/>
            <a:cxnLst/>
            <a:rect l="l" t="t" r="r" b="b"/>
            <a:pathLst>
              <a:path w="8778240" h="21590">
                <a:moveTo>
                  <a:pt x="8778239" y="0"/>
                </a:moveTo>
                <a:lnTo>
                  <a:pt x="0" y="7620"/>
                </a:lnTo>
                <a:lnTo>
                  <a:pt x="0" y="21336"/>
                </a:lnTo>
                <a:lnTo>
                  <a:pt x="8778239" y="12191"/>
                </a:lnTo>
                <a:lnTo>
                  <a:pt x="87782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242" y="664709"/>
            <a:ext cx="74529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45" dirty="0">
                <a:solidFill>
                  <a:srgbClr val="000000"/>
                </a:solidFill>
              </a:rPr>
              <a:t>Conceptual</a:t>
            </a:r>
            <a:r>
              <a:rPr u="none" spc="-155" dirty="0">
                <a:solidFill>
                  <a:srgbClr val="000000"/>
                </a:solidFill>
              </a:rPr>
              <a:t> </a:t>
            </a:r>
            <a:r>
              <a:rPr u="none" spc="-65" dirty="0">
                <a:solidFill>
                  <a:srgbClr val="000000"/>
                </a:solidFill>
              </a:rPr>
              <a:t>View</a:t>
            </a:r>
            <a:r>
              <a:rPr u="none" spc="-135" dirty="0">
                <a:solidFill>
                  <a:srgbClr val="000000"/>
                </a:solidFill>
              </a:rPr>
              <a:t> </a:t>
            </a:r>
            <a:r>
              <a:rPr u="none" spc="-25" dirty="0">
                <a:solidFill>
                  <a:srgbClr val="000000"/>
                </a:solidFill>
              </a:rPr>
              <a:t>of</a:t>
            </a:r>
            <a:r>
              <a:rPr u="none" spc="-220" dirty="0">
                <a:solidFill>
                  <a:srgbClr val="000000"/>
                </a:solidFill>
              </a:rPr>
              <a:t> </a:t>
            </a:r>
            <a:r>
              <a:rPr u="none" spc="-35" dirty="0">
                <a:solidFill>
                  <a:srgbClr val="000000"/>
                </a:solidFill>
              </a:rPr>
              <a:t>TDM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48739" y="1824227"/>
            <a:ext cx="4457700" cy="2106295"/>
            <a:chOff x="1348739" y="1824227"/>
            <a:chExt cx="4457700" cy="21062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999" y="2590800"/>
              <a:ext cx="230124" cy="4587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20283" y="2577083"/>
              <a:ext cx="257810" cy="486409"/>
            </a:xfrm>
            <a:custGeom>
              <a:avLst/>
              <a:gdLst/>
              <a:ahLst/>
              <a:cxnLst/>
              <a:rect l="l" t="t" r="r" b="b"/>
              <a:pathLst>
                <a:path w="257810" h="486410">
                  <a:moveTo>
                    <a:pt x="257555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257555" y="486156"/>
                  </a:lnTo>
                  <a:lnTo>
                    <a:pt x="257555" y="470916"/>
                  </a:lnTo>
                  <a:lnTo>
                    <a:pt x="28956" y="470916"/>
                  </a:lnTo>
                  <a:lnTo>
                    <a:pt x="13716" y="457200"/>
                  </a:lnTo>
                  <a:lnTo>
                    <a:pt x="28956" y="457200"/>
                  </a:lnTo>
                  <a:lnTo>
                    <a:pt x="28956" y="28956"/>
                  </a:lnTo>
                  <a:lnTo>
                    <a:pt x="13716" y="28956"/>
                  </a:lnTo>
                  <a:lnTo>
                    <a:pt x="28956" y="13716"/>
                  </a:lnTo>
                  <a:lnTo>
                    <a:pt x="257555" y="13716"/>
                  </a:lnTo>
                  <a:lnTo>
                    <a:pt x="257555" y="0"/>
                  </a:lnTo>
                  <a:close/>
                </a:path>
                <a:path w="257810" h="486410">
                  <a:moveTo>
                    <a:pt x="28956" y="457200"/>
                  </a:moveTo>
                  <a:lnTo>
                    <a:pt x="13716" y="457200"/>
                  </a:lnTo>
                  <a:lnTo>
                    <a:pt x="28956" y="470916"/>
                  </a:lnTo>
                  <a:lnTo>
                    <a:pt x="28956" y="457200"/>
                  </a:lnTo>
                  <a:close/>
                </a:path>
                <a:path w="257810" h="486410">
                  <a:moveTo>
                    <a:pt x="228599" y="457200"/>
                  </a:moveTo>
                  <a:lnTo>
                    <a:pt x="28956" y="457200"/>
                  </a:lnTo>
                  <a:lnTo>
                    <a:pt x="28956" y="470916"/>
                  </a:lnTo>
                  <a:lnTo>
                    <a:pt x="228599" y="470916"/>
                  </a:lnTo>
                  <a:lnTo>
                    <a:pt x="228599" y="457200"/>
                  </a:lnTo>
                  <a:close/>
                </a:path>
                <a:path w="257810" h="486410">
                  <a:moveTo>
                    <a:pt x="228599" y="13716"/>
                  </a:moveTo>
                  <a:lnTo>
                    <a:pt x="228599" y="470916"/>
                  </a:lnTo>
                  <a:lnTo>
                    <a:pt x="242315" y="457200"/>
                  </a:lnTo>
                  <a:lnTo>
                    <a:pt x="257555" y="457200"/>
                  </a:lnTo>
                  <a:lnTo>
                    <a:pt x="257555" y="28956"/>
                  </a:lnTo>
                  <a:lnTo>
                    <a:pt x="242315" y="28956"/>
                  </a:lnTo>
                  <a:lnTo>
                    <a:pt x="228599" y="13716"/>
                  </a:lnTo>
                  <a:close/>
                </a:path>
                <a:path w="257810" h="486410">
                  <a:moveTo>
                    <a:pt x="257555" y="457200"/>
                  </a:moveTo>
                  <a:lnTo>
                    <a:pt x="242315" y="457200"/>
                  </a:lnTo>
                  <a:lnTo>
                    <a:pt x="228599" y="470916"/>
                  </a:lnTo>
                  <a:lnTo>
                    <a:pt x="257555" y="470916"/>
                  </a:lnTo>
                  <a:lnTo>
                    <a:pt x="257555" y="457200"/>
                  </a:lnTo>
                  <a:close/>
                </a:path>
                <a:path w="257810" h="486410">
                  <a:moveTo>
                    <a:pt x="28956" y="13716"/>
                  </a:moveTo>
                  <a:lnTo>
                    <a:pt x="13716" y="28956"/>
                  </a:lnTo>
                  <a:lnTo>
                    <a:pt x="28956" y="28956"/>
                  </a:lnTo>
                  <a:lnTo>
                    <a:pt x="28956" y="13716"/>
                  </a:lnTo>
                  <a:close/>
                </a:path>
                <a:path w="257810" h="486410">
                  <a:moveTo>
                    <a:pt x="228599" y="13716"/>
                  </a:moveTo>
                  <a:lnTo>
                    <a:pt x="28956" y="13716"/>
                  </a:lnTo>
                  <a:lnTo>
                    <a:pt x="28956" y="28956"/>
                  </a:lnTo>
                  <a:lnTo>
                    <a:pt x="228599" y="28956"/>
                  </a:lnTo>
                  <a:lnTo>
                    <a:pt x="228599" y="13716"/>
                  </a:lnTo>
                  <a:close/>
                </a:path>
                <a:path w="257810" h="486410">
                  <a:moveTo>
                    <a:pt x="257555" y="13716"/>
                  </a:moveTo>
                  <a:lnTo>
                    <a:pt x="228599" y="13716"/>
                  </a:lnTo>
                  <a:lnTo>
                    <a:pt x="242315" y="28956"/>
                  </a:lnTo>
                  <a:lnTo>
                    <a:pt x="257555" y="28956"/>
                  </a:lnTo>
                  <a:lnTo>
                    <a:pt x="257555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399" y="2590800"/>
              <a:ext cx="230124" cy="45872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91683" y="2577083"/>
              <a:ext cx="257810" cy="486409"/>
            </a:xfrm>
            <a:custGeom>
              <a:avLst/>
              <a:gdLst/>
              <a:ahLst/>
              <a:cxnLst/>
              <a:rect l="l" t="t" r="r" b="b"/>
              <a:pathLst>
                <a:path w="257810" h="486410">
                  <a:moveTo>
                    <a:pt x="257556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257556" y="486156"/>
                  </a:lnTo>
                  <a:lnTo>
                    <a:pt x="257556" y="470916"/>
                  </a:lnTo>
                  <a:lnTo>
                    <a:pt x="28956" y="470916"/>
                  </a:lnTo>
                  <a:lnTo>
                    <a:pt x="13716" y="457200"/>
                  </a:lnTo>
                  <a:lnTo>
                    <a:pt x="28956" y="457200"/>
                  </a:lnTo>
                  <a:lnTo>
                    <a:pt x="28956" y="28956"/>
                  </a:lnTo>
                  <a:lnTo>
                    <a:pt x="13716" y="28956"/>
                  </a:lnTo>
                  <a:lnTo>
                    <a:pt x="28956" y="13716"/>
                  </a:lnTo>
                  <a:lnTo>
                    <a:pt x="257556" y="13716"/>
                  </a:lnTo>
                  <a:lnTo>
                    <a:pt x="257556" y="0"/>
                  </a:lnTo>
                  <a:close/>
                </a:path>
                <a:path w="257810" h="486410">
                  <a:moveTo>
                    <a:pt x="28956" y="457200"/>
                  </a:moveTo>
                  <a:lnTo>
                    <a:pt x="13716" y="457200"/>
                  </a:lnTo>
                  <a:lnTo>
                    <a:pt x="28956" y="470916"/>
                  </a:lnTo>
                  <a:lnTo>
                    <a:pt x="28956" y="457200"/>
                  </a:lnTo>
                  <a:close/>
                </a:path>
                <a:path w="257810" h="486410">
                  <a:moveTo>
                    <a:pt x="228600" y="457200"/>
                  </a:moveTo>
                  <a:lnTo>
                    <a:pt x="28956" y="457200"/>
                  </a:lnTo>
                  <a:lnTo>
                    <a:pt x="28956" y="470916"/>
                  </a:lnTo>
                  <a:lnTo>
                    <a:pt x="228600" y="470916"/>
                  </a:lnTo>
                  <a:lnTo>
                    <a:pt x="228600" y="457200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28600" y="470916"/>
                  </a:lnTo>
                  <a:lnTo>
                    <a:pt x="242316" y="457200"/>
                  </a:lnTo>
                  <a:lnTo>
                    <a:pt x="257556" y="457200"/>
                  </a:lnTo>
                  <a:lnTo>
                    <a:pt x="257556" y="28956"/>
                  </a:lnTo>
                  <a:lnTo>
                    <a:pt x="242316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457200"/>
                  </a:moveTo>
                  <a:lnTo>
                    <a:pt x="242316" y="457200"/>
                  </a:lnTo>
                  <a:lnTo>
                    <a:pt x="228600" y="470916"/>
                  </a:lnTo>
                  <a:lnTo>
                    <a:pt x="257556" y="470916"/>
                  </a:lnTo>
                  <a:lnTo>
                    <a:pt x="257556" y="457200"/>
                  </a:lnTo>
                  <a:close/>
                </a:path>
                <a:path w="257810" h="486410">
                  <a:moveTo>
                    <a:pt x="28956" y="13716"/>
                  </a:moveTo>
                  <a:lnTo>
                    <a:pt x="13716" y="28956"/>
                  </a:lnTo>
                  <a:lnTo>
                    <a:pt x="28956" y="28956"/>
                  </a:lnTo>
                  <a:lnTo>
                    <a:pt x="28956" y="13716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8956" y="13716"/>
                  </a:lnTo>
                  <a:lnTo>
                    <a:pt x="28956" y="28956"/>
                  </a:lnTo>
                  <a:lnTo>
                    <a:pt x="228600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13716"/>
                  </a:moveTo>
                  <a:lnTo>
                    <a:pt x="228600" y="13716"/>
                  </a:lnTo>
                  <a:lnTo>
                    <a:pt x="242316" y="28956"/>
                  </a:lnTo>
                  <a:lnTo>
                    <a:pt x="257556" y="28956"/>
                  </a:lnTo>
                  <a:lnTo>
                    <a:pt x="257556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2599" y="2590800"/>
              <a:ext cx="230124" cy="4587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548883" y="2577083"/>
              <a:ext cx="257810" cy="486409"/>
            </a:xfrm>
            <a:custGeom>
              <a:avLst/>
              <a:gdLst/>
              <a:ahLst/>
              <a:cxnLst/>
              <a:rect l="l" t="t" r="r" b="b"/>
              <a:pathLst>
                <a:path w="257810" h="486410">
                  <a:moveTo>
                    <a:pt x="257556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257556" y="486156"/>
                  </a:lnTo>
                  <a:lnTo>
                    <a:pt x="257556" y="470916"/>
                  </a:lnTo>
                  <a:lnTo>
                    <a:pt x="28956" y="470916"/>
                  </a:lnTo>
                  <a:lnTo>
                    <a:pt x="13716" y="457200"/>
                  </a:lnTo>
                  <a:lnTo>
                    <a:pt x="28956" y="457200"/>
                  </a:lnTo>
                  <a:lnTo>
                    <a:pt x="28956" y="28956"/>
                  </a:lnTo>
                  <a:lnTo>
                    <a:pt x="13716" y="28956"/>
                  </a:lnTo>
                  <a:lnTo>
                    <a:pt x="28956" y="13716"/>
                  </a:lnTo>
                  <a:lnTo>
                    <a:pt x="257556" y="13716"/>
                  </a:lnTo>
                  <a:lnTo>
                    <a:pt x="257556" y="0"/>
                  </a:lnTo>
                  <a:close/>
                </a:path>
                <a:path w="257810" h="486410">
                  <a:moveTo>
                    <a:pt x="28956" y="457200"/>
                  </a:moveTo>
                  <a:lnTo>
                    <a:pt x="13716" y="457200"/>
                  </a:lnTo>
                  <a:lnTo>
                    <a:pt x="28956" y="470916"/>
                  </a:lnTo>
                  <a:lnTo>
                    <a:pt x="28956" y="457200"/>
                  </a:lnTo>
                  <a:close/>
                </a:path>
                <a:path w="257810" h="486410">
                  <a:moveTo>
                    <a:pt x="228600" y="457200"/>
                  </a:moveTo>
                  <a:lnTo>
                    <a:pt x="28956" y="457200"/>
                  </a:lnTo>
                  <a:lnTo>
                    <a:pt x="28956" y="470916"/>
                  </a:lnTo>
                  <a:lnTo>
                    <a:pt x="228600" y="470916"/>
                  </a:lnTo>
                  <a:lnTo>
                    <a:pt x="228600" y="457200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28600" y="470916"/>
                  </a:lnTo>
                  <a:lnTo>
                    <a:pt x="242316" y="457200"/>
                  </a:lnTo>
                  <a:lnTo>
                    <a:pt x="257556" y="457200"/>
                  </a:lnTo>
                  <a:lnTo>
                    <a:pt x="257556" y="28956"/>
                  </a:lnTo>
                  <a:lnTo>
                    <a:pt x="242316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457200"/>
                  </a:moveTo>
                  <a:lnTo>
                    <a:pt x="242316" y="457200"/>
                  </a:lnTo>
                  <a:lnTo>
                    <a:pt x="228600" y="470916"/>
                  </a:lnTo>
                  <a:lnTo>
                    <a:pt x="257556" y="470916"/>
                  </a:lnTo>
                  <a:lnTo>
                    <a:pt x="257556" y="457200"/>
                  </a:lnTo>
                  <a:close/>
                </a:path>
                <a:path w="257810" h="486410">
                  <a:moveTo>
                    <a:pt x="28956" y="13716"/>
                  </a:moveTo>
                  <a:lnTo>
                    <a:pt x="13716" y="28956"/>
                  </a:lnTo>
                  <a:lnTo>
                    <a:pt x="28956" y="28956"/>
                  </a:lnTo>
                  <a:lnTo>
                    <a:pt x="28956" y="13716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8956" y="13716"/>
                  </a:lnTo>
                  <a:lnTo>
                    <a:pt x="28956" y="28956"/>
                  </a:lnTo>
                  <a:lnTo>
                    <a:pt x="228600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13716"/>
                  </a:moveTo>
                  <a:lnTo>
                    <a:pt x="228600" y="13716"/>
                  </a:lnTo>
                  <a:lnTo>
                    <a:pt x="242316" y="28956"/>
                  </a:lnTo>
                  <a:lnTo>
                    <a:pt x="257556" y="28956"/>
                  </a:lnTo>
                  <a:lnTo>
                    <a:pt x="257556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8739" y="1824227"/>
              <a:ext cx="2385059" cy="21061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3987" y="26669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273050"/>
                  </a:moveTo>
                  <a:lnTo>
                    <a:pt x="300228" y="273050"/>
                  </a:lnTo>
                  <a:lnTo>
                    <a:pt x="300228" y="238760"/>
                  </a:lnTo>
                  <a:lnTo>
                    <a:pt x="345948" y="238760"/>
                  </a:lnTo>
                  <a:lnTo>
                    <a:pt x="345948" y="0"/>
                  </a:lnTo>
                  <a:lnTo>
                    <a:pt x="36576" y="0"/>
                  </a:lnTo>
                  <a:lnTo>
                    <a:pt x="36576" y="238760"/>
                  </a:lnTo>
                  <a:lnTo>
                    <a:pt x="82296" y="238760"/>
                  </a:lnTo>
                  <a:lnTo>
                    <a:pt x="82296" y="239268"/>
                  </a:lnTo>
                  <a:lnTo>
                    <a:pt x="82296" y="271272"/>
                  </a:lnTo>
                  <a:lnTo>
                    <a:pt x="82296" y="273050"/>
                  </a:lnTo>
                  <a:lnTo>
                    <a:pt x="0" y="27305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273050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17891" y="2660903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69" h="394969">
                  <a:moveTo>
                    <a:pt x="312420" y="39624"/>
                  </a:moveTo>
                  <a:lnTo>
                    <a:pt x="300228" y="39624"/>
                  </a:lnTo>
                  <a:lnTo>
                    <a:pt x="300228" y="53340"/>
                  </a:lnTo>
                  <a:lnTo>
                    <a:pt x="300228" y="199644"/>
                  </a:lnTo>
                  <a:lnTo>
                    <a:pt x="94488" y="199644"/>
                  </a:lnTo>
                  <a:lnTo>
                    <a:pt x="94488" y="53340"/>
                  </a:lnTo>
                  <a:lnTo>
                    <a:pt x="300228" y="53340"/>
                  </a:lnTo>
                  <a:lnTo>
                    <a:pt x="300228" y="39624"/>
                  </a:lnTo>
                  <a:lnTo>
                    <a:pt x="82296" y="39624"/>
                  </a:lnTo>
                  <a:lnTo>
                    <a:pt x="82296" y="205740"/>
                  </a:lnTo>
                  <a:lnTo>
                    <a:pt x="88392" y="205740"/>
                  </a:lnTo>
                  <a:lnTo>
                    <a:pt x="88392" y="211836"/>
                  </a:lnTo>
                  <a:lnTo>
                    <a:pt x="312420" y="211836"/>
                  </a:lnTo>
                  <a:lnTo>
                    <a:pt x="312420" y="205740"/>
                  </a:lnTo>
                  <a:lnTo>
                    <a:pt x="312420" y="199644"/>
                  </a:lnTo>
                  <a:lnTo>
                    <a:pt x="312420" y="53340"/>
                  </a:lnTo>
                  <a:lnTo>
                    <a:pt x="312420" y="47244"/>
                  </a:lnTo>
                  <a:lnTo>
                    <a:pt x="312420" y="39624"/>
                  </a:lnTo>
                  <a:close/>
                </a:path>
                <a:path w="394969" h="394969">
                  <a:moveTo>
                    <a:pt x="368808" y="289560"/>
                  </a:moveTo>
                  <a:lnTo>
                    <a:pt x="246888" y="289560"/>
                  </a:lnTo>
                  <a:lnTo>
                    <a:pt x="246888" y="307848"/>
                  </a:lnTo>
                  <a:lnTo>
                    <a:pt x="252984" y="307848"/>
                  </a:lnTo>
                  <a:lnTo>
                    <a:pt x="252984" y="313944"/>
                  </a:lnTo>
                  <a:lnTo>
                    <a:pt x="368808" y="313944"/>
                  </a:lnTo>
                  <a:lnTo>
                    <a:pt x="368808" y="307848"/>
                  </a:lnTo>
                  <a:lnTo>
                    <a:pt x="368808" y="295656"/>
                  </a:lnTo>
                  <a:lnTo>
                    <a:pt x="368808" y="289560"/>
                  </a:lnTo>
                  <a:close/>
                </a:path>
                <a:path w="394969" h="394969">
                  <a:moveTo>
                    <a:pt x="394716" y="271272"/>
                  </a:moveTo>
                  <a:lnTo>
                    <a:pt x="381000" y="271272"/>
                  </a:lnTo>
                  <a:lnTo>
                    <a:pt x="381000" y="284988"/>
                  </a:lnTo>
                  <a:lnTo>
                    <a:pt x="381000" y="381000"/>
                  </a:lnTo>
                  <a:lnTo>
                    <a:pt x="13716" y="381000"/>
                  </a:lnTo>
                  <a:lnTo>
                    <a:pt x="13716" y="284988"/>
                  </a:lnTo>
                  <a:lnTo>
                    <a:pt x="88392" y="284988"/>
                  </a:lnTo>
                  <a:lnTo>
                    <a:pt x="94488" y="284988"/>
                  </a:lnTo>
                  <a:lnTo>
                    <a:pt x="300228" y="284988"/>
                  </a:lnTo>
                  <a:lnTo>
                    <a:pt x="312420" y="284988"/>
                  </a:lnTo>
                  <a:lnTo>
                    <a:pt x="381000" y="284988"/>
                  </a:lnTo>
                  <a:lnTo>
                    <a:pt x="381000" y="271272"/>
                  </a:lnTo>
                  <a:lnTo>
                    <a:pt x="312420" y="271272"/>
                  </a:lnTo>
                  <a:lnTo>
                    <a:pt x="312420" y="251460"/>
                  </a:lnTo>
                  <a:lnTo>
                    <a:pt x="358140" y="251460"/>
                  </a:lnTo>
                  <a:lnTo>
                    <a:pt x="358140" y="239268"/>
                  </a:lnTo>
                  <a:lnTo>
                    <a:pt x="358140" y="13716"/>
                  </a:lnTo>
                  <a:lnTo>
                    <a:pt x="358140" y="6096"/>
                  </a:lnTo>
                  <a:lnTo>
                    <a:pt x="358140" y="0"/>
                  </a:lnTo>
                  <a:lnTo>
                    <a:pt x="344424" y="0"/>
                  </a:lnTo>
                  <a:lnTo>
                    <a:pt x="344424" y="13716"/>
                  </a:lnTo>
                  <a:lnTo>
                    <a:pt x="344424" y="239268"/>
                  </a:lnTo>
                  <a:lnTo>
                    <a:pt x="312420" y="239268"/>
                  </a:lnTo>
                  <a:lnTo>
                    <a:pt x="300228" y="239268"/>
                  </a:lnTo>
                  <a:lnTo>
                    <a:pt x="300228" y="251460"/>
                  </a:lnTo>
                  <a:lnTo>
                    <a:pt x="300228" y="271272"/>
                  </a:lnTo>
                  <a:lnTo>
                    <a:pt x="94488" y="271272"/>
                  </a:lnTo>
                  <a:lnTo>
                    <a:pt x="94488" y="251460"/>
                  </a:lnTo>
                  <a:lnTo>
                    <a:pt x="300228" y="251460"/>
                  </a:lnTo>
                  <a:lnTo>
                    <a:pt x="300228" y="239268"/>
                  </a:lnTo>
                  <a:lnTo>
                    <a:pt x="94488" y="239268"/>
                  </a:lnTo>
                  <a:lnTo>
                    <a:pt x="82296" y="239268"/>
                  </a:lnTo>
                  <a:lnTo>
                    <a:pt x="50292" y="239268"/>
                  </a:lnTo>
                  <a:lnTo>
                    <a:pt x="50292" y="13716"/>
                  </a:lnTo>
                  <a:lnTo>
                    <a:pt x="344424" y="13716"/>
                  </a:lnTo>
                  <a:lnTo>
                    <a:pt x="344424" y="0"/>
                  </a:lnTo>
                  <a:lnTo>
                    <a:pt x="36576" y="0"/>
                  </a:lnTo>
                  <a:lnTo>
                    <a:pt x="36576" y="251460"/>
                  </a:lnTo>
                  <a:lnTo>
                    <a:pt x="82296" y="251460"/>
                  </a:lnTo>
                  <a:lnTo>
                    <a:pt x="82296" y="271272"/>
                  </a:lnTo>
                  <a:lnTo>
                    <a:pt x="0" y="271272"/>
                  </a:lnTo>
                  <a:lnTo>
                    <a:pt x="0" y="394716"/>
                  </a:lnTo>
                  <a:lnTo>
                    <a:pt x="394716" y="394716"/>
                  </a:lnTo>
                  <a:lnTo>
                    <a:pt x="394716" y="387096"/>
                  </a:lnTo>
                  <a:lnTo>
                    <a:pt x="394716" y="381000"/>
                  </a:lnTo>
                  <a:lnTo>
                    <a:pt x="394716" y="284988"/>
                  </a:lnTo>
                  <a:lnTo>
                    <a:pt x="394716" y="271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85331" y="2379979"/>
            <a:ext cx="220979" cy="83311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6830" marR="5080" indent="-24765" algn="just">
              <a:lnSpc>
                <a:spcPct val="97200"/>
              </a:lnSpc>
              <a:spcBef>
                <a:spcPts val="160"/>
              </a:spcBef>
            </a:pPr>
            <a:r>
              <a:rPr sz="1800" dirty="0">
                <a:latin typeface="Calibri"/>
                <a:cs typeface="Calibri"/>
              </a:rPr>
              <a:t>M  U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0939" y="244093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0939" y="312673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20083" y="2577083"/>
            <a:ext cx="1400810" cy="486409"/>
            <a:chOff x="3720083" y="2577083"/>
            <a:chExt cx="1400810" cy="486409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199" y="2590799"/>
              <a:ext cx="230124" cy="45872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34483" y="2577083"/>
              <a:ext cx="257810" cy="486409"/>
            </a:xfrm>
            <a:custGeom>
              <a:avLst/>
              <a:gdLst/>
              <a:ahLst/>
              <a:cxnLst/>
              <a:rect l="l" t="t" r="r" b="b"/>
              <a:pathLst>
                <a:path w="257810" h="486410">
                  <a:moveTo>
                    <a:pt x="257555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257555" y="486156"/>
                  </a:lnTo>
                  <a:lnTo>
                    <a:pt x="257555" y="470916"/>
                  </a:lnTo>
                  <a:lnTo>
                    <a:pt x="28956" y="470916"/>
                  </a:lnTo>
                  <a:lnTo>
                    <a:pt x="13716" y="457200"/>
                  </a:lnTo>
                  <a:lnTo>
                    <a:pt x="28956" y="457200"/>
                  </a:lnTo>
                  <a:lnTo>
                    <a:pt x="28956" y="28956"/>
                  </a:lnTo>
                  <a:lnTo>
                    <a:pt x="13716" y="28956"/>
                  </a:lnTo>
                  <a:lnTo>
                    <a:pt x="28956" y="13716"/>
                  </a:lnTo>
                  <a:lnTo>
                    <a:pt x="257555" y="13716"/>
                  </a:lnTo>
                  <a:lnTo>
                    <a:pt x="257555" y="0"/>
                  </a:lnTo>
                  <a:close/>
                </a:path>
                <a:path w="257810" h="486410">
                  <a:moveTo>
                    <a:pt x="28956" y="457200"/>
                  </a:moveTo>
                  <a:lnTo>
                    <a:pt x="13716" y="457200"/>
                  </a:lnTo>
                  <a:lnTo>
                    <a:pt x="28956" y="470916"/>
                  </a:lnTo>
                  <a:lnTo>
                    <a:pt x="28956" y="457200"/>
                  </a:lnTo>
                  <a:close/>
                </a:path>
                <a:path w="257810" h="486410">
                  <a:moveTo>
                    <a:pt x="228599" y="457200"/>
                  </a:moveTo>
                  <a:lnTo>
                    <a:pt x="28956" y="457200"/>
                  </a:lnTo>
                  <a:lnTo>
                    <a:pt x="28956" y="470916"/>
                  </a:lnTo>
                  <a:lnTo>
                    <a:pt x="228599" y="470916"/>
                  </a:lnTo>
                  <a:lnTo>
                    <a:pt x="228599" y="457200"/>
                  </a:lnTo>
                  <a:close/>
                </a:path>
                <a:path w="257810" h="486410">
                  <a:moveTo>
                    <a:pt x="228599" y="13716"/>
                  </a:moveTo>
                  <a:lnTo>
                    <a:pt x="228599" y="470916"/>
                  </a:lnTo>
                  <a:lnTo>
                    <a:pt x="242315" y="457200"/>
                  </a:lnTo>
                  <a:lnTo>
                    <a:pt x="257555" y="457200"/>
                  </a:lnTo>
                  <a:lnTo>
                    <a:pt x="257555" y="28956"/>
                  </a:lnTo>
                  <a:lnTo>
                    <a:pt x="242315" y="28956"/>
                  </a:lnTo>
                  <a:lnTo>
                    <a:pt x="228599" y="13716"/>
                  </a:lnTo>
                  <a:close/>
                </a:path>
                <a:path w="257810" h="486410">
                  <a:moveTo>
                    <a:pt x="257555" y="457200"/>
                  </a:moveTo>
                  <a:lnTo>
                    <a:pt x="242315" y="457200"/>
                  </a:lnTo>
                  <a:lnTo>
                    <a:pt x="228599" y="470916"/>
                  </a:lnTo>
                  <a:lnTo>
                    <a:pt x="257555" y="470916"/>
                  </a:lnTo>
                  <a:lnTo>
                    <a:pt x="257555" y="457200"/>
                  </a:lnTo>
                  <a:close/>
                </a:path>
                <a:path w="257810" h="486410">
                  <a:moveTo>
                    <a:pt x="28956" y="13716"/>
                  </a:moveTo>
                  <a:lnTo>
                    <a:pt x="13716" y="28956"/>
                  </a:lnTo>
                  <a:lnTo>
                    <a:pt x="28956" y="28956"/>
                  </a:lnTo>
                  <a:lnTo>
                    <a:pt x="28956" y="13716"/>
                  </a:lnTo>
                  <a:close/>
                </a:path>
                <a:path w="257810" h="486410">
                  <a:moveTo>
                    <a:pt x="228599" y="13716"/>
                  </a:moveTo>
                  <a:lnTo>
                    <a:pt x="28956" y="13716"/>
                  </a:lnTo>
                  <a:lnTo>
                    <a:pt x="28956" y="28956"/>
                  </a:lnTo>
                  <a:lnTo>
                    <a:pt x="228599" y="28956"/>
                  </a:lnTo>
                  <a:lnTo>
                    <a:pt x="228599" y="13716"/>
                  </a:lnTo>
                  <a:close/>
                </a:path>
                <a:path w="257810" h="486410">
                  <a:moveTo>
                    <a:pt x="257555" y="13716"/>
                  </a:moveTo>
                  <a:lnTo>
                    <a:pt x="228599" y="13716"/>
                  </a:lnTo>
                  <a:lnTo>
                    <a:pt x="242315" y="28956"/>
                  </a:lnTo>
                  <a:lnTo>
                    <a:pt x="257555" y="28956"/>
                  </a:lnTo>
                  <a:lnTo>
                    <a:pt x="257555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9599" y="2590799"/>
              <a:ext cx="230124" cy="45872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405883" y="2577083"/>
              <a:ext cx="257810" cy="486409"/>
            </a:xfrm>
            <a:custGeom>
              <a:avLst/>
              <a:gdLst/>
              <a:ahLst/>
              <a:cxnLst/>
              <a:rect l="l" t="t" r="r" b="b"/>
              <a:pathLst>
                <a:path w="257810" h="486410">
                  <a:moveTo>
                    <a:pt x="257556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257556" y="486156"/>
                  </a:lnTo>
                  <a:lnTo>
                    <a:pt x="257556" y="470916"/>
                  </a:lnTo>
                  <a:lnTo>
                    <a:pt x="28956" y="470916"/>
                  </a:lnTo>
                  <a:lnTo>
                    <a:pt x="13716" y="457200"/>
                  </a:lnTo>
                  <a:lnTo>
                    <a:pt x="28956" y="457200"/>
                  </a:lnTo>
                  <a:lnTo>
                    <a:pt x="28956" y="28956"/>
                  </a:lnTo>
                  <a:lnTo>
                    <a:pt x="13716" y="28956"/>
                  </a:lnTo>
                  <a:lnTo>
                    <a:pt x="28956" y="13716"/>
                  </a:lnTo>
                  <a:lnTo>
                    <a:pt x="257556" y="13716"/>
                  </a:lnTo>
                  <a:lnTo>
                    <a:pt x="257556" y="0"/>
                  </a:lnTo>
                  <a:close/>
                </a:path>
                <a:path w="257810" h="486410">
                  <a:moveTo>
                    <a:pt x="28956" y="457200"/>
                  </a:moveTo>
                  <a:lnTo>
                    <a:pt x="13716" y="457200"/>
                  </a:lnTo>
                  <a:lnTo>
                    <a:pt x="28956" y="470916"/>
                  </a:lnTo>
                  <a:lnTo>
                    <a:pt x="28956" y="457200"/>
                  </a:lnTo>
                  <a:close/>
                </a:path>
                <a:path w="257810" h="486410">
                  <a:moveTo>
                    <a:pt x="228600" y="457200"/>
                  </a:moveTo>
                  <a:lnTo>
                    <a:pt x="28956" y="457200"/>
                  </a:lnTo>
                  <a:lnTo>
                    <a:pt x="28956" y="470916"/>
                  </a:lnTo>
                  <a:lnTo>
                    <a:pt x="228600" y="470916"/>
                  </a:lnTo>
                  <a:lnTo>
                    <a:pt x="228600" y="457200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28600" y="470916"/>
                  </a:lnTo>
                  <a:lnTo>
                    <a:pt x="242316" y="457200"/>
                  </a:lnTo>
                  <a:lnTo>
                    <a:pt x="257556" y="457200"/>
                  </a:lnTo>
                  <a:lnTo>
                    <a:pt x="257556" y="28956"/>
                  </a:lnTo>
                  <a:lnTo>
                    <a:pt x="242316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457200"/>
                  </a:moveTo>
                  <a:lnTo>
                    <a:pt x="242316" y="457200"/>
                  </a:lnTo>
                  <a:lnTo>
                    <a:pt x="228600" y="470916"/>
                  </a:lnTo>
                  <a:lnTo>
                    <a:pt x="257556" y="470916"/>
                  </a:lnTo>
                  <a:lnTo>
                    <a:pt x="257556" y="457200"/>
                  </a:lnTo>
                  <a:close/>
                </a:path>
                <a:path w="257810" h="486410">
                  <a:moveTo>
                    <a:pt x="28956" y="13716"/>
                  </a:moveTo>
                  <a:lnTo>
                    <a:pt x="13716" y="28956"/>
                  </a:lnTo>
                  <a:lnTo>
                    <a:pt x="28956" y="28956"/>
                  </a:lnTo>
                  <a:lnTo>
                    <a:pt x="28956" y="13716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8956" y="13716"/>
                  </a:lnTo>
                  <a:lnTo>
                    <a:pt x="28956" y="28956"/>
                  </a:lnTo>
                  <a:lnTo>
                    <a:pt x="228600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13716"/>
                  </a:moveTo>
                  <a:lnTo>
                    <a:pt x="228600" y="13716"/>
                  </a:lnTo>
                  <a:lnTo>
                    <a:pt x="242316" y="28956"/>
                  </a:lnTo>
                  <a:lnTo>
                    <a:pt x="257556" y="28956"/>
                  </a:lnTo>
                  <a:lnTo>
                    <a:pt x="257556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799" y="2590799"/>
              <a:ext cx="230124" cy="45872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63083" y="2577083"/>
              <a:ext cx="257810" cy="486409"/>
            </a:xfrm>
            <a:custGeom>
              <a:avLst/>
              <a:gdLst/>
              <a:ahLst/>
              <a:cxnLst/>
              <a:rect l="l" t="t" r="r" b="b"/>
              <a:pathLst>
                <a:path w="257810" h="486410">
                  <a:moveTo>
                    <a:pt x="257556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257556" y="486156"/>
                  </a:lnTo>
                  <a:lnTo>
                    <a:pt x="257556" y="470916"/>
                  </a:lnTo>
                  <a:lnTo>
                    <a:pt x="28956" y="470916"/>
                  </a:lnTo>
                  <a:lnTo>
                    <a:pt x="13716" y="457200"/>
                  </a:lnTo>
                  <a:lnTo>
                    <a:pt x="28956" y="457200"/>
                  </a:lnTo>
                  <a:lnTo>
                    <a:pt x="28956" y="28956"/>
                  </a:lnTo>
                  <a:lnTo>
                    <a:pt x="13716" y="28956"/>
                  </a:lnTo>
                  <a:lnTo>
                    <a:pt x="28956" y="13716"/>
                  </a:lnTo>
                  <a:lnTo>
                    <a:pt x="257556" y="13716"/>
                  </a:lnTo>
                  <a:lnTo>
                    <a:pt x="257556" y="0"/>
                  </a:lnTo>
                  <a:close/>
                </a:path>
                <a:path w="257810" h="486410">
                  <a:moveTo>
                    <a:pt x="28956" y="457200"/>
                  </a:moveTo>
                  <a:lnTo>
                    <a:pt x="13716" y="457200"/>
                  </a:lnTo>
                  <a:lnTo>
                    <a:pt x="28956" y="470916"/>
                  </a:lnTo>
                  <a:lnTo>
                    <a:pt x="28956" y="457200"/>
                  </a:lnTo>
                  <a:close/>
                </a:path>
                <a:path w="257810" h="486410">
                  <a:moveTo>
                    <a:pt x="228600" y="457200"/>
                  </a:moveTo>
                  <a:lnTo>
                    <a:pt x="28956" y="457200"/>
                  </a:lnTo>
                  <a:lnTo>
                    <a:pt x="28956" y="470916"/>
                  </a:lnTo>
                  <a:lnTo>
                    <a:pt x="228600" y="470916"/>
                  </a:lnTo>
                  <a:lnTo>
                    <a:pt x="228600" y="457200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28600" y="470916"/>
                  </a:lnTo>
                  <a:lnTo>
                    <a:pt x="242316" y="457200"/>
                  </a:lnTo>
                  <a:lnTo>
                    <a:pt x="257556" y="457200"/>
                  </a:lnTo>
                  <a:lnTo>
                    <a:pt x="257556" y="28956"/>
                  </a:lnTo>
                  <a:lnTo>
                    <a:pt x="242316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457200"/>
                  </a:moveTo>
                  <a:lnTo>
                    <a:pt x="242316" y="457200"/>
                  </a:lnTo>
                  <a:lnTo>
                    <a:pt x="228600" y="470916"/>
                  </a:lnTo>
                  <a:lnTo>
                    <a:pt x="257556" y="470916"/>
                  </a:lnTo>
                  <a:lnTo>
                    <a:pt x="257556" y="457200"/>
                  </a:lnTo>
                  <a:close/>
                </a:path>
                <a:path w="257810" h="486410">
                  <a:moveTo>
                    <a:pt x="28956" y="13716"/>
                  </a:moveTo>
                  <a:lnTo>
                    <a:pt x="13716" y="28956"/>
                  </a:lnTo>
                  <a:lnTo>
                    <a:pt x="28956" y="28956"/>
                  </a:lnTo>
                  <a:lnTo>
                    <a:pt x="28956" y="13716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8956" y="13716"/>
                  </a:lnTo>
                  <a:lnTo>
                    <a:pt x="28956" y="28956"/>
                  </a:lnTo>
                  <a:lnTo>
                    <a:pt x="228600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13716"/>
                  </a:moveTo>
                  <a:lnTo>
                    <a:pt x="228600" y="13716"/>
                  </a:lnTo>
                  <a:lnTo>
                    <a:pt x="242316" y="28956"/>
                  </a:lnTo>
                  <a:lnTo>
                    <a:pt x="257556" y="28956"/>
                  </a:lnTo>
                  <a:lnTo>
                    <a:pt x="257556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399" y="2590799"/>
              <a:ext cx="230124" cy="45872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948683" y="2577083"/>
              <a:ext cx="257810" cy="486409"/>
            </a:xfrm>
            <a:custGeom>
              <a:avLst/>
              <a:gdLst/>
              <a:ahLst/>
              <a:cxnLst/>
              <a:rect l="l" t="t" r="r" b="b"/>
              <a:pathLst>
                <a:path w="257810" h="486410">
                  <a:moveTo>
                    <a:pt x="257556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257556" y="486156"/>
                  </a:lnTo>
                  <a:lnTo>
                    <a:pt x="257556" y="470916"/>
                  </a:lnTo>
                  <a:lnTo>
                    <a:pt x="28956" y="470916"/>
                  </a:lnTo>
                  <a:lnTo>
                    <a:pt x="13716" y="457200"/>
                  </a:lnTo>
                  <a:lnTo>
                    <a:pt x="28956" y="457200"/>
                  </a:lnTo>
                  <a:lnTo>
                    <a:pt x="28956" y="28956"/>
                  </a:lnTo>
                  <a:lnTo>
                    <a:pt x="13716" y="28956"/>
                  </a:lnTo>
                  <a:lnTo>
                    <a:pt x="28956" y="13716"/>
                  </a:lnTo>
                  <a:lnTo>
                    <a:pt x="257556" y="13716"/>
                  </a:lnTo>
                  <a:lnTo>
                    <a:pt x="257556" y="0"/>
                  </a:lnTo>
                  <a:close/>
                </a:path>
                <a:path w="257810" h="486410">
                  <a:moveTo>
                    <a:pt x="28956" y="457200"/>
                  </a:moveTo>
                  <a:lnTo>
                    <a:pt x="13716" y="457200"/>
                  </a:lnTo>
                  <a:lnTo>
                    <a:pt x="28956" y="470916"/>
                  </a:lnTo>
                  <a:lnTo>
                    <a:pt x="28956" y="457200"/>
                  </a:lnTo>
                  <a:close/>
                </a:path>
                <a:path w="257810" h="486410">
                  <a:moveTo>
                    <a:pt x="228600" y="457200"/>
                  </a:moveTo>
                  <a:lnTo>
                    <a:pt x="28956" y="457200"/>
                  </a:lnTo>
                  <a:lnTo>
                    <a:pt x="28956" y="470916"/>
                  </a:lnTo>
                  <a:lnTo>
                    <a:pt x="228600" y="470916"/>
                  </a:lnTo>
                  <a:lnTo>
                    <a:pt x="228600" y="457200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28600" y="470916"/>
                  </a:lnTo>
                  <a:lnTo>
                    <a:pt x="242316" y="457200"/>
                  </a:lnTo>
                  <a:lnTo>
                    <a:pt x="257556" y="457200"/>
                  </a:lnTo>
                  <a:lnTo>
                    <a:pt x="257556" y="28956"/>
                  </a:lnTo>
                  <a:lnTo>
                    <a:pt x="242316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457200"/>
                  </a:moveTo>
                  <a:lnTo>
                    <a:pt x="242316" y="457200"/>
                  </a:lnTo>
                  <a:lnTo>
                    <a:pt x="228600" y="470916"/>
                  </a:lnTo>
                  <a:lnTo>
                    <a:pt x="257556" y="470916"/>
                  </a:lnTo>
                  <a:lnTo>
                    <a:pt x="257556" y="457200"/>
                  </a:lnTo>
                  <a:close/>
                </a:path>
                <a:path w="257810" h="486410">
                  <a:moveTo>
                    <a:pt x="28956" y="13716"/>
                  </a:moveTo>
                  <a:lnTo>
                    <a:pt x="13716" y="28956"/>
                  </a:lnTo>
                  <a:lnTo>
                    <a:pt x="28956" y="28956"/>
                  </a:lnTo>
                  <a:lnTo>
                    <a:pt x="28956" y="13716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8956" y="13716"/>
                  </a:lnTo>
                  <a:lnTo>
                    <a:pt x="28956" y="28956"/>
                  </a:lnTo>
                  <a:lnTo>
                    <a:pt x="228600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13716"/>
                  </a:moveTo>
                  <a:lnTo>
                    <a:pt x="228600" y="13716"/>
                  </a:lnTo>
                  <a:lnTo>
                    <a:pt x="242316" y="28956"/>
                  </a:lnTo>
                  <a:lnTo>
                    <a:pt x="257556" y="28956"/>
                  </a:lnTo>
                  <a:lnTo>
                    <a:pt x="257556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799" y="2590799"/>
              <a:ext cx="230124" cy="45872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720083" y="2577083"/>
              <a:ext cx="257810" cy="486409"/>
            </a:xfrm>
            <a:custGeom>
              <a:avLst/>
              <a:gdLst/>
              <a:ahLst/>
              <a:cxnLst/>
              <a:rect l="l" t="t" r="r" b="b"/>
              <a:pathLst>
                <a:path w="257810" h="486410">
                  <a:moveTo>
                    <a:pt x="257556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257556" y="486156"/>
                  </a:lnTo>
                  <a:lnTo>
                    <a:pt x="257556" y="470916"/>
                  </a:lnTo>
                  <a:lnTo>
                    <a:pt x="28956" y="470916"/>
                  </a:lnTo>
                  <a:lnTo>
                    <a:pt x="13716" y="457200"/>
                  </a:lnTo>
                  <a:lnTo>
                    <a:pt x="28956" y="457200"/>
                  </a:lnTo>
                  <a:lnTo>
                    <a:pt x="28956" y="28956"/>
                  </a:lnTo>
                  <a:lnTo>
                    <a:pt x="13716" y="28956"/>
                  </a:lnTo>
                  <a:lnTo>
                    <a:pt x="28956" y="13716"/>
                  </a:lnTo>
                  <a:lnTo>
                    <a:pt x="257556" y="13716"/>
                  </a:lnTo>
                  <a:lnTo>
                    <a:pt x="257556" y="0"/>
                  </a:lnTo>
                  <a:close/>
                </a:path>
                <a:path w="257810" h="486410">
                  <a:moveTo>
                    <a:pt x="28956" y="457200"/>
                  </a:moveTo>
                  <a:lnTo>
                    <a:pt x="13716" y="457200"/>
                  </a:lnTo>
                  <a:lnTo>
                    <a:pt x="28956" y="470916"/>
                  </a:lnTo>
                  <a:lnTo>
                    <a:pt x="28956" y="457200"/>
                  </a:lnTo>
                  <a:close/>
                </a:path>
                <a:path w="257810" h="486410">
                  <a:moveTo>
                    <a:pt x="228600" y="457200"/>
                  </a:moveTo>
                  <a:lnTo>
                    <a:pt x="28956" y="457200"/>
                  </a:lnTo>
                  <a:lnTo>
                    <a:pt x="28956" y="470916"/>
                  </a:lnTo>
                  <a:lnTo>
                    <a:pt x="228600" y="470916"/>
                  </a:lnTo>
                  <a:lnTo>
                    <a:pt x="228600" y="457200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28600" y="470916"/>
                  </a:lnTo>
                  <a:lnTo>
                    <a:pt x="242316" y="457200"/>
                  </a:lnTo>
                  <a:lnTo>
                    <a:pt x="257556" y="457200"/>
                  </a:lnTo>
                  <a:lnTo>
                    <a:pt x="257556" y="28956"/>
                  </a:lnTo>
                  <a:lnTo>
                    <a:pt x="242316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457200"/>
                  </a:moveTo>
                  <a:lnTo>
                    <a:pt x="242316" y="457200"/>
                  </a:lnTo>
                  <a:lnTo>
                    <a:pt x="228600" y="470916"/>
                  </a:lnTo>
                  <a:lnTo>
                    <a:pt x="257556" y="470916"/>
                  </a:lnTo>
                  <a:lnTo>
                    <a:pt x="257556" y="457200"/>
                  </a:lnTo>
                  <a:close/>
                </a:path>
                <a:path w="257810" h="486410">
                  <a:moveTo>
                    <a:pt x="28956" y="13716"/>
                  </a:moveTo>
                  <a:lnTo>
                    <a:pt x="13716" y="28956"/>
                  </a:lnTo>
                  <a:lnTo>
                    <a:pt x="28956" y="28956"/>
                  </a:lnTo>
                  <a:lnTo>
                    <a:pt x="28956" y="13716"/>
                  </a:lnTo>
                  <a:close/>
                </a:path>
                <a:path w="257810" h="486410">
                  <a:moveTo>
                    <a:pt x="228600" y="13716"/>
                  </a:moveTo>
                  <a:lnTo>
                    <a:pt x="28956" y="13716"/>
                  </a:lnTo>
                  <a:lnTo>
                    <a:pt x="28956" y="28956"/>
                  </a:lnTo>
                  <a:lnTo>
                    <a:pt x="228600" y="28956"/>
                  </a:lnTo>
                  <a:lnTo>
                    <a:pt x="228600" y="13716"/>
                  </a:lnTo>
                  <a:close/>
                </a:path>
                <a:path w="257810" h="486410">
                  <a:moveTo>
                    <a:pt x="257556" y="13716"/>
                  </a:moveTo>
                  <a:lnTo>
                    <a:pt x="228600" y="13716"/>
                  </a:lnTo>
                  <a:lnTo>
                    <a:pt x="242316" y="28956"/>
                  </a:lnTo>
                  <a:lnTo>
                    <a:pt x="257556" y="28956"/>
                  </a:lnTo>
                  <a:lnTo>
                    <a:pt x="257556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0999" y="2590799"/>
              <a:ext cx="230124" cy="45872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177283" y="2577083"/>
              <a:ext cx="257810" cy="486409"/>
            </a:xfrm>
            <a:custGeom>
              <a:avLst/>
              <a:gdLst/>
              <a:ahLst/>
              <a:cxnLst/>
              <a:rect l="l" t="t" r="r" b="b"/>
              <a:pathLst>
                <a:path w="257810" h="486410">
                  <a:moveTo>
                    <a:pt x="257555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257555" y="486156"/>
                  </a:lnTo>
                  <a:lnTo>
                    <a:pt x="257555" y="470916"/>
                  </a:lnTo>
                  <a:lnTo>
                    <a:pt x="28956" y="470916"/>
                  </a:lnTo>
                  <a:lnTo>
                    <a:pt x="13716" y="457200"/>
                  </a:lnTo>
                  <a:lnTo>
                    <a:pt x="28956" y="457200"/>
                  </a:lnTo>
                  <a:lnTo>
                    <a:pt x="28956" y="28956"/>
                  </a:lnTo>
                  <a:lnTo>
                    <a:pt x="13716" y="28956"/>
                  </a:lnTo>
                  <a:lnTo>
                    <a:pt x="28956" y="13716"/>
                  </a:lnTo>
                  <a:lnTo>
                    <a:pt x="257555" y="13716"/>
                  </a:lnTo>
                  <a:lnTo>
                    <a:pt x="257555" y="0"/>
                  </a:lnTo>
                  <a:close/>
                </a:path>
                <a:path w="257810" h="486410">
                  <a:moveTo>
                    <a:pt x="28956" y="457200"/>
                  </a:moveTo>
                  <a:lnTo>
                    <a:pt x="13716" y="457200"/>
                  </a:lnTo>
                  <a:lnTo>
                    <a:pt x="28956" y="470916"/>
                  </a:lnTo>
                  <a:lnTo>
                    <a:pt x="28956" y="457200"/>
                  </a:lnTo>
                  <a:close/>
                </a:path>
                <a:path w="257810" h="486410">
                  <a:moveTo>
                    <a:pt x="228599" y="457200"/>
                  </a:moveTo>
                  <a:lnTo>
                    <a:pt x="28956" y="457200"/>
                  </a:lnTo>
                  <a:lnTo>
                    <a:pt x="28956" y="470916"/>
                  </a:lnTo>
                  <a:lnTo>
                    <a:pt x="228599" y="470916"/>
                  </a:lnTo>
                  <a:lnTo>
                    <a:pt x="228599" y="457200"/>
                  </a:lnTo>
                  <a:close/>
                </a:path>
                <a:path w="257810" h="486410">
                  <a:moveTo>
                    <a:pt x="228599" y="13716"/>
                  </a:moveTo>
                  <a:lnTo>
                    <a:pt x="228599" y="470916"/>
                  </a:lnTo>
                  <a:lnTo>
                    <a:pt x="242315" y="457200"/>
                  </a:lnTo>
                  <a:lnTo>
                    <a:pt x="257555" y="457200"/>
                  </a:lnTo>
                  <a:lnTo>
                    <a:pt x="257555" y="28956"/>
                  </a:lnTo>
                  <a:lnTo>
                    <a:pt x="242315" y="28956"/>
                  </a:lnTo>
                  <a:lnTo>
                    <a:pt x="228599" y="13716"/>
                  </a:lnTo>
                  <a:close/>
                </a:path>
                <a:path w="257810" h="486410">
                  <a:moveTo>
                    <a:pt x="257555" y="457200"/>
                  </a:moveTo>
                  <a:lnTo>
                    <a:pt x="242315" y="457200"/>
                  </a:lnTo>
                  <a:lnTo>
                    <a:pt x="228599" y="470916"/>
                  </a:lnTo>
                  <a:lnTo>
                    <a:pt x="257555" y="470916"/>
                  </a:lnTo>
                  <a:lnTo>
                    <a:pt x="257555" y="457200"/>
                  </a:lnTo>
                  <a:close/>
                </a:path>
                <a:path w="257810" h="486410">
                  <a:moveTo>
                    <a:pt x="28956" y="13716"/>
                  </a:moveTo>
                  <a:lnTo>
                    <a:pt x="13716" y="28956"/>
                  </a:lnTo>
                  <a:lnTo>
                    <a:pt x="28956" y="28956"/>
                  </a:lnTo>
                  <a:lnTo>
                    <a:pt x="28956" y="13716"/>
                  </a:lnTo>
                  <a:close/>
                </a:path>
                <a:path w="257810" h="486410">
                  <a:moveTo>
                    <a:pt x="228599" y="13716"/>
                  </a:moveTo>
                  <a:lnTo>
                    <a:pt x="28956" y="13716"/>
                  </a:lnTo>
                  <a:lnTo>
                    <a:pt x="28956" y="28956"/>
                  </a:lnTo>
                  <a:lnTo>
                    <a:pt x="228599" y="28956"/>
                  </a:lnTo>
                  <a:lnTo>
                    <a:pt x="228599" y="13716"/>
                  </a:lnTo>
                  <a:close/>
                </a:path>
                <a:path w="257810" h="486410">
                  <a:moveTo>
                    <a:pt x="257555" y="13716"/>
                  </a:moveTo>
                  <a:lnTo>
                    <a:pt x="228599" y="13716"/>
                  </a:lnTo>
                  <a:lnTo>
                    <a:pt x="242315" y="28956"/>
                  </a:lnTo>
                  <a:lnTo>
                    <a:pt x="257555" y="28956"/>
                  </a:lnTo>
                  <a:lnTo>
                    <a:pt x="257555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84187" y="2639059"/>
            <a:ext cx="1957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" baseline="1736" dirty="0">
                <a:solidFill>
                  <a:srgbClr val="DFE2E4"/>
                </a:solidFill>
                <a:latin typeface="Calibri"/>
                <a:cs typeface="Calibri"/>
              </a:rPr>
              <a:t>3</a:t>
            </a:r>
            <a:r>
              <a:rPr sz="2400" spc="847" baseline="1736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2E4"/>
                </a:solidFill>
                <a:latin typeface="Calibri"/>
                <a:cs typeface="Calibri"/>
              </a:rPr>
              <a:t>2</a:t>
            </a:r>
            <a:r>
              <a:rPr sz="1800" spc="520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2400" spc="-7" baseline="1736" dirty="0">
                <a:solidFill>
                  <a:srgbClr val="DFE2E4"/>
                </a:solidFill>
                <a:latin typeface="Calibri"/>
                <a:cs typeface="Calibri"/>
              </a:rPr>
              <a:t>1</a:t>
            </a:r>
            <a:r>
              <a:rPr sz="2400" spc="922" baseline="1736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2400" spc="-7" baseline="1736" dirty="0">
                <a:solidFill>
                  <a:srgbClr val="DFE2E4"/>
                </a:solidFill>
                <a:latin typeface="Calibri"/>
                <a:cs typeface="Calibri"/>
              </a:rPr>
              <a:t>3</a:t>
            </a:r>
            <a:r>
              <a:rPr sz="2400" spc="855" baseline="1736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2E4"/>
                </a:solidFill>
                <a:latin typeface="Calibri"/>
                <a:cs typeface="Calibri"/>
              </a:rPr>
              <a:t>2</a:t>
            </a:r>
            <a:r>
              <a:rPr sz="1800" spc="515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2400" spc="-7" baseline="1736" dirty="0">
                <a:solidFill>
                  <a:srgbClr val="DFE2E4"/>
                </a:solidFill>
                <a:latin typeface="Calibri"/>
                <a:cs typeface="Calibri"/>
              </a:rPr>
              <a:t>1</a:t>
            </a:r>
            <a:r>
              <a:rPr sz="2400" spc="930" baseline="1736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2400" spc="-7" baseline="1736" dirty="0">
                <a:solidFill>
                  <a:srgbClr val="DFE2E4"/>
                </a:solidFill>
                <a:latin typeface="Calibri"/>
                <a:cs typeface="Calibri"/>
              </a:rPr>
              <a:t>3</a:t>
            </a:r>
            <a:r>
              <a:rPr sz="2400" spc="855" baseline="1736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2E4"/>
                </a:solidFill>
                <a:latin typeface="Calibri"/>
                <a:cs typeface="Calibri"/>
              </a:rPr>
              <a:t>2</a:t>
            </a:r>
            <a:r>
              <a:rPr sz="1800" spc="515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2400" spc="-7" baseline="1736" dirty="0">
                <a:solidFill>
                  <a:srgbClr val="DFE2E4"/>
                </a:solidFill>
                <a:latin typeface="Calibri"/>
                <a:cs typeface="Calibri"/>
              </a:rPr>
              <a:t>1</a:t>
            </a:r>
            <a:endParaRPr sz="2400" baseline="1736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613903" y="1975104"/>
            <a:ext cx="394970" cy="394970"/>
            <a:chOff x="7613903" y="1975104"/>
            <a:chExt cx="394970" cy="394970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9999" y="1981200"/>
              <a:ext cx="382523" cy="38252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02295" y="2022348"/>
              <a:ext cx="219455" cy="16002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45907" y="2270760"/>
              <a:ext cx="111251" cy="1371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613891" y="1975103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69">
                  <a:moveTo>
                    <a:pt x="147828" y="289560"/>
                  </a:moveTo>
                  <a:lnTo>
                    <a:pt x="25908" y="289560"/>
                  </a:lnTo>
                  <a:lnTo>
                    <a:pt x="25908" y="313944"/>
                  </a:lnTo>
                  <a:lnTo>
                    <a:pt x="141732" y="313944"/>
                  </a:lnTo>
                  <a:lnTo>
                    <a:pt x="141732" y="307848"/>
                  </a:lnTo>
                  <a:lnTo>
                    <a:pt x="147828" y="307848"/>
                  </a:lnTo>
                  <a:lnTo>
                    <a:pt x="147828" y="295656"/>
                  </a:lnTo>
                  <a:lnTo>
                    <a:pt x="147828" y="289560"/>
                  </a:lnTo>
                  <a:close/>
                </a:path>
                <a:path w="394970" h="394969">
                  <a:moveTo>
                    <a:pt x="312420" y="39624"/>
                  </a:moveTo>
                  <a:lnTo>
                    <a:pt x="300228" y="39624"/>
                  </a:lnTo>
                  <a:lnTo>
                    <a:pt x="300228" y="53340"/>
                  </a:lnTo>
                  <a:lnTo>
                    <a:pt x="300228" y="199644"/>
                  </a:lnTo>
                  <a:lnTo>
                    <a:pt x="94488" y="199644"/>
                  </a:lnTo>
                  <a:lnTo>
                    <a:pt x="94488" y="53340"/>
                  </a:lnTo>
                  <a:lnTo>
                    <a:pt x="300228" y="53340"/>
                  </a:lnTo>
                  <a:lnTo>
                    <a:pt x="300228" y="39624"/>
                  </a:lnTo>
                  <a:lnTo>
                    <a:pt x="82296" y="39624"/>
                  </a:lnTo>
                  <a:lnTo>
                    <a:pt x="82296" y="211836"/>
                  </a:lnTo>
                  <a:lnTo>
                    <a:pt x="306324" y="211836"/>
                  </a:lnTo>
                  <a:lnTo>
                    <a:pt x="306324" y="205740"/>
                  </a:lnTo>
                  <a:lnTo>
                    <a:pt x="312420" y="205740"/>
                  </a:lnTo>
                  <a:lnTo>
                    <a:pt x="312420" y="199644"/>
                  </a:lnTo>
                  <a:lnTo>
                    <a:pt x="312420" y="53340"/>
                  </a:lnTo>
                  <a:lnTo>
                    <a:pt x="312420" y="47244"/>
                  </a:lnTo>
                  <a:lnTo>
                    <a:pt x="312420" y="39624"/>
                  </a:lnTo>
                  <a:close/>
                </a:path>
                <a:path w="394970" h="394969">
                  <a:moveTo>
                    <a:pt x="394716" y="271272"/>
                  </a:moveTo>
                  <a:lnTo>
                    <a:pt x="381000" y="271272"/>
                  </a:lnTo>
                  <a:lnTo>
                    <a:pt x="381000" y="284988"/>
                  </a:lnTo>
                  <a:lnTo>
                    <a:pt x="381000" y="381000"/>
                  </a:lnTo>
                  <a:lnTo>
                    <a:pt x="13716" y="381000"/>
                  </a:lnTo>
                  <a:lnTo>
                    <a:pt x="13716" y="284988"/>
                  </a:lnTo>
                  <a:lnTo>
                    <a:pt x="82296" y="284988"/>
                  </a:lnTo>
                  <a:lnTo>
                    <a:pt x="94488" y="284988"/>
                  </a:lnTo>
                  <a:lnTo>
                    <a:pt x="300228" y="284988"/>
                  </a:lnTo>
                  <a:lnTo>
                    <a:pt x="306324" y="284988"/>
                  </a:lnTo>
                  <a:lnTo>
                    <a:pt x="381000" y="284988"/>
                  </a:lnTo>
                  <a:lnTo>
                    <a:pt x="381000" y="271272"/>
                  </a:lnTo>
                  <a:lnTo>
                    <a:pt x="312420" y="271272"/>
                  </a:lnTo>
                  <a:lnTo>
                    <a:pt x="312420" y="251460"/>
                  </a:lnTo>
                  <a:lnTo>
                    <a:pt x="358140" y="251460"/>
                  </a:lnTo>
                  <a:lnTo>
                    <a:pt x="358140" y="239268"/>
                  </a:lnTo>
                  <a:lnTo>
                    <a:pt x="358140" y="13716"/>
                  </a:lnTo>
                  <a:lnTo>
                    <a:pt x="358140" y="6096"/>
                  </a:lnTo>
                  <a:lnTo>
                    <a:pt x="358140" y="0"/>
                  </a:lnTo>
                  <a:lnTo>
                    <a:pt x="344424" y="0"/>
                  </a:lnTo>
                  <a:lnTo>
                    <a:pt x="344424" y="13716"/>
                  </a:lnTo>
                  <a:lnTo>
                    <a:pt x="344424" y="239268"/>
                  </a:lnTo>
                  <a:lnTo>
                    <a:pt x="312420" y="239268"/>
                  </a:lnTo>
                  <a:lnTo>
                    <a:pt x="300228" y="239268"/>
                  </a:lnTo>
                  <a:lnTo>
                    <a:pt x="300228" y="251460"/>
                  </a:lnTo>
                  <a:lnTo>
                    <a:pt x="300228" y="271272"/>
                  </a:lnTo>
                  <a:lnTo>
                    <a:pt x="94488" y="271272"/>
                  </a:lnTo>
                  <a:lnTo>
                    <a:pt x="94488" y="251460"/>
                  </a:lnTo>
                  <a:lnTo>
                    <a:pt x="300228" y="251460"/>
                  </a:lnTo>
                  <a:lnTo>
                    <a:pt x="300228" y="239268"/>
                  </a:lnTo>
                  <a:lnTo>
                    <a:pt x="94488" y="239268"/>
                  </a:lnTo>
                  <a:lnTo>
                    <a:pt x="82296" y="239268"/>
                  </a:lnTo>
                  <a:lnTo>
                    <a:pt x="50292" y="239268"/>
                  </a:lnTo>
                  <a:lnTo>
                    <a:pt x="50292" y="13716"/>
                  </a:lnTo>
                  <a:lnTo>
                    <a:pt x="344424" y="13716"/>
                  </a:lnTo>
                  <a:lnTo>
                    <a:pt x="344424" y="0"/>
                  </a:lnTo>
                  <a:lnTo>
                    <a:pt x="36576" y="0"/>
                  </a:lnTo>
                  <a:lnTo>
                    <a:pt x="36576" y="251460"/>
                  </a:lnTo>
                  <a:lnTo>
                    <a:pt x="82296" y="251460"/>
                  </a:lnTo>
                  <a:lnTo>
                    <a:pt x="82296" y="271272"/>
                  </a:lnTo>
                  <a:lnTo>
                    <a:pt x="0" y="271272"/>
                  </a:lnTo>
                  <a:lnTo>
                    <a:pt x="0" y="394716"/>
                  </a:lnTo>
                  <a:lnTo>
                    <a:pt x="394716" y="394716"/>
                  </a:lnTo>
                  <a:lnTo>
                    <a:pt x="394716" y="387096"/>
                  </a:lnTo>
                  <a:lnTo>
                    <a:pt x="394716" y="381000"/>
                  </a:lnTo>
                  <a:lnTo>
                    <a:pt x="394716" y="284988"/>
                  </a:lnTo>
                  <a:lnTo>
                    <a:pt x="394716" y="271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7613903" y="2660903"/>
            <a:ext cx="394970" cy="394970"/>
            <a:chOff x="7613903" y="2660903"/>
            <a:chExt cx="394970" cy="394970"/>
          </a:xfrm>
        </p:grpSpPr>
        <p:sp>
          <p:nvSpPr>
            <p:cNvPr id="37" name="object 37"/>
            <p:cNvSpPr/>
            <p:nvPr/>
          </p:nvSpPr>
          <p:spPr>
            <a:xfrm>
              <a:off x="7619987" y="26669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273050"/>
                  </a:moveTo>
                  <a:lnTo>
                    <a:pt x="300228" y="273050"/>
                  </a:lnTo>
                  <a:lnTo>
                    <a:pt x="300228" y="238760"/>
                  </a:lnTo>
                  <a:lnTo>
                    <a:pt x="345948" y="238760"/>
                  </a:lnTo>
                  <a:lnTo>
                    <a:pt x="345948" y="0"/>
                  </a:lnTo>
                  <a:lnTo>
                    <a:pt x="36576" y="0"/>
                  </a:lnTo>
                  <a:lnTo>
                    <a:pt x="36576" y="238760"/>
                  </a:lnTo>
                  <a:lnTo>
                    <a:pt x="82296" y="238760"/>
                  </a:lnTo>
                  <a:lnTo>
                    <a:pt x="82296" y="239268"/>
                  </a:lnTo>
                  <a:lnTo>
                    <a:pt x="82296" y="271272"/>
                  </a:lnTo>
                  <a:lnTo>
                    <a:pt x="82296" y="273050"/>
                  </a:lnTo>
                  <a:lnTo>
                    <a:pt x="0" y="27305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273050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13891" y="2660903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69">
                  <a:moveTo>
                    <a:pt x="147828" y="289560"/>
                  </a:moveTo>
                  <a:lnTo>
                    <a:pt x="25908" y="289560"/>
                  </a:lnTo>
                  <a:lnTo>
                    <a:pt x="25908" y="313944"/>
                  </a:lnTo>
                  <a:lnTo>
                    <a:pt x="141732" y="313944"/>
                  </a:lnTo>
                  <a:lnTo>
                    <a:pt x="141732" y="307848"/>
                  </a:lnTo>
                  <a:lnTo>
                    <a:pt x="147828" y="307848"/>
                  </a:lnTo>
                  <a:lnTo>
                    <a:pt x="147828" y="295656"/>
                  </a:lnTo>
                  <a:lnTo>
                    <a:pt x="147828" y="289560"/>
                  </a:lnTo>
                  <a:close/>
                </a:path>
                <a:path w="394970" h="394969">
                  <a:moveTo>
                    <a:pt x="312420" y="39624"/>
                  </a:moveTo>
                  <a:lnTo>
                    <a:pt x="300228" y="39624"/>
                  </a:lnTo>
                  <a:lnTo>
                    <a:pt x="300228" y="53340"/>
                  </a:lnTo>
                  <a:lnTo>
                    <a:pt x="300228" y="199644"/>
                  </a:lnTo>
                  <a:lnTo>
                    <a:pt x="94488" y="199644"/>
                  </a:lnTo>
                  <a:lnTo>
                    <a:pt x="94488" y="53340"/>
                  </a:lnTo>
                  <a:lnTo>
                    <a:pt x="300228" y="53340"/>
                  </a:lnTo>
                  <a:lnTo>
                    <a:pt x="300228" y="39624"/>
                  </a:lnTo>
                  <a:lnTo>
                    <a:pt x="82296" y="39624"/>
                  </a:lnTo>
                  <a:lnTo>
                    <a:pt x="82296" y="211836"/>
                  </a:lnTo>
                  <a:lnTo>
                    <a:pt x="306324" y="211836"/>
                  </a:lnTo>
                  <a:lnTo>
                    <a:pt x="306324" y="205740"/>
                  </a:lnTo>
                  <a:lnTo>
                    <a:pt x="312420" y="205740"/>
                  </a:lnTo>
                  <a:lnTo>
                    <a:pt x="312420" y="199644"/>
                  </a:lnTo>
                  <a:lnTo>
                    <a:pt x="312420" y="53340"/>
                  </a:lnTo>
                  <a:lnTo>
                    <a:pt x="312420" y="47244"/>
                  </a:lnTo>
                  <a:lnTo>
                    <a:pt x="312420" y="39624"/>
                  </a:lnTo>
                  <a:close/>
                </a:path>
                <a:path w="394970" h="394969">
                  <a:moveTo>
                    <a:pt x="394716" y="271272"/>
                  </a:moveTo>
                  <a:lnTo>
                    <a:pt x="381000" y="271272"/>
                  </a:lnTo>
                  <a:lnTo>
                    <a:pt x="381000" y="284988"/>
                  </a:lnTo>
                  <a:lnTo>
                    <a:pt x="381000" y="381000"/>
                  </a:lnTo>
                  <a:lnTo>
                    <a:pt x="13716" y="381000"/>
                  </a:lnTo>
                  <a:lnTo>
                    <a:pt x="13716" y="284988"/>
                  </a:lnTo>
                  <a:lnTo>
                    <a:pt x="82296" y="284988"/>
                  </a:lnTo>
                  <a:lnTo>
                    <a:pt x="94488" y="284988"/>
                  </a:lnTo>
                  <a:lnTo>
                    <a:pt x="300228" y="284988"/>
                  </a:lnTo>
                  <a:lnTo>
                    <a:pt x="306324" y="284988"/>
                  </a:lnTo>
                  <a:lnTo>
                    <a:pt x="381000" y="284988"/>
                  </a:lnTo>
                  <a:lnTo>
                    <a:pt x="381000" y="271272"/>
                  </a:lnTo>
                  <a:lnTo>
                    <a:pt x="312420" y="271272"/>
                  </a:lnTo>
                  <a:lnTo>
                    <a:pt x="312420" y="251460"/>
                  </a:lnTo>
                  <a:lnTo>
                    <a:pt x="358140" y="251460"/>
                  </a:lnTo>
                  <a:lnTo>
                    <a:pt x="358140" y="239268"/>
                  </a:lnTo>
                  <a:lnTo>
                    <a:pt x="358140" y="13716"/>
                  </a:lnTo>
                  <a:lnTo>
                    <a:pt x="358140" y="6096"/>
                  </a:lnTo>
                  <a:lnTo>
                    <a:pt x="358140" y="0"/>
                  </a:lnTo>
                  <a:lnTo>
                    <a:pt x="344424" y="0"/>
                  </a:lnTo>
                  <a:lnTo>
                    <a:pt x="344424" y="13716"/>
                  </a:lnTo>
                  <a:lnTo>
                    <a:pt x="344424" y="239268"/>
                  </a:lnTo>
                  <a:lnTo>
                    <a:pt x="312420" y="239268"/>
                  </a:lnTo>
                  <a:lnTo>
                    <a:pt x="300228" y="239268"/>
                  </a:lnTo>
                  <a:lnTo>
                    <a:pt x="300228" y="251460"/>
                  </a:lnTo>
                  <a:lnTo>
                    <a:pt x="300228" y="271272"/>
                  </a:lnTo>
                  <a:lnTo>
                    <a:pt x="94488" y="271272"/>
                  </a:lnTo>
                  <a:lnTo>
                    <a:pt x="94488" y="251460"/>
                  </a:lnTo>
                  <a:lnTo>
                    <a:pt x="300228" y="251460"/>
                  </a:lnTo>
                  <a:lnTo>
                    <a:pt x="300228" y="239268"/>
                  </a:lnTo>
                  <a:lnTo>
                    <a:pt x="94488" y="239268"/>
                  </a:lnTo>
                  <a:lnTo>
                    <a:pt x="82296" y="239268"/>
                  </a:lnTo>
                  <a:lnTo>
                    <a:pt x="50292" y="239268"/>
                  </a:lnTo>
                  <a:lnTo>
                    <a:pt x="50292" y="13716"/>
                  </a:lnTo>
                  <a:lnTo>
                    <a:pt x="344424" y="13716"/>
                  </a:lnTo>
                  <a:lnTo>
                    <a:pt x="344424" y="0"/>
                  </a:lnTo>
                  <a:lnTo>
                    <a:pt x="36576" y="0"/>
                  </a:lnTo>
                  <a:lnTo>
                    <a:pt x="36576" y="251460"/>
                  </a:lnTo>
                  <a:lnTo>
                    <a:pt x="82296" y="251460"/>
                  </a:lnTo>
                  <a:lnTo>
                    <a:pt x="82296" y="271272"/>
                  </a:lnTo>
                  <a:lnTo>
                    <a:pt x="0" y="271272"/>
                  </a:lnTo>
                  <a:lnTo>
                    <a:pt x="0" y="394716"/>
                  </a:lnTo>
                  <a:lnTo>
                    <a:pt x="394716" y="394716"/>
                  </a:lnTo>
                  <a:lnTo>
                    <a:pt x="394716" y="387096"/>
                  </a:lnTo>
                  <a:lnTo>
                    <a:pt x="394716" y="381000"/>
                  </a:lnTo>
                  <a:lnTo>
                    <a:pt x="394716" y="284988"/>
                  </a:lnTo>
                  <a:lnTo>
                    <a:pt x="394716" y="271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7613903" y="3346703"/>
            <a:ext cx="394970" cy="394970"/>
            <a:chOff x="7613903" y="3346703"/>
            <a:chExt cx="394970" cy="394970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9999" y="3352799"/>
              <a:ext cx="382523" cy="38252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02295" y="3393947"/>
              <a:ext cx="219455" cy="16002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45907" y="3642359"/>
              <a:ext cx="111251" cy="1371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613891" y="3346703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70">
                  <a:moveTo>
                    <a:pt x="147828" y="289560"/>
                  </a:moveTo>
                  <a:lnTo>
                    <a:pt x="25908" y="289560"/>
                  </a:lnTo>
                  <a:lnTo>
                    <a:pt x="25908" y="313944"/>
                  </a:lnTo>
                  <a:lnTo>
                    <a:pt x="141732" y="313944"/>
                  </a:lnTo>
                  <a:lnTo>
                    <a:pt x="141732" y="307848"/>
                  </a:lnTo>
                  <a:lnTo>
                    <a:pt x="147828" y="307848"/>
                  </a:lnTo>
                  <a:lnTo>
                    <a:pt x="147828" y="295656"/>
                  </a:lnTo>
                  <a:lnTo>
                    <a:pt x="147828" y="289560"/>
                  </a:lnTo>
                  <a:close/>
                </a:path>
                <a:path w="394970" h="394970">
                  <a:moveTo>
                    <a:pt x="312420" y="39624"/>
                  </a:moveTo>
                  <a:lnTo>
                    <a:pt x="300228" y="39624"/>
                  </a:lnTo>
                  <a:lnTo>
                    <a:pt x="300228" y="53340"/>
                  </a:lnTo>
                  <a:lnTo>
                    <a:pt x="300228" y="199644"/>
                  </a:lnTo>
                  <a:lnTo>
                    <a:pt x="94488" y="199644"/>
                  </a:lnTo>
                  <a:lnTo>
                    <a:pt x="94488" y="53340"/>
                  </a:lnTo>
                  <a:lnTo>
                    <a:pt x="300228" y="53340"/>
                  </a:lnTo>
                  <a:lnTo>
                    <a:pt x="300228" y="39624"/>
                  </a:lnTo>
                  <a:lnTo>
                    <a:pt x="82296" y="39624"/>
                  </a:lnTo>
                  <a:lnTo>
                    <a:pt x="82296" y="211836"/>
                  </a:lnTo>
                  <a:lnTo>
                    <a:pt x="306324" y="211836"/>
                  </a:lnTo>
                  <a:lnTo>
                    <a:pt x="306324" y="205740"/>
                  </a:lnTo>
                  <a:lnTo>
                    <a:pt x="312420" y="205740"/>
                  </a:lnTo>
                  <a:lnTo>
                    <a:pt x="312420" y="199644"/>
                  </a:lnTo>
                  <a:lnTo>
                    <a:pt x="312420" y="53340"/>
                  </a:lnTo>
                  <a:lnTo>
                    <a:pt x="312420" y="47244"/>
                  </a:lnTo>
                  <a:lnTo>
                    <a:pt x="312420" y="39624"/>
                  </a:lnTo>
                  <a:close/>
                </a:path>
                <a:path w="394970" h="394970">
                  <a:moveTo>
                    <a:pt x="394716" y="271272"/>
                  </a:moveTo>
                  <a:lnTo>
                    <a:pt x="381000" y="271272"/>
                  </a:lnTo>
                  <a:lnTo>
                    <a:pt x="381000" y="284988"/>
                  </a:lnTo>
                  <a:lnTo>
                    <a:pt x="381000" y="381000"/>
                  </a:lnTo>
                  <a:lnTo>
                    <a:pt x="13716" y="381000"/>
                  </a:lnTo>
                  <a:lnTo>
                    <a:pt x="13716" y="284988"/>
                  </a:lnTo>
                  <a:lnTo>
                    <a:pt x="82296" y="284988"/>
                  </a:lnTo>
                  <a:lnTo>
                    <a:pt x="94488" y="284988"/>
                  </a:lnTo>
                  <a:lnTo>
                    <a:pt x="300228" y="284988"/>
                  </a:lnTo>
                  <a:lnTo>
                    <a:pt x="306324" y="284988"/>
                  </a:lnTo>
                  <a:lnTo>
                    <a:pt x="381000" y="284988"/>
                  </a:lnTo>
                  <a:lnTo>
                    <a:pt x="381000" y="271272"/>
                  </a:lnTo>
                  <a:lnTo>
                    <a:pt x="312420" y="271272"/>
                  </a:lnTo>
                  <a:lnTo>
                    <a:pt x="312420" y="251460"/>
                  </a:lnTo>
                  <a:lnTo>
                    <a:pt x="358140" y="251460"/>
                  </a:lnTo>
                  <a:lnTo>
                    <a:pt x="358140" y="239268"/>
                  </a:lnTo>
                  <a:lnTo>
                    <a:pt x="358140" y="13716"/>
                  </a:lnTo>
                  <a:lnTo>
                    <a:pt x="358140" y="6096"/>
                  </a:lnTo>
                  <a:lnTo>
                    <a:pt x="358140" y="0"/>
                  </a:lnTo>
                  <a:lnTo>
                    <a:pt x="344424" y="0"/>
                  </a:lnTo>
                  <a:lnTo>
                    <a:pt x="344424" y="13716"/>
                  </a:lnTo>
                  <a:lnTo>
                    <a:pt x="344424" y="239268"/>
                  </a:lnTo>
                  <a:lnTo>
                    <a:pt x="312420" y="239268"/>
                  </a:lnTo>
                  <a:lnTo>
                    <a:pt x="300228" y="239268"/>
                  </a:lnTo>
                  <a:lnTo>
                    <a:pt x="300228" y="251460"/>
                  </a:lnTo>
                  <a:lnTo>
                    <a:pt x="300228" y="271272"/>
                  </a:lnTo>
                  <a:lnTo>
                    <a:pt x="94488" y="271272"/>
                  </a:lnTo>
                  <a:lnTo>
                    <a:pt x="94488" y="251460"/>
                  </a:lnTo>
                  <a:lnTo>
                    <a:pt x="300228" y="251460"/>
                  </a:lnTo>
                  <a:lnTo>
                    <a:pt x="300228" y="239268"/>
                  </a:lnTo>
                  <a:lnTo>
                    <a:pt x="94488" y="239268"/>
                  </a:lnTo>
                  <a:lnTo>
                    <a:pt x="82296" y="239268"/>
                  </a:lnTo>
                  <a:lnTo>
                    <a:pt x="50292" y="239268"/>
                  </a:lnTo>
                  <a:lnTo>
                    <a:pt x="50292" y="13716"/>
                  </a:lnTo>
                  <a:lnTo>
                    <a:pt x="344424" y="13716"/>
                  </a:lnTo>
                  <a:lnTo>
                    <a:pt x="344424" y="0"/>
                  </a:lnTo>
                  <a:lnTo>
                    <a:pt x="36576" y="0"/>
                  </a:lnTo>
                  <a:lnTo>
                    <a:pt x="36576" y="251460"/>
                  </a:lnTo>
                  <a:lnTo>
                    <a:pt x="82296" y="251460"/>
                  </a:lnTo>
                  <a:lnTo>
                    <a:pt x="82296" y="271272"/>
                  </a:lnTo>
                  <a:lnTo>
                    <a:pt x="0" y="271272"/>
                  </a:lnTo>
                  <a:lnTo>
                    <a:pt x="0" y="394716"/>
                  </a:lnTo>
                  <a:lnTo>
                    <a:pt x="394716" y="394716"/>
                  </a:lnTo>
                  <a:lnTo>
                    <a:pt x="394716" y="387096"/>
                  </a:lnTo>
                  <a:lnTo>
                    <a:pt x="394716" y="381000"/>
                  </a:lnTo>
                  <a:lnTo>
                    <a:pt x="394716" y="284988"/>
                  </a:lnTo>
                  <a:lnTo>
                    <a:pt x="394716" y="271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5791187" y="2090927"/>
            <a:ext cx="1752600" cy="772795"/>
          </a:xfrm>
          <a:custGeom>
            <a:avLst/>
            <a:gdLst/>
            <a:ahLst/>
            <a:cxnLst/>
            <a:rect l="l" t="t" r="r" b="b"/>
            <a:pathLst>
              <a:path w="1752600" h="772794">
                <a:moveTo>
                  <a:pt x="609600" y="728472"/>
                </a:moveTo>
                <a:lnTo>
                  <a:pt x="582168" y="714756"/>
                </a:lnTo>
                <a:lnTo>
                  <a:pt x="524256" y="685800"/>
                </a:lnTo>
                <a:lnTo>
                  <a:pt x="524256" y="714756"/>
                </a:lnTo>
                <a:lnTo>
                  <a:pt x="0" y="714756"/>
                </a:lnTo>
                <a:lnTo>
                  <a:pt x="0" y="743712"/>
                </a:lnTo>
                <a:lnTo>
                  <a:pt x="524256" y="743712"/>
                </a:lnTo>
                <a:lnTo>
                  <a:pt x="524256" y="772668"/>
                </a:lnTo>
                <a:lnTo>
                  <a:pt x="580174" y="743712"/>
                </a:lnTo>
                <a:lnTo>
                  <a:pt x="609600" y="728472"/>
                </a:lnTo>
                <a:close/>
              </a:path>
              <a:path w="1752600" h="772794">
                <a:moveTo>
                  <a:pt x="1752600" y="728472"/>
                </a:moveTo>
                <a:lnTo>
                  <a:pt x="1725168" y="714756"/>
                </a:lnTo>
                <a:lnTo>
                  <a:pt x="1667256" y="685800"/>
                </a:lnTo>
                <a:lnTo>
                  <a:pt x="1667256" y="714756"/>
                </a:lnTo>
                <a:lnTo>
                  <a:pt x="1066800" y="714756"/>
                </a:lnTo>
                <a:lnTo>
                  <a:pt x="1066800" y="743712"/>
                </a:lnTo>
                <a:lnTo>
                  <a:pt x="1667256" y="743712"/>
                </a:lnTo>
                <a:lnTo>
                  <a:pt x="1667256" y="772668"/>
                </a:lnTo>
                <a:lnTo>
                  <a:pt x="1723174" y="743712"/>
                </a:lnTo>
                <a:lnTo>
                  <a:pt x="1752600" y="728472"/>
                </a:lnTo>
                <a:close/>
              </a:path>
              <a:path w="1752600" h="772794">
                <a:moveTo>
                  <a:pt x="1752600" y="42672"/>
                </a:moveTo>
                <a:lnTo>
                  <a:pt x="1725168" y="28956"/>
                </a:lnTo>
                <a:lnTo>
                  <a:pt x="1667256" y="0"/>
                </a:lnTo>
                <a:lnTo>
                  <a:pt x="1667256" y="28956"/>
                </a:lnTo>
                <a:lnTo>
                  <a:pt x="1066800" y="28956"/>
                </a:lnTo>
                <a:lnTo>
                  <a:pt x="1066800" y="57912"/>
                </a:lnTo>
                <a:lnTo>
                  <a:pt x="1667256" y="57912"/>
                </a:lnTo>
                <a:lnTo>
                  <a:pt x="1667256" y="86868"/>
                </a:lnTo>
                <a:lnTo>
                  <a:pt x="1723174" y="57912"/>
                </a:lnTo>
                <a:lnTo>
                  <a:pt x="1752600" y="42672"/>
                </a:lnTo>
                <a:close/>
              </a:path>
            </a:pathLst>
          </a:custGeom>
          <a:solidFill>
            <a:srgbClr val="335B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425064" y="1786890"/>
            <a:ext cx="466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35170" algn="l"/>
              </a:tabLst>
            </a:pPr>
            <a:r>
              <a:rPr sz="1800" dirty="0">
                <a:latin typeface="Calibri"/>
                <a:cs typeface="Calibri"/>
              </a:rPr>
              <a:t>1	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931978" y="244093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931978" y="312673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394703" y="1895855"/>
            <a:ext cx="1149350" cy="1849120"/>
            <a:chOff x="6394703" y="1895855"/>
            <a:chExt cx="1149350" cy="1849120"/>
          </a:xfrm>
        </p:grpSpPr>
        <p:sp>
          <p:nvSpPr>
            <p:cNvPr id="49" name="object 49"/>
            <p:cNvSpPr/>
            <p:nvPr/>
          </p:nvSpPr>
          <p:spPr>
            <a:xfrm>
              <a:off x="6857999" y="3462527"/>
              <a:ext cx="685800" cy="86995"/>
            </a:xfrm>
            <a:custGeom>
              <a:avLst/>
              <a:gdLst/>
              <a:ahLst/>
              <a:cxnLst/>
              <a:rect l="l" t="t" r="r" b="b"/>
              <a:pathLst>
                <a:path w="685800" h="86995">
                  <a:moveTo>
                    <a:pt x="600455" y="0"/>
                  </a:moveTo>
                  <a:lnTo>
                    <a:pt x="600455" y="86867"/>
                  </a:lnTo>
                  <a:lnTo>
                    <a:pt x="656371" y="57912"/>
                  </a:lnTo>
                  <a:lnTo>
                    <a:pt x="615695" y="57912"/>
                  </a:lnTo>
                  <a:lnTo>
                    <a:pt x="615695" y="28955"/>
                  </a:lnTo>
                  <a:lnTo>
                    <a:pt x="658367" y="28955"/>
                  </a:lnTo>
                  <a:lnTo>
                    <a:pt x="600455" y="0"/>
                  </a:lnTo>
                  <a:close/>
                </a:path>
                <a:path w="685800" h="86995">
                  <a:moveTo>
                    <a:pt x="600455" y="28955"/>
                  </a:moveTo>
                  <a:lnTo>
                    <a:pt x="0" y="28955"/>
                  </a:lnTo>
                  <a:lnTo>
                    <a:pt x="0" y="57912"/>
                  </a:lnTo>
                  <a:lnTo>
                    <a:pt x="600455" y="57912"/>
                  </a:lnTo>
                  <a:lnTo>
                    <a:pt x="600455" y="28955"/>
                  </a:lnTo>
                  <a:close/>
                </a:path>
                <a:path w="685800" h="86995">
                  <a:moveTo>
                    <a:pt x="658367" y="28955"/>
                  </a:moveTo>
                  <a:lnTo>
                    <a:pt x="615695" y="28955"/>
                  </a:lnTo>
                  <a:lnTo>
                    <a:pt x="615695" y="57912"/>
                  </a:lnTo>
                  <a:lnTo>
                    <a:pt x="656371" y="57912"/>
                  </a:lnTo>
                  <a:lnTo>
                    <a:pt x="685799" y="42672"/>
                  </a:lnTo>
                  <a:lnTo>
                    <a:pt x="658367" y="28955"/>
                  </a:lnTo>
                  <a:close/>
                </a:path>
              </a:pathLst>
            </a:custGeom>
            <a:solidFill>
              <a:srgbClr val="335B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400799" y="1904999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457199" y="0"/>
                  </a:moveTo>
                  <a:lnTo>
                    <a:pt x="0" y="225551"/>
                  </a:lnTo>
                  <a:lnTo>
                    <a:pt x="0" y="1604771"/>
                  </a:lnTo>
                  <a:lnTo>
                    <a:pt x="457199" y="1828799"/>
                  </a:lnTo>
                  <a:lnTo>
                    <a:pt x="457199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394703" y="1895855"/>
              <a:ext cx="471170" cy="1849120"/>
            </a:xfrm>
            <a:custGeom>
              <a:avLst/>
              <a:gdLst/>
              <a:ahLst/>
              <a:cxnLst/>
              <a:rect l="l" t="t" r="r" b="b"/>
              <a:pathLst>
                <a:path w="471170" h="1849120">
                  <a:moveTo>
                    <a:pt x="470915" y="0"/>
                  </a:moveTo>
                  <a:lnTo>
                    <a:pt x="0" y="231647"/>
                  </a:lnTo>
                  <a:lnTo>
                    <a:pt x="0" y="1616963"/>
                  </a:lnTo>
                  <a:lnTo>
                    <a:pt x="470915" y="1848611"/>
                  </a:lnTo>
                  <a:lnTo>
                    <a:pt x="470915" y="1837943"/>
                  </a:lnTo>
                  <a:lnTo>
                    <a:pt x="457199" y="1837943"/>
                  </a:lnTo>
                  <a:lnTo>
                    <a:pt x="457199" y="1828860"/>
                  </a:lnTo>
                  <a:lnTo>
                    <a:pt x="21500" y="1613915"/>
                  </a:lnTo>
                  <a:lnTo>
                    <a:pt x="13715" y="1613915"/>
                  </a:lnTo>
                  <a:lnTo>
                    <a:pt x="9143" y="1607819"/>
                  </a:lnTo>
                  <a:lnTo>
                    <a:pt x="13715" y="1607819"/>
                  </a:lnTo>
                  <a:lnTo>
                    <a:pt x="13715" y="240791"/>
                  </a:lnTo>
                  <a:lnTo>
                    <a:pt x="9143" y="240791"/>
                  </a:lnTo>
                  <a:lnTo>
                    <a:pt x="13715" y="234695"/>
                  </a:lnTo>
                  <a:lnTo>
                    <a:pt x="21500" y="234695"/>
                  </a:lnTo>
                  <a:lnTo>
                    <a:pt x="457199" y="19751"/>
                  </a:lnTo>
                  <a:lnTo>
                    <a:pt x="457199" y="9144"/>
                  </a:lnTo>
                  <a:lnTo>
                    <a:pt x="470915" y="9144"/>
                  </a:lnTo>
                  <a:lnTo>
                    <a:pt x="470915" y="0"/>
                  </a:lnTo>
                  <a:close/>
                </a:path>
                <a:path w="471170" h="1849120">
                  <a:moveTo>
                    <a:pt x="457199" y="1828860"/>
                  </a:moveTo>
                  <a:lnTo>
                    <a:pt x="457199" y="1837943"/>
                  </a:lnTo>
                  <a:lnTo>
                    <a:pt x="466343" y="1833371"/>
                  </a:lnTo>
                  <a:lnTo>
                    <a:pt x="457199" y="1828860"/>
                  </a:lnTo>
                  <a:close/>
                </a:path>
                <a:path w="471170" h="1849120">
                  <a:moveTo>
                    <a:pt x="470915" y="9144"/>
                  </a:moveTo>
                  <a:lnTo>
                    <a:pt x="457199" y="9144"/>
                  </a:lnTo>
                  <a:lnTo>
                    <a:pt x="466343" y="15240"/>
                  </a:lnTo>
                  <a:lnTo>
                    <a:pt x="457199" y="19751"/>
                  </a:lnTo>
                  <a:lnTo>
                    <a:pt x="457199" y="1828860"/>
                  </a:lnTo>
                  <a:lnTo>
                    <a:pt x="466343" y="1833371"/>
                  </a:lnTo>
                  <a:lnTo>
                    <a:pt x="457199" y="1837943"/>
                  </a:lnTo>
                  <a:lnTo>
                    <a:pt x="470915" y="1837943"/>
                  </a:lnTo>
                  <a:lnTo>
                    <a:pt x="470915" y="9144"/>
                  </a:lnTo>
                  <a:close/>
                </a:path>
                <a:path w="471170" h="1849120">
                  <a:moveTo>
                    <a:pt x="9143" y="1607819"/>
                  </a:moveTo>
                  <a:lnTo>
                    <a:pt x="13715" y="1613915"/>
                  </a:lnTo>
                  <a:lnTo>
                    <a:pt x="13715" y="1610075"/>
                  </a:lnTo>
                  <a:lnTo>
                    <a:pt x="9143" y="1607819"/>
                  </a:lnTo>
                  <a:close/>
                </a:path>
                <a:path w="471170" h="1849120">
                  <a:moveTo>
                    <a:pt x="13715" y="1610075"/>
                  </a:moveTo>
                  <a:lnTo>
                    <a:pt x="13715" y="1613915"/>
                  </a:lnTo>
                  <a:lnTo>
                    <a:pt x="21500" y="1613915"/>
                  </a:lnTo>
                  <a:lnTo>
                    <a:pt x="13715" y="1610075"/>
                  </a:lnTo>
                  <a:close/>
                </a:path>
                <a:path w="471170" h="1849120">
                  <a:moveTo>
                    <a:pt x="13715" y="1607819"/>
                  </a:moveTo>
                  <a:lnTo>
                    <a:pt x="9143" y="1607819"/>
                  </a:lnTo>
                  <a:lnTo>
                    <a:pt x="13715" y="1610075"/>
                  </a:lnTo>
                  <a:lnTo>
                    <a:pt x="13715" y="1607819"/>
                  </a:lnTo>
                  <a:close/>
                </a:path>
                <a:path w="471170" h="1849120">
                  <a:moveTo>
                    <a:pt x="13715" y="234695"/>
                  </a:moveTo>
                  <a:lnTo>
                    <a:pt x="9143" y="240791"/>
                  </a:lnTo>
                  <a:lnTo>
                    <a:pt x="13715" y="238536"/>
                  </a:lnTo>
                  <a:lnTo>
                    <a:pt x="13715" y="234695"/>
                  </a:lnTo>
                  <a:close/>
                </a:path>
                <a:path w="471170" h="1849120">
                  <a:moveTo>
                    <a:pt x="13715" y="238536"/>
                  </a:moveTo>
                  <a:lnTo>
                    <a:pt x="9143" y="240791"/>
                  </a:lnTo>
                  <a:lnTo>
                    <a:pt x="13715" y="240791"/>
                  </a:lnTo>
                  <a:lnTo>
                    <a:pt x="13715" y="238536"/>
                  </a:lnTo>
                  <a:close/>
                </a:path>
                <a:path w="471170" h="1849120">
                  <a:moveTo>
                    <a:pt x="21500" y="234695"/>
                  </a:moveTo>
                  <a:lnTo>
                    <a:pt x="13715" y="234695"/>
                  </a:lnTo>
                  <a:lnTo>
                    <a:pt x="13715" y="238536"/>
                  </a:lnTo>
                  <a:lnTo>
                    <a:pt x="21500" y="234695"/>
                  </a:lnTo>
                  <a:close/>
                </a:path>
                <a:path w="471170" h="1849120">
                  <a:moveTo>
                    <a:pt x="457199" y="9144"/>
                  </a:moveTo>
                  <a:lnTo>
                    <a:pt x="457199" y="19751"/>
                  </a:lnTo>
                  <a:lnTo>
                    <a:pt x="466343" y="15240"/>
                  </a:lnTo>
                  <a:lnTo>
                    <a:pt x="457199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519131" y="2105659"/>
            <a:ext cx="220979" cy="1381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27305" algn="just">
              <a:lnSpc>
                <a:spcPct val="98600"/>
              </a:lnSpc>
              <a:spcBef>
                <a:spcPts val="130"/>
              </a:spcBef>
            </a:pPr>
            <a:r>
              <a:rPr sz="1800" dirty="0">
                <a:latin typeface="Calibri"/>
                <a:cs typeface="Calibri"/>
              </a:rPr>
              <a:t>D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  U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57200" y="2243327"/>
            <a:ext cx="9142730" cy="5070475"/>
            <a:chOff x="457200" y="2243327"/>
            <a:chExt cx="9142730" cy="5070475"/>
          </a:xfrm>
        </p:grpSpPr>
        <p:sp>
          <p:nvSpPr>
            <p:cNvPr id="54" name="object 54"/>
            <p:cNvSpPr/>
            <p:nvPr/>
          </p:nvSpPr>
          <p:spPr>
            <a:xfrm>
              <a:off x="4114800" y="2243327"/>
              <a:ext cx="1143000" cy="86995"/>
            </a:xfrm>
            <a:custGeom>
              <a:avLst/>
              <a:gdLst/>
              <a:ahLst/>
              <a:cxnLst/>
              <a:rect l="l" t="t" r="r" b="b"/>
              <a:pathLst>
                <a:path w="1143000" h="86994">
                  <a:moveTo>
                    <a:pt x="1057655" y="0"/>
                  </a:moveTo>
                  <a:lnTo>
                    <a:pt x="1057655" y="86868"/>
                  </a:lnTo>
                  <a:lnTo>
                    <a:pt x="1113571" y="57912"/>
                  </a:lnTo>
                  <a:lnTo>
                    <a:pt x="1072895" y="57912"/>
                  </a:lnTo>
                  <a:lnTo>
                    <a:pt x="1072895" y="28956"/>
                  </a:lnTo>
                  <a:lnTo>
                    <a:pt x="1115567" y="28956"/>
                  </a:lnTo>
                  <a:lnTo>
                    <a:pt x="1057655" y="0"/>
                  </a:lnTo>
                  <a:close/>
                </a:path>
                <a:path w="1143000" h="86994">
                  <a:moveTo>
                    <a:pt x="1057655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1057655" y="57912"/>
                  </a:lnTo>
                  <a:lnTo>
                    <a:pt x="1057655" y="28956"/>
                  </a:lnTo>
                  <a:close/>
                </a:path>
                <a:path w="1143000" h="86994">
                  <a:moveTo>
                    <a:pt x="1115567" y="28956"/>
                  </a:moveTo>
                  <a:lnTo>
                    <a:pt x="1072895" y="28956"/>
                  </a:lnTo>
                  <a:lnTo>
                    <a:pt x="1072895" y="57912"/>
                  </a:lnTo>
                  <a:lnTo>
                    <a:pt x="1113571" y="57912"/>
                  </a:lnTo>
                  <a:lnTo>
                    <a:pt x="1142999" y="42672"/>
                  </a:lnTo>
                  <a:lnTo>
                    <a:pt x="1115567" y="2895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57187" y="3886199"/>
              <a:ext cx="9142730" cy="2971800"/>
            </a:xfrm>
            <a:custGeom>
              <a:avLst/>
              <a:gdLst/>
              <a:ahLst/>
              <a:cxnLst/>
              <a:rect l="l" t="t" r="r" b="b"/>
              <a:pathLst>
                <a:path w="9142730" h="2971800">
                  <a:moveTo>
                    <a:pt x="9142476" y="2970276"/>
                  </a:moveTo>
                  <a:lnTo>
                    <a:pt x="0" y="2970276"/>
                  </a:lnTo>
                  <a:lnTo>
                    <a:pt x="0" y="2971800"/>
                  </a:lnTo>
                  <a:lnTo>
                    <a:pt x="9142476" y="2971800"/>
                  </a:lnTo>
                  <a:lnTo>
                    <a:pt x="9142476" y="2970276"/>
                  </a:lnTo>
                  <a:close/>
                </a:path>
                <a:path w="9142730" h="2971800">
                  <a:moveTo>
                    <a:pt x="9142476" y="0"/>
                  </a:moveTo>
                  <a:lnTo>
                    <a:pt x="0" y="0"/>
                  </a:lnTo>
                  <a:lnTo>
                    <a:pt x="0" y="2906268"/>
                  </a:lnTo>
                  <a:lnTo>
                    <a:pt x="9142476" y="2906268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253864" y="1863090"/>
            <a:ext cx="913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993300"/>
                </a:solidFill>
                <a:latin typeface="Calibri"/>
                <a:cs typeface="Calibri"/>
              </a:rPr>
              <a:t>Data</a:t>
            </a:r>
            <a:r>
              <a:rPr sz="1800" spc="-75" dirty="0">
                <a:solidFill>
                  <a:srgbClr val="9933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993300"/>
                </a:solidFill>
                <a:latin typeface="Calibri"/>
                <a:cs typeface="Calibri"/>
              </a:rPr>
              <a:t>flow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57200" y="6934765"/>
            <a:ext cx="9142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0805" algn="r">
              <a:lnSpc>
                <a:spcPct val="100000"/>
              </a:lnSpc>
              <a:spcBef>
                <a:spcPts val="100"/>
              </a:spcBef>
              <a:tabLst>
                <a:tab pos="1321435" algn="l"/>
              </a:tabLst>
            </a:pPr>
            <a:r>
              <a:rPr sz="1800" spc="-5" dirty="0">
                <a:latin typeface="Calibri"/>
                <a:cs typeface="Calibri"/>
              </a:rPr>
              <a:t>107	</a:t>
            </a:r>
            <a:r>
              <a:rPr sz="1575" baseline="2645" dirty="0">
                <a:solidFill>
                  <a:srgbClr val="FFFFFF"/>
                </a:solidFill>
                <a:latin typeface="Calibri"/>
                <a:cs typeface="Calibri"/>
              </a:rPr>
              <a:t>107</a:t>
            </a:r>
            <a:endParaRPr sz="1575" baseline="2645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175503" y="4337303"/>
            <a:ext cx="3968750" cy="2243455"/>
            <a:chOff x="5175503" y="4337303"/>
            <a:chExt cx="3968750" cy="2243455"/>
          </a:xfrm>
        </p:grpSpPr>
        <p:sp>
          <p:nvSpPr>
            <p:cNvPr id="61" name="object 61"/>
            <p:cNvSpPr/>
            <p:nvPr/>
          </p:nvSpPr>
          <p:spPr>
            <a:xfrm>
              <a:off x="5410199" y="5995415"/>
              <a:ext cx="1371600" cy="431800"/>
            </a:xfrm>
            <a:custGeom>
              <a:avLst/>
              <a:gdLst/>
              <a:ahLst/>
              <a:cxnLst/>
              <a:rect l="l" t="t" r="r" b="b"/>
              <a:pathLst>
                <a:path w="1371600" h="431800">
                  <a:moveTo>
                    <a:pt x="1256829" y="394069"/>
                  </a:moveTo>
                  <a:lnTo>
                    <a:pt x="1246631" y="431291"/>
                  </a:lnTo>
                  <a:lnTo>
                    <a:pt x="1371599" y="405383"/>
                  </a:lnTo>
                  <a:lnTo>
                    <a:pt x="1364850" y="399287"/>
                  </a:lnTo>
                  <a:lnTo>
                    <a:pt x="1275587" y="399287"/>
                  </a:lnTo>
                  <a:lnTo>
                    <a:pt x="1256829" y="394069"/>
                  </a:lnTo>
                  <a:close/>
                </a:path>
                <a:path w="1371600" h="431800">
                  <a:moveTo>
                    <a:pt x="1266896" y="357326"/>
                  </a:moveTo>
                  <a:lnTo>
                    <a:pt x="1256829" y="394069"/>
                  </a:lnTo>
                  <a:lnTo>
                    <a:pt x="1275587" y="399287"/>
                  </a:lnTo>
                  <a:lnTo>
                    <a:pt x="1286255" y="362711"/>
                  </a:lnTo>
                  <a:lnTo>
                    <a:pt x="1266896" y="357326"/>
                  </a:lnTo>
                  <a:close/>
                </a:path>
                <a:path w="1371600" h="431800">
                  <a:moveTo>
                    <a:pt x="1277111" y="320039"/>
                  </a:moveTo>
                  <a:lnTo>
                    <a:pt x="1266896" y="357326"/>
                  </a:lnTo>
                  <a:lnTo>
                    <a:pt x="1286255" y="362711"/>
                  </a:lnTo>
                  <a:lnTo>
                    <a:pt x="1275587" y="399287"/>
                  </a:lnTo>
                  <a:lnTo>
                    <a:pt x="1364850" y="399287"/>
                  </a:lnTo>
                  <a:lnTo>
                    <a:pt x="1277111" y="320039"/>
                  </a:lnTo>
                  <a:close/>
                </a:path>
                <a:path w="1371600" h="431800">
                  <a:moveTo>
                    <a:pt x="116294" y="37222"/>
                  </a:moveTo>
                  <a:lnTo>
                    <a:pt x="106227" y="73965"/>
                  </a:lnTo>
                  <a:lnTo>
                    <a:pt x="1256829" y="394069"/>
                  </a:lnTo>
                  <a:lnTo>
                    <a:pt x="1266896" y="357326"/>
                  </a:lnTo>
                  <a:lnTo>
                    <a:pt x="116294" y="37222"/>
                  </a:lnTo>
                  <a:close/>
                </a:path>
                <a:path w="1371600" h="431800">
                  <a:moveTo>
                    <a:pt x="126491" y="0"/>
                  </a:moveTo>
                  <a:lnTo>
                    <a:pt x="0" y="24383"/>
                  </a:lnTo>
                  <a:lnTo>
                    <a:pt x="96012" y="111251"/>
                  </a:lnTo>
                  <a:lnTo>
                    <a:pt x="106227" y="73965"/>
                  </a:lnTo>
                  <a:lnTo>
                    <a:pt x="86867" y="68579"/>
                  </a:lnTo>
                  <a:lnTo>
                    <a:pt x="97535" y="32003"/>
                  </a:lnTo>
                  <a:lnTo>
                    <a:pt x="117723" y="32003"/>
                  </a:lnTo>
                  <a:lnTo>
                    <a:pt x="126491" y="0"/>
                  </a:lnTo>
                  <a:close/>
                </a:path>
                <a:path w="1371600" h="431800">
                  <a:moveTo>
                    <a:pt x="97535" y="32003"/>
                  </a:moveTo>
                  <a:lnTo>
                    <a:pt x="86867" y="68579"/>
                  </a:lnTo>
                  <a:lnTo>
                    <a:pt x="106227" y="73965"/>
                  </a:lnTo>
                  <a:lnTo>
                    <a:pt x="116294" y="37222"/>
                  </a:lnTo>
                  <a:lnTo>
                    <a:pt x="97535" y="32003"/>
                  </a:lnTo>
                  <a:close/>
                </a:path>
                <a:path w="1371600" h="431800">
                  <a:moveTo>
                    <a:pt x="117723" y="32003"/>
                  </a:moveTo>
                  <a:lnTo>
                    <a:pt x="97535" y="32003"/>
                  </a:lnTo>
                  <a:lnTo>
                    <a:pt x="116294" y="37222"/>
                  </a:lnTo>
                  <a:lnTo>
                    <a:pt x="117723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38999" y="6134099"/>
              <a:ext cx="1904999" cy="446531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846063" y="6202679"/>
              <a:ext cx="407034" cy="265430"/>
            </a:xfrm>
            <a:custGeom>
              <a:avLst/>
              <a:gdLst/>
              <a:ahLst/>
              <a:cxnLst/>
              <a:rect l="l" t="t" r="r" b="b"/>
              <a:pathLst>
                <a:path w="407035" h="265429">
                  <a:moveTo>
                    <a:pt x="271271" y="233172"/>
                  </a:moveTo>
                  <a:lnTo>
                    <a:pt x="263651" y="233172"/>
                  </a:lnTo>
                  <a:lnTo>
                    <a:pt x="265175" y="234695"/>
                  </a:lnTo>
                  <a:lnTo>
                    <a:pt x="271271" y="234695"/>
                  </a:lnTo>
                  <a:lnTo>
                    <a:pt x="271271" y="233172"/>
                  </a:lnTo>
                  <a:close/>
                </a:path>
                <a:path w="407035" h="265429">
                  <a:moveTo>
                    <a:pt x="290067" y="134111"/>
                  </a:moveTo>
                  <a:lnTo>
                    <a:pt x="259079" y="134111"/>
                  </a:lnTo>
                  <a:lnTo>
                    <a:pt x="262127" y="135635"/>
                  </a:lnTo>
                  <a:lnTo>
                    <a:pt x="266699" y="137159"/>
                  </a:lnTo>
                  <a:lnTo>
                    <a:pt x="268223" y="138684"/>
                  </a:lnTo>
                  <a:lnTo>
                    <a:pt x="271271" y="140207"/>
                  </a:lnTo>
                  <a:lnTo>
                    <a:pt x="272795" y="141731"/>
                  </a:lnTo>
                  <a:lnTo>
                    <a:pt x="274319" y="144779"/>
                  </a:lnTo>
                  <a:lnTo>
                    <a:pt x="274319" y="147828"/>
                  </a:lnTo>
                  <a:lnTo>
                    <a:pt x="275843" y="150875"/>
                  </a:lnTo>
                  <a:lnTo>
                    <a:pt x="275843" y="161544"/>
                  </a:lnTo>
                  <a:lnTo>
                    <a:pt x="274319" y="164591"/>
                  </a:lnTo>
                  <a:lnTo>
                    <a:pt x="272795" y="169163"/>
                  </a:lnTo>
                  <a:lnTo>
                    <a:pt x="254507" y="227075"/>
                  </a:lnTo>
                  <a:lnTo>
                    <a:pt x="254507" y="230123"/>
                  </a:lnTo>
                  <a:lnTo>
                    <a:pt x="256031" y="230123"/>
                  </a:lnTo>
                  <a:lnTo>
                    <a:pt x="257555" y="231647"/>
                  </a:lnTo>
                  <a:lnTo>
                    <a:pt x="259079" y="231647"/>
                  </a:lnTo>
                  <a:lnTo>
                    <a:pt x="260603" y="233172"/>
                  </a:lnTo>
                  <a:lnTo>
                    <a:pt x="272795" y="233172"/>
                  </a:lnTo>
                  <a:lnTo>
                    <a:pt x="291083" y="172211"/>
                  </a:lnTo>
                  <a:lnTo>
                    <a:pt x="292607" y="166115"/>
                  </a:lnTo>
                  <a:lnTo>
                    <a:pt x="294131" y="161544"/>
                  </a:lnTo>
                  <a:lnTo>
                    <a:pt x="294131" y="155447"/>
                  </a:lnTo>
                  <a:lnTo>
                    <a:pt x="295655" y="150875"/>
                  </a:lnTo>
                  <a:lnTo>
                    <a:pt x="290067" y="134111"/>
                  </a:lnTo>
                  <a:close/>
                </a:path>
                <a:path w="407035" h="265429">
                  <a:moveTo>
                    <a:pt x="208787" y="213359"/>
                  </a:moveTo>
                  <a:lnTo>
                    <a:pt x="201167" y="213359"/>
                  </a:lnTo>
                  <a:lnTo>
                    <a:pt x="202691" y="214884"/>
                  </a:lnTo>
                  <a:lnTo>
                    <a:pt x="208787" y="214884"/>
                  </a:lnTo>
                  <a:lnTo>
                    <a:pt x="208787" y="213359"/>
                  </a:lnTo>
                  <a:close/>
                </a:path>
                <a:path w="407035" h="265429">
                  <a:moveTo>
                    <a:pt x="227837" y="114300"/>
                  </a:moveTo>
                  <a:lnTo>
                    <a:pt x="196595" y="114300"/>
                  </a:lnTo>
                  <a:lnTo>
                    <a:pt x="201167" y="115823"/>
                  </a:lnTo>
                  <a:lnTo>
                    <a:pt x="204215" y="117347"/>
                  </a:lnTo>
                  <a:lnTo>
                    <a:pt x="205739" y="118872"/>
                  </a:lnTo>
                  <a:lnTo>
                    <a:pt x="208787" y="120395"/>
                  </a:lnTo>
                  <a:lnTo>
                    <a:pt x="210311" y="121919"/>
                  </a:lnTo>
                  <a:lnTo>
                    <a:pt x="211835" y="124967"/>
                  </a:lnTo>
                  <a:lnTo>
                    <a:pt x="211835" y="128015"/>
                  </a:lnTo>
                  <a:lnTo>
                    <a:pt x="213359" y="131063"/>
                  </a:lnTo>
                  <a:lnTo>
                    <a:pt x="213359" y="141731"/>
                  </a:lnTo>
                  <a:lnTo>
                    <a:pt x="211835" y="144779"/>
                  </a:lnTo>
                  <a:lnTo>
                    <a:pt x="210311" y="149351"/>
                  </a:lnTo>
                  <a:lnTo>
                    <a:pt x="192023" y="207263"/>
                  </a:lnTo>
                  <a:lnTo>
                    <a:pt x="192023" y="208787"/>
                  </a:lnTo>
                  <a:lnTo>
                    <a:pt x="195071" y="211835"/>
                  </a:lnTo>
                  <a:lnTo>
                    <a:pt x="196595" y="211835"/>
                  </a:lnTo>
                  <a:lnTo>
                    <a:pt x="198119" y="213359"/>
                  </a:lnTo>
                  <a:lnTo>
                    <a:pt x="210311" y="213359"/>
                  </a:lnTo>
                  <a:lnTo>
                    <a:pt x="231647" y="146303"/>
                  </a:lnTo>
                  <a:lnTo>
                    <a:pt x="237743" y="141731"/>
                  </a:lnTo>
                  <a:lnTo>
                    <a:pt x="243839" y="138684"/>
                  </a:lnTo>
                  <a:lnTo>
                    <a:pt x="248411" y="137159"/>
                  </a:lnTo>
                  <a:lnTo>
                    <a:pt x="254507" y="134111"/>
                  </a:lnTo>
                  <a:lnTo>
                    <a:pt x="290067" y="134111"/>
                  </a:lnTo>
                  <a:lnTo>
                    <a:pt x="289559" y="132587"/>
                  </a:lnTo>
                  <a:lnTo>
                    <a:pt x="286511" y="129539"/>
                  </a:lnTo>
                  <a:lnTo>
                    <a:pt x="233171" y="129539"/>
                  </a:lnTo>
                  <a:lnTo>
                    <a:pt x="231647" y="126491"/>
                  </a:lnTo>
                  <a:lnTo>
                    <a:pt x="231647" y="123443"/>
                  </a:lnTo>
                  <a:lnTo>
                    <a:pt x="230123" y="120395"/>
                  </a:lnTo>
                  <a:lnTo>
                    <a:pt x="230123" y="118872"/>
                  </a:lnTo>
                  <a:lnTo>
                    <a:pt x="227837" y="114300"/>
                  </a:lnTo>
                  <a:close/>
                </a:path>
                <a:path w="407035" h="265429">
                  <a:moveTo>
                    <a:pt x="172211" y="91439"/>
                  </a:moveTo>
                  <a:lnTo>
                    <a:pt x="160019" y="91439"/>
                  </a:lnTo>
                  <a:lnTo>
                    <a:pt x="129539" y="187451"/>
                  </a:lnTo>
                  <a:lnTo>
                    <a:pt x="129539" y="188975"/>
                  </a:lnTo>
                  <a:lnTo>
                    <a:pt x="132587" y="192023"/>
                  </a:lnTo>
                  <a:lnTo>
                    <a:pt x="134111" y="192023"/>
                  </a:lnTo>
                  <a:lnTo>
                    <a:pt x="135635" y="193547"/>
                  </a:lnTo>
                  <a:lnTo>
                    <a:pt x="140207" y="193547"/>
                  </a:lnTo>
                  <a:lnTo>
                    <a:pt x="141731" y="195072"/>
                  </a:lnTo>
                  <a:lnTo>
                    <a:pt x="146303" y="195072"/>
                  </a:lnTo>
                  <a:lnTo>
                    <a:pt x="147827" y="193547"/>
                  </a:lnTo>
                  <a:lnTo>
                    <a:pt x="169163" y="126491"/>
                  </a:lnTo>
                  <a:lnTo>
                    <a:pt x="175259" y="121919"/>
                  </a:lnTo>
                  <a:lnTo>
                    <a:pt x="181355" y="118872"/>
                  </a:lnTo>
                  <a:lnTo>
                    <a:pt x="187451" y="117347"/>
                  </a:lnTo>
                  <a:lnTo>
                    <a:pt x="192023" y="114300"/>
                  </a:lnTo>
                  <a:lnTo>
                    <a:pt x="227837" y="114300"/>
                  </a:lnTo>
                  <a:lnTo>
                    <a:pt x="227075" y="112775"/>
                  </a:lnTo>
                  <a:lnTo>
                    <a:pt x="224027" y="111251"/>
                  </a:lnTo>
                  <a:lnTo>
                    <a:pt x="223265" y="109728"/>
                  </a:lnTo>
                  <a:lnTo>
                    <a:pt x="172211" y="109728"/>
                  </a:lnTo>
                  <a:lnTo>
                    <a:pt x="176783" y="96011"/>
                  </a:lnTo>
                  <a:lnTo>
                    <a:pt x="176783" y="94487"/>
                  </a:lnTo>
                  <a:lnTo>
                    <a:pt x="175259" y="94487"/>
                  </a:lnTo>
                  <a:lnTo>
                    <a:pt x="175259" y="92963"/>
                  </a:lnTo>
                  <a:lnTo>
                    <a:pt x="173735" y="92963"/>
                  </a:lnTo>
                  <a:lnTo>
                    <a:pt x="172211" y="91439"/>
                  </a:lnTo>
                  <a:close/>
                </a:path>
                <a:path w="407035" h="265429">
                  <a:moveTo>
                    <a:pt x="118871" y="74675"/>
                  </a:moveTo>
                  <a:lnTo>
                    <a:pt x="111251" y="74675"/>
                  </a:lnTo>
                  <a:lnTo>
                    <a:pt x="111251" y="76200"/>
                  </a:lnTo>
                  <a:lnTo>
                    <a:pt x="80771" y="172211"/>
                  </a:lnTo>
                  <a:lnTo>
                    <a:pt x="80771" y="173735"/>
                  </a:lnTo>
                  <a:lnTo>
                    <a:pt x="82295" y="175259"/>
                  </a:lnTo>
                  <a:lnTo>
                    <a:pt x="83819" y="175259"/>
                  </a:lnTo>
                  <a:lnTo>
                    <a:pt x="83819" y="176784"/>
                  </a:lnTo>
                  <a:lnTo>
                    <a:pt x="86867" y="176784"/>
                  </a:lnTo>
                  <a:lnTo>
                    <a:pt x="88391" y="178307"/>
                  </a:lnTo>
                  <a:lnTo>
                    <a:pt x="92963" y="178307"/>
                  </a:lnTo>
                  <a:lnTo>
                    <a:pt x="94487" y="179831"/>
                  </a:lnTo>
                  <a:lnTo>
                    <a:pt x="96012" y="179831"/>
                  </a:lnTo>
                  <a:lnTo>
                    <a:pt x="99059" y="176784"/>
                  </a:lnTo>
                  <a:lnTo>
                    <a:pt x="129539" y="82295"/>
                  </a:lnTo>
                  <a:lnTo>
                    <a:pt x="129539" y="80772"/>
                  </a:lnTo>
                  <a:lnTo>
                    <a:pt x="126491" y="77723"/>
                  </a:lnTo>
                  <a:lnTo>
                    <a:pt x="124967" y="77723"/>
                  </a:lnTo>
                  <a:lnTo>
                    <a:pt x="123443" y="76200"/>
                  </a:lnTo>
                  <a:lnTo>
                    <a:pt x="120395" y="76200"/>
                  </a:lnTo>
                  <a:lnTo>
                    <a:pt x="118871" y="74675"/>
                  </a:lnTo>
                  <a:close/>
                </a:path>
                <a:path w="407035" h="265429">
                  <a:moveTo>
                    <a:pt x="6095" y="0"/>
                  </a:moveTo>
                  <a:lnTo>
                    <a:pt x="3048" y="0"/>
                  </a:lnTo>
                  <a:lnTo>
                    <a:pt x="3048" y="1523"/>
                  </a:lnTo>
                  <a:lnTo>
                    <a:pt x="1524" y="3047"/>
                  </a:lnTo>
                  <a:lnTo>
                    <a:pt x="1524" y="4571"/>
                  </a:lnTo>
                  <a:lnTo>
                    <a:pt x="0" y="6095"/>
                  </a:lnTo>
                  <a:lnTo>
                    <a:pt x="0" y="15239"/>
                  </a:lnTo>
                  <a:lnTo>
                    <a:pt x="1524" y="15239"/>
                  </a:lnTo>
                  <a:lnTo>
                    <a:pt x="39624" y="27431"/>
                  </a:lnTo>
                  <a:lnTo>
                    <a:pt x="3048" y="146303"/>
                  </a:lnTo>
                  <a:lnTo>
                    <a:pt x="3048" y="149351"/>
                  </a:lnTo>
                  <a:lnTo>
                    <a:pt x="4571" y="150875"/>
                  </a:lnTo>
                  <a:lnTo>
                    <a:pt x="6095" y="150875"/>
                  </a:lnTo>
                  <a:lnTo>
                    <a:pt x="7619" y="152400"/>
                  </a:lnTo>
                  <a:lnTo>
                    <a:pt x="10667" y="152400"/>
                  </a:lnTo>
                  <a:lnTo>
                    <a:pt x="12191" y="153923"/>
                  </a:lnTo>
                  <a:lnTo>
                    <a:pt x="21336" y="153923"/>
                  </a:lnTo>
                  <a:lnTo>
                    <a:pt x="21336" y="152400"/>
                  </a:lnTo>
                  <a:lnTo>
                    <a:pt x="59436" y="33528"/>
                  </a:lnTo>
                  <a:lnTo>
                    <a:pt x="105155" y="33528"/>
                  </a:lnTo>
                  <a:lnTo>
                    <a:pt x="105155" y="32003"/>
                  </a:lnTo>
                  <a:lnTo>
                    <a:pt x="103631" y="32003"/>
                  </a:lnTo>
                  <a:lnTo>
                    <a:pt x="103631" y="30479"/>
                  </a:lnTo>
                  <a:lnTo>
                    <a:pt x="102107" y="30479"/>
                  </a:lnTo>
                  <a:lnTo>
                    <a:pt x="6095" y="0"/>
                  </a:lnTo>
                  <a:close/>
                </a:path>
                <a:path w="407035" h="265429">
                  <a:moveTo>
                    <a:pt x="268223" y="120395"/>
                  </a:moveTo>
                  <a:lnTo>
                    <a:pt x="254507" y="120395"/>
                  </a:lnTo>
                  <a:lnTo>
                    <a:pt x="248411" y="123443"/>
                  </a:lnTo>
                  <a:lnTo>
                    <a:pt x="243839" y="123443"/>
                  </a:lnTo>
                  <a:lnTo>
                    <a:pt x="240791" y="124967"/>
                  </a:lnTo>
                  <a:lnTo>
                    <a:pt x="236219" y="128015"/>
                  </a:lnTo>
                  <a:lnTo>
                    <a:pt x="233171" y="129539"/>
                  </a:lnTo>
                  <a:lnTo>
                    <a:pt x="286511" y="129539"/>
                  </a:lnTo>
                  <a:lnTo>
                    <a:pt x="277367" y="123443"/>
                  </a:lnTo>
                  <a:lnTo>
                    <a:pt x="271271" y="121919"/>
                  </a:lnTo>
                  <a:lnTo>
                    <a:pt x="268223" y="120395"/>
                  </a:lnTo>
                  <a:close/>
                </a:path>
                <a:path w="407035" h="265429">
                  <a:moveTo>
                    <a:pt x="204215" y="100584"/>
                  </a:moveTo>
                  <a:lnTo>
                    <a:pt x="192023" y="100584"/>
                  </a:lnTo>
                  <a:lnTo>
                    <a:pt x="185927" y="102107"/>
                  </a:lnTo>
                  <a:lnTo>
                    <a:pt x="179831" y="105156"/>
                  </a:lnTo>
                  <a:lnTo>
                    <a:pt x="172211" y="109728"/>
                  </a:lnTo>
                  <a:lnTo>
                    <a:pt x="223265" y="109728"/>
                  </a:lnTo>
                  <a:lnTo>
                    <a:pt x="222503" y="108203"/>
                  </a:lnTo>
                  <a:lnTo>
                    <a:pt x="213359" y="103631"/>
                  </a:lnTo>
                  <a:lnTo>
                    <a:pt x="204215" y="100584"/>
                  </a:lnTo>
                  <a:close/>
                </a:path>
                <a:path w="407035" h="265429">
                  <a:moveTo>
                    <a:pt x="167639" y="89915"/>
                  </a:moveTo>
                  <a:lnTo>
                    <a:pt x="161543" y="89915"/>
                  </a:lnTo>
                  <a:lnTo>
                    <a:pt x="161543" y="91439"/>
                  </a:lnTo>
                  <a:lnTo>
                    <a:pt x="169163" y="91439"/>
                  </a:lnTo>
                  <a:lnTo>
                    <a:pt x="167639" y="89915"/>
                  </a:lnTo>
                  <a:close/>
                </a:path>
                <a:path w="407035" h="265429">
                  <a:moveTo>
                    <a:pt x="129539" y="35051"/>
                  </a:moveTo>
                  <a:lnTo>
                    <a:pt x="124967" y="35051"/>
                  </a:lnTo>
                  <a:lnTo>
                    <a:pt x="121919" y="36575"/>
                  </a:lnTo>
                  <a:lnTo>
                    <a:pt x="118871" y="42671"/>
                  </a:lnTo>
                  <a:lnTo>
                    <a:pt x="117348" y="47243"/>
                  </a:lnTo>
                  <a:lnTo>
                    <a:pt x="117348" y="50291"/>
                  </a:lnTo>
                  <a:lnTo>
                    <a:pt x="118871" y="51815"/>
                  </a:lnTo>
                  <a:lnTo>
                    <a:pt x="120395" y="54863"/>
                  </a:lnTo>
                  <a:lnTo>
                    <a:pt x="121919" y="56387"/>
                  </a:lnTo>
                  <a:lnTo>
                    <a:pt x="126491" y="56387"/>
                  </a:lnTo>
                  <a:lnTo>
                    <a:pt x="131063" y="57911"/>
                  </a:lnTo>
                  <a:lnTo>
                    <a:pt x="135635" y="57911"/>
                  </a:lnTo>
                  <a:lnTo>
                    <a:pt x="138683" y="56387"/>
                  </a:lnTo>
                  <a:lnTo>
                    <a:pt x="141731" y="50291"/>
                  </a:lnTo>
                  <a:lnTo>
                    <a:pt x="141731" y="41147"/>
                  </a:lnTo>
                  <a:lnTo>
                    <a:pt x="140207" y="39623"/>
                  </a:lnTo>
                  <a:lnTo>
                    <a:pt x="134111" y="36575"/>
                  </a:lnTo>
                  <a:lnTo>
                    <a:pt x="129539" y="35051"/>
                  </a:lnTo>
                  <a:close/>
                </a:path>
                <a:path w="407035" h="265429">
                  <a:moveTo>
                    <a:pt x="105155" y="33528"/>
                  </a:moveTo>
                  <a:lnTo>
                    <a:pt x="59436" y="33528"/>
                  </a:lnTo>
                  <a:lnTo>
                    <a:pt x="97536" y="45719"/>
                  </a:lnTo>
                  <a:lnTo>
                    <a:pt x="100583" y="45719"/>
                  </a:lnTo>
                  <a:lnTo>
                    <a:pt x="100583" y="44195"/>
                  </a:lnTo>
                  <a:lnTo>
                    <a:pt x="102107" y="44195"/>
                  </a:lnTo>
                  <a:lnTo>
                    <a:pt x="102107" y="41147"/>
                  </a:lnTo>
                  <a:lnTo>
                    <a:pt x="103631" y="41147"/>
                  </a:lnTo>
                  <a:lnTo>
                    <a:pt x="103631" y="35051"/>
                  </a:lnTo>
                  <a:lnTo>
                    <a:pt x="105155" y="35051"/>
                  </a:lnTo>
                  <a:lnTo>
                    <a:pt x="105155" y="33528"/>
                  </a:lnTo>
                  <a:close/>
                </a:path>
                <a:path w="407035" h="265429">
                  <a:moveTo>
                    <a:pt x="379475" y="263651"/>
                  </a:moveTo>
                  <a:lnTo>
                    <a:pt x="361187" y="263651"/>
                  </a:lnTo>
                  <a:lnTo>
                    <a:pt x="365759" y="265175"/>
                  </a:lnTo>
                  <a:lnTo>
                    <a:pt x="377951" y="265175"/>
                  </a:lnTo>
                  <a:lnTo>
                    <a:pt x="379475" y="263651"/>
                  </a:lnTo>
                  <a:close/>
                </a:path>
                <a:path w="407035" h="265429">
                  <a:moveTo>
                    <a:pt x="368807" y="152400"/>
                  </a:moveTo>
                  <a:lnTo>
                    <a:pt x="348995" y="152400"/>
                  </a:lnTo>
                  <a:lnTo>
                    <a:pt x="342899" y="155447"/>
                  </a:lnTo>
                  <a:lnTo>
                    <a:pt x="338327" y="158495"/>
                  </a:lnTo>
                  <a:lnTo>
                    <a:pt x="332231" y="161544"/>
                  </a:lnTo>
                  <a:lnTo>
                    <a:pt x="327659" y="166115"/>
                  </a:lnTo>
                  <a:lnTo>
                    <a:pt x="318515" y="178307"/>
                  </a:lnTo>
                  <a:lnTo>
                    <a:pt x="315467" y="184403"/>
                  </a:lnTo>
                  <a:lnTo>
                    <a:pt x="313943" y="193547"/>
                  </a:lnTo>
                  <a:lnTo>
                    <a:pt x="310895" y="202691"/>
                  </a:lnTo>
                  <a:lnTo>
                    <a:pt x="309371" y="210311"/>
                  </a:lnTo>
                  <a:lnTo>
                    <a:pt x="309371" y="224028"/>
                  </a:lnTo>
                  <a:lnTo>
                    <a:pt x="336803" y="257556"/>
                  </a:lnTo>
                  <a:lnTo>
                    <a:pt x="353567" y="263651"/>
                  </a:lnTo>
                  <a:lnTo>
                    <a:pt x="382523" y="263651"/>
                  </a:lnTo>
                  <a:lnTo>
                    <a:pt x="382523" y="262128"/>
                  </a:lnTo>
                  <a:lnTo>
                    <a:pt x="384047" y="262128"/>
                  </a:lnTo>
                  <a:lnTo>
                    <a:pt x="384047" y="259079"/>
                  </a:lnTo>
                  <a:lnTo>
                    <a:pt x="385571" y="259079"/>
                  </a:lnTo>
                  <a:lnTo>
                    <a:pt x="385571" y="254507"/>
                  </a:lnTo>
                  <a:lnTo>
                    <a:pt x="387095" y="252984"/>
                  </a:lnTo>
                  <a:lnTo>
                    <a:pt x="387095" y="251459"/>
                  </a:lnTo>
                  <a:lnTo>
                    <a:pt x="385571" y="251459"/>
                  </a:lnTo>
                  <a:lnTo>
                    <a:pt x="385571" y="249935"/>
                  </a:lnTo>
                  <a:lnTo>
                    <a:pt x="359663" y="249935"/>
                  </a:lnTo>
                  <a:lnTo>
                    <a:pt x="350519" y="246887"/>
                  </a:lnTo>
                  <a:lnTo>
                    <a:pt x="344423" y="245363"/>
                  </a:lnTo>
                  <a:lnTo>
                    <a:pt x="339851" y="242315"/>
                  </a:lnTo>
                  <a:lnTo>
                    <a:pt x="330707" y="233172"/>
                  </a:lnTo>
                  <a:lnTo>
                    <a:pt x="329183" y="230123"/>
                  </a:lnTo>
                  <a:lnTo>
                    <a:pt x="327659" y="225551"/>
                  </a:lnTo>
                  <a:lnTo>
                    <a:pt x="327659" y="211835"/>
                  </a:lnTo>
                  <a:lnTo>
                    <a:pt x="330707" y="202691"/>
                  </a:lnTo>
                  <a:lnTo>
                    <a:pt x="377397" y="202691"/>
                  </a:lnTo>
                  <a:lnTo>
                    <a:pt x="333755" y="188975"/>
                  </a:lnTo>
                  <a:lnTo>
                    <a:pt x="335279" y="185928"/>
                  </a:lnTo>
                  <a:lnTo>
                    <a:pt x="338327" y="181356"/>
                  </a:lnTo>
                  <a:lnTo>
                    <a:pt x="339851" y="178307"/>
                  </a:lnTo>
                  <a:lnTo>
                    <a:pt x="342899" y="175259"/>
                  </a:lnTo>
                  <a:lnTo>
                    <a:pt x="344423" y="172211"/>
                  </a:lnTo>
                  <a:lnTo>
                    <a:pt x="348995" y="170687"/>
                  </a:lnTo>
                  <a:lnTo>
                    <a:pt x="355091" y="167639"/>
                  </a:lnTo>
                  <a:lnTo>
                    <a:pt x="358139" y="167639"/>
                  </a:lnTo>
                  <a:lnTo>
                    <a:pt x="362711" y="166115"/>
                  </a:lnTo>
                  <a:lnTo>
                    <a:pt x="396239" y="166115"/>
                  </a:lnTo>
                  <a:lnTo>
                    <a:pt x="390143" y="160019"/>
                  </a:lnTo>
                  <a:lnTo>
                    <a:pt x="384047" y="156972"/>
                  </a:lnTo>
                  <a:lnTo>
                    <a:pt x="376427" y="155447"/>
                  </a:lnTo>
                  <a:lnTo>
                    <a:pt x="368807" y="152400"/>
                  </a:lnTo>
                  <a:close/>
                </a:path>
                <a:path w="407035" h="265429">
                  <a:moveTo>
                    <a:pt x="377397" y="202691"/>
                  </a:moveTo>
                  <a:lnTo>
                    <a:pt x="330707" y="202691"/>
                  </a:lnTo>
                  <a:lnTo>
                    <a:pt x="393191" y="222503"/>
                  </a:lnTo>
                  <a:lnTo>
                    <a:pt x="399287" y="222503"/>
                  </a:lnTo>
                  <a:lnTo>
                    <a:pt x="402335" y="219456"/>
                  </a:lnTo>
                  <a:lnTo>
                    <a:pt x="402335" y="216407"/>
                  </a:lnTo>
                  <a:lnTo>
                    <a:pt x="403859" y="213359"/>
                  </a:lnTo>
                  <a:lnTo>
                    <a:pt x="405764" y="205739"/>
                  </a:lnTo>
                  <a:lnTo>
                    <a:pt x="387095" y="205739"/>
                  </a:lnTo>
                  <a:lnTo>
                    <a:pt x="377397" y="202691"/>
                  </a:lnTo>
                  <a:close/>
                </a:path>
                <a:path w="407035" h="265429">
                  <a:moveTo>
                    <a:pt x="396239" y="166115"/>
                  </a:moveTo>
                  <a:lnTo>
                    <a:pt x="362711" y="166115"/>
                  </a:lnTo>
                  <a:lnTo>
                    <a:pt x="365759" y="167639"/>
                  </a:lnTo>
                  <a:lnTo>
                    <a:pt x="370331" y="167639"/>
                  </a:lnTo>
                  <a:lnTo>
                    <a:pt x="379475" y="170687"/>
                  </a:lnTo>
                  <a:lnTo>
                    <a:pt x="385571" y="175259"/>
                  </a:lnTo>
                  <a:lnTo>
                    <a:pt x="387095" y="182879"/>
                  </a:lnTo>
                  <a:lnTo>
                    <a:pt x="390143" y="188975"/>
                  </a:lnTo>
                  <a:lnTo>
                    <a:pt x="390143" y="196595"/>
                  </a:lnTo>
                  <a:lnTo>
                    <a:pt x="387095" y="205739"/>
                  </a:lnTo>
                  <a:lnTo>
                    <a:pt x="405764" y="205739"/>
                  </a:lnTo>
                  <a:lnTo>
                    <a:pt x="406907" y="201167"/>
                  </a:lnTo>
                  <a:lnTo>
                    <a:pt x="406907" y="188975"/>
                  </a:lnTo>
                  <a:lnTo>
                    <a:pt x="405383" y="182879"/>
                  </a:lnTo>
                  <a:lnTo>
                    <a:pt x="402335" y="173735"/>
                  </a:lnTo>
                  <a:lnTo>
                    <a:pt x="399287" y="169163"/>
                  </a:lnTo>
                  <a:lnTo>
                    <a:pt x="396239" y="1661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37276" y="4651248"/>
              <a:ext cx="155447" cy="124510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37276" y="4651248"/>
              <a:ext cx="155447" cy="124510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632703" y="4646675"/>
              <a:ext cx="166370" cy="1254760"/>
            </a:xfrm>
            <a:custGeom>
              <a:avLst/>
              <a:gdLst/>
              <a:ahLst/>
              <a:cxnLst/>
              <a:rect l="l" t="t" r="r" b="b"/>
              <a:pathLst>
                <a:path w="166370" h="1254760">
                  <a:moveTo>
                    <a:pt x="9143" y="0"/>
                  </a:moveTo>
                  <a:lnTo>
                    <a:pt x="4572" y="0"/>
                  </a:lnTo>
                  <a:lnTo>
                    <a:pt x="0" y="4571"/>
                  </a:lnTo>
                  <a:lnTo>
                    <a:pt x="0" y="1207007"/>
                  </a:lnTo>
                  <a:lnTo>
                    <a:pt x="3048" y="1208531"/>
                  </a:lnTo>
                  <a:lnTo>
                    <a:pt x="4572" y="1210055"/>
                  </a:lnTo>
                  <a:lnTo>
                    <a:pt x="156972" y="1254251"/>
                  </a:lnTo>
                  <a:lnTo>
                    <a:pt x="161543" y="1254251"/>
                  </a:lnTo>
                  <a:lnTo>
                    <a:pt x="166115" y="1249679"/>
                  </a:lnTo>
                  <a:lnTo>
                    <a:pt x="166115" y="1248155"/>
                  </a:lnTo>
                  <a:lnTo>
                    <a:pt x="152400" y="1248155"/>
                  </a:lnTo>
                  <a:lnTo>
                    <a:pt x="152400" y="1239408"/>
                  </a:lnTo>
                  <a:lnTo>
                    <a:pt x="30164" y="1203959"/>
                  </a:lnTo>
                  <a:lnTo>
                    <a:pt x="13715" y="1203959"/>
                  </a:lnTo>
                  <a:lnTo>
                    <a:pt x="9143" y="1197863"/>
                  </a:lnTo>
                  <a:lnTo>
                    <a:pt x="13715" y="1197863"/>
                  </a:lnTo>
                  <a:lnTo>
                    <a:pt x="13715" y="14843"/>
                  </a:lnTo>
                  <a:lnTo>
                    <a:pt x="4572" y="12191"/>
                  </a:lnTo>
                  <a:lnTo>
                    <a:pt x="13715" y="6095"/>
                  </a:lnTo>
                  <a:lnTo>
                    <a:pt x="30164" y="6095"/>
                  </a:lnTo>
                  <a:lnTo>
                    <a:pt x="9143" y="0"/>
                  </a:lnTo>
                  <a:close/>
                </a:path>
                <a:path w="166370" h="1254760">
                  <a:moveTo>
                    <a:pt x="152400" y="1239408"/>
                  </a:moveTo>
                  <a:lnTo>
                    <a:pt x="152400" y="1248155"/>
                  </a:lnTo>
                  <a:lnTo>
                    <a:pt x="161543" y="1242059"/>
                  </a:lnTo>
                  <a:lnTo>
                    <a:pt x="152400" y="1239408"/>
                  </a:lnTo>
                  <a:close/>
                </a:path>
                <a:path w="166370" h="1254760">
                  <a:moveTo>
                    <a:pt x="152400" y="55062"/>
                  </a:moveTo>
                  <a:lnTo>
                    <a:pt x="152400" y="1239408"/>
                  </a:lnTo>
                  <a:lnTo>
                    <a:pt x="161543" y="1242059"/>
                  </a:lnTo>
                  <a:lnTo>
                    <a:pt x="152400" y="1248155"/>
                  </a:lnTo>
                  <a:lnTo>
                    <a:pt x="166115" y="1248155"/>
                  </a:lnTo>
                  <a:lnTo>
                    <a:pt x="166115" y="56387"/>
                  </a:lnTo>
                  <a:lnTo>
                    <a:pt x="156972" y="56387"/>
                  </a:lnTo>
                  <a:lnTo>
                    <a:pt x="152400" y="55062"/>
                  </a:lnTo>
                  <a:close/>
                </a:path>
                <a:path w="166370" h="1254760">
                  <a:moveTo>
                    <a:pt x="9143" y="1197863"/>
                  </a:moveTo>
                  <a:lnTo>
                    <a:pt x="13715" y="1203959"/>
                  </a:lnTo>
                  <a:lnTo>
                    <a:pt x="13715" y="1199189"/>
                  </a:lnTo>
                  <a:lnTo>
                    <a:pt x="9143" y="1197863"/>
                  </a:lnTo>
                  <a:close/>
                </a:path>
                <a:path w="166370" h="1254760">
                  <a:moveTo>
                    <a:pt x="13715" y="1199189"/>
                  </a:moveTo>
                  <a:lnTo>
                    <a:pt x="13715" y="1203959"/>
                  </a:lnTo>
                  <a:lnTo>
                    <a:pt x="30164" y="1203959"/>
                  </a:lnTo>
                  <a:lnTo>
                    <a:pt x="13715" y="1199189"/>
                  </a:lnTo>
                  <a:close/>
                </a:path>
                <a:path w="166370" h="1254760">
                  <a:moveTo>
                    <a:pt x="13715" y="1197863"/>
                  </a:moveTo>
                  <a:lnTo>
                    <a:pt x="9143" y="1197863"/>
                  </a:lnTo>
                  <a:lnTo>
                    <a:pt x="13715" y="1199189"/>
                  </a:lnTo>
                  <a:lnTo>
                    <a:pt x="13715" y="1197863"/>
                  </a:lnTo>
                  <a:close/>
                </a:path>
                <a:path w="166370" h="1254760">
                  <a:moveTo>
                    <a:pt x="152400" y="50291"/>
                  </a:moveTo>
                  <a:lnTo>
                    <a:pt x="152400" y="55062"/>
                  </a:lnTo>
                  <a:lnTo>
                    <a:pt x="156972" y="56387"/>
                  </a:lnTo>
                  <a:lnTo>
                    <a:pt x="152400" y="50291"/>
                  </a:lnTo>
                  <a:close/>
                </a:path>
                <a:path w="166370" h="1254760">
                  <a:moveTo>
                    <a:pt x="166115" y="50291"/>
                  </a:moveTo>
                  <a:lnTo>
                    <a:pt x="152400" y="50291"/>
                  </a:lnTo>
                  <a:lnTo>
                    <a:pt x="156972" y="56387"/>
                  </a:lnTo>
                  <a:lnTo>
                    <a:pt x="166115" y="56387"/>
                  </a:lnTo>
                  <a:lnTo>
                    <a:pt x="166115" y="50291"/>
                  </a:lnTo>
                  <a:close/>
                </a:path>
                <a:path w="166370" h="1254760">
                  <a:moveTo>
                    <a:pt x="30164" y="6095"/>
                  </a:moveTo>
                  <a:lnTo>
                    <a:pt x="13715" y="6095"/>
                  </a:lnTo>
                  <a:lnTo>
                    <a:pt x="13715" y="14843"/>
                  </a:lnTo>
                  <a:lnTo>
                    <a:pt x="152400" y="55062"/>
                  </a:lnTo>
                  <a:lnTo>
                    <a:pt x="152400" y="50291"/>
                  </a:lnTo>
                  <a:lnTo>
                    <a:pt x="166115" y="50291"/>
                  </a:lnTo>
                  <a:lnTo>
                    <a:pt x="166115" y="48767"/>
                  </a:lnTo>
                  <a:lnTo>
                    <a:pt x="161543" y="44195"/>
                  </a:lnTo>
                  <a:lnTo>
                    <a:pt x="30164" y="6095"/>
                  </a:lnTo>
                  <a:close/>
                </a:path>
                <a:path w="166370" h="1254760">
                  <a:moveTo>
                    <a:pt x="13715" y="6095"/>
                  </a:moveTo>
                  <a:lnTo>
                    <a:pt x="4572" y="12191"/>
                  </a:lnTo>
                  <a:lnTo>
                    <a:pt x="13715" y="14843"/>
                  </a:lnTo>
                  <a:lnTo>
                    <a:pt x="13715" y="6095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37276" y="4341876"/>
              <a:ext cx="2060447" cy="35813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37276" y="4341876"/>
              <a:ext cx="2060447" cy="35813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632703" y="4337303"/>
              <a:ext cx="2071370" cy="367665"/>
            </a:xfrm>
            <a:custGeom>
              <a:avLst/>
              <a:gdLst/>
              <a:ahLst/>
              <a:cxnLst/>
              <a:rect l="l" t="t" r="r" b="b"/>
              <a:pathLst>
                <a:path w="2071370" h="367664">
                  <a:moveTo>
                    <a:pt x="9143" y="310895"/>
                  </a:moveTo>
                  <a:lnTo>
                    <a:pt x="3048" y="310895"/>
                  </a:lnTo>
                  <a:lnTo>
                    <a:pt x="0" y="313944"/>
                  </a:lnTo>
                  <a:lnTo>
                    <a:pt x="0" y="320039"/>
                  </a:lnTo>
                  <a:lnTo>
                    <a:pt x="1524" y="321563"/>
                  </a:lnTo>
                  <a:lnTo>
                    <a:pt x="4572" y="323088"/>
                  </a:lnTo>
                  <a:lnTo>
                    <a:pt x="156972" y="367283"/>
                  </a:lnTo>
                  <a:lnTo>
                    <a:pt x="160019" y="367283"/>
                  </a:lnTo>
                  <a:lnTo>
                    <a:pt x="235093" y="355092"/>
                  </a:lnTo>
                  <a:lnTo>
                    <a:pt x="158496" y="355092"/>
                  </a:lnTo>
                  <a:lnTo>
                    <a:pt x="160446" y="354773"/>
                  </a:lnTo>
                  <a:lnTo>
                    <a:pt x="51185" y="323088"/>
                  </a:lnTo>
                  <a:lnTo>
                    <a:pt x="7619" y="323088"/>
                  </a:lnTo>
                  <a:lnTo>
                    <a:pt x="9143" y="310895"/>
                  </a:lnTo>
                  <a:close/>
                </a:path>
                <a:path w="2071370" h="367664">
                  <a:moveTo>
                    <a:pt x="160446" y="354773"/>
                  </a:moveTo>
                  <a:lnTo>
                    <a:pt x="158496" y="355092"/>
                  </a:lnTo>
                  <a:lnTo>
                    <a:pt x="161543" y="355092"/>
                  </a:lnTo>
                  <a:lnTo>
                    <a:pt x="160446" y="354773"/>
                  </a:lnTo>
                  <a:close/>
                </a:path>
                <a:path w="2071370" h="367664">
                  <a:moveTo>
                    <a:pt x="2032897" y="49189"/>
                  </a:moveTo>
                  <a:lnTo>
                    <a:pt x="160446" y="354773"/>
                  </a:lnTo>
                  <a:lnTo>
                    <a:pt x="161543" y="355092"/>
                  </a:lnTo>
                  <a:lnTo>
                    <a:pt x="235093" y="355092"/>
                  </a:lnTo>
                  <a:lnTo>
                    <a:pt x="2065019" y="57912"/>
                  </a:lnTo>
                  <a:lnTo>
                    <a:pt x="2061971" y="57912"/>
                  </a:lnTo>
                  <a:lnTo>
                    <a:pt x="2032897" y="49189"/>
                  </a:lnTo>
                  <a:close/>
                </a:path>
                <a:path w="2071370" h="367664">
                  <a:moveTo>
                    <a:pt x="9143" y="310895"/>
                  </a:moveTo>
                  <a:lnTo>
                    <a:pt x="7619" y="323088"/>
                  </a:lnTo>
                  <a:lnTo>
                    <a:pt x="35546" y="318552"/>
                  </a:lnTo>
                  <a:lnTo>
                    <a:pt x="9143" y="310895"/>
                  </a:lnTo>
                  <a:close/>
                </a:path>
                <a:path w="2071370" h="367664">
                  <a:moveTo>
                    <a:pt x="35546" y="318552"/>
                  </a:moveTo>
                  <a:lnTo>
                    <a:pt x="7619" y="323088"/>
                  </a:lnTo>
                  <a:lnTo>
                    <a:pt x="51185" y="323088"/>
                  </a:lnTo>
                  <a:lnTo>
                    <a:pt x="35546" y="318552"/>
                  </a:lnTo>
                  <a:close/>
                </a:path>
                <a:path w="2071370" h="367664">
                  <a:moveTo>
                    <a:pt x="1914143" y="0"/>
                  </a:moveTo>
                  <a:lnTo>
                    <a:pt x="1911095" y="0"/>
                  </a:lnTo>
                  <a:lnTo>
                    <a:pt x="6096" y="310895"/>
                  </a:lnTo>
                  <a:lnTo>
                    <a:pt x="9143" y="310895"/>
                  </a:lnTo>
                  <a:lnTo>
                    <a:pt x="35546" y="318552"/>
                  </a:lnTo>
                  <a:lnTo>
                    <a:pt x="1912619" y="13715"/>
                  </a:lnTo>
                  <a:lnTo>
                    <a:pt x="1909571" y="12191"/>
                  </a:lnTo>
                  <a:lnTo>
                    <a:pt x="1954783" y="12191"/>
                  </a:lnTo>
                  <a:lnTo>
                    <a:pt x="1914143" y="0"/>
                  </a:lnTo>
                  <a:close/>
                </a:path>
                <a:path w="2071370" h="367664">
                  <a:moveTo>
                    <a:pt x="2062179" y="44410"/>
                  </a:moveTo>
                  <a:lnTo>
                    <a:pt x="2032897" y="49189"/>
                  </a:lnTo>
                  <a:lnTo>
                    <a:pt x="2061971" y="57912"/>
                  </a:lnTo>
                  <a:lnTo>
                    <a:pt x="2063430" y="44785"/>
                  </a:lnTo>
                  <a:lnTo>
                    <a:pt x="2062179" y="44410"/>
                  </a:lnTo>
                  <a:close/>
                </a:path>
                <a:path w="2071370" h="367664">
                  <a:moveTo>
                    <a:pt x="2063430" y="44785"/>
                  </a:moveTo>
                  <a:lnTo>
                    <a:pt x="2061971" y="57912"/>
                  </a:lnTo>
                  <a:lnTo>
                    <a:pt x="2065019" y="57912"/>
                  </a:lnTo>
                  <a:lnTo>
                    <a:pt x="2071115" y="54863"/>
                  </a:lnTo>
                  <a:lnTo>
                    <a:pt x="2071115" y="48767"/>
                  </a:lnTo>
                  <a:lnTo>
                    <a:pt x="2069591" y="45720"/>
                  </a:lnTo>
                  <a:lnTo>
                    <a:pt x="2066543" y="45720"/>
                  </a:lnTo>
                  <a:lnTo>
                    <a:pt x="2063430" y="44785"/>
                  </a:lnTo>
                  <a:close/>
                </a:path>
                <a:path w="2071370" h="367664">
                  <a:moveTo>
                    <a:pt x="1954783" y="12191"/>
                  </a:moveTo>
                  <a:lnTo>
                    <a:pt x="1909571" y="12191"/>
                  </a:lnTo>
                  <a:lnTo>
                    <a:pt x="2032897" y="49189"/>
                  </a:lnTo>
                  <a:lnTo>
                    <a:pt x="2062179" y="44410"/>
                  </a:lnTo>
                  <a:lnTo>
                    <a:pt x="1954783" y="12191"/>
                  </a:lnTo>
                  <a:close/>
                </a:path>
                <a:path w="2071370" h="367664">
                  <a:moveTo>
                    <a:pt x="2063495" y="44196"/>
                  </a:moveTo>
                  <a:lnTo>
                    <a:pt x="2062179" y="44410"/>
                  </a:lnTo>
                  <a:lnTo>
                    <a:pt x="2063430" y="44785"/>
                  </a:lnTo>
                  <a:lnTo>
                    <a:pt x="2063495" y="4419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89676" y="4696968"/>
              <a:ext cx="155447" cy="1246631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89676" y="4696968"/>
              <a:ext cx="155447" cy="1246631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785103" y="4689347"/>
              <a:ext cx="166370" cy="1260475"/>
            </a:xfrm>
            <a:custGeom>
              <a:avLst/>
              <a:gdLst/>
              <a:ahLst/>
              <a:cxnLst/>
              <a:rect l="l" t="t" r="r" b="b"/>
              <a:pathLst>
                <a:path w="166370" h="1260475">
                  <a:moveTo>
                    <a:pt x="0" y="0"/>
                  </a:moveTo>
                  <a:lnTo>
                    <a:pt x="0" y="1213103"/>
                  </a:lnTo>
                  <a:lnTo>
                    <a:pt x="166115" y="1260347"/>
                  </a:lnTo>
                  <a:lnTo>
                    <a:pt x="166115" y="1252727"/>
                  </a:lnTo>
                  <a:lnTo>
                    <a:pt x="152400" y="1252727"/>
                  </a:lnTo>
                  <a:lnTo>
                    <a:pt x="152400" y="1243980"/>
                  </a:lnTo>
                  <a:lnTo>
                    <a:pt x="30164" y="1208531"/>
                  </a:lnTo>
                  <a:lnTo>
                    <a:pt x="13715" y="1208531"/>
                  </a:lnTo>
                  <a:lnTo>
                    <a:pt x="9143" y="1202435"/>
                  </a:lnTo>
                  <a:lnTo>
                    <a:pt x="13715" y="1202435"/>
                  </a:lnTo>
                  <a:lnTo>
                    <a:pt x="13715" y="17891"/>
                  </a:lnTo>
                  <a:lnTo>
                    <a:pt x="4572" y="15239"/>
                  </a:lnTo>
                  <a:lnTo>
                    <a:pt x="13715" y="9143"/>
                  </a:lnTo>
                  <a:lnTo>
                    <a:pt x="31146" y="9143"/>
                  </a:lnTo>
                  <a:lnTo>
                    <a:pt x="0" y="0"/>
                  </a:lnTo>
                  <a:close/>
                </a:path>
                <a:path w="166370" h="1260475">
                  <a:moveTo>
                    <a:pt x="152400" y="1243980"/>
                  </a:moveTo>
                  <a:lnTo>
                    <a:pt x="152400" y="1252727"/>
                  </a:lnTo>
                  <a:lnTo>
                    <a:pt x="161543" y="1246631"/>
                  </a:lnTo>
                  <a:lnTo>
                    <a:pt x="152400" y="1243980"/>
                  </a:lnTo>
                  <a:close/>
                </a:path>
                <a:path w="166370" h="1260475">
                  <a:moveTo>
                    <a:pt x="152400" y="58110"/>
                  </a:moveTo>
                  <a:lnTo>
                    <a:pt x="152400" y="1243980"/>
                  </a:lnTo>
                  <a:lnTo>
                    <a:pt x="161543" y="1246631"/>
                  </a:lnTo>
                  <a:lnTo>
                    <a:pt x="152400" y="1252727"/>
                  </a:lnTo>
                  <a:lnTo>
                    <a:pt x="166115" y="1252727"/>
                  </a:lnTo>
                  <a:lnTo>
                    <a:pt x="166115" y="59435"/>
                  </a:lnTo>
                  <a:lnTo>
                    <a:pt x="156972" y="59435"/>
                  </a:lnTo>
                  <a:lnTo>
                    <a:pt x="152400" y="58110"/>
                  </a:lnTo>
                  <a:close/>
                </a:path>
                <a:path w="166370" h="1260475">
                  <a:moveTo>
                    <a:pt x="9143" y="1202435"/>
                  </a:moveTo>
                  <a:lnTo>
                    <a:pt x="13715" y="1208531"/>
                  </a:lnTo>
                  <a:lnTo>
                    <a:pt x="13715" y="1203761"/>
                  </a:lnTo>
                  <a:lnTo>
                    <a:pt x="9143" y="1202435"/>
                  </a:lnTo>
                  <a:close/>
                </a:path>
                <a:path w="166370" h="1260475">
                  <a:moveTo>
                    <a:pt x="13715" y="1203761"/>
                  </a:moveTo>
                  <a:lnTo>
                    <a:pt x="13715" y="1208531"/>
                  </a:lnTo>
                  <a:lnTo>
                    <a:pt x="30164" y="1208531"/>
                  </a:lnTo>
                  <a:lnTo>
                    <a:pt x="13715" y="1203761"/>
                  </a:lnTo>
                  <a:close/>
                </a:path>
                <a:path w="166370" h="1260475">
                  <a:moveTo>
                    <a:pt x="13715" y="1202435"/>
                  </a:moveTo>
                  <a:lnTo>
                    <a:pt x="9143" y="1202435"/>
                  </a:lnTo>
                  <a:lnTo>
                    <a:pt x="13715" y="1203761"/>
                  </a:lnTo>
                  <a:lnTo>
                    <a:pt x="13715" y="1202435"/>
                  </a:lnTo>
                  <a:close/>
                </a:path>
                <a:path w="166370" h="1260475">
                  <a:moveTo>
                    <a:pt x="152400" y="53339"/>
                  </a:moveTo>
                  <a:lnTo>
                    <a:pt x="152400" y="58110"/>
                  </a:lnTo>
                  <a:lnTo>
                    <a:pt x="156972" y="59435"/>
                  </a:lnTo>
                  <a:lnTo>
                    <a:pt x="152400" y="53339"/>
                  </a:lnTo>
                  <a:close/>
                </a:path>
                <a:path w="166370" h="1260475">
                  <a:moveTo>
                    <a:pt x="166115" y="53339"/>
                  </a:moveTo>
                  <a:lnTo>
                    <a:pt x="152400" y="53339"/>
                  </a:lnTo>
                  <a:lnTo>
                    <a:pt x="156972" y="59435"/>
                  </a:lnTo>
                  <a:lnTo>
                    <a:pt x="166115" y="59435"/>
                  </a:lnTo>
                  <a:lnTo>
                    <a:pt x="166115" y="53339"/>
                  </a:lnTo>
                  <a:close/>
                </a:path>
                <a:path w="166370" h="1260475">
                  <a:moveTo>
                    <a:pt x="31146" y="9143"/>
                  </a:moveTo>
                  <a:lnTo>
                    <a:pt x="13715" y="9143"/>
                  </a:lnTo>
                  <a:lnTo>
                    <a:pt x="13715" y="17891"/>
                  </a:lnTo>
                  <a:lnTo>
                    <a:pt x="152400" y="58110"/>
                  </a:lnTo>
                  <a:lnTo>
                    <a:pt x="152400" y="53339"/>
                  </a:lnTo>
                  <a:lnTo>
                    <a:pt x="166115" y="53339"/>
                  </a:lnTo>
                  <a:lnTo>
                    <a:pt x="166115" y="48767"/>
                  </a:lnTo>
                  <a:lnTo>
                    <a:pt x="31146" y="9143"/>
                  </a:lnTo>
                  <a:close/>
                </a:path>
                <a:path w="166370" h="1260475">
                  <a:moveTo>
                    <a:pt x="13715" y="9143"/>
                  </a:moveTo>
                  <a:lnTo>
                    <a:pt x="4572" y="15239"/>
                  </a:lnTo>
                  <a:lnTo>
                    <a:pt x="13715" y="17891"/>
                  </a:lnTo>
                  <a:lnTo>
                    <a:pt x="13715" y="9143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89676" y="4387596"/>
              <a:ext cx="2060447" cy="35661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89676" y="4387596"/>
              <a:ext cx="2060447" cy="35661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763767" y="4381499"/>
              <a:ext cx="2113915" cy="367665"/>
            </a:xfrm>
            <a:custGeom>
              <a:avLst/>
              <a:gdLst/>
              <a:ahLst/>
              <a:cxnLst/>
              <a:rect l="l" t="t" r="r" b="b"/>
              <a:pathLst>
                <a:path w="2113915" h="367664">
                  <a:moveTo>
                    <a:pt x="1933955" y="0"/>
                  </a:moveTo>
                  <a:lnTo>
                    <a:pt x="0" y="315467"/>
                  </a:lnTo>
                  <a:lnTo>
                    <a:pt x="179832" y="367283"/>
                  </a:lnTo>
                  <a:lnTo>
                    <a:pt x="254937" y="355091"/>
                  </a:lnTo>
                  <a:lnTo>
                    <a:pt x="179832" y="355091"/>
                  </a:lnTo>
                  <a:lnTo>
                    <a:pt x="181782" y="354773"/>
                  </a:lnTo>
                  <a:lnTo>
                    <a:pt x="72521" y="323087"/>
                  </a:lnTo>
                  <a:lnTo>
                    <a:pt x="28955" y="323087"/>
                  </a:lnTo>
                  <a:lnTo>
                    <a:pt x="30479" y="310895"/>
                  </a:lnTo>
                  <a:lnTo>
                    <a:pt x="104029" y="310895"/>
                  </a:lnTo>
                  <a:lnTo>
                    <a:pt x="1932002" y="14033"/>
                  </a:lnTo>
                  <a:lnTo>
                    <a:pt x="1930907" y="13715"/>
                  </a:lnTo>
                  <a:lnTo>
                    <a:pt x="1980198" y="13715"/>
                  </a:lnTo>
                  <a:lnTo>
                    <a:pt x="1933955" y="0"/>
                  </a:lnTo>
                  <a:close/>
                </a:path>
                <a:path w="2113915" h="367664">
                  <a:moveTo>
                    <a:pt x="181782" y="354773"/>
                  </a:moveTo>
                  <a:lnTo>
                    <a:pt x="179832" y="355091"/>
                  </a:lnTo>
                  <a:lnTo>
                    <a:pt x="182879" y="355091"/>
                  </a:lnTo>
                  <a:lnTo>
                    <a:pt x="181782" y="354773"/>
                  </a:lnTo>
                  <a:close/>
                </a:path>
                <a:path w="2113915" h="367664">
                  <a:moveTo>
                    <a:pt x="2053591" y="49294"/>
                  </a:moveTo>
                  <a:lnTo>
                    <a:pt x="181782" y="354773"/>
                  </a:lnTo>
                  <a:lnTo>
                    <a:pt x="182879" y="355091"/>
                  </a:lnTo>
                  <a:lnTo>
                    <a:pt x="254937" y="355091"/>
                  </a:lnTo>
                  <a:lnTo>
                    <a:pt x="2085623" y="57912"/>
                  </a:lnTo>
                  <a:lnTo>
                    <a:pt x="2083307" y="57912"/>
                  </a:lnTo>
                  <a:lnTo>
                    <a:pt x="2053591" y="49294"/>
                  </a:lnTo>
                  <a:close/>
                </a:path>
                <a:path w="2113915" h="367664">
                  <a:moveTo>
                    <a:pt x="30479" y="310895"/>
                  </a:moveTo>
                  <a:lnTo>
                    <a:pt x="28955" y="323087"/>
                  </a:lnTo>
                  <a:lnTo>
                    <a:pt x="56882" y="318552"/>
                  </a:lnTo>
                  <a:lnTo>
                    <a:pt x="30479" y="310895"/>
                  </a:lnTo>
                  <a:close/>
                </a:path>
                <a:path w="2113915" h="367664">
                  <a:moveTo>
                    <a:pt x="56882" y="318552"/>
                  </a:moveTo>
                  <a:lnTo>
                    <a:pt x="28955" y="323087"/>
                  </a:lnTo>
                  <a:lnTo>
                    <a:pt x="72521" y="323087"/>
                  </a:lnTo>
                  <a:lnTo>
                    <a:pt x="56882" y="318552"/>
                  </a:lnTo>
                  <a:close/>
                </a:path>
                <a:path w="2113915" h="367664">
                  <a:moveTo>
                    <a:pt x="104029" y="310895"/>
                  </a:moveTo>
                  <a:lnTo>
                    <a:pt x="30479" y="310895"/>
                  </a:lnTo>
                  <a:lnTo>
                    <a:pt x="56882" y="318552"/>
                  </a:lnTo>
                  <a:lnTo>
                    <a:pt x="104029" y="310895"/>
                  </a:lnTo>
                  <a:close/>
                </a:path>
                <a:path w="2113915" h="367664">
                  <a:moveTo>
                    <a:pt x="2083624" y="44393"/>
                  </a:moveTo>
                  <a:lnTo>
                    <a:pt x="2053591" y="49294"/>
                  </a:lnTo>
                  <a:lnTo>
                    <a:pt x="2083307" y="57912"/>
                  </a:lnTo>
                  <a:lnTo>
                    <a:pt x="2084772" y="44733"/>
                  </a:lnTo>
                  <a:lnTo>
                    <a:pt x="2083624" y="44393"/>
                  </a:lnTo>
                  <a:close/>
                </a:path>
                <a:path w="2113915" h="367664">
                  <a:moveTo>
                    <a:pt x="2084772" y="44733"/>
                  </a:moveTo>
                  <a:lnTo>
                    <a:pt x="2083307" y="57912"/>
                  </a:lnTo>
                  <a:lnTo>
                    <a:pt x="2085623" y="57912"/>
                  </a:lnTo>
                  <a:lnTo>
                    <a:pt x="2113787" y="53339"/>
                  </a:lnTo>
                  <a:lnTo>
                    <a:pt x="2084772" y="44733"/>
                  </a:lnTo>
                  <a:close/>
                </a:path>
                <a:path w="2113915" h="367664">
                  <a:moveTo>
                    <a:pt x="1980198" y="13715"/>
                  </a:moveTo>
                  <a:lnTo>
                    <a:pt x="1933955" y="13715"/>
                  </a:lnTo>
                  <a:lnTo>
                    <a:pt x="1932002" y="14033"/>
                  </a:lnTo>
                  <a:lnTo>
                    <a:pt x="2053591" y="49294"/>
                  </a:lnTo>
                  <a:lnTo>
                    <a:pt x="2083624" y="44393"/>
                  </a:lnTo>
                  <a:lnTo>
                    <a:pt x="1980198" y="13715"/>
                  </a:lnTo>
                  <a:close/>
                </a:path>
                <a:path w="2113915" h="367664">
                  <a:moveTo>
                    <a:pt x="2084831" y="44195"/>
                  </a:moveTo>
                  <a:lnTo>
                    <a:pt x="2083624" y="44393"/>
                  </a:lnTo>
                  <a:lnTo>
                    <a:pt x="2084772" y="44733"/>
                  </a:lnTo>
                  <a:lnTo>
                    <a:pt x="2084831" y="44195"/>
                  </a:lnTo>
                  <a:close/>
                </a:path>
                <a:path w="2113915" h="367664">
                  <a:moveTo>
                    <a:pt x="1933955" y="13715"/>
                  </a:moveTo>
                  <a:lnTo>
                    <a:pt x="1930907" y="13715"/>
                  </a:lnTo>
                  <a:lnTo>
                    <a:pt x="1932002" y="14033"/>
                  </a:lnTo>
                  <a:lnTo>
                    <a:pt x="1933955" y="13715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942075" y="4741164"/>
              <a:ext cx="155447" cy="124663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42075" y="4741164"/>
              <a:ext cx="155447" cy="1246631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937503" y="4736591"/>
              <a:ext cx="166370" cy="1256030"/>
            </a:xfrm>
            <a:custGeom>
              <a:avLst/>
              <a:gdLst/>
              <a:ahLst/>
              <a:cxnLst/>
              <a:rect l="l" t="t" r="r" b="b"/>
              <a:pathLst>
                <a:path w="166370" h="1256029">
                  <a:moveTo>
                    <a:pt x="9143" y="0"/>
                  </a:moveTo>
                  <a:lnTo>
                    <a:pt x="4572" y="0"/>
                  </a:lnTo>
                  <a:lnTo>
                    <a:pt x="0" y="4572"/>
                  </a:lnTo>
                  <a:lnTo>
                    <a:pt x="0" y="1208531"/>
                  </a:lnTo>
                  <a:lnTo>
                    <a:pt x="3048" y="1210055"/>
                  </a:lnTo>
                  <a:lnTo>
                    <a:pt x="4572" y="1211579"/>
                  </a:lnTo>
                  <a:lnTo>
                    <a:pt x="156971" y="1255775"/>
                  </a:lnTo>
                  <a:lnTo>
                    <a:pt x="161543" y="1255775"/>
                  </a:lnTo>
                  <a:lnTo>
                    <a:pt x="166115" y="1251203"/>
                  </a:lnTo>
                  <a:lnTo>
                    <a:pt x="166115" y="1249679"/>
                  </a:lnTo>
                  <a:lnTo>
                    <a:pt x="152399" y="1249679"/>
                  </a:lnTo>
                  <a:lnTo>
                    <a:pt x="152399" y="1240932"/>
                  </a:lnTo>
                  <a:lnTo>
                    <a:pt x="30164" y="1205483"/>
                  </a:lnTo>
                  <a:lnTo>
                    <a:pt x="13715" y="1205483"/>
                  </a:lnTo>
                  <a:lnTo>
                    <a:pt x="9143" y="1199387"/>
                  </a:lnTo>
                  <a:lnTo>
                    <a:pt x="13715" y="1199387"/>
                  </a:lnTo>
                  <a:lnTo>
                    <a:pt x="13715" y="14843"/>
                  </a:lnTo>
                  <a:lnTo>
                    <a:pt x="4572" y="12192"/>
                  </a:lnTo>
                  <a:lnTo>
                    <a:pt x="13715" y="6095"/>
                  </a:lnTo>
                  <a:lnTo>
                    <a:pt x="30164" y="6095"/>
                  </a:lnTo>
                  <a:lnTo>
                    <a:pt x="9143" y="0"/>
                  </a:lnTo>
                  <a:close/>
                </a:path>
                <a:path w="166370" h="1256029">
                  <a:moveTo>
                    <a:pt x="152399" y="1240932"/>
                  </a:moveTo>
                  <a:lnTo>
                    <a:pt x="152399" y="1249679"/>
                  </a:lnTo>
                  <a:lnTo>
                    <a:pt x="161543" y="1243583"/>
                  </a:lnTo>
                  <a:lnTo>
                    <a:pt x="152399" y="1240932"/>
                  </a:lnTo>
                  <a:close/>
                </a:path>
                <a:path w="166370" h="1256029">
                  <a:moveTo>
                    <a:pt x="152399" y="55062"/>
                  </a:moveTo>
                  <a:lnTo>
                    <a:pt x="152399" y="1240932"/>
                  </a:lnTo>
                  <a:lnTo>
                    <a:pt x="161543" y="1243583"/>
                  </a:lnTo>
                  <a:lnTo>
                    <a:pt x="152399" y="1249679"/>
                  </a:lnTo>
                  <a:lnTo>
                    <a:pt x="166115" y="1249679"/>
                  </a:lnTo>
                  <a:lnTo>
                    <a:pt x="166115" y="56387"/>
                  </a:lnTo>
                  <a:lnTo>
                    <a:pt x="156971" y="56387"/>
                  </a:lnTo>
                  <a:lnTo>
                    <a:pt x="152399" y="55062"/>
                  </a:lnTo>
                  <a:close/>
                </a:path>
                <a:path w="166370" h="1256029">
                  <a:moveTo>
                    <a:pt x="9143" y="1199387"/>
                  </a:moveTo>
                  <a:lnTo>
                    <a:pt x="13715" y="1205483"/>
                  </a:lnTo>
                  <a:lnTo>
                    <a:pt x="13715" y="1200713"/>
                  </a:lnTo>
                  <a:lnTo>
                    <a:pt x="9143" y="1199387"/>
                  </a:lnTo>
                  <a:close/>
                </a:path>
                <a:path w="166370" h="1256029">
                  <a:moveTo>
                    <a:pt x="13716" y="1200713"/>
                  </a:moveTo>
                  <a:lnTo>
                    <a:pt x="13715" y="1205483"/>
                  </a:lnTo>
                  <a:lnTo>
                    <a:pt x="30164" y="1205483"/>
                  </a:lnTo>
                  <a:lnTo>
                    <a:pt x="13716" y="1200713"/>
                  </a:lnTo>
                  <a:close/>
                </a:path>
                <a:path w="166370" h="1256029">
                  <a:moveTo>
                    <a:pt x="13715" y="1199387"/>
                  </a:moveTo>
                  <a:lnTo>
                    <a:pt x="9143" y="1199387"/>
                  </a:lnTo>
                  <a:lnTo>
                    <a:pt x="13716" y="1200713"/>
                  </a:lnTo>
                  <a:lnTo>
                    <a:pt x="13715" y="1199387"/>
                  </a:lnTo>
                  <a:close/>
                </a:path>
                <a:path w="166370" h="1256029">
                  <a:moveTo>
                    <a:pt x="152399" y="50292"/>
                  </a:moveTo>
                  <a:lnTo>
                    <a:pt x="152399" y="55062"/>
                  </a:lnTo>
                  <a:lnTo>
                    <a:pt x="156971" y="56387"/>
                  </a:lnTo>
                  <a:lnTo>
                    <a:pt x="152399" y="50292"/>
                  </a:lnTo>
                  <a:close/>
                </a:path>
                <a:path w="166370" h="1256029">
                  <a:moveTo>
                    <a:pt x="166115" y="50292"/>
                  </a:moveTo>
                  <a:lnTo>
                    <a:pt x="152399" y="50292"/>
                  </a:lnTo>
                  <a:lnTo>
                    <a:pt x="156971" y="56387"/>
                  </a:lnTo>
                  <a:lnTo>
                    <a:pt x="166115" y="56387"/>
                  </a:lnTo>
                  <a:lnTo>
                    <a:pt x="166115" y="50292"/>
                  </a:lnTo>
                  <a:close/>
                </a:path>
                <a:path w="166370" h="1256029">
                  <a:moveTo>
                    <a:pt x="30164" y="6095"/>
                  </a:moveTo>
                  <a:lnTo>
                    <a:pt x="13715" y="6095"/>
                  </a:lnTo>
                  <a:lnTo>
                    <a:pt x="13715" y="14843"/>
                  </a:lnTo>
                  <a:lnTo>
                    <a:pt x="152399" y="55062"/>
                  </a:lnTo>
                  <a:lnTo>
                    <a:pt x="152399" y="50292"/>
                  </a:lnTo>
                  <a:lnTo>
                    <a:pt x="166115" y="50292"/>
                  </a:lnTo>
                  <a:lnTo>
                    <a:pt x="166115" y="47243"/>
                  </a:lnTo>
                  <a:lnTo>
                    <a:pt x="163067" y="45719"/>
                  </a:lnTo>
                  <a:lnTo>
                    <a:pt x="161543" y="44195"/>
                  </a:lnTo>
                  <a:lnTo>
                    <a:pt x="30164" y="6095"/>
                  </a:lnTo>
                  <a:close/>
                </a:path>
                <a:path w="166370" h="1256029">
                  <a:moveTo>
                    <a:pt x="13715" y="6095"/>
                  </a:moveTo>
                  <a:lnTo>
                    <a:pt x="4572" y="12192"/>
                  </a:lnTo>
                  <a:lnTo>
                    <a:pt x="13715" y="14843"/>
                  </a:lnTo>
                  <a:lnTo>
                    <a:pt x="13715" y="6095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942075" y="4431792"/>
              <a:ext cx="2060447" cy="35661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942075" y="4431792"/>
              <a:ext cx="2060447" cy="35661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5937503" y="4425695"/>
              <a:ext cx="2071370" cy="367665"/>
            </a:xfrm>
            <a:custGeom>
              <a:avLst/>
              <a:gdLst/>
              <a:ahLst/>
              <a:cxnLst/>
              <a:rect l="l" t="t" r="r" b="b"/>
              <a:pathLst>
                <a:path w="2071370" h="367664">
                  <a:moveTo>
                    <a:pt x="35546" y="318552"/>
                  </a:moveTo>
                  <a:lnTo>
                    <a:pt x="7619" y="323088"/>
                  </a:lnTo>
                  <a:lnTo>
                    <a:pt x="4572" y="323088"/>
                  </a:lnTo>
                  <a:lnTo>
                    <a:pt x="156971" y="367284"/>
                  </a:lnTo>
                  <a:lnTo>
                    <a:pt x="160019" y="367284"/>
                  </a:lnTo>
                  <a:lnTo>
                    <a:pt x="235093" y="355092"/>
                  </a:lnTo>
                  <a:lnTo>
                    <a:pt x="158495" y="355092"/>
                  </a:lnTo>
                  <a:lnTo>
                    <a:pt x="160449" y="354774"/>
                  </a:lnTo>
                  <a:lnTo>
                    <a:pt x="35546" y="318552"/>
                  </a:lnTo>
                  <a:close/>
                </a:path>
                <a:path w="2071370" h="367664">
                  <a:moveTo>
                    <a:pt x="160449" y="354774"/>
                  </a:moveTo>
                  <a:lnTo>
                    <a:pt x="158495" y="355092"/>
                  </a:lnTo>
                  <a:lnTo>
                    <a:pt x="161543" y="355092"/>
                  </a:lnTo>
                  <a:lnTo>
                    <a:pt x="160449" y="354774"/>
                  </a:lnTo>
                  <a:close/>
                </a:path>
                <a:path w="2071370" h="367664">
                  <a:moveTo>
                    <a:pt x="2035569" y="50255"/>
                  </a:moveTo>
                  <a:lnTo>
                    <a:pt x="160449" y="354774"/>
                  </a:lnTo>
                  <a:lnTo>
                    <a:pt x="161543" y="355092"/>
                  </a:lnTo>
                  <a:lnTo>
                    <a:pt x="235093" y="355092"/>
                  </a:lnTo>
                  <a:lnTo>
                    <a:pt x="2065019" y="57912"/>
                  </a:lnTo>
                  <a:lnTo>
                    <a:pt x="2061971" y="57912"/>
                  </a:lnTo>
                  <a:lnTo>
                    <a:pt x="2035569" y="50255"/>
                  </a:lnTo>
                  <a:close/>
                </a:path>
                <a:path w="2071370" h="367664">
                  <a:moveTo>
                    <a:pt x="9143" y="310896"/>
                  </a:moveTo>
                  <a:lnTo>
                    <a:pt x="3048" y="310896"/>
                  </a:lnTo>
                  <a:lnTo>
                    <a:pt x="0" y="313944"/>
                  </a:lnTo>
                  <a:lnTo>
                    <a:pt x="0" y="320040"/>
                  </a:lnTo>
                  <a:lnTo>
                    <a:pt x="1524" y="323088"/>
                  </a:lnTo>
                  <a:lnTo>
                    <a:pt x="7619" y="323088"/>
                  </a:lnTo>
                  <a:lnTo>
                    <a:pt x="9143" y="310896"/>
                  </a:lnTo>
                  <a:close/>
                </a:path>
                <a:path w="2071370" h="367664">
                  <a:moveTo>
                    <a:pt x="9143" y="310896"/>
                  </a:moveTo>
                  <a:lnTo>
                    <a:pt x="7619" y="323088"/>
                  </a:lnTo>
                  <a:lnTo>
                    <a:pt x="35546" y="318552"/>
                  </a:lnTo>
                  <a:lnTo>
                    <a:pt x="9143" y="310896"/>
                  </a:lnTo>
                  <a:close/>
                </a:path>
                <a:path w="2071370" h="367664">
                  <a:moveTo>
                    <a:pt x="1912619" y="0"/>
                  </a:moveTo>
                  <a:lnTo>
                    <a:pt x="1911095" y="0"/>
                  </a:lnTo>
                  <a:lnTo>
                    <a:pt x="6096" y="310896"/>
                  </a:lnTo>
                  <a:lnTo>
                    <a:pt x="9143" y="310896"/>
                  </a:lnTo>
                  <a:lnTo>
                    <a:pt x="35546" y="318552"/>
                  </a:lnTo>
                  <a:lnTo>
                    <a:pt x="1910666" y="14033"/>
                  </a:lnTo>
                  <a:lnTo>
                    <a:pt x="1909571" y="13716"/>
                  </a:lnTo>
                  <a:lnTo>
                    <a:pt x="1956185" y="13716"/>
                  </a:lnTo>
                  <a:lnTo>
                    <a:pt x="1914143" y="1524"/>
                  </a:lnTo>
                  <a:lnTo>
                    <a:pt x="1912619" y="0"/>
                  </a:lnTo>
                  <a:close/>
                </a:path>
                <a:path w="2071370" h="367664">
                  <a:moveTo>
                    <a:pt x="2063495" y="45720"/>
                  </a:moveTo>
                  <a:lnTo>
                    <a:pt x="2035569" y="50255"/>
                  </a:lnTo>
                  <a:lnTo>
                    <a:pt x="2061971" y="57912"/>
                  </a:lnTo>
                  <a:lnTo>
                    <a:pt x="2063495" y="45720"/>
                  </a:lnTo>
                  <a:close/>
                </a:path>
                <a:path w="2071370" h="367664">
                  <a:moveTo>
                    <a:pt x="2069591" y="45720"/>
                  </a:moveTo>
                  <a:lnTo>
                    <a:pt x="2063495" y="45720"/>
                  </a:lnTo>
                  <a:lnTo>
                    <a:pt x="2061971" y="57912"/>
                  </a:lnTo>
                  <a:lnTo>
                    <a:pt x="2065019" y="57912"/>
                  </a:lnTo>
                  <a:lnTo>
                    <a:pt x="2071115" y="54863"/>
                  </a:lnTo>
                  <a:lnTo>
                    <a:pt x="2071115" y="48768"/>
                  </a:lnTo>
                  <a:lnTo>
                    <a:pt x="2069591" y="45720"/>
                  </a:lnTo>
                  <a:close/>
                </a:path>
                <a:path w="2071370" h="367664">
                  <a:moveTo>
                    <a:pt x="1956185" y="13716"/>
                  </a:moveTo>
                  <a:lnTo>
                    <a:pt x="1912619" y="13716"/>
                  </a:lnTo>
                  <a:lnTo>
                    <a:pt x="1910666" y="14033"/>
                  </a:lnTo>
                  <a:lnTo>
                    <a:pt x="2035569" y="50255"/>
                  </a:lnTo>
                  <a:lnTo>
                    <a:pt x="2063495" y="45720"/>
                  </a:lnTo>
                  <a:lnTo>
                    <a:pt x="2066543" y="45720"/>
                  </a:lnTo>
                  <a:lnTo>
                    <a:pt x="1956185" y="13716"/>
                  </a:lnTo>
                  <a:close/>
                </a:path>
                <a:path w="2071370" h="367664">
                  <a:moveTo>
                    <a:pt x="1912619" y="13716"/>
                  </a:moveTo>
                  <a:lnTo>
                    <a:pt x="1909571" y="13716"/>
                  </a:lnTo>
                  <a:lnTo>
                    <a:pt x="1910666" y="14033"/>
                  </a:lnTo>
                  <a:lnTo>
                    <a:pt x="1912619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010399" y="4742687"/>
              <a:ext cx="1905000" cy="1506220"/>
            </a:xfrm>
            <a:custGeom>
              <a:avLst/>
              <a:gdLst/>
              <a:ahLst/>
              <a:cxnLst/>
              <a:rect l="l" t="t" r="r" b="b"/>
              <a:pathLst>
                <a:path w="1905000" h="1506220">
                  <a:moveTo>
                    <a:pt x="1904999" y="0"/>
                  </a:moveTo>
                  <a:lnTo>
                    <a:pt x="0" y="310895"/>
                  </a:lnTo>
                  <a:lnTo>
                    <a:pt x="0" y="1505711"/>
                  </a:lnTo>
                  <a:lnTo>
                    <a:pt x="1904999" y="1196339"/>
                  </a:lnTo>
                  <a:lnTo>
                    <a:pt x="1904999" y="0"/>
                  </a:lnTo>
                  <a:close/>
                </a:path>
              </a:pathLst>
            </a:custGeom>
            <a:solidFill>
              <a:srgbClr val="B16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004303" y="4736591"/>
              <a:ext cx="1918970" cy="1519555"/>
            </a:xfrm>
            <a:custGeom>
              <a:avLst/>
              <a:gdLst/>
              <a:ahLst/>
              <a:cxnLst/>
              <a:rect l="l" t="t" r="r" b="b"/>
              <a:pathLst>
                <a:path w="1918970" h="1519554">
                  <a:moveTo>
                    <a:pt x="1914143" y="0"/>
                  </a:moveTo>
                  <a:lnTo>
                    <a:pt x="1911095" y="0"/>
                  </a:lnTo>
                  <a:lnTo>
                    <a:pt x="6096" y="309371"/>
                  </a:lnTo>
                  <a:lnTo>
                    <a:pt x="3048" y="310895"/>
                  </a:lnTo>
                  <a:lnTo>
                    <a:pt x="0" y="313943"/>
                  </a:lnTo>
                  <a:lnTo>
                    <a:pt x="0" y="1514855"/>
                  </a:lnTo>
                  <a:lnTo>
                    <a:pt x="3048" y="1517903"/>
                  </a:lnTo>
                  <a:lnTo>
                    <a:pt x="4572" y="1517903"/>
                  </a:lnTo>
                  <a:lnTo>
                    <a:pt x="6096" y="1519427"/>
                  </a:lnTo>
                  <a:lnTo>
                    <a:pt x="7620" y="1519427"/>
                  </a:lnTo>
                  <a:lnTo>
                    <a:pt x="54311" y="1511807"/>
                  </a:lnTo>
                  <a:lnTo>
                    <a:pt x="13716" y="1511807"/>
                  </a:lnTo>
                  <a:lnTo>
                    <a:pt x="6096" y="1505711"/>
                  </a:lnTo>
                  <a:lnTo>
                    <a:pt x="13716" y="1504474"/>
                  </a:lnTo>
                  <a:lnTo>
                    <a:pt x="13716" y="323087"/>
                  </a:lnTo>
                  <a:lnTo>
                    <a:pt x="7620" y="323087"/>
                  </a:lnTo>
                  <a:lnTo>
                    <a:pt x="13716" y="316991"/>
                  </a:lnTo>
                  <a:lnTo>
                    <a:pt x="44972" y="316991"/>
                  </a:lnTo>
                  <a:lnTo>
                    <a:pt x="1904999" y="13435"/>
                  </a:lnTo>
                  <a:lnTo>
                    <a:pt x="1904999" y="6095"/>
                  </a:lnTo>
                  <a:lnTo>
                    <a:pt x="1918715" y="6095"/>
                  </a:lnTo>
                  <a:lnTo>
                    <a:pt x="1918715" y="4572"/>
                  </a:lnTo>
                  <a:lnTo>
                    <a:pt x="1914143" y="0"/>
                  </a:lnTo>
                  <a:close/>
                </a:path>
                <a:path w="1918970" h="1519554">
                  <a:moveTo>
                    <a:pt x="13716" y="1504474"/>
                  </a:moveTo>
                  <a:lnTo>
                    <a:pt x="6096" y="1505711"/>
                  </a:lnTo>
                  <a:lnTo>
                    <a:pt x="13716" y="1511807"/>
                  </a:lnTo>
                  <a:lnTo>
                    <a:pt x="13716" y="1504474"/>
                  </a:lnTo>
                  <a:close/>
                </a:path>
                <a:path w="1918970" h="1519554">
                  <a:moveTo>
                    <a:pt x="1904999" y="1197329"/>
                  </a:moveTo>
                  <a:lnTo>
                    <a:pt x="13716" y="1504474"/>
                  </a:lnTo>
                  <a:lnTo>
                    <a:pt x="13716" y="1511807"/>
                  </a:lnTo>
                  <a:lnTo>
                    <a:pt x="54311" y="1511807"/>
                  </a:lnTo>
                  <a:lnTo>
                    <a:pt x="1912619" y="1208531"/>
                  </a:lnTo>
                  <a:lnTo>
                    <a:pt x="1915667" y="1208531"/>
                  </a:lnTo>
                  <a:lnTo>
                    <a:pt x="1918715" y="1205483"/>
                  </a:lnTo>
                  <a:lnTo>
                    <a:pt x="1918715" y="1202435"/>
                  </a:lnTo>
                  <a:lnTo>
                    <a:pt x="1904999" y="1202435"/>
                  </a:lnTo>
                  <a:lnTo>
                    <a:pt x="1904999" y="1197329"/>
                  </a:lnTo>
                  <a:close/>
                </a:path>
                <a:path w="1918970" h="1519554">
                  <a:moveTo>
                    <a:pt x="1911095" y="1196339"/>
                  </a:moveTo>
                  <a:lnTo>
                    <a:pt x="1904999" y="1197329"/>
                  </a:lnTo>
                  <a:lnTo>
                    <a:pt x="1904999" y="1202435"/>
                  </a:lnTo>
                  <a:lnTo>
                    <a:pt x="1911095" y="1196339"/>
                  </a:lnTo>
                  <a:close/>
                </a:path>
                <a:path w="1918970" h="1519554">
                  <a:moveTo>
                    <a:pt x="1918715" y="1196339"/>
                  </a:moveTo>
                  <a:lnTo>
                    <a:pt x="1911095" y="1196339"/>
                  </a:lnTo>
                  <a:lnTo>
                    <a:pt x="1904999" y="1202435"/>
                  </a:lnTo>
                  <a:lnTo>
                    <a:pt x="1918715" y="1202435"/>
                  </a:lnTo>
                  <a:lnTo>
                    <a:pt x="1918715" y="1196339"/>
                  </a:lnTo>
                  <a:close/>
                </a:path>
                <a:path w="1918970" h="1519554">
                  <a:moveTo>
                    <a:pt x="1918715" y="6095"/>
                  </a:moveTo>
                  <a:lnTo>
                    <a:pt x="1904999" y="6095"/>
                  </a:lnTo>
                  <a:lnTo>
                    <a:pt x="1912619" y="12192"/>
                  </a:lnTo>
                  <a:lnTo>
                    <a:pt x="1904999" y="13435"/>
                  </a:lnTo>
                  <a:lnTo>
                    <a:pt x="1904999" y="1197329"/>
                  </a:lnTo>
                  <a:lnTo>
                    <a:pt x="1911095" y="1196339"/>
                  </a:lnTo>
                  <a:lnTo>
                    <a:pt x="1918715" y="1196339"/>
                  </a:lnTo>
                  <a:lnTo>
                    <a:pt x="1918715" y="6095"/>
                  </a:lnTo>
                  <a:close/>
                </a:path>
                <a:path w="1918970" h="1519554">
                  <a:moveTo>
                    <a:pt x="13716" y="316991"/>
                  </a:moveTo>
                  <a:lnTo>
                    <a:pt x="7620" y="323087"/>
                  </a:lnTo>
                  <a:lnTo>
                    <a:pt x="13716" y="322093"/>
                  </a:lnTo>
                  <a:lnTo>
                    <a:pt x="13716" y="316991"/>
                  </a:lnTo>
                  <a:close/>
                </a:path>
                <a:path w="1918970" h="1519554">
                  <a:moveTo>
                    <a:pt x="13716" y="322093"/>
                  </a:moveTo>
                  <a:lnTo>
                    <a:pt x="7620" y="323087"/>
                  </a:lnTo>
                  <a:lnTo>
                    <a:pt x="13716" y="323087"/>
                  </a:lnTo>
                  <a:lnTo>
                    <a:pt x="13716" y="322093"/>
                  </a:lnTo>
                  <a:close/>
                </a:path>
                <a:path w="1918970" h="1519554">
                  <a:moveTo>
                    <a:pt x="44972" y="316991"/>
                  </a:moveTo>
                  <a:lnTo>
                    <a:pt x="13716" y="316991"/>
                  </a:lnTo>
                  <a:lnTo>
                    <a:pt x="13716" y="322093"/>
                  </a:lnTo>
                  <a:lnTo>
                    <a:pt x="44972" y="316991"/>
                  </a:lnTo>
                  <a:close/>
                </a:path>
                <a:path w="1918970" h="1519554">
                  <a:moveTo>
                    <a:pt x="1904999" y="6095"/>
                  </a:moveTo>
                  <a:lnTo>
                    <a:pt x="1904999" y="13435"/>
                  </a:lnTo>
                  <a:lnTo>
                    <a:pt x="1912619" y="12192"/>
                  </a:lnTo>
                  <a:lnTo>
                    <a:pt x="1904999" y="6095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000999" y="5495543"/>
              <a:ext cx="76200" cy="44450"/>
            </a:xfrm>
            <a:custGeom>
              <a:avLst/>
              <a:gdLst/>
              <a:ahLst/>
              <a:cxnLst/>
              <a:rect l="l" t="t" r="r" b="b"/>
              <a:pathLst>
                <a:path w="76200" h="44450">
                  <a:moveTo>
                    <a:pt x="38100" y="0"/>
                  </a:moveTo>
                  <a:lnTo>
                    <a:pt x="23788" y="1857"/>
                  </a:lnTo>
                  <a:lnTo>
                    <a:pt x="11620" y="6858"/>
                  </a:lnTo>
                  <a:lnTo>
                    <a:pt x="3167" y="14144"/>
                  </a:lnTo>
                  <a:lnTo>
                    <a:pt x="0" y="22860"/>
                  </a:lnTo>
                  <a:lnTo>
                    <a:pt x="3167" y="31337"/>
                  </a:lnTo>
                  <a:lnTo>
                    <a:pt x="11620" y="38100"/>
                  </a:lnTo>
                  <a:lnTo>
                    <a:pt x="23788" y="42576"/>
                  </a:lnTo>
                  <a:lnTo>
                    <a:pt x="38100" y="44196"/>
                  </a:lnTo>
                  <a:lnTo>
                    <a:pt x="53054" y="42576"/>
                  </a:lnTo>
                  <a:lnTo>
                    <a:pt x="65150" y="38100"/>
                  </a:lnTo>
                  <a:lnTo>
                    <a:pt x="73247" y="31337"/>
                  </a:lnTo>
                  <a:lnTo>
                    <a:pt x="76200" y="22860"/>
                  </a:lnTo>
                  <a:lnTo>
                    <a:pt x="73247" y="14144"/>
                  </a:lnTo>
                  <a:lnTo>
                    <a:pt x="65150" y="6858"/>
                  </a:lnTo>
                  <a:lnTo>
                    <a:pt x="53054" y="185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994903" y="5489447"/>
              <a:ext cx="90170" cy="58419"/>
            </a:xfrm>
            <a:custGeom>
              <a:avLst/>
              <a:gdLst/>
              <a:ahLst/>
              <a:cxnLst/>
              <a:rect l="l" t="t" r="r" b="b"/>
              <a:pathLst>
                <a:path w="90170" h="58420">
                  <a:moveTo>
                    <a:pt x="74675" y="50291"/>
                  </a:moveTo>
                  <a:lnTo>
                    <a:pt x="15239" y="50291"/>
                  </a:lnTo>
                  <a:lnTo>
                    <a:pt x="21335" y="53339"/>
                  </a:lnTo>
                  <a:lnTo>
                    <a:pt x="36575" y="56387"/>
                  </a:lnTo>
                  <a:lnTo>
                    <a:pt x="45720" y="57911"/>
                  </a:lnTo>
                  <a:lnTo>
                    <a:pt x="53339" y="56387"/>
                  </a:lnTo>
                  <a:lnTo>
                    <a:pt x="62483" y="54863"/>
                  </a:lnTo>
                  <a:lnTo>
                    <a:pt x="68579" y="53339"/>
                  </a:lnTo>
                  <a:lnTo>
                    <a:pt x="74675" y="50291"/>
                  </a:lnTo>
                  <a:close/>
                </a:path>
                <a:path w="90170" h="58420">
                  <a:moveTo>
                    <a:pt x="76200" y="7619"/>
                  </a:moveTo>
                  <a:lnTo>
                    <a:pt x="13715" y="7619"/>
                  </a:lnTo>
                  <a:lnTo>
                    <a:pt x="9144" y="10667"/>
                  </a:lnTo>
                  <a:lnTo>
                    <a:pt x="9144" y="12191"/>
                  </a:lnTo>
                  <a:lnTo>
                    <a:pt x="4572" y="15239"/>
                  </a:lnTo>
                  <a:lnTo>
                    <a:pt x="4572" y="16763"/>
                  </a:lnTo>
                  <a:lnTo>
                    <a:pt x="1524" y="21335"/>
                  </a:lnTo>
                  <a:lnTo>
                    <a:pt x="1524" y="22859"/>
                  </a:lnTo>
                  <a:lnTo>
                    <a:pt x="0" y="27431"/>
                  </a:lnTo>
                  <a:lnTo>
                    <a:pt x="0" y="30479"/>
                  </a:lnTo>
                  <a:lnTo>
                    <a:pt x="1524" y="33527"/>
                  </a:lnTo>
                  <a:lnTo>
                    <a:pt x="1524" y="36575"/>
                  </a:lnTo>
                  <a:lnTo>
                    <a:pt x="4572" y="39623"/>
                  </a:lnTo>
                  <a:lnTo>
                    <a:pt x="4572" y="41147"/>
                  </a:lnTo>
                  <a:lnTo>
                    <a:pt x="13715" y="50291"/>
                  </a:lnTo>
                  <a:lnTo>
                    <a:pt x="76200" y="50291"/>
                  </a:lnTo>
                  <a:lnTo>
                    <a:pt x="82296" y="44195"/>
                  </a:lnTo>
                  <a:lnTo>
                    <a:pt x="38100" y="44195"/>
                  </a:lnTo>
                  <a:lnTo>
                    <a:pt x="30479" y="42671"/>
                  </a:lnTo>
                  <a:lnTo>
                    <a:pt x="25907" y="41147"/>
                  </a:lnTo>
                  <a:lnTo>
                    <a:pt x="23622" y="39623"/>
                  </a:lnTo>
                  <a:lnTo>
                    <a:pt x="21335" y="39623"/>
                  </a:lnTo>
                  <a:lnTo>
                    <a:pt x="16763" y="36575"/>
                  </a:lnTo>
                  <a:lnTo>
                    <a:pt x="18287" y="36575"/>
                  </a:lnTo>
                  <a:lnTo>
                    <a:pt x="15239" y="33527"/>
                  </a:lnTo>
                  <a:lnTo>
                    <a:pt x="14477" y="32003"/>
                  </a:lnTo>
                  <a:lnTo>
                    <a:pt x="13715" y="32003"/>
                  </a:lnTo>
                  <a:lnTo>
                    <a:pt x="13715" y="25907"/>
                  </a:lnTo>
                  <a:lnTo>
                    <a:pt x="14223" y="25907"/>
                  </a:lnTo>
                  <a:lnTo>
                    <a:pt x="15239" y="22859"/>
                  </a:lnTo>
                  <a:lnTo>
                    <a:pt x="16763" y="22859"/>
                  </a:lnTo>
                  <a:lnTo>
                    <a:pt x="18287" y="21335"/>
                  </a:lnTo>
                  <a:lnTo>
                    <a:pt x="16763" y="21335"/>
                  </a:lnTo>
                  <a:lnTo>
                    <a:pt x="21335" y="18287"/>
                  </a:lnTo>
                  <a:lnTo>
                    <a:pt x="25907" y="16763"/>
                  </a:lnTo>
                  <a:lnTo>
                    <a:pt x="32003" y="13715"/>
                  </a:lnTo>
                  <a:lnTo>
                    <a:pt x="38100" y="13715"/>
                  </a:lnTo>
                  <a:lnTo>
                    <a:pt x="45720" y="12191"/>
                  </a:lnTo>
                  <a:lnTo>
                    <a:pt x="80772" y="12191"/>
                  </a:lnTo>
                  <a:lnTo>
                    <a:pt x="80772" y="10667"/>
                  </a:lnTo>
                  <a:lnTo>
                    <a:pt x="76200" y="7619"/>
                  </a:lnTo>
                  <a:close/>
                </a:path>
                <a:path w="90170" h="58420">
                  <a:moveTo>
                    <a:pt x="68579" y="38099"/>
                  </a:moveTo>
                  <a:lnTo>
                    <a:pt x="64007" y="41147"/>
                  </a:lnTo>
                  <a:lnTo>
                    <a:pt x="51815" y="44195"/>
                  </a:lnTo>
                  <a:lnTo>
                    <a:pt x="82296" y="44195"/>
                  </a:lnTo>
                  <a:lnTo>
                    <a:pt x="85344" y="41147"/>
                  </a:lnTo>
                  <a:lnTo>
                    <a:pt x="85344" y="39623"/>
                  </a:lnTo>
                  <a:lnTo>
                    <a:pt x="68579" y="39623"/>
                  </a:lnTo>
                  <a:lnTo>
                    <a:pt x="68579" y="38099"/>
                  </a:lnTo>
                  <a:close/>
                </a:path>
                <a:path w="90170" h="58420">
                  <a:moveTo>
                    <a:pt x="21335" y="38099"/>
                  </a:moveTo>
                  <a:lnTo>
                    <a:pt x="21335" y="39623"/>
                  </a:lnTo>
                  <a:lnTo>
                    <a:pt x="23622" y="39623"/>
                  </a:lnTo>
                  <a:lnTo>
                    <a:pt x="21335" y="38099"/>
                  </a:lnTo>
                  <a:close/>
                </a:path>
                <a:path w="90170" h="58420">
                  <a:moveTo>
                    <a:pt x="74675" y="33527"/>
                  </a:moveTo>
                  <a:lnTo>
                    <a:pt x="71627" y="36575"/>
                  </a:lnTo>
                  <a:lnTo>
                    <a:pt x="73151" y="36575"/>
                  </a:lnTo>
                  <a:lnTo>
                    <a:pt x="68579" y="39623"/>
                  </a:lnTo>
                  <a:lnTo>
                    <a:pt x="85344" y="39623"/>
                  </a:lnTo>
                  <a:lnTo>
                    <a:pt x="88392" y="36575"/>
                  </a:lnTo>
                  <a:lnTo>
                    <a:pt x="88392" y="35051"/>
                  </a:lnTo>
                  <a:lnTo>
                    <a:pt x="74675" y="35051"/>
                  </a:lnTo>
                  <a:lnTo>
                    <a:pt x="74675" y="33527"/>
                  </a:lnTo>
                  <a:close/>
                </a:path>
                <a:path w="90170" h="58420">
                  <a:moveTo>
                    <a:pt x="76200" y="30479"/>
                  </a:moveTo>
                  <a:lnTo>
                    <a:pt x="74675" y="35051"/>
                  </a:lnTo>
                  <a:lnTo>
                    <a:pt x="88392" y="35051"/>
                  </a:lnTo>
                  <a:lnTo>
                    <a:pt x="88392" y="33527"/>
                  </a:lnTo>
                  <a:lnTo>
                    <a:pt x="89153" y="32003"/>
                  </a:lnTo>
                  <a:lnTo>
                    <a:pt x="76200" y="32003"/>
                  </a:lnTo>
                  <a:lnTo>
                    <a:pt x="76200" y="30479"/>
                  </a:lnTo>
                  <a:close/>
                </a:path>
                <a:path w="90170" h="58420">
                  <a:moveTo>
                    <a:pt x="13715" y="30479"/>
                  </a:moveTo>
                  <a:lnTo>
                    <a:pt x="13715" y="32003"/>
                  </a:lnTo>
                  <a:lnTo>
                    <a:pt x="14477" y="32003"/>
                  </a:lnTo>
                  <a:lnTo>
                    <a:pt x="13715" y="30479"/>
                  </a:lnTo>
                  <a:close/>
                </a:path>
                <a:path w="90170" h="58420">
                  <a:moveTo>
                    <a:pt x="89407" y="25907"/>
                  </a:moveTo>
                  <a:lnTo>
                    <a:pt x="76200" y="25907"/>
                  </a:lnTo>
                  <a:lnTo>
                    <a:pt x="76200" y="32003"/>
                  </a:lnTo>
                  <a:lnTo>
                    <a:pt x="89153" y="32003"/>
                  </a:lnTo>
                  <a:lnTo>
                    <a:pt x="89915" y="30479"/>
                  </a:lnTo>
                  <a:lnTo>
                    <a:pt x="89915" y="27431"/>
                  </a:lnTo>
                  <a:lnTo>
                    <a:pt x="89407" y="25907"/>
                  </a:lnTo>
                  <a:close/>
                </a:path>
                <a:path w="90170" h="58420">
                  <a:moveTo>
                    <a:pt x="14223" y="25907"/>
                  </a:moveTo>
                  <a:lnTo>
                    <a:pt x="13715" y="25907"/>
                  </a:lnTo>
                  <a:lnTo>
                    <a:pt x="13715" y="27431"/>
                  </a:lnTo>
                  <a:lnTo>
                    <a:pt x="14223" y="25907"/>
                  </a:lnTo>
                  <a:close/>
                </a:path>
                <a:path w="90170" h="58420">
                  <a:moveTo>
                    <a:pt x="88392" y="22859"/>
                  </a:moveTo>
                  <a:lnTo>
                    <a:pt x="74675" y="22859"/>
                  </a:lnTo>
                  <a:lnTo>
                    <a:pt x="76200" y="27431"/>
                  </a:lnTo>
                  <a:lnTo>
                    <a:pt x="76200" y="25907"/>
                  </a:lnTo>
                  <a:lnTo>
                    <a:pt x="89407" y="25907"/>
                  </a:lnTo>
                  <a:lnTo>
                    <a:pt x="88392" y="22859"/>
                  </a:lnTo>
                  <a:close/>
                </a:path>
                <a:path w="90170" h="58420">
                  <a:moveTo>
                    <a:pt x="16763" y="22859"/>
                  </a:moveTo>
                  <a:lnTo>
                    <a:pt x="15239" y="22859"/>
                  </a:lnTo>
                  <a:lnTo>
                    <a:pt x="15239" y="24383"/>
                  </a:lnTo>
                  <a:lnTo>
                    <a:pt x="16763" y="22859"/>
                  </a:lnTo>
                  <a:close/>
                </a:path>
                <a:path w="90170" h="58420">
                  <a:moveTo>
                    <a:pt x="80772" y="12191"/>
                  </a:moveTo>
                  <a:lnTo>
                    <a:pt x="45720" y="12191"/>
                  </a:lnTo>
                  <a:lnTo>
                    <a:pt x="51815" y="13715"/>
                  </a:lnTo>
                  <a:lnTo>
                    <a:pt x="59435" y="15239"/>
                  </a:lnTo>
                  <a:lnTo>
                    <a:pt x="68579" y="18287"/>
                  </a:lnTo>
                  <a:lnTo>
                    <a:pt x="73151" y="21335"/>
                  </a:lnTo>
                  <a:lnTo>
                    <a:pt x="71627" y="21335"/>
                  </a:lnTo>
                  <a:lnTo>
                    <a:pt x="74675" y="24383"/>
                  </a:lnTo>
                  <a:lnTo>
                    <a:pt x="74675" y="22859"/>
                  </a:lnTo>
                  <a:lnTo>
                    <a:pt x="88392" y="22859"/>
                  </a:lnTo>
                  <a:lnTo>
                    <a:pt x="88392" y="21335"/>
                  </a:lnTo>
                  <a:lnTo>
                    <a:pt x="85344" y="16763"/>
                  </a:lnTo>
                  <a:lnTo>
                    <a:pt x="85344" y="15239"/>
                  </a:lnTo>
                  <a:lnTo>
                    <a:pt x="80772" y="12191"/>
                  </a:lnTo>
                  <a:close/>
                </a:path>
                <a:path w="90170" h="58420">
                  <a:moveTo>
                    <a:pt x="53339" y="0"/>
                  </a:moveTo>
                  <a:lnTo>
                    <a:pt x="36575" y="0"/>
                  </a:lnTo>
                  <a:lnTo>
                    <a:pt x="27431" y="1523"/>
                  </a:lnTo>
                  <a:lnTo>
                    <a:pt x="15239" y="7619"/>
                  </a:lnTo>
                  <a:lnTo>
                    <a:pt x="74675" y="7619"/>
                  </a:lnTo>
                  <a:lnTo>
                    <a:pt x="68579" y="4571"/>
                  </a:lnTo>
                  <a:lnTo>
                    <a:pt x="60959" y="1523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153399" y="5539739"/>
              <a:ext cx="76200" cy="44450"/>
            </a:xfrm>
            <a:custGeom>
              <a:avLst/>
              <a:gdLst/>
              <a:ahLst/>
              <a:cxnLst/>
              <a:rect l="l" t="t" r="r" b="b"/>
              <a:pathLst>
                <a:path w="76200" h="44450">
                  <a:moveTo>
                    <a:pt x="38100" y="0"/>
                  </a:moveTo>
                  <a:lnTo>
                    <a:pt x="23788" y="1857"/>
                  </a:lnTo>
                  <a:lnTo>
                    <a:pt x="11620" y="6857"/>
                  </a:lnTo>
                  <a:lnTo>
                    <a:pt x="3167" y="14144"/>
                  </a:lnTo>
                  <a:lnTo>
                    <a:pt x="0" y="22859"/>
                  </a:lnTo>
                  <a:lnTo>
                    <a:pt x="3167" y="31337"/>
                  </a:lnTo>
                  <a:lnTo>
                    <a:pt x="11620" y="38100"/>
                  </a:lnTo>
                  <a:lnTo>
                    <a:pt x="23788" y="42576"/>
                  </a:lnTo>
                  <a:lnTo>
                    <a:pt x="38100" y="44195"/>
                  </a:lnTo>
                  <a:lnTo>
                    <a:pt x="53054" y="42576"/>
                  </a:lnTo>
                  <a:lnTo>
                    <a:pt x="65150" y="38100"/>
                  </a:lnTo>
                  <a:lnTo>
                    <a:pt x="73247" y="31337"/>
                  </a:lnTo>
                  <a:lnTo>
                    <a:pt x="76200" y="22859"/>
                  </a:lnTo>
                  <a:lnTo>
                    <a:pt x="73247" y="14144"/>
                  </a:lnTo>
                  <a:lnTo>
                    <a:pt x="65150" y="6857"/>
                  </a:lnTo>
                  <a:lnTo>
                    <a:pt x="53054" y="185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7303" y="5533643"/>
              <a:ext cx="90170" cy="58419"/>
            </a:xfrm>
            <a:custGeom>
              <a:avLst/>
              <a:gdLst/>
              <a:ahLst/>
              <a:cxnLst/>
              <a:rect l="l" t="t" r="r" b="b"/>
              <a:pathLst>
                <a:path w="90170" h="58420">
                  <a:moveTo>
                    <a:pt x="74675" y="50292"/>
                  </a:moveTo>
                  <a:lnTo>
                    <a:pt x="15239" y="50292"/>
                  </a:lnTo>
                  <a:lnTo>
                    <a:pt x="21335" y="53340"/>
                  </a:lnTo>
                  <a:lnTo>
                    <a:pt x="36575" y="56387"/>
                  </a:lnTo>
                  <a:lnTo>
                    <a:pt x="45720" y="57912"/>
                  </a:lnTo>
                  <a:lnTo>
                    <a:pt x="53339" y="56387"/>
                  </a:lnTo>
                  <a:lnTo>
                    <a:pt x="62483" y="54863"/>
                  </a:lnTo>
                  <a:lnTo>
                    <a:pt x="68579" y="53340"/>
                  </a:lnTo>
                  <a:lnTo>
                    <a:pt x="74675" y="50292"/>
                  </a:lnTo>
                  <a:close/>
                </a:path>
                <a:path w="90170" h="58420">
                  <a:moveTo>
                    <a:pt x="76200" y="7619"/>
                  </a:moveTo>
                  <a:lnTo>
                    <a:pt x="13715" y="7619"/>
                  </a:lnTo>
                  <a:lnTo>
                    <a:pt x="9144" y="10668"/>
                  </a:lnTo>
                  <a:lnTo>
                    <a:pt x="9144" y="12192"/>
                  </a:lnTo>
                  <a:lnTo>
                    <a:pt x="4572" y="15240"/>
                  </a:lnTo>
                  <a:lnTo>
                    <a:pt x="4572" y="16763"/>
                  </a:lnTo>
                  <a:lnTo>
                    <a:pt x="1524" y="21336"/>
                  </a:lnTo>
                  <a:lnTo>
                    <a:pt x="1524" y="22860"/>
                  </a:lnTo>
                  <a:lnTo>
                    <a:pt x="0" y="27431"/>
                  </a:lnTo>
                  <a:lnTo>
                    <a:pt x="0" y="30480"/>
                  </a:lnTo>
                  <a:lnTo>
                    <a:pt x="1524" y="35051"/>
                  </a:lnTo>
                  <a:lnTo>
                    <a:pt x="1524" y="36575"/>
                  </a:lnTo>
                  <a:lnTo>
                    <a:pt x="4572" y="41148"/>
                  </a:lnTo>
                  <a:lnTo>
                    <a:pt x="13715" y="50292"/>
                  </a:lnTo>
                  <a:lnTo>
                    <a:pt x="76200" y="50292"/>
                  </a:lnTo>
                  <a:lnTo>
                    <a:pt x="82296" y="44196"/>
                  </a:lnTo>
                  <a:lnTo>
                    <a:pt x="38100" y="44196"/>
                  </a:lnTo>
                  <a:lnTo>
                    <a:pt x="30479" y="42672"/>
                  </a:lnTo>
                  <a:lnTo>
                    <a:pt x="25907" y="41148"/>
                  </a:lnTo>
                  <a:lnTo>
                    <a:pt x="23621" y="39624"/>
                  </a:lnTo>
                  <a:lnTo>
                    <a:pt x="21335" y="39624"/>
                  </a:lnTo>
                  <a:lnTo>
                    <a:pt x="16763" y="36575"/>
                  </a:lnTo>
                  <a:lnTo>
                    <a:pt x="18287" y="36575"/>
                  </a:lnTo>
                  <a:lnTo>
                    <a:pt x="16001" y="35051"/>
                  </a:lnTo>
                  <a:lnTo>
                    <a:pt x="15239" y="35051"/>
                  </a:lnTo>
                  <a:lnTo>
                    <a:pt x="13715" y="33528"/>
                  </a:lnTo>
                  <a:lnTo>
                    <a:pt x="14731" y="33528"/>
                  </a:lnTo>
                  <a:lnTo>
                    <a:pt x="14223" y="32004"/>
                  </a:lnTo>
                  <a:lnTo>
                    <a:pt x="13715" y="32004"/>
                  </a:lnTo>
                  <a:lnTo>
                    <a:pt x="13715" y="25907"/>
                  </a:lnTo>
                  <a:lnTo>
                    <a:pt x="14223" y="25907"/>
                  </a:lnTo>
                  <a:lnTo>
                    <a:pt x="15239" y="22860"/>
                  </a:lnTo>
                  <a:lnTo>
                    <a:pt x="16763" y="22860"/>
                  </a:lnTo>
                  <a:lnTo>
                    <a:pt x="18287" y="21336"/>
                  </a:lnTo>
                  <a:lnTo>
                    <a:pt x="16763" y="21336"/>
                  </a:lnTo>
                  <a:lnTo>
                    <a:pt x="21335" y="18287"/>
                  </a:lnTo>
                  <a:lnTo>
                    <a:pt x="25907" y="16763"/>
                  </a:lnTo>
                  <a:lnTo>
                    <a:pt x="32003" y="13716"/>
                  </a:lnTo>
                  <a:lnTo>
                    <a:pt x="83057" y="13716"/>
                  </a:lnTo>
                  <a:lnTo>
                    <a:pt x="80772" y="12192"/>
                  </a:lnTo>
                  <a:lnTo>
                    <a:pt x="80772" y="10668"/>
                  </a:lnTo>
                  <a:lnTo>
                    <a:pt x="76200" y="7619"/>
                  </a:lnTo>
                  <a:close/>
                </a:path>
                <a:path w="90170" h="58420">
                  <a:moveTo>
                    <a:pt x="68579" y="38100"/>
                  </a:moveTo>
                  <a:lnTo>
                    <a:pt x="64007" y="41148"/>
                  </a:lnTo>
                  <a:lnTo>
                    <a:pt x="51815" y="44196"/>
                  </a:lnTo>
                  <a:lnTo>
                    <a:pt x="82296" y="44196"/>
                  </a:lnTo>
                  <a:lnTo>
                    <a:pt x="85344" y="41148"/>
                  </a:lnTo>
                  <a:lnTo>
                    <a:pt x="86360" y="39624"/>
                  </a:lnTo>
                  <a:lnTo>
                    <a:pt x="68579" y="39624"/>
                  </a:lnTo>
                  <a:lnTo>
                    <a:pt x="68579" y="38100"/>
                  </a:lnTo>
                  <a:close/>
                </a:path>
                <a:path w="90170" h="58420">
                  <a:moveTo>
                    <a:pt x="21335" y="38100"/>
                  </a:moveTo>
                  <a:lnTo>
                    <a:pt x="21335" y="39624"/>
                  </a:lnTo>
                  <a:lnTo>
                    <a:pt x="23621" y="39624"/>
                  </a:lnTo>
                  <a:lnTo>
                    <a:pt x="21335" y="38100"/>
                  </a:lnTo>
                  <a:close/>
                </a:path>
                <a:path w="90170" h="58420">
                  <a:moveTo>
                    <a:pt x="74893" y="34398"/>
                  </a:moveTo>
                  <a:lnTo>
                    <a:pt x="71627" y="36575"/>
                  </a:lnTo>
                  <a:lnTo>
                    <a:pt x="73151" y="36575"/>
                  </a:lnTo>
                  <a:lnTo>
                    <a:pt x="68579" y="39624"/>
                  </a:lnTo>
                  <a:lnTo>
                    <a:pt x="86360" y="39624"/>
                  </a:lnTo>
                  <a:lnTo>
                    <a:pt x="88392" y="36575"/>
                  </a:lnTo>
                  <a:lnTo>
                    <a:pt x="88392" y="35051"/>
                  </a:lnTo>
                  <a:lnTo>
                    <a:pt x="74675" y="35051"/>
                  </a:lnTo>
                  <a:lnTo>
                    <a:pt x="74893" y="34398"/>
                  </a:lnTo>
                  <a:close/>
                </a:path>
                <a:path w="90170" h="58420">
                  <a:moveTo>
                    <a:pt x="13715" y="33528"/>
                  </a:moveTo>
                  <a:lnTo>
                    <a:pt x="15239" y="35051"/>
                  </a:lnTo>
                  <a:lnTo>
                    <a:pt x="15022" y="34398"/>
                  </a:lnTo>
                  <a:lnTo>
                    <a:pt x="13715" y="33528"/>
                  </a:lnTo>
                  <a:close/>
                </a:path>
                <a:path w="90170" h="58420">
                  <a:moveTo>
                    <a:pt x="15022" y="34398"/>
                  </a:moveTo>
                  <a:lnTo>
                    <a:pt x="15239" y="35051"/>
                  </a:lnTo>
                  <a:lnTo>
                    <a:pt x="16001" y="35051"/>
                  </a:lnTo>
                  <a:lnTo>
                    <a:pt x="15022" y="34398"/>
                  </a:lnTo>
                  <a:close/>
                </a:path>
                <a:path w="90170" h="58420">
                  <a:moveTo>
                    <a:pt x="76200" y="33528"/>
                  </a:moveTo>
                  <a:lnTo>
                    <a:pt x="74893" y="34398"/>
                  </a:lnTo>
                  <a:lnTo>
                    <a:pt x="74675" y="35051"/>
                  </a:lnTo>
                  <a:lnTo>
                    <a:pt x="76200" y="33528"/>
                  </a:lnTo>
                  <a:close/>
                </a:path>
                <a:path w="90170" h="58420">
                  <a:moveTo>
                    <a:pt x="88900" y="33528"/>
                  </a:moveTo>
                  <a:lnTo>
                    <a:pt x="76200" y="33528"/>
                  </a:lnTo>
                  <a:lnTo>
                    <a:pt x="74675" y="35051"/>
                  </a:lnTo>
                  <a:lnTo>
                    <a:pt x="88392" y="35051"/>
                  </a:lnTo>
                  <a:lnTo>
                    <a:pt x="88900" y="33528"/>
                  </a:lnTo>
                  <a:close/>
                </a:path>
                <a:path w="90170" h="58420">
                  <a:moveTo>
                    <a:pt x="14731" y="33528"/>
                  </a:moveTo>
                  <a:lnTo>
                    <a:pt x="13715" y="33528"/>
                  </a:lnTo>
                  <a:lnTo>
                    <a:pt x="15022" y="34398"/>
                  </a:lnTo>
                  <a:lnTo>
                    <a:pt x="14731" y="33528"/>
                  </a:lnTo>
                  <a:close/>
                </a:path>
                <a:path w="90170" h="58420">
                  <a:moveTo>
                    <a:pt x="76200" y="30480"/>
                  </a:moveTo>
                  <a:lnTo>
                    <a:pt x="74893" y="34398"/>
                  </a:lnTo>
                  <a:lnTo>
                    <a:pt x="76200" y="33528"/>
                  </a:lnTo>
                  <a:lnTo>
                    <a:pt x="88900" y="33528"/>
                  </a:lnTo>
                  <a:lnTo>
                    <a:pt x="89407" y="32004"/>
                  </a:lnTo>
                  <a:lnTo>
                    <a:pt x="76200" y="32004"/>
                  </a:lnTo>
                  <a:lnTo>
                    <a:pt x="76200" y="30480"/>
                  </a:lnTo>
                  <a:close/>
                </a:path>
                <a:path w="90170" h="58420">
                  <a:moveTo>
                    <a:pt x="13715" y="30480"/>
                  </a:moveTo>
                  <a:lnTo>
                    <a:pt x="13715" y="32004"/>
                  </a:lnTo>
                  <a:lnTo>
                    <a:pt x="14223" y="32004"/>
                  </a:lnTo>
                  <a:lnTo>
                    <a:pt x="13715" y="30480"/>
                  </a:lnTo>
                  <a:close/>
                </a:path>
                <a:path w="90170" h="58420">
                  <a:moveTo>
                    <a:pt x="89407" y="25907"/>
                  </a:moveTo>
                  <a:lnTo>
                    <a:pt x="76200" y="25907"/>
                  </a:lnTo>
                  <a:lnTo>
                    <a:pt x="76200" y="32004"/>
                  </a:lnTo>
                  <a:lnTo>
                    <a:pt x="89407" y="32004"/>
                  </a:lnTo>
                  <a:lnTo>
                    <a:pt x="89915" y="30480"/>
                  </a:lnTo>
                  <a:lnTo>
                    <a:pt x="89915" y="27431"/>
                  </a:lnTo>
                  <a:lnTo>
                    <a:pt x="89407" y="25907"/>
                  </a:lnTo>
                  <a:close/>
                </a:path>
                <a:path w="90170" h="58420">
                  <a:moveTo>
                    <a:pt x="14223" y="25907"/>
                  </a:moveTo>
                  <a:lnTo>
                    <a:pt x="13715" y="25907"/>
                  </a:lnTo>
                  <a:lnTo>
                    <a:pt x="13715" y="27431"/>
                  </a:lnTo>
                  <a:lnTo>
                    <a:pt x="14223" y="25907"/>
                  </a:lnTo>
                  <a:close/>
                </a:path>
                <a:path w="90170" h="58420">
                  <a:moveTo>
                    <a:pt x="88392" y="22860"/>
                  </a:moveTo>
                  <a:lnTo>
                    <a:pt x="74675" y="22860"/>
                  </a:lnTo>
                  <a:lnTo>
                    <a:pt x="76200" y="27431"/>
                  </a:lnTo>
                  <a:lnTo>
                    <a:pt x="76200" y="25907"/>
                  </a:lnTo>
                  <a:lnTo>
                    <a:pt x="89407" y="25907"/>
                  </a:lnTo>
                  <a:lnTo>
                    <a:pt x="88392" y="22860"/>
                  </a:lnTo>
                  <a:close/>
                </a:path>
                <a:path w="90170" h="58420">
                  <a:moveTo>
                    <a:pt x="16763" y="22860"/>
                  </a:moveTo>
                  <a:lnTo>
                    <a:pt x="15239" y="22860"/>
                  </a:lnTo>
                  <a:lnTo>
                    <a:pt x="15239" y="24384"/>
                  </a:lnTo>
                  <a:lnTo>
                    <a:pt x="16763" y="22860"/>
                  </a:lnTo>
                  <a:close/>
                </a:path>
                <a:path w="90170" h="58420">
                  <a:moveTo>
                    <a:pt x="83057" y="13716"/>
                  </a:moveTo>
                  <a:lnTo>
                    <a:pt x="51815" y="13716"/>
                  </a:lnTo>
                  <a:lnTo>
                    <a:pt x="59435" y="15240"/>
                  </a:lnTo>
                  <a:lnTo>
                    <a:pt x="68579" y="18287"/>
                  </a:lnTo>
                  <a:lnTo>
                    <a:pt x="73151" y="21336"/>
                  </a:lnTo>
                  <a:lnTo>
                    <a:pt x="71627" y="21336"/>
                  </a:lnTo>
                  <a:lnTo>
                    <a:pt x="74675" y="24384"/>
                  </a:lnTo>
                  <a:lnTo>
                    <a:pt x="74675" y="22860"/>
                  </a:lnTo>
                  <a:lnTo>
                    <a:pt x="88392" y="22860"/>
                  </a:lnTo>
                  <a:lnTo>
                    <a:pt x="88392" y="21336"/>
                  </a:lnTo>
                  <a:lnTo>
                    <a:pt x="85344" y="16763"/>
                  </a:lnTo>
                  <a:lnTo>
                    <a:pt x="85344" y="15240"/>
                  </a:lnTo>
                  <a:lnTo>
                    <a:pt x="83057" y="13716"/>
                  </a:lnTo>
                  <a:close/>
                </a:path>
                <a:path w="90170" h="58420">
                  <a:moveTo>
                    <a:pt x="44196" y="0"/>
                  </a:moveTo>
                  <a:lnTo>
                    <a:pt x="36575" y="1524"/>
                  </a:lnTo>
                  <a:lnTo>
                    <a:pt x="27431" y="3048"/>
                  </a:lnTo>
                  <a:lnTo>
                    <a:pt x="21335" y="4572"/>
                  </a:lnTo>
                  <a:lnTo>
                    <a:pt x="15239" y="7619"/>
                  </a:lnTo>
                  <a:lnTo>
                    <a:pt x="74675" y="7619"/>
                  </a:lnTo>
                  <a:lnTo>
                    <a:pt x="68579" y="4572"/>
                  </a:lnTo>
                  <a:lnTo>
                    <a:pt x="60959" y="1524"/>
                  </a:lnTo>
                  <a:lnTo>
                    <a:pt x="53339" y="1524"/>
                  </a:lnTo>
                  <a:lnTo>
                    <a:pt x="44196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305799" y="5583935"/>
              <a:ext cx="76200" cy="44450"/>
            </a:xfrm>
            <a:custGeom>
              <a:avLst/>
              <a:gdLst/>
              <a:ahLst/>
              <a:cxnLst/>
              <a:rect l="l" t="t" r="r" b="b"/>
              <a:pathLst>
                <a:path w="76200" h="44450">
                  <a:moveTo>
                    <a:pt x="38100" y="0"/>
                  </a:moveTo>
                  <a:lnTo>
                    <a:pt x="23788" y="1857"/>
                  </a:lnTo>
                  <a:lnTo>
                    <a:pt x="11620" y="6858"/>
                  </a:lnTo>
                  <a:lnTo>
                    <a:pt x="3167" y="14144"/>
                  </a:lnTo>
                  <a:lnTo>
                    <a:pt x="0" y="22860"/>
                  </a:lnTo>
                  <a:lnTo>
                    <a:pt x="3167" y="31337"/>
                  </a:lnTo>
                  <a:lnTo>
                    <a:pt x="11620" y="38100"/>
                  </a:lnTo>
                  <a:lnTo>
                    <a:pt x="23788" y="42576"/>
                  </a:lnTo>
                  <a:lnTo>
                    <a:pt x="38100" y="44196"/>
                  </a:lnTo>
                  <a:lnTo>
                    <a:pt x="53054" y="42576"/>
                  </a:lnTo>
                  <a:lnTo>
                    <a:pt x="65150" y="38100"/>
                  </a:lnTo>
                  <a:lnTo>
                    <a:pt x="73247" y="31337"/>
                  </a:lnTo>
                  <a:lnTo>
                    <a:pt x="76200" y="22860"/>
                  </a:lnTo>
                  <a:lnTo>
                    <a:pt x="73247" y="14144"/>
                  </a:lnTo>
                  <a:lnTo>
                    <a:pt x="65150" y="6858"/>
                  </a:lnTo>
                  <a:lnTo>
                    <a:pt x="53054" y="185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299703" y="5577839"/>
              <a:ext cx="90170" cy="58419"/>
            </a:xfrm>
            <a:custGeom>
              <a:avLst/>
              <a:gdLst/>
              <a:ahLst/>
              <a:cxnLst/>
              <a:rect l="l" t="t" r="r" b="b"/>
              <a:pathLst>
                <a:path w="90170" h="58420">
                  <a:moveTo>
                    <a:pt x="74675" y="50291"/>
                  </a:moveTo>
                  <a:lnTo>
                    <a:pt x="15239" y="50291"/>
                  </a:lnTo>
                  <a:lnTo>
                    <a:pt x="21335" y="53339"/>
                  </a:lnTo>
                  <a:lnTo>
                    <a:pt x="28955" y="56387"/>
                  </a:lnTo>
                  <a:lnTo>
                    <a:pt x="36575" y="56387"/>
                  </a:lnTo>
                  <a:lnTo>
                    <a:pt x="45720" y="57911"/>
                  </a:lnTo>
                  <a:lnTo>
                    <a:pt x="53339" y="56387"/>
                  </a:lnTo>
                  <a:lnTo>
                    <a:pt x="62483" y="54863"/>
                  </a:lnTo>
                  <a:lnTo>
                    <a:pt x="68579" y="53339"/>
                  </a:lnTo>
                  <a:lnTo>
                    <a:pt x="74675" y="50291"/>
                  </a:lnTo>
                  <a:close/>
                </a:path>
                <a:path w="90170" h="58420">
                  <a:moveTo>
                    <a:pt x="76200" y="7619"/>
                  </a:moveTo>
                  <a:lnTo>
                    <a:pt x="13715" y="7619"/>
                  </a:lnTo>
                  <a:lnTo>
                    <a:pt x="9144" y="10667"/>
                  </a:lnTo>
                  <a:lnTo>
                    <a:pt x="9144" y="12191"/>
                  </a:lnTo>
                  <a:lnTo>
                    <a:pt x="4572" y="16763"/>
                  </a:lnTo>
                  <a:lnTo>
                    <a:pt x="1524" y="21335"/>
                  </a:lnTo>
                  <a:lnTo>
                    <a:pt x="1524" y="22859"/>
                  </a:lnTo>
                  <a:lnTo>
                    <a:pt x="0" y="27431"/>
                  </a:lnTo>
                  <a:lnTo>
                    <a:pt x="0" y="30479"/>
                  </a:lnTo>
                  <a:lnTo>
                    <a:pt x="1524" y="35051"/>
                  </a:lnTo>
                  <a:lnTo>
                    <a:pt x="1524" y="36575"/>
                  </a:lnTo>
                  <a:lnTo>
                    <a:pt x="4572" y="41147"/>
                  </a:lnTo>
                  <a:lnTo>
                    <a:pt x="4572" y="42671"/>
                  </a:lnTo>
                  <a:lnTo>
                    <a:pt x="9144" y="45719"/>
                  </a:lnTo>
                  <a:lnTo>
                    <a:pt x="13715" y="50291"/>
                  </a:lnTo>
                  <a:lnTo>
                    <a:pt x="76200" y="50291"/>
                  </a:lnTo>
                  <a:lnTo>
                    <a:pt x="80772" y="45719"/>
                  </a:lnTo>
                  <a:lnTo>
                    <a:pt x="83058" y="44195"/>
                  </a:lnTo>
                  <a:lnTo>
                    <a:pt x="38100" y="44195"/>
                  </a:lnTo>
                  <a:lnTo>
                    <a:pt x="30479" y="42671"/>
                  </a:lnTo>
                  <a:lnTo>
                    <a:pt x="21335" y="39623"/>
                  </a:lnTo>
                  <a:lnTo>
                    <a:pt x="16763" y="36575"/>
                  </a:lnTo>
                  <a:lnTo>
                    <a:pt x="18287" y="36575"/>
                  </a:lnTo>
                  <a:lnTo>
                    <a:pt x="16001" y="35051"/>
                  </a:lnTo>
                  <a:lnTo>
                    <a:pt x="15239" y="35051"/>
                  </a:lnTo>
                  <a:lnTo>
                    <a:pt x="13715" y="33527"/>
                  </a:lnTo>
                  <a:lnTo>
                    <a:pt x="14731" y="33527"/>
                  </a:lnTo>
                  <a:lnTo>
                    <a:pt x="14223" y="32003"/>
                  </a:lnTo>
                  <a:lnTo>
                    <a:pt x="13715" y="32003"/>
                  </a:lnTo>
                  <a:lnTo>
                    <a:pt x="13715" y="25907"/>
                  </a:lnTo>
                  <a:lnTo>
                    <a:pt x="14223" y="25907"/>
                  </a:lnTo>
                  <a:lnTo>
                    <a:pt x="15239" y="22859"/>
                  </a:lnTo>
                  <a:lnTo>
                    <a:pt x="16763" y="22859"/>
                  </a:lnTo>
                  <a:lnTo>
                    <a:pt x="18287" y="21335"/>
                  </a:lnTo>
                  <a:lnTo>
                    <a:pt x="16763" y="21335"/>
                  </a:lnTo>
                  <a:lnTo>
                    <a:pt x="21335" y="18287"/>
                  </a:lnTo>
                  <a:lnTo>
                    <a:pt x="25907" y="16763"/>
                  </a:lnTo>
                  <a:lnTo>
                    <a:pt x="38100" y="13715"/>
                  </a:lnTo>
                  <a:lnTo>
                    <a:pt x="82296" y="13715"/>
                  </a:lnTo>
                  <a:lnTo>
                    <a:pt x="80772" y="12191"/>
                  </a:lnTo>
                  <a:lnTo>
                    <a:pt x="80772" y="10667"/>
                  </a:lnTo>
                  <a:lnTo>
                    <a:pt x="76200" y="7619"/>
                  </a:lnTo>
                  <a:close/>
                </a:path>
                <a:path w="90170" h="58420">
                  <a:moveTo>
                    <a:pt x="74893" y="34398"/>
                  </a:moveTo>
                  <a:lnTo>
                    <a:pt x="71627" y="36575"/>
                  </a:lnTo>
                  <a:lnTo>
                    <a:pt x="73151" y="36575"/>
                  </a:lnTo>
                  <a:lnTo>
                    <a:pt x="68579" y="39623"/>
                  </a:lnTo>
                  <a:lnTo>
                    <a:pt x="64007" y="41147"/>
                  </a:lnTo>
                  <a:lnTo>
                    <a:pt x="51815" y="44195"/>
                  </a:lnTo>
                  <a:lnTo>
                    <a:pt x="83058" y="44195"/>
                  </a:lnTo>
                  <a:lnTo>
                    <a:pt x="85344" y="42671"/>
                  </a:lnTo>
                  <a:lnTo>
                    <a:pt x="85344" y="41147"/>
                  </a:lnTo>
                  <a:lnTo>
                    <a:pt x="88392" y="36575"/>
                  </a:lnTo>
                  <a:lnTo>
                    <a:pt x="88392" y="35051"/>
                  </a:lnTo>
                  <a:lnTo>
                    <a:pt x="74675" y="35051"/>
                  </a:lnTo>
                  <a:lnTo>
                    <a:pt x="74893" y="34398"/>
                  </a:lnTo>
                  <a:close/>
                </a:path>
                <a:path w="90170" h="58420">
                  <a:moveTo>
                    <a:pt x="13715" y="33527"/>
                  </a:moveTo>
                  <a:lnTo>
                    <a:pt x="15239" y="35051"/>
                  </a:lnTo>
                  <a:lnTo>
                    <a:pt x="15022" y="34398"/>
                  </a:lnTo>
                  <a:lnTo>
                    <a:pt x="13715" y="33527"/>
                  </a:lnTo>
                  <a:close/>
                </a:path>
                <a:path w="90170" h="58420">
                  <a:moveTo>
                    <a:pt x="15022" y="34398"/>
                  </a:moveTo>
                  <a:lnTo>
                    <a:pt x="15239" y="35051"/>
                  </a:lnTo>
                  <a:lnTo>
                    <a:pt x="16001" y="35051"/>
                  </a:lnTo>
                  <a:lnTo>
                    <a:pt x="15022" y="34398"/>
                  </a:lnTo>
                  <a:close/>
                </a:path>
                <a:path w="90170" h="58420">
                  <a:moveTo>
                    <a:pt x="76200" y="33527"/>
                  </a:moveTo>
                  <a:lnTo>
                    <a:pt x="74893" y="34398"/>
                  </a:lnTo>
                  <a:lnTo>
                    <a:pt x="74675" y="35051"/>
                  </a:lnTo>
                  <a:lnTo>
                    <a:pt x="76200" y="33527"/>
                  </a:lnTo>
                  <a:close/>
                </a:path>
                <a:path w="90170" h="58420">
                  <a:moveTo>
                    <a:pt x="88900" y="33527"/>
                  </a:moveTo>
                  <a:lnTo>
                    <a:pt x="76200" y="33527"/>
                  </a:lnTo>
                  <a:lnTo>
                    <a:pt x="74675" y="35051"/>
                  </a:lnTo>
                  <a:lnTo>
                    <a:pt x="88392" y="35051"/>
                  </a:lnTo>
                  <a:lnTo>
                    <a:pt x="88900" y="33527"/>
                  </a:lnTo>
                  <a:close/>
                </a:path>
                <a:path w="90170" h="58420">
                  <a:moveTo>
                    <a:pt x="14731" y="33527"/>
                  </a:moveTo>
                  <a:lnTo>
                    <a:pt x="13715" y="33527"/>
                  </a:lnTo>
                  <a:lnTo>
                    <a:pt x="15022" y="34398"/>
                  </a:lnTo>
                  <a:lnTo>
                    <a:pt x="14731" y="33527"/>
                  </a:lnTo>
                  <a:close/>
                </a:path>
                <a:path w="90170" h="58420">
                  <a:moveTo>
                    <a:pt x="76200" y="30479"/>
                  </a:moveTo>
                  <a:lnTo>
                    <a:pt x="74893" y="34398"/>
                  </a:lnTo>
                  <a:lnTo>
                    <a:pt x="76200" y="33527"/>
                  </a:lnTo>
                  <a:lnTo>
                    <a:pt x="88900" y="33527"/>
                  </a:lnTo>
                  <a:lnTo>
                    <a:pt x="89407" y="32003"/>
                  </a:lnTo>
                  <a:lnTo>
                    <a:pt x="76200" y="32003"/>
                  </a:lnTo>
                  <a:lnTo>
                    <a:pt x="76200" y="30479"/>
                  </a:lnTo>
                  <a:close/>
                </a:path>
                <a:path w="90170" h="58420">
                  <a:moveTo>
                    <a:pt x="13715" y="30479"/>
                  </a:moveTo>
                  <a:lnTo>
                    <a:pt x="13715" y="32003"/>
                  </a:lnTo>
                  <a:lnTo>
                    <a:pt x="14223" y="32003"/>
                  </a:lnTo>
                  <a:lnTo>
                    <a:pt x="13715" y="30479"/>
                  </a:lnTo>
                  <a:close/>
                </a:path>
                <a:path w="90170" h="58420">
                  <a:moveTo>
                    <a:pt x="89407" y="25907"/>
                  </a:moveTo>
                  <a:lnTo>
                    <a:pt x="76200" y="25907"/>
                  </a:lnTo>
                  <a:lnTo>
                    <a:pt x="76200" y="32003"/>
                  </a:lnTo>
                  <a:lnTo>
                    <a:pt x="89407" y="32003"/>
                  </a:lnTo>
                  <a:lnTo>
                    <a:pt x="89915" y="30479"/>
                  </a:lnTo>
                  <a:lnTo>
                    <a:pt x="89915" y="27431"/>
                  </a:lnTo>
                  <a:lnTo>
                    <a:pt x="89407" y="25907"/>
                  </a:lnTo>
                  <a:close/>
                </a:path>
                <a:path w="90170" h="58420">
                  <a:moveTo>
                    <a:pt x="14223" y="25907"/>
                  </a:moveTo>
                  <a:lnTo>
                    <a:pt x="13715" y="25907"/>
                  </a:lnTo>
                  <a:lnTo>
                    <a:pt x="13715" y="27431"/>
                  </a:lnTo>
                  <a:lnTo>
                    <a:pt x="14223" y="25907"/>
                  </a:lnTo>
                  <a:close/>
                </a:path>
                <a:path w="90170" h="58420">
                  <a:moveTo>
                    <a:pt x="88392" y="22859"/>
                  </a:moveTo>
                  <a:lnTo>
                    <a:pt x="74675" y="22859"/>
                  </a:lnTo>
                  <a:lnTo>
                    <a:pt x="76200" y="27431"/>
                  </a:lnTo>
                  <a:lnTo>
                    <a:pt x="76200" y="25907"/>
                  </a:lnTo>
                  <a:lnTo>
                    <a:pt x="89407" y="25907"/>
                  </a:lnTo>
                  <a:lnTo>
                    <a:pt x="88392" y="22859"/>
                  </a:lnTo>
                  <a:close/>
                </a:path>
                <a:path w="90170" h="58420">
                  <a:moveTo>
                    <a:pt x="16763" y="22859"/>
                  </a:moveTo>
                  <a:lnTo>
                    <a:pt x="15239" y="22859"/>
                  </a:lnTo>
                  <a:lnTo>
                    <a:pt x="15239" y="24383"/>
                  </a:lnTo>
                  <a:lnTo>
                    <a:pt x="16763" y="22859"/>
                  </a:lnTo>
                  <a:close/>
                </a:path>
                <a:path w="90170" h="58420">
                  <a:moveTo>
                    <a:pt x="82296" y="13715"/>
                  </a:moveTo>
                  <a:lnTo>
                    <a:pt x="51815" y="13715"/>
                  </a:lnTo>
                  <a:lnTo>
                    <a:pt x="59435" y="15239"/>
                  </a:lnTo>
                  <a:lnTo>
                    <a:pt x="68579" y="18287"/>
                  </a:lnTo>
                  <a:lnTo>
                    <a:pt x="73151" y="21335"/>
                  </a:lnTo>
                  <a:lnTo>
                    <a:pt x="71627" y="21335"/>
                  </a:lnTo>
                  <a:lnTo>
                    <a:pt x="74675" y="24383"/>
                  </a:lnTo>
                  <a:lnTo>
                    <a:pt x="74675" y="22859"/>
                  </a:lnTo>
                  <a:lnTo>
                    <a:pt x="88392" y="22859"/>
                  </a:lnTo>
                  <a:lnTo>
                    <a:pt x="88392" y="21335"/>
                  </a:lnTo>
                  <a:lnTo>
                    <a:pt x="85344" y="16763"/>
                  </a:lnTo>
                  <a:lnTo>
                    <a:pt x="82296" y="13715"/>
                  </a:lnTo>
                  <a:close/>
                </a:path>
                <a:path w="90170" h="58420">
                  <a:moveTo>
                    <a:pt x="44196" y="0"/>
                  </a:moveTo>
                  <a:lnTo>
                    <a:pt x="36575" y="1523"/>
                  </a:lnTo>
                  <a:lnTo>
                    <a:pt x="27431" y="3047"/>
                  </a:lnTo>
                  <a:lnTo>
                    <a:pt x="21335" y="4571"/>
                  </a:lnTo>
                  <a:lnTo>
                    <a:pt x="15239" y="7619"/>
                  </a:lnTo>
                  <a:lnTo>
                    <a:pt x="74675" y="7619"/>
                  </a:lnTo>
                  <a:lnTo>
                    <a:pt x="68579" y="4571"/>
                  </a:lnTo>
                  <a:lnTo>
                    <a:pt x="60959" y="1523"/>
                  </a:lnTo>
                  <a:lnTo>
                    <a:pt x="53339" y="1523"/>
                  </a:lnTo>
                  <a:lnTo>
                    <a:pt x="44196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81599" y="4521707"/>
              <a:ext cx="76200" cy="44450"/>
            </a:xfrm>
            <a:custGeom>
              <a:avLst/>
              <a:gdLst/>
              <a:ahLst/>
              <a:cxnLst/>
              <a:rect l="l" t="t" r="r" b="b"/>
              <a:pathLst>
                <a:path w="76200" h="44450">
                  <a:moveTo>
                    <a:pt x="38100" y="0"/>
                  </a:moveTo>
                  <a:lnTo>
                    <a:pt x="23788" y="1619"/>
                  </a:lnTo>
                  <a:lnTo>
                    <a:pt x="11620" y="6096"/>
                  </a:lnTo>
                  <a:lnTo>
                    <a:pt x="3167" y="12858"/>
                  </a:lnTo>
                  <a:lnTo>
                    <a:pt x="0" y="21336"/>
                  </a:lnTo>
                  <a:lnTo>
                    <a:pt x="3167" y="30051"/>
                  </a:lnTo>
                  <a:lnTo>
                    <a:pt x="11620" y="37337"/>
                  </a:lnTo>
                  <a:lnTo>
                    <a:pt x="23788" y="42338"/>
                  </a:lnTo>
                  <a:lnTo>
                    <a:pt x="38100" y="44196"/>
                  </a:lnTo>
                  <a:lnTo>
                    <a:pt x="53054" y="42338"/>
                  </a:lnTo>
                  <a:lnTo>
                    <a:pt x="65150" y="37337"/>
                  </a:lnTo>
                  <a:lnTo>
                    <a:pt x="73247" y="30051"/>
                  </a:lnTo>
                  <a:lnTo>
                    <a:pt x="76200" y="21336"/>
                  </a:lnTo>
                  <a:lnTo>
                    <a:pt x="73247" y="12858"/>
                  </a:lnTo>
                  <a:lnTo>
                    <a:pt x="65150" y="6096"/>
                  </a:lnTo>
                  <a:lnTo>
                    <a:pt x="53054" y="161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175503" y="4515611"/>
              <a:ext cx="90170" cy="56515"/>
            </a:xfrm>
            <a:custGeom>
              <a:avLst/>
              <a:gdLst/>
              <a:ahLst/>
              <a:cxnLst/>
              <a:rect l="l" t="t" r="r" b="b"/>
              <a:pathLst>
                <a:path w="90170" h="56514">
                  <a:moveTo>
                    <a:pt x="74675" y="48767"/>
                  </a:moveTo>
                  <a:lnTo>
                    <a:pt x="15239" y="48767"/>
                  </a:lnTo>
                  <a:lnTo>
                    <a:pt x="21336" y="51815"/>
                  </a:lnTo>
                  <a:lnTo>
                    <a:pt x="28955" y="54863"/>
                  </a:lnTo>
                  <a:lnTo>
                    <a:pt x="36575" y="56387"/>
                  </a:lnTo>
                  <a:lnTo>
                    <a:pt x="53339" y="56387"/>
                  </a:lnTo>
                  <a:lnTo>
                    <a:pt x="62484" y="54863"/>
                  </a:lnTo>
                  <a:lnTo>
                    <a:pt x="74675" y="48767"/>
                  </a:lnTo>
                  <a:close/>
                </a:path>
                <a:path w="90170" h="56514">
                  <a:moveTo>
                    <a:pt x="53339" y="0"/>
                  </a:moveTo>
                  <a:lnTo>
                    <a:pt x="36575" y="0"/>
                  </a:lnTo>
                  <a:lnTo>
                    <a:pt x="27431" y="1524"/>
                  </a:lnTo>
                  <a:lnTo>
                    <a:pt x="21336" y="4571"/>
                  </a:lnTo>
                  <a:lnTo>
                    <a:pt x="15239" y="6095"/>
                  </a:lnTo>
                  <a:lnTo>
                    <a:pt x="13715" y="7619"/>
                  </a:lnTo>
                  <a:lnTo>
                    <a:pt x="9143" y="10667"/>
                  </a:lnTo>
                  <a:lnTo>
                    <a:pt x="4572" y="15239"/>
                  </a:lnTo>
                  <a:lnTo>
                    <a:pt x="4572" y="16763"/>
                  </a:lnTo>
                  <a:lnTo>
                    <a:pt x="1524" y="19811"/>
                  </a:lnTo>
                  <a:lnTo>
                    <a:pt x="1524" y="22859"/>
                  </a:lnTo>
                  <a:lnTo>
                    <a:pt x="0" y="27431"/>
                  </a:lnTo>
                  <a:lnTo>
                    <a:pt x="0" y="28955"/>
                  </a:lnTo>
                  <a:lnTo>
                    <a:pt x="1524" y="33527"/>
                  </a:lnTo>
                  <a:lnTo>
                    <a:pt x="1524" y="35052"/>
                  </a:lnTo>
                  <a:lnTo>
                    <a:pt x="4572" y="39623"/>
                  </a:lnTo>
                  <a:lnTo>
                    <a:pt x="4572" y="41147"/>
                  </a:lnTo>
                  <a:lnTo>
                    <a:pt x="9143" y="44195"/>
                  </a:lnTo>
                  <a:lnTo>
                    <a:pt x="9143" y="45719"/>
                  </a:lnTo>
                  <a:lnTo>
                    <a:pt x="13715" y="48767"/>
                  </a:lnTo>
                  <a:lnTo>
                    <a:pt x="76200" y="48767"/>
                  </a:lnTo>
                  <a:lnTo>
                    <a:pt x="80772" y="45719"/>
                  </a:lnTo>
                  <a:lnTo>
                    <a:pt x="80772" y="44195"/>
                  </a:lnTo>
                  <a:lnTo>
                    <a:pt x="44196" y="44195"/>
                  </a:lnTo>
                  <a:lnTo>
                    <a:pt x="38100" y="42671"/>
                  </a:lnTo>
                  <a:lnTo>
                    <a:pt x="30479" y="42671"/>
                  </a:lnTo>
                  <a:lnTo>
                    <a:pt x="25908" y="39623"/>
                  </a:lnTo>
                  <a:lnTo>
                    <a:pt x="21336" y="38099"/>
                  </a:lnTo>
                  <a:lnTo>
                    <a:pt x="19050" y="36575"/>
                  </a:lnTo>
                  <a:lnTo>
                    <a:pt x="18287" y="36575"/>
                  </a:lnTo>
                  <a:lnTo>
                    <a:pt x="13715" y="32003"/>
                  </a:lnTo>
                  <a:lnTo>
                    <a:pt x="13715" y="24383"/>
                  </a:lnTo>
                  <a:lnTo>
                    <a:pt x="14477" y="24383"/>
                  </a:lnTo>
                  <a:lnTo>
                    <a:pt x="15239" y="22859"/>
                  </a:lnTo>
                  <a:lnTo>
                    <a:pt x="21336" y="16763"/>
                  </a:lnTo>
                  <a:lnTo>
                    <a:pt x="23622" y="16763"/>
                  </a:lnTo>
                  <a:lnTo>
                    <a:pt x="25908" y="15239"/>
                  </a:lnTo>
                  <a:lnTo>
                    <a:pt x="38100" y="12191"/>
                  </a:lnTo>
                  <a:lnTo>
                    <a:pt x="82296" y="12191"/>
                  </a:lnTo>
                  <a:lnTo>
                    <a:pt x="80772" y="10667"/>
                  </a:lnTo>
                  <a:lnTo>
                    <a:pt x="76200" y="7619"/>
                  </a:lnTo>
                  <a:lnTo>
                    <a:pt x="74675" y="6095"/>
                  </a:lnTo>
                  <a:lnTo>
                    <a:pt x="68579" y="3047"/>
                  </a:lnTo>
                  <a:lnTo>
                    <a:pt x="53339" y="0"/>
                  </a:lnTo>
                  <a:close/>
                </a:path>
                <a:path w="90170" h="56514">
                  <a:moveTo>
                    <a:pt x="73151" y="35052"/>
                  </a:moveTo>
                  <a:lnTo>
                    <a:pt x="64008" y="41147"/>
                  </a:lnTo>
                  <a:lnTo>
                    <a:pt x="57912" y="42671"/>
                  </a:lnTo>
                  <a:lnTo>
                    <a:pt x="51815" y="42671"/>
                  </a:lnTo>
                  <a:lnTo>
                    <a:pt x="44196" y="44195"/>
                  </a:lnTo>
                  <a:lnTo>
                    <a:pt x="80772" y="44195"/>
                  </a:lnTo>
                  <a:lnTo>
                    <a:pt x="85343" y="41147"/>
                  </a:lnTo>
                  <a:lnTo>
                    <a:pt x="85343" y="39623"/>
                  </a:lnTo>
                  <a:lnTo>
                    <a:pt x="87375" y="36575"/>
                  </a:lnTo>
                  <a:lnTo>
                    <a:pt x="71627" y="36575"/>
                  </a:lnTo>
                  <a:lnTo>
                    <a:pt x="73151" y="35052"/>
                  </a:lnTo>
                  <a:close/>
                </a:path>
                <a:path w="90170" h="56514">
                  <a:moveTo>
                    <a:pt x="16764" y="35052"/>
                  </a:moveTo>
                  <a:lnTo>
                    <a:pt x="18287" y="36575"/>
                  </a:lnTo>
                  <a:lnTo>
                    <a:pt x="19050" y="36575"/>
                  </a:lnTo>
                  <a:lnTo>
                    <a:pt x="16764" y="35052"/>
                  </a:lnTo>
                  <a:close/>
                </a:path>
                <a:path w="90170" h="56514">
                  <a:moveTo>
                    <a:pt x="88900" y="24383"/>
                  </a:moveTo>
                  <a:lnTo>
                    <a:pt x="76200" y="24383"/>
                  </a:lnTo>
                  <a:lnTo>
                    <a:pt x="76200" y="32003"/>
                  </a:lnTo>
                  <a:lnTo>
                    <a:pt x="71627" y="36575"/>
                  </a:lnTo>
                  <a:lnTo>
                    <a:pt x="87375" y="36575"/>
                  </a:lnTo>
                  <a:lnTo>
                    <a:pt x="88391" y="35052"/>
                  </a:lnTo>
                  <a:lnTo>
                    <a:pt x="88391" y="33527"/>
                  </a:lnTo>
                  <a:lnTo>
                    <a:pt x="89915" y="28955"/>
                  </a:lnTo>
                  <a:lnTo>
                    <a:pt x="89915" y="27431"/>
                  </a:lnTo>
                  <a:lnTo>
                    <a:pt x="88900" y="24383"/>
                  </a:lnTo>
                  <a:close/>
                </a:path>
                <a:path w="90170" h="56514">
                  <a:moveTo>
                    <a:pt x="13715" y="28955"/>
                  </a:moveTo>
                  <a:lnTo>
                    <a:pt x="13715" y="32003"/>
                  </a:lnTo>
                  <a:lnTo>
                    <a:pt x="15239" y="33527"/>
                  </a:lnTo>
                  <a:lnTo>
                    <a:pt x="13715" y="28955"/>
                  </a:lnTo>
                  <a:close/>
                </a:path>
                <a:path w="90170" h="56514">
                  <a:moveTo>
                    <a:pt x="76200" y="28955"/>
                  </a:moveTo>
                  <a:lnTo>
                    <a:pt x="74675" y="33527"/>
                  </a:lnTo>
                  <a:lnTo>
                    <a:pt x="76200" y="32003"/>
                  </a:lnTo>
                  <a:lnTo>
                    <a:pt x="76200" y="28955"/>
                  </a:lnTo>
                  <a:close/>
                </a:path>
                <a:path w="90170" h="56514">
                  <a:moveTo>
                    <a:pt x="14477" y="24383"/>
                  </a:moveTo>
                  <a:lnTo>
                    <a:pt x="13715" y="24383"/>
                  </a:lnTo>
                  <a:lnTo>
                    <a:pt x="13715" y="25907"/>
                  </a:lnTo>
                  <a:lnTo>
                    <a:pt x="14477" y="24383"/>
                  </a:lnTo>
                  <a:close/>
                </a:path>
                <a:path w="90170" h="56514">
                  <a:moveTo>
                    <a:pt x="85343" y="16763"/>
                  </a:moveTo>
                  <a:lnTo>
                    <a:pt x="68579" y="16763"/>
                  </a:lnTo>
                  <a:lnTo>
                    <a:pt x="74675" y="22859"/>
                  </a:lnTo>
                  <a:lnTo>
                    <a:pt x="76200" y="25907"/>
                  </a:lnTo>
                  <a:lnTo>
                    <a:pt x="76200" y="24383"/>
                  </a:lnTo>
                  <a:lnTo>
                    <a:pt x="88900" y="24383"/>
                  </a:lnTo>
                  <a:lnTo>
                    <a:pt x="88391" y="22859"/>
                  </a:lnTo>
                  <a:lnTo>
                    <a:pt x="88391" y="19811"/>
                  </a:lnTo>
                  <a:lnTo>
                    <a:pt x="85343" y="16763"/>
                  </a:lnTo>
                  <a:close/>
                </a:path>
                <a:path w="90170" h="56514">
                  <a:moveTo>
                    <a:pt x="23622" y="16763"/>
                  </a:moveTo>
                  <a:lnTo>
                    <a:pt x="21336" y="16763"/>
                  </a:lnTo>
                  <a:lnTo>
                    <a:pt x="21336" y="18287"/>
                  </a:lnTo>
                  <a:lnTo>
                    <a:pt x="23622" y="16763"/>
                  </a:lnTo>
                  <a:close/>
                </a:path>
                <a:path w="90170" h="56514">
                  <a:moveTo>
                    <a:pt x="82296" y="12191"/>
                  </a:moveTo>
                  <a:lnTo>
                    <a:pt x="51815" y="12191"/>
                  </a:lnTo>
                  <a:lnTo>
                    <a:pt x="59436" y="13715"/>
                  </a:lnTo>
                  <a:lnTo>
                    <a:pt x="64008" y="15239"/>
                  </a:lnTo>
                  <a:lnTo>
                    <a:pt x="68579" y="18287"/>
                  </a:lnTo>
                  <a:lnTo>
                    <a:pt x="68579" y="16763"/>
                  </a:lnTo>
                  <a:lnTo>
                    <a:pt x="85343" y="16763"/>
                  </a:lnTo>
                  <a:lnTo>
                    <a:pt x="85343" y="15239"/>
                  </a:lnTo>
                  <a:lnTo>
                    <a:pt x="82296" y="12191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333999" y="4565903"/>
              <a:ext cx="76200" cy="44450"/>
            </a:xfrm>
            <a:custGeom>
              <a:avLst/>
              <a:gdLst/>
              <a:ahLst/>
              <a:cxnLst/>
              <a:rect l="l" t="t" r="r" b="b"/>
              <a:pathLst>
                <a:path w="76200" h="44450">
                  <a:moveTo>
                    <a:pt x="38100" y="0"/>
                  </a:moveTo>
                  <a:lnTo>
                    <a:pt x="23788" y="1619"/>
                  </a:lnTo>
                  <a:lnTo>
                    <a:pt x="11620" y="6095"/>
                  </a:lnTo>
                  <a:lnTo>
                    <a:pt x="3167" y="12858"/>
                  </a:lnTo>
                  <a:lnTo>
                    <a:pt x="0" y="21336"/>
                  </a:lnTo>
                  <a:lnTo>
                    <a:pt x="3167" y="30051"/>
                  </a:lnTo>
                  <a:lnTo>
                    <a:pt x="11620" y="37337"/>
                  </a:lnTo>
                  <a:lnTo>
                    <a:pt x="23788" y="42338"/>
                  </a:lnTo>
                  <a:lnTo>
                    <a:pt x="38100" y="44195"/>
                  </a:lnTo>
                  <a:lnTo>
                    <a:pt x="53054" y="42338"/>
                  </a:lnTo>
                  <a:lnTo>
                    <a:pt x="65150" y="37337"/>
                  </a:lnTo>
                  <a:lnTo>
                    <a:pt x="73247" y="30051"/>
                  </a:lnTo>
                  <a:lnTo>
                    <a:pt x="76199" y="21336"/>
                  </a:lnTo>
                  <a:lnTo>
                    <a:pt x="73247" y="12858"/>
                  </a:lnTo>
                  <a:lnTo>
                    <a:pt x="65150" y="6095"/>
                  </a:lnTo>
                  <a:lnTo>
                    <a:pt x="53054" y="161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327903" y="4559807"/>
              <a:ext cx="90170" cy="56515"/>
            </a:xfrm>
            <a:custGeom>
              <a:avLst/>
              <a:gdLst/>
              <a:ahLst/>
              <a:cxnLst/>
              <a:rect l="l" t="t" r="r" b="b"/>
              <a:pathLst>
                <a:path w="90170" h="56514">
                  <a:moveTo>
                    <a:pt x="74675" y="48768"/>
                  </a:moveTo>
                  <a:lnTo>
                    <a:pt x="15239" y="48768"/>
                  </a:lnTo>
                  <a:lnTo>
                    <a:pt x="21336" y="51816"/>
                  </a:lnTo>
                  <a:lnTo>
                    <a:pt x="28955" y="54864"/>
                  </a:lnTo>
                  <a:lnTo>
                    <a:pt x="36575" y="56388"/>
                  </a:lnTo>
                  <a:lnTo>
                    <a:pt x="53339" y="56388"/>
                  </a:lnTo>
                  <a:lnTo>
                    <a:pt x="62484" y="54864"/>
                  </a:lnTo>
                  <a:lnTo>
                    <a:pt x="74675" y="48768"/>
                  </a:lnTo>
                  <a:close/>
                </a:path>
                <a:path w="90170" h="56514">
                  <a:moveTo>
                    <a:pt x="76199" y="7620"/>
                  </a:moveTo>
                  <a:lnTo>
                    <a:pt x="13715" y="7620"/>
                  </a:lnTo>
                  <a:lnTo>
                    <a:pt x="9143" y="10668"/>
                  </a:lnTo>
                  <a:lnTo>
                    <a:pt x="4572" y="15240"/>
                  </a:lnTo>
                  <a:lnTo>
                    <a:pt x="4572" y="16764"/>
                  </a:lnTo>
                  <a:lnTo>
                    <a:pt x="1524" y="19812"/>
                  </a:lnTo>
                  <a:lnTo>
                    <a:pt x="1524" y="22860"/>
                  </a:lnTo>
                  <a:lnTo>
                    <a:pt x="0" y="27432"/>
                  </a:lnTo>
                  <a:lnTo>
                    <a:pt x="0" y="28956"/>
                  </a:lnTo>
                  <a:lnTo>
                    <a:pt x="1524" y="33528"/>
                  </a:lnTo>
                  <a:lnTo>
                    <a:pt x="1524" y="35052"/>
                  </a:lnTo>
                  <a:lnTo>
                    <a:pt x="4572" y="39624"/>
                  </a:lnTo>
                  <a:lnTo>
                    <a:pt x="4572" y="41148"/>
                  </a:lnTo>
                  <a:lnTo>
                    <a:pt x="9143" y="44196"/>
                  </a:lnTo>
                  <a:lnTo>
                    <a:pt x="9143" y="45720"/>
                  </a:lnTo>
                  <a:lnTo>
                    <a:pt x="13715" y="48768"/>
                  </a:lnTo>
                  <a:lnTo>
                    <a:pt x="76199" y="48768"/>
                  </a:lnTo>
                  <a:lnTo>
                    <a:pt x="80771" y="45720"/>
                  </a:lnTo>
                  <a:lnTo>
                    <a:pt x="80771" y="44196"/>
                  </a:lnTo>
                  <a:lnTo>
                    <a:pt x="44196" y="44196"/>
                  </a:lnTo>
                  <a:lnTo>
                    <a:pt x="38100" y="42672"/>
                  </a:lnTo>
                  <a:lnTo>
                    <a:pt x="30479" y="42672"/>
                  </a:lnTo>
                  <a:lnTo>
                    <a:pt x="25908" y="39624"/>
                  </a:lnTo>
                  <a:lnTo>
                    <a:pt x="21336" y="38100"/>
                  </a:lnTo>
                  <a:lnTo>
                    <a:pt x="19050" y="36576"/>
                  </a:lnTo>
                  <a:lnTo>
                    <a:pt x="18287" y="36576"/>
                  </a:lnTo>
                  <a:lnTo>
                    <a:pt x="16763" y="35052"/>
                  </a:lnTo>
                  <a:lnTo>
                    <a:pt x="17272" y="35052"/>
                  </a:lnTo>
                  <a:lnTo>
                    <a:pt x="16255" y="33528"/>
                  </a:lnTo>
                  <a:lnTo>
                    <a:pt x="15239" y="33528"/>
                  </a:lnTo>
                  <a:lnTo>
                    <a:pt x="14731" y="32004"/>
                  </a:lnTo>
                  <a:lnTo>
                    <a:pt x="13715" y="32004"/>
                  </a:lnTo>
                  <a:lnTo>
                    <a:pt x="13715" y="24384"/>
                  </a:lnTo>
                  <a:lnTo>
                    <a:pt x="21336" y="16764"/>
                  </a:lnTo>
                  <a:lnTo>
                    <a:pt x="23622" y="16764"/>
                  </a:lnTo>
                  <a:lnTo>
                    <a:pt x="25908" y="15240"/>
                  </a:lnTo>
                  <a:lnTo>
                    <a:pt x="38100" y="12192"/>
                  </a:lnTo>
                  <a:lnTo>
                    <a:pt x="82295" y="12192"/>
                  </a:lnTo>
                  <a:lnTo>
                    <a:pt x="80771" y="10668"/>
                  </a:lnTo>
                  <a:lnTo>
                    <a:pt x="76199" y="7620"/>
                  </a:lnTo>
                  <a:close/>
                </a:path>
                <a:path w="90170" h="56514">
                  <a:moveTo>
                    <a:pt x="72237" y="35661"/>
                  </a:moveTo>
                  <a:lnTo>
                    <a:pt x="64008" y="41148"/>
                  </a:lnTo>
                  <a:lnTo>
                    <a:pt x="57912" y="42672"/>
                  </a:lnTo>
                  <a:lnTo>
                    <a:pt x="51815" y="42672"/>
                  </a:lnTo>
                  <a:lnTo>
                    <a:pt x="44196" y="44196"/>
                  </a:lnTo>
                  <a:lnTo>
                    <a:pt x="80771" y="44196"/>
                  </a:lnTo>
                  <a:lnTo>
                    <a:pt x="85343" y="41148"/>
                  </a:lnTo>
                  <a:lnTo>
                    <a:pt x="85343" y="39624"/>
                  </a:lnTo>
                  <a:lnTo>
                    <a:pt x="87375" y="36576"/>
                  </a:lnTo>
                  <a:lnTo>
                    <a:pt x="71627" y="36576"/>
                  </a:lnTo>
                  <a:lnTo>
                    <a:pt x="72237" y="35661"/>
                  </a:lnTo>
                  <a:close/>
                </a:path>
                <a:path w="90170" h="56514">
                  <a:moveTo>
                    <a:pt x="16763" y="35052"/>
                  </a:moveTo>
                  <a:lnTo>
                    <a:pt x="18287" y="36576"/>
                  </a:lnTo>
                  <a:lnTo>
                    <a:pt x="17678" y="35661"/>
                  </a:lnTo>
                  <a:lnTo>
                    <a:pt x="16763" y="35052"/>
                  </a:lnTo>
                  <a:close/>
                </a:path>
                <a:path w="90170" h="56514">
                  <a:moveTo>
                    <a:pt x="17678" y="35661"/>
                  </a:moveTo>
                  <a:lnTo>
                    <a:pt x="18287" y="36576"/>
                  </a:lnTo>
                  <a:lnTo>
                    <a:pt x="19050" y="36576"/>
                  </a:lnTo>
                  <a:lnTo>
                    <a:pt x="17678" y="35661"/>
                  </a:lnTo>
                  <a:close/>
                </a:path>
                <a:path w="90170" h="56514">
                  <a:moveTo>
                    <a:pt x="73151" y="35052"/>
                  </a:moveTo>
                  <a:lnTo>
                    <a:pt x="72237" y="35661"/>
                  </a:lnTo>
                  <a:lnTo>
                    <a:pt x="71627" y="36576"/>
                  </a:lnTo>
                  <a:lnTo>
                    <a:pt x="73151" y="35052"/>
                  </a:lnTo>
                  <a:close/>
                </a:path>
                <a:path w="90170" h="56514">
                  <a:moveTo>
                    <a:pt x="88391" y="35052"/>
                  </a:moveTo>
                  <a:lnTo>
                    <a:pt x="73151" y="35052"/>
                  </a:lnTo>
                  <a:lnTo>
                    <a:pt x="71627" y="36576"/>
                  </a:lnTo>
                  <a:lnTo>
                    <a:pt x="87375" y="36576"/>
                  </a:lnTo>
                  <a:lnTo>
                    <a:pt x="88391" y="35052"/>
                  </a:lnTo>
                  <a:close/>
                </a:path>
                <a:path w="90170" h="56514">
                  <a:moveTo>
                    <a:pt x="74675" y="32004"/>
                  </a:moveTo>
                  <a:lnTo>
                    <a:pt x="72237" y="35661"/>
                  </a:lnTo>
                  <a:lnTo>
                    <a:pt x="73151" y="35052"/>
                  </a:lnTo>
                  <a:lnTo>
                    <a:pt x="88391" y="35052"/>
                  </a:lnTo>
                  <a:lnTo>
                    <a:pt x="88391" y="33528"/>
                  </a:lnTo>
                  <a:lnTo>
                    <a:pt x="74675" y="33528"/>
                  </a:lnTo>
                  <a:lnTo>
                    <a:pt x="74675" y="32004"/>
                  </a:lnTo>
                  <a:close/>
                </a:path>
                <a:path w="90170" h="56514">
                  <a:moveTo>
                    <a:pt x="17272" y="35052"/>
                  </a:moveTo>
                  <a:lnTo>
                    <a:pt x="16763" y="35052"/>
                  </a:lnTo>
                  <a:lnTo>
                    <a:pt x="17678" y="35661"/>
                  </a:lnTo>
                  <a:lnTo>
                    <a:pt x="17272" y="35052"/>
                  </a:lnTo>
                  <a:close/>
                </a:path>
                <a:path w="90170" h="56514">
                  <a:moveTo>
                    <a:pt x="15239" y="32004"/>
                  </a:moveTo>
                  <a:lnTo>
                    <a:pt x="15239" y="33528"/>
                  </a:lnTo>
                  <a:lnTo>
                    <a:pt x="16255" y="33528"/>
                  </a:lnTo>
                  <a:lnTo>
                    <a:pt x="15239" y="32004"/>
                  </a:lnTo>
                  <a:close/>
                </a:path>
                <a:path w="90170" h="56514">
                  <a:moveTo>
                    <a:pt x="76199" y="28956"/>
                  </a:moveTo>
                  <a:lnTo>
                    <a:pt x="74675" y="33528"/>
                  </a:lnTo>
                  <a:lnTo>
                    <a:pt x="88391" y="33528"/>
                  </a:lnTo>
                  <a:lnTo>
                    <a:pt x="88899" y="32004"/>
                  </a:lnTo>
                  <a:lnTo>
                    <a:pt x="76199" y="32004"/>
                  </a:lnTo>
                  <a:lnTo>
                    <a:pt x="76199" y="28956"/>
                  </a:lnTo>
                  <a:close/>
                </a:path>
                <a:path w="90170" h="56514">
                  <a:moveTo>
                    <a:pt x="13715" y="28956"/>
                  </a:moveTo>
                  <a:lnTo>
                    <a:pt x="13715" y="32004"/>
                  </a:lnTo>
                  <a:lnTo>
                    <a:pt x="14731" y="32004"/>
                  </a:lnTo>
                  <a:lnTo>
                    <a:pt x="13715" y="28956"/>
                  </a:lnTo>
                  <a:close/>
                </a:path>
                <a:path w="90170" h="56514">
                  <a:moveTo>
                    <a:pt x="85343" y="16764"/>
                  </a:moveTo>
                  <a:lnTo>
                    <a:pt x="68579" y="16764"/>
                  </a:lnTo>
                  <a:lnTo>
                    <a:pt x="76199" y="24384"/>
                  </a:lnTo>
                  <a:lnTo>
                    <a:pt x="76199" y="32004"/>
                  </a:lnTo>
                  <a:lnTo>
                    <a:pt x="88899" y="32004"/>
                  </a:lnTo>
                  <a:lnTo>
                    <a:pt x="89915" y="28956"/>
                  </a:lnTo>
                  <a:lnTo>
                    <a:pt x="89915" y="27432"/>
                  </a:lnTo>
                  <a:lnTo>
                    <a:pt x="88391" y="22860"/>
                  </a:lnTo>
                  <a:lnTo>
                    <a:pt x="88391" y="21336"/>
                  </a:lnTo>
                  <a:lnTo>
                    <a:pt x="85343" y="16764"/>
                  </a:lnTo>
                  <a:close/>
                </a:path>
                <a:path w="90170" h="56514">
                  <a:moveTo>
                    <a:pt x="15239" y="22860"/>
                  </a:moveTo>
                  <a:lnTo>
                    <a:pt x="13715" y="24384"/>
                  </a:lnTo>
                  <a:lnTo>
                    <a:pt x="13715" y="25908"/>
                  </a:lnTo>
                  <a:lnTo>
                    <a:pt x="15239" y="22860"/>
                  </a:lnTo>
                  <a:close/>
                </a:path>
                <a:path w="90170" h="56514">
                  <a:moveTo>
                    <a:pt x="74675" y="22860"/>
                  </a:moveTo>
                  <a:lnTo>
                    <a:pt x="76199" y="25908"/>
                  </a:lnTo>
                  <a:lnTo>
                    <a:pt x="76199" y="24384"/>
                  </a:lnTo>
                  <a:lnTo>
                    <a:pt x="74675" y="22860"/>
                  </a:lnTo>
                  <a:close/>
                </a:path>
                <a:path w="90170" h="56514">
                  <a:moveTo>
                    <a:pt x="23622" y="16764"/>
                  </a:moveTo>
                  <a:lnTo>
                    <a:pt x="21336" y="16764"/>
                  </a:lnTo>
                  <a:lnTo>
                    <a:pt x="21336" y="18288"/>
                  </a:lnTo>
                  <a:lnTo>
                    <a:pt x="23622" y="16764"/>
                  </a:lnTo>
                  <a:close/>
                </a:path>
                <a:path w="90170" h="56514">
                  <a:moveTo>
                    <a:pt x="82295" y="12192"/>
                  </a:moveTo>
                  <a:lnTo>
                    <a:pt x="51815" y="12192"/>
                  </a:lnTo>
                  <a:lnTo>
                    <a:pt x="59436" y="13716"/>
                  </a:lnTo>
                  <a:lnTo>
                    <a:pt x="64008" y="15240"/>
                  </a:lnTo>
                  <a:lnTo>
                    <a:pt x="68579" y="18288"/>
                  </a:lnTo>
                  <a:lnTo>
                    <a:pt x="68579" y="16764"/>
                  </a:lnTo>
                  <a:lnTo>
                    <a:pt x="85343" y="16764"/>
                  </a:lnTo>
                  <a:lnTo>
                    <a:pt x="85343" y="15240"/>
                  </a:lnTo>
                  <a:lnTo>
                    <a:pt x="82295" y="12192"/>
                  </a:lnTo>
                  <a:close/>
                </a:path>
                <a:path w="90170" h="56514">
                  <a:moveTo>
                    <a:pt x="53339" y="0"/>
                  </a:moveTo>
                  <a:lnTo>
                    <a:pt x="36575" y="0"/>
                  </a:lnTo>
                  <a:lnTo>
                    <a:pt x="27431" y="1524"/>
                  </a:lnTo>
                  <a:lnTo>
                    <a:pt x="21336" y="4572"/>
                  </a:lnTo>
                  <a:lnTo>
                    <a:pt x="15239" y="6096"/>
                  </a:lnTo>
                  <a:lnTo>
                    <a:pt x="15239" y="7620"/>
                  </a:lnTo>
                  <a:lnTo>
                    <a:pt x="74675" y="7620"/>
                  </a:lnTo>
                  <a:lnTo>
                    <a:pt x="74675" y="6096"/>
                  </a:lnTo>
                  <a:lnTo>
                    <a:pt x="68579" y="3048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486399" y="4610099"/>
              <a:ext cx="76200" cy="44450"/>
            </a:xfrm>
            <a:custGeom>
              <a:avLst/>
              <a:gdLst/>
              <a:ahLst/>
              <a:cxnLst/>
              <a:rect l="l" t="t" r="r" b="b"/>
              <a:pathLst>
                <a:path w="76200" h="44450">
                  <a:moveTo>
                    <a:pt x="38100" y="0"/>
                  </a:moveTo>
                  <a:lnTo>
                    <a:pt x="23788" y="1619"/>
                  </a:lnTo>
                  <a:lnTo>
                    <a:pt x="11620" y="6095"/>
                  </a:lnTo>
                  <a:lnTo>
                    <a:pt x="3167" y="12858"/>
                  </a:lnTo>
                  <a:lnTo>
                    <a:pt x="0" y="21335"/>
                  </a:lnTo>
                  <a:lnTo>
                    <a:pt x="3167" y="30051"/>
                  </a:lnTo>
                  <a:lnTo>
                    <a:pt x="11620" y="37337"/>
                  </a:lnTo>
                  <a:lnTo>
                    <a:pt x="23788" y="42338"/>
                  </a:lnTo>
                  <a:lnTo>
                    <a:pt x="38100" y="44195"/>
                  </a:lnTo>
                  <a:lnTo>
                    <a:pt x="53054" y="42338"/>
                  </a:lnTo>
                  <a:lnTo>
                    <a:pt x="65150" y="37337"/>
                  </a:lnTo>
                  <a:lnTo>
                    <a:pt x="73247" y="30051"/>
                  </a:lnTo>
                  <a:lnTo>
                    <a:pt x="76200" y="21335"/>
                  </a:lnTo>
                  <a:lnTo>
                    <a:pt x="73247" y="12858"/>
                  </a:lnTo>
                  <a:lnTo>
                    <a:pt x="65150" y="6095"/>
                  </a:lnTo>
                  <a:lnTo>
                    <a:pt x="53054" y="161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480303" y="4604003"/>
              <a:ext cx="90170" cy="56515"/>
            </a:xfrm>
            <a:custGeom>
              <a:avLst/>
              <a:gdLst/>
              <a:ahLst/>
              <a:cxnLst/>
              <a:rect l="l" t="t" r="r" b="b"/>
              <a:pathLst>
                <a:path w="90170" h="56514">
                  <a:moveTo>
                    <a:pt x="74675" y="48768"/>
                  </a:moveTo>
                  <a:lnTo>
                    <a:pt x="15239" y="48768"/>
                  </a:lnTo>
                  <a:lnTo>
                    <a:pt x="21336" y="51815"/>
                  </a:lnTo>
                  <a:lnTo>
                    <a:pt x="28955" y="54863"/>
                  </a:lnTo>
                  <a:lnTo>
                    <a:pt x="36575" y="56387"/>
                  </a:lnTo>
                  <a:lnTo>
                    <a:pt x="53339" y="56387"/>
                  </a:lnTo>
                  <a:lnTo>
                    <a:pt x="62484" y="54863"/>
                  </a:lnTo>
                  <a:lnTo>
                    <a:pt x="74675" y="48768"/>
                  </a:lnTo>
                  <a:close/>
                </a:path>
                <a:path w="90170" h="56514">
                  <a:moveTo>
                    <a:pt x="76200" y="7619"/>
                  </a:moveTo>
                  <a:lnTo>
                    <a:pt x="13715" y="7619"/>
                  </a:lnTo>
                  <a:lnTo>
                    <a:pt x="9143" y="10668"/>
                  </a:lnTo>
                  <a:lnTo>
                    <a:pt x="4572" y="15239"/>
                  </a:lnTo>
                  <a:lnTo>
                    <a:pt x="4572" y="16763"/>
                  </a:lnTo>
                  <a:lnTo>
                    <a:pt x="1524" y="21336"/>
                  </a:lnTo>
                  <a:lnTo>
                    <a:pt x="1524" y="22860"/>
                  </a:lnTo>
                  <a:lnTo>
                    <a:pt x="0" y="27431"/>
                  </a:lnTo>
                  <a:lnTo>
                    <a:pt x="0" y="28956"/>
                  </a:lnTo>
                  <a:lnTo>
                    <a:pt x="1524" y="33527"/>
                  </a:lnTo>
                  <a:lnTo>
                    <a:pt x="1524" y="35051"/>
                  </a:lnTo>
                  <a:lnTo>
                    <a:pt x="4572" y="39624"/>
                  </a:lnTo>
                  <a:lnTo>
                    <a:pt x="4572" y="41148"/>
                  </a:lnTo>
                  <a:lnTo>
                    <a:pt x="9143" y="44195"/>
                  </a:lnTo>
                  <a:lnTo>
                    <a:pt x="9143" y="45719"/>
                  </a:lnTo>
                  <a:lnTo>
                    <a:pt x="13715" y="48768"/>
                  </a:lnTo>
                  <a:lnTo>
                    <a:pt x="76200" y="48768"/>
                  </a:lnTo>
                  <a:lnTo>
                    <a:pt x="80772" y="45719"/>
                  </a:lnTo>
                  <a:lnTo>
                    <a:pt x="80772" y="44195"/>
                  </a:lnTo>
                  <a:lnTo>
                    <a:pt x="44196" y="44195"/>
                  </a:lnTo>
                  <a:lnTo>
                    <a:pt x="38100" y="42671"/>
                  </a:lnTo>
                  <a:lnTo>
                    <a:pt x="30479" y="42671"/>
                  </a:lnTo>
                  <a:lnTo>
                    <a:pt x="25908" y="41148"/>
                  </a:lnTo>
                  <a:lnTo>
                    <a:pt x="19050" y="36575"/>
                  </a:lnTo>
                  <a:lnTo>
                    <a:pt x="18287" y="36575"/>
                  </a:lnTo>
                  <a:lnTo>
                    <a:pt x="16763" y="35051"/>
                  </a:lnTo>
                  <a:lnTo>
                    <a:pt x="17272" y="35051"/>
                  </a:lnTo>
                  <a:lnTo>
                    <a:pt x="16255" y="33527"/>
                  </a:lnTo>
                  <a:lnTo>
                    <a:pt x="15239" y="33527"/>
                  </a:lnTo>
                  <a:lnTo>
                    <a:pt x="14731" y="32004"/>
                  </a:lnTo>
                  <a:lnTo>
                    <a:pt x="13715" y="32004"/>
                  </a:lnTo>
                  <a:lnTo>
                    <a:pt x="13715" y="24383"/>
                  </a:lnTo>
                  <a:lnTo>
                    <a:pt x="18287" y="19812"/>
                  </a:lnTo>
                  <a:lnTo>
                    <a:pt x="19050" y="19812"/>
                  </a:lnTo>
                  <a:lnTo>
                    <a:pt x="25908" y="15239"/>
                  </a:lnTo>
                  <a:lnTo>
                    <a:pt x="38100" y="12192"/>
                  </a:lnTo>
                  <a:lnTo>
                    <a:pt x="82296" y="12192"/>
                  </a:lnTo>
                  <a:lnTo>
                    <a:pt x="80772" y="10668"/>
                  </a:lnTo>
                  <a:lnTo>
                    <a:pt x="76200" y="7619"/>
                  </a:lnTo>
                  <a:close/>
                </a:path>
                <a:path w="90170" h="56514">
                  <a:moveTo>
                    <a:pt x="72237" y="35661"/>
                  </a:moveTo>
                  <a:lnTo>
                    <a:pt x="64008" y="41148"/>
                  </a:lnTo>
                  <a:lnTo>
                    <a:pt x="51815" y="44195"/>
                  </a:lnTo>
                  <a:lnTo>
                    <a:pt x="80772" y="44195"/>
                  </a:lnTo>
                  <a:lnTo>
                    <a:pt x="85343" y="41148"/>
                  </a:lnTo>
                  <a:lnTo>
                    <a:pt x="85343" y="39624"/>
                  </a:lnTo>
                  <a:lnTo>
                    <a:pt x="87375" y="36575"/>
                  </a:lnTo>
                  <a:lnTo>
                    <a:pt x="71627" y="36575"/>
                  </a:lnTo>
                  <a:lnTo>
                    <a:pt x="72237" y="35661"/>
                  </a:lnTo>
                  <a:close/>
                </a:path>
                <a:path w="90170" h="56514">
                  <a:moveTo>
                    <a:pt x="16763" y="35051"/>
                  </a:moveTo>
                  <a:lnTo>
                    <a:pt x="18287" y="36575"/>
                  </a:lnTo>
                  <a:lnTo>
                    <a:pt x="17678" y="35661"/>
                  </a:lnTo>
                  <a:lnTo>
                    <a:pt x="16763" y="35051"/>
                  </a:lnTo>
                  <a:close/>
                </a:path>
                <a:path w="90170" h="56514">
                  <a:moveTo>
                    <a:pt x="17678" y="35661"/>
                  </a:moveTo>
                  <a:lnTo>
                    <a:pt x="18287" y="36575"/>
                  </a:lnTo>
                  <a:lnTo>
                    <a:pt x="19050" y="36575"/>
                  </a:lnTo>
                  <a:lnTo>
                    <a:pt x="17678" y="35661"/>
                  </a:lnTo>
                  <a:close/>
                </a:path>
                <a:path w="90170" h="56514">
                  <a:moveTo>
                    <a:pt x="73151" y="35051"/>
                  </a:moveTo>
                  <a:lnTo>
                    <a:pt x="72237" y="35661"/>
                  </a:lnTo>
                  <a:lnTo>
                    <a:pt x="71627" y="36575"/>
                  </a:lnTo>
                  <a:lnTo>
                    <a:pt x="73151" y="35051"/>
                  </a:lnTo>
                  <a:close/>
                </a:path>
                <a:path w="90170" h="56514">
                  <a:moveTo>
                    <a:pt x="88391" y="35051"/>
                  </a:moveTo>
                  <a:lnTo>
                    <a:pt x="73151" y="35051"/>
                  </a:lnTo>
                  <a:lnTo>
                    <a:pt x="71627" y="36575"/>
                  </a:lnTo>
                  <a:lnTo>
                    <a:pt x="87375" y="36575"/>
                  </a:lnTo>
                  <a:lnTo>
                    <a:pt x="88391" y="35051"/>
                  </a:lnTo>
                  <a:close/>
                </a:path>
                <a:path w="90170" h="56514">
                  <a:moveTo>
                    <a:pt x="17272" y="35051"/>
                  </a:moveTo>
                  <a:lnTo>
                    <a:pt x="16763" y="35051"/>
                  </a:lnTo>
                  <a:lnTo>
                    <a:pt x="17678" y="35661"/>
                  </a:lnTo>
                  <a:lnTo>
                    <a:pt x="17272" y="35051"/>
                  </a:lnTo>
                  <a:close/>
                </a:path>
                <a:path w="90170" h="56514">
                  <a:moveTo>
                    <a:pt x="74675" y="32004"/>
                  </a:moveTo>
                  <a:lnTo>
                    <a:pt x="72237" y="35661"/>
                  </a:lnTo>
                  <a:lnTo>
                    <a:pt x="73151" y="35051"/>
                  </a:lnTo>
                  <a:lnTo>
                    <a:pt x="88391" y="35051"/>
                  </a:lnTo>
                  <a:lnTo>
                    <a:pt x="88391" y="33527"/>
                  </a:lnTo>
                  <a:lnTo>
                    <a:pt x="74675" y="33527"/>
                  </a:lnTo>
                  <a:lnTo>
                    <a:pt x="74675" y="32004"/>
                  </a:lnTo>
                  <a:close/>
                </a:path>
                <a:path w="90170" h="56514">
                  <a:moveTo>
                    <a:pt x="15239" y="32004"/>
                  </a:moveTo>
                  <a:lnTo>
                    <a:pt x="15239" y="33527"/>
                  </a:lnTo>
                  <a:lnTo>
                    <a:pt x="16255" y="33527"/>
                  </a:lnTo>
                  <a:lnTo>
                    <a:pt x="15239" y="32004"/>
                  </a:lnTo>
                  <a:close/>
                </a:path>
                <a:path w="90170" h="56514">
                  <a:moveTo>
                    <a:pt x="76200" y="28956"/>
                  </a:moveTo>
                  <a:lnTo>
                    <a:pt x="74675" y="33527"/>
                  </a:lnTo>
                  <a:lnTo>
                    <a:pt x="88391" y="33527"/>
                  </a:lnTo>
                  <a:lnTo>
                    <a:pt x="88900" y="32004"/>
                  </a:lnTo>
                  <a:lnTo>
                    <a:pt x="76200" y="32004"/>
                  </a:lnTo>
                  <a:lnTo>
                    <a:pt x="76200" y="28956"/>
                  </a:lnTo>
                  <a:close/>
                </a:path>
                <a:path w="90170" h="56514">
                  <a:moveTo>
                    <a:pt x="13715" y="28956"/>
                  </a:moveTo>
                  <a:lnTo>
                    <a:pt x="13715" y="32004"/>
                  </a:lnTo>
                  <a:lnTo>
                    <a:pt x="14731" y="32004"/>
                  </a:lnTo>
                  <a:lnTo>
                    <a:pt x="13715" y="28956"/>
                  </a:lnTo>
                  <a:close/>
                </a:path>
                <a:path w="90170" h="56514">
                  <a:moveTo>
                    <a:pt x="87375" y="19812"/>
                  </a:moveTo>
                  <a:lnTo>
                    <a:pt x="71627" y="19812"/>
                  </a:lnTo>
                  <a:lnTo>
                    <a:pt x="76200" y="24383"/>
                  </a:lnTo>
                  <a:lnTo>
                    <a:pt x="76200" y="32004"/>
                  </a:lnTo>
                  <a:lnTo>
                    <a:pt x="88900" y="32004"/>
                  </a:lnTo>
                  <a:lnTo>
                    <a:pt x="89915" y="28956"/>
                  </a:lnTo>
                  <a:lnTo>
                    <a:pt x="89915" y="27431"/>
                  </a:lnTo>
                  <a:lnTo>
                    <a:pt x="88391" y="22860"/>
                  </a:lnTo>
                  <a:lnTo>
                    <a:pt x="88391" y="21336"/>
                  </a:lnTo>
                  <a:lnTo>
                    <a:pt x="87375" y="19812"/>
                  </a:lnTo>
                  <a:close/>
                </a:path>
                <a:path w="90170" h="56514">
                  <a:moveTo>
                    <a:pt x="15239" y="22860"/>
                  </a:moveTo>
                  <a:lnTo>
                    <a:pt x="13715" y="24383"/>
                  </a:lnTo>
                  <a:lnTo>
                    <a:pt x="13715" y="27431"/>
                  </a:lnTo>
                  <a:lnTo>
                    <a:pt x="15239" y="22860"/>
                  </a:lnTo>
                  <a:close/>
                </a:path>
                <a:path w="90170" h="56514">
                  <a:moveTo>
                    <a:pt x="74675" y="22860"/>
                  </a:moveTo>
                  <a:lnTo>
                    <a:pt x="76200" y="25907"/>
                  </a:lnTo>
                  <a:lnTo>
                    <a:pt x="76200" y="24383"/>
                  </a:lnTo>
                  <a:lnTo>
                    <a:pt x="74675" y="22860"/>
                  </a:lnTo>
                  <a:close/>
                </a:path>
                <a:path w="90170" h="56514">
                  <a:moveTo>
                    <a:pt x="19050" y="19812"/>
                  </a:moveTo>
                  <a:lnTo>
                    <a:pt x="18287" y="19812"/>
                  </a:lnTo>
                  <a:lnTo>
                    <a:pt x="16763" y="21336"/>
                  </a:lnTo>
                  <a:lnTo>
                    <a:pt x="19050" y="19812"/>
                  </a:lnTo>
                  <a:close/>
                </a:path>
                <a:path w="90170" h="56514">
                  <a:moveTo>
                    <a:pt x="82296" y="12192"/>
                  </a:moveTo>
                  <a:lnTo>
                    <a:pt x="51815" y="12192"/>
                  </a:lnTo>
                  <a:lnTo>
                    <a:pt x="59436" y="13715"/>
                  </a:lnTo>
                  <a:lnTo>
                    <a:pt x="64008" y="15239"/>
                  </a:lnTo>
                  <a:lnTo>
                    <a:pt x="73151" y="21336"/>
                  </a:lnTo>
                  <a:lnTo>
                    <a:pt x="71627" y="19812"/>
                  </a:lnTo>
                  <a:lnTo>
                    <a:pt x="87375" y="19812"/>
                  </a:lnTo>
                  <a:lnTo>
                    <a:pt x="85343" y="16763"/>
                  </a:lnTo>
                  <a:lnTo>
                    <a:pt x="85343" y="15239"/>
                  </a:lnTo>
                  <a:lnTo>
                    <a:pt x="82296" y="12192"/>
                  </a:lnTo>
                  <a:close/>
                </a:path>
                <a:path w="90170" h="56514">
                  <a:moveTo>
                    <a:pt x="53339" y="0"/>
                  </a:moveTo>
                  <a:lnTo>
                    <a:pt x="36575" y="0"/>
                  </a:lnTo>
                  <a:lnTo>
                    <a:pt x="27431" y="1524"/>
                  </a:lnTo>
                  <a:lnTo>
                    <a:pt x="21336" y="4571"/>
                  </a:lnTo>
                  <a:lnTo>
                    <a:pt x="15239" y="6095"/>
                  </a:lnTo>
                  <a:lnTo>
                    <a:pt x="15239" y="7619"/>
                  </a:lnTo>
                  <a:lnTo>
                    <a:pt x="74675" y="7619"/>
                  </a:lnTo>
                  <a:lnTo>
                    <a:pt x="74675" y="6095"/>
                  </a:lnTo>
                  <a:lnTo>
                    <a:pt x="68579" y="3048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94475" y="4785360"/>
              <a:ext cx="155447" cy="124358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94475" y="4785360"/>
              <a:ext cx="155447" cy="1243583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6089903" y="4780787"/>
              <a:ext cx="166370" cy="1252855"/>
            </a:xfrm>
            <a:custGeom>
              <a:avLst/>
              <a:gdLst/>
              <a:ahLst/>
              <a:cxnLst/>
              <a:rect l="l" t="t" r="r" b="b"/>
              <a:pathLst>
                <a:path w="166370" h="1252854">
                  <a:moveTo>
                    <a:pt x="9143" y="0"/>
                  </a:moveTo>
                  <a:lnTo>
                    <a:pt x="4572" y="0"/>
                  </a:lnTo>
                  <a:lnTo>
                    <a:pt x="0" y="4572"/>
                  </a:lnTo>
                  <a:lnTo>
                    <a:pt x="0" y="1203959"/>
                  </a:lnTo>
                  <a:lnTo>
                    <a:pt x="3048" y="1207007"/>
                  </a:lnTo>
                  <a:lnTo>
                    <a:pt x="4572" y="1207007"/>
                  </a:lnTo>
                  <a:lnTo>
                    <a:pt x="156972" y="1252727"/>
                  </a:lnTo>
                  <a:lnTo>
                    <a:pt x="161543" y="1252727"/>
                  </a:lnTo>
                  <a:lnTo>
                    <a:pt x="166115" y="1248155"/>
                  </a:lnTo>
                  <a:lnTo>
                    <a:pt x="166115" y="1246631"/>
                  </a:lnTo>
                  <a:lnTo>
                    <a:pt x="152400" y="1246631"/>
                  </a:lnTo>
                  <a:lnTo>
                    <a:pt x="152400" y="1237792"/>
                  </a:lnTo>
                  <a:lnTo>
                    <a:pt x="29463" y="1200911"/>
                  </a:lnTo>
                  <a:lnTo>
                    <a:pt x="13715" y="1200911"/>
                  </a:lnTo>
                  <a:lnTo>
                    <a:pt x="9143" y="1194815"/>
                  </a:lnTo>
                  <a:lnTo>
                    <a:pt x="13715" y="1194815"/>
                  </a:lnTo>
                  <a:lnTo>
                    <a:pt x="13715" y="14843"/>
                  </a:lnTo>
                  <a:lnTo>
                    <a:pt x="4572" y="12192"/>
                  </a:lnTo>
                  <a:lnTo>
                    <a:pt x="13715" y="6096"/>
                  </a:lnTo>
                  <a:lnTo>
                    <a:pt x="30164" y="6096"/>
                  </a:lnTo>
                  <a:lnTo>
                    <a:pt x="9143" y="0"/>
                  </a:lnTo>
                  <a:close/>
                </a:path>
                <a:path w="166370" h="1252854">
                  <a:moveTo>
                    <a:pt x="152400" y="1237792"/>
                  </a:moveTo>
                  <a:lnTo>
                    <a:pt x="152400" y="1246631"/>
                  </a:lnTo>
                  <a:lnTo>
                    <a:pt x="161543" y="1240535"/>
                  </a:lnTo>
                  <a:lnTo>
                    <a:pt x="152400" y="1237792"/>
                  </a:lnTo>
                  <a:close/>
                </a:path>
                <a:path w="166370" h="1252854">
                  <a:moveTo>
                    <a:pt x="152400" y="55062"/>
                  </a:moveTo>
                  <a:lnTo>
                    <a:pt x="152400" y="1237792"/>
                  </a:lnTo>
                  <a:lnTo>
                    <a:pt x="161543" y="1240535"/>
                  </a:lnTo>
                  <a:lnTo>
                    <a:pt x="152400" y="1246631"/>
                  </a:lnTo>
                  <a:lnTo>
                    <a:pt x="166115" y="1246631"/>
                  </a:lnTo>
                  <a:lnTo>
                    <a:pt x="166115" y="56387"/>
                  </a:lnTo>
                  <a:lnTo>
                    <a:pt x="156972" y="56387"/>
                  </a:lnTo>
                  <a:lnTo>
                    <a:pt x="152400" y="55062"/>
                  </a:lnTo>
                  <a:close/>
                </a:path>
                <a:path w="166370" h="1252854">
                  <a:moveTo>
                    <a:pt x="9143" y="1194815"/>
                  </a:moveTo>
                  <a:lnTo>
                    <a:pt x="13715" y="1200911"/>
                  </a:lnTo>
                  <a:lnTo>
                    <a:pt x="13715" y="1196187"/>
                  </a:lnTo>
                  <a:lnTo>
                    <a:pt x="9143" y="1194815"/>
                  </a:lnTo>
                  <a:close/>
                </a:path>
                <a:path w="166370" h="1252854">
                  <a:moveTo>
                    <a:pt x="13715" y="1196187"/>
                  </a:moveTo>
                  <a:lnTo>
                    <a:pt x="13715" y="1200911"/>
                  </a:lnTo>
                  <a:lnTo>
                    <a:pt x="29463" y="1200911"/>
                  </a:lnTo>
                  <a:lnTo>
                    <a:pt x="13715" y="1196187"/>
                  </a:lnTo>
                  <a:close/>
                </a:path>
                <a:path w="166370" h="1252854">
                  <a:moveTo>
                    <a:pt x="13715" y="1194815"/>
                  </a:moveTo>
                  <a:lnTo>
                    <a:pt x="9143" y="1194815"/>
                  </a:lnTo>
                  <a:lnTo>
                    <a:pt x="13715" y="1196187"/>
                  </a:lnTo>
                  <a:lnTo>
                    <a:pt x="13715" y="1194815"/>
                  </a:lnTo>
                  <a:close/>
                </a:path>
                <a:path w="166370" h="1252854">
                  <a:moveTo>
                    <a:pt x="152400" y="50291"/>
                  </a:moveTo>
                  <a:lnTo>
                    <a:pt x="152400" y="55062"/>
                  </a:lnTo>
                  <a:lnTo>
                    <a:pt x="156972" y="56387"/>
                  </a:lnTo>
                  <a:lnTo>
                    <a:pt x="152400" y="50291"/>
                  </a:lnTo>
                  <a:close/>
                </a:path>
                <a:path w="166370" h="1252854">
                  <a:moveTo>
                    <a:pt x="166115" y="50291"/>
                  </a:moveTo>
                  <a:lnTo>
                    <a:pt x="152400" y="50291"/>
                  </a:lnTo>
                  <a:lnTo>
                    <a:pt x="156972" y="56387"/>
                  </a:lnTo>
                  <a:lnTo>
                    <a:pt x="166115" y="56387"/>
                  </a:lnTo>
                  <a:lnTo>
                    <a:pt x="166115" y="50291"/>
                  </a:lnTo>
                  <a:close/>
                </a:path>
                <a:path w="166370" h="1252854">
                  <a:moveTo>
                    <a:pt x="30164" y="6096"/>
                  </a:moveTo>
                  <a:lnTo>
                    <a:pt x="13715" y="6096"/>
                  </a:lnTo>
                  <a:lnTo>
                    <a:pt x="13715" y="14843"/>
                  </a:lnTo>
                  <a:lnTo>
                    <a:pt x="152400" y="55062"/>
                  </a:lnTo>
                  <a:lnTo>
                    <a:pt x="152400" y="50291"/>
                  </a:lnTo>
                  <a:lnTo>
                    <a:pt x="166115" y="50291"/>
                  </a:lnTo>
                  <a:lnTo>
                    <a:pt x="166115" y="47244"/>
                  </a:lnTo>
                  <a:lnTo>
                    <a:pt x="163067" y="45720"/>
                  </a:lnTo>
                  <a:lnTo>
                    <a:pt x="161543" y="44196"/>
                  </a:lnTo>
                  <a:lnTo>
                    <a:pt x="30164" y="6096"/>
                  </a:lnTo>
                  <a:close/>
                </a:path>
                <a:path w="166370" h="1252854">
                  <a:moveTo>
                    <a:pt x="13715" y="6096"/>
                  </a:moveTo>
                  <a:lnTo>
                    <a:pt x="4572" y="12192"/>
                  </a:lnTo>
                  <a:lnTo>
                    <a:pt x="13715" y="14843"/>
                  </a:lnTo>
                  <a:lnTo>
                    <a:pt x="13715" y="609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94475" y="4475988"/>
              <a:ext cx="2060447" cy="356615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094475" y="4475988"/>
              <a:ext cx="2060447" cy="356615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6089903" y="4469891"/>
              <a:ext cx="2071370" cy="367665"/>
            </a:xfrm>
            <a:custGeom>
              <a:avLst/>
              <a:gdLst/>
              <a:ahLst/>
              <a:cxnLst/>
              <a:rect l="l" t="t" r="r" b="b"/>
              <a:pathLst>
                <a:path w="2071370" h="367664">
                  <a:moveTo>
                    <a:pt x="35546" y="318552"/>
                  </a:moveTo>
                  <a:lnTo>
                    <a:pt x="7619" y="323088"/>
                  </a:lnTo>
                  <a:lnTo>
                    <a:pt x="4572" y="323088"/>
                  </a:lnTo>
                  <a:lnTo>
                    <a:pt x="156972" y="367283"/>
                  </a:lnTo>
                  <a:lnTo>
                    <a:pt x="160019" y="367283"/>
                  </a:lnTo>
                  <a:lnTo>
                    <a:pt x="235093" y="355092"/>
                  </a:lnTo>
                  <a:lnTo>
                    <a:pt x="158496" y="355092"/>
                  </a:lnTo>
                  <a:lnTo>
                    <a:pt x="160449" y="354774"/>
                  </a:lnTo>
                  <a:lnTo>
                    <a:pt x="35546" y="318552"/>
                  </a:lnTo>
                  <a:close/>
                </a:path>
                <a:path w="2071370" h="367664">
                  <a:moveTo>
                    <a:pt x="160449" y="354774"/>
                  </a:moveTo>
                  <a:lnTo>
                    <a:pt x="158496" y="355092"/>
                  </a:lnTo>
                  <a:lnTo>
                    <a:pt x="161543" y="355092"/>
                  </a:lnTo>
                  <a:lnTo>
                    <a:pt x="160449" y="354774"/>
                  </a:lnTo>
                  <a:close/>
                </a:path>
                <a:path w="2071370" h="367664">
                  <a:moveTo>
                    <a:pt x="2035569" y="50255"/>
                  </a:moveTo>
                  <a:lnTo>
                    <a:pt x="160449" y="354774"/>
                  </a:lnTo>
                  <a:lnTo>
                    <a:pt x="161543" y="355092"/>
                  </a:lnTo>
                  <a:lnTo>
                    <a:pt x="235093" y="355092"/>
                  </a:lnTo>
                  <a:lnTo>
                    <a:pt x="2065019" y="57912"/>
                  </a:lnTo>
                  <a:lnTo>
                    <a:pt x="2061971" y="57912"/>
                  </a:lnTo>
                  <a:lnTo>
                    <a:pt x="2035569" y="50255"/>
                  </a:lnTo>
                  <a:close/>
                </a:path>
                <a:path w="2071370" h="367664">
                  <a:moveTo>
                    <a:pt x="9143" y="310895"/>
                  </a:moveTo>
                  <a:lnTo>
                    <a:pt x="3048" y="310895"/>
                  </a:lnTo>
                  <a:lnTo>
                    <a:pt x="0" y="313944"/>
                  </a:lnTo>
                  <a:lnTo>
                    <a:pt x="0" y="320039"/>
                  </a:lnTo>
                  <a:lnTo>
                    <a:pt x="1524" y="323088"/>
                  </a:lnTo>
                  <a:lnTo>
                    <a:pt x="7619" y="323088"/>
                  </a:lnTo>
                  <a:lnTo>
                    <a:pt x="9143" y="310895"/>
                  </a:lnTo>
                  <a:close/>
                </a:path>
                <a:path w="2071370" h="367664">
                  <a:moveTo>
                    <a:pt x="9143" y="310895"/>
                  </a:moveTo>
                  <a:lnTo>
                    <a:pt x="7619" y="323088"/>
                  </a:lnTo>
                  <a:lnTo>
                    <a:pt x="35546" y="318552"/>
                  </a:lnTo>
                  <a:lnTo>
                    <a:pt x="9143" y="310895"/>
                  </a:lnTo>
                  <a:close/>
                </a:path>
                <a:path w="2071370" h="367664">
                  <a:moveTo>
                    <a:pt x="1911095" y="0"/>
                  </a:moveTo>
                  <a:lnTo>
                    <a:pt x="1911095" y="1524"/>
                  </a:lnTo>
                  <a:lnTo>
                    <a:pt x="6096" y="310895"/>
                  </a:lnTo>
                  <a:lnTo>
                    <a:pt x="9143" y="310895"/>
                  </a:lnTo>
                  <a:lnTo>
                    <a:pt x="35546" y="318552"/>
                  </a:lnTo>
                  <a:lnTo>
                    <a:pt x="1910666" y="14033"/>
                  </a:lnTo>
                  <a:lnTo>
                    <a:pt x="1909571" y="13715"/>
                  </a:lnTo>
                  <a:lnTo>
                    <a:pt x="1956185" y="13715"/>
                  </a:lnTo>
                  <a:lnTo>
                    <a:pt x="1914143" y="1524"/>
                  </a:lnTo>
                  <a:lnTo>
                    <a:pt x="1912619" y="1524"/>
                  </a:lnTo>
                  <a:lnTo>
                    <a:pt x="1911095" y="0"/>
                  </a:lnTo>
                  <a:close/>
                </a:path>
                <a:path w="2071370" h="367664">
                  <a:moveTo>
                    <a:pt x="2063495" y="45720"/>
                  </a:moveTo>
                  <a:lnTo>
                    <a:pt x="2035569" y="50255"/>
                  </a:lnTo>
                  <a:lnTo>
                    <a:pt x="2061971" y="57912"/>
                  </a:lnTo>
                  <a:lnTo>
                    <a:pt x="2063495" y="45720"/>
                  </a:lnTo>
                  <a:close/>
                </a:path>
                <a:path w="2071370" h="367664">
                  <a:moveTo>
                    <a:pt x="2069591" y="45720"/>
                  </a:moveTo>
                  <a:lnTo>
                    <a:pt x="2063495" y="45720"/>
                  </a:lnTo>
                  <a:lnTo>
                    <a:pt x="2061971" y="57912"/>
                  </a:lnTo>
                  <a:lnTo>
                    <a:pt x="2068067" y="57912"/>
                  </a:lnTo>
                  <a:lnTo>
                    <a:pt x="2071115" y="54863"/>
                  </a:lnTo>
                  <a:lnTo>
                    <a:pt x="2071115" y="48767"/>
                  </a:lnTo>
                  <a:lnTo>
                    <a:pt x="2069591" y="45720"/>
                  </a:lnTo>
                  <a:close/>
                </a:path>
                <a:path w="2071370" h="367664">
                  <a:moveTo>
                    <a:pt x="1956185" y="13715"/>
                  </a:moveTo>
                  <a:lnTo>
                    <a:pt x="1912619" y="13715"/>
                  </a:lnTo>
                  <a:lnTo>
                    <a:pt x="1910666" y="14033"/>
                  </a:lnTo>
                  <a:lnTo>
                    <a:pt x="2035569" y="50255"/>
                  </a:lnTo>
                  <a:lnTo>
                    <a:pt x="2063495" y="45720"/>
                  </a:lnTo>
                  <a:lnTo>
                    <a:pt x="2066543" y="45720"/>
                  </a:lnTo>
                  <a:lnTo>
                    <a:pt x="1956185" y="13715"/>
                  </a:lnTo>
                  <a:close/>
                </a:path>
                <a:path w="2071370" h="367664">
                  <a:moveTo>
                    <a:pt x="1912619" y="13715"/>
                  </a:moveTo>
                  <a:lnTo>
                    <a:pt x="1909571" y="13715"/>
                  </a:lnTo>
                  <a:lnTo>
                    <a:pt x="1910666" y="14033"/>
                  </a:lnTo>
                  <a:lnTo>
                    <a:pt x="1912619" y="13715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246875" y="4829556"/>
              <a:ext cx="155447" cy="1243583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246875" y="4829556"/>
              <a:ext cx="155447" cy="1243583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242303" y="4823459"/>
              <a:ext cx="166370" cy="1256030"/>
            </a:xfrm>
            <a:custGeom>
              <a:avLst/>
              <a:gdLst/>
              <a:ahLst/>
              <a:cxnLst/>
              <a:rect l="l" t="t" r="r" b="b"/>
              <a:pathLst>
                <a:path w="166370" h="1256029">
                  <a:moveTo>
                    <a:pt x="0" y="0"/>
                  </a:moveTo>
                  <a:lnTo>
                    <a:pt x="0" y="1208531"/>
                  </a:lnTo>
                  <a:lnTo>
                    <a:pt x="166115" y="1255775"/>
                  </a:lnTo>
                  <a:lnTo>
                    <a:pt x="166115" y="1248155"/>
                  </a:lnTo>
                  <a:lnTo>
                    <a:pt x="152400" y="1248155"/>
                  </a:lnTo>
                  <a:lnTo>
                    <a:pt x="152400" y="1239408"/>
                  </a:lnTo>
                  <a:lnTo>
                    <a:pt x="30164" y="1203959"/>
                  </a:lnTo>
                  <a:lnTo>
                    <a:pt x="13715" y="1203959"/>
                  </a:lnTo>
                  <a:lnTo>
                    <a:pt x="9143" y="1197863"/>
                  </a:lnTo>
                  <a:lnTo>
                    <a:pt x="13715" y="1197863"/>
                  </a:lnTo>
                  <a:lnTo>
                    <a:pt x="13715" y="16367"/>
                  </a:lnTo>
                  <a:lnTo>
                    <a:pt x="4572" y="13715"/>
                  </a:lnTo>
                  <a:lnTo>
                    <a:pt x="13715" y="7619"/>
                  </a:lnTo>
                  <a:lnTo>
                    <a:pt x="26792" y="7619"/>
                  </a:lnTo>
                  <a:lnTo>
                    <a:pt x="0" y="0"/>
                  </a:lnTo>
                  <a:close/>
                </a:path>
                <a:path w="166370" h="1256029">
                  <a:moveTo>
                    <a:pt x="152400" y="1239408"/>
                  </a:moveTo>
                  <a:lnTo>
                    <a:pt x="152400" y="1248155"/>
                  </a:lnTo>
                  <a:lnTo>
                    <a:pt x="161543" y="1242059"/>
                  </a:lnTo>
                  <a:lnTo>
                    <a:pt x="152400" y="1239408"/>
                  </a:lnTo>
                  <a:close/>
                </a:path>
                <a:path w="166370" h="1256029">
                  <a:moveTo>
                    <a:pt x="152400" y="56586"/>
                  </a:moveTo>
                  <a:lnTo>
                    <a:pt x="152400" y="1239408"/>
                  </a:lnTo>
                  <a:lnTo>
                    <a:pt x="161543" y="1242059"/>
                  </a:lnTo>
                  <a:lnTo>
                    <a:pt x="152400" y="1248155"/>
                  </a:lnTo>
                  <a:lnTo>
                    <a:pt x="166115" y="1248155"/>
                  </a:lnTo>
                  <a:lnTo>
                    <a:pt x="166115" y="57911"/>
                  </a:lnTo>
                  <a:lnTo>
                    <a:pt x="156972" y="57911"/>
                  </a:lnTo>
                  <a:lnTo>
                    <a:pt x="152400" y="56586"/>
                  </a:lnTo>
                  <a:close/>
                </a:path>
                <a:path w="166370" h="1256029">
                  <a:moveTo>
                    <a:pt x="9143" y="1197863"/>
                  </a:moveTo>
                  <a:lnTo>
                    <a:pt x="13715" y="1203959"/>
                  </a:lnTo>
                  <a:lnTo>
                    <a:pt x="13715" y="1199189"/>
                  </a:lnTo>
                  <a:lnTo>
                    <a:pt x="9143" y="1197863"/>
                  </a:lnTo>
                  <a:close/>
                </a:path>
                <a:path w="166370" h="1256029">
                  <a:moveTo>
                    <a:pt x="13715" y="1199189"/>
                  </a:moveTo>
                  <a:lnTo>
                    <a:pt x="13715" y="1203959"/>
                  </a:lnTo>
                  <a:lnTo>
                    <a:pt x="30164" y="1203959"/>
                  </a:lnTo>
                  <a:lnTo>
                    <a:pt x="13715" y="1199189"/>
                  </a:lnTo>
                  <a:close/>
                </a:path>
                <a:path w="166370" h="1256029">
                  <a:moveTo>
                    <a:pt x="13715" y="1197863"/>
                  </a:moveTo>
                  <a:lnTo>
                    <a:pt x="9143" y="1197863"/>
                  </a:lnTo>
                  <a:lnTo>
                    <a:pt x="13715" y="1199189"/>
                  </a:lnTo>
                  <a:lnTo>
                    <a:pt x="13715" y="1197863"/>
                  </a:lnTo>
                  <a:close/>
                </a:path>
                <a:path w="166370" h="1256029">
                  <a:moveTo>
                    <a:pt x="152400" y="51815"/>
                  </a:moveTo>
                  <a:lnTo>
                    <a:pt x="152400" y="56586"/>
                  </a:lnTo>
                  <a:lnTo>
                    <a:pt x="156972" y="57911"/>
                  </a:lnTo>
                  <a:lnTo>
                    <a:pt x="152400" y="51815"/>
                  </a:lnTo>
                  <a:close/>
                </a:path>
                <a:path w="166370" h="1256029">
                  <a:moveTo>
                    <a:pt x="166115" y="51815"/>
                  </a:moveTo>
                  <a:lnTo>
                    <a:pt x="152400" y="51815"/>
                  </a:lnTo>
                  <a:lnTo>
                    <a:pt x="156972" y="57911"/>
                  </a:lnTo>
                  <a:lnTo>
                    <a:pt x="166115" y="57911"/>
                  </a:lnTo>
                  <a:lnTo>
                    <a:pt x="166115" y="51815"/>
                  </a:lnTo>
                  <a:close/>
                </a:path>
                <a:path w="166370" h="1256029">
                  <a:moveTo>
                    <a:pt x="26792" y="7619"/>
                  </a:moveTo>
                  <a:lnTo>
                    <a:pt x="13715" y="7619"/>
                  </a:lnTo>
                  <a:lnTo>
                    <a:pt x="13715" y="16367"/>
                  </a:lnTo>
                  <a:lnTo>
                    <a:pt x="152400" y="56586"/>
                  </a:lnTo>
                  <a:lnTo>
                    <a:pt x="152400" y="51815"/>
                  </a:lnTo>
                  <a:lnTo>
                    <a:pt x="166115" y="51815"/>
                  </a:lnTo>
                  <a:lnTo>
                    <a:pt x="166115" y="47243"/>
                  </a:lnTo>
                  <a:lnTo>
                    <a:pt x="26792" y="7619"/>
                  </a:lnTo>
                  <a:close/>
                </a:path>
                <a:path w="166370" h="1256029">
                  <a:moveTo>
                    <a:pt x="13715" y="7619"/>
                  </a:moveTo>
                  <a:lnTo>
                    <a:pt x="4572" y="13715"/>
                  </a:lnTo>
                  <a:lnTo>
                    <a:pt x="13715" y="16367"/>
                  </a:lnTo>
                  <a:lnTo>
                    <a:pt x="13715" y="7619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246875" y="4520184"/>
              <a:ext cx="2060447" cy="359663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46875" y="4520184"/>
              <a:ext cx="2060447" cy="359663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6220967" y="4515611"/>
              <a:ext cx="2113915" cy="368935"/>
            </a:xfrm>
            <a:custGeom>
              <a:avLst/>
              <a:gdLst/>
              <a:ahLst/>
              <a:cxnLst/>
              <a:rect l="l" t="t" r="r" b="b"/>
              <a:pathLst>
                <a:path w="2113915" h="368935">
                  <a:moveTo>
                    <a:pt x="1933955" y="0"/>
                  </a:moveTo>
                  <a:lnTo>
                    <a:pt x="0" y="315467"/>
                  </a:lnTo>
                  <a:lnTo>
                    <a:pt x="179832" y="368807"/>
                  </a:lnTo>
                  <a:lnTo>
                    <a:pt x="254574" y="356615"/>
                  </a:lnTo>
                  <a:lnTo>
                    <a:pt x="182879" y="356615"/>
                  </a:lnTo>
                  <a:lnTo>
                    <a:pt x="71119" y="323087"/>
                  </a:lnTo>
                  <a:lnTo>
                    <a:pt x="28955" y="323087"/>
                  </a:lnTo>
                  <a:lnTo>
                    <a:pt x="30479" y="310895"/>
                  </a:lnTo>
                  <a:lnTo>
                    <a:pt x="103661" y="310895"/>
                  </a:lnTo>
                  <a:lnTo>
                    <a:pt x="1932005" y="12510"/>
                  </a:lnTo>
                  <a:lnTo>
                    <a:pt x="1930907" y="12191"/>
                  </a:lnTo>
                  <a:lnTo>
                    <a:pt x="1975060" y="12191"/>
                  </a:lnTo>
                  <a:lnTo>
                    <a:pt x="1933955" y="0"/>
                  </a:lnTo>
                  <a:close/>
                </a:path>
                <a:path w="2113915" h="368935">
                  <a:moveTo>
                    <a:pt x="2056954" y="48745"/>
                  </a:moveTo>
                  <a:lnTo>
                    <a:pt x="179832" y="355091"/>
                  </a:lnTo>
                  <a:lnTo>
                    <a:pt x="182879" y="356615"/>
                  </a:lnTo>
                  <a:lnTo>
                    <a:pt x="254574" y="356615"/>
                  </a:lnTo>
                  <a:lnTo>
                    <a:pt x="2095102" y="56387"/>
                  </a:lnTo>
                  <a:lnTo>
                    <a:pt x="2083307" y="56387"/>
                  </a:lnTo>
                  <a:lnTo>
                    <a:pt x="2056954" y="48745"/>
                  </a:lnTo>
                  <a:close/>
                </a:path>
                <a:path w="2113915" h="368935">
                  <a:moveTo>
                    <a:pt x="30479" y="310895"/>
                  </a:moveTo>
                  <a:lnTo>
                    <a:pt x="28955" y="323087"/>
                  </a:lnTo>
                  <a:lnTo>
                    <a:pt x="56264" y="318631"/>
                  </a:lnTo>
                  <a:lnTo>
                    <a:pt x="30479" y="310895"/>
                  </a:lnTo>
                  <a:close/>
                </a:path>
                <a:path w="2113915" h="368935">
                  <a:moveTo>
                    <a:pt x="56264" y="318631"/>
                  </a:moveTo>
                  <a:lnTo>
                    <a:pt x="28955" y="323087"/>
                  </a:lnTo>
                  <a:lnTo>
                    <a:pt x="71119" y="323087"/>
                  </a:lnTo>
                  <a:lnTo>
                    <a:pt x="56264" y="318631"/>
                  </a:lnTo>
                  <a:close/>
                </a:path>
                <a:path w="2113915" h="368935">
                  <a:moveTo>
                    <a:pt x="103661" y="310895"/>
                  </a:moveTo>
                  <a:lnTo>
                    <a:pt x="30479" y="310895"/>
                  </a:lnTo>
                  <a:lnTo>
                    <a:pt x="56264" y="318631"/>
                  </a:lnTo>
                  <a:lnTo>
                    <a:pt x="103661" y="310895"/>
                  </a:lnTo>
                  <a:close/>
                </a:path>
                <a:path w="2113915" h="368935">
                  <a:moveTo>
                    <a:pt x="2083624" y="44393"/>
                  </a:moveTo>
                  <a:lnTo>
                    <a:pt x="2056954" y="48745"/>
                  </a:lnTo>
                  <a:lnTo>
                    <a:pt x="2083307" y="56387"/>
                  </a:lnTo>
                  <a:lnTo>
                    <a:pt x="2084765" y="44731"/>
                  </a:lnTo>
                  <a:lnTo>
                    <a:pt x="2083624" y="44393"/>
                  </a:lnTo>
                  <a:close/>
                </a:path>
                <a:path w="2113915" h="368935">
                  <a:moveTo>
                    <a:pt x="2084765" y="44731"/>
                  </a:moveTo>
                  <a:lnTo>
                    <a:pt x="2083307" y="56387"/>
                  </a:lnTo>
                  <a:lnTo>
                    <a:pt x="2095102" y="56387"/>
                  </a:lnTo>
                  <a:lnTo>
                    <a:pt x="2113787" y="53339"/>
                  </a:lnTo>
                  <a:lnTo>
                    <a:pt x="2084765" y="44731"/>
                  </a:lnTo>
                  <a:close/>
                </a:path>
                <a:path w="2113915" h="368935">
                  <a:moveTo>
                    <a:pt x="1975060" y="12191"/>
                  </a:moveTo>
                  <a:lnTo>
                    <a:pt x="1933955" y="12191"/>
                  </a:lnTo>
                  <a:lnTo>
                    <a:pt x="1932005" y="12510"/>
                  </a:lnTo>
                  <a:lnTo>
                    <a:pt x="2056954" y="48745"/>
                  </a:lnTo>
                  <a:lnTo>
                    <a:pt x="2083624" y="44393"/>
                  </a:lnTo>
                  <a:lnTo>
                    <a:pt x="1975060" y="12191"/>
                  </a:lnTo>
                  <a:close/>
                </a:path>
                <a:path w="2113915" h="368935">
                  <a:moveTo>
                    <a:pt x="2084831" y="44195"/>
                  </a:moveTo>
                  <a:lnTo>
                    <a:pt x="2083624" y="44393"/>
                  </a:lnTo>
                  <a:lnTo>
                    <a:pt x="2084765" y="44731"/>
                  </a:lnTo>
                  <a:lnTo>
                    <a:pt x="2084831" y="44195"/>
                  </a:lnTo>
                  <a:close/>
                </a:path>
                <a:path w="2113915" h="368935">
                  <a:moveTo>
                    <a:pt x="1933955" y="12191"/>
                  </a:moveTo>
                  <a:lnTo>
                    <a:pt x="1930907" y="12191"/>
                  </a:lnTo>
                  <a:lnTo>
                    <a:pt x="1932005" y="12510"/>
                  </a:lnTo>
                  <a:lnTo>
                    <a:pt x="1933955" y="12191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399275" y="4873752"/>
              <a:ext cx="155447" cy="1242059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99275" y="4873752"/>
              <a:ext cx="155447" cy="1242059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6394703" y="4869179"/>
              <a:ext cx="166370" cy="1251585"/>
            </a:xfrm>
            <a:custGeom>
              <a:avLst/>
              <a:gdLst/>
              <a:ahLst/>
              <a:cxnLst/>
              <a:rect l="l" t="t" r="r" b="b"/>
              <a:pathLst>
                <a:path w="166370" h="1251585">
                  <a:moveTo>
                    <a:pt x="9143" y="0"/>
                  </a:moveTo>
                  <a:lnTo>
                    <a:pt x="4572" y="0"/>
                  </a:lnTo>
                  <a:lnTo>
                    <a:pt x="0" y="4572"/>
                  </a:lnTo>
                  <a:lnTo>
                    <a:pt x="0" y="1203959"/>
                  </a:lnTo>
                  <a:lnTo>
                    <a:pt x="3048" y="1207007"/>
                  </a:lnTo>
                  <a:lnTo>
                    <a:pt x="4572" y="1207007"/>
                  </a:lnTo>
                  <a:lnTo>
                    <a:pt x="156971" y="1251203"/>
                  </a:lnTo>
                  <a:lnTo>
                    <a:pt x="161543" y="1251203"/>
                  </a:lnTo>
                  <a:lnTo>
                    <a:pt x="163067" y="1249679"/>
                  </a:lnTo>
                  <a:lnTo>
                    <a:pt x="164591" y="1249679"/>
                  </a:lnTo>
                  <a:lnTo>
                    <a:pt x="166115" y="1246631"/>
                  </a:lnTo>
                  <a:lnTo>
                    <a:pt x="166115" y="1245107"/>
                  </a:lnTo>
                  <a:lnTo>
                    <a:pt x="152399" y="1245107"/>
                  </a:lnTo>
                  <a:lnTo>
                    <a:pt x="152399" y="1236360"/>
                  </a:lnTo>
                  <a:lnTo>
                    <a:pt x="30164" y="1200911"/>
                  </a:lnTo>
                  <a:lnTo>
                    <a:pt x="13715" y="1200911"/>
                  </a:lnTo>
                  <a:lnTo>
                    <a:pt x="9143" y="1194815"/>
                  </a:lnTo>
                  <a:lnTo>
                    <a:pt x="13715" y="1194815"/>
                  </a:lnTo>
                  <a:lnTo>
                    <a:pt x="13715" y="14843"/>
                  </a:lnTo>
                  <a:lnTo>
                    <a:pt x="4572" y="12192"/>
                  </a:lnTo>
                  <a:lnTo>
                    <a:pt x="13715" y="6095"/>
                  </a:lnTo>
                  <a:lnTo>
                    <a:pt x="30164" y="6095"/>
                  </a:lnTo>
                  <a:lnTo>
                    <a:pt x="9143" y="0"/>
                  </a:lnTo>
                  <a:close/>
                </a:path>
                <a:path w="166370" h="1251585">
                  <a:moveTo>
                    <a:pt x="152399" y="1236360"/>
                  </a:moveTo>
                  <a:lnTo>
                    <a:pt x="152399" y="1245107"/>
                  </a:lnTo>
                  <a:lnTo>
                    <a:pt x="161543" y="1239011"/>
                  </a:lnTo>
                  <a:lnTo>
                    <a:pt x="152399" y="1236360"/>
                  </a:lnTo>
                  <a:close/>
                </a:path>
                <a:path w="166370" h="1251585">
                  <a:moveTo>
                    <a:pt x="152399" y="55062"/>
                  </a:moveTo>
                  <a:lnTo>
                    <a:pt x="152399" y="1236360"/>
                  </a:lnTo>
                  <a:lnTo>
                    <a:pt x="161543" y="1239011"/>
                  </a:lnTo>
                  <a:lnTo>
                    <a:pt x="152399" y="1245107"/>
                  </a:lnTo>
                  <a:lnTo>
                    <a:pt x="166115" y="1245107"/>
                  </a:lnTo>
                  <a:lnTo>
                    <a:pt x="166115" y="56387"/>
                  </a:lnTo>
                  <a:lnTo>
                    <a:pt x="156971" y="56387"/>
                  </a:lnTo>
                  <a:lnTo>
                    <a:pt x="152399" y="55062"/>
                  </a:lnTo>
                  <a:close/>
                </a:path>
                <a:path w="166370" h="1251585">
                  <a:moveTo>
                    <a:pt x="9143" y="1194815"/>
                  </a:moveTo>
                  <a:lnTo>
                    <a:pt x="13715" y="1200911"/>
                  </a:lnTo>
                  <a:lnTo>
                    <a:pt x="13715" y="1196141"/>
                  </a:lnTo>
                  <a:lnTo>
                    <a:pt x="9143" y="1194815"/>
                  </a:lnTo>
                  <a:close/>
                </a:path>
                <a:path w="166370" h="1251585">
                  <a:moveTo>
                    <a:pt x="13715" y="1196141"/>
                  </a:moveTo>
                  <a:lnTo>
                    <a:pt x="13715" y="1200911"/>
                  </a:lnTo>
                  <a:lnTo>
                    <a:pt x="30164" y="1200911"/>
                  </a:lnTo>
                  <a:lnTo>
                    <a:pt x="13715" y="1196141"/>
                  </a:lnTo>
                  <a:close/>
                </a:path>
                <a:path w="166370" h="1251585">
                  <a:moveTo>
                    <a:pt x="13715" y="1194815"/>
                  </a:moveTo>
                  <a:lnTo>
                    <a:pt x="9143" y="1194815"/>
                  </a:lnTo>
                  <a:lnTo>
                    <a:pt x="13715" y="1196141"/>
                  </a:lnTo>
                  <a:lnTo>
                    <a:pt x="13715" y="1194815"/>
                  </a:lnTo>
                  <a:close/>
                </a:path>
                <a:path w="166370" h="1251585">
                  <a:moveTo>
                    <a:pt x="152399" y="50292"/>
                  </a:moveTo>
                  <a:lnTo>
                    <a:pt x="152399" y="55062"/>
                  </a:lnTo>
                  <a:lnTo>
                    <a:pt x="156971" y="56387"/>
                  </a:lnTo>
                  <a:lnTo>
                    <a:pt x="152399" y="50292"/>
                  </a:lnTo>
                  <a:close/>
                </a:path>
                <a:path w="166370" h="1251585">
                  <a:moveTo>
                    <a:pt x="166115" y="50292"/>
                  </a:moveTo>
                  <a:lnTo>
                    <a:pt x="152399" y="50292"/>
                  </a:lnTo>
                  <a:lnTo>
                    <a:pt x="156971" y="56387"/>
                  </a:lnTo>
                  <a:lnTo>
                    <a:pt x="166115" y="56387"/>
                  </a:lnTo>
                  <a:lnTo>
                    <a:pt x="166115" y="50292"/>
                  </a:lnTo>
                  <a:close/>
                </a:path>
                <a:path w="166370" h="1251585">
                  <a:moveTo>
                    <a:pt x="30164" y="6095"/>
                  </a:moveTo>
                  <a:lnTo>
                    <a:pt x="13715" y="6095"/>
                  </a:lnTo>
                  <a:lnTo>
                    <a:pt x="13715" y="14843"/>
                  </a:lnTo>
                  <a:lnTo>
                    <a:pt x="152399" y="55062"/>
                  </a:lnTo>
                  <a:lnTo>
                    <a:pt x="152399" y="50292"/>
                  </a:lnTo>
                  <a:lnTo>
                    <a:pt x="166115" y="50292"/>
                  </a:lnTo>
                  <a:lnTo>
                    <a:pt x="166115" y="47243"/>
                  </a:lnTo>
                  <a:lnTo>
                    <a:pt x="163067" y="45719"/>
                  </a:lnTo>
                  <a:lnTo>
                    <a:pt x="161543" y="44195"/>
                  </a:lnTo>
                  <a:lnTo>
                    <a:pt x="30164" y="6095"/>
                  </a:lnTo>
                  <a:close/>
                </a:path>
                <a:path w="166370" h="1251585">
                  <a:moveTo>
                    <a:pt x="13715" y="6095"/>
                  </a:moveTo>
                  <a:lnTo>
                    <a:pt x="4572" y="12192"/>
                  </a:lnTo>
                  <a:lnTo>
                    <a:pt x="13715" y="14843"/>
                  </a:lnTo>
                  <a:lnTo>
                    <a:pt x="13715" y="6095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99275" y="4564380"/>
              <a:ext cx="2060447" cy="359663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399275" y="4564380"/>
              <a:ext cx="2060447" cy="359663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6394703" y="4559807"/>
              <a:ext cx="2071370" cy="368935"/>
            </a:xfrm>
            <a:custGeom>
              <a:avLst/>
              <a:gdLst/>
              <a:ahLst/>
              <a:cxnLst/>
              <a:rect l="l" t="t" r="r" b="b"/>
              <a:pathLst>
                <a:path w="2071370" h="368935">
                  <a:moveTo>
                    <a:pt x="38218" y="319618"/>
                  </a:moveTo>
                  <a:lnTo>
                    <a:pt x="8936" y="324397"/>
                  </a:lnTo>
                  <a:lnTo>
                    <a:pt x="156971" y="368807"/>
                  </a:lnTo>
                  <a:lnTo>
                    <a:pt x="160019" y="368807"/>
                  </a:lnTo>
                  <a:lnTo>
                    <a:pt x="234725" y="356615"/>
                  </a:lnTo>
                  <a:lnTo>
                    <a:pt x="161543" y="356615"/>
                  </a:lnTo>
                  <a:lnTo>
                    <a:pt x="38218" y="319618"/>
                  </a:lnTo>
                  <a:close/>
                </a:path>
                <a:path w="2071370" h="368935">
                  <a:moveTo>
                    <a:pt x="2032897" y="49189"/>
                  </a:moveTo>
                  <a:lnTo>
                    <a:pt x="158495" y="355091"/>
                  </a:lnTo>
                  <a:lnTo>
                    <a:pt x="161543" y="356615"/>
                  </a:lnTo>
                  <a:lnTo>
                    <a:pt x="234725" y="356615"/>
                  </a:lnTo>
                  <a:lnTo>
                    <a:pt x="2065019" y="57912"/>
                  </a:lnTo>
                  <a:lnTo>
                    <a:pt x="2061971" y="57912"/>
                  </a:lnTo>
                  <a:lnTo>
                    <a:pt x="2032897" y="49189"/>
                  </a:lnTo>
                  <a:close/>
                </a:path>
                <a:path w="2071370" h="368935">
                  <a:moveTo>
                    <a:pt x="7685" y="324022"/>
                  </a:moveTo>
                  <a:lnTo>
                    <a:pt x="7619" y="324611"/>
                  </a:lnTo>
                  <a:lnTo>
                    <a:pt x="8936" y="324397"/>
                  </a:lnTo>
                  <a:lnTo>
                    <a:pt x="7685" y="324022"/>
                  </a:lnTo>
                  <a:close/>
                </a:path>
                <a:path w="2071370" h="368935">
                  <a:moveTo>
                    <a:pt x="9143" y="310895"/>
                  </a:moveTo>
                  <a:lnTo>
                    <a:pt x="7685" y="324022"/>
                  </a:lnTo>
                  <a:lnTo>
                    <a:pt x="8936" y="324397"/>
                  </a:lnTo>
                  <a:lnTo>
                    <a:pt x="38218" y="319618"/>
                  </a:lnTo>
                  <a:lnTo>
                    <a:pt x="9143" y="310895"/>
                  </a:lnTo>
                  <a:close/>
                </a:path>
                <a:path w="2071370" h="368935">
                  <a:moveTo>
                    <a:pt x="1914143" y="0"/>
                  </a:moveTo>
                  <a:lnTo>
                    <a:pt x="1911095" y="0"/>
                  </a:lnTo>
                  <a:lnTo>
                    <a:pt x="6096" y="310895"/>
                  </a:lnTo>
                  <a:lnTo>
                    <a:pt x="0" y="313943"/>
                  </a:lnTo>
                  <a:lnTo>
                    <a:pt x="0" y="320039"/>
                  </a:lnTo>
                  <a:lnTo>
                    <a:pt x="1524" y="323087"/>
                  </a:lnTo>
                  <a:lnTo>
                    <a:pt x="4572" y="323087"/>
                  </a:lnTo>
                  <a:lnTo>
                    <a:pt x="7685" y="324022"/>
                  </a:lnTo>
                  <a:lnTo>
                    <a:pt x="9143" y="310895"/>
                  </a:lnTo>
                  <a:lnTo>
                    <a:pt x="91664" y="310895"/>
                  </a:lnTo>
                  <a:lnTo>
                    <a:pt x="1912619" y="13716"/>
                  </a:lnTo>
                  <a:lnTo>
                    <a:pt x="1909571" y="12192"/>
                  </a:lnTo>
                  <a:lnTo>
                    <a:pt x="1954783" y="12192"/>
                  </a:lnTo>
                  <a:lnTo>
                    <a:pt x="1914143" y="0"/>
                  </a:lnTo>
                  <a:close/>
                </a:path>
                <a:path w="2071370" h="368935">
                  <a:moveTo>
                    <a:pt x="91664" y="310895"/>
                  </a:moveTo>
                  <a:lnTo>
                    <a:pt x="9143" y="310895"/>
                  </a:lnTo>
                  <a:lnTo>
                    <a:pt x="38218" y="319618"/>
                  </a:lnTo>
                  <a:lnTo>
                    <a:pt x="91664" y="310895"/>
                  </a:lnTo>
                  <a:close/>
                </a:path>
                <a:path w="2071370" h="368935">
                  <a:moveTo>
                    <a:pt x="2062179" y="44410"/>
                  </a:moveTo>
                  <a:lnTo>
                    <a:pt x="2032897" y="49189"/>
                  </a:lnTo>
                  <a:lnTo>
                    <a:pt x="2061971" y="57912"/>
                  </a:lnTo>
                  <a:lnTo>
                    <a:pt x="2063430" y="44785"/>
                  </a:lnTo>
                  <a:lnTo>
                    <a:pt x="2062179" y="44410"/>
                  </a:lnTo>
                  <a:close/>
                </a:path>
                <a:path w="2071370" h="368935">
                  <a:moveTo>
                    <a:pt x="2063430" y="44785"/>
                  </a:moveTo>
                  <a:lnTo>
                    <a:pt x="2061971" y="57912"/>
                  </a:lnTo>
                  <a:lnTo>
                    <a:pt x="2065019" y="57912"/>
                  </a:lnTo>
                  <a:lnTo>
                    <a:pt x="2071115" y="54864"/>
                  </a:lnTo>
                  <a:lnTo>
                    <a:pt x="2071115" y="48768"/>
                  </a:lnTo>
                  <a:lnTo>
                    <a:pt x="2069591" y="45720"/>
                  </a:lnTo>
                  <a:lnTo>
                    <a:pt x="2066543" y="45720"/>
                  </a:lnTo>
                  <a:lnTo>
                    <a:pt x="2063430" y="44785"/>
                  </a:lnTo>
                  <a:close/>
                </a:path>
                <a:path w="2071370" h="368935">
                  <a:moveTo>
                    <a:pt x="1954783" y="12192"/>
                  </a:moveTo>
                  <a:lnTo>
                    <a:pt x="1909571" y="12192"/>
                  </a:lnTo>
                  <a:lnTo>
                    <a:pt x="2032897" y="49189"/>
                  </a:lnTo>
                  <a:lnTo>
                    <a:pt x="2062179" y="44410"/>
                  </a:lnTo>
                  <a:lnTo>
                    <a:pt x="1954783" y="12192"/>
                  </a:lnTo>
                  <a:close/>
                </a:path>
                <a:path w="2071370" h="368935">
                  <a:moveTo>
                    <a:pt x="2063495" y="44196"/>
                  </a:moveTo>
                  <a:lnTo>
                    <a:pt x="2062179" y="44410"/>
                  </a:lnTo>
                  <a:lnTo>
                    <a:pt x="2063430" y="44785"/>
                  </a:lnTo>
                  <a:lnTo>
                    <a:pt x="2063495" y="4419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551676" y="4917948"/>
              <a:ext cx="155447" cy="1243583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551676" y="4917948"/>
              <a:ext cx="155447" cy="1243583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6547103" y="4911851"/>
              <a:ext cx="166370" cy="1256030"/>
            </a:xfrm>
            <a:custGeom>
              <a:avLst/>
              <a:gdLst/>
              <a:ahLst/>
              <a:cxnLst/>
              <a:rect l="l" t="t" r="r" b="b"/>
              <a:pathLst>
                <a:path w="166370" h="1256029">
                  <a:moveTo>
                    <a:pt x="6096" y="0"/>
                  </a:moveTo>
                  <a:lnTo>
                    <a:pt x="4572" y="1523"/>
                  </a:lnTo>
                  <a:lnTo>
                    <a:pt x="3048" y="1523"/>
                  </a:lnTo>
                  <a:lnTo>
                    <a:pt x="0" y="4571"/>
                  </a:lnTo>
                  <a:lnTo>
                    <a:pt x="0" y="1207007"/>
                  </a:lnTo>
                  <a:lnTo>
                    <a:pt x="3048" y="1210055"/>
                  </a:lnTo>
                  <a:lnTo>
                    <a:pt x="4572" y="1210055"/>
                  </a:lnTo>
                  <a:lnTo>
                    <a:pt x="156972" y="1254251"/>
                  </a:lnTo>
                  <a:lnTo>
                    <a:pt x="160020" y="1255775"/>
                  </a:lnTo>
                  <a:lnTo>
                    <a:pt x="161544" y="1254251"/>
                  </a:lnTo>
                  <a:lnTo>
                    <a:pt x="163068" y="1254251"/>
                  </a:lnTo>
                  <a:lnTo>
                    <a:pt x="166116" y="1251203"/>
                  </a:lnTo>
                  <a:lnTo>
                    <a:pt x="166116" y="1248155"/>
                  </a:lnTo>
                  <a:lnTo>
                    <a:pt x="152400" y="1248155"/>
                  </a:lnTo>
                  <a:lnTo>
                    <a:pt x="152400" y="1239408"/>
                  </a:lnTo>
                  <a:lnTo>
                    <a:pt x="30164" y="1203959"/>
                  </a:lnTo>
                  <a:lnTo>
                    <a:pt x="13716" y="1203959"/>
                  </a:lnTo>
                  <a:lnTo>
                    <a:pt x="9144" y="1197863"/>
                  </a:lnTo>
                  <a:lnTo>
                    <a:pt x="13716" y="1197863"/>
                  </a:lnTo>
                  <a:lnTo>
                    <a:pt x="13716" y="16367"/>
                  </a:lnTo>
                  <a:lnTo>
                    <a:pt x="4572" y="13715"/>
                  </a:lnTo>
                  <a:lnTo>
                    <a:pt x="13716" y="7619"/>
                  </a:lnTo>
                  <a:lnTo>
                    <a:pt x="30164" y="7619"/>
                  </a:lnTo>
                  <a:lnTo>
                    <a:pt x="9144" y="1523"/>
                  </a:lnTo>
                  <a:lnTo>
                    <a:pt x="6096" y="0"/>
                  </a:lnTo>
                  <a:close/>
                </a:path>
                <a:path w="166370" h="1256029">
                  <a:moveTo>
                    <a:pt x="152400" y="1239408"/>
                  </a:moveTo>
                  <a:lnTo>
                    <a:pt x="152400" y="1248155"/>
                  </a:lnTo>
                  <a:lnTo>
                    <a:pt x="161544" y="1242059"/>
                  </a:lnTo>
                  <a:lnTo>
                    <a:pt x="152400" y="1239408"/>
                  </a:lnTo>
                  <a:close/>
                </a:path>
                <a:path w="166370" h="1256029">
                  <a:moveTo>
                    <a:pt x="152400" y="56586"/>
                  </a:moveTo>
                  <a:lnTo>
                    <a:pt x="152400" y="1239408"/>
                  </a:lnTo>
                  <a:lnTo>
                    <a:pt x="161544" y="1242059"/>
                  </a:lnTo>
                  <a:lnTo>
                    <a:pt x="152400" y="1248155"/>
                  </a:lnTo>
                  <a:lnTo>
                    <a:pt x="166116" y="1248155"/>
                  </a:lnTo>
                  <a:lnTo>
                    <a:pt x="166116" y="57911"/>
                  </a:lnTo>
                  <a:lnTo>
                    <a:pt x="156972" y="57911"/>
                  </a:lnTo>
                  <a:lnTo>
                    <a:pt x="152400" y="56586"/>
                  </a:lnTo>
                  <a:close/>
                </a:path>
                <a:path w="166370" h="1256029">
                  <a:moveTo>
                    <a:pt x="9144" y="1197863"/>
                  </a:moveTo>
                  <a:lnTo>
                    <a:pt x="13716" y="1203959"/>
                  </a:lnTo>
                  <a:lnTo>
                    <a:pt x="13716" y="1199189"/>
                  </a:lnTo>
                  <a:lnTo>
                    <a:pt x="9144" y="1197863"/>
                  </a:lnTo>
                  <a:close/>
                </a:path>
                <a:path w="166370" h="1256029">
                  <a:moveTo>
                    <a:pt x="13716" y="1199189"/>
                  </a:moveTo>
                  <a:lnTo>
                    <a:pt x="13716" y="1203959"/>
                  </a:lnTo>
                  <a:lnTo>
                    <a:pt x="30164" y="1203959"/>
                  </a:lnTo>
                  <a:lnTo>
                    <a:pt x="13716" y="1199189"/>
                  </a:lnTo>
                  <a:close/>
                </a:path>
                <a:path w="166370" h="1256029">
                  <a:moveTo>
                    <a:pt x="13716" y="1197863"/>
                  </a:moveTo>
                  <a:lnTo>
                    <a:pt x="9144" y="1197863"/>
                  </a:lnTo>
                  <a:lnTo>
                    <a:pt x="13716" y="1199189"/>
                  </a:lnTo>
                  <a:lnTo>
                    <a:pt x="13716" y="1197863"/>
                  </a:lnTo>
                  <a:close/>
                </a:path>
                <a:path w="166370" h="1256029">
                  <a:moveTo>
                    <a:pt x="152400" y="51815"/>
                  </a:moveTo>
                  <a:lnTo>
                    <a:pt x="152400" y="56586"/>
                  </a:lnTo>
                  <a:lnTo>
                    <a:pt x="156972" y="57911"/>
                  </a:lnTo>
                  <a:lnTo>
                    <a:pt x="152400" y="51815"/>
                  </a:lnTo>
                  <a:close/>
                </a:path>
                <a:path w="166370" h="1256029">
                  <a:moveTo>
                    <a:pt x="166116" y="51815"/>
                  </a:moveTo>
                  <a:lnTo>
                    <a:pt x="152400" y="51815"/>
                  </a:lnTo>
                  <a:lnTo>
                    <a:pt x="156972" y="57911"/>
                  </a:lnTo>
                  <a:lnTo>
                    <a:pt x="166116" y="57911"/>
                  </a:lnTo>
                  <a:lnTo>
                    <a:pt x="166116" y="51815"/>
                  </a:lnTo>
                  <a:close/>
                </a:path>
                <a:path w="166370" h="1256029">
                  <a:moveTo>
                    <a:pt x="30164" y="7619"/>
                  </a:moveTo>
                  <a:lnTo>
                    <a:pt x="13716" y="7619"/>
                  </a:lnTo>
                  <a:lnTo>
                    <a:pt x="13716" y="16367"/>
                  </a:lnTo>
                  <a:lnTo>
                    <a:pt x="152400" y="56586"/>
                  </a:lnTo>
                  <a:lnTo>
                    <a:pt x="152400" y="51815"/>
                  </a:lnTo>
                  <a:lnTo>
                    <a:pt x="166116" y="51815"/>
                  </a:lnTo>
                  <a:lnTo>
                    <a:pt x="166116" y="48767"/>
                  </a:lnTo>
                  <a:lnTo>
                    <a:pt x="163068" y="45719"/>
                  </a:lnTo>
                  <a:lnTo>
                    <a:pt x="161544" y="45719"/>
                  </a:lnTo>
                  <a:lnTo>
                    <a:pt x="30164" y="7619"/>
                  </a:lnTo>
                  <a:close/>
                </a:path>
                <a:path w="166370" h="1256029">
                  <a:moveTo>
                    <a:pt x="13716" y="7619"/>
                  </a:moveTo>
                  <a:lnTo>
                    <a:pt x="4572" y="13715"/>
                  </a:lnTo>
                  <a:lnTo>
                    <a:pt x="13716" y="16367"/>
                  </a:lnTo>
                  <a:lnTo>
                    <a:pt x="13716" y="7619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551676" y="4607052"/>
              <a:ext cx="2060447" cy="358139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551676" y="4607052"/>
              <a:ext cx="2060447" cy="358139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6547103" y="4600955"/>
              <a:ext cx="2071370" cy="368935"/>
            </a:xfrm>
            <a:custGeom>
              <a:avLst/>
              <a:gdLst/>
              <a:ahLst/>
              <a:cxnLst/>
              <a:rect l="l" t="t" r="r" b="b"/>
              <a:pathLst>
                <a:path w="2071370" h="368935">
                  <a:moveTo>
                    <a:pt x="9144" y="312419"/>
                  </a:moveTo>
                  <a:lnTo>
                    <a:pt x="3048" y="312419"/>
                  </a:lnTo>
                  <a:lnTo>
                    <a:pt x="0" y="313943"/>
                  </a:lnTo>
                  <a:lnTo>
                    <a:pt x="11" y="320062"/>
                  </a:lnTo>
                  <a:lnTo>
                    <a:pt x="1524" y="323087"/>
                  </a:lnTo>
                  <a:lnTo>
                    <a:pt x="4572" y="324611"/>
                  </a:lnTo>
                  <a:lnTo>
                    <a:pt x="156972" y="368807"/>
                  </a:lnTo>
                  <a:lnTo>
                    <a:pt x="160020" y="368807"/>
                  </a:lnTo>
                  <a:lnTo>
                    <a:pt x="234725" y="356615"/>
                  </a:lnTo>
                  <a:lnTo>
                    <a:pt x="158496" y="356615"/>
                  </a:lnTo>
                  <a:lnTo>
                    <a:pt x="160446" y="356297"/>
                  </a:lnTo>
                  <a:lnTo>
                    <a:pt x="51185" y="324611"/>
                  </a:lnTo>
                  <a:lnTo>
                    <a:pt x="7620" y="324611"/>
                  </a:lnTo>
                  <a:lnTo>
                    <a:pt x="9144" y="312419"/>
                  </a:lnTo>
                  <a:close/>
                </a:path>
                <a:path w="2071370" h="368935">
                  <a:moveTo>
                    <a:pt x="160446" y="356297"/>
                  </a:moveTo>
                  <a:lnTo>
                    <a:pt x="158496" y="356615"/>
                  </a:lnTo>
                  <a:lnTo>
                    <a:pt x="161544" y="356615"/>
                  </a:lnTo>
                  <a:lnTo>
                    <a:pt x="160446" y="356297"/>
                  </a:lnTo>
                  <a:close/>
                </a:path>
                <a:path w="2071370" h="368935">
                  <a:moveTo>
                    <a:pt x="2035618" y="50269"/>
                  </a:moveTo>
                  <a:lnTo>
                    <a:pt x="160446" y="356297"/>
                  </a:lnTo>
                  <a:lnTo>
                    <a:pt x="161544" y="356615"/>
                  </a:lnTo>
                  <a:lnTo>
                    <a:pt x="234725" y="356615"/>
                  </a:lnTo>
                  <a:lnTo>
                    <a:pt x="2065019" y="57912"/>
                  </a:lnTo>
                  <a:lnTo>
                    <a:pt x="2061971" y="57912"/>
                  </a:lnTo>
                  <a:lnTo>
                    <a:pt x="2035618" y="50269"/>
                  </a:lnTo>
                  <a:close/>
                </a:path>
                <a:path w="2071370" h="368935">
                  <a:moveTo>
                    <a:pt x="9144" y="312419"/>
                  </a:moveTo>
                  <a:lnTo>
                    <a:pt x="7620" y="324611"/>
                  </a:lnTo>
                  <a:lnTo>
                    <a:pt x="35497" y="320062"/>
                  </a:lnTo>
                  <a:lnTo>
                    <a:pt x="9144" y="312419"/>
                  </a:lnTo>
                  <a:close/>
                </a:path>
                <a:path w="2071370" h="368935">
                  <a:moveTo>
                    <a:pt x="35497" y="320062"/>
                  </a:moveTo>
                  <a:lnTo>
                    <a:pt x="7620" y="324611"/>
                  </a:lnTo>
                  <a:lnTo>
                    <a:pt x="51185" y="324611"/>
                  </a:lnTo>
                  <a:lnTo>
                    <a:pt x="35497" y="320062"/>
                  </a:lnTo>
                  <a:close/>
                </a:path>
                <a:path w="2071370" h="368935">
                  <a:moveTo>
                    <a:pt x="1911095" y="0"/>
                  </a:moveTo>
                  <a:lnTo>
                    <a:pt x="1911095" y="1524"/>
                  </a:lnTo>
                  <a:lnTo>
                    <a:pt x="6096" y="312419"/>
                  </a:lnTo>
                  <a:lnTo>
                    <a:pt x="9144" y="312419"/>
                  </a:lnTo>
                  <a:lnTo>
                    <a:pt x="35497" y="320062"/>
                  </a:lnTo>
                  <a:lnTo>
                    <a:pt x="1910669" y="14034"/>
                  </a:lnTo>
                  <a:lnTo>
                    <a:pt x="1909571" y="13716"/>
                  </a:lnTo>
                  <a:lnTo>
                    <a:pt x="1956185" y="13716"/>
                  </a:lnTo>
                  <a:lnTo>
                    <a:pt x="1914143" y="1524"/>
                  </a:lnTo>
                  <a:lnTo>
                    <a:pt x="1912619" y="1524"/>
                  </a:lnTo>
                  <a:lnTo>
                    <a:pt x="1911095" y="0"/>
                  </a:lnTo>
                  <a:close/>
                </a:path>
                <a:path w="2071370" h="368935">
                  <a:moveTo>
                    <a:pt x="2063495" y="45719"/>
                  </a:moveTo>
                  <a:lnTo>
                    <a:pt x="2035618" y="50269"/>
                  </a:lnTo>
                  <a:lnTo>
                    <a:pt x="2061971" y="57912"/>
                  </a:lnTo>
                  <a:lnTo>
                    <a:pt x="2063495" y="45719"/>
                  </a:lnTo>
                  <a:close/>
                </a:path>
                <a:path w="2071370" h="368935">
                  <a:moveTo>
                    <a:pt x="2069591" y="45719"/>
                  </a:moveTo>
                  <a:lnTo>
                    <a:pt x="2063495" y="45719"/>
                  </a:lnTo>
                  <a:lnTo>
                    <a:pt x="2061971" y="57912"/>
                  </a:lnTo>
                  <a:lnTo>
                    <a:pt x="2068067" y="57912"/>
                  </a:lnTo>
                  <a:lnTo>
                    <a:pt x="2071115" y="54863"/>
                  </a:lnTo>
                  <a:lnTo>
                    <a:pt x="2071115" y="48768"/>
                  </a:lnTo>
                  <a:lnTo>
                    <a:pt x="2069591" y="45719"/>
                  </a:lnTo>
                  <a:close/>
                </a:path>
                <a:path w="2071370" h="368935">
                  <a:moveTo>
                    <a:pt x="1956185" y="13716"/>
                  </a:moveTo>
                  <a:lnTo>
                    <a:pt x="1912619" y="13716"/>
                  </a:lnTo>
                  <a:lnTo>
                    <a:pt x="1910669" y="14034"/>
                  </a:lnTo>
                  <a:lnTo>
                    <a:pt x="2035618" y="50269"/>
                  </a:lnTo>
                  <a:lnTo>
                    <a:pt x="2063495" y="45719"/>
                  </a:lnTo>
                  <a:lnTo>
                    <a:pt x="2066543" y="45719"/>
                  </a:lnTo>
                  <a:lnTo>
                    <a:pt x="1956185" y="13716"/>
                  </a:lnTo>
                  <a:close/>
                </a:path>
                <a:path w="2071370" h="368935">
                  <a:moveTo>
                    <a:pt x="1912619" y="13716"/>
                  </a:moveTo>
                  <a:lnTo>
                    <a:pt x="1909571" y="13716"/>
                  </a:lnTo>
                  <a:lnTo>
                    <a:pt x="1910669" y="14034"/>
                  </a:lnTo>
                  <a:lnTo>
                    <a:pt x="1912619" y="13716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704076" y="4962144"/>
              <a:ext cx="155447" cy="1243583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704076" y="4962144"/>
              <a:ext cx="155447" cy="1243583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6699503" y="4954523"/>
              <a:ext cx="166370" cy="1259205"/>
            </a:xfrm>
            <a:custGeom>
              <a:avLst/>
              <a:gdLst/>
              <a:ahLst/>
              <a:cxnLst/>
              <a:rect l="l" t="t" r="r" b="b"/>
              <a:pathLst>
                <a:path w="166370" h="1259204">
                  <a:moveTo>
                    <a:pt x="0" y="0"/>
                  </a:moveTo>
                  <a:lnTo>
                    <a:pt x="0" y="1210055"/>
                  </a:lnTo>
                  <a:lnTo>
                    <a:pt x="166116" y="1258823"/>
                  </a:lnTo>
                  <a:lnTo>
                    <a:pt x="166116" y="1249679"/>
                  </a:lnTo>
                  <a:lnTo>
                    <a:pt x="152400" y="1249679"/>
                  </a:lnTo>
                  <a:lnTo>
                    <a:pt x="152400" y="1240932"/>
                  </a:lnTo>
                  <a:lnTo>
                    <a:pt x="30164" y="1205483"/>
                  </a:lnTo>
                  <a:lnTo>
                    <a:pt x="13716" y="1205483"/>
                  </a:lnTo>
                  <a:lnTo>
                    <a:pt x="9144" y="1199387"/>
                  </a:lnTo>
                  <a:lnTo>
                    <a:pt x="13716" y="1199387"/>
                  </a:lnTo>
                  <a:lnTo>
                    <a:pt x="13716" y="17891"/>
                  </a:lnTo>
                  <a:lnTo>
                    <a:pt x="4572" y="15239"/>
                  </a:lnTo>
                  <a:lnTo>
                    <a:pt x="13716" y="9143"/>
                  </a:lnTo>
                  <a:lnTo>
                    <a:pt x="31146" y="9143"/>
                  </a:lnTo>
                  <a:lnTo>
                    <a:pt x="0" y="0"/>
                  </a:lnTo>
                  <a:close/>
                </a:path>
                <a:path w="166370" h="1259204">
                  <a:moveTo>
                    <a:pt x="152400" y="1240932"/>
                  </a:moveTo>
                  <a:lnTo>
                    <a:pt x="152400" y="1249679"/>
                  </a:lnTo>
                  <a:lnTo>
                    <a:pt x="161544" y="1243583"/>
                  </a:lnTo>
                  <a:lnTo>
                    <a:pt x="152400" y="1240932"/>
                  </a:lnTo>
                  <a:close/>
                </a:path>
                <a:path w="166370" h="1259204">
                  <a:moveTo>
                    <a:pt x="152400" y="58110"/>
                  </a:moveTo>
                  <a:lnTo>
                    <a:pt x="152400" y="1240932"/>
                  </a:lnTo>
                  <a:lnTo>
                    <a:pt x="161544" y="1243583"/>
                  </a:lnTo>
                  <a:lnTo>
                    <a:pt x="152400" y="1249679"/>
                  </a:lnTo>
                  <a:lnTo>
                    <a:pt x="166116" y="1249679"/>
                  </a:lnTo>
                  <a:lnTo>
                    <a:pt x="166116" y="59435"/>
                  </a:lnTo>
                  <a:lnTo>
                    <a:pt x="156972" y="59435"/>
                  </a:lnTo>
                  <a:lnTo>
                    <a:pt x="152400" y="58110"/>
                  </a:lnTo>
                  <a:close/>
                </a:path>
                <a:path w="166370" h="1259204">
                  <a:moveTo>
                    <a:pt x="9144" y="1199387"/>
                  </a:moveTo>
                  <a:lnTo>
                    <a:pt x="13716" y="1205483"/>
                  </a:lnTo>
                  <a:lnTo>
                    <a:pt x="13716" y="1200713"/>
                  </a:lnTo>
                  <a:lnTo>
                    <a:pt x="9144" y="1199387"/>
                  </a:lnTo>
                  <a:close/>
                </a:path>
                <a:path w="166370" h="1259204">
                  <a:moveTo>
                    <a:pt x="13716" y="1200713"/>
                  </a:moveTo>
                  <a:lnTo>
                    <a:pt x="13716" y="1205483"/>
                  </a:lnTo>
                  <a:lnTo>
                    <a:pt x="30164" y="1205483"/>
                  </a:lnTo>
                  <a:lnTo>
                    <a:pt x="13716" y="1200713"/>
                  </a:lnTo>
                  <a:close/>
                </a:path>
                <a:path w="166370" h="1259204">
                  <a:moveTo>
                    <a:pt x="13716" y="1199387"/>
                  </a:moveTo>
                  <a:lnTo>
                    <a:pt x="9144" y="1199387"/>
                  </a:lnTo>
                  <a:lnTo>
                    <a:pt x="13716" y="1200713"/>
                  </a:lnTo>
                  <a:lnTo>
                    <a:pt x="13716" y="1199387"/>
                  </a:lnTo>
                  <a:close/>
                </a:path>
                <a:path w="166370" h="1259204">
                  <a:moveTo>
                    <a:pt x="152400" y="53339"/>
                  </a:moveTo>
                  <a:lnTo>
                    <a:pt x="152400" y="58110"/>
                  </a:lnTo>
                  <a:lnTo>
                    <a:pt x="156972" y="59435"/>
                  </a:lnTo>
                  <a:lnTo>
                    <a:pt x="152400" y="53339"/>
                  </a:lnTo>
                  <a:close/>
                </a:path>
                <a:path w="166370" h="1259204">
                  <a:moveTo>
                    <a:pt x="166116" y="53339"/>
                  </a:moveTo>
                  <a:lnTo>
                    <a:pt x="152400" y="53339"/>
                  </a:lnTo>
                  <a:lnTo>
                    <a:pt x="156972" y="59435"/>
                  </a:lnTo>
                  <a:lnTo>
                    <a:pt x="166116" y="59435"/>
                  </a:lnTo>
                  <a:lnTo>
                    <a:pt x="166116" y="53339"/>
                  </a:lnTo>
                  <a:close/>
                </a:path>
                <a:path w="166370" h="1259204">
                  <a:moveTo>
                    <a:pt x="31146" y="9143"/>
                  </a:moveTo>
                  <a:lnTo>
                    <a:pt x="13716" y="9143"/>
                  </a:lnTo>
                  <a:lnTo>
                    <a:pt x="13716" y="17891"/>
                  </a:lnTo>
                  <a:lnTo>
                    <a:pt x="152400" y="58110"/>
                  </a:lnTo>
                  <a:lnTo>
                    <a:pt x="152400" y="53339"/>
                  </a:lnTo>
                  <a:lnTo>
                    <a:pt x="166116" y="53339"/>
                  </a:lnTo>
                  <a:lnTo>
                    <a:pt x="166116" y="48767"/>
                  </a:lnTo>
                  <a:lnTo>
                    <a:pt x="31146" y="9143"/>
                  </a:lnTo>
                  <a:close/>
                </a:path>
                <a:path w="166370" h="1259204">
                  <a:moveTo>
                    <a:pt x="13716" y="9143"/>
                  </a:moveTo>
                  <a:lnTo>
                    <a:pt x="4572" y="15239"/>
                  </a:lnTo>
                  <a:lnTo>
                    <a:pt x="13716" y="17891"/>
                  </a:lnTo>
                  <a:lnTo>
                    <a:pt x="13716" y="9143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704076" y="4651248"/>
              <a:ext cx="2060447" cy="358139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704076" y="4651248"/>
              <a:ext cx="2060447" cy="358139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6678167" y="4645151"/>
              <a:ext cx="2113915" cy="368935"/>
            </a:xfrm>
            <a:custGeom>
              <a:avLst/>
              <a:gdLst/>
              <a:ahLst/>
              <a:cxnLst/>
              <a:rect l="l" t="t" r="r" b="b"/>
              <a:pathLst>
                <a:path w="2113915" h="368935">
                  <a:moveTo>
                    <a:pt x="1933955" y="0"/>
                  </a:moveTo>
                  <a:lnTo>
                    <a:pt x="0" y="316991"/>
                  </a:lnTo>
                  <a:lnTo>
                    <a:pt x="179832" y="368807"/>
                  </a:lnTo>
                  <a:lnTo>
                    <a:pt x="254574" y="356615"/>
                  </a:lnTo>
                  <a:lnTo>
                    <a:pt x="179832" y="356615"/>
                  </a:lnTo>
                  <a:lnTo>
                    <a:pt x="181782" y="356297"/>
                  </a:lnTo>
                  <a:lnTo>
                    <a:pt x="72521" y="324611"/>
                  </a:lnTo>
                  <a:lnTo>
                    <a:pt x="28956" y="324611"/>
                  </a:lnTo>
                  <a:lnTo>
                    <a:pt x="30480" y="312419"/>
                  </a:lnTo>
                  <a:lnTo>
                    <a:pt x="103661" y="312419"/>
                  </a:lnTo>
                  <a:lnTo>
                    <a:pt x="1932005" y="14034"/>
                  </a:lnTo>
                  <a:lnTo>
                    <a:pt x="1930907" y="13715"/>
                  </a:lnTo>
                  <a:lnTo>
                    <a:pt x="1980198" y="13715"/>
                  </a:lnTo>
                  <a:lnTo>
                    <a:pt x="1933955" y="0"/>
                  </a:lnTo>
                  <a:close/>
                </a:path>
                <a:path w="2113915" h="368935">
                  <a:moveTo>
                    <a:pt x="181782" y="356297"/>
                  </a:moveTo>
                  <a:lnTo>
                    <a:pt x="179832" y="356615"/>
                  </a:lnTo>
                  <a:lnTo>
                    <a:pt x="182880" y="356615"/>
                  </a:lnTo>
                  <a:lnTo>
                    <a:pt x="181782" y="356297"/>
                  </a:lnTo>
                  <a:close/>
                </a:path>
                <a:path w="2113915" h="368935">
                  <a:moveTo>
                    <a:pt x="2056954" y="50269"/>
                  </a:moveTo>
                  <a:lnTo>
                    <a:pt x="181782" y="356297"/>
                  </a:lnTo>
                  <a:lnTo>
                    <a:pt x="182880" y="356615"/>
                  </a:lnTo>
                  <a:lnTo>
                    <a:pt x="254574" y="356615"/>
                  </a:lnTo>
                  <a:lnTo>
                    <a:pt x="2085759" y="57912"/>
                  </a:lnTo>
                  <a:lnTo>
                    <a:pt x="2083307" y="57912"/>
                  </a:lnTo>
                  <a:lnTo>
                    <a:pt x="2056954" y="50269"/>
                  </a:lnTo>
                  <a:close/>
                </a:path>
                <a:path w="2113915" h="368935">
                  <a:moveTo>
                    <a:pt x="30480" y="312419"/>
                  </a:moveTo>
                  <a:lnTo>
                    <a:pt x="28956" y="324611"/>
                  </a:lnTo>
                  <a:lnTo>
                    <a:pt x="56833" y="320062"/>
                  </a:lnTo>
                  <a:lnTo>
                    <a:pt x="30480" y="312419"/>
                  </a:lnTo>
                  <a:close/>
                </a:path>
                <a:path w="2113915" h="368935">
                  <a:moveTo>
                    <a:pt x="56833" y="320062"/>
                  </a:moveTo>
                  <a:lnTo>
                    <a:pt x="28956" y="324611"/>
                  </a:lnTo>
                  <a:lnTo>
                    <a:pt x="72521" y="324611"/>
                  </a:lnTo>
                  <a:lnTo>
                    <a:pt x="56833" y="320062"/>
                  </a:lnTo>
                  <a:close/>
                </a:path>
                <a:path w="2113915" h="368935">
                  <a:moveTo>
                    <a:pt x="103661" y="312419"/>
                  </a:moveTo>
                  <a:lnTo>
                    <a:pt x="30480" y="312419"/>
                  </a:lnTo>
                  <a:lnTo>
                    <a:pt x="56833" y="320062"/>
                  </a:lnTo>
                  <a:lnTo>
                    <a:pt x="103661" y="312419"/>
                  </a:lnTo>
                  <a:close/>
                </a:path>
                <a:path w="2113915" h="368935">
                  <a:moveTo>
                    <a:pt x="2084831" y="45719"/>
                  </a:moveTo>
                  <a:lnTo>
                    <a:pt x="2056954" y="50269"/>
                  </a:lnTo>
                  <a:lnTo>
                    <a:pt x="2083307" y="57912"/>
                  </a:lnTo>
                  <a:lnTo>
                    <a:pt x="2084831" y="45719"/>
                  </a:lnTo>
                  <a:close/>
                </a:path>
                <a:path w="2113915" h="368935">
                  <a:moveTo>
                    <a:pt x="2088097" y="45719"/>
                  </a:moveTo>
                  <a:lnTo>
                    <a:pt x="2084831" y="45719"/>
                  </a:lnTo>
                  <a:lnTo>
                    <a:pt x="2083307" y="57912"/>
                  </a:lnTo>
                  <a:lnTo>
                    <a:pt x="2085759" y="57912"/>
                  </a:lnTo>
                  <a:lnTo>
                    <a:pt x="2113787" y="53339"/>
                  </a:lnTo>
                  <a:lnTo>
                    <a:pt x="2088097" y="45719"/>
                  </a:lnTo>
                  <a:close/>
                </a:path>
                <a:path w="2113915" h="368935">
                  <a:moveTo>
                    <a:pt x="1980198" y="13715"/>
                  </a:moveTo>
                  <a:lnTo>
                    <a:pt x="1933955" y="13715"/>
                  </a:lnTo>
                  <a:lnTo>
                    <a:pt x="1932005" y="14034"/>
                  </a:lnTo>
                  <a:lnTo>
                    <a:pt x="2056954" y="50269"/>
                  </a:lnTo>
                  <a:lnTo>
                    <a:pt x="2084831" y="45719"/>
                  </a:lnTo>
                  <a:lnTo>
                    <a:pt x="2088097" y="45719"/>
                  </a:lnTo>
                  <a:lnTo>
                    <a:pt x="1980198" y="13715"/>
                  </a:lnTo>
                  <a:close/>
                </a:path>
                <a:path w="2113915" h="368935">
                  <a:moveTo>
                    <a:pt x="1933955" y="13715"/>
                  </a:moveTo>
                  <a:lnTo>
                    <a:pt x="1930907" y="13715"/>
                  </a:lnTo>
                  <a:lnTo>
                    <a:pt x="1932005" y="14034"/>
                  </a:lnTo>
                  <a:lnTo>
                    <a:pt x="1933955" y="13715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856476" y="5006340"/>
              <a:ext cx="155447" cy="1243583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856476" y="5006340"/>
              <a:ext cx="155447" cy="1243583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6851903" y="5001767"/>
              <a:ext cx="166370" cy="1254760"/>
            </a:xfrm>
            <a:custGeom>
              <a:avLst/>
              <a:gdLst/>
              <a:ahLst/>
              <a:cxnLst/>
              <a:rect l="l" t="t" r="r" b="b"/>
              <a:pathLst>
                <a:path w="166370" h="1254760">
                  <a:moveTo>
                    <a:pt x="9144" y="0"/>
                  </a:move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4572"/>
                  </a:lnTo>
                  <a:lnTo>
                    <a:pt x="0" y="1205483"/>
                  </a:lnTo>
                  <a:lnTo>
                    <a:pt x="3048" y="1208531"/>
                  </a:lnTo>
                  <a:lnTo>
                    <a:pt x="4572" y="1208531"/>
                  </a:lnTo>
                  <a:lnTo>
                    <a:pt x="156972" y="1252727"/>
                  </a:lnTo>
                  <a:lnTo>
                    <a:pt x="160020" y="1254251"/>
                  </a:lnTo>
                  <a:lnTo>
                    <a:pt x="161544" y="1254251"/>
                  </a:lnTo>
                  <a:lnTo>
                    <a:pt x="166116" y="1249679"/>
                  </a:lnTo>
                  <a:lnTo>
                    <a:pt x="166116" y="1246631"/>
                  </a:lnTo>
                  <a:lnTo>
                    <a:pt x="152400" y="1246631"/>
                  </a:lnTo>
                  <a:lnTo>
                    <a:pt x="152400" y="1237884"/>
                  </a:lnTo>
                  <a:lnTo>
                    <a:pt x="30164" y="1202435"/>
                  </a:lnTo>
                  <a:lnTo>
                    <a:pt x="13716" y="1202435"/>
                  </a:lnTo>
                  <a:lnTo>
                    <a:pt x="9144" y="1196339"/>
                  </a:lnTo>
                  <a:lnTo>
                    <a:pt x="13716" y="1196339"/>
                  </a:lnTo>
                  <a:lnTo>
                    <a:pt x="13716" y="14843"/>
                  </a:lnTo>
                  <a:lnTo>
                    <a:pt x="4572" y="12192"/>
                  </a:lnTo>
                  <a:lnTo>
                    <a:pt x="13716" y="6095"/>
                  </a:lnTo>
                  <a:lnTo>
                    <a:pt x="30164" y="6095"/>
                  </a:lnTo>
                  <a:lnTo>
                    <a:pt x="9144" y="0"/>
                  </a:lnTo>
                  <a:close/>
                </a:path>
                <a:path w="166370" h="1254760">
                  <a:moveTo>
                    <a:pt x="152400" y="1237884"/>
                  </a:moveTo>
                  <a:lnTo>
                    <a:pt x="152400" y="1246631"/>
                  </a:lnTo>
                  <a:lnTo>
                    <a:pt x="161544" y="1240535"/>
                  </a:lnTo>
                  <a:lnTo>
                    <a:pt x="152400" y="1237884"/>
                  </a:lnTo>
                  <a:close/>
                </a:path>
                <a:path w="166370" h="1254760">
                  <a:moveTo>
                    <a:pt x="152400" y="55062"/>
                  </a:moveTo>
                  <a:lnTo>
                    <a:pt x="152400" y="1237884"/>
                  </a:lnTo>
                  <a:lnTo>
                    <a:pt x="161544" y="1240535"/>
                  </a:lnTo>
                  <a:lnTo>
                    <a:pt x="152400" y="1246631"/>
                  </a:lnTo>
                  <a:lnTo>
                    <a:pt x="166116" y="1246631"/>
                  </a:lnTo>
                  <a:lnTo>
                    <a:pt x="166116" y="56387"/>
                  </a:lnTo>
                  <a:lnTo>
                    <a:pt x="156972" y="56387"/>
                  </a:lnTo>
                  <a:lnTo>
                    <a:pt x="152400" y="55062"/>
                  </a:lnTo>
                  <a:close/>
                </a:path>
                <a:path w="166370" h="1254760">
                  <a:moveTo>
                    <a:pt x="9144" y="1196339"/>
                  </a:moveTo>
                  <a:lnTo>
                    <a:pt x="13716" y="1202435"/>
                  </a:lnTo>
                  <a:lnTo>
                    <a:pt x="13716" y="1197665"/>
                  </a:lnTo>
                  <a:lnTo>
                    <a:pt x="9144" y="1196339"/>
                  </a:lnTo>
                  <a:close/>
                </a:path>
                <a:path w="166370" h="1254760">
                  <a:moveTo>
                    <a:pt x="13716" y="1197665"/>
                  </a:moveTo>
                  <a:lnTo>
                    <a:pt x="13716" y="1202435"/>
                  </a:lnTo>
                  <a:lnTo>
                    <a:pt x="30164" y="1202435"/>
                  </a:lnTo>
                  <a:lnTo>
                    <a:pt x="13716" y="1197665"/>
                  </a:lnTo>
                  <a:close/>
                </a:path>
                <a:path w="166370" h="1254760">
                  <a:moveTo>
                    <a:pt x="13716" y="1196339"/>
                  </a:moveTo>
                  <a:lnTo>
                    <a:pt x="9144" y="1196339"/>
                  </a:lnTo>
                  <a:lnTo>
                    <a:pt x="13716" y="1197665"/>
                  </a:lnTo>
                  <a:lnTo>
                    <a:pt x="13716" y="1196339"/>
                  </a:lnTo>
                  <a:close/>
                </a:path>
                <a:path w="166370" h="1254760">
                  <a:moveTo>
                    <a:pt x="152400" y="50292"/>
                  </a:moveTo>
                  <a:lnTo>
                    <a:pt x="152400" y="55062"/>
                  </a:lnTo>
                  <a:lnTo>
                    <a:pt x="156972" y="56387"/>
                  </a:lnTo>
                  <a:lnTo>
                    <a:pt x="152400" y="50292"/>
                  </a:lnTo>
                  <a:close/>
                </a:path>
                <a:path w="166370" h="1254760">
                  <a:moveTo>
                    <a:pt x="166116" y="50292"/>
                  </a:moveTo>
                  <a:lnTo>
                    <a:pt x="152400" y="50292"/>
                  </a:lnTo>
                  <a:lnTo>
                    <a:pt x="156972" y="56387"/>
                  </a:lnTo>
                  <a:lnTo>
                    <a:pt x="166116" y="56387"/>
                  </a:lnTo>
                  <a:lnTo>
                    <a:pt x="166116" y="50292"/>
                  </a:lnTo>
                  <a:close/>
                </a:path>
                <a:path w="166370" h="1254760">
                  <a:moveTo>
                    <a:pt x="30164" y="6095"/>
                  </a:moveTo>
                  <a:lnTo>
                    <a:pt x="13716" y="6095"/>
                  </a:lnTo>
                  <a:lnTo>
                    <a:pt x="13716" y="14843"/>
                  </a:lnTo>
                  <a:lnTo>
                    <a:pt x="152400" y="55062"/>
                  </a:lnTo>
                  <a:lnTo>
                    <a:pt x="152400" y="50292"/>
                  </a:lnTo>
                  <a:lnTo>
                    <a:pt x="166116" y="50292"/>
                  </a:lnTo>
                  <a:lnTo>
                    <a:pt x="166116" y="47243"/>
                  </a:lnTo>
                  <a:lnTo>
                    <a:pt x="163068" y="45719"/>
                  </a:lnTo>
                  <a:lnTo>
                    <a:pt x="161544" y="44195"/>
                  </a:lnTo>
                  <a:lnTo>
                    <a:pt x="30164" y="6095"/>
                  </a:lnTo>
                  <a:close/>
                </a:path>
                <a:path w="166370" h="1254760">
                  <a:moveTo>
                    <a:pt x="13716" y="6095"/>
                  </a:moveTo>
                  <a:lnTo>
                    <a:pt x="4572" y="12192"/>
                  </a:lnTo>
                  <a:lnTo>
                    <a:pt x="13716" y="14843"/>
                  </a:lnTo>
                  <a:lnTo>
                    <a:pt x="13716" y="6095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5627623" y="4946119"/>
            <a:ext cx="1397000" cy="1007744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367030">
              <a:lnSpc>
                <a:spcPts val="1120"/>
              </a:lnSpc>
            </a:pPr>
            <a:r>
              <a:rPr sz="1200" b="1" spc="-5" dirty="0">
                <a:solidFill>
                  <a:srgbClr val="DFE2E4"/>
                </a:solidFill>
                <a:latin typeface="Calibri"/>
                <a:cs typeface="Calibri"/>
              </a:rPr>
              <a:t>Channel</a:t>
            </a:r>
            <a:r>
              <a:rPr sz="1200" b="1" spc="-60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DFE2E4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322580">
              <a:lnSpc>
                <a:spcPts val="1200"/>
              </a:lnSpc>
            </a:pPr>
            <a:r>
              <a:rPr sz="1200" b="1" spc="-5" dirty="0">
                <a:solidFill>
                  <a:srgbClr val="DFE2E4"/>
                </a:solidFill>
                <a:latin typeface="Calibri"/>
                <a:cs typeface="Calibri"/>
              </a:rPr>
              <a:t>Channel</a:t>
            </a:r>
            <a:r>
              <a:rPr sz="1200" b="1" spc="-35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DFE2E4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278130">
              <a:lnSpc>
                <a:spcPts val="1200"/>
              </a:lnSpc>
            </a:pPr>
            <a:r>
              <a:rPr sz="1200" b="1" spc="-5" dirty="0">
                <a:solidFill>
                  <a:srgbClr val="DFE2E4"/>
                </a:solidFill>
                <a:latin typeface="Calibri"/>
                <a:cs typeface="Calibri"/>
              </a:rPr>
              <a:t>Channel</a:t>
            </a:r>
            <a:r>
              <a:rPr sz="1200" b="1" spc="-35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DFE2E4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  <a:p>
            <a:pPr marL="233679">
              <a:lnSpc>
                <a:spcPts val="1200"/>
              </a:lnSpc>
            </a:pPr>
            <a:r>
              <a:rPr sz="1200" b="1" spc="-5" dirty="0">
                <a:solidFill>
                  <a:srgbClr val="DFE2E4"/>
                </a:solidFill>
                <a:latin typeface="Calibri"/>
                <a:cs typeface="Calibri"/>
              </a:rPr>
              <a:t>Channel</a:t>
            </a:r>
            <a:r>
              <a:rPr sz="1200" b="1" spc="-35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DFE2E4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189865">
              <a:lnSpc>
                <a:spcPts val="1200"/>
              </a:lnSpc>
            </a:pPr>
            <a:r>
              <a:rPr sz="1200" b="1" spc="-5" dirty="0">
                <a:solidFill>
                  <a:srgbClr val="DFE2E4"/>
                </a:solidFill>
                <a:latin typeface="Calibri"/>
                <a:cs typeface="Calibri"/>
              </a:rPr>
              <a:t>Channel</a:t>
            </a:r>
            <a:r>
              <a:rPr sz="1200" b="1" spc="-35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DFE2E4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145415">
              <a:lnSpc>
                <a:spcPts val="1200"/>
              </a:lnSpc>
            </a:pPr>
            <a:r>
              <a:rPr sz="1200" b="1" spc="-5" dirty="0">
                <a:solidFill>
                  <a:srgbClr val="DFE2E4"/>
                </a:solidFill>
                <a:latin typeface="Calibri"/>
                <a:cs typeface="Calibri"/>
              </a:rPr>
              <a:t>Channel</a:t>
            </a:r>
            <a:r>
              <a:rPr sz="1200" b="1" spc="-35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DFE2E4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  <a:p>
            <a:pPr marL="100965">
              <a:lnSpc>
                <a:spcPts val="1200"/>
              </a:lnSpc>
            </a:pPr>
            <a:r>
              <a:rPr sz="1200" b="1" spc="-5" dirty="0">
                <a:solidFill>
                  <a:srgbClr val="DFE2E4"/>
                </a:solidFill>
                <a:latin typeface="Calibri"/>
                <a:cs typeface="Calibri"/>
              </a:rPr>
              <a:t>Channel</a:t>
            </a:r>
            <a:r>
              <a:rPr sz="1200" b="1" spc="-35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DFE2E4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56515">
              <a:lnSpc>
                <a:spcPts val="1200"/>
              </a:lnSpc>
            </a:pPr>
            <a:r>
              <a:rPr sz="1200" b="1" spc="-5" dirty="0">
                <a:solidFill>
                  <a:srgbClr val="DFE2E4"/>
                </a:solidFill>
                <a:latin typeface="Calibri"/>
                <a:cs typeface="Calibri"/>
              </a:rPr>
              <a:t>Channel</a:t>
            </a:r>
            <a:r>
              <a:rPr sz="1200" b="1" spc="-35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DFE2E4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20"/>
              </a:lnSpc>
            </a:pPr>
            <a:r>
              <a:rPr sz="1200" b="1" spc="-5" dirty="0">
                <a:solidFill>
                  <a:srgbClr val="DFE2E4"/>
                </a:solidFill>
                <a:latin typeface="Calibri"/>
                <a:cs typeface="Calibri"/>
              </a:rPr>
              <a:t>Channel</a:t>
            </a:r>
            <a:r>
              <a:rPr sz="1200" b="1" spc="-35" dirty="0">
                <a:solidFill>
                  <a:srgbClr val="DFE2E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DFE2E4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6851903" y="4692395"/>
            <a:ext cx="2071370" cy="367665"/>
            <a:chOff x="6851903" y="4692395"/>
            <a:chExt cx="2071370" cy="367665"/>
          </a:xfrm>
        </p:grpSpPr>
        <p:pic>
          <p:nvPicPr>
            <p:cNvPr id="131" name="object 13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856475" y="4696967"/>
              <a:ext cx="2060447" cy="358139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856475" y="4696967"/>
              <a:ext cx="2060447" cy="358139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6851903" y="4692395"/>
              <a:ext cx="2071370" cy="367665"/>
            </a:xfrm>
            <a:custGeom>
              <a:avLst/>
              <a:gdLst/>
              <a:ahLst/>
              <a:cxnLst/>
              <a:rect l="l" t="t" r="r" b="b"/>
              <a:pathLst>
                <a:path w="2071370" h="367664">
                  <a:moveTo>
                    <a:pt x="1914143" y="0"/>
                  </a:moveTo>
                  <a:lnTo>
                    <a:pt x="1911095" y="0"/>
                  </a:lnTo>
                  <a:lnTo>
                    <a:pt x="6096" y="309371"/>
                  </a:lnTo>
                  <a:lnTo>
                    <a:pt x="0" y="312419"/>
                  </a:lnTo>
                  <a:lnTo>
                    <a:pt x="11" y="318538"/>
                  </a:lnTo>
                  <a:lnTo>
                    <a:pt x="1524" y="321563"/>
                  </a:lnTo>
                  <a:lnTo>
                    <a:pt x="4572" y="323087"/>
                  </a:lnTo>
                  <a:lnTo>
                    <a:pt x="156972" y="367283"/>
                  </a:lnTo>
                  <a:lnTo>
                    <a:pt x="160020" y="367283"/>
                  </a:lnTo>
                  <a:lnTo>
                    <a:pt x="234725" y="355091"/>
                  </a:lnTo>
                  <a:lnTo>
                    <a:pt x="161544" y="355091"/>
                  </a:lnTo>
                  <a:lnTo>
                    <a:pt x="51185" y="323087"/>
                  </a:lnTo>
                  <a:lnTo>
                    <a:pt x="7620" y="323087"/>
                  </a:lnTo>
                  <a:lnTo>
                    <a:pt x="9144" y="310895"/>
                  </a:lnTo>
                  <a:lnTo>
                    <a:pt x="82325" y="310895"/>
                  </a:lnTo>
                  <a:lnTo>
                    <a:pt x="1910669" y="12510"/>
                  </a:lnTo>
                  <a:lnTo>
                    <a:pt x="1909571" y="12191"/>
                  </a:lnTo>
                  <a:lnTo>
                    <a:pt x="1956185" y="12191"/>
                  </a:lnTo>
                  <a:lnTo>
                    <a:pt x="1914143" y="0"/>
                  </a:lnTo>
                  <a:close/>
                </a:path>
                <a:path w="2071370" h="367664">
                  <a:moveTo>
                    <a:pt x="2035569" y="48731"/>
                  </a:moveTo>
                  <a:lnTo>
                    <a:pt x="158496" y="353567"/>
                  </a:lnTo>
                  <a:lnTo>
                    <a:pt x="161544" y="355091"/>
                  </a:lnTo>
                  <a:lnTo>
                    <a:pt x="234725" y="355091"/>
                  </a:lnTo>
                  <a:lnTo>
                    <a:pt x="2065019" y="56387"/>
                  </a:lnTo>
                  <a:lnTo>
                    <a:pt x="2061971" y="56387"/>
                  </a:lnTo>
                  <a:lnTo>
                    <a:pt x="2035569" y="48731"/>
                  </a:lnTo>
                  <a:close/>
                </a:path>
                <a:path w="2071370" h="367664">
                  <a:moveTo>
                    <a:pt x="9144" y="310895"/>
                  </a:moveTo>
                  <a:lnTo>
                    <a:pt x="7620" y="323087"/>
                  </a:lnTo>
                  <a:lnTo>
                    <a:pt x="35497" y="318538"/>
                  </a:lnTo>
                  <a:lnTo>
                    <a:pt x="9144" y="310895"/>
                  </a:lnTo>
                  <a:close/>
                </a:path>
                <a:path w="2071370" h="367664">
                  <a:moveTo>
                    <a:pt x="35497" y="318538"/>
                  </a:moveTo>
                  <a:lnTo>
                    <a:pt x="7620" y="323087"/>
                  </a:lnTo>
                  <a:lnTo>
                    <a:pt x="51185" y="323087"/>
                  </a:lnTo>
                  <a:lnTo>
                    <a:pt x="35497" y="318538"/>
                  </a:lnTo>
                  <a:close/>
                </a:path>
                <a:path w="2071370" h="367664">
                  <a:moveTo>
                    <a:pt x="82325" y="310895"/>
                  </a:moveTo>
                  <a:lnTo>
                    <a:pt x="9144" y="310895"/>
                  </a:lnTo>
                  <a:lnTo>
                    <a:pt x="35497" y="318538"/>
                  </a:lnTo>
                  <a:lnTo>
                    <a:pt x="82325" y="310895"/>
                  </a:lnTo>
                  <a:close/>
                </a:path>
                <a:path w="2071370" h="367664">
                  <a:moveTo>
                    <a:pt x="2063495" y="44195"/>
                  </a:moveTo>
                  <a:lnTo>
                    <a:pt x="2035569" y="48731"/>
                  </a:lnTo>
                  <a:lnTo>
                    <a:pt x="2061971" y="56387"/>
                  </a:lnTo>
                  <a:lnTo>
                    <a:pt x="2063495" y="44195"/>
                  </a:lnTo>
                  <a:close/>
                </a:path>
                <a:path w="2071370" h="367664">
                  <a:moveTo>
                    <a:pt x="2066543" y="44195"/>
                  </a:moveTo>
                  <a:lnTo>
                    <a:pt x="2063495" y="44195"/>
                  </a:lnTo>
                  <a:lnTo>
                    <a:pt x="2061971" y="56387"/>
                  </a:lnTo>
                  <a:lnTo>
                    <a:pt x="2068067" y="56387"/>
                  </a:lnTo>
                  <a:lnTo>
                    <a:pt x="2071115" y="53339"/>
                  </a:lnTo>
                  <a:lnTo>
                    <a:pt x="2071115" y="47243"/>
                  </a:lnTo>
                  <a:lnTo>
                    <a:pt x="2069591" y="45719"/>
                  </a:lnTo>
                  <a:lnTo>
                    <a:pt x="2066543" y="44195"/>
                  </a:lnTo>
                  <a:close/>
                </a:path>
                <a:path w="2071370" h="367664">
                  <a:moveTo>
                    <a:pt x="1956185" y="12191"/>
                  </a:moveTo>
                  <a:lnTo>
                    <a:pt x="1912619" y="12191"/>
                  </a:lnTo>
                  <a:lnTo>
                    <a:pt x="1910669" y="12510"/>
                  </a:lnTo>
                  <a:lnTo>
                    <a:pt x="2035569" y="48731"/>
                  </a:lnTo>
                  <a:lnTo>
                    <a:pt x="2063495" y="44195"/>
                  </a:lnTo>
                  <a:lnTo>
                    <a:pt x="2066543" y="44195"/>
                  </a:lnTo>
                  <a:lnTo>
                    <a:pt x="1956185" y="12191"/>
                  </a:lnTo>
                  <a:close/>
                </a:path>
                <a:path w="2071370" h="367664">
                  <a:moveTo>
                    <a:pt x="1912619" y="12191"/>
                  </a:moveTo>
                  <a:lnTo>
                    <a:pt x="1909571" y="12191"/>
                  </a:lnTo>
                  <a:lnTo>
                    <a:pt x="1910669" y="12510"/>
                  </a:lnTo>
                  <a:lnTo>
                    <a:pt x="1912619" y="12191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612140" y="4128007"/>
            <a:ext cx="403796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11811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  <a:tab pos="3756660" algn="l"/>
              </a:tabLst>
            </a:pPr>
            <a:r>
              <a:rPr sz="2400" spc="-5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ti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 signal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2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	3  </a:t>
            </a:r>
            <a:r>
              <a:rPr sz="2400" spc="-5" dirty="0">
                <a:latin typeface="Calibri"/>
                <a:cs typeface="Calibri"/>
              </a:rPr>
              <a:t>occupy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link</a:t>
            </a:r>
            <a:r>
              <a:rPr sz="2400" spc="-10" dirty="0">
                <a:latin typeface="Calibri"/>
                <a:cs typeface="Calibri"/>
              </a:rPr>
              <a:t> sequentially</a:t>
            </a:r>
            <a:endParaRPr sz="2400">
              <a:latin typeface="Calibri"/>
              <a:cs typeface="Calibri"/>
            </a:endParaRPr>
          </a:p>
          <a:p>
            <a:pPr marL="243840" marR="5080" indent="-231775">
              <a:lnSpc>
                <a:spcPct val="100000"/>
              </a:lnSpc>
              <a:buFont typeface="Arial MT"/>
              <a:buChar char="•"/>
              <a:tabLst>
                <a:tab pos="244475" algn="l"/>
                <a:tab pos="1774189" algn="l"/>
              </a:tabLst>
            </a:pP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message</a:t>
            </a:r>
            <a:r>
              <a:rPr sz="2400" spc="-15" dirty="0">
                <a:latin typeface="Calibri"/>
                <a:cs typeface="Calibri"/>
              </a:rPr>
              <a:t> from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source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 </a:t>
            </a:r>
            <a:r>
              <a:rPr sz="2400" spc="-20" dirty="0">
                <a:latin typeface="Calibri"/>
                <a:cs typeface="Calibri"/>
              </a:rPr>
              <a:t>always </a:t>
            </a:r>
            <a:r>
              <a:rPr sz="2400" spc="-10" dirty="0">
                <a:latin typeface="Calibri"/>
                <a:cs typeface="Calibri"/>
              </a:rPr>
              <a:t>go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one specific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destination	</a:t>
            </a:r>
            <a:r>
              <a:rPr sz="2400" spc="-5" dirty="0">
                <a:latin typeface="Calibri"/>
                <a:cs typeface="Calibri"/>
              </a:rPr>
              <a:t>1,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243840" marR="451484" indent="-231775">
              <a:lnSpc>
                <a:spcPct val="100000"/>
              </a:lnSpc>
              <a:buFont typeface="Arial MT"/>
              <a:buChar char="•"/>
              <a:tabLst>
                <a:tab pos="244475" algn="l"/>
              </a:tabLst>
            </a:pPr>
            <a:r>
              <a:rPr sz="2400" spc="-5" dirty="0">
                <a:latin typeface="Calibri"/>
                <a:cs typeface="Calibri"/>
              </a:rPr>
              <a:t>The delivery is </a:t>
            </a:r>
            <a:r>
              <a:rPr sz="2400" spc="-15" dirty="0">
                <a:latin typeface="Calibri"/>
                <a:cs typeface="Calibri"/>
              </a:rPr>
              <a:t>fixed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unvarying,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unlike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switching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b="1" spc="-45" dirty="0">
                <a:latin typeface="Arial"/>
                <a:cs typeface="Arial"/>
              </a:rPr>
              <a:t>Summary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656440"/>
            <a:ext cx="8709025" cy="44970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70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Signals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get</a:t>
            </a:r>
            <a:r>
              <a:rPr sz="22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impaired by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attenuation,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distortion,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and</a:t>
            </a:r>
            <a:r>
              <a:rPr sz="22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noise</a:t>
            </a:r>
            <a:endParaRPr sz="2200">
              <a:latin typeface="Calibri"/>
              <a:cs typeface="Calibri"/>
            </a:endParaRPr>
          </a:p>
          <a:p>
            <a:pPr marL="189230" marR="5080" indent="-177165">
              <a:lnSpc>
                <a:spcPct val="70000"/>
              </a:lnSpc>
              <a:spcBef>
                <a:spcPts val="139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noiseless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channel,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Nyquist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3F3F3F"/>
                </a:solidFill>
                <a:latin typeface="Calibri"/>
                <a:cs typeface="Calibri"/>
              </a:rPr>
              <a:t>rate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formula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defines</a:t>
            </a:r>
            <a:r>
              <a:rPr sz="22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theoretical </a:t>
            </a:r>
            <a:r>
              <a:rPr sz="2200" spc="-4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maximum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F3F3F"/>
                </a:solidFill>
                <a:latin typeface="Calibri"/>
                <a:cs typeface="Calibri"/>
              </a:rPr>
              <a:t>rate.</a:t>
            </a:r>
            <a:endParaRPr sz="2200">
              <a:latin typeface="Calibri"/>
              <a:cs typeface="Calibri"/>
            </a:endParaRPr>
          </a:p>
          <a:p>
            <a:pPr marL="189230" marR="739140" indent="-177165">
              <a:lnSpc>
                <a:spcPct val="70000"/>
              </a:lnSpc>
              <a:spcBef>
                <a:spcPts val="14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noisy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channel,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need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use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Shannon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find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200" spc="-4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maximum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bit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F3F3F"/>
                </a:solidFill>
                <a:latin typeface="Calibri"/>
                <a:cs typeface="Calibri"/>
              </a:rPr>
              <a:t>rate.</a:t>
            </a:r>
            <a:endParaRPr sz="22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61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Attenuation,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distortion,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and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noise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impair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a signal.</a:t>
            </a:r>
            <a:endParaRPr sz="2200">
              <a:latin typeface="Calibri"/>
              <a:cs typeface="Calibri"/>
            </a:endParaRPr>
          </a:p>
          <a:p>
            <a:pPr marL="189230" marR="610235" indent="-177165">
              <a:lnSpc>
                <a:spcPct val="70000"/>
              </a:lnSpc>
              <a:spcBef>
                <a:spcPts val="13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Attenuation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loss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F3F3F"/>
                </a:solidFill>
                <a:latin typeface="Calibri"/>
                <a:cs typeface="Calibri"/>
              </a:rPr>
              <a:t>signal’s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energy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due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resistance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200" spc="-48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medium.</a:t>
            </a:r>
            <a:endParaRPr sz="2200">
              <a:latin typeface="Calibri"/>
              <a:cs typeface="Calibri"/>
            </a:endParaRPr>
          </a:p>
          <a:p>
            <a:pPr marL="189230" marR="652780" indent="-177165">
              <a:lnSpc>
                <a:spcPct val="70000"/>
              </a:lnSpc>
              <a:spcBef>
                <a:spcPts val="14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Distortion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alteration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due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2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differing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propagation </a:t>
            </a:r>
            <a:r>
              <a:rPr sz="2200" spc="-48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speeds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of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each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frequencies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F3F3F"/>
                </a:solidFill>
                <a:latin typeface="Calibri"/>
                <a:cs typeface="Calibri"/>
              </a:rPr>
              <a:t>make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up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 signal.</a:t>
            </a:r>
            <a:endParaRPr sz="22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61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Noise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external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energy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corrupts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a signal.</a:t>
            </a:r>
            <a:endParaRPr sz="2200">
              <a:latin typeface="Calibri"/>
              <a:cs typeface="Calibri"/>
            </a:endParaRPr>
          </a:p>
          <a:p>
            <a:pPr marL="189230" marR="331470" indent="-177165">
              <a:lnSpc>
                <a:spcPct val="70000"/>
              </a:lnSpc>
              <a:spcBef>
                <a:spcPts val="139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bandwidth-delay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 product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defines</a:t>
            </a:r>
            <a:r>
              <a:rPr sz="22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number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bits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z="22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Calibri"/>
                <a:cs typeface="Calibri"/>
              </a:rPr>
              <a:t>fill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200" spc="-4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Calibri"/>
                <a:cs typeface="Calibri"/>
              </a:rPr>
              <a:t>link.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57932" y="7058621"/>
            <a:ext cx="28130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100"/>
                </a:lnSpc>
              </a:pPr>
              <a:t>104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  <a:tabLst>
                <a:tab pos="8827770" algn="l"/>
              </a:tabLst>
            </a:pPr>
            <a:r>
              <a:rPr spc="-45" dirty="0"/>
              <a:t>Summary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67" y="1740871"/>
            <a:ext cx="8734425" cy="3957954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89230" marR="5080" indent="-177165">
              <a:lnSpc>
                <a:spcPct val="70000"/>
              </a:lnSpc>
              <a:spcBef>
                <a:spcPts val="82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Digital-to-analog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conversion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process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changing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one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of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characteristics</a:t>
            </a:r>
            <a:r>
              <a:rPr sz="20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000" spc="-43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signal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based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information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the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189230" marR="88265" indent="-177165">
              <a:lnSpc>
                <a:spcPct val="70000"/>
              </a:lnSpc>
              <a:spcBef>
                <a:spcPts val="1400"/>
              </a:spcBef>
              <a:buClr>
                <a:srgbClr val="1CACE4"/>
              </a:buClr>
              <a:buFont typeface="Arial MT"/>
              <a:buChar char="•"/>
              <a:tabLst>
                <a:tab pos="243840" algn="l"/>
                <a:tab pos="244475" algn="l"/>
              </a:tabLst>
            </a:pPr>
            <a:r>
              <a:rPr dirty="0"/>
              <a:t>	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Digital-to-analog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be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accomplished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several</a:t>
            </a:r>
            <a:r>
              <a:rPr sz="20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ways: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shift </a:t>
            </a:r>
            <a:r>
              <a:rPr sz="2000" spc="-4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keying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(ASK),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shift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keying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(FSK),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phase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shift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keying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(PSK)</a:t>
            </a:r>
            <a:endParaRPr sz="2000">
              <a:latin typeface="Calibri"/>
              <a:cs typeface="Calibri"/>
            </a:endParaRPr>
          </a:p>
          <a:p>
            <a:pPr marL="189230" indent="-177165">
              <a:lnSpc>
                <a:spcPct val="100000"/>
              </a:lnSpc>
              <a:spcBef>
                <a:spcPts val="67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Quadrature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(QAM)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combines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ASK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PSK</a:t>
            </a:r>
            <a:endParaRPr sz="2000">
              <a:latin typeface="Calibri"/>
              <a:cs typeface="Calibri"/>
            </a:endParaRPr>
          </a:p>
          <a:p>
            <a:pPr marL="189230" marR="408305" indent="-177165">
              <a:lnSpc>
                <a:spcPct val="70000"/>
              </a:lnSpc>
              <a:spcBef>
                <a:spcPts val="1400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constellation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diagram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shows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us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amplitude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element, </a:t>
            </a:r>
            <a:r>
              <a:rPr sz="2000" spc="-4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particularly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when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we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two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carriers</a:t>
            </a:r>
            <a:r>
              <a:rPr sz="20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(one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in-phase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and one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quadrature)</a:t>
            </a:r>
            <a:endParaRPr sz="2000">
              <a:latin typeface="Calibri"/>
              <a:cs typeface="Calibri"/>
            </a:endParaRPr>
          </a:p>
          <a:p>
            <a:pPr marL="189230" marR="476884" indent="-177165">
              <a:lnSpc>
                <a:spcPct val="70000"/>
              </a:lnSpc>
              <a:spcBef>
                <a:spcPts val="14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Analog-to-analog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representation</a:t>
            </a:r>
            <a:r>
              <a:rPr sz="20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analog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information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000" spc="-4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analog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signal</a:t>
            </a:r>
            <a:endParaRPr sz="2000">
              <a:latin typeface="Calibri"/>
              <a:cs typeface="Calibri"/>
            </a:endParaRPr>
          </a:p>
          <a:p>
            <a:pPr marL="189230" marR="398780" indent="-177165">
              <a:lnSpc>
                <a:spcPct val="70000"/>
              </a:lnSpc>
              <a:spcBef>
                <a:spcPts val="139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is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needed if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medium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bandpass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nature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bandpass </a:t>
            </a:r>
            <a:r>
              <a:rPr sz="2000" spc="-43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bandwidth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available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us</a:t>
            </a:r>
            <a:endParaRPr sz="2000">
              <a:latin typeface="Calibri"/>
              <a:cs typeface="Calibri"/>
            </a:endParaRPr>
          </a:p>
          <a:p>
            <a:pPr marL="189230" marR="760095" indent="-177165">
              <a:lnSpc>
                <a:spcPct val="70000"/>
              </a:lnSpc>
              <a:spcBef>
                <a:spcPts val="1405"/>
              </a:spcBef>
              <a:buClr>
                <a:srgbClr val="1CACE4"/>
              </a:buClr>
              <a:buFont typeface="Arial MT"/>
              <a:buChar char="•"/>
              <a:tabLst>
                <a:tab pos="189865" algn="l"/>
              </a:tabLst>
            </a:pP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Analog-to-analog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conversion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accomplished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three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ways: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amplitude </a:t>
            </a:r>
            <a:r>
              <a:rPr sz="2000" spc="-43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(AM),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frequency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(FM),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phase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modulation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(PM).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792467"/>
            <a:ext cx="9142730" cy="521334"/>
            <a:chOff x="457200" y="6792467"/>
            <a:chExt cx="9142730" cy="521334"/>
          </a:xfrm>
        </p:grpSpPr>
        <p:sp>
          <p:nvSpPr>
            <p:cNvPr id="5" name="object 5"/>
            <p:cNvSpPr/>
            <p:nvPr/>
          </p:nvSpPr>
          <p:spPr>
            <a:xfrm>
              <a:off x="457200" y="6857999"/>
              <a:ext cx="9142730" cy="455930"/>
            </a:xfrm>
            <a:custGeom>
              <a:avLst/>
              <a:gdLst/>
              <a:ahLst/>
              <a:cxnLst/>
              <a:rect l="l" t="t" r="r" b="b"/>
              <a:pathLst>
                <a:path w="9142730" h="455929">
                  <a:moveTo>
                    <a:pt x="9142475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9142475" y="455675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268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6792467"/>
              <a:ext cx="9142730" cy="64135"/>
            </a:xfrm>
            <a:custGeom>
              <a:avLst/>
              <a:gdLst/>
              <a:ahLst/>
              <a:cxnLst/>
              <a:rect l="l" t="t" r="r" b="b"/>
              <a:pathLst>
                <a:path w="9142730" h="64134">
                  <a:moveTo>
                    <a:pt x="914247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2475" y="64008"/>
                  </a:lnTo>
                  <a:lnTo>
                    <a:pt x="9142475" y="0"/>
                  </a:lnTo>
                  <a:close/>
                </a:path>
              </a:pathLst>
            </a:custGeom>
            <a:solidFill>
              <a:srgbClr val="1CA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57932" y="7058621"/>
            <a:ext cx="28130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100"/>
                </a:lnSpc>
              </a:pPr>
              <a:t>105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</TotalTime>
  <Words>7799</Words>
  <Application>Microsoft Office PowerPoint</Application>
  <PresentationFormat>Custom</PresentationFormat>
  <Paragraphs>943</Paragraphs>
  <Slides>105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4" baseType="lpstr">
      <vt:lpstr>SimSun</vt:lpstr>
      <vt:lpstr>Arial</vt:lpstr>
      <vt:lpstr>Arial MT</vt:lpstr>
      <vt:lpstr>Calibri</vt:lpstr>
      <vt:lpstr>Microsoft Sans Serif</vt:lpstr>
      <vt:lpstr>Roboto Cn</vt:lpstr>
      <vt:lpstr>Times New Roman</vt:lpstr>
      <vt:lpstr>Wingdings</vt:lpstr>
      <vt:lpstr>Office Theme</vt:lpstr>
      <vt:lpstr>Physical Layer</vt:lpstr>
      <vt:lpstr>Outline Session- 3</vt:lpstr>
      <vt:lpstr>Analog signal </vt:lpstr>
      <vt:lpstr>Sine wave </vt:lpstr>
      <vt:lpstr>Sine wave </vt:lpstr>
      <vt:lpstr>Sine Waves: Revisited</vt:lpstr>
      <vt:lpstr>Sine Wave - Wavelength </vt:lpstr>
      <vt:lpstr>Sine Wave - Time and Frequency Domains</vt:lpstr>
      <vt:lpstr>Digital signal </vt:lpstr>
      <vt:lpstr>Digital signal – Bit rate </vt:lpstr>
      <vt:lpstr>Digital signal – Bit Length </vt:lpstr>
      <vt:lpstr>Transmission of Digital Signals</vt:lpstr>
      <vt:lpstr>Analog Vs Digital</vt:lpstr>
      <vt:lpstr>Signal Impairments</vt:lpstr>
      <vt:lpstr>Attenuation and Amplification </vt:lpstr>
      <vt:lpstr>Attenuation… </vt:lpstr>
      <vt:lpstr>Attenuation - Relative Signal Strength</vt:lpstr>
      <vt:lpstr>Attenuation Example 1 </vt:lpstr>
      <vt:lpstr>Attenuation Example 2 </vt:lpstr>
      <vt:lpstr>Attenuation Example 3 </vt:lpstr>
      <vt:lpstr>Attenuation - Link Budget </vt:lpstr>
      <vt:lpstr>Attenuation Example 4</vt:lpstr>
      <vt:lpstr>Attenuation Example 5 </vt:lpstr>
      <vt:lpstr>Distortion </vt:lpstr>
      <vt:lpstr>Distortion … </vt:lpstr>
      <vt:lpstr>Noise </vt:lpstr>
      <vt:lpstr>Noise : Signal-to-Noise Ratio</vt:lpstr>
      <vt:lpstr>Noise : Signal-to-Noise Ratio</vt:lpstr>
      <vt:lpstr>Noise : Signal-to-Noise Ratio</vt:lpstr>
      <vt:lpstr>Data Rate Limits </vt:lpstr>
      <vt:lpstr>Noiseless Channel: Nyquist Bit Rate</vt:lpstr>
      <vt:lpstr>Noiseless Channel: Nyquist Bit Rate</vt:lpstr>
      <vt:lpstr>Noiseless Channel: Nyquist Bit Rate</vt:lpstr>
      <vt:lpstr>Noiseless Channel: Nyquist Bit Rate</vt:lpstr>
      <vt:lpstr>Noisy Channel: Shannon's Capacity</vt:lpstr>
      <vt:lpstr>Example 1 – Shannon's Capacity</vt:lpstr>
      <vt:lpstr>Example 2 – Shannon's Capacity</vt:lpstr>
      <vt:lpstr>Example 3 – Shannon's Capacity</vt:lpstr>
      <vt:lpstr>Example 4 – Shannon's Capacity</vt:lpstr>
      <vt:lpstr>Using Both Limits </vt:lpstr>
      <vt:lpstr>Network Performance </vt:lpstr>
      <vt:lpstr>Bandwidth </vt:lpstr>
      <vt:lpstr>Bandwidth – examples </vt:lpstr>
      <vt:lpstr>Throughput </vt:lpstr>
      <vt:lpstr>Throughput - Example </vt:lpstr>
      <vt:lpstr>Latency </vt:lpstr>
      <vt:lpstr>Latency - Propagation time</vt:lpstr>
      <vt:lpstr>Example Latency - Propagation time</vt:lpstr>
      <vt:lpstr>Latency - Transmission time</vt:lpstr>
      <vt:lpstr>Latency - Transmission time</vt:lpstr>
      <vt:lpstr>Example 1 - Transmission time</vt:lpstr>
      <vt:lpstr>Example 2 - Transmission time</vt:lpstr>
      <vt:lpstr>Latency – Queuing time </vt:lpstr>
      <vt:lpstr>Bandwidth-Delay Product </vt:lpstr>
      <vt:lpstr>Bandwidth-Delay Product </vt:lpstr>
      <vt:lpstr>Bandwidth-Delay Product </vt:lpstr>
      <vt:lpstr>Bandwidth-Delay Product </vt:lpstr>
      <vt:lpstr>Jitter </vt:lpstr>
      <vt:lpstr>END OF CIE -2</vt:lpstr>
      <vt:lpstr>Analog and Digital </vt:lpstr>
      <vt:lpstr>PowerPoint Presentation</vt:lpstr>
      <vt:lpstr>Digital Transmission</vt:lpstr>
      <vt:lpstr>Digital Transmission … </vt:lpstr>
      <vt:lpstr>Digital Transmission… </vt:lpstr>
      <vt:lpstr>Digital-to-Digital Conversion - Line Coding</vt:lpstr>
      <vt:lpstr>Block Coding</vt:lpstr>
      <vt:lpstr>Block Coding</vt:lpstr>
      <vt:lpstr>Analog to Digital Conversion </vt:lpstr>
      <vt:lpstr>Pulse Code Modulation (PCM)</vt:lpstr>
      <vt:lpstr>PCM - Sampling </vt:lpstr>
      <vt:lpstr>PCM: Encoding Example </vt:lpstr>
      <vt:lpstr>PCM: The Whole Process</vt:lpstr>
      <vt:lpstr>Minimum Required Bandwidth</vt:lpstr>
      <vt:lpstr>Delta Modulation (DM)</vt:lpstr>
      <vt:lpstr>DM... </vt:lpstr>
      <vt:lpstr>Digital-to-Analog Conversion</vt:lpstr>
      <vt:lpstr>Digital-to-analog conversion</vt:lpstr>
      <vt:lpstr>Amplitude shift keying</vt:lpstr>
      <vt:lpstr>Binary Amplitude Shift Keying</vt:lpstr>
      <vt:lpstr>Bandwidth for ASK</vt:lpstr>
      <vt:lpstr>Frequency Shift Keying</vt:lpstr>
      <vt:lpstr>Binary Frequency Shift Keying</vt:lpstr>
      <vt:lpstr>Bandwidth for BFSK</vt:lpstr>
      <vt:lpstr>Phase Shift Keying </vt:lpstr>
      <vt:lpstr>Binary Phase Shift Keying </vt:lpstr>
      <vt:lpstr>Binary PSK </vt:lpstr>
      <vt:lpstr>Comparison ASK, FSK, PSK</vt:lpstr>
      <vt:lpstr>Comparison ASK, FSK, PSK</vt:lpstr>
      <vt:lpstr>Analog-to-Analog Conversion</vt:lpstr>
      <vt:lpstr>Analog-to-analog conversion</vt:lpstr>
      <vt:lpstr>Amplitude Modulation (AM) </vt:lpstr>
      <vt:lpstr>AM Bandwidth </vt:lpstr>
      <vt:lpstr>Frequency Modulation (FM) </vt:lpstr>
      <vt:lpstr>FM Bandwidth </vt:lpstr>
      <vt:lpstr>Phase Modulation (PM) </vt:lpstr>
      <vt:lpstr>Phase Modulation (PM) </vt:lpstr>
      <vt:lpstr>Multiplexing </vt:lpstr>
      <vt:lpstr>Multiplexing … </vt:lpstr>
      <vt:lpstr>Frequency Division Multiplexing (FDM)</vt:lpstr>
      <vt:lpstr>FDM …</vt:lpstr>
      <vt:lpstr>Conceptual View of FDM</vt:lpstr>
      <vt:lpstr>Time Division Multiplexing (TDM)</vt:lpstr>
      <vt:lpstr>Conceptual View of TDM</vt:lpstr>
      <vt:lpstr>Summary </vt:lpstr>
      <vt:lpstr>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Layer</dc:title>
  <dc:creator>Arun K</dc:creator>
  <cp:lastModifiedBy>Chitransh Srivastava</cp:lastModifiedBy>
  <cp:revision>7</cp:revision>
  <dcterms:created xsi:type="dcterms:W3CDTF">2023-06-17T05:14:59Z</dcterms:created>
  <dcterms:modified xsi:type="dcterms:W3CDTF">2023-07-30T22:08:35Z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2022-07-05T00:00:00Z</vt:filetime>
  </property>
  <property fmtid="{D5CDD505-2E9C-101B-9397-08002B2CF9AE}" pid="3" name="Creator">
    <vt:lpwstr>Nitro Pro 10  (10. 5. 2. 11)</vt:lpwstr>
  </property>
  <property fmtid="{D5CDD505-2E9C-101B-9397-08002B2CF9AE}" pid="4" name="LastSaved">
    <vt:filetime>2023-06-17T00:00:00Z</vt:filetime>
  </property>
</Properties>
</file>