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2"/>
  </p:notesMasterIdLst>
  <p:handoutMasterIdLst>
    <p:handoutMasterId r:id="rId33"/>
  </p:handoutMasterIdLst>
  <p:sldIdLst>
    <p:sldId id="263" r:id="rId2"/>
    <p:sldId id="323" r:id="rId3"/>
    <p:sldId id="265" r:id="rId4"/>
    <p:sldId id="266" r:id="rId5"/>
    <p:sldId id="327" r:id="rId6"/>
    <p:sldId id="328" r:id="rId7"/>
    <p:sldId id="329" r:id="rId8"/>
    <p:sldId id="324" r:id="rId9"/>
    <p:sldId id="330" r:id="rId10"/>
    <p:sldId id="267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268" r:id="rId19"/>
    <p:sldId id="269" r:id="rId20"/>
    <p:sldId id="271" r:id="rId21"/>
    <p:sldId id="325" r:id="rId22"/>
    <p:sldId id="272" r:id="rId23"/>
    <p:sldId id="273" r:id="rId24"/>
    <p:sldId id="274" r:id="rId25"/>
    <p:sldId id="275" r:id="rId26"/>
    <p:sldId id="276" r:id="rId27"/>
    <p:sldId id="338" r:id="rId28"/>
    <p:sldId id="339" r:id="rId29"/>
    <p:sldId id="340" r:id="rId30"/>
    <p:sldId id="34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a Christopher" userId="8b3eaec8d7c85b0d" providerId="LiveId" clId="{400EE541-DB78-4F11-907F-0F4133EA7749}"/>
    <pc:docChg chg="undo custSel addSld delSld modSld">
      <pc:chgData name="Christina Christopher" userId="8b3eaec8d7c85b0d" providerId="LiveId" clId="{400EE541-DB78-4F11-907F-0F4133EA7749}" dt="2022-01-20T19:47:26.544" v="2922" actId="47"/>
      <pc:docMkLst>
        <pc:docMk/>
      </pc:docMkLst>
      <pc:sldChg chg="modSp mod">
        <pc:chgData name="Christina Christopher" userId="8b3eaec8d7c85b0d" providerId="LiveId" clId="{400EE541-DB78-4F11-907F-0F4133EA7749}" dt="2022-01-20T18:56:12.770" v="256" actId="113"/>
        <pc:sldMkLst>
          <pc:docMk/>
          <pc:sldMk cId="881956834" sldId="264"/>
        </pc:sldMkLst>
        <pc:spChg chg="mod">
          <ac:chgData name="Christina Christopher" userId="8b3eaec8d7c85b0d" providerId="LiveId" clId="{400EE541-DB78-4F11-907F-0F4133EA7749}" dt="2022-01-20T18:54:50.614" v="12" actId="20577"/>
          <ac:spMkLst>
            <pc:docMk/>
            <pc:sldMk cId="881956834" sldId="264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8:56:12.770" v="256" actId="113"/>
          <ac:spMkLst>
            <pc:docMk/>
            <pc:sldMk cId="881956834" sldId="264"/>
            <ac:spMk id="14" creationId="{00000000-0000-0000-0000-000000000000}"/>
          </ac:spMkLst>
        </pc:spChg>
      </pc:sldChg>
      <pc:sldChg chg="del">
        <pc:chgData name="Christina Christopher" userId="8b3eaec8d7c85b0d" providerId="LiveId" clId="{400EE541-DB78-4F11-907F-0F4133EA7749}" dt="2022-01-20T18:53:38.670" v="0" actId="47"/>
        <pc:sldMkLst>
          <pc:docMk/>
          <pc:sldMk cId="306576649" sldId="265"/>
        </pc:sldMkLst>
      </pc:sldChg>
      <pc:sldChg chg="addSp modSp add mod">
        <pc:chgData name="Christina Christopher" userId="8b3eaec8d7c85b0d" providerId="LiveId" clId="{400EE541-DB78-4F11-907F-0F4133EA7749}" dt="2022-01-20T18:59:58.788" v="437" actId="122"/>
        <pc:sldMkLst>
          <pc:docMk/>
          <pc:sldMk cId="1030425863" sldId="265"/>
        </pc:sldMkLst>
        <pc:spChg chg="add mod">
          <ac:chgData name="Christina Christopher" userId="8b3eaec8d7c85b0d" providerId="LiveId" clId="{400EE541-DB78-4F11-907F-0F4133EA7749}" dt="2022-01-20T18:59:58.788" v="437" actId="122"/>
          <ac:spMkLst>
            <pc:docMk/>
            <pc:sldMk cId="1030425863" sldId="265"/>
            <ac:spMk id="5" creationId="{8655CA17-1900-4EF6-9996-4782DA5FC2D6}"/>
          </ac:spMkLst>
        </pc:spChg>
        <pc:spChg chg="mod">
          <ac:chgData name="Christina Christopher" userId="8b3eaec8d7c85b0d" providerId="LiveId" clId="{400EE541-DB78-4F11-907F-0F4133EA7749}" dt="2022-01-20T18:56:52.584" v="288" actId="20577"/>
          <ac:spMkLst>
            <pc:docMk/>
            <pc:sldMk cId="1030425863" sldId="265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8:59:26.075" v="348" actId="14100"/>
          <ac:spMkLst>
            <pc:docMk/>
            <pc:sldMk cId="1030425863" sldId="265"/>
            <ac:spMk id="14" creationId="{00000000-0000-0000-0000-000000000000}"/>
          </ac:spMkLst>
        </pc:spChg>
        <pc:picChg chg="add mod">
          <ac:chgData name="Christina Christopher" userId="8b3eaec8d7c85b0d" providerId="LiveId" clId="{400EE541-DB78-4F11-907F-0F4133EA7749}" dt="2022-01-20T18:59:18.024" v="347"/>
          <ac:picMkLst>
            <pc:docMk/>
            <pc:sldMk cId="1030425863" sldId="265"/>
            <ac:picMk id="1026" creationId="{CD06C32E-62F6-4115-9376-4762A2C97408}"/>
          </ac:picMkLst>
        </pc:picChg>
      </pc:sldChg>
      <pc:sldChg chg="addSp delSp modSp add mod">
        <pc:chgData name="Christina Christopher" userId="8b3eaec8d7c85b0d" providerId="LiveId" clId="{400EE541-DB78-4F11-907F-0F4133EA7749}" dt="2022-01-20T19:01:47.175" v="703" actId="27636"/>
        <pc:sldMkLst>
          <pc:docMk/>
          <pc:sldMk cId="637350801" sldId="266"/>
        </pc:sldMkLst>
        <pc:spChg chg="add del mod">
          <ac:chgData name="Christina Christopher" userId="8b3eaec8d7c85b0d" providerId="LiveId" clId="{400EE541-DB78-4F11-907F-0F4133EA7749}" dt="2022-01-20T19:01:47.175" v="703" actId="27636"/>
          <ac:spMkLst>
            <pc:docMk/>
            <pc:sldMk cId="637350801" sldId="266"/>
            <ac:spMk id="5" creationId="{8655CA17-1900-4EF6-9996-4782DA5FC2D6}"/>
          </ac:spMkLst>
        </pc:spChg>
        <pc:spChg chg="mod">
          <ac:chgData name="Christina Christopher" userId="8b3eaec8d7c85b0d" providerId="LiveId" clId="{400EE541-DB78-4F11-907F-0F4133EA7749}" dt="2022-01-20T19:01:20.215" v="617" actId="27636"/>
          <ac:spMkLst>
            <pc:docMk/>
            <pc:sldMk cId="637350801" sldId="266"/>
            <ac:spMk id="14" creationId="{00000000-0000-0000-0000-000000000000}"/>
          </ac:spMkLst>
        </pc:spChg>
      </pc:sldChg>
      <pc:sldChg chg="del">
        <pc:chgData name="Christina Christopher" userId="8b3eaec8d7c85b0d" providerId="LiveId" clId="{400EE541-DB78-4F11-907F-0F4133EA7749}" dt="2022-01-20T18:53:38.670" v="0" actId="47"/>
        <pc:sldMkLst>
          <pc:docMk/>
          <pc:sldMk cId="865835799" sldId="266"/>
        </pc:sldMkLst>
      </pc:sldChg>
      <pc:sldChg chg="del">
        <pc:chgData name="Christina Christopher" userId="8b3eaec8d7c85b0d" providerId="LiveId" clId="{400EE541-DB78-4F11-907F-0F4133EA7749}" dt="2022-01-20T18:53:38.670" v="0" actId="47"/>
        <pc:sldMkLst>
          <pc:docMk/>
          <pc:sldMk cId="679128519" sldId="267"/>
        </pc:sldMkLst>
      </pc:sldChg>
      <pc:sldChg chg="delSp modSp add mod">
        <pc:chgData name="Christina Christopher" userId="8b3eaec8d7c85b0d" providerId="LiveId" clId="{400EE541-DB78-4F11-907F-0F4133EA7749}" dt="2022-01-20T19:03:38.191" v="966" actId="123"/>
        <pc:sldMkLst>
          <pc:docMk/>
          <pc:sldMk cId="2432895189" sldId="267"/>
        </pc:sldMkLst>
        <pc:spChg chg="del">
          <ac:chgData name="Christina Christopher" userId="8b3eaec8d7c85b0d" providerId="LiveId" clId="{400EE541-DB78-4F11-907F-0F4133EA7749}" dt="2022-01-20T19:02:47.196" v="735" actId="478"/>
          <ac:spMkLst>
            <pc:docMk/>
            <pc:sldMk cId="2432895189" sldId="267"/>
            <ac:spMk id="5" creationId="{8655CA17-1900-4EF6-9996-4782DA5FC2D6}"/>
          </ac:spMkLst>
        </pc:spChg>
        <pc:spChg chg="mod">
          <ac:chgData name="Christina Christopher" userId="8b3eaec8d7c85b0d" providerId="LiveId" clId="{400EE541-DB78-4F11-907F-0F4133EA7749}" dt="2022-01-20T19:02:26.699" v="728" actId="20577"/>
          <ac:spMkLst>
            <pc:docMk/>
            <pc:sldMk cId="2432895189" sldId="267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9:03:38.191" v="966" actId="123"/>
          <ac:spMkLst>
            <pc:docMk/>
            <pc:sldMk cId="2432895189" sldId="267"/>
            <ac:spMk id="14" creationId="{00000000-0000-0000-0000-000000000000}"/>
          </ac:spMkLst>
        </pc:spChg>
        <pc:picChg chg="del">
          <ac:chgData name="Christina Christopher" userId="8b3eaec8d7c85b0d" providerId="LiveId" clId="{400EE541-DB78-4F11-907F-0F4133EA7749}" dt="2022-01-20T19:02:44.893" v="734" actId="478"/>
          <ac:picMkLst>
            <pc:docMk/>
            <pc:sldMk cId="2432895189" sldId="267"/>
            <ac:picMk id="1026" creationId="{CD06C32E-62F6-4115-9376-4762A2C97408}"/>
          </ac:picMkLst>
        </pc:picChg>
      </pc:sldChg>
      <pc:sldChg chg="modSp add mod">
        <pc:chgData name="Christina Christopher" userId="8b3eaec8d7c85b0d" providerId="LiveId" clId="{400EE541-DB78-4F11-907F-0F4133EA7749}" dt="2022-01-20T19:04:31.662" v="1002" actId="20577"/>
        <pc:sldMkLst>
          <pc:docMk/>
          <pc:sldMk cId="4166080312" sldId="268"/>
        </pc:sldMkLst>
        <pc:spChg chg="mod">
          <ac:chgData name="Christina Christopher" userId="8b3eaec8d7c85b0d" providerId="LiveId" clId="{400EE541-DB78-4F11-907F-0F4133EA7749}" dt="2022-01-20T19:04:06.415" v="1000" actId="20577"/>
          <ac:spMkLst>
            <pc:docMk/>
            <pc:sldMk cId="4166080312" sldId="268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9:04:31.662" v="1002" actId="20577"/>
          <ac:spMkLst>
            <pc:docMk/>
            <pc:sldMk cId="4166080312" sldId="268"/>
            <ac:spMk id="14" creationId="{00000000-0000-0000-0000-000000000000}"/>
          </ac:spMkLst>
        </pc:spChg>
      </pc:sldChg>
      <pc:sldChg chg="modSp add mod">
        <pc:chgData name="Christina Christopher" userId="8b3eaec8d7c85b0d" providerId="LiveId" clId="{400EE541-DB78-4F11-907F-0F4133EA7749}" dt="2022-01-20T19:05:19.137" v="1144" actId="113"/>
        <pc:sldMkLst>
          <pc:docMk/>
          <pc:sldMk cId="3951253460" sldId="269"/>
        </pc:sldMkLst>
        <pc:spChg chg="mod">
          <ac:chgData name="Christina Christopher" userId="8b3eaec8d7c85b0d" providerId="LiveId" clId="{400EE541-DB78-4F11-907F-0F4133EA7749}" dt="2022-01-20T19:05:19.137" v="1144" actId="113"/>
          <ac:spMkLst>
            <pc:docMk/>
            <pc:sldMk cId="3951253460" sldId="269"/>
            <ac:spMk id="14" creationId="{00000000-0000-0000-0000-000000000000}"/>
          </ac:spMkLst>
        </pc:spChg>
      </pc:sldChg>
      <pc:sldChg chg="modSp add del mod">
        <pc:chgData name="Christina Christopher" userId="8b3eaec8d7c85b0d" providerId="LiveId" clId="{400EE541-DB78-4F11-907F-0F4133EA7749}" dt="2022-01-20T19:12:41.364" v="1474" actId="47"/>
        <pc:sldMkLst>
          <pc:docMk/>
          <pc:sldMk cId="1217006793" sldId="270"/>
        </pc:sldMkLst>
        <pc:spChg chg="mod">
          <ac:chgData name="Christina Christopher" userId="8b3eaec8d7c85b0d" providerId="LiveId" clId="{400EE541-DB78-4F11-907F-0F4133EA7749}" dt="2022-01-20T19:07:57.970" v="1184" actId="27636"/>
          <ac:spMkLst>
            <pc:docMk/>
            <pc:sldMk cId="1217006793" sldId="270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9:10:36.712" v="1441" actId="113"/>
          <ac:spMkLst>
            <pc:docMk/>
            <pc:sldMk cId="1217006793" sldId="270"/>
            <ac:spMk id="14" creationId="{00000000-0000-0000-0000-000000000000}"/>
          </ac:spMkLst>
        </pc:spChg>
      </pc:sldChg>
      <pc:sldChg chg="modSp add mod">
        <pc:chgData name="Christina Christopher" userId="8b3eaec8d7c85b0d" providerId="LiveId" clId="{400EE541-DB78-4F11-907F-0F4133EA7749}" dt="2022-01-20T19:12:23.126" v="1473" actId="20577"/>
        <pc:sldMkLst>
          <pc:docMk/>
          <pc:sldMk cId="547436841" sldId="271"/>
        </pc:sldMkLst>
        <pc:spChg chg="mod">
          <ac:chgData name="Christina Christopher" userId="8b3eaec8d7c85b0d" providerId="LiveId" clId="{400EE541-DB78-4F11-907F-0F4133EA7749}" dt="2022-01-20T19:12:23.126" v="1473" actId="20577"/>
          <ac:spMkLst>
            <pc:docMk/>
            <pc:sldMk cId="547436841" sldId="271"/>
            <ac:spMk id="14" creationId="{00000000-0000-0000-0000-000000000000}"/>
          </ac:spMkLst>
        </pc:spChg>
      </pc:sldChg>
      <pc:sldChg chg="modSp add mod">
        <pc:chgData name="Christina Christopher" userId="8b3eaec8d7c85b0d" providerId="LiveId" clId="{400EE541-DB78-4F11-907F-0F4133EA7749}" dt="2022-01-20T19:14:28.197" v="1719" actId="14100"/>
        <pc:sldMkLst>
          <pc:docMk/>
          <pc:sldMk cId="3940228988" sldId="272"/>
        </pc:sldMkLst>
        <pc:spChg chg="mod">
          <ac:chgData name="Christina Christopher" userId="8b3eaec8d7c85b0d" providerId="LiveId" clId="{400EE541-DB78-4F11-907F-0F4133EA7749}" dt="2022-01-20T19:12:50.212" v="1496" actId="20577"/>
          <ac:spMkLst>
            <pc:docMk/>
            <pc:sldMk cId="3940228988" sldId="272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9:14:28.197" v="1719" actId="14100"/>
          <ac:spMkLst>
            <pc:docMk/>
            <pc:sldMk cId="3940228988" sldId="272"/>
            <ac:spMk id="14" creationId="{00000000-0000-0000-0000-000000000000}"/>
          </ac:spMkLst>
        </pc:spChg>
      </pc:sldChg>
      <pc:sldChg chg="modSp add mod">
        <pc:chgData name="Christina Christopher" userId="8b3eaec8d7c85b0d" providerId="LiveId" clId="{400EE541-DB78-4F11-907F-0F4133EA7749}" dt="2022-01-20T19:18:34.927" v="2221" actId="20577"/>
        <pc:sldMkLst>
          <pc:docMk/>
          <pc:sldMk cId="4236380686" sldId="273"/>
        </pc:sldMkLst>
        <pc:spChg chg="mod">
          <ac:chgData name="Christina Christopher" userId="8b3eaec8d7c85b0d" providerId="LiveId" clId="{400EE541-DB78-4F11-907F-0F4133EA7749}" dt="2022-01-20T19:16:15.133" v="1822" actId="20577"/>
          <ac:spMkLst>
            <pc:docMk/>
            <pc:sldMk cId="4236380686" sldId="273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9:18:34.927" v="2221" actId="20577"/>
          <ac:spMkLst>
            <pc:docMk/>
            <pc:sldMk cId="4236380686" sldId="273"/>
            <ac:spMk id="14" creationId="{00000000-0000-0000-0000-000000000000}"/>
          </ac:spMkLst>
        </pc:spChg>
      </pc:sldChg>
      <pc:sldChg chg="modSp add mod">
        <pc:chgData name="Christina Christopher" userId="8b3eaec8d7c85b0d" providerId="LiveId" clId="{400EE541-DB78-4F11-907F-0F4133EA7749}" dt="2022-01-20T19:20:23.701" v="2510" actId="20577"/>
        <pc:sldMkLst>
          <pc:docMk/>
          <pc:sldMk cId="2853416899" sldId="274"/>
        </pc:sldMkLst>
        <pc:spChg chg="mod">
          <ac:chgData name="Christina Christopher" userId="8b3eaec8d7c85b0d" providerId="LiveId" clId="{400EE541-DB78-4F11-907F-0F4133EA7749}" dt="2022-01-20T19:18:59.044" v="2242" actId="20577"/>
          <ac:spMkLst>
            <pc:docMk/>
            <pc:sldMk cId="2853416899" sldId="274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9:20:23.701" v="2510" actId="20577"/>
          <ac:spMkLst>
            <pc:docMk/>
            <pc:sldMk cId="2853416899" sldId="274"/>
            <ac:spMk id="14" creationId="{00000000-0000-0000-0000-000000000000}"/>
          </ac:spMkLst>
        </pc:spChg>
      </pc:sldChg>
      <pc:sldChg chg="addSp modSp add mod">
        <pc:chgData name="Christina Christopher" userId="8b3eaec8d7c85b0d" providerId="LiveId" clId="{400EE541-DB78-4F11-907F-0F4133EA7749}" dt="2022-01-20T19:42:22.555" v="2649"/>
        <pc:sldMkLst>
          <pc:docMk/>
          <pc:sldMk cId="3571995309" sldId="275"/>
        </pc:sldMkLst>
        <pc:spChg chg="add mod">
          <ac:chgData name="Christina Christopher" userId="8b3eaec8d7c85b0d" providerId="LiveId" clId="{400EE541-DB78-4F11-907F-0F4133EA7749}" dt="2022-01-20T19:42:22.555" v="2649"/>
          <ac:spMkLst>
            <pc:docMk/>
            <pc:sldMk cId="3571995309" sldId="275"/>
            <ac:spMk id="4" creationId="{8C496EA3-B20B-4C8B-A924-499C470DA239}"/>
          </ac:spMkLst>
        </pc:spChg>
        <pc:spChg chg="mod">
          <ac:chgData name="Christina Christopher" userId="8b3eaec8d7c85b0d" providerId="LiveId" clId="{400EE541-DB78-4F11-907F-0F4133EA7749}" dt="2022-01-20T19:21:05.826" v="2531" actId="20577"/>
          <ac:spMkLst>
            <pc:docMk/>
            <pc:sldMk cId="3571995309" sldId="275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9:22:13.428" v="2647" actId="14100"/>
          <ac:spMkLst>
            <pc:docMk/>
            <pc:sldMk cId="3571995309" sldId="275"/>
            <ac:spMk id="14" creationId="{00000000-0000-0000-0000-000000000000}"/>
          </ac:spMkLst>
        </pc:spChg>
      </pc:sldChg>
      <pc:sldChg chg="addSp modSp add mod">
        <pc:chgData name="Christina Christopher" userId="8b3eaec8d7c85b0d" providerId="LiveId" clId="{400EE541-DB78-4F11-907F-0F4133EA7749}" dt="2022-01-20T19:45:58.782" v="2876" actId="1076"/>
        <pc:sldMkLst>
          <pc:docMk/>
          <pc:sldMk cId="657179489" sldId="276"/>
        </pc:sldMkLst>
        <pc:spChg chg="add mod">
          <ac:chgData name="Christina Christopher" userId="8b3eaec8d7c85b0d" providerId="LiveId" clId="{400EE541-DB78-4F11-907F-0F4133EA7749}" dt="2022-01-20T19:45:58.782" v="2876" actId="1076"/>
          <ac:spMkLst>
            <pc:docMk/>
            <pc:sldMk cId="657179489" sldId="276"/>
            <ac:spMk id="5" creationId="{49644D5F-31EF-4169-B5B3-69A09B9499F0}"/>
          </ac:spMkLst>
        </pc:spChg>
        <pc:spChg chg="mod">
          <ac:chgData name="Christina Christopher" userId="8b3eaec8d7c85b0d" providerId="LiveId" clId="{400EE541-DB78-4F11-907F-0F4133EA7749}" dt="2022-01-20T19:42:30.177" v="2674" actId="20577"/>
          <ac:spMkLst>
            <pc:docMk/>
            <pc:sldMk cId="657179489" sldId="276"/>
            <ac:spMk id="13" creationId="{00000000-0000-0000-0000-000000000000}"/>
          </ac:spMkLst>
        </pc:spChg>
        <pc:spChg chg="mod">
          <ac:chgData name="Christina Christopher" userId="8b3eaec8d7c85b0d" providerId="LiveId" clId="{400EE541-DB78-4F11-907F-0F4133EA7749}" dt="2022-01-20T19:43:27.527" v="2874" actId="20577"/>
          <ac:spMkLst>
            <pc:docMk/>
            <pc:sldMk cId="657179489" sldId="276"/>
            <ac:spMk id="14" creationId="{00000000-0000-0000-0000-000000000000}"/>
          </ac:spMkLst>
        </pc:spChg>
      </pc:sldChg>
      <pc:sldChg chg="modSp new add del mod">
        <pc:chgData name="Christina Christopher" userId="8b3eaec8d7c85b0d" providerId="LiveId" clId="{400EE541-DB78-4F11-907F-0F4133EA7749}" dt="2022-01-20T19:47:26.544" v="2922" actId="47"/>
        <pc:sldMkLst>
          <pc:docMk/>
          <pc:sldMk cId="1587806568" sldId="277"/>
        </pc:sldMkLst>
        <pc:spChg chg="mod">
          <ac:chgData name="Christina Christopher" userId="8b3eaec8d7c85b0d" providerId="LiveId" clId="{400EE541-DB78-4F11-907F-0F4133EA7749}" dt="2022-01-20T19:46:32.676" v="2912" actId="1076"/>
          <ac:spMkLst>
            <pc:docMk/>
            <pc:sldMk cId="1587806568" sldId="277"/>
            <ac:spMk id="2" creationId="{6D3936FC-9DBF-47A8-866C-B65ABAF609C7}"/>
          </ac:spMkLst>
        </pc:spChg>
      </pc:sldChg>
      <pc:sldChg chg="add del modTransition setBg">
        <pc:chgData name="Christina Christopher" userId="8b3eaec8d7c85b0d" providerId="LiveId" clId="{400EE541-DB78-4F11-907F-0F4133EA7749}" dt="2022-01-20T19:47:06.110" v="2915"/>
        <pc:sldMkLst>
          <pc:docMk/>
          <pc:sldMk cId="3014061704" sldId="319"/>
        </pc:sldMkLst>
      </pc:sldChg>
      <pc:sldChg chg="delSp modSp add del mod modTransition setBg delAnim">
        <pc:chgData name="Christina Christopher" userId="8b3eaec8d7c85b0d" providerId="LiveId" clId="{400EE541-DB78-4F11-907F-0F4133EA7749}" dt="2022-01-20T19:47:25.138" v="2921" actId="1076"/>
        <pc:sldMkLst>
          <pc:docMk/>
          <pc:sldMk cId="4141263585" sldId="320"/>
        </pc:sldMkLst>
        <pc:spChg chg="mod">
          <ac:chgData name="Christina Christopher" userId="8b3eaec8d7c85b0d" providerId="LiveId" clId="{400EE541-DB78-4F11-907F-0F4133EA7749}" dt="2022-01-20T19:47:25.138" v="2921" actId="1076"/>
          <ac:spMkLst>
            <pc:docMk/>
            <pc:sldMk cId="4141263585" sldId="320"/>
            <ac:spMk id="8" creationId="{A850B972-0B7A-40CD-9E79-07E8A87AB03C}"/>
          </ac:spMkLst>
        </pc:spChg>
        <pc:spChg chg="del">
          <ac:chgData name="Christina Christopher" userId="8b3eaec8d7c85b0d" providerId="LiveId" clId="{400EE541-DB78-4F11-907F-0F4133EA7749}" dt="2022-01-20T19:47:20.807" v="2919" actId="478"/>
          <ac:spMkLst>
            <pc:docMk/>
            <pc:sldMk cId="4141263585" sldId="320"/>
            <ac:spMk id="15" creationId="{E9C1AE30-F116-4175-9352-C9A668995F7E}"/>
          </ac:spMkLst>
        </pc:spChg>
      </pc:sldChg>
      <pc:sldChg chg="add del modTransition setBg">
        <pc:chgData name="Christina Christopher" userId="8b3eaec8d7c85b0d" providerId="LiveId" clId="{400EE541-DB78-4F11-907F-0F4133EA7749}" dt="2022-01-20T19:47:06.110" v="2915"/>
        <pc:sldMkLst>
          <pc:docMk/>
          <pc:sldMk cId="3812085465" sldId="321"/>
        </pc:sldMkLst>
      </pc:sldChg>
      <pc:sldChg chg="add">
        <pc:chgData name="Christina Christopher" userId="8b3eaec8d7c85b0d" providerId="LiveId" clId="{400EE541-DB78-4F11-907F-0F4133EA7749}" dt="2022-01-20T19:47:12.779" v="2916" actId="2890"/>
        <pc:sldMkLst>
          <pc:docMk/>
          <pc:sldMk cId="2588551873" sldId="3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60FF6-4F02-41AF-9D79-9820270FCBD6}" type="datetimeFigureOut">
              <a:rPr lang="en-US" smtClean="0"/>
              <a:t>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7CFDA-6ECB-4984-BC1D-18C52F4245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25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609C5-75BB-4414-9338-7A1C0CAD17B5}" type="datetimeFigureOut">
              <a:rPr lang="en-US" smtClean="0"/>
              <a:t>2/17/2025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BF0A6-9DE7-4D4F-86C7-D6F614E294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90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BF0A6-9DE7-4D4F-86C7-D6F614E2948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26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2">
                  <a:lumMod val="40000"/>
                  <a:lumOff val="60000"/>
                </a:scheme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6012180" y="359898"/>
            <a:ext cx="57734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pic>
        <p:nvPicPr>
          <p:cNvPr id="2" name="Picture 1" descr="Close up of a light bulb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"/>
            <a:ext cx="5864352" cy="6851904"/>
          </a:xfrm>
          <a:prstGeom prst="rect">
            <a:avLst/>
          </a:prstGeom>
        </p:spPr>
      </p:pic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6012180" y="1850064"/>
            <a:ext cx="57734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E7ED-526C-43D7-BA41-7DEE51FD568E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5177-F084-49E7-ADEE-00812B3D582B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11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422400" y="-54"/>
            <a:ext cx="1076545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940" y="2600325"/>
            <a:ext cx="10166316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4" name="Picture 13" descr="Close up of light filament of a half bulb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4507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5940" y="1066800"/>
            <a:ext cx="10166316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39ED-27B9-4997-BF90-3A238D0607E9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0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C4FCC-F745-44A0-B2E4-C91714F31EB6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6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0EA4-DCC4-4D4C-953F-F31E92EE505C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50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42F08-6BA5-45A1-80AB-C11AC921B6C6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5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D82A9-7CD7-4D15-868B-D8AF30864858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34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778"/>
            <a:ext cx="108712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06964"/>
            <a:ext cx="108712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BC6A-4AB7-47F1-904A-90BC8DD816B4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23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0BC9A-EBF0-4E12-A1D3-DD221366B0A1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22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403F-04F5-4D09-800D-7870715B9ED9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7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687C-0397-4298-B160-26D34EC67BB0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4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 descr="Close up of a light bulb"/>
          <p:cNvGrpSpPr/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Rectangle 1"/>
            <p:cNvSpPr/>
            <p:nvPr userDrawn="1"/>
          </p:nvSpPr>
          <p:spPr>
            <a:xfrm>
              <a:off x="0" y="0"/>
              <a:ext cx="12188952" cy="6858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45079" cy="6858000"/>
            </a:xfrm>
            <a:prstGeom prst="rect">
              <a:avLst/>
            </a:prstGeom>
          </p:spPr>
        </p:pic>
      </p:grp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  <a:extLst/>
          </a:lstStyle>
          <a:p>
            <a:fld id="{7157590A-740B-4548-A79B-F8E5167210D0}" type="datetime1">
              <a:rPr lang="en-US" smtClean="0"/>
              <a:t>2/17/2025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1"/>
                </a:solidFill>
                <a:effectLst/>
              </a:defRPr>
            </a:lvl1pPr>
            <a:extLst/>
          </a:lstStyle>
          <a:p>
            <a:r>
              <a:rPr lang="en-US" dirty="0"/>
              <a:t>Add a footer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79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b="0" kern="1200">
          <a:solidFill>
            <a:schemeClr val="accent1"/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history.com/this-day-in-history/fords-assembly-line-starts-rolling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deo.com/blog/%7basset:52014:url%7d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91C376B-E75D-4EBD-A189-17186E6CF30B}"/>
              </a:ext>
            </a:extLst>
          </p:cNvPr>
          <p:cNvSpPr txBox="1">
            <a:spLocks/>
          </p:cNvSpPr>
          <p:nvPr/>
        </p:nvSpPr>
        <p:spPr>
          <a:xfrm>
            <a:off x="5919536" y="0"/>
            <a:ext cx="5693343" cy="3593054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b="0" kern="120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br>
              <a:rPr lang="en-US" sz="8800" b="1" dirty="0"/>
            </a:br>
            <a:r>
              <a:rPr lang="en-US" sz="8800" dirty="0">
                <a:solidFill>
                  <a:schemeClr val="tx1"/>
                </a:solidFill>
              </a:rPr>
              <a:t>Design</a:t>
            </a:r>
            <a:br>
              <a:rPr lang="en-US" sz="8800" dirty="0">
                <a:solidFill>
                  <a:schemeClr val="tx1"/>
                </a:solidFill>
              </a:rPr>
            </a:br>
            <a:r>
              <a:rPr lang="en-US" sz="8800" b="1" dirty="0"/>
              <a:t>THINKING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0E7F31CE-1A4D-4215-9435-0B152A8CA757}"/>
              </a:ext>
            </a:extLst>
          </p:cNvPr>
          <p:cNvSpPr txBox="1">
            <a:spLocks/>
          </p:cNvSpPr>
          <p:nvPr/>
        </p:nvSpPr>
        <p:spPr>
          <a:xfrm>
            <a:off x="6096000" y="5735619"/>
            <a:ext cx="4165694" cy="1122381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800" dirty="0"/>
              <a:t>Dr. Lakshmi S,</a:t>
            </a:r>
          </a:p>
          <a:p>
            <a:r>
              <a:rPr lang="en-US" sz="2800" dirty="0"/>
              <a:t>Dept. of ECE, RIT </a:t>
            </a: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3FB63ACB-3A17-43CF-8476-A56C0CF65A00}"/>
              </a:ext>
            </a:extLst>
          </p:cNvPr>
          <p:cNvSpPr txBox="1">
            <a:spLocks/>
          </p:cNvSpPr>
          <p:nvPr/>
        </p:nvSpPr>
        <p:spPr>
          <a:xfrm>
            <a:off x="6096000" y="4290770"/>
            <a:ext cx="4165694" cy="11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21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dirty="0"/>
              <a:t>Unit 3a </a:t>
            </a:r>
          </a:p>
        </p:txBody>
      </p:sp>
    </p:spTree>
    <p:extLst>
      <p:ext uri="{BB962C8B-B14F-4D97-AF65-F5344CB8AC3E}">
        <p14:creationId xmlns:p14="http://schemas.microsoft.com/office/powerpoint/2010/main" val="279058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677" y="0"/>
            <a:ext cx="9021154" cy="691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6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Demystifying creativity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1447800"/>
            <a:ext cx="9997440" cy="1981200"/>
          </a:xfrm>
        </p:spPr>
        <p:txBody>
          <a:bodyPr/>
          <a:lstStyle/>
          <a:p>
            <a:pPr marL="82296" lvl="0" indent="0">
              <a:buNone/>
            </a:pPr>
            <a:r>
              <a:rPr lang="en-US" b="1" dirty="0"/>
              <a:t>Myth 1</a:t>
            </a:r>
            <a:r>
              <a:rPr lang="en-US" dirty="0"/>
              <a:t>: Ideas are generated by lone </a:t>
            </a:r>
            <a:r>
              <a:rPr lang="en-US" b="1" dirty="0"/>
              <a:t>geniuses</a:t>
            </a:r>
            <a:r>
              <a:rPr lang="en-US" dirty="0"/>
              <a:t> </a:t>
            </a:r>
          </a:p>
          <a:p>
            <a:pPr marL="82296" lvl="0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b="1" dirty="0"/>
              <a:t>Myth 2</a:t>
            </a:r>
            <a:r>
              <a:rPr lang="en-US" dirty="0"/>
              <a:t>: Ideas are generated by </a:t>
            </a:r>
            <a:r>
              <a:rPr lang="en-US" b="1" dirty="0"/>
              <a:t>lone </a:t>
            </a:r>
            <a:r>
              <a:rPr lang="en-US" dirty="0"/>
              <a:t>geniuses </a:t>
            </a:r>
          </a:p>
          <a:p>
            <a:pPr marL="82296" lvl="0" indent="0">
              <a:buNone/>
            </a:pPr>
            <a:endParaRPr lang="en-US" dirty="0"/>
          </a:p>
        </p:txBody>
      </p:sp>
      <p:pic>
        <p:nvPicPr>
          <p:cNvPr id="1026" name="Picture 2" descr="Planet Byte: Steve Jobs | “people don&amp;#39;t know what they want”">
            <a:extLst>
              <a:ext uri="{FF2B5EF4-FFF2-40B4-BE49-F238E27FC236}">
                <a16:creationId xmlns:a16="http://schemas.microsoft.com/office/drawing/2014/main" id="{CD06C32E-62F6-4115-9376-4762A2C97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5" y="3628724"/>
            <a:ext cx="3896329" cy="2924476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8655CA17-1900-4EF6-9996-4782DA5FC2D6}"/>
              </a:ext>
            </a:extLst>
          </p:cNvPr>
          <p:cNvSpPr txBox="1">
            <a:spLocks/>
          </p:cNvSpPr>
          <p:nvPr/>
        </p:nvSpPr>
        <p:spPr>
          <a:xfrm>
            <a:off x="6458552" y="3941545"/>
            <a:ext cx="4283242" cy="19812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ctr">
              <a:buFont typeface="Wingdings 2"/>
              <a:buNone/>
            </a:pPr>
            <a:r>
              <a:rPr lang="en-US" b="1" dirty="0"/>
              <a:t>Did you think Thomas Edison sat alone in a garage and thought of solutions?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42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Demystifying creativity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1447800"/>
            <a:ext cx="9997440" cy="1981200"/>
          </a:xfrm>
        </p:spPr>
        <p:txBody>
          <a:bodyPr>
            <a:normAutofit fontScale="92500" lnSpcReduction="10000"/>
          </a:bodyPr>
          <a:lstStyle/>
          <a:p>
            <a:pPr marL="82296" lvl="0" indent="0">
              <a:buNone/>
            </a:pPr>
            <a:r>
              <a:rPr lang="en-US" b="1" dirty="0"/>
              <a:t>Truth 1</a:t>
            </a:r>
            <a:r>
              <a:rPr lang="en-US" dirty="0"/>
              <a:t>: With practice, anyone can generate good ideas</a:t>
            </a:r>
          </a:p>
          <a:p>
            <a:pPr marL="82296" indent="0">
              <a:buNone/>
            </a:pPr>
            <a:r>
              <a:rPr lang="en-US" b="1" dirty="0"/>
              <a:t>Truth 2</a:t>
            </a:r>
            <a:r>
              <a:rPr lang="en-US" dirty="0"/>
              <a:t>: Good innovators also need a team! And need to stand on the shoulders of giants!</a:t>
            </a:r>
          </a:p>
          <a:p>
            <a:pPr marL="82296" lvl="0" indent="0">
              <a:buNone/>
            </a:pPr>
            <a:endParaRPr lang="en-US" dirty="0"/>
          </a:p>
        </p:txBody>
      </p:sp>
      <p:pic>
        <p:nvPicPr>
          <p:cNvPr id="1026" name="Picture 2" descr="Planet Byte: Steve Jobs | “people don&amp;#39;t know what they want”">
            <a:extLst>
              <a:ext uri="{FF2B5EF4-FFF2-40B4-BE49-F238E27FC236}">
                <a16:creationId xmlns:a16="http://schemas.microsoft.com/office/drawing/2014/main" id="{CD06C32E-62F6-4115-9376-4762A2C97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5" y="3628724"/>
            <a:ext cx="3896329" cy="2924476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8655CA17-1900-4EF6-9996-4782DA5FC2D6}"/>
              </a:ext>
            </a:extLst>
          </p:cNvPr>
          <p:cNvSpPr txBox="1">
            <a:spLocks/>
          </p:cNvSpPr>
          <p:nvPr/>
        </p:nvSpPr>
        <p:spPr>
          <a:xfrm>
            <a:off x="6458552" y="3941544"/>
            <a:ext cx="4283242" cy="232450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ctr">
              <a:buFont typeface="Wingdings 2"/>
              <a:buNone/>
            </a:pPr>
            <a:r>
              <a:rPr lang="en-US" b="1" dirty="0"/>
              <a:t>Thomas Edison worked with a team of 40 people in a large-scale research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350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David Kelley quotes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Creative confidence like a muscle which can be strengthened and nurtured through effort and experience,</a:t>
            </a:r>
          </a:p>
          <a:p>
            <a:r>
              <a:rPr lang="en-IN" dirty="0"/>
              <a:t>Design is a sport in which you have to participate.</a:t>
            </a:r>
          </a:p>
          <a:p>
            <a:r>
              <a:rPr lang="en-IN" dirty="0"/>
              <a:t>You need to train like the athletes.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4862945"/>
            <a:ext cx="19431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57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012180" y="187035"/>
            <a:ext cx="5773420" cy="683721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Henry Ford's assembly line in the 1920s revolutionized American manufacturing and made it possible to produce the Model T at a much faster rate</a:t>
            </a:r>
          </a:p>
          <a:p>
            <a:pPr algn="just"/>
            <a:r>
              <a:rPr lang="en-US" dirty="0"/>
              <a:t>This idea derived from soldiers who used to repair broken rifles and from the meat processing industry which used conveyors for sending the carcasses.</a:t>
            </a:r>
          </a:p>
          <a:p>
            <a:pPr algn="just" fontAlgn="ctr"/>
            <a:r>
              <a:rPr lang="en-US" dirty="0"/>
              <a:t>The assembly line had several benefits, including: </a:t>
            </a:r>
          </a:p>
          <a:p>
            <a:pPr algn="just" fontAlgn="ctr"/>
            <a:r>
              <a:rPr lang="en-US" dirty="0"/>
              <a:t>Lowering the price of the Model T </a:t>
            </a:r>
          </a:p>
          <a:p>
            <a:pPr algn="just" fontAlgn="ctr"/>
            <a:r>
              <a:rPr lang="en-US" dirty="0"/>
              <a:t>Allowing Ford Motor Company to operate 24 hours a day </a:t>
            </a:r>
          </a:p>
          <a:p>
            <a:pPr algn="just" fontAlgn="ctr"/>
            <a:r>
              <a:rPr lang="en-US" dirty="0"/>
              <a:t>Providing jobs that almost anyone could do </a:t>
            </a:r>
          </a:p>
          <a:p>
            <a:pPr fontAlgn="ctr"/>
            <a:endParaRPr lang="en-US" dirty="0"/>
          </a:p>
          <a:p>
            <a:r>
              <a:rPr lang="en-US" dirty="0"/>
              <a:t>Providing employment to immigrants </a:t>
            </a:r>
          </a:p>
          <a:p>
            <a:r>
              <a:rPr lang="en-US" dirty="0">
                <a:hlinkClick r:id="rId2"/>
              </a:rPr>
              <a:t>https://www.history.com/this-day-in-history/fords-assembly-line-starts-rolling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036"/>
            <a:ext cx="57553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2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Takeaways from the Edison and Ford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IN" dirty="0"/>
              <a:t>These innovators worked in teams</a:t>
            </a:r>
          </a:p>
          <a:p>
            <a:pPr marL="82296" indent="0">
              <a:buNone/>
            </a:pPr>
            <a:r>
              <a:rPr lang="en-US" dirty="0"/>
              <a:t>Their ideas were a culmination of old ideas put forth in a new way.</a:t>
            </a:r>
          </a:p>
          <a:p>
            <a:r>
              <a:rPr lang="en-US" dirty="0"/>
              <a:t>Collaborative work to generate diverse creative ideas.</a:t>
            </a:r>
          </a:p>
          <a:p>
            <a:r>
              <a:rPr lang="en-US" dirty="0"/>
              <a:t>Yes these innovators are brilliant but many times their innovations arise from the work and ideas of others who accompanied or preceded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92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837549" y="2148841"/>
            <a:ext cx="9997440" cy="1981200"/>
          </a:xfrm>
          <a:solidFill>
            <a:srgbClr val="FFFF00"/>
          </a:solidFill>
        </p:spPr>
        <p:txBody>
          <a:bodyPr>
            <a:normAutofit lnSpcReduction="10000"/>
          </a:bodyPr>
          <a:lstStyle/>
          <a:p>
            <a:pPr marL="82296" lvl="0" indent="0">
              <a:buNone/>
            </a:pPr>
            <a:r>
              <a:rPr lang="en-US" dirty="0">
                <a:solidFill>
                  <a:srgbClr val="7030A0"/>
                </a:solidFill>
              </a:rPr>
              <a:t>A person’s creative work is constructed based on the work that came be before it; it is a new mixture of different works or a new version on previous works</a:t>
            </a:r>
          </a:p>
        </p:txBody>
      </p:sp>
      <p:sp>
        <p:nvSpPr>
          <p:cNvPr id="6" name="Content Placeholder 13"/>
          <p:cNvSpPr txBox="1">
            <a:spLocks/>
          </p:cNvSpPr>
          <p:nvPr/>
        </p:nvSpPr>
        <p:spPr>
          <a:xfrm>
            <a:off x="1837549" y="286197"/>
            <a:ext cx="9997440" cy="1139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Font typeface="Wingdings 2"/>
              <a:buNone/>
            </a:pPr>
            <a:r>
              <a:rPr lang="en-US" dirty="0">
                <a:solidFill>
                  <a:srgbClr val="7030A0"/>
                </a:solidFill>
              </a:rPr>
              <a:t>Austin </a:t>
            </a:r>
            <a:r>
              <a:rPr lang="en-US" dirty="0" err="1">
                <a:solidFill>
                  <a:srgbClr val="7030A0"/>
                </a:solidFill>
              </a:rPr>
              <a:t>Kleon</a:t>
            </a:r>
            <a:r>
              <a:rPr lang="en-US" dirty="0">
                <a:solidFill>
                  <a:srgbClr val="7030A0"/>
                </a:solidFill>
              </a:rPr>
              <a:t> has stated in </a:t>
            </a:r>
            <a:r>
              <a:rPr lang="en-US" i="1" dirty="0">
                <a:solidFill>
                  <a:srgbClr val="002060"/>
                </a:solidFill>
              </a:rPr>
              <a:t>Steal Like an Artist:</a:t>
            </a:r>
          </a:p>
          <a:p>
            <a:pPr marL="82296" indent="0">
              <a:buFont typeface="Wingdings 2"/>
              <a:buNone/>
            </a:pPr>
            <a:r>
              <a:rPr lang="en-US" i="1" dirty="0"/>
              <a:t>Noting is Completely Original</a:t>
            </a:r>
          </a:p>
        </p:txBody>
      </p:sp>
      <p:sp>
        <p:nvSpPr>
          <p:cNvPr id="7" name="Content Placeholder 13"/>
          <p:cNvSpPr txBox="1">
            <a:spLocks/>
          </p:cNvSpPr>
          <p:nvPr/>
        </p:nvSpPr>
        <p:spPr>
          <a:xfrm>
            <a:off x="1837549" y="4853049"/>
            <a:ext cx="9997440" cy="1139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Font typeface="Wingdings 2"/>
              <a:buNone/>
            </a:pPr>
            <a:r>
              <a:rPr lang="en-US" dirty="0">
                <a:solidFill>
                  <a:srgbClr val="7030A0"/>
                </a:solidFill>
              </a:rPr>
              <a:t>Liberate from the pressure and false notion of creating original ideas from nothing</a:t>
            </a:r>
          </a:p>
        </p:txBody>
      </p:sp>
    </p:spTree>
    <p:extLst>
      <p:ext uri="{BB962C8B-B14F-4D97-AF65-F5344CB8AC3E}">
        <p14:creationId xmlns:p14="http://schemas.microsoft.com/office/powerpoint/2010/main" val="270032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0648" y="1273937"/>
            <a:ext cx="5244085" cy="52440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67873" y="3205698"/>
            <a:ext cx="1877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Jeff Bezos Story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4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predecessor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1447799"/>
            <a:ext cx="9997440" cy="3653589"/>
          </a:xfrm>
        </p:spPr>
        <p:txBody>
          <a:bodyPr>
            <a:normAutofit/>
          </a:bodyPr>
          <a:lstStyle/>
          <a:p>
            <a:pPr marL="82296" lvl="0" indent="0">
              <a:buNone/>
            </a:pPr>
            <a:r>
              <a:rPr lang="en-US" b="1" dirty="0"/>
              <a:t>Volunteer!</a:t>
            </a:r>
          </a:p>
          <a:p>
            <a:pPr marL="82296" lvl="0" indent="0">
              <a:buNone/>
            </a:pPr>
            <a:endParaRPr lang="en-US" b="1" dirty="0"/>
          </a:p>
          <a:p>
            <a:pPr marL="82296" lvl="0" indent="0" algn="just">
              <a:buNone/>
            </a:pPr>
            <a:r>
              <a:rPr lang="en-US" dirty="0"/>
              <a:t>One student is to mention a modern day invention, others have to say what were its predecessors, and what theories had to be in place for the invention to come about</a:t>
            </a:r>
          </a:p>
        </p:txBody>
      </p:sp>
    </p:spTree>
    <p:extLst>
      <p:ext uri="{BB962C8B-B14F-4D97-AF65-F5344CB8AC3E}">
        <p14:creationId xmlns:p14="http://schemas.microsoft.com/office/powerpoint/2010/main" val="243289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Invention: Smartphone</a:t>
            </a:r>
          </a:p>
          <a:p>
            <a:r>
              <a:rPr lang="en-US" b="1" dirty="0"/>
              <a:t>Predecessors:</a:t>
            </a:r>
          </a:p>
          <a:p>
            <a:r>
              <a:rPr lang="en-US" b="1" dirty="0"/>
              <a:t>Landline Telephones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Before smartphones, the most common communication devices were landline telephones, which used analog signals to transmit voice over a copper wire network.</a:t>
            </a:r>
          </a:p>
          <a:p>
            <a:r>
              <a:rPr lang="en-US" b="1" dirty="0"/>
              <a:t>Mobile Phones (Cell Phones)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mobile phone evolved from the landline telephone and allowed for wireless voice communication. Early mobile phones were bulky and used analog signals (first-generation, or 1G), and later transitioned to digital signals (2G, 3G).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17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3D Printing</a:t>
            </a:r>
          </a:p>
          <a:p>
            <a:r>
              <a:rPr lang="en-US" b="1" dirty="0"/>
              <a:t>Predecessor</a:t>
            </a:r>
            <a:r>
              <a:rPr lang="en-US" dirty="0"/>
              <a:t>: Traditional Manufacturing (CNC machines, molds)</a:t>
            </a:r>
          </a:p>
          <a:p>
            <a:pPr lvl="1"/>
            <a:r>
              <a:rPr lang="en-US" dirty="0"/>
              <a:t>Traditional manufacturing involved subtracting material from a block or casting it into molds to create products.</a:t>
            </a:r>
          </a:p>
          <a:p>
            <a:r>
              <a:rPr lang="en-US" b="1" dirty="0"/>
              <a:t>Modern Invention</a:t>
            </a:r>
            <a:r>
              <a:rPr lang="en-US" dirty="0"/>
              <a:t>: 3D Printing</a:t>
            </a:r>
          </a:p>
          <a:p>
            <a:pPr lvl="1"/>
            <a:r>
              <a:rPr lang="en-US" dirty="0"/>
              <a:t>3D printers create objects layer by layer from digital models, revolutionizing industries from manufacturing to healthcare.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203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Social Media</a:t>
            </a:r>
          </a:p>
          <a:p>
            <a:r>
              <a:rPr lang="en-IN" b="1" dirty="0"/>
              <a:t>Predecessor</a:t>
            </a:r>
            <a:r>
              <a:rPr lang="en-IN" dirty="0"/>
              <a:t>: Bulletin Boards &amp; Early Internet Communication (IRC, Usenet)</a:t>
            </a:r>
          </a:p>
          <a:p>
            <a:pPr lvl="1"/>
            <a:r>
              <a:rPr lang="en-IN" dirty="0"/>
              <a:t>Before social media, early internet users communicated through text-based forums and early online communities.</a:t>
            </a:r>
          </a:p>
          <a:p>
            <a:r>
              <a:rPr lang="en-IN" b="1" dirty="0"/>
              <a:t>Modern Invention</a:t>
            </a:r>
            <a:r>
              <a:rPr lang="en-IN" dirty="0"/>
              <a:t>: Platforms like Facebook, Twitter, </a:t>
            </a:r>
            <a:r>
              <a:rPr lang="en-IN" dirty="0" err="1"/>
              <a:t>Instagram</a:t>
            </a:r>
            <a:endParaRPr lang="en-IN" dirty="0"/>
          </a:p>
          <a:p>
            <a:pPr lvl="1"/>
            <a:r>
              <a:rPr lang="en-IN" dirty="0"/>
              <a:t>These platforms enable real-time communication, sharing of photos, videos, and thoughts, and global interaction.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99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err="1"/>
              <a:t>Blockchain</a:t>
            </a:r>
            <a:r>
              <a:rPr lang="en-IN" b="1" dirty="0"/>
              <a:t> Technology</a:t>
            </a:r>
          </a:p>
          <a:p>
            <a:r>
              <a:rPr lang="en-IN" b="1" dirty="0"/>
              <a:t>Predecessor</a:t>
            </a:r>
            <a:r>
              <a:rPr lang="en-IN" dirty="0"/>
              <a:t>: Traditional Banking and Centralized Systems</a:t>
            </a:r>
          </a:p>
          <a:p>
            <a:pPr lvl="1"/>
            <a:r>
              <a:rPr lang="en-IN" dirty="0"/>
              <a:t>Banking systems relied on centralized entities like banks to validate transactions and manage ledgers.</a:t>
            </a:r>
          </a:p>
          <a:p>
            <a:r>
              <a:rPr lang="en-IN" b="1" dirty="0"/>
              <a:t>Modern Invention</a:t>
            </a:r>
            <a:r>
              <a:rPr lang="en-IN" dirty="0"/>
              <a:t>: </a:t>
            </a:r>
            <a:r>
              <a:rPr lang="en-IN" dirty="0" err="1"/>
              <a:t>Blockchain</a:t>
            </a:r>
            <a:r>
              <a:rPr lang="en-IN" dirty="0"/>
              <a:t> and </a:t>
            </a:r>
            <a:r>
              <a:rPr lang="en-IN" dirty="0" err="1"/>
              <a:t>Cryptocurrencies</a:t>
            </a:r>
            <a:r>
              <a:rPr lang="en-IN" dirty="0"/>
              <a:t> (e.g., </a:t>
            </a:r>
            <a:r>
              <a:rPr lang="en-IN" dirty="0" err="1"/>
              <a:t>Bitcoin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A decentralized digital ledger technology that allows secure and transparent transactions without intermediaries, enabling </a:t>
            </a:r>
            <a:r>
              <a:rPr lang="en-IN" dirty="0" err="1"/>
              <a:t>cryptocurrencies</a:t>
            </a:r>
            <a:r>
              <a:rPr lang="en-IN" dirty="0"/>
              <a:t> and smart contracts.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65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Wireless Internet (Wi-Fi)</a:t>
            </a:r>
          </a:p>
          <a:p>
            <a:r>
              <a:rPr lang="en-US" b="1" dirty="0"/>
              <a:t>Predecessor</a:t>
            </a:r>
            <a:r>
              <a:rPr lang="en-US" dirty="0"/>
              <a:t>: Dial-up Internet / Wired Broadband</a:t>
            </a:r>
          </a:p>
          <a:p>
            <a:pPr lvl="1"/>
            <a:r>
              <a:rPr lang="en-US" dirty="0"/>
              <a:t>Early internet connections relied on dial-up modems, which used phone lines for internet access, and later on broadband via cables.</a:t>
            </a:r>
          </a:p>
          <a:p>
            <a:r>
              <a:rPr lang="en-US" b="1" dirty="0"/>
              <a:t>Modern Invention</a:t>
            </a:r>
            <a:r>
              <a:rPr lang="en-US" dirty="0"/>
              <a:t>: Wi-Fi and 5G</a:t>
            </a:r>
          </a:p>
          <a:p>
            <a:pPr lvl="1"/>
            <a:r>
              <a:rPr lang="en-US" dirty="0"/>
              <a:t>Wireless internet connectivity allows fast data transmission over short distances, enabling mobile devices and laptops to connect to the internet anywhere.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40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Virtual Reality (VR)</a:t>
            </a:r>
          </a:p>
          <a:p>
            <a:r>
              <a:rPr lang="en-US" b="1" dirty="0"/>
              <a:t>Predecessor</a:t>
            </a:r>
            <a:r>
              <a:rPr lang="en-US" dirty="0"/>
              <a:t>: Simulators and Early Computer Graphics</a:t>
            </a:r>
          </a:p>
          <a:p>
            <a:pPr lvl="1"/>
            <a:r>
              <a:rPr lang="en-US" dirty="0"/>
              <a:t>Before VR, flight simulators and arcade machines provided immersive experiences, but they were typically limited to specific environments.</a:t>
            </a:r>
          </a:p>
          <a:p>
            <a:r>
              <a:rPr lang="en-US" b="1" dirty="0"/>
              <a:t>Modern Invention</a:t>
            </a:r>
            <a:r>
              <a:rPr lang="en-US" dirty="0"/>
              <a:t>: Virtual Reality (e.g., Oculus Rift, HTC Vive)</a:t>
            </a:r>
          </a:p>
          <a:p>
            <a:pPr lvl="1"/>
            <a:r>
              <a:rPr lang="en-US" dirty="0"/>
              <a:t>Immersive VR technology creates 3D environments where users can interact with a digital world in a way that feels real, transforming entertainment, training, and healthcare.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57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Drones</a:t>
            </a:r>
          </a:p>
          <a:p>
            <a:r>
              <a:rPr lang="en-IN" b="1" dirty="0"/>
              <a:t>Predecessor</a:t>
            </a:r>
            <a:r>
              <a:rPr lang="en-IN" dirty="0"/>
              <a:t>: Remote-Controlled Airplanes and Helicopters</a:t>
            </a:r>
          </a:p>
          <a:p>
            <a:pPr lvl="1"/>
            <a:r>
              <a:rPr lang="en-IN" dirty="0"/>
              <a:t>Before drones, remote-controlled models were used for hobbies and military purposes but lacked autonomy.</a:t>
            </a:r>
          </a:p>
          <a:p>
            <a:r>
              <a:rPr lang="en-IN" b="1" dirty="0"/>
              <a:t>Modern Invention</a:t>
            </a:r>
            <a:r>
              <a:rPr lang="en-IN" dirty="0"/>
              <a:t>: Commercial Drones (e.g., DJI Phantom)</a:t>
            </a:r>
          </a:p>
          <a:p>
            <a:pPr lvl="1"/>
            <a:r>
              <a:rPr lang="en-IN" dirty="0"/>
              <a:t>Drones are equipped with cameras, sensors, and autonomous navigation systems for use in fields like delivery, photography, agriculture, and military surveillance.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52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IDEO – Shopping cart challenge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1447799"/>
            <a:ext cx="9997440" cy="3653589"/>
          </a:xfrm>
        </p:spPr>
        <p:txBody>
          <a:bodyPr>
            <a:normAutofit/>
          </a:bodyPr>
          <a:lstStyle/>
          <a:p>
            <a:pPr marL="82296" lvl="0" indent="0">
              <a:buNone/>
            </a:pPr>
            <a:r>
              <a:rPr lang="en-US" b="1" dirty="0"/>
              <a:t>www.youtube.com/watch?v=M66ZU2PCIcM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08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IDEO – Shopping cart challenge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1447799"/>
            <a:ext cx="9997440" cy="4423612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/>
              <a:t>PRINCIPLES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One conversation at a time</a:t>
            </a:r>
          </a:p>
          <a:p>
            <a:r>
              <a:rPr lang="en-US" dirty="0"/>
              <a:t>Stay focused</a:t>
            </a:r>
          </a:p>
          <a:p>
            <a:r>
              <a:rPr lang="en-US" dirty="0"/>
              <a:t>Encourage wild ideas</a:t>
            </a:r>
          </a:p>
          <a:p>
            <a:r>
              <a:rPr lang="en-US" dirty="0"/>
              <a:t>Defer</a:t>
            </a:r>
            <a:r>
              <a:rPr lang="en-US"/>
              <a:t>(postpone) </a:t>
            </a:r>
            <a:r>
              <a:rPr lang="en-US" dirty="0"/>
              <a:t>judgment</a:t>
            </a:r>
          </a:p>
          <a:p>
            <a:r>
              <a:rPr lang="en-US" dirty="0"/>
              <a:t>Build on the idea of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25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Pre-Brainstorming: Mindset, Warm-ups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1447799"/>
            <a:ext cx="9997440" cy="4423612"/>
          </a:xfrm>
        </p:spPr>
        <p:txBody>
          <a:bodyPr>
            <a:normAutofit/>
          </a:bodyPr>
          <a:lstStyle/>
          <a:p>
            <a:r>
              <a:rPr lang="en-US" b="1" dirty="0"/>
              <a:t>Practical Optimism</a:t>
            </a:r>
            <a:r>
              <a:rPr lang="en-US" dirty="0"/>
              <a:t>: Positive thinking + Beneficial action = Good results</a:t>
            </a:r>
          </a:p>
          <a:p>
            <a:endParaRPr lang="en-US" dirty="0"/>
          </a:p>
          <a:p>
            <a:r>
              <a:rPr lang="en-US" dirty="0"/>
              <a:t>Knowing that </a:t>
            </a:r>
            <a:r>
              <a:rPr lang="en-US" b="1" dirty="0"/>
              <a:t>getting stuck </a:t>
            </a:r>
            <a:r>
              <a:rPr lang="en-US" dirty="0"/>
              <a:t>is ok! (Activity of the circles)</a:t>
            </a:r>
          </a:p>
          <a:p>
            <a:endParaRPr lang="en-US" dirty="0"/>
          </a:p>
          <a:p>
            <a:r>
              <a:rPr lang="en-US" b="1" dirty="0"/>
              <a:t>Help improvise others’ ideas:</a:t>
            </a:r>
            <a:r>
              <a:rPr lang="en-US" dirty="0"/>
              <a:t> Try not to say ‘Yes, but’.. Try saying ‘Yes, and’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3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74757" y="1079664"/>
            <a:ext cx="10566822" cy="5629894"/>
          </a:xfrm>
        </p:spPr>
        <p:txBody>
          <a:bodyPr>
            <a:noAutofit/>
          </a:bodyPr>
          <a:lstStyle/>
          <a:p>
            <a:r>
              <a:rPr lang="en-US" sz="2400" b="1" dirty="0"/>
              <a:t>Step 1:</a:t>
            </a:r>
            <a:r>
              <a:rPr lang="en-US" sz="2400" dirty="0"/>
              <a:t> Each participant gets one </a:t>
            </a:r>
            <a:r>
              <a:rPr lang="en-US" sz="2400" dirty="0">
                <a:hlinkClick r:id="rId2"/>
              </a:rPr>
              <a:t>30 Circles sheet of paper</a:t>
            </a:r>
            <a:r>
              <a:rPr lang="en-US" sz="2400" dirty="0"/>
              <a:t> and something to draw with.</a:t>
            </a:r>
          </a:p>
          <a:p>
            <a:r>
              <a:rPr lang="en-US" sz="2400" b="1" dirty="0"/>
              <a:t>Step 2:</a:t>
            </a:r>
            <a:r>
              <a:rPr lang="en-US" sz="2400" dirty="0"/>
              <a:t> Turn as many of the blank circles as possible into recognizable objects in three minutes (think clock faces, billiard balls, etc.)</a:t>
            </a:r>
          </a:p>
          <a:p>
            <a:r>
              <a:rPr lang="en-US" sz="2400" b="1" dirty="0"/>
              <a:t>Step 3:</a:t>
            </a:r>
            <a:r>
              <a:rPr lang="en-US" sz="2400" dirty="0"/>
              <a:t> Compare results on following parameters:</a:t>
            </a:r>
          </a:p>
          <a:p>
            <a:pPr lvl="1"/>
            <a:r>
              <a:rPr lang="en-US" sz="2000" dirty="0"/>
              <a:t>Look for the quantity or fluency of ideas</a:t>
            </a:r>
          </a:p>
          <a:p>
            <a:pPr lvl="1"/>
            <a:r>
              <a:rPr lang="en-US" sz="2000" dirty="0"/>
              <a:t>How many people filled in ten, fifteen, twenty or more circles? (Typically most people don’t finish.)</a:t>
            </a:r>
          </a:p>
          <a:p>
            <a:pPr lvl="1"/>
            <a:r>
              <a:rPr lang="en-US" sz="2000" dirty="0"/>
              <a:t>Next, look for diversity or flexibility in ideas. See if the ideas are derivative (a basketball, a baseball, a volleyball) or distinct (a planet, a cookie, a happy face). Did anyone “break the rules” and combine circles (a snowman or a traffic light)?</a:t>
            </a:r>
          </a:p>
          <a:p>
            <a:pPr lvl="1"/>
            <a:r>
              <a:rPr lang="en-US" sz="2000" dirty="0"/>
              <a:t>Were the rules explicit, or just assumed?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144010"/>
            <a:ext cx="9997440" cy="1143000"/>
          </a:xfrm>
        </p:spPr>
        <p:txBody>
          <a:bodyPr/>
          <a:lstStyle/>
          <a:p>
            <a:r>
              <a:rPr lang="en-US" dirty="0"/>
              <a:t>Getting Stuck with 30 Circle Exercise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85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Divergent thinking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2079057"/>
            <a:ext cx="9997440" cy="3792354"/>
          </a:xfrm>
        </p:spPr>
        <p:txBody>
          <a:bodyPr>
            <a:normAutofit/>
          </a:bodyPr>
          <a:lstStyle/>
          <a:p>
            <a:r>
              <a:rPr lang="en-US" b="1" dirty="0"/>
              <a:t>Quantity better than Quality</a:t>
            </a:r>
            <a:r>
              <a:rPr lang="en-US" dirty="0"/>
              <a:t>: Do not try to fine tune your idea. Work on getting many ideas</a:t>
            </a:r>
          </a:p>
          <a:p>
            <a:endParaRPr lang="en-US" dirty="0"/>
          </a:p>
          <a:p>
            <a:r>
              <a:rPr lang="en-US" b="1" dirty="0"/>
              <a:t>Encourage wild ideas</a:t>
            </a:r>
            <a:r>
              <a:rPr lang="en-US" dirty="0"/>
              <a:t>: Initially it might look pointless, but with practice, you’ll be surprised!</a:t>
            </a:r>
          </a:p>
          <a:p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22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on ideas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1337912"/>
            <a:ext cx="9997440" cy="5091764"/>
          </a:xfrm>
        </p:spPr>
        <p:txBody>
          <a:bodyPr>
            <a:normAutofit/>
          </a:bodyPr>
          <a:lstStyle/>
          <a:p>
            <a:r>
              <a:rPr lang="en-US" b="1" dirty="0"/>
              <a:t>Build by </a:t>
            </a:r>
            <a:r>
              <a:rPr lang="en-US" b="1" dirty="0" err="1"/>
              <a:t>plussing</a:t>
            </a:r>
            <a:r>
              <a:rPr lang="en-US" b="1" dirty="0"/>
              <a:t> on ideas of others</a:t>
            </a:r>
            <a:r>
              <a:rPr lang="en-US" dirty="0"/>
              <a:t>: Do not use their ideas/ solutions as such. See how you can improve or customize them.</a:t>
            </a:r>
          </a:p>
          <a:p>
            <a:endParaRPr lang="en-US" dirty="0"/>
          </a:p>
          <a:p>
            <a:r>
              <a:rPr lang="en-US" b="1" dirty="0"/>
              <a:t>Share your opinions with others</a:t>
            </a:r>
            <a:r>
              <a:rPr lang="en-US" dirty="0"/>
              <a:t>: Use sticky notes (or such) to share your opinions</a:t>
            </a:r>
          </a:p>
          <a:p>
            <a:endParaRPr lang="en-US" dirty="0"/>
          </a:p>
          <a:p>
            <a:r>
              <a:rPr lang="en-US" b="1" dirty="0"/>
              <a:t>Getting unstuck: </a:t>
            </a:r>
            <a:r>
              <a:rPr lang="en-US" dirty="0"/>
              <a:t>Create subsidiary ‘how-might-we’ question or reframe problem statement.</a:t>
            </a:r>
            <a:endParaRPr lang="en-US" b="1" dirty="0"/>
          </a:p>
          <a:p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8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Convergent thinking: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1337912"/>
            <a:ext cx="10277856" cy="5091764"/>
          </a:xfrm>
        </p:spPr>
        <p:txBody>
          <a:bodyPr>
            <a:normAutofit/>
          </a:bodyPr>
          <a:lstStyle/>
          <a:p>
            <a:r>
              <a:rPr lang="en-US" dirty="0"/>
              <a:t>When you have enough ideas that appropriately addresses the problem statement, choose the best idea</a:t>
            </a:r>
          </a:p>
          <a:p>
            <a:endParaRPr lang="en-US" dirty="0"/>
          </a:p>
          <a:p>
            <a:r>
              <a:rPr lang="en-US" b="1" dirty="0"/>
              <a:t>Criteria: </a:t>
            </a:r>
            <a:r>
              <a:rPr lang="en-US" dirty="0"/>
              <a:t>Most likely to make user happy. Most likely to work. Most likely to be interesting.</a:t>
            </a:r>
          </a:p>
          <a:p>
            <a:endParaRPr lang="en-US" dirty="0"/>
          </a:p>
          <a:p>
            <a:r>
              <a:rPr lang="en-US" b="1" dirty="0"/>
              <a:t>Getting unstuck: </a:t>
            </a:r>
            <a:r>
              <a:rPr lang="en-US" dirty="0"/>
              <a:t>Create subsidiary ‘how-might-we’ question or reframe problem statement.</a:t>
            </a:r>
            <a:endParaRPr lang="en-US" b="1" dirty="0"/>
          </a:p>
          <a:p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41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a blueprint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2271562"/>
            <a:ext cx="10277856" cy="1511166"/>
          </a:xfrm>
        </p:spPr>
        <p:txBody>
          <a:bodyPr>
            <a:normAutofit/>
          </a:bodyPr>
          <a:lstStyle/>
          <a:p>
            <a:r>
              <a:rPr lang="en-US" dirty="0"/>
              <a:t>Can be technical drawings or strategic plan, a website, a flow chart, a story board, or so on. </a:t>
            </a:r>
          </a:p>
        </p:txBody>
      </p:sp>
    </p:spTree>
    <p:extLst>
      <p:ext uri="{BB962C8B-B14F-4D97-AF65-F5344CB8AC3E}">
        <p14:creationId xmlns:p14="http://schemas.microsoft.com/office/powerpoint/2010/main" val="357199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home activity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914144" y="2271562"/>
            <a:ext cx="10277856" cy="1511166"/>
          </a:xfrm>
        </p:spPr>
        <p:txBody>
          <a:bodyPr>
            <a:normAutofit fontScale="92500"/>
          </a:bodyPr>
          <a:lstStyle/>
          <a:p>
            <a:r>
              <a:rPr lang="en-US" dirty="0"/>
              <a:t>In a sheet (for submission) write down different ideas for DIY mechanical games inspired by video games. Then converge to one idea and bring a blue print.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44D5F-31EF-4169-B5B3-69A09B9499F0}"/>
              </a:ext>
            </a:extLst>
          </p:cNvPr>
          <p:cNvSpPr txBox="1"/>
          <p:nvPr/>
        </p:nvSpPr>
        <p:spPr>
          <a:xfrm>
            <a:off x="4148488" y="4267320"/>
            <a:ext cx="616016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https://youtu.be/BWFtC0GKWf0</a:t>
            </a:r>
          </a:p>
        </p:txBody>
      </p:sp>
    </p:spTree>
    <p:extLst>
      <p:ext uri="{BB962C8B-B14F-4D97-AF65-F5344CB8AC3E}">
        <p14:creationId xmlns:p14="http://schemas.microsoft.com/office/powerpoint/2010/main" val="65717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Improvisional</a:t>
            </a:r>
            <a:r>
              <a:rPr lang="en-US" dirty="0"/>
              <a:t> theatre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</a:t>
            </a:r>
          </a:p>
          <a:p>
            <a:r>
              <a:rPr lang="en-US" dirty="0"/>
              <a:t>Story line</a:t>
            </a:r>
          </a:p>
          <a:p>
            <a:r>
              <a:rPr lang="en-US" dirty="0"/>
              <a:t>Link up with made up thread of thought</a:t>
            </a:r>
          </a:p>
          <a:p>
            <a:r>
              <a:rPr lang="en-US" dirty="0"/>
              <a:t>Dialogues ( can be funny too)</a:t>
            </a:r>
          </a:p>
          <a:p>
            <a:r>
              <a:rPr lang="en-US" dirty="0"/>
              <a:t>Dialogues( could be teaching lessons too 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02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Planner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person starts with the theme</a:t>
            </a:r>
          </a:p>
          <a:p>
            <a:r>
              <a:rPr lang="en-US" dirty="0"/>
              <a:t>Others keep on giving ideas to make it interesting</a:t>
            </a:r>
          </a:p>
          <a:p>
            <a:r>
              <a:rPr lang="en-US" dirty="0"/>
              <a:t>Say yes to every idea not Yes…But..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32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Disruptive Thinking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Looking at an idea or an object and coming up with an entirely different way to achieve the same end.</a:t>
            </a:r>
          </a:p>
          <a:p>
            <a:r>
              <a:rPr lang="en-US" dirty="0"/>
              <a:t>Examples of businesses based on disruptive thinking</a:t>
            </a:r>
          </a:p>
          <a:p>
            <a:r>
              <a:rPr lang="en-IN" b="1" dirty="0"/>
              <a:t>10 real-world examples of disruptive innovation</a:t>
            </a:r>
            <a:endParaRPr lang="en-IN" dirty="0"/>
          </a:p>
          <a:p>
            <a:r>
              <a:rPr lang="en-IN" dirty="0"/>
              <a:t>Smartphones. Smartphones revolutionized communication by transforming how we connect, forcing traditional phone manufacturers and telecom companies to adapt. ...</a:t>
            </a:r>
          </a:p>
          <a:p>
            <a:r>
              <a:rPr lang="en-IN" dirty="0"/>
              <a:t>Amazon. ...</a:t>
            </a:r>
          </a:p>
          <a:p>
            <a:r>
              <a:rPr lang="en-IN" dirty="0"/>
              <a:t>Healthcare. ...</a:t>
            </a:r>
          </a:p>
          <a:p>
            <a:r>
              <a:rPr lang="en-IN" dirty="0" err="1"/>
              <a:t>Uber</a:t>
            </a:r>
            <a:r>
              <a:rPr lang="en-IN" dirty="0"/>
              <a:t>. ...</a:t>
            </a:r>
          </a:p>
          <a:p>
            <a:r>
              <a:rPr lang="en-IN" dirty="0"/>
              <a:t>Netflix. ...</a:t>
            </a:r>
          </a:p>
          <a:p>
            <a:r>
              <a:rPr lang="en-IN" dirty="0" err="1"/>
              <a:t>Airbnb</a:t>
            </a:r>
            <a:r>
              <a:rPr lang="en-IN" dirty="0"/>
              <a:t>. ...</a:t>
            </a:r>
          </a:p>
          <a:p>
            <a:r>
              <a:rPr lang="en-IN" dirty="0"/>
              <a:t>Tesla. ...</a:t>
            </a:r>
          </a:p>
          <a:p>
            <a:r>
              <a:rPr lang="en-IN" dirty="0" err="1"/>
              <a:t>Spotify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49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Blackberry phone : leading market share till 2007</a:t>
            </a:r>
          </a:p>
          <a:p>
            <a:r>
              <a:rPr lang="en-US" dirty="0"/>
              <a:t>Then came Apple’s  </a:t>
            </a:r>
            <a:r>
              <a:rPr lang="en-US" dirty="0" err="1"/>
              <a:t>Iphone</a:t>
            </a:r>
            <a:r>
              <a:rPr lang="en-US" dirty="0"/>
              <a:t>: no key boards, great camera,  amazing internet experience.</a:t>
            </a:r>
          </a:p>
          <a:p>
            <a:r>
              <a:rPr lang="en-US" dirty="0"/>
              <a:t>Created by </a:t>
            </a:r>
            <a:r>
              <a:rPr lang="en-US" dirty="0" err="1"/>
              <a:t>Applie’s</a:t>
            </a:r>
            <a:r>
              <a:rPr lang="en-US" dirty="0"/>
              <a:t> Design engineers who described the experience as “</a:t>
            </a:r>
            <a:r>
              <a:rPr lang="en-US" dirty="0" err="1"/>
              <a:t>harrowing”and</a:t>
            </a:r>
            <a:r>
              <a:rPr lang="en-US" dirty="0"/>
              <a:t> a “soup of misery”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60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dea design templat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Idea design slides.potx" id="{DF01E6A4-6AA1-422C-B26D-6A4BADE1B013}" vid="{6A88D988-B038-48EA-B513-AE1D8F325C3E}"/>
    </a:ext>
  </a:extLst>
</a:theme>
</file>

<file path=ppt/theme/theme2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Idea design slides</Template>
  <TotalTime>462</TotalTime>
  <Words>1494</Words>
  <Application>Microsoft Office PowerPoint</Application>
  <PresentationFormat>Widescreen</PresentationFormat>
  <Paragraphs>148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Century Gothic</vt:lpstr>
      <vt:lpstr>Verdana</vt:lpstr>
      <vt:lpstr>Wingdings 2</vt:lpstr>
      <vt:lpstr>Idea design template</vt:lpstr>
      <vt:lpstr>PowerPoint Presentation</vt:lpstr>
      <vt:lpstr>PowerPoint Presentation</vt:lpstr>
      <vt:lpstr>Demystifying creativity</vt:lpstr>
      <vt:lpstr>Demystifying creativity</vt:lpstr>
      <vt:lpstr>David Kelley quotes</vt:lpstr>
      <vt:lpstr>PowerPoint Presentation</vt:lpstr>
      <vt:lpstr>Takeaways from the Edison and Ford story</vt:lpstr>
      <vt:lpstr>PowerPoint Presentation</vt:lpstr>
      <vt:lpstr>PowerPoint Presentation</vt:lpstr>
      <vt:lpstr>Find the predecessor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IDEO – Shopping cart challenge</vt:lpstr>
      <vt:lpstr>IDEO – Shopping cart challenge</vt:lpstr>
      <vt:lpstr>Pre-Brainstorming: Mindset, Warm-ups</vt:lpstr>
      <vt:lpstr>Getting Stuck with 30 Circle Exercise</vt:lpstr>
      <vt:lpstr>Divergent thinking</vt:lpstr>
      <vt:lpstr>Building on ideas</vt:lpstr>
      <vt:lpstr>Convergent thinking:</vt:lpstr>
      <vt:lpstr>Make a blueprint</vt:lpstr>
      <vt:lpstr>Take home activity</vt:lpstr>
      <vt:lpstr>Improvisional theatre</vt:lpstr>
      <vt:lpstr>Party Planner</vt:lpstr>
      <vt:lpstr>Disruptive Thinking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Christina Christopher</dc:creator>
  <cp:lastModifiedBy>Manukuru Hymavathi</cp:lastModifiedBy>
  <cp:revision>36</cp:revision>
  <dcterms:created xsi:type="dcterms:W3CDTF">2022-01-20T18:51:58Z</dcterms:created>
  <dcterms:modified xsi:type="dcterms:W3CDTF">2025-02-17T05:33:33Z</dcterms:modified>
</cp:coreProperties>
</file>