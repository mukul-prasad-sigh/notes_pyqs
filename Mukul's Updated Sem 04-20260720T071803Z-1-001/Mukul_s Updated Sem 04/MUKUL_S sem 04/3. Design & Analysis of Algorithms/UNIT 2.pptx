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5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8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9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0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11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2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4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5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6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4"/>
  </p:notesMasterIdLst>
  <p:sldIdLst>
    <p:sldId id="256" r:id="rId2"/>
    <p:sldId id="258" r:id="rId3"/>
    <p:sldId id="257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5" r:id="rId16"/>
    <p:sldId id="276" r:id="rId17"/>
    <p:sldId id="277" r:id="rId18"/>
    <p:sldId id="279" r:id="rId19"/>
    <p:sldId id="274" r:id="rId20"/>
    <p:sldId id="273" r:id="rId21"/>
    <p:sldId id="272" r:id="rId22"/>
    <p:sldId id="261" r:id="rId23"/>
    <p:sldId id="281" r:id="rId24"/>
    <p:sldId id="300" r:id="rId25"/>
    <p:sldId id="301" r:id="rId26"/>
    <p:sldId id="282" r:id="rId27"/>
    <p:sldId id="283" r:id="rId28"/>
    <p:sldId id="284" r:id="rId29"/>
    <p:sldId id="285" r:id="rId30"/>
    <p:sldId id="280" r:id="rId31"/>
    <p:sldId id="288" r:id="rId32"/>
    <p:sldId id="287" r:id="rId33"/>
    <p:sldId id="377" r:id="rId34"/>
    <p:sldId id="290" r:id="rId35"/>
    <p:sldId id="289" r:id="rId36"/>
    <p:sldId id="293" r:id="rId37"/>
    <p:sldId id="294" r:id="rId38"/>
    <p:sldId id="295" r:id="rId39"/>
    <p:sldId id="296" r:id="rId40"/>
    <p:sldId id="297" r:id="rId41"/>
    <p:sldId id="298" r:id="rId42"/>
    <p:sldId id="383" r:id="rId43"/>
    <p:sldId id="291" r:id="rId44"/>
    <p:sldId id="286" r:id="rId45"/>
    <p:sldId id="299" r:id="rId46"/>
    <p:sldId id="384" r:id="rId47"/>
    <p:sldId id="361" r:id="rId48"/>
    <p:sldId id="362" r:id="rId49"/>
    <p:sldId id="363" r:id="rId50"/>
    <p:sldId id="364" r:id="rId51"/>
    <p:sldId id="366" r:id="rId52"/>
    <p:sldId id="367" r:id="rId53"/>
    <p:sldId id="368" r:id="rId54"/>
    <p:sldId id="369" r:id="rId55"/>
    <p:sldId id="370" r:id="rId56"/>
    <p:sldId id="371" r:id="rId57"/>
    <p:sldId id="379" r:id="rId58"/>
    <p:sldId id="378" r:id="rId59"/>
    <p:sldId id="380" r:id="rId60"/>
    <p:sldId id="381" r:id="rId61"/>
    <p:sldId id="382" r:id="rId62"/>
    <p:sldId id="292" r:id="rId63"/>
    <p:sldId id="376" r:id="rId64"/>
    <p:sldId id="303" r:id="rId65"/>
    <p:sldId id="306" r:id="rId66"/>
    <p:sldId id="304" r:id="rId67"/>
    <p:sldId id="307" r:id="rId68"/>
    <p:sldId id="308" r:id="rId69"/>
    <p:sldId id="309" r:id="rId70"/>
    <p:sldId id="310" r:id="rId71"/>
    <p:sldId id="311" r:id="rId72"/>
    <p:sldId id="312" r:id="rId73"/>
    <p:sldId id="331" r:id="rId74"/>
    <p:sldId id="313" r:id="rId75"/>
    <p:sldId id="314" r:id="rId76"/>
    <p:sldId id="315" r:id="rId77"/>
    <p:sldId id="316" r:id="rId78"/>
    <p:sldId id="317" r:id="rId79"/>
    <p:sldId id="318" r:id="rId80"/>
    <p:sldId id="319" r:id="rId81"/>
    <p:sldId id="302" r:id="rId82"/>
    <p:sldId id="320" r:id="rId83"/>
    <p:sldId id="305" r:id="rId84"/>
    <p:sldId id="327" r:id="rId85"/>
    <p:sldId id="321" r:id="rId86"/>
    <p:sldId id="385" r:id="rId87"/>
    <p:sldId id="386" r:id="rId88"/>
    <p:sldId id="387" r:id="rId89"/>
    <p:sldId id="388" r:id="rId90"/>
    <p:sldId id="334" r:id="rId91"/>
    <p:sldId id="335" r:id="rId92"/>
    <p:sldId id="336" r:id="rId93"/>
    <p:sldId id="337" r:id="rId94"/>
    <p:sldId id="338" r:id="rId95"/>
    <p:sldId id="339" r:id="rId96"/>
    <p:sldId id="340" r:id="rId97"/>
    <p:sldId id="341" r:id="rId98"/>
    <p:sldId id="342" r:id="rId99"/>
    <p:sldId id="343" r:id="rId100"/>
    <p:sldId id="344" r:id="rId101"/>
    <p:sldId id="389" r:id="rId102"/>
    <p:sldId id="345" r:id="rId103"/>
    <p:sldId id="390" r:id="rId104"/>
    <p:sldId id="391" r:id="rId105"/>
    <p:sldId id="392" r:id="rId106"/>
    <p:sldId id="393" r:id="rId107"/>
    <p:sldId id="394" r:id="rId108"/>
    <p:sldId id="347" r:id="rId109"/>
    <p:sldId id="395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72" r:id="rId119"/>
    <p:sldId id="373" r:id="rId120"/>
    <p:sldId id="374" r:id="rId121"/>
    <p:sldId id="375" r:id="rId122"/>
    <p:sldId id="333" r:id="rId1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24" autoAdjust="0"/>
  </p:normalViewPr>
  <p:slideViewPr>
    <p:cSldViewPr>
      <p:cViewPr varScale="1">
        <p:scale>
          <a:sx n="86" d="100"/>
          <a:sy n="86" d="100"/>
        </p:scale>
        <p:origin x="1122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75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7921CA-5C4B-431C-BE99-18BEF13F24F9}" type="datetimeFigureOut">
              <a:rPr lang="en-US" smtClean="0"/>
              <a:pPr/>
              <a:t>6/7/2023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F7BF2-B6BF-477F-85EF-DDBE8E0B5F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380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9D5A0B-E096-4903-A09F-23027AEA3841}" type="slidenum">
              <a:rPr lang="en-US" smtClean="0"/>
              <a:pPr/>
              <a:t>5</a:t>
            </a:fld>
            <a:endParaRPr lang="en-US" smtClean="0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58161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9AD2056-9092-4F17-BAA1-4A78AA7017E8}" type="slidenum">
              <a:rPr lang="en-US" smtClean="0"/>
              <a:pPr/>
              <a:t>6</a:t>
            </a:fld>
            <a:endParaRPr lang="en-US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760726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ADCC2F5-C9BE-49E9-ABEC-6068E2DEF2FD}" type="slidenum">
              <a:rPr lang="en-US" sz="1200" smtClean="0"/>
              <a:pPr/>
              <a:t>7</a:t>
            </a:fld>
            <a:endParaRPr lang="en-US" sz="1200" dirty="0" smtClean="0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18013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9510811-8B35-4C29-8315-C98C6F1957D8}" type="slidenum">
              <a:rPr lang="en-US" sz="1200" smtClean="0"/>
              <a:pPr/>
              <a:t>8</a:t>
            </a:fld>
            <a:endParaRPr lang="en-US" sz="1200" dirty="0" smtClean="0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3695646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57457D1B-C13E-4ED6-9303-34F7041B4DBD}" type="slidenum">
              <a:rPr lang="en-US" sz="1200" smtClean="0"/>
              <a:pPr/>
              <a:t>9</a:t>
            </a:fld>
            <a:endParaRPr lang="en-US" sz="1200" dirty="0" smtClean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66805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05C723CC-AB31-4EF6-9659-2466FDB687DA}" type="slidenum">
              <a:rPr lang="en-US" sz="1200" smtClean="0"/>
              <a:pPr/>
              <a:t>10</a:t>
            </a:fld>
            <a:endParaRPr lang="en-US" sz="1200" dirty="0" smtClean="0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20010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24762E0-B8AE-4132-9DA3-52C5A3966181}" type="slidenum">
              <a:rPr lang="en-US" sz="1200" smtClean="0"/>
              <a:pPr/>
              <a:t>11</a:t>
            </a:fld>
            <a:endParaRPr lang="en-US" sz="1200" dirty="0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851892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9A31448E-A8AA-4D86-965A-DC2B6B306948}" type="slidenum">
              <a:rPr lang="en-US" sz="1200" smtClean="0"/>
              <a:pPr/>
              <a:t>12</a:t>
            </a:fld>
            <a:endParaRPr lang="en-US" sz="1200" dirty="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18131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72441E-65EE-4F81-A031-3D11D153D3BA}" type="slidenum">
              <a:rPr lang="en-US" sz="1200" smtClean="0"/>
              <a:pPr/>
              <a:t>13</a:t>
            </a:fld>
            <a:endParaRPr lang="en-US" sz="1200" dirty="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45160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2E16D-D9FF-490E-88D0-46B574ADF0AE}" type="slidenum">
              <a:rPr lang="en-US" smtClean="0"/>
              <a:pPr/>
              <a:t>14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13245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72441E-65EE-4F81-A031-3D11D153D3BA}" type="slidenum">
              <a:rPr lang="en-US" sz="1200" smtClean="0"/>
              <a:pPr/>
              <a:t>15</a:t>
            </a:fld>
            <a:endParaRPr lang="en-US" sz="1200" dirty="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4516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72441E-65EE-4F81-A031-3D11D153D3BA}" type="slidenum">
              <a:rPr lang="en-US" sz="1200" smtClean="0"/>
              <a:pPr/>
              <a:t>16</a:t>
            </a:fld>
            <a:endParaRPr lang="en-US" sz="1200" dirty="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4516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72441E-65EE-4F81-A031-3D11D153D3BA}" type="slidenum">
              <a:rPr lang="en-US" sz="1200" smtClean="0"/>
              <a:pPr/>
              <a:t>17</a:t>
            </a:fld>
            <a:endParaRPr lang="en-US" sz="1200" dirty="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4516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B472441E-65EE-4F81-A031-3D11D153D3BA}" type="slidenum">
              <a:rPr lang="en-US" sz="1200" smtClean="0"/>
              <a:pPr/>
              <a:t>18</a:t>
            </a:fld>
            <a:endParaRPr lang="en-US" sz="1200" dirty="0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4345160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2E16D-D9FF-490E-88D0-46B574ADF0AE}" type="slidenum">
              <a:rPr lang="en-US" smtClean="0"/>
              <a:pPr/>
              <a:t>19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688312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A2E16D-D9FF-490E-88D0-46B574ADF0AE}" type="slidenum">
              <a:rPr lang="en-US" smtClean="0"/>
              <a:pPr/>
              <a:t>20</a:t>
            </a:fld>
            <a:endParaRPr lang="en-US" smtClean="0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27007436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02756" indent="-270291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081164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13629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1946095" indent="-216233" defTabSz="914485" eaLnBrk="0" hangingPunct="0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378560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811026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243491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675957" indent="-216233" defTabSz="914485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3CC9858E-DDDC-4264-8E2E-EFBA612102ED}" type="slidenum">
              <a:rPr lang="en-US" sz="1200" smtClean="0"/>
              <a:pPr/>
              <a:t>21</a:t>
            </a:fld>
            <a:endParaRPr lang="en-US" sz="1200" dirty="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7485941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B8722-3643-444F-9399-02583FF72C4B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510A5-C2A5-467A-B61C-D65436A459C0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14284-8376-465E-87CC-CF4EB6DFF5DA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2CB17-606D-4341-B6C4-4DC042F3EF7C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B87A0-D517-409F-8813-505C513223FC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EDCBB-48C4-43E5-8BFE-A1574A670DEE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FE840-B016-4923-857A-7CDD4FD1B4F9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A7D19-D949-4C5F-A59A-A17F0E4FE2F4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66DE1-D2A2-40A2-93F5-271E77E12A15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E4FCA-10B9-4972-8BDC-6DD873A4936F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A3B74-E28E-49B0-A86C-31851AC60701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EA7B08-99ED-4BF7-BA4E-B69620950548}" type="datetime1">
              <a:rPr lang="en-US" smtClean="0"/>
              <a:pPr/>
              <a:t>6/7/2023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5884E-CF01-4077-9986-05D7C16A1A3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wmf"/><Relationship Id="rId4" Type="http://schemas.openxmlformats.org/officeDocument/2006/relationships/notesSlide" Target="../notesSlides/notesSl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3.wmf"/><Relationship Id="rId4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4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.wmf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12.xml"/><Relationship Id="rId7" Type="http://schemas.openxmlformats.org/officeDocument/2006/relationships/image" Target="../media/image3.wmf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4" Type="http://schemas.openxmlformats.org/officeDocument/2006/relationships/notesSlide" Target="../notesSlides/notesSlid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7" Type="http://schemas.openxmlformats.org/officeDocument/2006/relationships/image" Target="../media/image2.wmf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3.wmf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4" Type="http://schemas.openxmlformats.org/officeDocument/2006/relationships/notesSlide" Target="../notesSlides/notesSlid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4" Type="http://schemas.openxmlformats.org/officeDocument/2006/relationships/notesSlide" Target="../notesSlides/notesSl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4" Type="http://schemas.openxmlformats.org/officeDocument/2006/relationships/notesSlide" Target="../notesSlides/notesSl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4" Type="http://schemas.openxmlformats.org/officeDocument/2006/relationships/notesSlide" Target="../notesSlides/notesSlid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4" Type="http://schemas.openxmlformats.org/officeDocument/2006/relationships/notesSlide" Target="../notesSlides/notesSlid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4" Type="http://schemas.openxmlformats.org/officeDocument/2006/relationships/notesSlide" Target="../notesSlides/notesSlide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gi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 smtClean="0">
                <a:latin typeface="Times New Roman" pitchFamily="18" charset="0"/>
                <a:cs typeface="Times New Roman" pitchFamily="18" charset="0"/>
              </a:rPr>
              <a:t>GRAPHS</a:t>
            </a:r>
            <a:endParaRPr lang="en-US" sz="72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4525963"/>
          </a:xfrm>
        </p:spPr>
        <p:txBody>
          <a:bodyPr/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graph G = (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V, E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is a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set of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vertices (or nodes) V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and a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set of edges E, assumed finite i.e. |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V|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= n and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|E|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= m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Example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pic>
        <p:nvPicPr>
          <p:cNvPr id="1026" name="Picture 2" descr="?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3200" y="3962400"/>
            <a:ext cx="4038600" cy="243840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/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V(G) =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{1, 2, 3, 4, 5, 6}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E(G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{(1,2), (1,5), (2,3), (2,5), (3,4), (4,5), (4,6)}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TYPES OF GRAPHS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763000" cy="5105400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Two types of graphs: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Directed graphs:  G=(V,E) where E is composed of ordered pairs of vertices; i.e. the edges have direction and point from one vertex to another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Undirected graphs: G=(V,E) where E is composed of unordered pairs of vertices; i.e. the edges are bidirectional.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DIRECTED GRAPH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195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600200" y="1981200"/>
            <a:ext cx="5638800" cy="3528102"/>
          </a:xfrm>
          <a:prstGeom prst="rect">
            <a:avLst/>
          </a:prstGeom>
          <a:noFill/>
          <a:ln w="9525">
            <a:gradFill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UNDIRECTED GRAPH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219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1447800" y="2286000"/>
            <a:ext cx="5715000" cy="3563938"/>
          </a:xfrm>
          <a:prstGeom prst="rect">
            <a:avLst/>
          </a:prstGeom>
          <a:noFill/>
          <a:ln w="0">
            <a:solidFill>
              <a:schemeClr val="accent1"/>
            </a:solidFill>
            <a:miter lim="800000"/>
            <a:headEnd/>
            <a:tailEnd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IMPLEMENTING A GRAPH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Implement a graph in two ways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1" eaLnBrk="1" hangingPunct="1">
              <a:buFont typeface="Arial" pitchFamily="34" charset="0"/>
              <a:buChar char="•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Arial" pitchFamily="34" charset="0"/>
              <a:buChar char="•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Adjacency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List</a:t>
            </a:r>
          </a:p>
          <a:p>
            <a:pPr lvl="1" eaLnBrk="1" hangingPunct="1">
              <a:buFont typeface="Arial" pitchFamily="34" charset="0"/>
              <a:buChar char="•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lvl="1" eaLnBrk="1" hangingPunct="1">
              <a:buFont typeface="Arial" pitchFamily="34" charset="0"/>
              <a:buChar char="•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Adjacency  Matrix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843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ADJACENCY LIST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Directed Graph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292" name="Picture 4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6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00400"/>
            <a:ext cx="3276600" cy="2049463"/>
          </a:xfrm>
          <a:prstGeom prst="rect">
            <a:avLst/>
          </a:prstGeom>
          <a:noFill/>
          <a:ln w="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53000" y="3200400"/>
            <a:ext cx="21145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1877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6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6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ADJACENCY </a:t>
            </a:r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LIST</a:t>
            </a:r>
          </a:p>
        </p:txBody>
      </p:sp>
      <p:pic>
        <p:nvPicPr>
          <p:cNvPr id="13315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71800"/>
            <a:ext cx="3789235" cy="2362200"/>
          </a:xfrm>
          <a:prstGeom prst="rect">
            <a:avLst/>
          </a:prstGeom>
          <a:noFill/>
          <a:ln w="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7" name="Text Box 6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17525" y="52990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54273" name="Picture 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4876800" y="3200400"/>
            <a:ext cx="3886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Undirected Graph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06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ADJACENCY LIST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just" eaLnBrk="1" hangingPunct="1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sum of the lengths of the adjacency lists is 2|E| in an undirected graph, and |E| in a directed graph.</a:t>
            </a:r>
          </a:p>
          <a:p>
            <a:pPr marL="0" indent="0" algn="just" eaLnBrk="1" hangingPunct="1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amount of memory to store the array for the adjacency list is O(V+E).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489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ADJACENCY MATRIX</a:t>
            </a:r>
          </a:p>
        </p:txBody>
      </p:sp>
      <p:pic>
        <p:nvPicPr>
          <p:cNvPr id="15363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0"/>
            <a:ext cx="3352800" cy="2097088"/>
          </a:xfrm>
          <a:prstGeom prst="rect">
            <a:avLst/>
          </a:prstGeom>
          <a:noFill/>
          <a:ln w="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6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38600" y="2895600"/>
            <a:ext cx="490855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dirty="0"/>
              <a:t>	1	2	3	4	5</a:t>
            </a:r>
          </a:p>
          <a:p>
            <a:pPr algn="ctr"/>
            <a:r>
              <a:rPr lang="en-US" dirty="0"/>
              <a:t>1	0	1	1	0	0</a:t>
            </a:r>
          </a:p>
          <a:p>
            <a:pPr algn="ctr"/>
            <a:r>
              <a:rPr lang="en-US" dirty="0"/>
              <a:t>2	0	0	0	0	0</a:t>
            </a:r>
          </a:p>
          <a:p>
            <a:pPr algn="ctr"/>
            <a:r>
              <a:rPr lang="en-US" dirty="0"/>
              <a:t>3	0	0	0	1	0</a:t>
            </a:r>
          </a:p>
          <a:p>
            <a:pPr algn="ctr"/>
            <a:r>
              <a:rPr lang="en-US" dirty="0"/>
              <a:t>4	1	0	0	0	0</a:t>
            </a:r>
          </a:p>
          <a:p>
            <a:pPr algn="ctr"/>
            <a:r>
              <a:rPr lang="en-US" dirty="0"/>
              <a:t>5	0	1	0	1	0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7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Directed Graph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56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228600" y="274638"/>
            <a:ext cx="8686800" cy="1143000"/>
          </a:xfrm>
        </p:spPr>
        <p:txBody>
          <a:bodyPr>
            <a:no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ADJACENCY </a:t>
            </a:r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MATRIX</a:t>
            </a:r>
          </a:p>
        </p:txBody>
      </p:sp>
      <p:pic>
        <p:nvPicPr>
          <p:cNvPr id="16387" name="Picture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200400"/>
            <a:ext cx="2971800" cy="1852613"/>
          </a:xfrm>
          <a:prstGeom prst="rect">
            <a:avLst/>
          </a:prstGeom>
          <a:noFill/>
          <a:ln w="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388" name="Rectangle 5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4038600" y="2895600"/>
            <a:ext cx="4908550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dirty="0"/>
              <a:t>	1	2	3	4	5</a:t>
            </a:r>
          </a:p>
          <a:p>
            <a:pPr algn="ctr"/>
            <a:r>
              <a:rPr lang="en-US" dirty="0"/>
              <a:t>1	0	1	1	1	0</a:t>
            </a:r>
          </a:p>
          <a:p>
            <a:pPr algn="ctr"/>
            <a:r>
              <a:rPr lang="en-US" dirty="0"/>
              <a:t>2	1	0	0	0	1</a:t>
            </a:r>
          </a:p>
          <a:p>
            <a:pPr algn="ctr"/>
            <a:r>
              <a:rPr lang="en-US" dirty="0"/>
              <a:t>3	1	0	0	1	0</a:t>
            </a:r>
          </a:p>
          <a:p>
            <a:pPr algn="ctr"/>
            <a:r>
              <a:rPr lang="en-US" dirty="0"/>
              <a:t>4	1	0	1	0	1</a:t>
            </a:r>
          </a:p>
          <a:p>
            <a:pPr algn="ctr"/>
            <a:r>
              <a:rPr lang="en-US" dirty="0"/>
              <a:t>5	0	1	0	1	0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3"/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Undirected 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Graph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002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3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3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38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38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8" grpId="0" build="allAtOnce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>
                <a:latin typeface="Times New Roman" pitchFamily="18" charset="0"/>
                <a:cs typeface="Times New Roman" pitchFamily="18" charset="0"/>
              </a:rPr>
              <a:t>ADJACENCY MATRIX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matrix always uses </a:t>
            </a:r>
            <a:r>
              <a:rPr lang="el-GR" sz="3600" dirty="0">
                <a:latin typeface="Times New Roman" pitchFamily="18" charset="0"/>
                <a:cs typeface="Times New Roman" pitchFamily="18" charset="0"/>
              </a:rPr>
              <a:t>Θ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(v^2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memory. 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>
              <a:lnSpc>
                <a:spcPct val="8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Usually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easier to implement and perform lookup than an adjacency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7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100" b="1" dirty="0" smtClean="0">
                <a:latin typeface="Times New Roman" pitchFamily="18" charset="0"/>
                <a:cs typeface="Times New Roman" pitchFamily="18" charset="0"/>
              </a:rPr>
              <a:t>ADJACENCY MATRIX VS. LIST?</a:t>
            </a:r>
            <a:endParaRPr lang="en-US" sz="4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Sparse graph: very few edges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Dense graph: lots of edges.  Up to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O(v^2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edges if fully connected.</a:t>
            </a:r>
          </a:p>
          <a:p>
            <a:pPr eaLnBrk="1" hangingPunct="1">
              <a:lnSpc>
                <a:spcPct val="80000"/>
              </a:lnSpc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adjacency matrix is a good way to represent a weighted graph.  In a weighted graph, the edges have weights associated with them.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PATHS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 a graph G = (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V, E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to be a sequence P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of nodes V1, V2, . . . . Vk-1,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Vk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with the property that each consecutive pair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Vi, Vi+1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is joined by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 edge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 G.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is often called a path from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V1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Vk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or a V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1-Vk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path.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7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CYCLES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371600"/>
            <a:ext cx="8229600" cy="5334000"/>
          </a:xfrm>
        </p:spPr>
        <p:txBody>
          <a:bodyPr>
            <a:normAutofit fontScale="85000" lnSpcReduction="2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 cycle is a path that begins and ends on the same vertex. 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call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sequence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of nodes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cycle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if V1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Vk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 In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other words, the sequence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“cycles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back" to where it began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path is called simple if all its vertices are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distinct.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 path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is called a simple cycle if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V1, V2, . . .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Vk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are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all distinct, and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V1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Vk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7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TREES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371600"/>
            <a:ext cx="8229600" cy="5334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say that a graph is connected if for every pair of nodes u and v, there is a path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from u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v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tree is a connected graph with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no cycles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24200" y="4038600"/>
            <a:ext cx="4800599" cy="273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7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TREES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371600"/>
            <a:ext cx="8229600" cy="5334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Same Trees or Different Trees?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66800" y="2819400"/>
            <a:ext cx="67818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83977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100" b="1" dirty="0" smtClean="0">
                <a:latin typeface="Times New Roman" pitchFamily="18" charset="0"/>
                <a:cs typeface="Times New Roman" pitchFamily="18" charset="0"/>
              </a:rPr>
              <a:t>APPLICATIONS OF GRAPHS</a:t>
            </a:r>
            <a:endParaRPr lang="en-US" sz="4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85344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Social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etwork Graphs</a:t>
            </a:r>
          </a:p>
          <a:p>
            <a:pPr eaLnBrk="1" hangingPunct="1">
              <a:lnSpc>
                <a:spcPct val="80000"/>
              </a:lnSpc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Transportation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Networks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Web links.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Robot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Planning </a:t>
            </a:r>
          </a:p>
          <a:p>
            <a:pPr>
              <a:lnSpc>
                <a:spcPct val="80000"/>
              </a:lnSpc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Etc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100" b="1" dirty="0" smtClean="0">
                <a:latin typeface="Times New Roman" pitchFamily="18" charset="0"/>
                <a:cs typeface="Times New Roman" pitchFamily="18" charset="0"/>
              </a:rPr>
              <a:t>ALGORITHMS ON</a:t>
            </a:r>
            <a:r>
              <a:rPr lang="en-US" sz="41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100" b="1" dirty="0" smtClean="0">
                <a:latin typeface="Times New Roman" pitchFamily="18" charset="0"/>
                <a:cs typeface="Times New Roman" pitchFamily="18" charset="0"/>
              </a:rPr>
              <a:t>GRAPHS</a:t>
            </a:r>
            <a:endParaRPr lang="en-US" sz="41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Searching Graphs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Detecting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Cycles in Graphs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Shortest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Path algorithms</a:t>
            </a:r>
          </a:p>
          <a:p>
            <a:pPr>
              <a:lnSpc>
                <a:spcPct val="80000"/>
              </a:lnSpc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100" b="1" dirty="0">
                <a:latin typeface="Times New Roman" pitchFamily="18" charset="0"/>
                <a:cs typeface="Times New Roman" pitchFamily="18" charset="0"/>
              </a:rPr>
              <a:t>SEARCHING A GRAPH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lstStyle/>
          <a:p>
            <a:pPr algn="just" eaLnBrk="1" hangingPunct="1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Search:</a:t>
            </a:r>
          </a:p>
          <a:p>
            <a:pPr lvl="1" algn="just"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goal is to methodically explore every vertex and every edge; perhaps to do some processing on each.  </a:t>
            </a:r>
          </a:p>
          <a:p>
            <a:pPr marL="0" indent="0" eaLnBrk="1" hangingPunct="1">
              <a:buNone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pPr algn="just" eaLnBrk="1" hangingPunct="1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For the most part in our algorithms we will assume an adjacency-list representation of the input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7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node-to-node connectivity.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Suppose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are given a graph G = (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V, E), and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two particular nodes s and t.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We'd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like to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find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an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efficient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algorithm that answers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question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there a path from s to t in G?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Easy to find the connectivity for small graphs.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Tough to find for very large graphs.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Design an efficient algorithm for finding the connectivity.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24</a:t>
            </a:fld>
            <a:endParaRPr lang="en-US"/>
          </a:p>
        </p:txBody>
      </p:sp>
      <p:pic>
        <p:nvPicPr>
          <p:cNvPr id="1026" name="Picture 2" descr="maze-for-kids-fre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676400"/>
            <a:ext cx="6629400" cy="4711250"/>
          </a:xfrm>
          <a:prstGeom prst="rect">
            <a:avLst/>
          </a:prstGeom>
          <a:noFill/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2550" y="1600200"/>
            <a:ext cx="6648450" cy="473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basic idea in searching for a path is to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“explore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" the graph G starting from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s, maintaining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set R consisting of all nodes that s can reach.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Initially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we set R =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{s}.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at any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point in time, there is an edge (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u, v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where u </a:t>
            </a:r>
            <a:r>
              <a:rPr lang="az-Cyrl-AZ" sz="36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R and v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₡ R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then we claim it is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safe to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add v to 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Indeed, if there is a path P from s to u, then there is a path from s to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v obtained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following P and then following the edge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u,v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Suppose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continue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this of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growing the set R until there are no more edges leading out of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R.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362200"/>
            <a:ext cx="830580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CONNECTIVITY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29</a:t>
            </a:fld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785938"/>
            <a:ext cx="5410200" cy="4406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TRAVERSALS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181600"/>
          </a:xfrm>
        </p:spPr>
        <p:txBody>
          <a:bodyPr>
            <a:normAutofit lnSpcReduction="1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Graph traversal means visiting every vertex and edge exactly once in a well-defined order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While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using certain graph algorithms, you must ensure that each vertex of the graph is visited exactly once.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order in which the vertices are visited are important and may depend upon the algorithm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or the problem.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GRAPH TRAVERSALS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763000" cy="5181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During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traversal, it is important that you track which vertices have been visited.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most common way of tracking vertices is to mark them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2 Types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 smtClean="0">
                <a:latin typeface="Times New Roman" pitchFamily="18" charset="0"/>
                <a:cs typeface="Times New Roman" pitchFamily="18" charset="0"/>
              </a:rPr>
              <a:t>Breadth 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First Search (BFS)</a:t>
            </a:r>
          </a:p>
          <a:p>
            <a:pPr lvl="1">
              <a:buFont typeface="Arial" pitchFamily="34" charset="0"/>
              <a:buChar char="•"/>
            </a:pP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Depth First Search (DFS)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BFS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is a traversing algorithm where you should start traversing from a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source node and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traverse the graph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layer-wise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thus exploring the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neighbor nodes. 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Then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move towards the next-level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neighbor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nodes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649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As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name BFS suggests, you are required to traverse the graph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breadth wise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as follows: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First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move horizontally and visit all the nodes of the current layer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Move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to the next layer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8" name="Picture 7" descr="Breadth-First-Search-Algorithm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6477000" cy="495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4600"/>
            <a:ext cx="8229600" cy="17526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WORKING OF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this algorithm, given a graph G= (V, E) and a source vertex S, we explore from S in all possible directions, adding nodes one “layer” at a time.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Example 1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Consider the source vertex S=1. Add to BFS tree T @ Layer 0.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discover nodes {2,3} from node 1 check if {2,3} are in T</a:t>
            </a:r>
          </a:p>
          <a:p>
            <a:pPr lvl="8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</a:t>
            </a:r>
          </a:p>
          <a:p>
            <a:pPr lvl="8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                               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Layer L1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ezone\Desktop\g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676400"/>
            <a:ext cx="4156364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143" y="5638800"/>
            <a:ext cx="26479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2639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We now discover nodes {3,4,5} from node 2 in L1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 is already present in T</a:t>
            </a:r>
          </a:p>
          <a:p>
            <a:pPr lvl="1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4,5 to T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		Layer 2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now discover the nodes {2,5,7,8} from the node 3 in L1.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is already present in T				    L2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 is already present in T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7,8 to T</a:t>
            </a:r>
          </a:p>
          <a:p>
            <a:pPr marL="457200" lvl="1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457200" lvl="1" indent="0"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						                       		                                           L2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818" y="1184564"/>
            <a:ext cx="26479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114800"/>
            <a:ext cx="257175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719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Now we consider each node in L2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4 we discover node 5.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 is already there in T.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From 5 we discover nodes {4,6}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 is already there in T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6 to T</a:t>
            </a:r>
          </a:p>
          <a:p>
            <a:pPr lvl="1"/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From 7 we discover {3,8} and 8 we discover {3,7} which are already in T.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250" y="762000"/>
            <a:ext cx="25717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131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new node 6 added in L3, there are no more further nodes to be explored.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full BFS tree is as depicted below.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L0							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L1							L1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L2							L2		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						L3</a:t>
            </a:r>
          </a:p>
          <a:p>
            <a:pPr marL="0" indent="0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1905000"/>
            <a:ext cx="5124450" cy="4680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2281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27"/>
            <a:ext cx="8229600" cy="60267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APPLYING THE BFS ALGORITHM</a:t>
            </a:r>
            <a:endParaRPr lang="en-IN" b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687462"/>
              </p:ext>
            </p:extLst>
          </p:nvPr>
        </p:nvGraphicFramePr>
        <p:xfrm>
          <a:off x="304800" y="2057399"/>
          <a:ext cx="87930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6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8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1982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1982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56690">
                <a:tc gridSpan="6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Discovered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Edge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Tree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9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L[0] = 1             I=0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Ø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9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L[1]</a:t>
                      </a:r>
                      <a:r>
                        <a:rPr lang="en-US" baseline="0" dirty="0" smtClean="0"/>
                        <a:t> =2              I=1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U=1,  V=2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9511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L[1] =2, 3          I=1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U=1,  V=3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endParaRPr lang="en-US" dirty="0" smtClean="0"/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511">
                <a:tc>
                  <a:txBody>
                    <a:bodyPr/>
                    <a:lstStyle/>
                    <a:p>
                      <a:endParaRPr lang="en-US" dirty="0" smtClean="0"/>
                    </a:p>
                    <a:p>
                      <a:r>
                        <a:rPr lang="en-US" dirty="0" smtClean="0"/>
                        <a:t>T</a:t>
                      </a:r>
                    </a:p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L[2]=  4              I=2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U=2,  V=1, V=3, V=4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9511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L[2] = 5               I=2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U=3,  V=1, V=2, V=5</a:t>
                      </a:r>
                    </a:p>
                    <a:p>
                      <a:endParaRPr lang="en-US" dirty="0" smtClean="0"/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90"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L[3] = 6               I=3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U=4</a:t>
                      </a:r>
                      <a:r>
                        <a:rPr lang="en-US" baseline="0" dirty="0" smtClean="0"/>
                        <a:t>,  V=2, V=5, V=6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val 4"/>
          <p:cNvSpPr/>
          <p:nvPr/>
        </p:nvSpPr>
        <p:spPr>
          <a:xfrm>
            <a:off x="6963040" y="2895600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IN" dirty="0"/>
          </a:p>
        </p:txBody>
      </p:sp>
      <p:sp>
        <p:nvSpPr>
          <p:cNvPr id="6" name="Oval 5"/>
          <p:cNvSpPr/>
          <p:nvPr/>
        </p:nvSpPr>
        <p:spPr>
          <a:xfrm>
            <a:off x="6965330" y="3538068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IN" dirty="0"/>
          </a:p>
        </p:txBody>
      </p:sp>
      <p:sp>
        <p:nvSpPr>
          <p:cNvPr id="7" name="Oval 6"/>
          <p:cNvSpPr/>
          <p:nvPr/>
        </p:nvSpPr>
        <p:spPr>
          <a:xfrm>
            <a:off x="7990568" y="3327671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8" name="Oval 7"/>
          <p:cNvSpPr/>
          <p:nvPr/>
        </p:nvSpPr>
        <p:spPr>
          <a:xfrm>
            <a:off x="7976714" y="3881852"/>
            <a:ext cx="457200" cy="277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IN" dirty="0"/>
          </a:p>
        </p:txBody>
      </p:sp>
      <p:cxnSp>
        <p:nvCxnSpPr>
          <p:cNvPr id="10" name="Straight Connector 9"/>
          <p:cNvCxnSpPr>
            <a:stCxn id="6" idx="7"/>
          </p:cNvCxnSpPr>
          <p:nvPr/>
        </p:nvCxnSpPr>
        <p:spPr>
          <a:xfrm flipV="1">
            <a:off x="7355575" y="3427232"/>
            <a:ext cx="621139" cy="1554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8" idx="1"/>
          </p:cNvCxnSpPr>
          <p:nvPr/>
        </p:nvCxnSpPr>
        <p:spPr>
          <a:xfrm>
            <a:off x="7422530" y="3774090"/>
            <a:ext cx="621139" cy="1483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892608" y="4395722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IN" dirty="0"/>
          </a:p>
        </p:txBody>
      </p:sp>
      <p:sp>
        <p:nvSpPr>
          <p:cNvPr id="15" name="Oval 14"/>
          <p:cNvSpPr/>
          <p:nvPr/>
        </p:nvSpPr>
        <p:spPr>
          <a:xfrm>
            <a:off x="7684637" y="4224076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6" name="Oval 15"/>
          <p:cNvSpPr/>
          <p:nvPr/>
        </p:nvSpPr>
        <p:spPr>
          <a:xfrm>
            <a:off x="7639596" y="4700522"/>
            <a:ext cx="457200" cy="277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IN" dirty="0"/>
          </a:p>
        </p:txBody>
      </p:sp>
      <p:cxnSp>
        <p:nvCxnSpPr>
          <p:cNvPr id="17" name="Straight Connector 16"/>
          <p:cNvCxnSpPr>
            <a:stCxn id="14" idx="7"/>
          </p:cNvCxnSpPr>
          <p:nvPr/>
        </p:nvCxnSpPr>
        <p:spPr>
          <a:xfrm flipV="1">
            <a:off x="7282853" y="4362622"/>
            <a:ext cx="386769" cy="77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349808" y="4592760"/>
            <a:ext cx="319814" cy="107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40600" y="4224076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IN" dirty="0"/>
          </a:p>
        </p:txBody>
      </p:sp>
      <p:cxnSp>
        <p:nvCxnSpPr>
          <p:cNvPr id="22" name="Straight Connector 21"/>
          <p:cNvCxnSpPr/>
          <p:nvPr/>
        </p:nvCxnSpPr>
        <p:spPr>
          <a:xfrm>
            <a:off x="8190906" y="4355694"/>
            <a:ext cx="449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6862582" y="5300096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IN" dirty="0"/>
          </a:p>
        </p:txBody>
      </p:sp>
      <p:sp>
        <p:nvSpPr>
          <p:cNvPr id="28" name="Oval 27"/>
          <p:cNvSpPr/>
          <p:nvPr/>
        </p:nvSpPr>
        <p:spPr>
          <a:xfrm>
            <a:off x="7654611" y="5167318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29" name="Oval 28"/>
          <p:cNvSpPr/>
          <p:nvPr/>
        </p:nvSpPr>
        <p:spPr>
          <a:xfrm>
            <a:off x="7609570" y="5604896"/>
            <a:ext cx="457200" cy="277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IN" dirty="0"/>
          </a:p>
        </p:txBody>
      </p:sp>
      <p:cxnSp>
        <p:nvCxnSpPr>
          <p:cNvPr id="30" name="Straight Connector 29"/>
          <p:cNvCxnSpPr>
            <a:stCxn id="27" idx="7"/>
          </p:cNvCxnSpPr>
          <p:nvPr/>
        </p:nvCxnSpPr>
        <p:spPr>
          <a:xfrm flipV="1">
            <a:off x="7252827" y="5266996"/>
            <a:ext cx="386769" cy="77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319782" y="5497134"/>
            <a:ext cx="319814" cy="1077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8610574" y="5128450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IN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8160880" y="5260068"/>
            <a:ext cx="449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8537824" y="5594870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8088130" y="5726488"/>
            <a:ext cx="449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7212" y="6246459"/>
            <a:ext cx="75033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Now L[</a:t>
            </a:r>
            <a:r>
              <a:rPr lang="en-US" dirty="0" err="1" smtClean="0"/>
              <a:t>i</a:t>
            </a:r>
            <a:r>
              <a:rPr lang="en-US" dirty="0" smtClean="0"/>
              <a:t>] is empty.  So the BFS Tree.</a:t>
            </a:r>
            <a:endParaRPr lang="en-IN" dirty="0"/>
          </a:p>
        </p:txBody>
      </p:sp>
      <p:sp>
        <p:nvSpPr>
          <p:cNvPr id="37" name="Oval 36"/>
          <p:cNvSpPr/>
          <p:nvPr/>
        </p:nvSpPr>
        <p:spPr>
          <a:xfrm>
            <a:off x="1668843" y="1047178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IN" dirty="0"/>
          </a:p>
        </p:txBody>
      </p:sp>
      <p:sp>
        <p:nvSpPr>
          <p:cNvPr id="38" name="Oval 37"/>
          <p:cNvSpPr/>
          <p:nvPr/>
        </p:nvSpPr>
        <p:spPr>
          <a:xfrm>
            <a:off x="2509941" y="730059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39" name="Oval 38"/>
          <p:cNvSpPr/>
          <p:nvPr/>
        </p:nvSpPr>
        <p:spPr>
          <a:xfrm>
            <a:off x="2460872" y="1619043"/>
            <a:ext cx="457200" cy="277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IN" dirty="0"/>
          </a:p>
        </p:txBody>
      </p:sp>
      <p:cxnSp>
        <p:nvCxnSpPr>
          <p:cNvPr id="40" name="Straight Connector 39"/>
          <p:cNvCxnSpPr>
            <a:stCxn id="37" idx="7"/>
          </p:cNvCxnSpPr>
          <p:nvPr/>
        </p:nvCxnSpPr>
        <p:spPr>
          <a:xfrm flipV="1">
            <a:off x="2059088" y="868604"/>
            <a:ext cx="401784" cy="223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39" idx="1"/>
          </p:cNvCxnSpPr>
          <p:nvPr/>
        </p:nvCxnSpPr>
        <p:spPr>
          <a:xfrm>
            <a:off x="2126043" y="1244216"/>
            <a:ext cx="401784" cy="415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4191000" y="699655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IN" dirty="0"/>
          </a:p>
        </p:txBody>
      </p:sp>
      <p:cxnSp>
        <p:nvCxnSpPr>
          <p:cNvPr id="43" name="Straight Connector 42"/>
          <p:cNvCxnSpPr/>
          <p:nvPr/>
        </p:nvCxnSpPr>
        <p:spPr>
          <a:xfrm>
            <a:off x="2967141" y="868604"/>
            <a:ext cx="12238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191000" y="1585566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cxnSp>
        <p:nvCxnSpPr>
          <p:cNvPr id="45" name="Straight Connector 44"/>
          <p:cNvCxnSpPr>
            <a:endCxn id="44" idx="2"/>
          </p:cNvCxnSpPr>
          <p:nvPr/>
        </p:nvCxnSpPr>
        <p:spPr>
          <a:xfrm flipV="1">
            <a:off x="2918072" y="1724112"/>
            <a:ext cx="1272928" cy="4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V="1">
            <a:off x="4648200" y="1416789"/>
            <a:ext cx="533400" cy="2232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4648200" y="890546"/>
            <a:ext cx="533400" cy="30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5181600" y="1174828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  <p:cxnSp>
        <p:nvCxnSpPr>
          <p:cNvPr id="55" name="Straight Connector 54"/>
          <p:cNvCxnSpPr>
            <a:stCxn id="38" idx="4"/>
            <a:endCxn id="39" idx="0"/>
          </p:cNvCxnSpPr>
          <p:nvPr/>
        </p:nvCxnSpPr>
        <p:spPr>
          <a:xfrm flipH="1">
            <a:off x="2689472" y="1007150"/>
            <a:ext cx="49069" cy="6118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endCxn id="44" idx="0"/>
          </p:cNvCxnSpPr>
          <p:nvPr/>
        </p:nvCxnSpPr>
        <p:spPr>
          <a:xfrm>
            <a:off x="4418115" y="976746"/>
            <a:ext cx="1485" cy="6088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927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36417"/>
            <a:ext cx="8229600" cy="60267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APPLYING THE BFS ALGORITHM</a:t>
            </a:r>
            <a:endParaRPr lang="en-IN" b="1" dirty="0"/>
          </a:p>
        </p:txBody>
      </p:sp>
      <p:sp>
        <p:nvSpPr>
          <p:cNvPr id="37" name="Oval 36"/>
          <p:cNvSpPr/>
          <p:nvPr/>
        </p:nvSpPr>
        <p:spPr>
          <a:xfrm>
            <a:off x="2507043" y="3287624"/>
            <a:ext cx="457200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</a:t>
            </a:r>
            <a:endParaRPr lang="en-IN" dirty="0"/>
          </a:p>
        </p:txBody>
      </p:sp>
      <p:sp>
        <p:nvSpPr>
          <p:cNvPr id="38" name="Oval 37"/>
          <p:cNvSpPr/>
          <p:nvPr/>
        </p:nvSpPr>
        <p:spPr>
          <a:xfrm>
            <a:off x="3348141" y="2970505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39" name="Oval 38"/>
          <p:cNvSpPr/>
          <p:nvPr/>
        </p:nvSpPr>
        <p:spPr>
          <a:xfrm>
            <a:off x="3299072" y="3859489"/>
            <a:ext cx="457200" cy="27709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</a:t>
            </a:r>
            <a:endParaRPr lang="en-IN" dirty="0"/>
          </a:p>
        </p:txBody>
      </p:sp>
      <p:cxnSp>
        <p:nvCxnSpPr>
          <p:cNvPr id="40" name="Straight Connector 39"/>
          <p:cNvCxnSpPr>
            <a:stCxn id="37" idx="7"/>
          </p:cNvCxnSpPr>
          <p:nvPr/>
        </p:nvCxnSpPr>
        <p:spPr>
          <a:xfrm flipV="1">
            <a:off x="2897288" y="3109050"/>
            <a:ext cx="401784" cy="2232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39" idx="1"/>
          </p:cNvCxnSpPr>
          <p:nvPr/>
        </p:nvCxnSpPr>
        <p:spPr>
          <a:xfrm>
            <a:off x="2964243" y="3484662"/>
            <a:ext cx="401784" cy="415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029200" y="2940101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4</a:t>
            </a:r>
            <a:endParaRPr lang="en-IN" dirty="0"/>
          </a:p>
        </p:txBody>
      </p:sp>
      <p:cxnSp>
        <p:nvCxnSpPr>
          <p:cNvPr id="43" name="Straight Connector 42"/>
          <p:cNvCxnSpPr/>
          <p:nvPr/>
        </p:nvCxnSpPr>
        <p:spPr>
          <a:xfrm>
            <a:off x="3805341" y="3109050"/>
            <a:ext cx="12238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5029200" y="3826012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  <p:cxnSp>
        <p:nvCxnSpPr>
          <p:cNvPr id="45" name="Straight Connector 44"/>
          <p:cNvCxnSpPr>
            <a:endCxn id="44" idx="2"/>
          </p:cNvCxnSpPr>
          <p:nvPr/>
        </p:nvCxnSpPr>
        <p:spPr>
          <a:xfrm flipV="1">
            <a:off x="3756272" y="3964558"/>
            <a:ext cx="1272928" cy="49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5486400" y="3130992"/>
            <a:ext cx="533400" cy="30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6019800" y="3415274"/>
            <a:ext cx="457200" cy="27709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816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3" y="1585912"/>
            <a:ext cx="7691437" cy="4967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we store each layer Li as a queue, then inserting nodes into layers and subsequently accessing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them takes constant time per node.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Furthermore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if we represent G using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 adjacency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list, then we spend constant time per edge over the course of the whole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algorithm, since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consider each edge e at most once from each end.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Thus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the overall time spent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by </a:t>
            </a:r>
            <a:r>
              <a:rPr lang="pt-BR" sz="3600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pt-BR" sz="3600" dirty="0">
                <a:latin typeface="Times New Roman" pitchFamily="18" charset="0"/>
                <a:cs typeface="Times New Roman" pitchFamily="18" charset="0"/>
              </a:rPr>
              <a:t>algorithm is O(m + n).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Find the BFS Traversal for the following graph.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3048000"/>
            <a:ext cx="68580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BREADTH-FIRST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BFS Tree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" y="2682875"/>
            <a:ext cx="672465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297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For each j ≥ 1, layer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Lj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produced by BFS consists of all nodes at distance exactly j from s. There is a path from s to t if and only if t appears in some layer.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91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 startAt="2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Let T be a breadth-first search tree, let x and y be nodes in T belonging to layers Li and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Lj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respectively, and let (x, y) be an edge of G. Then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and j differ by at most 1.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5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marL="742950" indent="-742950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Proof: </a:t>
            </a: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Suppose by way of contradiction that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and j differed by more than 1; in particular, suppose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&lt; j − 1. </a:t>
            </a: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Now consider the point in the BFS algorithm when the edges incident to x were being examined. 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2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Since x belongs to layer Li, the only nodes discovered from x belong to layers Li+1 and earlier.</a:t>
            </a: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y is a neighbor of x, then it should have been discovered by this point at the latest and hence should belong to layer Li+1 or earlier.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11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 lnSpcReduction="10000"/>
          </a:bodyPr>
          <a:lstStyle/>
          <a:p>
            <a:pPr marL="742950" indent="-742950">
              <a:buFont typeface="+mj-lt"/>
              <a:buAutoNum type="arabicPeriod" startAt="3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 implementation of the BFS algorithm runs in time O(m + n) (i.e., linear in the input size), if the graph is given by the adjacency list representation.</a:t>
            </a:r>
          </a:p>
          <a:p>
            <a:pPr marL="742950" indent="-742950">
              <a:buFont typeface="+mj-lt"/>
              <a:buAutoNum type="arabicPeriod" startAt="3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Proof: </a:t>
            </a: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need to observe that the For loop processing a node u can take less than O(n) time if u has only a few neighbors. 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04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763000" cy="5562600"/>
          </a:xfrm>
        </p:spPr>
        <p:txBody>
          <a:bodyPr>
            <a:normAutofit/>
          </a:bodyPr>
          <a:lstStyle/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As before, let n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denote the degree of node u, the number of edges incident to u. 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Now, the time spent in the For loop considering edges incident to node u is O(n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), so the total over all nodes is O(∑ </a:t>
            </a:r>
            <a:r>
              <a:rPr lang="en-US" sz="2800" dirty="0" err="1" smtClean="0">
                <a:latin typeface="Times New Roman" pitchFamily="18" charset="0"/>
                <a:cs typeface="Times New Roman" pitchFamily="18" charset="0"/>
              </a:rPr>
              <a:t>u∈V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44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14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BFS CLAIMS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257800"/>
          </a:xfrm>
        </p:spPr>
        <p:txBody>
          <a:bodyPr>
            <a:normAutofit lnSpcReduction="10000"/>
          </a:bodyPr>
          <a:lstStyle/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Recall that ∑</a:t>
            </a:r>
            <a:r>
              <a:rPr lang="en-US" sz="2200" dirty="0" err="1" smtClean="0"/>
              <a:t>u∈V</a:t>
            </a:r>
            <a:r>
              <a:rPr lang="en-US" sz="2200" dirty="0" smtClean="0"/>
              <a:t> 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= 2m, and so the total time spent considering edges over the whole algorithm is O(m). 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need O(n) additional time to set up lists and manage the array Discovered. 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So the total time spent is O(m + n) as claimed. 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03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257800"/>
          </a:xfrm>
        </p:spPr>
        <p:txBody>
          <a:bodyPr>
            <a:normAutofit lnSpcReduction="10000"/>
          </a:bodyPr>
          <a:lstStyle/>
          <a:p>
            <a:pPr marL="742950" indent="-742950"/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The Problem</a:t>
            </a:r>
          </a:p>
          <a:p>
            <a:pPr marL="742950" indent="-742950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riangle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is not bipartite, since we can color one node red, another one blue, and then we can’t do anything with the third node. </a:t>
            </a:r>
          </a:p>
          <a:p>
            <a:pPr marL="742950" indent="-742950"/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 graph G simply contains an odd cycle, then we can apply an argument;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thus</a:t>
            </a:r>
          </a:p>
          <a:p>
            <a:pPr marL="742950" indent="-742950"/>
            <a:r>
              <a:rPr lang="en-US" sz="3600" b="1" i="1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600" b="1" i="1" dirty="0">
                <a:latin typeface="Times New Roman" pitchFamily="18" charset="0"/>
                <a:cs typeface="Times New Roman" pitchFamily="18" charset="0"/>
              </a:rPr>
              <a:t>a graph G is bipartite, then it cannot contain an odd cycle. </a:t>
            </a:r>
          </a:p>
          <a:p>
            <a:pPr marL="742950" indent="-742950"/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23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257800"/>
          </a:xfrm>
        </p:spPr>
        <p:txBody>
          <a:bodyPr>
            <a:normAutofit fontScale="925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Designing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the Algorithm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can implement this on top of BFS, by simply taking the implementation of BFS and adding an extra array Color over the nodes.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Whenever we get to a step in BFS where we are adding a node v to a list L[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+ 1], we assign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Color[v]= red if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+ 1 is an even number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Color[v]= blue if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+ 1 is an odd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60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2578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Designing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the Algorithm 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At the end of this procedure, we simply scan all the edges and determine whether there is any edge for which both ends received the same color.</a:t>
            </a:r>
          </a:p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Thus, the total running time for the coloring algorithm is O(m + n), just as it is for BFS.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40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257800"/>
          </a:xfrm>
        </p:spPr>
        <p:txBody>
          <a:bodyPr>
            <a:normAutofit fontScale="92500" lnSpcReduction="10000"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Analyzing </a:t>
            </a:r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the Algorithm </a:t>
            </a:r>
          </a:p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Let G be a connected graph, and let L1, L2, . . . be the layers produced by BFS starting at node s. Then exactly one of the following two things must hold. </a:t>
            </a:r>
          </a:p>
          <a:p>
            <a:pPr algn="just"/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) There is no edge of G joining two nodes of the same layer. In this case G is a bipartite graph in which the nodes in even-numbered layers can be colored red, and the nodes in odd-numbered layers can be colored blue.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296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5943600" cy="52578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Analyzing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the Algorithm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ii) There is an edge of G joining two nodes of the same layer. In this case, G contains an odd-length cycle, and so it cannot be bipartite.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488" y="2296714"/>
            <a:ext cx="2337312" cy="334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143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199"/>
            <a:ext cx="8458200" cy="5121275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Proof: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First consider case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where we suppose that there is no edge joining two nodes of the same layer.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know that every edge of G joins nodes either in the same layer or in adjacent layers.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Our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assumption for case 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is precisely that the first of these two alternatives never happens, so this means that every edge joins two nodes in adjacent layers.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our coloring procedure gives nodes in adjacent layers the opposite colors, and so every edge has ends with opposite colors.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Thus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this coloring establishes that G is bipartite.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6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199"/>
            <a:ext cx="8458200" cy="5121275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Now suppose we are in case (ii); why must G contain an odd cycle?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We are told that G contains an edge joining two nodes of the same layer.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Suppose this is the edge e = (x, y), with x, y ∈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Lj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Also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for notational reasons, recall that L0 (“layer 0”) is the set consisting of just s.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consider the BFS tree T produced by our algorithm, and let z be the node whose layer number is as large as possible, subject to the condition that z is an ancestor of both x and y in T;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182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TESTING BIPARTITENESS: </a:t>
            </a:r>
            <a:br>
              <a:rPr lang="en-US" sz="48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 APPLICATION OF BFS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199"/>
            <a:ext cx="8458200" cy="51212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Now suppose we are in case (ii); why must G contain an odd cycle? 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Suppose z ∈ Li, where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&lt; j.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consider the cycle C defined by following the z-x path in T, then the edge e and then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y-z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path in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length of this cycle is (j 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+ 1+ (j 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), adding the length of its three parts separately; this is equal to 2(j −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 + 1, which is an odd number.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471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2887" y="2667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50292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Another method to find the nodes reachable from S.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Start from S and try the first edge leading out of it, to a node v.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Follow the first edge leading out of v, and continue in this way until you reached a “dead end“.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3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Then back-track till you got to a node with an unvisited neighbor, and resume from there.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Called Depth-First Search (DFS) as it explores G by going as deeply as possible, and only retreating when necessary.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7" name="Picture 6" descr="dfs1 (1)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600200"/>
            <a:ext cx="6705600" cy="4572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676400"/>
            <a:ext cx="8193244" cy="4090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219199"/>
            <a:ext cx="5638800" cy="48006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68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69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5" y="1228725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70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71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72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73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458200" y="2590800"/>
            <a:ext cx="7475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POP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5" y="1228725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74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5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75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05800" y="2590800"/>
            <a:ext cx="7475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POP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5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76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305800" y="3124200"/>
            <a:ext cx="7475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POP 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4875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77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7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78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7  8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2192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79</a:t>
            </a:fld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248400" y="19050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048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7  8                                                                               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219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 EMPTY 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1219200"/>
            <a:ext cx="4276725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5867400"/>
            <a:ext cx="624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OUTPUT:  1  2  3  5  4  6  7  8                                                                                     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1143000"/>
            <a:ext cx="5029200" cy="407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81</a:t>
            </a:fld>
            <a:endParaRPr lang="en-U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3" y="1447800"/>
            <a:ext cx="8067675" cy="434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DEPTH-FIRST SEARCH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82</a:t>
            </a:fld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8163" y="1447800"/>
            <a:ext cx="8067675" cy="4348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APPLICATIONS OF GRAPH TRAVERSALS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800600"/>
          </a:xfr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Testing Whether a Graph is Bipartite</a:t>
            </a:r>
          </a:p>
          <a:p>
            <a:pPr marL="742950" indent="-742950">
              <a:buFont typeface="+mj-lt"/>
              <a:buAutoNum type="arabicPeriod"/>
            </a:pP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pPr marL="742950" indent="-742950">
              <a:buFont typeface="+mj-lt"/>
              <a:buAutoNum type="arabicPeriod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Finding Cut-Points in a Graph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APPLICATIONS OF GRAPH TRAVERSALS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752600"/>
            <a:ext cx="8763000" cy="4800600"/>
          </a:xfrm>
        </p:spPr>
        <p:txBody>
          <a:bodyPr>
            <a:noAutofit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Finding Cut-Points in a Graph</a:t>
            </a:r>
          </a:p>
          <a:p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A Connected graph G = (V, E), we say that u </a:t>
            </a:r>
            <a:r>
              <a:rPr lang="az-Cyrl-AZ" sz="3000" dirty="0" smtClean="0">
                <a:latin typeface="Times New Roman" pitchFamily="18" charset="0"/>
                <a:cs typeface="Times New Roman" pitchFamily="18" charset="0"/>
              </a:rPr>
              <a:t>Є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 V is a cut-point if deleting u disconnects G.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In other words, if G – {u} is not connected. 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We can think of the cut-points as the " weak points" of G, the destruction of a single cut-point separates the graph into multiple pieces.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669" y="685800"/>
            <a:ext cx="8229600" cy="51054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DIRECTED ACYCLIC GRAPHS 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AND </a:t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DIRECTED ACYCLIC GRAPHS AND TOPOLOGICAL ORDERING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19812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If an undirected graph has no cycles, then it has an extremely simple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structure.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ach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of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its connected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components is a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86</a:t>
            </a:fld>
            <a:endParaRPr lang="en-US"/>
          </a:p>
        </p:txBody>
      </p:sp>
      <p:pic>
        <p:nvPicPr>
          <p:cNvPr id="32770" name="Picture 2" descr="Image result for a connected undirected graph without cycle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00200" y="3505200"/>
            <a:ext cx="5946058" cy="31242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842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 smtClean="0">
                <a:latin typeface="Times New Roman" pitchFamily="18" charset="0"/>
                <a:cs typeface="Times New Roman" pitchFamily="18" charset="0"/>
              </a:rPr>
              <a:t>DIRECTED ACYCLIC GRAPHS AND TOPOLOGICAL ORDERING</a:t>
            </a:r>
            <a:endParaRPr lang="en-US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2667000"/>
          </a:xfrm>
        </p:spPr>
        <p:txBody>
          <a:bodyPr>
            <a:normAutofit/>
          </a:bodyPr>
          <a:lstStyle/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But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it is possible for a directed graph to have no (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directed) cycles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and still have a very rich structure.</a:t>
            </a:r>
          </a:p>
          <a:p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 directed graph has no cycles, we call 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it as a Directed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cyclic 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G</a:t>
            </a:r>
            <a:r>
              <a:rPr lang="en-US" sz="3000" dirty="0" smtClean="0">
                <a:latin typeface="Times New Roman" pitchFamily="18" charset="0"/>
                <a:cs typeface="Times New Roman" pitchFamily="18" charset="0"/>
              </a:rPr>
              <a:t>raph</a:t>
            </a:r>
            <a:r>
              <a:rPr lang="en-US" sz="3000" dirty="0">
                <a:latin typeface="Times New Roman" pitchFamily="18" charset="0"/>
                <a:cs typeface="Times New Roman" pitchFamily="18" charset="0"/>
              </a:rPr>
              <a:t>, or a DAG for short. </a:t>
            </a:r>
            <a:endParaRPr lang="en-US" sz="3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87</a:t>
            </a:fld>
            <a:endParaRPr lang="en-US"/>
          </a:p>
        </p:txBody>
      </p:sp>
      <p:pic>
        <p:nvPicPr>
          <p:cNvPr id="3074" name="Picture 2" descr="Image result for directed acyclic graph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3886200"/>
            <a:ext cx="5091545" cy="2667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842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88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819400"/>
            <a:ext cx="260985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91000" y="1676400"/>
            <a:ext cx="12858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467600" y="2743200"/>
            <a:ext cx="108585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343400" y="2819400"/>
            <a:ext cx="201930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90600" y="1676400"/>
            <a:ext cx="2343150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77000" y="1600200"/>
            <a:ext cx="2276475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4" name="Picture 10" descr="real house inspired by cartoons 02 10 Amazing Houses Inspired By Favorite Cartoons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2133600" y="3657600"/>
            <a:ext cx="4969565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89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6725" y="1752600"/>
            <a:ext cx="821055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5105400"/>
            <a:ext cx="8451850" cy="116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THE PROBLEM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DAGs can be used to encode precedence relations or dependencies in a natural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way.</a:t>
            </a:r>
          </a:p>
          <a:p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Suppose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we have a set of tasks labeled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1, 2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…..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n} that need to be 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performed.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There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are dependencies among them stipulating, for certain pairs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and j, that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must be performed before j.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119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THE PROBLEM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9530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can represent such an interdependent set of tasks by introducing a node for each task, and a directed edge (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, j) whenever </a:t>
            </a:r>
            <a:r>
              <a:rPr lang="en-US" sz="36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 must be done before j. </a:t>
            </a:r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</a:t>
            </a:r>
            <a:r>
              <a:rPr lang="en-US" sz="3600" dirty="0">
                <a:latin typeface="Times New Roman" pitchFamily="18" charset="0"/>
                <a:cs typeface="Times New Roman" pitchFamily="18" charset="0"/>
              </a:rPr>
              <a:t>the precedence relation is to be at all meaningful, the resulting graph G must be a DAG.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SOURCE – REMOVAL ALGORITHM</a:t>
            </a:r>
            <a:endParaRPr lang="en-US" sz="3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590800"/>
            <a:ext cx="8305799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33600" y="2057400"/>
            <a:ext cx="4167188" cy="338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94</a:t>
            </a:fld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2819400"/>
            <a:ext cx="318797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57600" y="3505200"/>
            <a:ext cx="1733550" cy="1019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562600" y="2743200"/>
            <a:ext cx="323850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1000" y="1447800"/>
            <a:ext cx="8153400" cy="68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Method 1: Source – Removal Algorithm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" y="2447925"/>
            <a:ext cx="3238500" cy="2657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33800" y="3048000"/>
            <a:ext cx="1762125" cy="88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2286000"/>
            <a:ext cx="1905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2362200"/>
            <a:ext cx="1905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76600" y="2971800"/>
            <a:ext cx="1704975" cy="952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324600" y="2286000"/>
            <a:ext cx="8191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97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2362200"/>
            <a:ext cx="819150" cy="258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2971800"/>
            <a:ext cx="1857375" cy="1038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62400" y="3200400"/>
            <a:ext cx="78105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181600" y="2971800"/>
            <a:ext cx="1724025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0" y="5486400"/>
            <a:ext cx="7410450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62200" y="2819400"/>
            <a:ext cx="4167188" cy="338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16002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Method 2: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Using DFS Traversal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99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8400" y="20574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133600"/>
            <a:ext cx="41433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8400" y="20574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C3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4900" y="2057400"/>
            <a:ext cx="4229100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101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8400" y="20574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C4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2286000"/>
            <a:ext cx="409575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102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8400" y="20574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C5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C4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2133600"/>
            <a:ext cx="4048125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C5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C4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C3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0" y="28194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POP C5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C4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C3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0" y="34290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POP C4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C3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0" y="41148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POP C3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10200" y="47244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POP C1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543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10200" y="5334000"/>
            <a:ext cx="2514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PUSH C2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108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48400" y="20574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C2</a:t>
                      </a:r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371600"/>
            <a:ext cx="16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STACK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133600"/>
            <a:ext cx="4143375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109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762000" y="1371600"/>
            <a:ext cx="281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192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C2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76600" y="5181600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POP C2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648200" y="1371600"/>
            <a:ext cx="3886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          EMPTY STACK</a:t>
            </a: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91200" y="2133600"/>
          <a:ext cx="1981200" cy="3886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2800" b="1" kern="1200" dirty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endParaRPr lang="en-US" sz="2800" b="1" kern="1200" dirty="0" smtClean="0">
                        <a:solidFill>
                          <a:schemeClr val="tx1"/>
                        </a:solidFill>
                        <a:latin typeface="Times New Roman" pitchFamily="18" charset="0"/>
                        <a:ea typeface="+mn-ea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110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05400" y="1295400"/>
            <a:ext cx="33528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POPPING OFF ORDER</a:t>
            </a:r>
          </a:p>
          <a:p>
            <a:pPr algn="ctr"/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C5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C4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C3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C1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C2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1219200"/>
            <a:ext cx="4167188" cy="338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1295400" y="5257800"/>
            <a:ext cx="6324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Topologically Sorted List:</a:t>
            </a:r>
          </a:p>
          <a:p>
            <a:pPr algn="ctr"/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C2 </a:t>
            </a:r>
            <a:r>
              <a:rPr lang="en-US" sz="2800" b="1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C1  C3  C4  C5</a:t>
            </a:r>
            <a:endParaRPr lang="en-US" sz="2800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111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381000" y="16002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Method 1: 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Using Source - Removal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438400"/>
            <a:ext cx="6324600" cy="351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112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600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1</a:t>
            </a: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286000"/>
            <a:ext cx="50387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113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600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2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7400" y="2305050"/>
            <a:ext cx="50387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114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600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5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2638" y="2438400"/>
            <a:ext cx="50387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600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4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2638" y="2305050"/>
            <a:ext cx="50387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116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600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3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52638" y="2305050"/>
            <a:ext cx="5038725" cy="280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868362"/>
          </a:xfrm>
        </p:spPr>
        <p:txBody>
          <a:bodyPr>
            <a:noAutofit/>
          </a:bodyPr>
          <a:lstStyle/>
          <a:p>
            <a:r>
              <a:rPr lang="en-US" sz="46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4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117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838200" y="16002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7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9000" y="2362200"/>
            <a:ext cx="191452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990600" y="35814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latin typeface="Times New Roman" pitchFamily="18" charset="0"/>
                <a:cs typeface="Times New Roman" pitchFamily="18" charset="0"/>
              </a:rPr>
              <a:t>Delete Vertex 6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90600" y="5029200"/>
            <a:ext cx="731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Solution:  1   2   5   4   3   7   6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8027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295400"/>
            <a:ext cx="8229600" cy="4343400"/>
          </a:xfrm>
        </p:spPr>
        <p:txBody>
          <a:bodyPr>
            <a:normAutofit/>
          </a:bodyPr>
          <a:lstStyle/>
          <a:p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>ANALYSIS OF</a:t>
            </a:r>
            <a:br>
              <a:rPr lang="en-US" sz="54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>TOPOLOGICAL ORDERING</a:t>
            </a:r>
            <a:endParaRPr lang="en-US" sz="5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892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ANALYSIS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334000"/>
          </a:xfrm>
        </p:spPr>
        <p:txBody>
          <a:bodyPr>
            <a:normAutofit fontScale="92500" lnSpcReduction="2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G has a topological ordering, then G is a DAG. </a:t>
            </a:r>
          </a:p>
          <a:p>
            <a:pPr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Proof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Suppose, by way of contradiction, that G has a topological ordering v1, v2, . . . ,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and also has a cycle C.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Let vi be the lowest-indexed node on C, and let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be the node on C just before vi—thus (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vj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, vi) is an edge. </a:t>
            </a: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But by our choice of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we have j &gt;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, which contradicts the assumption that v1, v2, . . . , </a:t>
            </a:r>
            <a:r>
              <a:rPr lang="en-US" sz="3600" dirty="0" err="1" smtClean="0">
                <a:latin typeface="Times New Roman" pitchFamily="18" charset="0"/>
                <a:cs typeface="Times New Roman" pitchFamily="18" charset="0"/>
              </a:rPr>
              <a:t>vn</a:t>
            </a: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 was a topological ordering. 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49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ANALYSIS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334000"/>
          </a:xfrm>
        </p:spPr>
        <p:txBody>
          <a:bodyPr>
            <a:normAutofit lnSpcReduction="1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If G is a DAG, then G has a topological ordering. </a:t>
            </a:r>
          </a:p>
          <a:p>
            <a:pPr>
              <a:buNone/>
            </a:pP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Proof</a:t>
            </a:r>
            <a:endParaRPr lang="en-US" sz="3600" dirty="0" smtClean="0"/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Since G is a DAG, there is a node v with no incoming edges. 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place v first in the topological ordering; this is safe, since all edges out of v will point forward. 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ANALYSIS 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19200"/>
            <a:ext cx="87630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Now G−{v} is a DAG, since deleting v cannot create any cycles that weren’t there previously.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Also, G−{v} has n-1 nodes, so we can apply the induction hypothesis to obtain a topological ordering of G−{v}. </a:t>
            </a:r>
          </a:p>
          <a:p>
            <a:endParaRPr lang="en-US" sz="36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 append the nodes of G−{v} in this order after v; this is an ordering of G in which all edges point forward, and hence it is a topological ordering.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29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3200"/>
            <a:ext cx="8229600" cy="11430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5884E-CF01-4077-9986-05D7C16A1A3B}" type="slidenum">
              <a:rPr lang="en-US" smtClean="0"/>
              <a:pPr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757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</TotalTime>
  <Words>3496</Words>
  <Application>Microsoft Office PowerPoint</Application>
  <PresentationFormat>On-screen Show (4:3)</PresentationFormat>
  <Paragraphs>713</Paragraphs>
  <Slides>122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122</vt:i4>
      </vt:variant>
    </vt:vector>
  </HeadingPairs>
  <TitlesOfParts>
    <vt:vector size="127" baseType="lpstr">
      <vt:lpstr>Arial</vt:lpstr>
      <vt:lpstr>Calibri</vt:lpstr>
      <vt:lpstr>Times New Roman</vt:lpstr>
      <vt:lpstr>Wingdings</vt:lpstr>
      <vt:lpstr>Office Theme</vt:lpstr>
      <vt:lpstr>GRAPHS</vt:lpstr>
      <vt:lpstr>INTRODUCTION</vt:lpstr>
      <vt:lpstr>INTRODUCTION</vt:lpstr>
      <vt:lpstr>TYPES OF GRAPHS</vt:lpstr>
      <vt:lpstr>DIRECTED GRAPH</vt:lpstr>
      <vt:lpstr>UNDIRECTED GRAPH</vt:lpstr>
      <vt:lpstr>IMPLEMENTING A GRAPH</vt:lpstr>
      <vt:lpstr>ADJACENCY LIST</vt:lpstr>
      <vt:lpstr>ADJACENCY LIST</vt:lpstr>
      <vt:lpstr>ADJACENCY LIST</vt:lpstr>
      <vt:lpstr>ADJACENCY MATRIX</vt:lpstr>
      <vt:lpstr>ADJACENCY MATRIX</vt:lpstr>
      <vt:lpstr>ADJACENCY MATRIX</vt:lpstr>
      <vt:lpstr>ADJACENCY MATRIX VS. LIST?</vt:lpstr>
      <vt:lpstr>PATHS</vt:lpstr>
      <vt:lpstr>CYCLES</vt:lpstr>
      <vt:lpstr>TREES</vt:lpstr>
      <vt:lpstr>TREES</vt:lpstr>
      <vt:lpstr>APPLICATIONS OF GRAPHS</vt:lpstr>
      <vt:lpstr>ALGORITHMS ON GRAPHS</vt:lpstr>
      <vt:lpstr>SEARCHING A GRAPH</vt:lpstr>
      <vt:lpstr>GRAPH CONNECTIVITY</vt:lpstr>
      <vt:lpstr>GRAPH CONNECTIVITY</vt:lpstr>
      <vt:lpstr>GRAPH CONNECTIVITY</vt:lpstr>
      <vt:lpstr>GRAPH CONNECTIVITY</vt:lpstr>
      <vt:lpstr>GRAPH CONNECTIVITY</vt:lpstr>
      <vt:lpstr>GRAPH CONNECTIVITY</vt:lpstr>
      <vt:lpstr>GRAPH CONNECTIVITY</vt:lpstr>
      <vt:lpstr>GRAPH CONNECTIVITY</vt:lpstr>
      <vt:lpstr>GRAPH TRAVERSALS</vt:lpstr>
      <vt:lpstr>GRAPH TRAVERSALS</vt:lpstr>
      <vt:lpstr>BREADTH-FIRST SEARCH</vt:lpstr>
      <vt:lpstr>BREADTH-FIRST SEARCH</vt:lpstr>
      <vt:lpstr>BREADTH-FIRST SEARCH</vt:lpstr>
      <vt:lpstr>BREADTH-FIRST SEARCH</vt:lpstr>
      <vt:lpstr>WORKING OF BREADTH-FIRST SEARCH </vt:lpstr>
      <vt:lpstr>PowerPoint Presentation</vt:lpstr>
      <vt:lpstr>PowerPoint Presentation</vt:lpstr>
      <vt:lpstr>PowerPoint Presentation</vt:lpstr>
      <vt:lpstr>PowerPoint Presentation</vt:lpstr>
      <vt:lpstr>APPLYING THE BFS ALGORITHM</vt:lpstr>
      <vt:lpstr>APPLYING THE BFS ALGORITHM</vt:lpstr>
      <vt:lpstr>BREADTH-FIRST SEARCH</vt:lpstr>
      <vt:lpstr>BREADTH-FIRST SEARCH</vt:lpstr>
      <vt:lpstr>BREADTH-FIRST SEARCH</vt:lpstr>
      <vt:lpstr>BREADTH-FIRST SEARCH</vt:lpstr>
      <vt:lpstr>BFS CLAIMS</vt:lpstr>
      <vt:lpstr>BFS CLAIMS</vt:lpstr>
      <vt:lpstr>BFS CLAIMS</vt:lpstr>
      <vt:lpstr>BFS CLAIMS</vt:lpstr>
      <vt:lpstr>BFS CLAIMS</vt:lpstr>
      <vt:lpstr>BFS CLAIMS</vt:lpstr>
      <vt:lpstr>BFS CLAIMS</vt:lpstr>
      <vt:lpstr>TESTING BIPARTITENESS:  AN APPLICATION OF BFS </vt:lpstr>
      <vt:lpstr>TESTING BIPARTITENESS:  AN APPLICATION OF BFS </vt:lpstr>
      <vt:lpstr>TESTING BIPARTITENESS:  AN APPLICATION OF BFS </vt:lpstr>
      <vt:lpstr>TESTING BIPARTITENESS:  AN APPLICATION OF BFS </vt:lpstr>
      <vt:lpstr>TESTING BIPARTITENESS:  AN APPLICATION OF BFS </vt:lpstr>
      <vt:lpstr>TESTING BIPARTITENESS:  AN APPLICATION OF BFS </vt:lpstr>
      <vt:lpstr>TESTING BIPARTITENESS:  AN APPLICATION OF BFS </vt:lpstr>
      <vt:lpstr>TESTING BIPARTITENESS:  AN APPLICATION OF BFS 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DEPTH-FIRST SEARCH</vt:lpstr>
      <vt:lpstr>APPLICATIONS OF GRAPH TRAVERSALS</vt:lpstr>
      <vt:lpstr>APPLICATIONS OF GRAPH TRAVERSALS</vt:lpstr>
      <vt:lpstr>DIRECTED ACYCLIC GRAPHS   AND   TOPOLOGICAL ORDERING</vt:lpstr>
      <vt:lpstr>DIRECTED ACYCLIC GRAPHS AND TOPOLOGICAL ORDERING</vt:lpstr>
      <vt:lpstr>DIRECTED ACYCLIC GRAPHS AND TOPOLOGICAL ORDERING</vt:lpstr>
      <vt:lpstr>EXAMPLE</vt:lpstr>
      <vt:lpstr>EXAMPLE</vt:lpstr>
      <vt:lpstr>THE PROBLEM </vt:lpstr>
      <vt:lpstr>THE PROBLEM 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TOPOLOGICAL ORDERING</vt:lpstr>
      <vt:lpstr>ANALYSIS OF TOPOLOGICAL ORDERING</vt:lpstr>
      <vt:lpstr>ANALYSIS </vt:lpstr>
      <vt:lpstr>ANALYSIS </vt:lpstr>
      <vt:lpstr>ANALYSIS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GRAPHS</dc:title>
  <dc:creator>promad</dc:creator>
  <cp:lastModifiedBy>ADMIN</cp:lastModifiedBy>
  <cp:revision>116</cp:revision>
  <dcterms:created xsi:type="dcterms:W3CDTF">2018-02-15T16:46:01Z</dcterms:created>
  <dcterms:modified xsi:type="dcterms:W3CDTF">2023-06-07T06:26:56Z</dcterms:modified>
</cp:coreProperties>
</file>