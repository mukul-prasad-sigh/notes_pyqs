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56B82-D434-40FD-BAE7-979A44C54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F63CFB-3414-42AF-81F5-19546BCE18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77969-F071-48BD-BABC-F385477DA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013ED-8CD4-4CE1-B9C1-C605E74B791F}" type="datetimeFigureOut">
              <a:rPr lang="en-IN" smtClean="0"/>
              <a:t>29-05-2022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74155-52A4-4C8A-9749-B43BCC65F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77285-0585-41EA-853E-4ACC9BE09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116E-6FAE-4DAA-AC41-CB0556A8B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788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3610-E03B-4B9C-9438-99DA4AF12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538B7-2E1E-4A58-B4DA-80F7C2C64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1DDF3-68C7-4E16-A341-4E3E8935F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013ED-8CD4-4CE1-B9C1-C605E74B791F}" type="datetimeFigureOut">
              <a:rPr lang="en-IN" smtClean="0"/>
              <a:t>29-05-2022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5EF02-AF16-41C7-8AE0-46E2EF07C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879A4-9049-4EF1-941F-F784D8D47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116E-6FAE-4DAA-AC41-CB0556A8B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93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BCB3A-3934-459E-9B88-FEADB5395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99DF7-63D9-4D3C-A9C2-C5774FC88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E0970-7E17-44D1-935A-8BBFEA6D4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013ED-8CD4-4CE1-B9C1-C605E74B791F}" type="datetimeFigureOut">
              <a:rPr lang="en-IN" smtClean="0"/>
              <a:t>29-05-2022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05BE8-05A0-4A3E-A332-DF9E826C7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EE37D-A465-40C0-B578-ADCF58E2B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116E-6FAE-4DAA-AC41-CB0556A8B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525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34C38-F34F-4239-AA13-BA8B40BA8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86898-ABEA-451D-BB77-B3FF7052F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3971D-E2D8-4A8C-8BC2-7A3D9A124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75A705-CE6C-4011-B9F8-F891C0C86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013ED-8CD4-4CE1-B9C1-C605E74B791F}" type="datetimeFigureOut">
              <a:rPr lang="en-IN" smtClean="0"/>
              <a:t>29-05-2022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FD782-1CBE-424D-A1ED-AEF9B1E26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488EE-D8B9-4B7C-A537-4695F0091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116E-6FAE-4DAA-AC41-CB0556A8B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467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D95F6-DF9A-4D04-A060-39C063D56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7A64D-F097-4D10-899F-5FF9B5FE7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F75EC6-A746-47E6-8138-0C878B54E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F64398-16B2-4B65-AE9E-64F988B602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061E73-0139-41B0-A8EC-442C578567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11414A-7F94-485D-9470-D4DDB8914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013ED-8CD4-4CE1-B9C1-C605E74B791F}" type="datetimeFigureOut">
              <a:rPr lang="en-IN" smtClean="0"/>
              <a:t>29-05-2022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46077F-3CE1-4EA7-91AF-3F27AFC57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BFF2A8-69A0-4C57-ACFE-392A68E1F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116E-6FAE-4DAA-AC41-CB0556A8B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28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021B7-33F9-4DD8-8CB9-1FB62ED1A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E4F748-86AE-4FA9-BA0F-DBA84F1BD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013ED-8CD4-4CE1-B9C1-C605E74B791F}" type="datetimeFigureOut">
              <a:rPr lang="en-IN" smtClean="0"/>
              <a:t>29-05-2022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8F48F2-ABA7-4EA7-ACED-1B9C62171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FCDF7E-DE9A-44FD-8931-10E85E5C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116E-6FAE-4DAA-AC41-CB0556A8B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751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32D49-EB8E-419C-800C-F18082BD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013ED-8CD4-4CE1-B9C1-C605E74B791F}" type="datetimeFigureOut">
              <a:rPr lang="en-IN" smtClean="0"/>
              <a:t>29-05-2022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A8792-01F1-4CCD-82C0-B7026B8CF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B78DB-03B2-42D2-97B2-FE825DFC3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116E-6FAE-4DAA-AC41-CB0556A8B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499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0D529-1B78-41A6-9CF6-20357775F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86BD0-337D-4730-8224-B9318C621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43E96A-6D8E-47E8-91F1-433B5E9AC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EF9E9-2806-40B6-96AF-5DEFE838E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013ED-8CD4-4CE1-B9C1-C605E74B791F}" type="datetimeFigureOut">
              <a:rPr lang="en-IN" smtClean="0"/>
              <a:t>29-05-2022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0D9F7-0331-4E60-B594-6A9F236A8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99D71-D197-410F-B5AF-441C36812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116E-6FAE-4DAA-AC41-CB0556A8B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55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D1E06-6556-45C9-A403-743F5C7A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3086B8-A980-4FAE-A5CD-2330FD3B1B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1714BD-397C-45A8-B78C-5EFD01AB6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A5CD5-4B03-4AC4-BEAF-E1EA96DB0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013ED-8CD4-4CE1-B9C1-C605E74B791F}" type="datetimeFigureOut">
              <a:rPr lang="en-IN" smtClean="0"/>
              <a:t>29-05-2022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457E4-68F0-45C0-890B-218508D23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37ABA-02A5-402C-AE59-636BC49B7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116E-6FAE-4DAA-AC41-CB0556A8B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549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F540E-E7BC-458D-A1CB-55982B2A0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70D0A-9852-416E-B7F4-A8C58417D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F2BD9-8554-48AA-A3FB-B8EE4126D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013ED-8CD4-4CE1-B9C1-C605E74B791F}" type="datetimeFigureOut">
              <a:rPr lang="en-IN" smtClean="0"/>
              <a:t>29-05-2022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ACB25-6256-478D-9975-CB1740E17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DEBDE-E112-4080-87EB-CD0A1227C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116E-6FAE-4DAA-AC41-CB0556A8B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96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E1FB0F-F2EF-4ECC-9357-065F7B64FD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DCE62-56EE-4E93-9ED7-E559F8A88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E18FF-F0E7-4B05-BE15-373AFC298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013ED-8CD4-4CE1-B9C1-C605E74B791F}" type="datetimeFigureOut">
              <a:rPr lang="en-IN" smtClean="0"/>
              <a:t>29-05-2022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724DE-6BEC-4FCA-AC14-F5182798A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1EF17-C91A-4E5B-BE94-C87CF714B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D116E-6FAE-4DAA-AC41-CB0556A8B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218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10840-9FD3-499E-8DB5-BA3EFA02C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F7791-A8BA-4263-BAAD-18CD7DC32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3E167-3DEE-4A32-9A87-93100AEAC7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5013ED-8CD4-4CE1-B9C1-C605E74B791F}" type="datetimeFigureOut">
              <a:rPr lang="en-IN" smtClean="0"/>
              <a:t>29-05-2022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5E911-ACEA-4A07-A5EA-1D1820F5E9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C1483-A0CA-4CD1-8F38-454BB80F1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D116E-6FAE-4DAA-AC41-CB0556A8B73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589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498A54-C8EA-4F88-874B-85C139382412}"/>
              </a:ext>
            </a:extLst>
          </p:cNvPr>
          <p:cNvSpPr txBox="1"/>
          <p:nvPr/>
        </p:nvSpPr>
        <p:spPr>
          <a:xfrm>
            <a:off x="1659832" y="2365512"/>
            <a:ext cx="878619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82828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ordia New" panose="020B0304020202020204" pitchFamily="34" charset="-34"/>
              </a:rPr>
              <a:t>Types of addictions, influencing factors for addictions, Differences between addictive people and non addictive people and their behavior with society</a:t>
            </a:r>
            <a:endParaRPr lang="en-IN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000A93-1ECB-4572-9FB1-8187F2CABF85}"/>
              </a:ext>
            </a:extLst>
          </p:cNvPr>
          <p:cNvSpPr txBox="1"/>
          <p:nvPr/>
        </p:nvSpPr>
        <p:spPr>
          <a:xfrm>
            <a:off x="2334452" y="868881"/>
            <a:ext cx="74369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UNIT-4 : </a:t>
            </a:r>
            <a:r>
              <a:rPr lang="en-IN" sz="2800" b="1" dirty="0">
                <a:solidFill>
                  <a:srgbClr val="0033CC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Avoiding risks and harmful habits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89422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463339-EA5A-43AA-B54C-A0D49BF1D33D}"/>
              </a:ext>
            </a:extLst>
          </p:cNvPr>
          <p:cNvSpPr txBox="1"/>
          <p:nvPr/>
        </p:nvSpPr>
        <p:spPr>
          <a:xfrm>
            <a:off x="525118" y="1274752"/>
            <a:ext cx="10863469" cy="6188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8300">
              <a:spcBef>
                <a:spcPts val="1035"/>
              </a:spcBef>
            </a:pPr>
            <a:r>
              <a:rPr lang="en-US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</a:t>
            </a:r>
            <a:r>
              <a:rPr lang="en-US" sz="40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40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Addiction?</a:t>
            </a:r>
            <a:endParaRPr lang="en-IN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488950" lvl="0" indent="-342900" algn="just">
              <a:lnSpc>
                <a:spcPct val="102000"/>
              </a:lnSpc>
              <a:spcBef>
                <a:spcPts val="705"/>
              </a:spcBef>
              <a:spcAft>
                <a:spcPts val="0"/>
              </a:spcAft>
              <a:buSzPts val="1000"/>
              <a:buFont typeface="Times New Roman" panose="02020603050405020304" pitchFamily="18" charset="0"/>
              <a:buChar char="•"/>
              <a:tabLst>
                <a:tab pos="531495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Addictive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behaviour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behaviour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based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pathological</a:t>
            </a:r>
            <a:r>
              <a:rPr lang="en-US" sz="2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need for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substance or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activity,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mayinvolve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 abuse of substances, such as alcohol or tobacco/opium or the excessive ingestion of high caloric food, resulting in extreme obesity</a:t>
            </a:r>
            <a:endParaRPr lang="en-IN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490855" lvl="0" indent="-342900" algn="just">
              <a:lnSpc>
                <a:spcPct val="103000"/>
              </a:lnSpc>
              <a:spcBef>
                <a:spcPts val="875"/>
              </a:spcBef>
              <a:spcAft>
                <a:spcPts val="0"/>
              </a:spcAft>
              <a:buSzPts val="1000"/>
              <a:buFont typeface="Times New Roman" panose="02020603050405020304" pitchFamily="18" charset="0"/>
              <a:buChar char="•"/>
              <a:tabLst>
                <a:tab pos="531495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Addiction</a:t>
            </a:r>
            <a:r>
              <a:rPr lang="en-US" sz="2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2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2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chronic</a:t>
            </a:r>
            <a:r>
              <a:rPr lang="en-US" sz="2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disorder</a:t>
            </a:r>
            <a:r>
              <a:rPr lang="en-US" sz="2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en-US" sz="2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biological,</a:t>
            </a:r>
            <a:r>
              <a:rPr lang="en-US" sz="2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psychological,</a:t>
            </a:r>
            <a:r>
              <a:rPr lang="en-US" sz="2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social</a:t>
            </a:r>
            <a:r>
              <a:rPr lang="en-US" sz="2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2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environmental</a:t>
            </a:r>
            <a:r>
              <a:rPr lang="en-US" sz="2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factors</a:t>
            </a:r>
            <a:r>
              <a:rPr lang="en-US" sz="2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influencing its development and maintenance.</a:t>
            </a:r>
            <a:endParaRPr lang="en-IN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490855" lvl="0" indent="-342900" algn="just">
              <a:lnSpc>
                <a:spcPct val="103000"/>
              </a:lnSpc>
              <a:spcBef>
                <a:spcPts val="870"/>
              </a:spcBef>
              <a:spcAft>
                <a:spcPts val="0"/>
              </a:spcAft>
              <a:buSzPts val="1000"/>
              <a:buFont typeface="Times New Roman" panose="02020603050405020304" pitchFamily="18" charset="0"/>
              <a:buChar char="•"/>
              <a:tabLst>
                <a:tab pos="531495" algn="l"/>
              </a:tabLst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Addiction occurs when the act of using a substance takes over these circuits and increases the urge to con-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sume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more and more of the substance in order to achieve the same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rewardingeffect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IN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35"/>
              </a:spcBef>
            </a:pPr>
            <a:r>
              <a:rPr lang="en-US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9B8FA5-99F9-4835-96B9-77D60188B3C6}"/>
              </a:ext>
            </a:extLst>
          </p:cNvPr>
          <p:cNvSpPr txBox="1"/>
          <p:nvPr/>
        </p:nvSpPr>
        <p:spPr>
          <a:xfrm>
            <a:off x="3047171" y="689977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8300" algn="ctr">
              <a:spcBef>
                <a:spcPts val="1035"/>
              </a:spcBef>
            </a:pPr>
            <a:r>
              <a:rPr lang="en-US" sz="32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Addictions</a:t>
            </a:r>
            <a:endParaRPr lang="en-IN" sz="3200" b="1" spc="-1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726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ED4763-CD72-40B3-AAF1-C074323FED81}"/>
              </a:ext>
            </a:extLst>
          </p:cNvPr>
          <p:cNvSpPr txBox="1"/>
          <p:nvPr/>
        </p:nvSpPr>
        <p:spPr>
          <a:xfrm>
            <a:off x="2189921" y="487018"/>
            <a:ext cx="78121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Types of Addictions</a:t>
            </a:r>
            <a:endParaRPr lang="en-IN" sz="4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262DE0-FA86-411B-B2F9-756E9DF75653}"/>
              </a:ext>
            </a:extLst>
          </p:cNvPr>
          <p:cNvSpPr txBox="1"/>
          <p:nvPr/>
        </p:nvSpPr>
        <p:spPr>
          <a:xfrm>
            <a:off x="675860" y="1387663"/>
            <a:ext cx="1129085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• Alcoholism/Tobacco</a:t>
            </a:r>
          </a:p>
          <a:p>
            <a:r>
              <a:rPr lang="en-IN" sz="4400" dirty="0"/>
              <a:t>• Drugs-Opium, Marijuana, Cocaine, Cannabis</a:t>
            </a:r>
          </a:p>
          <a:p>
            <a:r>
              <a:rPr lang="en-IN" sz="4400" dirty="0"/>
              <a:t>• Internet/browsing addiction</a:t>
            </a:r>
          </a:p>
          <a:p>
            <a:r>
              <a:rPr lang="en-IN" sz="4400" dirty="0"/>
              <a:t>• Cell phone addiction</a:t>
            </a:r>
          </a:p>
          <a:p>
            <a:r>
              <a:rPr lang="en-IN" sz="4400" dirty="0"/>
              <a:t>• Video gaming</a:t>
            </a:r>
          </a:p>
          <a:p>
            <a:r>
              <a:rPr lang="en-IN" sz="4400" dirty="0"/>
              <a:t>• Pornography</a:t>
            </a:r>
          </a:p>
        </p:txBody>
      </p:sp>
    </p:spTree>
    <p:extLst>
      <p:ext uri="{BB962C8B-B14F-4D97-AF65-F5344CB8AC3E}">
        <p14:creationId xmlns:p14="http://schemas.microsoft.com/office/powerpoint/2010/main" val="2230318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ED88C8E-B69F-4251-9049-1117EC463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2050" name="docshape33">
            <a:extLst>
              <a:ext uri="{FF2B5EF4-FFF2-40B4-BE49-F238E27FC236}">
                <a16:creationId xmlns:a16="http://schemas.microsoft.com/office/drawing/2014/main" id="{5716B354-E4E2-4E51-A2DB-0A8EF067E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155" y="327899"/>
            <a:ext cx="7405690" cy="6202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6494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044E4C-AC65-4108-96D2-7301122A06C5}"/>
              </a:ext>
            </a:extLst>
          </p:cNvPr>
          <p:cNvSpPr txBox="1"/>
          <p:nvPr/>
        </p:nvSpPr>
        <p:spPr>
          <a:xfrm>
            <a:off x="1028700" y="1967266"/>
            <a:ext cx="2927074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342900" lvl="0" indent="-34290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ts val="1000"/>
              <a:tabLst>
                <a:tab pos="531495" algn="l"/>
              </a:tabLst>
            </a:pPr>
            <a:r>
              <a:rPr lang="en-US" sz="2400" kern="1200" spc="-1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Sedatives/Anxiolytics/</a:t>
            </a:r>
          </a:p>
          <a:p>
            <a:pPr marL="342900" lvl="0" indent="-34290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ts val="1000"/>
              <a:tabLst>
                <a:tab pos="531495" algn="l"/>
              </a:tabLst>
            </a:pPr>
            <a:r>
              <a:rPr lang="en-US" sz="2400" kern="1200" spc="-1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inhalants</a:t>
            </a:r>
            <a:endParaRPr lang="en-US" sz="2400" kern="1200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 </a:t>
            </a:r>
          </a:p>
          <a:p>
            <a:pPr marL="342900" lvl="0" indent="-34290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SzPts val="1000"/>
              <a:tabLst>
                <a:tab pos="531495" algn="l"/>
              </a:tabLst>
            </a:pPr>
            <a:r>
              <a:rPr lang="en-US" sz="24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Hyper</a:t>
            </a:r>
            <a:r>
              <a:rPr lang="en-US" sz="2400" kern="1200" spc="-5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24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obesity/Morbid</a:t>
            </a:r>
            <a:r>
              <a:rPr lang="en-US" sz="2400" kern="1200" spc="-55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2400" kern="1200" spc="-1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obesity</a:t>
            </a:r>
            <a:endParaRPr lang="en-US" sz="2400" kern="1200" dirty="0"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3074" name="docshape36">
            <a:extLst>
              <a:ext uri="{FF2B5EF4-FFF2-40B4-BE49-F238E27FC236}">
                <a16:creationId xmlns:a16="http://schemas.microsoft.com/office/drawing/2014/main" id="{12D360A2-AADC-4D05-8CED-211A3EDDB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62256" y="643466"/>
            <a:ext cx="5610820" cy="5568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6411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CF0A0E9-640D-4218-B610-EE0EE9F87958}"/>
              </a:ext>
            </a:extLst>
          </p:cNvPr>
          <p:cNvSpPr txBox="1"/>
          <p:nvPr/>
        </p:nvSpPr>
        <p:spPr>
          <a:xfrm>
            <a:off x="454714" y="305068"/>
            <a:ext cx="11015041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/>
              <a:t>More about Addiction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About half the risk for addiction is genetic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Genes affect the degree of reward that individuals experience when initially using a substance (e.g., drugs) or engaging in certain </a:t>
            </a:r>
            <a:r>
              <a:rPr lang="en-US" sz="2800" dirty="0" err="1"/>
              <a:t>behaviours</a:t>
            </a:r>
            <a:r>
              <a:rPr lang="en-US" sz="2800" dirty="0"/>
              <a:t> (e.g., gambling), as well as the way the body processes alcohol or other drugs.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Heightened desire to re-experience use of the substance or </a:t>
            </a:r>
            <a:r>
              <a:rPr lang="en-US" sz="2800" dirty="0" err="1"/>
              <a:t>behaviour</a:t>
            </a:r>
            <a:r>
              <a:rPr lang="en-US" sz="2800" dirty="0"/>
              <a:t>, potentially influenced by psycho- logical(e.g., stress, history of trauma), social (e.g., family or friends &amp; use of a substance), and environ- mental factors (e.g., accessibility of a substance, low cost) can lead to regular use/exposure, with chronic use/exposure leading to brain changes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All addictions are part of mental disorders!</a:t>
            </a:r>
          </a:p>
        </p:txBody>
      </p:sp>
    </p:spTree>
    <p:extLst>
      <p:ext uri="{BB962C8B-B14F-4D97-AF65-F5344CB8AC3E}">
        <p14:creationId xmlns:p14="http://schemas.microsoft.com/office/powerpoint/2010/main" val="2029318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AD940A4-85F6-49D9-91C9-F9A67B6AF2F1}"/>
              </a:ext>
            </a:extLst>
          </p:cNvPr>
          <p:cNvSpPr txBox="1"/>
          <p:nvPr/>
        </p:nvSpPr>
        <p:spPr>
          <a:xfrm>
            <a:off x="544166" y="506969"/>
            <a:ext cx="1033918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Reasons for taking drugs</a:t>
            </a:r>
          </a:p>
          <a:p>
            <a:endParaRPr lang="en-US" sz="36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feel good — feeling of pleasure, “high” or "intoxication". Euphoria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feel better — relieve stress, forget problems, or feel numb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do better — improve performance or thinking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Curiosity and peer pressure or experimenting</a:t>
            </a:r>
          </a:p>
        </p:txBody>
      </p:sp>
    </p:spTree>
    <p:extLst>
      <p:ext uri="{BB962C8B-B14F-4D97-AF65-F5344CB8AC3E}">
        <p14:creationId xmlns:p14="http://schemas.microsoft.com/office/powerpoint/2010/main" val="3778480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8" name="docshape42">
            <a:extLst>
              <a:ext uri="{FF2B5EF4-FFF2-40B4-BE49-F238E27FC236}">
                <a16:creationId xmlns:a16="http://schemas.microsoft.com/office/drawing/2014/main" id="{B7485D51-8D5C-44B3-85E3-2BCE3A245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43" y="196765"/>
            <a:ext cx="10433644" cy="6363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4099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057354-38AB-4163-BCAF-AB29C907B6B5}"/>
              </a:ext>
            </a:extLst>
          </p:cNvPr>
          <p:cNvSpPr txBox="1"/>
          <p:nvPr/>
        </p:nvSpPr>
        <p:spPr>
          <a:xfrm>
            <a:off x="506896" y="135342"/>
            <a:ext cx="11261034" cy="7215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7320">
              <a:spcBef>
                <a:spcPts val="5"/>
              </a:spcBef>
              <a:spcAft>
                <a:spcPts val="0"/>
              </a:spcAft>
            </a:pP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Symptoms</a:t>
            </a:r>
            <a:r>
              <a:rPr lang="en-US" sz="32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32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substance</a:t>
            </a:r>
            <a:r>
              <a:rPr lang="en-US" sz="32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</a:t>
            </a:r>
            <a:r>
              <a:rPr lang="en-US" sz="3200" b="1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disorder</a:t>
            </a:r>
            <a:endParaRPr lang="en-IN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401955" lvl="0" indent="-342900">
              <a:lnSpc>
                <a:spcPct val="103000"/>
              </a:lnSpc>
              <a:spcBef>
                <a:spcPts val="640"/>
              </a:spcBef>
              <a:spcAft>
                <a:spcPts val="0"/>
              </a:spcAft>
              <a:buSzPts val="1000"/>
              <a:buFont typeface="Times New Roman" panose="02020603050405020304" pitchFamily="18" charset="0"/>
              <a:buChar char="•"/>
              <a:tabLst>
                <a:tab pos="311150" algn="l"/>
              </a:tabLs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Impaired</a:t>
            </a:r>
            <a:r>
              <a:rPr lang="en-US" sz="32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control:</a:t>
            </a:r>
            <a:r>
              <a:rPr lang="en-US" sz="32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32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craving</a:t>
            </a:r>
            <a:r>
              <a:rPr lang="en-US" sz="32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</a:t>
            </a:r>
            <a:r>
              <a:rPr lang="en-US" sz="32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strong</a:t>
            </a:r>
            <a:r>
              <a:rPr lang="en-US" sz="32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urge</a:t>
            </a:r>
            <a:r>
              <a:rPr lang="en-US" sz="32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32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</a:t>
            </a:r>
            <a:r>
              <a:rPr lang="en-US" sz="32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32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substance;</a:t>
            </a:r>
            <a:r>
              <a:rPr lang="en-US" sz="32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desire</a:t>
            </a:r>
            <a:r>
              <a:rPr lang="en-US" sz="32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</a:t>
            </a:r>
            <a:r>
              <a:rPr lang="en-US" sz="32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failed</a:t>
            </a:r>
            <a:r>
              <a:rPr lang="en-US" sz="32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attempts</a:t>
            </a:r>
            <a:r>
              <a:rPr lang="en-US" sz="32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cut</a:t>
            </a:r>
            <a:r>
              <a:rPr lang="en-US" sz="32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down</a:t>
            </a:r>
            <a:r>
              <a:rPr lang="en-US" sz="32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 control substance use</a:t>
            </a:r>
            <a:endParaRPr lang="en-IN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194310" lvl="0" indent="-342900">
              <a:lnSpc>
                <a:spcPct val="102000"/>
              </a:lnSpc>
              <a:spcBef>
                <a:spcPts val="765"/>
              </a:spcBef>
              <a:spcAft>
                <a:spcPts val="0"/>
              </a:spcAft>
              <a:buSzPts val="1000"/>
              <a:buFont typeface="Times New Roman" panose="02020603050405020304" pitchFamily="18" charset="0"/>
              <a:buChar char="•"/>
              <a:tabLst>
                <a:tab pos="311150" algn="l"/>
              </a:tabLs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Social</a:t>
            </a:r>
            <a:r>
              <a:rPr lang="en-US" sz="32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problems:</a:t>
            </a:r>
            <a:r>
              <a:rPr lang="en-US" sz="32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substance</a:t>
            </a:r>
            <a:r>
              <a:rPr lang="en-US" sz="32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</a:t>
            </a:r>
            <a:r>
              <a:rPr lang="en-US" sz="32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causes</a:t>
            </a:r>
            <a:r>
              <a:rPr lang="en-US" sz="32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failure</a:t>
            </a:r>
            <a:r>
              <a:rPr lang="en-US" sz="32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32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complete</a:t>
            </a:r>
            <a:r>
              <a:rPr lang="en-US" sz="32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major</a:t>
            </a:r>
            <a:r>
              <a:rPr lang="en-US" sz="32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tasks</a:t>
            </a:r>
            <a:r>
              <a:rPr lang="en-US" sz="32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</a:t>
            </a:r>
            <a:r>
              <a:rPr lang="en-US" sz="32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work,</a:t>
            </a:r>
            <a:r>
              <a:rPr lang="en-US" sz="32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school</a:t>
            </a:r>
            <a:r>
              <a:rPr lang="en-US" sz="32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</a:t>
            </a:r>
            <a:r>
              <a:rPr lang="en-US" sz="32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home;</a:t>
            </a:r>
            <a:r>
              <a:rPr lang="en-US" sz="32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social,</a:t>
            </a:r>
            <a:r>
              <a:rPr lang="en-US" sz="32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work or leisure activities are given up or cut back because of substance</a:t>
            </a:r>
            <a:r>
              <a:rPr lang="en-US" sz="32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</a:t>
            </a:r>
            <a:endParaRPr lang="en-IN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506095" lvl="0" indent="-342900">
              <a:lnSpc>
                <a:spcPct val="103000"/>
              </a:lnSpc>
              <a:spcBef>
                <a:spcPts val="795"/>
              </a:spcBef>
              <a:spcAft>
                <a:spcPts val="0"/>
              </a:spcAft>
              <a:buSzPts val="1000"/>
              <a:buFont typeface="Times New Roman" panose="02020603050405020304" pitchFamily="18" charset="0"/>
              <a:buChar char="•"/>
              <a:tabLst>
                <a:tab pos="531495" algn="l"/>
              </a:tabLs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Risky</a:t>
            </a:r>
            <a:r>
              <a:rPr lang="en-US" sz="32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use:</a:t>
            </a:r>
            <a:r>
              <a:rPr lang="en-US" sz="32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substance</a:t>
            </a:r>
            <a:r>
              <a:rPr lang="en-US" sz="32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32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used</a:t>
            </a:r>
            <a:r>
              <a:rPr lang="en-US" sz="32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32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risky</a:t>
            </a:r>
            <a:r>
              <a:rPr lang="en-US" sz="32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settings;</a:t>
            </a:r>
            <a:r>
              <a:rPr lang="en-US" sz="32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continued</a:t>
            </a:r>
            <a:r>
              <a:rPr lang="en-US" sz="32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</a:t>
            </a:r>
            <a:r>
              <a:rPr lang="en-US" sz="32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despite</a:t>
            </a:r>
            <a:r>
              <a:rPr lang="en-US" sz="32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known</a:t>
            </a:r>
            <a:r>
              <a:rPr lang="en-US" sz="3200" spc="-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problems</a:t>
            </a:r>
          </a:p>
          <a:p>
            <a:pPr marL="342900" marR="506095" lvl="0" indent="-342900">
              <a:lnSpc>
                <a:spcPct val="103000"/>
              </a:lnSpc>
              <a:spcBef>
                <a:spcPts val="795"/>
              </a:spcBef>
              <a:spcAft>
                <a:spcPts val="0"/>
              </a:spcAft>
              <a:buSzPts val="1000"/>
              <a:buFont typeface="Times New Roman" panose="02020603050405020304" pitchFamily="18" charset="0"/>
              <a:buChar char="•"/>
              <a:tabLst>
                <a:tab pos="531495" algn="l"/>
              </a:tabLs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Spending a good deal of time getting the drug, using the drug or recovering from the effects of the drug.</a:t>
            </a:r>
          </a:p>
          <a:p>
            <a:pPr marL="342900" marR="506095" lvl="0" indent="-342900">
              <a:lnSpc>
                <a:spcPct val="103000"/>
              </a:lnSpc>
              <a:spcBef>
                <a:spcPts val="795"/>
              </a:spcBef>
              <a:spcAft>
                <a:spcPts val="0"/>
              </a:spcAft>
              <a:buSzPts val="1000"/>
              <a:buFont typeface="Times New Roman" panose="02020603050405020304" pitchFamily="18" charset="0"/>
              <a:buChar char="•"/>
              <a:tabLst>
                <a:tab pos="531495" algn="l"/>
              </a:tabLst>
            </a:pP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Experiencing withdrawal symptoms. when you attempt to stop taking the drug.</a:t>
            </a:r>
          </a:p>
          <a:p>
            <a:pPr marL="342900" marR="506095" lvl="0" indent="-342900">
              <a:lnSpc>
                <a:spcPct val="103000"/>
              </a:lnSpc>
              <a:spcBef>
                <a:spcPts val="795"/>
              </a:spcBef>
              <a:spcAft>
                <a:spcPts val="0"/>
              </a:spcAft>
              <a:buSzPts val="1000"/>
              <a:buFont typeface="Times New Roman" panose="02020603050405020304" pitchFamily="18" charset="0"/>
              <a:buChar char="•"/>
              <a:tabLst>
                <a:tab pos="531495" algn="l"/>
              </a:tabLst>
            </a:pP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049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BB868-B790-44B0-A11C-6B35E7CFF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7687"/>
            <a:ext cx="10515600" cy="5799276"/>
          </a:xfrm>
        </p:spPr>
        <p:txBody>
          <a:bodyPr>
            <a:normAutofit/>
          </a:bodyPr>
          <a:lstStyle/>
          <a:p>
            <a:r>
              <a:rPr lang="en-US" sz="3600" dirty="0"/>
              <a:t>Drug effects: Dependence: Involves physiological need for substance; tolerance (need for larger amounts to get the same effect); withdrawal symptoms (different for each substance);</a:t>
            </a:r>
          </a:p>
          <a:p>
            <a:r>
              <a:rPr lang="en-US" sz="3600" dirty="0"/>
              <a:t>Feeling that you have to use the drug regularly — daily or even several times </a:t>
            </a:r>
            <a:r>
              <a:rPr lang="en-US" sz="3600" dirty="0" err="1"/>
              <a:t>aday</a:t>
            </a:r>
            <a:r>
              <a:rPr lang="en-US" sz="3600" dirty="0"/>
              <a:t>.</a:t>
            </a:r>
          </a:p>
          <a:p>
            <a:r>
              <a:rPr lang="en-US" sz="3600" dirty="0"/>
              <a:t>Having intense urges for the drug that block out any other thoughts.</a:t>
            </a:r>
          </a:p>
          <a:p>
            <a:r>
              <a:rPr lang="en-US" sz="3600" dirty="0"/>
              <a:t>Over time, needing more of the drug to get the same effect.</a:t>
            </a:r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731580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BD73B-AF5C-48C5-8951-A3211205C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7565"/>
            <a:ext cx="10515600" cy="5779398"/>
          </a:xfrm>
        </p:spPr>
        <p:txBody>
          <a:bodyPr>
            <a:normAutofit/>
          </a:bodyPr>
          <a:lstStyle/>
          <a:p>
            <a:r>
              <a:rPr lang="en-US" sz="4000" dirty="0"/>
              <a:t>Failing in your attempts to stop using the drug.</a:t>
            </a:r>
          </a:p>
          <a:p>
            <a:r>
              <a:rPr lang="en-US" sz="4000" dirty="0"/>
              <a:t>Taking larger amounts of the drug over a longer period of time than you intended</a:t>
            </a:r>
          </a:p>
          <a:p>
            <a:r>
              <a:rPr lang="en-US" sz="4000" dirty="0"/>
              <a:t>Making certain that you maintain a supply of the drug Spending money on the drug, even though you can’t afford it.</a:t>
            </a:r>
          </a:p>
          <a:p>
            <a:r>
              <a:rPr lang="en-US" sz="4000" dirty="0"/>
              <a:t>Not meeting obligations and work responsibilities, or cutting back on social or recreational activities because of drug use.</a:t>
            </a:r>
          </a:p>
          <a:p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393288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36665-D1FD-4D11-BF8A-462A6BBD0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7748"/>
            <a:ext cx="10515600" cy="5809215"/>
          </a:xfrm>
        </p:spPr>
        <p:txBody>
          <a:bodyPr>
            <a:normAutofit/>
          </a:bodyPr>
          <a:lstStyle/>
          <a:p>
            <a:r>
              <a:rPr lang="en-US" sz="4400" dirty="0"/>
              <a:t>Continuing to use the drug, even though you know</a:t>
            </a:r>
          </a:p>
          <a:p>
            <a:r>
              <a:rPr lang="en-US" sz="4400" dirty="0"/>
              <a:t>it’s causing problems in your life or causing you physical or psychological harm.</a:t>
            </a:r>
          </a:p>
          <a:p>
            <a:r>
              <a:rPr lang="en-US" sz="4400" dirty="0"/>
              <a:t>Doing things to get the drug that you normally wouldn’t do, such as stealing.</a:t>
            </a:r>
          </a:p>
          <a:p>
            <a:r>
              <a:rPr lang="en-US" sz="4400" dirty="0"/>
              <a:t>Driving or doing other risky activities when you’re under the influence of the drug.</a:t>
            </a:r>
          </a:p>
          <a:p>
            <a:endParaRPr lang="en-US" sz="4400" dirty="0"/>
          </a:p>
          <a:p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3027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942EEE-2A92-4233-8915-572E6CBFD893}"/>
              </a:ext>
            </a:extLst>
          </p:cNvPr>
          <p:cNvSpPr txBox="1"/>
          <p:nvPr/>
        </p:nvSpPr>
        <p:spPr>
          <a:xfrm>
            <a:off x="663436" y="467862"/>
            <a:ext cx="1042863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Consequences</a:t>
            </a:r>
          </a:p>
          <a:p>
            <a:r>
              <a:rPr lang="en-US" sz="3600" dirty="0"/>
              <a:t>• Brain changes include alterations in cortical (pre-frontal cortex) and sub-cortical (limbic system) regions involving the neuro-circuitry of reward, motivation, memory, impulse control </a:t>
            </a:r>
            <a:r>
              <a:rPr lang="en-US" sz="3600" dirty="0" err="1"/>
              <a:t>andjudgment</a:t>
            </a:r>
            <a:r>
              <a:rPr lang="en-US" sz="3600" dirty="0"/>
              <a:t>.</a:t>
            </a:r>
          </a:p>
          <a:p>
            <a:endParaRPr lang="en-US" sz="3600" dirty="0"/>
          </a:p>
          <a:p>
            <a:r>
              <a:rPr lang="en-US" sz="3600" dirty="0"/>
              <a:t>• This can lead to dramatic increases in cravings for a drug or activity, as well as impairments in the ability to successfully regulate this impulse, despite the knowledge and experience of many consequences related to the addictive </a:t>
            </a:r>
            <a:r>
              <a:rPr lang="en-US" sz="3600" dirty="0" err="1"/>
              <a:t>behaviour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6671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D39606-80FF-4643-9518-925EDCA3F4C1}"/>
              </a:ext>
            </a:extLst>
          </p:cNvPr>
          <p:cNvSpPr txBox="1"/>
          <p:nvPr/>
        </p:nvSpPr>
        <p:spPr>
          <a:xfrm>
            <a:off x="217004" y="150245"/>
            <a:ext cx="11757991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Complications</a:t>
            </a:r>
          </a:p>
          <a:p>
            <a:r>
              <a:rPr lang="en-US" sz="3200" dirty="0"/>
              <a:t>• Getting a communicable disease.</a:t>
            </a:r>
          </a:p>
          <a:p>
            <a:endParaRPr lang="en-US" sz="3200" dirty="0"/>
          </a:p>
          <a:p>
            <a:r>
              <a:rPr lang="en-US" sz="3200" dirty="0"/>
              <a:t>• Other health problems. Drug addiction can lead to a range of both short-term and long-term mental and physical health problems. These depend on what drug is taken.</a:t>
            </a:r>
          </a:p>
          <a:p>
            <a:endParaRPr lang="en-US" sz="3200" dirty="0"/>
          </a:p>
          <a:p>
            <a:r>
              <a:rPr lang="en-US" sz="3200" dirty="0"/>
              <a:t>• While driving more likely do other dangerous activities while under the influence </a:t>
            </a:r>
            <a:r>
              <a:rPr lang="en-US" sz="3200" dirty="0" err="1"/>
              <a:t>causingaccidents</a:t>
            </a:r>
            <a:r>
              <a:rPr lang="en-US" sz="3200" dirty="0"/>
              <a:t>.</a:t>
            </a:r>
          </a:p>
          <a:p>
            <a:endParaRPr lang="en-US" sz="3200" dirty="0"/>
          </a:p>
          <a:p>
            <a:r>
              <a:rPr lang="en-US" sz="3200" dirty="0"/>
              <a:t>• People who are addicted to drugs die by suicide.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46312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7549A-65A4-47CC-B858-430DE8A22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6470"/>
            <a:ext cx="10515600" cy="56004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• Family problems . Behavioral changes may cause marital or family conflict.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• Work issues. Decline in performance at work, absenteeism and eventual loss of employment.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• Problems at school. Academic performance and motivation to excel in school.</a:t>
            </a:r>
          </a:p>
        </p:txBody>
      </p:sp>
    </p:spTree>
    <p:extLst>
      <p:ext uri="{BB962C8B-B14F-4D97-AF65-F5344CB8AC3E}">
        <p14:creationId xmlns:p14="http://schemas.microsoft.com/office/powerpoint/2010/main" val="4030268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21364-080F-42C3-9DB6-AD784DB96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5861"/>
            <a:ext cx="10515600" cy="55011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Legal </a:t>
            </a:r>
            <a:r>
              <a:rPr lang="en-US" dirty="0" err="1"/>
              <a:t>issues.While</a:t>
            </a:r>
            <a:r>
              <a:rPr lang="en-US" dirty="0"/>
              <a:t> buying or possessing illegal drugs, stealing to support the drug addiction, driving while under the influence of drugs or alcohol.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Financial problems.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3307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7ED04E-6E7E-4ADF-903E-03566DE91D1D}"/>
              </a:ext>
            </a:extLst>
          </p:cNvPr>
          <p:cNvSpPr txBox="1"/>
          <p:nvPr/>
        </p:nvSpPr>
        <p:spPr>
          <a:xfrm>
            <a:off x="414958" y="303648"/>
            <a:ext cx="109951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Differences between addictive people and non addictive people and their behavior with society</a:t>
            </a:r>
          </a:p>
        </p:txBody>
      </p:sp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D9D02F80-B4A4-49F2-AC04-5926285FD2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11" t="32128"/>
          <a:stretch/>
        </p:blipFill>
        <p:spPr>
          <a:xfrm>
            <a:off x="1560444" y="1257755"/>
            <a:ext cx="7951304" cy="536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91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328447-1FF6-4C59-9DEC-3E4746FF9260}"/>
              </a:ext>
            </a:extLst>
          </p:cNvPr>
          <p:cNvSpPr txBox="1"/>
          <p:nvPr/>
        </p:nvSpPr>
        <p:spPr>
          <a:xfrm>
            <a:off x="514349" y="467862"/>
            <a:ext cx="11134311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What other factors increase the risk of addiction?</a:t>
            </a:r>
          </a:p>
          <a:p>
            <a:r>
              <a:rPr lang="en-US" sz="3600" dirty="0"/>
              <a:t>•	Early use: Although taking drugs at any age can lead to addiction, research shows that the earlier people begin to use drugs, the more likely they are to develop serious problems.</a:t>
            </a:r>
          </a:p>
          <a:p>
            <a:r>
              <a:rPr lang="en-US" sz="3600" dirty="0"/>
              <a:t>•	This may be due to the harmful effect that drugs can have on the developing brain.</a:t>
            </a:r>
          </a:p>
          <a:p>
            <a:r>
              <a:rPr lang="en-US" sz="3600" dirty="0"/>
              <a:t>•	It also may result from a mix of early social and biological risk factors, including lack of a stable home or family, exposure to physical or sexual abuse, genes, or mental illness.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23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A463AC-E13A-4618-9847-6448654C26CC}"/>
              </a:ext>
            </a:extLst>
          </p:cNvPr>
          <p:cNvSpPr txBox="1"/>
          <p:nvPr/>
        </p:nvSpPr>
        <p:spPr>
          <a:xfrm>
            <a:off x="337930" y="323314"/>
            <a:ext cx="11430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How to recover from addictions</a:t>
            </a:r>
          </a:p>
          <a:p>
            <a:r>
              <a:rPr lang="en-US" sz="3600" dirty="0"/>
              <a:t>Treating Substance Use Disorders (SUDs)</a:t>
            </a:r>
          </a:p>
          <a:p>
            <a:r>
              <a:rPr lang="en-US" sz="3600" dirty="0"/>
              <a:t>• The first step is recognition of the problem</a:t>
            </a:r>
          </a:p>
          <a:p>
            <a:r>
              <a:rPr lang="en-US" sz="3600" dirty="0"/>
              <a:t>• A formal assessment of symptoms: Medical professional</a:t>
            </a:r>
          </a:p>
          <a:p>
            <a:r>
              <a:rPr lang="en-US" sz="3600" dirty="0"/>
              <a:t>• Multiple types of treatment: A combination of medication and individual or group therapy is most effective.</a:t>
            </a:r>
          </a:p>
          <a:p>
            <a:r>
              <a:rPr lang="en-US" sz="3600" dirty="0"/>
              <a:t>• Treatment approaches that address an individual’s specific situation and any co-occurring medical, </a:t>
            </a:r>
            <a:r>
              <a:rPr lang="en-US" sz="3600" dirty="0" err="1"/>
              <a:t>psychi</a:t>
            </a:r>
            <a:r>
              <a:rPr lang="en-US" sz="3600" dirty="0"/>
              <a:t>- </a:t>
            </a:r>
            <a:r>
              <a:rPr lang="en-US" sz="3600" dirty="0" err="1"/>
              <a:t>atric</a:t>
            </a:r>
            <a:r>
              <a:rPr lang="en-US" sz="3600" dirty="0"/>
              <a:t>, and social problems is optimal for leading to sustained recovery.</a:t>
            </a:r>
          </a:p>
        </p:txBody>
      </p:sp>
    </p:spTree>
    <p:extLst>
      <p:ext uri="{BB962C8B-B14F-4D97-AF65-F5344CB8AC3E}">
        <p14:creationId xmlns:p14="http://schemas.microsoft.com/office/powerpoint/2010/main" val="1225572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11907B-691A-46E8-B73F-A869945CE673}"/>
              </a:ext>
            </a:extLst>
          </p:cNvPr>
          <p:cNvSpPr txBox="1"/>
          <p:nvPr/>
        </p:nvSpPr>
        <p:spPr>
          <a:xfrm>
            <a:off x="414130" y="416220"/>
            <a:ext cx="1129085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• Varies depending on substance and circumstances Treating substance use disorder is challenging and in- </a:t>
            </a:r>
            <a:r>
              <a:rPr lang="en-US" sz="4000" dirty="0" err="1"/>
              <a:t>cludes</a:t>
            </a:r>
            <a:r>
              <a:rPr lang="en-US" sz="4000" dirty="0"/>
              <a:t> one or more of the following:</a:t>
            </a:r>
          </a:p>
          <a:p>
            <a:r>
              <a:rPr lang="en-US" sz="4000" dirty="0"/>
              <a:t>–	Acute detoxification,</a:t>
            </a:r>
          </a:p>
          <a:p>
            <a:r>
              <a:rPr lang="en-US" sz="4000" dirty="0"/>
              <a:t>–	Prevention and management of withdrawal</a:t>
            </a:r>
          </a:p>
          <a:p>
            <a:r>
              <a:rPr lang="en-US" sz="4000" dirty="0"/>
              <a:t>–	Cessation (or rarely, reduction) of use</a:t>
            </a:r>
          </a:p>
          <a:p>
            <a:r>
              <a:rPr lang="en-US" sz="4000" dirty="0"/>
              <a:t>–	Maintenance of abstinence</a:t>
            </a:r>
          </a:p>
        </p:txBody>
      </p:sp>
    </p:spTree>
    <p:extLst>
      <p:ext uri="{BB962C8B-B14F-4D97-AF65-F5344CB8AC3E}">
        <p14:creationId xmlns:p14="http://schemas.microsoft.com/office/powerpoint/2010/main" val="3720190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35150CC-2102-4760-BBF1-1F1B341064FF}"/>
              </a:ext>
            </a:extLst>
          </p:cNvPr>
          <p:cNvSpPr txBox="1"/>
          <p:nvPr/>
        </p:nvSpPr>
        <p:spPr>
          <a:xfrm>
            <a:off x="387626" y="369767"/>
            <a:ext cx="10952922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What works</a:t>
            </a:r>
            <a:endParaRPr lang="en-IN" sz="4800" b="1" dirty="0"/>
          </a:p>
          <a:p>
            <a:r>
              <a:rPr lang="en-IN" sz="3200" dirty="0"/>
              <a:t>• Cognitive-behavioural therapy: CBT can help addicted patients overcome substance abuse by teaching them to recognize and avoid destructive thoughts and behaviours.</a:t>
            </a:r>
          </a:p>
          <a:p>
            <a:r>
              <a:rPr lang="en-IN" sz="3200" dirty="0"/>
              <a:t>• Motivational interviewing: This therapy technique involves structured conversations that help patients in- crease their motivation to overcome substance abuse.</a:t>
            </a:r>
          </a:p>
          <a:p>
            <a:r>
              <a:rPr lang="en-IN" sz="3200" dirty="0"/>
              <a:t>• Contingency management. Provide tangible incentives to encourage patients to stay off drugs</a:t>
            </a:r>
          </a:p>
          <a:p>
            <a:r>
              <a:rPr lang="en-IN" sz="3200" dirty="0"/>
              <a:t>• Psychodrama and group therapies</a:t>
            </a:r>
          </a:p>
          <a:p>
            <a:r>
              <a:rPr lang="en-IN" sz="3200" dirty="0"/>
              <a:t>• Alcoholic Anonymous and Narcotic anonymous</a:t>
            </a:r>
          </a:p>
          <a:p>
            <a:r>
              <a:rPr lang="en-IN" sz="3200" dirty="0"/>
              <a:t>• Rehab </a:t>
            </a:r>
            <a:r>
              <a:rPr lang="en-IN" sz="3200" dirty="0" err="1"/>
              <a:t>centers</a:t>
            </a:r>
            <a:r>
              <a:rPr lang="en-IN" sz="3200" dirty="0"/>
              <a:t> and Therapeutic Communities and other tertiary care </a:t>
            </a:r>
            <a:r>
              <a:rPr lang="en-IN" sz="3200" dirty="0" err="1"/>
              <a:t>centers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4653187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A4E203-AA0B-411B-A215-FD11E0BD74B1}"/>
              </a:ext>
            </a:extLst>
          </p:cNvPr>
          <p:cNvSpPr txBox="1"/>
          <p:nvPr/>
        </p:nvSpPr>
        <p:spPr>
          <a:xfrm>
            <a:off x="208721" y="185248"/>
            <a:ext cx="11539331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13 principles of effective drug addiction treatment</a:t>
            </a:r>
            <a:endParaRPr lang="en-IN" sz="5400" b="1" dirty="0"/>
          </a:p>
          <a:p>
            <a:pPr marL="742950" indent="-742950">
              <a:buFont typeface="+mj-lt"/>
              <a:buAutoNum type="arabicPeriod"/>
            </a:pPr>
            <a:r>
              <a:rPr lang="en-IN" sz="4000" dirty="0"/>
              <a:t>Addiction is a complex, but treatable, disease that affects brain function and </a:t>
            </a:r>
            <a:r>
              <a:rPr lang="en-IN" sz="4000" dirty="0" err="1"/>
              <a:t>behavior</a:t>
            </a:r>
            <a:endParaRPr lang="en-IN" sz="4000" dirty="0"/>
          </a:p>
          <a:p>
            <a:pPr marL="742950" indent="-742950">
              <a:buFont typeface="+mj-lt"/>
              <a:buAutoNum type="arabicPeriod"/>
            </a:pPr>
            <a:r>
              <a:rPr lang="en-IN" sz="4000" dirty="0"/>
              <a:t>No single treatment is appropriate for everyone.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4000" dirty="0"/>
              <a:t>Treatment needs to be readily available.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4000" dirty="0"/>
              <a:t>Effective treatment attends to multiple needs of the individual, not just his or her </a:t>
            </a:r>
            <a:r>
              <a:rPr lang="en-IN" sz="4000" dirty="0" err="1"/>
              <a:t>drugabuse</a:t>
            </a:r>
            <a:r>
              <a:rPr lang="en-IN" sz="4000" dirty="0"/>
              <a:t>.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4000" dirty="0"/>
              <a:t>Remaining in treatment for an adequate period of time is critical.</a:t>
            </a:r>
          </a:p>
        </p:txBody>
      </p:sp>
    </p:spTree>
    <p:extLst>
      <p:ext uri="{BB962C8B-B14F-4D97-AF65-F5344CB8AC3E}">
        <p14:creationId xmlns:p14="http://schemas.microsoft.com/office/powerpoint/2010/main" val="257261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F963EE-8072-4282-904E-9C57534EC363}"/>
              </a:ext>
            </a:extLst>
          </p:cNvPr>
          <p:cNvSpPr txBox="1"/>
          <p:nvPr/>
        </p:nvSpPr>
        <p:spPr>
          <a:xfrm>
            <a:off x="301487" y="832803"/>
            <a:ext cx="1158902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6. Counselling: individual and/or group —and other </a:t>
            </a:r>
            <a:r>
              <a:rPr lang="en-IN" sz="3600" dirty="0" err="1"/>
              <a:t>behavioral</a:t>
            </a:r>
            <a:r>
              <a:rPr lang="en-IN" sz="3600" dirty="0"/>
              <a:t> therapies are the most commonly used forms of drug abuse treatment.</a:t>
            </a:r>
          </a:p>
          <a:p>
            <a:r>
              <a:rPr lang="en-IN" sz="3600" dirty="0"/>
              <a:t>7. Medications are an important element of treatment for many patients, especially when combined with </a:t>
            </a:r>
            <a:r>
              <a:rPr lang="en-IN" sz="3600" dirty="0" err="1"/>
              <a:t>counseling</a:t>
            </a:r>
            <a:r>
              <a:rPr lang="en-IN" sz="3600" dirty="0"/>
              <a:t> and other </a:t>
            </a:r>
            <a:r>
              <a:rPr lang="en-IN" sz="3600" dirty="0" err="1"/>
              <a:t>behavioral</a:t>
            </a:r>
            <a:r>
              <a:rPr lang="en-IN" sz="3600" dirty="0"/>
              <a:t> therapies.</a:t>
            </a:r>
          </a:p>
          <a:p>
            <a:r>
              <a:rPr lang="en-IN" sz="3600" dirty="0"/>
              <a:t>8. An individual’s treatment and services plan must be assessed continually and modified as necessary to ensure it meets his or her changing needs.</a:t>
            </a:r>
          </a:p>
          <a:p>
            <a:r>
              <a:rPr lang="en-IN" sz="3600" dirty="0"/>
              <a:t>9. Many drug-addicted individuals also have other mental disorders.</a:t>
            </a:r>
          </a:p>
        </p:txBody>
      </p:sp>
    </p:spTree>
    <p:extLst>
      <p:ext uri="{BB962C8B-B14F-4D97-AF65-F5344CB8AC3E}">
        <p14:creationId xmlns:p14="http://schemas.microsoft.com/office/powerpoint/2010/main" val="3610246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FA3225-1885-424D-9BC5-25E253E105FC}"/>
              </a:ext>
            </a:extLst>
          </p:cNvPr>
          <p:cNvSpPr txBox="1"/>
          <p:nvPr/>
        </p:nvSpPr>
        <p:spPr>
          <a:xfrm>
            <a:off x="782705" y="110053"/>
            <a:ext cx="11114433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10. Medically assisted detoxification is only the first stage of addiction treatment and by itself does little to change long-term drug abuse.</a:t>
            </a:r>
          </a:p>
          <a:p>
            <a:r>
              <a:rPr lang="en-IN" sz="3600" dirty="0"/>
              <a:t>11. Treatment does not need to be voluntary to be effective.</a:t>
            </a:r>
          </a:p>
          <a:p>
            <a:r>
              <a:rPr lang="en-IN" sz="3600" dirty="0"/>
              <a:t>12. Drug use during treatment must be monitored continuously, as lapses during treatment </a:t>
            </a:r>
            <a:r>
              <a:rPr lang="en-IN" sz="3600" dirty="0" err="1"/>
              <a:t>dooccur</a:t>
            </a:r>
            <a:r>
              <a:rPr lang="en-IN" sz="3600" dirty="0"/>
              <a:t>.</a:t>
            </a:r>
          </a:p>
          <a:p>
            <a:r>
              <a:rPr lang="en-IN" sz="3600"/>
              <a:t>13. Treatment </a:t>
            </a:r>
            <a:r>
              <a:rPr lang="en-IN" sz="3600" dirty="0"/>
              <a:t>programs should assess patients for the presence of HIV/AIDS, hepatitis B and C, tuberculosis and other infectious diseases, as well as provide targeted risk-reduction </a:t>
            </a:r>
            <a:r>
              <a:rPr lang="en-IN" sz="3600" dirty="0" err="1"/>
              <a:t>counseling</a:t>
            </a:r>
            <a:r>
              <a:rPr lang="en-IN" sz="3600" dirty="0"/>
              <a:t> to help patients modify or change </a:t>
            </a:r>
            <a:r>
              <a:rPr lang="en-IN" sz="3600" dirty="0" err="1"/>
              <a:t>behaviors</a:t>
            </a:r>
            <a:r>
              <a:rPr lang="en-IN" sz="3600" dirty="0"/>
              <a:t> that place them at risk of contracting or spreading infectious diseases</a:t>
            </a:r>
          </a:p>
        </p:txBody>
      </p:sp>
    </p:spTree>
    <p:extLst>
      <p:ext uri="{BB962C8B-B14F-4D97-AF65-F5344CB8AC3E}">
        <p14:creationId xmlns:p14="http://schemas.microsoft.com/office/powerpoint/2010/main" val="1008495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1470</Words>
  <Application>Microsoft Office PowerPoint</Application>
  <PresentationFormat>Widescreen</PresentationFormat>
  <Paragraphs>110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Reddy, Rama Sivakiran</dc:creator>
  <cp:lastModifiedBy>Reddy, Rama Sivakiran</cp:lastModifiedBy>
  <cp:revision>10</cp:revision>
  <dcterms:created xsi:type="dcterms:W3CDTF">2022-05-22T18:50:12Z</dcterms:created>
  <dcterms:modified xsi:type="dcterms:W3CDTF">2022-05-29T13:41:06Z</dcterms:modified>
</cp:coreProperties>
</file>