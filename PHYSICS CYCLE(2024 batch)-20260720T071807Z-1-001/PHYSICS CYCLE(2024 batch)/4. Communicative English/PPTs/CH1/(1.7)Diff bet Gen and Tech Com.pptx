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3" roundtripDataSignature="AMtx7miuj7PcI8q9sc4XgnuTCRULyq9t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7.xml"/><Relationship Id="rId22" Type="http://schemas.openxmlformats.org/officeDocument/2006/relationships/font" Target="fonts/OpenSans-boldItalic.fntdata"/><Relationship Id="rId10" Type="http://schemas.openxmlformats.org/officeDocument/2006/relationships/slide" Target="slides/slide6.xml"/><Relationship Id="rId21"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OpenSans-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3500"/>
              <a:buFont typeface="Calibri"/>
              <a:buNone/>
            </a:pPr>
            <a:r>
              <a:rPr b="0" i="0" lang="en-US" sz="3500" u="none" cap="none" strike="noStrike">
                <a:solidFill>
                  <a:srgbClr val="000000"/>
                </a:solidFill>
                <a:latin typeface="Calibri"/>
                <a:ea typeface="Calibri"/>
                <a:cs typeface="Calibri"/>
                <a:sym typeface="Calibri"/>
              </a:rPr>
              <a:t>Communicative English  </a:t>
            </a:r>
            <a:br>
              <a:rPr b="0" i="0" lang="en-US" sz="2100" u="none" cap="none" strike="noStrike">
                <a:solidFill>
                  <a:srgbClr val="000000"/>
                </a:solidFill>
                <a:latin typeface="Calibri"/>
                <a:ea typeface="Calibri"/>
                <a:cs typeface="Calibri"/>
                <a:sym typeface="Calibri"/>
              </a:rPr>
            </a:br>
            <a:r>
              <a:rPr b="0" i="0" lang="en-US" sz="2100" u="none" cap="none" strike="noStrike">
                <a:solidFill>
                  <a:srgbClr val="000000"/>
                </a:solidFill>
                <a:latin typeface="Calibri"/>
                <a:ea typeface="Calibri"/>
                <a:cs typeface="Calibri"/>
                <a:sym typeface="Calibri"/>
              </a:rPr>
              <a:t>Faculty – Dr. Kiran Magavi</a:t>
            </a:r>
            <a:br>
              <a:rPr b="0" i="0" lang="en-US" sz="2100" u="none" cap="none" strike="noStrike">
                <a:solidFill>
                  <a:srgbClr val="000000"/>
                </a:solidFill>
                <a:latin typeface="Calibri"/>
                <a:ea typeface="Calibri"/>
                <a:cs typeface="Calibri"/>
                <a:sym typeface="Calibri"/>
              </a:rPr>
            </a:br>
            <a:r>
              <a:rPr b="0" i="0" lang="en-US" sz="2100" u="none" cap="none" strike="noStrike">
                <a:solidFill>
                  <a:srgbClr val="000000"/>
                </a:solidFill>
                <a:latin typeface="Calibri"/>
                <a:ea typeface="Calibri"/>
                <a:cs typeface="Calibri"/>
                <a:sym typeface="Calibri"/>
              </a:rPr>
              <a:t>Department – Humanities and Social Sciences</a:t>
            </a:r>
            <a:r>
              <a:rPr lang="en-US"/>
              <a:t>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0" marR="0" rtl="0" algn="ctr">
              <a:lnSpc>
                <a:spcPct val="90000"/>
              </a:lnSpc>
              <a:spcBef>
                <a:spcPts val="100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 Difference between General and Technical Communication </a:t>
            </a:r>
            <a:endParaRPr/>
          </a:p>
          <a:p>
            <a:pPr indent="0" lvl="0" marL="0" marR="0" rtl="0" algn="ctr">
              <a:lnSpc>
                <a:spcPct val="90000"/>
              </a:lnSpc>
              <a:spcBef>
                <a:spcPts val="100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Introduction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Communication is important not only in the organization but also in one’s daily life. It is an integral part of daily activity . </a:t>
            </a:r>
            <a:endParaRPr/>
          </a:p>
          <a:p>
            <a:pPr indent="-228600" lvl="0" marL="228600" rtl="0" algn="l">
              <a:lnSpc>
                <a:spcPct val="90000"/>
              </a:lnSpc>
              <a:spcBef>
                <a:spcPts val="1000"/>
              </a:spcBef>
              <a:spcAft>
                <a:spcPts val="0"/>
              </a:spcAft>
              <a:buClr>
                <a:schemeClr val="dk1"/>
              </a:buClr>
              <a:buSzPts val="2800"/>
              <a:buChar char="•"/>
            </a:pPr>
            <a:r>
              <a:rPr lang="en-US"/>
              <a:t>When an alarm clock goes off , it is communication through sound , urging one to get out of bed . </a:t>
            </a:r>
            <a:endParaRPr/>
          </a:p>
          <a:p>
            <a:pPr indent="-228600" lvl="0" marL="228600" rtl="0" algn="l">
              <a:lnSpc>
                <a:spcPct val="90000"/>
              </a:lnSpc>
              <a:spcBef>
                <a:spcPts val="1000"/>
              </a:spcBef>
              <a:spcAft>
                <a:spcPts val="0"/>
              </a:spcAft>
              <a:buClr>
                <a:schemeClr val="dk1"/>
              </a:buClr>
              <a:buSzPts val="2800"/>
              <a:buChar char="•"/>
            </a:pPr>
            <a:r>
              <a:rPr lang="en-US"/>
              <a:t>When one feels loyal towards a particular brand of toothpaste , it is possible that the television (TV) commercials for that brand have been successful in communicating the message </a:t>
            </a:r>
            <a:endParaRPr/>
          </a:p>
          <a:p>
            <a:pPr indent="-228600" lvl="0" marL="228600" rtl="0" algn="l">
              <a:lnSpc>
                <a:spcPct val="90000"/>
              </a:lnSpc>
              <a:spcBef>
                <a:spcPts val="1000"/>
              </a:spcBef>
              <a:spcAft>
                <a:spcPts val="0"/>
              </a:spcAft>
              <a:buClr>
                <a:schemeClr val="dk1"/>
              </a:buClr>
              <a:buSzPts val="2800"/>
              <a:buChar char="•"/>
            </a:pPr>
            <a:r>
              <a:rPr lang="en-US"/>
              <a:t>Watching news on TV , Saying goodbye to one’s  family , or calling a cab and giving directions are all different types of communication.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6"/>
            <a:ext cx="10515600" cy="8010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Contd…</a:t>
            </a:r>
            <a:endParaRPr/>
          </a:p>
        </p:txBody>
      </p:sp>
      <p:sp>
        <p:nvSpPr>
          <p:cNvPr id="97" name="Google Shape;97;p3"/>
          <p:cNvSpPr txBox="1"/>
          <p:nvPr>
            <p:ph idx="1" type="body"/>
          </p:nvPr>
        </p:nvSpPr>
        <p:spPr>
          <a:xfrm>
            <a:off x="838200" y="1166193"/>
            <a:ext cx="10515600" cy="465151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At the workplace , all activities revolve around oral or written communication .</a:t>
            </a:r>
            <a:endParaRPr/>
          </a:p>
          <a:p>
            <a:pPr indent="-228600" lvl="0" marL="228600" rtl="0" algn="l">
              <a:lnSpc>
                <a:spcPct val="90000"/>
              </a:lnSpc>
              <a:spcBef>
                <a:spcPts val="1000"/>
              </a:spcBef>
              <a:spcAft>
                <a:spcPts val="0"/>
              </a:spcAft>
              <a:buClr>
                <a:schemeClr val="dk1"/>
              </a:buClr>
              <a:buSzPts val="2800"/>
              <a:buChar char="•"/>
            </a:pPr>
            <a:r>
              <a:rPr lang="en-US"/>
              <a:t> Interacting with one’s boss , reading the newspaper at home , or even dreaming in one’s sleep are all examples of communication.</a:t>
            </a:r>
            <a:endParaRPr/>
          </a:p>
          <a:p>
            <a:pPr indent="-228600" lvl="0" marL="228600" rtl="0" algn="l">
              <a:lnSpc>
                <a:spcPct val="90000"/>
              </a:lnSpc>
              <a:spcBef>
                <a:spcPts val="1000"/>
              </a:spcBef>
              <a:spcAft>
                <a:spcPts val="0"/>
              </a:spcAft>
              <a:buClr>
                <a:schemeClr val="dk1"/>
              </a:buClr>
              <a:buSzPts val="2800"/>
              <a:buChar char="•"/>
            </a:pPr>
            <a:r>
              <a:rPr lang="en-US"/>
              <a:t>Messages that are non-technical of informal in nature are categorized as general – purpose communication </a:t>
            </a:r>
            <a:endParaRPr/>
          </a:p>
          <a:p>
            <a:pPr indent="-228600" lvl="0" marL="228600" rtl="0" algn="l">
              <a:lnSpc>
                <a:spcPct val="90000"/>
              </a:lnSpc>
              <a:spcBef>
                <a:spcPts val="1000"/>
              </a:spcBef>
              <a:spcAft>
                <a:spcPts val="0"/>
              </a:spcAft>
              <a:buClr>
                <a:schemeClr val="dk1"/>
              </a:buClr>
              <a:buSzPts val="2800"/>
              <a:buChar char="•"/>
            </a:pPr>
            <a:r>
              <a:rPr lang="en-US"/>
              <a:t> Whereas messages pertaining to technical , industrial , business matters belong to the category of technical or business or professional communication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General communication </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Contains a general message</a:t>
            </a:r>
            <a:endParaRPr/>
          </a:p>
          <a:p>
            <a:pPr indent="-228600" lvl="0" marL="228600" rtl="0" algn="l">
              <a:lnSpc>
                <a:spcPct val="90000"/>
              </a:lnSpc>
              <a:spcBef>
                <a:spcPts val="1000"/>
              </a:spcBef>
              <a:spcAft>
                <a:spcPts val="0"/>
              </a:spcAft>
              <a:buClr>
                <a:schemeClr val="dk1"/>
              </a:buClr>
              <a:buSzPts val="2800"/>
              <a:buChar char="•"/>
            </a:pPr>
            <a:r>
              <a:rPr lang="en-US"/>
              <a:t> Informal in style and approach</a:t>
            </a:r>
            <a:endParaRPr/>
          </a:p>
          <a:p>
            <a:pPr indent="-228600" lvl="0" marL="228600" rtl="0" algn="l">
              <a:lnSpc>
                <a:spcPct val="90000"/>
              </a:lnSpc>
              <a:spcBef>
                <a:spcPts val="1000"/>
              </a:spcBef>
              <a:spcAft>
                <a:spcPts val="0"/>
              </a:spcAft>
              <a:buClr>
                <a:schemeClr val="dk1"/>
              </a:buClr>
              <a:buSzPts val="2800"/>
              <a:buChar char="•"/>
            </a:pPr>
            <a:r>
              <a:rPr lang="en-US"/>
              <a:t> No set pattern of communication</a:t>
            </a:r>
            <a:endParaRPr/>
          </a:p>
          <a:p>
            <a:pPr indent="-228600" lvl="0" marL="228600" rtl="0" algn="l">
              <a:lnSpc>
                <a:spcPct val="90000"/>
              </a:lnSpc>
              <a:spcBef>
                <a:spcPts val="1000"/>
              </a:spcBef>
              <a:spcAft>
                <a:spcPts val="0"/>
              </a:spcAft>
              <a:buClr>
                <a:schemeClr val="dk1"/>
              </a:buClr>
              <a:buSzPts val="2800"/>
              <a:buChar char="•"/>
            </a:pPr>
            <a:r>
              <a:rPr lang="en-US"/>
              <a:t> Mostly oral</a:t>
            </a:r>
            <a:endParaRPr/>
          </a:p>
          <a:p>
            <a:pPr indent="-228600" lvl="0" marL="228600" rtl="0" algn="l">
              <a:lnSpc>
                <a:spcPct val="90000"/>
              </a:lnSpc>
              <a:spcBef>
                <a:spcPts val="1000"/>
              </a:spcBef>
              <a:spcAft>
                <a:spcPts val="0"/>
              </a:spcAft>
              <a:buClr>
                <a:schemeClr val="dk1"/>
              </a:buClr>
              <a:buSzPts val="2800"/>
              <a:buChar char="•"/>
            </a:pPr>
            <a:r>
              <a:rPr lang="en-US"/>
              <a:t> Not always for a specific audience</a:t>
            </a:r>
            <a:endParaRPr/>
          </a:p>
          <a:p>
            <a:pPr indent="-228600" lvl="0" marL="228600" rtl="0" algn="l">
              <a:lnSpc>
                <a:spcPct val="90000"/>
              </a:lnSpc>
              <a:spcBef>
                <a:spcPts val="1000"/>
              </a:spcBef>
              <a:spcAft>
                <a:spcPts val="0"/>
              </a:spcAft>
              <a:buClr>
                <a:schemeClr val="dk1"/>
              </a:buClr>
              <a:buSzPts val="2800"/>
              <a:buChar char="•"/>
            </a:pPr>
            <a:r>
              <a:rPr lang="en-US"/>
              <a:t> Does not involve the use of technical vocabulary or graphics etc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6"/>
            <a:ext cx="10515600" cy="7745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Technical Communication </a:t>
            </a:r>
            <a:endParaRPr/>
          </a:p>
        </p:txBody>
      </p:sp>
      <p:sp>
        <p:nvSpPr>
          <p:cNvPr id="109" name="Google Shape;109;p5"/>
          <p:cNvSpPr txBox="1"/>
          <p:nvPr>
            <p:ph idx="1" type="body"/>
          </p:nvPr>
        </p:nvSpPr>
        <p:spPr>
          <a:xfrm>
            <a:off x="838200" y="1258957"/>
            <a:ext cx="10515600" cy="491800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Contains a technical message</a:t>
            </a:r>
            <a:endParaRPr/>
          </a:p>
          <a:p>
            <a:pPr indent="-228600" lvl="0" marL="228600" rtl="0" algn="l">
              <a:lnSpc>
                <a:spcPct val="90000"/>
              </a:lnSpc>
              <a:spcBef>
                <a:spcPts val="1000"/>
              </a:spcBef>
              <a:spcAft>
                <a:spcPts val="0"/>
              </a:spcAft>
              <a:buClr>
                <a:schemeClr val="dk1"/>
              </a:buClr>
              <a:buSzPts val="2800"/>
              <a:buChar char="•"/>
            </a:pPr>
            <a:r>
              <a:rPr lang="en-US"/>
              <a:t>Mostly formal</a:t>
            </a:r>
            <a:endParaRPr/>
          </a:p>
          <a:p>
            <a:pPr indent="-228600" lvl="0" marL="228600" rtl="0" algn="l">
              <a:lnSpc>
                <a:spcPct val="90000"/>
              </a:lnSpc>
              <a:spcBef>
                <a:spcPts val="1000"/>
              </a:spcBef>
              <a:spcAft>
                <a:spcPts val="0"/>
              </a:spcAft>
              <a:buClr>
                <a:schemeClr val="dk1"/>
              </a:buClr>
              <a:buSzPts val="2800"/>
              <a:buChar char="•"/>
            </a:pPr>
            <a:r>
              <a:rPr lang="en-US"/>
              <a:t>Follows a set pattern</a:t>
            </a:r>
            <a:endParaRPr/>
          </a:p>
          <a:p>
            <a:pPr indent="-228600" lvl="0" marL="228600" rtl="0" algn="l">
              <a:lnSpc>
                <a:spcPct val="90000"/>
              </a:lnSpc>
              <a:spcBef>
                <a:spcPts val="1000"/>
              </a:spcBef>
              <a:spcAft>
                <a:spcPts val="0"/>
              </a:spcAft>
              <a:buClr>
                <a:schemeClr val="dk1"/>
              </a:buClr>
              <a:buSzPts val="2800"/>
              <a:buChar char="•"/>
            </a:pPr>
            <a:r>
              <a:rPr lang="en-US"/>
              <a:t>Both oral and written</a:t>
            </a:r>
            <a:endParaRPr/>
          </a:p>
          <a:p>
            <a:pPr indent="-228600" lvl="0" marL="228600" rtl="0" algn="l">
              <a:lnSpc>
                <a:spcPct val="90000"/>
              </a:lnSpc>
              <a:spcBef>
                <a:spcPts val="1000"/>
              </a:spcBef>
              <a:spcAft>
                <a:spcPts val="0"/>
              </a:spcAft>
              <a:buClr>
                <a:schemeClr val="dk1"/>
              </a:buClr>
              <a:buSzPts val="2800"/>
              <a:buChar char="•"/>
            </a:pPr>
            <a:r>
              <a:rPr lang="en-US"/>
              <a:t> Always for a specific audience</a:t>
            </a:r>
            <a:endParaRPr/>
          </a:p>
          <a:p>
            <a:pPr indent="-228600" lvl="0" marL="228600" rtl="0" algn="l">
              <a:lnSpc>
                <a:spcPct val="90000"/>
              </a:lnSpc>
              <a:spcBef>
                <a:spcPts val="1000"/>
              </a:spcBef>
              <a:spcAft>
                <a:spcPts val="0"/>
              </a:spcAft>
              <a:buClr>
                <a:schemeClr val="dk1"/>
              </a:buClr>
              <a:buSzPts val="2800"/>
              <a:buChar char="•"/>
            </a:pPr>
            <a:r>
              <a:rPr lang="en-US"/>
              <a:t>Frequently involves jargon , graphics , vocabulary specific to the field concerned etc</a:t>
            </a:r>
            <a:endParaRPr/>
          </a:p>
          <a:p>
            <a:pPr indent="-228600" lvl="0" marL="228600" rtl="0" algn="l">
              <a:lnSpc>
                <a:spcPct val="90000"/>
              </a:lnSpc>
              <a:spcBef>
                <a:spcPts val="1000"/>
              </a:spcBef>
              <a:spcAft>
                <a:spcPts val="0"/>
              </a:spcAft>
              <a:buClr>
                <a:schemeClr val="dk1"/>
              </a:buClr>
              <a:buSzPts val="2800"/>
              <a:buChar char="•"/>
            </a:pPr>
            <a:r>
              <a:rPr lang="en-US"/>
              <a:t>It is a process for planning, writing, and editing technical documents, including assessing the needs of users, selecting document formats, and making effective use of graphics.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Importance of technical communication</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Technical  communication plays a pivotal role in any set-up, whether it is business enterprise an industry as a whole , or an academic institution</a:t>
            </a:r>
            <a:endParaRPr/>
          </a:p>
          <a:p>
            <a:pPr indent="-228600" lvl="0" marL="228600" rtl="0" algn="l">
              <a:lnSpc>
                <a:spcPct val="90000"/>
              </a:lnSpc>
              <a:spcBef>
                <a:spcPts val="1000"/>
              </a:spcBef>
              <a:spcAft>
                <a:spcPts val="0"/>
              </a:spcAft>
              <a:buClr>
                <a:schemeClr val="dk1"/>
              </a:buClr>
              <a:buSzPts val="2800"/>
              <a:buChar char="•"/>
            </a:pPr>
            <a:r>
              <a:rPr lang="en-US"/>
              <a:t> All managerial or administrative activities involve communication, be it planning organizing, recruiting, coordinating , or decision – making.</a:t>
            </a:r>
            <a:endParaRPr/>
          </a:p>
          <a:p>
            <a:pPr indent="-228600" lvl="0" marL="228600" rtl="0" algn="l">
              <a:lnSpc>
                <a:spcPct val="90000"/>
              </a:lnSpc>
              <a:spcBef>
                <a:spcPts val="1000"/>
              </a:spcBef>
              <a:spcAft>
                <a:spcPts val="0"/>
              </a:spcAft>
              <a:buClr>
                <a:schemeClr val="dk1"/>
              </a:buClr>
              <a:buSzPts val="2800"/>
              <a:buChar char="•"/>
            </a:pPr>
            <a:r>
              <a:rPr lang="en-US"/>
              <a:t> When you write reports , give instructions , or read brochures and manuals , you are involved in the process of communication.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7348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Contd…</a:t>
            </a:r>
            <a:endParaRPr/>
          </a:p>
        </p:txBody>
      </p:sp>
      <p:sp>
        <p:nvSpPr>
          <p:cNvPr id="121" name="Google Shape;121;p7"/>
          <p:cNvSpPr txBox="1"/>
          <p:nvPr>
            <p:ph idx="1" type="body"/>
          </p:nvPr>
        </p:nvSpPr>
        <p:spPr>
          <a:xfrm>
            <a:off x="838200" y="1431235"/>
            <a:ext cx="10515600" cy="474572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Technical Communication serves as an instrument to measure the success or growth of an organization . For example , papers published by R&amp;D organization presents his/her company’s achievements in a meeting, each of the participants comes to know of these milestones.</a:t>
            </a:r>
            <a:endParaRPr/>
          </a:p>
          <a:p>
            <a:pPr indent="-228600" lvl="0" marL="228600" rtl="0" algn="l">
              <a:lnSpc>
                <a:spcPct val="90000"/>
              </a:lnSpc>
              <a:spcBef>
                <a:spcPts val="1000"/>
              </a:spcBef>
              <a:spcAft>
                <a:spcPts val="0"/>
              </a:spcAft>
              <a:buClr>
                <a:schemeClr val="dk1"/>
              </a:buClr>
              <a:buSzPts val="2800"/>
              <a:buChar char="•"/>
            </a:pPr>
            <a:r>
              <a:rPr lang="en-US"/>
              <a:t>The higher one’s position is, the greater is their need to communicate. A laborer , for example , may not be as involved in formal communication as a top – level executive . </a:t>
            </a:r>
            <a:endParaRPr/>
          </a:p>
          <a:p>
            <a:pPr indent="-228600" lvl="0" marL="228600" rtl="0" algn="l">
              <a:lnSpc>
                <a:spcPct val="90000"/>
              </a:lnSpc>
              <a:spcBef>
                <a:spcPts val="1000"/>
              </a:spcBef>
              <a:spcAft>
                <a:spcPts val="0"/>
              </a:spcAft>
              <a:buClr>
                <a:schemeClr val="dk1"/>
              </a:buClr>
              <a:buSzPts val="2800"/>
              <a:buChar char="•"/>
            </a:pPr>
            <a:r>
              <a:rPr lang="en-US"/>
              <a:t>However, it has been noticed though most professionals are well aware of the importance of communications, they do not develop their skills to good effect. Hence, care is taken nowadays to introduce training in technical communication at the under graduate level itself.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idx="1" type="body"/>
          </p:nvPr>
        </p:nvSpPr>
        <p:spPr>
          <a:xfrm>
            <a:off x="838200" y="1192696"/>
            <a:ext cx="10515600" cy="4984267"/>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rgbClr val="00B050"/>
              </a:buClr>
              <a:buSzPts val="2800"/>
              <a:buChar char="•"/>
            </a:pPr>
            <a:r>
              <a:rPr b="1" i="1" lang="en-US">
                <a:solidFill>
                  <a:srgbClr val="00B050"/>
                </a:solidFill>
              </a:rPr>
              <a:t>The more people participate in the communication process, the better they develop their skills in collecting and organizing information , analyzing and evaluating facts , appreciating the difference between facts and inferences , and communicating effectively </a:t>
            </a:r>
            <a:endParaRPr/>
          </a:p>
          <a:p>
            <a:pPr indent="-228600" lvl="0" marL="228600" rtl="0" algn="l">
              <a:lnSpc>
                <a:spcPct val="90000"/>
              </a:lnSpc>
              <a:spcBef>
                <a:spcPts val="1000"/>
              </a:spcBef>
              <a:spcAft>
                <a:spcPts val="0"/>
              </a:spcAft>
              <a:buClr>
                <a:srgbClr val="00B050"/>
              </a:buClr>
              <a:buSzPts val="2800"/>
              <a:buChar char="•"/>
            </a:pPr>
            <a:r>
              <a:rPr b="1" i="1" lang="en-US">
                <a:solidFill>
                  <a:srgbClr val="00B050"/>
                </a:solidFill>
              </a:rPr>
              <a:t>To become an effective communicator , one needs to communicate , communicate and communicate . There is no other way out. Practice is key </a:t>
            </a:r>
            <a:endParaRPr b="1" i="1">
              <a:solidFill>
                <a:srgbClr val="00B05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838200" y="365125"/>
            <a:ext cx="10515600" cy="98659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r>
              <a:rPr lang="en-US"/>
              <a:t>Tips of effective Communication</a:t>
            </a:r>
            <a:br>
              <a:rPr lang="en-US"/>
            </a:br>
            <a:endParaRPr/>
          </a:p>
        </p:txBody>
      </p:sp>
      <p:sp>
        <p:nvSpPr>
          <p:cNvPr id="132" name="Google Shape;132;p9"/>
          <p:cNvSpPr txBox="1"/>
          <p:nvPr>
            <p:ph idx="1" type="body"/>
          </p:nvPr>
        </p:nvSpPr>
        <p:spPr>
          <a:xfrm>
            <a:off x="838200" y="1550504"/>
            <a:ext cx="10515600" cy="5035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Constant practice and rigorous implementation of these ideas will help you become an excellent communicator</a:t>
            </a:r>
            <a:endParaRPr/>
          </a:p>
          <a:p>
            <a:pPr indent="-228600" lvl="0" marL="228600" rtl="0" algn="l">
              <a:lnSpc>
                <a:spcPct val="90000"/>
              </a:lnSpc>
              <a:spcBef>
                <a:spcPts val="1000"/>
              </a:spcBef>
              <a:spcAft>
                <a:spcPts val="0"/>
              </a:spcAft>
              <a:buClr>
                <a:schemeClr val="dk1"/>
              </a:buClr>
              <a:buSzPts val="2800"/>
              <a:buChar char="•"/>
            </a:pPr>
            <a:r>
              <a:rPr lang="en-US"/>
              <a:t>Create an open communication environment</a:t>
            </a:r>
            <a:endParaRPr/>
          </a:p>
          <a:p>
            <a:pPr indent="-228600" lvl="0" marL="228600" rtl="0" algn="l">
              <a:lnSpc>
                <a:spcPct val="90000"/>
              </a:lnSpc>
              <a:spcBef>
                <a:spcPts val="1000"/>
              </a:spcBef>
              <a:spcAft>
                <a:spcPts val="0"/>
              </a:spcAft>
              <a:buClr>
                <a:schemeClr val="dk1"/>
              </a:buClr>
              <a:buSzPts val="2800"/>
              <a:buChar char="•"/>
            </a:pPr>
            <a:r>
              <a:rPr lang="en-US"/>
              <a:t>  Always keep the receiver in mind</a:t>
            </a:r>
            <a:endParaRPr/>
          </a:p>
          <a:p>
            <a:pPr indent="-228600" lvl="0" marL="228600" rtl="0" algn="l">
              <a:lnSpc>
                <a:spcPct val="90000"/>
              </a:lnSpc>
              <a:spcBef>
                <a:spcPts val="1000"/>
              </a:spcBef>
              <a:spcAft>
                <a:spcPts val="0"/>
              </a:spcAft>
              <a:buClr>
                <a:schemeClr val="dk1"/>
              </a:buClr>
              <a:buSzPts val="2800"/>
              <a:buChar char="•"/>
            </a:pPr>
            <a:r>
              <a:rPr lang="en-US"/>
              <a:t>Avoid having too many transfer stations</a:t>
            </a:r>
            <a:endParaRPr/>
          </a:p>
          <a:p>
            <a:pPr indent="-228600" lvl="0" marL="228600" rtl="0" algn="l">
              <a:lnSpc>
                <a:spcPct val="90000"/>
              </a:lnSpc>
              <a:spcBef>
                <a:spcPts val="1000"/>
              </a:spcBef>
              <a:spcAft>
                <a:spcPts val="0"/>
              </a:spcAft>
              <a:buClr>
                <a:schemeClr val="dk1"/>
              </a:buClr>
              <a:buSzPts val="2800"/>
              <a:buChar char="•"/>
            </a:pPr>
            <a:r>
              <a:rPr lang="en-US"/>
              <a:t>  Be aware of diversity in culture , language etc</a:t>
            </a:r>
            <a:endParaRPr/>
          </a:p>
          <a:p>
            <a:pPr indent="-228600" lvl="0" marL="228600" rtl="0" algn="l">
              <a:lnSpc>
                <a:spcPct val="90000"/>
              </a:lnSpc>
              <a:spcBef>
                <a:spcPts val="1000"/>
              </a:spcBef>
              <a:spcAft>
                <a:spcPts val="0"/>
              </a:spcAft>
              <a:buClr>
                <a:schemeClr val="dk1"/>
              </a:buClr>
              <a:buSzPts val="2800"/>
              <a:buChar char="•"/>
            </a:pPr>
            <a:r>
              <a:rPr lang="en-US"/>
              <a:t>  Use of appropriate non verbal cues.</a:t>
            </a:r>
            <a:endParaRPr/>
          </a:p>
          <a:p>
            <a:pPr indent="-228600" lvl="0" marL="228600" rtl="0" algn="l">
              <a:lnSpc>
                <a:spcPct val="90000"/>
              </a:lnSpc>
              <a:spcBef>
                <a:spcPts val="1000"/>
              </a:spcBef>
              <a:spcAft>
                <a:spcPts val="0"/>
              </a:spcAft>
              <a:buClr>
                <a:schemeClr val="dk1"/>
              </a:buClr>
              <a:buSzPts val="2800"/>
              <a:buChar char="•"/>
            </a:pPr>
            <a:r>
              <a:rPr lang="en-US"/>
              <a:t>  Select the most suitable medium</a:t>
            </a:r>
            <a:endParaRPr/>
          </a:p>
          <a:p>
            <a:pPr indent="-228600" lvl="0" marL="228600" rtl="0" algn="l">
              <a:lnSpc>
                <a:spcPct val="90000"/>
              </a:lnSpc>
              <a:spcBef>
                <a:spcPts val="1000"/>
              </a:spcBef>
              <a:spcAft>
                <a:spcPts val="0"/>
              </a:spcAft>
              <a:buClr>
                <a:schemeClr val="dk1"/>
              </a:buClr>
              <a:buSzPts val="2800"/>
              <a:buChar char="•"/>
            </a:pPr>
            <a:r>
              <a:rPr lang="en-US"/>
              <a:t> Analyze the feedback</a:t>
            </a:r>
            <a:endParaRPr/>
          </a:p>
          <a:p>
            <a:pPr indent="-228600" lvl="0" marL="228600" rtl="0" algn="l">
              <a:lnSpc>
                <a:spcPct val="90000"/>
              </a:lnSpc>
              <a:spcBef>
                <a:spcPts val="1000"/>
              </a:spcBef>
              <a:spcAft>
                <a:spcPts val="0"/>
              </a:spcAft>
              <a:buClr>
                <a:schemeClr val="dk1"/>
              </a:buClr>
              <a:buSzPts val="2800"/>
              <a:buChar char="•"/>
            </a:pPr>
            <a:r>
              <a:rPr lang="en-US"/>
              <a:t>Do not communicate when you are emotionally disturbed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type="title"/>
          </p:nvPr>
        </p:nvSpPr>
        <p:spPr>
          <a:xfrm>
            <a:off x="838200" y="365125"/>
            <a:ext cx="10515600" cy="8218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Points to ponder </a:t>
            </a:r>
            <a:endParaRPr/>
          </a:p>
        </p:txBody>
      </p:sp>
      <p:sp>
        <p:nvSpPr>
          <p:cNvPr id="138" name="Google Shape;138;p10"/>
          <p:cNvSpPr txBox="1"/>
          <p:nvPr>
            <p:ph idx="1" type="body"/>
          </p:nvPr>
        </p:nvSpPr>
        <p:spPr>
          <a:xfrm>
            <a:off x="838200" y="1310055"/>
            <a:ext cx="10515600" cy="4600416"/>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solidFill>
                <a:srgbClr val="202124"/>
              </a:solidFill>
              <a:latin typeface="arial"/>
              <a:ea typeface="arial"/>
              <a:cs typeface="arial"/>
              <a:sym typeface="arial"/>
            </a:endParaRPr>
          </a:p>
          <a:p>
            <a:pPr indent="-228600" lvl="0" marL="228600" rtl="0" algn="l">
              <a:lnSpc>
                <a:spcPct val="90000"/>
              </a:lnSpc>
              <a:spcBef>
                <a:spcPts val="1000"/>
              </a:spcBef>
              <a:spcAft>
                <a:spcPts val="0"/>
              </a:spcAft>
              <a:buClr>
                <a:srgbClr val="202124"/>
              </a:buClr>
              <a:buSzPts val="2800"/>
              <a:buChar char="•"/>
            </a:pPr>
            <a:r>
              <a:rPr lang="en-US">
                <a:solidFill>
                  <a:srgbClr val="202124"/>
                </a:solidFill>
              </a:rPr>
              <a:t>S</a:t>
            </a:r>
            <a:r>
              <a:rPr b="0" i="0" lang="en-US">
                <a:solidFill>
                  <a:srgbClr val="202124"/>
                </a:solidFill>
              </a:rPr>
              <a:t>ome of the world's best projects are a result of effective </a:t>
            </a:r>
            <a:r>
              <a:rPr b="1" i="0" lang="en-US">
                <a:solidFill>
                  <a:srgbClr val="202124"/>
                </a:solidFill>
              </a:rPr>
              <a:t>communication</a:t>
            </a:r>
            <a:r>
              <a:rPr lang="en-US">
                <a:solidFill>
                  <a:srgbClr val="202124"/>
                </a:solidFill>
              </a:rPr>
              <a:t> combined with </a:t>
            </a:r>
            <a:r>
              <a:rPr b="0" i="0" lang="en-US">
                <a:solidFill>
                  <a:srgbClr val="202124"/>
                </a:solidFill>
              </a:rPr>
              <a:t>fresh ideas, and collective teamwork.  </a:t>
            </a:r>
            <a:endParaRPr>
              <a:solidFill>
                <a:srgbClr val="202124"/>
              </a:solidFill>
            </a:endParaRPr>
          </a:p>
          <a:p>
            <a:pPr indent="-228600" lvl="0" marL="228600" rtl="0" algn="l">
              <a:lnSpc>
                <a:spcPct val="90000"/>
              </a:lnSpc>
              <a:spcBef>
                <a:spcPts val="1000"/>
              </a:spcBef>
              <a:spcAft>
                <a:spcPts val="0"/>
              </a:spcAft>
              <a:buClr>
                <a:srgbClr val="202124"/>
              </a:buClr>
              <a:buSzPts val="2800"/>
              <a:buChar char="•"/>
            </a:pPr>
            <a:r>
              <a:rPr b="0" i="0" lang="en-US">
                <a:solidFill>
                  <a:srgbClr val="202124"/>
                </a:solidFill>
              </a:rPr>
              <a:t>People who can </a:t>
            </a:r>
            <a:r>
              <a:rPr b="1" i="0" lang="en-US">
                <a:solidFill>
                  <a:srgbClr val="202124"/>
                </a:solidFill>
              </a:rPr>
              <a:t>communicate</a:t>
            </a:r>
            <a:r>
              <a:rPr b="0" i="0" lang="en-US">
                <a:solidFill>
                  <a:srgbClr val="202124"/>
                </a:solidFill>
              </a:rPr>
              <a:t> their desires, goals and outcomes are game-changers, and those people are valuable for any company or projects </a:t>
            </a:r>
            <a:endParaRPr/>
          </a:p>
          <a:p>
            <a:pPr indent="-228600" lvl="0" marL="228600" rtl="0" algn="l">
              <a:lnSpc>
                <a:spcPct val="90000"/>
              </a:lnSpc>
              <a:spcBef>
                <a:spcPts val="1000"/>
              </a:spcBef>
              <a:spcAft>
                <a:spcPts val="0"/>
              </a:spcAft>
              <a:buClr>
                <a:schemeClr val="dk1"/>
              </a:buClr>
              <a:buSzPts val="2800"/>
              <a:buChar char="•"/>
            </a:pPr>
            <a:r>
              <a:rPr b="0" i="0" lang="en-US"/>
              <a:t>Great pioneers of businesses, organizations, institutions are all very clear on what they want and are very good at communicating these ideas efficiently to people and get work done.</a:t>
            </a:r>
            <a:endParaRPr/>
          </a:p>
          <a:p>
            <a:pPr indent="0" lvl="0" marL="0" rtl="0" algn="l">
              <a:lnSpc>
                <a:spcPct val="90000"/>
              </a:lnSpc>
              <a:spcBef>
                <a:spcPts val="1000"/>
              </a:spcBef>
              <a:spcAft>
                <a:spcPts val="0"/>
              </a:spcAft>
              <a:buClr>
                <a:schemeClr val="dk1"/>
              </a:buClr>
              <a:buSzPts val="2800"/>
              <a:buNone/>
            </a:pPr>
            <a:r>
              <a:t/>
            </a:r>
            <a:endParaRPr b="0" i="0">
              <a:solidFill>
                <a:srgbClr val="202124"/>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ph type="title"/>
          </p:nvPr>
        </p:nvSpPr>
        <p:spPr>
          <a:xfrm>
            <a:off x="838200" y="365125"/>
            <a:ext cx="10515600" cy="80106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Differences between TW and GW</a:t>
            </a:r>
            <a:endParaRPr/>
          </a:p>
        </p:txBody>
      </p:sp>
      <p:sp>
        <p:nvSpPr>
          <p:cNvPr id="144" name="Google Shape;144;p11"/>
          <p:cNvSpPr txBox="1"/>
          <p:nvPr>
            <p:ph idx="1" type="body"/>
          </p:nvPr>
        </p:nvSpPr>
        <p:spPr>
          <a:xfrm>
            <a:off x="838200" y="1404730"/>
            <a:ext cx="10515600" cy="5088143"/>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90000"/>
              </a:lnSpc>
              <a:spcBef>
                <a:spcPts val="0"/>
              </a:spcBef>
              <a:spcAft>
                <a:spcPts val="0"/>
              </a:spcAft>
              <a:buClr>
                <a:schemeClr val="dk1"/>
              </a:buClr>
              <a:buSzPts val="2800"/>
              <a:buAutoNum type="arabicPeriod"/>
            </a:pPr>
            <a:r>
              <a:rPr lang="en-US"/>
              <a:t>Technical writing focuses on factual and straight forward content. General writing focuses on general subjects of writing.</a:t>
            </a:r>
            <a:endParaRPr/>
          </a:p>
          <a:p>
            <a:pPr indent="-514350" lvl="0" marL="514350" rtl="0" algn="l">
              <a:lnSpc>
                <a:spcPct val="90000"/>
              </a:lnSpc>
              <a:spcBef>
                <a:spcPts val="1000"/>
              </a:spcBef>
              <a:spcAft>
                <a:spcPts val="0"/>
              </a:spcAft>
              <a:buClr>
                <a:schemeClr val="dk1"/>
              </a:buClr>
              <a:buSzPts val="2800"/>
              <a:buAutoNum type="arabicPeriod"/>
            </a:pPr>
            <a:r>
              <a:rPr lang="en-US"/>
              <a:t>Technical writing aims to impart information, instructions and explanations. General writing aims at amusement.</a:t>
            </a:r>
            <a:endParaRPr/>
          </a:p>
          <a:p>
            <a:pPr indent="-514350" lvl="0" marL="514350" rtl="0" algn="l">
              <a:lnSpc>
                <a:spcPct val="90000"/>
              </a:lnSpc>
              <a:spcBef>
                <a:spcPts val="1000"/>
              </a:spcBef>
              <a:spcAft>
                <a:spcPts val="0"/>
              </a:spcAft>
              <a:buClr>
                <a:schemeClr val="dk1"/>
              </a:buClr>
              <a:buSzPts val="2800"/>
              <a:buAutoNum type="arabicPeriod"/>
            </a:pPr>
            <a:r>
              <a:rPr lang="en-US"/>
              <a:t>Technical writing is based on objective tone. General writing is based on subjective tone or personal style.</a:t>
            </a:r>
            <a:endParaRPr/>
          </a:p>
          <a:p>
            <a:pPr indent="-514350" lvl="0" marL="514350" rtl="0" algn="l">
              <a:lnSpc>
                <a:spcPct val="90000"/>
              </a:lnSpc>
              <a:spcBef>
                <a:spcPts val="1000"/>
              </a:spcBef>
              <a:spcAft>
                <a:spcPts val="0"/>
              </a:spcAft>
              <a:buClr>
                <a:schemeClr val="dk1"/>
              </a:buClr>
              <a:buSzPts val="2800"/>
              <a:buAutoNum type="arabicPeriod"/>
            </a:pPr>
            <a:r>
              <a:rPr lang="en-US"/>
              <a:t>TW follows standard structured format. GW follows artistic unstructured format.</a:t>
            </a:r>
            <a:endParaRPr/>
          </a:p>
          <a:p>
            <a:pPr indent="-514350" lvl="0" marL="514350" rtl="0" algn="l">
              <a:lnSpc>
                <a:spcPct val="90000"/>
              </a:lnSpc>
              <a:spcBef>
                <a:spcPts val="1000"/>
              </a:spcBef>
              <a:spcAft>
                <a:spcPts val="0"/>
              </a:spcAft>
              <a:buClr>
                <a:schemeClr val="dk1"/>
              </a:buClr>
              <a:buSzPts val="2800"/>
              <a:buAutoNum type="arabicPeriod"/>
            </a:pPr>
            <a:r>
              <a:rPr lang="en-US"/>
              <a:t>TW is usually based on a formal way of writing. GW may be formal or informal way of writing.</a:t>
            </a:r>
            <a:endParaRPr/>
          </a:p>
          <a:p>
            <a:pPr indent="-514350" lvl="0" marL="514350" rtl="0" algn="l">
              <a:lnSpc>
                <a:spcPct val="90000"/>
              </a:lnSpc>
              <a:spcBef>
                <a:spcPts val="1000"/>
              </a:spcBef>
              <a:spcAft>
                <a:spcPts val="0"/>
              </a:spcAft>
              <a:buClr>
                <a:schemeClr val="dk1"/>
              </a:buClr>
              <a:buSzPts val="2800"/>
              <a:buAutoNum type="arabicPeriod"/>
            </a:pPr>
            <a:r>
              <a:rPr lang="en-US"/>
              <a:t>The voice used in technical writing is 3rd person. The voice used in general writing is 1st person.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838200" y="365126"/>
            <a:ext cx="10515600" cy="7878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Contd…</a:t>
            </a:r>
            <a:endParaRPr/>
          </a:p>
        </p:txBody>
      </p:sp>
      <p:sp>
        <p:nvSpPr>
          <p:cNvPr id="150" name="Google Shape;150;p12"/>
          <p:cNvSpPr txBox="1"/>
          <p:nvPr>
            <p:ph idx="1" type="body"/>
          </p:nvPr>
        </p:nvSpPr>
        <p:spPr>
          <a:xfrm>
            <a:off x="838200" y="1258957"/>
            <a:ext cx="10515600" cy="535387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7. In technical writing specialized vocabulary is required.	In General writing evocative vocabulary is required.</a:t>
            </a:r>
            <a:endParaRPr/>
          </a:p>
          <a:p>
            <a:pPr indent="0" lvl="0" marL="0" rtl="0" algn="l">
              <a:lnSpc>
                <a:spcPct val="90000"/>
              </a:lnSpc>
              <a:spcBef>
                <a:spcPts val="1000"/>
              </a:spcBef>
              <a:spcAft>
                <a:spcPts val="0"/>
              </a:spcAft>
              <a:buClr>
                <a:schemeClr val="dk1"/>
              </a:buClr>
              <a:buSzPts val="2800"/>
              <a:buNone/>
            </a:pPr>
            <a:r>
              <a:rPr lang="en-US"/>
              <a:t>8. Technical writing has its specific set of audience or readers.	General writing has no specific set of audience or readers.</a:t>
            </a:r>
            <a:endParaRPr/>
          </a:p>
          <a:p>
            <a:pPr indent="0" lvl="0" marL="0" rtl="0" algn="l">
              <a:lnSpc>
                <a:spcPct val="90000"/>
              </a:lnSpc>
              <a:spcBef>
                <a:spcPts val="1000"/>
              </a:spcBef>
              <a:spcAft>
                <a:spcPts val="0"/>
              </a:spcAft>
              <a:buClr>
                <a:schemeClr val="dk1"/>
              </a:buClr>
              <a:buSzPts val="2800"/>
              <a:buNone/>
            </a:pPr>
            <a:r>
              <a:rPr lang="en-US"/>
              <a:t>9. Technical writing is archival. General writing is non-archival.</a:t>
            </a:r>
            <a:endParaRPr/>
          </a:p>
          <a:p>
            <a:pPr indent="0" lvl="0" marL="0" rtl="0" algn="l">
              <a:lnSpc>
                <a:spcPct val="90000"/>
              </a:lnSpc>
              <a:spcBef>
                <a:spcPts val="1000"/>
              </a:spcBef>
              <a:spcAft>
                <a:spcPts val="0"/>
              </a:spcAft>
              <a:buClr>
                <a:schemeClr val="dk1"/>
              </a:buClr>
              <a:buSzPts val="2800"/>
              <a:buNone/>
            </a:pPr>
            <a:r>
              <a:rPr lang="en-US"/>
              <a:t>10. TW is accurate and more precise in manner. GW is decorative and bombastic in manner.</a:t>
            </a:r>
            <a:endParaRPr/>
          </a:p>
          <a:p>
            <a:pPr indent="0" lvl="0" marL="0" rtl="0" algn="l">
              <a:lnSpc>
                <a:spcPct val="90000"/>
              </a:lnSpc>
              <a:spcBef>
                <a:spcPts val="1000"/>
              </a:spcBef>
              <a:spcAft>
                <a:spcPts val="0"/>
              </a:spcAft>
              <a:buClr>
                <a:schemeClr val="dk1"/>
              </a:buClr>
              <a:buSzPts val="2800"/>
              <a:buNone/>
            </a:pPr>
            <a:r>
              <a:rPr lang="en-US"/>
              <a:t>11. Technical writing is related to any specific area or domain. General domain is related to any life in general.</a:t>
            </a:r>
            <a:endParaRPr/>
          </a:p>
          <a:p>
            <a:pPr indent="0" lvl="0" marL="0" rtl="0" algn="l">
              <a:lnSpc>
                <a:spcPct val="90000"/>
              </a:lnSpc>
              <a:spcBef>
                <a:spcPts val="1000"/>
              </a:spcBef>
              <a:spcAft>
                <a:spcPts val="0"/>
              </a:spcAft>
              <a:buClr>
                <a:schemeClr val="dk1"/>
              </a:buClr>
              <a:buSzPts val="2800"/>
              <a:buNone/>
            </a:pPr>
            <a:r>
              <a:rPr lang="en-US"/>
              <a:t>12. TW focuses on more technical words specific to the area. GW focuses on more common words suitable to the general topic.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838200" y="365126"/>
            <a:ext cx="10515600" cy="58903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Concluding remarks and comments </a:t>
            </a:r>
            <a:endParaRPr/>
          </a:p>
        </p:txBody>
      </p:sp>
      <p:sp>
        <p:nvSpPr>
          <p:cNvPr id="156" name="Google Shape;156;p13"/>
          <p:cNvSpPr txBox="1"/>
          <p:nvPr>
            <p:ph idx="1" type="body"/>
          </p:nvPr>
        </p:nvSpPr>
        <p:spPr>
          <a:xfrm>
            <a:off x="838200" y="1126435"/>
            <a:ext cx="10515600" cy="536644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0" i="0" lang="en-US">
                <a:latin typeface="Open Sans"/>
                <a:ea typeface="Open Sans"/>
                <a:cs typeface="Open Sans"/>
                <a:sym typeface="Open Sans"/>
              </a:rPr>
              <a:t> </a:t>
            </a:r>
            <a:r>
              <a:rPr lang="en-US">
                <a:latin typeface="Open Sans"/>
                <a:ea typeface="Open Sans"/>
                <a:cs typeface="Open Sans"/>
                <a:sym typeface="Open Sans"/>
              </a:rPr>
              <a:t>1. T</a:t>
            </a:r>
            <a:r>
              <a:rPr b="0" i="0" lang="en-US">
                <a:latin typeface="Open Sans"/>
                <a:ea typeface="Open Sans"/>
                <a:cs typeface="Open Sans"/>
                <a:sym typeface="Open Sans"/>
              </a:rPr>
              <a:t>o let the world know what your ideas are about, you must know how to communicate well.</a:t>
            </a:r>
            <a:endParaRPr/>
          </a:p>
          <a:p>
            <a:pPr indent="0" lvl="0" marL="0" rtl="0" algn="l">
              <a:lnSpc>
                <a:spcPct val="90000"/>
              </a:lnSpc>
              <a:spcBef>
                <a:spcPts val="1000"/>
              </a:spcBef>
              <a:spcAft>
                <a:spcPts val="0"/>
              </a:spcAft>
              <a:buClr>
                <a:schemeClr val="dk1"/>
              </a:buClr>
              <a:buSzPts val="2800"/>
              <a:buNone/>
            </a:pPr>
            <a:r>
              <a:rPr lang="en-US">
                <a:latin typeface="Open Sans"/>
                <a:ea typeface="Open Sans"/>
                <a:cs typeface="Open Sans"/>
                <a:sym typeface="Open Sans"/>
              </a:rPr>
              <a:t>2. </a:t>
            </a:r>
            <a:r>
              <a:rPr b="0" i="0" lang="en-US">
                <a:latin typeface="Open Sans"/>
                <a:ea typeface="Open Sans"/>
                <a:cs typeface="Open Sans"/>
                <a:sym typeface="Open Sans"/>
              </a:rPr>
              <a:t>Good communication skills can ease these interactions, and ensure that you can get your point across calmly and clearly, and also take on board the responses.</a:t>
            </a:r>
            <a:endParaRPr/>
          </a:p>
          <a:p>
            <a:pPr indent="0" lvl="0" marL="0" rtl="0" algn="l">
              <a:lnSpc>
                <a:spcPct val="90000"/>
              </a:lnSpc>
              <a:spcBef>
                <a:spcPts val="1000"/>
              </a:spcBef>
              <a:spcAft>
                <a:spcPts val="0"/>
              </a:spcAft>
              <a:buClr>
                <a:schemeClr val="dk1"/>
              </a:buClr>
              <a:buSzPts val="2800"/>
              <a:buNone/>
            </a:pPr>
            <a:r>
              <a:rPr lang="en-US">
                <a:latin typeface="Open Sans"/>
                <a:ea typeface="Open Sans"/>
                <a:cs typeface="Open Sans"/>
                <a:sym typeface="Open Sans"/>
              </a:rPr>
              <a:t>3. </a:t>
            </a:r>
            <a:r>
              <a:rPr b="0" i="0" lang="en-US">
                <a:latin typeface="Open Sans"/>
                <a:ea typeface="Open Sans"/>
                <a:cs typeface="Open Sans"/>
                <a:sym typeface="Open Sans"/>
              </a:rPr>
              <a:t>It is not predictable about where you could be in 10 or 20 years. </a:t>
            </a:r>
            <a:endParaRPr/>
          </a:p>
          <a:p>
            <a:pPr indent="0" lvl="0" marL="0" rtl="0" algn="l">
              <a:lnSpc>
                <a:spcPct val="90000"/>
              </a:lnSpc>
              <a:spcBef>
                <a:spcPts val="1000"/>
              </a:spcBef>
              <a:spcAft>
                <a:spcPts val="0"/>
              </a:spcAft>
              <a:buClr>
                <a:schemeClr val="dk1"/>
              </a:buClr>
              <a:buSzPts val="2800"/>
              <a:buNone/>
            </a:pPr>
            <a:r>
              <a:rPr b="0" i="0" lang="en-US">
                <a:latin typeface="Open Sans"/>
                <a:ea typeface="Open Sans"/>
                <a:cs typeface="Open Sans"/>
                <a:sym typeface="Open Sans"/>
              </a:rPr>
              <a:t>4. However, focusing on mastering your communication skills  while you’re still young and improving intellectually, will make you ready for a </a:t>
            </a:r>
            <a:r>
              <a:rPr lang="en-US">
                <a:latin typeface="Open Sans"/>
                <a:ea typeface="Open Sans"/>
                <a:cs typeface="Open Sans"/>
                <a:sym typeface="Open Sans"/>
              </a:rPr>
              <a:t>good </a:t>
            </a:r>
            <a:r>
              <a:rPr b="0" i="0" lang="en-US">
                <a:latin typeface="Open Sans"/>
                <a:ea typeface="Open Sans"/>
                <a:cs typeface="Open Sans"/>
                <a:sym typeface="Open Sans"/>
              </a:rPr>
              <a:t>career and ability to face challenges.</a:t>
            </a:r>
            <a:endParaRPr/>
          </a:p>
          <a:p>
            <a:pPr indent="0" lvl="0" marL="0" rtl="0" algn="l">
              <a:lnSpc>
                <a:spcPct val="90000"/>
              </a:lnSpc>
              <a:spcBef>
                <a:spcPts val="1000"/>
              </a:spcBef>
              <a:spcAft>
                <a:spcPts val="0"/>
              </a:spcAft>
              <a:buClr>
                <a:schemeClr val="dk1"/>
              </a:buClr>
              <a:buSzPts val="2800"/>
              <a:buNone/>
            </a:pPr>
            <a:r>
              <a:rPr lang="en-US">
                <a:latin typeface="Open Sans"/>
                <a:ea typeface="Open Sans"/>
                <a:cs typeface="Open Sans"/>
                <a:sym typeface="Open Sans"/>
              </a:rPr>
              <a:t>5. A mastery in general communication makes it easier to master technical communication </a:t>
            </a:r>
            <a:endParaRPr b="0" i="0">
              <a:latin typeface="Open Sans"/>
              <a:ea typeface="Open Sans"/>
              <a:cs typeface="Open Sans"/>
              <a:sym typeface="Open Sans"/>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0" i="0">
              <a:latin typeface="Open Sans"/>
              <a:ea typeface="Open Sans"/>
              <a:cs typeface="Open Sans"/>
              <a:sym typeface="Open Sans"/>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Communication skills cannot be only taught, they need to be developed through proper training and learnt through dedication and hard work. </a:t>
            </a:r>
            <a:endParaRPr/>
          </a:p>
          <a:p>
            <a:pPr indent="-228600" lvl="0" marL="228600" rtl="0" algn="l">
              <a:lnSpc>
                <a:spcPct val="90000"/>
              </a:lnSpc>
              <a:spcBef>
                <a:spcPts val="1000"/>
              </a:spcBef>
              <a:spcAft>
                <a:spcPts val="0"/>
              </a:spcAft>
              <a:buClr>
                <a:schemeClr val="dk1"/>
              </a:buClr>
              <a:buSzPts val="2800"/>
              <a:buChar char="•"/>
            </a:pPr>
            <a:r>
              <a:rPr lang="en-US"/>
              <a:t>It is imperative that students should get the proper opportunity to develop their communication skills at graduation level itself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marR="0" rtl="0" algn="l">
              <a:lnSpc>
                <a:spcPct val="90000"/>
              </a:lnSpc>
              <a:spcBef>
                <a:spcPts val="1000"/>
              </a:spcBef>
              <a:spcAft>
                <a:spcPts val="0"/>
              </a:spcAft>
              <a:buClr>
                <a:srgbClr val="00B0F0"/>
              </a:buClr>
              <a:buSzPts val="2800"/>
              <a:buFont typeface="Arial"/>
              <a:buChar char="•"/>
            </a:pPr>
            <a:r>
              <a:rPr b="1" i="1" lang="en-US" sz="2800" u="none" cap="none" strike="noStrike">
                <a:solidFill>
                  <a:srgbClr val="00B0F0"/>
                </a:solidFill>
                <a:latin typeface="Calibri"/>
                <a:ea typeface="Calibri"/>
                <a:cs typeface="Calibri"/>
                <a:sym typeface="Calibri"/>
              </a:rPr>
              <a:t>Indian former Prime Minister Mr. Jawaharlal Nehru once said that, “The destiny of a nation is shaped in her classrooms”.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2021-01-11T07:57:34Z</dcterms:created>
  <dc:creator>Rishi Magavi</dc:creator>
</cp:coreProperties>
</file>