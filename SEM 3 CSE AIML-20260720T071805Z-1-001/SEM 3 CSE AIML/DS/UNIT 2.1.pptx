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0" name="Google Shape;200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" name="Google Shape;209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8" name="Google Shape;218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" name="Google Shape;251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0" name="Google Shape;260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8" name="Google Shape;268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7" name="Google Shape;277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5" name="Google Shape;285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9" name="Google Shape;309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0" name="Google Shape;330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8" name="Google Shape;338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6" name="Google Shape;346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4" name="Google Shape;354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3" name="Google Shape;363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1" name="Google Shape;371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9" name="Google Shape;379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6" name="Google Shape;386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3" name="Google Shape;393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1" name="Google Shape;401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3" name="Google Shape;413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1" name="Google Shape;421;p2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2" name="Google Shape;422;p2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1" name="Google Shape;431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9" name="Google Shape;439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3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6" name="Google Shape;446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8" name="Google Shape;478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7" name="Google Shape;487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8" name="Google Shape;498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6" name="Google Shape;506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4" name="Google Shape;514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3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1" name="Google Shape;521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 txBox="1"/>
          <p:nvPr>
            <p:ph idx="10" type="dt"/>
          </p:nvPr>
        </p:nvSpPr>
        <p:spPr>
          <a:xfrm>
            <a:off x="1173162" y="626586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"/>
          <p:cNvSpPr txBox="1"/>
          <p:nvPr>
            <p:ph idx="11" type="ftr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"/>
          <p:cNvSpPr txBox="1"/>
          <p:nvPr>
            <p:ph idx="12" type="sldNum"/>
          </p:nvPr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"/>
          <p:cNvSpPr txBox="1"/>
          <p:nvPr>
            <p:ph type="title"/>
          </p:nvPr>
        </p:nvSpPr>
        <p:spPr>
          <a:xfrm>
            <a:off x="1173162" y="4572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"/>
          <p:cNvSpPr txBox="1"/>
          <p:nvPr>
            <p:ph idx="10" type="dt"/>
          </p:nvPr>
        </p:nvSpPr>
        <p:spPr>
          <a:xfrm>
            <a:off x="1173162" y="626586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"/>
          <p:cNvSpPr txBox="1"/>
          <p:nvPr>
            <p:ph idx="11" type="ftr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"/>
          <p:cNvSpPr txBox="1"/>
          <p:nvPr>
            <p:ph idx="12" type="sldNum"/>
          </p:nvPr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"/>
          <p:cNvSpPr txBox="1"/>
          <p:nvPr>
            <p:ph type="title"/>
          </p:nvPr>
        </p:nvSpPr>
        <p:spPr>
          <a:xfrm rot="5400000">
            <a:off x="5154613" y="2305050"/>
            <a:ext cx="5638800" cy="19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"/>
          <p:cNvSpPr txBox="1"/>
          <p:nvPr>
            <p:ph idx="1" type="body"/>
          </p:nvPr>
        </p:nvSpPr>
        <p:spPr>
          <a:xfrm rot="5400000">
            <a:off x="1192213" y="438150"/>
            <a:ext cx="5638800" cy="56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4"/>
          <p:cNvSpPr txBox="1"/>
          <p:nvPr>
            <p:ph idx="10" type="dt"/>
          </p:nvPr>
        </p:nvSpPr>
        <p:spPr>
          <a:xfrm>
            <a:off x="1173162" y="626586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"/>
          <p:cNvSpPr txBox="1"/>
          <p:nvPr>
            <p:ph idx="11" type="ftr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"/>
          <p:cNvSpPr txBox="1"/>
          <p:nvPr>
            <p:ph idx="12" type="sldNum"/>
          </p:nvPr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"/>
          <p:cNvSpPr txBox="1"/>
          <p:nvPr>
            <p:ph type="title"/>
          </p:nvPr>
        </p:nvSpPr>
        <p:spPr>
          <a:xfrm>
            <a:off x="1173162" y="4572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" type="body"/>
          </p:nvPr>
        </p:nvSpPr>
        <p:spPr>
          <a:xfrm rot="5400000">
            <a:off x="3001962" y="152400"/>
            <a:ext cx="4114800" cy="7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5"/>
          <p:cNvSpPr txBox="1"/>
          <p:nvPr>
            <p:ph idx="10" type="dt"/>
          </p:nvPr>
        </p:nvSpPr>
        <p:spPr>
          <a:xfrm>
            <a:off x="1173162" y="626586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"/>
          <p:cNvSpPr txBox="1"/>
          <p:nvPr>
            <p:ph idx="11" type="ftr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5"/>
          <p:cNvSpPr txBox="1"/>
          <p:nvPr>
            <p:ph idx="12" type="sldNum"/>
          </p:nvPr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6"/>
          <p:cNvSpPr txBox="1"/>
          <p:nvPr>
            <p:ph type="title"/>
          </p:nvPr>
        </p:nvSpPr>
        <p:spPr>
          <a:xfrm>
            <a:off x="630238" y="457200"/>
            <a:ext cx="294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6"/>
          <p:cNvSpPr/>
          <p:nvPr>
            <p:ph idx="2" type="pic"/>
          </p:nvPr>
        </p:nvSpPr>
        <p:spPr>
          <a:xfrm>
            <a:off x="3887788" y="987425"/>
            <a:ext cx="46293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p6"/>
          <p:cNvSpPr txBox="1"/>
          <p:nvPr>
            <p:ph idx="1" type="body"/>
          </p:nvPr>
        </p:nvSpPr>
        <p:spPr>
          <a:xfrm>
            <a:off x="630238" y="2057400"/>
            <a:ext cx="29496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6"/>
          <p:cNvSpPr txBox="1"/>
          <p:nvPr>
            <p:ph idx="10" type="dt"/>
          </p:nvPr>
        </p:nvSpPr>
        <p:spPr>
          <a:xfrm>
            <a:off x="1173162" y="626586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6"/>
          <p:cNvSpPr txBox="1"/>
          <p:nvPr>
            <p:ph idx="11" type="ftr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6"/>
          <p:cNvSpPr txBox="1"/>
          <p:nvPr>
            <p:ph idx="12" type="sldNum"/>
          </p:nvPr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7"/>
          <p:cNvSpPr txBox="1"/>
          <p:nvPr>
            <p:ph type="title"/>
          </p:nvPr>
        </p:nvSpPr>
        <p:spPr>
          <a:xfrm>
            <a:off x="630238" y="457200"/>
            <a:ext cx="294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" type="body"/>
          </p:nvPr>
        </p:nvSpPr>
        <p:spPr>
          <a:xfrm>
            <a:off x="3887788" y="987425"/>
            <a:ext cx="46293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084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240"/>
              <a:buChar char="●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9" name="Google Shape;69;p7"/>
          <p:cNvSpPr txBox="1"/>
          <p:nvPr>
            <p:ph idx="2" type="body"/>
          </p:nvPr>
        </p:nvSpPr>
        <p:spPr>
          <a:xfrm>
            <a:off x="630238" y="2057400"/>
            <a:ext cx="29496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7"/>
          <p:cNvSpPr txBox="1"/>
          <p:nvPr>
            <p:ph idx="10" type="dt"/>
          </p:nvPr>
        </p:nvSpPr>
        <p:spPr>
          <a:xfrm>
            <a:off x="1173162" y="626586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7"/>
          <p:cNvSpPr txBox="1"/>
          <p:nvPr>
            <p:ph idx="11" type="ftr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7"/>
          <p:cNvSpPr txBox="1"/>
          <p:nvPr>
            <p:ph idx="12" type="sldNum"/>
          </p:nvPr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8"/>
          <p:cNvSpPr txBox="1"/>
          <p:nvPr>
            <p:ph type="title"/>
          </p:nvPr>
        </p:nvSpPr>
        <p:spPr>
          <a:xfrm>
            <a:off x="630238" y="365125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8"/>
          <p:cNvSpPr txBox="1"/>
          <p:nvPr>
            <p:ph idx="1" type="body"/>
          </p:nvPr>
        </p:nvSpPr>
        <p:spPr>
          <a:xfrm>
            <a:off x="630238" y="1681163"/>
            <a:ext cx="38688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6" name="Google Shape;76;p8"/>
          <p:cNvSpPr txBox="1"/>
          <p:nvPr>
            <p:ph idx="2" type="body"/>
          </p:nvPr>
        </p:nvSpPr>
        <p:spPr>
          <a:xfrm>
            <a:off x="630238" y="2505075"/>
            <a:ext cx="38688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8"/>
          <p:cNvSpPr txBox="1"/>
          <p:nvPr>
            <p:ph idx="3" type="body"/>
          </p:nvPr>
        </p:nvSpPr>
        <p:spPr>
          <a:xfrm>
            <a:off x="4629150" y="1681163"/>
            <a:ext cx="38877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8" name="Google Shape;78;p8"/>
          <p:cNvSpPr txBox="1"/>
          <p:nvPr>
            <p:ph idx="4" type="body"/>
          </p:nvPr>
        </p:nvSpPr>
        <p:spPr>
          <a:xfrm>
            <a:off x="4629150" y="2505075"/>
            <a:ext cx="38877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8"/>
          <p:cNvSpPr txBox="1"/>
          <p:nvPr>
            <p:ph idx="10" type="dt"/>
          </p:nvPr>
        </p:nvSpPr>
        <p:spPr>
          <a:xfrm>
            <a:off x="1173162" y="626586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8"/>
          <p:cNvSpPr txBox="1"/>
          <p:nvPr>
            <p:ph idx="11" type="ftr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8"/>
          <p:cNvSpPr txBox="1"/>
          <p:nvPr>
            <p:ph idx="12" type="sldNum"/>
          </p:nvPr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9"/>
          <p:cNvSpPr txBox="1"/>
          <p:nvPr>
            <p:ph type="title"/>
          </p:nvPr>
        </p:nvSpPr>
        <p:spPr>
          <a:xfrm>
            <a:off x="1173162" y="4572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9"/>
          <p:cNvSpPr txBox="1"/>
          <p:nvPr>
            <p:ph idx="1" type="body"/>
          </p:nvPr>
        </p:nvSpPr>
        <p:spPr>
          <a:xfrm>
            <a:off x="1173163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9"/>
          <p:cNvSpPr txBox="1"/>
          <p:nvPr>
            <p:ph idx="2" type="body"/>
          </p:nvPr>
        </p:nvSpPr>
        <p:spPr>
          <a:xfrm>
            <a:off x="5135563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9"/>
          <p:cNvSpPr txBox="1"/>
          <p:nvPr>
            <p:ph idx="10" type="dt"/>
          </p:nvPr>
        </p:nvSpPr>
        <p:spPr>
          <a:xfrm>
            <a:off x="1173162" y="626586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9"/>
          <p:cNvSpPr txBox="1"/>
          <p:nvPr>
            <p:ph idx="11" type="ftr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9"/>
          <p:cNvSpPr txBox="1"/>
          <p:nvPr>
            <p:ph idx="12" type="sldNum"/>
          </p:nvPr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/>
          <p:nvPr>
            <p:ph type="title"/>
          </p:nvPr>
        </p:nvSpPr>
        <p:spPr>
          <a:xfrm>
            <a:off x="623888" y="1709738"/>
            <a:ext cx="78867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idx="1" type="body"/>
          </p:nvPr>
        </p:nvSpPr>
        <p:spPr>
          <a:xfrm>
            <a:off x="623888" y="4589463"/>
            <a:ext cx="78867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None/>
              <a:defRPr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92" name="Google Shape;92;p10"/>
          <p:cNvSpPr txBox="1"/>
          <p:nvPr>
            <p:ph idx="10" type="dt"/>
          </p:nvPr>
        </p:nvSpPr>
        <p:spPr>
          <a:xfrm>
            <a:off x="1173162" y="626586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0"/>
          <p:cNvSpPr txBox="1"/>
          <p:nvPr>
            <p:ph idx="11" type="ftr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0"/>
          <p:cNvSpPr txBox="1"/>
          <p:nvPr>
            <p:ph idx="12" type="sldNum"/>
          </p:nvPr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1"/>
          <p:cNvSpPr txBox="1"/>
          <p:nvPr>
            <p:ph type="title"/>
          </p:nvPr>
        </p:nvSpPr>
        <p:spPr>
          <a:xfrm>
            <a:off x="1173162" y="4572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1"/>
          <p:cNvSpPr txBox="1"/>
          <p:nvPr>
            <p:ph idx="1" type="body"/>
          </p:nvPr>
        </p:nvSpPr>
        <p:spPr>
          <a:xfrm>
            <a:off x="1173162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10" type="dt"/>
          </p:nvPr>
        </p:nvSpPr>
        <p:spPr>
          <a:xfrm>
            <a:off x="1173162" y="626586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11" type="ftr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12" type="sldNum"/>
          </p:nvPr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/>
          <p:cNvGrpSpPr/>
          <p:nvPr/>
        </p:nvGrpSpPr>
        <p:grpSpPr>
          <a:xfrm>
            <a:off x="0" y="-5356"/>
            <a:ext cx="1063625" cy="6860975"/>
            <a:chOff x="0" y="-3"/>
            <a:chExt cx="670" cy="4322"/>
          </a:xfrm>
        </p:grpSpPr>
        <p:grpSp>
          <p:nvGrpSpPr>
            <p:cNvPr id="11" name="Google Shape;11;p1"/>
            <p:cNvGrpSpPr/>
            <p:nvPr/>
          </p:nvGrpSpPr>
          <p:grpSpPr>
            <a:xfrm flipH="1" rot="-5400000">
              <a:off x="-1815" y="1838"/>
              <a:ext cx="4320" cy="638"/>
              <a:chOff x="-3" y="1562"/>
              <a:chExt cx="5763" cy="638"/>
            </a:xfrm>
          </p:grpSpPr>
          <p:sp>
            <p:nvSpPr>
              <p:cNvPr id="12" name="Google Shape;12;p1"/>
              <p:cNvSpPr/>
              <p:nvPr/>
            </p:nvSpPr>
            <p:spPr>
              <a:xfrm rot="-5400000">
                <a:off x="2558" y="-993"/>
                <a:ext cx="625" cy="5746"/>
              </a:xfrm>
              <a:custGeom>
                <a:rect b="b" l="l" r="r" t="t"/>
                <a:pathLst>
                  <a:path extrusionOk="0" h="720" w="1000">
                    <a:moveTo>
                      <a:pt x="0" y="0"/>
                    </a:moveTo>
                    <a:lnTo>
                      <a:pt x="0" y="720"/>
                    </a:lnTo>
                    <a:lnTo>
                      <a:pt x="1000" y="720"/>
                    </a:lnTo>
                    <a:lnTo>
                      <a:pt x="10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1" i="0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" name="Google Shape;13;p1"/>
              <p:cNvSpPr/>
              <p:nvPr/>
            </p:nvSpPr>
            <p:spPr>
              <a:xfrm rot="-5400000">
                <a:off x="1322" y="1669"/>
                <a:ext cx="624" cy="421"/>
              </a:xfrm>
              <a:custGeom>
                <a:rect b="b" l="l" r="r" t="t"/>
                <a:pathLst>
                  <a:path extrusionOk="0" h="317" w="624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1" i="0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" name="Google Shape;14;p1"/>
              <p:cNvSpPr/>
              <p:nvPr/>
            </p:nvSpPr>
            <p:spPr>
              <a:xfrm rot="-5400000">
                <a:off x="982" y="1669"/>
                <a:ext cx="624" cy="422"/>
              </a:xfrm>
              <a:custGeom>
                <a:rect b="b" l="l" r="r" t="t"/>
                <a:pathLst>
                  <a:path extrusionOk="0" h="317" w="624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folHlink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1" i="0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" name="Google Shape;15;p1"/>
              <p:cNvSpPr/>
              <p:nvPr/>
            </p:nvSpPr>
            <p:spPr>
              <a:xfrm rot="-5400000">
                <a:off x="-57" y="1752"/>
                <a:ext cx="624" cy="255"/>
              </a:xfrm>
              <a:custGeom>
                <a:rect b="b" l="l" r="r" t="t"/>
                <a:pathLst>
                  <a:path extrusionOk="0" h="370" w="624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1" i="0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" name="Google Shape;16;p1"/>
              <p:cNvSpPr/>
              <p:nvPr/>
            </p:nvSpPr>
            <p:spPr>
              <a:xfrm rot="-5400000">
                <a:off x="664" y="1733"/>
                <a:ext cx="624" cy="294"/>
              </a:xfrm>
              <a:custGeom>
                <a:rect b="b" l="l" r="r" t="t"/>
                <a:pathLst>
                  <a:path extrusionOk="0" h="317" w="624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1" i="0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7" name="Google Shape;17;p1"/>
              <p:cNvSpPr/>
              <p:nvPr/>
            </p:nvSpPr>
            <p:spPr>
              <a:xfrm rot="-5400000">
                <a:off x="442" y="1699"/>
                <a:ext cx="624" cy="362"/>
              </a:xfrm>
              <a:custGeom>
                <a:rect b="b" l="l" r="r" t="t"/>
                <a:pathLst>
                  <a:path extrusionOk="0" h="272" w="624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1" i="0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" name="Google Shape;18;p1"/>
              <p:cNvSpPr/>
              <p:nvPr/>
            </p:nvSpPr>
            <p:spPr>
              <a:xfrm rot="-5400000">
                <a:off x="155" y="1726"/>
                <a:ext cx="632" cy="315"/>
              </a:xfrm>
              <a:custGeom>
                <a:rect b="b" l="l" r="r" t="t"/>
                <a:pathLst>
                  <a:path extrusionOk="0" h="362" w="63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1" i="0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" name="Google Shape;19;p1"/>
              <p:cNvSpPr/>
              <p:nvPr/>
            </p:nvSpPr>
            <p:spPr>
              <a:xfrm rot="-5400000">
                <a:off x="3210" y="1664"/>
                <a:ext cx="624" cy="421"/>
              </a:xfrm>
              <a:custGeom>
                <a:rect b="b" l="l" r="r" t="t"/>
                <a:pathLst>
                  <a:path extrusionOk="0" h="317" w="624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1" i="0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" name="Google Shape;20;p1"/>
              <p:cNvSpPr/>
              <p:nvPr/>
            </p:nvSpPr>
            <p:spPr>
              <a:xfrm rot="-5400000">
                <a:off x="2870" y="1664"/>
                <a:ext cx="624" cy="422"/>
              </a:xfrm>
              <a:custGeom>
                <a:rect b="b" l="l" r="r" t="t"/>
                <a:pathLst>
                  <a:path extrusionOk="0" h="317" w="624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1" i="0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" name="Google Shape;21;p1"/>
              <p:cNvSpPr/>
              <p:nvPr/>
            </p:nvSpPr>
            <p:spPr>
              <a:xfrm rot="-5400000">
                <a:off x="1829" y="1747"/>
                <a:ext cx="624" cy="255"/>
              </a:xfrm>
              <a:custGeom>
                <a:rect b="b" l="l" r="r" t="t"/>
                <a:pathLst>
                  <a:path extrusionOk="0" h="370" w="624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1" i="0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2" name="Google Shape;22;p1"/>
              <p:cNvSpPr/>
              <p:nvPr/>
            </p:nvSpPr>
            <p:spPr>
              <a:xfrm rot="-5400000">
                <a:off x="2551" y="1728"/>
                <a:ext cx="624" cy="294"/>
              </a:xfrm>
              <a:custGeom>
                <a:rect b="b" l="l" r="r" t="t"/>
                <a:pathLst>
                  <a:path extrusionOk="0" h="317" w="624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folHlink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1" i="0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3" name="Google Shape;23;p1"/>
              <p:cNvSpPr/>
              <p:nvPr/>
            </p:nvSpPr>
            <p:spPr>
              <a:xfrm rot="-5400000">
                <a:off x="2329" y="1694"/>
                <a:ext cx="624" cy="361"/>
              </a:xfrm>
              <a:custGeom>
                <a:rect b="b" l="l" r="r" t="t"/>
                <a:pathLst>
                  <a:path extrusionOk="0" h="272" w="624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1" i="0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4" name="Google Shape;24;p1"/>
              <p:cNvSpPr/>
              <p:nvPr/>
            </p:nvSpPr>
            <p:spPr>
              <a:xfrm rot="-5400000">
                <a:off x="2043" y="1721"/>
                <a:ext cx="632" cy="316"/>
              </a:xfrm>
              <a:custGeom>
                <a:rect b="b" l="l" r="r" t="t"/>
                <a:pathLst>
                  <a:path extrusionOk="0" h="362" w="63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1" i="0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5" name="Google Shape;25;p1"/>
              <p:cNvSpPr/>
              <p:nvPr/>
            </p:nvSpPr>
            <p:spPr>
              <a:xfrm rot="-5400000">
                <a:off x="4076" y="1669"/>
                <a:ext cx="624" cy="421"/>
              </a:xfrm>
              <a:custGeom>
                <a:rect b="b" l="l" r="r" t="t"/>
                <a:pathLst>
                  <a:path extrusionOk="0" h="317" w="624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1" i="0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" name="Google Shape;26;p1"/>
              <p:cNvSpPr/>
              <p:nvPr/>
            </p:nvSpPr>
            <p:spPr>
              <a:xfrm rot="-5400000">
                <a:off x="3736" y="1669"/>
                <a:ext cx="624" cy="422"/>
              </a:xfrm>
              <a:custGeom>
                <a:rect b="b" l="l" r="r" t="t"/>
                <a:pathLst>
                  <a:path extrusionOk="0" h="317" w="624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1" i="0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" name="Google Shape;27;p1"/>
              <p:cNvSpPr/>
              <p:nvPr/>
            </p:nvSpPr>
            <p:spPr>
              <a:xfrm rot="-5400000">
                <a:off x="4583" y="1747"/>
                <a:ext cx="624" cy="255"/>
              </a:xfrm>
              <a:custGeom>
                <a:rect b="b" l="l" r="r" t="t"/>
                <a:pathLst>
                  <a:path extrusionOk="0" h="370" w="624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folHlink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1" i="0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" name="Google Shape;28;p1"/>
              <p:cNvSpPr/>
              <p:nvPr/>
            </p:nvSpPr>
            <p:spPr>
              <a:xfrm>
                <a:off x="5469" y="1562"/>
                <a:ext cx="291" cy="625"/>
              </a:xfrm>
              <a:custGeom>
                <a:rect b="b" l="l" r="r" t="t"/>
                <a:pathLst>
                  <a:path extrusionOk="0" h="625" w="291">
                    <a:moveTo>
                      <a:pt x="0" y="624"/>
                    </a:moveTo>
                    <a:lnTo>
                      <a:pt x="291" y="625"/>
                    </a:lnTo>
                    <a:lnTo>
                      <a:pt x="291" y="6"/>
                    </a:lnTo>
                    <a:lnTo>
                      <a:pt x="0" y="0"/>
                    </a:lnTo>
                    <a:cubicBezTo>
                      <a:pt x="39" y="384"/>
                      <a:pt x="0" y="494"/>
                      <a:pt x="0" y="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1" i="0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" name="Google Shape;29;p1"/>
              <p:cNvSpPr/>
              <p:nvPr/>
            </p:nvSpPr>
            <p:spPr>
              <a:xfrm rot="-5400000">
                <a:off x="5083" y="1694"/>
                <a:ext cx="624" cy="361"/>
              </a:xfrm>
              <a:custGeom>
                <a:rect b="b" l="l" r="r" t="t"/>
                <a:pathLst>
                  <a:path extrusionOk="0" h="272" w="624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1" i="0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" name="Google Shape;30;p1"/>
              <p:cNvSpPr/>
              <p:nvPr/>
            </p:nvSpPr>
            <p:spPr>
              <a:xfrm rot="-5400000">
                <a:off x="4797" y="1721"/>
                <a:ext cx="632" cy="316"/>
              </a:xfrm>
              <a:custGeom>
                <a:rect b="b" l="l" r="r" t="t"/>
                <a:pathLst>
                  <a:path extrusionOk="0" h="362" w="63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1" i="0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31" name="Google Shape;31;p1"/>
            <p:cNvSpPr/>
            <p:nvPr/>
          </p:nvSpPr>
          <p:spPr>
            <a:xfrm flipH="1" rot="-5400000">
              <a:off x="-1955" y="1952"/>
              <a:ext cx="4322" cy="412"/>
            </a:xfrm>
            <a:custGeom>
              <a:rect b="b" l="l" r="r" t="t"/>
              <a:pathLst>
                <a:path extrusionOk="0" h="385" w="5762">
                  <a:moveTo>
                    <a:pt x="0" y="196"/>
                  </a:moveTo>
                  <a:cubicBezTo>
                    <a:pt x="1667" y="385"/>
                    <a:pt x="2275" y="93"/>
                    <a:pt x="5762" y="188"/>
                  </a:cubicBezTo>
                  <a:lnTo>
                    <a:pt x="5762" y="4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76767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1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" name="Google Shape;32;p1"/>
            <p:cNvSpPr/>
            <p:nvPr/>
          </p:nvSpPr>
          <p:spPr>
            <a:xfrm flipH="1" rot="-5400000">
              <a:off x="-1585" y="2063"/>
              <a:ext cx="4321" cy="189"/>
            </a:xfrm>
            <a:custGeom>
              <a:rect b="b" l="l" r="r" t="t"/>
              <a:pathLst>
                <a:path extrusionOk="0" h="189" w="5761">
                  <a:moveTo>
                    <a:pt x="0" y="28"/>
                  </a:moveTo>
                  <a:cubicBezTo>
                    <a:pt x="961" y="0"/>
                    <a:pt x="4971" y="161"/>
                    <a:pt x="5761" y="0"/>
                  </a:cubicBezTo>
                  <a:lnTo>
                    <a:pt x="5761" y="189"/>
                  </a:lnTo>
                  <a:lnTo>
                    <a:pt x="1" y="189"/>
                  </a:lnTo>
                  <a:lnTo>
                    <a:pt x="0" y="28"/>
                  </a:lnTo>
                  <a:close/>
                </a:path>
              </a:pathLst>
            </a:custGeom>
            <a:gradFill>
              <a:gsLst>
                <a:gs pos="0">
                  <a:srgbClr val="767676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1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3" name="Google Shape;33;p1"/>
          <p:cNvSpPr txBox="1"/>
          <p:nvPr>
            <p:ph type="title"/>
          </p:nvPr>
        </p:nvSpPr>
        <p:spPr>
          <a:xfrm>
            <a:off x="1173162" y="4572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4" name="Google Shape;34;p1"/>
          <p:cNvSpPr txBox="1"/>
          <p:nvPr>
            <p:ph idx="1" type="body"/>
          </p:nvPr>
        </p:nvSpPr>
        <p:spPr>
          <a:xfrm>
            <a:off x="1173162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084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●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5" name="Google Shape;35;p1"/>
          <p:cNvSpPr txBox="1"/>
          <p:nvPr>
            <p:ph idx="10" type="dt"/>
          </p:nvPr>
        </p:nvSpPr>
        <p:spPr>
          <a:xfrm>
            <a:off x="1173162" y="626586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6" name="Google Shape;36;p1"/>
          <p:cNvSpPr txBox="1"/>
          <p:nvPr>
            <p:ph idx="11" type="ftr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7" name="Google Shape;37;p1"/>
          <p:cNvSpPr txBox="1"/>
          <p:nvPr>
            <p:ph idx="12" type="sldNum"/>
          </p:nvPr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2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2"/>
          <p:cNvSpPr txBox="1"/>
          <p:nvPr/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2"/>
          <p:cNvSpPr txBox="1"/>
          <p:nvPr/>
        </p:nvSpPr>
        <p:spPr>
          <a:xfrm>
            <a:off x="1279525" y="2352675"/>
            <a:ext cx="21891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0" lang="en-US" sz="28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2"/>
          <p:cNvSpPr txBox="1"/>
          <p:nvPr/>
        </p:nvSpPr>
        <p:spPr>
          <a:xfrm>
            <a:off x="1050925" y="3473450"/>
            <a:ext cx="53403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STACKS AND QUEUES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2"/>
          <p:cNvSpPr txBox="1"/>
          <p:nvPr/>
        </p:nvSpPr>
        <p:spPr>
          <a:xfrm>
            <a:off x="1317625" y="4637087"/>
            <a:ext cx="6819900" cy="13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the programs in this file are selected from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Ellis Horowitz, Sartaj Sahni, and Susan Anderson-Freed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“Fundamentals of Data Structures in C”,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Computer Science Press, 1992.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3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3"/>
          <p:cNvSpPr txBox="1"/>
          <p:nvPr/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3"/>
          <p:cNvSpPr txBox="1"/>
          <p:nvPr/>
        </p:nvSpPr>
        <p:spPr>
          <a:xfrm>
            <a:off x="1127125" y="2555875"/>
            <a:ext cx="946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3"/>
          <p:cNvSpPr txBox="1"/>
          <p:nvPr>
            <p:ph type="title"/>
          </p:nvPr>
        </p:nvSpPr>
        <p:spPr>
          <a:xfrm>
            <a:off x="1173162" y="457200"/>
            <a:ext cx="79707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/>
          </a:p>
        </p:txBody>
      </p:sp>
      <p:sp>
        <p:nvSpPr>
          <p:cNvPr id="118" name="Google Shape;118;p13"/>
          <p:cNvSpPr txBox="1"/>
          <p:nvPr/>
        </p:nvSpPr>
        <p:spPr>
          <a:xfrm>
            <a:off x="1447800" y="1447800"/>
            <a:ext cx="457200" cy="1905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13"/>
          <p:cNvSpPr txBox="1"/>
          <p:nvPr/>
        </p:nvSpPr>
        <p:spPr>
          <a:xfrm>
            <a:off x="2819400" y="1447800"/>
            <a:ext cx="457200" cy="1905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3"/>
          <p:cNvSpPr txBox="1"/>
          <p:nvPr/>
        </p:nvSpPr>
        <p:spPr>
          <a:xfrm>
            <a:off x="5334000" y="1447800"/>
            <a:ext cx="457200" cy="1905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3"/>
          <p:cNvSpPr txBox="1"/>
          <p:nvPr/>
        </p:nvSpPr>
        <p:spPr>
          <a:xfrm>
            <a:off x="4114800" y="1447800"/>
            <a:ext cx="533400" cy="1905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3"/>
          <p:cNvSpPr txBox="1"/>
          <p:nvPr/>
        </p:nvSpPr>
        <p:spPr>
          <a:xfrm>
            <a:off x="7848600" y="1447800"/>
            <a:ext cx="457200" cy="1905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3"/>
          <p:cNvSpPr txBox="1"/>
          <p:nvPr/>
        </p:nvSpPr>
        <p:spPr>
          <a:xfrm>
            <a:off x="6629400" y="1447800"/>
            <a:ext cx="457200" cy="1905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4" name="Google Shape;124;p13"/>
          <p:cNvCxnSpPr/>
          <p:nvPr/>
        </p:nvCxnSpPr>
        <p:spPr>
          <a:xfrm rot="10800000">
            <a:off x="1981200" y="3124200"/>
            <a:ext cx="228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5" name="Google Shape;125;p13"/>
          <p:cNvSpPr txBox="1"/>
          <p:nvPr/>
        </p:nvSpPr>
        <p:spPr>
          <a:xfrm>
            <a:off x="2209800" y="2895600"/>
            <a:ext cx="57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6" name="Google Shape;126;p13"/>
          <p:cNvCxnSpPr/>
          <p:nvPr/>
        </p:nvCxnSpPr>
        <p:spPr>
          <a:xfrm>
            <a:off x="3886200" y="17653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7" name="Google Shape;127;p13"/>
          <p:cNvCxnSpPr/>
          <p:nvPr/>
        </p:nvCxnSpPr>
        <p:spPr>
          <a:xfrm>
            <a:off x="2819400" y="14478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8" name="Google Shape;128;p13"/>
          <p:cNvCxnSpPr/>
          <p:nvPr/>
        </p:nvCxnSpPr>
        <p:spPr>
          <a:xfrm>
            <a:off x="4114800" y="14478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9" name="Google Shape;129;p13"/>
          <p:cNvCxnSpPr/>
          <p:nvPr/>
        </p:nvCxnSpPr>
        <p:spPr>
          <a:xfrm>
            <a:off x="5334000" y="14478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0" name="Google Shape;130;p13"/>
          <p:cNvCxnSpPr/>
          <p:nvPr/>
        </p:nvCxnSpPr>
        <p:spPr>
          <a:xfrm>
            <a:off x="6629400" y="14478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1" name="Google Shape;131;p13"/>
          <p:cNvCxnSpPr/>
          <p:nvPr/>
        </p:nvCxnSpPr>
        <p:spPr>
          <a:xfrm>
            <a:off x="7848600" y="14478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2" name="Google Shape;132;p13"/>
          <p:cNvCxnSpPr/>
          <p:nvPr/>
        </p:nvCxnSpPr>
        <p:spPr>
          <a:xfrm rot="10800000">
            <a:off x="3276600" y="2819400"/>
            <a:ext cx="228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3" name="Google Shape;133;p13"/>
          <p:cNvCxnSpPr/>
          <p:nvPr/>
        </p:nvCxnSpPr>
        <p:spPr>
          <a:xfrm rot="10800000">
            <a:off x="4648200" y="2362200"/>
            <a:ext cx="228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4" name="Google Shape;134;p13"/>
          <p:cNvCxnSpPr/>
          <p:nvPr/>
        </p:nvCxnSpPr>
        <p:spPr>
          <a:xfrm rot="10800000">
            <a:off x="5791200" y="1981200"/>
            <a:ext cx="228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5" name="Google Shape;135;p13"/>
          <p:cNvCxnSpPr/>
          <p:nvPr/>
        </p:nvCxnSpPr>
        <p:spPr>
          <a:xfrm rot="10800000">
            <a:off x="7086600" y="1600200"/>
            <a:ext cx="228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6" name="Google Shape;136;p13"/>
          <p:cNvCxnSpPr/>
          <p:nvPr/>
        </p:nvCxnSpPr>
        <p:spPr>
          <a:xfrm rot="10800000">
            <a:off x="8305800" y="1981200"/>
            <a:ext cx="228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7" name="Google Shape;137;p13"/>
          <p:cNvSpPr txBox="1"/>
          <p:nvPr/>
        </p:nvSpPr>
        <p:spPr>
          <a:xfrm>
            <a:off x="3489325" y="2555875"/>
            <a:ext cx="57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3"/>
          <p:cNvSpPr txBox="1"/>
          <p:nvPr/>
        </p:nvSpPr>
        <p:spPr>
          <a:xfrm>
            <a:off x="4784725" y="2174875"/>
            <a:ext cx="57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3"/>
          <p:cNvSpPr txBox="1"/>
          <p:nvPr/>
        </p:nvSpPr>
        <p:spPr>
          <a:xfrm>
            <a:off x="5927725" y="1717675"/>
            <a:ext cx="57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3"/>
          <p:cNvSpPr txBox="1"/>
          <p:nvPr/>
        </p:nvSpPr>
        <p:spPr>
          <a:xfrm>
            <a:off x="7299325" y="1412875"/>
            <a:ext cx="57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3"/>
          <p:cNvSpPr txBox="1"/>
          <p:nvPr/>
        </p:nvSpPr>
        <p:spPr>
          <a:xfrm>
            <a:off x="8518525" y="1717675"/>
            <a:ext cx="57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3"/>
          <p:cNvSpPr txBox="1"/>
          <p:nvPr/>
        </p:nvSpPr>
        <p:spPr>
          <a:xfrm>
            <a:off x="1211262" y="3676650"/>
            <a:ext cx="5578500" cy="4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Inserting and deleting elements in a stack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3"/>
          <p:cNvSpPr txBox="1"/>
          <p:nvPr/>
        </p:nvSpPr>
        <p:spPr>
          <a:xfrm>
            <a:off x="1350962" y="474662"/>
            <a:ext cx="56421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Stack: a Last-In-First-Out (LIFO) list</a:t>
            </a:r>
            <a:r>
              <a:rPr b="1" i="0" lang="en-US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4"/>
          <p:cNvSpPr txBox="1"/>
          <p:nvPr/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" name="Google Shape;15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6250" y="3265487"/>
            <a:ext cx="6213476" cy="405923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1" name="Google Shape;151;p14"/>
          <p:cNvCxnSpPr/>
          <p:nvPr/>
        </p:nvCxnSpPr>
        <p:spPr>
          <a:xfrm rot="10800000">
            <a:off x="1371600" y="41148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2" name="Google Shape;152;p14"/>
          <p:cNvCxnSpPr/>
          <p:nvPr/>
        </p:nvCxnSpPr>
        <p:spPr>
          <a:xfrm>
            <a:off x="1371600" y="4114800"/>
            <a:ext cx="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3" name="Google Shape;153;p14"/>
          <p:cNvCxnSpPr/>
          <p:nvPr/>
        </p:nvCxnSpPr>
        <p:spPr>
          <a:xfrm rot="10800000">
            <a:off x="4267200" y="4038600"/>
            <a:ext cx="228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4" name="Google Shape;154;p14"/>
          <p:cNvCxnSpPr/>
          <p:nvPr/>
        </p:nvCxnSpPr>
        <p:spPr>
          <a:xfrm rot="10800000">
            <a:off x="5446712" y="4114800"/>
            <a:ext cx="381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5" name="Google Shape;155;p14"/>
          <p:cNvCxnSpPr/>
          <p:nvPr/>
        </p:nvCxnSpPr>
        <p:spPr>
          <a:xfrm>
            <a:off x="5448300" y="4114800"/>
            <a:ext cx="0" cy="91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6" name="Google Shape;156;p14"/>
          <p:cNvCxnSpPr/>
          <p:nvPr/>
        </p:nvCxnSpPr>
        <p:spPr>
          <a:xfrm rot="10800000">
            <a:off x="5600700" y="2184400"/>
            <a:ext cx="228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7" name="Google Shape;157;p14"/>
          <p:cNvCxnSpPr/>
          <p:nvPr/>
        </p:nvCxnSpPr>
        <p:spPr>
          <a:xfrm>
            <a:off x="5622925" y="2181225"/>
            <a:ext cx="0" cy="193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58" name="Google Shape;158;p14"/>
          <p:cNvSpPr txBox="1"/>
          <p:nvPr/>
        </p:nvSpPr>
        <p:spPr>
          <a:xfrm>
            <a:off x="4495800" y="3771900"/>
            <a:ext cx="792300" cy="11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4"/>
          <p:cNvSpPr txBox="1"/>
          <p:nvPr/>
        </p:nvSpPr>
        <p:spPr>
          <a:xfrm>
            <a:off x="8637587" y="1906587"/>
            <a:ext cx="438300" cy="11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4"/>
          <p:cNvSpPr txBox="1"/>
          <p:nvPr/>
        </p:nvSpPr>
        <p:spPr>
          <a:xfrm>
            <a:off x="1406525" y="5462587"/>
            <a:ext cx="7239000" cy="8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(a)                                                (b)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stack after function call </a:t>
            </a:r>
            <a:r>
              <a:rPr b="0" i="0" lang="en-US" sz="2400" u="sng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" name="Google Shape;16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37225" y="1268412"/>
            <a:ext cx="2741612" cy="406558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2" name="Google Shape;162;p14"/>
          <p:cNvCxnSpPr/>
          <p:nvPr/>
        </p:nvCxnSpPr>
        <p:spPr>
          <a:xfrm rot="10800000">
            <a:off x="8391437" y="2154237"/>
            <a:ext cx="227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63" name="Google Shape;163;p14"/>
          <p:cNvSpPr txBox="1"/>
          <p:nvPr/>
        </p:nvSpPr>
        <p:spPr>
          <a:xfrm>
            <a:off x="1206500" y="476250"/>
            <a:ext cx="77421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application of Stack: stack frame of function call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4"/>
          <p:cNvSpPr txBox="1"/>
          <p:nvPr/>
        </p:nvSpPr>
        <p:spPr>
          <a:xfrm>
            <a:off x="4235450" y="815975"/>
            <a:ext cx="2439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(activation record)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4"/>
          <p:cNvSpPr txBox="1"/>
          <p:nvPr/>
        </p:nvSpPr>
        <p:spPr>
          <a:xfrm>
            <a:off x="1746250" y="4087812"/>
            <a:ext cx="25653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 frame of invoking function</a:t>
            </a:r>
            <a:r>
              <a:rPr b="0" i="0" lang="en-US" sz="16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6" name="Google Shape;166;p14"/>
          <p:cNvCxnSpPr/>
          <p:nvPr/>
        </p:nvCxnSpPr>
        <p:spPr>
          <a:xfrm>
            <a:off x="5854700" y="3111500"/>
            <a:ext cx="24891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7" name="Google Shape;167;p14"/>
          <p:cNvSpPr txBox="1"/>
          <p:nvPr/>
        </p:nvSpPr>
        <p:spPr>
          <a:xfrm>
            <a:off x="1293812" y="5094287"/>
            <a:ext cx="35988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stack </a:t>
            </a:r>
            <a:r>
              <a:rPr b="0" i="0" lang="en-US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before</a:t>
            </a:r>
            <a:r>
              <a:rPr b="0" i="0" lang="en-US" sz="20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a1 is invoked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4"/>
          <p:cNvSpPr txBox="1"/>
          <p:nvPr/>
        </p:nvSpPr>
        <p:spPr>
          <a:xfrm>
            <a:off x="5411787" y="5068887"/>
            <a:ext cx="34146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stack </a:t>
            </a:r>
            <a:r>
              <a:rPr b="0" i="0" lang="en-US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</a:t>
            </a:r>
            <a:r>
              <a:rPr b="0" i="0" lang="en-US" sz="20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a1 is invoked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4"/>
          <p:cNvSpPr txBox="1"/>
          <p:nvPr/>
        </p:nvSpPr>
        <p:spPr>
          <a:xfrm>
            <a:off x="1317625" y="1982787"/>
            <a:ext cx="37020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fp: a pointer to current stack frame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5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5"/>
          <p:cNvSpPr txBox="1"/>
          <p:nvPr/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5"/>
          <p:cNvSpPr txBox="1"/>
          <p:nvPr>
            <p:ph type="title"/>
          </p:nvPr>
        </p:nvSpPr>
        <p:spPr>
          <a:xfrm>
            <a:off x="979487" y="474662"/>
            <a:ext cx="7935900" cy="356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None/>
            </a:pPr>
            <a:r>
              <a:rPr b="1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structure</a:t>
            </a: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 </a:t>
            </a: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</a:t>
            </a:r>
            <a:br>
              <a:rPr b="1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objects:</a:t>
            </a: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finite ordered list with zero or more elements.</a:t>
            </a:r>
            <a:b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1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functions:</a:t>
            </a:r>
            <a:b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for all </a:t>
            </a:r>
            <a:r>
              <a:rPr b="0" i="1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</a:t>
            </a: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∈ </a:t>
            </a:r>
            <a:r>
              <a:rPr b="0" i="1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</a:t>
            </a: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b="0" i="1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item</a:t>
            </a: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∈ </a:t>
            </a:r>
            <a:r>
              <a:rPr b="0" i="1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element</a:t>
            </a: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0" i="1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max_stack_size</a:t>
            </a: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∈ positive integer</a:t>
            </a:r>
            <a:b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b="0" i="1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 </a:t>
            </a: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CreateS(</a:t>
            </a:r>
            <a:r>
              <a:rPr b="0" i="1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max_stack_size</a:t>
            </a: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::=</a:t>
            </a:r>
            <a:b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create an empty stack whose maximum size is  </a:t>
            </a:r>
            <a:r>
              <a:rPr b="0" i="1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max_stack_size</a:t>
            </a:r>
            <a:br>
              <a:rPr b="0" i="1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0" i="1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Boolean</a:t>
            </a: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IsFull(</a:t>
            </a:r>
            <a:r>
              <a:rPr b="0" i="1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stack, max_stack_size</a:t>
            </a: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::=</a:t>
            </a:r>
            <a:b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</a:t>
            </a:r>
            <a:r>
              <a:rPr b="1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if</a:t>
            </a: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(number of elements in </a:t>
            </a:r>
            <a:r>
              <a:rPr b="0" i="1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 == max_stack_size</a:t>
            </a: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br>
              <a:rPr b="1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return</a:t>
            </a: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TRUE</a:t>
            </a:r>
            <a:b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</a:t>
            </a:r>
            <a:r>
              <a:rPr b="1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else return</a:t>
            </a: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FALSE</a:t>
            </a:r>
            <a:b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b="0" i="1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 </a:t>
            </a: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Add(</a:t>
            </a:r>
            <a:r>
              <a:rPr b="0" i="1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stack, item</a:t>
            </a: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::=</a:t>
            </a:r>
            <a:b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</a:t>
            </a:r>
            <a:r>
              <a:rPr b="1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</a:t>
            </a: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(IsFull(</a:t>
            </a:r>
            <a:r>
              <a:rPr b="0" i="1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</a:t>
            </a: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)) </a:t>
            </a:r>
            <a:r>
              <a:rPr b="0" i="1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stack_full</a:t>
            </a:r>
            <a:b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</a:t>
            </a:r>
            <a:r>
              <a:rPr b="1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else</a:t>
            </a: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insert </a:t>
            </a:r>
            <a:r>
              <a:rPr b="0" i="1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item</a:t>
            </a: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into top of </a:t>
            </a:r>
            <a:r>
              <a:rPr b="0" i="1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</a:t>
            </a: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return</a:t>
            </a: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endParaRPr/>
          </a:p>
        </p:txBody>
      </p:sp>
      <p:sp>
        <p:nvSpPr>
          <p:cNvPr id="177" name="Google Shape;177;p15"/>
          <p:cNvSpPr txBox="1"/>
          <p:nvPr/>
        </p:nvSpPr>
        <p:spPr>
          <a:xfrm>
            <a:off x="2635250" y="-44450"/>
            <a:ext cx="41292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 data type for stack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5"/>
          <p:cNvSpPr txBox="1"/>
          <p:nvPr/>
        </p:nvSpPr>
        <p:spPr>
          <a:xfrm>
            <a:off x="1165225" y="4038600"/>
            <a:ext cx="67818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Boolean IsEmpty(stack) ::=</a:t>
            </a:r>
            <a:br>
              <a:rPr b="0" i="0" lang="en-US" sz="1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if(stack == CreateS(max_stack_size))</a:t>
            </a:r>
            <a:br>
              <a:rPr b="0" i="0" lang="en-US" sz="1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return TRUE</a:t>
            </a:r>
            <a:br>
              <a:rPr b="0" i="0" lang="en-US" sz="1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else return FALSE</a:t>
            </a:r>
            <a:br>
              <a:rPr b="0" i="0" lang="en-US" sz="1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Element Delete(stack) ::=</a:t>
            </a:r>
            <a:br>
              <a:rPr b="0" i="0" lang="en-US" sz="1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if(IsEmpty(stack)) return</a:t>
            </a:r>
            <a:br>
              <a:rPr b="0" i="0" lang="en-US" sz="1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else remove and return the item on the top of the stack.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6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6"/>
          <p:cNvSpPr txBox="1"/>
          <p:nvPr/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5" name="Google Shape;18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0" y="858837"/>
            <a:ext cx="1068387" cy="1027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60575" y="5029200"/>
            <a:ext cx="37465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6"/>
          <p:cNvSpPr txBox="1"/>
          <p:nvPr>
            <p:ph type="title"/>
          </p:nvPr>
        </p:nvSpPr>
        <p:spPr>
          <a:xfrm>
            <a:off x="1173162" y="717550"/>
            <a:ext cx="79707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None/>
            </a:pPr>
            <a:r>
              <a:rPr b="1" i="1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</a:t>
            </a:r>
            <a:r>
              <a:rPr b="1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CreateS(max_stack_size)</a:t>
            </a:r>
            <a: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::=</a:t>
            </a:r>
            <a:b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#define MAX_STACK_SIZE 100 /* maximum stack size */</a:t>
            </a:r>
            <a:b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typedef struct {</a:t>
            </a:r>
            <a:b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int key;</a:t>
            </a:r>
            <a:b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/* other fields */</a:t>
            </a:r>
            <a:b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} element;</a:t>
            </a:r>
            <a:b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element stack[MAX_STACK_SIZE];</a:t>
            </a:r>
            <a:b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int top = -1;</a:t>
            </a:r>
            <a:b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b="1" i="1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Boolean</a:t>
            </a:r>
            <a: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IsEmpty(Stack)</a:t>
            </a:r>
            <a: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::= top&lt; 0;</a:t>
            </a:r>
            <a:b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b="1" i="1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Boolean</a:t>
            </a:r>
            <a: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IsFull(Stack)</a:t>
            </a:r>
            <a: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::= top &gt;= MAX_STACK_SIZE-1;</a:t>
            </a:r>
            <a:b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</a:t>
            </a:r>
            <a:endParaRPr/>
          </a:p>
        </p:txBody>
      </p:sp>
      <p:sp>
        <p:nvSpPr>
          <p:cNvPr id="188" name="Google Shape;188;p16"/>
          <p:cNvSpPr txBox="1"/>
          <p:nvPr/>
        </p:nvSpPr>
        <p:spPr>
          <a:xfrm>
            <a:off x="1249362" y="173037"/>
            <a:ext cx="44133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Implementation: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array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6"/>
          <p:cNvSpPr txBox="1"/>
          <p:nvPr/>
        </p:nvSpPr>
        <p:spPr>
          <a:xfrm>
            <a:off x="1154112" y="150812"/>
            <a:ext cx="4624500" cy="597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7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7"/>
          <p:cNvSpPr txBox="1"/>
          <p:nvPr/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7"/>
          <p:cNvSpPr txBox="1"/>
          <p:nvPr>
            <p:ph type="title"/>
          </p:nvPr>
        </p:nvSpPr>
        <p:spPr>
          <a:xfrm>
            <a:off x="1173162" y="457200"/>
            <a:ext cx="75897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add(int *top, element item)</a:t>
            </a:r>
            <a:b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b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/* add an item to the global stack */</a:t>
            </a:r>
            <a:b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if (*top &gt;= MAX_STACK_SIZE-1)  {</a:t>
            </a:r>
            <a:b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stack_full( );</a:t>
            </a:r>
            <a:b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return;</a:t>
            </a:r>
            <a:b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}</a:t>
            </a:r>
            <a:b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stack[++*top] = item;</a:t>
            </a:r>
            <a:b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b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18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*program 3.1: </a:t>
            </a:r>
            <a:r>
              <a:rPr b="0" i="0" lang="en-US" sz="18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to a stack (p.104)</a:t>
            </a:r>
            <a: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endParaRPr/>
          </a:p>
        </p:txBody>
      </p:sp>
      <p:sp>
        <p:nvSpPr>
          <p:cNvPr id="197" name="Google Shape;197;p17"/>
          <p:cNvSpPr txBox="1"/>
          <p:nvPr/>
        </p:nvSpPr>
        <p:spPr>
          <a:xfrm>
            <a:off x="1192212" y="301625"/>
            <a:ext cx="23700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to a stack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8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8"/>
          <p:cNvSpPr txBox="1"/>
          <p:nvPr/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8"/>
          <p:cNvSpPr txBox="1"/>
          <p:nvPr>
            <p:ph type="title"/>
          </p:nvPr>
        </p:nvSpPr>
        <p:spPr>
          <a:xfrm>
            <a:off x="1143000" y="457200"/>
            <a:ext cx="77724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element delete(int *top)</a:t>
            </a:r>
            <a:b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b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/* return the top element from the stack */</a:t>
            </a:r>
            <a:b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if (*top == -1)</a:t>
            </a:r>
            <a:b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return stack_empty( );  /* returns and error key */</a:t>
            </a:r>
            <a:b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return stack[(*top)--];</a:t>
            </a:r>
            <a:b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}</a:t>
            </a:r>
            <a:b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18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8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Delete from a stack </a:t>
            </a:r>
            <a:endParaRPr/>
          </a:p>
        </p:txBody>
      </p:sp>
      <p:sp>
        <p:nvSpPr>
          <p:cNvPr id="205" name="Google Shape;205;p18"/>
          <p:cNvSpPr txBox="1"/>
          <p:nvPr/>
        </p:nvSpPr>
        <p:spPr>
          <a:xfrm>
            <a:off x="1192212" y="793750"/>
            <a:ext cx="31164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Delete from a stack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8"/>
          <p:cNvSpPr txBox="1"/>
          <p:nvPr/>
        </p:nvSpPr>
        <p:spPr>
          <a:xfrm>
            <a:off x="1143000" y="5006975"/>
            <a:ext cx="76296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#define MALLOC(x,size,type)(x=(type*)malloc(size*sizeof(type)))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9"/>
          <p:cNvSpPr txBox="1"/>
          <p:nvPr>
            <p:ph type="title"/>
          </p:nvPr>
        </p:nvSpPr>
        <p:spPr>
          <a:xfrm>
            <a:off x="1173162" y="165100"/>
            <a:ext cx="7772400" cy="6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Stacks using Dynamic Arrays</a:t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3581400" y="6370637"/>
            <a:ext cx="2895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9"/>
          <p:cNvSpPr txBox="1"/>
          <p:nvPr/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9"/>
          <p:cNvSpPr txBox="1"/>
          <p:nvPr/>
        </p:nvSpPr>
        <p:spPr>
          <a:xfrm>
            <a:off x="1173162" y="862012"/>
            <a:ext cx="7023000" cy="55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typedef struct {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int key;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}element;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element *stack;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 capacity=1;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 top = -1;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main()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MALLOC(stack, sizeof(*stack), element)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--------------------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--------------------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1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Note: Alter the code for push function, to test for a full stack  ( replace max_stack_size with capacity 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void stackfull()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stack=realloc(stack, 2*capacity*sizeof(element))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capacity=capacity*2;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1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Note: capacity initially =1, then it goes on increasing in terms of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9"/>
          <p:cNvSpPr txBox="1"/>
          <p:nvPr/>
        </p:nvSpPr>
        <p:spPr>
          <a:xfrm rot="-239842">
            <a:off x="6013449" y="5837264"/>
            <a:ext cx="1235105" cy="3999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1" baseline="30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0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1219200" y="2260600"/>
            <a:ext cx="609600" cy="1447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2895600" y="2260600"/>
            <a:ext cx="609600" cy="1447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4495800" y="2260600"/>
            <a:ext cx="609600" cy="1447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6019800" y="2260600"/>
            <a:ext cx="609600" cy="1447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0"/>
          <p:cNvSpPr txBox="1"/>
          <p:nvPr/>
        </p:nvSpPr>
        <p:spPr>
          <a:xfrm>
            <a:off x="7543800" y="2184400"/>
            <a:ext cx="609600" cy="1447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7" name="Google Shape;227;p20"/>
          <p:cNvCxnSpPr/>
          <p:nvPr/>
        </p:nvCxnSpPr>
        <p:spPr>
          <a:xfrm rot="10800000">
            <a:off x="1816100" y="3479800"/>
            <a:ext cx="304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28" name="Google Shape;228;p20"/>
          <p:cNvCxnSpPr/>
          <p:nvPr/>
        </p:nvCxnSpPr>
        <p:spPr>
          <a:xfrm rot="10800000">
            <a:off x="1790700" y="3657600"/>
            <a:ext cx="304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29" name="Google Shape;229;p20"/>
          <p:cNvCxnSpPr/>
          <p:nvPr/>
        </p:nvCxnSpPr>
        <p:spPr>
          <a:xfrm rot="10800000">
            <a:off x="3505200" y="3162300"/>
            <a:ext cx="304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30" name="Google Shape;230;p20"/>
          <p:cNvCxnSpPr/>
          <p:nvPr/>
        </p:nvCxnSpPr>
        <p:spPr>
          <a:xfrm rot="10800000">
            <a:off x="3505200" y="3543300"/>
            <a:ext cx="304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31" name="Google Shape;231;p20"/>
          <p:cNvCxnSpPr/>
          <p:nvPr/>
        </p:nvCxnSpPr>
        <p:spPr>
          <a:xfrm rot="10800000">
            <a:off x="5105400" y="2794000"/>
            <a:ext cx="304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32" name="Google Shape;232;p20"/>
          <p:cNvCxnSpPr/>
          <p:nvPr/>
        </p:nvCxnSpPr>
        <p:spPr>
          <a:xfrm rot="10800000">
            <a:off x="5105400" y="3556000"/>
            <a:ext cx="304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33" name="Google Shape;233;p20"/>
          <p:cNvCxnSpPr/>
          <p:nvPr/>
        </p:nvCxnSpPr>
        <p:spPr>
          <a:xfrm rot="10800000">
            <a:off x="6629400" y="3543300"/>
            <a:ext cx="304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34" name="Google Shape;234;p20"/>
          <p:cNvCxnSpPr/>
          <p:nvPr/>
        </p:nvCxnSpPr>
        <p:spPr>
          <a:xfrm rot="10800000">
            <a:off x="6629400" y="2400300"/>
            <a:ext cx="304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35" name="Google Shape;235;p20"/>
          <p:cNvCxnSpPr/>
          <p:nvPr/>
        </p:nvCxnSpPr>
        <p:spPr>
          <a:xfrm rot="10800000">
            <a:off x="8153400" y="3479800"/>
            <a:ext cx="304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36" name="Google Shape;236;p20"/>
          <p:cNvCxnSpPr/>
          <p:nvPr/>
        </p:nvCxnSpPr>
        <p:spPr>
          <a:xfrm rot="10800000">
            <a:off x="8153400" y="2717800"/>
            <a:ext cx="304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37" name="Google Shape;237;p20"/>
          <p:cNvSpPr txBox="1"/>
          <p:nvPr/>
        </p:nvSpPr>
        <p:spPr>
          <a:xfrm>
            <a:off x="2044700" y="3124200"/>
            <a:ext cx="914400" cy="8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0"/>
          <p:cNvSpPr txBox="1"/>
          <p:nvPr/>
        </p:nvSpPr>
        <p:spPr>
          <a:xfrm>
            <a:off x="3810000" y="2857500"/>
            <a:ext cx="776400" cy="8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0"/>
          <p:cNvSpPr txBox="1"/>
          <p:nvPr/>
        </p:nvSpPr>
        <p:spPr>
          <a:xfrm>
            <a:off x="5359400" y="2552700"/>
            <a:ext cx="776400" cy="11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0"/>
          <p:cNvSpPr txBox="1"/>
          <p:nvPr/>
        </p:nvSpPr>
        <p:spPr>
          <a:xfrm>
            <a:off x="6867525" y="2187575"/>
            <a:ext cx="776400" cy="15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0"/>
          <p:cNvSpPr txBox="1"/>
          <p:nvPr/>
        </p:nvSpPr>
        <p:spPr>
          <a:xfrm>
            <a:off x="8367712" y="2466975"/>
            <a:ext cx="776400" cy="11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2" name="Google Shape;242;p20"/>
          <p:cNvCxnSpPr/>
          <p:nvPr/>
        </p:nvCxnSpPr>
        <p:spPr>
          <a:xfrm>
            <a:off x="1219200" y="2260600"/>
            <a:ext cx="6096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3" name="Google Shape;243;p20"/>
          <p:cNvCxnSpPr/>
          <p:nvPr/>
        </p:nvCxnSpPr>
        <p:spPr>
          <a:xfrm>
            <a:off x="2895600" y="2260600"/>
            <a:ext cx="6096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4" name="Google Shape;244;p20"/>
          <p:cNvCxnSpPr/>
          <p:nvPr/>
        </p:nvCxnSpPr>
        <p:spPr>
          <a:xfrm>
            <a:off x="4495800" y="2260600"/>
            <a:ext cx="6096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5" name="Google Shape;245;p20"/>
          <p:cNvCxnSpPr/>
          <p:nvPr/>
        </p:nvCxnSpPr>
        <p:spPr>
          <a:xfrm>
            <a:off x="6019800" y="2260600"/>
            <a:ext cx="6096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6" name="Google Shape;246;p20"/>
          <p:cNvCxnSpPr/>
          <p:nvPr/>
        </p:nvCxnSpPr>
        <p:spPr>
          <a:xfrm>
            <a:off x="7543800" y="2184400"/>
            <a:ext cx="6096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7" name="Google Shape;247;p20"/>
          <p:cNvSpPr txBox="1"/>
          <p:nvPr/>
        </p:nvSpPr>
        <p:spPr>
          <a:xfrm>
            <a:off x="1090612" y="4872037"/>
            <a:ext cx="5527800" cy="4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Inserting and deleting elements in a queue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0"/>
          <p:cNvSpPr txBox="1"/>
          <p:nvPr/>
        </p:nvSpPr>
        <p:spPr>
          <a:xfrm>
            <a:off x="1090612" y="720725"/>
            <a:ext cx="57405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Queue: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First-In-First-Out (FIFO) list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1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1"/>
          <p:cNvSpPr txBox="1"/>
          <p:nvPr/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5" name="Google Shape;25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2600" y="2057400"/>
            <a:ext cx="6907212" cy="3027362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1"/>
          <p:cNvSpPr txBox="1"/>
          <p:nvPr/>
        </p:nvSpPr>
        <p:spPr>
          <a:xfrm>
            <a:off x="1355725" y="5653087"/>
            <a:ext cx="51468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Insertion and deletion from a sequential queue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1"/>
          <p:cNvSpPr txBox="1"/>
          <p:nvPr/>
        </p:nvSpPr>
        <p:spPr>
          <a:xfrm>
            <a:off x="1770062" y="590550"/>
            <a:ext cx="42927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Application: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Job scheduling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2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2"/>
          <p:cNvSpPr txBox="1"/>
          <p:nvPr/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2"/>
          <p:cNvSpPr txBox="1"/>
          <p:nvPr>
            <p:ph type="title"/>
          </p:nvPr>
        </p:nvSpPr>
        <p:spPr>
          <a:xfrm>
            <a:off x="1622425" y="-522287"/>
            <a:ext cx="7183500" cy="82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None/>
            </a:pPr>
            <a:r>
              <a:rPr b="1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structure</a:t>
            </a: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Queue</a:t>
            </a: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</a:t>
            </a:r>
            <a:b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1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objects:</a:t>
            </a: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finite ordered list with zero or more elements.</a:t>
            </a:r>
            <a:b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1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functions:</a:t>
            </a:r>
            <a:br>
              <a:rPr b="1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all </a:t>
            </a:r>
            <a:r>
              <a:rPr b="0" i="1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queue </a:t>
            </a: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∈ </a:t>
            </a:r>
            <a:r>
              <a:rPr b="0" i="1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Queue</a:t>
            </a: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0" i="1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item</a:t>
            </a: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∈ </a:t>
            </a:r>
            <a:r>
              <a:rPr b="0" i="1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element</a:t>
            </a: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</a:t>
            </a:r>
            <a:r>
              <a:rPr b="0" i="1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max_ queue_ size</a:t>
            </a: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∈ positive integer</a:t>
            </a:r>
            <a:b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b="0" i="1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Queue </a:t>
            </a: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CreateQ(</a:t>
            </a:r>
            <a:r>
              <a:rPr b="0" i="1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max_queue_size</a:t>
            </a: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::=</a:t>
            </a:r>
            <a:b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create an empty queue whose maximum size is   </a:t>
            </a:r>
            <a:r>
              <a:rPr b="0" i="1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max_queue_size</a:t>
            </a:r>
            <a:b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b="0" i="1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Boolean </a:t>
            </a: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IsFullQ(</a:t>
            </a:r>
            <a:r>
              <a:rPr b="0" i="1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queue, max_queue_size</a:t>
            </a: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::=    </a:t>
            </a:r>
            <a:b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b="1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if</a:t>
            </a: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(number of elements in </a:t>
            </a:r>
            <a:r>
              <a:rPr b="0" i="1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queue </a:t>
            </a: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== </a:t>
            </a:r>
            <a:r>
              <a:rPr b="0" i="1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max_queue_size</a:t>
            </a: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b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b="1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return</a:t>
            </a: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TRUE</a:t>
            </a:r>
            <a:b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</a:t>
            </a:r>
            <a:r>
              <a:rPr b="1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else return</a:t>
            </a: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FALSE</a:t>
            </a:r>
            <a:b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b="0" i="1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Queue</a:t>
            </a: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AddQ(</a:t>
            </a:r>
            <a:r>
              <a:rPr b="0" i="1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queue, item</a:t>
            </a: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::=</a:t>
            </a:r>
            <a:br>
              <a:rPr b="1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if</a:t>
            </a: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(IsFullQ(</a:t>
            </a:r>
            <a:r>
              <a:rPr b="0" i="1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queue)) queue_full</a:t>
            </a:r>
            <a:br>
              <a:rPr b="1" i="1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else</a:t>
            </a: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insert</a:t>
            </a:r>
            <a:r>
              <a:rPr b="0" i="1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item</a:t>
            </a: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at rear of</a:t>
            </a:r>
            <a:r>
              <a:rPr b="0" i="1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queue </a:t>
            </a: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return </a:t>
            </a:r>
            <a:r>
              <a:rPr b="0" i="1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queue</a:t>
            </a: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b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Boolean IsEmptyQ(queue) ::=</a:t>
            </a:r>
            <a:b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if (queue ==CreateQ(max_queue_size))</a:t>
            </a:r>
            <a:b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return TRUE</a:t>
            </a:r>
            <a:b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else return FALSE</a:t>
            </a:r>
            <a:b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Element DeleteQ(queue) ::=</a:t>
            </a:r>
            <a:b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if (IsEmptyQ(queue)) return</a:t>
            </a:r>
            <a:b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else remove and return the item at front of queue.</a:t>
            </a:r>
            <a:b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</p:txBody>
      </p:sp>
      <p:sp>
        <p:nvSpPr>
          <p:cNvPr id="265" name="Google Shape;265;p22"/>
          <p:cNvSpPr txBox="1"/>
          <p:nvPr/>
        </p:nvSpPr>
        <p:spPr>
          <a:xfrm>
            <a:off x="2490787" y="-1587"/>
            <a:ext cx="43959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mes New Roman"/>
              <a:buNone/>
            </a:pPr>
            <a:r>
              <a:rPr b="1" i="0" lang="en-US" sz="28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 data type of queue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3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3"/>
          <p:cNvSpPr txBox="1"/>
          <p:nvPr/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3"/>
          <p:cNvSpPr txBox="1"/>
          <p:nvPr>
            <p:ph type="title"/>
          </p:nvPr>
        </p:nvSpPr>
        <p:spPr>
          <a:xfrm>
            <a:off x="1104900" y="346075"/>
            <a:ext cx="7777200" cy="6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Queue CreateQ(</a:t>
            </a:r>
            <a:r>
              <a:rPr b="0" i="1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max_queue_size</a:t>
            </a: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::=</a:t>
            </a:r>
            <a:b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 define MAX_QUEUE_SIZE 100/* Maximum queue size */</a:t>
            </a:r>
            <a:b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typedef struct {</a:t>
            </a:r>
            <a:b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int key;</a:t>
            </a:r>
            <a:b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/* other fields */</a:t>
            </a:r>
            <a:b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} element;</a:t>
            </a:r>
            <a:b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element queue[MAX_QUEUE_SIZE];</a:t>
            </a:r>
            <a:b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rear = -1;</a:t>
            </a:r>
            <a:b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front = -1;</a:t>
            </a:r>
            <a:b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Boolean IsEmpty(queue) ::= front == rear</a:t>
            </a:r>
            <a:b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Boolean IsFullQ(queue) ::= rear == MAX_QUEUE_SIZE-1</a:t>
            </a:r>
            <a:b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addq(int *rear, element item)</a:t>
            </a:r>
            <a:b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b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/* add an item to the queue */</a:t>
            </a:r>
            <a:b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if (*rear == MAX_QUEUE_SIZE - 1) {</a:t>
            </a:r>
            <a:b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queue_full( );</a:t>
            </a:r>
            <a:b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return;</a:t>
            </a:r>
            <a:b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}</a:t>
            </a:r>
            <a:b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queue [++*rear] = item;</a:t>
            </a:r>
            <a:b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b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</p:txBody>
      </p:sp>
      <p:sp>
        <p:nvSpPr>
          <p:cNvPr id="273" name="Google Shape;273;p23"/>
          <p:cNvSpPr txBox="1"/>
          <p:nvPr/>
        </p:nvSpPr>
        <p:spPr>
          <a:xfrm>
            <a:off x="1220787" y="346075"/>
            <a:ext cx="46800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 1: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array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3"/>
          <p:cNvSpPr txBox="1"/>
          <p:nvPr/>
        </p:nvSpPr>
        <p:spPr>
          <a:xfrm>
            <a:off x="1104900" y="266700"/>
            <a:ext cx="4864200" cy="51388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4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4"/>
          <p:cNvSpPr txBox="1"/>
          <p:nvPr/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4"/>
          <p:cNvSpPr txBox="1"/>
          <p:nvPr>
            <p:ph type="title"/>
          </p:nvPr>
        </p:nvSpPr>
        <p:spPr>
          <a:xfrm>
            <a:off x="1427162" y="457200"/>
            <a:ext cx="74565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element deleteq(int *front, int rear)</a:t>
            </a:r>
            <a:b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b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/* remove element at the front of the queue */</a:t>
            </a:r>
            <a:b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if ( *front == rear)</a:t>
            </a:r>
            <a:b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return queue_empty( );     /* return an error key */</a:t>
            </a:r>
            <a:b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return queue [++ *front];</a:t>
            </a:r>
            <a:b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  </a:t>
            </a:r>
            <a:b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8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Delete from a queue</a:t>
            </a:r>
            <a:br>
              <a:rPr b="0" i="0" lang="en-US" sz="18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0" i="0" lang="en-US" sz="18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problem: there may be available space when IsFullQ is true</a:t>
            </a:r>
            <a:br>
              <a:rPr b="0" i="0" lang="en-US" sz="240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movement is required.</a:t>
            </a:r>
            <a:endParaRPr/>
          </a:p>
        </p:txBody>
      </p:sp>
      <p:sp>
        <p:nvSpPr>
          <p:cNvPr id="282" name="Google Shape;282;p24"/>
          <p:cNvSpPr txBox="1"/>
          <p:nvPr/>
        </p:nvSpPr>
        <p:spPr>
          <a:xfrm>
            <a:off x="1436687" y="561975"/>
            <a:ext cx="32352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Delete from a queue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5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5"/>
          <p:cNvSpPr txBox="1"/>
          <p:nvPr/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5"/>
          <p:cNvSpPr/>
          <p:nvPr/>
        </p:nvSpPr>
        <p:spPr>
          <a:xfrm>
            <a:off x="2019300" y="2336800"/>
            <a:ext cx="1859100" cy="19509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90" name="Google Shape;290;p25"/>
          <p:cNvCxnSpPr/>
          <p:nvPr/>
        </p:nvCxnSpPr>
        <p:spPr>
          <a:xfrm flipH="1" rot="10800000">
            <a:off x="2924175" y="2314650"/>
            <a:ext cx="1500" cy="1971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91" name="Google Shape;291;p25"/>
          <p:cNvCxnSpPr/>
          <p:nvPr/>
        </p:nvCxnSpPr>
        <p:spPr>
          <a:xfrm rot="10800000">
            <a:off x="2063837" y="2971900"/>
            <a:ext cx="839700" cy="317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92" name="Google Shape;292;p25"/>
          <p:cNvCxnSpPr/>
          <p:nvPr/>
        </p:nvCxnSpPr>
        <p:spPr>
          <a:xfrm flipH="1">
            <a:off x="2266937" y="3311525"/>
            <a:ext cx="636600" cy="635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93" name="Google Shape;293;p25"/>
          <p:cNvCxnSpPr/>
          <p:nvPr/>
        </p:nvCxnSpPr>
        <p:spPr>
          <a:xfrm flipH="1" rot="10800000">
            <a:off x="2903537" y="2971900"/>
            <a:ext cx="928800" cy="317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94" name="Google Shape;294;p25"/>
          <p:cNvCxnSpPr/>
          <p:nvPr/>
        </p:nvCxnSpPr>
        <p:spPr>
          <a:xfrm>
            <a:off x="2925762" y="3311525"/>
            <a:ext cx="749400" cy="611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95" name="Google Shape;295;p25"/>
          <p:cNvSpPr/>
          <p:nvPr/>
        </p:nvSpPr>
        <p:spPr>
          <a:xfrm>
            <a:off x="2609850" y="2992437"/>
            <a:ext cx="703200" cy="7032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WINDOWS\Desktop\未命名.bmp" id="296" name="Google Shape;296;p25"/>
          <p:cNvPicPr preferRelativeResize="0"/>
          <p:nvPr/>
        </p:nvPicPr>
        <p:blipFill rotWithShape="1">
          <a:blip r:embed="rId3">
            <a:alphaModFix/>
          </a:blip>
          <a:srcRect b="2952" l="0" r="62872" t="40693"/>
          <a:stretch/>
        </p:blipFill>
        <p:spPr>
          <a:xfrm>
            <a:off x="5387975" y="1997075"/>
            <a:ext cx="2438400" cy="26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5"/>
          <p:cNvSpPr txBox="1"/>
          <p:nvPr/>
        </p:nvSpPr>
        <p:spPr>
          <a:xfrm>
            <a:off x="1881187" y="1520825"/>
            <a:ext cx="263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EMPTY QUEUE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5"/>
          <p:cNvSpPr txBox="1"/>
          <p:nvPr/>
        </p:nvSpPr>
        <p:spPr>
          <a:xfrm>
            <a:off x="1895475" y="2190750"/>
            <a:ext cx="5700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5"/>
          <p:cNvSpPr txBox="1"/>
          <p:nvPr/>
        </p:nvSpPr>
        <p:spPr>
          <a:xfrm>
            <a:off x="3536950" y="2181225"/>
            <a:ext cx="39276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[3]                         [2]                    [3]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5"/>
          <p:cNvSpPr txBox="1"/>
          <p:nvPr/>
        </p:nvSpPr>
        <p:spPr>
          <a:xfrm>
            <a:off x="1473200" y="3179762"/>
            <a:ext cx="65721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                                  [4]           [1]                                  [4]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25"/>
          <p:cNvSpPr txBox="1"/>
          <p:nvPr/>
        </p:nvSpPr>
        <p:spPr>
          <a:xfrm>
            <a:off x="1139825" y="4149725"/>
            <a:ext cx="7402500" cy="22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[0]            [5]                                   [0]          [5]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front = 0                                           front =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rear = 0                                             rear =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*Figure 3.6:</a:t>
            </a:r>
            <a:r>
              <a:rPr b="0" i="0" lang="en-US" sz="20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Empty and nonempty circular queues (p.109)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5"/>
          <p:cNvSpPr txBox="1"/>
          <p:nvPr/>
        </p:nvSpPr>
        <p:spPr>
          <a:xfrm>
            <a:off x="5781675" y="2613025"/>
            <a:ext cx="4095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25"/>
          <p:cNvSpPr txBox="1"/>
          <p:nvPr/>
        </p:nvSpPr>
        <p:spPr>
          <a:xfrm>
            <a:off x="5464175" y="3225800"/>
            <a:ext cx="4095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25"/>
          <p:cNvSpPr txBox="1"/>
          <p:nvPr/>
        </p:nvSpPr>
        <p:spPr>
          <a:xfrm>
            <a:off x="6575425" y="2613025"/>
            <a:ext cx="4095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25"/>
          <p:cNvSpPr txBox="1"/>
          <p:nvPr/>
        </p:nvSpPr>
        <p:spPr>
          <a:xfrm>
            <a:off x="946150" y="187325"/>
            <a:ext cx="7981800" cy="12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 2: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regard an array as a circular queue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front: 	one position counterclockwise from the first element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rear:	current end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25"/>
          <p:cNvSpPr txBox="1"/>
          <p:nvPr/>
        </p:nvSpPr>
        <p:spPr>
          <a:xfrm>
            <a:off x="927100" y="190500"/>
            <a:ext cx="8051700" cy="507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6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26"/>
          <p:cNvSpPr txBox="1"/>
          <p:nvPr/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WINDOWS\Desktop\未命名1.bmp" id="313" name="Google Shape;313;p26"/>
          <p:cNvPicPr preferRelativeResize="0"/>
          <p:nvPr/>
        </p:nvPicPr>
        <p:blipFill rotWithShape="1">
          <a:blip r:embed="rId3">
            <a:alphaModFix/>
          </a:blip>
          <a:srcRect b="16876" l="0" r="27598" t="25068"/>
          <a:stretch/>
        </p:blipFill>
        <p:spPr>
          <a:xfrm>
            <a:off x="2120900" y="1538287"/>
            <a:ext cx="5756275" cy="3470275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6"/>
          <p:cNvSpPr txBox="1"/>
          <p:nvPr/>
        </p:nvSpPr>
        <p:spPr>
          <a:xfrm>
            <a:off x="2311400" y="1025525"/>
            <a:ext cx="48990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FULL QUEUE                        FULL QUEUE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26"/>
          <p:cNvSpPr txBox="1"/>
          <p:nvPr/>
        </p:nvSpPr>
        <p:spPr>
          <a:xfrm>
            <a:off x="1744662" y="2022475"/>
            <a:ext cx="58101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[2]                               [3]      [2]                              [3]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26"/>
          <p:cNvSpPr txBox="1"/>
          <p:nvPr/>
        </p:nvSpPr>
        <p:spPr>
          <a:xfrm>
            <a:off x="1246187" y="3201987"/>
            <a:ext cx="66357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[1]                                       [4][1]                                      [4]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26"/>
          <p:cNvSpPr txBox="1"/>
          <p:nvPr/>
        </p:nvSpPr>
        <p:spPr>
          <a:xfrm>
            <a:off x="2336800" y="4335462"/>
            <a:ext cx="47943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[0]                [5]                        [0]              [5]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26"/>
          <p:cNvSpPr txBox="1"/>
          <p:nvPr/>
        </p:nvSpPr>
        <p:spPr>
          <a:xfrm>
            <a:off x="2628900" y="4949825"/>
            <a:ext cx="1068300" cy="7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 =0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rear =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26"/>
          <p:cNvSpPr txBox="1"/>
          <p:nvPr/>
        </p:nvSpPr>
        <p:spPr>
          <a:xfrm>
            <a:off x="5832475" y="4953000"/>
            <a:ext cx="1068300" cy="7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 =4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rear =3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26"/>
          <p:cNvSpPr txBox="1"/>
          <p:nvPr/>
        </p:nvSpPr>
        <p:spPr>
          <a:xfrm>
            <a:off x="928687" y="5902325"/>
            <a:ext cx="76152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*Figure 3.7: </a:t>
            </a:r>
            <a:r>
              <a:rPr b="0" i="0" lang="en-US" sz="20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circular queues and then we remove the item (p.110)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26"/>
          <p:cNvSpPr txBox="1"/>
          <p:nvPr/>
        </p:nvSpPr>
        <p:spPr>
          <a:xfrm>
            <a:off x="2516187" y="2408237"/>
            <a:ext cx="20130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J2             J3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26"/>
          <p:cNvSpPr txBox="1"/>
          <p:nvPr/>
        </p:nvSpPr>
        <p:spPr>
          <a:xfrm>
            <a:off x="2220912" y="3225800"/>
            <a:ext cx="22161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J1                        J4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26"/>
          <p:cNvSpPr txBox="1"/>
          <p:nvPr/>
        </p:nvSpPr>
        <p:spPr>
          <a:xfrm>
            <a:off x="3355975" y="3929062"/>
            <a:ext cx="5016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J5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26"/>
          <p:cNvSpPr txBox="1"/>
          <p:nvPr/>
        </p:nvSpPr>
        <p:spPr>
          <a:xfrm>
            <a:off x="5646737" y="3814762"/>
            <a:ext cx="11367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J6       J5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26"/>
          <p:cNvSpPr txBox="1"/>
          <p:nvPr/>
        </p:nvSpPr>
        <p:spPr>
          <a:xfrm>
            <a:off x="5170487" y="3179762"/>
            <a:ext cx="4383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26"/>
          <p:cNvSpPr txBox="1"/>
          <p:nvPr/>
        </p:nvSpPr>
        <p:spPr>
          <a:xfrm>
            <a:off x="5487987" y="2363787"/>
            <a:ext cx="13272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J8          J9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26"/>
          <p:cNvSpPr txBox="1"/>
          <p:nvPr/>
        </p:nvSpPr>
        <p:spPr>
          <a:xfrm>
            <a:off x="1393825" y="266700"/>
            <a:ext cx="5748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Problem: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space is left when queue is full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7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27"/>
          <p:cNvSpPr txBox="1"/>
          <p:nvPr/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27"/>
          <p:cNvSpPr txBox="1"/>
          <p:nvPr>
            <p:ph type="title"/>
          </p:nvPr>
        </p:nvSpPr>
        <p:spPr>
          <a:xfrm>
            <a:off x="1173162" y="457200"/>
            <a:ext cx="7742100" cy="579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addq(int front, int *rear, element item)</a:t>
            </a:r>
            <a:b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b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/* add an item to the queue */</a:t>
            </a:r>
            <a:b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*rear = (*rear +1) % MAX_QUEUE_SIZE;</a:t>
            </a:r>
            <a:b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if (front == *rear) /* reset rear and print error */</a:t>
            </a:r>
            <a:b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return;</a:t>
            </a:r>
            <a:b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}</a:t>
            </a:r>
            <a:b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queue[*rear] = item; </a:t>
            </a:r>
            <a:b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b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8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Add to a circular queue</a:t>
            </a:r>
            <a:endParaRPr/>
          </a:p>
        </p:txBody>
      </p:sp>
      <p:sp>
        <p:nvSpPr>
          <p:cNvPr id="335" name="Google Shape;335;p27"/>
          <p:cNvSpPr txBox="1"/>
          <p:nvPr/>
        </p:nvSpPr>
        <p:spPr>
          <a:xfrm>
            <a:off x="1206500" y="547687"/>
            <a:ext cx="37797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to a circular queue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8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28"/>
          <p:cNvSpPr txBox="1"/>
          <p:nvPr/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28"/>
          <p:cNvSpPr txBox="1"/>
          <p:nvPr>
            <p:ph type="title"/>
          </p:nvPr>
        </p:nvSpPr>
        <p:spPr>
          <a:xfrm>
            <a:off x="1173162" y="457200"/>
            <a:ext cx="78183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element deleteq(int* front, int rear)</a:t>
            </a:r>
            <a:b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b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element item;</a:t>
            </a:r>
            <a:b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/* remove front element from the queue and put it in item */</a:t>
            </a:r>
            <a:b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if (*front == rear)</a:t>
            </a:r>
            <a:b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return queue_empty( ); </a:t>
            </a:r>
            <a:b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/* queue_empty returns an error key */</a:t>
            </a:r>
            <a:b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*front = (*front+1) % MAX_QUEUE_SIZE;</a:t>
            </a:r>
            <a:b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return queue[*front];</a:t>
            </a:r>
            <a:b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b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18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8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Delete from a circular queue </a:t>
            </a:r>
            <a:endParaRPr/>
          </a:p>
        </p:txBody>
      </p:sp>
      <p:sp>
        <p:nvSpPr>
          <p:cNvPr id="343" name="Google Shape;343;p28"/>
          <p:cNvSpPr txBox="1"/>
          <p:nvPr/>
        </p:nvSpPr>
        <p:spPr>
          <a:xfrm>
            <a:off x="1177925" y="490537"/>
            <a:ext cx="45261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Delete from a circular queue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9"/>
          <p:cNvSpPr txBox="1"/>
          <p:nvPr>
            <p:ph type="title"/>
          </p:nvPr>
        </p:nvSpPr>
        <p:spPr>
          <a:xfrm>
            <a:off x="1173162" y="4572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to a dynamic circular queue</a:t>
            </a:r>
            <a:endParaRPr/>
          </a:p>
        </p:txBody>
      </p:sp>
      <p:sp>
        <p:nvSpPr>
          <p:cNvPr id="349" name="Google Shape;349;p29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29"/>
          <p:cNvSpPr txBox="1"/>
          <p:nvPr/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29"/>
          <p:cNvSpPr txBox="1"/>
          <p:nvPr/>
        </p:nvSpPr>
        <p:spPr>
          <a:xfrm>
            <a:off x="1184275" y="1871662"/>
            <a:ext cx="5700600" cy="40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addq( element item)</a:t>
            </a:r>
            <a:b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b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/* add an item to the queue */</a:t>
            </a:r>
            <a:b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rear = (rear +1) %capacity</a:t>
            </a:r>
            <a:b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if (front == rear) /* reset rear and print error */</a:t>
            </a:r>
            <a:b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{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queuefull();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rear++;</a:t>
            </a:r>
            <a:b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}</a:t>
            </a:r>
            <a:b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queue[rear] = item; </a:t>
            </a:r>
            <a:b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b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0"/>
          <p:cNvSpPr txBox="1"/>
          <p:nvPr>
            <p:ph type="title"/>
          </p:nvPr>
        </p:nvSpPr>
        <p:spPr>
          <a:xfrm>
            <a:off x="1143000" y="0"/>
            <a:ext cx="77724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Doubling queue capacity</a:t>
            </a:r>
            <a:endParaRPr/>
          </a:p>
        </p:txBody>
      </p:sp>
      <p:sp>
        <p:nvSpPr>
          <p:cNvPr id="357" name="Google Shape;357;p30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30"/>
          <p:cNvSpPr txBox="1"/>
          <p:nvPr/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30"/>
          <p:cNvSpPr txBox="1"/>
          <p:nvPr/>
        </p:nvSpPr>
        <p:spPr>
          <a:xfrm>
            <a:off x="2655887" y="434975"/>
            <a:ext cx="5307000" cy="45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queuefull()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element *newqueue;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newqueue=(element *) malloc (2*capacity*sizeof(*queue));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int start =(front+1) % capacity;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if(start&lt;2) /* no wrap around*/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copy(queue+start, queue+start+capacity-1, newqueue);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else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{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copy(queue+start,  queue+capacity,  newqueue);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copy(queue, queue+rear+1, newqueue+capacity-start);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front = 2*capacity-1;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rear = capacity – 2;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capacity = capacity * 2;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free(queue);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queue = newqueue;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30"/>
          <p:cNvSpPr txBox="1"/>
          <p:nvPr/>
        </p:nvSpPr>
        <p:spPr>
          <a:xfrm>
            <a:off x="2174875" y="4778375"/>
            <a:ext cx="5246700" cy="23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copy(element *start, element *end, element *newqueue)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int I;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element *j;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j = start;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for (i=0 ; j&lt;end; j++, i++)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*(newqueue+i) = *j;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1"/>
          <p:cNvSpPr txBox="1"/>
          <p:nvPr>
            <p:ph type="title"/>
          </p:nvPr>
        </p:nvSpPr>
        <p:spPr>
          <a:xfrm>
            <a:off x="846137" y="0"/>
            <a:ext cx="7772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 for displaying elements in a circular queue</a:t>
            </a:r>
            <a:endParaRPr/>
          </a:p>
        </p:txBody>
      </p:sp>
      <p:sp>
        <p:nvSpPr>
          <p:cNvPr id="366" name="Google Shape;366;p31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31"/>
          <p:cNvSpPr txBox="1"/>
          <p:nvPr/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31"/>
          <p:cNvSpPr txBox="1"/>
          <p:nvPr/>
        </p:nvSpPr>
        <p:spPr>
          <a:xfrm>
            <a:off x="1557337" y="566737"/>
            <a:ext cx="6954900" cy="3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display()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i;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if(front==rear)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printf(“empty queue”);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return;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for( i = front + 1 %  capacity ; i != rear +1 % capacity ; i = i + 1 % capacity 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printf(“ %d”, queue[i].key);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2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32"/>
          <p:cNvSpPr txBox="1"/>
          <p:nvPr/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32"/>
          <p:cNvSpPr txBox="1"/>
          <p:nvPr>
            <p:ph type="title"/>
          </p:nvPr>
        </p:nvSpPr>
        <p:spPr>
          <a:xfrm>
            <a:off x="1568450" y="1127125"/>
            <a:ext cx="7096200" cy="47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= a / b - c + d * e - a * c</a:t>
            </a:r>
            <a:br>
              <a:rPr b="0" i="0" lang="en-US" sz="2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0" i="0" lang="en-US" sz="2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= 4, b = c = 2, d = e = 3</a:t>
            </a:r>
            <a:br>
              <a:rPr b="0" i="0" lang="en-US" sz="2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0" i="0" lang="en-US" sz="2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Interpretation 1: </a:t>
            </a:r>
            <a:br>
              <a:rPr b="0" i="0" lang="en-US" sz="2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((4/2)-2)+(3*3)-(4*2)=0 + 8+9=1</a:t>
            </a:r>
            <a:br>
              <a:rPr b="0" i="0" lang="en-US" sz="2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0" i="0" lang="en-US" sz="2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Interpretation 2:</a:t>
            </a:r>
            <a:br>
              <a:rPr b="0" i="0" lang="en-US" sz="2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(4/(2-2+3))*(3-4)*2=(4/3)*(-1)*2=-2.66666</a:t>
            </a:r>
            <a:r>
              <a:rPr b="0" baseline="30000" i="0" lang="en-US" sz="2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br>
              <a:rPr b="0" baseline="30000" i="0" lang="en-US" sz="2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0" baseline="30000" i="0" lang="en-US" sz="2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to generate the machine instructions corresponding to a given expression?</a:t>
            </a:r>
            <a:br>
              <a:rPr b="0" i="0" lang="en-US" sz="2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b="0" i="0" lang="en-US" sz="280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precedence rule + associative rule</a:t>
            </a:r>
            <a:endParaRPr/>
          </a:p>
        </p:txBody>
      </p:sp>
      <p:sp>
        <p:nvSpPr>
          <p:cNvPr id="376" name="Google Shape;376;p32"/>
          <p:cNvSpPr txBox="1"/>
          <p:nvPr/>
        </p:nvSpPr>
        <p:spPr>
          <a:xfrm>
            <a:off x="2632075" y="0"/>
            <a:ext cx="41355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mes New Roman"/>
              <a:buNone/>
            </a:pPr>
            <a:r>
              <a:rPr b="1" i="0" lang="en-US" sz="28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Evaluation of Expressions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3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33"/>
          <p:cNvSpPr txBox="1"/>
          <p:nvPr/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3" name="Google Shape;38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2700" y="727075"/>
            <a:ext cx="7707313" cy="5999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4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34"/>
          <p:cNvSpPr txBox="1"/>
          <p:nvPr/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0" name="Google Shape;39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3500" y="774700"/>
            <a:ext cx="7162799" cy="610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5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35"/>
          <p:cNvSpPr txBox="1"/>
          <p:nvPr/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7" name="Google Shape;39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3500" y="774700"/>
            <a:ext cx="7493001" cy="5792787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5"/>
          <p:cNvSpPr txBox="1"/>
          <p:nvPr/>
        </p:nvSpPr>
        <p:spPr>
          <a:xfrm>
            <a:off x="1314450" y="3814762"/>
            <a:ext cx="6369000" cy="19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1.The precedence column is taken from Harbison and Steele.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2.Postfix form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3.prefix form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Precedence hierarchy for C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6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36"/>
          <p:cNvSpPr txBox="1"/>
          <p:nvPr/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5" name="Google Shape;40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1397000"/>
            <a:ext cx="6094412" cy="406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0" y="723900"/>
            <a:ext cx="6667501" cy="4800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36"/>
          <p:cNvSpPr txBox="1"/>
          <p:nvPr/>
        </p:nvSpPr>
        <p:spPr>
          <a:xfrm>
            <a:off x="1582737" y="4697412"/>
            <a:ext cx="46926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Infix and postfix notation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36"/>
          <p:cNvSpPr txBox="1"/>
          <p:nvPr/>
        </p:nvSpPr>
        <p:spPr>
          <a:xfrm>
            <a:off x="1546225" y="130175"/>
            <a:ext cx="8349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mes New Roman"/>
              <a:buNone/>
            </a:pPr>
            <a:r>
              <a:rPr b="1" i="0" lang="en-US" sz="28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36"/>
          <p:cNvSpPr txBox="1"/>
          <p:nvPr/>
        </p:nvSpPr>
        <p:spPr>
          <a:xfrm>
            <a:off x="5178425" y="155575"/>
            <a:ext cx="15255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mes New Roman"/>
              <a:buNone/>
            </a:pPr>
            <a:r>
              <a:rPr b="1" i="0" lang="en-US" sz="28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compiler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36"/>
          <p:cNvSpPr txBox="1"/>
          <p:nvPr/>
        </p:nvSpPr>
        <p:spPr>
          <a:xfrm>
            <a:off x="1533525" y="5172075"/>
            <a:ext cx="57579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Times New Roman"/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Postfix: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parentheses, no precedence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7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37"/>
          <p:cNvSpPr txBox="1"/>
          <p:nvPr/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7" name="Google Shape;417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7987" y="317500"/>
            <a:ext cx="6215062" cy="607695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37"/>
          <p:cNvSpPr txBox="1"/>
          <p:nvPr/>
        </p:nvSpPr>
        <p:spPr>
          <a:xfrm>
            <a:off x="1668462" y="5988050"/>
            <a:ext cx="20511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i="0" lang="en-US" sz="18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8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Postfix evaluation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8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38"/>
          <p:cNvSpPr txBox="1"/>
          <p:nvPr/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38"/>
          <p:cNvSpPr txBox="1"/>
          <p:nvPr>
            <p:ph type="title"/>
          </p:nvPr>
        </p:nvSpPr>
        <p:spPr>
          <a:xfrm>
            <a:off x="1185862" y="2351087"/>
            <a:ext cx="7870800" cy="25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#define MAX_STACK_SIZE 100    /* maximum stack size */</a:t>
            </a:r>
            <a:br>
              <a:rPr b="0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#define MAX_EXPR_SIZE 100       /* max size of expression */</a:t>
            </a:r>
            <a:br>
              <a:rPr b="0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typedef enum{lparan, rparen, plus, minus, times, divide,  </a:t>
            </a:r>
            <a:br>
              <a:rPr b="1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mod, eos, operand} precedence;</a:t>
            </a:r>
            <a:br>
              <a:rPr b="1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stack[MAX_STACK_SIZE];      /* global stack */</a:t>
            </a:r>
            <a:br>
              <a:rPr b="0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 expr[MAX_EXPR_SIZE];      /* input string */</a:t>
            </a:r>
            <a:endParaRPr/>
          </a:p>
        </p:txBody>
      </p:sp>
      <p:sp>
        <p:nvSpPr>
          <p:cNvPr id="427" name="Google Shape;427;p38"/>
          <p:cNvSpPr txBox="1"/>
          <p:nvPr/>
        </p:nvSpPr>
        <p:spPr>
          <a:xfrm>
            <a:off x="1863725" y="204787"/>
            <a:ext cx="43482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Goal: Evaluation of postfix expression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38"/>
          <p:cNvSpPr txBox="1"/>
          <p:nvPr/>
        </p:nvSpPr>
        <p:spPr>
          <a:xfrm>
            <a:off x="1462087" y="604837"/>
            <a:ext cx="3875100" cy="8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Assumptions: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operators: +, -, *, /, 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operands: single digit integer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9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39"/>
          <p:cNvSpPr txBox="1"/>
          <p:nvPr/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39"/>
          <p:cNvSpPr txBox="1"/>
          <p:nvPr/>
        </p:nvSpPr>
        <p:spPr>
          <a:xfrm>
            <a:off x="1774825" y="2997200"/>
            <a:ext cx="4671900" cy="40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else {</a:t>
            </a:r>
            <a:br>
              <a:rPr b="0" i="0" lang="en-US" sz="16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op2 = delete(&amp;top);  /* stack delete */</a:t>
            </a:r>
            <a:br>
              <a:rPr b="0" i="0" lang="en-US" sz="16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op1 = delete(&amp;top);</a:t>
            </a:r>
            <a:br>
              <a:rPr b="0" i="0" lang="en-US" sz="16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switch(token) {</a:t>
            </a:r>
            <a:br>
              <a:rPr b="0" i="0" lang="en-US" sz="16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case plus: add(&amp;top, op1+op2); break;</a:t>
            </a:r>
            <a:br>
              <a:rPr b="0" i="0" lang="en-US" sz="16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case minus: add(&amp;top, op1-op2); break;     </a:t>
            </a:r>
            <a:br>
              <a:rPr b="0" i="0" lang="en-US" sz="16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case times: add(&amp;top, op1*op2); break;     </a:t>
            </a:r>
            <a:br>
              <a:rPr b="0" i="0" lang="en-US" sz="16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case divide: add(&amp;top, op1/op2); break;     </a:t>
            </a:r>
            <a:br>
              <a:rPr b="0" i="0" lang="en-US" sz="16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case mod: add(&amp;top, op1%op2);</a:t>
            </a:r>
            <a:br>
              <a:rPr b="0" i="0" lang="en-US" sz="16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}</a:t>
            </a:r>
            <a:br>
              <a:rPr b="0" i="0" lang="en-US" sz="16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}</a:t>
            </a:r>
            <a:br>
              <a:rPr b="0" i="0" lang="en-US" sz="16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token = get_token (&amp;symbol, &amp;n);</a:t>
            </a:r>
            <a:br>
              <a:rPr b="0" i="0" lang="en-US" sz="16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}</a:t>
            </a:r>
            <a:br>
              <a:rPr b="0" i="0" lang="en-US" sz="16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return delete(&amp;top); </a:t>
            </a:r>
            <a:br>
              <a:rPr b="0" i="0" lang="en-US" sz="16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b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39"/>
          <p:cNvSpPr txBox="1"/>
          <p:nvPr/>
        </p:nvSpPr>
        <p:spPr>
          <a:xfrm>
            <a:off x="1322387" y="195262"/>
            <a:ext cx="6102300" cy="28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eval(void)</a:t>
            </a:r>
            <a:br>
              <a:rPr b="0" i="0" lang="en-US" sz="16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br>
              <a:rPr b="0" i="0" lang="en-US" sz="16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precedence token;</a:t>
            </a:r>
            <a:br>
              <a:rPr b="0" i="0" lang="en-US" sz="16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char symbol;</a:t>
            </a:r>
            <a:br>
              <a:rPr b="0" i="0" lang="en-US" sz="16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int op1, op2;</a:t>
            </a:r>
            <a:br>
              <a:rPr b="0" i="0" lang="en-US" sz="16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int n = 0;  /* counter for the expression string */</a:t>
            </a:r>
            <a:br>
              <a:rPr b="0" i="0" lang="en-US" sz="16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int top = -1;</a:t>
            </a:r>
            <a:br>
              <a:rPr b="0" i="0" lang="en-US" sz="16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token = get_token(&amp;symbol, &amp;n);</a:t>
            </a:r>
            <a:br>
              <a:rPr b="0" i="0" lang="en-US" sz="16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while (token != eos)  {</a:t>
            </a:r>
            <a:br>
              <a:rPr b="0" i="0" lang="en-US" sz="16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if (token == operand)</a:t>
            </a:r>
            <a:br>
              <a:rPr b="1" i="0" lang="en-US" sz="16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16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</a:t>
            </a:r>
            <a:r>
              <a:rPr b="0" i="0" lang="en-US" sz="16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add(&amp;top, symbol-’0’);   /* stack insert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40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40"/>
          <p:cNvSpPr txBox="1"/>
          <p:nvPr/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40"/>
          <p:cNvSpPr txBox="1"/>
          <p:nvPr>
            <p:ph type="title"/>
          </p:nvPr>
        </p:nvSpPr>
        <p:spPr>
          <a:xfrm>
            <a:off x="1143000" y="-652462"/>
            <a:ext cx="8001000" cy="773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precedence get_token(char *symbol, int *n)</a:t>
            </a:r>
            <a:b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b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/* get the next token, symbol is the character  representation, which is returned, the token is </a:t>
            </a:r>
            <a:b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represented by its enumerated value, which is returned in the function name */</a:t>
            </a:r>
            <a:b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b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*symbol =expr[(*n)++];</a:t>
            </a:r>
            <a:b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switch (*symbol)  {</a:t>
            </a:r>
            <a:b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case ‘(‘ : return lparen;</a:t>
            </a:r>
            <a:b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case ’)’ : return rparen;</a:t>
            </a:r>
            <a:b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case ‘+’: return plus;</a:t>
            </a:r>
            <a:b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case ‘-’ : return minus;</a:t>
            </a:r>
            <a:b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case ‘/’ :  return divide;</a:t>
            </a:r>
            <a:b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case ‘*’ : return times;</a:t>
            </a:r>
            <a:b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case ‘%’ : return mod;</a:t>
            </a:r>
            <a:b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case ‘\0‘ : return eos;</a:t>
            </a:r>
            <a:b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default  : return operand; </a:t>
            </a:r>
            <a:b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/* no error checking, default is operand */</a:t>
            </a:r>
            <a:b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}</a:t>
            </a:r>
            <a:b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br>
              <a:rPr b="0" i="0" lang="en-US" sz="1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1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41"/>
          <p:cNvSpPr txBox="1"/>
          <p:nvPr/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41"/>
          <p:cNvSpPr txBox="1"/>
          <p:nvPr>
            <p:ph type="title"/>
          </p:nvPr>
        </p:nvSpPr>
        <p:spPr>
          <a:xfrm>
            <a:off x="1173162" y="4572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Infix to Postfix Conversion</a:t>
            </a:r>
            <a:b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32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(Intuitive Algorithm)</a:t>
            </a:r>
            <a:endParaRPr/>
          </a:p>
        </p:txBody>
      </p:sp>
      <p:sp>
        <p:nvSpPr>
          <p:cNvPr id="451" name="Google Shape;451;p41"/>
          <p:cNvSpPr txBox="1"/>
          <p:nvPr/>
        </p:nvSpPr>
        <p:spPr>
          <a:xfrm>
            <a:off x="1381125" y="1793875"/>
            <a:ext cx="6831000" cy="44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(1)	Fully parenthesize expression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a / b - c + d * e - a * c --&gt;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((((a / b) - c) + (d * e)) - a * c))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(2)	All operators replace their corresponding right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parentheses.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 </a:t>
            </a: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((((a / b) - c) + (d * e)) - a * c))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(3)	Delete all parentheses.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ab/c-de*+ac*-	   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 passes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2" name="Google Shape;452;p41"/>
          <p:cNvCxnSpPr/>
          <p:nvPr/>
        </p:nvCxnSpPr>
        <p:spPr>
          <a:xfrm>
            <a:off x="4038600" y="4457700"/>
            <a:ext cx="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3" name="Google Shape;453;p41"/>
          <p:cNvCxnSpPr/>
          <p:nvPr/>
        </p:nvCxnSpPr>
        <p:spPr>
          <a:xfrm>
            <a:off x="4038600" y="4749800"/>
            <a:ext cx="330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4" name="Google Shape;454;p41"/>
          <p:cNvCxnSpPr/>
          <p:nvPr/>
        </p:nvCxnSpPr>
        <p:spPr>
          <a:xfrm>
            <a:off x="4330700" y="4444900"/>
            <a:ext cx="0" cy="292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55" name="Google Shape;455;p41"/>
          <p:cNvCxnSpPr/>
          <p:nvPr/>
        </p:nvCxnSpPr>
        <p:spPr>
          <a:xfrm>
            <a:off x="4533900" y="4495800"/>
            <a:ext cx="0" cy="279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6" name="Google Shape;456;p41"/>
          <p:cNvCxnSpPr/>
          <p:nvPr/>
        </p:nvCxnSpPr>
        <p:spPr>
          <a:xfrm>
            <a:off x="4521200" y="4749800"/>
            <a:ext cx="292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7" name="Google Shape;457;p41"/>
          <p:cNvCxnSpPr/>
          <p:nvPr/>
        </p:nvCxnSpPr>
        <p:spPr>
          <a:xfrm>
            <a:off x="4800600" y="4432300"/>
            <a:ext cx="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58" name="Google Shape;458;p41"/>
          <p:cNvCxnSpPr/>
          <p:nvPr/>
        </p:nvCxnSpPr>
        <p:spPr>
          <a:xfrm>
            <a:off x="5638800" y="4406900"/>
            <a:ext cx="0" cy="34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9" name="Google Shape;459;p41"/>
          <p:cNvCxnSpPr/>
          <p:nvPr/>
        </p:nvCxnSpPr>
        <p:spPr>
          <a:xfrm>
            <a:off x="5638800" y="4749800"/>
            <a:ext cx="330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60" name="Google Shape;460;p41"/>
          <p:cNvCxnSpPr/>
          <p:nvPr/>
        </p:nvCxnSpPr>
        <p:spPr>
          <a:xfrm>
            <a:off x="5956300" y="4419500"/>
            <a:ext cx="0" cy="330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61" name="Google Shape;461;p41"/>
          <p:cNvCxnSpPr/>
          <p:nvPr/>
        </p:nvCxnSpPr>
        <p:spPr>
          <a:xfrm>
            <a:off x="5067300" y="4419600"/>
            <a:ext cx="0" cy="444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62" name="Google Shape;462;p41"/>
          <p:cNvCxnSpPr/>
          <p:nvPr/>
        </p:nvCxnSpPr>
        <p:spPr>
          <a:xfrm>
            <a:off x="5067300" y="4864100"/>
            <a:ext cx="1028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63" name="Google Shape;463;p41"/>
          <p:cNvCxnSpPr/>
          <p:nvPr/>
        </p:nvCxnSpPr>
        <p:spPr>
          <a:xfrm>
            <a:off x="6070600" y="4368800"/>
            <a:ext cx="0" cy="495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64" name="Google Shape;464;p41"/>
          <p:cNvCxnSpPr/>
          <p:nvPr/>
        </p:nvCxnSpPr>
        <p:spPr>
          <a:xfrm>
            <a:off x="6667500" y="4432300"/>
            <a:ext cx="0" cy="330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65" name="Google Shape;465;p41"/>
          <p:cNvCxnSpPr/>
          <p:nvPr/>
        </p:nvCxnSpPr>
        <p:spPr>
          <a:xfrm>
            <a:off x="6654800" y="4749800"/>
            <a:ext cx="292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66" name="Google Shape;466;p41"/>
          <p:cNvCxnSpPr/>
          <p:nvPr/>
        </p:nvCxnSpPr>
        <p:spPr>
          <a:xfrm>
            <a:off x="6934200" y="4406800"/>
            <a:ext cx="0" cy="330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67" name="Google Shape;467;p41"/>
          <p:cNvCxnSpPr/>
          <p:nvPr/>
        </p:nvCxnSpPr>
        <p:spPr>
          <a:xfrm>
            <a:off x="6248400" y="4457700"/>
            <a:ext cx="0" cy="393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68" name="Google Shape;468;p41"/>
          <p:cNvCxnSpPr/>
          <p:nvPr/>
        </p:nvCxnSpPr>
        <p:spPr>
          <a:xfrm>
            <a:off x="6248400" y="4851400"/>
            <a:ext cx="850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69" name="Google Shape;469;p41"/>
          <p:cNvCxnSpPr/>
          <p:nvPr/>
        </p:nvCxnSpPr>
        <p:spPr>
          <a:xfrm>
            <a:off x="7086600" y="4419500"/>
            <a:ext cx="0" cy="444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70" name="Google Shape;470;p41"/>
          <p:cNvSpPr txBox="1"/>
          <p:nvPr/>
        </p:nvSpPr>
        <p:spPr>
          <a:xfrm>
            <a:off x="4187825" y="4651375"/>
            <a:ext cx="26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41"/>
          <p:cNvSpPr txBox="1"/>
          <p:nvPr/>
        </p:nvSpPr>
        <p:spPr>
          <a:xfrm>
            <a:off x="4670425" y="4600575"/>
            <a:ext cx="285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41"/>
          <p:cNvSpPr txBox="1"/>
          <p:nvPr/>
        </p:nvSpPr>
        <p:spPr>
          <a:xfrm>
            <a:off x="5775325" y="4676775"/>
            <a:ext cx="33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41"/>
          <p:cNvSpPr txBox="1"/>
          <p:nvPr/>
        </p:nvSpPr>
        <p:spPr>
          <a:xfrm>
            <a:off x="6003925" y="4613275"/>
            <a:ext cx="355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41"/>
          <p:cNvSpPr txBox="1"/>
          <p:nvPr/>
        </p:nvSpPr>
        <p:spPr>
          <a:xfrm>
            <a:off x="6778625" y="4664075"/>
            <a:ext cx="33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41"/>
          <p:cNvSpPr txBox="1"/>
          <p:nvPr/>
        </p:nvSpPr>
        <p:spPr>
          <a:xfrm>
            <a:off x="7058025" y="4587875"/>
            <a:ext cx="285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42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42"/>
          <p:cNvSpPr txBox="1"/>
          <p:nvPr/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2" name="Google Shape;48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7500" y="1416050"/>
            <a:ext cx="7937501" cy="4400550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42"/>
          <p:cNvSpPr txBox="1"/>
          <p:nvPr/>
        </p:nvSpPr>
        <p:spPr>
          <a:xfrm>
            <a:off x="1177925" y="5518150"/>
            <a:ext cx="50943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i="0" lang="en-US" sz="18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*Figure 3.15: </a:t>
            </a:r>
            <a:r>
              <a:rPr b="0" i="0" lang="en-US" sz="18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Translation of a+b*c to postfix (p.124)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42"/>
          <p:cNvSpPr txBox="1"/>
          <p:nvPr/>
        </p:nvSpPr>
        <p:spPr>
          <a:xfrm>
            <a:off x="962025" y="346075"/>
            <a:ext cx="8226300" cy="9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orders of operands in infix and postfix are the same.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+ b * c, * &gt; 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43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43"/>
          <p:cNvSpPr txBox="1"/>
          <p:nvPr/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1" name="Google Shape;49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8900" y="393700"/>
            <a:ext cx="6997700" cy="6286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43"/>
          <p:cNvSpPr txBox="1"/>
          <p:nvPr/>
        </p:nvSpPr>
        <p:spPr>
          <a:xfrm>
            <a:off x="1382712" y="6491287"/>
            <a:ext cx="36147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i="0" lang="en-US" sz="18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8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Translation of a*(b+c)*d to postfix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43"/>
          <p:cNvSpPr txBox="1"/>
          <p:nvPr/>
        </p:nvSpPr>
        <p:spPr>
          <a:xfrm>
            <a:off x="3751262" y="-60325"/>
            <a:ext cx="202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*</a:t>
            </a:r>
            <a:r>
              <a:rPr b="0" baseline="-25000" i="0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(b +c) *</a:t>
            </a:r>
            <a:r>
              <a:rPr b="0" baseline="-25000" i="0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43"/>
          <p:cNvSpPr txBox="1"/>
          <p:nvPr/>
        </p:nvSpPr>
        <p:spPr>
          <a:xfrm>
            <a:off x="3857625" y="4359275"/>
            <a:ext cx="110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match 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43"/>
          <p:cNvSpPr txBox="1"/>
          <p:nvPr/>
        </p:nvSpPr>
        <p:spPr>
          <a:xfrm>
            <a:off x="3895725" y="4803775"/>
            <a:ext cx="1016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r>
              <a:rPr b="0" baseline="-2500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*</a:t>
            </a:r>
            <a:r>
              <a:rPr b="0" baseline="-2500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44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44"/>
          <p:cNvSpPr txBox="1"/>
          <p:nvPr/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44"/>
          <p:cNvSpPr txBox="1"/>
          <p:nvPr/>
        </p:nvSpPr>
        <p:spPr>
          <a:xfrm>
            <a:off x="2066925" y="473075"/>
            <a:ext cx="9921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44"/>
          <p:cNvSpPr txBox="1"/>
          <p:nvPr/>
        </p:nvSpPr>
        <p:spPr>
          <a:xfrm>
            <a:off x="1152525" y="1031875"/>
            <a:ext cx="7905900" cy="3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(1)	Operators are taken out of the stack as long as their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in-stack precedence</a:t>
            </a: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</a:t>
            </a: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higher than or equal to </a:t>
            </a:r>
            <a:r>
              <a:rPr b="0" i="0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incoming precedence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the new operator.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(2)	</a:t>
            </a:r>
            <a:r>
              <a:rPr b="0" i="0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has </a:t>
            </a: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 </a:t>
            </a:r>
            <a:r>
              <a:rPr b="0" i="0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in-stack precedence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</a:t>
            </a: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</a:t>
            </a:r>
            <a:r>
              <a:rPr b="0" i="0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incoming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precedence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)	+	-	*	/	%	eos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isp	</a:t>
            </a:r>
            <a:r>
              <a:rPr b="0" i="0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19	12 	12	13	13	13	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icp	</a:t>
            </a:r>
            <a:r>
              <a:rPr b="0" i="0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19	12	12	13	13	13	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45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45"/>
          <p:cNvSpPr txBox="1"/>
          <p:nvPr/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45"/>
          <p:cNvSpPr txBox="1"/>
          <p:nvPr>
            <p:ph type="title"/>
          </p:nvPr>
        </p:nvSpPr>
        <p:spPr>
          <a:xfrm>
            <a:off x="1173162" y="457200"/>
            <a:ext cx="7677300" cy="531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precedence stack[MAX_STACK_SIZE];</a:t>
            </a:r>
            <a:b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/* isp and icp arrays -- index is value of precedence</a:t>
            </a:r>
            <a:b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lparen, rparen, plus, minus, times, divide, mod, eos */</a:t>
            </a:r>
            <a:b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int isp [ ] = {</a:t>
            </a:r>
            <a:r>
              <a:rPr b="0" i="0" lang="en-US" sz="240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19, 12, 12, 13, 13, 13, 0};</a:t>
            </a:r>
            <a:b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int icp [ ] = {</a:t>
            </a:r>
            <a:r>
              <a:rPr b="0" i="0" lang="en-US" sz="2400" u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19, 12, 12, 13, 13, 13, 0};</a:t>
            </a:r>
            <a:b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</p:txBody>
      </p:sp>
      <p:sp>
        <p:nvSpPr>
          <p:cNvPr id="511" name="Google Shape;511;p45"/>
          <p:cNvSpPr txBox="1"/>
          <p:nvPr/>
        </p:nvSpPr>
        <p:spPr>
          <a:xfrm>
            <a:off x="1368425" y="4029075"/>
            <a:ext cx="3559200" cy="8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isp: in-stack precedence</a:t>
            </a:r>
            <a:endParaRPr b="0" i="0" sz="24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icp: incoming precedence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46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46"/>
          <p:cNvSpPr txBox="1"/>
          <p:nvPr/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46"/>
          <p:cNvSpPr txBox="1"/>
          <p:nvPr>
            <p:ph type="title"/>
          </p:nvPr>
        </p:nvSpPr>
        <p:spPr>
          <a:xfrm>
            <a:off x="1173162" y="457200"/>
            <a:ext cx="7970700" cy="56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postfix(void)</a:t>
            </a:r>
            <a:br>
              <a:rPr b="0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br>
              <a:rPr b="0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/* output the postfix of the expression. The expression string, the stack, and top are global */</a:t>
            </a:r>
            <a:br>
              <a:rPr b="0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char symbol;</a:t>
            </a:r>
            <a:br>
              <a:rPr b="0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precedence token;</a:t>
            </a:r>
            <a:br>
              <a:rPr b="0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int n = 0;</a:t>
            </a:r>
            <a:br>
              <a:rPr b="0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int top = 0; /* place eos on stack */</a:t>
            </a:r>
            <a:br>
              <a:rPr b="0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stack[0] = eos;</a:t>
            </a:r>
            <a:br>
              <a:rPr b="0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for (token = get _token(&amp;symbol, &amp;n); token != eos;</a:t>
            </a:r>
            <a:br>
              <a:rPr b="0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token = get_token(&amp;symbol, &amp;n)) {</a:t>
            </a:r>
            <a:br>
              <a:rPr b="0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if (token == operand)</a:t>
            </a:r>
            <a:br>
              <a:rPr b="0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printf (“%c”, symbol);</a:t>
            </a:r>
            <a:br>
              <a:rPr b="0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else if (token == rparen ){</a:t>
            </a:r>
            <a:br>
              <a:rPr b="0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47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47"/>
          <p:cNvSpPr txBox="1"/>
          <p:nvPr/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47"/>
          <p:cNvSpPr txBox="1"/>
          <p:nvPr>
            <p:ph type="title"/>
          </p:nvPr>
        </p:nvSpPr>
        <p:spPr>
          <a:xfrm>
            <a:off x="1147762" y="-979487"/>
            <a:ext cx="7578600" cy="760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b="0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/*unstack tokens until left parenthesis */</a:t>
            </a:r>
            <a:br>
              <a:rPr b="0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while (stack[top] != lparen)</a:t>
            </a:r>
            <a:br>
              <a:rPr b="0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print_token(delete(&amp;top));</a:t>
            </a:r>
            <a:br>
              <a:rPr b="0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delete(&amp;top); /*discard the left parenthesis */</a:t>
            </a:r>
            <a:br>
              <a:rPr b="0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}</a:t>
            </a:r>
            <a:br>
              <a:rPr b="0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else{</a:t>
            </a:r>
            <a:br>
              <a:rPr b="0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/* remove and print symbols whose isp is greater</a:t>
            </a:r>
            <a:br>
              <a:rPr b="0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than or equal to the current token’s icp */</a:t>
            </a:r>
            <a:br>
              <a:rPr b="0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while(isp[stack[top]] &gt;= icp[token] )</a:t>
            </a:r>
            <a:br>
              <a:rPr b="0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print_token(delete(&amp;top));</a:t>
            </a:r>
            <a:br>
              <a:rPr b="0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add(&amp;top, token);</a:t>
            </a:r>
            <a:br>
              <a:rPr b="0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}</a:t>
            </a:r>
            <a:br>
              <a:rPr b="0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}</a:t>
            </a:r>
            <a:br>
              <a:rPr b="0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while ((token = delete(&amp;top)) != eos)</a:t>
            </a:r>
            <a:br>
              <a:rPr b="0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print_token(token);</a:t>
            </a:r>
            <a:br>
              <a:rPr b="0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print(“\n”);</a:t>
            </a:r>
            <a:br>
              <a:rPr b="0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br>
              <a:rPr b="0" i="0" lang="en-US" sz="1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8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 to convert from infix to postfix </a:t>
            </a:r>
            <a:r>
              <a:rPr b="0" i="0" lang="en-US" sz="2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ds Tie.pot">
  <a:themeElements>
    <a:clrScheme name="Dads Tie.pot 2">
      <a:dk1>
        <a:srgbClr val="000000"/>
      </a:dk1>
      <a:lt1>
        <a:srgbClr val="FFFFFF"/>
      </a:lt1>
      <a:dk2>
        <a:srgbClr val="003366"/>
      </a:dk2>
      <a:lt2>
        <a:srgbClr val="5490A8"/>
      </a:lt2>
      <a:accent1>
        <a:srgbClr val="0099CC"/>
      </a:accent1>
      <a:accent2>
        <a:srgbClr val="3366CC"/>
      </a:accent2>
      <a:accent3>
        <a:srgbClr val="FFFFFF"/>
      </a:accent3>
      <a:accent4>
        <a:srgbClr val="000000"/>
      </a:accent4>
      <a:accent5>
        <a:srgbClr val="AACAE2"/>
      </a:accent5>
      <a:accent6>
        <a:srgbClr val="2D5CB9"/>
      </a:accent6>
      <a:hlink>
        <a:srgbClr val="99CCFF"/>
      </a:hlink>
      <a:folHlink>
        <a:srgbClr val="E1E1B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