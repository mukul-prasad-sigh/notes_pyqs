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7" r:id="rId3"/>
    <p:sldId id="462" r:id="rId5"/>
    <p:sldId id="470" r:id="rId6"/>
    <p:sldId id="536" r:id="rId7"/>
    <p:sldId id="463" r:id="rId8"/>
    <p:sldId id="551" r:id="rId9"/>
    <p:sldId id="537" r:id="rId10"/>
    <p:sldId id="550" r:id="rId11"/>
    <p:sldId id="483" r:id="rId12"/>
    <p:sldId id="488" r:id="rId13"/>
    <p:sldId id="552" r:id="rId14"/>
    <p:sldId id="489" r:id="rId15"/>
    <p:sldId id="553" r:id="rId16"/>
    <p:sldId id="490" r:id="rId17"/>
    <p:sldId id="491" r:id="rId18"/>
    <p:sldId id="554" r:id="rId19"/>
    <p:sldId id="492" r:id="rId20"/>
    <p:sldId id="538" r:id="rId21"/>
    <p:sldId id="494" r:id="rId22"/>
    <p:sldId id="495" r:id="rId23"/>
    <p:sldId id="498" r:id="rId24"/>
    <p:sldId id="497" r:id="rId25"/>
    <p:sldId id="464" r:id="rId26"/>
    <p:sldId id="555" r:id="rId27"/>
    <p:sldId id="557" r:id="rId28"/>
    <p:sldId id="501" r:id="rId29"/>
    <p:sldId id="556" r:id="rId30"/>
    <p:sldId id="544" r:id="rId31"/>
    <p:sldId id="505" r:id="rId32"/>
    <p:sldId id="506" r:id="rId33"/>
    <p:sldId id="507" r:id="rId34"/>
    <p:sldId id="558" r:id="rId35"/>
    <p:sldId id="508" r:id="rId36"/>
    <p:sldId id="510" r:id="rId37"/>
    <p:sldId id="559" r:id="rId38"/>
    <p:sldId id="509" r:id="rId39"/>
    <p:sldId id="513" r:id="rId40"/>
    <p:sldId id="547" r:id="rId41"/>
    <p:sldId id="514" r:id="rId42"/>
    <p:sldId id="546" r:id="rId43"/>
    <p:sldId id="545" r:id="rId44"/>
    <p:sldId id="511" r:id="rId45"/>
    <p:sldId id="560" r:id="rId46"/>
    <p:sldId id="561" r:id="rId47"/>
    <p:sldId id="515" r:id="rId48"/>
    <p:sldId id="516" r:id="rId49"/>
    <p:sldId id="517" r:id="rId50"/>
    <p:sldId id="562" r:id="rId51"/>
    <p:sldId id="563" r:id="rId52"/>
    <p:sldId id="518" r:id="rId53"/>
    <p:sldId id="519" r:id="rId54"/>
    <p:sldId id="521" r:id="rId55"/>
    <p:sldId id="520" r:id="rId56"/>
    <p:sldId id="522" r:id="rId57"/>
    <p:sldId id="523" r:id="rId58"/>
    <p:sldId id="524" r:id="rId59"/>
    <p:sldId id="525" r:id="rId60"/>
    <p:sldId id="526" r:id="rId61"/>
    <p:sldId id="527" r:id="rId62"/>
    <p:sldId id="528" r:id="rId63"/>
    <p:sldId id="529" r:id="rId64"/>
    <p:sldId id="565" r:id="rId65"/>
    <p:sldId id="530" r:id="rId66"/>
    <p:sldId id="531" r:id="rId67"/>
    <p:sldId id="532" r:id="rId68"/>
    <p:sldId id="566" r:id="rId69"/>
    <p:sldId id="533" r:id="rId70"/>
    <p:sldId id="534" r:id="rId71"/>
    <p:sldId id="564" r:id="rId72"/>
  </p:sldIdLst>
  <p:sldSz cx="12192000" cy="6858000"/>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88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1" d="100"/>
          <a:sy n="81" d="100"/>
        </p:scale>
        <p:origin x="725" y="53"/>
      </p:cViewPr>
      <p:guideLst>
        <p:guide orient="horz" pos="288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36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
        <p:cNvGrpSpPr/>
        <p:nvPr/>
      </p:nvGrpSpPr>
      <p:grpSpPr>
        <a:xfrm>
          <a:off x="0" y="0"/>
          <a:ext cx="0" cy="0"/>
          <a:chOff x="0" y="0"/>
          <a:chExt cx="0" cy="0"/>
        </a:xfrm>
      </p:grpSpPr>
      <p:sp>
        <p:nvSpPr>
          <p:cNvPr id="24" name="Google Shape;24;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 name="Google Shape;2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913641" y="1025202"/>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2215299" y="1394534"/>
            <a:ext cx="7277493" cy="2308324"/>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UNIT 2</a:t>
            </a:r>
            <a:endParaRPr lang="en-US" sz="4800" dirty="0">
              <a:latin typeface="Times New Roman" panose="02020603050405020304" pitchFamily="18" charset="0"/>
              <a:cs typeface="Times New Roman" panose="02020603050405020304" pitchFamily="18" charset="0"/>
            </a:endParaRPr>
          </a:p>
          <a:p>
            <a:endParaRPr lang="en-US" sz="4800" dirty="0">
              <a:latin typeface="Times New Roman" panose="02020603050405020304" pitchFamily="18" charset="0"/>
              <a:cs typeface="Times New Roman" panose="02020603050405020304" pitchFamily="18" charset="0"/>
            </a:endParaRPr>
          </a:p>
          <a:p>
            <a:r>
              <a:rPr lang="en-US" sz="4800" dirty="0">
                <a:latin typeface="Times New Roman" panose="02020603050405020304" pitchFamily="18" charset="0"/>
                <a:cs typeface="Times New Roman" panose="02020603050405020304" pitchFamily="18" charset="0"/>
              </a:rPr>
              <a:t>Process management</a:t>
            </a:r>
            <a:endParaRPr lang="en-US" sz="4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4" name="TextBox 3"/>
          <p:cNvSpPr txBox="1"/>
          <p:nvPr/>
        </p:nvSpPr>
        <p:spPr>
          <a:xfrm>
            <a:off x="725864" y="1436132"/>
            <a:ext cx="10520313" cy="1938992"/>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Process Management</a:t>
            </a:r>
            <a:endParaRPr lang="en-US" sz="4000" dirty="0">
              <a:latin typeface="Times New Roman" panose="02020603050405020304" pitchFamily="18" charset="0"/>
              <a:cs typeface="Times New Roman" panose="02020603050405020304" pitchFamily="18" charset="0"/>
            </a:endParaRPr>
          </a:p>
          <a:p>
            <a:endParaRPr lang="en-US" sz="4000" dirty="0">
              <a:latin typeface="Times New Roman" panose="02020603050405020304" pitchFamily="18" charset="0"/>
              <a:cs typeface="Times New Roman" panose="02020603050405020304" pitchFamily="18" charset="0"/>
            </a:endParaRPr>
          </a:p>
          <a:p>
            <a:endParaRPr lang="en-US" sz="4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583873" y="2142955"/>
            <a:ext cx="9360916" cy="254024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Processes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75415" y="636782"/>
            <a:ext cx="11538409" cy="4114800"/>
          </a:xfrm>
          <a:prstGeom prst="rect">
            <a:avLst/>
          </a:prstGeom>
          <a:noFill/>
          <a:ln>
            <a:noFill/>
          </a:ln>
        </p:spPr>
        <p:txBody>
          <a:bodyPr spcFirstLastPara="1" wrap="square" lIns="91425" tIns="45700" rIns="91425" bIns="45700" anchor="t" anchorCtr="0">
            <a:noAutofit/>
          </a:bodyPr>
          <a:lstStyle/>
          <a:p>
            <a:pPr marL="342900" lvl="0" indent="-139700" algn="just">
              <a:buClr>
                <a:schemeClr val="dk1"/>
              </a:buClr>
              <a:buSzPts val="3200"/>
            </a:pPr>
            <a:r>
              <a:rPr lang="en-US" sz="2000" b="1" dirty="0">
                <a:solidFill>
                  <a:srgbClr val="FF0000"/>
                </a:solidFill>
                <a:latin typeface="Calibri" panose="020F0502020204030204"/>
                <a:ea typeface="Calibri" panose="020F0502020204030204"/>
                <a:cs typeface="Calibri" panose="020F0502020204030204"/>
                <a:sym typeface="Calibri" panose="020F0502020204030204"/>
              </a:rPr>
              <a:t>Early vs. Modern Systems</a:t>
            </a:r>
            <a:endParaRPr lang="en-US" sz="2000" b="1" dirty="0">
              <a:solidFill>
                <a:srgbClr val="FF0000"/>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r>
              <a:rPr lang="en-US" sz="2000" dirty="0">
                <a:solidFill>
                  <a:schemeClr val="dk1"/>
                </a:solidFill>
                <a:latin typeface="Calibri" panose="020F0502020204030204"/>
                <a:ea typeface="Calibri" panose="020F0502020204030204"/>
                <a:cs typeface="Calibri" panose="020F0502020204030204"/>
                <a:sym typeface="Calibri" panose="020F0502020204030204"/>
              </a:rPr>
              <a:t>Early computers executed only one program at a time, giving it full control over system resources. Modern systems allow multiple programs to reside in memory and run concurrently.</a:t>
            </a:r>
            <a:endParaRPr lang="en-US" sz="2000" dirty="0">
              <a:solidFill>
                <a:schemeClr val="dk1"/>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endParaRPr lang="en-US" sz="2000" dirty="0">
              <a:solidFill>
                <a:schemeClr val="dk1"/>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r>
              <a:rPr lang="en-US" sz="2000" dirty="0">
                <a:solidFill>
                  <a:schemeClr val="dk1"/>
                </a:solidFill>
                <a:latin typeface="Calibri" panose="020F0502020204030204"/>
                <a:ea typeface="Calibri" panose="020F0502020204030204"/>
                <a:cs typeface="Calibri" panose="020F0502020204030204"/>
                <a:sym typeface="Calibri" panose="020F0502020204030204"/>
              </a:rPr>
              <a:t>To manage multiple programs safely and efficiently, the concept of a process (a program in execution) was introduced. A process is the basic unit of work in modern time-sharing systems.</a:t>
            </a:r>
            <a:endParaRPr lang="en-US" sz="2000" dirty="0">
              <a:solidFill>
                <a:schemeClr val="dk1"/>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endParaRPr lang="en-US" sz="2000" dirty="0">
              <a:solidFill>
                <a:schemeClr val="dk1"/>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r>
              <a:rPr lang="en-US" sz="2000" b="1" dirty="0">
                <a:solidFill>
                  <a:srgbClr val="FF0000"/>
                </a:solidFill>
                <a:latin typeface="Calibri" panose="020F0502020204030204"/>
                <a:ea typeface="Calibri" panose="020F0502020204030204"/>
                <a:cs typeface="Calibri" panose="020F0502020204030204"/>
                <a:sym typeface="Calibri" panose="020F0502020204030204"/>
              </a:rPr>
              <a:t>System and User Processes</a:t>
            </a:r>
            <a:endParaRPr lang="en-US" sz="2000" b="1" dirty="0">
              <a:solidFill>
                <a:srgbClr val="FF0000"/>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r>
              <a:rPr lang="en-US" sz="2000" b="1" dirty="0">
                <a:solidFill>
                  <a:schemeClr val="dk1"/>
                </a:solidFill>
                <a:latin typeface="Calibri" panose="020F0502020204030204"/>
                <a:ea typeface="Calibri" panose="020F0502020204030204"/>
                <a:cs typeface="Calibri" panose="020F0502020204030204"/>
                <a:sym typeface="Calibri" panose="020F0502020204030204"/>
              </a:rPr>
              <a:t>A computer system consists of:</a:t>
            </a:r>
            <a:endParaRPr lang="en-US" sz="2000" b="1" dirty="0">
              <a:solidFill>
                <a:schemeClr val="dk1"/>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endParaRPr lang="en-US" sz="2000" b="1" dirty="0">
              <a:solidFill>
                <a:schemeClr val="dk1"/>
              </a:solidFill>
              <a:latin typeface="Calibri" panose="020F0502020204030204"/>
              <a:ea typeface="Calibri" panose="020F0502020204030204"/>
              <a:cs typeface="Calibri" panose="020F0502020204030204"/>
              <a:sym typeface="Calibri" panose="020F0502020204030204"/>
            </a:endParaRPr>
          </a:p>
          <a:p>
            <a:pPr marL="546100" lvl="0" indent="-342900" algn="just">
              <a:buClr>
                <a:schemeClr val="dk1"/>
              </a:buClr>
              <a:buSzPts val="3200"/>
              <a:buFont typeface="Wingdings" panose="05000000000000000000" pitchFamily="2" charset="2"/>
              <a:buChar char="ü"/>
            </a:pPr>
            <a:r>
              <a:rPr lang="en-US" sz="2000" b="1" dirty="0">
                <a:solidFill>
                  <a:schemeClr val="dk1"/>
                </a:solidFill>
                <a:latin typeface="Calibri" panose="020F0502020204030204"/>
                <a:ea typeface="Calibri" panose="020F0502020204030204"/>
                <a:cs typeface="Calibri" panose="020F0502020204030204"/>
                <a:sym typeface="Calibri" panose="020F0502020204030204"/>
              </a:rPr>
              <a:t>Operating system processes (execute system-level code)</a:t>
            </a:r>
            <a:endParaRPr lang="en-US" sz="2000" b="1" dirty="0">
              <a:solidFill>
                <a:schemeClr val="dk1"/>
              </a:solidFill>
              <a:latin typeface="Calibri" panose="020F0502020204030204"/>
              <a:ea typeface="Calibri" panose="020F0502020204030204"/>
              <a:cs typeface="Calibri" panose="020F0502020204030204"/>
              <a:sym typeface="Calibri" panose="020F0502020204030204"/>
            </a:endParaRPr>
          </a:p>
          <a:p>
            <a:pPr marL="546100" lvl="0" indent="-342900" algn="just">
              <a:buClr>
                <a:schemeClr val="dk1"/>
              </a:buClr>
              <a:buSzPts val="3200"/>
              <a:buFont typeface="Wingdings" panose="05000000000000000000" pitchFamily="2" charset="2"/>
              <a:buChar char="ü"/>
            </a:pPr>
            <a:r>
              <a:rPr lang="en-US" sz="2000" b="1" dirty="0">
                <a:solidFill>
                  <a:schemeClr val="dk1"/>
                </a:solidFill>
                <a:latin typeface="Calibri" panose="020F0502020204030204"/>
                <a:ea typeface="Calibri" panose="020F0502020204030204"/>
                <a:cs typeface="Calibri" panose="020F0502020204030204"/>
                <a:sym typeface="Calibri" panose="020F0502020204030204"/>
              </a:rPr>
              <a:t>User processes (execute user programs)</a:t>
            </a:r>
            <a:endParaRPr lang="en-US" sz="2000" b="1" dirty="0">
              <a:solidFill>
                <a:schemeClr val="dk1"/>
              </a:solidFill>
              <a:latin typeface="Calibri" panose="020F0502020204030204"/>
              <a:ea typeface="Calibri" panose="020F0502020204030204"/>
              <a:cs typeface="Calibri" panose="020F0502020204030204"/>
              <a:sym typeface="Calibri" panose="020F0502020204030204"/>
            </a:endParaRPr>
          </a:p>
          <a:p>
            <a:pPr marL="546100" lvl="0" indent="-342900" algn="just">
              <a:buClr>
                <a:schemeClr val="dk1"/>
              </a:buClr>
              <a:buSzPts val="3200"/>
              <a:buFont typeface="Wingdings" panose="05000000000000000000" pitchFamily="2" charset="2"/>
              <a:buChar char="ü"/>
            </a:pPr>
            <a:r>
              <a:rPr lang="en-US" sz="2000" b="1" dirty="0">
                <a:solidFill>
                  <a:schemeClr val="dk1"/>
                </a:solidFill>
                <a:latin typeface="Calibri" panose="020F0502020204030204"/>
                <a:ea typeface="Calibri" panose="020F0502020204030204"/>
                <a:cs typeface="Calibri" panose="020F0502020204030204"/>
                <a:sym typeface="Calibri" panose="020F0502020204030204"/>
              </a:rPr>
              <a:t>Both types may run concurrently.</a:t>
            </a:r>
            <a:endParaRPr lang="en-US" sz="2000" b="1" dirty="0">
              <a:solidFill>
                <a:schemeClr val="dk1"/>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endParaRPr lang="en-US" sz="2000" b="1" dirty="0">
              <a:solidFill>
                <a:schemeClr val="dk1"/>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r>
              <a:rPr lang="en-US" sz="2000" b="1" dirty="0">
                <a:solidFill>
                  <a:srgbClr val="FF0000"/>
                </a:solidFill>
                <a:latin typeface="Calibri" panose="020F0502020204030204"/>
                <a:ea typeface="Calibri" panose="020F0502020204030204"/>
                <a:cs typeface="Calibri" panose="020F0502020204030204"/>
                <a:sym typeface="Calibri" panose="020F0502020204030204"/>
              </a:rPr>
              <a:t>CPU Multiplexing and Productivity</a:t>
            </a:r>
            <a:endParaRPr lang="en-US" sz="2000" b="1" dirty="0">
              <a:solidFill>
                <a:srgbClr val="FF0000"/>
              </a:solidFill>
              <a:latin typeface="Calibri" panose="020F0502020204030204"/>
              <a:ea typeface="Calibri" panose="020F0502020204030204"/>
              <a:cs typeface="Calibri" panose="020F0502020204030204"/>
              <a:sym typeface="Calibri" panose="020F0502020204030204"/>
            </a:endParaRPr>
          </a:p>
          <a:p>
            <a:pPr marL="342900" lvl="0" indent="-139700" algn="just">
              <a:buClr>
                <a:schemeClr val="dk1"/>
              </a:buClr>
              <a:buSzPts val="3200"/>
            </a:pPr>
            <a:r>
              <a:rPr lang="en-US" sz="2000" b="1" dirty="0">
                <a:solidFill>
                  <a:schemeClr val="dk1"/>
                </a:solidFill>
                <a:latin typeface="Calibri" panose="020F0502020204030204"/>
                <a:ea typeface="Calibri" panose="020F0502020204030204"/>
                <a:cs typeface="Calibri" panose="020F0502020204030204"/>
                <a:sym typeface="Calibri" panose="020F0502020204030204"/>
              </a:rPr>
              <a:t>   The operating system switches the CPU among multiple processes (CPU multiplexing), allowing concurrent execution and improving overall system productivity.</a:t>
            </a:r>
            <a:endParaRPr sz="20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Concepts</a:t>
            </a:r>
            <a:endPar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TextBox 1"/>
          <p:cNvSpPr txBox="1"/>
          <p:nvPr/>
        </p:nvSpPr>
        <p:spPr>
          <a:xfrm>
            <a:off x="480768" y="999241"/>
            <a:ext cx="10737130" cy="2585323"/>
          </a:xfrm>
          <a:prstGeom prst="rect">
            <a:avLst/>
          </a:prstGeom>
          <a:noFill/>
        </p:spPr>
        <p:txBody>
          <a:bodyPr wrap="square" rtlCol="0">
            <a:spAutoFit/>
          </a:bodyPr>
          <a:lstStyle/>
          <a:p>
            <a:pPr marL="285750" indent="-285750" algn="just">
              <a:buFont typeface="Wingdings" panose="05000000000000000000" pitchFamily="2" charset="2"/>
              <a:buChar char="Ø"/>
            </a:pPr>
            <a:r>
              <a:rPr lang="en-US" sz="1800" b="1" dirty="0"/>
              <a:t>All CPU Activities Are Called Processes</a:t>
            </a:r>
            <a:endParaRPr lang="en-US" sz="1800" b="1" dirty="0"/>
          </a:p>
          <a:p>
            <a:pPr algn="just"/>
            <a:r>
              <a:rPr lang="en-US" sz="1800" dirty="0"/>
              <a:t>Whether it is a batch job, a user program (like a browser or word processor), or internal operating system tasks (such as memory management), all these CPU activities are similar in nature. Therefore, they are collectively referred to as processes.</a:t>
            </a:r>
            <a:endParaRPr lang="en-US" sz="1800" dirty="0"/>
          </a:p>
          <a:p>
            <a:pPr marL="285750" indent="-285750" algn="just">
              <a:buFont typeface="Wingdings" panose="05000000000000000000" pitchFamily="2" charset="2"/>
              <a:buChar char="Ø"/>
            </a:pPr>
            <a:endParaRPr lang="en-US" sz="1800" dirty="0"/>
          </a:p>
          <a:p>
            <a:pPr marL="285750" indent="-285750" algn="just">
              <a:buFont typeface="Wingdings" panose="05000000000000000000" pitchFamily="2" charset="2"/>
              <a:buChar char="Ø"/>
            </a:pPr>
            <a:r>
              <a:rPr lang="en-US" sz="1800" b="1" dirty="0"/>
              <a:t>Job vs. Process Terminology</a:t>
            </a:r>
            <a:endParaRPr lang="en-US" sz="1800" b="1" dirty="0"/>
          </a:p>
          <a:p>
            <a:pPr algn="just"/>
            <a:r>
              <a:rPr lang="en-US" sz="1800" dirty="0"/>
              <a:t>The terms job and process are often used interchangeably. Historically, operating systems focused on job processing, which is why terms like job scheduling are still used, even though process is the more modern and preferred term.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Process Concept</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904973" y="1608537"/>
            <a:ext cx="10520314" cy="4401205"/>
          </a:xfrm>
          <a:prstGeom prst="rect">
            <a:avLst/>
          </a:prstGeom>
          <a:noFill/>
        </p:spPr>
        <p:txBody>
          <a:bodyPr wrap="square">
            <a:spAutoFit/>
          </a:bodyPr>
          <a:lstStyle/>
          <a:p>
            <a:r>
              <a:rPr lang="en-US" sz="2000" b="1" dirty="0"/>
              <a:t>A process includes:</a:t>
            </a:r>
            <a:endParaRPr lang="en-US" sz="2000" b="1" dirty="0"/>
          </a:p>
          <a:p>
            <a:endParaRPr lang="en-US" sz="2000" b="1" dirty="0"/>
          </a:p>
          <a:p>
            <a:pPr marL="342900" indent="-342900">
              <a:buFont typeface="Wingdings" panose="05000000000000000000" pitchFamily="2" charset="2"/>
              <a:buChar char="§"/>
            </a:pPr>
            <a:r>
              <a:rPr lang="en-US" sz="2000" b="1" dirty="0"/>
              <a:t>Text section (program code)</a:t>
            </a:r>
            <a:endParaRPr lang="en-US" sz="2000" b="1" dirty="0"/>
          </a:p>
          <a:p>
            <a:pPr marL="342900" indent="-342900">
              <a:buFont typeface="Wingdings" panose="05000000000000000000" pitchFamily="2" charset="2"/>
              <a:buChar char="§"/>
            </a:pPr>
            <a:endParaRPr lang="en-US" sz="2000" b="1" dirty="0"/>
          </a:p>
          <a:p>
            <a:pPr marL="342900" indent="-342900">
              <a:buFont typeface="Wingdings" panose="05000000000000000000" pitchFamily="2" charset="2"/>
              <a:buChar char="§"/>
            </a:pPr>
            <a:r>
              <a:rPr lang="en-US" sz="2000" b="1" dirty="0"/>
              <a:t>Program counter (address of the next instruction to execute)</a:t>
            </a:r>
            <a:endParaRPr lang="en-US" sz="2000" b="1" dirty="0"/>
          </a:p>
          <a:p>
            <a:pPr marL="342900" indent="-342900">
              <a:buFont typeface="Wingdings" panose="05000000000000000000" pitchFamily="2" charset="2"/>
              <a:buChar char="§"/>
            </a:pPr>
            <a:endParaRPr lang="en-US" sz="2000" b="1" dirty="0"/>
          </a:p>
          <a:p>
            <a:pPr marL="342900" indent="-342900">
              <a:buFont typeface="Wingdings" panose="05000000000000000000" pitchFamily="2" charset="2"/>
              <a:buChar char="§"/>
            </a:pPr>
            <a:r>
              <a:rPr lang="en-US" sz="2000" b="1" dirty="0"/>
              <a:t>CPU registers (current working state of the processor)</a:t>
            </a:r>
            <a:endParaRPr lang="en-US" sz="2000" b="1" dirty="0"/>
          </a:p>
          <a:p>
            <a:pPr marL="342900" indent="-342900">
              <a:buFont typeface="Wingdings" panose="05000000000000000000" pitchFamily="2" charset="2"/>
              <a:buChar char="§"/>
            </a:pPr>
            <a:endParaRPr lang="en-US" sz="2000" b="1" dirty="0"/>
          </a:p>
          <a:p>
            <a:pPr marL="342900" indent="-342900">
              <a:buFont typeface="Wingdings" panose="05000000000000000000" pitchFamily="2" charset="2"/>
              <a:buChar char="§"/>
            </a:pPr>
            <a:r>
              <a:rPr lang="en-US" sz="2000" b="1" dirty="0"/>
              <a:t>Stack (temporary data such as function parameters, return addresses, local variables)</a:t>
            </a:r>
            <a:endParaRPr lang="en-US" sz="2000" b="1" dirty="0"/>
          </a:p>
          <a:p>
            <a:pPr marL="342900" indent="-342900">
              <a:buFont typeface="Wingdings" panose="05000000000000000000" pitchFamily="2" charset="2"/>
              <a:buChar char="§"/>
            </a:pPr>
            <a:endParaRPr lang="en-US" sz="2000" b="1" dirty="0"/>
          </a:p>
          <a:p>
            <a:pPr marL="342900" indent="-342900">
              <a:buFont typeface="Wingdings" panose="05000000000000000000" pitchFamily="2" charset="2"/>
              <a:buChar char="§"/>
            </a:pPr>
            <a:r>
              <a:rPr lang="en-US" sz="2000" b="1" dirty="0"/>
              <a:t>Data section (global variables)</a:t>
            </a:r>
            <a:endParaRPr lang="en-US" sz="2000" b="1" dirty="0"/>
          </a:p>
          <a:p>
            <a:pPr marL="342900" indent="-342900">
              <a:buFont typeface="Wingdings" panose="05000000000000000000" pitchFamily="2" charset="2"/>
              <a:buChar char="§"/>
            </a:pPr>
            <a:endParaRPr lang="en-US" sz="2000" b="1" dirty="0"/>
          </a:p>
          <a:p>
            <a:pPr marL="342900" indent="-342900">
              <a:buFont typeface="Wingdings" panose="05000000000000000000" pitchFamily="2" charset="2"/>
              <a:buChar char="§"/>
            </a:pPr>
            <a:r>
              <a:rPr lang="en-US" sz="2000" b="1" dirty="0"/>
              <a:t>Heap (dynamically allocated memory during execution)</a:t>
            </a:r>
            <a:endParaRPr lang="en-US" sz="2000" b="1" dirty="0"/>
          </a:p>
        </p:txBody>
      </p:sp>
      <p:sp>
        <p:nvSpPr>
          <p:cNvPr id="4" name="TextBox 3"/>
          <p:cNvSpPr txBox="1"/>
          <p:nvPr/>
        </p:nvSpPr>
        <p:spPr>
          <a:xfrm>
            <a:off x="904973" y="989814"/>
            <a:ext cx="7400041" cy="461665"/>
          </a:xfrm>
          <a:prstGeom prst="rect">
            <a:avLst/>
          </a:prstGeom>
          <a:noFill/>
        </p:spPr>
        <p:txBody>
          <a:bodyPr wrap="square" rtlCol="0">
            <a:spAutoFit/>
          </a:bodyPr>
          <a:lstStyle/>
          <a:p>
            <a:r>
              <a:rPr lang="en-US" sz="2400" dirty="0"/>
              <a:t>Process: Program Under Execution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810705" y="1219200"/>
            <a:ext cx="10718276" cy="4114800"/>
          </a:xfrm>
          <a:prstGeom prst="rect">
            <a:avLst/>
          </a:prstGeom>
          <a:noFill/>
          <a:ln>
            <a:noFill/>
          </a:ln>
        </p:spPr>
        <p:txBody>
          <a:bodyPr spcFirstLastPara="1" wrap="square" lIns="91425" tIns="45700" rIns="91425" bIns="45700" anchor="t" anchorCtr="0">
            <a:normAutofit fontScale="85000" lnSpcReduction="20000"/>
          </a:bodyPr>
          <a:lstStyle/>
          <a:p>
            <a:pPr lvl="0" algn="just" eaLnBrk="0" fontAlgn="base" hangingPunct="0">
              <a:spcBef>
                <a:spcPct val="0"/>
              </a:spcBef>
              <a:spcAft>
                <a:spcPct val="0"/>
              </a:spcAft>
              <a:buClrTx/>
            </a:pPr>
            <a:r>
              <a:rPr lang="en-US" altLang="en-US" sz="3200" dirty="0">
                <a:solidFill>
                  <a:schemeClr val="tx1"/>
                </a:solidFill>
                <a:latin typeface="Times New Roman" panose="02020603050405020304" pitchFamily="18" charset="0"/>
                <a:cs typeface="Times New Roman" panose="02020603050405020304" pitchFamily="18" charset="0"/>
              </a:rPr>
              <a:t>A process is much more than just the program code. It consists of several distinct parts in memory:</a:t>
            </a:r>
            <a:endParaRPr lang="en-US" altLang="en-US" sz="32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ClrTx/>
              <a:buFont typeface="+mj-lt"/>
              <a:buAutoNum type="arabicPeriod"/>
            </a:pPr>
            <a:r>
              <a:rPr lang="en-US" altLang="en-US" sz="3200" b="1" dirty="0">
                <a:solidFill>
                  <a:schemeClr val="tx1"/>
                </a:solidFill>
                <a:latin typeface="Times New Roman" panose="02020603050405020304" pitchFamily="18" charset="0"/>
                <a:cs typeface="Times New Roman" panose="02020603050405020304" pitchFamily="18" charset="0"/>
              </a:rPr>
              <a:t>Text Section:</a:t>
            </a:r>
            <a:r>
              <a:rPr lang="en-US" altLang="en-US" sz="3200" dirty="0">
                <a:solidFill>
                  <a:schemeClr val="tx1"/>
                </a:solidFill>
                <a:latin typeface="Times New Roman" panose="02020603050405020304" pitchFamily="18" charset="0"/>
                <a:cs typeface="Times New Roman" panose="02020603050405020304" pitchFamily="18" charset="0"/>
              </a:rPr>
              <a:t> The compiled program code itself.</a:t>
            </a:r>
            <a:endParaRPr lang="en-US" altLang="en-US" sz="32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ClrTx/>
              <a:buFont typeface="+mj-lt"/>
              <a:buAutoNum type="arabicPeriod"/>
            </a:pPr>
            <a:r>
              <a:rPr lang="en-US" altLang="en-US" sz="3200" b="1" dirty="0">
                <a:solidFill>
                  <a:schemeClr val="tx1"/>
                </a:solidFill>
                <a:latin typeface="Times New Roman" panose="02020603050405020304" pitchFamily="18" charset="0"/>
                <a:cs typeface="Times New Roman" panose="02020603050405020304" pitchFamily="18" charset="0"/>
              </a:rPr>
              <a:t>Current Activity:</a:t>
            </a:r>
            <a:r>
              <a:rPr lang="en-US" altLang="en-US" sz="3200" dirty="0">
                <a:solidFill>
                  <a:schemeClr val="tx1"/>
                </a:solidFill>
                <a:latin typeface="Times New Roman" panose="02020603050405020304" pitchFamily="18" charset="0"/>
                <a:cs typeface="Times New Roman" panose="02020603050405020304" pitchFamily="18" charset="0"/>
              </a:rPr>
              <a:t> Represented by the </a:t>
            </a:r>
            <a:r>
              <a:rPr lang="en-US" altLang="en-US" sz="3200" b="1" dirty="0">
                <a:solidFill>
                  <a:schemeClr val="tx1"/>
                </a:solidFill>
                <a:latin typeface="Times New Roman" panose="02020603050405020304" pitchFamily="18" charset="0"/>
                <a:cs typeface="Times New Roman" panose="02020603050405020304" pitchFamily="18" charset="0"/>
              </a:rPr>
              <a:t>Program Counter</a:t>
            </a:r>
            <a:r>
              <a:rPr lang="en-US" altLang="en-US" sz="3200" dirty="0">
                <a:solidFill>
                  <a:schemeClr val="tx1"/>
                </a:solidFill>
                <a:latin typeface="Times New Roman" panose="02020603050405020304" pitchFamily="18" charset="0"/>
                <a:cs typeface="Times New Roman" panose="02020603050405020304" pitchFamily="18" charset="0"/>
              </a:rPr>
              <a:t> (which tracks the next instruction to execute) and the contents of the processor's registers.</a:t>
            </a:r>
            <a:endParaRPr lang="en-US" altLang="en-US" sz="32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ClrTx/>
              <a:buFont typeface="+mj-lt"/>
              <a:buAutoNum type="arabicPeriod"/>
            </a:pPr>
            <a:r>
              <a:rPr lang="en-US" altLang="en-US" sz="3200" b="1" dirty="0">
                <a:solidFill>
                  <a:schemeClr val="tx1"/>
                </a:solidFill>
                <a:latin typeface="Times New Roman" panose="02020603050405020304" pitchFamily="18" charset="0"/>
                <a:cs typeface="Times New Roman" panose="02020603050405020304" pitchFamily="18" charset="0"/>
              </a:rPr>
              <a:t>Stack:</a:t>
            </a:r>
            <a:r>
              <a:rPr lang="en-US" altLang="en-US" sz="3200" dirty="0">
                <a:solidFill>
                  <a:schemeClr val="tx1"/>
                </a:solidFill>
                <a:latin typeface="Times New Roman" panose="02020603050405020304" pitchFamily="18" charset="0"/>
                <a:cs typeface="Times New Roman" panose="02020603050405020304" pitchFamily="18" charset="0"/>
              </a:rPr>
              <a:t> Contains temporary data, such as function parameters, return addresses, and local variables.</a:t>
            </a:r>
            <a:endParaRPr lang="en-US" altLang="en-US" sz="32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ClrTx/>
              <a:buFont typeface="+mj-lt"/>
              <a:buAutoNum type="arabicPeriod"/>
            </a:pPr>
            <a:r>
              <a:rPr lang="en-US" altLang="en-US" sz="3200" b="1" dirty="0">
                <a:solidFill>
                  <a:schemeClr val="tx1"/>
                </a:solidFill>
                <a:latin typeface="Times New Roman" panose="02020603050405020304" pitchFamily="18" charset="0"/>
                <a:cs typeface="Times New Roman" panose="02020603050405020304" pitchFamily="18" charset="0"/>
              </a:rPr>
              <a:t>Data Section:</a:t>
            </a:r>
            <a:r>
              <a:rPr lang="en-US" altLang="en-US" sz="3200" dirty="0">
                <a:solidFill>
                  <a:schemeClr val="tx1"/>
                </a:solidFill>
                <a:latin typeface="Times New Roman" panose="02020603050405020304" pitchFamily="18" charset="0"/>
                <a:cs typeface="Times New Roman" panose="02020603050405020304" pitchFamily="18" charset="0"/>
              </a:rPr>
              <a:t> Contains all the global variables used by the program.</a:t>
            </a:r>
            <a:endParaRPr lang="en-US" altLang="en-US" sz="3200" dirty="0">
              <a:solidFill>
                <a:schemeClr val="tx1"/>
              </a:solidFill>
              <a:latin typeface="Times New Roman" panose="02020603050405020304" pitchFamily="18" charset="0"/>
              <a:cs typeface="Times New Roman" panose="02020603050405020304" pitchFamily="18" charset="0"/>
            </a:endParaRPr>
          </a:p>
          <a:p>
            <a:pPr marL="514350" lvl="0" indent="-514350" algn="just" eaLnBrk="0" fontAlgn="base" hangingPunct="0">
              <a:spcBef>
                <a:spcPct val="0"/>
              </a:spcBef>
              <a:spcAft>
                <a:spcPct val="0"/>
              </a:spcAft>
              <a:buClrTx/>
              <a:buFont typeface="+mj-lt"/>
              <a:buAutoNum type="arabicPeriod"/>
            </a:pPr>
            <a:r>
              <a:rPr lang="en-US" altLang="en-US" sz="3200" b="1" dirty="0">
                <a:solidFill>
                  <a:schemeClr val="tx1"/>
                </a:solidFill>
                <a:latin typeface="Times New Roman" panose="02020603050405020304" pitchFamily="18" charset="0"/>
                <a:cs typeface="Times New Roman" panose="02020603050405020304" pitchFamily="18" charset="0"/>
              </a:rPr>
              <a:t>Heap:</a:t>
            </a:r>
            <a:r>
              <a:rPr lang="en-US" altLang="en-US" sz="3200" dirty="0">
                <a:solidFill>
                  <a:schemeClr val="tx1"/>
                </a:solidFill>
                <a:latin typeface="Times New Roman" panose="02020603050405020304" pitchFamily="18" charset="0"/>
                <a:cs typeface="Times New Roman" panose="02020603050405020304" pitchFamily="18" charset="0"/>
              </a:rPr>
              <a:t> Memory that is dynamically allocated to the process while it is running.</a:t>
            </a:r>
            <a:endParaRPr lang="en-US" altLang="en-US" sz="3200" dirty="0">
              <a:solidFill>
                <a:schemeClr val="tx1"/>
              </a:solidFill>
              <a:latin typeface="Times New Roman" panose="02020603050405020304" pitchFamily="18" charset="0"/>
              <a:cs typeface="Times New Roman" panose="02020603050405020304" pitchFamily="18" charset="0"/>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29" y="0"/>
            <a:ext cx="8610599" cy="707886"/>
          </a:xfrm>
          <a:prstGeom prst="rect">
            <a:avLst/>
          </a:prstGeom>
          <a:noFill/>
        </p:spPr>
        <p:txBody>
          <a:bodyPr wrap="square" rtlCol="0">
            <a:spAutoFit/>
          </a:bodyPr>
          <a:lstStyle/>
          <a:p>
            <a:r>
              <a:rPr lang="en-US" sz="4000" b="1" dirty="0">
                <a:solidFill>
                  <a:schemeClr val="bg1"/>
                </a:solidFill>
                <a:latin typeface="Times New Roman" panose="02020603050405020304" pitchFamily="18" charset="0"/>
                <a:cs typeface="Times New Roman" panose="02020603050405020304" pitchFamily="18" charset="0"/>
              </a:rPr>
              <a:t>Anatomy of a Process in the memory</a:t>
            </a:r>
            <a:endParaRPr lang="en-US" sz="40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29" y="0"/>
            <a:ext cx="8691513"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Program Versus Process and Multiple Instances</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189695" y="495405"/>
            <a:ext cx="10869930"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Passive vs. Active: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a:t>
            </a:r>
            <a:r>
              <a:rPr kumimoji="0" lang="en-US" altLang="en-US" sz="2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passive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entity—just a file containing a list of instructions stored on a disk (an executable file).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a:t>
            </a:r>
            <a:r>
              <a:rPr kumimoji="0" lang="en-US" altLang="en-US" sz="2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active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entity—it has a program counter and associated resources.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it starts: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program becomes a process when the executable file is loaded into memory (e.g., by double-clicking an icon or typing the file name in a command line).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Instances: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 can run the same program multiple times (e.g., opening several web browser windows).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Each instance is a </a:t>
            </a:r>
            <a:r>
              <a:rPr kumimoji="0" lang="en-US" altLang="en-US" sz="2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completely separate process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While they have the exact same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Text (code)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section, their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Heap, and Stack</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sections are entirely separate and unique.</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29" y="0"/>
            <a:ext cx="8691513"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Process as Execution Environment</a:t>
            </a:r>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189695" y="710849"/>
            <a:ext cx="1086993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lgn="just" eaLnBrk="0" fontAlgn="base" hangingPunct="0">
              <a:spcBef>
                <a:spcPct val="0"/>
              </a:spcBef>
              <a:spcAft>
                <a:spcPct val="0"/>
              </a:spcAft>
              <a:buClrTx/>
            </a:pPr>
            <a:r>
              <a:rPr lang="en-US" altLang="en-US" sz="2800" b="1">
                <a:latin typeface="Times New Roman" panose="02020603050405020304" pitchFamily="18" charset="0"/>
                <a:cs typeface="Times New Roman" panose="02020603050405020304" pitchFamily="18" charset="0"/>
              </a:rPr>
              <a:t>Meta-Processes:</a:t>
            </a:r>
            <a:r>
              <a:rPr lang="en-US" altLang="en-US" sz="2800">
                <a:latin typeface="Times New Roman" panose="02020603050405020304" pitchFamily="18" charset="0"/>
                <a:cs typeface="Times New Roman" panose="02020603050405020304" pitchFamily="18" charset="0"/>
              </a:rPr>
              <a:t> A process itself can serve as an execution environment for </a:t>
            </a:r>
            <a:r>
              <a:rPr lang="en-US" altLang="en-US" sz="2800" i="1">
                <a:latin typeface="Times New Roman" panose="02020603050405020304" pitchFamily="18" charset="0"/>
                <a:cs typeface="Times New Roman" panose="02020603050405020304" pitchFamily="18" charset="0"/>
              </a:rPr>
              <a:t>other</a:t>
            </a:r>
            <a:r>
              <a:rPr lang="en-US" altLang="en-US" sz="2800">
                <a:latin typeface="Times New Roman" panose="02020603050405020304" pitchFamily="18" charset="0"/>
                <a:cs typeface="Times New Roman" panose="02020603050405020304" pitchFamily="18" charset="0"/>
              </a:rPr>
              <a:t> code.</a:t>
            </a:r>
            <a:endParaRPr lang="en-US" altLang="en-US" sz="280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2800" b="1">
                <a:latin typeface="Times New Roman" panose="02020603050405020304" pitchFamily="18" charset="0"/>
                <a:cs typeface="Times New Roman" panose="02020603050405020304" pitchFamily="18" charset="0"/>
              </a:rPr>
              <a:t>The Java Example:</a:t>
            </a:r>
            <a:r>
              <a:rPr lang="en-US" altLang="en-US" sz="2800">
                <a:latin typeface="Times New Roman" panose="02020603050405020304" pitchFamily="18" charset="0"/>
                <a:cs typeface="Times New Roman" panose="02020603050405020304" pitchFamily="18" charset="0"/>
              </a:rPr>
              <a:t> The Java Virtual Machine (JVM) is a perfect example of this concept.</a:t>
            </a:r>
            <a:endParaRPr lang="en-US" altLang="en-US" sz="2800">
              <a:latin typeface="Times New Roman" panose="02020603050405020304" pitchFamily="18" charset="0"/>
              <a:cs typeface="Times New Roman" panose="02020603050405020304" pitchFamily="18" charset="0"/>
            </a:endParaRPr>
          </a:p>
          <a:p>
            <a:pPr marL="457200" lvl="0" indent="-457200" algn="just" eaLnBrk="0" fontAlgn="base" hangingPunct="0">
              <a:spcBef>
                <a:spcPct val="0"/>
              </a:spcBef>
              <a:spcAft>
                <a:spcPct val="0"/>
              </a:spcAft>
              <a:buClr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When you run a compiled Java program (e.g., typing java Program.class), the operating system does not run the Java code directly.</a:t>
            </a:r>
            <a:endParaRPr lang="en-US" altLang="en-US" sz="2800">
              <a:latin typeface="Times New Roman" panose="02020603050405020304" pitchFamily="18" charset="0"/>
              <a:cs typeface="Times New Roman" panose="02020603050405020304" pitchFamily="18" charset="0"/>
            </a:endParaRPr>
          </a:p>
          <a:p>
            <a:pPr marL="457200" lvl="0" indent="-457200" algn="just" eaLnBrk="0" fontAlgn="base" hangingPunct="0">
              <a:spcBef>
                <a:spcPct val="0"/>
              </a:spcBef>
              <a:spcAft>
                <a:spcPct val="0"/>
              </a:spcAft>
              <a:buClr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Instead, the OS starts the </a:t>
            </a:r>
            <a:r>
              <a:rPr lang="en-US" altLang="en-US" sz="2800" b="1">
                <a:latin typeface="Times New Roman" panose="02020603050405020304" pitchFamily="18" charset="0"/>
                <a:cs typeface="Times New Roman" panose="02020603050405020304" pitchFamily="18" charset="0"/>
              </a:rPr>
              <a:t>JVM as an ordinary process</a:t>
            </a:r>
            <a:r>
              <a:rPr lang="en-US" altLang="en-US" sz="2800">
                <a:latin typeface="Times New Roman" panose="02020603050405020304" pitchFamily="18" charset="0"/>
                <a:cs typeface="Times New Roman" panose="02020603050405020304" pitchFamily="18" charset="0"/>
              </a:rPr>
              <a:t>.</a:t>
            </a:r>
            <a:endParaRPr lang="en-US" altLang="en-US" sz="2800">
              <a:latin typeface="Times New Roman" panose="02020603050405020304" pitchFamily="18" charset="0"/>
              <a:cs typeface="Times New Roman" panose="02020603050405020304" pitchFamily="18" charset="0"/>
            </a:endParaRPr>
          </a:p>
          <a:p>
            <a:pPr marL="457200" lvl="0" indent="-457200" algn="just" eaLnBrk="0" fontAlgn="base" hangingPunct="0">
              <a:spcBef>
                <a:spcPct val="0"/>
              </a:spcBef>
              <a:spcAft>
                <a:spcPct val="0"/>
              </a:spcAft>
              <a:buClr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The JVM process then interprets the loaded Java code and takes actions on behalf of that code.</a:t>
            </a:r>
            <a:endParaRPr lang="en-US" altLang="en-US" sz="280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2800" b="1">
                <a:latin typeface="Times New Roman" panose="02020603050405020304" pitchFamily="18" charset="0"/>
                <a:cs typeface="Times New Roman" panose="02020603050405020304" pitchFamily="18" charset="0"/>
              </a:rPr>
              <a:t>Simulation:</a:t>
            </a:r>
            <a:r>
              <a:rPr lang="en-US" altLang="en-US" sz="2800">
                <a:latin typeface="Times New Roman" panose="02020603050405020304" pitchFamily="18" charset="0"/>
                <a:cs typeface="Times New Roman" panose="02020603050405020304" pitchFamily="18" charset="0"/>
              </a:rPr>
              <a:t> This concept is essentially the same as running a simulation, where a program acts as a virtual machine executing a different instruction set.</a:t>
            </a: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523220"/>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The Process </a:t>
            </a:r>
            <a:endParaRPr lang="en-US" sz="28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3904396" y="650341"/>
            <a:ext cx="4383208" cy="60937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State </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1"/>
          <a:stretch>
            <a:fillRect/>
          </a:stretch>
        </p:blipFill>
        <p:spPr>
          <a:xfrm>
            <a:off x="322588" y="667497"/>
            <a:ext cx="12002752" cy="574249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States and Lifecycle </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304800" y="680872"/>
            <a:ext cx="115824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a:r>
              <a:rPr lang="en-IN" sz="2800" b="1" dirty="0">
                <a:latin typeface="Times New Roman" panose="02020603050405020304" pitchFamily="18" charset="0"/>
                <a:cs typeface="Times New Roman" panose="02020603050405020304" pitchFamily="18" charset="0"/>
              </a:rPr>
              <a:t>Dynamic Nature of Processes:</a:t>
            </a:r>
            <a:r>
              <a:rPr lang="en-IN" sz="2800" dirty="0">
                <a:latin typeface="Times New Roman" panose="02020603050405020304" pitchFamily="18" charset="0"/>
                <a:cs typeface="Times New Roman" panose="02020603050405020304" pitchFamily="18" charset="0"/>
              </a:rPr>
              <a:t> As a process executes, it changes state. The state is defined in part by the </a:t>
            </a:r>
            <a:r>
              <a:rPr lang="en-IN" sz="2800" i="1" dirty="0">
                <a:latin typeface="Times New Roman" panose="02020603050405020304" pitchFamily="18" charset="0"/>
                <a:cs typeface="Times New Roman" panose="02020603050405020304" pitchFamily="18" charset="0"/>
              </a:rPr>
              <a:t>current activity</a:t>
            </a:r>
            <a:r>
              <a:rPr lang="en-IN" sz="2800" dirty="0">
                <a:latin typeface="Times New Roman" panose="02020603050405020304" pitchFamily="18" charset="0"/>
                <a:cs typeface="Times New Roman" panose="02020603050405020304" pitchFamily="18" charset="0"/>
              </a:rPr>
              <a:t> of that process.</a:t>
            </a:r>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The Five Basic States:</a:t>
            </a:r>
            <a:endParaRPr lang="en-IN"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b="1" dirty="0">
                <a:latin typeface="Times New Roman" panose="02020603050405020304" pitchFamily="18" charset="0"/>
                <a:cs typeface="Times New Roman" panose="02020603050405020304" pitchFamily="18" charset="0"/>
              </a:rPr>
              <a:t>New:</a:t>
            </a:r>
            <a:r>
              <a:rPr lang="en-IN" sz="2800" dirty="0">
                <a:latin typeface="Times New Roman" panose="02020603050405020304" pitchFamily="18" charset="0"/>
                <a:cs typeface="Times New Roman" panose="02020603050405020304" pitchFamily="18" charset="0"/>
              </a:rPr>
              <a:t> The process is currently being created.</a:t>
            </a:r>
            <a:endParaRPr lang="en-IN"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b="1" dirty="0">
                <a:latin typeface="Times New Roman" panose="02020603050405020304" pitchFamily="18" charset="0"/>
                <a:cs typeface="Times New Roman" panose="02020603050405020304" pitchFamily="18" charset="0"/>
              </a:rPr>
              <a:t>Ready:</a:t>
            </a:r>
            <a:r>
              <a:rPr lang="en-IN" sz="2800" dirty="0">
                <a:latin typeface="Times New Roman" panose="02020603050405020304" pitchFamily="18" charset="0"/>
                <a:cs typeface="Times New Roman" panose="02020603050405020304" pitchFamily="18" charset="0"/>
              </a:rPr>
              <a:t> The process has everything it needs to run and is simply waiting to be assigned to a processor.</a:t>
            </a:r>
            <a:endParaRPr lang="en-IN"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b="1" dirty="0">
                <a:latin typeface="Times New Roman" panose="02020603050405020304" pitchFamily="18" charset="0"/>
                <a:cs typeface="Times New Roman" panose="02020603050405020304" pitchFamily="18" charset="0"/>
              </a:rPr>
              <a:t>Running:</a:t>
            </a:r>
            <a:r>
              <a:rPr lang="en-IN" sz="2800" dirty="0">
                <a:latin typeface="Times New Roman" panose="02020603050405020304" pitchFamily="18" charset="0"/>
                <a:cs typeface="Times New Roman" panose="02020603050405020304" pitchFamily="18" charset="0"/>
              </a:rPr>
              <a:t> Instructions are actively being executed by the CPU.</a:t>
            </a:r>
            <a:endParaRPr lang="en-IN"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b="1" dirty="0">
                <a:latin typeface="Times New Roman" panose="02020603050405020304" pitchFamily="18" charset="0"/>
                <a:cs typeface="Times New Roman" panose="02020603050405020304" pitchFamily="18" charset="0"/>
              </a:rPr>
              <a:t>Waiting (Blocked):</a:t>
            </a:r>
            <a:r>
              <a:rPr lang="en-IN" sz="2800" dirty="0">
                <a:latin typeface="Times New Roman" panose="02020603050405020304" pitchFamily="18" charset="0"/>
                <a:cs typeface="Times New Roman" panose="02020603050405020304" pitchFamily="18" charset="0"/>
              </a:rPr>
              <a:t> The process cannot continue yet; it is waiting for some event to occur (such as an I/O completion or receiving a signal).</a:t>
            </a:r>
            <a:endParaRPr lang="en-IN" sz="2800" dirty="0">
              <a:latin typeface="Times New Roman" panose="02020603050405020304" pitchFamily="18" charset="0"/>
              <a:cs typeface="Times New Roman" panose="02020603050405020304" pitchFamily="18" charset="0"/>
            </a:endParaRPr>
          </a:p>
          <a:p>
            <a:pPr marL="514350" indent="-514350" algn="just">
              <a:buFont typeface="+mj-lt"/>
              <a:buAutoNum type="arabicPeriod"/>
            </a:pPr>
            <a:r>
              <a:rPr lang="en-IN" sz="2800" b="1" dirty="0">
                <a:latin typeface="Times New Roman" panose="02020603050405020304" pitchFamily="18" charset="0"/>
                <a:cs typeface="Times New Roman" panose="02020603050405020304" pitchFamily="18" charset="0"/>
              </a:rPr>
              <a:t>Terminated:</a:t>
            </a:r>
            <a:r>
              <a:rPr lang="en-IN" sz="2800" dirty="0">
                <a:latin typeface="Times New Roman" panose="02020603050405020304" pitchFamily="18" charset="0"/>
                <a:cs typeface="Times New Roman" panose="02020603050405020304" pitchFamily="18" charset="0"/>
              </a:rPr>
              <a:t> The process has completely finished its execution.</a:t>
            </a:r>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The Golden Rule of Processing:</a:t>
            </a:r>
            <a:r>
              <a:rPr lang="en-IN" sz="2800" dirty="0">
                <a:latin typeface="Times New Roman" panose="02020603050405020304" pitchFamily="18" charset="0"/>
                <a:cs typeface="Times New Roman" panose="02020603050405020304" pitchFamily="18" charset="0"/>
              </a:rPr>
              <a:t> On any single processor (CPU core), </a:t>
            </a:r>
            <a:r>
              <a:rPr lang="en-IN" sz="2800" b="1" dirty="0">
                <a:latin typeface="Times New Roman" panose="02020603050405020304" pitchFamily="18" charset="0"/>
                <a:cs typeface="Times New Roman" panose="02020603050405020304" pitchFamily="18" charset="0"/>
              </a:rPr>
              <a:t>only one process can be running at any given instant</a:t>
            </a:r>
            <a:r>
              <a:rPr lang="en-IN" sz="2800" dirty="0">
                <a:latin typeface="Times New Roman" panose="02020603050405020304" pitchFamily="18" charset="0"/>
                <a:cs typeface="Times New Roman" panose="02020603050405020304" pitchFamily="18" charset="0"/>
              </a:rPr>
              <a:t>. However, </a:t>
            </a:r>
            <a:r>
              <a:rPr lang="en-IN" sz="2800" b="1" dirty="0">
                <a:latin typeface="Times New Roman" panose="02020603050405020304" pitchFamily="18" charset="0"/>
                <a:cs typeface="Times New Roman" panose="02020603050405020304" pitchFamily="18" charset="0"/>
              </a:rPr>
              <a:t>many</a:t>
            </a:r>
            <a:r>
              <a:rPr lang="en-IN" sz="2800" dirty="0">
                <a:latin typeface="Times New Roman" panose="02020603050405020304" pitchFamily="18" charset="0"/>
                <a:cs typeface="Times New Roman" panose="02020603050405020304" pitchFamily="18" charset="0"/>
              </a:rPr>
              <a:t> processes can be in the "Ready" and "Waiting" states at the same time.</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Control Block </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2526384" y="1414021"/>
            <a:ext cx="6004873" cy="4873657"/>
          </a:xfrm>
          <a:prstGeom prst="rect">
            <a:avLst/>
          </a:prstGeom>
        </p:spPr>
      </p:pic>
      <p:sp>
        <p:nvSpPr>
          <p:cNvPr id="4" name="TextBox 3"/>
          <p:cNvSpPr txBox="1"/>
          <p:nvPr/>
        </p:nvSpPr>
        <p:spPr>
          <a:xfrm>
            <a:off x="320511" y="794675"/>
            <a:ext cx="11104776" cy="707886"/>
          </a:xfrm>
          <a:prstGeom prst="rect">
            <a:avLst/>
          </a:prstGeom>
          <a:noFill/>
        </p:spPr>
        <p:txBody>
          <a:bodyPr wrap="square">
            <a:spAutoFit/>
          </a:bodyPr>
          <a:lstStyle/>
          <a:p>
            <a:r>
              <a:rPr lang="en-US" sz="2000" dirty="0"/>
              <a:t>Each process is represented in the operating system by a process control block (PCB)—also called a task control block. A PCB is shown in Figure 3.3.</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Control Block </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320511" y="794675"/>
            <a:ext cx="11104776" cy="3354765"/>
          </a:xfrm>
          <a:prstGeom prst="rect">
            <a:avLst/>
          </a:prstGeom>
          <a:noFill/>
        </p:spPr>
        <p:txBody>
          <a:bodyPr wrap="square">
            <a:spAutoFit/>
          </a:bodyPr>
          <a:lstStyle/>
          <a:p>
            <a:pPr lvl="0" algn="just" eaLnBrk="0" fontAlgn="base" hangingPunct="0">
              <a:spcBef>
                <a:spcPct val="0"/>
              </a:spcBef>
              <a:spcAft>
                <a:spcPct val="0"/>
              </a:spcAft>
              <a:buClrTx/>
            </a:pPr>
            <a:r>
              <a:rPr lang="en-US" altLang="en-US" sz="3200" b="1" dirty="0">
                <a:solidFill>
                  <a:schemeClr val="tx1"/>
                </a:solidFill>
                <a:latin typeface="Times New Roman" panose="02020603050405020304" pitchFamily="18" charset="0"/>
                <a:cs typeface="Times New Roman" panose="02020603050405020304" pitchFamily="18" charset="0"/>
              </a:rPr>
              <a:t>What is it?</a:t>
            </a:r>
            <a:r>
              <a:rPr lang="en-US" altLang="en-US" sz="3200" dirty="0">
                <a:solidFill>
                  <a:schemeClr val="tx1"/>
                </a:solidFill>
                <a:latin typeface="Times New Roman" panose="02020603050405020304" pitchFamily="18" charset="0"/>
                <a:cs typeface="Times New Roman" panose="02020603050405020304" pitchFamily="18" charset="0"/>
              </a:rPr>
              <a:t> Each process is represented in the operating system by a </a:t>
            </a:r>
            <a:r>
              <a:rPr lang="en-US" altLang="en-US" sz="3200" b="1" dirty="0">
                <a:solidFill>
                  <a:schemeClr val="tx1"/>
                </a:solidFill>
                <a:latin typeface="Times New Roman" panose="02020603050405020304" pitchFamily="18" charset="0"/>
                <a:cs typeface="Times New Roman" panose="02020603050405020304" pitchFamily="18" charset="0"/>
              </a:rPr>
              <a:t>Process Control Block (PCB)</a:t>
            </a:r>
            <a:r>
              <a:rPr lang="en-US" altLang="en-US" sz="3200" dirty="0">
                <a:solidFill>
                  <a:schemeClr val="tx1"/>
                </a:solidFill>
                <a:latin typeface="Times New Roman" panose="02020603050405020304" pitchFamily="18" charset="0"/>
                <a:cs typeface="Times New Roman" panose="02020603050405020304" pitchFamily="18" charset="0"/>
              </a:rPr>
              <a:t>, which is also called a task control block.</a:t>
            </a:r>
            <a:endParaRPr lang="en-US" altLang="en-US" sz="32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endParaRPr lang="en-US" altLang="en-US" sz="3200" dirty="0">
              <a:solidFill>
                <a:schemeClr val="tx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3200" b="1" dirty="0">
                <a:solidFill>
                  <a:schemeClr val="tx1"/>
                </a:solidFill>
                <a:latin typeface="Times New Roman" panose="02020603050405020304" pitchFamily="18" charset="0"/>
                <a:cs typeface="Times New Roman" panose="02020603050405020304" pitchFamily="18" charset="0"/>
              </a:rPr>
              <a:t>Purpose:</a:t>
            </a:r>
            <a:r>
              <a:rPr lang="en-US" altLang="en-US" sz="3200" dirty="0">
                <a:solidFill>
                  <a:schemeClr val="tx1"/>
                </a:solidFill>
                <a:latin typeface="Times New Roman" panose="02020603050405020304" pitchFamily="18" charset="0"/>
                <a:cs typeface="Times New Roman" panose="02020603050405020304" pitchFamily="18" charset="0"/>
              </a:rPr>
              <a:t> The PCB serves as the central repository for any information that may vary from process to process.</a:t>
            </a:r>
            <a:endParaRPr lang="en-US" altLang="en-US" sz="3200" dirty="0">
              <a:solidFill>
                <a:schemeClr val="tx1"/>
              </a:solidFill>
              <a:latin typeface="Times New Roman" panose="02020603050405020304" pitchFamily="18" charset="0"/>
              <a:cs typeface="Times New Roman" panose="02020603050405020304" pitchFamily="18" charset="0"/>
            </a:endParaRPr>
          </a:p>
          <a:p>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Control Block </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295374" y="636782"/>
            <a:ext cx="10746557" cy="769441"/>
          </a:xfrm>
          <a:prstGeom prst="rect">
            <a:avLst/>
          </a:prstGeom>
          <a:noFill/>
        </p:spPr>
        <p:txBody>
          <a:bodyPr wrap="square" rtlCol="0">
            <a:spAutoFit/>
          </a:bodyPr>
          <a:lstStyle/>
          <a:p>
            <a:r>
              <a:rPr lang="en-US" sz="1600" b="1" dirty="0">
                <a:solidFill>
                  <a:srgbClr val="FF0000"/>
                </a:solidFill>
              </a:rPr>
              <a:t>A PCB of each process contains following information.</a:t>
            </a:r>
            <a:endParaRPr lang="en-US" sz="1600" b="1" dirty="0">
              <a:solidFill>
                <a:srgbClr val="FF0000"/>
              </a:solidFill>
            </a:endParaRPr>
          </a:p>
          <a:p>
            <a:endParaRPr lang="en-US" dirty="0">
              <a:solidFill>
                <a:srgbClr val="FF0000"/>
              </a:solidFill>
            </a:endParaRPr>
          </a:p>
          <a:p>
            <a:endParaRPr lang="en-US" dirty="0"/>
          </a:p>
        </p:txBody>
      </p:sp>
      <p:sp>
        <p:nvSpPr>
          <p:cNvPr id="4" name="TextBox 3"/>
          <p:cNvSpPr txBox="1"/>
          <p:nvPr/>
        </p:nvSpPr>
        <p:spPr>
          <a:xfrm>
            <a:off x="0" y="1069458"/>
            <a:ext cx="12039601" cy="5632311"/>
          </a:xfrm>
          <a:prstGeom prst="rect">
            <a:avLst/>
          </a:prstGeom>
          <a:noFill/>
        </p:spPr>
        <p:txBody>
          <a:bodyPr wrap="square">
            <a:spAutoFit/>
          </a:bodyPr>
          <a:lstStyle/>
          <a:p>
            <a:pPr marL="285750" indent="-285750">
              <a:buFont typeface="Wingdings" panose="05000000000000000000" pitchFamily="2" charset="2"/>
              <a:buChar char="ü"/>
            </a:pPr>
            <a:r>
              <a:rPr lang="en-US" sz="1800" b="1" dirty="0"/>
              <a:t>Process state</a:t>
            </a:r>
            <a:r>
              <a:rPr lang="en-US" sz="1800" dirty="0"/>
              <a:t>. The state may be new, ready, running, waiting, halted, and so on.</a:t>
            </a:r>
            <a:endParaRPr lang="en-US" sz="1800" dirty="0"/>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Program counter</a:t>
            </a:r>
            <a:r>
              <a:rPr lang="en-US" sz="1800" dirty="0"/>
              <a:t>. The counter indicates the address of the next instruction to be executed for this process.</a:t>
            </a:r>
            <a:endParaRPr lang="en-US" sz="1800" dirty="0"/>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CPU registers</a:t>
            </a:r>
            <a:r>
              <a:rPr lang="en-US" sz="1800" dirty="0"/>
              <a:t>. The registers vary in number and type, depending on the computer architecture. They include accumulators, index registers, stack pointers, and general-purpose registers, plus any condition-code information. Along with the program counter, this state information must be saved when an interrupt occurs, to allow the process to be continued correctly afterward.</a:t>
            </a:r>
            <a:endParaRPr lang="en-US" sz="1800" dirty="0"/>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CPU-scheduling information</a:t>
            </a:r>
            <a:r>
              <a:rPr lang="en-US" sz="1800" dirty="0"/>
              <a:t>. This information includes a process priority, pointers to scheduling queues, and any other scheduling parameters.</a:t>
            </a:r>
            <a:endParaRPr lang="en-US" sz="1800" dirty="0"/>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Memory-management information</a:t>
            </a:r>
            <a:r>
              <a:rPr lang="en-US" sz="1800" dirty="0"/>
              <a:t>. This information may include such items as the value of the base and limit registers and the page tables, or the segment tables, depending on the memory system used by the operating system.</a:t>
            </a:r>
            <a:endParaRPr lang="en-US" sz="1800" dirty="0"/>
          </a:p>
          <a:p>
            <a:pPr marL="285750" indent="-285750">
              <a:buFont typeface="Wingdings" panose="05000000000000000000" pitchFamily="2" charset="2"/>
              <a:buChar char="ü"/>
            </a:pPr>
            <a:endParaRPr lang="en-US" sz="1800" dirty="0"/>
          </a:p>
          <a:p>
            <a:pPr marL="285750" indent="-285750">
              <a:buFont typeface="Wingdings" panose="05000000000000000000" pitchFamily="2" charset="2"/>
              <a:buChar char="ü"/>
            </a:pPr>
            <a:r>
              <a:rPr lang="en-US" sz="1800" b="1" dirty="0"/>
              <a:t>Accounting information</a:t>
            </a:r>
            <a:r>
              <a:rPr lang="en-US" sz="1800" dirty="0"/>
              <a:t>. This information includes the amount of CPU and real time used, time limits, account numbers, job or process numbers, and so on.</a:t>
            </a:r>
            <a:endParaRPr lang="en-US" sz="1800" dirty="0"/>
          </a:p>
          <a:p>
            <a:pPr marL="285750" indent="-285750">
              <a:buFont typeface="Wingdings" panose="05000000000000000000" pitchFamily="2" charset="2"/>
              <a:buChar char="ü"/>
            </a:pPr>
            <a:r>
              <a:rPr lang="en-US" sz="1800" b="1" dirty="0"/>
              <a:t>I/O status information</a:t>
            </a:r>
            <a:r>
              <a:rPr lang="en-US" sz="1800" dirty="0"/>
              <a:t>. This information includes the list of I/O devices allocated to the process, a list of open files, and so 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Control Block </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954107"/>
          </a:xfrm>
          <a:prstGeom prst="rect">
            <a:avLst/>
          </a:prstGeom>
          <a:noFill/>
        </p:spPr>
        <p:txBody>
          <a:bodyPr wrap="square" rtlCol="0">
            <a:spAutoFit/>
          </a:bodyPr>
          <a:lstStyle/>
          <a:p>
            <a:r>
              <a:rPr lang="en-US" dirty="0"/>
              <a:t>Each process is represented in the operating system by a Process Control Block(PCB) or also called as Task Control Block. A PCB of each process contains following information.</a:t>
            </a:r>
            <a:endParaRPr lang="en-US" dirty="0"/>
          </a:p>
          <a:p>
            <a:endParaRPr lang="en-US" dirty="0"/>
          </a:p>
          <a:p>
            <a:endParaRPr lang="en-US" dirty="0"/>
          </a:p>
        </p:txBody>
      </p:sp>
      <p:pic>
        <p:nvPicPr>
          <p:cNvPr id="4" name="Picture 3"/>
          <p:cNvPicPr>
            <a:picLocks noChangeAspect="1"/>
          </p:cNvPicPr>
          <p:nvPr/>
        </p:nvPicPr>
        <p:blipFill>
          <a:blip r:embed="rId1"/>
          <a:stretch>
            <a:fillRect/>
          </a:stretch>
        </p:blipFill>
        <p:spPr>
          <a:xfrm>
            <a:off x="1140643" y="1609553"/>
            <a:ext cx="10495175" cy="45345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29" y="0"/>
            <a:ext cx="7871381"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Control Block in action </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523220"/>
          </a:xfrm>
          <a:prstGeom prst="rect">
            <a:avLst/>
          </a:prstGeom>
          <a:noFill/>
        </p:spPr>
        <p:txBody>
          <a:bodyPr wrap="square" rtlCol="0">
            <a:spAutoFit/>
          </a:bodyPr>
          <a:lstStyle/>
          <a:p>
            <a:endParaRPr lang="en-US" dirty="0"/>
          </a:p>
          <a:p>
            <a:endParaRPr lang="en-US" dirty="0"/>
          </a:p>
        </p:txBody>
      </p:sp>
      <p:sp>
        <p:nvSpPr>
          <p:cNvPr id="3" name="Rectangle 1"/>
          <p:cNvSpPr>
            <a:spLocks noChangeArrowheads="1"/>
          </p:cNvSpPr>
          <p:nvPr/>
        </p:nvSpPr>
        <p:spPr bwMode="auto">
          <a:xfrm>
            <a:off x="457200" y="677778"/>
            <a:ext cx="11182643"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Handling Interrupts:</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When an interrupt or system call occurs, the operating system must temporarily stop the running process.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Save: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must save the current state information (specifically the program counter and CPU registers) into the process's PCB.</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State Restore:</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saved information allows the OS to correctly restore and continue the process later without losing any data.</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Switch Mechanism:</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71550" lvl="1" indent="-514350" algn="just" eaLnBrk="0" fontAlgn="base" hangingPunct="0">
              <a:spcBef>
                <a:spcPct val="0"/>
              </a:spcBef>
              <a:spcAft>
                <a:spcPct val="0"/>
              </a:spcAft>
              <a:buFont typeface="+mj-lt"/>
              <a:buAutoNum type="arabicPeriod"/>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P0 is executing.</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71550" lvl="1" indent="-514350" algn="just" eaLnBrk="0" fontAlgn="base" hangingPunct="0">
              <a:spcBef>
                <a:spcPct val="0"/>
              </a:spcBef>
              <a:spcAft>
                <a:spcPct val="0"/>
              </a:spcAft>
              <a:buFont typeface="+mj-lt"/>
              <a:buAutoNum type="arabicPeriod"/>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 interrupt occurs. Process P0's state is saved into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PCB0</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71550" lvl="1" indent="-514350" algn="just" eaLnBrk="0" fontAlgn="base" hangingPunct="0">
              <a:spcBef>
                <a:spcPct val="0"/>
              </a:spcBef>
              <a:spcAft>
                <a:spcPct val="0"/>
              </a:spcAft>
              <a:buFont typeface="+mj-lt"/>
              <a:buAutoNum type="arabicPeriod"/>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CPU is briefly idle while the OS selects a new process.</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71550" lvl="1" indent="-514350" algn="just" eaLnBrk="0" fontAlgn="base" hangingPunct="0">
              <a:spcBef>
                <a:spcPct val="0"/>
              </a:spcBef>
              <a:spcAft>
                <a:spcPct val="0"/>
              </a:spcAft>
              <a:buFont typeface="+mj-lt"/>
              <a:buAutoNum type="arabicPeriod"/>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state of Process P1 is reloaded from </a:t>
            </a: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PCB1</a:t>
            </a: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971550" lvl="1" indent="-514350" algn="just" eaLnBrk="0" fontAlgn="base" hangingPunct="0">
              <a:spcBef>
                <a:spcPct val="0"/>
              </a:spcBef>
              <a:spcAft>
                <a:spcPct val="0"/>
              </a:spcAft>
              <a:buFont typeface="+mj-lt"/>
              <a:buAutoNum type="arabicPeriod"/>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 P1 begins executing.</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Threads </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523220"/>
          </a:xfrm>
          <a:prstGeom prst="rect">
            <a:avLst/>
          </a:prstGeom>
          <a:noFill/>
        </p:spPr>
        <p:txBody>
          <a:bodyPr wrap="square" rtlCol="0">
            <a:spAutoFit/>
          </a:bodyPr>
          <a:lstStyle/>
          <a:p>
            <a:endParaRPr lang="en-US" dirty="0"/>
          </a:p>
          <a:p>
            <a:endParaRPr lang="en-US" dirty="0"/>
          </a:p>
        </p:txBody>
      </p:sp>
      <p:sp>
        <p:nvSpPr>
          <p:cNvPr id="4" name="TextBox 3"/>
          <p:cNvSpPr txBox="1"/>
          <p:nvPr/>
        </p:nvSpPr>
        <p:spPr>
          <a:xfrm>
            <a:off x="217209" y="732958"/>
            <a:ext cx="11757582" cy="3477875"/>
          </a:xfrm>
          <a:prstGeom prst="rect">
            <a:avLst/>
          </a:prstGeom>
          <a:noFill/>
        </p:spPr>
        <p:txBody>
          <a:bodyPr wrap="square">
            <a:spAutoFit/>
          </a:bodyPr>
          <a:lstStyle/>
          <a:p>
            <a:pPr>
              <a:buNone/>
            </a:pPr>
            <a:r>
              <a:rPr lang="en-US" sz="2000" dirty="0"/>
              <a:t>A thread is the smallest unit of execution within a process. It represents a single sequence of instructions that can be scheduled and executed by the CPU.</a:t>
            </a:r>
            <a:endParaRPr lang="en-US" sz="2000" dirty="0"/>
          </a:p>
          <a:p>
            <a:pPr>
              <a:buNone/>
            </a:pPr>
            <a:endParaRPr lang="en-US" sz="2000" dirty="0"/>
          </a:p>
          <a:p>
            <a:pPr>
              <a:buNone/>
            </a:pPr>
            <a:r>
              <a:rPr lang="en-US" sz="2000" dirty="0"/>
              <a:t>In simple terms, a thread is a lightweight subprocess that allows a program (process) to perform multiple tasks concurrently. </a:t>
            </a:r>
            <a:endParaRPr lang="en-US" sz="2000" dirty="0"/>
          </a:p>
          <a:p>
            <a:pPr>
              <a:buNone/>
            </a:pPr>
            <a:endParaRPr lang="en-US" sz="2000" dirty="0"/>
          </a:p>
          <a:p>
            <a:pPr>
              <a:buNone/>
            </a:pPr>
            <a:r>
              <a:rPr lang="en-US" sz="2000" dirty="0"/>
              <a:t>Multiple threads within the same process share the process’s resources such as code (text section), data section, and heap, but each thread has its own program counter, registers, and stack.</a:t>
            </a:r>
            <a:endParaRPr lang="en-US" sz="2000" dirty="0"/>
          </a:p>
          <a:p>
            <a:pPr>
              <a:buNone/>
            </a:pPr>
            <a:endParaRPr lang="en-US" sz="2000" dirty="0"/>
          </a:p>
          <a:p>
            <a:pPr>
              <a:buNone/>
            </a:pPr>
            <a:r>
              <a:rPr lang="en-US" sz="2000" dirty="0"/>
              <a:t>For example, in a web browser, one thread may handle user input, another may load a webpage, and another may play a video—all within the same process.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Threads </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523220"/>
          </a:xfrm>
          <a:prstGeom prst="rect">
            <a:avLst/>
          </a:prstGeom>
          <a:noFill/>
        </p:spPr>
        <p:txBody>
          <a:bodyPr wrap="square" rtlCol="0">
            <a:spAutoFit/>
          </a:bodyPr>
          <a:lstStyle/>
          <a:p>
            <a:endParaRPr lang="en-US" dirty="0"/>
          </a:p>
          <a:p>
            <a:endParaRPr lang="en-US" dirty="0"/>
          </a:p>
        </p:txBody>
      </p:sp>
      <p:sp>
        <p:nvSpPr>
          <p:cNvPr id="4" name="TextBox 3"/>
          <p:cNvSpPr txBox="1"/>
          <p:nvPr/>
        </p:nvSpPr>
        <p:spPr>
          <a:xfrm>
            <a:off x="810705" y="1187781"/>
            <a:ext cx="11161335" cy="2862322"/>
          </a:xfrm>
          <a:prstGeom prst="rect">
            <a:avLst/>
          </a:prstGeom>
          <a:noFill/>
        </p:spPr>
        <p:txBody>
          <a:bodyPr wrap="square">
            <a:spAutoFit/>
          </a:bodyPr>
          <a:lstStyle/>
          <a:p>
            <a:r>
              <a:rPr lang="en-US" sz="1800" b="1" dirty="0"/>
              <a:t>Single-Threaded Process Model</a:t>
            </a:r>
            <a:endParaRPr lang="en-US" sz="1800" b="1" dirty="0"/>
          </a:p>
          <a:p>
            <a:r>
              <a:rPr lang="en-US" sz="1800" dirty="0"/>
              <a:t>Traditionally, a process was considered to have a single thread of execution, meaning it could perform only one task at a time. For example, in a word processor, the user could not type and run the spell checker simultaneously within the same process because only one sequence of instructions was executing.</a:t>
            </a:r>
            <a:endParaRPr lang="en-US" sz="1800" dirty="0"/>
          </a:p>
          <a:p>
            <a:endParaRPr lang="en-US" sz="1800" dirty="0"/>
          </a:p>
          <a:p>
            <a:r>
              <a:rPr lang="en-US" sz="1800" b="1" dirty="0"/>
              <a:t>Multithreaded Process Model</a:t>
            </a:r>
            <a:endParaRPr lang="en-US" sz="1800" b="1" dirty="0"/>
          </a:p>
          <a:p>
            <a:r>
              <a:rPr lang="en-US" sz="1800" dirty="0"/>
              <a:t>Modern operating systems allow a process to have multiple threads of execution, enabling it to perform multiple tasks at the same time. This is especially useful in multicore systems where threads can run in parallel. To support this, the Process Control Block (PCB) is expanded to store thread-related information, and additional system changes are required.</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Process Scheduling</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523220"/>
          </a:xfrm>
          <a:prstGeom prst="rect">
            <a:avLst/>
          </a:prstGeom>
          <a:noFill/>
        </p:spPr>
        <p:txBody>
          <a:bodyPr wrap="square" rtlCol="0">
            <a:spAutoFit/>
          </a:bodyPr>
          <a:lstStyle/>
          <a:p>
            <a:endParaRPr lang="en-US" dirty="0"/>
          </a:p>
          <a:p>
            <a:endParaRPr lang="en-US" dirty="0"/>
          </a:p>
        </p:txBody>
      </p:sp>
      <p:sp>
        <p:nvSpPr>
          <p:cNvPr id="4" name="TextBox 3"/>
          <p:cNvSpPr txBox="1"/>
          <p:nvPr/>
        </p:nvSpPr>
        <p:spPr>
          <a:xfrm>
            <a:off x="292230" y="655446"/>
            <a:ext cx="11670384" cy="5016758"/>
          </a:xfrm>
          <a:prstGeom prst="rect">
            <a:avLst/>
          </a:prstGeom>
          <a:noFill/>
        </p:spPr>
        <p:txBody>
          <a:bodyPr wrap="square">
            <a:spAutoFit/>
          </a:bodyPr>
          <a:lstStyle/>
          <a:p>
            <a:pPr>
              <a:buFont typeface="+mj-lt"/>
              <a:buAutoNum type="arabicPeriod"/>
            </a:pPr>
            <a:r>
              <a:rPr lang="en-US" sz="2000" dirty="0"/>
              <a:t>The goal of </a:t>
            </a:r>
            <a:r>
              <a:rPr lang="en-US" sz="2000" b="1" dirty="0"/>
              <a:t>multiprogramming</a:t>
            </a:r>
            <a:r>
              <a:rPr lang="en-US" sz="2000" dirty="0"/>
              <a:t> is to keep some process running at all times to maximize CPU utilization. The goal of </a:t>
            </a:r>
            <a:r>
              <a:rPr lang="en-US" sz="2000" b="1" dirty="0"/>
              <a:t>time sharing</a:t>
            </a:r>
            <a:r>
              <a:rPr lang="en-US" sz="2000" dirty="0"/>
              <a:t> is to switch the CPU among processes frequently so that users can interact with each program while it is running.</a:t>
            </a:r>
            <a:endParaRPr lang="en-US" sz="2000" dirty="0"/>
          </a:p>
          <a:p>
            <a:pPr>
              <a:buFont typeface="+mj-lt"/>
              <a:buAutoNum type="arabicPeriod"/>
            </a:pPr>
            <a:endParaRPr lang="en-US" sz="2000" dirty="0"/>
          </a:p>
          <a:p>
            <a:r>
              <a:rPr lang="en-US" sz="2000" dirty="0"/>
              <a:t>2. To achieve these goals, the process scheduler selects an available process for execution on the CPU. In a single-processor system, only one process can run at a time; if multiple processes exist, the others must wait until the CPU becomes free and they are rescheduled.</a:t>
            </a:r>
            <a:endParaRPr lang="en-US" sz="2000" dirty="0"/>
          </a:p>
          <a:p>
            <a:endParaRPr lang="en-US" sz="2000" dirty="0"/>
          </a:p>
          <a:p>
            <a:pPr marL="285750" lvl="0" indent="-285750" eaLnBrk="0" fontAlgn="base" hangingPunct="0">
              <a:spcBef>
                <a:spcPct val="0"/>
              </a:spcBef>
              <a:spcAft>
                <a:spcPct val="0"/>
              </a:spcAft>
              <a:buClrTx/>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Multiprogramming is used to keep the CPU busy by ensuring that some process is always running.</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Time sharing allows the CPU to switch between processes very quickly so that users can interact with programs while they are running.</a:t>
            </a:r>
            <a:endParaRPr lang="en-US" altLang="en-US" sz="20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0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ClrTx/>
              <a:buFont typeface="Wingdings" panose="05000000000000000000" pitchFamily="2" charset="2"/>
              <a:buChar char="ü"/>
            </a:pPr>
            <a:r>
              <a:rPr lang="en-US" altLang="en-US" sz="2000" dirty="0">
                <a:latin typeface="Times New Roman" panose="02020603050405020304" pitchFamily="18" charset="0"/>
                <a:cs typeface="Times New Roman" panose="02020603050405020304" pitchFamily="18" charset="0"/>
              </a:rPr>
              <a:t>In a single-processor system, only one process can run at a time, so the process scheduler selects one process to use the CPU while the others wait.</a:t>
            </a:r>
            <a:endParaRPr lang="en-US" altLang="en-US" sz="2000" dirty="0">
              <a:latin typeface="Times New Roman" panose="02020603050405020304" pitchFamily="18" charset="0"/>
              <a:cs typeface="Times New Roman" panose="02020603050405020304" pitchFamily="18" charset="0"/>
            </a:endParaRPr>
          </a:p>
          <a:p>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Scheduling Queues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523220"/>
          </a:xfrm>
          <a:prstGeom prst="rect">
            <a:avLst/>
          </a:prstGeom>
          <a:noFill/>
        </p:spPr>
        <p:txBody>
          <a:bodyPr wrap="square" rtlCol="0">
            <a:spAutoFit/>
          </a:bodyPr>
          <a:lstStyle/>
          <a:p>
            <a:endParaRPr lang="en-US" dirty="0"/>
          </a:p>
          <a:p>
            <a:endParaRPr lang="en-US" dirty="0"/>
          </a:p>
        </p:txBody>
      </p:sp>
      <p:sp>
        <p:nvSpPr>
          <p:cNvPr id="4" name="TextBox 3"/>
          <p:cNvSpPr txBox="1"/>
          <p:nvPr/>
        </p:nvSpPr>
        <p:spPr>
          <a:xfrm>
            <a:off x="810705" y="1104900"/>
            <a:ext cx="10944520" cy="3477875"/>
          </a:xfrm>
          <a:prstGeom prst="rect">
            <a:avLst/>
          </a:prstGeom>
          <a:noFill/>
        </p:spPr>
        <p:txBody>
          <a:bodyPr wrap="square">
            <a:spAutoFit/>
          </a:bodyPr>
          <a:lstStyle/>
          <a:p>
            <a:pPr>
              <a:buNone/>
            </a:pPr>
            <a:r>
              <a:rPr lang="en-US" sz="2000" dirty="0"/>
              <a:t>When processes enter the system, they are first placed in the </a:t>
            </a:r>
            <a:r>
              <a:rPr lang="en-US" sz="2000" b="1" dirty="0"/>
              <a:t>job queue</a:t>
            </a:r>
            <a:r>
              <a:rPr lang="en-US" sz="2000" dirty="0"/>
              <a:t>, which contains all processes in the system. The processes that are loaded into main memory and are ready to execute are kept in the </a:t>
            </a:r>
            <a:r>
              <a:rPr lang="en-US" sz="2000" b="1" dirty="0"/>
              <a:t>ready queue</a:t>
            </a:r>
            <a:r>
              <a:rPr lang="en-US" sz="2000" dirty="0"/>
              <a:t>. The ready queue is generally implemented as a linked list, where the header contains pointers to the first and last Process Control Blocks (PCBs), and each PCB points to the next PCB in the queue. </a:t>
            </a:r>
            <a:endParaRPr lang="en-US" sz="2000" dirty="0"/>
          </a:p>
          <a:p>
            <a:pPr>
              <a:buNone/>
            </a:pPr>
            <a:endParaRPr lang="en-US" sz="2000" dirty="0"/>
          </a:p>
          <a:p>
            <a:pPr>
              <a:buNone/>
            </a:pPr>
            <a:r>
              <a:rPr lang="en-US" sz="2000" dirty="0"/>
              <a:t>This organization is illustrated in </a:t>
            </a:r>
            <a:r>
              <a:rPr lang="en-US" sz="2000" b="1" dirty="0"/>
              <a:t>Figure 3.5</a:t>
            </a:r>
            <a:r>
              <a:rPr lang="en-US" sz="2000" dirty="0"/>
              <a:t>. When a process is allocated the CPU, it executes until it terminates, is interrupted, or waits for an event such as I/O completion. If the process requests an I/O device (for example, a disk) and the device is busy, it must wait in the corresponding </a:t>
            </a:r>
            <a:r>
              <a:rPr lang="en-US" sz="2000" b="1" dirty="0"/>
              <a:t>device queue</a:t>
            </a:r>
            <a:r>
              <a:rPr lang="en-US" sz="2000" dirty="0"/>
              <a:t>. Each I/O device has its own device queue that holds processes waiting for that device, as shown in </a:t>
            </a:r>
            <a:r>
              <a:rPr lang="en-US" sz="2000" b="1" dirty="0"/>
              <a:t>Figure 3.5</a:t>
            </a:r>
            <a:r>
              <a:rPr lang="en-US" sz="2000" dirty="0"/>
              <a: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29" y="0"/>
            <a:ext cx="10209229" cy="1200329"/>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Ready Queue and Various I/O Device Queues Scheduling Queues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523220"/>
          </a:xfrm>
          <a:prstGeom prst="rect">
            <a:avLst/>
          </a:prstGeom>
          <a:noFill/>
        </p:spPr>
        <p:txBody>
          <a:bodyPr wrap="square" rtlCol="0">
            <a:spAutoFit/>
          </a:bodyPr>
          <a:lstStyle/>
          <a:p>
            <a:endParaRPr lang="en-US" dirty="0"/>
          </a:p>
          <a:p>
            <a:endParaRPr lang="en-US" dirty="0"/>
          </a:p>
        </p:txBody>
      </p:sp>
      <p:pic>
        <p:nvPicPr>
          <p:cNvPr id="5" name="Picture 4"/>
          <p:cNvPicPr>
            <a:picLocks noChangeAspect="1"/>
          </p:cNvPicPr>
          <p:nvPr/>
        </p:nvPicPr>
        <p:blipFill>
          <a:blip r:embed="rId1"/>
          <a:stretch>
            <a:fillRect/>
          </a:stretch>
        </p:blipFill>
        <p:spPr>
          <a:xfrm>
            <a:off x="889261" y="560100"/>
            <a:ext cx="10746557" cy="623974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90341" y="-72895"/>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5382705" y="4333944"/>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7" name="TextBox 6"/>
          <p:cNvSpPr txBox="1"/>
          <p:nvPr/>
        </p:nvSpPr>
        <p:spPr>
          <a:xfrm>
            <a:off x="1593130" y="0"/>
            <a:ext cx="6212264" cy="646331"/>
          </a:xfrm>
          <a:prstGeom prst="rect">
            <a:avLst/>
          </a:prstGeom>
          <a:noFill/>
        </p:spPr>
        <p:txBody>
          <a:bodyPr wrap="square" rtlCol="0">
            <a:spAutoFit/>
          </a:bodyPr>
          <a:lstStyle/>
          <a:p>
            <a:r>
              <a:rPr lang="en-US" sz="3600" b="1" dirty="0">
                <a:solidFill>
                  <a:schemeClr val="bg1"/>
                </a:solidFill>
                <a:latin typeface="Times New Roman" panose="02020603050405020304" pitchFamily="18" charset="0"/>
                <a:cs typeface="Times New Roman" panose="02020603050405020304" pitchFamily="18" charset="0"/>
              </a:rPr>
              <a:t> Scheduling Queues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 name="TextBox 1"/>
          <p:cNvSpPr txBox="1"/>
          <p:nvPr/>
        </p:nvSpPr>
        <p:spPr>
          <a:xfrm>
            <a:off x="556181" y="655446"/>
            <a:ext cx="10746557" cy="523220"/>
          </a:xfrm>
          <a:prstGeom prst="rect">
            <a:avLst/>
          </a:prstGeom>
          <a:noFill/>
        </p:spPr>
        <p:txBody>
          <a:bodyPr wrap="square" rtlCol="0">
            <a:spAutoFit/>
          </a:bodyPr>
          <a:lstStyle/>
          <a:p>
            <a:endParaRPr lang="en-US" dirty="0"/>
          </a:p>
          <a:p>
            <a:endParaRPr lang="en-US" dirty="0"/>
          </a:p>
        </p:txBody>
      </p:sp>
      <p:sp>
        <p:nvSpPr>
          <p:cNvPr id="5" name="Rectangle 1"/>
          <p:cNvSpPr>
            <a:spLocks noChangeArrowheads="1"/>
          </p:cNvSpPr>
          <p:nvPr/>
        </p:nvSpPr>
        <p:spPr bwMode="auto">
          <a:xfrm>
            <a:off x="242741" y="757884"/>
            <a:ext cx="11924907"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eaLnBrk="0" fontAlgn="base" hangingPunct="0">
              <a:spcBef>
                <a:spcPct val="0"/>
              </a:spcBef>
              <a:spcAft>
                <a:spcPct val="0"/>
              </a:spcAft>
              <a:buClrTx/>
            </a:pPr>
            <a:r>
              <a:rPr lang="en-US" sz="2400" dirty="0"/>
              <a:t>Process scheduling is commonly illustrated using a </a:t>
            </a:r>
            <a:r>
              <a:rPr lang="en-US" sz="2400" b="1" dirty="0"/>
              <a:t>queueing diagram</a:t>
            </a:r>
            <a:r>
              <a:rPr lang="en-US" sz="2400" dirty="0"/>
              <a:t> (Figure 3.6), where each rectangular box represents a queue. The two types of queues shown are the </a:t>
            </a:r>
            <a:r>
              <a:rPr lang="en-US" sz="2400" b="1" dirty="0"/>
              <a:t>ready queue</a:t>
            </a:r>
            <a:r>
              <a:rPr lang="en-US" sz="2400" dirty="0"/>
              <a:t> and multiple </a:t>
            </a:r>
            <a:r>
              <a:rPr lang="en-US" sz="2400" b="1" dirty="0"/>
              <a:t>device queues</a:t>
            </a:r>
            <a:r>
              <a:rPr lang="en-US" sz="2400" dirty="0"/>
              <a:t>.</a:t>
            </a:r>
            <a:endParaRPr lang="en-US" sz="2400" dirty="0"/>
          </a:p>
          <a:p>
            <a:pPr lvl="0" eaLnBrk="0" fontAlgn="base" hangingPunct="0">
              <a:spcBef>
                <a:spcPct val="0"/>
              </a:spcBef>
              <a:spcAft>
                <a:spcPct val="0"/>
              </a:spcAft>
              <a:buClrTx/>
            </a:pPr>
            <a:endParaRPr lang="en-US" sz="2400" dirty="0"/>
          </a:p>
          <a:p>
            <a:pPr lvl="0" eaLnBrk="0" fontAlgn="base" hangingPunct="0">
              <a:spcBef>
                <a:spcPct val="0"/>
              </a:spcBef>
              <a:spcAft>
                <a:spcPct val="0"/>
              </a:spcAft>
              <a:buClrTx/>
            </a:pPr>
            <a:r>
              <a:rPr lang="en-US" altLang="en-US" sz="2400" dirty="0">
                <a:solidFill>
                  <a:schemeClr val="tx1"/>
                </a:solidFill>
                <a:latin typeface="Times New Roman" panose="02020603050405020304" pitchFamily="18" charset="0"/>
                <a:cs typeface="Times New Roman" panose="02020603050405020304" pitchFamily="18" charset="0"/>
              </a:rPr>
              <a:t>A new process is initially put in the ready queue. It waits there until it is selected for execution, or dispatched. Once the process is allocated the CPU and is executing, one of several events could occur:</a:t>
            </a:r>
            <a:endParaRPr lang="en-US" altLang="en-US" sz="24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400" dirty="0">
                <a:solidFill>
                  <a:schemeClr val="tx1"/>
                </a:solidFill>
                <a:latin typeface="Times New Roman" panose="02020603050405020304" pitchFamily="18" charset="0"/>
                <a:cs typeface="Times New Roman" panose="02020603050405020304" pitchFamily="18" charset="0"/>
              </a:rPr>
              <a:t>• The process could issue an I/O request and then be placed in an I/O queue.</a:t>
            </a:r>
            <a:endParaRPr lang="en-US" altLang="en-US" sz="24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400" dirty="0">
                <a:solidFill>
                  <a:schemeClr val="tx1"/>
                </a:solidFill>
                <a:latin typeface="Times New Roman" panose="02020603050405020304" pitchFamily="18" charset="0"/>
                <a:cs typeface="Times New Roman" panose="02020603050405020304" pitchFamily="18" charset="0"/>
              </a:rPr>
              <a:t>• The process could create a new child process and wait for the child’s termination.</a:t>
            </a:r>
            <a:endParaRPr lang="en-US" altLang="en-US" sz="24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400" dirty="0">
                <a:solidFill>
                  <a:schemeClr val="tx1"/>
                </a:solidFill>
                <a:latin typeface="Times New Roman" panose="02020603050405020304" pitchFamily="18" charset="0"/>
                <a:cs typeface="Times New Roman" panose="02020603050405020304" pitchFamily="18" charset="0"/>
              </a:rPr>
              <a:t>• The process could be removed forcibly from the CPU, as a result of an interrupt, and be put back in the ready queue.</a:t>
            </a:r>
            <a:endParaRPr lang="en-US" altLang="en-US" sz="24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endParaRPr lang="en-US" altLang="en-US" sz="2400" dirty="0">
              <a:solidFill>
                <a:schemeClr val="tx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400" dirty="0">
                <a:solidFill>
                  <a:schemeClr val="tx1"/>
                </a:solidFill>
                <a:latin typeface="Times New Roman" panose="02020603050405020304" pitchFamily="18" charset="0"/>
                <a:cs typeface="Times New Roman" panose="02020603050405020304" pitchFamily="18" charset="0"/>
              </a:rPr>
              <a:t>In the first two cases, the process eventually switches from the waiting state to the ready state and is then put back in the ready queue. A process continues this cycle until it terminates, at which time it is removed from all queues and has its PCB and resources deallocated.</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Representation of Process Scheduling</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 name="Google Shape;30;p5"/>
          <p:cNvSpPr txBox="1"/>
          <p:nvPr/>
        </p:nvSpPr>
        <p:spPr>
          <a:xfrm>
            <a:off x="2028825" y="1219200"/>
            <a:ext cx="7772400" cy="4114800"/>
          </a:xfrm>
          <a:prstGeom prst="rect">
            <a:avLst/>
          </a:prstGeom>
          <a:noFill/>
          <a:ln>
            <a:noFill/>
          </a:ln>
        </p:spPr>
        <p:txBody>
          <a:bodyPr spcFirstLastPara="1" wrap="square" lIns="91425" tIns="45700" rIns="91425" bIns="45700" anchor="t" anchorCtr="0">
            <a:normAutofit/>
          </a:bodyPr>
          <a:lstStyle/>
          <a:p>
            <a:pPr marL="342900" marR="0" lvl="0" indent="-139700" algn="just" rtl="0">
              <a:spcBef>
                <a:spcPts val="0"/>
              </a:spcBef>
              <a:spcAft>
                <a:spcPts val="0"/>
              </a:spcAft>
              <a:buClr>
                <a:schemeClr val="dk1"/>
              </a:buClr>
              <a:buSzPts val="3200"/>
              <a:buFont typeface="Arial" panose="020B0604020202020204"/>
              <a:buNone/>
            </a:pPr>
            <a:endParaRPr sz="32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490194" y="791853"/>
            <a:ext cx="10407192" cy="599544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Schedulers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499621" y="1010239"/>
            <a:ext cx="11349872" cy="2031285"/>
          </a:xfrm>
          <a:prstGeom prst="rect">
            <a:avLst/>
          </a:prstGeom>
          <a:noFill/>
          <a:ln>
            <a:noFill/>
          </a:ln>
        </p:spPr>
        <p:txBody>
          <a:bodyPr spcFirstLastPara="1" wrap="square" lIns="91425" tIns="45700" rIns="91425" bIns="45700" anchor="t" anchorCtr="0">
            <a:spAutoFit/>
          </a:bodyPr>
          <a:lstStyle/>
          <a:p>
            <a:pPr lvl="0" algn="just" eaLnBrk="0" fontAlgn="base" hangingPunct="0">
              <a:spcBef>
                <a:spcPct val="0"/>
              </a:spcBef>
              <a:spcAft>
                <a:spcPct val="0"/>
              </a:spcAft>
              <a:buClrTx/>
            </a:pPr>
            <a:r>
              <a:rPr lang="en-US" altLang="en-US" sz="1800" b="1" dirty="0" err="1">
                <a:solidFill>
                  <a:srgbClr val="FF0000"/>
                </a:solidFill>
                <a:latin typeface="Times New Roman" panose="02020603050405020304" pitchFamily="18" charset="0"/>
                <a:cs typeface="Times New Roman" panose="02020603050405020304" pitchFamily="18" charset="0"/>
              </a:rPr>
              <a:t>LongTerm</a:t>
            </a:r>
            <a:r>
              <a:rPr lang="en-US" altLang="en-US" sz="1800" b="1" dirty="0">
                <a:solidFill>
                  <a:srgbClr val="FF0000"/>
                </a:solidFill>
                <a:latin typeface="Times New Roman" panose="02020603050405020304" pitchFamily="18" charset="0"/>
                <a:cs typeface="Times New Roman" panose="02020603050405020304" pitchFamily="18" charset="0"/>
              </a:rPr>
              <a:t> Scheduler</a:t>
            </a:r>
            <a:endParaRPr lang="en-US" altLang="en-US" sz="1800" b="1" dirty="0">
              <a:solidFill>
                <a:srgbClr val="FF0000"/>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1800" dirty="0">
                <a:latin typeface="Times New Roman" panose="02020603050405020304" pitchFamily="18" charset="0"/>
                <a:cs typeface="Times New Roman" panose="02020603050405020304" pitchFamily="18" charset="0"/>
              </a:rPr>
              <a:t>As a process migrates among scheduling queues, the OS must select which processes run next using </a:t>
            </a:r>
            <a:r>
              <a:rPr lang="en-US" altLang="en-US" sz="1800" b="1" dirty="0">
                <a:latin typeface="Times New Roman" panose="02020603050405020304" pitchFamily="18" charset="0"/>
                <a:cs typeface="Times New Roman" panose="02020603050405020304" pitchFamily="18" charset="0"/>
              </a:rPr>
              <a:t>schedulers</a:t>
            </a:r>
            <a:r>
              <a:rPr lang="en-US" altLang="en-US" sz="1800" dirty="0">
                <a:latin typeface="Times New Roman" panose="02020603050405020304" pitchFamily="18" charset="0"/>
                <a:cs typeface="Times New Roman" panose="02020603050405020304" pitchFamily="18" charset="0"/>
              </a:rPr>
              <a:t>.</a:t>
            </a:r>
            <a:endParaRPr lang="en-US" altLang="en-US" sz="1800" dirty="0">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buClrTx/>
            </a:pPr>
            <a:r>
              <a:rPr lang="en-US" altLang="en-US" sz="1800" b="1" dirty="0">
                <a:latin typeface="Times New Roman" panose="02020603050405020304" pitchFamily="18" charset="0"/>
                <a:cs typeface="Times New Roman" panose="02020603050405020304" pitchFamily="18" charset="0"/>
              </a:rPr>
              <a:t>Long-Term Scheduler (Job Scheduler):</a:t>
            </a:r>
            <a:endParaRPr lang="en-US" altLang="en-US" sz="1800" dirty="0">
              <a:latin typeface="Times New Roman" panose="02020603050405020304" pitchFamily="18" charset="0"/>
              <a:cs typeface="Times New Roman" panose="02020603050405020304" pitchFamily="18" charset="0"/>
            </a:endParaRPr>
          </a:p>
          <a:p>
            <a:pPr marL="571500" lvl="0" indent="-571500" algn="just" eaLnBrk="0" fontAlgn="base" hangingPunct="0">
              <a:spcBef>
                <a:spcPct val="0"/>
              </a:spcBef>
              <a:spcAft>
                <a:spcPct val="0"/>
              </a:spcAft>
              <a:buClrTx/>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Selects processes from a mass-storage pool (disk) and loads them into memory.</a:t>
            </a:r>
            <a:endParaRPr lang="en-US" altLang="en-US" sz="1800" dirty="0">
              <a:latin typeface="Times New Roman" panose="02020603050405020304" pitchFamily="18" charset="0"/>
              <a:cs typeface="Times New Roman" panose="02020603050405020304" pitchFamily="18" charset="0"/>
            </a:endParaRPr>
          </a:p>
          <a:p>
            <a:pPr marL="571500" lvl="0" indent="-571500" algn="just" eaLnBrk="0" fontAlgn="base" hangingPunct="0">
              <a:spcBef>
                <a:spcPct val="0"/>
              </a:spcBef>
              <a:spcAft>
                <a:spcPct val="0"/>
              </a:spcAft>
              <a:buClrTx/>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Executes </a:t>
            </a:r>
            <a:r>
              <a:rPr lang="en-US" altLang="en-US" sz="1800" b="1" dirty="0">
                <a:latin typeface="Times New Roman" panose="02020603050405020304" pitchFamily="18" charset="0"/>
                <a:cs typeface="Times New Roman" panose="02020603050405020304" pitchFamily="18" charset="0"/>
              </a:rPr>
              <a:t>infrequently</a:t>
            </a:r>
            <a:r>
              <a:rPr lang="en-US" altLang="en-US" sz="1800" dirty="0">
                <a:latin typeface="Times New Roman" panose="02020603050405020304" pitchFamily="18" charset="0"/>
                <a:cs typeface="Times New Roman" panose="02020603050405020304" pitchFamily="18" charset="0"/>
              </a:rPr>
              <a:t> (minutes apart) and controls the </a:t>
            </a:r>
            <a:r>
              <a:rPr lang="en-US" altLang="en-US" sz="1800" i="1" dirty="0">
                <a:latin typeface="Times New Roman" panose="02020603050405020304" pitchFamily="18" charset="0"/>
                <a:cs typeface="Times New Roman" panose="02020603050405020304" pitchFamily="18" charset="0"/>
              </a:rPr>
              <a:t>degree of multiprogramming</a:t>
            </a:r>
            <a:r>
              <a:rPr lang="en-US" altLang="en-US" sz="1800" dirty="0">
                <a:latin typeface="Times New Roman" panose="02020603050405020304" pitchFamily="18" charset="0"/>
                <a:cs typeface="Times New Roman" panose="02020603050405020304" pitchFamily="18" charset="0"/>
              </a:rPr>
              <a:t> (the total number of processes in memory).</a:t>
            </a:r>
            <a:endParaRPr lang="en-US" altLang="en-US" sz="1800" dirty="0">
              <a:latin typeface="Times New Roman" panose="02020603050405020304" pitchFamily="18" charset="0"/>
              <a:cs typeface="Times New Roman" panose="02020603050405020304" pitchFamily="18" charset="0"/>
            </a:endParaRPr>
          </a:p>
          <a:p>
            <a:pPr marL="571500" lvl="0" indent="-571500" algn="just" eaLnBrk="0" fontAlgn="base" hangingPunct="0">
              <a:spcBef>
                <a:spcPct val="0"/>
              </a:spcBef>
              <a:spcAft>
                <a:spcPct val="0"/>
              </a:spcAft>
              <a:buClrTx/>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Because it runs less frequently, it can afford to take more time to make careful scheduling decisions.</a:t>
            </a:r>
            <a:endParaRPr lang="en-US" altLang="en-US" sz="1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99621" y="3709880"/>
            <a:ext cx="10878532" cy="1200329"/>
          </a:xfrm>
          <a:prstGeom prst="rect">
            <a:avLst/>
          </a:prstGeom>
          <a:noFill/>
        </p:spPr>
        <p:txBody>
          <a:bodyPr wrap="square">
            <a:spAutoFit/>
          </a:bodyPr>
          <a:lstStyle/>
          <a:p>
            <a:pPr marR="0" lvl="0" algn="just"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Short Term Scheduler(</a:t>
            </a:r>
            <a:r>
              <a:rPr kumimoji="0" lang="en-US" altLang="en-US" sz="1800" b="1" i="0" u="none" strike="noStrike" cap="none" normalizeH="0" baseline="0" dirty="0" err="1">
                <a:ln>
                  <a:noFill/>
                </a:ln>
                <a:solidFill>
                  <a:srgbClr val="FF0000"/>
                </a:solidFill>
                <a:effectLst/>
                <a:latin typeface="Times New Roman" panose="02020603050405020304" pitchFamily="18" charset="0"/>
                <a:cs typeface="Times New Roman" panose="02020603050405020304" pitchFamily="18" charset="0"/>
              </a:rPr>
              <a:t>Cpu</a:t>
            </a:r>
            <a:r>
              <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Scheduler)</a:t>
            </a:r>
            <a:endParaRPr kumimoji="0" lang="en-US" altLang="en-US" sz="18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Selects from processes already in memory (ready queue) and allocates the CPU to one of them.</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Executes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very frequently</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(e.g., at least once every 100 milliseconds).</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571500" marR="0" lvl="0" indent="-571500" algn="just"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Because of its frequency, it must be incredibly </a:t>
            </a:r>
            <a:r>
              <a:rPr kumimoji="0" lang="en-US" altLang="en-US" sz="1800" b="1" i="0" u="none" strike="noStrike" cap="none" normalizeH="0" baseline="0" dirty="0">
                <a:ln>
                  <a:noFill/>
                </a:ln>
                <a:effectLst/>
                <a:latin typeface="Times New Roman" panose="02020603050405020304" pitchFamily="18" charset="0"/>
                <a:cs typeface="Times New Roman" panose="02020603050405020304" pitchFamily="18" charset="0"/>
              </a:rPr>
              <a:t>fast</a:t>
            </a:r>
            <a:r>
              <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rPr>
              <a:t> to avoid wasting CPU time on overhead.</a:t>
            </a:r>
            <a:endParaRPr kumimoji="0" lang="en-US" altLang="en-US" sz="18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Schedulers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499621" y="786676"/>
            <a:ext cx="11349872" cy="461624"/>
          </a:xfrm>
          <a:prstGeom prst="rect">
            <a:avLst/>
          </a:prstGeom>
          <a:noFill/>
          <a:ln>
            <a:noFill/>
          </a:ln>
        </p:spPr>
        <p:txBody>
          <a:bodyPr spcFirstLastPara="1" wrap="square" lIns="91425" tIns="45700" rIns="91425" bIns="45700" anchor="t" anchorCtr="0">
            <a:spAutoFit/>
          </a:bodyPr>
          <a:lstStyle/>
          <a:p>
            <a:pPr lvl="0" algn="just" eaLnBrk="0" fontAlgn="base" hangingPunct="0">
              <a:spcBef>
                <a:spcPct val="0"/>
              </a:spcBef>
              <a:spcAft>
                <a:spcPct val="0"/>
              </a:spcAft>
              <a:buClrTx/>
            </a:pPr>
            <a:r>
              <a:rPr lang="en-US" altLang="en-US" sz="2400" b="1" dirty="0">
                <a:solidFill>
                  <a:srgbClr val="FF0000"/>
                </a:solidFill>
                <a:latin typeface="Times New Roman" panose="02020603050405020304" pitchFamily="18" charset="0"/>
                <a:cs typeface="Times New Roman" panose="02020603050405020304" pitchFamily="18" charset="0"/>
              </a:rPr>
              <a:t>Medium Term Scheduler</a:t>
            </a: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17136" y="1344160"/>
            <a:ext cx="11774864" cy="4401205"/>
          </a:xfrm>
          <a:prstGeom prst="rect">
            <a:avLst/>
          </a:prstGeom>
          <a:noFill/>
        </p:spPr>
        <p:txBody>
          <a:bodyPr wrap="square">
            <a:spAutoFit/>
          </a:bodyPr>
          <a:lstStyle/>
          <a:p>
            <a:pPr lvl="0" algn="just"/>
            <a:r>
              <a:rPr lang="en-IN" sz="2800" b="1" dirty="0">
                <a:latin typeface="Times New Roman" panose="02020603050405020304" pitchFamily="18" charset="0"/>
                <a:cs typeface="Times New Roman" panose="02020603050405020304" pitchFamily="18" charset="0"/>
              </a:rPr>
              <a:t>The Problem:</a:t>
            </a:r>
            <a:r>
              <a:rPr lang="en-IN" sz="2800" dirty="0">
                <a:latin typeface="Times New Roman" panose="02020603050405020304" pitchFamily="18" charset="0"/>
                <a:cs typeface="Times New Roman" panose="02020603050405020304" pitchFamily="18" charset="0"/>
              </a:rPr>
              <a:t> Sometimes an operating system becomes overcommitted, or the process mix needs to be improved.</a:t>
            </a:r>
            <a:endParaRPr lang="en-IN" sz="2800" dirty="0">
              <a:latin typeface="Times New Roman" panose="02020603050405020304" pitchFamily="18" charset="0"/>
              <a:cs typeface="Times New Roman" panose="02020603050405020304" pitchFamily="18" charset="0"/>
            </a:endParaRPr>
          </a:p>
          <a:p>
            <a:pPr lvl="0" algn="just"/>
            <a:r>
              <a:rPr lang="en-IN" sz="2800" b="1" dirty="0">
                <a:latin typeface="Times New Roman" panose="02020603050405020304" pitchFamily="18" charset="0"/>
                <a:cs typeface="Times New Roman" panose="02020603050405020304" pitchFamily="18" charset="0"/>
              </a:rPr>
              <a:t>The Solution:</a:t>
            </a:r>
            <a:r>
              <a:rPr lang="en-IN" sz="2800" dirty="0">
                <a:latin typeface="Times New Roman" panose="02020603050405020304" pitchFamily="18" charset="0"/>
                <a:cs typeface="Times New Roman" panose="02020603050405020304" pitchFamily="18" charset="0"/>
              </a:rPr>
              <a:t> An intermediate level of scheduling called the </a:t>
            </a:r>
            <a:r>
              <a:rPr lang="en-IN" sz="2800" b="1" dirty="0">
                <a:latin typeface="Times New Roman" panose="02020603050405020304" pitchFamily="18" charset="0"/>
                <a:cs typeface="Times New Roman" panose="02020603050405020304" pitchFamily="18" charset="0"/>
              </a:rPr>
              <a:t>Medium-Term Scheduler</a:t>
            </a:r>
            <a:r>
              <a:rPr lang="en-IN"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pPr lvl="0" algn="just"/>
            <a:r>
              <a:rPr lang="en-IN" sz="2800" b="1" dirty="0">
                <a:latin typeface="Times New Roman" panose="02020603050405020304" pitchFamily="18" charset="0"/>
                <a:cs typeface="Times New Roman" panose="02020603050405020304" pitchFamily="18" charset="0"/>
              </a:rPr>
              <a:t>How it Works (Swapping):</a:t>
            </a:r>
            <a:endParaRPr lang="en-IN" sz="2800" dirty="0">
              <a:latin typeface="Times New Roman" panose="02020603050405020304" pitchFamily="18" charset="0"/>
              <a:cs typeface="Times New Roman" panose="02020603050405020304" pitchFamily="18" charset="0"/>
            </a:endParaRPr>
          </a:p>
          <a:p>
            <a:pPr lvl="1" algn="just"/>
            <a:r>
              <a:rPr lang="en-IN" sz="2800" dirty="0">
                <a:latin typeface="Times New Roman" panose="02020603050405020304" pitchFamily="18" charset="0"/>
                <a:cs typeface="Times New Roman" panose="02020603050405020304" pitchFamily="18" charset="0"/>
              </a:rPr>
              <a:t>It removes a process from memory (and from active contention for the CPU), thereby </a:t>
            </a:r>
            <a:r>
              <a:rPr lang="en-IN" sz="2800" i="1" dirty="0">
                <a:latin typeface="Times New Roman" panose="02020603050405020304" pitchFamily="18" charset="0"/>
                <a:cs typeface="Times New Roman" panose="02020603050405020304" pitchFamily="18" charset="0"/>
              </a:rPr>
              <a:t>reducing the degree of multiprogramming</a:t>
            </a:r>
            <a:r>
              <a:rPr lang="en-IN"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a:p>
            <a:pPr lvl="1" algn="just"/>
            <a:r>
              <a:rPr lang="en-IN" sz="2800" dirty="0">
                <a:latin typeface="Times New Roman" panose="02020603050405020304" pitchFamily="18" charset="0"/>
                <a:cs typeface="Times New Roman" panose="02020603050405020304" pitchFamily="18" charset="0"/>
              </a:rPr>
              <a:t>The process is </a:t>
            </a:r>
            <a:r>
              <a:rPr lang="en-IN" sz="2800" b="1" dirty="0">
                <a:latin typeface="Times New Roman" panose="02020603050405020304" pitchFamily="18" charset="0"/>
                <a:cs typeface="Times New Roman" panose="02020603050405020304" pitchFamily="18" charset="0"/>
              </a:rPr>
              <a:t>swapped out</a:t>
            </a:r>
            <a:r>
              <a:rPr lang="en-IN" sz="2800" dirty="0">
                <a:latin typeface="Times New Roman" panose="02020603050405020304" pitchFamily="18" charset="0"/>
                <a:cs typeface="Times New Roman" panose="02020603050405020304" pitchFamily="18" charset="0"/>
              </a:rPr>
              <a:t> to a storage disk.</a:t>
            </a:r>
            <a:endParaRPr lang="en-IN" sz="2800" dirty="0">
              <a:latin typeface="Times New Roman" panose="02020603050405020304" pitchFamily="18" charset="0"/>
              <a:cs typeface="Times New Roman" panose="02020603050405020304" pitchFamily="18" charset="0"/>
            </a:endParaRPr>
          </a:p>
          <a:p>
            <a:pPr lvl="1" algn="just"/>
            <a:r>
              <a:rPr lang="en-IN" sz="2800" dirty="0">
                <a:latin typeface="Times New Roman" panose="02020603050405020304" pitchFamily="18" charset="0"/>
                <a:cs typeface="Times New Roman" panose="02020603050405020304" pitchFamily="18" charset="0"/>
              </a:rPr>
              <a:t>Later, the process is </a:t>
            </a:r>
            <a:r>
              <a:rPr lang="en-IN" sz="2800" b="1" dirty="0">
                <a:latin typeface="Times New Roman" panose="02020603050405020304" pitchFamily="18" charset="0"/>
                <a:cs typeface="Times New Roman" panose="02020603050405020304" pitchFamily="18" charset="0"/>
              </a:rPr>
              <a:t>swapped in</a:t>
            </a:r>
            <a:r>
              <a:rPr lang="en-IN" sz="2800" dirty="0">
                <a:latin typeface="Times New Roman" panose="02020603050405020304" pitchFamily="18" charset="0"/>
                <a:cs typeface="Times New Roman" panose="02020603050405020304" pitchFamily="18" charset="0"/>
              </a:rPr>
              <a:t> (reintroduced into memory), and its execution continues exactly where it left off.</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Schedulers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 name="TextBox 2"/>
          <p:cNvSpPr txBox="1"/>
          <p:nvPr/>
        </p:nvSpPr>
        <p:spPr>
          <a:xfrm>
            <a:off x="426563" y="899427"/>
            <a:ext cx="11564332" cy="5016758"/>
          </a:xfrm>
          <a:prstGeom prst="rect">
            <a:avLst/>
          </a:prstGeom>
          <a:noFill/>
        </p:spPr>
        <p:txBody>
          <a:bodyPr wrap="square">
            <a:spAutoFit/>
          </a:bodyPr>
          <a:lstStyle/>
          <a:p>
            <a:r>
              <a:rPr lang="en-US" sz="2000" dirty="0"/>
              <a:t>A process migrates among the various scheduling queues throughout its </a:t>
            </a:r>
            <a:r>
              <a:rPr lang="en-US" sz="2000" dirty="0" err="1"/>
              <a:t>ifetime</a:t>
            </a:r>
            <a:r>
              <a:rPr lang="en-US" sz="2000" dirty="0"/>
              <a:t>. The operating system must select, for scheduling purposes, processes from these queues in some fashion. The selection process is carried out by the appropriate scheduler.</a:t>
            </a:r>
            <a:endParaRPr lang="en-US" sz="2000" dirty="0"/>
          </a:p>
          <a:p>
            <a:endParaRPr lang="en-US" sz="2000" dirty="0"/>
          </a:p>
          <a:p>
            <a:pPr marL="342900" indent="-342900">
              <a:buFont typeface="Wingdings" panose="05000000000000000000" pitchFamily="2" charset="2"/>
              <a:buChar char="ü"/>
            </a:pPr>
            <a:r>
              <a:rPr lang="en-US" sz="2000" dirty="0"/>
              <a:t>The </a:t>
            </a:r>
            <a:r>
              <a:rPr lang="en-US" sz="2000" b="1" dirty="0"/>
              <a:t>long-term scheduler (job scheduler</a:t>
            </a:r>
            <a:r>
              <a:rPr lang="en-US" sz="2000" dirty="0"/>
              <a:t>) selects processes from this pool and loads them into memory. The short-term scheduler executes less frequently.</a:t>
            </a:r>
            <a:endParaRPr lang="en-US" sz="2000" dirty="0"/>
          </a:p>
          <a:p>
            <a:endParaRPr lang="en-US" sz="2000" dirty="0"/>
          </a:p>
          <a:p>
            <a:pPr marL="342900" indent="-342900">
              <a:buFont typeface="Wingdings" panose="05000000000000000000" pitchFamily="2" charset="2"/>
              <a:buChar char="ü"/>
            </a:pPr>
            <a:r>
              <a:rPr lang="en-US" sz="2000" dirty="0"/>
              <a:t>The </a:t>
            </a:r>
            <a:r>
              <a:rPr lang="en-US" sz="2000" b="1" dirty="0"/>
              <a:t>short-term scheduler (CPU scheduler) </a:t>
            </a:r>
            <a:r>
              <a:rPr lang="en-US" sz="2000" dirty="0"/>
              <a:t>selects from the ready processes in memory and allocates the CPU to one of them. The short-term scheduler must select a new process for the CPU frequently.</a:t>
            </a:r>
            <a:endParaRPr lang="en-US" sz="2000" dirty="0"/>
          </a:p>
          <a:p>
            <a:endParaRPr lang="en-US" sz="2000" dirty="0"/>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b="1" dirty="0"/>
              <a:t>An I/O-bound process is one that spends more of its time doing I/O than  it spends doing computations. </a:t>
            </a:r>
            <a:endParaRPr lang="en-US" sz="2000" b="1" dirty="0"/>
          </a:p>
          <a:p>
            <a:pPr marL="342900" indent="-342900">
              <a:buFont typeface="Wingdings" panose="05000000000000000000" pitchFamily="2" charset="2"/>
              <a:buChar char="ü"/>
            </a:pPr>
            <a:r>
              <a:rPr lang="en-US" sz="2000" b="1" dirty="0"/>
              <a:t>A CPU-bound process, in contrast, generates I/O requests infrequently, using more of its time doing computations.</a:t>
            </a:r>
            <a:endParaRPr lang="en-US" sz="20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Mix and System Balancing</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 name="Rectangle 1"/>
          <p:cNvSpPr>
            <a:spLocks noChangeArrowheads="1"/>
          </p:cNvSpPr>
          <p:nvPr/>
        </p:nvSpPr>
        <p:spPr bwMode="auto">
          <a:xfrm>
            <a:off x="685801" y="820865"/>
            <a:ext cx="11328815" cy="5909310"/>
          </a:xfrm>
          <a:prstGeom prst="rect">
            <a:avLst/>
          </a:prstGeom>
          <a:solidFill>
            <a:schemeClr val="bg1"/>
          </a:solidFill>
          <a:ln>
            <a:noFill/>
          </a:ln>
          <a:effectLst/>
        </p:spPr>
        <p:txBody>
          <a:bodyPr vert="horz" wrap="square" lIns="91440" tIns="45720" rIns="91440" bIns="45720" numCol="1" anchor="ctr" anchorCtr="0" compatLnSpc="1">
            <a:spAutoFit/>
          </a:bodyPr>
          <a:lstStyle/>
          <a:p>
            <a:pPr lvl="0"/>
            <a:r>
              <a:rPr lang="en-IN" sz="2700" b="1" dirty="0">
                <a:latin typeface="Times New Roman" panose="02020603050405020304" pitchFamily="18" charset="0"/>
                <a:cs typeface="Times New Roman" panose="02020603050405020304" pitchFamily="18" charset="0"/>
              </a:rPr>
              <a:t>The Goal of the Long-Term Scheduler:</a:t>
            </a:r>
            <a:r>
              <a:rPr lang="en-IN" sz="2700" dirty="0">
                <a:latin typeface="Times New Roman" panose="02020603050405020304" pitchFamily="18" charset="0"/>
                <a:cs typeface="Times New Roman" panose="02020603050405020304" pitchFamily="18" charset="0"/>
              </a:rPr>
              <a:t> To select a good "mix" of processes to keep the system balanced.</a:t>
            </a:r>
            <a:endParaRPr lang="en-IN" sz="2700" dirty="0">
              <a:latin typeface="Times New Roman" panose="02020603050405020304" pitchFamily="18" charset="0"/>
              <a:cs typeface="Times New Roman" panose="02020603050405020304" pitchFamily="18" charset="0"/>
            </a:endParaRPr>
          </a:p>
          <a:p>
            <a:pPr lvl="0"/>
            <a:r>
              <a:rPr lang="en-IN" sz="2700" b="1" dirty="0">
                <a:latin typeface="Times New Roman" panose="02020603050405020304" pitchFamily="18" charset="0"/>
                <a:cs typeface="Times New Roman" panose="02020603050405020304" pitchFamily="18" charset="0"/>
              </a:rPr>
              <a:t>Two Types of Processes:</a:t>
            </a:r>
            <a:endParaRPr lang="en-IN" sz="2700" dirty="0">
              <a:latin typeface="Times New Roman" panose="02020603050405020304" pitchFamily="18" charset="0"/>
              <a:cs typeface="Times New Roman" panose="02020603050405020304" pitchFamily="18" charset="0"/>
            </a:endParaRPr>
          </a:p>
          <a:p>
            <a:pPr lvl="1"/>
            <a:r>
              <a:rPr lang="en-IN" sz="2700" b="1" dirty="0">
                <a:latin typeface="Times New Roman" panose="02020603050405020304" pitchFamily="18" charset="0"/>
                <a:cs typeface="Times New Roman" panose="02020603050405020304" pitchFamily="18" charset="0"/>
              </a:rPr>
              <a:t>I/O-Bound Process:</a:t>
            </a:r>
            <a:r>
              <a:rPr lang="en-IN" sz="2700" dirty="0">
                <a:latin typeface="Times New Roman" panose="02020603050405020304" pitchFamily="18" charset="0"/>
                <a:cs typeface="Times New Roman" panose="02020603050405020304" pitchFamily="18" charset="0"/>
              </a:rPr>
              <a:t> Spends more of its time doing I/O than doing computations.</a:t>
            </a:r>
            <a:endParaRPr lang="en-IN" sz="2700" dirty="0">
              <a:latin typeface="Times New Roman" panose="02020603050405020304" pitchFamily="18" charset="0"/>
              <a:cs typeface="Times New Roman" panose="02020603050405020304" pitchFamily="18" charset="0"/>
            </a:endParaRPr>
          </a:p>
          <a:p>
            <a:pPr lvl="1"/>
            <a:r>
              <a:rPr lang="en-IN" sz="2700" b="1" dirty="0">
                <a:latin typeface="Times New Roman" panose="02020603050405020304" pitchFamily="18" charset="0"/>
                <a:cs typeface="Times New Roman" panose="02020603050405020304" pitchFamily="18" charset="0"/>
              </a:rPr>
              <a:t>CPU-Bound Process:</a:t>
            </a:r>
            <a:r>
              <a:rPr lang="en-IN" sz="2700" dirty="0">
                <a:latin typeface="Times New Roman" panose="02020603050405020304" pitchFamily="18" charset="0"/>
                <a:cs typeface="Times New Roman" panose="02020603050405020304" pitchFamily="18" charset="0"/>
              </a:rPr>
              <a:t> Generates I/O requests infrequently, using more of its time doing heavy computations.</a:t>
            </a:r>
            <a:endParaRPr lang="en-IN" sz="2700" dirty="0">
              <a:latin typeface="Times New Roman" panose="02020603050405020304" pitchFamily="18" charset="0"/>
              <a:cs typeface="Times New Roman" panose="02020603050405020304" pitchFamily="18" charset="0"/>
            </a:endParaRPr>
          </a:p>
          <a:p>
            <a:pPr lvl="0"/>
            <a:r>
              <a:rPr lang="en-IN" sz="2700" b="1" dirty="0">
                <a:latin typeface="Times New Roman" panose="02020603050405020304" pitchFamily="18" charset="0"/>
                <a:cs typeface="Times New Roman" panose="02020603050405020304" pitchFamily="18" charset="0"/>
              </a:rPr>
              <a:t>Why the Mix Matters:</a:t>
            </a:r>
            <a:endParaRPr lang="en-IN" sz="2700" dirty="0">
              <a:latin typeface="Times New Roman" panose="02020603050405020304" pitchFamily="18" charset="0"/>
              <a:cs typeface="Times New Roman" panose="02020603050405020304" pitchFamily="18" charset="0"/>
            </a:endParaRPr>
          </a:p>
          <a:p>
            <a:pPr lvl="1"/>
            <a:r>
              <a:rPr lang="en-IN" sz="2700" dirty="0">
                <a:latin typeface="Times New Roman" panose="02020603050405020304" pitchFamily="18" charset="0"/>
                <a:cs typeface="Times New Roman" panose="02020603050405020304" pitchFamily="18" charset="0"/>
              </a:rPr>
              <a:t>If all processes are I/O bound → CPU ready queue is empty, short-term scheduler has nothing to do.</a:t>
            </a:r>
            <a:endParaRPr lang="en-IN" sz="2700" dirty="0">
              <a:latin typeface="Times New Roman" panose="02020603050405020304" pitchFamily="18" charset="0"/>
              <a:cs typeface="Times New Roman" panose="02020603050405020304" pitchFamily="18" charset="0"/>
            </a:endParaRPr>
          </a:p>
          <a:p>
            <a:pPr lvl="1"/>
            <a:r>
              <a:rPr lang="en-IN" sz="2700" dirty="0">
                <a:latin typeface="Times New Roman" panose="02020603050405020304" pitchFamily="18" charset="0"/>
                <a:cs typeface="Times New Roman" panose="02020603050405020304" pitchFamily="18" charset="0"/>
              </a:rPr>
              <a:t>If all processes are CPU bound → I/O queues are empty, devices go unused.</a:t>
            </a:r>
            <a:endParaRPr lang="en-IN" sz="2700" dirty="0">
              <a:latin typeface="Times New Roman" panose="02020603050405020304" pitchFamily="18" charset="0"/>
              <a:cs typeface="Times New Roman" panose="02020603050405020304" pitchFamily="18" charset="0"/>
            </a:endParaRPr>
          </a:p>
          <a:p>
            <a:pPr lvl="0"/>
            <a:r>
              <a:rPr lang="en-IN" sz="2700" b="1" dirty="0">
                <a:latin typeface="Times New Roman" panose="02020603050405020304" pitchFamily="18" charset="0"/>
                <a:cs typeface="Times New Roman" panose="02020603050405020304" pitchFamily="18" charset="0"/>
              </a:rPr>
              <a:t>Modern Systems:</a:t>
            </a:r>
            <a:r>
              <a:rPr lang="en-IN" sz="2700" dirty="0">
                <a:latin typeface="Times New Roman" panose="02020603050405020304" pitchFamily="18" charset="0"/>
                <a:cs typeface="Times New Roman" panose="02020603050405020304" pitchFamily="18" charset="0"/>
              </a:rPr>
              <a:t> In time-sharing systems like UNIX and Windows, the long-term scheduler is often minimal or absent. They simply put every new process directly into memory for the short-term scheduler.</a:t>
            </a:r>
            <a:endParaRPr lang="en-IN" sz="2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Schedulers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3" name="TextBox 2"/>
          <p:cNvSpPr txBox="1"/>
          <p:nvPr/>
        </p:nvSpPr>
        <p:spPr>
          <a:xfrm>
            <a:off x="426563" y="899427"/>
            <a:ext cx="11564332" cy="2862322"/>
          </a:xfrm>
          <a:prstGeom prst="rect">
            <a:avLst/>
          </a:prstGeom>
          <a:noFill/>
        </p:spPr>
        <p:txBody>
          <a:bodyPr wrap="square">
            <a:spAutoFit/>
          </a:bodyPr>
          <a:lstStyle/>
          <a:p>
            <a:r>
              <a:rPr lang="en-US" sz="2000" dirty="0"/>
              <a:t>The </a:t>
            </a:r>
            <a:r>
              <a:rPr lang="en-US" sz="2000" b="1" dirty="0"/>
              <a:t>medium-term scheduler</a:t>
            </a:r>
            <a:r>
              <a:rPr lang="en-US" sz="2000" dirty="0"/>
              <a:t> is responsible for </a:t>
            </a:r>
            <a:r>
              <a:rPr lang="en-US" sz="2000" b="1" dirty="0"/>
              <a:t>swapping processes in and out of memory</a:t>
            </a:r>
            <a:r>
              <a:rPr lang="en-US" sz="2000" dirty="0"/>
              <a:t>.</a:t>
            </a:r>
            <a:endParaRPr lang="en-US" sz="2000" dirty="0"/>
          </a:p>
          <a:p>
            <a:r>
              <a:rPr lang="en-US" sz="2000" dirty="0"/>
              <a:t>It works between the long-term and short-term schedulers.</a:t>
            </a:r>
            <a:endParaRPr lang="en-US" sz="2000" dirty="0"/>
          </a:p>
          <a:p>
            <a:endParaRPr lang="en-US" sz="2000" dirty="0"/>
          </a:p>
          <a:p>
            <a:r>
              <a:rPr lang="en-US" sz="2000" dirty="0"/>
              <a:t>When the system is overloaded (too many processes in RAM), it:</a:t>
            </a:r>
            <a:endParaRPr lang="en-US" sz="2000" dirty="0"/>
          </a:p>
          <a:p>
            <a:pPr marL="342900" indent="-342900">
              <a:buFont typeface="Wingdings" panose="05000000000000000000" pitchFamily="2" charset="2"/>
              <a:buChar char="ü"/>
            </a:pPr>
            <a:r>
              <a:rPr lang="en-US" sz="2000" dirty="0"/>
              <a:t>Selects some processes</a:t>
            </a:r>
            <a:endParaRPr lang="en-US" sz="2000" dirty="0"/>
          </a:p>
          <a:p>
            <a:pPr marL="342900" indent="-342900">
              <a:buFont typeface="Wingdings" panose="05000000000000000000" pitchFamily="2" charset="2"/>
              <a:buChar char="ü"/>
            </a:pPr>
            <a:r>
              <a:rPr lang="en-US" sz="2000" dirty="0"/>
              <a:t>Suspends them</a:t>
            </a:r>
            <a:endParaRPr lang="en-US" sz="2000" dirty="0"/>
          </a:p>
          <a:p>
            <a:pPr marL="342900" indent="-342900">
              <a:buFont typeface="Wingdings" panose="05000000000000000000" pitchFamily="2" charset="2"/>
              <a:buChar char="ü"/>
            </a:pPr>
            <a:r>
              <a:rPr lang="en-US" sz="2000" dirty="0"/>
              <a:t>Moves them to secondary storage (disk)</a:t>
            </a:r>
            <a:endParaRPr lang="en-US" sz="2000" dirty="0"/>
          </a:p>
          <a:p>
            <a:pPr marL="342900" indent="-342900">
              <a:buFont typeface="Wingdings" panose="05000000000000000000" pitchFamily="2" charset="2"/>
              <a:buChar char="ü"/>
            </a:pPr>
            <a:r>
              <a:rPr lang="en-US" sz="2000" dirty="0"/>
              <a:t>Brings them back later when memory is available.</a:t>
            </a:r>
            <a:endParaRPr lang="en-US" sz="2000" dirty="0"/>
          </a:p>
          <a:p>
            <a:pPr marL="342900" indent="-342900">
              <a:buFont typeface="Wingdings" panose="05000000000000000000" pitchFamily="2" charset="2"/>
              <a:buChar char="ü"/>
            </a:pP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Schedulers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1828800" y="1066800"/>
            <a:ext cx="8610600" cy="36933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3" name="Picture 2"/>
          <p:cNvPicPr>
            <a:picLocks noChangeAspect="1"/>
          </p:cNvPicPr>
          <p:nvPr/>
        </p:nvPicPr>
        <p:blipFill>
          <a:blip r:embed="rId1"/>
          <a:stretch>
            <a:fillRect/>
          </a:stretch>
        </p:blipFill>
        <p:spPr>
          <a:xfrm>
            <a:off x="995361" y="911490"/>
            <a:ext cx="9164329" cy="3715268"/>
          </a:xfrm>
          <a:prstGeom prst="rect">
            <a:avLst/>
          </a:prstGeom>
        </p:spPr>
      </p:pic>
      <p:sp>
        <p:nvSpPr>
          <p:cNvPr id="5" name="TextBox 4"/>
          <p:cNvSpPr txBox="1"/>
          <p:nvPr/>
        </p:nvSpPr>
        <p:spPr>
          <a:xfrm>
            <a:off x="339365" y="4977353"/>
            <a:ext cx="10935093" cy="1200329"/>
          </a:xfrm>
          <a:prstGeom prst="rect">
            <a:avLst/>
          </a:prstGeom>
          <a:noFill/>
        </p:spPr>
        <p:txBody>
          <a:bodyPr wrap="square" rtlCol="0">
            <a:spAutoFit/>
          </a:bodyPr>
          <a:lstStyle/>
          <a:p>
            <a:pPr algn="just"/>
            <a:r>
              <a:rPr lang="en-US" sz="1800" dirty="0">
                <a:latin typeface="Times New Roman" panose="02020603050405020304" pitchFamily="18" charset="0"/>
                <a:cs typeface="Times New Roman" panose="02020603050405020304" pitchFamily="18" charset="0"/>
              </a:rPr>
              <a:t>The medium-term scheduler temporarily removes processes from memory to reduce the degree of multiprogramming and free CPU and memory resources; this process is called swapping. The process is swapped out, and is later swapped in, by the medium-term scheduler. Swapping may be necessary to improve the process mix or because a change in memory requirements has overcommitted available memory, requiring memory to be freed up.</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Context Switch</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 name="Google Shape;31;p5"/>
          <p:cNvSpPr txBox="1"/>
          <p:nvPr/>
        </p:nvSpPr>
        <p:spPr>
          <a:xfrm>
            <a:off x="76200" y="751364"/>
            <a:ext cx="11585543" cy="5355272"/>
          </a:xfrm>
          <a:prstGeom prst="rect">
            <a:avLst/>
          </a:prstGeom>
          <a:noFill/>
          <a:ln>
            <a:noFill/>
          </a:ln>
        </p:spPr>
        <p:txBody>
          <a:bodyPr spcFirstLastPara="1" wrap="square" lIns="91425" tIns="45700" rIns="91425" bIns="45700" anchor="t" anchorCtr="0">
            <a:spAutoFit/>
          </a:bodyPr>
          <a:lstStyle/>
          <a:p>
            <a:pPr marL="285750" lvl="0" indent="-285750" algn="just">
              <a:buFont typeface="Wingdings" panose="05000000000000000000" pitchFamily="2" charset="2"/>
              <a:buChar char="ü"/>
            </a:pPr>
            <a:r>
              <a:rPr lang="en-US" sz="1800" dirty="0">
                <a:solidFill>
                  <a:schemeClr val="dk1"/>
                </a:solidFill>
              </a:rPr>
              <a:t>In an operating system, interrupts frequently occur and cause the CPU to stop its current task and transfer control to a kernel routine for handling the interrupt.</a:t>
            </a:r>
            <a:endParaRPr lang="en-US" sz="1800" dirty="0">
              <a:solidFill>
                <a:schemeClr val="dk1"/>
              </a:solidFill>
            </a:endParaRPr>
          </a:p>
          <a:p>
            <a:pPr marL="285750" lvl="0" indent="-285750" algn="just">
              <a:buFont typeface="Wingdings" panose="05000000000000000000" pitchFamily="2" charset="2"/>
              <a:buChar char="ü"/>
            </a:pPr>
            <a:endParaRPr lang="en-US" sz="1800" dirty="0">
              <a:solidFill>
                <a:schemeClr val="dk1"/>
              </a:solidFill>
            </a:endParaRPr>
          </a:p>
          <a:p>
            <a:pPr marL="285750" lvl="0" indent="-285750" algn="just">
              <a:buFont typeface="Wingdings" panose="05000000000000000000" pitchFamily="2" charset="2"/>
              <a:buChar char="ü"/>
            </a:pPr>
            <a:r>
              <a:rPr lang="en-US" sz="1800" dirty="0">
                <a:solidFill>
                  <a:schemeClr val="dk1"/>
                </a:solidFill>
              </a:rPr>
              <a:t>During an interrupt, the operating system must save the current execution context of the running process so that it can later resume execution correctly after the interrupt is handled.</a:t>
            </a:r>
            <a:endParaRPr lang="en-US" sz="1800" dirty="0">
              <a:solidFill>
                <a:schemeClr val="dk1"/>
              </a:solidFill>
            </a:endParaRPr>
          </a:p>
          <a:p>
            <a:pPr marL="285750" lvl="0" indent="-285750" algn="just">
              <a:buFont typeface="Wingdings" panose="05000000000000000000" pitchFamily="2" charset="2"/>
              <a:buChar char="ü"/>
            </a:pPr>
            <a:endParaRPr lang="en-US" sz="1800" dirty="0">
              <a:solidFill>
                <a:schemeClr val="dk1"/>
              </a:solidFill>
            </a:endParaRPr>
          </a:p>
          <a:p>
            <a:pPr marL="285750" lvl="0" indent="-285750" algn="just">
              <a:buFont typeface="Wingdings" panose="05000000000000000000" pitchFamily="2" charset="2"/>
              <a:buChar char="ü"/>
            </a:pPr>
            <a:r>
              <a:rPr lang="en-US" sz="1800" dirty="0">
                <a:solidFill>
                  <a:schemeClr val="dk1"/>
                </a:solidFill>
              </a:rPr>
              <a:t>This execution context is stored in the Process Control Block (PCB) and includes the CPU register values, the process state, and memory-management information.</a:t>
            </a:r>
            <a:endParaRPr lang="en-US" sz="1800" dirty="0">
              <a:solidFill>
                <a:schemeClr val="dk1"/>
              </a:solidFill>
            </a:endParaRPr>
          </a:p>
          <a:p>
            <a:pPr marL="285750" lvl="0" indent="-285750" algn="just">
              <a:buFont typeface="Wingdings" panose="05000000000000000000" pitchFamily="2" charset="2"/>
              <a:buChar char="ü"/>
            </a:pPr>
            <a:endParaRPr lang="en-US" sz="1800" dirty="0">
              <a:solidFill>
                <a:schemeClr val="dk1"/>
              </a:solidFill>
            </a:endParaRPr>
          </a:p>
          <a:p>
            <a:pPr marL="285750" lvl="0" indent="-285750" algn="just">
              <a:buFont typeface="Wingdings" panose="05000000000000000000" pitchFamily="2" charset="2"/>
              <a:buChar char="ü"/>
            </a:pPr>
            <a:r>
              <a:rPr lang="en-US" sz="1800" dirty="0">
                <a:solidFill>
                  <a:schemeClr val="dk1"/>
                </a:solidFill>
              </a:rPr>
              <a:t>When the CPU is switched from one process to another, the system performs a context switch, which involves saving the state of the old process and restoring the state of the new process.</a:t>
            </a:r>
            <a:endParaRPr lang="en-US" sz="1800" dirty="0">
              <a:solidFill>
                <a:schemeClr val="dk1"/>
              </a:solidFill>
            </a:endParaRPr>
          </a:p>
          <a:p>
            <a:pPr marL="285750" lvl="0" indent="-285750" algn="just">
              <a:buFont typeface="Wingdings" panose="05000000000000000000" pitchFamily="2" charset="2"/>
              <a:buChar char="ü"/>
            </a:pPr>
            <a:endParaRPr lang="en-US" sz="1800" dirty="0">
              <a:solidFill>
                <a:schemeClr val="dk1"/>
              </a:solidFill>
            </a:endParaRPr>
          </a:p>
          <a:p>
            <a:pPr marL="285750" lvl="0" indent="-285750" algn="just">
              <a:buFont typeface="Wingdings" panose="05000000000000000000" pitchFamily="2" charset="2"/>
              <a:buChar char="ü"/>
            </a:pPr>
            <a:r>
              <a:rPr lang="en-US" sz="1800" dirty="0">
                <a:solidFill>
                  <a:schemeClr val="dk1"/>
                </a:solidFill>
              </a:rPr>
              <a:t>Context switching introduces overhead, as the system performs no useful work during the switch; the time required depends on hardware features such as memory speed, register count, and special instructions, and typically takes a few milliseconds.</a:t>
            </a:r>
            <a:endParaRPr lang="en-US" sz="1800" dirty="0">
              <a:solidFill>
                <a:schemeClr val="dk1"/>
              </a:solidFill>
            </a:endParaRPr>
          </a:p>
          <a:p>
            <a:pPr marL="285750" lvl="0" indent="-285750" algn="just">
              <a:buFont typeface="Wingdings" panose="05000000000000000000" pitchFamily="2" charset="2"/>
              <a:buChar char="ü"/>
            </a:pPr>
            <a:endParaRPr lang="en-US" sz="1800" dirty="0">
              <a:solidFill>
                <a:schemeClr val="dk1"/>
              </a:solidFill>
            </a:endParaRPr>
          </a:p>
          <a:p>
            <a:pPr marL="285750" lvl="0" indent="-285750" algn="just">
              <a:buFont typeface="Wingdings" panose="05000000000000000000" pitchFamily="2" charset="2"/>
              <a:buChar char="ü"/>
            </a:pPr>
            <a:r>
              <a:rPr lang="en-US" sz="1800" dirty="0">
                <a:solidFill>
                  <a:schemeClr val="dk1"/>
                </a:solidFill>
              </a:rPr>
              <a:t>The efficiency of a context switch is highly dependent on hardware and operating system complexity; processors with multiple register sets switch faster, while advanced memory-management techniques require additional context information to be saved and restored.</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61912" y="1253765"/>
            <a:ext cx="11566690" cy="3416320"/>
          </a:xfrm>
          <a:prstGeom prst="rect">
            <a:avLst/>
          </a:prstGeom>
          <a:noFill/>
        </p:spPr>
        <p:txBody>
          <a:bodyPr wrap="square" rtlCol="0">
            <a:spAutoFit/>
          </a:bodyPr>
          <a:lstStyle/>
          <a:p>
            <a:endParaRPr lang="en-US" sz="4000" dirty="0">
              <a:latin typeface="Times New Roman" panose="02020603050405020304" pitchFamily="18" charset="0"/>
              <a:cs typeface="Times New Roman" panose="02020603050405020304" pitchFamily="18" charset="0"/>
            </a:endParaRPr>
          </a:p>
          <a:p>
            <a:r>
              <a:rPr lang="en-US" sz="4000" dirty="0">
                <a:latin typeface="Times New Roman" panose="02020603050405020304" pitchFamily="18" charset="0"/>
                <a:cs typeface="Times New Roman" panose="02020603050405020304" pitchFamily="18" charset="0"/>
              </a:rPr>
              <a:t>Operations on Processes</a:t>
            </a:r>
            <a:endParaRPr lang="en-US" sz="4000" dirty="0">
              <a:latin typeface="Times New Roman" panose="02020603050405020304" pitchFamily="18" charset="0"/>
              <a:cs typeface="Times New Roman" panose="02020603050405020304" pitchFamily="18" charset="0"/>
            </a:endParaRPr>
          </a:p>
          <a:p>
            <a:endParaRPr lang="en-US" sz="40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The processes in most systems can execute concurrently, and they may be created and deleted dynamically. Thus, these systems must provide a mechanism for process creation and termination</a:t>
            </a:r>
            <a:r>
              <a:rPr lang="en-US" sz="4000" dirty="0">
                <a:latin typeface="Times New Roman" panose="02020603050405020304" pitchFamily="18" charset="0"/>
                <a:cs typeface="Times New Roman" panose="02020603050405020304" pitchFamily="18" charset="0"/>
              </a:rPr>
              <a:t>.</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61912" y="1253765"/>
            <a:ext cx="11566690" cy="5632311"/>
          </a:xfrm>
          <a:prstGeom prst="rect">
            <a:avLst/>
          </a:prstGeom>
          <a:noFill/>
        </p:spPr>
        <p:txBody>
          <a:bodyPr wrap="square" rtlCol="0">
            <a:spAutoFit/>
          </a:bodyPr>
          <a:lstStyle/>
          <a:p>
            <a:pPr algn="just"/>
            <a:r>
              <a:rPr lang="en-IN" sz="3200" b="1" dirty="0">
                <a:latin typeface="Times New Roman" panose="02020603050405020304" pitchFamily="18" charset="0"/>
                <a:cs typeface="Times New Roman" panose="02020603050405020304" pitchFamily="18" charset="0"/>
              </a:rPr>
              <a:t>Parent and Child Processes:</a:t>
            </a:r>
            <a:r>
              <a:rPr lang="en-IN" sz="3200" dirty="0">
                <a:latin typeface="Times New Roman" panose="02020603050405020304" pitchFamily="18" charset="0"/>
                <a:cs typeface="Times New Roman" panose="02020603050405020304" pitchFamily="18" charset="0"/>
              </a:rPr>
              <a:t> During execution, a process can create several new processes.</a:t>
            </a:r>
            <a:endParaRPr lang="en-IN" sz="32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The creator is the </a:t>
            </a:r>
            <a:r>
              <a:rPr lang="en-IN" sz="3200" b="1" dirty="0">
                <a:latin typeface="Times New Roman" panose="02020603050405020304" pitchFamily="18" charset="0"/>
                <a:cs typeface="Times New Roman" panose="02020603050405020304" pitchFamily="18" charset="0"/>
              </a:rPr>
              <a:t>parent process</a:t>
            </a:r>
            <a:r>
              <a:rPr lang="en-IN"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The new processes are the </a:t>
            </a:r>
            <a:r>
              <a:rPr lang="en-IN" sz="3200" b="1" dirty="0">
                <a:latin typeface="Times New Roman" panose="02020603050405020304" pitchFamily="18" charset="0"/>
                <a:cs typeface="Times New Roman" panose="02020603050405020304" pitchFamily="18" charset="0"/>
              </a:rPr>
              <a:t>children</a:t>
            </a:r>
            <a:r>
              <a:rPr lang="en-IN"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IN" sz="3200" dirty="0">
                <a:latin typeface="Times New Roman" panose="02020603050405020304" pitchFamily="18" charset="0"/>
                <a:cs typeface="Times New Roman" panose="02020603050405020304" pitchFamily="18" charset="0"/>
              </a:rPr>
              <a:t>Because children can create their own children, this forms a massive </a:t>
            </a:r>
            <a:r>
              <a:rPr lang="en-IN" sz="3200" b="1" dirty="0">
                <a:latin typeface="Times New Roman" panose="02020603050405020304" pitchFamily="18" charset="0"/>
                <a:cs typeface="Times New Roman" panose="02020603050405020304" pitchFamily="18" charset="0"/>
              </a:rPr>
              <a:t>tree of processes</a:t>
            </a:r>
            <a:r>
              <a:rPr lang="en-IN"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a:p>
            <a:pPr algn="just"/>
            <a:r>
              <a:rPr lang="en-IN" sz="3200" b="1" dirty="0">
                <a:latin typeface="Times New Roman" panose="02020603050405020304" pitchFamily="18" charset="0"/>
                <a:cs typeface="Times New Roman" panose="02020603050405020304" pitchFamily="18" charset="0"/>
              </a:rPr>
              <a:t>Process Identifier (PID):</a:t>
            </a:r>
            <a:r>
              <a:rPr lang="en-IN" sz="3200" dirty="0">
                <a:latin typeface="Times New Roman" panose="02020603050405020304" pitchFamily="18" charset="0"/>
                <a:cs typeface="Times New Roman" panose="02020603050405020304" pitchFamily="18" charset="0"/>
              </a:rPr>
              <a:t> Most operating systems (UNIX, Linux, Windows) identify every single process using a unique integer called a </a:t>
            </a:r>
            <a:r>
              <a:rPr lang="en-IN" sz="3200" b="1" dirty="0" err="1">
                <a:latin typeface="Times New Roman" panose="02020603050405020304" pitchFamily="18" charset="0"/>
                <a:cs typeface="Times New Roman" panose="02020603050405020304" pitchFamily="18" charset="0"/>
              </a:rPr>
              <a:t>pid</a:t>
            </a:r>
            <a:r>
              <a:rPr lang="en-IN" sz="3200" dirty="0">
                <a:latin typeface="Times New Roman" panose="02020603050405020304" pitchFamily="18" charset="0"/>
                <a:cs typeface="Times New Roman" panose="02020603050405020304" pitchFamily="18" charset="0"/>
              </a:rPr>
              <a:t>. The OS uses this </a:t>
            </a:r>
            <a:r>
              <a:rPr lang="en-IN" sz="3200" dirty="0" err="1">
                <a:latin typeface="Times New Roman" panose="02020603050405020304" pitchFamily="18" charset="0"/>
                <a:cs typeface="Times New Roman" panose="02020603050405020304" pitchFamily="18" charset="0"/>
              </a:rPr>
              <a:t>pid</a:t>
            </a:r>
            <a:r>
              <a:rPr lang="en-IN" sz="3200" dirty="0">
                <a:latin typeface="Times New Roman" panose="02020603050405020304" pitchFamily="18" charset="0"/>
                <a:cs typeface="Times New Roman" panose="02020603050405020304" pitchFamily="18" charset="0"/>
              </a:rPr>
              <a:t> as an index to look up the process's attributes.</a:t>
            </a:r>
            <a:endParaRPr lang="en-IN" sz="3200" dirty="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Operations on Process-Process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0" y="820227"/>
            <a:ext cx="11868345" cy="5539978"/>
          </a:xfrm>
          <a:prstGeom prst="rect">
            <a:avLst/>
          </a:prstGeom>
          <a:noFill/>
        </p:spPr>
        <p:txBody>
          <a:bodyPr wrap="square" rtlCol="0">
            <a:spAutoFit/>
          </a:bodyPr>
          <a:lstStyle/>
          <a:p>
            <a:endParaRPr lang="en-US" sz="2000" b="1" dirty="0">
              <a:latin typeface="Times New Roman" panose="02020603050405020304" pitchFamily="18" charset="0"/>
              <a:cs typeface="Times New Roman" panose="02020603050405020304" pitchFamily="18" charset="0"/>
            </a:endParaRPr>
          </a:p>
          <a:p>
            <a:r>
              <a:rPr lang="en-US" sz="2000" dirty="0"/>
              <a:t>During execution, a process can create new processes.</a:t>
            </a:r>
            <a:endParaRPr lang="en-US" sz="2000" dirty="0"/>
          </a:p>
          <a:p>
            <a:endParaRPr lang="en-US" sz="2000" dirty="0"/>
          </a:p>
          <a:p>
            <a:pPr marL="342900" indent="-342900">
              <a:buFont typeface="Wingdings" panose="05000000000000000000" pitchFamily="2" charset="2"/>
              <a:buChar char="ü"/>
            </a:pPr>
            <a:r>
              <a:rPr lang="en-US" sz="2000" dirty="0"/>
              <a:t>The original process is called the </a:t>
            </a:r>
            <a:r>
              <a:rPr lang="en-US" sz="2000" b="1" dirty="0"/>
              <a:t>parent process</a:t>
            </a:r>
            <a:r>
              <a:rPr lang="en-US" sz="2000" dirty="0"/>
              <a:t>.</a:t>
            </a:r>
            <a:endParaRPr lang="en-US" sz="2000" dirty="0"/>
          </a:p>
          <a:p>
            <a:pPr marL="342900" indent="-342900">
              <a:buFont typeface="Wingdings" panose="05000000000000000000" pitchFamily="2" charset="2"/>
              <a:buChar char="ü"/>
            </a:pPr>
            <a:endParaRPr lang="en-US" sz="2000" dirty="0"/>
          </a:p>
          <a:p>
            <a:pPr marL="342900" indent="-342900">
              <a:buFont typeface="Wingdings" panose="05000000000000000000" pitchFamily="2" charset="2"/>
              <a:buChar char="ü"/>
            </a:pPr>
            <a:r>
              <a:rPr lang="en-US" sz="2000" dirty="0"/>
              <a:t>The newly created processes are called </a:t>
            </a:r>
            <a:r>
              <a:rPr lang="en-US" sz="2000" b="1" dirty="0"/>
              <a:t>child processes</a:t>
            </a:r>
            <a:r>
              <a:rPr lang="en-US" sz="2000" dirty="0"/>
              <a:t>.</a:t>
            </a:r>
            <a:endParaRPr lang="en-US" sz="2000" dirty="0"/>
          </a:p>
          <a:p>
            <a:endParaRPr lang="en-US" sz="2000" dirty="0"/>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Every process in an operating system is uniquely identified by a process identifier (PID), usually an integer. Operating systems like UNIX, Windows, and Solaris use PIDs to manage and track processes.</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On UNIX and Linux systems, we can obtain a listing of processes by using the </a:t>
            </a:r>
            <a:r>
              <a:rPr lang="en-US" sz="2000" dirty="0" err="1">
                <a:latin typeface="Times New Roman" panose="02020603050405020304" pitchFamily="18" charset="0"/>
                <a:cs typeface="Times New Roman" panose="02020603050405020304" pitchFamily="18" charset="0"/>
              </a:rPr>
              <a:t>ps</a:t>
            </a:r>
            <a:r>
              <a:rPr lang="en-US" sz="2000" dirty="0">
                <a:latin typeface="Times New Roman" panose="02020603050405020304" pitchFamily="18" charset="0"/>
                <a:cs typeface="Times New Roman" panose="02020603050405020304" pitchFamily="18" charset="0"/>
              </a:rPr>
              <a:t> command. For example, the command</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ps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el</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will list complete information for all processes currently active in the system.</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3" name="Picture 2"/>
          <p:cNvPicPr>
            <a:picLocks noChangeAspect="1"/>
          </p:cNvPicPr>
          <p:nvPr/>
        </p:nvPicPr>
        <p:blipFill>
          <a:blip r:embed="rId1"/>
          <a:stretch>
            <a:fillRect/>
          </a:stretch>
        </p:blipFill>
        <p:spPr>
          <a:xfrm>
            <a:off x="76199" y="924645"/>
            <a:ext cx="11537623" cy="546929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Tree</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2"/>
          <p:cNvSpPr>
            <a:spLocks noChangeArrowheads="1"/>
          </p:cNvSpPr>
          <p:nvPr/>
        </p:nvSpPr>
        <p:spPr bwMode="auto">
          <a:xfrm>
            <a:off x="685800" y="1019361"/>
            <a:ext cx="10820397" cy="4695639"/>
          </a:xfrm>
          <a:prstGeom prst="rect">
            <a:avLst/>
          </a:prstGeom>
          <a:solidFill>
            <a:schemeClr val="bg1"/>
          </a:solidFill>
          <a:ln>
            <a:noFill/>
          </a:ln>
          <a:effec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IN" sz="3600" b="1" dirty="0">
                <a:latin typeface="Times New Roman" panose="02020603050405020304" pitchFamily="18" charset="0"/>
                <a:cs typeface="Times New Roman" panose="02020603050405020304" pitchFamily="18" charset="0"/>
              </a:rPr>
              <a:t>The Linux Process Tree Example:</a:t>
            </a:r>
            <a:endParaRPr lang="en-IN" sz="3600" dirty="0">
              <a:latin typeface="Times New Roman" panose="02020603050405020304" pitchFamily="18" charset="0"/>
              <a:cs typeface="Times New Roman" panose="02020603050405020304" pitchFamily="18" charset="0"/>
            </a:endParaRPr>
          </a:p>
          <a:p>
            <a:pPr marL="1028700" lvl="1"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The </a:t>
            </a:r>
            <a:r>
              <a:rPr lang="en-IN" sz="3600" b="1" dirty="0" err="1">
                <a:latin typeface="Times New Roman" panose="02020603050405020304" pitchFamily="18" charset="0"/>
                <a:cs typeface="Times New Roman" panose="02020603050405020304" pitchFamily="18" charset="0"/>
              </a:rPr>
              <a:t>init</a:t>
            </a:r>
            <a:r>
              <a:rPr lang="en-IN" sz="3600" b="1" dirty="0">
                <a:latin typeface="Times New Roman" panose="02020603050405020304" pitchFamily="18" charset="0"/>
                <a:cs typeface="Times New Roman" panose="02020603050405020304" pitchFamily="18" charset="0"/>
              </a:rPr>
              <a:t> process (</a:t>
            </a:r>
            <a:r>
              <a:rPr lang="en-IN" sz="3600" b="1" dirty="0" err="1">
                <a:latin typeface="Times New Roman" panose="02020603050405020304" pitchFamily="18" charset="0"/>
                <a:cs typeface="Times New Roman" panose="02020603050405020304" pitchFamily="18" charset="0"/>
              </a:rPr>
              <a:t>pid</a:t>
            </a:r>
            <a:r>
              <a:rPr lang="en-IN" sz="3600" b="1" dirty="0">
                <a:latin typeface="Times New Roman" panose="02020603050405020304" pitchFamily="18" charset="0"/>
                <a:cs typeface="Times New Roman" panose="02020603050405020304" pitchFamily="18" charset="0"/>
              </a:rPr>
              <a:t> = 1)</a:t>
            </a:r>
            <a:r>
              <a:rPr lang="en-IN" sz="3600" dirty="0">
                <a:latin typeface="Times New Roman" panose="02020603050405020304" pitchFamily="18" charset="0"/>
                <a:cs typeface="Times New Roman" panose="02020603050405020304" pitchFamily="18" charset="0"/>
              </a:rPr>
              <a:t> serves as the ultimate root parent for all user processes.</a:t>
            </a:r>
            <a:endParaRPr lang="en-IN" sz="3600" dirty="0">
              <a:latin typeface="Times New Roman" panose="02020603050405020304" pitchFamily="18" charset="0"/>
              <a:cs typeface="Times New Roman" panose="02020603050405020304" pitchFamily="18" charset="0"/>
            </a:endParaRPr>
          </a:p>
          <a:p>
            <a:pPr marL="1028700" lvl="1"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Once the system boots, </a:t>
            </a:r>
            <a:r>
              <a:rPr lang="en-IN" sz="3600" dirty="0" err="1">
                <a:latin typeface="Times New Roman" panose="02020603050405020304" pitchFamily="18" charset="0"/>
                <a:cs typeface="Times New Roman" panose="02020603050405020304" pitchFamily="18" charset="0"/>
              </a:rPr>
              <a:t>init</a:t>
            </a:r>
            <a:r>
              <a:rPr lang="en-IN" sz="3600" dirty="0">
                <a:latin typeface="Times New Roman" panose="02020603050405020304" pitchFamily="18" charset="0"/>
                <a:cs typeface="Times New Roman" panose="02020603050405020304" pitchFamily="18" charset="0"/>
              </a:rPr>
              <a:t> spawns tasks like web servers, print servers, or the login screen.</a:t>
            </a:r>
            <a:endParaRPr lang="en-IN" sz="3600" dirty="0">
              <a:latin typeface="Times New Roman" panose="02020603050405020304" pitchFamily="18" charset="0"/>
              <a:cs typeface="Times New Roman" panose="02020603050405020304" pitchFamily="18" charset="0"/>
            </a:endParaRPr>
          </a:p>
          <a:p>
            <a:pPr marL="1028700" lvl="1" indent="-571500" algn="just">
              <a:buFont typeface="Arial" panose="020B0604020202020204" pitchFamily="34" charset="0"/>
              <a:buChar char="•"/>
            </a:pPr>
            <a:r>
              <a:rPr lang="en-IN" sz="3600" i="1" dirty="0">
                <a:latin typeface="Times New Roman" panose="02020603050405020304" pitchFamily="18" charset="0"/>
                <a:cs typeface="Times New Roman" panose="02020603050405020304" pitchFamily="18" charset="0"/>
              </a:rPr>
              <a:t>Command:</a:t>
            </a:r>
            <a:r>
              <a:rPr lang="en-IN" sz="3600" dirty="0">
                <a:latin typeface="Times New Roman" panose="02020603050405020304" pitchFamily="18" charset="0"/>
                <a:cs typeface="Times New Roman" panose="02020603050405020304" pitchFamily="18" charset="0"/>
              </a:rPr>
              <a:t> On UNIX/Linux, typing </a:t>
            </a:r>
            <a:r>
              <a:rPr lang="en-IN" sz="3600" b="1" dirty="0" err="1">
                <a:latin typeface="Times New Roman" panose="02020603050405020304" pitchFamily="18" charset="0"/>
                <a:cs typeface="Times New Roman" panose="02020603050405020304" pitchFamily="18" charset="0"/>
              </a:rPr>
              <a:t>ps</a:t>
            </a:r>
            <a:r>
              <a:rPr lang="en-IN" sz="3600" b="1" dirty="0">
                <a:latin typeface="Times New Roman" panose="02020603050405020304" pitchFamily="18" charset="0"/>
                <a:cs typeface="Times New Roman" panose="02020603050405020304" pitchFamily="18" charset="0"/>
              </a:rPr>
              <a:t> -</a:t>
            </a:r>
            <a:r>
              <a:rPr lang="en-IN" sz="3600" b="1" dirty="0" err="1">
                <a:latin typeface="Times New Roman" panose="02020603050405020304" pitchFamily="18" charset="0"/>
                <a:cs typeface="Times New Roman" panose="02020603050405020304" pitchFamily="18" charset="0"/>
              </a:rPr>
              <a:t>el</a:t>
            </a:r>
            <a:r>
              <a:rPr lang="en-IN" sz="3600" dirty="0">
                <a:latin typeface="Times New Roman" panose="02020603050405020304" pitchFamily="18" charset="0"/>
                <a:cs typeface="Times New Roman" panose="02020603050405020304" pitchFamily="18" charset="0"/>
              </a:rPr>
              <a:t> in the terminal will list complete information for all currently active processes.</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76200" y="551940"/>
            <a:ext cx="12191999" cy="6370975"/>
          </a:xfrm>
          <a:prstGeom prst="rect">
            <a:avLst/>
          </a:prstGeom>
          <a:noFill/>
        </p:spPr>
        <p:txBody>
          <a:bodyPr wrap="square">
            <a:spAutoFit/>
          </a:bodyPr>
          <a:lstStyle/>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 general, when a process creates a child process, that child process will need certain resources (CPU time, memory, files, I/O devices) to accomplish its task.</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A child process may be able to obtain its resources directly from the operating system, or it may be constrained to a subset of the resources of the parent process. </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parent may have to partition its resources among its children, or it may be able to share some resources (such as memory or files) among several of its children.</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Passing initialization data to child processes</a:t>
            </a:r>
            <a:r>
              <a:rPr lang="en-US" sz="2400" dirty="0">
                <a:latin typeface="Times New Roman" panose="02020603050405020304" pitchFamily="18" charset="0"/>
                <a:cs typeface="Times New Roman" panose="02020603050405020304" pitchFamily="18" charset="0"/>
              </a:rPr>
              <a:t>:-Parent processes can pass initialization data (such as file names or output devices) to child processes. Some systems pass open files, allowing the child to directly transfer data between resources.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example, consider a process whose function is to display the contents of a file-say, img.jpg-on the screen of a terminal. When it is created, it will get, as an input from its parent process, the name of the file img.jpg, and it will use that file name, open the file, and write the contents out. It may also get the name of the output device.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188536" y="551940"/>
            <a:ext cx="11927263" cy="606319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Process creation using fork()</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 UNIX, each process has a unique process identifier (PID). A new process is created using the fork() system call, which creates a child process by copying the parent’s address space. Both parent and child continue execution from the instruction following fork().</a:t>
            </a:r>
            <a:endParaRPr lang="en-US"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Return values and parent–child distinction</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After fork(), the child process receives a return value of 0, while the parent receives the PID of the child (a nonzero value). This return value allows the program to distinguish between parent and child processes.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Program replacement using exec()</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Typically, one of the processes (usually the child) calls the exec() system call to replace its memory space with a new program. The exec() call loads a new binary file (such as /bin/ls) into memory, destroying the old program image and starting execution of the new program.</a:t>
            </a:r>
            <a:endParaRPr lang="en-US"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Process synchronization using wait() and termination</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child process inherits resources and privileges from the parent and executes the new program. The parent process may call wait() to suspend execution until the child finishes. When the child terminates using exit(), the parent resumes and eventually completes its execution.</a:t>
            </a:r>
            <a:endParaRPr lang="en-US" sz="2000" dirty="0">
              <a:latin typeface="Times New Roman" panose="02020603050405020304" pitchFamily="18" charset="0"/>
              <a:cs typeface="Times New Roman" panose="02020603050405020304" pitchFamily="18" charset="0"/>
            </a:endParaRPr>
          </a:p>
          <a:p>
            <a:endParaRPr lang="en-US" dirty="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76200" y="551940"/>
            <a:ext cx="12191999" cy="4401205"/>
          </a:xfrm>
          <a:prstGeom prst="rect">
            <a:avLst/>
          </a:prstGeom>
          <a:noFill/>
        </p:spPr>
        <p:txBody>
          <a:bodyPr wrap="square">
            <a:spAutoFit/>
          </a:bodyPr>
          <a:lstStyle/>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When a process creates a new process, two possibilities for execution exist:</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 The parent continues to execute concurrently with its children.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The parent waits until some or all of its children have terminated.</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There are also two address-space possibilities for the new process:</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1. The child process is a duplicate of the parent process (it has the same program and data as the parent).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2. The child process has a new program loaded into it.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C Program Forking Separate Process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1"/>
          <a:stretch>
            <a:fillRect/>
          </a:stretch>
        </p:blipFill>
        <p:spPr>
          <a:xfrm>
            <a:off x="235671" y="623495"/>
            <a:ext cx="9123098" cy="577044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5" name="TextBox 4"/>
          <p:cNvSpPr txBox="1"/>
          <p:nvPr/>
        </p:nvSpPr>
        <p:spPr>
          <a:xfrm>
            <a:off x="76200" y="551940"/>
            <a:ext cx="12191999" cy="5016758"/>
          </a:xfrm>
          <a:prstGeom prst="rect">
            <a:avLst/>
          </a:prstGeom>
          <a:noFill/>
        </p:spPr>
        <p:txBody>
          <a:bodyPr wrap="square">
            <a:spAutoFit/>
          </a:bodyPr>
          <a:lstStyle/>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Process listing and monitoring</a:t>
            </a:r>
            <a:r>
              <a:rPr lang="en-US" sz="2000" dirty="0">
                <a:latin typeface="Times New Roman" panose="02020603050405020304" pitchFamily="18" charset="0"/>
                <a:cs typeface="Times New Roman" panose="02020603050405020304" pitchFamily="18" charset="0"/>
              </a:rPr>
              <a:t>:-In UNIX, the </a:t>
            </a:r>
            <a:r>
              <a:rPr lang="en-US" sz="2000" dirty="0" err="1">
                <a:latin typeface="Times New Roman" panose="02020603050405020304" pitchFamily="18" charset="0"/>
                <a:cs typeface="Times New Roman" panose="02020603050405020304" pitchFamily="18" charset="0"/>
              </a:rPr>
              <a:t>ps</a:t>
            </a:r>
            <a:r>
              <a:rPr lang="en-US" sz="2000" dirty="0">
                <a:latin typeface="Times New Roman" panose="02020603050405020304" pitchFamily="18" charset="0"/>
                <a:cs typeface="Times New Roman" panose="02020603050405020304" pitchFamily="18" charset="0"/>
              </a:rPr>
              <a:t> command (e.g., </a:t>
            </a:r>
            <a:r>
              <a:rPr lang="en-US" sz="2000" dirty="0" err="1">
                <a:latin typeface="Times New Roman" panose="02020603050405020304" pitchFamily="18" charset="0"/>
                <a:cs typeface="Times New Roman" panose="02020603050405020304" pitchFamily="18" charset="0"/>
              </a:rPr>
              <a:t>ps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el</a:t>
            </a:r>
            <a:r>
              <a:rPr lang="en-US" sz="2000" dirty="0">
                <a:latin typeface="Times New Roman" panose="02020603050405020304" pitchFamily="18" charset="0"/>
                <a:cs typeface="Times New Roman" panose="02020603050405020304" pitchFamily="18" charset="0"/>
              </a:rPr>
              <a:t>) is used to list active processes. A process tree can be constructed by tracing parent processes back to the </a:t>
            </a:r>
            <a:r>
              <a:rPr lang="en-US" sz="2000" dirty="0" err="1">
                <a:latin typeface="Times New Roman" panose="02020603050405020304" pitchFamily="18" charset="0"/>
                <a:cs typeface="Times New Roman" panose="02020603050405020304" pitchFamily="18" charset="0"/>
              </a:rPr>
              <a:t>init</a:t>
            </a:r>
            <a:r>
              <a:rPr lang="en-US" sz="2000" dirty="0">
                <a:latin typeface="Times New Roman" panose="02020603050405020304" pitchFamily="18" charset="0"/>
                <a:cs typeface="Times New Roman" panose="02020603050405020304" pitchFamily="18" charset="0"/>
              </a:rPr>
              <a:t> process.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Resource allocation and control</a:t>
            </a:r>
            <a:r>
              <a:rPr lang="en-US" sz="2000" dirty="0">
                <a:latin typeface="Times New Roman" panose="02020603050405020304" pitchFamily="18" charset="0"/>
                <a:cs typeface="Times New Roman" panose="02020603050405020304" pitchFamily="18" charset="0"/>
              </a:rPr>
              <a:t>:-Processes require resources such as CPU time, memory, files, and I/O devices. Child processes may obtain resources directly from the operating system or inherit a subset of the parent’s resources. Resource sharing and partitioning help prevent system overload.</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Passing initialization data to child processes</a:t>
            </a:r>
            <a:r>
              <a:rPr lang="en-US" sz="2000" dirty="0">
                <a:latin typeface="Times New Roman" panose="02020603050405020304" pitchFamily="18" charset="0"/>
                <a:cs typeface="Times New Roman" panose="02020603050405020304" pitchFamily="18" charset="0"/>
              </a:rPr>
              <a:t>:-Parent processes can pass initialization data (such as file names or output devices) to child processes. Some systems pass open files, allowing the child to directly transfer data between resources.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Execution behavior and address space (UNIX fork):</a:t>
            </a:r>
            <a:r>
              <a:rPr lang="en-US" sz="2000" dirty="0">
                <a:latin typeface="Times New Roman" panose="02020603050405020304" pitchFamily="18" charset="0"/>
                <a:cs typeface="Times New Roman" panose="02020603050405020304" pitchFamily="18" charset="0"/>
              </a:rPr>
              <a:t>After creation, the parent may execute concurrently with the child or wait for its termination. In UNIX, the fork() system call creates a child process that is a duplicate of the parent’s address space; both continue execution, with the child receiving a return value of 0 and the parent receiving the child’s PID</a:t>
            </a:r>
            <a:r>
              <a:rPr lang="en-US" dirty="0"/>
              <a:t>.</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4000" y="-9331"/>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0" y="820227"/>
            <a:ext cx="11868345" cy="5755422"/>
          </a:xfrm>
          <a:prstGeom prst="rect">
            <a:avLst/>
          </a:prstGeom>
          <a:noFill/>
        </p:spPr>
        <p:txBody>
          <a:bodyPr wrap="square" rtlCol="0">
            <a:spAutoFit/>
          </a:bodyPr>
          <a:lstStyle/>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Process creation and hierarchy:-</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process can create multiple new processes during its execution using a create-process system call. The creating process is called the parent, and the newly created ones are children. Repeated creation forms a hierarchical process tree.</a:t>
            </a:r>
            <a:endParaRPr lang="en-US" sz="2000"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Process identification using PID:-</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Every process in an operating system is uniquely identified by a process identifier (PID), usually an integer. Operating systems like UNIX, Windows, and Solaris use PIDs to manage and track processes.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Process tree example in Solaris:</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 Solaris, the root of the process tree is the sched process (PID 0), which creates system processes such as </a:t>
            </a:r>
            <a:r>
              <a:rPr lang="en-US" sz="2000" dirty="0" err="1">
                <a:latin typeface="Times New Roman" panose="02020603050405020304" pitchFamily="18" charset="0"/>
                <a:cs typeface="Times New Roman" panose="02020603050405020304" pitchFamily="18" charset="0"/>
              </a:rPr>
              <a:t>pageout</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fsflush</a:t>
            </a:r>
            <a:r>
              <a:rPr lang="en-US" sz="2000" dirty="0">
                <a:latin typeface="Times New Roman" panose="02020603050405020304" pitchFamily="18" charset="0"/>
                <a:cs typeface="Times New Roman" panose="02020603050405020304" pitchFamily="18" charset="0"/>
              </a:rPr>
              <a:t> for memory and file-system management. It also creates the </a:t>
            </a:r>
            <a:r>
              <a:rPr lang="en-US" sz="2000" dirty="0" err="1">
                <a:latin typeface="Times New Roman" panose="02020603050405020304" pitchFamily="18" charset="0"/>
                <a:cs typeface="Times New Roman" panose="02020603050405020304" pitchFamily="18" charset="0"/>
              </a:rPr>
              <a:t>init</a:t>
            </a:r>
            <a:r>
              <a:rPr lang="en-US" sz="2000" dirty="0">
                <a:latin typeface="Times New Roman" panose="02020603050405020304" pitchFamily="18" charset="0"/>
                <a:cs typeface="Times New Roman" panose="02020603050405020304" pitchFamily="18" charset="0"/>
              </a:rPr>
              <a:t> process, the parent of all user processes</a:t>
            </a:r>
            <a:r>
              <a:rPr lang="en-US" dirty="0"/>
              <a:t>.</a:t>
            </a:r>
            <a:endParaRPr lang="en-US" dirty="0"/>
          </a:p>
          <a:p>
            <a:endParaRPr lang="en-US" b="1" dirty="0"/>
          </a:p>
          <a:p>
            <a:r>
              <a:rPr lang="en-US" sz="2000" b="1" dirty="0">
                <a:latin typeface="Times New Roman" panose="02020603050405020304" pitchFamily="18" charset="0"/>
                <a:cs typeface="Times New Roman" panose="02020603050405020304" pitchFamily="18" charset="0"/>
              </a:rPr>
              <a:t>User processes and shells: </a:t>
            </a:r>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init</a:t>
            </a:r>
            <a:r>
              <a:rPr lang="en-US" sz="2000" dirty="0">
                <a:latin typeface="Times New Roman" panose="02020603050405020304" pitchFamily="18" charset="0"/>
                <a:cs typeface="Times New Roman" panose="02020603050405020304" pitchFamily="18" charset="0"/>
              </a:rPr>
              <a:t> process creates services like </a:t>
            </a:r>
            <a:r>
              <a:rPr lang="en-US" sz="2000" dirty="0" err="1">
                <a:latin typeface="Times New Roman" panose="02020603050405020304" pitchFamily="18" charset="0"/>
                <a:cs typeface="Times New Roman" panose="02020603050405020304" pitchFamily="18" charset="0"/>
              </a:rPr>
              <a:t>inetd</a:t>
            </a:r>
            <a:r>
              <a:rPr lang="en-US" sz="2000" dirty="0">
                <a:latin typeface="Times New Roman" panose="02020603050405020304" pitchFamily="18" charset="0"/>
                <a:cs typeface="Times New Roman" panose="02020603050405020304" pitchFamily="18" charset="0"/>
              </a:rPr>
              <a:t> (network services) and </a:t>
            </a:r>
            <a:r>
              <a:rPr lang="en-US" sz="2000" dirty="0" err="1">
                <a:latin typeface="Times New Roman" panose="02020603050405020304" pitchFamily="18" charset="0"/>
                <a:cs typeface="Times New Roman" panose="02020603050405020304" pitchFamily="18" charset="0"/>
              </a:rPr>
              <a:t>dtlogin</a:t>
            </a:r>
            <a:r>
              <a:rPr lang="en-US" sz="2000" dirty="0">
                <a:latin typeface="Times New Roman" panose="02020603050405020304" pitchFamily="18" charset="0"/>
                <a:cs typeface="Times New Roman" panose="02020603050405020304" pitchFamily="18" charset="0"/>
              </a:rPr>
              <a:t> (login manager). User login leads to the creation of sessions and shells (such as </a:t>
            </a:r>
            <a:r>
              <a:rPr lang="en-US" sz="2000" dirty="0" err="1">
                <a:latin typeface="Times New Roman" panose="02020603050405020304" pitchFamily="18" charset="0"/>
                <a:cs typeface="Times New Roman" panose="02020603050405020304" pitchFamily="18" charset="0"/>
              </a:rPr>
              <a:t>csh</a:t>
            </a:r>
            <a:r>
              <a:rPr lang="en-US" sz="2000" dirty="0">
                <a:latin typeface="Times New Roman" panose="02020603050405020304" pitchFamily="18" charset="0"/>
                <a:cs typeface="Times New Roman" panose="02020603050405020304" pitchFamily="18" charset="0"/>
              </a:rPr>
              <a:t>), which further create child processes like commands and applications.</a:t>
            </a:r>
            <a:endParaRPr lang="en-US" sz="20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1"/>
          <a:stretch>
            <a:fillRect/>
          </a:stretch>
        </p:blipFill>
        <p:spPr>
          <a:xfrm>
            <a:off x="1432861" y="1595181"/>
            <a:ext cx="9326277" cy="3667637"/>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 in Windows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2"/>
          <p:cNvSpPr>
            <a:spLocks noChangeArrowheads="1"/>
          </p:cNvSpPr>
          <p:nvPr/>
        </p:nvSpPr>
        <p:spPr bwMode="auto">
          <a:xfrm>
            <a:off x="680804" y="754787"/>
            <a:ext cx="10820397" cy="5632311"/>
          </a:xfrm>
          <a:prstGeom prst="rect">
            <a:avLst/>
          </a:prstGeom>
          <a:solidFill>
            <a:schemeClr val="bg1"/>
          </a:solidFill>
          <a:ln>
            <a:noFill/>
          </a:ln>
          <a:effec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71500"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Unlike the "copy-paste" nature of UNIX fork(), Windows uses a </a:t>
            </a:r>
            <a:r>
              <a:rPr lang="en-IN" sz="3600" b="1" dirty="0">
                <a:latin typeface="Times New Roman" panose="02020603050405020304" pitchFamily="18" charset="0"/>
                <a:cs typeface="Times New Roman" panose="02020603050405020304" pitchFamily="18" charset="0"/>
              </a:rPr>
              <a:t>direct creation</a:t>
            </a:r>
            <a:r>
              <a:rPr lang="en-IN" sz="3600" dirty="0">
                <a:latin typeface="Times New Roman" panose="02020603050405020304" pitchFamily="18" charset="0"/>
                <a:cs typeface="Times New Roman" panose="02020603050405020304" pitchFamily="18" charset="0"/>
              </a:rPr>
              <a:t> approach. </a:t>
            </a:r>
            <a:endParaRPr lang="en-IN" sz="3600" dirty="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There is no cloning; a process is born as a new entity with its own executable right from the start.</a:t>
            </a:r>
            <a:endParaRPr lang="en-IN" sz="3600" dirty="0">
              <a:latin typeface="Times New Roman" panose="02020603050405020304" pitchFamily="18" charset="0"/>
              <a:cs typeface="Times New Roman" panose="02020603050405020304" pitchFamily="18" charset="0"/>
            </a:endParaRPr>
          </a:p>
          <a:p>
            <a:pPr algn="just"/>
            <a:r>
              <a:rPr lang="en-IN" sz="3600" b="1" dirty="0">
                <a:latin typeface="Times New Roman" panose="02020603050405020304" pitchFamily="18" charset="0"/>
                <a:cs typeface="Times New Roman" panose="02020603050405020304" pitchFamily="18" charset="0"/>
              </a:rPr>
              <a:t>Key Differences: Windows vs. UNIX</a:t>
            </a:r>
            <a:endParaRPr lang="en-IN" sz="3600" b="1" dirty="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No Cloning:</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CreateProcess</a:t>
            </a:r>
            <a:r>
              <a:rPr lang="en-IN" sz="3600" dirty="0">
                <a:latin typeface="Times New Roman" panose="02020603050405020304" pitchFamily="18" charset="0"/>
                <a:cs typeface="Times New Roman" panose="02020603050405020304" pitchFamily="18" charset="0"/>
              </a:rPr>
              <a:t>() loads a specific program into the child’s address space immediately.</a:t>
            </a:r>
            <a:endParaRPr lang="en-IN" sz="3600" dirty="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Parameter Complexity:</a:t>
            </a:r>
            <a:r>
              <a:rPr lang="en-IN" sz="3600" dirty="0">
                <a:latin typeface="Times New Roman" panose="02020603050405020304" pitchFamily="18" charset="0"/>
                <a:cs typeface="Times New Roman" panose="02020603050405020304" pitchFamily="18" charset="0"/>
              </a:rPr>
              <a:t> * UNIX fork() = </a:t>
            </a:r>
            <a:r>
              <a:rPr lang="en-IN" sz="3600" b="1" dirty="0">
                <a:latin typeface="Times New Roman" panose="02020603050405020304" pitchFamily="18" charset="0"/>
                <a:cs typeface="Times New Roman" panose="02020603050405020304" pitchFamily="18" charset="0"/>
              </a:rPr>
              <a:t>0 parameters</a:t>
            </a:r>
            <a:r>
              <a:rPr lang="en-IN" sz="3600" dirty="0">
                <a:latin typeface="Times New Roman" panose="02020603050405020304" pitchFamily="18" charset="0"/>
                <a:cs typeface="Times New Roman" panose="02020603050405020304" pitchFamily="18" charset="0"/>
              </a:rPr>
              <a:t>.</a:t>
            </a:r>
            <a:endParaRPr lang="en-IN" sz="3600" dirty="0">
              <a:latin typeface="Times New Roman" panose="02020603050405020304" pitchFamily="18" charset="0"/>
              <a:cs typeface="Times New Roman" panose="02020603050405020304" pitchFamily="18" charset="0"/>
            </a:endParaRPr>
          </a:p>
          <a:p>
            <a:pPr marL="1028700" lvl="1"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Windows </a:t>
            </a:r>
            <a:r>
              <a:rPr lang="en-IN" sz="3600" dirty="0" err="1">
                <a:latin typeface="Times New Roman" panose="02020603050405020304" pitchFamily="18" charset="0"/>
                <a:cs typeface="Times New Roman" panose="02020603050405020304" pitchFamily="18" charset="0"/>
              </a:rPr>
              <a:t>CreateProcess</a:t>
            </a:r>
            <a:r>
              <a:rPr lang="en-IN" sz="3600" dirty="0">
                <a:latin typeface="Times New Roman" panose="02020603050405020304" pitchFamily="18" charset="0"/>
                <a:cs typeface="Times New Roman" panose="02020603050405020304" pitchFamily="18" charset="0"/>
              </a:rPr>
              <a:t>() = </a:t>
            </a:r>
            <a:r>
              <a:rPr lang="en-IN" sz="3600" b="1" dirty="0">
                <a:latin typeface="Times New Roman" panose="02020603050405020304" pitchFamily="18" charset="0"/>
                <a:cs typeface="Times New Roman" panose="02020603050405020304" pitchFamily="18" charset="0"/>
              </a:rPr>
              <a:t>10 parameters</a:t>
            </a:r>
            <a:r>
              <a:rPr lang="en-IN" sz="3600" dirty="0">
                <a:latin typeface="Times New Roman" panose="02020603050405020304" pitchFamily="18" charset="0"/>
                <a:cs typeface="Times New Roman" panose="02020603050405020304" pitchFamily="18" charset="0"/>
              </a:rPr>
              <a:t>.</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9" name="Google Shape;29;p5"/>
          <p:cNvSpPr txBox="1"/>
          <p:nvPr/>
        </p:nvSpPr>
        <p:spPr>
          <a:xfrm>
            <a:off x="1521641" y="-94173"/>
            <a:ext cx="9144000"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Creation in Windows</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Rectangle 2"/>
          <p:cNvSpPr>
            <a:spLocks noChangeArrowheads="1"/>
          </p:cNvSpPr>
          <p:nvPr/>
        </p:nvSpPr>
        <p:spPr bwMode="auto">
          <a:xfrm>
            <a:off x="685801" y="644671"/>
            <a:ext cx="10820398" cy="6222678"/>
          </a:xfrm>
          <a:prstGeom prst="rect">
            <a:avLst/>
          </a:prstGeom>
          <a:solidFill>
            <a:schemeClr val="bg1"/>
          </a:solidFill>
          <a:ln>
            <a:noFill/>
          </a:ln>
          <a:effectLst/>
        </p:spPr>
        <p:txBody>
          <a:bodyPr vert="horz" wrap="square" lIns="91440" tIns="45720" rIns="91440" bIns="45720" numCol="1" anchor="ctr"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r>
              <a:rPr lang="en-IN" sz="2800" b="1" dirty="0">
                <a:latin typeface="Times New Roman" panose="02020603050405020304" pitchFamily="18" charset="0"/>
                <a:cs typeface="Times New Roman" panose="02020603050405020304" pitchFamily="18" charset="0"/>
              </a:rPr>
              <a:t>The Anatomy of </a:t>
            </a:r>
            <a:r>
              <a:rPr lang="en-IN" sz="2800" b="1" dirty="0" err="1">
                <a:latin typeface="Times New Roman" panose="02020603050405020304" pitchFamily="18" charset="0"/>
                <a:cs typeface="Times New Roman" panose="02020603050405020304" pitchFamily="18" charset="0"/>
              </a:rPr>
              <a:t>CreateProcess</a:t>
            </a:r>
            <a:r>
              <a:rPr lang="en-IN" sz="2800" b="1" dirty="0">
                <a:latin typeface="Times New Roman" panose="02020603050405020304" pitchFamily="18" charset="0"/>
                <a:cs typeface="Times New Roman" panose="02020603050405020304" pitchFamily="18" charset="0"/>
              </a:rPr>
              <a:t>()</a:t>
            </a:r>
            <a:endParaRPr lang="en-IN"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Application &amp; Command Line:</a:t>
            </a:r>
            <a:r>
              <a:rPr lang="en-IN" sz="2800" dirty="0">
                <a:latin typeface="Times New Roman" panose="02020603050405020304" pitchFamily="18" charset="0"/>
                <a:cs typeface="Times New Roman" panose="02020603050405020304" pitchFamily="18" charset="0"/>
              </a:rPr>
              <a:t> Defines </a:t>
            </a:r>
            <a:r>
              <a:rPr lang="en-IN" sz="2800" i="1" dirty="0">
                <a:latin typeface="Times New Roman" panose="02020603050405020304" pitchFamily="18" charset="0"/>
                <a:cs typeface="Times New Roman" panose="02020603050405020304" pitchFamily="18" charset="0"/>
              </a:rPr>
              <a:t>what</a:t>
            </a:r>
            <a:r>
              <a:rPr lang="en-IN" sz="2800" dirty="0">
                <a:latin typeface="Times New Roman" panose="02020603050405020304" pitchFamily="18" charset="0"/>
                <a:cs typeface="Times New Roman" panose="02020603050405020304" pitchFamily="18" charset="0"/>
              </a:rPr>
              <a:t> to run</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Security &amp; Inheritance:</a:t>
            </a:r>
            <a:r>
              <a:rPr lang="en-IN" sz="2800" dirty="0">
                <a:latin typeface="Times New Roman" panose="02020603050405020304" pitchFamily="18" charset="0"/>
                <a:cs typeface="Times New Roman" panose="02020603050405020304" pitchFamily="18" charset="0"/>
              </a:rPr>
              <a:t> Middle parameters handle process/thread handles and environment blocks.</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The Structures:</a:t>
            </a:r>
            <a:r>
              <a:rPr lang="en-IN" sz="2800" dirty="0">
                <a:latin typeface="Times New Roman" panose="02020603050405020304" pitchFamily="18" charset="0"/>
                <a:cs typeface="Times New Roman" panose="02020603050405020304" pitchFamily="18" charset="0"/>
              </a:rPr>
              <a:t> The final two parameters are pointers to:</a:t>
            </a:r>
            <a:endParaRPr lang="en-IN"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STARTUPINFO: Window appearance and handles.</a:t>
            </a:r>
            <a:endParaRPr lang="en-IN" sz="2800" dirty="0">
              <a:latin typeface="Times New Roman" panose="02020603050405020304" pitchFamily="18" charset="0"/>
              <a:cs typeface="Times New Roman" panose="02020603050405020304" pitchFamily="18" charset="0"/>
            </a:endParaRPr>
          </a:p>
          <a:p>
            <a:pPr marL="914400" lvl="1"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PROCESS_INFORMATION: Receives identification handles for the new child.</a:t>
            </a:r>
            <a:endParaRPr lang="en-IN" sz="2800" dirty="0">
              <a:latin typeface="Times New Roman" panose="02020603050405020304" pitchFamily="18" charset="0"/>
              <a:cs typeface="Times New Roman" panose="02020603050405020304" pitchFamily="18" charset="0"/>
            </a:endParaRPr>
          </a:p>
          <a:p>
            <a:pPr algn="just"/>
            <a:r>
              <a:rPr lang="en-IN" sz="2800" b="1" dirty="0">
                <a:latin typeface="Times New Roman" panose="02020603050405020304" pitchFamily="18" charset="0"/>
                <a:cs typeface="Times New Roman" panose="02020603050405020304" pitchFamily="18" charset="0"/>
              </a:rPr>
              <a:t>Waiting for the Child</a:t>
            </a:r>
            <a:endParaRPr lang="en-IN" sz="2800" b="1"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To synchronize, Windows uses </a:t>
            </a:r>
            <a:r>
              <a:rPr lang="en-IN" sz="2800" dirty="0" err="1">
                <a:latin typeface="Times New Roman" panose="02020603050405020304" pitchFamily="18" charset="0"/>
                <a:cs typeface="Times New Roman" panose="02020603050405020304" pitchFamily="18" charset="0"/>
              </a:rPr>
              <a:t>WaitForSingleObject</a:t>
            </a:r>
            <a:r>
              <a:rPr lang="en-IN" sz="2800" dirty="0">
                <a:latin typeface="Times New Roman" panose="02020603050405020304" pitchFamily="18" charset="0"/>
                <a:cs typeface="Times New Roman" panose="02020603050405020304" pitchFamily="18" charset="0"/>
              </a:rPr>
              <a:t>() instead of wait().</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Mechanism:</a:t>
            </a:r>
            <a:r>
              <a:rPr lang="en-IN" sz="2800" dirty="0">
                <a:latin typeface="Times New Roman" panose="02020603050405020304" pitchFamily="18" charset="0"/>
                <a:cs typeface="Times New Roman" panose="02020603050405020304" pitchFamily="18" charset="0"/>
              </a:rPr>
              <a:t> The parent uses the </a:t>
            </a:r>
            <a:r>
              <a:rPr lang="en-IN" sz="2800" dirty="0" err="1">
                <a:latin typeface="Times New Roman" panose="02020603050405020304" pitchFamily="18" charset="0"/>
                <a:cs typeface="Times New Roman" panose="02020603050405020304" pitchFamily="18" charset="0"/>
              </a:rPr>
              <a:t>hProcess</a:t>
            </a:r>
            <a:r>
              <a:rPr lang="en-IN" sz="2800" dirty="0">
                <a:latin typeface="Times New Roman" panose="02020603050405020304" pitchFamily="18" charset="0"/>
                <a:cs typeface="Times New Roman" panose="02020603050405020304" pitchFamily="18" charset="0"/>
              </a:rPr>
              <a:t> handle from the PROCESS_INFORMATION structure.</a:t>
            </a:r>
            <a:endParaRPr lang="en-IN"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Result:</a:t>
            </a:r>
            <a:r>
              <a:rPr lang="en-IN" sz="2800" dirty="0">
                <a:latin typeface="Times New Roman" panose="02020603050405020304" pitchFamily="18" charset="0"/>
                <a:cs typeface="Times New Roman" panose="02020603050405020304" pitchFamily="18" charset="0"/>
              </a:rPr>
              <a:t> The parent "pauses" until the child signals it has finished.</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Termination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659876" y="1121790"/>
            <a:ext cx="10341204" cy="2862322"/>
          </a:xfrm>
          <a:prstGeom prst="rect">
            <a:avLst/>
          </a:prstGeom>
          <a:noFill/>
        </p:spPr>
        <p:txBody>
          <a:bodyPr wrap="square" rtlCol="0">
            <a:spAutoFit/>
          </a:bodyPr>
          <a:lstStyle/>
          <a:p>
            <a:pPr marL="285750" indent="-28575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Normal process termination</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process terminates by calling the exit() system call after completing execution. It may return a status value to its parent through the wait() system call, and the operating system deallocates all resources such as memory, open files, and I/O buffers.</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Termination by another process</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process can also be terminated by another process using a system call (e.g., </a:t>
            </a:r>
            <a:r>
              <a:rPr lang="en-US" sz="2000" dirty="0" err="1">
                <a:latin typeface="Times New Roman" panose="02020603050405020304" pitchFamily="18" charset="0"/>
                <a:cs typeface="Times New Roman" panose="02020603050405020304" pitchFamily="18" charset="0"/>
              </a:rPr>
              <a:t>TerminateProcess</a:t>
            </a:r>
            <a:r>
              <a:rPr lang="en-US" sz="2000" dirty="0">
                <a:latin typeface="Times New Roman" panose="02020603050405020304" pitchFamily="18" charset="0"/>
                <a:cs typeface="Times New Roman" panose="02020603050405020304" pitchFamily="18" charset="0"/>
              </a:rPr>
              <a:t>() in Win32), usually only by its parent. To enable this, the parent is informed of the child’s identity when the process is created.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Termination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3"/>
          <p:cNvSpPr txBox="1"/>
          <p:nvPr/>
        </p:nvSpPr>
        <p:spPr>
          <a:xfrm>
            <a:off x="245097" y="1055802"/>
            <a:ext cx="11359299" cy="415498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A parent may terminate the execution of one of its children for a variety of reasons, such as these: </a:t>
            </a:r>
            <a:endParaRPr lang="en-US" sz="2400" b="1"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child has exceeded its usage of some of the resources that it has been allocated. (To determine whether this has occurred, the parent must have a mechanism to inspect the state of its children.) </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task assigned to the child is no longer required. </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parent is exiting, and the operating system does not allow a child to continue if its parent terminates.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Process Termination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1"/>
          <p:cNvSpPr/>
          <p:nvPr/>
        </p:nvSpPr>
        <p:spPr>
          <a:xfrm>
            <a:off x="913764" y="635945"/>
            <a:ext cx="10820400" cy="5211683"/>
          </a:xfrm>
          <a:prstGeom prst="rect">
            <a:avLst/>
          </a:prstGeom>
        </p:spPr>
        <p:txBody>
          <a:bodyPr wrap="square">
            <a:spAutoFit/>
          </a:bodyPr>
          <a:lstStyle/>
          <a:p>
            <a:pPr algn="just">
              <a:spcAft>
                <a:spcPts val="800"/>
              </a:spcAft>
            </a:pPr>
            <a:r>
              <a:rPr lang="en-US" sz="3400" b="1" dirty="0">
                <a:latin typeface="Times New Roman" panose="02020603050405020304" pitchFamily="18" charset="0"/>
                <a:ea typeface="Calibri" panose="020F0502020204030204" pitchFamily="34" charset="0"/>
                <a:cs typeface="Times New Roman" panose="02020603050405020304" pitchFamily="18" charset="0"/>
              </a:rPr>
              <a:t>Reasons a Parent Terminates a Child:</a:t>
            </a:r>
            <a:endParaRPr lang="en-US" sz="3400" b="1"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spcAft>
                <a:spcPts val="800"/>
              </a:spcAft>
              <a:buFont typeface="+mj-lt"/>
              <a:buAutoNum type="arabicPeriod"/>
            </a:pPr>
            <a:r>
              <a:rPr lang="en-US" sz="3400" dirty="0">
                <a:latin typeface="Times New Roman" panose="02020603050405020304" pitchFamily="18" charset="0"/>
                <a:ea typeface="Calibri" panose="020F0502020204030204" pitchFamily="34" charset="0"/>
                <a:cs typeface="Times New Roman" panose="02020603050405020304" pitchFamily="18" charset="0"/>
              </a:rPr>
              <a:t>The child has exceeded its usage of allocated resources.</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spcAft>
                <a:spcPts val="800"/>
              </a:spcAft>
              <a:buFont typeface="+mj-lt"/>
              <a:buAutoNum type="arabicPeriod"/>
            </a:pPr>
            <a:r>
              <a:rPr lang="en-US" sz="3400" dirty="0">
                <a:latin typeface="Times New Roman" panose="02020603050405020304" pitchFamily="18" charset="0"/>
                <a:ea typeface="Calibri" panose="020F0502020204030204" pitchFamily="34" charset="0"/>
                <a:cs typeface="Times New Roman" panose="02020603050405020304" pitchFamily="18" charset="0"/>
              </a:rPr>
              <a:t>The task assigned to the child is no longer required.</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spcAft>
                <a:spcPts val="800"/>
              </a:spcAft>
              <a:buFont typeface="+mj-lt"/>
              <a:buAutoNum type="arabicPeriod"/>
            </a:pPr>
            <a:r>
              <a:rPr lang="en-US" sz="3400" dirty="0">
                <a:latin typeface="Times New Roman" panose="02020603050405020304" pitchFamily="18" charset="0"/>
                <a:ea typeface="Calibri" panose="020F0502020204030204" pitchFamily="34" charset="0"/>
                <a:cs typeface="Times New Roman" panose="02020603050405020304" pitchFamily="18" charset="0"/>
              </a:rPr>
              <a:t>The parent is exiting, and the OS does not allow a child to continue without a parent.</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US" sz="3400" b="1" dirty="0">
                <a:latin typeface="Times New Roman" panose="02020603050405020304" pitchFamily="18" charset="0"/>
                <a:ea typeface="Calibri" panose="020F0502020204030204" pitchFamily="34" charset="0"/>
                <a:cs typeface="Times New Roman" panose="02020603050405020304" pitchFamily="18" charset="0"/>
              </a:rPr>
              <a:t>Cascading Termination: </a:t>
            </a:r>
            <a:r>
              <a:rPr lang="en-US" sz="3400" dirty="0">
                <a:latin typeface="Times New Roman" panose="02020603050405020304" pitchFamily="18" charset="0"/>
                <a:ea typeface="Calibri" panose="020F0502020204030204" pitchFamily="34" charset="0"/>
                <a:cs typeface="Times New Roman" panose="02020603050405020304" pitchFamily="18" charset="0"/>
              </a:rPr>
              <a:t>A phenomenon initiated by the OS in certain systems: if a parent process terminates (normally or abnormally), then all of its children must also be terminated.</a:t>
            </a:r>
            <a:endParaRPr lang="en-IN" sz="3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Zombie Process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Rectangle 2"/>
          <p:cNvSpPr/>
          <p:nvPr/>
        </p:nvSpPr>
        <p:spPr>
          <a:xfrm>
            <a:off x="913764" y="635945"/>
            <a:ext cx="10820400" cy="5109091"/>
          </a:xfrm>
          <a:prstGeom prst="rect">
            <a:avLst/>
          </a:prstGeom>
        </p:spPr>
        <p:txBody>
          <a:bodyPr wrap="square">
            <a:spAutoFit/>
          </a:bodyPr>
          <a:lstStyle/>
          <a:p>
            <a:pPr algn="just">
              <a:spcAft>
                <a:spcPts val="800"/>
              </a:spcAft>
            </a:pPr>
            <a:r>
              <a:rPr lang="en-US" sz="3400" b="1" dirty="0">
                <a:latin typeface="Times New Roman" panose="02020603050405020304" pitchFamily="18" charset="0"/>
                <a:ea typeface="Calibri" panose="020F0502020204030204" pitchFamily="34" charset="0"/>
                <a:cs typeface="Times New Roman" panose="02020603050405020304" pitchFamily="18" charset="0"/>
              </a:rPr>
              <a:t>The wait() System Call: </a:t>
            </a:r>
            <a:r>
              <a:rPr lang="en-US" sz="3400" dirty="0">
                <a:latin typeface="Times New Roman" panose="02020603050405020304" pitchFamily="18" charset="0"/>
                <a:ea typeface="Calibri" panose="020F0502020204030204" pitchFamily="34" charset="0"/>
                <a:cs typeface="Times New Roman" panose="02020603050405020304" pitchFamily="18" charset="0"/>
              </a:rPr>
              <a:t>A parent process uses wait() to pause its own execution until a child terminates, allowing the parent to collect the child's exit status and PID.</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US" sz="3400" b="1" dirty="0">
                <a:latin typeface="Times New Roman" panose="02020603050405020304" pitchFamily="18" charset="0"/>
                <a:ea typeface="Calibri" panose="020F0502020204030204" pitchFamily="34" charset="0"/>
                <a:cs typeface="Times New Roman" panose="02020603050405020304" pitchFamily="18" charset="0"/>
              </a:rPr>
              <a:t>Zombie Process: </a:t>
            </a:r>
            <a:r>
              <a:rPr lang="en-US" sz="3400" dirty="0">
                <a:latin typeface="Times New Roman" panose="02020603050405020304" pitchFamily="18" charset="0"/>
                <a:ea typeface="Calibri" panose="020F0502020204030204" pitchFamily="34" charset="0"/>
                <a:cs typeface="Times New Roman" panose="02020603050405020304" pitchFamily="18" charset="0"/>
              </a:rPr>
              <a:t>A process that has terminated, but its parent has not yet called wait().</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spcAft>
                <a:spcPts val="800"/>
              </a:spcAft>
              <a:buFont typeface="Arial" panose="020B0604020202020204" pitchFamily="34" charset="0"/>
              <a:buChar char="•"/>
            </a:pPr>
            <a:r>
              <a:rPr lang="en-US" sz="3400" dirty="0">
                <a:latin typeface="Times New Roman" panose="02020603050405020304" pitchFamily="18" charset="0"/>
                <a:ea typeface="Calibri" panose="020F0502020204030204" pitchFamily="34" charset="0"/>
                <a:cs typeface="Times New Roman" panose="02020603050405020304" pitchFamily="18" charset="0"/>
              </a:rPr>
              <a:t>Its resources are deallocated, but its process table entry remains to hold the exit status.</a:t>
            </a:r>
            <a:endParaRPr lang="en-US" sz="34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spcAft>
                <a:spcPts val="800"/>
              </a:spcAft>
              <a:buFont typeface="Arial" panose="020B0604020202020204" pitchFamily="34" charset="0"/>
              <a:buChar char="•"/>
            </a:pPr>
            <a:r>
              <a:rPr lang="en-US" sz="3400" dirty="0">
                <a:latin typeface="Times New Roman" panose="02020603050405020304" pitchFamily="18" charset="0"/>
                <a:ea typeface="Calibri" panose="020F0502020204030204" pitchFamily="34" charset="0"/>
                <a:cs typeface="Times New Roman" panose="02020603050405020304" pitchFamily="18" charset="0"/>
              </a:rPr>
              <a:t>All processes become zombies briefly. The entry is released once the parent finally calls wait().</a:t>
            </a:r>
            <a:endParaRPr lang="en-IN" sz="34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Orphan Process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Rectangle 1"/>
          <p:cNvSpPr/>
          <p:nvPr/>
        </p:nvSpPr>
        <p:spPr>
          <a:xfrm>
            <a:off x="913764" y="635945"/>
            <a:ext cx="10820400" cy="4832092"/>
          </a:xfrm>
          <a:prstGeom prst="rect">
            <a:avLst/>
          </a:prstGeom>
        </p:spPr>
        <p:txBody>
          <a:bodyPr wrap="square">
            <a:spAutoFit/>
          </a:bodyPr>
          <a:lstStyle/>
          <a:p>
            <a:pPr algn="just">
              <a:spcAft>
                <a:spcPts val="800"/>
              </a:spcAft>
            </a:pPr>
            <a:r>
              <a:rPr lang="en-US" sz="3600" b="1" dirty="0">
                <a:latin typeface="Times New Roman" panose="02020603050405020304" pitchFamily="18" charset="0"/>
                <a:ea typeface="Calibri" panose="020F0502020204030204" pitchFamily="34" charset="0"/>
                <a:cs typeface="Times New Roman" panose="02020603050405020304" pitchFamily="18" charset="0"/>
              </a:rPr>
              <a:t>Orphan Process: </a:t>
            </a:r>
            <a:r>
              <a:rPr lang="en-US" sz="3600" dirty="0">
                <a:latin typeface="Times New Roman" panose="02020603050405020304" pitchFamily="18" charset="0"/>
                <a:ea typeface="Calibri" panose="020F0502020204030204" pitchFamily="34" charset="0"/>
                <a:cs typeface="Times New Roman" panose="02020603050405020304" pitchFamily="18" charset="0"/>
              </a:rPr>
              <a:t>A child process whose parent has terminated without invoking wait().</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800"/>
              </a:spcAft>
            </a:pPr>
            <a:r>
              <a:rPr lang="en-US" sz="3600" b="1" dirty="0">
                <a:latin typeface="Times New Roman" panose="02020603050405020304" pitchFamily="18" charset="0"/>
                <a:ea typeface="Calibri" panose="020F0502020204030204" pitchFamily="34" charset="0"/>
                <a:cs typeface="Times New Roman" panose="02020603050405020304" pitchFamily="18" charset="0"/>
              </a:rPr>
              <a:t>Handling Orphans (Linux/UNIX):</a:t>
            </a:r>
            <a:endParaRPr lang="en-US" sz="3600" b="1"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spcAft>
                <a:spcPts val="800"/>
              </a:spcAft>
              <a:buFont typeface="Arial" panose="020B0604020202020204" pitchFamily="34" charset="0"/>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The OS solves this by assigning the </a:t>
            </a:r>
            <a:r>
              <a:rPr lang="en-US" sz="3600" dirty="0" err="1">
                <a:latin typeface="Times New Roman" panose="02020603050405020304" pitchFamily="18" charset="0"/>
                <a:ea typeface="Calibri" panose="020F0502020204030204" pitchFamily="34" charset="0"/>
                <a:cs typeface="Times New Roman" panose="02020603050405020304" pitchFamily="18" charset="0"/>
              </a:rPr>
              <a:t>init</a:t>
            </a:r>
            <a:r>
              <a:rPr lang="en-US" sz="3600" dirty="0">
                <a:latin typeface="Times New Roman" panose="02020603050405020304" pitchFamily="18" charset="0"/>
                <a:ea typeface="Calibri" panose="020F0502020204030204" pitchFamily="34" charset="0"/>
                <a:cs typeface="Times New Roman" panose="02020603050405020304" pitchFamily="18" charset="0"/>
              </a:rPr>
              <a:t> process (the root of the process tree, PID 1) as the new parent to the orphan.</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spcAft>
                <a:spcPts val="800"/>
              </a:spcAft>
              <a:buFont typeface="Arial" panose="020B0604020202020204" pitchFamily="34" charset="0"/>
              <a:buChar char="•"/>
            </a:pPr>
            <a:r>
              <a:rPr lang="en-US" sz="3600" dirty="0">
                <a:latin typeface="Times New Roman" panose="02020603050405020304" pitchFamily="18" charset="0"/>
                <a:ea typeface="Calibri" panose="020F0502020204030204" pitchFamily="34" charset="0"/>
                <a:cs typeface="Times New Roman" panose="02020603050405020304" pitchFamily="18" charset="0"/>
              </a:rPr>
              <a:t>The </a:t>
            </a:r>
            <a:r>
              <a:rPr lang="en-US" sz="3600" dirty="0" err="1">
                <a:latin typeface="Times New Roman" panose="02020603050405020304" pitchFamily="18" charset="0"/>
                <a:ea typeface="Calibri" panose="020F0502020204030204" pitchFamily="34" charset="0"/>
                <a:cs typeface="Times New Roman" panose="02020603050405020304" pitchFamily="18" charset="0"/>
              </a:rPr>
              <a:t>init</a:t>
            </a:r>
            <a:r>
              <a:rPr lang="en-US" sz="3600" dirty="0">
                <a:latin typeface="Times New Roman" panose="02020603050405020304" pitchFamily="18" charset="0"/>
                <a:ea typeface="Calibri" panose="020F0502020204030204" pitchFamily="34" charset="0"/>
                <a:cs typeface="Times New Roman" panose="02020603050405020304" pitchFamily="18" charset="0"/>
              </a:rPr>
              <a:t> process periodically calls wait() to collect exit statuses and clean up the process table.</a:t>
            </a:r>
            <a:endParaRPr lang="en-IN" sz="3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Inter Process Communication(IPC)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76199" y="820132"/>
            <a:ext cx="11895841" cy="5262979"/>
          </a:xfrm>
          <a:prstGeom prst="rect">
            <a:avLst/>
          </a:prstGeom>
          <a:noFill/>
        </p:spPr>
        <p:txBody>
          <a:bodyPr wrap="square" rtlCol="0">
            <a:spAutoFit/>
          </a:bodyPr>
          <a:lstStyle/>
          <a:p>
            <a:pPr marL="342900"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Processes executing concurrently in the operating system may be either </a:t>
            </a:r>
            <a:r>
              <a:rPr lang="en-US" sz="2800" b="1" dirty="0">
                <a:latin typeface="Times New Roman" panose="02020603050405020304" pitchFamily="18" charset="0"/>
                <a:cs typeface="Times New Roman" panose="02020603050405020304" pitchFamily="18" charset="0"/>
              </a:rPr>
              <a:t>independent processes </a:t>
            </a:r>
            <a:r>
              <a:rPr lang="en-US" sz="2800" dirty="0">
                <a:latin typeface="Times New Roman" panose="02020603050405020304" pitchFamily="18" charset="0"/>
                <a:cs typeface="Times New Roman" panose="02020603050405020304" pitchFamily="18" charset="0"/>
              </a:rPr>
              <a:t>or </a:t>
            </a:r>
            <a:r>
              <a:rPr lang="en-US" sz="2800" b="1" dirty="0">
                <a:latin typeface="Times New Roman" panose="02020603050405020304" pitchFamily="18" charset="0"/>
                <a:cs typeface="Times New Roman" panose="02020603050405020304" pitchFamily="18" charset="0"/>
              </a:rPr>
              <a:t>cooperating processes. </a:t>
            </a:r>
            <a:endParaRPr lang="en-US" sz="28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 process is independent if it cannot affect or be affected by the other processes executing in the system. </a:t>
            </a:r>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Any process that does not share data with any other process is independent. </a:t>
            </a:r>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8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 process is </a:t>
            </a:r>
            <a:r>
              <a:rPr lang="en-US" sz="2800" b="1" dirty="0">
                <a:latin typeface="Times New Roman" panose="02020603050405020304" pitchFamily="18" charset="0"/>
                <a:cs typeface="Times New Roman" panose="02020603050405020304" pitchFamily="18" charset="0"/>
              </a:rPr>
              <a:t>cooperating</a:t>
            </a:r>
            <a:r>
              <a:rPr lang="en-US" sz="2800" dirty="0">
                <a:latin typeface="Times New Roman" panose="02020603050405020304" pitchFamily="18" charset="0"/>
                <a:cs typeface="Times New Roman" panose="02020603050405020304" pitchFamily="18" charset="0"/>
              </a:rPr>
              <a:t> if it can affect or be affected by the other processes executing in the system.</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Cooperating processes need </a:t>
            </a:r>
            <a:r>
              <a:rPr lang="en-US" sz="2800" b="1" dirty="0">
                <a:latin typeface="Times New Roman" panose="02020603050405020304" pitchFamily="18" charset="0"/>
                <a:cs typeface="Times New Roman" panose="02020603050405020304" pitchFamily="18" charset="0"/>
              </a:rPr>
              <a:t>interprocess communication </a:t>
            </a:r>
            <a:r>
              <a:rPr lang="en-US" sz="2800" dirty="0">
                <a:latin typeface="Times New Roman" panose="02020603050405020304" pitchFamily="18" charset="0"/>
                <a:cs typeface="Times New Roman" panose="02020603050405020304" pitchFamily="18" charset="0"/>
              </a:rPr>
              <a:t>(</a:t>
            </a:r>
            <a:r>
              <a:rPr lang="en-US" sz="2800" b="1" dirty="0">
                <a:latin typeface="Times New Roman" panose="02020603050405020304" pitchFamily="18" charset="0"/>
                <a:cs typeface="Times New Roman" panose="02020603050405020304" pitchFamily="18" charset="0"/>
              </a:rPr>
              <a:t>IPC</a:t>
            </a:r>
            <a:r>
              <a:rPr lang="en-U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Inter Process Communication(IPC)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3"/>
          <p:cNvSpPr txBox="1"/>
          <p:nvPr/>
        </p:nvSpPr>
        <p:spPr>
          <a:xfrm>
            <a:off x="367645" y="740289"/>
            <a:ext cx="11255604" cy="4678204"/>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There are several reasons for providing an environment that allows process cooperation: </a:t>
            </a:r>
            <a:endParaRPr lang="en-US" sz="18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Information sharing. Since several users may be interested in the same piece of information (for instance, a shared file), we must provide an environment to allow concurrent access to such information. </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Computation speedup. If we want a particular task to run faster, we must break it into subtasks, each of which will be executing in parallel with the others. Notice that such a speedup can be achieved only if the computer has multiple processing elements (such as CPUs or I/O channels). </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Modularity. We may want to construct the system in a modular fashion, dividing the system functions into separate processes or threads.</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Convenience. Even an individual user may work on many tasks at the same time. For instance, a user may be editing, printing, and compiling in parallel. Cooperating processes require an interprocess communication (IPC) mechanism that will allow them to exchange data and information.</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1521640" y="-94173"/>
            <a:ext cx="1038441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Inter Process Communication(IPC)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424206" y="914401"/>
            <a:ext cx="11170763" cy="4524315"/>
          </a:xfrm>
          <a:prstGeom prst="rect">
            <a:avLst/>
          </a:prstGeom>
          <a:noFill/>
        </p:spPr>
        <p:txBody>
          <a:bodyPr wrap="square">
            <a:spAutoFit/>
          </a:bodyPr>
          <a:lstStyle/>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Two models of interprocess communication (IPC):</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There are two fundamental IPC models: </a:t>
            </a:r>
            <a:r>
              <a:rPr lang="en-US" sz="2400" b="1" dirty="0">
                <a:latin typeface="Times New Roman" panose="02020603050405020304" pitchFamily="18" charset="0"/>
                <a:cs typeface="Times New Roman" panose="02020603050405020304" pitchFamily="18" charset="0"/>
              </a:rPr>
              <a:t>shared memory</a:t>
            </a:r>
            <a:r>
              <a:rPr lang="en-US" sz="2400" dirty="0">
                <a:latin typeface="Times New Roman" panose="02020603050405020304" pitchFamily="18" charset="0"/>
                <a:cs typeface="Times New Roman" panose="02020603050405020304" pitchFamily="18" charset="0"/>
              </a:rPr>
              <a:t>, where processes communicate by reading and writing to a common memory region, and </a:t>
            </a:r>
            <a:r>
              <a:rPr lang="en-US" sz="2400" b="1" dirty="0">
                <a:latin typeface="Times New Roman" panose="02020603050405020304" pitchFamily="18" charset="0"/>
                <a:cs typeface="Times New Roman" panose="02020603050405020304" pitchFamily="18" charset="0"/>
              </a:rPr>
              <a:t>message passing</a:t>
            </a:r>
            <a:r>
              <a:rPr lang="en-US" sz="2400" dirty="0">
                <a:latin typeface="Times New Roman" panose="02020603050405020304" pitchFamily="18" charset="0"/>
                <a:cs typeface="Times New Roman" panose="02020603050405020304" pitchFamily="18" charset="0"/>
              </a:rPr>
              <a:t>, where processes communicate by exchanging messages.</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Message passing </a:t>
            </a:r>
            <a:r>
              <a:rPr lang="en-US" sz="2400" dirty="0">
                <a:latin typeface="Times New Roman" panose="02020603050405020304" pitchFamily="18" charset="0"/>
                <a:cs typeface="Times New Roman" panose="02020603050405020304" pitchFamily="18" charset="0"/>
              </a:rPr>
              <a:t>is easier to implement and is suitable for exchanging small amounts of data. It avoids conflicts and is especially useful for communication between different systems.</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Shared memory</a:t>
            </a:r>
            <a:r>
              <a:rPr lang="en-US" sz="2400" dirty="0">
                <a:latin typeface="Times New Roman" panose="02020603050405020304" pitchFamily="18" charset="0"/>
                <a:cs typeface="Times New Roman" panose="02020603050405020304" pitchFamily="18" charset="0"/>
              </a:rPr>
              <a:t> provides faster and more efficient communication because, after setup, processes access memory directly without kernel intervention, making it faster than message passing.</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Inter Process Communication(IPC)-Communication models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1"/>
          <a:stretch>
            <a:fillRect/>
          </a:stretch>
        </p:blipFill>
        <p:spPr>
          <a:xfrm>
            <a:off x="2166389" y="961680"/>
            <a:ext cx="7859222" cy="4934639"/>
          </a:xfrm>
          <a:prstGeom prst="rect">
            <a:avLst/>
          </a:prstGeom>
        </p:spPr>
      </p:pic>
      <p:sp>
        <p:nvSpPr>
          <p:cNvPr id="5" name="TextBox 4"/>
          <p:cNvSpPr txBox="1"/>
          <p:nvPr/>
        </p:nvSpPr>
        <p:spPr>
          <a:xfrm>
            <a:off x="3440783" y="6108569"/>
            <a:ext cx="6212263" cy="307777"/>
          </a:xfrm>
          <a:prstGeom prst="rect">
            <a:avLst/>
          </a:prstGeom>
          <a:noFill/>
        </p:spPr>
        <p:txBody>
          <a:bodyPr wrap="square" rtlCol="0">
            <a:spAutoFit/>
          </a:bodyPr>
          <a:lstStyle/>
          <a:p>
            <a:r>
              <a:rPr lang="en-US" dirty="0"/>
              <a:t>Fig 3.12 Communications models a)Message Passing b) Shared Memory</a:t>
            </a:r>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Shared Memory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3"/>
          <p:cNvSpPr txBox="1"/>
          <p:nvPr/>
        </p:nvSpPr>
        <p:spPr>
          <a:xfrm>
            <a:off x="556182" y="1250890"/>
            <a:ext cx="11349871" cy="4524315"/>
          </a:xfrm>
          <a:prstGeom prst="rect">
            <a:avLst/>
          </a:prstGeom>
          <a:noFill/>
        </p:spPr>
        <p:txBody>
          <a:bodyPr wrap="square">
            <a:spAutoFit/>
          </a:bodyPr>
          <a:lstStyle/>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 shared-memory interprocess communication, a process first creates a shared-memory region within its address space. Other processes that want to communicate must attach this shared-memory segment to their own address spaces. Normally, the operating system prevents one process from accessing another process’s memory, but shared memory requires the processes to mutually agree to remove this restriction.</a:t>
            </a: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Data exchange and synchronization responsibility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Once shared memory is established, processes communicate by reading and writing data in the shared region. The structure, format, and location of the data are decided by the processes themselves and not controlled by the operating system. The processes must also ensure proper synchronization so that they do not write to the same memory location at the same time.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Shared Memory-Producer Consumer problem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348792" y="825310"/>
            <a:ext cx="11019933" cy="440120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producer–consumer </a:t>
            </a:r>
            <a:r>
              <a:rPr lang="en-US" sz="2000" dirty="0">
                <a:latin typeface="Times New Roman" panose="02020603050405020304" pitchFamily="18" charset="0"/>
                <a:cs typeface="Times New Roman" panose="02020603050405020304" pitchFamily="18" charset="0"/>
              </a:rPr>
              <a:t>problem is a classic example of cooperating processes in an operating system. A producer process generates data items, and a consumer process consumes those items. Both processes run concurrently and must coordinate their actions while sharing data.</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Example 1:</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Consider a web server system:</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server (producer) generates HTML pages and images.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web browser (consumer) receives and displays them.</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Example 2:</a:t>
            </a:r>
            <a:endParaRPr lang="en-US" sz="2000" b="1" dirty="0">
              <a:latin typeface="Times New Roman" panose="02020603050405020304" pitchFamily="18" charset="0"/>
              <a:cs typeface="Times New Roman" panose="02020603050405020304" pitchFamily="18" charset="0"/>
            </a:endParaRPr>
          </a:p>
          <a:p>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 compiler produces assembly code → consumed by an assembler.</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assembler produces object code → consumed by the loader.</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Shared Memory-Producer Consumer problem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3"/>
          <p:cNvSpPr txBox="1"/>
          <p:nvPr/>
        </p:nvSpPr>
        <p:spPr>
          <a:xfrm>
            <a:off x="435990" y="814419"/>
            <a:ext cx="11215539" cy="120032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If the producer generates data too fast, the storage area may overflow.</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If the consumer tries to consume data that is not yet produced, it leads to errors.</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Hence, coordination and synchronization are required.</a:t>
            </a:r>
            <a:endParaRPr lang="en-US" sz="24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435990" y="2420970"/>
            <a:ext cx="11649171" cy="3046988"/>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One solution to the producer–consumer problem is shared memory.</a:t>
            </a:r>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buffer is created in a shared memory region accessible to both producer and consumer.</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producer places items into the buffer.</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consumer removes items from the buffer.</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This allows both processes to execute concurrently, improving efficiency.</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Shared Memory-Producer Consumer problem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405353" y="588451"/>
            <a:ext cx="11500700" cy="5570756"/>
          </a:xfrm>
          <a:prstGeom prst="rect">
            <a:avLst/>
          </a:prstGeom>
          <a:noFill/>
        </p:spPr>
        <p:txBody>
          <a:bodyPr wrap="square">
            <a:spAutoFit/>
          </a:bodyPr>
          <a:lstStyle/>
          <a:p>
            <a:r>
              <a:rPr lang="en-US" sz="1800" b="1" dirty="0"/>
              <a:t>Unbounded Buffer: In the unbounded buffer approach:</a:t>
            </a:r>
            <a:endParaRPr lang="en-US" sz="1800" b="1" dirty="0"/>
          </a:p>
          <a:p>
            <a:endParaRPr lang="en-US" sz="1800" dirty="0"/>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There is no practical limit on the size of the buffer.</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The producer can always produce new items.</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The consumer may have to wait if the buffer is empty.</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r>
              <a:rPr lang="en-US" sz="1800" dirty="0"/>
              <a:t>This model is simpler conceptually but impractical in real systems due to memory limitations.</a:t>
            </a:r>
            <a:endParaRPr lang="en-US" sz="1800" dirty="0"/>
          </a:p>
          <a:p>
            <a:endParaRPr lang="en-US" dirty="0"/>
          </a:p>
          <a:p>
            <a:r>
              <a:rPr lang="en-US" b="1" dirty="0"/>
              <a:t> </a:t>
            </a:r>
            <a:r>
              <a:rPr lang="en-US" sz="2000" b="1" dirty="0"/>
              <a:t>Bounded Buffer: In the bounded buffer approach:</a:t>
            </a:r>
            <a:endParaRPr lang="en-US" sz="2000" b="1" dirty="0"/>
          </a:p>
          <a:p>
            <a:endParaRPr lang="en-US" sz="2000" b="1" dirty="0"/>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buffer has a fixed size.</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producer must wait if the buffer is full.</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consumer must wait if the buffer is empty.</a:t>
            </a: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This model is widely used in operating systems because it reflects real-world memory constraints.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Shared Memory-Producer Consumer problem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1"/>
          <a:stretch>
            <a:fillRect/>
          </a:stretch>
        </p:blipFill>
        <p:spPr>
          <a:xfrm>
            <a:off x="981952" y="1364003"/>
            <a:ext cx="5381141" cy="2660225"/>
          </a:xfrm>
          <a:prstGeom prst="rect">
            <a:avLst/>
          </a:prstGeom>
        </p:spPr>
      </p:pic>
      <p:sp>
        <p:nvSpPr>
          <p:cNvPr id="5" name="TextBox 4"/>
          <p:cNvSpPr txBox="1"/>
          <p:nvPr/>
        </p:nvSpPr>
        <p:spPr>
          <a:xfrm>
            <a:off x="688157" y="904973"/>
            <a:ext cx="7032396" cy="369332"/>
          </a:xfrm>
          <a:prstGeom prst="rect">
            <a:avLst/>
          </a:prstGeom>
          <a:noFill/>
        </p:spPr>
        <p:txBody>
          <a:bodyPr wrap="square" rtlCol="0">
            <a:spAutoFit/>
          </a:bodyPr>
          <a:lstStyle/>
          <a:p>
            <a:r>
              <a:rPr lang="en-US" sz="1800" b="1" dirty="0"/>
              <a:t>Bounded Buffer Implemented as a circular array</a:t>
            </a:r>
            <a:endParaRPr lang="en-US" sz="1800" b="1" dirty="0"/>
          </a:p>
        </p:txBody>
      </p:sp>
      <p:sp>
        <p:nvSpPr>
          <p:cNvPr id="7" name="TextBox 6"/>
          <p:cNvSpPr txBox="1"/>
          <p:nvPr/>
        </p:nvSpPr>
        <p:spPr>
          <a:xfrm>
            <a:off x="1088797" y="4208156"/>
            <a:ext cx="6231116" cy="1323439"/>
          </a:xfrm>
          <a:prstGeom prst="rect">
            <a:avLst/>
          </a:prstGeom>
          <a:noFill/>
        </p:spPr>
        <p:txBody>
          <a:bodyPr wrap="square">
            <a:spAutoFit/>
          </a:bodyPr>
          <a:lstStyle/>
          <a:p>
            <a:r>
              <a:rPr lang="en-US" sz="2000" dirty="0"/>
              <a:t>in -points to the next empty position for the producer</a:t>
            </a:r>
            <a:endParaRPr lang="en-US" sz="2000" dirty="0"/>
          </a:p>
          <a:p>
            <a:endParaRPr lang="en-US" sz="2000" dirty="0"/>
          </a:p>
          <a:p>
            <a:r>
              <a:rPr lang="en-US" sz="2000" dirty="0"/>
              <a:t>out- points to the next item to be consumed </a:t>
            </a:r>
            <a:endParaRPr lang="en-US" sz="2000" dirty="0"/>
          </a:p>
          <a:p>
            <a:endParaRPr lang="en-US" sz="2000" dirty="0"/>
          </a:p>
        </p:txBody>
      </p:sp>
      <p:sp>
        <p:nvSpPr>
          <p:cNvPr id="9" name="TextBox 8"/>
          <p:cNvSpPr txBox="1"/>
          <p:nvPr/>
        </p:nvSpPr>
        <p:spPr>
          <a:xfrm>
            <a:off x="981952" y="5214363"/>
            <a:ext cx="6231116" cy="923330"/>
          </a:xfrm>
          <a:prstGeom prst="rect">
            <a:avLst/>
          </a:prstGeom>
          <a:noFill/>
        </p:spPr>
        <p:txBody>
          <a:bodyPr wrap="square">
            <a:spAutoFit/>
          </a:bodyPr>
          <a:lstStyle/>
          <a:p>
            <a:r>
              <a:rPr lang="en-US" sz="1800" b="1" dirty="0"/>
              <a:t>Buffer empty </a:t>
            </a:r>
            <a:r>
              <a:rPr lang="en-US" sz="1800" dirty="0"/>
              <a:t>when in == out</a:t>
            </a:r>
            <a:endParaRPr lang="en-US" sz="1800" dirty="0"/>
          </a:p>
          <a:p>
            <a:endParaRPr lang="en-US" sz="1800" dirty="0"/>
          </a:p>
          <a:p>
            <a:r>
              <a:rPr lang="en-US" sz="1800" b="1" dirty="0"/>
              <a:t>Buffer full </a:t>
            </a:r>
            <a:r>
              <a:rPr lang="en-US" sz="1800" dirty="0"/>
              <a:t>when ((in + 1) % BUFFER_SIZE) == out</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Bounded Buffer-producer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4" name="Picture 3"/>
          <p:cNvPicPr>
            <a:picLocks noChangeAspect="1"/>
          </p:cNvPicPr>
          <p:nvPr/>
        </p:nvPicPr>
        <p:blipFill>
          <a:blip r:embed="rId1"/>
          <a:stretch>
            <a:fillRect/>
          </a:stretch>
        </p:blipFill>
        <p:spPr>
          <a:xfrm>
            <a:off x="821500" y="1177700"/>
            <a:ext cx="8995030" cy="3832269"/>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Bounded Buffer-Consumer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TextBox 7"/>
          <p:cNvSpPr txBox="1"/>
          <p:nvPr/>
        </p:nvSpPr>
        <p:spPr>
          <a:xfrm>
            <a:off x="466626" y="5473221"/>
            <a:ext cx="11260318" cy="738664"/>
          </a:xfrm>
          <a:prstGeom prst="rect">
            <a:avLst/>
          </a:prstGeom>
          <a:noFill/>
        </p:spPr>
        <p:txBody>
          <a:bodyPr wrap="square">
            <a:spAutoFit/>
          </a:bodyPr>
          <a:lstStyle/>
          <a:p>
            <a:r>
              <a:rPr lang="en-US" dirty="0"/>
              <a:t>The given illustration </a:t>
            </a:r>
            <a:r>
              <a:rPr lang="en-US" b="1" dirty="0"/>
              <a:t>does not address concurrent access</a:t>
            </a:r>
            <a:r>
              <a:rPr lang="en-US" dirty="0"/>
              <a:t> to the shared buffer. If the producer and consumer access shared memory simultaneously, </a:t>
            </a:r>
            <a:r>
              <a:rPr lang="en-US" b="1" dirty="0"/>
              <a:t>race conditions</a:t>
            </a:r>
            <a:r>
              <a:rPr lang="en-US" dirty="0"/>
              <a:t> may occur. Therefore, </a:t>
            </a:r>
            <a:r>
              <a:rPr lang="en-US" b="1" dirty="0"/>
              <a:t>synchronization mechanisms</a:t>
            </a:r>
            <a:r>
              <a:rPr lang="en-US" dirty="0"/>
              <a:t> such as semaphores or mutex locks are required to ensure mutual exclusion.</a:t>
            </a:r>
            <a:endParaRPr lang="en-US" dirty="0"/>
          </a:p>
        </p:txBody>
      </p:sp>
      <p:pic>
        <p:nvPicPr>
          <p:cNvPr id="3" name="Picture 2"/>
          <p:cNvPicPr>
            <a:picLocks noChangeAspect="1"/>
          </p:cNvPicPr>
          <p:nvPr/>
        </p:nvPicPr>
        <p:blipFill>
          <a:blip r:embed="rId1"/>
          <a:stretch>
            <a:fillRect/>
          </a:stretch>
        </p:blipFill>
        <p:spPr>
          <a:xfrm>
            <a:off x="1724637" y="1112935"/>
            <a:ext cx="6706536" cy="348734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a:t>
            </a: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480767" y="914400"/>
            <a:ext cx="10916239" cy="3477875"/>
          </a:xfrm>
          <a:prstGeom prst="rect">
            <a:avLst/>
          </a:prstGeom>
          <a:noFill/>
        </p:spPr>
        <p:txBody>
          <a:bodyPr wrap="square" rtlCol="0">
            <a:spAutoFit/>
          </a:bodyPr>
          <a:lstStyle/>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Message passing allows processes to communicate and synchronize without sharing the same address space, making it especially useful in distributed systems. Communication is done using two basic operations: send(message) and receive(message).</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Messages may be of fixed or variable size. Fixed-size messages are easier to implement at the system level but harder to use for programming, while variable-size messages simplify programming but require more complex system-level implementation.</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For processes to communicate, a logical communication link must exist between them. Message passing can be implemented using different logical methods, such as direct or indirect communication, synchronous or asynchronous communication, and automatic or explicit buffering.</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a:t>
            </a: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3"/>
          <p:cNvSpPr txBox="1"/>
          <p:nvPr/>
        </p:nvSpPr>
        <p:spPr>
          <a:xfrm>
            <a:off x="1378670" y="1103980"/>
            <a:ext cx="9622410" cy="3724096"/>
          </a:xfrm>
          <a:prstGeom prst="rect">
            <a:avLst/>
          </a:prstGeom>
          <a:noFill/>
        </p:spPr>
        <p:txBody>
          <a:bodyPr wrap="square">
            <a:spAutoFit/>
          </a:bodyPr>
          <a:lstStyle/>
          <a:p>
            <a:pPr algn="just">
              <a:spcAft>
                <a:spcPts val="800"/>
              </a:spcAft>
            </a:pPr>
            <a:r>
              <a:rPr lang="en-US" sz="3600" b="1" dirty="0">
                <a:latin typeface="Times New Roman" panose="02020603050405020304" pitchFamily="18" charset="0"/>
                <a:ea typeface="Calibri" panose="020F0502020204030204" pitchFamily="34" charset="0"/>
                <a:cs typeface="Times New Roman" panose="02020603050405020304" pitchFamily="18" charset="0"/>
              </a:rPr>
              <a:t>Three Major Design Choices: </a:t>
            </a:r>
            <a:r>
              <a:rPr lang="en-US" sz="3600" dirty="0">
                <a:latin typeface="Times New Roman" panose="02020603050405020304" pitchFamily="18" charset="0"/>
                <a:ea typeface="Calibri" panose="020F0502020204030204" pitchFamily="34" charset="0"/>
                <a:cs typeface="Times New Roman" panose="02020603050405020304" pitchFamily="18" charset="0"/>
              </a:rPr>
              <a:t>When OS designers create a send()/receive() facility, they must choose how to implement the link:</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spcAft>
                <a:spcPts val="800"/>
              </a:spcAft>
              <a:buFont typeface="+mj-lt"/>
              <a:buAutoNum type="arabicPeriod"/>
            </a:pPr>
            <a:r>
              <a:rPr lang="en-US" sz="3600" b="1" dirty="0">
                <a:latin typeface="Times New Roman" panose="02020603050405020304" pitchFamily="18" charset="0"/>
                <a:ea typeface="Calibri" panose="020F0502020204030204" pitchFamily="34" charset="0"/>
                <a:cs typeface="Times New Roman" panose="02020603050405020304" pitchFamily="18" charset="0"/>
              </a:rPr>
              <a:t>Naming</a:t>
            </a:r>
            <a:endParaRPr lang="en-US" sz="3600" b="1"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spcAft>
                <a:spcPts val="800"/>
              </a:spcAft>
              <a:buFont typeface="+mj-lt"/>
              <a:buAutoNum type="arabicPeriod"/>
            </a:pPr>
            <a:r>
              <a:rPr lang="en-US" sz="3600" b="1" dirty="0">
                <a:latin typeface="Times New Roman" panose="02020603050405020304" pitchFamily="18" charset="0"/>
                <a:ea typeface="Calibri" panose="020F0502020204030204" pitchFamily="34" charset="0"/>
                <a:cs typeface="Times New Roman" panose="02020603050405020304" pitchFamily="18" charset="0"/>
              </a:rPr>
              <a:t>Synchronization</a:t>
            </a:r>
            <a:endParaRPr lang="en-US" sz="3600" b="1" dirty="0">
              <a:latin typeface="Times New Roman" panose="02020603050405020304" pitchFamily="18" charset="0"/>
              <a:ea typeface="Calibri" panose="020F0502020204030204" pitchFamily="34" charset="0"/>
              <a:cs typeface="Times New Roman" panose="02020603050405020304" pitchFamily="18" charset="0"/>
            </a:endParaRPr>
          </a:p>
          <a:p>
            <a:pPr marL="514350" indent="-514350" algn="just">
              <a:spcAft>
                <a:spcPts val="800"/>
              </a:spcAft>
              <a:buFont typeface="+mj-lt"/>
              <a:buAutoNum type="arabicPeriod"/>
            </a:pPr>
            <a:r>
              <a:rPr lang="en-US" sz="3600" b="1" dirty="0">
                <a:latin typeface="Times New Roman" panose="02020603050405020304" pitchFamily="18" charset="0"/>
                <a:ea typeface="Calibri" panose="020F0502020204030204" pitchFamily="34" charset="0"/>
                <a:cs typeface="Times New Roman" panose="02020603050405020304" pitchFamily="18" charset="0"/>
              </a:rPr>
              <a:t>Buffering</a:t>
            </a: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passing--Naming</a:t>
            </a: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254524" y="867266"/>
            <a:ext cx="11861276" cy="4739759"/>
          </a:xfrm>
          <a:prstGeom prst="rect">
            <a:avLst/>
          </a:prstGeom>
          <a:noFill/>
        </p:spPr>
        <p:txBody>
          <a:bodyPr wrap="square" rtlCol="0">
            <a:spAutoFit/>
          </a:bodyPr>
          <a:lstStyle/>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Processes that wish to communicate must be able to refer to each other. This can be achieved using either direct communication or indirect communication mechanisms.</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Direct communication mechanism:- In direct communication, processes explicitly name the sender or receiver. Communication is carried out using primitives.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send(P, message) – sends a message to process P</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receive(Q, message) – receives a message from process Q</a:t>
            </a: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 this direct communication: communication links are automatically established, are associated with exactly two processes, and only one link exists between each pair of communicating processes.</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passing--Naming</a:t>
            </a: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120977" y="505122"/>
            <a:ext cx="11861276" cy="5478423"/>
          </a:xfrm>
          <a:prstGeom prst="rect">
            <a:avLst/>
          </a:prstGeom>
          <a:noFill/>
        </p:spPr>
        <p:txBody>
          <a:bodyPr wrap="square" rtlCol="0">
            <a:spAutoFit/>
          </a:bodyPr>
          <a:lstStyle/>
          <a:p>
            <a:endParaRPr lang="en-US" dirty="0"/>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 Direct communication can be symmetric, where both sender and receiver name each other, or asymmetric, where only the sender names the receiver and the receiver accepts messages from any sender.</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send(P, message)</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receive(id, message) where id is set to the sender’s identity</a:t>
            </a:r>
            <a:endParaRPr lang="en-US" sz="2400" b="1"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Both symmetric and asymmetric direct communication suffer from poor modularity. Changing a process identifier requires updating all references, making hard-coded identifiers undesirable.</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 indirect communication, messages are exchanged through mailboxes (ports). A mailbox is an object with a unique identifier (such as A). Processes communicate only if they share the same mailbox.</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passing--Naming</a:t>
            </a: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TextBox 2"/>
          <p:cNvSpPr txBox="1"/>
          <p:nvPr/>
        </p:nvSpPr>
        <p:spPr>
          <a:xfrm>
            <a:off x="254524" y="867266"/>
            <a:ext cx="11861276" cy="6555641"/>
          </a:xfrm>
          <a:prstGeom prst="rect">
            <a:avLst/>
          </a:prstGeom>
          <a:noFill/>
        </p:spPr>
        <p:txBody>
          <a:bodyPr wrap="square" rtlCol="0">
            <a:spAutoFit/>
          </a:bodyPr>
          <a:lstStyle/>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Indirect Communication Primitives:</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send(A, message) – sends a message to mailbox A</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receive(A, message) – receives a message from mailbox A</a:t>
            </a:r>
            <a:endParaRPr lang="en-US" sz="2000" b="1"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Properties of mailbox-based communication:</a:t>
            </a:r>
            <a:r>
              <a:rPr lang="en-US" sz="2000" dirty="0">
                <a:latin typeface="Times New Roman" panose="02020603050405020304" pitchFamily="18" charset="0"/>
                <a:cs typeface="Times New Roman" panose="02020603050405020304" pitchFamily="18" charset="0"/>
              </a:rPr>
              <a:t> A mailbox can be shared by more than two processes. For example, processes P1, P2, and P3 may all share mailbox A, and multiple communication links may exist via different mailboxes.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Message delivery when multiple receivers exist (P1, P2, P3): </a:t>
            </a:r>
            <a:r>
              <a:rPr lang="en-US" sz="2000" dirty="0">
                <a:latin typeface="Times New Roman" panose="02020603050405020304" pitchFamily="18" charset="0"/>
                <a:cs typeface="Times New Roman" panose="02020603050405020304" pitchFamily="18" charset="0"/>
              </a:rPr>
              <a:t>If P1 sends a message to mailbox A and both P2 and P3 execute receive(A, message), the system decides which process receives the message. This may be handled by restricting receivers, allowing only one receiver at a time, or using system-defined algorithms such as round-robin.</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Mailbox ownership (process-owned vs OS-owned):</a:t>
            </a:r>
            <a:r>
              <a:rPr lang="en-US" sz="2000" dirty="0">
                <a:latin typeface="Times New Roman" panose="02020603050405020304" pitchFamily="18" charset="0"/>
                <a:cs typeface="Times New Roman" panose="02020603050405020304" pitchFamily="18" charset="0"/>
              </a:rPr>
              <a:t>A mailbox may be owned by a process or by the operating system. If a process-owned mailbox terminates, the mailbox is destroyed. OS-owned mailboxes exist independently, and the OS provides system calls to create, send, receive, delete mailboxes, and transfer ownership or receiving privileges.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Multiple receiver problem</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 name="Rectangle 2"/>
          <p:cNvSpPr/>
          <p:nvPr/>
        </p:nvSpPr>
        <p:spPr>
          <a:xfrm>
            <a:off x="913764" y="565375"/>
            <a:ext cx="10820400" cy="5324535"/>
          </a:xfrm>
          <a:prstGeom prst="rect">
            <a:avLst/>
          </a:prstGeom>
        </p:spPr>
        <p:txBody>
          <a:bodyPr wrap="square">
            <a:spAutoFit/>
          </a:bodyPr>
          <a:lstStyle/>
          <a:p>
            <a:pPr algn="just">
              <a:spcAft>
                <a:spcPts val="800"/>
              </a:spcAft>
            </a:pPr>
            <a:r>
              <a:rPr lang="en-US" sz="3200" b="1" dirty="0">
                <a:latin typeface="Times New Roman" panose="02020603050405020304" pitchFamily="18" charset="0"/>
                <a:ea typeface="Calibri" panose="020F0502020204030204" pitchFamily="34" charset="0"/>
                <a:cs typeface="Times New Roman" panose="02020603050405020304" pitchFamily="18" charset="0"/>
              </a:rPr>
              <a:t>The OS Solutions: </a:t>
            </a:r>
            <a:r>
              <a:rPr lang="en-US" sz="3200" dirty="0">
                <a:latin typeface="Times New Roman" panose="02020603050405020304" pitchFamily="18" charset="0"/>
                <a:ea typeface="Calibri" panose="020F0502020204030204" pitchFamily="34" charset="0"/>
                <a:cs typeface="Times New Roman" panose="02020603050405020304" pitchFamily="18" charset="0"/>
              </a:rPr>
              <a:t>The answer depends on which method the operating system designers choose to implement:</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spcAft>
                <a:spcPts val="800"/>
              </a:spcAft>
              <a:buFont typeface="Arial" panose="020B0604020202020204" pitchFamily="34" charset="0"/>
              <a:buChar char="•"/>
            </a:pPr>
            <a:r>
              <a:rPr lang="en-US" sz="3200" b="1" dirty="0">
                <a:latin typeface="Times New Roman" panose="02020603050405020304" pitchFamily="18" charset="0"/>
                <a:ea typeface="Calibri" panose="020F0502020204030204" pitchFamily="34" charset="0"/>
                <a:cs typeface="Times New Roman" panose="02020603050405020304" pitchFamily="18" charset="0"/>
              </a:rPr>
              <a:t>Limit Links: </a:t>
            </a:r>
            <a:r>
              <a:rPr lang="en-US" sz="3200" dirty="0">
                <a:latin typeface="Times New Roman" panose="02020603050405020304" pitchFamily="18" charset="0"/>
                <a:ea typeface="Calibri" panose="020F0502020204030204" pitchFamily="34" charset="0"/>
                <a:cs typeface="Times New Roman" panose="02020603050405020304" pitchFamily="18" charset="0"/>
              </a:rPr>
              <a:t>Allow a link to be associated with two processes at most (preventing the scenario entirely).</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spcAft>
                <a:spcPts val="800"/>
              </a:spcAft>
              <a:buFont typeface="Arial" panose="020B0604020202020204" pitchFamily="34" charset="0"/>
              <a:buChar char="•"/>
            </a:pPr>
            <a:r>
              <a:rPr lang="en-US" sz="3200" b="1" dirty="0">
                <a:latin typeface="Times New Roman" panose="02020603050405020304" pitchFamily="18" charset="0"/>
                <a:ea typeface="Calibri" panose="020F0502020204030204" pitchFamily="34" charset="0"/>
                <a:cs typeface="Times New Roman" panose="02020603050405020304" pitchFamily="18" charset="0"/>
              </a:rPr>
              <a:t>Enforce Turns: </a:t>
            </a:r>
            <a:r>
              <a:rPr lang="en-US" sz="3200" dirty="0">
                <a:latin typeface="Times New Roman" panose="02020603050405020304" pitchFamily="18" charset="0"/>
                <a:ea typeface="Calibri" panose="020F0502020204030204" pitchFamily="34" charset="0"/>
                <a:cs typeface="Times New Roman" panose="02020603050405020304" pitchFamily="18" charset="0"/>
              </a:rPr>
              <a:t>Allow at most one process at a time to successfully execute a receive() operation.</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spcAft>
                <a:spcPts val="800"/>
              </a:spcAft>
              <a:buFont typeface="Arial" panose="020B0604020202020204" pitchFamily="34" charset="0"/>
              <a:buChar char="•"/>
            </a:pPr>
            <a:r>
              <a:rPr lang="en-US" sz="3200" b="1" dirty="0">
                <a:latin typeface="Times New Roman" panose="02020603050405020304" pitchFamily="18" charset="0"/>
                <a:ea typeface="Calibri" panose="020F0502020204030204" pitchFamily="34" charset="0"/>
                <a:cs typeface="Times New Roman" panose="02020603050405020304" pitchFamily="18" charset="0"/>
              </a:rPr>
              <a:t>System Selection: </a:t>
            </a:r>
            <a:r>
              <a:rPr lang="en-US" sz="3200" dirty="0">
                <a:latin typeface="Times New Roman" panose="02020603050405020304" pitchFamily="18" charset="0"/>
                <a:ea typeface="Calibri" panose="020F0502020204030204" pitchFamily="34" charset="0"/>
                <a:cs typeface="Times New Roman" panose="02020603050405020304" pitchFamily="18" charset="0"/>
              </a:rPr>
              <a:t>Allow the OS to arbitrarily select who gets the message (e.g., using a round-robin algorithm where processes take turns). The system may then notify the sender about who received it.</a:t>
            </a:r>
            <a:endParaRPr lang="en-US"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passing--Synchronization</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 name="TextBox 1"/>
          <p:cNvSpPr txBox="1"/>
          <p:nvPr/>
        </p:nvSpPr>
        <p:spPr>
          <a:xfrm>
            <a:off x="355862" y="738400"/>
            <a:ext cx="11635033" cy="341632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Communication between processes is carried out using the send() and receive() primitives. These primitives can be implemented as either blocking (synchronous) or nonblocking (asynchronous). </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Blocking send</a:t>
            </a:r>
            <a:r>
              <a:rPr lang="en-US" sz="2400" dirty="0">
                <a:latin typeface="Times New Roman" panose="02020603050405020304" pitchFamily="18" charset="0"/>
                <a:cs typeface="Times New Roman" panose="02020603050405020304" pitchFamily="18" charset="0"/>
              </a:rPr>
              <a:t>. The sending process is blocked until the message is received by the receiving process or by the mailbox.</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Blocking receive</a:t>
            </a:r>
            <a:r>
              <a:rPr lang="en-US" sz="2400" dirty="0">
                <a:latin typeface="Times New Roman" panose="02020603050405020304" pitchFamily="18" charset="0"/>
                <a:cs typeface="Times New Roman" panose="02020603050405020304" pitchFamily="18" charset="0"/>
              </a:rPr>
              <a:t>. The receiver blocks until a message is available.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Nonblocking send</a:t>
            </a:r>
            <a:r>
              <a:rPr lang="en-US" sz="2400" dirty="0">
                <a:latin typeface="Times New Roman" panose="02020603050405020304" pitchFamily="18" charset="0"/>
                <a:cs typeface="Times New Roman" panose="02020603050405020304" pitchFamily="18" charset="0"/>
              </a:rPr>
              <a:t>. The sending process sends the message and resumes operation.</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400" b="1" dirty="0">
                <a:latin typeface="Times New Roman" panose="02020603050405020304" pitchFamily="18" charset="0"/>
                <a:cs typeface="Times New Roman" panose="02020603050405020304" pitchFamily="18" charset="0"/>
              </a:rPr>
              <a:t>Nonblocking receive</a:t>
            </a:r>
            <a:r>
              <a:rPr lang="en-US" sz="2400" dirty="0">
                <a:latin typeface="Times New Roman" panose="02020603050405020304" pitchFamily="18" charset="0"/>
                <a:cs typeface="Times New Roman" panose="02020603050405020304" pitchFamily="18" charset="0"/>
              </a:rPr>
              <a:t>. The receiver retrieves either a valid message or a null.</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passing--Buffering</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4" name="TextBox 3"/>
          <p:cNvSpPr txBox="1"/>
          <p:nvPr/>
        </p:nvSpPr>
        <p:spPr>
          <a:xfrm>
            <a:off x="518474" y="803894"/>
            <a:ext cx="11387579" cy="532453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Whether communication is direct or indirect, messages exchanged by communicating processes reside in a temporary queue. Basically, such queues can be implemented in three ways: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Zero capacity</a:t>
            </a:r>
            <a:r>
              <a:rPr lang="en-US" sz="2000" dirty="0">
                <a:latin typeface="Times New Roman" panose="02020603050405020304" pitchFamily="18" charset="0"/>
                <a:cs typeface="Times New Roman" panose="02020603050405020304" pitchFamily="18" charset="0"/>
              </a:rPr>
              <a:t>. The queue has a maximum length of zero; thus, the link cannot have any messages waiting in it. In this case, the sender must block until the recipient receives the message.</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Bounded capacity</a:t>
            </a:r>
            <a:r>
              <a:rPr lang="en-US" sz="2000" dirty="0">
                <a:latin typeface="Times New Roman" panose="02020603050405020304" pitchFamily="18" charset="0"/>
                <a:cs typeface="Times New Roman" panose="02020603050405020304" pitchFamily="18" charset="0"/>
              </a:rPr>
              <a:t>. The queue has finite length n; thus, at most n messages can reside in it. If the queue is not full when a new message is sent, the message is placed in the queue (either the message is copied or a pointer to the message is kept), and the sender can continue execution without waiting. The link's capacity is finite, however. If the link is full, the sender must block until space is available in the queue.</a:t>
            </a: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US" sz="2000" b="1" dirty="0">
                <a:latin typeface="Times New Roman" panose="02020603050405020304" pitchFamily="18" charset="0"/>
                <a:cs typeface="Times New Roman" panose="02020603050405020304" pitchFamily="18" charset="0"/>
              </a:rPr>
              <a:t>Unbounded capacity</a:t>
            </a:r>
            <a:r>
              <a:rPr lang="en-US" sz="2000" dirty="0">
                <a:latin typeface="Times New Roman" panose="02020603050405020304" pitchFamily="18" charset="0"/>
                <a:cs typeface="Times New Roman" panose="02020603050405020304" pitchFamily="18" charset="0"/>
              </a:rPr>
              <a:t>. The queue's length is potentially infinite; thus, any number of messages can wait in it. The sender never blocks.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zero-capacity case is sometimes referred to as a message system with no buffering; the other cases are referred to as systems with automatic buffering. </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5"/>
          <p:cNvSpPr/>
          <p:nvPr/>
        </p:nvSpPr>
        <p:spPr>
          <a:xfrm>
            <a:off x="76200" y="1"/>
            <a:ext cx="12039600" cy="646113"/>
          </a:xfrm>
          <a:custGeom>
            <a:avLst/>
            <a:gdLst/>
            <a:ahLst/>
            <a:cxnLst/>
            <a:rect l="l" t="t" r="r" b="b"/>
            <a:pathLst>
              <a:path w="9144000" h="646328" extrusionOk="0">
                <a:moveTo>
                  <a:pt x="9144000" y="25"/>
                </a:moveTo>
                <a:lnTo>
                  <a:pt x="0" y="25"/>
                </a:lnTo>
                <a:lnTo>
                  <a:pt x="0" y="646328"/>
                </a:lnTo>
                <a:lnTo>
                  <a:pt x="9144000" y="646328"/>
                </a:lnTo>
                <a:lnTo>
                  <a:pt x="9144000" y="25"/>
                </a:lnTo>
                <a:close/>
              </a:path>
            </a:pathLst>
          </a:custGeom>
          <a:solidFill>
            <a:schemeClr val="accent2"/>
          </a:solidFill>
          <a:ln>
            <a:noFill/>
          </a:ln>
        </p:spPr>
        <p:txBody>
          <a:bodyPr spcFirstLastPara="1" wrap="square" lIns="0" tIns="0" rIns="0" bIns="0" anchor="t" anchorCtr="0">
            <a:noAutofit/>
          </a:bodyPr>
          <a:lstStyle/>
          <a:p>
            <a:pPr marL="0" marR="0" lvl="0" indent="0" algn="ctr" rtl="0">
              <a:spcBef>
                <a:spcPts val="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28" name="Google Shape;28;p5"/>
          <p:cNvSpPr txBox="1"/>
          <p:nvPr/>
        </p:nvSpPr>
        <p:spPr>
          <a:xfrm>
            <a:off x="0" y="6488113"/>
            <a:ext cx="12192000" cy="369887"/>
          </a:xfrm>
          <a:prstGeom prst="rect">
            <a:avLst/>
          </a:prstGeom>
          <a:solidFill>
            <a:schemeClr val="accent2"/>
          </a:solidFill>
          <a:ln>
            <a:noFill/>
          </a:ln>
        </p:spPr>
        <p:txBody>
          <a:bodyPr spcFirstLastPara="1" wrap="square" lIns="0" tIns="0" rIns="0" bIns="0" anchor="t" anchorCtr="0">
            <a:noAutofit/>
          </a:bodyPr>
          <a:lstStyle/>
          <a:p>
            <a:pPr marL="770890" marR="0" lvl="0" indent="0" algn="l" rtl="0">
              <a:lnSpc>
                <a:spcPct val="102000"/>
              </a:lnSpc>
              <a:spcBef>
                <a:spcPts val="0"/>
              </a:spcBef>
              <a:spcAft>
                <a:spcPts val="0"/>
              </a:spcAft>
              <a:buNone/>
            </a:pPr>
            <a:r>
              <a:rPr lang="en-US" sz="1800" b="0" i="0" u="none" strike="noStrike" cap="none" dirty="0">
                <a:solidFill>
                  <a:srgbClr val="FFFFFF"/>
                </a:solidFill>
                <a:latin typeface="Arial" panose="020B0604020202020204"/>
                <a:ea typeface="Arial" panose="020B0604020202020204"/>
                <a:cs typeface="Arial" panose="020B0604020202020204"/>
                <a:sym typeface="Arial" panose="020B0604020202020204"/>
              </a:rPr>
              <a:t>Dept. of  CSE(CS),  MSRIT                                                                                               </a:t>
            </a:r>
            <a:endParaRPr sz="18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770890" marR="0" lvl="0" indent="0" algn="l" rtl="0">
              <a:lnSpc>
                <a:spcPct val="102000"/>
              </a:lnSpc>
              <a:spcBef>
                <a:spcPts val="335"/>
              </a:spcBef>
              <a:spcAft>
                <a:spcPts val="0"/>
              </a:spcAft>
              <a:buNone/>
            </a:pPr>
            <a:r>
              <a:rPr lang="en-US" sz="1800" b="0" i="0" u="none" strike="noStrike" cap="none" dirty="0">
                <a:solidFill>
                  <a:srgbClr val="FFFFFF"/>
                </a:solidFill>
                <a:latin typeface="Times New Roman" panose="02020603050405020304"/>
                <a:ea typeface="Times New Roman" panose="02020603050405020304"/>
                <a:cs typeface="Times New Roman" panose="02020603050405020304"/>
                <a:sym typeface="Times New Roman" panose="02020603050405020304"/>
              </a:rPr>
              <a:t>	       </a:t>
            </a: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 name="Google Shape;29;p5"/>
          <p:cNvSpPr txBox="1"/>
          <p:nvPr/>
        </p:nvSpPr>
        <p:spPr>
          <a:xfrm>
            <a:off x="0" y="-94173"/>
            <a:ext cx="11906053" cy="64611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rPr>
              <a:t>   Shared Memory and </a:t>
            </a:r>
            <a:r>
              <a:rPr lang="en-US" sz="3600" b="1" dirty="0">
                <a:solidFill>
                  <a:schemeClr val="lt1"/>
                </a:solidFill>
                <a:latin typeface="Times New Roman" panose="02020603050405020304"/>
                <a:ea typeface="Times New Roman" panose="02020603050405020304"/>
                <a:cs typeface="Times New Roman" panose="02020603050405020304"/>
                <a:sym typeface="Times New Roman" panose="02020603050405020304"/>
              </a:rPr>
              <a:t>Message passing</a:t>
            </a:r>
            <a:endParaRPr sz="3600" b="1" i="0" u="none" strike="noStrike" cap="none" dirty="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2" name="Table 1"/>
          <p:cNvGraphicFramePr>
            <a:graphicFrameLocks noGrp="1"/>
          </p:cNvGraphicFramePr>
          <p:nvPr/>
        </p:nvGraphicFramePr>
        <p:xfrm>
          <a:off x="913763" y="635946"/>
          <a:ext cx="10820400" cy="5810886"/>
        </p:xfrm>
        <a:graphic>
          <a:graphicData uri="http://schemas.openxmlformats.org/drawingml/2006/table">
            <a:tbl>
              <a:tblPr firstRow="1" firstCol="1">
                <a:tableStyleId>{3C2FFA5D-87B4-456A-9821-1D502468CF0F}</a:tableStyleId>
              </a:tblPr>
              <a:tblGrid>
                <a:gridCol w="1448437"/>
                <a:gridCol w="4648200"/>
                <a:gridCol w="4723763"/>
              </a:tblGrid>
              <a:tr h="364479">
                <a:tc>
                  <a:txBody>
                    <a:bodyPr/>
                    <a:lstStyle/>
                    <a:p>
                      <a:pPr algn="ctr" rtl="0"/>
                      <a:r>
                        <a:rPr lang="en-IN" sz="1800" dirty="0">
                          <a:effectLst/>
                        </a:rPr>
                        <a:t>Feature</a:t>
                      </a:r>
                      <a:endParaRPr lang="en-IN"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IN" sz="1800" dirty="0">
                          <a:effectLst/>
                        </a:rPr>
                        <a:t>Shared Memory</a:t>
                      </a:r>
                      <a:endParaRPr lang="en-IN"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IN" sz="1800">
                          <a:effectLst/>
                        </a:rPr>
                        <a:t>Message Passing</a:t>
                      </a:r>
                      <a:endParaRPr lang="en-IN"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r h="684575">
                <a:tc>
                  <a:txBody>
                    <a:bodyPr/>
                    <a:lstStyle/>
                    <a:p>
                      <a:pPr algn="ctr" rtl="0"/>
                      <a:r>
                        <a:rPr lang="en-IN" sz="1800">
                          <a:effectLst/>
                        </a:rPr>
                        <a:t>Mechanism</a:t>
                      </a:r>
                      <a:endParaRPr lang="en-IN"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dirty="0">
                          <a:effectLst/>
                        </a:rPr>
                        <a:t>Processes share a common region of physical memory.</a:t>
                      </a:r>
                      <a:endParaRPr lang="en-US"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Processes communicate by sending and receiving packets of data.</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r h="848169">
                <a:tc>
                  <a:txBody>
                    <a:bodyPr/>
                    <a:lstStyle/>
                    <a:p>
                      <a:pPr algn="ctr" rtl="0"/>
                      <a:r>
                        <a:rPr lang="en-IN" sz="1800">
                          <a:effectLst/>
                        </a:rPr>
                        <a:t>Kernel Involvement</a:t>
                      </a:r>
                      <a:endParaRPr lang="en-IN"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Only required to establish the memory region. Subsequent access is direct.</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Required for every exchange (via system calls like send() and receive()).</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r h="684575">
                <a:tc>
                  <a:txBody>
                    <a:bodyPr/>
                    <a:lstStyle/>
                    <a:p>
                      <a:pPr algn="ctr" rtl="0"/>
                      <a:r>
                        <a:rPr lang="en-IN" sz="1800">
                          <a:effectLst/>
                        </a:rPr>
                        <a:t>Speed</a:t>
                      </a:r>
                      <a:endParaRPr lang="en-IN"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Faster; data transfer occurs at memory speeds without overhead.</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Slower; incurs kernel intervention and context switching overhead.</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r h="475803">
                <a:tc>
                  <a:txBody>
                    <a:bodyPr/>
                    <a:lstStyle/>
                    <a:p>
                      <a:pPr algn="ctr" rtl="0"/>
                      <a:r>
                        <a:rPr lang="en-IN" sz="1800">
                          <a:effectLst/>
                        </a:rPr>
                        <a:t>Data Volume</a:t>
                      </a:r>
                      <a:endParaRPr lang="en-IN"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dirty="0">
                          <a:effectLst/>
                        </a:rPr>
                        <a:t>Ideal for exchanging large amounts of data.</a:t>
                      </a:r>
                      <a:endParaRPr lang="en-US"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Best for smaller amounts of data.</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r h="1034355">
                <a:tc>
                  <a:txBody>
                    <a:bodyPr/>
                    <a:lstStyle/>
                    <a:p>
                      <a:pPr algn="ctr" rtl="0"/>
                      <a:r>
                        <a:rPr lang="en-IN" sz="1800">
                          <a:effectLst/>
                        </a:rPr>
                        <a:t>Ease of Use</a:t>
                      </a:r>
                      <a:endParaRPr lang="en-IN"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Harder to manage; requires manual synchronization (e.g., semaphores) to avoid conflicts.</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dirty="0">
                          <a:effectLst/>
                        </a:rPr>
                        <a:t>Easier to implement; synchronization is often handled by the messaging protocol.</a:t>
                      </a:r>
                      <a:endParaRPr lang="en-US"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r h="684575">
                <a:tc>
                  <a:txBody>
                    <a:bodyPr/>
                    <a:lstStyle/>
                    <a:p>
                      <a:pPr algn="ctr" rtl="0"/>
                      <a:r>
                        <a:rPr lang="en-IN" sz="1800">
                          <a:effectLst/>
                        </a:rPr>
                        <a:t>Environment</a:t>
                      </a:r>
                      <a:endParaRPr lang="en-IN"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Best for local systems (single machine).</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a:effectLst/>
                        </a:rPr>
                        <a:t>Essential for distributed systems (across a network).</a:t>
                      </a:r>
                      <a:endParaRPr lang="en-US" sz="180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r h="1034355">
                <a:tc>
                  <a:txBody>
                    <a:bodyPr/>
                    <a:lstStyle/>
                    <a:p>
                      <a:pPr algn="ctr" rtl="0"/>
                      <a:r>
                        <a:rPr lang="en-IN" sz="1800" dirty="0">
                          <a:effectLst/>
                        </a:rPr>
                        <a:t>Modern Issue</a:t>
                      </a:r>
                      <a:endParaRPr lang="en-IN"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dirty="0">
                          <a:effectLst/>
                        </a:rPr>
                        <a:t>Cache Coherency: Shared data migrating between different core caches can cause performance lags.</a:t>
                      </a:r>
                      <a:endParaRPr lang="en-US"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c>
                  <a:txBody>
                    <a:bodyPr/>
                    <a:lstStyle/>
                    <a:p>
                      <a:pPr algn="ctr" rtl="0"/>
                      <a:r>
                        <a:rPr lang="en-US" sz="1800" dirty="0">
                          <a:effectLst/>
                        </a:rPr>
                        <a:t>Overhead: Frequent system calls can create a bottleneck for high-frequency messaging.</a:t>
                      </a:r>
                      <a:endParaRPr lang="en-US" sz="1800" dirty="0">
                        <a:solidFill>
                          <a:srgbClr val="1F1F1F"/>
                        </a:solidFill>
                        <a:effectLst/>
                        <a:latin typeface="Times New Roman" panose="02020603050405020304" pitchFamily="18" charset="0"/>
                        <a:cs typeface="Times New Roman" panose="02020603050405020304" pitchFamily="18" charset="0"/>
                      </a:endParaRPr>
                    </a:p>
                  </a:txBody>
                  <a:tcPr marL="28527" marR="28527" marT="19018" marB="19018" anchor="ct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45974</Words>
  <Application>WPS Presentation</Application>
  <PresentationFormat>Widescreen</PresentationFormat>
  <Paragraphs>891</Paragraphs>
  <Slides>69</Slides>
  <Notes>81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69</vt:i4>
      </vt:variant>
    </vt:vector>
  </HeadingPairs>
  <TitlesOfParts>
    <vt:vector size="80" baseType="lpstr">
      <vt:lpstr>Arial</vt:lpstr>
      <vt:lpstr>SimSun</vt:lpstr>
      <vt:lpstr>Wingdings</vt:lpstr>
      <vt:lpstr>Arial</vt:lpstr>
      <vt:lpstr>Calibri</vt:lpstr>
      <vt:lpstr>Times New Roman</vt:lpstr>
      <vt:lpstr>Times New Roman</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 Malige</dc:creator>
  <cp:lastModifiedBy>Alex Vol</cp:lastModifiedBy>
  <cp:revision>72</cp:revision>
  <dcterms:created xsi:type="dcterms:W3CDTF">2026-03-25T10:10:29Z</dcterms:created>
  <dcterms:modified xsi:type="dcterms:W3CDTF">2026-03-26T03:36:11Z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317B10AF9A3D4857B1A9EF606ED7B37B_12</vt:lpwstr>
  </property>
  <property fmtid="{D5CDD505-2E9C-101B-9397-08002B2CF9AE}" pid="3" name="KSOProductBuildVer">
    <vt:lpwstr>2057-12.2.0.23197</vt:lpwstr>
  </property>
</Properties>
</file>