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2" r:id="rId5"/>
    <p:sldId id="273" r:id="rId6"/>
    <p:sldId id="265" r:id="rId7"/>
    <p:sldId id="266" r:id="rId8"/>
    <p:sldId id="258" r:id="rId9"/>
    <p:sldId id="259" r:id="rId10"/>
    <p:sldId id="261" r:id="rId11"/>
    <p:sldId id="268" r:id="rId12"/>
    <p:sldId id="269" r:id="rId13"/>
    <p:sldId id="270" r:id="rId14"/>
    <p:sldId id="262" r:id="rId15"/>
    <p:sldId id="263" r:id="rId16"/>
    <p:sldId id="264"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6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54AB271-9812-442F-9FD8-DEAA052CDACD}"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4268653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4AB271-9812-442F-9FD8-DEAA052CDACD}"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2627738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AB271-9812-442F-9FD8-DEAA052CDACD}"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95666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4AB271-9812-442F-9FD8-DEAA052CDACD}"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74324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4AB271-9812-442F-9FD8-DEAA052CDACD}" type="datetimeFigureOut">
              <a:rPr lang="en-US" smtClean="0"/>
              <a:t>3/7/2022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2498829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4AB271-9812-442F-9FD8-DEAA052CDACD}" type="datetimeFigureOut">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340105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AB271-9812-442F-9FD8-DEAA052CDACD}" type="datetimeFigureOut">
              <a:rPr lang="en-US" smtClean="0"/>
              <a:t>3/7/2022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110624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AB271-9812-442F-9FD8-DEAA052CDACD}"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1682000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AB271-9812-442F-9FD8-DEAA052CDACD}"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67331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4AB271-9812-442F-9FD8-DEAA052CDACD}"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2903930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4AB271-9812-442F-9FD8-DEAA052CDACD}"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A7EB7-EA37-426C-BC9A-36D2230101E9}" type="slidenum">
              <a:rPr lang="en-US" smtClean="0"/>
              <a:t>‹#›</a:t>
            </a:fld>
            <a:endParaRPr lang="en-US"/>
          </a:p>
        </p:txBody>
      </p:sp>
    </p:spTree>
    <p:extLst>
      <p:ext uri="{BB962C8B-B14F-4D97-AF65-F5344CB8AC3E}">
        <p14:creationId xmlns:p14="http://schemas.microsoft.com/office/powerpoint/2010/main" val="1391019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4AB271-9812-442F-9FD8-DEAA052CDACD}" type="datetimeFigureOut">
              <a:rPr lang="en-US" smtClean="0"/>
              <a:t>3/7/2022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A7EB7-EA37-426C-BC9A-36D2230101E9}" type="slidenum">
              <a:rPr lang="en-US" smtClean="0"/>
              <a:t>‹#›</a:t>
            </a:fld>
            <a:endParaRPr lang="en-US"/>
          </a:p>
        </p:txBody>
      </p:sp>
    </p:spTree>
    <p:extLst>
      <p:ext uri="{BB962C8B-B14F-4D97-AF65-F5344CB8AC3E}">
        <p14:creationId xmlns:p14="http://schemas.microsoft.com/office/powerpoint/2010/main" val="2158249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image.slidesharecdn.com/slidepowerpointpreposition-noreen-120518122754-phpapp01/95/slide-power-point-preposition-noreen-5-728.jpg?cb=1337344158"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Communicative English </a:t>
            </a:r>
          </a:p>
        </p:txBody>
      </p:sp>
      <p:sp>
        <p:nvSpPr>
          <p:cNvPr id="3" name="Subtitle 2"/>
          <p:cNvSpPr>
            <a:spLocks noGrp="1"/>
          </p:cNvSpPr>
          <p:nvPr>
            <p:ph type="subTitle" idx="1"/>
          </p:nvPr>
        </p:nvSpPr>
        <p:spPr/>
        <p:txBody>
          <a:bodyPr/>
          <a:lstStyle/>
          <a:p>
            <a:r>
              <a:rPr lang="en-US" dirty="0"/>
              <a:t>Common errors in prepositions </a:t>
            </a:r>
          </a:p>
        </p:txBody>
      </p:sp>
    </p:spTree>
    <p:extLst>
      <p:ext uri="{BB962C8B-B14F-4D97-AF65-F5344CB8AC3E}">
        <p14:creationId xmlns:p14="http://schemas.microsoft.com/office/powerpoint/2010/main" val="3664221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0110"/>
            <a:ext cx="10515600" cy="803563"/>
          </a:xfrm>
        </p:spPr>
        <p:txBody>
          <a:bodyPr>
            <a:normAutofit fontScale="90000"/>
          </a:bodyPr>
          <a:lstStyle/>
          <a:p>
            <a:r>
              <a:rPr lang="en-US" dirty="0"/>
              <a:t>Prepositions – easy to spell but complicated in usage</a:t>
            </a:r>
          </a:p>
        </p:txBody>
      </p:sp>
      <p:sp>
        <p:nvSpPr>
          <p:cNvPr id="3" name="Content Placeholder 2"/>
          <p:cNvSpPr>
            <a:spLocks noGrp="1"/>
          </p:cNvSpPr>
          <p:nvPr>
            <p:ph idx="1"/>
          </p:nvPr>
        </p:nvSpPr>
        <p:spPr>
          <a:xfrm>
            <a:off x="838200" y="1177635"/>
            <a:ext cx="10515600" cy="5389419"/>
          </a:xfrm>
        </p:spPr>
        <p:txBody>
          <a:bodyPr/>
          <a:lstStyle/>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English prepositions and their rules can be really confusing!</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There are so many different prepositions, and choosing the correct preposition will sometimes depend on the word that comes before it. </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In some cases, it will also depend on what comes after the preposition.</a:t>
            </a:r>
          </a:p>
          <a:p>
            <a:pPr marL="0" marR="0">
              <a:lnSpc>
                <a:spcPct val="107000"/>
              </a:lnSpc>
              <a:spcBef>
                <a:spcPts val="0"/>
              </a:spcBef>
              <a:spcAft>
                <a:spcPts val="800"/>
              </a:spcAft>
            </a:pPr>
            <a:r>
              <a:rPr lang="en-US" b="1" i="1" dirty="0">
                <a:latin typeface="Calibri" panose="020F0502020204030204" pitchFamily="34" charset="0"/>
                <a:ea typeface="Calibri" panose="020F0502020204030204" pitchFamily="34" charset="0"/>
                <a:cs typeface="Times New Roman" panose="02020603050405020304" pitchFamily="18" charset="0"/>
              </a:rPr>
              <a:t>What are prepositions ?</a:t>
            </a:r>
          </a:p>
          <a:p>
            <a:pPr marL="0" marR="0" lvl="0" indent="0">
              <a:lnSpc>
                <a:spcPct val="107000"/>
              </a:lnSpc>
              <a:spcBef>
                <a:spcPts val="0"/>
              </a:spcBef>
              <a:spcAft>
                <a:spcPts val="800"/>
              </a:spcAft>
              <a:buNone/>
              <a:tabLst>
                <a:tab pos="457200" algn="l"/>
              </a:tabLst>
            </a:pPr>
            <a:r>
              <a:rPr lang="en-US" b="1" i="1" dirty="0">
                <a:effectLst/>
                <a:latin typeface="Calibri" panose="020F0502020204030204" pitchFamily="34" charset="0"/>
                <a:ea typeface="Calibri" panose="020F0502020204030204" pitchFamily="34" charset="0"/>
                <a:cs typeface="Times New Roman" panose="02020603050405020304" pitchFamily="18" charset="0"/>
              </a:rPr>
              <a:t>Prepositions are words that we use before nouns or pronouns to show their relationship with other words in a sentence.</a:t>
            </a:r>
          </a:p>
          <a:p>
            <a:pPr marL="0" marR="0" lvl="0" indent="0">
              <a:lnSpc>
                <a:spcPct val="107000"/>
              </a:lnSpc>
              <a:spcBef>
                <a:spcPts val="0"/>
              </a:spcBef>
              <a:spcAft>
                <a:spcPts val="800"/>
              </a:spcAft>
              <a:buNone/>
              <a:tabLst>
                <a:tab pos="457200" algn="l"/>
              </a:tabLst>
            </a:pPr>
            <a:r>
              <a:rPr lang="en-US" b="1" i="1" dirty="0">
                <a:effectLst/>
                <a:latin typeface="Calibri" panose="020F0502020204030204" pitchFamily="34" charset="0"/>
                <a:ea typeface="Calibri" panose="020F0502020204030204" pitchFamily="34" charset="0"/>
                <a:cs typeface="Times New Roman" panose="02020603050405020304" pitchFamily="18" charset="0"/>
              </a:rPr>
              <a:t> </a:t>
            </a:r>
            <a:r>
              <a:rPr lang="en-US" b="1" i="1" dirty="0" err="1">
                <a:effectLst/>
                <a:latin typeface="Calibri" panose="020F0502020204030204" pitchFamily="34" charset="0"/>
                <a:ea typeface="Calibri" panose="020F0502020204030204" pitchFamily="34" charset="0"/>
                <a:cs typeface="Times New Roman" panose="02020603050405020304" pitchFamily="18" charset="0"/>
              </a:rPr>
              <a:t>Eg</a:t>
            </a:r>
            <a:r>
              <a:rPr lang="en-US" b="1" i="1" dirty="0">
                <a:effectLst/>
                <a:latin typeface="Calibri" panose="020F0502020204030204" pitchFamily="34" charset="0"/>
                <a:ea typeface="Calibri" panose="020F0502020204030204" pitchFamily="34" charset="0"/>
                <a:cs typeface="Times New Roman" panose="02020603050405020304" pitchFamily="18" charset="0"/>
              </a:rPr>
              <a:t>: I am sitting on a chair. I am walking to school. </a:t>
            </a:r>
          </a:p>
          <a:p>
            <a:pPr marL="0" marR="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32601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837" y="166255"/>
            <a:ext cx="11859490" cy="6386945"/>
          </a:xfrm>
        </p:spPr>
        <p:txBody>
          <a:bodyPr>
            <a:noAutofit/>
          </a:bodyPr>
          <a:lstStyle/>
          <a:p>
            <a:pPr marL="0" lvl="0" indent="0">
              <a:lnSpc>
                <a:spcPct val="107000"/>
              </a:lnSpc>
              <a:spcBef>
                <a:spcPts val="0"/>
              </a:spcBef>
              <a:spcAft>
                <a:spcPts val="800"/>
              </a:spcAft>
              <a:buNone/>
              <a:tabLst>
                <a:tab pos="457200" algn="l"/>
              </a:tabLst>
            </a:pPr>
            <a:r>
              <a:rPr lang="en-US" sz="20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There are prepositions of location, direction and time.</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r>
              <a:rPr lang="en-US" sz="2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Prepositions of location </a:t>
            </a:r>
            <a:r>
              <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 </a:t>
            </a:r>
            <a:r>
              <a:rPr lang="en-US" sz="2000" dirty="0">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a:t>
            </a:r>
            <a:r>
              <a:rPr lang="en-US" sz="2000" dirty="0">
                <a:effectLst/>
                <a:latin typeface="Calibri" panose="020F0502020204030204" pitchFamily="34" charset="0"/>
                <a:ea typeface="Calibri" panose="020F0502020204030204" pitchFamily="34" charset="0"/>
                <a:cs typeface="Times New Roman" panose="02020603050405020304" pitchFamily="18" charset="0"/>
              </a:rPr>
              <a:t>re used to indicate the locations or position of objects.</a:t>
            </a:r>
            <a:r>
              <a:rPr lang="en-US" sz="2000" dirty="0">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p>
          <a:p>
            <a:pPr marL="0" marR="0" lvl="0" indent="0">
              <a:lnSpc>
                <a:spcPct val="107000"/>
              </a:lnSpc>
              <a:spcBef>
                <a:spcPts val="0"/>
              </a:spcBef>
              <a:spcAft>
                <a:spcPts val="800"/>
              </a:spcAft>
              <a:buNone/>
              <a:tabLst>
                <a:tab pos="457200" algn="l"/>
              </a:tabLs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Eg</a:t>
            </a:r>
            <a:r>
              <a:rPr lang="en-US" sz="2000" dirty="0">
                <a:effectLst/>
                <a:latin typeface="Calibri" panose="020F0502020204030204" pitchFamily="34" charset="0"/>
                <a:ea typeface="Calibri" panose="020F0502020204030204" pitchFamily="34" charset="0"/>
                <a:cs typeface="Times New Roman" panose="02020603050405020304" pitchFamily="18" charset="0"/>
              </a:rPr>
              <a:t>: on, in, under, in front of, among, between.</a:t>
            </a:r>
          </a:p>
          <a:p>
            <a:pPr marL="0" marR="0" lvl="0" indent="0">
              <a:lnSpc>
                <a:spcPct val="107000"/>
              </a:lnSpc>
              <a:spcBef>
                <a:spcPts val="0"/>
              </a:spcBef>
              <a:spcAft>
                <a:spcPts val="800"/>
              </a:spcAft>
              <a:buNone/>
              <a:tabLst>
                <a:tab pos="457200" algn="l"/>
              </a:tabLst>
            </a:pPr>
            <a:endParaRPr lang="en-US" sz="2000" i="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dirty="0">
                <a:effectLst/>
                <a:latin typeface="Calibri" panose="020F0502020204030204" pitchFamily="34" charset="0"/>
                <a:ea typeface="Calibri" panose="020F0502020204030204" pitchFamily="34" charset="0"/>
                <a:cs typeface="Times New Roman" panose="02020603050405020304" pitchFamily="18" charset="0"/>
              </a:rPr>
              <a:t>Against – means next to &amp; touching on upright surface for support.</a:t>
            </a:r>
          </a:p>
          <a:p>
            <a:pPr marL="0" marR="0" lvl="0" indent="0">
              <a:lnSpc>
                <a:spcPct val="107000"/>
              </a:lnSpc>
              <a:spcBef>
                <a:spcPts val="0"/>
              </a:spcBef>
              <a:spcAft>
                <a:spcPts val="800"/>
              </a:spcAft>
              <a:buNone/>
              <a:tabLst>
                <a:tab pos="457200" algn="l"/>
              </a:tabLs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Eg</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2000" dirty="0">
                <a:effectLst/>
                <a:latin typeface="Calibri" panose="020F0502020204030204" pitchFamily="34" charset="0"/>
                <a:ea typeface="Calibri" panose="020F0502020204030204" pitchFamily="34" charset="0"/>
                <a:cs typeface="Times New Roman" panose="02020603050405020304" pitchFamily="18" charset="0"/>
              </a:rPr>
              <a:t>) The boy is leaning against the wall. • ii) I’m leaning against the white board. • iii) Don’t lean against the wall. It’s just been painted.)</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endParaRPr lang="en-US" sz="2000" i="1"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tooltip="PREPOSITIONS OF      DIRECTIONü Are used to show direction ..."/>
            </a:endParaRPr>
          </a:p>
          <a:p>
            <a:pPr marL="0" marR="0" lvl="0" indent="0">
              <a:lnSpc>
                <a:spcPct val="107000"/>
              </a:lnSpc>
              <a:spcBef>
                <a:spcPts val="0"/>
              </a:spcBef>
              <a:spcAft>
                <a:spcPts val="800"/>
              </a:spcAft>
              <a:buNone/>
              <a:tabLst>
                <a:tab pos="457200" algn="l"/>
              </a:tabLst>
            </a:pPr>
            <a:r>
              <a:rPr lang="en-US" sz="2000" b="1" i="1"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tooltip="PREPOSITIONS OF      DIRECTIONü Are used to show direction ..."/>
              </a:rPr>
              <a:t> </a:t>
            </a:r>
            <a:r>
              <a:rPr lang="en-US" sz="2000" b="1" dirty="0">
                <a:latin typeface="Calibri" panose="020F0502020204030204" pitchFamily="34" charset="0"/>
                <a:ea typeface="Calibri" panose="020F0502020204030204" pitchFamily="34" charset="0"/>
                <a:cs typeface="Times New Roman" panose="02020603050405020304" pitchFamily="18" charset="0"/>
              </a:rPr>
              <a:t>Prepositions of direction </a:t>
            </a:r>
            <a:r>
              <a:rPr lang="en-US" sz="2000" b="1" dirty="0">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 - </a:t>
            </a:r>
            <a:r>
              <a:rPr lang="en-US" sz="2000" dirty="0">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a:t>
            </a:r>
            <a:r>
              <a:rPr lang="en-US" sz="2000" dirty="0">
                <a:effectLst/>
                <a:latin typeface="Calibri" panose="020F0502020204030204" pitchFamily="34" charset="0"/>
                <a:ea typeface="Calibri" panose="020F0502020204030204" pitchFamily="34" charset="0"/>
                <a:cs typeface="Times New Roman" panose="02020603050405020304" pitchFamily="18" charset="0"/>
              </a:rPr>
              <a:t>re used to show direction of movement to and from a fixed point.</a:t>
            </a:r>
          </a:p>
          <a:p>
            <a:pPr marL="0" marR="0" lvl="0" indent="0">
              <a:lnSpc>
                <a:spcPct val="107000"/>
              </a:lnSpc>
              <a:spcBef>
                <a:spcPts val="0"/>
              </a:spcBef>
              <a:spcAft>
                <a:spcPts val="800"/>
              </a:spcAft>
              <a:buNone/>
              <a:tabLst>
                <a:tab pos="457200" algn="l"/>
              </a:tabLs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Eg</a:t>
            </a:r>
            <a:r>
              <a:rPr lang="en-US" sz="2000" dirty="0">
                <a:effectLst/>
                <a:latin typeface="Calibri" panose="020F0502020204030204" pitchFamily="34" charset="0"/>
                <a:ea typeface="Calibri" panose="020F0502020204030204" pitchFamily="34" charset="0"/>
                <a:cs typeface="Times New Roman" panose="02020603050405020304" pitchFamily="18" charset="0"/>
              </a:rPr>
              <a:t>: to, from, into, along, over, through, across and around.</a:t>
            </a:r>
          </a:p>
          <a:p>
            <a:pPr marL="0" marR="0" lvl="0" indent="0">
              <a:lnSpc>
                <a:spcPct val="107000"/>
              </a:lnSpc>
              <a:spcBef>
                <a:spcPts val="0"/>
              </a:spcBef>
              <a:spcAft>
                <a:spcPts val="800"/>
              </a:spcAft>
              <a:buNone/>
              <a:tabLst>
                <a:tab pos="457200" algn="l"/>
              </a:tabLst>
            </a:pPr>
            <a:r>
              <a:rPr lang="en-US" sz="2000" dirty="0">
                <a:effectLst/>
                <a:latin typeface="Calibri" panose="020F0502020204030204" pitchFamily="34" charset="0"/>
                <a:ea typeface="Calibri" panose="020F0502020204030204" pitchFamily="34" charset="0"/>
                <a:cs typeface="Times New Roman" panose="02020603050405020304" pitchFamily="18" charset="0"/>
              </a:rPr>
              <a:t>Into – used to show motion or movement.</a:t>
            </a:r>
          </a:p>
          <a:p>
            <a:pPr marL="0" marR="0" lvl="0" indent="0">
              <a:lnSpc>
                <a:spcPct val="107000"/>
              </a:lnSpc>
              <a:spcBef>
                <a:spcPts val="0"/>
              </a:spcBef>
              <a:spcAft>
                <a:spcPts val="800"/>
              </a:spcAft>
              <a:buNone/>
              <a:tabLst>
                <a:tab pos="457200" algn="l"/>
              </a:tabLs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Eg</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2000" dirty="0">
                <a:effectLst/>
                <a:latin typeface="Calibri" panose="020F0502020204030204" pitchFamily="34" charset="0"/>
                <a:ea typeface="Calibri" panose="020F0502020204030204" pitchFamily="34" charset="0"/>
                <a:cs typeface="Times New Roman" panose="02020603050405020304" pitchFamily="18" charset="0"/>
              </a:rPr>
              <a:t>) The cat jumped into the box. ii) The ball fell into the river. iii) She poured some boiling water into the teapot. iv) The man threw rubbish into the river. v) : There are many gift shops along the river      </a:t>
            </a:r>
          </a:p>
          <a:p>
            <a:pPr marL="0" marR="0" lvl="0" indent="0">
              <a:lnSpc>
                <a:spcPct val="107000"/>
              </a:lnSpc>
              <a:spcBef>
                <a:spcPts val="0"/>
              </a:spcBef>
              <a:spcAft>
                <a:spcPts val="800"/>
              </a:spcAft>
              <a:buNone/>
              <a:tabLst>
                <a:tab pos="457200" algn="l"/>
              </a:tabLst>
            </a:pPr>
            <a:r>
              <a:rPr lang="en-US" sz="2000" i="1" dirty="0">
                <a:latin typeface="Calibri" panose="020F0502020204030204" pitchFamily="34" charset="0"/>
                <a:ea typeface="Calibri" panose="020F0502020204030204" pitchFamily="34" charset="0"/>
                <a:cs typeface="Times New Roman" panose="02020603050405020304" pitchFamily="18" charset="0"/>
              </a:rPr>
              <a:t>                                                                                                                 </a:t>
            </a:r>
            <a:r>
              <a:rPr lang="en-US" sz="2000" i="1"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nSpc>
                <a:spcPct val="107000"/>
              </a:lnSpc>
              <a:spcBef>
                <a:spcPts val="0"/>
              </a:spcBef>
              <a:spcAft>
                <a:spcPts val="800"/>
              </a:spcAft>
              <a:buNone/>
              <a:tabLst>
                <a:tab pos="457200" algn="l"/>
              </a:tabLst>
            </a:pPr>
            <a:endParaRPr lang="en-US" sz="2000" i="1"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r>
              <a:rPr lang="en-US" sz="2000" i="1" dirty="0">
                <a:effectLst/>
                <a:latin typeface="Calibri" panose="020F0502020204030204" pitchFamily="34" charset="0"/>
                <a:ea typeface="Calibri" panose="020F0502020204030204" pitchFamily="34" charset="0"/>
                <a:cs typeface="Times New Roman" panose="02020603050405020304" pitchFamily="18" charset="0"/>
              </a:rPr>
              <a:t>                                                                                                                                                                     </a:t>
            </a:r>
            <a:r>
              <a:rPr lang="en-US" sz="2000" i="1" dirty="0" err="1">
                <a:effectLst/>
                <a:latin typeface="Calibri" panose="020F0502020204030204" pitchFamily="34" charset="0"/>
                <a:ea typeface="Calibri" panose="020F0502020204030204" pitchFamily="34" charset="0"/>
                <a:cs typeface="Times New Roman" panose="02020603050405020304" pitchFamily="18" charset="0"/>
              </a:rPr>
              <a:t>contd</a:t>
            </a:r>
            <a:r>
              <a:rPr lang="en-US" sz="2000" i="1" dirty="0">
                <a:effectLst/>
                <a:latin typeface="Calibri" panose="020F0502020204030204" pitchFamily="34" charset="0"/>
                <a:ea typeface="Calibri" panose="020F0502020204030204" pitchFamily="34" charset="0"/>
                <a:cs typeface="Times New Roman" panose="02020603050405020304" pitchFamily="18" charset="0"/>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3566158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746"/>
            <a:ext cx="10515600" cy="5581218"/>
          </a:xfrm>
        </p:spPr>
        <p:txBody>
          <a:bodyPr>
            <a:normAutofit/>
          </a:bodyPr>
          <a:lstStyle/>
          <a:p>
            <a:pPr marL="0" marR="0" lvl="0" indent="0">
              <a:lnSpc>
                <a:spcPct val="107000"/>
              </a:lnSpc>
              <a:spcBef>
                <a:spcPts val="0"/>
              </a:spcBef>
              <a:spcAft>
                <a:spcPts val="800"/>
              </a:spcAft>
              <a:buNone/>
              <a:tabLst>
                <a:tab pos="457200" algn="l"/>
              </a:tabLst>
            </a:pP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dirty="0">
                <a:effectLst/>
                <a:latin typeface="Calibri" panose="020F0502020204030204" pitchFamily="34" charset="0"/>
                <a:ea typeface="Calibri" panose="020F0502020204030204" pitchFamily="34" charset="0"/>
                <a:cs typeface="Times New Roman" panose="02020603050405020304" pitchFamily="18" charset="0"/>
              </a:rPr>
              <a:t>Across – means on the opposite side.</a:t>
            </a:r>
          </a:p>
          <a:p>
            <a:pPr marL="0" marR="0" lvl="0" indent="0">
              <a:lnSpc>
                <a:spcPct val="107000"/>
              </a:lnSpc>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err="1">
                <a:effectLst/>
                <a:latin typeface="Calibri" panose="020F0502020204030204" pitchFamily="34" charset="0"/>
                <a:ea typeface="Calibri" panose="020F0502020204030204" pitchFamily="34" charset="0"/>
                <a:cs typeface="Times New Roman" panose="02020603050405020304" pitchFamily="18" charset="0"/>
              </a:rPr>
              <a:t>Egs</a:t>
            </a: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err="1">
                <a:effectLst/>
                <a:latin typeface="Calibri" panose="020F0502020204030204" pitchFamily="34" charset="0"/>
                <a:ea typeface="Calibri" panose="020F0502020204030204" pitchFamily="34" charset="0"/>
                <a:cs typeface="Times New Roman" panose="02020603050405020304" pitchFamily="18" charset="0"/>
              </a:rPr>
              <a:t>i</a:t>
            </a:r>
            <a:r>
              <a:rPr lang="en-US" dirty="0">
                <a:effectLst/>
                <a:latin typeface="Calibri" panose="020F0502020204030204" pitchFamily="34" charset="0"/>
                <a:ea typeface="Calibri" panose="020F0502020204030204" pitchFamily="34" charset="0"/>
                <a:cs typeface="Times New Roman" panose="02020603050405020304" pitchFamily="18" charset="0"/>
              </a:rPr>
              <a:t>) The boy swam across the pond. ii) </a:t>
            </a:r>
            <a:r>
              <a:rPr lang="en-US" dirty="0" err="1">
                <a:effectLst/>
                <a:latin typeface="Calibri" panose="020F0502020204030204" pitchFamily="34" charset="0"/>
                <a:ea typeface="Calibri" panose="020F0502020204030204" pitchFamily="34" charset="0"/>
                <a:cs typeface="Times New Roman" panose="02020603050405020304" pitchFamily="18" charset="0"/>
              </a:rPr>
              <a:t>Sita</a:t>
            </a:r>
            <a:r>
              <a:rPr lang="en-US" dirty="0">
                <a:effectLst/>
                <a:latin typeface="Calibri" panose="020F0502020204030204" pitchFamily="34" charset="0"/>
                <a:ea typeface="Calibri" panose="020F0502020204030204" pitchFamily="34" charset="0"/>
                <a:cs typeface="Times New Roman" panose="02020603050405020304" pitchFamily="18" charset="0"/>
              </a:rPr>
              <a:t> is walking across the road. iii) Ali walked across the river by using the old bridge.</a:t>
            </a:r>
          </a:p>
          <a:p>
            <a:pPr marL="0" marR="0" lvl="0" indent="0">
              <a:lnSpc>
                <a:spcPct val="107000"/>
              </a:lnSpc>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Times New Roman" panose="02020603050405020304" pitchFamily="18" charset="0"/>
              </a:rPr>
              <a:t>• Around- means moving in a circle.</a:t>
            </a:r>
          </a:p>
          <a:p>
            <a:pPr marL="0" marR="0" lvl="0" indent="0">
              <a:lnSpc>
                <a:spcPct val="107000"/>
              </a:lnSpc>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err="1">
                <a:effectLst/>
                <a:latin typeface="Calibri" panose="020F0502020204030204" pitchFamily="34" charset="0"/>
                <a:ea typeface="Calibri" panose="020F0502020204030204" pitchFamily="34" charset="0"/>
                <a:cs typeface="Times New Roman" panose="02020603050405020304" pitchFamily="18" charset="0"/>
              </a:rPr>
              <a:t>Egs</a:t>
            </a: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1. </a:t>
            </a:r>
            <a:r>
              <a:rPr lang="en-US" dirty="0">
                <a:effectLst/>
                <a:latin typeface="Calibri" panose="020F0502020204030204" pitchFamily="34" charset="0"/>
                <a:ea typeface="Calibri" panose="020F0502020204030204" pitchFamily="34" charset="0"/>
                <a:cs typeface="Times New Roman" panose="02020603050405020304" pitchFamily="18" charset="0"/>
              </a:rPr>
              <a:t> The cat ran around the stool chasing the mouse.</a:t>
            </a:r>
          </a:p>
          <a:p>
            <a:pPr marL="0" marR="0" lvl="0" indent="0">
              <a:lnSpc>
                <a:spcPct val="107000"/>
              </a:lnSpc>
              <a:spcBef>
                <a:spcPts val="0"/>
              </a:spcBef>
              <a:spcAft>
                <a:spcPts val="800"/>
              </a:spcAft>
              <a:buNone/>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2. </a:t>
            </a:r>
            <a:r>
              <a:rPr lang="en-US" dirty="0">
                <a:effectLst/>
                <a:latin typeface="Calibri" panose="020F0502020204030204" pitchFamily="34" charset="0"/>
                <a:ea typeface="Calibri" panose="020F0502020204030204" pitchFamily="34" charset="0"/>
                <a:cs typeface="Times New Roman" panose="02020603050405020304" pitchFamily="18" charset="0"/>
              </a:rPr>
              <a:t>The boy jumped over the fence. </a:t>
            </a:r>
          </a:p>
          <a:p>
            <a:pPr marL="0" marR="0" lvl="0" indent="0">
              <a:lnSpc>
                <a:spcPct val="107000"/>
              </a:lnSpc>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Times New Roman" panose="02020603050405020304" pitchFamily="18" charset="0"/>
              </a:rPr>
              <a:t>3. The cat leaps over the drain.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514350" marR="0" lvl="0" indent="-514350">
              <a:lnSpc>
                <a:spcPct val="107000"/>
              </a:lnSpc>
              <a:spcBef>
                <a:spcPts val="0"/>
              </a:spcBef>
              <a:spcAft>
                <a:spcPts val="800"/>
              </a:spcAft>
              <a:buAutoNum type="arabicPeriod" startAt="4"/>
              <a:tabLst>
                <a:tab pos="457200" algn="l"/>
              </a:tabLst>
            </a:pPr>
            <a:r>
              <a:rPr lang="en-US" dirty="0">
                <a:effectLst/>
                <a:latin typeface="Calibri" panose="020F0502020204030204" pitchFamily="34" charset="0"/>
                <a:ea typeface="Calibri" panose="020F0502020204030204" pitchFamily="34" charset="0"/>
                <a:cs typeface="Times New Roman" panose="02020603050405020304" pitchFamily="18" charset="0"/>
              </a:rPr>
              <a:t>Ali kicked the ball through the window. </a:t>
            </a:r>
          </a:p>
          <a:p>
            <a:pPr marL="0" marR="0" lvl="0" indent="0">
              <a:lnSpc>
                <a:spcPct val="107000"/>
              </a:lnSpc>
              <a:spcBef>
                <a:spcPts val="0"/>
              </a:spcBef>
              <a:spcAft>
                <a:spcPts val="800"/>
              </a:spcAft>
              <a:buNone/>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5. </a:t>
            </a:r>
            <a:r>
              <a:rPr lang="en-US" dirty="0">
                <a:effectLst/>
                <a:latin typeface="Calibri" panose="020F0502020204030204" pitchFamily="34" charset="0"/>
                <a:ea typeface="Calibri" panose="020F0502020204030204" pitchFamily="34" charset="0"/>
                <a:cs typeface="Times New Roman" panose="02020603050405020304" pitchFamily="18" charset="0"/>
              </a:rPr>
              <a:t> Amir threw the rubbish through the window.</a:t>
            </a:r>
          </a:p>
          <a:p>
            <a:endParaRPr lang="en-US" dirty="0"/>
          </a:p>
        </p:txBody>
      </p:sp>
    </p:spTree>
    <p:extLst>
      <p:ext uri="{BB962C8B-B14F-4D97-AF65-F5344CB8AC3E}">
        <p14:creationId xmlns:p14="http://schemas.microsoft.com/office/powerpoint/2010/main" val="1867770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lnSpc>
                <a:spcPct val="107000"/>
              </a:lnSpc>
              <a:spcBef>
                <a:spcPts val="0"/>
              </a:spcBef>
              <a:spcAft>
                <a:spcPts val="800"/>
              </a:spcAft>
              <a:buNone/>
              <a:tabLst>
                <a:tab pos="457200" algn="l"/>
              </a:tabLst>
            </a:pPr>
            <a:r>
              <a:rPr lang="en-US" sz="2600" i="1" dirty="0">
                <a:solidFill>
                  <a:prstClr val="black"/>
                </a:solidFill>
                <a:latin typeface="Calibri" panose="020F0502020204030204" pitchFamily="34" charset="0"/>
                <a:ea typeface="Calibri" panose="020F0502020204030204" pitchFamily="34" charset="0"/>
                <a:cs typeface="Times New Roman" panose="02020603050405020304" pitchFamily="18" charset="0"/>
              </a:rPr>
              <a:t>PREPOSITIONS OF TIME• Are used to shows when things happen.</a:t>
            </a:r>
          </a:p>
          <a:p>
            <a:pPr marL="0" lvl="0" indent="0">
              <a:lnSpc>
                <a:spcPct val="107000"/>
              </a:lnSpc>
              <a:spcBef>
                <a:spcPts val="0"/>
              </a:spcBef>
              <a:spcAft>
                <a:spcPts val="800"/>
              </a:spcAft>
              <a:buNone/>
              <a:tabLst>
                <a:tab pos="457200" algn="l"/>
              </a:tabLst>
            </a:pPr>
            <a:r>
              <a:rPr lang="en-US" sz="2600" i="1"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r>
              <a:rPr lang="en-US" sz="2600" i="1"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Eg</a:t>
            </a:r>
            <a:r>
              <a:rPr lang="en-US" sz="2600" i="1" dirty="0">
                <a:solidFill>
                  <a:prstClr val="black"/>
                </a:solidFill>
                <a:latin typeface="Calibri" panose="020F0502020204030204" pitchFamily="34" charset="0"/>
                <a:ea typeface="Calibri" panose="020F0502020204030204" pitchFamily="34" charset="0"/>
                <a:cs typeface="Times New Roman" panose="02020603050405020304" pitchFamily="18" charset="0"/>
              </a:rPr>
              <a:t>: by, for, before, after, since, at and during.</a:t>
            </a:r>
            <a:endParaRPr lang="en-US" sz="26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r>
              <a:rPr lang="en-US" dirty="0"/>
              <a:t>Please make sentences using the above prepositions and enter in the chat box </a:t>
            </a:r>
          </a:p>
        </p:txBody>
      </p:sp>
    </p:spTree>
    <p:extLst>
      <p:ext uri="{BB962C8B-B14F-4D97-AF65-F5344CB8AC3E}">
        <p14:creationId xmlns:p14="http://schemas.microsoft.com/office/powerpoint/2010/main" val="96402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7091"/>
            <a:ext cx="10515600" cy="5899872"/>
          </a:xfrm>
        </p:spPr>
        <p:txBody>
          <a:bodyPr>
            <a:normAutofit/>
          </a:bodyPr>
          <a:lstStyle/>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Odd and unusual usage </a:t>
            </a:r>
          </a:p>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 we can use </a:t>
            </a:r>
            <a:r>
              <a:rPr lang="en-US" b="1" dirty="0">
                <a:effectLst/>
                <a:latin typeface="Calibri" panose="020F0502020204030204" pitchFamily="34" charset="0"/>
                <a:ea typeface="Calibri" panose="020F0502020204030204" pitchFamily="34" charset="0"/>
                <a:cs typeface="Times New Roman" panose="02020603050405020304" pitchFamily="18" charset="0"/>
              </a:rPr>
              <a:t>with</a:t>
            </a:r>
            <a:r>
              <a:rPr lang="en-US" dirty="0">
                <a:effectLst/>
                <a:latin typeface="Calibri" panose="020F0502020204030204" pitchFamily="34" charset="0"/>
                <a:ea typeface="Calibri" panose="020F0502020204030204" pitchFamily="34" charset="0"/>
                <a:cs typeface="Times New Roman" panose="02020603050405020304" pitchFamily="18" charset="0"/>
              </a:rPr>
              <a:t> or </a:t>
            </a:r>
            <a:r>
              <a:rPr lang="en-US" b="1" dirty="0">
                <a:effectLst/>
                <a:latin typeface="Calibri" panose="020F0502020204030204" pitchFamily="34" charset="0"/>
                <a:ea typeface="Calibri" panose="020F0502020204030204" pitchFamily="34" charset="0"/>
                <a:cs typeface="Times New Roman" panose="02020603050405020304" pitchFamily="18" charset="0"/>
              </a:rPr>
              <a:t>about</a:t>
            </a:r>
            <a:r>
              <a:rPr lang="en-US" dirty="0">
                <a:effectLst/>
                <a:latin typeface="Calibri" panose="020F0502020204030204" pitchFamily="34" charset="0"/>
                <a:ea typeface="Calibri" panose="020F0502020204030204" pitchFamily="34" charset="0"/>
                <a:cs typeface="Times New Roman" panose="02020603050405020304" pitchFamily="18" charset="0"/>
              </a:rPr>
              <a:t> after </a:t>
            </a:r>
            <a:r>
              <a:rPr lang="en-US" b="1" dirty="0">
                <a:effectLst/>
                <a:latin typeface="Calibri" panose="020F0502020204030204" pitchFamily="34" charset="0"/>
                <a:ea typeface="Calibri" panose="020F0502020204030204" pitchFamily="34" charset="0"/>
                <a:cs typeface="Times New Roman" panose="02020603050405020304" pitchFamily="18" charset="0"/>
              </a:rPr>
              <a:t>upset</a:t>
            </a:r>
            <a:r>
              <a:rPr lang="en-US" dirty="0">
                <a:effectLst/>
                <a:latin typeface="Calibri" panose="020F0502020204030204" pitchFamily="34" charset="0"/>
                <a:ea typeface="Calibri" panose="020F0502020204030204" pitchFamily="34" charset="0"/>
                <a:cs typeface="Times New Roman" panose="02020603050405020304" pitchFamily="18" charset="0"/>
              </a:rPr>
              <a:t> depending on the situation:</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use </a:t>
            </a:r>
            <a:r>
              <a:rPr lang="en-US" b="1" dirty="0">
                <a:effectLst/>
                <a:latin typeface="Calibri" panose="020F0502020204030204" pitchFamily="34" charset="0"/>
                <a:ea typeface="Calibri" panose="020F0502020204030204" pitchFamily="34" charset="0"/>
                <a:cs typeface="Times New Roman" panose="02020603050405020304" pitchFamily="18" charset="0"/>
              </a:rPr>
              <a:t>about + something</a:t>
            </a: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“I’m upset </a:t>
            </a:r>
            <a:r>
              <a:rPr lang="en-US" b="1" i="1" dirty="0">
                <a:effectLst/>
                <a:latin typeface="Calibri" panose="020F0502020204030204" pitchFamily="34" charset="0"/>
                <a:ea typeface="Calibri" panose="020F0502020204030204" pitchFamily="34" charset="0"/>
                <a:cs typeface="Times New Roman" panose="02020603050405020304" pitchFamily="18" charset="0"/>
              </a:rPr>
              <a:t>about what he said</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use </a:t>
            </a:r>
            <a:r>
              <a:rPr lang="en-US" b="1" dirty="0">
                <a:effectLst/>
                <a:latin typeface="Calibri" panose="020F0502020204030204" pitchFamily="34" charset="0"/>
                <a:ea typeface="Calibri" panose="020F0502020204030204" pitchFamily="34" charset="0"/>
                <a:cs typeface="Times New Roman" panose="02020603050405020304" pitchFamily="18" charset="0"/>
              </a:rPr>
              <a:t>with + someone</a:t>
            </a:r>
            <a:r>
              <a:rPr lang="en-US"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“I’m upset </a:t>
            </a:r>
            <a:r>
              <a:rPr lang="en-US" b="1" i="1" dirty="0">
                <a:effectLst/>
                <a:latin typeface="Calibri" panose="020F0502020204030204" pitchFamily="34" charset="0"/>
                <a:ea typeface="Calibri" panose="020F0502020204030204" pitchFamily="34" charset="0"/>
                <a:cs typeface="Times New Roman" panose="02020603050405020304" pitchFamily="18" charset="0"/>
              </a:rPr>
              <a:t>with him</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Let’s look at another example. We say:</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a:t>
            </a:r>
            <a:r>
              <a:rPr lang="en-US" i="1" dirty="0">
                <a:latin typeface="Calibri" panose="020F0502020204030204" pitchFamily="34" charset="0"/>
                <a:ea typeface="Calibri" panose="020F0502020204030204" pitchFamily="34" charset="0"/>
                <a:cs typeface="Times New Roman" panose="02020603050405020304" pitchFamily="18" charset="0"/>
              </a:rPr>
              <a:t>she is </a:t>
            </a:r>
            <a:r>
              <a:rPr lang="en-US" b="1" i="1" dirty="0">
                <a:effectLst/>
                <a:latin typeface="Calibri" panose="020F0502020204030204" pitchFamily="34" charset="0"/>
                <a:ea typeface="Calibri" panose="020F0502020204030204" pitchFamily="34" charset="0"/>
                <a:cs typeface="Times New Roman" panose="02020603050405020304" pitchFamily="18" charset="0"/>
              </a:rPr>
              <a:t>in a relationship with</a:t>
            </a:r>
            <a:r>
              <a:rPr lang="en-US" i="1" dirty="0">
                <a:effectLst/>
                <a:latin typeface="Calibri" panose="020F0502020204030204" pitchFamily="34" charset="0"/>
                <a:ea typeface="Calibri" panose="020F0502020204030204" pitchFamily="34" charset="0"/>
                <a:cs typeface="Times New Roman" panose="02020603050405020304" pitchFamily="18" charset="0"/>
              </a:rPr>
              <a:t> him.”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But we say:</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“She is </a:t>
            </a:r>
            <a:r>
              <a:rPr lang="en-US" b="1" i="1" dirty="0">
                <a:effectLst/>
                <a:latin typeface="Calibri" panose="020F0502020204030204" pitchFamily="34" charset="0"/>
                <a:ea typeface="Calibri" panose="020F0502020204030204" pitchFamily="34" charset="0"/>
                <a:cs typeface="Times New Roman" panose="02020603050405020304" pitchFamily="18" charset="0"/>
              </a:rPr>
              <a:t>married to</a:t>
            </a:r>
            <a:r>
              <a:rPr lang="en-US" i="1" dirty="0">
                <a:effectLst/>
                <a:latin typeface="Calibri" panose="020F0502020204030204" pitchFamily="34" charset="0"/>
                <a:ea typeface="Calibri" panose="020F0502020204030204" pitchFamily="34" charset="0"/>
                <a:cs typeface="Times New Roman" panose="02020603050405020304" pitchFamily="18" charset="0"/>
              </a:rPr>
              <a:t> him.” (...NOT  she is married with him)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77073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563" y="218497"/>
            <a:ext cx="11450782" cy="6487103"/>
          </a:xfrm>
        </p:spPr>
        <p:txBody>
          <a:bodyPr>
            <a:noAutofit/>
          </a:bodyPr>
          <a:lstStyle/>
          <a:p>
            <a:pPr marL="0" marR="0" indent="0">
              <a:lnSpc>
                <a:spcPct val="107000"/>
              </a:lnSpc>
              <a:spcBef>
                <a:spcPts val="0"/>
              </a:spcBef>
              <a:spcAft>
                <a:spcPts val="800"/>
              </a:spcAft>
              <a:buNone/>
            </a:pPr>
            <a:r>
              <a:rPr lang="en-US" sz="1600" b="1" dirty="0">
                <a:effectLst/>
                <a:latin typeface="Calibri" panose="020F0502020204030204" pitchFamily="34" charset="0"/>
                <a:ea typeface="Calibri" panose="020F0502020204030204" pitchFamily="34" charset="0"/>
                <a:cs typeface="Times New Roman" panose="02020603050405020304" pitchFamily="18" charset="0"/>
              </a:rPr>
              <a:t>Common errors – (red indicate mistakes )</a:t>
            </a:r>
            <a:endParaRPr lang="en-US" sz="1600" b="1"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b="1" dirty="0">
                <a:effectLst/>
                <a:latin typeface="Calibri" panose="020F0502020204030204" pitchFamily="34" charset="0"/>
                <a:ea typeface="Calibri" panose="020F0502020204030204" pitchFamily="34" charset="0"/>
                <a:cs typeface="Times New Roman" panose="02020603050405020304" pitchFamily="18" charset="0"/>
              </a:rPr>
              <a:t>.1.  interested + in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effectLst/>
                <a:latin typeface="Calibri" panose="020F0502020204030204" pitchFamily="34" charset="0"/>
                <a:ea typeface="Calibri" panose="020F0502020204030204" pitchFamily="34" charset="0"/>
                <a:cs typeface="Times New Roman" panose="02020603050405020304" pitchFamily="18" charset="0"/>
              </a:rPr>
              <a:t>"I’m </a:t>
            </a:r>
            <a:r>
              <a:rPr lang="en-US" sz="1600" b="1" i="1" dirty="0">
                <a:effectLst/>
                <a:latin typeface="Calibri" panose="020F0502020204030204" pitchFamily="34" charset="0"/>
                <a:ea typeface="Calibri" panose="020F0502020204030204" pitchFamily="34" charset="0"/>
                <a:cs typeface="Times New Roman" panose="02020603050405020304" pitchFamily="18" charset="0"/>
              </a:rPr>
              <a:t>interested in</a:t>
            </a:r>
            <a:r>
              <a:rPr lang="en-US" sz="1600" i="1" dirty="0">
                <a:effectLst/>
                <a:latin typeface="Calibri" panose="020F0502020204030204" pitchFamily="34" charset="0"/>
                <a:ea typeface="Calibri" panose="020F0502020204030204" pitchFamily="34" charset="0"/>
                <a:cs typeface="Times New Roman" panose="02020603050405020304" pitchFamily="18" charset="0"/>
              </a:rPr>
              <a:t> this job."</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"I’m interested about this job.“ </a:t>
            </a:r>
            <a:r>
              <a:rPr lang="en-US" sz="1600" i="1" dirty="0">
                <a:effectLst/>
                <a:latin typeface="Calibri" panose="020F0502020204030204" pitchFamily="34" charset="0"/>
                <a:ea typeface="Calibri" panose="020F0502020204030204" pitchFamily="34" charset="0"/>
                <a:cs typeface="Times New Roman" panose="02020603050405020304" pitchFamily="18" charset="0"/>
              </a:rPr>
              <a:t>(unless it is knowing about </a:t>
            </a:r>
            <a:r>
              <a:rPr lang="en-US" sz="1600" i="1" dirty="0">
                <a:latin typeface="Calibri" panose="020F0502020204030204" pitchFamily="34" charset="0"/>
                <a:ea typeface="Calibri" panose="020F0502020204030204" pitchFamily="34" charset="0"/>
                <a:cs typeface="Times New Roman" panose="02020603050405020304" pitchFamily="18" charset="0"/>
              </a:rPr>
              <a:t>this job</a:t>
            </a:r>
            <a:r>
              <a:rPr lang="en-US" sz="1600" i="1" dirty="0">
                <a:effectLst/>
                <a:latin typeface="Calibri" panose="020F0502020204030204" pitchFamily="34" charset="0"/>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"I’m interested for this job.“  </a:t>
            </a:r>
            <a:r>
              <a:rPr lang="en-US" sz="1600" i="1" dirty="0">
                <a:latin typeface="Calibri" panose="020F0502020204030204" pitchFamily="34" charset="0"/>
                <a:ea typeface="Calibri" panose="020F0502020204030204" pitchFamily="34" charset="0"/>
                <a:cs typeface="Times New Roman" panose="02020603050405020304" pitchFamily="18" charset="0"/>
              </a:rPr>
              <a:t>(unless it is </a:t>
            </a:r>
            <a:r>
              <a:rPr lang="en-US" sz="1600" i="1" dirty="0">
                <a:effectLst/>
                <a:latin typeface="Calibri" panose="020F0502020204030204" pitchFamily="34" charset="0"/>
                <a:ea typeface="Calibri" panose="020F0502020204030204" pitchFamily="34" charset="0"/>
                <a:cs typeface="Times New Roman" panose="02020603050405020304" pitchFamily="18" charset="0"/>
              </a:rPr>
              <a:t>applying for the job)</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2. afraid + of</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effectLst/>
                <a:latin typeface="Calibri" panose="020F0502020204030204" pitchFamily="34" charset="0"/>
                <a:ea typeface="Calibri" panose="020F0502020204030204" pitchFamily="34" charset="0"/>
                <a:cs typeface="Times New Roman" panose="02020603050405020304" pitchFamily="18" charset="0"/>
              </a:rPr>
              <a:t>"Are you </a:t>
            </a:r>
            <a:r>
              <a:rPr lang="en-US" sz="1600" b="1" i="1" dirty="0">
                <a:effectLst/>
                <a:latin typeface="Calibri" panose="020F0502020204030204" pitchFamily="34" charset="0"/>
                <a:ea typeface="Calibri" panose="020F0502020204030204" pitchFamily="34" charset="0"/>
                <a:cs typeface="Times New Roman" panose="02020603050405020304" pitchFamily="18" charset="0"/>
              </a:rPr>
              <a:t>afraid of</a:t>
            </a:r>
            <a:r>
              <a:rPr lang="en-US" sz="1600" i="1" dirty="0">
                <a:effectLst/>
                <a:latin typeface="Calibri" panose="020F0502020204030204" pitchFamily="34" charset="0"/>
                <a:ea typeface="Calibri" panose="020F0502020204030204" pitchFamily="34" charset="0"/>
                <a:cs typeface="Times New Roman" panose="02020603050405020304" pitchFamily="18" charset="0"/>
              </a:rPr>
              <a:t> spiders?"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"Are you afraid by spiders?"</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3. depend + 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effectLst/>
                <a:latin typeface="Calibri" panose="020F0502020204030204" pitchFamily="34" charset="0"/>
                <a:ea typeface="Calibri" panose="020F0502020204030204" pitchFamily="34" charset="0"/>
                <a:cs typeface="Times New Roman" panose="02020603050405020304" pitchFamily="18" charset="0"/>
              </a:rPr>
              <a:t>"I might go out tonight. It </a:t>
            </a:r>
            <a:r>
              <a:rPr lang="en-US" sz="1600" b="1" i="1" dirty="0">
                <a:effectLst/>
                <a:latin typeface="Calibri" panose="020F0502020204030204" pitchFamily="34" charset="0"/>
                <a:ea typeface="Calibri" panose="020F0502020204030204" pitchFamily="34" charset="0"/>
                <a:cs typeface="Times New Roman" panose="02020603050405020304" pitchFamily="18" charset="0"/>
              </a:rPr>
              <a:t>depends on</a:t>
            </a:r>
            <a:r>
              <a:rPr lang="en-US" sz="1600" i="1" dirty="0">
                <a:effectLst/>
                <a:latin typeface="Calibri" panose="020F0502020204030204" pitchFamily="34" charset="0"/>
                <a:ea typeface="Calibri" panose="020F0502020204030204" pitchFamily="34" charset="0"/>
                <a:cs typeface="Times New Roman" panose="02020603050405020304" pitchFamily="18" charset="0"/>
              </a:rPr>
              <a:t> how I feel."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"...It depends of how I feel."</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4. married + to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effectLst/>
                <a:latin typeface="Calibri" panose="020F0502020204030204" pitchFamily="34" charset="0"/>
                <a:ea typeface="Calibri" panose="020F0502020204030204" pitchFamily="34" charset="0"/>
                <a:cs typeface="Times New Roman" panose="02020603050405020304" pitchFamily="18" charset="0"/>
              </a:rPr>
              <a:t>"He's </a:t>
            </a:r>
            <a:r>
              <a:rPr lang="en-US" sz="1600" b="1" i="1" dirty="0">
                <a:effectLst/>
                <a:latin typeface="Calibri" panose="020F0502020204030204" pitchFamily="34" charset="0"/>
                <a:ea typeface="Calibri" panose="020F0502020204030204" pitchFamily="34" charset="0"/>
                <a:cs typeface="Times New Roman" panose="02020603050405020304" pitchFamily="18" charset="0"/>
              </a:rPr>
              <a:t>married to</a:t>
            </a:r>
            <a:r>
              <a:rPr lang="en-US" sz="1600" i="1" dirty="0">
                <a:effectLst/>
                <a:latin typeface="Calibri" panose="020F0502020204030204" pitchFamily="34" charset="0"/>
                <a:ea typeface="Calibri" panose="020F0502020204030204" pitchFamily="34" charset="0"/>
                <a:cs typeface="Times New Roman" panose="02020603050405020304" pitchFamily="18" charset="0"/>
              </a:rPr>
              <a:t> my sister."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"He's married with my sister."</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5. good/bad +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effectLst/>
                <a:latin typeface="Calibri" panose="020F0502020204030204" pitchFamily="34" charset="0"/>
                <a:ea typeface="Calibri" panose="020F0502020204030204" pitchFamily="34" charset="0"/>
                <a:cs typeface="Times New Roman" panose="02020603050405020304" pitchFamily="18" charset="0"/>
              </a:rPr>
              <a:t>"I’m really </a:t>
            </a:r>
            <a:r>
              <a:rPr lang="en-US" sz="1600" b="1" i="1" dirty="0">
                <a:effectLst/>
                <a:latin typeface="Calibri" panose="020F0502020204030204" pitchFamily="34" charset="0"/>
                <a:ea typeface="Calibri" panose="020F0502020204030204" pitchFamily="34" charset="0"/>
                <a:cs typeface="Times New Roman" panose="02020603050405020304" pitchFamily="18" charset="0"/>
              </a:rPr>
              <a:t>bad at</a:t>
            </a:r>
            <a:r>
              <a:rPr lang="en-US" sz="1600" i="1" dirty="0">
                <a:effectLst/>
                <a:latin typeface="Calibri" panose="020F0502020204030204" pitchFamily="34" charset="0"/>
                <a:ea typeface="Calibri" panose="020F0502020204030204" pitchFamily="34" charset="0"/>
                <a:cs typeface="Times New Roman" panose="02020603050405020304" pitchFamily="18" charset="0"/>
              </a:rPr>
              <a:t> math."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"I’m really bad in math."</a:t>
            </a:r>
            <a:endParaRPr lang="en-US" sz="1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sz="1600" dirty="0"/>
          </a:p>
        </p:txBody>
      </p:sp>
    </p:spTree>
    <p:extLst>
      <p:ext uri="{BB962C8B-B14F-4D97-AF65-F5344CB8AC3E}">
        <p14:creationId xmlns:p14="http://schemas.microsoft.com/office/powerpoint/2010/main" val="1509114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5291" y="249382"/>
            <a:ext cx="10515600" cy="6442363"/>
          </a:xfrm>
        </p:spPr>
        <p:txBody>
          <a:bodyPr>
            <a:normAutofit fontScale="92500" lnSpcReduction="10000"/>
          </a:bodyPr>
          <a:lstStyle/>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'Ask‘ – common errors and corrections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Use</a:t>
            </a:r>
            <a:r>
              <a:rPr lang="en-US" b="1" dirty="0">
                <a:effectLst/>
                <a:latin typeface="Calibri" panose="020F0502020204030204" pitchFamily="34" charset="0"/>
                <a:ea typeface="Calibri" panose="020F0502020204030204" pitchFamily="34" charset="0"/>
                <a:cs typeface="Times New Roman" panose="02020603050405020304" pitchFamily="18" charset="0"/>
              </a:rPr>
              <a:t> 'ask' </a:t>
            </a:r>
            <a:r>
              <a:rPr lang="en-US" dirty="0">
                <a:effectLst/>
                <a:latin typeface="Calibri" panose="020F0502020204030204" pitchFamily="34" charset="0"/>
                <a:ea typeface="Calibri" panose="020F0502020204030204" pitchFamily="34" charset="0"/>
                <a:cs typeface="Times New Roman" panose="02020603050405020304" pitchFamily="18" charset="0"/>
              </a:rPr>
              <a:t>with</a:t>
            </a:r>
            <a:r>
              <a:rPr lang="en-US" b="1" dirty="0">
                <a:effectLst/>
                <a:latin typeface="Calibri" panose="020F0502020204030204" pitchFamily="34" charset="0"/>
                <a:ea typeface="Calibri" panose="020F0502020204030204" pitchFamily="34" charset="0"/>
                <a:cs typeface="Times New Roman" panose="02020603050405020304" pitchFamily="18" charset="0"/>
              </a:rPr>
              <a:t> 'for' </a:t>
            </a:r>
            <a:r>
              <a:rPr lang="en-US" dirty="0">
                <a:effectLst/>
                <a:latin typeface="Calibri" panose="020F0502020204030204" pitchFamily="34" charset="0"/>
                <a:ea typeface="Calibri" panose="020F0502020204030204" pitchFamily="34" charset="0"/>
                <a:cs typeface="Times New Roman" panose="02020603050405020304" pitchFamily="18" charset="0"/>
              </a:rPr>
              <a:t>to ask somebody to give something.</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Use </a:t>
            </a:r>
            <a:r>
              <a:rPr lang="en-US" b="1"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'ask' </a:t>
            </a:r>
            <a:r>
              <a:rPr lang="en-US"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without</a:t>
            </a:r>
            <a:r>
              <a:rPr lang="en-US" b="1"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 'for'</a:t>
            </a:r>
            <a:r>
              <a:rPr lang="en-US"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 to ask somebody to say something.</a:t>
            </a:r>
          </a:p>
          <a:p>
            <a:pPr marL="0" marR="0" lvl="0" indent="0">
              <a:lnSpc>
                <a:spcPct val="107000"/>
              </a:lnSpc>
              <a:spcBef>
                <a:spcPts val="0"/>
              </a:spcBef>
              <a:spcAft>
                <a:spcPts val="800"/>
              </a:spcAft>
              <a:buSzPts val="1000"/>
              <a:buNone/>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Mistake:</a:t>
            </a:r>
            <a:r>
              <a:rPr lang="en-US" dirty="0">
                <a:effectLst/>
                <a:latin typeface="Calibri" panose="020F0502020204030204" pitchFamily="34" charset="0"/>
                <a:ea typeface="Calibri" panose="020F0502020204030204" pitchFamily="34" charset="0"/>
                <a:cs typeface="Times New Roman" panose="02020603050405020304" pitchFamily="18" charset="0"/>
              </a:rPr>
              <a:t>          He asked a coffee. ('Coffee' is not a person)</a:t>
            </a:r>
          </a:p>
          <a:p>
            <a:pPr marL="0" marR="0" lvl="0" indent="0">
              <a:lnSpc>
                <a:spcPct val="107000"/>
              </a:lnSpc>
              <a:spcBef>
                <a:spcPts val="0"/>
              </a:spcBef>
              <a:spcAft>
                <a:spcPts val="800"/>
              </a:spcAft>
              <a:buSzPts val="1000"/>
              <a:buNone/>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asked for a coffee.    (He wanted a coffee)</a:t>
            </a:r>
          </a:p>
          <a:p>
            <a:pPr marL="0" marR="0" lvl="0" indent="0">
              <a:lnSpc>
                <a:spcPct val="107000"/>
              </a:lnSpc>
              <a:spcBef>
                <a:spcPts val="0"/>
              </a:spcBef>
              <a:spcAft>
                <a:spcPts val="800"/>
              </a:spcAft>
              <a:buSzPts val="1000"/>
              <a:buNone/>
              <a:tabLst>
                <a:tab pos="457200" algn="l"/>
              </a:tabLst>
            </a:pPr>
            <a:r>
              <a:rPr lang="en-US"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I asked him to speak about his father’s profession</a:t>
            </a:r>
            <a:endParaRPr lang="en-US" i="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lvl="0">
              <a:lnSpc>
                <a:spcPct val="107000"/>
              </a:lnSpc>
              <a:spcBef>
                <a:spcPts val="0"/>
              </a:spcBef>
              <a:spcAft>
                <a:spcPts val="800"/>
              </a:spcAft>
            </a:pP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Prepositions and 'Prevent'</a:t>
            </a:r>
            <a:endPar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marL="0" lvl="0">
              <a:lnSpc>
                <a:spcPct val="107000"/>
              </a:lnSpc>
              <a:spcBef>
                <a:spcPts val="0"/>
              </a:spcBef>
              <a:spcAft>
                <a:spcPts val="800"/>
              </a:spcAft>
            </a:pP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Prevent cannot be followed by </a:t>
            </a: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'to'</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It should be followed by 'from' and a verb '-</a:t>
            </a:r>
            <a:r>
              <a:rPr lang="en-US"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ing</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form.</a:t>
            </a:r>
          </a:p>
          <a:p>
            <a:pPr marL="34290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Mistake:</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He was prevented to come.</a:t>
            </a:r>
          </a:p>
          <a:p>
            <a:pPr marL="34290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Correct:</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He was prevented from coming.</a:t>
            </a:r>
          </a:p>
          <a:p>
            <a:pPr marL="34290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Correct:</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The loud noise prevented me from sleeping.</a:t>
            </a:r>
          </a:p>
          <a:p>
            <a:pPr marL="0" marR="0" lvl="0" indent="0">
              <a:lnSpc>
                <a:spcPct val="107000"/>
              </a:lnSpc>
              <a:spcBef>
                <a:spcPts val="0"/>
              </a:spcBef>
              <a:spcAft>
                <a:spcPts val="800"/>
              </a:spcAft>
              <a:buSzPts val="1000"/>
              <a:buNone/>
              <a:tabLst>
                <a:tab pos="45720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28918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818" y="0"/>
            <a:ext cx="10515600" cy="6483927"/>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'Meet'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Meet normally means 'come face to face with somebody or something'.  If it is used in this way, it cannot be used with the preposition 'with'.</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I met with your friend.</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met your friend.</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Meet with - meaning 'to experience'.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He met misfortune.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met with misfortune.</a:t>
            </a:r>
          </a:p>
          <a:p>
            <a:pPr marL="0" indent="0">
              <a:buNone/>
            </a:pPr>
            <a:br>
              <a:rPr lang="en-US"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5112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124691"/>
            <a:ext cx="10979727" cy="6567054"/>
          </a:xfrm>
        </p:spPr>
        <p:txBody>
          <a:bodyPr>
            <a:normAutofit fontScale="85000" lnSpcReduction="20000"/>
          </a:bodyPr>
          <a:lstStyle/>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'Insist'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Insist cannot be followed by to. It is followed by on + -</a:t>
            </a:r>
            <a:r>
              <a:rPr lang="en-US" dirty="0" err="1">
                <a:effectLst/>
                <a:latin typeface="Calibri" panose="020F0502020204030204" pitchFamily="34" charset="0"/>
                <a:ea typeface="Calibri" panose="020F0502020204030204" pitchFamily="34" charset="0"/>
                <a:cs typeface="Times New Roman" panose="02020603050405020304" pitchFamily="18" charset="0"/>
              </a:rPr>
              <a:t>ing</a:t>
            </a:r>
            <a:r>
              <a:rPr lang="en-US" dirty="0">
                <a:effectLst/>
                <a:latin typeface="Calibri" panose="020F0502020204030204" pitchFamily="34" charset="0"/>
                <a:ea typeface="Calibri" panose="020F0502020204030204" pitchFamily="34" charset="0"/>
                <a:cs typeface="Times New Roman" panose="02020603050405020304" pitchFamily="18" charset="0"/>
              </a:rPr>
              <a:t> form.</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She insisted to pay.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She insisted on paying.</a:t>
            </a:r>
          </a:p>
          <a:p>
            <a:pPr marL="0" marR="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'Go'</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Go is often used with a verb '–</a:t>
            </a:r>
            <a:r>
              <a:rPr lang="en-US" dirty="0" err="1">
                <a:effectLst/>
                <a:latin typeface="Calibri" panose="020F0502020204030204" pitchFamily="34" charset="0"/>
                <a:ea typeface="Calibri" panose="020F0502020204030204" pitchFamily="34" charset="0"/>
                <a:cs typeface="Times New Roman" panose="02020603050405020304" pitchFamily="18" charset="0"/>
              </a:rPr>
              <a:t>ing</a:t>
            </a:r>
            <a:r>
              <a:rPr lang="en-US" dirty="0">
                <a:effectLst/>
                <a:latin typeface="Calibri" panose="020F0502020204030204" pitchFamily="34" charset="0"/>
                <a:ea typeface="Calibri" panose="020F0502020204030204" pitchFamily="34" charset="0"/>
                <a:cs typeface="Times New Roman" panose="02020603050405020304" pitchFamily="18" charset="0"/>
              </a:rPr>
              <a:t>' form when we are talking about sporting and leisure activities. No preposition is used in this structure.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Let's go for riding.</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Let's go riding.</a:t>
            </a:r>
          </a:p>
          <a:p>
            <a:pPr marL="0" marR="0" lvl="0" indent="0">
              <a:lnSpc>
                <a:spcPct val="107000"/>
              </a:lnSpc>
              <a:spcBef>
                <a:spcPts val="0"/>
              </a:spcBef>
              <a:spcAft>
                <a:spcPts val="800"/>
              </a:spcAft>
              <a:buSzPts val="1000"/>
              <a:buNone/>
              <a:tabLst>
                <a:tab pos="45720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 structure 'go for a / come for a' is used in a number of fixed expressions referring to sporting and leisure activities.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We went a walk.</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We went for a walk.</a:t>
            </a:r>
            <a:br>
              <a:rPr lang="en-US" dirty="0">
                <a:effectLst/>
                <a:latin typeface="Calibri" panose="020F0502020204030204" pitchFamily="34" charset="0"/>
                <a:ea typeface="Calibri" panose="020F0502020204030204" pitchFamily="34" charset="0"/>
                <a:cs typeface="Times New Roman" panose="02020603050405020304" pitchFamily="18" charset="0"/>
              </a:rPr>
            </a:b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8176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109"/>
            <a:ext cx="10515600" cy="6442364"/>
          </a:xfrm>
        </p:spPr>
        <p:txBody>
          <a:bodyPr>
            <a:normAutofit lnSpcReduction="10000"/>
          </a:bodyPr>
          <a:lstStyle/>
          <a:p>
            <a:pPr marL="0" lvl="0">
              <a:lnSpc>
                <a:spcPct val="107000"/>
              </a:lnSpc>
              <a:spcBef>
                <a:spcPts val="0"/>
              </a:spcBef>
              <a:spcAft>
                <a:spcPts val="800"/>
              </a:spcAft>
            </a:pP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Prepositions are difficult because sometimes there aren’t clear rules. The only way you can learn them is to practice the common forms until they come to you naturally.</a:t>
            </a:r>
          </a:p>
          <a:p>
            <a:pPr lvl="0"/>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Let us look at  when to use ‘</a:t>
            </a: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at</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on</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and ‘</a:t>
            </a:r>
            <a:r>
              <a:rPr lang="en-US" b="1" dirty="0">
                <a:solidFill>
                  <a:prstClr val="black"/>
                </a:solidFill>
                <a:latin typeface="Calibri" panose="020F0502020204030204" pitchFamily="34" charset="0"/>
                <a:ea typeface="Calibri" panose="020F0502020204030204" pitchFamily="34" charset="0"/>
                <a:cs typeface="Times New Roman" panose="02020603050405020304" pitchFamily="18" charset="0"/>
              </a:rPr>
              <a:t>in</a:t>
            </a:r>
            <a:r>
              <a:rPr lang="en-US" dirty="0">
                <a:solidFill>
                  <a:prstClr val="black"/>
                </a:solidFill>
                <a:latin typeface="Calibri" panose="020F0502020204030204" pitchFamily="34" charset="0"/>
                <a:ea typeface="Calibri" panose="020F0502020204030204" pitchFamily="34" charset="0"/>
                <a:cs typeface="Times New Roman" panose="02020603050405020304" pitchFamily="18" charset="0"/>
              </a:rPr>
              <a:t>’ for time and place. </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Generally speaking,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in</a:t>
            </a:r>
            <a:r>
              <a:rPr lang="en-US" dirty="0">
                <a:effectLst/>
                <a:latin typeface="Calibri" panose="020F0502020204030204" pitchFamily="34" charset="0"/>
                <a:ea typeface="Calibri" panose="020F0502020204030204" pitchFamily="34" charset="0"/>
                <a:cs typeface="Times New Roman" panose="02020603050405020304" pitchFamily="18" charset="0"/>
              </a:rPr>
              <a:t>’ for longer periods of time. As we move to shorter periods (days and dates),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on</a:t>
            </a:r>
            <a:r>
              <a:rPr lang="en-US" dirty="0">
                <a:effectLst/>
                <a:latin typeface="Calibri" panose="020F0502020204030204" pitchFamily="34" charset="0"/>
                <a:ea typeface="Calibri" panose="020F0502020204030204" pitchFamily="34" charset="0"/>
                <a:cs typeface="Times New Roman" panose="02020603050405020304" pitchFamily="18" charset="0"/>
              </a:rPr>
              <a:t>’. And finally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at</a:t>
            </a:r>
            <a:r>
              <a:rPr lang="en-US" dirty="0">
                <a:effectLst/>
                <a:latin typeface="Calibri" panose="020F0502020204030204" pitchFamily="34" charset="0"/>
                <a:ea typeface="Calibri" panose="020F0502020204030204" pitchFamily="34" charset="0"/>
                <a:cs typeface="Times New Roman" panose="02020603050405020304" pitchFamily="18" charset="0"/>
              </a:rPr>
              <a:t>’ for even shorter, more precise times.</a:t>
            </a:r>
          </a:p>
          <a:p>
            <a:pPr marL="0" marR="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AT for Precise Times</a:t>
            </a:r>
            <a:endParaRPr lang="en-US" b="1" dirty="0">
              <a:solidFill>
                <a:prstClr val="black"/>
              </a:solidFill>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always use ‘</a:t>
            </a:r>
            <a:r>
              <a:rPr lang="en-US" b="1" dirty="0">
                <a:effectLst/>
                <a:latin typeface="Calibri" panose="020F0502020204030204" pitchFamily="34" charset="0"/>
                <a:ea typeface="Calibri" panose="020F0502020204030204" pitchFamily="34" charset="0"/>
                <a:cs typeface="Times New Roman" panose="02020603050405020304" pitchFamily="18" charset="0"/>
              </a:rPr>
              <a:t>at</a:t>
            </a:r>
            <a:r>
              <a:rPr lang="en-US" dirty="0">
                <a:effectLst/>
                <a:latin typeface="Calibri" panose="020F0502020204030204" pitchFamily="34" charset="0"/>
                <a:ea typeface="Calibri" panose="020F0502020204030204" pitchFamily="34" charset="0"/>
                <a:cs typeface="Times New Roman" panose="02020603050405020304" pitchFamily="18" charset="0"/>
              </a:rPr>
              <a:t>’ for specific times. So we can say,</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“I’ll see you </a:t>
            </a:r>
            <a:r>
              <a:rPr lang="en-US" b="1" i="1" dirty="0">
                <a:effectLst/>
                <a:latin typeface="Calibri" panose="020F0502020204030204" pitchFamily="34" charset="0"/>
                <a:ea typeface="Calibri" panose="020F0502020204030204" pitchFamily="34" charset="0"/>
                <a:cs typeface="Times New Roman" panose="02020603050405020304" pitchFamily="18" charset="0"/>
              </a:rPr>
              <a:t>at</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b="1" i="1" dirty="0">
                <a:effectLst/>
                <a:latin typeface="Calibri" panose="020F0502020204030204" pitchFamily="34" charset="0"/>
                <a:ea typeface="Calibri" panose="020F0502020204030204" pitchFamily="34" charset="0"/>
                <a:cs typeface="Times New Roman" panose="02020603050405020304" pitchFamily="18" charset="0"/>
              </a:rPr>
              <a:t>8:00</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 have a break </a:t>
            </a:r>
            <a:r>
              <a:rPr lang="en-US" b="1" i="1" dirty="0">
                <a:effectLst/>
                <a:latin typeface="Calibri" panose="020F0502020204030204" pitchFamily="34" charset="0"/>
                <a:ea typeface="Calibri" panose="020F0502020204030204" pitchFamily="34" charset="0"/>
                <a:cs typeface="Times New Roman" panose="02020603050405020304" pitchFamily="18" charset="0"/>
              </a:rPr>
              <a:t>at</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b="1" i="1" dirty="0">
                <a:effectLst/>
                <a:latin typeface="Calibri" panose="020F0502020204030204" pitchFamily="34" charset="0"/>
                <a:ea typeface="Calibri" panose="020F0502020204030204" pitchFamily="34" charset="0"/>
                <a:cs typeface="Times New Roman" panose="02020603050405020304" pitchFamily="18" charset="0"/>
              </a:rPr>
              <a:t>noon</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“Let’s meet </a:t>
            </a:r>
            <a:r>
              <a:rPr lang="en-US" b="1" i="1" dirty="0">
                <a:effectLst/>
                <a:latin typeface="Calibri" panose="020F0502020204030204" pitchFamily="34" charset="0"/>
                <a:ea typeface="Calibri" panose="020F0502020204030204" pitchFamily="34" charset="0"/>
                <a:cs typeface="Times New Roman" panose="02020603050405020304" pitchFamily="18" charset="0"/>
              </a:rPr>
              <a:t>at</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b="1" i="1" dirty="0">
                <a:effectLst/>
                <a:latin typeface="Calibri" panose="020F0502020204030204" pitchFamily="34" charset="0"/>
                <a:ea typeface="Calibri" panose="020F0502020204030204" pitchFamily="34" charset="0"/>
                <a:cs typeface="Times New Roman" panose="02020603050405020304" pitchFamily="18" charset="0"/>
              </a:rPr>
              <a:t>midnight</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i="1" dirty="0" err="1">
                <a:effectLst/>
                <a:latin typeface="Calibri" panose="020F0502020204030204" pitchFamily="34" charset="0"/>
                <a:ea typeface="Calibri" panose="020F0502020204030204" pitchFamily="34" charset="0"/>
                <a:cs typeface="Times New Roman" panose="02020603050405020304" pitchFamily="18" charset="0"/>
              </a:rPr>
              <a:t>contd</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9914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1672"/>
            <a:ext cx="10515600" cy="6373091"/>
          </a:xfrm>
        </p:spPr>
        <p:txBody>
          <a:bodyPr/>
          <a:lstStyle/>
          <a:p>
            <a:r>
              <a:rPr lang="en-US" dirty="0" err="1"/>
              <a:t>Contd</a:t>
            </a:r>
            <a:r>
              <a:rPr lang="en-US" dirty="0"/>
              <a:t> </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also use ‘</a:t>
            </a:r>
            <a:r>
              <a:rPr lang="en-US" b="1" dirty="0">
                <a:effectLst/>
                <a:latin typeface="Calibri" panose="020F0502020204030204" pitchFamily="34" charset="0"/>
                <a:ea typeface="Calibri" panose="020F0502020204030204" pitchFamily="34" charset="0"/>
                <a:cs typeface="Times New Roman" panose="02020603050405020304" pitchFamily="18" charset="0"/>
              </a:rPr>
              <a:t>at</a:t>
            </a:r>
            <a:r>
              <a:rPr lang="en-US" dirty="0">
                <a:effectLst/>
                <a:latin typeface="Calibri" panose="020F0502020204030204" pitchFamily="34" charset="0"/>
                <a:ea typeface="Calibri" panose="020F0502020204030204" pitchFamily="34" charset="0"/>
                <a:cs typeface="Times New Roman" panose="02020603050405020304" pitchFamily="18" charset="0"/>
              </a:rPr>
              <a:t>’ for holidays (without the word - day). For example,</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“We only see him </a:t>
            </a:r>
            <a:r>
              <a:rPr lang="en-US" b="1" i="1" dirty="0">
                <a:effectLst/>
                <a:latin typeface="Calibri" panose="020F0502020204030204" pitchFamily="34" charset="0"/>
                <a:ea typeface="Calibri" panose="020F0502020204030204" pitchFamily="34" charset="0"/>
                <a:cs typeface="Times New Roman" panose="02020603050405020304" pitchFamily="18" charset="0"/>
              </a:rPr>
              <a:t>at</a:t>
            </a:r>
            <a:r>
              <a:rPr lang="en-US" i="1" dirty="0">
                <a:effectLst/>
                <a:latin typeface="Calibri" panose="020F0502020204030204" pitchFamily="34" charset="0"/>
                <a:ea typeface="Calibri" panose="020F0502020204030204" pitchFamily="34" charset="0"/>
                <a:cs typeface="Times New Roman" panose="02020603050405020304" pitchFamily="18" charset="0"/>
              </a:rPr>
              <a:t> </a:t>
            </a:r>
            <a:r>
              <a:rPr lang="en-US" b="1" i="1" dirty="0">
                <a:effectLst/>
                <a:latin typeface="Calibri" panose="020F0502020204030204" pitchFamily="34" charset="0"/>
                <a:ea typeface="Calibri" panose="020F0502020204030204" pitchFamily="34" charset="0"/>
                <a:cs typeface="Times New Roman" panose="02020603050405020304" pitchFamily="18" charset="0"/>
              </a:rPr>
              <a:t>Christmas</a:t>
            </a:r>
            <a:r>
              <a:rPr lang="en-US" i="1" dirty="0">
                <a:effectLst/>
                <a:latin typeface="Calibri" panose="020F0502020204030204" pitchFamily="34" charset="0"/>
                <a:ea typeface="Calibri" panose="020F0502020204030204" pitchFamily="34" charset="0"/>
                <a:cs typeface="Times New Roman" panose="02020603050405020304" pitchFamily="18" charset="0"/>
              </a:rPr>
              <a:t> and </a:t>
            </a:r>
            <a:r>
              <a:rPr lang="en-US" b="1" i="1" dirty="0">
                <a:effectLst/>
                <a:latin typeface="Calibri" panose="020F0502020204030204" pitchFamily="34" charset="0"/>
                <a:ea typeface="Calibri" panose="020F0502020204030204" pitchFamily="34" charset="0"/>
                <a:cs typeface="Times New Roman" panose="02020603050405020304" pitchFamily="18" charset="0"/>
              </a:rPr>
              <a:t>Easter</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EXCEPTIONS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 exception to this would be for the word ‘night’. It’s not related to this rule, but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at</a:t>
            </a:r>
            <a:r>
              <a:rPr lang="en-US" dirty="0">
                <a:effectLst/>
                <a:latin typeface="Calibri" panose="020F0502020204030204" pitchFamily="34" charset="0"/>
                <a:ea typeface="Calibri" panose="020F0502020204030204" pitchFamily="34" charset="0"/>
                <a:cs typeface="Times New Roman" panose="02020603050405020304" pitchFamily="18" charset="0"/>
              </a:rPr>
              <a:t>’ with ‘night’. For example,</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“Our cat usually stays out</a:t>
            </a:r>
            <a:r>
              <a:rPr lang="en-US" b="1" i="1" dirty="0">
                <a:effectLst/>
                <a:latin typeface="Calibri" panose="020F0502020204030204" pitchFamily="34" charset="0"/>
                <a:ea typeface="Calibri" panose="020F0502020204030204" pitchFamily="34" charset="0"/>
                <a:cs typeface="Times New Roman" panose="02020603050405020304" pitchFamily="18" charset="0"/>
              </a:rPr>
              <a:t> at night</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“The streets get really quiet </a:t>
            </a:r>
            <a:r>
              <a:rPr lang="en-US" b="1" i="1" dirty="0">
                <a:effectLst/>
                <a:latin typeface="Calibri" panose="020F0502020204030204" pitchFamily="34" charset="0"/>
                <a:ea typeface="Calibri" panose="020F0502020204030204" pitchFamily="34" charset="0"/>
                <a:cs typeface="Times New Roman" panose="02020603050405020304" pitchFamily="18" charset="0"/>
              </a:rPr>
              <a:t>at night</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58159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636" y="166254"/>
            <a:ext cx="10938164" cy="6539345"/>
          </a:xfrm>
        </p:spPr>
        <p:txBody>
          <a:bodyPr>
            <a:normAutofit fontScale="92500" lnSpcReduction="20000"/>
          </a:bodyPr>
          <a:lstStyle/>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ON for Days and Dates</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always use ‘</a:t>
            </a:r>
            <a:r>
              <a:rPr lang="en-US" b="1" dirty="0">
                <a:effectLst/>
                <a:latin typeface="Calibri" panose="020F0502020204030204" pitchFamily="34" charset="0"/>
                <a:ea typeface="Calibri" panose="020F0502020204030204" pitchFamily="34" charset="0"/>
                <a:cs typeface="Times New Roman" panose="02020603050405020304" pitchFamily="18" charset="0"/>
              </a:rPr>
              <a:t>on</a:t>
            </a:r>
            <a:r>
              <a:rPr lang="en-US" dirty="0">
                <a:effectLst/>
                <a:latin typeface="Calibri" panose="020F0502020204030204" pitchFamily="34" charset="0"/>
                <a:ea typeface="Calibri" panose="020F0502020204030204" pitchFamily="34" charset="0"/>
                <a:cs typeface="Times New Roman" panose="02020603050405020304" pitchFamily="18" charset="0"/>
              </a:rPr>
              <a:t>’ for days and dates. So we can say,</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“Let’s meet </a:t>
            </a:r>
            <a:r>
              <a:rPr lang="en-US" b="1" i="1" dirty="0">
                <a:effectLst/>
                <a:latin typeface="Calibri" panose="020F0502020204030204" pitchFamily="34" charset="0"/>
                <a:ea typeface="Calibri" panose="020F0502020204030204" pitchFamily="34" charset="0"/>
                <a:cs typeface="Times New Roman" panose="02020603050405020304" pitchFamily="18" charset="0"/>
              </a:rPr>
              <a:t>on Friday</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“She was born </a:t>
            </a:r>
            <a:r>
              <a:rPr lang="en-US" b="1" i="1" dirty="0">
                <a:effectLst/>
                <a:latin typeface="Calibri" panose="020F0502020204030204" pitchFamily="34" charset="0"/>
                <a:ea typeface="Calibri" panose="020F0502020204030204" pitchFamily="34" charset="0"/>
                <a:cs typeface="Times New Roman" panose="02020603050405020304" pitchFamily="18" charset="0"/>
              </a:rPr>
              <a:t>on the 17th of August</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We use ‘</a:t>
            </a:r>
            <a:r>
              <a:rPr lang="en-US" b="1" dirty="0">
                <a:effectLst/>
                <a:latin typeface="Calibri" panose="020F0502020204030204" pitchFamily="34" charset="0"/>
                <a:ea typeface="Calibri" panose="020F0502020204030204" pitchFamily="34" charset="0"/>
                <a:cs typeface="Times New Roman" panose="02020603050405020304" pitchFamily="18" charset="0"/>
              </a:rPr>
              <a:t>on</a:t>
            </a:r>
            <a:r>
              <a:rPr lang="en-US" dirty="0">
                <a:effectLst/>
                <a:latin typeface="Calibri" panose="020F0502020204030204" pitchFamily="34" charset="0"/>
                <a:ea typeface="Calibri" panose="020F0502020204030204" pitchFamily="34" charset="0"/>
                <a:cs typeface="Times New Roman" panose="02020603050405020304" pitchFamily="18" charset="0"/>
              </a:rPr>
              <a:t>’ whenever we use the word ‘day’. For example,</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“It snowed </a:t>
            </a:r>
            <a:r>
              <a:rPr lang="en-US" b="1" i="1" dirty="0">
                <a:effectLst/>
                <a:latin typeface="Calibri" panose="020F0502020204030204" pitchFamily="34" charset="0"/>
                <a:ea typeface="Calibri" panose="020F0502020204030204" pitchFamily="34" charset="0"/>
                <a:cs typeface="Times New Roman" panose="02020603050405020304" pitchFamily="18" charset="0"/>
              </a:rPr>
              <a:t>on my birthday</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“We were born </a:t>
            </a:r>
            <a:r>
              <a:rPr lang="en-US" b="1" i="1" dirty="0">
                <a:effectLst/>
                <a:latin typeface="Calibri" panose="020F0502020204030204" pitchFamily="34" charset="0"/>
                <a:ea typeface="Calibri" panose="020F0502020204030204" pitchFamily="34" charset="0"/>
                <a:cs typeface="Times New Roman" panose="02020603050405020304" pitchFamily="18" charset="0"/>
              </a:rPr>
              <a:t>on the same day</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“The mall is closed </a:t>
            </a:r>
            <a:r>
              <a:rPr lang="en-US" b="1" i="1" dirty="0">
                <a:effectLst/>
                <a:latin typeface="Calibri" panose="020F0502020204030204" pitchFamily="34" charset="0"/>
                <a:ea typeface="Calibri" panose="020F0502020204030204" pitchFamily="34" charset="0"/>
                <a:cs typeface="Times New Roman" panose="02020603050405020304" pitchFamily="18" charset="0"/>
              </a:rPr>
              <a:t>on Christmas day</a:t>
            </a:r>
            <a:r>
              <a:rPr lang="en-US" i="1" dirty="0">
                <a:effectLst/>
                <a:latin typeface="Calibri" panose="020F0502020204030204" pitchFamily="34" charset="0"/>
                <a:ea typeface="Calibri" panose="020F0502020204030204" pitchFamily="34" charset="0"/>
                <a:cs typeface="Times New Roman" panose="02020603050405020304" pitchFamily="18" charset="0"/>
              </a:rPr>
              <a:t>.”</a:t>
            </a: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EXCEPTIONS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 exception here would be for periods of the day such as the morning, afternoon or evening. For example,</a:t>
            </a: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“I’m always </a:t>
            </a:r>
            <a:r>
              <a:rPr lang="en-US" i="1" dirty="0">
                <a:latin typeface="Calibri" panose="020F0502020204030204" pitchFamily="34" charset="0"/>
                <a:ea typeface="Calibri" panose="020F0502020204030204" pitchFamily="34" charset="0"/>
                <a:cs typeface="Times New Roman" panose="02020603050405020304" pitchFamily="18" charset="0"/>
              </a:rPr>
              <a:t>cranky</a:t>
            </a:r>
            <a:r>
              <a:rPr lang="en-US" b="1" i="1" dirty="0">
                <a:effectLst/>
                <a:latin typeface="Calibri" panose="020F0502020204030204" pitchFamily="34" charset="0"/>
                <a:ea typeface="Calibri" panose="020F0502020204030204" pitchFamily="34" charset="0"/>
                <a:cs typeface="Times New Roman" panose="02020603050405020304" pitchFamily="18" charset="0"/>
              </a:rPr>
              <a:t> in the morning</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“I have a break </a:t>
            </a:r>
            <a:r>
              <a:rPr lang="en-US" b="1" i="1" dirty="0">
                <a:effectLst/>
                <a:latin typeface="Calibri" panose="020F0502020204030204" pitchFamily="34" charset="0"/>
                <a:ea typeface="Calibri" panose="020F0502020204030204" pitchFamily="34" charset="0"/>
                <a:cs typeface="Times New Roman" panose="02020603050405020304" pitchFamily="18" charset="0"/>
              </a:rPr>
              <a:t>in the afternoon</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“We’ll see you </a:t>
            </a:r>
            <a:r>
              <a:rPr lang="en-US" b="1" i="1" dirty="0">
                <a:effectLst/>
                <a:latin typeface="Calibri" panose="020F0502020204030204" pitchFamily="34" charset="0"/>
                <a:ea typeface="Calibri" panose="020F0502020204030204" pitchFamily="34" charset="0"/>
                <a:cs typeface="Times New Roman" panose="02020603050405020304" pitchFamily="18" charset="0"/>
              </a:rPr>
              <a:t>in the evening</a:t>
            </a:r>
            <a:r>
              <a:rPr lang="en-US" i="1"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2892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180109"/>
            <a:ext cx="11062855" cy="6553200"/>
          </a:xfrm>
        </p:spPr>
        <p:txBody>
          <a:bodyPr>
            <a:normAutofit fontScale="85000" lnSpcReduction="20000"/>
          </a:bodyPr>
          <a:lstStyle/>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time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To talk about time starting from a specified time in the past and continuing until the present,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'since'</a:t>
            </a:r>
            <a:r>
              <a:rPr lang="en-US" dirty="0">
                <a:effectLst/>
                <a:latin typeface="Calibri" panose="020F0502020204030204" pitchFamily="34" charset="0"/>
                <a:ea typeface="Calibri" panose="020F0502020204030204" pitchFamily="34" charset="0"/>
                <a:cs typeface="Times New Roman" panose="02020603050405020304" pitchFamily="18" charset="0"/>
              </a:rPr>
              <a:t>.</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Examples are: since last year, since Friday, since morning etc.</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To talk about a period of time, in particular when we are describing the duration of a period of time, we use </a:t>
            </a:r>
            <a:r>
              <a:rPr lang="en-US" b="1" dirty="0">
                <a:effectLst/>
                <a:latin typeface="Calibri" panose="020F0502020204030204" pitchFamily="34" charset="0"/>
                <a:ea typeface="Calibri" panose="020F0502020204030204" pitchFamily="34" charset="0"/>
                <a:cs typeface="Times New Roman" panose="02020603050405020304" pitchFamily="18" charset="0"/>
              </a:rPr>
              <a:t>'For'.</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Examples are: for two hours, for two months etc.</a:t>
            </a:r>
          </a:p>
          <a:p>
            <a:pPr marL="0" marR="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This is the first time I have seen a movie since a long time.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haven't seen a movie for a long time.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haven't seen a movie in a long time. (American English)</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I am ill since two weeks.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have been ill for two weeks.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have been ill since January.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It was the worst storm since ten years.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It was the worst storm in ten years.</a:t>
            </a:r>
          </a:p>
          <a:p>
            <a:endParaRPr lang="en-US" dirty="0"/>
          </a:p>
        </p:txBody>
      </p:sp>
    </p:spTree>
    <p:extLst>
      <p:ext uri="{BB962C8B-B14F-4D97-AF65-F5344CB8AC3E}">
        <p14:creationId xmlns:p14="http://schemas.microsoft.com/office/powerpoint/2010/main" val="1589289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207818"/>
            <a:ext cx="10979727" cy="6359237"/>
          </a:xfrm>
        </p:spPr>
        <p:txBody>
          <a:bodyPr/>
          <a:lstStyle/>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the comparative adjectives 'inferior', 'superior', 'senior', 'junior'.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 comparative adjectives inferior, superior, senior, junior, anterior and posterior are followed by 'to' instead of 'than'.</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Our company's performance is inferior than theirs.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Our company's performance is inferior to theirs.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He is senior than 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is senior to 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He is superior than you in strength.</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is superior to you in strength.</a:t>
            </a:r>
          </a:p>
          <a:p>
            <a:endParaRPr lang="en-US" dirty="0"/>
          </a:p>
        </p:txBody>
      </p:sp>
    </p:spTree>
    <p:extLst>
      <p:ext uri="{BB962C8B-B14F-4D97-AF65-F5344CB8AC3E}">
        <p14:creationId xmlns:p14="http://schemas.microsoft.com/office/powerpoint/2010/main" val="2532962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636" y="318654"/>
            <a:ext cx="10938164" cy="6331527"/>
          </a:xfrm>
        </p:spPr>
        <p:txBody>
          <a:bodyPr>
            <a:normAutofit lnSpcReduction="10000"/>
          </a:bodyPr>
          <a:lstStyle/>
          <a:p>
            <a:pPr marL="0" marR="0">
              <a:lnSpc>
                <a:spcPct val="107000"/>
              </a:lnSpc>
              <a:spcBef>
                <a:spcPts val="0"/>
              </a:spcBef>
              <a:spcAft>
                <a:spcPts val="8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Prepositions and movement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The prepositions </a:t>
            </a:r>
            <a:r>
              <a:rPr lang="en-US" b="1" dirty="0">
                <a:effectLst/>
                <a:latin typeface="Calibri" panose="020F0502020204030204" pitchFamily="34" charset="0"/>
                <a:ea typeface="Calibri" panose="020F0502020204030204" pitchFamily="34" charset="0"/>
                <a:cs typeface="Times New Roman" panose="02020603050405020304" pitchFamily="18" charset="0"/>
              </a:rPr>
              <a:t>'at'</a:t>
            </a: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b="1" dirty="0">
                <a:effectLst/>
                <a:latin typeface="Calibri" panose="020F0502020204030204" pitchFamily="34" charset="0"/>
                <a:ea typeface="Calibri" panose="020F0502020204030204" pitchFamily="34" charset="0"/>
                <a:cs typeface="Times New Roman" panose="02020603050405020304" pitchFamily="18" charset="0"/>
              </a:rPr>
              <a:t>'on'</a:t>
            </a:r>
            <a:r>
              <a:rPr lang="en-US" dirty="0">
                <a:effectLst/>
                <a:latin typeface="Calibri" panose="020F0502020204030204" pitchFamily="34" charset="0"/>
                <a:ea typeface="Calibri" panose="020F0502020204030204" pitchFamily="34" charset="0"/>
                <a:cs typeface="Times New Roman" panose="02020603050405020304" pitchFamily="18" charset="0"/>
              </a:rPr>
              <a:t> and </a:t>
            </a:r>
            <a:r>
              <a:rPr lang="en-US" b="1" dirty="0">
                <a:effectLst/>
                <a:latin typeface="Calibri" panose="020F0502020204030204" pitchFamily="34" charset="0"/>
                <a:ea typeface="Calibri" panose="020F0502020204030204" pitchFamily="34" charset="0"/>
                <a:cs typeface="Times New Roman" panose="02020603050405020304" pitchFamily="18" charset="0"/>
              </a:rPr>
              <a:t>'in' </a:t>
            </a:r>
            <a:r>
              <a:rPr lang="en-US" dirty="0">
                <a:effectLst/>
                <a:latin typeface="Calibri" panose="020F0502020204030204" pitchFamily="34" charset="0"/>
                <a:ea typeface="Calibri" panose="020F0502020204030204" pitchFamily="34" charset="0"/>
                <a:cs typeface="Times New Roman" panose="02020603050405020304" pitchFamily="18" charset="0"/>
              </a:rPr>
              <a:t>are used for position; the preposition </a:t>
            </a:r>
            <a:r>
              <a:rPr lang="en-US" b="1" dirty="0">
                <a:effectLst/>
                <a:latin typeface="Calibri" panose="020F0502020204030204" pitchFamily="34" charset="0"/>
                <a:ea typeface="Calibri" panose="020F0502020204030204" pitchFamily="34" charset="0"/>
                <a:cs typeface="Times New Roman" panose="02020603050405020304" pitchFamily="18" charset="0"/>
              </a:rPr>
              <a:t>'to'</a:t>
            </a:r>
            <a:r>
              <a:rPr lang="en-US" dirty="0">
                <a:effectLst/>
                <a:latin typeface="Calibri" panose="020F0502020204030204" pitchFamily="34" charset="0"/>
                <a:ea typeface="Calibri" panose="020F0502020204030204" pitchFamily="34" charset="0"/>
                <a:cs typeface="Times New Roman" panose="02020603050405020304" pitchFamily="18" charset="0"/>
              </a:rPr>
              <a:t> is used for movement or direction.</a:t>
            </a:r>
            <a:br>
              <a:rPr lang="en-US" dirty="0">
                <a:effectLst/>
                <a:latin typeface="Calibri" panose="020F0502020204030204" pitchFamily="34" charset="0"/>
                <a:ea typeface="Calibri" panose="020F0502020204030204" pitchFamily="34" charset="0"/>
                <a:cs typeface="Times New Roman" panose="02020603050405020304" pitchFamily="18" charset="0"/>
              </a:rPr>
            </a:br>
            <a:r>
              <a:rPr lang="en-US" dirty="0">
                <a:effectLst/>
                <a:latin typeface="Calibri" panose="020F0502020204030204" pitchFamily="34" charset="0"/>
                <a:ea typeface="Calibri" panose="020F0502020204030204" pitchFamily="34" charset="0"/>
                <a:cs typeface="Times New Roman" panose="02020603050405020304" pitchFamily="18" charset="0"/>
              </a:rPr>
              <a:t>No preposition is used with verbs of movement and the noun 'home'.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Send this letter on my new address.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Send this letter to my new address.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He goes in the school.</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goes to the school.</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He goes on his work.</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He goes to his work.</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Mistake:        I am going to home.  /  I'm going at home.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Correct:</a:t>
            </a:r>
            <a:r>
              <a:rPr lang="en-US" dirty="0">
                <a:effectLst/>
                <a:latin typeface="Calibri" panose="020F0502020204030204" pitchFamily="34" charset="0"/>
                <a:ea typeface="Calibri" panose="020F0502020204030204" pitchFamily="34" charset="0"/>
                <a:cs typeface="Times New Roman" panose="02020603050405020304" pitchFamily="18" charset="0"/>
              </a:rPr>
              <a:t>        I am going home.</a:t>
            </a:r>
          </a:p>
          <a:p>
            <a:endParaRPr lang="en-US" dirty="0"/>
          </a:p>
        </p:txBody>
      </p:sp>
    </p:spTree>
    <p:extLst>
      <p:ext uri="{BB962C8B-B14F-4D97-AF65-F5344CB8AC3E}">
        <p14:creationId xmlns:p14="http://schemas.microsoft.com/office/powerpoint/2010/main" val="2451813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 </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Good bye FOR now. I have shared the slides WITH you.</a:t>
            </a:r>
          </a:p>
          <a:p>
            <a:pPr marL="0" indent="0">
              <a:buNone/>
            </a:pPr>
            <a:r>
              <a:rPr lang="en-US" dirty="0"/>
              <a:t> Please send an email TO me if you have any doubts </a:t>
            </a:r>
          </a:p>
          <a:p>
            <a:pPr marL="0" indent="0">
              <a:buNone/>
            </a:pPr>
            <a:endParaRPr lang="en-US" dirty="0"/>
          </a:p>
          <a:p>
            <a:pPr marL="0" indent="0">
              <a:buNone/>
            </a:pPr>
            <a:r>
              <a:rPr lang="en-US" dirty="0"/>
              <a:t>Dr. </a:t>
            </a:r>
            <a:r>
              <a:rPr lang="en-US"/>
              <a:t>Kiran Magavi</a:t>
            </a:r>
            <a:endParaRPr lang="en-US" dirty="0"/>
          </a:p>
          <a:p>
            <a:endParaRPr lang="en-US" dirty="0"/>
          </a:p>
        </p:txBody>
      </p:sp>
    </p:spTree>
    <p:extLst>
      <p:ext uri="{BB962C8B-B14F-4D97-AF65-F5344CB8AC3E}">
        <p14:creationId xmlns:p14="http://schemas.microsoft.com/office/powerpoint/2010/main" val="1229838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1741</Words>
  <Application>Microsoft Office PowerPoint</Application>
  <PresentationFormat>Widescreen</PresentationFormat>
  <Paragraphs>164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Symbol</vt:lpstr>
      <vt:lpstr>Office Theme</vt:lpstr>
      <vt:lpstr>Communicative English </vt:lpstr>
      <vt:lpstr>Prepositions – easy to spell but complicated in usage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course – session 3</dc:title>
  <dc:creator>kiraaan</dc:creator>
  <cp:lastModifiedBy>Rishi Magavi</cp:lastModifiedBy>
  <cp:revision>18</cp:revision>
  <dcterms:created xsi:type="dcterms:W3CDTF">2020-09-28T00:00:26Z</dcterms:created>
  <dcterms:modified xsi:type="dcterms:W3CDTF">2022-03-07T03:23:47Z</dcterms:modified>
</cp:coreProperties>
</file>