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1"/>
  </p:sldMasterIdLst>
  <p:notesMasterIdLst>
    <p:notesMasterId r:id="rId65"/>
  </p:notesMasterIdLst>
  <p:sldIdLst>
    <p:sldId id="256" r:id="rId2"/>
    <p:sldId id="257" r:id="rId3"/>
    <p:sldId id="462" r:id="rId4"/>
    <p:sldId id="585" r:id="rId5"/>
    <p:sldId id="688" r:id="rId6"/>
    <p:sldId id="703" r:id="rId7"/>
    <p:sldId id="689" r:id="rId8"/>
    <p:sldId id="690" r:id="rId9"/>
    <p:sldId id="691" r:id="rId10"/>
    <p:sldId id="692" r:id="rId11"/>
    <p:sldId id="693" r:id="rId12"/>
    <p:sldId id="694" r:id="rId13"/>
    <p:sldId id="695" r:id="rId14"/>
    <p:sldId id="696" r:id="rId15"/>
    <p:sldId id="697" r:id="rId16"/>
    <p:sldId id="698" r:id="rId17"/>
    <p:sldId id="699" r:id="rId18"/>
    <p:sldId id="700" r:id="rId19"/>
    <p:sldId id="701" r:id="rId20"/>
    <p:sldId id="702" r:id="rId21"/>
    <p:sldId id="704" r:id="rId22"/>
    <p:sldId id="706" r:id="rId23"/>
    <p:sldId id="705" r:id="rId24"/>
    <p:sldId id="707" r:id="rId25"/>
    <p:sldId id="708" r:id="rId26"/>
    <p:sldId id="709" r:id="rId27"/>
    <p:sldId id="710" r:id="rId28"/>
    <p:sldId id="711" r:id="rId29"/>
    <p:sldId id="712" r:id="rId30"/>
    <p:sldId id="713" r:id="rId31"/>
    <p:sldId id="714" r:id="rId32"/>
    <p:sldId id="715" r:id="rId33"/>
    <p:sldId id="716" r:id="rId34"/>
    <p:sldId id="717" r:id="rId35"/>
    <p:sldId id="718" r:id="rId36"/>
    <p:sldId id="719" r:id="rId37"/>
    <p:sldId id="720" r:id="rId38"/>
    <p:sldId id="721" r:id="rId39"/>
    <p:sldId id="722" r:id="rId40"/>
    <p:sldId id="723" r:id="rId41"/>
    <p:sldId id="724" r:id="rId42"/>
    <p:sldId id="725" r:id="rId43"/>
    <p:sldId id="726" r:id="rId44"/>
    <p:sldId id="727" r:id="rId45"/>
    <p:sldId id="728" r:id="rId46"/>
    <p:sldId id="729" r:id="rId47"/>
    <p:sldId id="730" r:id="rId48"/>
    <p:sldId id="731" r:id="rId49"/>
    <p:sldId id="732" r:id="rId50"/>
    <p:sldId id="733" r:id="rId51"/>
    <p:sldId id="734" r:id="rId52"/>
    <p:sldId id="740" r:id="rId53"/>
    <p:sldId id="735" r:id="rId54"/>
    <p:sldId id="741" r:id="rId55"/>
    <p:sldId id="742" r:id="rId56"/>
    <p:sldId id="736" r:id="rId57"/>
    <p:sldId id="743" r:id="rId58"/>
    <p:sldId id="737" r:id="rId59"/>
    <p:sldId id="744" r:id="rId60"/>
    <p:sldId id="739" r:id="rId61"/>
    <p:sldId id="745" r:id="rId62"/>
    <p:sldId id="746" r:id="rId63"/>
    <p:sldId id="747" r:id="rId64"/>
  </p:sldIdLst>
  <p:sldSz cx="12192000" cy="6858000"/>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70" autoAdjust="0"/>
  </p:normalViewPr>
  <p:slideViewPr>
    <p:cSldViewPr snapToGrid="0">
      <p:cViewPr varScale="1">
        <p:scale>
          <a:sx n="85" d="100"/>
          <a:sy n="85" d="100"/>
        </p:scale>
        <p:origin x="562" y="77"/>
      </p:cViewPr>
      <p:guideLst>
        <p:guide orient="horz" pos="288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 name="Google Shape;15;p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AABC6A0-1A89-9636-4C0A-44F1DEB347B2}"/>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95B7B88C-0649-3B0E-22FF-BD0A484F768C}"/>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4F37BF7C-50EC-A971-16B6-DD8A38AF33A9}"/>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3066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C72186FF-E853-A136-EB72-B2531FBAC9A2}"/>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76373040-6DFF-E1F0-9ACC-190E9CF87639}"/>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828ADEDD-4D2C-C634-2833-21BEB4DF022D}"/>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203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72380664-D866-F3B4-5F12-DA0523437134}"/>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1B03C86E-513B-16D4-C6DB-10D0EEA00CA1}"/>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E39F2A96-DF88-826D-A2F4-20F2BFD4BD4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5382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E6224A2F-3997-ED35-C26D-48C826F47A93}"/>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73B7D499-44D5-B240-2094-4FE5E3D50C34}"/>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71F8DA09-479F-2A5C-2F5F-43DE9FCBDE4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8844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84E0DFA-A4F0-60B2-E826-4A0B9FB3391C}"/>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8657D500-169F-5E6D-D7BF-A9D6B2443D7E}"/>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171F291F-889F-BFD2-A5F7-4A6D97C5D17D}"/>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1723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B31FC173-CDED-9BF9-A4CD-09CB20B803AE}"/>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8214608E-3393-7D9E-5505-C2E19A92EF5D}"/>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48804DCA-3F8C-4AE8-B753-CB974206DDC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6938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38D8AB99-8363-0E92-FBE6-86F195BA53A2}"/>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B2CE6C63-908F-8BDB-63AF-EA34BA4052C5}"/>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328B4490-D2BB-672B-BBB9-40AD8ED0F22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0290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1F63BB61-B28B-EB02-5052-DD8878136FEA}"/>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A6B05280-1DB8-4C1C-F48C-E396D9A294F4}"/>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C73807FC-5F4A-5E59-9C3E-7983B305B80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9852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6FBE749-1AE0-8E02-7226-F90325A23389}"/>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3082F395-275B-72AB-2765-40E7FFCA95FC}"/>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C8B8A8B2-7A3F-4CD4-CD2F-7D21F06EC36F}"/>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9828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B0E1F908-9892-736E-F04A-2F79C10E0628}"/>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C7F4A728-54D4-1C36-BA7A-76A770DC5728}"/>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78174124-F1B9-9434-8ADB-ADCB36DB3BE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3013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A51FF84A-6948-E3BE-1D5A-78D7F6DDD80A}"/>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57A31B4A-D2D7-6CCD-447D-8CEF2488DE9F}"/>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5E590B10-A481-F0F2-6CC8-F214249748F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07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6FB4396-82A7-B6F4-6365-0CDCD8F61F47}"/>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3A0097DC-6F8F-6CFF-EA49-12443358B0D5}"/>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0E15D8DB-018D-20C4-0D2D-BA401F2B7A9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9086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EB9B0BFD-E78A-549F-39DB-E3ACFD6D0F22}"/>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1F160899-FBBC-99AC-23AD-A5A5D9325CD8}"/>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7A8C899A-01F3-4D3D-23F3-1AB274DA5FA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82244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20892F4B-537F-7EBC-EB71-D2EE709A4C56}"/>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88C0760E-62D5-0B89-D2F9-EC19A3252FA0}"/>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44878550-5BD6-7E57-B996-4F281EA0C4CF}"/>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53717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F4667942-19A7-D40B-59CC-1B4618A04D01}"/>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8ABFA8D8-C048-BE24-C09C-99D32C992E82}"/>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D2B2DAD2-AEC7-1967-6FDD-68191F996A88}"/>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9309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EA2C9CE0-FEF3-FF09-FD0F-CC6D6ED43BF3}"/>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3FE434FD-F25C-9A2E-47D8-C05E6BB6BA02}"/>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E463AFE4-352A-3D9E-E2BE-C41B4A70FB3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27303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DDDF8BBA-291F-334F-4200-C4B0E59B91D0}"/>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6CB46B9C-630E-8632-2558-9C901D842EF3}"/>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512495AB-DDA1-3C6D-8508-D03EE4F23B95}"/>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65403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7CC6BC23-46C1-2AEE-939B-C2CF0D2F9647}"/>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40F0F6F1-C055-73FA-271B-E9AA07B0B042}"/>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8FB20461-45AA-FAC6-A7FE-65F73DF07948}"/>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82849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5238ADE1-E69C-B712-B362-AC7FFD8C4CE9}"/>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BC61F0BB-D58D-DBB2-6D8B-3766C80F00EA}"/>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D2B014DA-2F4E-1105-530B-FCF1646CF46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7255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C4998993-C113-E12D-91B2-6C97D579AB38}"/>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DF3072A9-32C1-C747-4D84-4753FCDFD3E3}"/>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01F4C3CA-A236-8172-E0B0-0B29578CD155}"/>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37779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16DF834D-A59E-96AE-3BCF-14EEF8D731D2}"/>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A26240B2-3585-E69F-03D4-15C0FADFD3C0}"/>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FB0A40D9-F2CE-7608-FE6B-9CACD2E13EB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69992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2AD10AA8-528A-4DBF-FE5A-B70B3DD159CD}"/>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445A8269-EC38-D072-5121-CE1B7C8A5AC5}"/>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AF6DC400-0FDE-584B-8E5E-6DAA08FCD26D}"/>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62178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26D4D450-07DC-8E23-6349-649959D87214}"/>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92E4EF7C-97D6-91DE-E907-64736B72F60D}"/>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BB44F3E6-864F-3382-AAEE-6A8258AACA4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04936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9B0135C6-2F2C-7049-FD19-888175853B0B}"/>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4D7D6CD1-D045-C7B8-8B20-8D7ED8E096BE}"/>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51F128C1-1627-E1B4-F9C9-8534A09BA12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52599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2AF1CAA6-5DE9-8348-484F-790798081B50}"/>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962361E3-249A-3387-764D-95FE280FD1DF}"/>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9969B7E9-EDBB-1038-88F2-C08DB05E389E}"/>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36708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D31572B7-ADFB-88A1-548A-C653BCE573A5}"/>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74468135-085F-3F84-8D26-10D0A8B17720}"/>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742EF69B-1911-C29C-2AF9-7C6EE985AB85}"/>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92580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533D7CAD-4768-7D8D-942E-37B2BDA1D573}"/>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4FED69EF-E068-5D6A-998B-F180F9ED063B}"/>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61E2CACE-1A35-1BEF-56E3-D994B320526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01433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35F366B0-AE88-BB73-623B-966C501952F0}"/>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96ACCC1B-FE5C-8EEF-BC46-B378E9629983}"/>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C8C9F2EA-2A86-9715-B6E4-BE241D16839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47055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D6F86147-78B9-B9C6-2707-346605AE7CA9}"/>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EA23C19E-4AF8-F773-FAC4-9C561E10942F}"/>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7C844DD5-C1F3-744C-7E49-B2B5CA386C4B}"/>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19893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B9609B0-E56F-94F4-BC53-91982E2D8CC2}"/>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3C70E9BF-B418-124E-79FB-63FF3C7026E2}"/>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03DEEA35-6C96-3658-35A6-775C2463C695}"/>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63722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1A88E8C2-0AB7-38CF-3644-2D3D67ABBB01}"/>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E83B4D47-99F9-F627-F7BF-86649AE1DB0C}"/>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406AB466-F61C-89F3-3DC0-D6B3EC74DA05}"/>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4041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61FBC53A-C21F-5A9F-7DF0-9575EACF821F}"/>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012FB916-7C65-E6DD-E63C-0811C9461B59}"/>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827DF387-6CA3-377C-35AF-4233EA4B1D4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84567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00245CA7-2E47-27FC-47EE-DF4140F1B817}"/>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210FCC29-6F2C-7476-7921-C5C2EAF74FFF}"/>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838BD7BC-F6DE-6B52-F2CA-7AD0A801C97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94075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95CD9A08-F766-A885-2E0D-13FF65EDACFD}"/>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00769047-561F-6BAA-DE45-1944E1C0028C}"/>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636BFEC5-F61C-8ABE-39EE-E4AA71E3A9F9}"/>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44627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30F7E64-A353-DAC3-2742-3F860C75FC2B}"/>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625D2021-18C7-237C-9B53-FD7F890007FD}"/>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35753171-6A36-4543-4F98-6ABDC95F5E7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34558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9A53507A-E431-D2AE-42AC-9113418A9CD8}"/>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B1FB3D0E-14D5-FBFF-E782-4D26D92CEE00}"/>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EA85C850-B692-9000-0112-522B8A58F4E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43969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B1E2B0FA-607C-2758-71ED-A51D09772EF0}"/>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0859E1A5-1C4D-7D12-2CC7-DACF067ED7C3}"/>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CDDFC24A-B556-5E5D-3145-355EE61C6BD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58973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AC0975D9-8F0B-0C12-2641-22EDD6DDD2B7}"/>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69EE6C8C-1E43-0A1B-0C8D-0D9A2AE48A81}"/>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0AA82975-8900-7788-CA3B-DB41EEAB8E6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4688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5CB96F75-0431-4044-1200-CB41DD60CED8}"/>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81C1D87E-BFF5-2511-6466-C48186121ADA}"/>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A2A9017E-5045-EBB9-2EF5-715C9E55B3E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68374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1CFACB4E-E2E2-5F86-6118-7048A3B0080F}"/>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FF4685B9-5141-D58B-E991-6CEA8B2EACA5}"/>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362A4094-4488-6C40-7CF2-1EE8D2E27AE8}"/>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96440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36E8FE1-4B0B-A180-EEE4-F2FF34777AB4}"/>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28764AA4-14F6-FC01-6BE8-FFEF5AA895FF}"/>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1829B72B-D635-7EA6-8B48-45CB4FDA0185}"/>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60174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BBCAA130-7433-FED5-4AF3-944DA232D35F}"/>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8D1F48F2-737E-0448-4361-A77C791BFF3C}"/>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4F753009-8252-697F-D45E-962870F77F65}"/>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50751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913878FD-AC9F-7071-55AC-F6913246FAB3}"/>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ED23DD68-6AA4-8668-B499-7399B8A28E4D}"/>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3781ED54-D11A-3882-650D-58063236A812}"/>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84888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5C9F66C3-7B5A-81F1-7492-109A02A9EAC5}"/>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FB204222-21B2-CFF7-29C5-C25853FE1637}"/>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226975C3-659B-79E7-CBBD-A85E93EC49C3}"/>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80056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C976BA41-2F7C-AF12-B14A-5740B22D69A3}"/>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BBC37662-6833-62A2-FCA7-EE57298A0B89}"/>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01CE12D6-A0E7-53B7-776C-25C48D7B0D1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9285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FEF817A9-9D6D-900F-3D18-E0D82C0875D4}"/>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C342A666-1EA4-7012-473D-ECCE135A39D3}"/>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6D66CB9D-7476-D7A6-3DF7-5C8742ECAD8E}"/>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84910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01B33F00-765F-B4C9-5073-ACA100AD67D7}"/>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115AC0C4-C502-789F-3802-554732ED32E7}"/>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BA8989E3-2A5D-48BF-57A3-29D03B64C2E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84376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08BE440-0B4D-5B9D-05E5-357F0B7B1EA7}"/>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84B6AB70-B4F0-0CAA-BAFA-61BA7A2F04FF}"/>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057BD802-61EF-ECB5-884B-5CCA60EFD222}"/>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47473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197D16D0-B86C-4766-A5D0-9305241483DD}"/>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AE7AD0EB-0588-A1DD-8283-24A76CCB4F72}"/>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625F6EDA-8969-6687-19A8-F7A393EF3A2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66389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9B26BF93-1D10-7522-840F-3A852C908C5C}"/>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60A76972-D0F8-1B93-B01D-390F15C3414B}"/>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A95F13C7-3889-5830-8A39-28463992DC1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50178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CB71DB29-8CEE-681B-F6A1-D9EF76442F03}"/>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0D834F3F-060C-616B-EA22-7A396D01748C}"/>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793C2194-904C-F40F-9066-50B9B66249A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98308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1BDBA060-2E23-0DF8-123C-A9F4E492FEC4}"/>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37F65A1E-EBB5-4B32-4E66-A174B969ADF5}"/>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E9FB15EF-DE9D-975D-4AFB-928CA07001DF}"/>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42521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0C5CC3B7-AFC0-3B3B-F4C3-77528CA0FFBB}"/>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82559F2B-7093-667E-C7DE-6546E80B5033}"/>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A14CBA9A-402C-683E-9FCC-7A944154985D}"/>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03442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BBD8D7D6-0C49-2A50-CEA4-1CD6E1F1B17D}"/>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C67592B1-2C3A-85FC-27B5-DB11ACF8C86C}"/>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4CDB6636-3383-3C43-7FC9-F737971DD50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99223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3B17C3BF-C267-6CD0-4000-7C9FF3864180}"/>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79A2DFEF-154D-3FB1-9041-1C3F26B8958E}"/>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67FEF06A-A2EC-7330-421F-9625CCBF7B0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18092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6F82CDDC-4F0F-2729-BFA5-1DBF6E32701B}"/>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C11BFB65-E3AA-CD17-0868-1BB2C3BAD58D}"/>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DCB6D76A-D00C-E2F8-A5DA-11E9FB0AA9C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5860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4F5AC114-7B98-DCF1-AE9E-7D6C3A3498FB}"/>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C02BA906-8114-D164-FD4E-2B06040AAF03}"/>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74E2FB7A-9379-5E93-5CC5-4DD2EC12762D}"/>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48690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D54F755C-A5E8-9FFA-CA2E-359E44EA9417}"/>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02834EE7-6875-8CB4-5AF5-E7CE8DCE9554}"/>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65B74083-7F00-02B3-839D-3B0532D5C89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177925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6E030229-EBF8-BF1D-FD59-66FC177295C8}"/>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E5A30E88-044C-953C-519B-CD2C2A215499}"/>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9FDEE5BC-3BE2-63EC-CC68-33C338102EB8}"/>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089558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4E9ED63-7489-2433-9478-B0D4D65999B2}"/>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A09B7443-F0BA-748B-81CF-1CA835E4EC09}"/>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9209B505-B15B-47CF-998D-5255D19B2DE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07581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E201A700-0742-F135-F868-4FAC751CCCD3}"/>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B365E73E-A989-FB2E-BB6D-506C199EEB54}"/>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597F3302-9DF6-F8F9-D72E-83205FF030F5}"/>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7142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6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p4"/>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18" name="Google Shape;18;p4"/>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19" name="Google Shape;19;p4"/>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a:solidFill>
                <a:schemeClr val="lt1"/>
              </a:solidFill>
              <a:latin typeface="Times New Roman"/>
              <a:ea typeface="Times New Roman"/>
              <a:cs typeface="Times New Roman"/>
              <a:sym typeface="Times New Roman"/>
            </a:endParaRPr>
          </a:p>
        </p:txBody>
      </p:sp>
      <p:sp>
        <p:nvSpPr>
          <p:cNvPr id="20" name="Google Shape;20;p4"/>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21" name="Google Shape;21;p4"/>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2" name="Google Shape;22;p4"/>
          <p:cNvSpPr txBox="1"/>
          <p:nvPr/>
        </p:nvSpPr>
        <p:spPr>
          <a:xfrm>
            <a:off x="1905000" y="1752600"/>
            <a:ext cx="9237482" cy="3477835"/>
          </a:xfrm>
          <a:prstGeom prst="rect">
            <a:avLst/>
          </a:prstGeom>
          <a:noFill/>
          <a:ln>
            <a:noFill/>
          </a:ln>
        </p:spPr>
        <p:txBody>
          <a:bodyPr spcFirstLastPara="1" wrap="square" lIns="91425" tIns="45700" rIns="91425" bIns="45700" anchor="t" anchorCtr="0">
            <a:spAutoFit/>
          </a:bodyPr>
          <a:lstStyle/>
          <a:p>
            <a:pPr lvl="0" algn="ctr"/>
            <a:r>
              <a:rPr lang="en-US" sz="3200" b="1" dirty="0">
                <a:solidFill>
                  <a:schemeClr val="dk1"/>
                </a:solidFill>
              </a:rPr>
              <a:t>Operating System:</a:t>
            </a:r>
          </a:p>
          <a:p>
            <a:pPr lvl="0" algn="ctr"/>
            <a:r>
              <a:rPr lang="en-US" sz="2000" b="1" dirty="0">
                <a:solidFill>
                  <a:schemeClr val="dk1"/>
                </a:solidFill>
              </a:rPr>
              <a:t>Abraham Silberschatz, Peter Baer Galvin, Greg Gagne Operating System</a:t>
            </a:r>
          </a:p>
          <a:p>
            <a:pPr lvl="0" algn="ctr"/>
            <a:r>
              <a:rPr lang="en-US" sz="2000" b="1" dirty="0">
                <a:solidFill>
                  <a:schemeClr val="dk1"/>
                </a:solidFill>
              </a:rPr>
              <a:t>Principles, 8th edition Wiley- India,2011.</a:t>
            </a:r>
          </a:p>
          <a:p>
            <a:pPr marL="0" marR="0" lvl="0" indent="0" algn="ctr" rtl="0">
              <a:spcBef>
                <a:spcPts val="0"/>
              </a:spcBef>
              <a:spcAft>
                <a:spcPts val="0"/>
              </a:spcAft>
              <a:buNone/>
            </a:pPr>
            <a:endParaRPr lang="en-US" sz="4000" b="1" dirty="0">
              <a:solidFill>
                <a:schemeClr val="dk1"/>
              </a:solidFill>
            </a:endParaRPr>
          </a:p>
          <a:p>
            <a:pPr marL="0" marR="0" lvl="0" indent="0" algn="ctr" rtl="0">
              <a:spcBef>
                <a:spcPts val="0"/>
              </a:spcBef>
              <a:spcAft>
                <a:spcPts val="0"/>
              </a:spcAft>
              <a:buNone/>
            </a:pPr>
            <a:r>
              <a:rPr lang="en-US" sz="3600" b="1" dirty="0">
                <a:solidFill>
                  <a:schemeClr val="dk1"/>
                </a:solidFill>
              </a:rPr>
              <a:t>Shubha Malige</a:t>
            </a:r>
          </a:p>
          <a:p>
            <a:pPr marL="0" marR="0" lvl="0" indent="0" algn="ctr" rtl="0">
              <a:spcBef>
                <a:spcPts val="0"/>
              </a:spcBef>
              <a:spcAft>
                <a:spcPts val="0"/>
              </a:spcAft>
              <a:buNone/>
            </a:pPr>
            <a:r>
              <a:rPr lang="en-US" sz="3600" b="1" i="0" u="none" strike="noStrike" cap="none" dirty="0">
                <a:solidFill>
                  <a:schemeClr val="dk1"/>
                </a:solidFill>
                <a:latin typeface="Arial"/>
                <a:ea typeface="Arial"/>
                <a:cs typeface="Arial"/>
                <a:sym typeface="Arial"/>
              </a:rPr>
              <a:t>Asst. Professor</a:t>
            </a:r>
          </a:p>
          <a:p>
            <a:pPr marL="0" marR="0" lvl="0" indent="0" algn="ctr" rtl="0">
              <a:spcBef>
                <a:spcPts val="0"/>
              </a:spcBef>
              <a:spcAft>
                <a:spcPts val="0"/>
              </a:spcAft>
              <a:buNone/>
            </a:pPr>
            <a:r>
              <a:rPr lang="en-US" sz="3600" b="1" dirty="0">
                <a:solidFill>
                  <a:schemeClr val="dk1"/>
                </a:solidFill>
              </a:rPr>
              <a:t>CSE(Cyber Security)</a:t>
            </a:r>
            <a:endParaRPr sz="3600" b="1"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0300E0CF-CE94-F09E-B2F2-43077379B82C}"/>
              </a:ext>
            </a:extLst>
          </p:cNvPr>
          <p:cNvPicPr>
            <a:picLocks noChangeAspect="1"/>
          </p:cNvPicPr>
          <p:nvPr/>
        </p:nvPicPr>
        <p:blipFill>
          <a:blip r:embed="rId3"/>
          <a:stretch>
            <a:fillRect/>
          </a:stretch>
        </p:blipFill>
        <p:spPr>
          <a:xfrm>
            <a:off x="1117938" y="2008094"/>
            <a:ext cx="10119657" cy="248897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8F40DBBF-C7DE-A6E9-9E98-C7426AC6D6BE}"/>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FFDF1348-93F4-ABD0-7B56-444329A03EE3}"/>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221B561B-2A81-79E9-98F9-8CD38C753CDA}"/>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015A5F25-8100-C769-50E5-1A8612AF3A2E}"/>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0FCF74D6-3C5B-E646-5AE5-ED0BB1C298B3}"/>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dirty="0">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070346D5-E1EC-393A-7EE8-C9C4AD1E38B4}"/>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4" name="Picture 3">
            <a:extLst>
              <a:ext uri="{FF2B5EF4-FFF2-40B4-BE49-F238E27FC236}">
                <a16:creationId xmlns:a16="http://schemas.microsoft.com/office/drawing/2014/main" id="{CE37CA24-E0BC-9A47-192A-0EB3BF58FABC}"/>
              </a:ext>
            </a:extLst>
          </p:cNvPr>
          <p:cNvPicPr>
            <a:picLocks noChangeAspect="1"/>
          </p:cNvPicPr>
          <p:nvPr/>
        </p:nvPicPr>
        <p:blipFill>
          <a:blip r:embed="rId3"/>
          <a:stretch>
            <a:fillRect/>
          </a:stretch>
        </p:blipFill>
        <p:spPr>
          <a:xfrm>
            <a:off x="272422" y="1436132"/>
            <a:ext cx="8976793" cy="3498028"/>
          </a:xfrm>
          <a:prstGeom prst="rect">
            <a:avLst/>
          </a:prstGeom>
        </p:spPr>
      </p:pic>
    </p:spTree>
    <p:extLst>
      <p:ext uri="{BB962C8B-B14F-4D97-AF65-F5344CB8AC3E}">
        <p14:creationId xmlns:p14="http://schemas.microsoft.com/office/powerpoint/2010/main" val="1470615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D558FEAC-5F35-37AF-1147-EE6FE04C654B}"/>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1B903C41-35B4-9E57-38C0-BBFABFA55280}"/>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F80A9925-D304-C53E-2B5F-213AED0A7F62}"/>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34578D7E-5237-CE96-75E5-CD928AB6E49E}"/>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Concept</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87A95062-6E00-4996-EC89-20C49737EB18}"/>
              </a:ext>
            </a:extLst>
          </p:cNvPr>
          <p:cNvSpPr txBox="1"/>
          <p:nvPr/>
        </p:nvSpPr>
        <p:spPr>
          <a:xfrm>
            <a:off x="1021976" y="1219200"/>
            <a:ext cx="10300448" cy="4114800"/>
          </a:xfrm>
          <a:prstGeom prst="rect">
            <a:avLst/>
          </a:prstGeom>
          <a:noFill/>
          <a:ln>
            <a:noFill/>
          </a:ln>
        </p:spPr>
        <p:txBody>
          <a:bodyPr spcFirstLastPara="1" wrap="square" lIns="91425" tIns="45700" rIns="91425" bIns="45700" anchor="t" anchorCtr="0">
            <a:noAutofit/>
          </a:bodyPr>
          <a:lstStyle/>
          <a:p>
            <a:pPr marL="457200" indent="-457200">
              <a:buFont typeface="Wingdings" panose="05000000000000000000" pitchFamily="2" charset="2"/>
              <a:buChar char="Ø"/>
            </a:pPr>
            <a:r>
              <a:rPr lang="en-US" sz="1800" dirty="0"/>
              <a:t>Computers store information on different storage devices such as magnetic disks, magnetic tapes, and optical disks.</a:t>
            </a:r>
          </a:p>
          <a:p>
            <a:pPr marL="457200" indent="-457200">
              <a:buFont typeface="Wingdings" panose="05000000000000000000" pitchFamily="2" charset="2"/>
              <a:buChar char="Ø"/>
            </a:pPr>
            <a:endParaRPr lang="en-US" sz="1800" dirty="0"/>
          </a:p>
          <a:p>
            <a:pPr marL="457200" indent="-457200">
              <a:buFont typeface="Wingdings" panose="05000000000000000000" pitchFamily="2" charset="2"/>
              <a:buChar char="Ø"/>
            </a:pPr>
            <a:r>
              <a:rPr lang="en-US" sz="1800" dirty="0"/>
              <a:t>The operating system provides a uniform logical view of stored information so that the system is easy and convenient to use.</a:t>
            </a:r>
          </a:p>
          <a:p>
            <a:pPr marL="457200" indent="-457200">
              <a:buFont typeface="Wingdings" panose="05000000000000000000" pitchFamily="2" charset="2"/>
              <a:buChar char="Ø"/>
            </a:pPr>
            <a:endParaRPr lang="en-US" sz="1800" dirty="0"/>
          </a:p>
          <a:p>
            <a:pPr marL="457200" indent="-457200">
              <a:buFont typeface="Wingdings" panose="05000000000000000000" pitchFamily="2" charset="2"/>
              <a:buChar char="Ø"/>
            </a:pPr>
            <a:r>
              <a:rPr lang="en-US" sz="1800" dirty="0"/>
              <a:t>The operating system abstracts physical storage details and defines a logical storage unit called a file. Files are mapped onto physical storage devices.</a:t>
            </a:r>
          </a:p>
          <a:p>
            <a:pPr marL="457200" indent="-457200">
              <a:buFont typeface="Wingdings" panose="05000000000000000000" pitchFamily="2" charset="2"/>
              <a:buChar char="Ø"/>
            </a:pPr>
            <a:endParaRPr lang="en-US" sz="1800" dirty="0"/>
          </a:p>
          <a:p>
            <a:pPr marL="457200" indent="-457200">
              <a:buFont typeface="Wingdings" panose="05000000000000000000" pitchFamily="2" charset="2"/>
              <a:buChar char="Ø"/>
            </a:pPr>
            <a:r>
              <a:rPr lang="en-US" sz="1800" dirty="0"/>
              <a:t>Storage devices used for files are usually nonvolatile, meaning the data remains stored even after the system is rebooted.</a:t>
            </a:r>
          </a:p>
          <a:p>
            <a:pPr marL="457200" indent="-457200">
              <a:buFont typeface="Wingdings" panose="05000000000000000000" pitchFamily="2" charset="2"/>
              <a:buChar char="Ø"/>
            </a:pPr>
            <a:endParaRPr lang="en-US" sz="1800" dirty="0"/>
          </a:p>
          <a:p>
            <a:pPr marL="457200" indent="-457200">
              <a:buFont typeface="Wingdings" panose="05000000000000000000" pitchFamily="2" charset="2"/>
              <a:buChar char="Ø"/>
            </a:pPr>
            <a:r>
              <a:rPr lang="en-US" sz="1800" dirty="0"/>
              <a:t>A file is a named collection of related information stored on secondary storage. Data must be stored inside a file; it cannot be written directly to secondary storage without being part of a file.</a:t>
            </a:r>
          </a:p>
          <a:p>
            <a:pPr marL="457200" indent="-457200">
              <a:buFont typeface="Wingdings" panose="05000000000000000000" pitchFamily="2" charset="2"/>
              <a:buChar char="Ø"/>
            </a:pPr>
            <a:endParaRPr lang="en-US" sz="1800" dirty="0"/>
          </a:p>
          <a:p>
            <a:pPr marL="457200" indent="-457200">
              <a:buFont typeface="Wingdings" panose="05000000000000000000" pitchFamily="2" charset="2"/>
              <a:buChar char="Ø"/>
            </a:pPr>
            <a:r>
              <a:rPr lang="en-US" sz="1800" dirty="0"/>
              <a:t>Files can store programs or data (numeric, text, binary, etc.). They may be free-form (like text files) or strictly formatted. A file is generally a sequence of bits, bytes, lines, or records, and its structure depends on its type (e.g., text file, source file, executable file).</a:t>
            </a:r>
          </a:p>
        </p:txBody>
      </p:sp>
      <p:sp>
        <p:nvSpPr>
          <p:cNvPr id="31" name="Google Shape;31;p5">
            <a:extLst>
              <a:ext uri="{FF2B5EF4-FFF2-40B4-BE49-F238E27FC236}">
                <a16:creationId xmlns:a16="http://schemas.microsoft.com/office/drawing/2014/main" id="{86F74F47-18E8-737E-60B0-B98353829762}"/>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28360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51548351-7C84-A3FC-12FB-A02B6C549F5C}"/>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F721569E-C346-BDE2-2185-1E1DD027BCE8}"/>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ED7EC1BB-0352-87AC-330B-9518DA7102B3}"/>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C50297DE-3EE9-FA8E-826E-6C3AB6451E65}"/>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a:t>
            </a:r>
            <a:r>
              <a:rPr lang="en-US" sz="3600" b="1" dirty="0">
                <a:solidFill>
                  <a:schemeClr val="lt1"/>
                </a:solidFill>
                <a:latin typeface="Times New Roman"/>
                <a:ea typeface="Times New Roman"/>
                <a:cs typeface="Times New Roman"/>
                <a:sym typeface="Times New Roman"/>
              </a:rPr>
              <a:t>Attributes</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2DFD0ADE-20AD-AE42-DB9F-2DD2ABCE1137}"/>
              </a:ext>
            </a:extLst>
          </p:cNvPr>
          <p:cNvPicPr>
            <a:picLocks noChangeAspect="1"/>
          </p:cNvPicPr>
          <p:nvPr/>
        </p:nvPicPr>
        <p:blipFill>
          <a:blip r:embed="rId3"/>
          <a:stretch>
            <a:fillRect/>
          </a:stretch>
        </p:blipFill>
        <p:spPr>
          <a:xfrm>
            <a:off x="448235" y="1204602"/>
            <a:ext cx="10659036" cy="4448796"/>
          </a:xfrm>
          <a:prstGeom prst="rect">
            <a:avLst/>
          </a:prstGeom>
        </p:spPr>
      </p:pic>
    </p:spTree>
    <p:extLst>
      <p:ext uri="{BB962C8B-B14F-4D97-AF65-F5344CB8AC3E}">
        <p14:creationId xmlns:p14="http://schemas.microsoft.com/office/powerpoint/2010/main" val="510159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6B36EC76-CE34-7738-1471-FF5E91E119AB}"/>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9CE25FD0-501D-79F0-32E7-62C0035134AA}"/>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2B7412C0-DD2A-49C2-CBB7-CE3B90D00FC2}"/>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DBBF330A-34B1-99C2-54E1-4AA3A03B8880}"/>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Info Window On MacOS X</a:t>
            </a:r>
            <a:endParaRPr sz="3600" b="1" i="0" u="none" strike="noStrike" cap="none" dirty="0">
              <a:solidFill>
                <a:schemeClr val="lt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A25E2DAC-3437-46D0-8DDB-35FF4322410A}"/>
              </a:ext>
            </a:extLst>
          </p:cNvPr>
          <p:cNvPicPr>
            <a:picLocks noChangeAspect="1"/>
          </p:cNvPicPr>
          <p:nvPr/>
        </p:nvPicPr>
        <p:blipFill>
          <a:blip r:embed="rId3"/>
          <a:stretch>
            <a:fillRect/>
          </a:stretch>
        </p:blipFill>
        <p:spPr>
          <a:xfrm>
            <a:off x="1210235" y="1005630"/>
            <a:ext cx="7364805" cy="4846740"/>
          </a:xfrm>
          <a:prstGeom prst="rect">
            <a:avLst/>
          </a:prstGeom>
        </p:spPr>
      </p:pic>
    </p:spTree>
    <p:extLst>
      <p:ext uri="{BB962C8B-B14F-4D97-AF65-F5344CB8AC3E}">
        <p14:creationId xmlns:p14="http://schemas.microsoft.com/office/powerpoint/2010/main" val="2037173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265CDC32-8847-DA85-92D6-84E0C0C60763}"/>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012104C5-D451-B11A-18FC-3825BCA338D4}"/>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2BCC3D71-60AF-EB0B-B85F-852E5FD6E88E}"/>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2170FBCD-9BE8-D375-F862-369B91F0BD1B}"/>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a:t>
            </a:r>
            <a:r>
              <a:rPr lang="en-US" sz="3600" b="1" dirty="0">
                <a:solidFill>
                  <a:schemeClr val="lt1"/>
                </a:solidFill>
                <a:latin typeface="Times New Roman"/>
                <a:ea typeface="Times New Roman"/>
                <a:cs typeface="Times New Roman"/>
                <a:sym typeface="Times New Roman"/>
              </a:rPr>
              <a:t>Attributes</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E0763D46-D2F9-EF34-E577-4B60DFCB5248}"/>
              </a:ext>
            </a:extLst>
          </p:cNvPr>
          <p:cNvSpPr txBox="1"/>
          <p:nvPr/>
        </p:nvSpPr>
        <p:spPr>
          <a:xfrm>
            <a:off x="349623" y="1093694"/>
            <a:ext cx="11044517" cy="2246769"/>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t>All file information is kept in the directory structure stored on secondary storage. A directory entry typically contains the file’s name and a unique identifier, which is used to locate the other file attributes. Storing this information for each file may require more than a kilobyte, and in systems with many files, the directory size can reach megabytes.</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Since directories must be nonvolatile like files, they are stored on the storage device and are brought into memory in parts (piecemeal) as needed.</a:t>
            </a:r>
          </a:p>
        </p:txBody>
      </p:sp>
    </p:spTree>
    <p:extLst>
      <p:ext uri="{BB962C8B-B14F-4D97-AF65-F5344CB8AC3E}">
        <p14:creationId xmlns:p14="http://schemas.microsoft.com/office/powerpoint/2010/main" val="596004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81A3492A-98F0-4B3E-815F-7468D68E9639}"/>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76CAA8C3-C6CA-D267-9C04-3453236ACEB8}"/>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D34C7DD1-69AC-4F0A-EFAC-0F1501F29BAA}"/>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Operations</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11953413-F1E6-CEAB-E279-26C5423CE647}"/>
              </a:ext>
            </a:extLst>
          </p:cNvPr>
          <p:cNvSpPr txBox="1"/>
          <p:nvPr/>
        </p:nvSpPr>
        <p:spPr>
          <a:xfrm>
            <a:off x="349623" y="1093694"/>
            <a:ext cx="11044517" cy="400110"/>
          </a:xfrm>
          <a:prstGeom prst="rect">
            <a:avLst/>
          </a:prstGeom>
          <a:noFill/>
        </p:spPr>
        <p:txBody>
          <a:bodyPr wrap="square" rtlCol="0">
            <a:spAutoFit/>
          </a:bodyPr>
          <a:lstStyle/>
          <a:p>
            <a:endParaRPr lang="en-US" sz="2000" dirty="0"/>
          </a:p>
        </p:txBody>
      </p:sp>
      <p:sp>
        <p:nvSpPr>
          <p:cNvPr id="5" name="TextBox 4">
            <a:extLst>
              <a:ext uri="{FF2B5EF4-FFF2-40B4-BE49-F238E27FC236}">
                <a16:creationId xmlns:a16="http://schemas.microsoft.com/office/drawing/2014/main" id="{DEFAAC85-B0DC-520F-B813-077A2BCF4EC1}"/>
              </a:ext>
            </a:extLst>
          </p:cNvPr>
          <p:cNvSpPr txBox="1"/>
          <p:nvPr/>
        </p:nvSpPr>
        <p:spPr>
          <a:xfrm>
            <a:off x="143435" y="655446"/>
            <a:ext cx="11905130" cy="6186309"/>
          </a:xfrm>
          <a:prstGeom prst="rect">
            <a:avLst/>
          </a:prstGeom>
          <a:noFill/>
        </p:spPr>
        <p:txBody>
          <a:bodyPr wrap="square">
            <a:spAutoFit/>
          </a:bodyPr>
          <a:lstStyle/>
          <a:p>
            <a:r>
              <a:rPr lang="en-US" sz="1800" dirty="0"/>
              <a:t>A file is considered an abstract data type, and to define it properly, we must consider the operations that can be performed on it.</a:t>
            </a:r>
          </a:p>
          <a:p>
            <a:endParaRPr lang="en-US" sz="1800" dirty="0"/>
          </a:p>
          <a:p>
            <a:r>
              <a:rPr lang="en-US" sz="1800" dirty="0"/>
              <a:t>The operating system provides system calls to perform six basic operations: create, write, read, reposition, delete, and truncate files. Other operations, such as renaming a file, can be implemented based on these basic operations.</a:t>
            </a:r>
          </a:p>
          <a:p>
            <a:endParaRPr lang="en-US" sz="1800" dirty="0"/>
          </a:p>
          <a:p>
            <a:endParaRPr lang="en-US" sz="1800" dirty="0"/>
          </a:p>
          <a:p>
            <a:pPr marL="285750" indent="-285750">
              <a:buFont typeface="Wingdings" panose="05000000000000000000" pitchFamily="2" charset="2"/>
              <a:buChar char="ü"/>
            </a:pPr>
            <a:r>
              <a:rPr lang="en-US" sz="1800" dirty="0"/>
              <a:t>Creating a file – The system finds space in the file system and creates a new directory entry for the file.</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Writing a file – The system locates the file, writes data to it, and updates the write pointer after each write operation.</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Reading a file – The system locates the file, reads data from it into memory, and updates the read pointer after each read.</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Repositioning within a file (Seek) – The system moves the current file-position pointer to a specified location without performing actual I/O.</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Deleting a file – The system removes the file’s directory entry and releases its allocated space for reuse.</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Truncating a file – The system clears the file’s contents while keeping its attributes unchanged and releases its space.</a:t>
            </a:r>
          </a:p>
        </p:txBody>
      </p:sp>
    </p:spTree>
    <p:extLst>
      <p:ext uri="{BB962C8B-B14F-4D97-AF65-F5344CB8AC3E}">
        <p14:creationId xmlns:p14="http://schemas.microsoft.com/office/powerpoint/2010/main" val="495352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FDD4F869-6A2A-D9B2-4122-67625F62F903}"/>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4364C8F0-8BCC-A5C7-0958-CFBF4282D177}"/>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7BC608A1-4427-25AF-5664-EE40A0D2C757}"/>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ECDACEDA-579A-5DDE-A2F7-272EAED4BD0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Operations</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6F216658-4187-1A1A-FFC9-B854B0B2D7E6}"/>
              </a:ext>
            </a:extLst>
          </p:cNvPr>
          <p:cNvSpPr txBox="1"/>
          <p:nvPr/>
        </p:nvSpPr>
        <p:spPr>
          <a:xfrm>
            <a:off x="349623" y="1093694"/>
            <a:ext cx="11044517" cy="400110"/>
          </a:xfrm>
          <a:prstGeom prst="rect">
            <a:avLst/>
          </a:prstGeom>
          <a:noFill/>
        </p:spPr>
        <p:txBody>
          <a:bodyPr wrap="square" rtlCol="0">
            <a:spAutoFit/>
          </a:bodyPr>
          <a:lstStyle/>
          <a:p>
            <a:endParaRPr lang="en-US" sz="2000" dirty="0"/>
          </a:p>
        </p:txBody>
      </p:sp>
      <p:sp>
        <p:nvSpPr>
          <p:cNvPr id="3" name="TextBox 2">
            <a:extLst>
              <a:ext uri="{FF2B5EF4-FFF2-40B4-BE49-F238E27FC236}">
                <a16:creationId xmlns:a16="http://schemas.microsoft.com/office/drawing/2014/main" id="{6FFF9B3A-5791-82AC-1575-707F2573C774}"/>
              </a:ext>
            </a:extLst>
          </p:cNvPr>
          <p:cNvSpPr txBox="1"/>
          <p:nvPr/>
        </p:nvSpPr>
        <p:spPr>
          <a:xfrm>
            <a:off x="564775" y="1034013"/>
            <a:ext cx="11277601" cy="5078313"/>
          </a:xfrm>
          <a:prstGeom prst="rect">
            <a:avLst/>
          </a:prstGeom>
          <a:noFill/>
        </p:spPr>
        <p:txBody>
          <a:bodyPr wrap="square">
            <a:spAutoFit/>
          </a:bodyPr>
          <a:lstStyle/>
          <a:p>
            <a:pPr marL="285750" indent="-285750">
              <a:buFont typeface="Wingdings" panose="05000000000000000000" pitchFamily="2" charset="2"/>
              <a:buChar char="ü"/>
            </a:pPr>
            <a:r>
              <a:rPr lang="en-US" sz="1800" dirty="0"/>
              <a:t>Basic file operations can be combined to perform tasks such as copying a file. Systems also provide operations to get and set file attributes, such as file length and owner.</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Since many file operations require searching the directory, most systems require an open() system call before using a file. The operating system maintains an open-file table, and file operations use an index to this table instead of repeatedly searching the directory.</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The open() call searches the directory, copies the directory entry into the open-file table, checks access permissions (read, write, append, etc.), and returns a pointer to the open-file table entry. The close() call removes the file entry when it is no longer in use. The create() and delete() calls operate on closed files.</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Some systems automatically open a file on first reference and close it when the program ends. However, most systems require programmers to explicitly open a file using open() before using it.</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In systems where multiple processes may open the same file, two tables are used: a per-process table (stores process-specific details like current file pointer and access rights) and a system-wide table (stores file location, size, access dates, etc.). An open count tracks how many processes have the file open, and the file is removed from the table when the count reaches zero.</a:t>
            </a:r>
          </a:p>
        </p:txBody>
      </p:sp>
    </p:spTree>
    <p:extLst>
      <p:ext uri="{BB962C8B-B14F-4D97-AF65-F5344CB8AC3E}">
        <p14:creationId xmlns:p14="http://schemas.microsoft.com/office/powerpoint/2010/main" val="2498798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F76C6C44-5600-1601-95AC-9124E7F4143E}"/>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E08522E5-FF2C-77B8-49A0-1B1DD0C53D5D}"/>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21970EBF-8C1B-CF64-C4BD-67E0E0F9D856}"/>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AB285E0F-636D-03DC-5E12-7E142ED887B6}"/>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Operations</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3328426A-43DC-0CAE-CFCF-A69D4D7EFF39}"/>
              </a:ext>
            </a:extLst>
          </p:cNvPr>
          <p:cNvSpPr txBox="1"/>
          <p:nvPr/>
        </p:nvSpPr>
        <p:spPr>
          <a:xfrm>
            <a:off x="349623" y="1093694"/>
            <a:ext cx="11044517" cy="400110"/>
          </a:xfrm>
          <a:prstGeom prst="rect">
            <a:avLst/>
          </a:prstGeom>
          <a:noFill/>
        </p:spPr>
        <p:txBody>
          <a:bodyPr wrap="square" rtlCol="0">
            <a:spAutoFit/>
          </a:bodyPr>
          <a:lstStyle/>
          <a:p>
            <a:endParaRPr lang="en-US" sz="2000" dirty="0"/>
          </a:p>
        </p:txBody>
      </p:sp>
      <p:sp>
        <p:nvSpPr>
          <p:cNvPr id="5" name="TextBox 4">
            <a:extLst>
              <a:ext uri="{FF2B5EF4-FFF2-40B4-BE49-F238E27FC236}">
                <a16:creationId xmlns:a16="http://schemas.microsoft.com/office/drawing/2014/main" id="{9798F9E6-80A0-DB8C-E786-6CF355FA5BA1}"/>
              </a:ext>
            </a:extLst>
          </p:cNvPr>
          <p:cNvSpPr txBox="1"/>
          <p:nvPr/>
        </p:nvSpPr>
        <p:spPr>
          <a:xfrm>
            <a:off x="412376" y="1062405"/>
            <a:ext cx="11703424" cy="4708981"/>
          </a:xfrm>
          <a:prstGeom prst="rect">
            <a:avLst/>
          </a:prstGeom>
          <a:noFill/>
        </p:spPr>
        <p:txBody>
          <a:bodyPr wrap="square">
            <a:spAutoFit/>
          </a:bodyPr>
          <a:lstStyle/>
          <a:p>
            <a:r>
              <a:rPr lang="en-US" dirty="0"/>
              <a:t>The other pieces of operation associated with file are:</a:t>
            </a:r>
          </a:p>
          <a:p>
            <a:endParaRPr lang="en-US" dirty="0"/>
          </a:p>
          <a:p>
            <a:pPr marL="285750" indent="-285750">
              <a:buFont typeface="Wingdings" panose="05000000000000000000" pitchFamily="2" charset="2"/>
              <a:buChar char="ü"/>
            </a:pPr>
            <a:r>
              <a:rPr lang="en-US" sz="1600" b="1" dirty="0"/>
              <a:t>File pointer</a:t>
            </a:r>
            <a:r>
              <a:rPr lang="en-US" sz="1600" dirty="0"/>
              <a:t>. On systems that do not include a file offset as part of the read() and write() system calls, the system must track the last read–</a:t>
            </a:r>
          </a:p>
          <a:p>
            <a:r>
              <a:rPr lang="en-US" sz="1600" dirty="0"/>
              <a:t>write location as a current-file-position pointer. This pointer is unique to each process operating on the file and therefore must be kept separate from the on-disk file attributes.</a:t>
            </a:r>
          </a:p>
          <a:p>
            <a:endParaRPr lang="en-US" sz="1600" dirty="0"/>
          </a:p>
          <a:p>
            <a:pPr marL="285750" indent="-285750">
              <a:buFont typeface="Wingdings" panose="05000000000000000000" pitchFamily="2" charset="2"/>
              <a:buChar char="ü"/>
            </a:pPr>
            <a:r>
              <a:rPr lang="en-US" sz="1600" b="1" dirty="0"/>
              <a:t>File-open count</a:t>
            </a:r>
            <a:r>
              <a:rPr lang="en-US" sz="1600" dirty="0"/>
              <a:t>. As files are closed, the operating system must reuse its open-file table entries, or it could run out of space in the table. Multiple</a:t>
            </a:r>
          </a:p>
          <a:p>
            <a:r>
              <a:rPr lang="en-US" sz="1600" dirty="0"/>
              <a:t>processes may have opened a file, and the system must wait for the last file to close before removing the open-file table entry. The file-open count</a:t>
            </a:r>
          </a:p>
          <a:p>
            <a:r>
              <a:rPr lang="en-US" sz="1600" dirty="0"/>
              <a:t>tracks the number of opens and closes and reaches zero on the last close. The system can then remove the entry.</a:t>
            </a:r>
          </a:p>
          <a:p>
            <a:endParaRPr lang="en-US" sz="1600" dirty="0"/>
          </a:p>
          <a:p>
            <a:pPr marL="285750" indent="-285750">
              <a:buFont typeface="Wingdings" panose="05000000000000000000" pitchFamily="2" charset="2"/>
              <a:buChar char="ü"/>
            </a:pPr>
            <a:r>
              <a:rPr lang="en-US" sz="1600" b="1" dirty="0"/>
              <a:t>Disk location of the file</a:t>
            </a:r>
            <a:r>
              <a:rPr lang="en-US" sz="1600" dirty="0"/>
              <a:t>. Most file operations require the system to modify data within the file. The information needed to locate the file on disk is</a:t>
            </a:r>
          </a:p>
          <a:p>
            <a:r>
              <a:rPr lang="en-US" sz="1600" dirty="0"/>
              <a:t>kept in memory so that the system does not have to read it from disk for each operation.</a:t>
            </a:r>
          </a:p>
          <a:p>
            <a:endParaRPr lang="en-US" sz="1600" dirty="0"/>
          </a:p>
          <a:p>
            <a:pPr marL="285750" indent="-285750">
              <a:buFont typeface="Wingdings" panose="05000000000000000000" pitchFamily="2" charset="2"/>
              <a:buChar char="ü"/>
            </a:pPr>
            <a:r>
              <a:rPr lang="en-US" sz="1600" b="1" dirty="0"/>
              <a:t>Access rights</a:t>
            </a:r>
            <a:r>
              <a:rPr lang="en-US" sz="1600" dirty="0"/>
              <a:t>. Each process opens a file in an access mode. This information is stored on the per-process table so the operating system can allow or deny subsequent I/O requests.</a:t>
            </a:r>
          </a:p>
        </p:txBody>
      </p:sp>
    </p:spTree>
    <p:extLst>
      <p:ext uri="{BB962C8B-B14F-4D97-AF65-F5344CB8AC3E}">
        <p14:creationId xmlns:p14="http://schemas.microsoft.com/office/powerpoint/2010/main" val="2329968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D39803C3-C4A7-3385-D0C5-CA7050369027}"/>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FF142C03-420F-86C7-303A-EF0EEBB6A34D}"/>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DE2FC32D-39AD-F5B4-E952-DD4CA4A5187F}"/>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60FEB6B9-6862-A2D4-51F5-6182C10694BA}"/>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Operations</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4688C13A-04E1-077A-0C0B-A4604C42D13F}"/>
              </a:ext>
            </a:extLst>
          </p:cNvPr>
          <p:cNvSpPr txBox="1"/>
          <p:nvPr/>
        </p:nvSpPr>
        <p:spPr>
          <a:xfrm>
            <a:off x="349623" y="1093694"/>
            <a:ext cx="11044517" cy="400110"/>
          </a:xfrm>
          <a:prstGeom prst="rect">
            <a:avLst/>
          </a:prstGeom>
          <a:noFill/>
        </p:spPr>
        <p:txBody>
          <a:bodyPr wrap="square" rtlCol="0">
            <a:spAutoFit/>
          </a:bodyPr>
          <a:lstStyle/>
          <a:p>
            <a:endParaRPr lang="en-US" sz="2000" dirty="0"/>
          </a:p>
        </p:txBody>
      </p:sp>
      <p:sp>
        <p:nvSpPr>
          <p:cNvPr id="3" name="TextBox 2">
            <a:extLst>
              <a:ext uri="{FF2B5EF4-FFF2-40B4-BE49-F238E27FC236}">
                <a16:creationId xmlns:a16="http://schemas.microsoft.com/office/drawing/2014/main" id="{7067C029-8C52-D0CD-A6E2-20C70EC06066}"/>
              </a:ext>
            </a:extLst>
          </p:cNvPr>
          <p:cNvSpPr txBox="1"/>
          <p:nvPr/>
        </p:nvSpPr>
        <p:spPr>
          <a:xfrm>
            <a:off x="735105" y="1267135"/>
            <a:ext cx="10560424" cy="2585323"/>
          </a:xfrm>
          <a:prstGeom prst="rect">
            <a:avLst/>
          </a:prstGeom>
          <a:noFill/>
        </p:spPr>
        <p:txBody>
          <a:bodyPr wrap="square">
            <a:spAutoFit/>
          </a:bodyPr>
          <a:lstStyle/>
          <a:p>
            <a:r>
              <a:rPr lang="en-US" sz="1800" dirty="0"/>
              <a:t>Purpose of File Locks</a:t>
            </a:r>
          </a:p>
          <a:p>
            <a:r>
              <a:rPr lang="en-US" sz="1800" dirty="0"/>
              <a:t>Some operating systems allow locking of an open file (or parts of it) to prevent other processes from accessing it. This is useful when multiple processes share and modify the same file, such as a system log file.</a:t>
            </a:r>
          </a:p>
          <a:p>
            <a:endParaRPr lang="en-US" sz="1800" dirty="0"/>
          </a:p>
          <a:p>
            <a:r>
              <a:rPr lang="en-US" sz="1800" dirty="0"/>
              <a:t>Types of File Locks</a:t>
            </a:r>
          </a:p>
          <a:p>
            <a:r>
              <a:rPr lang="en-US" sz="1800" dirty="0"/>
              <a:t>File locks are similar to reader–writer locks: a shared lock allows multiple processes to access the file simultaneously (like a reader lock), while an exclusive lock allows only one process at a time (like a writer lock). Some systems provide only exclusive locking.</a:t>
            </a:r>
          </a:p>
        </p:txBody>
      </p:sp>
    </p:spTree>
    <p:extLst>
      <p:ext uri="{BB962C8B-B14F-4D97-AF65-F5344CB8AC3E}">
        <p14:creationId xmlns:p14="http://schemas.microsoft.com/office/powerpoint/2010/main" val="2944340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43A3A0EE-7CC1-E4DF-A338-4C8DDB8F01D5}"/>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FFD4518A-BA4D-9DB5-2C1C-A9F96C71BE36}"/>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DA3DD4F1-1FF2-E851-935F-7B772274C9EA}"/>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5EF3CD8B-A8C2-9AC3-679E-316D522076D4}"/>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Operations</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1AD7676A-DDA9-300D-CB85-D6C1BDA67C0B}"/>
              </a:ext>
            </a:extLst>
          </p:cNvPr>
          <p:cNvSpPr txBox="1"/>
          <p:nvPr/>
        </p:nvSpPr>
        <p:spPr>
          <a:xfrm>
            <a:off x="349623" y="1093694"/>
            <a:ext cx="11044517" cy="400110"/>
          </a:xfrm>
          <a:prstGeom prst="rect">
            <a:avLst/>
          </a:prstGeom>
          <a:noFill/>
        </p:spPr>
        <p:txBody>
          <a:bodyPr wrap="square" rtlCol="0">
            <a:spAutoFit/>
          </a:bodyPr>
          <a:lstStyle/>
          <a:p>
            <a:endParaRPr lang="en-US" sz="2000" dirty="0"/>
          </a:p>
        </p:txBody>
      </p:sp>
      <p:sp>
        <p:nvSpPr>
          <p:cNvPr id="2" name="TextBox 1">
            <a:extLst>
              <a:ext uri="{FF2B5EF4-FFF2-40B4-BE49-F238E27FC236}">
                <a16:creationId xmlns:a16="http://schemas.microsoft.com/office/drawing/2014/main" id="{45138694-B38C-A769-E796-37BC9512E816}"/>
              </a:ext>
            </a:extLst>
          </p:cNvPr>
          <p:cNvSpPr txBox="1"/>
          <p:nvPr/>
        </p:nvSpPr>
        <p:spPr>
          <a:xfrm>
            <a:off x="654422" y="655446"/>
            <a:ext cx="10739718" cy="5355312"/>
          </a:xfrm>
          <a:prstGeom prst="rect">
            <a:avLst/>
          </a:prstGeom>
          <a:noFill/>
        </p:spPr>
        <p:txBody>
          <a:bodyPr wrap="square" rtlCol="0">
            <a:spAutoFit/>
          </a:bodyPr>
          <a:lstStyle/>
          <a:p>
            <a:pPr marL="285750" indent="-285750">
              <a:buFont typeface="Wingdings" panose="05000000000000000000" pitchFamily="2" charset="2"/>
              <a:buChar char="ü"/>
            </a:pPr>
            <a:r>
              <a:rPr lang="en-US" sz="1800" b="1" dirty="0"/>
              <a:t>Mandatory Locking</a:t>
            </a:r>
          </a:p>
          <a:p>
            <a:r>
              <a:rPr lang="en-US" sz="1800" dirty="0"/>
              <a:t>In mandatory locking, once a process acquires an exclusive lock, the operating system prevents any other process from accessing the locked file until the lock is released.</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b="1" dirty="0"/>
              <a:t>Advisory Locking</a:t>
            </a:r>
          </a:p>
          <a:p>
            <a:r>
              <a:rPr lang="en-US" sz="1800" dirty="0"/>
              <a:t>In advisory locking, the operating system does not enforce the lock. Instead, programs must be written to manually acquire and release locks before accessing the file.</a:t>
            </a:r>
          </a:p>
          <a:p>
            <a:pPr marL="285750" indent="-285750">
              <a:buFont typeface="Wingdings" panose="05000000000000000000" pitchFamily="2" charset="2"/>
              <a:buChar char="ü"/>
            </a:pPr>
            <a:endParaRPr lang="en-US" sz="1800" b="1" dirty="0"/>
          </a:p>
          <a:p>
            <a:pPr marL="285750" indent="-285750">
              <a:buFont typeface="Wingdings" panose="05000000000000000000" pitchFamily="2" charset="2"/>
              <a:buChar char="ü"/>
            </a:pPr>
            <a:r>
              <a:rPr lang="en-US" sz="1800" b="1" dirty="0"/>
              <a:t>Responsibility for Lock Integrity</a:t>
            </a:r>
          </a:p>
          <a:p>
            <a:r>
              <a:rPr lang="en-US" sz="1800" dirty="0"/>
              <a:t>With mandatory locking, the operating system ensures locking integrity. With advisory locking, it is the responsibility of software developers to properly manage locks.</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b="1" dirty="0"/>
              <a:t>System Differences</a:t>
            </a:r>
          </a:p>
          <a:p>
            <a:r>
              <a:rPr lang="en-US" sz="1800" dirty="0"/>
              <a:t>Generally, Windows operating systems use mandatory locking, whereas UNIX systems use advisory locking.</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b="1" dirty="0"/>
              <a:t>Precautions in Using File Locks</a:t>
            </a:r>
          </a:p>
          <a:p>
            <a:r>
              <a:rPr lang="en-US" sz="1800" dirty="0"/>
              <a:t>File locking requires the same care as process synchronization. Processes should hold locks only while accessing files and must avoid deadlocks when multiple processes attempt to acquire locks.</a:t>
            </a:r>
          </a:p>
        </p:txBody>
      </p:sp>
    </p:spTree>
    <p:extLst>
      <p:ext uri="{BB962C8B-B14F-4D97-AF65-F5344CB8AC3E}">
        <p14:creationId xmlns:p14="http://schemas.microsoft.com/office/powerpoint/2010/main" val="2632361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8D59935A-683D-59BE-3E9B-DF9052E9F8EF}"/>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ACB16BA9-98D1-E69A-84D3-0CC3E3CF53BA}"/>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78D0AFFA-35F0-8354-0CA4-67024CB503D9}"/>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BD7044CA-2C5E-9B72-BD8E-00C0933BEEB4}"/>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Types</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E6604E79-2FF9-3A31-885F-DB3391286571}"/>
              </a:ext>
            </a:extLst>
          </p:cNvPr>
          <p:cNvSpPr txBox="1"/>
          <p:nvPr/>
        </p:nvSpPr>
        <p:spPr>
          <a:xfrm>
            <a:off x="349623" y="1093694"/>
            <a:ext cx="11044517" cy="400110"/>
          </a:xfrm>
          <a:prstGeom prst="rect">
            <a:avLst/>
          </a:prstGeom>
          <a:noFill/>
        </p:spPr>
        <p:txBody>
          <a:bodyPr wrap="square" rtlCol="0">
            <a:spAutoFit/>
          </a:bodyPr>
          <a:lstStyle/>
          <a:p>
            <a:endParaRPr lang="en-US" sz="2000" dirty="0"/>
          </a:p>
        </p:txBody>
      </p:sp>
      <p:sp>
        <p:nvSpPr>
          <p:cNvPr id="2" name="TextBox 1">
            <a:extLst>
              <a:ext uri="{FF2B5EF4-FFF2-40B4-BE49-F238E27FC236}">
                <a16:creationId xmlns:a16="http://schemas.microsoft.com/office/drawing/2014/main" id="{F17F4D42-8FF6-8D7A-473A-8BE085BC62E5}"/>
              </a:ext>
            </a:extLst>
          </p:cNvPr>
          <p:cNvSpPr txBox="1"/>
          <p:nvPr/>
        </p:nvSpPr>
        <p:spPr>
          <a:xfrm>
            <a:off x="224118" y="1165412"/>
            <a:ext cx="11492753" cy="4770537"/>
          </a:xfrm>
          <a:prstGeom prst="rect">
            <a:avLst/>
          </a:prstGeom>
          <a:noFill/>
        </p:spPr>
        <p:txBody>
          <a:bodyPr wrap="square" rtlCol="0">
            <a:spAutoFit/>
          </a:bodyPr>
          <a:lstStyle/>
          <a:p>
            <a:endParaRPr lang="en-US" sz="1600" dirty="0"/>
          </a:p>
          <a:p>
            <a:pPr marL="285750" indent="-285750">
              <a:buFont typeface="Wingdings" panose="05000000000000000000" pitchFamily="2" charset="2"/>
              <a:buChar char="ü"/>
            </a:pPr>
            <a:r>
              <a:rPr lang="en-US" sz="1600" dirty="0"/>
              <a:t>When designing a file system, it is important to decide whether the operating system should recognize and support file types so it can operate on files appropriately.</a:t>
            </a:r>
          </a:p>
          <a:p>
            <a:pPr marL="285750" indent="-285750">
              <a:buFont typeface="Wingdings" panose="05000000000000000000" pitchFamily="2" charset="2"/>
              <a:buChar char="ü"/>
            </a:pPr>
            <a:endParaRPr lang="en-US" sz="1600" dirty="0"/>
          </a:p>
          <a:p>
            <a:endParaRPr lang="en-US" sz="1600" dirty="0"/>
          </a:p>
          <a:p>
            <a:pPr marL="285750" indent="-285750">
              <a:buFont typeface="Wingdings" panose="05000000000000000000" pitchFamily="2" charset="2"/>
              <a:buChar char="ü"/>
            </a:pPr>
            <a:r>
              <a:rPr lang="en-US" sz="1600" dirty="0"/>
              <a:t>A common method to implement file types is by including the type as part of the file name, splitting it into a name and an extension separated by a period (e.g., resume.docx, </a:t>
            </a:r>
            <a:r>
              <a:rPr lang="en-US" sz="1600" dirty="0" err="1"/>
              <a:t>server.c</a:t>
            </a:r>
            <a:r>
              <a:rPr lang="en-US" sz="1600" dirty="0"/>
              <a:t>).</a:t>
            </a:r>
          </a:p>
          <a:p>
            <a:pPr marL="285750" indent="-285750">
              <a:buFont typeface="Wingdings" panose="05000000000000000000" pitchFamily="2" charset="2"/>
              <a:buChar char="ü"/>
            </a:pPr>
            <a:endParaRPr lang="en-US" sz="1600" dirty="0"/>
          </a:p>
          <a:p>
            <a:endParaRPr lang="en-US" sz="1600" dirty="0"/>
          </a:p>
          <a:p>
            <a:pPr marL="285750" indent="-285750">
              <a:buFont typeface="Wingdings" panose="05000000000000000000" pitchFamily="2" charset="2"/>
              <a:buChar char="ü"/>
            </a:pPr>
            <a:r>
              <a:rPr lang="en-US" sz="1600" dirty="0"/>
              <a:t>The file extension indicates the type of the file and the operations that can be performed on it. For example, .com, .exe, and .</a:t>
            </a:r>
            <a:r>
              <a:rPr lang="en-US" sz="1600" dirty="0" err="1"/>
              <a:t>sh</a:t>
            </a:r>
            <a:r>
              <a:rPr lang="en-US" sz="1600" dirty="0"/>
              <a:t> files can be executed.</a:t>
            </a:r>
          </a:p>
          <a:p>
            <a:pPr marL="285750" indent="-285750">
              <a:buFont typeface="Wingdings" panose="05000000000000000000" pitchFamily="2" charset="2"/>
              <a:buChar char="ü"/>
            </a:pPr>
            <a:endParaRPr lang="en-US" sz="1600" dirty="0"/>
          </a:p>
          <a:p>
            <a:endParaRPr lang="en-US" sz="1600" dirty="0"/>
          </a:p>
          <a:p>
            <a:pPr marL="285750" indent="-285750">
              <a:buFont typeface="Wingdings" panose="05000000000000000000" pitchFamily="2" charset="2"/>
              <a:buChar char="ü"/>
            </a:pPr>
            <a:r>
              <a:rPr lang="en-US" sz="1600" dirty="0"/>
              <a:t>Application programs use extensions to identify the files they process, such as .java for Java source files and .doc or .docx for Microsoft Word documents.</a:t>
            </a:r>
          </a:p>
          <a:p>
            <a:pPr marL="285750" indent="-285750">
              <a:buFont typeface="Wingdings" panose="05000000000000000000" pitchFamily="2" charset="2"/>
              <a:buChar char="ü"/>
            </a:pPr>
            <a:endParaRPr lang="en-US" sz="1600" dirty="0"/>
          </a:p>
          <a:p>
            <a:endParaRPr lang="en-US" sz="1600" dirty="0"/>
          </a:p>
          <a:p>
            <a:pPr marL="285750" indent="-285750">
              <a:buFont typeface="Wingdings" panose="05000000000000000000" pitchFamily="2" charset="2"/>
              <a:buChar char="ü"/>
            </a:pPr>
            <a:r>
              <a:rPr lang="en-US" sz="1600" dirty="0"/>
              <a:t>File extensions are not always required and may act as “hints” to applications, since they are not necessarily enforced by the operating system..</a:t>
            </a:r>
          </a:p>
        </p:txBody>
      </p:sp>
    </p:spTree>
    <p:extLst>
      <p:ext uri="{BB962C8B-B14F-4D97-AF65-F5344CB8AC3E}">
        <p14:creationId xmlns:p14="http://schemas.microsoft.com/office/powerpoint/2010/main" val="1492271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2706BF65-7F67-E76E-DBB6-A7AA5DF6961F}"/>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978302B1-E5C4-A4E8-6493-88AC7EE6F5E7}"/>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E3EC6275-0B27-F368-AA72-04EF15A92CB8}"/>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0423E11D-6275-3C74-AE37-4D9A323C509C}"/>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Types</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252BBDDE-0372-4558-A51A-6CAE78FB44A3}"/>
              </a:ext>
            </a:extLst>
          </p:cNvPr>
          <p:cNvSpPr txBox="1"/>
          <p:nvPr/>
        </p:nvSpPr>
        <p:spPr>
          <a:xfrm>
            <a:off x="349623" y="1093694"/>
            <a:ext cx="11044517" cy="400110"/>
          </a:xfrm>
          <a:prstGeom prst="rect">
            <a:avLst/>
          </a:prstGeom>
          <a:noFill/>
        </p:spPr>
        <p:txBody>
          <a:bodyPr wrap="square" rtlCol="0">
            <a:spAutoFit/>
          </a:bodyPr>
          <a:lstStyle/>
          <a:p>
            <a:endParaRPr lang="en-US" sz="2000" dirty="0"/>
          </a:p>
        </p:txBody>
      </p:sp>
      <p:pic>
        <p:nvPicPr>
          <p:cNvPr id="5" name="Picture 4">
            <a:extLst>
              <a:ext uri="{FF2B5EF4-FFF2-40B4-BE49-F238E27FC236}">
                <a16:creationId xmlns:a16="http://schemas.microsoft.com/office/drawing/2014/main" id="{8CEEB7D0-A9FB-60F6-DDE9-9B66CBCB9EA8}"/>
              </a:ext>
            </a:extLst>
          </p:cNvPr>
          <p:cNvPicPr>
            <a:picLocks noChangeAspect="1"/>
          </p:cNvPicPr>
          <p:nvPr/>
        </p:nvPicPr>
        <p:blipFill>
          <a:blip r:embed="rId3"/>
          <a:stretch>
            <a:fillRect/>
          </a:stretch>
        </p:blipFill>
        <p:spPr>
          <a:xfrm>
            <a:off x="1193835" y="655445"/>
            <a:ext cx="7071623" cy="5832667"/>
          </a:xfrm>
          <a:prstGeom prst="rect">
            <a:avLst/>
          </a:prstGeom>
        </p:spPr>
      </p:pic>
    </p:spTree>
    <p:extLst>
      <p:ext uri="{BB962C8B-B14F-4D97-AF65-F5344CB8AC3E}">
        <p14:creationId xmlns:p14="http://schemas.microsoft.com/office/powerpoint/2010/main" val="1062976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214CD2E9-8640-136D-1F35-FCB5DC0A47EB}"/>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64ECD56F-C673-B4B8-7036-052D9F3A0CB4}"/>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9AC700CD-6268-E26C-CEA2-8E2B44137D1E}"/>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C1B927EE-5229-B9B2-AC96-251225A1693F}"/>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a:t>
            </a:r>
            <a:r>
              <a:rPr lang="en-US" sz="3600" b="1" dirty="0">
                <a:solidFill>
                  <a:schemeClr val="lt1"/>
                </a:solidFill>
                <a:latin typeface="Times New Roman"/>
                <a:ea typeface="Times New Roman"/>
                <a:cs typeface="Times New Roman"/>
                <a:sym typeface="Times New Roman"/>
              </a:rPr>
              <a:t>Structure</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5854DABE-4AC3-73CE-280A-F54229F2DEC1}"/>
              </a:ext>
            </a:extLst>
          </p:cNvPr>
          <p:cNvSpPr txBox="1"/>
          <p:nvPr/>
        </p:nvSpPr>
        <p:spPr>
          <a:xfrm>
            <a:off x="349623" y="1093694"/>
            <a:ext cx="11044517" cy="400110"/>
          </a:xfrm>
          <a:prstGeom prst="rect">
            <a:avLst/>
          </a:prstGeom>
          <a:noFill/>
        </p:spPr>
        <p:txBody>
          <a:bodyPr wrap="square" rtlCol="0">
            <a:spAutoFit/>
          </a:bodyPr>
          <a:lstStyle/>
          <a:p>
            <a:endParaRPr lang="en-US" sz="2000" dirty="0"/>
          </a:p>
        </p:txBody>
      </p:sp>
      <p:sp>
        <p:nvSpPr>
          <p:cNvPr id="6" name="TextBox 5">
            <a:extLst>
              <a:ext uri="{FF2B5EF4-FFF2-40B4-BE49-F238E27FC236}">
                <a16:creationId xmlns:a16="http://schemas.microsoft.com/office/drawing/2014/main" id="{A2719A70-C8F0-D96F-979F-C4EEEF3A776A}"/>
              </a:ext>
            </a:extLst>
          </p:cNvPr>
          <p:cNvSpPr txBox="1"/>
          <p:nvPr/>
        </p:nvSpPr>
        <p:spPr>
          <a:xfrm>
            <a:off x="349623" y="766732"/>
            <a:ext cx="11492754" cy="5016758"/>
          </a:xfrm>
          <a:prstGeom prst="rect">
            <a:avLst/>
          </a:prstGeom>
          <a:noFill/>
        </p:spPr>
        <p:txBody>
          <a:bodyPr wrap="square">
            <a:spAutoFit/>
          </a:bodyPr>
          <a:lstStyle/>
          <a:p>
            <a:pPr marL="285750" indent="-285750">
              <a:buFont typeface="Wingdings" panose="05000000000000000000" pitchFamily="2" charset="2"/>
              <a:buChar char="ü"/>
            </a:pPr>
            <a:r>
              <a:rPr lang="en-US" sz="2000" dirty="0"/>
              <a:t>File types can indicate the internal structure of a file, and some files—such as executable files—must follow a specific structure understood by the operating system so it knows how to load and run them.</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Some operating systems support multiple file structures with special operations, but this increases the size and complexity of the operating system.</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If the operating system supports only certain predefined file types, problems may arise when applications require new structures that are not supported.</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For example, in a system supporting only text and executable binary files, an encrypted file may not fit either type, forcing users to misuse the file-type mechanism or abandon the idea.</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To avoid such issues, systems like UNIX treat files simply as sequences of 8-bit bytes with no interpretation by the OS, giving maximum flexibility, although the OS must still support at least the structure of executable files.</a:t>
            </a:r>
          </a:p>
        </p:txBody>
      </p:sp>
    </p:spTree>
    <p:extLst>
      <p:ext uri="{BB962C8B-B14F-4D97-AF65-F5344CB8AC3E}">
        <p14:creationId xmlns:p14="http://schemas.microsoft.com/office/powerpoint/2010/main" val="3253393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AD0F28C3-3473-4042-11B3-BD0D5F12A012}"/>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BFCD05B2-14B4-7782-9ADC-C7B214C80D4D}"/>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FD102555-3D91-A4FC-4E29-7AB5C5D236CA}"/>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EC70A02B-0A89-8A31-2DD0-B48455FE219D}"/>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Internal File </a:t>
            </a:r>
            <a:r>
              <a:rPr lang="en-US" sz="3600" b="1" dirty="0">
                <a:solidFill>
                  <a:schemeClr val="lt1"/>
                </a:solidFill>
                <a:latin typeface="Times New Roman"/>
                <a:ea typeface="Times New Roman"/>
                <a:cs typeface="Times New Roman"/>
                <a:sym typeface="Times New Roman"/>
              </a:rPr>
              <a:t>Structure</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ED41FD6A-6C3F-8CAA-A536-5AD285B237B5}"/>
              </a:ext>
            </a:extLst>
          </p:cNvPr>
          <p:cNvSpPr txBox="1"/>
          <p:nvPr/>
        </p:nvSpPr>
        <p:spPr>
          <a:xfrm>
            <a:off x="349623" y="1093694"/>
            <a:ext cx="11044517" cy="400110"/>
          </a:xfrm>
          <a:prstGeom prst="rect">
            <a:avLst/>
          </a:prstGeom>
          <a:noFill/>
        </p:spPr>
        <p:txBody>
          <a:bodyPr wrap="square" rtlCol="0">
            <a:spAutoFit/>
          </a:bodyPr>
          <a:lstStyle/>
          <a:p>
            <a:endParaRPr lang="en-US" sz="2000" dirty="0"/>
          </a:p>
        </p:txBody>
      </p:sp>
      <p:sp>
        <p:nvSpPr>
          <p:cNvPr id="3" name="TextBox 2">
            <a:extLst>
              <a:ext uri="{FF2B5EF4-FFF2-40B4-BE49-F238E27FC236}">
                <a16:creationId xmlns:a16="http://schemas.microsoft.com/office/drawing/2014/main" id="{6A4CFD0A-9A50-D7D5-89A8-E471E540EFC7}"/>
              </a:ext>
            </a:extLst>
          </p:cNvPr>
          <p:cNvSpPr txBox="1"/>
          <p:nvPr/>
        </p:nvSpPr>
        <p:spPr>
          <a:xfrm>
            <a:off x="349623" y="774372"/>
            <a:ext cx="11573436" cy="5632311"/>
          </a:xfrm>
          <a:prstGeom prst="rect">
            <a:avLst/>
          </a:prstGeom>
          <a:noFill/>
        </p:spPr>
        <p:txBody>
          <a:bodyPr wrap="square">
            <a:spAutoFit/>
          </a:bodyPr>
          <a:lstStyle/>
          <a:p>
            <a:pPr marL="342900" indent="-342900">
              <a:buFont typeface="Wingdings" panose="05000000000000000000" pitchFamily="2" charset="2"/>
              <a:buChar char="ü"/>
            </a:pPr>
            <a:r>
              <a:rPr lang="en-US" sz="2000" dirty="0"/>
              <a:t>Disks store data in fixed-size units called blocks, and all input/output operations are performed in these blocks.</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The actual data inside a file (logical records) may not match the fixed physical block size, and logical records can even vary in length.</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To handle this difference, logical records are packed into physical disk blocks, which solves the size mismatch problem.</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In systems like UNIX, a file is treated as a sequence of bytes, where each byte has an offset, and the operating system automatically packs and unpacks these bytes into blocks (for example, 512 bytes per block).</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All basic I/O operations work in terms of blocks, and the conversion from logical records to physical blocks is handled by software (either by the OS or the application).</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Since disk space is allocated only in whole blocks, the last block of a file may not be fully used, leading to internal fragmentation, and larger block sizes cause more wasted space.</a:t>
            </a:r>
          </a:p>
        </p:txBody>
      </p:sp>
    </p:spTree>
    <p:extLst>
      <p:ext uri="{BB962C8B-B14F-4D97-AF65-F5344CB8AC3E}">
        <p14:creationId xmlns:p14="http://schemas.microsoft.com/office/powerpoint/2010/main" val="2072918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03F4F624-011F-72D2-B2FF-0017E8B33D6C}"/>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37A11DE9-3928-AB9C-2709-AD6CCA290776}"/>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151C789E-0206-9A85-CD8C-97C2393A8151}"/>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Access methods</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5F8B848D-B885-F0FB-6469-EC8681047951}"/>
              </a:ext>
            </a:extLst>
          </p:cNvPr>
          <p:cNvSpPr txBox="1"/>
          <p:nvPr/>
        </p:nvSpPr>
        <p:spPr>
          <a:xfrm>
            <a:off x="340658" y="655446"/>
            <a:ext cx="11044517" cy="6001643"/>
          </a:xfrm>
          <a:prstGeom prst="rect">
            <a:avLst/>
          </a:prstGeom>
          <a:noFill/>
        </p:spPr>
        <p:txBody>
          <a:bodyPr wrap="square" rtlCol="0">
            <a:spAutoFit/>
          </a:bodyPr>
          <a:lstStyle/>
          <a:p>
            <a:r>
              <a:rPr lang="en-US" sz="2000" dirty="0"/>
              <a:t>Files store information, and when this information is needed, it must be accessed and read into memory. Different operating systems may support one or multiple access methods.</a:t>
            </a:r>
          </a:p>
          <a:p>
            <a:endParaRPr lang="en-US" sz="2000" dirty="0"/>
          </a:p>
          <a:p>
            <a:r>
              <a:rPr lang="en-US" sz="2400" b="1" dirty="0"/>
              <a:t>Sequential Access</a:t>
            </a:r>
          </a:p>
          <a:p>
            <a:r>
              <a:rPr lang="en-US" sz="2000" dirty="0"/>
              <a:t>Sequential access is the simplest and most common access method, where information is processed in order, one record after another.</a:t>
            </a:r>
          </a:p>
          <a:p>
            <a:endParaRPr lang="en-US" sz="2000" dirty="0"/>
          </a:p>
          <a:p>
            <a:r>
              <a:rPr lang="en-US" sz="2000" dirty="0"/>
              <a:t>Common Usage</a:t>
            </a:r>
          </a:p>
          <a:p>
            <a:r>
              <a:rPr lang="en-US" sz="2000" dirty="0"/>
              <a:t>Many programs such as editors and compilers use sequential access to read and process files.</a:t>
            </a:r>
          </a:p>
          <a:p>
            <a:endParaRPr lang="en-US" sz="2000" dirty="0"/>
          </a:p>
          <a:p>
            <a:r>
              <a:rPr lang="en-US" sz="2000" dirty="0"/>
              <a:t>Read and Write Operations</a:t>
            </a:r>
          </a:p>
          <a:p>
            <a:r>
              <a:rPr lang="en-US" sz="2000" dirty="0"/>
              <a:t>In sequential access, read next() reads the next portion of the file and moves the file pointer forward, while write next() adds data to the end of the file and updates the pointer to the new end.</a:t>
            </a:r>
          </a:p>
          <a:p>
            <a:endParaRPr lang="en-US" sz="2000" dirty="0"/>
          </a:p>
          <a:p>
            <a:r>
              <a:rPr lang="en-US" sz="2000" dirty="0"/>
              <a:t>File Pointer and Movement</a:t>
            </a:r>
          </a:p>
          <a:p>
            <a:r>
              <a:rPr lang="en-US" sz="2000" dirty="0"/>
              <a:t>The file can be reset to the beginning, and in some systems, it is possible to move forward or backward by a certain number of records. This method is based on the tape model of a file and works on both sequential and random-access devices.</a:t>
            </a:r>
          </a:p>
        </p:txBody>
      </p:sp>
    </p:spTree>
    <p:extLst>
      <p:ext uri="{BB962C8B-B14F-4D97-AF65-F5344CB8AC3E}">
        <p14:creationId xmlns:p14="http://schemas.microsoft.com/office/powerpoint/2010/main" val="3376525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ADFDC9B4-627E-6C11-7AA2-F4A63283AEDF}"/>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420EF156-0289-FB01-FF9D-90399799FD74}"/>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ECF6BE5A-7116-0858-8B3A-EF5224CBA55F}"/>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Access methods</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04B9BA71-CAC2-4F4A-46ED-43FFF8384F75}"/>
              </a:ext>
            </a:extLst>
          </p:cNvPr>
          <p:cNvPicPr>
            <a:picLocks noChangeAspect="1"/>
          </p:cNvPicPr>
          <p:nvPr/>
        </p:nvPicPr>
        <p:blipFill>
          <a:blip r:embed="rId3"/>
          <a:stretch>
            <a:fillRect/>
          </a:stretch>
        </p:blipFill>
        <p:spPr>
          <a:xfrm>
            <a:off x="2726389" y="1749388"/>
            <a:ext cx="6507257" cy="3082588"/>
          </a:xfrm>
          <a:prstGeom prst="rect">
            <a:avLst/>
          </a:prstGeom>
        </p:spPr>
      </p:pic>
    </p:spTree>
    <p:extLst>
      <p:ext uri="{BB962C8B-B14F-4D97-AF65-F5344CB8AC3E}">
        <p14:creationId xmlns:p14="http://schemas.microsoft.com/office/powerpoint/2010/main" val="2259225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99BEC76B-B704-9A5C-0871-7BFB0511842E}"/>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78A5A11F-D427-F7B0-6920-5E735F266D7B}"/>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C612E8C0-F825-C873-FE44-9D317257F2DF}"/>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Access methods</a:t>
            </a:r>
            <a:endParaRPr sz="3600" b="1" i="0" u="none" strike="noStrike" cap="none" dirty="0">
              <a:solidFill>
                <a:schemeClr val="lt1"/>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28FAB08-4920-9C35-4783-A339677CC1C2}"/>
              </a:ext>
            </a:extLst>
          </p:cNvPr>
          <p:cNvSpPr txBox="1"/>
          <p:nvPr/>
        </p:nvSpPr>
        <p:spPr>
          <a:xfrm>
            <a:off x="85165" y="655446"/>
            <a:ext cx="12205447" cy="3970318"/>
          </a:xfrm>
          <a:prstGeom prst="rect">
            <a:avLst/>
          </a:prstGeom>
          <a:noFill/>
        </p:spPr>
        <p:txBody>
          <a:bodyPr wrap="square" rtlCol="0">
            <a:spAutoFit/>
          </a:bodyPr>
          <a:lstStyle/>
          <a:p>
            <a:r>
              <a:rPr lang="en-US" sz="2400" b="1" dirty="0"/>
              <a:t>Direct Method</a:t>
            </a:r>
          </a:p>
          <a:p>
            <a:endParaRPr lang="en-US" sz="2400" b="1" dirty="0"/>
          </a:p>
          <a:p>
            <a:pPr algn="just"/>
            <a:r>
              <a:rPr lang="en-US" sz="1800" dirty="0"/>
              <a:t>Direct access (or relative access) is a file access method where a file is treated as a set of fixed-length records/blocks, and any record can be read or written in any order. Since disks support random access, the system can directly jump to any block such as block 14, then block 53, and then write to block 7 without following sequence. This method is highly useful when quick access to specific information is needed.</a:t>
            </a:r>
          </a:p>
          <a:p>
            <a:pPr algn="just"/>
            <a:endParaRPr lang="en-US" sz="1800" dirty="0"/>
          </a:p>
          <a:p>
            <a:pPr algn="just"/>
            <a:r>
              <a:rPr lang="en-US" sz="1800" dirty="0"/>
              <a:t>Direct-access files are commonly used in databases and reservation systems. For example, in an airline reservation system, the details of flight 713 can be stored in block 713, so the system can directly access that block to check available seats. Similarly, for large datasets like customer details, the system may use a hash function or an in-memory index to locate the correct block quickly. File operations in direct access include read(n) and write(n), where n is the block number, or alternatively use position file(n) followed by read next().</a:t>
            </a:r>
          </a:p>
          <a:p>
            <a:endParaRPr lang="en-US" sz="2400" b="1" dirty="0"/>
          </a:p>
        </p:txBody>
      </p:sp>
    </p:spTree>
    <p:extLst>
      <p:ext uri="{BB962C8B-B14F-4D97-AF65-F5344CB8AC3E}">
        <p14:creationId xmlns:p14="http://schemas.microsoft.com/office/powerpoint/2010/main" val="1378248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7A30C72C-D384-BF57-9E0D-CD4A5C2AE894}"/>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1FB3F89C-F2CA-63AA-0B72-FA02B2582A2F}"/>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FED4D747-0D2F-F5C5-0FEC-B83B39D64893}"/>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Access methods</a:t>
            </a:r>
            <a:endParaRPr sz="3600" b="1" i="0" u="none" strike="noStrike" cap="none" dirty="0">
              <a:solidFill>
                <a:schemeClr val="lt1"/>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1C12087F-615F-E115-31B5-C800FAB44244}"/>
              </a:ext>
            </a:extLst>
          </p:cNvPr>
          <p:cNvSpPr txBox="1"/>
          <p:nvPr/>
        </p:nvSpPr>
        <p:spPr>
          <a:xfrm>
            <a:off x="313765" y="887506"/>
            <a:ext cx="10757647" cy="3693319"/>
          </a:xfrm>
          <a:prstGeom prst="rect">
            <a:avLst/>
          </a:prstGeom>
          <a:noFill/>
        </p:spPr>
        <p:txBody>
          <a:bodyPr wrap="square" rtlCol="0">
            <a:spAutoFit/>
          </a:bodyPr>
          <a:lstStyle/>
          <a:p>
            <a:r>
              <a:rPr lang="en-US" sz="2400" b="1" dirty="0"/>
              <a:t>Direct Method</a:t>
            </a:r>
          </a:p>
          <a:p>
            <a:endParaRPr lang="en-US" sz="2400" b="1" dirty="0"/>
          </a:p>
          <a:p>
            <a:pPr algn="just"/>
            <a:r>
              <a:rPr lang="en-US" sz="1800" dirty="0"/>
              <a:t>Direct access (or relative access) is a file access method where a file is treated as a set of fixed-length records/blocks, and any record can be read or written in any order. Since disks support random access, the system can In direct access, the block number used is usually a relative block number, meaning it is counted from the start of the file (0, 1, 2, ...), not the actual physical disk address. </a:t>
            </a:r>
          </a:p>
          <a:p>
            <a:pPr algn="just"/>
            <a:endParaRPr lang="en-US" sz="1800" dirty="0"/>
          </a:p>
          <a:p>
            <a:pPr algn="just"/>
            <a:r>
              <a:rPr lang="en-US" sz="1800" dirty="0"/>
              <a:t>This helps the OS decide where to place the file and prevents users from accessing unauthorized disk areas. If each record has fixed length L, then record N is located at byte position L × N inside the file (assuming first record is N = 0). Sequential access can be easily simulated in direct access using a current pointer variable, but simulating direct access on a purely sequential file is inefficient.</a:t>
            </a:r>
          </a:p>
          <a:p>
            <a:endParaRPr lang="en-US" sz="2400" b="1" dirty="0"/>
          </a:p>
        </p:txBody>
      </p:sp>
      <p:pic>
        <p:nvPicPr>
          <p:cNvPr id="4" name="Picture 3">
            <a:extLst>
              <a:ext uri="{FF2B5EF4-FFF2-40B4-BE49-F238E27FC236}">
                <a16:creationId xmlns:a16="http://schemas.microsoft.com/office/drawing/2014/main" id="{4186722A-3CE5-7BD3-712A-C8F3C835E680}"/>
              </a:ext>
            </a:extLst>
          </p:cNvPr>
          <p:cNvPicPr>
            <a:picLocks noChangeAspect="1"/>
          </p:cNvPicPr>
          <p:nvPr/>
        </p:nvPicPr>
        <p:blipFill>
          <a:blip r:embed="rId3"/>
          <a:stretch>
            <a:fillRect/>
          </a:stretch>
        </p:blipFill>
        <p:spPr>
          <a:xfrm>
            <a:off x="2182688" y="4406060"/>
            <a:ext cx="6405500" cy="2133785"/>
          </a:xfrm>
          <a:prstGeom prst="rect">
            <a:avLst/>
          </a:prstGeom>
        </p:spPr>
      </p:pic>
    </p:spTree>
    <p:extLst>
      <p:ext uri="{BB962C8B-B14F-4D97-AF65-F5344CB8AC3E}">
        <p14:creationId xmlns:p14="http://schemas.microsoft.com/office/powerpoint/2010/main" val="2201745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72DAA8CF-F939-9FAB-71FC-749128BDC9B7}"/>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A98E7217-E17E-CEDC-1F01-96E132E48644}"/>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8F6243FE-2731-2D05-9373-5EF862162502}"/>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Access methods</a:t>
            </a:r>
            <a:endParaRPr sz="3600" b="1" i="0" u="none" strike="noStrike" cap="none" dirty="0">
              <a:solidFill>
                <a:schemeClr val="lt1"/>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7749B323-D03F-18DF-8054-9D11C7B0DE1A}"/>
              </a:ext>
            </a:extLst>
          </p:cNvPr>
          <p:cNvPicPr>
            <a:picLocks noChangeAspect="1"/>
          </p:cNvPicPr>
          <p:nvPr/>
        </p:nvPicPr>
        <p:blipFill>
          <a:blip r:embed="rId3"/>
          <a:stretch>
            <a:fillRect/>
          </a:stretch>
        </p:blipFill>
        <p:spPr>
          <a:xfrm>
            <a:off x="2393576" y="1104698"/>
            <a:ext cx="6678292" cy="5216080"/>
          </a:xfrm>
          <a:prstGeom prst="rect">
            <a:avLst/>
          </a:prstGeom>
        </p:spPr>
      </p:pic>
    </p:spTree>
    <p:extLst>
      <p:ext uri="{BB962C8B-B14F-4D97-AF65-F5344CB8AC3E}">
        <p14:creationId xmlns:p14="http://schemas.microsoft.com/office/powerpoint/2010/main" val="4031958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E9FB0615-F58A-A966-A7F6-911C0CFD3FD8}"/>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FFF92282-3529-4853-F3C8-B09DDB8760CD}"/>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9229B9A3-1A70-77B9-1508-F89587E3E22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Access methods</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225ECC4F-F703-A0DE-28C2-7147BEA6B2B2}"/>
              </a:ext>
            </a:extLst>
          </p:cNvPr>
          <p:cNvPicPr>
            <a:picLocks noChangeAspect="1"/>
          </p:cNvPicPr>
          <p:nvPr/>
        </p:nvPicPr>
        <p:blipFill>
          <a:blip r:embed="rId3"/>
          <a:stretch>
            <a:fillRect/>
          </a:stretch>
        </p:blipFill>
        <p:spPr>
          <a:xfrm>
            <a:off x="2929615" y="959906"/>
            <a:ext cx="6332769" cy="4938188"/>
          </a:xfrm>
          <a:prstGeom prst="rect">
            <a:avLst/>
          </a:prstGeom>
        </p:spPr>
      </p:pic>
    </p:spTree>
    <p:extLst>
      <p:ext uri="{BB962C8B-B14F-4D97-AF65-F5344CB8AC3E}">
        <p14:creationId xmlns:p14="http://schemas.microsoft.com/office/powerpoint/2010/main" val="1994987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54B9F7B9-8D1B-E614-2369-031BDB860C44}"/>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7EB143FA-A023-6B55-2045-F163860B0557}"/>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43F189A8-2160-F3AE-C7E7-B6BA4FE6D922}"/>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Disk and Directory Structures</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F8E1D66F-1C5D-F9DD-F619-F3C39A9B94B5}"/>
              </a:ext>
            </a:extLst>
          </p:cNvPr>
          <p:cNvPicPr>
            <a:picLocks noChangeAspect="1"/>
          </p:cNvPicPr>
          <p:nvPr/>
        </p:nvPicPr>
        <p:blipFill>
          <a:blip r:embed="rId3"/>
          <a:stretch>
            <a:fillRect/>
          </a:stretch>
        </p:blipFill>
        <p:spPr>
          <a:xfrm>
            <a:off x="2097741" y="1268543"/>
            <a:ext cx="7164643" cy="4888510"/>
          </a:xfrm>
          <a:prstGeom prst="rect">
            <a:avLst/>
          </a:prstGeom>
        </p:spPr>
      </p:pic>
    </p:spTree>
    <p:extLst>
      <p:ext uri="{BB962C8B-B14F-4D97-AF65-F5344CB8AC3E}">
        <p14:creationId xmlns:p14="http://schemas.microsoft.com/office/powerpoint/2010/main" val="974062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3347A5C8-2421-C688-C564-F9E7EF062DB6}"/>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6789E212-C40F-4EE9-8546-24FFDB409618}"/>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1876010B-5987-D658-3DEF-F24AADD8C74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Disk and Directory Structures</a:t>
            </a:r>
            <a:endParaRPr sz="3600" b="1" i="0" u="none" strike="noStrike" cap="none" dirty="0">
              <a:solidFill>
                <a:schemeClr val="lt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70F5033A-73A1-E524-84D4-B3016C9945A2}"/>
              </a:ext>
            </a:extLst>
          </p:cNvPr>
          <p:cNvPicPr>
            <a:picLocks noChangeAspect="1"/>
          </p:cNvPicPr>
          <p:nvPr/>
        </p:nvPicPr>
        <p:blipFill>
          <a:blip r:embed="rId3"/>
          <a:stretch>
            <a:fillRect/>
          </a:stretch>
        </p:blipFill>
        <p:spPr>
          <a:xfrm>
            <a:off x="959224" y="1455248"/>
            <a:ext cx="8566073" cy="4930251"/>
          </a:xfrm>
          <a:prstGeom prst="rect">
            <a:avLst/>
          </a:prstGeom>
        </p:spPr>
      </p:pic>
      <p:sp>
        <p:nvSpPr>
          <p:cNvPr id="5" name="TextBox 4">
            <a:extLst>
              <a:ext uri="{FF2B5EF4-FFF2-40B4-BE49-F238E27FC236}">
                <a16:creationId xmlns:a16="http://schemas.microsoft.com/office/drawing/2014/main" id="{613C96D9-80DA-DF77-82D6-44DC301B9DDA}"/>
              </a:ext>
            </a:extLst>
          </p:cNvPr>
          <p:cNvSpPr txBox="1"/>
          <p:nvPr/>
        </p:nvSpPr>
        <p:spPr>
          <a:xfrm>
            <a:off x="914400" y="950259"/>
            <a:ext cx="2698376" cy="523220"/>
          </a:xfrm>
          <a:prstGeom prst="rect">
            <a:avLst/>
          </a:prstGeom>
          <a:noFill/>
        </p:spPr>
        <p:txBody>
          <a:bodyPr wrap="square" rtlCol="0">
            <a:spAutoFit/>
          </a:bodyPr>
          <a:lstStyle/>
          <a:p>
            <a:r>
              <a:rPr lang="en-US" sz="2800" b="1" dirty="0"/>
              <a:t>Disk Structure</a:t>
            </a:r>
          </a:p>
        </p:txBody>
      </p:sp>
    </p:spTree>
    <p:extLst>
      <p:ext uri="{BB962C8B-B14F-4D97-AF65-F5344CB8AC3E}">
        <p14:creationId xmlns:p14="http://schemas.microsoft.com/office/powerpoint/2010/main" val="2899253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DDB51F0A-CBD8-E1D5-8A42-B117530FE561}"/>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9C0FF703-78C9-3842-EADF-9376F4174398}"/>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B8CD00E0-E6CA-E399-195A-9D370E62EB72}"/>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Disk and Directory Structures</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1872296-D5D6-1BBC-ECB8-9D2AB08D7401}"/>
              </a:ext>
            </a:extLst>
          </p:cNvPr>
          <p:cNvPicPr>
            <a:picLocks noChangeAspect="1"/>
          </p:cNvPicPr>
          <p:nvPr/>
        </p:nvPicPr>
        <p:blipFill>
          <a:blip r:embed="rId3"/>
          <a:stretch>
            <a:fillRect/>
          </a:stretch>
        </p:blipFill>
        <p:spPr>
          <a:xfrm>
            <a:off x="1389529" y="1295214"/>
            <a:ext cx="7968113" cy="5212785"/>
          </a:xfrm>
          <a:prstGeom prst="rect">
            <a:avLst/>
          </a:prstGeom>
        </p:spPr>
      </p:pic>
    </p:spTree>
    <p:extLst>
      <p:ext uri="{BB962C8B-B14F-4D97-AF65-F5344CB8AC3E}">
        <p14:creationId xmlns:p14="http://schemas.microsoft.com/office/powerpoint/2010/main" val="2642776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5459A623-84E2-B55A-2BE4-A63785F60538}"/>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B2D92141-5467-010E-2684-988F29AED9AE}"/>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3B2EE3CB-FC06-0EE1-B35F-6D005622938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Disk and Directory Structures</a:t>
            </a:r>
            <a:endParaRPr sz="3600" b="1" i="0" u="none" strike="noStrike" cap="none" dirty="0">
              <a:solidFill>
                <a:schemeClr val="lt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50356CB2-8266-8EC6-AA61-F7418CD637FD}"/>
              </a:ext>
            </a:extLst>
          </p:cNvPr>
          <p:cNvPicPr>
            <a:picLocks noChangeAspect="1"/>
          </p:cNvPicPr>
          <p:nvPr/>
        </p:nvPicPr>
        <p:blipFill>
          <a:blip r:embed="rId3"/>
          <a:stretch>
            <a:fillRect/>
          </a:stretch>
        </p:blipFill>
        <p:spPr>
          <a:xfrm>
            <a:off x="1775012" y="982767"/>
            <a:ext cx="7685509" cy="5587879"/>
          </a:xfrm>
          <a:prstGeom prst="rect">
            <a:avLst/>
          </a:prstGeom>
        </p:spPr>
      </p:pic>
    </p:spTree>
    <p:extLst>
      <p:ext uri="{BB962C8B-B14F-4D97-AF65-F5344CB8AC3E}">
        <p14:creationId xmlns:p14="http://schemas.microsoft.com/office/powerpoint/2010/main" val="595677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EC7EADA6-C246-6561-5BBD-2C37C6692FBD}"/>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39500C81-334D-996E-7419-C884557F6635}"/>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E106E0D4-CE20-56A8-AC31-8A9080A6FB1B}"/>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Disk and Directory Structures</a:t>
            </a:r>
            <a:endParaRPr sz="3600" b="1" i="0" u="none" strike="noStrike" cap="none" dirty="0">
              <a:solidFill>
                <a:schemeClr val="lt1"/>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47CAED22-9132-3D69-5509-17E79526CAA8}"/>
              </a:ext>
            </a:extLst>
          </p:cNvPr>
          <p:cNvSpPr txBox="1"/>
          <p:nvPr/>
        </p:nvSpPr>
        <p:spPr>
          <a:xfrm>
            <a:off x="555812" y="851647"/>
            <a:ext cx="6140823" cy="461665"/>
          </a:xfrm>
          <a:prstGeom prst="rect">
            <a:avLst/>
          </a:prstGeom>
          <a:noFill/>
        </p:spPr>
        <p:txBody>
          <a:bodyPr wrap="square" rtlCol="0">
            <a:spAutoFit/>
          </a:bodyPr>
          <a:lstStyle/>
          <a:p>
            <a:r>
              <a:rPr lang="en-US" sz="2400" b="1" dirty="0"/>
              <a:t>Operations Performed on Directory</a:t>
            </a:r>
          </a:p>
        </p:txBody>
      </p:sp>
      <p:pic>
        <p:nvPicPr>
          <p:cNvPr id="7" name="Picture 6">
            <a:extLst>
              <a:ext uri="{FF2B5EF4-FFF2-40B4-BE49-F238E27FC236}">
                <a16:creationId xmlns:a16="http://schemas.microsoft.com/office/drawing/2014/main" id="{DF9FE64C-27AC-D937-E06E-4C00D2EED33F}"/>
              </a:ext>
            </a:extLst>
          </p:cNvPr>
          <p:cNvPicPr>
            <a:picLocks noChangeAspect="1"/>
          </p:cNvPicPr>
          <p:nvPr/>
        </p:nvPicPr>
        <p:blipFill>
          <a:blip r:embed="rId3"/>
          <a:stretch>
            <a:fillRect/>
          </a:stretch>
        </p:blipFill>
        <p:spPr>
          <a:xfrm>
            <a:off x="1030942" y="1611224"/>
            <a:ext cx="9538446" cy="4662453"/>
          </a:xfrm>
          <a:prstGeom prst="rect">
            <a:avLst/>
          </a:prstGeom>
        </p:spPr>
      </p:pic>
    </p:spTree>
    <p:extLst>
      <p:ext uri="{BB962C8B-B14F-4D97-AF65-F5344CB8AC3E}">
        <p14:creationId xmlns:p14="http://schemas.microsoft.com/office/powerpoint/2010/main" val="29786465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9D591002-7724-9BBC-F103-178348A9726C}"/>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C32CE061-E879-A2D5-05F3-3EAFDEF48487}"/>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19402535-8CF6-B1F9-3BA3-29411C4A536F}"/>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87891635-0D35-0A0E-8629-DD39030A643F}"/>
              </a:ext>
            </a:extLst>
          </p:cNvPr>
          <p:cNvPicPr>
            <a:picLocks noChangeAspect="1"/>
          </p:cNvPicPr>
          <p:nvPr/>
        </p:nvPicPr>
        <p:blipFill>
          <a:blip r:embed="rId3"/>
          <a:stretch>
            <a:fillRect/>
          </a:stretch>
        </p:blipFill>
        <p:spPr>
          <a:xfrm>
            <a:off x="1068143" y="851647"/>
            <a:ext cx="9601019" cy="4921623"/>
          </a:xfrm>
          <a:prstGeom prst="rect">
            <a:avLst/>
          </a:prstGeom>
        </p:spPr>
      </p:pic>
    </p:spTree>
    <p:extLst>
      <p:ext uri="{BB962C8B-B14F-4D97-AF65-F5344CB8AC3E}">
        <p14:creationId xmlns:p14="http://schemas.microsoft.com/office/powerpoint/2010/main" val="1406574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1AA57D50-A7AD-3688-3FF0-1D65848F608E}"/>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50C74DAD-5AF0-86DE-5426-4B94B70EE8DE}"/>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CAA58D20-FFEA-636E-DCCF-2D144753AC7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DB7FF65-3CC4-EABA-D8EC-7F70F4E364D9}"/>
              </a:ext>
            </a:extLst>
          </p:cNvPr>
          <p:cNvPicPr>
            <a:picLocks noChangeAspect="1"/>
          </p:cNvPicPr>
          <p:nvPr/>
        </p:nvPicPr>
        <p:blipFill>
          <a:blip r:embed="rId3"/>
          <a:stretch>
            <a:fillRect/>
          </a:stretch>
        </p:blipFill>
        <p:spPr>
          <a:xfrm>
            <a:off x="2041431" y="1169277"/>
            <a:ext cx="7990075" cy="4756445"/>
          </a:xfrm>
          <a:prstGeom prst="rect">
            <a:avLst/>
          </a:prstGeom>
        </p:spPr>
      </p:pic>
    </p:spTree>
    <p:extLst>
      <p:ext uri="{BB962C8B-B14F-4D97-AF65-F5344CB8AC3E}">
        <p14:creationId xmlns:p14="http://schemas.microsoft.com/office/powerpoint/2010/main" val="255154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A2E55B3F-B70F-CA2F-B3FA-FC340F49225E}"/>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BB6F943D-B889-9764-E89D-B2E10EBD7E5C}"/>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6D3F53B0-B134-15EC-C2E6-33F35696B9EC}"/>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AEBF6BC5-D86A-758A-1547-A7BA10CC256D}"/>
              </a:ext>
            </a:extLst>
          </p:cNvPr>
          <p:cNvPicPr>
            <a:picLocks noChangeAspect="1"/>
          </p:cNvPicPr>
          <p:nvPr/>
        </p:nvPicPr>
        <p:blipFill>
          <a:blip r:embed="rId3"/>
          <a:stretch>
            <a:fillRect/>
          </a:stretch>
        </p:blipFill>
        <p:spPr>
          <a:xfrm>
            <a:off x="2476186" y="868458"/>
            <a:ext cx="7239627" cy="5121084"/>
          </a:xfrm>
          <a:prstGeom prst="rect">
            <a:avLst/>
          </a:prstGeom>
        </p:spPr>
      </p:pic>
    </p:spTree>
    <p:extLst>
      <p:ext uri="{BB962C8B-B14F-4D97-AF65-F5344CB8AC3E}">
        <p14:creationId xmlns:p14="http://schemas.microsoft.com/office/powerpoint/2010/main" val="28394572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F5C34341-89CC-C571-0F0A-714B63F18DD3}"/>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19538DBF-3351-2E37-BD2E-EDC70C68BC7F}"/>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020DB7F8-A1E1-306C-BB02-79AE5EB026D6}"/>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145B9D1-9764-5645-7CB6-3A6FDBE88903}"/>
              </a:ext>
            </a:extLst>
          </p:cNvPr>
          <p:cNvPicPr>
            <a:picLocks noChangeAspect="1"/>
          </p:cNvPicPr>
          <p:nvPr/>
        </p:nvPicPr>
        <p:blipFill>
          <a:blip r:embed="rId3"/>
          <a:stretch>
            <a:fillRect/>
          </a:stretch>
        </p:blipFill>
        <p:spPr>
          <a:xfrm>
            <a:off x="1981200" y="906561"/>
            <a:ext cx="7494563" cy="5593462"/>
          </a:xfrm>
          <a:prstGeom prst="rect">
            <a:avLst/>
          </a:prstGeom>
        </p:spPr>
      </p:pic>
    </p:spTree>
    <p:extLst>
      <p:ext uri="{BB962C8B-B14F-4D97-AF65-F5344CB8AC3E}">
        <p14:creationId xmlns:p14="http://schemas.microsoft.com/office/powerpoint/2010/main" val="29952946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DFDDDD2D-189B-C675-9330-215A87985742}"/>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F37CAFC7-AFBD-2EC2-DA59-1CF428385268}"/>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918555CE-A095-8FE5-CB8A-430249B398D8}"/>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EF61A083-0E00-A6EF-91B4-105AA81D0814}"/>
              </a:ext>
            </a:extLst>
          </p:cNvPr>
          <p:cNvPicPr>
            <a:picLocks noChangeAspect="1"/>
          </p:cNvPicPr>
          <p:nvPr/>
        </p:nvPicPr>
        <p:blipFill>
          <a:blip r:embed="rId3"/>
          <a:stretch>
            <a:fillRect/>
          </a:stretch>
        </p:blipFill>
        <p:spPr>
          <a:xfrm>
            <a:off x="1748118" y="738906"/>
            <a:ext cx="7891489" cy="5990743"/>
          </a:xfrm>
          <a:prstGeom prst="rect">
            <a:avLst/>
          </a:prstGeom>
        </p:spPr>
      </p:pic>
    </p:spTree>
    <p:extLst>
      <p:ext uri="{BB962C8B-B14F-4D97-AF65-F5344CB8AC3E}">
        <p14:creationId xmlns:p14="http://schemas.microsoft.com/office/powerpoint/2010/main" val="3282691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8A5E348D-77E8-3224-2F35-F3A5556F8838}"/>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12E1346C-19B8-8850-B15F-E2D95A7789C4}"/>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12BC4024-B8DA-B1CC-CF06-199F7EB83F5E}"/>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F84067C-B3D7-FC85-7F6A-65771E75DA0A}"/>
              </a:ext>
            </a:extLst>
          </p:cNvPr>
          <p:cNvPicPr>
            <a:picLocks noChangeAspect="1"/>
          </p:cNvPicPr>
          <p:nvPr/>
        </p:nvPicPr>
        <p:blipFill>
          <a:blip r:embed="rId3"/>
          <a:stretch>
            <a:fillRect/>
          </a:stretch>
        </p:blipFill>
        <p:spPr>
          <a:xfrm>
            <a:off x="1810871" y="887510"/>
            <a:ext cx="9117105" cy="5661774"/>
          </a:xfrm>
          <a:prstGeom prst="rect">
            <a:avLst/>
          </a:prstGeom>
        </p:spPr>
      </p:pic>
    </p:spTree>
    <p:extLst>
      <p:ext uri="{BB962C8B-B14F-4D97-AF65-F5344CB8AC3E}">
        <p14:creationId xmlns:p14="http://schemas.microsoft.com/office/powerpoint/2010/main" val="37476937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B231179C-A678-AEF6-9EB3-9F4EFB70331D}"/>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1F158A0B-8D58-4F2A-C188-00FA57ACA8D2}"/>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E4191AC2-EC41-1F59-DCCE-1EBB3B09815B}"/>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A9DB4024-6CA8-87E3-2411-F79EC2B7EF4B}"/>
              </a:ext>
            </a:extLst>
          </p:cNvPr>
          <p:cNvPicPr>
            <a:picLocks noChangeAspect="1"/>
          </p:cNvPicPr>
          <p:nvPr/>
        </p:nvPicPr>
        <p:blipFill>
          <a:blip r:embed="rId3"/>
          <a:stretch>
            <a:fillRect/>
          </a:stretch>
        </p:blipFill>
        <p:spPr>
          <a:xfrm>
            <a:off x="1739154" y="1192335"/>
            <a:ext cx="9206752" cy="5094171"/>
          </a:xfrm>
          <a:prstGeom prst="rect">
            <a:avLst/>
          </a:prstGeom>
        </p:spPr>
      </p:pic>
    </p:spTree>
    <p:extLst>
      <p:ext uri="{BB962C8B-B14F-4D97-AF65-F5344CB8AC3E}">
        <p14:creationId xmlns:p14="http://schemas.microsoft.com/office/powerpoint/2010/main" val="2986676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A28F64C5-6FE2-E920-3BAC-3A62C7C6F284}"/>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B64B09D4-49BE-05DA-CA0F-EE70DC3FFC8F}"/>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E3BB10EF-97C5-3A04-A006-192DBB551A4F}"/>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3B2E0CF6-F261-AC42-8D15-F87EC48C9980}"/>
              </a:ext>
            </a:extLst>
          </p:cNvPr>
          <p:cNvPicPr>
            <a:picLocks noChangeAspect="1"/>
          </p:cNvPicPr>
          <p:nvPr/>
        </p:nvPicPr>
        <p:blipFill>
          <a:blip r:embed="rId3"/>
          <a:stretch>
            <a:fillRect/>
          </a:stretch>
        </p:blipFill>
        <p:spPr>
          <a:xfrm>
            <a:off x="1837765" y="986578"/>
            <a:ext cx="7546550" cy="5605259"/>
          </a:xfrm>
          <a:prstGeom prst="rect">
            <a:avLst/>
          </a:prstGeom>
        </p:spPr>
      </p:pic>
    </p:spTree>
    <p:extLst>
      <p:ext uri="{BB962C8B-B14F-4D97-AF65-F5344CB8AC3E}">
        <p14:creationId xmlns:p14="http://schemas.microsoft.com/office/powerpoint/2010/main" val="2932035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8450FA35-EECE-7EDE-07D4-D04619EABEB2}"/>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DEDEFA5D-656C-8E28-C96C-3B0AB5FC00EA}"/>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D04D4106-EF78-9EE8-D3E6-52FE841CAF25}"/>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98A83F35-F441-777F-21DF-093C669AF91C}"/>
              </a:ext>
            </a:extLst>
          </p:cNvPr>
          <p:cNvPicPr>
            <a:picLocks noChangeAspect="1"/>
          </p:cNvPicPr>
          <p:nvPr/>
        </p:nvPicPr>
        <p:blipFill>
          <a:blip r:embed="rId3"/>
          <a:srcRect b="62519"/>
          <a:stretch>
            <a:fillRect/>
          </a:stretch>
        </p:blipFill>
        <p:spPr>
          <a:xfrm>
            <a:off x="1667435" y="925613"/>
            <a:ext cx="9251577" cy="2122387"/>
          </a:xfrm>
          <a:prstGeom prst="rect">
            <a:avLst/>
          </a:prstGeom>
        </p:spPr>
      </p:pic>
      <p:pic>
        <p:nvPicPr>
          <p:cNvPr id="6" name="Picture 5">
            <a:extLst>
              <a:ext uri="{FF2B5EF4-FFF2-40B4-BE49-F238E27FC236}">
                <a16:creationId xmlns:a16="http://schemas.microsoft.com/office/drawing/2014/main" id="{EF8D07BA-F96C-1546-2853-A6AF4FDA179F}"/>
              </a:ext>
            </a:extLst>
          </p:cNvPr>
          <p:cNvPicPr>
            <a:picLocks noChangeAspect="1"/>
          </p:cNvPicPr>
          <p:nvPr/>
        </p:nvPicPr>
        <p:blipFill>
          <a:blip r:embed="rId4"/>
          <a:stretch>
            <a:fillRect/>
          </a:stretch>
        </p:blipFill>
        <p:spPr>
          <a:xfrm>
            <a:off x="1958074" y="3160148"/>
            <a:ext cx="6142252" cy="3101609"/>
          </a:xfrm>
          <a:prstGeom prst="rect">
            <a:avLst/>
          </a:prstGeom>
        </p:spPr>
      </p:pic>
    </p:spTree>
    <p:extLst>
      <p:ext uri="{BB962C8B-B14F-4D97-AF65-F5344CB8AC3E}">
        <p14:creationId xmlns:p14="http://schemas.microsoft.com/office/powerpoint/2010/main" val="3412562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D5F0F897-B66B-E19B-06CD-11322EEA7C5F}"/>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F2BD9EE3-6958-A30A-01A4-1076CF800E12}"/>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DD80683F-6D52-CCCB-66D4-A23EB3E0913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4D5DE8D-0D06-0F5D-621F-BA21A9CD5D52}"/>
              </a:ext>
            </a:extLst>
          </p:cNvPr>
          <p:cNvPicPr>
            <a:picLocks noChangeAspect="1"/>
          </p:cNvPicPr>
          <p:nvPr/>
        </p:nvPicPr>
        <p:blipFill>
          <a:blip r:embed="rId3"/>
          <a:stretch>
            <a:fillRect/>
          </a:stretch>
        </p:blipFill>
        <p:spPr>
          <a:xfrm>
            <a:off x="3272116" y="3175430"/>
            <a:ext cx="4984377" cy="3345126"/>
          </a:xfrm>
          <a:prstGeom prst="rect">
            <a:avLst/>
          </a:prstGeom>
        </p:spPr>
      </p:pic>
      <p:sp>
        <p:nvSpPr>
          <p:cNvPr id="6" name="TextBox 5">
            <a:extLst>
              <a:ext uri="{FF2B5EF4-FFF2-40B4-BE49-F238E27FC236}">
                <a16:creationId xmlns:a16="http://schemas.microsoft.com/office/drawing/2014/main" id="{43D3464E-648E-83F2-F466-81F7CB5AE5A4}"/>
              </a:ext>
            </a:extLst>
          </p:cNvPr>
          <p:cNvSpPr txBox="1"/>
          <p:nvPr/>
        </p:nvSpPr>
        <p:spPr>
          <a:xfrm>
            <a:off x="76199" y="928661"/>
            <a:ext cx="11954436" cy="2246769"/>
          </a:xfrm>
          <a:prstGeom prst="rect">
            <a:avLst/>
          </a:prstGeom>
          <a:noFill/>
        </p:spPr>
        <p:txBody>
          <a:bodyPr wrap="square">
            <a:spAutoFit/>
          </a:bodyPr>
          <a:lstStyle/>
          <a:p>
            <a:r>
              <a:rPr lang="en-US" dirty="0"/>
              <a:t>The operating system is given the name of the device and the mount point—the location within the file structure where the file system is to be attached. </a:t>
            </a:r>
          </a:p>
          <a:p>
            <a:endParaRPr lang="en-US" dirty="0"/>
          </a:p>
          <a:p>
            <a:r>
              <a:rPr lang="en-US" dirty="0"/>
              <a:t>Some operating systems require that a file system type be provided, while others inspect the structures of the device and determine the type of file system. Typically,  a mount point is an empty directory. </a:t>
            </a:r>
          </a:p>
          <a:p>
            <a:endParaRPr lang="en-US" dirty="0"/>
          </a:p>
          <a:p>
            <a:r>
              <a:rPr lang="en-US" dirty="0"/>
              <a:t>For instance, on a UNIX system, a file system containing a user’s home directories might be mounted as /home; then, to access the directory structure within that file system, we could precede the directory names with /home, as in /home/jane.</a:t>
            </a:r>
          </a:p>
          <a:p>
            <a:endParaRPr lang="en-US" dirty="0"/>
          </a:p>
          <a:p>
            <a:r>
              <a:rPr lang="en-US" dirty="0"/>
              <a:t>Mounting that file system under /users would result in the path name /users/jane, which we could use to reach the same directory.</a:t>
            </a:r>
          </a:p>
        </p:txBody>
      </p:sp>
    </p:spTree>
    <p:extLst>
      <p:ext uri="{BB962C8B-B14F-4D97-AF65-F5344CB8AC3E}">
        <p14:creationId xmlns:p14="http://schemas.microsoft.com/office/powerpoint/2010/main" val="19574343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4869C8E0-23F4-73BD-BB5E-47CB915EE3F2}"/>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4868721F-002F-EC7C-1E80-AEC4739788BE}"/>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868D0BA3-59E9-9CD0-C09B-F04896FD4362}"/>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Sharing</a:t>
            </a:r>
            <a:endParaRPr sz="3600" b="1" i="0" u="none" strike="noStrike" cap="none" dirty="0">
              <a:solidFill>
                <a:schemeClr val="lt1"/>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1C7F7FEE-E5FB-9F19-79FA-C85EAC3ACA75}"/>
              </a:ext>
            </a:extLst>
          </p:cNvPr>
          <p:cNvSpPr txBox="1"/>
          <p:nvPr/>
        </p:nvSpPr>
        <p:spPr>
          <a:xfrm>
            <a:off x="986117" y="1180691"/>
            <a:ext cx="10121154" cy="3139321"/>
          </a:xfrm>
          <a:prstGeom prst="rect">
            <a:avLst/>
          </a:prstGeom>
          <a:noFill/>
        </p:spPr>
        <p:txBody>
          <a:bodyPr wrap="square">
            <a:spAutoFit/>
          </a:bodyPr>
          <a:lstStyle/>
          <a:p>
            <a:pPr algn="just">
              <a:buNone/>
            </a:pPr>
            <a:endParaRPr lang="en-US" sz="1800" dirty="0"/>
          </a:p>
          <a:p>
            <a:pPr algn="just">
              <a:buNone/>
            </a:pPr>
            <a:r>
              <a:rPr lang="en-US" sz="1800" b="1" dirty="0"/>
              <a:t>File Sharing in Multi user Operating System:</a:t>
            </a:r>
          </a:p>
          <a:p>
            <a:pPr algn="just">
              <a:buNone/>
            </a:pPr>
            <a:endParaRPr lang="en-US" sz="1800" dirty="0"/>
          </a:p>
          <a:p>
            <a:pPr algn="just">
              <a:buNone/>
            </a:pPr>
            <a:r>
              <a:rPr lang="en-US" sz="1800" dirty="0"/>
              <a:t>In a multiuser operating system, file sharing, file naming, and file protection become very important. Since many users may access the same directory structure, the OS must control how files are shared and accessed. The system must decide whether files are accessible to others by default or only when permission is granted.</a:t>
            </a:r>
          </a:p>
          <a:p>
            <a:pPr algn="just">
              <a:buNone/>
            </a:pPr>
            <a:endParaRPr lang="en-US" sz="1800" dirty="0"/>
          </a:p>
          <a:p>
            <a:pPr algn="just">
              <a:buNone/>
            </a:pPr>
            <a:r>
              <a:rPr lang="en-US" sz="1800" dirty="0"/>
              <a:t>This introduces access control and protection mechanisms. To support these features, the OS must store more file attributes than in a single-user system, so that it can correctly manage ownership, sharing, and permission enforcement.</a:t>
            </a:r>
          </a:p>
        </p:txBody>
      </p:sp>
    </p:spTree>
    <p:extLst>
      <p:ext uri="{BB962C8B-B14F-4D97-AF65-F5344CB8AC3E}">
        <p14:creationId xmlns:p14="http://schemas.microsoft.com/office/powerpoint/2010/main" val="13808519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6551CB50-6F3F-F016-5F38-7159F7916469}"/>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FEC91ABB-B658-1CA5-1AD8-F0337B0EDD9B}"/>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DF96B3A7-AEE7-A51B-8212-BAA2A4A8057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Sharing</a:t>
            </a:r>
            <a:endParaRPr sz="3600" b="1" i="0" u="none" strike="noStrike" cap="none" dirty="0">
              <a:solidFill>
                <a:schemeClr val="lt1"/>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D4FAD640-E390-8D62-6DDC-5CC511FFBAA0}"/>
              </a:ext>
            </a:extLst>
          </p:cNvPr>
          <p:cNvSpPr txBox="1"/>
          <p:nvPr/>
        </p:nvSpPr>
        <p:spPr>
          <a:xfrm>
            <a:off x="708211" y="1479176"/>
            <a:ext cx="10963835" cy="2862322"/>
          </a:xfrm>
          <a:prstGeom prst="rect">
            <a:avLst/>
          </a:prstGeom>
          <a:noFill/>
        </p:spPr>
        <p:txBody>
          <a:bodyPr wrap="square">
            <a:spAutoFit/>
          </a:bodyPr>
          <a:lstStyle/>
          <a:p>
            <a:pPr algn="just">
              <a:buNone/>
            </a:pPr>
            <a:r>
              <a:rPr lang="en-US" sz="2000" dirty="0"/>
              <a:t>Owner and Group Concept</a:t>
            </a:r>
          </a:p>
          <a:p>
            <a:pPr algn="just">
              <a:buNone/>
            </a:pPr>
            <a:endParaRPr lang="en-US" sz="2000" dirty="0"/>
          </a:p>
          <a:p>
            <a:pPr algn="just">
              <a:buNone/>
            </a:pPr>
            <a:r>
              <a:rPr lang="en-US" sz="2000" dirty="0"/>
              <a:t>Most modern operating systems use the concepts of file owner and group to manage sharing and protection. The owner is the user who has maximum control, including changing file attributes and granting permissions. The group represents a set of users who can share access to the file.</a:t>
            </a:r>
          </a:p>
          <a:p>
            <a:pPr algn="just">
              <a:buNone/>
            </a:pPr>
            <a:r>
              <a:rPr lang="en-US" sz="2000" dirty="0"/>
              <a:t>For example, in UNIX, the owner can perform all operations, group members can perform a limited subset, and all other users can perform another subset. The file owner defines exactly which operations are allowed for group members and others.</a:t>
            </a:r>
          </a:p>
        </p:txBody>
      </p:sp>
    </p:spTree>
    <p:extLst>
      <p:ext uri="{BB962C8B-B14F-4D97-AF65-F5344CB8AC3E}">
        <p14:creationId xmlns:p14="http://schemas.microsoft.com/office/powerpoint/2010/main" val="12177540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D8AF649F-6F67-F163-7B7B-A8B1FE34A10E}"/>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6F9F8CF1-9FA3-F7B1-8851-A0291652F114}"/>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267CFA29-09D6-2BA6-F02E-203866375E43}"/>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Sharing</a:t>
            </a:r>
            <a:endParaRPr sz="3600" b="1" i="0" u="none" strike="noStrike" cap="none" dirty="0">
              <a:solidFill>
                <a:schemeClr val="lt1"/>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B58D0253-0164-5959-3F04-29958A9609FB}"/>
              </a:ext>
            </a:extLst>
          </p:cNvPr>
          <p:cNvSpPr txBox="1"/>
          <p:nvPr/>
        </p:nvSpPr>
        <p:spPr>
          <a:xfrm>
            <a:off x="708211" y="1479176"/>
            <a:ext cx="10963835" cy="2954655"/>
          </a:xfrm>
          <a:prstGeom prst="rect">
            <a:avLst/>
          </a:prstGeom>
          <a:noFill/>
        </p:spPr>
        <p:txBody>
          <a:bodyPr wrap="square">
            <a:spAutoFit/>
          </a:bodyPr>
          <a:lstStyle/>
          <a:p>
            <a:pPr algn="just">
              <a:buNone/>
            </a:pPr>
            <a:r>
              <a:rPr lang="en-US" sz="2000" dirty="0"/>
              <a:t>Permissions</a:t>
            </a:r>
          </a:p>
          <a:p>
            <a:pPr algn="just">
              <a:buNone/>
            </a:pPr>
            <a:endParaRPr lang="en-US" sz="2000" dirty="0"/>
          </a:p>
          <a:p>
            <a:pPr algn="just"/>
            <a:r>
              <a:rPr lang="en-US" sz="1800" dirty="0"/>
              <a:t>The OS stores the owner ID and group ID along with other file attributes. When a user requests an operation (read/write/execute), the system compares the requesting user’s ID with the stored owner ID to check whether the user is the owner.</a:t>
            </a:r>
          </a:p>
          <a:p>
            <a:pPr algn="just"/>
            <a:endParaRPr lang="en-US" sz="1800" dirty="0"/>
          </a:p>
          <a:p>
            <a:pPr algn="just"/>
            <a:r>
              <a:rPr lang="en-US" sz="1800" dirty="0"/>
              <a:t>Similarly, the system compares the user’s group ID with the file’s group ID. Based on the match, the OS determines which permissions apply and either allows or denies the requested operation. This permission checking becomes straightforward once file systems are properly mounted.</a:t>
            </a:r>
          </a:p>
          <a:p>
            <a:pPr algn="just">
              <a:buNone/>
            </a:pPr>
            <a:endParaRPr lang="en-US" sz="2000" dirty="0"/>
          </a:p>
        </p:txBody>
      </p:sp>
    </p:spTree>
    <p:extLst>
      <p:ext uri="{BB962C8B-B14F-4D97-AF65-F5344CB8AC3E}">
        <p14:creationId xmlns:p14="http://schemas.microsoft.com/office/powerpoint/2010/main" val="29695701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926468BE-4A7D-6F07-AAAB-93EBE4936B50}"/>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029D22FA-ABE8-9D9B-7391-DADEC818C25B}"/>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CB58BDFC-2EE1-72E4-0CB5-C38FE5FB59BB}"/>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Sharing</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26AB98D4-327A-98EB-5FD7-74C7D7CADCEA}"/>
              </a:ext>
            </a:extLst>
          </p:cNvPr>
          <p:cNvSpPr txBox="1"/>
          <p:nvPr/>
        </p:nvSpPr>
        <p:spPr>
          <a:xfrm>
            <a:off x="466165" y="1044476"/>
            <a:ext cx="11277600" cy="4770537"/>
          </a:xfrm>
          <a:prstGeom prst="rect">
            <a:avLst/>
          </a:prstGeom>
          <a:noFill/>
        </p:spPr>
        <p:txBody>
          <a:bodyPr wrap="square">
            <a:spAutoFit/>
          </a:bodyPr>
          <a:lstStyle/>
          <a:p>
            <a:pPr>
              <a:buNone/>
            </a:pPr>
            <a:r>
              <a:rPr lang="en-US" sz="1600" b="1" dirty="0"/>
              <a:t>Remote File Systems and File Sharing Methods </a:t>
            </a:r>
          </a:p>
          <a:p>
            <a:pPr>
              <a:buNone/>
            </a:pPr>
            <a:endParaRPr lang="en-US" sz="1600" dirty="0"/>
          </a:p>
          <a:p>
            <a:pPr>
              <a:buNone/>
            </a:pPr>
            <a:r>
              <a:rPr lang="en-US" sz="1600" dirty="0"/>
              <a:t>With the growth of computer networks, sharing files between remote computers became possible. Remote file systems allow users to access data stored on other machines across a campus or even across the world. File sharing through networks has evolved over time, and different techniques were introduced to improve accessibility and convenience.</a:t>
            </a:r>
          </a:p>
          <a:p>
            <a:pPr>
              <a:buNone/>
            </a:pPr>
            <a:r>
              <a:rPr lang="en-US" sz="1600" dirty="0"/>
              <a:t>The first method of remote file sharing was manual file transfer using programs like ftp (File Transfer Protocol). In this approach, users explicitly upload or download files from one system to another. </a:t>
            </a:r>
          </a:p>
          <a:p>
            <a:pPr>
              <a:buNone/>
            </a:pPr>
            <a:endParaRPr lang="en-US" sz="1600" dirty="0"/>
          </a:p>
          <a:p>
            <a:pPr>
              <a:buNone/>
            </a:pPr>
            <a:endParaRPr lang="en-US" sz="1600" dirty="0"/>
          </a:p>
          <a:p>
            <a:pPr>
              <a:buNone/>
            </a:pPr>
            <a:r>
              <a:rPr lang="en-US" sz="1600" dirty="0"/>
              <a:t>The second major method is the Distributed File System (DFS), where remote directories are made visible on a local system as if they are part of the local file system. The third method is the World Wide Web, which is similar to ftp in the sense that a browser is required and files are transferred separately. Today, cloud computing has also become widely used, where files are stored and accessed through online services.</a:t>
            </a:r>
          </a:p>
          <a:p>
            <a:pPr>
              <a:buNone/>
            </a:pPr>
            <a:endParaRPr lang="en-US" sz="1600" dirty="0"/>
          </a:p>
          <a:p>
            <a:pPr>
              <a:buNone/>
            </a:pPr>
            <a:endParaRPr lang="en-US" sz="1600" dirty="0"/>
          </a:p>
          <a:p>
            <a:pPr>
              <a:buNone/>
            </a:pPr>
            <a:r>
              <a:rPr lang="en-US" sz="1600" dirty="0"/>
              <a:t>ftp supports both anonymous access and authenticated access. Anonymous access allows users to download or upload files without having an account on the remote system, which is commonly used in the web. However, DFS provides deeper integration between client and server, allowing file operations like open, read, and write directly on remote files, making it more powerful but more complex</a:t>
            </a:r>
            <a:r>
              <a:rPr lang="en-US" dirty="0"/>
              <a:t>.</a:t>
            </a:r>
          </a:p>
        </p:txBody>
      </p:sp>
    </p:spTree>
    <p:extLst>
      <p:ext uri="{BB962C8B-B14F-4D97-AF65-F5344CB8AC3E}">
        <p14:creationId xmlns:p14="http://schemas.microsoft.com/office/powerpoint/2010/main" val="10923871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CC43F174-D327-38CF-2AE8-36DF84017F51}"/>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38FC24C6-ED6F-EBAE-C1D1-79D0A27D5CB1}"/>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C30E9760-263F-0254-65A4-B6E8A12253F6}"/>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Sharing</a:t>
            </a:r>
            <a:endParaRPr sz="3600" b="1" i="0" u="none" strike="noStrike" cap="none" dirty="0">
              <a:solidFill>
                <a:schemeClr val="lt1"/>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6D11A215-6F54-5817-ADBE-27F17C9C052D}"/>
              </a:ext>
            </a:extLst>
          </p:cNvPr>
          <p:cNvSpPr txBox="1"/>
          <p:nvPr/>
        </p:nvSpPr>
        <p:spPr>
          <a:xfrm>
            <a:off x="242047" y="1017001"/>
            <a:ext cx="11447930" cy="5570756"/>
          </a:xfrm>
          <a:prstGeom prst="rect">
            <a:avLst/>
          </a:prstGeom>
          <a:noFill/>
        </p:spPr>
        <p:txBody>
          <a:bodyPr wrap="square">
            <a:spAutoFit/>
          </a:bodyPr>
          <a:lstStyle/>
          <a:p>
            <a:pPr algn="just">
              <a:buNone/>
            </a:pPr>
            <a:r>
              <a:rPr lang="en-US" sz="1800" b="1" dirty="0"/>
              <a:t>Client–Server Model and Distributed Naming Services </a:t>
            </a:r>
          </a:p>
          <a:p>
            <a:pPr algn="just">
              <a:buNone/>
            </a:pPr>
            <a:endParaRPr lang="en-US" dirty="0"/>
          </a:p>
          <a:p>
            <a:pPr algn="just">
              <a:buNone/>
            </a:pPr>
            <a:r>
              <a:rPr lang="en-US" sz="1800" dirty="0"/>
              <a:t>Remote file systems generally work using the client–server model. The machine that stores and provides the files is called the server, and the machine that requests access is called the client. A server can provide file services to many clients, and similarly a client can access file systems from multiple servers. Usually, the server shares resources at the level of a directory or disk volume, not individual files.</a:t>
            </a:r>
          </a:p>
          <a:p>
            <a:pPr algn="just">
              <a:buNone/>
            </a:pPr>
            <a:endParaRPr lang="en-US" sz="1800" dirty="0"/>
          </a:p>
          <a:p>
            <a:pPr algn="just">
              <a:buNone/>
            </a:pPr>
            <a:r>
              <a:rPr lang="en-US" sz="1800" dirty="0"/>
              <a:t>Client identification is a major challenge in remote systems. A server may identify clients using network names or IP addresses, but these can be spoofed, meaning an attacker can imitate an authorized client. To improve security, systems may use encrypted authentication keys, but this creates challenges like compatibility (client and server must support same encryption algorithms) and secure key exchange (intercepted keys can lead to unauthorized access). Due to these difficulties, many systems still use less secure authentication methods.</a:t>
            </a:r>
          </a:p>
          <a:p>
            <a:pPr algn="just">
              <a:buNone/>
            </a:pPr>
            <a:endParaRPr lang="en-US" sz="1800" dirty="0"/>
          </a:p>
          <a:p>
            <a:pPr algn="just">
              <a:buNone/>
            </a:pPr>
            <a:r>
              <a:rPr lang="en-US" sz="1800" dirty="0"/>
              <a:t>For example, in UNIX Network File System (NFS), authentication is typically based on client-provided user ID information. This creates problems if user IDs differ between client and server. If a user has ID 1000 on the client but 2000 on the server, the server may wrongly check permissions using ID 1000, leading to incorrect access decisions. To solve such problems, distributed naming services like DNS (for host identification), NIS, CIFS Active Directory, and LDAP are used. LDAP is becoming the industry standard because it provides secure centralized authentication and can support single sign-on, where users log in once and gain access to multiple systems and resources.</a:t>
            </a:r>
          </a:p>
        </p:txBody>
      </p:sp>
    </p:spTree>
    <p:extLst>
      <p:ext uri="{BB962C8B-B14F-4D97-AF65-F5344CB8AC3E}">
        <p14:creationId xmlns:p14="http://schemas.microsoft.com/office/powerpoint/2010/main" val="26770429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3F6DD4E4-133C-4815-7259-A1EA324B96B4}"/>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B4F9C2FA-477E-0DCE-0716-A563CB7797FB}"/>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7537BDAD-DDE3-DE0B-B799-C2A905E0DB5A}"/>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Sharing</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CEAF4C15-929F-7BBA-CBC0-9FA8E22894CF}"/>
              </a:ext>
            </a:extLst>
          </p:cNvPr>
          <p:cNvSpPr txBox="1"/>
          <p:nvPr/>
        </p:nvSpPr>
        <p:spPr>
          <a:xfrm>
            <a:off x="434788" y="1104614"/>
            <a:ext cx="11322423" cy="4462760"/>
          </a:xfrm>
          <a:prstGeom prst="rect">
            <a:avLst/>
          </a:prstGeom>
          <a:noFill/>
        </p:spPr>
        <p:txBody>
          <a:bodyPr wrap="square">
            <a:spAutoFit/>
          </a:bodyPr>
          <a:lstStyle/>
          <a:p>
            <a:pPr>
              <a:buNone/>
            </a:pPr>
            <a:r>
              <a:rPr lang="en-US" sz="1800" b="1" dirty="0"/>
              <a:t>Failure Modes</a:t>
            </a:r>
          </a:p>
          <a:p>
            <a:pPr>
              <a:buNone/>
            </a:pPr>
            <a:endParaRPr lang="en-US" b="1" dirty="0"/>
          </a:p>
          <a:p>
            <a:pPr algn="just">
              <a:buNone/>
            </a:pPr>
            <a:r>
              <a:rPr lang="en-US" sz="1800" dirty="0"/>
              <a:t>Remote file systems face more failure situations compared to local file systems because they depend on both the network connection and the remote server machine. In local file systems, failures may occur due to disk crashes, metadata corruption, controller failure, cable failure, or accidental deletion by users or administrators. Such failures often crash the system or display an error, and human intervention is usually required to fix the issue.</a:t>
            </a:r>
          </a:p>
          <a:p>
            <a:pPr algn="just">
              <a:buNone/>
            </a:pPr>
            <a:endParaRPr lang="en-US" sz="1800" dirty="0"/>
          </a:p>
          <a:p>
            <a:pPr algn="just">
              <a:buNone/>
            </a:pPr>
            <a:endParaRPr lang="en-US" sz="1800" dirty="0"/>
          </a:p>
          <a:p>
            <a:pPr algn="just">
              <a:buNone/>
            </a:pPr>
            <a:r>
              <a:rPr lang="en-US" sz="1800" dirty="0"/>
              <a:t>In remote file systems, failures are more frequent and complex. Problems may arise due to network partitioning, hardware faults in networking devices, server crashes, or scheduled shutdown of the server. A client might have remote files open and may be reading, writing, searching directories, or closing files. If the server suddenly becomes unreachable, the client cannot continue operations normally. Instead of treating it like a local disk crash, the system either terminates all operations or delays operations until the server becomes available again. Most DFS protocols prefer delaying operations because termination may lead to data loss and user frustration.</a:t>
            </a:r>
          </a:p>
        </p:txBody>
      </p:sp>
    </p:spTree>
    <p:extLst>
      <p:ext uri="{BB962C8B-B14F-4D97-AF65-F5344CB8AC3E}">
        <p14:creationId xmlns:p14="http://schemas.microsoft.com/office/powerpoint/2010/main" val="11981492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FDCCC846-C746-4BB0-FB78-14FA903D16BB}"/>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99FB6AED-451F-56DF-79E6-87A4BAE04F74}"/>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4A71E241-EF77-2D74-41B1-3EFBB85BD39C}"/>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Sharing</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7A638715-B9FB-DF09-6517-7E6477C02D5C}"/>
              </a:ext>
            </a:extLst>
          </p:cNvPr>
          <p:cNvSpPr txBox="1"/>
          <p:nvPr/>
        </p:nvSpPr>
        <p:spPr>
          <a:xfrm>
            <a:off x="779929" y="1120676"/>
            <a:ext cx="10883153" cy="5355312"/>
          </a:xfrm>
          <a:prstGeom prst="rect">
            <a:avLst/>
          </a:prstGeom>
          <a:noFill/>
        </p:spPr>
        <p:txBody>
          <a:bodyPr wrap="square">
            <a:spAutoFit/>
          </a:bodyPr>
          <a:lstStyle/>
          <a:p>
            <a:pPr algn="just">
              <a:buNone/>
            </a:pPr>
            <a:r>
              <a:rPr lang="en-US" sz="1800" b="1" dirty="0"/>
              <a:t>Consistency Semantics</a:t>
            </a:r>
          </a:p>
          <a:p>
            <a:pPr algn="just">
              <a:buNone/>
            </a:pPr>
            <a:endParaRPr lang="en-US" sz="1800" dirty="0"/>
          </a:p>
          <a:p>
            <a:pPr algn="just">
              <a:buNone/>
            </a:pPr>
            <a:r>
              <a:rPr lang="en-US" sz="1800" dirty="0"/>
              <a:t>To support recovery after failures, client and server may maintain state information about mounted file systems and open files. If both maintain state, they can resume smoothly after recovery. However, NFS originally followed a stateless design, meaning the server does not store information about which clients mounted files or which files are open. Every request sent by the client contains all required information to locate the file and perform the operation. This makes NFS simple and resilient, but it is less secure because forged requests might be accepted. Hence, NFS Version 4 introduced a more stateful approach to improve security, performance, and functionality.</a:t>
            </a:r>
          </a:p>
          <a:p>
            <a:pPr algn="just">
              <a:buNone/>
            </a:pPr>
            <a:endParaRPr lang="en-US" sz="1800" dirty="0"/>
          </a:p>
          <a:p>
            <a:pPr algn="just">
              <a:buNone/>
            </a:pPr>
            <a:endParaRPr lang="en-US" sz="1800" dirty="0"/>
          </a:p>
          <a:p>
            <a:pPr algn="just">
              <a:buNone/>
            </a:pPr>
            <a:r>
              <a:rPr lang="en-US" sz="1800" dirty="0"/>
              <a:t>Consistency semantics define how file updates made by one user become visible to other users in a shared environment. In UNIX semantics, changes made by one user are immediately visible to others who have the file open, and users may even share the same file pointer position. In Session semantics (Andrew File System), updates are not visible immediately; they become visible only after the file is closed and only for new sessions started later. This allows multiple users to work concurrently without delays. Another approach is Immutable shared file semantics, where once a file is shared, it cannot be modified and its name cannot be reused. This simplifies distributed sharing because all users only perform read operations, making consistency management easier.</a:t>
            </a:r>
          </a:p>
        </p:txBody>
      </p:sp>
    </p:spTree>
    <p:extLst>
      <p:ext uri="{BB962C8B-B14F-4D97-AF65-F5344CB8AC3E}">
        <p14:creationId xmlns:p14="http://schemas.microsoft.com/office/powerpoint/2010/main" val="35110221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5B0AEB71-5B7C-1B15-0B9E-3F8B22BE7182}"/>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1900CC8C-9AC5-9EE8-8117-848AF18D3B8E}"/>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C6DC9155-B1CA-28AD-61DF-9C651EE975F8}"/>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Sharing</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7C0775F0-2668-E5AA-A360-8F910C37873A}"/>
              </a:ext>
            </a:extLst>
          </p:cNvPr>
          <p:cNvPicPr>
            <a:picLocks noChangeAspect="1"/>
          </p:cNvPicPr>
          <p:nvPr/>
        </p:nvPicPr>
        <p:blipFill>
          <a:blip r:embed="rId3"/>
          <a:stretch>
            <a:fillRect/>
          </a:stretch>
        </p:blipFill>
        <p:spPr>
          <a:xfrm>
            <a:off x="1524000" y="734914"/>
            <a:ext cx="7441178" cy="5731585"/>
          </a:xfrm>
          <a:prstGeom prst="rect">
            <a:avLst/>
          </a:prstGeom>
        </p:spPr>
      </p:pic>
      <p:pic>
        <p:nvPicPr>
          <p:cNvPr id="6" name="Picture 5">
            <a:extLst>
              <a:ext uri="{FF2B5EF4-FFF2-40B4-BE49-F238E27FC236}">
                <a16:creationId xmlns:a16="http://schemas.microsoft.com/office/drawing/2014/main" id="{260CADA0-8DCD-3CF4-0324-D6836ED9B4A4}"/>
              </a:ext>
            </a:extLst>
          </p:cNvPr>
          <p:cNvPicPr>
            <a:picLocks noChangeAspect="1"/>
          </p:cNvPicPr>
          <p:nvPr/>
        </p:nvPicPr>
        <p:blipFill>
          <a:blip r:embed="rId4"/>
          <a:stretch>
            <a:fillRect/>
          </a:stretch>
        </p:blipFill>
        <p:spPr>
          <a:xfrm>
            <a:off x="5642594" y="3429000"/>
            <a:ext cx="5532599" cy="2774576"/>
          </a:xfrm>
          <a:prstGeom prst="rect">
            <a:avLst/>
          </a:prstGeom>
        </p:spPr>
      </p:pic>
    </p:spTree>
    <p:extLst>
      <p:ext uri="{BB962C8B-B14F-4D97-AF65-F5344CB8AC3E}">
        <p14:creationId xmlns:p14="http://schemas.microsoft.com/office/powerpoint/2010/main" val="436969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CAF77010-9627-4021-64B0-BCE488AD1B53}"/>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8C4EB08D-6AD4-6F80-4D42-3E852300D95F}"/>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6A656018-8E15-7AC7-1EC9-53DF0DA252C8}"/>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Sharing</a:t>
            </a:r>
            <a:endParaRPr sz="3600" b="1" i="0" u="none" strike="noStrike" cap="none" dirty="0">
              <a:solidFill>
                <a:schemeClr val="lt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6F7D5231-FAF0-9452-F0FD-F4C95F2C30D5}"/>
              </a:ext>
            </a:extLst>
          </p:cNvPr>
          <p:cNvPicPr>
            <a:picLocks noChangeAspect="1"/>
          </p:cNvPicPr>
          <p:nvPr/>
        </p:nvPicPr>
        <p:blipFill>
          <a:blip r:embed="rId3"/>
          <a:stretch>
            <a:fillRect/>
          </a:stretch>
        </p:blipFill>
        <p:spPr>
          <a:xfrm>
            <a:off x="1685366" y="738906"/>
            <a:ext cx="7980914" cy="6013367"/>
          </a:xfrm>
          <a:prstGeom prst="rect">
            <a:avLst/>
          </a:prstGeom>
        </p:spPr>
      </p:pic>
    </p:spTree>
    <p:extLst>
      <p:ext uri="{BB962C8B-B14F-4D97-AF65-F5344CB8AC3E}">
        <p14:creationId xmlns:p14="http://schemas.microsoft.com/office/powerpoint/2010/main" val="34780886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AF275316-83D4-9363-3A3C-EC38F67D23F2}"/>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82697AE4-512A-C2C9-339A-016603344637}"/>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7D692EEC-1D1B-F0F3-7A12-0DA9E5D6A552}"/>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Sharing</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C11D75B-6FC8-2AD8-FA20-9C2281ACCB6E}"/>
              </a:ext>
            </a:extLst>
          </p:cNvPr>
          <p:cNvPicPr>
            <a:picLocks noChangeAspect="1"/>
          </p:cNvPicPr>
          <p:nvPr/>
        </p:nvPicPr>
        <p:blipFill>
          <a:blip r:embed="rId3"/>
          <a:stretch>
            <a:fillRect/>
          </a:stretch>
        </p:blipFill>
        <p:spPr>
          <a:xfrm>
            <a:off x="2659082" y="815113"/>
            <a:ext cx="6873836" cy="5227773"/>
          </a:xfrm>
          <a:prstGeom prst="rect">
            <a:avLst/>
          </a:prstGeom>
        </p:spPr>
      </p:pic>
    </p:spTree>
    <p:extLst>
      <p:ext uri="{BB962C8B-B14F-4D97-AF65-F5344CB8AC3E}">
        <p14:creationId xmlns:p14="http://schemas.microsoft.com/office/powerpoint/2010/main" val="870077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2A022A45-BEFA-90F1-85C9-6EA10A15DE37}"/>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25E044CD-130B-267D-D9F9-7975E6B17610}"/>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87285888-A0DD-2A98-59EC-2C99369BF3DC}"/>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File Sharing</a:t>
            </a:r>
            <a:endParaRPr sz="3600" b="1" i="0" u="none" strike="noStrike" cap="none" dirty="0">
              <a:solidFill>
                <a:schemeClr val="lt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7164513A-75E4-DB00-7F9C-86C30EAAAE91}"/>
              </a:ext>
            </a:extLst>
          </p:cNvPr>
          <p:cNvPicPr>
            <a:picLocks noChangeAspect="1"/>
          </p:cNvPicPr>
          <p:nvPr/>
        </p:nvPicPr>
        <p:blipFill>
          <a:blip r:embed="rId3"/>
          <a:stretch>
            <a:fillRect/>
          </a:stretch>
        </p:blipFill>
        <p:spPr>
          <a:xfrm>
            <a:off x="2590496" y="1367611"/>
            <a:ext cx="7011008" cy="4122777"/>
          </a:xfrm>
          <a:prstGeom prst="rect">
            <a:avLst/>
          </a:prstGeom>
        </p:spPr>
      </p:pic>
    </p:spTree>
    <p:extLst>
      <p:ext uri="{BB962C8B-B14F-4D97-AF65-F5344CB8AC3E}">
        <p14:creationId xmlns:p14="http://schemas.microsoft.com/office/powerpoint/2010/main" val="26850029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DBC7C1D9-9CA1-CE90-8D23-BD1380597A70}"/>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C58754E5-A5D4-A09A-A86C-0D075706B072}"/>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E93DEA15-D470-6450-29E3-99B5FBC0B64E}"/>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a:t>
            </a:r>
            <a:endParaRPr sz="3600" b="1" i="0" u="none" strike="noStrike" cap="none" dirty="0">
              <a:solidFill>
                <a:schemeClr val="lt1"/>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D0BD0940-6C9F-23DE-9DC9-6B1B1C5AE7DD}"/>
              </a:ext>
            </a:extLst>
          </p:cNvPr>
          <p:cNvSpPr txBox="1"/>
          <p:nvPr/>
        </p:nvSpPr>
        <p:spPr>
          <a:xfrm>
            <a:off x="376518" y="1035366"/>
            <a:ext cx="10587318" cy="4524315"/>
          </a:xfrm>
          <a:prstGeom prst="rect">
            <a:avLst/>
          </a:prstGeom>
          <a:noFill/>
        </p:spPr>
        <p:txBody>
          <a:bodyPr wrap="square">
            <a:spAutoFit/>
          </a:bodyPr>
          <a:lstStyle/>
          <a:p>
            <a:pPr algn="just"/>
            <a:r>
              <a:rPr lang="en-US" sz="1600" b="1" dirty="0"/>
              <a:t>Goals of Protection:</a:t>
            </a:r>
          </a:p>
          <a:p>
            <a:pPr algn="just"/>
            <a:endParaRPr lang="en-US" sz="1600" dirty="0"/>
          </a:p>
          <a:p>
            <a:pPr algn="just"/>
            <a:r>
              <a:rPr lang="en-US" sz="1600" dirty="0"/>
              <a:t>Protection in computer systems became important as systems grew more complex and widely used. It was originally introduced in multiprogramming operating systems so that untrusted users could safely share common resources like file directories or memory. Today, protection is essential to maintain system integrity and reliability when multiple users and programs share resources. It prevents intentional violations of access restrictions and ensures that every program component uses system resources only according to defined rules. Protection also helps detect errors early at subsystem interfaces, preventing one faulty component from damaging others, and it allows the system to differentiate between authorized and unauthorized access.</a:t>
            </a:r>
          </a:p>
          <a:p>
            <a:pPr algn="just"/>
            <a:endParaRPr lang="en-US" sz="1600" dirty="0"/>
          </a:p>
          <a:p>
            <a:pPr algn="just"/>
            <a:endParaRPr lang="en-US" sz="1600" dirty="0"/>
          </a:p>
          <a:p>
            <a:pPr algn="just"/>
            <a:r>
              <a:rPr lang="en-US" sz="1600" dirty="0"/>
              <a:t>The main role of protection is to provide mechanisms that enforce policies governing resource usage. These policies may be built into system design, set by system administrators, or defined by individual users to secure their own files and programs. Since policies vary across applications and can change over time, protection must be flexible and not limited only to OS designers—application developers also need to use protection mechanisms. A key concept is the separation of policy and mechanism: mechanisms define how protection is implemented, while policies decide what rules must be enforced. This separation ensures adaptability, since changing policies should not require redesigning the protection mechanisms.</a:t>
            </a:r>
          </a:p>
        </p:txBody>
      </p:sp>
    </p:spTree>
    <p:extLst>
      <p:ext uri="{BB962C8B-B14F-4D97-AF65-F5344CB8AC3E}">
        <p14:creationId xmlns:p14="http://schemas.microsoft.com/office/powerpoint/2010/main" val="22449700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F4101528-6ACB-C96B-5A77-4417253CE6BB}"/>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A7C6158B-94D8-2639-4F5F-135017562B3F}"/>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A4E8554E-B5AC-10E6-54B1-A2C6575016A4}"/>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a:t>
            </a:r>
            <a:endParaRPr sz="3600" b="1" i="0" u="none" strike="noStrike" cap="none" dirty="0">
              <a:solidFill>
                <a:schemeClr val="lt1"/>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51758614-A61D-2BE7-0290-A484A326FD5F}"/>
              </a:ext>
            </a:extLst>
          </p:cNvPr>
          <p:cNvSpPr txBox="1"/>
          <p:nvPr/>
        </p:nvSpPr>
        <p:spPr>
          <a:xfrm>
            <a:off x="376517" y="1035366"/>
            <a:ext cx="11421035" cy="5816977"/>
          </a:xfrm>
          <a:prstGeom prst="rect">
            <a:avLst/>
          </a:prstGeom>
          <a:noFill/>
        </p:spPr>
        <p:txBody>
          <a:bodyPr wrap="square">
            <a:spAutoFit/>
          </a:bodyPr>
          <a:lstStyle/>
          <a:p>
            <a:pPr algn="just"/>
            <a:r>
              <a:rPr lang="en-US" sz="1600" b="1" dirty="0"/>
              <a:t>Principles of Protection:</a:t>
            </a:r>
          </a:p>
          <a:p>
            <a:pPr algn="just"/>
            <a:endParaRPr lang="en-US" sz="1600" dirty="0"/>
          </a:p>
          <a:p>
            <a:pPr algn="just"/>
            <a:r>
              <a:rPr lang="en-US" sz="1800" dirty="0"/>
              <a:t>The principle of least privilege is a key protection guideline used in operating system design. It states that programs, users, and even systems should be given only the minimum privileges required to perform their tasks. This makes the system easier to design, consistent, and more secure. The idea is that limiting privileges reduces the possible damage caused by mistakes, misuse, or attacks.</a:t>
            </a:r>
          </a:p>
          <a:p>
            <a:pPr algn="just"/>
            <a:endParaRPr lang="en-US" sz="1800" dirty="0"/>
          </a:p>
          <a:p>
            <a:pPr algn="just"/>
            <a:r>
              <a:rPr lang="en-US" sz="1800" dirty="0"/>
              <a:t>For example, a security guard’s passkey should open only the public areas she must guard. If the key opens every area, then losing or misusing it can cause serious damage. Similarly, an OS that follows least privilege ensures that even if a component fails or is compromised, the attacker gains only limited access. For instance, a buffer overflow in a system daemon should not allow a remote user to execute privileged code and take full control of the system.</a:t>
            </a:r>
          </a:p>
          <a:p>
            <a:pPr algn="just"/>
            <a:endParaRPr lang="en-US" sz="1800" dirty="0"/>
          </a:p>
          <a:p>
            <a:pPr algn="just"/>
            <a:r>
              <a:rPr lang="en-US" sz="1800" dirty="0"/>
              <a:t>Such an OS provides fine-grained controls by offering mechanisms to enable privileges only when needed and disable them afterward. It also supports audit trails to track privileged operations for investigation. Least privilege is applied to user management through separate accounts and limited permissions, often using role-based access control (RBAC). Systems can also restrict computers to specific services, hosts, and times using service controls and access control lists. However, least privilege does not always guarantee security, as shown by Windows 2000 having many security holes despite strong protection mechanisms, while Solaris is considered more secure due to fewer services and possibly better-focused protection implementation.</a:t>
            </a:r>
          </a:p>
          <a:p>
            <a:pPr algn="just"/>
            <a:endParaRPr lang="en-US" sz="1600" dirty="0"/>
          </a:p>
        </p:txBody>
      </p:sp>
    </p:spTree>
    <p:extLst>
      <p:ext uri="{BB962C8B-B14F-4D97-AF65-F5344CB8AC3E}">
        <p14:creationId xmlns:p14="http://schemas.microsoft.com/office/powerpoint/2010/main" val="25812783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FE924E79-B269-1964-D613-FC8E23A4C732}"/>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D18CD780-14B2-6A90-EE72-9AC308DA6B36}"/>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4D2789D2-5B0A-D584-BB9F-F37BCC1AA17E}"/>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3C2265FE-0477-2706-B5B5-1D94A7641982}"/>
              </a:ext>
            </a:extLst>
          </p:cNvPr>
          <p:cNvPicPr>
            <a:picLocks noChangeAspect="1"/>
          </p:cNvPicPr>
          <p:nvPr/>
        </p:nvPicPr>
        <p:blipFill>
          <a:blip r:embed="rId3"/>
          <a:stretch>
            <a:fillRect/>
          </a:stretch>
        </p:blipFill>
        <p:spPr>
          <a:xfrm>
            <a:off x="1524000" y="1348559"/>
            <a:ext cx="7867935" cy="4855017"/>
          </a:xfrm>
          <a:prstGeom prst="rect">
            <a:avLst/>
          </a:prstGeom>
        </p:spPr>
      </p:pic>
    </p:spTree>
    <p:extLst>
      <p:ext uri="{BB962C8B-B14F-4D97-AF65-F5344CB8AC3E}">
        <p14:creationId xmlns:p14="http://schemas.microsoft.com/office/powerpoint/2010/main" val="40124514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F9FCB10F-575A-6B96-DA5F-F4F43F514083}"/>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2027604D-3F39-D820-4EA7-458F848DEBAE}"/>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666C671A-B70A-C58B-A5DF-904B05199F73}"/>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D5FE2FAF-4FFF-7E99-D095-9A818413361B}"/>
              </a:ext>
            </a:extLst>
          </p:cNvPr>
          <p:cNvPicPr>
            <a:picLocks noChangeAspect="1"/>
          </p:cNvPicPr>
          <p:nvPr/>
        </p:nvPicPr>
        <p:blipFill>
          <a:blip r:embed="rId3"/>
          <a:stretch>
            <a:fillRect/>
          </a:stretch>
        </p:blipFill>
        <p:spPr>
          <a:xfrm>
            <a:off x="1389528" y="1252562"/>
            <a:ext cx="9278471" cy="4290692"/>
          </a:xfrm>
          <a:prstGeom prst="rect">
            <a:avLst/>
          </a:prstGeom>
        </p:spPr>
      </p:pic>
    </p:spTree>
    <p:extLst>
      <p:ext uri="{BB962C8B-B14F-4D97-AF65-F5344CB8AC3E}">
        <p14:creationId xmlns:p14="http://schemas.microsoft.com/office/powerpoint/2010/main" val="2553395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948780FF-A9B2-0DCA-426F-156C4AD5093F}"/>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0878D718-C6BD-862A-16EE-91DAB3895457}"/>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5837F752-4497-2AB5-017F-5BC94F898D95}"/>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a:t>
            </a:r>
            <a:endParaRPr sz="3600" b="1" i="0" u="none" strike="noStrike" cap="none" dirty="0">
              <a:solidFill>
                <a:schemeClr val="lt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9551566-DCD2-99A9-59F6-0C62134C5033}"/>
              </a:ext>
            </a:extLst>
          </p:cNvPr>
          <p:cNvPicPr>
            <a:picLocks noChangeAspect="1"/>
          </p:cNvPicPr>
          <p:nvPr/>
        </p:nvPicPr>
        <p:blipFill>
          <a:blip r:embed="rId3"/>
          <a:stretch>
            <a:fillRect/>
          </a:stretch>
        </p:blipFill>
        <p:spPr>
          <a:xfrm>
            <a:off x="2773392" y="944664"/>
            <a:ext cx="6645216" cy="4968671"/>
          </a:xfrm>
          <a:prstGeom prst="rect">
            <a:avLst/>
          </a:prstGeom>
        </p:spPr>
      </p:pic>
    </p:spTree>
    <p:extLst>
      <p:ext uri="{BB962C8B-B14F-4D97-AF65-F5344CB8AC3E}">
        <p14:creationId xmlns:p14="http://schemas.microsoft.com/office/powerpoint/2010/main" val="6604103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450728DF-D080-2C4B-B7F1-F0F5FD3FEE8A}"/>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04CC3D1C-3460-134D-6FD4-BBD7BB752BF6}"/>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5E5D6B29-D698-CED6-EF73-3314BAA7F7E4}"/>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a:t>
            </a:r>
            <a:endParaRPr sz="3600" b="1" i="0" u="none" strike="noStrike" cap="none" dirty="0">
              <a:solidFill>
                <a:schemeClr val="lt1"/>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D9A080F2-362D-2366-A441-20E80D93CAC4}"/>
              </a:ext>
            </a:extLst>
          </p:cNvPr>
          <p:cNvSpPr txBox="1"/>
          <p:nvPr/>
        </p:nvSpPr>
        <p:spPr>
          <a:xfrm>
            <a:off x="264458" y="946155"/>
            <a:ext cx="11663083" cy="5355312"/>
          </a:xfrm>
          <a:prstGeom prst="rect">
            <a:avLst/>
          </a:prstGeom>
          <a:noFill/>
        </p:spPr>
        <p:txBody>
          <a:bodyPr wrap="square">
            <a:spAutoFit/>
          </a:bodyPr>
          <a:lstStyle/>
          <a:p>
            <a:r>
              <a:rPr lang="en-US" sz="2000" b="1" dirty="0"/>
              <a:t>				Domain Implementation(UNIX)</a:t>
            </a:r>
          </a:p>
          <a:p>
            <a:endParaRPr lang="en-US" dirty="0"/>
          </a:p>
          <a:p>
            <a:r>
              <a:rPr lang="en-US" b="1" dirty="0"/>
              <a:t>UNIX domain switching using </a:t>
            </a:r>
            <a:r>
              <a:rPr lang="en-US" b="1" dirty="0" err="1"/>
              <a:t>setuid</a:t>
            </a:r>
            <a:r>
              <a:rPr lang="en-US" b="1" dirty="0"/>
              <a:t> bit:</a:t>
            </a:r>
          </a:p>
          <a:p>
            <a:r>
              <a:rPr lang="en-US" dirty="0"/>
              <a:t>Each file has an owner ID and a </a:t>
            </a:r>
            <a:r>
              <a:rPr lang="en-US" dirty="0" err="1"/>
              <a:t>setuid</a:t>
            </a:r>
            <a:r>
              <a:rPr lang="en-US" dirty="0"/>
              <a:t> (domain) bit. If </a:t>
            </a:r>
            <a:r>
              <a:rPr lang="en-US" dirty="0" err="1"/>
              <a:t>setuid</a:t>
            </a:r>
            <a:r>
              <a:rPr lang="en-US" dirty="0"/>
              <a:t> is ON and a user executes the file, the process temporarily runs with the owner’s </a:t>
            </a:r>
            <a:r>
              <a:rPr lang="en-US" dirty="0" err="1"/>
              <a:t>userID</a:t>
            </a:r>
            <a:r>
              <a:rPr lang="en-US" dirty="0"/>
              <a:t>.</a:t>
            </a:r>
          </a:p>
          <a:p>
            <a:endParaRPr lang="en-US" b="1" dirty="0"/>
          </a:p>
          <a:p>
            <a:r>
              <a:rPr lang="en-US" b="1" dirty="0"/>
              <a:t>Example of </a:t>
            </a:r>
            <a:r>
              <a:rPr lang="en-US" b="1" dirty="0" err="1"/>
              <a:t>userID</a:t>
            </a:r>
            <a:r>
              <a:rPr lang="en-US" b="1" dirty="0"/>
              <a:t> change:</a:t>
            </a:r>
          </a:p>
          <a:p>
            <a:r>
              <a:rPr lang="en-US" dirty="0"/>
              <a:t>If user A runs a file owned by B:</a:t>
            </a:r>
          </a:p>
          <a:p>
            <a:r>
              <a:rPr lang="en-US" dirty="0" err="1"/>
              <a:t>setuid</a:t>
            </a:r>
            <a:r>
              <a:rPr lang="en-US" dirty="0"/>
              <a:t> OFF → process </a:t>
            </a:r>
            <a:r>
              <a:rPr lang="en-US" dirty="0" err="1"/>
              <a:t>userID</a:t>
            </a:r>
            <a:r>
              <a:rPr lang="en-US" dirty="0"/>
              <a:t> stays A</a:t>
            </a:r>
          </a:p>
          <a:p>
            <a:r>
              <a:rPr lang="en-US" dirty="0" err="1"/>
              <a:t>setuid</a:t>
            </a:r>
            <a:r>
              <a:rPr lang="en-US" dirty="0"/>
              <a:t> ON → process </a:t>
            </a:r>
            <a:r>
              <a:rPr lang="en-US" dirty="0" err="1"/>
              <a:t>userID</a:t>
            </a:r>
            <a:r>
              <a:rPr lang="en-US" dirty="0"/>
              <a:t> becomes B until the program finishes</a:t>
            </a:r>
          </a:p>
          <a:p>
            <a:endParaRPr lang="en-US" dirty="0"/>
          </a:p>
          <a:p>
            <a:r>
              <a:rPr lang="en-US" b="1" dirty="0"/>
              <a:t>Purpose of </a:t>
            </a:r>
            <a:r>
              <a:rPr lang="en-US" b="1" dirty="0" err="1"/>
              <a:t>setuid</a:t>
            </a:r>
            <a:r>
              <a:rPr lang="en-US" b="1" dirty="0"/>
              <a:t> mechanism:</a:t>
            </a:r>
          </a:p>
          <a:p>
            <a:r>
              <a:rPr lang="en-US" dirty="0"/>
              <a:t>It allows normal users to access privileged services (like networking) by running programs that temporarily switch to a privileged </a:t>
            </a:r>
            <a:r>
              <a:rPr lang="en-US" dirty="0" err="1"/>
              <a:t>userID</a:t>
            </a:r>
            <a:r>
              <a:rPr lang="en-US" dirty="0"/>
              <a:t> (often root).</a:t>
            </a:r>
          </a:p>
          <a:p>
            <a:endParaRPr lang="en-US" dirty="0"/>
          </a:p>
          <a:p>
            <a:endParaRPr lang="en-US" dirty="0"/>
          </a:p>
          <a:p>
            <a:r>
              <a:rPr lang="en-US" b="1" dirty="0"/>
              <a:t>Major security risk in UNIX:</a:t>
            </a:r>
          </a:p>
          <a:p>
            <a:endParaRPr lang="en-US" b="1" dirty="0"/>
          </a:p>
          <a:p>
            <a:r>
              <a:rPr lang="en-US" dirty="0"/>
              <a:t>If an attacker manages to create or exploit a file owned by root with </a:t>
            </a:r>
            <a:r>
              <a:rPr lang="en-US" dirty="0" err="1"/>
              <a:t>setuid</a:t>
            </a:r>
            <a:r>
              <a:rPr lang="en-US" dirty="0"/>
              <a:t> ON, they can gain root privileges and take full control of the system.</a:t>
            </a:r>
          </a:p>
          <a:p>
            <a:endParaRPr lang="en-US" dirty="0"/>
          </a:p>
          <a:p>
            <a:r>
              <a:rPr lang="en-US" b="1" dirty="0"/>
              <a:t>Alternative and more restrictive approaches:</a:t>
            </a:r>
          </a:p>
          <a:p>
            <a:endParaRPr lang="en-US" b="1" dirty="0"/>
          </a:p>
          <a:p>
            <a:r>
              <a:rPr lang="en-US" dirty="0"/>
              <a:t>Some OSs avoid </a:t>
            </a:r>
            <a:r>
              <a:rPr lang="en-US" dirty="0" err="1"/>
              <a:t>setuid</a:t>
            </a:r>
            <a:r>
              <a:rPr lang="en-US" dirty="0"/>
              <a:t> risks by using special privileged directories or by not allowing </a:t>
            </a:r>
            <a:r>
              <a:rPr lang="en-US" dirty="0" err="1"/>
              <a:t>userID</a:t>
            </a:r>
            <a:r>
              <a:rPr lang="en-US" dirty="0"/>
              <a:t> changes at all, instead using daemon processes to perform privileged tasks—but privileged programs must still be written carefully to avoid security breaches.</a:t>
            </a:r>
          </a:p>
        </p:txBody>
      </p:sp>
    </p:spTree>
    <p:extLst>
      <p:ext uri="{BB962C8B-B14F-4D97-AF65-F5344CB8AC3E}">
        <p14:creationId xmlns:p14="http://schemas.microsoft.com/office/powerpoint/2010/main" val="20431571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524693DC-48DC-6DCA-A21B-3D27D8F9ADF8}"/>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90341F3F-52ED-F28A-F5E4-79BD4E13E1C9}"/>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F981EC70-B21A-485E-020D-90D1DDF36F86}"/>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151BEAF2-F236-5E3B-EFAF-2CC27246C886}"/>
              </a:ext>
            </a:extLst>
          </p:cNvPr>
          <p:cNvPicPr>
            <a:picLocks noChangeAspect="1"/>
          </p:cNvPicPr>
          <p:nvPr/>
        </p:nvPicPr>
        <p:blipFill>
          <a:blip r:embed="rId3"/>
          <a:srcRect b="86281"/>
          <a:stretch>
            <a:fillRect/>
          </a:stretch>
        </p:blipFill>
        <p:spPr>
          <a:xfrm>
            <a:off x="1703294" y="1074216"/>
            <a:ext cx="7848675" cy="646113"/>
          </a:xfrm>
          <a:prstGeom prst="rect">
            <a:avLst/>
          </a:prstGeom>
        </p:spPr>
      </p:pic>
      <p:sp>
        <p:nvSpPr>
          <p:cNvPr id="5" name="TextBox 4">
            <a:extLst>
              <a:ext uri="{FF2B5EF4-FFF2-40B4-BE49-F238E27FC236}">
                <a16:creationId xmlns:a16="http://schemas.microsoft.com/office/drawing/2014/main" id="{E3EB1A5C-6A20-77BF-A51D-C7FD83284A28}"/>
              </a:ext>
            </a:extLst>
          </p:cNvPr>
          <p:cNvSpPr txBox="1"/>
          <p:nvPr/>
        </p:nvSpPr>
        <p:spPr>
          <a:xfrm>
            <a:off x="968188" y="2075851"/>
            <a:ext cx="10712823" cy="4253537"/>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dirty="0"/>
              <a:t>MULTICS organizes protection domains in a ring structure, where each ring represents a separate level of privilege.</a:t>
            </a:r>
          </a:p>
          <a:p>
            <a:pPr marL="285750" indent="-285750" algn="just">
              <a:lnSpc>
                <a:spcPct val="150000"/>
              </a:lnSpc>
              <a:buFont typeface="Wingdings" panose="05000000000000000000" pitchFamily="2" charset="2"/>
              <a:buChar char="§"/>
            </a:pPr>
            <a:r>
              <a:rPr lang="en-US" dirty="0"/>
              <a:t>Every memory segment is treated like a file, and each segment is assigned to a particular ring number.</a:t>
            </a:r>
          </a:p>
          <a:p>
            <a:pPr marL="285750" indent="-285750" algn="just">
              <a:lnSpc>
                <a:spcPct val="150000"/>
              </a:lnSpc>
              <a:buFont typeface="Wingdings" panose="05000000000000000000" pitchFamily="2" charset="2"/>
              <a:buChar char="§"/>
            </a:pPr>
            <a:r>
              <a:rPr lang="en-US" dirty="0"/>
              <a:t>Each segment contains three access bits that specify whether reading, writing, and execution are allowed.</a:t>
            </a:r>
          </a:p>
          <a:p>
            <a:pPr marL="285750" indent="-285750" algn="just">
              <a:lnSpc>
                <a:spcPct val="150000"/>
              </a:lnSpc>
              <a:buFont typeface="Wingdings" panose="05000000000000000000" pitchFamily="2" charset="2"/>
              <a:buChar char="§"/>
            </a:pPr>
            <a:r>
              <a:rPr lang="en-US" dirty="0"/>
              <a:t>The decision of which segment belongs to which ring is a policy matter, meaning it depends on system rules and administrator choices.</a:t>
            </a:r>
          </a:p>
          <a:p>
            <a:pPr marL="285750" indent="-285750" algn="just">
              <a:lnSpc>
                <a:spcPct val="150000"/>
              </a:lnSpc>
              <a:buFont typeface="Wingdings" panose="05000000000000000000" pitchFamily="2" charset="2"/>
              <a:buChar char="§"/>
            </a:pPr>
            <a:r>
              <a:rPr lang="en-US" dirty="0"/>
              <a:t>Each process maintains a current-ring-number counter, which indicates the ring in which the process is currently running.</a:t>
            </a:r>
          </a:p>
          <a:p>
            <a:pPr marL="285750" indent="-285750" algn="just">
              <a:lnSpc>
                <a:spcPct val="150000"/>
              </a:lnSpc>
              <a:buFont typeface="Wingdings" panose="05000000000000000000" pitchFamily="2" charset="2"/>
              <a:buChar char="§"/>
            </a:pPr>
            <a:r>
              <a:rPr lang="en-US" dirty="0"/>
              <a:t>If a process is executing in ring </a:t>
            </a:r>
            <a:r>
              <a:rPr lang="en-US" dirty="0" err="1"/>
              <a:t>i</a:t>
            </a:r>
            <a:r>
              <a:rPr lang="en-US" dirty="0"/>
              <a:t>, it is not allowed to access any segment belonging to ring j, where j &lt; </a:t>
            </a:r>
            <a:r>
              <a:rPr lang="en-US" dirty="0" err="1"/>
              <a:t>i</a:t>
            </a:r>
            <a:r>
              <a:rPr lang="en-US" dirty="0"/>
              <a:t>, because those rings have higher privileges.</a:t>
            </a:r>
          </a:p>
          <a:p>
            <a:pPr marL="285750" indent="-285750" algn="just">
              <a:lnSpc>
                <a:spcPct val="150000"/>
              </a:lnSpc>
              <a:buFont typeface="Wingdings" panose="05000000000000000000" pitchFamily="2" charset="2"/>
              <a:buChar char="§"/>
            </a:pPr>
            <a:r>
              <a:rPr lang="en-US" dirty="0"/>
              <a:t>The process is allowed to access segments in ring k, where k ≥ </a:t>
            </a:r>
            <a:r>
              <a:rPr lang="en-US" dirty="0" err="1"/>
              <a:t>i</a:t>
            </a:r>
            <a:r>
              <a:rPr lang="en-US" dirty="0"/>
              <a:t>, but the actual operations allowed depend strictly on the segment’s access bits.</a:t>
            </a:r>
          </a:p>
          <a:p>
            <a:pPr marL="285750" indent="-285750" algn="just">
              <a:lnSpc>
                <a:spcPct val="150000"/>
              </a:lnSpc>
              <a:buFont typeface="Wingdings" panose="05000000000000000000" pitchFamily="2" charset="2"/>
              <a:buChar char="§"/>
            </a:pPr>
            <a:r>
              <a:rPr lang="en-US" dirty="0"/>
              <a:t>Domain switching occurs when a process calls a procedure located in another ring, causing it to move from one ring to another. Such switching must be carefully controlled, otherwise a process could jump into ring 0 and gain full system privileges, breaking protection completely.</a:t>
            </a:r>
          </a:p>
        </p:txBody>
      </p:sp>
    </p:spTree>
    <p:extLst>
      <p:ext uri="{BB962C8B-B14F-4D97-AF65-F5344CB8AC3E}">
        <p14:creationId xmlns:p14="http://schemas.microsoft.com/office/powerpoint/2010/main" val="33734388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D0316861-F9E1-F66C-6365-80942C48AB26}"/>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D575159F-858C-CFB2-517E-D8A2911B00AF}"/>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DD9E7958-375B-1181-ED2D-B02CE0B50E8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2E982299-54EB-F99E-8BDC-B4ED5378248A}"/>
              </a:ext>
            </a:extLst>
          </p:cNvPr>
          <p:cNvPicPr>
            <a:picLocks noChangeAspect="1"/>
          </p:cNvPicPr>
          <p:nvPr/>
        </p:nvPicPr>
        <p:blipFill>
          <a:blip r:embed="rId3"/>
          <a:stretch>
            <a:fillRect/>
          </a:stretch>
        </p:blipFill>
        <p:spPr>
          <a:xfrm>
            <a:off x="1703294" y="1074216"/>
            <a:ext cx="7848675" cy="4709568"/>
          </a:xfrm>
          <a:prstGeom prst="rect">
            <a:avLst/>
          </a:prstGeom>
        </p:spPr>
      </p:pic>
    </p:spTree>
    <p:extLst>
      <p:ext uri="{BB962C8B-B14F-4D97-AF65-F5344CB8AC3E}">
        <p14:creationId xmlns:p14="http://schemas.microsoft.com/office/powerpoint/2010/main" val="17354516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DF0073AA-0BF3-75EF-5D83-A4556A846600}"/>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9BED2CBF-9B08-D5A4-484E-768A2356BA3A}"/>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5ED3F21E-0DB1-B452-77FD-BC2E7D2B6674}"/>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191D5A1E-DB5A-19CB-2BAD-89F8834E9B22}"/>
              </a:ext>
            </a:extLst>
          </p:cNvPr>
          <p:cNvPicPr>
            <a:picLocks noChangeAspect="1"/>
          </p:cNvPicPr>
          <p:nvPr/>
        </p:nvPicPr>
        <p:blipFill>
          <a:blip r:embed="rId3"/>
          <a:srcRect b="83026"/>
          <a:stretch>
            <a:fillRect/>
          </a:stretch>
        </p:blipFill>
        <p:spPr>
          <a:xfrm>
            <a:off x="170329" y="636782"/>
            <a:ext cx="7848675" cy="799408"/>
          </a:xfrm>
          <a:prstGeom prst="rect">
            <a:avLst/>
          </a:prstGeom>
        </p:spPr>
      </p:pic>
      <p:sp>
        <p:nvSpPr>
          <p:cNvPr id="4" name="TextBox 3">
            <a:extLst>
              <a:ext uri="{FF2B5EF4-FFF2-40B4-BE49-F238E27FC236}">
                <a16:creationId xmlns:a16="http://schemas.microsoft.com/office/drawing/2014/main" id="{8938E0A2-1EF6-A868-DBA8-0ECC6FCE8771}"/>
              </a:ext>
            </a:extLst>
          </p:cNvPr>
          <p:cNvSpPr txBox="1"/>
          <p:nvPr/>
        </p:nvSpPr>
        <p:spPr>
          <a:xfrm>
            <a:off x="493058" y="1273563"/>
            <a:ext cx="11371730" cy="3970318"/>
          </a:xfrm>
          <a:prstGeom prst="rect">
            <a:avLst/>
          </a:prstGeom>
          <a:noFill/>
        </p:spPr>
        <p:txBody>
          <a:bodyPr wrap="square">
            <a:spAutoFit/>
          </a:bodyPr>
          <a:lstStyle/>
          <a:p>
            <a:r>
              <a:rPr lang="en-US" dirty="0"/>
              <a:t>To allow controlled domain switching, we modify the ring field of the segment descriptor to include the following:</a:t>
            </a:r>
          </a:p>
          <a:p>
            <a:endParaRPr lang="en-US" dirty="0"/>
          </a:p>
          <a:p>
            <a:r>
              <a:rPr lang="en-US" dirty="0"/>
              <a:t>• Access bracket. A pair of integers, b1 and b2, such that b1 ≤ b2.</a:t>
            </a:r>
          </a:p>
          <a:p>
            <a:endParaRPr lang="en-US" dirty="0"/>
          </a:p>
          <a:p>
            <a:r>
              <a:rPr lang="en-US" dirty="0"/>
              <a:t>• Limit. An integer b3 such that b3 &gt; b2.</a:t>
            </a:r>
          </a:p>
          <a:p>
            <a:endParaRPr lang="en-US" dirty="0"/>
          </a:p>
          <a:p>
            <a:r>
              <a:rPr lang="en-US" dirty="0"/>
              <a:t>• List of gates. Identifies the entry points (or gates) at which the segments may be called.</a:t>
            </a:r>
          </a:p>
          <a:p>
            <a:endParaRPr lang="en-US" dirty="0"/>
          </a:p>
          <a:p>
            <a:r>
              <a:rPr lang="en-US" dirty="0"/>
              <a:t>If a process executing in ring </a:t>
            </a:r>
            <a:r>
              <a:rPr lang="en-US" dirty="0" err="1"/>
              <a:t>i</a:t>
            </a:r>
            <a:r>
              <a:rPr lang="en-US" dirty="0"/>
              <a:t> calls a procedure (or segment) with access bracket (b1,b2), then the call is allowed if b1 ≤ </a:t>
            </a:r>
            <a:r>
              <a:rPr lang="en-US" dirty="0" err="1"/>
              <a:t>i</a:t>
            </a:r>
            <a:r>
              <a:rPr lang="en-US" dirty="0"/>
              <a:t> ≤ b2, and the current ring number of the process remains </a:t>
            </a:r>
            <a:r>
              <a:rPr lang="en-US" dirty="0" err="1"/>
              <a:t>i</a:t>
            </a:r>
            <a:r>
              <a:rPr lang="en-US" dirty="0"/>
              <a:t>. Otherwise, a trap to the operating system occurs, and the situation is handled as follows:</a:t>
            </a:r>
          </a:p>
          <a:p>
            <a:endParaRPr lang="en-US" dirty="0"/>
          </a:p>
          <a:p>
            <a:r>
              <a:rPr lang="en-US" dirty="0"/>
              <a:t>• If </a:t>
            </a:r>
            <a:r>
              <a:rPr lang="en-US" dirty="0" err="1"/>
              <a:t>i</a:t>
            </a:r>
            <a:r>
              <a:rPr lang="en-US" dirty="0"/>
              <a:t> &lt; b1, then the call is allowed to occur, because we have a transfer to a ring (or domain) with fewer privileges. However, if parameters are passed that refer to segments in a lower ring (that is, segments not accessible to the called procedure), then these segments must be copied into an area that can be accessed by the called procedure.</a:t>
            </a:r>
          </a:p>
          <a:p>
            <a:endParaRPr lang="en-US" dirty="0"/>
          </a:p>
          <a:p>
            <a:r>
              <a:rPr lang="en-US" dirty="0"/>
              <a:t>• If </a:t>
            </a:r>
            <a:r>
              <a:rPr lang="en-US" dirty="0" err="1"/>
              <a:t>i</a:t>
            </a:r>
            <a:r>
              <a:rPr lang="en-US" dirty="0"/>
              <a:t> &gt; b2, then the call is allowed to occur only if b3 is greater than or equal to </a:t>
            </a:r>
            <a:r>
              <a:rPr lang="en-US" dirty="0" err="1"/>
              <a:t>i</a:t>
            </a:r>
            <a:r>
              <a:rPr lang="en-US" dirty="0"/>
              <a:t> and the call has been directed to one of the designated entry points in the list of gates. This scheme allows processes with limited access rights to call procedures in lower rings that have more access rights, but only in a carefully controlled manner.</a:t>
            </a:r>
          </a:p>
        </p:txBody>
      </p:sp>
    </p:spTree>
    <p:extLst>
      <p:ext uri="{BB962C8B-B14F-4D97-AF65-F5344CB8AC3E}">
        <p14:creationId xmlns:p14="http://schemas.microsoft.com/office/powerpoint/2010/main" val="2385785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A5BBE965-C69C-33F7-B41D-A682403723B4}"/>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E416BBD2-E3A6-7A72-1197-A0D03E6B4201}"/>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AE51D6E4-720E-4F10-946B-795EEE14276B}"/>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a:t>
            </a:r>
            <a:endParaRPr sz="3600" b="1" i="0" u="none" strike="noStrike" cap="none" dirty="0">
              <a:solidFill>
                <a:schemeClr val="lt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24E56684-65BE-76EC-32C4-85EE0286AD77}"/>
              </a:ext>
            </a:extLst>
          </p:cNvPr>
          <p:cNvPicPr>
            <a:picLocks noChangeAspect="1"/>
          </p:cNvPicPr>
          <p:nvPr/>
        </p:nvPicPr>
        <p:blipFill>
          <a:blip r:embed="rId3"/>
          <a:stretch>
            <a:fillRect/>
          </a:stretch>
        </p:blipFill>
        <p:spPr>
          <a:xfrm>
            <a:off x="1623809" y="1299883"/>
            <a:ext cx="7737644" cy="3683732"/>
          </a:xfrm>
          <a:prstGeom prst="rect">
            <a:avLst/>
          </a:prstGeom>
        </p:spPr>
      </p:pic>
    </p:spTree>
    <p:extLst>
      <p:ext uri="{BB962C8B-B14F-4D97-AF65-F5344CB8AC3E}">
        <p14:creationId xmlns:p14="http://schemas.microsoft.com/office/powerpoint/2010/main" val="5740045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8B2F2B20-9873-F756-5E12-FC377078C0C0}"/>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3B0BE7C3-2B28-3B9C-BBAD-7C1BC3EC084C}"/>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395647F4-43AC-2135-1814-066837D069CA}"/>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 Access Matrix</a:t>
            </a:r>
            <a:endParaRPr sz="3600" b="1" i="0" u="none" strike="noStrike" cap="none" dirty="0">
              <a:solidFill>
                <a:schemeClr val="lt1"/>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C8FC6B2A-A265-D8C7-BAD0-FF32657B07FD}"/>
              </a:ext>
            </a:extLst>
          </p:cNvPr>
          <p:cNvSpPr txBox="1"/>
          <p:nvPr/>
        </p:nvSpPr>
        <p:spPr>
          <a:xfrm>
            <a:off x="829234" y="2678988"/>
            <a:ext cx="11205883" cy="954107"/>
          </a:xfrm>
          <a:prstGeom prst="rect">
            <a:avLst/>
          </a:prstGeom>
          <a:noFill/>
        </p:spPr>
        <p:txBody>
          <a:bodyPr wrap="square">
            <a:spAutoFit/>
          </a:bodyPr>
          <a:lstStyle/>
          <a:p>
            <a:r>
              <a:rPr lang="en-US" dirty="0"/>
              <a:t>we consider the access matrix shown in Figure 14.3. There are four domains and four objects—three files (F1, F2, F3) and one</a:t>
            </a:r>
          </a:p>
          <a:p>
            <a:r>
              <a:rPr lang="en-US" dirty="0"/>
              <a:t>laser printer. A process executing in domain D1 can read files F1 and F3.A process executing in domain D4 has the same privileges as one executing in domain D1; but in addition, it can also write onto files F1 and F3. The laser printer can be accessed only by a process executing in domain D2.</a:t>
            </a:r>
          </a:p>
        </p:txBody>
      </p:sp>
      <p:pic>
        <p:nvPicPr>
          <p:cNvPr id="6" name="Picture 5">
            <a:extLst>
              <a:ext uri="{FF2B5EF4-FFF2-40B4-BE49-F238E27FC236}">
                <a16:creationId xmlns:a16="http://schemas.microsoft.com/office/drawing/2014/main" id="{8185E33C-31E2-8515-A48E-E5C499720407}"/>
              </a:ext>
            </a:extLst>
          </p:cNvPr>
          <p:cNvPicPr>
            <a:picLocks noChangeAspect="1"/>
          </p:cNvPicPr>
          <p:nvPr/>
        </p:nvPicPr>
        <p:blipFill>
          <a:blip r:embed="rId3"/>
          <a:stretch>
            <a:fillRect/>
          </a:stretch>
        </p:blipFill>
        <p:spPr>
          <a:xfrm>
            <a:off x="2384612" y="3859103"/>
            <a:ext cx="6319441" cy="2998896"/>
          </a:xfrm>
          <a:prstGeom prst="rect">
            <a:avLst/>
          </a:prstGeom>
        </p:spPr>
      </p:pic>
      <p:pic>
        <p:nvPicPr>
          <p:cNvPr id="8" name="Picture 7">
            <a:extLst>
              <a:ext uri="{FF2B5EF4-FFF2-40B4-BE49-F238E27FC236}">
                <a16:creationId xmlns:a16="http://schemas.microsoft.com/office/drawing/2014/main" id="{67E003D3-9121-03EF-AB60-EF173248EB5E}"/>
              </a:ext>
            </a:extLst>
          </p:cNvPr>
          <p:cNvPicPr>
            <a:picLocks noChangeAspect="1"/>
          </p:cNvPicPr>
          <p:nvPr/>
        </p:nvPicPr>
        <p:blipFill>
          <a:blip r:embed="rId4"/>
          <a:stretch>
            <a:fillRect/>
          </a:stretch>
        </p:blipFill>
        <p:spPr>
          <a:xfrm>
            <a:off x="918882" y="1012208"/>
            <a:ext cx="9453283" cy="1300686"/>
          </a:xfrm>
          <a:prstGeom prst="rect">
            <a:avLst/>
          </a:prstGeom>
        </p:spPr>
      </p:pic>
    </p:spTree>
    <p:extLst>
      <p:ext uri="{BB962C8B-B14F-4D97-AF65-F5344CB8AC3E}">
        <p14:creationId xmlns:p14="http://schemas.microsoft.com/office/powerpoint/2010/main" val="23819755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FA7CF58E-B106-1C6C-D8C6-870636751937}"/>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0665A5A0-02BA-4F96-0CB7-35E122359A3B}"/>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516E51AC-E73A-9CE8-B7F3-1AF6CF2483C0}"/>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 Access Matrix</a:t>
            </a:r>
            <a:endParaRPr sz="3600" b="1" i="0" u="none" strike="noStrike" cap="none" dirty="0">
              <a:solidFill>
                <a:schemeClr val="lt1"/>
              </a:solidFill>
              <a:latin typeface="Times New Roman"/>
              <a:ea typeface="Times New Roman"/>
              <a:cs typeface="Times New Roman"/>
              <a:sym typeface="Times New Roman"/>
            </a:endParaRPr>
          </a:p>
        </p:txBody>
      </p:sp>
      <p:sp>
        <p:nvSpPr>
          <p:cNvPr id="6" name="TextBox 5">
            <a:extLst>
              <a:ext uri="{FF2B5EF4-FFF2-40B4-BE49-F238E27FC236}">
                <a16:creationId xmlns:a16="http://schemas.microsoft.com/office/drawing/2014/main" id="{0CC8E609-AD3A-591B-2A50-0CC575CB5B7E}"/>
              </a:ext>
            </a:extLst>
          </p:cNvPr>
          <p:cNvSpPr txBox="1"/>
          <p:nvPr/>
        </p:nvSpPr>
        <p:spPr>
          <a:xfrm>
            <a:off x="1523999" y="1152198"/>
            <a:ext cx="10040471" cy="5078313"/>
          </a:xfrm>
          <a:prstGeom prst="rect">
            <a:avLst/>
          </a:prstGeom>
          <a:noFill/>
        </p:spPr>
        <p:txBody>
          <a:bodyPr wrap="square">
            <a:spAutoFit/>
          </a:bodyPr>
          <a:lstStyle/>
          <a:p>
            <a:pPr algn="just">
              <a:buNone/>
            </a:pPr>
            <a:r>
              <a:rPr lang="en-US" sz="1800" dirty="0"/>
              <a:t>The </a:t>
            </a:r>
            <a:r>
              <a:rPr lang="en-US" sz="1800" b="1" dirty="0"/>
              <a:t>access-matrix scheme</a:t>
            </a:r>
            <a:r>
              <a:rPr lang="en-US" sz="1800" dirty="0"/>
              <a:t> provides a general mechanism for defining different protection policies by specifying what actions (rights) each domain can perform on each object. The system must ensure that a process running in domain </a:t>
            </a:r>
            <a:r>
              <a:rPr lang="en-US" sz="1800" b="1" dirty="0"/>
              <a:t>Di</a:t>
            </a:r>
            <a:r>
              <a:rPr lang="en-US" sz="1800" dirty="0"/>
              <a:t> can access only the objects listed in </a:t>
            </a:r>
            <a:r>
              <a:rPr lang="en-US" sz="1800" b="1" dirty="0"/>
              <a:t>row </a:t>
            </a:r>
            <a:r>
              <a:rPr lang="en-US" sz="1800" b="1" dirty="0" err="1"/>
              <a:t>i</a:t>
            </a:r>
            <a:r>
              <a:rPr lang="en-US" sz="1800" dirty="0"/>
              <a:t>, and only with the rights permitted in the corresponding access-matrix entries. The main policy decisions involve selecting which rights should be included in each </a:t>
            </a:r>
            <a:r>
              <a:rPr lang="en-US" sz="1800" b="1" dirty="0"/>
              <a:t>(</a:t>
            </a:r>
            <a:r>
              <a:rPr lang="en-US" sz="1800" b="1" dirty="0" err="1"/>
              <a:t>i</a:t>
            </a:r>
            <a:r>
              <a:rPr lang="en-US" sz="1800" b="1" dirty="0"/>
              <a:t>, j)</a:t>
            </a:r>
            <a:r>
              <a:rPr lang="en-US" sz="1800" dirty="0"/>
              <a:t> entry and deciding the domain in which each process will execute (usually determined by the operating system). Users normally control the contents of the access matrix; when a user creates a new object </a:t>
            </a:r>
            <a:r>
              <a:rPr lang="en-US" sz="1800" b="1" dirty="0" err="1"/>
              <a:t>Oj</a:t>
            </a:r>
            <a:r>
              <a:rPr lang="en-US" sz="1800" dirty="0"/>
              <a:t>, a new column is added and initialized with rights chosen by the creator, who may assign different rights to different domains as needed.</a:t>
            </a:r>
          </a:p>
          <a:p>
            <a:pPr algn="just">
              <a:buNone/>
            </a:pPr>
            <a:endParaRPr lang="en-US" sz="1800" dirty="0"/>
          </a:p>
          <a:p>
            <a:pPr algn="just">
              <a:buNone/>
            </a:pPr>
            <a:endParaRPr lang="en-US" sz="1800" dirty="0"/>
          </a:p>
          <a:p>
            <a:pPr algn="just">
              <a:buNone/>
            </a:pPr>
            <a:r>
              <a:rPr lang="en-US" sz="1800" dirty="0"/>
              <a:t>The access matrix also supports both </a:t>
            </a:r>
            <a:r>
              <a:rPr lang="en-US" sz="1800" b="1" dirty="0"/>
              <a:t>static and dynamic control</a:t>
            </a:r>
            <a:r>
              <a:rPr lang="en-US" sz="1800" dirty="0"/>
              <a:t> of how processes relate to domains. Domain switching is treated as an operation performed on an object (the domain), so domains themselves can be included as objects in the matrix to control switching. Similarly, changes to the access matrix are operations on an object, so the access matrix (and even each individual entry) must be protected as well. Processes are allowed to switch from domain </a:t>
            </a:r>
            <a:r>
              <a:rPr lang="en-US" sz="1800" b="1" dirty="0"/>
              <a:t>Di</a:t>
            </a:r>
            <a:r>
              <a:rPr lang="en-US" sz="1800" dirty="0"/>
              <a:t> to domain </a:t>
            </a:r>
            <a:r>
              <a:rPr lang="en-US" sz="1800" b="1" dirty="0" err="1"/>
              <a:t>Dj</a:t>
            </a:r>
            <a:r>
              <a:rPr lang="en-US" sz="1800" dirty="0"/>
              <a:t> only if the right </a:t>
            </a:r>
            <a:r>
              <a:rPr lang="en-US" sz="1800" b="1" dirty="0"/>
              <a:t>switch</a:t>
            </a:r>
            <a:r>
              <a:rPr lang="en-US" sz="1800" dirty="0"/>
              <a:t> is present, meaning switching is permitted </a:t>
            </a:r>
            <a:r>
              <a:rPr lang="en-US" sz="1800" b="1" dirty="0"/>
              <a:t>if and only if</a:t>
            </a:r>
            <a:r>
              <a:rPr lang="en-US" sz="1800" dirty="0"/>
              <a:t>: </a:t>
            </a:r>
            <a:r>
              <a:rPr lang="en-US" sz="1800" b="1" dirty="0"/>
              <a:t>switch ∈ access(</a:t>
            </a:r>
            <a:r>
              <a:rPr lang="en-US" sz="1800" b="1" dirty="0" err="1"/>
              <a:t>i</a:t>
            </a:r>
            <a:r>
              <a:rPr lang="en-US" sz="1800" b="1" dirty="0"/>
              <a:t>, j)</a:t>
            </a:r>
            <a:r>
              <a:rPr lang="en-US" sz="1800" dirty="0"/>
              <a:t>.</a:t>
            </a:r>
          </a:p>
        </p:txBody>
      </p:sp>
    </p:spTree>
    <p:extLst>
      <p:ext uri="{BB962C8B-B14F-4D97-AF65-F5344CB8AC3E}">
        <p14:creationId xmlns:p14="http://schemas.microsoft.com/office/powerpoint/2010/main" val="34698255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5D4C4858-D9FC-482B-A3AD-99DB3A476F22}"/>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69CCE959-143E-2941-8E8F-3EF63DF5CD9E}"/>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44AD58E1-1CDD-7518-2D0A-17E4863FFEFC}"/>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 Access Matrix</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524AB08A-0903-F8D4-2562-C4B74FA0CBC0}"/>
              </a:ext>
            </a:extLst>
          </p:cNvPr>
          <p:cNvPicPr>
            <a:picLocks noChangeAspect="1"/>
          </p:cNvPicPr>
          <p:nvPr/>
        </p:nvPicPr>
        <p:blipFill>
          <a:blip r:embed="rId3"/>
          <a:stretch>
            <a:fillRect/>
          </a:stretch>
        </p:blipFill>
        <p:spPr>
          <a:xfrm>
            <a:off x="1761334" y="2015367"/>
            <a:ext cx="7352448" cy="3444139"/>
          </a:xfrm>
          <a:prstGeom prst="rect">
            <a:avLst/>
          </a:prstGeom>
        </p:spPr>
      </p:pic>
    </p:spTree>
    <p:extLst>
      <p:ext uri="{BB962C8B-B14F-4D97-AF65-F5344CB8AC3E}">
        <p14:creationId xmlns:p14="http://schemas.microsoft.com/office/powerpoint/2010/main" val="31753514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9F1D3E1F-1790-C6F5-CB72-DD1A773899A9}"/>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FAC2243E-3DC8-2427-F64A-D73BF78E42D2}"/>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E4002A47-79F4-1C18-3197-4BFC25437BA8}"/>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 Access Matrix</a:t>
            </a:r>
            <a:endParaRPr sz="3600" b="1" i="0" u="none" strike="noStrike" cap="none" dirty="0">
              <a:solidFill>
                <a:schemeClr val="lt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9EFF3911-3D7A-972D-F0C0-A34235004680}"/>
              </a:ext>
            </a:extLst>
          </p:cNvPr>
          <p:cNvPicPr>
            <a:picLocks noChangeAspect="1"/>
          </p:cNvPicPr>
          <p:nvPr/>
        </p:nvPicPr>
        <p:blipFill>
          <a:blip r:embed="rId3"/>
          <a:stretch>
            <a:fillRect/>
          </a:stretch>
        </p:blipFill>
        <p:spPr>
          <a:xfrm>
            <a:off x="735106" y="1371644"/>
            <a:ext cx="5750842" cy="5017082"/>
          </a:xfrm>
          <a:prstGeom prst="rect">
            <a:avLst/>
          </a:prstGeom>
        </p:spPr>
      </p:pic>
      <p:pic>
        <p:nvPicPr>
          <p:cNvPr id="6" name="Picture 5">
            <a:extLst>
              <a:ext uri="{FF2B5EF4-FFF2-40B4-BE49-F238E27FC236}">
                <a16:creationId xmlns:a16="http://schemas.microsoft.com/office/drawing/2014/main" id="{6B1B652D-B9C7-BF6B-E085-B7A3548C5BCC}"/>
              </a:ext>
            </a:extLst>
          </p:cNvPr>
          <p:cNvPicPr>
            <a:picLocks noChangeAspect="1"/>
          </p:cNvPicPr>
          <p:nvPr/>
        </p:nvPicPr>
        <p:blipFill>
          <a:blip r:embed="rId4"/>
          <a:stretch>
            <a:fillRect/>
          </a:stretch>
        </p:blipFill>
        <p:spPr>
          <a:xfrm>
            <a:off x="5615229" y="983814"/>
            <a:ext cx="6035563" cy="2987551"/>
          </a:xfrm>
          <a:prstGeom prst="rect">
            <a:avLst/>
          </a:prstGeom>
        </p:spPr>
      </p:pic>
    </p:spTree>
    <p:extLst>
      <p:ext uri="{BB962C8B-B14F-4D97-AF65-F5344CB8AC3E}">
        <p14:creationId xmlns:p14="http://schemas.microsoft.com/office/powerpoint/2010/main" val="18425204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3ED91A4E-646E-C3C9-302D-4A4CA6F9112D}"/>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DC13606C-0E82-E05A-AAD9-A6F1391A16FB}"/>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ADF548A8-78D1-49BB-BF6E-013504446ADF}"/>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Protection: Access Matrix</a:t>
            </a:r>
            <a:endParaRPr sz="3600" b="1" i="0" u="none" strike="noStrike" cap="none" dirty="0">
              <a:solidFill>
                <a:schemeClr val="lt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38A62A83-2BC8-6373-ACC9-0BBAE28FBCE6}"/>
              </a:ext>
            </a:extLst>
          </p:cNvPr>
          <p:cNvPicPr>
            <a:picLocks noChangeAspect="1"/>
          </p:cNvPicPr>
          <p:nvPr/>
        </p:nvPicPr>
        <p:blipFill>
          <a:blip r:embed="rId3"/>
          <a:stretch>
            <a:fillRect/>
          </a:stretch>
        </p:blipFill>
        <p:spPr>
          <a:xfrm>
            <a:off x="76200" y="839776"/>
            <a:ext cx="6253100" cy="4999153"/>
          </a:xfrm>
          <a:prstGeom prst="rect">
            <a:avLst/>
          </a:prstGeom>
        </p:spPr>
      </p:pic>
      <p:sp>
        <p:nvSpPr>
          <p:cNvPr id="8" name="TextBox 7">
            <a:extLst>
              <a:ext uri="{FF2B5EF4-FFF2-40B4-BE49-F238E27FC236}">
                <a16:creationId xmlns:a16="http://schemas.microsoft.com/office/drawing/2014/main" id="{98F4DCED-94C9-0EF2-D57E-2DB95D687E61}"/>
              </a:ext>
            </a:extLst>
          </p:cNvPr>
          <p:cNvSpPr txBox="1"/>
          <p:nvPr/>
        </p:nvSpPr>
        <p:spPr>
          <a:xfrm>
            <a:off x="5567082" y="929423"/>
            <a:ext cx="6253100" cy="2677656"/>
          </a:xfrm>
          <a:prstGeom prst="rect">
            <a:avLst/>
          </a:prstGeom>
          <a:noFill/>
        </p:spPr>
        <p:txBody>
          <a:bodyPr wrap="square">
            <a:spAutoFit/>
          </a:bodyPr>
          <a:lstStyle/>
          <a:p>
            <a:r>
              <a:rPr lang="en-US" dirty="0"/>
              <a:t>Copy and owner rights can restrict how access rights are shared, but they cannot stop information leakage, meaning they do not prevent disclosure of data.</a:t>
            </a:r>
          </a:p>
          <a:p>
            <a:endParaRPr lang="en-US" dirty="0"/>
          </a:p>
          <a:p>
            <a:endParaRPr lang="en-US" dirty="0"/>
          </a:p>
          <a:p>
            <a:r>
              <a:rPr lang="en-US" dirty="0"/>
              <a:t>The challenge of ensuring that information inside an object never escapes its environment is called the confinement problem, and it is generally unsolvable.</a:t>
            </a:r>
          </a:p>
          <a:p>
            <a:endParaRPr lang="en-US" dirty="0"/>
          </a:p>
          <a:p>
            <a:r>
              <a:rPr lang="en-US" dirty="0"/>
              <a:t>Operations on domains and the access matrix may not be important by themselves, but they show that the access-matrix model supports dynamic protection by allowing controlled changes in rights and domains.</a:t>
            </a:r>
          </a:p>
        </p:txBody>
      </p:sp>
    </p:spTree>
    <p:extLst>
      <p:ext uri="{BB962C8B-B14F-4D97-AF65-F5344CB8AC3E}">
        <p14:creationId xmlns:p14="http://schemas.microsoft.com/office/powerpoint/2010/main" val="25153391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9087</TotalTime>
  <Words>5657</Words>
  <Application>Microsoft Office PowerPoint</Application>
  <PresentationFormat>Widescreen</PresentationFormat>
  <Paragraphs>335</Paragraphs>
  <Slides>63</Slides>
  <Notes>63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Shubha Malige</dc:creator>
  <cp:lastModifiedBy>Shubha Malige</cp:lastModifiedBy>
  <cp:revision>84</cp:revision>
  <dcterms:modified xsi:type="dcterms:W3CDTF">2026-05-18T06:39:48Z</dcterms:modified>
</cp:coreProperties>
</file>