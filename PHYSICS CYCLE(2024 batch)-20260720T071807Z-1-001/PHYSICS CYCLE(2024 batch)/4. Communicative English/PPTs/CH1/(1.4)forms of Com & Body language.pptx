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7" roundtripDataSignature="AMtx7mg5873rAyQWLnKdR+r4SnQSm7/7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Calibri"/>
              <a:buNone/>
            </a:pPr>
            <a:r>
              <a:rPr b="0" i="0" lang="en-US" sz="4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Communicative English  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– Humanities and Social Sciences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Forms of communication and Body language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Forms of communication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Media / means of communication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1. Verbal – oral and written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2. non verbal – sign language and body language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>
            <p:ph type="title"/>
          </p:nvPr>
        </p:nvSpPr>
        <p:spPr>
          <a:xfrm>
            <a:off x="838200" y="1"/>
            <a:ext cx="10515600" cy="803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Advantages of oral communication </a:t>
            </a:r>
            <a:endParaRPr/>
          </a:p>
        </p:txBody>
      </p:sp>
      <p:sp>
        <p:nvSpPr>
          <p:cNvPr id="97" name="Google Shape;97;p4"/>
          <p:cNvSpPr txBox="1"/>
          <p:nvPr>
            <p:ph idx="1" type="body"/>
          </p:nvPr>
        </p:nvSpPr>
        <p:spPr>
          <a:xfrm>
            <a:off x="235527" y="762001"/>
            <a:ext cx="11707091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Time saving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Cost saving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 effective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powerful – esp in persuasion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Immediate feedback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 suitable – esp to seek clarification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Relationship and rapport – PR skills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Flexibility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Easiness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Correction of errors on the spot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mixed with informality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Helpful in motivation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Secrecy esp if parties have common interests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type="title"/>
          </p:nvPr>
        </p:nvSpPr>
        <p:spPr>
          <a:xfrm>
            <a:off x="838200" y="96983"/>
            <a:ext cx="10515600" cy="65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Disadvantages of oral Communication </a:t>
            </a:r>
            <a:endParaRPr/>
          </a:p>
        </p:txBody>
      </p:sp>
      <p:sp>
        <p:nvSpPr>
          <p:cNvPr id="103" name="Google Shape;103;p5"/>
          <p:cNvSpPr txBox="1"/>
          <p:nvPr>
            <p:ph idx="1" type="body"/>
          </p:nvPr>
        </p:nvSpPr>
        <p:spPr>
          <a:xfrm>
            <a:off x="193963" y="748145"/>
            <a:ext cx="11679381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 record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Sometimes expensive esp if the speakers / audience have to travel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Distortions of words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Inaccuracy of diction and tone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Confused speech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suitable for lengthy messages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Omission of points – if main focus is shifted – beating round the bush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Confusion based on the perception of the listener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 legal validity , even if recorded, oral promise etc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Possibility of irrelevant discussions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taken seriously vis a vis written communication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Disorganized speech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accepted in policy making etc for organizations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Written communication </a:t>
            </a:r>
            <a:endParaRPr/>
          </a:p>
        </p:txBody>
      </p:sp>
      <p:sp>
        <p:nvSpPr>
          <p:cNvPr id="109" name="Google Shape;10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Letters – most common – formal – informal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Memos – memorandum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Circulars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Report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Minutes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152400" y="138546"/>
            <a:ext cx="11540836" cy="99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Advantages &amp; disadvantages of written communication </a:t>
            </a:r>
            <a:endParaRPr/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152399" y="1136074"/>
            <a:ext cx="11804073" cy="55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 requirement of personal contact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Saves money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Written proof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Disadvantages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Possibility of delay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Lack of secrecy – once on paper anyone can access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Cost – esp for technology based written communication 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838200" y="0"/>
            <a:ext cx="10515600" cy="1648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Features of Non verbal communication – sign language  and body language  </a:t>
            </a:r>
            <a:endParaRPr/>
          </a:p>
        </p:txBody>
      </p:sp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838200" y="1773382"/>
            <a:ext cx="10515600" cy="4862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Uses both written and oral 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Pictures , maps and other graphics enrich speech and documents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Pictures and symbols used to give instructions – no parking  signs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Facial expressions, gestures, eye contact tone of voice speak loudest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Non verbal behaviors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Silence also depicts a message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Natural , unconscious language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Has to coordinate speech and body language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Non verbal communication matters – reflects ones nature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>
            <p:ph type="title"/>
          </p:nvPr>
        </p:nvSpPr>
        <p:spPr>
          <a:xfrm>
            <a:off x="838200" y="152401"/>
            <a:ext cx="10515600" cy="80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Sign language </a:t>
            </a:r>
            <a:endParaRPr/>
          </a:p>
        </p:txBody>
      </p:sp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838200" y="1205345"/>
            <a:ext cx="10515600" cy="5278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Facial expressions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Oculesics – eye contact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Personal appearance – effects non verbal stimuli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Haptic communication – touch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Proxemics – distance – zone / spatials during verbal communication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intimate distance – 0 - 2ft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personal distance – 2 – 4 ft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social distance – 4 -12 ft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d. public distance - &gt; 12 ft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Adornments – dress, tattoos, jewelry etc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838200" y="1"/>
            <a:ext cx="10515600" cy="80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Body language – types  </a:t>
            </a:r>
            <a:endParaRPr/>
          </a:p>
        </p:txBody>
      </p:sp>
      <p:sp>
        <p:nvSpPr>
          <p:cNvPr id="134" name="Google Shape;134;p10"/>
          <p:cNvSpPr txBox="1"/>
          <p:nvPr>
            <p:ph idx="1" type="body"/>
          </p:nvPr>
        </p:nvSpPr>
        <p:spPr>
          <a:xfrm>
            <a:off x="304800" y="803564"/>
            <a:ext cx="11540836" cy="59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None/>
            </a:pPr>
            <a:r>
              <a:rPr b="1" lang="en-US">
                <a:solidFill>
                  <a:schemeClr val="accent5"/>
                </a:solidFill>
              </a:rPr>
              <a:t>1. Kinesics – body movement/ gestures  – shrugs, winking, tap,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ct val="100000"/>
              <a:buNone/>
            </a:pPr>
            <a:r>
              <a:rPr b="1" lang="en-US">
                <a:solidFill>
                  <a:schemeClr val="accent5"/>
                </a:solidFill>
              </a:rPr>
              <a:t>2. Posture – gait, stance, subtle movement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ct val="100000"/>
              <a:buNone/>
            </a:pPr>
            <a:r>
              <a:rPr b="1" lang="en-US">
                <a:solidFill>
                  <a:schemeClr val="accent5"/>
                </a:solidFill>
              </a:rPr>
              <a:t>3. Gesture – point , beckon , use of hands etc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ct val="100000"/>
              <a:buNone/>
            </a:pPr>
            <a:r>
              <a:rPr b="1" lang="en-US">
                <a:solidFill>
                  <a:schemeClr val="accent5"/>
                </a:solidFill>
              </a:rPr>
              <a:t>4. Paralinguistic – that do not involve words in oral communication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i="1" lang="en-US">
                <a:solidFill>
                  <a:schemeClr val="accent2"/>
                </a:solidFill>
              </a:rPr>
              <a:t>a. Voice – uh uh, , hmm – indicates feelings , sarcasm, anger, affection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i="1" lang="en-US">
                <a:solidFill>
                  <a:schemeClr val="accent2"/>
                </a:solidFill>
              </a:rPr>
              <a:t>b. Pitch – vibration per sec of the vocal chords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i="1" lang="en-US">
                <a:solidFill>
                  <a:schemeClr val="accent2"/>
                </a:solidFill>
              </a:rPr>
              <a:t>c. Intonation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i="1" lang="en-US">
                <a:solidFill>
                  <a:schemeClr val="accent2"/>
                </a:solidFill>
              </a:rPr>
              <a:t>d. Articulation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i="1" lang="en-US">
                <a:solidFill>
                  <a:schemeClr val="accent2"/>
                </a:solidFill>
              </a:rPr>
              <a:t>e. Pauses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i="1" lang="en-US">
                <a:solidFill>
                  <a:schemeClr val="accent2"/>
                </a:solidFill>
              </a:rPr>
              <a:t>f. Chronemics – use of time , waiting , speeding up etc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i="1" lang="en-US">
                <a:solidFill>
                  <a:schemeClr val="accent2"/>
                </a:solidFill>
              </a:rPr>
              <a:t>g. Silence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i="1" lang="en-US">
                <a:solidFill>
                  <a:schemeClr val="accent2"/>
                </a:solidFill>
              </a:rPr>
              <a:t>h. Vocalic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ct val="100000"/>
              <a:buNone/>
            </a:pPr>
            <a:r>
              <a:rPr b="1" lang="en-US">
                <a:solidFill>
                  <a:schemeClr val="accent5"/>
                </a:solidFill>
              </a:rPr>
              <a:t>5. Locomotion – walking, jumping , swaying , wheel chairs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Importance of Body Language </a:t>
            </a:r>
            <a:endParaRPr/>
          </a:p>
        </p:txBody>
      </p:sp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Invest in refining Body Language.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Upgrading your communication – not just improving your own, but learn to identify general BL features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case there is an oddity in your BL, practice the right method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 not be unnatural and artificial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Avoid being misunderstood and sometimes manipulated too – do not be ignorant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impression is a big impression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Standardized / acceptable universally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Body language features across cultures </a:t>
            </a:r>
            <a:endParaRPr/>
          </a:p>
        </p:txBody>
      </p:sp>
      <p:sp>
        <p:nvSpPr>
          <p:cNvPr id="146" name="Google Shape;146;p12"/>
          <p:cNvSpPr txBox="1"/>
          <p:nvPr>
            <p:ph idx="1" type="body"/>
          </p:nvPr>
        </p:nvSpPr>
        <p:spPr>
          <a:xfrm>
            <a:off x="838200" y="1468582"/>
            <a:ext cx="10515600" cy="4708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What are the parameters used to study or recognize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Cultural background – regions and cultures , historical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Haptics – touch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Oculesics – eye contact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Kinesics – body motion and gestures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Vocalic – tone volume of speech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Posture – stance, gait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Proxemics – use of space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Chronemics – time, speed , waiting 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Forms of greetings </a:t>
            </a:r>
            <a:endParaRPr/>
          </a:p>
        </p:txBody>
      </p:sp>
      <p:sp>
        <p:nvSpPr>
          <p:cNvPr id="152" name="Google Shape;15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Handshakes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Hugging and kissing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Bowing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Eye contact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Smiling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2020-11-18T07:23:57Z</dcterms:created>
  <dc:creator>kiraaan</dc:creator>
</cp:coreProperties>
</file>