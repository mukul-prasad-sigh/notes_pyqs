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22920A2-29B7-4F8F-98EE-D77EA92CB45D}" type="slidenum">
              <a:rPr lang="en-IN" sz="1400">
                <a:latin typeface="Times New Roman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51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8177F050-3095-4B9D-AD6E-622AA00FADA6}" type="slidenum">
              <a:rPr lang="en-IN" sz="1200">
                <a:solidFill>
                  <a:srgbClr val="000000"/>
                </a:solidFill>
                <a:latin typeface="+mn-lt"/>
                <a:ea typeface="+mn-ea"/>
              </a:rPr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284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599A54B2-D273-4730-ADA5-A3FEA1120999}" type="slidenum">
              <a:rPr lang="en-IN" sz="1200">
                <a:solidFill>
                  <a:srgbClr val="000000"/>
                </a:solidFill>
                <a:latin typeface="+mn-lt"/>
                <a:ea typeface="+mn-ea"/>
              </a:rPr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820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</p:spPr>
        <p:txBody>
          <a:bodyPr anchor="b"/>
          <a:lstStyle/>
          <a:p>
            <a:pPr algn="r">
              <a:lnSpc>
                <a:spcPct val="100000"/>
              </a:lnSpc>
            </a:pPr>
            <a:fld id="{87ACC95C-23EC-44E9-8763-D9FA6C7F8BE8}" type="slidenum">
              <a:rPr lang="en-IN" sz="1200">
                <a:solidFill>
                  <a:srgbClr val="000000"/>
                </a:solidFill>
                <a:latin typeface="+mn-lt"/>
                <a:ea typeface="+mn-ea"/>
              </a:rPr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72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8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Picture 36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8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8B8B8B"/>
                </a:solidFill>
                <a:latin typeface="Calibri"/>
              </a:rPr>
              <a:t>13/04/18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3A7489A-C9D3-4BA4-9829-92C020D4D5FC}" type="slidenum">
              <a:rPr lang="en-IN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8B8B8B"/>
                </a:solidFill>
                <a:latin typeface="Calibri"/>
              </a:rPr>
              <a:t>13/04/18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EA134751-892A-4927-AE07-F1CC273CE879}" type="slidenum">
              <a:rPr lang="en-IN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685800" y="2282760"/>
            <a:ext cx="7772040" cy="206028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7200" b="1">
                <a:solidFill>
                  <a:srgbClr val="000000"/>
                </a:solidFill>
                <a:latin typeface="Times New Roman"/>
              </a:rPr>
              <a:t>KNAPSACK
PROBLEM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PROBLEM  &amp;  GOAL</a:t>
            </a:r>
            <a:endParaRPr/>
          </a:p>
        </p:txBody>
      </p:sp>
      <p:sp>
        <p:nvSpPr>
          <p:cNvPr id="85" name="TextShape 2"/>
          <p:cNvSpPr txBox="1"/>
          <p:nvPr/>
        </p:nvSpPr>
        <p:spPr>
          <a:xfrm>
            <a:off x="228600" y="1600200"/>
            <a:ext cx="8762760" cy="495252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We are given </a:t>
            </a:r>
            <a:r>
              <a:rPr lang="en-US" sz="3600" b="1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items {1, . . . , n}, and each has a given nonnegative weight </a:t>
            </a:r>
            <a:r>
              <a:rPr lang="en-US" sz="3600" b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000" b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(for i = 1, . . . , n).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We are also given a bound of Knapsack capacity W.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We would like to select a subset S of the items so that ∑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i∈S </a:t>
            </a:r>
            <a:r>
              <a:rPr lang="en-US" sz="3600" b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000" b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≤ </a:t>
            </a:r>
            <a:r>
              <a:rPr lang="en-US" sz="3600" b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and, subject to this restriction, </a:t>
            </a:r>
            <a:r>
              <a:rPr lang="en-US" sz="4800">
                <a:solidFill>
                  <a:srgbClr val="000000"/>
                </a:solidFill>
                <a:latin typeface="Times New Roman"/>
              </a:rPr>
              <a:t>∑</a:t>
            </a:r>
            <a:r>
              <a:rPr lang="en-US" sz="2600">
                <a:solidFill>
                  <a:srgbClr val="000000"/>
                </a:solidFill>
                <a:latin typeface="Times New Roman"/>
              </a:rPr>
              <a:t>i∈S </a:t>
            </a:r>
            <a:r>
              <a:rPr lang="en-US" sz="4800" b="1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sz="3600" b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is as large as possible.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We will call this the Knapsack Problem. </a:t>
            </a:r>
            <a:endParaRPr/>
          </a:p>
          <a:p>
            <a:pPr algn="just">
              <a:lnSpc>
                <a:spcPct val="100000"/>
              </a:lnSpc>
            </a:pPr>
            <a:endParaRPr/>
          </a:p>
        </p:txBody>
      </p:sp>
      <p:sp>
        <p:nvSpPr>
          <p:cNvPr id="86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71B9A023-C896-4E23-A12C-B9D1EF227C2F}" type="slidenum">
              <a:rPr lang="en-IN" sz="1200">
                <a:solidFill>
                  <a:srgbClr val="8B8B8B"/>
                </a:solidFill>
                <a:latin typeface="Calibri"/>
              </a:rPr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DESIGNING THE ALGORITHM</a:t>
            </a:r>
            <a:endParaRPr/>
          </a:p>
        </p:txBody>
      </p:sp>
      <p:sp>
        <p:nvSpPr>
          <p:cNvPr id="88" name="TextShape 2"/>
          <p:cNvSpPr txBox="1"/>
          <p:nvPr/>
        </p:nvSpPr>
        <p:spPr>
          <a:xfrm>
            <a:off x="228600" y="1600200"/>
            <a:ext cx="8762760" cy="525744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Let us consider and optimal solution.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"/>
              </a:rPr>
              <a:t>OPT(n, W) = max profit from items  1, …, n with weight limit W.</a:t>
            </a:r>
            <a:r>
              <a:rPr lang="en-US" sz="3600">
                <a:solidFill>
                  <a:srgbClr val="000000"/>
                </a:solidFill>
                <a:latin typeface="Times New Roman"/>
              </a:rPr>
              <a:t>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There can be 2 cases if we consider an nth item as follows </a:t>
            </a:r>
            <a:endParaRPr/>
          </a:p>
          <a:p>
            <a:pPr lvl="1" algn="just">
              <a:lnSpc>
                <a:spcPct val="100000"/>
              </a:lnSpc>
              <a:buFont typeface="Wingdings" charset="2"/>
              <a:buChar char=""/>
            </a:pPr>
            <a:r>
              <a:rPr lang="en-US" sz="2800" b="1">
                <a:solidFill>
                  <a:srgbClr val="000000"/>
                </a:solidFill>
                <a:latin typeface="Times New Roman"/>
              </a:rPr>
              <a:t>Case 1:  OPT</a:t>
            </a:r>
            <a:r>
              <a:rPr lang="en-US" sz="2800">
                <a:solidFill>
                  <a:srgbClr val="000000"/>
                </a:solidFill>
                <a:latin typeface="Times New Roman"/>
              </a:rPr>
              <a:t> does not select item n i.e. n    OPT  </a:t>
            </a:r>
            <a:endParaRPr/>
          </a:p>
          <a:p>
            <a:pPr lvl="2" algn="just">
              <a:lnSpc>
                <a:spcPct val="100000"/>
              </a:lnSpc>
              <a:buFont typeface="Wingdings" charset="2"/>
              <a:buChar char=""/>
            </a:pPr>
            <a:r>
              <a:rPr lang="en-US" sz="2400" b="1">
                <a:solidFill>
                  <a:srgbClr val="000000"/>
                </a:solidFill>
                <a:latin typeface="Times New Roman"/>
              </a:rPr>
              <a:t>OPT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 selects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best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 of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{ 1, 2, …, n-1 }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 using weight limit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.</a:t>
            </a:r>
            <a:endParaRPr/>
          </a:p>
          <a:p>
            <a:pPr lvl="1" algn="just">
              <a:lnSpc>
                <a:spcPct val="100000"/>
              </a:lnSpc>
              <a:buFont typeface="Wingdings" charset="2"/>
              <a:buChar char=""/>
            </a:pPr>
            <a:r>
              <a:rPr lang="en-US" sz="2800" b="1">
                <a:solidFill>
                  <a:srgbClr val="000000"/>
                </a:solidFill>
                <a:latin typeface="Times New Roman"/>
              </a:rPr>
              <a:t>Case 2:  OPT</a:t>
            </a:r>
            <a:r>
              <a:rPr lang="en-US" sz="2800">
                <a:solidFill>
                  <a:srgbClr val="000000"/>
                </a:solidFill>
                <a:latin typeface="Times New Roman"/>
              </a:rPr>
              <a:t> selects item n.  (i.e. n    OPT)</a:t>
            </a:r>
            <a:endParaRPr/>
          </a:p>
          <a:p>
            <a:pPr lvl="2" algn="just">
              <a:lnSpc>
                <a:spcPct val="100000"/>
              </a:lnSpc>
              <a:buFont typeface="Wingdings" charset="2"/>
              <a:buChar char="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New weight limit =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W – w</a:t>
            </a:r>
            <a:r>
              <a:rPr lang="en-US" b="1">
                <a:solidFill>
                  <a:srgbClr val="000000"/>
                </a:solidFill>
                <a:latin typeface="Times New Roman"/>
              </a:rPr>
              <a:t>n</a:t>
            </a:r>
            <a:endParaRPr/>
          </a:p>
          <a:p>
            <a:pPr lvl="2" algn="just">
              <a:lnSpc>
                <a:spcPct val="100000"/>
              </a:lnSpc>
              <a:buFont typeface="Wingdings" charset="2"/>
              <a:buChar char=""/>
            </a:pPr>
            <a:r>
              <a:rPr lang="en-US" sz="2400" b="1">
                <a:solidFill>
                  <a:srgbClr val="000000"/>
                </a:solidFill>
                <a:latin typeface="Times New Roman"/>
              </a:rPr>
              <a:t>OPT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 selects best of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{ 1, 2, …, n–1 }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 using </a:t>
            </a:r>
            <a:r>
              <a:rPr lang="en-US" sz="2400" b="1">
                <a:solidFill>
                  <a:srgbClr val="000000"/>
                </a:solidFill>
                <a:latin typeface="Times New Roman"/>
              </a:rPr>
              <a:t>this new weight limit</a:t>
            </a:r>
            <a:r>
              <a:rPr lang="en-US" sz="2400">
                <a:solidFill>
                  <a:srgbClr val="000000"/>
                </a:solidFill>
                <a:latin typeface="Times New Roman"/>
              </a:rPr>
              <a:t>. </a:t>
            </a:r>
            <a:endParaRPr/>
          </a:p>
        </p:txBody>
      </p:sp>
      <p:sp>
        <p:nvSpPr>
          <p:cNvPr id="89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03BE1479-E404-46A6-9AA4-0890CA6582A7}" type="slidenum">
              <a:rPr lang="en-IN" sz="1200">
                <a:solidFill>
                  <a:srgbClr val="8B8B8B"/>
                </a:solidFill>
                <a:latin typeface="Calibri"/>
              </a:rPr>
              <a:t>3</a:t>
            </a:fld>
            <a:endParaRPr/>
          </a:p>
        </p:txBody>
      </p:sp>
      <p:pic>
        <p:nvPicPr>
          <p:cNvPr id="90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21880" y="4495680"/>
            <a:ext cx="192960" cy="228240"/>
          </a:xfrm>
          <a:prstGeom prst="rect">
            <a:avLst/>
          </a:prstGeom>
          <a:ln w="9360">
            <a:noFill/>
          </a:ln>
        </p:spPr>
      </p:pic>
      <p:pic>
        <p:nvPicPr>
          <p:cNvPr id="91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248520" y="5410080"/>
            <a:ext cx="151920" cy="15192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DESIGNING THE ALGORITHM</a:t>
            </a:r>
            <a:endParaRPr/>
          </a:p>
        </p:txBody>
      </p:sp>
      <p:sp>
        <p:nvSpPr>
          <p:cNvPr id="93" name="TextShape 2"/>
          <p:cNvSpPr txBox="1"/>
          <p:nvPr/>
        </p:nvSpPr>
        <p:spPr>
          <a:xfrm>
            <a:off x="228600" y="1600200"/>
            <a:ext cx="8762760" cy="525744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Recurrence Relation</a:t>
            </a:r>
            <a:endParaRPr/>
          </a:p>
        </p:txBody>
      </p:sp>
      <p:sp>
        <p:nvSpPr>
          <p:cNvPr id="94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7DDC572A-D9E8-4F30-AFDD-ECE6D50D81DB}" type="slidenum">
              <a:rPr lang="en-IN" sz="1200">
                <a:solidFill>
                  <a:srgbClr val="8B8B8B"/>
                </a:solidFill>
                <a:latin typeface="Calibri"/>
              </a:rPr>
              <a:t>4</a:t>
            </a:fld>
            <a:endParaRPr/>
          </a:p>
        </p:txBody>
      </p:sp>
      <p:pic>
        <p:nvPicPr>
          <p:cNvPr id="95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3352680"/>
            <a:ext cx="8152920" cy="1206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57200" y="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ALGORITHM</a:t>
            </a:r>
            <a:endParaRPr/>
          </a:p>
        </p:txBody>
      </p:sp>
      <p:sp>
        <p:nvSpPr>
          <p:cNvPr id="97" name="TextShape 2"/>
          <p:cNvSpPr txBox="1"/>
          <p:nvPr/>
        </p:nvSpPr>
        <p:spPr>
          <a:xfrm>
            <a:off x="228600" y="990720"/>
            <a:ext cx="8762760" cy="55623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//Purpose: To find the maximum value or profit from the given n items and their weights wi </a:t>
            </a:r>
            <a:endParaRPr/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//Input: A set of items 1,2,…….n, with, w1, … ,wN, and values v1,v2……,vn with knapsack capacity W</a:t>
            </a:r>
            <a:endParaRPr/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//Output: Max Profit M[n, W] </a:t>
            </a:r>
            <a:endParaRPr/>
          </a:p>
          <a:p>
            <a:pPr algn="just">
              <a:lnSpc>
                <a:spcPct val="100000"/>
              </a:lnSpc>
            </a:pPr>
            <a:endParaRPr/>
          </a:p>
          <a:p>
            <a:pPr algn="just">
              <a:lnSpc>
                <a:spcPct val="100000"/>
              </a:lnSpc>
            </a:pPr>
            <a:endParaRPr/>
          </a:p>
        </p:txBody>
      </p:sp>
      <p:sp>
        <p:nvSpPr>
          <p:cNvPr id="98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442CA41-0723-4E22-AAFC-032D71261235}" type="slidenum">
              <a:rPr lang="en-IN" sz="1200">
                <a:solidFill>
                  <a:srgbClr val="8B8B8B"/>
                </a:solidFill>
                <a:latin typeface="Calibri"/>
              </a:rPr>
              <a:t>5</a:t>
            </a:fld>
            <a:endParaRPr/>
          </a:p>
        </p:txBody>
      </p:sp>
      <p:pic>
        <p:nvPicPr>
          <p:cNvPr id="99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3124080"/>
            <a:ext cx="8381520" cy="35334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01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D069664-C488-4BE6-BAD4-B2A8986EA3B2}" type="slidenum">
              <a:rPr lang="en-IN" sz="1200">
                <a:solidFill>
                  <a:srgbClr val="8B8B8B"/>
                </a:solidFill>
                <a:latin typeface="Calibri"/>
              </a:rPr>
              <a:t>6</a:t>
            </a:fld>
            <a:endParaRPr/>
          </a:p>
        </p:txBody>
      </p:sp>
      <p:graphicFrame>
        <p:nvGraphicFramePr>
          <p:cNvPr id="102" name="Table 3"/>
          <p:cNvGraphicFramePr/>
          <p:nvPr/>
        </p:nvGraphicFramePr>
        <p:xfrm>
          <a:off x="533520" y="1295280"/>
          <a:ext cx="8381520" cy="2565000"/>
        </p:xfrm>
        <a:graphic>
          <a:graphicData uri="http://schemas.openxmlformats.org/drawingml/2006/table">
            <a:tbl>
              <a:tblPr/>
              <a:tblGrid>
                <a:gridCol w="1904760"/>
                <a:gridCol w="2482200"/>
                <a:gridCol w="2226240"/>
                <a:gridCol w="1768320"/>
              </a:tblGrid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ITEMS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WEIGHTS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W = 5</a:t>
                      </a:r>
                      <a:endParaRPr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3" name="Table 4"/>
          <p:cNvGraphicFramePr/>
          <p:nvPr/>
        </p:nvGraphicFramePr>
        <p:xfrm>
          <a:off x="1143000" y="42670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05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A5A1C07-38C5-454B-A44F-376EA224F9C4}" type="slidenum">
              <a:rPr lang="en-IN" sz="1200">
                <a:solidFill>
                  <a:srgbClr val="8B8B8B"/>
                </a:solidFill>
                <a:latin typeface="Calibri"/>
              </a:rPr>
              <a:t>7</a:t>
            </a:fld>
            <a:endParaRPr/>
          </a:p>
        </p:txBody>
      </p:sp>
      <p:graphicFrame>
        <p:nvGraphicFramePr>
          <p:cNvPr id="106" name="Table 3"/>
          <p:cNvGraphicFramePr/>
          <p:nvPr/>
        </p:nvGraphicFramePr>
        <p:xfrm>
          <a:off x="1143000" y="441972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7" name="Table 4"/>
          <p:cNvGraphicFramePr/>
          <p:nvPr/>
        </p:nvGraphicFramePr>
        <p:xfrm>
          <a:off x="152280" y="1066680"/>
          <a:ext cx="8762760" cy="319152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61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082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1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TRUE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M[i, w] = M[i-1, w]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M[0, 1]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0</a:t>
                      </a:r>
                      <a:endParaRPr/>
                    </a:p>
                  </a:txBody>
                  <a:tcPr/>
                </a:tc>
              </a:tr>
              <a:tr h="1411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2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[0 , 2 ] , 20 + M [ 0 , 0 ]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Max(0,20)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09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8FDB31B7-3599-4A28-A94B-D51ABD322167}" type="slidenum">
              <a:rPr lang="en-IN" sz="1200">
                <a:solidFill>
                  <a:srgbClr val="8B8B8B"/>
                </a:solidFill>
                <a:latin typeface="Calibri"/>
              </a:rPr>
              <a:t>8</a:t>
            </a:fld>
            <a:endParaRPr/>
          </a:p>
        </p:txBody>
      </p:sp>
      <p:graphicFrame>
        <p:nvGraphicFramePr>
          <p:cNvPr id="110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1" name="Table 4"/>
          <p:cNvGraphicFramePr/>
          <p:nvPr/>
        </p:nvGraphicFramePr>
        <p:xfrm>
          <a:off x="152280" y="990720"/>
          <a:ext cx="8762760" cy="343572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6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411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3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[ 0 , 3 ] , 20 + M [ 0 , 1 ]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( 0 , 20 )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4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[ 0 , 4 ] , 20 + M [ 0 , 2 ] ) 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( 0 , 20 )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13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E9A99C14-4CCE-4516-8823-F31D50705637}" type="slidenum">
              <a:rPr lang="en-IN" sz="1200">
                <a:solidFill>
                  <a:srgbClr val="8B8B8B"/>
                </a:solidFill>
                <a:latin typeface="Calibri"/>
              </a:rPr>
              <a:t>9</a:t>
            </a:fld>
            <a:endParaRPr/>
          </a:p>
        </p:txBody>
      </p:sp>
      <p:graphicFrame>
        <p:nvGraphicFramePr>
          <p:cNvPr id="114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5" name="Table 4"/>
          <p:cNvGraphicFramePr/>
          <p:nvPr/>
        </p:nvGraphicFramePr>
        <p:xfrm>
          <a:off x="152280" y="1066680"/>
          <a:ext cx="8762760" cy="208956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57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401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5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[ 0 , 5 ] , 20 + M [ 0 , 3 ]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( 0 , 20 )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17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D4AECB0D-116C-4543-A213-7C2B86942491}" type="slidenum">
              <a:rPr lang="en-IN" sz="1200">
                <a:solidFill>
                  <a:srgbClr val="8B8B8B"/>
                </a:solidFill>
                <a:latin typeface="Calibri"/>
              </a:rPr>
              <a:t>10</a:t>
            </a:fld>
            <a:endParaRPr/>
          </a:p>
        </p:txBody>
      </p:sp>
      <p:graphicFrame>
        <p:nvGraphicFramePr>
          <p:cNvPr id="118" name="Table 3"/>
          <p:cNvGraphicFramePr/>
          <p:nvPr/>
        </p:nvGraphicFramePr>
        <p:xfrm>
          <a:off x="1143000" y="441972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4"/>
          <p:cNvGraphicFramePr/>
          <p:nvPr/>
        </p:nvGraphicFramePr>
        <p:xfrm>
          <a:off x="152280" y="1066680"/>
          <a:ext cx="8762760" cy="319152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61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082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1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TRUE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M[i, w] = M[i-1, w]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 [1, 1]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0</a:t>
                      </a:r>
                      <a:endParaRPr/>
                    </a:p>
                  </a:txBody>
                  <a:tcPr/>
                </a:tc>
              </a:tr>
              <a:tr h="1411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2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[1 , 2 ] , 10 + M [ 1 , 0 ]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( 20 , 10 )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457200" y="-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21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DE2BF217-83F9-45A0-BF3F-B9A2D1A2A7DC}" type="slidenum">
              <a:rPr lang="en-IN" sz="1200">
                <a:solidFill>
                  <a:srgbClr val="8B8B8B"/>
                </a:solidFill>
                <a:latin typeface="Calibri"/>
              </a:rPr>
              <a:t>11</a:t>
            </a:fld>
            <a:endParaRPr/>
          </a:p>
        </p:txBody>
      </p:sp>
      <p:graphicFrame>
        <p:nvGraphicFramePr>
          <p:cNvPr id="122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4"/>
          <p:cNvGraphicFramePr/>
          <p:nvPr/>
        </p:nvGraphicFramePr>
        <p:xfrm>
          <a:off x="152280" y="914400"/>
          <a:ext cx="8762760" cy="352788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62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41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3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[1 , 3 ] , 10 + M [ 1 , 1 ]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( 20 , 10 )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  <a:tr h="1414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4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[1 , 4 ] , 10 + M [ 1 , 2 ]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( 20 , 30 )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30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25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8D3543B-2E3D-4A48-9E03-0FF4A637CD51}" type="slidenum">
              <a:rPr lang="en-IN" sz="1200">
                <a:solidFill>
                  <a:srgbClr val="8B8B8B"/>
                </a:solidFill>
                <a:latin typeface="Calibri"/>
              </a:rPr>
              <a:t>12</a:t>
            </a:fld>
            <a:endParaRPr/>
          </a:p>
        </p:txBody>
      </p:sp>
      <p:graphicFrame>
        <p:nvGraphicFramePr>
          <p:cNvPr id="126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4"/>
          <p:cNvGraphicFramePr/>
          <p:nvPr/>
        </p:nvGraphicFramePr>
        <p:xfrm>
          <a:off x="152280" y="1217520"/>
          <a:ext cx="8762760" cy="208956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57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401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 &gt; 5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[1 , 5 ] , 10 + M [ 1 , 3 ]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( 20 , 30 )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30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29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EEB7353-EB62-4040-B3CA-13B0C6D365A5}" type="slidenum">
              <a:rPr lang="en-IN" sz="1200">
                <a:solidFill>
                  <a:srgbClr val="8B8B8B"/>
                </a:solidFill>
                <a:latin typeface="Calibri"/>
              </a:rPr>
              <a:t>13</a:t>
            </a:fld>
            <a:endParaRPr/>
          </a:p>
        </p:txBody>
      </p:sp>
      <p:graphicFrame>
        <p:nvGraphicFramePr>
          <p:cNvPr id="130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1" name="Table 4"/>
          <p:cNvGraphicFramePr/>
          <p:nvPr/>
        </p:nvGraphicFramePr>
        <p:xfrm>
          <a:off x="152280" y="1066680"/>
          <a:ext cx="8762760" cy="285444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5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08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 &gt; 1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TRUE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M[i, w] = M[i-1, w]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 [ 2, 1 ]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0</a:t>
                      </a:r>
                      <a:endParaRPr/>
                    </a:p>
                  </a:txBody>
                  <a:tcPr/>
                </a:tc>
              </a:tr>
              <a:tr h="10807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 &gt; 2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TRUE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M[i, w] = M[i-1, w]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 [ 2 ,  2 ]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20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457200" y="-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33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DC2C374-5053-4CEA-BF2F-F9B068613E34}" type="slidenum">
              <a:rPr lang="en-IN" sz="1200">
                <a:solidFill>
                  <a:srgbClr val="8B8B8B"/>
                </a:solidFill>
                <a:latin typeface="Calibri"/>
              </a:rPr>
              <a:t>14</a:t>
            </a:fld>
            <a:endParaRPr/>
          </a:p>
        </p:txBody>
      </p:sp>
      <p:graphicFrame>
        <p:nvGraphicFramePr>
          <p:cNvPr id="134" name="Table 3"/>
          <p:cNvGraphicFramePr/>
          <p:nvPr/>
        </p:nvGraphicFramePr>
        <p:xfrm>
          <a:off x="1143000" y="44956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5" name="Table 4"/>
          <p:cNvGraphicFramePr/>
          <p:nvPr/>
        </p:nvGraphicFramePr>
        <p:xfrm>
          <a:off x="152280" y="838080"/>
          <a:ext cx="8762760" cy="352788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62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414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 &gt; 3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[2 , 3 ] , 30 + M [ 2 , 0 ]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( 20 , 30 )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30</a:t>
                      </a:r>
                      <a:endParaRPr/>
                    </a:p>
                  </a:txBody>
                  <a:tcPr/>
                </a:tc>
              </a:tr>
              <a:tr h="1414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 &gt; 4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[2 , 4 ] , 30 + M [ 2 , 1 ]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( 30 , 30 )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30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457200" y="-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37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906DC84-84E4-47A9-BCC4-5243FB50363A}" type="slidenum">
              <a:rPr lang="en-IN" sz="1200">
                <a:solidFill>
                  <a:srgbClr val="8B8B8B"/>
                </a:solidFill>
                <a:latin typeface="Calibri"/>
              </a:rPr>
              <a:t>15</a:t>
            </a:fld>
            <a:endParaRPr/>
          </a:p>
        </p:txBody>
      </p:sp>
      <p:graphicFrame>
        <p:nvGraphicFramePr>
          <p:cNvPr id="138" name="Table 3"/>
          <p:cNvGraphicFramePr/>
          <p:nvPr/>
        </p:nvGraphicFramePr>
        <p:xfrm>
          <a:off x="1143000" y="434340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endParaRPr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9" name="Table 4"/>
          <p:cNvGraphicFramePr/>
          <p:nvPr/>
        </p:nvGraphicFramePr>
        <p:xfrm>
          <a:off x="152280" y="1217520"/>
          <a:ext cx="8762760" cy="2427360"/>
        </p:xfrm>
        <a:graphic>
          <a:graphicData uri="http://schemas.openxmlformats.org/drawingml/2006/table">
            <a:tbl>
              <a:tblPr/>
              <a:tblGrid>
                <a:gridCol w="533160"/>
                <a:gridCol w="609480"/>
                <a:gridCol w="685800"/>
                <a:gridCol w="1295280"/>
                <a:gridCol w="5639040"/>
              </a:tblGrid>
              <a:tr h="659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wi &gt; 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M [i, w]</a:t>
                      </a:r>
                      <a:endParaRPr/>
                    </a:p>
                  </a:txBody>
                  <a:tcPr/>
                </a:tc>
              </a:tr>
              <a:tr h="1734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>
                          <a:solidFill>
                            <a:srgbClr val="000000"/>
                          </a:solidFill>
                          <a:latin typeface="Times New Roman"/>
                        </a:rPr>
                        <a:t>3 &gt; 5</a:t>
                      </a:r>
                      <a:endParaRPr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FALSE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{M[i-1, w],  vi + M[i-1, w-wi] }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M [2 , 5 ] , 30 + M [ 2 , 2 ]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( 30 , 30 + 20 )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Max ( 30 , 50 )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200" b="1">
                          <a:solidFill>
                            <a:srgbClr val="000000"/>
                          </a:solidFill>
                          <a:latin typeface="Times New Roman"/>
                        </a:rPr>
                        <a:t>= 50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KNAPSACK  EXAMPLE</a:t>
            </a:r>
            <a:endParaRPr/>
          </a:p>
        </p:txBody>
      </p:sp>
      <p:sp>
        <p:nvSpPr>
          <p:cNvPr id="101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D069664-C488-4BE6-BAD4-B2A8986EA3B2}" type="slidenum">
              <a:rPr lang="en-IN" sz="1200">
                <a:solidFill>
                  <a:srgbClr val="8B8B8B"/>
                </a:solidFill>
                <a:latin typeface="Calibri"/>
              </a:rPr>
              <a:t>16</a:t>
            </a:fld>
            <a:endParaRPr/>
          </a:p>
        </p:txBody>
      </p:sp>
      <p:graphicFrame>
        <p:nvGraphicFramePr>
          <p:cNvPr id="102" name="Table 3"/>
          <p:cNvGraphicFramePr/>
          <p:nvPr/>
        </p:nvGraphicFramePr>
        <p:xfrm>
          <a:off x="533520" y="1295280"/>
          <a:ext cx="8381520" cy="2565000"/>
        </p:xfrm>
        <a:graphic>
          <a:graphicData uri="http://schemas.openxmlformats.org/drawingml/2006/table">
            <a:tbl>
              <a:tblPr/>
              <a:tblGrid>
                <a:gridCol w="1904760"/>
                <a:gridCol w="2482200"/>
                <a:gridCol w="2226240"/>
                <a:gridCol w="1768320"/>
              </a:tblGrid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ITEMS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WEIGHTS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W = 5</a:t>
                      </a:r>
                      <a:endParaRPr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3" name="Table 4"/>
          <p:cNvGraphicFramePr/>
          <p:nvPr>
            <p:extLst>
              <p:ext uri="{D42A27DB-BD31-4B8C-83A1-F6EECF244321}">
                <p14:modId xmlns:p14="http://schemas.microsoft.com/office/powerpoint/2010/main" val="3471834790"/>
              </p:ext>
            </p:extLst>
          </p:nvPr>
        </p:nvGraphicFramePr>
        <p:xfrm>
          <a:off x="1143000" y="42670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endParaRPr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902055" y="5104263"/>
            <a:ext cx="114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Left-Up Arrow 2"/>
          <p:cNvSpPr/>
          <p:nvPr/>
        </p:nvSpPr>
        <p:spPr>
          <a:xfrm>
            <a:off x="7902055" y="5412040"/>
            <a:ext cx="668739" cy="944480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744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457200" y="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FIND ITEMS IN KNAPSACK</a:t>
            </a:r>
            <a:endParaRPr/>
          </a:p>
        </p:txBody>
      </p:sp>
      <p:sp>
        <p:nvSpPr>
          <p:cNvPr id="141" name="TextShape 2"/>
          <p:cNvSpPr txBox="1"/>
          <p:nvPr/>
        </p:nvSpPr>
        <p:spPr>
          <a:xfrm>
            <a:off x="228600" y="990720"/>
            <a:ext cx="8762760" cy="55623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In order to find the items that belong to the knapsack, we use the global array M[n,W] computed and find the items using the following algorithm. </a:t>
            </a:r>
            <a:endParaRPr/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Algorithm: Find_items_in_knapsack() </a:t>
            </a:r>
            <a:endParaRPr/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// Input: Global array M[n,W] giving the maximum value achievable for “n” set of items and knapsack capacity “W”. </a:t>
            </a:r>
            <a:endParaRPr/>
          </a:p>
          <a:p>
            <a:pPr algn="just"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//Output: The items “i” that belong to the Knapsack. </a:t>
            </a:r>
            <a:endParaRPr/>
          </a:p>
        </p:txBody>
      </p:sp>
      <p:sp>
        <p:nvSpPr>
          <p:cNvPr id="142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605B9234-2FF5-4E72-96A9-507FD5552459}" type="slidenum">
              <a:rPr lang="en-IN" sz="1200">
                <a:solidFill>
                  <a:srgbClr val="8B8B8B"/>
                </a:solidFill>
                <a:latin typeface="Calibri"/>
              </a:rPr>
              <a:t>17</a:t>
            </a:fld>
            <a:endParaRPr/>
          </a:p>
        </p:txBody>
      </p:sp>
      <p:pic>
        <p:nvPicPr>
          <p:cNvPr id="14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4038480"/>
            <a:ext cx="7333920" cy="27036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EXAMPLE
FIND ITEMS IN KNAPSACK</a:t>
            </a:r>
            <a:endParaRPr sz="1400" dirty="0"/>
          </a:p>
        </p:txBody>
      </p:sp>
      <p:sp>
        <p:nvSpPr>
          <p:cNvPr id="145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32E4BE0-E22F-4007-82D5-9120F19BF198}" type="slidenum">
              <a:rPr lang="en-IN" sz="1200">
                <a:solidFill>
                  <a:srgbClr val="8B8B8B"/>
                </a:solidFill>
                <a:latin typeface="Calibri"/>
              </a:rPr>
              <a:t>18</a:t>
            </a:fld>
            <a:endParaRPr/>
          </a:p>
        </p:txBody>
      </p:sp>
      <p:graphicFrame>
        <p:nvGraphicFramePr>
          <p:cNvPr id="146" name="Table 3"/>
          <p:cNvGraphicFramePr/>
          <p:nvPr>
            <p:extLst>
              <p:ext uri="{D42A27DB-BD31-4B8C-83A1-F6EECF244321}">
                <p14:modId xmlns:p14="http://schemas.microsoft.com/office/powerpoint/2010/main" val="1321710756"/>
              </p:ext>
            </p:extLst>
          </p:nvPr>
        </p:nvGraphicFramePr>
        <p:xfrm>
          <a:off x="533520" y="1295280"/>
          <a:ext cx="8381520" cy="2565000"/>
        </p:xfrm>
        <a:graphic>
          <a:graphicData uri="http://schemas.openxmlformats.org/drawingml/2006/table">
            <a:tbl>
              <a:tblPr/>
              <a:tblGrid>
                <a:gridCol w="1904760"/>
                <a:gridCol w="2482200"/>
                <a:gridCol w="2226240"/>
                <a:gridCol w="1768320"/>
              </a:tblGrid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ITEMS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WEIGHTS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600" b="1">
                          <a:solidFill>
                            <a:srgbClr val="000000"/>
                          </a:solidFill>
                          <a:latin typeface="Times New Roman"/>
                        </a:rPr>
                        <a:t>VALUES</a:t>
                      </a:r>
                      <a:endParaRPr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3200" b="1" dirty="0" smtClean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IN" sz="3200" b="1" dirty="0" smtClean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W </a:t>
                      </a:r>
                      <a:r>
                        <a:rPr lang="en-IN" sz="32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= 5</a:t>
                      </a:r>
                      <a:endParaRPr dirty="0"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4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4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7" name="Table 4"/>
          <p:cNvGraphicFramePr/>
          <p:nvPr/>
        </p:nvGraphicFramePr>
        <p:xfrm>
          <a:off x="1143000" y="4267080"/>
          <a:ext cx="6629040" cy="2287080"/>
        </p:xfrm>
        <a:graphic>
          <a:graphicData uri="http://schemas.openxmlformats.org/drawingml/2006/table">
            <a:tbl>
              <a:tblPr/>
              <a:tblGrid>
                <a:gridCol w="946800"/>
                <a:gridCol w="946800"/>
                <a:gridCol w="946800"/>
                <a:gridCol w="946800"/>
                <a:gridCol w="946800"/>
                <a:gridCol w="946800"/>
                <a:gridCol w="948240"/>
              </a:tblGrid>
              <a:tr h="456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EXAMPLE
FIND ITEMS IN KNAPSACK</a:t>
            </a:r>
            <a:endParaRPr sz="1400" dirty="0"/>
          </a:p>
        </p:txBody>
      </p:sp>
      <p:sp>
        <p:nvSpPr>
          <p:cNvPr id="149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EAD93D21-505F-4280-A628-2FD7494A9439}" type="slidenum">
              <a:rPr lang="en-IN" sz="1200">
                <a:solidFill>
                  <a:srgbClr val="8B8B8B"/>
                </a:solidFill>
                <a:latin typeface="Calibri"/>
              </a:rPr>
              <a:t>19</a:t>
            </a:fld>
            <a:endParaRPr/>
          </a:p>
        </p:txBody>
      </p:sp>
      <p:graphicFrame>
        <p:nvGraphicFramePr>
          <p:cNvPr id="150" name="Table 3"/>
          <p:cNvGraphicFramePr/>
          <p:nvPr/>
        </p:nvGraphicFramePr>
        <p:xfrm>
          <a:off x="2514600" y="2362320"/>
          <a:ext cx="3657240" cy="2286000"/>
        </p:xfrm>
        <a:graphic>
          <a:graphicData uri="http://schemas.openxmlformats.org/drawingml/2006/table">
            <a:tbl>
              <a:tblPr/>
              <a:tblGrid>
                <a:gridCol w="522360"/>
                <a:gridCol w="522360"/>
                <a:gridCol w="522360"/>
                <a:gridCol w="522360"/>
                <a:gridCol w="522360"/>
                <a:gridCol w="511560"/>
                <a:gridCol w="533880"/>
              </a:tblGrid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50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1" name="Table 4"/>
          <p:cNvGraphicFramePr/>
          <p:nvPr>
            <p:extLst>
              <p:ext uri="{D42A27DB-BD31-4B8C-83A1-F6EECF244321}">
                <p14:modId xmlns:p14="http://schemas.microsoft.com/office/powerpoint/2010/main" val="3769605484"/>
              </p:ext>
            </p:extLst>
          </p:nvPr>
        </p:nvGraphicFramePr>
        <p:xfrm>
          <a:off x="457200" y="1600200"/>
          <a:ext cx="8305560" cy="4248840"/>
        </p:xfrm>
        <a:graphic>
          <a:graphicData uri="http://schemas.openxmlformats.org/drawingml/2006/table">
            <a:tbl>
              <a:tblPr/>
              <a:tblGrid>
                <a:gridCol w="761760"/>
                <a:gridCol w="761760"/>
                <a:gridCol w="4705560"/>
                <a:gridCol w="2076480"/>
              </a:tblGrid>
              <a:tr h="665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Global Array M[n, w]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Items in the Knapsack</a:t>
                      </a:r>
                      <a:endParaRPr/>
                    </a:p>
                  </a:txBody>
                  <a:tcPr/>
                </a:tc>
              </a:tr>
              <a:tr h="2585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61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= k – </a:t>
                      </a:r>
                      <a:r>
                        <a:rPr lang="en-IN" sz="2000" b="1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 – 3 =2</a:t>
                      </a:r>
                      <a:endParaRPr lang="en-IN" sz="20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IN" sz="2000" b="1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20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 = 2</a:t>
                      </a:r>
                      <a:endParaRPr lang="en-IN" sz="20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2" name="Table 5"/>
          <p:cNvGraphicFramePr/>
          <p:nvPr/>
        </p:nvGraphicFramePr>
        <p:xfrm>
          <a:off x="7162920" y="3276720"/>
          <a:ext cx="1142640" cy="518160"/>
        </p:xfrm>
        <a:graphic>
          <a:graphicData uri="http://schemas.openxmlformats.org/drawingml/2006/table">
            <a:tbl>
              <a:tblPr/>
              <a:tblGrid>
                <a:gridCol w="1142640"/>
              </a:tblGrid>
              <a:tr h="51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8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EXAMPLE
FIND ITEMS IN KNAPSACK</a:t>
            </a:r>
            <a:endParaRPr sz="1400" dirty="0"/>
          </a:p>
        </p:txBody>
      </p:sp>
      <p:sp>
        <p:nvSpPr>
          <p:cNvPr id="154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C958B9E-476D-4BD0-AB55-2E00ADF52FA4}" type="slidenum">
              <a:rPr lang="en-IN" sz="1200">
                <a:solidFill>
                  <a:srgbClr val="8B8B8B"/>
                </a:solidFill>
                <a:latin typeface="Calibri"/>
              </a:rPr>
              <a:t>20</a:t>
            </a:fld>
            <a:endParaRPr/>
          </a:p>
        </p:txBody>
      </p:sp>
      <p:graphicFrame>
        <p:nvGraphicFramePr>
          <p:cNvPr id="155" name="Table 3"/>
          <p:cNvGraphicFramePr/>
          <p:nvPr/>
        </p:nvGraphicFramePr>
        <p:xfrm>
          <a:off x="2438280" y="2438280"/>
          <a:ext cx="3657240" cy="2286000"/>
        </p:xfrm>
        <a:graphic>
          <a:graphicData uri="http://schemas.openxmlformats.org/drawingml/2006/table">
            <a:tbl>
              <a:tblPr/>
              <a:tblGrid>
                <a:gridCol w="522360"/>
                <a:gridCol w="522360"/>
                <a:gridCol w="522360"/>
                <a:gridCol w="522360"/>
                <a:gridCol w="522360"/>
                <a:gridCol w="511560"/>
                <a:gridCol w="533880"/>
              </a:tblGrid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6" name="Table 4"/>
          <p:cNvGraphicFramePr/>
          <p:nvPr>
            <p:extLst>
              <p:ext uri="{D42A27DB-BD31-4B8C-83A1-F6EECF244321}">
                <p14:modId xmlns:p14="http://schemas.microsoft.com/office/powerpoint/2010/main" val="4013238482"/>
              </p:ext>
            </p:extLst>
          </p:nvPr>
        </p:nvGraphicFramePr>
        <p:xfrm>
          <a:off x="457200" y="1600200"/>
          <a:ext cx="8229240" cy="4526400"/>
        </p:xfrm>
        <a:graphic>
          <a:graphicData uri="http://schemas.openxmlformats.org/drawingml/2006/table">
            <a:tbl>
              <a:tblPr/>
              <a:tblGrid>
                <a:gridCol w="754920"/>
                <a:gridCol w="754920"/>
                <a:gridCol w="4662000"/>
                <a:gridCol w="2057400"/>
              </a:tblGrid>
              <a:tr h="66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Global Array M[n, w]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Items in the Knapsack</a:t>
                      </a:r>
                      <a:endParaRPr/>
                    </a:p>
                  </a:txBody>
                  <a:tcPr/>
                </a:tc>
              </a:tr>
              <a:tr h="2599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2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nn-NO" sz="2000" b="1" kern="12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 = i – 1 = 2 – 1 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nn-NO" sz="2000" b="1" kern="12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7" name="Table 5"/>
          <p:cNvGraphicFramePr/>
          <p:nvPr/>
        </p:nvGraphicFramePr>
        <p:xfrm>
          <a:off x="7162920" y="3276720"/>
          <a:ext cx="1142640" cy="518160"/>
        </p:xfrm>
        <a:graphic>
          <a:graphicData uri="http://schemas.openxmlformats.org/drawingml/2006/table">
            <a:tbl>
              <a:tblPr/>
              <a:tblGrid>
                <a:gridCol w="1142640"/>
              </a:tblGrid>
              <a:tr h="51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8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457200" y="76320"/>
            <a:ext cx="8229240" cy="99036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EXAMPLE
FIND ITEMS IN KNAPSACK</a:t>
            </a:r>
            <a:endParaRPr sz="1400" dirty="0"/>
          </a:p>
        </p:txBody>
      </p:sp>
      <p:sp>
        <p:nvSpPr>
          <p:cNvPr id="159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EA4EA60-2D31-4A9C-B9A1-6A6283F6BE64}" type="slidenum">
              <a:rPr lang="en-IN" sz="1200">
                <a:solidFill>
                  <a:srgbClr val="8B8B8B"/>
                </a:solidFill>
                <a:latin typeface="Calibri"/>
              </a:rPr>
              <a:t>21</a:t>
            </a:fld>
            <a:endParaRPr/>
          </a:p>
        </p:txBody>
      </p:sp>
      <p:graphicFrame>
        <p:nvGraphicFramePr>
          <p:cNvPr id="160" name="Table 3"/>
          <p:cNvGraphicFramePr/>
          <p:nvPr/>
        </p:nvGraphicFramePr>
        <p:xfrm>
          <a:off x="2514600" y="2438280"/>
          <a:ext cx="3657240" cy="2286000"/>
        </p:xfrm>
        <a:graphic>
          <a:graphicData uri="http://schemas.openxmlformats.org/drawingml/2006/table">
            <a:tbl>
              <a:tblPr/>
              <a:tblGrid>
                <a:gridCol w="522360"/>
                <a:gridCol w="522360"/>
                <a:gridCol w="522360"/>
                <a:gridCol w="522360"/>
                <a:gridCol w="522360"/>
                <a:gridCol w="511560"/>
                <a:gridCol w="533880"/>
              </a:tblGrid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 u="sng">
                          <a:solidFill>
                            <a:srgbClr val="FF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1" name="Table 4"/>
          <p:cNvGraphicFramePr/>
          <p:nvPr>
            <p:extLst>
              <p:ext uri="{D42A27DB-BD31-4B8C-83A1-F6EECF244321}">
                <p14:modId xmlns:p14="http://schemas.microsoft.com/office/powerpoint/2010/main" val="340316010"/>
              </p:ext>
            </p:extLst>
          </p:nvPr>
        </p:nvGraphicFramePr>
        <p:xfrm>
          <a:off x="457200" y="1600200"/>
          <a:ext cx="8229240" cy="4393920"/>
        </p:xfrm>
        <a:graphic>
          <a:graphicData uri="http://schemas.openxmlformats.org/drawingml/2006/table">
            <a:tbl>
              <a:tblPr/>
              <a:tblGrid>
                <a:gridCol w="754920"/>
                <a:gridCol w="754920"/>
                <a:gridCol w="4662000"/>
                <a:gridCol w="2057400"/>
              </a:tblGrid>
              <a:tr h="66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i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Global Array M[n, w]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Times New Roman"/>
                        </a:rPr>
                        <a:t>Items in the Knapsack</a:t>
                      </a:r>
                      <a:endParaRPr/>
                    </a:p>
                  </a:txBody>
                  <a:tcPr/>
                </a:tc>
              </a:tr>
              <a:tr h="2523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169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nn-NO" sz="2000" b="1" kern="12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 = k – 2 = 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nn-NO" sz="2000" b="1" kern="12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 = i – 1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2" name="Table 5"/>
          <p:cNvGraphicFramePr/>
          <p:nvPr/>
        </p:nvGraphicFramePr>
        <p:xfrm>
          <a:off x="7162920" y="3276720"/>
          <a:ext cx="1142640" cy="518160"/>
        </p:xfrm>
        <a:graphic>
          <a:graphicData uri="http://schemas.openxmlformats.org/drawingml/2006/table">
            <a:tbl>
              <a:tblPr/>
              <a:tblGrid>
                <a:gridCol w="1142640"/>
              </a:tblGrid>
              <a:tr h="51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800" b="1">
                          <a:solidFill>
                            <a:srgbClr val="000000"/>
                          </a:solidFill>
                          <a:latin typeface="Times New Roman"/>
                        </a:rPr>
                        <a:t>3,  1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380880" y="274320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Times New Roman"/>
              </a:rPr>
              <a:t>THANK YOU</a:t>
            </a:r>
            <a:endParaRPr/>
          </a:p>
        </p:txBody>
      </p:sp>
      <p:sp>
        <p:nvSpPr>
          <p:cNvPr id="164" name="TextShape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24F3C79E-579D-4134-BF3E-F34D22CB7856}" type="slidenum">
              <a:rPr lang="en-IN" sz="1200">
                <a:solidFill>
                  <a:srgbClr val="8B8B8B"/>
                </a:solidFill>
                <a:latin typeface="Calibri"/>
              </a:rPr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1709</Words>
  <Application>Microsoft Office PowerPoint</Application>
  <PresentationFormat>On-screen Show (4:3)</PresentationFormat>
  <Paragraphs>738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DejaVu Sans</vt:lpstr>
      <vt:lpstr>StarSymbol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CSE-PG</dc:creator>
  <cp:lastModifiedBy>CSE-PG</cp:lastModifiedBy>
  <cp:revision>9</cp:revision>
  <dcterms:modified xsi:type="dcterms:W3CDTF">2018-04-13T11:13:12Z</dcterms:modified>
</cp:coreProperties>
</file>