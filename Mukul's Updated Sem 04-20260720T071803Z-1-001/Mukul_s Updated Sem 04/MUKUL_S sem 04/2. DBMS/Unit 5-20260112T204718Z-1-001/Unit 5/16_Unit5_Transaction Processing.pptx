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87" r:id="rId2"/>
    <p:sldId id="334" r:id="rId3"/>
    <p:sldId id="336" r:id="rId4"/>
    <p:sldId id="337" r:id="rId5"/>
    <p:sldId id="338" r:id="rId6"/>
    <p:sldId id="339" r:id="rId7"/>
    <p:sldId id="382" r:id="rId8"/>
    <p:sldId id="383" r:id="rId9"/>
    <p:sldId id="342" r:id="rId10"/>
    <p:sldId id="343" r:id="rId11"/>
    <p:sldId id="344" r:id="rId12"/>
    <p:sldId id="346" r:id="rId13"/>
    <p:sldId id="347" r:id="rId14"/>
    <p:sldId id="348" r:id="rId15"/>
    <p:sldId id="511" r:id="rId16"/>
    <p:sldId id="512" r:id="rId17"/>
    <p:sldId id="513" r:id="rId18"/>
    <p:sldId id="514" r:id="rId19"/>
    <p:sldId id="515" r:id="rId20"/>
    <p:sldId id="516" r:id="rId21"/>
    <p:sldId id="521" r:id="rId22"/>
    <p:sldId id="522" r:id="rId23"/>
    <p:sldId id="523" r:id="rId24"/>
    <p:sldId id="273" r:id="rId25"/>
    <p:sldId id="279" r:id="rId26"/>
    <p:sldId id="278" r:id="rId27"/>
    <p:sldId id="281" r:id="rId28"/>
    <p:sldId id="280" r:id="rId29"/>
    <p:sldId id="282" r:id="rId30"/>
    <p:sldId id="274" r:id="rId31"/>
    <p:sldId id="276" r:id="rId32"/>
    <p:sldId id="284" r:id="rId33"/>
    <p:sldId id="28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0" d="100"/>
          <a:sy n="90" d="100"/>
        </p:scale>
        <p:origin x="16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519813-BC16-4875-94BC-CEC1E8A5082A}" type="datetimeFigureOut">
              <a:rPr lang="en-US" smtClean="0"/>
              <a:t>1/25/2023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903196-04B1-481B-9004-27109C74E1E5}" type="slidenum">
              <a:rPr lang="en-US" smtClean="0"/>
              <a:t>‹#›</a:t>
            </a:fld>
            <a:endParaRPr lang="en-US"/>
          </a:p>
        </p:txBody>
      </p:sp>
    </p:spTree>
    <p:extLst>
      <p:ext uri="{BB962C8B-B14F-4D97-AF65-F5344CB8AC3E}">
        <p14:creationId xmlns:p14="http://schemas.microsoft.com/office/powerpoint/2010/main" val="4232388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61963220-B2A9-45DD-9658-49A007C25B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5E8CA2A-BCD8-4AE1-9CD2-4977BF329269}" type="slidenum">
              <a:rPr lang="en-CA" altLang="en-US" smtClean="0">
                <a:latin typeface="Tahoma" panose="020B0604030504040204" pitchFamily="34" charset="0"/>
              </a:rPr>
              <a:pPr>
                <a:spcBef>
                  <a:spcPct val="0"/>
                </a:spcBef>
              </a:pPr>
              <a:t>2</a:t>
            </a:fld>
            <a:endParaRPr lang="en-CA" altLang="en-US">
              <a:latin typeface="Tahoma" panose="020B0604030504040204" pitchFamily="34" charset="0"/>
            </a:endParaRPr>
          </a:p>
        </p:txBody>
      </p:sp>
      <p:sp>
        <p:nvSpPr>
          <p:cNvPr id="24579" name="Rectangle 2">
            <a:extLst>
              <a:ext uri="{FF2B5EF4-FFF2-40B4-BE49-F238E27FC236}">
                <a16:creationId xmlns:a16="http://schemas.microsoft.com/office/drawing/2014/main" id="{695D9A94-37B3-4DCB-8AF7-1D85C1BFEB3D}"/>
              </a:ext>
            </a:extLst>
          </p:cNvPr>
          <p:cNvSpPr>
            <a:spLocks noChangeArrowheads="1" noTextEdit="1"/>
          </p:cNvSpPr>
          <p:nvPr>
            <p:ph type="sldImg"/>
          </p:nvPr>
        </p:nvSpPr>
        <p:spPr>
          <a:ln/>
        </p:spPr>
      </p:sp>
      <p:sp>
        <p:nvSpPr>
          <p:cNvPr id="24580" name="Rectangle 3">
            <a:extLst>
              <a:ext uri="{FF2B5EF4-FFF2-40B4-BE49-F238E27FC236}">
                <a16:creationId xmlns:a16="http://schemas.microsoft.com/office/drawing/2014/main" id="{79E29730-64AA-4651-8229-3EEB123773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7D22F39-158E-4FCE-A886-DE3BB093E0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1E8DCE-4714-4259-91FA-F4A46BC5B2B0}" type="slidenum">
              <a:rPr lang="en-CA" altLang="en-US" smtClean="0">
                <a:latin typeface="Tahoma" panose="020B0604030504040204" pitchFamily="34" charset="0"/>
              </a:rPr>
              <a:pPr>
                <a:spcBef>
                  <a:spcPct val="0"/>
                </a:spcBef>
              </a:pPr>
              <a:t>3</a:t>
            </a:fld>
            <a:endParaRPr lang="en-CA" altLang="en-US">
              <a:latin typeface="Tahoma" panose="020B0604030504040204" pitchFamily="34" charset="0"/>
            </a:endParaRPr>
          </a:p>
        </p:txBody>
      </p:sp>
      <p:sp>
        <p:nvSpPr>
          <p:cNvPr id="26627" name="Rectangle 2">
            <a:extLst>
              <a:ext uri="{FF2B5EF4-FFF2-40B4-BE49-F238E27FC236}">
                <a16:creationId xmlns:a16="http://schemas.microsoft.com/office/drawing/2014/main" id="{0624A56B-FD6C-4BAB-818C-E8B75C4F561B}"/>
              </a:ext>
            </a:extLst>
          </p:cNvPr>
          <p:cNvSpPr>
            <a:spLocks noChangeArrowheads="1" noTextEdit="1"/>
          </p:cNvSpPr>
          <p:nvPr>
            <p:ph type="sldImg"/>
          </p:nvPr>
        </p:nvSpPr>
        <p:spPr>
          <a:ln/>
        </p:spPr>
      </p:sp>
      <p:sp>
        <p:nvSpPr>
          <p:cNvPr id="26628" name="Rectangle 3">
            <a:extLst>
              <a:ext uri="{FF2B5EF4-FFF2-40B4-BE49-F238E27FC236}">
                <a16:creationId xmlns:a16="http://schemas.microsoft.com/office/drawing/2014/main" id="{1578A285-A53E-460A-93D9-8D32A520B2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4457107-CBFB-49DF-BF6E-048698516F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6B78504-2B59-4815-B13B-1F3FC8CECD43}" type="slidenum">
              <a:rPr lang="en-CA" altLang="en-US" smtClean="0">
                <a:latin typeface="Tahoma" panose="020B0604030504040204" pitchFamily="34" charset="0"/>
              </a:rPr>
              <a:pPr>
                <a:spcBef>
                  <a:spcPct val="0"/>
                </a:spcBef>
              </a:pPr>
              <a:t>4</a:t>
            </a:fld>
            <a:endParaRPr lang="en-CA" altLang="en-US">
              <a:latin typeface="Tahoma" panose="020B0604030504040204" pitchFamily="34" charset="0"/>
            </a:endParaRPr>
          </a:p>
        </p:txBody>
      </p:sp>
      <p:sp>
        <p:nvSpPr>
          <p:cNvPr id="28675" name="Rectangle 2">
            <a:extLst>
              <a:ext uri="{FF2B5EF4-FFF2-40B4-BE49-F238E27FC236}">
                <a16:creationId xmlns:a16="http://schemas.microsoft.com/office/drawing/2014/main" id="{E93A88DA-27CE-44C9-980C-2D542C41972A}"/>
              </a:ext>
            </a:extLst>
          </p:cNvPr>
          <p:cNvSpPr>
            <a:spLocks noChangeArrowheads="1" noTextEdit="1"/>
          </p:cNvSpPr>
          <p:nvPr>
            <p:ph type="sldImg"/>
          </p:nvPr>
        </p:nvSpPr>
        <p:spPr>
          <a:ln/>
        </p:spPr>
      </p:sp>
      <p:sp>
        <p:nvSpPr>
          <p:cNvPr id="28676" name="Rectangle 3">
            <a:extLst>
              <a:ext uri="{FF2B5EF4-FFF2-40B4-BE49-F238E27FC236}">
                <a16:creationId xmlns:a16="http://schemas.microsoft.com/office/drawing/2014/main" id="{22B909C4-3E55-4E34-8D1F-10178131BF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B94A6F0-6A55-43B2-8413-85E959B37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3D503E9-E3F2-44B9-A77E-E29573DDF053}" type="slidenum">
              <a:rPr lang="en-CA" altLang="en-US" smtClean="0">
                <a:latin typeface="Tahoma" panose="020B0604030504040204" pitchFamily="34" charset="0"/>
              </a:rPr>
              <a:pPr>
                <a:spcBef>
                  <a:spcPct val="0"/>
                </a:spcBef>
              </a:pPr>
              <a:t>5</a:t>
            </a:fld>
            <a:endParaRPr lang="en-CA" altLang="en-US">
              <a:latin typeface="Tahoma" panose="020B0604030504040204" pitchFamily="34" charset="0"/>
            </a:endParaRPr>
          </a:p>
        </p:txBody>
      </p:sp>
      <p:sp>
        <p:nvSpPr>
          <p:cNvPr id="30723" name="Rectangle 2">
            <a:extLst>
              <a:ext uri="{FF2B5EF4-FFF2-40B4-BE49-F238E27FC236}">
                <a16:creationId xmlns:a16="http://schemas.microsoft.com/office/drawing/2014/main" id="{662EB01B-BC83-4E2B-AF48-FE28D5A2D09C}"/>
              </a:ext>
            </a:extLst>
          </p:cNvPr>
          <p:cNvSpPr>
            <a:spLocks noChangeArrowheads="1" noTextEdit="1"/>
          </p:cNvSpPr>
          <p:nvPr>
            <p:ph type="sldImg"/>
          </p:nvPr>
        </p:nvSpPr>
        <p:spPr>
          <a:ln/>
        </p:spPr>
      </p:sp>
      <p:sp>
        <p:nvSpPr>
          <p:cNvPr id="30724" name="Rectangle 3">
            <a:extLst>
              <a:ext uri="{FF2B5EF4-FFF2-40B4-BE49-F238E27FC236}">
                <a16:creationId xmlns:a16="http://schemas.microsoft.com/office/drawing/2014/main" id="{D95E0A87-154B-4AA2-BF94-6EF97F50C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12507486-66EC-4F36-81B4-BDE75DE47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570B041-E217-4954-9CBB-479115A28398}" type="slidenum">
              <a:rPr lang="en-CA" altLang="en-US" smtClean="0">
                <a:latin typeface="Tahoma" panose="020B0604030504040204" pitchFamily="34" charset="0"/>
              </a:rPr>
              <a:pPr>
                <a:spcBef>
                  <a:spcPct val="0"/>
                </a:spcBef>
              </a:pPr>
              <a:t>6</a:t>
            </a:fld>
            <a:endParaRPr lang="en-CA" altLang="en-US">
              <a:latin typeface="Tahoma" panose="020B0604030504040204" pitchFamily="34" charset="0"/>
            </a:endParaRPr>
          </a:p>
        </p:txBody>
      </p:sp>
      <p:sp>
        <p:nvSpPr>
          <p:cNvPr id="32771" name="Rectangle 2">
            <a:extLst>
              <a:ext uri="{FF2B5EF4-FFF2-40B4-BE49-F238E27FC236}">
                <a16:creationId xmlns:a16="http://schemas.microsoft.com/office/drawing/2014/main" id="{6974809C-DF4A-4344-87CB-FFED4D130876}"/>
              </a:ext>
            </a:extLst>
          </p:cNvPr>
          <p:cNvSpPr>
            <a:spLocks noChangeArrowheads="1" noTextEdit="1"/>
          </p:cNvSpPr>
          <p:nvPr>
            <p:ph type="sldImg"/>
          </p:nvPr>
        </p:nvSpPr>
        <p:spPr>
          <a:ln/>
        </p:spPr>
      </p:sp>
      <p:sp>
        <p:nvSpPr>
          <p:cNvPr id="32772" name="Rectangle 3">
            <a:extLst>
              <a:ext uri="{FF2B5EF4-FFF2-40B4-BE49-F238E27FC236}">
                <a16:creationId xmlns:a16="http://schemas.microsoft.com/office/drawing/2014/main" id="{4AFA6986-B503-4417-99A6-0394CCEB87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2F01D425-E603-46A4-BFC8-915F50F128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8698A4-EDB5-4E89-A75E-C3A0C397318B}" type="slidenum">
              <a:rPr lang="en-CA" altLang="en-US" smtClean="0">
                <a:latin typeface="Tahoma" panose="020B0604030504040204" pitchFamily="34" charset="0"/>
              </a:rPr>
              <a:pPr>
                <a:spcBef>
                  <a:spcPct val="0"/>
                </a:spcBef>
              </a:pPr>
              <a:t>7</a:t>
            </a:fld>
            <a:endParaRPr lang="en-CA" altLang="en-US">
              <a:latin typeface="Tahoma" panose="020B0604030504040204" pitchFamily="34" charset="0"/>
            </a:endParaRPr>
          </a:p>
        </p:txBody>
      </p:sp>
      <p:sp>
        <p:nvSpPr>
          <p:cNvPr id="34819" name="Rectangle 2">
            <a:extLst>
              <a:ext uri="{FF2B5EF4-FFF2-40B4-BE49-F238E27FC236}">
                <a16:creationId xmlns:a16="http://schemas.microsoft.com/office/drawing/2014/main" id="{9793ED52-2987-42BE-8BAF-130171EE02E4}"/>
              </a:ext>
            </a:extLst>
          </p:cNvPr>
          <p:cNvSpPr>
            <a:spLocks noChangeArrowheads="1" noTextEdit="1"/>
          </p:cNvSpPr>
          <p:nvPr>
            <p:ph type="sldImg"/>
          </p:nvPr>
        </p:nvSpPr>
        <p:spPr>
          <a:ln/>
        </p:spPr>
      </p:sp>
      <p:sp>
        <p:nvSpPr>
          <p:cNvPr id="34820" name="Rectangle 3">
            <a:extLst>
              <a:ext uri="{FF2B5EF4-FFF2-40B4-BE49-F238E27FC236}">
                <a16:creationId xmlns:a16="http://schemas.microsoft.com/office/drawing/2014/main" id="{4EEC95CA-A5CC-4628-BFD1-26E6245AF0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B61F0639-2595-4781-9790-E69DDB6496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9B4AB79-217E-4B7B-8002-3C03D188F163}" type="slidenum">
              <a:rPr lang="en-CA" altLang="en-US" smtClean="0">
                <a:latin typeface="Tahoma" panose="020B0604030504040204" pitchFamily="34" charset="0"/>
              </a:rPr>
              <a:pPr>
                <a:spcBef>
                  <a:spcPct val="0"/>
                </a:spcBef>
              </a:pPr>
              <a:t>8</a:t>
            </a:fld>
            <a:endParaRPr lang="en-CA" altLang="en-US">
              <a:latin typeface="Tahoma" panose="020B0604030504040204" pitchFamily="34" charset="0"/>
            </a:endParaRPr>
          </a:p>
        </p:txBody>
      </p:sp>
      <p:sp>
        <p:nvSpPr>
          <p:cNvPr id="36867" name="Rectangle 2">
            <a:extLst>
              <a:ext uri="{FF2B5EF4-FFF2-40B4-BE49-F238E27FC236}">
                <a16:creationId xmlns:a16="http://schemas.microsoft.com/office/drawing/2014/main" id="{E29CDBC4-0774-4E12-BDF5-DD9EABE0E286}"/>
              </a:ext>
            </a:extLst>
          </p:cNvPr>
          <p:cNvSpPr>
            <a:spLocks noChangeArrowheads="1" noTextEdit="1"/>
          </p:cNvSpPr>
          <p:nvPr>
            <p:ph type="sldImg"/>
          </p:nvPr>
        </p:nvSpPr>
        <p:spPr>
          <a:ln/>
        </p:spPr>
      </p:sp>
      <p:sp>
        <p:nvSpPr>
          <p:cNvPr id="36868" name="Rectangle 3">
            <a:extLst>
              <a:ext uri="{FF2B5EF4-FFF2-40B4-BE49-F238E27FC236}">
                <a16:creationId xmlns:a16="http://schemas.microsoft.com/office/drawing/2014/main" id="{99B7F0CD-8BF5-4F17-9477-8EF0C0837F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C114EA2-9524-4C27-A6C4-9F080BBE8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EE4F589-11A1-472D-96C1-AB7876D417A8}" type="slidenum">
              <a:rPr lang="en-CA" altLang="en-US" smtClean="0">
                <a:latin typeface="Tahoma" panose="020B0604030504040204" pitchFamily="34" charset="0"/>
              </a:rPr>
              <a:pPr>
                <a:spcBef>
                  <a:spcPct val="0"/>
                </a:spcBef>
              </a:pPr>
              <a:t>9</a:t>
            </a:fld>
            <a:endParaRPr lang="en-CA" altLang="en-US">
              <a:latin typeface="Tahoma" panose="020B0604030504040204" pitchFamily="34" charset="0"/>
            </a:endParaRPr>
          </a:p>
        </p:txBody>
      </p:sp>
      <p:sp>
        <p:nvSpPr>
          <p:cNvPr id="38915" name="Rectangle 2">
            <a:extLst>
              <a:ext uri="{FF2B5EF4-FFF2-40B4-BE49-F238E27FC236}">
                <a16:creationId xmlns:a16="http://schemas.microsoft.com/office/drawing/2014/main" id="{694543E6-FCE9-49BD-8328-26DD90FFC112}"/>
              </a:ext>
            </a:extLst>
          </p:cNvPr>
          <p:cNvSpPr>
            <a:spLocks noChangeArrowheads="1" noTextEdit="1"/>
          </p:cNvSpPr>
          <p:nvPr>
            <p:ph type="sldImg"/>
          </p:nvPr>
        </p:nvSpPr>
        <p:spPr>
          <a:ln/>
        </p:spPr>
      </p:sp>
      <p:sp>
        <p:nvSpPr>
          <p:cNvPr id="38916" name="Rectangle 3">
            <a:extLst>
              <a:ext uri="{FF2B5EF4-FFF2-40B4-BE49-F238E27FC236}">
                <a16:creationId xmlns:a16="http://schemas.microsoft.com/office/drawing/2014/main" id="{3455BC0C-6940-432A-ACAD-A05E7327BA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45EA294F-6C86-4643-9AC8-F847E88787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3D68A3-F437-4C3D-BA8B-70CE697714BA}" type="slidenum">
              <a:rPr lang="en-CA" altLang="en-US" smtClean="0">
                <a:latin typeface="Tahoma" panose="020B0604030504040204" pitchFamily="34" charset="0"/>
              </a:rPr>
              <a:pPr>
                <a:spcBef>
                  <a:spcPct val="0"/>
                </a:spcBef>
              </a:pPr>
              <a:t>10</a:t>
            </a:fld>
            <a:endParaRPr lang="en-CA" altLang="en-US">
              <a:latin typeface="Tahoma" panose="020B0604030504040204" pitchFamily="34" charset="0"/>
            </a:endParaRPr>
          </a:p>
        </p:txBody>
      </p:sp>
      <p:sp>
        <p:nvSpPr>
          <p:cNvPr id="40963" name="Rectangle 2">
            <a:extLst>
              <a:ext uri="{FF2B5EF4-FFF2-40B4-BE49-F238E27FC236}">
                <a16:creationId xmlns:a16="http://schemas.microsoft.com/office/drawing/2014/main" id="{BB87BD7C-50A4-4F22-AF13-BD73DF246033}"/>
              </a:ext>
            </a:extLst>
          </p:cNvPr>
          <p:cNvSpPr>
            <a:spLocks noChangeArrowheads="1" noTextEdit="1"/>
          </p:cNvSpPr>
          <p:nvPr>
            <p:ph type="sldImg"/>
          </p:nvPr>
        </p:nvSpPr>
        <p:spPr>
          <a:ln/>
        </p:spPr>
      </p:sp>
      <p:sp>
        <p:nvSpPr>
          <p:cNvPr id="40964" name="Rectangle 3">
            <a:extLst>
              <a:ext uri="{FF2B5EF4-FFF2-40B4-BE49-F238E27FC236}">
                <a16:creationId xmlns:a16="http://schemas.microsoft.com/office/drawing/2014/main" id="{DEEC1C3B-EE99-49C8-99E2-C8E3DFE6EA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E36C504B-1984-4A71-AF61-9E310D3351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4C630C2-C95C-40BB-837A-1CA53BDD3E4A}" type="slidenum">
              <a:rPr lang="en-CA" altLang="en-US" smtClean="0">
                <a:latin typeface="Tahoma" panose="020B0604030504040204" pitchFamily="34" charset="0"/>
              </a:rPr>
              <a:pPr>
                <a:spcBef>
                  <a:spcPct val="0"/>
                </a:spcBef>
              </a:pPr>
              <a:t>11</a:t>
            </a:fld>
            <a:endParaRPr lang="en-CA" altLang="en-US">
              <a:latin typeface="Tahoma" panose="020B0604030504040204" pitchFamily="34" charset="0"/>
            </a:endParaRPr>
          </a:p>
        </p:txBody>
      </p:sp>
      <p:sp>
        <p:nvSpPr>
          <p:cNvPr id="43011" name="Rectangle 2">
            <a:extLst>
              <a:ext uri="{FF2B5EF4-FFF2-40B4-BE49-F238E27FC236}">
                <a16:creationId xmlns:a16="http://schemas.microsoft.com/office/drawing/2014/main" id="{F0D20F3A-AD86-4543-929D-7C07A6E81A26}"/>
              </a:ext>
            </a:extLst>
          </p:cNvPr>
          <p:cNvSpPr>
            <a:spLocks noChangeArrowheads="1" noTextEdit="1"/>
          </p:cNvSpPr>
          <p:nvPr>
            <p:ph type="sldImg"/>
          </p:nvPr>
        </p:nvSpPr>
        <p:spPr>
          <a:ln/>
        </p:spPr>
      </p:sp>
      <p:sp>
        <p:nvSpPr>
          <p:cNvPr id="43012" name="Rectangle 3">
            <a:extLst>
              <a:ext uri="{FF2B5EF4-FFF2-40B4-BE49-F238E27FC236}">
                <a16:creationId xmlns:a16="http://schemas.microsoft.com/office/drawing/2014/main" id="{C8E9E367-0CDB-47B1-9477-1BCE353066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71D7D13E-D114-4979-A2B1-2C74CDC1D1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8EA1FF7-98EC-49ED-8676-B084C5F49BD3}" type="slidenum">
              <a:rPr lang="en-CA" altLang="en-US" smtClean="0">
                <a:latin typeface="Tahoma" panose="020B0604030504040204" pitchFamily="34" charset="0"/>
              </a:rPr>
              <a:pPr>
                <a:spcBef>
                  <a:spcPct val="0"/>
                </a:spcBef>
              </a:pPr>
              <a:t>12</a:t>
            </a:fld>
            <a:endParaRPr lang="en-CA" altLang="en-US">
              <a:latin typeface="Tahoma" panose="020B0604030504040204" pitchFamily="34" charset="0"/>
            </a:endParaRPr>
          </a:p>
        </p:txBody>
      </p:sp>
      <p:sp>
        <p:nvSpPr>
          <p:cNvPr id="47107" name="Rectangle 2">
            <a:extLst>
              <a:ext uri="{FF2B5EF4-FFF2-40B4-BE49-F238E27FC236}">
                <a16:creationId xmlns:a16="http://schemas.microsoft.com/office/drawing/2014/main" id="{5ED87A59-D773-4DCC-8041-A66AA7D5D2A6}"/>
              </a:ext>
            </a:extLst>
          </p:cNvPr>
          <p:cNvSpPr>
            <a:spLocks noChangeArrowheads="1" noTextEdit="1"/>
          </p:cNvSpPr>
          <p:nvPr>
            <p:ph type="sldImg"/>
          </p:nvPr>
        </p:nvSpPr>
        <p:spPr>
          <a:ln/>
        </p:spPr>
      </p:sp>
      <p:sp>
        <p:nvSpPr>
          <p:cNvPr id="47108" name="Rectangle 3">
            <a:extLst>
              <a:ext uri="{FF2B5EF4-FFF2-40B4-BE49-F238E27FC236}">
                <a16:creationId xmlns:a16="http://schemas.microsoft.com/office/drawing/2014/main" id="{72884991-B73A-41E5-9AB6-9ECDD19A74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225D5572-6AD3-4A9C-A7B0-7AA104D5F7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9DBEE27-089B-48DF-8F18-699005166569}" type="slidenum">
              <a:rPr lang="en-CA" altLang="en-US" smtClean="0">
                <a:latin typeface="Tahoma" panose="020B0604030504040204" pitchFamily="34" charset="0"/>
              </a:rPr>
              <a:pPr>
                <a:spcBef>
                  <a:spcPct val="0"/>
                </a:spcBef>
              </a:pPr>
              <a:t>13</a:t>
            </a:fld>
            <a:endParaRPr lang="en-CA" altLang="en-US">
              <a:latin typeface="Tahoma" panose="020B0604030504040204" pitchFamily="34" charset="0"/>
            </a:endParaRPr>
          </a:p>
        </p:txBody>
      </p:sp>
      <p:sp>
        <p:nvSpPr>
          <p:cNvPr id="49155" name="Rectangle 2">
            <a:extLst>
              <a:ext uri="{FF2B5EF4-FFF2-40B4-BE49-F238E27FC236}">
                <a16:creationId xmlns:a16="http://schemas.microsoft.com/office/drawing/2014/main" id="{6DB88406-872E-431E-BF1E-58C5B3BF5C68}"/>
              </a:ext>
            </a:extLst>
          </p:cNvPr>
          <p:cNvSpPr>
            <a:spLocks noChangeArrowheads="1" noTextEdit="1"/>
          </p:cNvSpPr>
          <p:nvPr>
            <p:ph type="sldImg"/>
          </p:nvPr>
        </p:nvSpPr>
        <p:spPr>
          <a:ln/>
        </p:spPr>
      </p:sp>
      <p:sp>
        <p:nvSpPr>
          <p:cNvPr id="49156" name="Rectangle 3">
            <a:extLst>
              <a:ext uri="{FF2B5EF4-FFF2-40B4-BE49-F238E27FC236}">
                <a16:creationId xmlns:a16="http://schemas.microsoft.com/office/drawing/2014/main" id="{D46A42F7-09C3-4856-BFAC-B1919935F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E3433EBA-D113-4AEE-B4EA-6384B60856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0FF025-9455-49E8-92AD-6043D40AD5D5}" type="slidenum">
              <a:rPr lang="en-CA" altLang="en-US" smtClean="0">
                <a:latin typeface="Tahoma" panose="020B0604030504040204" pitchFamily="34" charset="0"/>
              </a:rPr>
              <a:pPr>
                <a:spcBef>
                  <a:spcPct val="0"/>
                </a:spcBef>
              </a:pPr>
              <a:t>14</a:t>
            </a:fld>
            <a:endParaRPr lang="en-CA" altLang="en-US">
              <a:latin typeface="Tahoma" panose="020B0604030504040204" pitchFamily="34" charset="0"/>
            </a:endParaRPr>
          </a:p>
        </p:txBody>
      </p:sp>
      <p:sp>
        <p:nvSpPr>
          <p:cNvPr id="51203" name="Rectangle 2">
            <a:extLst>
              <a:ext uri="{FF2B5EF4-FFF2-40B4-BE49-F238E27FC236}">
                <a16:creationId xmlns:a16="http://schemas.microsoft.com/office/drawing/2014/main" id="{BDC5FFA9-29AE-49F3-9ACF-C8499F25C3FB}"/>
              </a:ext>
            </a:extLst>
          </p:cNvPr>
          <p:cNvSpPr>
            <a:spLocks noChangeArrowheads="1" noTextEdit="1"/>
          </p:cNvSpPr>
          <p:nvPr>
            <p:ph type="sldImg"/>
          </p:nvPr>
        </p:nvSpPr>
        <p:spPr>
          <a:ln/>
        </p:spPr>
      </p:sp>
      <p:sp>
        <p:nvSpPr>
          <p:cNvPr id="51204" name="Rectangle 3">
            <a:extLst>
              <a:ext uri="{FF2B5EF4-FFF2-40B4-BE49-F238E27FC236}">
                <a16:creationId xmlns:a16="http://schemas.microsoft.com/office/drawing/2014/main" id="{AF5EB63F-095C-4E6F-B497-110A6E0F84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56C71C-DD17-4D16-9317-988387CEA99A}" type="slidenum">
              <a:rPr lang="en-CA" smtClean="0">
                <a:latin typeface="Tahoma" panose="020B0604030504040204" pitchFamily="34" charset="0"/>
              </a:rPr>
              <a:pPr>
                <a:spcBef>
                  <a:spcPct val="0"/>
                </a:spcBef>
              </a:pPr>
              <a:t>15</a:t>
            </a:fld>
            <a:endParaRPr lang="en-CA">
              <a:latin typeface="Tahoma" panose="020B060403050404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510430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A8F43D-1134-4044-8507-EAFCBB802BA0}" type="slidenum">
              <a:rPr lang="en-CA" smtClean="0">
                <a:latin typeface="Tahoma" panose="020B0604030504040204" pitchFamily="34" charset="0"/>
              </a:rPr>
              <a:pPr>
                <a:spcBef>
                  <a:spcPct val="0"/>
                </a:spcBef>
              </a:pPr>
              <a:t>16</a:t>
            </a:fld>
            <a:endParaRPr lang="en-CA">
              <a:latin typeface="Tahoma" panose="020B060403050404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618432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BAE090-5E39-42A0-B812-F4F5DA35D5CE}" type="slidenum">
              <a:rPr lang="en-CA" smtClean="0">
                <a:latin typeface="Tahoma" panose="020B0604030504040204" pitchFamily="34" charset="0"/>
              </a:rPr>
              <a:pPr>
                <a:spcBef>
                  <a:spcPct val="0"/>
                </a:spcBef>
              </a:pPr>
              <a:t>17</a:t>
            </a:fld>
            <a:endParaRPr lang="en-CA">
              <a:latin typeface="Tahoma" panose="020B060403050404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320427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C15187-7BE7-4400-9F09-0BE0E9C72BB6}" type="slidenum">
              <a:rPr lang="en-CA" smtClean="0">
                <a:latin typeface="Tahoma" panose="020B0604030504040204" pitchFamily="34" charset="0"/>
              </a:rPr>
              <a:pPr>
                <a:spcBef>
                  <a:spcPct val="0"/>
                </a:spcBef>
              </a:pPr>
              <a:t>18</a:t>
            </a:fld>
            <a:endParaRPr lang="en-CA">
              <a:latin typeface="Tahoma" panose="020B060403050404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1828223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93615F-05F5-4609-9913-A35273420E6A}" type="slidenum">
              <a:rPr lang="en-CA" smtClean="0">
                <a:latin typeface="Tahoma" panose="020B0604030504040204" pitchFamily="34" charset="0"/>
              </a:rPr>
              <a:pPr>
                <a:spcBef>
                  <a:spcPct val="0"/>
                </a:spcBef>
              </a:pPr>
              <a:t>19</a:t>
            </a:fld>
            <a:endParaRPr lang="en-CA">
              <a:latin typeface="Tahoma" panose="020B060403050404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127359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56C71C-DD17-4D16-9317-988387CEA99A}" type="slidenum">
              <a:rPr lang="en-CA" smtClean="0">
                <a:latin typeface="Tahoma" panose="020B0604030504040204" pitchFamily="34" charset="0"/>
              </a:rPr>
              <a:pPr>
                <a:spcBef>
                  <a:spcPct val="0"/>
                </a:spcBef>
              </a:pPr>
              <a:t>20</a:t>
            </a:fld>
            <a:endParaRPr lang="en-CA">
              <a:latin typeface="Tahoma" panose="020B060403050404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12282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0C4D3A-2A41-4291-97B7-57A55891AFE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408956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0C4D3A-2A41-4291-97B7-57A55891AFE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86557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0C4D3A-2A41-4291-97B7-57A55891AFE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390000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0C4D3A-2A41-4291-97B7-57A55891AFE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409073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0C4D3A-2A41-4291-97B7-57A55891AFE6}" type="datetimeFigureOut">
              <a:rPr lang="en-US" smtClean="0"/>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3049614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0C4D3A-2A41-4291-97B7-57A55891AFE6}"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408528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0C4D3A-2A41-4291-97B7-57A55891AFE6}" type="datetimeFigureOut">
              <a:rPr lang="en-US" smtClean="0"/>
              <a:t>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3451532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0C4D3A-2A41-4291-97B7-57A55891AFE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1370672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0C4D3A-2A41-4291-97B7-57A55891AFE6}"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3870055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0C4D3A-2A41-4291-97B7-57A55891AFE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3512399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0C4D3A-2A41-4291-97B7-57A55891AFE6}"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C4313-D6EA-41EA-B42E-B292A0C5045F}" type="slidenum">
              <a:rPr lang="en-US" smtClean="0"/>
              <a:t>‹#›</a:t>
            </a:fld>
            <a:endParaRPr lang="en-US"/>
          </a:p>
        </p:txBody>
      </p:sp>
    </p:spTree>
    <p:extLst>
      <p:ext uri="{BB962C8B-B14F-4D97-AF65-F5344CB8AC3E}">
        <p14:creationId xmlns:p14="http://schemas.microsoft.com/office/powerpoint/2010/main" val="1960710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0C4D3A-2A41-4291-97B7-57A55891AFE6}" type="datetimeFigureOut">
              <a:rPr lang="en-US" smtClean="0"/>
              <a:t>1/25/2023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3C4313-D6EA-41EA-B42E-B292A0C5045F}" type="slidenum">
              <a:rPr lang="en-US" smtClean="0"/>
              <a:t>‹#›</a:t>
            </a:fld>
            <a:endParaRPr lang="en-US"/>
          </a:p>
        </p:txBody>
      </p:sp>
    </p:spTree>
    <p:extLst>
      <p:ext uri="{BB962C8B-B14F-4D97-AF65-F5344CB8AC3E}">
        <p14:creationId xmlns:p14="http://schemas.microsoft.com/office/powerpoint/2010/main" val="17432362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2A3D-1E03-4EBC-B832-E2BED6FBE95A}"/>
              </a:ext>
            </a:extLst>
          </p:cNvPr>
          <p:cNvSpPr>
            <a:spLocks noGrp="1"/>
          </p:cNvSpPr>
          <p:nvPr>
            <p:ph type="title"/>
          </p:nvPr>
        </p:nvSpPr>
        <p:spPr/>
        <p:txBody>
          <a:bodyPr>
            <a:normAutofit/>
          </a:bodyPr>
          <a:lstStyle/>
          <a:p>
            <a:r>
              <a:rPr lang="en-US" sz="6000" dirty="0"/>
              <a:t>CI32/CY32  -DBS</a:t>
            </a:r>
            <a:endParaRPr lang="en-IN" sz="6000" dirty="0"/>
          </a:p>
        </p:txBody>
      </p:sp>
      <p:sp>
        <p:nvSpPr>
          <p:cNvPr id="3" name="Content Placeholder 2">
            <a:extLst>
              <a:ext uri="{FF2B5EF4-FFF2-40B4-BE49-F238E27FC236}">
                <a16:creationId xmlns:a16="http://schemas.microsoft.com/office/drawing/2014/main" id="{184796E8-3904-4014-A4C8-E59C0667F2CC}"/>
              </a:ext>
            </a:extLst>
          </p:cNvPr>
          <p:cNvSpPr>
            <a:spLocks noGrp="1"/>
          </p:cNvSpPr>
          <p:nvPr>
            <p:ph idx="1"/>
          </p:nvPr>
        </p:nvSpPr>
        <p:spPr>
          <a:xfrm>
            <a:off x="838200" y="3125971"/>
            <a:ext cx="10515600" cy="3050991"/>
          </a:xfrm>
        </p:spPr>
        <p:txBody>
          <a:bodyPr>
            <a:normAutofit/>
          </a:bodyPr>
          <a:lstStyle/>
          <a:p>
            <a:pPr marL="0" indent="0" algn="ctr">
              <a:buNone/>
            </a:pPr>
            <a:r>
              <a:rPr lang="en-US" sz="6600" dirty="0"/>
              <a:t>UNIT 5</a:t>
            </a:r>
            <a:endParaRPr lang="en-IN" sz="6600" dirty="0"/>
          </a:p>
        </p:txBody>
      </p:sp>
    </p:spTree>
    <p:extLst>
      <p:ext uri="{BB962C8B-B14F-4D97-AF65-F5344CB8AC3E}">
        <p14:creationId xmlns:p14="http://schemas.microsoft.com/office/powerpoint/2010/main" val="1539218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AE033988-FE2C-43C3-8FFE-9302D7F5C42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63ABBA21-7F80-4A8A-B1CE-B98491E7F5B2}" type="slidenum">
              <a:rPr lang="en-US" altLang="en-US" sz="1400">
                <a:solidFill>
                  <a:srgbClr val="990033"/>
                </a:solidFill>
              </a:rPr>
              <a:pPr>
                <a:spcBef>
                  <a:spcPct val="0"/>
                </a:spcBef>
                <a:buClrTx/>
                <a:buSzTx/>
                <a:buFontTx/>
                <a:buNone/>
              </a:pPr>
              <a:t>2</a:t>
            </a:fld>
            <a:endParaRPr lang="en-CA" altLang="en-US" sz="1400">
              <a:solidFill>
                <a:srgbClr val="990033"/>
              </a:solidFill>
            </a:endParaRPr>
          </a:p>
        </p:txBody>
      </p:sp>
      <p:sp>
        <p:nvSpPr>
          <p:cNvPr id="23555" name="Rectangle 4">
            <a:extLst>
              <a:ext uri="{FF2B5EF4-FFF2-40B4-BE49-F238E27FC236}">
                <a16:creationId xmlns:a16="http://schemas.microsoft.com/office/drawing/2014/main" id="{DCB25F6D-8A09-40BD-93F4-66DCD4C8065F}"/>
              </a:ext>
            </a:extLst>
          </p:cNvPr>
          <p:cNvSpPr>
            <a:spLocks noGrp="1" noChangeArrowheads="1"/>
          </p:cNvSpPr>
          <p:nvPr>
            <p:ph type="title"/>
          </p:nvPr>
        </p:nvSpPr>
        <p:spPr/>
        <p:txBody>
          <a:bodyPr/>
          <a:lstStyle/>
          <a:p>
            <a:pPr eaLnBrk="1" hangingPunct="1"/>
            <a:r>
              <a:rPr lang="en-US" altLang="en-US" sz="3200" dirty="0"/>
              <a:t>Introduction to Transaction Processing</a:t>
            </a:r>
          </a:p>
        </p:txBody>
      </p:sp>
      <p:sp>
        <p:nvSpPr>
          <p:cNvPr id="23556" name="Rectangle 5">
            <a:extLst>
              <a:ext uri="{FF2B5EF4-FFF2-40B4-BE49-F238E27FC236}">
                <a16:creationId xmlns:a16="http://schemas.microsoft.com/office/drawing/2014/main" id="{F3F8219E-B22E-42E9-B0DA-488DE113F1B6}"/>
              </a:ext>
            </a:extLst>
          </p:cNvPr>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en-US" sz="2000"/>
              <a:t>Why Concurrency Control is needed:</a:t>
            </a:r>
          </a:p>
          <a:p>
            <a:pPr eaLnBrk="1" hangingPunct="1">
              <a:lnSpc>
                <a:spcPct val="80000"/>
              </a:lnSpc>
            </a:pPr>
            <a:r>
              <a:rPr lang="en-US" altLang="en-US" sz="2000" b="1"/>
              <a:t>The Lost Update Problem</a:t>
            </a:r>
          </a:p>
          <a:p>
            <a:pPr lvl="1" eaLnBrk="1" hangingPunct="1">
              <a:lnSpc>
                <a:spcPct val="80000"/>
              </a:lnSpc>
            </a:pPr>
            <a:r>
              <a:rPr lang="en-US" altLang="en-US" sz="1900"/>
              <a:t>This occurs when two transactions that access the same database items have their operations interleaved in a way that makes the value of some database item incorrect. </a:t>
            </a:r>
          </a:p>
          <a:p>
            <a:pPr eaLnBrk="1" hangingPunct="1">
              <a:lnSpc>
                <a:spcPct val="80000"/>
              </a:lnSpc>
            </a:pPr>
            <a:r>
              <a:rPr lang="en-US" altLang="en-US" sz="2000" b="1"/>
              <a:t>The Temporary Update (or Dirty Read) Problem </a:t>
            </a:r>
          </a:p>
          <a:p>
            <a:pPr lvl="1" eaLnBrk="1" hangingPunct="1">
              <a:lnSpc>
                <a:spcPct val="80000"/>
              </a:lnSpc>
            </a:pPr>
            <a:r>
              <a:rPr lang="en-US" altLang="en-US" sz="1900"/>
              <a:t>This occurs when one transaction updates a database item and then the transaction fails for some reason (see Section 17.1.4).</a:t>
            </a:r>
          </a:p>
          <a:p>
            <a:pPr lvl="1" eaLnBrk="1" hangingPunct="1">
              <a:lnSpc>
                <a:spcPct val="80000"/>
              </a:lnSpc>
            </a:pPr>
            <a:r>
              <a:rPr lang="en-US" altLang="en-US" sz="1900"/>
              <a:t>The updated item is accessed by another transaction before it is changed back to its original value. </a:t>
            </a:r>
          </a:p>
          <a:p>
            <a:pPr eaLnBrk="1" hangingPunct="1">
              <a:lnSpc>
                <a:spcPct val="80000"/>
              </a:lnSpc>
            </a:pPr>
            <a:r>
              <a:rPr lang="en-US" altLang="en-US" sz="2000" b="1"/>
              <a:t>The Incorrect Summary Problem</a:t>
            </a:r>
          </a:p>
          <a:p>
            <a:pPr lvl="1" eaLnBrk="1" hangingPunct="1">
              <a:lnSpc>
                <a:spcPct val="80000"/>
              </a:lnSpc>
            </a:pPr>
            <a:r>
              <a:rPr lang="en-US" altLang="en-US" sz="1900"/>
              <a:t>If one transaction is calculating an aggregate summary function on a number of records while other transactions are updating some of these records, the aggregate function may calculate some values before they are updated and others after they are updated. </a:t>
            </a:r>
          </a:p>
          <a:p>
            <a:pPr lvl="1" eaLnBrk="1" hangingPunct="1">
              <a:lnSpc>
                <a:spcPct val="80000"/>
              </a:lnSpc>
            </a:pPr>
            <a:endParaRPr lang="en-US" altLang="en-US" sz="1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EFE62755-F3C4-4C9C-94D3-01DC1FA619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B0D899A5-2312-4C0C-B163-D856532452AC}" type="slidenum">
              <a:rPr lang="en-US" altLang="en-US" sz="1400">
                <a:solidFill>
                  <a:srgbClr val="990033"/>
                </a:solidFill>
              </a:rPr>
              <a:pPr>
                <a:spcBef>
                  <a:spcPct val="0"/>
                </a:spcBef>
                <a:buClrTx/>
                <a:buSzTx/>
                <a:buFontTx/>
                <a:buNone/>
              </a:pPr>
              <a:t>3</a:t>
            </a:fld>
            <a:endParaRPr lang="en-CA" altLang="en-US" sz="1400">
              <a:solidFill>
                <a:srgbClr val="990033"/>
              </a:solidFill>
            </a:endParaRPr>
          </a:p>
        </p:txBody>
      </p:sp>
      <p:sp>
        <p:nvSpPr>
          <p:cNvPr id="25603" name="Rectangle 5">
            <a:extLst>
              <a:ext uri="{FF2B5EF4-FFF2-40B4-BE49-F238E27FC236}">
                <a16:creationId xmlns:a16="http://schemas.microsoft.com/office/drawing/2014/main" id="{663D0562-7A44-43DC-A3A2-B7B6AB1399B3}"/>
              </a:ext>
            </a:extLst>
          </p:cNvPr>
          <p:cNvSpPr>
            <a:spLocks noGrp="1" noChangeArrowheads="1"/>
          </p:cNvSpPr>
          <p:nvPr>
            <p:ph type="title"/>
          </p:nvPr>
        </p:nvSpPr>
        <p:spPr/>
        <p:txBody>
          <a:bodyPr/>
          <a:lstStyle/>
          <a:p>
            <a:pPr eaLnBrk="1" hangingPunct="1"/>
            <a:r>
              <a:rPr lang="en-US" altLang="en-US"/>
              <a:t>Concurrent execution is uncontrolled: (a) The lost update problem. </a:t>
            </a:r>
          </a:p>
        </p:txBody>
      </p:sp>
      <p:pic>
        <p:nvPicPr>
          <p:cNvPr id="25604" name="Picture 9" descr="fig17_03a">
            <a:extLst>
              <a:ext uri="{FF2B5EF4-FFF2-40B4-BE49-F238E27FC236}">
                <a16:creationId xmlns:a16="http://schemas.microsoft.com/office/drawing/2014/main" id="{0A0AA0AE-586D-4281-BF65-B240F8024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133600"/>
            <a:ext cx="85344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1F30FB78-6A19-4EBB-869F-2BD448E952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A8A8994B-9265-40A9-9CEC-4BF61830734C}" type="slidenum">
              <a:rPr lang="en-US" altLang="en-US" sz="1400">
                <a:solidFill>
                  <a:srgbClr val="990033"/>
                </a:solidFill>
              </a:rPr>
              <a:pPr>
                <a:spcBef>
                  <a:spcPct val="0"/>
                </a:spcBef>
                <a:buClrTx/>
                <a:buSzTx/>
                <a:buFontTx/>
                <a:buNone/>
              </a:pPr>
              <a:t>4</a:t>
            </a:fld>
            <a:endParaRPr lang="en-CA" altLang="en-US" sz="1400">
              <a:solidFill>
                <a:srgbClr val="990033"/>
              </a:solidFill>
            </a:endParaRPr>
          </a:p>
        </p:txBody>
      </p:sp>
      <p:sp>
        <p:nvSpPr>
          <p:cNvPr id="27651" name="Rectangle 5">
            <a:extLst>
              <a:ext uri="{FF2B5EF4-FFF2-40B4-BE49-F238E27FC236}">
                <a16:creationId xmlns:a16="http://schemas.microsoft.com/office/drawing/2014/main" id="{9E82AB6D-C5C0-4DE3-BCFD-DC81F1E20442}"/>
              </a:ext>
            </a:extLst>
          </p:cNvPr>
          <p:cNvSpPr>
            <a:spLocks noGrp="1" noChangeArrowheads="1"/>
          </p:cNvSpPr>
          <p:nvPr>
            <p:ph type="title"/>
          </p:nvPr>
        </p:nvSpPr>
        <p:spPr/>
        <p:txBody>
          <a:bodyPr/>
          <a:lstStyle/>
          <a:p>
            <a:pPr eaLnBrk="1" hangingPunct="1"/>
            <a:r>
              <a:rPr lang="en-US" altLang="en-US"/>
              <a:t>Concurrent execution is uncontrolled: (b) The temporary update problem.</a:t>
            </a:r>
          </a:p>
        </p:txBody>
      </p:sp>
      <p:pic>
        <p:nvPicPr>
          <p:cNvPr id="27652" name="Picture 10" descr="fig17_03b">
            <a:extLst>
              <a:ext uri="{FF2B5EF4-FFF2-40B4-BE49-F238E27FC236}">
                <a16:creationId xmlns:a16="http://schemas.microsoft.com/office/drawing/2014/main" id="{197CF42C-BF55-458E-B8DE-FFB7A3753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209800"/>
            <a:ext cx="8305800"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1D19BF6D-ED9B-4C7D-96E1-7B767F41D7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64EEE00E-FFAB-46E6-A6A8-4122F04A14AD}" type="slidenum">
              <a:rPr lang="en-US" altLang="en-US" sz="1400">
                <a:solidFill>
                  <a:srgbClr val="990033"/>
                </a:solidFill>
              </a:rPr>
              <a:pPr>
                <a:spcBef>
                  <a:spcPct val="0"/>
                </a:spcBef>
                <a:buClrTx/>
                <a:buSzTx/>
                <a:buFontTx/>
                <a:buNone/>
              </a:pPr>
              <a:t>5</a:t>
            </a:fld>
            <a:endParaRPr lang="en-CA" altLang="en-US" sz="1400">
              <a:solidFill>
                <a:srgbClr val="990033"/>
              </a:solidFill>
            </a:endParaRPr>
          </a:p>
        </p:txBody>
      </p:sp>
      <p:sp>
        <p:nvSpPr>
          <p:cNvPr id="29699" name="Rectangle 5">
            <a:extLst>
              <a:ext uri="{FF2B5EF4-FFF2-40B4-BE49-F238E27FC236}">
                <a16:creationId xmlns:a16="http://schemas.microsoft.com/office/drawing/2014/main" id="{54B4B9EC-1661-44F2-9EF8-C51F73306067}"/>
              </a:ext>
            </a:extLst>
          </p:cNvPr>
          <p:cNvSpPr>
            <a:spLocks noGrp="1" noChangeArrowheads="1"/>
          </p:cNvSpPr>
          <p:nvPr>
            <p:ph type="title"/>
          </p:nvPr>
        </p:nvSpPr>
        <p:spPr/>
        <p:txBody>
          <a:bodyPr/>
          <a:lstStyle/>
          <a:p>
            <a:pPr eaLnBrk="1" hangingPunct="1"/>
            <a:r>
              <a:rPr lang="en-US" altLang="en-US"/>
              <a:t>Concurrent execution is uncontrolled: (c) The incorrect summary problem.</a:t>
            </a:r>
          </a:p>
        </p:txBody>
      </p:sp>
      <p:pic>
        <p:nvPicPr>
          <p:cNvPr id="29700" name="Picture 9" descr="fig17_03c">
            <a:extLst>
              <a:ext uri="{FF2B5EF4-FFF2-40B4-BE49-F238E27FC236}">
                <a16:creationId xmlns:a16="http://schemas.microsoft.com/office/drawing/2014/main" id="{B9762B92-8562-4A29-BE35-7A658887AC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752601"/>
            <a:ext cx="7696200" cy="433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9C954A39-E89F-43B8-BD4C-F3E3193A7B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41FD0FA-BD6E-441B-A0FA-5082D4393021}" type="slidenum">
              <a:rPr lang="en-US" altLang="en-US" sz="1400">
                <a:solidFill>
                  <a:srgbClr val="990033"/>
                </a:solidFill>
              </a:rPr>
              <a:pPr>
                <a:spcBef>
                  <a:spcPct val="0"/>
                </a:spcBef>
                <a:buClrTx/>
                <a:buSzTx/>
                <a:buFontTx/>
                <a:buNone/>
              </a:pPr>
              <a:t>6</a:t>
            </a:fld>
            <a:endParaRPr lang="en-CA" altLang="en-US" sz="1400">
              <a:solidFill>
                <a:srgbClr val="990033"/>
              </a:solidFill>
            </a:endParaRPr>
          </a:p>
        </p:txBody>
      </p:sp>
      <p:sp>
        <p:nvSpPr>
          <p:cNvPr id="31747" name="Rectangle 4">
            <a:extLst>
              <a:ext uri="{FF2B5EF4-FFF2-40B4-BE49-F238E27FC236}">
                <a16:creationId xmlns:a16="http://schemas.microsoft.com/office/drawing/2014/main" id="{DE4621C1-4826-4DE4-AAD5-3747CAD95CF5}"/>
              </a:ext>
            </a:extLst>
          </p:cNvPr>
          <p:cNvSpPr>
            <a:spLocks noGrp="1" noChangeArrowheads="1"/>
          </p:cNvSpPr>
          <p:nvPr>
            <p:ph type="title"/>
          </p:nvPr>
        </p:nvSpPr>
        <p:spPr>
          <a:xfrm>
            <a:off x="1752600" y="303214"/>
            <a:ext cx="8610600" cy="992187"/>
          </a:xfrm>
        </p:spPr>
        <p:txBody>
          <a:bodyPr>
            <a:normAutofit fontScale="90000"/>
          </a:bodyPr>
          <a:lstStyle/>
          <a:p>
            <a:pPr eaLnBrk="1" hangingPunct="1"/>
            <a:r>
              <a:rPr lang="en-US" altLang="en-US"/>
              <a:t>Introduction to Transaction Processing </a:t>
            </a:r>
          </a:p>
        </p:txBody>
      </p:sp>
      <p:sp>
        <p:nvSpPr>
          <p:cNvPr id="31748" name="Rectangle 5">
            <a:extLst>
              <a:ext uri="{FF2B5EF4-FFF2-40B4-BE49-F238E27FC236}">
                <a16:creationId xmlns:a16="http://schemas.microsoft.com/office/drawing/2014/main" id="{DB8E5860-C6BF-48DE-B00B-71B84B063386}"/>
              </a:ext>
            </a:extLst>
          </p:cNvPr>
          <p:cNvSpPr>
            <a:spLocks noGrp="1" noChangeArrowheads="1"/>
          </p:cNvSpPr>
          <p:nvPr>
            <p:ph type="body" idx="1"/>
          </p:nvPr>
        </p:nvSpPr>
        <p:spPr>
          <a:xfrm>
            <a:off x="1763714" y="1428751"/>
            <a:ext cx="8294687" cy="4143375"/>
          </a:xfrm>
        </p:spPr>
        <p:txBody>
          <a:bodyPr/>
          <a:lstStyle/>
          <a:p>
            <a:pPr marL="533400" indent="-533400">
              <a:lnSpc>
                <a:spcPct val="80000"/>
              </a:lnSpc>
              <a:buNone/>
            </a:pPr>
            <a:r>
              <a:rPr lang="en-US" altLang="en-US" sz="2400"/>
              <a:t>Why </a:t>
            </a:r>
            <a:r>
              <a:rPr lang="en-US" altLang="en-US" sz="2400" b="1"/>
              <a:t>recovery</a:t>
            </a:r>
            <a:r>
              <a:rPr lang="en-US" altLang="en-US" sz="2400"/>
              <a:t> is needed: </a:t>
            </a:r>
          </a:p>
          <a:p>
            <a:pPr marL="533400" indent="-533400">
              <a:lnSpc>
                <a:spcPct val="80000"/>
              </a:lnSpc>
              <a:buNone/>
            </a:pPr>
            <a:r>
              <a:rPr lang="en-US" altLang="en-US" sz="2400"/>
              <a:t>(What causes a Transaction to fail)</a:t>
            </a:r>
          </a:p>
          <a:p>
            <a:pPr marL="952500" lvl="1" indent="-495300">
              <a:lnSpc>
                <a:spcPct val="80000"/>
              </a:lnSpc>
              <a:buNone/>
            </a:pPr>
            <a:r>
              <a:rPr lang="en-US" altLang="en-US" sz="2300"/>
              <a:t>1. A computer failure (system crash):</a:t>
            </a:r>
          </a:p>
          <a:p>
            <a:pPr marL="1371600" lvl="2" indent="-457200">
              <a:lnSpc>
                <a:spcPct val="80000"/>
              </a:lnSpc>
              <a:buNone/>
            </a:pPr>
            <a:r>
              <a:rPr lang="en-US" altLang="en-US"/>
              <a:t>A </a:t>
            </a:r>
            <a:r>
              <a:rPr lang="en-US" altLang="en-US" b="1"/>
              <a:t>hardware or software error </a:t>
            </a:r>
            <a:r>
              <a:rPr lang="en-US" altLang="en-US"/>
              <a:t>occurs in the computer system during transaction execution. If the hardware crashes, the contents of the computer’s internal memory may be lost.</a:t>
            </a:r>
          </a:p>
          <a:p>
            <a:pPr marL="952500" lvl="1" indent="-495300">
              <a:lnSpc>
                <a:spcPct val="80000"/>
              </a:lnSpc>
              <a:buNone/>
            </a:pPr>
            <a:r>
              <a:rPr lang="en-US" altLang="en-US" sz="2300"/>
              <a:t>2. A transaction or system error:</a:t>
            </a:r>
          </a:p>
          <a:p>
            <a:pPr marL="1371600" lvl="2" indent="-457200">
              <a:lnSpc>
                <a:spcPct val="80000"/>
              </a:lnSpc>
              <a:buNone/>
            </a:pPr>
            <a:r>
              <a:rPr lang="en-US" altLang="en-US"/>
              <a:t>Some operation in the transaction may cause it to fail, such as </a:t>
            </a:r>
            <a:r>
              <a:rPr lang="en-US" altLang="en-US" b="1"/>
              <a:t>integer overflow or division by zero</a:t>
            </a:r>
            <a:r>
              <a:rPr lang="en-US" altLang="en-US"/>
              <a:t>. Transaction failure may also occur because of </a:t>
            </a:r>
            <a:r>
              <a:rPr lang="en-US" altLang="en-US" b="1"/>
              <a:t>erroneous parameter values or because of a logical programming error</a:t>
            </a:r>
            <a:r>
              <a:rPr lang="en-US" altLang="en-US"/>
              <a:t>. In addition, the </a:t>
            </a:r>
            <a:r>
              <a:rPr lang="en-US" altLang="en-US" b="1"/>
              <a:t>user may interrupt </a:t>
            </a:r>
            <a:r>
              <a:rPr lang="en-US" altLang="en-US"/>
              <a:t>the transaction during its execution.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317EB4A7-F892-43D9-84CB-02523DF1F4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38F19495-1908-4410-B5E4-C621ED043782}" type="slidenum">
              <a:rPr lang="en-US" altLang="en-US" sz="1400">
                <a:solidFill>
                  <a:srgbClr val="990033"/>
                </a:solidFill>
              </a:rPr>
              <a:pPr>
                <a:spcBef>
                  <a:spcPct val="0"/>
                </a:spcBef>
                <a:buClrTx/>
                <a:buSzTx/>
                <a:buFontTx/>
                <a:buNone/>
              </a:pPr>
              <a:t>7</a:t>
            </a:fld>
            <a:endParaRPr lang="en-CA" altLang="en-US" sz="1400">
              <a:solidFill>
                <a:srgbClr val="990033"/>
              </a:solidFill>
            </a:endParaRPr>
          </a:p>
        </p:txBody>
      </p:sp>
      <p:sp>
        <p:nvSpPr>
          <p:cNvPr id="33795" name="Rectangle 2">
            <a:extLst>
              <a:ext uri="{FF2B5EF4-FFF2-40B4-BE49-F238E27FC236}">
                <a16:creationId xmlns:a16="http://schemas.microsoft.com/office/drawing/2014/main" id="{54133A81-9949-47DB-A693-7974C115FC94}"/>
              </a:ext>
            </a:extLst>
          </p:cNvPr>
          <p:cNvSpPr>
            <a:spLocks noGrp="1" noChangeArrowheads="1"/>
          </p:cNvSpPr>
          <p:nvPr>
            <p:ph type="title"/>
          </p:nvPr>
        </p:nvSpPr>
        <p:spPr>
          <a:xfrm>
            <a:off x="1752600" y="303214"/>
            <a:ext cx="8610600" cy="992187"/>
          </a:xfrm>
        </p:spPr>
        <p:txBody>
          <a:bodyPr>
            <a:normAutofit fontScale="90000"/>
          </a:bodyPr>
          <a:lstStyle/>
          <a:p>
            <a:pPr eaLnBrk="1" hangingPunct="1"/>
            <a:r>
              <a:rPr lang="en-US" altLang="en-US"/>
              <a:t>Introduction to Transaction Processing </a:t>
            </a:r>
          </a:p>
        </p:txBody>
      </p:sp>
      <p:sp>
        <p:nvSpPr>
          <p:cNvPr id="33796" name="Rectangle 3">
            <a:extLst>
              <a:ext uri="{FF2B5EF4-FFF2-40B4-BE49-F238E27FC236}">
                <a16:creationId xmlns:a16="http://schemas.microsoft.com/office/drawing/2014/main" id="{12674489-E405-4622-A7A8-D7232BAB9083}"/>
              </a:ext>
            </a:extLst>
          </p:cNvPr>
          <p:cNvSpPr>
            <a:spLocks noGrp="1" noChangeArrowheads="1"/>
          </p:cNvSpPr>
          <p:nvPr>
            <p:ph type="body" idx="1"/>
          </p:nvPr>
        </p:nvSpPr>
        <p:spPr/>
        <p:txBody>
          <a:bodyPr/>
          <a:lstStyle/>
          <a:p>
            <a:pPr marL="533400" indent="-533400">
              <a:lnSpc>
                <a:spcPct val="80000"/>
              </a:lnSpc>
              <a:buNone/>
            </a:pPr>
            <a:r>
              <a:rPr lang="en-US" altLang="en-US" sz="2400"/>
              <a:t>Why </a:t>
            </a:r>
            <a:r>
              <a:rPr lang="en-US" altLang="en-US" sz="2400" b="1"/>
              <a:t>recovery</a:t>
            </a:r>
            <a:r>
              <a:rPr lang="en-US" altLang="en-US" sz="2400"/>
              <a:t> is needed (Contd.): </a:t>
            </a:r>
          </a:p>
          <a:p>
            <a:pPr marL="533400" indent="-533400">
              <a:lnSpc>
                <a:spcPct val="80000"/>
              </a:lnSpc>
              <a:buNone/>
            </a:pPr>
            <a:r>
              <a:rPr lang="en-US" altLang="en-US" sz="2400"/>
              <a:t>(What causes a Transaction to fail)</a:t>
            </a:r>
          </a:p>
          <a:p>
            <a:pPr marL="952500" lvl="1" indent="-495300">
              <a:lnSpc>
                <a:spcPct val="80000"/>
              </a:lnSpc>
              <a:buNone/>
            </a:pPr>
            <a:r>
              <a:rPr lang="en-US" altLang="en-US" sz="2300"/>
              <a:t>3. Local errors or exception conditions detected by the transaction:</a:t>
            </a:r>
          </a:p>
          <a:p>
            <a:pPr marL="1371600" lvl="2" indent="-457200">
              <a:lnSpc>
                <a:spcPct val="80000"/>
              </a:lnSpc>
              <a:buNone/>
            </a:pPr>
            <a:r>
              <a:rPr lang="en-US" altLang="en-US"/>
              <a:t>Certain conditions necessitate cancellation of the transaction. For example, data for the transaction may not be found. A condition, such as </a:t>
            </a:r>
            <a:r>
              <a:rPr lang="en-US" altLang="en-US" b="1"/>
              <a:t>insufficient account balance in a banking database</a:t>
            </a:r>
            <a:r>
              <a:rPr lang="en-US" altLang="en-US"/>
              <a:t>, may cause a transaction, such as a fund withdrawal from that account, to be canceled. </a:t>
            </a:r>
          </a:p>
          <a:p>
            <a:pPr marL="1371600" lvl="2" indent="-457200">
              <a:lnSpc>
                <a:spcPct val="80000"/>
              </a:lnSpc>
              <a:buNone/>
            </a:pPr>
            <a:r>
              <a:rPr lang="en-US" altLang="en-US"/>
              <a:t>A programmed abort in the transaction causes it to fail.</a:t>
            </a:r>
          </a:p>
          <a:p>
            <a:pPr marL="952500" lvl="1" indent="-495300">
              <a:lnSpc>
                <a:spcPct val="80000"/>
              </a:lnSpc>
              <a:buNone/>
            </a:pPr>
            <a:r>
              <a:rPr lang="en-US" altLang="en-US" sz="2300"/>
              <a:t>4. Concurrency control enforcement:</a:t>
            </a:r>
          </a:p>
          <a:p>
            <a:pPr marL="1371600" lvl="2" indent="-457200">
              <a:lnSpc>
                <a:spcPct val="80000"/>
              </a:lnSpc>
              <a:buNone/>
            </a:pPr>
            <a:r>
              <a:rPr lang="en-US" altLang="en-US"/>
              <a:t>The concurrency control method may decide to abort the transaction, to be restarted later, because it </a:t>
            </a:r>
            <a:r>
              <a:rPr lang="en-US" altLang="en-US" b="1"/>
              <a:t>violates serializability </a:t>
            </a:r>
            <a:r>
              <a:rPr lang="en-US" altLang="en-US"/>
              <a:t>or because several transactions are in a state of </a:t>
            </a:r>
            <a:r>
              <a:rPr lang="en-US" altLang="en-US" b="1"/>
              <a:t>deadlock</a:t>
            </a:r>
            <a:r>
              <a:rPr lang="en-US" altLang="en-US"/>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298DC8AF-F140-4D19-A867-6E70D1FF1D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96C9B4F1-AAC5-4327-BEAD-563DF52BFD2C}" type="slidenum">
              <a:rPr lang="en-US" altLang="en-US" sz="1400">
                <a:solidFill>
                  <a:srgbClr val="990033"/>
                </a:solidFill>
              </a:rPr>
              <a:pPr>
                <a:spcBef>
                  <a:spcPct val="0"/>
                </a:spcBef>
                <a:buClrTx/>
                <a:buSzTx/>
                <a:buFontTx/>
                <a:buNone/>
              </a:pPr>
              <a:t>8</a:t>
            </a:fld>
            <a:endParaRPr lang="en-CA" altLang="en-US" sz="1400">
              <a:solidFill>
                <a:srgbClr val="990033"/>
              </a:solidFill>
            </a:endParaRPr>
          </a:p>
        </p:txBody>
      </p:sp>
      <p:sp>
        <p:nvSpPr>
          <p:cNvPr id="35843" name="Rectangle 2">
            <a:extLst>
              <a:ext uri="{FF2B5EF4-FFF2-40B4-BE49-F238E27FC236}">
                <a16:creationId xmlns:a16="http://schemas.microsoft.com/office/drawing/2014/main" id="{CABFF70C-E219-4F1B-B960-779889E5B58E}"/>
              </a:ext>
            </a:extLst>
          </p:cNvPr>
          <p:cNvSpPr>
            <a:spLocks noGrp="1" noChangeArrowheads="1"/>
          </p:cNvSpPr>
          <p:nvPr>
            <p:ph type="title"/>
          </p:nvPr>
        </p:nvSpPr>
        <p:spPr>
          <a:xfrm>
            <a:off x="1752600" y="303214"/>
            <a:ext cx="8610600" cy="992187"/>
          </a:xfrm>
        </p:spPr>
        <p:txBody>
          <a:bodyPr>
            <a:normAutofit fontScale="90000"/>
          </a:bodyPr>
          <a:lstStyle/>
          <a:p>
            <a:pPr eaLnBrk="1" hangingPunct="1"/>
            <a:r>
              <a:rPr lang="en-US" altLang="en-US"/>
              <a:t>Introduction to Transaction Processing </a:t>
            </a:r>
          </a:p>
        </p:txBody>
      </p:sp>
      <p:sp>
        <p:nvSpPr>
          <p:cNvPr id="35844" name="Rectangle 3">
            <a:extLst>
              <a:ext uri="{FF2B5EF4-FFF2-40B4-BE49-F238E27FC236}">
                <a16:creationId xmlns:a16="http://schemas.microsoft.com/office/drawing/2014/main" id="{0136570B-D4F5-48BB-AF74-DED3BAB23D6F}"/>
              </a:ext>
            </a:extLst>
          </p:cNvPr>
          <p:cNvSpPr>
            <a:spLocks noGrp="1" noChangeArrowheads="1"/>
          </p:cNvSpPr>
          <p:nvPr>
            <p:ph type="body" idx="1"/>
          </p:nvPr>
        </p:nvSpPr>
        <p:spPr/>
        <p:txBody>
          <a:bodyPr/>
          <a:lstStyle/>
          <a:p>
            <a:pPr marL="533400" indent="-533400">
              <a:lnSpc>
                <a:spcPct val="80000"/>
              </a:lnSpc>
              <a:buNone/>
            </a:pPr>
            <a:r>
              <a:rPr lang="en-US" altLang="en-US"/>
              <a:t>Why </a:t>
            </a:r>
            <a:r>
              <a:rPr lang="en-US" altLang="en-US" b="1"/>
              <a:t>recovery</a:t>
            </a:r>
            <a:r>
              <a:rPr lang="en-US" altLang="en-US"/>
              <a:t> is needed (contd.): </a:t>
            </a:r>
          </a:p>
          <a:p>
            <a:pPr marL="533400" indent="-533400">
              <a:lnSpc>
                <a:spcPct val="80000"/>
              </a:lnSpc>
              <a:buNone/>
            </a:pPr>
            <a:r>
              <a:rPr lang="en-US" altLang="en-US"/>
              <a:t>(What causes a Transaction to fail)</a:t>
            </a:r>
          </a:p>
          <a:p>
            <a:pPr marL="952500" lvl="1" indent="-495300">
              <a:lnSpc>
                <a:spcPct val="80000"/>
              </a:lnSpc>
              <a:buNone/>
            </a:pPr>
            <a:r>
              <a:rPr lang="en-US" altLang="en-US" sz="2700"/>
              <a:t>5. Disk failure:</a:t>
            </a:r>
          </a:p>
          <a:p>
            <a:pPr marL="1371600" lvl="2" indent="-457200">
              <a:lnSpc>
                <a:spcPct val="80000"/>
              </a:lnSpc>
              <a:buNone/>
            </a:pPr>
            <a:r>
              <a:rPr lang="en-US" altLang="en-US"/>
              <a:t>Some disk blocks may lose their data because of a </a:t>
            </a:r>
            <a:r>
              <a:rPr lang="en-US" altLang="en-US" b="1"/>
              <a:t>read or write malfunction </a:t>
            </a:r>
            <a:r>
              <a:rPr lang="en-US" altLang="en-US"/>
              <a:t>or because of </a:t>
            </a:r>
            <a:r>
              <a:rPr lang="en-US" altLang="en-US" b="1"/>
              <a:t>a disk read/write head crash</a:t>
            </a:r>
            <a:r>
              <a:rPr lang="en-US" altLang="en-US"/>
              <a:t>. This may happen during a read or a write operation of the transaction.</a:t>
            </a:r>
          </a:p>
          <a:p>
            <a:pPr marL="952500" lvl="1" indent="-495300">
              <a:lnSpc>
                <a:spcPct val="80000"/>
              </a:lnSpc>
              <a:buNone/>
            </a:pPr>
            <a:r>
              <a:rPr lang="en-US" altLang="en-US" sz="2700"/>
              <a:t>6. Physical problems and catastrophes:</a:t>
            </a:r>
          </a:p>
          <a:p>
            <a:pPr marL="1371600" lvl="2" indent="-457200">
              <a:lnSpc>
                <a:spcPct val="80000"/>
              </a:lnSpc>
              <a:buNone/>
            </a:pPr>
            <a:r>
              <a:rPr lang="en-US" altLang="en-US"/>
              <a:t>This refers to an endless list of problems that includes </a:t>
            </a:r>
            <a:r>
              <a:rPr lang="en-US" altLang="en-US" b="1"/>
              <a:t>power or air-conditioning failure, fire, theft</a:t>
            </a:r>
            <a:r>
              <a:rPr lang="en-US" altLang="en-US"/>
              <a:t>, sabotage, overwriting disks or tapes by mistake, and mounting of a wrong tape by the operator.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5353E156-7E50-4309-8F96-F5CC9BE57A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207E167A-E2F8-47C1-8494-FE0D103CF1AE}" type="slidenum">
              <a:rPr lang="en-US" altLang="en-US" sz="1400">
                <a:solidFill>
                  <a:srgbClr val="990033"/>
                </a:solidFill>
              </a:rPr>
              <a:pPr>
                <a:spcBef>
                  <a:spcPct val="0"/>
                </a:spcBef>
                <a:buClrTx/>
                <a:buSzTx/>
                <a:buFontTx/>
                <a:buNone/>
              </a:pPr>
              <a:t>9</a:t>
            </a:fld>
            <a:endParaRPr lang="en-CA" altLang="en-US" sz="1400">
              <a:solidFill>
                <a:srgbClr val="990033"/>
              </a:solidFill>
            </a:endParaRPr>
          </a:p>
        </p:txBody>
      </p:sp>
      <p:sp>
        <p:nvSpPr>
          <p:cNvPr id="37891" name="Rectangle 4">
            <a:extLst>
              <a:ext uri="{FF2B5EF4-FFF2-40B4-BE49-F238E27FC236}">
                <a16:creationId xmlns:a16="http://schemas.microsoft.com/office/drawing/2014/main" id="{7CA84AFB-D897-41E1-826B-19C55EFEF262}"/>
              </a:ext>
            </a:extLst>
          </p:cNvPr>
          <p:cNvSpPr>
            <a:spLocks noGrp="1" noChangeArrowheads="1"/>
          </p:cNvSpPr>
          <p:nvPr>
            <p:ph type="title"/>
          </p:nvPr>
        </p:nvSpPr>
        <p:spPr/>
        <p:txBody>
          <a:bodyPr/>
          <a:lstStyle/>
          <a:p>
            <a:pPr eaLnBrk="1" hangingPunct="1"/>
            <a:r>
              <a:rPr lang="en-US" altLang="en-US" sz="3200"/>
              <a:t>Transaction and System Concepts </a:t>
            </a:r>
          </a:p>
        </p:txBody>
      </p:sp>
      <p:sp>
        <p:nvSpPr>
          <p:cNvPr id="37892" name="Rectangle 5">
            <a:extLst>
              <a:ext uri="{FF2B5EF4-FFF2-40B4-BE49-F238E27FC236}">
                <a16:creationId xmlns:a16="http://schemas.microsoft.com/office/drawing/2014/main" id="{30241102-49EB-4247-BB89-D0A6F471C2E1}"/>
              </a:ext>
            </a:extLst>
          </p:cNvPr>
          <p:cNvSpPr>
            <a:spLocks noGrp="1" noChangeArrowheads="1"/>
          </p:cNvSpPr>
          <p:nvPr>
            <p:ph type="body" idx="1"/>
          </p:nvPr>
        </p:nvSpPr>
        <p:spPr/>
        <p:txBody>
          <a:bodyPr/>
          <a:lstStyle/>
          <a:p>
            <a:pPr eaLnBrk="1" hangingPunct="1">
              <a:lnSpc>
                <a:spcPct val="80000"/>
              </a:lnSpc>
            </a:pPr>
            <a:r>
              <a:rPr lang="en-US" altLang="en-US"/>
              <a:t>A </a:t>
            </a:r>
            <a:r>
              <a:rPr lang="en-US" altLang="en-US" b="1"/>
              <a:t>transaction</a:t>
            </a:r>
            <a:r>
              <a:rPr lang="en-US" altLang="en-US"/>
              <a:t> is an atomic unit of work that is either completed in its entirety or not done at all. </a:t>
            </a:r>
          </a:p>
          <a:p>
            <a:pPr lvl="1" eaLnBrk="1" hangingPunct="1">
              <a:lnSpc>
                <a:spcPct val="80000"/>
              </a:lnSpc>
            </a:pPr>
            <a:r>
              <a:rPr lang="en-US" altLang="en-US" sz="2800"/>
              <a:t>For recovery purposes, the system needs to keep track of when the transaction starts, terminates, and commits or aborts.</a:t>
            </a:r>
          </a:p>
          <a:p>
            <a:pPr eaLnBrk="1" hangingPunct="1">
              <a:lnSpc>
                <a:spcPct val="80000"/>
              </a:lnSpc>
            </a:pPr>
            <a:r>
              <a:rPr lang="en-US" altLang="en-US" b="1"/>
              <a:t>Transaction</a:t>
            </a:r>
            <a:r>
              <a:rPr lang="en-US" altLang="en-US"/>
              <a:t> </a:t>
            </a:r>
            <a:r>
              <a:rPr lang="en-US" altLang="en-US" b="1"/>
              <a:t>states</a:t>
            </a:r>
            <a:r>
              <a:rPr lang="en-US" altLang="en-US"/>
              <a:t>:</a:t>
            </a:r>
          </a:p>
          <a:p>
            <a:pPr lvl="1" eaLnBrk="1" hangingPunct="1">
              <a:lnSpc>
                <a:spcPct val="80000"/>
              </a:lnSpc>
            </a:pPr>
            <a:r>
              <a:rPr lang="en-US" altLang="en-US" sz="2800"/>
              <a:t>Active state</a:t>
            </a:r>
          </a:p>
          <a:p>
            <a:pPr lvl="1" eaLnBrk="1" hangingPunct="1">
              <a:lnSpc>
                <a:spcPct val="80000"/>
              </a:lnSpc>
            </a:pPr>
            <a:r>
              <a:rPr lang="en-US" altLang="en-US" sz="2800"/>
              <a:t>Partially committed state</a:t>
            </a:r>
          </a:p>
          <a:p>
            <a:pPr lvl="1" eaLnBrk="1" hangingPunct="1">
              <a:lnSpc>
                <a:spcPct val="80000"/>
              </a:lnSpc>
            </a:pPr>
            <a:r>
              <a:rPr lang="en-US" altLang="en-US" sz="2800"/>
              <a:t>Committed state</a:t>
            </a:r>
          </a:p>
          <a:p>
            <a:pPr lvl="1" eaLnBrk="1" hangingPunct="1">
              <a:lnSpc>
                <a:spcPct val="80000"/>
              </a:lnSpc>
            </a:pPr>
            <a:r>
              <a:rPr lang="en-US" altLang="en-US" sz="2800"/>
              <a:t>Failed state</a:t>
            </a:r>
          </a:p>
          <a:p>
            <a:pPr lvl="1" eaLnBrk="1" hangingPunct="1">
              <a:lnSpc>
                <a:spcPct val="80000"/>
              </a:lnSpc>
            </a:pPr>
            <a:r>
              <a:rPr lang="en-US" altLang="en-US" sz="2800"/>
              <a:t>Terminated State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4A256782-945E-4B33-B0A3-510B0A38762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777FCE3F-4155-4CD2-94AE-FA13B8B55AC1}" type="slidenum">
              <a:rPr lang="en-US" altLang="en-US" sz="1400">
                <a:solidFill>
                  <a:srgbClr val="990033"/>
                </a:solidFill>
              </a:rPr>
              <a:pPr>
                <a:spcBef>
                  <a:spcPct val="0"/>
                </a:spcBef>
                <a:buClrTx/>
                <a:buSzTx/>
                <a:buFontTx/>
                <a:buNone/>
              </a:pPr>
              <a:t>10</a:t>
            </a:fld>
            <a:endParaRPr lang="en-CA" altLang="en-US" sz="1400">
              <a:solidFill>
                <a:srgbClr val="990033"/>
              </a:solidFill>
            </a:endParaRPr>
          </a:p>
        </p:txBody>
      </p:sp>
      <p:sp>
        <p:nvSpPr>
          <p:cNvPr id="39939" name="Rectangle 4">
            <a:extLst>
              <a:ext uri="{FF2B5EF4-FFF2-40B4-BE49-F238E27FC236}">
                <a16:creationId xmlns:a16="http://schemas.microsoft.com/office/drawing/2014/main" id="{4B0AA21C-3BFD-48FF-821A-547E947A56DB}"/>
              </a:ext>
            </a:extLst>
          </p:cNvPr>
          <p:cNvSpPr>
            <a:spLocks noGrp="1" noChangeArrowheads="1"/>
          </p:cNvSpPr>
          <p:nvPr>
            <p:ph type="title"/>
          </p:nvPr>
        </p:nvSpPr>
        <p:spPr/>
        <p:txBody>
          <a:bodyPr/>
          <a:lstStyle/>
          <a:p>
            <a:pPr eaLnBrk="1" hangingPunct="1"/>
            <a:r>
              <a:rPr lang="en-US" altLang="en-US" sz="3200"/>
              <a:t>Transaction and System Concepts </a:t>
            </a:r>
          </a:p>
        </p:txBody>
      </p:sp>
      <p:sp>
        <p:nvSpPr>
          <p:cNvPr id="39940" name="Rectangle 5">
            <a:extLst>
              <a:ext uri="{FF2B5EF4-FFF2-40B4-BE49-F238E27FC236}">
                <a16:creationId xmlns:a16="http://schemas.microsoft.com/office/drawing/2014/main" id="{B4EB86E2-822C-4337-ADF9-0510A1B0A3DF}"/>
              </a:ext>
            </a:extLst>
          </p:cNvPr>
          <p:cNvSpPr>
            <a:spLocks noGrp="1" noChangeArrowheads="1"/>
          </p:cNvSpPr>
          <p:nvPr>
            <p:ph type="body" idx="1"/>
          </p:nvPr>
        </p:nvSpPr>
        <p:spPr/>
        <p:txBody>
          <a:bodyPr/>
          <a:lstStyle/>
          <a:p>
            <a:pPr eaLnBrk="1" hangingPunct="1">
              <a:lnSpc>
                <a:spcPct val="80000"/>
              </a:lnSpc>
            </a:pPr>
            <a:r>
              <a:rPr lang="en-US" altLang="en-US" sz="2400"/>
              <a:t>Recovery manager keeps track of the following operations:</a:t>
            </a:r>
          </a:p>
          <a:p>
            <a:pPr lvl="1" eaLnBrk="1" hangingPunct="1">
              <a:lnSpc>
                <a:spcPct val="80000"/>
              </a:lnSpc>
            </a:pPr>
            <a:r>
              <a:rPr lang="en-US" altLang="en-US" sz="2100" b="1"/>
              <a:t>begin_transaction</a:t>
            </a:r>
            <a:r>
              <a:rPr lang="en-US" altLang="en-US" sz="2100"/>
              <a:t>: This marks the beginning of transaction execution.</a:t>
            </a:r>
          </a:p>
          <a:p>
            <a:pPr lvl="1" eaLnBrk="1" hangingPunct="1">
              <a:lnSpc>
                <a:spcPct val="80000"/>
              </a:lnSpc>
            </a:pPr>
            <a:r>
              <a:rPr lang="en-US" altLang="en-US" sz="2100" b="1"/>
              <a:t>read</a:t>
            </a:r>
            <a:r>
              <a:rPr lang="en-US" altLang="en-US" sz="2100"/>
              <a:t> or </a:t>
            </a:r>
            <a:r>
              <a:rPr lang="en-US" altLang="en-US" sz="2100" b="1"/>
              <a:t>write</a:t>
            </a:r>
            <a:r>
              <a:rPr lang="en-US" altLang="en-US" sz="2100"/>
              <a:t>: These specify read or write operations on the database items that are executed as part of a transaction.</a:t>
            </a:r>
          </a:p>
          <a:p>
            <a:pPr lvl="1" eaLnBrk="1" hangingPunct="1">
              <a:lnSpc>
                <a:spcPct val="80000"/>
              </a:lnSpc>
            </a:pPr>
            <a:r>
              <a:rPr lang="en-US" altLang="en-US" sz="2100" b="1"/>
              <a:t>end_transaction</a:t>
            </a:r>
            <a:r>
              <a:rPr lang="en-US" altLang="en-US" sz="2100"/>
              <a:t>: This specifies that read and write transaction operations have ended and marks the end limit of transaction execution.</a:t>
            </a:r>
          </a:p>
          <a:p>
            <a:pPr lvl="2" eaLnBrk="1" hangingPunct="1">
              <a:lnSpc>
                <a:spcPct val="80000"/>
              </a:lnSpc>
            </a:pPr>
            <a:r>
              <a:rPr lang="en-US" altLang="en-US"/>
              <a:t>At this point it may be necessary to check whether the changes introduced by the transaction can be permanently applied to the database or whether the transaction has to be aborted because it violates concurrency control or for some other reason.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32613BBB-B1D9-4C52-A439-4BE06C00BAE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666DF66A-390E-407A-9D89-1B43E88B8C93}" type="slidenum">
              <a:rPr lang="en-US" altLang="en-US" sz="1400">
                <a:solidFill>
                  <a:srgbClr val="990033"/>
                </a:solidFill>
              </a:rPr>
              <a:pPr>
                <a:spcBef>
                  <a:spcPct val="0"/>
                </a:spcBef>
                <a:buClrTx/>
                <a:buSzTx/>
                <a:buFontTx/>
                <a:buNone/>
              </a:pPr>
              <a:t>11</a:t>
            </a:fld>
            <a:endParaRPr lang="en-CA" altLang="en-US" sz="1400">
              <a:solidFill>
                <a:srgbClr val="990033"/>
              </a:solidFill>
            </a:endParaRPr>
          </a:p>
        </p:txBody>
      </p:sp>
      <p:sp>
        <p:nvSpPr>
          <p:cNvPr id="41987" name="Rectangle 4">
            <a:extLst>
              <a:ext uri="{FF2B5EF4-FFF2-40B4-BE49-F238E27FC236}">
                <a16:creationId xmlns:a16="http://schemas.microsoft.com/office/drawing/2014/main" id="{91BCABBB-5A70-416C-A967-8CFBD1338419}"/>
              </a:ext>
            </a:extLst>
          </p:cNvPr>
          <p:cNvSpPr>
            <a:spLocks noGrp="1" noChangeArrowheads="1"/>
          </p:cNvSpPr>
          <p:nvPr>
            <p:ph type="title"/>
          </p:nvPr>
        </p:nvSpPr>
        <p:spPr/>
        <p:txBody>
          <a:bodyPr/>
          <a:lstStyle/>
          <a:p>
            <a:pPr eaLnBrk="1" hangingPunct="1"/>
            <a:r>
              <a:rPr lang="en-US" altLang="en-US" sz="3200"/>
              <a:t>Transaction and System Concepts </a:t>
            </a:r>
          </a:p>
        </p:txBody>
      </p:sp>
      <p:sp>
        <p:nvSpPr>
          <p:cNvPr id="41988" name="Rectangle 5">
            <a:extLst>
              <a:ext uri="{FF2B5EF4-FFF2-40B4-BE49-F238E27FC236}">
                <a16:creationId xmlns:a16="http://schemas.microsoft.com/office/drawing/2014/main" id="{32F4B322-9F08-4109-A3D3-5E3C330C5D88}"/>
              </a:ext>
            </a:extLst>
          </p:cNvPr>
          <p:cNvSpPr>
            <a:spLocks noGrp="1" noChangeArrowheads="1"/>
          </p:cNvSpPr>
          <p:nvPr>
            <p:ph type="body" idx="1"/>
          </p:nvPr>
        </p:nvSpPr>
        <p:spPr>
          <a:xfrm>
            <a:off x="1946276" y="1878014"/>
            <a:ext cx="7796213" cy="4071937"/>
          </a:xfrm>
        </p:spPr>
        <p:txBody>
          <a:bodyPr/>
          <a:lstStyle/>
          <a:p>
            <a:pPr eaLnBrk="1" hangingPunct="1"/>
            <a:r>
              <a:rPr lang="en-US" altLang="en-US" sz="2000"/>
              <a:t>Recovery manager keeps track of the following operations (cont):</a:t>
            </a:r>
          </a:p>
          <a:p>
            <a:pPr lvl="1" eaLnBrk="1" hangingPunct="1"/>
            <a:r>
              <a:rPr lang="en-US" altLang="en-US" sz="2000" b="1"/>
              <a:t>commit_transaction</a:t>
            </a:r>
            <a:r>
              <a:rPr lang="en-US" altLang="en-US" sz="2000"/>
              <a:t>: This signals a successful end of the transaction so that any changes (updates) executed by the transaction can be safely committed to the database and will not be undone.</a:t>
            </a:r>
          </a:p>
          <a:p>
            <a:pPr lvl="1" eaLnBrk="1" hangingPunct="1"/>
            <a:r>
              <a:rPr lang="en-US" altLang="en-US" sz="2000" b="1"/>
              <a:t>rollback</a:t>
            </a:r>
            <a:r>
              <a:rPr lang="en-US" altLang="en-US" sz="2000"/>
              <a:t> (or </a:t>
            </a:r>
            <a:r>
              <a:rPr lang="en-US" altLang="en-US" sz="2000" b="1"/>
              <a:t>abort</a:t>
            </a:r>
            <a:r>
              <a:rPr lang="en-US" altLang="en-US" sz="2000"/>
              <a:t>): This signals that the transaction has ended unsuccessfully, so that any changes or effects that the transaction may have applied to the database must be undone</a:t>
            </a:r>
            <a:r>
              <a:rPr lang="en-US" altLang="en-US"/>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A8A6CB64-2F0F-4AE6-83ED-2FF1220842C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F4016DCF-D867-402A-831D-6852F91ED5AD}" type="slidenum">
              <a:rPr lang="en-US" altLang="en-US" sz="1400">
                <a:solidFill>
                  <a:srgbClr val="990033"/>
                </a:solidFill>
              </a:rPr>
              <a:pPr>
                <a:spcBef>
                  <a:spcPct val="0"/>
                </a:spcBef>
                <a:buClrTx/>
                <a:buSzTx/>
                <a:buFontTx/>
                <a:buNone/>
              </a:pPr>
              <a:t>12</a:t>
            </a:fld>
            <a:endParaRPr lang="en-CA" altLang="en-US" sz="1400">
              <a:solidFill>
                <a:srgbClr val="990033"/>
              </a:solidFill>
            </a:endParaRPr>
          </a:p>
        </p:txBody>
      </p:sp>
      <p:sp>
        <p:nvSpPr>
          <p:cNvPr id="46083" name="Rectangle 5">
            <a:extLst>
              <a:ext uri="{FF2B5EF4-FFF2-40B4-BE49-F238E27FC236}">
                <a16:creationId xmlns:a16="http://schemas.microsoft.com/office/drawing/2014/main" id="{DE81981C-F551-419B-8008-853CB55C532F}"/>
              </a:ext>
            </a:extLst>
          </p:cNvPr>
          <p:cNvSpPr>
            <a:spLocks noGrp="1" noChangeArrowheads="1"/>
          </p:cNvSpPr>
          <p:nvPr>
            <p:ph type="title"/>
          </p:nvPr>
        </p:nvSpPr>
        <p:spPr/>
        <p:txBody>
          <a:bodyPr/>
          <a:lstStyle/>
          <a:p>
            <a:pPr eaLnBrk="1" hangingPunct="1"/>
            <a:r>
              <a:rPr lang="en-US" altLang="en-US"/>
              <a:t>State transition diagram illustrating the states for transaction execution</a:t>
            </a:r>
            <a:endParaRPr lang="en-US" altLang="en-US">
              <a:sym typeface="Symbol" panose="05050102010706020507" pitchFamily="18" charset="2"/>
            </a:endParaRPr>
          </a:p>
        </p:txBody>
      </p:sp>
      <p:pic>
        <p:nvPicPr>
          <p:cNvPr id="46084" name="Picture 7" descr="fig17_04">
            <a:extLst>
              <a:ext uri="{FF2B5EF4-FFF2-40B4-BE49-F238E27FC236}">
                <a16:creationId xmlns:a16="http://schemas.microsoft.com/office/drawing/2014/main" id="{A37F0A87-CE83-4FD4-BFE1-E7854F48A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522539"/>
            <a:ext cx="83058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a:extLst>
              <a:ext uri="{FF2B5EF4-FFF2-40B4-BE49-F238E27FC236}">
                <a16:creationId xmlns:a16="http://schemas.microsoft.com/office/drawing/2014/main" id="{2E6A6357-C31E-49B2-960C-583E469ED1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32DD44D5-D237-4F72-905C-B5BC6B34F21B}" type="slidenum">
              <a:rPr lang="en-US" altLang="en-US" sz="1400">
                <a:solidFill>
                  <a:srgbClr val="990033"/>
                </a:solidFill>
              </a:rPr>
              <a:pPr>
                <a:spcBef>
                  <a:spcPct val="0"/>
                </a:spcBef>
                <a:buClrTx/>
                <a:buSzTx/>
                <a:buFontTx/>
                <a:buNone/>
              </a:pPr>
              <a:t>13</a:t>
            </a:fld>
            <a:endParaRPr lang="en-CA" altLang="en-US" sz="1400">
              <a:solidFill>
                <a:srgbClr val="990033"/>
              </a:solidFill>
            </a:endParaRPr>
          </a:p>
        </p:txBody>
      </p:sp>
      <p:sp>
        <p:nvSpPr>
          <p:cNvPr id="48131" name="Rectangle 4">
            <a:extLst>
              <a:ext uri="{FF2B5EF4-FFF2-40B4-BE49-F238E27FC236}">
                <a16:creationId xmlns:a16="http://schemas.microsoft.com/office/drawing/2014/main" id="{EA1EB87E-16B2-4B0B-B3A9-A7860BDFDF01}"/>
              </a:ext>
            </a:extLst>
          </p:cNvPr>
          <p:cNvSpPr>
            <a:spLocks noGrp="1" noChangeArrowheads="1"/>
          </p:cNvSpPr>
          <p:nvPr>
            <p:ph type="title"/>
          </p:nvPr>
        </p:nvSpPr>
        <p:spPr/>
        <p:txBody>
          <a:bodyPr/>
          <a:lstStyle/>
          <a:p>
            <a:pPr eaLnBrk="1" hangingPunct="1"/>
            <a:r>
              <a:rPr lang="en-US" altLang="en-US" sz="3200"/>
              <a:t>Transaction and System Concepts</a:t>
            </a:r>
          </a:p>
        </p:txBody>
      </p:sp>
      <p:sp>
        <p:nvSpPr>
          <p:cNvPr id="48132" name="Rectangle 5">
            <a:extLst>
              <a:ext uri="{FF2B5EF4-FFF2-40B4-BE49-F238E27FC236}">
                <a16:creationId xmlns:a16="http://schemas.microsoft.com/office/drawing/2014/main" id="{AD3CAE95-959C-4940-8E9B-B8E3526708C3}"/>
              </a:ext>
            </a:extLst>
          </p:cNvPr>
          <p:cNvSpPr>
            <a:spLocks noGrp="1" noChangeArrowheads="1"/>
          </p:cNvSpPr>
          <p:nvPr>
            <p:ph type="body" idx="1"/>
          </p:nvPr>
        </p:nvSpPr>
        <p:spPr>
          <a:xfrm>
            <a:off x="1763714" y="1412875"/>
            <a:ext cx="8599487" cy="5105400"/>
          </a:xfrm>
        </p:spPr>
        <p:txBody>
          <a:bodyPr/>
          <a:lstStyle/>
          <a:p>
            <a:pPr eaLnBrk="1" hangingPunct="1"/>
            <a:r>
              <a:rPr lang="en-US" altLang="en-US"/>
              <a:t>The System Log</a:t>
            </a:r>
          </a:p>
          <a:p>
            <a:pPr lvl="1" eaLnBrk="1" hangingPunct="1"/>
            <a:r>
              <a:rPr lang="en-US" altLang="en-US" b="1"/>
              <a:t>Log</a:t>
            </a:r>
            <a:r>
              <a:rPr lang="en-US" altLang="en-US"/>
              <a:t> or </a:t>
            </a:r>
            <a:r>
              <a:rPr lang="en-US" altLang="en-US" b="1"/>
              <a:t>Journal</a:t>
            </a:r>
            <a:r>
              <a:rPr lang="en-US" altLang="en-US"/>
              <a:t>: The log keeps </a:t>
            </a:r>
            <a:r>
              <a:rPr lang="en-US" altLang="en-US" b="1"/>
              <a:t>track of all transaction operations that affect the values of database items.</a:t>
            </a:r>
          </a:p>
          <a:p>
            <a:pPr lvl="2" eaLnBrk="1" hangingPunct="1"/>
            <a:r>
              <a:rPr lang="en-US" altLang="en-US"/>
              <a:t>This information may be needed to permit recovery from transaction failures.</a:t>
            </a:r>
          </a:p>
          <a:p>
            <a:pPr lvl="2" eaLnBrk="1" hangingPunct="1"/>
            <a:r>
              <a:rPr lang="en-US" altLang="en-US"/>
              <a:t>The </a:t>
            </a:r>
            <a:r>
              <a:rPr lang="en-US" altLang="en-US" b="1"/>
              <a:t>log is kept on disk</a:t>
            </a:r>
            <a:r>
              <a:rPr lang="en-US" altLang="en-US"/>
              <a:t>, so it is </a:t>
            </a:r>
            <a:r>
              <a:rPr lang="en-US" altLang="en-US" b="1"/>
              <a:t>not affected by any type of failure except for disk or catastrophic failure</a:t>
            </a:r>
            <a:r>
              <a:rPr lang="en-US" altLang="en-US"/>
              <a:t>.</a:t>
            </a:r>
          </a:p>
          <a:p>
            <a:pPr lvl="2" eaLnBrk="1" hangingPunct="1"/>
            <a:r>
              <a:rPr lang="en-US" altLang="en-US"/>
              <a:t>In addition, the log is periodically backed up to archival storage (tape) to guard against such catastrophic failures.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a:extLst>
              <a:ext uri="{FF2B5EF4-FFF2-40B4-BE49-F238E27FC236}">
                <a16:creationId xmlns:a16="http://schemas.microsoft.com/office/drawing/2014/main" id="{0AD6806B-6D43-428D-BD76-8E17D590A2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a:solidFill>
                  <a:srgbClr val="990033"/>
                </a:solidFill>
              </a:rPr>
              <a:t>Slide 17- </a:t>
            </a:r>
            <a:fld id="{91E61870-0525-4A65-BB04-AE608EA9A705}" type="slidenum">
              <a:rPr lang="en-US" altLang="en-US" sz="1400">
                <a:solidFill>
                  <a:srgbClr val="990033"/>
                </a:solidFill>
              </a:rPr>
              <a:pPr>
                <a:spcBef>
                  <a:spcPct val="0"/>
                </a:spcBef>
                <a:buClrTx/>
                <a:buSzTx/>
                <a:buFontTx/>
                <a:buNone/>
              </a:pPr>
              <a:t>14</a:t>
            </a:fld>
            <a:endParaRPr lang="en-CA" altLang="en-US" sz="1400">
              <a:solidFill>
                <a:srgbClr val="990033"/>
              </a:solidFill>
            </a:endParaRPr>
          </a:p>
        </p:txBody>
      </p:sp>
      <p:sp>
        <p:nvSpPr>
          <p:cNvPr id="50179" name="Rectangle 4">
            <a:extLst>
              <a:ext uri="{FF2B5EF4-FFF2-40B4-BE49-F238E27FC236}">
                <a16:creationId xmlns:a16="http://schemas.microsoft.com/office/drawing/2014/main" id="{B8B61B0D-FF3A-41C1-B481-78E551159582}"/>
              </a:ext>
            </a:extLst>
          </p:cNvPr>
          <p:cNvSpPr>
            <a:spLocks noGrp="1" noChangeArrowheads="1"/>
          </p:cNvSpPr>
          <p:nvPr>
            <p:ph type="title"/>
          </p:nvPr>
        </p:nvSpPr>
        <p:spPr/>
        <p:txBody>
          <a:bodyPr/>
          <a:lstStyle/>
          <a:p>
            <a:pPr eaLnBrk="1" hangingPunct="1"/>
            <a:r>
              <a:rPr lang="en-US" altLang="en-US" sz="3200"/>
              <a:t>Transaction and System Concepts</a:t>
            </a:r>
          </a:p>
        </p:txBody>
      </p:sp>
      <p:sp>
        <p:nvSpPr>
          <p:cNvPr id="50180" name="Rectangle 5">
            <a:extLst>
              <a:ext uri="{FF2B5EF4-FFF2-40B4-BE49-F238E27FC236}">
                <a16:creationId xmlns:a16="http://schemas.microsoft.com/office/drawing/2014/main" id="{49017ACC-35CD-44F6-AF2A-2327C5BDB53F}"/>
              </a:ext>
            </a:extLst>
          </p:cNvPr>
          <p:cNvSpPr>
            <a:spLocks noGrp="1" noChangeArrowheads="1"/>
          </p:cNvSpPr>
          <p:nvPr>
            <p:ph type="body" idx="1"/>
          </p:nvPr>
        </p:nvSpPr>
        <p:spPr/>
        <p:txBody>
          <a:bodyPr/>
          <a:lstStyle/>
          <a:p>
            <a:pPr eaLnBrk="1" hangingPunct="1">
              <a:lnSpc>
                <a:spcPct val="80000"/>
              </a:lnSpc>
            </a:pPr>
            <a:r>
              <a:rPr lang="en-US" altLang="en-US" sz="2400"/>
              <a:t>The System Log (cont):</a:t>
            </a:r>
          </a:p>
          <a:p>
            <a:pPr lvl="1" eaLnBrk="1" hangingPunct="1">
              <a:lnSpc>
                <a:spcPct val="80000"/>
              </a:lnSpc>
            </a:pPr>
            <a:r>
              <a:rPr lang="en-US" altLang="en-US" sz="2100"/>
              <a:t>T in the following discussion refers to a unique </a:t>
            </a:r>
            <a:r>
              <a:rPr lang="en-US" altLang="en-US" sz="2100" b="1"/>
              <a:t>transaction-id</a:t>
            </a:r>
            <a:r>
              <a:rPr lang="en-US" altLang="en-US" sz="2100"/>
              <a:t> that is generated automatically by the system and is used to identify each transaction: </a:t>
            </a:r>
          </a:p>
          <a:p>
            <a:pPr lvl="1" eaLnBrk="1" hangingPunct="1">
              <a:lnSpc>
                <a:spcPct val="80000"/>
              </a:lnSpc>
            </a:pPr>
            <a:r>
              <a:rPr lang="en-US" altLang="en-US" sz="2100"/>
              <a:t>Types of log record: </a:t>
            </a:r>
          </a:p>
          <a:p>
            <a:pPr lvl="2" eaLnBrk="1" hangingPunct="1">
              <a:lnSpc>
                <a:spcPct val="80000"/>
              </a:lnSpc>
            </a:pPr>
            <a:r>
              <a:rPr lang="en-US" altLang="en-US"/>
              <a:t>[start_transaction,T]: Records that transaction T has started execution.</a:t>
            </a:r>
          </a:p>
          <a:p>
            <a:pPr lvl="2" eaLnBrk="1" hangingPunct="1">
              <a:lnSpc>
                <a:spcPct val="80000"/>
              </a:lnSpc>
            </a:pPr>
            <a:r>
              <a:rPr lang="en-US" altLang="en-US"/>
              <a:t>[write_item,T,X,old_value,new_value]: Records that transaction T has changed the value of database item X from old_value to new_value.</a:t>
            </a:r>
          </a:p>
          <a:p>
            <a:pPr lvl="2" eaLnBrk="1" hangingPunct="1">
              <a:lnSpc>
                <a:spcPct val="80000"/>
              </a:lnSpc>
            </a:pPr>
            <a:r>
              <a:rPr lang="en-US" altLang="en-US"/>
              <a:t>[read_item,T,X]: Records that transaction T  has read the value of database item X.</a:t>
            </a:r>
          </a:p>
          <a:p>
            <a:pPr lvl="2" eaLnBrk="1" hangingPunct="1">
              <a:lnSpc>
                <a:spcPct val="80000"/>
              </a:lnSpc>
            </a:pPr>
            <a:r>
              <a:rPr lang="en-US" altLang="en-US"/>
              <a:t>[commit,T]: Records that transaction T has completed successfully, and affirms that its effect can be committed (recorded permanently) to the database.</a:t>
            </a:r>
          </a:p>
          <a:p>
            <a:pPr lvl="2" eaLnBrk="1" hangingPunct="1">
              <a:lnSpc>
                <a:spcPct val="80000"/>
              </a:lnSpc>
            </a:pPr>
            <a:r>
              <a:rPr lang="en-US" altLang="en-US"/>
              <a:t>[abort,T]: Records that transaction T has been aborted.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3600BC4-A894-4C18-8858-84CEFFDF2C30}" type="slidenum">
              <a:rPr lang="en-US" sz="1400">
                <a:solidFill>
                  <a:srgbClr val="990033"/>
                </a:solidFill>
              </a:rPr>
              <a:pPr>
                <a:spcBef>
                  <a:spcPct val="0"/>
                </a:spcBef>
                <a:buClrTx/>
                <a:buSzTx/>
                <a:buFontTx/>
                <a:buNone/>
              </a:pPr>
              <a:t>15</a:t>
            </a:fld>
            <a:endParaRPr lang="en-CA" sz="1400">
              <a:solidFill>
                <a:srgbClr val="990033"/>
              </a:solidFill>
            </a:endParaRPr>
          </a:p>
        </p:txBody>
      </p:sp>
      <p:sp>
        <p:nvSpPr>
          <p:cNvPr id="59395" name="Rectangle 4"/>
          <p:cNvSpPr>
            <a:spLocks noGrp="1" noChangeArrowheads="1"/>
          </p:cNvSpPr>
          <p:nvPr>
            <p:ph type="title"/>
          </p:nvPr>
        </p:nvSpPr>
        <p:spPr>
          <a:xfrm>
            <a:off x="927279" y="303214"/>
            <a:ext cx="10998557" cy="992187"/>
          </a:xfrm>
        </p:spPr>
        <p:txBody>
          <a:bodyPr>
            <a:normAutofit fontScale="90000"/>
          </a:bodyPr>
          <a:lstStyle/>
          <a:p>
            <a:pPr eaLnBrk="1" hangingPunct="1"/>
            <a:r>
              <a:rPr lang="en-US" dirty="0"/>
              <a:t>Characterizing Schedules based on Recoverability</a:t>
            </a:r>
          </a:p>
        </p:txBody>
      </p:sp>
      <p:sp>
        <p:nvSpPr>
          <p:cNvPr id="59396" name="Rectangle 5"/>
          <p:cNvSpPr>
            <a:spLocks noGrp="1" noChangeArrowheads="1"/>
          </p:cNvSpPr>
          <p:nvPr>
            <p:ph type="body" idx="1"/>
          </p:nvPr>
        </p:nvSpPr>
        <p:spPr>
          <a:xfrm>
            <a:off x="1763714" y="1918952"/>
            <a:ext cx="8294687" cy="3938924"/>
          </a:xfrm>
        </p:spPr>
        <p:txBody>
          <a:bodyPr/>
          <a:lstStyle/>
          <a:p>
            <a:pPr eaLnBrk="1" hangingPunct="1">
              <a:lnSpc>
                <a:spcPct val="80000"/>
              </a:lnSpc>
            </a:pPr>
            <a:r>
              <a:rPr lang="en-US" sz="2400" b="1" dirty="0"/>
              <a:t>Transaction schedule or history</a:t>
            </a:r>
            <a:r>
              <a:rPr lang="en-US" sz="2400" dirty="0"/>
              <a:t>:</a:t>
            </a:r>
          </a:p>
          <a:p>
            <a:pPr lvl="1" eaLnBrk="1" hangingPunct="1">
              <a:lnSpc>
                <a:spcPct val="80000"/>
              </a:lnSpc>
            </a:pPr>
            <a:r>
              <a:rPr lang="en-US" sz="2100" dirty="0"/>
              <a:t>When transactions are executing </a:t>
            </a:r>
            <a:r>
              <a:rPr lang="en-US" sz="2100" b="1" dirty="0"/>
              <a:t>concurrently in an interleaved fashion, the order of execution of operations </a:t>
            </a:r>
            <a:r>
              <a:rPr lang="en-US" sz="2100" dirty="0"/>
              <a:t>from the various transactions forms what is known as a transaction schedule (or history). </a:t>
            </a:r>
          </a:p>
          <a:p>
            <a:pPr eaLnBrk="1" hangingPunct="1">
              <a:lnSpc>
                <a:spcPct val="80000"/>
              </a:lnSpc>
            </a:pPr>
            <a:r>
              <a:rPr lang="en-US" sz="2400" dirty="0"/>
              <a:t>A </a:t>
            </a:r>
            <a:r>
              <a:rPr lang="en-US" sz="2400" b="1" dirty="0"/>
              <a:t>schedule</a:t>
            </a:r>
            <a:r>
              <a:rPr lang="en-US" sz="2400" dirty="0"/>
              <a:t> (or </a:t>
            </a:r>
            <a:r>
              <a:rPr lang="en-US" sz="2400" b="1" dirty="0"/>
              <a:t>history</a:t>
            </a:r>
            <a:r>
              <a:rPr lang="en-US" sz="2400" dirty="0"/>
              <a:t>) S of n transactions T1, T2, …, </a:t>
            </a:r>
            <a:r>
              <a:rPr lang="en-US" sz="2400" dirty="0" err="1"/>
              <a:t>Tn</a:t>
            </a:r>
            <a:r>
              <a:rPr lang="en-US" sz="2400" dirty="0"/>
              <a:t>:</a:t>
            </a:r>
          </a:p>
          <a:p>
            <a:pPr lvl="1" eaLnBrk="1" hangingPunct="1">
              <a:lnSpc>
                <a:spcPct val="80000"/>
              </a:lnSpc>
            </a:pPr>
            <a:r>
              <a:rPr lang="en-US" sz="2100" dirty="0"/>
              <a:t>It is an </a:t>
            </a:r>
            <a:r>
              <a:rPr lang="en-US" sz="2100" b="1" dirty="0"/>
              <a:t>ordering of the operations </a:t>
            </a:r>
            <a:r>
              <a:rPr lang="en-US" sz="2100" dirty="0"/>
              <a:t>of the transactions subject to the constraint that, for each transaction Ti that participates in S, the operations of T1 in S must appear in the same order in which they occur in T1.</a:t>
            </a:r>
          </a:p>
          <a:p>
            <a:pPr lvl="1" eaLnBrk="1" hangingPunct="1">
              <a:lnSpc>
                <a:spcPct val="80000"/>
              </a:lnSpc>
            </a:pPr>
            <a:r>
              <a:rPr lang="en-US" sz="2100" dirty="0"/>
              <a:t>Note, however, that operations from other transactions </a:t>
            </a:r>
            <a:r>
              <a:rPr lang="en-US" sz="2100" dirty="0" err="1"/>
              <a:t>Tj</a:t>
            </a:r>
            <a:r>
              <a:rPr lang="en-US" sz="2100" dirty="0"/>
              <a:t> can be interleaved with the operations of Ti in S. </a:t>
            </a:r>
          </a:p>
        </p:txBody>
      </p:sp>
    </p:spTree>
    <p:extLst>
      <p:ext uri="{BB962C8B-B14F-4D97-AF65-F5344CB8AC3E}">
        <p14:creationId xmlns:p14="http://schemas.microsoft.com/office/powerpoint/2010/main" val="3445805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D902C9E-EC52-418C-9662-68A6CAD3B53D}" type="slidenum">
              <a:rPr lang="en-US" sz="1400">
                <a:solidFill>
                  <a:srgbClr val="990033"/>
                </a:solidFill>
              </a:rPr>
              <a:pPr>
                <a:spcBef>
                  <a:spcPct val="0"/>
                </a:spcBef>
                <a:buClrTx/>
                <a:buSzTx/>
                <a:buFontTx/>
                <a:buNone/>
              </a:pPr>
              <a:t>16</a:t>
            </a:fld>
            <a:endParaRPr lang="en-CA" sz="1400">
              <a:solidFill>
                <a:srgbClr val="990033"/>
              </a:solidFill>
            </a:endParaRPr>
          </a:p>
        </p:txBody>
      </p:sp>
      <p:sp>
        <p:nvSpPr>
          <p:cNvPr id="61443" name="Rectangle 4"/>
          <p:cNvSpPr>
            <a:spLocks noGrp="1" noChangeArrowheads="1"/>
          </p:cNvSpPr>
          <p:nvPr>
            <p:ph type="title"/>
          </p:nvPr>
        </p:nvSpPr>
        <p:spPr>
          <a:xfrm>
            <a:off x="206062" y="286603"/>
            <a:ext cx="11985938" cy="1450757"/>
          </a:xfrm>
        </p:spPr>
        <p:txBody>
          <a:bodyPr/>
          <a:lstStyle/>
          <a:p>
            <a:pPr eaLnBrk="1" hangingPunct="1"/>
            <a:r>
              <a:rPr lang="en-US" dirty="0"/>
              <a:t>Characterizing Schedules based on Recoverability</a:t>
            </a:r>
          </a:p>
        </p:txBody>
      </p:sp>
      <p:sp>
        <p:nvSpPr>
          <p:cNvPr id="61444" name="Rectangle 5"/>
          <p:cNvSpPr>
            <a:spLocks noGrp="1" noChangeArrowheads="1"/>
          </p:cNvSpPr>
          <p:nvPr>
            <p:ph type="body" idx="1"/>
          </p:nvPr>
        </p:nvSpPr>
        <p:spPr>
          <a:xfrm>
            <a:off x="1763714" y="2202287"/>
            <a:ext cx="8294687" cy="3969914"/>
          </a:xfrm>
        </p:spPr>
        <p:txBody>
          <a:bodyPr/>
          <a:lstStyle/>
          <a:p>
            <a:pPr eaLnBrk="1" hangingPunct="1">
              <a:lnSpc>
                <a:spcPct val="80000"/>
              </a:lnSpc>
              <a:buFont typeface="Wingdings" panose="05000000000000000000" pitchFamily="2" charset="2"/>
              <a:buNone/>
            </a:pPr>
            <a:r>
              <a:rPr lang="en-US" dirty="0"/>
              <a:t>Schedules classified on recoverability:</a:t>
            </a:r>
          </a:p>
          <a:p>
            <a:pPr eaLnBrk="1" hangingPunct="1">
              <a:lnSpc>
                <a:spcPct val="80000"/>
              </a:lnSpc>
            </a:pPr>
            <a:r>
              <a:rPr lang="en-US" b="1" dirty="0"/>
              <a:t>Recoverable schedule</a:t>
            </a:r>
            <a:r>
              <a:rPr lang="en-US" dirty="0"/>
              <a:t>:</a:t>
            </a:r>
          </a:p>
          <a:p>
            <a:pPr lvl="1" eaLnBrk="1" hangingPunct="1">
              <a:lnSpc>
                <a:spcPct val="80000"/>
              </a:lnSpc>
            </a:pPr>
            <a:r>
              <a:rPr lang="en-US" sz="2800" dirty="0"/>
              <a:t>One where no transaction needs to be rolled back. </a:t>
            </a:r>
          </a:p>
          <a:p>
            <a:pPr lvl="1" eaLnBrk="1" hangingPunct="1">
              <a:lnSpc>
                <a:spcPct val="80000"/>
              </a:lnSpc>
            </a:pPr>
            <a:r>
              <a:rPr lang="en-US" sz="2800" dirty="0"/>
              <a:t>A schedule S is recoverable </a:t>
            </a:r>
            <a:r>
              <a:rPr lang="en-US" sz="2800" b="1" dirty="0"/>
              <a:t>if no transaction T in S commits </a:t>
            </a:r>
            <a:r>
              <a:rPr lang="en-US" sz="2800" dirty="0"/>
              <a:t>until all transactions T’ that have written an item that T reads have committed.</a:t>
            </a:r>
          </a:p>
          <a:p>
            <a:pPr eaLnBrk="1" hangingPunct="1">
              <a:lnSpc>
                <a:spcPct val="80000"/>
              </a:lnSpc>
            </a:pPr>
            <a:r>
              <a:rPr lang="en-US" b="1" dirty="0" err="1"/>
              <a:t>Cascadeless</a:t>
            </a:r>
            <a:r>
              <a:rPr lang="en-US" b="1" dirty="0"/>
              <a:t> schedule</a:t>
            </a:r>
            <a:r>
              <a:rPr lang="en-US" dirty="0"/>
              <a:t>:</a:t>
            </a:r>
          </a:p>
          <a:p>
            <a:pPr lvl="1" eaLnBrk="1" hangingPunct="1">
              <a:lnSpc>
                <a:spcPct val="80000"/>
              </a:lnSpc>
            </a:pPr>
            <a:r>
              <a:rPr lang="en-US" sz="2800" dirty="0"/>
              <a:t>One where </a:t>
            </a:r>
            <a:r>
              <a:rPr lang="en-US" sz="2800" b="1" dirty="0"/>
              <a:t>every transaction reads only  the items</a:t>
            </a:r>
            <a:r>
              <a:rPr lang="en-US" sz="2800" dirty="0"/>
              <a:t> that are </a:t>
            </a:r>
            <a:r>
              <a:rPr lang="en-US" sz="2800" b="1" dirty="0"/>
              <a:t>written by committed transactions.</a:t>
            </a:r>
          </a:p>
        </p:txBody>
      </p:sp>
    </p:spTree>
    <p:extLst>
      <p:ext uri="{BB962C8B-B14F-4D97-AF65-F5344CB8AC3E}">
        <p14:creationId xmlns:p14="http://schemas.microsoft.com/office/powerpoint/2010/main" val="1114491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6C19F83E-2A98-413E-B82E-5013ED98DCC3}" type="slidenum">
              <a:rPr lang="en-US" sz="1400">
                <a:solidFill>
                  <a:srgbClr val="990033"/>
                </a:solidFill>
              </a:rPr>
              <a:pPr>
                <a:spcBef>
                  <a:spcPct val="0"/>
                </a:spcBef>
                <a:buClrTx/>
                <a:buSzTx/>
                <a:buFontTx/>
                <a:buNone/>
              </a:pPr>
              <a:t>17</a:t>
            </a:fld>
            <a:endParaRPr lang="en-CA" sz="1400">
              <a:solidFill>
                <a:srgbClr val="990033"/>
              </a:solidFill>
            </a:endParaRPr>
          </a:p>
        </p:txBody>
      </p:sp>
      <p:sp>
        <p:nvSpPr>
          <p:cNvPr id="63491" name="Rectangle 4"/>
          <p:cNvSpPr>
            <a:spLocks noGrp="1" noChangeArrowheads="1"/>
          </p:cNvSpPr>
          <p:nvPr>
            <p:ph type="title"/>
          </p:nvPr>
        </p:nvSpPr>
        <p:spPr>
          <a:xfrm>
            <a:off x="0" y="286603"/>
            <a:ext cx="12192000" cy="1450757"/>
          </a:xfrm>
        </p:spPr>
        <p:txBody>
          <a:bodyPr/>
          <a:lstStyle/>
          <a:p>
            <a:pPr eaLnBrk="1" hangingPunct="1"/>
            <a:r>
              <a:rPr lang="en-US" dirty="0"/>
              <a:t>Characterizing Schedules based on Recoverability </a:t>
            </a:r>
          </a:p>
        </p:txBody>
      </p:sp>
      <p:sp>
        <p:nvSpPr>
          <p:cNvPr id="63492"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sz="3200"/>
              <a:t>Schedules classified on recoverability (contd.):</a:t>
            </a:r>
          </a:p>
          <a:p>
            <a:pPr eaLnBrk="1" hangingPunct="1">
              <a:lnSpc>
                <a:spcPct val="90000"/>
              </a:lnSpc>
            </a:pPr>
            <a:r>
              <a:rPr lang="en-US" sz="3200" b="1"/>
              <a:t>Schedules requiring cascaded rollback</a:t>
            </a:r>
            <a:r>
              <a:rPr lang="en-US" sz="3200"/>
              <a:t>:</a:t>
            </a:r>
          </a:p>
          <a:p>
            <a:pPr lvl="1" eaLnBrk="1" hangingPunct="1">
              <a:lnSpc>
                <a:spcPct val="90000"/>
              </a:lnSpc>
            </a:pPr>
            <a:r>
              <a:rPr lang="en-US" sz="3000"/>
              <a:t>A schedule in which </a:t>
            </a:r>
            <a:r>
              <a:rPr lang="en-US" sz="3000" b="1"/>
              <a:t>uncommitted transactions that read an item from a failed transaction</a:t>
            </a:r>
            <a:r>
              <a:rPr lang="en-US" sz="3000"/>
              <a:t> must be rolled back. </a:t>
            </a:r>
          </a:p>
          <a:p>
            <a:pPr eaLnBrk="1" hangingPunct="1">
              <a:lnSpc>
                <a:spcPct val="90000"/>
              </a:lnSpc>
            </a:pPr>
            <a:r>
              <a:rPr lang="en-US" b="1"/>
              <a:t>Strict Schedules</a:t>
            </a:r>
            <a:r>
              <a:rPr lang="en-US"/>
              <a:t>:</a:t>
            </a:r>
          </a:p>
          <a:p>
            <a:pPr lvl="1" eaLnBrk="1" hangingPunct="1">
              <a:lnSpc>
                <a:spcPct val="90000"/>
              </a:lnSpc>
            </a:pPr>
            <a:r>
              <a:rPr lang="en-US"/>
              <a:t>A schedule in which a </a:t>
            </a:r>
            <a:r>
              <a:rPr lang="en-US" b="1"/>
              <a:t>transaction can neither read or write an item X until the last transaction that wrote X has committed</a:t>
            </a:r>
            <a:r>
              <a:rPr lang="en-US"/>
              <a:t>. </a:t>
            </a:r>
          </a:p>
        </p:txBody>
      </p:sp>
    </p:spTree>
    <p:extLst>
      <p:ext uri="{BB962C8B-B14F-4D97-AF65-F5344CB8AC3E}">
        <p14:creationId xmlns:p14="http://schemas.microsoft.com/office/powerpoint/2010/main" val="912719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8D5F3B02-C6AC-48F5-BBFA-0DB5E2712540}" type="slidenum">
              <a:rPr lang="en-US" sz="1400">
                <a:solidFill>
                  <a:srgbClr val="990033"/>
                </a:solidFill>
              </a:rPr>
              <a:pPr>
                <a:spcBef>
                  <a:spcPct val="0"/>
                </a:spcBef>
                <a:buClrTx/>
                <a:buSzTx/>
                <a:buFontTx/>
                <a:buNone/>
              </a:pPr>
              <a:t>18</a:t>
            </a:fld>
            <a:endParaRPr lang="en-CA" sz="1400">
              <a:solidFill>
                <a:srgbClr val="990033"/>
              </a:solidFill>
            </a:endParaRPr>
          </a:p>
        </p:txBody>
      </p:sp>
      <p:sp>
        <p:nvSpPr>
          <p:cNvPr id="65539" name="Rectangle 4"/>
          <p:cNvSpPr>
            <a:spLocks noGrp="1" noChangeArrowheads="1"/>
          </p:cNvSpPr>
          <p:nvPr>
            <p:ph type="title"/>
          </p:nvPr>
        </p:nvSpPr>
        <p:spPr>
          <a:xfrm>
            <a:off x="103031" y="286603"/>
            <a:ext cx="11951594" cy="1450757"/>
          </a:xfrm>
        </p:spPr>
        <p:txBody>
          <a:bodyPr/>
          <a:lstStyle/>
          <a:p>
            <a:pPr eaLnBrk="1" hangingPunct="1"/>
            <a:r>
              <a:rPr lang="en-US" dirty="0"/>
              <a:t>Characterizing Schedules based on </a:t>
            </a:r>
            <a:r>
              <a:rPr lang="en-US" dirty="0" err="1"/>
              <a:t>Serializability</a:t>
            </a:r>
            <a:r>
              <a:rPr lang="en-US" dirty="0"/>
              <a:t> </a:t>
            </a:r>
          </a:p>
        </p:txBody>
      </p:sp>
      <p:sp>
        <p:nvSpPr>
          <p:cNvPr id="65540" name="Rectangle 5"/>
          <p:cNvSpPr>
            <a:spLocks noGrp="1" noChangeArrowheads="1"/>
          </p:cNvSpPr>
          <p:nvPr>
            <p:ph type="body" idx="1"/>
          </p:nvPr>
        </p:nvSpPr>
        <p:spPr>
          <a:xfrm>
            <a:off x="1097280" y="2215166"/>
            <a:ext cx="10058400" cy="3653928"/>
          </a:xfrm>
        </p:spPr>
        <p:txBody>
          <a:bodyPr/>
          <a:lstStyle/>
          <a:p>
            <a:pPr eaLnBrk="1" hangingPunct="1"/>
            <a:r>
              <a:rPr lang="en-US" dirty="0"/>
              <a:t>Serial schedule:</a:t>
            </a:r>
          </a:p>
          <a:p>
            <a:pPr lvl="1" eaLnBrk="1" hangingPunct="1"/>
            <a:r>
              <a:rPr lang="en-US" dirty="0"/>
              <a:t>A schedule S is serial if, for every transaction T participating in the schedule, all the operations of T are executed consecutively in the schedule.</a:t>
            </a:r>
          </a:p>
          <a:p>
            <a:pPr lvl="2" eaLnBrk="1" hangingPunct="1"/>
            <a:r>
              <a:rPr lang="en-US" dirty="0"/>
              <a:t>Otherwise, the schedule is called </a:t>
            </a:r>
            <a:r>
              <a:rPr lang="en-US" dirty="0" err="1"/>
              <a:t>nonserial</a:t>
            </a:r>
            <a:r>
              <a:rPr lang="en-US" dirty="0"/>
              <a:t> schedule.</a:t>
            </a:r>
          </a:p>
          <a:p>
            <a:pPr eaLnBrk="1" hangingPunct="1"/>
            <a:r>
              <a:rPr lang="en-US" dirty="0" err="1"/>
              <a:t>Serializable</a:t>
            </a:r>
            <a:r>
              <a:rPr lang="en-US" dirty="0"/>
              <a:t> schedule:</a:t>
            </a:r>
          </a:p>
          <a:p>
            <a:pPr lvl="1" eaLnBrk="1" hangingPunct="1"/>
            <a:r>
              <a:rPr lang="en-US" dirty="0"/>
              <a:t>A schedule S is </a:t>
            </a:r>
            <a:r>
              <a:rPr lang="en-US" dirty="0" err="1"/>
              <a:t>serializable</a:t>
            </a:r>
            <a:r>
              <a:rPr lang="en-US" dirty="0"/>
              <a:t> if it is equivalent to some serial schedule of the same n transactions.</a:t>
            </a:r>
          </a:p>
        </p:txBody>
      </p:sp>
    </p:spTree>
    <p:extLst>
      <p:ext uri="{BB962C8B-B14F-4D97-AF65-F5344CB8AC3E}">
        <p14:creationId xmlns:p14="http://schemas.microsoft.com/office/powerpoint/2010/main" val="3275281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32059E03-AECE-478A-B221-20ED198FF089}" type="slidenum">
              <a:rPr lang="en-US" sz="1400">
                <a:solidFill>
                  <a:srgbClr val="990033"/>
                </a:solidFill>
              </a:rPr>
              <a:pPr>
                <a:spcBef>
                  <a:spcPct val="0"/>
                </a:spcBef>
                <a:buClrTx/>
                <a:buSzTx/>
                <a:buFontTx/>
                <a:buNone/>
              </a:pPr>
              <a:t>19</a:t>
            </a:fld>
            <a:endParaRPr lang="en-CA" sz="1400">
              <a:solidFill>
                <a:srgbClr val="990033"/>
              </a:solidFill>
            </a:endParaRPr>
          </a:p>
        </p:txBody>
      </p:sp>
      <p:sp>
        <p:nvSpPr>
          <p:cNvPr id="67587" name="Rectangle 4"/>
          <p:cNvSpPr>
            <a:spLocks noGrp="1" noChangeArrowheads="1"/>
          </p:cNvSpPr>
          <p:nvPr>
            <p:ph type="title"/>
          </p:nvPr>
        </p:nvSpPr>
        <p:spPr>
          <a:xfrm>
            <a:off x="128789" y="286603"/>
            <a:ext cx="12063211" cy="1450757"/>
          </a:xfrm>
        </p:spPr>
        <p:txBody>
          <a:bodyPr/>
          <a:lstStyle/>
          <a:p>
            <a:pPr eaLnBrk="1" hangingPunct="1"/>
            <a:r>
              <a:rPr lang="en-US" dirty="0"/>
              <a:t>Characterizing Schedules based on </a:t>
            </a:r>
            <a:r>
              <a:rPr lang="en-US" dirty="0" err="1"/>
              <a:t>Serializability</a:t>
            </a:r>
            <a:r>
              <a:rPr lang="en-US" dirty="0"/>
              <a:t> </a:t>
            </a:r>
          </a:p>
        </p:txBody>
      </p:sp>
      <p:sp>
        <p:nvSpPr>
          <p:cNvPr id="67588" name="Rectangle 5"/>
          <p:cNvSpPr>
            <a:spLocks noGrp="1" noChangeArrowheads="1"/>
          </p:cNvSpPr>
          <p:nvPr>
            <p:ph type="body" idx="1"/>
          </p:nvPr>
        </p:nvSpPr>
        <p:spPr/>
        <p:txBody>
          <a:bodyPr/>
          <a:lstStyle/>
          <a:p>
            <a:pPr eaLnBrk="1" hangingPunct="1"/>
            <a:r>
              <a:rPr lang="en-US" dirty="0"/>
              <a:t>Result equivalent:</a:t>
            </a:r>
          </a:p>
          <a:p>
            <a:pPr lvl="1" eaLnBrk="1" hangingPunct="1"/>
            <a:r>
              <a:rPr lang="en-US" dirty="0"/>
              <a:t>Two schedules are called result equivalent if they produce the same final state of the database.</a:t>
            </a:r>
          </a:p>
          <a:p>
            <a:pPr eaLnBrk="1" hangingPunct="1"/>
            <a:r>
              <a:rPr lang="en-US" dirty="0"/>
              <a:t>Conflict equivalent:</a:t>
            </a:r>
          </a:p>
          <a:p>
            <a:pPr lvl="1" eaLnBrk="1" hangingPunct="1"/>
            <a:r>
              <a:rPr lang="en-US" dirty="0"/>
              <a:t>Two schedules are said to be conflict equivalent if the order of any two conflicting operations is the same in both schedules.</a:t>
            </a:r>
          </a:p>
          <a:p>
            <a:pPr eaLnBrk="1" hangingPunct="1"/>
            <a:r>
              <a:rPr lang="en-US" dirty="0"/>
              <a:t>Conflict </a:t>
            </a:r>
            <a:r>
              <a:rPr lang="en-US" dirty="0" err="1"/>
              <a:t>serializable</a:t>
            </a:r>
            <a:r>
              <a:rPr lang="en-US" dirty="0"/>
              <a:t>:</a:t>
            </a:r>
          </a:p>
          <a:p>
            <a:pPr lvl="1" eaLnBrk="1" hangingPunct="1"/>
            <a:r>
              <a:rPr lang="en-US" dirty="0"/>
              <a:t>A schedule S is said to be conflict </a:t>
            </a:r>
            <a:r>
              <a:rPr lang="en-US" dirty="0" err="1"/>
              <a:t>serializable</a:t>
            </a:r>
            <a:r>
              <a:rPr lang="en-US" dirty="0"/>
              <a:t> if it is conflict equivalent to some serial schedule S’.</a:t>
            </a:r>
          </a:p>
        </p:txBody>
      </p:sp>
    </p:spTree>
    <p:extLst>
      <p:ext uri="{BB962C8B-B14F-4D97-AF65-F5344CB8AC3E}">
        <p14:creationId xmlns:p14="http://schemas.microsoft.com/office/powerpoint/2010/main" val="4113587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3600BC4-A894-4C18-8858-84CEFFDF2C30}" type="slidenum">
              <a:rPr lang="en-US" sz="1400">
                <a:solidFill>
                  <a:srgbClr val="990033"/>
                </a:solidFill>
              </a:rPr>
              <a:pPr>
                <a:spcBef>
                  <a:spcPct val="0"/>
                </a:spcBef>
                <a:buClrTx/>
                <a:buSzTx/>
                <a:buFontTx/>
                <a:buNone/>
              </a:pPr>
              <a:t>20</a:t>
            </a:fld>
            <a:endParaRPr lang="en-CA" sz="1400">
              <a:solidFill>
                <a:srgbClr val="990033"/>
              </a:solidFill>
            </a:endParaRPr>
          </a:p>
        </p:txBody>
      </p:sp>
      <p:sp>
        <p:nvSpPr>
          <p:cNvPr id="59395" name="Rectangle 4"/>
          <p:cNvSpPr>
            <a:spLocks noGrp="1" noChangeArrowheads="1"/>
          </p:cNvSpPr>
          <p:nvPr>
            <p:ph type="title"/>
          </p:nvPr>
        </p:nvSpPr>
        <p:spPr>
          <a:xfrm>
            <a:off x="463640" y="608014"/>
            <a:ext cx="11728360" cy="992187"/>
          </a:xfrm>
        </p:spPr>
        <p:txBody>
          <a:bodyPr>
            <a:normAutofit/>
          </a:bodyPr>
          <a:lstStyle/>
          <a:p>
            <a:pPr eaLnBrk="1" hangingPunct="1"/>
            <a:r>
              <a:rPr lang="en-US" dirty="0"/>
              <a:t>Characterizing Schedules based on Recoverability</a:t>
            </a:r>
          </a:p>
        </p:txBody>
      </p:sp>
      <p:sp>
        <p:nvSpPr>
          <p:cNvPr id="59396" name="Rectangle 5"/>
          <p:cNvSpPr>
            <a:spLocks noGrp="1" noChangeArrowheads="1"/>
          </p:cNvSpPr>
          <p:nvPr>
            <p:ph type="body" idx="1"/>
          </p:nvPr>
        </p:nvSpPr>
        <p:spPr>
          <a:xfrm>
            <a:off x="1763714" y="2305318"/>
            <a:ext cx="8294687" cy="3552558"/>
          </a:xfrm>
        </p:spPr>
        <p:txBody>
          <a:bodyPr>
            <a:normAutofit lnSpcReduction="10000"/>
          </a:bodyPr>
          <a:lstStyle/>
          <a:p>
            <a:pPr eaLnBrk="1" hangingPunct="1">
              <a:lnSpc>
                <a:spcPct val="80000"/>
              </a:lnSpc>
            </a:pPr>
            <a:r>
              <a:rPr lang="en-US" sz="2400" b="1" dirty="0"/>
              <a:t>Transaction schedule or history</a:t>
            </a:r>
            <a:r>
              <a:rPr lang="en-US" sz="2400" dirty="0"/>
              <a:t>:</a:t>
            </a:r>
          </a:p>
          <a:p>
            <a:pPr lvl="1" eaLnBrk="1" hangingPunct="1">
              <a:lnSpc>
                <a:spcPct val="80000"/>
              </a:lnSpc>
            </a:pPr>
            <a:r>
              <a:rPr lang="en-US" sz="2100" dirty="0"/>
              <a:t>When transactions are executing </a:t>
            </a:r>
            <a:r>
              <a:rPr lang="en-US" sz="2100" b="1" dirty="0"/>
              <a:t>concurrently in an interleaved fashion, the order of execution of operations </a:t>
            </a:r>
            <a:r>
              <a:rPr lang="en-US" sz="2100" dirty="0"/>
              <a:t>from the various transactions forms what is known as a transaction schedule (or history). </a:t>
            </a:r>
          </a:p>
          <a:p>
            <a:pPr eaLnBrk="1" hangingPunct="1">
              <a:lnSpc>
                <a:spcPct val="80000"/>
              </a:lnSpc>
            </a:pPr>
            <a:r>
              <a:rPr lang="en-US" sz="2400" dirty="0"/>
              <a:t>A </a:t>
            </a:r>
            <a:r>
              <a:rPr lang="en-US" sz="2400" b="1" dirty="0"/>
              <a:t>schedule</a:t>
            </a:r>
            <a:r>
              <a:rPr lang="en-US" sz="2400" dirty="0"/>
              <a:t> (or </a:t>
            </a:r>
            <a:r>
              <a:rPr lang="en-US" sz="2400" b="1" dirty="0"/>
              <a:t>history</a:t>
            </a:r>
            <a:r>
              <a:rPr lang="en-US" sz="2400" dirty="0"/>
              <a:t>) S of n transactions T1, T2, …, </a:t>
            </a:r>
            <a:r>
              <a:rPr lang="en-US" sz="2400" dirty="0" err="1"/>
              <a:t>Tn</a:t>
            </a:r>
            <a:r>
              <a:rPr lang="en-US" sz="2400" dirty="0"/>
              <a:t>:</a:t>
            </a:r>
          </a:p>
          <a:p>
            <a:pPr lvl="1" eaLnBrk="1" hangingPunct="1">
              <a:lnSpc>
                <a:spcPct val="80000"/>
              </a:lnSpc>
            </a:pPr>
            <a:r>
              <a:rPr lang="en-US" sz="2100" dirty="0"/>
              <a:t>It is an </a:t>
            </a:r>
            <a:r>
              <a:rPr lang="en-US" sz="2100" b="1" dirty="0"/>
              <a:t>ordering of the operations </a:t>
            </a:r>
            <a:r>
              <a:rPr lang="en-US" sz="2100" dirty="0"/>
              <a:t>of the transactions subject to the constraint that, for each transaction Ti that participates in S, the operations of T1 in S must appear in the same order in which they occur in T1.</a:t>
            </a:r>
          </a:p>
          <a:p>
            <a:pPr lvl="1" eaLnBrk="1" hangingPunct="1">
              <a:lnSpc>
                <a:spcPct val="80000"/>
              </a:lnSpc>
            </a:pPr>
            <a:r>
              <a:rPr lang="en-US" sz="2100" dirty="0"/>
              <a:t>Note, however, that operations from other transactions </a:t>
            </a:r>
            <a:r>
              <a:rPr lang="en-US" sz="2100" dirty="0" err="1"/>
              <a:t>Tj</a:t>
            </a:r>
            <a:r>
              <a:rPr lang="en-US" sz="2100" dirty="0"/>
              <a:t> can be interleaved with the operations of Ti in S. </a:t>
            </a:r>
          </a:p>
        </p:txBody>
      </p:sp>
    </p:spTree>
    <p:extLst>
      <p:ext uri="{BB962C8B-B14F-4D97-AF65-F5344CB8AC3E}">
        <p14:creationId xmlns:p14="http://schemas.microsoft.com/office/powerpoint/2010/main" val="3930626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1313645" y="303214"/>
            <a:ext cx="10444765" cy="992187"/>
          </a:xfrm>
        </p:spPr>
        <p:txBody>
          <a:bodyPr>
            <a:normAutofit/>
          </a:bodyPr>
          <a:lstStyle/>
          <a:p>
            <a:r>
              <a:rPr lang="en-US" dirty="0"/>
              <a:t>Isolation levels in Transaction Processing</a:t>
            </a:r>
          </a:p>
        </p:txBody>
      </p:sp>
      <p:sp>
        <p:nvSpPr>
          <p:cNvPr id="3" name="Content Placeholder 2"/>
          <p:cNvSpPr>
            <a:spLocks noGrp="1"/>
          </p:cNvSpPr>
          <p:nvPr>
            <p:ph idx="1"/>
          </p:nvPr>
        </p:nvSpPr>
        <p:spPr>
          <a:xfrm>
            <a:off x="180303" y="1970467"/>
            <a:ext cx="11578107" cy="4134119"/>
          </a:xfrm>
        </p:spPr>
        <p:txBody>
          <a:bodyPr/>
          <a:lstStyle/>
          <a:p>
            <a:pPr algn="just">
              <a:defRPr/>
            </a:pPr>
            <a:r>
              <a:rPr lang="en-US" sz="2400" dirty="0"/>
              <a:t>A transaction isolation level is defined by the following phenomena –</a:t>
            </a:r>
          </a:p>
          <a:p>
            <a:pPr algn="just">
              <a:defRPr/>
            </a:pPr>
            <a:r>
              <a:rPr lang="en-US" sz="2400" b="1" dirty="0"/>
              <a:t>Dirty Read – </a:t>
            </a:r>
            <a:r>
              <a:rPr lang="en-US" sz="2400" dirty="0"/>
              <a:t>A Dirty read is the situation when a </a:t>
            </a:r>
            <a:r>
              <a:rPr lang="en-US" sz="2400" b="1" dirty="0"/>
              <a:t>transaction reads a data that has not yet been committed. </a:t>
            </a:r>
          </a:p>
          <a:p>
            <a:pPr algn="just">
              <a:defRPr/>
            </a:pPr>
            <a:r>
              <a:rPr lang="en-US" sz="2400" b="1" dirty="0"/>
              <a:t>Non Repeatable read – </a:t>
            </a:r>
            <a:r>
              <a:rPr lang="en-US" sz="2400" dirty="0"/>
              <a:t>Non Repeatable read occurs when a </a:t>
            </a:r>
            <a:r>
              <a:rPr lang="en-US" sz="2400" b="1" dirty="0"/>
              <a:t>transaction reads same row twice, and get a different value each time. </a:t>
            </a:r>
          </a:p>
          <a:p>
            <a:pPr algn="just">
              <a:defRPr/>
            </a:pPr>
            <a:r>
              <a:rPr lang="en-US" sz="2400" b="1" dirty="0"/>
              <a:t>Phantom Read – </a:t>
            </a:r>
            <a:r>
              <a:rPr lang="en-US" sz="2400" dirty="0"/>
              <a:t>Phantom Read occurs </a:t>
            </a:r>
            <a:r>
              <a:rPr lang="en-US" sz="2400" b="1" dirty="0"/>
              <a:t>when two same queries are executed, but the rows retrieved by the two, are different.</a:t>
            </a:r>
          </a:p>
          <a:p>
            <a:pPr marL="0" indent="0" algn="just">
              <a:buNone/>
              <a:defRPr/>
            </a:pPr>
            <a:r>
              <a:rPr lang="en-US" sz="2400" dirty="0"/>
              <a:t>Based on these phenomena, The SQL standard defines four isolation levels :</a:t>
            </a:r>
          </a:p>
        </p:txBody>
      </p:sp>
      <p:sp>
        <p:nvSpPr>
          <p:cNvPr id="8602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sz="1400">
                <a:solidFill>
                  <a:srgbClr val="990033"/>
                </a:solidFill>
              </a:rPr>
              <a:t>Slide 17- </a:t>
            </a:r>
            <a:fld id="{778588A6-2AD0-4F92-8D68-6C0018EF7AA4}" type="slidenum">
              <a:rPr lang="en-US" sz="1400">
                <a:solidFill>
                  <a:srgbClr val="990033"/>
                </a:solidFill>
              </a:rPr>
              <a:pPr/>
              <a:t>21</a:t>
            </a:fld>
            <a:endParaRPr lang="en-CA" sz="1400">
              <a:solidFill>
                <a:srgbClr val="990033"/>
              </a:solidFill>
            </a:endParaRPr>
          </a:p>
        </p:txBody>
      </p:sp>
    </p:spTree>
    <p:extLst>
      <p:ext uri="{BB962C8B-B14F-4D97-AF65-F5344CB8AC3E}">
        <p14:creationId xmlns:p14="http://schemas.microsoft.com/office/powerpoint/2010/main" val="1234330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339402" y="324162"/>
            <a:ext cx="9654862" cy="992187"/>
          </a:xfrm>
        </p:spPr>
        <p:txBody>
          <a:bodyPr>
            <a:normAutofit/>
          </a:bodyPr>
          <a:lstStyle/>
          <a:p>
            <a:r>
              <a:rPr lang="en-US" dirty="0"/>
              <a:t>Isolation levels in Transaction Processing</a:t>
            </a:r>
          </a:p>
        </p:txBody>
      </p:sp>
      <p:sp>
        <p:nvSpPr>
          <p:cNvPr id="3" name="Content Placeholder 2"/>
          <p:cNvSpPr>
            <a:spLocks noGrp="1"/>
          </p:cNvSpPr>
          <p:nvPr>
            <p:ph idx="1"/>
          </p:nvPr>
        </p:nvSpPr>
        <p:spPr>
          <a:xfrm>
            <a:off x="1168534" y="1771444"/>
            <a:ext cx="9697790" cy="3812147"/>
          </a:xfrm>
        </p:spPr>
        <p:txBody>
          <a:bodyPr>
            <a:normAutofit fontScale="92500" lnSpcReduction="10000"/>
          </a:bodyPr>
          <a:lstStyle/>
          <a:p>
            <a:pPr algn="just">
              <a:defRPr/>
            </a:pPr>
            <a:r>
              <a:rPr lang="en-US" b="1" dirty="0"/>
              <a:t>Read Uncommitted – </a:t>
            </a:r>
            <a:r>
              <a:rPr lang="en-US" dirty="0"/>
              <a:t>Read Uncommitted is the lowest isolation level. In this level, one transaction may read not yet committed changes made by other transaction, thereby allowing dirty reads. In this level, transactions are not isolated from each other.</a:t>
            </a:r>
          </a:p>
          <a:p>
            <a:pPr marL="0" indent="0" algn="just">
              <a:buNone/>
              <a:defRPr/>
            </a:pPr>
            <a:endParaRPr lang="en-US" dirty="0"/>
          </a:p>
          <a:p>
            <a:pPr algn="just">
              <a:defRPr/>
            </a:pPr>
            <a:r>
              <a:rPr lang="en-US" b="1" dirty="0"/>
              <a:t>Read Committed – </a:t>
            </a:r>
            <a:r>
              <a:rPr lang="en-US" dirty="0"/>
              <a:t>This isolation level guarantees that </a:t>
            </a:r>
            <a:r>
              <a:rPr lang="en-US" b="1" dirty="0"/>
              <a:t>any data read is committed at the moment it is read</a:t>
            </a:r>
            <a:r>
              <a:rPr lang="en-US" dirty="0"/>
              <a:t>. Thus it does not allows dirty read. The transaction </a:t>
            </a:r>
            <a:r>
              <a:rPr lang="en-US" b="1" dirty="0"/>
              <a:t>holds a read or write lock on the current row</a:t>
            </a:r>
            <a:r>
              <a:rPr lang="en-US" dirty="0"/>
              <a:t>, and thus prevent other transactions from reading, updating or deleting it.</a:t>
            </a:r>
          </a:p>
          <a:p>
            <a:pPr>
              <a:defRPr/>
            </a:pPr>
            <a:endParaRPr lang="en-US" dirty="0"/>
          </a:p>
        </p:txBody>
      </p:sp>
      <p:sp>
        <p:nvSpPr>
          <p:cNvPr id="8704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sz="1400">
                <a:solidFill>
                  <a:srgbClr val="990033"/>
                </a:solidFill>
              </a:rPr>
              <a:t>Slide 17- </a:t>
            </a:r>
            <a:fld id="{26D473E3-FA39-487D-AEDD-B1CE479EE232}" type="slidenum">
              <a:rPr lang="en-US" sz="1400">
                <a:solidFill>
                  <a:srgbClr val="990033"/>
                </a:solidFill>
              </a:rPr>
              <a:pPr/>
              <a:t>22</a:t>
            </a:fld>
            <a:endParaRPr lang="en-CA" sz="1400">
              <a:solidFill>
                <a:srgbClr val="990033"/>
              </a:solidFill>
            </a:endParaRPr>
          </a:p>
        </p:txBody>
      </p:sp>
    </p:spTree>
    <p:extLst>
      <p:ext uri="{BB962C8B-B14F-4D97-AF65-F5344CB8AC3E}">
        <p14:creationId xmlns:p14="http://schemas.microsoft.com/office/powerpoint/2010/main" val="3280888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1493949" y="716968"/>
            <a:ext cx="9515385" cy="992187"/>
          </a:xfrm>
        </p:spPr>
        <p:txBody>
          <a:bodyPr>
            <a:normAutofit/>
          </a:bodyPr>
          <a:lstStyle/>
          <a:p>
            <a:r>
              <a:rPr lang="en-US" dirty="0"/>
              <a:t>Isolation levels in Transaction Processing</a:t>
            </a:r>
          </a:p>
        </p:txBody>
      </p:sp>
      <p:sp>
        <p:nvSpPr>
          <p:cNvPr id="88067" name="Content Placeholder 2"/>
          <p:cNvSpPr>
            <a:spLocks noGrp="1"/>
          </p:cNvSpPr>
          <p:nvPr>
            <p:ph idx="1"/>
          </p:nvPr>
        </p:nvSpPr>
        <p:spPr>
          <a:xfrm>
            <a:off x="1493949" y="2073349"/>
            <a:ext cx="9319363" cy="3631993"/>
          </a:xfrm>
        </p:spPr>
        <p:txBody>
          <a:bodyPr>
            <a:normAutofit fontScale="92500" lnSpcReduction="20000"/>
          </a:bodyPr>
          <a:lstStyle/>
          <a:p>
            <a:pPr algn="just"/>
            <a:r>
              <a:rPr lang="en-US" b="1" dirty="0"/>
              <a:t>Repeatable Read – </a:t>
            </a:r>
            <a:r>
              <a:rPr lang="en-US" dirty="0"/>
              <a:t>This is the most restrictive isolation level. The transaction holds </a:t>
            </a:r>
            <a:r>
              <a:rPr lang="en-US" b="1" dirty="0"/>
              <a:t>read locks on all rows it references and writes locks on all rows it inserts, updates, or deletes</a:t>
            </a:r>
            <a:r>
              <a:rPr lang="en-US" dirty="0"/>
              <a:t>. Since other transaction cannot read, update or delete these rows, consequently it avoids non-repeatable read.</a:t>
            </a:r>
          </a:p>
          <a:p>
            <a:pPr marL="0" indent="0" algn="just">
              <a:buNone/>
            </a:pPr>
            <a:endParaRPr lang="en-US" dirty="0"/>
          </a:p>
          <a:p>
            <a:pPr algn="just"/>
            <a:r>
              <a:rPr lang="en-US" b="1" dirty="0" err="1"/>
              <a:t>Serializable</a:t>
            </a:r>
            <a:r>
              <a:rPr lang="en-US" b="1" dirty="0"/>
              <a:t> – </a:t>
            </a:r>
            <a:r>
              <a:rPr lang="en-US" dirty="0"/>
              <a:t>This is the Highest isolation level. </a:t>
            </a:r>
            <a:r>
              <a:rPr lang="en-US" b="1" dirty="0"/>
              <a:t>A </a:t>
            </a:r>
            <a:r>
              <a:rPr lang="en-US" b="1" i="1" dirty="0" err="1"/>
              <a:t>serializable</a:t>
            </a:r>
            <a:r>
              <a:rPr lang="en-US" b="1" dirty="0"/>
              <a:t> execution is guaranteed to be </a:t>
            </a:r>
            <a:r>
              <a:rPr lang="en-US" b="1" dirty="0" err="1"/>
              <a:t>serializable</a:t>
            </a:r>
            <a:r>
              <a:rPr lang="en-US" dirty="0"/>
              <a:t>. </a:t>
            </a:r>
            <a:r>
              <a:rPr lang="en-US" dirty="0" err="1"/>
              <a:t>Serializable</a:t>
            </a:r>
            <a:r>
              <a:rPr lang="en-US" dirty="0"/>
              <a:t> execution is defined to be an execution of operations in which concurrently executing transactions appears to be serially executing.</a:t>
            </a:r>
          </a:p>
          <a:p>
            <a:endParaRPr lang="en-US" dirty="0"/>
          </a:p>
        </p:txBody>
      </p:sp>
      <p:sp>
        <p:nvSpPr>
          <p:cNvPr id="8806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sz="1400">
                <a:solidFill>
                  <a:srgbClr val="990033"/>
                </a:solidFill>
              </a:rPr>
              <a:t>Slide 17- </a:t>
            </a:r>
            <a:fld id="{D9703818-B283-42B8-9BE8-63F39E20D5B9}" type="slidenum">
              <a:rPr lang="en-US" sz="1400">
                <a:solidFill>
                  <a:srgbClr val="990033"/>
                </a:solidFill>
              </a:rPr>
              <a:pPr/>
              <a:t>23</a:t>
            </a:fld>
            <a:endParaRPr lang="en-CA" sz="1400">
              <a:solidFill>
                <a:srgbClr val="990033"/>
              </a:solidFill>
            </a:endParaRPr>
          </a:p>
        </p:txBody>
      </p:sp>
    </p:spTree>
    <p:extLst>
      <p:ext uri="{BB962C8B-B14F-4D97-AF65-F5344CB8AC3E}">
        <p14:creationId xmlns:p14="http://schemas.microsoft.com/office/powerpoint/2010/main" val="829842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62695" y="570359"/>
            <a:ext cx="9430556" cy="5682800"/>
          </a:xfrm>
          <a:prstGeom prst="rect">
            <a:avLst/>
          </a:prstGeom>
        </p:spPr>
      </p:pic>
    </p:spTree>
    <p:extLst>
      <p:ext uri="{BB962C8B-B14F-4D97-AF65-F5344CB8AC3E}">
        <p14:creationId xmlns:p14="http://schemas.microsoft.com/office/powerpoint/2010/main" val="4154859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26231" y="519313"/>
            <a:ext cx="9241262" cy="2801051"/>
          </a:xfrm>
          <a:prstGeom prst="rect">
            <a:avLst/>
          </a:prstGeom>
        </p:spPr>
      </p:pic>
    </p:spTree>
    <p:extLst>
      <p:ext uri="{BB962C8B-B14F-4D97-AF65-F5344CB8AC3E}">
        <p14:creationId xmlns:p14="http://schemas.microsoft.com/office/powerpoint/2010/main" val="2485185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93949" y="153519"/>
            <a:ext cx="8847785" cy="6297356"/>
          </a:xfrm>
          <a:prstGeom prst="rect">
            <a:avLst/>
          </a:prstGeom>
        </p:spPr>
      </p:pic>
    </p:spTree>
    <p:extLst>
      <p:ext uri="{BB962C8B-B14F-4D97-AF65-F5344CB8AC3E}">
        <p14:creationId xmlns:p14="http://schemas.microsoft.com/office/powerpoint/2010/main" val="2249168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40400" y="472225"/>
            <a:ext cx="9936185" cy="5449633"/>
          </a:xfrm>
          <a:prstGeom prst="rect">
            <a:avLst/>
          </a:prstGeom>
        </p:spPr>
      </p:pic>
    </p:spTree>
    <p:extLst>
      <p:ext uri="{BB962C8B-B14F-4D97-AF65-F5344CB8AC3E}">
        <p14:creationId xmlns:p14="http://schemas.microsoft.com/office/powerpoint/2010/main" val="4251039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14965" y="413935"/>
            <a:ext cx="11030197" cy="5033828"/>
          </a:xfrm>
          <a:prstGeom prst="rect">
            <a:avLst/>
          </a:prstGeom>
        </p:spPr>
      </p:pic>
    </p:spTree>
    <p:extLst>
      <p:ext uri="{BB962C8B-B14F-4D97-AF65-F5344CB8AC3E}">
        <p14:creationId xmlns:p14="http://schemas.microsoft.com/office/powerpoint/2010/main" val="722120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4443" y="367182"/>
            <a:ext cx="11038297" cy="4977550"/>
          </a:xfrm>
          <a:prstGeom prst="rect">
            <a:avLst/>
          </a:prstGeom>
        </p:spPr>
      </p:pic>
    </p:spTree>
    <p:extLst>
      <p:ext uri="{BB962C8B-B14F-4D97-AF65-F5344CB8AC3E}">
        <p14:creationId xmlns:p14="http://schemas.microsoft.com/office/powerpoint/2010/main" val="1716140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838200" y="365126"/>
            <a:ext cx="10515600" cy="922762"/>
          </a:xfrm>
        </p:spPr>
        <p:txBody>
          <a:bodyPr/>
          <a:lstStyle/>
          <a:p>
            <a:r>
              <a:rPr lang="en-US" dirty="0"/>
              <a:t>Two phase commit protocol</a:t>
            </a:r>
          </a:p>
        </p:txBody>
      </p:sp>
      <p:sp>
        <p:nvSpPr>
          <p:cNvPr id="54275" name="Content Placeholder 2"/>
          <p:cNvSpPr>
            <a:spLocks noGrp="1"/>
          </p:cNvSpPr>
          <p:nvPr>
            <p:ph idx="1"/>
          </p:nvPr>
        </p:nvSpPr>
        <p:spPr>
          <a:xfrm>
            <a:off x="553792" y="1159099"/>
            <a:ext cx="10800008" cy="5017864"/>
          </a:xfrm>
        </p:spPr>
        <p:txBody>
          <a:bodyPr/>
          <a:lstStyle/>
          <a:p>
            <a:r>
              <a:rPr lang="en-US" dirty="0"/>
              <a:t>Atomic commitment protocol</a:t>
            </a:r>
          </a:p>
          <a:p>
            <a:r>
              <a:rPr lang="en-US" dirty="0"/>
              <a:t>Distributed algorithm that coordinates all process and participate in a distributed atomic transaction, whether to commit or abort T</a:t>
            </a:r>
          </a:p>
          <a:p>
            <a:endParaRPr lang="en-US" dirty="0"/>
          </a:p>
        </p:txBody>
      </p:sp>
      <p:pic>
        <p:nvPicPr>
          <p:cNvPr id="54277"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6080" y="2557586"/>
            <a:ext cx="4940122" cy="364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6847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t>Limitation</a:t>
            </a:r>
          </a:p>
        </p:txBody>
      </p:sp>
      <p:sp>
        <p:nvSpPr>
          <p:cNvPr id="3" name="Content Placeholder 2"/>
          <p:cNvSpPr>
            <a:spLocks noGrp="1"/>
          </p:cNvSpPr>
          <p:nvPr>
            <p:ph idx="1"/>
          </p:nvPr>
        </p:nvSpPr>
        <p:spPr/>
        <p:txBody>
          <a:bodyPr/>
          <a:lstStyle/>
          <a:p>
            <a:pPr>
              <a:defRPr/>
            </a:pPr>
            <a:r>
              <a:rPr lang="en-US" dirty="0"/>
              <a:t>Block Problem:</a:t>
            </a:r>
          </a:p>
          <a:p>
            <a:pPr marL="0" indent="0">
              <a:buNone/>
              <a:defRPr/>
            </a:pPr>
            <a:r>
              <a:rPr lang="en-US" dirty="0"/>
              <a:t>		- Blocking reduces the availability of system since blocked transactions keep all the resources until they receive final command from coordinator.</a:t>
            </a:r>
          </a:p>
          <a:p>
            <a:pPr marL="0" indent="0">
              <a:buNone/>
              <a:defRPr/>
            </a:pPr>
            <a:endParaRPr lang="en-US" dirty="0"/>
          </a:p>
          <a:p>
            <a:pPr marL="0" indent="0">
              <a:buNone/>
              <a:defRPr/>
            </a:pPr>
            <a:endParaRPr lang="en-US" dirty="0"/>
          </a:p>
        </p:txBody>
      </p:sp>
    </p:spTree>
    <p:extLst>
      <p:ext uri="{BB962C8B-B14F-4D97-AF65-F5344CB8AC3E}">
        <p14:creationId xmlns:p14="http://schemas.microsoft.com/office/powerpoint/2010/main" val="4126042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1367" y="183054"/>
            <a:ext cx="10487495" cy="5481822"/>
          </a:xfrm>
          <a:prstGeom prst="rect">
            <a:avLst/>
          </a:prstGeom>
        </p:spPr>
      </p:pic>
    </p:spTree>
    <p:extLst>
      <p:ext uri="{BB962C8B-B14F-4D97-AF65-F5344CB8AC3E}">
        <p14:creationId xmlns:p14="http://schemas.microsoft.com/office/powerpoint/2010/main" val="3896730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81092" y="385360"/>
            <a:ext cx="10938330" cy="5075282"/>
          </a:xfrm>
          <a:prstGeom prst="rect">
            <a:avLst/>
          </a:prstGeom>
        </p:spPr>
      </p:pic>
    </p:spTree>
    <p:extLst>
      <p:ext uri="{BB962C8B-B14F-4D97-AF65-F5344CB8AC3E}">
        <p14:creationId xmlns:p14="http://schemas.microsoft.com/office/powerpoint/2010/main" val="575877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2018</Words>
  <Application>Microsoft Office PowerPoint</Application>
  <PresentationFormat>Widescreen</PresentationFormat>
  <Paragraphs>170</Paragraphs>
  <Slides>33</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Symbol</vt:lpstr>
      <vt:lpstr>Tahoma</vt:lpstr>
      <vt:lpstr>Wingdings</vt:lpstr>
      <vt:lpstr>Office Theme</vt:lpstr>
      <vt:lpstr>CI32/CY32  -DBS</vt:lpstr>
      <vt:lpstr>Introduction to Transaction Processing</vt:lpstr>
      <vt:lpstr>Concurrent execution is uncontrolled: (a) The lost update problem. </vt:lpstr>
      <vt:lpstr>Concurrent execution is uncontrolled: (b) The temporary update problem.</vt:lpstr>
      <vt:lpstr>Concurrent execution is uncontrolled: (c) The incorrect summary problem.</vt:lpstr>
      <vt:lpstr>Introduction to Transaction Processing </vt:lpstr>
      <vt:lpstr>Introduction to Transaction Processing </vt:lpstr>
      <vt:lpstr>Introduction to Transaction Processing </vt:lpstr>
      <vt:lpstr>Transaction and System Concepts </vt:lpstr>
      <vt:lpstr>Transaction and System Concepts </vt:lpstr>
      <vt:lpstr>Transaction and System Concepts </vt:lpstr>
      <vt:lpstr>State transition diagram illustrating the states for transaction execution</vt:lpstr>
      <vt:lpstr>Transaction and System Concepts</vt:lpstr>
      <vt:lpstr>Transaction and System Concepts</vt:lpstr>
      <vt:lpstr>Characterizing Schedules based on Recoverability</vt:lpstr>
      <vt:lpstr>Characterizing Schedules based on Recoverability</vt:lpstr>
      <vt:lpstr>Characterizing Schedules based on Recoverability </vt:lpstr>
      <vt:lpstr>Characterizing Schedules based on Serializability </vt:lpstr>
      <vt:lpstr>Characterizing Schedules based on Serializability </vt:lpstr>
      <vt:lpstr>Characterizing Schedules based on Recoverability</vt:lpstr>
      <vt:lpstr>Isolation levels in Transaction Processing</vt:lpstr>
      <vt:lpstr>Isolation levels in Transaction Processing</vt:lpstr>
      <vt:lpstr>Isolation levels in Transaction Processing</vt:lpstr>
      <vt:lpstr>PowerPoint Presentation</vt:lpstr>
      <vt:lpstr>PowerPoint Presentation</vt:lpstr>
      <vt:lpstr>PowerPoint Presentation</vt:lpstr>
      <vt:lpstr>PowerPoint Presentation</vt:lpstr>
      <vt:lpstr>PowerPoint Presentation</vt:lpstr>
      <vt:lpstr>PowerPoint Presentation</vt:lpstr>
      <vt:lpstr>Two phase commit protocol</vt:lpstr>
      <vt:lpstr>Limitation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CSE-PG</dc:creator>
  <cp:lastModifiedBy>ADMIN</cp:lastModifiedBy>
  <cp:revision>14</cp:revision>
  <dcterms:created xsi:type="dcterms:W3CDTF">2019-07-18T06:00:43Z</dcterms:created>
  <dcterms:modified xsi:type="dcterms:W3CDTF">2023-01-25T05:00:41Z</dcterms:modified>
</cp:coreProperties>
</file>