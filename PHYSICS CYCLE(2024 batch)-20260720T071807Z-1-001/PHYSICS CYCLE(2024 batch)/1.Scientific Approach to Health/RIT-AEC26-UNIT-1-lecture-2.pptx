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media/image3.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0" r:id="rId1"/>
  </p:sldMasterIdLst>
  <p:notesMasterIdLst>
    <p:notesMasterId r:id="rId58"/>
  </p:notesMasterIdLst>
  <p:sldIdLst>
    <p:sldId id="281" r:id="rId2"/>
    <p:sldId id="276" r:id="rId3"/>
    <p:sldId id="282" r:id="rId4"/>
    <p:sldId id="355" r:id="rId5"/>
    <p:sldId id="283" r:id="rId6"/>
    <p:sldId id="359" r:id="rId7"/>
    <p:sldId id="360" r:id="rId8"/>
    <p:sldId id="361" r:id="rId9"/>
    <p:sldId id="287" r:id="rId10"/>
    <p:sldId id="362" r:id="rId11"/>
    <p:sldId id="363" r:id="rId12"/>
    <p:sldId id="364" r:id="rId13"/>
    <p:sldId id="365" r:id="rId14"/>
    <p:sldId id="288" r:id="rId15"/>
    <p:sldId id="289" r:id="rId16"/>
    <p:sldId id="290" r:id="rId17"/>
    <p:sldId id="366" r:id="rId18"/>
    <p:sldId id="367" r:id="rId19"/>
    <p:sldId id="292" r:id="rId20"/>
    <p:sldId id="294" r:id="rId21"/>
    <p:sldId id="295" r:id="rId22"/>
    <p:sldId id="296" r:id="rId23"/>
    <p:sldId id="297" r:id="rId24"/>
    <p:sldId id="298"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18" r:id="rId44"/>
    <p:sldId id="319" r:id="rId45"/>
    <p:sldId id="320" r:id="rId46"/>
    <p:sldId id="321" r:id="rId47"/>
    <p:sldId id="322" r:id="rId48"/>
    <p:sldId id="323" r:id="rId49"/>
    <p:sldId id="324" r:id="rId50"/>
    <p:sldId id="325" r:id="rId51"/>
    <p:sldId id="326" r:id="rId52"/>
    <p:sldId id="327" r:id="rId53"/>
    <p:sldId id="328" r:id="rId54"/>
    <p:sldId id="329" r:id="rId55"/>
    <p:sldId id="330" r:id="rId56"/>
    <p:sldId id="280" r:id="rId57"/>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FF00"/>
    <a:srgbClr val="CC3300"/>
    <a:srgbClr val="00FFCC"/>
    <a:srgbClr val="660066"/>
    <a:srgbClr val="CC6600"/>
    <a:srgbClr val="FF99FF"/>
    <a:srgbClr val="FF9966"/>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719" autoAdjust="0"/>
  </p:normalViewPr>
  <p:slideViewPr>
    <p:cSldViewPr>
      <p:cViewPr varScale="1">
        <p:scale>
          <a:sx n="45" d="100"/>
          <a:sy n="45" d="100"/>
        </p:scale>
        <p:origin x="1194" y="1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836DA54-9028-45DF-B216-E1A280A84025}" type="datetimeFigureOut">
              <a:rPr lang="en-IN" smtClean="0"/>
              <a:t>31-05-2022</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85DBF8B3-8400-43D7-9F93-580F87E28036}" type="slidenum">
              <a:rPr lang="en-IN" smtClean="0"/>
              <a:t>‹#›</a:t>
            </a:fld>
            <a:endParaRPr lang="en-IN"/>
          </a:p>
        </p:txBody>
      </p:sp>
    </p:spTree>
    <p:extLst>
      <p:ext uri="{BB962C8B-B14F-4D97-AF65-F5344CB8AC3E}">
        <p14:creationId xmlns:p14="http://schemas.microsoft.com/office/powerpoint/2010/main" val="2569408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819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7623930-E3C4-48AD-A50B-97F0D64A605B}" type="slidenum">
              <a:rPr lang="en-US" altLang="en-US">
                <a:latin typeface="Times New Roman" panose="02020603050405020304" pitchFamily="18" charset="0"/>
              </a:rPr>
              <a:pPr fontAlgn="base">
                <a:spcBef>
                  <a:spcPct val="0"/>
                </a:spcBef>
                <a:spcAft>
                  <a:spcPct val="0"/>
                </a:spcAft>
              </a:pPr>
              <a:t>9</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206462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819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7623930-E3C4-48AD-A50B-97F0D64A605B}" type="slidenum">
              <a:rPr lang="en-US" altLang="en-US">
                <a:latin typeface="Times New Roman" panose="02020603050405020304" pitchFamily="18" charset="0"/>
              </a:rPr>
              <a:pPr fontAlgn="base">
                <a:spcBef>
                  <a:spcPct val="0"/>
                </a:spcBef>
                <a:spcAft>
                  <a:spcPct val="0"/>
                </a:spcAft>
              </a:pPr>
              <a:t>10</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0571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819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7623930-E3C4-48AD-A50B-97F0D64A605B}" type="slidenum">
              <a:rPr lang="en-US" altLang="en-US">
                <a:latin typeface="Times New Roman" panose="02020603050405020304" pitchFamily="18" charset="0"/>
              </a:rPr>
              <a:pPr fontAlgn="base">
                <a:spcBef>
                  <a:spcPct val="0"/>
                </a:spcBef>
                <a:spcAft>
                  <a:spcPct val="0"/>
                </a:spcAft>
              </a:pPr>
              <a:t>11</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499062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819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7623930-E3C4-48AD-A50B-97F0D64A605B}" type="slidenum">
              <a:rPr lang="en-US" altLang="en-US">
                <a:latin typeface="Times New Roman" panose="02020603050405020304" pitchFamily="18" charset="0"/>
              </a:rPr>
              <a:pPr fontAlgn="base">
                <a:spcBef>
                  <a:spcPct val="0"/>
                </a:spcBef>
                <a:spcAft>
                  <a:spcPct val="0"/>
                </a:spcAft>
              </a:pPr>
              <a:t>12</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840144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819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7623930-E3C4-48AD-A50B-97F0D64A605B}" type="slidenum">
              <a:rPr lang="en-US" altLang="en-US">
                <a:latin typeface="Times New Roman" panose="02020603050405020304" pitchFamily="18" charset="0"/>
              </a:rPr>
              <a:pPr fontAlgn="base">
                <a:spcBef>
                  <a:spcPct val="0"/>
                </a:spcBef>
                <a:spcAft>
                  <a:spcPct val="0"/>
                </a:spcAft>
              </a:pPr>
              <a:t>13</a:t>
            </a:fld>
            <a:endParaRPr lang="en-US" altLang="en-US">
              <a:latin typeface="Times New Roman" panose="02020603050405020304" pitchFamily="18" charset="0"/>
            </a:endParaRPr>
          </a:p>
        </p:txBody>
      </p:sp>
    </p:spTree>
    <p:extLst>
      <p:ext uri="{BB962C8B-B14F-4D97-AF65-F5344CB8AC3E}">
        <p14:creationId xmlns:p14="http://schemas.microsoft.com/office/powerpoint/2010/main" val="831388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102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dirty="0">
              <a:latin typeface="Arial" panose="020B0604020202020204" pitchFamily="34" charset="0"/>
            </a:endParaRPr>
          </a:p>
        </p:txBody>
      </p:sp>
      <p:sp>
        <p:nvSpPr>
          <p:cNvPr id="102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7D10A9C-942D-45C0-BE3A-958CE36E0868}" type="slidenum">
              <a:rPr lang="en-US" altLang="en-US">
                <a:latin typeface="Times New Roman" panose="02020603050405020304" pitchFamily="18" charset="0"/>
              </a:rPr>
              <a:pPr fontAlgn="base">
                <a:spcBef>
                  <a:spcPct val="0"/>
                </a:spcBef>
                <a:spcAft>
                  <a:spcPct val="0"/>
                </a:spcAft>
              </a:pPr>
              <a:t>14</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817985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ln/>
        </p:spPr>
      </p:sp>
      <p:sp>
        <p:nvSpPr>
          <p:cNvPr id="122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1229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7BD1A58-D5AE-49E6-BAC7-E3AC49F7C90A}" type="slidenum">
              <a:rPr lang="en-US" altLang="en-US">
                <a:latin typeface="Times New Roman" panose="02020603050405020304" pitchFamily="18" charset="0"/>
              </a:rPr>
              <a:pPr fontAlgn="base">
                <a:spcBef>
                  <a:spcPct val="0"/>
                </a:spcBef>
                <a:spcAft>
                  <a:spcPct val="0"/>
                </a:spcAft>
              </a:pPr>
              <a:t>15</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249657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dirty="0">
              <a:latin typeface="Arial" panose="020B0604020202020204" pitchFamily="34" charset="0"/>
            </a:endParaRPr>
          </a:p>
        </p:txBody>
      </p:sp>
      <p:sp>
        <p:nvSpPr>
          <p:cNvPr id="1434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6859975-3A1C-4207-BF71-2C0A91294E16}" type="slidenum">
              <a:rPr lang="en-US" altLang="en-US">
                <a:latin typeface="Times New Roman" panose="02020603050405020304" pitchFamily="18" charset="0"/>
              </a:rPr>
              <a:pPr fontAlgn="base">
                <a:spcBef>
                  <a:spcPct val="0"/>
                </a:spcBef>
                <a:spcAft>
                  <a:spcPct val="0"/>
                </a:spcAft>
              </a:pPr>
              <a:t>16</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75071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1434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6859975-3A1C-4207-BF71-2C0A91294E16}" type="slidenum">
              <a:rPr lang="en-US" altLang="en-US">
                <a:latin typeface="Times New Roman" panose="02020603050405020304" pitchFamily="18" charset="0"/>
              </a:rPr>
              <a:pPr fontAlgn="base">
                <a:spcBef>
                  <a:spcPct val="0"/>
                </a:spcBef>
                <a:spcAft>
                  <a:spcPct val="0"/>
                </a:spcAft>
              </a:pPr>
              <a:t>17</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429170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1434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6859975-3A1C-4207-BF71-2C0A91294E16}" type="slidenum">
              <a:rPr lang="en-US" altLang="en-US">
                <a:latin typeface="Times New Roman" panose="02020603050405020304" pitchFamily="18" charset="0"/>
              </a:rPr>
              <a:pPr fontAlgn="base">
                <a:spcBef>
                  <a:spcPct val="0"/>
                </a:spcBef>
                <a:spcAft>
                  <a:spcPct val="0"/>
                </a:spcAft>
              </a:pPr>
              <a:t>18</a:t>
            </a:fld>
            <a:endParaRPr lang="en-US" altLang="en-US">
              <a:latin typeface="Times New Roman" panose="02020603050405020304" pitchFamily="18" charset="0"/>
            </a:endParaRPr>
          </a:p>
        </p:txBody>
      </p:sp>
    </p:spTree>
    <p:extLst>
      <p:ext uri="{BB962C8B-B14F-4D97-AF65-F5344CB8AC3E}">
        <p14:creationId xmlns:p14="http://schemas.microsoft.com/office/powerpoint/2010/main" val="2081173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dirty="0">
              <a:latin typeface="Arial" panose="020B0604020202020204" pitchFamily="34" charset="0"/>
            </a:endParaRPr>
          </a:p>
        </p:txBody>
      </p:sp>
      <p:sp>
        <p:nvSpPr>
          <p:cNvPr id="1843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8291FEB1-5354-4C22-A0AB-DDDD17E37172}" type="slidenum">
              <a:rPr lang="en-US" altLang="en-US">
                <a:latin typeface="Times New Roman" panose="02020603050405020304" pitchFamily="18" charset="0"/>
              </a:rPr>
              <a:pPr fontAlgn="base">
                <a:spcBef>
                  <a:spcPct val="0"/>
                </a:spcBef>
                <a:spcAft>
                  <a:spcPct val="0"/>
                </a:spcAft>
              </a:pPr>
              <a:t>19</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490220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2253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633DA50-B2CC-4BC7-9019-FA57565E6F0E}" type="slidenum">
              <a:rPr lang="en-US" altLang="en-US">
                <a:latin typeface="Times New Roman" panose="02020603050405020304" pitchFamily="18" charset="0"/>
              </a:rPr>
              <a:pPr fontAlgn="base">
                <a:spcBef>
                  <a:spcPct val="0"/>
                </a:spcBef>
                <a:spcAft>
                  <a:spcPct val="0"/>
                </a:spcAft>
              </a:pPr>
              <a:t>20</a:t>
            </a:fld>
            <a:endParaRPr lang="en-US" altLang="en-US">
              <a:latin typeface="Times New Roman" panose="02020603050405020304" pitchFamily="18" charset="0"/>
            </a:endParaRPr>
          </a:p>
        </p:txBody>
      </p:sp>
    </p:spTree>
    <p:extLst>
      <p:ext uri="{BB962C8B-B14F-4D97-AF65-F5344CB8AC3E}">
        <p14:creationId xmlns:p14="http://schemas.microsoft.com/office/powerpoint/2010/main" val="888293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2458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2F81D2A-E39B-4DC3-A202-5D96A0681DD9}" type="slidenum">
              <a:rPr lang="en-US" altLang="en-US">
                <a:latin typeface="Times New Roman" panose="02020603050405020304" pitchFamily="18" charset="0"/>
              </a:rPr>
              <a:pPr fontAlgn="base">
                <a:spcBef>
                  <a:spcPct val="0"/>
                </a:spcBef>
                <a:spcAft>
                  <a:spcPct val="0"/>
                </a:spcAft>
              </a:pPr>
              <a:t>21</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353219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2662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BA99270-5D12-42BC-A1BE-5E28941344C8}" type="slidenum">
              <a:rPr lang="en-US" altLang="en-US">
                <a:latin typeface="Times New Roman" panose="02020603050405020304" pitchFamily="18" charset="0"/>
              </a:rPr>
              <a:pPr fontAlgn="base">
                <a:spcBef>
                  <a:spcPct val="0"/>
                </a:spcBef>
                <a:spcAft>
                  <a:spcPct val="0"/>
                </a:spcAft>
              </a:pPr>
              <a:t>22</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38671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2867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FB705FA-FE5A-4748-B99C-A94D3CEEB631}" type="slidenum">
              <a:rPr lang="en-US" altLang="en-US">
                <a:latin typeface="Times New Roman" panose="02020603050405020304" pitchFamily="18" charset="0"/>
              </a:rPr>
              <a:pPr fontAlgn="base">
                <a:spcBef>
                  <a:spcPct val="0"/>
                </a:spcBef>
                <a:spcAft>
                  <a:spcPct val="0"/>
                </a:spcAft>
              </a:pPr>
              <a:t>23</a:t>
            </a:fld>
            <a:endParaRPr lang="en-US" altLang="en-US">
              <a:latin typeface="Times New Roman" panose="02020603050405020304" pitchFamily="18" charset="0"/>
            </a:endParaRPr>
          </a:p>
        </p:txBody>
      </p:sp>
    </p:spTree>
    <p:extLst>
      <p:ext uri="{BB962C8B-B14F-4D97-AF65-F5344CB8AC3E}">
        <p14:creationId xmlns:p14="http://schemas.microsoft.com/office/powerpoint/2010/main" val="4642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3379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1007728-26A6-454A-86C1-ED0BAFF00258}" type="slidenum">
              <a:rPr lang="en-US" altLang="en-US">
                <a:latin typeface="Times New Roman" panose="02020603050405020304" pitchFamily="18" charset="0"/>
              </a:rPr>
              <a:pPr fontAlgn="base">
                <a:spcBef>
                  <a:spcPct val="0"/>
                </a:spcBef>
                <a:spcAft>
                  <a:spcPct val="0"/>
                </a:spcAft>
              </a:pPr>
              <a:t>25</a:t>
            </a:fld>
            <a:endParaRPr lang="en-US" altLang="en-US">
              <a:latin typeface="Times New Roman" panose="02020603050405020304" pitchFamily="18" charset="0"/>
            </a:endParaRPr>
          </a:p>
        </p:txBody>
      </p:sp>
    </p:spTree>
    <p:extLst>
      <p:ext uri="{BB962C8B-B14F-4D97-AF65-F5344CB8AC3E}">
        <p14:creationId xmlns:p14="http://schemas.microsoft.com/office/powerpoint/2010/main" val="974174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358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4AF87F0-9EAE-4E8D-A72D-DCF86439B991}" type="slidenum">
              <a:rPr lang="en-US" altLang="en-US">
                <a:latin typeface="Times New Roman" panose="02020603050405020304" pitchFamily="18" charset="0"/>
              </a:rPr>
              <a:pPr fontAlgn="base">
                <a:spcBef>
                  <a:spcPct val="0"/>
                </a:spcBef>
                <a:spcAft>
                  <a:spcPct val="0"/>
                </a:spcAft>
              </a:pPr>
              <a:t>26</a:t>
            </a:fld>
            <a:endParaRPr lang="en-US" altLang="en-US">
              <a:latin typeface="Times New Roman" panose="02020603050405020304" pitchFamily="18" charset="0"/>
            </a:endParaRPr>
          </a:p>
        </p:txBody>
      </p:sp>
    </p:spTree>
    <p:extLst>
      <p:ext uri="{BB962C8B-B14F-4D97-AF65-F5344CB8AC3E}">
        <p14:creationId xmlns:p14="http://schemas.microsoft.com/office/powerpoint/2010/main" val="4942965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389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CA6ED406-24EE-4554-AEFA-E34A38296FC4}" type="slidenum">
              <a:rPr lang="en-US" altLang="en-US">
                <a:latin typeface="Times New Roman" panose="02020603050405020304" pitchFamily="18" charset="0"/>
              </a:rPr>
              <a:pPr fontAlgn="base">
                <a:spcBef>
                  <a:spcPct val="0"/>
                </a:spcBef>
                <a:spcAft>
                  <a:spcPct val="0"/>
                </a:spcAft>
              </a:pPr>
              <a:t>28</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67575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4096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3D4CFC2-AC80-499F-818B-EB633C1BFA7D}" type="slidenum">
              <a:rPr lang="en-US" altLang="en-US">
                <a:latin typeface="Times New Roman" panose="02020603050405020304" pitchFamily="18" charset="0"/>
              </a:rPr>
              <a:pPr fontAlgn="base">
                <a:spcBef>
                  <a:spcPct val="0"/>
                </a:spcBef>
                <a:spcAft>
                  <a:spcPct val="0"/>
                </a:spcAft>
              </a:pPr>
              <a:t>29</a:t>
            </a:fld>
            <a:endParaRPr lang="en-US" altLang="en-US">
              <a:latin typeface="Times New Roman" panose="02020603050405020304" pitchFamily="18" charset="0"/>
            </a:endParaRPr>
          </a:p>
        </p:txBody>
      </p:sp>
    </p:spTree>
    <p:extLst>
      <p:ext uri="{BB962C8B-B14F-4D97-AF65-F5344CB8AC3E}">
        <p14:creationId xmlns:p14="http://schemas.microsoft.com/office/powerpoint/2010/main" val="5890153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6B732BB-8220-4A91-9B1D-66E92AD439BC}" type="slidenum">
              <a:rPr lang="en-US" altLang="en-US">
                <a:latin typeface="Arial" panose="020B0604020202020204" pitchFamily="34" charset="0"/>
              </a:rPr>
              <a:pPr fontAlgn="base">
                <a:spcBef>
                  <a:spcPct val="0"/>
                </a:spcBef>
                <a:spcAft>
                  <a:spcPct val="0"/>
                </a:spcAft>
              </a:pPr>
              <a:t>30</a:t>
            </a:fld>
            <a:endParaRPr lang="en-US" altLang="en-US">
              <a:latin typeface="Arial" panose="020B060402020202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We say we feel "burned out," stressed out, overwhelmed, angry, irritable, depressed, anxious, and on the verge of "losing it."</a:t>
            </a:r>
          </a:p>
        </p:txBody>
      </p:sp>
    </p:spTree>
    <p:extLst>
      <p:ext uri="{BB962C8B-B14F-4D97-AF65-F5344CB8AC3E}">
        <p14:creationId xmlns:p14="http://schemas.microsoft.com/office/powerpoint/2010/main" val="16897235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EA4A6C7-6637-487C-8839-BC37128709DB}" type="slidenum">
              <a:rPr lang="en-US" altLang="en-US">
                <a:latin typeface="Arial" panose="020B0604020202020204" pitchFamily="34" charset="0"/>
              </a:rPr>
              <a:pPr fontAlgn="base">
                <a:spcBef>
                  <a:spcPct val="0"/>
                </a:spcBef>
                <a:spcAft>
                  <a:spcPct val="0"/>
                </a:spcAft>
              </a:pPr>
              <a:t>31</a:t>
            </a:fld>
            <a:endParaRPr lang="en-US" altLang="en-US">
              <a:latin typeface="Arial" panose="020B0604020202020204" pitchFamily="34"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p:spPr>
        <p:txBody>
          <a:bodyPr/>
          <a:lstStyle/>
          <a:p>
            <a:pPr eaLnBrk="1" hangingPunct="1"/>
            <a:r>
              <a:rPr lang="en-US" altLang="en-US" sz="1400">
                <a:latin typeface="Arial" panose="020B0604020202020204" pitchFamily="34" charset="0"/>
              </a:rPr>
              <a:t>In the days of the cavemen, the fight or flight response was key to their survival. When faced with a threatening tiger, for instance, a caveman had two main choices. He could fight the tiger or he could run away. Either way, his body had to prepare quickly to respond. The caveman's heart began to race, his breathing rate increased, his pupils dilated, his muscles became tense, and his mind processed information rapidly. This natural response to danger helped the cavemen to protect himself and to survive.</a:t>
            </a:r>
          </a:p>
        </p:txBody>
      </p:sp>
    </p:spTree>
    <p:extLst>
      <p:ext uri="{BB962C8B-B14F-4D97-AF65-F5344CB8AC3E}">
        <p14:creationId xmlns:p14="http://schemas.microsoft.com/office/powerpoint/2010/main" val="314372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57ACD4D-D7D1-43F4-92C0-64F3A5C35314}" type="slidenum">
              <a:rPr lang="en-US" altLang="en-US">
                <a:latin typeface="Arial" panose="020B0604020202020204" pitchFamily="34" charset="0"/>
              </a:rPr>
              <a:pPr fontAlgn="base">
                <a:spcBef>
                  <a:spcPct val="0"/>
                </a:spcBef>
                <a:spcAft>
                  <a:spcPct val="0"/>
                </a:spcAft>
              </a:pPr>
              <a:t>34</a:t>
            </a:fld>
            <a:endParaRPr lang="en-US" altLang="en-US">
              <a:latin typeface="Arial" panose="020B0604020202020204" pitchFamily="34"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This may not be a life and death situation, but many of us perceive this situation as somewhat threatening.</a:t>
            </a:r>
          </a:p>
          <a:p>
            <a:pPr eaLnBrk="1" hangingPunct="1"/>
            <a:r>
              <a:rPr lang="en-US" altLang="en-US" b="1">
                <a:latin typeface="Arial" panose="020B0604020202020204" pitchFamily="34" charset="0"/>
              </a:rPr>
              <a:t>Physically</a:t>
            </a:r>
            <a:r>
              <a:rPr lang="en-US" altLang="en-US">
                <a:latin typeface="Arial" panose="020B0604020202020204" pitchFamily="34" charset="0"/>
              </a:rPr>
              <a:t>, your heart might race, your hands become clammy or sweaty, you shake, your breathing becomes rapid and shallow, your jaw tightens, and you might become light-headed.</a:t>
            </a:r>
            <a:r>
              <a:rPr lang="en-US" altLang="en-US" b="1">
                <a:latin typeface="Arial" panose="020B0604020202020204" pitchFamily="34" charset="0"/>
              </a:rPr>
              <a:t>Behaviorally</a:t>
            </a:r>
            <a:r>
              <a:rPr lang="en-US" altLang="en-US">
                <a:latin typeface="Arial" panose="020B0604020202020204" pitchFamily="34" charset="0"/>
              </a:rPr>
              <a:t>, you might stutter, look down, or avoid eye contact with the audience.</a:t>
            </a:r>
            <a:r>
              <a:rPr lang="en-US" altLang="en-US" b="1">
                <a:latin typeface="Arial" panose="020B0604020202020204" pitchFamily="34" charset="0"/>
              </a:rPr>
              <a:t>Cognitively</a:t>
            </a:r>
            <a:r>
              <a:rPr lang="en-US" altLang="en-US">
                <a:latin typeface="Arial" panose="020B0604020202020204" pitchFamily="34" charset="0"/>
              </a:rPr>
              <a:t> or mentally, your mind may go blank, or alternatively your thoughts might race wildly. You might have thoughts about making a mistake or looking ridiculous in front of your peers.</a:t>
            </a:r>
            <a:r>
              <a:rPr lang="en-US" altLang="en-US" b="1">
                <a:latin typeface="Arial" panose="020B0604020202020204" pitchFamily="34" charset="0"/>
              </a:rPr>
              <a:t>Emotionally</a:t>
            </a:r>
            <a:r>
              <a:rPr lang="en-US" altLang="en-US">
                <a:latin typeface="Arial" panose="020B0604020202020204" pitchFamily="34" charset="0"/>
              </a:rPr>
              <a:t>, you might feel very anxious or fearful.</a:t>
            </a:r>
          </a:p>
        </p:txBody>
      </p:sp>
    </p:spTree>
    <p:extLst>
      <p:ext uri="{BB962C8B-B14F-4D97-AF65-F5344CB8AC3E}">
        <p14:creationId xmlns:p14="http://schemas.microsoft.com/office/powerpoint/2010/main" val="3519440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C2F7E65-D503-4D81-82AF-5B82A3CB8C1E}" type="slidenum">
              <a:rPr lang="en-US" altLang="en-US">
                <a:latin typeface="Arial" panose="020B0604020202020204" pitchFamily="34" charset="0"/>
              </a:rPr>
              <a:pPr fontAlgn="base">
                <a:spcBef>
                  <a:spcPct val="0"/>
                </a:spcBef>
                <a:spcAft>
                  <a:spcPct val="0"/>
                </a:spcAft>
              </a:pPr>
              <a:t>36</a:t>
            </a:fld>
            <a:endParaRPr lang="en-US" altLang="en-US">
              <a:latin typeface="Arial" panose="020B0604020202020204" pitchFamily="3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lnSpc>
                <a:spcPct val="90000"/>
              </a:lnSpc>
            </a:pPr>
            <a:r>
              <a:rPr lang="en-US" altLang="en-US" b="1">
                <a:latin typeface="Arial" panose="020B0604020202020204" pitchFamily="34" charset="0"/>
              </a:rPr>
              <a:t>Our Perceptions = How Stressed We Feel</a:t>
            </a:r>
            <a:endParaRPr lang="en-US" altLang="en-US">
              <a:latin typeface="Arial" panose="020B0604020202020204" pitchFamily="34" charset="0"/>
            </a:endParaRPr>
          </a:p>
          <a:p>
            <a:pPr eaLnBrk="1" hangingPunct="1">
              <a:lnSpc>
                <a:spcPct val="90000"/>
              </a:lnSpc>
            </a:pPr>
            <a:r>
              <a:rPr lang="en-US" altLang="en-US">
                <a:latin typeface="Arial" panose="020B0604020202020204" pitchFamily="34" charset="0"/>
              </a:rPr>
              <a:t>We often identify specific events, people, or situations that seem to make us feel stressed. It's as if these things automatically cause us feel stressed out. In reality, it's how we perceive an event, the meaning we give to it, that leads us to feel stressed or not stressed about it.</a:t>
            </a:r>
            <a:endParaRPr lang="en-US" altLang="en-US" b="1" i="1">
              <a:latin typeface="Arial" panose="020B0604020202020204" pitchFamily="34" charset="0"/>
            </a:endParaRPr>
          </a:p>
          <a:p>
            <a:pPr eaLnBrk="1" hangingPunct="1">
              <a:lnSpc>
                <a:spcPct val="90000"/>
              </a:lnSpc>
            </a:pPr>
            <a:r>
              <a:rPr lang="en-US" altLang="en-US" b="1" i="1">
                <a:latin typeface="Arial" panose="020B0604020202020204" pitchFamily="34" charset="0"/>
              </a:rPr>
              <a:t>The interesting thing about stress is that it begins with our own perceptions of things!</a:t>
            </a:r>
            <a:endParaRPr lang="en-US" altLang="en-US">
              <a:latin typeface="Arial" panose="020B0604020202020204" pitchFamily="34" charset="0"/>
            </a:endParaRPr>
          </a:p>
          <a:p>
            <a:pPr eaLnBrk="1" hangingPunct="1">
              <a:lnSpc>
                <a:spcPct val="90000"/>
              </a:lnSpc>
            </a:pPr>
            <a:r>
              <a:rPr lang="en-US" altLang="en-US">
                <a:latin typeface="Arial" panose="020B0604020202020204" pitchFamily="34" charset="0"/>
              </a:rPr>
              <a:t>Have you ever noticed that some people can feel quite stressed out about a particular event while others don't seem to be bothered by it at all? For instance, if three of your friends all get a poor grade on a test, you might notice some different reactions. One friend may seem mildly annoyed for an hour or so. Another friend doesn't seem to be bothered at all. The third friend, however, might become quite alarmed by this poor grade. She can't get it off her mind, she vows to study three times as hard next time, she can't concentrate on her other work, and she might even find it difficult to fall asleep that evening. She might become increasingly concerned about all the grades she'll make this semester, and wonder whether her GPA will suffer.</a:t>
            </a:r>
          </a:p>
          <a:p>
            <a:pPr eaLnBrk="1" hangingPunct="1">
              <a:lnSpc>
                <a:spcPct val="90000"/>
              </a:lnSpc>
            </a:pPr>
            <a:r>
              <a:rPr lang="en-US" altLang="en-US">
                <a:latin typeface="Arial" panose="020B0604020202020204" pitchFamily="34" charset="0"/>
              </a:rPr>
              <a:t>In a case such as this, a poor grade on a test </a:t>
            </a:r>
            <a:r>
              <a:rPr lang="en-US" altLang="en-US" i="1">
                <a:latin typeface="Arial" panose="020B0604020202020204" pitchFamily="34" charset="0"/>
              </a:rPr>
              <a:t>means</a:t>
            </a:r>
            <a:r>
              <a:rPr lang="en-US" altLang="en-US">
                <a:latin typeface="Arial" panose="020B0604020202020204" pitchFamily="34" charset="0"/>
              </a:rPr>
              <a:t> something different for each of your friends. The same situation has happened to all three, but each person feels more or less stressed about it because of what it means to him or her. </a:t>
            </a:r>
          </a:p>
        </p:txBody>
      </p:sp>
    </p:spTree>
    <p:extLst>
      <p:ext uri="{BB962C8B-B14F-4D97-AF65-F5344CB8AC3E}">
        <p14:creationId xmlns:p14="http://schemas.microsoft.com/office/powerpoint/2010/main" val="15671887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0328841-18A6-4751-ADBE-2EABF9B78EA7}" type="slidenum">
              <a:rPr lang="en-US" altLang="en-US">
                <a:latin typeface="Arial" panose="020B0604020202020204" pitchFamily="34" charset="0"/>
              </a:rPr>
              <a:pPr fontAlgn="base">
                <a:spcBef>
                  <a:spcPct val="0"/>
                </a:spcBef>
                <a:spcAft>
                  <a:spcPct val="0"/>
                </a:spcAft>
              </a:pPr>
              <a:t>37</a:t>
            </a:fld>
            <a:endParaRPr lang="en-US" altLang="en-US">
              <a:latin typeface="Arial" panose="020B0604020202020204"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1993752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1B3ABD0-9364-47BE-AC5A-3BBDC7F504F7}" type="slidenum">
              <a:rPr lang="en-US" altLang="en-US">
                <a:latin typeface="Arial" panose="020B0604020202020204" pitchFamily="34" charset="0"/>
              </a:rPr>
              <a:pPr fontAlgn="base">
                <a:spcBef>
                  <a:spcPct val="0"/>
                </a:spcBef>
                <a:spcAft>
                  <a:spcPct val="0"/>
                </a:spcAft>
              </a:pPr>
              <a:t>38</a:t>
            </a:fld>
            <a:endParaRPr lang="en-US" altLang="en-US">
              <a:latin typeface="Arial" panose="020B060402020202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Speak to friends, family, a teacher, a minister, or a counselor. Sometimes we just need to "vent" or get something "off our chest." Expressing our feelings can be relieving, we can feel supported by others, and it can help us work out our problems.</a:t>
            </a:r>
          </a:p>
        </p:txBody>
      </p:sp>
    </p:spTree>
    <p:extLst>
      <p:ext uri="{BB962C8B-B14F-4D97-AF65-F5344CB8AC3E}">
        <p14:creationId xmlns:p14="http://schemas.microsoft.com/office/powerpoint/2010/main" val="1801821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6442BAA-8286-4280-92A8-620626A37F69}" type="slidenum">
              <a:rPr lang="en-US" altLang="en-US">
                <a:latin typeface="Arial" panose="020B0604020202020204" pitchFamily="34" charset="0"/>
              </a:rPr>
              <a:pPr fontAlgn="base">
                <a:spcBef>
                  <a:spcPct val="0"/>
                </a:spcBef>
                <a:spcAft>
                  <a:spcPct val="0"/>
                </a:spcAft>
              </a:pPr>
              <a:t>39</a:t>
            </a:fld>
            <a:endParaRPr lang="en-US" altLang="en-US">
              <a:latin typeface="Arial" panose="020B0604020202020204" pitchFamily="3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Talk to yourself positively. Remember, "I can handle it, " "this will be over soon," or "I have handled difficult things before, and I can do it again." Also, practice acceptance. We need to learn to accept things we cannot change without trying to exert more control over them.</a:t>
            </a:r>
          </a:p>
        </p:txBody>
      </p:sp>
    </p:spTree>
    <p:extLst>
      <p:ext uri="{BB962C8B-B14F-4D97-AF65-F5344CB8AC3E}">
        <p14:creationId xmlns:p14="http://schemas.microsoft.com/office/powerpoint/2010/main" val="7261000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F4103BA-2649-425F-974B-A373BB6D4C89}" type="slidenum">
              <a:rPr lang="en-US" altLang="en-US">
                <a:latin typeface="Arial" panose="020B0604020202020204" pitchFamily="34" charset="0"/>
              </a:rPr>
              <a:pPr fontAlgn="base">
                <a:spcBef>
                  <a:spcPct val="0"/>
                </a:spcBef>
                <a:spcAft>
                  <a:spcPct val="0"/>
                </a:spcAft>
              </a:pPr>
              <a:t>40</a:t>
            </a:fld>
            <a:endParaRPr lang="en-US" altLang="en-US">
              <a:latin typeface="Arial" panose="020B060402020202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Setting our expectations or goals high may seem like a useful way to push ourselves and get things done, but we may also set ourselves up for disappointment and continued stress. Find the courage to recognize your limits</a:t>
            </a:r>
          </a:p>
        </p:txBody>
      </p:sp>
    </p:spTree>
    <p:extLst>
      <p:ext uri="{BB962C8B-B14F-4D97-AF65-F5344CB8AC3E}">
        <p14:creationId xmlns:p14="http://schemas.microsoft.com/office/powerpoint/2010/main" val="5370294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4C6243D-5D06-4B5B-8FE0-C42B13DBE468}" type="slidenum">
              <a:rPr lang="en-US" altLang="en-US">
                <a:latin typeface="Arial" panose="020B0604020202020204" pitchFamily="34" charset="0"/>
              </a:rPr>
              <a:pPr fontAlgn="base">
                <a:spcBef>
                  <a:spcPct val="0"/>
                </a:spcBef>
                <a:spcAft>
                  <a:spcPct val="0"/>
                </a:spcAft>
              </a:pPr>
              <a:t>41</a:t>
            </a:fld>
            <a:endParaRPr lang="en-US" altLang="en-US">
              <a:latin typeface="Arial" panose="020B060402020202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Do this regularly until it becomes a productive habit. Take responsibility for your life. Be proactive. Problem solve and look for solutions rather than worry. </a:t>
            </a:r>
          </a:p>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7716502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7C33C57-3EB5-4D6B-9BD9-3C5180E99FBD}" type="slidenum">
              <a:rPr lang="en-US" altLang="en-US">
                <a:latin typeface="Arial" panose="020B0604020202020204" pitchFamily="34" charset="0"/>
              </a:rPr>
              <a:pPr fontAlgn="base">
                <a:spcBef>
                  <a:spcPct val="0"/>
                </a:spcBef>
                <a:spcAft>
                  <a:spcPct val="0"/>
                </a:spcAft>
              </a:pPr>
              <a:t>42</a:t>
            </a:fld>
            <a:endParaRPr lang="en-US" altLang="en-US">
              <a:latin typeface="Arial" panose="020B060402020202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You might purposely schedule time in your day planner just for yourself so that you can recharge for all the other things you need to do. Learn your "red flags" for stress, and be willing to take time to do something about it.</a:t>
            </a:r>
          </a:p>
        </p:txBody>
      </p:sp>
    </p:spTree>
    <p:extLst>
      <p:ext uri="{BB962C8B-B14F-4D97-AF65-F5344CB8AC3E}">
        <p14:creationId xmlns:p14="http://schemas.microsoft.com/office/powerpoint/2010/main" val="37802529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B9A6AAB-FF27-4A02-B283-F0124C90F44E}" type="slidenum">
              <a:rPr lang="en-US" altLang="en-US">
                <a:latin typeface="Arial" panose="020B0604020202020204" pitchFamily="34" charset="0"/>
              </a:rPr>
              <a:pPr fontAlgn="base">
                <a:spcBef>
                  <a:spcPct val="0"/>
                </a:spcBef>
                <a:spcAft>
                  <a:spcPct val="0"/>
                </a:spcAft>
              </a:pPr>
              <a:t>43</a:t>
            </a:fld>
            <a:endParaRPr lang="en-US" altLang="en-US">
              <a:latin typeface="Arial" panose="020B0604020202020204"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When we feel overwhelmed we tend to eat poorly, sleep less, stop exercising, and generally push ourselves harder. This can tax the immune system and cause us to become ill more easily. If we take good care of ourselves to begin with, we will be better prepared to manage stress and accomplish our tasks in the long run.</a:t>
            </a:r>
          </a:p>
        </p:txBody>
      </p:sp>
    </p:spTree>
    <p:extLst>
      <p:ext uri="{BB962C8B-B14F-4D97-AF65-F5344CB8AC3E}">
        <p14:creationId xmlns:p14="http://schemas.microsoft.com/office/powerpoint/2010/main" val="3476765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9E93680-CBB2-4DB5-9912-395894213E78}" type="slidenum">
              <a:rPr lang="en-US" altLang="en-US">
                <a:latin typeface="Arial" panose="020B0604020202020204" pitchFamily="34" charset="0"/>
              </a:rPr>
              <a:pPr fontAlgn="base">
                <a:spcBef>
                  <a:spcPct val="0"/>
                </a:spcBef>
                <a:spcAft>
                  <a:spcPct val="0"/>
                </a:spcAft>
              </a:pPr>
              <a:t>44</a:t>
            </a:fld>
            <a:endParaRPr lang="en-US" altLang="en-US">
              <a:latin typeface="Arial" panose="020B060402020202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It is okay to decline a request for a favor. Saying "no" does not mean you are bad, self-centered, or uncaring. Learn skills of assertiveness so that you can feel more confident and have effective ways of saying "no."</a:t>
            </a:r>
          </a:p>
        </p:txBody>
      </p:sp>
    </p:spTree>
    <p:extLst>
      <p:ext uri="{BB962C8B-B14F-4D97-AF65-F5344CB8AC3E}">
        <p14:creationId xmlns:p14="http://schemas.microsoft.com/office/powerpoint/2010/main" val="3003717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69A16FE-51D7-4C17-9B94-5CE5509989E9}" type="slidenum">
              <a:rPr lang="en-US" altLang="en-US">
                <a:latin typeface="Arial" panose="020B0604020202020204" pitchFamily="34" charset="0"/>
              </a:rPr>
              <a:pPr fontAlgn="base">
                <a:spcBef>
                  <a:spcPct val="0"/>
                </a:spcBef>
                <a:spcAft>
                  <a:spcPct val="0"/>
                </a:spcAft>
              </a:pPr>
              <a:t>45</a:t>
            </a:fld>
            <a:endParaRPr lang="en-US" altLang="en-US">
              <a:latin typeface="Arial" panose="020B0604020202020204"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pPr lvl="1" eaLnBrk="1" hangingPunct="1"/>
            <a:r>
              <a:rPr lang="en-US" altLang="en-US">
                <a:latin typeface="Arial" panose="020B0604020202020204" pitchFamily="34" charset="0"/>
              </a:rPr>
              <a:t>Exercise can build confidence, self-esteem, and self-image.</a:t>
            </a:r>
          </a:p>
          <a:p>
            <a:pPr lvl="1" eaLnBrk="1" hangingPunct="1"/>
            <a:r>
              <a:rPr lang="en-US" altLang="en-US">
                <a:latin typeface="Arial" panose="020B0604020202020204" pitchFamily="34" charset="0"/>
              </a:rPr>
              <a:t>It is also a great way to take time for yourself, blow off steam, and release physical tension. </a:t>
            </a:r>
          </a:p>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5219641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F619175-24B5-4247-9654-3AA08D65B993}" type="slidenum">
              <a:rPr lang="en-US" altLang="en-US">
                <a:latin typeface="Arial" panose="020B0604020202020204" pitchFamily="34" charset="0"/>
              </a:rPr>
              <a:pPr fontAlgn="base">
                <a:spcBef>
                  <a:spcPct val="0"/>
                </a:spcBef>
                <a:spcAft>
                  <a:spcPct val="0"/>
                </a:spcAft>
              </a:pPr>
              <a:t>46</a:t>
            </a:fld>
            <a:endParaRPr lang="en-US" altLang="en-US">
              <a:latin typeface="Arial" panose="020B060402020202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Leisure activities and hobbies can be very enjoyable and inspiring, and they can offer an added sense of accomplishment to our lives. For ideas on new hobbies, browse through a bookstore or a crafts store, surf the internet, look up local organizations, see what classes or courses are available in your community or from a nearby college or university. Don't quickly dismiss new opportunities. </a:t>
            </a:r>
          </a:p>
        </p:txBody>
      </p:sp>
    </p:spTree>
    <p:extLst>
      <p:ext uri="{BB962C8B-B14F-4D97-AF65-F5344CB8AC3E}">
        <p14:creationId xmlns:p14="http://schemas.microsoft.com/office/powerpoint/2010/main" val="8609647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F8C7446-E749-491E-83AF-599E2C95218A}" type="slidenum">
              <a:rPr lang="en-US" altLang="en-US">
                <a:latin typeface="Arial" panose="020B0604020202020204" pitchFamily="34" charset="0"/>
              </a:rPr>
              <a:pPr fontAlgn="base">
                <a:spcBef>
                  <a:spcPct val="0"/>
                </a:spcBef>
                <a:spcAft>
                  <a:spcPct val="0"/>
                </a:spcAft>
              </a:pPr>
              <a:t>49</a:t>
            </a:fld>
            <a:endParaRPr lang="en-US" altLang="en-US">
              <a:latin typeface="Arial" panose="020B0604020202020204"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Relaxation techniques are skills that need to be developed with patience and practice so that we can use them effectively during difficult times of stress later on.</a:t>
            </a:r>
          </a:p>
        </p:txBody>
      </p:sp>
    </p:spTree>
    <p:extLst>
      <p:ext uri="{BB962C8B-B14F-4D97-AF65-F5344CB8AC3E}">
        <p14:creationId xmlns:p14="http://schemas.microsoft.com/office/powerpoint/2010/main" val="29600828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F27A561-F97B-4F4F-B0E5-449E07E44102}" type="slidenum">
              <a:rPr lang="en-US" altLang="en-US">
                <a:latin typeface="Arial" panose="020B0604020202020204" pitchFamily="34" charset="0"/>
              </a:rPr>
              <a:pPr fontAlgn="base">
                <a:spcBef>
                  <a:spcPct val="0"/>
                </a:spcBef>
                <a:spcAft>
                  <a:spcPct val="0"/>
                </a:spcAft>
              </a:pPr>
              <a:t>50</a:t>
            </a:fld>
            <a:endParaRPr lang="en-US" altLang="en-US">
              <a:latin typeface="Arial" panose="020B0604020202020204"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When we feel stressed, it is common for our rate of breathing to increase. We also tend to breath in a shallow manner, more highly in our chest. A deep breathing exercise allows us to take fuller, slower breaths that reflect a true relaxed state</a:t>
            </a:r>
          </a:p>
          <a:p>
            <a:pPr eaLnBrk="1" hangingPunct="1"/>
            <a:r>
              <a:rPr lang="en-US" altLang="en-US">
                <a:latin typeface="Arial" panose="020B0604020202020204" pitchFamily="34" charset="0"/>
              </a:rPr>
              <a:t>It involves using imagery to fully immerse ourselves in a pleasant scene, noticing the sights, sounds, smells, and tactile sensations.</a:t>
            </a:r>
          </a:p>
        </p:txBody>
      </p:sp>
    </p:spTree>
    <p:extLst>
      <p:ext uri="{BB962C8B-B14F-4D97-AF65-F5344CB8AC3E}">
        <p14:creationId xmlns:p14="http://schemas.microsoft.com/office/powerpoint/2010/main" val="4039166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p:spPr>
        <p:txBody>
          <a:bodyPr anchor="b">
            <a:normAutofit/>
          </a:bodyPr>
          <a:lstStyle>
            <a:lvl1pPr>
              <a:defRPr sz="4050"/>
            </a:lvl1pPr>
          </a:lstStyle>
          <a:p>
            <a:r>
              <a:rPr lang="en-US"/>
              <a:t>Click to edit Master title style</a:t>
            </a:r>
            <a:endParaRPr lang="en-US" dirty="0"/>
          </a:p>
        </p:txBody>
      </p:sp>
      <p:sp>
        <p:nvSpPr>
          <p:cNvPr id="3" name="Subtitle 2"/>
          <p:cNvSpPr>
            <a:spLocks noGrp="1"/>
          </p:cNvSpPr>
          <p:nvPr>
            <p:ph type="subTitle" idx="1"/>
          </p:nvPr>
        </p:nvSpPr>
        <p:spPr>
          <a:xfrm>
            <a:off x="1941910" y="4777380"/>
            <a:ext cx="6686549" cy="1126283"/>
          </a:xfr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0DAE7E-7A05-49D3-B4CD-914227AE6E67}" type="datetime1">
              <a:rPr lang="en-US" smtClean="0"/>
              <a:t>5/31/2022</a:t>
            </a:fld>
            <a:endParaRPr lang="en-US"/>
          </a:p>
        </p:txBody>
      </p:sp>
      <p:sp>
        <p:nvSpPr>
          <p:cNvPr id="5" name="Footer Placeholder 4"/>
          <p:cNvSpPr>
            <a:spLocks noGrp="1"/>
          </p:cNvSpPr>
          <p:nvPr>
            <p:ph type="ftr" sz="quarter" idx="11"/>
          </p:nvPr>
        </p:nvSpPr>
        <p:spPr/>
        <p:txBody>
          <a:bodyPr/>
          <a:lstStyle/>
          <a:p>
            <a:r>
              <a:rPr lang="en-US"/>
              <a:t>AEC26-RIT</a:t>
            </a:r>
          </a:p>
        </p:txBody>
      </p:sp>
      <p:sp>
        <p:nvSpPr>
          <p:cNvPr id="7" name="Freeform 6"/>
          <p:cNvSpPr/>
          <p:nvPr/>
        </p:nvSpPr>
        <p:spPr bwMode="auto">
          <a:xfrm>
            <a:off x="0" y="4323811"/>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398860" y="4529541"/>
            <a:ext cx="584825"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05641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4694" y="624110"/>
            <a:ext cx="6683765"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1909" y="2133600"/>
            <a:ext cx="668655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ACF861-7FAF-496D-AD06-18E752E8B2E6}" type="datetime1">
              <a:rPr lang="en-US" smtClean="0"/>
              <a:t>5/31/2022</a:t>
            </a:fld>
            <a:endParaRPr lang="en-US"/>
          </a:p>
        </p:txBody>
      </p:sp>
      <p:sp>
        <p:nvSpPr>
          <p:cNvPr id="5" name="Footer Placeholder 4"/>
          <p:cNvSpPr>
            <a:spLocks noGrp="1"/>
          </p:cNvSpPr>
          <p:nvPr>
            <p:ph type="ftr" sz="quarter" idx="11"/>
          </p:nvPr>
        </p:nvSpPr>
        <p:spPr/>
        <p:txBody>
          <a:bodyPr/>
          <a:lstStyle/>
          <a:p>
            <a:r>
              <a:rPr lang="en-US"/>
              <a:t>AEC26-RIT</a:t>
            </a:r>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611773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1910" y="2058750"/>
            <a:ext cx="6686549" cy="1468800"/>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3530129"/>
            <a:ext cx="6686549" cy="860400"/>
          </a:xfrm>
        </p:spPr>
        <p:txBody>
          <a:bodyPr anchor="t"/>
          <a:lstStyle>
            <a:lvl1pPr marL="0" indent="0" algn="l">
              <a:buNone/>
              <a:defRPr sz="150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B626F5-57B6-4000-A747-5F9EA4A2B5B4}" type="datetime1">
              <a:rPr lang="en-US" smtClean="0"/>
              <a:t>5/31/2022</a:t>
            </a:fld>
            <a:endParaRPr lang="en-US"/>
          </a:p>
        </p:txBody>
      </p:sp>
      <p:sp>
        <p:nvSpPr>
          <p:cNvPr id="5" name="Footer Placeholder 4"/>
          <p:cNvSpPr>
            <a:spLocks noGrp="1"/>
          </p:cNvSpPr>
          <p:nvPr>
            <p:ph type="ftr" sz="quarter" idx="11"/>
          </p:nvPr>
        </p:nvSpPr>
        <p:spPr/>
        <p:txBody>
          <a:bodyPr/>
          <a:lstStyle/>
          <a:p>
            <a:r>
              <a:rPr lang="en-US"/>
              <a:t>AEC26-RIT</a:t>
            </a:r>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959289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1909" y="2133600"/>
            <a:ext cx="3235398"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93060" y="2126222"/>
            <a:ext cx="3235398"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536A53-3BDE-4E6E-9134-5C29827A3EBC}" type="datetime1">
              <a:rPr lang="en-US" smtClean="0"/>
              <a:t>5/31/2022</a:t>
            </a:fld>
            <a:endParaRPr lang="en-US"/>
          </a:p>
        </p:txBody>
      </p:sp>
      <p:sp>
        <p:nvSpPr>
          <p:cNvPr id="6" name="Footer Placeholder 5"/>
          <p:cNvSpPr>
            <a:spLocks noGrp="1"/>
          </p:cNvSpPr>
          <p:nvPr>
            <p:ph type="ftr" sz="quarter" idx="11"/>
          </p:nvPr>
        </p:nvSpPr>
        <p:spPr/>
        <p:txBody>
          <a:bodyPr/>
          <a:lstStyle/>
          <a:p>
            <a:r>
              <a:rPr lang="en-US"/>
              <a:t>AEC26-RIT</a:t>
            </a:r>
          </a:p>
        </p:txBody>
      </p:sp>
      <p:sp>
        <p:nvSpPr>
          <p:cNvPr id="10"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398860" y="787783"/>
            <a:ext cx="584825"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162217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04530" y="1972703"/>
            <a:ext cx="2994549"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941909" y="2548966"/>
            <a:ext cx="3257170"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29972" y="1969475"/>
            <a:ext cx="2999251"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375218" y="2545738"/>
            <a:ext cx="3254006"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FE7272-89CF-43D6-86EF-A66FF8049FC5}" type="datetime1">
              <a:rPr lang="en-US" smtClean="0"/>
              <a:t>5/31/2022</a:t>
            </a:fld>
            <a:endParaRPr lang="en-US"/>
          </a:p>
        </p:txBody>
      </p:sp>
      <p:sp>
        <p:nvSpPr>
          <p:cNvPr id="8" name="Footer Placeholder 7"/>
          <p:cNvSpPr>
            <a:spLocks noGrp="1"/>
          </p:cNvSpPr>
          <p:nvPr>
            <p:ph type="ftr" sz="quarter" idx="11"/>
          </p:nvPr>
        </p:nvSpPr>
        <p:spPr/>
        <p:txBody>
          <a:bodyPr/>
          <a:lstStyle/>
          <a:p>
            <a:r>
              <a:rPr lang="en-US"/>
              <a:t>AEC26-RIT</a:t>
            </a:r>
          </a:p>
        </p:txBody>
      </p:sp>
      <p:sp>
        <p:nvSpPr>
          <p:cNvPr id="12"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787783"/>
            <a:ext cx="584825"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456044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D764C9-1812-4BAC-AAAA-33838195A336}" type="datetime1">
              <a:rPr lang="en-US" smtClean="0"/>
              <a:t>5/31/2022</a:t>
            </a:fld>
            <a:endParaRPr lang="en-US"/>
          </a:p>
        </p:txBody>
      </p:sp>
      <p:sp>
        <p:nvSpPr>
          <p:cNvPr id="4" name="Footer Placeholder 3"/>
          <p:cNvSpPr>
            <a:spLocks noGrp="1"/>
          </p:cNvSpPr>
          <p:nvPr>
            <p:ph type="ftr" sz="quarter" idx="11"/>
          </p:nvPr>
        </p:nvSpPr>
        <p:spPr/>
        <p:txBody>
          <a:bodyPr/>
          <a:lstStyle/>
          <a:p>
            <a:r>
              <a:rPr lang="en-US"/>
              <a:t>AEC26-RIT</a:t>
            </a:r>
          </a:p>
        </p:txBody>
      </p:sp>
      <p:sp>
        <p:nvSpPr>
          <p:cNvPr id="7"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025319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84060-0A32-41E8-9AE2-303EB3F16F21}" type="datetime1">
              <a:rPr lang="en-US" smtClean="0"/>
              <a:t>5/31/2022</a:t>
            </a:fld>
            <a:endParaRPr lang="en-US"/>
          </a:p>
        </p:txBody>
      </p:sp>
      <p:sp>
        <p:nvSpPr>
          <p:cNvPr id="3" name="Footer Placeholder 2"/>
          <p:cNvSpPr>
            <a:spLocks noGrp="1"/>
          </p:cNvSpPr>
          <p:nvPr>
            <p:ph type="ftr" sz="quarter" idx="11"/>
          </p:nvPr>
        </p:nvSpPr>
        <p:spPr/>
        <p:txBody>
          <a:bodyPr/>
          <a:lstStyle/>
          <a:p>
            <a:r>
              <a:rPr lang="en-US"/>
              <a:t>AEC26-RIT</a:t>
            </a:r>
          </a:p>
        </p:txBody>
      </p:sp>
      <p:sp>
        <p:nvSpPr>
          <p:cNvPr id="6"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56142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46088"/>
            <a:ext cx="2628899" cy="976312"/>
          </a:xfrm>
        </p:spPr>
        <p:txBody>
          <a:bodyPr anchor="b"/>
          <a:lstStyle>
            <a:lvl1pPr algn="l">
              <a:defRPr sz="1500" b="0"/>
            </a:lvl1pPr>
          </a:lstStyle>
          <a:p>
            <a:r>
              <a:rPr lang="en-US"/>
              <a:t>Click to edit Master title style</a:t>
            </a:r>
            <a:endParaRPr lang="en-US" dirty="0"/>
          </a:p>
        </p:txBody>
      </p:sp>
      <p:sp>
        <p:nvSpPr>
          <p:cNvPr id="3" name="Content Placeholder 2"/>
          <p:cNvSpPr>
            <a:spLocks noGrp="1"/>
          </p:cNvSpPr>
          <p:nvPr>
            <p:ph idx="1"/>
          </p:nvPr>
        </p:nvSpPr>
        <p:spPr>
          <a:xfrm>
            <a:off x="4742259" y="446089"/>
            <a:ext cx="38862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1910" y="1598613"/>
            <a:ext cx="2628899" cy="4262436"/>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A7763667-1915-4091-A554-38D76ADB0E2C}" type="datetime1">
              <a:rPr lang="en-US" smtClean="0"/>
              <a:t>5/31/2022</a:t>
            </a:fld>
            <a:endParaRPr lang="en-US"/>
          </a:p>
        </p:txBody>
      </p:sp>
      <p:sp>
        <p:nvSpPr>
          <p:cNvPr id="6" name="Footer Placeholder 5"/>
          <p:cNvSpPr>
            <a:spLocks noGrp="1"/>
          </p:cNvSpPr>
          <p:nvPr>
            <p:ph type="ftr" sz="quarter" idx="11"/>
          </p:nvPr>
        </p:nvSpPr>
        <p:spPr/>
        <p:txBody>
          <a:bodyPr/>
          <a:lstStyle/>
          <a:p>
            <a:r>
              <a:rPr lang="en-US"/>
              <a:t>AEC26-RIT</a:t>
            </a:r>
          </a:p>
        </p:txBody>
      </p:sp>
      <p:sp>
        <p:nvSpPr>
          <p:cNvPr id="9"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401167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800600"/>
            <a:ext cx="668655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1909" y="634965"/>
            <a:ext cx="6686550" cy="3854970"/>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1941910" y="5367338"/>
            <a:ext cx="6686550" cy="493712"/>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02B82B9-E60C-4556-BD17-B9C65A33E269}" type="datetime1">
              <a:rPr lang="en-US" smtClean="0"/>
              <a:t>5/31/2022</a:t>
            </a:fld>
            <a:endParaRPr lang="en-US"/>
          </a:p>
        </p:txBody>
      </p:sp>
      <p:sp>
        <p:nvSpPr>
          <p:cNvPr id="6" name="Footer Placeholder 5"/>
          <p:cNvSpPr>
            <a:spLocks noGrp="1"/>
          </p:cNvSpPr>
          <p:nvPr>
            <p:ph type="ftr" sz="quarter" idx="11"/>
          </p:nvPr>
        </p:nvSpPr>
        <p:spPr/>
        <p:txBody>
          <a:bodyPr/>
          <a:lstStyle/>
          <a:p>
            <a:r>
              <a:rPr lang="en-US"/>
              <a:t>AEC26-RIT</a:t>
            </a:r>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633600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609600"/>
            <a:ext cx="6686549" cy="3117040"/>
          </a:xfrm>
        </p:spPr>
        <p:txBody>
          <a:bodyPr anchor="ctr">
            <a:normAutofit/>
          </a:bodyPr>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49B7EA-0172-4DFD-9429-505FD05DE1EE}" type="datetime1">
              <a:rPr lang="en-US" smtClean="0"/>
              <a:t>5/31/2022</a:t>
            </a:fld>
            <a:endParaRPr lang="en-US"/>
          </a:p>
        </p:txBody>
      </p:sp>
      <p:sp>
        <p:nvSpPr>
          <p:cNvPr id="5" name="Footer Placeholder 4"/>
          <p:cNvSpPr>
            <a:spLocks noGrp="1"/>
          </p:cNvSpPr>
          <p:nvPr>
            <p:ph type="ftr" sz="quarter" idx="11"/>
          </p:nvPr>
        </p:nvSpPr>
        <p:spPr/>
        <p:txBody>
          <a:bodyPr/>
          <a:lstStyle/>
          <a:p>
            <a:r>
              <a:rPr lang="en-US"/>
              <a:t>AEC26-RIT</a:t>
            </a:r>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73817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37462" y="609600"/>
            <a:ext cx="6295445" cy="2895600"/>
          </a:xfrm>
        </p:spPr>
        <p:txBody>
          <a:bodyPr anchor="ctr">
            <a:normAutofit/>
          </a:bodyPr>
          <a:lstStyle>
            <a:lvl1pPr algn="l">
              <a:defRPr sz="36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56259" y="3505200"/>
            <a:ext cx="5652416"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7461D7-3948-48F5-96CD-3B7FADD87706}" type="datetime1">
              <a:rPr lang="en-US" smtClean="0"/>
              <a:t>5/31/2022</a:t>
            </a:fld>
            <a:endParaRPr lang="en-US"/>
          </a:p>
        </p:txBody>
      </p:sp>
      <p:sp>
        <p:nvSpPr>
          <p:cNvPr id="5" name="Footer Placeholder 4"/>
          <p:cNvSpPr>
            <a:spLocks noGrp="1"/>
          </p:cNvSpPr>
          <p:nvPr>
            <p:ph type="ftr" sz="quarter" idx="11"/>
          </p:nvPr>
        </p:nvSpPr>
        <p:spPr/>
        <p:txBody>
          <a:bodyPr/>
          <a:lstStyle/>
          <a:p>
            <a:r>
              <a:rPr lang="en-US"/>
              <a:t>AEC26-RIT</a:t>
            </a:r>
          </a:p>
        </p:txBody>
      </p:sp>
      <p:sp>
        <p:nvSpPr>
          <p:cNvPr id="11"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pPr marL="38100">
              <a:lnSpc>
                <a:spcPts val="1240"/>
              </a:lnSpc>
            </a:pPr>
            <a:fld id="{81D60167-4931-47E6-BA6A-407CBD079E47}" type="slidenum">
              <a:rPr lang="en-US" smtClean="0"/>
              <a:t>‹#›</a:t>
            </a:fld>
            <a:endParaRPr lang="en-US" dirty="0"/>
          </a:p>
        </p:txBody>
      </p:sp>
      <p:sp>
        <p:nvSpPr>
          <p:cNvPr id="14" name="TextBox 13"/>
          <p:cNvSpPr txBox="1"/>
          <p:nvPr/>
        </p:nvSpPr>
        <p:spPr>
          <a:xfrm>
            <a:off x="1850739" y="648005"/>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5" name="TextBox 14"/>
          <p:cNvSpPr txBox="1"/>
          <p:nvPr/>
        </p:nvSpPr>
        <p:spPr>
          <a:xfrm>
            <a:off x="8336139" y="2905306"/>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0139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1910" y="2438401"/>
            <a:ext cx="6686550" cy="2724845"/>
          </a:xfrm>
        </p:spPr>
        <p:txBody>
          <a:bodyPr anchor="b">
            <a:normAutofit/>
          </a:bodyPr>
          <a:lstStyle>
            <a:lvl1pPr algn="l">
              <a:defRPr sz="3600" b="0"/>
            </a:lvl1pPr>
          </a:lstStyle>
          <a:p>
            <a:r>
              <a:rPr lang="en-US"/>
              <a:t>Click to edit Master title style</a:t>
            </a:r>
            <a:endParaRPr lang="en-US" dirty="0"/>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BDDCCE9-A0E1-4FE2-8881-503FA0B0ABF1}" type="datetime1">
              <a:rPr lang="en-US" smtClean="0"/>
              <a:t>5/31/2022</a:t>
            </a:fld>
            <a:endParaRPr lang="en-US"/>
          </a:p>
        </p:txBody>
      </p:sp>
      <p:sp>
        <p:nvSpPr>
          <p:cNvPr id="6" name="Footer Placeholder 5"/>
          <p:cNvSpPr>
            <a:spLocks noGrp="1"/>
          </p:cNvSpPr>
          <p:nvPr>
            <p:ph type="ftr" sz="quarter" idx="11"/>
          </p:nvPr>
        </p:nvSpPr>
        <p:spPr/>
        <p:txBody>
          <a:bodyPr/>
          <a:lstStyle/>
          <a:p>
            <a:r>
              <a:rPr lang="en-US"/>
              <a:t>AEC26-RIT</a:t>
            </a:r>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683661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137462" y="609600"/>
            <a:ext cx="6295445" cy="2895600"/>
          </a:xfrm>
        </p:spPr>
        <p:txBody>
          <a:bodyPr anchor="ctr">
            <a:normAutofit/>
          </a:bodyPr>
          <a:lstStyle>
            <a:lvl1pPr algn="l">
              <a:defRPr sz="36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EC95403-0278-45DC-A6B3-D859FE9377AA}" type="datetime1">
              <a:rPr lang="en-US" smtClean="0"/>
              <a:t>5/31/2022</a:t>
            </a:fld>
            <a:endParaRPr lang="en-US"/>
          </a:p>
        </p:txBody>
      </p:sp>
      <p:sp>
        <p:nvSpPr>
          <p:cNvPr id="6" name="Footer Placeholder 5"/>
          <p:cNvSpPr>
            <a:spLocks noGrp="1"/>
          </p:cNvSpPr>
          <p:nvPr>
            <p:ph type="ftr" sz="quarter" idx="11"/>
          </p:nvPr>
        </p:nvSpPr>
        <p:spPr/>
        <p:txBody>
          <a:bodyPr/>
          <a:lstStyle/>
          <a:p>
            <a:r>
              <a:rPr lang="en-US"/>
              <a:t>AEC26-RIT</a:t>
            </a:r>
          </a:p>
        </p:txBody>
      </p:sp>
      <p:sp>
        <p:nvSpPr>
          <p:cNvPr id="11"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pPr marL="38100">
              <a:lnSpc>
                <a:spcPts val="1240"/>
              </a:lnSpc>
            </a:pPr>
            <a:fld id="{81D60167-4931-47E6-BA6A-407CBD079E47}" type="slidenum">
              <a:rPr lang="en-US" smtClean="0"/>
              <a:t>‹#›</a:t>
            </a:fld>
            <a:endParaRPr lang="en-US" dirty="0"/>
          </a:p>
        </p:txBody>
      </p:sp>
      <p:sp>
        <p:nvSpPr>
          <p:cNvPr id="17" name="TextBox 16"/>
          <p:cNvSpPr txBox="1"/>
          <p:nvPr/>
        </p:nvSpPr>
        <p:spPr>
          <a:xfrm>
            <a:off x="1850739" y="648005"/>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8" name="TextBox 17"/>
          <p:cNvSpPr txBox="1"/>
          <p:nvPr/>
        </p:nvSpPr>
        <p:spPr>
          <a:xfrm>
            <a:off x="8336139" y="2905306"/>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25943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1910" y="627407"/>
            <a:ext cx="6686549" cy="2880020"/>
          </a:xfrm>
        </p:spPr>
        <p:txBody>
          <a:bodyPr anchor="ctr">
            <a:normAutofit/>
          </a:bodyPr>
          <a:lstStyle>
            <a:lvl1pPr algn="l">
              <a:defRPr sz="3600" b="0"/>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13E0EB9-DB91-4704-ADA3-37E36477B4D3}" type="datetime1">
              <a:rPr lang="en-US" smtClean="0"/>
              <a:t>5/31/2022</a:t>
            </a:fld>
            <a:endParaRPr lang="en-US"/>
          </a:p>
        </p:txBody>
      </p:sp>
      <p:sp>
        <p:nvSpPr>
          <p:cNvPr id="6" name="Footer Placeholder 5"/>
          <p:cNvSpPr>
            <a:spLocks noGrp="1"/>
          </p:cNvSpPr>
          <p:nvPr>
            <p:ph type="ftr" sz="quarter" idx="11"/>
          </p:nvPr>
        </p:nvSpPr>
        <p:spPr/>
        <p:txBody>
          <a:bodyPr/>
          <a:lstStyle/>
          <a:p>
            <a:r>
              <a:rPr lang="en-US"/>
              <a:t>AEC26-RIT</a:t>
            </a:r>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244669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1BB94-A3FD-4D7D-B7AF-43D3C402F898}" type="datetime1">
              <a:rPr lang="en-US" smtClean="0"/>
              <a:t>5/31/2022</a:t>
            </a:fld>
            <a:endParaRPr lang="en-US"/>
          </a:p>
        </p:txBody>
      </p:sp>
      <p:sp>
        <p:nvSpPr>
          <p:cNvPr id="5" name="Footer Placeholder 4"/>
          <p:cNvSpPr>
            <a:spLocks noGrp="1"/>
          </p:cNvSpPr>
          <p:nvPr>
            <p:ph type="ftr" sz="quarter" idx="11"/>
          </p:nvPr>
        </p:nvSpPr>
        <p:spPr/>
        <p:txBody>
          <a:bodyPr/>
          <a:lstStyle/>
          <a:p>
            <a:r>
              <a:rPr lang="en-US"/>
              <a:t>AEC26-RIT</a:t>
            </a:r>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6848965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1109" y="627406"/>
            <a:ext cx="16557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1909" y="627406"/>
            <a:ext cx="485775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5FE577-418D-47D3-9BE0-E6C59DC6F2EB}" type="datetime1">
              <a:rPr lang="en-US" smtClean="0"/>
              <a:t>5/31/2022</a:t>
            </a:fld>
            <a:endParaRPr lang="en-US"/>
          </a:p>
        </p:txBody>
      </p:sp>
      <p:sp>
        <p:nvSpPr>
          <p:cNvPr id="5" name="Footer Placeholder 4"/>
          <p:cNvSpPr>
            <a:spLocks noGrp="1"/>
          </p:cNvSpPr>
          <p:nvPr>
            <p:ph type="ftr" sz="quarter" idx="11"/>
          </p:nvPr>
        </p:nvSpPr>
        <p:spPr/>
        <p:txBody>
          <a:bodyPr/>
          <a:lstStyle/>
          <a:p>
            <a:r>
              <a:rPr lang="en-US"/>
              <a:t>AEC26-RIT</a:t>
            </a:r>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810098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a:extLst>
              <a:ext uri="{FF2B5EF4-FFF2-40B4-BE49-F238E27FC236}">
                <a16:creationId xmlns:a16="http://schemas.microsoft.com/office/drawing/2014/main" id="{163CF3B1-57F3-4026-B542-CA173891850C}"/>
              </a:ext>
            </a:extLst>
          </p:cNvPr>
          <p:cNvSpPr>
            <a:spLocks noGrp="1" noChangeArrowheads="1"/>
          </p:cNvSpPr>
          <p:nvPr>
            <p:ph type="dt" sz="half" idx="10"/>
          </p:nvPr>
        </p:nvSpPr>
        <p:spPr/>
        <p:txBody>
          <a:bodyPr/>
          <a:lstStyle>
            <a:lvl1pPr>
              <a:defRPr/>
            </a:lvl1pPr>
          </a:lstStyle>
          <a:p>
            <a:pPr>
              <a:defRPr/>
            </a:pPr>
            <a:fld id="{117B7285-0664-47F0-8357-4B1E28DA7554}" type="datetime1">
              <a:rPr lang="en-US" smtClean="0"/>
              <a:t>5/31/2022</a:t>
            </a:fld>
            <a:endParaRPr lang="en-US"/>
          </a:p>
        </p:txBody>
      </p:sp>
      <p:sp>
        <p:nvSpPr>
          <p:cNvPr id="6" name="Rectangle 20">
            <a:extLst>
              <a:ext uri="{FF2B5EF4-FFF2-40B4-BE49-F238E27FC236}">
                <a16:creationId xmlns:a16="http://schemas.microsoft.com/office/drawing/2014/main" id="{DEF572A3-043E-45A3-9680-9ABEC5F08329}"/>
              </a:ext>
            </a:extLst>
          </p:cNvPr>
          <p:cNvSpPr>
            <a:spLocks noGrp="1" noChangeArrowheads="1"/>
          </p:cNvSpPr>
          <p:nvPr>
            <p:ph type="ftr" sz="quarter" idx="11"/>
          </p:nvPr>
        </p:nvSpPr>
        <p:spPr/>
        <p:txBody>
          <a:bodyPr/>
          <a:lstStyle>
            <a:lvl1pPr>
              <a:defRPr/>
            </a:lvl1pPr>
          </a:lstStyle>
          <a:p>
            <a:pPr>
              <a:defRPr/>
            </a:pPr>
            <a:r>
              <a:rPr lang="en-US"/>
              <a:t>AEC26-RIT</a:t>
            </a:r>
          </a:p>
        </p:txBody>
      </p:sp>
      <p:sp>
        <p:nvSpPr>
          <p:cNvPr id="7" name="Rectangle 21">
            <a:extLst>
              <a:ext uri="{FF2B5EF4-FFF2-40B4-BE49-F238E27FC236}">
                <a16:creationId xmlns:a16="http://schemas.microsoft.com/office/drawing/2014/main" id="{6EF5127A-B096-45DD-8E9D-EE2E8BDB5834}"/>
              </a:ext>
            </a:extLst>
          </p:cNvPr>
          <p:cNvSpPr>
            <a:spLocks noGrp="1" noChangeArrowheads="1"/>
          </p:cNvSpPr>
          <p:nvPr>
            <p:ph type="sldNum" sz="quarter" idx="12"/>
          </p:nvPr>
        </p:nvSpPr>
        <p:spPr/>
        <p:txBody>
          <a:bodyPr/>
          <a:lstStyle>
            <a:lvl1pPr>
              <a:defRPr smtClean="0"/>
            </a:lvl1pPr>
          </a:lstStyle>
          <a:p>
            <a:pPr>
              <a:defRPr/>
            </a:pPr>
            <a:fld id="{256016B3-12FD-444F-995D-C2021E1638C8}" type="slidenum">
              <a:rPr lang="en-US" altLang="en-US"/>
              <a:pPr>
                <a:defRPr/>
              </a:pPr>
              <a:t>‹#›</a:t>
            </a:fld>
            <a:endParaRPr lang="en-US" altLang="en-US"/>
          </a:p>
        </p:txBody>
      </p:sp>
    </p:spTree>
    <p:extLst>
      <p:ext uri="{BB962C8B-B14F-4D97-AF65-F5344CB8AC3E}">
        <p14:creationId xmlns:p14="http://schemas.microsoft.com/office/powerpoint/2010/main" val="35290226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a:extLst>
              <a:ext uri="{FF2B5EF4-FFF2-40B4-BE49-F238E27FC236}">
                <a16:creationId xmlns:a16="http://schemas.microsoft.com/office/drawing/2014/main" id="{B7A08B07-FCCA-400B-88DF-0C93BADA271A}"/>
              </a:ext>
            </a:extLst>
          </p:cNvPr>
          <p:cNvSpPr>
            <a:spLocks noGrp="1" noChangeArrowheads="1"/>
          </p:cNvSpPr>
          <p:nvPr>
            <p:ph type="dt" sz="half" idx="10"/>
          </p:nvPr>
        </p:nvSpPr>
        <p:spPr/>
        <p:txBody>
          <a:bodyPr/>
          <a:lstStyle>
            <a:lvl1pPr>
              <a:defRPr/>
            </a:lvl1pPr>
          </a:lstStyle>
          <a:p>
            <a:pPr>
              <a:defRPr/>
            </a:pPr>
            <a:fld id="{EE7A3C3F-3BD1-4E6E-8C5D-C23DA08D74C1}" type="datetime1">
              <a:rPr lang="en-US" smtClean="0"/>
              <a:t>5/31/2022</a:t>
            </a:fld>
            <a:endParaRPr lang="en-US"/>
          </a:p>
        </p:txBody>
      </p:sp>
      <p:sp>
        <p:nvSpPr>
          <p:cNvPr id="6" name="Rectangle 20">
            <a:extLst>
              <a:ext uri="{FF2B5EF4-FFF2-40B4-BE49-F238E27FC236}">
                <a16:creationId xmlns:a16="http://schemas.microsoft.com/office/drawing/2014/main" id="{6EDEFC79-DAD2-447D-ADD2-99594EEA52C2}"/>
              </a:ext>
            </a:extLst>
          </p:cNvPr>
          <p:cNvSpPr>
            <a:spLocks noGrp="1" noChangeArrowheads="1"/>
          </p:cNvSpPr>
          <p:nvPr>
            <p:ph type="ftr" sz="quarter" idx="11"/>
          </p:nvPr>
        </p:nvSpPr>
        <p:spPr/>
        <p:txBody>
          <a:bodyPr/>
          <a:lstStyle>
            <a:lvl1pPr>
              <a:defRPr/>
            </a:lvl1pPr>
          </a:lstStyle>
          <a:p>
            <a:pPr>
              <a:defRPr/>
            </a:pPr>
            <a:r>
              <a:rPr lang="en-US"/>
              <a:t>AEC26-RIT</a:t>
            </a:r>
          </a:p>
        </p:txBody>
      </p:sp>
      <p:sp>
        <p:nvSpPr>
          <p:cNvPr id="7" name="Rectangle 21">
            <a:extLst>
              <a:ext uri="{FF2B5EF4-FFF2-40B4-BE49-F238E27FC236}">
                <a16:creationId xmlns:a16="http://schemas.microsoft.com/office/drawing/2014/main" id="{8CEF148A-6497-4F0E-8442-06DFF740E550}"/>
              </a:ext>
            </a:extLst>
          </p:cNvPr>
          <p:cNvSpPr>
            <a:spLocks noGrp="1" noChangeArrowheads="1"/>
          </p:cNvSpPr>
          <p:nvPr>
            <p:ph type="sldNum" sz="quarter" idx="12"/>
          </p:nvPr>
        </p:nvSpPr>
        <p:spPr/>
        <p:txBody>
          <a:bodyPr/>
          <a:lstStyle>
            <a:lvl1pPr>
              <a:defRPr smtClean="0"/>
            </a:lvl1pPr>
          </a:lstStyle>
          <a:p>
            <a:pPr>
              <a:defRPr/>
            </a:pPr>
            <a:fld id="{D6E60777-FF69-402E-9C5E-6FEDDA2E5F87}" type="slidenum">
              <a:rPr lang="en-US" altLang="en-US"/>
              <a:pPr>
                <a:defRPr/>
              </a:pPr>
              <a:t>‹#›</a:t>
            </a:fld>
            <a:endParaRPr lang="en-US" altLang="en-US"/>
          </a:p>
        </p:txBody>
      </p:sp>
    </p:spTree>
    <p:extLst>
      <p:ext uri="{BB962C8B-B14F-4D97-AF65-F5344CB8AC3E}">
        <p14:creationId xmlns:p14="http://schemas.microsoft.com/office/powerpoint/2010/main" val="14272878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19">
            <a:extLst>
              <a:ext uri="{FF2B5EF4-FFF2-40B4-BE49-F238E27FC236}">
                <a16:creationId xmlns:a16="http://schemas.microsoft.com/office/drawing/2014/main" id="{B345BE01-8231-4E4C-9CA0-C69E367226DF}"/>
              </a:ext>
            </a:extLst>
          </p:cNvPr>
          <p:cNvSpPr>
            <a:spLocks noGrp="1" noChangeArrowheads="1"/>
          </p:cNvSpPr>
          <p:nvPr>
            <p:ph type="dt" sz="half" idx="10"/>
          </p:nvPr>
        </p:nvSpPr>
        <p:spPr/>
        <p:txBody>
          <a:bodyPr/>
          <a:lstStyle>
            <a:lvl1pPr>
              <a:defRPr/>
            </a:lvl1pPr>
          </a:lstStyle>
          <a:p>
            <a:pPr>
              <a:defRPr/>
            </a:pPr>
            <a:fld id="{8325E6ED-9E91-4ABC-9B33-89F8DD9F21B1}" type="datetime1">
              <a:rPr lang="en-US" smtClean="0"/>
              <a:t>5/31/2022</a:t>
            </a:fld>
            <a:endParaRPr lang="en-US"/>
          </a:p>
        </p:txBody>
      </p:sp>
      <p:sp>
        <p:nvSpPr>
          <p:cNvPr id="5" name="Rectangle 20">
            <a:extLst>
              <a:ext uri="{FF2B5EF4-FFF2-40B4-BE49-F238E27FC236}">
                <a16:creationId xmlns:a16="http://schemas.microsoft.com/office/drawing/2014/main" id="{6029CC09-4E5B-44E2-AA2E-D7993E9B154A}"/>
              </a:ext>
            </a:extLst>
          </p:cNvPr>
          <p:cNvSpPr>
            <a:spLocks noGrp="1" noChangeArrowheads="1"/>
          </p:cNvSpPr>
          <p:nvPr>
            <p:ph type="ftr" sz="quarter" idx="11"/>
          </p:nvPr>
        </p:nvSpPr>
        <p:spPr/>
        <p:txBody>
          <a:bodyPr/>
          <a:lstStyle>
            <a:lvl1pPr>
              <a:defRPr/>
            </a:lvl1pPr>
          </a:lstStyle>
          <a:p>
            <a:pPr>
              <a:defRPr/>
            </a:pPr>
            <a:r>
              <a:rPr lang="en-US"/>
              <a:t>AEC26-RIT</a:t>
            </a:r>
          </a:p>
        </p:txBody>
      </p:sp>
      <p:sp>
        <p:nvSpPr>
          <p:cNvPr id="6" name="Rectangle 21">
            <a:extLst>
              <a:ext uri="{FF2B5EF4-FFF2-40B4-BE49-F238E27FC236}">
                <a16:creationId xmlns:a16="http://schemas.microsoft.com/office/drawing/2014/main" id="{221CE9A1-9779-4D01-A196-65FC6EC3988A}"/>
              </a:ext>
            </a:extLst>
          </p:cNvPr>
          <p:cNvSpPr>
            <a:spLocks noGrp="1" noChangeArrowheads="1"/>
          </p:cNvSpPr>
          <p:nvPr>
            <p:ph type="sldNum" sz="quarter" idx="12"/>
          </p:nvPr>
        </p:nvSpPr>
        <p:spPr/>
        <p:txBody>
          <a:bodyPr/>
          <a:lstStyle>
            <a:lvl1pPr>
              <a:defRPr smtClean="0"/>
            </a:lvl1pPr>
          </a:lstStyle>
          <a:p>
            <a:pPr>
              <a:defRPr/>
            </a:pPr>
            <a:fld id="{4E315D02-0B83-40DB-80B4-D880E8CD05D5}" type="slidenum">
              <a:rPr lang="en-US" altLang="en-US"/>
              <a:pPr>
                <a:defRPr/>
              </a:pPr>
              <a:t>‹#›</a:t>
            </a:fld>
            <a:endParaRPr lang="en-US" altLang="en-US"/>
          </a:p>
        </p:txBody>
      </p:sp>
    </p:spTree>
    <p:extLst>
      <p:ext uri="{BB962C8B-B14F-4D97-AF65-F5344CB8AC3E}">
        <p14:creationId xmlns:p14="http://schemas.microsoft.com/office/powerpoint/2010/main" val="1603096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305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138637"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0416" y="-786"/>
            <a:ext cx="1767506"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4694" y="624110"/>
            <a:ext cx="6683765"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1909" y="2133600"/>
            <a:ext cx="668655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1210" y="6130437"/>
            <a:ext cx="859712" cy="370396"/>
          </a:xfrm>
          <a:prstGeom prst="rect">
            <a:avLst/>
          </a:prstGeom>
        </p:spPr>
        <p:txBody>
          <a:bodyPr vert="horz" lIns="91440" tIns="45720" rIns="91440" bIns="45720" rtlCol="0" anchor="ctr"/>
          <a:lstStyle>
            <a:lvl1pPr algn="r">
              <a:defRPr sz="675">
                <a:solidFill>
                  <a:schemeClr val="tx1">
                    <a:tint val="75000"/>
                  </a:schemeClr>
                </a:solidFill>
              </a:defRPr>
            </a:lvl1pPr>
          </a:lstStyle>
          <a:p>
            <a:fld id="{8E9248C4-55D9-4C14-8994-DD6AFB0BA622}" type="datetime1">
              <a:rPr lang="en-US" smtClean="0"/>
              <a:t>5/31/2022</a:t>
            </a:fld>
            <a:endParaRPr lang="en-US"/>
          </a:p>
        </p:txBody>
      </p:sp>
      <p:sp>
        <p:nvSpPr>
          <p:cNvPr id="5" name="Footer Placeholder 4"/>
          <p:cNvSpPr>
            <a:spLocks noGrp="1"/>
          </p:cNvSpPr>
          <p:nvPr>
            <p:ph type="ftr" sz="quarter" idx="3"/>
          </p:nvPr>
        </p:nvSpPr>
        <p:spPr>
          <a:xfrm>
            <a:off x="1941910" y="6135809"/>
            <a:ext cx="5714999" cy="365125"/>
          </a:xfrm>
          <a:prstGeom prst="rect">
            <a:avLst/>
          </a:prstGeom>
        </p:spPr>
        <p:txBody>
          <a:bodyPr vert="horz" lIns="91440" tIns="45720" rIns="91440" bIns="45720" rtlCol="0" anchor="ctr"/>
          <a:lstStyle>
            <a:lvl1pPr algn="l">
              <a:defRPr sz="675">
                <a:solidFill>
                  <a:schemeClr val="tx1">
                    <a:tint val="75000"/>
                  </a:schemeClr>
                </a:solidFill>
              </a:defRPr>
            </a:lvl1pPr>
          </a:lstStyle>
          <a:p>
            <a:r>
              <a:rPr lang="en-US"/>
              <a:t>AEC26-RIT</a:t>
            </a:r>
          </a:p>
        </p:txBody>
      </p:sp>
      <p:sp>
        <p:nvSpPr>
          <p:cNvPr id="6" name="Slide Number Placeholder 5"/>
          <p:cNvSpPr>
            <a:spLocks noGrp="1"/>
          </p:cNvSpPr>
          <p:nvPr>
            <p:ph type="sldNum" sz="quarter" idx="4"/>
          </p:nvPr>
        </p:nvSpPr>
        <p:spPr>
          <a:xfrm>
            <a:off x="398860" y="787783"/>
            <a:ext cx="584825" cy="365125"/>
          </a:xfrm>
          <a:prstGeom prst="rect">
            <a:avLst/>
          </a:prstGeom>
        </p:spPr>
        <p:txBody>
          <a:bodyPr vert="horz" lIns="91440" tIns="45720" rIns="91440" bIns="45720" rtlCol="0" anchor="ctr"/>
          <a:lstStyle>
            <a:lvl1pPr algn="r">
              <a:defRPr sz="1500">
                <a:solidFill>
                  <a:srgbClr val="FEFFFF"/>
                </a:solidFill>
              </a:defRPr>
            </a:lvl1p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7015137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Lst>
  <p:hf sldNum="0" hdr="0" ftr="0" dt="0"/>
  <p:txStyles>
    <p:titleStyle>
      <a:lvl1pPr algn="l" defTabSz="342900" rtl="0" eaLnBrk="1" latinLnBrk="0" hangingPunct="1">
        <a:spcBef>
          <a:spcPct val="0"/>
        </a:spcBef>
        <a:buNone/>
        <a:defRPr sz="27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17.gif"/></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32.xml"/><Relationship Id="rId1" Type="http://schemas.openxmlformats.org/officeDocument/2006/relationships/slideLayout" Target="../slideLayouts/slideLayout18.xml"/><Relationship Id="rId5" Type="http://schemas.openxmlformats.org/officeDocument/2006/relationships/image" Target="../media/image31.gif"/><Relationship Id="rId4" Type="http://schemas.openxmlformats.org/officeDocument/2006/relationships/image" Target="../media/image30.gif"/></Relationships>
</file>

<file path=ppt/slides/_rels/slide46.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33.xml"/><Relationship Id="rId1" Type="http://schemas.openxmlformats.org/officeDocument/2006/relationships/slideLayout" Target="../slideLayouts/slideLayout17.xml"/><Relationship Id="rId5" Type="http://schemas.openxmlformats.org/officeDocument/2006/relationships/image" Target="../media/image34.jpeg"/><Relationship Id="rId4" Type="http://schemas.openxmlformats.org/officeDocument/2006/relationships/image" Target="../media/image33.gif"/></Relationships>
</file>

<file path=ppt/slides/_rels/slide47.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image2.slideserve.com/4218801/why-and-how-to-change-the-brain-l.jpg"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image2.slideserve.com/4218801/mind-changes-brain-l.jpg"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image2.slideserve.com/4218801/mindfulness-l.jpg"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1219200"/>
            <a:ext cx="7772400" cy="2308324"/>
          </a:xfrm>
          <a:prstGeom prst="rect">
            <a:avLst/>
          </a:prstGeom>
        </p:spPr>
        <p:txBody>
          <a:bodyPr wrap="square">
            <a:spAutoFit/>
          </a:bodyPr>
          <a:lstStyle/>
          <a:p>
            <a:r>
              <a:rPr lang="en-IN" sz="4800" dirty="0">
                <a:solidFill>
                  <a:srgbClr val="FF0000"/>
                </a:solidFill>
                <a:latin typeface="Algerian" panose="04020705040A02060702" pitchFamily="82" charset="0"/>
                <a:cs typeface="Times New Roman"/>
              </a:rPr>
              <a:t>Scientific Foundations of</a:t>
            </a:r>
            <a:r>
              <a:rPr lang="en-IN" sz="4800" spc="-70" dirty="0">
                <a:solidFill>
                  <a:srgbClr val="FF0000"/>
                </a:solidFill>
                <a:latin typeface="Algerian" panose="04020705040A02060702" pitchFamily="82" charset="0"/>
                <a:cs typeface="Times New Roman"/>
              </a:rPr>
              <a:t> </a:t>
            </a:r>
            <a:r>
              <a:rPr lang="en-IN" sz="4800" dirty="0">
                <a:solidFill>
                  <a:srgbClr val="FF0000"/>
                </a:solidFill>
                <a:latin typeface="Algerian" panose="04020705040A02060702" pitchFamily="82" charset="0"/>
                <a:cs typeface="Times New Roman"/>
              </a:rPr>
              <a:t>Health</a:t>
            </a:r>
          </a:p>
          <a:p>
            <a:endParaRPr lang="en-US" sz="4800" dirty="0">
              <a:solidFill>
                <a:srgbClr val="FF0000"/>
              </a:solidFill>
              <a:latin typeface="Algerian" panose="04020705040A02060702" pitchFamily="82" charset="0"/>
              <a:cs typeface="Times New Roman"/>
            </a:endParaRPr>
          </a:p>
        </p:txBody>
      </p:sp>
      <p:sp>
        <p:nvSpPr>
          <p:cNvPr id="5" name="TextBox 4">
            <a:extLst>
              <a:ext uri="{FF2B5EF4-FFF2-40B4-BE49-F238E27FC236}">
                <a16:creationId xmlns:a16="http://schemas.microsoft.com/office/drawing/2014/main" id="{6F3886A8-2BD9-0959-B9B9-8B6B1B144F24}"/>
              </a:ext>
            </a:extLst>
          </p:cNvPr>
          <p:cNvSpPr txBox="1"/>
          <p:nvPr/>
        </p:nvSpPr>
        <p:spPr>
          <a:xfrm>
            <a:off x="2209800" y="3112025"/>
            <a:ext cx="4574788" cy="830997"/>
          </a:xfrm>
          <a:prstGeom prst="rect">
            <a:avLst/>
          </a:prstGeom>
          <a:noFill/>
        </p:spPr>
        <p:txBody>
          <a:bodyPr wrap="square">
            <a:spAutoFit/>
          </a:bodyPr>
          <a:lstStyle/>
          <a:p>
            <a:pPr algn="ctr"/>
            <a:r>
              <a:rPr lang="en-US" sz="4800" dirty="0">
                <a:solidFill>
                  <a:srgbClr val="FFFF00"/>
                </a:solidFill>
                <a:highlight>
                  <a:srgbClr val="000080"/>
                </a:highlight>
                <a:latin typeface="Algerian" panose="04020705040A02060702" pitchFamily="82" charset="0"/>
                <a:cs typeface="Times New Roman"/>
              </a:rPr>
              <a:t>Unit-1</a:t>
            </a:r>
            <a:endParaRPr lang="en-IN" sz="4800" dirty="0">
              <a:solidFill>
                <a:srgbClr val="FFFF00"/>
              </a:solidFill>
              <a:highlight>
                <a:srgbClr val="000080"/>
              </a:highlight>
              <a:latin typeface="Algerian" panose="04020705040A02060702" pitchFamily="82" charset="0"/>
            </a:endParaRPr>
          </a:p>
        </p:txBody>
      </p:sp>
    </p:spTree>
    <p:extLst>
      <p:ext uri="{BB962C8B-B14F-4D97-AF65-F5344CB8AC3E}">
        <p14:creationId xmlns:p14="http://schemas.microsoft.com/office/powerpoint/2010/main" val="2707019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2437" y="38988"/>
            <a:ext cx="7377430" cy="565539"/>
          </a:xfrm>
          <a:prstGeom prst="rect">
            <a:avLst/>
          </a:prstGeom>
        </p:spPr>
        <p:txBody>
          <a:bodyPr vert="horz" wrap="square" lIns="0" tIns="133350" rIns="0" bIns="0" rtlCol="0">
            <a:spAutoFit/>
          </a:bodyPr>
          <a:lstStyle/>
          <a:p>
            <a:pPr marL="12700" algn="ctr">
              <a:lnSpc>
                <a:spcPct val="100000"/>
              </a:lnSpc>
              <a:spcBef>
                <a:spcPts val="1050"/>
              </a:spcBef>
            </a:pPr>
            <a:r>
              <a:rPr sz="2800" b="1" dirty="0">
                <a:solidFill>
                  <a:srgbClr val="FF0000"/>
                </a:solidFill>
                <a:latin typeface="+mj-lt"/>
                <a:cs typeface="Times New Roman"/>
              </a:rPr>
              <a:t>Health </a:t>
            </a:r>
            <a:r>
              <a:rPr sz="2800" b="1" spc="-5" dirty="0">
                <a:solidFill>
                  <a:srgbClr val="FF0000"/>
                </a:solidFill>
                <a:latin typeface="+mj-lt"/>
                <a:cs typeface="Times New Roman"/>
              </a:rPr>
              <a:t>and</a:t>
            </a:r>
            <a:r>
              <a:rPr sz="2800" b="1" spc="-25" dirty="0">
                <a:solidFill>
                  <a:srgbClr val="FF0000"/>
                </a:solidFill>
                <a:latin typeface="+mj-lt"/>
                <a:cs typeface="Times New Roman"/>
              </a:rPr>
              <a:t> </a:t>
            </a:r>
            <a:r>
              <a:rPr sz="2800" b="1" spc="-5" dirty="0">
                <a:solidFill>
                  <a:srgbClr val="FF0000"/>
                </a:solidFill>
                <a:latin typeface="+mj-lt"/>
                <a:cs typeface="Times New Roman"/>
              </a:rPr>
              <a:t>psychology</a:t>
            </a:r>
            <a:endParaRPr sz="2800" dirty="0">
              <a:solidFill>
                <a:srgbClr val="FF0000"/>
              </a:solidFill>
              <a:latin typeface="+mj-lt"/>
              <a:cs typeface="Times New Roman"/>
            </a:endParaRPr>
          </a:p>
        </p:txBody>
      </p:sp>
      <p:sp>
        <p:nvSpPr>
          <p:cNvPr id="3" name="object 3"/>
          <p:cNvSpPr/>
          <p:nvPr/>
        </p:nvSpPr>
        <p:spPr>
          <a:xfrm>
            <a:off x="4267200" y="914400"/>
            <a:ext cx="4747778" cy="4749294"/>
          </a:xfrm>
          <a:prstGeom prst="rect">
            <a:avLst/>
          </a:prstGeom>
          <a:blipFill>
            <a:blip r:embed="rId2" cstate="print"/>
            <a:stretch>
              <a:fillRect/>
            </a:stretch>
          </a:blipFill>
        </p:spPr>
        <p:txBody>
          <a:bodyPr wrap="square" lIns="0" tIns="0" rIns="0" bIns="0" rtlCol="0"/>
          <a:lstStyle/>
          <a:p>
            <a:endParaRPr/>
          </a:p>
        </p:txBody>
      </p:sp>
      <p:sp>
        <p:nvSpPr>
          <p:cNvPr id="5" name="TextBox 4">
            <a:extLst>
              <a:ext uri="{FF2B5EF4-FFF2-40B4-BE49-F238E27FC236}">
                <a16:creationId xmlns:a16="http://schemas.microsoft.com/office/drawing/2014/main" id="{9AEF1A7F-8677-D7B4-E23E-8A1C11C053C7}"/>
              </a:ext>
            </a:extLst>
          </p:cNvPr>
          <p:cNvSpPr txBox="1"/>
          <p:nvPr/>
        </p:nvSpPr>
        <p:spPr>
          <a:xfrm>
            <a:off x="164064" y="1447800"/>
            <a:ext cx="3962400" cy="3477875"/>
          </a:xfrm>
          <a:prstGeom prst="rect">
            <a:avLst/>
          </a:prstGeom>
          <a:noFill/>
        </p:spPr>
        <p:txBody>
          <a:bodyPr wrap="square">
            <a:spAutoFit/>
          </a:bodyPr>
          <a:lstStyle/>
          <a:p>
            <a:pPr marL="12700" algn="just">
              <a:lnSpc>
                <a:spcPct val="100000"/>
              </a:lnSpc>
              <a:spcBef>
                <a:spcPts val="950"/>
              </a:spcBef>
            </a:pPr>
            <a:r>
              <a:rPr lang="en-US" sz="2200" dirty="0">
                <a:solidFill>
                  <a:srgbClr val="1F2023"/>
                </a:solidFill>
                <a:latin typeface="+mj-lt"/>
                <a:cs typeface="Times New Roman"/>
              </a:rPr>
              <a:t>Psychology </a:t>
            </a:r>
            <a:r>
              <a:rPr lang="en-US" sz="2200" spc="-5" dirty="0">
                <a:solidFill>
                  <a:srgbClr val="1F2023"/>
                </a:solidFill>
                <a:latin typeface="+mj-lt"/>
                <a:cs typeface="Times New Roman"/>
              </a:rPr>
              <a:t>is </a:t>
            </a:r>
            <a:r>
              <a:rPr lang="en-US" sz="2200" dirty="0">
                <a:solidFill>
                  <a:srgbClr val="1F2023"/>
                </a:solidFill>
                <a:latin typeface="+mj-lt"/>
                <a:cs typeface="Times New Roman"/>
              </a:rPr>
              <a:t>the scientific study of the </a:t>
            </a:r>
            <a:r>
              <a:rPr lang="en-US" sz="2200" spc="-5" dirty="0">
                <a:solidFill>
                  <a:srgbClr val="1F2023"/>
                </a:solidFill>
                <a:latin typeface="+mj-lt"/>
                <a:cs typeface="Times New Roman"/>
              </a:rPr>
              <a:t>mind </a:t>
            </a:r>
            <a:r>
              <a:rPr lang="en-US" sz="2200" dirty="0">
                <a:solidFill>
                  <a:srgbClr val="1F2023"/>
                </a:solidFill>
                <a:latin typeface="+mj-lt"/>
                <a:cs typeface="Times New Roman"/>
              </a:rPr>
              <a:t>and</a:t>
            </a:r>
            <a:r>
              <a:rPr lang="en-US" sz="2200" spc="-50" dirty="0">
                <a:solidFill>
                  <a:srgbClr val="1F2023"/>
                </a:solidFill>
                <a:latin typeface="+mj-lt"/>
                <a:cs typeface="Times New Roman"/>
              </a:rPr>
              <a:t> </a:t>
            </a:r>
            <a:r>
              <a:rPr lang="en-US" sz="2200" dirty="0">
                <a:solidFill>
                  <a:srgbClr val="1F2023"/>
                </a:solidFill>
                <a:latin typeface="+mj-lt"/>
                <a:cs typeface="Times New Roman"/>
              </a:rPr>
              <a:t>behavior</a:t>
            </a:r>
            <a:endParaRPr lang="en-US" sz="2200" dirty="0">
              <a:latin typeface="+mj-lt"/>
              <a:cs typeface="Times New Roman"/>
            </a:endParaRPr>
          </a:p>
          <a:p>
            <a:pPr algn="just">
              <a:lnSpc>
                <a:spcPct val="100000"/>
              </a:lnSpc>
              <a:spcBef>
                <a:spcPts val="30"/>
              </a:spcBef>
            </a:pPr>
            <a:endParaRPr lang="en-US" sz="2200" dirty="0">
              <a:latin typeface="+mj-lt"/>
              <a:cs typeface="Times New Roman"/>
            </a:endParaRPr>
          </a:p>
          <a:p>
            <a:pPr marL="68580" algn="just">
              <a:lnSpc>
                <a:spcPct val="100000"/>
              </a:lnSpc>
              <a:spcBef>
                <a:spcPts val="5"/>
              </a:spcBef>
            </a:pPr>
            <a:r>
              <a:rPr lang="en-US" sz="2200" dirty="0">
                <a:solidFill>
                  <a:srgbClr val="202020"/>
                </a:solidFill>
                <a:latin typeface="+mj-lt"/>
                <a:cs typeface="Times New Roman"/>
              </a:rPr>
              <a:t>Health and </a:t>
            </a:r>
            <a:r>
              <a:rPr lang="en-US" sz="2200" spc="-70" dirty="0">
                <a:solidFill>
                  <a:srgbClr val="202020"/>
                </a:solidFill>
                <a:latin typeface="+mj-lt"/>
                <a:cs typeface="Times New Roman"/>
              </a:rPr>
              <a:t>Well‒Being </a:t>
            </a:r>
            <a:r>
              <a:rPr lang="en-US" sz="2200" dirty="0">
                <a:solidFill>
                  <a:srgbClr val="202020"/>
                </a:solidFill>
                <a:latin typeface="+mj-lt"/>
                <a:cs typeface="Times New Roman"/>
              </a:rPr>
              <a:t>describes psychological well-being as </a:t>
            </a:r>
            <a:r>
              <a:rPr lang="en-US" sz="2200" spc="-5" dirty="0">
                <a:solidFill>
                  <a:srgbClr val="202020"/>
                </a:solidFill>
                <a:latin typeface="+mj-lt"/>
                <a:cs typeface="Times New Roman"/>
              </a:rPr>
              <a:t>“the</a:t>
            </a:r>
            <a:r>
              <a:rPr lang="en-US" sz="2200" spc="-25" dirty="0">
                <a:solidFill>
                  <a:srgbClr val="202020"/>
                </a:solidFill>
                <a:latin typeface="+mj-lt"/>
                <a:cs typeface="Times New Roman"/>
              </a:rPr>
              <a:t> combination</a:t>
            </a:r>
            <a:r>
              <a:rPr lang="en-US" sz="2200" spc="-25" dirty="0">
                <a:latin typeface="+mj-lt"/>
                <a:cs typeface="Times New Roman"/>
              </a:rPr>
              <a:t> </a:t>
            </a:r>
            <a:r>
              <a:rPr lang="en-US" sz="2200" dirty="0">
                <a:solidFill>
                  <a:srgbClr val="202020"/>
                </a:solidFill>
                <a:latin typeface="+mj-lt"/>
                <a:cs typeface="Times New Roman"/>
              </a:rPr>
              <a:t>of feeling good and functioning</a:t>
            </a:r>
            <a:r>
              <a:rPr lang="en-US" sz="2200" spc="-50" dirty="0">
                <a:solidFill>
                  <a:srgbClr val="202020"/>
                </a:solidFill>
                <a:latin typeface="+mj-lt"/>
                <a:cs typeface="Times New Roman"/>
              </a:rPr>
              <a:t> </a:t>
            </a:r>
            <a:r>
              <a:rPr lang="en-US" sz="2200" spc="-15" dirty="0">
                <a:solidFill>
                  <a:srgbClr val="202020"/>
                </a:solidFill>
                <a:latin typeface="+mj-lt"/>
                <a:cs typeface="Times New Roman"/>
              </a:rPr>
              <a:t>effectively.”</a:t>
            </a:r>
            <a:endParaRPr lang="en-US" sz="2200" dirty="0">
              <a:latin typeface="+mj-lt"/>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6705600" cy="457200"/>
          </a:xfrm>
        </p:spPr>
        <p:txBody>
          <a:bodyPr>
            <a:noAutofit/>
          </a:bodyPr>
          <a:lstStyle/>
          <a:p>
            <a:r>
              <a:rPr lang="en-US" sz="2800" b="1" dirty="0">
                <a:solidFill>
                  <a:srgbClr val="FF0000"/>
                </a:solidFill>
              </a:rPr>
              <a:t>What is Health Psychology</a:t>
            </a:r>
            <a:endParaRPr lang="en-IN" sz="2800" b="1" dirty="0">
              <a:solidFill>
                <a:srgbClr val="FF0000"/>
              </a:solidFill>
            </a:endParaRPr>
          </a:p>
        </p:txBody>
      </p:sp>
      <p:sp>
        <p:nvSpPr>
          <p:cNvPr id="3" name="Content Placeholder 2"/>
          <p:cNvSpPr>
            <a:spLocks noGrp="1"/>
          </p:cNvSpPr>
          <p:nvPr>
            <p:ph idx="1"/>
          </p:nvPr>
        </p:nvSpPr>
        <p:spPr>
          <a:xfrm>
            <a:off x="1143000" y="762000"/>
            <a:ext cx="7886700" cy="5486400"/>
          </a:xfrm>
        </p:spPr>
        <p:txBody>
          <a:bodyPr>
            <a:noAutofit/>
          </a:bodyPr>
          <a:lstStyle/>
          <a:p>
            <a:pPr algn="just">
              <a:buClr>
                <a:srgbClr val="CC3300"/>
              </a:buClr>
              <a:buFont typeface="Wingdings" panose="05000000000000000000" pitchFamily="2" charset="2"/>
              <a:buChar char="Ø"/>
            </a:pPr>
            <a:r>
              <a:rPr lang="en-US" sz="2200" dirty="0"/>
              <a:t>Psychology is the scientific study of the mind and behavior.</a:t>
            </a:r>
          </a:p>
          <a:p>
            <a:pPr algn="just">
              <a:buClr>
                <a:srgbClr val="CC3300"/>
              </a:buClr>
              <a:buFont typeface="Wingdings" panose="05000000000000000000" pitchFamily="2" charset="2"/>
              <a:buChar char="Ø"/>
            </a:pPr>
            <a:r>
              <a:rPr lang="en-US" sz="2200" dirty="0"/>
              <a:t>Health psychology is the study of psychological and behavioral processes in health, illness, and healthcare.</a:t>
            </a:r>
            <a:endParaRPr lang="en-US" sz="2200" baseline="30000" dirty="0"/>
          </a:p>
          <a:p>
            <a:pPr algn="just">
              <a:buClr>
                <a:srgbClr val="CC3300"/>
              </a:buClr>
              <a:buFont typeface="Wingdings" panose="05000000000000000000" pitchFamily="2" charset="2"/>
              <a:buChar char="Ø"/>
            </a:pPr>
            <a:r>
              <a:rPr lang="en-US" sz="2200" dirty="0"/>
              <a:t>It is concerned with understanding how psychological, behavioral, and cultural factors contribute to physical health and illness. </a:t>
            </a:r>
          </a:p>
          <a:p>
            <a:pPr algn="just">
              <a:buClr>
                <a:srgbClr val="CC3300"/>
              </a:buClr>
              <a:buFont typeface="Wingdings" panose="05000000000000000000" pitchFamily="2" charset="2"/>
              <a:buChar char="Ø"/>
            </a:pPr>
            <a:r>
              <a:rPr lang="en-US" sz="2200" dirty="0"/>
              <a:t>Psychological study focuses on:</a:t>
            </a:r>
          </a:p>
          <a:p>
            <a:pPr marL="800100" lvl="1" indent="-342900" algn="just">
              <a:buClr>
                <a:srgbClr val="CC3300"/>
              </a:buClr>
              <a:buFont typeface="Wingdings" panose="05000000000000000000" pitchFamily="2" charset="2"/>
              <a:buChar char="ü"/>
            </a:pPr>
            <a:r>
              <a:rPr lang="en-IN" sz="2200" i="1" dirty="0"/>
              <a:t>health promotion and maintenance</a:t>
            </a:r>
          </a:p>
          <a:p>
            <a:pPr marL="800100" lvl="1" indent="-342900" algn="just">
              <a:buClr>
                <a:srgbClr val="CC3300"/>
              </a:buClr>
              <a:buFont typeface="Wingdings" panose="05000000000000000000" pitchFamily="2" charset="2"/>
              <a:buChar char="ü"/>
            </a:pPr>
            <a:r>
              <a:rPr lang="en-IN" sz="2200" dirty="0"/>
              <a:t>the psychological aspects </a:t>
            </a:r>
            <a:r>
              <a:rPr lang="en-US" sz="2200" dirty="0"/>
              <a:t>of the </a:t>
            </a:r>
            <a:r>
              <a:rPr lang="en-US" sz="2200" i="1" dirty="0"/>
              <a:t>prevention and treatment of illness.</a:t>
            </a:r>
          </a:p>
          <a:p>
            <a:pPr marL="800100" lvl="1" indent="-342900" algn="just">
              <a:buClr>
                <a:srgbClr val="CC3300"/>
              </a:buClr>
              <a:buFont typeface="Wingdings" panose="05000000000000000000" pitchFamily="2" charset="2"/>
              <a:buChar char="ü"/>
            </a:pPr>
            <a:r>
              <a:rPr lang="en-US" sz="2200" dirty="0"/>
              <a:t>The analysis of health psychologists and attempt to improve </a:t>
            </a:r>
            <a:r>
              <a:rPr lang="en-US" sz="2200" i="1" dirty="0"/>
              <a:t>the health care system and the formulation of </a:t>
            </a:r>
            <a:r>
              <a:rPr lang="en-IN" sz="2200" i="1" dirty="0"/>
              <a:t>health policy.</a:t>
            </a:r>
            <a:endParaRPr lang="en-IN" sz="2200" dirty="0"/>
          </a:p>
        </p:txBody>
      </p:sp>
    </p:spTree>
    <p:extLst>
      <p:ext uri="{BB962C8B-B14F-4D97-AF65-F5344CB8AC3E}">
        <p14:creationId xmlns:p14="http://schemas.microsoft.com/office/powerpoint/2010/main" val="514854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text&#10;&#10;Description automatically generated">
            <a:extLst>
              <a:ext uri="{FF2B5EF4-FFF2-40B4-BE49-F238E27FC236}">
                <a16:creationId xmlns:a16="http://schemas.microsoft.com/office/drawing/2014/main" id="{F5A117D1-6649-70F6-0146-B0890F10019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76200" y="0"/>
            <a:ext cx="9220200" cy="6858000"/>
          </a:xfrm>
          <a:prstGeom prst="rect">
            <a:avLst/>
          </a:prstGeom>
        </p:spPr>
      </p:pic>
    </p:spTree>
    <p:extLst>
      <p:ext uri="{BB962C8B-B14F-4D97-AF65-F5344CB8AC3E}">
        <p14:creationId xmlns:p14="http://schemas.microsoft.com/office/powerpoint/2010/main" val="2825391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8600"/>
            <a:ext cx="8515350" cy="457200"/>
          </a:xfrm>
        </p:spPr>
        <p:txBody>
          <a:bodyPr>
            <a:noAutofit/>
          </a:bodyPr>
          <a:lstStyle/>
          <a:p>
            <a:r>
              <a:rPr lang="en-US" sz="2800" b="1" dirty="0">
                <a:solidFill>
                  <a:srgbClr val="FF0000"/>
                </a:solidFill>
              </a:rPr>
              <a:t>Methods To Improve Good Psychological Health</a:t>
            </a:r>
            <a:endParaRPr lang="en-IN" sz="2800" dirty="0">
              <a:solidFill>
                <a:srgbClr val="FF0000"/>
              </a:solidFill>
            </a:endParaRPr>
          </a:p>
        </p:txBody>
      </p:sp>
      <p:sp>
        <p:nvSpPr>
          <p:cNvPr id="3" name="Content Placeholder 2"/>
          <p:cNvSpPr>
            <a:spLocks noGrp="1"/>
          </p:cNvSpPr>
          <p:nvPr>
            <p:ph idx="1"/>
          </p:nvPr>
        </p:nvSpPr>
        <p:spPr>
          <a:xfrm>
            <a:off x="533400" y="1371600"/>
            <a:ext cx="8362950" cy="4648200"/>
          </a:xfrm>
        </p:spPr>
        <p:txBody>
          <a:bodyPr>
            <a:normAutofit fontScale="25000" lnSpcReduction="20000"/>
          </a:bodyPr>
          <a:lstStyle/>
          <a:p>
            <a:pPr marL="0" indent="0" algn="just">
              <a:buNone/>
            </a:pPr>
            <a:r>
              <a:rPr lang="en-US" sz="9600" b="1" dirty="0"/>
              <a:t>1. Make social connections: </a:t>
            </a:r>
            <a:r>
              <a:rPr lang="en-US" sz="9600" b="1" dirty="0" err="1"/>
              <a:t>epecially</a:t>
            </a:r>
            <a:r>
              <a:rPr lang="en-US" sz="9600" b="1" dirty="0"/>
              <a:t> face-to-face a priority</a:t>
            </a:r>
          </a:p>
          <a:p>
            <a:pPr algn="just"/>
            <a:r>
              <a:rPr lang="en-US" sz="9600" dirty="0"/>
              <a:t>Phone calls and social networks have their place, but few things can beat the stress-busting, mood-boosting power of quality face-to-face time with other people.</a:t>
            </a:r>
          </a:p>
          <a:p>
            <a:pPr marL="0" indent="0" algn="just">
              <a:buNone/>
            </a:pPr>
            <a:endParaRPr lang="en-US" sz="9600" dirty="0"/>
          </a:p>
          <a:p>
            <a:pPr marL="0" indent="0" algn="just">
              <a:buNone/>
            </a:pPr>
            <a:r>
              <a:rPr lang="en-US" sz="9600" b="1" dirty="0"/>
              <a:t>2. Stay active </a:t>
            </a:r>
          </a:p>
          <a:p>
            <a:pPr algn="just"/>
            <a:r>
              <a:rPr lang="en-US" sz="9600" dirty="0"/>
              <a:t>Staying active is as good for the brain as well as for the body. Regular exercise or activity can have a major impact on your mental and emotional health, relieve stress, improve memory, and help you sleep better.</a:t>
            </a:r>
          </a:p>
          <a:p>
            <a:endParaRPr lang="en-IN" dirty="0"/>
          </a:p>
        </p:txBody>
      </p:sp>
    </p:spTree>
    <p:extLst>
      <p:ext uri="{BB962C8B-B14F-4D97-AF65-F5344CB8AC3E}">
        <p14:creationId xmlns:p14="http://schemas.microsoft.com/office/powerpoint/2010/main" val="162300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8600"/>
            <a:ext cx="8515350" cy="457200"/>
          </a:xfrm>
        </p:spPr>
        <p:txBody>
          <a:bodyPr>
            <a:noAutofit/>
          </a:bodyPr>
          <a:lstStyle/>
          <a:p>
            <a:r>
              <a:rPr lang="en-US" sz="2800" b="1" dirty="0">
                <a:solidFill>
                  <a:srgbClr val="FF0000"/>
                </a:solidFill>
              </a:rPr>
              <a:t>Methods To Improve Good Psychological Health</a:t>
            </a:r>
            <a:endParaRPr lang="en-IN" sz="2800" dirty="0">
              <a:solidFill>
                <a:srgbClr val="FF0000"/>
              </a:solidFill>
            </a:endParaRPr>
          </a:p>
        </p:txBody>
      </p:sp>
      <p:sp>
        <p:nvSpPr>
          <p:cNvPr id="3" name="Content Placeholder 2"/>
          <p:cNvSpPr>
            <a:spLocks noGrp="1"/>
          </p:cNvSpPr>
          <p:nvPr>
            <p:ph idx="1"/>
          </p:nvPr>
        </p:nvSpPr>
        <p:spPr>
          <a:xfrm>
            <a:off x="628650" y="1143000"/>
            <a:ext cx="7886700" cy="4806043"/>
          </a:xfrm>
        </p:spPr>
        <p:txBody>
          <a:bodyPr>
            <a:normAutofit fontScale="25000" lnSpcReduction="20000"/>
          </a:bodyPr>
          <a:lstStyle/>
          <a:p>
            <a:pPr marL="0" indent="0" algn="just">
              <a:lnSpc>
                <a:spcPct val="120000"/>
              </a:lnSpc>
              <a:spcBef>
                <a:spcPts val="300"/>
              </a:spcBef>
              <a:spcAft>
                <a:spcPts val="300"/>
              </a:spcAft>
              <a:buNone/>
            </a:pPr>
            <a:r>
              <a:rPr lang="en-US" sz="8800" b="1" dirty="0"/>
              <a:t>3. Talk to someone</a:t>
            </a:r>
          </a:p>
          <a:p>
            <a:pPr algn="just">
              <a:lnSpc>
                <a:spcPct val="120000"/>
              </a:lnSpc>
              <a:spcBef>
                <a:spcPts val="300"/>
              </a:spcBef>
              <a:spcAft>
                <a:spcPts val="300"/>
              </a:spcAft>
            </a:pPr>
            <a:r>
              <a:rPr lang="en-US" sz="8800" dirty="0"/>
              <a:t>Talk to a friendly face. In-person social interaction with someone who cares is one of the most effective ways to calm your nervous system and relieve stress.</a:t>
            </a:r>
          </a:p>
          <a:p>
            <a:pPr marL="0" indent="0">
              <a:lnSpc>
                <a:spcPct val="120000"/>
              </a:lnSpc>
              <a:spcBef>
                <a:spcPts val="300"/>
              </a:spcBef>
              <a:spcAft>
                <a:spcPts val="300"/>
              </a:spcAft>
              <a:buNone/>
            </a:pPr>
            <a:r>
              <a:rPr lang="en-US" sz="8800" b="1" dirty="0"/>
              <a:t>4. Appeal to your senses</a:t>
            </a:r>
          </a:p>
          <a:p>
            <a:pPr>
              <a:lnSpc>
                <a:spcPct val="120000"/>
              </a:lnSpc>
              <a:spcBef>
                <a:spcPts val="300"/>
              </a:spcBef>
              <a:spcAft>
                <a:spcPts val="300"/>
              </a:spcAft>
            </a:pPr>
            <a:r>
              <a:rPr lang="en-US" sz="8800" dirty="0"/>
              <a:t>Does listening to an uplifting song make you feel calm? What about taking a walk in nature and enjoying the sights and sounds of the trees? Everyone responds to sensory input a little differently, so experiment to find what works best for you.</a:t>
            </a:r>
          </a:p>
          <a:p>
            <a:pPr marL="0" indent="0">
              <a:lnSpc>
                <a:spcPct val="120000"/>
              </a:lnSpc>
              <a:spcBef>
                <a:spcPts val="300"/>
              </a:spcBef>
              <a:spcAft>
                <a:spcPts val="300"/>
              </a:spcAft>
              <a:buNone/>
            </a:pPr>
            <a:r>
              <a:rPr lang="en-US" sz="8800" b="1" dirty="0"/>
              <a:t>5. Take up a relaxation practice</a:t>
            </a:r>
          </a:p>
          <a:p>
            <a:pPr>
              <a:lnSpc>
                <a:spcPct val="120000"/>
              </a:lnSpc>
              <a:spcBef>
                <a:spcPts val="300"/>
              </a:spcBef>
              <a:spcAft>
                <a:spcPts val="300"/>
              </a:spcAft>
            </a:pPr>
            <a:r>
              <a:rPr lang="en-US" sz="8800" dirty="0"/>
              <a:t>Yoga, mindfulness, meditation and deep breathing can help reduce overall levels of stress.</a:t>
            </a:r>
          </a:p>
          <a:p>
            <a:pPr algn="just"/>
            <a:endParaRPr lang="en-US" sz="8800" dirty="0"/>
          </a:p>
          <a:p>
            <a:endParaRPr lang="en-IN" dirty="0"/>
          </a:p>
        </p:txBody>
      </p:sp>
    </p:spTree>
    <p:extLst>
      <p:ext uri="{BB962C8B-B14F-4D97-AF65-F5344CB8AC3E}">
        <p14:creationId xmlns:p14="http://schemas.microsoft.com/office/powerpoint/2010/main" val="344225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8600"/>
            <a:ext cx="8515350" cy="457200"/>
          </a:xfrm>
        </p:spPr>
        <p:txBody>
          <a:bodyPr>
            <a:noAutofit/>
          </a:bodyPr>
          <a:lstStyle/>
          <a:p>
            <a:r>
              <a:rPr lang="en-US" sz="2800" b="1" dirty="0">
                <a:solidFill>
                  <a:srgbClr val="FF0000"/>
                </a:solidFill>
              </a:rPr>
              <a:t>Methods To Improve Good Psychological Health</a:t>
            </a:r>
            <a:endParaRPr lang="en-IN" sz="2800" dirty="0">
              <a:solidFill>
                <a:srgbClr val="FF0000"/>
              </a:solidFill>
            </a:endParaRPr>
          </a:p>
        </p:txBody>
      </p:sp>
      <p:sp>
        <p:nvSpPr>
          <p:cNvPr id="7" name="TextBox 6">
            <a:extLst>
              <a:ext uri="{FF2B5EF4-FFF2-40B4-BE49-F238E27FC236}">
                <a16:creationId xmlns:a16="http://schemas.microsoft.com/office/drawing/2014/main" id="{E08064E8-28D7-7233-64CB-27D1952F98B5}"/>
              </a:ext>
            </a:extLst>
          </p:cNvPr>
          <p:cNvSpPr txBox="1"/>
          <p:nvPr/>
        </p:nvSpPr>
        <p:spPr>
          <a:xfrm>
            <a:off x="533400" y="1143000"/>
            <a:ext cx="8515350" cy="4493538"/>
          </a:xfrm>
          <a:prstGeom prst="rect">
            <a:avLst/>
          </a:prstGeom>
          <a:noFill/>
        </p:spPr>
        <p:txBody>
          <a:bodyPr wrap="square">
            <a:spAutoFit/>
          </a:bodyPr>
          <a:lstStyle/>
          <a:p>
            <a:r>
              <a:rPr lang="en-US" sz="2200" b="1" dirty="0"/>
              <a:t>6. Make leisure and contemplation a priority</a:t>
            </a:r>
          </a:p>
          <a:p>
            <a:r>
              <a:rPr lang="en-US" sz="2200" dirty="0"/>
              <a:t>Leisure time is a necessity for emotional and mental health. Take some time to relax, contemplate, and pay attention to the positive things as you go about your day — even the small things. Write them down if you can, because they can be easy to forget. Then you can reflect on them later if your mood is in need of a boost. </a:t>
            </a:r>
          </a:p>
          <a:p>
            <a:endParaRPr lang="en-US" sz="2200" dirty="0"/>
          </a:p>
          <a:p>
            <a:r>
              <a:rPr lang="en-US" sz="2200" b="1" dirty="0"/>
              <a:t>7. Eat a brain-healthy diet to support strong mental health </a:t>
            </a:r>
          </a:p>
          <a:p>
            <a:r>
              <a:rPr lang="en-US" sz="2200" dirty="0"/>
              <a:t>Foods that can support your mood include fatty fish rich in omega-3s, nuts (walnuts, almonds, cashews and peanuts), avocados, beans, leafy greens (spinach, kale and Brussels sprouts), and fresh fruit such as blueberries.</a:t>
            </a:r>
          </a:p>
        </p:txBody>
      </p:sp>
    </p:spTree>
    <p:extLst>
      <p:ext uri="{BB962C8B-B14F-4D97-AF65-F5344CB8AC3E}">
        <p14:creationId xmlns:p14="http://schemas.microsoft.com/office/powerpoint/2010/main" val="266184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8600"/>
            <a:ext cx="8515350" cy="457200"/>
          </a:xfrm>
        </p:spPr>
        <p:txBody>
          <a:bodyPr>
            <a:noAutofit/>
          </a:bodyPr>
          <a:lstStyle/>
          <a:p>
            <a:r>
              <a:rPr lang="en-US" sz="2800" b="1" dirty="0">
                <a:solidFill>
                  <a:srgbClr val="FF0000"/>
                </a:solidFill>
              </a:rPr>
              <a:t>Methods To Improve Good Psychological Health</a:t>
            </a:r>
            <a:endParaRPr lang="en-IN" sz="2800" dirty="0">
              <a:solidFill>
                <a:srgbClr val="FF0000"/>
              </a:solidFill>
            </a:endParaRPr>
          </a:p>
        </p:txBody>
      </p:sp>
      <p:sp>
        <p:nvSpPr>
          <p:cNvPr id="5" name="TextBox 4">
            <a:extLst>
              <a:ext uri="{FF2B5EF4-FFF2-40B4-BE49-F238E27FC236}">
                <a16:creationId xmlns:a16="http://schemas.microsoft.com/office/drawing/2014/main" id="{A54EA07E-F2A6-3323-413E-F253611AF657}"/>
              </a:ext>
            </a:extLst>
          </p:cNvPr>
          <p:cNvSpPr txBox="1"/>
          <p:nvPr/>
        </p:nvSpPr>
        <p:spPr>
          <a:xfrm>
            <a:off x="626791" y="713678"/>
            <a:ext cx="8153400" cy="5783378"/>
          </a:xfrm>
          <a:prstGeom prst="rect">
            <a:avLst/>
          </a:prstGeom>
          <a:noFill/>
        </p:spPr>
        <p:txBody>
          <a:bodyPr wrap="square">
            <a:spAutoFit/>
          </a:bodyPr>
          <a:lstStyle/>
          <a:p>
            <a:r>
              <a:rPr lang="en-US" sz="2200" b="1" dirty="0"/>
              <a:t>8.    Don’t skimp on sleep</a:t>
            </a:r>
          </a:p>
          <a:p>
            <a:r>
              <a:rPr lang="en-US" sz="2200" dirty="0"/>
              <a:t>It matters more than you think. One way to get sleep better is to take a break from the stimulation of screens — TV,  phones, tablets or computers — in the two hours before bedtime.</a:t>
            </a:r>
            <a:endParaRPr lang="en-US" sz="2200" b="1" dirty="0"/>
          </a:p>
          <a:p>
            <a:endParaRPr lang="en-US" sz="2200" b="1" dirty="0"/>
          </a:p>
          <a:p>
            <a:r>
              <a:rPr lang="en-US" sz="2200" b="1" dirty="0"/>
              <a:t>9. Find purpose and meaning </a:t>
            </a:r>
          </a:p>
          <a:p>
            <a:pPr marL="342900" indent="-342900">
              <a:lnSpc>
                <a:spcPct val="110000"/>
              </a:lnSpc>
              <a:buClr>
                <a:srgbClr val="00FFCC"/>
              </a:buClr>
              <a:buFont typeface="Wingdings" panose="05000000000000000000" pitchFamily="2" charset="2"/>
              <a:buChar char="ü"/>
            </a:pPr>
            <a:r>
              <a:rPr lang="en-US" sz="2200" dirty="0"/>
              <a:t>This is different for everyone. You might try one of the following:</a:t>
            </a:r>
            <a:br>
              <a:rPr lang="en-US" sz="2200" dirty="0"/>
            </a:br>
            <a:r>
              <a:rPr lang="en-US" sz="2200" dirty="0"/>
              <a:t>Engage in work that makes you feel useful</a:t>
            </a:r>
          </a:p>
          <a:p>
            <a:pPr marL="342900" indent="-342900">
              <a:lnSpc>
                <a:spcPct val="110000"/>
              </a:lnSpc>
              <a:buClr>
                <a:srgbClr val="00FFCC"/>
              </a:buClr>
              <a:buFont typeface="Wingdings" panose="05000000000000000000" pitchFamily="2" charset="2"/>
              <a:buChar char="ü"/>
            </a:pPr>
            <a:r>
              <a:rPr lang="en-US" sz="2200" dirty="0"/>
              <a:t>Invest in relationships and spend quality time with people who matter to you</a:t>
            </a:r>
          </a:p>
          <a:p>
            <a:pPr marL="342900" indent="-342900">
              <a:lnSpc>
                <a:spcPct val="110000"/>
              </a:lnSpc>
              <a:buClr>
                <a:srgbClr val="00FFCC"/>
              </a:buClr>
              <a:buFont typeface="Wingdings" panose="05000000000000000000" pitchFamily="2" charset="2"/>
              <a:buChar char="ü"/>
            </a:pPr>
            <a:r>
              <a:rPr lang="en-US" sz="2200" dirty="0"/>
              <a:t>Volunteer, which can help enrich your life and make you happier  </a:t>
            </a:r>
          </a:p>
          <a:p>
            <a:pPr marL="342900" indent="-342900">
              <a:lnSpc>
                <a:spcPct val="110000"/>
              </a:lnSpc>
              <a:buClr>
                <a:srgbClr val="00FFCC"/>
              </a:buClr>
              <a:buFont typeface="Wingdings" panose="05000000000000000000" pitchFamily="2" charset="2"/>
              <a:buChar char="ü"/>
            </a:pPr>
            <a:r>
              <a:rPr lang="en-US" sz="2200" dirty="0"/>
              <a:t>Care for others, which can be as rewarding and meaningful as it is challenging </a:t>
            </a:r>
          </a:p>
        </p:txBody>
      </p:sp>
    </p:spTree>
    <p:extLst>
      <p:ext uri="{BB962C8B-B14F-4D97-AF65-F5344CB8AC3E}">
        <p14:creationId xmlns:p14="http://schemas.microsoft.com/office/powerpoint/2010/main" val="2234682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524000" y="152400"/>
            <a:ext cx="7396163" cy="685800"/>
          </a:xfrm>
        </p:spPr>
        <p:txBody>
          <a:bodyPr>
            <a:noAutofit/>
          </a:bodyPr>
          <a:lstStyle/>
          <a:p>
            <a:pPr algn="r"/>
            <a:r>
              <a:rPr lang="en-US" altLang="en-US" sz="2800" b="1" dirty="0">
                <a:solidFill>
                  <a:srgbClr val="FF0000"/>
                </a:solidFill>
              </a:rPr>
              <a:t>Psychological Disorders</a:t>
            </a:r>
          </a:p>
        </p:txBody>
      </p:sp>
      <p:sp>
        <p:nvSpPr>
          <p:cNvPr id="7171" name="Rectangle 3"/>
          <p:cNvSpPr>
            <a:spLocks noGrp="1" noChangeArrowheads="1"/>
          </p:cNvSpPr>
          <p:nvPr>
            <p:ph idx="1"/>
          </p:nvPr>
        </p:nvSpPr>
        <p:spPr bwMode="auto">
          <a:xfrm>
            <a:off x="1219200" y="990600"/>
            <a:ext cx="7777163" cy="5410200"/>
          </a:xfrm>
        </p:spPr>
        <p:txBody>
          <a:bodyPr wrap="square" numCol="1" anchor="t" anchorCtr="0" compatLnSpc="1">
            <a:prstTxWarp prst="textNoShape">
              <a:avLst/>
            </a:prstTxWarp>
            <a:normAutofit lnSpcReduction="10000"/>
          </a:bodyPr>
          <a:lstStyle/>
          <a:p>
            <a:pPr>
              <a:buFont typeface="Wingdings" panose="05000000000000000000" pitchFamily="2" charset="2"/>
              <a:buChar char="Ø"/>
            </a:pPr>
            <a:r>
              <a:rPr lang="en-US" altLang="en-US" sz="2800" dirty="0"/>
              <a:t>Psychological Disorder a “harmful dysfunction” in which behavior is judged to be (text discussion):</a:t>
            </a:r>
          </a:p>
          <a:p>
            <a:pPr lvl="2">
              <a:buFont typeface="Wingdings" panose="05000000000000000000" pitchFamily="2" charset="2"/>
              <a:buChar char="ü"/>
            </a:pPr>
            <a:r>
              <a:rPr lang="en-US" altLang="en-US" sz="2800" dirty="0"/>
              <a:t>Atypical</a:t>
            </a:r>
          </a:p>
          <a:p>
            <a:pPr lvl="3">
              <a:buFont typeface="Wingdings" panose="05000000000000000000" pitchFamily="2" charset="2"/>
              <a:buChar char="v"/>
            </a:pPr>
            <a:r>
              <a:rPr lang="en-US" altLang="en-US" sz="2800" dirty="0"/>
              <a:t>not enough in itself</a:t>
            </a:r>
          </a:p>
          <a:p>
            <a:pPr lvl="2">
              <a:buFont typeface="Wingdings" panose="05000000000000000000" pitchFamily="2" charset="2"/>
              <a:buChar char="ü"/>
            </a:pPr>
            <a:r>
              <a:rPr lang="en-US" altLang="en-US" sz="2800" dirty="0"/>
              <a:t>Disturbing</a:t>
            </a:r>
          </a:p>
          <a:p>
            <a:pPr lvl="3">
              <a:buFont typeface="Wingdings" panose="05000000000000000000" pitchFamily="2" charset="2"/>
              <a:buChar char="v"/>
            </a:pPr>
            <a:r>
              <a:rPr lang="en-US" altLang="en-US" sz="2800" dirty="0"/>
              <a:t>varies with time and culture</a:t>
            </a:r>
          </a:p>
          <a:p>
            <a:pPr lvl="2">
              <a:buFont typeface="Wingdings" panose="05000000000000000000" pitchFamily="2" charset="2"/>
              <a:buChar char="ü"/>
            </a:pPr>
            <a:r>
              <a:rPr lang="en-US" altLang="en-US" sz="2800" dirty="0"/>
              <a:t>Maladaptive</a:t>
            </a:r>
          </a:p>
          <a:p>
            <a:pPr lvl="3">
              <a:buFont typeface="Wingdings" panose="05000000000000000000" pitchFamily="2" charset="2"/>
              <a:buChar char="v"/>
            </a:pPr>
            <a:r>
              <a:rPr lang="en-US" altLang="en-US" sz="2800" dirty="0"/>
              <a:t>harmful</a:t>
            </a:r>
          </a:p>
          <a:p>
            <a:pPr lvl="2">
              <a:buFont typeface="Wingdings" panose="05000000000000000000" pitchFamily="2" charset="2"/>
              <a:buChar char="ü"/>
            </a:pPr>
            <a:r>
              <a:rPr lang="en-US" altLang="en-US" sz="2800" dirty="0"/>
              <a:t>Unjustifiable</a:t>
            </a:r>
          </a:p>
          <a:p>
            <a:pPr lvl="3">
              <a:buFont typeface="Wingdings" panose="05000000000000000000" pitchFamily="2" charset="2"/>
              <a:buChar char="v"/>
            </a:pPr>
            <a:r>
              <a:rPr lang="en-US" altLang="en-US" sz="2800" dirty="0"/>
              <a:t>By what standard?    </a:t>
            </a:r>
          </a:p>
          <a:p>
            <a:pPr marL="1028700" lvl="3" indent="0">
              <a:buNone/>
            </a:pPr>
            <a:endParaRPr lang="en-US" altLang="en-US" sz="2800" dirty="0"/>
          </a:p>
          <a:p>
            <a:pPr marL="1028700" lvl="3" indent="0">
              <a:buNone/>
            </a:pPr>
            <a:endParaRPr lang="en-US" altLang="en-US" sz="2800" dirty="0"/>
          </a:p>
          <a:p>
            <a:pPr lvl="1">
              <a:buFont typeface="Wingdings" panose="05000000000000000000" pitchFamily="2" charset="2"/>
              <a:buNone/>
            </a:pPr>
            <a:endParaRPr lang="en-US" altLang="en-US" sz="2000" dirty="0"/>
          </a:p>
          <a:p>
            <a:pPr lvl="1">
              <a:buFont typeface="Wingdings" panose="05000000000000000000" pitchFamily="2" charset="2"/>
              <a:buNone/>
            </a:pPr>
            <a:endParaRPr lang="en-US" altLang="en-US" sz="2000" dirty="0"/>
          </a:p>
          <a:p>
            <a:pPr lvl="1">
              <a:buFont typeface="Wingdings" panose="05000000000000000000" pitchFamily="2" charset="2"/>
              <a:buNone/>
            </a:pPr>
            <a:endParaRPr lang="en-US" altLang="en-US" sz="2000" dirty="0"/>
          </a:p>
          <a:p>
            <a:pPr lvl="1">
              <a:buFont typeface="Wingdings" panose="05000000000000000000" pitchFamily="2" charset="2"/>
              <a:buNone/>
            </a:pPr>
            <a:endParaRPr lang="en-US" altLang="en-US" sz="2000" dirty="0"/>
          </a:p>
        </p:txBody>
      </p:sp>
    </p:spTree>
    <p:extLst>
      <p:ext uri="{BB962C8B-B14F-4D97-AF65-F5344CB8AC3E}">
        <p14:creationId xmlns:p14="http://schemas.microsoft.com/office/powerpoint/2010/main" val="16202878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71">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524000" y="152400"/>
            <a:ext cx="7396163" cy="685800"/>
          </a:xfrm>
        </p:spPr>
        <p:txBody>
          <a:bodyPr>
            <a:noAutofit/>
          </a:bodyPr>
          <a:lstStyle/>
          <a:p>
            <a:pPr algn="r"/>
            <a:r>
              <a:rPr lang="en-US" altLang="en-US" sz="2800" b="1" dirty="0">
                <a:solidFill>
                  <a:srgbClr val="FF0000"/>
                </a:solidFill>
              </a:rPr>
              <a:t>Psychological Disorders</a:t>
            </a:r>
          </a:p>
        </p:txBody>
      </p:sp>
      <p:sp>
        <p:nvSpPr>
          <p:cNvPr id="7" name="TextBox 6">
            <a:extLst>
              <a:ext uri="{FF2B5EF4-FFF2-40B4-BE49-F238E27FC236}">
                <a16:creationId xmlns:a16="http://schemas.microsoft.com/office/drawing/2014/main" id="{9A8F8421-8532-FD64-5FFB-31580BB699D5}"/>
              </a:ext>
            </a:extLst>
          </p:cNvPr>
          <p:cNvSpPr txBox="1"/>
          <p:nvPr/>
        </p:nvSpPr>
        <p:spPr>
          <a:xfrm>
            <a:off x="1066800" y="924949"/>
            <a:ext cx="7853363" cy="5008102"/>
          </a:xfrm>
          <a:prstGeom prst="rect">
            <a:avLst/>
          </a:prstGeom>
          <a:noFill/>
        </p:spPr>
        <p:txBody>
          <a:bodyPr wrap="square">
            <a:spAutoFit/>
          </a:bodyPr>
          <a:lstStyle/>
          <a:p>
            <a:pPr marL="299085" indent="-287020">
              <a:lnSpc>
                <a:spcPct val="150000"/>
              </a:lnSpc>
              <a:buFont typeface="Wingdings"/>
              <a:buChar char=""/>
              <a:tabLst>
                <a:tab pos="299720" algn="l"/>
              </a:tabLst>
            </a:pPr>
            <a:r>
              <a:rPr lang="en-US" sz="2400" b="1" spc="-5" dirty="0">
                <a:solidFill>
                  <a:srgbClr val="202020"/>
                </a:solidFill>
                <a:latin typeface="+mj-lt"/>
                <a:cs typeface="Times New Roman"/>
              </a:rPr>
              <a:t>Neurodevelopmental</a:t>
            </a:r>
            <a:r>
              <a:rPr lang="en-US" sz="2400" b="1" spc="-15" dirty="0">
                <a:solidFill>
                  <a:srgbClr val="202020"/>
                </a:solidFill>
                <a:latin typeface="+mj-lt"/>
                <a:cs typeface="Times New Roman"/>
              </a:rPr>
              <a:t> </a:t>
            </a:r>
            <a:r>
              <a:rPr lang="en-US" sz="2400" b="1" spc="-5" dirty="0">
                <a:solidFill>
                  <a:srgbClr val="202020"/>
                </a:solidFill>
                <a:latin typeface="+mj-lt"/>
                <a:cs typeface="Times New Roman"/>
              </a:rPr>
              <a:t>Disorders</a:t>
            </a:r>
            <a:endParaRPr lang="en-US" sz="2400" dirty="0">
              <a:latin typeface="+mj-lt"/>
              <a:cs typeface="Times New Roman"/>
            </a:endParaRPr>
          </a:p>
          <a:p>
            <a:pPr marL="756285" lvl="1" indent="-287655">
              <a:lnSpc>
                <a:spcPct val="150000"/>
              </a:lnSpc>
              <a:buClr>
                <a:srgbClr val="0033CC"/>
              </a:buClr>
              <a:buFont typeface="Arial"/>
              <a:buChar char="•"/>
              <a:tabLst>
                <a:tab pos="756285" algn="l"/>
                <a:tab pos="756920" algn="l"/>
              </a:tabLst>
            </a:pPr>
            <a:r>
              <a:rPr lang="en-US" sz="2400" dirty="0">
                <a:solidFill>
                  <a:srgbClr val="202020"/>
                </a:solidFill>
                <a:latin typeface="+mj-lt"/>
                <a:cs typeface="Times New Roman"/>
              </a:rPr>
              <a:t>Intellectual</a:t>
            </a:r>
            <a:r>
              <a:rPr lang="en-US" sz="2400" spc="-45" dirty="0">
                <a:solidFill>
                  <a:srgbClr val="202020"/>
                </a:solidFill>
                <a:latin typeface="+mj-lt"/>
                <a:cs typeface="Times New Roman"/>
              </a:rPr>
              <a:t> </a:t>
            </a:r>
            <a:r>
              <a:rPr lang="en-US" sz="2400" dirty="0">
                <a:solidFill>
                  <a:srgbClr val="202020"/>
                </a:solidFill>
                <a:latin typeface="+mj-lt"/>
                <a:cs typeface="Times New Roman"/>
              </a:rPr>
              <a:t>Disability</a:t>
            </a:r>
            <a:endParaRPr lang="en-US" sz="2400" dirty="0">
              <a:latin typeface="+mj-lt"/>
              <a:cs typeface="Times New Roman"/>
            </a:endParaRPr>
          </a:p>
          <a:p>
            <a:pPr marL="756285" lvl="1" indent="-287655">
              <a:lnSpc>
                <a:spcPct val="150000"/>
              </a:lnSpc>
              <a:buClr>
                <a:srgbClr val="0033CC"/>
              </a:buClr>
              <a:buFont typeface="Arial"/>
              <a:buChar char="•"/>
              <a:tabLst>
                <a:tab pos="756285" algn="l"/>
                <a:tab pos="756920" algn="l"/>
              </a:tabLst>
            </a:pPr>
            <a:r>
              <a:rPr lang="en-US" sz="2400" dirty="0">
                <a:solidFill>
                  <a:srgbClr val="202020"/>
                </a:solidFill>
                <a:latin typeface="+mj-lt"/>
                <a:cs typeface="Times New Roman"/>
              </a:rPr>
              <a:t>Global Developmental</a:t>
            </a:r>
            <a:r>
              <a:rPr lang="en-US" sz="2400" spc="-20" dirty="0">
                <a:solidFill>
                  <a:srgbClr val="202020"/>
                </a:solidFill>
                <a:latin typeface="+mj-lt"/>
                <a:cs typeface="Times New Roman"/>
              </a:rPr>
              <a:t> </a:t>
            </a:r>
            <a:r>
              <a:rPr lang="en-US" sz="2400" dirty="0">
                <a:solidFill>
                  <a:srgbClr val="202020"/>
                </a:solidFill>
                <a:latin typeface="+mj-lt"/>
                <a:cs typeface="Times New Roman"/>
              </a:rPr>
              <a:t>Delay</a:t>
            </a:r>
            <a:endParaRPr lang="en-US" sz="2400" dirty="0">
              <a:latin typeface="+mj-lt"/>
              <a:cs typeface="Times New Roman"/>
            </a:endParaRPr>
          </a:p>
          <a:p>
            <a:pPr marL="756285" lvl="1" indent="-287655">
              <a:lnSpc>
                <a:spcPct val="150000"/>
              </a:lnSpc>
              <a:buClr>
                <a:srgbClr val="0033CC"/>
              </a:buClr>
              <a:buFont typeface="Arial"/>
              <a:buChar char="•"/>
              <a:tabLst>
                <a:tab pos="756285" algn="l"/>
                <a:tab pos="756920" algn="l"/>
              </a:tabLst>
            </a:pPr>
            <a:r>
              <a:rPr lang="en-US" sz="2400" spc="-5" dirty="0">
                <a:solidFill>
                  <a:srgbClr val="202020"/>
                </a:solidFill>
                <a:latin typeface="+mj-lt"/>
                <a:cs typeface="Times New Roman"/>
              </a:rPr>
              <a:t>Communication Disorders</a:t>
            </a:r>
            <a:endParaRPr lang="en-US" sz="2400" dirty="0">
              <a:latin typeface="+mj-lt"/>
              <a:cs typeface="Times New Roman"/>
            </a:endParaRPr>
          </a:p>
          <a:p>
            <a:pPr marL="756285" lvl="1" indent="-287655">
              <a:lnSpc>
                <a:spcPct val="150000"/>
              </a:lnSpc>
              <a:buClr>
                <a:srgbClr val="0033CC"/>
              </a:buClr>
              <a:buFont typeface="Arial"/>
              <a:buChar char="•"/>
              <a:tabLst>
                <a:tab pos="756285" algn="l"/>
                <a:tab pos="756920" algn="l"/>
              </a:tabLst>
            </a:pPr>
            <a:r>
              <a:rPr lang="en-US" sz="2400" spc="-5" dirty="0">
                <a:solidFill>
                  <a:srgbClr val="202020"/>
                </a:solidFill>
                <a:latin typeface="+mj-lt"/>
                <a:cs typeface="Times New Roman"/>
              </a:rPr>
              <a:t>Autism </a:t>
            </a:r>
            <a:r>
              <a:rPr lang="en-US" sz="2400" dirty="0">
                <a:solidFill>
                  <a:srgbClr val="202020"/>
                </a:solidFill>
                <a:latin typeface="+mj-lt"/>
                <a:cs typeface="Times New Roman"/>
              </a:rPr>
              <a:t>Spectrum</a:t>
            </a:r>
            <a:r>
              <a:rPr lang="en-US" sz="2400" spc="-15" dirty="0">
                <a:solidFill>
                  <a:srgbClr val="202020"/>
                </a:solidFill>
                <a:latin typeface="+mj-lt"/>
                <a:cs typeface="Times New Roman"/>
              </a:rPr>
              <a:t> </a:t>
            </a:r>
            <a:r>
              <a:rPr lang="en-US" sz="2400" dirty="0">
                <a:solidFill>
                  <a:srgbClr val="202020"/>
                </a:solidFill>
                <a:latin typeface="+mj-lt"/>
                <a:cs typeface="Times New Roman"/>
              </a:rPr>
              <a:t>Disorder</a:t>
            </a:r>
            <a:endParaRPr lang="en-US" sz="2400" dirty="0">
              <a:latin typeface="+mj-lt"/>
              <a:cs typeface="Times New Roman"/>
            </a:endParaRPr>
          </a:p>
          <a:p>
            <a:pPr marL="756285" lvl="1" indent="-287655">
              <a:lnSpc>
                <a:spcPct val="150000"/>
              </a:lnSpc>
              <a:buClr>
                <a:srgbClr val="0033CC"/>
              </a:buClr>
              <a:buFont typeface="Arial"/>
              <a:buChar char="•"/>
              <a:tabLst>
                <a:tab pos="756285" algn="l"/>
                <a:tab pos="756920" algn="l"/>
              </a:tabLst>
            </a:pPr>
            <a:r>
              <a:rPr lang="en-US" sz="2400" dirty="0">
                <a:solidFill>
                  <a:srgbClr val="202020"/>
                </a:solidFill>
                <a:latin typeface="+mj-lt"/>
                <a:cs typeface="Times New Roman"/>
              </a:rPr>
              <a:t>Attention-Deficit Hyperactivity </a:t>
            </a:r>
            <a:r>
              <a:rPr lang="en-US" sz="2400" spc="-5" dirty="0">
                <a:solidFill>
                  <a:srgbClr val="202020"/>
                </a:solidFill>
                <a:latin typeface="+mj-lt"/>
                <a:cs typeface="Times New Roman"/>
              </a:rPr>
              <a:t>Disorder</a:t>
            </a:r>
            <a:r>
              <a:rPr lang="en-US" sz="2400" spc="-65" dirty="0">
                <a:solidFill>
                  <a:srgbClr val="202020"/>
                </a:solidFill>
                <a:latin typeface="+mj-lt"/>
                <a:cs typeface="Times New Roman"/>
              </a:rPr>
              <a:t> </a:t>
            </a:r>
            <a:r>
              <a:rPr lang="en-US" sz="2400" spc="-5" dirty="0">
                <a:solidFill>
                  <a:srgbClr val="202020"/>
                </a:solidFill>
                <a:latin typeface="+mj-lt"/>
                <a:cs typeface="Times New Roman"/>
              </a:rPr>
              <a:t>(ADHD)</a:t>
            </a:r>
            <a:endParaRPr lang="en-US" sz="2400" dirty="0">
              <a:latin typeface="+mj-lt"/>
              <a:cs typeface="Times New Roman"/>
            </a:endParaRPr>
          </a:p>
          <a:p>
            <a:pPr marL="299085" indent="-287020">
              <a:lnSpc>
                <a:spcPct val="150000"/>
              </a:lnSpc>
              <a:buFont typeface="Wingdings"/>
              <a:buChar char=""/>
              <a:tabLst>
                <a:tab pos="299720" algn="l"/>
              </a:tabLst>
            </a:pPr>
            <a:r>
              <a:rPr lang="en-US" sz="2400" b="1" dirty="0">
                <a:solidFill>
                  <a:srgbClr val="202020"/>
                </a:solidFill>
                <a:latin typeface="+mj-lt"/>
                <a:cs typeface="Times New Roman"/>
              </a:rPr>
              <a:t>Bipolar </a:t>
            </a:r>
            <a:r>
              <a:rPr lang="en-US" sz="2400" b="1" spc="-5" dirty="0">
                <a:solidFill>
                  <a:srgbClr val="202020"/>
                </a:solidFill>
                <a:latin typeface="+mj-lt"/>
                <a:cs typeface="Times New Roman"/>
              </a:rPr>
              <a:t>and </a:t>
            </a:r>
            <a:r>
              <a:rPr lang="en-US" sz="2400" b="1" dirty="0">
                <a:solidFill>
                  <a:srgbClr val="202020"/>
                </a:solidFill>
                <a:latin typeface="+mj-lt"/>
                <a:cs typeface="Times New Roman"/>
              </a:rPr>
              <a:t>Related</a:t>
            </a:r>
            <a:r>
              <a:rPr lang="en-US" sz="2400" b="1" spc="-55" dirty="0">
                <a:solidFill>
                  <a:srgbClr val="202020"/>
                </a:solidFill>
                <a:latin typeface="+mj-lt"/>
                <a:cs typeface="Times New Roman"/>
              </a:rPr>
              <a:t> </a:t>
            </a:r>
            <a:r>
              <a:rPr lang="en-US" sz="2400" b="1" spc="-5" dirty="0">
                <a:solidFill>
                  <a:srgbClr val="202020"/>
                </a:solidFill>
                <a:latin typeface="+mj-lt"/>
                <a:cs typeface="Times New Roman"/>
              </a:rPr>
              <a:t>Disorders</a:t>
            </a:r>
            <a:endParaRPr lang="en-US" sz="2400" dirty="0">
              <a:latin typeface="+mj-lt"/>
              <a:cs typeface="Times New Roman"/>
            </a:endParaRPr>
          </a:p>
          <a:p>
            <a:pPr marL="756285" lvl="1" indent="-287655">
              <a:lnSpc>
                <a:spcPct val="150000"/>
              </a:lnSpc>
              <a:buClr>
                <a:srgbClr val="3366FF"/>
              </a:buClr>
              <a:buFont typeface="Arial"/>
              <a:buChar char="•"/>
              <a:tabLst>
                <a:tab pos="756285" algn="l"/>
                <a:tab pos="756920" algn="l"/>
              </a:tabLst>
            </a:pPr>
            <a:r>
              <a:rPr lang="en-US" sz="2400" dirty="0">
                <a:solidFill>
                  <a:srgbClr val="202020"/>
                </a:solidFill>
                <a:latin typeface="+mj-lt"/>
                <a:cs typeface="Times New Roman"/>
              </a:rPr>
              <a:t>Mania</a:t>
            </a:r>
            <a:endParaRPr lang="en-US" sz="2400" dirty="0">
              <a:latin typeface="+mj-lt"/>
              <a:cs typeface="Times New Roman"/>
            </a:endParaRPr>
          </a:p>
          <a:p>
            <a:pPr marL="756285" lvl="1" indent="-287655">
              <a:lnSpc>
                <a:spcPct val="150000"/>
              </a:lnSpc>
              <a:buClr>
                <a:srgbClr val="3366FF"/>
              </a:buClr>
              <a:buFont typeface="Arial"/>
              <a:buChar char="•"/>
              <a:tabLst>
                <a:tab pos="756285" algn="l"/>
                <a:tab pos="756920" algn="l"/>
              </a:tabLst>
            </a:pPr>
            <a:r>
              <a:rPr lang="en-US" sz="2400" spc="-5" dirty="0">
                <a:solidFill>
                  <a:srgbClr val="202020"/>
                </a:solidFill>
                <a:latin typeface="+mj-lt"/>
                <a:cs typeface="Times New Roman"/>
              </a:rPr>
              <a:t>Depressive </a:t>
            </a:r>
            <a:r>
              <a:rPr lang="en-US" sz="2400" dirty="0">
                <a:solidFill>
                  <a:srgbClr val="202020"/>
                </a:solidFill>
                <a:latin typeface="+mj-lt"/>
                <a:cs typeface="Times New Roman"/>
              </a:rPr>
              <a:t>Episode</a:t>
            </a:r>
            <a:endParaRPr lang="en-US" sz="2400" dirty="0">
              <a:latin typeface="+mj-lt"/>
              <a:cs typeface="Times New Roman"/>
            </a:endParaRPr>
          </a:p>
        </p:txBody>
      </p:sp>
    </p:spTree>
    <p:extLst>
      <p:ext uri="{BB962C8B-B14F-4D97-AF65-F5344CB8AC3E}">
        <p14:creationId xmlns:p14="http://schemas.microsoft.com/office/powerpoint/2010/main" val="57622989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524000" y="152400"/>
            <a:ext cx="7396163" cy="685800"/>
          </a:xfrm>
        </p:spPr>
        <p:txBody>
          <a:bodyPr>
            <a:noAutofit/>
          </a:bodyPr>
          <a:lstStyle/>
          <a:p>
            <a:pPr algn="r"/>
            <a:r>
              <a:rPr lang="en-US" altLang="en-US" sz="2800" b="1" dirty="0">
                <a:solidFill>
                  <a:srgbClr val="FF0000"/>
                </a:solidFill>
              </a:rPr>
              <a:t>Psychological Disorders</a:t>
            </a:r>
          </a:p>
        </p:txBody>
      </p:sp>
      <p:sp>
        <p:nvSpPr>
          <p:cNvPr id="4" name="object 4">
            <a:extLst>
              <a:ext uri="{FF2B5EF4-FFF2-40B4-BE49-F238E27FC236}">
                <a16:creationId xmlns:a16="http://schemas.microsoft.com/office/drawing/2014/main" id="{D053AA82-8C93-9E81-4EF4-F652AE33CA56}"/>
              </a:ext>
            </a:extLst>
          </p:cNvPr>
          <p:cNvSpPr txBox="1"/>
          <p:nvPr/>
        </p:nvSpPr>
        <p:spPr>
          <a:xfrm>
            <a:off x="1143000" y="381000"/>
            <a:ext cx="7465219" cy="6260688"/>
          </a:xfrm>
          <a:prstGeom prst="rect">
            <a:avLst/>
          </a:prstGeom>
        </p:spPr>
        <p:txBody>
          <a:bodyPr vert="horz" wrap="square" lIns="0" tIns="12700" rIns="0" bIns="0" rtlCol="0">
            <a:spAutoFit/>
          </a:bodyPr>
          <a:lstStyle/>
          <a:p>
            <a:pPr marL="299085" indent="-287020">
              <a:lnSpc>
                <a:spcPct val="100000"/>
              </a:lnSpc>
              <a:spcBef>
                <a:spcPts val="600"/>
              </a:spcBef>
              <a:spcAft>
                <a:spcPts val="600"/>
              </a:spcAft>
              <a:buFont typeface="Wingdings"/>
              <a:buChar char=""/>
              <a:tabLst>
                <a:tab pos="299720" algn="l"/>
              </a:tabLst>
            </a:pPr>
            <a:r>
              <a:rPr sz="2200" b="1" spc="-5" dirty="0">
                <a:solidFill>
                  <a:srgbClr val="202020"/>
                </a:solidFill>
                <a:latin typeface="+mj-lt"/>
                <a:cs typeface="Times New Roman"/>
              </a:rPr>
              <a:t>Anxiety</a:t>
            </a:r>
            <a:r>
              <a:rPr sz="2200" b="1" spc="-15" dirty="0">
                <a:solidFill>
                  <a:srgbClr val="202020"/>
                </a:solidFill>
                <a:latin typeface="+mj-lt"/>
                <a:cs typeface="Times New Roman"/>
              </a:rPr>
              <a:t> </a:t>
            </a:r>
            <a:r>
              <a:rPr sz="2200" b="1" spc="-5" dirty="0">
                <a:solidFill>
                  <a:srgbClr val="202020"/>
                </a:solidFill>
                <a:latin typeface="+mj-lt"/>
                <a:cs typeface="Times New Roman"/>
              </a:rPr>
              <a:t>Disorders</a:t>
            </a:r>
            <a:endParaRPr sz="2200" dirty="0">
              <a:latin typeface="+mj-lt"/>
              <a:cs typeface="Times New Roman"/>
            </a:endParaRPr>
          </a:p>
          <a:p>
            <a:pPr marL="756285" lvl="1" indent="-287655">
              <a:lnSpc>
                <a:spcPct val="100000"/>
              </a:lnSpc>
              <a:spcBef>
                <a:spcPts val="600"/>
              </a:spcBef>
              <a:spcAft>
                <a:spcPts val="600"/>
              </a:spcAft>
              <a:buFont typeface="Arial"/>
              <a:buChar char="•"/>
              <a:tabLst>
                <a:tab pos="756285" algn="l"/>
                <a:tab pos="756920" algn="l"/>
              </a:tabLst>
            </a:pPr>
            <a:r>
              <a:rPr sz="2200" dirty="0">
                <a:solidFill>
                  <a:srgbClr val="202020"/>
                </a:solidFill>
                <a:latin typeface="+mj-lt"/>
                <a:cs typeface="Times New Roman"/>
              </a:rPr>
              <a:t>Generalized </a:t>
            </a:r>
            <a:r>
              <a:rPr sz="2200" spc="-5" dirty="0">
                <a:solidFill>
                  <a:srgbClr val="202020"/>
                </a:solidFill>
                <a:latin typeface="+mj-lt"/>
                <a:cs typeface="Times New Roman"/>
              </a:rPr>
              <a:t>Anxiety Disorder</a:t>
            </a:r>
            <a:r>
              <a:rPr sz="2200" spc="-130" dirty="0">
                <a:solidFill>
                  <a:srgbClr val="202020"/>
                </a:solidFill>
                <a:latin typeface="+mj-lt"/>
                <a:cs typeface="Times New Roman"/>
              </a:rPr>
              <a:t> </a:t>
            </a:r>
            <a:r>
              <a:rPr sz="2200" spc="-5" dirty="0">
                <a:solidFill>
                  <a:srgbClr val="202020"/>
                </a:solidFill>
                <a:latin typeface="+mj-lt"/>
                <a:cs typeface="Times New Roman"/>
              </a:rPr>
              <a:t>(GAD)</a:t>
            </a:r>
            <a:endParaRPr sz="2200" dirty="0">
              <a:latin typeface="+mj-lt"/>
              <a:cs typeface="Times New Roman"/>
            </a:endParaRPr>
          </a:p>
          <a:p>
            <a:pPr marL="756285" lvl="1" indent="-287655">
              <a:lnSpc>
                <a:spcPct val="100000"/>
              </a:lnSpc>
              <a:spcBef>
                <a:spcPts val="600"/>
              </a:spcBef>
              <a:spcAft>
                <a:spcPts val="600"/>
              </a:spcAft>
              <a:buFont typeface="Arial"/>
              <a:buChar char="•"/>
              <a:tabLst>
                <a:tab pos="756285" algn="l"/>
                <a:tab pos="756920" algn="l"/>
              </a:tabLst>
            </a:pPr>
            <a:r>
              <a:rPr sz="2200" dirty="0">
                <a:solidFill>
                  <a:srgbClr val="202020"/>
                </a:solidFill>
                <a:latin typeface="+mj-lt"/>
                <a:cs typeface="Times New Roman"/>
              </a:rPr>
              <a:t>Agoraphobia</a:t>
            </a:r>
            <a:endParaRPr sz="2200" dirty="0">
              <a:latin typeface="+mj-lt"/>
              <a:cs typeface="Times New Roman"/>
            </a:endParaRPr>
          </a:p>
          <a:p>
            <a:pPr marL="756285" lvl="1" indent="-287655">
              <a:lnSpc>
                <a:spcPct val="100000"/>
              </a:lnSpc>
              <a:spcBef>
                <a:spcPts val="600"/>
              </a:spcBef>
              <a:spcAft>
                <a:spcPts val="600"/>
              </a:spcAft>
              <a:buFont typeface="Arial"/>
              <a:buChar char="•"/>
              <a:tabLst>
                <a:tab pos="756285" algn="l"/>
                <a:tab pos="756920" algn="l"/>
              </a:tabLst>
            </a:pPr>
            <a:r>
              <a:rPr sz="2200" dirty="0">
                <a:solidFill>
                  <a:srgbClr val="202020"/>
                </a:solidFill>
                <a:latin typeface="+mj-lt"/>
                <a:cs typeface="Times New Roman"/>
              </a:rPr>
              <a:t>Social Anxiety</a:t>
            </a:r>
            <a:r>
              <a:rPr sz="2200" spc="-125" dirty="0">
                <a:solidFill>
                  <a:srgbClr val="202020"/>
                </a:solidFill>
                <a:latin typeface="+mj-lt"/>
                <a:cs typeface="Times New Roman"/>
              </a:rPr>
              <a:t> </a:t>
            </a:r>
            <a:r>
              <a:rPr sz="2200" dirty="0">
                <a:solidFill>
                  <a:srgbClr val="202020"/>
                </a:solidFill>
                <a:latin typeface="+mj-lt"/>
                <a:cs typeface="Times New Roman"/>
              </a:rPr>
              <a:t>Disorder</a:t>
            </a:r>
            <a:endParaRPr sz="2200" dirty="0">
              <a:latin typeface="+mj-lt"/>
              <a:cs typeface="Times New Roman"/>
            </a:endParaRPr>
          </a:p>
          <a:p>
            <a:pPr marL="756285" lvl="1" indent="-287655">
              <a:lnSpc>
                <a:spcPct val="100000"/>
              </a:lnSpc>
              <a:spcBef>
                <a:spcPts val="600"/>
              </a:spcBef>
              <a:spcAft>
                <a:spcPts val="600"/>
              </a:spcAft>
              <a:buFont typeface="Arial"/>
              <a:buChar char="•"/>
              <a:tabLst>
                <a:tab pos="756285" algn="l"/>
                <a:tab pos="756920" algn="l"/>
              </a:tabLst>
            </a:pPr>
            <a:r>
              <a:rPr sz="2200" dirty="0">
                <a:solidFill>
                  <a:srgbClr val="202020"/>
                </a:solidFill>
                <a:latin typeface="+mj-lt"/>
                <a:cs typeface="Times New Roman"/>
              </a:rPr>
              <a:t>Specific</a:t>
            </a:r>
            <a:r>
              <a:rPr sz="2200" spc="-20" dirty="0">
                <a:solidFill>
                  <a:srgbClr val="202020"/>
                </a:solidFill>
                <a:latin typeface="+mj-lt"/>
                <a:cs typeface="Times New Roman"/>
              </a:rPr>
              <a:t> </a:t>
            </a:r>
            <a:r>
              <a:rPr sz="2200" dirty="0">
                <a:solidFill>
                  <a:srgbClr val="202020"/>
                </a:solidFill>
                <a:latin typeface="+mj-lt"/>
                <a:cs typeface="Times New Roman"/>
              </a:rPr>
              <a:t>Phobias</a:t>
            </a:r>
            <a:endParaRPr sz="2200" dirty="0">
              <a:latin typeface="+mj-lt"/>
              <a:cs typeface="Times New Roman"/>
            </a:endParaRPr>
          </a:p>
          <a:p>
            <a:pPr marL="756285" lvl="1" indent="-287655">
              <a:lnSpc>
                <a:spcPct val="100000"/>
              </a:lnSpc>
              <a:spcBef>
                <a:spcPts val="600"/>
              </a:spcBef>
              <a:spcAft>
                <a:spcPts val="600"/>
              </a:spcAft>
              <a:buFont typeface="Arial"/>
              <a:buChar char="•"/>
              <a:tabLst>
                <a:tab pos="756285" algn="l"/>
                <a:tab pos="756920" algn="l"/>
              </a:tabLst>
            </a:pPr>
            <a:r>
              <a:rPr sz="2200" dirty="0">
                <a:solidFill>
                  <a:srgbClr val="202020"/>
                </a:solidFill>
                <a:latin typeface="+mj-lt"/>
                <a:cs typeface="Times New Roman"/>
              </a:rPr>
              <a:t>Panic</a:t>
            </a:r>
            <a:r>
              <a:rPr sz="2200" spc="-5" dirty="0">
                <a:solidFill>
                  <a:srgbClr val="202020"/>
                </a:solidFill>
                <a:latin typeface="+mj-lt"/>
                <a:cs typeface="Times New Roman"/>
              </a:rPr>
              <a:t> </a:t>
            </a:r>
            <a:r>
              <a:rPr sz="2200" dirty="0">
                <a:solidFill>
                  <a:srgbClr val="202020"/>
                </a:solidFill>
                <a:latin typeface="+mj-lt"/>
                <a:cs typeface="Times New Roman"/>
              </a:rPr>
              <a:t>Disorder</a:t>
            </a:r>
            <a:endParaRPr sz="2200" dirty="0">
              <a:latin typeface="+mj-lt"/>
              <a:cs typeface="Times New Roman"/>
            </a:endParaRPr>
          </a:p>
          <a:p>
            <a:pPr marL="756285" lvl="1" indent="-287655">
              <a:lnSpc>
                <a:spcPct val="100000"/>
              </a:lnSpc>
              <a:spcBef>
                <a:spcPts val="600"/>
              </a:spcBef>
              <a:spcAft>
                <a:spcPts val="600"/>
              </a:spcAft>
              <a:buFont typeface="Arial"/>
              <a:buChar char="•"/>
              <a:tabLst>
                <a:tab pos="756285" algn="l"/>
                <a:tab pos="756920" algn="l"/>
              </a:tabLst>
            </a:pPr>
            <a:r>
              <a:rPr sz="2200" dirty="0">
                <a:solidFill>
                  <a:srgbClr val="202020"/>
                </a:solidFill>
                <a:latin typeface="+mj-lt"/>
                <a:cs typeface="Times New Roman"/>
              </a:rPr>
              <a:t>Separation </a:t>
            </a:r>
            <a:r>
              <a:rPr sz="2200" spc="-5" dirty="0">
                <a:solidFill>
                  <a:srgbClr val="202020"/>
                </a:solidFill>
                <a:latin typeface="+mj-lt"/>
                <a:cs typeface="Times New Roman"/>
              </a:rPr>
              <a:t>Anxiety</a:t>
            </a:r>
            <a:r>
              <a:rPr sz="2200" spc="-130" dirty="0">
                <a:solidFill>
                  <a:srgbClr val="202020"/>
                </a:solidFill>
                <a:latin typeface="+mj-lt"/>
                <a:cs typeface="Times New Roman"/>
              </a:rPr>
              <a:t> </a:t>
            </a:r>
            <a:r>
              <a:rPr sz="2200" spc="-5" dirty="0">
                <a:solidFill>
                  <a:srgbClr val="202020"/>
                </a:solidFill>
                <a:latin typeface="+mj-lt"/>
                <a:cs typeface="Times New Roman"/>
              </a:rPr>
              <a:t>Disorder</a:t>
            </a:r>
            <a:endParaRPr lang="en-US" sz="2200" dirty="0">
              <a:latin typeface="+mj-lt"/>
              <a:cs typeface="Times New Roman"/>
            </a:endParaRPr>
          </a:p>
          <a:p>
            <a:pPr marL="0" lvl="1" indent="-285750">
              <a:lnSpc>
                <a:spcPct val="100000"/>
              </a:lnSpc>
              <a:spcBef>
                <a:spcPts val="600"/>
              </a:spcBef>
              <a:spcAft>
                <a:spcPts val="600"/>
              </a:spcAft>
              <a:buFont typeface="Wingdings" panose="05000000000000000000" pitchFamily="2" charset="2"/>
              <a:buChar char="Ø"/>
              <a:tabLst>
                <a:tab pos="756285" algn="l"/>
                <a:tab pos="756920" algn="l"/>
              </a:tabLst>
            </a:pPr>
            <a:r>
              <a:rPr sz="2200" b="1" spc="-5" dirty="0">
                <a:solidFill>
                  <a:srgbClr val="202020"/>
                </a:solidFill>
                <a:latin typeface="+mj-lt"/>
                <a:cs typeface="Times New Roman"/>
              </a:rPr>
              <a:t>Stress-Related</a:t>
            </a:r>
            <a:r>
              <a:rPr sz="2200" b="1" spc="-35" dirty="0">
                <a:solidFill>
                  <a:srgbClr val="202020"/>
                </a:solidFill>
                <a:latin typeface="+mj-lt"/>
                <a:cs typeface="Times New Roman"/>
              </a:rPr>
              <a:t> </a:t>
            </a:r>
            <a:r>
              <a:rPr sz="2200" b="1" spc="-5" dirty="0">
                <a:solidFill>
                  <a:srgbClr val="202020"/>
                </a:solidFill>
                <a:latin typeface="+mj-lt"/>
                <a:cs typeface="Times New Roman"/>
              </a:rPr>
              <a:t>Disorders</a:t>
            </a:r>
            <a:endParaRPr lang="en-US" sz="2200" dirty="0">
              <a:latin typeface="+mj-lt"/>
              <a:cs typeface="Times New Roman"/>
            </a:endParaRPr>
          </a:p>
          <a:p>
            <a:pPr marL="914400" marR="2614295" lvl="3" indent="-286385">
              <a:spcBef>
                <a:spcPts val="600"/>
              </a:spcBef>
              <a:spcAft>
                <a:spcPts val="600"/>
              </a:spcAft>
              <a:buFont typeface="Arial"/>
              <a:buChar char="•"/>
              <a:tabLst>
                <a:tab pos="286385" algn="l"/>
                <a:tab pos="287020" algn="l"/>
              </a:tabLst>
            </a:pPr>
            <a:r>
              <a:rPr lang="en-US" sz="2200" dirty="0">
                <a:solidFill>
                  <a:srgbClr val="202020"/>
                </a:solidFill>
                <a:latin typeface="+mj-lt"/>
                <a:cs typeface="Times New Roman"/>
              </a:rPr>
              <a:t>Acute </a:t>
            </a:r>
            <a:r>
              <a:rPr lang="en-US" sz="2200" spc="-5" dirty="0">
                <a:solidFill>
                  <a:srgbClr val="202020"/>
                </a:solidFill>
                <a:latin typeface="+mj-lt"/>
                <a:cs typeface="Times New Roman"/>
              </a:rPr>
              <a:t>Stress</a:t>
            </a:r>
            <a:r>
              <a:rPr lang="en-US" sz="2200" spc="-75" dirty="0">
                <a:solidFill>
                  <a:srgbClr val="202020"/>
                </a:solidFill>
                <a:latin typeface="+mj-lt"/>
                <a:cs typeface="Times New Roman"/>
              </a:rPr>
              <a:t> </a:t>
            </a:r>
            <a:r>
              <a:rPr lang="en-US" sz="2200" dirty="0">
                <a:solidFill>
                  <a:srgbClr val="202020"/>
                </a:solidFill>
                <a:latin typeface="+mj-lt"/>
                <a:cs typeface="Times New Roman"/>
              </a:rPr>
              <a:t>Disorder</a:t>
            </a:r>
            <a:endParaRPr lang="en-US" sz="2200" dirty="0">
              <a:latin typeface="+mj-lt"/>
              <a:cs typeface="Times New Roman"/>
            </a:endParaRPr>
          </a:p>
          <a:p>
            <a:pPr marL="914400" marR="2614295" lvl="3" indent="-286385">
              <a:spcBef>
                <a:spcPts val="600"/>
              </a:spcBef>
              <a:spcAft>
                <a:spcPts val="600"/>
              </a:spcAft>
              <a:buFont typeface="Arial"/>
              <a:buChar char="•"/>
              <a:tabLst>
                <a:tab pos="286385" algn="l"/>
                <a:tab pos="287020" algn="l"/>
              </a:tabLst>
            </a:pPr>
            <a:r>
              <a:rPr lang="en-US" sz="2200" spc="-5" dirty="0">
                <a:solidFill>
                  <a:srgbClr val="202020"/>
                </a:solidFill>
                <a:latin typeface="+mj-lt"/>
                <a:cs typeface="Times New Roman"/>
              </a:rPr>
              <a:t>Adjustment</a:t>
            </a:r>
            <a:r>
              <a:rPr lang="en-US" sz="2200" spc="-20" dirty="0">
                <a:solidFill>
                  <a:srgbClr val="202020"/>
                </a:solidFill>
                <a:latin typeface="+mj-lt"/>
                <a:cs typeface="Times New Roman"/>
              </a:rPr>
              <a:t> </a:t>
            </a:r>
            <a:r>
              <a:rPr lang="en-US" sz="2200" spc="-5" dirty="0">
                <a:solidFill>
                  <a:srgbClr val="202020"/>
                </a:solidFill>
                <a:latin typeface="+mj-lt"/>
                <a:cs typeface="Times New Roman"/>
              </a:rPr>
              <a:t>Disorders</a:t>
            </a:r>
            <a:endParaRPr lang="en-US" sz="2200" dirty="0">
              <a:latin typeface="+mj-lt"/>
              <a:cs typeface="Times New Roman"/>
            </a:endParaRPr>
          </a:p>
          <a:p>
            <a:pPr marL="299085" indent="-287020">
              <a:lnSpc>
                <a:spcPct val="100000"/>
              </a:lnSpc>
              <a:spcBef>
                <a:spcPts val="600"/>
              </a:spcBef>
              <a:spcAft>
                <a:spcPts val="600"/>
              </a:spcAft>
              <a:buFont typeface="Wingdings"/>
              <a:buChar char=""/>
              <a:tabLst>
                <a:tab pos="299720" algn="l"/>
              </a:tabLst>
            </a:pPr>
            <a:r>
              <a:rPr sz="2200" b="1" spc="-5" dirty="0">
                <a:solidFill>
                  <a:srgbClr val="202020"/>
                </a:solidFill>
                <a:latin typeface="+mj-lt"/>
                <a:cs typeface="Times New Roman"/>
              </a:rPr>
              <a:t>Dissociative Disorder</a:t>
            </a:r>
            <a:endParaRPr lang="en-US" sz="2200" b="1" spc="-5" dirty="0">
              <a:solidFill>
                <a:srgbClr val="202020"/>
              </a:solidFill>
              <a:latin typeface="+mj-lt"/>
              <a:cs typeface="Times New Roman"/>
            </a:endParaRPr>
          </a:p>
          <a:p>
            <a:pPr marL="299085" indent="-287020">
              <a:lnSpc>
                <a:spcPct val="100000"/>
              </a:lnSpc>
              <a:spcBef>
                <a:spcPts val="600"/>
              </a:spcBef>
              <a:spcAft>
                <a:spcPts val="600"/>
              </a:spcAft>
              <a:buFont typeface="Arial"/>
              <a:buChar char="•"/>
              <a:tabLst>
                <a:tab pos="299085" algn="l"/>
                <a:tab pos="299720" algn="l"/>
              </a:tabLst>
            </a:pPr>
            <a:r>
              <a:rPr lang="it-IT" sz="2200" dirty="0">
                <a:solidFill>
                  <a:srgbClr val="202020"/>
                </a:solidFill>
                <a:latin typeface="+mj-lt"/>
                <a:cs typeface="Times New Roman"/>
              </a:rPr>
              <a:t>Dissociative</a:t>
            </a:r>
            <a:r>
              <a:rPr lang="it-IT" sz="2200" spc="-120" dirty="0">
                <a:solidFill>
                  <a:srgbClr val="202020"/>
                </a:solidFill>
                <a:latin typeface="+mj-lt"/>
                <a:cs typeface="Times New Roman"/>
              </a:rPr>
              <a:t> </a:t>
            </a:r>
            <a:r>
              <a:rPr lang="it-IT" sz="2200" spc="-5" dirty="0">
                <a:solidFill>
                  <a:srgbClr val="202020"/>
                </a:solidFill>
                <a:latin typeface="+mj-lt"/>
                <a:cs typeface="Times New Roman"/>
              </a:rPr>
              <a:t>Amnesia</a:t>
            </a:r>
            <a:endParaRPr lang="it-IT" sz="2200" dirty="0">
              <a:latin typeface="+mj-lt"/>
              <a:cs typeface="Times New Roman"/>
            </a:endParaRPr>
          </a:p>
          <a:p>
            <a:pPr marL="299085" indent="-287020">
              <a:lnSpc>
                <a:spcPct val="100000"/>
              </a:lnSpc>
              <a:spcBef>
                <a:spcPts val="600"/>
              </a:spcBef>
              <a:spcAft>
                <a:spcPts val="600"/>
              </a:spcAft>
              <a:buFont typeface="Arial"/>
              <a:buChar char="•"/>
              <a:tabLst>
                <a:tab pos="299085" algn="l"/>
                <a:tab pos="299720" algn="l"/>
              </a:tabLst>
            </a:pPr>
            <a:r>
              <a:rPr lang="it-IT" sz="2200" spc="-5" dirty="0">
                <a:solidFill>
                  <a:srgbClr val="202020"/>
                </a:solidFill>
                <a:latin typeface="+mj-lt"/>
                <a:cs typeface="Times New Roman"/>
              </a:rPr>
              <a:t>Dissociative </a:t>
            </a:r>
            <a:r>
              <a:rPr lang="it-IT" sz="2200" dirty="0">
                <a:solidFill>
                  <a:srgbClr val="202020"/>
                </a:solidFill>
                <a:latin typeface="+mj-lt"/>
                <a:cs typeface="Times New Roman"/>
              </a:rPr>
              <a:t>Identity</a:t>
            </a:r>
            <a:r>
              <a:rPr lang="it-IT" sz="2200" spc="-65" dirty="0">
                <a:solidFill>
                  <a:srgbClr val="202020"/>
                </a:solidFill>
                <a:latin typeface="+mj-lt"/>
                <a:cs typeface="Times New Roman"/>
              </a:rPr>
              <a:t> </a:t>
            </a:r>
            <a:r>
              <a:rPr lang="it-IT" sz="2200" dirty="0">
                <a:solidFill>
                  <a:srgbClr val="202020"/>
                </a:solidFill>
                <a:latin typeface="+mj-lt"/>
                <a:cs typeface="Times New Roman"/>
              </a:rPr>
              <a:t>Disorder</a:t>
            </a:r>
            <a:endParaRPr lang="it-IT" sz="2200" dirty="0">
              <a:latin typeface="+mj-lt"/>
              <a:cs typeface="Times New Roman"/>
            </a:endParaRPr>
          </a:p>
        </p:txBody>
      </p:sp>
    </p:spTree>
    <p:extLst>
      <p:ext uri="{BB962C8B-B14F-4D97-AF65-F5344CB8AC3E}">
        <p14:creationId xmlns:p14="http://schemas.microsoft.com/office/powerpoint/2010/main" val="387299176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1676400"/>
            <a:ext cx="3047999" cy="685800"/>
          </a:xfrm>
        </p:spPr>
        <p:txBody>
          <a:bodyPr>
            <a:noAutofit/>
          </a:bodyPr>
          <a:lstStyle/>
          <a:p>
            <a:r>
              <a:rPr lang="en-US" altLang="en-US" sz="2800" b="1" dirty="0">
                <a:solidFill>
                  <a:srgbClr val="FF0000"/>
                </a:solidFill>
              </a:rPr>
              <a:t>Psychological </a:t>
            </a:r>
            <a:br>
              <a:rPr lang="en-US" altLang="en-US" sz="2800" b="1" dirty="0">
                <a:solidFill>
                  <a:srgbClr val="FF0000"/>
                </a:solidFill>
              </a:rPr>
            </a:br>
            <a:r>
              <a:rPr lang="en-US" altLang="en-US" sz="2800" b="1" dirty="0">
                <a:solidFill>
                  <a:srgbClr val="FF0000"/>
                </a:solidFill>
              </a:rPr>
              <a:t>Disorders</a:t>
            </a:r>
          </a:p>
        </p:txBody>
      </p:sp>
      <p:sp>
        <p:nvSpPr>
          <p:cNvPr id="5" name="object 2">
            <a:extLst>
              <a:ext uri="{FF2B5EF4-FFF2-40B4-BE49-F238E27FC236}">
                <a16:creationId xmlns:a16="http://schemas.microsoft.com/office/drawing/2014/main" id="{DBE7751A-C7CA-8E0B-5BC9-1E971039C60A}"/>
              </a:ext>
            </a:extLst>
          </p:cNvPr>
          <p:cNvSpPr txBox="1"/>
          <p:nvPr/>
        </p:nvSpPr>
        <p:spPr>
          <a:xfrm>
            <a:off x="3200400" y="467933"/>
            <a:ext cx="5826761" cy="5922134"/>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720" algn="l"/>
              </a:tabLst>
            </a:pPr>
            <a:r>
              <a:rPr sz="2400" b="1" dirty="0">
                <a:solidFill>
                  <a:srgbClr val="202020"/>
                </a:solidFill>
                <a:latin typeface="+mj-lt"/>
                <a:cs typeface="Times New Roman"/>
              </a:rPr>
              <a:t>Somatic Symptom</a:t>
            </a:r>
            <a:r>
              <a:rPr sz="2400" b="1" spc="-15" dirty="0">
                <a:solidFill>
                  <a:srgbClr val="202020"/>
                </a:solidFill>
                <a:latin typeface="+mj-lt"/>
                <a:cs typeface="Times New Roman"/>
              </a:rPr>
              <a:t> </a:t>
            </a:r>
            <a:r>
              <a:rPr sz="2400" b="1" spc="-5" dirty="0">
                <a:solidFill>
                  <a:srgbClr val="202020"/>
                </a:solidFill>
                <a:latin typeface="+mj-lt"/>
                <a:cs typeface="Times New Roman"/>
              </a:rPr>
              <a:t>Disorders</a:t>
            </a:r>
            <a:endParaRPr sz="2400" dirty="0">
              <a:latin typeface="+mj-lt"/>
              <a:cs typeface="Times New Roman"/>
            </a:endParaRPr>
          </a:p>
          <a:p>
            <a:pPr marL="756285" lvl="1" indent="-287020">
              <a:lnSpc>
                <a:spcPct val="100000"/>
              </a:lnSpc>
              <a:buFont typeface="Arial"/>
              <a:buChar char="•"/>
              <a:tabLst>
                <a:tab pos="756285" algn="l"/>
                <a:tab pos="756920" algn="l"/>
              </a:tabLst>
            </a:pPr>
            <a:r>
              <a:rPr sz="2400" dirty="0">
                <a:solidFill>
                  <a:srgbClr val="202020"/>
                </a:solidFill>
                <a:latin typeface="+mj-lt"/>
                <a:cs typeface="Times New Roman"/>
              </a:rPr>
              <a:t>Illness Anxiety</a:t>
            </a:r>
            <a:r>
              <a:rPr sz="2400" spc="-125" dirty="0">
                <a:solidFill>
                  <a:srgbClr val="202020"/>
                </a:solidFill>
                <a:latin typeface="+mj-lt"/>
                <a:cs typeface="Times New Roman"/>
              </a:rPr>
              <a:t> </a:t>
            </a:r>
            <a:r>
              <a:rPr sz="2400" dirty="0">
                <a:solidFill>
                  <a:srgbClr val="202020"/>
                </a:solidFill>
                <a:latin typeface="+mj-lt"/>
                <a:cs typeface="Times New Roman"/>
              </a:rPr>
              <a:t>Disorder</a:t>
            </a:r>
            <a:endParaRPr sz="2400" dirty="0">
              <a:latin typeface="+mj-lt"/>
              <a:cs typeface="Times New Roman"/>
            </a:endParaRPr>
          </a:p>
          <a:p>
            <a:pPr marL="756285" lvl="1" indent="-287020">
              <a:lnSpc>
                <a:spcPct val="100000"/>
              </a:lnSpc>
              <a:buFont typeface="Arial"/>
              <a:buChar char="•"/>
              <a:tabLst>
                <a:tab pos="756285" algn="l"/>
                <a:tab pos="756920" algn="l"/>
              </a:tabLst>
            </a:pPr>
            <a:r>
              <a:rPr sz="2400" dirty="0">
                <a:solidFill>
                  <a:srgbClr val="202020"/>
                </a:solidFill>
                <a:latin typeface="+mj-lt"/>
                <a:cs typeface="Times New Roman"/>
              </a:rPr>
              <a:t>Conversion</a:t>
            </a:r>
            <a:r>
              <a:rPr sz="2400" spc="-5" dirty="0">
                <a:solidFill>
                  <a:srgbClr val="202020"/>
                </a:solidFill>
                <a:latin typeface="+mj-lt"/>
                <a:cs typeface="Times New Roman"/>
              </a:rPr>
              <a:t> Disorder</a:t>
            </a:r>
            <a:endParaRPr sz="2400" dirty="0">
              <a:latin typeface="+mj-lt"/>
              <a:cs typeface="Times New Roman"/>
            </a:endParaRPr>
          </a:p>
          <a:p>
            <a:pPr marL="299085" indent="-287020">
              <a:lnSpc>
                <a:spcPct val="100000"/>
              </a:lnSpc>
              <a:buFont typeface="Wingdings"/>
              <a:buChar char=""/>
              <a:tabLst>
                <a:tab pos="299720" algn="l"/>
              </a:tabLst>
            </a:pPr>
            <a:r>
              <a:rPr sz="2400" b="1" dirty="0">
                <a:solidFill>
                  <a:srgbClr val="202020"/>
                </a:solidFill>
                <a:latin typeface="+mj-lt"/>
                <a:cs typeface="Times New Roman"/>
              </a:rPr>
              <a:t>Eating</a:t>
            </a:r>
            <a:r>
              <a:rPr sz="2400" b="1" spc="-15" dirty="0">
                <a:solidFill>
                  <a:srgbClr val="202020"/>
                </a:solidFill>
                <a:latin typeface="+mj-lt"/>
                <a:cs typeface="Times New Roman"/>
              </a:rPr>
              <a:t> </a:t>
            </a:r>
            <a:r>
              <a:rPr sz="2400" b="1" spc="-5" dirty="0">
                <a:solidFill>
                  <a:srgbClr val="202020"/>
                </a:solidFill>
                <a:latin typeface="+mj-lt"/>
                <a:cs typeface="Times New Roman"/>
              </a:rPr>
              <a:t>Disorders</a:t>
            </a:r>
            <a:endParaRPr sz="2400" dirty="0">
              <a:latin typeface="+mj-lt"/>
              <a:cs typeface="Times New Roman"/>
            </a:endParaRPr>
          </a:p>
          <a:p>
            <a:pPr marL="756285" lvl="1" indent="-287020">
              <a:lnSpc>
                <a:spcPct val="100000"/>
              </a:lnSpc>
              <a:buFont typeface="Arial"/>
              <a:buChar char="•"/>
              <a:tabLst>
                <a:tab pos="756285" algn="l"/>
                <a:tab pos="756920" algn="l"/>
              </a:tabLst>
            </a:pPr>
            <a:r>
              <a:rPr sz="2400" spc="-5" dirty="0">
                <a:solidFill>
                  <a:srgbClr val="202020"/>
                </a:solidFill>
                <a:latin typeface="+mj-lt"/>
                <a:cs typeface="Times New Roman"/>
              </a:rPr>
              <a:t>Anorexia</a:t>
            </a:r>
            <a:r>
              <a:rPr sz="2400" spc="-10" dirty="0">
                <a:solidFill>
                  <a:srgbClr val="202020"/>
                </a:solidFill>
                <a:latin typeface="+mj-lt"/>
                <a:cs typeface="Times New Roman"/>
              </a:rPr>
              <a:t> </a:t>
            </a:r>
            <a:r>
              <a:rPr sz="2400" spc="-5" dirty="0">
                <a:solidFill>
                  <a:srgbClr val="202020"/>
                </a:solidFill>
                <a:latin typeface="+mj-lt"/>
                <a:cs typeface="Times New Roman"/>
              </a:rPr>
              <a:t>Nervosa</a:t>
            </a:r>
            <a:endParaRPr sz="2400" dirty="0">
              <a:latin typeface="+mj-lt"/>
              <a:cs typeface="Times New Roman"/>
            </a:endParaRPr>
          </a:p>
          <a:p>
            <a:pPr marL="756285" lvl="1" indent="-287020">
              <a:lnSpc>
                <a:spcPct val="100000"/>
              </a:lnSpc>
              <a:buFont typeface="Arial"/>
              <a:buChar char="•"/>
              <a:tabLst>
                <a:tab pos="756285" algn="l"/>
                <a:tab pos="756920" algn="l"/>
              </a:tabLst>
            </a:pPr>
            <a:r>
              <a:rPr sz="2400" spc="-5" dirty="0">
                <a:solidFill>
                  <a:srgbClr val="202020"/>
                </a:solidFill>
                <a:latin typeface="+mj-lt"/>
                <a:cs typeface="Times New Roman"/>
              </a:rPr>
              <a:t>Bulimia Nervosa</a:t>
            </a:r>
            <a:endParaRPr sz="2400" dirty="0">
              <a:latin typeface="+mj-lt"/>
              <a:cs typeface="Times New Roman"/>
            </a:endParaRPr>
          </a:p>
          <a:p>
            <a:pPr marL="756285" lvl="1" indent="-287020">
              <a:lnSpc>
                <a:spcPct val="100000"/>
              </a:lnSpc>
              <a:buFont typeface="Arial"/>
              <a:buChar char="•"/>
              <a:tabLst>
                <a:tab pos="756285" algn="l"/>
                <a:tab pos="756920" algn="l"/>
              </a:tabLst>
            </a:pPr>
            <a:r>
              <a:rPr sz="2400" dirty="0">
                <a:solidFill>
                  <a:srgbClr val="202020"/>
                </a:solidFill>
                <a:latin typeface="+mj-lt"/>
                <a:cs typeface="Times New Roman"/>
              </a:rPr>
              <a:t>Rumination</a:t>
            </a:r>
            <a:r>
              <a:rPr sz="2400" spc="-15" dirty="0">
                <a:solidFill>
                  <a:srgbClr val="202020"/>
                </a:solidFill>
                <a:latin typeface="+mj-lt"/>
                <a:cs typeface="Times New Roman"/>
              </a:rPr>
              <a:t> </a:t>
            </a:r>
            <a:r>
              <a:rPr sz="2400" dirty="0">
                <a:solidFill>
                  <a:srgbClr val="202020"/>
                </a:solidFill>
                <a:latin typeface="+mj-lt"/>
                <a:cs typeface="Times New Roman"/>
              </a:rPr>
              <a:t>Disorder</a:t>
            </a:r>
            <a:endParaRPr sz="2400" dirty="0">
              <a:latin typeface="+mj-lt"/>
              <a:cs typeface="Times New Roman"/>
            </a:endParaRPr>
          </a:p>
          <a:p>
            <a:pPr marL="756285" lvl="1" indent="-287020">
              <a:lnSpc>
                <a:spcPct val="100000"/>
              </a:lnSpc>
              <a:buFont typeface="Arial"/>
              <a:buChar char="•"/>
              <a:tabLst>
                <a:tab pos="756285" algn="l"/>
                <a:tab pos="756920" algn="l"/>
              </a:tabLst>
            </a:pPr>
            <a:r>
              <a:rPr sz="2400" dirty="0">
                <a:solidFill>
                  <a:srgbClr val="202020"/>
                </a:solidFill>
                <a:latin typeface="+mj-lt"/>
                <a:cs typeface="Times New Roman"/>
              </a:rPr>
              <a:t>Pica</a:t>
            </a:r>
            <a:endParaRPr sz="2400" dirty="0">
              <a:latin typeface="+mj-lt"/>
              <a:cs typeface="Times New Roman"/>
            </a:endParaRPr>
          </a:p>
          <a:p>
            <a:pPr marL="299085" marR="3567429" indent="-299720" algn="r">
              <a:lnSpc>
                <a:spcPct val="100000"/>
              </a:lnSpc>
              <a:buFont typeface="Wingdings"/>
              <a:buChar char=""/>
              <a:tabLst>
                <a:tab pos="299720" algn="l"/>
              </a:tabLst>
            </a:pPr>
            <a:r>
              <a:rPr sz="2400" b="1" dirty="0">
                <a:solidFill>
                  <a:srgbClr val="202020"/>
                </a:solidFill>
                <a:latin typeface="+mj-lt"/>
                <a:cs typeface="Times New Roman"/>
              </a:rPr>
              <a:t>Sleep</a:t>
            </a:r>
            <a:r>
              <a:rPr sz="2400" b="1" spc="-70" dirty="0">
                <a:solidFill>
                  <a:srgbClr val="202020"/>
                </a:solidFill>
                <a:latin typeface="+mj-lt"/>
                <a:cs typeface="Times New Roman"/>
              </a:rPr>
              <a:t> </a:t>
            </a:r>
            <a:r>
              <a:rPr sz="2400" b="1" spc="-5" dirty="0">
                <a:solidFill>
                  <a:srgbClr val="202020"/>
                </a:solidFill>
                <a:latin typeface="+mj-lt"/>
                <a:cs typeface="Times New Roman"/>
              </a:rPr>
              <a:t>Disorders</a:t>
            </a:r>
            <a:endParaRPr sz="2400" dirty="0">
              <a:latin typeface="+mj-lt"/>
              <a:cs typeface="Times New Roman"/>
            </a:endParaRPr>
          </a:p>
          <a:p>
            <a:pPr marL="286385" marR="3597910" lvl="1" indent="-286385" algn="r">
              <a:lnSpc>
                <a:spcPct val="100000"/>
              </a:lnSpc>
              <a:spcBef>
                <a:spcPts val="5"/>
              </a:spcBef>
              <a:buFont typeface="Arial"/>
              <a:buChar char="•"/>
              <a:tabLst>
                <a:tab pos="286385" algn="l"/>
                <a:tab pos="287020" algn="l"/>
              </a:tabLst>
            </a:pPr>
            <a:r>
              <a:rPr sz="2400" dirty="0">
                <a:solidFill>
                  <a:srgbClr val="202020"/>
                </a:solidFill>
                <a:latin typeface="+mj-lt"/>
                <a:cs typeface="Times New Roman"/>
              </a:rPr>
              <a:t>Nar</a:t>
            </a:r>
            <a:r>
              <a:rPr sz="2400" spc="5" dirty="0">
                <a:solidFill>
                  <a:srgbClr val="202020"/>
                </a:solidFill>
                <a:latin typeface="+mj-lt"/>
                <a:cs typeface="Times New Roman"/>
              </a:rPr>
              <a:t>c</a:t>
            </a:r>
            <a:r>
              <a:rPr sz="2400" dirty="0">
                <a:solidFill>
                  <a:srgbClr val="202020"/>
                </a:solidFill>
                <a:latin typeface="+mj-lt"/>
                <a:cs typeface="Times New Roman"/>
              </a:rPr>
              <a:t>ol</a:t>
            </a:r>
            <a:r>
              <a:rPr sz="2400" spc="5" dirty="0">
                <a:solidFill>
                  <a:srgbClr val="202020"/>
                </a:solidFill>
                <a:latin typeface="+mj-lt"/>
                <a:cs typeface="Times New Roman"/>
              </a:rPr>
              <a:t>e</a:t>
            </a:r>
            <a:r>
              <a:rPr sz="2400" spc="-5" dirty="0">
                <a:solidFill>
                  <a:srgbClr val="202020"/>
                </a:solidFill>
                <a:latin typeface="+mj-lt"/>
                <a:cs typeface="Times New Roman"/>
              </a:rPr>
              <a:t>psy</a:t>
            </a:r>
            <a:endParaRPr sz="2400" dirty="0">
              <a:latin typeface="+mj-lt"/>
              <a:cs typeface="Times New Roman"/>
            </a:endParaRPr>
          </a:p>
          <a:p>
            <a:pPr marL="756285" lvl="1" indent="-287020">
              <a:lnSpc>
                <a:spcPct val="100000"/>
              </a:lnSpc>
              <a:buFont typeface="Arial"/>
              <a:buChar char="•"/>
              <a:tabLst>
                <a:tab pos="756285" algn="l"/>
                <a:tab pos="756920" algn="l"/>
              </a:tabLst>
            </a:pPr>
            <a:r>
              <a:rPr sz="2400" spc="-5" dirty="0">
                <a:solidFill>
                  <a:srgbClr val="202020"/>
                </a:solidFill>
                <a:latin typeface="+mj-lt"/>
                <a:cs typeface="Times New Roman"/>
              </a:rPr>
              <a:t>Insomnia</a:t>
            </a:r>
            <a:r>
              <a:rPr sz="2400" spc="5" dirty="0">
                <a:solidFill>
                  <a:srgbClr val="202020"/>
                </a:solidFill>
                <a:latin typeface="+mj-lt"/>
                <a:cs typeface="Times New Roman"/>
              </a:rPr>
              <a:t> </a:t>
            </a:r>
            <a:r>
              <a:rPr sz="2400" dirty="0">
                <a:solidFill>
                  <a:srgbClr val="202020"/>
                </a:solidFill>
                <a:latin typeface="+mj-lt"/>
                <a:cs typeface="Times New Roman"/>
              </a:rPr>
              <a:t>Disorder</a:t>
            </a:r>
            <a:endParaRPr sz="2400" dirty="0">
              <a:latin typeface="+mj-lt"/>
              <a:cs typeface="Times New Roman"/>
            </a:endParaRPr>
          </a:p>
          <a:p>
            <a:pPr marL="756285" lvl="1" indent="-287020">
              <a:lnSpc>
                <a:spcPct val="100000"/>
              </a:lnSpc>
              <a:buFont typeface="Arial"/>
              <a:buChar char="•"/>
              <a:tabLst>
                <a:tab pos="756285" algn="l"/>
                <a:tab pos="756920" algn="l"/>
              </a:tabLst>
            </a:pPr>
            <a:r>
              <a:rPr sz="2400" dirty="0">
                <a:solidFill>
                  <a:srgbClr val="202020"/>
                </a:solidFill>
                <a:latin typeface="+mj-lt"/>
                <a:cs typeface="Times New Roman"/>
              </a:rPr>
              <a:t>Hypersomnolence</a:t>
            </a:r>
            <a:endParaRPr sz="2400" dirty="0">
              <a:latin typeface="+mj-lt"/>
              <a:cs typeface="Times New Roman"/>
            </a:endParaRPr>
          </a:p>
          <a:p>
            <a:pPr marL="756285" lvl="1" indent="-287020">
              <a:lnSpc>
                <a:spcPct val="100000"/>
              </a:lnSpc>
              <a:buFont typeface="Arial"/>
              <a:buChar char="•"/>
              <a:tabLst>
                <a:tab pos="756285" algn="l"/>
                <a:tab pos="756920" algn="l"/>
              </a:tabLst>
            </a:pPr>
            <a:r>
              <a:rPr sz="2400" dirty="0">
                <a:solidFill>
                  <a:srgbClr val="202020"/>
                </a:solidFill>
                <a:latin typeface="+mj-lt"/>
                <a:cs typeface="Times New Roman"/>
              </a:rPr>
              <a:t>Breathing-Related Sleep</a:t>
            </a:r>
            <a:r>
              <a:rPr sz="2400" spc="-50" dirty="0">
                <a:solidFill>
                  <a:srgbClr val="202020"/>
                </a:solidFill>
                <a:latin typeface="+mj-lt"/>
                <a:cs typeface="Times New Roman"/>
              </a:rPr>
              <a:t> </a:t>
            </a:r>
            <a:r>
              <a:rPr sz="2400" spc="-5" dirty="0">
                <a:solidFill>
                  <a:srgbClr val="202020"/>
                </a:solidFill>
                <a:latin typeface="+mj-lt"/>
                <a:cs typeface="Times New Roman"/>
              </a:rPr>
              <a:t>Disorders</a:t>
            </a:r>
            <a:endParaRPr sz="2400" dirty="0">
              <a:latin typeface="+mj-lt"/>
              <a:cs typeface="Times New Roman"/>
            </a:endParaRPr>
          </a:p>
          <a:p>
            <a:pPr marL="756285" lvl="1" indent="-287020">
              <a:lnSpc>
                <a:spcPct val="100000"/>
              </a:lnSpc>
              <a:buFont typeface="Arial"/>
              <a:buChar char="•"/>
              <a:tabLst>
                <a:tab pos="756285" algn="l"/>
                <a:tab pos="756920" algn="l"/>
              </a:tabLst>
            </a:pPr>
            <a:r>
              <a:rPr sz="2400" spc="-5" dirty="0">
                <a:solidFill>
                  <a:srgbClr val="202020"/>
                </a:solidFill>
                <a:latin typeface="+mj-lt"/>
                <a:cs typeface="Times New Roman"/>
              </a:rPr>
              <a:t>Parasomnias</a:t>
            </a:r>
            <a:endParaRPr sz="2400" dirty="0">
              <a:latin typeface="+mj-lt"/>
              <a:cs typeface="Times New Roman"/>
            </a:endParaRPr>
          </a:p>
          <a:p>
            <a:pPr marL="756285" lvl="1" indent="-287020">
              <a:lnSpc>
                <a:spcPct val="100000"/>
              </a:lnSpc>
              <a:buFont typeface="Arial"/>
              <a:buChar char="•"/>
              <a:tabLst>
                <a:tab pos="756285" algn="l"/>
                <a:tab pos="756920" algn="l"/>
              </a:tabLst>
            </a:pPr>
            <a:r>
              <a:rPr sz="2400" dirty="0">
                <a:solidFill>
                  <a:srgbClr val="202020"/>
                </a:solidFill>
                <a:latin typeface="+mj-lt"/>
                <a:cs typeface="Times New Roman"/>
              </a:rPr>
              <a:t>Restless Legs</a:t>
            </a:r>
            <a:r>
              <a:rPr sz="2400" spc="-30" dirty="0">
                <a:solidFill>
                  <a:srgbClr val="202020"/>
                </a:solidFill>
                <a:latin typeface="+mj-lt"/>
                <a:cs typeface="Times New Roman"/>
              </a:rPr>
              <a:t> </a:t>
            </a:r>
            <a:r>
              <a:rPr sz="2400" dirty="0">
                <a:solidFill>
                  <a:srgbClr val="202020"/>
                </a:solidFill>
                <a:latin typeface="+mj-lt"/>
                <a:cs typeface="Times New Roman"/>
              </a:rPr>
              <a:t>Syndrome</a:t>
            </a:r>
            <a:endParaRPr sz="2400" dirty="0">
              <a:latin typeface="+mj-lt"/>
              <a:cs typeface="Times New Roman"/>
            </a:endParaRPr>
          </a:p>
        </p:txBody>
      </p:sp>
    </p:spTree>
    <p:extLst>
      <p:ext uri="{BB962C8B-B14F-4D97-AF65-F5344CB8AC3E}">
        <p14:creationId xmlns:p14="http://schemas.microsoft.com/office/powerpoint/2010/main" val="244747570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1676400"/>
            <a:ext cx="3047999" cy="685800"/>
          </a:xfrm>
        </p:spPr>
        <p:txBody>
          <a:bodyPr>
            <a:noAutofit/>
          </a:bodyPr>
          <a:lstStyle/>
          <a:p>
            <a:r>
              <a:rPr lang="en-US" altLang="en-US" sz="2800" b="1" dirty="0">
                <a:solidFill>
                  <a:srgbClr val="FF0000"/>
                </a:solidFill>
              </a:rPr>
              <a:t>Psychological </a:t>
            </a:r>
            <a:br>
              <a:rPr lang="en-US" altLang="en-US" sz="2800" b="1" dirty="0">
                <a:solidFill>
                  <a:srgbClr val="FF0000"/>
                </a:solidFill>
              </a:rPr>
            </a:br>
            <a:r>
              <a:rPr lang="en-US" altLang="en-US" sz="2800" b="1" dirty="0">
                <a:solidFill>
                  <a:srgbClr val="FF0000"/>
                </a:solidFill>
              </a:rPr>
              <a:t>Disorders</a:t>
            </a:r>
          </a:p>
        </p:txBody>
      </p:sp>
      <p:sp>
        <p:nvSpPr>
          <p:cNvPr id="4" name="object 2">
            <a:extLst>
              <a:ext uri="{FF2B5EF4-FFF2-40B4-BE49-F238E27FC236}">
                <a16:creationId xmlns:a16="http://schemas.microsoft.com/office/drawing/2014/main" id="{FE97B106-4422-802A-759E-C88E4A2FD2AD}"/>
              </a:ext>
            </a:extLst>
          </p:cNvPr>
          <p:cNvSpPr txBox="1"/>
          <p:nvPr/>
        </p:nvSpPr>
        <p:spPr>
          <a:xfrm>
            <a:off x="3276600" y="781748"/>
            <a:ext cx="5405120" cy="4414029"/>
          </a:xfrm>
          <a:prstGeom prst="rect">
            <a:avLst/>
          </a:prstGeom>
        </p:spPr>
        <p:txBody>
          <a:bodyPr vert="horz" wrap="square" lIns="0" tIns="12700" rIns="0" bIns="0" rtlCol="0">
            <a:spAutoFit/>
          </a:bodyPr>
          <a:lstStyle/>
          <a:p>
            <a:pPr marL="299085" indent="-287020">
              <a:lnSpc>
                <a:spcPct val="100000"/>
              </a:lnSpc>
              <a:spcBef>
                <a:spcPts val="600"/>
              </a:spcBef>
              <a:spcAft>
                <a:spcPts val="600"/>
              </a:spcAft>
              <a:buFont typeface="Wingdings"/>
              <a:buChar char=""/>
              <a:tabLst>
                <a:tab pos="299720" algn="l"/>
              </a:tabLst>
            </a:pPr>
            <a:r>
              <a:rPr sz="2400" b="1" spc="-5" dirty="0">
                <a:solidFill>
                  <a:srgbClr val="202020"/>
                </a:solidFill>
                <a:latin typeface="+mj-lt"/>
                <a:cs typeface="Times New Roman"/>
              </a:rPr>
              <a:t>Disruptive Disorders</a:t>
            </a:r>
            <a:endParaRPr sz="2400" dirty="0">
              <a:latin typeface="+mj-lt"/>
              <a:cs typeface="Times New Roman"/>
            </a:endParaRPr>
          </a:p>
          <a:p>
            <a:pPr marL="756285" lvl="1" indent="-287020">
              <a:lnSpc>
                <a:spcPct val="100000"/>
              </a:lnSpc>
              <a:spcBef>
                <a:spcPts val="600"/>
              </a:spcBef>
              <a:spcAft>
                <a:spcPts val="600"/>
              </a:spcAft>
              <a:buFont typeface="Arial"/>
              <a:buChar char="•"/>
              <a:tabLst>
                <a:tab pos="756285" algn="l"/>
                <a:tab pos="756920" algn="l"/>
              </a:tabLst>
            </a:pPr>
            <a:r>
              <a:rPr sz="2400" dirty="0">
                <a:solidFill>
                  <a:srgbClr val="202020"/>
                </a:solidFill>
                <a:latin typeface="+mj-lt"/>
                <a:cs typeface="Times New Roman"/>
              </a:rPr>
              <a:t>Intermittent Explosive</a:t>
            </a:r>
            <a:r>
              <a:rPr sz="2400" spc="-40" dirty="0">
                <a:solidFill>
                  <a:srgbClr val="202020"/>
                </a:solidFill>
                <a:latin typeface="+mj-lt"/>
                <a:cs typeface="Times New Roman"/>
              </a:rPr>
              <a:t> </a:t>
            </a:r>
            <a:r>
              <a:rPr sz="2400" dirty="0">
                <a:solidFill>
                  <a:srgbClr val="202020"/>
                </a:solidFill>
                <a:latin typeface="+mj-lt"/>
                <a:cs typeface="Times New Roman"/>
              </a:rPr>
              <a:t>Disorder</a:t>
            </a:r>
            <a:endParaRPr sz="2400" dirty="0">
              <a:latin typeface="+mj-lt"/>
              <a:cs typeface="Times New Roman"/>
            </a:endParaRPr>
          </a:p>
          <a:p>
            <a:pPr marL="756285" lvl="1" indent="-287020">
              <a:lnSpc>
                <a:spcPct val="100000"/>
              </a:lnSpc>
              <a:spcBef>
                <a:spcPts val="600"/>
              </a:spcBef>
              <a:spcAft>
                <a:spcPts val="600"/>
              </a:spcAft>
              <a:buFont typeface="Arial"/>
              <a:buChar char="•"/>
              <a:tabLst>
                <a:tab pos="756285" algn="l"/>
                <a:tab pos="756920" algn="l"/>
              </a:tabLst>
            </a:pPr>
            <a:r>
              <a:rPr sz="2400" spc="-5" dirty="0">
                <a:solidFill>
                  <a:srgbClr val="202020"/>
                </a:solidFill>
                <a:latin typeface="+mj-lt"/>
                <a:cs typeface="Times New Roman"/>
              </a:rPr>
              <a:t>Oppositional </a:t>
            </a:r>
            <a:r>
              <a:rPr sz="2400" dirty="0">
                <a:solidFill>
                  <a:srgbClr val="202020"/>
                </a:solidFill>
                <a:latin typeface="+mj-lt"/>
                <a:cs typeface="Times New Roman"/>
              </a:rPr>
              <a:t>Defiant</a:t>
            </a:r>
            <a:r>
              <a:rPr sz="2400" spc="-15" dirty="0">
                <a:solidFill>
                  <a:srgbClr val="202020"/>
                </a:solidFill>
                <a:latin typeface="+mj-lt"/>
                <a:cs typeface="Times New Roman"/>
              </a:rPr>
              <a:t> </a:t>
            </a:r>
            <a:r>
              <a:rPr sz="2400" dirty="0">
                <a:solidFill>
                  <a:srgbClr val="202020"/>
                </a:solidFill>
                <a:latin typeface="+mj-lt"/>
                <a:cs typeface="Times New Roman"/>
              </a:rPr>
              <a:t>Disorder</a:t>
            </a:r>
            <a:endParaRPr sz="2400" dirty="0">
              <a:latin typeface="+mj-lt"/>
              <a:cs typeface="Times New Roman"/>
            </a:endParaRPr>
          </a:p>
          <a:p>
            <a:pPr marL="756285" lvl="1" indent="-287020">
              <a:lnSpc>
                <a:spcPct val="100000"/>
              </a:lnSpc>
              <a:spcBef>
                <a:spcPts val="600"/>
              </a:spcBef>
              <a:spcAft>
                <a:spcPts val="600"/>
              </a:spcAft>
              <a:buFont typeface="Arial"/>
              <a:buChar char="•"/>
              <a:tabLst>
                <a:tab pos="756285" algn="l"/>
                <a:tab pos="756920" algn="l"/>
              </a:tabLst>
            </a:pPr>
            <a:r>
              <a:rPr sz="2400" spc="-5" dirty="0">
                <a:solidFill>
                  <a:srgbClr val="202020"/>
                </a:solidFill>
                <a:latin typeface="+mj-lt"/>
                <a:cs typeface="Times New Roman"/>
              </a:rPr>
              <a:t>Depressive Disorders</a:t>
            </a:r>
            <a:endParaRPr sz="2400" dirty="0">
              <a:latin typeface="+mj-lt"/>
              <a:cs typeface="Times New Roman"/>
            </a:endParaRPr>
          </a:p>
          <a:p>
            <a:pPr marL="355600" indent="-343535">
              <a:lnSpc>
                <a:spcPct val="100000"/>
              </a:lnSpc>
              <a:spcBef>
                <a:spcPts val="600"/>
              </a:spcBef>
              <a:spcAft>
                <a:spcPts val="600"/>
              </a:spcAft>
              <a:buFont typeface="Wingdings"/>
              <a:buChar char=""/>
              <a:tabLst>
                <a:tab pos="355600" algn="l"/>
                <a:tab pos="356235" algn="l"/>
              </a:tabLst>
            </a:pPr>
            <a:r>
              <a:rPr sz="2400" b="1" spc="-5" dirty="0">
                <a:solidFill>
                  <a:srgbClr val="202020"/>
                </a:solidFill>
                <a:latin typeface="+mj-lt"/>
                <a:cs typeface="Times New Roman"/>
              </a:rPr>
              <a:t>Depressive</a:t>
            </a:r>
            <a:r>
              <a:rPr sz="2400" b="1" dirty="0">
                <a:solidFill>
                  <a:srgbClr val="202020"/>
                </a:solidFill>
                <a:latin typeface="+mj-lt"/>
                <a:cs typeface="Times New Roman"/>
              </a:rPr>
              <a:t> </a:t>
            </a:r>
            <a:r>
              <a:rPr sz="2400" b="1" spc="-5" dirty="0">
                <a:solidFill>
                  <a:srgbClr val="202020"/>
                </a:solidFill>
                <a:latin typeface="+mj-lt"/>
                <a:cs typeface="Times New Roman"/>
              </a:rPr>
              <a:t>Disorders</a:t>
            </a:r>
            <a:endParaRPr sz="2400" dirty="0">
              <a:latin typeface="+mj-lt"/>
              <a:cs typeface="Times New Roman"/>
            </a:endParaRPr>
          </a:p>
          <a:p>
            <a:pPr marL="756285" lvl="1" indent="-287020">
              <a:lnSpc>
                <a:spcPct val="100000"/>
              </a:lnSpc>
              <a:spcBef>
                <a:spcPts val="600"/>
              </a:spcBef>
              <a:spcAft>
                <a:spcPts val="600"/>
              </a:spcAft>
              <a:buFont typeface="Arial"/>
              <a:buChar char="•"/>
              <a:tabLst>
                <a:tab pos="756285" algn="l"/>
                <a:tab pos="756920" algn="l"/>
              </a:tabLst>
            </a:pPr>
            <a:r>
              <a:rPr sz="2400" dirty="0">
                <a:solidFill>
                  <a:srgbClr val="202020"/>
                </a:solidFill>
                <a:latin typeface="+mj-lt"/>
                <a:cs typeface="Times New Roman"/>
              </a:rPr>
              <a:t>Major </a:t>
            </a:r>
            <a:r>
              <a:rPr sz="2400" spc="-5" dirty="0">
                <a:solidFill>
                  <a:srgbClr val="202020"/>
                </a:solidFill>
                <a:latin typeface="+mj-lt"/>
                <a:cs typeface="Times New Roman"/>
              </a:rPr>
              <a:t>depressive </a:t>
            </a:r>
            <a:r>
              <a:rPr sz="2400" dirty="0">
                <a:solidFill>
                  <a:srgbClr val="202020"/>
                </a:solidFill>
                <a:latin typeface="+mj-lt"/>
                <a:cs typeface="Times New Roman"/>
              </a:rPr>
              <a:t>disorder:</a:t>
            </a:r>
            <a:endParaRPr sz="2400" dirty="0">
              <a:latin typeface="+mj-lt"/>
              <a:cs typeface="Times New Roman"/>
            </a:endParaRPr>
          </a:p>
          <a:p>
            <a:pPr marL="756285" lvl="1" indent="-287020">
              <a:lnSpc>
                <a:spcPct val="100000"/>
              </a:lnSpc>
              <a:spcBef>
                <a:spcPts val="600"/>
              </a:spcBef>
              <a:spcAft>
                <a:spcPts val="600"/>
              </a:spcAft>
              <a:buFont typeface="Arial"/>
              <a:buChar char="•"/>
              <a:tabLst>
                <a:tab pos="756285" algn="l"/>
                <a:tab pos="756920" algn="l"/>
              </a:tabLst>
            </a:pPr>
            <a:r>
              <a:rPr sz="2400" dirty="0">
                <a:solidFill>
                  <a:srgbClr val="202020"/>
                </a:solidFill>
                <a:latin typeface="+mj-lt"/>
                <a:cs typeface="Times New Roman"/>
              </a:rPr>
              <a:t>Dysthymia</a:t>
            </a:r>
            <a:endParaRPr sz="2400" dirty="0">
              <a:latin typeface="+mj-lt"/>
              <a:cs typeface="Times New Roman"/>
            </a:endParaRPr>
          </a:p>
          <a:p>
            <a:pPr marL="756285" lvl="1" indent="-287020">
              <a:lnSpc>
                <a:spcPct val="100000"/>
              </a:lnSpc>
              <a:spcBef>
                <a:spcPts val="600"/>
              </a:spcBef>
              <a:spcAft>
                <a:spcPts val="600"/>
              </a:spcAft>
              <a:buFont typeface="Arial"/>
              <a:buChar char="•"/>
              <a:tabLst>
                <a:tab pos="756285" algn="l"/>
                <a:tab pos="756920" algn="l"/>
              </a:tabLst>
            </a:pPr>
            <a:r>
              <a:rPr sz="2400" dirty="0">
                <a:solidFill>
                  <a:srgbClr val="202020"/>
                </a:solidFill>
                <a:latin typeface="+mj-lt"/>
                <a:cs typeface="Times New Roman"/>
              </a:rPr>
              <a:t>Substance/medication-induced </a:t>
            </a:r>
            <a:r>
              <a:rPr sz="2400" spc="-5" dirty="0">
                <a:solidFill>
                  <a:srgbClr val="202020"/>
                </a:solidFill>
                <a:latin typeface="+mj-lt"/>
                <a:cs typeface="Times New Roman"/>
              </a:rPr>
              <a:t>depressive</a:t>
            </a:r>
            <a:r>
              <a:rPr sz="2400" spc="-65" dirty="0">
                <a:solidFill>
                  <a:srgbClr val="202020"/>
                </a:solidFill>
                <a:latin typeface="+mj-lt"/>
                <a:cs typeface="Times New Roman"/>
              </a:rPr>
              <a:t> </a:t>
            </a:r>
            <a:r>
              <a:rPr sz="2400" dirty="0">
                <a:solidFill>
                  <a:srgbClr val="202020"/>
                </a:solidFill>
                <a:latin typeface="+mj-lt"/>
                <a:cs typeface="Times New Roman"/>
              </a:rPr>
              <a:t>disorder</a:t>
            </a:r>
            <a:endParaRPr sz="2400" dirty="0">
              <a:latin typeface="+mj-lt"/>
              <a:cs typeface="Times New Roman"/>
            </a:endParaRPr>
          </a:p>
        </p:txBody>
      </p:sp>
    </p:spTree>
    <p:extLst>
      <p:ext uri="{BB962C8B-B14F-4D97-AF65-F5344CB8AC3E}">
        <p14:creationId xmlns:p14="http://schemas.microsoft.com/office/powerpoint/2010/main" val="199769885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76200"/>
            <a:ext cx="6683765" cy="609600"/>
          </a:xfrm>
        </p:spPr>
        <p:txBody>
          <a:bodyPr/>
          <a:lstStyle/>
          <a:p>
            <a:r>
              <a:rPr lang="en-US" altLang="en-US" b="1" dirty="0">
                <a:solidFill>
                  <a:srgbClr val="FF0000"/>
                </a:solidFill>
              </a:rPr>
              <a:t>Mind : Defined as Function</a:t>
            </a:r>
          </a:p>
        </p:txBody>
      </p:sp>
      <p:sp>
        <p:nvSpPr>
          <p:cNvPr id="9219" name="Rectangle 3"/>
          <p:cNvSpPr>
            <a:spLocks noGrp="1" noChangeArrowheads="1"/>
          </p:cNvSpPr>
          <p:nvPr>
            <p:ph idx="1"/>
          </p:nvPr>
        </p:nvSpPr>
        <p:spPr bwMode="auto">
          <a:xfrm>
            <a:off x="533400" y="762000"/>
            <a:ext cx="8440927" cy="6019800"/>
          </a:xfrm>
        </p:spPr>
        <p:txBody>
          <a:bodyPr wrap="square" numCol="1" anchor="t" anchorCtr="0" compatLnSpc="1">
            <a:prstTxWarp prst="textNoShape">
              <a:avLst/>
            </a:prstTxWarp>
            <a:noAutofit/>
          </a:bodyPr>
          <a:lstStyle/>
          <a:p>
            <a:pPr>
              <a:lnSpc>
                <a:spcPct val="150000"/>
              </a:lnSpc>
            </a:pPr>
            <a:r>
              <a:rPr lang="en-US" altLang="en-US" sz="2400" dirty="0">
                <a:latin typeface="+mj-lt"/>
                <a:ea typeface="+mj-ea"/>
                <a:cs typeface="Times New Roman"/>
              </a:rPr>
              <a:t>      Individual is not functioning adequately based on either his/her standards or according to significant others in the person’s life.</a:t>
            </a:r>
          </a:p>
          <a:p>
            <a:pPr>
              <a:lnSpc>
                <a:spcPct val="150000"/>
              </a:lnSpc>
            </a:pPr>
            <a:r>
              <a:rPr lang="en-US" altLang="en-US" sz="2400" dirty="0">
                <a:latin typeface="+mj-lt"/>
                <a:ea typeface="+mj-ea"/>
                <a:cs typeface="Times New Roman"/>
              </a:rPr>
              <a:t>Almost all the disorders we discuss have symptoms that everyone experiences.  Diagnosis of disorder depends of intensity, length of time and how much it’s impacting on the person.</a:t>
            </a:r>
          </a:p>
          <a:p>
            <a:pPr lvl="1">
              <a:lnSpc>
                <a:spcPct val="150000"/>
              </a:lnSpc>
            </a:pPr>
            <a:r>
              <a:rPr lang="en-US" altLang="en-US" sz="2400" dirty="0">
                <a:solidFill>
                  <a:schemeClr val="tx1"/>
                </a:solidFill>
                <a:latin typeface="+mj-lt"/>
                <a:ea typeface="+mj-ea"/>
                <a:cs typeface="Times New Roman"/>
              </a:rPr>
              <a:t>Depression</a:t>
            </a:r>
          </a:p>
          <a:p>
            <a:pPr lvl="1">
              <a:lnSpc>
                <a:spcPct val="150000"/>
              </a:lnSpc>
            </a:pPr>
            <a:r>
              <a:rPr lang="en-US" altLang="en-US" sz="2400" dirty="0">
                <a:solidFill>
                  <a:schemeClr val="tx1"/>
                </a:solidFill>
                <a:latin typeface="+mj-lt"/>
                <a:ea typeface="+mj-ea"/>
                <a:cs typeface="Times New Roman"/>
              </a:rPr>
              <a:t>Anxiety</a:t>
            </a:r>
          </a:p>
          <a:p>
            <a:pPr lvl="1">
              <a:lnSpc>
                <a:spcPct val="150000"/>
              </a:lnSpc>
            </a:pPr>
            <a:r>
              <a:rPr lang="en-US" altLang="en-US" sz="2400" dirty="0">
                <a:solidFill>
                  <a:schemeClr val="tx1"/>
                </a:solidFill>
                <a:latin typeface="+mj-lt"/>
                <a:ea typeface="+mj-ea"/>
                <a:cs typeface="Times New Roman"/>
              </a:rPr>
              <a:t>Psychosis?</a:t>
            </a:r>
          </a:p>
        </p:txBody>
      </p:sp>
    </p:spTree>
    <p:extLst>
      <p:ext uri="{BB962C8B-B14F-4D97-AF65-F5344CB8AC3E}">
        <p14:creationId xmlns:p14="http://schemas.microsoft.com/office/powerpoint/2010/main" val="103597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bwMode="auto">
          <a:xfrm>
            <a:off x="482600" y="1676400"/>
            <a:ext cx="8178800" cy="3016210"/>
          </a:xfrm>
        </p:spPr>
        <p:txBody>
          <a:bodyPr wrap="square" numCol="1" anchor="t" anchorCtr="0" compatLnSpc="1">
            <a:prstTxWarp prst="textNoShape">
              <a:avLst/>
            </a:prstTxWarp>
            <a:noAutofit/>
          </a:bodyPr>
          <a:lstStyle/>
          <a:p>
            <a:pPr marL="342900" lvl="1" indent="-342900">
              <a:spcBef>
                <a:spcPts val="600"/>
              </a:spcBef>
              <a:spcAft>
                <a:spcPts val="600"/>
              </a:spcAft>
              <a:buClr>
                <a:srgbClr val="FF00FF"/>
              </a:buClr>
              <a:buFont typeface="Wingdings" panose="05000000000000000000" pitchFamily="2" charset="2"/>
              <a:buChar char="Ø"/>
            </a:pPr>
            <a:r>
              <a:rPr lang="en-US" altLang="en-US" sz="2600" dirty="0">
                <a:latin typeface="+mj-lt"/>
                <a:cs typeface="Times New Roman" panose="02020603050405020304" pitchFamily="18" charset="0"/>
              </a:rPr>
              <a:t>concept that diseases have physical causes</a:t>
            </a:r>
          </a:p>
          <a:p>
            <a:pPr marL="342900" lvl="1" indent="-342900">
              <a:spcBef>
                <a:spcPts val="600"/>
              </a:spcBef>
              <a:spcAft>
                <a:spcPts val="600"/>
              </a:spcAft>
              <a:buClr>
                <a:srgbClr val="FF00FF"/>
              </a:buClr>
              <a:buFont typeface="Wingdings" panose="05000000000000000000" pitchFamily="2" charset="2"/>
              <a:buChar char="Ø"/>
            </a:pPr>
            <a:r>
              <a:rPr lang="en-US" altLang="en-US" sz="2600" dirty="0">
                <a:latin typeface="+mj-lt"/>
                <a:cs typeface="Times New Roman" panose="02020603050405020304" pitchFamily="18" charset="0"/>
              </a:rPr>
              <a:t>can be diagnosed, treated, and in most cases, cured</a:t>
            </a:r>
          </a:p>
          <a:p>
            <a:pPr marL="342900" lvl="1" indent="-342900" algn="just">
              <a:spcBef>
                <a:spcPts val="600"/>
              </a:spcBef>
              <a:spcAft>
                <a:spcPts val="600"/>
              </a:spcAft>
              <a:buClr>
                <a:srgbClr val="FF00FF"/>
              </a:buClr>
              <a:buFont typeface="Wingdings" panose="05000000000000000000" pitchFamily="2" charset="2"/>
              <a:buChar char="Ø"/>
            </a:pPr>
            <a:r>
              <a:rPr lang="en-US" altLang="en-US" sz="2600" dirty="0">
                <a:latin typeface="+mj-lt"/>
                <a:cs typeface="Times New Roman" panose="02020603050405020304" pitchFamily="18" charset="0"/>
              </a:rPr>
              <a:t>assumes that these “mental” illnesses can be diagnosed on the basis of their symptoms and cured through therapy, which may include treatment in a psychiatric hospital</a:t>
            </a:r>
          </a:p>
        </p:txBody>
      </p:sp>
      <p:sp>
        <p:nvSpPr>
          <p:cNvPr id="4" name="TextBox 3">
            <a:extLst>
              <a:ext uri="{FF2B5EF4-FFF2-40B4-BE49-F238E27FC236}">
                <a16:creationId xmlns:a16="http://schemas.microsoft.com/office/drawing/2014/main" id="{7EC17595-BDB1-82C3-5CFF-AB8995CE5248}"/>
              </a:ext>
            </a:extLst>
          </p:cNvPr>
          <p:cNvSpPr txBox="1"/>
          <p:nvPr/>
        </p:nvSpPr>
        <p:spPr>
          <a:xfrm>
            <a:off x="685800" y="152400"/>
            <a:ext cx="4572000" cy="523220"/>
          </a:xfrm>
          <a:prstGeom prst="rect">
            <a:avLst/>
          </a:prstGeom>
          <a:noFill/>
        </p:spPr>
        <p:txBody>
          <a:bodyPr wrap="square">
            <a:spAutoFit/>
          </a:bodyPr>
          <a:lstStyle/>
          <a:p>
            <a:r>
              <a:rPr lang="en-US" altLang="en-US" sz="2800" b="1" dirty="0">
                <a:solidFill>
                  <a:srgbClr val="FF0000"/>
                </a:solidFill>
                <a:latin typeface="+mj-lt"/>
                <a:cs typeface="Times New Roman" panose="02020603050405020304" pitchFamily="18" charset="0"/>
              </a:rPr>
              <a:t>Medical Model</a:t>
            </a:r>
          </a:p>
        </p:txBody>
      </p:sp>
    </p:spTree>
    <p:extLst>
      <p:ext uri="{BB962C8B-B14F-4D97-AF65-F5344CB8AC3E}">
        <p14:creationId xmlns:p14="http://schemas.microsoft.com/office/powerpoint/2010/main" val="165926352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152400"/>
            <a:ext cx="7396163" cy="430887"/>
          </a:xfrm>
        </p:spPr>
        <p:txBody>
          <a:bodyPr>
            <a:noAutofit/>
          </a:bodyPr>
          <a:lstStyle/>
          <a:p>
            <a:r>
              <a:rPr lang="en-US" altLang="en-US" sz="2800" b="1" dirty="0">
                <a:solidFill>
                  <a:srgbClr val="FF0000"/>
                </a:solidFill>
              </a:rPr>
              <a:t>Anxiety Disorders</a:t>
            </a:r>
          </a:p>
        </p:txBody>
      </p:sp>
      <p:sp>
        <p:nvSpPr>
          <p:cNvPr id="13315" name="Rectangle 3"/>
          <p:cNvSpPr>
            <a:spLocks noGrp="1" noChangeArrowheads="1"/>
          </p:cNvSpPr>
          <p:nvPr>
            <p:ph idx="1"/>
          </p:nvPr>
        </p:nvSpPr>
        <p:spPr bwMode="auto">
          <a:xfrm>
            <a:off x="838200" y="685800"/>
            <a:ext cx="8178800" cy="3447098"/>
          </a:xfrm>
        </p:spPr>
        <p:txBody>
          <a:bodyPr wrap="square" numCol="1" anchor="t" anchorCtr="0" compatLnSpc="1">
            <a:prstTxWarp prst="textNoShape">
              <a:avLst/>
            </a:prstTxWarp>
            <a:normAutofit fontScale="92500" lnSpcReduction="10000"/>
          </a:bodyPr>
          <a:lstStyle/>
          <a:p>
            <a:pPr lvl="1">
              <a:spcBef>
                <a:spcPts val="600"/>
              </a:spcBef>
              <a:spcAft>
                <a:spcPts val="600"/>
              </a:spcAft>
              <a:buClr>
                <a:srgbClr val="FF00FF"/>
              </a:buClr>
              <a:buFont typeface="Wingdings" panose="05000000000000000000" pitchFamily="2" charset="2"/>
              <a:buChar char="Ø"/>
            </a:pPr>
            <a:r>
              <a:rPr lang="en-US" altLang="en-US" sz="2800" dirty="0"/>
              <a:t>distressing, persistent anxiety or maladaptive behaviors that reduce anxiety</a:t>
            </a:r>
          </a:p>
          <a:p>
            <a:pPr lvl="1">
              <a:spcBef>
                <a:spcPts val="600"/>
              </a:spcBef>
              <a:spcAft>
                <a:spcPts val="600"/>
              </a:spcAft>
              <a:buClr>
                <a:srgbClr val="FF00FF"/>
              </a:buClr>
              <a:buFont typeface="Wingdings" panose="05000000000000000000" pitchFamily="2" charset="2"/>
              <a:buChar char="Ø"/>
            </a:pPr>
            <a:r>
              <a:rPr lang="en-US" altLang="en-US" sz="2800" dirty="0"/>
              <a:t>Generalized Anxiety Disorder</a:t>
            </a:r>
          </a:p>
          <a:p>
            <a:pPr lvl="1">
              <a:spcBef>
                <a:spcPts val="600"/>
              </a:spcBef>
              <a:spcAft>
                <a:spcPts val="600"/>
              </a:spcAft>
              <a:buClr>
                <a:srgbClr val="FF00FF"/>
              </a:buClr>
              <a:buFont typeface="Wingdings" panose="05000000000000000000" pitchFamily="2" charset="2"/>
              <a:buChar char="Ø"/>
            </a:pPr>
            <a:r>
              <a:rPr lang="en-US" altLang="en-US" sz="2800" dirty="0"/>
              <a:t>person is tense, apprehensive, and in a state of autonomic nervous system arousal</a:t>
            </a:r>
          </a:p>
          <a:p>
            <a:pPr lvl="1">
              <a:spcBef>
                <a:spcPts val="600"/>
              </a:spcBef>
              <a:spcAft>
                <a:spcPts val="600"/>
              </a:spcAft>
              <a:buClr>
                <a:srgbClr val="FF00FF"/>
              </a:buClr>
              <a:buFont typeface="Wingdings" panose="05000000000000000000" pitchFamily="2" charset="2"/>
              <a:buChar char="Ø"/>
            </a:pPr>
            <a:r>
              <a:rPr lang="en-US" altLang="en-US" sz="2800" dirty="0"/>
              <a:t>Persistence (out of control)</a:t>
            </a:r>
          </a:p>
          <a:p>
            <a:pPr lvl="1">
              <a:spcBef>
                <a:spcPts val="600"/>
              </a:spcBef>
              <a:spcAft>
                <a:spcPts val="600"/>
              </a:spcAft>
              <a:buClr>
                <a:srgbClr val="FF00FF"/>
              </a:buClr>
              <a:buFont typeface="Wingdings" panose="05000000000000000000" pitchFamily="2" charset="2"/>
              <a:buChar char="Ø"/>
            </a:pPr>
            <a:r>
              <a:rPr lang="en-US" altLang="en-US" sz="2800" dirty="0"/>
              <a:t>Problem in identifying source</a:t>
            </a:r>
          </a:p>
        </p:txBody>
      </p:sp>
      <p:pic>
        <p:nvPicPr>
          <p:cNvPr id="4" name="Picture 2" descr="How Can You Ease Back-to-School Anxiety and Stress?">
            <a:extLst>
              <a:ext uri="{FF2B5EF4-FFF2-40B4-BE49-F238E27FC236}">
                <a16:creationId xmlns:a16="http://schemas.microsoft.com/office/drawing/2014/main" id="{32E0511C-B8AA-6C59-1339-4BAD49E5C5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3962400"/>
            <a:ext cx="45720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66781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152400"/>
            <a:ext cx="7396163" cy="430887"/>
          </a:xfrm>
        </p:spPr>
        <p:txBody>
          <a:bodyPr>
            <a:noAutofit/>
          </a:bodyPr>
          <a:lstStyle/>
          <a:p>
            <a:r>
              <a:rPr lang="en-US" altLang="en-US" sz="2800" b="1" dirty="0">
                <a:solidFill>
                  <a:srgbClr val="FF0000"/>
                </a:solidFill>
              </a:rPr>
              <a:t>Anxiety Disorders / Panic Disorders</a:t>
            </a:r>
            <a:br>
              <a:rPr lang="en-US" altLang="en-US" sz="2800" dirty="0"/>
            </a:br>
            <a:endParaRPr lang="en-US" altLang="en-US" sz="2800" b="1" dirty="0">
              <a:solidFill>
                <a:srgbClr val="FF0000"/>
              </a:solidFill>
            </a:endParaRPr>
          </a:p>
        </p:txBody>
      </p:sp>
      <p:sp>
        <p:nvSpPr>
          <p:cNvPr id="7" name="TextBox 6">
            <a:extLst>
              <a:ext uri="{FF2B5EF4-FFF2-40B4-BE49-F238E27FC236}">
                <a16:creationId xmlns:a16="http://schemas.microsoft.com/office/drawing/2014/main" id="{8C4C4B91-EC82-3491-5865-E46FB38F21B0}"/>
              </a:ext>
            </a:extLst>
          </p:cNvPr>
          <p:cNvSpPr txBox="1"/>
          <p:nvPr/>
        </p:nvSpPr>
        <p:spPr>
          <a:xfrm>
            <a:off x="723900" y="762000"/>
            <a:ext cx="7696200" cy="4124206"/>
          </a:xfrm>
          <a:prstGeom prst="rect">
            <a:avLst/>
          </a:prstGeom>
          <a:noFill/>
        </p:spPr>
        <p:txBody>
          <a:bodyPr wrap="square">
            <a:spAutoFit/>
          </a:bodyPr>
          <a:lstStyle/>
          <a:p>
            <a:pPr marL="914400" lvl="1" indent="-457200" algn="just">
              <a:spcBef>
                <a:spcPts val="600"/>
              </a:spcBef>
              <a:spcAft>
                <a:spcPts val="600"/>
              </a:spcAft>
              <a:buClr>
                <a:srgbClr val="FF00FF"/>
              </a:buClr>
              <a:buFont typeface="Wingdings" panose="05000000000000000000" pitchFamily="2" charset="2"/>
              <a:buChar char="Ø"/>
            </a:pPr>
            <a:r>
              <a:rPr lang="en-US" altLang="en-US" sz="2800" dirty="0"/>
              <a:t>marked by a minutes-long episode of intense dread in which a person experiences terror and accompanying chest pain, choking, or other frightening sensation</a:t>
            </a:r>
          </a:p>
          <a:p>
            <a:pPr marL="914400" lvl="1" indent="-457200" algn="just">
              <a:spcBef>
                <a:spcPts val="600"/>
              </a:spcBef>
              <a:spcAft>
                <a:spcPts val="600"/>
              </a:spcAft>
              <a:buClr>
                <a:srgbClr val="FF00FF"/>
              </a:buClr>
              <a:buFont typeface="Wingdings" panose="05000000000000000000" pitchFamily="2" charset="2"/>
              <a:buChar char="Ø"/>
            </a:pPr>
            <a:r>
              <a:rPr lang="en-US" altLang="en-US" sz="2800" dirty="0"/>
              <a:t>Person comes to fear the panic attack itself and start to avoid any situations or places that might provoke an attack</a:t>
            </a:r>
          </a:p>
        </p:txBody>
      </p:sp>
    </p:spTree>
    <p:extLst>
      <p:ext uri="{BB962C8B-B14F-4D97-AF65-F5344CB8AC3E}">
        <p14:creationId xmlns:p14="http://schemas.microsoft.com/office/powerpoint/2010/main" val="101029905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152400"/>
            <a:ext cx="7396163" cy="430887"/>
          </a:xfrm>
        </p:spPr>
        <p:txBody>
          <a:bodyPr>
            <a:noAutofit/>
          </a:bodyPr>
          <a:lstStyle/>
          <a:p>
            <a:r>
              <a:rPr lang="en-US" altLang="en-US" sz="2800" b="1" dirty="0">
                <a:solidFill>
                  <a:srgbClr val="FF0000"/>
                </a:solidFill>
              </a:rPr>
              <a:t>Anxiety Disorders / Panic Disorders</a:t>
            </a:r>
            <a:br>
              <a:rPr lang="en-US" altLang="en-US" sz="2800" dirty="0"/>
            </a:br>
            <a:endParaRPr lang="en-US" altLang="en-US" sz="2800" b="1" dirty="0">
              <a:solidFill>
                <a:srgbClr val="FF0000"/>
              </a:solidFill>
            </a:endParaRPr>
          </a:p>
        </p:txBody>
      </p:sp>
      <p:pic>
        <p:nvPicPr>
          <p:cNvPr id="5" name="Picture 4" descr="15-3">
            <a:extLst>
              <a:ext uri="{FF2B5EF4-FFF2-40B4-BE49-F238E27FC236}">
                <a16:creationId xmlns:a16="http://schemas.microsoft.com/office/drawing/2014/main" id="{91AD60B2-E5CE-768E-8455-E0DBC2B658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914400"/>
            <a:ext cx="220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A34355B-B56A-3699-0B74-467B698F7AD9}"/>
              </a:ext>
            </a:extLst>
          </p:cNvPr>
          <p:cNvSpPr txBox="1"/>
          <p:nvPr/>
        </p:nvSpPr>
        <p:spPr>
          <a:xfrm>
            <a:off x="3657600" y="1003637"/>
            <a:ext cx="5257800" cy="2246769"/>
          </a:xfrm>
          <a:prstGeom prst="rect">
            <a:avLst/>
          </a:prstGeom>
          <a:noFill/>
        </p:spPr>
        <p:txBody>
          <a:bodyPr wrap="square">
            <a:spAutoFit/>
          </a:bodyPr>
          <a:lstStyle/>
          <a:p>
            <a:pPr marL="342900" indent="-342900">
              <a:buClr>
                <a:srgbClr val="FF00FF"/>
              </a:buClr>
              <a:buFont typeface="Wingdings" panose="05000000000000000000" pitchFamily="2" charset="2"/>
              <a:buChar char="Ø"/>
            </a:pPr>
            <a:r>
              <a:rPr lang="en-US" altLang="en-US" sz="2000" dirty="0"/>
              <a:t>PET Scan of brain of person with Obsessive/ Compulsive disorder</a:t>
            </a:r>
          </a:p>
          <a:p>
            <a:pPr marL="342900" indent="-342900">
              <a:buClr>
                <a:srgbClr val="FF00FF"/>
              </a:buClr>
              <a:buFont typeface="Wingdings" panose="05000000000000000000" pitchFamily="2" charset="2"/>
              <a:buChar char="Ø"/>
            </a:pPr>
            <a:r>
              <a:rPr lang="en-US" altLang="en-US" sz="2000" dirty="0"/>
              <a:t>High metabolic activity (red) in frontal lobe areas involved with directing attention (impulse control and executive function)</a:t>
            </a:r>
          </a:p>
          <a:p>
            <a:pPr marL="342900" indent="-342900">
              <a:buClr>
                <a:srgbClr val="FF00FF"/>
              </a:buClr>
              <a:buFont typeface="Wingdings" panose="05000000000000000000" pitchFamily="2" charset="2"/>
              <a:buChar char="Ø"/>
            </a:pPr>
            <a:r>
              <a:rPr lang="en-US" altLang="en-US" sz="2000" dirty="0"/>
              <a:t>Effectiveness of drug therapy</a:t>
            </a:r>
          </a:p>
        </p:txBody>
      </p:sp>
      <p:pic>
        <p:nvPicPr>
          <p:cNvPr id="7" name="Picture 6">
            <a:extLst>
              <a:ext uri="{FF2B5EF4-FFF2-40B4-BE49-F238E27FC236}">
                <a16:creationId xmlns:a16="http://schemas.microsoft.com/office/drawing/2014/main" id="{4604CBAE-8DFD-FB11-7F9A-467A30D7303B}"/>
              </a:ext>
            </a:extLst>
          </p:cNvPr>
          <p:cNvPicPr>
            <a:picLocks noChangeAspect="1"/>
          </p:cNvPicPr>
          <p:nvPr/>
        </p:nvPicPr>
        <p:blipFill>
          <a:blip r:embed="rId4"/>
          <a:stretch>
            <a:fillRect/>
          </a:stretch>
        </p:blipFill>
        <p:spPr>
          <a:xfrm>
            <a:off x="421481" y="3516197"/>
            <a:ext cx="3733800" cy="3057525"/>
          </a:xfrm>
          <a:prstGeom prst="rect">
            <a:avLst/>
          </a:prstGeom>
        </p:spPr>
      </p:pic>
      <p:pic>
        <p:nvPicPr>
          <p:cNvPr id="1030" name="Picture 6" descr="Panic Attacks: Common Symptoms and How to Cope">
            <a:extLst>
              <a:ext uri="{FF2B5EF4-FFF2-40B4-BE49-F238E27FC236}">
                <a16:creationId xmlns:a16="http://schemas.microsoft.com/office/drawing/2014/main" id="{CB183649-6813-7720-828F-B1E006395E9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67456" y="3452798"/>
            <a:ext cx="3733800" cy="3124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81642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nti-Anxiety Medications and Lifestyle Techniques">
            <a:extLst>
              <a:ext uri="{FF2B5EF4-FFF2-40B4-BE49-F238E27FC236}">
                <a16:creationId xmlns:a16="http://schemas.microsoft.com/office/drawing/2014/main" id="{1EE40845-D3A5-29C9-73CA-490AA4B7D8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0"/>
            <a:ext cx="43434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oping With Anxiety: 5 Doable Ways to Deal With Anxiety">
            <a:extLst>
              <a:ext uri="{FF2B5EF4-FFF2-40B4-BE49-F238E27FC236}">
                <a16:creationId xmlns:a16="http://schemas.microsoft.com/office/drawing/2014/main" id="{77B5514F-B96B-1F87-BBD6-B7B61B06CA7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600" y="3429000"/>
            <a:ext cx="4343400" cy="343077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6" descr="Generalized Anxiety Disorder Treatment: Medication, Therapy, Lifestyle">
            <a:extLst>
              <a:ext uri="{FF2B5EF4-FFF2-40B4-BE49-F238E27FC236}">
                <a16:creationId xmlns:a16="http://schemas.microsoft.com/office/drawing/2014/main" id="{B821E5F8-72DC-A59F-8B1A-A825D72F8E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0"/>
            <a:ext cx="457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927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533400"/>
            <a:ext cx="7396163" cy="430887"/>
          </a:xfrm>
        </p:spPr>
        <p:txBody>
          <a:bodyPr>
            <a:normAutofit fontScale="90000"/>
          </a:bodyPr>
          <a:lstStyle/>
          <a:p>
            <a:r>
              <a:rPr lang="en-US" altLang="en-US" sz="2800" dirty="0"/>
              <a:t>Dissociative Disorders</a:t>
            </a:r>
          </a:p>
        </p:txBody>
      </p:sp>
      <p:sp>
        <p:nvSpPr>
          <p:cNvPr id="21507" name="Rectangle 3"/>
          <p:cNvSpPr>
            <a:spLocks noGrp="1" noChangeArrowheads="1"/>
          </p:cNvSpPr>
          <p:nvPr>
            <p:ph idx="1"/>
          </p:nvPr>
        </p:nvSpPr>
        <p:spPr bwMode="auto">
          <a:xfrm>
            <a:off x="533400" y="1905000"/>
            <a:ext cx="8178800" cy="3016210"/>
          </a:xfrm>
        </p:spPr>
        <p:txBody>
          <a:bodyPr wrap="square" numCol="1" anchor="t" anchorCtr="0" compatLnSpc="1">
            <a:prstTxWarp prst="textNoShape">
              <a:avLst/>
            </a:prstTxWarp>
            <a:normAutofit fontScale="92500" lnSpcReduction="20000"/>
          </a:bodyPr>
          <a:lstStyle/>
          <a:p>
            <a:pPr>
              <a:buFont typeface="Wingdings" panose="05000000000000000000" pitchFamily="2" charset="2"/>
              <a:buChar char="§"/>
            </a:pPr>
            <a:r>
              <a:rPr lang="en-US" altLang="en-US" sz="2800" dirty="0"/>
              <a:t>Dissociative Disorders</a:t>
            </a:r>
          </a:p>
          <a:p>
            <a:pPr lvl="1">
              <a:buFont typeface="Wingdings" panose="05000000000000000000" pitchFamily="2" charset="2"/>
              <a:buChar char="§"/>
            </a:pPr>
            <a:r>
              <a:rPr lang="en-US" altLang="en-US" sz="2800" dirty="0"/>
              <a:t>conscious awareness becomes separated (dissociated) from previous memories, thoughts, and feelings</a:t>
            </a:r>
          </a:p>
          <a:p>
            <a:pPr lvl="1">
              <a:buFont typeface="Wingdings" panose="05000000000000000000" pitchFamily="2" charset="2"/>
              <a:buChar char="§"/>
            </a:pPr>
            <a:r>
              <a:rPr lang="en-US" altLang="en-US" sz="2800" dirty="0"/>
              <a:t>Not uncommon when in a highly traumatic situation to feel “removed” from the situation.  Problem is when this becomes more then  a brief situation</a:t>
            </a:r>
          </a:p>
        </p:txBody>
      </p:sp>
    </p:spTree>
    <p:extLst>
      <p:ext uri="{BB962C8B-B14F-4D97-AF65-F5344CB8AC3E}">
        <p14:creationId xmlns:p14="http://schemas.microsoft.com/office/powerpoint/2010/main" val="301501795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533400"/>
            <a:ext cx="7396163" cy="430887"/>
          </a:xfrm>
        </p:spPr>
        <p:txBody>
          <a:bodyPr>
            <a:normAutofit fontScale="90000"/>
          </a:bodyPr>
          <a:lstStyle/>
          <a:p>
            <a:r>
              <a:rPr lang="en-US" altLang="en-US" sz="2800" dirty="0"/>
              <a:t>Personality Disorders</a:t>
            </a:r>
          </a:p>
        </p:txBody>
      </p:sp>
      <p:sp>
        <p:nvSpPr>
          <p:cNvPr id="23555" name="Rectangle 3"/>
          <p:cNvSpPr>
            <a:spLocks noGrp="1" noChangeArrowheads="1"/>
          </p:cNvSpPr>
          <p:nvPr>
            <p:ph idx="1"/>
          </p:nvPr>
        </p:nvSpPr>
        <p:spPr bwMode="auto">
          <a:xfrm>
            <a:off x="533400" y="1981200"/>
            <a:ext cx="8178800" cy="1292662"/>
          </a:xfrm>
        </p:spPr>
        <p:txBody>
          <a:bodyPr wrap="square" numCol="1" anchor="t" anchorCtr="0" compatLnSpc="1">
            <a:prstTxWarp prst="textNoShape">
              <a:avLst/>
            </a:prstTxWarp>
            <a:normAutofit fontScale="85000" lnSpcReduction="10000"/>
          </a:bodyPr>
          <a:lstStyle/>
          <a:p>
            <a:pPr>
              <a:buFont typeface="Wingdings" panose="05000000000000000000" pitchFamily="2" charset="2"/>
              <a:buChar char="§"/>
            </a:pPr>
            <a:r>
              <a:rPr lang="en-US" altLang="en-US" sz="2800"/>
              <a:t>Personality Disorders (vs. mood disorder)</a:t>
            </a:r>
          </a:p>
          <a:p>
            <a:pPr lvl="1">
              <a:buFont typeface="Wingdings" panose="05000000000000000000" pitchFamily="2" charset="2"/>
              <a:buChar char="§"/>
            </a:pPr>
            <a:r>
              <a:rPr lang="en-US" altLang="en-US" sz="2800"/>
              <a:t>disorders characterized by inflexible and enduring behavior patterns that impair social functioning</a:t>
            </a:r>
          </a:p>
        </p:txBody>
      </p:sp>
    </p:spTree>
    <p:extLst>
      <p:ext uri="{BB962C8B-B14F-4D97-AF65-F5344CB8AC3E}">
        <p14:creationId xmlns:p14="http://schemas.microsoft.com/office/powerpoint/2010/main" val="63953278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18540" y="574294"/>
            <a:ext cx="7906918" cy="430887"/>
          </a:xfrm>
        </p:spPr>
        <p:txBody>
          <a:bodyPr>
            <a:normAutofit fontScale="90000"/>
          </a:bodyPr>
          <a:lstStyle/>
          <a:p>
            <a:r>
              <a:rPr lang="en-US" altLang="en-US" sz="2800" dirty="0"/>
              <a:t>Types of Personality Disorders</a:t>
            </a:r>
          </a:p>
        </p:txBody>
      </p:sp>
      <p:sp>
        <p:nvSpPr>
          <p:cNvPr id="25603" name="Rectangle 3"/>
          <p:cNvSpPr>
            <a:spLocks noGrp="1" noChangeArrowheads="1"/>
          </p:cNvSpPr>
          <p:nvPr>
            <p:ph idx="1"/>
          </p:nvPr>
        </p:nvSpPr>
        <p:spPr bwMode="auto">
          <a:xfrm>
            <a:off x="351536" y="1180922"/>
            <a:ext cx="8440927" cy="2585323"/>
          </a:xfrm>
        </p:spPr>
        <p:txBody>
          <a:bodyPr wrap="square" numCol="1" anchor="t" anchorCtr="0" compatLnSpc="1">
            <a:prstTxWarp prst="textNoShape">
              <a:avLst/>
            </a:prstTxWarp>
            <a:normAutofit fontScale="92500"/>
          </a:bodyPr>
          <a:lstStyle/>
          <a:p>
            <a:r>
              <a:rPr lang="en-US" altLang="en-US" sz="2800"/>
              <a:t>Fearful, afraid of rejection, withdrawn</a:t>
            </a:r>
          </a:p>
          <a:p>
            <a:r>
              <a:rPr lang="en-US" altLang="en-US" sz="2800"/>
              <a:t>Extreme eccentrics– “The Character”</a:t>
            </a:r>
          </a:p>
          <a:p>
            <a:r>
              <a:rPr lang="en-US" altLang="en-US" sz="2800"/>
              <a:t>Narcissistic– Over exaggerates self importance</a:t>
            </a:r>
          </a:p>
          <a:p>
            <a:r>
              <a:rPr lang="en-US" altLang="en-US" sz="2800"/>
              <a:t>Borderline– Unstable identity, emotions, relationships, etc.  </a:t>
            </a:r>
          </a:p>
          <a:p>
            <a:endParaRPr lang="en-US" altLang="en-US" sz="2800"/>
          </a:p>
        </p:txBody>
      </p:sp>
    </p:spTree>
    <p:extLst>
      <p:ext uri="{BB962C8B-B14F-4D97-AF65-F5344CB8AC3E}">
        <p14:creationId xmlns:p14="http://schemas.microsoft.com/office/powerpoint/2010/main" val="3056676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533400"/>
            <a:ext cx="7396163" cy="430887"/>
          </a:xfrm>
        </p:spPr>
        <p:txBody>
          <a:bodyPr>
            <a:normAutofit fontScale="90000"/>
          </a:bodyPr>
          <a:lstStyle/>
          <a:p>
            <a:r>
              <a:rPr lang="en-US" altLang="en-US" sz="2800"/>
              <a:t>Personality Disorders</a:t>
            </a:r>
          </a:p>
        </p:txBody>
      </p:sp>
      <p:sp>
        <p:nvSpPr>
          <p:cNvPr id="27651" name="Rectangle 3"/>
          <p:cNvSpPr>
            <a:spLocks noGrp="1" noChangeArrowheads="1"/>
          </p:cNvSpPr>
          <p:nvPr>
            <p:ph idx="1"/>
          </p:nvPr>
        </p:nvSpPr>
        <p:spPr bwMode="auto">
          <a:xfrm>
            <a:off x="533400" y="1981200"/>
            <a:ext cx="8178800" cy="3016210"/>
          </a:xfrm>
        </p:spPr>
        <p:txBody>
          <a:bodyPr wrap="square" numCol="1" anchor="t" anchorCtr="0" compatLnSpc="1">
            <a:prstTxWarp prst="textNoShape">
              <a:avLst/>
            </a:prstTxWarp>
            <a:normAutofit fontScale="85000" lnSpcReduction="20000"/>
          </a:bodyPr>
          <a:lstStyle/>
          <a:p>
            <a:pPr>
              <a:buFont typeface="Wingdings" panose="05000000000000000000" pitchFamily="2" charset="2"/>
              <a:buChar char="§"/>
            </a:pPr>
            <a:r>
              <a:rPr lang="en-US" altLang="en-US" sz="2800" dirty="0"/>
              <a:t>Antisocial Personality Disorder</a:t>
            </a:r>
          </a:p>
          <a:p>
            <a:pPr lvl="1">
              <a:buFont typeface="Wingdings" panose="05000000000000000000" pitchFamily="2" charset="2"/>
              <a:buChar char="§"/>
            </a:pPr>
            <a:r>
              <a:rPr lang="en-US" altLang="en-US" sz="2800" dirty="0"/>
              <a:t>disorder in which the person (usually man) exhibits a lack of conscience for wrongdoing, even toward friends and family members</a:t>
            </a:r>
          </a:p>
          <a:p>
            <a:pPr lvl="1">
              <a:buFont typeface="Wingdings" panose="05000000000000000000" pitchFamily="2" charset="2"/>
              <a:buChar char="§"/>
            </a:pPr>
            <a:r>
              <a:rPr lang="en-US" altLang="en-US" sz="2800" dirty="0"/>
              <a:t>may be aggressive and ruthless or a clever con artist</a:t>
            </a:r>
          </a:p>
          <a:p>
            <a:pPr lvl="1">
              <a:buFont typeface="Wingdings" panose="05000000000000000000" pitchFamily="2" charset="2"/>
              <a:buChar char="§"/>
            </a:pPr>
            <a:r>
              <a:rPr lang="en-US" altLang="en-US" sz="2800" dirty="0"/>
              <a:t>Most criminals do not have this– they show concern for family and friends</a:t>
            </a:r>
          </a:p>
        </p:txBody>
      </p:sp>
    </p:spTree>
    <p:extLst>
      <p:ext uri="{BB962C8B-B14F-4D97-AF65-F5344CB8AC3E}">
        <p14:creationId xmlns:p14="http://schemas.microsoft.com/office/powerpoint/2010/main" val="416724686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533400"/>
            <a:ext cx="7396163" cy="1143000"/>
          </a:xfrm>
        </p:spPr>
        <p:txBody>
          <a:bodyPr/>
          <a:lstStyle/>
          <a:p>
            <a:r>
              <a:rPr lang="en-US" altLang="en-US" sz="4800"/>
              <a:t>Personality Disorders</a:t>
            </a:r>
            <a:endParaRPr lang="en-US" altLang="en-US" sz="6000"/>
          </a:p>
        </p:txBody>
      </p:sp>
      <p:sp>
        <p:nvSpPr>
          <p:cNvPr id="29699" name="Rectangle 3"/>
          <p:cNvSpPr>
            <a:spLocks noGrp="1" noChangeArrowheads="1"/>
          </p:cNvSpPr>
          <p:nvPr>
            <p:ph idx="1"/>
          </p:nvPr>
        </p:nvSpPr>
        <p:spPr bwMode="auto">
          <a:xfrm>
            <a:off x="609600" y="1676400"/>
            <a:ext cx="8178800" cy="1219200"/>
          </a:xfrm>
        </p:spPr>
        <p:txBody>
          <a:bodyPr wrap="square" numCol="1" anchor="t" anchorCtr="0" compatLnSpc="1">
            <a:prstTxWarp prst="textNoShape">
              <a:avLst/>
            </a:prstTxWarp>
          </a:bodyPr>
          <a:lstStyle/>
          <a:p>
            <a:pPr>
              <a:buFont typeface="Wingdings" panose="05000000000000000000" pitchFamily="2" charset="2"/>
              <a:buChar char="§"/>
            </a:pPr>
            <a:r>
              <a:rPr lang="en-US" altLang="en-US"/>
              <a:t>PET scans illustrate reduced activation in a murderer’s frontal cortex</a:t>
            </a:r>
            <a:endParaRPr lang="en-US" altLang="en-US">
              <a:solidFill>
                <a:srgbClr val="FF0000"/>
              </a:solidFill>
            </a:endParaRPr>
          </a:p>
        </p:txBody>
      </p:sp>
      <p:grpSp>
        <p:nvGrpSpPr>
          <p:cNvPr id="29700" name="Group 4"/>
          <p:cNvGrpSpPr>
            <a:grpSpLocks/>
          </p:cNvGrpSpPr>
          <p:nvPr/>
        </p:nvGrpSpPr>
        <p:grpSpPr bwMode="auto">
          <a:xfrm>
            <a:off x="1524000" y="2667000"/>
            <a:ext cx="6019800" cy="4191000"/>
            <a:chOff x="960" y="1680"/>
            <a:chExt cx="3792" cy="2640"/>
          </a:xfrm>
        </p:grpSpPr>
        <p:pic>
          <p:nvPicPr>
            <p:cNvPr id="2970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 y="1956"/>
              <a:ext cx="3792" cy="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Text Box 6"/>
            <p:cNvSpPr txBox="1">
              <a:spLocks noChangeArrowheads="1"/>
            </p:cNvSpPr>
            <p:nvPr/>
          </p:nvSpPr>
          <p:spPr bwMode="auto">
            <a:xfrm>
              <a:off x="1541" y="1687"/>
              <a:ext cx="6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000" b="1">
                  <a:latin typeface="Arial" panose="020B0604020202020204" pitchFamily="34" charset="0"/>
                </a:rPr>
                <a:t>Normal</a:t>
              </a:r>
            </a:p>
          </p:txBody>
        </p:sp>
        <p:sp>
          <p:nvSpPr>
            <p:cNvPr id="29705" name="Text Box 7"/>
            <p:cNvSpPr txBox="1">
              <a:spLocks noChangeArrowheads="1"/>
            </p:cNvSpPr>
            <p:nvPr/>
          </p:nvSpPr>
          <p:spPr bwMode="auto">
            <a:xfrm>
              <a:off x="3456" y="1680"/>
              <a:ext cx="8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000" b="1">
                  <a:latin typeface="Arial" panose="020B0604020202020204" pitchFamily="34" charset="0"/>
                </a:rPr>
                <a:t>Murderer</a:t>
              </a:r>
            </a:p>
          </p:txBody>
        </p:sp>
      </p:grpSp>
    </p:spTree>
    <p:extLst>
      <p:ext uri="{BB962C8B-B14F-4D97-AF65-F5344CB8AC3E}">
        <p14:creationId xmlns:p14="http://schemas.microsoft.com/office/powerpoint/2010/main" val="317166737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533400"/>
            <a:ext cx="7396163" cy="430887"/>
          </a:xfrm>
        </p:spPr>
        <p:txBody>
          <a:bodyPr>
            <a:normAutofit fontScale="90000"/>
          </a:bodyPr>
          <a:lstStyle/>
          <a:p>
            <a:r>
              <a:rPr lang="en-US" altLang="en-US" sz="2800"/>
              <a:t>Mood Disorders</a:t>
            </a:r>
          </a:p>
        </p:txBody>
      </p:sp>
      <p:sp>
        <p:nvSpPr>
          <p:cNvPr id="32771" name="Rectangle 3"/>
          <p:cNvSpPr>
            <a:spLocks noGrp="1" noChangeArrowheads="1"/>
          </p:cNvSpPr>
          <p:nvPr>
            <p:ph idx="1"/>
          </p:nvPr>
        </p:nvSpPr>
        <p:spPr bwMode="auto">
          <a:xfrm>
            <a:off x="533400" y="1828800"/>
            <a:ext cx="8178800" cy="3016210"/>
          </a:xfrm>
        </p:spPr>
        <p:txBody>
          <a:bodyPr wrap="square" numCol="1" anchor="t" anchorCtr="0" compatLnSpc="1">
            <a:prstTxWarp prst="textNoShape">
              <a:avLst/>
            </a:prstTxWarp>
            <a:normAutofit fontScale="92500" lnSpcReduction="20000"/>
          </a:bodyPr>
          <a:lstStyle/>
          <a:p>
            <a:pPr>
              <a:buFont typeface="Wingdings" panose="05000000000000000000" pitchFamily="2" charset="2"/>
              <a:buChar char="§"/>
            </a:pPr>
            <a:r>
              <a:rPr lang="en-US" altLang="en-US" sz="2800" dirty="0"/>
              <a:t>Mood Disorders </a:t>
            </a:r>
          </a:p>
          <a:p>
            <a:pPr lvl="1">
              <a:buFont typeface="Wingdings" panose="05000000000000000000" pitchFamily="2" charset="2"/>
              <a:buChar char="§"/>
            </a:pPr>
            <a:r>
              <a:rPr lang="en-US" altLang="en-US" sz="2800" dirty="0"/>
              <a:t>characterized by emotional extremes</a:t>
            </a:r>
          </a:p>
          <a:p>
            <a:pPr>
              <a:buFont typeface="Wingdings" panose="05000000000000000000" pitchFamily="2" charset="2"/>
              <a:buChar char="§"/>
            </a:pPr>
            <a:r>
              <a:rPr lang="en-US" altLang="en-US" sz="2800" dirty="0"/>
              <a:t>Major Depressive Disorder </a:t>
            </a:r>
          </a:p>
          <a:p>
            <a:pPr lvl="1">
              <a:buFont typeface="Wingdings" panose="05000000000000000000" pitchFamily="2" charset="2"/>
              <a:buChar char="§"/>
            </a:pPr>
            <a:r>
              <a:rPr lang="en-US" altLang="en-US" sz="2800" dirty="0"/>
              <a:t>a mood disorder in which a person, for no apparent reason, experiences two or more weeks of depressed moods, feelings of worthlessness, and diminished interest or pleasure in most activities</a:t>
            </a:r>
          </a:p>
        </p:txBody>
      </p:sp>
    </p:spTree>
    <p:extLst>
      <p:ext uri="{BB962C8B-B14F-4D97-AF65-F5344CB8AC3E}">
        <p14:creationId xmlns:p14="http://schemas.microsoft.com/office/powerpoint/2010/main" val="132137295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533400"/>
            <a:ext cx="7396163" cy="430887"/>
          </a:xfrm>
        </p:spPr>
        <p:txBody>
          <a:bodyPr>
            <a:normAutofit fontScale="90000"/>
          </a:bodyPr>
          <a:lstStyle/>
          <a:p>
            <a:r>
              <a:rPr lang="en-US" altLang="en-US" sz="2800"/>
              <a:t>Mood Disorders</a:t>
            </a:r>
          </a:p>
        </p:txBody>
      </p:sp>
      <p:sp>
        <p:nvSpPr>
          <p:cNvPr id="34819" name="Rectangle 3"/>
          <p:cNvSpPr>
            <a:spLocks noGrp="1" noChangeArrowheads="1"/>
          </p:cNvSpPr>
          <p:nvPr>
            <p:ph idx="1"/>
          </p:nvPr>
        </p:nvSpPr>
        <p:spPr bwMode="auto">
          <a:xfrm>
            <a:off x="533400" y="1752600"/>
            <a:ext cx="8305800" cy="3447098"/>
          </a:xfrm>
        </p:spPr>
        <p:txBody>
          <a:bodyPr wrap="square" numCol="1" anchor="t" anchorCtr="0" compatLnSpc="1">
            <a:prstTxWarp prst="textNoShape">
              <a:avLst/>
            </a:prstTxWarp>
            <a:normAutofit fontScale="92500" lnSpcReduction="10000"/>
          </a:bodyPr>
          <a:lstStyle/>
          <a:p>
            <a:pPr>
              <a:buFont typeface="Wingdings" panose="05000000000000000000" pitchFamily="2" charset="2"/>
              <a:buChar char="§"/>
            </a:pPr>
            <a:r>
              <a:rPr lang="en-US" altLang="en-US" sz="2800"/>
              <a:t>Manic Episode</a:t>
            </a:r>
          </a:p>
          <a:p>
            <a:pPr lvl="1">
              <a:buFont typeface="Wingdings" panose="05000000000000000000" pitchFamily="2" charset="2"/>
              <a:buChar char="§"/>
            </a:pPr>
            <a:r>
              <a:rPr lang="en-US" altLang="en-US" sz="2800"/>
              <a:t>a mood disorder marked by a hyperactive, wildly optimistic state</a:t>
            </a:r>
          </a:p>
          <a:p>
            <a:pPr>
              <a:buFont typeface="Wingdings" panose="05000000000000000000" pitchFamily="2" charset="2"/>
              <a:buChar char="§"/>
            </a:pPr>
            <a:r>
              <a:rPr lang="en-US" altLang="en-US" sz="2800"/>
              <a:t>Bipolar Disorder</a:t>
            </a:r>
          </a:p>
          <a:p>
            <a:pPr lvl="1">
              <a:buFont typeface="Wingdings" panose="05000000000000000000" pitchFamily="2" charset="2"/>
              <a:buChar char="§"/>
            </a:pPr>
            <a:r>
              <a:rPr lang="en-US" altLang="en-US" sz="2800"/>
              <a:t>a mood disorder in which the person alternates between the hopelessness and lethargy of depression and the overexcited state of mania</a:t>
            </a:r>
          </a:p>
          <a:p>
            <a:pPr lvl="1">
              <a:buFont typeface="Wingdings" panose="05000000000000000000" pitchFamily="2" charset="2"/>
              <a:buChar char="§"/>
            </a:pPr>
            <a:r>
              <a:rPr lang="en-US" altLang="en-US" sz="2800"/>
              <a:t>formerly called manic-depressive disorder </a:t>
            </a:r>
          </a:p>
        </p:txBody>
      </p:sp>
    </p:spTree>
    <p:extLst>
      <p:ext uri="{BB962C8B-B14F-4D97-AF65-F5344CB8AC3E}">
        <p14:creationId xmlns:p14="http://schemas.microsoft.com/office/powerpoint/2010/main" val="260065636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533400"/>
            <a:ext cx="7396163" cy="430887"/>
          </a:xfrm>
        </p:spPr>
        <p:txBody>
          <a:bodyPr>
            <a:normAutofit fontScale="90000"/>
          </a:bodyPr>
          <a:lstStyle/>
          <a:p>
            <a:r>
              <a:rPr lang="en-US" altLang="en-US" sz="2800"/>
              <a:t>Mood Disorders-Bipolar</a:t>
            </a:r>
          </a:p>
        </p:txBody>
      </p:sp>
      <p:sp>
        <p:nvSpPr>
          <p:cNvPr id="36867" name="Rectangle 3"/>
          <p:cNvSpPr>
            <a:spLocks noGrp="1" noChangeArrowheads="1"/>
          </p:cNvSpPr>
          <p:nvPr>
            <p:ph idx="1"/>
          </p:nvPr>
        </p:nvSpPr>
        <p:spPr bwMode="auto">
          <a:xfrm>
            <a:off x="457200" y="1828800"/>
            <a:ext cx="8178800" cy="861774"/>
          </a:xfrm>
        </p:spPr>
        <p:txBody>
          <a:bodyPr wrap="square" numCol="1" anchor="t" anchorCtr="0" compatLnSpc="1">
            <a:prstTxWarp prst="textNoShape">
              <a:avLst/>
            </a:prstTxWarp>
            <a:normAutofit fontScale="92500" lnSpcReduction="10000"/>
          </a:bodyPr>
          <a:lstStyle/>
          <a:p>
            <a:pPr>
              <a:buFont typeface="Wingdings" panose="05000000000000000000" pitchFamily="2" charset="2"/>
              <a:buChar char="§"/>
            </a:pPr>
            <a:r>
              <a:rPr lang="en-US" altLang="en-US" sz="2800"/>
              <a:t>PET scans show that brain energy consumption rises and falls with emotional switches</a:t>
            </a:r>
          </a:p>
        </p:txBody>
      </p:sp>
      <p:grpSp>
        <p:nvGrpSpPr>
          <p:cNvPr id="36868" name="Group 4"/>
          <p:cNvGrpSpPr>
            <a:grpSpLocks/>
          </p:cNvGrpSpPr>
          <p:nvPr/>
        </p:nvGrpSpPr>
        <p:grpSpPr bwMode="auto">
          <a:xfrm>
            <a:off x="228600" y="2971800"/>
            <a:ext cx="9128436" cy="3317116"/>
            <a:chOff x="384" y="1968"/>
            <a:chExt cx="5332" cy="1938"/>
          </a:xfrm>
        </p:grpSpPr>
        <p:pic>
          <p:nvPicPr>
            <p:cNvPr id="36871" name="Picture 5" descr="15-7"/>
            <p:cNvPicPr>
              <a:picLocks noChangeAspect="1" noChangeArrowheads="1"/>
            </p:cNvPicPr>
            <p:nvPr/>
          </p:nvPicPr>
          <p:blipFill>
            <a:blip r:embed="rId2">
              <a:extLst>
                <a:ext uri="{28A0092B-C50C-407E-A947-70E740481C1C}">
                  <a14:useLocalDpi xmlns:a14="http://schemas.microsoft.com/office/drawing/2010/main" val="0"/>
                </a:ext>
              </a:extLst>
            </a:blip>
            <a:srcRect b="18602"/>
            <a:stretch>
              <a:fillRect/>
            </a:stretch>
          </p:blipFill>
          <p:spPr bwMode="auto">
            <a:xfrm>
              <a:off x="384" y="1968"/>
              <a:ext cx="4896" cy="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2" name="Text Box 6"/>
            <p:cNvSpPr txBox="1">
              <a:spLocks noChangeArrowheads="1"/>
            </p:cNvSpPr>
            <p:nvPr/>
          </p:nvSpPr>
          <p:spPr bwMode="auto">
            <a:xfrm>
              <a:off x="672" y="3600"/>
              <a:ext cx="1732"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Arial" panose="020B0604020202020204" pitchFamily="34" charset="0"/>
                </a:rPr>
                <a:t>Depressed state</a:t>
              </a:r>
            </a:p>
          </p:txBody>
        </p:sp>
        <p:sp>
          <p:nvSpPr>
            <p:cNvPr id="36873" name="Text Box 7"/>
            <p:cNvSpPr txBox="1">
              <a:spLocks noChangeArrowheads="1"/>
            </p:cNvSpPr>
            <p:nvPr/>
          </p:nvSpPr>
          <p:spPr bwMode="auto">
            <a:xfrm>
              <a:off x="2546" y="3600"/>
              <a:ext cx="125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Arial" panose="020B0604020202020204" pitchFamily="34" charset="0"/>
                </a:rPr>
                <a:t>Manic state</a:t>
              </a:r>
            </a:p>
          </p:txBody>
        </p:sp>
        <p:sp>
          <p:nvSpPr>
            <p:cNvPr id="36874" name="Text Box 8"/>
            <p:cNvSpPr txBox="1">
              <a:spLocks noChangeArrowheads="1"/>
            </p:cNvSpPr>
            <p:nvPr/>
          </p:nvSpPr>
          <p:spPr bwMode="auto">
            <a:xfrm>
              <a:off x="3984" y="3600"/>
              <a:ext cx="1732"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Arial" panose="020B0604020202020204" pitchFamily="34" charset="0"/>
                </a:rPr>
                <a:t>Depressed state</a:t>
              </a:r>
            </a:p>
          </p:txBody>
        </p:sp>
      </p:grpSp>
    </p:spTree>
    <p:extLst>
      <p:ext uri="{BB962C8B-B14F-4D97-AF65-F5344CB8AC3E}">
        <p14:creationId xmlns:p14="http://schemas.microsoft.com/office/powerpoint/2010/main" val="238715070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533400"/>
            <a:ext cx="7396163" cy="430887"/>
          </a:xfrm>
        </p:spPr>
        <p:txBody>
          <a:bodyPr>
            <a:normAutofit fontScale="90000"/>
          </a:bodyPr>
          <a:lstStyle/>
          <a:p>
            <a:r>
              <a:rPr lang="en-US" altLang="en-US" sz="2800" dirty="0"/>
              <a:t>Mood Disorders-Depression</a:t>
            </a:r>
          </a:p>
        </p:txBody>
      </p:sp>
      <p:sp>
        <p:nvSpPr>
          <p:cNvPr id="37891" name="Rectangle 3"/>
          <p:cNvSpPr>
            <a:spLocks noGrp="1" noChangeArrowheads="1"/>
          </p:cNvSpPr>
          <p:nvPr>
            <p:ph idx="1"/>
          </p:nvPr>
        </p:nvSpPr>
        <p:spPr bwMode="auto">
          <a:xfrm>
            <a:off x="5537200" y="2057400"/>
            <a:ext cx="3606800" cy="4572000"/>
          </a:xfrm>
        </p:spPr>
        <p:txBody>
          <a:bodyPr wrap="square" numCol="1" anchor="t" anchorCtr="0" compatLnSpc="1">
            <a:prstTxWarp prst="textNoShape">
              <a:avLst/>
            </a:prstTxWarp>
          </a:bodyPr>
          <a:lstStyle/>
          <a:p>
            <a:pPr>
              <a:buFont typeface="Wingdings" panose="05000000000000000000" pitchFamily="2" charset="2"/>
              <a:buChar char="§"/>
            </a:pPr>
            <a:r>
              <a:rPr lang="en-US" altLang="en-US" dirty="0"/>
              <a:t>Altering any one component of the chemistry-cognition-mood circuit can alter the others</a:t>
            </a:r>
          </a:p>
        </p:txBody>
      </p:sp>
      <p:pic>
        <p:nvPicPr>
          <p:cNvPr id="378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52600"/>
            <a:ext cx="5105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272821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533400"/>
            <a:ext cx="7396163" cy="430887"/>
          </a:xfrm>
        </p:spPr>
        <p:txBody>
          <a:bodyPr>
            <a:normAutofit fontScale="90000"/>
          </a:bodyPr>
          <a:lstStyle/>
          <a:p>
            <a:r>
              <a:rPr lang="en-US" altLang="en-US" sz="2800" dirty="0"/>
              <a:t>Mood Disorders-Depression</a:t>
            </a:r>
          </a:p>
        </p:txBody>
      </p:sp>
      <p:sp>
        <p:nvSpPr>
          <p:cNvPr id="39939" name="Rectangle 3"/>
          <p:cNvSpPr>
            <a:spLocks noGrp="1" noChangeArrowheads="1"/>
          </p:cNvSpPr>
          <p:nvPr>
            <p:ph idx="1"/>
          </p:nvPr>
        </p:nvSpPr>
        <p:spPr bwMode="auto">
          <a:xfrm>
            <a:off x="6527800" y="1981200"/>
            <a:ext cx="2616200" cy="4572000"/>
          </a:xfrm>
        </p:spPr>
        <p:txBody>
          <a:bodyPr wrap="square" numCol="1" anchor="t" anchorCtr="0" compatLnSpc="1">
            <a:prstTxWarp prst="textNoShape">
              <a:avLst/>
            </a:prstTxWarp>
          </a:bodyPr>
          <a:lstStyle/>
          <a:p>
            <a:pPr>
              <a:buFont typeface="Wingdings" panose="05000000000000000000" pitchFamily="2" charset="2"/>
              <a:buChar char="§"/>
            </a:pPr>
            <a:r>
              <a:rPr lang="en-US" altLang="en-US"/>
              <a:t>The vicious cycle of depression can be broken at any point</a:t>
            </a:r>
          </a:p>
        </p:txBody>
      </p:sp>
      <p:pic>
        <p:nvPicPr>
          <p:cNvPr id="399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0"/>
            <a:ext cx="6477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810640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277813"/>
            <a:ext cx="8229600" cy="430887"/>
          </a:xfrm>
        </p:spPr>
        <p:txBody>
          <a:bodyPr>
            <a:normAutofit fontScale="90000"/>
          </a:bodyPr>
          <a:lstStyle/>
          <a:p>
            <a:r>
              <a:rPr lang="en-US" altLang="en-US" sz="2800" dirty="0"/>
              <a:t>What is Stress?</a:t>
            </a:r>
          </a:p>
        </p:txBody>
      </p:sp>
      <p:sp>
        <p:nvSpPr>
          <p:cNvPr id="41987" name="Rectangle 3"/>
          <p:cNvSpPr>
            <a:spLocks noGrp="1" noChangeArrowheads="1"/>
          </p:cNvSpPr>
          <p:nvPr>
            <p:ph type="body" sz="half" idx="1"/>
          </p:nvPr>
        </p:nvSpPr>
        <p:spPr bwMode="auto">
          <a:xfrm>
            <a:off x="457200" y="1600200"/>
            <a:ext cx="4038600" cy="2154436"/>
          </a:xfrm>
        </p:spPr>
        <p:txBody>
          <a:bodyPr wrap="square" numCol="1" anchor="t" anchorCtr="0" compatLnSpc="1">
            <a:prstTxWarp prst="textNoShape">
              <a:avLst/>
            </a:prstTxWarp>
            <a:normAutofit fontScale="85000" lnSpcReduction="10000"/>
          </a:bodyPr>
          <a:lstStyle/>
          <a:p>
            <a:r>
              <a:rPr lang="en-US" altLang="en-US" sz="2800" dirty="0"/>
              <a:t>Stress can be defined as our mental, physical, emotional, and behavioral reactions to any perceived demands or threats. </a:t>
            </a:r>
          </a:p>
        </p:txBody>
      </p:sp>
      <p:pic>
        <p:nvPicPr>
          <p:cNvPr id="41988" name="Picture 6" descr="bd07154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2287588"/>
            <a:ext cx="3276600" cy="253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0859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a:t>The “Fight or Flight” Response</a:t>
            </a:r>
          </a:p>
        </p:txBody>
      </p:sp>
      <p:pic>
        <p:nvPicPr>
          <p:cNvPr id="44035" name="Picture 5" descr="j0121071"/>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1676400"/>
            <a:ext cx="2819400" cy="2108200"/>
          </a:xfrm>
          <a:noFill/>
          <a:extLst>
            <a:ext uri="{909E8E84-426E-40DD-AFC4-6F175D3DCCD1}">
              <a14:hiddenFill xmlns:a14="http://schemas.microsoft.com/office/drawing/2010/main">
                <a:solidFill>
                  <a:srgbClr val="FFFFFF"/>
                </a:solidFill>
              </a14:hiddenFill>
            </a:ext>
          </a:extLst>
        </p:spPr>
      </p:pic>
      <p:sp>
        <p:nvSpPr>
          <p:cNvPr id="44036" name="Rectangle 3"/>
          <p:cNvSpPr>
            <a:spLocks noGrp="1" noChangeArrowheads="1"/>
          </p:cNvSpPr>
          <p:nvPr>
            <p:ph type="body" sz="half" idx="2"/>
          </p:nvPr>
        </p:nvSpPr>
        <p:spPr bwMode="auto">
          <a:xfrm>
            <a:off x="4648200" y="1600200"/>
            <a:ext cx="4038600" cy="3102388"/>
          </a:xfrm>
        </p:spPr>
        <p:txBody>
          <a:bodyPr wrap="square" numCol="1" anchor="t" anchorCtr="0" compatLnSpc="1">
            <a:prstTxWarp prst="textNoShape">
              <a:avLst/>
            </a:prstTxWarp>
            <a:normAutofit/>
          </a:bodyPr>
          <a:lstStyle/>
          <a:p>
            <a:pPr algn="just">
              <a:lnSpc>
                <a:spcPct val="80000"/>
              </a:lnSpc>
            </a:pPr>
            <a:r>
              <a:rPr lang="en-US" altLang="en-US" dirty="0"/>
              <a:t>When situations seem threatening to us, our bodies react quickly to supply protection by preparing to take action. This physiological reaction is known as the "fight or flight" response. 	</a:t>
            </a:r>
          </a:p>
          <a:p>
            <a:pPr algn="just">
              <a:lnSpc>
                <a:spcPct val="80000"/>
              </a:lnSpc>
            </a:pPr>
            <a:endParaRPr lang="en-US" altLang="en-US" dirty="0"/>
          </a:p>
          <a:p>
            <a:pPr algn="just">
              <a:lnSpc>
                <a:spcPct val="80000"/>
              </a:lnSpc>
            </a:pPr>
            <a:r>
              <a:rPr lang="en-US" altLang="en-US" dirty="0"/>
              <a:t>The physiological response to a stressor is known as reactivity Physiological responses can accumulate and result in long-term wear on the body</a:t>
            </a:r>
          </a:p>
          <a:p>
            <a:pPr algn="just">
              <a:lnSpc>
                <a:spcPct val="80000"/>
              </a:lnSpc>
            </a:pPr>
            <a:endParaRPr lang="en-US" altLang="en-US" dirty="0"/>
          </a:p>
          <a:p>
            <a:pPr algn="just">
              <a:lnSpc>
                <a:spcPct val="80000"/>
              </a:lnSpc>
            </a:pPr>
            <a:endParaRPr lang="en-US" altLang="en-US" dirty="0"/>
          </a:p>
          <a:p>
            <a:pPr algn="just">
              <a:lnSpc>
                <a:spcPct val="80000"/>
              </a:lnSpc>
              <a:buFont typeface="Wingdings" panose="05000000000000000000" pitchFamily="2" charset="2"/>
              <a:buNone/>
            </a:pPr>
            <a:endParaRPr lang="en-US" altLang="en-US" dirty="0"/>
          </a:p>
          <a:p>
            <a:pPr algn="just">
              <a:lnSpc>
                <a:spcPct val="80000"/>
              </a:lnSpc>
            </a:pPr>
            <a:endParaRPr lang="en-US" altLang="en-US" dirty="0"/>
          </a:p>
        </p:txBody>
      </p:sp>
      <p:pic>
        <p:nvPicPr>
          <p:cNvPr id="44037" name="Picture 6" descr="j0283567"/>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114800"/>
            <a:ext cx="17748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3733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18540" y="574294"/>
            <a:ext cx="7906918" cy="430887"/>
          </a:xfrm>
        </p:spPr>
        <p:txBody>
          <a:bodyPr>
            <a:normAutofit fontScale="90000"/>
          </a:bodyPr>
          <a:lstStyle/>
          <a:p>
            <a:r>
              <a:rPr lang="en-US" altLang="en-US" sz="2800" dirty="0"/>
              <a:t>What Makes Something Stressful?</a:t>
            </a:r>
          </a:p>
        </p:txBody>
      </p:sp>
      <p:sp>
        <p:nvSpPr>
          <p:cNvPr id="46083" name="Rectangle 3"/>
          <p:cNvSpPr>
            <a:spLocks noGrp="1" noChangeArrowheads="1"/>
          </p:cNvSpPr>
          <p:nvPr>
            <p:ph idx="1"/>
          </p:nvPr>
        </p:nvSpPr>
        <p:spPr bwMode="auto">
          <a:xfrm>
            <a:off x="618540" y="1752600"/>
            <a:ext cx="8440927" cy="3867150"/>
          </a:xfrm>
        </p:spPr>
        <p:txBody>
          <a:bodyPr wrap="square" numCol="1" anchor="t" anchorCtr="0" compatLnSpc="1">
            <a:prstTxWarp prst="textNoShape">
              <a:avLst/>
            </a:prstTxWarp>
          </a:bodyPr>
          <a:lstStyle/>
          <a:p>
            <a:r>
              <a:rPr lang="en-US" altLang="en-US" dirty="0"/>
              <a:t>Situations that have strong demands</a:t>
            </a:r>
          </a:p>
          <a:p>
            <a:r>
              <a:rPr lang="en-US" altLang="en-US" dirty="0"/>
              <a:t>Situations that are imminent</a:t>
            </a:r>
          </a:p>
          <a:p>
            <a:r>
              <a:rPr lang="en-US" altLang="en-US" dirty="0"/>
              <a:t>Life transitions</a:t>
            </a:r>
          </a:p>
          <a:p>
            <a:r>
              <a:rPr lang="en-US" altLang="en-US" dirty="0"/>
              <a:t>Timing (e.g., deviation from the “norm”)</a:t>
            </a:r>
          </a:p>
          <a:p>
            <a:r>
              <a:rPr lang="en-US" altLang="en-US" dirty="0"/>
              <a:t>Ambiguity</a:t>
            </a:r>
          </a:p>
          <a:p>
            <a:r>
              <a:rPr lang="en-US" altLang="en-US" dirty="0"/>
              <a:t>Desirability</a:t>
            </a:r>
          </a:p>
          <a:p>
            <a:r>
              <a:rPr lang="en-US" altLang="en-US" dirty="0"/>
              <a:t>Controllability</a:t>
            </a:r>
          </a:p>
          <a:p>
            <a:pPr lvl="1"/>
            <a:endParaRPr lang="en-US" altLang="en-US" dirty="0"/>
          </a:p>
        </p:txBody>
      </p:sp>
      <p:pic>
        <p:nvPicPr>
          <p:cNvPr id="46084" name="Picture 5" descr="j03414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2057400"/>
            <a:ext cx="168592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30802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a:t>Not All Stress is Bad…</a:t>
            </a:r>
          </a:p>
        </p:txBody>
      </p:sp>
      <p:sp>
        <p:nvSpPr>
          <p:cNvPr id="47107" name="Rectangle 3"/>
          <p:cNvSpPr>
            <a:spLocks noGrp="1" noChangeArrowheads="1"/>
          </p:cNvSpPr>
          <p:nvPr>
            <p:ph idx="1"/>
          </p:nvPr>
        </p:nvSpPr>
        <p:spPr bwMode="auto">
          <a:xfrm>
            <a:off x="457200" y="1600200"/>
            <a:ext cx="8229600" cy="4953000"/>
          </a:xfrm>
        </p:spPr>
        <p:txBody>
          <a:bodyPr wrap="square" numCol="1" anchor="t" anchorCtr="0" compatLnSpc="1">
            <a:prstTxWarp prst="textNoShape">
              <a:avLst/>
            </a:prstTxWarp>
            <a:normAutofit/>
          </a:bodyPr>
          <a:lstStyle/>
          <a:p>
            <a:pPr>
              <a:lnSpc>
                <a:spcPct val="80000"/>
              </a:lnSpc>
            </a:pPr>
            <a:r>
              <a:rPr lang="en-US" altLang="en-US" sz="2400" b="1"/>
              <a:t>Distress</a:t>
            </a:r>
            <a:r>
              <a:rPr lang="en-US" altLang="en-US" sz="2400"/>
              <a:t> is a continuous experience of feeling overwhelmed, oppressed, and behind in our responsibilities. It is the all encompassing sense of being imposed upon by difficulties with no light at the end of the tunnel. </a:t>
            </a:r>
          </a:p>
          <a:p>
            <a:pPr lvl="1">
              <a:lnSpc>
                <a:spcPct val="80000"/>
              </a:lnSpc>
            </a:pPr>
            <a:r>
              <a:rPr lang="en-US" altLang="en-US"/>
              <a:t>Examples of distress include financial difficulties, conflicts in relationships, excessive obligations, managing a chronic illness, or experiencing a trauma.</a:t>
            </a:r>
            <a:endParaRPr lang="en-US" altLang="en-US" b="1"/>
          </a:p>
          <a:p>
            <a:pPr>
              <a:lnSpc>
                <a:spcPct val="80000"/>
              </a:lnSpc>
            </a:pPr>
            <a:endParaRPr lang="en-US" altLang="en-US" sz="2000" b="1"/>
          </a:p>
          <a:p>
            <a:pPr>
              <a:lnSpc>
                <a:spcPct val="80000"/>
              </a:lnSpc>
            </a:pPr>
            <a:r>
              <a:rPr lang="en-US" altLang="en-US" sz="2400" b="1"/>
              <a:t>Eustress</a:t>
            </a:r>
            <a:r>
              <a:rPr lang="en-US" altLang="en-US" sz="2400"/>
              <a:t> is the other form of stress that is positive and beneficial. We may feel challenged, but the sources of the stress are opportunities that are meaningful to us. Eustress helps provide us with energy and motivation to meet our responsibilities and achieve our goals. </a:t>
            </a:r>
          </a:p>
          <a:p>
            <a:pPr lvl="1">
              <a:lnSpc>
                <a:spcPct val="80000"/>
              </a:lnSpc>
            </a:pPr>
            <a:r>
              <a:rPr lang="en-US" altLang="en-US"/>
              <a:t>Examples of eustress include graduating from college, getting married, receiving a promotion, or changing jobs.</a:t>
            </a:r>
          </a:p>
        </p:txBody>
      </p:sp>
    </p:spTree>
    <p:extLst>
      <p:ext uri="{BB962C8B-B14F-4D97-AF65-F5344CB8AC3E}">
        <p14:creationId xmlns:p14="http://schemas.microsoft.com/office/powerpoint/2010/main" val="39564396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a:t>Stress Response: Example</a:t>
            </a:r>
          </a:p>
        </p:txBody>
      </p:sp>
      <p:sp>
        <p:nvSpPr>
          <p:cNvPr id="48131" name="Rectangle 3"/>
          <p:cNvSpPr>
            <a:spLocks noGrp="1" noChangeArrowheads="1"/>
          </p:cNvSpPr>
          <p:nvPr>
            <p:ph idx="1"/>
          </p:nvPr>
        </p:nvSpPr>
        <p:spPr bwMode="auto"/>
        <p:txBody>
          <a:bodyPr wrap="square" numCol="1" anchor="t" anchorCtr="0" compatLnSpc="1">
            <a:prstTxWarp prst="textNoShape">
              <a:avLst/>
            </a:prstTxWarp>
            <a:normAutofit fontScale="92500" lnSpcReduction="10000"/>
          </a:bodyPr>
          <a:lstStyle/>
          <a:p>
            <a:r>
              <a:rPr lang="en-US" altLang="en-US" sz="2800"/>
              <a:t>A good example of a stressful situation for many people is taking a test. If you find testing to be stressful, you might notice certain physical, behavioral, mental, and emotional responses. </a:t>
            </a:r>
          </a:p>
          <a:p>
            <a:pPr lvl="1"/>
            <a:r>
              <a:rPr lang="en-US" altLang="en-US" sz="2400"/>
              <a:t>Physical Response?</a:t>
            </a:r>
          </a:p>
          <a:p>
            <a:pPr lvl="1"/>
            <a:r>
              <a:rPr lang="en-US" altLang="en-US" sz="2400"/>
              <a:t>Behavioral Response?</a:t>
            </a:r>
          </a:p>
          <a:p>
            <a:pPr lvl="1"/>
            <a:r>
              <a:rPr lang="en-US" altLang="en-US" sz="2400"/>
              <a:t>Mental Response?</a:t>
            </a:r>
          </a:p>
          <a:p>
            <a:pPr lvl="1"/>
            <a:r>
              <a:rPr lang="en-US" altLang="en-US" sz="2400"/>
              <a:t>Emotional Response?</a:t>
            </a:r>
          </a:p>
        </p:txBody>
      </p:sp>
      <p:pic>
        <p:nvPicPr>
          <p:cNvPr id="48132" name="Picture 4" descr="j0303470"/>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3848100"/>
            <a:ext cx="22098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4861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a:t>What is Stressful to You?</a:t>
            </a:r>
          </a:p>
        </p:txBody>
      </p:sp>
      <p:graphicFrame>
        <p:nvGraphicFramePr>
          <p:cNvPr id="49383" name="Group 231">
            <a:extLst>
              <a:ext uri="{FF2B5EF4-FFF2-40B4-BE49-F238E27FC236}">
                <a16:creationId xmlns:a16="http://schemas.microsoft.com/office/drawing/2014/main" id="{961FB206-0874-4E3D-B088-83988A0677E4}"/>
              </a:ext>
            </a:extLst>
          </p:cNvPr>
          <p:cNvGraphicFramePr>
            <a:graphicFrameLocks noGrp="1"/>
          </p:cNvGraphicFramePr>
          <p:nvPr>
            <p:ph type="tbl" idx="1"/>
          </p:nvPr>
        </p:nvGraphicFramePr>
        <p:xfrm>
          <a:off x="457200" y="1600200"/>
          <a:ext cx="8229600" cy="4530725"/>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83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Work</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Roommate</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Legal matters</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83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Classes</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Childcare</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Mental health</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Studying</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Finances</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Law violation</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01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Relationship with partner</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Appearance</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Spiritual/Religious issues</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01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Relationship with family</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Physical Health</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Major/Career decisions</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01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Relationship with friends</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Not “fitting in”</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Attitudes/thoughts</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83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Trauma</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Getting married</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Buying a house</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401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Change in residence</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Change to a new school</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Change in amount of recreation</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9144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Change in amount of social activities</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Change in eating habits</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cs typeface="Times New Roman" pitchFamily="18" charset="0"/>
                        </a:rPr>
                        <a:t>Death of friend/family member</a:t>
                      </a:r>
                      <a:endParaRPr kumimoji="0" lang="en-US" sz="1800" b="1" i="0" u="none" strike="noStrike" cap="none" normalizeH="0" baseline="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8377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b="1"/>
              <a:t>Why Do We "Stress Out"?</a:t>
            </a:r>
          </a:p>
        </p:txBody>
      </p:sp>
      <p:sp>
        <p:nvSpPr>
          <p:cNvPr id="51203" name="Rectangle 3"/>
          <p:cNvSpPr>
            <a:spLocks noGrp="1" noChangeArrowheads="1"/>
          </p:cNvSpPr>
          <p:nvPr>
            <p:ph type="body" sz="half" idx="1"/>
          </p:nvPr>
        </p:nvSpPr>
        <p:spPr bwMode="auto"/>
        <p:txBody>
          <a:bodyPr wrap="square" numCol="1" anchor="t" anchorCtr="0" compatLnSpc="1">
            <a:prstTxWarp prst="textNoShape">
              <a:avLst/>
            </a:prstTxWarp>
          </a:bodyPr>
          <a:lstStyle/>
          <a:p>
            <a:r>
              <a:rPr lang="en-US" altLang="en-US" sz="2800"/>
              <a:t>For two major reasons:</a:t>
            </a:r>
          </a:p>
          <a:p>
            <a:pPr lvl="1"/>
            <a:r>
              <a:rPr lang="en-US" altLang="en-US" sz="2400"/>
              <a:t>We </a:t>
            </a:r>
            <a:r>
              <a:rPr lang="en-US" altLang="en-US" sz="2400" i="1"/>
              <a:t>perceive</a:t>
            </a:r>
            <a:r>
              <a:rPr lang="en-US" altLang="en-US" sz="2400"/>
              <a:t> a situation as dangerous, difficult, or painful. </a:t>
            </a:r>
          </a:p>
          <a:p>
            <a:pPr lvl="1"/>
            <a:r>
              <a:rPr lang="en-US" altLang="en-US" sz="2400"/>
              <a:t>We don't believe we have the </a:t>
            </a:r>
            <a:r>
              <a:rPr lang="en-US" altLang="en-US" sz="2400" i="1"/>
              <a:t>resources</a:t>
            </a:r>
            <a:r>
              <a:rPr lang="en-US" altLang="en-US" sz="2400"/>
              <a:t> to cope. </a:t>
            </a:r>
          </a:p>
        </p:txBody>
      </p:sp>
      <p:pic>
        <p:nvPicPr>
          <p:cNvPr id="51204" name="Picture 6" descr="j03991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600200"/>
            <a:ext cx="235108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24700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t>Stress Warning Signals</a:t>
            </a:r>
          </a:p>
        </p:txBody>
      </p:sp>
      <p:sp>
        <p:nvSpPr>
          <p:cNvPr id="53251" name="Rectangle 6"/>
          <p:cNvSpPr>
            <a:spLocks noGrp="1" noChangeArrowheads="1"/>
          </p:cNvSpPr>
          <p:nvPr>
            <p:ph type="body" sz="half" idx="1"/>
          </p:nvPr>
        </p:nvSpPr>
        <p:spPr bwMode="auto"/>
        <p:txBody>
          <a:bodyPr wrap="square" numCol="1" anchor="t" anchorCtr="0" compatLnSpc="1">
            <a:prstTxWarp prst="textNoShape">
              <a:avLst/>
            </a:prstTxWarp>
          </a:bodyPr>
          <a:lstStyle/>
          <a:p>
            <a:r>
              <a:rPr lang="en-US" altLang="en-US" sz="2400"/>
              <a:t>What are your "red flags," or warning signs, that stress is creeping into your life? If we keep pushing ourselves, eventually something inside of use will send "red flags," or warning signs that stress is becoming a problem. </a:t>
            </a:r>
          </a:p>
        </p:txBody>
      </p:sp>
      <p:pic>
        <p:nvPicPr>
          <p:cNvPr id="53252" name="Picture 8" descr="j0356670"/>
          <p:cNvPicPr>
            <a:picLocks noGrp="1" noChangeAspect="1" noChangeArrowheads="1" noCrop="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257800" y="2286000"/>
            <a:ext cx="3009900" cy="2195513"/>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5951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fontScale="90000"/>
          </a:bodyPr>
          <a:lstStyle/>
          <a:p>
            <a:r>
              <a:rPr lang="en-US" altLang="en-US" sz="4000"/>
              <a:t>Suggestions for Reducing Stress</a:t>
            </a:r>
          </a:p>
        </p:txBody>
      </p:sp>
      <p:sp>
        <p:nvSpPr>
          <p:cNvPr id="55299" name="Rectangle 3"/>
          <p:cNvSpPr>
            <a:spLocks noGrp="1" noChangeArrowheads="1"/>
          </p:cNvSpPr>
          <p:nvPr>
            <p:ph idx="1"/>
          </p:nvPr>
        </p:nvSpPr>
        <p:spPr bwMode="auto">
          <a:xfrm>
            <a:off x="351536" y="1180922"/>
            <a:ext cx="8440927" cy="830997"/>
          </a:xfrm>
        </p:spPr>
        <p:txBody>
          <a:bodyPr wrap="square" numCol="1" anchor="t" anchorCtr="0" compatLnSpc="1">
            <a:prstTxWarp prst="textNoShape">
              <a:avLst/>
            </a:prstTxWarp>
            <a:normAutofit/>
          </a:bodyPr>
          <a:lstStyle/>
          <a:p>
            <a:endParaRPr lang="en-US" altLang="en-US" b="1" dirty="0"/>
          </a:p>
          <a:p>
            <a:r>
              <a:rPr lang="en-US" altLang="en-US" b="1" dirty="0"/>
              <a:t>1. Find a support system.</a:t>
            </a:r>
            <a:r>
              <a:rPr lang="en-US" altLang="en-US" dirty="0"/>
              <a:t> Find someone to talk to about your feelings and experiences. </a:t>
            </a:r>
          </a:p>
          <a:p>
            <a:endParaRPr lang="en-US" altLang="en-US" dirty="0"/>
          </a:p>
        </p:txBody>
      </p:sp>
      <p:pic>
        <p:nvPicPr>
          <p:cNvPr id="55300" name="Picture 4" descr="j03998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514600"/>
            <a:ext cx="3505200"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8298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fontScale="90000"/>
          </a:bodyPr>
          <a:lstStyle/>
          <a:p>
            <a:r>
              <a:rPr lang="en-US" altLang="en-US" sz="4000"/>
              <a:t>Suggestions for Reducing Stress</a:t>
            </a:r>
          </a:p>
        </p:txBody>
      </p:sp>
      <p:sp>
        <p:nvSpPr>
          <p:cNvPr id="57347" name="Rectangle 3"/>
          <p:cNvSpPr>
            <a:spLocks noGrp="1" noChangeArrowheads="1"/>
          </p:cNvSpPr>
          <p:nvPr>
            <p:ph idx="1"/>
          </p:nvPr>
        </p:nvSpPr>
        <p:spPr bwMode="auto">
          <a:xfrm>
            <a:off x="351536" y="1180922"/>
            <a:ext cx="8440927" cy="830997"/>
          </a:xfrm>
        </p:spPr>
        <p:txBody>
          <a:bodyPr wrap="square" numCol="1" anchor="t" anchorCtr="0" compatLnSpc="1">
            <a:prstTxWarp prst="textNoShape">
              <a:avLst/>
            </a:prstTxWarp>
            <a:normAutofit lnSpcReduction="10000"/>
          </a:bodyPr>
          <a:lstStyle/>
          <a:p>
            <a:endParaRPr lang="en-US" altLang="en-US" b="1" dirty="0"/>
          </a:p>
          <a:p>
            <a:r>
              <a:rPr lang="en-US" altLang="en-US" b="1" dirty="0"/>
              <a:t>2. Change your attitude.</a:t>
            </a:r>
            <a:r>
              <a:rPr lang="en-US" altLang="en-US" dirty="0"/>
              <a:t> Find other ways to think about stressful situations. </a:t>
            </a:r>
          </a:p>
          <a:p>
            <a:pPr lvl="1"/>
            <a:r>
              <a:rPr lang="en-US" altLang="en-US" dirty="0"/>
              <a:t>"Life is 10% what happens to us, and 90% how we react to it."</a:t>
            </a:r>
          </a:p>
        </p:txBody>
      </p:sp>
      <p:pic>
        <p:nvPicPr>
          <p:cNvPr id="57348" name="Picture 4" descr="bd06663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2438400"/>
            <a:ext cx="1928813"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64207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sz="4000"/>
              <a:t>Suggestions for Reducing Stress</a:t>
            </a:r>
          </a:p>
        </p:txBody>
      </p:sp>
      <p:pic>
        <p:nvPicPr>
          <p:cNvPr id="59395" name="Picture 6" descr="bd07022_"/>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881188" y="1905000"/>
            <a:ext cx="1881187" cy="2867025"/>
          </a:xfrm>
          <a:noFill/>
          <a:extLst>
            <a:ext uri="{909E8E84-426E-40DD-AFC4-6F175D3DCCD1}">
              <a14:hiddenFill xmlns:a14="http://schemas.microsoft.com/office/drawing/2010/main">
                <a:solidFill>
                  <a:srgbClr val="FFFFFF"/>
                </a:solidFill>
              </a14:hiddenFill>
            </a:ext>
          </a:extLst>
        </p:spPr>
      </p:pic>
      <p:sp>
        <p:nvSpPr>
          <p:cNvPr id="59396" name="Rectangle 5"/>
          <p:cNvSpPr>
            <a:spLocks noGrp="1" noChangeArrowheads="1"/>
          </p:cNvSpPr>
          <p:nvPr>
            <p:ph type="body" sz="half" idx="2"/>
          </p:nvPr>
        </p:nvSpPr>
        <p:spPr bwMode="auto"/>
        <p:txBody>
          <a:bodyPr wrap="square" numCol="1" anchor="t" anchorCtr="0" compatLnSpc="1">
            <a:prstTxWarp prst="textNoShape">
              <a:avLst/>
            </a:prstTxWarp>
          </a:bodyPr>
          <a:lstStyle/>
          <a:p>
            <a:r>
              <a:rPr lang="en-US" altLang="en-US" sz="2800" b="1"/>
              <a:t>3. Be realistic.</a:t>
            </a:r>
            <a:r>
              <a:rPr lang="en-US" altLang="en-US" sz="2800"/>
              <a:t> Set practical goals for dealing with situations and solving problems. </a:t>
            </a:r>
          </a:p>
          <a:p>
            <a:pPr lvl="1"/>
            <a:r>
              <a:rPr lang="en-US" altLang="en-US" sz="2400"/>
              <a:t>Develop realistic expectations of yourself and others. </a:t>
            </a:r>
          </a:p>
        </p:txBody>
      </p:sp>
    </p:spTree>
    <p:extLst>
      <p:ext uri="{BB962C8B-B14F-4D97-AF65-F5344CB8AC3E}">
        <p14:creationId xmlns:p14="http://schemas.microsoft.com/office/powerpoint/2010/main" val="4126118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p:txBody>
          <a:bodyPr/>
          <a:lstStyle/>
          <a:p>
            <a:r>
              <a:rPr lang="en-US" altLang="en-US" sz="4000"/>
              <a:t>Suggestions for Reducing Stress</a:t>
            </a:r>
          </a:p>
        </p:txBody>
      </p:sp>
      <p:sp>
        <p:nvSpPr>
          <p:cNvPr id="61443" name="Rectangle 5"/>
          <p:cNvSpPr>
            <a:spLocks noGrp="1" noChangeArrowheads="1"/>
          </p:cNvSpPr>
          <p:nvPr>
            <p:ph type="body" sz="half" idx="1"/>
          </p:nvPr>
        </p:nvSpPr>
        <p:spPr bwMode="auto"/>
        <p:txBody>
          <a:bodyPr wrap="square" numCol="1" anchor="t" anchorCtr="0" compatLnSpc="1">
            <a:prstTxWarp prst="textNoShape">
              <a:avLst/>
            </a:prstTxWarp>
          </a:bodyPr>
          <a:lstStyle/>
          <a:p>
            <a:r>
              <a:rPr lang="en-US" altLang="en-US" sz="2400" b="1"/>
              <a:t>4. Get organized and take charge.</a:t>
            </a:r>
            <a:r>
              <a:rPr lang="en-US" altLang="en-US" sz="2400"/>
              <a:t> Being unorganized or engaging in poor planning often leads to frustration or crisis situations, which most always leads to feeling stressed. </a:t>
            </a:r>
          </a:p>
          <a:p>
            <a:pPr lvl="1"/>
            <a:r>
              <a:rPr lang="en-US" altLang="en-US" sz="2000"/>
              <a:t>Plan your time, make a schedule, establish your priorities. </a:t>
            </a:r>
          </a:p>
        </p:txBody>
      </p:sp>
      <p:pic>
        <p:nvPicPr>
          <p:cNvPr id="61444" name="Picture 7" descr="j0230502"/>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tretch>
            <a:fillRect/>
          </a:stretch>
        </p:blipFill>
        <p:spPr bwMode="auto">
          <a:xfrm>
            <a:off x="4690419" y="2134243"/>
            <a:ext cx="3954162" cy="3462638"/>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161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normAutofit fontScale="90000"/>
          </a:bodyPr>
          <a:lstStyle/>
          <a:p>
            <a:r>
              <a:rPr lang="en-US" altLang="en-US" sz="4000"/>
              <a:t>Suggestions for Reducing Stress</a:t>
            </a:r>
          </a:p>
        </p:txBody>
      </p:sp>
      <p:sp>
        <p:nvSpPr>
          <p:cNvPr id="63491" name="Rectangle 3"/>
          <p:cNvSpPr>
            <a:spLocks noGrp="1" noChangeArrowheads="1"/>
          </p:cNvSpPr>
          <p:nvPr>
            <p:ph idx="1"/>
          </p:nvPr>
        </p:nvSpPr>
        <p:spPr bwMode="auto">
          <a:xfrm>
            <a:off x="351536" y="1180922"/>
            <a:ext cx="8440927" cy="1107996"/>
          </a:xfrm>
        </p:spPr>
        <p:txBody>
          <a:bodyPr wrap="square" numCol="1" anchor="t" anchorCtr="0" compatLnSpc="1">
            <a:prstTxWarp prst="textNoShape">
              <a:avLst/>
            </a:prstTxWarp>
            <a:normAutofit/>
          </a:bodyPr>
          <a:lstStyle/>
          <a:p>
            <a:endParaRPr lang="en-US" altLang="en-US" b="1" dirty="0"/>
          </a:p>
          <a:p>
            <a:r>
              <a:rPr lang="en-US" altLang="en-US" b="1" dirty="0"/>
              <a:t>5. Take breaks, give yourself "me time."</a:t>
            </a:r>
            <a:r>
              <a:rPr lang="en-US" altLang="en-US" dirty="0"/>
              <a:t> Learn that taking time to yourself for rejuvenation and relaxation is just as important as giving time to other activities. </a:t>
            </a:r>
          </a:p>
          <a:p>
            <a:pPr lvl="1"/>
            <a:r>
              <a:rPr lang="en-US" altLang="en-US" dirty="0"/>
              <a:t>At minimum, take short breaks during your busy day. </a:t>
            </a:r>
          </a:p>
        </p:txBody>
      </p:sp>
      <p:pic>
        <p:nvPicPr>
          <p:cNvPr id="63492" name="Picture 5" descr="j040442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91000" y="4724400"/>
            <a:ext cx="1825625"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3461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fontScale="90000"/>
          </a:bodyPr>
          <a:lstStyle/>
          <a:p>
            <a:r>
              <a:rPr lang="en-US" altLang="en-US" sz="4000"/>
              <a:t>Suggestions for Reducing Stress</a:t>
            </a:r>
          </a:p>
        </p:txBody>
      </p:sp>
      <p:sp>
        <p:nvSpPr>
          <p:cNvPr id="65539" name="Rectangle 3"/>
          <p:cNvSpPr>
            <a:spLocks noGrp="1" noChangeArrowheads="1"/>
          </p:cNvSpPr>
          <p:nvPr>
            <p:ph idx="1"/>
          </p:nvPr>
        </p:nvSpPr>
        <p:spPr bwMode="auto">
          <a:xfrm>
            <a:off x="351536" y="1180922"/>
            <a:ext cx="8440927" cy="1384995"/>
          </a:xfrm>
        </p:spPr>
        <p:txBody>
          <a:bodyPr wrap="square" numCol="1" anchor="t" anchorCtr="0" compatLnSpc="1">
            <a:prstTxWarp prst="textNoShape">
              <a:avLst/>
            </a:prstTxWarp>
            <a:normAutofit/>
          </a:bodyPr>
          <a:lstStyle/>
          <a:p>
            <a:endParaRPr lang="en-US" altLang="en-US" b="1" dirty="0"/>
          </a:p>
          <a:p>
            <a:r>
              <a:rPr lang="en-US" altLang="en-US" b="1" dirty="0"/>
              <a:t>6. Take good care of yourself.</a:t>
            </a:r>
            <a:r>
              <a:rPr lang="en-US" altLang="en-US" dirty="0"/>
              <a:t> Eat properly, get regular rest, keep a routine. Allow yourself to do something you enjoy each day. </a:t>
            </a:r>
          </a:p>
          <a:p>
            <a:pPr lvl="1"/>
            <a:r>
              <a:rPr lang="en-US" altLang="en-US" dirty="0"/>
              <a:t>Paradoxically, the time we need to take care of ourselves the most, when we are stressed, is the time we do it the least. </a:t>
            </a:r>
          </a:p>
        </p:txBody>
      </p:sp>
      <p:pic>
        <p:nvPicPr>
          <p:cNvPr id="65540" name="Picture 6" descr="j0283964"/>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5029200"/>
            <a:ext cx="1676400"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55703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en-US" sz="4000"/>
              <a:t>Suggestions for Reducing Stress</a:t>
            </a:r>
          </a:p>
        </p:txBody>
      </p:sp>
      <p:sp>
        <p:nvSpPr>
          <p:cNvPr id="67587" name="Rectangle 4"/>
          <p:cNvSpPr>
            <a:spLocks noGrp="1" noChangeArrowheads="1"/>
          </p:cNvSpPr>
          <p:nvPr>
            <p:ph type="body" sz="half" idx="1"/>
          </p:nvPr>
        </p:nvSpPr>
        <p:spPr bwMode="auto">
          <a:xfrm>
            <a:off x="457200" y="1600200"/>
            <a:ext cx="4648200" cy="4530725"/>
          </a:xfrm>
        </p:spPr>
        <p:txBody>
          <a:bodyPr wrap="square" numCol="1" anchor="t" anchorCtr="0" compatLnSpc="1">
            <a:prstTxWarp prst="textNoShape">
              <a:avLst/>
            </a:prstTxWarp>
            <a:normAutofit lnSpcReduction="10000"/>
          </a:bodyPr>
          <a:lstStyle/>
          <a:p>
            <a:r>
              <a:rPr lang="en-US" altLang="en-US" sz="2800" b="1"/>
              <a:t>7. Learn to say "no."</a:t>
            </a:r>
            <a:r>
              <a:rPr lang="en-US" altLang="en-US" sz="2800"/>
              <a:t> Learn to pick and choose which things you will say "yes" to and which things you will not.</a:t>
            </a:r>
          </a:p>
          <a:p>
            <a:pPr lvl="1"/>
            <a:r>
              <a:rPr lang="en-US" altLang="en-US" sz="2400"/>
              <a:t>Protect yourself by not allowing yourself to take on every request or opportunity that comes your way. </a:t>
            </a:r>
          </a:p>
        </p:txBody>
      </p:sp>
      <p:pic>
        <p:nvPicPr>
          <p:cNvPr id="67588" name="Picture 8" descr="bd10015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2057400"/>
            <a:ext cx="2462213"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44209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ltLang="en-US" sz="4000"/>
              <a:t>Suggestions for Reducing Stress</a:t>
            </a:r>
          </a:p>
        </p:txBody>
      </p:sp>
      <p:pic>
        <p:nvPicPr>
          <p:cNvPr id="69635" name="Picture 6" descr="j0303458"/>
          <p:cNvPicPr>
            <a:picLocks noGrp="1" noChangeAspect="1" noChangeArrowheads="1" noCrop="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685800" y="1752600"/>
            <a:ext cx="2362200" cy="1639888"/>
          </a:xfrm>
          <a:noFill/>
          <a:extLst>
            <a:ext uri="{909E8E84-426E-40DD-AFC4-6F175D3DCCD1}">
              <a14:hiddenFill xmlns:a14="http://schemas.microsoft.com/office/drawing/2010/main">
                <a:solidFill>
                  <a:srgbClr val="FFFFFF"/>
                </a:solidFill>
              </a14:hiddenFill>
            </a:ext>
          </a:extLst>
        </p:spPr>
      </p:pic>
      <p:sp>
        <p:nvSpPr>
          <p:cNvPr id="69636" name="Rectangle 5"/>
          <p:cNvSpPr>
            <a:spLocks noGrp="1" noChangeArrowheads="1"/>
          </p:cNvSpPr>
          <p:nvPr>
            <p:ph type="body" sz="half" idx="2"/>
          </p:nvPr>
        </p:nvSpPr>
        <p:spPr bwMode="auto">
          <a:xfrm>
            <a:off x="4648200" y="1600200"/>
            <a:ext cx="4038600" cy="4876800"/>
          </a:xfrm>
        </p:spPr>
        <p:txBody>
          <a:bodyPr wrap="square" numCol="1" anchor="t" anchorCtr="0" compatLnSpc="1">
            <a:prstTxWarp prst="textNoShape">
              <a:avLst/>
            </a:prstTxWarp>
          </a:bodyPr>
          <a:lstStyle/>
          <a:p>
            <a:r>
              <a:rPr lang="en-US" altLang="en-US" sz="2800" b="1"/>
              <a:t>8. Get regular exercise.</a:t>
            </a:r>
            <a:r>
              <a:rPr lang="en-US" altLang="en-US" sz="2800"/>
              <a:t> Exercising regularly can help relieve some symptoms of depression and stress, and help us to maintain our health.</a:t>
            </a:r>
          </a:p>
        </p:txBody>
      </p:sp>
      <p:pic>
        <p:nvPicPr>
          <p:cNvPr id="69637" name="Picture 7" descr="j0303384"/>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487504" y="3727450"/>
            <a:ext cx="1600200" cy="151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8" descr="j0303490"/>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37970" y="4011902"/>
            <a:ext cx="1189038"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44172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en-US" sz="4000"/>
              <a:t>Suggestions for Reducing Stress</a:t>
            </a:r>
          </a:p>
        </p:txBody>
      </p:sp>
      <p:sp>
        <p:nvSpPr>
          <p:cNvPr id="71683" name="Rectangle 3"/>
          <p:cNvSpPr>
            <a:spLocks noGrp="1" noChangeArrowheads="1"/>
          </p:cNvSpPr>
          <p:nvPr>
            <p:ph type="body" sz="half" idx="1"/>
          </p:nvPr>
        </p:nvSpPr>
        <p:spPr bwMode="auto">
          <a:xfrm>
            <a:off x="457200" y="1600200"/>
            <a:ext cx="4800600" cy="4530725"/>
          </a:xfrm>
        </p:spPr>
        <p:txBody>
          <a:bodyPr wrap="square" numCol="1" anchor="t" anchorCtr="0" compatLnSpc="1">
            <a:prstTxWarp prst="textNoShape">
              <a:avLst/>
            </a:prstTxWarp>
          </a:bodyPr>
          <a:lstStyle/>
          <a:p>
            <a:r>
              <a:rPr lang="en-US" altLang="en-US" sz="2800" b="1"/>
              <a:t>9. Get a hobby, do something different.</a:t>
            </a:r>
            <a:r>
              <a:rPr lang="en-US" altLang="en-US" sz="2800"/>
              <a:t> For a balanced lifestyle, play is as important as work. </a:t>
            </a:r>
          </a:p>
        </p:txBody>
      </p:sp>
      <p:pic>
        <p:nvPicPr>
          <p:cNvPr id="71684" name="Picture 5" descr="j035464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95800"/>
            <a:ext cx="19050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Picture 6" descr="j0283896"/>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615113" y="2057400"/>
            <a:ext cx="145891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6" name="Picture 10" descr="PH01580J"/>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3505200"/>
            <a:ext cx="161448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85799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normAutofit fontScale="90000"/>
          </a:bodyPr>
          <a:lstStyle/>
          <a:p>
            <a:r>
              <a:rPr lang="en-US" altLang="en-US" sz="4000"/>
              <a:t>Suggestions for Reducing Stress</a:t>
            </a:r>
          </a:p>
        </p:txBody>
      </p:sp>
      <p:sp>
        <p:nvSpPr>
          <p:cNvPr id="73731" name="Rectangle 3"/>
          <p:cNvSpPr>
            <a:spLocks noGrp="1" noChangeArrowheads="1"/>
          </p:cNvSpPr>
          <p:nvPr>
            <p:ph idx="1"/>
          </p:nvPr>
        </p:nvSpPr>
        <p:spPr bwMode="auto">
          <a:xfrm>
            <a:off x="457200" y="1600200"/>
            <a:ext cx="8229600" cy="2057400"/>
          </a:xfrm>
        </p:spPr>
        <p:txBody>
          <a:bodyPr wrap="square" numCol="1" anchor="t" anchorCtr="0" compatLnSpc="1">
            <a:prstTxWarp prst="textNoShape">
              <a:avLst/>
            </a:prstTxWarp>
          </a:bodyPr>
          <a:lstStyle/>
          <a:p>
            <a:r>
              <a:rPr lang="en-US" altLang="en-US" sz="2800" b="1"/>
              <a:t>10. Slow down.</a:t>
            </a:r>
            <a:r>
              <a:rPr lang="en-US" altLang="en-US" sz="2800"/>
              <a:t> Know your limits and cut down on the number of things you try to do each day, particularly if you do not have enough time for them or for yourself.</a:t>
            </a:r>
          </a:p>
        </p:txBody>
      </p:sp>
      <p:sp>
        <p:nvSpPr>
          <p:cNvPr id="78854" name="Rectangle 6">
            <a:extLst>
              <a:ext uri="{FF2B5EF4-FFF2-40B4-BE49-F238E27FC236}">
                <a16:creationId xmlns:a16="http://schemas.microsoft.com/office/drawing/2014/main" id="{8A0A7012-EE94-4C7D-8937-89B39A08463B}"/>
              </a:ext>
            </a:extLst>
          </p:cNvPr>
          <p:cNvSpPr>
            <a:spLocks noChangeArrowheads="1"/>
          </p:cNvSpPr>
          <p:nvPr/>
        </p:nvSpPr>
        <p:spPr bwMode="auto">
          <a:xfrm>
            <a:off x="2362200" y="3276600"/>
            <a:ext cx="67818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a:lstStyle/>
          <a:p>
            <a:pPr marL="342900" indent="-342900" eaLnBrk="1" fontAlgn="auto" hangingPunct="1">
              <a:lnSpc>
                <a:spcPct val="80000"/>
              </a:lnSpc>
              <a:spcBef>
                <a:spcPct val="20000"/>
              </a:spcBef>
              <a:spcAft>
                <a:spcPts val="0"/>
              </a:spcAft>
              <a:buClr>
                <a:schemeClr val="hlink"/>
              </a:buClr>
              <a:buSzPct val="70000"/>
              <a:buFont typeface="Wingdings" pitchFamily="2" charset="2"/>
              <a:buChar char="u"/>
              <a:defRPr/>
            </a:pPr>
            <a:endParaRPr lang="en-US" sz="2400">
              <a:effectLst>
                <a:outerShdw blurRad="38100" dist="38100" dir="2700000" algn="tl">
                  <a:srgbClr val="000000"/>
                </a:outerShdw>
              </a:effectLst>
              <a:latin typeface="+mn-lt"/>
            </a:endParaRPr>
          </a:p>
          <a:p>
            <a:pPr marL="742950" lvl="1" indent="-285750" eaLnBrk="1" fontAlgn="auto" hangingPunct="1">
              <a:lnSpc>
                <a:spcPct val="80000"/>
              </a:lnSpc>
              <a:spcBef>
                <a:spcPct val="20000"/>
              </a:spcBef>
              <a:spcAft>
                <a:spcPts val="0"/>
              </a:spcAft>
              <a:buFontTx/>
              <a:buChar char="–"/>
              <a:defRPr/>
            </a:pPr>
            <a:r>
              <a:rPr lang="en-US" sz="2000">
                <a:effectLst>
                  <a:outerShdw blurRad="38100" dist="38100" dir="2700000" algn="tl">
                    <a:srgbClr val="000000"/>
                  </a:outerShdw>
                </a:effectLst>
                <a:latin typeface="+mn-lt"/>
              </a:rPr>
              <a:t>Be realistic about what you can accomplish effectively each day. </a:t>
            </a:r>
          </a:p>
          <a:p>
            <a:pPr marL="742950" lvl="1" indent="-285750" eaLnBrk="1" fontAlgn="auto" hangingPunct="1">
              <a:lnSpc>
                <a:spcPct val="80000"/>
              </a:lnSpc>
              <a:spcBef>
                <a:spcPct val="20000"/>
              </a:spcBef>
              <a:spcAft>
                <a:spcPts val="0"/>
              </a:spcAft>
              <a:buFontTx/>
              <a:buChar char="–"/>
              <a:defRPr/>
            </a:pPr>
            <a:r>
              <a:rPr lang="en-US" sz="2000">
                <a:effectLst>
                  <a:outerShdw blurRad="38100" dist="38100" dir="2700000" algn="tl">
                    <a:srgbClr val="000000"/>
                  </a:outerShdw>
                </a:effectLst>
                <a:latin typeface="+mn-lt"/>
              </a:rPr>
              <a:t>Monitor your pace. Rushing through things can lead to mistakes or poor performance. Take the time you need to do a good job. </a:t>
            </a:r>
          </a:p>
          <a:p>
            <a:pPr marL="1143000" lvl="2" indent="-228600" eaLnBrk="1" fontAlgn="auto" hangingPunct="1">
              <a:lnSpc>
                <a:spcPct val="80000"/>
              </a:lnSpc>
              <a:spcBef>
                <a:spcPct val="20000"/>
              </a:spcBef>
              <a:spcAft>
                <a:spcPts val="0"/>
              </a:spcAft>
              <a:buClr>
                <a:schemeClr val="tx2"/>
              </a:buClr>
              <a:buSzPct val="70000"/>
              <a:buFont typeface="Wingdings" pitchFamily="2" charset="2"/>
              <a:buChar char="u"/>
              <a:defRPr/>
            </a:pPr>
            <a:r>
              <a:rPr lang="en-US">
                <a:effectLst>
                  <a:outerShdw blurRad="38100" dist="38100" dir="2700000" algn="tl">
                    <a:srgbClr val="000000"/>
                  </a:outerShdw>
                </a:effectLst>
                <a:latin typeface="+mn-lt"/>
              </a:rPr>
              <a:t>Poorly done tasks can lead to added stress. </a:t>
            </a:r>
          </a:p>
        </p:txBody>
      </p:sp>
      <p:pic>
        <p:nvPicPr>
          <p:cNvPr id="73733" name="Picture 7" descr="j0236207"/>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990600" y="4191000"/>
            <a:ext cx="112871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8537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en-US" sz="4000"/>
              <a:t>Suggestions for Reducing Stress</a:t>
            </a:r>
          </a:p>
        </p:txBody>
      </p:sp>
      <p:sp>
        <p:nvSpPr>
          <p:cNvPr id="74755" name="Rectangle 4"/>
          <p:cNvSpPr>
            <a:spLocks noGrp="1" noChangeArrowheads="1"/>
          </p:cNvSpPr>
          <p:nvPr>
            <p:ph type="body" sz="half" idx="1"/>
          </p:nvPr>
        </p:nvSpPr>
        <p:spPr bwMode="auto">
          <a:xfrm>
            <a:off x="457200" y="1600200"/>
            <a:ext cx="4648200" cy="4530725"/>
          </a:xfrm>
        </p:spPr>
        <p:txBody>
          <a:bodyPr wrap="square" numCol="1" anchor="t" anchorCtr="0" compatLnSpc="1">
            <a:prstTxWarp prst="textNoShape">
              <a:avLst/>
            </a:prstTxWarp>
          </a:bodyPr>
          <a:lstStyle/>
          <a:p>
            <a:r>
              <a:rPr lang="en-US" altLang="en-US" sz="2800" b="1"/>
              <a:t>11. Laugh, use humor.</a:t>
            </a:r>
            <a:r>
              <a:rPr lang="en-US" altLang="en-US" sz="2800"/>
              <a:t>  Do something fun and enjoyable such as seeing a funny movie, laughing with friends, reading a humorous book, or going to a comedy show. </a:t>
            </a:r>
          </a:p>
        </p:txBody>
      </p:sp>
      <p:pic>
        <p:nvPicPr>
          <p:cNvPr id="74756" name="Picture 6" descr="AG00315_"/>
          <p:cNvPicPr>
            <a:picLocks noGrp="1" noChangeAspect="1" noChangeArrowheads="1" noCro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48388" y="2590800"/>
            <a:ext cx="1649412" cy="1860550"/>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704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normAutofit fontScale="90000"/>
          </a:bodyPr>
          <a:lstStyle/>
          <a:p>
            <a:r>
              <a:rPr lang="en-US" altLang="en-US" sz="4000"/>
              <a:t>Suggestions for Reducing Stress</a:t>
            </a:r>
          </a:p>
        </p:txBody>
      </p:sp>
      <p:sp>
        <p:nvSpPr>
          <p:cNvPr id="75779" name="Rectangle 3"/>
          <p:cNvSpPr>
            <a:spLocks noGrp="1" noChangeArrowheads="1"/>
          </p:cNvSpPr>
          <p:nvPr>
            <p:ph idx="1"/>
          </p:nvPr>
        </p:nvSpPr>
        <p:spPr bwMode="auto"/>
        <p:txBody>
          <a:bodyPr wrap="square" numCol="1" anchor="t" anchorCtr="0" compatLnSpc="1">
            <a:prstTxWarp prst="textNoShape">
              <a:avLst/>
            </a:prstTxWarp>
          </a:bodyPr>
          <a:lstStyle/>
          <a:p>
            <a:r>
              <a:rPr lang="en-US" altLang="en-US" b="1"/>
              <a:t>12. Learn to relax.</a:t>
            </a:r>
            <a:r>
              <a:rPr lang="en-US" altLang="en-US"/>
              <a:t> Develop a regular relaxation routine. </a:t>
            </a:r>
          </a:p>
          <a:p>
            <a:pPr lvl="1"/>
            <a:r>
              <a:rPr lang="en-US" altLang="en-US"/>
              <a:t>Try yoga, meditation, or some simple quiet time. </a:t>
            </a:r>
          </a:p>
        </p:txBody>
      </p:sp>
      <p:pic>
        <p:nvPicPr>
          <p:cNvPr id="75780" name="Picture 7" descr="j04070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7600" y="3505200"/>
            <a:ext cx="2084388"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4310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a:t>Relaxation Exercises</a:t>
            </a:r>
          </a:p>
        </p:txBody>
      </p:sp>
      <p:sp>
        <p:nvSpPr>
          <p:cNvPr id="77827" name="Rectangle 3"/>
          <p:cNvSpPr>
            <a:spLocks noGrp="1" noChangeArrowheads="1"/>
          </p:cNvSpPr>
          <p:nvPr>
            <p:ph idx="1"/>
          </p:nvPr>
        </p:nvSpPr>
        <p:spPr bwMode="auto">
          <a:xfrm>
            <a:off x="457200" y="1600200"/>
            <a:ext cx="8229600" cy="4953000"/>
          </a:xfrm>
        </p:spPr>
        <p:txBody>
          <a:bodyPr wrap="square" numCol="1" anchor="t" anchorCtr="0" compatLnSpc="1">
            <a:prstTxWarp prst="textNoShape">
              <a:avLst/>
            </a:prstTxWarp>
          </a:bodyPr>
          <a:lstStyle/>
          <a:p>
            <a:r>
              <a:rPr lang="en-US" altLang="en-US"/>
              <a:t>Many different kinds, but 2 are:</a:t>
            </a:r>
          </a:p>
          <a:p>
            <a:pPr lvl="1"/>
            <a:r>
              <a:rPr lang="en-US" altLang="en-US" b="1"/>
              <a:t>Deep Breathing</a:t>
            </a:r>
            <a:endParaRPr lang="en-US" altLang="en-US"/>
          </a:p>
          <a:p>
            <a:pPr lvl="1"/>
            <a:r>
              <a:rPr lang="en-US" altLang="en-US" b="1"/>
              <a:t>Visualization: </a:t>
            </a:r>
            <a:r>
              <a:rPr lang="en-US" altLang="en-US"/>
              <a:t>Visualization is a nice way of giving our minds and bodies a "mini vacation."</a:t>
            </a:r>
          </a:p>
        </p:txBody>
      </p:sp>
      <p:pic>
        <p:nvPicPr>
          <p:cNvPr id="77828" name="Picture 6" descr="j04026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4257675"/>
            <a:ext cx="4343400"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42219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r>
              <a:rPr lang="en-US" altLang="en-US" sz="4000"/>
              <a:t>Stress Management: Next Steps</a:t>
            </a:r>
          </a:p>
        </p:txBody>
      </p:sp>
      <p:sp>
        <p:nvSpPr>
          <p:cNvPr id="79875" name="Rectangle 3"/>
          <p:cNvSpPr>
            <a:spLocks noGrp="1" noChangeArrowheads="1"/>
          </p:cNvSpPr>
          <p:nvPr>
            <p:ph idx="1"/>
          </p:nvPr>
        </p:nvSpPr>
        <p:spPr bwMode="auto"/>
        <p:txBody>
          <a:bodyPr wrap="square" numCol="1" anchor="t" anchorCtr="0" compatLnSpc="1">
            <a:prstTxWarp prst="textNoShape">
              <a:avLst/>
            </a:prstTxWarp>
          </a:bodyPr>
          <a:lstStyle/>
          <a:p>
            <a:r>
              <a:rPr lang="en-US" altLang="en-US"/>
              <a:t>Try to change the way you appraise a situation to make it less stressful</a:t>
            </a:r>
          </a:p>
          <a:p>
            <a:r>
              <a:rPr lang="en-US" altLang="en-US"/>
              <a:t>Remember stress is normal but watch out for symptoms of stress</a:t>
            </a:r>
          </a:p>
          <a:p>
            <a:r>
              <a:rPr lang="en-US" altLang="en-US"/>
              <a:t>Use coping skills/ways to reduce stress</a:t>
            </a:r>
          </a:p>
          <a:p>
            <a:r>
              <a:rPr lang="en-US" altLang="en-US"/>
              <a:t>Practice relaxation techniques</a:t>
            </a:r>
          </a:p>
          <a:p>
            <a:r>
              <a:rPr lang="en-US" altLang="en-US"/>
              <a:t>Contact TRiO advisor for counseling at 662-4365</a:t>
            </a:r>
          </a:p>
          <a:p>
            <a:endParaRPr lang="en-US" altLang="en-US"/>
          </a:p>
          <a:p>
            <a:endParaRPr lang="en-US" altLang="en-US"/>
          </a:p>
        </p:txBody>
      </p:sp>
    </p:spTree>
    <p:extLst>
      <p:ext uri="{BB962C8B-B14F-4D97-AF65-F5344CB8AC3E}">
        <p14:creationId xmlns:p14="http://schemas.microsoft.com/office/powerpoint/2010/main" val="3227666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a:xfrm>
            <a:off x="618540" y="574294"/>
            <a:ext cx="7906918" cy="276999"/>
          </a:xfrm>
        </p:spPr>
        <p:txBody>
          <a:bodyPr>
            <a:normAutofit fontScale="90000"/>
          </a:bodyPr>
          <a:lstStyle/>
          <a:p>
            <a:pPr algn="ctr"/>
            <a:r>
              <a:rPr lang="en-US" altLang="en-US" u="sng" dirty="0"/>
              <a:t>Mindfulness for spiritual and Intellectual Health</a:t>
            </a:r>
            <a:endParaRPr lang="en-IN" altLang="en-US" u="sng" dirty="0"/>
          </a:p>
        </p:txBody>
      </p:sp>
      <p:sp>
        <p:nvSpPr>
          <p:cNvPr id="80899" name="Content Placeholder 2"/>
          <p:cNvSpPr>
            <a:spLocks noGrp="1" noChangeArrowheads="1"/>
          </p:cNvSpPr>
          <p:nvPr>
            <p:ph idx="1"/>
          </p:nvPr>
        </p:nvSpPr>
        <p:spPr bwMode="auto"/>
        <p:txBody>
          <a:bodyPr wrap="square" numCol="1" anchor="t" anchorCtr="0" compatLnSpc="1">
            <a:prstTxWarp prst="textNoShape">
              <a:avLst/>
            </a:prstTxWarp>
            <a:normAutofit fontScale="92500"/>
          </a:bodyPr>
          <a:lstStyle/>
          <a:p>
            <a:pPr marL="0" indent="0" algn="just">
              <a:buFont typeface="Arial" panose="020B0604020202020204" pitchFamily="34" charset="0"/>
              <a:buNone/>
            </a:pPr>
            <a:r>
              <a:rPr lang="en-US" altLang="en-US" sz="2800"/>
              <a:t>Mindfulness exercises are </a:t>
            </a:r>
            <a:r>
              <a:rPr lang="en-US" altLang="en-US" sz="2800" b="1"/>
              <a:t>ways of paying attention to the present moment using techniques like meditation, breathing, and yoga</a:t>
            </a:r>
            <a:r>
              <a:rPr lang="en-US" altLang="en-US" sz="2800"/>
              <a:t>. Training helps people to become more aware of their thoughts, feelings, and body sensations so that instead of being overwhelmed by them, they're better able to manage them.</a:t>
            </a:r>
            <a:endParaRPr lang="en-IN" altLang="en-US" sz="2800"/>
          </a:p>
        </p:txBody>
      </p:sp>
    </p:spTree>
    <p:extLst>
      <p:ext uri="{BB962C8B-B14F-4D97-AF65-F5344CB8AC3E}">
        <p14:creationId xmlns:p14="http://schemas.microsoft.com/office/powerpoint/2010/main" val="40212025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A3E51-4CA1-43DB-9DD5-968C78D69484}"/>
              </a:ext>
            </a:extLst>
          </p:cNvPr>
          <p:cNvSpPr>
            <a:spLocks noGrp="1"/>
          </p:cNvSpPr>
          <p:nvPr>
            <p:ph type="title"/>
          </p:nvPr>
        </p:nvSpPr>
        <p:spPr>
          <a:xfrm>
            <a:off x="685800" y="303213"/>
            <a:ext cx="7886700" cy="1325562"/>
          </a:xfrm>
        </p:spPr>
        <p:txBody>
          <a:bodyPr rtlCol="0">
            <a:normAutofit/>
          </a:bodyPr>
          <a:lstStyle/>
          <a:p>
            <a:pPr fontAlgn="auto">
              <a:spcAft>
                <a:spcPts val="0"/>
              </a:spcAft>
              <a:defRPr/>
            </a:pPr>
            <a:r>
              <a:rPr lang="en-US" b="1" dirty="0">
                <a:hlinkClick r:id="rId2" tooltip="why and how to change the brain"/>
              </a:rPr>
              <a:t>Why and how to change the brain</a:t>
            </a:r>
            <a:endParaRPr lang="en-IN" dirty="0"/>
          </a:p>
        </p:txBody>
      </p:sp>
      <p:sp>
        <p:nvSpPr>
          <p:cNvPr id="81923" name="Content Placeholder 2"/>
          <p:cNvSpPr>
            <a:spLocks noGrp="1" noChangeArrowheads="1"/>
          </p:cNvSpPr>
          <p:nvPr>
            <p:ph idx="1"/>
          </p:nvPr>
        </p:nvSpPr>
        <p:spPr bwMode="auto"/>
        <p:txBody>
          <a:bodyPr wrap="square" numCol="1" anchor="t" anchorCtr="0" compatLnSpc="1">
            <a:prstTxWarp prst="textNoShape">
              <a:avLst/>
            </a:prstTxWarp>
            <a:normAutofit fontScale="85000" lnSpcReduction="20000"/>
          </a:bodyPr>
          <a:lstStyle/>
          <a:p>
            <a:pPr marL="0" indent="0">
              <a:buFont typeface="Arial" panose="020B0604020202020204" pitchFamily="34" charset="0"/>
              <a:buNone/>
            </a:pPr>
            <a:r>
              <a:rPr lang="en-US" altLang="en-US"/>
              <a:t> </a:t>
            </a:r>
            <a:r>
              <a:rPr lang="en-US" altLang="en-US" sz="3600"/>
              <a:t>• Making life changes for health starts in the mind- getting out of auto pilot</a:t>
            </a:r>
          </a:p>
          <a:p>
            <a:pPr marL="0" indent="0">
              <a:buFont typeface="Arial" panose="020B0604020202020204" pitchFamily="34" charset="0"/>
              <a:buNone/>
            </a:pPr>
            <a:r>
              <a:rPr lang="en-US" altLang="en-US" sz="3600"/>
              <a:t> • Neuroplasticity- using your mind to change your brain to change your mind for the better!</a:t>
            </a:r>
          </a:p>
          <a:p>
            <a:pPr marL="0" indent="0">
              <a:buFont typeface="Arial" panose="020B0604020202020204" pitchFamily="34" charset="0"/>
              <a:buNone/>
            </a:pPr>
            <a:r>
              <a:rPr lang="en-US" altLang="en-US" sz="3600"/>
              <a:t> • Work on the mind will change your health Stress, pain, depression and anxiety</a:t>
            </a:r>
            <a:endParaRPr lang="en-IN" altLang="en-US" sz="3600"/>
          </a:p>
        </p:txBody>
      </p:sp>
    </p:spTree>
    <p:extLst>
      <p:ext uri="{BB962C8B-B14F-4D97-AF65-F5344CB8AC3E}">
        <p14:creationId xmlns:p14="http://schemas.microsoft.com/office/powerpoint/2010/main" val="22297675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2E15F-CD4D-4633-992D-6937A0655E30}"/>
              </a:ext>
            </a:extLst>
          </p:cNvPr>
          <p:cNvSpPr>
            <a:spLocks noGrp="1"/>
          </p:cNvSpPr>
          <p:nvPr>
            <p:ph type="title"/>
          </p:nvPr>
        </p:nvSpPr>
        <p:spPr>
          <a:xfrm>
            <a:off x="457200" y="304800"/>
            <a:ext cx="7886700" cy="1325563"/>
          </a:xfrm>
        </p:spPr>
        <p:txBody>
          <a:bodyPr rtlCol="0">
            <a:normAutofit/>
          </a:bodyPr>
          <a:lstStyle/>
          <a:p>
            <a:pPr fontAlgn="auto">
              <a:spcAft>
                <a:spcPts val="0"/>
              </a:spcAft>
              <a:defRPr/>
            </a:pPr>
            <a:r>
              <a:rPr lang="en-IN" b="1" u="sng" dirty="0">
                <a:hlinkClick r:id="rId2" tooltip="mind changes brain"/>
              </a:rPr>
              <a:t>Mind Changes Brain</a:t>
            </a:r>
            <a:endParaRPr lang="en-IN" dirty="0"/>
          </a:p>
        </p:txBody>
      </p:sp>
      <p:sp>
        <p:nvSpPr>
          <p:cNvPr id="82947" name="Content Placeholder 2"/>
          <p:cNvSpPr>
            <a:spLocks noGrp="1" noChangeArrowheads="1"/>
          </p:cNvSpPr>
          <p:nvPr>
            <p:ph idx="1"/>
          </p:nvPr>
        </p:nvSpPr>
        <p:spPr bwMode="auto"/>
        <p:txBody>
          <a:bodyPr wrap="square" numCol="1" anchor="t" anchorCtr="0" compatLnSpc="1">
            <a:prstTxWarp prst="textNoShape">
              <a:avLst/>
            </a:prstTxWarp>
            <a:normAutofit fontScale="77500" lnSpcReduction="20000"/>
          </a:bodyPr>
          <a:lstStyle/>
          <a:p>
            <a:pPr marL="0" indent="0">
              <a:buFont typeface="Arial" panose="020B0604020202020204" pitchFamily="34" charset="0"/>
              <a:buNone/>
            </a:pPr>
            <a:r>
              <a:rPr lang="en-US" altLang="en-US" sz="3200"/>
              <a:t>• What flows through the mind changes the brain physiologically </a:t>
            </a:r>
          </a:p>
          <a:p>
            <a:pPr marL="0" indent="0">
              <a:buFont typeface="Arial" panose="020B0604020202020204" pitchFamily="34" charset="0"/>
              <a:buNone/>
            </a:pPr>
            <a:r>
              <a:rPr lang="en-US" altLang="en-US" sz="3200"/>
              <a:t>• Increased blood flow to active areas of brain </a:t>
            </a:r>
          </a:p>
          <a:p>
            <a:pPr marL="0" indent="0">
              <a:buFont typeface="Arial" panose="020B0604020202020204" pitchFamily="34" charset="0"/>
              <a:buNone/>
            </a:pPr>
            <a:r>
              <a:rPr lang="en-US" altLang="en-US" sz="3200"/>
              <a:t>• Neurons that “Fire together wire together” </a:t>
            </a:r>
          </a:p>
          <a:p>
            <a:pPr marL="0" indent="0">
              <a:buFont typeface="Arial" panose="020B0604020202020204" pitchFamily="34" charset="0"/>
              <a:buNone/>
            </a:pPr>
            <a:r>
              <a:rPr lang="en-US" altLang="en-US" sz="3200"/>
              <a:t>• Increasing excitability of active neurons</a:t>
            </a:r>
          </a:p>
          <a:p>
            <a:pPr marL="0" indent="0">
              <a:buFont typeface="Arial" panose="020B0604020202020204" pitchFamily="34" charset="0"/>
              <a:buNone/>
            </a:pPr>
            <a:r>
              <a:rPr lang="en-US" altLang="en-US" sz="3200"/>
              <a:t> • Building new synapses, thickening cortex </a:t>
            </a:r>
          </a:p>
          <a:p>
            <a:pPr marL="0" indent="0">
              <a:buFont typeface="Arial" panose="020B0604020202020204" pitchFamily="34" charset="0"/>
              <a:buNone/>
            </a:pPr>
            <a:r>
              <a:rPr lang="en-US" altLang="en-US" sz="3200"/>
              <a:t>• Use it or lose it philosophy</a:t>
            </a:r>
            <a:endParaRPr lang="en-IN" altLang="en-US" sz="3200"/>
          </a:p>
        </p:txBody>
      </p:sp>
    </p:spTree>
    <p:extLst>
      <p:ext uri="{BB962C8B-B14F-4D97-AF65-F5344CB8AC3E}">
        <p14:creationId xmlns:p14="http://schemas.microsoft.com/office/powerpoint/2010/main" val="37582780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DD853-BF8D-4DEC-A0BE-0694A87F40C5}"/>
              </a:ext>
            </a:extLst>
          </p:cNvPr>
          <p:cNvSpPr>
            <a:spLocks noGrp="1"/>
          </p:cNvSpPr>
          <p:nvPr>
            <p:ph type="title"/>
          </p:nvPr>
        </p:nvSpPr>
        <p:spPr/>
        <p:txBody>
          <a:bodyPr rtlCol="0">
            <a:normAutofit/>
          </a:bodyPr>
          <a:lstStyle/>
          <a:p>
            <a:pPr fontAlgn="auto">
              <a:spcAft>
                <a:spcPts val="0"/>
              </a:spcAft>
              <a:defRPr/>
            </a:pPr>
            <a:r>
              <a:rPr lang="en-IN" sz="3600" dirty="0">
                <a:latin typeface="+mn-lt"/>
                <a:ea typeface="+mn-ea"/>
                <a:cs typeface="+mn-cs"/>
                <a:hlinkClick r:id="rId2" tooltip="mindfulness"/>
              </a:rPr>
              <a:t>Mindfulness</a:t>
            </a:r>
            <a:endParaRPr lang="en-IN" sz="3600" dirty="0">
              <a:latin typeface="+mn-lt"/>
              <a:ea typeface="+mn-ea"/>
              <a:cs typeface="+mn-cs"/>
            </a:endParaRPr>
          </a:p>
        </p:txBody>
      </p:sp>
      <p:sp>
        <p:nvSpPr>
          <p:cNvPr id="83971" name="Content Placeholder 2"/>
          <p:cNvSpPr>
            <a:spLocks noGrp="1" noChangeArrowheads="1"/>
          </p:cNvSpPr>
          <p:nvPr>
            <p:ph idx="1"/>
          </p:nvPr>
        </p:nvSpPr>
        <p:spPr bwMode="auto"/>
        <p:txBody>
          <a:bodyPr wrap="square" numCol="1" anchor="t" anchorCtr="0" compatLnSpc="1">
            <a:prstTxWarp prst="textNoShape">
              <a:avLst/>
            </a:prstTxWarp>
            <a:normAutofit fontScale="92500" lnSpcReduction="20000"/>
          </a:bodyPr>
          <a:lstStyle/>
          <a:p>
            <a:pPr marL="0" indent="0">
              <a:buFont typeface="Arial" panose="020B0604020202020204" pitchFamily="34" charset="0"/>
              <a:buNone/>
            </a:pPr>
            <a:r>
              <a:rPr lang="en-US" altLang="en-US" sz="3600"/>
              <a:t>• Attention is like a spotlight, illuminating what it rests upon </a:t>
            </a:r>
          </a:p>
          <a:p>
            <a:pPr marL="0" indent="0">
              <a:buFont typeface="Arial" panose="020B0604020202020204" pitchFamily="34" charset="0"/>
              <a:buNone/>
            </a:pPr>
            <a:r>
              <a:rPr lang="en-US" altLang="en-US" sz="3600"/>
              <a:t>• Directing attention skillfully is a fundamental way to shape the brain- over a lifetime </a:t>
            </a:r>
          </a:p>
          <a:p>
            <a:pPr marL="0" indent="0">
              <a:buFont typeface="Arial" panose="020B0604020202020204" pitchFamily="34" charset="0"/>
              <a:buNone/>
            </a:pPr>
            <a:r>
              <a:rPr lang="en-US" altLang="en-US" sz="3600"/>
              <a:t>• The brain shapes in increments, not dramatically, over time and practice</a:t>
            </a:r>
            <a:endParaRPr lang="en-IN" altLang="en-US" sz="3600"/>
          </a:p>
        </p:txBody>
      </p:sp>
    </p:spTree>
    <p:extLst>
      <p:ext uri="{BB962C8B-B14F-4D97-AF65-F5344CB8AC3E}">
        <p14:creationId xmlns:p14="http://schemas.microsoft.com/office/powerpoint/2010/main" val="6384839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609600"/>
            <a:ext cx="3847465" cy="289823"/>
          </a:xfrm>
          <a:prstGeom prst="rect">
            <a:avLst/>
          </a:prstGeom>
        </p:spPr>
        <p:txBody>
          <a:bodyPr vert="horz" wrap="square" lIns="0" tIns="12700" rIns="0" bIns="0" rtlCol="0">
            <a:spAutoFit/>
          </a:bodyPr>
          <a:lstStyle/>
          <a:p>
            <a:pPr marL="12700">
              <a:lnSpc>
                <a:spcPct val="100000"/>
              </a:lnSpc>
              <a:spcBef>
                <a:spcPts val="100"/>
              </a:spcBef>
            </a:pPr>
            <a:r>
              <a:rPr lang="en-IN" u="sng" dirty="0"/>
              <a:t>Changing health habits for good health</a:t>
            </a:r>
            <a:endParaRPr u="sng" spc="-5" dirty="0"/>
          </a:p>
        </p:txBody>
      </p:sp>
      <p:sp>
        <p:nvSpPr>
          <p:cNvPr id="3" name="object 3"/>
          <p:cNvSpPr txBox="1"/>
          <p:nvPr/>
        </p:nvSpPr>
        <p:spPr>
          <a:xfrm>
            <a:off x="762406" y="1173861"/>
            <a:ext cx="4768850" cy="4964430"/>
          </a:xfrm>
          <a:prstGeom prst="rect">
            <a:avLst/>
          </a:prstGeom>
        </p:spPr>
        <p:txBody>
          <a:bodyPr vert="horz" wrap="square" lIns="0" tIns="149860" rIns="0" bIns="0" rtlCol="0">
            <a:spAutoFit/>
          </a:bodyPr>
          <a:lstStyle/>
          <a:p>
            <a:pPr marL="355600" indent="-342900">
              <a:lnSpc>
                <a:spcPct val="100000"/>
              </a:lnSpc>
              <a:spcBef>
                <a:spcPts val="1180"/>
              </a:spcBef>
              <a:buClr>
                <a:srgbClr val="0000FF"/>
              </a:buClr>
              <a:buFont typeface="Wingdings"/>
              <a:buChar char=""/>
              <a:tabLst>
                <a:tab pos="354965" algn="l"/>
                <a:tab pos="355600" algn="l"/>
              </a:tabLst>
            </a:pPr>
            <a:r>
              <a:rPr sz="1800" dirty="0">
                <a:latin typeface="Times New Roman"/>
                <a:cs typeface="Times New Roman"/>
              </a:rPr>
              <a:t>Nutrition: Eat</a:t>
            </a:r>
            <a:r>
              <a:rPr sz="1800" spc="-20" dirty="0">
                <a:latin typeface="Times New Roman"/>
                <a:cs typeface="Times New Roman"/>
              </a:rPr>
              <a:t> </a:t>
            </a:r>
            <a:r>
              <a:rPr sz="1800" dirty="0">
                <a:latin typeface="Times New Roman"/>
                <a:cs typeface="Times New Roman"/>
              </a:rPr>
              <a:t>right</a:t>
            </a:r>
          </a:p>
          <a:p>
            <a:pPr marL="355600" indent="-342900">
              <a:lnSpc>
                <a:spcPct val="100000"/>
              </a:lnSpc>
              <a:spcBef>
                <a:spcPts val="1080"/>
              </a:spcBef>
              <a:buClr>
                <a:srgbClr val="0000FF"/>
              </a:buClr>
              <a:buFont typeface="Wingdings"/>
              <a:buChar char=""/>
              <a:tabLst>
                <a:tab pos="354965" algn="l"/>
                <a:tab pos="355600" algn="l"/>
              </a:tabLst>
            </a:pPr>
            <a:r>
              <a:rPr sz="1800" dirty="0">
                <a:latin typeface="Times New Roman"/>
                <a:cs typeface="Times New Roman"/>
              </a:rPr>
              <a:t>Rest : </a:t>
            </a:r>
            <a:r>
              <a:rPr sz="1800" spc="-5" dirty="0">
                <a:latin typeface="Times New Roman"/>
                <a:cs typeface="Times New Roman"/>
              </a:rPr>
              <a:t>Get optimum</a:t>
            </a:r>
            <a:r>
              <a:rPr sz="1800" dirty="0">
                <a:latin typeface="Times New Roman"/>
                <a:cs typeface="Times New Roman"/>
              </a:rPr>
              <a:t> sleep</a:t>
            </a:r>
          </a:p>
          <a:p>
            <a:pPr marL="355600" indent="-342900">
              <a:lnSpc>
                <a:spcPct val="100000"/>
              </a:lnSpc>
              <a:spcBef>
                <a:spcPts val="1080"/>
              </a:spcBef>
              <a:buClr>
                <a:srgbClr val="0000FF"/>
              </a:buClr>
              <a:buFont typeface="Wingdings"/>
              <a:buChar char=""/>
              <a:tabLst>
                <a:tab pos="354965" algn="l"/>
                <a:tab pos="355600" algn="l"/>
              </a:tabLst>
            </a:pPr>
            <a:r>
              <a:rPr sz="1800" spc="-5" dirty="0">
                <a:latin typeface="Times New Roman"/>
                <a:cs typeface="Times New Roman"/>
              </a:rPr>
              <a:t>Fitness: </a:t>
            </a:r>
            <a:r>
              <a:rPr sz="1800" dirty="0">
                <a:latin typeface="Times New Roman"/>
                <a:cs typeface="Times New Roman"/>
              </a:rPr>
              <a:t>exercise</a:t>
            </a:r>
            <a:r>
              <a:rPr sz="1800" spc="-70" dirty="0">
                <a:latin typeface="Times New Roman"/>
                <a:cs typeface="Times New Roman"/>
              </a:rPr>
              <a:t> </a:t>
            </a:r>
            <a:r>
              <a:rPr sz="1800" dirty="0">
                <a:latin typeface="Times New Roman"/>
                <a:cs typeface="Times New Roman"/>
              </a:rPr>
              <a:t>regularly</a:t>
            </a:r>
          </a:p>
          <a:p>
            <a:pPr marL="355600" indent="-342900">
              <a:lnSpc>
                <a:spcPct val="100000"/>
              </a:lnSpc>
              <a:spcBef>
                <a:spcPts val="1080"/>
              </a:spcBef>
              <a:buClr>
                <a:srgbClr val="0000FF"/>
              </a:buClr>
              <a:buFont typeface="Wingdings"/>
              <a:buChar char=""/>
              <a:tabLst>
                <a:tab pos="354965" algn="l"/>
                <a:tab pos="355600" algn="l"/>
              </a:tabLst>
            </a:pPr>
            <a:r>
              <a:rPr sz="1800" spc="-5" dirty="0">
                <a:latin typeface="Times New Roman"/>
                <a:cs typeface="Times New Roman"/>
              </a:rPr>
              <a:t>Manage social media</a:t>
            </a:r>
            <a:r>
              <a:rPr sz="1800" spc="-25" dirty="0">
                <a:latin typeface="Times New Roman"/>
                <a:cs typeface="Times New Roman"/>
              </a:rPr>
              <a:t> </a:t>
            </a:r>
            <a:r>
              <a:rPr sz="1800" spc="-5" dirty="0">
                <a:latin typeface="Times New Roman"/>
                <a:cs typeface="Times New Roman"/>
              </a:rPr>
              <a:t>time</a:t>
            </a:r>
            <a:endParaRPr sz="1800" dirty="0">
              <a:latin typeface="Times New Roman"/>
              <a:cs typeface="Times New Roman"/>
            </a:endParaRPr>
          </a:p>
          <a:p>
            <a:pPr marL="355600" indent="-342900">
              <a:lnSpc>
                <a:spcPct val="100000"/>
              </a:lnSpc>
              <a:spcBef>
                <a:spcPts val="1080"/>
              </a:spcBef>
              <a:buClr>
                <a:srgbClr val="0000FF"/>
              </a:buClr>
              <a:buFont typeface="Wingdings"/>
              <a:buChar char=""/>
              <a:tabLst>
                <a:tab pos="354965" algn="l"/>
                <a:tab pos="355600" algn="l"/>
              </a:tabLst>
            </a:pPr>
            <a:r>
              <a:rPr sz="1800" dirty="0">
                <a:latin typeface="Times New Roman"/>
                <a:cs typeface="Times New Roman"/>
              </a:rPr>
              <a:t>Medical</a:t>
            </a:r>
            <a:r>
              <a:rPr sz="1800" spc="-20" dirty="0">
                <a:latin typeface="Times New Roman"/>
                <a:cs typeface="Times New Roman"/>
              </a:rPr>
              <a:t> </a:t>
            </a:r>
            <a:r>
              <a:rPr sz="1800" dirty="0">
                <a:latin typeface="Times New Roman"/>
                <a:cs typeface="Times New Roman"/>
              </a:rPr>
              <a:t>check-ups</a:t>
            </a:r>
          </a:p>
          <a:p>
            <a:pPr marL="355600" indent="-342900">
              <a:lnSpc>
                <a:spcPct val="100000"/>
              </a:lnSpc>
              <a:spcBef>
                <a:spcPts val="1080"/>
              </a:spcBef>
              <a:buClr>
                <a:srgbClr val="0000FF"/>
              </a:buClr>
              <a:buFont typeface="Wingdings"/>
              <a:buChar char=""/>
              <a:tabLst>
                <a:tab pos="354965" algn="l"/>
                <a:tab pos="355600" algn="l"/>
              </a:tabLst>
            </a:pPr>
            <a:r>
              <a:rPr sz="1800" spc="-10" dirty="0">
                <a:latin typeface="Times New Roman"/>
                <a:cs typeface="Times New Roman"/>
              </a:rPr>
              <a:t>Timely</a:t>
            </a:r>
            <a:r>
              <a:rPr sz="1800" spc="-15" dirty="0">
                <a:latin typeface="Times New Roman"/>
                <a:cs typeface="Times New Roman"/>
              </a:rPr>
              <a:t> </a:t>
            </a:r>
            <a:r>
              <a:rPr sz="1800" dirty="0">
                <a:latin typeface="Times New Roman"/>
                <a:cs typeface="Times New Roman"/>
              </a:rPr>
              <a:t>vaccination</a:t>
            </a:r>
          </a:p>
          <a:p>
            <a:pPr marL="355600" indent="-342900">
              <a:lnSpc>
                <a:spcPct val="100000"/>
              </a:lnSpc>
              <a:spcBef>
                <a:spcPts val="1080"/>
              </a:spcBef>
              <a:buClr>
                <a:srgbClr val="0000FF"/>
              </a:buClr>
              <a:buFont typeface="Wingdings"/>
              <a:buChar char=""/>
              <a:tabLst>
                <a:tab pos="354965" algn="l"/>
                <a:tab pos="355600" algn="l"/>
              </a:tabLst>
            </a:pPr>
            <a:r>
              <a:rPr sz="1800" dirty="0">
                <a:latin typeface="Times New Roman"/>
                <a:cs typeface="Times New Roman"/>
              </a:rPr>
              <a:t>Control of </a:t>
            </a:r>
            <a:r>
              <a:rPr sz="1800" spc="-5" dirty="0">
                <a:latin typeface="Times New Roman"/>
                <a:cs typeface="Times New Roman"/>
              </a:rPr>
              <a:t>substance </a:t>
            </a:r>
            <a:r>
              <a:rPr sz="1800" dirty="0">
                <a:latin typeface="Times New Roman"/>
                <a:cs typeface="Times New Roman"/>
              </a:rPr>
              <a:t>abuse</a:t>
            </a:r>
          </a:p>
          <a:p>
            <a:pPr marL="355600" indent="-342900">
              <a:lnSpc>
                <a:spcPct val="100000"/>
              </a:lnSpc>
              <a:spcBef>
                <a:spcPts val="1085"/>
              </a:spcBef>
              <a:buClr>
                <a:srgbClr val="0000FF"/>
              </a:buClr>
              <a:buFont typeface="Wingdings"/>
              <a:buChar char=""/>
              <a:tabLst>
                <a:tab pos="354965" algn="l"/>
                <a:tab pos="355600" algn="l"/>
              </a:tabLst>
            </a:pPr>
            <a:r>
              <a:rPr sz="1800" spc="-5" dirty="0">
                <a:latin typeface="Times New Roman"/>
                <a:cs typeface="Times New Roman"/>
              </a:rPr>
              <a:t>Stress </a:t>
            </a:r>
            <a:r>
              <a:rPr sz="1800" dirty="0">
                <a:latin typeface="Times New Roman"/>
                <a:cs typeface="Times New Roman"/>
              </a:rPr>
              <a:t>Management</a:t>
            </a:r>
          </a:p>
          <a:p>
            <a:pPr marL="355600" indent="-342900">
              <a:lnSpc>
                <a:spcPct val="100000"/>
              </a:lnSpc>
              <a:spcBef>
                <a:spcPts val="1080"/>
              </a:spcBef>
              <a:buClr>
                <a:srgbClr val="0000FF"/>
              </a:buClr>
              <a:buFont typeface="Wingdings"/>
              <a:buChar char=""/>
              <a:tabLst>
                <a:tab pos="354965" algn="l"/>
                <a:tab pos="355600" algn="l"/>
              </a:tabLst>
            </a:pPr>
            <a:r>
              <a:rPr sz="1800" spc="-5" dirty="0">
                <a:latin typeface="Times New Roman"/>
                <a:cs typeface="Times New Roman"/>
              </a:rPr>
              <a:t>Positive self</a:t>
            </a:r>
            <a:r>
              <a:rPr sz="1800" dirty="0">
                <a:latin typeface="Times New Roman"/>
                <a:cs typeface="Times New Roman"/>
              </a:rPr>
              <a:t> talk</a:t>
            </a:r>
          </a:p>
          <a:p>
            <a:pPr marL="355600" indent="-342900">
              <a:lnSpc>
                <a:spcPct val="100000"/>
              </a:lnSpc>
              <a:spcBef>
                <a:spcPts val="1080"/>
              </a:spcBef>
              <a:buClr>
                <a:srgbClr val="0000FF"/>
              </a:buClr>
              <a:buFont typeface="Wingdings"/>
              <a:buChar char=""/>
              <a:tabLst>
                <a:tab pos="354965" algn="l"/>
                <a:tab pos="355600" algn="l"/>
              </a:tabLst>
            </a:pPr>
            <a:r>
              <a:rPr sz="1800" dirty="0">
                <a:latin typeface="Times New Roman"/>
                <a:cs typeface="Times New Roman"/>
              </a:rPr>
              <a:t>Practicing</a:t>
            </a:r>
            <a:r>
              <a:rPr sz="1800" spc="-25" dirty="0">
                <a:latin typeface="Times New Roman"/>
                <a:cs typeface="Times New Roman"/>
              </a:rPr>
              <a:t> </a:t>
            </a:r>
            <a:r>
              <a:rPr sz="1800" dirty="0">
                <a:latin typeface="Times New Roman"/>
                <a:cs typeface="Times New Roman"/>
              </a:rPr>
              <a:t>gratitude</a:t>
            </a:r>
          </a:p>
          <a:p>
            <a:pPr marL="355600" indent="-342900">
              <a:lnSpc>
                <a:spcPct val="100000"/>
              </a:lnSpc>
              <a:spcBef>
                <a:spcPts val="1080"/>
              </a:spcBef>
              <a:buClr>
                <a:srgbClr val="0000FF"/>
              </a:buClr>
              <a:buFont typeface="Wingdings"/>
              <a:buChar char=""/>
              <a:tabLst>
                <a:tab pos="354965" algn="l"/>
                <a:tab pos="355600" algn="l"/>
              </a:tabLst>
            </a:pPr>
            <a:r>
              <a:rPr sz="1800" dirty="0">
                <a:latin typeface="Times New Roman"/>
                <a:cs typeface="Times New Roman"/>
              </a:rPr>
              <a:t>Journaling</a:t>
            </a:r>
          </a:p>
          <a:p>
            <a:pPr marL="355600" indent="-342900">
              <a:lnSpc>
                <a:spcPct val="100000"/>
              </a:lnSpc>
              <a:spcBef>
                <a:spcPts val="1080"/>
              </a:spcBef>
              <a:buClr>
                <a:srgbClr val="0000FF"/>
              </a:buClr>
              <a:buFont typeface="Wingdings"/>
              <a:buChar char=""/>
              <a:tabLst>
                <a:tab pos="354965" algn="l"/>
                <a:tab pos="355600" algn="l"/>
              </a:tabLst>
            </a:pPr>
            <a:r>
              <a:rPr sz="1800" dirty="0">
                <a:latin typeface="Times New Roman"/>
                <a:cs typeface="Times New Roman"/>
              </a:rPr>
              <a:t>Meaningful relationship with family and</a:t>
            </a:r>
            <a:r>
              <a:rPr sz="1800" spc="-114" dirty="0">
                <a:latin typeface="Times New Roman"/>
                <a:cs typeface="Times New Roman"/>
              </a:rPr>
              <a:t> </a:t>
            </a:r>
            <a:r>
              <a:rPr sz="1800" dirty="0">
                <a:latin typeface="Times New Roman"/>
                <a:cs typeface="Times New Roman"/>
              </a:rPr>
              <a:t>friends</a:t>
            </a:r>
          </a:p>
        </p:txBody>
      </p:sp>
    </p:spTree>
  </p:cSld>
  <p:clrMapOvr>
    <a:masterClrMapping/>
  </p:clrMapOvr>
</p:sld>
</file>

<file path=ppt/theme/theme1.xml><?xml version="1.0" encoding="utf-8"?>
<a:theme xmlns:a="http://schemas.openxmlformats.org/drawingml/2006/main" name="Wisp">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316</TotalTime>
  <Words>3734</Words>
  <Application>Microsoft Office PowerPoint</Application>
  <PresentationFormat>On-screen Show (4:3)</PresentationFormat>
  <Paragraphs>367</Paragraphs>
  <Slides>56</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Algerian</vt:lpstr>
      <vt:lpstr>Arial</vt:lpstr>
      <vt:lpstr>Calibri</vt:lpstr>
      <vt:lpstr>Century Gothic</vt:lpstr>
      <vt:lpstr>Times New Roman</vt:lpstr>
      <vt:lpstr>Verdana</vt:lpstr>
      <vt:lpstr>Wingdings</vt:lpstr>
      <vt:lpstr>Wingdings 3</vt:lpstr>
      <vt:lpstr>Wisp</vt:lpstr>
      <vt:lpstr>PowerPoint Presentation</vt:lpstr>
      <vt:lpstr>PowerPoint Presentation</vt:lpstr>
      <vt:lpstr>What is Health Psychology</vt:lpstr>
      <vt:lpstr>PowerPoint Presentation</vt:lpstr>
      <vt:lpstr>Methods To Improve Good Psychological Health</vt:lpstr>
      <vt:lpstr>Methods To Improve Good Psychological Health</vt:lpstr>
      <vt:lpstr>Methods To Improve Good Psychological Health</vt:lpstr>
      <vt:lpstr>Methods To Improve Good Psychological Health</vt:lpstr>
      <vt:lpstr>Psychological Disorders</vt:lpstr>
      <vt:lpstr>Psychological Disorders</vt:lpstr>
      <vt:lpstr>Psychological Disorders</vt:lpstr>
      <vt:lpstr>Psychological  Disorders</vt:lpstr>
      <vt:lpstr>Psychological  Disorders</vt:lpstr>
      <vt:lpstr>Mind : Defined as Function</vt:lpstr>
      <vt:lpstr>PowerPoint Presentation</vt:lpstr>
      <vt:lpstr>Anxiety Disorders</vt:lpstr>
      <vt:lpstr>Anxiety Disorders / Panic Disorders </vt:lpstr>
      <vt:lpstr>Anxiety Disorders / Panic Disorders </vt:lpstr>
      <vt:lpstr>PowerPoint Presentation</vt:lpstr>
      <vt:lpstr>Dissociative Disorders</vt:lpstr>
      <vt:lpstr>Personality Disorders</vt:lpstr>
      <vt:lpstr>Types of Personality Disorders</vt:lpstr>
      <vt:lpstr>Personality Disorders</vt:lpstr>
      <vt:lpstr>Personality Disorders</vt:lpstr>
      <vt:lpstr>Mood Disorders</vt:lpstr>
      <vt:lpstr>Mood Disorders</vt:lpstr>
      <vt:lpstr>Mood Disorders-Bipolar</vt:lpstr>
      <vt:lpstr>Mood Disorders-Depression</vt:lpstr>
      <vt:lpstr>Mood Disorders-Depression</vt:lpstr>
      <vt:lpstr>What is Stress?</vt:lpstr>
      <vt:lpstr>The “Fight or Flight” Response</vt:lpstr>
      <vt:lpstr>What Makes Something Stressful?</vt:lpstr>
      <vt:lpstr>Not All Stress is Bad…</vt:lpstr>
      <vt:lpstr>Stress Response: Example</vt:lpstr>
      <vt:lpstr>What is Stressful to You?</vt:lpstr>
      <vt:lpstr>Why Do We "Stress Out"?</vt:lpstr>
      <vt:lpstr>Stress Warning Signals</vt:lpstr>
      <vt:lpstr>Suggestions for Reducing Stress</vt:lpstr>
      <vt:lpstr>Suggestions for Reducing Stress</vt:lpstr>
      <vt:lpstr>Suggestions for Reducing Stress</vt:lpstr>
      <vt:lpstr>Suggestions for Reducing Stress</vt:lpstr>
      <vt:lpstr>Suggestions for Reducing Stress</vt:lpstr>
      <vt:lpstr>Suggestions for Reducing Stress</vt:lpstr>
      <vt:lpstr>Suggestions for Reducing Stress</vt:lpstr>
      <vt:lpstr>Suggestions for Reducing Stress</vt:lpstr>
      <vt:lpstr>Suggestions for Reducing Stress</vt:lpstr>
      <vt:lpstr>Suggestions for Reducing Stress</vt:lpstr>
      <vt:lpstr>Suggestions for Reducing Stress</vt:lpstr>
      <vt:lpstr>Suggestions for Reducing Stress</vt:lpstr>
      <vt:lpstr>Relaxation Exercises</vt:lpstr>
      <vt:lpstr>Stress Management: Next Steps</vt:lpstr>
      <vt:lpstr>Mindfulness for spiritual and Intellectual Health</vt:lpstr>
      <vt:lpstr>Why and how to change the brain</vt:lpstr>
      <vt:lpstr>Mind Changes Brain</vt:lpstr>
      <vt:lpstr>Mindfulness</vt:lpstr>
      <vt:lpstr>Changing health habits for good health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“Studies on molecular mechanism of bioavailability and bio-efficacy of nanoemulsion based delivery of carotenoids in human intestinal cell lines”.</dc:title>
  <dc:creator>YASHWANTH</dc:creator>
  <cp:lastModifiedBy>PRABHA RAVI</cp:lastModifiedBy>
  <cp:revision>24</cp:revision>
  <dcterms:created xsi:type="dcterms:W3CDTF">2022-05-24T05:42:39Z</dcterms:created>
  <dcterms:modified xsi:type="dcterms:W3CDTF">2022-05-31T04:47:39Z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2022-01-25T00:00:00Z</vt:filetime>
  </property>
  <property fmtid="{D5CDD505-2E9C-101B-9397-08002B2CF9AE}" pid="3" name="Creator">
    <vt:lpwstr>Microsoft® PowerPoint® 2016</vt:lpwstr>
  </property>
  <property fmtid="{D5CDD505-2E9C-101B-9397-08002B2CF9AE}" pid="4" name="LastSaved">
    <vt:filetime>2022-05-24T00:00:00Z</vt:filetime>
  </property>
</Properties>
</file>