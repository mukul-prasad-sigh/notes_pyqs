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48"/>
  </p:notesMasterIdLst>
  <p:sldIdLst>
    <p:sldId id="257" r:id="rId2"/>
    <p:sldId id="430" r:id="rId3"/>
    <p:sldId id="431" r:id="rId4"/>
    <p:sldId id="433" r:id="rId5"/>
    <p:sldId id="392" r:id="rId6"/>
    <p:sldId id="391" r:id="rId7"/>
    <p:sldId id="386" r:id="rId8"/>
    <p:sldId id="429" r:id="rId9"/>
    <p:sldId id="387" r:id="rId10"/>
    <p:sldId id="388" r:id="rId11"/>
    <p:sldId id="389" r:id="rId12"/>
    <p:sldId id="434" r:id="rId13"/>
    <p:sldId id="396" r:id="rId14"/>
    <p:sldId id="401" r:id="rId15"/>
    <p:sldId id="402" r:id="rId16"/>
    <p:sldId id="403" r:id="rId17"/>
    <p:sldId id="404" r:id="rId18"/>
    <p:sldId id="435" r:id="rId19"/>
    <p:sldId id="443" r:id="rId20"/>
    <p:sldId id="436" r:id="rId21"/>
    <p:sldId id="405" r:id="rId22"/>
    <p:sldId id="438" r:id="rId23"/>
    <p:sldId id="439" r:id="rId24"/>
    <p:sldId id="413" r:id="rId25"/>
    <p:sldId id="440" r:id="rId26"/>
    <p:sldId id="412" r:id="rId27"/>
    <p:sldId id="414" r:id="rId28"/>
    <p:sldId id="407" r:id="rId29"/>
    <p:sldId id="408" r:id="rId30"/>
    <p:sldId id="409" r:id="rId31"/>
    <p:sldId id="410" r:id="rId32"/>
    <p:sldId id="437" r:id="rId33"/>
    <p:sldId id="444" r:id="rId34"/>
    <p:sldId id="416" r:id="rId35"/>
    <p:sldId id="446" r:id="rId36"/>
    <p:sldId id="417" r:id="rId37"/>
    <p:sldId id="418" r:id="rId38"/>
    <p:sldId id="419" r:id="rId39"/>
    <p:sldId id="420" r:id="rId40"/>
    <p:sldId id="421" r:id="rId41"/>
    <p:sldId id="445" r:id="rId42"/>
    <p:sldId id="424" r:id="rId43"/>
    <p:sldId id="425" r:id="rId44"/>
    <p:sldId id="428" r:id="rId45"/>
    <p:sldId id="426" r:id="rId46"/>
    <p:sldId id="427" r:id="rId47"/>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 Malige" initials="SM" lastIdx="1" clrIdx="0">
    <p:extLst>
      <p:ext uri="{19B8F6BF-5375-455C-9EA6-DF929625EA0E}">
        <p15:presenceInfo xmlns:p15="http://schemas.microsoft.com/office/powerpoint/2012/main" userId="e99cf60d8eb354e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408" y="63"/>
      </p:cViewPr>
      <p:guideLst>
        <p:guide orient="horz" pos="288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10T13:17:59.748" idx="1">
    <p:pos x="3351" y="2731"/>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1FFB888-061D-5639-9A75-FDF0276DF28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1B3B5EE-E743-5A73-F665-98ED6BEB0BF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191745E-16B3-8059-03B8-1375190964D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5116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9DB3FB7-AC08-AC21-1836-0009C2E173E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3FE63D12-9EC1-BDE8-88EA-677AD92BF111}"/>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CA97C36-8C8C-D67A-2F2F-02DC348F8CD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0608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A79D82EC-02D8-5847-63A3-973F56AF931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D33C058-CEA0-CBE4-7BE6-FA0AEF881B7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DA5E072-9118-708C-381A-A3AF7015C60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3079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0901276-8706-A504-1F7F-D9CEF808D07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B3A89EE-6913-9DF2-0A15-02CEFF361BB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0937175-09B1-C500-3E1A-13F9960FAF7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240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AEFED2CC-51D1-8539-3C0D-9FA1F9B2876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F47B7EE0-B935-A112-A58E-51B29890FBB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D1C723E-5D5B-D2BB-A11B-4ECC3894902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4574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962EE3FC-B918-F2F8-6BFC-7E3ED7157E8A}"/>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BEEC091-61AD-E8E2-748F-43DFB415896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2D8BEF99-0C9A-0008-9942-FA61E8BDB95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7507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653FD267-DD37-5BA6-9ED9-2C3FD29DC5B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B424DF3-91A6-B6E9-633B-3038546753C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121FDCAF-D048-4BAD-24A4-88E8A532689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85194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3BC2367-1C2C-CFC0-1538-E32EB33E55D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F97548E9-D47A-326A-115E-63F6240E8E2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4E4E15A-E037-4427-7CF3-B6C1C31D937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020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62F2025-B917-59B1-3C45-3CE4AA06612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E50D933-22C4-953B-A442-CBA730F3E94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87F7582-0E14-DF1E-48F2-FFE715A92B9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0278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5A6ED95-EC04-97A1-49E2-F7E52BC9296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F5DF6D0-4648-9857-316B-46C26BBA9D4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19E9BC65-0271-DC6A-A501-E3C2EF2C52B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513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172F0EB-D244-DC1B-F6D6-D7C26210481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AC66F90-D125-00B9-330E-FF022EB5511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DB0723DC-DE26-B7BD-D30E-38A8A750308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285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D4AFFA1-69B5-877A-0845-00B9A42D63D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82D356A-76E7-2238-7C3B-E24BEF71D0C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B96EDC1-157D-0A62-DDFD-9530AD0C23E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6716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42E9B947-A178-816B-D78A-761F6B73679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664BF6C-B041-DE1F-C3A7-DD45BE43CD2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5062166-8BBF-6B22-BBD2-D2B780B4A95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76807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5BF9235-7A8A-F1F9-B7C3-EC5AB77BA13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6BE0A19-9A99-8161-12F2-49D37BBADD9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92A4A89-F2DD-C5D9-881E-73CAD90042A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9216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85D07DD-F497-FEED-296D-CF34C1F8D87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5EDB054-D648-6B72-62CD-99DF31BC5DA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D0E55E2-73E7-C6F2-326B-DC1EB1F8643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9642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E65E525-353A-A2E6-C1EB-1A37AAC66557}"/>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3E01C77-631B-16D7-EBCF-7612032A18F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104903F-84F5-02EF-CFDD-76B1AC546C1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047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E45D640B-D7D5-8D81-9789-AF860AE3BF46}"/>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4CEE0E5-70C0-F7A4-E53A-87B3677DC0C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34E1FD0-5E47-3D82-4FB5-19333F99DA9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3108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3A0B128-20F3-035F-17D9-E91B003B79D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CDAFC806-3E78-3666-7967-A9261C2C90F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23CAADC-4F43-CB2E-CC99-BD6C1AC0EF1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6683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F1858692-A983-057D-1F3F-BD2FD2C8864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D0BD5931-5306-FE44-7C25-A1662AA9C23A}"/>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A2CA830-4967-611B-2796-1DAF3B01470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4763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A3BA4A03-0022-27C0-C12F-8FE6B62C27E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45220C3-7626-CE74-2430-7A0ED957CAA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21EABD4-3608-74AD-D086-EC2629156B4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0481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4BCA976-A8A1-6EE6-66E5-D613E7E7F11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6369BEFB-881C-9A9A-B8E3-115D5C9D1AF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EB2783A-BAA3-D4CE-966B-97CFE430AF5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09119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B7AE53F-6DF9-4AAB-33BE-ED32E1541D3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4777079-477E-8652-B625-5F699157A73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A1E3914-58FB-251D-BBA6-2DC8ECF44E6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0230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78AE790-697A-5529-AFB2-9FEF9C747C5A}"/>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E2620E2-AA6B-D907-3F30-8E5F06535CD3}"/>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24546DD-5DF0-071D-AD03-1A9089A475A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8958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6BEC18C3-5691-7246-89AF-30BF894608D5}"/>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41F34A4-1C81-449E-6D42-9B389E5B7091}"/>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BE71E45-A2BD-F2BA-4A29-DA238244F416}"/>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1116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B0177D9-4EDF-CCE0-CB19-8ACF2AE6240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74C8B006-1D87-BF0C-E170-AB3452C742C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72A121E2-95A5-0A44-05E3-E9636646AC0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0144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F4D637DF-BE3E-0C48-92D9-D574883F0B78}"/>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D030D8E1-D06E-EC89-5C20-52F771E39D8D}"/>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1DB1E64-8377-0CC2-892A-84B1A60537F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0288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431EC4A4-5DFD-9ABB-A419-4848E682238E}"/>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03E6E1E7-8AD6-AD4A-A38D-6AE9123EF0C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4D5ED50-C59C-B6D6-57BD-DD0CF273A90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3636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DDD3CFF-71F2-98EC-D42D-9F14FF100BE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21477B4-8537-FC69-A7A3-0276437866A4}"/>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F9D5BCF-D3B6-E6F6-1E39-6B8DE8FF8A4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87100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9419796-2EB1-4B0E-2555-A605FE668AC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828CAE4-3BF9-90A3-6758-2A45F4C9F74F}"/>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585F7D0E-E7DF-3DD6-EDE9-C2D4DB02FD7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61320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2CD4AC7-8231-C207-4CB0-D1D33E1229C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5C79A50-D909-2BB0-B157-786297E04BBE}"/>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E5CBD50-14AB-CC5D-B8D9-5F8975A13B1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794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23EEA1C-27D9-2ABD-87BC-C29CFE159340}"/>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DC2CD35-5123-7B12-F7D6-AB8E7CFDBBAB}"/>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977719D-313B-405D-7F11-4C39FD8DF4E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1313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3D2CFEFC-5559-D4F4-4A6F-E249A40B3CDF}"/>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FF0BAC94-B431-85D0-91D6-D5360EBCC2A8}"/>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28FAD70-55FD-2921-5FD5-3455243191B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60603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B33A65CB-DCA8-5C9B-2FEA-7C730DFF776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B0532AA-1015-4888-D001-2A8328FFAC5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DD10BC0-9A3F-E779-60C6-D14244DA9C5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80187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8A2B69AF-F5A7-3971-AD6C-4ED8E399696E}"/>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C3A4121-C26F-A92D-824E-1A7AF62090C7}"/>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1B0BA82F-55AA-F652-D78E-502E070DA02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45634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0F03348B-A729-191C-E6A1-2FA0B535D47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25650380-2811-34D8-A6AF-E72DFA5A0D4A}"/>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CC99BF97-DB8A-D109-3CDB-47BE6B6A623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4344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0102D21-AC04-4ED3-567F-C821995477A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5ED36735-1E3B-E0CF-252F-19D2ED822091}"/>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0B69A66A-5541-70A6-2A20-E0670A22AC7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630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F8A95281-5CE8-A93B-D516-942E43251F6D}"/>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4A010149-7C2D-CF66-661C-EFE38E0CA3D9}"/>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ACB454B2-EE30-9B35-E4AC-DD81395AB9D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485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5DBEFD07-FA3A-9773-E8B2-AA55A7CCA0D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CFE7887-9965-8151-52CC-057869A69245}"/>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B488BC35-7AEC-9934-C743-2F0801DBFF3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7471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BAB41A6-E40F-F61B-6BD6-58180E3C0D83}"/>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090219F-A9AD-42D3-3647-08B0257D9CA0}"/>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E14EE76D-38DE-AF87-92C8-F3335DD0B37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554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F42B3CA-517E-1EBE-11B1-8BF4F014EFF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8A0FF8CC-A076-FBFC-90DD-0205AF6BDF67}"/>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66645A8F-6383-37BC-2A22-E0B360B5979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60997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BA4995F-9DAD-D613-23A0-4EEFBC133542}"/>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17142254-2B35-8038-6922-D5753DC47007}"/>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F885B848-6EA9-5DCE-BA14-79D9013415B1}"/>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8688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D25A01B0-2673-EC3B-281B-B89A8B3E8D6E}"/>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A4F8AF7D-668D-22C1-B757-1FE1E95A0016}"/>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8BEAFE6E-FE50-EC3A-7411-1CB13901A6FD}"/>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51940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298C280D-AE7A-B91E-6A80-0CAB82658D4C}"/>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BECB4D88-1027-EBAD-FEA5-65A230F318BC}"/>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4F61CBF4-C359-A5F4-F79E-C73A7F4C2E7C}"/>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46898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76212AE2-4B01-9393-8C66-20CA883FF771}"/>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587CF9A7-9AB3-51BC-FBE4-0F0B6808E3A2}"/>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D2F8AFF1-0DC7-113D-478D-B264EE4AF25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797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a:extLst>
            <a:ext uri="{FF2B5EF4-FFF2-40B4-BE49-F238E27FC236}">
              <a16:creationId xmlns:a16="http://schemas.microsoft.com/office/drawing/2014/main" id="{C3F60EA9-7120-D7E2-6011-C8754470CAF4}"/>
            </a:ext>
          </a:extLst>
        </p:cNvPr>
        <p:cNvGrpSpPr/>
        <p:nvPr/>
      </p:nvGrpSpPr>
      <p:grpSpPr>
        <a:xfrm>
          <a:off x="0" y="0"/>
          <a:ext cx="0" cy="0"/>
          <a:chOff x="0" y="0"/>
          <a:chExt cx="0" cy="0"/>
        </a:xfrm>
      </p:grpSpPr>
      <p:sp>
        <p:nvSpPr>
          <p:cNvPr id="24" name="Google Shape;24;p2:notes">
            <a:extLst>
              <a:ext uri="{FF2B5EF4-FFF2-40B4-BE49-F238E27FC236}">
                <a16:creationId xmlns:a16="http://schemas.microsoft.com/office/drawing/2014/main" id="{9775EB93-A5E1-6857-88C1-74147F0982EA}"/>
              </a:ext>
            </a:extLst>
          </p:cNvPr>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 name="Google Shape;25;p2:notes">
            <a:extLst>
              <a:ext uri="{FF2B5EF4-FFF2-40B4-BE49-F238E27FC236}">
                <a16:creationId xmlns:a16="http://schemas.microsoft.com/office/drawing/2014/main" id="{3D90B131-9F33-5105-B950-688951F3A51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4764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What is an Operating System?</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 name="Google Shape;32;p5"/>
          <p:cNvSpPr txBox="1"/>
          <p:nvPr/>
        </p:nvSpPr>
        <p:spPr>
          <a:xfrm>
            <a:off x="609600" y="914400"/>
            <a:ext cx="11070210" cy="3693278"/>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sz="1800" dirty="0"/>
              <a:t>An Operating System is a program that manages the computer hardware. It also provides a basis for application programs and acts as an intermediary between the computer user and the computer hardware.</a:t>
            </a:r>
          </a:p>
          <a:p>
            <a:pPr marL="285750" lvl="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altLang="en-US" sz="1800" dirty="0"/>
              <a:t>A program that acts as an intermediary between a user of a computer and the computer hardware</a:t>
            </a:r>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sz="1800" dirty="0"/>
              <a:t>The operating system controls the hardware and coordinates its use among the various application programs for the various users.</a:t>
            </a:r>
          </a:p>
          <a:p>
            <a:endParaRPr lang="en-US" sz="1800" dirty="0"/>
          </a:p>
          <a:p>
            <a:endParaRPr lang="en-US" sz="1800" dirty="0"/>
          </a:p>
          <a:p>
            <a:pPr marL="285750" indent="-285750">
              <a:buFont typeface="Arial" panose="020B0604020202020204" pitchFamily="34" charset="0"/>
              <a:buChar char="•"/>
            </a:pPr>
            <a:r>
              <a:rPr lang="en-US" sz="1800" dirty="0"/>
              <a:t>We can also view a computer system as consisting  as consisting of hardware, software, and data.</a:t>
            </a:r>
          </a:p>
          <a:p>
            <a:endParaRPr lang="en-US" altLang="en-US" sz="1800" dirty="0"/>
          </a:p>
          <a:p>
            <a:pPr lvl="0"/>
            <a:r>
              <a:rPr lang="en-US" sz="1800" dirty="0"/>
              <a:t> </a:t>
            </a:r>
            <a:endParaRPr sz="1800"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C752F9FE-B78B-B808-1CE6-6F5F6AEA129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56ECD237-FC88-CD72-ECE7-FC75FA47B34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40938DF5-9B70-2497-C4B9-6C29D0084FF3}"/>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F88EE8F-F6FE-D5DF-A432-A78B81C118D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731629D3-02F1-74AB-E15C-89E34816A523}"/>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3864EE0-987B-F9E3-87CF-EC58CE374103}"/>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A8873EFE-C46E-6297-1F16-6A11D1BE6746}"/>
              </a:ext>
            </a:extLst>
          </p:cNvPr>
          <p:cNvSpPr txBox="1"/>
          <p:nvPr/>
        </p:nvSpPr>
        <p:spPr>
          <a:xfrm>
            <a:off x="292231" y="1066800"/>
            <a:ext cx="11607538" cy="4462760"/>
          </a:xfrm>
          <a:prstGeom prst="rect">
            <a:avLst/>
          </a:prstGeom>
          <a:noFill/>
        </p:spPr>
        <p:txBody>
          <a:bodyPr wrap="square" rtlCol="0">
            <a:spAutoFit/>
          </a:bodyPr>
          <a:lstStyle/>
          <a:p>
            <a:r>
              <a:rPr lang="en-US" sz="1800" b="1" dirty="0"/>
              <a:t>Defining Operating System</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No universally accepted definition of what an OS: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Operating systems exist to offer a reasonable way to solve the problem of creating a usable computing system.</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The fundamental goal of computer systems is to execute user programs and to make solving user problems easier.</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Since bare hardware alone is not particularly easy to use, application programs are developed.</a:t>
            </a:r>
          </a:p>
          <a:p>
            <a:endParaRPr lang="en-US" dirty="0"/>
          </a:p>
          <a:p>
            <a:r>
              <a:rPr lang="en-US" dirty="0"/>
              <a:t>      ** </a:t>
            </a:r>
            <a:r>
              <a:rPr lang="en-US" sz="1800" dirty="0"/>
              <a:t>These programs require certain common operations, such as those controlling I/O devices.</a:t>
            </a:r>
          </a:p>
          <a:p>
            <a:endParaRPr lang="en-US" sz="1800" dirty="0"/>
          </a:p>
          <a:p>
            <a:r>
              <a:rPr lang="en-US" sz="1800" dirty="0"/>
              <a:t>      ** The common functions of controlling and allocating resources brought together into one piece of software: the Operating System</a:t>
            </a:r>
          </a:p>
        </p:txBody>
      </p:sp>
    </p:spTree>
    <p:extLst>
      <p:ext uri="{BB962C8B-B14F-4D97-AF65-F5344CB8AC3E}">
        <p14:creationId xmlns:p14="http://schemas.microsoft.com/office/powerpoint/2010/main" val="17288968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01F79245-5924-B26E-5EAE-80B21A2FF83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0D782B8-E96D-7783-ED69-C76E6662278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7E56468-6D7C-8B4B-FA9B-855E0719C31F}"/>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1D691DFE-4C92-8427-89BF-F091FEC5E580}"/>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FAC3AE7A-D995-17C7-D9EF-9A0EDCCCA4ED}"/>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C79B2222-F5AE-D087-8633-E7E0A10E991D}"/>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FC950287-3687-C4B4-72E8-6AD34C130723}"/>
              </a:ext>
            </a:extLst>
          </p:cNvPr>
          <p:cNvSpPr txBox="1"/>
          <p:nvPr/>
        </p:nvSpPr>
        <p:spPr>
          <a:xfrm>
            <a:off x="838985" y="933254"/>
            <a:ext cx="10972801" cy="5078313"/>
          </a:xfrm>
          <a:prstGeom prst="rect">
            <a:avLst/>
          </a:prstGeom>
          <a:noFill/>
        </p:spPr>
        <p:txBody>
          <a:bodyPr wrap="square" rtlCol="0">
            <a:spAutoFit/>
          </a:bodyPr>
          <a:lstStyle/>
          <a:p>
            <a:r>
              <a:rPr lang="en-US" sz="2000" b="1" dirty="0"/>
              <a:t>Defining operating system(Cont..)</a:t>
            </a:r>
          </a:p>
          <a:p>
            <a:endParaRPr lang="en-US" sz="2000" b="1" dirty="0"/>
          </a:p>
          <a:p>
            <a:pPr marL="285750" indent="-285750">
              <a:buFont typeface="Wingdings" panose="05000000000000000000" pitchFamily="2" charset="2"/>
              <a:buChar char="ü"/>
            </a:pPr>
            <a:r>
              <a:rPr lang="en-US" sz="1800" dirty="0"/>
              <a:t>A simple viewpoint is that it includes everything a vendor ships when you order the operating system. The features that are included vary greatly across systems:</a:t>
            </a:r>
          </a:p>
          <a:p>
            <a:endParaRPr lang="en-US" sz="1800" dirty="0"/>
          </a:p>
          <a:p>
            <a:r>
              <a:rPr lang="en-US" sz="1800" dirty="0"/>
              <a:t>   **Some systems take up less than a megabyte of space and lack even a full-screen editor.</a:t>
            </a:r>
          </a:p>
          <a:p>
            <a:endParaRPr lang="en-US" sz="1800" dirty="0"/>
          </a:p>
          <a:p>
            <a:r>
              <a:rPr lang="en-US" sz="1800" dirty="0"/>
              <a:t>   **Some systems require gigabytes of space and are based entirely on graphical windowing systems.</a:t>
            </a:r>
          </a:p>
          <a:p>
            <a:endParaRPr lang="en-US" sz="1800" dirty="0"/>
          </a:p>
          <a:p>
            <a:endParaRPr lang="en-US" sz="1800" dirty="0"/>
          </a:p>
          <a:p>
            <a:pPr marL="285750" indent="-285750">
              <a:buFont typeface="Wingdings" panose="05000000000000000000" pitchFamily="2" charset="2"/>
              <a:buChar char="ü"/>
            </a:pPr>
            <a:r>
              <a:rPr lang="en-US" dirty="0"/>
              <a:t>A more common definition , and the one that we usually follow, is that the operating system is the one program running at all times on the computer—usually called the kernel.</a:t>
            </a:r>
          </a:p>
          <a:p>
            <a:endParaRPr lang="en-US" dirty="0"/>
          </a:p>
          <a:p>
            <a:pPr marL="285750" indent="-285750">
              <a:buFont typeface="Wingdings" panose="05000000000000000000" pitchFamily="2" charset="2"/>
              <a:buChar char="ü"/>
            </a:pPr>
            <a:r>
              <a:rPr lang="en-US" dirty="0"/>
              <a:t>Along with the kernel, there are two other types of programs:</a:t>
            </a:r>
          </a:p>
          <a:p>
            <a:endParaRPr lang="en-US" dirty="0"/>
          </a:p>
          <a:p>
            <a:r>
              <a:rPr lang="en-US" dirty="0"/>
              <a:t>     ** System programs, which are associated with the operating system but are not necessary part of the kernel.</a:t>
            </a:r>
          </a:p>
          <a:p>
            <a:endParaRPr lang="en-US" dirty="0"/>
          </a:p>
          <a:p>
            <a:r>
              <a:rPr lang="en-US" dirty="0"/>
              <a:t>     ** Application programs, which include all programs not associated with the operation of the system.</a:t>
            </a:r>
          </a:p>
          <a:p>
            <a:endParaRPr lang="en-US" dirty="0"/>
          </a:p>
          <a:p>
            <a:endParaRPr lang="en-US" dirty="0"/>
          </a:p>
        </p:txBody>
      </p:sp>
    </p:spTree>
    <p:extLst>
      <p:ext uri="{BB962C8B-B14F-4D97-AF65-F5344CB8AC3E}">
        <p14:creationId xmlns:p14="http://schemas.microsoft.com/office/powerpoint/2010/main" val="468050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B7278F40-DC00-E6F8-C859-D599E50391E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46F35E8-CF78-E132-D479-9F64878B814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8B461A0C-6BAF-1572-3062-E4FFF5F126A4}"/>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76B29AD4-4E7B-508C-0C9B-99181C4DE97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DB0F9EE7-B9E8-EBC1-ED34-713EEEAD20B4}"/>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AF79C4C6-C80F-DC44-93B8-0EF4374E0013}"/>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ACB06963-7E1F-B45F-D81D-E31F339A5D7D}"/>
              </a:ext>
            </a:extLst>
          </p:cNvPr>
          <p:cNvSpPr txBox="1"/>
          <p:nvPr/>
        </p:nvSpPr>
        <p:spPr>
          <a:xfrm>
            <a:off x="631595" y="1066800"/>
            <a:ext cx="11340445" cy="2800767"/>
          </a:xfrm>
          <a:prstGeom prst="rect">
            <a:avLst/>
          </a:prstGeom>
          <a:noFill/>
        </p:spPr>
        <p:txBody>
          <a:bodyPr wrap="square" rtlCol="0">
            <a:spAutoFit/>
          </a:bodyPr>
          <a:lstStyle/>
          <a:p>
            <a:r>
              <a:rPr lang="en-US" sz="1800" b="1" dirty="0"/>
              <a:t>Defining Operating System(Cont..)</a:t>
            </a:r>
          </a:p>
          <a:p>
            <a:endParaRPr lang="en-US" dirty="0"/>
          </a:p>
          <a:p>
            <a:pPr marL="285750" indent="-285750">
              <a:buFont typeface="Wingdings" panose="05000000000000000000" pitchFamily="2" charset="2"/>
              <a:buChar char="ü"/>
            </a:pPr>
            <a:r>
              <a:rPr lang="en-US" sz="1800" dirty="0"/>
              <a:t>The emergence of mobile devices, have resulted in an increase in the number of features that constituting the operating system.</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Mobile operating systems often include not only a core kernel but also middleware—a set of software frameworks that provide additional services to application developers.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For example, each of the two most prominent mobile operating systems—Apple’s iOS and Google’s Android—feature a core kernel along with middleware that supports databases, multimedia and graphics.</a:t>
            </a:r>
          </a:p>
        </p:txBody>
      </p:sp>
    </p:spTree>
    <p:extLst>
      <p:ext uri="{BB962C8B-B14F-4D97-AF65-F5344CB8AC3E}">
        <p14:creationId xmlns:p14="http://schemas.microsoft.com/office/powerpoint/2010/main" val="64884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052673E-3D56-E077-F6FF-651C3028F09C}"/>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AB5AFE6-7138-3C7A-84BE-E3D050C56799}"/>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45325107-55EF-1310-969E-AFE7FBF31A82}"/>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4C43A605-6585-08CA-7102-144E4DBD742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Computer System </a:t>
            </a:r>
            <a:r>
              <a:rPr lang="en-US" sz="3600" b="1" dirty="0">
                <a:solidFill>
                  <a:schemeClr val="lt1"/>
                </a:solidFill>
                <a:latin typeface="Times New Roman"/>
                <a:ea typeface="Times New Roman"/>
                <a:cs typeface="Times New Roman"/>
                <a:sym typeface="Times New Roman"/>
              </a:rPr>
              <a:t>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34CA343-BB64-E88A-4BF7-C8403AD8848D}"/>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D678A304-BC36-A7A2-1756-06BE201FBD6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 name="Google Shape;32;p5">
            <a:extLst>
              <a:ext uri="{FF2B5EF4-FFF2-40B4-BE49-F238E27FC236}">
                <a16:creationId xmlns:a16="http://schemas.microsoft.com/office/drawing/2014/main" id="{E3083F41-C29F-9F3D-458C-D2DF0EA3B326}"/>
              </a:ext>
            </a:extLst>
          </p:cNvPr>
          <p:cNvSpPr txBox="1"/>
          <p:nvPr/>
        </p:nvSpPr>
        <p:spPr>
          <a:xfrm>
            <a:off x="609600" y="914400"/>
            <a:ext cx="11070210" cy="369291"/>
          </a:xfrm>
          <a:prstGeom prst="rect">
            <a:avLst/>
          </a:prstGeom>
          <a:noFill/>
          <a:ln>
            <a:noFill/>
          </a:ln>
        </p:spPr>
        <p:txBody>
          <a:bodyPr spcFirstLastPara="1" wrap="square" lIns="91425" tIns="45700" rIns="91425" bIns="45700" anchor="t" anchorCtr="0">
            <a:spAutoFit/>
          </a:bodyPr>
          <a:lstStyle/>
          <a:p>
            <a:pPr lvl="0"/>
            <a:r>
              <a:rPr lang="en-US" sz="1800" dirty="0"/>
              <a:t> </a:t>
            </a:r>
            <a:endParaRPr sz="1800"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4EFE9038-D2D1-E156-82B4-A7E9D4CB40F5}"/>
              </a:ext>
            </a:extLst>
          </p:cNvPr>
          <p:cNvPicPr>
            <a:picLocks noChangeAspect="1"/>
          </p:cNvPicPr>
          <p:nvPr/>
        </p:nvPicPr>
        <p:blipFill>
          <a:blip r:embed="rId3"/>
          <a:stretch>
            <a:fillRect/>
          </a:stretch>
        </p:blipFill>
        <p:spPr>
          <a:xfrm>
            <a:off x="1206631" y="1185549"/>
            <a:ext cx="8947585" cy="4486901"/>
          </a:xfrm>
          <a:prstGeom prst="rect">
            <a:avLst/>
          </a:prstGeom>
        </p:spPr>
      </p:pic>
    </p:spTree>
    <p:extLst>
      <p:ext uri="{BB962C8B-B14F-4D97-AF65-F5344CB8AC3E}">
        <p14:creationId xmlns:p14="http://schemas.microsoft.com/office/powerpoint/2010/main" val="2941854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BDA49FA9-D9EA-A86A-5EB7-DB2AD1A53B1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87A2E94-C794-A3E2-0E10-9A95D848E86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5FBF0DE2-9042-B94B-F822-7683FEC91F12}"/>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3F3C1B47-F1F5-5482-578E-F3B52BC0DDE6}"/>
              </a:ext>
            </a:extLst>
          </p:cNvPr>
          <p:cNvSpPr txBox="1"/>
          <p:nvPr/>
        </p:nvSpPr>
        <p:spPr>
          <a:xfrm>
            <a:off x="348792" y="-9331"/>
            <a:ext cx="11767008"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Abstract view of the components of a computer system</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C4FF2830-7A71-F114-E073-7AFD903B624B}"/>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C140F3D9-1A40-6315-21A5-844272CBD60D}"/>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F2F95A6C-3261-0A80-3EBC-2997BB1427AA}"/>
              </a:ext>
            </a:extLst>
          </p:cNvPr>
          <p:cNvPicPr>
            <a:picLocks noChangeAspect="1"/>
          </p:cNvPicPr>
          <p:nvPr/>
        </p:nvPicPr>
        <p:blipFill>
          <a:blip r:embed="rId3"/>
          <a:stretch>
            <a:fillRect/>
          </a:stretch>
        </p:blipFill>
        <p:spPr>
          <a:xfrm>
            <a:off x="2688660" y="1165431"/>
            <a:ext cx="6230219" cy="4439270"/>
          </a:xfrm>
          <a:prstGeom prst="rect">
            <a:avLst/>
          </a:prstGeom>
        </p:spPr>
      </p:pic>
      <p:sp>
        <p:nvSpPr>
          <p:cNvPr id="5" name="TextBox 4">
            <a:extLst>
              <a:ext uri="{FF2B5EF4-FFF2-40B4-BE49-F238E27FC236}">
                <a16:creationId xmlns:a16="http://schemas.microsoft.com/office/drawing/2014/main" id="{8168AE7D-D16B-92D7-4C39-5FC4E4F19D44}"/>
              </a:ext>
            </a:extLst>
          </p:cNvPr>
          <p:cNvSpPr txBox="1"/>
          <p:nvPr/>
        </p:nvSpPr>
        <p:spPr>
          <a:xfrm>
            <a:off x="2158738" y="5806911"/>
            <a:ext cx="7362334" cy="307777"/>
          </a:xfrm>
          <a:prstGeom prst="rect">
            <a:avLst/>
          </a:prstGeom>
          <a:noFill/>
        </p:spPr>
        <p:txBody>
          <a:bodyPr wrap="square" rtlCol="0">
            <a:spAutoFit/>
          </a:bodyPr>
          <a:lstStyle/>
          <a:p>
            <a:r>
              <a:rPr lang="en-US" dirty="0"/>
              <a:t>Fig: Abstract view of the components of a computer system</a:t>
            </a:r>
          </a:p>
        </p:txBody>
      </p:sp>
    </p:spTree>
    <p:extLst>
      <p:ext uri="{BB962C8B-B14F-4D97-AF65-F5344CB8AC3E}">
        <p14:creationId xmlns:p14="http://schemas.microsoft.com/office/powerpoint/2010/main" val="139688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4D1D528-71C6-E14E-A02A-5F14C8CF2686}"/>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A1BB623-97E5-2FFB-02BB-8171CCE47615}"/>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1D52904B-3F96-F0C9-63BF-906B3F16E228}"/>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CC3C5AE9-F23F-36AC-3D9A-0A196B76AA56}"/>
              </a:ext>
            </a:extLst>
          </p:cNvPr>
          <p:cNvSpPr txBox="1"/>
          <p:nvPr/>
        </p:nvSpPr>
        <p:spPr>
          <a:xfrm>
            <a:off x="76199" y="-9331"/>
            <a:ext cx="11773293"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Abstract view of the components of a computer system</a:t>
            </a:r>
          </a:p>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2516B80F-8AC7-6DDE-7B7A-A50E1756F3CC}"/>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CC22D523-A994-FE8E-6EE1-DE9F02E27DCE}"/>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72E89434-7827-2004-B85E-1D7D28FC5212}"/>
              </a:ext>
            </a:extLst>
          </p:cNvPr>
          <p:cNvPicPr>
            <a:picLocks noChangeAspect="1"/>
          </p:cNvPicPr>
          <p:nvPr/>
        </p:nvPicPr>
        <p:blipFill>
          <a:blip r:embed="rId3"/>
          <a:stretch>
            <a:fillRect/>
          </a:stretch>
        </p:blipFill>
        <p:spPr>
          <a:xfrm>
            <a:off x="2676047" y="1247470"/>
            <a:ext cx="6839905" cy="4927087"/>
          </a:xfrm>
          <a:prstGeom prst="rect">
            <a:avLst/>
          </a:prstGeom>
        </p:spPr>
      </p:pic>
    </p:spTree>
    <p:extLst>
      <p:ext uri="{BB962C8B-B14F-4D97-AF65-F5344CB8AC3E}">
        <p14:creationId xmlns:p14="http://schemas.microsoft.com/office/powerpoint/2010/main" val="428148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D97BAF0-44AC-508D-89CA-9BAAEB36632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1F38758-E859-9177-03D5-7A0AB7AB4D5D}"/>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66D2ECDC-00C7-3B46-05A8-6F6E0D0F906B}"/>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9562DB5B-89BE-A8B9-39E8-720878DF7DD3}"/>
              </a:ext>
            </a:extLst>
          </p:cNvPr>
          <p:cNvSpPr txBox="1"/>
          <p:nvPr/>
        </p:nvSpPr>
        <p:spPr>
          <a:xfrm>
            <a:off x="76199" y="-9331"/>
            <a:ext cx="11773293"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What Operating Systems DO</a:t>
            </a:r>
          </a:p>
          <a:p>
            <a:pPr marL="0" marR="0" lvl="0" indent="0" algn="l" rtl="0">
              <a:spcBef>
                <a:spcPts val="0"/>
              </a:spcBef>
              <a:spcAft>
                <a:spcPts val="0"/>
              </a:spcAft>
              <a:buNone/>
            </a:pP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3E4905B6-49D7-2398-7B26-A09199A7CFD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7C3F5C0-C61A-042C-C7A3-3B9241C69EBF}"/>
              </a:ext>
            </a:extLst>
          </p:cNvPr>
          <p:cNvSpPr txBox="1"/>
          <p:nvPr/>
        </p:nvSpPr>
        <p:spPr>
          <a:xfrm>
            <a:off x="2846895" y="1154668"/>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217B5837-FA6B-E767-3449-3926B4F5D4EA}"/>
              </a:ext>
            </a:extLst>
          </p:cNvPr>
          <p:cNvSpPr txBox="1"/>
          <p:nvPr/>
        </p:nvSpPr>
        <p:spPr>
          <a:xfrm>
            <a:off x="584462" y="974103"/>
            <a:ext cx="10802406" cy="5724644"/>
          </a:xfrm>
          <a:prstGeom prst="rect">
            <a:avLst/>
          </a:prstGeom>
          <a:noFill/>
        </p:spPr>
        <p:txBody>
          <a:bodyPr wrap="square" rtlCol="0">
            <a:spAutoFit/>
          </a:bodyPr>
          <a:lstStyle/>
          <a:p>
            <a:r>
              <a:rPr lang="en-US" altLang="en-US" sz="1800" dirty="0"/>
              <a:t>Operating system goals:</a:t>
            </a:r>
          </a:p>
          <a:p>
            <a:endParaRPr lang="en-US" altLang="en-US" sz="1800" dirty="0"/>
          </a:p>
          <a:p>
            <a:pPr marL="285750" lvl="1" indent="-285750">
              <a:buFont typeface="Wingdings" panose="05000000000000000000" pitchFamily="2" charset="2"/>
              <a:buChar char="Ø"/>
            </a:pPr>
            <a:r>
              <a:rPr lang="en-US" altLang="en-US" sz="1800" dirty="0"/>
              <a:t>Execute user programs and make solving user problems easier</a:t>
            </a:r>
          </a:p>
          <a:p>
            <a:pPr marL="285750" lvl="1" indent="-285750">
              <a:buFont typeface="Wingdings" panose="05000000000000000000" pitchFamily="2" charset="2"/>
              <a:buChar char="Ø"/>
            </a:pPr>
            <a:endParaRPr lang="en-US" altLang="en-US" sz="1800" dirty="0"/>
          </a:p>
          <a:p>
            <a:pPr marL="285750" lvl="1" indent="-285750">
              <a:buFont typeface="Wingdings" panose="05000000000000000000" pitchFamily="2" charset="2"/>
              <a:buChar char="Ø"/>
            </a:pPr>
            <a:r>
              <a:rPr lang="en-US" altLang="en-US" sz="1800" dirty="0"/>
              <a:t>Make the computer system convenient to use</a:t>
            </a:r>
          </a:p>
          <a:p>
            <a:pPr marL="285750" lvl="1" indent="-285750">
              <a:buFont typeface="Wingdings" panose="05000000000000000000" pitchFamily="2" charset="2"/>
              <a:buChar char="Ø"/>
            </a:pPr>
            <a:endParaRPr lang="en-US" altLang="en-US" sz="1800" dirty="0"/>
          </a:p>
          <a:p>
            <a:pPr marL="285750" lvl="1" indent="-285750">
              <a:buFont typeface="Wingdings" panose="05000000000000000000" pitchFamily="2" charset="2"/>
              <a:buChar char="Ø"/>
            </a:pPr>
            <a:r>
              <a:rPr lang="en-US" altLang="en-US" sz="1800" dirty="0"/>
              <a:t>Use the computer hardware in an efficient manner</a:t>
            </a:r>
            <a:endParaRPr lang="en-US" sz="2000" dirty="0"/>
          </a:p>
          <a:p>
            <a:endParaRPr lang="en-US" sz="2000" dirty="0"/>
          </a:p>
          <a:p>
            <a:pPr marL="285750" indent="-285750">
              <a:buFont typeface="Wingdings" panose="05000000000000000000" pitchFamily="2" charset="2"/>
              <a:buChar char="ü"/>
            </a:pPr>
            <a:r>
              <a:rPr lang="en-US" sz="2000" dirty="0"/>
              <a:t>An operating system provides the means for proper use of these resources in the operation of the computer system.</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An operating system is similar to a government. Like a government, it performs no useful function by itself. It simply provides an environment within which other programs can do useful work.</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To understand more fully the operating system’s role, we need to explore operating systems from two viewpoints:</a:t>
            </a:r>
          </a:p>
          <a:p>
            <a:r>
              <a:rPr lang="en-US" sz="2000" dirty="0"/>
              <a:t>               ** The user</a:t>
            </a:r>
          </a:p>
          <a:p>
            <a:r>
              <a:rPr lang="en-US" sz="2000" dirty="0"/>
              <a:t>               ** The system</a:t>
            </a:r>
          </a:p>
        </p:txBody>
      </p:sp>
    </p:spTree>
    <p:extLst>
      <p:ext uri="{BB962C8B-B14F-4D97-AF65-F5344CB8AC3E}">
        <p14:creationId xmlns:p14="http://schemas.microsoft.com/office/powerpoint/2010/main" val="2117368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7F0ED0FF-5FA6-892E-A173-7A77D776946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5D4353E-8CB0-03A6-D44B-563CF420EAD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D07FBE84-04BE-BA8D-7067-F623C9F23520}"/>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B18F70E-0CCC-82E2-A697-AECEB2A81F3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What Operating System do?</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48D66F3D-8416-9A52-0C92-5418BFF0F1A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55DA21A-5E63-5A20-D1AF-1E17DB349B63}"/>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 name="Google Shape;32;p5">
            <a:extLst>
              <a:ext uri="{FF2B5EF4-FFF2-40B4-BE49-F238E27FC236}">
                <a16:creationId xmlns:a16="http://schemas.microsoft.com/office/drawing/2014/main" id="{7933C08B-3F7B-7190-03CB-13F54EA6FA23}"/>
              </a:ext>
            </a:extLst>
          </p:cNvPr>
          <p:cNvSpPr txBox="1"/>
          <p:nvPr/>
        </p:nvSpPr>
        <p:spPr>
          <a:xfrm>
            <a:off x="609600" y="914400"/>
            <a:ext cx="11070210" cy="42472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rPr>
              <a:t>User View</a:t>
            </a:r>
          </a:p>
          <a:p>
            <a:pPr marL="0" marR="0" lvl="0" indent="0" algn="l" rtl="0">
              <a:spcBef>
                <a:spcPts val="0"/>
              </a:spcBef>
              <a:spcAft>
                <a:spcPts val="0"/>
              </a:spcAft>
              <a:buNone/>
            </a:pPr>
            <a:r>
              <a:rPr lang="en-US" sz="2800" dirty="0">
                <a:solidFill>
                  <a:schemeClr val="dk1"/>
                </a:solidFill>
                <a:latin typeface="Arial"/>
                <a:ea typeface="Arial"/>
                <a:cs typeface="Arial"/>
                <a:sym typeface="Arial"/>
              </a:rPr>
              <a:t>The user’s view of the computer varies according to the interface being used:</a:t>
            </a:r>
          </a:p>
          <a:p>
            <a:pPr marL="0" marR="0" lvl="0" indent="0" algn="l" rtl="0">
              <a:spcBef>
                <a:spcPts val="0"/>
              </a:spcBef>
              <a:spcAft>
                <a:spcPts val="0"/>
              </a:spcAft>
              <a:buNone/>
            </a:pPr>
            <a:endParaRPr lang="en-US" sz="2800" dirty="0">
              <a:solidFill>
                <a:schemeClr val="dk1"/>
              </a:solidFill>
              <a:latin typeface="Arial"/>
              <a:ea typeface="Arial"/>
              <a:cs typeface="Arial"/>
              <a:sym typeface="Arial"/>
            </a:endParaRPr>
          </a:p>
          <a:p>
            <a:pPr marL="0" marR="0" lvl="0" indent="0" algn="l" rtl="0">
              <a:spcBef>
                <a:spcPts val="0"/>
              </a:spcBef>
              <a:spcAft>
                <a:spcPts val="0"/>
              </a:spcAft>
              <a:buNone/>
            </a:pPr>
            <a:r>
              <a:rPr lang="en-US" sz="2800" b="1" dirty="0">
                <a:solidFill>
                  <a:schemeClr val="dk1"/>
                </a:solidFill>
              </a:rPr>
              <a:t>Single user computers(</a:t>
            </a:r>
            <a:r>
              <a:rPr lang="en-US" sz="2800" b="1" dirty="0" err="1">
                <a:solidFill>
                  <a:schemeClr val="dk1"/>
                </a:solidFill>
              </a:rPr>
              <a:t>e.g</a:t>
            </a:r>
            <a:r>
              <a:rPr lang="en-US" sz="2800" b="1" dirty="0">
                <a:solidFill>
                  <a:schemeClr val="dk1"/>
                </a:solidFill>
              </a:rPr>
              <a:t>  PC, Workstations) :</a:t>
            </a:r>
            <a:r>
              <a:rPr lang="en-US" sz="2800" dirty="0">
                <a:solidFill>
                  <a:schemeClr val="dk1"/>
                </a:solidFill>
              </a:rPr>
              <a:t>Such systems are designed for one user to monopolize its resources. The goal is to maximize the work(or play) that the user is performing. The operating system is designed mostly for ease of use and good performance.</a:t>
            </a:r>
            <a:endParaRPr lang="en-US" sz="28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138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0B6FC5C-4D7A-65B1-A28C-1E74DAB3236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FAD508A-5A57-9A0A-9CFF-CE99D66BED07}"/>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978A182A-0D58-4DF6-9555-466F0BBEA60F}"/>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85EA287A-D4DD-AECE-BE3A-D367DED88D4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348D250A-4D30-491D-8450-1AD6E9560BFD}"/>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79762357-F3C1-4070-4FA5-3430A83D40D1}"/>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2" name="Google Shape;32;p5">
            <a:extLst>
              <a:ext uri="{FF2B5EF4-FFF2-40B4-BE49-F238E27FC236}">
                <a16:creationId xmlns:a16="http://schemas.microsoft.com/office/drawing/2014/main" id="{15FE2CB7-8DCE-F52B-C1CF-977A6050F680}"/>
              </a:ext>
            </a:extLst>
          </p:cNvPr>
          <p:cNvSpPr txBox="1"/>
          <p:nvPr/>
        </p:nvSpPr>
        <p:spPr>
          <a:xfrm>
            <a:off x="609600" y="914400"/>
            <a:ext cx="11070210" cy="41241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dk1"/>
                </a:solidFill>
              </a:rPr>
              <a:t>User View</a:t>
            </a:r>
          </a:p>
          <a:p>
            <a:pPr marL="0" marR="0" lvl="0" indent="0" algn="l" rtl="0">
              <a:spcBef>
                <a:spcPts val="0"/>
              </a:spcBef>
              <a:spcAft>
                <a:spcPts val="0"/>
              </a:spcAft>
              <a:buNone/>
            </a:pPr>
            <a:endParaRPr lang="en-US" sz="1800" dirty="0">
              <a:solidFill>
                <a:schemeClr val="dk1"/>
              </a:solidFill>
              <a:latin typeface="Arial"/>
              <a:ea typeface="Arial"/>
              <a:cs typeface="Arial"/>
              <a:sym typeface="Arial"/>
            </a:endParaRPr>
          </a:p>
          <a:p>
            <a:pPr marL="0" marR="0" lvl="0" indent="0" algn="l" rtl="0">
              <a:spcBef>
                <a:spcPts val="0"/>
              </a:spcBef>
              <a:spcAft>
                <a:spcPts val="0"/>
              </a:spcAft>
              <a:buNone/>
            </a:pPr>
            <a:r>
              <a:rPr lang="en-IN" sz="1800" b="1" dirty="0">
                <a:solidFill>
                  <a:schemeClr val="dk1"/>
                </a:solidFill>
              </a:rPr>
              <a:t>Multiuser computers(</a:t>
            </a:r>
            <a:r>
              <a:rPr lang="en-IN" sz="1800" b="1" dirty="0" err="1">
                <a:solidFill>
                  <a:schemeClr val="dk1"/>
                </a:solidFill>
              </a:rPr>
              <a:t>e.g</a:t>
            </a:r>
            <a:r>
              <a:rPr lang="en-IN" sz="1800" b="1" dirty="0">
                <a:solidFill>
                  <a:schemeClr val="dk1"/>
                </a:solidFill>
              </a:rPr>
              <a:t> mainframes, computing servers)</a:t>
            </a:r>
          </a:p>
          <a:p>
            <a:pPr marL="0" marR="0" lvl="0" indent="0" algn="l" rtl="0">
              <a:spcBef>
                <a:spcPts val="0"/>
              </a:spcBef>
              <a:spcAft>
                <a:spcPts val="0"/>
              </a:spcAft>
              <a:buNone/>
            </a:pPr>
            <a:endParaRPr lang="en-IN" sz="1800" b="1" dirty="0">
              <a:solidFill>
                <a:schemeClr val="dk1"/>
              </a:solidFill>
              <a:latin typeface="Arial"/>
              <a:ea typeface="Arial"/>
              <a:cs typeface="Arial"/>
              <a:sym typeface="Arial"/>
            </a:endParaRPr>
          </a:p>
          <a:p>
            <a:pPr marL="0" marR="0" lvl="0" indent="0" algn="l" rtl="0">
              <a:spcBef>
                <a:spcPts val="0"/>
              </a:spcBef>
              <a:spcAft>
                <a:spcPts val="0"/>
              </a:spcAft>
              <a:buNone/>
            </a:pPr>
            <a:r>
              <a:rPr lang="en-IN" sz="1800" dirty="0">
                <a:solidFill>
                  <a:schemeClr val="dk1"/>
                </a:solidFill>
              </a:rPr>
              <a:t>These users share resources and may exchange information. The operating system in such cases designed to maximize resource utilization—to assure that all available </a:t>
            </a:r>
            <a:r>
              <a:rPr lang="en-IN" sz="1800" dirty="0" err="1">
                <a:solidFill>
                  <a:schemeClr val="dk1"/>
                </a:solidFill>
              </a:rPr>
              <a:t>cpu</a:t>
            </a:r>
            <a:r>
              <a:rPr lang="en-IN" sz="1800" dirty="0">
                <a:solidFill>
                  <a:schemeClr val="dk1"/>
                </a:solidFill>
              </a:rPr>
              <a:t> time, memory and I/O are used efficiently and that no individual users takes more than their air share.</a:t>
            </a:r>
          </a:p>
          <a:p>
            <a:pPr marL="0" marR="0" lvl="0" indent="0" algn="l" rtl="0">
              <a:spcBef>
                <a:spcPts val="0"/>
              </a:spcBef>
              <a:spcAft>
                <a:spcPts val="0"/>
              </a:spcAft>
              <a:buNone/>
            </a:pPr>
            <a:endParaRPr lang="en-IN" sz="1800" dirty="0">
              <a:solidFill>
                <a:schemeClr val="dk1"/>
              </a:solidFill>
            </a:endParaRPr>
          </a:p>
          <a:p>
            <a:pPr marL="0" marR="0" lvl="0" indent="0" algn="l" rtl="0">
              <a:spcBef>
                <a:spcPts val="0"/>
              </a:spcBef>
              <a:spcAft>
                <a:spcPts val="0"/>
              </a:spcAft>
              <a:buNone/>
            </a:pPr>
            <a:r>
              <a:rPr lang="en-IN" sz="1800" b="1" dirty="0">
                <a:solidFill>
                  <a:schemeClr val="dk1"/>
                </a:solidFill>
                <a:latin typeface="Arial"/>
                <a:ea typeface="Arial"/>
                <a:cs typeface="Arial"/>
                <a:sym typeface="Arial"/>
              </a:rPr>
              <a:t>Handheld computers(</a:t>
            </a:r>
            <a:r>
              <a:rPr lang="en-IN" sz="1800" b="1" dirty="0" err="1">
                <a:solidFill>
                  <a:schemeClr val="dk1"/>
                </a:solidFill>
                <a:latin typeface="Arial"/>
                <a:ea typeface="Arial"/>
                <a:cs typeface="Arial"/>
                <a:sym typeface="Arial"/>
              </a:rPr>
              <a:t>e.g</a:t>
            </a:r>
            <a:r>
              <a:rPr lang="en-IN" sz="1800" b="1" dirty="0">
                <a:solidFill>
                  <a:schemeClr val="dk1"/>
                </a:solidFill>
                <a:latin typeface="Arial"/>
                <a:ea typeface="Arial"/>
                <a:cs typeface="Arial"/>
                <a:sym typeface="Arial"/>
              </a:rPr>
              <a:t>, smartphones and tablets): </a:t>
            </a:r>
            <a:r>
              <a:rPr lang="en-IN" sz="1800" dirty="0">
                <a:solidFill>
                  <a:schemeClr val="dk1"/>
                </a:solidFill>
                <a:latin typeface="Arial"/>
                <a:ea typeface="Arial"/>
                <a:cs typeface="Arial"/>
                <a:sym typeface="Arial"/>
              </a:rPr>
              <a:t>The user interface for mobile computers generally features a touch screen. The systems are resource poor, optimized for usability and battery life.</a:t>
            </a:r>
          </a:p>
          <a:p>
            <a:pPr marL="0" marR="0" lvl="0" indent="0" algn="l" rtl="0">
              <a:spcBef>
                <a:spcPts val="0"/>
              </a:spcBef>
              <a:spcAft>
                <a:spcPts val="0"/>
              </a:spcAft>
              <a:buNone/>
            </a:pPr>
            <a:endParaRPr lang="en-IN" sz="1800" dirty="0">
              <a:solidFill>
                <a:schemeClr val="dk1"/>
              </a:solidFill>
              <a:latin typeface="Arial"/>
              <a:ea typeface="Arial"/>
              <a:cs typeface="Arial"/>
              <a:sym typeface="Arial"/>
            </a:endParaRPr>
          </a:p>
          <a:p>
            <a:pPr marL="0" marR="0" lvl="0" indent="0" algn="l" rtl="0">
              <a:spcBef>
                <a:spcPts val="0"/>
              </a:spcBef>
              <a:spcAft>
                <a:spcPts val="0"/>
              </a:spcAft>
              <a:buNone/>
            </a:pPr>
            <a:r>
              <a:rPr lang="en-IN" sz="1800" b="1" dirty="0">
                <a:solidFill>
                  <a:schemeClr val="dk1"/>
                </a:solidFill>
              </a:rPr>
              <a:t>Embedded computers(</a:t>
            </a:r>
            <a:r>
              <a:rPr lang="en-IN" sz="1800" b="1" dirty="0" err="1">
                <a:solidFill>
                  <a:schemeClr val="dk1"/>
                </a:solidFill>
              </a:rPr>
              <a:t>e.g</a:t>
            </a:r>
            <a:r>
              <a:rPr lang="en-IN" sz="1800" b="1" dirty="0">
                <a:solidFill>
                  <a:schemeClr val="dk1"/>
                </a:solidFill>
              </a:rPr>
              <a:t>, computers in home devices and automobiles):</a:t>
            </a:r>
            <a:r>
              <a:rPr lang="en-IN" sz="1800" dirty="0">
                <a:solidFill>
                  <a:schemeClr val="dk1"/>
                </a:solidFill>
              </a:rPr>
              <a:t> The user interface may have numeric keypads and may turn indicator lights on or off to show status. The operating systems are designed primarily to run without user intervention.</a:t>
            </a:r>
            <a:endParaRPr sz="18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6634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0FCA5C7-BE3D-699F-9790-A695217C7C5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0AA7B27-77FA-649D-D1E2-5990535B46A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8BD5274E-03BD-1E9C-9451-34B372FD329C}"/>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AE415E0D-DC2E-4E1E-E06F-977C3EEDAB81}"/>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440E9AD1-024F-FCEB-4E28-9FC795405B65}"/>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i="0" u="none" strike="noStrike" cap="none" dirty="0">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0DD5DDC-4491-6463-75A8-D4E153F827FE}"/>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2065F189-D005-D59F-08A1-C8893CA42316}"/>
              </a:ext>
            </a:extLst>
          </p:cNvPr>
          <p:cNvSpPr txBox="1"/>
          <p:nvPr/>
        </p:nvSpPr>
        <p:spPr>
          <a:xfrm>
            <a:off x="423911" y="704791"/>
            <a:ext cx="10982227" cy="5724644"/>
          </a:xfrm>
          <a:prstGeom prst="rect">
            <a:avLst/>
          </a:prstGeom>
          <a:noFill/>
        </p:spPr>
        <p:txBody>
          <a:bodyPr wrap="square" rtlCol="0">
            <a:spAutoFit/>
          </a:bodyPr>
          <a:lstStyle/>
          <a:p>
            <a:r>
              <a:rPr lang="en-US" sz="2800" b="1" dirty="0"/>
              <a:t>System View</a:t>
            </a:r>
          </a:p>
          <a:p>
            <a:endParaRPr lang="en-US" sz="1800" dirty="0"/>
          </a:p>
          <a:p>
            <a:r>
              <a:rPr lang="en-US" sz="1800" dirty="0"/>
              <a:t>From the computer’s point of view, the operating system is the program most intimately involves with the hardware. There are two different views:</a:t>
            </a:r>
          </a:p>
          <a:p>
            <a:endParaRPr lang="en-US" sz="1800" b="1" dirty="0"/>
          </a:p>
          <a:p>
            <a:r>
              <a:rPr lang="en-US" sz="1800" b="1" dirty="0"/>
              <a:t>The operating system is a resource allocator</a:t>
            </a:r>
          </a:p>
          <a:p>
            <a:r>
              <a:rPr lang="en-US" sz="1800" dirty="0"/>
              <a:t>         Manages all resources such as CPU time, memory, Secondary memory, I?O devices</a:t>
            </a:r>
          </a:p>
          <a:p>
            <a:r>
              <a:rPr lang="en-US" sz="1800" dirty="0"/>
              <a:t>          Decides between conflicting requests for efficient and fair resource use</a:t>
            </a:r>
          </a:p>
          <a:p>
            <a:endParaRPr lang="en-US" sz="1800" dirty="0"/>
          </a:p>
          <a:p>
            <a:r>
              <a:rPr lang="en-US" sz="1800" b="1" dirty="0"/>
              <a:t>The operating system is a control program</a:t>
            </a:r>
          </a:p>
          <a:p>
            <a:r>
              <a:rPr lang="en-US" sz="1800" dirty="0"/>
              <a:t>     Controls execution of programs to prevent errors and improper use of the computer</a:t>
            </a:r>
            <a:r>
              <a:rPr lang="en-US" dirty="0"/>
              <a:t>.</a:t>
            </a:r>
          </a:p>
          <a:p>
            <a:endParaRPr lang="en-US" dirty="0"/>
          </a:p>
          <a:p>
            <a:r>
              <a:rPr lang="en-US" sz="1800" dirty="0"/>
              <a:t>The OS decides</a:t>
            </a:r>
          </a:p>
          <a:p>
            <a:r>
              <a:rPr lang="en-US" sz="1800" dirty="0"/>
              <a:t>      Which program gets which resource</a:t>
            </a:r>
          </a:p>
          <a:p>
            <a:r>
              <a:rPr lang="en-US" sz="1800" dirty="0"/>
              <a:t>       when and for how long</a:t>
            </a:r>
          </a:p>
          <a:p>
            <a:endParaRPr lang="en-US" sz="1800" dirty="0"/>
          </a:p>
          <a:p>
            <a:r>
              <a:rPr lang="en-US" sz="1800" dirty="0"/>
              <a:t>The main goals are:</a:t>
            </a:r>
          </a:p>
          <a:p>
            <a:endParaRPr lang="en-US" sz="1800" dirty="0"/>
          </a:p>
          <a:p>
            <a:r>
              <a:rPr lang="en-US" sz="1800" dirty="0"/>
              <a:t>      Efficient utilization of resources</a:t>
            </a:r>
          </a:p>
          <a:p>
            <a:r>
              <a:rPr lang="en-US" sz="1800" dirty="0"/>
              <a:t>      Fair allocation among users and programs</a:t>
            </a:r>
          </a:p>
        </p:txBody>
      </p:sp>
    </p:spTree>
    <p:extLst>
      <p:ext uri="{BB962C8B-B14F-4D97-AF65-F5344CB8AC3E}">
        <p14:creationId xmlns:p14="http://schemas.microsoft.com/office/powerpoint/2010/main" val="3844401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73449C7-468C-9932-4E21-2F32A989CFA1}"/>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65EF9D2-C550-0186-7749-8E6ED4F38EE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12812154-4F5B-B3ED-27A6-41CDD3F48543}"/>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434151F6-D19C-6B04-1321-EA5A6476262D}"/>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lvl="0"/>
            <a:r>
              <a:rPr lang="en-US" sz="3600" b="1" dirty="0">
                <a:solidFill>
                  <a:schemeClr val="lt1"/>
                </a:solidFill>
                <a:latin typeface="Times New Roman"/>
                <a:ea typeface="Times New Roman"/>
                <a:cs typeface="Times New Roman"/>
                <a:sym typeface="Times New Roman"/>
              </a:rPr>
              <a:t>What Operating System do?</a:t>
            </a:r>
          </a:p>
        </p:txBody>
      </p:sp>
      <p:sp>
        <p:nvSpPr>
          <p:cNvPr id="30" name="Google Shape;30;p5">
            <a:extLst>
              <a:ext uri="{FF2B5EF4-FFF2-40B4-BE49-F238E27FC236}">
                <a16:creationId xmlns:a16="http://schemas.microsoft.com/office/drawing/2014/main" id="{205BC211-D20F-2A4E-30DA-50B8F67BCB4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0123EE94-7988-04B7-9D69-E942A8E7AECB}"/>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BE78E9AD-068C-A16B-47EE-95288956B93A}"/>
              </a:ext>
            </a:extLst>
          </p:cNvPr>
          <p:cNvPicPr>
            <a:picLocks noChangeAspect="1"/>
          </p:cNvPicPr>
          <p:nvPr/>
        </p:nvPicPr>
        <p:blipFill>
          <a:blip r:embed="rId3"/>
          <a:stretch>
            <a:fillRect/>
          </a:stretch>
        </p:blipFill>
        <p:spPr>
          <a:xfrm>
            <a:off x="2642705" y="1171260"/>
            <a:ext cx="6906589" cy="4515480"/>
          </a:xfrm>
          <a:prstGeom prst="rect">
            <a:avLst/>
          </a:prstGeom>
        </p:spPr>
      </p:pic>
    </p:spTree>
    <p:extLst>
      <p:ext uri="{BB962C8B-B14F-4D97-AF65-F5344CB8AC3E}">
        <p14:creationId xmlns:p14="http://schemas.microsoft.com/office/powerpoint/2010/main" val="1513908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6800011B-E34B-3E32-03E9-891E3FBD9CAC}"/>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FAE534E-3523-CA92-7BDA-620603B69B1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41623AB7-7530-86E3-B7BB-91F0B0D1ED8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FD484341-9261-947A-E9F7-11C9E90A25C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Computer System Organization</a:t>
            </a:r>
          </a:p>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Operating System</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3736CD06-7FF2-1480-EA3C-87CE216A7029}"/>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12BA9EB5-A3FD-BC3D-E839-FF2750338C41}"/>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D08CE23D-BE2B-5A03-2538-1F6AC6A8CE2D}"/>
              </a:ext>
            </a:extLst>
          </p:cNvPr>
          <p:cNvPicPr>
            <a:picLocks noChangeAspect="1"/>
          </p:cNvPicPr>
          <p:nvPr/>
        </p:nvPicPr>
        <p:blipFill>
          <a:blip r:embed="rId3"/>
          <a:stretch>
            <a:fillRect/>
          </a:stretch>
        </p:blipFill>
        <p:spPr>
          <a:xfrm>
            <a:off x="669304" y="875943"/>
            <a:ext cx="9375360" cy="5106113"/>
          </a:xfrm>
          <a:prstGeom prst="rect">
            <a:avLst/>
          </a:prstGeom>
        </p:spPr>
      </p:pic>
      <p:sp>
        <p:nvSpPr>
          <p:cNvPr id="4" name="TextBox 3">
            <a:extLst>
              <a:ext uri="{FF2B5EF4-FFF2-40B4-BE49-F238E27FC236}">
                <a16:creationId xmlns:a16="http://schemas.microsoft.com/office/drawing/2014/main" id="{52847364-C712-17A0-A789-99E2179A293E}"/>
              </a:ext>
            </a:extLst>
          </p:cNvPr>
          <p:cNvSpPr txBox="1"/>
          <p:nvPr/>
        </p:nvSpPr>
        <p:spPr>
          <a:xfrm>
            <a:off x="3780148" y="6014301"/>
            <a:ext cx="4100660" cy="307777"/>
          </a:xfrm>
          <a:prstGeom prst="rect">
            <a:avLst/>
          </a:prstGeom>
          <a:noFill/>
        </p:spPr>
        <p:txBody>
          <a:bodyPr wrap="square" rtlCol="0">
            <a:spAutoFit/>
          </a:bodyPr>
          <a:lstStyle/>
          <a:p>
            <a:r>
              <a:rPr lang="en-US" dirty="0"/>
              <a:t>Fig A modern computer system</a:t>
            </a:r>
          </a:p>
        </p:txBody>
      </p:sp>
    </p:spTree>
    <p:extLst>
      <p:ext uri="{BB962C8B-B14F-4D97-AF65-F5344CB8AC3E}">
        <p14:creationId xmlns:p14="http://schemas.microsoft.com/office/powerpoint/2010/main" val="2735132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DD7E6B6-95D4-1A12-108A-E1B370428D6A}"/>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461F37A-973C-8633-88F8-8CA4D23D04B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089847E-1EF9-ECB3-217E-1890296980EA}"/>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838C97D1-6438-2A00-9545-B91831B0328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Computer System Organization</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36480166-A399-7F05-0FC9-01E286A5A838}"/>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A47CB4CE-B01D-06B1-E980-912D051DCC1C}"/>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62329193-2A91-B2C3-DCD2-1E8D194F1EF9}"/>
              </a:ext>
            </a:extLst>
          </p:cNvPr>
          <p:cNvSpPr txBox="1"/>
          <p:nvPr/>
        </p:nvSpPr>
        <p:spPr>
          <a:xfrm>
            <a:off x="452487" y="1436132"/>
            <a:ext cx="11378152" cy="2862322"/>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t>A modern general-purpose computer system consists of one or more CPUs and a number of device controllers connected through a common bus that provides access to shared memory.</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Each device controller is in charge of a specific type of device(for example, disk drives, audio devices, or video displays). Each device controller has a local buffer.</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err="1"/>
              <a:t>Cpu</a:t>
            </a:r>
            <a:r>
              <a:rPr lang="en-US" sz="1800" dirty="0"/>
              <a:t> moves data from/to main memory to/from local buffers.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The CPU and device controllers can execute in parallel, competing for memory cycles. To ensure orderly access to the shared memory, a memory controller synchronizes access to the memory</a:t>
            </a:r>
          </a:p>
        </p:txBody>
      </p:sp>
    </p:spTree>
    <p:extLst>
      <p:ext uri="{BB962C8B-B14F-4D97-AF65-F5344CB8AC3E}">
        <p14:creationId xmlns:p14="http://schemas.microsoft.com/office/powerpoint/2010/main" val="2458455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99D9353-363B-2763-EECE-18FF519E4125}"/>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1A2C36F-7157-76CD-0596-EAA7CF83D633}"/>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E75CB45-D9C6-F358-9749-5E7344DC01FE}"/>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28EA98B-CBD9-23F3-681A-A50BC9411E2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Computer System startup</a:t>
            </a:r>
          </a:p>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Operating System</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57F5B153-897C-95A7-2CA5-58D807A71529}"/>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88256DE-E75E-0598-AABD-68E745A1F03F}"/>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4149B93D-B4C9-6DAF-849A-243B208F786B}"/>
              </a:ext>
            </a:extLst>
          </p:cNvPr>
          <p:cNvSpPr txBox="1"/>
          <p:nvPr/>
        </p:nvSpPr>
        <p:spPr>
          <a:xfrm>
            <a:off x="1376312" y="867266"/>
            <a:ext cx="10067827" cy="2677656"/>
          </a:xfrm>
          <a:prstGeom prst="rect">
            <a:avLst/>
          </a:prstGeom>
          <a:noFill/>
        </p:spPr>
        <p:txBody>
          <a:bodyPr wrap="square" rtlCol="0">
            <a:spAutoFit/>
          </a:bodyPr>
          <a:lstStyle/>
          <a:p>
            <a:pPr marL="342900" indent="-342900">
              <a:buFont typeface="Wingdings" panose="05000000000000000000" pitchFamily="2" charset="2"/>
              <a:buChar char="ü"/>
            </a:pPr>
            <a:r>
              <a:rPr lang="en-US" sz="2400" dirty="0"/>
              <a:t>Bootstrap Program is loaded at power-up or reboot</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Typically stored in ROM or EPROM, generally known as firmware.</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Initializes all aspects of system</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Loads operating system kernel and starts execution.</a:t>
            </a:r>
          </a:p>
        </p:txBody>
      </p:sp>
    </p:spTree>
    <p:extLst>
      <p:ext uri="{BB962C8B-B14F-4D97-AF65-F5344CB8AC3E}">
        <p14:creationId xmlns:p14="http://schemas.microsoft.com/office/powerpoint/2010/main" val="1944152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92E77E2-390E-7F17-42A1-F19536C341F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AB5C9FBA-22DB-6DE7-8A27-DC275C1F49DF}"/>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B7166AE1-16C5-11F2-D844-4B2880F2D9ED}"/>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66AEEEA6-525E-F351-B685-F37EC8E1E5BF}"/>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dirty="0">
                <a:solidFill>
                  <a:schemeClr val="lt1"/>
                </a:solidFill>
                <a:latin typeface="Times New Roman"/>
                <a:ea typeface="Times New Roman"/>
                <a:cs typeface="Times New Roman"/>
                <a:sym typeface="Times New Roman"/>
              </a:rPr>
              <a:t>Computer System Operation</a:t>
            </a:r>
          </a:p>
          <a:p>
            <a:pPr marL="0" marR="0" lvl="0" indent="0" algn="l" rtl="0">
              <a:spcBef>
                <a:spcPts val="0"/>
              </a:spcBef>
              <a:spcAft>
                <a:spcPts val="0"/>
              </a:spcAft>
              <a:buNone/>
            </a:pPr>
            <a:r>
              <a:rPr lang="en-US" sz="3600" b="1" i="0" u="none" strike="noStrike" cap="none" dirty="0">
                <a:solidFill>
                  <a:schemeClr val="lt1"/>
                </a:solidFill>
                <a:latin typeface="Times New Roman"/>
                <a:ea typeface="Times New Roman"/>
                <a:cs typeface="Times New Roman"/>
                <a:sym typeface="Times New Roman"/>
              </a:rPr>
              <a:t>Operating System</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A94AA04-4097-2757-B6ED-2CB90B5B9A7E}"/>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7BEF72C4-E64C-5D72-621D-A703830106E7}"/>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FB9C44B2-C4B9-4144-8377-1D21D180F8C4}"/>
              </a:ext>
            </a:extLst>
          </p:cNvPr>
          <p:cNvSpPr txBox="1"/>
          <p:nvPr/>
        </p:nvSpPr>
        <p:spPr>
          <a:xfrm>
            <a:off x="848412" y="886120"/>
            <a:ext cx="11038788" cy="3477875"/>
          </a:xfrm>
          <a:prstGeom prst="rect">
            <a:avLst/>
          </a:prstGeom>
          <a:noFill/>
        </p:spPr>
        <p:txBody>
          <a:bodyPr wrap="square" rtlCol="0">
            <a:spAutoFit/>
          </a:bodyPr>
          <a:lstStyle/>
          <a:p>
            <a:pPr marL="285750" indent="-285750">
              <a:buFont typeface="Wingdings" panose="05000000000000000000" pitchFamily="2" charset="2"/>
              <a:buChar char="ü"/>
            </a:pPr>
            <a:r>
              <a:rPr lang="en-US" sz="2000" dirty="0"/>
              <a:t>Once the kernel is loaded and executing, it can start providing services to the system and its users.</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Some services are provided outside of the kernel, by system programs that are loaded into memory at boot time to become system processes, or system daemons that run the entire time the kernel is running.</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On UNIX, the first system process is </a:t>
            </a:r>
            <a:r>
              <a:rPr lang="en-US" sz="2000" dirty="0" err="1"/>
              <a:t>init</a:t>
            </a:r>
            <a:r>
              <a:rPr lang="en-US" sz="2000" dirty="0"/>
              <a:t> and starts many other daemons. Once this phase is complete, the system is fully booted, and the system waits for some event to occur.</a:t>
            </a:r>
          </a:p>
          <a:p>
            <a:endParaRPr lang="en-US" sz="2000" dirty="0"/>
          </a:p>
          <a:p>
            <a:pPr marL="285750" indent="-285750">
              <a:buFont typeface="Wingdings" panose="05000000000000000000" pitchFamily="2" charset="2"/>
              <a:buChar char="ü"/>
            </a:pPr>
            <a:r>
              <a:rPr lang="en-US" sz="2000" dirty="0"/>
              <a:t>The occurrence of an event is usually signaled by an </a:t>
            </a:r>
            <a:r>
              <a:rPr lang="en-US" sz="2000" b="1" dirty="0"/>
              <a:t>interrup</a:t>
            </a:r>
            <a:r>
              <a:rPr lang="en-US" sz="2000" dirty="0"/>
              <a:t>t.</a:t>
            </a:r>
          </a:p>
        </p:txBody>
      </p:sp>
    </p:spTree>
    <p:extLst>
      <p:ext uri="{BB962C8B-B14F-4D97-AF65-F5344CB8AC3E}">
        <p14:creationId xmlns:p14="http://schemas.microsoft.com/office/powerpoint/2010/main" val="893308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673B648-5A43-9F61-847D-A7CE613A32C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079F1EF2-1F1F-7D09-D663-58CE0616F5D5}"/>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FB88AFD2-35B2-0465-9D31-10A148BA474C}"/>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C1D98E98-8890-6FE6-CE05-C880FA5DFA2D}"/>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Interrupt handling</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0784553-B227-A853-5A56-53DE60E53418}"/>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E7F5B671-666A-11F0-8F70-DC396DFCCB36}"/>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7B0BCB93-3412-40F4-F107-DA989E5CF51E}"/>
              </a:ext>
            </a:extLst>
          </p:cNvPr>
          <p:cNvSpPr txBox="1"/>
          <p:nvPr/>
        </p:nvSpPr>
        <p:spPr>
          <a:xfrm>
            <a:off x="216817" y="848412"/>
            <a:ext cx="11057642" cy="5324535"/>
          </a:xfrm>
          <a:prstGeom prst="rect">
            <a:avLst/>
          </a:prstGeom>
          <a:noFill/>
        </p:spPr>
        <p:txBody>
          <a:bodyPr wrap="square" rtlCol="0">
            <a:spAutoFit/>
          </a:bodyPr>
          <a:lstStyle/>
          <a:p>
            <a:r>
              <a:rPr lang="en-US" sz="2400" b="1" dirty="0"/>
              <a:t>Interrupts:</a:t>
            </a:r>
          </a:p>
          <a:p>
            <a:endParaRPr lang="en-US" dirty="0"/>
          </a:p>
          <a:p>
            <a:pPr marL="285750" indent="-285750">
              <a:buFont typeface="Wingdings" panose="05000000000000000000" pitchFamily="2" charset="2"/>
              <a:buChar char="ü"/>
            </a:pPr>
            <a:r>
              <a:rPr lang="en-US" sz="2400" dirty="0"/>
              <a:t>There are two types of interrupts:</a:t>
            </a:r>
          </a:p>
          <a:p>
            <a:endParaRPr lang="en-US" sz="2400" dirty="0"/>
          </a:p>
          <a:p>
            <a:r>
              <a:rPr lang="en-US" sz="2400" dirty="0"/>
              <a:t>        Hardware– a device may trigger an interrupt by sending a signal to the CPU, usually by way of the system bus.</a:t>
            </a:r>
          </a:p>
          <a:p>
            <a:endParaRPr lang="en-US" sz="2400" dirty="0"/>
          </a:p>
          <a:p>
            <a:r>
              <a:rPr lang="en-US" sz="2400" dirty="0"/>
              <a:t>        Software– a program may trigger an interrupt by executing a special operation called a system call.</a:t>
            </a:r>
          </a:p>
          <a:p>
            <a:endParaRPr lang="en-US" sz="2400" dirty="0"/>
          </a:p>
          <a:p>
            <a:pPr marL="285750" indent="-285750">
              <a:buFont typeface="Wingdings" panose="05000000000000000000" pitchFamily="2" charset="2"/>
              <a:buChar char="ü"/>
            </a:pPr>
            <a:r>
              <a:rPr lang="en-US" sz="2400" dirty="0"/>
              <a:t>A software generated interrupt(sometimes called trap or exception) is caused either by an error(</a:t>
            </a:r>
            <a:r>
              <a:rPr lang="en-US" sz="2400" dirty="0" err="1"/>
              <a:t>e.g</a:t>
            </a:r>
            <a:r>
              <a:rPr lang="en-US" sz="2400" dirty="0"/>
              <a:t> divide by zero) or user request(</a:t>
            </a:r>
            <a:r>
              <a:rPr lang="en-US" sz="2400" dirty="0" err="1"/>
              <a:t>e.g</a:t>
            </a:r>
            <a:r>
              <a:rPr lang="en-US" sz="2400" dirty="0"/>
              <a:t> an I/O request).</a:t>
            </a:r>
          </a:p>
          <a:p>
            <a:pPr marL="285750" indent="-285750">
              <a:buFont typeface="Wingdings" panose="05000000000000000000" pitchFamily="2" charset="2"/>
              <a:buChar char="ü"/>
            </a:pPr>
            <a:endParaRPr lang="en-US" sz="2400" dirty="0"/>
          </a:p>
          <a:p>
            <a:pPr marL="285750" indent="-285750">
              <a:buFont typeface="Wingdings" panose="05000000000000000000" pitchFamily="2" charset="2"/>
              <a:buChar char="ü"/>
            </a:pPr>
            <a:r>
              <a:rPr lang="en-US" sz="2400" dirty="0"/>
              <a:t>An operating system is interrupt driven.</a:t>
            </a:r>
          </a:p>
          <a:p>
            <a:endParaRPr lang="en-US" dirty="0"/>
          </a:p>
        </p:txBody>
      </p:sp>
    </p:spTree>
    <p:extLst>
      <p:ext uri="{BB962C8B-B14F-4D97-AF65-F5344CB8AC3E}">
        <p14:creationId xmlns:p14="http://schemas.microsoft.com/office/powerpoint/2010/main" val="3557289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8DC758CA-D478-FEF3-BEA8-A8B9CC055B6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3494133-D518-EB1E-C033-F1907849E564}"/>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CAE163C3-2B97-DD2A-6E84-8D6C37294BAE}"/>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8305EEA-8D38-BCF6-0DF9-95209F92A531}"/>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Common Functions of Interrupts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6B2D384-AC1B-8596-5DA6-5C47BD037C8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9D98F324-410B-C22B-163F-2E4A64105CC0}"/>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0B66A1E2-3010-2E6C-8C4A-09C1D51B4CF6}"/>
              </a:ext>
            </a:extLst>
          </p:cNvPr>
          <p:cNvSpPr txBox="1"/>
          <p:nvPr/>
        </p:nvSpPr>
        <p:spPr>
          <a:xfrm>
            <a:off x="452487" y="848412"/>
            <a:ext cx="11425285" cy="4093428"/>
          </a:xfrm>
          <a:prstGeom prst="rect">
            <a:avLst/>
          </a:prstGeom>
          <a:noFill/>
        </p:spPr>
        <p:txBody>
          <a:bodyPr wrap="square" rtlCol="0">
            <a:spAutoFit/>
          </a:bodyPr>
          <a:lstStyle/>
          <a:p>
            <a:pPr marL="285750" indent="-285750">
              <a:buFont typeface="Wingdings" panose="05000000000000000000" pitchFamily="2" charset="2"/>
              <a:buChar char="ü"/>
            </a:pPr>
            <a:r>
              <a:rPr lang="en-US" sz="2000" dirty="0"/>
              <a:t>When an interrupt occurs, the operating system preserves the state of the CPU by storing the registers and the program counter.</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Determines which type of interrupt has occurred and transfers control to the interrupt service routine(ISR)</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An interrupt-service routine is a collection of routines(modules), each of which is responsible for handling one particular interrupt(</a:t>
            </a:r>
            <a:r>
              <a:rPr lang="en-US" sz="2000" dirty="0" err="1"/>
              <a:t>e.g</a:t>
            </a:r>
            <a:r>
              <a:rPr lang="en-US" sz="2000" dirty="0"/>
              <a:t> from a printer, from a disk)</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The transfer is generally through the interrupt vector, which contains the addresses of all the service routines.</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Interrupt architecture must save the address of the interrupted instruction.</a:t>
            </a:r>
          </a:p>
        </p:txBody>
      </p:sp>
    </p:spTree>
    <p:extLst>
      <p:ext uri="{BB962C8B-B14F-4D97-AF65-F5344CB8AC3E}">
        <p14:creationId xmlns:p14="http://schemas.microsoft.com/office/powerpoint/2010/main" val="3825061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3728489-AA9A-0B41-E741-473DA4850DB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18354FF-2D99-7D90-ED64-5D6EFDC89F7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7D42329-1812-DB06-08F7-CBC362FB4CBF}"/>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FBE86AFC-374D-05F2-0B38-FA297D7EC6D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Life Cycle of  Interrupt</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7E96D3F2-7108-F59E-6C17-0E1A7340E2F1}"/>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9BE1AAED-B476-A6CF-B548-63D4224BE3E1}"/>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F9D9E370-D29E-F5DB-B642-8FF03F8A16AF}"/>
              </a:ext>
            </a:extLst>
          </p:cNvPr>
          <p:cNvSpPr txBox="1"/>
          <p:nvPr/>
        </p:nvSpPr>
        <p:spPr>
          <a:xfrm>
            <a:off x="2095500" y="1436132"/>
            <a:ext cx="7124700" cy="4524315"/>
          </a:xfrm>
          <a:prstGeom prst="rect">
            <a:avLst/>
          </a:prstGeom>
          <a:noFill/>
        </p:spPr>
        <p:txBody>
          <a:bodyPr wrap="square" rtlCol="0">
            <a:spAutoFit/>
          </a:bodyPr>
          <a:lstStyle/>
          <a:p>
            <a:r>
              <a:rPr lang="en-US" sz="2400" dirty="0"/>
              <a:t>Interrupt Occurs</a:t>
            </a:r>
          </a:p>
          <a:p>
            <a:endParaRPr lang="en-US" sz="2400" dirty="0"/>
          </a:p>
          <a:p>
            <a:r>
              <a:rPr lang="en-US" sz="2400" dirty="0"/>
              <a:t>Interrupt Vector</a:t>
            </a:r>
          </a:p>
          <a:p>
            <a:endParaRPr lang="en-US" sz="2400" dirty="0"/>
          </a:p>
          <a:p>
            <a:r>
              <a:rPr lang="en-US" sz="2400" dirty="0"/>
              <a:t>Interrupt Vector Table(IVT)</a:t>
            </a:r>
          </a:p>
          <a:p>
            <a:endParaRPr lang="en-US" sz="2400" dirty="0"/>
          </a:p>
          <a:p>
            <a:r>
              <a:rPr lang="en-US" sz="2400" dirty="0"/>
              <a:t>ISR Address</a:t>
            </a:r>
          </a:p>
          <a:p>
            <a:endParaRPr lang="en-US" sz="2400" dirty="0"/>
          </a:p>
          <a:p>
            <a:r>
              <a:rPr lang="en-US" sz="2400" dirty="0"/>
              <a:t>ISR Executes(Data handling—The ISR may move from Controller’s local buffer into main memory)</a:t>
            </a:r>
          </a:p>
          <a:p>
            <a:endParaRPr lang="en-US" sz="2400" dirty="0"/>
          </a:p>
          <a:p>
            <a:r>
              <a:rPr lang="en-US" sz="2400" dirty="0"/>
              <a:t>Resume task</a:t>
            </a:r>
          </a:p>
        </p:txBody>
      </p:sp>
      <p:cxnSp>
        <p:nvCxnSpPr>
          <p:cNvPr id="4" name="Straight Arrow Connector 3">
            <a:extLst>
              <a:ext uri="{FF2B5EF4-FFF2-40B4-BE49-F238E27FC236}">
                <a16:creationId xmlns:a16="http://schemas.microsoft.com/office/drawing/2014/main" id="{60DC3177-865E-1044-F98D-94D03E80F2DE}"/>
              </a:ext>
            </a:extLst>
          </p:cNvPr>
          <p:cNvCxnSpPr/>
          <p:nvPr/>
        </p:nvCxnSpPr>
        <p:spPr>
          <a:xfrm>
            <a:off x="2905125" y="1933575"/>
            <a:ext cx="0" cy="25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636A60F-6D01-A996-29B9-975EAE7D86B0}"/>
              </a:ext>
            </a:extLst>
          </p:cNvPr>
          <p:cNvCxnSpPr/>
          <p:nvPr/>
        </p:nvCxnSpPr>
        <p:spPr>
          <a:xfrm>
            <a:off x="2886075" y="2695575"/>
            <a:ext cx="0" cy="25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22F9139-66CC-DA32-BE73-653B31FABD42}"/>
              </a:ext>
            </a:extLst>
          </p:cNvPr>
          <p:cNvCxnSpPr/>
          <p:nvPr/>
        </p:nvCxnSpPr>
        <p:spPr>
          <a:xfrm>
            <a:off x="2886075" y="3305175"/>
            <a:ext cx="0" cy="25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93D3D9B-FC1C-98D0-30D2-68EBBB341F74}"/>
              </a:ext>
            </a:extLst>
          </p:cNvPr>
          <p:cNvCxnSpPr/>
          <p:nvPr/>
        </p:nvCxnSpPr>
        <p:spPr>
          <a:xfrm>
            <a:off x="2886075" y="4095750"/>
            <a:ext cx="0" cy="25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0175FB-2E6F-56EE-7C18-CA1CDA50A914}"/>
              </a:ext>
            </a:extLst>
          </p:cNvPr>
          <p:cNvCxnSpPr/>
          <p:nvPr/>
        </p:nvCxnSpPr>
        <p:spPr>
          <a:xfrm>
            <a:off x="2886075" y="5205412"/>
            <a:ext cx="0" cy="25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236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AD8EF6A-52A7-42C9-D5C7-D682D83300E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C540354-88DE-7726-CDC4-1E6B2205A043}"/>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7681C2B-7BA2-A157-C0BA-6ACD9DBFA380}"/>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329175E0-B7B9-4A7D-BE86-97D148C923C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Interrupts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BB87D645-427E-F704-FD0D-A6A15D3A9FBA}"/>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73C43151-46DC-0CA2-892A-F9C390F63562}"/>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2C3FB7B7-C20D-A002-5CF9-7E45CCC6B47F}"/>
              </a:ext>
            </a:extLst>
          </p:cNvPr>
          <p:cNvPicPr>
            <a:picLocks noChangeAspect="1"/>
          </p:cNvPicPr>
          <p:nvPr/>
        </p:nvPicPr>
        <p:blipFill>
          <a:blip r:embed="rId3"/>
          <a:stretch>
            <a:fillRect/>
          </a:stretch>
        </p:blipFill>
        <p:spPr>
          <a:xfrm>
            <a:off x="1918704" y="1657102"/>
            <a:ext cx="8354591" cy="3543795"/>
          </a:xfrm>
          <a:prstGeom prst="rect">
            <a:avLst/>
          </a:prstGeom>
        </p:spPr>
      </p:pic>
    </p:spTree>
    <p:extLst>
      <p:ext uri="{BB962C8B-B14F-4D97-AF65-F5344CB8AC3E}">
        <p14:creationId xmlns:p14="http://schemas.microsoft.com/office/powerpoint/2010/main" val="3162463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C86898B6-FD61-F080-A9E7-E427241737D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B253324-FD80-42E9-4760-656641A6C3C9}"/>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1136F2B2-6F2D-5CB1-E456-CEACCE80B193}"/>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D163CB9-6412-284F-97B3-42503B0DC4D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Interrupt Drive I/O cycle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4C0428E8-B400-1E7F-D609-8FB3C20BE7DA}"/>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A7808118-A4E9-6900-8A8E-33668B6FB3D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4A94760D-0E85-67EC-35B4-DB7EB93848D3}"/>
              </a:ext>
            </a:extLst>
          </p:cNvPr>
          <p:cNvPicPr>
            <a:picLocks noChangeAspect="1"/>
          </p:cNvPicPr>
          <p:nvPr/>
        </p:nvPicPr>
        <p:blipFill>
          <a:blip r:embed="rId3"/>
          <a:stretch>
            <a:fillRect/>
          </a:stretch>
        </p:blipFill>
        <p:spPr>
          <a:xfrm>
            <a:off x="1112363" y="685417"/>
            <a:ext cx="8688862" cy="5487166"/>
          </a:xfrm>
          <a:prstGeom prst="rect">
            <a:avLst/>
          </a:prstGeom>
        </p:spPr>
      </p:pic>
    </p:spTree>
    <p:extLst>
      <p:ext uri="{BB962C8B-B14F-4D97-AF65-F5344CB8AC3E}">
        <p14:creationId xmlns:p14="http://schemas.microsoft.com/office/powerpoint/2010/main" val="256077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74BDCD39-CB89-9875-DB38-2B95CA41665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C65157AC-7948-E3CA-4F44-CEFC53E2147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dirty="0">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F7271F54-2F88-2A3D-0F6A-D015632EB531}"/>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4B91A806-30A2-AA9E-8AA3-434EBFD7FDB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I/O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6514077E-EFF9-50E5-8960-9C0C4EC5637E}"/>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54EC514A-F854-8006-B8F9-01DBDA2E8557}"/>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5" name="TextBox 4">
            <a:extLst>
              <a:ext uri="{FF2B5EF4-FFF2-40B4-BE49-F238E27FC236}">
                <a16:creationId xmlns:a16="http://schemas.microsoft.com/office/drawing/2014/main" id="{999B23A4-3302-48BE-EBA2-CF01C0016DFD}"/>
              </a:ext>
            </a:extLst>
          </p:cNvPr>
          <p:cNvSpPr txBox="1"/>
          <p:nvPr/>
        </p:nvSpPr>
        <p:spPr>
          <a:xfrm>
            <a:off x="697584" y="933254"/>
            <a:ext cx="10642861" cy="4247317"/>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t>A general-purpose computer system consists of CPU’s and multiple device controllers that are connected through a common bus.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Each device controller is in charge of a specific type of device. More than one device may be attached. For instance, seven or  more devices can be attached to the SMALL COMPUTER SYSTEMS INTERFACE(SCSI) controller.</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A device controller maintains some local buffer storage and a set of special purpose registers.</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The device controller is responsible for moving the data between the peripheral devices that it controls and its local buffer storage.</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Typically, the operating systems have a device driver for each device controller. The device driver understands the device controller and provides the rest of the operating system with a uniform interface to the device.</a:t>
            </a:r>
          </a:p>
        </p:txBody>
      </p:sp>
    </p:spTree>
    <p:extLst>
      <p:ext uri="{BB962C8B-B14F-4D97-AF65-F5344CB8AC3E}">
        <p14:creationId xmlns:p14="http://schemas.microsoft.com/office/powerpoint/2010/main" val="699677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D98DC2E-2BDD-99A3-4297-F6C94C9845C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EC106990-8872-DF88-D909-4D3DE1A4213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dirty="0">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DE2E3B5A-E789-0C8F-677F-74C3103A7F35}"/>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C8EB57A-A28C-7EA7-C401-06CBDB1F6ED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I/O </a:t>
            </a:r>
            <a:r>
              <a:rPr lang="en-US" sz="3600" b="1" dirty="0">
                <a:solidFill>
                  <a:schemeClr val="lt1"/>
                </a:solidFill>
                <a:latin typeface="Times New Roman"/>
                <a:ea typeface="Times New Roman"/>
                <a:cs typeface="Times New Roman"/>
                <a:sym typeface="Times New Roman"/>
              </a:rPr>
              <a:t>Structure(Contd..)</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12EFCB33-BC86-1A21-2277-5250FD73856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21B5DABB-FD97-7047-CF59-3B02029D8BBD}"/>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F567A655-8122-6AAE-C379-4BC17A14ABAD}"/>
              </a:ext>
            </a:extLst>
          </p:cNvPr>
          <p:cNvSpPr txBox="1"/>
          <p:nvPr/>
        </p:nvSpPr>
        <p:spPr>
          <a:xfrm>
            <a:off x="384413" y="636782"/>
            <a:ext cx="11483933" cy="5539978"/>
          </a:xfrm>
          <a:prstGeom prst="rect">
            <a:avLst/>
          </a:prstGeom>
          <a:noFill/>
        </p:spPr>
        <p:txBody>
          <a:bodyPr wrap="square" rtlCol="0">
            <a:spAutoFit/>
          </a:bodyPr>
          <a:lstStyle/>
          <a:p>
            <a:endParaRPr lang="en-US" sz="1800" dirty="0"/>
          </a:p>
          <a:p>
            <a:pPr marL="285750" indent="-285750">
              <a:buFont typeface="Wingdings" panose="05000000000000000000" pitchFamily="2" charset="2"/>
              <a:buChar char="ü"/>
            </a:pPr>
            <a:r>
              <a:rPr lang="en-US" sz="2400" dirty="0"/>
              <a:t>To start an I/O operation, the device driver loads the appropriate registers within the device controller.</a:t>
            </a:r>
          </a:p>
          <a:p>
            <a:pPr marL="285750" indent="-285750">
              <a:buFont typeface="Wingdings" panose="05000000000000000000" pitchFamily="2" charset="2"/>
              <a:buChar char="ü"/>
            </a:pPr>
            <a:endParaRPr lang="en-US" sz="2400" dirty="0"/>
          </a:p>
          <a:p>
            <a:pPr marL="285750" indent="-285750">
              <a:buFont typeface="Wingdings" panose="05000000000000000000" pitchFamily="2" charset="2"/>
              <a:buChar char="ü"/>
            </a:pPr>
            <a:r>
              <a:rPr lang="en-US" sz="2400" dirty="0"/>
              <a:t>The device controller, in turn, examines the contents of these registers to determine what action to take(such as “read” a character from the keyboard.</a:t>
            </a:r>
          </a:p>
          <a:p>
            <a:pPr marL="285750" indent="-285750">
              <a:buFont typeface="Wingdings" panose="05000000000000000000" pitchFamily="2" charset="2"/>
              <a:buChar char="ü"/>
            </a:pPr>
            <a:endParaRPr lang="en-US" sz="2400" dirty="0"/>
          </a:p>
          <a:p>
            <a:pPr marL="285750" indent="-285750">
              <a:buFont typeface="Wingdings" panose="05000000000000000000" pitchFamily="2" charset="2"/>
              <a:buChar char="ü"/>
            </a:pPr>
            <a:r>
              <a:rPr lang="en-US" sz="2400" dirty="0"/>
              <a:t>The controller starts the transfer of data from the device to its local buffer. Once the transfer of data is complete, the device controller informs the device driver via an interrupt that it has finished its operation.</a:t>
            </a:r>
          </a:p>
          <a:p>
            <a:pPr marL="285750" indent="-285750">
              <a:buFont typeface="Wingdings" panose="05000000000000000000" pitchFamily="2" charset="2"/>
              <a:buChar char="ü"/>
            </a:pPr>
            <a:endParaRPr lang="en-US" sz="2400" dirty="0"/>
          </a:p>
          <a:p>
            <a:pPr marL="285750" indent="-285750">
              <a:buFont typeface="Wingdings" panose="05000000000000000000" pitchFamily="2" charset="2"/>
              <a:buChar char="ü"/>
            </a:pPr>
            <a:r>
              <a:rPr lang="en-US" sz="2400" dirty="0"/>
              <a:t>The device driver then returns control to the operating system, possibly returning the data or a pointer to the data if the operation was a read.</a:t>
            </a:r>
          </a:p>
          <a:p>
            <a:pPr marL="285750" indent="-285750">
              <a:buFont typeface="Wingdings" panose="05000000000000000000" pitchFamily="2" charset="2"/>
              <a:buChar char="ü"/>
            </a:pPr>
            <a:endParaRPr lang="en-US" sz="2400" dirty="0"/>
          </a:p>
          <a:p>
            <a:pPr marL="285750" indent="-285750">
              <a:buFont typeface="Wingdings" panose="05000000000000000000" pitchFamily="2" charset="2"/>
              <a:buChar char="ü"/>
            </a:pPr>
            <a:r>
              <a:rPr lang="en-US" sz="2400" dirty="0"/>
              <a:t>For other operations, the device driver returns status information.</a:t>
            </a:r>
          </a:p>
        </p:txBody>
      </p:sp>
    </p:spTree>
    <p:extLst>
      <p:ext uri="{BB962C8B-B14F-4D97-AF65-F5344CB8AC3E}">
        <p14:creationId xmlns:p14="http://schemas.microsoft.com/office/powerpoint/2010/main" val="2589370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EA21D06F-3E4A-4A78-6FF1-90EDD8B3A8E6}"/>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B56784E-4ACC-9F57-3589-CDA6D0C72A8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C23F763-CE78-02AF-18D9-2078F9E4188B}"/>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427C2EB-0AEE-B43F-B34F-D55778B3D17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I/O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39CE6D25-C8FB-6252-C20C-D9509DAA210F}"/>
              </a:ext>
            </a:extLst>
          </p:cNvPr>
          <p:cNvSpPr txBox="1"/>
          <p:nvPr/>
        </p:nvSpPr>
        <p:spPr>
          <a:xfrm>
            <a:off x="2028825" y="1224951"/>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A59D9F0D-8E80-2863-21E2-8C7F84E12295}"/>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9D60C7C9-9DD8-C787-AA4B-6911B4E4F4C6}"/>
              </a:ext>
            </a:extLst>
          </p:cNvPr>
          <p:cNvSpPr txBox="1"/>
          <p:nvPr/>
        </p:nvSpPr>
        <p:spPr>
          <a:xfrm>
            <a:off x="1199560" y="1524000"/>
            <a:ext cx="10687639" cy="2677656"/>
          </a:xfrm>
          <a:prstGeom prst="rect">
            <a:avLst/>
          </a:prstGeom>
          <a:noFill/>
        </p:spPr>
        <p:txBody>
          <a:bodyPr wrap="square">
            <a:spAutoFit/>
          </a:bodyPr>
          <a:lstStyle/>
          <a:p>
            <a:r>
              <a:rPr lang="en-US" sz="2400" b="1" dirty="0"/>
              <a:t>Two Methods of Handling I/O</a:t>
            </a:r>
          </a:p>
          <a:p>
            <a:endParaRPr lang="en-US" sz="2400" b="1" dirty="0"/>
          </a:p>
          <a:p>
            <a:pPr marL="285750" indent="-285750">
              <a:buFont typeface="Wingdings" panose="05000000000000000000" pitchFamily="2" charset="2"/>
              <a:buChar char="ü"/>
            </a:pPr>
            <a:r>
              <a:rPr lang="en-US" sz="2400" dirty="0"/>
              <a:t>Blocking I/O: CPU waits until the I/O operation is completed before continuing execution.</a:t>
            </a:r>
          </a:p>
          <a:p>
            <a:endParaRPr lang="en-US" sz="2400" dirty="0"/>
          </a:p>
          <a:p>
            <a:pPr marL="285750" indent="-285750">
              <a:buFont typeface="Wingdings" panose="05000000000000000000" pitchFamily="2" charset="2"/>
              <a:buChar char="ü"/>
            </a:pPr>
            <a:r>
              <a:rPr lang="en-US" sz="2400" dirty="0"/>
              <a:t>Non-blocking I/O: CPU continues execution immediately after starting I/O and is informed later through an interrupt when the operation completes.</a:t>
            </a:r>
          </a:p>
        </p:txBody>
      </p:sp>
    </p:spTree>
    <p:extLst>
      <p:ext uri="{BB962C8B-B14F-4D97-AF65-F5344CB8AC3E}">
        <p14:creationId xmlns:p14="http://schemas.microsoft.com/office/powerpoint/2010/main" val="1297999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CC193710-EB43-131D-3676-A586BCA31D0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5D9450C6-0BB5-9465-2B6A-E9A3F191B413}"/>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dirty="0">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ECDD28E3-F14F-AA6F-CB4C-6788F4BE4C71}"/>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36B8423-C0EB-3CB9-E07D-6C1A07728601}"/>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I/O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7AF28B7F-2736-C52A-E4BA-EF59992C6179}"/>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32B8D42D-0AF3-DA3B-C093-9973396AE128}"/>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1DE3B7F8-D0E8-0C96-0767-972A3A39C30C}"/>
              </a:ext>
            </a:extLst>
          </p:cNvPr>
          <p:cNvSpPr txBox="1"/>
          <p:nvPr/>
        </p:nvSpPr>
        <p:spPr>
          <a:xfrm>
            <a:off x="329938" y="933254"/>
            <a:ext cx="11444140" cy="4801314"/>
          </a:xfrm>
          <a:prstGeom prst="rect">
            <a:avLst/>
          </a:prstGeom>
          <a:noFill/>
        </p:spPr>
        <p:txBody>
          <a:bodyPr wrap="square" rtlCol="0">
            <a:spAutoFit/>
          </a:bodyPr>
          <a:lstStyle/>
          <a:p>
            <a:r>
              <a:rPr lang="en-US" sz="1800" b="1" dirty="0"/>
              <a:t>Direct Memory Access Structure:</a:t>
            </a:r>
          </a:p>
          <a:p>
            <a:endParaRPr lang="en-US" sz="1800" b="1" dirty="0"/>
          </a:p>
          <a:p>
            <a:pPr marL="285750" indent="-285750">
              <a:buFont typeface="Wingdings" panose="05000000000000000000" pitchFamily="2" charset="2"/>
              <a:buChar char="ü"/>
            </a:pPr>
            <a:r>
              <a:rPr lang="en-US" sz="1800" dirty="0"/>
              <a:t>Interrupt-driven I/O is fine for moving small amounts of data but can produce high overhead when used for bulk data movement such as disk I/O</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To solve this problem, DMA is used.</a:t>
            </a:r>
          </a:p>
          <a:p>
            <a:endParaRPr lang="en-US" sz="1800" dirty="0"/>
          </a:p>
          <a:p>
            <a:r>
              <a:rPr lang="en-US" sz="1800" dirty="0"/>
              <a:t>      *** After setting up the buffers, pointers, and counters for the I/O device, the device controller transfers an entire block of data directly to or from its own buffer storage to memory, with no intervention by the CPU.</a:t>
            </a:r>
          </a:p>
          <a:p>
            <a:pPr marL="285750" indent="-285750">
              <a:buFont typeface="Wingdings" panose="05000000000000000000" pitchFamily="2" charset="2"/>
              <a:buChar char="ü"/>
            </a:pPr>
            <a:endParaRPr lang="en-US" sz="1800" dirty="0"/>
          </a:p>
          <a:p>
            <a:r>
              <a:rPr lang="en-US" sz="1800" dirty="0"/>
              <a:t>      *** Only one interrupt is generated per block, to tell the device driver that the operation has completed. While the device controller is performing these operations, the CPU is available to accomplish other work.</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Some high-end systems use switch rather bus architecture. On these systems, multiple components can talk to other components concurrently, rather than computing for cycles on a shared bus. In this case, DMA is even more effective</a:t>
            </a:r>
            <a:r>
              <a:rPr lang="en-US" dirty="0"/>
              <a:t>.</a:t>
            </a:r>
          </a:p>
        </p:txBody>
      </p:sp>
    </p:spTree>
    <p:extLst>
      <p:ext uri="{BB962C8B-B14F-4D97-AF65-F5344CB8AC3E}">
        <p14:creationId xmlns:p14="http://schemas.microsoft.com/office/powerpoint/2010/main" val="345949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B79AA9E2-18D5-BF33-8904-0DDD86683404}"/>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CC6E0CFA-9F62-C27D-F0A5-0F00EC60C3A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AC895E6E-DDE0-C3FC-938D-E570E12C75EF}"/>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8AD3CEC9-7039-78E4-9D0B-5F3AEC2481B0}"/>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I/O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D491AF35-8CE0-D477-454C-5BEFEFE28B7E}"/>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D48A49F0-1F58-1A22-D079-86A456F84CE5}"/>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FABF43DB-7132-FCA9-5E6A-60EB4C7216EF}"/>
              </a:ext>
            </a:extLst>
          </p:cNvPr>
          <p:cNvPicPr>
            <a:picLocks noChangeAspect="1"/>
          </p:cNvPicPr>
          <p:nvPr/>
        </p:nvPicPr>
        <p:blipFill>
          <a:blip r:embed="rId3"/>
          <a:stretch>
            <a:fillRect/>
          </a:stretch>
        </p:blipFill>
        <p:spPr>
          <a:xfrm>
            <a:off x="907463" y="1066800"/>
            <a:ext cx="10272727" cy="2638793"/>
          </a:xfrm>
          <a:prstGeom prst="rect">
            <a:avLst/>
          </a:prstGeom>
        </p:spPr>
      </p:pic>
    </p:spTree>
    <p:extLst>
      <p:ext uri="{BB962C8B-B14F-4D97-AF65-F5344CB8AC3E}">
        <p14:creationId xmlns:p14="http://schemas.microsoft.com/office/powerpoint/2010/main" val="1830809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3E43A3C1-317A-3170-05DE-7C05C4AF2A9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40B682FA-FECA-761A-5969-104A9518F0B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1D3E980-CE3D-4805-9A7D-2339FF98D9BC}"/>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F7ABF400-235E-C891-2634-7717E2545C3D}"/>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How a modern computer works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01D7127-962E-5309-C5F7-49351C02480C}"/>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83C8FF47-261F-C0DC-ED77-3317802E06CC}"/>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B633EF04-7954-BF38-0CC5-1F3E6772DF29}"/>
              </a:ext>
            </a:extLst>
          </p:cNvPr>
          <p:cNvPicPr>
            <a:picLocks noChangeAspect="1"/>
          </p:cNvPicPr>
          <p:nvPr/>
        </p:nvPicPr>
        <p:blipFill>
          <a:blip r:embed="rId3"/>
          <a:stretch>
            <a:fillRect/>
          </a:stretch>
        </p:blipFill>
        <p:spPr>
          <a:xfrm>
            <a:off x="2323573" y="871180"/>
            <a:ext cx="7544853" cy="5115639"/>
          </a:xfrm>
          <a:prstGeom prst="rect">
            <a:avLst/>
          </a:prstGeom>
        </p:spPr>
      </p:pic>
    </p:spTree>
    <p:extLst>
      <p:ext uri="{BB962C8B-B14F-4D97-AF65-F5344CB8AC3E}">
        <p14:creationId xmlns:p14="http://schemas.microsoft.com/office/powerpoint/2010/main" val="1747305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4A4E568-F773-8249-A0E8-96F8A93B7F8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58052C1-A1BE-8BA2-55C7-2873AA624198}"/>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99C7E956-E23C-A43E-7E0D-BF1CAE0CE67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AAAB8E3-CD1B-B9E0-0E29-950A57260EA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BAF5104-829F-FED3-43A1-FFA3BB744C31}"/>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CECD44BE-5EA9-1A10-7DD3-ADB2AE88740B}"/>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37710251-1667-F886-FF90-AD644364429E}"/>
              </a:ext>
            </a:extLst>
          </p:cNvPr>
          <p:cNvSpPr txBox="1"/>
          <p:nvPr/>
        </p:nvSpPr>
        <p:spPr>
          <a:xfrm>
            <a:off x="556180" y="636782"/>
            <a:ext cx="11635820" cy="4985980"/>
          </a:xfrm>
          <a:prstGeom prst="rect">
            <a:avLst/>
          </a:prstGeom>
          <a:noFill/>
        </p:spPr>
        <p:txBody>
          <a:bodyPr wrap="square" rtlCol="0">
            <a:spAutoFit/>
          </a:bodyPr>
          <a:lstStyle/>
          <a:p>
            <a:r>
              <a:rPr lang="en-US" sz="2400" dirty="0"/>
              <a:t>Storage Structure:</a:t>
            </a:r>
          </a:p>
          <a:p>
            <a:pPr marL="285750" indent="-285750">
              <a:buFont typeface="Wingdings" panose="05000000000000000000" pitchFamily="2" charset="2"/>
              <a:buChar char="ü"/>
            </a:pPr>
            <a:r>
              <a:rPr lang="en-US" sz="2000" dirty="0"/>
              <a:t>Main memory- the only large storage media that the CPU can access directly </a:t>
            </a:r>
          </a:p>
          <a:p>
            <a:endParaRPr lang="en-US" sz="2000" dirty="0"/>
          </a:p>
          <a:p>
            <a:r>
              <a:rPr lang="en-US" sz="2000" dirty="0"/>
              <a:t>       **  Random access</a:t>
            </a:r>
          </a:p>
          <a:p>
            <a:r>
              <a:rPr lang="en-US" sz="2000" dirty="0"/>
              <a:t>       ** Typically volatile</a:t>
            </a:r>
          </a:p>
          <a:p>
            <a:r>
              <a:rPr lang="en-US" sz="2000" dirty="0"/>
              <a:t>     </a:t>
            </a:r>
          </a:p>
          <a:p>
            <a:pPr marL="285750" indent="-285750">
              <a:buFont typeface="Wingdings" panose="05000000000000000000" pitchFamily="2" charset="2"/>
              <a:buChar char="ü"/>
            </a:pPr>
            <a:r>
              <a:rPr lang="en-US" sz="2000" dirty="0"/>
              <a:t>Secondary storage—extension of main memory that provides large nonvolatile storage capacity</a:t>
            </a:r>
          </a:p>
          <a:p>
            <a:r>
              <a:rPr lang="en-US" sz="2000" dirty="0"/>
              <a:t>           ** Hard disks- rigid metal or glass platters covered with magnetic recording material</a:t>
            </a:r>
          </a:p>
          <a:p>
            <a:r>
              <a:rPr lang="en-US" sz="2000" dirty="0"/>
              <a:t>                  &amp;&amp;Disk Surface is logically divided into tracks, which are subdivided into sectors.</a:t>
            </a:r>
          </a:p>
          <a:p>
            <a:r>
              <a:rPr lang="en-US" sz="2000" dirty="0"/>
              <a:t>                   &amp;&amp; The disk controller determines the logical interaction between the device &amp; computer.</a:t>
            </a:r>
          </a:p>
          <a:p>
            <a:r>
              <a:rPr lang="en-US" sz="2000" dirty="0"/>
              <a:t>            ** Solid-state disks—faster than hard disks, nonvolatile</a:t>
            </a:r>
          </a:p>
          <a:p>
            <a:r>
              <a:rPr lang="en-US" sz="2000" dirty="0"/>
              <a:t>                            &amp;&amp; various technologies</a:t>
            </a:r>
          </a:p>
          <a:p>
            <a:r>
              <a:rPr lang="en-US" sz="2000" dirty="0"/>
              <a:t>                            &amp;&amp; Becoming more popular</a:t>
            </a:r>
          </a:p>
          <a:p>
            <a:pPr marL="285750" indent="-285750">
              <a:buFont typeface="Wingdings" panose="05000000000000000000" pitchFamily="2" charset="2"/>
              <a:buChar char="ü"/>
            </a:pPr>
            <a:r>
              <a:rPr lang="en-US" sz="2000" dirty="0"/>
              <a:t>Tertiary storage</a:t>
            </a:r>
          </a:p>
          <a:p>
            <a:endParaRPr lang="en-US" sz="2000" dirty="0"/>
          </a:p>
          <a:p>
            <a:endParaRPr lang="en-US" dirty="0"/>
          </a:p>
        </p:txBody>
      </p:sp>
    </p:spTree>
    <p:extLst>
      <p:ext uri="{BB962C8B-B14F-4D97-AF65-F5344CB8AC3E}">
        <p14:creationId xmlns:p14="http://schemas.microsoft.com/office/powerpoint/2010/main" val="2446994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79838351-BBD1-F33F-1115-DBE74D3B12CA}"/>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D732351D-10B2-AAE1-BBE9-B53AE41EC8B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C4BC74A1-1CE6-5DCB-CCA2-B43886EFD28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1C3C32C-6001-5FFD-1F9D-0D42D0C9B5EE}"/>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0E09F7B6-FDBD-6782-B0CF-C60B99C7A654}"/>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D9115E6D-71B1-9EEB-52FE-B5C938AA0E02}"/>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3F2A8BAA-B23F-CA88-0886-A68631F8922D}"/>
              </a:ext>
            </a:extLst>
          </p:cNvPr>
          <p:cNvSpPr txBox="1"/>
          <p:nvPr/>
        </p:nvSpPr>
        <p:spPr>
          <a:xfrm>
            <a:off x="772998" y="1003236"/>
            <a:ext cx="10429188" cy="2554545"/>
          </a:xfrm>
          <a:prstGeom prst="rect">
            <a:avLst/>
          </a:prstGeom>
          <a:noFill/>
        </p:spPr>
        <p:txBody>
          <a:bodyPr wrap="square" rtlCol="0">
            <a:spAutoFit/>
          </a:bodyPr>
          <a:lstStyle/>
          <a:p>
            <a:r>
              <a:rPr lang="en-US" sz="2000" b="1" dirty="0"/>
              <a:t>Storage Definition</a:t>
            </a:r>
          </a:p>
          <a:p>
            <a:endParaRPr lang="en-US" sz="2000" dirty="0"/>
          </a:p>
          <a:p>
            <a:pPr marL="342900" indent="-342900">
              <a:buFont typeface="Wingdings" panose="05000000000000000000" pitchFamily="2" charset="2"/>
              <a:buChar char="ü"/>
            </a:pPr>
            <a:r>
              <a:rPr lang="en-US" sz="2000" dirty="0"/>
              <a:t>The basic unit of computer storage is the bit. A bit can contain one of 2 values, 0 and 1. All other storage in a computer is based on bits.</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A byte is 8 bits, and most computers it is the smallest convenient chunk of storage.</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A less common term is word, which is a given computer architecture’s native unit of bits</a:t>
            </a:r>
          </a:p>
        </p:txBody>
      </p:sp>
    </p:spTree>
    <p:extLst>
      <p:ext uri="{BB962C8B-B14F-4D97-AF65-F5344CB8AC3E}">
        <p14:creationId xmlns:p14="http://schemas.microsoft.com/office/powerpoint/2010/main" val="2302808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AED3843-C8D7-D52F-DA00-D341500F76BA}"/>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DBB3906-2001-E9EF-61F2-611514069880}"/>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A1BB760-D744-ABD0-F234-EF8510829BB4}"/>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0F6F723B-F1A1-34CD-BFB0-DFDB2B201AF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D0C7DB76-E2C2-DE67-C4C7-A2A949830B10}"/>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EF6587AE-3D2A-E76D-097F-D05C442086E1}"/>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E0CC3E4E-845F-2961-DE52-0B2F0E1213A6}"/>
              </a:ext>
            </a:extLst>
          </p:cNvPr>
          <p:cNvSpPr txBox="1"/>
          <p:nvPr/>
        </p:nvSpPr>
        <p:spPr>
          <a:xfrm>
            <a:off x="1342361" y="876693"/>
            <a:ext cx="10073499" cy="3046988"/>
          </a:xfrm>
          <a:prstGeom prst="rect">
            <a:avLst/>
          </a:prstGeom>
          <a:noFill/>
        </p:spPr>
        <p:txBody>
          <a:bodyPr wrap="square" rtlCol="0">
            <a:spAutoFit/>
          </a:bodyPr>
          <a:lstStyle/>
          <a:p>
            <a:pPr marL="342900" indent="-342900">
              <a:buFont typeface="Wingdings" panose="05000000000000000000" pitchFamily="2" charset="2"/>
              <a:buChar char="ü"/>
            </a:pPr>
            <a:r>
              <a:rPr lang="en-US" sz="2400" dirty="0"/>
              <a:t>Computer storage, along with most computer throughput, is generally measured and manipulated in bytes and collections of bytes.</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Computer manufactures often round off these numbers and say that a megabyte is 1 million bytes and a gigabyte is 1 billion bytes.</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Networking measurements are an exception to this general rule; they are given in bits(because networks move data  a bit at a time).</a:t>
            </a:r>
          </a:p>
        </p:txBody>
      </p:sp>
    </p:spTree>
    <p:extLst>
      <p:ext uri="{BB962C8B-B14F-4D97-AF65-F5344CB8AC3E}">
        <p14:creationId xmlns:p14="http://schemas.microsoft.com/office/powerpoint/2010/main" val="1522249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4E394A14-AFC0-6F7E-7637-32CC28A2BF8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4225BFE-9FDC-A76F-158D-8C8598A61B9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4047F16A-A60B-1437-8303-68DA20F93043}"/>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3FE8FD57-15D6-5548-BF74-E455C66F808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A5D5F29-4104-74B8-83BD-4B4F1D56E0AD}"/>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28DA380A-1EEF-5AEF-B73A-A20DC535E120}"/>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30D62BC6-7651-8ED8-0872-9B4A4C36C1C1}"/>
              </a:ext>
            </a:extLst>
          </p:cNvPr>
          <p:cNvSpPr txBox="1"/>
          <p:nvPr/>
        </p:nvSpPr>
        <p:spPr>
          <a:xfrm>
            <a:off x="1709125" y="782425"/>
            <a:ext cx="9518199" cy="4124206"/>
          </a:xfrm>
          <a:prstGeom prst="rect">
            <a:avLst/>
          </a:prstGeom>
          <a:noFill/>
        </p:spPr>
        <p:txBody>
          <a:bodyPr wrap="square" rtlCol="0">
            <a:spAutoFit/>
          </a:bodyPr>
          <a:lstStyle/>
          <a:p>
            <a:r>
              <a:rPr lang="en-US" sz="2800" dirty="0"/>
              <a:t>Storage Hierarchy</a:t>
            </a:r>
          </a:p>
          <a:p>
            <a:pPr marL="285750" indent="-285750">
              <a:buFont typeface="Wingdings" panose="05000000000000000000" pitchFamily="2" charset="2"/>
              <a:buChar char="ü"/>
            </a:pPr>
            <a:r>
              <a:rPr lang="en-US" sz="1800" dirty="0"/>
              <a:t>Storage systems organized in hierarchy</a:t>
            </a:r>
          </a:p>
          <a:p>
            <a:endParaRPr lang="en-US" sz="1800" dirty="0"/>
          </a:p>
          <a:p>
            <a:r>
              <a:rPr lang="en-US" sz="1800" dirty="0"/>
              <a:t>    **Speed</a:t>
            </a:r>
          </a:p>
          <a:p>
            <a:r>
              <a:rPr lang="en-US" sz="1800" dirty="0"/>
              <a:t>    **Cost</a:t>
            </a:r>
          </a:p>
          <a:p>
            <a:r>
              <a:rPr lang="en-US" sz="1800" dirty="0"/>
              <a:t>    **Volatility</a:t>
            </a:r>
          </a:p>
          <a:p>
            <a:endParaRPr lang="en-US" sz="1800" dirty="0"/>
          </a:p>
          <a:p>
            <a:pPr marL="285750" indent="-285750">
              <a:buFont typeface="Wingdings" panose="05000000000000000000" pitchFamily="2" charset="2"/>
              <a:buChar char="ü"/>
            </a:pPr>
            <a:r>
              <a:rPr lang="en-US" sz="1800" dirty="0"/>
              <a:t>Caching—copying information from “slow” storage into faster storage system;</a:t>
            </a:r>
          </a:p>
          <a:p>
            <a:r>
              <a:rPr lang="en-US" sz="1800" dirty="0"/>
              <a:t>       **Main memory can be viewed as a cache for secondary storage</a:t>
            </a:r>
          </a:p>
          <a:p>
            <a:endParaRPr lang="en-US" sz="1800" dirty="0"/>
          </a:p>
          <a:p>
            <a:pPr marL="285750" indent="-285750">
              <a:buFont typeface="Wingdings" panose="05000000000000000000" pitchFamily="2" charset="2"/>
              <a:buChar char="ü"/>
            </a:pPr>
            <a:r>
              <a:rPr lang="en-US" sz="1800" dirty="0"/>
              <a:t>Device Driver for each device controller to mange I/O</a:t>
            </a:r>
          </a:p>
          <a:p>
            <a:r>
              <a:rPr lang="en-US" sz="1800" dirty="0"/>
              <a:t>         **Provides uniform interface between controller and kernel.</a:t>
            </a:r>
          </a:p>
          <a:p>
            <a:endParaRPr lang="en-US" sz="1800" dirty="0"/>
          </a:p>
          <a:p>
            <a:endParaRPr lang="en-US" sz="1800" dirty="0"/>
          </a:p>
        </p:txBody>
      </p:sp>
    </p:spTree>
    <p:extLst>
      <p:ext uri="{BB962C8B-B14F-4D97-AF65-F5344CB8AC3E}">
        <p14:creationId xmlns:p14="http://schemas.microsoft.com/office/powerpoint/2010/main" val="358663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AF4A384-B786-6863-1969-E901CEC4ADA3}"/>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6CCED4A-0D81-65B4-6ECA-D636ECC29633}"/>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4CE06E1D-E5BB-6D69-DBE3-F502EE978EB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4747EE24-9066-3A1C-5ECB-62CA2E0AB32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6B6C356-127E-1E99-F09D-500C46CD2E2F}"/>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8D546A60-820A-CF6F-37AF-D94A319D0D9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56AB3AEB-CC5E-C17D-0F14-847CB20379A1}"/>
              </a:ext>
            </a:extLst>
          </p:cNvPr>
          <p:cNvPicPr>
            <a:picLocks noChangeAspect="1"/>
          </p:cNvPicPr>
          <p:nvPr/>
        </p:nvPicPr>
        <p:blipFill>
          <a:blip r:embed="rId3"/>
          <a:stretch>
            <a:fillRect/>
          </a:stretch>
        </p:blipFill>
        <p:spPr>
          <a:xfrm>
            <a:off x="2323573" y="1385602"/>
            <a:ext cx="7544853" cy="4086795"/>
          </a:xfrm>
          <a:prstGeom prst="rect">
            <a:avLst/>
          </a:prstGeom>
        </p:spPr>
      </p:pic>
    </p:spTree>
    <p:extLst>
      <p:ext uri="{BB962C8B-B14F-4D97-AF65-F5344CB8AC3E}">
        <p14:creationId xmlns:p14="http://schemas.microsoft.com/office/powerpoint/2010/main" val="3114398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E032812A-A314-7511-034F-C9F3DE7CB12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A7D08DA-A075-8FCC-D9F7-E994C52B9AE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B288213B-B62B-7B26-6924-1804EA4D0286}"/>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ADA915B-0F34-1E3C-4E11-CFC29FFD226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Storage</a:t>
            </a:r>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Structure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E6E3EDBF-3BC5-353D-F2F2-5E79B574D6F0}"/>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5E8908CA-6CA5-4993-BAE7-DDD0205779B5}"/>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60B92DC8-3344-0432-0AB2-2479B8D4E628}"/>
              </a:ext>
            </a:extLst>
          </p:cNvPr>
          <p:cNvSpPr txBox="1"/>
          <p:nvPr/>
        </p:nvSpPr>
        <p:spPr>
          <a:xfrm>
            <a:off x="193437" y="676721"/>
            <a:ext cx="6419654" cy="707886"/>
          </a:xfrm>
          <a:prstGeom prst="rect">
            <a:avLst/>
          </a:prstGeom>
          <a:noFill/>
        </p:spPr>
        <p:txBody>
          <a:bodyPr wrap="square" rtlCol="0">
            <a:spAutoFit/>
          </a:bodyPr>
          <a:lstStyle/>
          <a:p>
            <a:r>
              <a:rPr lang="en-US" sz="4000" dirty="0"/>
              <a:t>Caching</a:t>
            </a:r>
          </a:p>
        </p:txBody>
      </p:sp>
      <p:pic>
        <p:nvPicPr>
          <p:cNvPr id="5" name="Picture 4">
            <a:extLst>
              <a:ext uri="{FF2B5EF4-FFF2-40B4-BE49-F238E27FC236}">
                <a16:creationId xmlns:a16="http://schemas.microsoft.com/office/drawing/2014/main" id="{23276455-ABEE-13DF-E2D8-80DFC6F91F80}"/>
              </a:ext>
            </a:extLst>
          </p:cNvPr>
          <p:cNvPicPr>
            <a:picLocks noChangeAspect="1"/>
          </p:cNvPicPr>
          <p:nvPr/>
        </p:nvPicPr>
        <p:blipFill>
          <a:blip r:embed="rId3"/>
          <a:stretch>
            <a:fillRect/>
          </a:stretch>
        </p:blipFill>
        <p:spPr>
          <a:xfrm>
            <a:off x="2347389" y="1171260"/>
            <a:ext cx="8610600" cy="4515480"/>
          </a:xfrm>
          <a:prstGeom prst="rect">
            <a:avLst/>
          </a:prstGeom>
        </p:spPr>
      </p:pic>
    </p:spTree>
    <p:extLst>
      <p:ext uri="{BB962C8B-B14F-4D97-AF65-F5344CB8AC3E}">
        <p14:creationId xmlns:p14="http://schemas.microsoft.com/office/powerpoint/2010/main" val="2633113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00AAE36-13AE-79FB-736E-200636C89C6D}"/>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588A5889-6D09-145E-6EF0-FBC9C45F2349}"/>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062DB749-847F-8F45-5F4C-C6B86DDAB39D}"/>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34DF6E8-4043-95E9-ACEE-E87701ACD5BB}"/>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85B8AE6C-C4A1-7D8C-9BB6-FF158DA042F8}"/>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20A58727-F716-2462-85B4-ED136C8D143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6E16787F-500A-3E8A-A181-9E957D45BA96}"/>
              </a:ext>
            </a:extLst>
          </p:cNvPr>
          <p:cNvSpPr txBox="1"/>
          <p:nvPr/>
        </p:nvSpPr>
        <p:spPr>
          <a:xfrm>
            <a:off x="1150070" y="1014442"/>
            <a:ext cx="10652289" cy="4524315"/>
          </a:xfrm>
          <a:prstGeom prst="rect">
            <a:avLst/>
          </a:prstGeom>
          <a:noFill/>
        </p:spPr>
        <p:txBody>
          <a:bodyPr wrap="square" rtlCol="0">
            <a:spAutoFit/>
          </a:bodyPr>
          <a:lstStyle/>
          <a:p>
            <a:pPr marL="285750" indent="-285750">
              <a:buFont typeface="Wingdings" panose="05000000000000000000" pitchFamily="2" charset="2"/>
              <a:buChar char="ü"/>
            </a:pPr>
            <a:r>
              <a:rPr lang="en-US" sz="1800" dirty="0"/>
              <a:t> </a:t>
            </a:r>
            <a:r>
              <a:rPr lang="en-US" sz="1800" b="1" dirty="0"/>
              <a:t>Single general-purpose processor</a:t>
            </a:r>
          </a:p>
          <a:p>
            <a:endParaRPr lang="en-US" sz="1800" b="1" dirty="0"/>
          </a:p>
          <a:p>
            <a:r>
              <a:rPr lang="en-US" sz="1800" dirty="0"/>
              <a:t>             **Most systems have special-purpose processors as well</a:t>
            </a:r>
          </a:p>
          <a:p>
            <a:endParaRPr lang="en-US" sz="1800" dirty="0"/>
          </a:p>
          <a:p>
            <a:pPr marL="285750" indent="-285750">
              <a:buFont typeface="Wingdings" panose="05000000000000000000" pitchFamily="2" charset="2"/>
              <a:buChar char="ü"/>
            </a:pPr>
            <a:r>
              <a:rPr lang="en-US" sz="1800" b="1" dirty="0"/>
              <a:t>Multiprocessors systems</a:t>
            </a:r>
          </a:p>
          <a:p>
            <a:endParaRPr lang="en-US" sz="1800" dirty="0"/>
          </a:p>
          <a:p>
            <a:r>
              <a:rPr lang="en-US" sz="1800" dirty="0"/>
              <a:t>            **Also known as parallel systems, tightly-coupled systems</a:t>
            </a:r>
          </a:p>
          <a:p>
            <a:r>
              <a:rPr lang="en-US" sz="1800" dirty="0"/>
              <a:t>            ** Advantages include:</a:t>
            </a:r>
          </a:p>
          <a:p>
            <a:r>
              <a:rPr lang="en-US" sz="1800" dirty="0"/>
              <a:t>                   &amp;Increased Throughput</a:t>
            </a:r>
          </a:p>
          <a:p>
            <a:r>
              <a:rPr lang="en-US" sz="1800" dirty="0"/>
              <a:t>                   &amp;Economy of scale</a:t>
            </a:r>
          </a:p>
          <a:p>
            <a:r>
              <a:rPr lang="en-US" sz="1800" dirty="0"/>
              <a:t>                   &amp; Increased reliability—graceful-degradation/fault-tolerance</a:t>
            </a:r>
          </a:p>
          <a:p>
            <a:endParaRPr lang="en-US" sz="1800" dirty="0"/>
          </a:p>
          <a:p>
            <a:pPr marL="285750" indent="-285750">
              <a:buFont typeface="Wingdings" panose="05000000000000000000" pitchFamily="2" charset="2"/>
              <a:buChar char="ü"/>
            </a:pPr>
            <a:r>
              <a:rPr lang="en-US" sz="1800" dirty="0"/>
              <a:t>Two types:</a:t>
            </a:r>
          </a:p>
          <a:p>
            <a:endParaRPr lang="en-US" sz="1800" dirty="0"/>
          </a:p>
          <a:p>
            <a:r>
              <a:rPr lang="en-US" sz="1800" dirty="0"/>
              <a:t>      **Symmetric Multiprocessing—Each processor performs all tasks</a:t>
            </a:r>
          </a:p>
          <a:p>
            <a:r>
              <a:rPr lang="en-US" sz="1800" dirty="0"/>
              <a:t>       ** Asymmetric Multiprocessing—Each processor is assigned a specific task.</a:t>
            </a:r>
          </a:p>
        </p:txBody>
      </p:sp>
    </p:spTree>
    <p:extLst>
      <p:ext uri="{BB962C8B-B14F-4D97-AF65-F5344CB8AC3E}">
        <p14:creationId xmlns:p14="http://schemas.microsoft.com/office/powerpoint/2010/main" val="1755386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1AA73EA-6B82-04F2-4BCC-CD70B5F138DE}"/>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1CFCD34-2E5E-CB81-3CA5-EED9C7BA6D71}"/>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4C76EA3-C5B7-DC7A-CC59-4367B90A3410}"/>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25B31CE9-5731-B811-39DE-A93970F63864}"/>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55B5A0CF-5742-3AD7-3AB7-F054CD0317A2}"/>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FF486DAD-2124-2EB1-8E24-ACF34EF134FE}"/>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91C1F947-FF35-B340-72D9-74DED6955B5B}"/>
              </a:ext>
            </a:extLst>
          </p:cNvPr>
          <p:cNvSpPr txBox="1"/>
          <p:nvPr/>
        </p:nvSpPr>
        <p:spPr>
          <a:xfrm>
            <a:off x="716437" y="1588532"/>
            <a:ext cx="11114202" cy="3477875"/>
          </a:xfrm>
          <a:prstGeom prst="rect">
            <a:avLst/>
          </a:prstGeom>
          <a:noFill/>
        </p:spPr>
        <p:txBody>
          <a:bodyPr wrap="square">
            <a:spAutoFit/>
          </a:bodyPr>
          <a:lstStyle/>
          <a:p>
            <a:pPr marL="285750" indent="-285750">
              <a:buFont typeface="Wingdings" panose="05000000000000000000" pitchFamily="2" charset="2"/>
              <a:buChar char="ü"/>
            </a:pPr>
            <a:r>
              <a:rPr lang="en-US" sz="2000" dirty="0"/>
              <a:t>Increased Throughput</a:t>
            </a:r>
            <a:br>
              <a:rPr lang="en-US" sz="2000" dirty="0"/>
            </a:br>
            <a:r>
              <a:rPr lang="en-US" sz="2000" dirty="0"/>
              <a:t>Using multiple processors allows more work to be completed in less time, though the speed increase is less than the exact number of processors due to overhead and resource sharing.</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Economy of Scale</a:t>
            </a:r>
            <a:br>
              <a:rPr lang="en-US" sz="2000" dirty="0"/>
            </a:br>
            <a:r>
              <a:rPr lang="en-US" sz="2000" dirty="0"/>
              <a:t>Multiprocessor systems are cost-effective because processors can share resources like memory, storage, and power supplies instead of duplicating them.</a:t>
            </a:r>
          </a:p>
          <a:p>
            <a:pPr marL="285750" indent="-285750">
              <a:buFont typeface="Wingdings" panose="05000000000000000000" pitchFamily="2" charset="2"/>
              <a:buChar char="ü"/>
            </a:pPr>
            <a:endParaRPr lang="en-US" sz="2000" dirty="0"/>
          </a:p>
          <a:p>
            <a:pPr marL="285750" indent="-285750">
              <a:buFont typeface="Wingdings" panose="05000000000000000000" pitchFamily="2" charset="2"/>
              <a:buChar char="ü"/>
            </a:pPr>
            <a:r>
              <a:rPr lang="en-US" sz="2000" dirty="0"/>
              <a:t> Increased Reliability</a:t>
            </a:r>
            <a:br>
              <a:rPr lang="en-US" sz="2000" dirty="0"/>
            </a:br>
            <a:r>
              <a:rPr lang="en-US" sz="2000" dirty="0"/>
              <a:t>If one processor fails, the system does not stop completely; other processors continue working, so the system only slows down instead of failing entirely.</a:t>
            </a:r>
          </a:p>
        </p:txBody>
      </p:sp>
      <p:sp>
        <p:nvSpPr>
          <p:cNvPr id="5" name="TextBox 4">
            <a:extLst>
              <a:ext uri="{FF2B5EF4-FFF2-40B4-BE49-F238E27FC236}">
                <a16:creationId xmlns:a16="http://schemas.microsoft.com/office/drawing/2014/main" id="{78BC9F12-F039-20A0-0D54-4B36AAAAB12F}"/>
              </a:ext>
            </a:extLst>
          </p:cNvPr>
          <p:cNvSpPr txBox="1"/>
          <p:nvPr/>
        </p:nvSpPr>
        <p:spPr>
          <a:xfrm>
            <a:off x="688157" y="829559"/>
            <a:ext cx="8610600" cy="523220"/>
          </a:xfrm>
          <a:prstGeom prst="rect">
            <a:avLst/>
          </a:prstGeom>
          <a:noFill/>
        </p:spPr>
        <p:txBody>
          <a:bodyPr wrap="square" rtlCol="0">
            <a:spAutoFit/>
          </a:bodyPr>
          <a:lstStyle/>
          <a:p>
            <a:r>
              <a:rPr lang="en-US" sz="2800" dirty="0"/>
              <a:t>Advantages of Multiprocessor Systems</a:t>
            </a:r>
          </a:p>
        </p:txBody>
      </p:sp>
    </p:spTree>
    <p:extLst>
      <p:ext uri="{BB962C8B-B14F-4D97-AF65-F5344CB8AC3E}">
        <p14:creationId xmlns:p14="http://schemas.microsoft.com/office/powerpoint/2010/main" val="21571996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158F274-3101-981D-3C5D-2C0A1CD3D70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CF5671EC-6486-67C4-C77A-475CACC0A0D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F4A46817-5340-8D9A-9FBD-B028AC87AA1D}"/>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21E0E772-45CA-8255-5CA8-A6B2E0D3D6F2}"/>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EF2FE633-A54C-6E6D-FA71-E785D85A62C5}"/>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70876DAB-C0B9-CEAC-A6B8-13B0506CD902}"/>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782684FF-B0E8-5FA1-98AF-03D3278BFE75}"/>
              </a:ext>
            </a:extLst>
          </p:cNvPr>
          <p:cNvPicPr>
            <a:picLocks noChangeAspect="1"/>
          </p:cNvPicPr>
          <p:nvPr/>
        </p:nvPicPr>
        <p:blipFill>
          <a:blip r:embed="rId3"/>
          <a:stretch>
            <a:fillRect/>
          </a:stretch>
        </p:blipFill>
        <p:spPr>
          <a:xfrm>
            <a:off x="2281287" y="1780944"/>
            <a:ext cx="6834559" cy="3729901"/>
          </a:xfrm>
          <a:prstGeom prst="rect">
            <a:avLst/>
          </a:prstGeom>
        </p:spPr>
      </p:pic>
    </p:spTree>
    <p:extLst>
      <p:ext uri="{BB962C8B-B14F-4D97-AF65-F5344CB8AC3E}">
        <p14:creationId xmlns:p14="http://schemas.microsoft.com/office/powerpoint/2010/main" val="3646595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8E32711-3E2F-0911-8169-7C21BE0873E0}"/>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A5AB561-72AF-3C8D-BD9C-6BF5AD323D4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E0128417-3B13-CC7D-4D6D-23D3AD8B5C88}"/>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43E46FE-AAD5-1424-6168-3847FF31BE58}"/>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14EFA78-E852-01DD-2B04-4469C6ED944D}"/>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30D0A2D0-83A6-E939-C538-EAA7E40ABFBD}"/>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80CF6558-2E61-948F-68CE-4E592EC8C850}"/>
              </a:ext>
            </a:extLst>
          </p:cNvPr>
          <p:cNvSpPr txBox="1"/>
          <p:nvPr/>
        </p:nvSpPr>
        <p:spPr>
          <a:xfrm>
            <a:off x="76200" y="914400"/>
            <a:ext cx="12405674" cy="4001095"/>
          </a:xfrm>
          <a:prstGeom prst="rect">
            <a:avLst/>
          </a:prstGeom>
          <a:noFill/>
        </p:spPr>
        <p:txBody>
          <a:bodyPr wrap="square" rtlCol="0">
            <a:spAutoFit/>
          </a:bodyPr>
          <a:lstStyle/>
          <a:p>
            <a:pPr marL="342900" indent="-342900">
              <a:buFont typeface="Wingdings" panose="05000000000000000000" pitchFamily="2" charset="2"/>
              <a:buChar char="ü"/>
            </a:pPr>
            <a:r>
              <a:rPr lang="en-US" sz="2000" b="1" dirty="0"/>
              <a:t>Multicore Systems</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Most CPU design now includes multiple computing cores on a single chip. Such multiprocessor systems are termed multicore.</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Multicore systems can be more efficient than multiple chips with single cores because:</a:t>
            </a:r>
          </a:p>
          <a:p>
            <a:pPr marL="342900" indent="-342900">
              <a:buFont typeface="Wingdings" panose="05000000000000000000" pitchFamily="2" charset="2"/>
              <a:buChar char="ü"/>
            </a:pPr>
            <a:endParaRPr lang="en-US" sz="2000" dirty="0"/>
          </a:p>
          <a:p>
            <a:r>
              <a:rPr lang="en-US" sz="2000" dirty="0"/>
              <a:t>        ** On-chip communication is faster than between-chip communication</a:t>
            </a:r>
          </a:p>
          <a:p>
            <a:r>
              <a:rPr lang="en-US" sz="2000" dirty="0"/>
              <a:t>        ** One chip with multiple cores uses significantly less power than multiple single core chips, an important issue for laptops as well as mobile devices.</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Note– While multicore systems are multiprocessor systems, not all multiprocessor systems are multicore.</a:t>
            </a:r>
          </a:p>
          <a:p>
            <a:endParaRPr lang="en-US" dirty="0"/>
          </a:p>
        </p:txBody>
      </p:sp>
    </p:spTree>
    <p:extLst>
      <p:ext uri="{BB962C8B-B14F-4D97-AF65-F5344CB8AC3E}">
        <p14:creationId xmlns:p14="http://schemas.microsoft.com/office/powerpoint/2010/main" val="2569080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ED39C5AD-B2E9-C45D-2256-BF658B55B759}"/>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3E457350-C4F2-93EB-5C5A-92604FBE4079}"/>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324C1E99-F4BC-F6D5-379E-3697B0CD7172}"/>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1DBCD3E-F36C-417A-26D4-4AA1E0E5A71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7B0A128B-89BB-DD7F-32CD-54C473DAF2B5}"/>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0F729FEE-C6D7-AEC5-A5BD-2E8562BD1E96}"/>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9D8A4743-A810-9421-1822-E66C082590C2}"/>
              </a:ext>
            </a:extLst>
          </p:cNvPr>
          <p:cNvPicPr>
            <a:picLocks noChangeAspect="1"/>
          </p:cNvPicPr>
          <p:nvPr/>
        </p:nvPicPr>
        <p:blipFill>
          <a:blip r:embed="rId3"/>
          <a:stretch>
            <a:fillRect/>
          </a:stretch>
        </p:blipFill>
        <p:spPr>
          <a:xfrm>
            <a:off x="1752601" y="1342734"/>
            <a:ext cx="8034852" cy="4172532"/>
          </a:xfrm>
          <a:prstGeom prst="rect">
            <a:avLst/>
          </a:prstGeom>
        </p:spPr>
      </p:pic>
    </p:spTree>
    <p:extLst>
      <p:ext uri="{BB962C8B-B14F-4D97-AF65-F5344CB8AC3E}">
        <p14:creationId xmlns:p14="http://schemas.microsoft.com/office/powerpoint/2010/main" val="3292552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DB66D28E-204E-C73A-393D-AEAA4E0CCC6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5BDC61DD-0C64-42C2-2C05-90DE505922D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9" name="Google Shape;29;p5">
            <a:extLst>
              <a:ext uri="{FF2B5EF4-FFF2-40B4-BE49-F238E27FC236}">
                <a16:creationId xmlns:a16="http://schemas.microsoft.com/office/drawing/2014/main" id="{397F0604-BFF2-D3B3-65E7-F64E9DCBE0B6}"/>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5316E25D-F745-E086-8898-E0DC7515CD4F}"/>
              </a:ext>
            </a:extLst>
          </p:cNvPr>
          <p:cNvSpPr txBox="1"/>
          <p:nvPr/>
        </p:nvSpPr>
        <p:spPr>
          <a:xfrm>
            <a:off x="95865" y="501445"/>
            <a:ext cx="11928987" cy="4114800"/>
          </a:xfrm>
          <a:prstGeom prst="rect">
            <a:avLst/>
          </a:prstGeom>
          <a:noFill/>
          <a:ln>
            <a:noFill/>
          </a:ln>
        </p:spPr>
        <p:txBody>
          <a:bodyPr spcFirstLastPara="1" wrap="square" lIns="91425" tIns="45700" rIns="91425" bIns="45700" anchor="t" anchorCtr="0">
            <a:noAutofit/>
          </a:bodyPr>
          <a:lstStyle/>
          <a:p>
            <a:pPr marL="342900" lvl="0" indent="-139700" algn="just">
              <a:buClr>
                <a:schemeClr val="dk1"/>
              </a:buClr>
              <a:buSzPts val="3200"/>
            </a:pPr>
            <a:r>
              <a:rPr lang="en-US" sz="2800" b="1" dirty="0">
                <a:solidFill>
                  <a:schemeClr val="dk1"/>
                </a:solidFill>
                <a:latin typeface="Calibri"/>
                <a:ea typeface="Calibri"/>
                <a:cs typeface="Calibri"/>
                <a:sym typeface="Calibri"/>
              </a:rPr>
              <a:t>Clustered Systems:</a:t>
            </a:r>
          </a:p>
          <a:p>
            <a:pPr marL="342900" lvl="0" indent="-139700" algn="just">
              <a:buClr>
                <a:schemeClr val="dk1"/>
              </a:buClr>
              <a:buSzPts val="3200"/>
            </a:pPr>
            <a:endParaRPr lang="en-US" sz="2800" b="1" dirty="0">
              <a:solidFill>
                <a:schemeClr val="dk1"/>
              </a:solidFill>
              <a:latin typeface="Calibri"/>
              <a:ea typeface="Calibri"/>
              <a:cs typeface="Calibri"/>
              <a:sym typeface="Calibri"/>
            </a:endParaRPr>
          </a:p>
          <a:p>
            <a:pPr marL="546100" lvl="0" indent="-342900" algn="just">
              <a:buClr>
                <a:schemeClr val="dk1"/>
              </a:buClr>
              <a:buSzPts val="3200"/>
              <a:buFont typeface="Wingdings" panose="05000000000000000000" pitchFamily="2" charset="2"/>
              <a:buChar char="ü"/>
            </a:pPr>
            <a:r>
              <a:rPr lang="en-US" sz="2400" b="1" dirty="0">
                <a:solidFill>
                  <a:schemeClr val="dk1"/>
                </a:solidFill>
                <a:latin typeface="Calibri"/>
                <a:ea typeface="Calibri"/>
                <a:cs typeface="Calibri"/>
                <a:sym typeface="Calibri"/>
              </a:rPr>
              <a:t>Multiple Systems Working Together</a:t>
            </a:r>
          </a:p>
          <a:p>
            <a:pPr marL="342900" lvl="0" indent="-139700" algn="just">
              <a:buClr>
                <a:schemeClr val="dk1"/>
              </a:buClr>
              <a:buSzPts val="3200"/>
            </a:pPr>
            <a:r>
              <a:rPr lang="en-US" sz="2400" dirty="0">
                <a:solidFill>
                  <a:schemeClr val="dk1"/>
                </a:solidFill>
                <a:latin typeface="Calibri"/>
                <a:ea typeface="Calibri"/>
                <a:cs typeface="Calibri"/>
                <a:sym typeface="Calibri"/>
              </a:rPr>
              <a:t>A cluster consists of several independent computers connected through a network. They cooperate to provide services as if they were one system.</a:t>
            </a:r>
          </a:p>
          <a:p>
            <a:pPr marL="546100" lvl="0" indent="-342900" algn="just">
              <a:buClr>
                <a:schemeClr val="dk1"/>
              </a:buClr>
              <a:buSzPts val="3200"/>
              <a:buFont typeface="Wingdings" panose="05000000000000000000" pitchFamily="2" charset="2"/>
              <a:buChar char="ü"/>
            </a:pPr>
            <a:r>
              <a:rPr lang="en-US" sz="2400" b="1" dirty="0">
                <a:solidFill>
                  <a:schemeClr val="dk1"/>
                </a:solidFill>
                <a:latin typeface="Calibri"/>
                <a:ea typeface="Calibri"/>
                <a:cs typeface="Calibri"/>
                <a:sym typeface="Calibri"/>
              </a:rPr>
              <a:t>High Availability (Fault Tolerance)</a:t>
            </a:r>
          </a:p>
          <a:p>
            <a:pPr marL="342900" lvl="0" indent="-139700" algn="just">
              <a:buClr>
                <a:schemeClr val="dk1"/>
              </a:buClr>
              <a:buSzPts val="3200"/>
            </a:pPr>
            <a:r>
              <a:rPr lang="en-US" sz="2400" dirty="0">
                <a:solidFill>
                  <a:schemeClr val="dk1"/>
                </a:solidFill>
                <a:latin typeface="Calibri"/>
                <a:ea typeface="Calibri"/>
                <a:cs typeface="Calibri"/>
                <a:sym typeface="Calibri"/>
              </a:rPr>
              <a:t>Clusters improve reliability. If one node fails, another can take over.</a:t>
            </a:r>
          </a:p>
          <a:p>
            <a:pPr marL="342900" lvl="0" indent="-139700" algn="just">
              <a:buClr>
                <a:schemeClr val="dk1"/>
              </a:buClr>
              <a:buSzPts val="3200"/>
            </a:pPr>
            <a:r>
              <a:rPr lang="en-US" sz="2400" dirty="0">
                <a:solidFill>
                  <a:schemeClr val="dk1"/>
                </a:solidFill>
                <a:latin typeface="Calibri"/>
                <a:ea typeface="Calibri"/>
                <a:cs typeface="Calibri"/>
                <a:sym typeface="Calibri"/>
              </a:rPr>
              <a:t>Asymmetric clustering: One node runs the application, another stays in hot standby.</a:t>
            </a:r>
          </a:p>
          <a:p>
            <a:pPr marL="342900" lvl="0" indent="-139700" algn="just">
              <a:buClr>
                <a:schemeClr val="dk1"/>
              </a:buClr>
              <a:buSzPts val="3200"/>
            </a:pPr>
            <a:r>
              <a:rPr lang="en-US" sz="2400" dirty="0">
                <a:solidFill>
                  <a:schemeClr val="dk1"/>
                </a:solidFill>
                <a:latin typeface="Calibri"/>
                <a:ea typeface="Calibri"/>
                <a:cs typeface="Calibri"/>
                <a:sym typeface="Calibri"/>
              </a:rPr>
              <a:t>Symmetric clustering: All nodes run applications and monitor each other.</a:t>
            </a:r>
          </a:p>
          <a:p>
            <a:pPr marL="546100" lvl="0" indent="-342900" algn="just">
              <a:buClr>
                <a:schemeClr val="dk1"/>
              </a:buClr>
              <a:buSzPts val="3200"/>
              <a:buFont typeface="Wingdings" panose="05000000000000000000" pitchFamily="2" charset="2"/>
              <a:buChar char="ü"/>
            </a:pPr>
            <a:r>
              <a:rPr lang="en-US" sz="2400" b="1" dirty="0">
                <a:solidFill>
                  <a:schemeClr val="dk1"/>
                </a:solidFill>
                <a:latin typeface="Calibri"/>
                <a:ea typeface="Calibri"/>
                <a:cs typeface="Calibri"/>
                <a:sym typeface="Calibri"/>
              </a:rPr>
              <a:t>Shared Storage (SAN)</a:t>
            </a:r>
          </a:p>
          <a:p>
            <a:pPr marL="342900" lvl="0" indent="-139700" algn="just">
              <a:buClr>
                <a:schemeClr val="dk1"/>
              </a:buClr>
              <a:buSzPts val="3200"/>
            </a:pPr>
            <a:r>
              <a:rPr lang="en-US" sz="2400" dirty="0">
                <a:solidFill>
                  <a:schemeClr val="dk1"/>
                </a:solidFill>
                <a:latin typeface="Calibri"/>
                <a:ea typeface="Calibri"/>
                <a:cs typeface="Calibri"/>
                <a:sym typeface="Calibri"/>
              </a:rPr>
              <a:t>Nodes usually share data using a Storage Area Network (SAN), allowing all machines in the cluster to access the same storage resources.</a:t>
            </a:r>
          </a:p>
          <a:p>
            <a:pPr marL="546100" lvl="0" indent="-342900" algn="just">
              <a:buClr>
                <a:schemeClr val="dk1"/>
              </a:buClr>
              <a:buSzPts val="3200"/>
              <a:buFont typeface="Wingdings" panose="05000000000000000000" pitchFamily="2" charset="2"/>
              <a:buChar char="ü"/>
            </a:pPr>
            <a:r>
              <a:rPr lang="en-US" sz="2400" b="1" dirty="0">
                <a:solidFill>
                  <a:schemeClr val="dk1"/>
                </a:solidFill>
                <a:latin typeface="Calibri"/>
                <a:ea typeface="Calibri"/>
                <a:cs typeface="Calibri"/>
                <a:sym typeface="Calibri"/>
              </a:rPr>
              <a:t>Performance and Coordination</a:t>
            </a:r>
          </a:p>
          <a:p>
            <a:pPr marL="342900" lvl="0" indent="-139700" algn="just">
              <a:buClr>
                <a:schemeClr val="dk1"/>
              </a:buClr>
              <a:buSzPts val="3200"/>
            </a:pPr>
            <a:r>
              <a:rPr lang="en-US" sz="2400" dirty="0">
                <a:solidFill>
                  <a:schemeClr val="dk1"/>
                </a:solidFill>
                <a:latin typeface="Calibri"/>
                <a:ea typeface="Calibri"/>
                <a:cs typeface="Calibri"/>
                <a:sym typeface="Calibri"/>
              </a:rPr>
              <a:t>Some clusters are built for High-Performance Computing (HPC), where tasks are divided and run in parallel.</a:t>
            </a:r>
          </a:p>
          <a:p>
            <a:pPr marL="546100" lvl="0" indent="-342900" algn="just">
              <a:buClr>
                <a:schemeClr val="dk1"/>
              </a:buClr>
              <a:buSzPts val="3200"/>
              <a:buFont typeface="Wingdings" panose="05000000000000000000" pitchFamily="2" charset="2"/>
              <a:buChar char="ü"/>
            </a:pPr>
            <a:r>
              <a:rPr lang="en-US" sz="2400" b="1" dirty="0">
                <a:solidFill>
                  <a:schemeClr val="dk1"/>
                </a:solidFill>
                <a:latin typeface="Calibri"/>
                <a:ea typeface="Calibri"/>
                <a:cs typeface="Calibri"/>
                <a:sym typeface="Calibri"/>
              </a:rPr>
              <a:t>A Distributed Lock Manager (DLM) may be used to prevent conflicts when multiple nodes access shared data</a:t>
            </a:r>
            <a:endParaRPr sz="2400" b="1" i="0" u="none" strike="noStrike" cap="none" dirty="0">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C0FCC19-8F83-6713-70DC-1DB2850D01DB}"/>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81495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950F85CB-0470-1613-46D6-144C58A59C31}"/>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9736D5C4-D084-67E3-D647-096628748F41}"/>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1E63B6B8-C660-6EFB-D357-92489D884094}"/>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25C4394-7C6E-1FBD-2557-3A837E90A89D}"/>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Computer System Architecture</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9144B33F-0915-9873-6501-68A876FA99DE}"/>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398A3843-30B4-B203-23D0-417355FE1A24}"/>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B97F7627-C6BB-9B31-B3F1-53505A9DA974}"/>
              </a:ext>
            </a:extLst>
          </p:cNvPr>
          <p:cNvPicPr>
            <a:picLocks noChangeAspect="1"/>
          </p:cNvPicPr>
          <p:nvPr/>
        </p:nvPicPr>
        <p:blipFill>
          <a:blip r:embed="rId3"/>
          <a:stretch>
            <a:fillRect/>
          </a:stretch>
        </p:blipFill>
        <p:spPr>
          <a:xfrm>
            <a:off x="1551941" y="1657102"/>
            <a:ext cx="9088118" cy="3543795"/>
          </a:xfrm>
          <a:prstGeom prst="rect">
            <a:avLst/>
          </a:prstGeom>
        </p:spPr>
      </p:pic>
    </p:spTree>
    <p:extLst>
      <p:ext uri="{BB962C8B-B14F-4D97-AF65-F5344CB8AC3E}">
        <p14:creationId xmlns:p14="http://schemas.microsoft.com/office/powerpoint/2010/main" val="3399313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F675AACF-EDEB-E4F8-E4B2-DEF73BE3F61F}"/>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BC102D76-2065-1BC8-5215-1D5E28765092}"/>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6BD0FA49-3E8E-0EE2-3D9A-A79C35ABA6F8}"/>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58B244C8-9040-0085-1C3C-20FDED16507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Operating System Structures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459BB756-27A7-D5C5-81A6-63AF71DF0677}"/>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8EA9A3D3-FED0-AF74-5953-C49AA838C6BD}"/>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5" name="Picture 4">
            <a:extLst>
              <a:ext uri="{FF2B5EF4-FFF2-40B4-BE49-F238E27FC236}">
                <a16:creationId xmlns:a16="http://schemas.microsoft.com/office/drawing/2014/main" id="{5C3EAFDC-A413-7BF5-140E-CE32217DB43B}"/>
              </a:ext>
            </a:extLst>
          </p:cNvPr>
          <p:cNvPicPr>
            <a:picLocks noChangeAspect="1"/>
          </p:cNvPicPr>
          <p:nvPr/>
        </p:nvPicPr>
        <p:blipFill>
          <a:blip r:embed="rId3"/>
          <a:stretch>
            <a:fillRect/>
          </a:stretch>
        </p:blipFill>
        <p:spPr>
          <a:xfrm>
            <a:off x="0" y="947391"/>
            <a:ext cx="10230427" cy="4963218"/>
          </a:xfrm>
          <a:prstGeom prst="rect">
            <a:avLst/>
          </a:prstGeom>
        </p:spPr>
      </p:pic>
    </p:spTree>
    <p:extLst>
      <p:ext uri="{BB962C8B-B14F-4D97-AF65-F5344CB8AC3E}">
        <p14:creationId xmlns:p14="http://schemas.microsoft.com/office/powerpoint/2010/main" val="1895596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AEC84092-DA39-B12D-B0E1-AC70E475719B}"/>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F273940D-F2AC-74BB-E92E-F1B6CE00F8FE}"/>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21BC9EE0-0009-ED4F-8DFC-81623238E9B8}"/>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5E4B80EC-2A77-9C47-BCFF-32FC445A0120}"/>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Operating System Structures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5E56218B-CE65-1E5E-D17A-10875F78F550}"/>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2E40E112-CE1B-4CB8-846F-9CC94AD6CE38}"/>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D6E07305-BFD6-9462-29A0-5DCE74003643}"/>
              </a:ext>
            </a:extLst>
          </p:cNvPr>
          <p:cNvPicPr>
            <a:picLocks noChangeAspect="1"/>
          </p:cNvPicPr>
          <p:nvPr/>
        </p:nvPicPr>
        <p:blipFill>
          <a:blip r:embed="rId3"/>
          <a:stretch>
            <a:fillRect/>
          </a:stretch>
        </p:blipFill>
        <p:spPr>
          <a:xfrm>
            <a:off x="2590311" y="1266523"/>
            <a:ext cx="7011378" cy="4324954"/>
          </a:xfrm>
          <a:prstGeom prst="rect">
            <a:avLst/>
          </a:prstGeom>
        </p:spPr>
      </p:pic>
    </p:spTree>
    <p:extLst>
      <p:ext uri="{BB962C8B-B14F-4D97-AF65-F5344CB8AC3E}">
        <p14:creationId xmlns:p14="http://schemas.microsoft.com/office/powerpoint/2010/main" val="14558767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6BD28D5B-17D3-C0CD-02D0-08F4EA6466D7}"/>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72E373DE-FBD8-26F1-FFEF-8153285B591C}"/>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AB009400-20DF-BF2A-B00D-AF08F752F1B7}"/>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3835EBD-87E5-5BE5-A076-E3B82CB3988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Operating System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0496308F-7680-6B47-3CD0-403AEA755AC2}"/>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3284E5D1-A0E5-A444-EF06-BDDE631350F1}"/>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EBBA8586-24E9-1089-C009-5C4C203E7B1E}"/>
              </a:ext>
            </a:extLst>
          </p:cNvPr>
          <p:cNvSpPr txBox="1"/>
          <p:nvPr/>
        </p:nvSpPr>
        <p:spPr>
          <a:xfrm>
            <a:off x="1065228" y="820132"/>
            <a:ext cx="11050571" cy="5416868"/>
          </a:xfrm>
          <a:prstGeom prst="rect">
            <a:avLst/>
          </a:prstGeom>
          <a:noFill/>
        </p:spPr>
        <p:txBody>
          <a:bodyPr wrap="square" rtlCol="0">
            <a:spAutoFit/>
          </a:bodyPr>
          <a:lstStyle/>
          <a:p>
            <a:r>
              <a:rPr lang="en-US" sz="2000" b="1" dirty="0"/>
              <a:t>Modes of operation</a:t>
            </a:r>
          </a:p>
          <a:p>
            <a:endParaRPr lang="en-US" dirty="0"/>
          </a:p>
          <a:p>
            <a:r>
              <a:rPr lang="en-US" sz="1800" dirty="0"/>
              <a:t>A mechanism that allows the OS to protect itself and other system components</a:t>
            </a:r>
          </a:p>
          <a:p>
            <a:endParaRPr lang="en-US" dirty="0"/>
          </a:p>
          <a:p>
            <a:r>
              <a:rPr lang="en-US" sz="1800" b="1" dirty="0"/>
              <a:t>Two Modes:</a:t>
            </a:r>
          </a:p>
          <a:p>
            <a:endParaRPr lang="en-US" dirty="0"/>
          </a:p>
          <a:p>
            <a:pPr marL="285750" indent="-285750">
              <a:buFont typeface="Wingdings" panose="05000000000000000000" pitchFamily="2" charset="2"/>
              <a:buChar char="ü"/>
            </a:pPr>
            <a:r>
              <a:rPr lang="en-US" sz="1800" dirty="0"/>
              <a:t>User Mode</a:t>
            </a:r>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dirty="0"/>
              <a:t>Kernel Mode</a:t>
            </a:r>
          </a:p>
          <a:p>
            <a:endParaRPr lang="en-US" dirty="0"/>
          </a:p>
          <a:p>
            <a:r>
              <a:rPr lang="en-US" sz="2000" b="1" dirty="0"/>
              <a:t>Mode bit(0 0r 1 ) provided by hardware</a:t>
            </a:r>
          </a:p>
          <a:p>
            <a:endParaRPr lang="en-US" sz="2000" b="1" dirty="0"/>
          </a:p>
          <a:p>
            <a:pPr marL="342900" indent="-342900">
              <a:buFont typeface="Wingdings" panose="05000000000000000000" pitchFamily="2" charset="2"/>
              <a:buChar char="ü"/>
            </a:pPr>
            <a:r>
              <a:rPr lang="en-US" sz="2000" dirty="0"/>
              <a:t>Provides ability to distinguish when system is running user code or kernel code.</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Some instructions designated as privileges, only executable in kernel mode.</a:t>
            </a:r>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System call by a user asking the OS to perform some function changes from user mode to kernel mode.</a:t>
            </a:r>
          </a:p>
          <a:p>
            <a:pPr marL="342900" indent="-342900">
              <a:buFont typeface="Wingdings" panose="05000000000000000000" pitchFamily="2" charset="2"/>
              <a:buChar char="ü"/>
            </a:pPr>
            <a:r>
              <a:rPr lang="en-US" sz="2000" dirty="0"/>
              <a:t>Return from a system call resets the mode to user mode.</a:t>
            </a:r>
          </a:p>
        </p:txBody>
      </p:sp>
    </p:spTree>
    <p:extLst>
      <p:ext uri="{BB962C8B-B14F-4D97-AF65-F5344CB8AC3E}">
        <p14:creationId xmlns:p14="http://schemas.microsoft.com/office/powerpoint/2010/main" val="952154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59126E99-3EB7-6C9F-43D9-9DDBEC5A234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632D6D4B-F205-ABBC-3C19-8DFF97F37096}"/>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B932BB7F-E42E-C9F2-0A28-ECFBA27AC4BB}"/>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D067806C-8598-F888-1BFF-89E501FEF5E7}"/>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Dual mode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0537890C-7DC7-6762-3E60-228D554730A8}"/>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2262F883-83B5-5578-B4D8-00FBEA9C3D1C}"/>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97164A21-98DD-DDFC-D249-C2FB9A9F1A15}"/>
              </a:ext>
            </a:extLst>
          </p:cNvPr>
          <p:cNvPicPr>
            <a:picLocks noChangeAspect="1"/>
          </p:cNvPicPr>
          <p:nvPr/>
        </p:nvPicPr>
        <p:blipFill>
          <a:blip r:embed="rId3"/>
          <a:stretch>
            <a:fillRect/>
          </a:stretch>
        </p:blipFill>
        <p:spPr>
          <a:xfrm>
            <a:off x="1234911" y="966444"/>
            <a:ext cx="8771647" cy="4925112"/>
          </a:xfrm>
          <a:prstGeom prst="rect">
            <a:avLst/>
          </a:prstGeom>
        </p:spPr>
      </p:pic>
    </p:spTree>
    <p:extLst>
      <p:ext uri="{BB962C8B-B14F-4D97-AF65-F5344CB8AC3E}">
        <p14:creationId xmlns:p14="http://schemas.microsoft.com/office/powerpoint/2010/main" val="22072012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2ED6F7EE-3850-A670-D7CB-E03C9B6CDF52}"/>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8DC3E2D3-D3C0-757E-650A-B6847343072B}"/>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AD285D64-6211-F121-8576-9273987015AC}"/>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BE2787DD-836F-007B-0DBC-9F32117B7E65}"/>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Operating System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4457B1A0-81E8-F0FB-1435-D15D0F632F0A}"/>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4422564C-067D-2EC1-49D6-D46C96EBF1A7}"/>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2B0A3C24-A92B-6F71-515D-9B76EBA49673}"/>
              </a:ext>
            </a:extLst>
          </p:cNvPr>
          <p:cNvPicPr>
            <a:picLocks noChangeAspect="1"/>
          </p:cNvPicPr>
          <p:nvPr/>
        </p:nvPicPr>
        <p:blipFill>
          <a:blip r:embed="rId3"/>
          <a:stretch>
            <a:fillRect/>
          </a:stretch>
        </p:blipFill>
        <p:spPr>
          <a:xfrm>
            <a:off x="1709125" y="1638050"/>
            <a:ext cx="8773749" cy="3581900"/>
          </a:xfrm>
          <a:prstGeom prst="rect">
            <a:avLst/>
          </a:prstGeom>
        </p:spPr>
      </p:pic>
    </p:spTree>
    <p:extLst>
      <p:ext uri="{BB962C8B-B14F-4D97-AF65-F5344CB8AC3E}">
        <p14:creationId xmlns:p14="http://schemas.microsoft.com/office/powerpoint/2010/main" val="1103418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
          <a:extLst>
            <a:ext uri="{FF2B5EF4-FFF2-40B4-BE49-F238E27FC236}">
              <a16:creationId xmlns:a16="http://schemas.microsoft.com/office/drawing/2014/main" id="{19AEAF91-62D0-F3CE-3A7B-7DC5227FC638}"/>
            </a:ext>
          </a:extLst>
        </p:cNvPr>
        <p:cNvGrpSpPr/>
        <p:nvPr/>
      </p:nvGrpSpPr>
      <p:grpSpPr>
        <a:xfrm>
          <a:off x="0" y="0"/>
          <a:ext cx="0" cy="0"/>
          <a:chOff x="0" y="0"/>
          <a:chExt cx="0" cy="0"/>
        </a:xfrm>
      </p:grpSpPr>
      <p:sp>
        <p:nvSpPr>
          <p:cNvPr id="27" name="Google Shape;27;p5">
            <a:extLst>
              <a:ext uri="{FF2B5EF4-FFF2-40B4-BE49-F238E27FC236}">
                <a16:creationId xmlns:a16="http://schemas.microsoft.com/office/drawing/2014/main" id="{21DFC1AA-ECC6-66D7-ABA5-1B2BECEA9FAA}"/>
              </a:ext>
            </a:extLst>
          </p:cNvPr>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a:ea typeface="Arial"/>
              <a:cs typeface="Arial"/>
              <a:sym typeface="Arial"/>
            </a:endParaRPr>
          </a:p>
        </p:txBody>
      </p:sp>
      <p:sp>
        <p:nvSpPr>
          <p:cNvPr id="28" name="Google Shape;28;p5">
            <a:extLst>
              <a:ext uri="{FF2B5EF4-FFF2-40B4-BE49-F238E27FC236}">
                <a16:creationId xmlns:a16="http://schemas.microsoft.com/office/drawing/2014/main" id="{7383210B-4A68-C82A-E1F0-D8D0578CA31C}"/>
              </a:ext>
            </a:extLst>
          </p:cNvPr>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1144" marR="0" lvl="0" indent="0" algn="l" rtl="0">
              <a:lnSpc>
                <a:spcPct val="101725"/>
              </a:lnSpc>
              <a:spcBef>
                <a:spcPts val="0"/>
              </a:spcBef>
              <a:spcAft>
                <a:spcPts val="0"/>
              </a:spcAft>
              <a:buNone/>
            </a:pPr>
            <a:r>
              <a:rPr lang="en-US" sz="1800" b="0" i="0" u="none" strike="noStrike" cap="none">
                <a:solidFill>
                  <a:srgbClr val="FFFFFF"/>
                </a:solidFill>
                <a:latin typeface="Arial"/>
                <a:ea typeface="Arial"/>
                <a:cs typeface="Arial"/>
                <a:sym typeface="Arial"/>
              </a:rPr>
              <a:t>Dept. of  CSE(CS),  MSRIT                                                                                               </a:t>
            </a:r>
            <a:endParaRPr sz="1800" b="0" i="0" u="none" strike="noStrike" cap="none">
              <a:solidFill>
                <a:schemeClr val="dk1"/>
              </a:solidFill>
              <a:latin typeface="Arial"/>
              <a:ea typeface="Arial"/>
              <a:cs typeface="Arial"/>
              <a:sym typeface="Arial"/>
            </a:endParaRPr>
          </a:p>
          <a:p>
            <a:pPr marL="771144" marR="0" lvl="0" indent="0" algn="l" rtl="0">
              <a:lnSpc>
                <a:spcPct val="101725"/>
              </a:lnSpc>
              <a:spcBef>
                <a:spcPts val="335"/>
              </a:spcBef>
              <a:spcAft>
                <a:spcPts val="0"/>
              </a:spcAft>
              <a:buNone/>
            </a:pPr>
            <a:r>
              <a:rPr lang="en-US" sz="1800" b="0" i="0" u="none" strike="noStrike" cap="none">
                <a:solidFill>
                  <a:srgbClr val="FFFFFF"/>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p:txBody>
      </p:sp>
      <p:sp>
        <p:nvSpPr>
          <p:cNvPr id="29" name="Google Shape;29;p5">
            <a:extLst>
              <a:ext uri="{FF2B5EF4-FFF2-40B4-BE49-F238E27FC236}">
                <a16:creationId xmlns:a16="http://schemas.microsoft.com/office/drawing/2014/main" id="{AF9E6DE5-8D4C-DB4B-25FC-119077E6605C}"/>
              </a:ext>
            </a:extLst>
          </p:cNvPr>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r>
              <a:rPr lang="en-US" sz="3600" b="1" i="0" u="none" strike="noStrike" cap="none" dirty="0">
                <a:solidFill>
                  <a:schemeClr val="lt1"/>
                </a:solidFill>
                <a:latin typeface="Times New Roman"/>
                <a:ea typeface="Times New Roman"/>
                <a:cs typeface="Times New Roman"/>
                <a:sym typeface="Times New Roman"/>
              </a:rPr>
              <a:t> </a:t>
            </a:r>
            <a:r>
              <a:rPr lang="en-US" sz="3600" b="1" dirty="0">
                <a:solidFill>
                  <a:schemeClr val="lt1"/>
                </a:solidFill>
                <a:latin typeface="Times New Roman"/>
                <a:ea typeface="Times New Roman"/>
                <a:cs typeface="Times New Roman"/>
                <a:sym typeface="Times New Roman"/>
              </a:rPr>
              <a:t>Operating System Operations</a:t>
            </a:r>
            <a:endParaRPr sz="3600" b="1" i="0" u="none" strike="noStrike" cap="none" dirty="0">
              <a:solidFill>
                <a:schemeClr val="lt1"/>
              </a:solidFill>
              <a:latin typeface="Times New Roman"/>
              <a:ea typeface="Times New Roman"/>
              <a:cs typeface="Times New Roman"/>
              <a:sym typeface="Times New Roman"/>
            </a:endParaRPr>
          </a:p>
        </p:txBody>
      </p:sp>
      <p:sp>
        <p:nvSpPr>
          <p:cNvPr id="30" name="Google Shape;30;p5">
            <a:extLst>
              <a:ext uri="{FF2B5EF4-FFF2-40B4-BE49-F238E27FC236}">
                <a16:creationId xmlns:a16="http://schemas.microsoft.com/office/drawing/2014/main" id="{6D8DC04B-762C-D6D5-8C76-F210929EEDE1}"/>
              </a:ext>
            </a:extLst>
          </p:cNvPr>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p:txBody>
      </p:sp>
      <p:sp>
        <p:nvSpPr>
          <p:cNvPr id="31" name="Google Shape;31;p5">
            <a:extLst>
              <a:ext uri="{FF2B5EF4-FFF2-40B4-BE49-F238E27FC236}">
                <a16:creationId xmlns:a16="http://schemas.microsoft.com/office/drawing/2014/main" id="{62DF0EC3-CAD7-9157-5301-9F5DD807159A}"/>
              </a:ext>
            </a:extLst>
          </p:cNvPr>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D935B5A6-A44F-7295-F937-A4BC256D326E}"/>
              </a:ext>
            </a:extLst>
          </p:cNvPr>
          <p:cNvSpPr txBox="1"/>
          <p:nvPr/>
        </p:nvSpPr>
        <p:spPr>
          <a:xfrm>
            <a:off x="565608" y="757535"/>
            <a:ext cx="3893270" cy="461665"/>
          </a:xfrm>
          <a:prstGeom prst="rect">
            <a:avLst/>
          </a:prstGeom>
          <a:noFill/>
        </p:spPr>
        <p:txBody>
          <a:bodyPr wrap="square" rtlCol="0">
            <a:spAutoFit/>
          </a:bodyPr>
          <a:lstStyle/>
          <a:p>
            <a:r>
              <a:rPr lang="en-US" sz="2400" b="1" dirty="0"/>
              <a:t>Timer:</a:t>
            </a:r>
          </a:p>
        </p:txBody>
      </p:sp>
      <p:sp>
        <p:nvSpPr>
          <p:cNvPr id="3" name="TextBox 2">
            <a:extLst>
              <a:ext uri="{FF2B5EF4-FFF2-40B4-BE49-F238E27FC236}">
                <a16:creationId xmlns:a16="http://schemas.microsoft.com/office/drawing/2014/main" id="{A8D295C8-B0CE-B0AF-9482-EB245ED88BCF}"/>
              </a:ext>
            </a:extLst>
          </p:cNvPr>
          <p:cNvSpPr txBox="1"/>
          <p:nvPr/>
        </p:nvSpPr>
        <p:spPr>
          <a:xfrm>
            <a:off x="989813" y="1436132"/>
            <a:ext cx="10246937" cy="4985980"/>
          </a:xfrm>
          <a:prstGeom prst="rect">
            <a:avLst/>
          </a:prstGeom>
          <a:noFill/>
        </p:spPr>
        <p:txBody>
          <a:bodyPr wrap="square" rtlCol="0">
            <a:spAutoFit/>
          </a:bodyPr>
          <a:lstStyle/>
          <a:p>
            <a:r>
              <a:rPr lang="en-US" sz="2000" dirty="0"/>
              <a:t>To prevent process to be in infinite loop(process hogging resources), a timer is used, which is a hardware device.</a:t>
            </a:r>
          </a:p>
          <a:p>
            <a:endParaRPr lang="en-US" b="1" dirty="0"/>
          </a:p>
          <a:p>
            <a:pPr marL="342900" indent="-342900">
              <a:buFont typeface="Wingdings" panose="05000000000000000000" pitchFamily="2" charset="2"/>
              <a:buChar char="ü"/>
            </a:pPr>
            <a:r>
              <a:rPr lang="en-US" sz="2400" b="1" dirty="0"/>
              <a:t>Timer is a counter that is decremented by the physical clock.</a:t>
            </a:r>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Timer is set to interrupt the computer after some time period.</a:t>
            </a:r>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Operating system sets the counter(privileged instruction)</a:t>
            </a:r>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When counter reaches the value zero and interrupt is generated.</a:t>
            </a:r>
          </a:p>
          <a:p>
            <a:pPr marL="342900" indent="-342900">
              <a:buFont typeface="Wingdings" panose="05000000000000000000" pitchFamily="2" charset="2"/>
              <a:buChar char="ü"/>
            </a:pPr>
            <a:endParaRPr lang="en-US" sz="2400" b="1" dirty="0"/>
          </a:p>
          <a:p>
            <a:pPr marL="342900" indent="-342900">
              <a:buFont typeface="Wingdings" panose="05000000000000000000" pitchFamily="2" charset="2"/>
              <a:buChar char="ü"/>
            </a:pPr>
            <a:r>
              <a:rPr lang="en-US" sz="2400" b="1" dirty="0"/>
              <a:t>The OS sets up the value of the counter before scheduling a process to regain control or terminate program that exceeds allotted time.</a:t>
            </a:r>
          </a:p>
        </p:txBody>
      </p:sp>
    </p:spTree>
    <p:extLst>
      <p:ext uri="{BB962C8B-B14F-4D97-AF65-F5344CB8AC3E}">
        <p14:creationId xmlns:p14="http://schemas.microsoft.com/office/powerpoint/2010/main" val="274999540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4978</TotalTime>
  <Words>3433</Words>
  <Application>Microsoft Office PowerPoint</Application>
  <PresentationFormat>Widescreen</PresentationFormat>
  <Paragraphs>437</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Shubha Malige</dc:creator>
  <cp:lastModifiedBy>mukulprasad958@gmail.com</cp:lastModifiedBy>
  <cp:revision>64</cp:revision>
  <dcterms:modified xsi:type="dcterms:W3CDTF">2026-03-25T10:44:50Z</dcterms:modified>
</cp:coreProperties>
</file>