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63" r:id="rId17"/>
    <p:sldId id="257" r:id="rId18"/>
    <p:sldId id="258" r:id="rId19"/>
    <p:sldId id="262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5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7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4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29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17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5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4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96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0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1E642-76F2-49D9-AD38-5F2E8C169DDF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98C12-091B-47C8-AC14-C64B4FCA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Communicative English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Verbals - Gerunds, infinitives and participles </a:t>
            </a:r>
          </a:p>
        </p:txBody>
      </p:sp>
    </p:spTree>
    <p:extLst>
      <p:ext uri="{BB962C8B-B14F-4D97-AF65-F5344CB8AC3E}">
        <p14:creationId xmlns:p14="http://schemas.microsoft.com/office/powerpoint/2010/main" val="44306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What is a Verbal?</a:t>
            </a:r>
            <a:br>
              <a:rPr lang="en-US" b="1" dirty="0"/>
            </a:br>
            <a:r>
              <a:rPr lang="en-US" sz="1600" dirty="0"/>
              <a:t> 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 </a:t>
            </a:r>
            <a:br>
              <a:rPr lang="en-US" sz="1600" dirty="0">
                <a:solidFill>
                  <a:schemeClr val="bg1">
                    <a:lumMod val="85000"/>
                  </a:schemeClr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5236"/>
            <a:ext cx="10515600" cy="5151727"/>
          </a:xfrm>
        </p:spPr>
        <p:txBody>
          <a:bodyPr>
            <a:normAutofit/>
          </a:bodyPr>
          <a:lstStyle/>
          <a:p>
            <a:r>
              <a:rPr lang="en-US" dirty="0"/>
              <a:t></a:t>
            </a:r>
            <a:r>
              <a:rPr lang="en-US" b="1" dirty="0"/>
              <a:t>words that are formed from a verb, but are used as a noun, adjective, or an adverb.</a:t>
            </a:r>
            <a:endParaRPr lang="en-US" dirty="0"/>
          </a:p>
          <a:p>
            <a:r>
              <a:rPr lang="en-US" dirty="0"/>
              <a:t>Examples: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 </a:t>
            </a:r>
            <a:r>
              <a:rPr lang="en-US" b="1" dirty="0"/>
              <a:t>To study (infinitive) </a:t>
            </a:r>
            <a:r>
              <a:rPr lang="en-US" dirty="0"/>
              <a:t>or not </a:t>
            </a:r>
            <a:r>
              <a:rPr lang="en-US" b="1" dirty="0"/>
              <a:t>to study (infinitive) </a:t>
            </a:r>
            <a:r>
              <a:rPr lang="en-US" dirty="0"/>
              <a:t>is a decision students make. </a:t>
            </a:r>
          </a:p>
          <a:p>
            <a:endParaRPr lang="en-US" dirty="0"/>
          </a:p>
          <a:p>
            <a:r>
              <a:rPr lang="en-US" b="1" dirty="0"/>
              <a:t>Studying</a:t>
            </a:r>
            <a:r>
              <a:rPr lang="en-US" dirty="0"/>
              <a:t> </a:t>
            </a:r>
            <a:r>
              <a:rPr lang="en-US" b="1" dirty="0"/>
              <a:t>(gerund) </a:t>
            </a:r>
            <a:r>
              <a:rPr lang="en-US" dirty="0"/>
              <a:t>is hard work.</a:t>
            </a:r>
          </a:p>
          <a:p>
            <a:endParaRPr lang="en-US" dirty="0"/>
          </a:p>
          <a:p>
            <a:r>
              <a:rPr lang="en-US" dirty="0"/>
              <a:t>The student, </a:t>
            </a:r>
            <a:r>
              <a:rPr lang="en-US" b="1" dirty="0"/>
              <a:t>studying diligently (participle)</a:t>
            </a:r>
            <a:r>
              <a:rPr lang="en-US" dirty="0"/>
              <a:t>, received all A’s.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526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Participles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participle is a verb form that can be used as adjective.</a:t>
            </a:r>
          </a:p>
          <a:p>
            <a:endParaRPr lang="en-US" sz="1200" dirty="0"/>
          </a:p>
          <a:p>
            <a:r>
              <a:rPr lang="en-US" dirty="0"/>
              <a:t>Participles end in –</a:t>
            </a:r>
            <a:r>
              <a:rPr lang="en-US" dirty="0" err="1"/>
              <a:t>ing</a:t>
            </a:r>
            <a:r>
              <a:rPr lang="en-US" dirty="0"/>
              <a:t>, -</a:t>
            </a:r>
            <a:r>
              <a:rPr lang="en-US" i="1" dirty="0" err="1"/>
              <a:t>ed</a:t>
            </a:r>
            <a:r>
              <a:rPr lang="en-US" dirty="0"/>
              <a:t>, -d, or –</a:t>
            </a:r>
            <a:r>
              <a:rPr lang="en-US" i="1" dirty="0"/>
              <a:t>t</a:t>
            </a:r>
            <a:r>
              <a:rPr lang="en-US" dirty="0"/>
              <a:t>, and are used as an adjective (describes noun or pronoun).</a:t>
            </a:r>
          </a:p>
          <a:p>
            <a:r>
              <a:rPr lang="en-US" sz="1400" dirty="0"/>
              <a:t> 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 1</a:t>
            </a:r>
          </a:p>
          <a:p>
            <a:r>
              <a:rPr lang="en-US" dirty="0"/>
              <a:t>Basically, it is a verb form used as an adjective that modifies nouns and pronouns.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16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291"/>
            <a:ext cx="10515600" cy="544267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Participle Example</a:t>
            </a:r>
          </a:p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 1</a:t>
            </a:r>
          </a:p>
          <a:p>
            <a:r>
              <a:rPr lang="en-US" sz="3200" dirty="0"/>
              <a:t>The children, </a:t>
            </a:r>
            <a:r>
              <a:rPr lang="en-US" sz="3200" b="1" dirty="0"/>
              <a:t>crying </a:t>
            </a:r>
            <a:r>
              <a:rPr lang="en-US" sz="3200" dirty="0"/>
              <a:t>and </a:t>
            </a:r>
            <a:r>
              <a:rPr lang="en-US" sz="3200" b="1" dirty="0"/>
              <a:t>exhausted</a:t>
            </a:r>
            <a:r>
              <a:rPr lang="en-US" sz="3200" dirty="0"/>
              <a:t>, were guided out of the collapsed mine. (Both participles modify the subject, </a:t>
            </a:r>
            <a:r>
              <a:rPr lang="en-US" sz="3200" i="1" dirty="0"/>
              <a:t>children</a:t>
            </a:r>
            <a:r>
              <a:rPr lang="en-US" sz="3200" dirty="0"/>
              <a:t>.)</a:t>
            </a:r>
          </a:p>
          <a:p>
            <a:endParaRPr lang="en-US" sz="3200" dirty="0"/>
          </a:p>
          <a:p>
            <a:r>
              <a:rPr lang="en-US" b="1" dirty="0"/>
              <a:t>Crying </a:t>
            </a:r>
            <a:r>
              <a:rPr lang="en-US" dirty="0"/>
              <a:t>is a </a:t>
            </a:r>
            <a:r>
              <a:rPr lang="en-US" u="heavy" dirty="0"/>
              <a:t>present participle</a:t>
            </a:r>
            <a:r>
              <a:rPr lang="en-US" dirty="0"/>
              <a:t>, formed by adding </a:t>
            </a:r>
            <a:r>
              <a:rPr lang="en-US" b="1" dirty="0"/>
              <a:t>- </a:t>
            </a:r>
            <a:r>
              <a:rPr lang="en-US" b="1" dirty="0" err="1"/>
              <a:t>ing</a:t>
            </a:r>
            <a:r>
              <a:rPr lang="en-US" b="1" dirty="0"/>
              <a:t> </a:t>
            </a:r>
            <a:r>
              <a:rPr lang="en-US" dirty="0"/>
              <a:t>to the present form of the verb (</a:t>
            </a:r>
            <a:r>
              <a:rPr lang="en-US" i="1" dirty="0"/>
              <a:t>cry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b="1" dirty="0"/>
              <a:t>Exhausted </a:t>
            </a:r>
            <a:r>
              <a:rPr lang="en-US" dirty="0"/>
              <a:t>is a </a:t>
            </a:r>
            <a:r>
              <a:rPr lang="en-US" u="heavy" dirty="0"/>
              <a:t>past participle</a:t>
            </a:r>
            <a:r>
              <a:rPr lang="en-US" dirty="0"/>
              <a:t>, formed by adding </a:t>
            </a:r>
            <a:r>
              <a:rPr lang="en-US" b="1" dirty="0"/>
              <a:t>–</a:t>
            </a:r>
            <a:r>
              <a:rPr lang="en-US" b="1" dirty="0" err="1"/>
              <a:t>ed</a:t>
            </a:r>
            <a:r>
              <a:rPr lang="en-US" b="1" dirty="0"/>
              <a:t> </a:t>
            </a:r>
            <a:r>
              <a:rPr lang="en-US" dirty="0"/>
              <a:t>to the present form of the verb (</a:t>
            </a:r>
            <a:r>
              <a:rPr lang="en-US" i="1" dirty="0"/>
              <a:t>exhaust</a:t>
            </a:r>
            <a:r>
              <a:rPr lang="en-US" dirty="0"/>
              <a:t>). 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31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3236"/>
            <a:ext cx="10515600" cy="5913727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4400" b="1" dirty="0"/>
              <a:t>Participial Phrase</a:t>
            </a:r>
          </a:p>
          <a:p>
            <a:endParaRPr lang="en-US" sz="1400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/>
              <a:t>A </a:t>
            </a:r>
            <a:r>
              <a:rPr lang="en-US" b="1" i="1" dirty="0"/>
              <a:t>participial phrase </a:t>
            </a:r>
            <a:r>
              <a:rPr lang="en-US" dirty="0"/>
              <a:t>is made up of a participle and its modifiers. The entire phrase is used as an adjective.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Example: </a:t>
            </a:r>
          </a:p>
          <a:p>
            <a:r>
              <a:rPr lang="en-US" dirty="0"/>
              <a:t>Located in </a:t>
            </a:r>
            <a:r>
              <a:rPr lang="en-US" i="1" dirty="0"/>
              <a:t>front of noun</a:t>
            </a:r>
            <a:r>
              <a:rPr lang="en-US" dirty="0"/>
              <a:t>: </a:t>
            </a:r>
          </a:p>
          <a:p>
            <a:r>
              <a:rPr lang="en-US" b="1" dirty="0"/>
              <a:t>Holding the torch steady</a:t>
            </a:r>
            <a:r>
              <a:rPr lang="en-US" dirty="0"/>
              <a:t>, Mary approached the monster.  </a:t>
            </a:r>
          </a:p>
          <a:p>
            <a:endParaRPr lang="en-US" dirty="0"/>
          </a:p>
          <a:p>
            <a:r>
              <a:rPr lang="en-US" dirty="0"/>
              <a:t>Located </a:t>
            </a:r>
            <a:r>
              <a:rPr lang="en-US" i="1" dirty="0"/>
              <a:t>after</a:t>
            </a:r>
            <a:r>
              <a:rPr lang="en-US" dirty="0"/>
              <a:t> the noun or pronoun:</a:t>
            </a:r>
          </a:p>
          <a:p>
            <a:r>
              <a:rPr lang="en-US" dirty="0"/>
              <a:t>Mary, </a:t>
            </a:r>
            <a:r>
              <a:rPr lang="en-US" b="1" dirty="0"/>
              <a:t>holding the torch steady</a:t>
            </a:r>
            <a:r>
              <a:rPr lang="en-US" dirty="0"/>
              <a:t>, approached the monster.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The participial phrase consists of a present participle (</a:t>
            </a:r>
            <a:r>
              <a:rPr lang="en-US" b="1" dirty="0"/>
              <a:t>holding</a:t>
            </a:r>
            <a:r>
              <a:rPr lang="en-US" dirty="0"/>
              <a:t>), an object (</a:t>
            </a:r>
            <a:r>
              <a:rPr lang="en-US" b="1" dirty="0"/>
              <a:t>the torch</a:t>
            </a:r>
            <a:r>
              <a:rPr lang="en-US" dirty="0"/>
              <a:t>), and an adverb (</a:t>
            </a:r>
            <a:r>
              <a:rPr lang="en-US" b="1" dirty="0"/>
              <a:t>steady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22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2000"/>
            <a:ext cx="10515600" cy="5414963"/>
          </a:xfrm>
        </p:spPr>
        <p:txBody>
          <a:bodyPr/>
          <a:lstStyle/>
          <a:p>
            <a:pPr algn="ctr"/>
            <a:r>
              <a:rPr lang="en-US" sz="4400" b="1" dirty="0"/>
              <a:t>Gerund</a:t>
            </a:r>
            <a:endParaRPr lang="en-US" b="1" dirty="0"/>
          </a:p>
          <a:p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/>
              <a:t>A gerund looks like a verb, ends in –</a:t>
            </a:r>
            <a:r>
              <a:rPr lang="en-US" i="1" dirty="0" err="1"/>
              <a:t>ing</a:t>
            </a:r>
            <a:r>
              <a:rPr lang="en-US" dirty="0"/>
              <a:t>; used as a noun.</a:t>
            </a:r>
          </a:p>
          <a:p>
            <a:endParaRPr lang="en-US" sz="700" dirty="0"/>
          </a:p>
          <a:p>
            <a:r>
              <a:rPr lang="en-US" dirty="0"/>
              <a:t>It was once a verb but has become a noun.</a:t>
            </a:r>
          </a:p>
          <a:p>
            <a:endParaRPr lang="en-US" sz="700" dirty="0"/>
          </a:p>
          <a:p>
            <a:r>
              <a:rPr lang="en-US" dirty="0"/>
              <a:t>Look similar to a participial phrase because they both can end in –</a:t>
            </a:r>
            <a:r>
              <a:rPr lang="en-US" dirty="0" err="1"/>
              <a:t>ing</a:t>
            </a:r>
            <a:r>
              <a:rPr lang="en-US" dirty="0"/>
              <a:t>.  </a:t>
            </a:r>
          </a:p>
          <a:p>
            <a:endParaRPr lang="en-US" sz="700" dirty="0"/>
          </a:p>
          <a:p>
            <a:r>
              <a:rPr lang="en-US" dirty="0"/>
              <a:t></a:t>
            </a:r>
            <a:r>
              <a:rPr lang="en-US" b="1" dirty="0"/>
              <a:t>REMEMBER:  </a:t>
            </a:r>
            <a:r>
              <a:rPr lang="en-US" dirty="0"/>
              <a:t>A </a:t>
            </a:r>
            <a:r>
              <a:rPr lang="en-US" b="1" dirty="0"/>
              <a:t>gerund</a:t>
            </a:r>
            <a:r>
              <a:rPr lang="en-US" dirty="0"/>
              <a:t> functions as a </a:t>
            </a:r>
            <a:r>
              <a:rPr lang="en-US" b="1" dirty="0"/>
              <a:t>noun</a:t>
            </a:r>
            <a:r>
              <a:rPr lang="en-US" dirty="0"/>
              <a:t>, and a </a:t>
            </a:r>
            <a:r>
              <a:rPr lang="en-US" b="1" dirty="0"/>
              <a:t>participle </a:t>
            </a:r>
            <a:r>
              <a:rPr lang="en-US" dirty="0"/>
              <a:t>functions as an </a:t>
            </a:r>
            <a:r>
              <a:rPr lang="en-US" b="1" dirty="0"/>
              <a:t>adjective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41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93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Uses of Gerunds 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7744"/>
            <a:ext cx="10515600" cy="52508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Used as a noun: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b="1" dirty="0"/>
              <a:t>Subject: Swimming </a:t>
            </a:r>
            <a:r>
              <a:rPr lang="en-US" dirty="0"/>
              <a:t>is a great form of exercise.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Subject Complement</a:t>
            </a:r>
            <a:r>
              <a:rPr lang="en-US" dirty="0"/>
              <a:t>: A great form of exercise is </a:t>
            </a:r>
            <a:r>
              <a:rPr lang="en-US" b="1" dirty="0"/>
              <a:t>swimming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/>
              <a:t>Object of Preposition</a:t>
            </a:r>
            <a:r>
              <a:rPr lang="en-US" dirty="0"/>
              <a:t>: Before </a:t>
            </a:r>
            <a:r>
              <a:rPr lang="en-US" b="1" dirty="0"/>
              <a:t>swimming in a lake</a:t>
            </a:r>
            <a:r>
              <a:rPr lang="en-US" dirty="0"/>
              <a:t>, …</a:t>
            </a:r>
          </a:p>
          <a:p>
            <a:endParaRPr lang="en-US" dirty="0"/>
          </a:p>
          <a:p>
            <a:r>
              <a:rPr lang="en-US" b="1" dirty="0"/>
              <a:t>Direct Object:   </a:t>
            </a:r>
            <a:r>
              <a:rPr lang="en-US" dirty="0"/>
              <a:t>He likes </a:t>
            </a:r>
            <a:r>
              <a:rPr lang="en-US" b="1" dirty="0"/>
              <a:t>swimming in the ocean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Indirect Object:  </a:t>
            </a:r>
            <a:r>
              <a:rPr lang="en-US" dirty="0"/>
              <a:t>(You) Give </a:t>
            </a:r>
            <a:r>
              <a:rPr lang="en-US" b="1" dirty="0"/>
              <a:t>swimming </a:t>
            </a:r>
            <a:r>
              <a:rPr lang="en-US" dirty="0"/>
              <a:t>a chance.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50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Gerund phrases 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sz="3200" b="1" dirty="0"/>
            </a:br>
            <a:r>
              <a:rPr lang="en-US" sz="3200" b="1" dirty="0"/>
              <a:t> </a:t>
            </a:r>
            <a:r>
              <a:rPr lang="en-US" b="1" dirty="0"/>
              <a:t>*Gerund phrases </a:t>
            </a:r>
            <a:r>
              <a:rPr lang="en-US" dirty="0"/>
              <a:t>consist of a gerund and any objects and/or modifiers.</a:t>
            </a:r>
          </a:p>
          <a:p>
            <a:endParaRPr lang="en-US" b="1" dirty="0"/>
          </a:p>
          <a:p>
            <a:pPr algn="ctr"/>
            <a:r>
              <a:rPr lang="en-US" dirty="0"/>
              <a:t>Ex.    I enjoy</a:t>
            </a:r>
            <a:r>
              <a:rPr lang="en-US" b="1" dirty="0"/>
              <a:t> </a:t>
            </a:r>
            <a:r>
              <a:rPr lang="en-US" b="1" i="1" dirty="0"/>
              <a:t>riding</a:t>
            </a:r>
            <a:r>
              <a:rPr lang="en-US" i="1" dirty="0"/>
              <a:t> my bike in the evening</a:t>
            </a:r>
            <a:r>
              <a:rPr lang="en-US" dirty="0"/>
              <a:t>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phrase is used as a direct object.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13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Infinitives</a:t>
            </a:r>
            <a:br>
              <a:rPr lang="en-US" b="1" dirty="0"/>
            </a:b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 1</a:t>
            </a:r>
            <a:br>
              <a:rPr lang="en-US" sz="1400" dirty="0">
                <a:solidFill>
                  <a:schemeClr val="bg1">
                    <a:lumMod val="85000"/>
                  </a:schemeClr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infinitive is a verb form that can be used as a  noun, an adjective, or an adverb.  Most infinitives begin with to + verb.</a:t>
            </a:r>
          </a:p>
          <a:p>
            <a:endParaRPr lang="en-US" sz="600" dirty="0"/>
          </a:p>
          <a:p>
            <a:pPr algn="ctr"/>
            <a:r>
              <a:rPr lang="en-US" dirty="0"/>
              <a:t>Ex. I don't like </a:t>
            </a:r>
            <a:r>
              <a:rPr lang="en-US" b="1" dirty="0"/>
              <a:t>to cry </a:t>
            </a:r>
            <a:r>
              <a:rPr lang="en-US" dirty="0"/>
              <a:t>in public unless I'm getting paid for it.</a:t>
            </a:r>
          </a:p>
          <a:p>
            <a:pPr algn="ctr"/>
            <a:r>
              <a:rPr lang="en-US" dirty="0"/>
              <a:t>“to cry” is the infinitive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31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Infinitive Phrases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Infinitive phrases</a:t>
            </a:r>
            <a:r>
              <a:rPr lang="en-US" dirty="0"/>
              <a:t> consists of an infinitive and is followed by any objects, and/or modifiers.  The entire phrase may be used as a noun, an adjective, or an adverb.</a:t>
            </a:r>
          </a:p>
          <a:p>
            <a:endParaRPr lang="en-US" dirty="0"/>
          </a:p>
          <a:p>
            <a:r>
              <a:rPr lang="en-US" dirty="0"/>
              <a:t>Ex. I must study </a:t>
            </a:r>
            <a:r>
              <a:rPr lang="en-US" b="1" i="1" dirty="0"/>
              <a:t>to pass my winter exams with good marks.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734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Infinitives used as adjective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best time </a:t>
            </a:r>
            <a:r>
              <a:rPr lang="en-US" b="1" dirty="0"/>
              <a:t>to visit (modifies Florida) </a:t>
            </a:r>
            <a:r>
              <a:rPr lang="en-US" dirty="0"/>
              <a:t>Florida is December through April.</a:t>
            </a:r>
          </a:p>
          <a:p>
            <a:endParaRPr lang="en-US" dirty="0"/>
          </a:p>
          <a:p>
            <a:r>
              <a:rPr lang="en-US" dirty="0"/>
              <a:t>If you want  information about computers, that is the magazine </a:t>
            </a:r>
            <a:r>
              <a:rPr lang="en-US" b="1" dirty="0"/>
              <a:t>to read (modifies magazine)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Peanuts and raisins are good snacks </a:t>
            </a:r>
            <a:r>
              <a:rPr lang="en-US" b="1" dirty="0"/>
              <a:t>to take on a camping trip (modifies snacks)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73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Infinitives Used as noun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 install (subject) </a:t>
            </a:r>
            <a:r>
              <a:rPr lang="en-US" dirty="0"/>
              <a:t>the ceiling fan took two hours.</a:t>
            </a:r>
          </a:p>
          <a:p>
            <a:endParaRPr lang="en-US" dirty="0"/>
          </a:p>
          <a:p>
            <a:r>
              <a:rPr lang="en-US" dirty="0"/>
              <a:t>Winona’s ambition is </a:t>
            </a:r>
            <a:r>
              <a:rPr lang="en-US" b="1" dirty="0"/>
              <a:t>to become (predicate nominative)</a:t>
            </a:r>
            <a:r>
              <a:rPr lang="en-US" dirty="0"/>
              <a:t> a doctor.</a:t>
            </a:r>
          </a:p>
          <a:p>
            <a:endParaRPr lang="en-US" dirty="0"/>
          </a:p>
          <a:p>
            <a:r>
              <a:rPr lang="en-US" dirty="0"/>
              <a:t>Shina likes </a:t>
            </a:r>
            <a:r>
              <a:rPr lang="en-US" b="1" dirty="0"/>
              <a:t>to skate (direct object) </a:t>
            </a:r>
            <a:r>
              <a:rPr lang="en-US" dirty="0"/>
              <a:t>but not </a:t>
            </a:r>
            <a:r>
              <a:rPr lang="en-US" b="1" dirty="0"/>
              <a:t>to ski (direct object)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To lift these weights (used as a subject) </a:t>
            </a:r>
            <a:r>
              <a:rPr lang="en-US" dirty="0"/>
              <a:t>takes great strength.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051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Infinitives used as adverb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gymnasts were ready </a:t>
            </a:r>
            <a:r>
              <a:rPr lang="en-US" b="1" dirty="0"/>
              <a:t>to practice (modifies the adjective ready) </a:t>
            </a:r>
            <a:r>
              <a:rPr lang="en-US" dirty="0"/>
              <a:t>their routines.</a:t>
            </a:r>
          </a:p>
          <a:p>
            <a:endParaRPr lang="en-US" dirty="0"/>
          </a:p>
          <a:p>
            <a:r>
              <a:rPr lang="en-US" dirty="0"/>
              <a:t>The camel knelt at the pool </a:t>
            </a:r>
            <a:r>
              <a:rPr lang="en-US" b="1" dirty="0"/>
              <a:t>to drink (modifies knelt)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crowd grew quiet </a:t>
            </a:r>
            <a:r>
              <a:rPr lang="en-US" b="1" dirty="0"/>
              <a:t>to hear the speaker (modifies the verb grew)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551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365" y="443345"/>
            <a:ext cx="11319162" cy="627610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600" dirty="0"/>
              <a:t>Observe the following statements </a:t>
            </a:r>
          </a:p>
          <a:p>
            <a:pPr marL="0" indent="0">
              <a:buNone/>
            </a:pPr>
            <a:endParaRPr lang="en-US" sz="4600" dirty="0"/>
          </a:p>
          <a:p>
            <a:r>
              <a:rPr lang="en-US" sz="4500" u="sng" dirty="0"/>
              <a:t>Defeated</a:t>
            </a:r>
            <a:r>
              <a:rPr lang="en-US" sz="4500" dirty="0"/>
              <a:t> teams should congratulate the winners.</a:t>
            </a:r>
          </a:p>
          <a:p>
            <a:r>
              <a:rPr lang="en-US" sz="4500" b="1" dirty="0"/>
              <a:t>Past participle</a:t>
            </a:r>
          </a:p>
          <a:p>
            <a:endParaRPr lang="en-US" sz="4500" dirty="0"/>
          </a:p>
          <a:p>
            <a:r>
              <a:rPr lang="en-US" sz="4500" dirty="0"/>
              <a:t>The </a:t>
            </a:r>
            <a:r>
              <a:rPr lang="en-US" sz="4500" u="sng" dirty="0"/>
              <a:t>crying</a:t>
            </a:r>
            <a:r>
              <a:rPr lang="en-US" sz="4500" dirty="0"/>
              <a:t> baby hid under the table.</a:t>
            </a:r>
          </a:p>
          <a:p>
            <a:r>
              <a:rPr lang="en-US" sz="4500" b="1" dirty="0"/>
              <a:t>Present participle</a:t>
            </a:r>
          </a:p>
          <a:p>
            <a:endParaRPr lang="en-US" sz="4500" dirty="0"/>
          </a:p>
          <a:p>
            <a:r>
              <a:rPr lang="en-US" sz="4500" dirty="0"/>
              <a:t>I saw her </a:t>
            </a:r>
            <a:r>
              <a:rPr lang="en-US" sz="4500" u="sng" dirty="0"/>
              <a:t>fishing contentedly</a:t>
            </a:r>
            <a:r>
              <a:rPr lang="en-US" sz="4500" dirty="0"/>
              <a:t>.</a:t>
            </a:r>
          </a:p>
          <a:p>
            <a:r>
              <a:rPr lang="en-US" sz="4500" b="1" dirty="0"/>
              <a:t>Participial phrase</a:t>
            </a:r>
          </a:p>
          <a:p>
            <a:endParaRPr lang="en-US" sz="4500" dirty="0"/>
          </a:p>
          <a:p>
            <a:r>
              <a:rPr lang="en-US" sz="4500" u="sng" dirty="0"/>
              <a:t>Walking</a:t>
            </a:r>
            <a:r>
              <a:rPr lang="en-US" sz="4500" dirty="0"/>
              <a:t> is a good exercise.</a:t>
            </a:r>
          </a:p>
          <a:p>
            <a:r>
              <a:rPr lang="en-US" sz="4500" b="1" dirty="0"/>
              <a:t>Gerund</a:t>
            </a:r>
          </a:p>
          <a:p>
            <a:endParaRPr lang="en-US" sz="4500" dirty="0"/>
          </a:p>
          <a:p>
            <a:r>
              <a:rPr lang="en-US" sz="4500" dirty="0"/>
              <a:t>I dislike </a:t>
            </a:r>
            <a:r>
              <a:rPr lang="en-US" sz="4500" u="sng" dirty="0"/>
              <a:t>talking loudly in the corridor</a:t>
            </a:r>
            <a:r>
              <a:rPr lang="en-US" sz="4500" dirty="0"/>
              <a:t>.</a:t>
            </a:r>
          </a:p>
          <a:p>
            <a:r>
              <a:rPr lang="en-US" sz="4500" b="1" dirty="0"/>
              <a:t>Gerund phrase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607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7091"/>
            <a:ext cx="10515600" cy="58998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Observe the  underlined infinitive used as a noun, adjective, or adverb</a:t>
            </a:r>
          </a:p>
          <a:p>
            <a:endParaRPr lang="en-US" sz="1200" dirty="0"/>
          </a:p>
          <a:p>
            <a:r>
              <a:rPr lang="en-US" dirty="0"/>
              <a:t>Mrs. Chisolm rose </a:t>
            </a:r>
            <a:r>
              <a:rPr lang="en-US" u="sng" dirty="0"/>
              <a:t>to speak</a:t>
            </a:r>
            <a:r>
              <a:rPr lang="en-US" dirty="0"/>
              <a:t> (</a:t>
            </a:r>
            <a:r>
              <a:rPr lang="en-US" b="1" dirty="0"/>
              <a:t>adverb).</a:t>
            </a:r>
          </a:p>
          <a:p>
            <a:endParaRPr lang="en-US" sz="1200" dirty="0"/>
          </a:p>
          <a:p>
            <a:r>
              <a:rPr lang="en-US" u="sng" dirty="0"/>
              <a:t>To forget </a:t>
            </a:r>
            <a:r>
              <a:rPr lang="en-US" dirty="0"/>
              <a:t> is </a:t>
            </a:r>
            <a:r>
              <a:rPr lang="en-US" u="sng" dirty="0"/>
              <a:t>to forgive</a:t>
            </a:r>
            <a:r>
              <a:rPr lang="en-US" dirty="0"/>
              <a:t>.</a:t>
            </a:r>
          </a:p>
          <a:p>
            <a:r>
              <a:rPr lang="en-US" b="1" dirty="0"/>
              <a:t>noun</a:t>
            </a:r>
          </a:p>
          <a:p>
            <a:endParaRPr lang="en-US" sz="1200" dirty="0"/>
          </a:p>
          <a:p>
            <a:r>
              <a:rPr lang="en-US" dirty="0"/>
              <a:t>That was a day </a:t>
            </a:r>
            <a:r>
              <a:rPr lang="en-US" u="sng" dirty="0"/>
              <a:t>to remember</a:t>
            </a:r>
            <a:r>
              <a:rPr lang="en-US" dirty="0"/>
              <a:t>.</a:t>
            </a:r>
          </a:p>
          <a:p>
            <a:r>
              <a:rPr lang="en-US" b="1" dirty="0"/>
              <a:t>adjective</a:t>
            </a:r>
          </a:p>
          <a:p>
            <a:endParaRPr lang="en-US" sz="1600" b="1" dirty="0"/>
          </a:p>
          <a:p>
            <a:r>
              <a:rPr lang="en-US" dirty="0"/>
              <a:t>Remember, an infinitive phrase consists of an infinitive together with its complements and modifiers. See below:</a:t>
            </a:r>
          </a:p>
          <a:p>
            <a:r>
              <a:rPr lang="en-US" sz="1000" b="1" dirty="0"/>
              <a:t>.</a:t>
            </a:r>
          </a:p>
          <a:p>
            <a:r>
              <a:rPr lang="en-US" u="sng" dirty="0"/>
              <a:t>To interrupt a speaker abruptly</a:t>
            </a:r>
            <a:r>
              <a:rPr lang="en-US" dirty="0"/>
              <a:t> is impolite.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606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short  </a:t>
            </a:r>
          </a:p>
        </p:txBody>
      </p:sp>
      <p:pic>
        <p:nvPicPr>
          <p:cNvPr id="4" name="Picture 2" descr="Gerunds, Participles, and Infinitives - ppt video online downloa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745" y="1690688"/>
            <a:ext cx="7827819" cy="483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040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Participle and Gerund | Basic concepts, Nouns, Adjectiv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449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Verb, Participle, Or Gerund? Grammar Trivia Quiz - ProProfs Quiz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2355274"/>
            <a:ext cx="6703002" cy="354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752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these sentences ?</a:t>
            </a:r>
          </a:p>
        </p:txBody>
      </p:sp>
      <p:pic>
        <p:nvPicPr>
          <p:cNvPr id="6146" name="Picture 2" descr="PPT - gerund, infinitive and present participle PowerPoint Presentation -  ID:533832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83" y="1551708"/>
            <a:ext cx="9878290" cy="489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018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Thank you </a:t>
            </a:r>
          </a:p>
          <a:p>
            <a:endParaRPr lang="en-US" dirty="0"/>
          </a:p>
          <a:p>
            <a:r>
              <a:rPr lang="en-US" dirty="0"/>
              <a:t>Dr. Kiran Magavi </a:t>
            </a:r>
          </a:p>
        </p:txBody>
      </p:sp>
    </p:spTree>
    <p:extLst>
      <p:ext uri="{BB962C8B-B14F-4D97-AF65-F5344CB8AC3E}">
        <p14:creationId xmlns:p14="http://schemas.microsoft.com/office/powerpoint/2010/main" val="393514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856</Words>
  <Application>Microsoft Office PowerPoint</Application>
  <PresentationFormat>Widescreen</PresentationFormat>
  <Paragraphs>129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Communicative English</vt:lpstr>
      <vt:lpstr> What is a Verbal?    </vt:lpstr>
      <vt:lpstr>Participles </vt:lpstr>
      <vt:lpstr>PowerPoint Presentation</vt:lpstr>
      <vt:lpstr>PowerPoint Presentation</vt:lpstr>
      <vt:lpstr>PowerPoint Presentation</vt:lpstr>
      <vt:lpstr> Uses of Gerunds  </vt:lpstr>
      <vt:lpstr>Gerund phrases  </vt:lpstr>
      <vt:lpstr>Infinitives  1 </vt:lpstr>
      <vt:lpstr>Infinitive Phrases </vt:lpstr>
      <vt:lpstr>Infinitives used as adjective </vt:lpstr>
      <vt:lpstr>Infinitives Used as noun </vt:lpstr>
      <vt:lpstr>Infinitives used as adverb </vt:lpstr>
      <vt:lpstr>PowerPoint Presentation</vt:lpstr>
      <vt:lpstr>PowerPoint Presentation</vt:lpstr>
      <vt:lpstr>In short  </vt:lpstr>
      <vt:lpstr>PowerPoint Presentation</vt:lpstr>
      <vt:lpstr>PowerPoint Presentation</vt:lpstr>
      <vt:lpstr>What is wrong with these sentences 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 sessions 23</dc:title>
  <dc:creator>kiraaan</dc:creator>
  <cp:lastModifiedBy>Rishi Magavi</cp:lastModifiedBy>
  <cp:revision>11</cp:revision>
  <dcterms:created xsi:type="dcterms:W3CDTF">2020-11-01T20:58:15Z</dcterms:created>
  <dcterms:modified xsi:type="dcterms:W3CDTF">2022-03-07T03:18:13Z</dcterms:modified>
</cp:coreProperties>
</file>