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8" r:id="rId1"/>
  </p:sldMasterIdLst>
  <p:notesMasterIdLst>
    <p:notesMasterId r:id="rId20"/>
  </p:notesMasterIdLst>
  <p:sldIdLst>
    <p:sldId id="557" r:id="rId2"/>
    <p:sldId id="559" r:id="rId3"/>
    <p:sldId id="560" r:id="rId4"/>
    <p:sldId id="549" r:id="rId5"/>
    <p:sldId id="553" r:id="rId6"/>
    <p:sldId id="561" r:id="rId7"/>
    <p:sldId id="562" r:id="rId8"/>
    <p:sldId id="563" r:id="rId9"/>
    <p:sldId id="550" r:id="rId10"/>
    <p:sldId id="551" r:id="rId11"/>
    <p:sldId id="552" r:id="rId12"/>
    <p:sldId id="564" r:id="rId13"/>
    <p:sldId id="568" r:id="rId14"/>
    <p:sldId id="565" r:id="rId15"/>
    <p:sldId id="569" r:id="rId16"/>
    <p:sldId id="570" r:id="rId17"/>
    <p:sldId id="566" r:id="rId18"/>
    <p:sldId id="50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38" autoAdjust="0"/>
    <p:restoredTop sz="94660"/>
  </p:normalViewPr>
  <p:slideViewPr>
    <p:cSldViewPr snapToGrid="0">
      <p:cViewPr varScale="1">
        <p:scale>
          <a:sx n="74" d="100"/>
          <a:sy n="74" d="100"/>
        </p:scale>
        <p:origin x="50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43F0-1FB2-41E4-961B-8CAB2AED1024}" type="datetimeFigureOut">
              <a:rPr lang="en-IN" smtClean="0"/>
              <a:pPr/>
              <a:t>29-12-2021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20133-9643-4EF8-94CA-FEF99B36DC3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009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459E16-9AD2-4C0A-A0BE-9D74C4E399CA}" type="slidenum">
              <a:rPr lang="en-CA" altLang="en-US" sz="1200" i="0">
                <a:latin typeface="Tahoma" panose="020B0604030504040204" pitchFamily="34" charset="0"/>
              </a:rPr>
              <a:pPr/>
              <a:t>2</a:t>
            </a:fld>
            <a:endParaRPr lang="en-CA" altLang="en-US" sz="1200" i="0">
              <a:latin typeface="Tahoma" panose="020B0604030504040204" pitchFamily="34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86304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15E4B0F-43A8-481B-AC74-6E68B255CB81}" type="slidenum">
              <a:rPr lang="en-CA" sz="1200" i="0">
                <a:latin typeface="Tahoma" panose="020B0604030504040204" pitchFamily="34" charset="0"/>
              </a:rPr>
              <a:pPr eaLnBrk="1" hangingPunct="1"/>
              <a:t>3</a:t>
            </a:fld>
            <a:endParaRPr lang="en-CA" sz="1200" i="0">
              <a:latin typeface="Tahoma" panose="020B0604030504040204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  <p:extLst>
      <p:ext uri="{BB962C8B-B14F-4D97-AF65-F5344CB8AC3E}">
        <p14:creationId xmlns:p14="http://schemas.microsoft.com/office/powerpoint/2010/main" val="981682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6AEF86-5C7E-49D0-A414-9B79633212FF}" type="slidenum">
              <a:rPr lang="en-CA" altLang="en-US" sz="1200" i="0">
                <a:latin typeface="Tahoma" panose="020B0604030504040204" pitchFamily="34" charset="0"/>
              </a:rPr>
              <a:pPr/>
              <a:t>4</a:t>
            </a:fld>
            <a:endParaRPr lang="en-CA" altLang="en-US" sz="1200" i="0">
              <a:latin typeface="Tahoma" panose="020B0604030504040204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800" smtClean="0"/>
          </a:p>
        </p:txBody>
      </p:sp>
    </p:spTree>
    <p:extLst>
      <p:ext uri="{BB962C8B-B14F-4D97-AF65-F5344CB8AC3E}">
        <p14:creationId xmlns:p14="http://schemas.microsoft.com/office/powerpoint/2010/main" val="203840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56DEE2-6290-4FAE-A4F3-22F290523F45}" type="slidenum">
              <a:rPr lang="en-CA" altLang="en-US" sz="1200" i="0">
                <a:latin typeface="Tahoma" panose="020B0604030504040204" pitchFamily="34" charset="0"/>
              </a:rPr>
              <a:pPr/>
              <a:t>6</a:t>
            </a:fld>
            <a:endParaRPr lang="en-CA" altLang="en-US" sz="1200" i="0">
              <a:latin typeface="Tahoma" panose="020B0604030504040204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19339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82C5D8-780D-4DC7-937E-8E72BAA171E8}" type="slidenum">
              <a:rPr lang="en-CA" altLang="en-US" sz="1200" i="0">
                <a:latin typeface="Tahoma" panose="020B0604030504040204" pitchFamily="34" charset="0"/>
              </a:rPr>
              <a:pPr/>
              <a:t>7</a:t>
            </a:fld>
            <a:endParaRPr lang="en-CA" altLang="en-US" sz="1200" i="0">
              <a:latin typeface="Tahoma" panose="020B0604030504040204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94118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84F7BB-A254-4580-B26D-3B06548490BD}" type="slidenum">
              <a:rPr lang="en-CA" altLang="en-US" sz="1200" i="0">
                <a:latin typeface="Tahoma" panose="020B0604030504040204" pitchFamily="34" charset="0"/>
              </a:rPr>
              <a:pPr/>
              <a:t>8</a:t>
            </a:fld>
            <a:endParaRPr lang="en-CA" altLang="en-US" sz="1200" i="0">
              <a:latin typeface="Tahoma" panose="020B0604030504040204" pitchFamily="3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32237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95A212F-0BE5-436A-8A4C-60D5C189C94D}" type="slidenum">
              <a:rPr lang="en-CA" sz="1200" i="0">
                <a:latin typeface="Tahoma" panose="020B0604030504040204" pitchFamily="34" charset="0"/>
              </a:rPr>
              <a:pPr eaLnBrk="1" hangingPunct="1"/>
              <a:t>9</a:t>
            </a:fld>
            <a:endParaRPr lang="en-CA" sz="1200" i="0">
              <a:latin typeface="Tahoma" panose="020B0604030504040204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  <p:extLst>
      <p:ext uri="{BB962C8B-B14F-4D97-AF65-F5344CB8AC3E}">
        <p14:creationId xmlns:p14="http://schemas.microsoft.com/office/powerpoint/2010/main" val="2503014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84F098F-8B9B-4605-BF1F-B4D0EAD90F15}" type="slidenum">
              <a:rPr lang="en-CA" sz="1200" i="0">
                <a:latin typeface="Tahoma" panose="020B0604030504040204" pitchFamily="34" charset="0"/>
              </a:rPr>
              <a:pPr eaLnBrk="1" hangingPunct="1"/>
              <a:t>10</a:t>
            </a:fld>
            <a:endParaRPr lang="en-CA" sz="1200" i="0">
              <a:latin typeface="Tahoma" panose="020B0604030504040204" pitchFamily="34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  <p:extLst>
      <p:ext uri="{BB962C8B-B14F-4D97-AF65-F5344CB8AC3E}">
        <p14:creationId xmlns:p14="http://schemas.microsoft.com/office/powerpoint/2010/main" val="3775839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A8DC711-3869-449F-B937-DACD4DB1BBD8}" type="slidenum">
              <a:rPr lang="en-CA" sz="1200" i="0">
                <a:latin typeface="Tahoma" panose="020B0604030504040204" pitchFamily="34" charset="0"/>
              </a:rPr>
              <a:pPr eaLnBrk="1" hangingPunct="1"/>
              <a:t>11</a:t>
            </a:fld>
            <a:endParaRPr lang="en-CA" sz="1200" i="0">
              <a:latin typeface="Tahoma" panose="020B0604030504040204" pitchFamily="34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  <p:extLst>
      <p:ext uri="{BB962C8B-B14F-4D97-AF65-F5344CB8AC3E}">
        <p14:creationId xmlns:p14="http://schemas.microsoft.com/office/powerpoint/2010/main" val="2834809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BBE879-44FF-4516-89AC-6A003877F37F}" type="slidenum">
              <a:rPr lang="en-CA" altLang="en-US" sz="1200" i="0">
                <a:latin typeface="Tahoma" panose="020B0604030504040204" pitchFamily="34" charset="0"/>
              </a:rPr>
              <a:pPr/>
              <a:t>13</a:t>
            </a:fld>
            <a:endParaRPr lang="en-CA" altLang="en-US" sz="1200" i="0">
              <a:latin typeface="Tahoma" panose="020B0604030504040204" pitchFamily="3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66823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CD6D-5F12-476E-8453-3D311B450A4E}" type="datetime8">
              <a:rPr lang="en-IN" smtClean="0"/>
              <a:t>29-12-2021 09:37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xmlns="" id="{C728CEA0-BA7F-4BA3-B201-6B7A8B3DF1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62028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4780520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29-12-2021 09:37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2" descr="C:\Users\Srinidhi\Desktop\logo.png">
            <a:extLst>
              <a:ext uri="{FF2B5EF4-FFF2-40B4-BE49-F238E27FC236}">
                <a16:creationId xmlns:a16="http://schemas.microsoft.com/office/drawing/2014/main" xmlns="" id="{5E2C67C7-C385-4A44-A78F-D95F8B3254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575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092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42C8A-CD12-4DFD-ABE8-8CF3B1F53511}" type="datetime8">
              <a:rPr lang="en-IN" smtClean="0"/>
              <a:t>29-12-2021 09:37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xmlns="" id="{6E4AAF7F-3876-4F6B-8901-E7673BBFDB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441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799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554-EC08-4A9A-B955-1CE402443775}" type="datetime8">
              <a:rPr lang="en-IN" smtClean="0"/>
              <a:t>29-12-2021 09:37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xmlns="" id="{EF3C39C1-9BAB-4C45-A144-CF8BF2E72B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9189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2344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B3C8-7270-4E63-BAFF-F61146C872A9}" type="datetime8">
              <a:rPr lang="en-IN" smtClean="0"/>
              <a:t>29-12-2021 09:37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xmlns="" id="{1B300F68-EEC8-479F-89B4-B66DB0F421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013" y="12104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810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E7326-4BB3-4EF7-A825-D7B8443422EC}" type="datetime8">
              <a:rPr lang="en-IN" smtClean="0"/>
              <a:t>29-12-2021 09:37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2" descr="C:\Users\Srinidhi\Desktop\logo.png">
            <a:extLst>
              <a:ext uri="{FF2B5EF4-FFF2-40B4-BE49-F238E27FC236}">
                <a16:creationId xmlns:a16="http://schemas.microsoft.com/office/drawing/2014/main" xmlns="" id="{6720B71A-9CF9-4970-96CA-352F2D5F33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0415" y="34776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649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CBBB-99BF-46C2-A597-705C3E515BE3}" type="datetime8">
              <a:rPr lang="en-IN" smtClean="0"/>
              <a:t>29-12-2021 09:37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xmlns="" id="{7393EDB9-65C6-42AA-B582-C92413F0DE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867" y="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047425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F2DF96F-D195-4D32-A22A-EB824CFB176E}" type="datetime8">
              <a:rPr lang="en-IN" smtClean="0"/>
              <a:t>29-12-2021 09:37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xmlns="" id="{6BF8E43F-406B-489A-A07B-CBBB6CD8B6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729" y="-48825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333161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0D-FF02-4389-90FD-819CA8976B9B}" type="datetime8">
              <a:rPr lang="en-IN" smtClean="0"/>
              <a:t>29-12-2021 09:37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xmlns="" id="{8D7279E7-0A06-4D9D-B018-700B7F4A33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377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A8DE7-22DF-4C71-8810-45CE4D417C2D}" type="datetime8">
              <a:rPr lang="en-IN" smtClean="0"/>
              <a:t>29-12-2021 09:37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2" descr="C:\Users\Srinidhi\Desktop\logo.png">
            <a:extLst>
              <a:ext uri="{FF2B5EF4-FFF2-40B4-BE49-F238E27FC236}">
                <a16:creationId xmlns:a16="http://schemas.microsoft.com/office/drawing/2014/main" xmlns="" id="{2BFF8954-070D-4352-AC3E-DD7D500D0A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281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675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C541-F4E6-4488-B462-EF7A047E4C61}" type="datetime8">
              <a:rPr lang="en-IN" smtClean="0"/>
              <a:t>29-12-2021 09:37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0" name="Picture 2" descr="C:\Users\Srinidhi\Desktop\logo.png">
            <a:extLst>
              <a:ext uri="{FF2B5EF4-FFF2-40B4-BE49-F238E27FC236}">
                <a16:creationId xmlns:a16="http://schemas.microsoft.com/office/drawing/2014/main" xmlns="" id="{F8681246-1AFA-47C1-8723-E212F3BD69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8927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588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47FF271-DAE5-45E4-9C4D-A89BEE8B6E22}" type="datetime8">
              <a:rPr lang="en-IN" smtClean="0"/>
              <a:t>29-12-2021 09:37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23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551" y="3515325"/>
            <a:ext cx="10848974" cy="111943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1" dirty="0"/>
              <a:t/>
            </a:r>
            <a:br>
              <a:rPr lang="en-IN" sz="2800" b="1" dirty="0"/>
            </a:br>
            <a:r>
              <a:rPr lang="en-IN" sz="3200" b="1" dirty="0" smtClean="0"/>
              <a:t>Course </a:t>
            </a:r>
            <a:r>
              <a:rPr lang="en-IN" sz="3200" b="1" dirty="0"/>
              <a:t>Name: </a:t>
            </a:r>
            <a:r>
              <a:rPr lang="en-IN" sz="3200" b="1" dirty="0" smtClean="0"/>
              <a:t>Database Systems</a:t>
            </a:r>
            <a:r>
              <a:rPr lang="en-IN" sz="3200" b="1" dirty="0"/>
              <a:t/>
            </a:r>
            <a:br>
              <a:rPr lang="en-IN" sz="3200" b="1" dirty="0"/>
            </a:br>
            <a:r>
              <a:rPr lang="en-IN" sz="3200" b="1" dirty="0" smtClean="0"/>
              <a:t>Course </a:t>
            </a:r>
            <a:r>
              <a:rPr lang="en-IN" sz="3200" b="1" dirty="0"/>
              <a:t>Code: </a:t>
            </a:r>
            <a:r>
              <a:rPr lang="en-IN" sz="3200" b="1" dirty="0" smtClean="0"/>
              <a:t>CS52</a:t>
            </a:r>
            <a:r>
              <a:rPr lang="en-IN" sz="3200" b="1" dirty="0"/>
              <a:t/>
            </a:r>
            <a:br>
              <a:rPr lang="en-IN" sz="3200" b="1" dirty="0"/>
            </a:br>
            <a:r>
              <a:rPr lang="en-IN" sz="3200" b="1" dirty="0"/>
              <a:t>Credits: </a:t>
            </a:r>
            <a:r>
              <a:rPr lang="en-IN" sz="3200" b="1" dirty="0" smtClean="0"/>
              <a:t>3:1:0</a:t>
            </a:r>
            <a:br>
              <a:rPr lang="en-IN" sz="3200" b="1" dirty="0" smtClean="0"/>
            </a:br>
            <a:r>
              <a:rPr lang="en-IN" sz="3200" b="1" dirty="0" smtClean="0"/>
              <a:t>UNIT 4</a:t>
            </a:r>
            <a:r>
              <a:rPr lang="en-IN" sz="3200" b="1" dirty="0"/>
              <a:t/>
            </a:r>
            <a:br>
              <a:rPr lang="en-IN" sz="3200" b="1" dirty="0"/>
            </a:br>
            <a:r>
              <a:rPr lang="en-IN" sz="3200" b="1" dirty="0"/>
              <a:t/>
            </a:r>
            <a:br>
              <a:rPr lang="en-IN" sz="3200" b="1" dirty="0"/>
            </a:br>
            <a:r>
              <a:rPr lang="en-IN" sz="3200" b="1" dirty="0"/>
              <a:t>Term: </a:t>
            </a:r>
            <a:r>
              <a:rPr lang="en-IN" sz="3200" b="1" dirty="0" smtClean="0"/>
              <a:t>Oct 2021 </a:t>
            </a:r>
            <a:r>
              <a:rPr lang="en-IN" sz="3200" b="1" dirty="0"/>
              <a:t>– </a:t>
            </a:r>
            <a:r>
              <a:rPr lang="en-IN" sz="3200" b="1" dirty="0" smtClean="0"/>
              <a:t>Feb 2022</a:t>
            </a:r>
            <a:r>
              <a:rPr lang="en-IN" sz="2000" dirty="0"/>
              <a:t/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866900" y="314146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000" b="1" dirty="0">
                <a:latin typeface="+mj-lt"/>
              </a:rPr>
              <a:t>M.S. Ramaiah Institute of Technology</a:t>
            </a:r>
            <a:endParaRPr lang="en-IN" sz="2000" dirty="0">
              <a:latin typeface="+mj-lt"/>
            </a:endParaRPr>
          </a:p>
          <a:p>
            <a:pPr algn="ctr"/>
            <a:r>
              <a:rPr lang="en-US" sz="2000" b="1" dirty="0">
                <a:latin typeface="+mj-lt"/>
              </a:rPr>
              <a:t>(Autonomous Institute, Affiliated to VTU)</a:t>
            </a:r>
            <a:endParaRPr lang="en-IN" sz="2000" dirty="0">
              <a:latin typeface="+mj-lt"/>
            </a:endParaRPr>
          </a:p>
          <a:p>
            <a:pPr algn="ctr"/>
            <a:r>
              <a:rPr lang="en-US" sz="2000" b="1" dirty="0">
                <a:latin typeface="+mj-lt"/>
              </a:rPr>
              <a:t>Department of Computer Science and Engineering</a:t>
            </a:r>
            <a:endParaRPr lang="en-IN" sz="20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C9641BE-B7C9-4946-A565-227D0582DC3F}"/>
              </a:ext>
            </a:extLst>
          </p:cNvPr>
          <p:cNvSpPr txBox="1"/>
          <p:nvPr/>
        </p:nvSpPr>
        <p:spPr>
          <a:xfrm>
            <a:off x="8644609" y="4772025"/>
            <a:ext cx="299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Faculty:</a:t>
            </a:r>
          </a:p>
          <a:p>
            <a:r>
              <a:rPr lang="en-IN" dirty="0" smtClean="0"/>
              <a:t>Dr. Sini Anna Alex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868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 Normal Forms Based on Primary Keys </a:t>
            </a:r>
          </a:p>
        </p:txBody>
      </p:sp>
      <p:sp>
        <p:nvSpPr>
          <p:cNvPr id="28675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	</a:t>
            </a:r>
            <a:r>
              <a:rPr lang="en-US" altLang="en-US" sz="2800" dirty="0" smtClean="0"/>
              <a:t>Normalization of Relations </a:t>
            </a:r>
          </a:p>
          <a:p>
            <a:pPr eaLnBrk="1" hangingPunct="1"/>
            <a:r>
              <a:rPr lang="en-US" altLang="en-US" sz="2800" dirty="0" smtClean="0"/>
              <a:t>	Practical Use of Normal Forms </a:t>
            </a:r>
          </a:p>
          <a:p>
            <a:pPr eaLnBrk="1" hangingPunct="1"/>
            <a:r>
              <a:rPr lang="en-US" altLang="en-US" sz="2800" dirty="0" smtClean="0"/>
              <a:t>	Definitions of Keys and Attributes Participating in Keys </a:t>
            </a:r>
          </a:p>
          <a:p>
            <a:pPr eaLnBrk="1" hangingPunct="1"/>
            <a:r>
              <a:rPr lang="en-US" altLang="en-US" sz="2800" dirty="0" smtClean="0"/>
              <a:t>	First Normal Form</a:t>
            </a:r>
          </a:p>
          <a:p>
            <a:pPr eaLnBrk="1" hangingPunct="1"/>
            <a:r>
              <a:rPr lang="en-US" altLang="en-US" sz="2800" dirty="0" smtClean="0"/>
              <a:t>	Second Normal Form</a:t>
            </a:r>
          </a:p>
          <a:p>
            <a:pPr eaLnBrk="1" hangingPunct="1"/>
            <a:r>
              <a:rPr lang="en-US" altLang="en-US" sz="2800" dirty="0" smtClean="0"/>
              <a:t>	Third Normal Form</a:t>
            </a:r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27198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6"/>
          <p:cNvSpPr>
            <a:spLocks noGrp="1" noChangeArrowheads="1"/>
          </p:cNvSpPr>
          <p:nvPr>
            <p:ph type="title"/>
          </p:nvPr>
        </p:nvSpPr>
        <p:spPr>
          <a:xfrm>
            <a:off x="1097279" y="286603"/>
            <a:ext cx="10532343" cy="1450757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b="1" dirty="0" smtClean="0"/>
              <a:t>Definitions </a:t>
            </a:r>
            <a:r>
              <a:rPr lang="en-US" sz="3600" b="1" dirty="0"/>
              <a:t>of Keys and Attributes </a:t>
            </a:r>
            <a:r>
              <a:rPr lang="en-US" sz="3600" b="1" dirty="0" smtClean="0"/>
              <a:t>Participating </a:t>
            </a:r>
            <a:r>
              <a:rPr lang="en-US" sz="3600" b="1" dirty="0"/>
              <a:t>in </a:t>
            </a:r>
            <a:r>
              <a:rPr lang="en-US" sz="3600" b="1" dirty="0" smtClean="0"/>
              <a:t>Keys</a:t>
            </a:r>
            <a:endParaRPr lang="en-US" sz="3600" b="1" dirty="0"/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 smtClean="0"/>
              <a:t>A </a:t>
            </a:r>
            <a:r>
              <a:rPr lang="en-US" sz="2800" b="1" dirty="0" err="1" smtClean="0"/>
              <a:t>superkey</a:t>
            </a:r>
            <a:r>
              <a:rPr lang="en-US" sz="2800" dirty="0" smtClean="0"/>
              <a:t> of a relation schema R = {A1, A2, ...., An} is a set of attributes S </a:t>
            </a:r>
            <a:r>
              <a:rPr lang="en-US" sz="2800" i="1" dirty="0" smtClean="0"/>
              <a:t>subset-of</a:t>
            </a:r>
            <a:r>
              <a:rPr lang="en-US" sz="2800" dirty="0" smtClean="0"/>
              <a:t> R with the property that no two tuples t1 and t2 in any legal relation state r of R will have t1[S] = t2[S] </a:t>
            </a:r>
          </a:p>
          <a:p>
            <a:pPr eaLnBrk="1" hangingPunct="1"/>
            <a:endParaRPr lang="en-US" sz="2800" dirty="0" smtClean="0"/>
          </a:p>
          <a:p>
            <a:pPr eaLnBrk="1" hangingPunct="1"/>
            <a:r>
              <a:rPr lang="en-US" sz="2800" dirty="0" smtClean="0"/>
              <a:t>A </a:t>
            </a:r>
            <a:r>
              <a:rPr lang="en-US" sz="2800" b="1" dirty="0" smtClean="0"/>
              <a:t>key</a:t>
            </a:r>
            <a:r>
              <a:rPr lang="en-US" sz="2800" dirty="0" smtClean="0"/>
              <a:t> K is a </a:t>
            </a:r>
            <a:r>
              <a:rPr lang="en-US" sz="2800" b="1" dirty="0" err="1" smtClean="0"/>
              <a:t>superkey</a:t>
            </a:r>
            <a:r>
              <a:rPr lang="en-US" sz="2800" dirty="0" smtClean="0"/>
              <a:t> with the </a:t>
            </a:r>
            <a:r>
              <a:rPr lang="en-US" sz="2800" i="1" dirty="0" smtClean="0"/>
              <a:t>additional property</a:t>
            </a:r>
            <a:r>
              <a:rPr lang="en-US" sz="2800" dirty="0" smtClean="0"/>
              <a:t> that removal of any attribute from K will cause K not to be a </a:t>
            </a:r>
            <a:r>
              <a:rPr lang="en-US" sz="2800" dirty="0" err="1" smtClean="0"/>
              <a:t>superkey</a:t>
            </a:r>
            <a:r>
              <a:rPr lang="en-US" sz="2800" dirty="0" smtClean="0"/>
              <a:t> any more. </a:t>
            </a:r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20774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/>
          <p:cNvSpPr>
            <a:spLocks noGrp="1" noChangeArrowheads="1"/>
          </p:cNvSpPr>
          <p:nvPr>
            <p:ph type="title"/>
          </p:nvPr>
        </p:nvSpPr>
        <p:spPr>
          <a:xfrm>
            <a:off x="283335" y="286603"/>
            <a:ext cx="11908665" cy="145075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400" b="1" dirty="0" smtClean="0"/>
              <a:t>Definitions of Keys and Attributes Participating in Keys</a:t>
            </a:r>
          </a:p>
        </p:txBody>
      </p:sp>
      <p:sp>
        <p:nvSpPr>
          <p:cNvPr id="33795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/>
              <a:t>If a relation schema has more than one key, each is called a </a:t>
            </a:r>
            <a:r>
              <a:rPr lang="en-US" altLang="en-US" sz="2400" b="1" dirty="0" smtClean="0"/>
              <a:t>candidate</a:t>
            </a:r>
            <a:r>
              <a:rPr lang="en-US" altLang="en-US" sz="2400" dirty="0" smtClean="0"/>
              <a:t> key.</a:t>
            </a:r>
          </a:p>
          <a:p>
            <a:pPr lvl="1" eaLnBrk="1" hangingPunct="1"/>
            <a:r>
              <a:rPr lang="en-US" altLang="en-US" sz="2400" dirty="0" smtClean="0"/>
              <a:t>One of the candidate keys is </a:t>
            </a:r>
            <a:r>
              <a:rPr lang="en-US" altLang="en-US" sz="2400" i="1" dirty="0" smtClean="0"/>
              <a:t>arbitrarily</a:t>
            </a:r>
            <a:r>
              <a:rPr lang="en-US" altLang="en-US" sz="2400" dirty="0" smtClean="0"/>
              <a:t> designated to be the </a:t>
            </a:r>
            <a:r>
              <a:rPr lang="en-US" altLang="en-US" sz="2400" b="1" dirty="0" smtClean="0"/>
              <a:t>primary key</a:t>
            </a:r>
            <a:r>
              <a:rPr lang="en-US" altLang="en-US" sz="2400" dirty="0" smtClean="0"/>
              <a:t>, and the others are called </a:t>
            </a:r>
            <a:r>
              <a:rPr lang="en-US" altLang="en-US" sz="2400" b="1" dirty="0" smtClean="0"/>
              <a:t>secondary keys</a:t>
            </a:r>
            <a:r>
              <a:rPr lang="en-US" altLang="en-US" sz="2400" dirty="0" smtClean="0"/>
              <a:t>.</a:t>
            </a:r>
          </a:p>
          <a:p>
            <a:pPr eaLnBrk="1" hangingPunct="1"/>
            <a:r>
              <a:rPr lang="en-US" altLang="en-US" sz="2400" dirty="0" smtClean="0"/>
              <a:t>A </a:t>
            </a:r>
            <a:r>
              <a:rPr lang="en-US" altLang="en-US" sz="2400" b="1" dirty="0" smtClean="0"/>
              <a:t>Prime attribute</a:t>
            </a:r>
            <a:r>
              <a:rPr lang="en-US" altLang="en-US" sz="2400" dirty="0" smtClean="0"/>
              <a:t> must be a member of </a:t>
            </a:r>
            <a:r>
              <a:rPr lang="en-US" altLang="en-US" sz="2400" i="1" dirty="0" smtClean="0"/>
              <a:t>some</a:t>
            </a:r>
            <a:r>
              <a:rPr lang="en-US" altLang="en-US" sz="2400" dirty="0" smtClean="0"/>
              <a:t> candidate key</a:t>
            </a:r>
          </a:p>
          <a:p>
            <a:pPr eaLnBrk="1" hangingPunct="1"/>
            <a:r>
              <a:rPr lang="en-US" altLang="en-US" sz="2400" dirty="0" smtClean="0"/>
              <a:t>A </a:t>
            </a:r>
            <a:r>
              <a:rPr lang="en-US" altLang="en-US" sz="2400" b="1" dirty="0" smtClean="0"/>
              <a:t>Nonprime attribute</a:t>
            </a:r>
            <a:r>
              <a:rPr lang="en-US" altLang="en-US" sz="2400" dirty="0" smtClean="0"/>
              <a:t> is not a prime attribute—that is, it is not a member of any candidate key</a:t>
            </a:r>
            <a:r>
              <a:rPr lang="en-US" altLang="en-US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9136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71" y="759854"/>
            <a:ext cx="11513711" cy="977506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Finding Candidate Keys and Super Keys of a Relation using FD set</a:t>
            </a:r>
            <a:r>
              <a:rPr lang="en-US" sz="4400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71" y="1845734"/>
            <a:ext cx="11269014" cy="4464914"/>
          </a:xfrm>
        </p:spPr>
        <p:txBody>
          <a:bodyPr>
            <a:normAutofit/>
          </a:bodyPr>
          <a:lstStyle/>
          <a:p>
            <a:r>
              <a:rPr lang="en-US" dirty="0"/>
              <a:t>The </a:t>
            </a:r>
            <a:r>
              <a:rPr lang="en-US" b="1" dirty="0"/>
              <a:t>set of attributes</a:t>
            </a:r>
            <a:r>
              <a:rPr lang="en-US" dirty="0"/>
              <a:t> whose attribute closure is set of all attributes of relation is called super key of relation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Consider the following </a:t>
            </a:r>
            <a:r>
              <a:rPr lang="en-US" dirty="0"/>
              <a:t>FD set. </a:t>
            </a:r>
            <a:r>
              <a:rPr lang="en-US" b="1" dirty="0"/>
              <a:t>{E-ID-&gt;E-NAME, E-ID-&gt;E-CITY, E-ID-&gt;E-STATE, E-CITY-&gt;E-STATE}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 smtClean="0"/>
              <a:t>Let</a:t>
            </a:r>
            <a:r>
              <a:rPr lang="en-US" dirty="0"/>
              <a:t> us calculate attribute closure of different set of </a:t>
            </a:r>
            <a:r>
              <a:rPr lang="en-US" dirty="0" smtClean="0"/>
              <a:t>attributes: </a:t>
            </a:r>
            <a:r>
              <a:rPr lang="en-US" b="1" dirty="0" smtClean="0"/>
              <a:t>EMPLOYEE(E-ID,</a:t>
            </a:r>
            <a:r>
              <a:rPr lang="en-US" b="1" dirty="0"/>
              <a:t> </a:t>
            </a:r>
            <a:r>
              <a:rPr lang="en-US" b="1" dirty="0" smtClean="0"/>
              <a:t>E-NAME, E-CITY,</a:t>
            </a:r>
            <a:r>
              <a:rPr lang="en-US" b="1" dirty="0"/>
              <a:t> </a:t>
            </a:r>
            <a:r>
              <a:rPr lang="en-US" b="1" dirty="0" smtClean="0"/>
              <a:t>E-STATE)</a:t>
            </a:r>
            <a:endParaRPr lang="en-US" dirty="0" smtClean="0"/>
          </a:p>
          <a:p>
            <a:r>
              <a:rPr lang="en-US" dirty="0"/>
              <a:t>(E-ID)+ = {E-ID, E-NAME,E-CITY,E-STATE}</a:t>
            </a:r>
          </a:p>
          <a:p>
            <a:r>
              <a:rPr lang="en-US" dirty="0"/>
              <a:t>(E-ID,E-NAME)+ = {E-ID, E-NAME,E-CITY,E-STATE}</a:t>
            </a:r>
          </a:p>
          <a:p>
            <a:r>
              <a:rPr lang="en-US" dirty="0"/>
              <a:t>(E-ID,E-CITY)+ = {E-ID, E-NAME,E-CITY,E-STATE}</a:t>
            </a:r>
          </a:p>
          <a:p>
            <a:r>
              <a:rPr lang="en-US" dirty="0"/>
              <a:t>(E-ID,E-STATE)+ = {E-ID, E-NAME,E-CITY,E-STATE}</a:t>
            </a:r>
          </a:p>
          <a:p>
            <a:r>
              <a:rPr lang="en-US" dirty="0"/>
              <a:t>(E-ID,E-CITY,E-STATE)+ = {E-ID, E-NAME,E-CITY,E-STATE</a:t>
            </a:r>
            <a:r>
              <a:rPr lang="en-US" dirty="0" smtClean="0"/>
              <a:t>}</a:t>
            </a:r>
          </a:p>
          <a:p>
            <a:r>
              <a:rPr lang="en-US" dirty="0"/>
              <a:t>(E-NAME)+ = {E-NAME}</a:t>
            </a:r>
          </a:p>
          <a:p>
            <a:r>
              <a:rPr lang="en-US" dirty="0"/>
              <a:t>(E-CITY)+ = {E-CITY,E-STATE}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29-12-2021 09:37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010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Normalization of Relations</a:t>
            </a:r>
          </a:p>
        </p:txBody>
      </p:sp>
      <p:sp>
        <p:nvSpPr>
          <p:cNvPr id="29699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 smtClean="0"/>
              <a:t>Normalization:</a:t>
            </a:r>
          </a:p>
          <a:p>
            <a:pPr lvl="1" eaLnBrk="1" hangingPunct="1"/>
            <a:r>
              <a:rPr lang="en-US" altLang="en-US" dirty="0" smtClean="0"/>
              <a:t>The process of decomposing unsatisfactory "bad" relations by breaking up their attributes into smaller relations.</a:t>
            </a:r>
          </a:p>
          <a:p>
            <a:pPr lvl="1" eaLnBrk="1" hangingPunct="1"/>
            <a:r>
              <a:rPr lang="en-US" dirty="0" smtClean="0"/>
              <a:t>It </a:t>
            </a:r>
            <a:r>
              <a:rPr lang="en-US" dirty="0"/>
              <a:t>is important that a database is </a:t>
            </a:r>
            <a:r>
              <a:rPr lang="en-US" b="1" dirty="0"/>
              <a:t>normalized to minimize redundancy (duplicate data) and to ensure only related data is stored in each table</a:t>
            </a:r>
            <a:r>
              <a:rPr lang="en-US" dirty="0"/>
              <a:t>.  </a:t>
            </a:r>
          </a:p>
          <a:p>
            <a:pPr lvl="1" eaLnBrk="1" hangingPunct="1"/>
            <a:r>
              <a:rPr lang="en-US" dirty="0" smtClean="0"/>
              <a:t>Normalization </a:t>
            </a:r>
            <a:r>
              <a:rPr lang="en-US" dirty="0"/>
              <a:t>makes sure that all of your data looks and reads the same way across all records</a:t>
            </a:r>
            <a:r>
              <a:rPr lang="en-US" dirty="0" smtClean="0"/>
              <a:t>.</a:t>
            </a:r>
          </a:p>
          <a:p>
            <a:r>
              <a:rPr lang="en-US" dirty="0"/>
              <a:t>The benefits of normalization include: </a:t>
            </a:r>
            <a:r>
              <a:rPr lang="en-US" b="1" dirty="0"/>
              <a:t>Searching, sorting, and creating indexes is faster</a:t>
            </a:r>
            <a:endParaRPr lang="en-US" altLang="en-US" dirty="0" smtClean="0"/>
          </a:p>
          <a:p>
            <a:pPr eaLnBrk="1" hangingPunct="1"/>
            <a:r>
              <a:rPr lang="en-US" altLang="en-US" b="1" dirty="0" smtClean="0"/>
              <a:t>Normal form:</a:t>
            </a:r>
          </a:p>
          <a:p>
            <a:pPr lvl="1" eaLnBrk="1" hangingPunct="1"/>
            <a:r>
              <a:rPr lang="en-US" altLang="en-US" dirty="0" smtClean="0"/>
              <a:t>Condition using keys and FDs of a relation to certify whether a relation schema is in a particular normal form </a:t>
            </a:r>
          </a:p>
        </p:txBody>
      </p:sp>
    </p:spTree>
    <p:extLst>
      <p:ext uri="{BB962C8B-B14F-4D97-AF65-F5344CB8AC3E}">
        <p14:creationId xmlns:p14="http://schemas.microsoft.com/office/powerpoint/2010/main" val="218650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Normalization of Relations</a:t>
            </a:r>
          </a:p>
        </p:txBody>
      </p:sp>
      <p:sp>
        <p:nvSpPr>
          <p:cNvPr id="30723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2NF, 3NF, BCNF </a:t>
            </a:r>
          </a:p>
          <a:p>
            <a:pPr lvl="1" eaLnBrk="1" hangingPunct="1"/>
            <a:r>
              <a:rPr lang="en-US" altLang="en-US" dirty="0" smtClean="0"/>
              <a:t>based on keys and FDs of a relation schema</a:t>
            </a:r>
          </a:p>
          <a:p>
            <a:pPr eaLnBrk="1" hangingPunct="1"/>
            <a:r>
              <a:rPr lang="en-US" altLang="en-US" dirty="0" smtClean="0"/>
              <a:t>4NF</a:t>
            </a:r>
          </a:p>
          <a:p>
            <a:pPr lvl="1" eaLnBrk="1" hangingPunct="1"/>
            <a:r>
              <a:rPr lang="en-US" altLang="en-US" dirty="0" smtClean="0"/>
              <a:t>based on keys, multi-valued dependencies : MVDs; </a:t>
            </a:r>
          </a:p>
          <a:p>
            <a:pPr eaLnBrk="1" hangingPunct="1"/>
            <a:r>
              <a:rPr lang="en-US" altLang="en-US" dirty="0" smtClean="0"/>
              <a:t>5NF </a:t>
            </a:r>
          </a:p>
          <a:p>
            <a:pPr lvl="1" eaLnBrk="1" hangingPunct="1"/>
            <a:r>
              <a:rPr lang="en-US" altLang="en-US" dirty="0" smtClean="0"/>
              <a:t>based on keys, join dependencies : JDs</a:t>
            </a:r>
          </a:p>
          <a:p>
            <a:pPr eaLnBrk="1" hangingPunct="1"/>
            <a:r>
              <a:rPr lang="en-US" altLang="en-US" dirty="0" smtClean="0"/>
              <a:t>Additional properties may be needed to ensure a good relational design (lossless join, dependency preservation</a:t>
            </a:r>
            <a:r>
              <a:rPr lang="en-US" altLang="en-US" dirty="0"/>
              <a:t>)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8864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Practical Use of Normal Forms</a:t>
            </a:r>
          </a:p>
        </p:txBody>
      </p:sp>
      <p:sp>
        <p:nvSpPr>
          <p:cNvPr id="31747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2400" b="1" dirty="0"/>
              <a:t>Normalization</a:t>
            </a:r>
            <a:r>
              <a:rPr lang="en-US" altLang="en-US" sz="2400" dirty="0"/>
              <a:t> is carried out in practice so that the resulting designs are of high quality and meet the desirable properties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 smtClean="0"/>
              <a:t>The </a:t>
            </a:r>
            <a:r>
              <a:rPr lang="en-US" altLang="en-US" sz="2400" dirty="0"/>
              <a:t>practical utility of these normal forms becomes questionable when the constraints on which they are based are </a:t>
            </a:r>
            <a:r>
              <a:rPr lang="en-US" altLang="en-US" sz="2400" i="1" dirty="0"/>
              <a:t>hard to understand</a:t>
            </a:r>
            <a:r>
              <a:rPr lang="en-US" altLang="en-US" sz="2400" dirty="0"/>
              <a:t> or to </a:t>
            </a:r>
            <a:r>
              <a:rPr lang="en-US" altLang="en-US" sz="2400" i="1" dirty="0"/>
              <a:t>detect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/>
              <a:t>The database designers </a:t>
            </a:r>
            <a:r>
              <a:rPr lang="en-US" altLang="en-US" sz="2400" i="1" dirty="0"/>
              <a:t>need not</a:t>
            </a:r>
            <a:r>
              <a:rPr lang="en-US" altLang="en-US" sz="2400" dirty="0"/>
              <a:t> normalize to the highest possible normal form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200" dirty="0"/>
              <a:t>(usually up to 3NF and BCNF. 4NF rarely used in practice.)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b="1" dirty="0" err="1"/>
              <a:t>Denormalization</a:t>
            </a:r>
            <a:r>
              <a:rPr lang="en-US" altLang="en-US" sz="2400" dirty="0"/>
              <a:t>: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200" dirty="0"/>
              <a:t>The process of storing the join of higher normal form relations as a base relation—which is in a lower normal form    </a:t>
            </a:r>
          </a:p>
        </p:txBody>
      </p:sp>
    </p:spTree>
    <p:extLst>
      <p:ext uri="{BB962C8B-B14F-4D97-AF65-F5344CB8AC3E}">
        <p14:creationId xmlns:p14="http://schemas.microsoft.com/office/powerpoint/2010/main" val="234039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First Normal Form 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400" dirty="0" smtClean="0"/>
              <a:t>Disallows</a:t>
            </a:r>
          </a:p>
          <a:p>
            <a:pPr lvl="1" eaLnBrk="1" hangingPunct="1"/>
            <a:r>
              <a:rPr lang="en-US" sz="2400" dirty="0" smtClean="0"/>
              <a:t>composite attributes</a:t>
            </a:r>
          </a:p>
          <a:p>
            <a:pPr lvl="1" eaLnBrk="1" hangingPunct="1"/>
            <a:r>
              <a:rPr lang="en-US" sz="2400" dirty="0" smtClean="0"/>
              <a:t>multivalued attributes</a:t>
            </a:r>
          </a:p>
          <a:p>
            <a:pPr lvl="1" eaLnBrk="1" hangingPunct="1"/>
            <a:r>
              <a:rPr lang="en-US" sz="2400" b="1" dirty="0" smtClean="0"/>
              <a:t>nested relations</a:t>
            </a:r>
            <a:r>
              <a:rPr lang="en-US" sz="2400" dirty="0" smtClean="0"/>
              <a:t>; attributes whose values for an </a:t>
            </a:r>
            <a:r>
              <a:rPr lang="en-US" sz="2400" i="1" dirty="0" smtClean="0"/>
              <a:t>individual tuple</a:t>
            </a:r>
            <a:r>
              <a:rPr lang="en-US" sz="2400" dirty="0" smtClean="0"/>
              <a:t> are non-atomic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en-US" sz="2400" dirty="0" smtClean="0"/>
              <a:t>Considered to be part of the definition of relation .</a:t>
            </a:r>
          </a:p>
          <a:p>
            <a:r>
              <a:rPr lang="en-US" altLang="en-US" sz="2400" dirty="0"/>
              <a:t>Most RDBMSs allow only those relations to be defined that are in First Normal Form</a:t>
            </a:r>
          </a:p>
          <a:p>
            <a:pPr eaLnBrk="1" hangingPunct="1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81187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9"/>
          <p:cNvSpPr>
            <a:spLocks noGrp="1" noChangeArrowheads="1"/>
          </p:cNvSpPr>
          <p:nvPr>
            <p:ph type="title"/>
          </p:nvPr>
        </p:nvSpPr>
        <p:spPr>
          <a:xfrm>
            <a:off x="360608" y="605307"/>
            <a:ext cx="3657600" cy="113205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Normalization into 1NF</a:t>
            </a: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3352800" y="130968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/>
          </a:p>
        </p:txBody>
      </p:sp>
      <p:pic>
        <p:nvPicPr>
          <p:cNvPr id="41989" name="Picture 11" descr="fig10_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608" y="402465"/>
            <a:ext cx="7509844" cy="5753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482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9"/>
          <p:cNvSpPr>
            <a:spLocks noGrp="1" noChangeArrowheads="1"/>
          </p:cNvSpPr>
          <p:nvPr>
            <p:ph type="title"/>
          </p:nvPr>
        </p:nvSpPr>
        <p:spPr>
          <a:xfrm>
            <a:off x="1200311" y="584310"/>
            <a:ext cx="3333052" cy="118704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dirty="0" smtClean="0"/>
              <a:t>Normalization </a:t>
            </a:r>
            <a:r>
              <a:rPr lang="en-US" sz="3200" dirty="0"/>
              <a:t>nested relations into 1NF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3352800" y="130968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/>
          </a:p>
        </p:txBody>
      </p:sp>
      <p:pic>
        <p:nvPicPr>
          <p:cNvPr id="43013" name="Picture 11" descr="fig10_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321" y="263124"/>
            <a:ext cx="6303568" cy="6561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748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Second Normal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944" y="1845734"/>
            <a:ext cx="10511736" cy="4142942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2400" dirty="0"/>
              <a:t>Second normal form (2NF) is based on the concept of </a:t>
            </a:r>
            <a:r>
              <a:rPr lang="en-US" sz="2400" i="1" dirty="0"/>
              <a:t>full functional dependency. </a:t>
            </a:r>
            <a:r>
              <a:rPr lang="en-US" sz="2400" dirty="0"/>
              <a:t>A </a:t>
            </a:r>
            <a:r>
              <a:rPr lang="en-US" sz="2400" dirty="0" smtClean="0"/>
              <a:t>functional dependency </a:t>
            </a:r>
            <a:r>
              <a:rPr lang="en-US" sz="2400" dirty="0"/>
              <a:t>X </a:t>
            </a:r>
            <a:r>
              <a:rPr lang="en-US" sz="2400" dirty="0" smtClean="0">
                <a:sym typeface="Wingdings" panose="05000000000000000000" pitchFamily="2" charset="2"/>
              </a:rPr>
              <a:t></a:t>
            </a:r>
            <a:r>
              <a:rPr lang="en-US" sz="2400" dirty="0" smtClean="0"/>
              <a:t> </a:t>
            </a:r>
            <a:r>
              <a:rPr lang="en-US" sz="2400" i="1" dirty="0"/>
              <a:t>Y </a:t>
            </a:r>
            <a:r>
              <a:rPr lang="en-US" sz="2400" dirty="0"/>
              <a:t>is a </a:t>
            </a:r>
            <a:r>
              <a:rPr lang="en-US" sz="2400" b="1" dirty="0"/>
              <a:t>full functional dependency </a:t>
            </a:r>
            <a:r>
              <a:rPr lang="en-US" sz="2400" dirty="0"/>
              <a:t>if removal of any attribute </a:t>
            </a:r>
            <a:r>
              <a:rPr lang="en-US" sz="2400" dirty="0" smtClean="0"/>
              <a:t>A from </a:t>
            </a:r>
            <a:r>
              <a:rPr lang="en-US" sz="2400" dirty="0"/>
              <a:t>X means that the dependency does not hold any </a:t>
            </a:r>
            <a:r>
              <a:rPr lang="en-US" sz="2400" dirty="0" smtClean="0"/>
              <a:t>more.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F</a:t>
            </a:r>
            <a:r>
              <a:rPr lang="en-US" sz="2400" dirty="0" smtClean="0"/>
              <a:t>unctional </a:t>
            </a:r>
            <a:r>
              <a:rPr lang="en-US" sz="2400" dirty="0"/>
              <a:t>dependency X </a:t>
            </a:r>
            <a:r>
              <a:rPr lang="en-US" sz="2400" dirty="0" smtClean="0">
                <a:sym typeface="Wingdings" panose="05000000000000000000" pitchFamily="2" charset="2"/>
              </a:rPr>
              <a:t></a:t>
            </a:r>
            <a:r>
              <a:rPr lang="en-US" sz="2400" dirty="0" smtClean="0"/>
              <a:t> </a:t>
            </a:r>
            <a:r>
              <a:rPr lang="en-US" sz="2400" i="1" dirty="0"/>
              <a:t>Y </a:t>
            </a:r>
            <a:r>
              <a:rPr lang="en-US" sz="2400" dirty="0"/>
              <a:t>is a </a:t>
            </a:r>
            <a:r>
              <a:rPr lang="en-US" sz="2400" b="1" dirty="0" smtClean="0"/>
              <a:t>partial dependency </a:t>
            </a:r>
            <a:r>
              <a:rPr lang="en-US" sz="2400" dirty="0"/>
              <a:t>if some attribute A </a:t>
            </a:r>
            <a:r>
              <a:rPr lang="el-GR" sz="2400" dirty="0" smtClean="0"/>
              <a:t>ϵ</a:t>
            </a:r>
            <a:r>
              <a:rPr lang="en-US" sz="2400" dirty="0" smtClean="0"/>
              <a:t> </a:t>
            </a:r>
            <a:r>
              <a:rPr lang="en-US" sz="2400" dirty="0"/>
              <a:t>X can be removed from X and the dependency </a:t>
            </a:r>
            <a:r>
              <a:rPr lang="en-US" sz="2400" dirty="0" smtClean="0"/>
              <a:t>still holds.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29-12-2021 09:37</a:t>
            </a:fld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26" y="4756038"/>
            <a:ext cx="11703647" cy="96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84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Second Normal Form contd………</a:t>
            </a:r>
          </a:p>
        </p:txBody>
      </p:sp>
      <p:sp>
        <p:nvSpPr>
          <p:cNvPr id="3891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 smtClean="0"/>
              <a:t>A relation schema R is in </a:t>
            </a:r>
            <a:r>
              <a:rPr lang="en-US" altLang="en-US" sz="2800" b="1" dirty="0" smtClean="0"/>
              <a:t>second normal form (2NF)</a:t>
            </a:r>
            <a:r>
              <a:rPr lang="en-US" altLang="en-US" sz="2800" dirty="0" smtClean="0"/>
              <a:t> if every non-prime attribute A in R is fully functionally dependent on the primary key</a:t>
            </a:r>
          </a:p>
          <a:p>
            <a:pPr eaLnBrk="1" hangingPunct="1"/>
            <a:endParaRPr lang="en-US" altLang="en-US" sz="2800" dirty="0" smtClean="0"/>
          </a:p>
          <a:p>
            <a:pPr eaLnBrk="1" hangingPunct="1"/>
            <a:r>
              <a:rPr lang="en-US" altLang="en-US" sz="2800" dirty="0" smtClean="0"/>
              <a:t>R can be decomposed into 2NF relations via the process of 2NF normalization or “second normalization”</a:t>
            </a:r>
          </a:p>
        </p:txBody>
      </p:sp>
    </p:spTree>
    <p:extLst>
      <p:ext uri="{BB962C8B-B14F-4D97-AF65-F5344CB8AC3E}">
        <p14:creationId xmlns:p14="http://schemas.microsoft.com/office/powerpoint/2010/main" val="74833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2NF Example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8219" y="286603"/>
            <a:ext cx="7195665" cy="230056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29-12-2021 09:37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720" y="2583377"/>
            <a:ext cx="2781865" cy="11693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047" y="3940934"/>
            <a:ext cx="10637953" cy="18891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865" y="1903443"/>
            <a:ext cx="4175354" cy="21236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Key: SSN, PNUMBER</a:t>
            </a:r>
          </a:p>
          <a:p>
            <a:r>
              <a:rPr lang="en-US" sz="2400" dirty="0" smtClean="0"/>
              <a:t>FDs:</a:t>
            </a:r>
          </a:p>
          <a:p>
            <a:r>
              <a:rPr lang="en-US" sz="2000" dirty="0"/>
              <a:t>SSN, </a:t>
            </a:r>
            <a:r>
              <a:rPr lang="en-US" sz="2000" dirty="0" smtClean="0"/>
              <a:t>PNUMBER-&gt; HOURS</a:t>
            </a:r>
          </a:p>
          <a:p>
            <a:r>
              <a:rPr lang="en-US" sz="2000" dirty="0" smtClean="0"/>
              <a:t>SSN-&gt;ENAME</a:t>
            </a:r>
          </a:p>
          <a:p>
            <a:r>
              <a:rPr lang="en-US" sz="2000" dirty="0" smtClean="0"/>
              <a:t>PNUMBER-&gt;PNAME</a:t>
            </a:r>
          </a:p>
          <a:p>
            <a:r>
              <a:rPr lang="en-US" sz="2000" dirty="0" smtClean="0"/>
              <a:t>PNUMBER-&gt;PLOCATION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6897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43" y="476518"/>
            <a:ext cx="11075830" cy="1369216"/>
          </a:xfrm>
        </p:spPr>
        <p:txBody>
          <a:bodyPr>
            <a:noAutofit/>
          </a:bodyPr>
          <a:lstStyle/>
          <a:p>
            <a:r>
              <a:rPr lang="en-US" sz="4400" dirty="0"/>
              <a:t>Tutorial </a:t>
            </a:r>
            <a:r>
              <a:rPr lang="en-US" sz="4400" dirty="0" smtClean="0"/>
              <a:t>2: D</a:t>
            </a:r>
            <a:r>
              <a:rPr lang="en-US" sz="4400" b="1" dirty="0" smtClean="0"/>
              <a:t>ecompose </a:t>
            </a:r>
            <a:r>
              <a:rPr lang="en-US" sz="4400" b="1" dirty="0"/>
              <a:t>a non-2NF relation to a 2NF </a:t>
            </a:r>
            <a:r>
              <a:rPr lang="en-US" sz="4400" b="1" dirty="0" smtClean="0"/>
              <a:t>relation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570979" cy="1059851"/>
          </a:xfrm>
        </p:spPr>
        <p:txBody>
          <a:bodyPr>
            <a:normAutofit/>
          </a:bodyPr>
          <a:lstStyle/>
          <a:p>
            <a:r>
              <a:rPr lang="en-US" sz="2400" dirty="0"/>
              <a:t>Assume a relation R (A, B, C, D, E) with the following set of functional dependencies;</a:t>
            </a:r>
          </a:p>
          <a:p>
            <a:r>
              <a:rPr lang="en-US" sz="2400" dirty="0"/>
              <a:t>F = {AB → C, B → D, E → D}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29-12-2021 09:37</a:t>
            </a:fld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335887" y="3356346"/>
            <a:ext cx="108561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key for this relation is ABE. Then, all three given FDs are partial dependencies, viz., AB → C, B → D, and E → D.</a:t>
            </a:r>
          </a:p>
          <a:p>
            <a:r>
              <a:rPr lang="en-US" dirty="0"/>
              <a:t>Step 1: separate tables for partial dependencies; hence, R1 (ABC), R2 (BD) and R3 (ED).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Step 2: remove RHS of these two partial FDs from R; hence, R4(A, B, E).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Thus, we have four tables </a:t>
            </a:r>
            <a:r>
              <a:rPr lang="en-US" b="1" i="1" dirty="0"/>
              <a:t>R1 (ABC), R2 (BD), R3 (ED)</a:t>
            </a:r>
            <a:r>
              <a:rPr lang="en-US" dirty="0"/>
              <a:t> and </a:t>
            </a:r>
            <a:r>
              <a:rPr lang="en-US" b="1" i="1" dirty="0"/>
              <a:t>R4 (ABE)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664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3420619"/>
            <a:ext cx="7184001" cy="2801893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29-12-2021 09:37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860416"/>
            <a:ext cx="10223250" cy="232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90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Tutorial 4: Compute Minimal Cover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154" y="1845734"/>
            <a:ext cx="10959922" cy="1830925"/>
          </a:xfrm>
        </p:spPr>
        <p:txBody>
          <a:bodyPr>
            <a:normAutofit/>
          </a:bodyPr>
          <a:lstStyle/>
          <a:p>
            <a:r>
              <a:rPr lang="en-US" b="1" dirty="0" smtClean="0"/>
              <a:t>1. </a:t>
            </a:r>
            <a:r>
              <a:rPr lang="en-US" b="1" dirty="0"/>
              <a:t>Find the minimal cover of the set of functional dependencies given; </a:t>
            </a:r>
            <a:endParaRPr lang="en-US" b="1" dirty="0" smtClean="0"/>
          </a:p>
          <a:p>
            <a:r>
              <a:rPr lang="en-US" b="1" dirty="0" smtClean="0"/>
              <a:t>{</a:t>
            </a:r>
            <a:r>
              <a:rPr lang="en-US" b="1" dirty="0"/>
              <a:t>A → C, AB → C, C → DI, CD → I, EC → AB, EI → C}</a:t>
            </a:r>
            <a:endParaRPr lang="en-US" dirty="0"/>
          </a:p>
          <a:p>
            <a:r>
              <a:rPr lang="en-US" b="1" dirty="0" smtClean="0"/>
              <a:t>2. F </a:t>
            </a:r>
            <a:r>
              <a:rPr lang="en-US" b="1" dirty="0"/>
              <a:t>= { AB -&gt; C, C -&gt; A, BC -&gt; D, ACD -&gt; B, D -&gt; E, D -&gt; G, BE -&gt; C, CG -&gt; </a:t>
            </a:r>
            <a:r>
              <a:rPr lang="en-US" b="1" dirty="0" smtClean="0"/>
              <a:t>B, </a:t>
            </a:r>
            <a:r>
              <a:rPr lang="fr-FR" b="1" dirty="0" smtClean="0"/>
              <a:t>CG </a:t>
            </a:r>
            <a:r>
              <a:rPr lang="fr-FR" b="1" dirty="0"/>
              <a:t>-&gt; D, CE -&gt; A, CE -&gt; G</a:t>
            </a:r>
            <a:r>
              <a:rPr lang="fr-FR" b="1" dirty="0" smtClean="0"/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29-12-2021 09:37</a:t>
            </a:fld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15155" y="3676659"/>
            <a:ext cx="112818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Solution:</a:t>
            </a:r>
          </a:p>
          <a:p>
            <a:r>
              <a:rPr lang="en-US" b="1" dirty="0"/>
              <a:t>Q1:   MC = {A → C, C → D, C → I, EC → A, EC → B, EI → C}</a:t>
            </a:r>
          </a:p>
          <a:p>
            <a:r>
              <a:rPr lang="fr-FR" b="1" dirty="0"/>
              <a:t>Q2:</a:t>
            </a:r>
          </a:p>
          <a:p>
            <a:r>
              <a:rPr lang="en-US" b="1" dirty="0"/>
              <a:t>Minimal Cover 1</a:t>
            </a:r>
            <a:r>
              <a:rPr lang="en-US" dirty="0"/>
              <a:t>: {AB -&gt; C, </a:t>
            </a:r>
            <a:r>
              <a:rPr lang="en-US" b="1" dirty="0"/>
              <a:t>C -&gt; A</a:t>
            </a:r>
            <a:r>
              <a:rPr lang="en-US" dirty="0"/>
              <a:t>, BC -&gt; D, </a:t>
            </a:r>
            <a:r>
              <a:rPr lang="en-US" b="1" dirty="0"/>
              <a:t>CD -&gt; B</a:t>
            </a:r>
            <a:r>
              <a:rPr lang="en-US" dirty="0"/>
              <a:t>, D -&gt; E, D -&gt; G, BE -&gt; C, </a:t>
            </a:r>
            <a:r>
              <a:rPr lang="en-US" b="1" dirty="0"/>
              <a:t>CG -&gt; D</a:t>
            </a:r>
            <a:r>
              <a:rPr lang="en-US" dirty="0"/>
              <a:t>, CE -&gt; G}</a:t>
            </a:r>
          </a:p>
          <a:p>
            <a:r>
              <a:rPr lang="en-US" dirty="0"/>
              <a:t>---------------------------------------------------------------------------------------------------------</a:t>
            </a:r>
          </a:p>
          <a:p>
            <a:r>
              <a:rPr lang="en-US" b="1" dirty="0"/>
              <a:t>Minimal Cover 2 </a:t>
            </a:r>
            <a:r>
              <a:rPr lang="en-US" dirty="0"/>
              <a:t>: {AB -&gt; C, </a:t>
            </a:r>
            <a:r>
              <a:rPr lang="en-US" b="1" dirty="0"/>
              <a:t>C -&gt; A</a:t>
            </a:r>
            <a:r>
              <a:rPr lang="en-US" dirty="0"/>
              <a:t>, </a:t>
            </a:r>
            <a:r>
              <a:rPr lang="en-US" b="1" dirty="0"/>
              <a:t>BC -&gt; D</a:t>
            </a:r>
            <a:r>
              <a:rPr lang="en-US" dirty="0"/>
              <a:t>, D -&gt; E, </a:t>
            </a:r>
            <a:r>
              <a:rPr lang="en-US" b="1" dirty="0"/>
              <a:t>D -&gt; G</a:t>
            </a:r>
            <a:r>
              <a:rPr lang="en-US" dirty="0"/>
              <a:t>, BE -&gt; C, </a:t>
            </a:r>
            <a:r>
              <a:rPr lang="en-US" b="1" dirty="0"/>
              <a:t>CG -&gt; B</a:t>
            </a:r>
            <a:r>
              <a:rPr lang="en-US" dirty="0"/>
              <a:t>, CE -&gt; G}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809415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2A03D13D-0AF5-4B48-8187-B9955F4F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496403"/>
            <a:ext cx="10058400" cy="1450757"/>
          </a:xfrm>
        </p:spPr>
        <p:txBody>
          <a:bodyPr/>
          <a:lstStyle/>
          <a:p>
            <a:pPr algn="ctr"/>
            <a:r>
              <a:rPr lang="en-IN" dirty="0"/>
              <a:t>Thank you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EA23F-1258-4CDD-B0AE-D7AA4C94D112}" type="datetime8">
              <a:rPr lang="en-IN" smtClean="0"/>
              <a:t>29-12-2021 09:37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37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Custom 1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1566</TotalTime>
  <Words>875</Words>
  <Application>Microsoft Office PowerPoint</Application>
  <PresentationFormat>Widescreen</PresentationFormat>
  <Paragraphs>117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Tahoma</vt:lpstr>
      <vt:lpstr>Wingdings</vt:lpstr>
      <vt:lpstr>Retrospect</vt:lpstr>
      <vt:lpstr> Course Name: Database Systems Course Code: CS52 Credits: 3:1:0 UNIT 4  Term: Oct 2021 – Feb 2022 </vt:lpstr>
      <vt:lpstr>3 Normal Forms Based on Primary Keys </vt:lpstr>
      <vt:lpstr>Definitions of Keys and Attributes Participating in Keys</vt:lpstr>
      <vt:lpstr>Definitions of Keys and Attributes Participating in Keys</vt:lpstr>
      <vt:lpstr>Finding Candidate Keys and Super Keys of a Relation using FD set </vt:lpstr>
      <vt:lpstr>Normalization of Relations</vt:lpstr>
      <vt:lpstr>Normalization of Relations</vt:lpstr>
      <vt:lpstr>Practical Use of Normal Forms</vt:lpstr>
      <vt:lpstr>First Normal Form </vt:lpstr>
      <vt:lpstr>Normalization into 1NF</vt:lpstr>
      <vt:lpstr>Normalization nested relations into 1NF</vt:lpstr>
      <vt:lpstr>Second Normal Form</vt:lpstr>
      <vt:lpstr>Second Normal Form contd………</vt:lpstr>
      <vt:lpstr>2NF Example</vt:lpstr>
      <vt:lpstr>Tutorial 2: Decompose a non-2NF relation to a 2NF relation</vt:lpstr>
      <vt:lpstr>PowerPoint Presentation</vt:lpstr>
      <vt:lpstr>Tutorial 4: Compute Minimal Cover</vt:lpstr>
      <vt:lpstr>Thank you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Sanjeetha R</dc:creator>
  <cp:lastModifiedBy>CSE-PG</cp:lastModifiedBy>
  <cp:revision>278</cp:revision>
  <dcterms:created xsi:type="dcterms:W3CDTF">2020-08-26T05:56:20Z</dcterms:created>
  <dcterms:modified xsi:type="dcterms:W3CDTF">2021-12-29T04:08:48Z</dcterms:modified>
</cp:coreProperties>
</file>