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3" r:id="rId1"/>
  </p:sldMasterIdLst>
  <p:sldIdLst>
    <p:sldId id="270" r:id="rId2"/>
    <p:sldId id="273" r:id="rId3"/>
    <p:sldId id="274" r:id="rId4"/>
    <p:sldId id="275" r:id="rId5"/>
    <p:sldId id="271" r:id="rId6"/>
    <p:sldId id="256" r:id="rId7"/>
    <p:sldId id="257" r:id="rId8"/>
    <p:sldId id="258" r:id="rId9"/>
    <p:sldId id="259" r:id="rId10"/>
    <p:sldId id="272" r:id="rId11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63" d="100"/>
          <a:sy n="63" d="100"/>
        </p:scale>
        <p:origin x="1332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8395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5741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8396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127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6730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2684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8692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506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8005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1062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250640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89120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95822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67387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35933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592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2/17/2023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8964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  <p:sldLayoutId id="214748369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A13A5-12BC-9985-9CE6-3D71A6C50D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295400"/>
            <a:ext cx="6981451" cy="990600"/>
          </a:xfrm>
        </p:spPr>
        <p:txBody>
          <a:bodyPr>
            <a:noAutofit/>
          </a:bodyPr>
          <a:lstStyle/>
          <a:p>
            <a:pPr algn="ctr"/>
            <a:r>
              <a:rPr lang="en-IN" sz="3600" b="1" dirty="0"/>
              <a:t>RESUME BUILDING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EBAAB0-BFB8-3296-B42D-21ED741615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6400" y="2743200"/>
            <a:ext cx="7239000" cy="685800"/>
          </a:xfrm>
        </p:spPr>
        <p:txBody>
          <a:bodyPr>
            <a:normAutofit/>
          </a:bodyPr>
          <a:lstStyle/>
          <a:p>
            <a:r>
              <a:rPr lang="en-IN" sz="2000" b="1" dirty="0"/>
              <a:t>A Workshop Organized by the Department of Humanities </a:t>
            </a:r>
          </a:p>
        </p:txBody>
      </p:sp>
    </p:spTree>
    <p:extLst>
      <p:ext uri="{BB962C8B-B14F-4D97-AF65-F5344CB8AC3E}">
        <p14:creationId xmlns:p14="http://schemas.microsoft.com/office/powerpoint/2010/main" val="3525594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82B57-AA8A-E0F3-92AF-98C5ACE00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312" y="7134690"/>
            <a:ext cx="4674437" cy="458398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pic>
        <p:nvPicPr>
          <p:cNvPr id="1026" name="Picture 2" descr="resume stats - resumes to interviews ratio">
            <a:extLst>
              <a:ext uri="{FF2B5EF4-FFF2-40B4-BE49-F238E27FC236}">
                <a16:creationId xmlns:a16="http://schemas.microsoft.com/office/drawing/2014/main" id="{8F658B5A-C630-C95A-1FE8-55E7C45A02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295400"/>
            <a:ext cx="81153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67ADDA-DF6E-8490-DEB3-DC9BCE63B1A9}"/>
              </a:ext>
            </a:extLst>
          </p:cNvPr>
          <p:cNvSpPr txBox="1"/>
          <p:nvPr/>
        </p:nvSpPr>
        <p:spPr>
          <a:xfrm>
            <a:off x="1295400" y="3200400"/>
            <a:ext cx="733425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rgbClr val="233143"/>
              </a:solidFill>
              <a:effectLst/>
              <a:latin typeface="HK Grotesk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b="1" dirty="0">
              <a:solidFill>
                <a:srgbClr val="233143"/>
              </a:solidFill>
              <a:latin typeface="HK Grotesk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rgbClr val="233143"/>
              </a:solidFill>
              <a:effectLst/>
              <a:latin typeface="HK Grotesk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b="1" dirty="0">
              <a:solidFill>
                <a:srgbClr val="233143"/>
              </a:solidFill>
              <a:latin typeface="HK Grotesk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rgbClr val="233143"/>
              </a:solidFill>
              <a:effectLst/>
              <a:latin typeface="HK Grotesk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rgbClr val="233143"/>
              </a:solidFill>
              <a:effectLst/>
              <a:latin typeface="HK Grotesk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b="1" dirty="0">
              <a:solidFill>
                <a:srgbClr val="233143"/>
              </a:solidFill>
              <a:latin typeface="HK Grotesk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233143"/>
                </a:solidFill>
                <a:effectLst/>
                <a:latin typeface="HK Grotesk"/>
              </a:rPr>
              <a:t>On average, each corporate job offer attracts 250 resumes. Of those candidates, 4 to 6 will get called for an interview, and only one will get the job.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33143"/>
                </a:solidFill>
                <a:effectLst/>
                <a:latin typeface="HK Grotesk"/>
              </a:rPr>
            </a:b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233143"/>
                </a:solidFill>
                <a:effectLst/>
                <a:latin typeface="HK Grotesk"/>
              </a:rPr>
              <a:t>(Glassdoor)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233143"/>
              </a:solidFill>
              <a:effectLst/>
              <a:latin typeface="HK Grotesk"/>
            </a:endParaRPr>
          </a:p>
        </p:txBody>
      </p:sp>
    </p:spTree>
    <p:extLst>
      <p:ext uri="{BB962C8B-B14F-4D97-AF65-F5344CB8AC3E}">
        <p14:creationId xmlns:p14="http://schemas.microsoft.com/office/powerpoint/2010/main" val="3967437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AC92C-5D7D-C44E-ACDE-A9AB74756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624110"/>
            <a:ext cx="7391399" cy="976090"/>
          </a:xfrm>
        </p:spPr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233143"/>
                </a:solidFill>
                <a:effectLst/>
                <a:latin typeface="HK Grotesk"/>
              </a:rPr>
              <a:t>Job Search, Hiring, Recruiting &amp; Interviews</a:t>
            </a:r>
            <a:br>
              <a:rPr lang="en-US" b="1" i="0" dirty="0">
                <a:solidFill>
                  <a:srgbClr val="233143"/>
                </a:solidFill>
                <a:effectLst/>
                <a:latin typeface="HK Grotesk"/>
              </a:rPr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FEC14-C609-7A9E-D096-81DCD9571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133600"/>
            <a:ext cx="7239000" cy="4100290"/>
          </a:xfrm>
        </p:spPr>
        <p:txBody>
          <a:bodyPr>
            <a:normAutofit/>
          </a:bodyPr>
          <a:lstStyle/>
          <a:p>
            <a:r>
              <a:rPr lang="en-US" b="1" i="0" dirty="0">
                <a:solidFill>
                  <a:srgbClr val="233143"/>
                </a:solidFill>
                <a:effectLst/>
                <a:latin typeface="HK Grotesk"/>
              </a:rPr>
              <a:t>1 in 6 candidates who applied for a job was asked for an interview.</a:t>
            </a:r>
            <a:br>
              <a:rPr lang="en-US" b="0" i="0" dirty="0">
                <a:solidFill>
                  <a:srgbClr val="233143"/>
                </a:solidFill>
                <a:effectLst/>
                <a:latin typeface="HK Grotesk"/>
              </a:rPr>
            </a:br>
            <a:r>
              <a:rPr lang="en-US" b="0" i="1" dirty="0">
                <a:solidFill>
                  <a:srgbClr val="233143"/>
                </a:solidFill>
                <a:effectLst/>
                <a:latin typeface="HK Grotesk"/>
              </a:rPr>
              <a:t>(Jobvite 2017 Recruiting Funnel Benchmark Report)</a:t>
            </a:r>
            <a:endParaRPr lang="en-US" b="0" i="0" dirty="0">
              <a:solidFill>
                <a:srgbClr val="233143"/>
              </a:solidFill>
              <a:effectLst/>
              <a:latin typeface="HK Grotesk"/>
            </a:endParaRPr>
          </a:p>
          <a:p>
            <a:r>
              <a:rPr lang="en-US" b="1" i="0" dirty="0">
                <a:solidFill>
                  <a:srgbClr val="233143"/>
                </a:solidFill>
                <a:effectLst/>
                <a:latin typeface="HK Grotesk"/>
              </a:rPr>
              <a:t>Recruiters take an average of 6 seconds to scan a resume.</a:t>
            </a:r>
            <a:br>
              <a:rPr lang="en-US" b="0" i="0" dirty="0">
                <a:solidFill>
                  <a:srgbClr val="233143"/>
                </a:solidFill>
                <a:effectLst/>
                <a:latin typeface="HK Grotesk"/>
              </a:rPr>
            </a:br>
            <a:r>
              <a:rPr lang="en-US" b="0" i="1" dirty="0">
                <a:solidFill>
                  <a:srgbClr val="233143"/>
                </a:solidFill>
                <a:effectLst/>
                <a:latin typeface="HK Grotesk"/>
              </a:rPr>
              <a:t>(The Ladders)</a:t>
            </a:r>
            <a:r>
              <a:rPr lang="en-US" b="0" i="0" dirty="0">
                <a:solidFill>
                  <a:srgbClr val="233143"/>
                </a:solidFill>
                <a:effectLst/>
                <a:latin typeface="HK Grotesk"/>
              </a:rPr>
              <a:t> </a:t>
            </a:r>
          </a:p>
          <a:p>
            <a:r>
              <a:rPr lang="en-US" b="1" i="0" dirty="0">
                <a:solidFill>
                  <a:srgbClr val="233143"/>
                </a:solidFill>
                <a:effectLst/>
                <a:latin typeface="HK Grotesk"/>
              </a:rPr>
              <a:t>87% of recruiters use LinkedIn to check candidates. </a:t>
            </a:r>
            <a:br>
              <a:rPr lang="en-US" b="0" i="0" dirty="0">
                <a:solidFill>
                  <a:srgbClr val="233143"/>
                </a:solidFill>
                <a:effectLst/>
                <a:latin typeface="HK Grotesk"/>
              </a:rPr>
            </a:br>
            <a:r>
              <a:rPr lang="en-US" b="0" i="1" dirty="0">
                <a:solidFill>
                  <a:srgbClr val="233143"/>
                </a:solidFill>
                <a:effectLst/>
                <a:latin typeface="HK Grotesk"/>
              </a:rPr>
              <a:t>(Jobvite Recruiter Nation Report 2016)</a:t>
            </a:r>
            <a:endParaRPr lang="en-US" b="0" i="0" dirty="0">
              <a:solidFill>
                <a:srgbClr val="233143"/>
              </a:solidFill>
              <a:effectLst/>
              <a:latin typeface="HK Grotesk"/>
            </a:endParaRPr>
          </a:p>
          <a:p>
            <a:r>
              <a:rPr lang="en-US" b="1" i="0" dirty="0">
                <a:solidFill>
                  <a:srgbClr val="233143"/>
                </a:solidFill>
                <a:effectLst/>
                <a:latin typeface="HK Grotesk"/>
              </a:rPr>
              <a:t>The average amount of time to find a job is 24</a:t>
            </a:r>
            <a:r>
              <a:rPr lang="en-US" b="0" i="0" dirty="0">
                <a:solidFill>
                  <a:srgbClr val="233143"/>
                </a:solidFill>
                <a:effectLst/>
                <a:latin typeface="HK Grotesk"/>
              </a:rPr>
              <a:t> </a:t>
            </a:r>
            <a:r>
              <a:rPr lang="en-US" b="1" i="0" dirty="0">
                <a:solidFill>
                  <a:srgbClr val="233143"/>
                </a:solidFill>
                <a:effectLst/>
                <a:latin typeface="HK Grotesk"/>
              </a:rPr>
              <a:t>weeks.</a:t>
            </a:r>
            <a:endParaRPr lang="en-US" b="0" i="0" dirty="0">
              <a:solidFill>
                <a:srgbClr val="233143"/>
              </a:solidFill>
              <a:effectLst/>
              <a:latin typeface="HK Grotesk"/>
            </a:endParaRPr>
          </a:p>
          <a:p>
            <a:pPr marL="0" indent="0">
              <a:buNone/>
            </a:pPr>
            <a:r>
              <a:rPr lang="en-US" b="0" i="1" dirty="0">
                <a:solidFill>
                  <a:srgbClr val="233143"/>
                </a:solidFill>
                <a:effectLst/>
                <a:latin typeface="HK Grotesk"/>
              </a:rPr>
              <a:t>	(Bureau of Labor Statistics, November 2020)</a:t>
            </a:r>
          </a:p>
          <a:p>
            <a:pPr marL="0" indent="0" algn="l">
              <a:buNone/>
            </a:pPr>
            <a:endParaRPr lang="en-US" b="0" i="0" dirty="0">
              <a:solidFill>
                <a:srgbClr val="233143"/>
              </a:solidFill>
              <a:effectLst/>
              <a:latin typeface="HK Grotesk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0283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C8995-983F-D733-02D6-F3A6C21BD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5201" y="624110"/>
            <a:ext cx="7046399" cy="1280890"/>
          </a:xfrm>
        </p:spPr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09143B"/>
                </a:solidFill>
                <a:effectLst/>
                <a:latin typeface="TexGyre"/>
              </a:rPr>
              <a:t>The Job-Search Statistics All Job Seekers Should Know</a:t>
            </a:r>
            <a:br>
              <a:rPr lang="en-US" b="1" i="0" dirty="0">
                <a:solidFill>
                  <a:srgbClr val="09143B"/>
                </a:solidFill>
                <a:effectLst/>
                <a:latin typeface="TexGyre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7C2C0-C2A3-F7CD-29CB-DEE21C8489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02124"/>
                </a:solidFill>
                <a:effectLst/>
                <a:latin typeface="TexGyre"/>
              </a:rPr>
              <a:t>60 percent of jobs are found through networking — not online</a:t>
            </a:r>
          </a:p>
          <a:p>
            <a:r>
              <a:rPr lang="en-US" b="1" i="0" dirty="0">
                <a:solidFill>
                  <a:srgbClr val="202124"/>
                </a:solidFill>
                <a:effectLst/>
                <a:latin typeface="TexGyre"/>
              </a:rPr>
              <a:t>75 percent of resumes are rejected before they reach the hiring manager</a:t>
            </a:r>
          </a:p>
          <a:p>
            <a:r>
              <a:rPr lang="en-US" b="1" i="0" dirty="0">
                <a:solidFill>
                  <a:srgbClr val="202124"/>
                </a:solidFill>
                <a:effectLst/>
                <a:latin typeface="TexGyre"/>
              </a:rPr>
              <a:t>77 percent of recruiters rely on LinkedIn</a:t>
            </a:r>
          </a:p>
          <a:p>
            <a:r>
              <a:rPr lang="en-US" b="1" i="0" dirty="0">
                <a:solidFill>
                  <a:srgbClr val="202124"/>
                </a:solidFill>
                <a:effectLst/>
                <a:latin typeface="TexGyre"/>
              </a:rPr>
              <a:t>54 percent of employers have rejected candidates based on their social media profiles </a:t>
            </a:r>
          </a:p>
          <a:p>
            <a:r>
              <a:rPr lang="en-US" b="1" i="0" dirty="0">
                <a:solidFill>
                  <a:srgbClr val="202124"/>
                </a:solidFill>
                <a:effectLst/>
                <a:latin typeface="TexGyre"/>
              </a:rPr>
              <a:t>A professionally written resume boosts your earning potential by 7 percent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4457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F5D97-0254-156C-E756-FEBAAC194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823690"/>
          </a:xfrm>
        </p:spPr>
        <p:txBody>
          <a:bodyPr/>
          <a:lstStyle/>
          <a:p>
            <a:r>
              <a:rPr lang="en-IN" b="1" dirty="0"/>
              <a:t>FOUR PRINCIPLES OF RESUME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DA29B-CC25-A659-6164-1776873EA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81200"/>
            <a:ext cx="8458200" cy="3930022"/>
          </a:xfrm>
        </p:spPr>
        <p:txBody>
          <a:bodyPr>
            <a:normAutofit/>
          </a:bodyPr>
          <a:lstStyle/>
          <a:p>
            <a:r>
              <a:rPr lang="en-IN" sz="2000" b="1" dirty="0"/>
              <a:t>CONNECTED</a:t>
            </a:r>
            <a:r>
              <a:rPr lang="en-IN" sz="2400" b="1" dirty="0"/>
              <a:t> – </a:t>
            </a:r>
            <a:r>
              <a:rPr lang="en-IN" sz="2000" b="1" dirty="0"/>
              <a:t>Name</a:t>
            </a:r>
            <a:r>
              <a:rPr lang="en-IN" sz="2400" b="1" dirty="0"/>
              <a:t>, </a:t>
            </a:r>
            <a:r>
              <a:rPr lang="en-IN" sz="2000" b="1" dirty="0"/>
              <a:t>Qualification, Skills, Experience  </a:t>
            </a:r>
            <a:endParaRPr lang="en-IN" sz="2400" b="1" dirty="0"/>
          </a:p>
          <a:p>
            <a:r>
              <a:rPr lang="en-IN" sz="2000" b="1" dirty="0"/>
              <a:t>CONCISE</a:t>
            </a:r>
            <a:r>
              <a:rPr lang="en-IN" sz="2400" b="1" dirty="0"/>
              <a:t>- Less is more </a:t>
            </a:r>
          </a:p>
          <a:p>
            <a:r>
              <a:rPr lang="en-IN" sz="2000" b="1" dirty="0"/>
              <a:t>CHARISMATIC</a:t>
            </a:r>
            <a:r>
              <a:rPr lang="en-IN" sz="2400" b="1" dirty="0"/>
              <a:t>- Compelling charm that inspires devotion </a:t>
            </a:r>
          </a:p>
          <a:p>
            <a:r>
              <a:rPr lang="en-IN" sz="2000" b="1" dirty="0"/>
              <a:t>CLEAN- Show not tell </a:t>
            </a:r>
          </a:p>
        </p:txBody>
      </p:sp>
    </p:spTree>
    <p:extLst>
      <p:ext uri="{BB962C8B-B14F-4D97-AF65-F5344CB8AC3E}">
        <p14:creationId xmlns:p14="http://schemas.microsoft.com/office/powerpoint/2010/main" val="593920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26127" y="521868"/>
            <a:ext cx="3974674" cy="10592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US" sz="2400" dirty="0"/>
              <a:t>TOP 5 RESUME MISTAKES: </a:t>
            </a:r>
            <a:br>
              <a:rPr lang="en-US" sz="2400" dirty="0"/>
            </a:br>
            <a:endParaRPr sz="4400" u="sng" dirty="0">
              <a:solidFill>
                <a:schemeClr val="bg1">
                  <a:lumMod val="85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27CDC0-7F46-F5AF-DEBE-7CDF0D1E2541}"/>
              </a:ext>
            </a:extLst>
          </p:cNvPr>
          <p:cNvSpPr txBox="1"/>
          <p:nvPr/>
        </p:nvSpPr>
        <p:spPr>
          <a:xfrm>
            <a:off x="609600" y="2413338"/>
            <a:ext cx="79248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AutoNum type="arabicPeriod"/>
            </a:pPr>
            <a:r>
              <a:rPr lang="en-US" sz="2800" dirty="0"/>
              <a:t>Spelling and grammar errors </a:t>
            </a:r>
          </a:p>
          <a:p>
            <a:pPr marL="342900" indent="-342900" algn="just">
              <a:buAutoNum type="arabicPeriod"/>
            </a:pPr>
            <a:r>
              <a:rPr lang="en-US" sz="2800" dirty="0"/>
              <a:t>Missing email and phone information </a:t>
            </a:r>
          </a:p>
          <a:p>
            <a:pPr marL="342900" indent="-342900" algn="just">
              <a:buAutoNum type="arabicPeriod"/>
            </a:pPr>
            <a:r>
              <a:rPr lang="en-US" sz="2800" dirty="0"/>
              <a:t>Using passive language instead of “action” words </a:t>
            </a:r>
          </a:p>
          <a:p>
            <a:pPr marL="342900" indent="-342900" algn="just">
              <a:buAutoNum type="arabicPeriod"/>
            </a:pPr>
            <a:r>
              <a:rPr lang="en-US" sz="2800" dirty="0"/>
              <a:t>Not well organized, concise, or easy to skim </a:t>
            </a:r>
          </a:p>
          <a:p>
            <a:pPr marL="342900" indent="-342900" algn="just">
              <a:buAutoNum type="arabicPeriod"/>
            </a:pPr>
            <a:r>
              <a:rPr lang="en-US" sz="2800" dirty="0"/>
              <a:t>Not tailored to the position or industry</a:t>
            </a:r>
            <a:endParaRPr lang="en-IN" sz="2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200" y="527367"/>
            <a:ext cx="5334000" cy="32444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lang="en-IN" sz="2000" b="1" dirty="0"/>
              <a:t>RESUME LANGUAGE SHOULD BE:</a:t>
            </a:r>
            <a:endParaRPr b="1" dirty="0">
              <a:latin typeface="Algerian" panose="04020705040A02060702" pitchFamily="82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33600" y="1526806"/>
            <a:ext cx="6465570" cy="3288272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Specific rather than general 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Active rather than passive  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Written to express not impress  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Articulate rather than “flowery” Fact-based (quantify and qualify) 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Written for people who scan quickly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55600" marR="5080" indent="-342900">
              <a:lnSpc>
                <a:spcPct val="77400"/>
              </a:lnSpc>
              <a:spcBef>
                <a:spcPts val="750"/>
              </a:spcBef>
              <a:buClr>
                <a:srgbClr val="D6ECFF"/>
              </a:buClr>
              <a:buSzPct val="93750"/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endParaRPr sz="2400" baseline="2415" dirty="0">
              <a:latin typeface="Bell MT" panose="02020503060305020303" pitchFamily="18" charset="0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3600" y="511624"/>
            <a:ext cx="528383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b="1" dirty="0">
                <a:latin typeface="Algerian" panose="04020705040A02060702" pitchFamily="82" charset="0"/>
              </a:rPr>
              <a:t>DON’Ts Of resume</a:t>
            </a:r>
            <a:endParaRPr b="1" dirty="0">
              <a:latin typeface="Algerian" panose="04020705040A02060702" pitchFamily="82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33599" y="1796541"/>
            <a:ext cx="6466203" cy="3983013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• 	Abbreviate 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• 	Use a narrative style 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• 	Use slang </a:t>
            </a: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• 	Include a picture 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• 	Include age or sex 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• 	List references 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• 	Start each line with a date</a:t>
            </a:r>
          </a:p>
          <a:p>
            <a:pPr marL="5143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personal pronouns (such as I) 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065" marR="361950" algn="just">
              <a:lnSpc>
                <a:spcPts val="2500"/>
              </a:lnSpc>
              <a:spcBef>
                <a:spcPts val="260"/>
              </a:spcBef>
              <a:tabLst>
                <a:tab pos="229870" algn="l"/>
              </a:tabLst>
            </a:pPr>
            <a:endParaRPr sz="2150" dirty="0">
              <a:solidFill>
                <a:schemeClr val="accent6">
                  <a:lumMod val="50000"/>
                </a:schemeClr>
              </a:solidFill>
              <a:latin typeface="Bell MT" panose="02020503060305020303" pitchFamily="18" charset="0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9400" y="572743"/>
            <a:ext cx="5321122" cy="40504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654935" marR="5080" indent="-2642870" algn="l">
              <a:lnSpc>
                <a:spcPct val="100600"/>
              </a:lnSpc>
              <a:spcBef>
                <a:spcPts val="110"/>
              </a:spcBef>
            </a:pPr>
            <a:r>
              <a:rPr lang="en-IN" sz="2650" b="1" dirty="0">
                <a:latin typeface="Algerian" panose="04020705040A02060702" pitchFamily="82" charset="0"/>
              </a:rPr>
              <a:t>DO</a:t>
            </a:r>
            <a:r>
              <a:rPr lang="en-IN" sz="1800" b="1" dirty="0">
                <a:latin typeface="Algerian" panose="04020705040A02060702" pitchFamily="82" charset="0"/>
              </a:rPr>
              <a:t>s</a:t>
            </a:r>
            <a:endParaRPr sz="2650" b="1" dirty="0">
              <a:latin typeface="Algerian" panose="04020705040A02060702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7DBC8F-B372-79F7-E650-7CCEAFBE59B7}"/>
              </a:ext>
            </a:extLst>
          </p:cNvPr>
          <p:cNvSpPr txBox="1"/>
          <p:nvPr/>
        </p:nvSpPr>
        <p:spPr>
          <a:xfrm>
            <a:off x="1752600" y="1468361"/>
            <a:ext cx="7010400" cy="481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 consistent in format and content 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Make it easy to read and follow, balancing white space 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consistent spacing, bold, and capitalization for emphasis 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List headings (such as Experience) in order of importance 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Within headings, list information in reverse chronological order (most recent first) 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Avoid information gaps 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 sure that your formatting is translated properly if converted to a .pdf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DBAE4-47D4-8F2A-B87F-C07F366D2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457200"/>
            <a:ext cx="7239000" cy="533400"/>
          </a:xfrm>
        </p:spPr>
        <p:txBody>
          <a:bodyPr>
            <a:normAutofit fontScale="90000"/>
          </a:bodyPr>
          <a:lstStyle/>
          <a:p>
            <a:r>
              <a:rPr lang="en-GB" sz="20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The following list of action verbs are typically used in resumes:</a:t>
            </a:r>
            <a:endParaRPr lang="en-IN" sz="4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428BBB-CAB9-0831-D582-5D19203AE728}"/>
              </a:ext>
            </a:extLst>
          </p:cNvPr>
          <p:cNvSpPr txBox="1"/>
          <p:nvPr/>
        </p:nvSpPr>
        <p:spPr>
          <a:xfrm>
            <a:off x="1828800" y="1134140"/>
            <a:ext cx="5181600" cy="4616648"/>
          </a:xfrm>
          <a:prstGeom prst="rect">
            <a:avLst/>
          </a:prstGeom>
          <a:noFill/>
        </p:spPr>
        <p:txBody>
          <a:bodyPr wrap="square" numCol="3">
            <a:spAutoFit/>
          </a:bodyPr>
          <a:lstStyle/>
          <a:p>
            <a:r>
              <a:rPr lang="en-GB" sz="16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Administered</a:t>
            </a:r>
            <a:r>
              <a:rPr lang="en-IN" sz="2400" b="1" dirty="0">
                <a:effectLst/>
              </a:rPr>
              <a:t> </a:t>
            </a:r>
            <a:r>
              <a:rPr lang="en-IN" b="1" dirty="0">
                <a:effectLst/>
              </a:rPr>
              <a:t>Analysed Collected Completed Communicated Conducted Coordinated </a:t>
            </a:r>
          </a:p>
          <a:p>
            <a:r>
              <a:rPr lang="en-IN" b="1" dirty="0">
                <a:effectLst/>
              </a:rPr>
              <a:t>Created Designed </a:t>
            </a:r>
          </a:p>
          <a:p>
            <a:r>
              <a:rPr lang="en-IN" b="1" dirty="0">
                <a:effectLst/>
              </a:rPr>
              <a:t>Developed</a:t>
            </a:r>
          </a:p>
          <a:p>
            <a:r>
              <a:rPr lang="en-IN" b="1" dirty="0">
                <a:effectLst/>
              </a:rPr>
              <a:t>Directed </a:t>
            </a:r>
          </a:p>
          <a:p>
            <a:r>
              <a:rPr lang="en-IN" b="1" dirty="0">
                <a:effectLst/>
              </a:rPr>
              <a:t>Evaluated </a:t>
            </a:r>
          </a:p>
          <a:p>
            <a:r>
              <a:rPr lang="en-IN" b="1" dirty="0">
                <a:effectLst/>
              </a:rPr>
              <a:t>Increased  </a:t>
            </a:r>
          </a:p>
          <a:p>
            <a:r>
              <a:rPr lang="en-IN" b="1" dirty="0">
                <a:effectLst/>
              </a:rPr>
              <a:t>Led</a:t>
            </a:r>
          </a:p>
          <a:p>
            <a:r>
              <a:rPr lang="en-IN" b="1" dirty="0">
                <a:effectLst/>
              </a:rPr>
              <a:t>Managed </a:t>
            </a:r>
          </a:p>
          <a:p>
            <a:r>
              <a:rPr lang="en-IN" b="1" dirty="0">
                <a:effectLst/>
              </a:rPr>
              <a:t>Observed Operated Organized Oriented Prepared Sampled </a:t>
            </a:r>
          </a:p>
          <a:p>
            <a:r>
              <a:rPr lang="en-IN" b="1" dirty="0">
                <a:effectLst/>
              </a:rPr>
              <a:t>Started Supervised Taught </a:t>
            </a:r>
          </a:p>
          <a:p>
            <a:r>
              <a:rPr lang="en-IN" b="1" dirty="0">
                <a:effectLst/>
              </a:rPr>
              <a:t>Trained</a:t>
            </a:r>
            <a:r>
              <a:rPr lang="en-GB" sz="11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en-GB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652285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6547</TotalTime>
  <Words>461</Words>
  <Application>Microsoft Office PowerPoint</Application>
  <PresentationFormat>On-screen Show (4:3)</PresentationFormat>
  <Paragraphs>69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Algerian</vt:lpstr>
      <vt:lpstr>Arial</vt:lpstr>
      <vt:lpstr>Bell MT</vt:lpstr>
      <vt:lpstr>Calibri</vt:lpstr>
      <vt:lpstr>Century Gothic</vt:lpstr>
      <vt:lpstr>HK Grotesk</vt:lpstr>
      <vt:lpstr>Symbol</vt:lpstr>
      <vt:lpstr>TexGyre</vt:lpstr>
      <vt:lpstr>Wingdings 3</vt:lpstr>
      <vt:lpstr>Wisp</vt:lpstr>
      <vt:lpstr>RESUME BUILDING </vt:lpstr>
      <vt:lpstr>PowerPoint Presentation</vt:lpstr>
      <vt:lpstr>Job Search, Hiring, Recruiting &amp; Interviews </vt:lpstr>
      <vt:lpstr>The Job-Search Statistics All Job Seekers Should Know </vt:lpstr>
      <vt:lpstr>FOUR PRINCIPLES OF RESUME </vt:lpstr>
      <vt:lpstr>TOP 5 RESUME MISTAKES:  </vt:lpstr>
      <vt:lpstr>RESUME LANGUAGE SHOULD BE:</vt:lpstr>
      <vt:lpstr>DON’Ts Of resume</vt:lpstr>
      <vt:lpstr>DOs</vt:lpstr>
      <vt:lpstr>The following list of action verbs are typically used in resumes: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mii pdf</dc:title>
  <dc:creator>ATISHAY JAIN</dc:creator>
  <cp:lastModifiedBy>Diwakar P</cp:lastModifiedBy>
  <cp:revision>13</cp:revision>
  <dcterms:created xsi:type="dcterms:W3CDTF">2022-06-08T01:59:18Z</dcterms:created>
  <dcterms:modified xsi:type="dcterms:W3CDTF">2023-02-20T04:38:18Z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2022-06-07T00:00:00Z</vt:filetime>
  </property>
  <property fmtid="{D5CDD505-2E9C-101B-9397-08002B2CF9AE}" pid="3" name="Creator">
    <vt:lpwstr>Keynote</vt:lpwstr>
  </property>
  <property fmtid="{D5CDD505-2E9C-101B-9397-08002B2CF9AE}" pid="4" name="LastSaved">
    <vt:filetime>2022-06-08T00:00:00Z</vt:filetime>
  </property>
</Properties>
</file>