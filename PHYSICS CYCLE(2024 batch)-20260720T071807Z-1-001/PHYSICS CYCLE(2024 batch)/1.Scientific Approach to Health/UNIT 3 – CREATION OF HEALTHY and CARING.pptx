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0" r:id="rId6"/>
    <p:sldId id="269" r:id="rId7"/>
    <p:sldId id="262" r:id="rId8"/>
    <p:sldId id="276" r:id="rId9"/>
    <p:sldId id="274" r:id="rId10"/>
    <p:sldId id="275" r:id="rId11"/>
    <p:sldId id="259" r:id="rId12"/>
    <p:sldId id="263" r:id="rId13"/>
    <p:sldId id="264" r:id="rId14"/>
    <p:sldId id="265" r:id="rId15"/>
    <p:sldId id="266" r:id="rId16"/>
    <p:sldId id="267" r:id="rId17"/>
    <p:sldId id="270" r:id="rId18"/>
    <p:sldId id="268" r:id="rId19"/>
    <p:sldId id="271" r:id="rId20"/>
    <p:sldId id="272" r:id="rId21"/>
    <p:sldId id="273"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p:scale>
          <a:sx n="79" d="100"/>
          <a:sy n="79" d="100"/>
        </p:scale>
        <p:origin x="-84" y="-6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9DFC80-4915-4F81-8BD0-6626D317DD67}" type="datetimeFigureOut">
              <a:rPr lang="en-US" smtClean="0"/>
              <a:t>6/30/2022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42715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9DFC80-4915-4F81-8BD0-6626D317DD67}" type="datetimeFigureOut">
              <a:rPr lang="en-US" smtClean="0"/>
              <a:t>6/30/2022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73113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9DFC80-4915-4F81-8BD0-6626D317DD67}" type="datetimeFigureOut">
              <a:rPr lang="en-US" smtClean="0"/>
              <a:t>6/30/2022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49949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69DFC80-4915-4F81-8BD0-6626D317DD67}" type="datetimeFigureOut">
              <a:rPr lang="en-US" smtClean="0"/>
              <a:t>6/30/2022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213951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69DFC80-4915-4F81-8BD0-6626D317DD67}" type="datetimeFigureOut">
              <a:rPr lang="en-US" smtClean="0"/>
              <a:t>6/30/2022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1431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9DFC80-4915-4F81-8BD0-6626D317DD67}" type="datetimeFigureOut">
              <a:rPr lang="en-US" smtClean="0"/>
              <a:t>6/30/2022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23184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DFC80-4915-4F81-8BD0-6626D317DD67}" type="datetimeFigureOut">
              <a:rPr lang="en-US" smtClean="0"/>
              <a:t>6/30/2022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656076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9DFC80-4915-4F81-8BD0-6626D317DD67}" type="datetimeFigureOut">
              <a:rPr lang="en-US" smtClean="0"/>
              <a:t>6/30/2022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266811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9DFC80-4915-4F81-8BD0-6626D317DD67}" type="datetimeFigureOut">
              <a:rPr lang="en-US" smtClean="0"/>
              <a:t>6/30/2022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1013489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9DFC80-4915-4F81-8BD0-6626D317DD67}" type="datetimeFigureOut">
              <a:rPr lang="en-US" smtClean="0"/>
              <a:t>6/30/2022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2284173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9DFC80-4915-4F81-8BD0-6626D317DD67}" type="datetimeFigureOut">
              <a:rPr lang="en-US" smtClean="0"/>
              <a:t>6/30/2022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9A681-5E64-46C6-9B9D-143908D35350}" type="slidenum">
              <a:rPr lang="en-US" smtClean="0"/>
              <a:t>‹#›</a:t>
            </a:fld>
            <a:endParaRPr lang="en-US"/>
          </a:p>
        </p:txBody>
      </p:sp>
    </p:spTree>
    <p:extLst>
      <p:ext uri="{BB962C8B-B14F-4D97-AF65-F5344CB8AC3E}">
        <p14:creationId xmlns:p14="http://schemas.microsoft.com/office/powerpoint/2010/main" val="3243011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9DFC80-4915-4F81-8BD0-6626D317DD67}" type="datetimeFigureOut">
              <a:rPr lang="en-US" smtClean="0"/>
              <a:t>6/30/2022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79A681-5E64-46C6-9B9D-143908D35350}" type="slidenum">
              <a:rPr lang="en-US" smtClean="0"/>
              <a:t>‹#›</a:t>
            </a:fld>
            <a:endParaRPr lang="en-US"/>
          </a:p>
        </p:txBody>
      </p:sp>
    </p:spTree>
    <p:extLst>
      <p:ext uri="{BB962C8B-B14F-4D97-AF65-F5344CB8AC3E}">
        <p14:creationId xmlns:p14="http://schemas.microsoft.com/office/powerpoint/2010/main" val="291934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6730" y="3044414"/>
            <a:ext cx="9144000" cy="1581374"/>
          </a:xfrm>
        </p:spPr>
        <p:txBody>
          <a:bodyPr>
            <a:normAutofit fontScale="90000"/>
          </a:bodyPr>
          <a:lstStyle/>
          <a:p>
            <a:r>
              <a:rPr lang="en-US" dirty="0" smtClean="0"/>
              <a:t>UNIT 3 – CREATION OF HEALTHY and CARING RELATIONSHIPS</a:t>
            </a:r>
            <a:endParaRPr lang="en-US" dirty="0"/>
          </a:p>
        </p:txBody>
      </p:sp>
      <p:sp>
        <p:nvSpPr>
          <p:cNvPr id="3" name="Subtitle 2"/>
          <p:cNvSpPr>
            <a:spLocks noGrp="1"/>
          </p:cNvSpPr>
          <p:nvPr>
            <p:ph type="subTitle" idx="1"/>
          </p:nvPr>
        </p:nvSpPr>
        <p:spPr>
          <a:xfrm>
            <a:off x="1749910" y="871368"/>
            <a:ext cx="9144000" cy="914401"/>
          </a:xfrm>
        </p:spPr>
        <p:txBody>
          <a:bodyPr/>
          <a:lstStyle/>
          <a:p>
            <a:r>
              <a:rPr lang="en-US" dirty="0" smtClean="0"/>
              <a:t>A Scientific approach to Health</a:t>
            </a:r>
          </a:p>
          <a:p>
            <a:r>
              <a:rPr lang="en-US" dirty="0" smtClean="0"/>
              <a:t>AEC 26</a:t>
            </a:r>
            <a:endParaRPr lang="en-US" dirty="0"/>
          </a:p>
        </p:txBody>
      </p:sp>
    </p:spTree>
    <p:extLst>
      <p:ext uri="{BB962C8B-B14F-4D97-AF65-F5344CB8AC3E}">
        <p14:creationId xmlns:p14="http://schemas.microsoft.com/office/powerpoint/2010/main" val="983116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dirty="0" smtClean="0"/>
              <a:t>Building Communication Skills</a:t>
            </a:r>
            <a:endParaRPr lang="en-US" dirty="0"/>
          </a:p>
        </p:txBody>
      </p:sp>
      <p:sp>
        <p:nvSpPr>
          <p:cNvPr id="3" name="Content Placeholder 2"/>
          <p:cNvSpPr>
            <a:spLocks noGrp="1"/>
          </p:cNvSpPr>
          <p:nvPr>
            <p:ph idx="1"/>
          </p:nvPr>
        </p:nvSpPr>
        <p:spPr>
          <a:xfrm>
            <a:off x="838200" y="1301675"/>
            <a:ext cx="10515600" cy="4875288"/>
          </a:xfrm>
        </p:spPr>
        <p:txBody>
          <a:bodyPr>
            <a:normAutofit lnSpcReduction="10000"/>
          </a:bodyPr>
          <a:lstStyle/>
          <a:p>
            <a:pPr marL="0" indent="0">
              <a:buNone/>
            </a:pPr>
            <a:r>
              <a:rPr lang="en-US" b="1" dirty="0" smtClean="0"/>
              <a:t>Communication and its essence</a:t>
            </a:r>
          </a:p>
          <a:p>
            <a:r>
              <a:rPr lang="en-US" dirty="0" smtClean="0"/>
              <a:t>Personal Process</a:t>
            </a:r>
          </a:p>
          <a:p>
            <a:r>
              <a:rPr lang="en-US" dirty="0" smtClean="0"/>
              <a:t>Communication is the art of transmitting information, ideas and attitudes from one person to another.</a:t>
            </a:r>
          </a:p>
          <a:p>
            <a:r>
              <a:rPr lang="en-US" dirty="0" smtClean="0"/>
              <a:t>Communication is the process of meaningful interaction among human beings.</a:t>
            </a:r>
          </a:p>
          <a:p>
            <a:r>
              <a:rPr lang="en-US" dirty="0" smtClean="0"/>
              <a:t>Involves change in behavior</a:t>
            </a:r>
          </a:p>
          <a:p>
            <a:r>
              <a:rPr lang="en-US" dirty="0" smtClean="0"/>
              <a:t>Means to influence others</a:t>
            </a:r>
          </a:p>
          <a:p>
            <a:r>
              <a:rPr lang="en-US" dirty="0" smtClean="0"/>
              <a:t>Expression of thoughts and emotions through words &amp; actions.</a:t>
            </a:r>
          </a:p>
          <a:p>
            <a:r>
              <a:rPr lang="en-US" dirty="0" smtClean="0"/>
              <a:t>Tool for controlling and motivating people.</a:t>
            </a:r>
          </a:p>
          <a:p>
            <a:r>
              <a:rPr lang="en-US" dirty="0" smtClean="0"/>
              <a:t>It is a social and emotional process.</a:t>
            </a:r>
          </a:p>
          <a:p>
            <a:endParaRPr lang="en-US" dirty="0"/>
          </a:p>
        </p:txBody>
      </p:sp>
      <p:pic>
        <p:nvPicPr>
          <p:cNvPr id="4" name="Picture 3"/>
          <p:cNvPicPr>
            <a:picLocks noChangeAspect="1"/>
          </p:cNvPicPr>
          <p:nvPr/>
        </p:nvPicPr>
        <p:blipFill rotWithShape="1">
          <a:blip r:embed="rId2"/>
          <a:srcRect l="15590" t="9615" r="21397" b="13901"/>
          <a:stretch/>
        </p:blipFill>
        <p:spPr>
          <a:xfrm>
            <a:off x="8430422" y="102966"/>
            <a:ext cx="3119321" cy="2128478"/>
          </a:xfrm>
          <a:prstGeom prst="rect">
            <a:avLst/>
          </a:prstGeom>
        </p:spPr>
      </p:pic>
    </p:spTree>
    <p:extLst>
      <p:ext uri="{BB962C8B-B14F-4D97-AF65-F5344CB8AC3E}">
        <p14:creationId xmlns:p14="http://schemas.microsoft.com/office/powerpoint/2010/main" val="3865082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dirty="0" smtClean="0"/>
              <a:t>Building Communication Skills</a:t>
            </a:r>
            <a:endParaRPr lang="en-US" dirty="0"/>
          </a:p>
        </p:txBody>
      </p:sp>
      <p:pic>
        <p:nvPicPr>
          <p:cNvPr id="5" name="Picture 4"/>
          <p:cNvPicPr>
            <a:picLocks noChangeAspect="1"/>
          </p:cNvPicPr>
          <p:nvPr/>
        </p:nvPicPr>
        <p:blipFill>
          <a:blip r:embed="rId2"/>
          <a:stretch>
            <a:fillRect/>
          </a:stretch>
        </p:blipFill>
        <p:spPr>
          <a:xfrm>
            <a:off x="505609" y="1172584"/>
            <a:ext cx="11134165" cy="5195943"/>
          </a:xfrm>
          <a:prstGeom prst="rect">
            <a:avLst/>
          </a:prstGeom>
        </p:spPr>
      </p:pic>
    </p:spTree>
    <p:extLst>
      <p:ext uri="{BB962C8B-B14F-4D97-AF65-F5344CB8AC3E}">
        <p14:creationId xmlns:p14="http://schemas.microsoft.com/office/powerpoint/2010/main" val="283289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b="1" dirty="0" smtClean="0"/>
              <a:t>Communication Process</a:t>
            </a:r>
          </a:p>
        </p:txBody>
      </p:sp>
      <p:sp>
        <p:nvSpPr>
          <p:cNvPr id="3" name="Content Placeholder 2"/>
          <p:cNvSpPr>
            <a:spLocks noGrp="1"/>
          </p:cNvSpPr>
          <p:nvPr>
            <p:ph idx="1"/>
          </p:nvPr>
        </p:nvSpPr>
        <p:spPr>
          <a:xfrm>
            <a:off x="838200" y="1301675"/>
            <a:ext cx="10515600" cy="4875288"/>
          </a:xfrm>
        </p:spPr>
        <p:txBody>
          <a:bodyPr>
            <a:normAutofit fontScale="92500"/>
          </a:bodyPr>
          <a:lstStyle/>
          <a:p>
            <a:pPr marL="0" indent="0">
              <a:buNone/>
            </a:pPr>
            <a:r>
              <a:rPr lang="en-US" b="1" dirty="0" smtClean="0"/>
              <a:t>Sender: </a:t>
            </a:r>
            <a:r>
              <a:rPr lang="en-US" dirty="0" smtClean="0"/>
              <a:t>The person who conceptualized the idea and wants it delivered to the recipient.</a:t>
            </a:r>
          </a:p>
          <a:p>
            <a:pPr marL="0" indent="0">
              <a:buNone/>
            </a:pPr>
            <a:r>
              <a:rPr lang="en-US" b="1" dirty="0" smtClean="0"/>
              <a:t>Encoding: </a:t>
            </a:r>
            <a:r>
              <a:rPr lang="en-US" dirty="0" smtClean="0"/>
              <a:t>The way the information is described or translated into a message.</a:t>
            </a:r>
          </a:p>
          <a:p>
            <a:pPr marL="0" indent="0">
              <a:buNone/>
            </a:pPr>
            <a:r>
              <a:rPr lang="en-US" b="1" dirty="0" smtClean="0"/>
              <a:t>Message: </a:t>
            </a:r>
            <a:r>
              <a:rPr lang="en-US" dirty="0" smtClean="0"/>
              <a:t>The idea, fact or opinion that the sender wants to communicate.</a:t>
            </a:r>
          </a:p>
          <a:p>
            <a:pPr marL="0" indent="0">
              <a:buNone/>
            </a:pPr>
            <a:r>
              <a:rPr lang="en-US" b="1" dirty="0" smtClean="0"/>
              <a:t>Communication channel: </a:t>
            </a:r>
            <a:r>
              <a:rPr lang="en-US" dirty="0" smtClean="0"/>
              <a:t>The method of delivering the message.</a:t>
            </a:r>
          </a:p>
          <a:p>
            <a:pPr marL="0" indent="0">
              <a:buNone/>
            </a:pPr>
            <a:r>
              <a:rPr lang="en-US" b="1" dirty="0" smtClean="0"/>
              <a:t>Noise or Distraction: </a:t>
            </a:r>
            <a:r>
              <a:rPr lang="en-US" dirty="0" smtClean="0"/>
              <a:t>Hinders successful communication.</a:t>
            </a:r>
          </a:p>
          <a:p>
            <a:pPr marL="0" indent="0">
              <a:buNone/>
            </a:pPr>
            <a:r>
              <a:rPr lang="en-US" b="1" dirty="0" smtClean="0"/>
              <a:t>Types : </a:t>
            </a:r>
            <a:r>
              <a:rPr lang="en-US" dirty="0" smtClean="0"/>
              <a:t>Psychological, Physical, Environmental and Semantic.</a:t>
            </a:r>
          </a:p>
          <a:p>
            <a:pPr marL="0" indent="0">
              <a:buNone/>
            </a:pPr>
            <a:r>
              <a:rPr lang="en-US" b="1" dirty="0" smtClean="0"/>
              <a:t>Receiver: </a:t>
            </a:r>
            <a:r>
              <a:rPr lang="en-US" dirty="0" smtClean="0"/>
              <a:t>The target audience of the message.</a:t>
            </a:r>
          </a:p>
          <a:p>
            <a:pPr marL="0" indent="0">
              <a:buNone/>
            </a:pPr>
            <a:r>
              <a:rPr lang="en-US" b="1" dirty="0" smtClean="0"/>
              <a:t>Decoding: </a:t>
            </a:r>
            <a:r>
              <a:rPr lang="en-US" dirty="0" smtClean="0"/>
              <a:t>The interpretation of the message.</a:t>
            </a:r>
          </a:p>
          <a:p>
            <a:pPr marL="0" indent="0">
              <a:buNone/>
            </a:pPr>
            <a:r>
              <a:rPr lang="en-US" b="1" dirty="0" smtClean="0"/>
              <a:t>Feedback: </a:t>
            </a:r>
            <a:r>
              <a:rPr lang="en-US" dirty="0" smtClean="0"/>
              <a:t>The response or action a receiver takes after decoding a message.</a:t>
            </a:r>
          </a:p>
          <a:p>
            <a:endParaRPr lang="en-US" dirty="0"/>
          </a:p>
        </p:txBody>
      </p:sp>
    </p:spTree>
    <p:extLst>
      <p:ext uri="{BB962C8B-B14F-4D97-AF65-F5344CB8AC3E}">
        <p14:creationId xmlns:p14="http://schemas.microsoft.com/office/powerpoint/2010/main" val="1370558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b="1" dirty="0" smtClean="0"/>
              <a:t>Communication Process</a:t>
            </a:r>
          </a:p>
        </p:txBody>
      </p:sp>
      <p:pic>
        <p:nvPicPr>
          <p:cNvPr id="4" name="Content Placeholder 3"/>
          <p:cNvPicPr>
            <a:picLocks noGrp="1" noChangeAspect="1"/>
          </p:cNvPicPr>
          <p:nvPr>
            <p:ph idx="1"/>
          </p:nvPr>
        </p:nvPicPr>
        <p:blipFill>
          <a:blip r:embed="rId2"/>
          <a:stretch>
            <a:fillRect/>
          </a:stretch>
        </p:blipFill>
        <p:spPr>
          <a:xfrm>
            <a:off x="720763" y="1108038"/>
            <a:ext cx="10779162" cy="5228216"/>
          </a:xfrm>
          <a:prstGeom prst="rect">
            <a:avLst/>
          </a:prstGeom>
        </p:spPr>
      </p:pic>
    </p:spTree>
    <p:extLst>
      <p:ext uri="{BB962C8B-B14F-4D97-AF65-F5344CB8AC3E}">
        <p14:creationId xmlns:p14="http://schemas.microsoft.com/office/powerpoint/2010/main" val="90464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894" y="182245"/>
            <a:ext cx="10515600" cy="667609"/>
          </a:xfrm>
        </p:spPr>
        <p:txBody>
          <a:bodyPr>
            <a:normAutofit fontScale="90000"/>
          </a:bodyPr>
          <a:lstStyle/>
          <a:p>
            <a:r>
              <a:rPr lang="en-US" b="1" dirty="0" smtClean="0">
                <a:solidFill>
                  <a:srgbClr val="FF0000"/>
                </a:solidFill>
              </a:rPr>
              <a:t>The 3 Important Rules of Communication</a:t>
            </a:r>
          </a:p>
        </p:txBody>
      </p:sp>
      <p:sp>
        <p:nvSpPr>
          <p:cNvPr id="3" name="Rectangle 2"/>
          <p:cNvSpPr/>
          <p:nvPr/>
        </p:nvSpPr>
        <p:spPr>
          <a:xfrm>
            <a:off x="407894" y="740587"/>
            <a:ext cx="11542955" cy="5786199"/>
          </a:xfrm>
          <a:prstGeom prst="rect">
            <a:avLst/>
          </a:prstGeom>
        </p:spPr>
        <p:txBody>
          <a:bodyPr wrap="square">
            <a:spAutoFit/>
          </a:bodyPr>
          <a:lstStyle/>
          <a:p>
            <a:pPr algn="just">
              <a:buNone/>
            </a:pPr>
            <a:r>
              <a:rPr lang="en-US" sz="2500" dirty="0" smtClean="0">
                <a:latin typeface="Times New Roman" panose="02020603050405020304" pitchFamily="18" charset="0"/>
                <a:cs typeface="Times New Roman" panose="02020603050405020304" pitchFamily="18" charset="0"/>
              </a:rPr>
              <a:t>In any language, there are three extremely important points to remember when you’re communicating with someone.</a:t>
            </a:r>
          </a:p>
          <a:p>
            <a:pPr algn="just">
              <a:buNone/>
            </a:pPr>
            <a:endParaRPr lang="en-US" sz="2500"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sz="2500" b="1" dirty="0" smtClean="0">
                <a:latin typeface="Times New Roman" panose="02020603050405020304" pitchFamily="18" charset="0"/>
                <a:cs typeface="Times New Roman" panose="02020603050405020304" pitchFamily="18" charset="0"/>
              </a:rPr>
              <a:t>Say what you mean.</a:t>
            </a:r>
            <a:r>
              <a:rPr lang="en-US" sz="2500" dirty="0" smtClean="0">
                <a:latin typeface="Times New Roman" panose="02020603050405020304" pitchFamily="18" charset="0"/>
                <a:cs typeface="Times New Roman" panose="02020603050405020304" pitchFamily="18" charset="0"/>
              </a:rPr>
              <a:t> It can be difficult to express (say) some ideas clearly, but if you’re trying to prevent miscommunication, it’s important to say exactly what you mean. Be clear and to the point.</a:t>
            </a:r>
          </a:p>
          <a:p>
            <a:pPr algn="just"/>
            <a:endParaRPr lang="en-US" sz="2500" dirty="0" smtClean="0">
              <a:latin typeface="Times New Roman" panose="02020603050405020304" pitchFamily="18" charset="0"/>
              <a:cs typeface="Times New Roman" panose="02020603050405020304" pitchFamily="18" charset="0"/>
            </a:endParaRPr>
          </a:p>
          <a:p>
            <a:pPr algn="just">
              <a:buNone/>
            </a:pPr>
            <a:r>
              <a:rPr lang="en-US" sz="2500" b="1" dirty="0" smtClean="0">
                <a:latin typeface="Times New Roman" panose="02020603050405020304" pitchFamily="18" charset="0"/>
                <a:cs typeface="Times New Roman" panose="02020603050405020304" pitchFamily="18" charset="0"/>
              </a:rPr>
              <a:t>2. Ask questions.</a:t>
            </a:r>
            <a:r>
              <a:rPr lang="en-US" sz="2500" dirty="0" smtClean="0">
                <a:latin typeface="Times New Roman" panose="02020603050405020304" pitchFamily="18" charset="0"/>
                <a:cs typeface="Times New Roman" panose="02020603050405020304" pitchFamily="18" charset="0"/>
              </a:rPr>
              <a:t> Communication is two-way, which means you can’t be the one doing all the talking. To make sure your listener is </a:t>
            </a:r>
            <a:r>
              <a:rPr lang="en-US" sz="2500" i="1" dirty="0" smtClean="0">
                <a:latin typeface="Times New Roman" panose="02020603050405020304" pitchFamily="18" charset="0"/>
                <a:cs typeface="Times New Roman" panose="02020603050405020304" pitchFamily="18" charset="0"/>
              </a:rPr>
              <a:t>engaged</a:t>
            </a:r>
            <a:r>
              <a:rPr lang="en-US" sz="2500" dirty="0" smtClean="0">
                <a:latin typeface="Times New Roman" panose="02020603050405020304" pitchFamily="18" charset="0"/>
                <a:cs typeface="Times New Roman" panose="02020603050405020304" pitchFamily="18" charset="0"/>
              </a:rPr>
              <a:t> (interested in what you have to say) and understanding you, ask questions. See #5 below for good types of questions to ask.</a:t>
            </a:r>
          </a:p>
          <a:p>
            <a:pPr algn="just">
              <a:buNone/>
            </a:pPr>
            <a:endParaRPr lang="en-US" sz="2500" dirty="0" smtClean="0">
              <a:latin typeface="Times New Roman" panose="02020603050405020304" pitchFamily="18" charset="0"/>
              <a:cs typeface="Times New Roman" panose="02020603050405020304" pitchFamily="18" charset="0"/>
            </a:endParaRPr>
          </a:p>
          <a:p>
            <a:pPr algn="just">
              <a:buNone/>
            </a:pPr>
            <a:r>
              <a:rPr lang="en-US" sz="2500" b="1" dirty="0" smtClean="0">
                <a:latin typeface="Times New Roman" panose="02020603050405020304" pitchFamily="18" charset="0"/>
                <a:cs typeface="Times New Roman" panose="02020603050405020304" pitchFamily="18" charset="0"/>
              </a:rPr>
              <a:t>3. Listen.</a:t>
            </a:r>
            <a:r>
              <a:rPr lang="en-US" sz="2500" dirty="0" smtClean="0">
                <a:latin typeface="Times New Roman" panose="02020603050405020304" pitchFamily="18" charset="0"/>
                <a:cs typeface="Times New Roman" panose="02020603050405020304" pitchFamily="18" charset="0"/>
              </a:rPr>
              <a:t> We mean </a:t>
            </a:r>
            <a:r>
              <a:rPr lang="en-US" sz="2500" i="1" dirty="0" smtClean="0">
                <a:latin typeface="Times New Roman" panose="02020603050405020304" pitchFamily="18" charset="0"/>
                <a:cs typeface="Times New Roman" panose="02020603050405020304" pitchFamily="18" charset="0"/>
              </a:rPr>
              <a:t>really</a:t>
            </a:r>
            <a:r>
              <a:rPr lang="en-US" sz="2500" dirty="0" smtClean="0">
                <a:latin typeface="Times New Roman" panose="02020603050405020304" pitchFamily="18" charset="0"/>
                <a:cs typeface="Times New Roman" panose="02020603050405020304" pitchFamily="18" charset="0"/>
              </a:rPr>
              <a:t> listen. Hear what your speaking partner has to say, and try to understand what they mean.</a:t>
            </a:r>
          </a:p>
          <a:p>
            <a:pPr algn="just">
              <a:buNone/>
            </a:pP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58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dirty="0" smtClean="0"/>
              <a:t>Barriers of Communication</a:t>
            </a:r>
          </a:p>
        </p:txBody>
      </p:sp>
      <p:graphicFrame>
        <p:nvGraphicFramePr>
          <p:cNvPr id="4" name="Table 3"/>
          <p:cNvGraphicFramePr>
            <a:graphicFrameLocks noGrp="1"/>
          </p:cNvGraphicFramePr>
          <p:nvPr>
            <p:extLst>
              <p:ext uri="{D42A27DB-BD31-4B8C-83A1-F6EECF244321}">
                <p14:modId xmlns:p14="http://schemas.microsoft.com/office/powerpoint/2010/main" val="2598284656"/>
              </p:ext>
            </p:extLst>
          </p:nvPr>
        </p:nvGraphicFramePr>
        <p:xfrm>
          <a:off x="838200" y="1032734"/>
          <a:ext cx="9843246" cy="5181600"/>
        </p:xfrm>
        <a:graphic>
          <a:graphicData uri="http://schemas.openxmlformats.org/drawingml/2006/table">
            <a:tbl>
              <a:tblPr firstRow="1" bandRow="1">
                <a:tableStyleId>{5C22544A-7EE6-4342-B048-85BDC9FD1C3A}</a:tableStyleId>
              </a:tblPr>
              <a:tblGrid>
                <a:gridCol w="4921623">
                  <a:extLst>
                    <a:ext uri="{9D8B030D-6E8A-4147-A177-3AD203B41FA5}">
                      <a16:colId xmlns:a16="http://schemas.microsoft.com/office/drawing/2014/main" xmlns="" val="20000"/>
                    </a:ext>
                  </a:extLst>
                </a:gridCol>
                <a:gridCol w="4921623">
                  <a:extLst>
                    <a:ext uri="{9D8B030D-6E8A-4147-A177-3AD203B41FA5}">
                      <a16:colId xmlns:a16="http://schemas.microsoft.com/office/drawing/2014/main" xmlns="" val="20001"/>
                    </a:ext>
                  </a:extLst>
                </a:gridCol>
              </a:tblGrid>
              <a:tr h="5132494">
                <a:tc>
                  <a:txBody>
                    <a:bodyPr/>
                    <a:lstStyle/>
                    <a:p>
                      <a:pPr algn="just"/>
                      <a:r>
                        <a:rPr lang="en-US" sz="4000" dirty="0" smtClean="0">
                          <a:latin typeface="Times New Roman" panose="02020603050405020304" pitchFamily="18" charset="0"/>
                          <a:cs typeface="Times New Roman" panose="02020603050405020304" pitchFamily="18" charset="0"/>
                        </a:rPr>
                        <a:t>Types of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Psychological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Physical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Emotional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Attitudinal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Cultural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Language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Gender Barriers</a:t>
                      </a:r>
                    </a:p>
                    <a:p>
                      <a:pPr marL="342900" indent="-3429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Interpersonal Barriers</a:t>
                      </a:r>
                    </a:p>
                    <a:p>
                      <a:endParaRPr lang="en-US" dirty="0"/>
                    </a:p>
                  </a:txBody>
                  <a:tcPr/>
                </a:tc>
                <a:tc>
                  <a:txBody>
                    <a:bodyPr/>
                    <a:lstStyle/>
                    <a:p>
                      <a:pPr marL="342900" indent="-342900" algn="just">
                        <a:buFont typeface="Arial" panose="020B0604020202020204" pitchFamily="34" charset="0"/>
                        <a:buChar char="•"/>
                      </a:pPr>
                      <a:r>
                        <a:rPr lang="en-US" sz="2400" dirty="0" smtClean="0"/>
                        <a:t>No interest in the conversation.</a:t>
                      </a:r>
                    </a:p>
                    <a:p>
                      <a:pPr marL="342900" indent="-342900" algn="just">
                        <a:buFont typeface="Arial" panose="020B0604020202020204" pitchFamily="34" charset="0"/>
                        <a:buChar char="•"/>
                      </a:pPr>
                      <a:r>
                        <a:rPr lang="en-US" sz="2400" dirty="0" smtClean="0"/>
                        <a:t>Jumping to conclusions without waiting</a:t>
                      </a:r>
                      <a:r>
                        <a:rPr lang="en-US" sz="2400" baseline="0" dirty="0" smtClean="0"/>
                        <a:t> </a:t>
                      </a:r>
                      <a:r>
                        <a:rPr lang="en-US" sz="2400" dirty="0" smtClean="0"/>
                        <a:t>for the whole message.</a:t>
                      </a:r>
                    </a:p>
                    <a:p>
                      <a:pPr marL="342900" indent="-342900" algn="just">
                        <a:buFont typeface="Arial" panose="020B0604020202020204" pitchFamily="34" charset="0"/>
                        <a:buChar char="•"/>
                      </a:pPr>
                      <a:r>
                        <a:rPr lang="en-US" sz="2400" dirty="0" smtClean="0"/>
                        <a:t>Inability to Listen to Others.</a:t>
                      </a:r>
                    </a:p>
                    <a:p>
                      <a:pPr marL="342900" indent="-342900" algn="just">
                        <a:buFont typeface="Arial" panose="020B0604020202020204" pitchFamily="34" charset="0"/>
                        <a:buChar char="•"/>
                      </a:pPr>
                      <a:r>
                        <a:rPr lang="en-US" sz="2400" dirty="0" smtClean="0"/>
                        <a:t>Lack of Transparency &amp; Trust.</a:t>
                      </a:r>
                    </a:p>
                    <a:p>
                      <a:pPr marL="342900" indent="-342900" algn="just">
                        <a:buFont typeface="Arial" panose="020B0604020202020204" pitchFamily="34" charset="0"/>
                        <a:buChar char="•"/>
                      </a:pPr>
                      <a:r>
                        <a:rPr lang="en-US" sz="2400" dirty="0" smtClean="0"/>
                        <a:t>Communication Styles (when they</a:t>
                      </a:r>
                      <a:r>
                        <a:rPr lang="en-US" sz="2400" baseline="0" dirty="0" smtClean="0"/>
                        <a:t> </a:t>
                      </a:r>
                      <a:r>
                        <a:rPr lang="en-US" sz="2400" dirty="0" smtClean="0"/>
                        <a:t>differ).</a:t>
                      </a:r>
                    </a:p>
                    <a:p>
                      <a:pPr marL="342900" indent="-342900" algn="just">
                        <a:buFont typeface="Arial" panose="020B0604020202020204" pitchFamily="34" charset="0"/>
                        <a:buChar char="•"/>
                      </a:pPr>
                      <a:r>
                        <a:rPr lang="en-US" sz="2400" dirty="0" smtClean="0"/>
                        <a:t>Fear of offending the other person by</a:t>
                      </a:r>
                      <a:r>
                        <a:rPr lang="en-US" sz="2400" baseline="0" dirty="0" smtClean="0"/>
                        <a:t> </a:t>
                      </a:r>
                      <a:r>
                        <a:rPr lang="en-US" sz="2400" dirty="0" smtClean="0"/>
                        <a:t>expressing your opinions.</a:t>
                      </a:r>
                    </a:p>
                    <a:p>
                      <a:pPr marL="342900" indent="-342900" algn="just">
                        <a:buFont typeface="Arial" panose="020B0604020202020204" pitchFamily="34" charset="0"/>
                        <a:buChar char="•"/>
                      </a:pPr>
                      <a:r>
                        <a:rPr lang="en-US" sz="2400" dirty="0" smtClean="0"/>
                        <a:t>Cultural Differences &amp; Language.</a:t>
                      </a:r>
                    </a:p>
                    <a:p>
                      <a:pPr marL="342900" indent="-342900" algn="just">
                        <a:buFont typeface="Arial" panose="020B0604020202020204" pitchFamily="34" charset="0"/>
                        <a:buChar char="•"/>
                      </a:pPr>
                      <a:r>
                        <a:rPr lang="en-US" sz="2400" dirty="0" smtClean="0"/>
                        <a:t>One feels not comfortable sharing your</a:t>
                      </a:r>
                      <a:r>
                        <a:rPr lang="en-US" sz="2400" baseline="0" dirty="0" smtClean="0"/>
                        <a:t> </a:t>
                      </a:r>
                      <a:r>
                        <a:rPr lang="en-US" sz="2400" dirty="0" smtClean="0"/>
                        <a:t>feelings with the other</a:t>
                      </a:r>
                      <a:r>
                        <a:rPr lang="en-US" sz="2400" baseline="0" dirty="0" smtClean="0"/>
                        <a:t> </a:t>
                      </a:r>
                      <a:r>
                        <a:rPr lang="en-US" sz="2400" dirty="0" smtClean="0"/>
                        <a:t>person</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596202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Listening</a:t>
            </a:r>
            <a:endParaRPr lang="en-IN" dirty="0"/>
          </a:p>
        </p:txBody>
      </p:sp>
      <p:pic>
        <p:nvPicPr>
          <p:cNvPr id="4" name="Content Placeholder 3"/>
          <p:cNvPicPr>
            <a:picLocks noGrp="1" noChangeAspect="1"/>
          </p:cNvPicPr>
          <p:nvPr>
            <p:ph idx="1"/>
          </p:nvPr>
        </p:nvPicPr>
        <p:blipFill rotWithShape="1">
          <a:blip r:embed="rId2"/>
          <a:srcRect b="18830"/>
          <a:stretch/>
        </p:blipFill>
        <p:spPr>
          <a:xfrm>
            <a:off x="974244" y="1332411"/>
            <a:ext cx="10243511" cy="4844552"/>
          </a:xfrm>
          <a:prstGeom prst="rect">
            <a:avLst/>
          </a:prstGeom>
        </p:spPr>
      </p:pic>
    </p:spTree>
    <p:extLst>
      <p:ext uri="{BB962C8B-B14F-4D97-AF65-F5344CB8AC3E}">
        <p14:creationId xmlns:p14="http://schemas.microsoft.com/office/powerpoint/2010/main" val="193763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002" y="107577"/>
            <a:ext cx="11661290" cy="1129552"/>
          </a:xfrm>
        </p:spPr>
        <p:txBody>
          <a:bodyPr>
            <a:normAutofit/>
          </a:bodyPr>
          <a:lstStyle/>
          <a:p>
            <a:r>
              <a:rPr lang="en-US" dirty="0" smtClean="0">
                <a:solidFill>
                  <a:srgbClr val="FF0000"/>
                </a:solidFill>
              </a:rPr>
              <a:t>WAYS TO IMPROVE THE COMMUNICATION SKILLS  : </a:t>
            </a:r>
            <a:endParaRPr lang="en-US" b="1" dirty="0"/>
          </a:p>
        </p:txBody>
      </p:sp>
      <p:sp>
        <p:nvSpPr>
          <p:cNvPr id="3" name="Content Placeholder 2"/>
          <p:cNvSpPr>
            <a:spLocks noGrp="1"/>
          </p:cNvSpPr>
          <p:nvPr>
            <p:ph idx="1"/>
          </p:nvPr>
        </p:nvSpPr>
        <p:spPr>
          <a:xfrm>
            <a:off x="191844" y="1237129"/>
            <a:ext cx="11987605" cy="5195944"/>
          </a:xfrm>
        </p:spPr>
        <p:txBody>
          <a:bodyPr>
            <a:normAutofit fontScale="77500" lnSpcReduction="20000"/>
          </a:bodyPr>
          <a:lstStyle/>
          <a:p>
            <a:pPr algn="just">
              <a:buNone/>
            </a:pPr>
            <a:r>
              <a:rPr lang="en-US" dirty="0" smtClean="0"/>
              <a:t>1) </a:t>
            </a:r>
            <a:r>
              <a:rPr lang="en-US" sz="3200" dirty="0" smtClean="0">
                <a:solidFill>
                  <a:srgbClr val="FF0000"/>
                </a:solidFill>
              </a:rPr>
              <a:t>Listen without judgment :  </a:t>
            </a:r>
            <a:r>
              <a:rPr lang="en-US" dirty="0" smtClean="0"/>
              <a:t>The key to good communication is listening well. Save your judging  for later after you have heard and understood what was said. </a:t>
            </a:r>
          </a:p>
          <a:p>
            <a:pPr algn="just">
              <a:buNone/>
            </a:pPr>
            <a:r>
              <a:rPr lang="en-US" dirty="0" smtClean="0"/>
              <a:t>2) </a:t>
            </a:r>
            <a:r>
              <a:rPr lang="en-US" dirty="0" smtClean="0">
                <a:solidFill>
                  <a:srgbClr val="FF0000"/>
                </a:solidFill>
              </a:rPr>
              <a:t>Listen with the willingness : </a:t>
            </a:r>
          </a:p>
          <a:p>
            <a:pPr algn="just">
              <a:buNone/>
            </a:pPr>
            <a:r>
              <a:rPr lang="en-US" dirty="0" smtClean="0"/>
              <a:t>3) </a:t>
            </a:r>
            <a:r>
              <a:rPr lang="en-US" dirty="0" smtClean="0">
                <a:solidFill>
                  <a:srgbClr val="FF0000"/>
                </a:solidFill>
              </a:rPr>
              <a:t>Listen without thinking about what you will say next. </a:t>
            </a:r>
            <a:endParaRPr lang="en-US" dirty="0" smtClean="0"/>
          </a:p>
          <a:p>
            <a:pPr algn="just">
              <a:buNone/>
            </a:pPr>
            <a:r>
              <a:rPr lang="en-US" dirty="0" smtClean="0"/>
              <a:t>4) </a:t>
            </a:r>
            <a:r>
              <a:rPr lang="en-US" dirty="0" smtClean="0">
                <a:solidFill>
                  <a:srgbClr val="FF0000"/>
                </a:solidFill>
              </a:rPr>
              <a:t>Do not be invested in being right. </a:t>
            </a:r>
          </a:p>
          <a:p>
            <a:pPr algn="just">
              <a:buNone/>
            </a:pPr>
            <a:r>
              <a:rPr lang="en-US" dirty="0" smtClean="0"/>
              <a:t>5) </a:t>
            </a:r>
            <a:r>
              <a:rPr lang="en-US" sz="3200" dirty="0" smtClean="0">
                <a:solidFill>
                  <a:srgbClr val="FF0000"/>
                </a:solidFill>
              </a:rPr>
              <a:t>If your mind wanders, ask for repetition. </a:t>
            </a:r>
            <a:endParaRPr lang="en-US" dirty="0" smtClean="0"/>
          </a:p>
          <a:p>
            <a:pPr algn="just">
              <a:buNone/>
            </a:pPr>
            <a:r>
              <a:rPr lang="en-US" dirty="0" smtClean="0"/>
              <a:t>6) In all cases repeat back what you heard and ask if it is correct. </a:t>
            </a:r>
          </a:p>
          <a:p>
            <a:pPr algn="just">
              <a:buNone/>
            </a:pPr>
            <a:r>
              <a:rPr lang="en-US" dirty="0" smtClean="0"/>
              <a:t>7) Listen to yourself. </a:t>
            </a:r>
          </a:p>
          <a:p>
            <a:pPr algn="just">
              <a:buNone/>
            </a:pPr>
            <a:r>
              <a:rPr lang="en-US" dirty="0" smtClean="0"/>
              <a:t>8) Say it honestly, but with consideration for the listener's feelings. Be polite, respectful and sincere. </a:t>
            </a:r>
          </a:p>
          <a:p>
            <a:pPr algn="just">
              <a:buNone/>
            </a:pPr>
            <a:r>
              <a:rPr lang="en-US" dirty="0" smtClean="0"/>
              <a:t>9) </a:t>
            </a:r>
            <a:r>
              <a:rPr lang="en-US" dirty="0" smtClean="0">
                <a:solidFill>
                  <a:srgbClr val="FF0000"/>
                </a:solidFill>
              </a:rPr>
              <a:t>Understand and acknowledge that most things are not black or white, </a:t>
            </a:r>
            <a:r>
              <a:rPr lang="en-US" dirty="0" smtClean="0">
                <a:solidFill>
                  <a:srgbClr val="00B050"/>
                </a:solidFill>
              </a:rPr>
              <a:t>but somewhere in a gray area</a:t>
            </a:r>
            <a:r>
              <a:rPr lang="en-US" dirty="0" smtClean="0">
                <a:solidFill>
                  <a:srgbClr val="FF0000"/>
                </a:solidFill>
              </a:rPr>
              <a:t>.</a:t>
            </a:r>
            <a:r>
              <a:rPr lang="en-US" dirty="0" smtClean="0"/>
              <a:t> </a:t>
            </a:r>
          </a:p>
          <a:p>
            <a:pPr algn="just">
              <a:buNone/>
            </a:pPr>
            <a:r>
              <a:rPr lang="en-US" dirty="0" smtClean="0"/>
              <a:t>10) Have integrity and build trust. Don't say what you don't mean. Don't promise what you won't or can't fulfill. Follow through with any commitments you make.</a:t>
            </a:r>
          </a:p>
          <a:p>
            <a:pPr algn="just">
              <a:buNone/>
            </a:pPr>
            <a:r>
              <a:rPr lang="en-US" dirty="0" smtClean="0"/>
              <a:t>11) Eye contact - </a:t>
            </a:r>
            <a:r>
              <a:rPr lang="en-US" dirty="0" smtClean="0">
                <a:solidFill>
                  <a:srgbClr val="FF0000"/>
                </a:solidFill>
              </a:rPr>
              <a:t>Eye contact is also a big giveaway; making and maintaining eye contact is a big indicator of confidence. </a:t>
            </a:r>
          </a:p>
          <a:p>
            <a:pPr algn="just">
              <a:buNone/>
            </a:pPr>
            <a:endParaRPr lang="en-US" dirty="0" smtClean="0"/>
          </a:p>
          <a:p>
            <a:pPr algn="just">
              <a:buNone/>
            </a:pPr>
            <a:endParaRPr lang="en-US" dirty="0" smtClean="0"/>
          </a:p>
          <a:p>
            <a:pPr algn="just">
              <a:buNone/>
            </a:pPr>
            <a:endParaRPr lang="en-US" dirty="0" smtClean="0"/>
          </a:p>
          <a:p>
            <a:pPr marL="457200" indent="-457200">
              <a:buNone/>
            </a:pPr>
            <a:endParaRPr lang="en-US" dirty="0" smtClean="0"/>
          </a:p>
          <a:p>
            <a:endParaRPr lang="en-US" b="1" dirty="0"/>
          </a:p>
        </p:txBody>
      </p:sp>
      <p:pic>
        <p:nvPicPr>
          <p:cNvPr id="5" name="Picture 4"/>
          <p:cNvPicPr>
            <a:picLocks noChangeAspect="1"/>
          </p:cNvPicPr>
          <p:nvPr/>
        </p:nvPicPr>
        <p:blipFill>
          <a:blip r:embed="rId2"/>
          <a:stretch>
            <a:fillRect/>
          </a:stretch>
        </p:blipFill>
        <p:spPr>
          <a:xfrm>
            <a:off x="7942217" y="1933303"/>
            <a:ext cx="2987488" cy="1541417"/>
          </a:xfrm>
          <a:prstGeom prst="rect">
            <a:avLst/>
          </a:prstGeom>
        </p:spPr>
      </p:pic>
    </p:spTree>
    <p:extLst>
      <p:ext uri="{BB962C8B-B14F-4D97-AF65-F5344CB8AC3E}">
        <p14:creationId xmlns:p14="http://schemas.microsoft.com/office/powerpoint/2010/main" val="1172405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002" y="107577"/>
            <a:ext cx="11661290" cy="1129552"/>
          </a:xfrm>
        </p:spPr>
        <p:txBody>
          <a:bodyPr>
            <a:normAutofit fontScale="90000"/>
          </a:bodyPr>
          <a:lstStyle/>
          <a:p>
            <a:r>
              <a:rPr lang="en-US" dirty="0" smtClean="0"/>
              <a:t>Steps to avoid embarrassing in communication with others: </a:t>
            </a:r>
          </a:p>
        </p:txBody>
      </p:sp>
      <p:sp>
        <p:nvSpPr>
          <p:cNvPr id="3" name="Content Placeholder 2"/>
          <p:cNvSpPr>
            <a:spLocks noGrp="1"/>
          </p:cNvSpPr>
          <p:nvPr>
            <p:ph idx="1"/>
          </p:nvPr>
        </p:nvSpPr>
        <p:spPr>
          <a:xfrm>
            <a:off x="191844" y="1237129"/>
            <a:ext cx="11987605" cy="5195944"/>
          </a:xfrm>
        </p:spPr>
        <p:txBody>
          <a:bodyPr>
            <a:normAutofit lnSpcReduction="10000"/>
          </a:bodyPr>
          <a:lstStyle/>
          <a:p>
            <a:pPr marL="457200" indent="-457200">
              <a:buNone/>
            </a:pPr>
            <a:r>
              <a:rPr lang="en-US" dirty="0" smtClean="0">
                <a:solidFill>
                  <a:srgbClr val="FF0000"/>
                </a:solidFill>
              </a:rPr>
              <a:t>1. Be patient</a:t>
            </a:r>
            <a:r>
              <a:rPr lang="en-US" dirty="0" smtClean="0"/>
              <a:t> Your ideas are important, but no more important than anyone else’s. </a:t>
            </a:r>
          </a:p>
          <a:p>
            <a:pPr marL="457200" indent="-457200">
              <a:buNone/>
            </a:pPr>
            <a:r>
              <a:rPr lang="en-US" dirty="0" smtClean="0">
                <a:solidFill>
                  <a:srgbClr val="FF0000"/>
                </a:solidFill>
              </a:rPr>
              <a:t>2   Listen carefully </a:t>
            </a:r>
            <a:r>
              <a:rPr lang="en-US" dirty="0" smtClean="0"/>
              <a:t>If you are busy thinking about what you want to say, you aren’t going to hear what the other person is saying. </a:t>
            </a:r>
          </a:p>
          <a:p>
            <a:pPr marL="457200" indent="-457200">
              <a:buNone/>
            </a:pPr>
            <a:r>
              <a:rPr lang="en-US" dirty="0" smtClean="0"/>
              <a:t>3.  </a:t>
            </a:r>
            <a:r>
              <a:rPr lang="en-US" dirty="0" smtClean="0">
                <a:solidFill>
                  <a:srgbClr val="FF0000"/>
                </a:solidFill>
              </a:rPr>
              <a:t>Take notes if necessary </a:t>
            </a:r>
            <a:r>
              <a:rPr lang="en-US" dirty="0" smtClean="0"/>
              <a:t>If the discussion is a long one, notes can help you remember the points you want to make. </a:t>
            </a:r>
          </a:p>
          <a:p>
            <a:pPr marL="457200" indent="-457200">
              <a:buNone/>
            </a:pPr>
            <a:r>
              <a:rPr lang="en-US" dirty="0" smtClean="0"/>
              <a:t>4.  </a:t>
            </a:r>
            <a:r>
              <a:rPr lang="en-US" dirty="0" smtClean="0">
                <a:solidFill>
                  <a:srgbClr val="FF0000"/>
                </a:solidFill>
              </a:rPr>
              <a:t>Rephrase </a:t>
            </a:r>
            <a:r>
              <a:rPr lang="en-US" dirty="0" smtClean="0"/>
              <a:t>what was said in your own words This is the clearest way to </a:t>
            </a:r>
            <a:r>
              <a:rPr lang="en-US" dirty="0" err="1" smtClean="0"/>
              <a:t>esure</a:t>
            </a:r>
            <a:r>
              <a:rPr lang="en-US" dirty="0" smtClean="0"/>
              <a:t> you haven’t made an assumption about what a statement means. </a:t>
            </a:r>
          </a:p>
          <a:p>
            <a:pPr marL="457200" indent="-457200">
              <a:buNone/>
            </a:pPr>
            <a:r>
              <a:rPr lang="en-US" dirty="0" smtClean="0"/>
              <a:t>5.   </a:t>
            </a:r>
            <a:r>
              <a:rPr lang="en-US" dirty="0" smtClean="0">
                <a:solidFill>
                  <a:srgbClr val="FF0000"/>
                </a:solidFill>
              </a:rPr>
              <a:t>Don’t interrupt </a:t>
            </a:r>
            <a:r>
              <a:rPr lang="en-US" dirty="0" smtClean="0"/>
              <a:t>The speaker may be going on to clarify exactly what you are questioning. </a:t>
            </a:r>
          </a:p>
          <a:p>
            <a:pPr marL="457200" indent="-457200">
              <a:buNone/>
            </a:pPr>
            <a:r>
              <a:rPr lang="en-US" dirty="0" smtClean="0"/>
              <a:t>6.   </a:t>
            </a:r>
            <a:r>
              <a:rPr lang="en-US" dirty="0" smtClean="0">
                <a:solidFill>
                  <a:srgbClr val="FF0000"/>
                </a:solidFill>
              </a:rPr>
              <a:t>Pause and reflect : </a:t>
            </a:r>
            <a:r>
              <a:rPr lang="en-US" dirty="0" smtClean="0"/>
              <a:t>Allow some time to let the speaker’s comments fully sink in by pausing and reflecting before you jump in to speak.</a:t>
            </a:r>
          </a:p>
          <a:p>
            <a:pPr algn="just">
              <a:buNone/>
            </a:pPr>
            <a:endParaRPr lang="en-US" dirty="0" smtClean="0"/>
          </a:p>
          <a:p>
            <a:pPr algn="just">
              <a:buNone/>
            </a:pPr>
            <a:endParaRPr lang="en-US" dirty="0" smtClean="0"/>
          </a:p>
          <a:p>
            <a:pPr algn="just">
              <a:buNone/>
            </a:pPr>
            <a:endParaRPr lang="en-US" dirty="0" smtClean="0"/>
          </a:p>
          <a:p>
            <a:pPr marL="457200" indent="-457200">
              <a:buNone/>
            </a:pPr>
            <a:endParaRPr lang="en-US" dirty="0" smtClean="0"/>
          </a:p>
          <a:p>
            <a:endParaRPr lang="en-US" b="1" dirty="0"/>
          </a:p>
        </p:txBody>
      </p:sp>
      <p:pic>
        <p:nvPicPr>
          <p:cNvPr id="1026" name="Picture 2" descr="My Parents Are So Embarrassing! The Feeling is Mutual"/>
          <p:cNvPicPr>
            <a:picLocks noChangeAspect="1" noChangeArrowheads="1"/>
          </p:cNvPicPr>
          <p:nvPr/>
        </p:nvPicPr>
        <p:blipFill rotWithShape="1">
          <a:blip r:embed="rId2">
            <a:extLst>
              <a:ext uri="{28A0092B-C50C-407E-A947-70E740481C1C}">
                <a14:useLocalDpi xmlns:a14="http://schemas.microsoft.com/office/drawing/2010/main" val="0"/>
              </a:ext>
            </a:extLst>
          </a:blip>
          <a:srcRect l="34689" r="37520"/>
          <a:stretch/>
        </p:blipFill>
        <p:spPr bwMode="auto">
          <a:xfrm>
            <a:off x="9326880" y="5598110"/>
            <a:ext cx="1854926" cy="1259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741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dirty="0" smtClean="0"/>
              <a:t>Friends and Friendship - Education</a:t>
            </a:r>
            <a:endParaRPr lang="en-US" b="1" dirty="0" smtClean="0"/>
          </a:p>
        </p:txBody>
      </p:sp>
      <p:sp>
        <p:nvSpPr>
          <p:cNvPr id="3" name="Content Placeholder 2"/>
          <p:cNvSpPr>
            <a:spLocks noGrp="1"/>
          </p:cNvSpPr>
          <p:nvPr>
            <p:ph idx="1"/>
          </p:nvPr>
        </p:nvSpPr>
        <p:spPr>
          <a:xfrm>
            <a:off x="569259" y="1032734"/>
            <a:ext cx="10876878" cy="4875288"/>
          </a:xfrm>
        </p:spPr>
        <p:txBody>
          <a:bodyPr>
            <a:normAutofit fontScale="85000" lnSpcReduction="20000"/>
          </a:bodyPr>
          <a:lstStyle/>
          <a:p>
            <a:pPr algn="just"/>
            <a:r>
              <a:rPr lang="en-US" dirty="0" smtClean="0"/>
              <a:t>Friend : ”a person with whom one has a bond of</a:t>
            </a:r>
          </a:p>
          <a:p>
            <a:pPr marL="0" indent="0" algn="just">
              <a:buNone/>
            </a:pPr>
            <a:r>
              <a:rPr lang="en-US" dirty="0" smtClean="0"/>
              <a:t> mutual affection, typically one exclusive of sexual or</a:t>
            </a:r>
          </a:p>
          <a:p>
            <a:pPr marL="0" indent="0" algn="just">
              <a:buNone/>
            </a:pPr>
            <a:r>
              <a:rPr lang="en-US" dirty="0" smtClean="0"/>
              <a:t> family relations”</a:t>
            </a:r>
          </a:p>
          <a:p>
            <a:pPr algn="just"/>
            <a:r>
              <a:rPr lang="en-US" dirty="0" smtClean="0"/>
              <a:t>A person who has a strong liking for and trust in another person.</a:t>
            </a:r>
          </a:p>
          <a:p>
            <a:pPr algn="just"/>
            <a:r>
              <a:rPr lang="en-US" dirty="0" smtClean="0"/>
              <a:t>A person who helps or supports something She was a friend to environmental causes.</a:t>
            </a:r>
          </a:p>
          <a:p>
            <a:pPr algn="just"/>
            <a:r>
              <a:rPr lang="en-US" dirty="0" smtClean="0"/>
              <a:t>Friendship : ”Friendship is a relationship of mutual affection between people. It is a stronger form of interpersonal bond than an acquaintance or an</a:t>
            </a:r>
          </a:p>
          <a:p>
            <a:pPr algn="just"/>
            <a:r>
              <a:rPr lang="en-US" dirty="0" smtClean="0"/>
              <a:t>association, such as a classmate, neighbor, or colleague. ”</a:t>
            </a:r>
          </a:p>
          <a:p>
            <a:pPr algn="just"/>
            <a:r>
              <a:rPr lang="en-US" dirty="0" smtClean="0"/>
              <a:t>It is a dyadic relationship </a:t>
            </a:r>
            <a:r>
              <a:rPr lang="en-US" b="1" dirty="0" smtClean="0"/>
              <a:t>(Smallest Possible social group), </a:t>
            </a:r>
            <a:r>
              <a:rPr lang="en-US" dirty="0" smtClean="0"/>
              <a:t>meaning that it involves a series of interactions between two individuals known to each other.</a:t>
            </a:r>
          </a:p>
          <a:p>
            <a:pPr algn="just"/>
            <a:r>
              <a:rPr lang="en-US" dirty="0" smtClean="0"/>
              <a:t>It is recognized by both members of the relationship and is characterized by a bond or tie of reciprocated affection.</a:t>
            </a:r>
          </a:p>
          <a:p>
            <a:pPr algn="just"/>
            <a:r>
              <a:rPr lang="en-US" dirty="0" smtClean="0"/>
              <a:t>It is not obligatory; two individuals choose to form a friendship with each other.</a:t>
            </a:r>
          </a:p>
          <a:p>
            <a:pPr algn="just"/>
            <a:endParaRPr lang="en-US" dirty="0"/>
          </a:p>
        </p:txBody>
      </p:sp>
      <p:pic>
        <p:nvPicPr>
          <p:cNvPr id="4" name="Picture 3"/>
          <p:cNvPicPr>
            <a:picLocks noChangeAspect="1"/>
          </p:cNvPicPr>
          <p:nvPr/>
        </p:nvPicPr>
        <p:blipFill>
          <a:blip r:embed="rId2"/>
          <a:stretch>
            <a:fillRect/>
          </a:stretch>
        </p:blipFill>
        <p:spPr>
          <a:xfrm>
            <a:off x="8979155" y="698929"/>
            <a:ext cx="2643586" cy="1502228"/>
          </a:xfrm>
          <a:prstGeom prst="rect">
            <a:avLst/>
          </a:prstGeom>
        </p:spPr>
      </p:pic>
    </p:spTree>
    <p:extLst>
      <p:ext uri="{BB962C8B-B14F-4D97-AF65-F5344CB8AC3E}">
        <p14:creationId xmlns:p14="http://schemas.microsoft.com/office/powerpoint/2010/main" val="2851285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7609"/>
          </a:xfrm>
        </p:spPr>
        <p:txBody>
          <a:bodyPr>
            <a:normAutofit fontScale="90000"/>
          </a:bodyPr>
          <a:lstStyle/>
          <a:p>
            <a:r>
              <a:rPr lang="en-US" dirty="0" smtClean="0"/>
              <a:t>Friends and Friendship - Education</a:t>
            </a:r>
            <a:endParaRPr lang="en-US" b="1" dirty="0" smtClean="0"/>
          </a:p>
        </p:txBody>
      </p:sp>
      <p:sp>
        <p:nvSpPr>
          <p:cNvPr id="3" name="Content Placeholder 2"/>
          <p:cNvSpPr>
            <a:spLocks noGrp="1"/>
          </p:cNvSpPr>
          <p:nvPr>
            <p:ph idx="1"/>
          </p:nvPr>
        </p:nvSpPr>
        <p:spPr>
          <a:xfrm>
            <a:off x="569259" y="1032734"/>
            <a:ext cx="10876878" cy="4875288"/>
          </a:xfrm>
        </p:spPr>
        <p:txBody>
          <a:bodyPr>
            <a:normAutofit/>
          </a:bodyPr>
          <a:lstStyle/>
          <a:p>
            <a:pPr algn="just"/>
            <a:r>
              <a:rPr lang="en-US" dirty="0" smtClean="0"/>
              <a:t>It is almost always characterized by companionship and shared activities.</a:t>
            </a:r>
          </a:p>
          <a:p>
            <a:pPr algn="just"/>
            <a:r>
              <a:rPr lang="en-US" dirty="0" smtClean="0"/>
              <a:t>One of the primary goals and motivations of friendship is companionship.</a:t>
            </a:r>
          </a:p>
          <a:p>
            <a:pPr algn="just"/>
            <a:r>
              <a:rPr lang="en-US" dirty="0" smtClean="0"/>
              <a:t>In addition, adolescent and adult friendships often perform other functions, such as serving as sources of emotional support and providing opportunities for self-disclosure and intimacy.</a:t>
            </a:r>
            <a:endParaRPr lang="en-US" dirty="0"/>
          </a:p>
        </p:txBody>
      </p:sp>
      <p:pic>
        <p:nvPicPr>
          <p:cNvPr id="4" name="Picture 3"/>
          <p:cNvPicPr>
            <a:picLocks noChangeAspect="1"/>
          </p:cNvPicPr>
          <p:nvPr/>
        </p:nvPicPr>
        <p:blipFill>
          <a:blip r:embed="rId2"/>
          <a:stretch>
            <a:fillRect/>
          </a:stretch>
        </p:blipFill>
        <p:spPr>
          <a:xfrm>
            <a:off x="3978601" y="4207099"/>
            <a:ext cx="4058194" cy="2368532"/>
          </a:xfrm>
          <a:prstGeom prst="rect">
            <a:avLst/>
          </a:prstGeom>
        </p:spPr>
      </p:pic>
    </p:spTree>
    <p:extLst>
      <p:ext uri="{BB962C8B-B14F-4D97-AF65-F5344CB8AC3E}">
        <p14:creationId xmlns:p14="http://schemas.microsoft.com/office/powerpoint/2010/main" val="79333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078" y="376518"/>
            <a:ext cx="10515600" cy="1151069"/>
          </a:xfrm>
        </p:spPr>
        <p:txBody>
          <a:bodyPr>
            <a:normAutofit fontScale="90000"/>
          </a:bodyPr>
          <a:lstStyle/>
          <a:p>
            <a:r>
              <a:rPr lang="en-US" dirty="0" smtClean="0"/>
              <a:t/>
            </a:r>
            <a:br>
              <a:rPr lang="en-US" dirty="0" smtClean="0"/>
            </a:br>
            <a:r>
              <a:rPr lang="en-US" dirty="0" smtClean="0"/>
              <a:t>Qualities Of A True Friend” - A faithful friend is a sure anchor</a:t>
            </a:r>
            <a:br>
              <a:rPr lang="en-US" dirty="0" smtClean="0"/>
            </a:br>
            <a:endParaRPr lang="en-US" dirty="0"/>
          </a:p>
        </p:txBody>
      </p:sp>
      <p:sp>
        <p:nvSpPr>
          <p:cNvPr id="3" name="Content Placeholder 2"/>
          <p:cNvSpPr>
            <a:spLocks noGrp="1"/>
          </p:cNvSpPr>
          <p:nvPr>
            <p:ph idx="1"/>
          </p:nvPr>
        </p:nvSpPr>
        <p:spPr>
          <a:xfrm>
            <a:off x="838200" y="1527587"/>
            <a:ext cx="10515600" cy="4442907"/>
          </a:xfrm>
        </p:spPr>
        <p:txBody>
          <a:bodyPr>
            <a:normAutofit fontScale="92500" lnSpcReduction="10000"/>
          </a:bodyPr>
          <a:lstStyle/>
          <a:p>
            <a:r>
              <a:rPr lang="en-US" dirty="0" smtClean="0"/>
              <a:t>Will always be honest with you.</a:t>
            </a:r>
          </a:p>
          <a:p>
            <a:r>
              <a:rPr lang="en-US" dirty="0" smtClean="0"/>
              <a:t>Loves you for yourself and unconditional</a:t>
            </a:r>
          </a:p>
          <a:p>
            <a:r>
              <a:rPr lang="en-US" dirty="0" smtClean="0"/>
              <a:t>Gives more than they take.</a:t>
            </a:r>
          </a:p>
          <a:p>
            <a:r>
              <a:rPr lang="en-US" dirty="0" smtClean="0"/>
              <a:t>Compromises</a:t>
            </a:r>
          </a:p>
          <a:p>
            <a:r>
              <a:rPr lang="en-US" dirty="0" smtClean="0"/>
              <a:t>Forgives you even without an apology.</a:t>
            </a:r>
          </a:p>
          <a:p>
            <a:r>
              <a:rPr lang="en-US" dirty="0" smtClean="0"/>
              <a:t>Believe in you.</a:t>
            </a:r>
          </a:p>
          <a:p>
            <a:r>
              <a:rPr lang="en-US" dirty="0" smtClean="0"/>
              <a:t>Make time for you.</a:t>
            </a:r>
          </a:p>
          <a:p>
            <a:r>
              <a:rPr lang="en-US" dirty="0" smtClean="0"/>
              <a:t>Respectful to you.</a:t>
            </a:r>
          </a:p>
          <a:p>
            <a:r>
              <a:rPr lang="en-US" dirty="0" smtClean="0"/>
              <a:t>Thoughtful.</a:t>
            </a:r>
          </a:p>
          <a:p>
            <a:r>
              <a:rPr lang="en-US" dirty="0" smtClean="0"/>
              <a:t>Stick around you.</a:t>
            </a:r>
          </a:p>
          <a:p>
            <a:endParaRPr lang="en-US" dirty="0"/>
          </a:p>
        </p:txBody>
      </p:sp>
    </p:spTree>
    <p:extLst>
      <p:ext uri="{BB962C8B-B14F-4D97-AF65-F5344CB8AC3E}">
        <p14:creationId xmlns:p14="http://schemas.microsoft.com/office/powerpoint/2010/main" val="3762047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078" y="376518"/>
            <a:ext cx="10515600" cy="1151069"/>
          </a:xfrm>
        </p:spPr>
        <p:txBody>
          <a:bodyPr>
            <a:normAutofit fontScale="90000"/>
          </a:bodyPr>
          <a:lstStyle/>
          <a:p>
            <a:r>
              <a:rPr lang="en-US" dirty="0" smtClean="0"/>
              <a:t/>
            </a:r>
            <a:br>
              <a:rPr lang="en-US" dirty="0" smtClean="0"/>
            </a:br>
            <a:r>
              <a:rPr lang="en-US" dirty="0" smtClean="0"/>
              <a:t>“Friendship in Education”</a:t>
            </a:r>
            <a:br>
              <a:rPr lang="en-US" dirty="0" smtClean="0"/>
            </a:br>
            <a:endParaRPr lang="en-US" dirty="0"/>
          </a:p>
        </p:txBody>
      </p:sp>
      <p:sp>
        <p:nvSpPr>
          <p:cNvPr id="3" name="Content Placeholder 2"/>
          <p:cNvSpPr>
            <a:spLocks noGrp="1"/>
          </p:cNvSpPr>
          <p:nvPr>
            <p:ph idx="1"/>
          </p:nvPr>
        </p:nvSpPr>
        <p:spPr>
          <a:xfrm>
            <a:off x="838200" y="1527587"/>
            <a:ext cx="10515600" cy="4442907"/>
          </a:xfrm>
        </p:spPr>
        <p:txBody>
          <a:bodyPr>
            <a:normAutofit fontScale="92500" lnSpcReduction="10000"/>
          </a:bodyPr>
          <a:lstStyle/>
          <a:p>
            <a:r>
              <a:rPr lang="en-US" dirty="0" smtClean="0"/>
              <a:t>They provide support and resources and can both encourage and discourage academic achievement.</a:t>
            </a:r>
          </a:p>
          <a:p>
            <a:r>
              <a:rPr lang="en-US" dirty="0" smtClean="0"/>
              <a:t>Contribute to a positive sense of mental well-being</a:t>
            </a:r>
          </a:p>
          <a:p>
            <a:r>
              <a:rPr lang="en-US" dirty="0" smtClean="0"/>
              <a:t>Encourage learning and develop interpersonal skills</a:t>
            </a:r>
          </a:p>
          <a:p>
            <a:r>
              <a:rPr lang="en-US" dirty="0" smtClean="0"/>
              <a:t>Play a significant role in promoting overall health.</a:t>
            </a:r>
          </a:p>
          <a:p>
            <a:r>
              <a:rPr lang="en-US" dirty="0" smtClean="0"/>
              <a:t>Development of Social Skills</a:t>
            </a:r>
          </a:p>
          <a:p>
            <a:r>
              <a:rPr lang="en-US" dirty="0" smtClean="0"/>
              <a:t>Better Cooperation</a:t>
            </a:r>
          </a:p>
          <a:p>
            <a:r>
              <a:rPr lang="en-US" dirty="0" smtClean="0"/>
              <a:t>Better Problem solving abilities</a:t>
            </a:r>
          </a:p>
          <a:p>
            <a:r>
              <a:rPr lang="en-US" dirty="0" smtClean="0"/>
              <a:t>Better Communication</a:t>
            </a:r>
          </a:p>
          <a:p>
            <a:r>
              <a:rPr lang="en-US" dirty="0" smtClean="0"/>
              <a:t>Better Academic outcomes</a:t>
            </a:r>
            <a:endParaRPr lang="en-US" dirty="0"/>
          </a:p>
        </p:txBody>
      </p:sp>
      <p:pic>
        <p:nvPicPr>
          <p:cNvPr id="4" name="Picture 3"/>
          <p:cNvPicPr>
            <a:picLocks noChangeAspect="1"/>
          </p:cNvPicPr>
          <p:nvPr/>
        </p:nvPicPr>
        <p:blipFill>
          <a:blip r:embed="rId2"/>
          <a:stretch>
            <a:fillRect/>
          </a:stretch>
        </p:blipFill>
        <p:spPr>
          <a:xfrm>
            <a:off x="6696747" y="3530509"/>
            <a:ext cx="4829175" cy="3219450"/>
          </a:xfrm>
          <a:prstGeom prst="rect">
            <a:avLst/>
          </a:prstGeom>
        </p:spPr>
      </p:pic>
    </p:spTree>
    <p:extLst>
      <p:ext uri="{BB962C8B-B14F-4D97-AF65-F5344CB8AC3E}">
        <p14:creationId xmlns:p14="http://schemas.microsoft.com/office/powerpoint/2010/main" val="264597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078" y="0"/>
            <a:ext cx="10515600" cy="1151069"/>
          </a:xfrm>
        </p:spPr>
        <p:txBody>
          <a:bodyPr>
            <a:normAutofit fontScale="90000"/>
          </a:bodyPr>
          <a:lstStyle/>
          <a:p>
            <a:r>
              <a:rPr lang="en-US" dirty="0" smtClean="0"/>
              <a:t/>
            </a:r>
            <a:br>
              <a:rPr lang="en-US" dirty="0" smtClean="0"/>
            </a:br>
            <a:r>
              <a:rPr lang="en-US" dirty="0" smtClean="0"/>
              <a:t>The Value of Relationships and Communication</a:t>
            </a:r>
            <a:br>
              <a:rPr lang="en-US" dirty="0" smtClean="0"/>
            </a:br>
            <a:endParaRPr lang="en-US" dirty="0"/>
          </a:p>
        </p:txBody>
      </p:sp>
      <p:sp>
        <p:nvSpPr>
          <p:cNvPr id="3" name="Content Placeholder 2"/>
          <p:cNvSpPr>
            <a:spLocks noGrp="1"/>
          </p:cNvSpPr>
          <p:nvPr>
            <p:ph idx="1"/>
          </p:nvPr>
        </p:nvSpPr>
        <p:spPr>
          <a:xfrm>
            <a:off x="666078" y="1054249"/>
            <a:ext cx="10687722" cy="4916245"/>
          </a:xfrm>
        </p:spPr>
        <p:txBody>
          <a:bodyPr>
            <a:normAutofit fontScale="92500" lnSpcReduction="20000"/>
          </a:bodyPr>
          <a:lstStyle/>
          <a:p>
            <a:pPr marL="0" indent="0">
              <a:buNone/>
            </a:pPr>
            <a:r>
              <a:rPr lang="en-US" dirty="0" smtClean="0"/>
              <a:t>”WHY COMMUNICATION IS KEY TO HEALTHY RELATIONSHIPS”</a:t>
            </a:r>
          </a:p>
          <a:p>
            <a:pPr algn="just"/>
            <a:r>
              <a:rPr lang="en-US" dirty="0" smtClean="0"/>
              <a:t>Communication is important in any relationship, as it allows you to effectively share feelings, opinions and expectations.</a:t>
            </a:r>
          </a:p>
          <a:p>
            <a:pPr algn="just"/>
            <a:r>
              <a:rPr lang="en-US" dirty="0" smtClean="0"/>
              <a:t>GET TO KNOW EACH OTHER : The key to determining whether you’re compatible with another person is to communicate with them from the offset.</a:t>
            </a:r>
          </a:p>
          <a:p>
            <a:pPr algn="just"/>
            <a:r>
              <a:rPr lang="en-US" dirty="0" smtClean="0"/>
              <a:t>AVOID MISUNDERSTANDING : Another reason to communicate effectively is to avoid any misunderstandings, which can lead to a breakdown of communication or the relationship as a whole.</a:t>
            </a:r>
          </a:p>
          <a:p>
            <a:pPr algn="just"/>
            <a:r>
              <a:rPr lang="en-US" dirty="0" smtClean="0"/>
              <a:t>SET CLEAR EXPECTATIONS : In any relationship, it’s important that these expectations are made clear from the offset, to avoid one party upsetting the other without realizing. Always be open and honest and never be afraid to stand by what you believe in. Thus healthy, positive and satisfying relationship.</a:t>
            </a:r>
            <a:endParaRPr lang="en-US" dirty="0"/>
          </a:p>
        </p:txBody>
      </p:sp>
    </p:spTree>
    <p:extLst>
      <p:ext uri="{BB962C8B-B14F-4D97-AF65-F5344CB8AC3E}">
        <p14:creationId xmlns:p14="http://schemas.microsoft.com/office/powerpoint/2010/main" val="3676288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1" cy="1624405"/>
          </a:xfrm>
        </p:spPr>
        <p:txBody>
          <a:bodyPr>
            <a:normAutofit/>
          </a:bodyPr>
          <a:lstStyle/>
          <a:p>
            <a:r>
              <a:rPr lang="en-US" dirty="0" smtClean="0"/>
              <a:t>”HOW TO IMPROVE COMMUNICATION IN A RELATIONSHIP”</a:t>
            </a:r>
          </a:p>
        </p:txBody>
      </p:sp>
      <p:sp>
        <p:nvSpPr>
          <p:cNvPr id="3" name="Content Placeholder 2"/>
          <p:cNvSpPr>
            <a:spLocks noGrp="1"/>
          </p:cNvSpPr>
          <p:nvPr>
            <p:ph idx="1"/>
          </p:nvPr>
        </p:nvSpPr>
        <p:spPr>
          <a:xfrm>
            <a:off x="129092" y="1624405"/>
            <a:ext cx="11256981" cy="4701092"/>
          </a:xfrm>
        </p:spPr>
        <p:txBody>
          <a:bodyPr>
            <a:normAutofit/>
          </a:bodyPr>
          <a:lstStyle/>
          <a:p>
            <a:r>
              <a:rPr lang="en-US" dirty="0" smtClean="0"/>
              <a:t>Always talk about important or sensitive issues face-to-face.</a:t>
            </a:r>
          </a:p>
          <a:p>
            <a:r>
              <a:rPr lang="en-US" dirty="0" smtClean="0"/>
              <a:t>Be open and honest.</a:t>
            </a:r>
          </a:p>
          <a:p>
            <a:r>
              <a:rPr lang="en-US" dirty="0" smtClean="0"/>
              <a:t>Find the right time for important conversations.</a:t>
            </a:r>
          </a:p>
          <a:p>
            <a:r>
              <a:rPr lang="en-US" dirty="0" smtClean="0"/>
              <a:t>Don’t be abusive or verbally aggressive, even if it’s an emotive issue.</a:t>
            </a:r>
          </a:p>
          <a:p>
            <a:r>
              <a:rPr lang="en-US" dirty="0" smtClean="0"/>
              <a:t>Approach conversations in a calm and relaxed way, in a quiet environment where both parties are comfortable.</a:t>
            </a:r>
          </a:p>
          <a:p>
            <a:r>
              <a:rPr lang="en-US" dirty="0" smtClean="0"/>
              <a:t>Use positive body language.</a:t>
            </a:r>
          </a:p>
          <a:p>
            <a:r>
              <a:rPr lang="en-US" dirty="0" smtClean="0"/>
              <a:t>Choose your language carefully.</a:t>
            </a:r>
            <a:endParaRPr lang="en-US" dirty="0"/>
          </a:p>
        </p:txBody>
      </p:sp>
      <p:pic>
        <p:nvPicPr>
          <p:cNvPr id="4" name="Picture 3"/>
          <p:cNvPicPr>
            <a:picLocks noChangeAspect="1"/>
          </p:cNvPicPr>
          <p:nvPr/>
        </p:nvPicPr>
        <p:blipFill rotWithShape="1">
          <a:blip r:embed="rId2"/>
          <a:srcRect t="12839" b="12094"/>
          <a:stretch/>
        </p:blipFill>
        <p:spPr>
          <a:xfrm>
            <a:off x="7173621" y="4178791"/>
            <a:ext cx="3076944" cy="2146706"/>
          </a:xfrm>
          <a:prstGeom prst="rect">
            <a:avLst/>
          </a:prstGeom>
        </p:spPr>
      </p:pic>
    </p:spTree>
    <p:extLst>
      <p:ext uri="{BB962C8B-B14F-4D97-AF65-F5344CB8AC3E}">
        <p14:creationId xmlns:p14="http://schemas.microsoft.com/office/powerpoint/2010/main" val="1460606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1" cy="1624405"/>
          </a:xfrm>
        </p:spPr>
        <p:txBody>
          <a:bodyPr>
            <a:normAutofit/>
          </a:bodyPr>
          <a:lstStyle/>
          <a:p>
            <a:r>
              <a:rPr lang="en-US" dirty="0" smtClean="0"/>
              <a:t>EXAMPLES OF GOOD COMMUNICATION IN RELATIONSHIPS</a:t>
            </a:r>
          </a:p>
        </p:txBody>
      </p:sp>
      <p:sp>
        <p:nvSpPr>
          <p:cNvPr id="3" name="Content Placeholder 2"/>
          <p:cNvSpPr>
            <a:spLocks noGrp="1"/>
          </p:cNvSpPr>
          <p:nvPr>
            <p:ph idx="1"/>
          </p:nvPr>
        </p:nvSpPr>
        <p:spPr>
          <a:xfrm>
            <a:off x="129092" y="1624405"/>
            <a:ext cx="11256981" cy="4701092"/>
          </a:xfrm>
        </p:spPr>
        <p:txBody>
          <a:bodyPr>
            <a:normAutofit/>
          </a:bodyPr>
          <a:lstStyle/>
          <a:p>
            <a:r>
              <a:rPr lang="en-US" dirty="0" smtClean="0"/>
              <a:t>Giving your partner, friend or family member your full attention.</a:t>
            </a:r>
          </a:p>
          <a:p>
            <a:r>
              <a:rPr lang="en-US" dirty="0" smtClean="0"/>
              <a:t>Giving each other space when needed.</a:t>
            </a:r>
          </a:p>
          <a:p>
            <a:r>
              <a:rPr lang="en-US" dirty="0" smtClean="0"/>
              <a:t>Face-to-face communication.</a:t>
            </a:r>
          </a:p>
          <a:p>
            <a:r>
              <a:rPr lang="en-US" dirty="0" smtClean="0"/>
              <a:t>Honesty and openness.</a:t>
            </a:r>
          </a:p>
          <a:p>
            <a:r>
              <a:rPr lang="en-US" dirty="0" smtClean="0"/>
              <a:t>24- hour rule – never sleep on an argument.</a:t>
            </a:r>
          </a:p>
          <a:p>
            <a:r>
              <a:rPr lang="en-US" dirty="0" smtClean="0"/>
              <a:t>Talk about the little things in life.</a:t>
            </a:r>
            <a:endParaRPr lang="en-US" dirty="0"/>
          </a:p>
        </p:txBody>
      </p:sp>
    </p:spTree>
    <p:extLst>
      <p:ext uri="{BB962C8B-B14F-4D97-AF65-F5344CB8AC3E}">
        <p14:creationId xmlns:p14="http://schemas.microsoft.com/office/powerpoint/2010/main" val="3522526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1" cy="1624405"/>
          </a:xfrm>
        </p:spPr>
        <p:txBody>
          <a:bodyPr>
            <a:normAutofit/>
          </a:bodyPr>
          <a:lstStyle/>
          <a:p>
            <a:r>
              <a:rPr lang="en-US" dirty="0" smtClean="0"/>
              <a:t>”EXAMPLES OF BAD COMMUNICATION IN RELATIONSHIPS” </a:t>
            </a:r>
          </a:p>
        </p:txBody>
      </p:sp>
      <p:sp>
        <p:nvSpPr>
          <p:cNvPr id="3" name="Content Placeholder 2"/>
          <p:cNvSpPr>
            <a:spLocks noGrp="1"/>
          </p:cNvSpPr>
          <p:nvPr>
            <p:ph idx="1"/>
          </p:nvPr>
        </p:nvSpPr>
        <p:spPr>
          <a:xfrm>
            <a:off x="129092" y="1624405"/>
            <a:ext cx="11256981" cy="4701092"/>
          </a:xfrm>
        </p:spPr>
        <p:txBody>
          <a:bodyPr>
            <a:normAutofit/>
          </a:bodyPr>
          <a:lstStyle/>
          <a:p>
            <a:r>
              <a:rPr lang="en-US" dirty="0" smtClean="0"/>
              <a:t>Belittling each other Openly giving the cold shoulder </a:t>
            </a:r>
          </a:p>
          <a:p>
            <a:r>
              <a:rPr lang="en-US" dirty="0" smtClean="0"/>
              <a:t>Becoming defensive in heated discussions </a:t>
            </a:r>
          </a:p>
          <a:p>
            <a:r>
              <a:rPr lang="en-US" dirty="0" smtClean="0"/>
              <a:t>Assuming you know what the other person is thinking </a:t>
            </a:r>
          </a:p>
          <a:p>
            <a:r>
              <a:rPr lang="en-US" dirty="0" smtClean="0"/>
              <a:t>Arguments that are never resolved and brushed under the carpet </a:t>
            </a:r>
          </a:p>
          <a:p>
            <a:r>
              <a:rPr lang="en-US" dirty="0" smtClean="0"/>
              <a:t>Inability to compromise </a:t>
            </a:r>
          </a:p>
          <a:p>
            <a:r>
              <a:rPr lang="en-US" dirty="0" smtClean="0"/>
              <a:t>Few attempts to connect</a:t>
            </a:r>
            <a:endParaRPr lang="en-US" dirty="0"/>
          </a:p>
        </p:txBody>
      </p:sp>
      <p:pic>
        <p:nvPicPr>
          <p:cNvPr id="4" name="Picture 3"/>
          <p:cNvPicPr>
            <a:picLocks noChangeAspect="1"/>
          </p:cNvPicPr>
          <p:nvPr/>
        </p:nvPicPr>
        <p:blipFill>
          <a:blip r:embed="rId2"/>
          <a:stretch>
            <a:fillRect/>
          </a:stretch>
        </p:blipFill>
        <p:spPr>
          <a:xfrm>
            <a:off x="5982381" y="3629892"/>
            <a:ext cx="4232774" cy="3228108"/>
          </a:xfrm>
          <a:prstGeom prst="rect">
            <a:avLst/>
          </a:prstGeom>
        </p:spPr>
      </p:pic>
    </p:spTree>
    <p:extLst>
      <p:ext uri="{BB962C8B-B14F-4D97-AF65-F5344CB8AC3E}">
        <p14:creationId xmlns:p14="http://schemas.microsoft.com/office/powerpoint/2010/main" val="287886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1" cy="1054249"/>
          </a:xfrm>
        </p:spPr>
        <p:txBody>
          <a:bodyPr>
            <a:normAutofit/>
          </a:bodyPr>
          <a:lstStyle/>
          <a:p>
            <a:r>
              <a:rPr lang="en-US" dirty="0" smtClean="0"/>
              <a:t>Relationships for Better or Worsening of Life</a:t>
            </a:r>
            <a:endParaRPr lang="en-US" dirty="0"/>
          </a:p>
        </p:txBody>
      </p:sp>
      <p:sp>
        <p:nvSpPr>
          <p:cNvPr id="3" name="Content Placeholder 2"/>
          <p:cNvSpPr>
            <a:spLocks noGrp="1"/>
          </p:cNvSpPr>
          <p:nvPr>
            <p:ph idx="1"/>
          </p:nvPr>
        </p:nvSpPr>
        <p:spPr>
          <a:xfrm>
            <a:off x="129092" y="1054248"/>
            <a:ext cx="11854927" cy="5454127"/>
          </a:xfrm>
        </p:spPr>
        <p:txBody>
          <a:bodyPr>
            <a:normAutofit lnSpcReduction="10000"/>
          </a:bodyPr>
          <a:lstStyle/>
          <a:p>
            <a:pPr algn="just"/>
            <a:r>
              <a:rPr lang="en-US" dirty="0" smtClean="0"/>
              <a:t>Satisfying relationships not only make us happy, they also influence our long-term health as much as getting enough sleep, eating healthy, and not smoking.</a:t>
            </a:r>
          </a:p>
          <a:p>
            <a:pPr algn="just"/>
            <a:r>
              <a:rPr lang="en-US" dirty="0" smtClean="0"/>
              <a:t>Many research studies have shown that satisfying relationships are associated with better health, greater happiness, and even longer life. </a:t>
            </a:r>
          </a:p>
          <a:p>
            <a:pPr algn="just"/>
            <a:r>
              <a:rPr lang="en-US" dirty="0" smtClean="0"/>
              <a:t>Stronger Heart and Healthier Brain</a:t>
            </a:r>
          </a:p>
          <a:p>
            <a:pPr algn="just"/>
            <a:r>
              <a:rPr lang="en-US" dirty="0" smtClean="0"/>
              <a:t>An unhealthy relationship will cause lot of stress, loneliness and will make us an irritable person which will work as a retarding force in our way of achieving success.</a:t>
            </a:r>
          </a:p>
          <a:p>
            <a:pPr algn="just"/>
            <a:r>
              <a:rPr lang="en-US" dirty="0" smtClean="0"/>
              <a:t>While in an unhealthy relationship we lose trust on each other and respect for each other decreases.</a:t>
            </a:r>
          </a:p>
          <a:p>
            <a:pPr algn="just"/>
            <a:r>
              <a:rPr lang="en-US" dirty="0" smtClean="0"/>
              <a:t>A research shows that a healthy relationship have 5 to 1 ratio of positive to negative behaviors and a unhealthy relationship have a much lower ratio of positive to negative behaviors. </a:t>
            </a:r>
          </a:p>
        </p:txBody>
      </p:sp>
    </p:spTree>
    <p:extLst>
      <p:ext uri="{BB962C8B-B14F-4D97-AF65-F5344CB8AC3E}">
        <p14:creationId xmlns:p14="http://schemas.microsoft.com/office/powerpoint/2010/main" val="2671302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1" cy="1054249"/>
          </a:xfrm>
        </p:spPr>
        <p:txBody>
          <a:bodyPr>
            <a:normAutofit fontScale="90000"/>
          </a:bodyPr>
          <a:lstStyle/>
          <a:p>
            <a:r>
              <a:rPr lang="en-US" dirty="0" smtClean="0"/>
              <a:t>Understanding Basic Instincts of Life (More than a Biology) </a:t>
            </a:r>
            <a:endParaRPr lang="en-US" dirty="0"/>
          </a:p>
        </p:txBody>
      </p:sp>
      <p:sp>
        <p:nvSpPr>
          <p:cNvPr id="3" name="Content Placeholder 2"/>
          <p:cNvSpPr>
            <a:spLocks noGrp="1"/>
          </p:cNvSpPr>
          <p:nvPr>
            <p:ph idx="1"/>
          </p:nvPr>
        </p:nvSpPr>
        <p:spPr>
          <a:xfrm>
            <a:off x="129092" y="1054248"/>
            <a:ext cx="11854927" cy="5454127"/>
          </a:xfrm>
        </p:spPr>
        <p:txBody>
          <a:bodyPr>
            <a:normAutofit/>
          </a:bodyPr>
          <a:lstStyle/>
          <a:p>
            <a:pPr marL="0" indent="0" algn="just">
              <a:buNone/>
            </a:pPr>
            <a:r>
              <a:rPr lang="en-US" dirty="0" smtClean="0"/>
              <a:t>                                      ”Three Basis instincts of Human Life”</a:t>
            </a:r>
          </a:p>
          <a:p>
            <a:pPr marL="0" indent="0" algn="just">
              <a:buNone/>
            </a:pPr>
            <a:endParaRPr lang="en-US" dirty="0"/>
          </a:p>
          <a:p>
            <a:pPr marL="0" indent="0" algn="just">
              <a:buNone/>
            </a:pPr>
            <a:endParaRPr lang="en-US" dirty="0" smtClean="0"/>
          </a:p>
        </p:txBody>
      </p:sp>
      <p:pic>
        <p:nvPicPr>
          <p:cNvPr id="4" name="Picture 3"/>
          <p:cNvPicPr>
            <a:picLocks noChangeAspect="1"/>
          </p:cNvPicPr>
          <p:nvPr/>
        </p:nvPicPr>
        <p:blipFill>
          <a:blip r:embed="rId2"/>
          <a:stretch>
            <a:fillRect/>
          </a:stretch>
        </p:blipFill>
        <p:spPr>
          <a:xfrm>
            <a:off x="1065007" y="1807285"/>
            <a:ext cx="10488706" cy="4442908"/>
          </a:xfrm>
          <a:prstGeom prst="rect">
            <a:avLst/>
          </a:prstGeom>
        </p:spPr>
      </p:pic>
    </p:spTree>
    <p:extLst>
      <p:ext uri="{BB962C8B-B14F-4D97-AF65-F5344CB8AC3E}">
        <p14:creationId xmlns:p14="http://schemas.microsoft.com/office/powerpoint/2010/main" val="637556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56216" y="129092"/>
            <a:ext cx="11123408" cy="6465346"/>
          </a:xfrm>
          <a:prstGeom prst="rect">
            <a:avLst/>
          </a:prstGeom>
        </p:spPr>
      </p:pic>
    </p:spTree>
    <p:extLst>
      <p:ext uri="{BB962C8B-B14F-4D97-AF65-F5344CB8AC3E}">
        <p14:creationId xmlns:p14="http://schemas.microsoft.com/office/powerpoint/2010/main" val="4238758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8443" y="329030"/>
            <a:ext cx="11670631" cy="1006475"/>
          </a:xfrm>
        </p:spPr>
        <p:txBody>
          <a:bodyPr>
            <a:normAutofit/>
          </a:bodyPr>
          <a:lstStyle/>
          <a:p>
            <a:r>
              <a:rPr lang="en-US" sz="4000" dirty="0" smtClean="0"/>
              <a:t>Changing Health Behaviors Through Social Engineering</a:t>
            </a:r>
            <a:endParaRPr lang="en-IN" sz="4000" dirty="0"/>
          </a:p>
        </p:txBody>
      </p:sp>
      <p:sp>
        <p:nvSpPr>
          <p:cNvPr id="5" name="Content Placeholder 4"/>
          <p:cNvSpPr>
            <a:spLocks noGrp="1"/>
          </p:cNvSpPr>
          <p:nvPr>
            <p:ph idx="1"/>
          </p:nvPr>
        </p:nvSpPr>
        <p:spPr>
          <a:xfrm>
            <a:off x="441157" y="1356393"/>
            <a:ext cx="11301663" cy="4351338"/>
          </a:xfrm>
        </p:spPr>
        <p:txBody>
          <a:bodyPr/>
          <a:lstStyle/>
          <a:p>
            <a:pPr marL="0" indent="0">
              <a:buNone/>
            </a:pPr>
            <a:r>
              <a:rPr lang="en-US" dirty="0" smtClean="0"/>
              <a:t>Modifying </a:t>
            </a:r>
            <a:r>
              <a:rPr lang="en-US" dirty="0"/>
              <a:t>the environment in ways that affect people’s ability to practice a particular health behavior </a:t>
            </a:r>
            <a:r>
              <a:rPr lang="en-US" dirty="0" smtClean="0"/>
              <a:t>– </a:t>
            </a:r>
          </a:p>
          <a:p>
            <a:pPr lvl="1"/>
            <a:r>
              <a:rPr lang="en-US" dirty="0" smtClean="0"/>
              <a:t>Banning </a:t>
            </a:r>
            <a:r>
              <a:rPr lang="en-US" dirty="0"/>
              <a:t>certain drugs such as heroin and cocaine </a:t>
            </a:r>
            <a:endParaRPr lang="en-US" dirty="0" smtClean="0"/>
          </a:p>
          <a:p>
            <a:pPr lvl="1"/>
            <a:r>
              <a:rPr lang="en-US" dirty="0" smtClean="0"/>
              <a:t>Requiring </a:t>
            </a:r>
            <a:r>
              <a:rPr lang="en-US" dirty="0"/>
              <a:t>vaccinations for school entry </a:t>
            </a:r>
            <a:r>
              <a:rPr lang="en-US" dirty="0" smtClean="0"/>
              <a:t> </a:t>
            </a:r>
          </a:p>
          <a:p>
            <a:pPr lvl="1"/>
            <a:r>
              <a:rPr lang="en-US" dirty="0" smtClean="0"/>
              <a:t>Using </a:t>
            </a:r>
            <a:r>
              <a:rPr lang="en-US" dirty="0"/>
              <a:t>safety containers for medications </a:t>
            </a:r>
            <a:r>
              <a:rPr lang="en-US" dirty="0" smtClean="0"/>
              <a:t> </a:t>
            </a:r>
          </a:p>
          <a:p>
            <a:pPr lvl="1"/>
            <a:r>
              <a:rPr lang="en-US" dirty="0" smtClean="0"/>
              <a:t>Lowering </a:t>
            </a:r>
            <a:r>
              <a:rPr lang="en-US" dirty="0"/>
              <a:t>speed limits </a:t>
            </a:r>
            <a:endParaRPr lang="en-US" dirty="0"/>
          </a:p>
          <a:p>
            <a:pPr lvl="1"/>
            <a:r>
              <a:rPr lang="en-US" dirty="0" smtClean="0"/>
              <a:t>Raising </a:t>
            </a:r>
            <a:r>
              <a:rPr lang="en-US" dirty="0"/>
              <a:t>the drinking age</a:t>
            </a:r>
            <a:endParaRPr lang="en-IN" dirty="0"/>
          </a:p>
        </p:txBody>
      </p:sp>
    </p:spTree>
    <p:extLst>
      <p:ext uri="{BB962C8B-B14F-4D97-AF65-F5344CB8AC3E}">
        <p14:creationId xmlns:p14="http://schemas.microsoft.com/office/powerpoint/2010/main" val="2241561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47" y="365126"/>
            <a:ext cx="12059653" cy="910222"/>
          </a:xfrm>
        </p:spPr>
        <p:txBody>
          <a:bodyPr>
            <a:normAutofit/>
          </a:bodyPr>
          <a:lstStyle/>
          <a:p>
            <a:r>
              <a:rPr lang="en-US" sz="4000" dirty="0" smtClean="0"/>
              <a:t>Changing Health Behaviors Through Social Engineering</a:t>
            </a:r>
            <a:endParaRPr lang="en-IN" sz="4000" dirty="0"/>
          </a:p>
        </p:txBody>
      </p:sp>
      <p:sp>
        <p:nvSpPr>
          <p:cNvPr id="3" name="Content Placeholder 2"/>
          <p:cNvSpPr>
            <a:spLocks noGrp="1"/>
          </p:cNvSpPr>
          <p:nvPr>
            <p:ph idx="1"/>
          </p:nvPr>
        </p:nvSpPr>
        <p:spPr>
          <a:xfrm>
            <a:off x="227317" y="1263316"/>
            <a:ext cx="11617291" cy="5141168"/>
          </a:xfrm>
        </p:spPr>
        <p:txBody>
          <a:bodyPr>
            <a:normAutofit fontScale="92500" lnSpcReduction="20000"/>
          </a:bodyPr>
          <a:lstStyle/>
          <a:p>
            <a:r>
              <a:rPr lang="en-US" sz="2400" dirty="0"/>
              <a:t>Venues for health habit modification </a:t>
            </a:r>
            <a:endParaRPr lang="en-US" sz="2400" dirty="0"/>
          </a:p>
          <a:p>
            <a:r>
              <a:rPr lang="en-US" dirty="0" smtClean="0"/>
              <a:t>Private </a:t>
            </a:r>
            <a:r>
              <a:rPr lang="en-US" dirty="0"/>
              <a:t>therapist’s office </a:t>
            </a:r>
            <a:endParaRPr lang="en-US" dirty="0"/>
          </a:p>
          <a:p>
            <a:r>
              <a:rPr lang="en-US" dirty="0" smtClean="0"/>
              <a:t>Health </a:t>
            </a:r>
            <a:r>
              <a:rPr lang="en-US" dirty="0"/>
              <a:t>practitioner’s office </a:t>
            </a:r>
            <a:endParaRPr lang="en-US" dirty="0"/>
          </a:p>
          <a:p>
            <a:r>
              <a:rPr lang="en-US" dirty="0" smtClean="0"/>
              <a:t>Family </a:t>
            </a:r>
            <a:endParaRPr lang="en-US" dirty="0"/>
          </a:p>
          <a:p>
            <a:r>
              <a:rPr lang="en-US" dirty="0" smtClean="0"/>
              <a:t>Self-help groups</a:t>
            </a:r>
          </a:p>
          <a:p>
            <a:r>
              <a:rPr lang="en-US" dirty="0" smtClean="0"/>
              <a:t>Schools </a:t>
            </a:r>
            <a:r>
              <a:rPr lang="en-US" dirty="0" smtClean="0"/>
              <a:t>and colleges </a:t>
            </a:r>
            <a:endParaRPr lang="en-US" dirty="0" smtClean="0"/>
          </a:p>
          <a:p>
            <a:r>
              <a:rPr lang="en-US" dirty="0" smtClean="0"/>
              <a:t>Workplace </a:t>
            </a:r>
            <a:r>
              <a:rPr lang="en-US" dirty="0"/>
              <a:t>interventions </a:t>
            </a:r>
            <a:endParaRPr lang="en-US" dirty="0"/>
          </a:p>
          <a:p>
            <a:r>
              <a:rPr lang="en-US" dirty="0" smtClean="0"/>
              <a:t>Community-based </a:t>
            </a:r>
            <a:r>
              <a:rPr lang="en-US" dirty="0"/>
              <a:t>interventions </a:t>
            </a:r>
            <a:endParaRPr lang="en-US" dirty="0"/>
          </a:p>
          <a:p>
            <a:r>
              <a:rPr lang="en-US" dirty="0" smtClean="0"/>
              <a:t>Mass </a:t>
            </a:r>
            <a:r>
              <a:rPr lang="en-US" dirty="0" smtClean="0"/>
              <a:t>media  such as newspaper and magazine articles, published photographs, recordings of television and radio broadcasts, music recorded for mass distribution, advertisements, </a:t>
            </a:r>
            <a:r>
              <a:rPr lang="en-US" dirty="0" smtClean="0"/>
              <a:t>books</a:t>
            </a:r>
          </a:p>
          <a:p>
            <a:r>
              <a:rPr lang="en-US" dirty="0" smtClean="0"/>
              <a:t>Cellular </a:t>
            </a:r>
            <a:r>
              <a:rPr lang="en-US" dirty="0"/>
              <a:t>phones and landlines </a:t>
            </a:r>
            <a:endParaRPr lang="en-US" dirty="0"/>
          </a:p>
          <a:p>
            <a:r>
              <a:rPr lang="en-US" dirty="0" smtClean="0"/>
              <a:t>Internet</a:t>
            </a:r>
            <a:endParaRPr lang="en-IN" dirty="0"/>
          </a:p>
        </p:txBody>
      </p:sp>
    </p:spTree>
    <p:extLst>
      <p:ext uri="{BB962C8B-B14F-4D97-AF65-F5344CB8AC3E}">
        <p14:creationId xmlns:p14="http://schemas.microsoft.com/office/powerpoint/2010/main" val="1157131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1543</Words>
  <Application>Microsoft Office PowerPoint</Application>
  <PresentationFormat>Custom</PresentationFormat>
  <Paragraphs>169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UNIT 3 – CREATION OF HEALTHY and CARING RELATIONSHIPS</vt:lpstr>
      <vt:lpstr>Building Communication Skills</vt:lpstr>
      <vt:lpstr>Building Communication Skills</vt:lpstr>
      <vt:lpstr>Communication Process</vt:lpstr>
      <vt:lpstr>Communication Process</vt:lpstr>
      <vt:lpstr>The 3 Important Rules of Communication</vt:lpstr>
      <vt:lpstr>Barriers of Communication</vt:lpstr>
      <vt:lpstr>Listening</vt:lpstr>
      <vt:lpstr>WAYS TO IMPROVE THE COMMUNICATION SKILLS  : </vt:lpstr>
      <vt:lpstr>Steps to avoid embarrassing in communication with others: </vt:lpstr>
      <vt:lpstr>Friends and Friendship - Education</vt:lpstr>
      <vt:lpstr>Friends and Friendship - Education</vt:lpstr>
      <vt:lpstr> Qualities Of A True Friend” - A faithful friend is a sure anchor </vt:lpstr>
      <vt:lpstr> “Friendship in Education” </vt:lpstr>
      <vt:lpstr> The Value of Relationships and Communication </vt:lpstr>
      <vt:lpstr>”HOW TO IMPROVE COMMUNICATION IN A RELATIONSHIP”</vt:lpstr>
      <vt:lpstr>EXAMPLES OF GOOD COMMUNICATION IN RELATIONSHIPS</vt:lpstr>
      <vt:lpstr>”EXAMPLES OF BAD COMMUNICATION IN RELATIONSHIPS” </vt:lpstr>
      <vt:lpstr>Relationships for Better or Worsening of Life</vt:lpstr>
      <vt:lpstr>Understanding Basic Instincts of Life (More than a Biology) </vt:lpstr>
      <vt:lpstr>PowerPoint Presentation</vt:lpstr>
      <vt:lpstr>Changing Health Behaviors Through Social Engineering</vt:lpstr>
      <vt:lpstr>Changing Health Behaviors Through Social Engineering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 CREATION OF HEALTHY and CARING RELATIONSHIPS</dc:title>
  <dc:creator>admin</dc:creator>
  <cp:lastModifiedBy>admin</cp:lastModifiedBy>
  <cp:revision>25</cp:revision>
  <dcterms:created xsi:type="dcterms:W3CDTF">2022-06-20T09:46:21Z</dcterms:created>
  <dcterms:modified xsi:type="dcterms:W3CDTF">2022-06-30T04:34:50Z</dcterms:modified>
</cp:coreProperties>
</file>