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19"/>
  </p:notesMasterIdLst>
  <p:sldIdLst>
    <p:sldId id="409" r:id="rId2"/>
    <p:sldId id="510" r:id="rId3"/>
    <p:sldId id="513" r:id="rId4"/>
    <p:sldId id="514" r:id="rId5"/>
    <p:sldId id="515" r:id="rId6"/>
    <p:sldId id="516" r:id="rId7"/>
    <p:sldId id="517" r:id="rId8"/>
    <p:sldId id="518" r:id="rId9"/>
    <p:sldId id="519" r:id="rId10"/>
    <p:sldId id="520" r:id="rId11"/>
    <p:sldId id="521" r:id="rId12"/>
    <p:sldId id="522" r:id="rId13"/>
    <p:sldId id="523" r:id="rId14"/>
    <p:sldId id="526" r:id="rId15"/>
    <p:sldId id="524" r:id="rId16"/>
    <p:sldId id="525" r:id="rId17"/>
    <p:sldId id="50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8" autoAdjust="0"/>
    <p:restoredTop sz="94660"/>
  </p:normalViewPr>
  <p:slideViewPr>
    <p:cSldViewPr snapToGrid="0">
      <p:cViewPr varScale="1">
        <p:scale>
          <a:sx n="74" d="100"/>
          <a:sy n="74" d="100"/>
        </p:scale>
        <p:origin x="504"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43F0-1FB2-41E4-961B-8CAB2AED1024}" type="datetimeFigureOut">
              <a:rPr lang="en-IN" smtClean="0"/>
              <a:pPr/>
              <a:t>07-01-2022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20133-9643-4EF8-94CA-FEF99B36DC3F}" type="slidenum">
              <a:rPr lang="en-IN" smtClean="0"/>
              <a:pPr/>
              <a:t>‹#›</a:t>
            </a:fld>
            <a:endParaRPr lang="en-IN" dirty="0"/>
          </a:p>
        </p:txBody>
      </p:sp>
    </p:spTree>
    <p:extLst>
      <p:ext uri="{BB962C8B-B14F-4D97-AF65-F5344CB8AC3E}">
        <p14:creationId xmlns:p14="http://schemas.microsoft.com/office/powerpoint/2010/main" val="124400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49ACCA-BFDC-4CC4-9DDB-5A379F31039D}" type="slidenum">
              <a:rPr lang="en-CA"/>
              <a:pPr/>
              <a:t>3</a:t>
            </a:fld>
            <a:endParaRPr lang="en-CA"/>
          </a:p>
        </p:txBody>
      </p:sp>
      <p:sp>
        <p:nvSpPr>
          <p:cNvPr id="760834" name="Rectangle 2"/>
          <p:cNvSpPr>
            <a:spLocks noGrp="1" noRot="1" noChangeAspect="1" noChangeArrowheads="1" noTextEdit="1"/>
          </p:cNvSpPr>
          <p:nvPr>
            <p:ph type="sldImg"/>
          </p:nvPr>
        </p:nvSpPr>
        <p:spPr>
          <a:ln/>
        </p:spPr>
      </p:sp>
      <p:sp>
        <p:nvSpPr>
          <p:cNvPr id="760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02986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97A0CE-D3C0-41B5-8A6F-88D19B576DAC}" type="slidenum">
              <a:rPr lang="en-CA"/>
              <a:pPr/>
              <a:t>4</a:t>
            </a:fld>
            <a:endParaRPr lang="en-CA"/>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93749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470121-F1A4-47D2-BDB3-4739BBFB913E}" type="slidenum">
              <a:rPr lang="en-CA"/>
              <a:pPr/>
              <a:t>5</a:t>
            </a:fld>
            <a:endParaRPr lang="en-CA"/>
          </a:p>
        </p:txBody>
      </p:sp>
      <p:sp>
        <p:nvSpPr>
          <p:cNvPr id="766978" name="Rectangle 2"/>
          <p:cNvSpPr>
            <a:spLocks noGrp="1" noRot="1" noChangeAspect="1" noChangeArrowheads="1" noTextEdit="1"/>
          </p:cNvSpPr>
          <p:nvPr>
            <p:ph type="sldImg"/>
          </p:nvPr>
        </p:nvSpPr>
        <p:spPr>
          <a:ln/>
        </p:spPr>
      </p:sp>
      <p:sp>
        <p:nvSpPr>
          <p:cNvPr id="766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90391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D0C66E-A47A-458C-9DE5-2FADB0C0F7C6}" type="slidenum">
              <a:rPr lang="en-CA"/>
              <a:pPr/>
              <a:t>6</a:t>
            </a:fld>
            <a:endParaRPr lang="en-CA"/>
          </a:p>
        </p:txBody>
      </p:sp>
      <p:sp>
        <p:nvSpPr>
          <p:cNvPr id="842754" name="Rectangle 2"/>
          <p:cNvSpPr>
            <a:spLocks noGrp="1" noRot="1" noChangeAspect="1" noChangeArrowheads="1" noTextEdit="1"/>
          </p:cNvSpPr>
          <p:nvPr>
            <p:ph type="sldImg"/>
          </p:nvPr>
        </p:nvSpPr>
        <p:spPr>
          <a:ln/>
        </p:spPr>
      </p:sp>
      <p:sp>
        <p:nvSpPr>
          <p:cNvPr id="842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32570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E940F2-8476-406B-A336-ADE602ABA35F}" type="slidenum">
              <a:rPr lang="en-CA"/>
              <a:pPr/>
              <a:t>7</a:t>
            </a:fld>
            <a:endParaRPr lang="en-CA"/>
          </a:p>
        </p:txBody>
      </p:sp>
      <p:sp>
        <p:nvSpPr>
          <p:cNvPr id="769026" name="Rectangle 2"/>
          <p:cNvSpPr>
            <a:spLocks noGrp="1" noRot="1" noChangeAspect="1" noChangeArrowheads="1" noTextEdit="1"/>
          </p:cNvSpPr>
          <p:nvPr>
            <p:ph type="sldImg"/>
          </p:nvPr>
        </p:nvSpPr>
        <p:spPr>
          <a:ln/>
        </p:spPr>
      </p:sp>
      <p:sp>
        <p:nvSpPr>
          <p:cNvPr id="76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43003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7DF262-148D-47D5-BF9D-068695C2666B}" type="slidenum">
              <a:rPr lang="en-CA"/>
              <a:pPr/>
              <a:t>8</a:t>
            </a:fld>
            <a:endParaRPr lang="en-CA"/>
          </a:p>
        </p:txBody>
      </p:sp>
      <p:sp>
        <p:nvSpPr>
          <p:cNvPr id="771074" name="Rectangle 2"/>
          <p:cNvSpPr>
            <a:spLocks noGrp="1" noRot="1" noChangeAspect="1" noChangeArrowheads="1" noTextEdit="1"/>
          </p:cNvSpPr>
          <p:nvPr>
            <p:ph type="sldImg"/>
          </p:nvPr>
        </p:nvSpPr>
        <p:spPr>
          <a:ln/>
        </p:spPr>
      </p:sp>
      <p:sp>
        <p:nvSpPr>
          <p:cNvPr id="7710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6415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9BF4BA-E177-46BB-91E2-F137837B48C5}" type="slidenum">
              <a:rPr lang="en-CA"/>
              <a:pPr/>
              <a:t>9</a:t>
            </a:fld>
            <a:endParaRPr lang="en-CA"/>
          </a:p>
        </p:txBody>
      </p:sp>
      <p:sp>
        <p:nvSpPr>
          <p:cNvPr id="773122" name="Rectangle 2"/>
          <p:cNvSpPr>
            <a:spLocks noGrp="1" noRot="1" noChangeAspect="1" noChangeArrowheads="1" noTextEdit="1"/>
          </p:cNvSpPr>
          <p:nvPr>
            <p:ph type="sldImg"/>
          </p:nvPr>
        </p:nvSpPr>
        <p:spPr>
          <a:ln/>
        </p:spPr>
      </p:sp>
      <p:sp>
        <p:nvSpPr>
          <p:cNvPr id="773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16172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C4D7D8-F90F-4F7C-A8BE-759D7088EAE3}" type="slidenum">
              <a:rPr lang="en-CA"/>
              <a:pPr/>
              <a:t>10</a:t>
            </a:fld>
            <a:endParaRPr lang="en-CA"/>
          </a:p>
        </p:txBody>
      </p:sp>
      <p:sp>
        <p:nvSpPr>
          <p:cNvPr id="775170" name="Rectangle 2"/>
          <p:cNvSpPr>
            <a:spLocks noGrp="1" noRot="1" noChangeAspect="1" noChangeArrowheads="1" noTextEdit="1"/>
          </p:cNvSpPr>
          <p:nvPr>
            <p:ph type="sldImg"/>
          </p:nvPr>
        </p:nvSpPr>
        <p:spPr>
          <a:ln/>
        </p:spPr>
      </p:sp>
      <p:sp>
        <p:nvSpPr>
          <p:cNvPr id="7751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1424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A12253-4CAE-49FD-93F9-D9929B82CA54}" type="slidenum">
              <a:rPr lang="en-CA"/>
              <a:pPr/>
              <a:t>11</a:t>
            </a:fld>
            <a:endParaRPr lang="en-CA"/>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37478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04AD56-5D93-40F6-BCAF-579AABDDBA32}" type="slidenum">
              <a:rPr lang="en-CA"/>
              <a:pPr/>
              <a:t>12</a:t>
            </a:fld>
            <a:endParaRPr lang="en-CA"/>
          </a:p>
        </p:txBody>
      </p:sp>
      <p:sp>
        <p:nvSpPr>
          <p:cNvPr id="779266" name="Rectangle 2"/>
          <p:cNvSpPr>
            <a:spLocks noGrp="1" noRot="1" noChangeAspect="1" noChangeArrowheads="1" noTextEdit="1"/>
          </p:cNvSpPr>
          <p:nvPr>
            <p:ph type="sldImg"/>
          </p:nvPr>
        </p:nvSpPr>
        <p:spPr>
          <a:ln/>
        </p:spPr>
      </p:sp>
      <p:sp>
        <p:nvSpPr>
          <p:cNvPr id="779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0958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89FD5E-DF64-4283-85C9-B3AB3D78DE2A}" type="slidenum">
              <a:rPr lang="en-CA"/>
              <a:pPr/>
              <a:t>13</a:t>
            </a:fld>
            <a:endParaRPr lang="en-CA"/>
          </a:p>
        </p:txBody>
      </p:sp>
      <p:sp>
        <p:nvSpPr>
          <p:cNvPr id="781314" name="Rectangle 2"/>
          <p:cNvSpPr>
            <a:spLocks noGrp="1" noRot="1" noChangeAspect="1" noChangeArrowheads="1" noTextEdit="1"/>
          </p:cNvSpPr>
          <p:nvPr>
            <p:ph type="sldImg"/>
          </p:nvPr>
        </p:nvSpPr>
        <p:spPr>
          <a:ln/>
        </p:spPr>
      </p:sp>
      <p:sp>
        <p:nvSpPr>
          <p:cNvPr id="7813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8336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02C675-E200-404F-A01E-8CF39B5D62BB}" type="slidenum">
              <a:rPr lang="en-CA"/>
              <a:pPr/>
              <a:t>15</a:t>
            </a:fld>
            <a:endParaRPr lang="en-CA"/>
          </a:p>
        </p:txBody>
      </p:sp>
      <p:sp>
        <p:nvSpPr>
          <p:cNvPr id="783362" name="Rectangle 2"/>
          <p:cNvSpPr>
            <a:spLocks noGrp="1" noRot="1" noChangeAspect="1" noChangeArrowheads="1" noTextEdit="1"/>
          </p:cNvSpPr>
          <p:nvPr>
            <p:ph type="sldImg"/>
          </p:nvPr>
        </p:nvSpPr>
        <p:spPr>
          <a:ln/>
        </p:spPr>
      </p:sp>
      <p:sp>
        <p:nvSpPr>
          <p:cNvPr id="783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83412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F0CD6D-5F12-476E-8453-3D311B450A4E}" type="datetime8">
              <a:rPr lang="en-IN" smtClean="0"/>
              <a:t>07-01-2022 09:11</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xmlns="" id="{C728CEA0-BA7F-4BA3-B201-6B7A8B3DF1C4}"/>
              </a:ext>
            </a:extLst>
          </p:cNvPr>
          <p:cNvPicPr>
            <a:picLocks noChangeAspect="1" noChangeArrowheads="1"/>
          </p:cNvPicPr>
          <p:nvPr userDrawn="1"/>
        </p:nvPicPr>
        <p:blipFill>
          <a:blip r:embed="rId2" cstate="print"/>
          <a:srcRect/>
          <a:stretch>
            <a:fillRect/>
          </a:stretch>
        </p:blipFill>
        <p:spPr bwMode="auto">
          <a:xfrm>
            <a:off x="0" y="-62028"/>
            <a:ext cx="2438400" cy="977205"/>
          </a:xfrm>
          <a:prstGeom prst="rect">
            <a:avLst/>
          </a:prstGeom>
          <a:noFill/>
        </p:spPr>
      </p:pic>
    </p:spTree>
    <p:extLst>
      <p:ext uri="{BB962C8B-B14F-4D97-AF65-F5344CB8AC3E}">
        <p14:creationId xmlns:p14="http://schemas.microsoft.com/office/powerpoint/2010/main" val="3847805206"/>
      </p:ext>
    </p:extLst>
  </p:cSld>
  <p:clrMapOvr>
    <a:masterClrMapping/>
  </p:clrMapOvr>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BBB6A-63CD-4A58-A542-EE5E1DBEA869}" type="datetime8">
              <a:rPr lang="en-IN" smtClean="0"/>
              <a:t>07-01-2022 09:11</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xmlns="" id="{5E2C67C7-C385-4A44-A78F-D95F8B32544D}"/>
              </a:ext>
            </a:extLst>
          </p:cNvPr>
          <p:cNvPicPr>
            <a:picLocks noChangeAspect="1" noChangeArrowheads="1"/>
          </p:cNvPicPr>
          <p:nvPr userDrawn="1"/>
        </p:nvPicPr>
        <p:blipFill>
          <a:blip r:embed="rId2" cstate="print"/>
          <a:srcRect/>
          <a:stretch>
            <a:fillRect/>
          </a:stretch>
        </p:blipFill>
        <p:spPr bwMode="auto">
          <a:xfrm>
            <a:off x="175575" y="33090"/>
            <a:ext cx="2438400" cy="977205"/>
          </a:xfrm>
          <a:prstGeom prst="rect">
            <a:avLst/>
          </a:prstGeom>
          <a:noFill/>
        </p:spPr>
      </p:pic>
    </p:spTree>
    <p:extLst>
      <p:ext uri="{BB962C8B-B14F-4D97-AF65-F5344CB8AC3E}">
        <p14:creationId xmlns:p14="http://schemas.microsoft.com/office/powerpoint/2010/main" val="378092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42C8A-CD12-4DFD-ABE8-8CF3B1F53511}" type="datetime8">
              <a:rPr lang="en-IN" smtClean="0"/>
              <a:t>07-01-2022 09:11</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xmlns="" id="{6E4AAF7F-3876-4F6B-8901-E7673BBFDB22}"/>
              </a:ext>
            </a:extLst>
          </p:cNvPr>
          <p:cNvPicPr>
            <a:picLocks noChangeAspect="1" noChangeArrowheads="1"/>
          </p:cNvPicPr>
          <p:nvPr userDrawn="1"/>
        </p:nvPicPr>
        <p:blipFill>
          <a:blip r:embed="rId2" cstate="print"/>
          <a:srcRect/>
          <a:stretch>
            <a:fillRect/>
          </a:stretch>
        </p:blipFill>
        <p:spPr bwMode="auto">
          <a:xfrm>
            <a:off x="128441" y="33090"/>
            <a:ext cx="2438400" cy="977205"/>
          </a:xfrm>
          <a:prstGeom prst="rect">
            <a:avLst/>
          </a:prstGeom>
          <a:noFill/>
        </p:spPr>
      </p:pic>
    </p:spTree>
    <p:extLst>
      <p:ext uri="{BB962C8B-B14F-4D97-AF65-F5344CB8AC3E}">
        <p14:creationId xmlns:p14="http://schemas.microsoft.com/office/powerpoint/2010/main" val="189799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24554-EC08-4A9A-B955-1CE402443775}" type="datetime8">
              <a:rPr lang="en-IN" smtClean="0"/>
              <a:t>07-01-2022 09:11</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EF3C39C1-9BAB-4C45-A144-CF8BF2E72B4B}"/>
              </a:ext>
            </a:extLst>
          </p:cNvPr>
          <p:cNvPicPr>
            <a:picLocks noChangeAspect="1" noChangeArrowheads="1"/>
          </p:cNvPicPr>
          <p:nvPr userDrawn="1"/>
        </p:nvPicPr>
        <p:blipFill>
          <a:blip r:embed="rId2" cstate="print"/>
          <a:srcRect/>
          <a:stretch>
            <a:fillRect/>
          </a:stretch>
        </p:blipFill>
        <p:spPr bwMode="auto">
          <a:xfrm>
            <a:off x="0" y="-29189"/>
            <a:ext cx="2438400" cy="977205"/>
          </a:xfrm>
          <a:prstGeom prst="rect">
            <a:avLst/>
          </a:prstGeom>
          <a:noFill/>
        </p:spPr>
      </p:pic>
    </p:spTree>
    <p:extLst>
      <p:ext uri="{BB962C8B-B14F-4D97-AF65-F5344CB8AC3E}">
        <p14:creationId xmlns:p14="http://schemas.microsoft.com/office/powerpoint/2010/main" val="9234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DB3C8-7270-4E63-BAFF-F61146C872A9}" type="datetime8">
              <a:rPr lang="en-IN" smtClean="0"/>
              <a:t>07-01-2022 09:11</a:t>
            </a:fld>
            <a:endParaRPr lang="en-IN" dirty="0"/>
          </a:p>
        </p:txBody>
      </p:sp>
      <p:sp>
        <p:nvSpPr>
          <p:cNvPr id="8" name="Footer Placeholder 7"/>
          <p:cNvSpPr>
            <a:spLocks noGrp="1"/>
          </p:cNvSpPr>
          <p:nvPr>
            <p:ph type="ftr" sz="quarter" idx="11"/>
          </p:nvPr>
        </p:nvSpPr>
        <p:spPr/>
        <p:txBody>
          <a:body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1B300F68-EEC8-479F-89B4-B66DB0F421A6}"/>
              </a:ext>
            </a:extLst>
          </p:cNvPr>
          <p:cNvPicPr>
            <a:picLocks noChangeAspect="1" noChangeArrowheads="1"/>
          </p:cNvPicPr>
          <p:nvPr userDrawn="1"/>
        </p:nvPicPr>
        <p:blipFill>
          <a:blip r:embed="rId2" cstate="print"/>
          <a:srcRect/>
          <a:stretch>
            <a:fillRect/>
          </a:stretch>
        </p:blipFill>
        <p:spPr bwMode="auto">
          <a:xfrm>
            <a:off x="119013" y="12104"/>
            <a:ext cx="2438400" cy="977205"/>
          </a:xfrm>
          <a:prstGeom prst="rect">
            <a:avLst/>
          </a:prstGeom>
          <a:noFill/>
        </p:spPr>
      </p:pic>
    </p:spTree>
    <p:extLst>
      <p:ext uri="{BB962C8B-B14F-4D97-AF65-F5344CB8AC3E}">
        <p14:creationId xmlns:p14="http://schemas.microsoft.com/office/powerpoint/2010/main" val="290810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9E7326-4BB3-4EF7-A825-D7B8443422EC}" type="datetime8">
              <a:rPr lang="en-IN" smtClean="0"/>
              <a:t>07-01-2022 09:11</a:t>
            </a:fld>
            <a:endParaRPr lang="en-IN" dirty="0"/>
          </a:p>
        </p:txBody>
      </p:sp>
      <p:sp>
        <p:nvSpPr>
          <p:cNvPr id="4" name="Footer Placeholder 3"/>
          <p:cNvSpPr>
            <a:spLocks noGrp="1"/>
          </p:cNvSpPr>
          <p:nvPr>
            <p:ph type="ftr" sz="quarter" idx="11"/>
          </p:nvPr>
        </p:nvSpPr>
        <p:spPr/>
        <p:txBody>
          <a:bodyPr/>
          <a:lstStyle/>
          <a:p>
            <a:r>
              <a:rPr lang="en-US" dirty="0"/>
              <a:t>Department of Computer Science and Engineering</a:t>
            </a:r>
            <a:endParaRPr lang="en-IN" dirty="0"/>
          </a:p>
        </p:txBody>
      </p:sp>
      <p:sp>
        <p:nvSpPr>
          <p:cNvPr id="5" name="Slide Number Placeholder 4"/>
          <p:cNvSpPr>
            <a:spLocks noGrp="1"/>
          </p:cNvSpPr>
          <p:nvPr>
            <p:ph type="sldNum" sz="quarter" idx="12"/>
          </p:nvPr>
        </p:nvSpPr>
        <p:spPr/>
        <p:txBody>
          <a:bodyPr/>
          <a:lstStyle/>
          <a:p>
            <a:fld id="{1245FD78-8DE1-44B0-BD44-E067D054697C}" type="slidenum">
              <a:rPr lang="en-IN" smtClean="0"/>
              <a:pPr/>
              <a:t>‹#›</a:t>
            </a:fld>
            <a:endParaRPr lang="en-IN" dirty="0"/>
          </a:p>
        </p:txBody>
      </p:sp>
      <p:pic>
        <p:nvPicPr>
          <p:cNvPr id="7" name="Picture 2" descr="C:\Users\Srinidhi\Desktop\logo.png">
            <a:extLst>
              <a:ext uri="{FF2B5EF4-FFF2-40B4-BE49-F238E27FC236}">
                <a16:creationId xmlns:a16="http://schemas.microsoft.com/office/drawing/2014/main" xmlns="" id="{6720B71A-9CF9-4970-96CA-352F2D5F33C5}"/>
              </a:ext>
            </a:extLst>
          </p:cNvPr>
          <p:cNvPicPr>
            <a:picLocks noChangeAspect="1" noChangeArrowheads="1"/>
          </p:cNvPicPr>
          <p:nvPr userDrawn="1"/>
        </p:nvPicPr>
        <p:blipFill>
          <a:blip r:embed="rId2" cstate="print"/>
          <a:srcRect/>
          <a:stretch>
            <a:fillRect/>
          </a:stretch>
        </p:blipFill>
        <p:spPr bwMode="auto">
          <a:xfrm>
            <a:off x="260415" y="34776"/>
            <a:ext cx="2438400" cy="977205"/>
          </a:xfrm>
          <a:prstGeom prst="rect">
            <a:avLst/>
          </a:prstGeom>
          <a:noFill/>
        </p:spPr>
      </p:pic>
    </p:spTree>
    <p:extLst>
      <p:ext uri="{BB962C8B-B14F-4D97-AF65-F5344CB8AC3E}">
        <p14:creationId xmlns:p14="http://schemas.microsoft.com/office/powerpoint/2010/main" val="67649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AE9CBBB-99BF-46C2-A597-705C3E515BE3}" type="datetime8">
              <a:rPr lang="en-IN" smtClean="0"/>
              <a:t>07-01-2022 09:11</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xmlns="" id="{7393EDB9-65C6-42AA-B582-C92413F0DE59}"/>
              </a:ext>
            </a:extLst>
          </p:cNvPr>
          <p:cNvPicPr>
            <a:picLocks noChangeAspect="1" noChangeArrowheads="1"/>
          </p:cNvPicPr>
          <p:nvPr userDrawn="1"/>
        </p:nvPicPr>
        <p:blipFill>
          <a:blip r:embed="rId2" cstate="print"/>
          <a:srcRect/>
          <a:stretch>
            <a:fillRect/>
          </a:stretch>
        </p:blipFill>
        <p:spPr bwMode="auto">
          <a:xfrm>
            <a:off x="137867" y="0"/>
            <a:ext cx="2438400" cy="977205"/>
          </a:xfrm>
          <a:prstGeom prst="rect">
            <a:avLst/>
          </a:prstGeom>
          <a:noFill/>
        </p:spPr>
      </p:pic>
    </p:spTree>
    <p:extLst>
      <p:ext uri="{BB962C8B-B14F-4D97-AF65-F5344CB8AC3E}">
        <p14:creationId xmlns:p14="http://schemas.microsoft.com/office/powerpoint/2010/main" val="2740474254"/>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F2DF96F-D195-4D32-A22A-EB824CFB176E}" type="datetime8">
              <a:rPr lang="en-IN" smtClean="0"/>
              <a:t>07-01-2022 09:11</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xmlns="" id="{6BF8E43F-406B-489A-A07B-CBBB6CD8B66C}"/>
              </a:ext>
            </a:extLst>
          </p:cNvPr>
          <p:cNvPicPr>
            <a:picLocks noChangeAspect="1" noChangeArrowheads="1"/>
          </p:cNvPicPr>
          <p:nvPr userDrawn="1"/>
        </p:nvPicPr>
        <p:blipFill>
          <a:blip r:embed="rId2" cstate="print"/>
          <a:srcRect/>
          <a:stretch>
            <a:fillRect/>
          </a:stretch>
        </p:blipFill>
        <p:spPr bwMode="auto">
          <a:xfrm>
            <a:off x="74729" y="-48825"/>
            <a:ext cx="2438400" cy="977205"/>
          </a:xfrm>
          <a:prstGeom prst="rect">
            <a:avLst/>
          </a:prstGeom>
          <a:noFill/>
        </p:spPr>
      </p:pic>
    </p:spTree>
    <p:extLst>
      <p:ext uri="{BB962C8B-B14F-4D97-AF65-F5344CB8AC3E}">
        <p14:creationId xmlns:p14="http://schemas.microsoft.com/office/powerpoint/2010/main" val="823331611"/>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C0490D-FF02-4389-90FD-819CA8976B9B}" type="datetime8">
              <a:rPr lang="en-IN" smtClean="0"/>
              <a:t>07-01-2022 09:11</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xmlns="" id="{8D7279E7-0A06-4D9D-B018-700B7F4A3314}"/>
              </a:ext>
            </a:extLst>
          </p:cNvPr>
          <p:cNvPicPr>
            <a:picLocks noChangeAspect="1" noChangeArrowheads="1"/>
          </p:cNvPicPr>
          <p:nvPr userDrawn="1"/>
        </p:nvPicPr>
        <p:blipFill>
          <a:blip r:embed="rId3" cstate="print"/>
          <a:srcRect/>
          <a:stretch>
            <a:fillRect/>
          </a:stretch>
        </p:blipFill>
        <p:spPr bwMode="auto">
          <a:xfrm>
            <a:off x="0" y="33090"/>
            <a:ext cx="2438400" cy="977205"/>
          </a:xfrm>
          <a:prstGeom prst="rect">
            <a:avLst/>
          </a:prstGeom>
          <a:noFill/>
        </p:spPr>
      </p:pic>
    </p:spTree>
    <p:extLst>
      <p:ext uri="{BB962C8B-B14F-4D97-AF65-F5344CB8AC3E}">
        <p14:creationId xmlns:p14="http://schemas.microsoft.com/office/powerpoint/2010/main" val="322377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A8DE7-22DF-4C71-8810-45CE4D417C2D}" type="datetime8">
              <a:rPr lang="en-IN" smtClean="0"/>
              <a:t>07-01-2022 09:11</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xmlns="" id="{2BFF8954-070D-4352-AC3E-DD7D500D0A59}"/>
              </a:ext>
            </a:extLst>
          </p:cNvPr>
          <p:cNvPicPr>
            <a:picLocks noChangeAspect="1" noChangeArrowheads="1"/>
          </p:cNvPicPr>
          <p:nvPr userDrawn="1"/>
        </p:nvPicPr>
        <p:blipFill>
          <a:blip r:embed="rId2" cstate="print"/>
          <a:srcRect/>
          <a:stretch>
            <a:fillRect/>
          </a:stretch>
        </p:blipFill>
        <p:spPr bwMode="auto">
          <a:xfrm>
            <a:off x="213281" y="33090"/>
            <a:ext cx="2438400" cy="977205"/>
          </a:xfrm>
          <a:prstGeom prst="rect">
            <a:avLst/>
          </a:prstGeom>
          <a:noFill/>
        </p:spPr>
      </p:pic>
    </p:spTree>
    <p:extLst>
      <p:ext uri="{BB962C8B-B14F-4D97-AF65-F5344CB8AC3E}">
        <p14:creationId xmlns:p14="http://schemas.microsoft.com/office/powerpoint/2010/main" val="32667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5C541-F4E6-4488-B462-EF7A047E4C61}" type="datetime8">
              <a:rPr lang="en-IN" smtClean="0"/>
              <a:t>07-01-2022 09:11</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0" name="Picture 2" descr="C:\Users\Srinidhi\Desktop\logo.png">
            <a:extLst>
              <a:ext uri="{FF2B5EF4-FFF2-40B4-BE49-F238E27FC236}">
                <a16:creationId xmlns:a16="http://schemas.microsoft.com/office/drawing/2014/main" xmlns="" id="{F8681246-1AFA-47C1-8723-E212F3BD6963}"/>
              </a:ext>
            </a:extLst>
          </p:cNvPr>
          <p:cNvPicPr>
            <a:picLocks noChangeAspect="1" noChangeArrowheads="1"/>
          </p:cNvPicPr>
          <p:nvPr userDrawn="1"/>
        </p:nvPicPr>
        <p:blipFill>
          <a:blip r:embed="rId2" cstate="print"/>
          <a:srcRect/>
          <a:stretch>
            <a:fillRect/>
          </a:stretch>
        </p:blipFill>
        <p:spPr bwMode="auto">
          <a:xfrm>
            <a:off x="0" y="-28927"/>
            <a:ext cx="2438400" cy="977205"/>
          </a:xfrm>
          <a:prstGeom prst="rect">
            <a:avLst/>
          </a:prstGeom>
          <a:noFill/>
        </p:spPr>
      </p:pic>
    </p:spTree>
    <p:extLst>
      <p:ext uri="{BB962C8B-B14F-4D97-AF65-F5344CB8AC3E}">
        <p14:creationId xmlns:p14="http://schemas.microsoft.com/office/powerpoint/2010/main" val="116588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47FF271-DAE5-45E4-9C4D-A89BEE8B6E22}" type="datetime8">
              <a:rPr lang="en-IN" smtClean="0"/>
              <a:t>07-01-2022 09:11</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Department of Computer Science and Engineering</a:t>
            </a:r>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45FD78-8DE1-44B0-BD44-E067D054697C}" type="slidenum">
              <a:rPr lang="en-IN" smtClean="0"/>
              <a:pPr/>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23883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551" y="3515325"/>
            <a:ext cx="10848974" cy="1119438"/>
          </a:xfrm>
        </p:spPr>
        <p:txBody>
          <a:bodyPr>
            <a:noAutofit/>
          </a:bodyPr>
          <a:lstStyle/>
          <a:p>
            <a:pPr algn="ctr">
              <a:lnSpc>
                <a:spcPct val="100000"/>
              </a:lnSpc>
            </a:pPr>
            <a:r>
              <a:rPr lang="en-IN" sz="2800" b="1" dirty="0"/>
              <a:t/>
            </a:r>
            <a:br>
              <a:rPr lang="en-IN" sz="2800" b="1" dirty="0"/>
            </a:br>
            <a:r>
              <a:rPr lang="en-IN" sz="3200" b="1" dirty="0" smtClean="0"/>
              <a:t>Course </a:t>
            </a:r>
            <a:r>
              <a:rPr lang="en-IN" sz="3200" b="1" dirty="0"/>
              <a:t>Name: </a:t>
            </a:r>
            <a:r>
              <a:rPr lang="en-IN" sz="3200" b="1" dirty="0" smtClean="0"/>
              <a:t>Database Systems</a:t>
            </a:r>
            <a:r>
              <a:rPr lang="en-IN" sz="3200" b="1" dirty="0"/>
              <a:t/>
            </a:r>
            <a:br>
              <a:rPr lang="en-IN" sz="3200" b="1" dirty="0"/>
            </a:br>
            <a:r>
              <a:rPr lang="en-IN" sz="3200" b="1" dirty="0" smtClean="0"/>
              <a:t>Course </a:t>
            </a:r>
            <a:r>
              <a:rPr lang="en-IN" sz="3200" b="1" dirty="0"/>
              <a:t>Code: </a:t>
            </a:r>
            <a:r>
              <a:rPr lang="en-IN" sz="3200" b="1" dirty="0" smtClean="0"/>
              <a:t>CS52</a:t>
            </a:r>
            <a:r>
              <a:rPr lang="en-IN" sz="3200" b="1" dirty="0"/>
              <a:t/>
            </a:r>
            <a:br>
              <a:rPr lang="en-IN" sz="3200" b="1" dirty="0"/>
            </a:br>
            <a:r>
              <a:rPr lang="en-IN" sz="3200" b="1" dirty="0"/>
              <a:t>Credits: </a:t>
            </a:r>
            <a:r>
              <a:rPr lang="en-IN" sz="3200" b="1" dirty="0" smtClean="0"/>
              <a:t>3:1:0</a:t>
            </a:r>
            <a:br>
              <a:rPr lang="en-IN" sz="3200" b="1" dirty="0" smtClean="0"/>
            </a:br>
            <a:r>
              <a:rPr lang="en-IN" sz="3200" b="1" dirty="0" smtClean="0"/>
              <a:t>UNIT 4</a:t>
            </a:r>
            <a:r>
              <a:rPr lang="en-IN" sz="3200" b="1" dirty="0"/>
              <a:t/>
            </a:r>
            <a:br>
              <a:rPr lang="en-IN" sz="3200" b="1" dirty="0"/>
            </a:br>
            <a:r>
              <a:rPr lang="en-IN" sz="3200" b="1" dirty="0"/>
              <a:t/>
            </a:r>
            <a:br>
              <a:rPr lang="en-IN" sz="3200" b="1" dirty="0"/>
            </a:br>
            <a:r>
              <a:rPr lang="en-IN" sz="3200" b="1" dirty="0"/>
              <a:t>Term: </a:t>
            </a:r>
            <a:r>
              <a:rPr lang="en-IN" sz="3200" b="1" dirty="0" smtClean="0"/>
              <a:t>Oct 2021– Feb 2022</a:t>
            </a:r>
            <a:r>
              <a:rPr lang="en-IN" sz="2000" dirty="0" smtClean="0"/>
              <a:t/>
            </a:r>
            <a:br>
              <a:rPr lang="en-IN" sz="2000" dirty="0" smtClean="0"/>
            </a:br>
            <a:endParaRPr lang="en-IN" sz="2000" dirty="0"/>
          </a:p>
        </p:txBody>
      </p:sp>
      <p:sp>
        <p:nvSpPr>
          <p:cNvPr id="5" name="Title 1"/>
          <p:cNvSpPr txBox="1">
            <a:spLocks/>
          </p:cNvSpPr>
          <p:nvPr/>
        </p:nvSpPr>
        <p:spPr bwMode="auto">
          <a:xfrm>
            <a:off x="1866900" y="314146"/>
            <a:ext cx="8229600" cy="1143000"/>
          </a:xfrm>
          <a:prstGeom prst="rect">
            <a:avLst/>
          </a:prstGeom>
          <a:noFill/>
          <a:ln w="9525">
            <a:noFill/>
            <a:miter lim="800000"/>
            <a:headEnd/>
            <a:tailEnd/>
          </a:ln>
        </p:spPr>
        <p:txBody>
          <a:bodyPr anchor="ctr"/>
          <a:lstStyle/>
          <a:p>
            <a:pPr algn="ctr"/>
            <a:r>
              <a:rPr lang="en-US" sz="2000" b="1" dirty="0">
                <a:latin typeface="+mj-lt"/>
              </a:rPr>
              <a:t>M.S. Ramaiah Institute of Technology</a:t>
            </a:r>
            <a:endParaRPr lang="en-IN" sz="2000" dirty="0">
              <a:latin typeface="+mj-lt"/>
            </a:endParaRPr>
          </a:p>
          <a:p>
            <a:pPr algn="ctr"/>
            <a:r>
              <a:rPr lang="en-US" sz="2000" b="1" dirty="0">
                <a:latin typeface="+mj-lt"/>
              </a:rPr>
              <a:t>(Autonomous Institute, Affiliated to VTU)</a:t>
            </a:r>
            <a:endParaRPr lang="en-IN" sz="2000" dirty="0">
              <a:latin typeface="+mj-lt"/>
            </a:endParaRPr>
          </a:p>
          <a:p>
            <a:pPr algn="ctr"/>
            <a:r>
              <a:rPr lang="en-US" sz="2000" b="1" dirty="0">
                <a:latin typeface="+mj-lt"/>
              </a:rPr>
              <a:t>Department of Computer Science and Engineering</a:t>
            </a:r>
            <a:endParaRPr lang="en-IN" sz="2000" dirty="0">
              <a:latin typeface="+mj-lt"/>
            </a:endParaRPr>
          </a:p>
        </p:txBody>
      </p:sp>
      <p:sp>
        <p:nvSpPr>
          <p:cNvPr id="3" name="TextBox 2">
            <a:extLst>
              <a:ext uri="{FF2B5EF4-FFF2-40B4-BE49-F238E27FC236}">
                <a16:creationId xmlns:a16="http://schemas.microsoft.com/office/drawing/2014/main" xmlns="" id="{EC9641BE-B7C9-4946-A565-227D0582DC3F}"/>
              </a:ext>
            </a:extLst>
          </p:cNvPr>
          <p:cNvSpPr txBox="1"/>
          <p:nvPr/>
        </p:nvSpPr>
        <p:spPr>
          <a:xfrm>
            <a:off x="8644609" y="4772025"/>
            <a:ext cx="2997892" cy="646331"/>
          </a:xfrm>
          <a:prstGeom prst="rect">
            <a:avLst/>
          </a:prstGeom>
          <a:noFill/>
        </p:spPr>
        <p:txBody>
          <a:bodyPr wrap="square" rtlCol="0">
            <a:spAutoFit/>
          </a:bodyPr>
          <a:lstStyle/>
          <a:p>
            <a:r>
              <a:rPr lang="en-IN" dirty="0"/>
              <a:t>Faculty:</a:t>
            </a:r>
          </a:p>
          <a:p>
            <a:r>
              <a:rPr lang="en-IN" smtClean="0"/>
              <a:t>Dr. Sini </a:t>
            </a:r>
            <a:r>
              <a:rPr lang="en-IN" dirty="0" smtClean="0"/>
              <a:t>Anna Alex</a:t>
            </a:r>
            <a:endParaRPr lang="en-IN" dirty="0"/>
          </a:p>
        </p:txBody>
      </p:sp>
    </p:spTree>
    <p:extLst>
      <p:ext uri="{BB962C8B-B14F-4D97-AF65-F5344CB8AC3E}">
        <p14:creationId xmlns:p14="http://schemas.microsoft.com/office/powerpoint/2010/main" val="30039198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Relational </a:t>
            </a:r>
            <a:r>
              <a:rPr lang="en-US" b="1" dirty="0" smtClean="0"/>
              <a:t>Database Design </a:t>
            </a:r>
            <a:r>
              <a:rPr lang="en-US" b="1" dirty="0"/>
              <a:t>Algorithms and</a:t>
            </a:r>
            <a:br>
              <a:rPr lang="en-US" b="1" dirty="0"/>
            </a:br>
            <a:r>
              <a:rPr lang="en-US" b="1" dirty="0"/>
              <a:t>Further Dependencies</a:t>
            </a:r>
            <a:endParaRPr lang="en-US" dirty="0"/>
          </a:p>
        </p:txBody>
      </p:sp>
      <p:sp>
        <p:nvSpPr>
          <p:cNvPr id="3" name="Content Placeholder 2"/>
          <p:cNvSpPr>
            <a:spLocks noGrp="1"/>
          </p:cNvSpPr>
          <p:nvPr>
            <p:ph idx="1"/>
          </p:nvPr>
        </p:nvSpPr>
        <p:spPr/>
        <p:txBody>
          <a:bodyPr>
            <a:normAutofit lnSpcReduction="10000"/>
          </a:bodyPr>
          <a:lstStyle/>
          <a:p>
            <a:pPr>
              <a:lnSpc>
                <a:spcPct val="200000"/>
              </a:lnSpc>
            </a:pPr>
            <a:r>
              <a:rPr lang="en-US" sz="2400" dirty="0"/>
              <a:t>T</a:t>
            </a:r>
            <a:r>
              <a:rPr lang="en-US" sz="2400" dirty="0" smtClean="0"/>
              <a:t>he </a:t>
            </a:r>
            <a:r>
              <a:rPr lang="en-US" sz="2400" dirty="0"/>
              <a:t>two desirable properties of </a:t>
            </a:r>
            <a:r>
              <a:rPr lang="en-US" sz="2400" dirty="0" smtClean="0"/>
              <a:t>decompositions, namely,</a:t>
            </a:r>
          </a:p>
          <a:p>
            <a:pPr>
              <a:lnSpc>
                <a:spcPct val="200000"/>
              </a:lnSpc>
              <a:buFont typeface="Wingdings" panose="05000000000000000000" pitchFamily="2" charset="2"/>
              <a:buChar char="§"/>
            </a:pPr>
            <a:r>
              <a:rPr lang="en-US" sz="2400" dirty="0" smtClean="0"/>
              <a:t> </a:t>
            </a:r>
            <a:r>
              <a:rPr lang="en-US" sz="2400" dirty="0"/>
              <a:t>the </a:t>
            </a:r>
            <a:r>
              <a:rPr lang="en-US" sz="2400" b="1" dirty="0"/>
              <a:t>dependency preservation property </a:t>
            </a:r>
            <a:r>
              <a:rPr lang="en-US" sz="2400" dirty="0"/>
              <a:t>and the </a:t>
            </a:r>
            <a:r>
              <a:rPr lang="en-US" sz="2400" b="1" dirty="0"/>
              <a:t>lossless (or </a:t>
            </a:r>
            <a:r>
              <a:rPr lang="en-US" sz="2400" b="1" dirty="0" err="1"/>
              <a:t>nonadditive</a:t>
            </a:r>
            <a:r>
              <a:rPr lang="en-US" sz="2400" b="1" dirty="0"/>
              <a:t>) </a:t>
            </a:r>
            <a:r>
              <a:rPr lang="en-US" sz="2400" b="1" dirty="0" smtClean="0"/>
              <a:t>join property</a:t>
            </a:r>
            <a:r>
              <a:rPr lang="en-US" sz="2400" dirty="0"/>
              <a:t>, which are both used by the design algorithms to achieve desirable decompositions</a:t>
            </a:r>
            <a:r>
              <a:rPr lang="en-US" sz="2400" dirty="0" smtClean="0"/>
              <a:t>.</a:t>
            </a:r>
          </a:p>
          <a:p>
            <a:pPr>
              <a:lnSpc>
                <a:spcPct val="200000"/>
              </a:lnSpc>
              <a:buFont typeface="Wingdings" panose="05000000000000000000" pitchFamily="2" charset="2"/>
              <a:buChar char="§"/>
            </a:pPr>
            <a:r>
              <a:rPr lang="en-US" sz="2400" dirty="0" smtClean="0"/>
              <a:t>Fourth normal </a:t>
            </a:r>
            <a:r>
              <a:rPr lang="en-US" sz="2400" dirty="0"/>
              <a:t>form (4NF) and fifth normal form </a:t>
            </a:r>
            <a:r>
              <a:rPr lang="en-US" sz="2400" dirty="0" smtClean="0"/>
              <a:t>(5NF</a:t>
            </a:r>
            <a:r>
              <a:rPr lang="en-US" sz="2400" dirty="0"/>
              <a:t>)</a:t>
            </a:r>
          </a:p>
        </p:txBody>
      </p:sp>
      <p:sp>
        <p:nvSpPr>
          <p:cNvPr id="4" name="Date Placeholder 3"/>
          <p:cNvSpPr>
            <a:spLocks noGrp="1"/>
          </p:cNvSpPr>
          <p:nvPr>
            <p:ph type="dt" sz="half" idx="10"/>
          </p:nvPr>
        </p:nvSpPr>
        <p:spPr/>
        <p:txBody>
          <a:bodyPr/>
          <a:lstStyle/>
          <a:p>
            <a:fld id="{7ACBBB6A-63CD-4A58-A542-EE5E1DBEA869}" type="datetime8">
              <a:rPr lang="en-IN" smtClean="0"/>
              <a:t>07-01-2022 09:11</a:t>
            </a:fld>
            <a:endParaRPr lang="en-IN" dirty="0"/>
          </a:p>
        </p:txBody>
      </p:sp>
    </p:spTree>
    <p:extLst>
      <p:ext uri="{BB962C8B-B14F-4D97-AF65-F5344CB8AC3E}">
        <p14:creationId xmlns:p14="http://schemas.microsoft.com/office/powerpoint/2010/main" val="551434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1E3FE41F-0F53-472D-85EF-55DA30459CC6}" type="slidenum">
              <a:rPr lang="en-US"/>
              <a:pPr/>
              <a:t>3</a:t>
            </a:fld>
            <a:endParaRPr lang="en-CA"/>
          </a:p>
        </p:txBody>
      </p:sp>
      <p:sp>
        <p:nvSpPr>
          <p:cNvPr id="759812" name="Rectangle 4"/>
          <p:cNvSpPr>
            <a:spLocks noGrp="1" noChangeArrowheads="1"/>
          </p:cNvSpPr>
          <p:nvPr>
            <p:ph type="title"/>
          </p:nvPr>
        </p:nvSpPr>
        <p:spPr/>
        <p:txBody>
          <a:bodyPr/>
          <a:lstStyle/>
          <a:p>
            <a:r>
              <a:rPr lang="en-US" dirty="0"/>
              <a:t>DESIGNING A SET OF RELATIONS </a:t>
            </a:r>
            <a:r>
              <a:rPr lang="en-US" dirty="0" smtClean="0"/>
              <a:t> </a:t>
            </a:r>
            <a:endParaRPr lang="en-US" dirty="0"/>
          </a:p>
        </p:txBody>
      </p:sp>
      <p:sp>
        <p:nvSpPr>
          <p:cNvPr id="759813" name="Rectangle 5"/>
          <p:cNvSpPr>
            <a:spLocks noGrp="1" noChangeArrowheads="1"/>
          </p:cNvSpPr>
          <p:nvPr>
            <p:ph type="body" idx="1"/>
          </p:nvPr>
        </p:nvSpPr>
        <p:spPr>
          <a:xfrm>
            <a:off x="1097280" y="1845734"/>
            <a:ext cx="10699768" cy="4142942"/>
          </a:xfrm>
        </p:spPr>
        <p:txBody>
          <a:bodyPr/>
          <a:lstStyle/>
          <a:p>
            <a:pPr algn="just"/>
            <a:r>
              <a:rPr lang="en-US" sz="2800" b="1" dirty="0"/>
              <a:t>The Approach of Relational Synthesis (Bottom-up Design):</a:t>
            </a:r>
          </a:p>
          <a:p>
            <a:pPr lvl="1" algn="just"/>
            <a:r>
              <a:rPr lang="en-US" sz="2800" dirty="0"/>
              <a:t>Assumes that all possible functional dependencies are known.</a:t>
            </a:r>
          </a:p>
          <a:p>
            <a:pPr lvl="1" algn="just"/>
            <a:r>
              <a:rPr lang="en-US" sz="2800" dirty="0"/>
              <a:t>First constructs a minimal set of FDs</a:t>
            </a:r>
          </a:p>
          <a:p>
            <a:pPr lvl="1" algn="just"/>
            <a:r>
              <a:rPr lang="en-US" sz="2800" dirty="0"/>
              <a:t>Then applies algorithms that construct a target set of 3NF or BCNF relations.</a:t>
            </a:r>
          </a:p>
          <a:p>
            <a:pPr lvl="1" algn="just"/>
            <a:r>
              <a:rPr lang="en-US" sz="2800" dirty="0"/>
              <a:t>Additional criteria may be needed to ensure the </a:t>
            </a:r>
            <a:r>
              <a:rPr lang="en-US" sz="2800" dirty="0" err="1"/>
              <a:t>the</a:t>
            </a:r>
            <a:r>
              <a:rPr lang="en-US" sz="2800" dirty="0"/>
              <a:t> </a:t>
            </a:r>
            <a:r>
              <a:rPr lang="en-US" sz="2800" i="1" dirty="0"/>
              <a:t>set of relations</a:t>
            </a:r>
            <a:r>
              <a:rPr lang="en-US" sz="2800" dirty="0"/>
              <a:t> in a relational database are </a:t>
            </a:r>
            <a:r>
              <a:rPr lang="en-US" sz="2800" dirty="0" smtClean="0"/>
              <a:t>satisfactory</a:t>
            </a:r>
            <a:endParaRPr lang="en-US" sz="2800" dirty="0"/>
          </a:p>
        </p:txBody>
      </p:sp>
    </p:spTree>
    <p:extLst>
      <p:ext uri="{BB962C8B-B14F-4D97-AF65-F5344CB8AC3E}">
        <p14:creationId xmlns:p14="http://schemas.microsoft.com/office/powerpoint/2010/main" val="38199041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95452CC4-6CB0-48BD-8808-AEDD3D06D6D6}" type="slidenum">
              <a:rPr lang="en-US"/>
              <a:pPr/>
              <a:t>4</a:t>
            </a:fld>
            <a:endParaRPr lang="en-CA"/>
          </a:p>
        </p:txBody>
      </p:sp>
      <p:sp>
        <p:nvSpPr>
          <p:cNvPr id="763908" name="Rectangle 4"/>
          <p:cNvSpPr>
            <a:spLocks noGrp="1" noChangeArrowheads="1"/>
          </p:cNvSpPr>
          <p:nvPr>
            <p:ph type="title"/>
          </p:nvPr>
        </p:nvSpPr>
        <p:spPr>
          <a:xfrm>
            <a:off x="1097279" y="286603"/>
            <a:ext cx="10480827" cy="1450757"/>
          </a:xfrm>
        </p:spPr>
        <p:txBody>
          <a:bodyPr/>
          <a:lstStyle/>
          <a:p>
            <a:r>
              <a:rPr lang="en-US" dirty="0" smtClean="0"/>
              <a:t>Properties </a:t>
            </a:r>
            <a:r>
              <a:rPr lang="en-US" dirty="0"/>
              <a:t>of Relational </a:t>
            </a:r>
            <a:r>
              <a:rPr lang="en-US" dirty="0" smtClean="0"/>
              <a:t>Decompositions </a:t>
            </a:r>
            <a:endParaRPr lang="en-US" dirty="0"/>
          </a:p>
        </p:txBody>
      </p:sp>
      <p:sp>
        <p:nvSpPr>
          <p:cNvPr id="763909" name="Rectangle 5"/>
          <p:cNvSpPr>
            <a:spLocks noGrp="1" noChangeArrowheads="1"/>
          </p:cNvSpPr>
          <p:nvPr>
            <p:ph type="body" idx="1"/>
          </p:nvPr>
        </p:nvSpPr>
        <p:spPr>
          <a:xfrm>
            <a:off x="1097280" y="1845733"/>
            <a:ext cx="10674010" cy="4155821"/>
          </a:xfrm>
        </p:spPr>
        <p:txBody>
          <a:bodyPr/>
          <a:lstStyle/>
          <a:p>
            <a:pPr>
              <a:spcBef>
                <a:spcPct val="0"/>
              </a:spcBef>
            </a:pPr>
            <a:r>
              <a:rPr lang="en-US" sz="3600" b="1" dirty="0"/>
              <a:t>Relation Decomposition and Insufficiency of Normal Forms:  </a:t>
            </a:r>
          </a:p>
          <a:p>
            <a:pPr lvl="1">
              <a:spcBef>
                <a:spcPct val="0"/>
              </a:spcBef>
            </a:pPr>
            <a:r>
              <a:rPr lang="en-US" sz="3500" dirty="0"/>
              <a:t>Universal Relation Schema:</a:t>
            </a:r>
          </a:p>
          <a:p>
            <a:pPr lvl="2">
              <a:spcBef>
                <a:spcPct val="0"/>
              </a:spcBef>
            </a:pPr>
            <a:r>
              <a:rPr lang="en-US" sz="3200" dirty="0"/>
              <a:t>A relation schema R = {A1, A2, …, An} that includes all the attributes of the database.</a:t>
            </a:r>
          </a:p>
          <a:p>
            <a:pPr lvl="1">
              <a:spcBef>
                <a:spcPct val="0"/>
              </a:spcBef>
            </a:pPr>
            <a:r>
              <a:rPr lang="en-US" sz="3500" dirty="0"/>
              <a:t>Universal relation assumption:</a:t>
            </a:r>
          </a:p>
          <a:p>
            <a:pPr lvl="2">
              <a:spcBef>
                <a:spcPct val="0"/>
              </a:spcBef>
            </a:pPr>
            <a:r>
              <a:rPr lang="en-US" sz="3200" dirty="0"/>
              <a:t>Every attribute name is unique.</a:t>
            </a:r>
          </a:p>
        </p:txBody>
      </p:sp>
    </p:spTree>
    <p:extLst>
      <p:ext uri="{BB962C8B-B14F-4D97-AF65-F5344CB8AC3E}">
        <p14:creationId xmlns:p14="http://schemas.microsoft.com/office/powerpoint/2010/main" val="2080022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F0B2AD93-79A3-44C9-B2A1-AAB483FA7B7D}" type="slidenum">
              <a:rPr lang="en-US"/>
              <a:pPr/>
              <a:t>5</a:t>
            </a:fld>
            <a:endParaRPr lang="en-CA"/>
          </a:p>
        </p:txBody>
      </p:sp>
      <p:sp>
        <p:nvSpPr>
          <p:cNvPr id="765956" name="Rectangle 4"/>
          <p:cNvSpPr>
            <a:spLocks noGrp="1" noChangeArrowheads="1"/>
          </p:cNvSpPr>
          <p:nvPr>
            <p:ph type="title"/>
          </p:nvPr>
        </p:nvSpPr>
        <p:spPr/>
        <p:txBody>
          <a:bodyPr/>
          <a:lstStyle/>
          <a:p>
            <a:r>
              <a:rPr lang="en-US" dirty="0"/>
              <a:t>Properties of Relational Decompositions </a:t>
            </a:r>
          </a:p>
        </p:txBody>
      </p:sp>
      <p:sp>
        <p:nvSpPr>
          <p:cNvPr id="765957" name="Rectangle 5"/>
          <p:cNvSpPr>
            <a:spLocks noGrp="1" noChangeArrowheads="1"/>
          </p:cNvSpPr>
          <p:nvPr>
            <p:ph type="body" idx="1"/>
          </p:nvPr>
        </p:nvSpPr>
        <p:spPr/>
        <p:txBody>
          <a:bodyPr/>
          <a:lstStyle/>
          <a:p>
            <a:pPr>
              <a:lnSpc>
                <a:spcPct val="80000"/>
              </a:lnSpc>
            </a:pPr>
            <a:r>
              <a:rPr lang="en-US" sz="3200" b="1" dirty="0"/>
              <a:t>Relation Decomposition and Insufficiency of Normal Forms (cont.):  </a:t>
            </a:r>
          </a:p>
          <a:p>
            <a:pPr lvl="1">
              <a:spcBef>
                <a:spcPct val="0"/>
              </a:spcBef>
            </a:pPr>
            <a:r>
              <a:rPr lang="en-US" sz="2800" b="1" dirty="0"/>
              <a:t>Decomposition:</a:t>
            </a:r>
          </a:p>
          <a:p>
            <a:pPr lvl="2">
              <a:spcBef>
                <a:spcPct val="0"/>
              </a:spcBef>
            </a:pPr>
            <a:r>
              <a:rPr lang="en-US" sz="2800" dirty="0"/>
              <a:t>The process of decomposing the universal relation schema R into a set of relation schemas D = {R1,R2, …, </a:t>
            </a:r>
            <a:r>
              <a:rPr lang="en-US" sz="2800" dirty="0" err="1"/>
              <a:t>Rm</a:t>
            </a:r>
            <a:r>
              <a:rPr lang="en-US" sz="2800" dirty="0"/>
              <a:t>} that will become the relational database schema by using the functional dependencies.   </a:t>
            </a:r>
          </a:p>
          <a:p>
            <a:pPr lvl="1">
              <a:lnSpc>
                <a:spcPct val="80000"/>
              </a:lnSpc>
              <a:spcBef>
                <a:spcPct val="0"/>
              </a:spcBef>
            </a:pPr>
            <a:r>
              <a:rPr lang="en-US" sz="2800" b="1" dirty="0"/>
              <a:t>Attribute preservation condition:</a:t>
            </a:r>
          </a:p>
          <a:p>
            <a:pPr lvl="2">
              <a:lnSpc>
                <a:spcPct val="80000"/>
              </a:lnSpc>
              <a:spcBef>
                <a:spcPct val="0"/>
              </a:spcBef>
            </a:pPr>
            <a:r>
              <a:rPr lang="en-US" sz="2800" dirty="0"/>
              <a:t>Each attribute in R will appear in at least one relation schema </a:t>
            </a:r>
            <a:r>
              <a:rPr lang="en-US" sz="2800" dirty="0" err="1"/>
              <a:t>Ri</a:t>
            </a:r>
            <a:r>
              <a:rPr lang="en-US" sz="2800" dirty="0"/>
              <a:t> in the decomposition so that no attributes are “lost”.</a:t>
            </a:r>
          </a:p>
        </p:txBody>
      </p:sp>
    </p:spTree>
    <p:extLst>
      <p:ext uri="{BB962C8B-B14F-4D97-AF65-F5344CB8AC3E}">
        <p14:creationId xmlns:p14="http://schemas.microsoft.com/office/powerpoint/2010/main" val="20009235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4722F44C-E163-4BE6-9715-95E969651E40}" type="slidenum">
              <a:rPr lang="en-US"/>
              <a:pPr/>
              <a:t>6</a:t>
            </a:fld>
            <a:endParaRPr lang="en-CA"/>
          </a:p>
        </p:txBody>
      </p:sp>
      <p:sp>
        <p:nvSpPr>
          <p:cNvPr id="841730" name="Rectangle 2"/>
          <p:cNvSpPr>
            <a:spLocks noGrp="1" noChangeArrowheads="1"/>
          </p:cNvSpPr>
          <p:nvPr>
            <p:ph type="title"/>
          </p:nvPr>
        </p:nvSpPr>
        <p:spPr/>
        <p:txBody>
          <a:bodyPr/>
          <a:lstStyle/>
          <a:p>
            <a:r>
              <a:rPr lang="en-US" dirty="0"/>
              <a:t>Properties of Relational Decompositions </a:t>
            </a:r>
          </a:p>
        </p:txBody>
      </p:sp>
      <p:sp>
        <p:nvSpPr>
          <p:cNvPr id="841731" name="Rectangle 3"/>
          <p:cNvSpPr>
            <a:spLocks noGrp="1" noChangeArrowheads="1"/>
          </p:cNvSpPr>
          <p:nvPr>
            <p:ph type="body" idx="1"/>
          </p:nvPr>
        </p:nvSpPr>
        <p:spPr>
          <a:xfrm>
            <a:off x="1097280" y="1897250"/>
            <a:ext cx="10058400" cy="4023360"/>
          </a:xfrm>
        </p:spPr>
        <p:txBody>
          <a:bodyPr>
            <a:normAutofit/>
          </a:bodyPr>
          <a:lstStyle/>
          <a:p>
            <a:r>
              <a:rPr lang="en-US" sz="2800" dirty="0"/>
              <a:t>Another goal of decomposition is to have each individual relation </a:t>
            </a:r>
            <a:r>
              <a:rPr lang="en-US" sz="2800" dirty="0" err="1"/>
              <a:t>Ri</a:t>
            </a:r>
            <a:r>
              <a:rPr lang="en-US" sz="2800" dirty="0"/>
              <a:t> in the decomposition D be in BCNF or 3NF. </a:t>
            </a:r>
          </a:p>
          <a:p>
            <a:r>
              <a:rPr lang="en-US" sz="2800" dirty="0"/>
              <a:t>Additional properties of decomposition  are needed to prevent from generating spurious </a:t>
            </a:r>
            <a:r>
              <a:rPr lang="en-US" sz="2800" dirty="0" smtClean="0"/>
              <a:t>tuples.</a:t>
            </a:r>
            <a:endParaRPr lang="en-US" sz="2800" dirty="0"/>
          </a:p>
        </p:txBody>
      </p:sp>
    </p:spTree>
    <p:extLst>
      <p:ext uri="{BB962C8B-B14F-4D97-AF65-F5344CB8AC3E}">
        <p14:creationId xmlns:p14="http://schemas.microsoft.com/office/powerpoint/2010/main" val="8601794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9E087E28-2DA3-41DB-9DA4-054074256A89}" type="slidenum">
              <a:rPr lang="en-US"/>
              <a:pPr/>
              <a:t>7</a:t>
            </a:fld>
            <a:endParaRPr lang="en-CA"/>
          </a:p>
        </p:txBody>
      </p:sp>
      <p:sp>
        <p:nvSpPr>
          <p:cNvPr id="768004" name="Rectangle 4"/>
          <p:cNvSpPr>
            <a:spLocks noGrp="1" noChangeArrowheads="1"/>
          </p:cNvSpPr>
          <p:nvPr>
            <p:ph type="title"/>
          </p:nvPr>
        </p:nvSpPr>
        <p:spPr/>
        <p:txBody>
          <a:bodyPr/>
          <a:lstStyle/>
          <a:p>
            <a:r>
              <a:rPr lang="en-US" dirty="0"/>
              <a:t>Properties of Relational Decompositions </a:t>
            </a:r>
          </a:p>
        </p:txBody>
      </p:sp>
      <p:sp>
        <p:nvSpPr>
          <p:cNvPr id="768005" name="Rectangle 5"/>
          <p:cNvSpPr>
            <a:spLocks noGrp="1" noChangeArrowheads="1"/>
          </p:cNvSpPr>
          <p:nvPr>
            <p:ph type="body" idx="1"/>
          </p:nvPr>
        </p:nvSpPr>
        <p:spPr>
          <a:xfrm>
            <a:off x="1097280" y="1845734"/>
            <a:ext cx="10442190" cy="4078548"/>
          </a:xfrm>
        </p:spPr>
        <p:txBody>
          <a:bodyPr>
            <a:normAutofit/>
          </a:bodyPr>
          <a:lstStyle/>
          <a:p>
            <a:pPr algn="just">
              <a:lnSpc>
                <a:spcPct val="150000"/>
              </a:lnSpc>
            </a:pPr>
            <a:r>
              <a:rPr lang="en-US" sz="2400" b="1" dirty="0"/>
              <a:t>Dependency Preservation Property of a Decomposition:</a:t>
            </a:r>
            <a:r>
              <a:rPr lang="en-US" sz="2400" dirty="0"/>
              <a:t> </a:t>
            </a:r>
          </a:p>
          <a:p>
            <a:pPr lvl="1" algn="just">
              <a:lnSpc>
                <a:spcPct val="150000"/>
              </a:lnSpc>
            </a:pPr>
            <a:r>
              <a:rPr lang="en-US" sz="2400" dirty="0"/>
              <a:t>Definition: Given a set of dependencies F on R, the </a:t>
            </a:r>
            <a:r>
              <a:rPr lang="en-US" sz="2400" b="1" dirty="0"/>
              <a:t>projection</a:t>
            </a:r>
            <a:r>
              <a:rPr lang="en-US" sz="2400" dirty="0"/>
              <a:t> of F on </a:t>
            </a:r>
            <a:r>
              <a:rPr lang="en-US" sz="2400" dirty="0" err="1"/>
              <a:t>R</a:t>
            </a:r>
            <a:r>
              <a:rPr lang="en-US" sz="2400" baseline="-25000" dirty="0" err="1"/>
              <a:t>i</a:t>
            </a:r>
            <a:r>
              <a:rPr lang="en-US" sz="2400" dirty="0"/>
              <a:t>, denoted by </a:t>
            </a:r>
            <a:r>
              <a:rPr lang="en-US" sz="2400" dirty="0" err="1"/>
              <a:t>p</a:t>
            </a:r>
            <a:r>
              <a:rPr lang="en-US" sz="2400" baseline="-25000" dirty="0" err="1"/>
              <a:t>Ri</a:t>
            </a:r>
            <a:r>
              <a:rPr lang="en-US" sz="2400" dirty="0"/>
              <a:t>(F) where </a:t>
            </a:r>
            <a:r>
              <a:rPr lang="en-US" sz="2400" dirty="0" err="1"/>
              <a:t>R</a:t>
            </a:r>
            <a:r>
              <a:rPr lang="en-US" sz="2400" baseline="-25000" dirty="0" err="1"/>
              <a:t>i</a:t>
            </a:r>
            <a:r>
              <a:rPr lang="en-US" sz="2400" dirty="0"/>
              <a:t> is a subset of R, is the set of dependencies X </a:t>
            </a:r>
            <a:r>
              <a:rPr lang="en-US" sz="2400" dirty="0">
                <a:sym typeface="Wingdings 3" panose="05040102010807070707" pitchFamily="18" charset="2"/>
              </a:rPr>
              <a:t></a:t>
            </a:r>
            <a:r>
              <a:rPr lang="en-US" sz="2400" dirty="0"/>
              <a:t> Y in F</a:t>
            </a:r>
            <a:r>
              <a:rPr lang="en-US" sz="2400" baseline="30000" dirty="0"/>
              <a:t>+</a:t>
            </a:r>
            <a:r>
              <a:rPr lang="en-US" sz="2400" dirty="0"/>
              <a:t> such that the attributes in X </a:t>
            </a:r>
            <a:r>
              <a:rPr lang="en-US" sz="2400" dirty="0">
                <a:latin typeface="Lucida Grande" pitchFamily="1" charset="0"/>
              </a:rPr>
              <a:t>υ</a:t>
            </a:r>
            <a:r>
              <a:rPr lang="en-US" sz="2400" dirty="0"/>
              <a:t> Y are all contained in </a:t>
            </a:r>
            <a:r>
              <a:rPr lang="en-US" sz="2400" dirty="0" err="1"/>
              <a:t>R</a:t>
            </a:r>
            <a:r>
              <a:rPr lang="en-US" sz="2400" baseline="-25000" dirty="0" err="1"/>
              <a:t>i</a:t>
            </a:r>
            <a:r>
              <a:rPr lang="en-US" sz="2400" dirty="0"/>
              <a:t>.</a:t>
            </a:r>
          </a:p>
          <a:p>
            <a:pPr lvl="1" algn="just">
              <a:lnSpc>
                <a:spcPct val="150000"/>
              </a:lnSpc>
            </a:pPr>
            <a:r>
              <a:rPr lang="en-US" sz="2400" dirty="0"/>
              <a:t>Hence, the projection of F on each relation schema </a:t>
            </a:r>
            <a:r>
              <a:rPr lang="en-US" sz="2400" dirty="0" err="1"/>
              <a:t>R</a:t>
            </a:r>
            <a:r>
              <a:rPr lang="en-US" sz="2400" baseline="-25000" dirty="0" err="1"/>
              <a:t>i</a:t>
            </a:r>
            <a:r>
              <a:rPr lang="en-US" sz="2400" dirty="0"/>
              <a:t> in the decomposition D is the set of functional dependencies in F</a:t>
            </a:r>
            <a:r>
              <a:rPr lang="en-US" sz="2400" baseline="30000" dirty="0"/>
              <a:t>+</a:t>
            </a:r>
            <a:r>
              <a:rPr lang="en-US" sz="2400" dirty="0"/>
              <a:t>, the closure of F, such that all their left- and right-hand-side attributes are in </a:t>
            </a:r>
            <a:r>
              <a:rPr lang="en-US" sz="2400" dirty="0" err="1"/>
              <a:t>R</a:t>
            </a:r>
            <a:r>
              <a:rPr lang="en-US" sz="2400" baseline="-25000" dirty="0" err="1"/>
              <a:t>i</a:t>
            </a:r>
            <a:r>
              <a:rPr lang="en-US" sz="2400" dirty="0"/>
              <a:t>. </a:t>
            </a:r>
          </a:p>
        </p:txBody>
      </p:sp>
    </p:spTree>
    <p:extLst>
      <p:ext uri="{BB962C8B-B14F-4D97-AF65-F5344CB8AC3E}">
        <p14:creationId xmlns:p14="http://schemas.microsoft.com/office/powerpoint/2010/main" val="35339591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E3E5C1C4-3094-4430-93A4-E8ACB1FA014D}" type="slidenum">
              <a:rPr lang="en-US"/>
              <a:pPr/>
              <a:t>8</a:t>
            </a:fld>
            <a:endParaRPr lang="en-CA"/>
          </a:p>
        </p:txBody>
      </p:sp>
      <p:sp>
        <p:nvSpPr>
          <p:cNvPr id="770052" name="Rectangle 4"/>
          <p:cNvSpPr>
            <a:spLocks noGrp="1" noChangeArrowheads="1"/>
          </p:cNvSpPr>
          <p:nvPr>
            <p:ph type="title"/>
          </p:nvPr>
        </p:nvSpPr>
        <p:spPr/>
        <p:txBody>
          <a:bodyPr/>
          <a:lstStyle/>
          <a:p>
            <a:r>
              <a:rPr lang="en-US" dirty="0"/>
              <a:t>Properties of Relational Decompositions </a:t>
            </a:r>
          </a:p>
        </p:txBody>
      </p:sp>
      <p:sp>
        <p:nvSpPr>
          <p:cNvPr id="770053" name="Rectangle 5"/>
          <p:cNvSpPr>
            <a:spLocks noGrp="1" noChangeArrowheads="1"/>
          </p:cNvSpPr>
          <p:nvPr>
            <p:ph type="body" idx="1"/>
          </p:nvPr>
        </p:nvSpPr>
        <p:spPr>
          <a:xfrm>
            <a:off x="1097279" y="1845734"/>
            <a:ext cx="10622495" cy="4052790"/>
          </a:xfrm>
        </p:spPr>
        <p:txBody>
          <a:bodyPr>
            <a:normAutofit/>
          </a:bodyPr>
          <a:lstStyle/>
          <a:p>
            <a:pPr>
              <a:lnSpc>
                <a:spcPct val="80000"/>
              </a:lnSpc>
            </a:pPr>
            <a:r>
              <a:rPr lang="en-US" sz="2800" b="1" dirty="0"/>
              <a:t>Dependency Preservation Property of a Decomposition (cont.):</a:t>
            </a:r>
          </a:p>
          <a:p>
            <a:pPr lvl="1">
              <a:lnSpc>
                <a:spcPct val="80000"/>
              </a:lnSpc>
            </a:pPr>
            <a:r>
              <a:rPr lang="en-US" sz="2800" dirty="0"/>
              <a:t>Dependency Preservation Property:</a:t>
            </a:r>
          </a:p>
          <a:p>
            <a:pPr lvl="2">
              <a:lnSpc>
                <a:spcPct val="80000"/>
              </a:lnSpc>
            </a:pPr>
            <a:r>
              <a:rPr lang="en-US" sz="2800" dirty="0"/>
              <a:t>A decomposition D = {R1, R2, ..., </a:t>
            </a:r>
            <a:r>
              <a:rPr lang="en-US" sz="2800" dirty="0" err="1"/>
              <a:t>Rm</a:t>
            </a:r>
            <a:r>
              <a:rPr lang="en-US" sz="2800" dirty="0"/>
              <a:t>} of R is </a:t>
            </a:r>
            <a:r>
              <a:rPr lang="en-US" sz="2800" b="1" dirty="0"/>
              <a:t>dependency-preserving</a:t>
            </a:r>
            <a:r>
              <a:rPr lang="en-US" sz="2800" dirty="0"/>
              <a:t> with respect to F if the union of the projections of F on each </a:t>
            </a:r>
            <a:r>
              <a:rPr lang="en-US" sz="2800" dirty="0" err="1"/>
              <a:t>Ri</a:t>
            </a:r>
            <a:r>
              <a:rPr lang="en-US" sz="2800" dirty="0"/>
              <a:t> in D is equivalent to F; that is</a:t>
            </a:r>
            <a:br>
              <a:rPr lang="en-US" sz="2800" dirty="0"/>
            </a:br>
            <a:r>
              <a:rPr lang="en-US" sz="2800" dirty="0"/>
              <a:t>	((</a:t>
            </a:r>
            <a:r>
              <a:rPr lang="en-US" sz="2800" dirty="0">
                <a:latin typeface="Symbol" panose="05050102010706020507" pitchFamily="18" charset="2"/>
              </a:rPr>
              <a:t></a:t>
            </a:r>
            <a:r>
              <a:rPr lang="en-US" sz="2800" baseline="-25000" dirty="0"/>
              <a:t>R1</a:t>
            </a:r>
            <a:r>
              <a:rPr lang="en-US" sz="2800" dirty="0"/>
              <a:t>(F)) </a:t>
            </a:r>
            <a:r>
              <a:rPr lang="en-US" sz="2800" dirty="0">
                <a:latin typeface="Lucida Grande" pitchFamily="1" charset="0"/>
              </a:rPr>
              <a:t>υ</a:t>
            </a:r>
            <a:r>
              <a:rPr lang="en-US" sz="2800" dirty="0"/>
              <a:t> . . . </a:t>
            </a:r>
            <a:r>
              <a:rPr lang="en-US" sz="2800" dirty="0">
                <a:latin typeface="Lucida Grande" pitchFamily="1" charset="0"/>
              </a:rPr>
              <a:t>υ</a:t>
            </a:r>
            <a:r>
              <a:rPr lang="en-US" sz="2800" dirty="0"/>
              <a:t> (</a:t>
            </a:r>
            <a:r>
              <a:rPr lang="en-US" sz="2800" dirty="0">
                <a:latin typeface="Symbol" panose="05050102010706020507" pitchFamily="18" charset="2"/>
              </a:rPr>
              <a:t></a:t>
            </a:r>
            <a:r>
              <a:rPr lang="en-US" sz="2800" baseline="-25000" dirty="0" err="1"/>
              <a:t>Rm</a:t>
            </a:r>
            <a:r>
              <a:rPr lang="en-US" sz="2800" dirty="0"/>
              <a:t>(F)))</a:t>
            </a:r>
            <a:r>
              <a:rPr lang="en-US" sz="2800" baseline="30000" dirty="0"/>
              <a:t>+</a:t>
            </a:r>
            <a:r>
              <a:rPr lang="en-US" sz="2800" dirty="0"/>
              <a:t> = F</a:t>
            </a:r>
            <a:r>
              <a:rPr lang="en-US" sz="2800" baseline="30000" dirty="0"/>
              <a:t>+</a:t>
            </a:r>
            <a:r>
              <a:rPr lang="en-US" sz="2800" dirty="0"/>
              <a:t> </a:t>
            </a:r>
          </a:p>
          <a:p>
            <a:pPr>
              <a:lnSpc>
                <a:spcPct val="80000"/>
              </a:lnSpc>
            </a:pPr>
            <a:r>
              <a:rPr lang="en-US" sz="2800" dirty="0" smtClean="0"/>
              <a:t>Claim </a:t>
            </a:r>
            <a:r>
              <a:rPr lang="en-US" sz="2800" dirty="0"/>
              <a:t>1:</a:t>
            </a:r>
          </a:p>
          <a:p>
            <a:pPr lvl="1">
              <a:lnSpc>
                <a:spcPct val="80000"/>
              </a:lnSpc>
            </a:pPr>
            <a:r>
              <a:rPr lang="en-US" sz="2800" dirty="0"/>
              <a:t>It is always possible to find a dependency-preserving </a:t>
            </a:r>
            <a:r>
              <a:rPr lang="en-US" sz="2800" dirty="0" smtClean="0"/>
              <a:t>decomposition </a:t>
            </a:r>
            <a:r>
              <a:rPr lang="en-US" sz="2800" dirty="0"/>
              <a:t>D with respect to F such that each relation </a:t>
            </a:r>
            <a:r>
              <a:rPr lang="en-US" sz="2800" dirty="0" err="1"/>
              <a:t>Ri</a:t>
            </a:r>
            <a:r>
              <a:rPr lang="en-US" sz="2800" dirty="0"/>
              <a:t> in D is in 3nf. </a:t>
            </a:r>
          </a:p>
        </p:txBody>
      </p:sp>
    </p:spTree>
    <p:extLst>
      <p:ext uri="{BB962C8B-B14F-4D97-AF65-F5344CB8AC3E}">
        <p14:creationId xmlns:p14="http://schemas.microsoft.com/office/powerpoint/2010/main" val="27384167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1849369B-5C7A-4C69-BC97-C17A36E05AFB}" type="slidenum">
              <a:rPr lang="en-US"/>
              <a:pPr/>
              <a:t>9</a:t>
            </a:fld>
            <a:endParaRPr lang="en-CA"/>
          </a:p>
        </p:txBody>
      </p:sp>
      <p:sp>
        <p:nvSpPr>
          <p:cNvPr id="772100" name="Rectangle 4"/>
          <p:cNvSpPr>
            <a:spLocks noGrp="1" noChangeArrowheads="1"/>
          </p:cNvSpPr>
          <p:nvPr>
            <p:ph type="title"/>
          </p:nvPr>
        </p:nvSpPr>
        <p:spPr/>
        <p:txBody>
          <a:bodyPr/>
          <a:lstStyle/>
          <a:p>
            <a:r>
              <a:rPr lang="en-US" dirty="0"/>
              <a:t>Properties of Relational Decompositions </a:t>
            </a:r>
          </a:p>
        </p:txBody>
      </p:sp>
      <p:sp>
        <p:nvSpPr>
          <p:cNvPr id="772101" name="Rectangle 5"/>
          <p:cNvSpPr>
            <a:spLocks noGrp="1" noChangeArrowheads="1"/>
          </p:cNvSpPr>
          <p:nvPr>
            <p:ph type="body" idx="1"/>
          </p:nvPr>
        </p:nvSpPr>
        <p:spPr/>
        <p:txBody>
          <a:bodyPr>
            <a:normAutofit lnSpcReduction="10000"/>
          </a:bodyPr>
          <a:lstStyle/>
          <a:p>
            <a:pPr>
              <a:lnSpc>
                <a:spcPct val="80000"/>
              </a:lnSpc>
            </a:pPr>
            <a:r>
              <a:rPr lang="en-US" sz="2400" b="1" dirty="0"/>
              <a:t>Lossless (Non-additive) Join Property of a Decomposition: </a:t>
            </a:r>
          </a:p>
          <a:p>
            <a:pPr lvl="1">
              <a:lnSpc>
                <a:spcPct val="150000"/>
              </a:lnSpc>
            </a:pPr>
            <a:r>
              <a:rPr lang="en-US" sz="2100" dirty="0"/>
              <a:t>Definition: Lossless join property: a decomposition D = {R1, R2, ..., </a:t>
            </a:r>
            <a:r>
              <a:rPr lang="en-US" sz="2100" dirty="0" err="1"/>
              <a:t>Rm</a:t>
            </a:r>
            <a:r>
              <a:rPr lang="en-US" sz="2100" dirty="0"/>
              <a:t>} of R has the </a:t>
            </a:r>
            <a:r>
              <a:rPr lang="en-US" sz="2100" b="1" dirty="0"/>
              <a:t>lossless (</a:t>
            </a:r>
            <a:r>
              <a:rPr lang="en-US" sz="2100" b="1" dirty="0" err="1"/>
              <a:t>nonadditive</a:t>
            </a:r>
            <a:r>
              <a:rPr lang="en-US" sz="2100" b="1" dirty="0"/>
              <a:t>) join property</a:t>
            </a:r>
            <a:r>
              <a:rPr lang="en-US" sz="2100" dirty="0"/>
              <a:t> with respect to the set of dependencies F on R if, for </a:t>
            </a:r>
            <a:r>
              <a:rPr lang="en-US" sz="2100" i="1" dirty="0"/>
              <a:t>every</a:t>
            </a:r>
            <a:r>
              <a:rPr lang="en-US" sz="2100" dirty="0"/>
              <a:t> relation state r of R that satisfies F, the following holds, where * is the natural join of all the relations in D:  </a:t>
            </a:r>
          </a:p>
          <a:p>
            <a:pPr algn="ctr">
              <a:lnSpc>
                <a:spcPct val="150000"/>
              </a:lnSpc>
              <a:buFont typeface="Wingdings" panose="05000000000000000000" pitchFamily="2" charset="2"/>
              <a:buNone/>
            </a:pPr>
            <a:r>
              <a:rPr lang="en-US" sz="2400" dirty="0"/>
              <a:t>* (</a:t>
            </a:r>
            <a:r>
              <a:rPr lang="en-US" dirty="0">
                <a:latin typeface="Symbol" panose="05050102010706020507" pitchFamily="18" charset="2"/>
              </a:rPr>
              <a:t></a:t>
            </a:r>
            <a:r>
              <a:rPr lang="en-US" sz="2400" baseline="-25000" dirty="0"/>
              <a:t> R1</a:t>
            </a:r>
            <a:r>
              <a:rPr lang="en-US" sz="2400" dirty="0"/>
              <a:t>(r), ..., </a:t>
            </a:r>
            <a:r>
              <a:rPr lang="en-US" dirty="0">
                <a:latin typeface="Symbol" panose="05050102010706020507" pitchFamily="18" charset="2"/>
              </a:rPr>
              <a:t></a:t>
            </a:r>
            <a:r>
              <a:rPr lang="en-US" sz="2400" baseline="-25000" dirty="0" err="1"/>
              <a:t>Rm</a:t>
            </a:r>
            <a:r>
              <a:rPr lang="en-US" sz="2400" dirty="0"/>
              <a:t>(r)) = r</a:t>
            </a:r>
          </a:p>
          <a:p>
            <a:pPr lvl="1">
              <a:lnSpc>
                <a:spcPct val="150000"/>
              </a:lnSpc>
            </a:pPr>
            <a:r>
              <a:rPr lang="en-US" sz="2100" dirty="0"/>
              <a:t>Note: The word loss in lossless refers to loss of information, not to loss of tuples. In fact, for “loss of information” a  better term is “</a:t>
            </a:r>
            <a:r>
              <a:rPr lang="en-US" sz="2100" b="1" dirty="0"/>
              <a:t>addition of spurious information</a:t>
            </a:r>
            <a:r>
              <a:rPr lang="en-US" sz="2100" dirty="0"/>
              <a:t>”</a:t>
            </a:r>
          </a:p>
        </p:txBody>
      </p:sp>
    </p:spTree>
    <p:extLst>
      <p:ext uri="{BB962C8B-B14F-4D97-AF65-F5344CB8AC3E}">
        <p14:creationId xmlns:p14="http://schemas.microsoft.com/office/powerpoint/2010/main" val="3806817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2D431E15-4974-42D5-B97E-7B0F0C5B4E07}" type="slidenum">
              <a:rPr lang="en-US"/>
              <a:pPr/>
              <a:t>10</a:t>
            </a:fld>
            <a:endParaRPr lang="en-CA"/>
          </a:p>
        </p:txBody>
      </p:sp>
      <p:sp>
        <p:nvSpPr>
          <p:cNvPr id="774148" name="Rectangle 4"/>
          <p:cNvSpPr>
            <a:spLocks noGrp="1" noChangeArrowheads="1"/>
          </p:cNvSpPr>
          <p:nvPr>
            <p:ph type="title"/>
          </p:nvPr>
        </p:nvSpPr>
        <p:spPr/>
        <p:txBody>
          <a:bodyPr/>
          <a:lstStyle/>
          <a:p>
            <a:r>
              <a:rPr lang="en-US" dirty="0"/>
              <a:t>Properties of Relational Decompositions </a:t>
            </a:r>
          </a:p>
        </p:txBody>
      </p:sp>
      <p:sp>
        <p:nvSpPr>
          <p:cNvPr id="774149" name="Rectangle 5"/>
          <p:cNvSpPr>
            <a:spLocks noGrp="1" noChangeArrowheads="1"/>
          </p:cNvSpPr>
          <p:nvPr>
            <p:ph type="body" idx="1"/>
          </p:nvPr>
        </p:nvSpPr>
        <p:spPr>
          <a:xfrm>
            <a:off x="360609" y="1845733"/>
            <a:ext cx="11719774" cy="4477794"/>
          </a:xfrm>
        </p:spPr>
        <p:txBody>
          <a:bodyPr>
            <a:normAutofit fontScale="92500"/>
          </a:bodyPr>
          <a:lstStyle/>
          <a:p>
            <a:pPr marL="381000" indent="-381000"/>
            <a:r>
              <a:rPr lang="en-US" sz="2200" b="1" dirty="0"/>
              <a:t>Lossless (Non-additive) Join Property of a Decomposition (cont.): </a:t>
            </a:r>
          </a:p>
          <a:p>
            <a:pPr marL="381000" indent="-381000"/>
            <a:r>
              <a:rPr lang="en-US" sz="2200" b="1" dirty="0"/>
              <a:t>Algorithm 11.1: Testing for Lossless Join Property </a:t>
            </a:r>
          </a:p>
          <a:p>
            <a:pPr marL="838200" lvl="1" indent="-381000"/>
            <a:r>
              <a:rPr lang="en-US" sz="2200" b="1" dirty="0"/>
              <a:t>Input</a:t>
            </a:r>
            <a:r>
              <a:rPr lang="en-US" sz="2200" dirty="0"/>
              <a:t>: A universal relation R, a decomposition D = {R1, R2, ..., </a:t>
            </a:r>
            <a:r>
              <a:rPr lang="en-US" sz="2200" dirty="0" err="1"/>
              <a:t>Rm</a:t>
            </a:r>
            <a:r>
              <a:rPr lang="en-US" sz="2200" dirty="0"/>
              <a:t>} of R, and a set F of functional dependencies. </a:t>
            </a:r>
          </a:p>
          <a:p>
            <a:pPr marL="381000" indent="-381000">
              <a:buSzTx/>
              <a:buNone/>
            </a:pPr>
            <a:r>
              <a:rPr lang="en-US" sz="2200" b="1" dirty="0">
                <a:solidFill>
                  <a:srgbClr val="990033"/>
                </a:solidFill>
              </a:rPr>
              <a:t>1. </a:t>
            </a:r>
            <a:r>
              <a:rPr lang="en-US" sz="2200" dirty="0"/>
              <a:t>Create an initial matrix S with one row </a:t>
            </a:r>
            <a:r>
              <a:rPr lang="en-US" sz="2200" dirty="0" err="1"/>
              <a:t>i</a:t>
            </a:r>
            <a:r>
              <a:rPr lang="en-US" sz="2200" dirty="0"/>
              <a:t> for each relation </a:t>
            </a:r>
            <a:r>
              <a:rPr lang="en-US" sz="2200" dirty="0" err="1"/>
              <a:t>Ri</a:t>
            </a:r>
            <a:r>
              <a:rPr lang="en-US" sz="2200" dirty="0"/>
              <a:t> in D, and one column j for each attribute </a:t>
            </a:r>
            <a:r>
              <a:rPr lang="en-US" sz="2200" dirty="0" err="1"/>
              <a:t>Aj</a:t>
            </a:r>
            <a:r>
              <a:rPr lang="en-US" sz="2200" dirty="0"/>
              <a:t> in R.</a:t>
            </a:r>
          </a:p>
          <a:p>
            <a:pPr marL="381000" indent="-381000">
              <a:buSzTx/>
              <a:buNone/>
            </a:pPr>
            <a:r>
              <a:rPr lang="en-US" sz="2200" dirty="0">
                <a:solidFill>
                  <a:srgbClr val="990033"/>
                </a:solidFill>
              </a:rPr>
              <a:t>2. </a:t>
            </a:r>
            <a:r>
              <a:rPr lang="en-US" sz="2200" dirty="0"/>
              <a:t>Set S(</a:t>
            </a:r>
            <a:r>
              <a:rPr lang="en-US" sz="2200" dirty="0" err="1"/>
              <a:t>i,j</a:t>
            </a:r>
            <a:r>
              <a:rPr lang="en-US" sz="2200" dirty="0"/>
              <a:t>):=</a:t>
            </a:r>
            <a:r>
              <a:rPr lang="en-US" sz="2200" dirty="0" err="1"/>
              <a:t>bij</a:t>
            </a:r>
            <a:r>
              <a:rPr lang="en-US" sz="2200" dirty="0"/>
              <a:t> for all matrix entries. (* each </a:t>
            </a:r>
            <a:r>
              <a:rPr lang="en-US" sz="2200" dirty="0" err="1"/>
              <a:t>bij</a:t>
            </a:r>
            <a:r>
              <a:rPr lang="en-US" sz="2200" dirty="0"/>
              <a:t> is a distinct symbol associated with indices (</a:t>
            </a:r>
            <a:r>
              <a:rPr lang="en-US" sz="2200" dirty="0" err="1"/>
              <a:t>i,j</a:t>
            </a:r>
            <a:r>
              <a:rPr lang="en-US" sz="2200" dirty="0"/>
              <a:t>) *).</a:t>
            </a:r>
          </a:p>
          <a:p>
            <a:pPr marL="381000" indent="-381000">
              <a:buSzTx/>
              <a:buNone/>
            </a:pPr>
            <a:r>
              <a:rPr lang="en-US" sz="2200" b="1" dirty="0">
                <a:solidFill>
                  <a:srgbClr val="990033"/>
                </a:solidFill>
              </a:rPr>
              <a:t>3. </a:t>
            </a:r>
            <a:r>
              <a:rPr lang="en-US" sz="2200" dirty="0"/>
              <a:t>For each row </a:t>
            </a:r>
            <a:r>
              <a:rPr lang="en-US" sz="2200" dirty="0" err="1"/>
              <a:t>i</a:t>
            </a:r>
            <a:r>
              <a:rPr lang="en-US" sz="2200" dirty="0"/>
              <a:t> representing relation schema </a:t>
            </a:r>
            <a:r>
              <a:rPr lang="en-US" sz="2200" dirty="0" err="1"/>
              <a:t>Ri</a:t>
            </a:r>
            <a:endParaRPr lang="en-US" sz="2200" dirty="0"/>
          </a:p>
          <a:p>
            <a:pPr marL="381000" indent="-381000">
              <a:buSzTx/>
              <a:buNone/>
            </a:pPr>
            <a:r>
              <a:rPr lang="en-US" sz="2200" dirty="0"/>
              <a:t>		{for each column j representing attribute </a:t>
            </a:r>
            <a:r>
              <a:rPr lang="en-US" sz="2200" dirty="0" err="1"/>
              <a:t>Aj</a:t>
            </a:r>
            <a:endParaRPr lang="en-US" sz="2200" dirty="0"/>
          </a:p>
          <a:p>
            <a:pPr marL="381000" indent="-381000">
              <a:buSzTx/>
              <a:buNone/>
            </a:pPr>
            <a:r>
              <a:rPr lang="en-US" sz="2200" dirty="0"/>
              <a:t>		    {if (relation </a:t>
            </a:r>
            <a:r>
              <a:rPr lang="en-US" sz="2200" dirty="0" err="1"/>
              <a:t>Ri</a:t>
            </a:r>
            <a:r>
              <a:rPr lang="en-US" sz="2200" dirty="0"/>
              <a:t> includes attribute </a:t>
            </a:r>
            <a:r>
              <a:rPr lang="en-US" sz="2200" dirty="0" err="1"/>
              <a:t>Aj</a:t>
            </a:r>
            <a:r>
              <a:rPr lang="en-US" sz="2200" dirty="0"/>
              <a:t>) then set S(</a:t>
            </a:r>
            <a:r>
              <a:rPr lang="en-US" sz="2200" dirty="0" err="1"/>
              <a:t>i,j</a:t>
            </a:r>
            <a:r>
              <a:rPr lang="en-US" sz="2200" dirty="0"/>
              <a:t>):= </a:t>
            </a:r>
            <a:r>
              <a:rPr lang="en-US" sz="2200" dirty="0" err="1"/>
              <a:t>aj</a:t>
            </a:r>
            <a:r>
              <a:rPr lang="en-US" sz="2200" dirty="0"/>
              <a:t>;};};</a:t>
            </a:r>
          </a:p>
          <a:p>
            <a:pPr marL="838200" lvl="1" indent="-381000"/>
            <a:r>
              <a:rPr lang="en-US" sz="2200" dirty="0"/>
              <a:t>(* each </a:t>
            </a:r>
            <a:r>
              <a:rPr lang="en-US" sz="2200" dirty="0" err="1"/>
              <a:t>aj</a:t>
            </a:r>
            <a:r>
              <a:rPr lang="en-US" sz="2200" dirty="0"/>
              <a:t> is a distinct symbol associated with index (j) *)</a:t>
            </a:r>
          </a:p>
          <a:p>
            <a:pPr marL="838200" lvl="1" indent="-381000" algn="r"/>
            <a:r>
              <a:rPr lang="en-US" sz="2000" dirty="0"/>
              <a:t>CONTINUED on NEXT SLIDE</a:t>
            </a:r>
          </a:p>
        </p:txBody>
      </p:sp>
    </p:spTree>
    <p:extLst>
      <p:ext uri="{BB962C8B-B14F-4D97-AF65-F5344CB8AC3E}">
        <p14:creationId xmlns:p14="http://schemas.microsoft.com/office/powerpoint/2010/main" val="613620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6BFEE517-BC62-4140-A94D-AB86C36C570D}" type="slidenum">
              <a:rPr lang="en-US"/>
              <a:pPr/>
              <a:t>11</a:t>
            </a:fld>
            <a:endParaRPr lang="en-CA"/>
          </a:p>
        </p:txBody>
      </p:sp>
      <p:sp>
        <p:nvSpPr>
          <p:cNvPr id="776196" name="Rectangle 4"/>
          <p:cNvSpPr>
            <a:spLocks noGrp="1" noChangeArrowheads="1"/>
          </p:cNvSpPr>
          <p:nvPr>
            <p:ph type="title"/>
          </p:nvPr>
        </p:nvSpPr>
        <p:spPr>
          <a:xfrm>
            <a:off x="1066800" y="0"/>
            <a:ext cx="10058400" cy="1450757"/>
          </a:xfrm>
        </p:spPr>
        <p:txBody>
          <a:bodyPr/>
          <a:lstStyle/>
          <a:p>
            <a:r>
              <a:rPr lang="en-US" dirty="0"/>
              <a:t>Properties of Relational </a:t>
            </a:r>
            <a:r>
              <a:rPr lang="en-US" dirty="0" smtClean="0"/>
              <a:t>Decompositions</a:t>
            </a:r>
            <a:endParaRPr lang="en-US" dirty="0"/>
          </a:p>
        </p:txBody>
      </p:sp>
      <p:sp>
        <p:nvSpPr>
          <p:cNvPr id="776197" name="Rectangle 5"/>
          <p:cNvSpPr>
            <a:spLocks noGrp="1" noChangeArrowheads="1"/>
          </p:cNvSpPr>
          <p:nvPr>
            <p:ph type="body" idx="1"/>
          </p:nvPr>
        </p:nvSpPr>
        <p:spPr>
          <a:xfrm>
            <a:off x="79376" y="1413577"/>
            <a:ext cx="12112624" cy="4922829"/>
          </a:xfrm>
        </p:spPr>
        <p:txBody>
          <a:bodyPr>
            <a:normAutofit fontScale="25000" lnSpcReduction="20000"/>
          </a:bodyPr>
          <a:lstStyle/>
          <a:p>
            <a:pPr>
              <a:lnSpc>
                <a:spcPct val="120000"/>
              </a:lnSpc>
              <a:buFont typeface="Wingdings" panose="05000000000000000000" pitchFamily="2" charset="2"/>
              <a:buNone/>
            </a:pPr>
            <a:r>
              <a:rPr lang="en-US" sz="8000" b="1" dirty="0" smtClean="0">
                <a:solidFill>
                  <a:srgbClr val="990033"/>
                </a:solidFill>
                <a:latin typeface="Arial" panose="020B0604020202020204" pitchFamily="34" charset="0"/>
                <a:cs typeface="Arial" panose="020B0604020202020204" pitchFamily="34" charset="0"/>
              </a:rPr>
              <a:t>4</a:t>
            </a:r>
            <a:r>
              <a:rPr lang="en-US" sz="8000" b="1" dirty="0">
                <a:solidFill>
                  <a:srgbClr val="990033"/>
                </a:solidFill>
                <a:latin typeface="Arial" panose="020B0604020202020204" pitchFamily="34" charset="0"/>
                <a:cs typeface="Arial" panose="020B0604020202020204" pitchFamily="34" charset="0"/>
              </a:rPr>
              <a:t>. </a:t>
            </a:r>
            <a:r>
              <a:rPr lang="en-US" sz="8000" dirty="0">
                <a:latin typeface="Arial" panose="020B0604020202020204" pitchFamily="34" charset="0"/>
                <a:cs typeface="Arial" panose="020B0604020202020204" pitchFamily="34" charset="0"/>
              </a:rPr>
              <a:t>Repeat the following loop until a complete loop execution results in no changes to S </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{for each functional dependency X </a:t>
            </a:r>
            <a:r>
              <a:rPr lang="en-US" sz="8000" dirty="0">
                <a:latin typeface="Arial" panose="020B0604020202020204" pitchFamily="34" charset="0"/>
                <a:cs typeface="Arial" panose="020B0604020202020204" pitchFamily="34" charset="0"/>
                <a:sym typeface="Wingdings 3" panose="05040102010807070707" pitchFamily="18" charset="2"/>
              </a:rPr>
              <a:t></a:t>
            </a:r>
            <a:r>
              <a:rPr lang="en-US" sz="8000" dirty="0">
                <a:latin typeface="Arial" panose="020B0604020202020204" pitchFamily="34" charset="0"/>
                <a:cs typeface="Arial" panose="020B0604020202020204" pitchFamily="34" charset="0"/>
              </a:rPr>
              <a:t>Y in F </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  {</a:t>
            </a:r>
            <a:r>
              <a:rPr lang="en-US" sz="8000" dirty="0">
                <a:latin typeface="Arial" panose="020B0604020202020204" pitchFamily="34" charset="0"/>
                <a:cs typeface="Arial" panose="020B0604020202020204" pitchFamily="34" charset="0"/>
              </a:rPr>
              <a:t>for all rows in S </a:t>
            </a:r>
            <a:r>
              <a:rPr lang="en-US" sz="8000" i="1" dirty="0">
                <a:latin typeface="Arial" panose="020B0604020202020204" pitchFamily="34" charset="0"/>
                <a:cs typeface="Arial" panose="020B0604020202020204" pitchFamily="34" charset="0"/>
              </a:rPr>
              <a:t>which have the same symbols</a:t>
            </a:r>
            <a:r>
              <a:rPr lang="en-US" sz="8000" dirty="0">
                <a:latin typeface="Arial" panose="020B0604020202020204" pitchFamily="34" charset="0"/>
                <a:cs typeface="Arial" panose="020B0604020202020204" pitchFamily="34" charset="0"/>
              </a:rPr>
              <a:t> in the columns corresponding to attributes in X</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a:t>
            </a:r>
            <a:r>
              <a:rPr lang="en-US" sz="8000" dirty="0">
                <a:latin typeface="Arial" panose="020B0604020202020204" pitchFamily="34" charset="0"/>
                <a:cs typeface="Arial" panose="020B0604020202020204" pitchFamily="34" charset="0"/>
              </a:rPr>
              <a:t>make the symbols in each column that correspond to an attribute in Y be the same in all these rows as follows</a:t>
            </a:r>
            <a:r>
              <a:rPr lang="en-US" sz="8000" dirty="0" smtClean="0">
                <a:latin typeface="Arial" panose="020B0604020202020204" pitchFamily="34" charset="0"/>
                <a:cs typeface="Arial" panose="020B0604020202020204" pitchFamily="34" charset="0"/>
              </a:rPr>
              <a:t>:</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	If </a:t>
            </a:r>
            <a:r>
              <a:rPr lang="en-US" sz="8000" dirty="0">
                <a:latin typeface="Arial" panose="020B0604020202020204" pitchFamily="34" charset="0"/>
                <a:cs typeface="Arial" panose="020B0604020202020204" pitchFamily="34" charset="0"/>
              </a:rPr>
              <a:t>any of the rows has an “a” symbol for the column, set the other rows to that </a:t>
            </a:r>
            <a:r>
              <a:rPr lang="en-US" sz="8000" i="1" dirty="0">
                <a:latin typeface="Arial" panose="020B0604020202020204" pitchFamily="34" charset="0"/>
                <a:cs typeface="Arial" panose="020B0604020202020204" pitchFamily="34" charset="0"/>
              </a:rPr>
              <a:t>same</a:t>
            </a:r>
            <a:r>
              <a:rPr lang="en-US" sz="8000" dirty="0">
                <a:latin typeface="Arial" panose="020B0604020202020204" pitchFamily="34" charset="0"/>
                <a:cs typeface="Arial" panose="020B0604020202020204" pitchFamily="34" charset="0"/>
              </a:rPr>
              <a:t> “a” symbol in the column.</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If </a:t>
            </a:r>
            <a:r>
              <a:rPr lang="en-US" sz="8000" dirty="0">
                <a:latin typeface="Arial" panose="020B0604020202020204" pitchFamily="34" charset="0"/>
                <a:cs typeface="Arial" panose="020B0604020202020204" pitchFamily="34" charset="0"/>
              </a:rPr>
              <a:t>no “a” symbol exists for the attribute in any of the rows, choose one of the “b” symbols that appear in one of the rows for the attribute and set the other rows to that same “b” symbol in the column </a:t>
            </a:r>
            <a:r>
              <a:rPr lang="en-US" sz="8000" dirty="0" smtClean="0">
                <a:latin typeface="Arial" panose="020B0604020202020204" pitchFamily="34" charset="0"/>
                <a:cs typeface="Arial" panose="020B0604020202020204" pitchFamily="34" charset="0"/>
              </a:rPr>
              <a:t>;</a:t>
            </a:r>
          </a:p>
          <a:p>
            <a:pPr>
              <a:lnSpc>
                <a:spcPct val="120000"/>
              </a:lnSpc>
              <a:buFont typeface="Wingdings" panose="05000000000000000000" pitchFamily="2" charset="2"/>
              <a:buNone/>
            </a:pP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          };    </a:t>
            </a: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a:t>
            </a:r>
            <a:r>
              <a:rPr lang="en-US" sz="8000" dirty="0">
                <a:latin typeface="Arial" panose="020B0604020202020204" pitchFamily="34" charset="0"/>
                <a:cs typeface="Arial" panose="020B0604020202020204" pitchFamily="34" charset="0"/>
              </a:rPr>
              <a:t>	</a:t>
            </a:r>
            <a:r>
              <a:rPr lang="en-US" sz="8000" dirty="0" smtClean="0">
                <a:latin typeface="Arial" panose="020B0604020202020204" pitchFamily="34" charset="0"/>
                <a:cs typeface="Arial" panose="020B0604020202020204" pitchFamily="34" charset="0"/>
              </a:rPr>
              <a:t>         };</a:t>
            </a:r>
            <a:endParaRPr lang="en-US" sz="8000" dirty="0">
              <a:latin typeface="Arial" panose="020B0604020202020204" pitchFamily="34" charset="0"/>
              <a:cs typeface="Arial" panose="020B0604020202020204" pitchFamily="34" charset="0"/>
            </a:endParaRPr>
          </a:p>
          <a:p>
            <a:pPr>
              <a:lnSpc>
                <a:spcPct val="120000"/>
              </a:lnSpc>
              <a:buFont typeface="Wingdings" panose="05000000000000000000" pitchFamily="2" charset="2"/>
              <a:buNone/>
            </a:pPr>
            <a:r>
              <a:rPr lang="en-US" sz="8000" b="1" dirty="0">
                <a:solidFill>
                  <a:srgbClr val="990033"/>
                </a:solidFill>
                <a:latin typeface="Arial" panose="020B0604020202020204" pitchFamily="34" charset="0"/>
                <a:cs typeface="Arial" panose="020B0604020202020204" pitchFamily="34" charset="0"/>
              </a:rPr>
              <a:t>5. </a:t>
            </a:r>
            <a:r>
              <a:rPr lang="en-US" sz="8000" dirty="0">
                <a:latin typeface="Arial" panose="020B0604020202020204" pitchFamily="34" charset="0"/>
                <a:cs typeface="Arial" panose="020B0604020202020204" pitchFamily="34" charset="0"/>
              </a:rPr>
              <a:t>If a row is made up entirely of “a” symbols, then the decomposition has the lossless join property; otherwise it does not.</a:t>
            </a:r>
          </a:p>
          <a:p>
            <a:pPr>
              <a:lnSpc>
                <a:spcPct val="80000"/>
              </a:lnSpc>
            </a:pPr>
            <a:endParaRPr lang="en-US" sz="1600" dirty="0"/>
          </a:p>
        </p:txBody>
      </p:sp>
    </p:spTree>
    <p:extLst>
      <p:ext uri="{BB962C8B-B14F-4D97-AF65-F5344CB8AC3E}">
        <p14:creationId xmlns:p14="http://schemas.microsoft.com/office/powerpoint/2010/main" val="39173668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Slide 11- </a:t>
            </a:r>
            <a:fld id="{824BF6E5-294D-40E9-A2CC-552E4AC29C8E}" type="slidenum">
              <a:rPr lang="en-US"/>
              <a:pPr/>
              <a:t>12</a:t>
            </a:fld>
            <a:endParaRPr lang="en-CA"/>
          </a:p>
        </p:txBody>
      </p:sp>
      <p:sp>
        <p:nvSpPr>
          <p:cNvPr id="778245" name="Rectangle 5"/>
          <p:cNvSpPr>
            <a:spLocks noGrp="1" noChangeArrowheads="1"/>
          </p:cNvSpPr>
          <p:nvPr>
            <p:ph type="title"/>
          </p:nvPr>
        </p:nvSpPr>
        <p:spPr>
          <a:xfrm>
            <a:off x="1097280" y="286603"/>
            <a:ext cx="10058400" cy="1077059"/>
          </a:xfrm>
        </p:spPr>
        <p:txBody>
          <a:bodyPr>
            <a:normAutofit/>
          </a:bodyPr>
          <a:lstStyle/>
          <a:p>
            <a:r>
              <a:rPr lang="en-US" sz="3600" dirty="0"/>
              <a:t>Properties of Relational Decompositions </a:t>
            </a:r>
          </a:p>
        </p:txBody>
      </p:sp>
      <p:pic>
        <p:nvPicPr>
          <p:cNvPr id="778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126" y="2884488"/>
            <a:ext cx="7102475" cy="374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44" name="Rectangle 4"/>
          <p:cNvSpPr>
            <a:spLocks noChangeArrowheads="1"/>
          </p:cNvSpPr>
          <p:nvPr/>
        </p:nvSpPr>
        <p:spPr bwMode="auto">
          <a:xfrm flipH="1">
            <a:off x="2286000" y="1524000"/>
            <a:ext cx="7467600" cy="1200150"/>
          </a:xfrm>
          <a:prstGeom prst="rect">
            <a:avLst/>
          </a:prstGeom>
          <a:solidFill>
            <a:srgbClr val="FFFF00"/>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dirty="0">
                <a:solidFill>
                  <a:schemeClr val="tx2"/>
                </a:solidFill>
              </a:rPr>
              <a:t>Lossless (</a:t>
            </a:r>
            <a:r>
              <a:rPr lang="en-US" dirty="0" err="1">
                <a:solidFill>
                  <a:schemeClr val="tx2"/>
                </a:solidFill>
              </a:rPr>
              <a:t>nonadditive</a:t>
            </a:r>
            <a:r>
              <a:rPr lang="en-US" dirty="0">
                <a:solidFill>
                  <a:schemeClr val="tx2"/>
                </a:solidFill>
              </a:rPr>
              <a:t>) join test for </a:t>
            </a:r>
            <a:r>
              <a:rPr lang="en-US" i="1" dirty="0">
                <a:solidFill>
                  <a:schemeClr val="tx2"/>
                </a:solidFill>
              </a:rPr>
              <a:t>n</a:t>
            </a:r>
            <a:r>
              <a:rPr lang="en-US" dirty="0">
                <a:solidFill>
                  <a:schemeClr val="tx2"/>
                </a:solidFill>
              </a:rPr>
              <a:t>-</a:t>
            </a:r>
            <a:r>
              <a:rPr lang="en-US" dirty="0" err="1">
                <a:solidFill>
                  <a:schemeClr val="tx2"/>
                </a:solidFill>
              </a:rPr>
              <a:t>ary</a:t>
            </a:r>
            <a:r>
              <a:rPr lang="en-US" dirty="0">
                <a:solidFill>
                  <a:schemeClr val="tx2"/>
                </a:solidFill>
              </a:rPr>
              <a:t> decompositions. </a:t>
            </a:r>
            <a:br>
              <a:rPr lang="en-US" dirty="0">
                <a:solidFill>
                  <a:schemeClr val="tx2"/>
                </a:solidFill>
              </a:rPr>
            </a:br>
            <a:r>
              <a:rPr lang="en-US" dirty="0">
                <a:solidFill>
                  <a:schemeClr val="tx2"/>
                </a:solidFill>
              </a:rPr>
              <a:t>(a) Case 1: Decomposition of EMP_PROJ into EMP_PROJ1 and EMP_LOCS fails test.</a:t>
            </a:r>
          </a:p>
          <a:p>
            <a:r>
              <a:rPr lang="en-US" dirty="0">
                <a:solidFill>
                  <a:schemeClr val="tx2"/>
                </a:solidFill>
              </a:rPr>
              <a:t>(b) A decomposition of EMP_PROJ that has the lossless join property.</a:t>
            </a:r>
          </a:p>
        </p:txBody>
      </p:sp>
    </p:spTree>
    <p:extLst>
      <p:ext uri="{BB962C8B-B14F-4D97-AF65-F5344CB8AC3E}">
        <p14:creationId xmlns:p14="http://schemas.microsoft.com/office/powerpoint/2010/main" val="3703457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Slide 11- </a:t>
            </a:r>
            <a:fld id="{396A52FF-53D9-4646-87FD-3DFAD6B75C79}" type="slidenum">
              <a:rPr lang="en-US"/>
              <a:pPr/>
              <a:t>13</a:t>
            </a:fld>
            <a:endParaRPr lang="en-CA"/>
          </a:p>
        </p:txBody>
      </p:sp>
      <p:sp>
        <p:nvSpPr>
          <p:cNvPr id="780290" name="Rectangle 2"/>
          <p:cNvSpPr>
            <a:spLocks noGrp="1" noChangeArrowheads="1"/>
          </p:cNvSpPr>
          <p:nvPr>
            <p:ph type="title"/>
          </p:nvPr>
        </p:nvSpPr>
        <p:spPr>
          <a:xfrm>
            <a:off x="437883" y="1160888"/>
            <a:ext cx="4970260" cy="951248"/>
          </a:xfrm>
        </p:spPr>
        <p:txBody>
          <a:bodyPr>
            <a:normAutofit fontScale="90000"/>
          </a:bodyPr>
          <a:lstStyle/>
          <a:p>
            <a:r>
              <a:rPr lang="en-US" sz="2700" b="1" dirty="0">
                <a:cs typeface="Times New Roman" panose="02020603050405020304" pitchFamily="18" charset="0"/>
              </a:rPr>
              <a:t>Properties of Relational Decompositions</a:t>
            </a:r>
            <a:r>
              <a:rPr lang="en-US" sz="2400" dirty="0">
                <a:cs typeface="Times New Roman" panose="02020603050405020304" pitchFamily="18" charset="0"/>
              </a:rPr>
              <a:t> </a:t>
            </a:r>
            <a:br>
              <a:rPr lang="en-US" sz="2400" dirty="0">
                <a:cs typeface="Times New Roman" panose="02020603050405020304" pitchFamily="18" charset="0"/>
              </a:rPr>
            </a:br>
            <a:endParaRPr lang="en-US" sz="2800" dirty="0"/>
          </a:p>
        </p:txBody>
      </p:sp>
      <p:pic>
        <p:nvPicPr>
          <p:cNvPr id="780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793" y="204845"/>
            <a:ext cx="7060054" cy="6092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0292" name="Text Box 4"/>
          <p:cNvSpPr txBox="1">
            <a:spLocks noChangeArrowheads="1"/>
          </p:cNvSpPr>
          <p:nvPr/>
        </p:nvSpPr>
        <p:spPr bwMode="auto">
          <a:xfrm>
            <a:off x="1777999" y="2456713"/>
            <a:ext cx="2984500" cy="1754326"/>
          </a:xfrm>
          <a:prstGeom prst="rect">
            <a:avLst/>
          </a:prstGeom>
          <a:solidFill>
            <a:srgbClr val="FFFF00"/>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dirty="0">
                <a:solidFill>
                  <a:schemeClr val="tx2"/>
                </a:solidFill>
              </a:rPr>
              <a:t>Lossless (</a:t>
            </a:r>
            <a:r>
              <a:rPr lang="en-US" dirty="0" err="1">
                <a:solidFill>
                  <a:schemeClr val="tx2"/>
                </a:solidFill>
              </a:rPr>
              <a:t>nonadditive</a:t>
            </a:r>
            <a:r>
              <a:rPr lang="en-US" dirty="0">
                <a:solidFill>
                  <a:schemeClr val="tx2"/>
                </a:solidFill>
              </a:rPr>
              <a:t>) join test for n-</a:t>
            </a:r>
            <a:r>
              <a:rPr lang="en-US" dirty="0" err="1">
                <a:solidFill>
                  <a:schemeClr val="tx2"/>
                </a:solidFill>
              </a:rPr>
              <a:t>ary</a:t>
            </a:r>
            <a:r>
              <a:rPr lang="en-US" dirty="0">
                <a:solidFill>
                  <a:schemeClr val="tx2"/>
                </a:solidFill>
              </a:rPr>
              <a:t> decompositions. </a:t>
            </a:r>
            <a:br>
              <a:rPr lang="en-US" dirty="0">
                <a:solidFill>
                  <a:schemeClr val="tx2"/>
                </a:solidFill>
              </a:rPr>
            </a:br>
            <a:r>
              <a:rPr lang="en-US" dirty="0">
                <a:solidFill>
                  <a:schemeClr val="tx2"/>
                </a:solidFill>
              </a:rPr>
              <a:t>(c) Case 2: Decomposition of EMP_PROJ into EMP, PROJECT, and WORKS_ON satisfies test.</a:t>
            </a:r>
          </a:p>
        </p:txBody>
      </p:sp>
    </p:spTree>
    <p:extLst>
      <p:ext uri="{BB962C8B-B14F-4D97-AF65-F5344CB8AC3E}">
        <p14:creationId xmlns:p14="http://schemas.microsoft.com/office/powerpoint/2010/main" val="1444649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063" y="2654422"/>
            <a:ext cx="5986100" cy="3475922"/>
          </a:xfrm>
        </p:spPr>
        <p:txBody>
          <a:bodyPr>
            <a:normAutofit fontScale="92500" lnSpcReduction="20000"/>
          </a:bodyPr>
          <a:lstStyle/>
          <a:p>
            <a:r>
              <a:rPr lang="en-US" sz="2800" b="1" dirty="0" smtClean="0"/>
              <a:t>D1(P,L,C,A)</a:t>
            </a:r>
          </a:p>
          <a:p>
            <a:r>
              <a:rPr lang="en-US" sz="2800" b="1" dirty="0" smtClean="0"/>
              <a:t>D2(A,P)</a:t>
            </a:r>
          </a:p>
          <a:p>
            <a:r>
              <a:rPr lang="en-US" sz="2800" b="1" dirty="0" smtClean="0"/>
              <a:t>D3(C,T)</a:t>
            </a:r>
          </a:p>
          <a:p>
            <a:endParaRPr lang="en-US" sz="2800" b="1" dirty="0" smtClean="0"/>
          </a:p>
          <a:p>
            <a:r>
              <a:rPr lang="en-US" sz="2600" dirty="0" smtClean="0"/>
              <a:t>P</a:t>
            </a:r>
            <a:r>
              <a:rPr lang="en-US" sz="2600" dirty="0" smtClean="0">
                <a:sym typeface="Wingdings" panose="05000000000000000000" pitchFamily="2" charset="2"/>
              </a:rPr>
              <a:t>LCA</a:t>
            </a:r>
          </a:p>
          <a:p>
            <a:r>
              <a:rPr lang="en-US" sz="2600" dirty="0" smtClean="0">
                <a:sym typeface="Wingdings" panose="05000000000000000000" pitchFamily="2" charset="2"/>
              </a:rPr>
              <a:t>AP</a:t>
            </a:r>
          </a:p>
          <a:p>
            <a:r>
              <a:rPr lang="en-US" sz="2600" dirty="0" smtClean="0">
                <a:sym typeface="Wingdings" panose="05000000000000000000" pitchFamily="2" charset="2"/>
              </a:rPr>
              <a:t>CT</a:t>
            </a:r>
          </a:p>
          <a:p>
            <a:r>
              <a:rPr lang="en-US" sz="2600" dirty="0" smtClean="0">
                <a:sym typeface="Wingdings" panose="05000000000000000000" pitchFamily="2" charset="2"/>
              </a:rPr>
              <a:t>CLAP</a:t>
            </a:r>
            <a:endParaRPr lang="en-US" sz="2600" dirty="0"/>
          </a:p>
        </p:txBody>
      </p:sp>
      <p:sp>
        <p:nvSpPr>
          <p:cNvPr id="4" name="Date Placeholder 3"/>
          <p:cNvSpPr>
            <a:spLocks noGrp="1"/>
          </p:cNvSpPr>
          <p:nvPr>
            <p:ph type="dt" sz="half" idx="10"/>
          </p:nvPr>
        </p:nvSpPr>
        <p:spPr/>
        <p:txBody>
          <a:bodyPr/>
          <a:lstStyle/>
          <a:p>
            <a:fld id="{7ACBBB6A-63CD-4A58-A542-EE5E1DBEA869}" type="datetime8">
              <a:rPr lang="en-IN" smtClean="0"/>
              <a:t>07-01-2022 09:11</a:t>
            </a:fld>
            <a:endParaRPr lang="en-IN" dirty="0"/>
          </a:p>
        </p:txBody>
      </p:sp>
      <p:pic>
        <p:nvPicPr>
          <p:cNvPr id="5" name="Picture 16" descr="fig14_12c.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2510" y="753209"/>
            <a:ext cx="7701425" cy="1809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7873935" y="788876"/>
            <a:ext cx="3281745" cy="1773468"/>
          </a:xfrm>
          <a:prstGeom prst="rect">
            <a:avLst/>
          </a:prstGeom>
        </p:spPr>
      </p:pic>
      <p:pic>
        <p:nvPicPr>
          <p:cNvPr id="7" name="Picture 20" descr="fig14_12d.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26480" y="3038490"/>
            <a:ext cx="5586242" cy="212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681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11- </a:t>
            </a:r>
            <a:fld id="{D5C05F72-B193-424B-B70B-A126A5E7C933}" type="slidenum">
              <a:rPr lang="en-US"/>
              <a:pPr/>
              <a:t>15</a:t>
            </a:fld>
            <a:endParaRPr lang="en-CA"/>
          </a:p>
        </p:txBody>
      </p:sp>
      <p:sp>
        <p:nvSpPr>
          <p:cNvPr id="782340" name="Rectangle 4"/>
          <p:cNvSpPr>
            <a:spLocks noGrp="1" noChangeArrowheads="1"/>
          </p:cNvSpPr>
          <p:nvPr>
            <p:ph type="title"/>
          </p:nvPr>
        </p:nvSpPr>
        <p:spPr/>
        <p:txBody>
          <a:bodyPr/>
          <a:lstStyle/>
          <a:p>
            <a:r>
              <a:rPr lang="en-US" dirty="0"/>
              <a:t>Properties of Relational Decompositions </a:t>
            </a:r>
          </a:p>
        </p:txBody>
      </p:sp>
      <p:sp>
        <p:nvSpPr>
          <p:cNvPr id="782341" name="Rectangle 5"/>
          <p:cNvSpPr>
            <a:spLocks noGrp="1" noChangeArrowheads="1"/>
          </p:cNvSpPr>
          <p:nvPr>
            <p:ph type="body" idx="1"/>
          </p:nvPr>
        </p:nvSpPr>
        <p:spPr/>
        <p:txBody>
          <a:bodyPr/>
          <a:lstStyle/>
          <a:p>
            <a:pPr>
              <a:lnSpc>
                <a:spcPct val="150000"/>
              </a:lnSpc>
            </a:pPr>
            <a:r>
              <a:rPr lang="en-US" b="1" dirty="0"/>
              <a:t>Testing Binary Decompositions for Lossless Join Property</a:t>
            </a:r>
          </a:p>
          <a:p>
            <a:pPr lvl="1">
              <a:lnSpc>
                <a:spcPct val="150000"/>
              </a:lnSpc>
            </a:pPr>
            <a:r>
              <a:rPr lang="en-US" b="1" dirty="0"/>
              <a:t>Binary Decomposition:</a:t>
            </a:r>
            <a:r>
              <a:rPr lang="en-US" sz="2000" dirty="0"/>
              <a:t> Decomposition of a relation R into two relations. </a:t>
            </a:r>
          </a:p>
          <a:p>
            <a:pPr lvl="1">
              <a:lnSpc>
                <a:spcPct val="150000"/>
              </a:lnSpc>
            </a:pPr>
            <a:r>
              <a:rPr lang="en-US" b="1" dirty="0"/>
              <a:t>PROPERTY LJ1 (lossless join test for binary decompositions):</a:t>
            </a:r>
            <a:r>
              <a:rPr lang="en-US" dirty="0"/>
              <a:t> </a:t>
            </a:r>
            <a:r>
              <a:rPr lang="en-US" sz="2000" dirty="0"/>
              <a:t>A decomposition D = {R1, R2} of R has the lossless join property with respect to a set of functional dependencies F on R </a:t>
            </a:r>
            <a:r>
              <a:rPr lang="en-US" sz="2000" i="1" dirty="0"/>
              <a:t>if and only if</a:t>
            </a:r>
            <a:r>
              <a:rPr lang="en-US" sz="2000" dirty="0"/>
              <a:t> either</a:t>
            </a:r>
          </a:p>
          <a:p>
            <a:pPr lvl="2">
              <a:lnSpc>
                <a:spcPct val="150000"/>
              </a:lnSpc>
            </a:pPr>
            <a:r>
              <a:rPr lang="en-US" sz="2000" dirty="0"/>
              <a:t>The </a:t>
            </a:r>
            <a:r>
              <a:rPr lang="en-US" sz="2000" dirty="0" err="1"/>
              <a:t>f.d</a:t>
            </a:r>
            <a:r>
              <a:rPr lang="en-US" sz="2000" dirty="0"/>
              <a:t>. ((R1 </a:t>
            </a:r>
            <a:r>
              <a:rPr lang="en-US" sz="2000" dirty="0">
                <a:ea typeface="ヒラギノ角ゴ Pro W3" pitchFamily="1" charset="-128"/>
              </a:rPr>
              <a:t>∩</a:t>
            </a:r>
            <a:r>
              <a:rPr lang="en-US" sz="2000" dirty="0"/>
              <a:t> R2) </a:t>
            </a:r>
            <a:r>
              <a:rPr lang="en-US" sz="2000" dirty="0">
                <a:sym typeface="Wingdings 3" panose="05040102010807070707" pitchFamily="18" charset="2"/>
              </a:rPr>
              <a:t></a:t>
            </a:r>
            <a:r>
              <a:rPr lang="en-US" sz="2000" dirty="0"/>
              <a:t> (R1- R2)) is in F</a:t>
            </a:r>
            <a:r>
              <a:rPr lang="en-US" sz="2000" baseline="30000" dirty="0"/>
              <a:t>+</a:t>
            </a:r>
            <a:r>
              <a:rPr lang="en-US" sz="2000" dirty="0"/>
              <a:t>, or</a:t>
            </a:r>
          </a:p>
          <a:p>
            <a:pPr lvl="2">
              <a:lnSpc>
                <a:spcPct val="150000"/>
              </a:lnSpc>
            </a:pPr>
            <a:r>
              <a:rPr lang="en-US" sz="2000" dirty="0"/>
              <a:t>The </a:t>
            </a:r>
            <a:r>
              <a:rPr lang="en-US" sz="2000" dirty="0" err="1"/>
              <a:t>f.d</a:t>
            </a:r>
            <a:r>
              <a:rPr lang="en-US" sz="2000" dirty="0"/>
              <a:t>. ((R1 </a:t>
            </a:r>
            <a:r>
              <a:rPr lang="en-US" sz="2000" dirty="0">
                <a:ea typeface="ヒラギノ角ゴ Pro W3" pitchFamily="1" charset="-128"/>
              </a:rPr>
              <a:t>∩</a:t>
            </a:r>
            <a:r>
              <a:rPr lang="en-US" sz="2000" dirty="0"/>
              <a:t> R2) </a:t>
            </a:r>
            <a:r>
              <a:rPr lang="en-US" sz="2000" dirty="0">
                <a:sym typeface="Wingdings 3" panose="05040102010807070707" pitchFamily="18" charset="2"/>
              </a:rPr>
              <a:t></a:t>
            </a:r>
            <a:r>
              <a:rPr lang="en-US" sz="2000" dirty="0"/>
              <a:t> (R2 - R1)) is in F</a:t>
            </a:r>
            <a:r>
              <a:rPr lang="en-US" sz="2000" baseline="30000" dirty="0"/>
              <a:t>+</a:t>
            </a:r>
            <a:r>
              <a:rPr lang="en-US" sz="2000" dirty="0"/>
              <a:t>. </a:t>
            </a:r>
          </a:p>
        </p:txBody>
      </p:sp>
    </p:spTree>
    <p:extLst>
      <p:ext uri="{BB962C8B-B14F-4D97-AF65-F5344CB8AC3E}">
        <p14:creationId xmlns:p14="http://schemas.microsoft.com/office/powerpoint/2010/main" val="3184213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1673" y="286603"/>
            <a:ext cx="10164007" cy="1450757"/>
          </a:xfrm>
        </p:spPr>
        <p:txBody>
          <a:bodyPr/>
          <a:lstStyle/>
          <a:p>
            <a:r>
              <a:rPr lang="en-US" dirty="0"/>
              <a:t>Properties of Relational Decompositions </a:t>
            </a:r>
          </a:p>
        </p:txBody>
      </p:sp>
      <p:sp>
        <p:nvSpPr>
          <p:cNvPr id="3" name="Content Placeholder 2"/>
          <p:cNvSpPr>
            <a:spLocks noGrp="1"/>
          </p:cNvSpPr>
          <p:nvPr>
            <p:ph idx="1"/>
          </p:nvPr>
        </p:nvSpPr>
        <p:spPr>
          <a:xfrm>
            <a:off x="605307" y="1845733"/>
            <a:ext cx="11346287" cy="4310367"/>
          </a:xfrm>
        </p:spPr>
        <p:txBody>
          <a:bodyPr>
            <a:normAutofit/>
          </a:bodyPr>
          <a:lstStyle/>
          <a:p>
            <a:r>
              <a:rPr lang="en-US" sz="3200" dirty="0"/>
              <a:t>Consider a schema R (A, B, C, D) and </a:t>
            </a:r>
            <a:r>
              <a:rPr lang="en-US" sz="3200" dirty="0" smtClean="0"/>
              <a:t>functional dependencies </a:t>
            </a:r>
            <a:r>
              <a:rPr lang="en-US" sz="3200" dirty="0"/>
              <a:t>A→B and C→D. Then the </a:t>
            </a:r>
            <a:r>
              <a:rPr lang="en-US" sz="3200" dirty="0" smtClean="0"/>
              <a:t>decomposition of </a:t>
            </a:r>
            <a:r>
              <a:rPr lang="en-US" sz="3200" dirty="0"/>
              <a:t>R into R1(AB) and R2(CD) </a:t>
            </a:r>
            <a:r>
              <a:rPr lang="en-US" sz="3200" dirty="0" smtClean="0"/>
              <a:t>is ____________________</a:t>
            </a:r>
          </a:p>
          <a:p>
            <a:pPr marL="0" indent="0">
              <a:lnSpc>
                <a:spcPct val="120000"/>
              </a:lnSpc>
              <a:spcBef>
                <a:spcPts val="0"/>
              </a:spcBef>
              <a:spcAft>
                <a:spcPts val="0"/>
              </a:spcAft>
              <a:buFont typeface="+mj-lt"/>
              <a:buAutoNum type="alphaUcPeriod"/>
            </a:pPr>
            <a:r>
              <a:rPr lang="en-US" sz="3200" dirty="0"/>
              <a:t>Dependency preserving and lossless </a:t>
            </a:r>
            <a:r>
              <a:rPr lang="en-US" sz="3200" dirty="0" smtClean="0"/>
              <a:t>join</a:t>
            </a:r>
            <a:endParaRPr lang="en-US" sz="3200" dirty="0"/>
          </a:p>
          <a:p>
            <a:pPr marL="0" indent="0">
              <a:lnSpc>
                <a:spcPct val="120000"/>
              </a:lnSpc>
              <a:spcBef>
                <a:spcPts val="0"/>
              </a:spcBef>
              <a:spcAft>
                <a:spcPts val="0"/>
              </a:spcAft>
              <a:buFont typeface="+mj-lt"/>
              <a:buAutoNum type="alphaUcPeriod"/>
            </a:pPr>
            <a:r>
              <a:rPr lang="en-US" sz="3200" dirty="0"/>
              <a:t>Lossless join but not dependency </a:t>
            </a:r>
            <a:r>
              <a:rPr lang="en-US" sz="3200" dirty="0" smtClean="0"/>
              <a:t>preserving</a:t>
            </a:r>
            <a:endParaRPr lang="en-US" sz="3200" dirty="0"/>
          </a:p>
          <a:p>
            <a:pPr marL="0" indent="0">
              <a:lnSpc>
                <a:spcPct val="120000"/>
              </a:lnSpc>
              <a:spcBef>
                <a:spcPts val="0"/>
              </a:spcBef>
              <a:spcAft>
                <a:spcPts val="0"/>
              </a:spcAft>
              <a:buFont typeface="+mj-lt"/>
              <a:buAutoNum type="alphaUcPeriod"/>
            </a:pPr>
            <a:r>
              <a:rPr lang="en-US" sz="3200" dirty="0"/>
              <a:t>Dependency preserving but not lossless </a:t>
            </a:r>
            <a:r>
              <a:rPr lang="en-US" sz="3200" dirty="0" smtClean="0"/>
              <a:t>join</a:t>
            </a:r>
            <a:endParaRPr lang="en-US" sz="3200" dirty="0"/>
          </a:p>
          <a:p>
            <a:pPr marL="0" indent="0">
              <a:lnSpc>
                <a:spcPct val="120000"/>
              </a:lnSpc>
              <a:spcBef>
                <a:spcPts val="0"/>
              </a:spcBef>
              <a:spcAft>
                <a:spcPts val="0"/>
              </a:spcAft>
              <a:buFont typeface="+mj-lt"/>
              <a:buAutoNum type="alphaUcPeriod"/>
            </a:pPr>
            <a:r>
              <a:rPr lang="en-US" sz="3200" dirty="0"/>
              <a:t>Not dependency preserving and not lossless join</a:t>
            </a:r>
          </a:p>
        </p:txBody>
      </p:sp>
      <p:sp>
        <p:nvSpPr>
          <p:cNvPr id="4" name="Date Placeholder 3"/>
          <p:cNvSpPr>
            <a:spLocks noGrp="1"/>
          </p:cNvSpPr>
          <p:nvPr>
            <p:ph type="dt" sz="half" idx="10"/>
          </p:nvPr>
        </p:nvSpPr>
        <p:spPr/>
        <p:txBody>
          <a:bodyPr/>
          <a:lstStyle/>
          <a:p>
            <a:fld id="{7ACBBB6A-63CD-4A58-A542-EE5E1DBEA869}" type="datetime8">
              <a:rPr lang="en-IN" smtClean="0"/>
              <a:t>07-01-2022 09:11</a:t>
            </a:fld>
            <a:endParaRPr lang="en-IN" dirty="0"/>
          </a:p>
        </p:txBody>
      </p:sp>
    </p:spTree>
    <p:extLst>
      <p:ext uri="{BB962C8B-B14F-4D97-AF65-F5344CB8AC3E}">
        <p14:creationId xmlns:p14="http://schemas.microsoft.com/office/powerpoint/2010/main" val="295542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2A03D13D-0AF5-4B48-8187-B9955F4F58BC}"/>
              </a:ext>
            </a:extLst>
          </p:cNvPr>
          <p:cNvSpPr>
            <a:spLocks noGrp="1"/>
          </p:cNvSpPr>
          <p:nvPr>
            <p:ph type="title"/>
          </p:nvPr>
        </p:nvSpPr>
        <p:spPr>
          <a:xfrm>
            <a:off x="1066800" y="2496403"/>
            <a:ext cx="10058400" cy="1450757"/>
          </a:xfrm>
        </p:spPr>
        <p:txBody>
          <a:bodyPr/>
          <a:lstStyle/>
          <a:p>
            <a:pPr algn="ctr"/>
            <a:r>
              <a:rPr lang="en-IN" dirty="0"/>
              <a:t>Thank you </a:t>
            </a:r>
          </a:p>
        </p:txBody>
      </p:sp>
      <p:sp>
        <p:nvSpPr>
          <p:cNvPr id="2" name="Date Placeholder 1"/>
          <p:cNvSpPr>
            <a:spLocks noGrp="1"/>
          </p:cNvSpPr>
          <p:nvPr>
            <p:ph type="dt" sz="half" idx="10"/>
          </p:nvPr>
        </p:nvSpPr>
        <p:spPr/>
        <p:txBody>
          <a:bodyPr/>
          <a:lstStyle/>
          <a:p>
            <a:fld id="{63EEA23F-1258-4CDD-B0AE-D7AA4C94D112}" type="datetime8">
              <a:rPr lang="en-IN" smtClean="0"/>
              <a:t>07-01-2022 09:11</a:t>
            </a:fld>
            <a:endParaRPr lang="en-IN" dirty="0"/>
          </a:p>
        </p:txBody>
      </p:sp>
    </p:spTree>
    <p:extLst>
      <p:ext uri="{BB962C8B-B14F-4D97-AF65-F5344CB8AC3E}">
        <p14:creationId xmlns:p14="http://schemas.microsoft.com/office/powerpoint/2010/main" val="54137632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1695</TotalTime>
  <Words>1010</Words>
  <Application>Microsoft Office PowerPoint</Application>
  <PresentationFormat>Widescreen</PresentationFormat>
  <Paragraphs>120</Paragraphs>
  <Slides>17</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Calibri Light</vt:lpstr>
      <vt:lpstr>Lucida Grande</vt:lpstr>
      <vt:lpstr>Symbol</vt:lpstr>
      <vt:lpstr>Times New Roman</vt:lpstr>
      <vt:lpstr>Wingdings</vt:lpstr>
      <vt:lpstr>Wingdings 3</vt:lpstr>
      <vt:lpstr>ヒラギノ角ゴ Pro W3</vt:lpstr>
      <vt:lpstr>Retrospect</vt:lpstr>
      <vt:lpstr> Course Name: Database Systems Course Code: CS52 Credits: 3:1:0 UNIT 4  Term: Oct 2021– Feb 2022 </vt:lpstr>
      <vt:lpstr>Relational Database Design Algorithms and Further Dependencies</vt:lpstr>
      <vt:lpstr>DESIGNING A SET OF RELATIONS  </vt:lpstr>
      <vt:lpstr>Properties of Relational Decompositions </vt:lpstr>
      <vt:lpstr>Properties of Relational Decompositions </vt:lpstr>
      <vt:lpstr>Properties of Relational Decompositions </vt:lpstr>
      <vt:lpstr>Properties of Relational Decompositions </vt:lpstr>
      <vt:lpstr>Properties of Relational Decompositions </vt:lpstr>
      <vt:lpstr>Properties of Relational Decompositions </vt:lpstr>
      <vt:lpstr>Properties of Relational Decompositions </vt:lpstr>
      <vt:lpstr>Properties of Relational Decompositions</vt:lpstr>
      <vt:lpstr>Properties of Relational Decompositions </vt:lpstr>
      <vt:lpstr>Properties of Relational Decompositions  </vt:lpstr>
      <vt:lpstr>PowerPoint Presentation</vt:lpstr>
      <vt:lpstr>Properties of Relational Decompositions </vt:lpstr>
      <vt:lpstr>Properties of Relational Decompositions </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Sanjeetha R</dc:creator>
  <cp:lastModifiedBy>CSE-PG</cp:lastModifiedBy>
  <cp:revision>295</cp:revision>
  <dcterms:created xsi:type="dcterms:W3CDTF">2020-08-26T05:56:20Z</dcterms:created>
  <dcterms:modified xsi:type="dcterms:W3CDTF">2022-01-07T03:47:13Z</dcterms:modified>
</cp:coreProperties>
</file>