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30"/>
  </p:notesMasterIdLst>
  <p:sldIdLst>
    <p:sldId id="409" r:id="rId2"/>
    <p:sldId id="510" r:id="rId3"/>
    <p:sldId id="513" r:id="rId4"/>
    <p:sldId id="515" r:id="rId5"/>
    <p:sldId id="517" r:id="rId6"/>
    <p:sldId id="516" r:id="rId7"/>
    <p:sldId id="518" r:id="rId8"/>
    <p:sldId id="521" r:id="rId9"/>
    <p:sldId id="520" r:id="rId10"/>
    <p:sldId id="522" r:id="rId11"/>
    <p:sldId id="524" r:id="rId12"/>
    <p:sldId id="525" r:id="rId13"/>
    <p:sldId id="526" r:id="rId14"/>
    <p:sldId id="527" r:id="rId15"/>
    <p:sldId id="528" r:id="rId16"/>
    <p:sldId id="529" r:id="rId17"/>
    <p:sldId id="540" r:id="rId18"/>
    <p:sldId id="541" r:id="rId19"/>
    <p:sldId id="542" r:id="rId20"/>
    <p:sldId id="530" r:id="rId21"/>
    <p:sldId id="531" r:id="rId22"/>
    <p:sldId id="537" r:id="rId23"/>
    <p:sldId id="539" r:id="rId24"/>
    <p:sldId id="533" r:id="rId25"/>
    <p:sldId id="534" r:id="rId26"/>
    <p:sldId id="535" r:id="rId27"/>
    <p:sldId id="536" r:id="rId28"/>
    <p:sldId id="50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8" autoAdjust="0"/>
    <p:restoredTop sz="94660"/>
  </p:normalViewPr>
  <p:slideViewPr>
    <p:cSldViewPr snapToGrid="0">
      <p:cViewPr varScale="1">
        <p:scale>
          <a:sx n="74" d="100"/>
          <a:sy n="74" d="100"/>
        </p:scale>
        <p:origin x="50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43F0-1FB2-41E4-961B-8CAB2AED1024}" type="datetimeFigureOut">
              <a:rPr lang="en-IN" smtClean="0"/>
              <a:pPr/>
              <a:t>22-12-2021</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20133-9643-4EF8-94CA-FEF99B36DC3F}" type="slidenum">
              <a:rPr lang="en-IN" smtClean="0"/>
              <a:pPr/>
              <a:t>‹#›</a:t>
            </a:fld>
            <a:endParaRPr lang="en-IN" dirty="0"/>
          </a:p>
        </p:txBody>
      </p:sp>
    </p:spTree>
    <p:extLst>
      <p:ext uri="{BB962C8B-B14F-4D97-AF65-F5344CB8AC3E}">
        <p14:creationId xmlns:p14="http://schemas.microsoft.com/office/powerpoint/2010/main" val="124400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C133D2DB-753A-426A-9108-B13AA8A47FA9}" type="slidenum">
              <a:rPr lang="en-CA" altLang="en-US" sz="1200" i="0">
                <a:latin typeface="Tahoma" panose="020B0604030504040204" pitchFamily="34" charset="0"/>
              </a:rPr>
              <a:pPr/>
              <a:t>4</a:t>
            </a:fld>
            <a:endParaRPr lang="en-CA" altLang="en-US" sz="1200" i="0">
              <a:latin typeface="Tahoma" panose="020B060403050404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smtClean="0"/>
          </a:p>
        </p:txBody>
      </p:sp>
    </p:spTree>
    <p:extLst>
      <p:ext uri="{BB962C8B-B14F-4D97-AF65-F5344CB8AC3E}">
        <p14:creationId xmlns:p14="http://schemas.microsoft.com/office/powerpoint/2010/main" val="1765343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447EA746-3424-42DC-A110-FDF365580979}" type="slidenum">
              <a:rPr lang="en-CA" altLang="en-US" sz="1200" i="0">
                <a:latin typeface="Tahoma" panose="020B0604030504040204" pitchFamily="34" charset="0"/>
              </a:rPr>
              <a:pPr/>
              <a:t>6</a:t>
            </a:fld>
            <a:endParaRPr lang="en-CA" altLang="en-US" sz="1200" i="0">
              <a:latin typeface="Tahoma" panose="020B0604030504040204" pitchFamily="34"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smtClean="0"/>
          </a:p>
        </p:txBody>
      </p:sp>
    </p:spTree>
    <p:extLst>
      <p:ext uri="{BB962C8B-B14F-4D97-AF65-F5344CB8AC3E}">
        <p14:creationId xmlns:p14="http://schemas.microsoft.com/office/powerpoint/2010/main" val="1640085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FA6E039F-3682-4620-8372-4606EA9488A7}" type="slidenum">
              <a:rPr lang="en-CA" sz="1200" i="0">
                <a:latin typeface="Tahoma" panose="020B0604030504040204" pitchFamily="34" charset="0"/>
              </a:rPr>
              <a:pPr eaLnBrk="1" hangingPunct="1"/>
              <a:t>8</a:t>
            </a:fld>
            <a:endParaRPr lang="en-CA" sz="1200" i="0">
              <a:latin typeface="Tahoma" panose="020B060403050404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3650567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0FA3998C-A841-47AD-BA64-9E90A8C8606C}" type="slidenum">
              <a:rPr lang="en-CA" altLang="en-US" sz="1200" i="0">
                <a:latin typeface="Tahoma" panose="020B0604030504040204" pitchFamily="34" charset="0"/>
              </a:rPr>
              <a:pPr/>
              <a:t>9</a:t>
            </a:fld>
            <a:endParaRPr lang="en-CA" altLang="en-US" sz="1200" i="0">
              <a:latin typeface="Tahoma" panose="020B060403050404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smtClean="0"/>
          </a:p>
        </p:txBody>
      </p:sp>
    </p:spTree>
    <p:extLst>
      <p:ext uri="{BB962C8B-B14F-4D97-AF65-F5344CB8AC3E}">
        <p14:creationId xmlns:p14="http://schemas.microsoft.com/office/powerpoint/2010/main" val="65577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902FB266-DB64-4829-B357-3A980ECB2BA6}" type="slidenum">
              <a:rPr lang="en-CA" sz="1200" i="0">
                <a:latin typeface="Tahoma" panose="020B0604030504040204" pitchFamily="34" charset="0"/>
              </a:rPr>
              <a:pPr eaLnBrk="1" hangingPunct="1"/>
              <a:t>10</a:t>
            </a:fld>
            <a:endParaRPr lang="en-CA" sz="1200" i="0">
              <a:latin typeface="Tahoma" panose="020B060403050404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338431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470B36BC-60B4-4180-857D-1051AA43A0FD}" type="slidenum">
              <a:rPr lang="en-CA" sz="1200" i="0">
                <a:latin typeface="Tahoma" panose="020B0604030504040204" pitchFamily="34" charset="0"/>
              </a:rPr>
              <a:pPr eaLnBrk="1" hangingPunct="1"/>
              <a:t>11</a:t>
            </a:fld>
            <a:endParaRPr lang="en-CA" sz="1200" i="0">
              <a:latin typeface="Tahoma" panose="020B0604030504040204"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2724375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7AC2B142-4CE5-44CD-8CE4-97FDCFE347D4}" type="slidenum">
              <a:rPr lang="en-CA" sz="1200" i="0">
                <a:latin typeface="Tahoma" panose="020B0604030504040204" pitchFamily="34" charset="0"/>
              </a:rPr>
              <a:pPr eaLnBrk="1" hangingPunct="1"/>
              <a:t>12</a:t>
            </a:fld>
            <a:endParaRPr lang="en-CA" sz="1200" i="0">
              <a:latin typeface="Tahoma" panose="020B060403050404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3986396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D509F616-2912-44F5-BDA6-CE2BD2851F38}" type="slidenum">
              <a:rPr lang="en-CA" sz="1200" i="0">
                <a:latin typeface="Tahoma" panose="020B0604030504040204" pitchFamily="34" charset="0"/>
              </a:rPr>
              <a:pPr eaLnBrk="1" hangingPunct="1"/>
              <a:t>13</a:t>
            </a:fld>
            <a:endParaRPr lang="en-CA" sz="1200" i="0">
              <a:latin typeface="Tahoma" panose="020B060403050404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1943020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605E89E1-213E-47D2-B9A8-5CE5BD39CF63}" type="slidenum">
              <a:rPr lang="en-CA" sz="1200" i="0">
                <a:latin typeface="Tahoma" panose="020B0604030504040204" pitchFamily="34" charset="0"/>
              </a:rPr>
              <a:pPr eaLnBrk="1" hangingPunct="1"/>
              <a:t>14</a:t>
            </a:fld>
            <a:endParaRPr lang="en-CA" sz="1200" i="0">
              <a:latin typeface="Tahoma" panose="020B0604030504040204" pitchFamily="34"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1588904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D1FF4BE0-5CE9-48EA-85D4-3B0468A57578}" type="slidenum">
              <a:rPr lang="en-CA" sz="1200" i="0">
                <a:latin typeface="Tahoma" panose="020B0604030504040204" pitchFamily="34" charset="0"/>
              </a:rPr>
              <a:pPr eaLnBrk="1" hangingPunct="1"/>
              <a:t>15</a:t>
            </a:fld>
            <a:endParaRPr lang="en-CA" sz="1200" i="0">
              <a:latin typeface="Tahoma" panose="020B060403050404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4045122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074BB75F-652D-4FA1-B4A1-4D1DFB9C5801}" type="slidenum">
              <a:rPr lang="en-CA" sz="1200" i="0">
                <a:latin typeface="Tahoma" panose="020B0604030504040204" pitchFamily="34" charset="0"/>
              </a:rPr>
              <a:pPr eaLnBrk="1" hangingPunct="1"/>
              <a:t>16</a:t>
            </a:fld>
            <a:endParaRPr lang="en-CA" sz="1200" i="0">
              <a:latin typeface="Tahoma" panose="020B0604030504040204" pitchFamily="34"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2721617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52788BDE-EA1D-4D83-BE44-59F4E43B99FA}" type="slidenum">
              <a:rPr lang="en-CA" sz="1200" i="0">
                <a:latin typeface="Tahoma" panose="020B0604030504040204" pitchFamily="34" charset="0"/>
              </a:rPr>
              <a:pPr eaLnBrk="1" hangingPunct="1"/>
              <a:t>20</a:t>
            </a:fld>
            <a:endParaRPr lang="en-CA" sz="1200" i="0">
              <a:latin typeface="Tahoma" panose="020B060403050404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933911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AA4C1822-D8E2-44BF-81E7-06C497F82D9D}" type="slidenum">
              <a:rPr lang="en-CA" sz="1200" i="0">
                <a:latin typeface="Tahoma" panose="020B0604030504040204" pitchFamily="34" charset="0"/>
              </a:rPr>
              <a:pPr eaLnBrk="1" hangingPunct="1"/>
              <a:t>21</a:t>
            </a:fld>
            <a:endParaRPr lang="en-CA" sz="1200" i="0">
              <a:latin typeface="Tahoma" panose="020B0604030504040204"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10406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AF21BFCD-68FB-4AF9-B9DF-D0F142E37874}" type="slidenum">
              <a:rPr lang="en-CA" altLang="en-US" sz="1200" i="0">
                <a:latin typeface="Tahoma" panose="020B0604030504040204" pitchFamily="34" charset="0"/>
              </a:rPr>
              <a:pPr/>
              <a:t>23</a:t>
            </a:fld>
            <a:endParaRPr lang="en-CA" altLang="en-US" sz="1200" i="0">
              <a:latin typeface="Tahoma" panose="020B060403050404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smtClean="0"/>
          </a:p>
        </p:txBody>
      </p:sp>
    </p:spTree>
    <p:extLst>
      <p:ext uri="{BB962C8B-B14F-4D97-AF65-F5344CB8AC3E}">
        <p14:creationId xmlns:p14="http://schemas.microsoft.com/office/powerpoint/2010/main" val="314347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5AF73BF2-13DC-4643-922B-63544B4EB432}" type="slidenum">
              <a:rPr lang="en-CA" sz="1200" i="0">
                <a:latin typeface="Tahoma" panose="020B0604030504040204" pitchFamily="34" charset="0"/>
              </a:rPr>
              <a:pPr eaLnBrk="1" hangingPunct="1"/>
              <a:t>24</a:t>
            </a:fld>
            <a:endParaRPr lang="en-CA" sz="1200" i="0">
              <a:latin typeface="Tahoma" panose="020B0604030504040204"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2337420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44C01993-D412-4310-A04E-ED40910668E5}" type="slidenum">
              <a:rPr lang="en-CA" sz="1200" i="0">
                <a:latin typeface="Tahoma" panose="020B0604030504040204" pitchFamily="34" charset="0"/>
              </a:rPr>
              <a:pPr eaLnBrk="1" hangingPunct="1"/>
              <a:t>25</a:t>
            </a:fld>
            <a:endParaRPr lang="en-CA" sz="1200" i="0">
              <a:latin typeface="Tahoma" panose="020B0604030504040204"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1747254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EC2214A8-A6B6-4731-B78B-B055CBF7F158}" type="slidenum">
              <a:rPr lang="en-CA" sz="1200" i="0">
                <a:latin typeface="Tahoma" panose="020B0604030504040204" pitchFamily="34" charset="0"/>
              </a:rPr>
              <a:pPr eaLnBrk="1" hangingPunct="1"/>
              <a:t>26</a:t>
            </a:fld>
            <a:endParaRPr lang="en-CA" sz="1200" i="0">
              <a:latin typeface="Tahoma" panose="020B0604030504040204"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2358295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fld id="{3EEC4D81-4A66-493F-891A-F05F4A87FF91}" type="slidenum">
              <a:rPr lang="en-CA" sz="1200" i="0">
                <a:latin typeface="Tahoma" panose="020B0604030504040204" pitchFamily="34" charset="0"/>
              </a:rPr>
              <a:pPr eaLnBrk="1" hangingPunct="1"/>
              <a:t>27</a:t>
            </a:fld>
            <a:endParaRPr lang="en-CA" sz="1200" i="0">
              <a:latin typeface="Tahoma" panose="020B060403050404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p>
        </p:txBody>
      </p:sp>
    </p:spTree>
    <p:extLst>
      <p:ext uri="{BB962C8B-B14F-4D97-AF65-F5344CB8AC3E}">
        <p14:creationId xmlns:p14="http://schemas.microsoft.com/office/powerpoint/2010/main" val="3805879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2AAF61-C30C-4360-8306-9A28CA4AA560}"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xmlns="" id="{C728CEA0-BA7F-4BA3-B201-6B7A8B3DF1C4}"/>
              </a:ext>
            </a:extLst>
          </p:cNvPr>
          <p:cNvPicPr>
            <a:picLocks noChangeAspect="1" noChangeArrowheads="1"/>
          </p:cNvPicPr>
          <p:nvPr userDrawn="1"/>
        </p:nvPicPr>
        <p:blipFill>
          <a:blip r:embed="rId2" cstate="print"/>
          <a:srcRect/>
          <a:stretch>
            <a:fillRect/>
          </a:stretch>
        </p:blipFill>
        <p:spPr bwMode="auto">
          <a:xfrm>
            <a:off x="0" y="-62028"/>
            <a:ext cx="2438400" cy="977205"/>
          </a:xfrm>
          <a:prstGeom prst="rect">
            <a:avLst/>
          </a:prstGeom>
          <a:noFill/>
        </p:spPr>
      </p:pic>
    </p:spTree>
    <p:extLst>
      <p:ext uri="{BB962C8B-B14F-4D97-AF65-F5344CB8AC3E}">
        <p14:creationId xmlns:p14="http://schemas.microsoft.com/office/powerpoint/2010/main" val="3847805206"/>
      </p:ext>
    </p:extLst>
  </p:cSld>
  <p:clrMapOvr>
    <a:masterClrMapping/>
  </p:clrMapOvr>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xmlns="" id="{5E2C67C7-C385-4A44-A78F-D95F8B32544D}"/>
              </a:ext>
            </a:extLst>
          </p:cNvPr>
          <p:cNvPicPr>
            <a:picLocks noChangeAspect="1" noChangeArrowheads="1"/>
          </p:cNvPicPr>
          <p:nvPr userDrawn="1"/>
        </p:nvPicPr>
        <p:blipFill>
          <a:blip r:embed="rId2" cstate="print"/>
          <a:srcRect/>
          <a:stretch>
            <a:fillRect/>
          </a:stretch>
        </p:blipFill>
        <p:spPr bwMode="auto">
          <a:xfrm>
            <a:off x="175575" y="33090"/>
            <a:ext cx="2438400" cy="977205"/>
          </a:xfrm>
          <a:prstGeom prst="rect">
            <a:avLst/>
          </a:prstGeom>
          <a:noFill/>
        </p:spPr>
      </p:pic>
    </p:spTree>
    <p:extLst>
      <p:ext uri="{BB962C8B-B14F-4D97-AF65-F5344CB8AC3E}">
        <p14:creationId xmlns:p14="http://schemas.microsoft.com/office/powerpoint/2010/main" val="378092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152CD3-54BE-43C0-99CB-21EE72E1ACBA}"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xmlns="" id="{6E4AAF7F-3876-4F6B-8901-E7673BBFDB22}"/>
              </a:ext>
            </a:extLst>
          </p:cNvPr>
          <p:cNvPicPr>
            <a:picLocks noChangeAspect="1" noChangeArrowheads="1"/>
          </p:cNvPicPr>
          <p:nvPr userDrawn="1"/>
        </p:nvPicPr>
        <p:blipFill>
          <a:blip r:embed="rId2" cstate="print"/>
          <a:srcRect/>
          <a:stretch>
            <a:fillRect/>
          </a:stretch>
        </p:blipFill>
        <p:spPr bwMode="auto">
          <a:xfrm>
            <a:off x="128441" y="33090"/>
            <a:ext cx="2438400" cy="977205"/>
          </a:xfrm>
          <a:prstGeom prst="rect">
            <a:avLst/>
          </a:prstGeom>
          <a:noFill/>
        </p:spPr>
      </p:pic>
    </p:spTree>
    <p:extLst>
      <p:ext uri="{BB962C8B-B14F-4D97-AF65-F5344CB8AC3E}">
        <p14:creationId xmlns:p14="http://schemas.microsoft.com/office/powerpoint/2010/main" val="1897998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333B85-A5FD-4A3C-A79F-095C5D7880DA}" type="datetime8">
              <a:rPr lang="en-IN" smtClean="0"/>
              <a:t>22-12-2021 09:25</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xmlns="" id="{EF3C39C1-9BAB-4C45-A144-CF8BF2E72B4B}"/>
              </a:ext>
            </a:extLst>
          </p:cNvPr>
          <p:cNvPicPr>
            <a:picLocks noChangeAspect="1" noChangeArrowheads="1"/>
          </p:cNvPicPr>
          <p:nvPr userDrawn="1"/>
        </p:nvPicPr>
        <p:blipFill>
          <a:blip r:embed="rId2" cstate="print"/>
          <a:srcRect/>
          <a:stretch>
            <a:fillRect/>
          </a:stretch>
        </p:blipFill>
        <p:spPr bwMode="auto">
          <a:xfrm>
            <a:off x="0" y="-29189"/>
            <a:ext cx="2438400" cy="977205"/>
          </a:xfrm>
          <a:prstGeom prst="rect">
            <a:avLst/>
          </a:prstGeom>
          <a:noFill/>
        </p:spPr>
      </p:pic>
    </p:spTree>
    <p:extLst>
      <p:ext uri="{BB962C8B-B14F-4D97-AF65-F5344CB8AC3E}">
        <p14:creationId xmlns:p14="http://schemas.microsoft.com/office/powerpoint/2010/main" val="9234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364A27-8EC3-405D-972C-7B6ED44B4811}" type="datetime8">
              <a:rPr lang="en-IN" smtClean="0"/>
              <a:t>22-12-2021 09:25</a:t>
            </a:fld>
            <a:endParaRPr lang="en-IN" dirty="0"/>
          </a:p>
        </p:txBody>
      </p:sp>
      <p:sp>
        <p:nvSpPr>
          <p:cNvPr id="8" name="Footer Placeholder 7"/>
          <p:cNvSpPr>
            <a:spLocks noGrp="1"/>
          </p:cNvSpPr>
          <p:nvPr>
            <p:ph type="ftr" sz="quarter" idx="11"/>
          </p:nvPr>
        </p:nvSpPr>
        <p:spPr/>
        <p:txBody>
          <a:body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xmlns="" id="{1B300F68-EEC8-479F-89B4-B66DB0F421A6}"/>
              </a:ext>
            </a:extLst>
          </p:cNvPr>
          <p:cNvPicPr>
            <a:picLocks noChangeAspect="1" noChangeArrowheads="1"/>
          </p:cNvPicPr>
          <p:nvPr userDrawn="1"/>
        </p:nvPicPr>
        <p:blipFill>
          <a:blip r:embed="rId2" cstate="print"/>
          <a:srcRect/>
          <a:stretch>
            <a:fillRect/>
          </a:stretch>
        </p:blipFill>
        <p:spPr bwMode="auto">
          <a:xfrm>
            <a:off x="119013" y="12104"/>
            <a:ext cx="2438400" cy="977205"/>
          </a:xfrm>
          <a:prstGeom prst="rect">
            <a:avLst/>
          </a:prstGeom>
          <a:noFill/>
        </p:spPr>
      </p:pic>
    </p:spTree>
    <p:extLst>
      <p:ext uri="{BB962C8B-B14F-4D97-AF65-F5344CB8AC3E}">
        <p14:creationId xmlns:p14="http://schemas.microsoft.com/office/powerpoint/2010/main" val="290810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178419-0F3F-4AA3-97D9-5C414239870C}" type="datetime8">
              <a:rPr lang="en-IN" smtClean="0"/>
              <a:t>22-12-2021 09:25</a:t>
            </a:fld>
            <a:endParaRPr lang="en-IN" dirty="0"/>
          </a:p>
        </p:txBody>
      </p:sp>
      <p:sp>
        <p:nvSpPr>
          <p:cNvPr id="4" name="Footer Placeholder 3"/>
          <p:cNvSpPr>
            <a:spLocks noGrp="1"/>
          </p:cNvSpPr>
          <p:nvPr>
            <p:ph type="ftr" sz="quarter" idx="11"/>
          </p:nvPr>
        </p:nvSpPr>
        <p:spPr/>
        <p:txBody>
          <a:bodyPr/>
          <a:lstStyle/>
          <a:p>
            <a:r>
              <a:rPr lang="en-US" dirty="0"/>
              <a:t>Department of Computer Science and Engineering</a:t>
            </a:r>
            <a:endParaRPr lang="en-IN" dirty="0"/>
          </a:p>
        </p:txBody>
      </p:sp>
      <p:sp>
        <p:nvSpPr>
          <p:cNvPr id="5" name="Slide Number Placeholder 4"/>
          <p:cNvSpPr>
            <a:spLocks noGrp="1"/>
          </p:cNvSpPr>
          <p:nvPr>
            <p:ph type="sldNum" sz="quarter" idx="12"/>
          </p:nvPr>
        </p:nvSpPr>
        <p:spPr/>
        <p:txBody>
          <a:bodyPr/>
          <a:lstStyle/>
          <a:p>
            <a:fld id="{1245FD78-8DE1-44B0-BD44-E067D054697C}" type="slidenum">
              <a:rPr lang="en-IN" smtClean="0"/>
              <a:pPr/>
              <a:t>‹#›</a:t>
            </a:fld>
            <a:endParaRPr lang="en-IN" dirty="0"/>
          </a:p>
        </p:txBody>
      </p:sp>
      <p:pic>
        <p:nvPicPr>
          <p:cNvPr id="7" name="Picture 2" descr="C:\Users\Srinidhi\Desktop\logo.png">
            <a:extLst>
              <a:ext uri="{FF2B5EF4-FFF2-40B4-BE49-F238E27FC236}">
                <a16:creationId xmlns:a16="http://schemas.microsoft.com/office/drawing/2014/main" xmlns="" id="{6720B71A-9CF9-4970-96CA-352F2D5F33C5}"/>
              </a:ext>
            </a:extLst>
          </p:cNvPr>
          <p:cNvPicPr>
            <a:picLocks noChangeAspect="1" noChangeArrowheads="1"/>
          </p:cNvPicPr>
          <p:nvPr userDrawn="1"/>
        </p:nvPicPr>
        <p:blipFill>
          <a:blip r:embed="rId2" cstate="print"/>
          <a:srcRect/>
          <a:stretch>
            <a:fillRect/>
          </a:stretch>
        </p:blipFill>
        <p:spPr bwMode="auto">
          <a:xfrm>
            <a:off x="260415" y="34776"/>
            <a:ext cx="2438400" cy="977205"/>
          </a:xfrm>
          <a:prstGeom prst="rect">
            <a:avLst/>
          </a:prstGeom>
          <a:noFill/>
        </p:spPr>
      </p:pic>
    </p:spTree>
    <p:extLst>
      <p:ext uri="{BB962C8B-B14F-4D97-AF65-F5344CB8AC3E}">
        <p14:creationId xmlns:p14="http://schemas.microsoft.com/office/powerpoint/2010/main" val="67649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785997E-827A-4CA8-8C69-9E8C429CDC12}" type="datetime8">
              <a:rPr lang="en-IN" smtClean="0"/>
              <a:t>22-12-2021 09:25</a:t>
            </a:fld>
            <a:endParaRPr lang="en-IN"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xmlns="" id="{7393EDB9-65C6-42AA-B582-C92413F0DE59}"/>
              </a:ext>
            </a:extLst>
          </p:cNvPr>
          <p:cNvPicPr>
            <a:picLocks noChangeAspect="1" noChangeArrowheads="1"/>
          </p:cNvPicPr>
          <p:nvPr userDrawn="1"/>
        </p:nvPicPr>
        <p:blipFill>
          <a:blip r:embed="rId2" cstate="print"/>
          <a:srcRect/>
          <a:stretch>
            <a:fillRect/>
          </a:stretch>
        </p:blipFill>
        <p:spPr bwMode="auto">
          <a:xfrm>
            <a:off x="137867" y="0"/>
            <a:ext cx="2438400" cy="977205"/>
          </a:xfrm>
          <a:prstGeom prst="rect">
            <a:avLst/>
          </a:prstGeom>
          <a:noFill/>
        </p:spPr>
      </p:pic>
    </p:spTree>
    <p:extLst>
      <p:ext uri="{BB962C8B-B14F-4D97-AF65-F5344CB8AC3E}">
        <p14:creationId xmlns:p14="http://schemas.microsoft.com/office/powerpoint/2010/main" val="2740474254"/>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29EA609-55E3-48F2-BB9F-62947C1A5979}" type="datetime8">
              <a:rPr lang="en-IN" smtClean="0"/>
              <a:t>22-12-2021 09:25</a:t>
            </a:fld>
            <a:endParaRPr lang="en-IN"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xmlns="" id="{6BF8E43F-406B-489A-A07B-CBBB6CD8B66C}"/>
              </a:ext>
            </a:extLst>
          </p:cNvPr>
          <p:cNvPicPr>
            <a:picLocks noChangeAspect="1" noChangeArrowheads="1"/>
          </p:cNvPicPr>
          <p:nvPr userDrawn="1"/>
        </p:nvPicPr>
        <p:blipFill>
          <a:blip r:embed="rId2" cstate="print"/>
          <a:srcRect/>
          <a:stretch>
            <a:fillRect/>
          </a:stretch>
        </p:blipFill>
        <p:spPr bwMode="auto">
          <a:xfrm>
            <a:off x="74729" y="-48825"/>
            <a:ext cx="2438400" cy="977205"/>
          </a:xfrm>
          <a:prstGeom prst="rect">
            <a:avLst/>
          </a:prstGeom>
          <a:noFill/>
        </p:spPr>
      </p:pic>
    </p:spTree>
    <p:extLst>
      <p:ext uri="{BB962C8B-B14F-4D97-AF65-F5344CB8AC3E}">
        <p14:creationId xmlns:p14="http://schemas.microsoft.com/office/powerpoint/2010/main" val="823331611"/>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76533E-7800-4DEE-8555-3730E7DA4B3E}" type="datetime8">
              <a:rPr lang="en-IN" smtClean="0"/>
              <a:t>22-12-2021 09:25</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xmlns="" id="{8D7279E7-0A06-4D9D-B018-700B7F4A3314}"/>
              </a:ext>
            </a:extLst>
          </p:cNvPr>
          <p:cNvPicPr>
            <a:picLocks noChangeAspect="1" noChangeArrowheads="1"/>
          </p:cNvPicPr>
          <p:nvPr userDrawn="1"/>
        </p:nvPicPr>
        <p:blipFill>
          <a:blip r:embed="rId3" cstate="print"/>
          <a:srcRect/>
          <a:stretch>
            <a:fillRect/>
          </a:stretch>
        </p:blipFill>
        <p:spPr bwMode="auto">
          <a:xfrm>
            <a:off x="0" y="33090"/>
            <a:ext cx="2438400" cy="977205"/>
          </a:xfrm>
          <a:prstGeom prst="rect">
            <a:avLst/>
          </a:prstGeom>
          <a:noFill/>
        </p:spPr>
      </p:pic>
    </p:spTree>
    <p:extLst>
      <p:ext uri="{BB962C8B-B14F-4D97-AF65-F5344CB8AC3E}">
        <p14:creationId xmlns:p14="http://schemas.microsoft.com/office/powerpoint/2010/main" val="322377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B06F89-5564-46E8-A08C-6D2027AEB454}"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xmlns="" id="{2BFF8954-070D-4352-AC3E-DD7D500D0A59}"/>
              </a:ext>
            </a:extLst>
          </p:cNvPr>
          <p:cNvPicPr>
            <a:picLocks noChangeAspect="1" noChangeArrowheads="1"/>
          </p:cNvPicPr>
          <p:nvPr userDrawn="1"/>
        </p:nvPicPr>
        <p:blipFill>
          <a:blip r:embed="rId2" cstate="print"/>
          <a:srcRect/>
          <a:stretch>
            <a:fillRect/>
          </a:stretch>
        </p:blipFill>
        <p:spPr bwMode="auto">
          <a:xfrm>
            <a:off x="213281" y="33090"/>
            <a:ext cx="2438400" cy="977205"/>
          </a:xfrm>
          <a:prstGeom prst="rect">
            <a:avLst/>
          </a:prstGeom>
          <a:noFill/>
        </p:spPr>
      </p:pic>
    </p:spTree>
    <p:extLst>
      <p:ext uri="{BB962C8B-B14F-4D97-AF65-F5344CB8AC3E}">
        <p14:creationId xmlns:p14="http://schemas.microsoft.com/office/powerpoint/2010/main" val="32667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99CE74-F336-4C67-BB64-1AC5C3F05789}"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0" name="Picture 2" descr="C:\Users\Srinidhi\Desktop\logo.png">
            <a:extLst>
              <a:ext uri="{FF2B5EF4-FFF2-40B4-BE49-F238E27FC236}">
                <a16:creationId xmlns:a16="http://schemas.microsoft.com/office/drawing/2014/main" xmlns="" id="{F8681246-1AFA-47C1-8723-E212F3BD6963}"/>
              </a:ext>
            </a:extLst>
          </p:cNvPr>
          <p:cNvPicPr>
            <a:picLocks noChangeAspect="1" noChangeArrowheads="1"/>
          </p:cNvPicPr>
          <p:nvPr userDrawn="1"/>
        </p:nvPicPr>
        <p:blipFill>
          <a:blip r:embed="rId2" cstate="print"/>
          <a:srcRect/>
          <a:stretch>
            <a:fillRect/>
          </a:stretch>
        </p:blipFill>
        <p:spPr bwMode="auto">
          <a:xfrm>
            <a:off x="0" y="-28927"/>
            <a:ext cx="2438400" cy="977205"/>
          </a:xfrm>
          <a:prstGeom prst="rect">
            <a:avLst/>
          </a:prstGeom>
          <a:noFill/>
        </p:spPr>
      </p:pic>
    </p:spTree>
    <p:extLst>
      <p:ext uri="{BB962C8B-B14F-4D97-AF65-F5344CB8AC3E}">
        <p14:creationId xmlns:p14="http://schemas.microsoft.com/office/powerpoint/2010/main" val="116588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8B275AF-7FCC-438A-8959-0D5B0841F50B}" type="datetime8">
              <a:rPr lang="en-IN" smtClean="0"/>
              <a:t>22-12-2021 09:25</a:t>
            </a:fld>
            <a:endParaRPr lang="en-IN"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Department of Computer Science and Engineering</a:t>
            </a:r>
            <a:endParaRPr lang="en-IN"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45FD78-8DE1-44B0-BD44-E067D054697C}" type="slidenum">
              <a:rPr lang="en-IN" smtClean="0"/>
              <a:pPr/>
              <a:t>‹#›</a:t>
            </a:fld>
            <a:endParaRPr lang="en-IN"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23883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551" y="1725769"/>
            <a:ext cx="10848974" cy="2472744"/>
          </a:xfrm>
        </p:spPr>
        <p:txBody>
          <a:bodyPr>
            <a:noAutofit/>
          </a:bodyPr>
          <a:lstStyle/>
          <a:p>
            <a:pPr algn="ctr">
              <a:lnSpc>
                <a:spcPct val="100000"/>
              </a:lnSpc>
            </a:pPr>
            <a:r>
              <a:rPr lang="en-IN" sz="2800" b="1" dirty="0"/>
              <a:t/>
            </a:r>
            <a:br>
              <a:rPr lang="en-IN" sz="2800" b="1" dirty="0"/>
            </a:br>
            <a:r>
              <a:rPr lang="en-IN" sz="3200" b="1" dirty="0" smtClean="0"/>
              <a:t>Course </a:t>
            </a:r>
            <a:r>
              <a:rPr lang="en-IN" sz="3200" b="1" dirty="0"/>
              <a:t>Name: </a:t>
            </a:r>
            <a:r>
              <a:rPr lang="en-IN" sz="3200" b="1" dirty="0" smtClean="0"/>
              <a:t>Database Systems</a:t>
            </a:r>
            <a:r>
              <a:rPr lang="en-IN" sz="3200" b="1" dirty="0"/>
              <a:t/>
            </a:r>
            <a:br>
              <a:rPr lang="en-IN" sz="3200" b="1" dirty="0"/>
            </a:br>
            <a:r>
              <a:rPr lang="en-IN" sz="3200" b="1" dirty="0" smtClean="0"/>
              <a:t>Course </a:t>
            </a:r>
            <a:r>
              <a:rPr lang="en-IN" sz="3200" b="1" dirty="0"/>
              <a:t>Code: </a:t>
            </a:r>
            <a:r>
              <a:rPr lang="en-IN" sz="3200" b="1" dirty="0" smtClean="0"/>
              <a:t>CS52</a:t>
            </a:r>
            <a:r>
              <a:rPr lang="en-IN" sz="3200" b="1" dirty="0"/>
              <a:t/>
            </a:r>
            <a:br>
              <a:rPr lang="en-IN" sz="3200" b="1" dirty="0"/>
            </a:br>
            <a:r>
              <a:rPr lang="en-IN" sz="3200" b="1" dirty="0"/>
              <a:t>Credits: </a:t>
            </a:r>
            <a:r>
              <a:rPr lang="en-IN" sz="3200" b="1" dirty="0" smtClean="0"/>
              <a:t>3:1:0</a:t>
            </a:r>
            <a:br>
              <a:rPr lang="en-IN" sz="3200" b="1" dirty="0" smtClean="0"/>
            </a:br>
            <a:r>
              <a:rPr lang="en-IN" sz="3200" b="1" dirty="0" smtClean="0"/>
              <a:t>UNIT 4</a:t>
            </a:r>
            <a:r>
              <a:rPr lang="en-IN" sz="3200" b="1" dirty="0"/>
              <a:t/>
            </a:r>
            <a:br>
              <a:rPr lang="en-IN" sz="3200" b="1" dirty="0"/>
            </a:br>
            <a:r>
              <a:rPr lang="en-IN" sz="3200" b="1" dirty="0" smtClean="0"/>
              <a:t>Term</a:t>
            </a:r>
            <a:r>
              <a:rPr lang="en-IN" sz="3200" b="1" dirty="0"/>
              <a:t>: </a:t>
            </a:r>
            <a:r>
              <a:rPr lang="en-IN" sz="3200" b="1" dirty="0" smtClean="0"/>
              <a:t>Oct 2021-Feb 2022</a:t>
            </a:r>
            <a:endParaRPr lang="en-IN" sz="2000" dirty="0"/>
          </a:p>
        </p:txBody>
      </p:sp>
      <p:sp>
        <p:nvSpPr>
          <p:cNvPr id="5" name="Title 1"/>
          <p:cNvSpPr txBox="1">
            <a:spLocks/>
          </p:cNvSpPr>
          <p:nvPr/>
        </p:nvSpPr>
        <p:spPr bwMode="auto">
          <a:xfrm>
            <a:off x="1866900" y="314146"/>
            <a:ext cx="8229600" cy="1143000"/>
          </a:xfrm>
          <a:prstGeom prst="rect">
            <a:avLst/>
          </a:prstGeom>
          <a:noFill/>
          <a:ln w="9525">
            <a:noFill/>
            <a:miter lim="800000"/>
            <a:headEnd/>
            <a:tailEnd/>
          </a:ln>
        </p:spPr>
        <p:txBody>
          <a:bodyPr anchor="ctr"/>
          <a:lstStyle/>
          <a:p>
            <a:pPr algn="ctr"/>
            <a:r>
              <a:rPr lang="en-US" sz="2000" b="1" dirty="0">
                <a:latin typeface="+mj-lt"/>
              </a:rPr>
              <a:t>M.S. Ramaiah Institute of Technology</a:t>
            </a:r>
            <a:endParaRPr lang="en-IN" sz="2000" dirty="0">
              <a:latin typeface="+mj-lt"/>
            </a:endParaRPr>
          </a:p>
          <a:p>
            <a:pPr algn="ctr"/>
            <a:r>
              <a:rPr lang="en-US" sz="2000" b="1" dirty="0">
                <a:latin typeface="+mj-lt"/>
              </a:rPr>
              <a:t>(Autonomous Institute, Affiliated to VTU)</a:t>
            </a:r>
            <a:endParaRPr lang="en-IN" sz="2000" dirty="0">
              <a:latin typeface="+mj-lt"/>
            </a:endParaRPr>
          </a:p>
          <a:p>
            <a:pPr algn="ctr"/>
            <a:r>
              <a:rPr lang="en-US" sz="2000" b="1" dirty="0">
                <a:latin typeface="+mj-lt"/>
              </a:rPr>
              <a:t>Department of Computer Science and Engineering</a:t>
            </a:r>
            <a:endParaRPr lang="en-IN" sz="2000" dirty="0">
              <a:latin typeface="+mj-lt"/>
            </a:endParaRPr>
          </a:p>
        </p:txBody>
      </p:sp>
      <p:sp>
        <p:nvSpPr>
          <p:cNvPr id="3" name="TextBox 2">
            <a:extLst>
              <a:ext uri="{FF2B5EF4-FFF2-40B4-BE49-F238E27FC236}">
                <a16:creationId xmlns:a16="http://schemas.microsoft.com/office/drawing/2014/main" xmlns="" id="{EC9641BE-B7C9-4946-A565-227D0582DC3F}"/>
              </a:ext>
            </a:extLst>
          </p:cNvPr>
          <p:cNvSpPr txBox="1"/>
          <p:nvPr/>
        </p:nvSpPr>
        <p:spPr>
          <a:xfrm>
            <a:off x="8644609" y="4772025"/>
            <a:ext cx="2997892" cy="646331"/>
          </a:xfrm>
          <a:prstGeom prst="rect">
            <a:avLst/>
          </a:prstGeom>
          <a:noFill/>
        </p:spPr>
        <p:txBody>
          <a:bodyPr wrap="square" rtlCol="0">
            <a:spAutoFit/>
          </a:bodyPr>
          <a:lstStyle/>
          <a:p>
            <a:r>
              <a:rPr lang="en-IN" dirty="0"/>
              <a:t>Faculty:</a:t>
            </a:r>
          </a:p>
          <a:p>
            <a:r>
              <a:rPr lang="en-IN" dirty="0" smtClean="0"/>
              <a:t>Sini Anna Alex</a:t>
            </a:r>
            <a:endParaRPr lang="en-IN" dirty="0"/>
          </a:p>
        </p:txBody>
      </p:sp>
    </p:spTree>
    <p:extLst>
      <p:ext uri="{BB962C8B-B14F-4D97-AF65-F5344CB8AC3E}">
        <p14:creationId xmlns:p14="http://schemas.microsoft.com/office/powerpoint/2010/main" val="30039198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Outline</a:t>
            </a:r>
            <a:endParaRPr lang="en-US" dirty="0"/>
          </a:p>
        </p:txBody>
      </p:sp>
      <p:sp>
        <p:nvSpPr>
          <p:cNvPr id="3" name="Content Placeholder 2"/>
          <p:cNvSpPr>
            <a:spLocks noGrp="1"/>
          </p:cNvSpPr>
          <p:nvPr>
            <p:ph idx="1"/>
          </p:nvPr>
        </p:nvSpPr>
        <p:spPr>
          <a:xfrm>
            <a:off x="1097279" y="2292438"/>
            <a:ext cx="10828557" cy="3576655"/>
          </a:xfrm>
        </p:spPr>
        <p:txBody>
          <a:bodyPr/>
          <a:lstStyle/>
          <a:p>
            <a:r>
              <a:rPr lang="en-US" b="1" dirty="0" smtClean="0"/>
              <a:t>1. </a:t>
            </a:r>
            <a:r>
              <a:rPr lang="en-US" altLang="en-US" sz="2400" b="1" dirty="0"/>
              <a:t>Informal Design Guidelines for Relational Databases.</a:t>
            </a:r>
            <a:r>
              <a:rPr lang="en-US" sz="2400" b="1" dirty="0"/>
              <a:t> </a:t>
            </a:r>
            <a:endParaRPr lang="en-US" sz="2400" b="1" dirty="0" smtClean="0"/>
          </a:p>
          <a:p>
            <a:r>
              <a:rPr lang="en-US" sz="2400" b="1" dirty="0" smtClean="0"/>
              <a:t>2. Basics </a:t>
            </a:r>
            <a:r>
              <a:rPr lang="en-US" sz="2400" b="1" dirty="0"/>
              <a:t>of Functional </a:t>
            </a:r>
            <a:r>
              <a:rPr lang="en-US" sz="2400" b="1" dirty="0" smtClean="0"/>
              <a:t>Dependencies</a:t>
            </a:r>
            <a:endParaRPr lang="en-US" altLang="en-US" sz="2400" b="1" dirty="0" smtClean="0"/>
          </a:p>
          <a:p>
            <a:r>
              <a:rPr lang="en-US" altLang="en-US" sz="2400" b="1" dirty="0" smtClean="0"/>
              <a:t>3. Inference Rules</a:t>
            </a:r>
            <a:endParaRPr lang="en-US" altLang="en-US" sz="2400" b="1" dirty="0"/>
          </a:p>
          <a:p>
            <a:r>
              <a:rPr lang="en-US" sz="2400" b="1" dirty="0"/>
              <a:t>4</a:t>
            </a:r>
            <a:r>
              <a:rPr lang="en-US" sz="2400" b="1" dirty="0" smtClean="0"/>
              <a:t>. Normalization </a:t>
            </a:r>
            <a:r>
              <a:rPr lang="en-US" sz="2400" b="1" dirty="0"/>
              <a:t>for Relational Databases</a:t>
            </a:r>
            <a:endParaRPr lang="en-US" dirty="0"/>
          </a:p>
        </p:txBody>
      </p:sp>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smtClean="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2</a:t>
            </a:fld>
            <a:endParaRPr lang="en-IN" dirty="0"/>
          </a:p>
        </p:txBody>
      </p:sp>
    </p:spTree>
    <p:extLst>
      <p:ext uri="{BB962C8B-B14F-4D97-AF65-F5344CB8AC3E}">
        <p14:creationId xmlns:p14="http://schemas.microsoft.com/office/powerpoint/2010/main" val="34513114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4"/>
          <p:cNvSpPr>
            <a:spLocks noGrp="1"/>
          </p:cNvSpPr>
          <p:nvPr>
            <p:ph type="title"/>
          </p:nvPr>
        </p:nvSpPr>
        <p:spPr>
          <a:xfrm>
            <a:off x="257577" y="286603"/>
            <a:ext cx="11616743" cy="1450757"/>
          </a:xfrm>
        </p:spPr>
        <p:txBody>
          <a:bodyPr>
            <a:normAutofit/>
          </a:bodyPr>
          <a:lstStyle/>
          <a:p>
            <a:r>
              <a:rPr lang="en-US" altLang="en-US" sz="4400" dirty="0" smtClean="0"/>
              <a:t>Informal Design Guidelines for Relational Databases</a:t>
            </a:r>
          </a:p>
        </p:txBody>
      </p:sp>
      <p:sp>
        <p:nvSpPr>
          <p:cNvPr id="7171" name="Content Placeholder 5"/>
          <p:cNvSpPr>
            <a:spLocks noGrp="1"/>
          </p:cNvSpPr>
          <p:nvPr>
            <p:ph idx="1"/>
          </p:nvPr>
        </p:nvSpPr>
        <p:spPr>
          <a:xfrm>
            <a:off x="1097280" y="2137892"/>
            <a:ext cx="10058400" cy="3731201"/>
          </a:xfrm>
        </p:spPr>
        <p:txBody>
          <a:bodyPr/>
          <a:lstStyle/>
          <a:p>
            <a:pPr eaLnBrk="1" hangingPunct="1"/>
            <a:r>
              <a:rPr lang="en-US" altLang="en-US" dirty="0" smtClean="0">
                <a:solidFill>
                  <a:srgbClr val="333399"/>
                </a:solidFill>
              </a:rPr>
              <a:t>What is relational database design?</a:t>
            </a:r>
          </a:p>
          <a:p>
            <a:pPr lvl="1" eaLnBrk="1" hangingPunct="1">
              <a:buClr>
                <a:srgbClr val="333399"/>
              </a:buClr>
            </a:pPr>
            <a:r>
              <a:rPr lang="en-US" altLang="en-US" dirty="0" smtClean="0"/>
              <a:t>The grouping of attributes to form "good" relation schemas</a:t>
            </a:r>
          </a:p>
          <a:p>
            <a:pPr eaLnBrk="1" hangingPunct="1"/>
            <a:r>
              <a:rPr lang="en-US" altLang="en-US" dirty="0" smtClean="0">
                <a:solidFill>
                  <a:srgbClr val="333399"/>
                </a:solidFill>
              </a:rPr>
              <a:t> Two levels of relation schemas</a:t>
            </a:r>
          </a:p>
          <a:p>
            <a:pPr lvl="1" eaLnBrk="1" hangingPunct="1">
              <a:buClr>
                <a:srgbClr val="333399"/>
              </a:buClr>
            </a:pPr>
            <a:r>
              <a:rPr lang="en-US" altLang="en-US" dirty="0" smtClean="0"/>
              <a:t>The logical "user view" level</a:t>
            </a:r>
          </a:p>
          <a:p>
            <a:pPr lvl="1" eaLnBrk="1" hangingPunct="1">
              <a:buClr>
                <a:srgbClr val="333399"/>
              </a:buClr>
            </a:pPr>
            <a:r>
              <a:rPr lang="en-US" altLang="en-US" dirty="0" smtClean="0"/>
              <a:t>The storage "base relation" level</a:t>
            </a:r>
          </a:p>
          <a:p>
            <a:pPr eaLnBrk="1" hangingPunct="1"/>
            <a:r>
              <a:rPr lang="en-US" altLang="en-US" dirty="0" smtClean="0">
                <a:solidFill>
                  <a:srgbClr val="333399"/>
                </a:solidFill>
              </a:rPr>
              <a:t> Design is concerned mainly with base relations</a:t>
            </a:r>
          </a:p>
          <a:p>
            <a:pPr eaLnBrk="1" hangingPunct="1"/>
            <a:r>
              <a:rPr lang="en-US" altLang="en-US" dirty="0" smtClean="0">
                <a:solidFill>
                  <a:srgbClr val="333399"/>
                </a:solidFill>
              </a:rPr>
              <a:t> What are the criteria for "good" base relations? </a:t>
            </a:r>
          </a:p>
          <a:p>
            <a:pPr eaLnBrk="1" hangingPunct="1"/>
            <a:endParaRPr lang="en-US" altLang="en-US" dirty="0" smtClean="0">
              <a:solidFill>
                <a:srgbClr val="333399"/>
              </a:solidFill>
            </a:endParaRPr>
          </a:p>
          <a:p>
            <a:endParaRPr lang="en-US" altLang="en-US" dirty="0" smtClean="0"/>
          </a:p>
        </p:txBody>
      </p:sp>
    </p:spTree>
    <p:extLst>
      <p:ext uri="{BB962C8B-B14F-4D97-AF65-F5344CB8AC3E}">
        <p14:creationId xmlns:p14="http://schemas.microsoft.com/office/powerpoint/2010/main" val="822639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title"/>
          </p:nvPr>
        </p:nvSpPr>
        <p:spPr>
          <a:xfrm>
            <a:off x="115910" y="286603"/>
            <a:ext cx="11039770" cy="1450757"/>
          </a:xfrm>
        </p:spPr>
        <p:txBody>
          <a:bodyPr>
            <a:normAutofit/>
          </a:bodyPr>
          <a:lstStyle/>
          <a:p>
            <a:pPr eaLnBrk="1" hangingPunct="1"/>
            <a:r>
              <a:rPr lang="en-US" altLang="en-US" sz="4000" dirty="0" smtClean="0"/>
              <a:t>Informal Design Guidelines for Relational Databases </a:t>
            </a:r>
          </a:p>
        </p:txBody>
      </p:sp>
      <p:sp>
        <p:nvSpPr>
          <p:cNvPr id="8195" name="Rectangle 7"/>
          <p:cNvSpPr>
            <a:spLocks noGrp="1" noChangeArrowheads="1"/>
          </p:cNvSpPr>
          <p:nvPr>
            <p:ph idx="1"/>
          </p:nvPr>
        </p:nvSpPr>
        <p:spPr/>
        <p:txBody>
          <a:bodyPr/>
          <a:lstStyle/>
          <a:p>
            <a:pPr eaLnBrk="1" hangingPunct="1"/>
            <a:r>
              <a:rPr lang="en-US" altLang="en-US" sz="2400" dirty="0"/>
              <a:t>We first discuss informal guidelines for good relational design</a:t>
            </a:r>
          </a:p>
          <a:p>
            <a:pPr eaLnBrk="1" hangingPunct="1"/>
            <a:r>
              <a:rPr lang="en-US" altLang="en-US" sz="2400" dirty="0"/>
              <a:t>Then we discuss formal concepts of functional dependencies and normal forms</a:t>
            </a:r>
          </a:p>
          <a:p>
            <a:pPr lvl="1" eaLnBrk="1" hangingPunct="1"/>
            <a:r>
              <a:rPr lang="en-US" altLang="en-US" sz="2200" dirty="0"/>
              <a:t>- 1NF (First Normal Form)</a:t>
            </a:r>
          </a:p>
          <a:p>
            <a:pPr lvl="1" eaLnBrk="1" hangingPunct="1"/>
            <a:r>
              <a:rPr lang="en-US" altLang="en-US" sz="2200" dirty="0"/>
              <a:t>- 2NF (Second Normal Form)</a:t>
            </a:r>
          </a:p>
          <a:p>
            <a:pPr lvl="1"/>
            <a:r>
              <a:rPr lang="en-US" altLang="en-US" sz="2200" dirty="0"/>
              <a:t>- 3NF (</a:t>
            </a:r>
            <a:r>
              <a:rPr lang="en-US" altLang="en-US" sz="2200" dirty="0" smtClean="0"/>
              <a:t>Third Normal Form</a:t>
            </a:r>
            <a:r>
              <a:rPr lang="en-US" altLang="en-US" sz="2200" dirty="0"/>
              <a:t>)</a:t>
            </a:r>
          </a:p>
          <a:p>
            <a:pPr lvl="1" eaLnBrk="1" hangingPunct="1"/>
            <a:r>
              <a:rPr lang="en-US" altLang="en-US" sz="2200" dirty="0"/>
              <a:t>- BCNF (Boyce-</a:t>
            </a:r>
            <a:r>
              <a:rPr lang="en-US" altLang="en-US" sz="2200" dirty="0" err="1"/>
              <a:t>Codd</a:t>
            </a:r>
            <a:r>
              <a:rPr lang="en-US" altLang="en-US" sz="2200" dirty="0"/>
              <a:t> Normal Form)</a:t>
            </a:r>
          </a:p>
          <a:p>
            <a:pPr eaLnBrk="1" hangingPunct="1"/>
            <a:r>
              <a:rPr lang="en-US" altLang="en-US" sz="2400" dirty="0"/>
              <a:t>Additional types of dependencies, further normal forms, relational design algorithms by synthesis </a:t>
            </a:r>
            <a:r>
              <a:rPr lang="en-US" altLang="en-US" sz="2400" dirty="0" smtClean="0"/>
              <a:t>will be discussing later</a:t>
            </a:r>
            <a:endParaRPr lang="en-US" altLang="en-US" sz="2400" dirty="0"/>
          </a:p>
        </p:txBody>
      </p:sp>
    </p:spTree>
    <p:extLst>
      <p:ext uri="{BB962C8B-B14F-4D97-AF65-F5344CB8AC3E}">
        <p14:creationId xmlns:p14="http://schemas.microsoft.com/office/powerpoint/2010/main" val="736354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34851"/>
            <a:ext cx="10931588" cy="1402509"/>
          </a:xfrm>
        </p:spPr>
        <p:txBody>
          <a:bodyPr>
            <a:normAutofit/>
          </a:bodyPr>
          <a:lstStyle/>
          <a:p>
            <a:r>
              <a:rPr lang="en-US" altLang="en-US" sz="4000" b="1" dirty="0" smtClean="0"/>
              <a:t>Informal </a:t>
            </a:r>
            <a:r>
              <a:rPr lang="en-US" altLang="en-US" sz="4000" b="1" dirty="0"/>
              <a:t>Design Guidelines for Relational </a:t>
            </a:r>
            <a:r>
              <a:rPr lang="en-US" altLang="en-US" sz="4000" b="1" dirty="0" smtClean="0"/>
              <a:t>Databases</a:t>
            </a:r>
            <a:endParaRPr lang="en-US" sz="4000" b="1" dirty="0"/>
          </a:p>
        </p:txBody>
      </p:sp>
      <p:sp>
        <p:nvSpPr>
          <p:cNvPr id="3" name="Content Placeholder 2"/>
          <p:cNvSpPr>
            <a:spLocks noGrp="1"/>
          </p:cNvSpPr>
          <p:nvPr>
            <p:ph idx="1"/>
          </p:nvPr>
        </p:nvSpPr>
        <p:spPr>
          <a:xfrm>
            <a:off x="1097280" y="2266682"/>
            <a:ext cx="10058400" cy="3602412"/>
          </a:xfrm>
        </p:spPr>
        <p:txBody>
          <a:bodyPr/>
          <a:lstStyle/>
          <a:p>
            <a:pPr lvl="1"/>
            <a:r>
              <a:rPr lang="en-US" altLang="en-US" sz="2200" dirty="0" smtClean="0"/>
              <a:t>1.1 </a:t>
            </a:r>
            <a:r>
              <a:rPr lang="en-US" altLang="en-US" sz="2200" dirty="0"/>
              <a:t>Semantics of the Relation Attributes</a:t>
            </a:r>
          </a:p>
          <a:p>
            <a:pPr lvl="1"/>
            <a:r>
              <a:rPr lang="en-US" altLang="en-US" sz="2200" dirty="0"/>
              <a:t>1.2 Redundant Information in Tuples and Update Anomalies</a:t>
            </a:r>
          </a:p>
          <a:p>
            <a:pPr lvl="1"/>
            <a:r>
              <a:rPr lang="en-US" altLang="en-US" sz="2200" dirty="0"/>
              <a:t>1.3 Null Values in Tuples</a:t>
            </a:r>
          </a:p>
          <a:p>
            <a:pPr lvl="1"/>
            <a:r>
              <a:rPr lang="en-US" altLang="en-US" sz="2200" dirty="0"/>
              <a:t>1.4 Spurious Tuples</a:t>
            </a:r>
          </a:p>
          <a:p>
            <a:endParaRPr lang="en-US" dirty="0"/>
          </a:p>
        </p:txBody>
      </p:sp>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smtClean="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5</a:t>
            </a:fld>
            <a:endParaRPr lang="en-IN" dirty="0"/>
          </a:p>
        </p:txBody>
      </p:sp>
    </p:spTree>
    <p:extLst>
      <p:ext uri="{BB962C8B-B14F-4D97-AF65-F5344CB8AC3E}">
        <p14:creationId xmlns:p14="http://schemas.microsoft.com/office/powerpoint/2010/main" val="3449868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title"/>
          </p:nvPr>
        </p:nvSpPr>
        <p:spPr>
          <a:xfrm>
            <a:off x="360609" y="286603"/>
            <a:ext cx="11578106" cy="1450757"/>
          </a:xfrm>
        </p:spPr>
        <p:txBody>
          <a:bodyPr>
            <a:normAutofit/>
          </a:bodyPr>
          <a:lstStyle/>
          <a:p>
            <a:pPr eaLnBrk="1" hangingPunct="1"/>
            <a:r>
              <a:rPr lang="en-US" altLang="en-US" sz="4000" b="1" dirty="0" smtClean="0"/>
              <a:t>1.1 Semantics of the Relational Attributes must be clear</a:t>
            </a:r>
          </a:p>
        </p:txBody>
      </p:sp>
      <p:sp>
        <p:nvSpPr>
          <p:cNvPr id="9219" name="Rectangle 7"/>
          <p:cNvSpPr>
            <a:spLocks noGrp="1" noChangeArrowheads="1"/>
          </p:cNvSpPr>
          <p:nvPr>
            <p:ph idx="1"/>
          </p:nvPr>
        </p:nvSpPr>
        <p:spPr>
          <a:xfrm>
            <a:off x="631065" y="2047741"/>
            <a:ext cx="10524615" cy="3821353"/>
          </a:xfrm>
        </p:spPr>
        <p:txBody>
          <a:bodyPr/>
          <a:lstStyle/>
          <a:p>
            <a:pPr algn="just" eaLnBrk="1" hangingPunct="1"/>
            <a:r>
              <a:rPr lang="en-US" altLang="en-US" sz="2400" dirty="0"/>
              <a:t>GUIDELINE 1: Informally, each tuple in a relation should represent one entity or relationship instance. (Applies to individual relations and their attributes).</a:t>
            </a:r>
          </a:p>
          <a:p>
            <a:pPr lvl="1" algn="just" eaLnBrk="1" hangingPunct="1"/>
            <a:r>
              <a:rPr lang="en-US" altLang="en-US" sz="2200" dirty="0"/>
              <a:t>Attributes of different entities (EMPLOYEEs, DEPARTMENTs, PROJECTs) should not be mixed in the same relation</a:t>
            </a:r>
          </a:p>
          <a:p>
            <a:pPr lvl="1" algn="just" eaLnBrk="1" hangingPunct="1"/>
            <a:r>
              <a:rPr lang="en-US" altLang="en-US" sz="2200" dirty="0"/>
              <a:t>Only foreign keys should be used to refer to other entities</a:t>
            </a:r>
          </a:p>
          <a:p>
            <a:pPr lvl="1" algn="just" eaLnBrk="1" hangingPunct="1"/>
            <a:r>
              <a:rPr lang="en-US" altLang="en-US" sz="2200" dirty="0"/>
              <a:t>Entity and relationship attributes should be kept apart as much as possible.</a:t>
            </a:r>
          </a:p>
          <a:p>
            <a:pPr algn="just" eaLnBrk="1" hangingPunct="1"/>
            <a:r>
              <a:rPr lang="en-US" altLang="en-US" sz="2400" u="sng" dirty="0"/>
              <a:t>Bottom Line:</a:t>
            </a:r>
            <a:r>
              <a:rPr lang="en-US" altLang="en-US" sz="2400" dirty="0"/>
              <a:t> </a:t>
            </a:r>
            <a:r>
              <a:rPr lang="en-US" altLang="en-US" sz="2400" i="1" dirty="0"/>
              <a:t>Design a schema that can be explained easily relation by relation. The semantics of attributes should be easy to interpret. </a:t>
            </a:r>
          </a:p>
        </p:txBody>
      </p:sp>
    </p:spTree>
    <p:extLst>
      <p:ext uri="{BB962C8B-B14F-4D97-AF65-F5344CB8AC3E}">
        <p14:creationId xmlns:p14="http://schemas.microsoft.com/office/powerpoint/2010/main" val="1414859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815678" cy="1450757"/>
          </a:xfrm>
        </p:spPr>
        <p:txBody>
          <a:bodyPr>
            <a:normAutofit/>
          </a:bodyPr>
          <a:lstStyle/>
          <a:p>
            <a:r>
              <a:rPr lang="en-US" altLang="en-US" sz="4000" dirty="0"/>
              <a:t>A simplified COMPANY relational database schema</a:t>
            </a:r>
            <a:endParaRPr lang="en-US" sz="4000" dirty="0"/>
          </a:p>
        </p:txBody>
      </p:sp>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smtClean="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7</a:t>
            </a:fld>
            <a:endParaRPr lang="en-IN" dirty="0"/>
          </a:p>
        </p:txBody>
      </p:sp>
      <p:pic>
        <p:nvPicPr>
          <p:cNvPr id="7" name="Content Placeholder 6" descr="fig14_01.jpg"/>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33415" y="1737360"/>
            <a:ext cx="3339536" cy="45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3543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6"/>
          <p:cNvSpPr>
            <a:spLocks noGrp="1" noChangeArrowheads="1"/>
          </p:cNvSpPr>
          <p:nvPr>
            <p:ph type="title"/>
          </p:nvPr>
        </p:nvSpPr>
        <p:spPr>
          <a:xfrm>
            <a:off x="373487" y="286603"/>
            <a:ext cx="11818513" cy="1450757"/>
          </a:xfrm>
        </p:spPr>
        <p:txBody>
          <a:bodyPr>
            <a:normAutofit/>
          </a:bodyPr>
          <a:lstStyle/>
          <a:p>
            <a:pPr eaLnBrk="1" hangingPunct="1"/>
            <a:r>
              <a:rPr lang="en-US" sz="4000" b="1" dirty="0" smtClean="0"/>
              <a:t>1.2 Redundant </a:t>
            </a:r>
            <a:r>
              <a:rPr lang="en-US" sz="4000" b="1" dirty="0"/>
              <a:t>Information in Tuples and Update Anomalies </a:t>
            </a:r>
          </a:p>
        </p:txBody>
      </p:sp>
      <p:sp>
        <p:nvSpPr>
          <p:cNvPr id="11268" name="Rectangle 7"/>
          <p:cNvSpPr>
            <a:spLocks noGrp="1" noChangeArrowheads="1"/>
          </p:cNvSpPr>
          <p:nvPr>
            <p:ph type="body" idx="1"/>
          </p:nvPr>
        </p:nvSpPr>
        <p:spPr/>
        <p:txBody>
          <a:bodyPr>
            <a:normAutofit/>
          </a:bodyPr>
          <a:lstStyle/>
          <a:p>
            <a:pPr lvl="1"/>
            <a:r>
              <a:rPr lang="en-US" sz="3200" dirty="0" smtClean="0"/>
              <a:t>Information </a:t>
            </a:r>
            <a:r>
              <a:rPr lang="en-US" sz="3200" dirty="0"/>
              <a:t>is stored redundantly </a:t>
            </a:r>
          </a:p>
          <a:p>
            <a:pPr lvl="1"/>
            <a:r>
              <a:rPr lang="en-US" sz="3200" dirty="0" smtClean="0"/>
              <a:t>Causes problems with update anomalies</a:t>
            </a:r>
          </a:p>
          <a:p>
            <a:pPr lvl="1"/>
            <a:r>
              <a:rPr lang="en-US" sz="3200" dirty="0" smtClean="0"/>
              <a:t>Wastes </a:t>
            </a:r>
            <a:r>
              <a:rPr lang="en-US" sz="3200" dirty="0"/>
              <a:t>storage</a:t>
            </a:r>
          </a:p>
          <a:p>
            <a:pPr lvl="2" eaLnBrk="1" hangingPunct="1"/>
            <a:r>
              <a:rPr lang="en-US" sz="2400" dirty="0" smtClean="0"/>
              <a:t>Insertion anomalies</a:t>
            </a:r>
          </a:p>
          <a:p>
            <a:pPr lvl="2" eaLnBrk="1" hangingPunct="1"/>
            <a:r>
              <a:rPr lang="en-US" sz="2400" dirty="0" smtClean="0"/>
              <a:t>Deletion anomalies</a:t>
            </a:r>
          </a:p>
          <a:p>
            <a:pPr lvl="2" eaLnBrk="1" hangingPunct="1"/>
            <a:r>
              <a:rPr lang="en-US" sz="2400" dirty="0" smtClean="0"/>
              <a:t>Modification anomalies </a:t>
            </a:r>
          </a:p>
        </p:txBody>
      </p:sp>
    </p:spTree>
    <p:extLst>
      <p:ext uri="{BB962C8B-B14F-4D97-AF65-F5344CB8AC3E}">
        <p14:creationId xmlns:p14="http://schemas.microsoft.com/office/powerpoint/2010/main" val="1869783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Grp="1" noChangeArrowheads="1"/>
          </p:cNvSpPr>
          <p:nvPr>
            <p:ph type="title"/>
          </p:nvPr>
        </p:nvSpPr>
        <p:spPr/>
        <p:txBody>
          <a:bodyPr/>
          <a:lstStyle/>
          <a:p>
            <a:pPr eaLnBrk="1" hangingPunct="1"/>
            <a:r>
              <a:rPr lang="en-US" altLang="en-US" smtClean="0"/>
              <a:t>EXAMPLE OF AN UPDATE ANOMALY</a:t>
            </a:r>
          </a:p>
        </p:txBody>
      </p:sp>
      <p:sp>
        <p:nvSpPr>
          <p:cNvPr id="12291" name="Rectangle 7"/>
          <p:cNvSpPr>
            <a:spLocks noGrp="1" noChangeArrowheads="1"/>
          </p:cNvSpPr>
          <p:nvPr>
            <p:ph idx="1"/>
          </p:nvPr>
        </p:nvSpPr>
        <p:spPr>
          <a:xfrm>
            <a:off x="1097280" y="1845734"/>
            <a:ext cx="10493706" cy="4023360"/>
          </a:xfrm>
        </p:spPr>
        <p:txBody>
          <a:bodyPr/>
          <a:lstStyle/>
          <a:p>
            <a:pPr algn="just" eaLnBrk="1" hangingPunct="1"/>
            <a:r>
              <a:rPr lang="en-US" altLang="en-US" dirty="0" smtClean="0"/>
              <a:t>Consider the relation:</a:t>
            </a:r>
          </a:p>
          <a:p>
            <a:pPr lvl="1" algn="just" eaLnBrk="1" hangingPunct="1"/>
            <a:r>
              <a:rPr lang="en-US" altLang="en-US" sz="2000" dirty="0" smtClean="0"/>
              <a:t>EMP_PROJ(</a:t>
            </a:r>
            <a:r>
              <a:rPr lang="en-US" altLang="en-US" sz="2000" dirty="0" err="1" smtClean="0"/>
              <a:t>Emp</a:t>
            </a:r>
            <a:r>
              <a:rPr lang="en-US" altLang="en-US" sz="2000" dirty="0" smtClean="0"/>
              <a:t>#, </a:t>
            </a:r>
            <a:r>
              <a:rPr lang="en-US" altLang="en-US" sz="2000" dirty="0" err="1" smtClean="0"/>
              <a:t>Proj</a:t>
            </a:r>
            <a:r>
              <a:rPr lang="en-US" altLang="en-US" sz="2000" dirty="0" smtClean="0"/>
              <a:t>#, </a:t>
            </a:r>
            <a:r>
              <a:rPr lang="en-US" altLang="en-US" sz="2000" dirty="0" err="1" smtClean="0"/>
              <a:t>Ename</a:t>
            </a:r>
            <a:r>
              <a:rPr lang="en-US" altLang="en-US" sz="2000" dirty="0" smtClean="0"/>
              <a:t>, </a:t>
            </a:r>
            <a:r>
              <a:rPr lang="en-US" altLang="en-US" sz="2000" dirty="0" err="1" smtClean="0"/>
              <a:t>Pname</a:t>
            </a:r>
            <a:r>
              <a:rPr lang="en-US" altLang="en-US" sz="2000" dirty="0" smtClean="0"/>
              <a:t>, </a:t>
            </a:r>
            <a:r>
              <a:rPr lang="en-US" altLang="en-US" sz="2000" dirty="0" err="1" smtClean="0"/>
              <a:t>No_hours</a:t>
            </a:r>
            <a:r>
              <a:rPr lang="en-US" altLang="en-US" sz="2000" dirty="0" smtClean="0"/>
              <a:t>)</a:t>
            </a:r>
          </a:p>
          <a:p>
            <a:pPr algn="just" eaLnBrk="1" hangingPunct="1"/>
            <a:r>
              <a:rPr lang="en-US" altLang="en-US" dirty="0" smtClean="0"/>
              <a:t>Update Anomaly:</a:t>
            </a:r>
          </a:p>
          <a:p>
            <a:pPr lvl="1" algn="just" eaLnBrk="1" hangingPunct="1"/>
            <a:r>
              <a:rPr lang="en-US" altLang="en-US" sz="2000" dirty="0" smtClean="0"/>
              <a:t>Changing the name of  project number P1 from “Billing” to “Customer-Accounting” may cause this update to be made for all 100 employees working on project P1. </a:t>
            </a:r>
          </a:p>
          <a:p>
            <a:pPr marL="384048" lvl="2" indent="0" algn="just">
              <a:buNone/>
            </a:pPr>
            <a:endParaRPr lang="en-IN" sz="2000" b="1" dirty="0" smtClean="0"/>
          </a:p>
          <a:p>
            <a:pPr marL="384048" lvl="2" indent="0" algn="just">
              <a:buNone/>
            </a:pPr>
            <a:r>
              <a:rPr lang="en-IN" sz="2000" b="1" dirty="0" smtClean="0"/>
              <a:t>Update </a:t>
            </a:r>
            <a:r>
              <a:rPr lang="en-IN" sz="2000" b="1" dirty="0"/>
              <a:t>Anomaly</a:t>
            </a:r>
            <a:r>
              <a:rPr lang="en-IN" sz="2000" dirty="0"/>
              <a:t>: Let say we have 10 columns in a table out of which 2 are called employee Name and employee address. Now if one employee changes it’s location then we would have to update the table. But the problem is, if the table is not normalized one employee can have multiple entries and while updating all of those entries one of them might get missed.</a:t>
            </a:r>
          </a:p>
          <a:p>
            <a:pPr lvl="2"/>
            <a:endParaRPr lang="en-US" dirty="0"/>
          </a:p>
          <a:p>
            <a:pPr lvl="1" eaLnBrk="1" hangingPunct="1"/>
            <a:endParaRPr lang="en-US" altLang="en-US" dirty="0" smtClean="0"/>
          </a:p>
        </p:txBody>
      </p:sp>
    </p:spTree>
    <p:extLst>
      <p:ext uri="{BB962C8B-B14F-4D97-AF65-F5344CB8AC3E}">
        <p14:creationId xmlns:p14="http://schemas.microsoft.com/office/powerpoint/2010/main" val="994293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6"/>
          <p:cNvSpPr>
            <a:spLocks noGrp="1" noChangeArrowheads="1"/>
          </p:cNvSpPr>
          <p:nvPr>
            <p:ph type="title"/>
          </p:nvPr>
        </p:nvSpPr>
        <p:spPr>
          <a:xfrm>
            <a:off x="1097280" y="1017431"/>
            <a:ext cx="10058400" cy="719929"/>
          </a:xfrm>
        </p:spPr>
        <p:txBody>
          <a:bodyPr>
            <a:normAutofit/>
          </a:bodyPr>
          <a:lstStyle/>
          <a:p>
            <a:pPr eaLnBrk="1" hangingPunct="1"/>
            <a:r>
              <a:rPr lang="en-US" sz="4000" dirty="0"/>
              <a:t>EXAMPLE OF AN INSERT ANOMALY</a:t>
            </a:r>
          </a:p>
        </p:txBody>
      </p:sp>
      <p:sp>
        <p:nvSpPr>
          <p:cNvPr id="14340" name="Rectangle 7"/>
          <p:cNvSpPr>
            <a:spLocks noGrp="1" noChangeArrowheads="1"/>
          </p:cNvSpPr>
          <p:nvPr>
            <p:ph type="body" idx="1"/>
          </p:nvPr>
        </p:nvSpPr>
        <p:spPr/>
        <p:txBody>
          <a:bodyPr>
            <a:normAutofit/>
          </a:bodyPr>
          <a:lstStyle/>
          <a:p>
            <a:pPr algn="just" eaLnBrk="1" hangingPunct="1"/>
            <a:r>
              <a:rPr lang="en-US" sz="2400" dirty="0" smtClean="0"/>
              <a:t>Consider the relation:</a:t>
            </a:r>
          </a:p>
          <a:p>
            <a:pPr lvl="1" algn="just" eaLnBrk="1" hangingPunct="1"/>
            <a:r>
              <a:rPr lang="en-US" sz="2400" dirty="0" smtClean="0"/>
              <a:t>EMP_PROJ(</a:t>
            </a:r>
            <a:r>
              <a:rPr lang="en-US" sz="2400" dirty="0" err="1" smtClean="0"/>
              <a:t>Emp</a:t>
            </a:r>
            <a:r>
              <a:rPr lang="en-US" sz="2400" dirty="0" smtClean="0"/>
              <a:t>#, </a:t>
            </a:r>
            <a:r>
              <a:rPr lang="en-US" sz="2400" dirty="0" err="1" smtClean="0"/>
              <a:t>Proj</a:t>
            </a:r>
            <a:r>
              <a:rPr lang="en-US" sz="2400" dirty="0" smtClean="0"/>
              <a:t>#, </a:t>
            </a:r>
            <a:r>
              <a:rPr lang="en-US" sz="2400" dirty="0" err="1" smtClean="0"/>
              <a:t>Ename</a:t>
            </a:r>
            <a:r>
              <a:rPr lang="en-US" sz="2400" dirty="0" smtClean="0"/>
              <a:t>, </a:t>
            </a:r>
            <a:r>
              <a:rPr lang="en-US" sz="2400" dirty="0" err="1" smtClean="0"/>
              <a:t>Pname</a:t>
            </a:r>
            <a:r>
              <a:rPr lang="en-US" sz="2400" dirty="0" smtClean="0"/>
              <a:t>, </a:t>
            </a:r>
            <a:r>
              <a:rPr lang="en-US" sz="2400" dirty="0" err="1" smtClean="0"/>
              <a:t>No_hours</a:t>
            </a:r>
            <a:r>
              <a:rPr lang="en-US" sz="2400" dirty="0" smtClean="0"/>
              <a:t>)</a:t>
            </a:r>
          </a:p>
          <a:p>
            <a:pPr algn="just" eaLnBrk="1" hangingPunct="1"/>
            <a:r>
              <a:rPr lang="en-US" sz="2400" dirty="0" smtClean="0"/>
              <a:t>Insert  Anomaly:</a:t>
            </a:r>
          </a:p>
          <a:p>
            <a:pPr lvl="1" algn="just" eaLnBrk="1" hangingPunct="1"/>
            <a:r>
              <a:rPr lang="en-US" sz="2400" dirty="0" smtClean="0"/>
              <a:t>Cannot insert a project unless an employee is assigned to it.</a:t>
            </a:r>
          </a:p>
          <a:p>
            <a:pPr algn="just" eaLnBrk="1" hangingPunct="1"/>
            <a:r>
              <a:rPr lang="en-US" sz="2400" dirty="0" smtClean="0"/>
              <a:t>Conversely</a:t>
            </a:r>
          </a:p>
          <a:p>
            <a:pPr lvl="1" algn="just" eaLnBrk="1" hangingPunct="1"/>
            <a:r>
              <a:rPr lang="en-US" sz="2400" dirty="0" smtClean="0"/>
              <a:t>Cannot insert an employee unless an he/she is assigned to a project.</a:t>
            </a:r>
          </a:p>
          <a:p>
            <a:pPr marL="201168" lvl="1" indent="0" algn="just" eaLnBrk="1" hangingPunct="1">
              <a:buNone/>
            </a:pPr>
            <a:r>
              <a:rPr lang="en-US" sz="2000" dirty="0" smtClean="0"/>
              <a:t> </a:t>
            </a:r>
          </a:p>
        </p:txBody>
      </p:sp>
    </p:spTree>
    <p:extLst>
      <p:ext uri="{BB962C8B-B14F-4D97-AF65-F5344CB8AC3E}">
        <p14:creationId xmlns:p14="http://schemas.microsoft.com/office/powerpoint/2010/main" val="34386164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sz="3200" dirty="0"/>
              <a:t>EXAMPLE OF AN </a:t>
            </a:r>
            <a:r>
              <a:rPr lang="en-US" sz="4000" dirty="0"/>
              <a:t>DELETE</a:t>
            </a:r>
            <a:r>
              <a:rPr lang="en-US" sz="3200" dirty="0"/>
              <a:t> ANOMALY</a:t>
            </a:r>
          </a:p>
        </p:txBody>
      </p:sp>
      <p:sp>
        <p:nvSpPr>
          <p:cNvPr id="16388" name="Rectangle 3"/>
          <p:cNvSpPr>
            <a:spLocks noGrp="1" noChangeArrowheads="1"/>
          </p:cNvSpPr>
          <p:nvPr>
            <p:ph type="body" idx="1"/>
          </p:nvPr>
        </p:nvSpPr>
        <p:spPr>
          <a:xfrm>
            <a:off x="1097279" y="1845734"/>
            <a:ext cx="10506585" cy="4023360"/>
          </a:xfrm>
        </p:spPr>
        <p:txBody>
          <a:bodyPr/>
          <a:lstStyle/>
          <a:p>
            <a:pPr algn="just" eaLnBrk="1" hangingPunct="1"/>
            <a:r>
              <a:rPr lang="en-US" dirty="0" smtClean="0"/>
              <a:t>Consider the relation:</a:t>
            </a:r>
          </a:p>
          <a:p>
            <a:pPr lvl="1" algn="just" eaLnBrk="1" hangingPunct="1"/>
            <a:r>
              <a:rPr lang="en-US" sz="2000" dirty="0" smtClean="0"/>
              <a:t>EMP_PROJ(</a:t>
            </a:r>
            <a:r>
              <a:rPr lang="en-US" sz="2000" dirty="0" err="1" smtClean="0"/>
              <a:t>Emp</a:t>
            </a:r>
            <a:r>
              <a:rPr lang="en-US" sz="2000" dirty="0" smtClean="0"/>
              <a:t>#, </a:t>
            </a:r>
            <a:r>
              <a:rPr lang="en-US" sz="2000" dirty="0" err="1" smtClean="0"/>
              <a:t>Proj</a:t>
            </a:r>
            <a:r>
              <a:rPr lang="en-US" sz="2000" dirty="0" smtClean="0"/>
              <a:t>#, </a:t>
            </a:r>
            <a:r>
              <a:rPr lang="en-US" sz="2000" dirty="0" err="1" smtClean="0"/>
              <a:t>Ename</a:t>
            </a:r>
            <a:r>
              <a:rPr lang="en-US" sz="2000" dirty="0" smtClean="0"/>
              <a:t>, </a:t>
            </a:r>
            <a:r>
              <a:rPr lang="en-US" sz="2000" dirty="0" err="1" smtClean="0"/>
              <a:t>Pname</a:t>
            </a:r>
            <a:r>
              <a:rPr lang="en-US" sz="2000" dirty="0" smtClean="0"/>
              <a:t>, </a:t>
            </a:r>
            <a:r>
              <a:rPr lang="en-US" sz="2000" dirty="0" err="1" smtClean="0"/>
              <a:t>No_hours</a:t>
            </a:r>
            <a:r>
              <a:rPr lang="en-US" sz="2000" dirty="0" smtClean="0"/>
              <a:t>)</a:t>
            </a:r>
          </a:p>
          <a:p>
            <a:pPr algn="just" eaLnBrk="1" hangingPunct="1"/>
            <a:r>
              <a:rPr lang="en-US" dirty="0" smtClean="0"/>
              <a:t>Delete Anomaly:</a:t>
            </a:r>
          </a:p>
          <a:p>
            <a:pPr lvl="1" algn="just" eaLnBrk="1" hangingPunct="1"/>
            <a:r>
              <a:rPr lang="en-US" sz="2000" dirty="0" smtClean="0"/>
              <a:t>When a project is deleted, it will result in deleting all the employees who work on that project.</a:t>
            </a:r>
          </a:p>
          <a:p>
            <a:pPr lvl="1" algn="just" eaLnBrk="1" hangingPunct="1"/>
            <a:r>
              <a:rPr lang="en-US" sz="2000" dirty="0" smtClean="0"/>
              <a:t>Alternately, if an employee is the sole employee on a project, deleting that employee would result in deleting the corresponding project.</a:t>
            </a:r>
          </a:p>
          <a:p>
            <a:pPr lvl="1" algn="just"/>
            <a:r>
              <a:rPr lang="en-IN" sz="2000" b="1" dirty="0"/>
              <a:t>Deletion Anomaly</a:t>
            </a:r>
            <a:r>
              <a:rPr lang="en-IN" sz="2000" dirty="0"/>
              <a:t>: This anomaly indicates unnecessary deletion of important information from the table. Let’s say we have student’s information and courses they have taken as follows (student </a:t>
            </a:r>
            <a:r>
              <a:rPr lang="en-IN" sz="2000" dirty="0" err="1"/>
              <a:t>ID,Student</a:t>
            </a:r>
            <a:r>
              <a:rPr lang="en-IN" sz="2000" dirty="0"/>
              <a:t> Name, Course, address). If any student leaves the school then the entry related to that student will be deleted. However, that deletion will also delete the course information even though course depends upon the school and not the student.</a:t>
            </a:r>
          </a:p>
          <a:p>
            <a:pPr lvl="1" eaLnBrk="1" hangingPunct="1"/>
            <a:endParaRPr lang="en-US" dirty="0" smtClean="0"/>
          </a:p>
          <a:p>
            <a:pPr eaLnBrk="1" hangingPunct="1"/>
            <a:endParaRPr lang="en-US" dirty="0" smtClean="0"/>
          </a:p>
        </p:txBody>
      </p:sp>
    </p:spTree>
    <p:extLst>
      <p:ext uri="{BB962C8B-B14F-4D97-AF65-F5344CB8AC3E}">
        <p14:creationId xmlns:p14="http://schemas.microsoft.com/office/powerpoint/2010/main" val="9897161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9"/>
          <p:cNvSpPr>
            <a:spLocks noGrp="1" noChangeArrowheads="1"/>
          </p:cNvSpPr>
          <p:nvPr>
            <p:ph type="title"/>
          </p:nvPr>
        </p:nvSpPr>
        <p:spPr/>
        <p:txBody>
          <a:bodyPr/>
          <a:lstStyle/>
          <a:p>
            <a:pPr eaLnBrk="1" hangingPunct="1"/>
            <a:r>
              <a:rPr lang="en-US" sz="3200" dirty="0"/>
              <a:t>Figure </a:t>
            </a:r>
            <a:r>
              <a:rPr lang="en-US" sz="3200" dirty="0" smtClean="0"/>
              <a:t>: Two </a:t>
            </a:r>
            <a:r>
              <a:rPr lang="en-US" sz="3200" dirty="0"/>
              <a:t>relation schemas suffering from update anomalies</a:t>
            </a:r>
          </a:p>
        </p:txBody>
      </p:sp>
      <p:sp>
        <p:nvSpPr>
          <p:cNvPr id="18436" name="Rectangle 4"/>
          <p:cNvSpPr>
            <a:spLocks noChangeArrowheads="1"/>
          </p:cNvSpPr>
          <p:nvPr/>
        </p:nvSpPr>
        <p:spPr bwMode="auto">
          <a:xfrm>
            <a:off x="3352800" y="13096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i="1">
                <a:solidFill>
                  <a:schemeClr val="tx1"/>
                </a:solidFill>
                <a:latin typeface="Arial" panose="020B0604020202020204" pitchFamily="34" charset="0"/>
              </a:defRPr>
            </a:lvl1pPr>
            <a:lvl2pPr marL="742950" indent="-285750" eaLnBrk="0" hangingPunct="0">
              <a:defRPr sz="2400" i="1">
                <a:solidFill>
                  <a:schemeClr val="tx1"/>
                </a:solidFill>
                <a:latin typeface="Arial" panose="020B0604020202020204" pitchFamily="34" charset="0"/>
              </a:defRPr>
            </a:lvl2pPr>
            <a:lvl3pPr marL="1143000" indent="-228600" eaLnBrk="0" hangingPunct="0">
              <a:defRPr sz="2400" i="1">
                <a:solidFill>
                  <a:schemeClr val="tx1"/>
                </a:solidFill>
                <a:latin typeface="Arial" panose="020B0604020202020204" pitchFamily="34" charset="0"/>
              </a:defRPr>
            </a:lvl3pPr>
            <a:lvl4pPr marL="1600200" indent="-228600" eaLnBrk="0" hangingPunct="0">
              <a:defRPr sz="2400" i="1">
                <a:solidFill>
                  <a:schemeClr val="tx1"/>
                </a:solidFill>
                <a:latin typeface="Arial" panose="020B0604020202020204" pitchFamily="34" charset="0"/>
              </a:defRPr>
            </a:lvl4pPr>
            <a:lvl5pPr marL="2057400" indent="-228600" eaLnBrk="0" hangingPunct="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endParaRPr lang="en-IN"/>
          </a:p>
        </p:txBody>
      </p:sp>
      <p:pic>
        <p:nvPicPr>
          <p:cNvPr id="18437" name="Picture 11" descr="fig10_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026" y="2057400"/>
            <a:ext cx="8207375"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9167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6"/>
          <p:cNvSpPr>
            <a:spLocks noGrp="1" noChangeArrowheads="1"/>
          </p:cNvSpPr>
          <p:nvPr>
            <p:ph type="title"/>
          </p:nvPr>
        </p:nvSpPr>
        <p:spPr/>
        <p:txBody>
          <a:bodyPr>
            <a:normAutofit/>
          </a:bodyPr>
          <a:lstStyle/>
          <a:p>
            <a:pPr eaLnBrk="1" hangingPunct="1"/>
            <a:r>
              <a:rPr lang="en-US" sz="4000" dirty="0"/>
              <a:t>Guideline to Redundant Information in Tuples and Update Anomalies</a:t>
            </a:r>
          </a:p>
        </p:txBody>
      </p:sp>
      <p:sp>
        <p:nvSpPr>
          <p:cNvPr id="20484" name="Rectangle 7"/>
          <p:cNvSpPr>
            <a:spLocks noGrp="1" noChangeArrowheads="1"/>
          </p:cNvSpPr>
          <p:nvPr>
            <p:ph type="body" idx="1"/>
          </p:nvPr>
        </p:nvSpPr>
        <p:spPr/>
        <p:txBody>
          <a:bodyPr>
            <a:normAutofit/>
          </a:bodyPr>
          <a:lstStyle/>
          <a:p>
            <a:pPr eaLnBrk="1" hangingPunct="1"/>
            <a:r>
              <a:rPr lang="en-US" sz="2400" b="1" dirty="0" smtClean="0"/>
              <a:t>GUIDELINE 2: </a:t>
            </a:r>
          </a:p>
          <a:p>
            <a:pPr lvl="1" eaLnBrk="1" hangingPunct="1"/>
            <a:r>
              <a:rPr lang="en-US" sz="2400" dirty="0" smtClean="0"/>
              <a:t>Design a schema that does not suffer from the insertion, deletion and update anomalies.</a:t>
            </a:r>
          </a:p>
          <a:p>
            <a:pPr lvl="1" eaLnBrk="1" hangingPunct="1"/>
            <a:r>
              <a:rPr lang="en-US" sz="2400" dirty="0" smtClean="0"/>
              <a:t>If there are any anomalies present, then note them so that applications can be made to take them into account. </a:t>
            </a:r>
          </a:p>
        </p:txBody>
      </p:sp>
    </p:spTree>
    <p:extLst>
      <p:ext uri="{BB962C8B-B14F-4D97-AF65-F5344CB8AC3E}">
        <p14:creationId xmlns:p14="http://schemas.microsoft.com/office/powerpoint/2010/main" val="3705719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6"/>
          <p:cNvSpPr>
            <a:spLocks noGrp="1" noChangeArrowheads="1"/>
          </p:cNvSpPr>
          <p:nvPr>
            <p:ph type="title"/>
          </p:nvPr>
        </p:nvSpPr>
        <p:spPr/>
        <p:txBody>
          <a:bodyPr/>
          <a:lstStyle/>
          <a:p>
            <a:pPr eaLnBrk="1" hangingPunct="1"/>
            <a:r>
              <a:rPr lang="en-US" dirty="0" smtClean="0"/>
              <a:t>Null Values in Tuples </a:t>
            </a:r>
          </a:p>
        </p:txBody>
      </p:sp>
      <p:sp>
        <p:nvSpPr>
          <p:cNvPr id="21508" name="Rectangle 7"/>
          <p:cNvSpPr>
            <a:spLocks noGrp="1" noChangeArrowheads="1"/>
          </p:cNvSpPr>
          <p:nvPr>
            <p:ph type="body" idx="1"/>
          </p:nvPr>
        </p:nvSpPr>
        <p:spPr/>
        <p:txBody>
          <a:bodyPr>
            <a:normAutofit/>
          </a:bodyPr>
          <a:lstStyle/>
          <a:p>
            <a:pPr algn="just" eaLnBrk="1" hangingPunct="1"/>
            <a:r>
              <a:rPr lang="en-US" sz="2400" b="1" dirty="0" smtClean="0"/>
              <a:t>GUIDELINE 3:</a:t>
            </a:r>
          </a:p>
          <a:p>
            <a:pPr lvl="1" algn="just" eaLnBrk="1" hangingPunct="1"/>
            <a:r>
              <a:rPr lang="en-US" sz="2400" dirty="0" smtClean="0"/>
              <a:t>Relations should be designed such that their tuples will have as few NULL values as possible</a:t>
            </a:r>
          </a:p>
          <a:p>
            <a:pPr lvl="1" algn="just" eaLnBrk="1" hangingPunct="1"/>
            <a:r>
              <a:rPr lang="en-US" sz="2400" dirty="0" smtClean="0"/>
              <a:t>Attributes that are NULL frequently could be placed in separate relations (with the primary key)</a:t>
            </a:r>
          </a:p>
          <a:p>
            <a:pPr algn="just" eaLnBrk="1" hangingPunct="1"/>
            <a:r>
              <a:rPr lang="en-US" sz="2400" dirty="0" smtClean="0"/>
              <a:t> Reasons for nulls:</a:t>
            </a:r>
          </a:p>
          <a:p>
            <a:pPr lvl="1" algn="just" eaLnBrk="1" hangingPunct="1"/>
            <a:r>
              <a:rPr lang="en-US" sz="2400" dirty="0" smtClean="0"/>
              <a:t>Attribute not applicable or invalid</a:t>
            </a:r>
          </a:p>
          <a:p>
            <a:pPr lvl="1" algn="just" eaLnBrk="1" hangingPunct="1"/>
            <a:r>
              <a:rPr lang="en-US" sz="2400" dirty="0" smtClean="0"/>
              <a:t>Attribute value unknown  (may exist)</a:t>
            </a:r>
          </a:p>
          <a:p>
            <a:pPr lvl="1" algn="just" eaLnBrk="1" hangingPunct="1"/>
            <a:r>
              <a:rPr lang="en-US" sz="2400" dirty="0" smtClean="0"/>
              <a:t>Value known to exist, but unavailable </a:t>
            </a:r>
          </a:p>
        </p:txBody>
      </p:sp>
    </p:spTree>
    <p:extLst>
      <p:ext uri="{BB962C8B-B14F-4D97-AF65-F5344CB8AC3E}">
        <p14:creationId xmlns:p14="http://schemas.microsoft.com/office/powerpoint/2010/main" val="1549722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6"/>
          <p:cNvSpPr>
            <a:spLocks noGrp="1" noChangeArrowheads="1"/>
          </p:cNvSpPr>
          <p:nvPr>
            <p:ph type="title"/>
          </p:nvPr>
        </p:nvSpPr>
        <p:spPr>
          <a:xfrm>
            <a:off x="957329" y="979655"/>
            <a:ext cx="7796213" cy="824247"/>
          </a:xfrm>
        </p:spPr>
        <p:txBody>
          <a:bodyPr>
            <a:normAutofit/>
          </a:bodyPr>
          <a:lstStyle/>
          <a:p>
            <a:pPr eaLnBrk="1" hangingPunct="1"/>
            <a:r>
              <a:rPr lang="en-US" dirty="0" smtClean="0"/>
              <a:t>Spurious Tuples </a:t>
            </a:r>
          </a:p>
        </p:txBody>
      </p:sp>
      <p:sp>
        <p:nvSpPr>
          <p:cNvPr id="22532" name="Rectangle 7"/>
          <p:cNvSpPr>
            <a:spLocks noGrp="1" noChangeArrowheads="1"/>
          </p:cNvSpPr>
          <p:nvPr>
            <p:ph type="body" idx="1"/>
          </p:nvPr>
        </p:nvSpPr>
        <p:spPr>
          <a:xfrm>
            <a:off x="957329" y="1933552"/>
            <a:ext cx="10839719" cy="4042245"/>
          </a:xfrm>
        </p:spPr>
        <p:txBody>
          <a:bodyPr/>
          <a:lstStyle/>
          <a:p>
            <a:pPr algn="just" eaLnBrk="1" hangingPunct="1">
              <a:lnSpc>
                <a:spcPct val="90000"/>
              </a:lnSpc>
            </a:pPr>
            <a:r>
              <a:rPr lang="en-US" dirty="0" smtClean="0"/>
              <a:t>Bad designs for a relational database may result in erroneous results for certain JOIN operations</a:t>
            </a:r>
          </a:p>
          <a:p>
            <a:pPr algn="just" eaLnBrk="1" hangingPunct="1">
              <a:lnSpc>
                <a:spcPct val="90000"/>
              </a:lnSpc>
            </a:pPr>
            <a:r>
              <a:rPr lang="en-US" dirty="0" smtClean="0"/>
              <a:t>The "lossless join" property is used to guarantee meaningful results for join operations. </a:t>
            </a:r>
          </a:p>
          <a:p>
            <a:pPr algn="just" eaLnBrk="1" hangingPunct="1">
              <a:lnSpc>
                <a:spcPct val="90000"/>
              </a:lnSpc>
            </a:pPr>
            <a:r>
              <a:rPr lang="en-IN" dirty="0" smtClean="0"/>
              <a:t>A “</a:t>
            </a:r>
            <a:r>
              <a:rPr lang="en-IN" b="1" dirty="0" smtClean="0"/>
              <a:t>tuple</a:t>
            </a:r>
            <a:r>
              <a:rPr lang="en-IN" dirty="0" smtClean="0"/>
              <a:t>” is a record in a database: a row in a spreadsheet. </a:t>
            </a:r>
            <a:endParaRPr lang="en-IN" dirty="0"/>
          </a:p>
          <a:p>
            <a:pPr algn="just" eaLnBrk="1" hangingPunct="1">
              <a:lnSpc>
                <a:spcPct val="90000"/>
              </a:lnSpc>
            </a:pPr>
            <a:r>
              <a:rPr lang="en-IN" dirty="0" smtClean="0"/>
              <a:t>A </a:t>
            </a:r>
            <a:r>
              <a:rPr lang="en-IN" b="1" dirty="0" smtClean="0"/>
              <a:t>spurious tuple</a:t>
            </a:r>
            <a:r>
              <a:rPr lang="en-IN" dirty="0" smtClean="0"/>
              <a:t> is, basically, a record in a database that </a:t>
            </a:r>
            <a:r>
              <a:rPr lang="en-IN" sz="2400" dirty="0" smtClean="0"/>
              <a:t>gets</a:t>
            </a:r>
            <a:r>
              <a:rPr lang="en-IN" dirty="0" smtClean="0"/>
              <a:t> created when two tables are joined badly. In database, </a:t>
            </a:r>
            <a:r>
              <a:rPr lang="en-IN" b="1" dirty="0" smtClean="0"/>
              <a:t>spurious tuples</a:t>
            </a:r>
            <a:r>
              <a:rPr lang="en-IN" dirty="0" smtClean="0"/>
              <a:t> are created when two tables are joined on attributes that are neither primary keys nor foreign keys.</a:t>
            </a:r>
            <a:r>
              <a:rPr lang="en-US" dirty="0" smtClean="0"/>
              <a:t> </a:t>
            </a:r>
          </a:p>
          <a:p>
            <a:pPr algn="just" eaLnBrk="1" hangingPunct="1">
              <a:lnSpc>
                <a:spcPct val="90000"/>
              </a:lnSpc>
            </a:pPr>
            <a:r>
              <a:rPr lang="en-US" b="1" dirty="0" smtClean="0"/>
              <a:t>GUIDELINE 4:</a:t>
            </a:r>
          </a:p>
          <a:p>
            <a:pPr lvl="1" algn="just" eaLnBrk="1" hangingPunct="1">
              <a:lnSpc>
                <a:spcPct val="90000"/>
              </a:lnSpc>
            </a:pPr>
            <a:r>
              <a:rPr lang="en-US" sz="2000" dirty="0" smtClean="0"/>
              <a:t>The relations should be designed to satisfy the lossless join condition.</a:t>
            </a:r>
          </a:p>
          <a:p>
            <a:pPr lvl="1" algn="just" eaLnBrk="1" hangingPunct="1">
              <a:lnSpc>
                <a:spcPct val="90000"/>
              </a:lnSpc>
            </a:pPr>
            <a:r>
              <a:rPr lang="en-US" sz="2000" dirty="0" smtClean="0"/>
              <a:t>No spurious tuples should be generated by doing a natural-join of any relations.</a:t>
            </a:r>
          </a:p>
          <a:p>
            <a:pPr eaLnBrk="1" hangingPunct="1">
              <a:lnSpc>
                <a:spcPct val="90000"/>
              </a:lnSpc>
            </a:pPr>
            <a:endParaRPr lang="en-US" dirty="0" smtClean="0"/>
          </a:p>
        </p:txBody>
      </p:sp>
    </p:spTree>
    <p:extLst>
      <p:ext uri="{BB962C8B-B14F-4D97-AF65-F5344CB8AC3E}">
        <p14:creationId xmlns:p14="http://schemas.microsoft.com/office/powerpoint/2010/main" val="1775904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6"/>
          <p:cNvSpPr>
            <a:spLocks noGrp="1" noChangeArrowheads="1"/>
          </p:cNvSpPr>
          <p:nvPr>
            <p:ph type="title"/>
          </p:nvPr>
        </p:nvSpPr>
        <p:spPr/>
        <p:txBody>
          <a:bodyPr/>
          <a:lstStyle/>
          <a:p>
            <a:pPr eaLnBrk="1" hangingPunct="1"/>
            <a:r>
              <a:rPr lang="en-US" dirty="0" smtClean="0"/>
              <a:t>Spurious Tuples contd.. </a:t>
            </a:r>
          </a:p>
        </p:txBody>
      </p:sp>
      <p:sp>
        <p:nvSpPr>
          <p:cNvPr id="23556" name="Rectangle 7"/>
          <p:cNvSpPr>
            <a:spLocks noGrp="1" noChangeArrowheads="1"/>
          </p:cNvSpPr>
          <p:nvPr>
            <p:ph type="body" idx="1"/>
          </p:nvPr>
        </p:nvSpPr>
        <p:spPr/>
        <p:txBody>
          <a:bodyPr/>
          <a:lstStyle/>
          <a:p>
            <a:pPr marL="457200" indent="-457200"/>
            <a:r>
              <a:rPr lang="en-US" sz="2400" dirty="0"/>
              <a:t>There are two important properties of decompositions: </a:t>
            </a:r>
          </a:p>
          <a:p>
            <a:pPr marL="876300" lvl="1" indent="-419100">
              <a:buFont typeface="Wingdings" panose="05000000000000000000" pitchFamily="2" charset="2"/>
              <a:buAutoNum type="alphaLcParenR"/>
            </a:pPr>
            <a:r>
              <a:rPr lang="en-US" sz="2200" dirty="0"/>
              <a:t>Non-additive or </a:t>
            </a:r>
            <a:r>
              <a:rPr lang="en-US" sz="2200" dirty="0" err="1"/>
              <a:t>losslessness</a:t>
            </a:r>
            <a:r>
              <a:rPr lang="en-US" sz="2200" dirty="0"/>
              <a:t> of the corresponding join</a:t>
            </a:r>
          </a:p>
          <a:p>
            <a:pPr marL="876300" lvl="1" indent="-419100">
              <a:buFont typeface="Wingdings" panose="05000000000000000000" pitchFamily="2" charset="2"/>
              <a:buAutoNum type="alphaLcParenR"/>
            </a:pPr>
            <a:r>
              <a:rPr lang="en-US" sz="2200" dirty="0"/>
              <a:t>Preservation of the functional dependencies. </a:t>
            </a:r>
          </a:p>
          <a:p>
            <a:pPr marL="457200" indent="-457200"/>
            <a:endParaRPr lang="en-US" sz="2400" dirty="0"/>
          </a:p>
          <a:p>
            <a:pPr marL="457200" indent="-457200"/>
            <a:r>
              <a:rPr lang="en-US" sz="2400" dirty="0"/>
              <a:t>Note that:</a:t>
            </a:r>
          </a:p>
          <a:p>
            <a:pPr marL="876300" lvl="1" indent="-419100"/>
            <a:r>
              <a:rPr lang="en-US" sz="2200" dirty="0"/>
              <a:t>Property (a) is extremely important and </a:t>
            </a:r>
            <a:r>
              <a:rPr lang="en-US" sz="2200" i="1" dirty="0"/>
              <a:t>cannot</a:t>
            </a:r>
            <a:r>
              <a:rPr lang="en-US" sz="2200" dirty="0"/>
              <a:t> be sacrificed.</a:t>
            </a:r>
          </a:p>
          <a:p>
            <a:pPr marL="876300" lvl="1" indent="-419100"/>
            <a:r>
              <a:rPr lang="en-US" sz="2200" dirty="0"/>
              <a:t>Property (b) is less stringent and may be sacrificed. </a:t>
            </a:r>
          </a:p>
        </p:txBody>
      </p:sp>
    </p:spTree>
    <p:extLst>
      <p:ext uri="{BB962C8B-B14F-4D97-AF65-F5344CB8AC3E}">
        <p14:creationId xmlns:p14="http://schemas.microsoft.com/office/powerpoint/2010/main" val="2517032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Guidelines - summary</a:t>
            </a:r>
            <a:endParaRPr lang="en-US" dirty="0"/>
          </a:p>
        </p:txBody>
      </p:sp>
      <p:sp>
        <p:nvSpPr>
          <p:cNvPr id="3" name="Content Placeholder 2"/>
          <p:cNvSpPr>
            <a:spLocks noGrp="1"/>
          </p:cNvSpPr>
          <p:nvPr>
            <p:ph idx="1"/>
          </p:nvPr>
        </p:nvSpPr>
        <p:spPr>
          <a:xfrm>
            <a:off x="1097280" y="1880314"/>
            <a:ext cx="10519464" cy="4224271"/>
          </a:xfrm>
        </p:spPr>
        <p:txBody>
          <a:bodyPr/>
          <a:lstStyle/>
          <a:p>
            <a:r>
              <a:rPr lang="en-US" b="1" dirty="0">
                <a:latin typeface="Times New Roman" panose="02020603050405020304" pitchFamily="18" charset="0"/>
                <a:cs typeface="Times New Roman" panose="02020603050405020304" pitchFamily="18" charset="0"/>
              </a:rPr>
              <a:t>GUIDELINE 1: </a:t>
            </a:r>
            <a:r>
              <a:rPr lang="en-US" dirty="0">
                <a:latin typeface="Times New Roman" panose="02020603050405020304" pitchFamily="18" charset="0"/>
                <a:cs typeface="Times New Roman" panose="02020603050405020304" pitchFamily="18" charset="0"/>
              </a:rPr>
              <a:t>Design a schema that can be explained easily relation by relation. The semantics of attributes should be easy to interpret. </a:t>
            </a:r>
          </a:p>
          <a:p>
            <a:r>
              <a:rPr lang="en-US" b="1" dirty="0">
                <a:latin typeface="Times New Roman" panose="02020603050405020304" pitchFamily="18" charset="0"/>
                <a:cs typeface="Times New Roman" panose="02020603050405020304" pitchFamily="18" charset="0"/>
              </a:rPr>
              <a:t>GUIDELINE 2: </a:t>
            </a:r>
            <a:r>
              <a:rPr lang="en-US" dirty="0">
                <a:latin typeface="Times New Roman" panose="02020603050405020304" pitchFamily="18" charset="0"/>
                <a:cs typeface="Times New Roman" panose="02020603050405020304" pitchFamily="18" charset="0"/>
              </a:rPr>
              <a:t>Design a schema that does not suffer from the insertion, deletion and update anomalies. If there are any present, then note them so that applications can be made to take them into account </a:t>
            </a:r>
          </a:p>
          <a:p>
            <a:r>
              <a:rPr lang="en-US" b="1" dirty="0">
                <a:latin typeface="Times New Roman" panose="02020603050405020304" pitchFamily="18" charset="0"/>
                <a:cs typeface="Times New Roman" panose="02020603050405020304" pitchFamily="18" charset="0"/>
              </a:rPr>
              <a:t>GUIDELINE 3: </a:t>
            </a:r>
            <a:r>
              <a:rPr lang="en-US" dirty="0">
                <a:latin typeface="Times New Roman" panose="02020603050405020304" pitchFamily="18" charset="0"/>
                <a:cs typeface="Times New Roman" panose="02020603050405020304" pitchFamily="18" charset="0"/>
              </a:rPr>
              <a:t>Relations should be designed such that their tuples will have as few NULL values as possible</a:t>
            </a:r>
          </a:p>
          <a:p>
            <a:r>
              <a:rPr lang="en-US" b="1" dirty="0">
                <a:latin typeface="Times New Roman" panose="02020603050405020304" pitchFamily="18" charset="0"/>
                <a:cs typeface="Times New Roman" panose="02020603050405020304" pitchFamily="18" charset="0"/>
              </a:rPr>
              <a:t>GUIDELINE 4: </a:t>
            </a:r>
            <a:r>
              <a:rPr lang="en-US" dirty="0">
                <a:latin typeface="Times New Roman" panose="02020603050405020304" pitchFamily="18" charset="0"/>
                <a:cs typeface="Times New Roman" panose="02020603050405020304" pitchFamily="18" charset="0"/>
              </a:rPr>
              <a:t>The relations should be designed to satisfy the lossless join condition. No spurious tuples should be generated by doing a natural-join of any relations.</a:t>
            </a:r>
          </a:p>
          <a:p>
            <a:endParaRPr lang="en-US" dirty="0"/>
          </a:p>
        </p:txBody>
      </p:sp>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smtClean="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17</a:t>
            </a:fld>
            <a:endParaRPr lang="en-IN" dirty="0"/>
          </a:p>
        </p:txBody>
      </p:sp>
    </p:spTree>
    <p:extLst>
      <p:ext uri="{BB962C8B-B14F-4D97-AF65-F5344CB8AC3E}">
        <p14:creationId xmlns:p14="http://schemas.microsoft.com/office/powerpoint/2010/main" val="1846757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Not all designs are equally good</a:t>
            </a:r>
            <a:endParaRPr lang="en-US" b="1" dirty="0"/>
          </a:p>
        </p:txBody>
      </p:sp>
      <p:sp>
        <p:nvSpPr>
          <p:cNvPr id="3" name="Content Placeholder 2"/>
          <p:cNvSpPr>
            <a:spLocks noGrp="1"/>
          </p:cNvSpPr>
          <p:nvPr>
            <p:ph idx="1"/>
          </p:nvPr>
        </p:nvSpPr>
        <p:spPr/>
        <p:txBody>
          <a:bodyPr/>
          <a:lstStyle/>
          <a:p>
            <a:r>
              <a:rPr lang="en-GB" sz="2400" dirty="0"/>
              <a:t>Why is this design bad?</a:t>
            </a:r>
          </a:p>
          <a:p>
            <a:pPr>
              <a:buFontTx/>
              <a:buNone/>
            </a:pPr>
            <a:r>
              <a:rPr lang="en-GB" dirty="0">
                <a:latin typeface="Courier New" panose="02070309020205020404" pitchFamily="49" charset="0"/>
              </a:rPr>
              <a:t>  Data(</a:t>
            </a:r>
            <a:r>
              <a:rPr lang="en-GB" dirty="0" err="1">
                <a:latin typeface="Courier New" panose="02070309020205020404" pitchFamily="49" charset="0"/>
              </a:rPr>
              <a:t>sid,sname,address,cid,cname,grade</a:t>
            </a:r>
            <a:r>
              <a:rPr lang="en-GB" dirty="0">
                <a:latin typeface="Courier New" panose="02070309020205020404" pitchFamily="49" charset="0"/>
              </a:rPr>
              <a:t>)</a:t>
            </a:r>
          </a:p>
          <a:p>
            <a:endParaRPr lang="en-GB" sz="2400" dirty="0"/>
          </a:p>
          <a:p>
            <a:r>
              <a:rPr lang="en-GB" sz="2400" dirty="0" smtClean="0"/>
              <a:t>Why is this one preferable?</a:t>
            </a:r>
            <a:br>
              <a:rPr lang="en-GB" sz="2400" dirty="0" smtClean="0"/>
            </a:br>
            <a:r>
              <a:rPr lang="en-GB" dirty="0" smtClean="0">
                <a:latin typeface="Courier New" panose="02070309020205020404" pitchFamily="49" charset="0"/>
              </a:rPr>
              <a:t/>
            </a:r>
            <a:br>
              <a:rPr lang="en-GB" dirty="0" smtClean="0">
                <a:latin typeface="Courier New" panose="02070309020205020404" pitchFamily="49" charset="0"/>
              </a:rPr>
            </a:br>
            <a:r>
              <a:rPr lang="en-GB" dirty="0" smtClean="0">
                <a:latin typeface="Courier New" panose="02070309020205020404" pitchFamily="49" charset="0"/>
              </a:rPr>
              <a:t>  Student(</a:t>
            </a:r>
            <a:r>
              <a:rPr lang="en-GB" dirty="0" err="1" smtClean="0">
                <a:latin typeface="Courier New" panose="02070309020205020404" pitchFamily="49" charset="0"/>
              </a:rPr>
              <a:t>sid,sname,address</a:t>
            </a:r>
            <a:r>
              <a:rPr lang="en-GB" dirty="0" smtClean="0">
                <a:latin typeface="Courier New" panose="02070309020205020404" pitchFamily="49" charset="0"/>
              </a:rPr>
              <a:t>)</a:t>
            </a:r>
            <a:br>
              <a:rPr lang="en-GB" dirty="0" smtClean="0">
                <a:latin typeface="Courier New" panose="02070309020205020404" pitchFamily="49" charset="0"/>
              </a:rPr>
            </a:br>
            <a:r>
              <a:rPr lang="en-GB" dirty="0" smtClean="0">
                <a:latin typeface="Courier New" panose="02070309020205020404" pitchFamily="49" charset="0"/>
              </a:rPr>
              <a:t>  Course(</a:t>
            </a:r>
            <a:r>
              <a:rPr lang="en-GB" dirty="0" err="1" smtClean="0">
                <a:latin typeface="Courier New" panose="02070309020205020404" pitchFamily="49" charset="0"/>
              </a:rPr>
              <a:t>cid,cname</a:t>
            </a:r>
            <a:r>
              <a:rPr lang="en-GB" dirty="0" smtClean="0">
                <a:latin typeface="Courier New" panose="02070309020205020404" pitchFamily="49" charset="0"/>
              </a:rPr>
              <a:t>)</a:t>
            </a:r>
            <a:br>
              <a:rPr lang="en-GB" dirty="0" smtClean="0">
                <a:latin typeface="Courier New" panose="02070309020205020404" pitchFamily="49" charset="0"/>
              </a:rPr>
            </a:br>
            <a:r>
              <a:rPr lang="en-GB" dirty="0" smtClean="0">
                <a:latin typeface="Courier New" panose="02070309020205020404" pitchFamily="49" charset="0"/>
              </a:rPr>
              <a:t>  Enrolled(</a:t>
            </a:r>
            <a:r>
              <a:rPr lang="en-GB" dirty="0" err="1" smtClean="0">
                <a:latin typeface="Courier New" panose="02070309020205020404" pitchFamily="49" charset="0"/>
              </a:rPr>
              <a:t>sid,cid,grade</a:t>
            </a:r>
            <a:r>
              <a:rPr lang="en-GB" dirty="0" smtClean="0">
                <a:latin typeface="Courier New" panose="02070309020205020404" pitchFamily="49" charset="0"/>
              </a:rPr>
              <a:t>)</a:t>
            </a:r>
            <a:endParaRPr lang="en-GB" sz="2400" dirty="0" smtClean="0"/>
          </a:p>
          <a:p>
            <a:endParaRPr lang="en-GB" sz="2400" dirty="0"/>
          </a:p>
          <a:p>
            <a:endParaRPr lang="en-US" dirty="0"/>
          </a:p>
        </p:txBody>
      </p:sp>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smtClean="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18</a:t>
            </a:fld>
            <a:endParaRPr lang="en-IN" dirty="0"/>
          </a:p>
        </p:txBody>
      </p:sp>
    </p:spTree>
    <p:extLst>
      <p:ext uri="{BB962C8B-B14F-4D97-AF65-F5344CB8AC3E}">
        <p14:creationId xmlns:p14="http://schemas.microsoft.com/office/powerpoint/2010/main" val="1741809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An instance of our bad design</a:t>
            </a:r>
            <a:endParaRPr lang="en-US" b="1" dirty="0"/>
          </a:p>
        </p:txBody>
      </p:sp>
      <p:pic>
        <p:nvPicPr>
          <p:cNvPr id="7" name="Content Placeholder 6"/>
          <p:cNvPicPr>
            <a:picLocks noGrp="1" noChangeAspect="1"/>
          </p:cNvPicPr>
          <p:nvPr>
            <p:ph idx="1"/>
          </p:nvPr>
        </p:nvPicPr>
        <p:blipFill>
          <a:blip r:embed="rId2"/>
          <a:stretch>
            <a:fillRect/>
          </a:stretch>
        </p:blipFill>
        <p:spPr>
          <a:xfrm>
            <a:off x="1506873" y="2068401"/>
            <a:ext cx="5400675" cy="2419350"/>
          </a:xfrm>
          <a:prstGeom prst="rect">
            <a:avLst/>
          </a:prstGeom>
        </p:spPr>
      </p:pic>
      <p:sp>
        <p:nvSpPr>
          <p:cNvPr id="4" name="Date Placeholder 3"/>
          <p:cNvSpPr>
            <a:spLocks noGrp="1"/>
          </p:cNvSpPr>
          <p:nvPr>
            <p:ph type="dt" sz="half" idx="10"/>
          </p:nvPr>
        </p:nvSpPr>
        <p:spPr/>
        <p:txBody>
          <a:bodyPr/>
          <a:lstStyle/>
          <a:p>
            <a:fld id="{5633A692-F40B-4926-9AAB-44AA57633A13}" type="datetime8">
              <a:rPr lang="en-IN" smtClean="0"/>
              <a:t>22-12-2021 09:25</a:t>
            </a:fld>
            <a:endParaRPr lang="en-IN" dirty="0"/>
          </a:p>
        </p:txBody>
      </p:sp>
      <p:sp>
        <p:nvSpPr>
          <p:cNvPr id="5" name="Footer Placeholder 4"/>
          <p:cNvSpPr>
            <a:spLocks noGrp="1"/>
          </p:cNvSpPr>
          <p:nvPr>
            <p:ph type="ftr" sz="quarter" idx="11"/>
          </p:nvPr>
        </p:nvSpPr>
        <p:spPr/>
        <p:txBody>
          <a:bodyPr/>
          <a:lstStyle/>
          <a:p>
            <a:r>
              <a:rPr lang="en-US" smtClean="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19</a:t>
            </a:fld>
            <a:endParaRPr lang="en-IN" dirty="0"/>
          </a:p>
        </p:txBody>
      </p:sp>
      <p:sp>
        <p:nvSpPr>
          <p:cNvPr id="8" name="Rectangle 7"/>
          <p:cNvSpPr/>
          <p:nvPr/>
        </p:nvSpPr>
        <p:spPr>
          <a:xfrm>
            <a:off x="669701" y="4596605"/>
            <a:ext cx="10728102" cy="1477328"/>
          </a:xfrm>
          <a:prstGeom prst="rect">
            <a:avLst/>
          </a:prstGeom>
        </p:spPr>
        <p:txBody>
          <a:bodyPr wrap="square">
            <a:spAutoFit/>
          </a:bodyPr>
          <a:lstStyle/>
          <a:p>
            <a:r>
              <a:rPr lang="en-GB" dirty="0"/>
              <a:t>Recall:</a:t>
            </a:r>
          </a:p>
          <a:p>
            <a:pPr lvl="1"/>
            <a:r>
              <a:rPr lang="en-GB" dirty="0"/>
              <a:t>A key is a set of fields where if a pair of tuples agree on a key, they agree </a:t>
            </a:r>
            <a:r>
              <a:rPr lang="en-GB" dirty="0" smtClean="0"/>
              <a:t>everywhere.</a:t>
            </a:r>
          </a:p>
          <a:p>
            <a:pPr lvl="1"/>
            <a:endParaRPr lang="en-GB" dirty="0"/>
          </a:p>
          <a:p>
            <a:r>
              <a:rPr lang="en-GB" dirty="0"/>
              <a:t>In our bad design, if two tuples agree on </a:t>
            </a:r>
            <a:r>
              <a:rPr lang="en-GB" dirty="0">
                <a:latin typeface="Courier New" panose="02070309020205020404" pitchFamily="49" charset="0"/>
              </a:rPr>
              <a:t>sid</a:t>
            </a:r>
            <a:r>
              <a:rPr lang="en-GB" dirty="0"/>
              <a:t>, then they also agree on </a:t>
            </a:r>
            <a:r>
              <a:rPr lang="en-GB" dirty="0">
                <a:latin typeface="Courier New" panose="02070309020205020404" pitchFamily="49" charset="0"/>
              </a:rPr>
              <a:t>address</a:t>
            </a:r>
            <a:r>
              <a:rPr lang="en-GB" dirty="0"/>
              <a:t>, even though the rest of the tuples may not agree</a:t>
            </a:r>
          </a:p>
        </p:txBody>
      </p:sp>
    </p:spTree>
    <p:extLst>
      <p:ext uri="{BB962C8B-B14F-4D97-AF65-F5344CB8AC3E}">
        <p14:creationId xmlns:p14="http://schemas.microsoft.com/office/powerpoint/2010/main" val="3502212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6"/>
          <p:cNvSpPr>
            <a:spLocks noGrp="1" noChangeArrowheads="1"/>
          </p:cNvSpPr>
          <p:nvPr>
            <p:ph type="title"/>
          </p:nvPr>
        </p:nvSpPr>
        <p:spPr/>
        <p:txBody>
          <a:bodyPr/>
          <a:lstStyle/>
          <a:p>
            <a:pPr eaLnBrk="1" hangingPunct="1"/>
            <a:r>
              <a:rPr lang="en-US" b="1" dirty="0" smtClean="0"/>
              <a:t>Functional Dependencies</a:t>
            </a:r>
          </a:p>
        </p:txBody>
      </p:sp>
      <p:sp>
        <p:nvSpPr>
          <p:cNvPr id="24580" name="Rectangle 7"/>
          <p:cNvSpPr>
            <a:spLocks noGrp="1" noChangeArrowheads="1"/>
          </p:cNvSpPr>
          <p:nvPr>
            <p:ph type="body" idx="1"/>
          </p:nvPr>
        </p:nvSpPr>
        <p:spPr>
          <a:xfrm>
            <a:off x="1097279" y="1845733"/>
            <a:ext cx="10596737" cy="4271731"/>
          </a:xfrm>
        </p:spPr>
        <p:txBody>
          <a:bodyPr>
            <a:normAutofit/>
          </a:bodyPr>
          <a:lstStyle/>
          <a:p>
            <a:pPr algn="just" eaLnBrk="1" hangingPunct="1"/>
            <a:r>
              <a:rPr lang="en-US" sz="2400" b="1" dirty="0" smtClean="0"/>
              <a:t>Functional dependencies (FDs)</a:t>
            </a:r>
          </a:p>
          <a:p>
            <a:pPr lvl="1" algn="just" eaLnBrk="1" hangingPunct="1"/>
            <a:r>
              <a:rPr lang="en-US" sz="2400" dirty="0" smtClean="0"/>
              <a:t>Are used to specify </a:t>
            </a:r>
            <a:r>
              <a:rPr lang="en-US" sz="2400" i="1" dirty="0" smtClean="0"/>
              <a:t>formal measures</a:t>
            </a:r>
            <a:r>
              <a:rPr lang="en-US" sz="2400" dirty="0" smtClean="0"/>
              <a:t> of the "goodness" of relational designs</a:t>
            </a:r>
          </a:p>
          <a:p>
            <a:pPr lvl="1" algn="just" eaLnBrk="1" hangingPunct="1"/>
            <a:r>
              <a:rPr lang="en-US" sz="2400" dirty="0" smtClean="0"/>
              <a:t>And keys are used to define </a:t>
            </a:r>
            <a:r>
              <a:rPr lang="en-US" sz="2400" b="1" dirty="0" smtClean="0"/>
              <a:t>normal forms</a:t>
            </a:r>
            <a:r>
              <a:rPr lang="en-US" sz="2400" dirty="0" smtClean="0"/>
              <a:t> for relations</a:t>
            </a:r>
          </a:p>
          <a:p>
            <a:pPr lvl="1" algn="just" eaLnBrk="1" hangingPunct="1"/>
            <a:r>
              <a:rPr lang="en-US" sz="2400" dirty="0" smtClean="0"/>
              <a:t>Are </a:t>
            </a:r>
            <a:r>
              <a:rPr lang="en-US" sz="2400" b="1" dirty="0" smtClean="0"/>
              <a:t>constraints</a:t>
            </a:r>
            <a:r>
              <a:rPr lang="en-US" sz="2400" dirty="0" smtClean="0"/>
              <a:t> that are derived from the </a:t>
            </a:r>
            <a:r>
              <a:rPr lang="en-US" sz="2400" i="1" dirty="0" smtClean="0"/>
              <a:t>meaning</a:t>
            </a:r>
            <a:r>
              <a:rPr lang="en-US" sz="2400" dirty="0" smtClean="0"/>
              <a:t>  and </a:t>
            </a:r>
            <a:r>
              <a:rPr lang="en-US" sz="2400" i="1" dirty="0" smtClean="0"/>
              <a:t>interrelationships</a:t>
            </a:r>
            <a:r>
              <a:rPr lang="en-US" sz="2400" dirty="0" smtClean="0"/>
              <a:t>  of the data attributes</a:t>
            </a:r>
          </a:p>
          <a:p>
            <a:pPr algn="just" eaLnBrk="1" hangingPunct="1"/>
            <a:r>
              <a:rPr lang="en-US" sz="2400" dirty="0" smtClean="0"/>
              <a:t>A set of attributes X </a:t>
            </a:r>
            <a:r>
              <a:rPr lang="en-US" sz="2400" i="1" dirty="0" smtClean="0"/>
              <a:t>functionally</a:t>
            </a:r>
            <a:r>
              <a:rPr lang="en-US" sz="2400" dirty="0" smtClean="0"/>
              <a:t> </a:t>
            </a:r>
            <a:r>
              <a:rPr lang="en-US" sz="2400" i="1" dirty="0" smtClean="0"/>
              <a:t>determines</a:t>
            </a:r>
            <a:r>
              <a:rPr lang="en-US" sz="2400" dirty="0" smtClean="0"/>
              <a:t>  a set of attributes Y if the value of X determines a unique value for Y</a:t>
            </a:r>
          </a:p>
        </p:txBody>
      </p:sp>
    </p:spTree>
    <p:extLst>
      <p:ext uri="{BB962C8B-B14F-4D97-AF65-F5344CB8AC3E}">
        <p14:creationId xmlns:p14="http://schemas.microsoft.com/office/powerpoint/2010/main" val="5491826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6"/>
          <p:cNvSpPr>
            <a:spLocks noGrp="1" noChangeArrowheads="1"/>
          </p:cNvSpPr>
          <p:nvPr>
            <p:ph type="title"/>
          </p:nvPr>
        </p:nvSpPr>
        <p:spPr/>
        <p:txBody>
          <a:bodyPr/>
          <a:lstStyle/>
          <a:p>
            <a:pPr eaLnBrk="1" hangingPunct="1"/>
            <a:r>
              <a:rPr lang="en-US" b="1" dirty="0" smtClean="0"/>
              <a:t>Functional Dependencies</a:t>
            </a:r>
          </a:p>
        </p:txBody>
      </p:sp>
      <p:sp>
        <p:nvSpPr>
          <p:cNvPr id="25604" name="Rectangle 7"/>
          <p:cNvSpPr>
            <a:spLocks noGrp="1" noChangeArrowheads="1"/>
          </p:cNvSpPr>
          <p:nvPr>
            <p:ph type="body" idx="1"/>
          </p:nvPr>
        </p:nvSpPr>
        <p:spPr/>
        <p:txBody>
          <a:bodyPr/>
          <a:lstStyle/>
          <a:p>
            <a:pPr eaLnBrk="1" hangingPunct="1"/>
            <a:r>
              <a:rPr lang="en-US" sz="2400" b="1" dirty="0"/>
              <a:t>X -&gt; Y </a:t>
            </a:r>
            <a:r>
              <a:rPr lang="en-US" sz="2400" dirty="0"/>
              <a:t>holds if whenever two tuples have the same value for X, they </a:t>
            </a:r>
            <a:r>
              <a:rPr lang="en-US" sz="2400" i="1" dirty="0"/>
              <a:t>must have </a:t>
            </a:r>
            <a:r>
              <a:rPr lang="en-US" sz="2400" dirty="0"/>
              <a:t>the same value for Y</a:t>
            </a:r>
          </a:p>
          <a:p>
            <a:pPr lvl="1" eaLnBrk="1" hangingPunct="1"/>
            <a:r>
              <a:rPr lang="en-US" sz="2200" dirty="0"/>
              <a:t>For any two tuples t1 and t2 in any relation instance r(R): If  t1[X]=t2[X], </a:t>
            </a:r>
            <a:r>
              <a:rPr lang="en-US" sz="2200" i="1" dirty="0"/>
              <a:t>then</a:t>
            </a:r>
            <a:r>
              <a:rPr lang="en-US" sz="2200" dirty="0"/>
              <a:t> t1[Y]=t2[Y]</a:t>
            </a:r>
          </a:p>
          <a:p>
            <a:pPr eaLnBrk="1" hangingPunct="1"/>
            <a:r>
              <a:rPr lang="en-US" sz="2400" dirty="0"/>
              <a:t>X -&gt; Y in R specifies a </a:t>
            </a:r>
            <a:r>
              <a:rPr lang="en-US" sz="2400" i="1" dirty="0"/>
              <a:t>constraint</a:t>
            </a:r>
            <a:r>
              <a:rPr lang="en-US" sz="2400" dirty="0"/>
              <a:t> on all relation instances r(R)</a:t>
            </a:r>
          </a:p>
          <a:p>
            <a:pPr algn="just" eaLnBrk="1" hangingPunct="1"/>
            <a:r>
              <a:rPr lang="en-US" sz="2400" dirty="0"/>
              <a:t>Written as X -&gt; Y; can be displayed graphically on a relation </a:t>
            </a:r>
            <a:r>
              <a:rPr lang="en-US" sz="2400" dirty="0" smtClean="0"/>
              <a:t>schema.  </a:t>
            </a:r>
            <a:r>
              <a:rPr lang="en-US" sz="2400" dirty="0"/>
              <a:t>( denoted by the arrow:  ).</a:t>
            </a:r>
          </a:p>
          <a:p>
            <a:pPr eaLnBrk="1" hangingPunct="1"/>
            <a:r>
              <a:rPr lang="en-US" sz="2400" dirty="0"/>
              <a:t>FDs are derived from the real-world constraints on the attributes </a:t>
            </a:r>
          </a:p>
        </p:txBody>
      </p:sp>
    </p:spTree>
    <p:extLst>
      <p:ext uri="{BB962C8B-B14F-4D97-AF65-F5344CB8AC3E}">
        <p14:creationId xmlns:p14="http://schemas.microsoft.com/office/powerpoint/2010/main" val="40444491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097280" y="273724"/>
            <a:ext cx="10058400" cy="1450757"/>
          </a:xfrm>
        </p:spPr>
        <p:txBody>
          <a:bodyPr/>
          <a:lstStyle/>
          <a:p>
            <a:r>
              <a:rPr lang="en-US" altLang="en-US" b="1" dirty="0" smtClean="0"/>
              <a:t>Figure: What FDs may exist?</a:t>
            </a:r>
          </a:p>
        </p:txBody>
      </p:sp>
      <p:sp>
        <p:nvSpPr>
          <p:cNvPr id="27652" name="Title 1"/>
          <p:cNvSpPr>
            <a:spLocks noGrp="1"/>
          </p:cNvSpPr>
          <p:nvPr>
            <p:ph idx="1"/>
          </p:nvPr>
        </p:nvSpPr>
        <p:spPr/>
        <p:txBody>
          <a:bodyPr/>
          <a:lstStyle/>
          <a:p>
            <a:r>
              <a:rPr lang="en-US" altLang="en-US" smtClean="0">
                <a:latin typeface="Verdana" panose="020B0604030504040204" pitchFamily="34" charset="0"/>
              </a:rPr>
              <a:t>A relation </a:t>
            </a:r>
            <a:r>
              <a:rPr lang="en-US" altLang="en-US" i="1" smtClean="0">
                <a:latin typeface="Verdana" panose="020B0604030504040204" pitchFamily="34" charset="0"/>
              </a:rPr>
              <a:t>R</a:t>
            </a:r>
            <a:r>
              <a:rPr lang="en-US" altLang="en-US" smtClean="0">
                <a:latin typeface="Verdana" panose="020B0604030504040204" pitchFamily="34" charset="0"/>
              </a:rPr>
              <a:t>(A, B, C, D) with its extension.</a:t>
            </a:r>
          </a:p>
          <a:p>
            <a:r>
              <a:rPr lang="en-US" altLang="en-US" smtClean="0">
                <a:latin typeface="Verdana" panose="020B0604030504040204" pitchFamily="34" charset="0"/>
              </a:rPr>
              <a:t>Which FDs </a:t>
            </a:r>
            <a:r>
              <a:rPr lang="en-US" altLang="en-US" i="1" u="sng" smtClean="0">
                <a:latin typeface="Verdana" panose="020B0604030504040204" pitchFamily="34" charset="0"/>
              </a:rPr>
              <a:t>may exist </a:t>
            </a:r>
            <a:r>
              <a:rPr lang="en-US" altLang="en-US" smtClean="0">
                <a:latin typeface="Verdana" panose="020B0604030504040204" pitchFamily="34" charset="0"/>
              </a:rPr>
              <a:t>in this relation?</a:t>
            </a:r>
          </a:p>
        </p:txBody>
      </p:sp>
      <p:pic>
        <p:nvPicPr>
          <p:cNvPr id="27653" name="Picture 2" descr="fig14_0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0020" y="2908884"/>
            <a:ext cx="4648200" cy="286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847009" y="2908884"/>
            <a:ext cx="6040191" cy="1569660"/>
          </a:xfrm>
          <a:prstGeom prst="rect">
            <a:avLst/>
          </a:prstGeom>
          <a:noFill/>
        </p:spPr>
        <p:txBody>
          <a:bodyPr wrap="square" rtlCol="0">
            <a:spAutoFit/>
          </a:bodyPr>
          <a:lstStyle/>
          <a:p>
            <a:r>
              <a:rPr lang="en-US" sz="2400" dirty="0"/>
              <a:t>The following FDs may hold B-&gt;C, C-&gt;B </a:t>
            </a:r>
            <a:endParaRPr lang="en-US" sz="2400" dirty="0" smtClean="0"/>
          </a:p>
          <a:p>
            <a:r>
              <a:rPr lang="en-US" sz="2400" dirty="0" smtClean="0"/>
              <a:t>The </a:t>
            </a:r>
            <a:r>
              <a:rPr lang="en-US" sz="2400" dirty="0"/>
              <a:t>following FDs do not hold A-&gt;B, B-&gt;A, D-&gt;C </a:t>
            </a:r>
            <a:endParaRPr lang="en-US" sz="2400" dirty="0" smtClean="0"/>
          </a:p>
          <a:p>
            <a:r>
              <a:rPr lang="en-US" sz="2400" dirty="0" smtClean="0"/>
              <a:t> </a:t>
            </a:r>
            <a:r>
              <a:rPr lang="en-US" sz="2400" dirty="0"/>
              <a:t>We denote by F the set of functional dependencies specified on relation schema R. </a:t>
            </a:r>
          </a:p>
        </p:txBody>
      </p:sp>
    </p:spTree>
    <p:extLst>
      <p:ext uri="{BB962C8B-B14F-4D97-AF65-F5344CB8AC3E}">
        <p14:creationId xmlns:p14="http://schemas.microsoft.com/office/powerpoint/2010/main" val="2404305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title"/>
          </p:nvPr>
        </p:nvSpPr>
        <p:spPr>
          <a:xfrm>
            <a:off x="463639" y="643944"/>
            <a:ext cx="10058400" cy="1002470"/>
          </a:xfrm>
        </p:spPr>
        <p:txBody>
          <a:bodyPr/>
          <a:lstStyle/>
          <a:p>
            <a:pPr eaLnBrk="1" hangingPunct="1"/>
            <a:r>
              <a:rPr lang="en-US" altLang="en-US" b="1" dirty="0" smtClean="0"/>
              <a:t>Ruling Out FDs</a:t>
            </a:r>
          </a:p>
        </p:txBody>
      </p:sp>
      <p:pic>
        <p:nvPicPr>
          <p:cNvPr id="26628" name="Picture 2" descr="fig14_07.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664419" y="3071353"/>
            <a:ext cx="6523438" cy="3080133"/>
          </a:xfrm>
          <a:noFill/>
        </p:spPr>
      </p:pic>
      <p:sp>
        <p:nvSpPr>
          <p:cNvPr id="2" name="TextBox 4"/>
          <p:cNvSpPr txBox="1">
            <a:spLocks noChangeArrowheads="1"/>
          </p:cNvSpPr>
          <p:nvPr/>
        </p:nvSpPr>
        <p:spPr bwMode="auto">
          <a:xfrm>
            <a:off x="463639" y="1954713"/>
            <a:ext cx="11114467" cy="830997"/>
          </a:xfrm>
          <a:prstGeom prst="rect">
            <a:avLst/>
          </a:prstGeom>
          <a:noFill/>
          <a:ln>
            <a:noFill/>
          </a:ln>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defRPr/>
            </a:pPr>
            <a:r>
              <a:rPr lang="en-US" altLang="en-US" sz="2400" dirty="0">
                <a:latin typeface="+mn-lt"/>
                <a:cs typeface="MS PGothic" charset="0"/>
              </a:rPr>
              <a:t>Note that given the state of the TEACH relation, </a:t>
            </a:r>
            <a:r>
              <a:rPr lang="en-US" altLang="en-US" sz="2400" dirty="0" smtClean="0">
                <a:latin typeface="+mn-lt"/>
                <a:cs typeface="MS PGothic" charset="0"/>
              </a:rPr>
              <a:t>The </a:t>
            </a:r>
            <a:r>
              <a:rPr lang="en-US" altLang="en-US" sz="2400" dirty="0">
                <a:latin typeface="+mn-lt"/>
                <a:cs typeface="MS PGothic" charset="0"/>
              </a:rPr>
              <a:t>FDs  Teacher → Course, Teacher </a:t>
            </a:r>
            <a:r>
              <a:rPr lang="en-US" altLang="en-US" sz="2400" dirty="0">
                <a:cs typeface="MS PGothic" charset="0"/>
              </a:rPr>
              <a:t>→ Text </a:t>
            </a:r>
            <a:r>
              <a:rPr lang="en-US" altLang="en-US" sz="2400" dirty="0">
                <a:latin typeface="+mn-lt"/>
                <a:cs typeface="MS PGothic" charset="0"/>
              </a:rPr>
              <a:t>and </a:t>
            </a:r>
            <a:r>
              <a:rPr lang="en-US" altLang="en-US" sz="2400" dirty="0" smtClean="0">
                <a:latin typeface="+mn-lt"/>
                <a:cs typeface="MS PGothic" charset="0"/>
              </a:rPr>
              <a:t>Couse </a:t>
            </a:r>
            <a:r>
              <a:rPr lang="en-US" altLang="en-US" sz="2400" dirty="0">
                <a:latin typeface="+mn-lt"/>
                <a:cs typeface="MS PGothic" charset="0"/>
              </a:rPr>
              <a:t>→ Text are ruled out. </a:t>
            </a:r>
          </a:p>
        </p:txBody>
      </p:sp>
    </p:spTree>
    <p:extLst>
      <p:ext uri="{BB962C8B-B14F-4D97-AF65-F5344CB8AC3E}">
        <p14:creationId xmlns:p14="http://schemas.microsoft.com/office/powerpoint/2010/main" val="242623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6"/>
          <p:cNvSpPr>
            <a:spLocks noGrp="1" noChangeArrowheads="1"/>
          </p:cNvSpPr>
          <p:nvPr>
            <p:ph type="title"/>
          </p:nvPr>
        </p:nvSpPr>
        <p:spPr/>
        <p:txBody>
          <a:bodyPr/>
          <a:lstStyle/>
          <a:p>
            <a:pPr eaLnBrk="1" hangingPunct="1"/>
            <a:r>
              <a:rPr lang="en-US" b="1" dirty="0" smtClean="0"/>
              <a:t>Examples of FD constraints  </a:t>
            </a:r>
          </a:p>
        </p:txBody>
      </p:sp>
      <p:sp>
        <p:nvSpPr>
          <p:cNvPr id="26628" name="Rectangle 7"/>
          <p:cNvSpPr>
            <a:spLocks noGrp="1" noChangeArrowheads="1"/>
          </p:cNvSpPr>
          <p:nvPr>
            <p:ph type="body" idx="1"/>
          </p:nvPr>
        </p:nvSpPr>
        <p:spPr>
          <a:xfrm>
            <a:off x="1097280" y="1845734"/>
            <a:ext cx="10058400" cy="3254300"/>
          </a:xfrm>
        </p:spPr>
        <p:txBody>
          <a:bodyPr>
            <a:normAutofit/>
          </a:bodyPr>
          <a:lstStyle/>
          <a:p>
            <a:pPr algn="just" eaLnBrk="1" hangingPunct="1">
              <a:lnSpc>
                <a:spcPct val="90000"/>
              </a:lnSpc>
            </a:pPr>
            <a:r>
              <a:rPr lang="en-US" sz="2400" dirty="0" smtClean="0"/>
              <a:t>Social security number determines employee name</a:t>
            </a:r>
          </a:p>
          <a:p>
            <a:pPr lvl="1" algn="just" eaLnBrk="1" hangingPunct="1">
              <a:lnSpc>
                <a:spcPct val="90000"/>
              </a:lnSpc>
            </a:pPr>
            <a:r>
              <a:rPr lang="en-US" sz="2400" dirty="0" smtClean="0"/>
              <a:t>SSN -&gt; ENAME</a:t>
            </a:r>
          </a:p>
          <a:p>
            <a:pPr algn="just" eaLnBrk="1" hangingPunct="1">
              <a:lnSpc>
                <a:spcPct val="90000"/>
              </a:lnSpc>
            </a:pPr>
            <a:r>
              <a:rPr lang="en-US" sz="2400" dirty="0" smtClean="0"/>
              <a:t>Project number determines project name and location</a:t>
            </a:r>
          </a:p>
          <a:p>
            <a:pPr lvl="1" algn="just" eaLnBrk="1" hangingPunct="1">
              <a:lnSpc>
                <a:spcPct val="90000"/>
              </a:lnSpc>
            </a:pPr>
            <a:r>
              <a:rPr lang="en-US" sz="2400" dirty="0" smtClean="0"/>
              <a:t>PNUMBER -&gt; {PNAME, PLOCATION}</a:t>
            </a:r>
          </a:p>
          <a:p>
            <a:pPr algn="just" eaLnBrk="1" hangingPunct="1">
              <a:lnSpc>
                <a:spcPct val="90000"/>
              </a:lnSpc>
            </a:pPr>
            <a:r>
              <a:rPr lang="en-US" sz="2400" dirty="0" smtClean="0"/>
              <a:t>Employee </a:t>
            </a:r>
            <a:r>
              <a:rPr lang="en-US" sz="2400" dirty="0" err="1" smtClean="0"/>
              <a:t>ssn</a:t>
            </a:r>
            <a:r>
              <a:rPr lang="en-US" sz="2400" dirty="0" smtClean="0"/>
              <a:t> and project number determines the hours per week that the employee works on the project</a:t>
            </a:r>
          </a:p>
          <a:p>
            <a:pPr lvl="1" algn="just" eaLnBrk="1" hangingPunct="1">
              <a:lnSpc>
                <a:spcPct val="90000"/>
              </a:lnSpc>
            </a:pPr>
            <a:r>
              <a:rPr lang="en-US" sz="2400" dirty="0" smtClean="0"/>
              <a:t>{SSN, PNUMBER} -&gt; HOURS </a:t>
            </a:r>
          </a:p>
        </p:txBody>
      </p:sp>
    </p:spTree>
    <p:extLst>
      <p:ext uri="{BB962C8B-B14F-4D97-AF65-F5344CB8AC3E}">
        <p14:creationId xmlns:p14="http://schemas.microsoft.com/office/powerpoint/2010/main" val="4113146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6"/>
          <p:cNvSpPr>
            <a:spLocks noGrp="1" noChangeArrowheads="1"/>
          </p:cNvSpPr>
          <p:nvPr>
            <p:ph type="title"/>
          </p:nvPr>
        </p:nvSpPr>
        <p:spPr/>
        <p:txBody>
          <a:bodyPr/>
          <a:lstStyle/>
          <a:p>
            <a:pPr eaLnBrk="1" hangingPunct="1"/>
            <a:r>
              <a:rPr lang="en-US" b="1" dirty="0" smtClean="0"/>
              <a:t>FD </a:t>
            </a:r>
            <a:r>
              <a:rPr lang="en-US" b="1" dirty="0" smtClean="0"/>
              <a:t>constraints</a:t>
            </a:r>
          </a:p>
        </p:txBody>
      </p:sp>
      <p:sp>
        <p:nvSpPr>
          <p:cNvPr id="27652" name="Rectangle 7"/>
          <p:cNvSpPr>
            <a:spLocks noGrp="1" noChangeArrowheads="1"/>
          </p:cNvSpPr>
          <p:nvPr>
            <p:ph type="body" idx="1"/>
          </p:nvPr>
        </p:nvSpPr>
        <p:spPr>
          <a:xfrm>
            <a:off x="1097280" y="1845734"/>
            <a:ext cx="10442190" cy="4027032"/>
          </a:xfrm>
        </p:spPr>
        <p:txBody>
          <a:bodyPr>
            <a:normAutofit/>
          </a:bodyPr>
          <a:lstStyle/>
          <a:p>
            <a:pPr algn="just" eaLnBrk="1" hangingPunct="1"/>
            <a:r>
              <a:rPr lang="en-US" sz="2800" dirty="0" smtClean="0"/>
              <a:t>An FD is a property of the attributes in the schema R</a:t>
            </a:r>
          </a:p>
          <a:p>
            <a:pPr algn="just" eaLnBrk="1" hangingPunct="1"/>
            <a:r>
              <a:rPr lang="en-US" sz="2800" dirty="0" smtClean="0"/>
              <a:t>The constraint must hold on </a:t>
            </a:r>
            <a:r>
              <a:rPr lang="en-US" sz="2800" i="1" dirty="0" smtClean="0"/>
              <a:t>every</a:t>
            </a:r>
            <a:r>
              <a:rPr lang="en-US" sz="2800" dirty="0" smtClean="0"/>
              <a:t> relation instance r(R)</a:t>
            </a:r>
          </a:p>
          <a:p>
            <a:pPr algn="just" eaLnBrk="1" hangingPunct="1"/>
            <a:r>
              <a:rPr lang="en-US" sz="2800" dirty="0" smtClean="0"/>
              <a:t>If K is a key of R, then K functionally determines all attributes in R </a:t>
            </a:r>
          </a:p>
          <a:p>
            <a:pPr lvl="1" algn="just" eaLnBrk="1" hangingPunct="1"/>
            <a:r>
              <a:rPr lang="en-US" sz="2800" dirty="0" smtClean="0"/>
              <a:t>(since we never have two distinct tuples with t1[K]=t2[K]) </a:t>
            </a:r>
          </a:p>
        </p:txBody>
      </p:sp>
    </p:spTree>
    <p:extLst>
      <p:ext uri="{BB962C8B-B14F-4D97-AF65-F5344CB8AC3E}">
        <p14:creationId xmlns:p14="http://schemas.microsoft.com/office/powerpoint/2010/main" val="38333530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6"/>
          <p:cNvSpPr>
            <a:spLocks noGrp="1" noChangeArrowheads="1"/>
          </p:cNvSpPr>
          <p:nvPr>
            <p:ph type="title"/>
          </p:nvPr>
        </p:nvSpPr>
        <p:spPr/>
        <p:txBody>
          <a:bodyPr/>
          <a:lstStyle/>
          <a:p>
            <a:pPr eaLnBrk="1" hangingPunct="1"/>
            <a:r>
              <a:rPr lang="en-US" b="1" dirty="0" smtClean="0"/>
              <a:t>Inference Rules for FDs</a:t>
            </a:r>
          </a:p>
        </p:txBody>
      </p:sp>
      <p:sp>
        <p:nvSpPr>
          <p:cNvPr id="28676" name="Rectangle 7"/>
          <p:cNvSpPr>
            <a:spLocks noGrp="1" noChangeArrowheads="1"/>
          </p:cNvSpPr>
          <p:nvPr>
            <p:ph type="body" idx="1"/>
          </p:nvPr>
        </p:nvSpPr>
        <p:spPr>
          <a:xfrm>
            <a:off x="1097280" y="1845734"/>
            <a:ext cx="10699768" cy="4439156"/>
          </a:xfrm>
        </p:spPr>
        <p:txBody>
          <a:bodyPr>
            <a:normAutofit fontScale="92500" lnSpcReduction="10000"/>
          </a:bodyPr>
          <a:lstStyle/>
          <a:p>
            <a:pPr eaLnBrk="1" hangingPunct="1">
              <a:lnSpc>
                <a:spcPct val="90000"/>
              </a:lnSpc>
            </a:pPr>
            <a:r>
              <a:rPr lang="en-US" sz="2400" dirty="0"/>
              <a:t>Given a set of FDs F, we can </a:t>
            </a:r>
            <a:r>
              <a:rPr lang="en-US" sz="2400" b="1" dirty="0"/>
              <a:t>infer</a:t>
            </a:r>
            <a:r>
              <a:rPr lang="en-US" sz="2400" dirty="0"/>
              <a:t> additional FDs that hold whenever the FDs in F hold</a:t>
            </a:r>
          </a:p>
          <a:p>
            <a:pPr eaLnBrk="1" hangingPunct="1">
              <a:lnSpc>
                <a:spcPct val="90000"/>
              </a:lnSpc>
            </a:pPr>
            <a:r>
              <a:rPr lang="en-US" sz="2400" dirty="0"/>
              <a:t>Armstrong's inference rules:</a:t>
            </a:r>
          </a:p>
          <a:p>
            <a:pPr lvl="1" eaLnBrk="1" hangingPunct="1">
              <a:lnSpc>
                <a:spcPct val="90000"/>
              </a:lnSpc>
            </a:pPr>
            <a:r>
              <a:rPr lang="en-US" sz="2800" dirty="0"/>
              <a:t>IR1. (</a:t>
            </a:r>
            <a:r>
              <a:rPr lang="en-US" sz="2800" b="1" dirty="0"/>
              <a:t>Reflexive</a:t>
            </a:r>
            <a:r>
              <a:rPr lang="en-US" sz="2800" dirty="0"/>
              <a:t>) If Y </a:t>
            </a:r>
            <a:r>
              <a:rPr lang="en-US" sz="2800" i="1" dirty="0"/>
              <a:t>subset-of</a:t>
            </a:r>
            <a:r>
              <a:rPr lang="en-US" sz="2800" dirty="0"/>
              <a:t> X, then X -&gt; </a:t>
            </a:r>
            <a:r>
              <a:rPr lang="en-US" sz="2800" dirty="0" smtClean="0"/>
              <a:t>Y</a:t>
            </a:r>
          </a:p>
          <a:p>
            <a:pPr lvl="1" eaLnBrk="1" hangingPunct="1">
              <a:lnSpc>
                <a:spcPct val="90000"/>
              </a:lnSpc>
            </a:pPr>
            <a:endParaRPr lang="en-US" sz="2800" dirty="0"/>
          </a:p>
          <a:p>
            <a:pPr lvl="1" eaLnBrk="1" hangingPunct="1">
              <a:lnSpc>
                <a:spcPct val="90000"/>
              </a:lnSpc>
            </a:pPr>
            <a:r>
              <a:rPr lang="en-US" sz="2800" dirty="0"/>
              <a:t>IR2. (</a:t>
            </a:r>
            <a:r>
              <a:rPr lang="en-US" sz="2800" b="1" dirty="0"/>
              <a:t>Augmentation</a:t>
            </a:r>
            <a:r>
              <a:rPr lang="en-US" sz="2800" dirty="0"/>
              <a:t>) If X -&gt; Y, then XZ -&gt; YZ</a:t>
            </a:r>
          </a:p>
          <a:p>
            <a:pPr lvl="2" eaLnBrk="1" hangingPunct="1">
              <a:lnSpc>
                <a:spcPct val="90000"/>
              </a:lnSpc>
            </a:pPr>
            <a:r>
              <a:rPr lang="en-US" sz="2800" dirty="0"/>
              <a:t>(Notation: XZ stands for X U Z</a:t>
            </a:r>
            <a:r>
              <a:rPr lang="en-US" sz="2800" dirty="0" smtClean="0"/>
              <a:t>)</a:t>
            </a:r>
          </a:p>
          <a:p>
            <a:pPr lvl="2" eaLnBrk="1" hangingPunct="1">
              <a:lnSpc>
                <a:spcPct val="90000"/>
              </a:lnSpc>
            </a:pPr>
            <a:endParaRPr lang="en-US" sz="2800" dirty="0"/>
          </a:p>
          <a:p>
            <a:pPr lvl="1" eaLnBrk="1" hangingPunct="1">
              <a:lnSpc>
                <a:spcPct val="90000"/>
              </a:lnSpc>
            </a:pPr>
            <a:r>
              <a:rPr lang="en-US" sz="2800" dirty="0"/>
              <a:t>IR3. (</a:t>
            </a:r>
            <a:r>
              <a:rPr lang="en-US" sz="2800" b="1" dirty="0"/>
              <a:t>Transitive</a:t>
            </a:r>
            <a:r>
              <a:rPr lang="en-US" sz="2800" dirty="0"/>
              <a:t>) If X -&gt; Y and Y -&gt; Z, then X -&gt; Z</a:t>
            </a:r>
          </a:p>
          <a:p>
            <a:pPr eaLnBrk="1" hangingPunct="1">
              <a:lnSpc>
                <a:spcPct val="90000"/>
              </a:lnSpc>
            </a:pPr>
            <a:endParaRPr lang="en-US" sz="2400" dirty="0"/>
          </a:p>
          <a:p>
            <a:pPr eaLnBrk="1" hangingPunct="1">
              <a:lnSpc>
                <a:spcPct val="90000"/>
              </a:lnSpc>
            </a:pPr>
            <a:r>
              <a:rPr lang="en-US" sz="2400" dirty="0"/>
              <a:t>IR1, IR2, IR3 form a </a:t>
            </a:r>
            <a:r>
              <a:rPr lang="en-US" sz="2400" b="1" dirty="0"/>
              <a:t>sound</a:t>
            </a:r>
            <a:r>
              <a:rPr lang="en-US" sz="2400" dirty="0"/>
              <a:t> and </a:t>
            </a:r>
            <a:r>
              <a:rPr lang="en-US" sz="2400" b="1" dirty="0"/>
              <a:t>complete</a:t>
            </a:r>
            <a:r>
              <a:rPr lang="en-US" sz="2400" dirty="0"/>
              <a:t> set of inference rules</a:t>
            </a:r>
          </a:p>
          <a:p>
            <a:pPr lvl="1" eaLnBrk="1" hangingPunct="1">
              <a:lnSpc>
                <a:spcPct val="90000"/>
              </a:lnSpc>
            </a:pPr>
            <a:r>
              <a:rPr lang="en-US" sz="2200" dirty="0"/>
              <a:t>These are rules hold and all other rules that hold can be deduced from these</a:t>
            </a:r>
          </a:p>
        </p:txBody>
      </p:sp>
    </p:spTree>
    <p:extLst>
      <p:ext uri="{BB962C8B-B14F-4D97-AF65-F5344CB8AC3E}">
        <p14:creationId xmlns:p14="http://schemas.microsoft.com/office/powerpoint/2010/main" val="26802073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6"/>
          <p:cNvSpPr>
            <a:spLocks noGrp="1" noChangeArrowheads="1"/>
          </p:cNvSpPr>
          <p:nvPr>
            <p:ph type="title"/>
          </p:nvPr>
        </p:nvSpPr>
        <p:spPr/>
        <p:txBody>
          <a:bodyPr/>
          <a:lstStyle/>
          <a:p>
            <a:pPr eaLnBrk="1" hangingPunct="1"/>
            <a:r>
              <a:rPr lang="en-US" b="1" dirty="0" smtClean="0"/>
              <a:t>Inference Rules for FDs</a:t>
            </a:r>
          </a:p>
        </p:txBody>
      </p:sp>
      <p:sp>
        <p:nvSpPr>
          <p:cNvPr id="29700" name="Rectangle 7"/>
          <p:cNvSpPr>
            <a:spLocks noGrp="1" noChangeArrowheads="1"/>
          </p:cNvSpPr>
          <p:nvPr>
            <p:ph type="body" idx="1"/>
          </p:nvPr>
        </p:nvSpPr>
        <p:spPr>
          <a:xfrm>
            <a:off x="1097280" y="1845733"/>
            <a:ext cx="10058400" cy="3395967"/>
          </a:xfrm>
        </p:spPr>
        <p:txBody>
          <a:bodyPr>
            <a:noAutofit/>
          </a:bodyPr>
          <a:lstStyle/>
          <a:p>
            <a:pPr algn="just" eaLnBrk="1" hangingPunct="1">
              <a:lnSpc>
                <a:spcPct val="90000"/>
              </a:lnSpc>
            </a:pPr>
            <a:r>
              <a:rPr lang="en-US" sz="2400" dirty="0" smtClean="0"/>
              <a:t>Some additional inference rules that are useful</a:t>
            </a:r>
            <a:r>
              <a:rPr lang="en-US" sz="2400" dirty="0" smtClean="0"/>
              <a:t>:</a:t>
            </a:r>
          </a:p>
          <a:p>
            <a:pPr lvl="1" algn="just" eaLnBrk="1" hangingPunct="1">
              <a:lnSpc>
                <a:spcPct val="90000"/>
              </a:lnSpc>
            </a:pPr>
            <a:r>
              <a:rPr lang="en-US" sz="3200" b="1" dirty="0" smtClean="0"/>
              <a:t>Decomposition</a:t>
            </a:r>
            <a:r>
              <a:rPr lang="en-US" sz="3200" b="1" dirty="0" smtClean="0"/>
              <a:t>:</a:t>
            </a:r>
            <a:r>
              <a:rPr lang="en-US" sz="3200" dirty="0" smtClean="0"/>
              <a:t> If X -&gt; YZ, then X -&gt; Y and X -&gt; </a:t>
            </a:r>
            <a:r>
              <a:rPr lang="en-US" sz="3200" dirty="0" smtClean="0"/>
              <a:t>Z</a:t>
            </a:r>
          </a:p>
          <a:p>
            <a:pPr lvl="1" algn="just" eaLnBrk="1" hangingPunct="1">
              <a:lnSpc>
                <a:spcPct val="90000"/>
              </a:lnSpc>
            </a:pPr>
            <a:endParaRPr lang="en-US" sz="3200" dirty="0" smtClean="0"/>
          </a:p>
          <a:p>
            <a:pPr lvl="1" algn="just" eaLnBrk="1" hangingPunct="1">
              <a:lnSpc>
                <a:spcPct val="90000"/>
              </a:lnSpc>
            </a:pPr>
            <a:r>
              <a:rPr lang="en-US" sz="3200" b="1" dirty="0" smtClean="0"/>
              <a:t>Union:</a:t>
            </a:r>
            <a:r>
              <a:rPr lang="en-US" sz="3200" dirty="0" smtClean="0"/>
              <a:t> If X -&gt; Y and X -&gt; Z, then X -&gt; </a:t>
            </a:r>
            <a:r>
              <a:rPr lang="en-US" sz="3200" dirty="0" smtClean="0"/>
              <a:t>YZ</a:t>
            </a:r>
          </a:p>
          <a:p>
            <a:pPr lvl="1" algn="just" eaLnBrk="1" hangingPunct="1">
              <a:lnSpc>
                <a:spcPct val="90000"/>
              </a:lnSpc>
            </a:pPr>
            <a:endParaRPr lang="en-US" sz="3200" dirty="0" smtClean="0"/>
          </a:p>
          <a:p>
            <a:pPr lvl="1" algn="just" eaLnBrk="1" hangingPunct="1">
              <a:lnSpc>
                <a:spcPct val="90000"/>
              </a:lnSpc>
            </a:pPr>
            <a:r>
              <a:rPr lang="en-US" sz="3200" b="1" dirty="0" err="1" smtClean="0"/>
              <a:t>Psuedotransitivity</a:t>
            </a:r>
            <a:r>
              <a:rPr lang="en-US" sz="3200" b="1" dirty="0" smtClean="0"/>
              <a:t>:</a:t>
            </a:r>
            <a:r>
              <a:rPr lang="en-US" sz="3200" dirty="0" smtClean="0"/>
              <a:t> If X -&gt; Y and WY -&gt; Z, then WX -&gt; Z</a:t>
            </a:r>
          </a:p>
          <a:p>
            <a:pPr algn="just" eaLnBrk="1" hangingPunct="1">
              <a:lnSpc>
                <a:spcPct val="90000"/>
              </a:lnSpc>
            </a:pPr>
            <a:endParaRPr lang="en-US" sz="2400" dirty="0" smtClean="0"/>
          </a:p>
          <a:p>
            <a:pPr algn="just" eaLnBrk="1" hangingPunct="1">
              <a:lnSpc>
                <a:spcPct val="90000"/>
              </a:lnSpc>
            </a:pPr>
            <a:r>
              <a:rPr lang="en-US" sz="2400" dirty="0" smtClean="0"/>
              <a:t>The last three inference rules, as well as any other inference rules, can be deduced from IR1, IR2, and IR3 (completeness property) </a:t>
            </a:r>
          </a:p>
        </p:txBody>
      </p:sp>
    </p:spTree>
    <p:extLst>
      <p:ext uri="{BB962C8B-B14F-4D97-AF65-F5344CB8AC3E}">
        <p14:creationId xmlns:p14="http://schemas.microsoft.com/office/powerpoint/2010/main" val="18149090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2A03D13D-0AF5-4B48-8187-B9955F4F58BC}"/>
              </a:ext>
            </a:extLst>
          </p:cNvPr>
          <p:cNvSpPr>
            <a:spLocks noGrp="1"/>
          </p:cNvSpPr>
          <p:nvPr>
            <p:ph type="title"/>
          </p:nvPr>
        </p:nvSpPr>
        <p:spPr>
          <a:xfrm>
            <a:off x="1066800" y="2496403"/>
            <a:ext cx="10058400" cy="1450757"/>
          </a:xfrm>
        </p:spPr>
        <p:txBody>
          <a:bodyPr/>
          <a:lstStyle/>
          <a:p>
            <a:pPr algn="ctr"/>
            <a:r>
              <a:rPr lang="en-IN" dirty="0"/>
              <a:t>Thank you </a:t>
            </a:r>
          </a:p>
        </p:txBody>
      </p:sp>
      <p:sp>
        <p:nvSpPr>
          <p:cNvPr id="4" name="Footer Placeholder 3">
            <a:extLst>
              <a:ext uri="{FF2B5EF4-FFF2-40B4-BE49-F238E27FC236}">
                <a16:creationId xmlns:a16="http://schemas.microsoft.com/office/drawing/2014/main" xmlns="" id="{3F2A75E3-CE03-4EB7-B843-4BC678D99678}"/>
              </a:ext>
            </a:extLst>
          </p:cNvPr>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a:extLst>
              <a:ext uri="{FF2B5EF4-FFF2-40B4-BE49-F238E27FC236}">
                <a16:creationId xmlns:a16="http://schemas.microsoft.com/office/drawing/2014/main" xmlns="" id="{1348B621-FA44-459E-8A38-9BB8CBD0FFA5}"/>
              </a:ext>
            </a:extLst>
          </p:cNvPr>
          <p:cNvSpPr>
            <a:spLocks noGrp="1"/>
          </p:cNvSpPr>
          <p:nvPr>
            <p:ph type="sldNum" sz="quarter" idx="12"/>
          </p:nvPr>
        </p:nvSpPr>
        <p:spPr/>
        <p:txBody>
          <a:bodyPr/>
          <a:lstStyle/>
          <a:p>
            <a:fld id="{1245FD78-8DE1-44B0-BD44-E067D054697C}" type="slidenum">
              <a:rPr lang="en-IN" smtClean="0"/>
              <a:pPr/>
              <a:t>28</a:t>
            </a:fld>
            <a:endParaRPr lang="en-IN" dirty="0"/>
          </a:p>
        </p:txBody>
      </p:sp>
      <p:sp>
        <p:nvSpPr>
          <p:cNvPr id="2" name="Date Placeholder 1"/>
          <p:cNvSpPr>
            <a:spLocks noGrp="1"/>
          </p:cNvSpPr>
          <p:nvPr>
            <p:ph type="dt" sz="half" idx="10"/>
          </p:nvPr>
        </p:nvSpPr>
        <p:spPr/>
        <p:txBody>
          <a:bodyPr/>
          <a:lstStyle/>
          <a:p>
            <a:fld id="{C6E0E8B6-0503-4F80-8C37-C9BD32225905}" type="datetime8">
              <a:rPr lang="en-IN" smtClean="0"/>
              <a:t>22-12-2021 09:25</a:t>
            </a:fld>
            <a:endParaRPr lang="en-IN" dirty="0"/>
          </a:p>
        </p:txBody>
      </p:sp>
    </p:spTree>
    <p:extLst>
      <p:ext uri="{BB962C8B-B14F-4D97-AF65-F5344CB8AC3E}">
        <p14:creationId xmlns:p14="http://schemas.microsoft.com/office/powerpoint/2010/main" val="54137632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Custom 1">
      <a:dk1>
        <a:sysClr val="windowText" lastClr="000000"/>
      </a:dk1>
      <a:lt1>
        <a:sysClr val="window" lastClr="FFFFFF"/>
      </a:lt1>
      <a:dk2>
        <a:srgbClr val="775F55"/>
      </a:dk2>
      <a:lt2>
        <a:srgbClr val="EBDDC3"/>
      </a:lt2>
      <a:accent1>
        <a:srgbClr val="94B6D2"/>
      </a:accent1>
      <a:accent2>
        <a:srgbClr val="7030A0"/>
      </a:accent2>
      <a:accent3>
        <a:srgbClr val="A5AB81"/>
      </a:accent3>
      <a:accent4>
        <a:srgbClr val="D8B25C"/>
      </a:accent4>
      <a:accent5>
        <a:srgbClr val="7BA79D"/>
      </a:accent5>
      <a:accent6>
        <a:srgbClr val="968C8C"/>
      </a:accent6>
      <a:hlink>
        <a:srgbClr val="F7B615"/>
      </a:hlink>
      <a:folHlink>
        <a:srgbClr val="704404"/>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1473</TotalTime>
  <Words>1666</Words>
  <Application>Microsoft Office PowerPoint</Application>
  <PresentationFormat>Widescreen</PresentationFormat>
  <Paragraphs>205</Paragraphs>
  <Slides>28</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MS PGothic</vt:lpstr>
      <vt:lpstr>Arial</vt:lpstr>
      <vt:lpstr>Calibri</vt:lpstr>
      <vt:lpstr>Calibri Light</vt:lpstr>
      <vt:lpstr>Courier New</vt:lpstr>
      <vt:lpstr>Tahoma</vt:lpstr>
      <vt:lpstr>Times New Roman</vt:lpstr>
      <vt:lpstr>Verdana</vt:lpstr>
      <vt:lpstr>Wingdings</vt:lpstr>
      <vt:lpstr>Retrospect</vt:lpstr>
      <vt:lpstr> Course Name: Database Systems Course Code: CS52 Credits: 3:1:0 UNIT 4 Term: Oct 2021-Feb 2022</vt:lpstr>
      <vt:lpstr>Chapter Outline</vt:lpstr>
      <vt:lpstr>Informal Design Guidelines for Relational Databases</vt:lpstr>
      <vt:lpstr>Informal Design Guidelines for Relational Databases </vt:lpstr>
      <vt:lpstr>Informal Design Guidelines for Relational Databases</vt:lpstr>
      <vt:lpstr>1.1 Semantics of the Relational Attributes must be clear</vt:lpstr>
      <vt:lpstr>A simplified COMPANY relational database schema</vt:lpstr>
      <vt:lpstr>1.2 Redundant Information in Tuples and Update Anomalies </vt:lpstr>
      <vt:lpstr>EXAMPLE OF AN UPDATE ANOMALY</vt:lpstr>
      <vt:lpstr>EXAMPLE OF AN INSERT ANOMALY</vt:lpstr>
      <vt:lpstr>EXAMPLE OF AN DELETE ANOMALY</vt:lpstr>
      <vt:lpstr>Figure : Two relation schemas suffering from update anomalies</vt:lpstr>
      <vt:lpstr>Guideline to Redundant Information in Tuples and Update Anomalies</vt:lpstr>
      <vt:lpstr>Null Values in Tuples </vt:lpstr>
      <vt:lpstr>Spurious Tuples </vt:lpstr>
      <vt:lpstr>Spurious Tuples contd.. </vt:lpstr>
      <vt:lpstr>Guidelines - summary</vt:lpstr>
      <vt:lpstr>Not all designs are equally good</vt:lpstr>
      <vt:lpstr>An instance of our bad design</vt:lpstr>
      <vt:lpstr>Functional Dependencies</vt:lpstr>
      <vt:lpstr>Functional Dependencies</vt:lpstr>
      <vt:lpstr>Figure: What FDs may exist?</vt:lpstr>
      <vt:lpstr>Ruling Out FDs</vt:lpstr>
      <vt:lpstr>Examples of FD constraints  </vt:lpstr>
      <vt:lpstr>FD constraints</vt:lpstr>
      <vt:lpstr>Inference Rules for FDs</vt:lpstr>
      <vt:lpstr>Inference Rules for FDs</vt:lpstr>
      <vt:lpstr>Thank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Sanjeetha R</dc:creator>
  <cp:lastModifiedBy>CSE-PG</cp:lastModifiedBy>
  <cp:revision>244</cp:revision>
  <dcterms:created xsi:type="dcterms:W3CDTF">2020-08-26T05:56:20Z</dcterms:created>
  <dcterms:modified xsi:type="dcterms:W3CDTF">2021-12-22T03:59:50Z</dcterms:modified>
</cp:coreProperties>
</file>