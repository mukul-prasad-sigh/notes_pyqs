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2" r:id="rId4"/>
    <p:sldId id="273" r:id="rId5"/>
    <p:sldId id="274" r:id="rId6"/>
    <p:sldId id="269" r:id="rId7"/>
    <p:sldId id="270" r:id="rId8"/>
    <p:sldId id="271" r:id="rId9"/>
    <p:sldId id="267" r:id="rId10"/>
    <p:sldId id="276"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6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453C-6F65-408A-AC57-F387D93735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CBACD2-BF49-4FFA-ACA3-79A74C5742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5D4DAA-F691-4395-9D6E-01D0D3FFB074}"/>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826C22D6-B36A-4327-872D-1E57775461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D5BCA-6C19-42B9-9E6D-ABA2933E1513}"/>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296510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C402-58A5-4908-AC65-45B9FEAF9C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83A3D6-B3AE-4FF6-9BCF-9B41C041A8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6112F2-3918-4A63-938C-E04929DBE2C4}"/>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7B876F0A-AFFF-4B49-9195-E9B816FAD3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77FF6B-330A-4E9A-895A-145DA542DBDD}"/>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3250497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7DA15-CD33-4320-A430-B53AF48584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7B5BFD-6203-41CA-BEEC-8283288F62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026768-91CA-4746-8D6C-C0478696A875}"/>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648BE11B-E9EB-4AC8-836E-6AFA3594B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AA2E62-ADDE-4935-AB10-F9A44B28A16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192334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8497-4331-42A9-8EE2-8E61623373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88BDA2-9FD8-4006-A55B-278D2F0053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5FF117-7BF1-4FF2-99C8-07F6F1EA5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4E9FCC-8346-4EA4-9CDD-1D2133D782F5}"/>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6" name="Footer Placeholder 5">
            <a:extLst>
              <a:ext uri="{FF2B5EF4-FFF2-40B4-BE49-F238E27FC236}">
                <a16:creationId xmlns:a16="http://schemas.microsoft.com/office/drawing/2014/main" id="{417897D8-357E-4AB5-BD8E-940DFF245C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786D5A-00E1-42B6-A8C2-48048604130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114691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868F-F2B8-4E0E-9002-5847219535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8289DE-0D5A-478C-98DD-629A873439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F3ACCF-10CC-4C00-949B-6B163A313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61B461-E1AB-4663-AD0D-63710B708F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71FAD0-8E56-402D-A779-A591D40FC5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6CFE52-4100-4BF6-AE8A-14EE641D54F6}"/>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8" name="Footer Placeholder 7">
            <a:extLst>
              <a:ext uri="{FF2B5EF4-FFF2-40B4-BE49-F238E27FC236}">
                <a16:creationId xmlns:a16="http://schemas.microsoft.com/office/drawing/2014/main" id="{75CFB50E-C1DF-454D-B560-57D41CD84B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32C749-B1C0-4A31-9F3F-10501786511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175506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A03C-E542-46E2-B678-4D4078393B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045629-4D9F-41D4-8C10-4EE0011A1AC1}"/>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4" name="Footer Placeholder 3">
            <a:extLst>
              <a:ext uri="{FF2B5EF4-FFF2-40B4-BE49-F238E27FC236}">
                <a16:creationId xmlns:a16="http://schemas.microsoft.com/office/drawing/2014/main" id="{6C1C385C-49F9-424E-B37E-1B3AD6EDC0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40273D-1BB6-4B1D-AFFE-3D8E77CF293F}"/>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316048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5FFFF-44C4-4D88-8E19-D6176034D1E4}"/>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3" name="Footer Placeholder 2">
            <a:extLst>
              <a:ext uri="{FF2B5EF4-FFF2-40B4-BE49-F238E27FC236}">
                <a16:creationId xmlns:a16="http://schemas.microsoft.com/office/drawing/2014/main" id="{E6C0888F-68E4-4BD8-A0EB-84F3CABC6B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D8A00A-009A-423D-9C27-BB7EF6FF7A9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001464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7A8E-72CA-49DB-866E-1F253E9B7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865686-ED8D-401C-8A5A-1CDBEA1FB9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6CAFEF-1AD9-416A-BED3-D38833D88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6E3DE-683E-40EC-B383-FE40391DF47A}"/>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6" name="Footer Placeholder 5">
            <a:extLst>
              <a:ext uri="{FF2B5EF4-FFF2-40B4-BE49-F238E27FC236}">
                <a16:creationId xmlns:a16="http://schemas.microsoft.com/office/drawing/2014/main" id="{7118AE5C-85E9-4D63-B9E0-A79C8070EC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5F0A16-FF0F-493E-ACEB-EA629CB5599D}"/>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828203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1FF0B-6FDC-442A-BBC3-32F36A46F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937CD2-8857-4A37-B8B2-BE836D83D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542EE0C-61E4-4B92-94C8-C4CA72ED7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4E5AA7-E46D-4227-9A06-C54874CEDFFA}"/>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6" name="Footer Placeholder 5">
            <a:extLst>
              <a:ext uri="{FF2B5EF4-FFF2-40B4-BE49-F238E27FC236}">
                <a16:creationId xmlns:a16="http://schemas.microsoft.com/office/drawing/2014/main" id="{8FA7DCBD-87E8-4837-910B-0E50414148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77B0BF-7CBA-4F11-B2BE-A6DD16E665C6}"/>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825296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6455-9D15-4A6B-88E9-39BA9E927C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155108-C1E8-43AB-A146-10514C428E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A6314B-C1A8-41FF-92F9-FAF90CDB99A6}"/>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F005F3B9-B8EB-4E12-B083-519E02C1E3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4CFD23-FAD4-4C89-972E-4A64FB5EBCAE}"/>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239106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D2F6FA-4EA1-49EB-8058-AE9B707DE1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DD5267-401C-49B1-A4EC-58C0FD520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9F2644-6370-488D-9A75-3D1965A11FAA}"/>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F75BD543-7309-45FA-B7E1-5ADA2B1510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F3D13-F6C8-4F10-9A90-0581C9E88CA5}"/>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920248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701477-8969-4C28-89F6-D351F4C30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78B360-A193-4918-9E00-59A3D214A3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AF5B50-7556-44BE-AFD1-90B1B5430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F185176F-6D86-4E46-9C40-0C1F4A407C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7EAD42-2222-4BAA-AC09-C35113E74F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20D85-0D59-4BEB-9860-F6312BF4C667}" type="slidenum">
              <a:rPr lang="en-IN" smtClean="0"/>
              <a:t>‹#›</a:t>
            </a:fld>
            <a:endParaRPr lang="en-IN"/>
          </a:p>
        </p:txBody>
      </p:sp>
    </p:spTree>
    <p:extLst>
      <p:ext uri="{BB962C8B-B14F-4D97-AF65-F5344CB8AC3E}">
        <p14:creationId xmlns:p14="http://schemas.microsoft.com/office/powerpoint/2010/main" val="1065943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2555B-809F-44E5-B38C-CEA37440A9B2}"/>
              </a:ext>
            </a:extLst>
          </p:cNvPr>
          <p:cNvSpPr>
            <a:spLocks noGrp="1"/>
          </p:cNvSpPr>
          <p:nvPr>
            <p:ph type="ctrTitle"/>
          </p:nvPr>
        </p:nvSpPr>
        <p:spPr/>
        <p:txBody>
          <a:bodyPr/>
          <a:lstStyle/>
          <a:p>
            <a:r>
              <a:rPr lang="en-IN" dirty="0"/>
              <a:t>Reading Comprehension </a:t>
            </a:r>
          </a:p>
        </p:txBody>
      </p:sp>
      <p:sp>
        <p:nvSpPr>
          <p:cNvPr id="3" name="Subtitle 2">
            <a:extLst>
              <a:ext uri="{FF2B5EF4-FFF2-40B4-BE49-F238E27FC236}">
                <a16:creationId xmlns:a16="http://schemas.microsoft.com/office/drawing/2014/main" id="{5E08F424-A858-489F-8E2B-B1BF4A0DC6D4}"/>
              </a:ext>
            </a:extLst>
          </p:cNvPr>
          <p:cNvSpPr>
            <a:spLocks noGrp="1"/>
          </p:cNvSpPr>
          <p:nvPr>
            <p:ph type="subTitle" idx="1"/>
          </p:nvPr>
        </p:nvSpPr>
        <p:spPr/>
        <p:txBody>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Dr </a:t>
            </a:r>
            <a:r>
              <a:rPr lang="en-US">
                <a:solidFill>
                  <a:prstClr val="black"/>
                </a:solidFill>
                <a:latin typeface="Calibri" panose="020F0502020204030204"/>
              </a:rPr>
              <a:t>Kiran Magavi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155190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6850-41DD-44A2-B8F6-CA8263B12080}"/>
              </a:ext>
            </a:extLst>
          </p:cNvPr>
          <p:cNvSpPr>
            <a:spLocks noGrp="1"/>
          </p:cNvSpPr>
          <p:nvPr>
            <p:ph type="title"/>
          </p:nvPr>
        </p:nvSpPr>
        <p:spPr/>
        <p:txBody>
          <a:bodyPr/>
          <a:lstStyle/>
          <a:p>
            <a:r>
              <a:rPr lang="en-US" dirty="0"/>
              <a:t>Comprehension: The Goal of Reading</a:t>
            </a:r>
            <a:endParaRPr lang="en-IN" dirty="0"/>
          </a:p>
        </p:txBody>
      </p:sp>
      <p:sp>
        <p:nvSpPr>
          <p:cNvPr id="3" name="Content Placeholder 2">
            <a:extLst>
              <a:ext uri="{FF2B5EF4-FFF2-40B4-BE49-F238E27FC236}">
                <a16:creationId xmlns:a16="http://schemas.microsoft.com/office/drawing/2014/main" id="{50F9DC2F-AC53-4375-8343-A874190D7604}"/>
              </a:ext>
            </a:extLst>
          </p:cNvPr>
          <p:cNvSpPr>
            <a:spLocks noGrp="1"/>
          </p:cNvSpPr>
          <p:nvPr>
            <p:ph idx="1"/>
          </p:nvPr>
        </p:nvSpPr>
        <p:spPr/>
        <p:txBody>
          <a:bodyPr>
            <a:normAutofit lnSpcReduction="10000"/>
          </a:bodyPr>
          <a:lstStyle/>
          <a:p>
            <a:r>
              <a:rPr lang="en-US" dirty="0"/>
              <a:t>Comprehension, or extracting meaning from what you read, is the ultimate goal of reading.</a:t>
            </a:r>
          </a:p>
          <a:p>
            <a:r>
              <a:rPr lang="en-US" dirty="0"/>
              <a:t> Experienced readers take this for granted and may not appreciate the reading comprehension skills required. </a:t>
            </a:r>
          </a:p>
          <a:p>
            <a:r>
              <a:rPr lang="en-US" dirty="0"/>
              <a:t>The process of comprehension is both interactive and strategic. </a:t>
            </a:r>
          </a:p>
          <a:p>
            <a:r>
              <a:rPr lang="en-US" dirty="0"/>
              <a:t>Rather than passively reading text, readers must analyze it, internalize it and make it their own.</a:t>
            </a:r>
          </a:p>
          <a:p>
            <a:r>
              <a:rPr lang="en-US" dirty="0"/>
              <a:t>In order to read with comprehension, developing readers must be able to read with some proficiency and then receive explicit (clear) instruction in reading comprehension strategies </a:t>
            </a:r>
            <a:endParaRPr lang="en-IN" dirty="0"/>
          </a:p>
        </p:txBody>
      </p:sp>
    </p:spTree>
    <p:extLst>
      <p:ext uri="{BB962C8B-B14F-4D97-AF65-F5344CB8AC3E}">
        <p14:creationId xmlns:p14="http://schemas.microsoft.com/office/powerpoint/2010/main" val="3339496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0D87-3EF1-4D4A-809A-A69017810653}"/>
              </a:ext>
            </a:extLst>
          </p:cNvPr>
          <p:cNvSpPr>
            <a:spLocks noGrp="1"/>
          </p:cNvSpPr>
          <p:nvPr>
            <p:ph type="title"/>
          </p:nvPr>
        </p:nvSpPr>
        <p:spPr/>
        <p:txBody>
          <a:bodyPr/>
          <a:lstStyle/>
          <a:p>
            <a:r>
              <a:rPr lang="en-IN" dirty="0"/>
              <a:t>Six essential skills for reading comprehension </a:t>
            </a:r>
          </a:p>
        </p:txBody>
      </p:sp>
      <p:sp>
        <p:nvSpPr>
          <p:cNvPr id="3" name="Content Placeholder 2">
            <a:extLst>
              <a:ext uri="{FF2B5EF4-FFF2-40B4-BE49-F238E27FC236}">
                <a16:creationId xmlns:a16="http://schemas.microsoft.com/office/drawing/2014/main" id="{5D32895F-AA17-4342-916A-E3A83CF1EB4A}"/>
              </a:ext>
            </a:extLst>
          </p:cNvPr>
          <p:cNvSpPr>
            <a:spLocks noGrp="1"/>
          </p:cNvSpPr>
          <p:nvPr>
            <p:ph idx="1"/>
          </p:nvPr>
        </p:nvSpPr>
        <p:spPr/>
        <p:txBody>
          <a:bodyPr>
            <a:normAutofit lnSpcReduction="10000"/>
          </a:bodyPr>
          <a:lstStyle/>
          <a:p>
            <a:pPr marL="0" indent="0">
              <a:buNone/>
            </a:pPr>
            <a:r>
              <a:rPr lang="en-US" dirty="0"/>
              <a:t>1. Decoding</a:t>
            </a:r>
          </a:p>
          <a:p>
            <a:r>
              <a:rPr lang="en-US" dirty="0"/>
              <a:t>Decoding is a vital step in the reading process. </a:t>
            </a:r>
          </a:p>
          <a:p>
            <a:r>
              <a:rPr lang="en-US" dirty="0"/>
              <a:t>Readers use this skill to sound out words they’ve heard before but haven’t seen written out. The ability to do that is the foundation for other reading skills.</a:t>
            </a:r>
          </a:p>
          <a:p>
            <a:pPr marL="0" indent="0">
              <a:buNone/>
            </a:pPr>
            <a:r>
              <a:rPr lang="en-US" dirty="0"/>
              <a:t>2. Fluency</a:t>
            </a:r>
          </a:p>
          <a:p>
            <a:r>
              <a:rPr lang="en-US" dirty="0"/>
              <a:t>To read fluently, readers need to instantly recognize words, including words they do not know . Fluency speeds up the rate at which they can read and understand text. It’s also important to encounter irregular words, which help in building vocabulary </a:t>
            </a:r>
            <a:endParaRPr lang="en-IN" dirty="0"/>
          </a:p>
        </p:txBody>
      </p:sp>
    </p:spTree>
    <p:extLst>
      <p:ext uri="{BB962C8B-B14F-4D97-AF65-F5344CB8AC3E}">
        <p14:creationId xmlns:p14="http://schemas.microsoft.com/office/powerpoint/2010/main" val="977184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6873B-764D-466F-BAD2-10092DE465C8}"/>
              </a:ext>
            </a:extLst>
          </p:cNvPr>
          <p:cNvSpPr>
            <a:spLocks noGrp="1"/>
          </p:cNvSpPr>
          <p:nvPr>
            <p:ph idx="1"/>
          </p:nvPr>
        </p:nvSpPr>
        <p:spPr>
          <a:xfrm>
            <a:off x="838200" y="291548"/>
            <a:ext cx="10515600" cy="5885415"/>
          </a:xfrm>
        </p:spPr>
        <p:txBody>
          <a:bodyPr/>
          <a:lstStyle/>
          <a:p>
            <a:endParaRPr lang="en-US" dirty="0"/>
          </a:p>
          <a:p>
            <a:pPr marL="0" indent="0">
              <a:buNone/>
            </a:pPr>
            <a:r>
              <a:rPr lang="en-US" dirty="0"/>
              <a:t>3. Vocabulary</a:t>
            </a:r>
          </a:p>
          <a:p>
            <a:r>
              <a:rPr lang="en-US" dirty="0"/>
              <a:t>To understand what you’re reading, you need to understand most of the words in the text. Having a strong vocabulary is a key component of reading comprehension. Students can learn vocabulary through instruction. But they typically learn the meaning of words through everyday experience and also by reading regularly</a:t>
            </a:r>
          </a:p>
          <a:p>
            <a:pPr marL="0" indent="0">
              <a:buNone/>
            </a:pPr>
            <a:r>
              <a:rPr lang="en-US" dirty="0"/>
              <a:t>4. Sentence construction and cohesion</a:t>
            </a:r>
          </a:p>
          <a:p>
            <a:r>
              <a:rPr lang="en-US" dirty="0"/>
              <a:t>Understanding how sentences are built might seem like a writing skill.  Connecting ideas within and between sentences, which is called cohesion are important for reading comprehension. </a:t>
            </a:r>
            <a:endParaRPr lang="en-IN" dirty="0"/>
          </a:p>
        </p:txBody>
      </p:sp>
    </p:spTree>
    <p:extLst>
      <p:ext uri="{BB962C8B-B14F-4D97-AF65-F5344CB8AC3E}">
        <p14:creationId xmlns:p14="http://schemas.microsoft.com/office/powerpoint/2010/main" val="3179428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498DB7-483F-43A2-89BD-705987EC07EF}"/>
              </a:ext>
            </a:extLst>
          </p:cNvPr>
          <p:cNvSpPr>
            <a:spLocks noGrp="1"/>
          </p:cNvSpPr>
          <p:nvPr>
            <p:ph idx="1"/>
          </p:nvPr>
        </p:nvSpPr>
        <p:spPr>
          <a:xfrm>
            <a:off x="838200" y="477078"/>
            <a:ext cx="10515600" cy="5699885"/>
          </a:xfrm>
        </p:spPr>
        <p:txBody>
          <a:bodyPr>
            <a:normAutofit/>
          </a:bodyPr>
          <a:lstStyle/>
          <a:p>
            <a:pPr marL="0" indent="0">
              <a:buNone/>
            </a:pPr>
            <a:r>
              <a:rPr lang="en-US" dirty="0"/>
              <a:t>5. Reasoning and background knowledge</a:t>
            </a:r>
          </a:p>
          <a:p>
            <a:r>
              <a:rPr lang="en-US" dirty="0"/>
              <a:t>Most readers relate what they’ve read to what they know. So it’s important for readers to have background or prior knowledge about the world when they read. They also need to be able to “read between the lines” and pull out meaning even when it’s not literally spelled out. (building general knowledge is key)</a:t>
            </a:r>
          </a:p>
          <a:p>
            <a:pPr marL="0" indent="0">
              <a:buNone/>
            </a:pPr>
            <a:r>
              <a:rPr lang="en-US" dirty="0"/>
              <a:t>6. Working memory and attention</a:t>
            </a:r>
          </a:p>
          <a:p>
            <a:r>
              <a:rPr lang="en-US" dirty="0"/>
              <a:t>These two skills are both part of a group of abilities known as executive function . They’re different but closely related . When readers read, attention allows them to take in information from the text. Working memory allows them to hold on to that information and use it to gain meaning and build knowledge from what they’re reading.</a:t>
            </a:r>
            <a:endParaRPr lang="en-IN" dirty="0"/>
          </a:p>
        </p:txBody>
      </p:sp>
    </p:spTree>
    <p:extLst>
      <p:ext uri="{BB962C8B-B14F-4D97-AF65-F5344CB8AC3E}">
        <p14:creationId xmlns:p14="http://schemas.microsoft.com/office/powerpoint/2010/main" val="2438932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3A0B4-FB01-495B-A96D-AC89EA49D546}"/>
              </a:ext>
            </a:extLst>
          </p:cNvPr>
          <p:cNvSpPr>
            <a:spLocks noGrp="1"/>
          </p:cNvSpPr>
          <p:nvPr>
            <p:ph type="title"/>
          </p:nvPr>
        </p:nvSpPr>
        <p:spPr/>
        <p:txBody>
          <a:bodyPr/>
          <a:lstStyle/>
          <a:p>
            <a:r>
              <a:rPr lang="en-US" dirty="0"/>
              <a:t>General Strategies for Reading Comprehension</a:t>
            </a:r>
            <a:endParaRPr lang="en-IN" dirty="0"/>
          </a:p>
        </p:txBody>
      </p:sp>
      <p:sp>
        <p:nvSpPr>
          <p:cNvPr id="3" name="Content Placeholder 2">
            <a:extLst>
              <a:ext uri="{FF2B5EF4-FFF2-40B4-BE49-F238E27FC236}">
                <a16:creationId xmlns:a16="http://schemas.microsoft.com/office/drawing/2014/main" id="{386AF401-4149-4E5F-B475-082996141522}"/>
              </a:ext>
            </a:extLst>
          </p:cNvPr>
          <p:cNvSpPr>
            <a:spLocks noGrp="1"/>
          </p:cNvSpPr>
          <p:nvPr>
            <p:ph idx="1"/>
          </p:nvPr>
        </p:nvSpPr>
        <p:spPr/>
        <p:txBody>
          <a:bodyPr>
            <a:normAutofit/>
          </a:bodyPr>
          <a:lstStyle/>
          <a:p>
            <a:r>
              <a:rPr lang="en-IN" dirty="0"/>
              <a:t>Using Prior Knowledge/Previewing</a:t>
            </a:r>
          </a:p>
          <a:p>
            <a:r>
              <a:rPr lang="en-US" dirty="0"/>
              <a:t>When readers preview text, they tap into what they already know that will help them to understand the text they are about to read. This provides a framework for any new information they read.</a:t>
            </a:r>
          </a:p>
          <a:p>
            <a:r>
              <a:rPr lang="en-IN" dirty="0"/>
              <a:t>Predicting</a:t>
            </a:r>
          </a:p>
          <a:p>
            <a:r>
              <a:rPr lang="en-US" dirty="0"/>
              <a:t>When readers make predictions about the text they are about to read, it sets up expectations based on their prior knowledge about similar topics. Further,  they may mentally revise their prediction as they gain more information.</a:t>
            </a:r>
            <a:endParaRPr lang="en-IN" dirty="0"/>
          </a:p>
        </p:txBody>
      </p:sp>
    </p:spTree>
    <p:extLst>
      <p:ext uri="{BB962C8B-B14F-4D97-AF65-F5344CB8AC3E}">
        <p14:creationId xmlns:p14="http://schemas.microsoft.com/office/powerpoint/2010/main" val="3613311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BC1B6-EDA0-43CD-A370-EB261960A325}"/>
              </a:ext>
            </a:extLst>
          </p:cNvPr>
          <p:cNvSpPr>
            <a:spLocks noGrp="1"/>
          </p:cNvSpPr>
          <p:nvPr>
            <p:ph idx="1"/>
          </p:nvPr>
        </p:nvSpPr>
        <p:spPr>
          <a:xfrm>
            <a:off x="838200" y="331304"/>
            <a:ext cx="10515600" cy="6202018"/>
          </a:xfrm>
        </p:spPr>
        <p:txBody>
          <a:bodyPr>
            <a:normAutofit lnSpcReduction="10000"/>
          </a:bodyPr>
          <a:lstStyle/>
          <a:p>
            <a:r>
              <a:rPr lang="en-US" dirty="0"/>
              <a:t>Contd….</a:t>
            </a:r>
          </a:p>
          <a:p>
            <a:endParaRPr lang="en-US" dirty="0"/>
          </a:p>
          <a:p>
            <a:pPr marL="0" indent="0">
              <a:buNone/>
            </a:pPr>
            <a:r>
              <a:rPr lang="en-US" dirty="0"/>
              <a:t>Identifying the Main Idea and Summarization</a:t>
            </a:r>
          </a:p>
          <a:p>
            <a:r>
              <a:rPr lang="en-US" dirty="0"/>
              <a:t>Identifying the main idea and summarizing requires readers to determine what is important and then put it in their own words. Implicit (hidden) in this process is trying to understand the author’s purpose in writing the text.</a:t>
            </a:r>
          </a:p>
          <a:p>
            <a:pPr marL="0" indent="0">
              <a:buNone/>
            </a:pPr>
            <a:r>
              <a:rPr lang="en-US" dirty="0"/>
              <a:t>Questioning</a:t>
            </a:r>
          </a:p>
          <a:p>
            <a:r>
              <a:rPr lang="en-US" dirty="0"/>
              <a:t>Asking and answering questions about text is another strategy that helps readers focus on the meaning of text. In educational institutions teachers can help by modeling both the process of asking good questions and strategies for finding the answers in the text. </a:t>
            </a:r>
          </a:p>
          <a:p>
            <a:pPr marL="0" indent="0">
              <a:buNone/>
            </a:pPr>
            <a:endParaRPr lang="en-US" dirty="0"/>
          </a:p>
          <a:p>
            <a:pPr marL="0" indent="0">
              <a:buNone/>
            </a:pPr>
            <a:r>
              <a:rPr lang="en-US" b="1" i="1" dirty="0">
                <a:solidFill>
                  <a:srgbClr val="00B0F0"/>
                </a:solidFill>
              </a:rPr>
              <a:t>Hence, reading comprehension is an important component in language and communication courses</a:t>
            </a:r>
            <a:endParaRPr lang="en-IN" b="1" i="1" dirty="0">
              <a:solidFill>
                <a:srgbClr val="00B0F0"/>
              </a:solidFill>
            </a:endParaRPr>
          </a:p>
        </p:txBody>
      </p:sp>
    </p:spTree>
    <p:extLst>
      <p:ext uri="{BB962C8B-B14F-4D97-AF65-F5344CB8AC3E}">
        <p14:creationId xmlns:p14="http://schemas.microsoft.com/office/powerpoint/2010/main" val="2654181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C184D5-47F8-4871-9685-7BBC44445F0A}"/>
              </a:ext>
            </a:extLst>
          </p:cNvPr>
          <p:cNvSpPr>
            <a:spLocks noGrp="1"/>
          </p:cNvSpPr>
          <p:nvPr>
            <p:ph idx="1"/>
          </p:nvPr>
        </p:nvSpPr>
        <p:spPr>
          <a:xfrm>
            <a:off x="838200" y="159026"/>
            <a:ext cx="10515600" cy="6017937"/>
          </a:xfrm>
        </p:spPr>
        <p:txBody>
          <a:bodyPr/>
          <a:lstStyle/>
          <a:p>
            <a:r>
              <a:rPr lang="en-US" dirty="0"/>
              <a:t>Contd….</a:t>
            </a:r>
          </a:p>
          <a:p>
            <a:endParaRPr lang="en-US" dirty="0"/>
          </a:p>
          <a:p>
            <a:pPr marL="0" indent="0">
              <a:buNone/>
            </a:pPr>
            <a:r>
              <a:rPr lang="en-US" dirty="0"/>
              <a:t>Making Inferences</a:t>
            </a:r>
          </a:p>
          <a:p>
            <a:r>
              <a:rPr lang="en-US" dirty="0"/>
              <a:t>In order to make inferences about something that is not explicitly stated in the text, readers must learn to draw on prior knowledge and recognize clues in the text itself.</a:t>
            </a:r>
          </a:p>
          <a:p>
            <a:endParaRPr lang="en-US" dirty="0"/>
          </a:p>
          <a:p>
            <a:pPr marL="0" indent="0">
              <a:buNone/>
            </a:pPr>
            <a:r>
              <a:rPr lang="en-US" dirty="0"/>
              <a:t>Visualizing</a:t>
            </a:r>
          </a:p>
          <a:p>
            <a:r>
              <a:rPr lang="en-US" dirty="0"/>
              <a:t>Studies have shown that readers who visualize while reading have better recall than those who do not. </a:t>
            </a:r>
          </a:p>
          <a:p>
            <a:r>
              <a:rPr lang="en-US" dirty="0"/>
              <a:t>Readers can take advantage of illustrations that are embedded in the text or create their own mental images or drawings when reading text without illustrations.</a:t>
            </a:r>
            <a:endParaRPr lang="en-IN" dirty="0"/>
          </a:p>
        </p:txBody>
      </p:sp>
    </p:spTree>
    <p:extLst>
      <p:ext uri="{BB962C8B-B14F-4D97-AF65-F5344CB8AC3E}">
        <p14:creationId xmlns:p14="http://schemas.microsoft.com/office/powerpoint/2010/main" val="2214070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DC0C7-E7BC-4955-9FA5-C75DD53ACDAD}"/>
              </a:ext>
            </a:extLst>
          </p:cNvPr>
          <p:cNvSpPr>
            <a:spLocks noGrp="1"/>
          </p:cNvSpPr>
          <p:nvPr>
            <p:ph type="title"/>
          </p:nvPr>
        </p:nvSpPr>
        <p:spPr/>
        <p:txBody>
          <a:bodyPr/>
          <a:lstStyle/>
          <a:p>
            <a:r>
              <a:rPr lang="en-US" dirty="0"/>
              <a:t>Purpose of reading </a:t>
            </a:r>
            <a:endParaRPr lang="en-IN" dirty="0"/>
          </a:p>
        </p:txBody>
      </p:sp>
      <p:sp>
        <p:nvSpPr>
          <p:cNvPr id="3" name="Content Placeholder 2">
            <a:extLst>
              <a:ext uri="{FF2B5EF4-FFF2-40B4-BE49-F238E27FC236}">
                <a16:creationId xmlns:a16="http://schemas.microsoft.com/office/drawing/2014/main" id="{8B482451-2FE0-43C7-A58F-B121C894D8FF}"/>
              </a:ext>
            </a:extLst>
          </p:cNvPr>
          <p:cNvSpPr>
            <a:spLocks noGrp="1"/>
          </p:cNvSpPr>
          <p:nvPr>
            <p:ph idx="1"/>
          </p:nvPr>
        </p:nvSpPr>
        <p:spPr/>
        <p:txBody>
          <a:bodyPr>
            <a:normAutofit lnSpcReduction="10000"/>
          </a:bodyPr>
          <a:lstStyle/>
          <a:p>
            <a:r>
              <a:rPr lang="en-US" dirty="0"/>
              <a:t>Reading for the Main idea</a:t>
            </a:r>
          </a:p>
          <a:p>
            <a:r>
              <a:rPr lang="en-US" dirty="0"/>
              <a:t>Finding specific information</a:t>
            </a:r>
          </a:p>
          <a:p>
            <a:r>
              <a:rPr lang="en-US" dirty="0"/>
              <a:t>Reading for detail</a:t>
            </a:r>
          </a:p>
          <a:p>
            <a:r>
              <a:rPr lang="en-US" dirty="0"/>
              <a:t>Reading and transferring information</a:t>
            </a:r>
          </a:p>
          <a:p>
            <a:r>
              <a:rPr lang="en-US" dirty="0"/>
              <a:t>Understanding the attitudes.</a:t>
            </a:r>
          </a:p>
          <a:p>
            <a:r>
              <a:rPr lang="en-US" dirty="0"/>
              <a:t>Reading for pleasure </a:t>
            </a:r>
          </a:p>
          <a:p>
            <a:endParaRPr lang="en-US" dirty="0"/>
          </a:p>
          <a:p>
            <a:pPr marL="0" indent="0">
              <a:buNone/>
            </a:pPr>
            <a:r>
              <a:rPr lang="en-US" dirty="0"/>
              <a:t>A good reader is usually a good writer and with instruction and training can be a good speaker/ orator</a:t>
            </a:r>
            <a:endParaRPr lang="en-IN" dirty="0"/>
          </a:p>
        </p:txBody>
      </p:sp>
    </p:spTree>
    <p:extLst>
      <p:ext uri="{BB962C8B-B14F-4D97-AF65-F5344CB8AC3E}">
        <p14:creationId xmlns:p14="http://schemas.microsoft.com/office/powerpoint/2010/main" val="425297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41FFA-940E-415F-9D7A-1B73A33B561E}"/>
              </a:ext>
            </a:extLst>
          </p:cNvPr>
          <p:cNvSpPr>
            <a:spLocks noGrp="1"/>
          </p:cNvSpPr>
          <p:nvPr>
            <p:ph type="title"/>
          </p:nvPr>
        </p:nvSpPr>
        <p:spPr/>
        <p:txBody>
          <a:bodyPr>
            <a:normAutofit fontScale="90000"/>
          </a:bodyPr>
          <a:lstStyle/>
          <a:p>
            <a:br>
              <a:rPr lang="en-US" dirty="0"/>
            </a:br>
            <a:r>
              <a:rPr lang="en-US" dirty="0"/>
              <a:t>Cognitive strategies of effective readers </a:t>
            </a:r>
            <a:br>
              <a:rPr lang="en-US" dirty="0"/>
            </a:br>
            <a:endParaRPr lang="en-IN" dirty="0"/>
          </a:p>
        </p:txBody>
      </p:sp>
      <p:sp>
        <p:nvSpPr>
          <p:cNvPr id="3" name="Content Placeholder 2">
            <a:extLst>
              <a:ext uri="{FF2B5EF4-FFF2-40B4-BE49-F238E27FC236}">
                <a16:creationId xmlns:a16="http://schemas.microsoft.com/office/drawing/2014/main" id="{669F8DB6-3DFF-4DB6-AA3B-A9E7F5D1E301}"/>
              </a:ext>
            </a:extLst>
          </p:cNvPr>
          <p:cNvSpPr>
            <a:spLocks noGrp="1"/>
          </p:cNvSpPr>
          <p:nvPr>
            <p:ph idx="1"/>
          </p:nvPr>
        </p:nvSpPr>
        <p:spPr/>
        <p:txBody>
          <a:bodyPr/>
          <a:lstStyle/>
          <a:p>
            <a:r>
              <a:rPr lang="en-US" dirty="0"/>
              <a:t>Activating</a:t>
            </a:r>
          </a:p>
          <a:p>
            <a:r>
              <a:rPr lang="en-US" dirty="0"/>
              <a:t>Inferring</a:t>
            </a:r>
          </a:p>
          <a:p>
            <a:r>
              <a:rPr lang="en-US" dirty="0"/>
              <a:t>monitoring-clarifying</a:t>
            </a:r>
          </a:p>
          <a:p>
            <a:r>
              <a:rPr lang="en-US" dirty="0"/>
              <a:t> questioning</a:t>
            </a:r>
          </a:p>
          <a:p>
            <a:r>
              <a:rPr lang="en-US" dirty="0"/>
              <a:t>searching-selecting</a:t>
            </a:r>
          </a:p>
          <a:p>
            <a:r>
              <a:rPr lang="en-US" dirty="0"/>
              <a:t>Summarizing</a:t>
            </a:r>
          </a:p>
          <a:p>
            <a:r>
              <a:rPr lang="en-US" dirty="0"/>
              <a:t>Visualizing-organizing</a:t>
            </a:r>
            <a:endParaRPr lang="en-IN" dirty="0"/>
          </a:p>
        </p:txBody>
      </p:sp>
    </p:spTree>
    <p:extLst>
      <p:ext uri="{BB962C8B-B14F-4D97-AF65-F5344CB8AC3E}">
        <p14:creationId xmlns:p14="http://schemas.microsoft.com/office/powerpoint/2010/main" val="3533685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47276-15C2-49A9-9A32-762456FCED0D}"/>
              </a:ext>
            </a:extLst>
          </p:cNvPr>
          <p:cNvSpPr>
            <a:spLocks noGrp="1"/>
          </p:cNvSpPr>
          <p:nvPr>
            <p:ph type="title"/>
          </p:nvPr>
        </p:nvSpPr>
        <p:spPr/>
        <p:txBody>
          <a:bodyPr>
            <a:normAutofit fontScale="90000"/>
          </a:bodyPr>
          <a:lstStyle/>
          <a:p>
            <a:br>
              <a:rPr lang="en-IN" dirty="0"/>
            </a:br>
            <a:r>
              <a:rPr lang="en-IN" dirty="0"/>
              <a:t>Key Takeaways</a:t>
            </a:r>
            <a:br>
              <a:rPr lang="en-IN" dirty="0"/>
            </a:br>
            <a:endParaRPr lang="en-IN" dirty="0"/>
          </a:p>
        </p:txBody>
      </p:sp>
      <p:sp>
        <p:nvSpPr>
          <p:cNvPr id="3" name="Content Placeholder 2">
            <a:extLst>
              <a:ext uri="{FF2B5EF4-FFF2-40B4-BE49-F238E27FC236}">
                <a16:creationId xmlns:a16="http://schemas.microsoft.com/office/drawing/2014/main" id="{8DD57086-582E-4587-AA91-775FE051BDE0}"/>
              </a:ext>
            </a:extLst>
          </p:cNvPr>
          <p:cNvSpPr>
            <a:spLocks noGrp="1"/>
          </p:cNvSpPr>
          <p:nvPr>
            <p:ph idx="1"/>
          </p:nvPr>
        </p:nvSpPr>
        <p:spPr/>
        <p:txBody>
          <a:bodyPr/>
          <a:lstStyle/>
          <a:p>
            <a:r>
              <a:rPr lang="en-US" dirty="0"/>
              <a:t>Decoding, fluency, and vocabulary skills are key to reading comprehension.</a:t>
            </a:r>
          </a:p>
          <a:p>
            <a:r>
              <a:rPr lang="en-US" dirty="0"/>
              <a:t>Being able to connect ideas within and between sentences helps students understand the whole text.</a:t>
            </a:r>
          </a:p>
          <a:p>
            <a:r>
              <a:rPr lang="en-US" dirty="0"/>
              <a:t>Reading aloud and talking about experiences can </a:t>
            </a:r>
            <a:r>
              <a:rPr lang="en-US"/>
              <a:t>help students </a:t>
            </a:r>
            <a:r>
              <a:rPr lang="en-US" dirty="0"/>
              <a:t>build reading skills.</a:t>
            </a:r>
            <a:endParaRPr lang="en-IN" dirty="0"/>
          </a:p>
        </p:txBody>
      </p:sp>
    </p:spTree>
    <p:extLst>
      <p:ext uri="{BB962C8B-B14F-4D97-AF65-F5344CB8AC3E}">
        <p14:creationId xmlns:p14="http://schemas.microsoft.com/office/powerpoint/2010/main" val="3833882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TotalTime>
  <Words>807</Words>
  <Application>Microsoft Office PowerPoint</Application>
  <PresentationFormat>Widescreen</PresentationFormat>
  <Paragraphs>65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Reading Comprehension </vt:lpstr>
      <vt:lpstr>Comprehension: The Goal of Reading</vt:lpstr>
      <vt:lpstr>Six essential skills for reading comprehension </vt:lpstr>
      <vt:lpstr>PowerPoint Presentation</vt:lpstr>
      <vt:lpstr>PowerPoint Presentation</vt:lpstr>
      <vt:lpstr>General Strategies for Reading Comprehension</vt:lpstr>
      <vt:lpstr>PowerPoint Presentation</vt:lpstr>
      <vt:lpstr>PowerPoint Presentation</vt:lpstr>
      <vt:lpstr>Purpose of reading </vt:lpstr>
      <vt:lpstr> Cognitive strategies of effective readers  </vt:lpstr>
      <vt:lpstr> 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 course – schedule 2</dc:title>
  <dc:creator>Rishi Magavi</dc:creator>
  <cp:lastModifiedBy>Rishi Magavi</cp:lastModifiedBy>
  <cp:revision>15</cp:revision>
  <dcterms:created xsi:type="dcterms:W3CDTF">2020-12-08T07:18:04Z</dcterms:created>
  <dcterms:modified xsi:type="dcterms:W3CDTF">2022-03-17T09:45:13Z</dcterms:modified>
</cp:coreProperties>
</file>