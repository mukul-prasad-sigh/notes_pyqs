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25" r:id="rId54"/>
    <p:sldId id="321" r:id="rId55"/>
    <p:sldId id="322" r:id="rId56"/>
    <p:sldId id="326" r:id="rId57"/>
    <p:sldId id="308" r:id="rId58"/>
    <p:sldId id="311" r:id="rId59"/>
    <p:sldId id="312" r:id="rId60"/>
    <p:sldId id="313" r:id="rId61"/>
    <p:sldId id="314" r:id="rId62"/>
    <p:sldId id="315" r:id="rId63"/>
    <p:sldId id="316"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3" d="100"/>
          <a:sy n="73" d="100"/>
        </p:scale>
        <p:origin x="-1128"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E42715-BC00-4795-A027-24AD74FD0446}" type="datetimeFigureOut">
              <a:rPr lang="en-US" smtClean="0"/>
              <a:pPr/>
              <a:t>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E42715-BC00-4795-A027-24AD74FD0446}" type="datetimeFigureOut">
              <a:rPr lang="en-US" smtClean="0"/>
              <a:pPr/>
              <a:t>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E42715-BC00-4795-A027-24AD74FD0446}" type="datetimeFigureOut">
              <a:rPr lang="en-US" smtClean="0"/>
              <a:pPr/>
              <a:t>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E42715-BC00-4795-A027-24AD74FD0446}" type="datetimeFigureOut">
              <a:rPr lang="en-US" smtClean="0"/>
              <a:pPr/>
              <a:t>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E42715-BC00-4795-A027-24AD74FD0446}" type="datetimeFigureOut">
              <a:rPr lang="en-US" smtClean="0"/>
              <a:pPr/>
              <a:t>1/24/2022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E42715-BC00-4795-A027-24AD74FD0446}" type="datetimeFigureOut">
              <a:rPr lang="en-US" smtClean="0"/>
              <a:pPr/>
              <a:t>1/24/2022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E42715-BC00-4795-A027-24AD74FD0446}" type="datetimeFigureOut">
              <a:rPr lang="en-US" smtClean="0"/>
              <a:pPr/>
              <a:t>1/24/2022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E42715-BC00-4795-A027-24AD74FD0446}" type="datetimeFigureOut">
              <a:rPr lang="en-US" smtClean="0"/>
              <a:pPr/>
              <a:t>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E42715-BC00-4795-A027-24AD74FD0446}" type="datetimeFigureOut">
              <a:rPr lang="en-US" smtClean="0"/>
              <a:pPr/>
              <a:t>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E42715-BC00-4795-A027-24AD74FD0446}" type="datetimeFigureOut">
              <a:rPr lang="en-US" smtClean="0"/>
              <a:pPr/>
              <a:t>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E42715-BC00-4795-A027-24AD74FD0446}" type="datetimeFigureOut">
              <a:rPr lang="en-US" smtClean="0"/>
              <a:pPr/>
              <a:t>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09A43B-2AB8-4D65-B388-6D0786CDF84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E42715-BC00-4795-A027-24AD74FD0446}" type="datetimeFigureOut">
              <a:rPr lang="en-US" smtClean="0"/>
              <a:pPr/>
              <a:t>1/24/2022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09A43B-2AB8-4D65-B388-6D0786CDF8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5786" y="928671"/>
            <a:ext cx="7672414" cy="2071701"/>
          </a:xfrm>
        </p:spPr>
        <p:txBody>
          <a:bodyPr>
            <a:normAutofit fontScale="90000"/>
          </a:bodyPr>
          <a:lstStyle/>
          <a:p>
            <a:r>
              <a:rPr lang="en-IN" dirty="0" smtClean="0"/>
              <a:t>Scientific Foundation for </a:t>
            </a:r>
            <a:r>
              <a:rPr lang="en-IN" dirty="0" smtClean="0"/>
              <a:t>Health</a:t>
            </a:r>
            <a:br>
              <a:rPr lang="en-IN" dirty="0" smtClean="0"/>
            </a:br>
            <a:r>
              <a:rPr lang="en-IN" dirty="0" smtClean="0"/>
              <a:t/>
            </a:r>
            <a:br>
              <a:rPr lang="en-IN" dirty="0" smtClean="0"/>
            </a:br>
            <a:r>
              <a:rPr lang="en-IN" dirty="0" smtClean="0"/>
              <a:t> </a:t>
            </a:r>
            <a:r>
              <a:rPr lang="en-IN" dirty="0" smtClean="0"/>
              <a:t>Module </a:t>
            </a:r>
            <a:r>
              <a:rPr lang="en-IN" dirty="0" smtClean="0"/>
              <a:t>5</a:t>
            </a:r>
            <a:endParaRPr lang="en-US" dirty="0"/>
          </a:p>
        </p:txBody>
      </p:sp>
      <p:sp>
        <p:nvSpPr>
          <p:cNvPr id="3" name="Subtitle 2"/>
          <p:cNvSpPr>
            <a:spLocks noGrp="1"/>
          </p:cNvSpPr>
          <p:nvPr>
            <p:ph type="subTitle" idx="1"/>
          </p:nvPr>
        </p:nvSpPr>
        <p:spPr>
          <a:xfrm>
            <a:off x="714348" y="3643314"/>
            <a:ext cx="7929618" cy="2643206"/>
          </a:xfrm>
        </p:spPr>
        <p:txBody>
          <a:bodyPr>
            <a:norm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Scientific Foundation for Health Module 5.2</a:t>
            </a:r>
            <a:endParaRPr lang="en-US" dirty="0"/>
          </a:p>
        </p:txBody>
      </p:sp>
      <p:sp>
        <p:nvSpPr>
          <p:cNvPr id="3" name="Content Placeholder 2"/>
          <p:cNvSpPr>
            <a:spLocks noGrp="1"/>
          </p:cNvSpPr>
          <p:nvPr>
            <p:ph idx="1"/>
          </p:nvPr>
        </p:nvSpPr>
        <p:spPr/>
        <p:txBody>
          <a:bodyPr/>
          <a:lstStyle/>
          <a:p>
            <a:pPr>
              <a:buNone/>
            </a:pPr>
            <a:r>
              <a:rPr lang="en-IN" dirty="0" smtClean="0"/>
              <a:t>Content </a:t>
            </a:r>
          </a:p>
          <a:p>
            <a:pPr>
              <a:buNone/>
            </a:pPr>
            <a:r>
              <a:rPr lang="en-IN" dirty="0"/>
              <a:t> </a:t>
            </a:r>
            <a:r>
              <a:rPr lang="en-IN" dirty="0" smtClean="0"/>
              <a:t>1) Management of chronic illness for better quality of life</a:t>
            </a:r>
          </a:p>
          <a:p>
            <a:pPr>
              <a:buNone/>
            </a:pPr>
            <a:r>
              <a:rPr lang="en-IN" dirty="0"/>
              <a:t> </a:t>
            </a:r>
            <a:r>
              <a:rPr lang="en-IN" dirty="0" smtClean="0"/>
              <a:t> 2) Health and Wellness of Youth- a challenge for upcoming future</a:t>
            </a:r>
          </a:p>
          <a:p>
            <a:pPr>
              <a:buNone/>
            </a:pPr>
            <a:r>
              <a:rPr lang="en-IN" dirty="0"/>
              <a:t> </a:t>
            </a:r>
            <a:r>
              <a:rPr lang="en-IN" dirty="0" smtClean="0"/>
              <a:t> 3) Measuring of health and wellness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Unit -1</a:t>
            </a:r>
            <a:r>
              <a:rPr lang="en-US" dirty="0" smtClean="0"/>
              <a:t>:Chronic </a:t>
            </a:r>
            <a:r>
              <a:rPr lang="en-US" dirty="0"/>
              <a:t>illness</a:t>
            </a:r>
          </a:p>
        </p:txBody>
      </p:sp>
      <p:sp>
        <p:nvSpPr>
          <p:cNvPr id="3" name="Content Placeholder 2"/>
          <p:cNvSpPr>
            <a:spLocks noGrp="1"/>
          </p:cNvSpPr>
          <p:nvPr>
            <p:ph idx="1"/>
          </p:nvPr>
        </p:nvSpPr>
        <p:spPr/>
        <p:txBody>
          <a:bodyPr/>
          <a:lstStyle/>
          <a:p>
            <a:r>
              <a:rPr lang="en-US" dirty="0"/>
              <a:t>What is chronic disease/illness?</a:t>
            </a:r>
          </a:p>
          <a:p>
            <a:r>
              <a:rPr lang="en-US" dirty="0"/>
              <a:t>Chronic diseases are defined broadly as conditions that last for one year or more and require ongoing medical attention, as well as limit activities of daily living. </a:t>
            </a:r>
          </a:p>
          <a:p>
            <a:r>
              <a:rPr lang="en-US" dirty="0"/>
              <a:t>Example: heart disease, cancer, diabetes</a:t>
            </a:r>
          </a:p>
          <a:p>
            <a:r>
              <a:rPr lang="en-US" dirty="0"/>
              <a:t>They are also leading drives of the nation’s large scale health care costs.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Based on the latest data from C D C (centre for disease control), 10 most expensive chronic diseases are:</a:t>
            </a:r>
          </a:p>
          <a:p>
            <a:r>
              <a:rPr lang="en-US" dirty="0"/>
              <a:t>Cardio vascular diseases</a:t>
            </a:r>
          </a:p>
          <a:p>
            <a:r>
              <a:rPr lang="en-US" dirty="0"/>
              <a:t>Smoking related health issues</a:t>
            </a:r>
          </a:p>
          <a:p>
            <a:r>
              <a:rPr lang="en-US" dirty="0"/>
              <a:t>Alcohol related health issues</a:t>
            </a:r>
          </a:p>
          <a:p>
            <a:r>
              <a:rPr lang="en-US" dirty="0"/>
              <a:t>Diabetes </a:t>
            </a:r>
          </a:p>
          <a:p>
            <a:r>
              <a:rPr lang="en-US" dirty="0"/>
              <a:t>Alzheimer’s disease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Cancer</a:t>
            </a:r>
          </a:p>
          <a:p>
            <a:r>
              <a:rPr lang="en-US" dirty="0"/>
              <a:t>Obesity</a:t>
            </a:r>
          </a:p>
          <a:p>
            <a:r>
              <a:rPr lang="en-US" dirty="0"/>
              <a:t>Arthritis </a:t>
            </a:r>
          </a:p>
          <a:p>
            <a:r>
              <a:rPr lang="en-US" dirty="0"/>
              <a:t>Asthma</a:t>
            </a:r>
          </a:p>
          <a:p>
            <a:r>
              <a:rPr lang="en-US" dirty="0"/>
              <a:t>Stoke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At any given time 50% of the population has a chronic condition.</a:t>
            </a:r>
          </a:p>
          <a:p>
            <a:r>
              <a:rPr lang="en-US" dirty="0"/>
              <a:t>The medical management of chronic disorders accounts for three quarters nation’s health spending excluding nursing home care.</a:t>
            </a:r>
          </a:p>
          <a:p>
            <a:r>
              <a:rPr lang="en-US" dirty="0"/>
              <a:t>The chronically sick account for 90% of home care visits</a:t>
            </a:r>
          </a:p>
          <a:p>
            <a:r>
              <a:rPr lang="en-US" dirty="0"/>
              <a:t>83%of prescription drug use</a:t>
            </a:r>
          </a:p>
          <a:p>
            <a:r>
              <a:rPr lang="en-US" dirty="0"/>
              <a:t>80% of the days spent in hospitals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66% of doctors visit</a:t>
            </a:r>
          </a:p>
          <a:p>
            <a:r>
              <a:rPr lang="en-US" dirty="0"/>
              <a:t>55% of visits to hospital emergency rooms</a:t>
            </a:r>
          </a:p>
          <a:p>
            <a:r>
              <a:rPr lang="en-US" dirty="0"/>
              <a:t>These conditions are not confined to the elderly. More than one third young adults of ages 18 to 44 have at least one chronic disability. </a:t>
            </a:r>
          </a:p>
          <a:p>
            <a:r>
              <a:rPr lang="en-US" dirty="0"/>
              <a:t>At time each one of us will hear a physician say that our condition is chronic and cannot be cured. It can be managed.</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of life </a:t>
            </a:r>
          </a:p>
        </p:txBody>
      </p:sp>
      <p:sp>
        <p:nvSpPr>
          <p:cNvPr id="3" name="Content Placeholder 2"/>
          <p:cNvSpPr>
            <a:spLocks noGrp="1"/>
          </p:cNvSpPr>
          <p:nvPr>
            <p:ph idx="1"/>
          </p:nvPr>
        </p:nvSpPr>
        <p:spPr/>
        <p:txBody>
          <a:bodyPr>
            <a:normAutofit fontScale="92500" lnSpcReduction="10000"/>
          </a:bodyPr>
          <a:lstStyle/>
          <a:p>
            <a:r>
              <a:rPr lang="en-US" dirty="0"/>
              <a:t>“Quality of life is defined as an individual’s perception of their position in life in the context of the culture and value systems, in which they live and in relation to their goals, expectations, and standards”.</a:t>
            </a:r>
          </a:p>
          <a:p>
            <a:r>
              <a:rPr lang="en-US" dirty="0"/>
              <a:t>(Standard indicators of life: wealth, employment, the environment, physical and mental health, education, recreational and leisure time, social belonging, religious beliefs, safety, security and freedom)</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439718"/>
          </a:xfrm>
        </p:spPr>
        <p:txBody>
          <a:bodyPr>
            <a:normAutofit fontScale="90000"/>
          </a:bodyPr>
          <a:lstStyle/>
          <a:p>
            <a:endParaRPr lang="en-US" dirty="0"/>
          </a:p>
        </p:txBody>
      </p:sp>
      <p:sp>
        <p:nvSpPr>
          <p:cNvPr id="3" name="Content Placeholder 2"/>
          <p:cNvSpPr>
            <a:spLocks noGrp="1"/>
          </p:cNvSpPr>
          <p:nvPr>
            <p:ph idx="1"/>
          </p:nvPr>
        </p:nvSpPr>
        <p:spPr>
          <a:xfrm>
            <a:off x="500034" y="928670"/>
            <a:ext cx="8186766" cy="5197493"/>
          </a:xfrm>
        </p:spPr>
        <p:txBody>
          <a:bodyPr>
            <a:normAutofit lnSpcReduction="10000"/>
          </a:bodyPr>
          <a:lstStyle/>
          <a:p>
            <a:r>
              <a:rPr lang="en-US" dirty="0"/>
              <a:t>Simply quality of life means the degree to which an individual is healthy, comfortable, and able to participate in or enjoy life events.</a:t>
            </a:r>
          </a:p>
          <a:p>
            <a:r>
              <a:rPr lang="en-US" dirty="0"/>
              <a:t>Quality of life has a wide range of contexts. It includes the field of international development, health care, politics and employment</a:t>
            </a:r>
          </a:p>
          <a:p>
            <a:r>
              <a:rPr lang="en-US" dirty="0"/>
              <a:t>Quality of life has several components: Specifically, physical functioning, psychological status, disease or treatment, related symptomatology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Health related quality of life is an evaluation of quality of life and its relationship with health. In this field quality of life is often regarded in terms of how certain ailment affects a patient on an individual level.</a:t>
            </a:r>
          </a:p>
          <a:p>
            <a:r>
              <a:rPr lang="en-US" dirty="0"/>
              <a:t>Until recently quality of life was not considered an issue of psychological importance.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 or many years it was measured only in terms of length of survival and signs of presence of disease</a:t>
            </a:r>
          </a:p>
          <a:p>
            <a:r>
              <a:rPr lang="en-US" dirty="0"/>
              <a:t>In addition there was no consideration of the psychological consequence of illness and treatment.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quality of life</a:t>
            </a:r>
          </a:p>
        </p:txBody>
      </p:sp>
      <p:sp>
        <p:nvSpPr>
          <p:cNvPr id="3" name="Content Placeholder 2"/>
          <p:cNvSpPr>
            <a:spLocks noGrp="1"/>
          </p:cNvSpPr>
          <p:nvPr>
            <p:ph idx="1"/>
          </p:nvPr>
        </p:nvSpPr>
        <p:spPr/>
        <p:txBody>
          <a:bodyPr/>
          <a:lstStyle/>
          <a:p>
            <a:pPr>
              <a:buNone/>
            </a:pPr>
            <a:r>
              <a:rPr lang="en-US" dirty="0"/>
              <a:t>Quality of life has several components. Specifically,</a:t>
            </a:r>
          </a:p>
          <a:p>
            <a:r>
              <a:rPr lang="en-US" dirty="0"/>
              <a:t>Physical functioning</a:t>
            </a:r>
          </a:p>
          <a:p>
            <a:r>
              <a:rPr lang="en-US" dirty="0"/>
              <a:t>Psychological status </a:t>
            </a:r>
          </a:p>
          <a:p>
            <a:r>
              <a:rPr lang="en-US" dirty="0"/>
              <a:t>Social functioning</a:t>
            </a:r>
          </a:p>
          <a:p>
            <a:r>
              <a:rPr lang="en-US" dirty="0"/>
              <a:t>Disease or treatment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Assessment </a:t>
            </a:r>
            <a:r>
              <a:rPr lang="en-US" dirty="0"/>
              <a:t>of quality of life in chronic illness</a:t>
            </a:r>
            <a:br>
              <a:rPr lang="en-US" dirty="0"/>
            </a:br>
            <a:endParaRPr lang="en-US" dirty="0"/>
          </a:p>
        </p:txBody>
      </p:sp>
      <p:sp>
        <p:nvSpPr>
          <p:cNvPr id="3" name="Content Placeholder 2"/>
          <p:cNvSpPr>
            <a:spLocks noGrp="1"/>
          </p:cNvSpPr>
          <p:nvPr>
            <p:ph idx="1"/>
          </p:nvPr>
        </p:nvSpPr>
        <p:spPr/>
        <p:txBody>
          <a:bodyPr/>
          <a:lstStyle/>
          <a:p>
            <a:r>
              <a:rPr lang="en-US" dirty="0"/>
              <a:t>Till now the assessment of the quality of life of chronically ill was based on how much the disease and treatment interferes with the activities of daily living such as –</a:t>
            </a:r>
          </a:p>
          <a:p>
            <a:r>
              <a:rPr lang="en-US" dirty="0"/>
              <a:t>Sleeping,</a:t>
            </a:r>
          </a:p>
          <a:p>
            <a:r>
              <a:rPr lang="en-US" dirty="0"/>
              <a:t>Eating, </a:t>
            </a:r>
          </a:p>
          <a:p>
            <a:r>
              <a:rPr lang="en-US" dirty="0"/>
              <a:t>Going to work and </a:t>
            </a:r>
          </a:p>
          <a:p>
            <a:r>
              <a:rPr lang="en-US" dirty="0"/>
              <a:t>Engaging in recreational activities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patients with more advanced diseases, such assessments include whether the patient is able to bathe, dress, use toilet, be mobile, be content, and eat without assistance</a:t>
            </a:r>
          </a:p>
          <a:p>
            <a:r>
              <a:rPr lang="en-US" dirty="0"/>
              <a:t>Essentially the quality of life assessment gauge the extent to which a patient’ normal life activities have been compromised by disease and treatment</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Why </a:t>
            </a:r>
            <a:r>
              <a:rPr lang="en-US" dirty="0"/>
              <a:t>we should study quality of life of chronically ill?</a:t>
            </a:r>
            <a:br>
              <a:rPr lang="en-US" dirty="0"/>
            </a:br>
            <a:endParaRPr lang="en-US" dirty="0"/>
          </a:p>
        </p:txBody>
      </p:sp>
      <p:sp>
        <p:nvSpPr>
          <p:cNvPr id="3" name="Content Placeholder 2"/>
          <p:cNvSpPr>
            <a:spLocks noGrp="1"/>
          </p:cNvSpPr>
          <p:nvPr>
            <p:ph idx="1"/>
          </p:nvPr>
        </p:nvSpPr>
        <p:spPr>
          <a:xfrm>
            <a:off x="500034" y="1600200"/>
            <a:ext cx="8186766" cy="4972072"/>
          </a:xfrm>
        </p:spPr>
        <p:txBody>
          <a:bodyPr>
            <a:normAutofit fontScale="92500" lnSpcReduction="20000"/>
          </a:bodyPr>
          <a:lstStyle/>
          <a:p>
            <a:r>
              <a:rPr lang="en-US" dirty="0"/>
              <a:t>Studying chronically ill patients and their quality of life is important for the following</a:t>
            </a:r>
          </a:p>
          <a:p>
            <a:pPr lvl="0"/>
            <a:r>
              <a:rPr lang="en-US" dirty="0"/>
              <a:t>Documentation of exactly how illness affects vocational, social, and personal activities. This provides an important basis for interventions designed to improve quality of life.</a:t>
            </a:r>
          </a:p>
          <a:p>
            <a:pPr lvl="0"/>
            <a:r>
              <a:rPr lang="en-US" dirty="0"/>
              <a:t>Quality of life measures can help pinpoint which problems are likely to emerge for patients with diseases. Example: such measure might indicate that sexual functioning is a problem for a patient. Such information would be helpful in anticipating the intervention that are required</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725470"/>
          </a:xfrm>
        </p:spPr>
        <p:txBody>
          <a:bodyPr>
            <a:normAutofit fontScale="90000"/>
          </a:bodyPr>
          <a:lstStyle/>
          <a:p>
            <a:endParaRPr lang="en-US" dirty="0"/>
          </a:p>
        </p:txBody>
      </p:sp>
      <p:sp>
        <p:nvSpPr>
          <p:cNvPr id="3" name="Content Placeholder 2"/>
          <p:cNvSpPr>
            <a:spLocks noGrp="1"/>
          </p:cNvSpPr>
          <p:nvPr>
            <p:ph idx="1"/>
          </p:nvPr>
        </p:nvSpPr>
        <p:spPr>
          <a:xfrm>
            <a:off x="500034" y="1214422"/>
            <a:ext cx="8186766" cy="5072098"/>
          </a:xfrm>
        </p:spPr>
        <p:txBody>
          <a:bodyPr>
            <a:normAutofit fontScale="92500" lnSpcReduction="10000"/>
          </a:bodyPr>
          <a:lstStyle/>
          <a:p>
            <a:pPr lvl="0"/>
            <a:r>
              <a:rPr lang="en-US" dirty="0"/>
              <a:t>Quality of life measures also assess the impact of treatments on quality of life of the chronically ill</a:t>
            </a:r>
          </a:p>
          <a:p>
            <a:pPr lvl="0"/>
            <a:r>
              <a:rPr lang="en-US" dirty="0"/>
              <a:t>Quality of life information can be used to compare therapies and their outcome</a:t>
            </a:r>
          </a:p>
          <a:p>
            <a:pPr lvl="0"/>
            <a:r>
              <a:rPr lang="en-US" dirty="0"/>
              <a:t>Quality of life information can inform decision makers about care that will maximize long term survival with the highest quality of life possible</a:t>
            </a:r>
          </a:p>
          <a:p>
            <a:pPr lvl="0"/>
            <a:r>
              <a:rPr lang="en-US" dirty="0"/>
              <a:t>Information enables policy makers to compare the impact of different chronic diseases on health care costs and to assess the cost effectiveness of different interventions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 chronic health condition is any condition lasting six months or longer. Example: asthma, arthritis, cancer, obesity, diabetes, chronic pain or heart diseases</a:t>
            </a:r>
          </a:p>
          <a:p>
            <a:r>
              <a:rPr lang="en-US" dirty="0"/>
              <a:t>Modern day treatments have made provision for people with chronic condition to live longer with diseases that previously led to premature death.</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What </a:t>
            </a:r>
            <a:r>
              <a:rPr lang="en-US" dirty="0"/>
              <a:t>causes chronic illness and associate conditions?</a:t>
            </a:r>
            <a:br>
              <a:rPr lang="en-US" dirty="0"/>
            </a:br>
            <a:endParaRPr lang="en-US" dirty="0"/>
          </a:p>
        </p:txBody>
      </p:sp>
      <p:sp>
        <p:nvSpPr>
          <p:cNvPr id="3" name="Content Placeholder 2"/>
          <p:cNvSpPr>
            <a:spLocks noGrp="1"/>
          </p:cNvSpPr>
          <p:nvPr>
            <p:ph idx="1"/>
          </p:nvPr>
        </p:nvSpPr>
        <p:spPr/>
        <p:txBody>
          <a:bodyPr/>
          <a:lstStyle/>
          <a:p>
            <a:pPr lvl="0"/>
            <a:endParaRPr lang="en-US" dirty="0" smtClean="0"/>
          </a:p>
          <a:p>
            <a:pPr lvl="0"/>
            <a:r>
              <a:rPr lang="en-US" dirty="0" smtClean="0"/>
              <a:t>They </a:t>
            </a:r>
            <a:r>
              <a:rPr lang="en-US" dirty="0"/>
              <a:t>are caused by a number of different health factors resulting at simultaneously</a:t>
            </a:r>
          </a:p>
          <a:p>
            <a:pPr lvl="0"/>
            <a:endParaRPr lang="en-US" dirty="0" smtClean="0"/>
          </a:p>
          <a:p>
            <a:pPr lvl="0"/>
            <a:r>
              <a:rPr lang="en-US" dirty="0" smtClean="0"/>
              <a:t>They </a:t>
            </a:r>
            <a:r>
              <a:rPr lang="en-US" dirty="0"/>
              <a:t>take some time to develop</a:t>
            </a:r>
          </a:p>
          <a:p>
            <a:pPr lvl="0"/>
            <a:endParaRPr lang="en-US" dirty="0" smtClean="0"/>
          </a:p>
          <a:p>
            <a:pPr lvl="0"/>
            <a:r>
              <a:rPr lang="en-US" dirty="0" smtClean="0"/>
              <a:t>They </a:t>
            </a:r>
            <a:r>
              <a:rPr lang="en-US" dirty="0"/>
              <a:t>last for a long time and often lead to other health problems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How </a:t>
            </a:r>
            <a:r>
              <a:rPr lang="en-US" dirty="0"/>
              <a:t>to maintain better quality of life in the chronically ill?</a:t>
            </a:r>
            <a:br>
              <a:rPr lang="en-US" dirty="0"/>
            </a:br>
            <a:endParaRPr lang="en-US" dirty="0"/>
          </a:p>
        </p:txBody>
      </p:sp>
      <p:sp>
        <p:nvSpPr>
          <p:cNvPr id="3" name="Content Placeholder 2"/>
          <p:cNvSpPr>
            <a:spLocks noGrp="1"/>
          </p:cNvSpPr>
          <p:nvPr>
            <p:ph idx="1"/>
          </p:nvPr>
        </p:nvSpPr>
        <p:spPr/>
        <p:txBody>
          <a:bodyPr/>
          <a:lstStyle/>
          <a:p>
            <a:endParaRPr lang="en-US" dirty="0" smtClean="0"/>
          </a:p>
          <a:p>
            <a:r>
              <a:rPr lang="en-US" dirty="0" smtClean="0"/>
              <a:t>Chronic </a:t>
            </a:r>
            <a:r>
              <a:rPr lang="en-US" dirty="0"/>
              <a:t>conditions are not cured completely. So looking after our self about good medical advice, living healthy life style, and having positive attitude help in maintaining better quality of life</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The </a:t>
            </a:r>
            <a:r>
              <a:rPr lang="en-US" dirty="0"/>
              <a:t>measures adopted are:</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Finding reliable information about diseases, its treatment and management. This will help the chronically ill patient to feel that he/she in taking positive step and give a feeling of control over their illness</a:t>
            </a:r>
          </a:p>
          <a:p>
            <a:pPr lvl="0"/>
            <a:r>
              <a:rPr lang="en-US" dirty="0"/>
              <a:t>Understanding the medication. This includes what it is specifically for. It provides special instruction to be followed in taking medicine/ treatment and potential side effects</a:t>
            </a:r>
          </a:p>
          <a:p>
            <a:pPr lvl="0"/>
            <a:r>
              <a:rPr lang="en-US" dirty="0"/>
              <a:t>Setting the patient’s goal- short term goals will give a sense of how the person is progressing</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Developing skills to manage the chronically ill patient’s pain and fatigue</a:t>
            </a:r>
          </a:p>
          <a:p>
            <a:pPr lvl="0"/>
            <a:r>
              <a:rPr lang="en-US" dirty="0"/>
              <a:t>Getting emotional support. Speaking to others who are going through what the patient is going through, and leaning on family and friends when there is need</a:t>
            </a:r>
          </a:p>
          <a:p>
            <a:r>
              <a:rPr lang="en-US" dirty="0"/>
              <a:t>Planning for the future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Pain management</a:t>
            </a:r>
          </a:p>
        </p:txBody>
      </p:sp>
      <p:sp>
        <p:nvSpPr>
          <p:cNvPr id="3" name="Content Placeholder 2"/>
          <p:cNvSpPr>
            <a:spLocks noGrp="1"/>
          </p:cNvSpPr>
          <p:nvPr>
            <p:ph idx="1"/>
          </p:nvPr>
        </p:nvSpPr>
        <p:spPr/>
        <p:txBody>
          <a:bodyPr>
            <a:normAutofit fontScale="92500" lnSpcReduction="10000"/>
          </a:bodyPr>
          <a:lstStyle/>
          <a:p>
            <a:pPr lvl="0"/>
            <a:r>
              <a:rPr lang="en-US" dirty="0"/>
              <a:t>Taking pain relieving medicine. Medication includes both non-prescription medication and prescription medication</a:t>
            </a:r>
          </a:p>
          <a:p>
            <a:pPr lvl="0"/>
            <a:r>
              <a:rPr lang="en-US" dirty="0"/>
              <a:t>Under going physical therapies. There are many non-drug treatments. A combination of treatments and therapies (Physio therapy) is some time more effective. Non drug therapies include cognitive behavioral therapy (cognitive behavioral therapy changes how a person thinks and in turn how he feels and behave).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Physical therapies also are found in stretching exercises, walking and other exercises</a:t>
            </a:r>
          </a:p>
          <a:p>
            <a:r>
              <a:rPr lang="en-US" dirty="0"/>
              <a:t>Relaxation and stress management techniques</a:t>
            </a:r>
          </a:p>
          <a:p>
            <a:r>
              <a:rPr lang="en-US" dirty="0" err="1"/>
              <a:t>Transcutaneous</a:t>
            </a:r>
            <a:r>
              <a:rPr lang="en-US" dirty="0"/>
              <a:t> electrical stimulation therapies </a:t>
            </a:r>
          </a:p>
          <a:p>
            <a:r>
              <a:rPr lang="en-US" dirty="0"/>
              <a:t>Applying heat packs and cold packs and </a:t>
            </a:r>
          </a:p>
          <a:p>
            <a:r>
              <a:rPr lang="en-US" dirty="0"/>
              <a:t>Acupuncture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Taking </a:t>
            </a:r>
            <a:r>
              <a:rPr lang="en-US" dirty="0"/>
              <a:t>care of mental health</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Symptoms of chronic diseases – tiredness, aches and pains are not quite often visible. It is not just physical symptoms that affect a chronically ill. They can affect the limits on life styles and living with constant pain, it can impact mentally too. </a:t>
            </a:r>
          </a:p>
          <a:p>
            <a:r>
              <a:rPr lang="en-US" dirty="0"/>
              <a:t>Worrying or thinking negatively adds to the patient’s anxiety or stress. They can affect the overall health</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a:t>What are the ways to reduce worrying?</a:t>
            </a:r>
          </a:p>
          <a:p>
            <a:pPr lvl="0"/>
            <a:r>
              <a:rPr lang="en-US" dirty="0"/>
              <a:t>Write down the concerns and the possible consequences even if they are negative</a:t>
            </a:r>
          </a:p>
          <a:p>
            <a:pPr lvl="0"/>
            <a:r>
              <a:rPr lang="en-US" dirty="0"/>
              <a:t>Find out the information about prognosis</a:t>
            </a:r>
          </a:p>
          <a:p>
            <a:pPr lvl="0"/>
            <a:r>
              <a:rPr lang="en-US" dirty="0"/>
              <a:t>Talking to a friend, a supporting group or seek specialist help</a:t>
            </a:r>
          </a:p>
          <a:p>
            <a:pPr lvl="0"/>
            <a:r>
              <a:rPr lang="en-US" dirty="0"/>
              <a:t>Focusing on a variety of things each day</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Good </a:t>
            </a:r>
            <a:r>
              <a:rPr lang="en-US" dirty="0"/>
              <a:t>life style choices for better quality of life</a:t>
            </a:r>
            <a:br>
              <a:rPr lang="en-US" dirty="0"/>
            </a:br>
            <a:endParaRPr lang="en-US" dirty="0"/>
          </a:p>
        </p:txBody>
      </p:sp>
      <p:sp>
        <p:nvSpPr>
          <p:cNvPr id="3" name="Content Placeholder 2"/>
          <p:cNvSpPr>
            <a:spLocks noGrp="1"/>
          </p:cNvSpPr>
          <p:nvPr>
            <p:ph idx="1"/>
          </p:nvPr>
        </p:nvSpPr>
        <p:spPr>
          <a:xfrm>
            <a:off x="500034" y="1600200"/>
            <a:ext cx="8186766" cy="4829196"/>
          </a:xfrm>
        </p:spPr>
        <p:txBody>
          <a:bodyPr>
            <a:normAutofit fontScale="85000" lnSpcReduction="10000"/>
          </a:bodyPr>
          <a:lstStyle/>
          <a:p>
            <a:r>
              <a:rPr lang="en-US" dirty="0"/>
              <a:t>Maintain a healthy life style can help the chronically ill patient to feel well, while living with chronic illness and its condition. This includes eating well, doing as much physical activity as the patient’s condition will allow, and getting good rest</a:t>
            </a:r>
          </a:p>
          <a:p>
            <a:r>
              <a:rPr lang="en-US" dirty="0"/>
              <a:t>Trying to do some physical activity each day, even if it is only a small amount, can help with managing pain and lift your mood. Speak with the doctor or physiotherapist about exercise that may help.</a:t>
            </a:r>
            <a:br>
              <a:rPr lang="en-US" dirty="0"/>
            </a:br>
            <a:r>
              <a:rPr lang="en-US" dirty="0"/>
              <a:t/>
            </a:r>
            <a:br>
              <a:rPr lang="en-US" dirty="0"/>
            </a:br>
            <a:r>
              <a:rPr lang="en-US" dirty="0"/>
              <a:t>Sleep is also very important if there is  a health condition</a:t>
            </a:r>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dirty="0"/>
              <a:t>Dealing with multiple health condition</a:t>
            </a:r>
            <a:br>
              <a:rPr lang="en-US" dirty="0"/>
            </a:br>
            <a:endParaRPr lang="en-US" dirty="0"/>
          </a:p>
        </p:txBody>
      </p:sp>
      <p:sp>
        <p:nvSpPr>
          <p:cNvPr id="3" name="Content Placeholder 2"/>
          <p:cNvSpPr>
            <a:spLocks noGrp="1"/>
          </p:cNvSpPr>
          <p:nvPr>
            <p:ph idx="1"/>
          </p:nvPr>
        </p:nvSpPr>
        <p:spPr/>
        <p:txBody>
          <a:bodyPr/>
          <a:lstStyle/>
          <a:p>
            <a:r>
              <a:rPr lang="en-US" dirty="0"/>
              <a:t>To achieve this chronically ill person need to deal with a number of health care professionals. The most important thing to remember about seeing multiple healthcare professionals is to let each one know who else the patient are seeing and for what health condition. </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Getting </a:t>
            </a:r>
            <a:r>
              <a:rPr lang="en-US" dirty="0"/>
              <a:t>support from others for better quality of life</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Social support can help chronically ill person to maintain a good quality of life. </a:t>
            </a:r>
          </a:p>
          <a:p>
            <a:r>
              <a:rPr lang="en-US" dirty="0"/>
              <a:t>When a chronically ill person has a long term adverse health condition the person must plan to catch up with family and friends and inform about their condition and let them know how they can help</a:t>
            </a:r>
          </a:p>
          <a:p>
            <a:r>
              <a:rPr lang="en-US" dirty="0"/>
              <a:t>Consider new sources of support such as support groups, clubs, interest group and volunteer opportunities.</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Unit-2:</a:t>
            </a:r>
            <a:r>
              <a:rPr lang="en-US" dirty="0" smtClean="0"/>
              <a:t>Health </a:t>
            </a:r>
            <a:r>
              <a:rPr lang="en-US" dirty="0"/>
              <a:t>and wellness of youth: a challenge for upcoming future</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Youth is the time of life when one is young and often means the time between childhood and adulthood. </a:t>
            </a:r>
          </a:p>
          <a:p>
            <a:r>
              <a:rPr lang="en-US" dirty="0"/>
              <a:t>It is also defined as “the appearance, freshness, vigor, spirit, etc., </a:t>
            </a:r>
          </a:p>
          <a:p>
            <a:r>
              <a:rPr lang="en-US" dirty="0"/>
              <a:t>Its definitions of a specific age range varies, as youth is not defined chronologically as a stage that can be tied to specific age ranges, nor can its end point be linked to specific activities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Youth is an experience that may shape an individual’s level of dependency, which can be marked in various ways according to different cultural perspectives.</a:t>
            </a:r>
          </a:p>
          <a:p>
            <a:r>
              <a:rPr lang="en-US" dirty="0"/>
              <a:t>The United Nations defines youth as persons between the ages of 15 and 25</a:t>
            </a:r>
          </a:p>
          <a:p>
            <a:r>
              <a:rPr lang="en-US" dirty="0"/>
              <a:t>Youth is the stage of constructing the self-concept. The self-concept of youth is influenced by variables such as peers, life style, gender, and culture.  </a:t>
            </a:r>
          </a:p>
          <a:p>
            <a:pPr>
              <a:buNone/>
            </a:pPr>
            <a:r>
              <a:rPr lang="en-US" dirty="0" smtClean="0"/>
              <a:t>  </a:t>
            </a:r>
            <a:endParaRPr lang="en-US" dirty="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dirty="0" smtClean="0"/>
              <a:t>Health and wellness</a:t>
            </a:r>
            <a:br>
              <a:rPr lang="en-IN" dirty="0" smtClean="0"/>
            </a:br>
            <a:endParaRPr lang="en-US" dirty="0"/>
          </a:p>
        </p:txBody>
      </p:sp>
      <p:sp>
        <p:nvSpPr>
          <p:cNvPr id="3" name="Content Placeholder 2"/>
          <p:cNvSpPr>
            <a:spLocks noGrp="1"/>
          </p:cNvSpPr>
          <p:nvPr>
            <p:ph idx="1"/>
          </p:nvPr>
        </p:nvSpPr>
        <p:spPr/>
        <p:txBody>
          <a:bodyPr/>
          <a:lstStyle/>
          <a:p>
            <a:r>
              <a:rPr lang="en-IN" dirty="0" smtClean="0"/>
              <a:t>Health is a state of well-being</a:t>
            </a:r>
          </a:p>
          <a:p>
            <a:r>
              <a:rPr lang="en-IN" dirty="0" smtClean="0"/>
              <a:t>Wellness is the state of living a healthy life styles</a:t>
            </a:r>
          </a:p>
          <a:p>
            <a:r>
              <a:rPr lang="en-IN" dirty="0" smtClean="0"/>
              <a:t>Health refers to physical, mental and social well=being</a:t>
            </a:r>
          </a:p>
          <a:p>
            <a:r>
              <a:rPr lang="en-IN" dirty="0" smtClean="0"/>
              <a:t>Wellness aims to enhance well-being. It can affect physical, mental and social well-being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Health and wellness in youth</a:t>
            </a:r>
            <a:endParaRPr lang="en-US" dirty="0"/>
          </a:p>
        </p:txBody>
      </p:sp>
      <p:sp>
        <p:nvSpPr>
          <p:cNvPr id="3" name="Content Placeholder 2"/>
          <p:cNvSpPr>
            <a:spLocks noGrp="1"/>
          </p:cNvSpPr>
          <p:nvPr>
            <p:ph idx="1"/>
          </p:nvPr>
        </p:nvSpPr>
        <p:spPr/>
        <p:txBody>
          <a:bodyPr/>
          <a:lstStyle/>
          <a:p>
            <a:r>
              <a:rPr lang="en-IN" dirty="0" smtClean="0"/>
              <a:t>High levels of health and wellness in youth help them flourish in life as well as act as a protective factor against some of the challenges that may arise during this period. </a:t>
            </a:r>
          </a:p>
          <a:p>
            <a:r>
              <a:rPr lang="en-IN" dirty="0" smtClean="0"/>
              <a:t>Youth with strong mental well-being are able to manage their emotions, enjoy positive relationships with friends and family</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Challenges facing youth </a:t>
            </a:r>
            <a:endParaRPr lang="en-US" dirty="0"/>
          </a:p>
        </p:txBody>
      </p:sp>
      <p:sp>
        <p:nvSpPr>
          <p:cNvPr id="3" name="Content Placeholder 2"/>
          <p:cNvSpPr>
            <a:spLocks noGrp="1"/>
          </p:cNvSpPr>
          <p:nvPr>
            <p:ph idx="1"/>
          </p:nvPr>
        </p:nvSpPr>
        <p:spPr/>
        <p:txBody>
          <a:bodyPr/>
          <a:lstStyle/>
          <a:p>
            <a:r>
              <a:rPr lang="en-IN" dirty="0" smtClean="0"/>
              <a:t>In may 2014 W H O published a major report called “Health for the world’s adolescent.”</a:t>
            </a:r>
          </a:p>
          <a:p>
            <a:r>
              <a:rPr lang="en-US" dirty="0" smtClean="0"/>
              <a:t>The report analyses what is known about adolescents’ health</a:t>
            </a:r>
          </a:p>
          <a:p>
            <a:r>
              <a:rPr lang="en-IN" dirty="0" smtClean="0"/>
              <a:t>It includes topic of </a:t>
            </a:r>
            <a:r>
              <a:rPr lang="en-US" dirty="0" smtClean="0"/>
              <a:t>what promotes or undermines it, gaps in policies and services, and draws together guidance and recommendations </a:t>
            </a:r>
            <a:endParaRPr lang="en-IN"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dirty="0" smtClean="0"/>
              <a:t>FACTS</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pPr lvl="0" fontAlgn="base"/>
            <a:r>
              <a:rPr lang="en-US" dirty="0" smtClean="0"/>
              <a:t>An estimated 1.3 million adolescents died in 2012, mostly from preventable or treatable causes.</a:t>
            </a:r>
          </a:p>
          <a:p>
            <a:pPr lvl="0" fontAlgn="base"/>
            <a:r>
              <a:rPr lang="en-US" dirty="0" smtClean="0"/>
              <a:t>Road traffic injuries were the leading cause of death in 2012, with some 330 adolescents dying every day.</a:t>
            </a:r>
          </a:p>
          <a:p>
            <a:pPr lvl="0" fontAlgn="base"/>
            <a:r>
              <a:rPr lang="en-US" dirty="0" smtClean="0"/>
              <a:t>Other main causes of adolescent deaths include HIV, suicide, lower respiratory infections and interpersonal violence.</a:t>
            </a:r>
          </a:p>
          <a:p>
            <a:pPr lvl="0" fontAlgn="base"/>
            <a:r>
              <a:rPr lang="en-US" dirty="0" smtClean="0"/>
              <a:t>Globally, there were 49 births per 1000 girls aged 15 to 19, according to 2010 figures.</a:t>
            </a:r>
          </a:p>
          <a:p>
            <a:r>
              <a:rPr lang="en-US" dirty="0" smtClean="0"/>
              <a:t>Half of all mental health disorders in adulthood appear to start by age 14, but most cases are undetected and untreated</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74638"/>
            <a:ext cx="8043890" cy="654032"/>
          </a:xfrm>
        </p:spPr>
        <p:txBody>
          <a:bodyPr>
            <a:normAutofit fontScale="90000"/>
          </a:bodyPr>
          <a:lstStyle/>
          <a:p>
            <a:endParaRPr lang="en-US" dirty="0"/>
          </a:p>
        </p:txBody>
      </p:sp>
      <p:sp>
        <p:nvSpPr>
          <p:cNvPr id="3" name="Content Placeholder 2"/>
          <p:cNvSpPr>
            <a:spLocks noGrp="1"/>
          </p:cNvSpPr>
          <p:nvPr>
            <p:ph idx="1"/>
          </p:nvPr>
        </p:nvSpPr>
        <p:spPr>
          <a:xfrm>
            <a:off x="500034" y="1142984"/>
            <a:ext cx="8186766" cy="4983179"/>
          </a:xfrm>
        </p:spPr>
        <p:txBody>
          <a:bodyPr>
            <a:normAutofit fontScale="92500" lnSpcReduction="10000"/>
          </a:bodyPr>
          <a:lstStyle/>
          <a:p>
            <a:r>
              <a:rPr lang="en-US" dirty="0" smtClean="0"/>
              <a:t>Around 1 in 6 persons in the world is an adolescent: that is 1.2 billion people aged 10 to 19</a:t>
            </a:r>
          </a:p>
          <a:p>
            <a:r>
              <a:rPr lang="en-US" dirty="0" smtClean="0"/>
              <a:t>Most are healthy, but there is still significant death, illness and diseases among adolescents. Illnesses can hinder their ability to grow and develop to their full potential. Alcohol or tobacco use, lack of physical activity, unprotected sex and/or exposure to violence can jeopardize not only their current health, but often their health for years to come.</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Promoting healthy practices during adolescence, and taking steps to better protect young people from health risks are critical for the prevention of health problems in adulthood, and for countries’ future health and social infrastructure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Main health issue- Early pregnancy and childbirth</a:t>
            </a:r>
            <a:endParaRPr lang="en-US" dirty="0"/>
          </a:p>
        </p:txBody>
      </p:sp>
      <p:sp>
        <p:nvSpPr>
          <p:cNvPr id="3" name="Content Placeholder 2"/>
          <p:cNvSpPr>
            <a:spLocks noGrp="1"/>
          </p:cNvSpPr>
          <p:nvPr>
            <p:ph idx="1"/>
          </p:nvPr>
        </p:nvSpPr>
        <p:spPr/>
        <p:txBody>
          <a:bodyPr/>
          <a:lstStyle/>
          <a:p>
            <a:r>
              <a:rPr lang="en-US" dirty="0" smtClean="0"/>
              <a:t>Complications linked to pregnancy and childbirth are the second cause of death for 15-19-year-old girls globally.</a:t>
            </a:r>
          </a:p>
          <a:p>
            <a:r>
              <a:rPr lang="en-US" dirty="0" smtClean="0"/>
              <a:t>One of the Millennium Development Goals, is to achieve universal access to reproductive health, for which one of the indicators is the pregnancy rate among the 15 to 19 age group.</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HIV</a:t>
            </a:r>
            <a:endParaRPr lang="en-US" dirty="0"/>
          </a:p>
        </p:txBody>
      </p:sp>
      <p:sp>
        <p:nvSpPr>
          <p:cNvPr id="3" name="Content Placeholder 2"/>
          <p:cNvSpPr>
            <a:spLocks noGrp="1"/>
          </p:cNvSpPr>
          <p:nvPr>
            <p:ph idx="1"/>
          </p:nvPr>
        </p:nvSpPr>
        <p:spPr/>
        <p:txBody>
          <a:bodyPr/>
          <a:lstStyle/>
          <a:p>
            <a:r>
              <a:rPr lang="en-US" dirty="0" smtClean="0"/>
              <a:t>More than 2 million adolescents are living with HIV. Although the overall number of HIV-related deaths is down 30% since the peak 8 years ago, estimates suggest that HIV deaths among adolescents are rising</a:t>
            </a:r>
          </a:p>
          <a:p>
            <a:r>
              <a:rPr lang="en-US" dirty="0" smtClean="0"/>
              <a:t>A second goal of the Millennium Development is to halt the spread of HIV/AIDS </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infectious diseases</a:t>
            </a:r>
            <a:endParaRPr lang="en-US" dirty="0"/>
          </a:p>
        </p:txBody>
      </p:sp>
      <p:sp>
        <p:nvSpPr>
          <p:cNvPr id="3" name="Content Placeholder 2"/>
          <p:cNvSpPr>
            <a:spLocks noGrp="1"/>
          </p:cNvSpPr>
          <p:nvPr>
            <p:ph idx="1"/>
          </p:nvPr>
        </p:nvSpPr>
        <p:spPr/>
        <p:txBody>
          <a:bodyPr/>
          <a:lstStyle/>
          <a:p>
            <a:endParaRPr lang="en-US" dirty="0" smtClean="0"/>
          </a:p>
          <a:p>
            <a:r>
              <a:rPr lang="en-US" dirty="0" smtClean="0"/>
              <a:t>Improved childhood vaccination has resulted in reducing death and disability from measles </a:t>
            </a:r>
          </a:p>
          <a:p>
            <a:r>
              <a:rPr lang="en-US" dirty="0" smtClean="0"/>
              <a:t>However  diarrhea, lower respiratory tract infections and meningitis are among the top 10 causes of death for 10 to 19 year olds.</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Mental health</a:t>
            </a:r>
            <a:endParaRPr lang="en-US" dirty="0"/>
          </a:p>
        </p:txBody>
      </p:sp>
      <p:sp>
        <p:nvSpPr>
          <p:cNvPr id="3" name="Content Placeholder 2"/>
          <p:cNvSpPr>
            <a:spLocks noGrp="1"/>
          </p:cNvSpPr>
          <p:nvPr>
            <p:ph idx="1"/>
          </p:nvPr>
        </p:nvSpPr>
        <p:spPr>
          <a:xfrm>
            <a:off x="500034" y="1357298"/>
            <a:ext cx="8186766" cy="5143536"/>
          </a:xfrm>
        </p:spPr>
        <p:txBody>
          <a:bodyPr>
            <a:normAutofit fontScale="92500" lnSpcReduction="20000"/>
          </a:bodyPr>
          <a:lstStyle/>
          <a:p>
            <a:pPr fontAlgn="base"/>
            <a:r>
              <a:rPr lang="en-US" dirty="0" smtClean="0"/>
              <a:t>Depression is the top cause of illness and disability among adolescents and suicide is the third cause of death. Violence, poverty, humiliation and feeling devalued can increase the risk of developing mental health problems.</a:t>
            </a:r>
          </a:p>
          <a:p>
            <a:pPr fontAlgn="base"/>
            <a:r>
              <a:rPr lang="en-US" dirty="0" smtClean="0"/>
              <a:t>Building life skills in children and adolescents and providing them with psychosocial support in schools and other community settings can help promote good mental health. </a:t>
            </a:r>
            <a:r>
              <a:rPr lang="en-US" dirty="0" err="1" smtClean="0"/>
              <a:t>Programmes</a:t>
            </a:r>
            <a:r>
              <a:rPr lang="en-US" dirty="0" smtClean="0"/>
              <a:t> to help strengthen ties between adolescents and their families are also important. If problems arise, they should be detected and managed by competent and caring health workers.</a:t>
            </a:r>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Violence</a:t>
            </a:r>
            <a:endParaRPr lang="en-US" dirty="0"/>
          </a:p>
        </p:txBody>
      </p:sp>
      <p:sp>
        <p:nvSpPr>
          <p:cNvPr id="3" name="Content Placeholder 2"/>
          <p:cNvSpPr>
            <a:spLocks noGrp="1"/>
          </p:cNvSpPr>
          <p:nvPr>
            <p:ph idx="1"/>
          </p:nvPr>
        </p:nvSpPr>
        <p:spPr/>
        <p:txBody>
          <a:bodyPr/>
          <a:lstStyle/>
          <a:p>
            <a:r>
              <a:rPr lang="en-US" dirty="0" smtClean="0"/>
              <a:t>Violence is a leading cause of death. An estimated 180 adolescents die every day as a result of interpersonal violence. Around 1 of every 3 deaths among adolescent males in the low- and middle-income countries is due to violence</a:t>
            </a:r>
          </a:p>
          <a:p>
            <a:r>
              <a:rPr lang="en-US" dirty="0" smtClean="0"/>
              <a:t>Globally, some 30% of girls aged 15 to 19 experience violence by a partner.</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Promoting nurturing relationships between parents and children early in life, providing training in life skills, and reducing access to alcohol and firearms can help to prevent violence. Effective and empathetic care for adolescent survivors of violence and ongoing support can help deal with the physical and the psychological consequences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Alcohol and drugs</a:t>
            </a:r>
            <a:endParaRPr lang="en-US" dirty="0"/>
          </a:p>
        </p:txBody>
      </p:sp>
      <p:sp>
        <p:nvSpPr>
          <p:cNvPr id="3" name="Content Placeholder 2"/>
          <p:cNvSpPr>
            <a:spLocks noGrp="1"/>
          </p:cNvSpPr>
          <p:nvPr>
            <p:ph idx="1"/>
          </p:nvPr>
        </p:nvSpPr>
        <p:spPr/>
        <p:txBody>
          <a:bodyPr/>
          <a:lstStyle/>
          <a:p>
            <a:r>
              <a:rPr lang="en-US" dirty="0" smtClean="0"/>
              <a:t>Harmful drinking among adolescents is a major concern in many countries. It reduces self-control and increases risky behaviours, such as unsafe sex. It is a primary cause of injuries (including those due to road traffic accidents), violence (especially by a partner) and premature deaths. It also can lead to health problems in later life and affect life expectancy</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smtClean="0"/>
              <a:t>Setting a minimum age for buying and consuming alcohol and regulating how alcoholic drinks are targeted at the younger market are among the strategies for reducing harmful drinking. Drug use among 15 to 19 year olds is also a concern.</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dirty="0" smtClean="0"/>
              <a:t>Injuries</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Unintentional injuries are a leading cause of death and disability among adolescents. In 2012, some 120 000 adolescents died as a result of road traffic accidents. </a:t>
            </a:r>
          </a:p>
          <a:p>
            <a:r>
              <a:rPr lang="en-US" dirty="0" smtClean="0"/>
              <a:t>Young drivers need advice on driving safely</a:t>
            </a:r>
          </a:p>
          <a:p>
            <a:r>
              <a:rPr lang="en-US" dirty="0" smtClean="0"/>
              <a:t>laws that prohibit driving under the influence of alcohol and drugs need to be strictly enforced. Blood alcohol levels need to be set lower for teenage drivers.</a:t>
            </a:r>
          </a:p>
          <a:p>
            <a:r>
              <a:rPr lang="en-US" dirty="0" smtClean="0"/>
              <a:t> Graduated licenses for novice drivers with zero-tolerance for drink-driving are recommended</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Malnutrition and obesity</a:t>
            </a:r>
            <a:endParaRPr lang="en-US" dirty="0"/>
          </a:p>
        </p:txBody>
      </p:sp>
      <p:sp>
        <p:nvSpPr>
          <p:cNvPr id="3" name="Content Placeholder 2"/>
          <p:cNvSpPr>
            <a:spLocks noGrp="1"/>
          </p:cNvSpPr>
          <p:nvPr>
            <p:ph idx="1"/>
          </p:nvPr>
        </p:nvSpPr>
        <p:spPr/>
        <p:txBody>
          <a:bodyPr/>
          <a:lstStyle/>
          <a:p>
            <a:pPr>
              <a:buNone/>
            </a:pPr>
            <a:r>
              <a:rPr lang="en-US" dirty="0" smtClean="0"/>
              <a:t>    Many boys and girls in developing countries enter adolescence undernourished, making them more vulnerable to disease and early death. </a:t>
            </a:r>
          </a:p>
          <a:p>
            <a:pPr>
              <a:buNone/>
            </a:pPr>
            <a:r>
              <a:rPr lang="en-US" dirty="0" smtClean="0"/>
              <a:t>   The number of adolescents who are overweight or obese is increasing in both low- and high-income countries.</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 and nutrition</a:t>
            </a:r>
            <a:endParaRPr lang="en-US" dirty="0"/>
          </a:p>
        </p:txBody>
      </p:sp>
      <p:sp>
        <p:nvSpPr>
          <p:cNvPr id="3" name="Content Placeholder 2"/>
          <p:cNvSpPr>
            <a:spLocks noGrp="1"/>
          </p:cNvSpPr>
          <p:nvPr>
            <p:ph idx="1"/>
          </p:nvPr>
        </p:nvSpPr>
        <p:spPr/>
        <p:txBody>
          <a:bodyPr>
            <a:normAutofit fontScale="92500"/>
          </a:bodyPr>
          <a:lstStyle/>
          <a:p>
            <a:pPr fontAlgn="base"/>
            <a:r>
              <a:rPr lang="en-US" dirty="0" smtClean="0"/>
              <a:t>Available survey data indicate that fewer than 1 in every 4 adolescents meets the recommended guidelines for physical activity – 60 minutes of moderate to vigorous physical activity daily.</a:t>
            </a:r>
          </a:p>
          <a:p>
            <a:pPr fontAlgn="base"/>
            <a:r>
              <a:rPr lang="en-US" dirty="0" smtClean="0"/>
              <a:t>Anemia resulting from a lack of iron affects girls and boys, and is the third cause of years lost to death and disability. Iron and folic acid supplements help to promote health before adolescents become parents.</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Developing healthy eating and exercise habits at this age are foundations for good health in adulthood. Reducing the marketing of foods high in saturated fats, trans-fatty acids, free sugars, or salt and providing access to healthy foods and opportunities to engage in physical activity are important for all but especially children and adolescents.</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Tobacco use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vast majority of people using tobacco today began when they were adolescents. Prohibiting the sale of tobacco products to minors and increasing the price of tobacco products through higher taxes, banning tobacco advertising and ensuring smoke-free environments are crucial. Globally, at least 1 in 10 younger adolescents (aged 13 to 15) uses tobacco, although there are areas where this figure is much higher. Cigarette smoking seems to be decreasing among younger adolescents in some high-income countries</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Rights of youth</a:t>
            </a:r>
            <a:endParaRPr lang="en-US" dirty="0"/>
          </a:p>
        </p:txBody>
      </p:sp>
      <p:sp>
        <p:nvSpPr>
          <p:cNvPr id="3" name="Content Placeholder 2"/>
          <p:cNvSpPr>
            <a:spLocks noGrp="1"/>
          </p:cNvSpPr>
          <p:nvPr>
            <p:ph idx="1"/>
          </p:nvPr>
        </p:nvSpPr>
        <p:spPr/>
        <p:txBody>
          <a:bodyPr/>
          <a:lstStyle/>
          <a:p>
            <a:r>
              <a:rPr lang="en-US" dirty="0" smtClean="0"/>
              <a:t>The rights of children to survive, grow and develop are enshrined in international legal documents. The Committee on the Rights of the Child (CRC), which oversees the child rights convention, in 2013 published guidelines on the right of children and adolescents to the enjoyment of the highest attainable standard of health</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2003, the CRC issued guidelines on states’ obligations to recognize the special health and development needs and rights of adolescents and young people. The Convention on the Elimination of Discrimination Against Women (CEDAW) also sets out the rights of women and girls to health and adequate health care.</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Unit 3</a:t>
            </a:r>
            <a:r>
              <a:rPr lang="en-IN" dirty="0" smtClean="0"/>
              <a:t>-Health status</a:t>
            </a:r>
            <a:endParaRPr lang="en-US" dirty="0"/>
          </a:p>
        </p:txBody>
      </p:sp>
      <p:sp>
        <p:nvSpPr>
          <p:cNvPr id="3" name="Content Placeholder 2"/>
          <p:cNvSpPr>
            <a:spLocks noGrp="1"/>
          </p:cNvSpPr>
          <p:nvPr>
            <p:ph idx="1"/>
          </p:nvPr>
        </p:nvSpPr>
        <p:spPr>
          <a:xfrm>
            <a:off x="571472" y="1600200"/>
            <a:ext cx="8115328" cy="4614881"/>
          </a:xfrm>
        </p:spPr>
        <p:txBody>
          <a:bodyPr>
            <a:normAutofit fontScale="77500" lnSpcReduction="20000"/>
          </a:bodyPr>
          <a:lstStyle/>
          <a:p>
            <a:pPr>
              <a:buNone/>
            </a:pPr>
            <a:r>
              <a:rPr lang="en-IN" dirty="0" smtClean="0"/>
              <a:t>    </a:t>
            </a:r>
            <a:r>
              <a:rPr lang="en-US" dirty="0" smtClean="0"/>
              <a:t>A general term for the state of health of an individual, group, or population measured against defined standards</a:t>
            </a:r>
          </a:p>
          <a:p>
            <a:pPr>
              <a:buNone/>
            </a:pPr>
            <a:endParaRPr lang="en-US" dirty="0" smtClean="0"/>
          </a:p>
          <a:p>
            <a:pPr>
              <a:buNone/>
            </a:pPr>
            <a:r>
              <a:rPr lang="en-IN" dirty="0" smtClean="0"/>
              <a:t>   The W H O definition (2009):</a:t>
            </a:r>
          </a:p>
          <a:p>
            <a:pPr>
              <a:buNone/>
            </a:pPr>
            <a:r>
              <a:rPr lang="en-IN" dirty="0" smtClean="0"/>
              <a:t>      </a:t>
            </a:r>
            <a:r>
              <a:rPr lang="en-US" dirty="0" smtClean="0"/>
              <a:t>The state of health of a person or population assessed with reference to morbidity, impairments, anthropological measurements, mortality, and indicators of functional status and quality of life.</a:t>
            </a:r>
          </a:p>
          <a:p>
            <a:pPr>
              <a:buNone/>
            </a:pPr>
            <a:endParaRPr lang="en-US" dirty="0" smtClean="0"/>
          </a:p>
          <a:p>
            <a:pPr>
              <a:buNone/>
            </a:pPr>
            <a:r>
              <a:rPr lang="en-US" dirty="0" smtClean="0"/>
              <a:t>    The WHO health indicators provide internationally accepted standards for various aspects of health status</a:t>
            </a:r>
          </a:p>
          <a:p>
            <a:pPr>
              <a:buNone/>
            </a:pPr>
            <a:r>
              <a:rPr lang="en-IN" dirty="0" smtClean="0"/>
              <a:t> </a:t>
            </a:r>
          </a:p>
          <a:p>
            <a:pPr>
              <a:buNone/>
            </a:pPr>
            <a:r>
              <a:rPr lang="en-IN" dirty="0" smtClean="0"/>
              <a:t>      </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WHO guides health policy in its Member States toward priority health problems, the use of solutions known to them, and relevant directions for problem-orientated research to improve the effectiveness and efficiency of investment for health development.</a:t>
            </a:r>
          </a:p>
          <a:p>
            <a:endParaRPr lang="en-US" dirty="0" smtClean="0"/>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health status</a:t>
            </a:r>
            <a:endParaRPr lang="en-US" dirty="0"/>
          </a:p>
        </p:txBody>
      </p:sp>
      <p:sp>
        <p:nvSpPr>
          <p:cNvPr id="3" name="Content Placeholder 2"/>
          <p:cNvSpPr>
            <a:spLocks noGrp="1"/>
          </p:cNvSpPr>
          <p:nvPr>
            <p:ph idx="1"/>
          </p:nvPr>
        </p:nvSpPr>
        <p:spPr/>
        <p:txBody>
          <a:bodyPr/>
          <a:lstStyle/>
          <a:p>
            <a:pPr>
              <a:buNone/>
            </a:pPr>
            <a:r>
              <a:rPr lang="en-IN" dirty="0" smtClean="0"/>
              <a:t>–includes </a:t>
            </a:r>
          </a:p>
          <a:p>
            <a:pPr>
              <a:buNone/>
            </a:pPr>
            <a:r>
              <a:rPr lang="en-IN" dirty="0" smtClean="0"/>
              <a:t> 1) functional health</a:t>
            </a:r>
          </a:p>
          <a:p>
            <a:pPr>
              <a:buNone/>
            </a:pPr>
            <a:r>
              <a:rPr lang="en-IN" dirty="0" smtClean="0"/>
              <a:t> 2) disability days</a:t>
            </a:r>
          </a:p>
          <a:p>
            <a:pPr>
              <a:buNone/>
            </a:pPr>
            <a:r>
              <a:rPr lang="en-IN" dirty="0" smtClean="0"/>
              <a:t> 3) activity limitation</a:t>
            </a:r>
          </a:p>
          <a:p>
            <a:pPr>
              <a:buNone/>
            </a:pPr>
            <a:r>
              <a:rPr lang="en-IN" dirty="0" smtClean="0"/>
              <a:t> 4) health expectancy and </a:t>
            </a:r>
          </a:p>
          <a:p>
            <a:pPr>
              <a:buNone/>
            </a:pPr>
            <a:r>
              <a:rPr lang="en-IN" dirty="0" smtClean="0"/>
              <a:t> 5) disability free life expectancy</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IN" dirty="0" smtClean="0"/>
              <a:t>What is the best predictor of health status?</a:t>
            </a:r>
          </a:p>
          <a:p>
            <a:pPr>
              <a:buNone/>
            </a:pPr>
            <a:r>
              <a:rPr lang="en-IN" dirty="0" smtClean="0"/>
              <a:t>Earlier rising income and subsequent improved standards of living were thought to be the most important factors contributing to a long and healthy life</a:t>
            </a:r>
          </a:p>
          <a:p>
            <a:pPr>
              <a:buNone/>
            </a:pPr>
            <a:r>
              <a:rPr lang="en-IN" dirty="0" smtClean="0"/>
              <a:t>New research has shown that the level of education a person has is a much better predictor of life expectancy</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Measures of health status</a:t>
            </a:r>
            <a:endParaRPr lang="en-US" dirty="0"/>
          </a:p>
        </p:txBody>
      </p:sp>
      <p:sp>
        <p:nvSpPr>
          <p:cNvPr id="3" name="Content Placeholder 2"/>
          <p:cNvSpPr>
            <a:spLocks noGrp="1"/>
          </p:cNvSpPr>
          <p:nvPr>
            <p:ph idx="1"/>
          </p:nvPr>
        </p:nvSpPr>
        <p:spPr/>
        <p:txBody>
          <a:bodyPr>
            <a:normAutofit lnSpcReduction="10000"/>
          </a:bodyPr>
          <a:lstStyle/>
          <a:p>
            <a:r>
              <a:rPr lang="en-IN" dirty="0" smtClean="0"/>
              <a:t>An individual’s health status is usually measured by a health professional</a:t>
            </a:r>
          </a:p>
          <a:p>
            <a:r>
              <a:rPr lang="en-IN" dirty="0" smtClean="0"/>
              <a:t>Measurement of population health status is carried using statistics and data presented as a set of measurement or indicators. It includes:</a:t>
            </a:r>
          </a:p>
          <a:p>
            <a:pPr>
              <a:buNone/>
            </a:pPr>
            <a:r>
              <a:rPr lang="en-IN" dirty="0" smtClean="0"/>
              <a:t>- Life expectancy; health adjusted life expectancy; morbidity; under-five mortality; burden of disease; disability adjusted life year; incidence; and prevalence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Wealth Status</a:t>
            </a:r>
            <a:endParaRPr lang="en-US" dirty="0"/>
          </a:p>
        </p:txBody>
      </p:sp>
      <p:sp>
        <p:nvSpPr>
          <p:cNvPr id="3" name="Content Placeholder 2"/>
          <p:cNvSpPr>
            <a:spLocks noGrp="1"/>
          </p:cNvSpPr>
          <p:nvPr>
            <p:ph idx="1"/>
          </p:nvPr>
        </p:nvSpPr>
        <p:spPr/>
        <p:txBody>
          <a:bodyPr/>
          <a:lstStyle/>
          <a:p>
            <a:r>
              <a:rPr lang="en-US" dirty="0" smtClean="0"/>
              <a:t>What Is Wealth?</a:t>
            </a:r>
          </a:p>
          <a:p>
            <a:pPr>
              <a:buNone/>
            </a:pPr>
            <a:r>
              <a:rPr lang="en-US" dirty="0" smtClean="0"/>
              <a:t>    Wealth measures the value of all the assets of worth owned by a person, community, company, or country. Wealth is determined by taking the total market value of all physical and intangible assets owned, then subtracting all debts. Essentially, wealth is the accumulation of scarce resources.</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Specific people, organizations, and nations are said to be wealthy when they are able to accumulate many valuable resources or goods. </a:t>
            </a:r>
          </a:p>
          <a:p>
            <a:r>
              <a:rPr lang="en-US" dirty="0" smtClean="0"/>
              <a:t>Wealth can be contrasted to income in that wealth is a stock and income is a flow, and it can be seen in either absolute or relative terms.</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buNone/>
            </a:pPr>
            <a:r>
              <a:rPr lang="en-US" dirty="0" smtClean="0"/>
              <a:t>Understanding Wealth</a:t>
            </a:r>
          </a:p>
          <a:p>
            <a:r>
              <a:rPr lang="en-US" dirty="0" smtClean="0"/>
              <a:t>Wealth can be expressed in a variety of ways. In a purely material sense, wealth consists of all the real resources under one's control. Financially, net worth is the most common expression of wealth.</a:t>
            </a:r>
          </a:p>
          <a:p>
            <a:r>
              <a:rPr lang="en-US" dirty="0" smtClean="0"/>
              <a:t>Definitions and measures of wealth have been different over time among societies. In modern society, money is the most common means of measuring wealth. Measuring wealth in terms of money is an example of money's function as a unit of account.</a:t>
            </a:r>
            <a:br>
              <a:rPr lang="en-US" dirty="0" smtClean="0"/>
            </a:b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Measure Wealth</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Measuring wealth in terms of money overcomes the problem of evaluating wealth in the form of different kinds of goods. These values can then be added or subtracted together. This, in turn, permits the convenient use of net worth as a measure of wealth. Net worth is equal to assets minus liabilities. For businesses, net worth is also known as shareholders’ equity or book value. In common sense terms, net worth expresses wealth as all the real resources under one's control, excluding those that ultimately belong to someone else.</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Research has consistently shown that people's perception of their own wellbeing and happiness depends much more on their estimates of wealth relative to other people than on absolute wealth. This is also part of why the concept of wealth is usually applied only to scarce economic goods; goods that are abundant and free for everyone provide no basis for relative comparisons across individuals.</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IN" dirty="0" smtClean="0"/>
              <a:t>Reference: </a:t>
            </a:r>
          </a:p>
          <a:p>
            <a:pPr marL="514350" indent="-514350">
              <a:buAutoNum type="arabicPeriod"/>
            </a:pPr>
            <a:r>
              <a:rPr lang="en-IN" dirty="0" smtClean="0"/>
              <a:t>Health Psychology 6</a:t>
            </a:r>
            <a:r>
              <a:rPr lang="en-IN" baseline="30000" dirty="0" smtClean="0"/>
              <a:t>th</a:t>
            </a:r>
            <a:r>
              <a:rPr lang="en-IN" dirty="0" smtClean="0"/>
              <a:t> </a:t>
            </a:r>
            <a:r>
              <a:rPr lang="en-IN" dirty="0" err="1" smtClean="0"/>
              <a:t>edn</a:t>
            </a:r>
            <a:r>
              <a:rPr lang="en-IN" dirty="0" smtClean="0"/>
              <a:t>. Shelly E. Taylor</a:t>
            </a:r>
            <a:r>
              <a:rPr lang="en-US" dirty="0" smtClean="0"/>
              <a:t>. McGraw-Hill Publishing company </a:t>
            </a:r>
            <a:r>
              <a:rPr lang="en-US" dirty="0" err="1" smtClean="0"/>
              <a:t>Lts</a:t>
            </a:r>
            <a:r>
              <a:rPr lang="en-US" dirty="0" smtClean="0"/>
              <a:t>.</a:t>
            </a:r>
          </a:p>
          <a:p>
            <a:pPr marL="514350" indent="-514350">
              <a:buAutoNum type="arabicPeriod"/>
            </a:pPr>
            <a:r>
              <a:rPr lang="en-IN" dirty="0" smtClean="0"/>
              <a:t>Health Psychology. (2007) M. Robin </a:t>
            </a:r>
            <a:r>
              <a:rPr lang="en-IN" dirty="0" err="1" smtClean="0"/>
              <a:t>Dimalleo</a:t>
            </a:r>
            <a:r>
              <a:rPr lang="en-IN" dirty="0" smtClean="0"/>
              <a:t>. Leslie. R. Martin. Pearson Education. Darling Kindersley (India)</a:t>
            </a:r>
          </a:p>
          <a:p>
            <a:pPr marL="514350" indent="-514350">
              <a:buAutoNum type="arabicPeriod"/>
            </a:pPr>
            <a:r>
              <a:rPr lang="en-IN" dirty="0" smtClean="0"/>
              <a:t>Health Psychology 2</a:t>
            </a:r>
            <a:r>
              <a:rPr lang="en-IN" baseline="30000" dirty="0" smtClean="0"/>
              <a:t>nd</a:t>
            </a:r>
            <a:r>
              <a:rPr lang="en-IN" dirty="0" smtClean="0"/>
              <a:t> </a:t>
            </a:r>
            <a:r>
              <a:rPr lang="en-IN" dirty="0" err="1" smtClean="0"/>
              <a:t>Edn</a:t>
            </a:r>
            <a:r>
              <a:rPr lang="en-IN" dirty="0" smtClean="0"/>
              <a:t>. David F. Marks, Michael Murray; </a:t>
            </a:r>
            <a:r>
              <a:rPr lang="en-IN" dirty="0" err="1" smtClean="0"/>
              <a:t>Driam</a:t>
            </a:r>
            <a:r>
              <a:rPr lang="en-IN" dirty="0" smtClean="0"/>
              <a:t> Evans; Carla </a:t>
            </a:r>
            <a:r>
              <a:rPr lang="en-IN" dirty="0" err="1" smtClean="0"/>
              <a:t>Willig</a:t>
            </a:r>
            <a:r>
              <a:rPr lang="en-IN" dirty="0" smtClean="0"/>
              <a:t>; C. Woodall; Catherin </a:t>
            </a:r>
            <a:r>
              <a:rPr lang="en-IN" dirty="0" err="1" smtClean="0"/>
              <a:t>M.Sykes</a:t>
            </a:r>
            <a:r>
              <a:rPr lang="en-IN" dirty="0" smtClean="0"/>
              <a:t>. Sage publication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IN" dirty="0" smtClean="0"/>
              <a:t>4. Health Psychology – Bio Psycho Social Factors in Health and Illness. Larry C. Barnard; Edward </a:t>
            </a:r>
            <a:r>
              <a:rPr lang="en-IN" dirty="0" err="1" smtClean="0"/>
              <a:t>Krupat</a:t>
            </a:r>
            <a:r>
              <a:rPr lang="en-IN" dirty="0" smtClean="0"/>
              <a:t>. Harcourt Brace College {</a:t>
            </a:r>
            <a:r>
              <a:rPr lang="en-IN" dirty="0" err="1" smtClean="0"/>
              <a:t>ublishers</a:t>
            </a:r>
            <a:endParaRPr lang="en-IN" dirty="0" smtClean="0"/>
          </a:p>
          <a:p>
            <a:pPr>
              <a:buNone/>
            </a:pPr>
            <a:r>
              <a:rPr lang="en-IN" dirty="0" smtClean="0"/>
              <a:t>5. Centre for Disease Control and Prevention (CDC) report</a:t>
            </a:r>
          </a:p>
          <a:p>
            <a:pPr>
              <a:buNone/>
            </a:pPr>
            <a:r>
              <a:rPr lang="en-IN" dirty="0" smtClean="0"/>
              <a:t>6. Pallipedia.org</a:t>
            </a:r>
          </a:p>
          <a:p>
            <a:pPr>
              <a:buNone/>
            </a:pPr>
            <a:r>
              <a:rPr lang="en-IN" dirty="0" smtClean="0"/>
              <a:t>7. Action health inc.org.</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2612</TotalTime>
  <Words>3537</Words>
  <Application>Microsoft Office PowerPoint</Application>
  <PresentationFormat>On-screen Show (4:3)</PresentationFormat>
  <Paragraphs>216</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Scientific Foundation for Health   Module 5</vt:lpstr>
      <vt:lpstr>Scientific Foundation for Health Module 5.2</vt:lpstr>
      <vt:lpstr> Unit -1:Chronic illness</vt:lpstr>
      <vt:lpstr>Slide 4</vt:lpstr>
      <vt:lpstr>Slide 5</vt:lpstr>
      <vt:lpstr>Slide 6</vt:lpstr>
      <vt:lpstr>Slide 7</vt:lpstr>
      <vt:lpstr>Quality of life </vt:lpstr>
      <vt:lpstr>Slide 9</vt:lpstr>
      <vt:lpstr>Slide 10</vt:lpstr>
      <vt:lpstr>Slide 11</vt:lpstr>
      <vt:lpstr>Components of quality of life</vt:lpstr>
      <vt:lpstr> Assessment of quality of life in chronic illness </vt:lpstr>
      <vt:lpstr>Slide 14</vt:lpstr>
      <vt:lpstr> Why we should study quality of life of chronically ill? </vt:lpstr>
      <vt:lpstr>Slide 16</vt:lpstr>
      <vt:lpstr>Slide 17</vt:lpstr>
      <vt:lpstr> What causes chronic illness and associate conditions? </vt:lpstr>
      <vt:lpstr> How to maintain better quality of life in the chronically ill? </vt:lpstr>
      <vt:lpstr> The measures adopted are: </vt:lpstr>
      <vt:lpstr>Slide 21</vt:lpstr>
      <vt:lpstr>Pain management</vt:lpstr>
      <vt:lpstr>Slide 23</vt:lpstr>
      <vt:lpstr> Taking care of mental health </vt:lpstr>
      <vt:lpstr>Slide 25</vt:lpstr>
      <vt:lpstr> Good life style choices for better quality of life </vt:lpstr>
      <vt:lpstr>  Dealing with multiple health condition </vt:lpstr>
      <vt:lpstr> Getting support from others for better quality of life </vt:lpstr>
      <vt:lpstr> Unit-2:Health and wellness of youth: a challenge for upcoming future </vt:lpstr>
      <vt:lpstr>Slide 30</vt:lpstr>
      <vt:lpstr> Health and wellness </vt:lpstr>
      <vt:lpstr>Health and wellness in youth</vt:lpstr>
      <vt:lpstr>Challenges facing youth </vt:lpstr>
      <vt:lpstr> FACTS </vt:lpstr>
      <vt:lpstr>Slide 35</vt:lpstr>
      <vt:lpstr>Slide 36</vt:lpstr>
      <vt:lpstr>Main health issue- Early pregnancy and childbirth</vt:lpstr>
      <vt:lpstr>HIV</vt:lpstr>
      <vt:lpstr>Other infectious diseases</vt:lpstr>
      <vt:lpstr>Mental health</vt:lpstr>
      <vt:lpstr>Violence</vt:lpstr>
      <vt:lpstr>Slide 42</vt:lpstr>
      <vt:lpstr>Alcohol and drugs</vt:lpstr>
      <vt:lpstr>Slide 44</vt:lpstr>
      <vt:lpstr> Injuries </vt:lpstr>
      <vt:lpstr>Malnutrition and obesity</vt:lpstr>
      <vt:lpstr>Exercise and nutrition</vt:lpstr>
      <vt:lpstr>Slide 48</vt:lpstr>
      <vt:lpstr>Tobacco use</vt:lpstr>
      <vt:lpstr>Rights of youth</vt:lpstr>
      <vt:lpstr>Slide 51</vt:lpstr>
      <vt:lpstr>Unit 3-Health status</vt:lpstr>
      <vt:lpstr>Slide 53</vt:lpstr>
      <vt:lpstr>Types of health status</vt:lpstr>
      <vt:lpstr>Slide 55</vt:lpstr>
      <vt:lpstr>Measures of health status</vt:lpstr>
      <vt:lpstr>Wealth Status</vt:lpstr>
      <vt:lpstr>Slide 58</vt:lpstr>
      <vt:lpstr>Slide 59</vt:lpstr>
      <vt:lpstr>How to Measure Wealth </vt:lpstr>
      <vt:lpstr>Slide 61</vt:lpstr>
      <vt:lpstr>Slide 62</vt:lpstr>
      <vt:lpstr>Slide 63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Foundation for Health Module 5.2</dc:title>
  <dc:creator>Windows User</dc:creator>
  <cp:lastModifiedBy>user</cp:lastModifiedBy>
  <cp:revision>46</cp:revision>
  <dcterms:created xsi:type="dcterms:W3CDTF">2021-12-23T15:04:37Z</dcterms:created>
  <dcterms:modified xsi:type="dcterms:W3CDTF">2022-01-24T10:46:52Z</dcterms:modified>
</cp:coreProperties>
</file>