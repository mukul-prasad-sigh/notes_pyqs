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95" r:id="rId2"/>
    <p:sldId id="296" r:id="rId3"/>
    <p:sldId id="297" r:id="rId4"/>
    <p:sldId id="306" r:id="rId5"/>
    <p:sldId id="299" r:id="rId6"/>
    <p:sldId id="301" r:id="rId7"/>
    <p:sldId id="303" r:id="rId8"/>
    <p:sldId id="30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A5C561-DF39-4A4B-8F18-D795F590FC2E}" type="datetimeFigureOut">
              <a:rPr lang="en-US" smtClean="0"/>
              <a:t>12/23/2020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AC407-6216-4DD2-9A65-C40A30114758}" type="slidenum">
              <a:rPr lang="en-US" smtClean="0"/>
              <a:t>‹#›</a:t>
            </a:fld>
            <a:endParaRPr lang="en-US"/>
          </a:p>
        </p:txBody>
      </p:sp>
    </p:spTree>
    <p:extLst>
      <p:ext uri="{BB962C8B-B14F-4D97-AF65-F5344CB8AC3E}">
        <p14:creationId xmlns:p14="http://schemas.microsoft.com/office/powerpoint/2010/main" val="1534562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E02AD67-839C-4047-A2C9-4464FC2E6AFA}" type="slidenum">
              <a:rPr lang="en-CA" smtClean="0">
                <a:latin typeface="Tahoma" panose="020B0604030504040204" pitchFamily="34" charset="0"/>
              </a:rPr>
              <a:pPr>
                <a:spcBef>
                  <a:spcPct val="0"/>
                </a:spcBef>
              </a:pPr>
              <a:t>4</a:t>
            </a:fld>
            <a:endParaRPr lang="en-CA" smtClean="0">
              <a:latin typeface="Tahoma" panose="020B0604030504040204" pitchFamily="34" charset="0"/>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smtClean="0">
              <a:latin typeface="Arial" panose="020B0604020202020204" pitchFamily="34" charset="0"/>
            </a:endParaRPr>
          </a:p>
        </p:txBody>
      </p:sp>
    </p:spTree>
    <p:extLst>
      <p:ext uri="{BB962C8B-B14F-4D97-AF65-F5344CB8AC3E}">
        <p14:creationId xmlns:p14="http://schemas.microsoft.com/office/powerpoint/2010/main" val="20059452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68C1592-88E5-430D-8DE9-EAD9ABF79B42}" type="slidenum">
              <a:rPr lang="en-CA" smtClean="0">
                <a:latin typeface="Tahoma" panose="020B0604030504040204" pitchFamily="34" charset="0"/>
              </a:rPr>
              <a:pPr>
                <a:spcBef>
                  <a:spcPct val="0"/>
                </a:spcBef>
              </a:pPr>
              <a:t>5</a:t>
            </a:fld>
            <a:endParaRPr lang="en-CA" smtClean="0">
              <a:latin typeface="Tahoma" panose="020B0604030504040204" pitchFamily="34"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smtClean="0">
              <a:latin typeface="Arial" panose="020B0604020202020204" pitchFamily="34" charset="0"/>
            </a:endParaRPr>
          </a:p>
        </p:txBody>
      </p:sp>
    </p:spTree>
    <p:extLst>
      <p:ext uri="{BB962C8B-B14F-4D97-AF65-F5344CB8AC3E}">
        <p14:creationId xmlns:p14="http://schemas.microsoft.com/office/powerpoint/2010/main" val="3907764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98B45FE-952A-4BAC-BE0D-9B4CD91E23DC}" type="slidenum">
              <a:rPr lang="en-CA" smtClean="0">
                <a:latin typeface="Tahoma" panose="020B0604030504040204" pitchFamily="34" charset="0"/>
              </a:rPr>
              <a:pPr>
                <a:spcBef>
                  <a:spcPct val="0"/>
                </a:spcBef>
              </a:pPr>
              <a:t>6</a:t>
            </a:fld>
            <a:endParaRPr lang="en-CA" smtClean="0">
              <a:latin typeface="Tahoma" panose="020B0604030504040204" pitchFamily="34"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smtClean="0">
              <a:latin typeface="Arial" panose="020B0604020202020204" pitchFamily="34" charset="0"/>
            </a:endParaRPr>
          </a:p>
        </p:txBody>
      </p:sp>
    </p:spTree>
    <p:extLst>
      <p:ext uri="{BB962C8B-B14F-4D97-AF65-F5344CB8AC3E}">
        <p14:creationId xmlns:p14="http://schemas.microsoft.com/office/powerpoint/2010/main" val="152633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3FB4056-B6F8-42A8-B7FF-9D01BB2C3838}" type="datetimeFigureOut">
              <a:rPr lang="en-US" smtClean="0"/>
              <a:t>12/23/2020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092C9B-B6D8-4F80-AD8F-E3D864D8B515}" type="slidenum">
              <a:rPr lang="en-US" smtClean="0"/>
              <a:t>‹#›</a:t>
            </a:fld>
            <a:endParaRPr lang="en-US"/>
          </a:p>
        </p:txBody>
      </p:sp>
    </p:spTree>
    <p:extLst>
      <p:ext uri="{BB962C8B-B14F-4D97-AF65-F5344CB8AC3E}">
        <p14:creationId xmlns:p14="http://schemas.microsoft.com/office/powerpoint/2010/main" val="2732090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FB4056-B6F8-42A8-B7FF-9D01BB2C3838}" type="datetimeFigureOut">
              <a:rPr lang="en-US" smtClean="0"/>
              <a:t>12/23/2020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092C9B-B6D8-4F80-AD8F-E3D864D8B515}" type="slidenum">
              <a:rPr lang="en-US" smtClean="0"/>
              <a:t>‹#›</a:t>
            </a:fld>
            <a:endParaRPr lang="en-US"/>
          </a:p>
        </p:txBody>
      </p:sp>
    </p:spTree>
    <p:extLst>
      <p:ext uri="{BB962C8B-B14F-4D97-AF65-F5344CB8AC3E}">
        <p14:creationId xmlns:p14="http://schemas.microsoft.com/office/powerpoint/2010/main" val="1759868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3FB4056-B6F8-42A8-B7FF-9D01BB2C3838}" type="datetimeFigureOut">
              <a:rPr lang="en-US" smtClean="0"/>
              <a:t>12/23/2020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092C9B-B6D8-4F80-AD8F-E3D864D8B515}" type="slidenum">
              <a:rPr lang="en-US" smtClean="0"/>
              <a:t>‹#›</a:t>
            </a:fld>
            <a:endParaRPr lang="en-US"/>
          </a:p>
        </p:txBody>
      </p:sp>
    </p:spTree>
    <p:extLst>
      <p:ext uri="{BB962C8B-B14F-4D97-AF65-F5344CB8AC3E}">
        <p14:creationId xmlns:p14="http://schemas.microsoft.com/office/powerpoint/2010/main" val="1472120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3FB4056-B6F8-42A8-B7FF-9D01BB2C3838}" type="datetimeFigureOut">
              <a:rPr lang="en-US" smtClean="0"/>
              <a:t>12/23/2020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092C9B-B6D8-4F80-AD8F-E3D864D8B515}" type="slidenum">
              <a:rPr lang="en-US" smtClean="0"/>
              <a:t>‹#›</a:t>
            </a:fld>
            <a:endParaRPr lang="en-US"/>
          </a:p>
        </p:txBody>
      </p:sp>
    </p:spTree>
    <p:extLst>
      <p:ext uri="{BB962C8B-B14F-4D97-AF65-F5344CB8AC3E}">
        <p14:creationId xmlns:p14="http://schemas.microsoft.com/office/powerpoint/2010/main" val="3638811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3FB4056-B6F8-42A8-B7FF-9D01BB2C3838}" type="datetimeFigureOut">
              <a:rPr lang="en-US" smtClean="0"/>
              <a:t>12/23/2020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092C9B-B6D8-4F80-AD8F-E3D864D8B515}" type="slidenum">
              <a:rPr lang="en-US" smtClean="0"/>
              <a:t>‹#›</a:t>
            </a:fld>
            <a:endParaRPr lang="en-US"/>
          </a:p>
        </p:txBody>
      </p:sp>
    </p:spTree>
    <p:extLst>
      <p:ext uri="{BB962C8B-B14F-4D97-AF65-F5344CB8AC3E}">
        <p14:creationId xmlns:p14="http://schemas.microsoft.com/office/powerpoint/2010/main" val="1987108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3FB4056-B6F8-42A8-B7FF-9D01BB2C3838}" type="datetimeFigureOut">
              <a:rPr lang="en-US" smtClean="0"/>
              <a:t>12/23/2020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092C9B-B6D8-4F80-AD8F-E3D864D8B515}" type="slidenum">
              <a:rPr lang="en-US" smtClean="0"/>
              <a:t>‹#›</a:t>
            </a:fld>
            <a:endParaRPr lang="en-US"/>
          </a:p>
        </p:txBody>
      </p:sp>
    </p:spTree>
    <p:extLst>
      <p:ext uri="{BB962C8B-B14F-4D97-AF65-F5344CB8AC3E}">
        <p14:creationId xmlns:p14="http://schemas.microsoft.com/office/powerpoint/2010/main" val="1633834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FB4056-B6F8-42A8-B7FF-9D01BB2C3838}" type="datetimeFigureOut">
              <a:rPr lang="en-US" smtClean="0"/>
              <a:t>12/23/2020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092C9B-B6D8-4F80-AD8F-E3D864D8B515}" type="slidenum">
              <a:rPr lang="en-US" smtClean="0"/>
              <a:t>‹#›</a:t>
            </a:fld>
            <a:endParaRPr lang="en-US"/>
          </a:p>
        </p:txBody>
      </p:sp>
    </p:spTree>
    <p:extLst>
      <p:ext uri="{BB962C8B-B14F-4D97-AF65-F5344CB8AC3E}">
        <p14:creationId xmlns:p14="http://schemas.microsoft.com/office/powerpoint/2010/main" val="4183486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FB4056-B6F8-42A8-B7FF-9D01BB2C3838}" type="datetimeFigureOut">
              <a:rPr lang="en-US" smtClean="0"/>
              <a:t>12/23/2020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092C9B-B6D8-4F80-AD8F-E3D864D8B515}" type="slidenum">
              <a:rPr lang="en-US" smtClean="0"/>
              <a:t>‹#›</a:t>
            </a:fld>
            <a:endParaRPr lang="en-US"/>
          </a:p>
        </p:txBody>
      </p:sp>
    </p:spTree>
    <p:extLst>
      <p:ext uri="{BB962C8B-B14F-4D97-AF65-F5344CB8AC3E}">
        <p14:creationId xmlns:p14="http://schemas.microsoft.com/office/powerpoint/2010/main" val="20712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FB4056-B6F8-42A8-B7FF-9D01BB2C3838}" type="datetimeFigureOut">
              <a:rPr lang="en-US" smtClean="0"/>
              <a:t>12/23/2020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092C9B-B6D8-4F80-AD8F-E3D864D8B515}" type="slidenum">
              <a:rPr lang="en-US" smtClean="0"/>
              <a:t>‹#›</a:t>
            </a:fld>
            <a:endParaRPr lang="en-US"/>
          </a:p>
        </p:txBody>
      </p:sp>
    </p:spTree>
    <p:extLst>
      <p:ext uri="{BB962C8B-B14F-4D97-AF65-F5344CB8AC3E}">
        <p14:creationId xmlns:p14="http://schemas.microsoft.com/office/powerpoint/2010/main" val="3438577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FB4056-B6F8-42A8-B7FF-9D01BB2C3838}" type="datetimeFigureOut">
              <a:rPr lang="en-US" smtClean="0"/>
              <a:t>12/23/2020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092C9B-B6D8-4F80-AD8F-E3D864D8B515}" type="slidenum">
              <a:rPr lang="en-US" smtClean="0"/>
              <a:t>‹#›</a:t>
            </a:fld>
            <a:endParaRPr lang="en-US"/>
          </a:p>
        </p:txBody>
      </p:sp>
    </p:spTree>
    <p:extLst>
      <p:ext uri="{BB962C8B-B14F-4D97-AF65-F5344CB8AC3E}">
        <p14:creationId xmlns:p14="http://schemas.microsoft.com/office/powerpoint/2010/main" val="2471080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FB4056-B6F8-42A8-B7FF-9D01BB2C3838}" type="datetimeFigureOut">
              <a:rPr lang="en-US" smtClean="0"/>
              <a:t>12/23/2020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092C9B-B6D8-4F80-AD8F-E3D864D8B515}" type="slidenum">
              <a:rPr lang="en-US" smtClean="0"/>
              <a:t>‹#›</a:t>
            </a:fld>
            <a:endParaRPr lang="en-US"/>
          </a:p>
        </p:txBody>
      </p:sp>
    </p:spTree>
    <p:extLst>
      <p:ext uri="{BB962C8B-B14F-4D97-AF65-F5344CB8AC3E}">
        <p14:creationId xmlns:p14="http://schemas.microsoft.com/office/powerpoint/2010/main" val="849882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FB4056-B6F8-42A8-B7FF-9D01BB2C3838}" type="datetimeFigureOut">
              <a:rPr lang="en-US" smtClean="0"/>
              <a:t>12/23/2020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092C9B-B6D8-4F80-AD8F-E3D864D8B515}" type="slidenum">
              <a:rPr lang="en-US" smtClean="0"/>
              <a:t>‹#›</a:t>
            </a:fld>
            <a:endParaRPr lang="en-US"/>
          </a:p>
        </p:txBody>
      </p:sp>
    </p:spTree>
    <p:extLst>
      <p:ext uri="{BB962C8B-B14F-4D97-AF65-F5344CB8AC3E}">
        <p14:creationId xmlns:p14="http://schemas.microsoft.com/office/powerpoint/2010/main" val="2710140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a:xfrm>
            <a:off x="1752601" y="303214"/>
            <a:ext cx="8736013" cy="992187"/>
          </a:xfrm>
        </p:spPr>
        <p:txBody>
          <a:bodyPr>
            <a:normAutofit fontScale="90000"/>
          </a:bodyPr>
          <a:lstStyle/>
          <a:p>
            <a:r>
              <a:rPr lang="en-US" smtClean="0"/>
              <a:t>Isolation levels in Transaction Processing</a:t>
            </a:r>
          </a:p>
        </p:txBody>
      </p:sp>
      <p:sp>
        <p:nvSpPr>
          <p:cNvPr id="3" name="Content Placeholder 2"/>
          <p:cNvSpPr>
            <a:spLocks noGrp="1"/>
          </p:cNvSpPr>
          <p:nvPr>
            <p:ph idx="1"/>
          </p:nvPr>
        </p:nvSpPr>
        <p:spPr>
          <a:xfrm>
            <a:off x="180303" y="1481071"/>
            <a:ext cx="11578107" cy="4623516"/>
          </a:xfrm>
        </p:spPr>
        <p:txBody>
          <a:bodyPr>
            <a:normAutofit/>
          </a:bodyPr>
          <a:lstStyle/>
          <a:p>
            <a:pPr marL="0" indent="0" algn="just">
              <a:buNone/>
              <a:defRPr/>
            </a:pPr>
            <a:r>
              <a:rPr lang="en-US" sz="2400" dirty="0"/>
              <a:t>A transaction isolation level is defined by the following phenomena –</a:t>
            </a:r>
          </a:p>
          <a:p>
            <a:pPr algn="just">
              <a:defRPr/>
            </a:pPr>
            <a:r>
              <a:rPr lang="en-US" sz="2400" b="1" dirty="0"/>
              <a:t>Dirty Read – </a:t>
            </a:r>
            <a:r>
              <a:rPr lang="en-US" sz="2400" dirty="0"/>
              <a:t>A Dirty read is the situation when a transaction reads a data that has not yet been committed.  Reading a value that was written by a transaction which </a:t>
            </a:r>
            <a:r>
              <a:rPr lang="en-US" sz="2400" dirty="0" smtClean="0"/>
              <a:t>failed.</a:t>
            </a:r>
          </a:p>
          <a:p>
            <a:pPr marL="0" indent="0" algn="just">
              <a:buNone/>
              <a:defRPr/>
            </a:pPr>
            <a:r>
              <a:rPr lang="en-US" sz="2400" i="1" dirty="0" smtClean="0"/>
              <a:t>	</a:t>
            </a:r>
            <a:r>
              <a:rPr lang="en-US" sz="2400" i="1" dirty="0" err="1" smtClean="0"/>
              <a:t>S</a:t>
            </a:r>
            <a:r>
              <a:rPr lang="en-US" sz="2400" i="1" baseline="-25000" dirty="0" err="1" smtClean="0"/>
              <a:t>b</a:t>
            </a:r>
            <a:r>
              <a:rPr lang="en-US" sz="2400" dirty="0"/>
              <a:t>:</a:t>
            </a:r>
            <a:r>
              <a:rPr lang="en-US" sz="2400" i="1" dirty="0"/>
              <a:t> r</a:t>
            </a:r>
            <a:r>
              <a:rPr lang="en-US" sz="2400" baseline="-25000" dirty="0"/>
              <a:t>1</a:t>
            </a:r>
            <a:r>
              <a:rPr lang="en-US" sz="2400" dirty="0"/>
              <a:t>(</a:t>
            </a:r>
            <a:r>
              <a:rPr lang="en-US" sz="2400" i="1" dirty="0"/>
              <a:t>X</a:t>
            </a:r>
            <a:r>
              <a:rPr lang="en-US" sz="2400" dirty="0"/>
              <a:t>);</a:t>
            </a:r>
            <a:r>
              <a:rPr lang="en-US" sz="2400" i="1" dirty="0"/>
              <a:t>  w</a:t>
            </a:r>
            <a:r>
              <a:rPr lang="en-US" sz="2400" baseline="-25000" dirty="0"/>
              <a:t>1</a:t>
            </a:r>
            <a:r>
              <a:rPr lang="en-US" sz="2400" dirty="0"/>
              <a:t>(</a:t>
            </a:r>
            <a:r>
              <a:rPr lang="en-US" sz="2400" i="1" dirty="0"/>
              <a:t>X</a:t>
            </a:r>
            <a:r>
              <a:rPr lang="en-US" sz="2400" dirty="0" smtClean="0"/>
              <a:t>);</a:t>
            </a:r>
            <a:r>
              <a:rPr lang="en-US" sz="2400" i="1" dirty="0"/>
              <a:t> r</a:t>
            </a:r>
            <a:r>
              <a:rPr lang="en-US" sz="2400" baseline="-25000" dirty="0"/>
              <a:t>2</a:t>
            </a:r>
            <a:r>
              <a:rPr lang="en-US" sz="2400" dirty="0"/>
              <a:t>(</a:t>
            </a:r>
            <a:r>
              <a:rPr lang="en-US" sz="2400" i="1" dirty="0"/>
              <a:t>X</a:t>
            </a:r>
            <a:r>
              <a:rPr lang="en-US" sz="2400" dirty="0"/>
              <a:t>); </a:t>
            </a:r>
            <a:r>
              <a:rPr lang="en-US" sz="2400" i="1" dirty="0"/>
              <a:t> r</a:t>
            </a:r>
            <a:r>
              <a:rPr lang="en-US" sz="2400" baseline="-25000" dirty="0"/>
              <a:t>1</a:t>
            </a:r>
            <a:r>
              <a:rPr lang="en-US" sz="2400" dirty="0"/>
              <a:t>(</a:t>
            </a:r>
            <a:r>
              <a:rPr lang="en-US" sz="2400" i="1" dirty="0"/>
              <a:t>Y</a:t>
            </a:r>
            <a:r>
              <a:rPr lang="en-US" sz="2400" dirty="0"/>
              <a:t>);</a:t>
            </a:r>
            <a:r>
              <a:rPr lang="en-US" sz="2400" i="1" dirty="0"/>
              <a:t> w</a:t>
            </a:r>
            <a:r>
              <a:rPr lang="en-US" sz="2400" baseline="-25000" dirty="0"/>
              <a:t>2</a:t>
            </a:r>
            <a:r>
              <a:rPr lang="en-US" sz="2400" dirty="0"/>
              <a:t>(</a:t>
            </a:r>
            <a:r>
              <a:rPr lang="en-US" sz="2400" i="1" dirty="0"/>
              <a:t>X</a:t>
            </a:r>
            <a:r>
              <a:rPr lang="en-US" sz="2400" dirty="0"/>
              <a:t>);c</a:t>
            </a:r>
            <a:r>
              <a:rPr lang="en-US" sz="2400" baseline="-25000" dirty="0"/>
              <a:t>2</a:t>
            </a:r>
            <a:r>
              <a:rPr lang="en-US" sz="2400" dirty="0"/>
              <a:t>;</a:t>
            </a:r>
            <a:r>
              <a:rPr lang="en-US" sz="2400" i="1" dirty="0"/>
              <a:t> w</a:t>
            </a:r>
            <a:r>
              <a:rPr lang="en-US" sz="2400" baseline="-25000" dirty="0"/>
              <a:t>1</a:t>
            </a:r>
            <a:r>
              <a:rPr lang="en-US" sz="2400" dirty="0"/>
              <a:t>(</a:t>
            </a:r>
            <a:r>
              <a:rPr lang="en-US" sz="2400" i="1" dirty="0"/>
              <a:t>Y</a:t>
            </a:r>
            <a:r>
              <a:rPr lang="en-US" sz="2400" dirty="0"/>
              <a:t>);</a:t>
            </a:r>
            <a:r>
              <a:rPr lang="en-US" sz="2400" dirty="0" smtClean="0"/>
              <a:t>c</a:t>
            </a:r>
            <a:r>
              <a:rPr lang="en-US" sz="2400" baseline="-25000" dirty="0" smtClean="0"/>
              <a:t>1</a:t>
            </a:r>
            <a:endParaRPr lang="en-US" sz="2400" dirty="0"/>
          </a:p>
          <a:p>
            <a:pPr algn="just">
              <a:defRPr/>
            </a:pPr>
            <a:r>
              <a:rPr lang="en-US" sz="2400" b="1" dirty="0" smtClean="0"/>
              <a:t>Non </a:t>
            </a:r>
            <a:r>
              <a:rPr lang="en-US" sz="2400" b="1" dirty="0"/>
              <a:t>Repeatable read – </a:t>
            </a:r>
            <a:r>
              <a:rPr lang="en-US" sz="2400" dirty="0"/>
              <a:t>Non Repeatable read occurs when a transaction reads same row twice, and get a different value each time. </a:t>
            </a:r>
            <a:r>
              <a:rPr lang="en-US" sz="2100" dirty="0"/>
              <a:t>Allowing another transaction to write a new value between multiple reads of one transaction. </a:t>
            </a:r>
          </a:p>
          <a:p>
            <a:pPr lvl="1">
              <a:lnSpc>
                <a:spcPct val="80000"/>
              </a:lnSpc>
            </a:pPr>
            <a:r>
              <a:rPr lang="en-US" sz="2100" dirty="0"/>
              <a:t>A transaction T1 may read a given value from a table. If another transaction T2 later updates that value and T1 reads that value again, T1 will see a different value.  </a:t>
            </a:r>
            <a:endParaRPr lang="en-US" sz="2400" dirty="0"/>
          </a:p>
          <a:p>
            <a:pPr algn="just">
              <a:defRPr/>
            </a:pPr>
            <a:r>
              <a:rPr lang="en-US" sz="2400" b="1" dirty="0"/>
              <a:t>Phantom Read – </a:t>
            </a:r>
            <a:r>
              <a:rPr lang="en-US" sz="2400" dirty="0"/>
              <a:t>Phantom Read occurs when two same queries are executed, but the rows retrieved by the two, are different.</a:t>
            </a:r>
          </a:p>
          <a:p>
            <a:pPr marL="0" indent="0" algn="just">
              <a:buNone/>
              <a:defRPr/>
            </a:pPr>
            <a:r>
              <a:rPr lang="en-US" sz="2400" dirty="0"/>
              <a:t>Based on these phenomena, The SQL standard defines four isolation levels :</a:t>
            </a:r>
          </a:p>
        </p:txBody>
      </p:sp>
    </p:spTree>
    <p:extLst>
      <p:ext uri="{BB962C8B-B14F-4D97-AF65-F5344CB8AC3E}">
        <p14:creationId xmlns:p14="http://schemas.microsoft.com/office/powerpoint/2010/main" val="11893256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a:xfrm>
            <a:off x="1752600" y="303214"/>
            <a:ext cx="8610600" cy="992187"/>
          </a:xfrm>
        </p:spPr>
        <p:txBody>
          <a:bodyPr>
            <a:normAutofit fontScale="90000"/>
          </a:bodyPr>
          <a:lstStyle/>
          <a:p>
            <a:r>
              <a:rPr lang="en-US" smtClean="0"/>
              <a:t>Isolation levels in Transaction Processing</a:t>
            </a:r>
          </a:p>
        </p:txBody>
      </p:sp>
      <p:sp>
        <p:nvSpPr>
          <p:cNvPr id="3" name="Content Placeholder 2"/>
          <p:cNvSpPr>
            <a:spLocks noGrp="1"/>
          </p:cNvSpPr>
          <p:nvPr>
            <p:ph idx="1"/>
          </p:nvPr>
        </p:nvSpPr>
        <p:spPr>
          <a:xfrm>
            <a:off x="1030311" y="1493949"/>
            <a:ext cx="10135672" cy="4610637"/>
          </a:xfrm>
        </p:spPr>
        <p:txBody>
          <a:bodyPr/>
          <a:lstStyle/>
          <a:p>
            <a:pPr algn="just">
              <a:defRPr/>
            </a:pPr>
            <a:r>
              <a:rPr lang="en-US" b="1" dirty="0"/>
              <a:t>Read Uncommitted – </a:t>
            </a:r>
            <a:r>
              <a:rPr lang="en-US" dirty="0"/>
              <a:t>Read Uncommitted is the lowest isolation level. In this level, one transaction may read not yet committed changes made by other transaction, thereby allowing dirty reads. In this level, transactions are not isolated from each other.</a:t>
            </a:r>
          </a:p>
          <a:p>
            <a:pPr marL="0" indent="0" algn="just">
              <a:buNone/>
              <a:defRPr/>
            </a:pPr>
            <a:endParaRPr lang="en-US" dirty="0"/>
          </a:p>
          <a:p>
            <a:pPr algn="just">
              <a:defRPr/>
            </a:pPr>
            <a:r>
              <a:rPr lang="en-US" b="1" dirty="0"/>
              <a:t>Read Committed – </a:t>
            </a:r>
            <a:r>
              <a:rPr lang="en-US" dirty="0"/>
              <a:t>This isolation level guarantees that any data read is committed at the moment it is read. Thus it does not allows dirty read. The transaction holds a read or write lock on the current row, and thus prevent other transactions from reading, updating or deleting it.</a:t>
            </a:r>
          </a:p>
          <a:p>
            <a:pPr>
              <a:defRPr/>
            </a:pPr>
            <a:endParaRPr lang="en-US" dirty="0"/>
          </a:p>
        </p:txBody>
      </p:sp>
    </p:spTree>
    <p:extLst>
      <p:ext uri="{BB962C8B-B14F-4D97-AF65-F5344CB8AC3E}">
        <p14:creationId xmlns:p14="http://schemas.microsoft.com/office/powerpoint/2010/main" val="16170909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a:xfrm>
            <a:off x="1752600" y="303214"/>
            <a:ext cx="8610600" cy="992187"/>
          </a:xfrm>
        </p:spPr>
        <p:txBody>
          <a:bodyPr>
            <a:normAutofit fontScale="90000"/>
          </a:bodyPr>
          <a:lstStyle/>
          <a:p>
            <a:r>
              <a:rPr lang="en-US" smtClean="0"/>
              <a:t>Isolation levels in Transaction Processing</a:t>
            </a:r>
          </a:p>
        </p:txBody>
      </p:sp>
      <p:sp>
        <p:nvSpPr>
          <p:cNvPr id="88067" name="Content Placeholder 2"/>
          <p:cNvSpPr>
            <a:spLocks noGrp="1"/>
          </p:cNvSpPr>
          <p:nvPr>
            <p:ph idx="1"/>
          </p:nvPr>
        </p:nvSpPr>
        <p:spPr>
          <a:xfrm>
            <a:off x="1493949" y="1295402"/>
            <a:ext cx="9697792" cy="4409940"/>
          </a:xfrm>
        </p:spPr>
        <p:txBody>
          <a:bodyPr>
            <a:normAutofit lnSpcReduction="10000"/>
          </a:bodyPr>
          <a:lstStyle/>
          <a:p>
            <a:pPr algn="just"/>
            <a:r>
              <a:rPr lang="en-US" b="1" dirty="0"/>
              <a:t>Repeatable Read – </a:t>
            </a:r>
            <a:r>
              <a:rPr lang="en-US" dirty="0"/>
              <a:t>This is the most restrictive isolation level. The transaction holds read locks on all rows it references and writes locks on all rows it inserts, updates, or deletes. Since other transaction cannot read, update or delete these rows, consequently it avoids non-repeatable read</a:t>
            </a:r>
            <a:r>
              <a:rPr lang="en-US" dirty="0" smtClean="0"/>
              <a:t>.</a:t>
            </a:r>
          </a:p>
          <a:p>
            <a:pPr marL="0" indent="0" algn="just">
              <a:buNone/>
            </a:pPr>
            <a:endParaRPr lang="en-US" dirty="0"/>
          </a:p>
          <a:p>
            <a:pPr algn="just"/>
            <a:r>
              <a:rPr lang="en-US" b="1" dirty="0" err="1"/>
              <a:t>Serializable</a:t>
            </a:r>
            <a:r>
              <a:rPr lang="en-US" b="1" dirty="0"/>
              <a:t> – </a:t>
            </a:r>
            <a:r>
              <a:rPr lang="en-US" dirty="0"/>
              <a:t>This is the Highest isolation level. A </a:t>
            </a:r>
            <a:r>
              <a:rPr lang="en-US" i="1" dirty="0" err="1"/>
              <a:t>serializable</a:t>
            </a:r>
            <a:r>
              <a:rPr lang="en-US" dirty="0"/>
              <a:t> execution is guaranteed to be </a:t>
            </a:r>
            <a:r>
              <a:rPr lang="en-US" dirty="0" err="1"/>
              <a:t>serializable</a:t>
            </a:r>
            <a:r>
              <a:rPr lang="en-US" dirty="0"/>
              <a:t>. </a:t>
            </a:r>
            <a:r>
              <a:rPr lang="en-US" dirty="0" err="1"/>
              <a:t>Serializable</a:t>
            </a:r>
            <a:r>
              <a:rPr lang="en-US" dirty="0"/>
              <a:t> execution is defined to be an execution of operations in which concurrently executing transactions appears to be serially executing.</a:t>
            </a:r>
          </a:p>
          <a:p>
            <a:endParaRPr lang="en-US" dirty="0" smtClean="0"/>
          </a:p>
        </p:txBody>
      </p:sp>
    </p:spTree>
    <p:extLst>
      <p:ext uri="{BB962C8B-B14F-4D97-AF65-F5344CB8AC3E}">
        <p14:creationId xmlns:p14="http://schemas.microsoft.com/office/powerpoint/2010/main" val="33174276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4"/>
          <p:cNvSpPr>
            <a:spLocks noGrp="1" noChangeArrowheads="1"/>
          </p:cNvSpPr>
          <p:nvPr>
            <p:ph type="title"/>
          </p:nvPr>
        </p:nvSpPr>
        <p:spPr/>
        <p:txBody>
          <a:bodyPr/>
          <a:lstStyle/>
          <a:p>
            <a:pPr eaLnBrk="1" hangingPunct="1"/>
            <a:r>
              <a:rPr lang="en-US" dirty="0" smtClean="0"/>
              <a:t>Transaction Support in SQL</a:t>
            </a:r>
          </a:p>
        </p:txBody>
      </p:sp>
      <p:sp>
        <p:nvSpPr>
          <p:cNvPr id="118788" name="Rectangle 5"/>
          <p:cNvSpPr>
            <a:spLocks noGrp="1" noChangeArrowheads="1"/>
          </p:cNvSpPr>
          <p:nvPr>
            <p:ph type="body" idx="1"/>
          </p:nvPr>
        </p:nvSpPr>
        <p:spPr>
          <a:xfrm>
            <a:off x="1712889" y="1426380"/>
            <a:ext cx="9787944" cy="4351338"/>
          </a:xfrm>
        </p:spPr>
        <p:txBody>
          <a:bodyPr>
            <a:noAutofit/>
          </a:bodyPr>
          <a:lstStyle/>
          <a:p>
            <a:pPr eaLnBrk="1" hangingPunct="1">
              <a:lnSpc>
                <a:spcPct val="80000"/>
              </a:lnSpc>
            </a:pPr>
            <a:r>
              <a:rPr lang="en-US" dirty="0"/>
              <a:t>Possible violation of </a:t>
            </a:r>
            <a:r>
              <a:rPr lang="en-US" dirty="0" err="1"/>
              <a:t>serializabilty</a:t>
            </a:r>
            <a:r>
              <a:rPr lang="en-US" dirty="0"/>
              <a:t>:</a:t>
            </a:r>
          </a:p>
          <a:p>
            <a:pPr eaLnBrk="1" hangingPunct="1">
              <a:lnSpc>
                <a:spcPct val="80000"/>
              </a:lnSpc>
              <a:buFont typeface="Wingdings" panose="05000000000000000000" pitchFamily="2" charset="2"/>
              <a:buNone/>
            </a:pPr>
            <a:r>
              <a:rPr lang="en-US" dirty="0"/>
              <a:t>					Type of Violation </a:t>
            </a:r>
          </a:p>
          <a:p>
            <a:pPr eaLnBrk="1" hangingPunct="1">
              <a:lnSpc>
                <a:spcPct val="80000"/>
              </a:lnSpc>
              <a:buFont typeface="Wingdings" panose="05000000000000000000" pitchFamily="2" charset="2"/>
              <a:buNone/>
            </a:pPr>
            <a:r>
              <a:rPr lang="en-US" dirty="0"/>
              <a:t>Isolation                              Dirty       </a:t>
            </a:r>
            <a:r>
              <a:rPr lang="en-US" dirty="0" err="1"/>
              <a:t>nonrepeatable</a:t>
            </a:r>
            <a:r>
              <a:rPr lang="en-US" dirty="0"/>
              <a:t>         </a:t>
            </a:r>
          </a:p>
          <a:p>
            <a:pPr eaLnBrk="1" hangingPunct="1">
              <a:lnSpc>
                <a:spcPct val="80000"/>
              </a:lnSpc>
              <a:buFont typeface="Wingdings" panose="05000000000000000000" pitchFamily="2" charset="2"/>
              <a:buNone/>
            </a:pPr>
            <a:r>
              <a:rPr lang="en-US" dirty="0"/>
              <a:t>   level                                   read              </a:t>
            </a:r>
            <a:r>
              <a:rPr lang="en-US" dirty="0" err="1"/>
              <a:t>read</a:t>
            </a:r>
            <a:r>
              <a:rPr lang="en-US" dirty="0"/>
              <a:t>                     phantom   </a:t>
            </a:r>
          </a:p>
          <a:p>
            <a:pPr eaLnBrk="1" hangingPunct="1">
              <a:lnSpc>
                <a:spcPct val="80000"/>
              </a:lnSpc>
              <a:buFont typeface="Wingdings" panose="05000000000000000000" pitchFamily="2" charset="2"/>
              <a:buNone/>
            </a:pPr>
            <a:r>
              <a:rPr lang="en-US" dirty="0"/>
              <a:t>_______________________________________________________</a:t>
            </a:r>
          </a:p>
          <a:p>
            <a:pPr eaLnBrk="1" hangingPunct="1">
              <a:lnSpc>
                <a:spcPct val="80000"/>
              </a:lnSpc>
              <a:buFont typeface="Wingdings" panose="05000000000000000000" pitchFamily="2" charset="2"/>
              <a:buNone/>
            </a:pPr>
            <a:r>
              <a:rPr lang="en-US" dirty="0"/>
              <a:t>READ UNCOMMITTED           yes                </a:t>
            </a:r>
            <a:r>
              <a:rPr lang="en-US" dirty="0" err="1"/>
              <a:t>yes</a:t>
            </a:r>
            <a:r>
              <a:rPr lang="en-US" dirty="0"/>
              <a:t>                            </a:t>
            </a:r>
            <a:r>
              <a:rPr lang="en-US" dirty="0" err="1"/>
              <a:t>yes</a:t>
            </a:r>
            <a:r>
              <a:rPr lang="en-US" dirty="0"/>
              <a:t>   </a:t>
            </a:r>
          </a:p>
          <a:p>
            <a:pPr eaLnBrk="1" hangingPunct="1">
              <a:lnSpc>
                <a:spcPct val="80000"/>
              </a:lnSpc>
              <a:buFont typeface="Wingdings" panose="05000000000000000000" pitchFamily="2" charset="2"/>
              <a:buNone/>
            </a:pPr>
            <a:r>
              <a:rPr lang="en-US" dirty="0"/>
              <a:t>READ COMMITTED                 no                 yes                            </a:t>
            </a:r>
            <a:r>
              <a:rPr lang="en-US" dirty="0" err="1"/>
              <a:t>yes</a:t>
            </a:r>
            <a:r>
              <a:rPr lang="en-US" dirty="0"/>
              <a:t>    </a:t>
            </a:r>
          </a:p>
          <a:p>
            <a:pPr eaLnBrk="1" hangingPunct="1">
              <a:lnSpc>
                <a:spcPct val="80000"/>
              </a:lnSpc>
              <a:buFont typeface="Wingdings" panose="05000000000000000000" pitchFamily="2" charset="2"/>
              <a:buNone/>
            </a:pPr>
            <a:r>
              <a:rPr lang="en-US" dirty="0"/>
              <a:t>REPEATABLE READ                no                  </a:t>
            </a:r>
            <a:r>
              <a:rPr lang="en-US" dirty="0" err="1"/>
              <a:t>no</a:t>
            </a:r>
            <a:r>
              <a:rPr lang="en-US" dirty="0"/>
              <a:t>                             yes   </a:t>
            </a:r>
          </a:p>
          <a:p>
            <a:pPr eaLnBrk="1" hangingPunct="1">
              <a:lnSpc>
                <a:spcPct val="80000"/>
              </a:lnSpc>
              <a:buFont typeface="Wingdings" panose="05000000000000000000" pitchFamily="2" charset="2"/>
              <a:buNone/>
            </a:pPr>
            <a:r>
              <a:rPr lang="en-US" dirty="0"/>
              <a:t>SERIALIZABLE                          no                 </a:t>
            </a:r>
            <a:r>
              <a:rPr lang="en-US" dirty="0" err="1"/>
              <a:t>no</a:t>
            </a:r>
            <a:r>
              <a:rPr lang="en-US" dirty="0"/>
              <a:t>                              </a:t>
            </a:r>
            <a:r>
              <a:rPr lang="en-US" dirty="0" err="1"/>
              <a:t>no</a:t>
            </a:r>
            <a:r>
              <a:rPr lang="en-US" dirty="0"/>
              <a:t> </a:t>
            </a:r>
          </a:p>
          <a:p>
            <a:pPr eaLnBrk="1" hangingPunct="1">
              <a:lnSpc>
                <a:spcPct val="80000"/>
              </a:lnSpc>
            </a:pPr>
            <a:endParaRPr lang="en-US" dirty="0"/>
          </a:p>
        </p:txBody>
      </p:sp>
    </p:spTree>
    <p:extLst>
      <p:ext uri="{BB962C8B-B14F-4D97-AF65-F5344CB8AC3E}">
        <p14:creationId xmlns:p14="http://schemas.microsoft.com/office/powerpoint/2010/main" val="6500572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4"/>
          <p:cNvSpPr>
            <a:spLocks noGrp="1" noChangeArrowheads="1"/>
          </p:cNvSpPr>
          <p:nvPr>
            <p:ph type="title"/>
          </p:nvPr>
        </p:nvSpPr>
        <p:spPr/>
        <p:txBody>
          <a:bodyPr/>
          <a:lstStyle/>
          <a:p>
            <a:pPr eaLnBrk="1" hangingPunct="1"/>
            <a:r>
              <a:rPr lang="en-US" smtClean="0"/>
              <a:t>Characterizing Schedules based on Recoverability</a:t>
            </a:r>
          </a:p>
        </p:txBody>
      </p:sp>
      <p:sp>
        <p:nvSpPr>
          <p:cNvPr id="61444" name="Rectangle 5"/>
          <p:cNvSpPr>
            <a:spLocks noGrp="1" noChangeArrowheads="1"/>
          </p:cNvSpPr>
          <p:nvPr>
            <p:ph type="body" idx="1"/>
          </p:nvPr>
        </p:nvSpPr>
        <p:spPr>
          <a:xfrm>
            <a:off x="1763714" y="1841679"/>
            <a:ext cx="9590086" cy="4330522"/>
          </a:xfrm>
        </p:spPr>
        <p:txBody>
          <a:bodyPr/>
          <a:lstStyle/>
          <a:p>
            <a:pPr eaLnBrk="1" hangingPunct="1">
              <a:lnSpc>
                <a:spcPct val="80000"/>
              </a:lnSpc>
              <a:buFont typeface="Wingdings" panose="05000000000000000000" pitchFamily="2" charset="2"/>
              <a:buNone/>
            </a:pPr>
            <a:r>
              <a:rPr lang="en-US" dirty="0" smtClean="0"/>
              <a:t>Schedules classified on recoverability:</a:t>
            </a:r>
          </a:p>
          <a:p>
            <a:pPr eaLnBrk="1" hangingPunct="1">
              <a:lnSpc>
                <a:spcPct val="80000"/>
              </a:lnSpc>
            </a:pPr>
            <a:r>
              <a:rPr lang="en-US" b="1" dirty="0" smtClean="0"/>
              <a:t>Recoverable schedule</a:t>
            </a:r>
            <a:r>
              <a:rPr lang="en-US" dirty="0" smtClean="0"/>
              <a:t>:</a:t>
            </a:r>
          </a:p>
          <a:p>
            <a:pPr lvl="1" eaLnBrk="1" hangingPunct="1">
              <a:lnSpc>
                <a:spcPct val="80000"/>
              </a:lnSpc>
            </a:pPr>
            <a:r>
              <a:rPr lang="en-US" sz="2800" dirty="0"/>
              <a:t>One where no transaction needs to be rolled back. </a:t>
            </a:r>
          </a:p>
          <a:p>
            <a:pPr lvl="1" eaLnBrk="1" hangingPunct="1">
              <a:lnSpc>
                <a:spcPct val="80000"/>
              </a:lnSpc>
            </a:pPr>
            <a:r>
              <a:rPr lang="en-US" sz="2800" dirty="0"/>
              <a:t>A schedule S is recoverable </a:t>
            </a:r>
            <a:r>
              <a:rPr lang="en-US" sz="2800" b="1" dirty="0"/>
              <a:t>if no transaction T in S commits </a:t>
            </a:r>
            <a:r>
              <a:rPr lang="en-US" sz="2800" dirty="0"/>
              <a:t>until all transactions T’ that have written an item that T reads have committed.</a:t>
            </a:r>
          </a:p>
          <a:p>
            <a:pPr eaLnBrk="1" hangingPunct="1">
              <a:lnSpc>
                <a:spcPct val="80000"/>
              </a:lnSpc>
            </a:pPr>
            <a:r>
              <a:rPr lang="en-US" b="1" dirty="0" err="1" smtClean="0"/>
              <a:t>Cascadeless</a:t>
            </a:r>
            <a:r>
              <a:rPr lang="en-US" b="1" dirty="0" smtClean="0"/>
              <a:t> schedule</a:t>
            </a:r>
            <a:r>
              <a:rPr lang="en-US" dirty="0" smtClean="0"/>
              <a:t>:</a:t>
            </a:r>
          </a:p>
          <a:p>
            <a:pPr lvl="1" eaLnBrk="1" hangingPunct="1">
              <a:lnSpc>
                <a:spcPct val="80000"/>
              </a:lnSpc>
            </a:pPr>
            <a:r>
              <a:rPr lang="en-US" sz="2800" dirty="0"/>
              <a:t>One where </a:t>
            </a:r>
            <a:r>
              <a:rPr lang="en-US" sz="2800" b="1" dirty="0"/>
              <a:t>every transaction reads only  the items</a:t>
            </a:r>
            <a:r>
              <a:rPr lang="en-US" sz="2800" dirty="0"/>
              <a:t> that are </a:t>
            </a:r>
            <a:r>
              <a:rPr lang="en-US" sz="2800" b="1" dirty="0"/>
              <a:t>written by committed transactions.</a:t>
            </a:r>
          </a:p>
        </p:txBody>
      </p:sp>
    </p:spTree>
    <p:extLst>
      <p:ext uri="{BB962C8B-B14F-4D97-AF65-F5344CB8AC3E}">
        <p14:creationId xmlns:p14="http://schemas.microsoft.com/office/powerpoint/2010/main" val="3309847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4"/>
          <p:cNvSpPr>
            <a:spLocks noGrp="1" noChangeArrowheads="1"/>
          </p:cNvSpPr>
          <p:nvPr>
            <p:ph type="title"/>
          </p:nvPr>
        </p:nvSpPr>
        <p:spPr/>
        <p:txBody>
          <a:bodyPr/>
          <a:lstStyle/>
          <a:p>
            <a:pPr eaLnBrk="1" hangingPunct="1"/>
            <a:r>
              <a:rPr lang="en-US" smtClean="0"/>
              <a:t>Characterizing Schedules based on Recoverability </a:t>
            </a:r>
          </a:p>
        </p:txBody>
      </p:sp>
      <p:sp>
        <p:nvSpPr>
          <p:cNvPr id="63492" name="Rectangle 5"/>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sz="3200" dirty="0"/>
              <a:t>Schedules classified on recoverability (contd.):</a:t>
            </a:r>
          </a:p>
          <a:p>
            <a:pPr eaLnBrk="1" hangingPunct="1">
              <a:lnSpc>
                <a:spcPct val="90000"/>
              </a:lnSpc>
            </a:pPr>
            <a:r>
              <a:rPr lang="en-US" sz="3200" b="1" dirty="0"/>
              <a:t>Schedules requiring cascaded rollback</a:t>
            </a:r>
            <a:r>
              <a:rPr lang="en-US" sz="3200" dirty="0"/>
              <a:t>:</a:t>
            </a:r>
          </a:p>
          <a:p>
            <a:pPr lvl="1" eaLnBrk="1" hangingPunct="1">
              <a:lnSpc>
                <a:spcPct val="90000"/>
              </a:lnSpc>
            </a:pPr>
            <a:r>
              <a:rPr lang="en-US" sz="3000" dirty="0"/>
              <a:t>A schedule in which </a:t>
            </a:r>
            <a:r>
              <a:rPr lang="en-US" sz="3000" b="1" dirty="0"/>
              <a:t>uncommitted transactions that read an item from a failed transaction</a:t>
            </a:r>
            <a:r>
              <a:rPr lang="en-US" sz="3000" dirty="0"/>
              <a:t> must be rolled back. </a:t>
            </a:r>
          </a:p>
          <a:p>
            <a:pPr eaLnBrk="1" hangingPunct="1">
              <a:lnSpc>
                <a:spcPct val="90000"/>
              </a:lnSpc>
            </a:pPr>
            <a:r>
              <a:rPr lang="en-US" b="1" dirty="0" smtClean="0"/>
              <a:t>Strict Schedules</a:t>
            </a:r>
            <a:r>
              <a:rPr lang="en-US" dirty="0" smtClean="0"/>
              <a:t>:</a:t>
            </a:r>
          </a:p>
          <a:p>
            <a:pPr lvl="1" eaLnBrk="1" hangingPunct="1">
              <a:lnSpc>
                <a:spcPct val="90000"/>
              </a:lnSpc>
            </a:pPr>
            <a:r>
              <a:rPr lang="en-US" dirty="0" smtClean="0"/>
              <a:t>A schedule in which a </a:t>
            </a:r>
            <a:r>
              <a:rPr lang="en-US" b="1" dirty="0" smtClean="0"/>
              <a:t>transaction can neither read or write an item X until the last transaction that wrote X has committed</a:t>
            </a:r>
            <a:r>
              <a:rPr lang="en-US" dirty="0" smtClean="0"/>
              <a:t>. </a:t>
            </a:r>
          </a:p>
        </p:txBody>
      </p:sp>
    </p:spTree>
    <p:extLst>
      <p:ext uri="{BB962C8B-B14F-4D97-AF65-F5344CB8AC3E}">
        <p14:creationId xmlns:p14="http://schemas.microsoft.com/office/powerpoint/2010/main" val="37120247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a:xfrm>
            <a:off x="709411" y="354730"/>
            <a:ext cx="10134600" cy="992187"/>
          </a:xfrm>
        </p:spPr>
        <p:txBody>
          <a:bodyPr>
            <a:normAutofit fontScale="90000"/>
          </a:bodyPr>
          <a:lstStyle/>
          <a:p>
            <a:r>
              <a:rPr lang="en-US" b="1" dirty="0" smtClean="0"/>
              <a:t>Characterizing Schedules Based on Recoverability</a:t>
            </a:r>
            <a:endParaRPr lang="en-US" dirty="0" smtClean="0"/>
          </a:p>
        </p:txBody>
      </p:sp>
      <p:sp>
        <p:nvSpPr>
          <p:cNvPr id="3" name="Content Placeholder 2"/>
          <p:cNvSpPr>
            <a:spLocks noGrp="1"/>
          </p:cNvSpPr>
          <p:nvPr>
            <p:ph idx="1"/>
          </p:nvPr>
        </p:nvSpPr>
        <p:spPr/>
        <p:txBody>
          <a:bodyPr/>
          <a:lstStyle/>
          <a:p>
            <a:pPr>
              <a:defRPr/>
            </a:pPr>
            <a:r>
              <a:rPr lang="en-US" dirty="0"/>
              <a:t>A shorthand notation for describing a schedule uses the symbols </a:t>
            </a:r>
            <a:r>
              <a:rPr lang="en-US" b="1" i="1" dirty="0"/>
              <a:t>b</a:t>
            </a:r>
            <a:r>
              <a:rPr lang="en-US" b="1" dirty="0"/>
              <a:t>, </a:t>
            </a:r>
            <a:r>
              <a:rPr lang="en-US" b="1" i="1" dirty="0"/>
              <a:t>r</a:t>
            </a:r>
            <a:r>
              <a:rPr lang="en-US" b="1" dirty="0"/>
              <a:t>,</a:t>
            </a:r>
            <a:r>
              <a:rPr lang="en-US" b="1" i="1" dirty="0"/>
              <a:t> w</a:t>
            </a:r>
            <a:r>
              <a:rPr lang="en-US" b="1" dirty="0"/>
              <a:t>,</a:t>
            </a:r>
            <a:r>
              <a:rPr lang="en-US" b="1" i="1" dirty="0"/>
              <a:t> e</a:t>
            </a:r>
            <a:r>
              <a:rPr lang="en-US" b="1" dirty="0"/>
              <a:t>,</a:t>
            </a:r>
            <a:r>
              <a:rPr lang="en-US" b="1" i="1" dirty="0"/>
              <a:t> c</a:t>
            </a:r>
            <a:r>
              <a:rPr lang="en-US" b="1" dirty="0"/>
              <a:t>, and</a:t>
            </a:r>
            <a:r>
              <a:rPr lang="en-US" b="1" i="1" dirty="0"/>
              <a:t> a</a:t>
            </a:r>
            <a:r>
              <a:rPr lang="en-US" i="1" dirty="0"/>
              <a:t> </a:t>
            </a:r>
            <a:r>
              <a:rPr lang="en-US" dirty="0"/>
              <a:t>for the </a:t>
            </a:r>
            <a:r>
              <a:rPr lang="en-US" dirty="0" smtClean="0"/>
              <a:t>operations</a:t>
            </a:r>
            <a:endParaRPr lang="en-US" i="1" dirty="0" smtClean="0"/>
          </a:p>
          <a:p>
            <a:pPr marL="0" indent="0">
              <a:buNone/>
              <a:defRPr/>
            </a:pPr>
            <a:r>
              <a:rPr lang="en-US" dirty="0" smtClean="0"/>
              <a:t>            </a:t>
            </a:r>
            <a:r>
              <a:rPr lang="en-US" dirty="0" err="1" smtClean="0"/>
              <a:t>begin_transaction</a:t>
            </a:r>
            <a:r>
              <a:rPr lang="en-US" dirty="0"/>
              <a:t>,</a:t>
            </a:r>
            <a:r>
              <a:rPr lang="en-US" i="1" dirty="0"/>
              <a:t> </a:t>
            </a:r>
            <a:r>
              <a:rPr lang="en-US" dirty="0" err="1"/>
              <a:t>read_item</a:t>
            </a:r>
            <a:r>
              <a:rPr lang="en-US" dirty="0"/>
              <a:t>,</a:t>
            </a:r>
            <a:r>
              <a:rPr lang="en-US" i="1" dirty="0"/>
              <a:t> </a:t>
            </a:r>
            <a:r>
              <a:rPr lang="en-US" dirty="0" err="1"/>
              <a:t>write_item</a:t>
            </a:r>
            <a:r>
              <a:rPr lang="en-US" dirty="0"/>
              <a:t>,</a:t>
            </a:r>
            <a:r>
              <a:rPr lang="en-US" i="1" dirty="0"/>
              <a:t> </a:t>
            </a:r>
            <a:r>
              <a:rPr lang="en-US" dirty="0" err="1"/>
              <a:t>end_transaction</a:t>
            </a:r>
            <a:r>
              <a:rPr lang="en-US" dirty="0"/>
              <a:t>, commit, and abort, respectively</a:t>
            </a:r>
          </a:p>
        </p:txBody>
      </p:sp>
    </p:spTree>
    <p:extLst>
      <p:ext uri="{BB962C8B-B14F-4D97-AF65-F5344CB8AC3E}">
        <p14:creationId xmlns:p14="http://schemas.microsoft.com/office/powerpoint/2010/main" val="13084733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p:txBody>
          <a:bodyPr/>
          <a:lstStyle/>
          <a:p>
            <a:r>
              <a:rPr lang="en-US" dirty="0" smtClean="0"/>
              <a:t>Schedules</a:t>
            </a:r>
          </a:p>
        </p:txBody>
      </p:sp>
      <p:sp>
        <p:nvSpPr>
          <p:cNvPr id="84995" name="Content Placeholder 2"/>
          <p:cNvSpPr>
            <a:spLocks noGrp="1"/>
          </p:cNvSpPr>
          <p:nvPr>
            <p:ph idx="1"/>
          </p:nvPr>
        </p:nvSpPr>
        <p:spPr>
          <a:xfrm>
            <a:off x="1763714" y="1484314"/>
            <a:ext cx="9891666" cy="4687887"/>
          </a:xfrm>
        </p:spPr>
        <p:txBody>
          <a:bodyPr/>
          <a:lstStyle/>
          <a:p>
            <a:r>
              <a:rPr lang="en-US" i="1" dirty="0" smtClean="0"/>
              <a:t>S</a:t>
            </a:r>
            <a:r>
              <a:rPr lang="en-US" i="1" baseline="-25000" dirty="0" smtClean="0"/>
              <a:t>a</a:t>
            </a:r>
            <a:r>
              <a:rPr lang="en-US" dirty="0" smtClean="0"/>
              <a:t>:</a:t>
            </a:r>
            <a:r>
              <a:rPr lang="en-US" i="1" dirty="0" smtClean="0"/>
              <a:t> r</a:t>
            </a:r>
            <a:r>
              <a:rPr lang="en-US" baseline="-25000" dirty="0" smtClean="0"/>
              <a:t>1</a:t>
            </a:r>
            <a:r>
              <a:rPr lang="en-US" dirty="0" smtClean="0"/>
              <a:t>(</a:t>
            </a:r>
            <a:r>
              <a:rPr lang="en-US" i="1" dirty="0" smtClean="0"/>
              <a:t>X</a:t>
            </a:r>
            <a:r>
              <a:rPr lang="en-US" dirty="0" smtClean="0"/>
              <a:t>);</a:t>
            </a:r>
            <a:r>
              <a:rPr lang="en-US" i="1" dirty="0" smtClean="0"/>
              <a:t> r</a:t>
            </a:r>
            <a:r>
              <a:rPr lang="en-US" baseline="-25000" dirty="0" smtClean="0"/>
              <a:t>2</a:t>
            </a:r>
            <a:r>
              <a:rPr lang="en-US" dirty="0" smtClean="0"/>
              <a:t>(</a:t>
            </a:r>
            <a:r>
              <a:rPr lang="en-US" i="1" dirty="0" smtClean="0"/>
              <a:t>X</a:t>
            </a:r>
            <a:r>
              <a:rPr lang="en-US" dirty="0" smtClean="0"/>
              <a:t>);</a:t>
            </a:r>
            <a:r>
              <a:rPr lang="en-US" i="1" dirty="0" smtClean="0"/>
              <a:t> w</a:t>
            </a:r>
            <a:r>
              <a:rPr lang="en-US" baseline="-25000" dirty="0" smtClean="0"/>
              <a:t>1</a:t>
            </a:r>
            <a:r>
              <a:rPr lang="en-US" dirty="0" smtClean="0"/>
              <a:t>(</a:t>
            </a:r>
            <a:r>
              <a:rPr lang="en-US" i="1" dirty="0" smtClean="0"/>
              <a:t>X</a:t>
            </a:r>
            <a:r>
              <a:rPr lang="en-US" dirty="0" smtClean="0"/>
              <a:t>);</a:t>
            </a:r>
            <a:r>
              <a:rPr lang="en-US" i="1" dirty="0" smtClean="0"/>
              <a:t> r</a:t>
            </a:r>
            <a:r>
              <a:rPr lang="en-US" baseline="-25000" dirty="0" smtClean="0"/>
              <a:t>1</a:t>
            </a:r>
            <a:r>
              <a:rPr lang="en-US" dirty="0" smtClean="0"/>
              <a:t>(</a:t>
            </a:r>
            <a:r>
              <a:rPr lang="en-US" i="1" dirty="0" smtClean="0"/>
              <a:t>Y</a:t>
            </a:r>
            <a:r>
              <a:rPr lang="en-US" dirty="0" smtClean="0"/>
              <a:t>);</a:t>
            </a:r>
            <a:r>
              <a:rPr lang="en-US" i="1" dirty="0" smtClean="0"/>
              <a:t> w</a:t>
            </a:r>
            <a:r>
              <a:rPr lang="en-US" baseline="-25000" dirty="0" smtClean="0"/>
              <a:t>2</a:t>
            </a:r>
            <a:r>
              <a:rPr lang="en-US" dirty="0" smtClean="0"/>
              <a:t>(</a:t>
            </a:r>
            <a:r>
              <a:rPr lang="en-US" i="1" dirty="0" smtClean="0"/>
              <a:t>X</a:t>
            </a:r>
            <a:r>
              <a:rPr lang="en-US" dirty="0" smtClean="0"/>
              <a:t>);</a:t>
            </a:r>
            <a:r>
              <a:rPr lang="en-US" i="1" dirty="0" smtClean="0"/>
              <a:t> w</a:t>
            </a:r>
            <a:r>
              <a:rPr lang="en-US" baseline="-25000" dirty="0" smtClean="0"/>
              <a:t>1</a:t>
            </a:r>
            <a:r>
              <a:rPr lang="en-US" dirty="0" smtClean="0"/>
              <a:t>(</a:t>
            </a:r>
            <a:r>
              <a:rPr lang="en-US" i="1" dirty="0" smtClean="0"/>
              <a:t>Y</a:t>
            </a:r>
            <a:r>
              <a:rPr lang="en-US" dirty="0" smtClean="0"/>
              <a:t>);</a:t>
            </a:r>
          </a:p>
          <a:p>
            <a:r>
              <a:rPr lang="en-US" dirty="0" smtClean="0"/>
              <a:t>Same as </a:t>
            </a:r>
            <a:r>
              <a:rPr lang="en-US" i="1" dirty="0" smtClean="0"/>
              <a:t>S</a:t>
            </a:r>
            <a:r>
              <a:rPr lang="en-US" i="1" baseline="-25000" dirty="0" smtClean="0"/>
              <a:t>a </a:t>
            </a:r>
            <a:r>
              <a:rPr lang="en-US" i="1" dirty="0" smtClean="0"/>
              <a:t>except 2 commit operations</a:t>
            </a:r>
            <a:endParaRPr lang="en-US" dirty="0" smtClean="0"/>
          </a:p>
          <a:p>
            <a:r>
              <a:rPr lang="en-US" i="1" dirty="0" err="1" smtClean="0"/>
              <a:t>S</a:t>
            </a:r>
            <a:r>
              <a:rPr lang="en-US" i="1" baseline="-25000" dirty="0" err="1" smtClean="0"/>
              <a:t>b</a:t>
            </a:r>
            <a:r>
              <a:rPr lang="en-US" dirty="0" smtClean="0"/>
              <a:t>:</a:t>
            </a:r>
            <a:r>
              <a:rPr lang="en-US" i="1" dirty="0" smtClean="0"/>
              <a:t> r</a:t>
            </a:r>
            <a:r>
              <a:rPr lang="en-US" baseline="-25000" dirty="0" smtClean="0"/>
              <a:t>1</a:t>
            </a:r>
            <a:r>
              <a:rPr lang="en-US" dirty="0" smtClean="0"/>
              <a:t>(</a:t>
            </a:r>
            <a:r>
              <a:rPr lang="en-US" i="1" dirty="0" smtClean="0"/>
              <a:t>X</a:t>
            </a:r>
            <a:r>
              <a:rPr lang="en-US" dirty="0" smtClean="0"/>
              <a:t>);</a:t>
            </a:r>
            <a:r>
              <a:rPr lang="en-US" i="1" dirty="0" smtClean="0"/>
              <a:t> r</a:t>
            </a:r>
            <a:r>
              <a:rPr lang="en-US" baseline="-25000" dirty="0" smtClean="0"/>
              <a:t>2</a:t>
            </a:r>
            <a:r>
              <a:rPr lang="en-US" dirty="0" smtClean="0"/>
              <a:t>(</a:t>
            </a:r>
            <a:r>
              <a:rPr lang="en-US" i="1" dirty="0" smtClean="0"/>
              <a:t>X</a:t>
            </a:r>
            <a:r>
              <a:rPr lang="en-US" dirty="0" smtClean="0"/>
              <a:t>);</a:t>
            </a:r>
            <a:r>
              <a:rPr lang="en-US" i="1" dirty="0" smtClean="0"/>
              <a:t> w</a:t>
            </a:r>
            <a:r>
              <a:rPr lang="en-US" baseline="-25000" dirty="0" smtClean="0"/>
              <a:t>1</a:t>
            </a:r>
            <a:r>
              <a:rPr lang="en-US" dirty="0" smtClean="0"/>
              <a:t>(</a:t>
            </a:r>
            <a:r>
              <a:rPr lang="en-US" i="1" dirty="0" smtClean="0"/>
              <a:t>X</a:t>
            </a:r>
            <a:r>
              <a:rPr lang="en-US" dirty="0" smtClean="0"/>
              <a:t>);</a:t>
            </a:r>
            <a:r>
              <a:rPr lang="en-US" i="1" dirty="0" smtClean="0"/>
              <a:t> r</a:t>
            </a:r>
            <a:r>
              <a:rPr lang="en-US" baseline="-25000" dirty="0" smtClean="0"/>
              <a:t>1</a:t>
            </a:r>
            <a:r>
              <a:rPr lang="en-US" dirty="0" smtClean="0"/>
              <a:t>(</a:t>
            </a:r>
            <a:r>
              <a:rPr lang="en-US" i="1" dirty="0" smtClean="0"/>
              <a:t>Y</a:t>
            </a:r>
            <a:r>
              <a:rPr lang="en-US" dirty="0" smtClean="0"/>
              <a:t>);</a:t>
            </a:r>
            <a:r>
              <a:rPr lang="en-US" i="1" dirty="0" smtClean="0"/>
              <a:t> w</a:t>
            </a:r>
            <a:r>
              <a:rPr lang="en-US" baseline="-25000" dirty="0" smtClean="0"/>
              <a:t>2</a:t>
            </a:r>
            <a:r>
              <a:rPr lang="en-US" dirty="0" smtClean="0"/>
              <a:t>(</a:t>
            </a:r>
            <a:r>
              <a:rPr lang="en-US" i="1" dirty="0" smtClean="0"/>
              <a:t>X</a:t>
            </a:r>
            <a:r>
              <a:rPr lang="en-US" dirty="0" smtClean="0"/>
              <a:t>);c</a:t>
            </a:r>
            <a:r>
              <a:rPr lang="en-US" baseline="-25000" dirty="0" smtClean="0"/>
              <a:t>2</a:t>
            </a:r>
            <a:r>
              <a:rPr lang="en-US" dirty="0" smtClean="0"/>
              <a:t>;</a:t>
            </a:r>
            <a:r>
              <a:rPr lang="en-US" i="1" dirty="0" smtClean="0"/>
              <a:t> w</a:t>
            </a:r>
            <a:r>
              <a:rPr lang="en-US" baseline="-25000" dirty="0" smtClean="0"/>
              <a:t>1</a:t>
            </a:r>
            <a:r>
              <a:rPr lang="en-US" dirty="0" smtClean="0"/>
              <a:t>(</a:t>
            </a:r>
            <a:r>
              <a:rPr lang="en-US" i="1" dirty="0" smtClean="0"/>
              <a:t>Y</a:t>
            </a:r>
            <a:r>
              <a:rPr lang="en-US" dirty="0" smtClean="0"/>
              <a:t>);c</a:t>
            </a:r>
            <a:r>
              <a:rPr lang="en-US" baseline="-25000" dirty="0" smtClean="0"/>
              <a:t>1</a:t>
            </a:r>
          </a:p>
          <a:p>
            <a:r>
              <a:rPr lang="en-US" i="1" dirty="0" err="1" smtClean="0"/>
              <a:t>S</a:t>
            </a:r>
            <a:r>
              <a:rPr lang="en-US" i="1" baseline="-25000" dirty="0" err="1" smtClean="0"/>
              <a:t>b</a:t>
            </a:r>
            <a:r>
              <a:rPr lang="en-US" i="1" baseline="-25000" dirty="0" smtClean="0"/>
              <a:t> </a:t>
            </a:r>
            <a:r>
              <a:rPr lang="en-US" i="1" dirty="0" smtClean="0"/>
              <a:t>is recoverable , even though it suffers from lost update problem</a:t>
            </a:r>
          </a:p>
          <a:p>
            <a:endParaRPr lang="en-US" i="1" dirty="0" smtClean="0"/>
          </a:p>
          <a:p>
            <a:r>
              <a:rPr lang="en-US" i="1" dirty="0" err="1" smtClean="0"/>
              <a:t>S</a:t>
            </a:r>
            <a:r>
              <a:rPr lang="en-US" i="1" baseline="-25000" dirty="0" err="1" smtClean="0"/>
              <a:t>c</a:t>
            </a:r>
            <a:r>
              <a:rPr lang="en-US" dirty="0" smtClean="0"/>
              <a:t>:</a:t>
            </a:r>
            <a:r>
              <a:rPr lang="en-US" i="1" dirty="0" smtClean="0"/>
              <a:t> r</a:t>
            </a:r>
            <a:r>
              <a:rPr lang="en-US" baseline="-25000" dirty="0" smtClean="0"/>
              <a:t>1</a:t>
            </a:r>
            <a:r>
              <a:rPr lang="en-US" dirty="0" smtClean="0"/>
              <a:t>(</a:t>
            </a:r>
            <a:r>
              <a:rPr lang="en-US" i="1" dirty="0" smtClean="0"/>
              <a:t>X</a:t>
            </a:r>
            <a:r>
              <a:rPr lang="en-US" dirty="0" smtClean="0"/>
              <a:t>);</a:t>
            </a:r>
            <a:r>
              <a:rPr lang="en-US" i="1" dirty="0" smtClean="0"/>
              <a:t> w</a:t>
            </a:r>
            <a:r>
              <a:rPr lang="en-US" baseline="-25000" dirty="0" smtClean="0"/>
              <a:t>1</a:t>
            </a:r>
            <a:r>
              <a:rPr lang="en-US" dirty="0" smtClean="0"/>
              <a:t>(</a:t>
            </a:r>
            <a:r>
              <a:rPr lang="en-US" i="1" dirty="0" smtClean="0"/>
              <a:t>X</a:t>
            </a:r>
            <a:r>
              <a:rPr lang="en-US" dirty="0" smtClean="0"/>
              <a:t>); </a:t>
            </a:r>
            <a:r>
              <a:rPr lang="en-US" i="1" dirty="0" smtClean="0"/>
              <a:t> r</a:t>
            </a:r>
            <a:r>
              <a:rPr lang="en-US" baseline="-25000" dirty="0" smtClean="0"/>
              <a:t>2</a:t>
            </a:r>
            <a:r>
              <a:rPr lang="en-US" dirty="0" smtClean="0"/>
              <a:t>(</a:t>
            </a:r>
            <a:r>
              <a:rPr lang="en-US" i="1" dirty="0" smtClean="0"/>
              <a:t>X</a:t>
            </a:r>
            <a:r>
              <a:rPr lang="en-US" dirty="0" smtClean="0"/>
              <a:t>);</a:t>
            </a:r>
            <a:r>
              <a:rPr lang="en-US" i="1" dirty="0" smtClean="0"/>
              <a:t>  r</a:t>
            </a:r>
            <a:r>
              <a:rPr lang="en-US" baseline="-25000" dirty="0" smtClean="0"/>
              <a:t>1</a:t>
            </a:r>
            <a:r>
              <a:rPr lang="en-US" dirty="0" smtClean="0"/>
              <a:t>(</a:t>
            </a:r>
            <a:r>
              <a:rPr lang="en-US" i="1" dirty="0" smtClean="0"/>
              <a:t>Y</a:t>
            </a:r>
            <a:r>
              <a:rPr lang="en-US" dirty="0" smtClean="0"/>
              <a:t>);</a:t>
            </a:r>
            <a:r>
              <a:rPr lang="en-US" i="1" dirty="0" smtClean="0"/>
              <a:t> w</a:t>
            </a:r>
            <a:r>
              <a:rPr lang="en-US" baseline="-25000" dirty="0" smtClean="0"/>
              <a:t>2</a:t>
            </a:r>
            <a:r>
              <a:rPr lang="en-US" dirty="0" smtClean="0"/>
              <a:t>(</a:t>
            </a:r>
            <a:r>
              <a:rPr lang="en-US" i="1" dirty="0" smtClean="0"/>
              <a:t>X</a:t>
            </a:r>
            <a:r>
              <a:rPr lang="en-US" dirty="0" smtClean="0"/>
              <a:t>);</a:t>
            </a:r>
            <a:r>
              <a:rPr lang="en-US" i="1" dirty="0" smtClean="0"/>
              <a:t> </a:t>
            </a:r>
            <a:r>
              <a:rPr lang="en-US" dirty="0" smtClean="0"/>
              <a:t> c</a:t>
            </a:r>
            <a:r>
              <a:rPr lang="en-US" baseline="-25000" dirty="0" smtClean="0"/>
              <a:t>2 </a:t>
            </a:r>
            <a:r>
              <a:rPr lang="en-US" i="1" dirty="0" smtClean="0"/>
              <a:t>;a</a:t>
            </a:r>
            <a:r>
              <a:rPr lang="en-US" i="1" baseline="-25000" dirty="0" smtClean="0"/>
              <a:t>1</a:t>
            </a:r>
            <a:r>
              <a:rPr lang="en-US" dirty="0" smtClean="0"/>
              <a:t>;</a:t>
            </a:r>
          </a:p>
          <a:p>
            <a:r>
              <a:rPr lang="en-US" dirty="0" smtClean="0"/>
              <a:t>Is not recoverable because T2 reads item X from T1, and the T2 commits before T1 commits.</a:t>
            </a:r>
          </a:p>
          <a:p>
            <a:endParaRPr lang="en-US" dirty="0" smtClean="0"/>
          </a:p>
        </p:txBody>
      </p:sp>
    </p:spTree>
    <p:extLst>
      <p:ext uri="{BB962C8B-B14F-4D97-AF65-F5344CB8AC3E}">
        <p14:creationId xmlns:p14="http://schemas.microsoft.com/office/powerpoint/2010/main" val="27713882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TotalTime>
  <Words>197</Words>
  <Application>Microsoft Office PowerPoint</Application>
  <PresentationFormat>Widescreen</PresentationFormat>
  <Paragraphs>53</Paragraphs>
  <Slides>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Tahoma</vt:lpstr>
      <vt:lpstr>Wingdings</vt:lpstr>
      <vt:lpstr>Office Theme</vt:lpstr>
      <vt:lpstr>Isolation levels in Transaction Processing</vt:lpstr>
      <vt:lpstr>Isolation levels in Transaction Processing</vt:lpstr>
      <vt:lpstr>Isolation levels in Transaction Processing</vt:lpstr>
      <vt:lpstr>Transaction Support in SQL</vt:lpstr>
      <vt:lpstr>Characterizing Schedules based on Recoverability</vt:lpstr>
      <vt:lpstr>Characterizing Schedules based on Recoverability </vt:lpstr>
      <vt:lpstr>Characterizing Schedules Based on Recoverability</vt:lpstr>
      <vt:lpstr>Schedules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CSE-PG</dc:creator>
  <cp:lastModifiedBy>CSE-PG</cp:lastModifiedBy>
  <cp:revision>26</cp:revision>
  <dcterms:created xsi:type="dcterms:W3CDTF">2019-07-18T07:01:12Z</dcterms:created>
  <dcterms:modified xsi:type="dcterms:W3CDTF">2020-12-23T06:03:02Z</dcterms:modified>
</cp:coreProperties>
</file>