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y="6858000" cx="9144000"/>
  <p:notesSz cx="6858000" cy="9144000"/>
  <p:embeddedFontLst>
    <p:embeddedFont>
      <p:font typeface="Tahoma"/>
      <p:regular r:id="rId56"/>
      <p:bold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9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92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font" Target="fonts/Tahoma-bold.fntdata"/><Relationship Id="rId12" Type="http://schemas.openxmlformats.org/officeDocument/2006/relationships/slide" Target="slides/slide6.xml"/><Relationship Id="rId56" Type="http://schemas.openxmlformats.org/officeDocument/2006/relationships/font" Target="fonts/Tahoma-regular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8" name="Google Shape;78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" name="Google Shape;79;p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" name="Google Shape;212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8" name="Google Shape;228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" name="Google Shape;244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2" name="Google Shape;252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66" name="Google Shape;266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p2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75" name="Google Shape;275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26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84" name="Google Shape;284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5" name="Google Shape;285;p27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91" name="Google Shape;291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p28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99" name="Google Shape;299;p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0" name="Google Shape;300;p29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4" name="Google Shape;314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21" name="Google Shape;321;p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2" name="Google Shape;322;p3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0" name="Google Shape;330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9" name="Google Shape;349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5" name="Google Shape;355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1" name="Google Shape;361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" name="Google Shape;371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7" name="Google Shape;377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2" name="Google Shape;382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8" name="Google Shape;388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4" name="Google Shape;394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00" name="Google Shape;400;p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p4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08" name="Google Shape;408;p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9" name="Google Shape;409;p46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16" name="Google Shape;416;p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7" name="Google Shape;417;p47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25" name="Google Shape;425;p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6" name="Google Shape;426;p48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34" name="Google Shape;434;p4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5" name="Google Shape;435;p49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 rot="5400000">
            <a:off x="4561682" y="2199482"/>
            <a:ext cx="5868987" cy="20764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 rot="5400000">
            <a:off x="332582" y="199231"/>
            <a:ext cx="5868987" cy="6076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 rot="5400000">
            <a:off x="2101055" y="-261143"/>
            <a:ext cx="4572000" cy="829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5052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indent="-32639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indent="-3048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indent="-2984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indent="-2921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indent="-2921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indent="-2921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indent="-2921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indent="-2921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51" name="Google Shape;51;p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52" name="Google Shape;52;p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239713" y="1600200"/>
            <a:ext cx="407035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462463" y="1600200"/>
            <a:ext cx="407193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62" name="Google Shape;62;p11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ink tissue paper" id="73" name="Google Shape;73;p13"/>
          <p:cNvSpPr txBox="1"/>
          <p:nvPr>
            <p:ph type="ctrTitle"/>
          </p:nvPr>
        </p:nvSpPr>
        <p:spPr>
          <a:xfrm>
            <a:off x="228600" y="152400"/>
            <a:ext cx="7086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600">
                <a:solidFill>
                  <a:srgbClr val="99003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Pink tissue paper" id="74" name="Google Shape;74;p13"/>
          <p:cNvSpPr txBox="1"/>
          <p:nvPr>
            <p:ph idx="1" type="subTitle"/>
          </p:nvPr>
        </p:nvSpPr>
        <p:spPr>
          <a:xfrm>
            <a:off x="304800" y="2590800"/>
            <a:ext cx="66294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Font typeface="Noto Sa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1" type="ftr"/>
          </p:nvPr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6.jpg"/><Relationship Id="rId3" Type="http://schemas.openxmlformats.org/officeDocument/2006/relationships/slideLayout" Target="../slideLayouts/slideLayout1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8936037" y="1449387"/>
            <a:ext cx="207962" cy="5408612"/>
            <a:chOff x="5606" y="889"/>
            <a:chExt cx="154" cy="3431"/>
          </a:xfrm>
        </p:grpSpPr>
        <p:sp>
          <p:nvSpPr>
            <p:cNvPr id="11" name="Google Shape;11;p1"/>
            <p:cNvSpPr txBox="1"/>
            <p:nvPr/>
          </p:nvSpPr>
          <p:spPr>
            <a:xfrm flipH="1">
              <a:off x="5685" y="889"/>
              <a:ext cx="75" cy="3431"/>
            </a:xfrm>
            <a:prstGeom prst="rect">
              <a:avLst/>
            </a:prstGeom>
            <a:solidFill>
              <a:srgbClr val="6772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" name="Google Shape;12;p1"/>
            <p:cNvGrpSpPr/>
            <p:nvPr/>
          </p:nvGrpSpPr>
          <p:grpSpPr>
            <a:xfrm>
              <a:off x="5606" y="889"/>
              <a:ext cx="106" cy="3431"/>
              <a:chOff x="5606" y="889"/>
              <a:chExt cx="106" cy="3431"/>
            </a:xfrm>
          </p:grpSpPr>
          <p:sp>
            <p:nvSpPr>
              <p:cNvPr id="13" name="Google Shape;13;p1"/>
              <p:cNvSpPr txBox="1"/>
              <p:nvPr/>
            </p:nvSpPr>
            <p:spPr>
              <a:xfrm flipH="1" rot="10800000">
                <a:off x="5606" y="889"/>
                <a:ext cx="58" cy="3431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;p1"/>
              <p:cNvSpPr txBox="1"/>
              <p:nvPr/>
            </p:nvSpPr>
            <p:spPr>
              <a:xfrm flipH="1" rot="10800000">
                <a:off x="5654" y="889"/>
                <a:ext cx="58" cy="3431"/>
              </a:xfrm>
              <a:prstGeom prst="rect">
                <a:avLst/>
              </a:prstGeom>
              <a:solidFill>
                <a:srgbClr val="9900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" name="Google Shape;15;p1"/>
          <p:cNvSpPr txBox="1"/>
          <p:nvPr/>
        </p:nvSpPr>
        <p:spPr>
          <a:xfrm>
            <a:off x="-1" y="1"/>
            <a:ext cx="9140825" cy="1449387"/>
          </a:xfrm>
          <a:prstGeom prst="rect">
            <a:avLst/>
          </a:prstGeom>
          <a:solidFill>
            <a:srgbClr val="677228">
              <a:alpha val="3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1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 b="0">
              <a:solidFill>
                <a:srgbClr val="000000"/>
              </a:solidFill>
            </a:endParaRPr>
          </a:p>
        </p:txBody>
      </p:sp>
      <p:sp>
        <p:nvSpPr>
          <p:cNvPr id="18" name="Google Shape;18;p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3528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9405" lvl="1" marL="9144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"/>
              <a:buChar char="■"/>
              <a:defRPr b="0" i="0" sz="2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"/>
              <a:buChar char="■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"/>
              <a:buChar char="■"/>
              <a:defRPr b="0" i="0" sz="20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"/>
          <p:cNvSpPr txBox="1"/>
          <p:nvPr/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2007 Ramez Elmasri and Shamkant B. Navathe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/>
        </p:nvSpPr>
        <p:spPr>
          <a:xfrm>
            <a:off x="8305800" y="0"/>
            <a:ext cx="609600" cy="6858000"/>
          </a:xfrm>
          <a:prstGeom prst="rect">
            <a:avLst/>
          </a:prstGeom>
          <a:gradFill>
            <a:gsLst>
              <a:gs pos="0">
                <a:srgbClr val="677228">
                  <a:alpha val="43137"/>
                </a:srgbClr>
              </a:gs>
              <a:gs pos="100000">
                <a:srgbClr val="5A6423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2"/>
          <p:cNvSpPr txBox="1"/>
          <p:nvPr/>
        </p:nvSpPr>
        <p:spPr>
          <a:xfrm rot="-5400000">
            <a:off x="3500437" y="-985837"/>
            <a:ext cx="2143125" cy="9144000"/>
          </a:xfrm>
          <a:prstGeom prst="rect">
            <a:avLst/>
          </a:prstGeom>
          <a:solidFill>
            <a:srgbClr val="677228">
              <a:alpha val="4274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2"/>
          <p:cNvSpPr txBox="1"/>
          <p:nvPr/>
        </p:nvSpPr>
        <p:spPr>
          <a:xfrm>
            <a:off x="7315200" y="2438400"/>
            <a:ext cx="1828800" cy="22907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tri_4c UPDATE_color" id="67" name="Google Shape;67;p1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200" y="5949950"/>
            <a:ext cx="684212" cy="83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lmasri_thumb" id="68" name="Google Shape;68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19975" y="2514600"/>
            <a:ext cx="17240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3528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9405" lvl="1" marL="9144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"/>
              <a:buChar char="■"/>
              <a:defRPr b="0" i="0" sz="2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"/>
              <a:buChar char="■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"/>
              <a:buChar char="■"/>
              <a:defRPr b="0" i="0" sz="20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3.png"/><Relationship Id="rId4" Type="http://schemas.openxmlformats.org/officeDocument/2006/relationships/image" Target="../media/image1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0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/>
          <p:nvPr>
            <p:ph type="title"/>
          </p:nvPr>
        </p:nvSpPr>
        <p:spPr>
          <a:xfrm>
            <a:off x="228600" y="303212"/>
            <a:ext cx="7796100" cy="992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Data Base Management System</a:t>
            </a:r>
            <a:endParaRPr/>
          </a:p>
        </p:txBody>
      </p:sp>
      <p:sp>
        <p:nvSpPr>
          <p:cNvPr id="82" name="Google Shape;82;p14"/>
          <p:cNvSpPr txBox="1"/>
          <p:nvPr>
            <p:ph idx="1" type="body"/>
          </p:nvPr>
        </p:nvSpPr>
        <p:spPr>
          <a:xfrm>
            <a:off x="239712" y="1600200"/>
            <a:ext cx="82947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rPr lang="en-US"/>
              <a:t>unit-1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rPr lang="en-US"/>
              <a:t>Prepared by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rPr lang="en-US"/>
              <a:t>MEGHA J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rPr lang="en-US"/>
              <a:t>&amp;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rPr lang="en-US"/>
              <a:t>VINAY </a:t>
            </a:r>
            <a:endParaRPr/>
          </a:p>
        </p:txBody>
      </p:sp>
      <p:sp>
        <p:nvSpPr>
          <p:cNvPr id="83" name="Google Shape;83;p14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Outline</a:t>
            </a:r>
            <a:endParaRPr/>
          </a:p>
        </p:txBody>
      </p:sp>
      <p:sp>
        <p:nvSpPr>
          <p:cNvPr id="91" name="Google Shape;91;p15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Models and Their Categories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History of Data Models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Schemas, Instances, and States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Three-Schema Architecture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Independence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DBMS Languages and Interfaces</a:t>
            </a:r>
            <a:endParaRPr/>
          </a:p>
          <a:p>
            <a:pPr indent="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Data Models</a:t>
            </a:r>
            <a:endParaRPr/>
          </a:p>
        </p:txBody>
      </p:sp>
      <p:sp>
        <p:nvSpPr>
          <p:cNvPr id="99" name="Google Shape;99;p1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"/>
              <a:buChar char="■"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Model: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set of concepts to describe the </a:t>
            </a:r>
            <a:r>
              <a:rPr b="1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structure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of a database, the </a:t>
            </a:r>
            <a:r>
              <a:rPr b="1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operations 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 manipulating these structures, and certain </a:t>
            </a:r>
            <a:r>
              <a:rPr b="1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constraints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that the database should obey.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"/>
              <a:buChar char="■"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Model Structure and Constraints: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Constructs are used to define the database structure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Constructs typically include </a:t>
            </a:r>
            <a:r>
              <a:rPr b="1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elements 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(and their </a:t>
            </a:r>
            <a:r>
              <a:rPr b="1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data types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) as well as groups of elements (e.g. </a:t>
            </a:r>
            <a:r>
              <a:rPr b="1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entity, record, table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), and </a:t>
            </a:r>
            <a:r>
              <a:rPr b="1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relationships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among such groups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Constraints specify some restrictions on valid data; these constraints must be enforced at all times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Data Models (continued)</a:t>
            </a:r>
            <a:endParaRPr/>
          </a:p>
        </p:txBody>
      </p:sp>
      <p:sp>
        <p:nvSpPr>
          <p:cNvPr id="107" name="Google Shape;107;p1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"/>
              <a:buChar char="■"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Model Operations: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These operations are used for specifying database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retrievals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updates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by referring to the constructs of the data model.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Operations on the data model may include </a:t>
            </a:r>
            <a:r>
              <a:rPr b="1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basic model operations 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(e.g. generic insert, delete, update) and</a:t>
            </a:r>
            <a:r>
              <a:rPr b="1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user-defined operations 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(e.g. compute_student_gpa, update_inventory)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Categories of Data Models</a:t>
            </a:r>
            <a:endParaRPr/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"/>
              <a:buChar char="■"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Conceptual (high-level, semantic) data models: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Provide concepts that are close to the way many users perceive data.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(Also called </a:t>
            </a:r>
            <a:r>
              <a:rPr b="1" i="1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entity-based</a:t>
            </a:r>
            <a:r>
              <a:rPr b="0" i="1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r>
              <a:rPr b="0" i="1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1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object-based</a:t>
            </a: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data models.)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"/>
              <a:buChar char="■"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Physical (low-level, internal) data models: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Provide concepts that describe details of how data is stored in the computer. These are usually specified in an ad-hoc manner through DBMS design and administration manuals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"/>
              <a:buChar char="■"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Implementation (representational) data models: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Provide concepts that fall between the above two, used by many commercial DBMS implementations (e.g. relational data models used in many commercial systems).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Schemas versus Instances</a:t>
            </a:r>
            <a:endParaRPr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Schema: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description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of a database.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Includes descriptions of the database structure, data types, and the constraints on the database.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Schema Diagram: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b="1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illustrative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display of (most aspects of) a database schema.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Schema Construct: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component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of the schema or an object within the schema, e.g., STUDENT, COURSE.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Schemas versus Instances</a:t>
            </a:r>
            <a:endParaRPr/>
          </a:p>
        </p:txBody>
      </p:sp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State: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actual data stored in a database at a </a:t>
            </a:r>
            <a:r>
              <a:rPr b="1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particular moment in time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. This includes the collection of all the data in the database.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Also called database instance (or occurrence or snapshot).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term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instance 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is also applied to individual database components, e.g.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record instance, table instance, entity instance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Database Schema </a:t>
            </a:r>
            <a:b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vs. Database State</a:t>
            </a:r>
            <a:endParaRPr/>
          </a:p>
        </p:txBody>
      </p:sp>
      <p:sp>
        <p:nvSpPr>
          <p:cNvPr id="139" name="Google Shape;139;p2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State: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Refers to the </a:t>
            </a:r>
            <a:r>
              <a:rPr b="1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content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of a database at a moment in time.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Initial Database State: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Refers to the database state when it is initially loaded into the system.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Valid State: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state that satisfies the structure and constraints of the database.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Database Schema </a:t>
            </a:r>
            <a:b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vs. Database State (continued)</a:t>
            </a:r>
            <a:endParaRPr/>
          </a:p>
        </p:txBody>
      </p:sp>
      <p:sp>
        <p:nvSpPr>
          <p:cNvPr id="147" name="Google Shape;147;p2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Distinction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database schema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changes very infrequently.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database state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changes every time the database is updated. </a:t>
            </a:r>
            <a:endParaRPr/>
          </a:p>
          <a:p>
            <a:pPr indent="-194944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"/>
              <a:buNone/>
            </a:pPr>
            <a:r>
              <a:t/>
            </a:r>
            <a:endParaRPr b="0" i="0" sz="26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"/>
              <a:buChar char="■"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Schema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is also called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intension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"/>
              <a:buChar char="■"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is also called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extension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 of a Database Schema</a:t>
            </a:r>
            <a:endParaRPr/>
          </a:p>
        </p:txBody>
      </p:sp>
      <p:pic>
        <p:nvPicPr>
          <p:cNvPr descr="fig02_01" id="154" name="Google Shape;15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905000"/>
            <a:ext cx="7772400" cy="420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 of a database state</a:t>
            </a:r>
            <a:endParaRPr/>
          </a:p>
        </p:txBody>
      </p:sp>
      <p:pic>
        <p:nvPicPr>
          <p:cNvPr descr="fig01_02" id="161" name="Google Shape;16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3425" y="1492250"/>
            <a:ext cx="4397375" cy="506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Three-Schema Architecture</a:t>
            </a:r>
            <a:endParaRPr/>
          </a:p>
        </p:txBody>
      </p:sp>
      <p:sp>
        <p:nvSpPr>
          <p:cNvPr id="169" name="Google Shape;169;p25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Proposed to support DBMS characteristics of: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"/>
              <a:buChar char="■"/>
            </a:pP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Program-data independence.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Support of </a:t>
            </a: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multiple views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of the data.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Not explicitly used in commercial DBMS products, but has been useful in explaining database system organization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Three-Schema Architecture</a:t>
            </a:r>
            <a:endParaRPr/>
          </a:p>
        </p:txBody>
      </p:sp>
      <p:sp>
        <p:nvSpPr>
          <p:cNvPr id="177" name="Google Shape;177;p2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Defines DBMS schemas at </a:t>
            </a:r>
            <a:r>
              <a:rPr b="1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three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levels: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"/>
              <a:buChar char="■"/>
            </a:pPr>
            <a:r>
              <a:rPr b="1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Internal schema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at the internal level to describe physical storage structures and access paths (e.g indexes). 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Typically uses a </a:t>
            </a:r>
            <a:r>
              <a:rPr b="1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data model.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"/>
              <a:buChar char="■"/>
            </a:pPr>
            <a:r>
              <a:rPr b="1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Conceptual schema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at the conceptual level to describe the structure and constraints for the whole database for a community of users. 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Uses a </a:t>
            </a:r>
            <a:r>
              <a:rPr b="1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conceptual</a:t>
            </a: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or an </a:t>
            </a:r>
            <a:r>
              <a:rPr b="1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implementation</a:t>
            </a: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data model.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"/>
              <a:buChar char="■"/>
            </a:pPr>
            <a:r>
              <a:rPr b="1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External schemas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at the external level to describe the various user views. 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Usually uses the same data model as the conceptual schema.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three-schema architecture</a:t>
            </a:r>
            <a:endParaRPr/>
          </a:p>
        </p:txBody>
      </p:sp>
      <p:pic>
        <p:nvPicPr>
          <p:cNvPr descr="fig02_02" id="184" name="Google Shape;18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4412" y="1762125"/>
            <a:ext cx="7010400" cy="44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Three-Schema Architecture</a:t>
            </a:r>
            <a:endParaRPr/>
          </a:p>
        </p:txBody>
      </p:sp>
      <p:sp>
        <p:nvSpPr>
          <p:cNvPr id="192" name="Google Shape;192;p28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Mappings among schema levels are needed to transform requests and data.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Programs refer to an external schema, and are mapped by the DBMS to the internal schema for execution.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Data extracted from the internal DBMS level is reformatted to match the user’s external view (e.g. formatting the results of an SQL query for display in a Web page)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Data Independence</a:t>
            </a:r>
            <a:endParaRPr/>
          </a:p>
        </p:txBody>
      </p:sp>
      <p:sp>
        <p:nvSpPr>
          <p:cNvPr id="200" name="Google Shape;200;p29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"/>
              <a:buChar char="■"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Logical Data Independence: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capacity to change the conceptual schema without having to change the external schemas and their associated application programs.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"/>
              <a:buChar char="■"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Physical Data Independence: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capacity to change the internal schema without having to change the conceptual schema.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 example, the internal schema may be changed when certain file structures are reorganized or new indexes are created to improve database performance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Data Independence (continued)</a:t>
            </a:r>
            <a:endParaRPr/>
          </a:p>
        </p:txBody>
      </p:sp>
      <p:sp>
        <p:nvSpPr>
          <p:cNvPr id="208" name="Google Shape;208;p30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When a schema at a lower level is changed, only the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mappings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between this schema and higher-level schemas need to be changed in a DBMS that fully supports data independence.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higher-level schemas themselves are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unchanged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Hence, the application programs need not be changed since they refer to the external schemas.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DBMS Languages</a:t>
            </a:r>
            <a:endParaRPr/>
          </a:p>
        </p:txBody>
      </p:sp>
      <p:sp>
        <p:nvSpPr>
          <p:cNvPr id="216" name="Google Shape;216;p3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Definition Language (DDL)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Manipulation Language (DML)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High-Level or Non-procedural Languages: These include the relational language SQL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May be used in a standalone way or may be embedded in a programming language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Low Level or Procedural Languages: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These must be embedded in a programming language</a:t>
            </a:r>
            <a:endParaRPr/>
          </a:p>
          <a:p>
            <a:pPr indent="-2362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62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DBMS Languages</a:t>
            </a:r>
            <a:endParaRPr/>
          </a:p>
        </p:txBody>
      </p:sp>
      <p:sp>
        <p:nvSpPr>
          <p:cNvPr id="224" name="Google Shape;224;p3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"/>
              <a:buChar char="■"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Definition Language (DDL):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Used by the DBA and database designers to specify the conceptual schema of a database.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 many DBMSs, the DDL is also used to define internal and external schemas (views).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 some DBMSs, separate </a:t>
            </a: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storage definition language (SDL) 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view definition language (VDL)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are used to define internal and external schemas.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SDL is typically realized via DBMS commands provided to the DBA and database designers</a:t>
            </a:r>
            <a:endParaRPr/>
          </a:p>
          <a:p>
            <a:pPr indent="-2362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62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DBMS Languages</a:t>
            </a:r>
            <a:endParaRPr/>
          </a:p>
        </p:txBody>
      </p:sp>
      <p:sp>
        <p:nvSpPr>
          <p:cNvPr id="232" name="Google Shape;232;p3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"/>
              <a:buChar char="■"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Manipulation Language (DML):</a:t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Used to specify database retrievals and updates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DML commands (data sublanguage) can be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embedded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in a general-purpose programming language (host language), such as COBOL, C, C++, or Java.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library of functions can also be provided to access the DBMS from a programming language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Alternatively, stand-alone DML commands can be applied directly (called a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query language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Types of DML</a:t>
            </a:r>
            <a:endParaRPr/>
          </a:p>
        </p:txBody>
      </p:sp>
      <p:sp>
        <p:nvSpPr>
          <p:cNvPr id="240" name="Google Shape;240;p34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"/>
              <a:buChar char="■"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High Level or Non-procedural Language: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 example, the SQL relational language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Are “set”-oriented and specify what data to retrieve rather than how to retrieve it.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Also called </a:t>
            </a: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declarative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languages.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"/>
              <a:buChar char="■"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Low Level or Procedural Language: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Retrieve data one record-at-a-time;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Constructs such as looping are needed to retrieve multiple records, along with positioning pointers.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DBMS Programming Language Interfaces</a:t>
            </a:r>
            <a:endParaRPr/>
          </a:p>
        </p:txBody>
      </p:sp>
      <p:sp>
        <p:nvSpPr>
          <p:cNvPr id="248" name="Google Shape;248;p35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Programmer interfaces for embedding DML in a programming languages: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"/>
              <a:buChar char="■"/>
            </a:pP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Embedded Approach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: e.g embedded SQL (for C, C++, etc.), SQLJ (for Java)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"/>
              <a:buChar char="■"/>
            </a:pP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Procedure Call Approach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: e.g. JDBC for Java, ODBC for other programming languages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"/>
              <a:buChar char="■"/>
            </a:pP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Database Programming Language Approach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: e.g. ORACLE has PL/SQL, a programming language based on SQL; language incorporates SQL and its data types as integral components</a:t>
            </a:r>
            <a:endParaRPr/>
          </a:p>
          <a:p>
            <a:pPr indent="-24384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560"/>
              <a:buNone/>
            </a:pPr>
            <a:r>
              <a:t/>
            </a:r>
            <a:endParaRPr b="0" i="0" sz="26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3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Other DBMS Interfaces</a:t>
            </a:r>
            <a:endParaRPr/>
          </a:p>
        </p:txBody>
      </p:sp>
      <p:sp>
        <p:nvSpPr>
          <p:cNvPr id="256" name="Google Shape;256;p3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Speech as Input and Output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Web Browser as an interface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Parametric interfaces, e.g., bank tellers using function keys.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Interfaces for the DBA: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Creating user accounts, granting authorizations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Setting system parameters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Changing schemas or access paths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Typical DBMS Component Modules</a:t>
            </a:r>
            <a:endParaRPr/>
          </a:p>
        </p:txBody>
      </p:sp>
      <p:pic>
        <p:nvPicPr>
          <p:cNvPr descr="fig02_03" id="263" name="Google Shape;26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1600200"/>
            <a:ext cx="4860925" cy="4868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8"/>
          <p:cNvSpPr txBox="1"/>
          <p:nvPr>
            <p:ph type="title"/>
          </p:nvPr>
        </p:nvSpPr>
        <p:spPr>
          <a:xfrm>
            <a:off x="228600" y="303200"/>
            <a:ext cx="8547000" cy="992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400"/>
              <a:t>CONCEPTUAL DATA MODELLING USING ENTITIES AND RELATIONSHIPS</a:t>
            </a:r>
            <a:endParaRPr sz="3400"/>
          </a:p>
        </p:txBody>
      </p:sp>
      <p:sp>
        <p:nvSpPr>
          <p:cNvPr id="270" name="Google Shape;270;p38"/>
          <p:cNvSpPr txBox="1"/>
          <p:nvPr>
            <p:ph idx="1" type="body"/>
          </p:nvPr>
        </p:nvSpPr>
        <p:spPr>
          <a:xfrm>
            <a:off x="239700" y="1600200"/>
            <a:ext cx="8294700" cy="50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/>
          </a:p>
        </p:txBody>
      </p:sp>
      <p:sp>
        <p:nvSpPr>
          <p:cNvPr id="271" name="Google Shape;271;p38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2" name="Google Shape;27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875" y="1666875"/>
            <a:ext cx="7921674" cy="5089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9"/>
          <p:cNvSpPr txBox="1"/>
          <p:nvPr>
            <p:ph type="title"/>
          </p:nvPr>
        </p:nvSpPr>
        <p:spPr>
          <a:xfrm>
            <a:off x="228600" y="303212"/>
            <a:ext cx="7796100" cy="992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9" name="Google Shape;279;p39"/>
          <p:cNvSpPr txBox="1"/>
          <p:nvPr>
            <p:ph idx="1" type="body"/>
          </p:nvPr>
        </p:nvSpPr>
        <p:spPr>
          <a:xfrm>
            <a:off x="239712" y="1600200"/>
            <a:ext cx="82947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/>
          </a:p>
        </p:txBody>
      </p:sp>
      <p:sp>
        <p:nvSpPr>
          <p:cNvPr id="280" name="Google Shape;280;p39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1" name="Google Shape;28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13" y="1502250"/>
            <a:ext cx="8026676" cy="501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0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8" name="Google Shape;28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5950" y="0"/>
            <a:ext cx="92793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1"/>
          <p:cNvSpPr txBox="1"/>
          <p:nvPr>
            <p:ph idx="1" type="body"/>
          </p:nvPr>
        </p:nvSpPr>
        <p:spPr>
          <a:xfrm>
            <a:off x="239700" y="377900"/>
            <a:ext cx="8294700" cy="57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/>
          </a:p>
        </p:txBody>
      </p:sp>
      <p:sp>
        <p:nvSpPr>
          <p:cNvPr id="295" name="Google Shape;295;p41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6" name="Google Shape;29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925" y="48988"/>
            <a:ext cx="8775425" cy="676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2"/>
          <p:cNvSpPr txBox="1"/>
          <p:nvPr>
            <p:ph idx="1" type="body"/>
          </p:nvPr>
        </p:nvSpPr>
        <p:spPr>
          <a:xfrm>
            <a:off x="239712" y="1600200"/>
            <a:ext cx="82947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/>
          </a:p>
        </p:txBody>
      </p:sp>
      <p:sp>
        <p:nvSpPr>
          <p:cNvPr id="303" name="Google Shape;303;p42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4" name="Google Shape;30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950" y="104963"/>
            <a:ext cx="9004050" cy="6753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Entity Types, Entity Sets, Keys, and Value Sets</a:t>
            </a:r>
            <a:endParaRPr/>
          </a:p>
        </p:txBody>
      </p:sp>
      <p:sp>
        <p:nvSpPr>
          <p:cNvPr id="310" name="Google Shape;310;p4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b="1" lang="en-US"/>
              <a:t>Entity type </a:t>
            </a:r>
            <a:endParaRPr/>
          </a:p>
          <a:p>
            <a:pPr indent="-291465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</a:pPr>
            <a:r>
              <a:rPr lang="en-US"/>
              <a:t>Collection (or set) of entities that have the same attributes</a:t>
            </a:r>
            <a:endParaRPr/>
          </a:p>
        </p:txBody>
      </p:sp>
      <p:pic>
        <p:nvPicPr>
          <p:cNvPr id="311" name="Google Shape;31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3124200"/>
            <a:ext cx="6705600" cy="330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Entity Types, Entity Sets, Keys, and Value Sets</a:t>
            </a:r>
            <a:endParaRPr/>
          </a:p>
        </p:txBody>
      </p:sp>
      <p:sp>
        <p:nvSpPr>
          <p:cNvPr id="317" name="Google Shape;317;p44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b="1" lang="en-US"/>
              <a:t>Entity type </a:t>
            </a:r>
            <a:endParaRPr/>
          </a:p>
          <a:p>
            <a:pPr indent="-291465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</a:pPr>
            <a:r>
              <a:rPr lang="en-US"/>
              <a:t>Collection (or set) of entities that have the same attributes</a:t>
            </a:r>
            <a:endParaRPr/>
          </a:p>
        </p:txBody>
      </p:sp>
      <p:pic>
        <p:nvPicPr>
          <p:cNvPr id="318" name="Google Shape;31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3124200"/>
            <a:ext cx="6705600" cy="330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5"/>
          <p:cNvSpPr txBox="1"/>
          <p:nvPr>
            <p:ph type="title"/>
          </p:nvPr>
        </p:nvSpPr>
        <p:spPr>
          <a:xfrm>
            <a:off x="228600" y="303212"/>
            <a:ext cx="7796100" cy="992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5" name="Google Shape;325;p45"/>
          <p:cNvSpPr txBox="1"/>
          <p:nvPr>
            <p:ph idx="1" type="body"/>
          </p:nvPr>
        </p:nvSpPr>
        <p:spPr>
          <a:xfrm>
            <a:off x="239712" y="1600200"/>
            <a:ext cx="82947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/>
          </a:p>
        </p:txBody>
      </p:sp>
      <p:sp>
        <p:nvSpPr>
          <p:cNvPr id="326" name="Google Shape;326;p45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27" name="Google Shape;32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050" y="0"/>
            <a:ext cx="82947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Entity Types, Entity Sets, Keys, and Value Sets (cont’d.)</a:t>
            </a:r>
            <a:endParaRPr/>
          </a:p>
        </p:txBody>
      </p:sp>
      <p:sp>
        <p:nvSpPr>
          <p:cNvPr id="333" name="Google Shape;333;p4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b="1" lang="en-US"/>
              <a:t>Key </a:t>
            </a:r>
            <a:r>
              <a:rPr lang="en-US"/>
              <a:t>or</a:t>
            </a:r>
            <a:r>
              <a:rPr b="1" lang="en-US"/>
              <a:t> uniqueness constraint </a:t>
            </a:r>
            <a:endParaRPr/>
          </a:p>
          <a:p>
            <a:pPr indent="-291465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</a:pPr>
            <a:r>
              <a:rPr lang="en-US"/>
              <a:t>Attributes whose values are distinct for each individual entity in entity set</a:t>
            </a:r>
            <a:endParaRPr/>
          </a:p>
          <a:p>
            <a:pPr indent="-291465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</a:pPr>
            <a:r>
              <a:rPr b="1" lang="en-US"/>
              <a:t>Key attribute</a:t>
            </a:r>
            <a:endParaRPr/>
          </a:p>
          <a:p>
            <a:pPr indent="-285750" lvl="2" marL="1371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</a:pPr>
            <a:r>
              <a:rPr lang="en-US"/>
              <a:t>Uniqueness property must hold for every entity set of the entity type</a:t>
            </a:r>
            <a:endParaRPr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b="1" lang="en-US"/>
              <a:t>Value sets </a:t>
            </a:r>
            <a:r>
              <a:rPr lang="en-US"/>
              <a:t>(or </a:t>
            </a:r>
            <a:r>
              <a:rPr b="1" lang="en-US"/>
              <a:t>domain of values</a:t>
            </a:r>
            <a:r>
              <a:rPr lang="en-US"/>
              <a:t>)</a:t>
            </a:r>
            <a:endParaRPr/>
          </a:p>
          <a:p>
            <a:pPr indent="-291465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</a:pPr>
            <a:r>
              <a:rPr lang="en-US"/>
              <a:t>Specifies set of values that may be assigned to that attribute for each individual entity</a:t>
            </a:r>
            <a:endParaRPr/>
          </a:p>
          <a:p>
            <a:pPr indent="-228600" lvl="2" marL="1371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Initial Conceptual Design of the COMPANY Database</a:t>
            </a:r>
            <a:endParaRPr/>
          </a:p>
        </p:txBody>
      </p:sp>
      <p:pic>
        <p:nvPicPr>
          <p:cNvPr id="339" name="Google Shape;339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3429000"/>
            <a:ext cx="6372225" cy="290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1550" y="1981200"/>
            <a:ext cx="3371850" cy="305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8"/>
          <p:cNvSpPr txBox="1"/>
          <p:nvPr>
            <p:ph type="title"/>
          </p:nvPr>
        </p:nvSpPr>
        <p:spPr>
          <a:xfrm>
            <a:off x="457200" y="457200"/>
            <a:ext cx="822801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Relationship Types, Relationship Sets, Roles, and Structural Constraints</a:t>
            </a:r>
            <a:endParaRPr/>
          </a:p>
        </p:txBody>
      </p:sp>
      <p:sp>
        <p:nvSpPr>
          <p:cNvPr id="346" name="Google Shape;346;p48"/>
          <p:cNvSpPr txBox="1"/>
          <p:nvPr>
            <p:ph idx="1" type="body"/>
          </p:nvPr>
        </p:nvSpPr>
        <p:spPr>
          <a:xfrm>
            <a:off x="457200" y="2057400"/>
            <a:ext cx="8228013" cy="4071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b="1" lang="en-US"/>
              <a:t>Relationship</a:t>
            </a:r>
            <a:endParaRPr/>
          </a:p>
          <a:p>
            <a:pPr indent="-291465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</a:pPr>
            <a:r>
              <a:rPr lang="en-US"/>
              <a:t>When an attribute of one entity type refers to another entity type</a:t>
            </a:r>
            <a:endParaRPr/>
          </a:p>
          <a:p>
            <a:pPr indent="-291465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</a:pPr>
            <a:r>
              <a:rPr lang="en-US"/>
              <a:t>Represent references as relationships not attributes</a:t>
            </a:r>
            <a:endParaRPr/>
          </a:p>
          <a:p>
            <a:pPr indent="-2286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Relationship Types, Sets, and Instances</a:t>
            </a:r>
            <a:endParaRPr/>
          </a:p>
        </p:txBody>
      </p:sp>
      <p:sp>
        <p:nvSpPr>
          <p:cNvPr id="352" name="Google Shape;352;p49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b="1" lang="en-US"/>
              <a:t>Relationship type </a:t>
            </a:r>
            <a:r>
              <a:rPr i="1" lang="en-US"/>
              <a:t>R</a:t>
            </a:r>
            <a:r>
              <a:rPr lang="en-US"/>
              <a:t> among </a:t>
            </a:r>
            <a:r>
              <a:rPr i="1" lang="en-US"/>
              <a:t>n</a:t>
            </a:r>
            <a:r>
              <a:rPr lang="en-US"/>
              <a:t> entity types </a:t>
            </a:r>
            <a:r>
              <a:rPr i="1" lang="en-US"/>
              <a:t>E</a:t>
            </a:r>
            <a:r>
              <a:rPr baseline="-25000" lang="en-US"/>
              <a:t>1</a:t>
            </a:r>
            <a:r>
              <a:rPr lang="en-US"/>
              <a:t>, </a:t>
            </a:r>
            <a:r>
              <a:rPr i="1" lang="en-US"/>
              <a:t>E</a:t>
            </a:r>
            <a:r>
              <a:rPr baseline="-25000" lang="en-US"/>
              <a:t>2</a:t>
            </a:r>
            <a:r>
              <a:rPr lang="en-US"/>
              <a:t>, ..., </a:t>
            </a:r>
            <a:r>
              <a:rPr i="1" lang="en-US"/>
              <a:t>E</a:t>
            </a:r>
            <a:r>
              <a:rPr baseline="-25000" i="1" lang="en-US"/>
              <a:t>n</a:t>
            </a:r>
            <a:endParaRPr i="1"/>
          </a:p>
          <a:p>
            <a:pPr indent="-291465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</a:pPr>
            <a:r>
              <a:rPr lang="en-US"/>
              <a:t>Defines a set of associations among entities from these entity types</a:t>
            </a:r>
            <a:endParaRPr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b="1" lang="en-US"/>
              <a:t>Relationship instances </a:t>
            </a:r>
            <a:r>
              <a:rPr i="1" lang="en-US"/>
              <a:t>r</a:t>
            </a:r>
            <a:r>
              <a:rPr baseline="-25000" i="1" lang="en-US"/>
              <a:t>i</a:t>
            </a:r>
            <a:endParaRPr/>
          </a:p>
          <a:p>
            <a:pPr indent="-291465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</a:pPr>
            <a:r>
              <a:rPr lang="en-US"/>
              <a:t>Each </a:t>
            </a:r>
            <a:r>
              <a:rPr i="1" lang="en-US"/>
              <a:t>r</a:t>
            </a:r>
            <a:r>
              <a:rPr baseline="-25000" i="1" lang="en-US"/>
              <a:t>i</a:t>
            </a:r>
            <a:r>
              <a:rPr lang="en-US"/>
              <a:t> associates n individual entities (</a:t>
            </a:r>
            <a:r>
              <a:rPr i="1" lang="en-US"/>
              <a:t>e</a:t>
            </a:r>
            <a:r>
              <a:rPr baseline="-25000" lang="en-US"/>
              <a:t>1</a:t>
            </a:r>
            <a:r>
              <a:rPr lang="en-US"/>
              <a:t>, </a:t>
            </a:r>
            <a:r>
              <a:rPr i="1" lang="en-US"/>
              <a:t>e</a:t>
            </a:r>
            <a:r>
              <a:rPr baseline="-25000" lang="en-US"/>
              <a:t>2</a:t>
            </a:r>
            <a:r>
              <a:rPr lang="en-US"/>
              <a:t>, ..., </a:t>
            </a:r>
            <a:r>
              <a:rPr i="1" lang="en-US"/>
              <a:t>e</a:t>
            </a:r>
            <a:r>
              <a:rPr baseline="-25000" i="1" lang="en-US"/>
              <a:t>n</a:t>
            </a:r>
            <a:r>
              <a:rPr lang="en-US"/>
              <a:t>)</a:t>
            </a:r>
            <a:endParaRPr/>
          </a:p>
          <a:p>
            <a:pPr indent="-291465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</a:pPr>
            <a:r>
              <a:rPr lang="en-US"/>
              <a:t>Each entity </a:t>
            </a:r>
            <a:r>
              <a:rPr i="1" lang="en-US"/>
              <a:t>e</a:t>
            </a:r>
            <a:r>
              <a:rPr baseline="-25000" i="1" lang="en-US"/>
              <a:t>j</a:t>
            </a:r>
            <a:r>
              <a:rPr lang="en-US"/>
              <a:t> in </a:t>
            </a:r>
            <a:r>
              <a:rPr i="1" lang="en-US"/>
              <a:t>r</a:t>
            </a:r>
            <a:r>
              <a:rPr baseline="-25000" i="1" lang="en-US"/>
              <a:t>i</a:t>
            </a:r>
            <a:r>
              <a:rPr lang="en-US"/>
              <a:t> is a member of entity set </a:t>
            </a:r>
            <a:r>
              <a:rPr i="1" lang="en-US"/>
              <a:t>E</a:t>
            </a:r>
            <a:r>
              <a:rPr baseline="-25000" i="1" lang="en-US"/>
              <a:t>j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Relationship Degree</a:t>
            </a:r>
            <a:endParaRPr/>
          </a:p>
        </p:txBody>
      </p:sp>
      <p:sp>
        <p:nvSpPr>
          <p:cNvPr id="358" name="Google Shape;358;p50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b="1" lang="en-US"/>
              <a:t>Degree</a:t>
            </a:r>
            <a:r>
              <a:rPr lang="en-US"/>
              <a:t> of a relationship type </a:t>
            </a:r>
            <a:endParaRPr/>
          </a:p>
          <a:p>
            <a:pPr indent="-291465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</a:pPr>
            <a:r>
              <a:rPr lang="en-US"/>
              <a:t>Number of participating entity types</a:t>
            </a:r>
            <a:endParaRPr/>
          </a:p>
          <a:p>
            <a:pPr indent="-291465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</a:pPr>
            <a:r>
              <a:rPr b="1" lang="en-US"/>
              <a:t>Binary</a:t>
            </a:r>
            <a:r>
              <a:rPr lang="en-US"/>
              <a:t>, </a:t>
            </a:r>
            <a:r>
              <a:rPr b="1" lang="en-US"/>
              <a:t>ternary</a:t>
            </a:r>
            <a:endParaRPr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/>
              <a:t>Relationships as attributes</a:t>
            </a:r>
            <a:endParaRPr/>
          </a:p>
          <a:p>
            <a:pPr indent="-291465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</a:pPr>
            <a:r>
              <a:rPr lang="en-US"/>
              <a:t>Think of a binary relationship type in terms of attributes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974725"/>
            <a:ext cx="7621588" cy="466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5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914400"/>
            <a:ext cx="8077200" cy="4846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Role Names and Recursive Relationships</a:t>
            </a:r>
            <a:endParaRPr/>
          </a:p>
        </p:txBody>
      </p:sp>
      <p:sp>
        <p:nvSpPr>
          <p:cNvPr id="374" name="Google Shape;374;p5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b="1" lang="en-US"/>
              <a:t>Role names </a:t>
            </a:r>
            <a:r>
              <a:rPr lang="en-US"/>
              <a:t>and recursive relationships</a:t>
            </a:r>
            <a:endParaRPr/>
          </a:p>
          <a:p>
            <a:pPr indent="-291465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</a:pPr>
            <a:r>
              <a:rPr lang="en-US"/>
              <a:t>Role name signifies role that a participating entity plays in each relationship instance</a:t>
            </a:r>
            <a:endParaRPr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b="1" lang="en-US"/>
              <a:t>Recursive</a:t>
            </a:r>
            <a:r>
              <a:rPr lang="en-US"/>
              <a:t> relationships</a:t>
            </a:r>
            <a:endParaRPr/>
          </a:p>
          <a:p>
            <a:pPr indent="-291465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</a:pPr>
            <a:r>
              <a:rPr lang="en-US"/>
              <a:t>Same entity type participates more than once in a relationship type in different roles</a:t>
            </a:r>
            <a:endParaRPr/>
          </a:p>
          <a:p>
            <a:pPr indent="-291465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</a:pPr>
            <a:r>
              <a:rPr lang="en-US"/>
              <a:t>Must specify role name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5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914400"/>
            <a:ext cx="8077200" cy="4846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Constraints on Binary Relationship Types</a:t>
            </a:r>
            <a:endParaRPr/>
          </a:p>
        </p:txBody>
      </p:sp>
      <p:sp>
        <p:nvSpPr>
          <p:cNvPr id="385" name="Google Shape;385;p55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b="1" lang="en-US"/>
              <a:t>Cardinality ratio </a:t>
            </a:r>
            <a:r>
              <a:rPr lang="en-US"/>
              <a:t>for a binary relationship </a:t>
            </a:r>
            <a:endParaRPr/>
          </a:p>
          <a:p>
            <a:pPr indent="-291465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</a:pPr>
            <a:r>
              <a:rPr lang="en-US"/>
              <a:t>Specifies maximum number of relationship instances that entity can participate in</a:t>
            </a:r>
            <a:endParaRPr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b="1" lang="en-US"/>
              <a:t>Participation constraint </a:t>
            </a:r>
            <a:endParaRPr/>
          </a:p>
          <a:p>
            <a:pPr indent="-291465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</a:pPr>
            <a:r>
              <a:rPr lang="en-US"/>
              <a:t>Specifies whether existence of entity depends on its being related to another entity</a:t>
            </a:r>
            <a:endParaRPr/>
          </a:p>
          <a:p>
            <a:pPr indent="-291465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</a:pPr>
            <a:r>
              <a:rPr lang="en-US"/>
              <a:t>Types: </a:t>
            </a:r>
            <a:r>
              <a:rPr b="1" lang="en-US"/>
              <a:t>total</a:t>
            </a:r>
            <a:r>
              <a:rPr lang="en-US"/>
              <a:t> and </a:t>
            </a:r>
            <a:r>
              <a:rPr b="1" lang="en-US"/>
              <a:t>partial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Attributes of Relationship Types</a:t>
            </a:r>
            <a:endParaRPr/>
          </a:p>
        </p:txBody>
      </p:sp>
      <p:sp>
        <p:nvSpPr>
          <p:cNvPr id="391" name="Google Shape;391;p5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/>
              <a:t>Attributes of 1:1 or 1:N relationship types can be migrated to one entity type</a:t>
            </a:r>
            <a:endParaRPr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/>
              <a:t>For a 1:N relationship type</a:t>
            </a:r>
            <a:endParaRPr/>
          </a:p>
          <a:p>
            <a:pPr indent="-291465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</a:pPr>
            <a:r>
              <a:rPr lang="en-US"/>
              <a:t>Relationship attribute can be migrated only to entity type on N-side of relationship</a:t>
            </a:r>
            <a:endParaRPr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/>
              <a:t>For M:N relationship types</a:t>
            </a:r>
            <a:endParaRPr/>
          </a:p>
          <a:p>
            <a:pPr indent="-291465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</a:pPr>
            <a:r>
              <a:rPr lang="en-US"/>
              <a:t>Some attributes may be determined by combination of participating entities</a:t>
            </a:r>
            <a:endParaRPr/>
          </a:p>
          <a:p>
            <a:pPr indent="-291465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</a:pPr>
            <a:r>
              <a:rPr lang="en-US"/>
              <a:t>Must be specified as relationship attributes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Weak Entity Types</a:t>
            </a:r>
            <a:endParaRPr/>
          </a:p>
        </p:txBody>
      </p:sp>
      <p:sp>
        <p:nvSpPr>
          <p:cNvPr id="397" name="Google Shape;397;p5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/>
              <a:t>Do not have key attributes of their own</a:t>
            </a:r>
            <a:endParaRPr/>
          </a:p>
          <a:p>
            <a:pPr indent="-291465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</a:pPr>
            <a:r>
              <a:rPr lang="en-US"/>
              <a:t>Identified by being related to specific entities from another entity type</a:t>
            </a:r>
            <a:endParaRPr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b="1" lang="en-US"/>
              <a:t>Identifying relationship</a:t>
            </a:r>
            <a:endParaRPr/>
          </a:p>
          <a:p>
            <a:pPr indent="-291465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</a:pPr>
            <a:r>
              <a:rPr lang="en-US"/>
              <a:t>Relates a weak entity type to its owner </a:t>
            </a:r>
            <a:endParaRPr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/>
              <a:t>Always has a total participation constraint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8"/>
          <p:cNvSpPr txBox="1"/>
          <p:nvPr>
            <p:ph idx="1" type="body"/>
          </p:nvPr>
        </p:nvSpPr>
        <p:spPr>
          <a:xfrm>
            <a:off x="239700" y="279925"/>
            <a:ext cx="8294700" cy="58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/>
          </a:p>
        </p:txBody>
      </p:sp>
      <p:sp>
        <p:nvSpPr>
          <p:cNvPr id="404" name="Google Shape;404;p58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05" name="Google Shape;405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5975" y="338150"/>
            <a:ext cx="7748150" cy="618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9"/>
          <p:cNvSpPr txBox="1"/>
          <p:nvPr>
            <p:ph idx="1" type="body"/>
          </p:nvPr>
        </p:nvSpPr>
        <p:spPr>
          <a:xfrm>
            <a:off x="239700" y="0"/>
            <a:ext cx="8294700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/>
          </a:p>
        </p:txBody>
      </p:sp>
      <p:sp>
        <p:nvSpPr>
          <p:cNvPr id="412" name="Google Shape;412;p59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13" name="Google Shape;413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5975" y="142875"/>
            <a:ext cx="7447250" cy="625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0"/>
          <p:cNvSpPr txBox="1"/>
          <p:nvPr>
            <p:ph type="title"/>
          </p:nvPr>
        </p:nvSpPr>
        <p:spPr>
          <a:xfrm>
            <a:off x="228600" y="303212"/>
            <a:ext cx="7796100" cy="992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ER DIAGRAM FOR BANK </a:t>
            </a:r>
            <a:endParaRPr/>
          </a:p>
        </p:txBody>
      </p:sp>
      <p:sp>
        <p:nvSpPr>
          <p:cNvPr id="420" name="Google Shape;420;p60"/>
          <p:cNvSpPr txBox="1"/>
          <p:nvPr>
            <p:ph idx="1" type="body"/>
          </p:nvPr>
        </p:nvSpPr>
        <p:spPr>
          <a:xfrm>
            <a:off x="239712" y="1600200"/>
            <a:ext cx="82947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/>
          </a:p>
        </p:txBody>
      </p:sp>
      <p:sp>
        <p:nvSpPr>
          <p:cNvPr id="421" name="Google Shape;421;p60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22" name="Google Shape;422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25" y="1363075"/>
            <a:ext cx="8459176" cy="491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1"/>
          <p:cNvSpPr txBox="1"/>
          <p:nvPr>
            <p:ph type="title"/>
          </p:nvPr>
        </p:nvSpPr>
        <p:spPr>
          <a:xfrm>
            <a:off x="228600" y="303212"/>
            <a:ext cx="7796100" cy="992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ER DIAGRAM FOR MAIL ORDER </a:t>
            </a:r>
            <a:endParaRPr/>
          </a:p>
        </p:txBody>
      </p:sp>
      <p:sp>
        <p:nvSpPr>
          <p:cNvPr id="429" name="Google Shape;429;p61"/>
          <p:cNvSpPr txBox="1"/>
          <p:nvPr>
            <p:ph idx="1" type="body"/>
          </p:nvPr>
        </p:nvSpPr>
        <p:spPr>
          <a:xfrm>
            <a:off x="239712" y="1600200"/>
            <a:ext cx="82947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/>
          </a:p>
        </p:txBody>
      </p:sp>
      <p:sp>
        <p:nvSpPr>
          <p:cNvPr id="430" name="Google Shape;430;p61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31" name="Google Shape;431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700" y="1600200"/>
            <a:ext cx="8009950" cy="48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2"/>
          <p:cNvSpPr txBox="1"/>
          <p:nvPr>
            <p:ph type="title"/>
          </p:nvPr>
        </p:nvSpPr>
        <p:spPr>
          <a:xfrm>
            <a:off x="228600" y="303212"/>
            <a:ext cx="7796100" cy="992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ER DIAGRAM FOR MOVIE  </a:t>
            </a:r>
            <a:endParaRPr/>
          </a:p>
        </p:txBody>
      </p:sp>
      <p:sp>
        <p:nvSpPr>
          <p:cNvPr id="438" name="Google Shape;438;p62"/>
          <p:cNvSpPr txBox="1"/>
          <p:nvPr>
            <p:ph idx="1" type="body"/>
          </p:nvPr>
        </p:nvSpPr>
        <p:spPr>
          <a:xfrm>
            <a:off x="239712" y="1600200"/>
            <a:ext cx="82947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/>
          </a:p>
        </p:txBody>
      </p:sp>
      <p:sp>
        <p:nvSpPr>
          <p:cNvPr id="439" name="Google Shape;439;p62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40" name="Google Shape;440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950" y="1729075"/>
            <a:ext cx="7355899" cy="507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