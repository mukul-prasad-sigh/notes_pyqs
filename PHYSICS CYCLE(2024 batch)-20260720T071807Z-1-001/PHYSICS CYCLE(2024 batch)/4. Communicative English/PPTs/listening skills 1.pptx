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68" r:id="rId4"/>
    <p:sldId id="260" r:id="rId5"/>
    <p:sldId id="269" r:id="rId6"/>
    <p:sldId id="270" r:id="rId7"/>
    <p:sldId id="271" r:id="rId8"/>
    <p:sldId id="272" r:id="rId9"/>
    <p:sldId id="273" r:id="rId10"/>
    <p:sldId id="274" r:id="rId11"/>
    <p:sldId id="275" r:id="rId12"/>
    <p:sldId id="278" r:id="rId13"/>
    <p:sldId id="279" r:id="rId14"/>
    <p:sldId id="276" r:id="rId15"/>
    <p:sldId id="262" r:id="rId16"/>
    <p:sldId id="263" r:id="rId17"/>
    <p:sldId id="264" r:id="rId18"/>
    <p:sldId id="265" r:id="rId19"/>
    <p:sldId id="266" r:id="rId20"/>
    <p:sldId id="27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8453C-6F65-408A-AC57-F387D93735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9CBACD2-BF49-4FFA-ACA3-79A74C5742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A5D4DAA-F691-4395-9D6E-01D0D3FFB074}"/>
              </a:ext>
            </a:extLst>
          </p:cNvPr>
          <p:cNvSpPr>
            <a:spLocks noGrp="1"/>
          </p:cNvSpPr>
          <p:nvPr>
            <p:ph type="dt" sz="half" idx="10"/>
          </p:nvPr>
        </p:nvSpPr>
        <p:spPr/>
        <p:txBody>
          <a:bodyPr/>
          <a:lstStyle/>
          <a:p>
            <a:fld id="{733F82F7-BCA2-4E90-BC43-61AE307C07DE}" type="datetimeFigureOut">
              <a:rPr lang="en-IN" smtClean="0"/>
              <a:t>07-02-2022</a:t>
            </a:fld>
            <a:endParaRPr lang="en-IN"/>
          </a:p>
        </p:txBody>
      </p:sp>
      <p:sp>
        <p:nvSpPr>
          <p:cNvPr id="5" name="Footer Placeholder 4">
            <a:extLst>
              <a:ext uri="{FF2B5EF4-FFF2-40B4-BE49-F238E27FC236}">
                <a16:creationId xmlns:a16="http://schemas.microsoft.com/office/drawing/2014/main" id="{826C22D6-B36A-4327-872D-1E57775461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9D5BCA-6C19-42B9-9E6D-ABA2933E1513}"/>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2965109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DC402-58A5-4908-AC65-45B9FEAF9C8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83A3D6-B3AE-4FF6-9BCF-9B41C041A8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6112F2-3918-4A63-938C-E04929DBE2C4}"/>
              </a:ext>
            </a:extLst>
          </p:cNvPr>
          <p:cNvSpPr>
            <a:spLocks noGrp="1"/>
          </p:cNvSpPr>
          <p:nvPr>
            <p:ph type="dt" sz="half" idx="10"/>
          </p:nvPr>
        </p:nvSpPr>
        <p:spPr/>
        <p:txBody>
          <a:bodyPr/>
          <a:lstStyle/>
          <a:p>
            <a:fld id="{733F82F7-BCA2-4E90-BC43-61AE307C07DE}" type="datetimeFigureOut">
              <a:rPr lang="en-IN" smtClean="0"/>
              <a:t>07-02-2022</a:t>
            </a:fld>
            <a:endParaRPr lang="en-IN"/>
          </a:p>
        </p:txBody>
      </p:sp>
      <p:sp>
        <p:nvSpPr>
          <p:cNvPr id="5" name="Footer Placeholder 4">
            <a:extLst>
              <a:ext uri="{FF2B5EF4-FFF2-40B4-BE49-F238E27FC236}">
                <a16:creationId xmlns:a16="http://schemas.microsoft.com/office/drawing/2014/main" id="{7B876F0A-AFFF-4B49-9195-E9B816FAD3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77FF6B-330A-4E9A-895A-145DA542DBDD}"/>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32504971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7DA15-CD33-4320-A430-B53AF48584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67B5BFD-6203-41CA-BEEC-8283288F62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026768-91CA-4746-8D6C-C0478696A875}"/>
              </a:ext>
            </a:extLst>
          </p:cNvPr>
          <p:cNvSpPr>
            <a:spLocks noGrp="1"/>
          </p:cNvSpPr>
          <p:nvPr>
            <p:ph type="dt" sz="half" idx="10"/>
          </p:nvPr>
        </p:nvSpPr>
        <p:spPr/>
        <p:txBody>
          <a:bodyPr/>
          <a:lstStyle/>
          <a:p>
            <a:fld id="{733F82F7-BCA2-4E90-BC43-61AE307C07DE}" type="datetimeFigureOut">
              <a:rPr lang="en-IN" smtClean="0"/>
              <a:t>07-02-2022</a:t>
            </a:fld>
            <a:endParaRPr lang="en-IN"/>
          </a:p>
        </p:txBody>
      </p:sp>
      <p:sp>
        <p:nvSpPr>
          <p:cNvPr id="5" name="Footer Placeholder 4">
            <a:extLst>
              <a:ext uri="{FF2B5EF4-FFF2-40B4-BE49-F238E27FC236}">
                <a16:creationId xmlns:a16="http://schemas.microsoft.com/office/drawing/2014/main" id="{648BE11B-E9EB-4AC8-836E-6AFA3594B0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AA2E62-ADDE-4935-AB10-F9A44B28A16B}"/>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4192334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28497-4331-42A9-8EE2-8E616233733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88BDA2-9FD8-4006-A55B-278D2F0053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55FF117-7BF1-4FF2-99C8-07F6F1EA55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C4E9FCC-8346-4EA4-9CDD-1D2133D782F5}"/>
              </a:ext>
            </a:extLst>
          </p:cNvPr>
          <p:cNvSpPr>
            <a:spLocks noGrp="1"/>
          </p:cNvSpPr>
          <p:nvPr>
            <p:ph type="dt" sz="half" idx="10"/>
          </p:nvPr>
        </p:nvSpPr>
        <p:spPr/>
        <p:txBody>
          <a:bodyPr/>
          <a:lstStyle/>
          <a:p>
            <a:fld id="{733F82F7-BCA2-4E90-BC43-61AE307C07DE}" type="datetimeFigureOut">
              <a:rPr lang="en-IN" smtClean="0"/>
              <a:t>07-02-2022</a:t>
            </a:fld>
            <a:endParaRPr lang="en-IN"/>
          </a:p>
        </p:txBody>
      </p:sp>
      <p:sp>
        <p:nvSpPr>
          <p:cNvPr id="6" name="Footer Placeholder 5">
            <a:extLst>
              <a:ext uri="{FF2B5EF4-FFF2-40B4-BE49-F238E27FC236}">
                <a16:creationId xmlns:a16="http://schemas.microsoft.com/office/drawing/2014/main" id="{417897D8-357E-4AB5-BD8E-940DFF245C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786D5A-00E1-42B6-A8C2-48048604130B}"/>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1146910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A868F-F2B8-4E0E-9002-58472195353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88289DE-0D5A-478C-98DD-629A873439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F3ACCF-10CC-4C00-949B-6B163A3133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561B461-E1AB-4663-AD0D-63710B708F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71FAD0-8E56-402D-A779-A591D40FC5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D6CFE52-4100-4BF6-AE8A-14EE641D54F6}"/>
              </a:ext>
            </a:extLst>
          </p:cNvPr>
          <p:cNvSpPr>
            <a:spLocks noGrp="1"/>
          </p:cNvSpPr>
          <p:nvPr>
            <p:ph type="dt" sz="half" idx="10"/>
          </p:nvPr>
        </p:nvSpPr>
        <p:spPr/>
        <p:txBody>
          <a:bodyPr/>
          <a:lstStyle/>
          <a:p>
            <a:fld id="{733F82F7-BCA2-4E90-BC43-61AE307C07DE}" type="datetimeFigureOut">
              <a:rPr lang="en-IN" smtClean="0"/>
              <a:t>07-02-2022</a:t>
            </a:fld>
            <a:endParaRPr lang="en-IN"/>
          </a:p>
        </p:txBody>
      </p:sp>
      <p:sp>
        <p:nvSpPr>
          <p:cNvPr id="8" name="Footer Placeholder 7">
            <a:extLst>
              <a:ext uri="{FF2B5EF4-FFF2-40B4-BE49-F238E27FC236}">
                <a16:creationId xmlns:a16="http://schemas.microsoft.com/office/drawing/2014/main" id="{75CFB50E-C1DF-454D-B560-57D41CD84B1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332C749-B1C0-4A31-9F3F-10501786511B}"/>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1755062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FA03C-E542-46E2-B678-4D4078393B5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9045629-4D9F-41D4-8C10-4EE0011A1AC1}"/>
              </a:ext>
            </a:extLst>
          </p:cNvPr>
          <p:cNvSpPr>
            <a:spLocks noGrp="1"/>
          </p:cNvSpPr>
          <p:nvPr>
            <p:ph type="dt" sz="half" idx="10"/>
          </p:nvPr>
        </p:nvSpPr>
        <p:spPr/>
        <p:txBody>
          <a:bodyPr/>
          <a:lstStyle/>
          <a:p>
            <a:fld id="{733F82F7-BCA2-4E90-BC43-61AE307C07DE}" type="datetimeFigureOut">
              <a:rPr lang="en-IN" smtClean="0"/>
              <a:t>07-02-2022</a:t>
            </a:fld>
            <a:endParaRPr lang="en-IN"/>
          </a:p>
        </p:txBody>
      </p:sp>
      <p:sp>
        <p:nvSpPr>
          <p:cNvPr id="4" name="Footer Placeholder 3">
            <a:extLst>
              <a:ext uri="{FF2B5EF4-FFF2-40B4-BE49-F238E27FC236}">
                <a16:creationId xmlns:a16="http://schemas.microsoft.com/office/drawing/2014/main" id="{6C1C385C-49F9-424E-B37E-1B3AD6EDC0E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D40273D-1BB6-4B1D-AFFE-3D8E77CF293F}"/>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3160486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85FFFF-44C4-4D88-8E19-D6176034D1E4}"/>
              </a:ext>
            </a:extLst>
          </p:cNvPr>
          <p:cNvSpPr>
            <a:spLocks noGrp="1"/>
          </p:cNvSpPr>
          <p:nvPr>
            <p:ph type="dt" sz="half" idx="10"/>
          </p:nvPr>
        </p:nvSpPr>
        <p:spPr/>
        <p:txBody>
          <a:bodyPr/>
          <a:lstStyle/>
          <a:p>
            <a:fld id="{733F82F7-BCA2-4E90-BC43-61AE307C07DE}" type="datetimeFigureOut">
              <a:rPr lang="en-IN" smtClean="0"/>
              <a:t>07-02-2022</a:t>
            </a:fld>
            <a:endParaRPr lang="en-IN"/>
          </a:p>
        </p:txBody>
      </p:sp>
      <p:sp>
        <p:nvSpPr>
          <p:cNvPr id="3" name="Footer Placeholder 2">
            <a:extLst>
              <a:ext uri="{FF2B5EF4-FFF2-40B4-BE49-F238E27FC236}">
                <a16:creationId xmlns:a16="http://schemas.microsoft.com/office/drawing/2014/main" id="{E6C0888F-68E4-4BD8-A0EB-84F3CABC6BA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8D8A00A-009A-423D-9C27-BB7EF6FF7A9B}"/>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4001464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77A8E-72CA-49DB-866E-1F253E9B7C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3865686-ED8D-401C-8A5A-1CDBEA1FB9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B6CAFEF-1AD9-416A-BED3-D38833D88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76E3DE-683E-40EC-B383-FE40391DF47A}"/>
              </a:ext>
            </a:extLst>
          </p:cNvPr>
          <p:cNvSpPr>
            <a:spLocks noGrp="1"/>
          </p:cNvSpPr>
          <p:nvPr>
            <p:ph type="dt" sz="half" idx="10"/>
          </p:nvPr>
        </p:nvSpPr>
        <p:spPr/>
        <p:txBody>
          <a:bodyPr/>
          <a:lstStyle/>
          <a:p>
            <a:fld id="{733F82F7-BCA2-4E90-BC43-61AE307C07DE}" type="datetimeFigureOut">
              <a:rPr lang="en-IN" smtClean="0"/>
              <a:t>07-02-2022</a:t>
            </a:fld>
            <a:endParaRPr lang="en-IN"/>
          </a:p>
        </p:txBody>
      </p:sp>
      <p:sp>
        <p:nvSpPr>
          <p:cNvPr id="6" name="Footer Placeholder 5">
            <a:extLst>
              <a:ext uri="{FF2B5EF4-FFF2-40B4-BE49-F238E27FC236}">
                <a16:creationId xmlns:a16="http://schemas.microsoft.com/office/drawing/2014/main" id="{7118AE5C-85E9-4D63-B9E0-A79C8070ECF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5F0A16-FF0F-493E-ACEB-EA629CB5599D}"/>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828203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1FF0B-6FDC-442A-BBC3-32F36A46F0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C937CD2-8857-4A37-B8B2-BE836D83D2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542EE0C-61E4-4B92-94C8-C4CA72ED75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4E5AA7-E46D-4227-9A06-C54874CEDFFA}"/>
              </a:ext>
            </a:extLst>
          </p:cNvPr>
          <p:cNvSpPr>
            <a:spLocks noGrp="1"/>
          </p:cNvSpPr>
          <p:nvPr>
            <p:ph type="dt" sz="half" idx="10"/>
          </p:nvPr>
        </p:nvSpPr>
        <p:spPr/>
        <p:txBody>
          <a:bodyPr/>
          <a:lstStyle/>
          <a:p>
            <a:fld id="{733F82F7-BCA2-4E90-BC43-61AE307C07DE}" type="datetimeFigureOut">
              <a:rPr lang="en-IN" smtClean="0"/>
              <a:t>07-02-2022</a:t>
            </a:fld>
            <a:endParaRPr lang="en-IN"/>
          </a:p>
        </p:txBody>
      </p:sp>
      <p:sp>
        <p:nvSpPr>
          <p:cNvPr id="6" name="Footer Placeholder 5">
            <a:extLst>
              <a:ext uri="{FF2B5EF4-FFF2-40B4-BE49-F238E27FC236}">
                <a16:creationId xmlns:a16="http://schemas.microsoft.com/office/drawing/2014/main" id="{8FA7DCBD-87E8-4837-910B-0E50414148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77B0BF-7CBA-4F11-B2BE-A6DD16E665C6}"/>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825296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B6455-9D15-4A6B-88E9-39BA9E927C2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155108-C1E8-43AB-A146-10514C428E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A6314B-C1A8-41FF-92F9-FAF90CDB99A6}"/>
              </a:ext>
            </a:extLst>
          </p:cNvPr>
          <p:cNvSpPr>
            <a:spLocks noGrp="1"/>
          </p:cNvSpPr>
          <p:nvPr>
            <p:ph type="dt" sz="half" idx="10"/>
          </p:nvPr>
        </p:nvSpPr>
        <p:spPr/>
        <p:txBody>
          <a:bodyPr/>
          <a:lstStyle/>
          <a:p>
            <a:fld id="{733F82F7-BCA2-4E90-BC43-61AE307C07DE}" type="datetimeFigureOut">
              <a:rPr lang="en-IN" smtClean="0"/>
              <a:t>07-02-2022</a:t>
            </a:fld>
            <a:endParaRPr lang="en-IN"/>
          </a:p>
        </p:txBody>
      </p:sp>
      <p:sp>
        <p:nvSpPr>
          <p:cNvPr id="5" name="Footer Placeholder 4">
            <a:extLst>
              <a:ext uri="{FF2B5EF4-FFF2-40B4-BE49-F238E27FC236}">
                <a16:creationId xmlns:a16="http://schemas.microsoft.com/office/drawing/2014/main" id="{F005F3B9-B8EB-4E12-B083-519E02C1E3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4CFD23-FAD4-4C89-972E-4A64FB5EBCAE}"/>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4239106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D2F6FA-4EA1-49EB-8058-AE9B707DE18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4DD5267-401C-49B1-A4EC-58C0FD520B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9F2644-6370-488D-9A75-3D1965A11FAA}"/>
              </a:ext>
            </a:extLst>
          </p:cNvPr>
          <p:cNvSpPr>
            <a:spLocks noGrp="1"/>
          </p:cNvSpPr>
          <p:nvPr>
            <p:ph type="dt" sz="half" idx="10"/>
          </p:nvPr>
        </p:nvSpPr>
        <p:spPr/>
        <p:txBody>
          <a:bodyPr/>
          <a:lstStyle/>
          <a:p>
            <a:fld id="{733F82F7-BCA2-4E90-BC43-61AE307C07DE}" type="datetimeFigureOut">
              <a:rPr lang="en-IN" smtClean="0"/>
              <a:t>07-02-2022</a:t>
            </a:fld>
            <a:endParaRPr lang="en-IN"/>
          </a:p>
        </p:txBody>
      </p:sp>
      <p:sp>
        <p:nvSpPr>
          <p:cNvPr id="5" name="Footer Placeholder 4">
            <a:extLst>
              <a:ext uri="{FF2B5EF4-FFF2-40B4-BE49-F238E27FC236}">
                <a16:creationId xmlns:a16="http://schemas.microsoft.com/office/drawing/2014/main" id="{F75BD543-7309-45FA-B7E1-5ADA2B1510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1F3D13-F6C8-4F10-9A90-0581C9E88CA5}"/>
              </a:ext>
            </a:extLst>
          </p:cNvPr>
          <p:cNvSpPr>
            <a:spLocks noGrp="1"/>
          </p:cNvSpPr>
          <p:nvPr>
            <p:ph type="sldNum" sz="quarter" idx="12"/>
          </p:nvPr>
        </p:nvSpPr>
        <p:spPr/>
        <p:txBody>
          <a:bodyPr/>
          <a:lstStyle/>
          <a:p>
            <a:fld id="{03020D85-0D59-4BEB-9860-F6312BF4C667}" type="slidenum">
              <a:rPr lang="en-IN" smtClean="0"/>
              <a:t>‹#›</a:t>
            </a:fld>
            <a:endParaRPr lang="en-IN"/>
          </a:p>
        </p:txBody>
      </p:sp>
    </p:spTree>
    <p:extLst>
      <p:ext uri="{BB962C8B-B14F-4D97-AF65-F5344CB8AC3E}">
        <p14:creationId xmlns:p14="http://schemas.microsoft.com/office/powerpoint/2010/main" val="920248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701477-8969-4C28-89F6-D351F4C303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378B360-A193-4918-9E00-59A3D214A3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AF5B50-7556-44BE-AFD1-90B1B5430D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3F82F7-BCA2-4E90-BC43-61AE307C07DE}" type="datetimeFigureOut">
              <a:rPr lang="en-IN" smtClean="0"/>
              <a:t>07-02-2022</a:t>
            </a:fld>
            <a:endParaRPr lang="en-IN"/>
          </a:p>
        </p:txBody>
      </p:sp>
      <p:sp>
        <p:nvSpPr>
          <p:cNvPr id="5" name="Footer Placeholder 4">
            <a:extLst>
              <a:ext uri="{FF2B5EF4-FFF2-40B4-BE49-F238E27FC236}">
                <a16:creationId xmlns:a16="http://schemas.microsoft.com/office/drawing/2014/main" id="{F185176F-6D86-4E46-9C40-0C1F4A407C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37EAD42-2222-4BAA-AC09-C35113E74F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020D85-0D59-4BEB-9860-F6312BF4C667}" type="slidenum">
              <a:rPr lang="en-IN" smtClean="0"/>
              <a:t>‹#›</a:t>
            </a:fld>
            <a:endParaRPr lang="en-IN"/>
          </a:p>
        </p:txBody>
      </p:sp>
    </p:spTree>
    <p:extLst>
      <p:ext uri="{BB962C8B-B14F-4D97-AF65-F5344CB8AC3E}">
        <p14:creationId xmlns:p14="http://schemas.microsoft.com/office/powerpoint/2010/main" val="1065943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2555B-809F-44E5-B38C-CEA37440A9B2}"/>
              </a:ext>
            </a:extLst>
          </p:cNvPr>
          <p:cNvSpPr>
            <a:spLocks noGrp="1"/>
          </p:cNvSpPr>
          <p:nvPr>
            <p:ph type="ctrTitle"/>
          </p:nvPr>
        </p:nvSpPr>
        <p:spPr/>
        <p:txBody>
          <a:bodyPr>
            <a:normAutofit/>
          </a:bodyPr>
          <a:lstStyle/>
          <a:p>
            <a:r>
              <a:rPr kumimoji="0" lang="en-US" sz="3900" b="0" i="0" u="none" strike="noStrike" kern="1200" cap="none" spc="0" normalizeH="0" baseline="0" noProof="0" dirty="0">
                <a:ln>
                  <a:noFill/>
                </a:ln>
                <a:solidFill>
                  <a:prstClr val="black"/>
                </a:solidFill>
                <a:effectLst/>
                <a:uLnTx/>
                <a:uFillTx/>
                <a:latin typeface="Calibri Light" panose="020F0302020204030204"/>
                <a:ea typeface="+mj-ea"/>
                <a:cs typeface="+mj-cs"/>
              </a:rPr>
              <a:t>Communicative English  </a:t>
            </a:r>
            <a:b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br>
            <a:br>
              <a:rPr kumimoji="0" lang="en-US" sz="2300" b="0" i="0" u="none" strike="noStrike" kern="1200" cap="none" spc="0" normalizeH="0" baseline="0" noProof="0" dirty="0">
                <a:ln>
                  <a:noFill/>
                </a:ln>
                <a:solidFill>
                  <a:prstClr val="black"/>
                </a:solidFill>
                <a:effectLst/>
                <a:uLnTx/>
                <a:uFillTx/>
                <a:latin typeface="Calibri" panose="020F0502020204030204"/>
                <a:ea typeface="+mj-ea"/>
                <a:cs typeface="+mj-cs"/>
              </a:rPr>
            </a:br>
            <a:r>
              <a:rPr kumimoji="0" lang="en-US" sz="2300" b="0" i="0" u="none" strike="noStrike" kern="1200" cap="none" spc="0" normalizeH="0" baseline="0" noProof="0" dirty="0">
                <a:ln>
                  <a:noFill/>
                </a:ln>
                <a:solidFill>
                  <a:prstClr val="black"/>
                </a:solidFill>
                <a:effectLst/>
                <a:uLnTx/>
                <a:uFillTx/>
                <a:latin typeface="Calibri" panose="020F0502020204030204"/>
                <a:ea typeface="+mj-ea"/>
                <a:cs typeface="+mj-cs"/>
              </a:rPr>
              <a:t>Faculty – Dr. Kiran Magavi</a:t>
            </a:r>
            <a:br>
              <a:rPr kumimoji="0" lang="en-US" sz="2300" b="0" i="0" u="none" strike="noStrike" kern="1200" cap="none" spc="0" normalizeH="0" baseline="0" noProof="0" dirty="0">
                <a:ln>
                  <a:noFill/>
                </a:ln>
                <a:solidFill>
                  <a:prstClr val="black"/>
                </a:solidFill>
                <a:effectLst/>
                <a:uLnTx/>
                <a:uFillTx/>
                <a:latin typeface="Calibri" panose="020F0502020204030204"/>
                <a:ea typeface="+mj-ea"/>
                <a:cs typeface="+mj-cs"/>
              </a:rPr>
            </a:br>
            <a:r>
              <a:rPr kumimoji="0" lang="en-US" sz="2300" b="0" i="0" u="none" strike="noStrike" kern="1200" cap="none" spc="0" normalizeH="0" baseline="0" noProof="0" dirty="0">
                <a:ln>
                  <a:noFill/>
                </a:ln>
                <a:solidFill>
                  <a:prstClr val="black"/>
                </a:solidFill>
                <a:effectLst/>
                <a:uLnTx/>
                <a:uFillTx/>
                <a:latin typeface="Calibri" panose="020F0502020204030204"/>
                <a:ea typeface="+mj-ea"/>
                <a:cs typeface="+mj-cs"/>
              </a:rPr>
              <a:t>Department – Humanities and Social Sciences</a:t>
            </a:r>
            <a:r>
              <a:rPr lang="en-US" dirty="0"/>
              <a:t> </a:t>
            </a:r>
            <a:endParaRPr lang="en-IN" dirty="0"/>
          </a:p>
        </p:txBody>
      </p:sp>
      <p:sp>
        <p:nvSpPr>
          <p:cNvPr id="3" name="Subtitle 2">
            <a:extLst>
              <a:ext uri="{FF2B5EF4-FFF2-40B4-BE49-F238E27FC236}">
                <a16:creationId xmlns:a16="http://schemas.microsoft.com/office/drawing/2014/main" id="{5E08F424-A858-489F-8E2B-B1BF4A0DC6D4}"/>
              </a:ext>
            </a:extLst>
          </p:cNvPr>
          <p:cNvSpPr>
            <a:spLocks noGrp="1"/>
          </p:cNvSpPr>
          <p:nvPr>
            <p:ph type="subTitle" idx="1"/>
          </p:nvPr>
        </p:nvSpPr>
        <p:spPr/>
        <p:txBody>
          <a:bodyPr/>
          <a:lstStyle/>
          <a:p>
            <a:pPr marL="0" marR="0" lvl="0" indent="0" algn="ctr" defTabSz="914400" rtl="0" eaLnBrk="1" fontAlgn="base" latinLnBrk="0" hangingPunct="1">
              <a:lnSpc>
                <a:spcPct val="90000"/>
              </a:lnSpc>
              <a:spcBef>
                <a:spcPts val="1000"/>
              </a:spcBef>
              <a:spcAft>
                <a:spcPct val="0"/>
              </a:spcAft>
              <a:buClrTx/>
              <a:buSzTx/>
              <a:buFont typeface="Arial" panose="020B0604020202020204" pitchFamily="34" charset="0"/>
              <a:buNone/>
              <a:tabLst/>
              <a:defRPr/>
            </a:pPr>
            <a:r>
              <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a:t>
            </a:r>
            <a:endParaRPr lang="en-US" altLang="en-US" sz="2600" dirty="0">
              <a:solidFill>
                <a:srgbClr val="000000"/>
              </a:solidFill>
              <a:latin typeface="Calibri" panose="020F0502020204030204" pitchFamily="34" charset="0"/>
            </a:endParaRPr>
          </a:p>
          <a:p>
            <a:pPr marL="0" marR="0" lvl="0" indent="0" algn="ctr" defTabSz="914400" rtl="0" eaLnBrk="1" fontAlgn="base" latinLnBrk="0" hangingPunct="1">
              <a:lnSpc>
                <a:spcPct val="90000"/>
              </a:lnSpc>
              <a:spcBef>
                <a:spcPts val="1000"/>
              </a:spcBef>
              <a:spcAft>
                <a:spcPct val="0"/>
              </a:spcAft>
              <a:buClrTx/>
              <a:buSzTx/>
              <a:buFont typeface="Arial" panose="020B0604020202020204" pitchFamily="34" charset="0"/>
              <a:buNone/>
              <a:tabLst/>
              <a:defRPr/>
            </a:pPr>
            <a:r>
              <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Listening skills - 1</a:t>
            </a:r>
          </a:p>
          <a:p>
            <a:pPr marL="0" marR="0" lvl="0" indent="0" algn="ctr" defTabSz="914400" rtl="0" eaLnBrk="1" fontAlgn="base" latinLnBrk="0" hangingPunct="1">
              <a:lnSpc>
                <a:spcPct val="90000"/>
              </a:lnSpc>
              <a:spcBef>
                <a:spcPts val="1000"/>
              </a:spcBef>
              <a:spcAft>
                <a:spcPct val="0"/>
              </a:spcAft>
              <a:buClrTx/>
              <a:buSzTx/>
              <a:buFont typeface="Arial" panose="020B0604020202020204" pitchFamily="34" charset="0"/>
              <a:buNone/>
              <a:tabLst/>
              <a:defRPr/>
            </a:pPr>
            <a:endParaRPr kumimoji="0" lang="en-US" altLang="en-US" sz="26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p>
            <a:endParaRPr lang="en-US" dirty="0"/>
          </a:p>
        </p:txBody>
      </p:sp>
    </p:spTree>
    <p:extLst>
      <p:ext uri="{BB962C8B-B14F-4D97-AF65-F5344CB8AC3E}">
        <p14:creationId xmlns:p14="http://schemas.microsoft.com/office/powerpoint/2010/main" val="155190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B2D69-B996-4693-8BAF-DC5BE1FC4C51}"/>
              </a:ext>
            </a:extLst>
          </p:cNvPr>
          <p:cNvSpPr>
            <a:spLocks noGrp="1"/>
          </p:cNvSpPr>
          <p:nvPr>
            <p:ph type="title"/>
          </p:nvPr>
        </p:nvSpPr>
        <p:spPr/>
        <p:txBody>
          <a:bodyPr/>
          <a:lstStyle/>
          <a:p>
            <a:r>
              <a:rPr lang="en-US" dirty="0"/>
              <a:t>Important questions </a:t>
            </a:r>
            <a:endParaRPr lang="en-IN" dirty="0"/>
          </a:p>
        </p:txBody>
      </p:sp>
      <p:sp>
        <p:nvSpPr>
          <p:cNvPr id="3" name="Content Placeholder 2">
            <a:extLst>
              <a:ext uri="{FF2B5EF4-FFF2-40B4-BE49-F238E27FC236}">
                <a16:creationId xmlns:a16="http://schemas.microsoft.com/office/drawing/2014/main" id="{941D6027-D615-40B1-B5ED-6CAFA03081ED}"/>
              </a:ext>
            </a:extLst>
          </p:cNvPr>
          <p:cNvSpPr>
            <a:spLocks noGrp="1"/>
          </p:cNvSpPr>
          <p:nvPr>
            <p:ph idx="1"/>
          </p:nvPr>
        </p:nvSpPr>
        <p:spPr/>
        <p:txBody>
          <a:bodyPr/>
          <a:lstStyle/>
          <a:p>
            <a:pPr marL="514350" indent="-514350">
              <a:buAutoNum type="arabicPeriod"/>
            </a:pPr>
            <a:r>
              <a:rPr lang="en-US" dirty="0"/>
              <a:t>What is Listening?</a:t>
            </a:r>
          </a:p>
          <a:p>
            <a:pPr marL="514350" indent="-514350">
              <a:buAutoNum type="arabicPeriod"/>
            </a:pPr>
            <a:r>
              <a:rPr lang="en-US" dirty="0"/>
              <a:t> Process of Listening.</a:t>
            </a:r>
          </a:p>
          <a:p>
            <a:pPr marL="514350" indent="-514350">
              <a:buAutoNum type="arabicPeriod"/>
            </a:pPr>
            <a:r>
              <a:rPr lang="en-US" dirty="0"/>
              <a:t> Importance of Listening</a:t>
            </a:r>
          </a:p>
          <a:p>
            <a:pPr marL="514350" indent="-514350">
              <a:buAutoNum type="arabicPeriod"/>
            </a:pPr>
            <a:r>
              <a:rPr lang="en-US" dirty="0"/>
              <a:t> Basic Types of Listening</a:t>
            </a:r>
          </a:p>
          <a:p>
            <a:pPr marL="514350" indent="-514350">
              <a:buAutoNum type="arabicPeriod"/>
            </a:pPr>
            <a:r>
              <a:rPr lang="en-US" dirty="0"/>
              <a:t> Barriers to effective listening</a:t>
            </a:r>
          </a:p>
          <a:p>
            <a:pPr marL="514350" indent="-514350">
              <a:buAutoNum type="arabicPeriod"/>
            </a:pPr>
            <a:r>
              <a:rPr lang="en-US" dirty="0"/>
              <a:t>How to Listen Effectively?</a:t>
            </a:r>
          </a:p>
          <a:p>
            <a:pPr marL="514350" indent="-514350">
              <a:buAutoNum type="arabicPeriod"/>
            </a:pPr>
            <a:r>
              <a:rPr lang="en-US" dirty="0"/>
              <a:t>Benefits of Effective Listening</a:t>
            </a:r>
          </a:p>
          <a:p>
            <a:endParaRPr lang="en-IN" dirty="0"/>
          </a:p>
        </p:txBody>
      </p:sp>
    </p:spTree>
    <p:extLst>
      <p:ext uri="{BB962C8B-B14F-4D97-AF65-F5344CB8AC3E}">
        <p14:creationId xmlns:p14="http://schemas.microsoft.com/office/powerpoint/2010/main" val="3298306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01758-C14B-4250-AB95-C213701369E7}"/>
              </a:ext>
            </a:extLst>
          </p:cNvPr>
          <p:cNvSpPr>
            <a:spLocks noGrp="1"/>
          </p:cNvSpPr>
          <p:nvPr>
            <p:ph type="title"/>
          </p:nvPr>
        </p:nvSpPr>
        <p:spPr/>
        <p:txBody>
          <a:bodyPr/>
          <a:lstStyle/>
          <a:p>
            <a:r>
              <a:rPr lang="en-US" dirty="0"/>
              <a:t>Points to remember</a:t>
            </a:r>
            <a:endParaRPr lang="en-IN" dirty="0"/>
          </a:p>
        </p:txBody>
      </p:sp>
      <p:sp>
        <p:nvSpPr>
          <p:cNvPr id="3" name="Content Placeholder 2">
            <a:extLst>
              <a:ext uri="{FF2B5EF4-FFF2-40B4-BE49-F238E27FC236}">
                <a16:creationId xmlns:a16="http://schemas.microsoft.com/office/drawing/2014/main" id="{C0448423-A9A5-4B38-84FE-B143BE4A9D82}"/>
              </a:ext>
            </a:extLst>
          </p:cNvPr>
          <p:cNvSpPr>
            <a:spLocks noGrp="1"/>
          </p:cNvSpPr>
          <p:nvPr>
            <p:ph idx="1"/>
          </p:nvPr>
        </p:nvSpPr>
        <p:spPr/>
        <p:txBody>
          <a:bodyPr/>
          <a:lstStyle/>
          <a:p>
            <a:r>
              <a:rPr lang="en-US" dirty="0"/>
              <a:t>Listening is not just about being quiet while someone else is speaking.</a:t>
            </a:r>
          </a:p>
          <a:p>
            <a:r>
              <a:rPr lang="en-US" dirty="0"/>
              <a:t>Listening is with the Mind. </a:t>
            </a:r>
          </a:p>
          <a:p>
            <a:r>
              <a:rPr lang="en-US" dirty="0"/>
              <a:t>Hearing with the senses. </a:t>
            </a:r>
          </a:p>
          <a:p>
            <a:r>
              <a:rPr lang="en-US" dirty="0"/>
              <a:t>Listening is conscious. </a:t>
            </a:r>
          </a:p>
          <a:p>
            <a:r>
              <a:rPr lang="en-US" dirty="0"/>
              <a:t>To improve our interpersonal &amp; oral exchange just listening to words is not enough</a:t>
            </a:r>
          </a:p>
          <a:p>
            <a:r>
              <a:rPr lang="en-US" dirty="0"/>
              <a:t>A good Listener has to pay attention to the non-verbal communication/cues of the speaker. </a:t>
            </a:r>
            <a:endParaRPr lang="en-IN" dirty="0"/>
          </a:p>
        </p:txBody>
      </p:sp>
    </p:spTree>
    <p:extLst>
      <p:ext uri="{BB962C8B-B14F-4D97-AF65-F5344CB8AC3E}">
        <p14:creationId xmlns:p14="http://schemas.microsoft.com/office/powerpoint/2010/main" val="3477108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EB85F-0E89-47B5-B8E5-483AE50F85F5}"/>
              </a:ext>
            </a:extLst>
          </p:cNvPr>
          <p:cNvSpPr>
            <a:spLocks noGrp="1"/>
          </p:cNvSpPr>
          <p:nvPr>
            <p:ph type="title"/>
          </p:nvPr>
        </p:nvSpPr>
        <p:spPr/>
        <p:txBody>
          <a:bodyPr/>
          <a:lstStyle/>
          <a:p>
            <a:r>
              <a:rPr lang="en-US" dirty="0"/>
              <a:t>Listening skills </a:t>
            </a:r>
            <a:endParaRPr lang="en-IN" dirty="0"/>
          </a:p>
        </p:txBody>
      </p:sp>
      <p:sp>
        <p:nvSpPr>
          <p:cNvPr id="3" name="Content Placeholder 2">
            <a:extLst>
              <a:ext uri="{FF2B5EF4-FFF2-40B4-BE49-F238E27FC236}">
                <a16:creationId xmlns:a16="http://schemas.microsoft.com/office/drawing/2014/main" id="{94F29E4E-09E8-4A84-A7B7-A2CA43C09950}"/>
              </a:ext>
            </a:extLst>
          </p:cNvPr>
          <p:cNvSpPr>
            <a:spLocks noGrp="1"/>
          </p:cNvSpPr>
          <p:nvPr>
            <p:ph idx="1"/>
          </p:nvPr>
        </p:nvSpPr>
        <p:spPr/>
        <p:txBody>
          <a:bodyPr>
            <a:normAutofit/>
          </a:bodyPr>
          <a:lstStyle/>
          <a:p>
            <a:pPr algn="l"/>
            <a:r>
              <a:rPr lang="en-US" b="0" i="0" dirty="0">
                <a:solidFill>
                  <a:srgbClr val="2A2A2A"/>
                </a:solidFill>
                <a:effectLst/>
                <a:latin typeface="Open Sans"/>
              </a:rPr>
              <a:t>Listening is the ability to accurately receive and interpret messages in the communication process.</a:t>
            </a:r>
          </a:p>
          <a:p>
            <a:pPr algn="l"/>
            <a:r>
              <a:rPr lang="en-US" b="0" i="0" dirty="0">
                <a:solidFill>
                  <a:srgbClr val="2A2A2A"/>
                </a:solidFill>
                <a:effectLst/>
                <a:latin typeface="Open Sans"/>
              </a:rPr>
              <a:t>Listening is key to all effective communication. </a:t>
            </a:r>
          </a:p>
          <a:p>
            <a:pPr algn="l"/>
            <a:r>
              <a:rPr lang="en-US" b="0" i="0" dirty="0">
                <a:solidFill>
                  <a:srgbClr val="2A2A2A"/>
                </a:solidFill>
                <a:effectLst/>
                <a:latin typeface="Open Sans"/>
              </a:rPr>
              <a:t>Without the ability to listen effectively, messages are easily misunderstood. </a:t>
            </a:r>
          </a:p>
          <a:p>
            <a:pPr algn="l"/>
            <a:r>
              <a:rPr lang="en-US" b="0" i="0" dirty="0">
                <a:solidFill>
                  <a:srgbClr val="2A2A2A"/>
                </a:solidFill>
                <a:effectLst/>
                <a:latin typeface="Open Sans"/>
              </a:rPr>
              <a:t>As a result, communication breaks down and the sender of the message can easily become frustrated or irritated.</a:t>
            </a:r>
          </a:p>
          <a:p>
            <a:pPr algn="l"/>
            <a:r>
              <a:rPr lang="en-US" b="0" i="0" dirty="0">
                <a:solidFill>
                  <a:srgbClr val="2A2A2A"/>
                </a:solidFill>
                <a:effectLst/>
                <a:latin typeface="Open Sans"/>
              </a:rPr>
              <a:t>If there is one communication skill you should aim to master, then,  it is listening .</a:t>
            </a:r>
          </a:p>
          <a:p>
            <a:pPr marL="0" indent="0">
              <a:buNone/>
            </a:pPr>
            <a:endParaRPr lang="en-IN" dirty="0"/>
          </a:p>
        </p:txBody>
      </p:sp>
    </p:spTree>
    <p:extLst>
      <p:ext uri="{BB962C8B-B14F-4D97-AF65-F5344CB8AC3E}">
        <p14:creationId xmlns:p14="http://schemas.microsoft.com/office/powerpoint/2010/main" val="3015822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98CAF-4981-4AFF-AFD2-E3A3EA76CAB7}"/>
              </a:ext>
            </a:extLst>
          </p:cNvPr>
          <p:cNvSpPr>
            <a:spLocks noGrp="1"/>
          </p:cNvSpPr>
          <p:nvPr>
            <p:ph type="title"/>
          </p:nvPr>
        </p:nvSpPr>
        <p:spPr/>
        <p:txBody>
          <a:bodyPr/>
          <a:lstStyle/>
          <a:p>
            <a:r>
              <a:rPr lang="en-US" dirty="0"/>
              <a:t>Process of listening </a:t>
            </a:r>
            <a:endParaRPr lang="en-IN" dirty="0"/>
          </a:p>
        </p:txBody>
      </p:sp>
      <p:pic>
        <p:nvPicPr>
          <p:cNvPr id="4" name="Content Placeholder 3">
            <a:extLst>
              <a:ext uri="{FF2B5EF4-FFF2-40B4-BE49-F238E27FC236}">
                <a16:creationId xmlns:a16="http://schemas.microsoft.com/office/drawing/2014/main" id="{15FC5EAC-510F-4DE3-9E4A-7175BE8038AF}"/>
              </a:ext>
            </a:extLst>
          </p:cNvPr>
          <p:cNvPicPr>
            <a:picLocks noGrp="1" noChangeAspect="1"/>
          </p:cNvPicPr>
          <p:nvPr>
            <p:ph idx="1"/>
          </p:nvPr>
        </p:nvPicPr>
        <p:blipFill>
          <a:blip r:embed="rId2"/>
          <a:stretch>
            <a:fillRect/>
          </a:stretch>
        </p:blipFill>
        <p:spPr>
          <a:xfrm>
            <a:off x="838200" y="2643087"/>
            <a:ext cx="10515600" cy="2716413"/>
          </a:xfrm>
          <a:prstGeom prst="rect">
            <a:avLst/>
          </a:prstGeom>
        </p:spPr>
      </p:pic>
    </p:spTree>
    <p:extLst>
      <p:ext uri="{BB962C8B-B14F-4D97-AF65-F5344CB8AC3E}">
        <p14:creationId xmlns:p14="http://schemas.microsoft.com/office/powerpoint/2010/main" val="2861194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6CCB4-5882-40F3-B69C-9E0BE1E3C3ED}"/>
              </a:ext>
            </a:extLst>
          </p:cNvPr>
          <p:cNvSpPr>
            <a:spLocks noGrp="1"/>
          </p:cNvSpPr>
          <p:nvPr>
            <p:ph type="title"/>
          </p:nvPr>
        </p:nvSpPr>
        <p:spPr/>
        <p:txBody>
          <a:bodyPr/>
          <a:lstStyle/>
          <a:p>
            <a:r>
              <a:rPr lang="en-US" dirty="0"/>
              <a:t>Receiving </a:t>
            </a:r>
            <a:endParaRPr lang="en-IN" dirty="0"/>
          </a:p>
        </p:txBody>
      </p:sp>
      <p:sp>
        <p:nvSpPr>
          <p:cNvPr id="3" name="Content Placeholder 2">
            <a:extLst>
              <a:ext uri="{FF2B5EF4-FFF2-40B4-BE49-F238E27FC236}">
                <a16:creationId xmlns:a16="http://schemas.microsoft.com/office/drawing/2014/main" id="{D0AD5534-2230-40D5-8E74-0888D5A903F2}"/>
              </a:ext>
            </a:extLst>
          </p:cNvPr>
          <p:cNvSpPr>
            <a:spLocks noGrp="1"/>
          </p:cNvSpPr>
          <p:nvPr>
            <p:ph idx="1"/>
          </p:nvPr>
        </p:nvSpPr>
        <p:spPr/>
        <p:txBody>
          <a:bodyPr/>
          <a:lstStyle/>
          <a:p>
            <a:r>
              <a:rPr lang="en-US" dirty="0"/>
              <a:t>Is the intentional focus on hearing a speaker’s message. </a:t>
            </a:r>
          </a:p>
          <a:p>
            <a:r>
              <a:rPr lang="en-US" dirty="0"/>
              <a:t>This stage is represented by the ear because it is the primary tool involved with this stage of the listening process.</a:t>
            </a:r>
            <a:endParaRPr lang="en-IN" dirty="0"/>
          </a:p>
        </p:txBody>
      </p:sp>
    </p:spTree>
    <p:extLst>
      <p:ext uri="{BB962C8B-B14F-4D97-AF65-F5344CB8AC3E}">
        <p14:creationId xmlns:p14="http://schemas.microsoft.com/office/powerpoint/2010/main" val="4036758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3A2CF-AD1B-4C58-894F-A47C427C236E}"/>
              </a:ext>
            </a:extLst>
          </p:cNvPr>
          <p:cNvSpPr>
            <a:spLocks noGrp="1"/>
          </p:cNvSpPr>
          <p:nvPr>
            <p:ph type="title"/>
          </p:nvPr>
        </p:nvSpPr>
        <p:spPr/>
        <p:txBody>
          <a:bodyPr/>
          <a:lstStyle/>
          <a:p>
            <a:r>
              <a:rPr lang="en-US" dirty="0"/>
              <a:t>Understanding </a:t>
            </a:r>
            <a:endParaRPr lang="en-IN" dirty="0"/>
          </a:p>
        </p:txBody>
      </p:sp>
      <p:sp>
        <p:nvSpPr>
          <p:cNvPr id="3" name="Content Placeholder 2">
            <a:extLst>
              <a:ext uri="{FF2B5EF4-FFF2-40B4-BE49-F238E27FC236}">
                <a16:creationId xmlns:a16="http://schemas.microsoft.com/office/drawing/2014/main" id="{83A0710B-06DC-45CA-B7FE-EFAFC2B34E9D}"/>
              </a:ext>
            </a:extLst>
          </p:cNvPr>
          <p:cNvSpPr>
            <a:spLocks noGrp="1"/>
          </p:cNvSpPr>
          <p:nvPr>
            <p:ph idx="1"/>
          </p:nvPr>
        </p:nvSpPr>
        <p:spPr/>
        <p:txBody>
          <a:bodyPr/>
          <a:lstStyle/>
          <a:p>
            <a:r>
              <a:rPr lang="en-US" dirty="0"/>
              <a:t>In the understanding stage, we attempt to learn the meaning of the message, which is not always easy. </a:t>
            </a:r>
          </a:p>
          <a:p>
            <a:r>
              <a:rPr lang="en-US" dirty="0"/>
              <a:t> Deciding what the message means to you</a:t>
            </a:r>
            <a:endParaRPr lang="en-IN" dirty="0"/>
          </a:p>
        </p:txBody>
      </p:sp>
    </p:spTree>
    <p:extLst>
      <p:ext uri="{BB962C8B-B14F-4D97-AF65-F5344CB8AC3E}">
        <p14:creationId xmlns:p14="http://schemas.microsoft.com/office/powerpoint/2010/main" val="3200632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9FCEB-096F-43C5-A89C-D1F3022D6FBE}"/>
              </a:ext>
            </a:extLst>
          </p:cNvPr>
          <p:cNvSpPr>
            <a:spLocks noGrp="1"/>
          </p:cNvSpPr>
          <p:nvPr>
            <p:ph type="title"/>
          </p:nvPr>
        </p:nvSpPr>
        <p:spPr/>
        <p:txBody>
          <a:bodyPr/>
          <a:lstStyle/>
          <a:p>
            <a:r>
              <a:rPr lang="en-US" dirty="0"/>
              <a:t>Remembering </a:t>
            </a:r>
            <a:endParaRPr lang="en-IN" dirty="0"/>
          </a:p>
        </p:txBody>
      </p:sp>
      <p:sp>
        <p:nvSpPr>
          <p:cNvPr id="3" name="Content Placeholder 2">
            <a:extLst>
              <a:ext uri="{FF2B5EF4-FFF2-40B4-BE49-F238E27FC236}">
                <a16:creationId xmlns:a16="http://schemas.microsoft.com/office/drawing/2014/main" id="{679A8E41-D782-4202-BEEF-8C43B8CDDF5D}"/>
              </a:ext>
            </a:extLst>
          </p:cNvPr>
          <p:cNvSpPr>
            <a:spLocks noGrp="1"/>
          </p:cNvSpPr>
          <p:nvPr>
            <p:ph idx="1"/>
          </p:nvPr>
        </p:nvSpPr>
        <p:spPr>
          <a:xfrm>
            <a:off x="838200" y="2122695"/>
            <a:ext cx="10515600" cy="4351338"/>
          </a:xfrm>
        </p:spPr>
        <p:txBody>
          <a:bodyPr/>
          <a:lstStyle/>
          <a:p>
            <a:r>
              <a:rPr lang="en-US" dirty="0"/>
              <a:t>Remembering begins with listening; if you can’t remember something that was said, you might not have been listening effectively. </a:t>
            </a:r>
          </a:p>
          <a:p>
            <a:r>
              <a:rPr lang="en-US" dirty="0"/>
              <a:t> However, even when you are listening attentively, some messages are more difficult than others to understand and remember. </a:t>
            </a:r>
          </a:p>
          <a:p>
            <a:r>
              <a:rPr lang="en-US" dirty="0"/>
              <a:t>Highly complex messages that are filled with detail call for highly developed listening skills.</a:t>
            </a:r>
            <a:endParaRPr lang="en-IN" dirty="0"/>
          </a:p>
        </p:txBody>
      </p:sp>
    </p:spTree>
    <p:extLst>
      <p:ext uri="{BB962C8B-B14F-4D97-AF65-F5344CB8AC3E}">
        <p14:creationId xmlns:p14="http://schemas.microsoft.com/office/powerpoint/2010/main" val="1456912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734D1-4BC6-44B4-BFDE-09CAF90B6C85}"/>
              </a:ext>
            </a:extLst>
          </p:cNvPr>
          <p:cNvSpPr>
            <a:spLocks noGrp="1"/>
          </p:cNvSpPr>
          <p:nvPr>
            <p:ph type="title"/>
          </p:nvPr>
        </p:nvSpPr>
        <p:spPr/>
        <p:txBody>
          <a:bodyPr/>
          <a:lstStyle/>
          <a:p>
            <a:r>
              <a:rPr lang="en-US" dirty="0"/>
              <a:t>Evaluating </a:t>
            </a:r>
            <a:endParaRPr lang="en-IN" dirty="0"/>
          </a:p>
        </p:txBody>
      </p:sp>
      <p:sp>
        <p:nvSpPr>
          <p:cNvPr id="3" name="Content Placeholder 2">
            <a:extLst>
              <a:ext uri="{FF2B5EF4-FFF2-40B4-BE49-F238E27FC236}">
                <a16:creationId xmlns:a16="http://schemas.microsoft.com/office/drawing/2014/main" id="{08084595-7446-4E11-9F53-14326C0F297C}"/>
              </a:ext>
            </a:extLst>
          </p:cNvPr>
          <p:cNvSpPr>
            <a:spLocks noGrp="1"/>
          </p:cNvSpPr>
          <p:nvPr>
            <p:ph idx="1"/>
          </p:nvPr>
        </p:nvSpPr>
        <p:spPr/>
        <p:txBody>
          <a:bodyPr/>
          <a:lstStyle/>
          <a:p>
            <a:r>
              <a:rPr lang="en-US" dirty="0"/>
              <a:t>The fourth stage in the listening process is evaluating. </a:t>
            </a:r>
          </a:p>
          <a:p>
            <a:r>
              <a:rPr lang="en-US" dirty="0"/>
              <a:t> evaluations of the same message can vary widely from one listener to another. </a:t>
            </a:r>
          </a:p>
          <a:p>
            <a:r>
              <a:rPr lang="en-US" dirty="0"/>
              <a:t>The stages two, three, and four are represented by the brain because it is the primary tool involved with these stages of the listening process.</a:t>
            </a:r>
            <a:endParaRPr lang="en-IN" dirty="0"/>
          </a:p>
        </p:txBody>
      </p:sp>
    </p:spTree>
    <p:extLst>
      <p:ext uri="{BB962C8B-B14F-4D97-AF65-F5344CB8AC3E}">
        <p14:creationId xmlns:p14="http://schemas.microsoft.com/office/powerpoint/2010/main" val="2358993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FA93F-41B9-4977-AD57-C34F6C8DB3BA}"/>
              </a:ext>
            </a:extLst>
          </p:cNvPr>
          <p:cNvSpPr>
            <a:spLocks noGrp="1"/>
          </p:cNvSpPr>
          <p:nvPr>
            <p:ph type="title"/>
          </p:nvPr>
        </p:nvSpPr>
        <p:spPr>
          <a:xfrm>
            <a:off x="838200" y="365125"/>
            <a:ext cx="10515600" cy="840823"/>
          </a:xfrm>
        </p:spPr>
        <p:txBody>
          <a:bodyPr/>
          <a:lstStyle/>
          <a:p>
            <a:r>
              <a:rPr lang="en-US" dirty="0"/>
              <a:t>Responding </a:t>
            </a:r>
            <a:endParaRPr lang="en-IN" dirty="0"/>
          </a:p>
        </p:txBody>
      </p:sp>
      <p:sp>
        <p:nvSpPr>
          <p:cNvPr id="3" name="Content Placeholder 2">
            <a:extLst>
              <a:ext uri="{FF2B5EF4-FFF2-40B4-BE49-F238E27FC236}">
                <a16:creationId xmlns:a16="http://schemas.microsoft.com/office/drawing/2014/main" id="{519BFA8E-AEB7-4136-99CA-08F7342D2C1B}"/>
              </a:ext>
            </a:extLst>
          </p:cNvPr>
          <p:cNvSpPr>
            <a:spLocks noGrp="1"/>
          </p:cNvSpPr>
          <p:nvPr>
            <p:ph idx="1"/>
          </p:nvPr>
        </p:nvSpPr>
        <p:spPr>
          <a:xfrm>
            <a:off x="838200" y="1470991"/>
            <a:ext cx="10515600" cy="5021884"/>
          </a:xfrm>
        </p:spPr>
        <p:txBody>
          <a:bodyPr>
            <a:normAutofit lnSpcReduction="10000"/>
          </a:bodyPr>
          <a:lstStyle/>
          <a:p>
            <a:r>
              <a:rPr lang="en-US" dirty="0"/>
              <a:t>Responding—sometimes referred to as feedback—is the fifth and final stage of the listening process. </a:t>
            </a:r>
          </a:p>
          <a:p>
            <a:r>
              <a:rPr lang="en-US" dirty="0"/>
              <a:t>Your reaction to the message.</a:t>
            </a:r>
          </a:p>
          <a:p>
            <a:r>
              <a:rPr lang="en-US" dirty="0"/>
              <a:t> It can be emotional and intellectual • For example, you are giving positive feedback to your instructor if at the end of class you stay behind to finish a sentence in your notes or approach the instructor to ask for clarification. </a:t>
            </a:r>
          </a:p>
          <a:p>
            <a:r>
              <a:rPr lang="en-US" dirty="0"/>
              <a:t>The opposite kind of feedback is given by students who gather their belongings and rush out the door as soon as class is over. </a:t>
            </a:r>
          </a:p>
          <a:p>
            <a:r>
              <a:rPr lang="en-US" dirty="0"/>
              <a:t> This stage is represented by the lips because we often give feedback in the form of verbal feedback; however, you can just as easily respond nonverbally. </a:t>
            </a:r>
            <a:endParaRPr lang="en-IN" dirty="0"/>
          </a:p>
        </p:txBody>
      </p:sp>
    </p:spTree>
    <p:extLst>
      <p:ext uri="{BB962C8B-B14F-4D97-AF65-F5344CB8AC3E}">
        <p14:creationId xmlns:p14="http://schemas.microsoft.com/office/powerpoint/2010/main" val="2616385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93F47-DC40-4BA8-A4F8-245F29AE2C8C}"/>
              </a:ext>
            </a:extLst>
          </p:cNvPr>
          <p:cNvSpPr>
            <a:spLocks noGrp="1"/>
          </p:cNvSpPr>
          <p:nvPr>
            <p:ph type="title"/>
          </p:nvPr>
        </p:nvSpPr>
        <p:spPr/>
        <p:txBody>
          <a:bodyPr/>
          <a:lstStyle/>
          <a:p>
            <a:r>
              <a:rPr lang="en-US" dirty="0"/>
              <a:t>Types of listening </a:t>
            </a:r>
            <a:endParaRPr lang="en-IN" dirty="0"/>
          </a:p>
        </p:txBody>
      </p:sp>
      <p:sp>
        <p:nvSpPr>
          <p:cNvPr id="3" name="Content Placeholder 2">
            <a:extLst>
              <a:ext uri="{FF2B5EF4-FFF2-40B4-BE49-F238E27FC236}">
                <a16:creationId xmlns:a16="http://schemas.microsoft.com/office/drawing/2014/main" id="{800F143E-E6A0-4993-843F-EBCEE17203F5}"/>
              </a:ext>
            </a:extLst>
          </p:cNvPr>
          <p:cNvSpPr>
            <a:spLocks noGrp="1"/>
          </p:cNvSpPr>
          <p:nvPr>
            <p:ph idx="1"/>
          </p:nvPr>
        </p:nvSpPr>
        <p:spPr/>
        <p:txBody>
          <a:bodyPr/>
          <a:lstStyle/>
          <a:p>
            <a:r>
              <a:rPr lang="en-US" dirty="0"/>
              <a:t>Active listening </a:t>
            </a:r>
          </a:p>
          <a:p>
            <a:r>
              <a:rPr lang="en-US" dirty="0"/>
              <a:t> Selective listening </a:t>
            </a:r>
          </a:p>
          <a:p>
            <a:r>
              <a:rPr lang="en-US" dirty="0"/>
              <a:t> Emphatic listening </a:t>
            </a:r>
          </a:p>
          <a:p>
            <a:r>
              <a:rPr lang="en-US" dirty="0"/>
              <a:t> Ignoring listening</a:t>
            </a:r>
            <a:endParaRPr lang="en-IN" dirty="0"/>
          </a:p>
        </p:txBody>
      </p:sp>
    </p:spTree>
    <p:extLst>
      <p:ext uri="{BB962C8B-B14F-4D97-AF65-F5344CB8AC3E}">
        <p14:creationId xmlns:p14="http://schemas.microsoft.com/office/powerpoint/2010/main" val="1133948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10D24F-74A5-49EC-99DB-E70DB17E8460}"/>
              </a:ext>
            </a:extLst>
          </p:cNvPr>
          <p:cNvSpPr>
            <a:spLocks noGrp="1"/>
          </p:cNvSpPr>
          <p:nvPr>
            <p:ph idx="1"/>
          </p:nvPr>
        </p:nvSpPr>
        <p:spPr>
          <a:xfrm>
            <a:off x="838200" y="172278"/>
            <a:ext cx="10515600" cy="6004685"/>
          </a:xfrm>
        </p:spPr>
        <p:txBody>
          <a:bodyPr/>
          <a:lstStyle/>
          <a:p>
            <a:r>
              <a:rPr lang="en-US" dirty="0"/>
              <a:t>1 - Active Listening - Understanding all things, proper interaction. proper feedback</a:t>
            </a:r>
          </a:p>
          <a:p>
            <a:r>
              <a:rPr lang="en-US" dirty="0"/>
              <a:t>2 - Selective Listening - We remember only what we like , selective  portions that suits us and are interested in, sometimes topic is not to our liking</a:t>
            </a:r>
          </a:p>
          <a:p>
            <a:r>
              <a:rPr lang="en-US" dirty="0"/>
              <a:t>3 - Empathetic listening -  When we listen empathetically, we go beyond sympathy to seek a truer understand how others are feeling. This requires excellent discrimination and close attention to the nuances of emotional signals. When we are being truly empathetic, we actually feel what they are feeling</a:t>
            </a:r>
          </a:p>
          <a:p>
            <a:r>
              <a:rPr lang="en-US" dirty="0"/>
              <a:t>4 -  Ignoring Listening -  Not listening at all, is pretty insulting to others and can lead to strained relations</a:t>
            </a:r>
            <a:endParaRPr lang="en-IN" dirty="0"/>
          </a:p>
        </p:txBody>
      </p:sp>
    </p:spTree>
    <p:extLst>
      <p:ext uri="{BB962C8B-B14F-4D97-AF65-F5344CB8AC3E}">
        <p14:creationId xmlns:p14="http://schemas.microsoft.com/office/powerpoint/2010/main" val="764490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EA010-5993-4E4A-8A7E-674DD4EB81A3}"/>
              </a:ext>
            </a:extLst>
          </p:cNvPr>
          <p:cNvSpPr>
            <a:spLocks noGrp="1"/>
          </p:cNvSpPr>
          <p:nvPr>
            <p:ph type="title"/>
          </p:nvPr>
        </p:nvSpPr>
        <p:spPr/>
        <p:txBody>
          <a:bodyPr/>
          <a:lstStyle/>
          <a:p>
            <a:r>
              <a:rPr lang="en-US" dirty="0"/>
              <a:t>Can you hear me ? Hear me out !!!</a:t>
            </a:r>
            <a:endParaRPr lang="en-IN" dirty="0"/>
          </a:p>
        </p:txBody>
      </p:sp>
      <p:sp>
        <p:nvSpPr>
          <p:cNvPr id="3" name="Content Placeholder 2">
            <a:extLst>
              <a:ext uri="{FF2B5EF4-FFF2-40B4-BE49-F238E27FC236}">
                <a16:creationId xmlns:a16="http://schemas.microsoft.com/office/drawing/2014/main" id="{B0D059BF-9CE8-402C-BCD8-7E31EE254F4B}"/>
              </a:ext>
            </a:extLst>
          </p:cNvPr>
          <p:cNvSpPr>
            <a:spLocks noGrp="1"/>
          </p:cNvSpPr>
          <p:nvPr>
            <p:ph idx="1"/>
          </p:nvPr>
        </p:nvSpPr>
        <p:spPr/>
        <p:txBody>
          <a:bodyPr/>
          <a:lstStyle/>
          <a:p>
            <a:r>
              <a:rPr lang="en-US" dirty="0"/>
              <a:t> Does that mean that you are a good listener? </a:t>
            </a:r>
          </a:p>
          <a:p>
            <a:r>
              <a:rPr lang="en-US" dirty="0"/>
              <a:t> A person with normal hearing is not necessarily a good listener. </a:t>
            </a:r>
          </a:p>
          <a:p>
            <a:r>
              <a:rPr lang="en-US" dirty="0"/>
              <a:t> Many different things can prevent a speaker’s message from being received</a:t>
            </a:r>
          </a:p>
          <a:p>
            <a:r>
              <a:rPr lang="en-US" dirty="0"/>
              <a:t> These are called barriers to listening.</a:t>
            </a:r>
            <a:endParaRPr lang="en-IN" dirty="0"/>
          </a:p>
        </p:txBody>
      </p:sp>
    </p:spTree>
    <p:extLst>
      <p:ext uri="{BB962C8B-B14F-4D97-AF65-F5344CB8AC3E}">
        <p14:creationId xmlns:p14="http://schemas.microsoft.com/office/powerpoint/2010/main" val="1950635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BF976-25D7-425C-AA57-4A0D1BE8ED53}"/>
              </a:ext>
            </a:extLst>
          </p:cNvPr>
          <p:cNvSpPr>
            <a:spLocks noGrp="1"/>
          </p:cNvSpPr>
          <p:nvPr>
            <p:ph type="title"/>
          </p:nvPr>
        </p:nvSpPr>
        <p:spPr>
          <a:xfrm>
            <a:off x="838200" y="365126"/>
            <a:ext cx="10515600" cy="801066"/>
          </a:xfrm>
        </p:spPr>
        <p:txBody>
          <a:bodyPr/>
          <a:lstStyle/>
          <a:p>
            <a:r>
              <a:rPr lang="en-US" dirty="0"/>
              <a:t>Barriers to listening </a:t>
            </a:r>
            <a:endParaRPr lang="en-IN" dirty="0"/>
          </a:p>
        </p:txBody>
      </p:sp>
      <p:sp>
        <p:nvSpPr>
          <p:cNvPr id="3" name="Content Placeholder 2">
            <a:extLst>
              <a:ext uri="{FF2B5EF4-FFF2-40B4-BE49-F238E27FC236}">
                <a16:creationId xmlns:a16="http://schemas.microsoft.com/office/drawing/2014/main" id="{4F44739E-1A4A-4ACA-BC2B-8BFB1BF76275}"/>
              </a:ext>
            </a:extLst>
          </p:cNvPr>
          <p:cNvSpPr>
            <a:spLocks noGrp="1"/>
          </p:cNvSpPr>
          <p:nvPr>
            <p:ph idx="1"/>
          </p:nvPr>
        </p:nvSpPr>
        <p:spPr>
          <a:xfrm>
            <a:off x="609601" y="1338470"/>
            <a:ext cx="11184834" cy="5154403"/>
          </a:xfrm>
        </p:spPr>
        <p:txBody>
          <a:bodyPr>
            <a:normAutofit lnSpcReduction="10000"/>
          </a:bodyPr>
          <a:lstStyle/>
          <a:p>
            <a:pPr marL="0" indent="0">
              <a:buNone/>
            </a:pPr>
            <a:r>
              <a:rPr lang="en-US" dirty="0"/>
              <a:t>Some common barriers in the process of listening are- </a:t>
            </a:r>
          </a:p>
          <a:p>
            <a:r>
              <a:rPr lang="en-US" dirty="0"/>
              <a:t> 1.Pre-judgments about the speaker . </a:t>
            </a:r>
          </a:p>
          <a:p>
            <a:r>
              <a:rPr lang="en-US" dirty="0"/>
              <a:t>2.Assuming that the speaker is going to give some unimportant information . </a:t>
            </a:r>
          </a:p>
          <a:p>
            <a:r>
              <a:rPr lang="en-US" dirty="0"/>
              <a:t>3.Arriving late for a speech, presentation or lecture .</a:t>
            </a:r>
          </a:p>
          <a:p>
            <a:r>
              <a:rPr lang="en-US" dirty="0"/>
              <a:t> 4.Judging the speaker by his/her mannerisms, voice, appearance, accent, etc.</a:t>
            </a:r>
          </a:p>
          <a:p>
            <a:r>
              <a:rPr lang="en-US" dirty="0"/>
              <a:t> 5.Lack of concentration/interest . </a:t>
            </a:r>
          </a:p>
          <a:p>
            <a:r>
              <a:rPr lang="en-US" dirty="0"/>
              <a:t>6.Avoiding listening to difficult, boring or complex information and selectively listening only to what is considered interesting. </a:t>
            </a:r>
          </a:p>
          <a:p>
            <a:r>
              <a:rPr lang="en-US" dirty="0"/>
              <a:t>7.Speaker or listener being distracted by disturbances .</a:t>
            </a:r>
            <a:endParaRPr lang="en-IN" dirty="0"/>
          </a:p>
        </p:txBody>
      </p:sp>
    </p:spTree>
    <p:extLst>
      <p:ext uri="{BB962C8B-B14F-4D97-AF65-F5344CB8AC3E}">
        <p14:creationId xmlns:p14="http://schemas.microsoft.com/office/powerpoint/2010/main" val="29009647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4379A-C698-4CB3-B5EF-91632A01DEF3}"/>
              </a:ext>
            </a:extLst>
          </p:cNvPr>
          <p:cNvSpPr>
            <a:spLocks noGrp="1"/>
          </p:cNvSpPr>
          <p:nvPr>
            <p:ph type="title"/>
          </p:nvPr>
        </p:nvSpPr>
        <p:spPr/>
        <p:txBody>
          <a:bodyPr/>
          <a:lstStyle/>
          <a:p>
            <a:r>
              <a:rPr lang="en-US" dirty="0"/>
              <a:t>Benefits of good listening </a:t>
            </a:r>
            <a:endParaRPr lang="en-IN" dirty="0"/>
          </a:p>
        </p:txBody>
      </p:sp>
      <p:sp>
        <p:nvSpPr>
          <p:cNvPr id="3" name="Content Placeholder 2">
            <a:extLst>
              <a:ext uri="{FF2B5EF4-FFF2-40B4-BE49-F238E27FC236}">
                <a16:creationId xmlns:a16="http://schemas.microsoft.com/office/drawing/2014/main" id="{5C28BF3B-829C-48A6-A4A6-60034A339F6D}"/>
              </a:ext>
            </a:extLst>
          </p:cNvPr>
          <p:cNvSpPr>
            <a:spLocks noGrp="1"/>
          </p:cNvSpPr>
          <p:nvPr>
            <p:ph idx="1"/>
          </p:nvPr>
        </p:nvSpPr>
        <p:spPr/>
        <p:txBody>
          <a:bodyPr>
            <a:normAutofit/>
          </a:bodyPr>
          <a:lstStyle/>
          <a:p>
            <a:pPr algn="l"/>
            <a:r>
              <a:rPr lang="en-US" b="1" i="0" dirty="0">
                <a:solidFill>
                  <a:srgbClr val="2A2A2A"/>
                </a:solidFill>
                <a:effectLst/>
                <a:latin typeface="Open Sans"/>
              </a:rPr>
              <a:t>Good listening skills </a:t>
            </a:r>
            <a:r>
              <a:rPr lang="en-US" b="1" dirty="0">
                <a:solidFill>
                  <a:srgbClr val="2A2A2A"/>
                </a:solidFill>
                <a:latin typeface="Open Sans"/>
              </a:rPr>
              <a:t>has</a:t>
            </a:r>
            <a:r>
              <a:rPr lang="en-US" b="1" i="0" dirty="0">
                <a:solidFill>
                  <a:srgbClr val="2A2A2A"/>
                </a:solidFill>
                <a:effectLst/>
                <a:latin typeface="Open Sans"/>
              </a:rPr>
              <a:t> benefits in our personal lives, including</a:t>
            </a:r>
          </a:p>
          <a:p>
            <a:pPr algn="l"/>
            <a:r>
              <a:rPr lang="en-US" b="0" i="0" dirty="0">
                <a:solidFill>
                  <a:srgbClr val="2A2A2A"/>
                </a:solidFill>
                <a:effectLst/>
                <a:latin typeface="Open Sans"/>
              </a:rPr>
              <a:t>A greater number of friends and social networks</a:t>
            </a:r>
          </a:p>
          <a:p>
            <a:pPr algn="l"/>
            <a:r>
              <a:rPr lang="en-US" b="0" i="0" dirty="0">
                <a:solidFill>
                  <a:srgbClr val="2A2A2A"/>
                </a:solidFill>
                <a:effectLst/>
                <a:latin typeface="Open Sans"/>
              </a:rPr>
              <a:t>improved self-esteem and confidence</a:t>
            </a:r>
          </a:p>
          <a:p>
            <a:pPr algn="l"/>
            <a:r>
              <a:rPr lang="en-US" b="0" i="0" dirty="0">
                <a:solidFill>
                  <a:srgbClr val="2A2A2A"/>
                </a:solidFill>
                <a:effectLst/>
                <a:latin typeface="Open Sans"/>
              </a:rPr>
              <a:t>higher grades at school and in academic work, and even better health and general well-being.</a:t>
            </a:r>
          </a:p>
          <a:p>
            <a:pPr algn="l"/>
            <a:r>
              <a:rPr lang="en-US" b="0" i="1" dirty="0">
                <a:solidFill>
                  <a:srgbClr val="FF0000"/>
                </a:solidFill>
                <a:effectLst/>
                <a:latin typeface="Open Sans"/>
              </a:rPr>
              <a:t>Studies have shown that, speaking raises blood pressure, attentive listening can bring it down especially in heated situations </a:t>
            </a:r>
          </a:p>
          <a:p>
            <a:pPr marL="0" indent="0">
              <a:buNone/>
            </a:pPr>
            <a:endParaRPr lang="en-IN" dirty="0"/>
          </a:p>
        </p:txBody>
      </p:sp>
    </p:spTree>
    <p:extLst>
      <p:ext uri="{BB962C8B-B14F-4D97-AF65-F5344CB8AC3E}">
        <p14:creationId xmlns:p14="http://schemas.microsoft.com/office/powerpoint/2010/main" val="3251490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CE46E-A728-4B37-9E3D-FA832C990FDE}"/>
              </a:ext>
            </a:extLst>
          </p:cNvPr>
          <p:cNvSpPr>
            <a:spLocks noGrp="1"/>
          </p:cNvSpPr>
          <p:nvPr>
            <p:ph type="title"/>
          </p:nvPr>
        </p:nvSpPr>
        <p:spPr/>
        <p:txBody>
          <a:bodyPr/>
          <a:lstStyle/>
          <a:p>
            <a:r>
              <a:rPr lang="en-US" dirty="0"/>
              <a:t>Listening vs hearing </a:t>
            </a:r>
            <a:endParaRPr lang="en-IN" dirty="0"/>
          </a:p>
        </p:txBody>
      </p:sp>
      <p:sp>
        <p:nvSpPr>
          <p:cNvPr id="3" name="Content Placeholder 2">
            <a:extLst>
              <a:ext uri="{FF2B5EF4-FFF2-40B4-BE49-F238E27FC236}">
                <a16:creationId xmlns:a16="http://schemas.microsoft.com/office/drawing/2014/main" id="{E6C5091B-1451-496A-9409-C8C1DBD60968}"/>
              </a:ext>
            </a:extLst>
          </p:cNvPr>
          <p:cNvSpPr>
            <a:spLocks noGrp="1"/>
          </p:cNvSpPr>
          <p:nvPr>
            <p:ph idx="1"/>
          </p:nvPr>
        </p:nvSpPr>
        <p:spPr/>
        <p:txBody>
          <a:bodyPr>
            <a:normAutofit/>
          </a:bodyPr>
          <a:lstStyle/>
          <a:p>
            <a:pPr algn="l"/>
            <a:r>
              <a:rPr lang="en-US" b="0" i="0" dirty="0">
                <a:solidFill>
                  <a:srgbClr val="2A2A2A"/>
                </a:solidFill>
                <a:effectLst/>
                <a:latin typeface="Arial" panose="020B0604020202020204" pitchFamily="34" charset="0"/>
              </a:rPr>
              <a:t>Listening is Not the Same as Hearing</a:t>
            </a:r>
          </a:p>
          <a:p>
            <a:pPr algn="l"/>
            <a:r>
              <a:rPr lang="en-US" b="0" i="0" dirty="0">
                <a:solidFill>
                  <a:srgbClr val="2A2A2A"/>
                </a:solidFill>
                <a:effectLst/>
                <a:latin typeface="Open Sans"/>
              </a:rPr>
              <a:t>Hearing refers to the sounds that enter your ears. It is a physical process that, provided you do not have any hearing problems, happens automatically.</a:t>
            </a:r>
          </a:p>
          <a:p>
            <a:pPr algn="l"/>
            <a:r>
              <a:rPr lang="en-US" b="1" i="0" dirty="0">
                <a:solidFill>
                  <a:srgbClr val="2A2A2A"/>
                </a:solidFill>
                <a:effectLst/>
                <a:latin typeface="Open Sans"/>
              </a:rPr>
              <a:t>Listening, however, requires more than that: it requires focus and concentrated effort, both mental and sometimes physical as well.</a:t>
            </a:r>
            <a:endParaRPr lang="en-US" b="0" i="0" dirty="0">
              <a:solidFill>
                <a:srgbClr val="2A2A2A"/>
              </a:solidFill>
              <a:effectLst/>
              <a:latin typeface="Open Sans"/>
            </a:endParaRPr>
          </a:p>
        </p:txBody>
      </p:sp>
    </p:spTree>
    <p:extLst>
      <p:ext uri="{BB962C8B-B14F-4D97-AF65-F5344CB8AC3E}">
        <p14:creationId xmlns:p14="http://schemas.microsoft.com/office/powerpoint/2010/main" val="4294423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707A70-B0F7-4AA7-BBF8-409E0954538F}"/>
              </a:ext>
            </a:extLst>
          </p:cNvPr>
          <p:cNvSpPr>
            <a:spLocks noGrp="1"/>
          </p:cNvSpPr>
          <p:nvPr>
            <p:ph idx="1"/>
          </p:nvPr>
        </p:nvSpPr>
        <p:spPr>
          <a:xfrm>
            <a:off x="838200" y="844062"/>
            <a:ext cx="10515600" cy="5332901"/>
          </a:xfrm>
        </p:spPr>
        <p:txBody>
          <a:bodyPr>
            <a:normAutofit/>
          </a:bodyPr>
          <a:lstStyle/>
          <a:p>
            <a:pPr algn="l"/>
            <a:r>
              <a:rPr lang="en-US" b="0" i="0" dirty="0">
                <a:solidFill>
                  <a:srgbClr val="2A2A2A"/>
                </a:solidFill>
                <a:effectLst/>
                <a:latin typeface="Open Sans"/>
              </a:rPr>
              <a:t>Listening means paying attention not only to the story, but how it is told, the use of language and voice, and how the other person uses his or her body. </a:t>
            </a:r>
          </a:p>
          <a:p>
            <a:pPr algn="l"/>
            <a:r>
              <a:rPr lang="en-US" b="0" i="0" dirty="0">
                <a:solidFill>
                  <a:srgbClr val="2A2A2A"/>
                </a:solidFill>
                <a:effectLst/>
                <a:latin typeface="Open Sans"/>
              </a:rPr>
              <a:t>In other words, it means being aware of both verbal and non-verbal messages. </a:t>
            </a:r>
          </a:p>
          <a:p>
            <a:pPr algn="l"/>
            <a:r>
              <a:rPr lang="en-US" b="0" i="0" dirty="0">
                <a:solidFill>
                  <a:srgbClr val="2A2A2A"/>
                </a:solidFill>
                <a:effectLst/>
                <a:latin typeface="Open Sans"/>
              </a:rPr>
              <a:t>Your ability to listen effectively depends on the degree to which you perceive and understand these messages.</a:t>
            </a:r>
          </a:p>
          <a:p>
            <a:pPr algn="l"/>
            <a:r>
              <a:rPr lang="en-US" b="0" i="0" dirty="0">
                <a:solidFill>
                  <a:srgbClr val="2A2A2A"/>
                </a:solidFill>
                <a:effectLst/>
                <a:latin typeface="Open Sans"/>
              </a:rPr>
              <a:t>Listening is not a passive process. In fact, the listener can, and should, be at least as engaged in the process as the speaker. </a:t>
            </a:r>
          </a:p>
          <a:p>
            <a:pPr algn="l"/>
            <a:r>
              <a:rPr lang="en-US" b="0" i="0" dirty="0">
                <a:solidFill>
                  <a:srgbClr val="2A2A2A"/>
                </a:solidFill>
                <a:effectLst/>
                <a:latin typeface="Open Sans"/>
              </a:rPr>
              <a:t>The phrase ‘</a:t>
            </a:r>
            <a:r>
              <a:rPr lang="en-US" b="1" i="1" dirty="0">
                <a:solidFill>
                  <a:srgbClr val="2A2A2A"/>
                </a:solidFill>
                <a:effectLst/>
                <a:latin typeface="Open Sans"/>
              </a:rPr>
              <a:t>active listening</a:t>
            </a:r>
            <a:r>
              <a:rPr lang="en-US" b="0" i="0" dirty="0">
                <a:solidFill>
                  <a:srgbClr val="2A2A2A"/>
                </a:solidFill>
                <a:effectLst/>
                <a:latin typeface="Open Sans"/>
              </a:rPr>
              <a:t>’ is used to describe this process of being fully involved.</a:t>
            </a:r>
          </a:p>
          <a:p>
            <a:endParaRPr lang="en-IN" dirty="0"/>
          </a:p>
        </p:txBody>
      </p:sp>
    </p:spTree>
    <p:extLst>
      <p:ext uri="{BB962C8B-B14F-4D97-AF65-F5344CB8AC3E}">
        <p14:creationId xmlns:p14="http://schemas.microsoft.com/office/powerpoint/2010/main" val="2726406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F3D89-6EF3-438D-B275-CB3529D103D2}"/>
              </a:ext>
            </a:extLst>
          </p:cNvPr>
          <p:cNvSpPr>
            <a:spLocks noGrp="1"/>
          </p:cNvSpPr>
          <p:nvPr>
            <p:ph type="title"/>
          </p:nvPr>
        </p:nvSpPr>
        <p:spPr>
          <a:xfrm>
            <a:off x="838200" y="365125"/>
            <a:ext cx="10515600" cy="892175"/>
          </a:xfrm>
        </p:spPr>
        <p:txBody>
          <a:bodyPr>
            <a:normAutofit fontScale="90000"/>
          </a:bodyPr>
          <a:lstStyle/>
          <a:p>
            <a:br>
              <a:rPr lang="en-US" b="0" i="0" dirty="0">
                <a:solidFill>
                  <a:srgbClr val="2A2A2A"/>
                </a:solidFill>
                <a:effectLst/>
                <a:latin typeface="Open Sans"/>
              </a:rPr>
            </a:br>
            <a:r>
              <a:rPr lang="en-US" b="0" i="0" dirty="0">
                <a:solidFill>
                  <a:srgbClr val="2A2A2A"/>
                </a:solidFill>
                <a:effectLst/>
                <a:latin typeface="Open Sans"/>
              </a:rPr>
              <a:t>The Purpose of Listening</a:t>
            </a:r>
            <a:br>
              <a:rPr lang="en-US" dirty="0"/>
            </a:br>
            <a:endParaRPr lang="en-IN" dirty="0"/>
          </a:p>
        </p:txBody>
      </p:sp>
      <p:sp>
        <p:nvSpPr>
          <p:cNvPr id="3" name="Content Placeholder 2">
            <a:extLst>
              <a:ext uri="{FF2B5EF4-FFF2-40B4-BE49-F238E27FC236}">
                <a16:creationId xmlns:a16="http://schemas.microsoft.com/office/drawing/2014/main" id="{18A20FF6-8170-47B7-8363-CE02A3624C72}"/>
              </a:ext>
            </a:extLst>
          </p:cNvPr>
          <p:cNvSpPr>
            <a:spLocks noGrp="1"/>
          </p:cNvSpPr>
          <p:nvPr>
            <p:ph idx="1"/>
          </p:nvPr>
        </p:nvSpPr>
        <p:spPr>
          <a:xfrm>
            <a:off x="838200" y="1257300"/>
            <a:ext cx="10515600" cy="4919663"/>
          </a:xfrm>
        </p:spPr>
        <p:txBody>
          <a:bodyPr>
            <a:normAutofit fontScale="92500" lnSpcReduction="10000"/>
          </a:bodyPr>
          <a:lstStyle/>
          <a:p>
            <a:pPr algn="l"/>
            <a:r>
              <a:rPr lang="en-US" i="0" dirty="0">
                <a:solidFill>
                  <a:srgbClr val="2A2A2A"/>
                </a:solidFill>
                <a:effectLst/>
                <a:latin typeface="Open Sans"/>
              </a:rPr>
              <a:t>There is no doubt that effective listening is an extremely important life skill. </a:t>
            </a:r>
          </a:p>
          <a:p>
            <a:pPr algn="l"/>
            <a:r>
              <a:rPr lang="en-US" i="0" dirty="0">
                <a:solidFill>
                  <a:srgbClr val="2A2A2A"/>
                </a:solidFill>
                <a:effectLst/>
                <a:latin typeface="Open Sans"/>
              </a:rPr>
              <a:t>Listening serves a number of possible purposes, and the purpose of listening will depend on the situation and the nature of the communication</a:t>
            </a:r>
          </a:p>
          <a:p>
            <a:pPr algn="l">
              <a:buFont typeface="+mj-lt"/>
              <a:buAutoNum type="arabicPeriod"/>
            </a:pPr>
            <a:r>
              <a:rPr lang="en-US" b="0" i="0" dirty="0">
                <a:solidFill>
                  <a:srgbClr val="2A2A2A"/>
                </a:solidFill>
                <a:effectLst/>
                <a:latin typeface="Open Sans"/>
              </a:rPr>
              <a:t>To specifically focus on the messages being communicated, avoiding distractions and preconceptions.</a:t>
            </a:r>
          </a:p>
          <a:p>
            <a:pPr algn="l">
              <a:buFont typeface="+mj-lt"/>
              <a:buAutoNum type="arabicPeriod"/>
            </a:pPr>
            <a:r>
              <a:rPr lang="en-US" b="0" i="0" dirty="0">
                <a:solidFill>
                  <a:srgbClr val="2A2A2A"/>
                </a:solidFill>
                <a:effectLst/>
                <a:latin typeface="Open Sans"/>
              </a:rPr>
              <a:t>To gain a full and accurate understanding into the speakers point of view and ideas.</a:t>
            </a:r>
          </a:p>
          <a:p>
            <a:pPr algn="l">
              <a:buFont typeface="+mj-lt"/>
              <a:buAutoNum type="arabicPeriod"/>
            </a:pPr>
            <a:r>
              <a:rPr lang="en-US" b="0" i="0" dirty="0">
                <a:solidFill>
                  <a:srgbClr val="2A2A2A"/>
                </a:solidFill>
                <a:effectLst/>
                <a:latin typeface="Open Sans"/>
              </a:rPr>
              <a:t>To critically assess what is being said. </a:t>
            </a:r>
          </a:p>
          <a:p>
            <a:pPr algn="l">
              <a:buFont typeface="+mj-lt"/>
              <a:buAutoNum type="arabicPeriod"/>
            </a:pPr>
            <a:r>
              <a:rPr lang="en-US" b="0" i="0" dirty="0">
                <a:solidFill>
                  <a:srgbClr val="2A2A2A"/>
                </a:solidFill>
                <a:effectLst/>
                <a:latin typeface="Open Sans"/>
              </a:rPr>
              <a:t>To observe the </a:t>
            </a:r>
            <a:r>
              <a:rPr lang="en-US" b="1" dirty="0">
                <a:solidFill>
                  <a:srgbClr val="FF0000"/>
                </a:solidFill>
                <a:latin typeface="Open Sans"/>
              </a:rPr>
              <a:t>non-verbal signals</a:t>
            </a:r>
            <a:r>
              <a:rPr lang="en-US" b="0" i="0" dirty="0">
                <a:solidFill>
                  <a:srgbClr val="FF0000"/>
                </a:solidFill>
                <a:effectLst/>
                <a:latin typeface="Open Sans"/>
              </a:rPr>
              <a:t> </a:t>
            </a:r>
            <a:r>
              <a:rPr lang="en-US" b="0" i="0" dirty="0">
                <a:solidFill>
                  <a:srgbClr val="2A2A2A"/>
                </a:solidFill>
                <a:effectLst/>
                <a:latin typeface="Open Sans"/>
              </a:rPr>
              <a:t>accompanying what is being said to enhance understanding.</a:t>
            </a:r>
          </a:p>
          <a:p>
            <a:endParaRPr lang="en-IN" dirty="0"/>
          </a:p>
        </p:txBody>
      </p:sp>
    </p:spTree>
    <p:extLst>
      <p:ext uri="{BB962C8B-B14F-4D97-AF65-F5344CB8AC3E}">
        <p14:creationId xmlns:p14="http://schemas.microsoft.com/office/powerpoint/2010/main" val="640997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EED9B-49A9-4ACE-8144-7AD8C15F60BE}"/>
              </a:ext>
            </a:extLst>
          </p:cNvPr>
          <p:cNvSpPr>
            <a:spLocks noGrp="1"/>
          </p:cNvSpPr>
          <p:nvPr>
            <p:ph type="title"/>
          </p:nvPr>
        </p:nvSpPr>
        <p:spPr/>
        <p:txBody>
          <a:bodyPr/>
          <a:lstStyle/>
          <a:p>
            <a:r>
              <a:rPr lang="en-US" dirty="0"/>
              <a:t>Purpose of listening – </a:t>
            </a:r>
            <a:r>
              <a:rPr lang="en-US" dirty="0" err="1"/>
              <a:t>contd</a:t>
            </a:r>
            <a:r>
              <a:rPr lang="en-US" dirty="0"/>
              <a:t>…</a:t>
            </a:r>
            <a:endParaRPr lang="en-IN" dirty="0"/>
          </a:p>
        </p:txBody>
      </p:sp>
      <p:sp>
        <p:nvSpPr>
          <p:cNvPr id="3" name="Content Placeholder 2">
            <a:extLst>
              <a:ext uri="{FF2B5EF4-FFF2-40B4-BE49-F238E27FC236}">
                <a16:creationId xmlns:a16="http://schemas.microsoft.com/office/drawing/2014/main" id="{5BC0454D-E80F-43C8-BF90-0E0845C30FDB}"/>
              </a:ext>
            </a:extLst>
          </p:cNvPr>
          <p:cNvSpPr>
            <a:spLocks noGrp="1"/>
          </p:cNvSpPr>
          <p:nvPr>
            <p:ph idx="1"/>
          </p:nvPr>
        </p:nvSpPr>
        <p:spPr/>
        <p:txBody>
          <a:bodyPr>
            <a:normAutofit fontScale="92500" lnSpcReduction="10000"/>
          </a:bodyPr>
          <a:lstStyle/>
          <a:p>
            <a:pPr marL="0" indent="0" algn="l">
              <a:buNone/>
            </a:pPr>
            <a:r>
              <a:rPr lang="en-US" b="0" i="0" dirty="0">
                <a:solidFill>
                  <a:srgbClr val="2A2A2A"/>
                </a:solidFill>
                <a:effectLst/>
                <a:latin typeface="Open Sans"/>
              </a:rPr>
              <a:t>5. To show interest, concern and concentration.</a:t>
            </a:r>
          </a:p>
          <a:p>
            <a:pPr marL="0" indent="0" algn="l">
              <a:buNone/>
            </a:pPr>
            <a:r>
              <a:rPr lang="en-US" b="0" i="0" dirty="0">
                <a:solidFill>
                  <a:srgbClr val="2A2A2A"/>
                </a:solidFill>
                <a:effectLst/>
                <a:latin typeface="Open Sans"/>
              </a:rPr>
              <a:t>6. To encourage the speaker to communicate fully, openly and honestly.</a:t>
            </a:r>
          </a:p>
          <a:p>
            <a:pPr marL="0" indent="0" algn="l">
              <a:buNone/>
            </a:pPr>
            <a:r>
              <a:rPr lang="en-US" b="0" i="0" dirty="0">
                <a:solidFill>
                  <a:srgbClr val="2A2A2A"/>
                </a:solidFill>
                <a:effectLst/>
                <a:latin typeface="Open Sans"/>
              </a:rPr>
              <a:t>7. To develop an selflessness approach, putting the speaker first.</a:t>
            </a:r>
          </a:p>
          <a:p>
            <a:pPr marL="0" indent="0" algn="l">
              <a:buNone/>
            </a:pPr>
            <a:r>
              <a:rPr lang="en-US" b="0" i="0">
                <a:solidFill>
                  <a:srgbClr val="2A2A2A"/>
                </a:solidFill>
                <a:effectLst/>
                <a:latin typeface="Open Sans"/>
              </a:rPr>
              <a:t>8. To </a:t>
            </a:r>
            <a:r>
              <a:rPr lang="en-US" b="0" i="0" dirty="0">
                <a:solidFill>
                  <a:srgbClr val="2A2A2A"/>
                </a:solidFill>
                <a:effectLst/>
                <a:latin typeface="Open Sans"/>
              </a:rPr>
              <a:t>arrive at a shared and agreed understanding and acceptance of both sides views.</a:t>
            </a:r>
          </a:p>
          <a:p>
            <a:pPr marL="0" indent="0" algn="l">
              <a:buNone/>
            </a:pPr>
            <a:endParaRPr lang="en-US" b="0" i="0" dirty="0">
              <a:solidFill>
                <a:srgbClr val="2A2A2A"/>
              </a:solidFill>
              <a:effectLst/>
              <a:latin typeface="Open Sans"/>
            </a:endParaRPr>
          </a:p>
          <a:p>
            <a:pPr marL="0" indent="0" algn="l">
              <a:buNone/>
            </a:pPr>
            <a:r>
              <a:rPr lang="en-US" b="1" i="1" dirty="0">
                <a:solidFill>
                  <a:srgbClr val="FF0000"/>
                </a:solidFill>
                <a:effectLst/>
                <a:latin typeface="Open Sans"/>
              </a:rPr>
              <a:t>Often our main concern while listening is to formulate ways to respond. This is not a function of listening. We should try to focus fully on what is being said and how it's being said in order to more fully understand the speaker.</a:t>
            </a:r>
          </a:p>
        </p:txBody>
      </p:sp>
    </p:spTree>
    <p:extLst>
      <p:ext uri="{BB962C8B-B14F-4D97-AF65-F5344CB8AC3E}">
        <p14:creationId xmlns:p14="http://schemas.microsoft.com/office/powerpoint/2010/main" val="2561432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DB9F2-1960-4314-942E-761C8DBFD398}"/>
              </a:ext>
            </a:extLst>
          </p:cNvPr>
          <p:cNvSpPr>
            <a:spLocks noGrp="1"/>
          </p:cNvSpPr>
          <p:nvPr>
            <p:ph type="title"/>
          </p:nvPr>
        </p:nvSpPr>
        <p:spPr>
          <a:xfrm>
            <a:off x="838200" y="365125"/>
            <a:ext cx="10515600" cy="867327"/>
          </a:xfrm>
        </p:spPr>
        <p:txBody>
          <a:bodyPr/>
          <a:lstStyle/>
          <a:p>
            <a:r>
              <a:rPr lang="en-IN" dirty="0"/>
              <a:t>How To Listen Effectively?</a:t>
            </a:r>
          </a:p>
        </p:txBody>
      </p:sp>
      <p:sp>
        <p:nvSpPr>
          <p:cNvPr id="3" name="Content Placeholder 2">
            <a:extLst>
              <a:ext uri="{FF2B5EF4-FFF2-40B4-BE49-F238E27FC236}">
                <a16:creationId xmlns:a16="http://schemas.microsoft.com/office/drawing/2014/main" id="{0DFF1409-5EEA-4190-BF36-7C18F32F1ADA}"/>
              </a:ext>
            </a:extLst>
          </p:cNvPr>
          <p:cNvSpPr>
            <a:spLocks noGrp="1"/>
          </p:cNvSpPr>
          <p:nvPr>
            <p:ph idx="1"/>
          </p:nvPr>
        </p:nvSpPr>
        <p:spPr>
          <a:xfrm>
            <a:off x="838200" y="1378226"/>
            <a:ext cx="10515600" cy="5114649"/>
          </a:xfrm>
        </p:spPr>
        <p:txBody>
          <a:bodyPr>
            <a:normAutofit/>
          </a:bodyPr>
          <a:lstStyle/>
          <a:p>
            <a:pPr marL="514350" indent="-514350">
              <a:buAutoNum type="arabicPeriod"/>
            </a:pPr>
            <a:r>
              <a:rPr lang="en-US" dirty="0"/>
              <a:t>Stop Talking - Be Silent  and show Interest </a:t>
            </a:r>
          </a:p>
          <a:p>
            <a:pPr marL="514350" indent="-514350">
              <a:buAutoNum type="arabicPeriod"/>
            </a:pPr>
            <a:r>
              <a:rPr lang="en-US" dirty="0"/>
              <a:t> Empathize</a:t>
            </a:r>
          </a:p>
          <a:p>
            <a:pPr marL="514350" indent="-514350">
              <a:buAutoNum type="arabicPeriod"/>
            </a:pPr>
            <a:r>
              <a:rPr lang="en-US" dirty="0"/>
              <a:t> Ask Questions </a:t>
            </a:r>
          </a:p>
          <a:p>
            <a:pPr marL="514350" indent="-514350">
              <a:buAutoNum type="arabicPeriod"/>
            </a:pPr>
            <a:r>
              <a:rPr lang="en-US" dirty="0"/>
              <a:t> Maintain Eye Contact </a:t>
            </a:r>
          </a:p>
          <a:p>
            <a:pPr marL="514350" indent="-514350">
              <a:buAutoNum type="arabicPeriod"/>
            </a:pPr>
            <a:r>
              <a:rPr lang="en-US" dirty="0"/>
              <a:t>Take notes  </a:t>
            </a:r>
          </a:p>
          <a:p>
            <a:pPr marL="514350" indent="-514350">
              <a:buAutoNum type="arabicPeriod"/>
            </a:pPr>
            <a:r>
              <a:rPr lang="en-US" dirty="0"/>
              <a:t>Total involvement in the process </a:t>
            </a:r>
          </a:p>
          <a:p>
            <a:pPr marL="514350" indent="-514350">
              <a:buAutoNum type="arabicPeriod"/>
            </a:pPr>
            <a:r>
              <a:rPr lang="en-US" dirty="0"/>
              <a:t> Send feedback and respond</a:t>
            </a:r>
          </a:p>
          <a:p>
            <a:pPr marL="514350" indent="-514350">
              <a:buAutoNum type="arabicPeriod"/>
            </a:pPr>
            <a:r>
              <a:rPr lang="en-US" dirty="0"/>
              <a:t> Avoid or eliminate distraction </a:t>
            </a:r>
          </a:p>
          <a:p>
            <a:pPr marL="514350" indent="-514350">
              <a:buAutoNum type="arabicPeriod"/>
            </a:pPr>
            <a:r>
              <a:rPr lang="en-US" dirty="0"/>
              <a:t>Try to gather information about the topic to develop interest and familiarity</a:t>
            </a:r>
            <a:endParaRPr lang="en-IN" dirty="0"/>
          </a:p>
        </p:txBody>
      </p:sp>
    </p:spTree>
    <p:extLst>
      <p:ext uri="{BB962C8B-B14F-4D97-AF65-F5344CB8AC3E}">
        <p14:creationId xmlns:p14="http://schemas.microsoft.com/office/powerpoint/2010/main" val="41324224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TotalTime>
  <Words>1281</Words>
  <Application>Microsoft Office PowerPoint</Application>
  <PresentationFormat>Widescreen</PresentationFormat>
  <Paragraphs>107</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Open Sans</vt:lpstr>
      <vt:lpstr>Office Theme</vt:lpstr>
      <vt:lpstr>Communicative English    Faculty – Dr. Kiran Magavi Department – Humanities and Social Sciences </vt:lpstr>
      <vt:lpstr>Important questions </vt:lpstr>
      <vt:lpstr>Points to remember</vt:lpstr>
      <vt:lpstr>Listening skills </vt:lpstr>
      <vt:lpstr>Process of listening </vt:lpstr>
      <vt:lpstr>Receiving </vt:lpstr>
      <vt:lpstr>Understanding </vt:lpstr>
      <vt:lpstr>Remembering </vt:lpstr>
      <vt:lpstr>Evaluating </vt:lpstr>
      <vt:lpstr>Responding </vt:lpstr>
      <vt:lpstr>Types of listening </vt:lpstr>
      <vt:lpstr>PowerPoint Presentation</vt:lpstr>
      <vt:lpstr>Can you hear me ? Hear me out !!!</vt:lpstr>
      <vt:lpstr>Barriers to listening </vt:lpstr>
      <vt:lpstr>Benefits of good listening </vt:lpstr>
      <vt:lpstr>Listening vs hearing </vt:lpstr>
      <vt:lpstr>PowerPoint Presentation</vt:lpstr>
      <vt:lpstr> The Purpose of Listening </vt:lpstr>
      <vt:lpstr>Purpose of listening – contd…</vt:lpstr>
      <vt:lpstr>How To Listen Effectively?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Bridge course – schedule 2</dc:title>
  <dc:creator>Rishi Magavi</dc:creator>
  <cp:lastModifiedBy>Rishi Magavi</cp:lastModifiedBy>
  <cp:revision>24</cp:revision>
  <dcterms:created xsi:type="dcterms:W3CDTF">2020-12-08T07:18:04Z</dcterms:created>
  <dcterms:modified xsi:type="dcterms:W3CDTF">2022-02-07T16:49:32Z</dcterms:modified>
</cp:coreProperties>
</file>